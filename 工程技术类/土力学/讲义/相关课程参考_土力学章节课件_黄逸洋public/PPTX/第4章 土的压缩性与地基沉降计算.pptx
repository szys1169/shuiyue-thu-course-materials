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wdp" ContentType="image/vnd.ms-photo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0" r:id="rId1"/>
    <p:sldMasterId id="2147483744" r:id="rId2"/>
  </p:sldMasterIdLst>
  <p:notesMasterIdLst>
    <p:notesMasterId r:id="rId131"/>
  </p:notesMasterIdLst>
  <p:handoutMasterIdLst>
    <p:handoutMasterId r:id="rId132"/>
  </p:handoutMasterIdLst>
  <p:sldIdLst>
    <p:sldId id="256" r:id="rId3"/>
    <p:sldId id="766" r:id="rId4"/>
    <p:sldId id="805" r:id="rId5"/>
    <p:sldId id="806" r:id="rId6"/>
    <p:sldId id="807" r:id="rId7"/>
    <p:sldId id="713" r:id="rId8"/>
    <p:sldId id="916" r:id="rId9"/>
    <p:sldId id="714" r:id="rId10"/>
    <p:sldId id="715" r:id="rId11"/>
    <p:sldId id="716" r:id="rId12"/>
    <p:sldId id="718" r:id="rId13"/>
    <p:sldId id="719" r:id="rId14"/>
    <p:sldId id="720" r:id="rId15"/>
    <p:sldId id="722" r:id="rId16"/>
    <p:sldId id="723" r:id="rId17"/>
    <p:sldId id="819" r:id="rId18"/>
    <p:sldId id="820" r:id="rId19"/>
    <p:sldId id="821" r:id="rId20"/>
    <p:sldId id="926" r:id="rId21"/>
    <p:sldId id="927" r:id="rId22"/>
    <p:sldId id="928" r:id="rId23"/>
    <p:sldId id="929" r:id="rId24"/>
    <p:sldId id="930" r:id="rId25"/>
    <p:sldId id="931" r:id="rId26"/>
    <p:sldId id="932" r:id="rId27"/>
    <p:sldId id="933" r:id="rId28"/>
    <p:sldId id="934" r:id="rId29"/>
    <p:sldId id="935" r:id="rId30"/>
    <p:sldId id="936" r:id="rId31"/>
    <p:sldId id="937" r:id="rId32"/>
    <p:sldId id="938" r:id="rId33"/>
    <p:sldId id="921" r:id="rId34"/>
    <p:sldId id="822" r:id="rId35"/>
    <p:sldId id="823" r:id="rId36"/>
    <p:sldId id="824" r:id="rId37"/>
    <p:sldId id="825" r:id="rId38"/>
    <p:sldId id="808" r:id="rId39"/>
    <p:sldId id="727" r:id="rId40"/>
    <p:sldId id="728" r:id="rId41"/>
    <p:sldId id="827" r:id="rId42"/>
    <p:sldId id="828" r:id="rId43"/>
    <p:sldId id="829" r:id="rId44"/>
    <p:sldId id="830" r:id="rId45"/>
    <p:sldId id="831" r:id="rId46"/>
    <p:sldId id="832" r:id="rId47"/>
    <p:sldId id="833" r:id="rId48"/>
    <p:sldId id="834" r:id="rId49"/>
    <p:sldId id="729" r:id="rId50"/>
    <p:sldId id="835" r:id="rId51"/>
    <p:sldId id="836" r:id="rId52"/>
    <p:sldId id="837" r:id="rId53"/>
    <p:sldId id="838" r:id="rId54"/>
    <p:sldId id="839" r:id="rId55"/>
    <p:sldId id="840" r:id="rId56"/>
    <p:sldId id="841" r:id="rId57"/>
    <p:sldId id="730" r:id="rId58"/>
    <p:sldId id="842" r:id="rId59"/>
    <p:sldId id="843" r:id="rId60"/>
    <p:sldId id="809" r:id="rId61"/>
    <p:sldId id="844" r:id="rId62"/>
    <p:sldId id="845" r:id="rId63"/>
    <p:sldId id="847" r:id="rId64"/>
    <p:sldId id="848" r:id="rId65"/>
    <p:sldId id="849" r:id="rId66"/>
    <p:sldId id="850" r:id="rId67"/>
    <p:sldId id="851" r:id="rId68"/>
    <p:sldId id="852" r:id="rId69"/>
    <p:sldId id="853" r:id="rId70"/>
    <p:sldId id="854" r:id="rId71"/>
    <p:sldId id="855" r:id="rId72"/>
    <p:sldId id="856" r:id="rId73"/>
    <p:sldId id="910" r:id="rId74"/>
    <p:sldId id="857" r:id="rId75"/>
    <p:sldId id="858" r:id="rId76"/>
    <p:sldId id="846" r:id="rId77"/>
    <p:sldId id="913" r:id="rId78"/>
    <p:sldId id="911" r:id="rId79"/>
    <p:sldId id="743" r:id="rId80"/>
    <p:sldId id="862" r:id="rId81"/>
    <p:sldId id="863" r:id="rId82"/>
    <p:sldId id="864" r:id="rId83"/>
    <p:sldId id="917" r:id="rId84"/>
    <p:sldId id="745" r:id="rId85"/>
    <p:sldId id="865" r:id="rId86"/>
    <p:sldId id="918" r:id="rId87"/>
    <p:sldId id="866" r:id="rId88"/>
    <p:sldId id="868" r:id="rId89"/>
    <p:sldId id="871" r:id="rId90"/>
    <p:sldId id="746" r:id="rId91"/>
    <p:sldId id="753" r:id="rId92"/>
    <p:sldId id="754" r:id="rId93"/>
    <p:sldId id="872" r:id="rId94"/>
    <p:sldId id="873" r:id="rId95"/>
    <p:sldId id="874" r:id="rId96"/>
    <p:sldId id="875" r:id="rId97"/>
    <p:sldId id="876" r:id="rId98"/>
    <p:sldId id="877" r:id="rId99"/>
    <p:sldId id="878" r:id="rId100"/>
    <p:sldId id="879" r:id="rId101"/>
    <p:sldId id="880" r:id="rId102"/>
    <p:sldId id="922" r:id="rId103"/>
    <p:sldId id="923" r:id="rId104"/>
    <p:sldId id="924" r:id="rId105"/>
    <p:sldId id="925" r:id="rId106"/>
    <p:sldId id="883" r:id="rId107"/>
    <p:sldId id="884" r:id="rId108"/>
    <p:sldId id="885" r:id="rId109"/>
    <p:sldId id="886" r:id="rId110"/>
    <p:sldId id="887" r:id="rId111"/>
    <p:sldId id="888" r:id="rId112"/>
    <p:sldId id="889" r:id="rId113"/>
    <p:sldId id="890" r:id="rId114"/>
    <p:sldId id="919" r:id="rId115"/>
    <p:sldId id="891" r:id="rId116"/>
    <p:sldId id="892" r:id="rId117"/>
    <p:sldId id="893" r:id="rId118"/>
    <p:sldId id="756" r:id="rId119"/>
    <p:sldId id="894" r:id="rId120"/>
    <p:sldId id="895" r:id="rId121"/>
    <p:sldId id="896" r:id="rId122"/>
    <p:sldId id="897" r:id="rId123"/>
    <p:sldId id="909" r:id="rId124"/>
    <p:sldId id="898" r:id="rId125"/>
    <p:sldId id="899" r:id="rId126"/>
    <p:sldId id="900" r:id="rId127"/>
    <p:sldId id="920" r:id="rId128"/>
    <p:sldId id="789" r:id="rId129"/>
    <p:sldId id="790" r:id="rId130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lnSpc>
        <a:spcPct val="115000"/>
      </a:lnSpc>
      <a:spcBef>
        <a:spcPct val="15000"/>
      </a:spcBef>
      <a:spcAft>
        <a:spcPct val="15000"/>
      </a:spcAft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6">
          <p15:clr>
            <a:srgbClr val="A4A3A4"/>
          </p15:clr>
        </p15:guide>
        <p15:guide id="2" pos="92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5">
          <p15:clr>
            <a:srgbClr val="A4A3A4"/>
          </p15:clr>
        </p15:guide>
        <p15:guide id="2" pos="89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660066"/>
    <a:srgbClr val="006600"/>
    <a:srgbClr val="000066"/>
    <a:srgbClr val="99CCFF"/>
    <a:srgbClr val="003300"/>
    <a:srgbClr val="0000FF"/>
    <a:srgbClr val="CCECFF"/>
    <a:srgbClr val="FF9933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04" autoAdjust="0"/>
    <p:restoredTop sz="97138" autoAdjust="0"/>
  </p:normalViewPr>
  <p:slideViewPr>
    <p:cSldViewPr snapToGrid="0" showGuides="1">
      <p:cViewPr>
        <p:scale>
          <a:sx n="110" d="100"/>
          <a:sy n="110" d="100"/>
        </p:scale>
        <p:origin x="523" y="202"/>
      </p:cViewPr>
      <p:guideLst>
        <p:guide orient="horz" pos="1326"/>
        <p:guide pos="9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03"/>
    </p:cViewPr>
  </p:sorterViewPr>
  <p:notesViewPr>
    <p:cSldViewPr snapToGrid="0" showGuides="1">
      <p:cViewPr>
        <p:scale>
          <a:sx n="75" d="100"/>
          <a:sy n="75" d="100"/>
        </p:scale>
        <p:origin x="-1027" y="264"/>
      </p:cViewPr>
      <p:guideLst>
        <p:guide orient="horz" pos="2145"/>
        <p:guide pos="89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viewProps" Target="view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theme" Target="theme/theme1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notesMaster" Target="notesMasters/notesMaster1.xml"/><Relationship Id="rId136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handoutMaster" Target="handoutMasters/handoutMaster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image" Target="../media/image63.wmf"/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12" Type="http://schemas.openxmlformats.org/officeDocument/2006/relationships/image" Target="../media/image62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11" Type="http://schemas.openxmlformats.org/officeDocument/2006/relationships/image" Target="../media/image61.wmf"/><Relationship Id="rId5" Type="http://schemas.openxmlformats.org/officeDocument/2006/relationships/image" Target="../media/image55.wmf"/><Relationship Id="rId10" Type="http://schemas.openxmlformats.org/officeDocument/2006/relationships/image" Target="../media/image60.wmf"/><Relationship Id="rId4" Type="http://schemas.openxmlformats.org/officeDocument/2006/relationships/image" Target="../media/image54.wmf"/><Relationship Id="rId9" Type="http://schemas.openxmlformats.org/officeDocument/2006/relationships/image" Target="../media/image59.wmf"/><Relationship Id="rId14" Type="http://schemas.openxmlformats.org/officeDocument/2006/relationships/image" Target="../media/image6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4" Type="http://schemas.openxmlformats.org/officeDocument/2006/relationships/image" Target="../media/image95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7" Type="http://schemas.openxmlformats.org/officeDocument/2006/relationships/image" Target="../media/image120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9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4" Type="http://schemas.openxmlformats.org/officeDocument/2006/relationships/image" Target="../media/image138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1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2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3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4.w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5.w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6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7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8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fld id="{339075F8-9FF0-4A6B-9E58-ABCA6ADD104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22150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zh-CN" altLang="en-US"/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945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45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945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endParaRPr lang="en-US" altLang="zh-CN"/>
          </a:p>
        </p:txBody>
      </p:sp>
      <p:sp>
        <p:nvSpPr>
          <p:cNvPr id="945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kumimoji="1" sz="1200"/>
            </a:lvl1pPr>
          </a:lstStyle>
          <a:p>
            <a:fld id="{E94BE428-8424-49AF-A984-F0E6574F9E0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241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B34445-AC5B-4A45-92D7-7EB668A5D382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94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372692"/>
      </p:ext>
    </p:extLst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772675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1125163"/>
      </p:ext>
    </p:extLst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199108"/>
      </p:ext>
    </p:extLst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919340"/>
      </p:ext>
    </p:extLst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97565"/>
      </p:ext>
    </p:extLst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xbh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1158760" y="4278004"/>
            <a:ext cx="1557808" cy="1567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E:\教学2012\清华校徽2.gif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561" y="776294"/>
            <a:ext cx="13430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536846"/>
      </p:ext>
    </p:extLst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11705459"/>
      </p:ext>
    </p:extLst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08553134"/>
      </p:ext>
    </p:extLst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50387"/>
      </p:ext>
    </p:extLst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023204"/>
      </p:ext>
    </p:extLst>
  </p:cSld>
  <p:clrMapOvr>
    <a:masterClrMapping/>
  </p:clrMapOvr>
  <p:transition spd="med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700952"/>
      </p:ext>
    </p:extLst>
  </p:cSld>
  <p:clrMapOvr>
    <a:masterClrMapping/>
  </p:clrMapOvr>
  <p:transition spd="med">
    <p:wipe dir="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356754"/>
      </p:ext>
    </p:extLst>
  </p:cSld>
  <p:clrMapOvr>
    <a:masterClrMapping/>
  </p:clrMapOvr>
  <p:transition spd="med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67351839"/>
      </p:ext>
    </p:extLst>
  </p:cSld>
  <p:clrMapOvr>
    <a:masterClrMapping/>
  </p:clrMapOvr>
  <p:transition spd="med"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499012"/>
      </p:ext>
    </p:extLst>
  </p:cSld>
  <p:clrMapOvr>
    <a:masterClrMapping/>
  </p:clrMapOvr>
  <p:transition spd="med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666435"/>
      </p:ext>
    </p:extLst>
  </p:cSld>
  <p:clrMapOvr>
    <a:masterClrMapping/>
  </p:clrMapOvr>
  <p:transition spd="med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402199"/>
      </p:ext>
    </p:extLst>
  </p:cSld>
  <p:clrMapOvr>
    <a:masterClrMapping/>
  </p:clrMapOvr>
  <p:transition spd="med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20991"/>
      </p:ext>
    </p:extLst>
  </p:cSld>
  <p:clrMapOvr>
    <a:masterClrMapping/>
  </p:clrMapOvr>
  <p:transition spd="med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28210542"/>
      </p:ext>
    </p:extLst>
  </p:cSld>
  <p:clrMapOvr>
    <a:masterClrMapping/>
  </p:clrMapOvr>
  <p:transition spd="med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02478664"/>
      </p:ext>
    </p:extLst>
  </p:cSld>
  <p:clrMapOvr>
    <a:masterClrMapping/>
  </p:clrMapOvr>
  <p:transition spd="med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883718"/>
      </p:ext>
    </p:extLst>
  </p:cSld>
  <p:clrMapOvr>
    <a:masterClrMapping/>
  </p:clrMapOvr>
  <p:transition spd="med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591282"/>
      </p:ext>
    </p:extLst>
  </p:cSld>
  <p:clrMapOvr>
    <a:masterClrMapping/>
  </p:clrMapOvr>
  <p:transition spd="med"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426419"/>
      </p:ext>
    </p:extLst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068" name="Group 148"/>
          <p:cNvGrpSpPr>
            <a:grpSpLocks/>
          </p:cNvGrpSpPr>
          <p:nvPr userDrawn="1"/>
        </p:nvGrpSpPr>
        <p:grpSpPr bwMode="auto">
          <a:xfrm>
            <a:off x="8031163" y="5454650"/>
            <a:ext cx="533400" cy="492125"/>
            <a:chOff x="96" y="2784"/>
            <a:chExt cx="1062" cy="981"/>
          </a:xfrm>
        </p:grpSpPr>
        <p:sp>
          <p:nvSpPr>
            <p:cNvPr id="594069" name="Freeform 149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0" name="Freeform 150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1" name="Freeform 151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2" name="Freeform 152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3" name="Freeform 153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4" name="Freeform 154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5" name="Freeform 155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6" name="Freeform 156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7" name="Freeform 157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8" name="Freeform 158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9" name="Freeform 159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0" name="Freeform 160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1" name="Freeform 161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82" name="Group 162"/>
          <p:cNvGrpSpPr>
            <a:grpSpLocks/>
          </p:cNvGrpSpPr>
          <p:nvPr userDrawn="1"/>
        </p:nvGrpSpPr>
        <p:grpSpPr bwMode="auto">
          <a:xfrm>
            <a:off x="5805488" y="2881313"/>
            <a:ext cx="533400" cy="492125"/>
            <a:chOff x="96" y="2784"/>
            <a:chExt cx="1062" cy="981"/>
          </a:xfrm>
        </p:grpSpPr>
        <p:sp>
          <p:nvSpPr>
            <p:cNvPr id="594083" name="Freeform 163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4" name="Freeform 164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5" name="Freeform 165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6" name="Freeform 166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7" name="Freeform 167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8" name="Freeform 168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9" name="Freeform 169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0" name="Freeform 170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1" name="Freeform 171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2" name="Freeform 172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3" name="Freeform 173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4" name="Freeform 174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5" name="Freeform 175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96" name="Group 176"/>
          <p:cNvGrpSpPr>
            <a:grpSpLocks/>
          </p:cNvGrpSpPr>
          <p:nvPr userDrawn="1"/>
        </p:nvGrpSpPr>
        <p:grpSpPr bwMode="auto">
          <a:xfrm>
            <a:off x="1646238" y="4876800"/>
            <a:ext cx="533400" cy="492125"/>
            <a:chOff x="96" y="2784"/>
            <a:chExt cx="1062" cy="981"/>
          </a:xfrm>
        </p:grpSpPr>
        <p:sp>
          <p:nvSpPr>
            <p:cNvPr id="594097" name="Freeform 177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8" name="Freeform 178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9" name="Freeform 179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0" name="Freeform 180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1" name="Freeform 181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2" name="Freeform 182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3" name="Freeform 183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4" name="Freeform 184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5" name="Freeform 185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6" name="Freeform 186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7" name="Freeform 187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8" name="Freeform 188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9" name="Freeform 189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110" name="Group 190"/>
          <p:cNvGrpSpPr>
            <a:grpSpLocks/>
          </p:cNvGrpSpPr>
          <p:nvPr userDrawn="1"/>
        </p:nvGrpSpPr>
        <p:grpSpPr bwMode="auto">
          <a:xfrm>
            <a:off x="5046663" y="4525963"/>
            <a:ext cx="533400" cy="492125"/>
            <a:chOff x="96" y="2784"/>
            <a:chExt cx="1062" cy="981"/>
          </a:xfrm>
        </p:grpSpPr>
        <p:sp>
          <p:nvSpPr>
            <p:cNvPr id="594111" name="Freeform 191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2" name="Freeform 192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3" name="Freeform 193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4" name="Freeform 194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5" name="Freeform 195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6" name="Freeform 196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7" name="Freeform 197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8" name="Freeform 198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9" name="Freeform 199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0" name="Freeform 200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1" name="Freeform 201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2" name="Freeform 202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3" name="Freeform 203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124" name="Group 204"/>
          <p:cNvGrpSpPr>
            <a:grpSpLocks/>
          </p:cNvGrpSpPr>
          <p:nvPr userDrawn="1"/>
        </p:nvGrpSpPr>
        <p:grpSpPr bwMode="auto">
          <a:xfrm>
            <a:off x="1096963" y="2486025"/>
            <a:ext cx="533400" cy="492125"/>
            <a:chOff x="96" y="2784"/>
            <a:chExt cx="1062" cy="981"/>
          </a:xfrm>
        </p:grpSpPr>
        <p:sp>
          <p:nvSpPr>
            <p:cNvPr id="594125" name="Freeform 205"/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6" name="Freeform 206"/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7" name="Freeform 207"/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8" name="Freeform 208"/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9" name="Freeform 209"/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0" name="Freeform 210"/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1" name="Freeform 211"/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2" name="Freeform 212"/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3" name="Freeform 213"/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4" name="Freeform 214"/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5" name="Freeform 215"/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6" name="Freeform 216"/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7" name="Freeform 217"/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94193" name="Picture 273" descr="校徽blue2"/>
          <p:cNvPicPr>
            <a:picLocks noChangeAspect="1" noChangeArrowheads="1"/>
          </p:cNvPicPr>
          <p:nvPr userDrawn="1"/>
        </p:nvPicPr>
        <p:blipFill>
          <a:blip r:embed="rId13">
            <a:lum bright="90000"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50" y="280988"/>
            <a:ext cx="3387725" cy="339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3B741-5216-414E-B74B-795A24EA3A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6" name="Picture 13" descr="xbhs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41" b="57249"/>
          <a:stretch>
            <a:fillRect/>
          </a:stretch>
        </p:blipFill>
        <p:spPr bwMode="auto">
          <a:xfrm>
            <a:off x="423817" y="5489135"/>
            <a:ext cx="1174241" cy="118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矩形 16"/>
          <p:cNvSpPr/>
          <p:nvPr userDrawn="1"/>
        </p:nvSpPr>
        <p:spPr>
          <a:xfrm>
            <a:off x="7101555" y="491380"/>
            <a:ext cx="2042446" cy="115368"/>
          </a:xfrm>
          <a:prstGeom prst="rect">
            <a:avLst/>
          </a:prstGeom>
          <a:solidFill>
            <a:srgbClr val="A74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7007545" y="59819"/>
            <a:ext cx="21595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kern="1000" spc="-170" baseline="0" dirty="0" smtClean="0">
                <a:solidFill>
                  <a:srgbClr val="C00000"/>
                </a:solidFill>
              </a:rPr>
              <a:t>智者乐水  仁者乐山</a:t>
            </a:r>
            <a:endParaRPr lang="zh-CN" altLang="en-US" sz="2000" b="1" kern="1000" spc="-170" baseline="0" dirty="0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</p:sldLayoutIdLst>
  <p:transition spd="med">
    <p:wipe dir="d"/>
  </p:transition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华文新魏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21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3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4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9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1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3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22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8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9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44.wmf"/><Relationship Id="rId3" Type="http://schemas.openxmlformats.org/officeDocument/2006/relationships/image" Target="../media/image37.jpeg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42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5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32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47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8.w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42.bin"/><Relationship Id="rId18" Type="http://schemas.openxmlformats.org/officeDocument/2006/relationships/image" Target="../media/image58.wmf"/><Relationship Id="rId26" Type="http://schemas.openxmlformats.org/officeDocument/2006/relationships/image" Target="../media/image62.wmf"/><Relationship Id="rId3" Type="http://schemas.openxmlformats.org/officeDocument/2006/relationships/oleObject" Target="../embeddings/oleObject37.bin"/><Relationship Id="rId21" Type="http://schemas.openxmlformats.org/officeDocument/2006/relationships/oleObject" Target="../embeddings/oleObject46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44.bin"/><Relationship Id="rId25" Type="http://schemas.openxmlformats.org/officeDocument/2006/relationships/oleObject" Target="../embeddings/oleObject4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57.wmf"/><Relationship Id="rId20" Type="http://schemas.openxmlformats.org/officeDocument/2006/relationships/image" Target="../media/image59.wmf"/><Relationship Id="rId29" Type="http://schemas.openxmlformats.org/officeDocument/2006/relationships/oleObject" Target="../embeddings/oleObject50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41.bin"/><Relationship Id="rId24" Type="http://schemas.openxmlformats.org/officeDocument/2006/relationships/image" Target="../media/image61.wmf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23" Type="http://schemas.openxmlformats.org/officeDocument/2006/relationships/oleObject" Target="../embeddings/oleObject47.bin"/><Relationship Id="rId28" Type="http://schemas.openxmlformats.org/officeDocument/2006/relationships/image" Target="../media/image63.wmf"/><Relationship Id="rId10" Type="http://schemas.openxmlformats.org/officeDocument/2006/relationships/image" Target="../media/image54.wmf"/><Relationship Id="rId19" Type="http://schemas.openxmlformats.org/officeDocument/2006/relationships/oleObject" Target="../embeddings/oleObject45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56.wmf"/><Relationship Id="rId22" Type="http://schemas.openxmlformats.org/officeDocument/2006/relationships/image" Target="../media/image60.wmf"/><Relationship Id="rId27" Type="http://schemas.openxmlformats.org/officeDocument/2006/relationships/oleObject" Target="../embeddings/oleObject49.bin"/><Relationship Id="rId30" Type="http://schemas.openxmlformats.org/officeDocument/2006/relationships/image" Target="../media/image64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56.bin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70.w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71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73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80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82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8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81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83.w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85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84.wmf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87.wm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9.w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91.w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3" Type="http://schemas.openxmlformats.org/officeDocument/2006/relationships/audio" Target="../media/audio3.wav"/><Relationship Id="rId7" Type="http://schemas.openxmlformats.org/officeDocument/2006/relationships/image" Target="../media/image9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95.wmf"/><Relationship Id="rId5" Type="http://schemas.openxmlformats.org/officeDocument/2006/relationships/image" Target="../media/image92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94.wmf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96.w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97.wmf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48.wmf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92.bin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10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105.wmf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106.wmf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100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12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13.wmf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06.bin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18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20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19.wmf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121.wmf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24.wmf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26.wmf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129.wmf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30.wmf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132.wmf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138.wmf"/><Relationship Id="rId4" Type="http://schemas.openxmlformats.org/officeDocument/2006/relationships/image" Target="../media/image135.wmf"/><Relationship Id="rId9" Type="http://schemas.openxmlformats.org/officeDocument/2006/relationships/oleObject" Target="../embeddings/oleObject125.bin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39.wmf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141.wmf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142.wmf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4.vml"/><Relationship Id="rId4" Type="http://schemas.openxmlformats.org/officeDocument/2006/relationships/image" Target="../media/image143.wmf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5.vml"/><Relationship Id="rId4" Type="http://schemas.openxmlformats.org/officeDocument/2006/relationships/image" Target="../media/image144.wmf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6.vml"/><Relationship Id="rId4" Type="http://schemas.openxmlformats.org/officeDocument/2006/relationships/image" Target="../media/image145.wmf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7.vml"/><Relationship Id="rId4" Type="http://schemas.openxmlformats.org/officeDocument/2006/relationships/image" Target="../media/image146.wmf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8.vml"/><Relationship Id="rId4" Type="http://schemas.openxmlformats.org/officeDocument/2006/relationships/image" Target="../media/image147.wmf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9.vml"/><Relationship Id="rId4" Type="http://schemas.openxmlformats.org/officeDocument/2006/relationships/image" Target="../media/image148.wmf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13" Type="http://schemas.openxmlformats.org/officeDocument/2006/relationships/oleObject" Target="../embeddings/oleObject141.bin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53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50.wmf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7.bin"/><Relationship Id="rId10" Type="http://schemas.openxmlformats.org/officeDocument/2006/relationships/image" Target="../media/image152.wmf"/><Relationship Id="rId4" Type="http://schemas.openxmlformats.org/officeDocument/2006/relationships/image" Target="../media/image149.w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54.wmf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55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54.wmf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2.vml"/><Relationship Id="rId4" Type="http://schemas.openxmlformats.org/officeDocument/2006/relationships/image" Target="../media/image157.wmf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" name="Text Box 61"/>
          <p:cNvSpPr txBox="1">
            <a:spLocks noChangeArrowheads="1"/>
          </p:cNvSpPr>
          <p:nvPr/>
        </p:nvSpPr>
        <p:spPr bwMode="auto">
          <a:xfrm>
            <a:off x="1193800" y="1811338"/>
            <a:ext cx="69453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0" lang="zh-CN" altLang="en-US" sz="44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土的压缩性与地基沉降计算</a:t>
            </a:r>
            <a:endParaRPr kumimoji="0" lang="en-US" altLang="zh-CN" sz="4400" b="1" dirty="0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3849688" y="3218503"/>
            <a:ext cx="2117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张 丙 印</a:t>
            </a:r>
          </a:p>
        </p:txBody>
      </p:sp>
      <p:sp>
        <p:nvSpPr>
          <p:cNvPr id="22" name="Text Box 59"/>
          <p:cNvSpPr txBox="1">
            <a:spLocks noChangeArrowheads="1"/>
          </p:cNvSpPr>
          <p:nvPr/>
        </p:nvSpPr>
        <p:spPr bwMode="auto">
          <a:xfrm>
            <a:off x="2519465" y="822480"/>
            <a:ext cx="3187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《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土力学</a:t>
            </a:r>
            <a:r>
              <a:rPr kumimoji="1" lang="en-US" altLang="zh-CN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》</a:t>
            </a:r>
            <a:r>
              <a:rPr kumimoji="1" lang="zh-CN" altLang="en-US" sz="2400" b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之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kumimoji="1" lang="zh-CN" altLang="en-US" sz="2400" b="1" dirty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四</a:t>
            </a:r>
            <a:r>
              <a:rPr kumimoji="1" lang="zh-CN" altLang="en-US" sz="2400" b="1" dirty="0" smtClean="0">
                <a:solidFill>
                  <a:srgbClr val="990000"/>
                </a:solidFill>
                <a:latin typeface="黑体" pitchFamily="2" charset="-122"/>
                <a:ea typeface="黑体" pitchFamily="2" charset="-122"/>
              </a:rPr>
              <a:t>章</a:t>
            </a:r>
            <a:endParaRPr kumimoji="1" lang="zh-CN" altLang="en-US" sz="2400" b="1" dirty="0">
              <a:solidFill>
                <a:srgbClr val="99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3" name="Rectangle 2"/>
          <p:cNvSpPr>
            <a:spLocks noChangeArrowheads="1"/>
          </p:cNvSpPr>
          <p:nvPr/>
        </p:nvSpPr>
        <p:spPr bwMode="auto">
          <a:xfrm>
            <a:off x="1580955" y="4390958"/>
            <a:ext cx="642461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2400" b="1" dirty="0">
                <a:solidFill>
                  <a:srgbClr val="660066"/>
                </a:solidFill>
                <a:latin typeface="幼圆" pitchFamily="49" charset="-122"/>
                <a:ea typeface="幼圆" pitchFamily="49" charset="-122"/>
              </a:rPr>
              <a:t>	</a:t>
            </a: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清华大学土木水利学院      </a:t>
            </a:r>
          </a:p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tabLst>
                <a:tab pos="1620838" algn="l"/>
              </a:tabLst>
            </a:pPr>
            <a:r>
              <a:rPr kumimoji="1" lang="zh-CN" altLang="en-US" sz="3200" b="1" dirty="0">
                <a:solidFill>
                  <a:srgbClr val="660066"/>
                </a:solidFill>
                <a:latin typeface="黑体" pitchFamily="2" charset="-122"/>
                <a:ea typeface="黑体" pitchFamily="2" charset="-122"/>
              </a:rPr>
              <a:t>      	岩 土 工 程 研 究 所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961" name="Text Box 9"/>
          <p:cNvSpPr txBox="1">
            <a:spLocks noChangeArrowheads="1"/>
          </p:cNvSpPr>
          <p:nvPr/>
        </p:nvSpPr>
        <p:spPr bwMode="auto">
          <a:xfrm>
            <a:off x="850900" y="2127250"/>
            <a:ext cx="2651125" cy="351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本章提要</a:t>
            </a:r>
          </a:p>
          <a:p>
            <a:pPr>
              <a:lnSpc>
                <a:spcPct val="120000"/>
              </a:lnSpc>
              <a:spcBef>
                <a:spcPct val="45000"/>
              </a:spcBef>
              <a:spcAft>
                <a:spcPct val="110000"/>
              </a:spcAft>
              <a:buFont typeface="Wingdings" pitchFamily="2" charset="2"/>
              <a:buChar char="²"/>
            </a:pPr>
            <a:endParaRPr lang="zh-CN" altLang="en-US" sz="24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Wingdings" pitchFamily="2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本章特点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endParaRPr lang="zh-CN" altLang="en-US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endParaRPr lang="zh-CN" altLang="en-US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²"/>
            </a:pPr>
            <a:r>
              <a:rPr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学习难点</a:t>
            </a:r>
            <a:endParaRPr lang="en-US" altLang="zh-CN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405962" name="Text Box 10"/>
          <p:cNvSpPr txBox="1">
            <a:spLocks noChangeArrowheads="1"/>
          </p:cNvSpPr>
          <p:nvPr/>
        </p:nvSpPr>
        <p:spPr bwMode="auto">
          <a:xfrm>
            <a:off x="1316038" y="777875"/>
            <a:ext cx="694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2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第四章：</a:t>
            </a:r>
            <a:r>
              <a:rPr kumimoji="0" lang="zh-CN" altLang="en-US" sz="32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土的压缩性与地基沉降计算</a:t>
            </a:r>
            <a:endParaRPr kumimoji="0" lang="en-US" altLang="zh-CN" sz="32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05963" name="Text Box 11"/>
          <p:cNvSpPr txBox="1">
            <a:spLocks noChangeArrowheads="1"/>
          </p:cNvSpPr>
          <p:nvPr/>
        </p:nvSpPr>
        <p:spPr bwMode="auto">
          <a:xfrm>
            <a:off x="3173413" y="1898650"/>
            <a:ext cx="5573712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  土的压缩性 </a:t>
            </a:r>
            <a:r>
              <a:rPr kumimoji="1" lang="en-US" altLang="zh-CN" sz="2400" b="1">
                <a:solidFill>
                  <a:srgbClr val="000066"/>
                </a:solidFill>
                <a:ea typeface="幼圆" pitchFamily="49" charset="-122"/>
              </a:rPr>
              <a:t>-</a:t>
            </a: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测试方法和指标</a:t>
            </a:r>
            <a:endParaRPr lang="en-US" altLang="zh-CN" sz="24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  地基的最终沉降量</a:t>
            </a:r>
            <a:r>
              <a:rPr kumimoji="1" lang="en-US" altLang="zh-CN" sz="2400" b="1">
                <a:solidFill>
                  <a:srgbClr val="000066"/>
                </a:solidFill>
                <a:ea typeface="幼圆" pitchFamily="49" charset="-122"/>
              </a:rPr>
              <a:t>-</a:t>
            </a: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分层总合法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  地基的沉降过程</a:t>
            </a:r>
            <a:r>
              <a:rPr kumimoji="1" lang="en-US" altLang="zh-CN" sz="2400" b="1">
                <a:solidFill>
                  <a:srgbClr val="000066"/>
                </a:solidFill>
                <a:ea typeface="幼圆" pitchFamily="49" charset="-122"/>
              </a:rPr>
              <a:t>-</a:t>
            </a: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</a:rPr>
              <a:t>饱和土渗流固结理论</a:t>
            </a:r>
            <a:endParaRPr lang="en-US" altLang="zh-CN" sz="24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</a:t>
            </a:r>
            <a:endParaRPr lang="zh-CN" altLang="en-US" sz="2400" b="1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Wingdings" pitchFamily="2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有一些较严格的理论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 有较多经验性假设和公式</a:t>
            </a:r>
            <a:endParaRPr lang="zh-CN" altLang="en-US" sz="24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CN" altLang="en-US" sz="24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应力历史及先期固结压力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 不同条件下的总沉降量计算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  渗流固结理论及参数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第四章：本章概要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2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928" name="Text Box 16"/>
          <p:cNvSpPr txBox="1">
            <a:spLocks noChangeArrowheads="1"/>
          </p:cNvSpPr>
          <p:nvPr/>
        </p:nvSpPr>
        <p:spPr bwMode="auto">
          <a:xfrm>
            <a:off x="1433513" y="777875"/>
            <a:ext cx="3262312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/>
                <a:tailEnd type="none" w="sm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土的压缩变形问题</a:t>
            </a:r>
          </a:p>
        </p:txBody>
      </p:sp>
      <p:sp>
        <p:nvSpPr>
          <p:cNvPr id="1446929" name="Rectangle 17"/>
          <p:cNvSpPr>
            <a:spLocks noChangeArrowheads="1"/>
          </p:cNvSpPr>
          <p:nvPr/>
        </p:nvSpPr>
        <p:spPr bwMode="auto">
          <a:xfrm>
            <a:off x="1925638" y="5686425"/>
            <a:ext cx="65166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土的压缩性与地基沉降计算</a:t>
            </a:r>
          </a:p>
        </p:txBody>
      </p:sp>
      <p:sp>
        <p:nvSpPr>
          <p:cNvPr id="1446930" name="AutoShape 18"/>
          <p:cNvSpPr>
            <a:spLocks noChangeArrowheads="1"/>
          </p:cNvSpPr>
          <p:nvPr/>
        </p:nvSpPr>
        <p:spPr bwMode="auto">
          <a:xfrm rot="5400000">
            <a:off x="2528093" y="1510507"/>
            <a:ext cx="519113" cy="495300"/>
          </a:xfrm>
          <a:prstGeom prst="homePlate">
            <a:avLst>
              <a:gd name="adj" fmla="val 26202"/>
            </a:avLst>
          </a:prstGeom>
          <a:solidFill>
            <a:srgbClr val="FF942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446931" name="AutoShape 19"/>
          <p:cNvSpPr>
            <a:spLocks noChangeArrowheads="1"/>
          </p:cNvSpPr>
          <p:nvPr/>
        </p:nvSpPr>
        <p:spPr bwMode="auto">
          <a:xfrm>
            <a:off x="5629275" y="2209800"/>
            <a:ext cx="460375" cy="358775"/>
          </a:xfrm>
          <a:prstGeom prst="homePlate">
            <a:avLst>
              <a:gd name="adj" fmla="val 32080"/>
            </a:avLst>
          </a:prstGeom>
          <a:solidFill>
            <a:srgbClr val="FF9429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446932" name="Text Box 20"/>
          <p:cNvSpPr txBox="1">
            <a:spLocks noChangeArrowheads="1"/>
          </p:cNvSpPr>
          <p:nvPr/>
        </p:nvSpPr>
        <p:spPr bwMode="auto">
          <a:xfrm>
            <a:off x="6218238" y="215259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试验方法</a:t>
            </a:r>
          </a:p>
        </p:txBody>
      </p:sp>
      <p:sp>
        <p:nvSpPr>
          <p:cNvPr id="1446933" name="Text Box 21"/>
          <p:cNvSpPr txBox="1">
            <a:spLocks noChangeArrowheads="1"/>
          </p:cNvSpPr>
          <p:nvPr/>
        </p:nvSpPr>
        <p:spPr bwMode="auto">
          <a:xfrm>
            <a:off x="6218238" y="2887309"/>
            <a:ext cx="1716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压缩性指标</a:t>
            </a:r>
          </a:p>
        </p:txBody>
      </p:sp>
      <p:sp>
        <p:nvSpPr>
          <p:cNvPr id="1446934" name="Text Box 22"/>
          <p:cNvSpPr txBox="1">
            <a:spLocks noChangeArrowheads="1"/>
          </p:cNvSpPr>
          <p:nvPr/>
        </p:nvSpPr>
        <p:spPr bwMode="auto">
          <a:xfrm>
            <a:off x="6218238" y="3640138"/>
            <a:ext cx="1716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沉降的大小</a:t>
            </a:r>
          </a:p>
        </p:txBody>
      </p:sp>
      <p:sp>
        <p:nvSpPr>
          <p:cNvPr id="1446935" name="Text Box 23"/>
          <p:cNvSpPr txBox="1">
            <a:spLocks noChangeArrowheads="1"/>
          </p:cNvSpPr>
          <p:nvPr/>
        </p:nvSpPr>
        <p:spPr bwMode="auto">
          <a:xfrm>
            <a:off x="6218238" y="4416425"/>
            <a:ext cx="1716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沉降的过程</a:t>
            </a:r>
          </a:p>
        </p:txBody>
      </p:sp>
      <p:sp>
        <p:nvSpPr>
          <p:cNvPr id="1446936" name="Text Box 24"/>
          <p:cNvSpPr txBox="1">
            <a:spLocks noChangeArrowheads="1"/>
          </p:cNvSpPr>
          <p:nvPr/>
        </p:nvSpPr>
        <p:spPr bwMode="auto">
          <a:xfrm>
            <a:off x="1465263" y="2014538"/>
            <a:ext cx="4035425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6096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65000"/>
              </a:lnSpc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土的压缩性测试方法</a:t>
            </a:r>
          </a:p>
          <a:p>
            <a:pPr>
              <a:lnSpc>
                <a:spcPct val="165000"/>
              </a:lnSpc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一维压缩性及其指标</a:t>
            </a:r>
          </a:p>
          <a:p>
            <a:pPr>
              <a:lnSpc>
                <a:spcPct val="165000"/>
              </a:lnSpc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地基的最终沉降量计算</a:t>
            </a:r>
          </a:p>
          <a:p>
            <a:pPr>
              <a:lnSpc>
                <a:spcPct val="165000"/>
              </a:lnSpc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饱和土体的渗流固结理论</a:t>
            </a:r>
            <a:endParaRPr lang="zh-CN" altLang="en-US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446937" name="AutoShape 25"/>
          <p:cNvSpPr>
            <a:spLocks noChangeArrowheads="1"/>
          </p:cNvSpPr>
          <p:nvPr/>
        </p:nvSpPr>
        <p:spPr bwMode="auto">
          <a:xfrm>
            <a:off x="5629275" y="2974975"/>
            <a:ext cx="460375" cy="358775"/>
          </a:xfrm>
          <a:prstGeom prst="homePlate">
            <a:avLst>
              <a:gd name="adj" fmla="val 32080"/>
            </a:avLst>
          </a:prstGeom>
          <a:solidFill>
            <a:srgbClr val="FF9429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446938" name="AutoShape 26"/>
          <p:cNvSpPr>
            <a:spLocks noChangeArrowheads="1"/>
          </p:cNvSpPr>
          <p:nvPr/>
        </p:nvSpPr>
        <p:spPr bwMode="auto">
          <a:xfrm>
            <a:off x="5629275" y="3698875"/>
            <a:ext cx="460375" cy="358775"/>
          </a:xfrm>
          <a:prstGeom prst="homePlate">
            <a:avLst>
              <a:gd name="adj" fmla="val 32080"/>
            </a:avLst>
          </a:prstGeom>
          <a:solidFill>
            <a:srgbClr val="FF9429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446939" name="AutoShape 27"/>
          <p:cNvSpPr>
            <a:spLocks noChangeArrowheads="1"/>
          </p:cNvSpPr>
          <p:nvPr/>
        </p:nvSpPr>
        <p:spPr bwMode="auto">
          <a:xfrm>
            <a:off x="5629275" y="4441825"/>
            <a:ext cx="460375" cy="358775"/>
          </a:xfrm>
          <a:prstGeom prst="homePlate">
            <a:avLst>
              <a:gd name="adj" fmla="val 32080"/>
            </a:avLst>
          </a:prstGeom>
          <a:solidFill>
            <a:srgbClr val="FF9429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第四章：本章概要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446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44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446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46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469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469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4469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469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4469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4469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446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46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46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446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46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46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446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46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46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withGroup">
                            <p:stCondLst>
                              <p:cond delay="4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446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46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46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6928" grpId="0"/>
      <p:bldP spid="1446930" grpId="0" animBg="1"/>
      <p:bldP spid="1446931" grpId="0" animBg="1"/>
      <p:bldP spid="1446932" grpId="0"/>
      <p:bldP spid="1446933" grpId="0"/>
      <p:bldP spid="1446934" grpId="0"/>
      <p:bldP spid="1446935" grpId="0"/>
      <p:bldP spid="1446937" grpId="0" animBg="1"/>
      <p:bldP spid="1446938" grpId="0" animBg="1"/>
      <p:bldP spid="14469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49275" y="679450"/>
            <a:ext cx="1423988" cy="1516063"/>
            <a:chOff x="6502400" y="546100"/>
            <a:chExt cx="1423988" cy="1516063"/>
          </a:xfrm>
        </p:grpSpPr>
        <p:sp>
          <p:nvSpPr>
            <p:cNvPr id="1447938" name="AutoShape 2"/>
            <p:cNvSpPr>
              <a:spLocks noChangeArrowheads="1"/>
            </p:cNvSpPr>
            <p:nvPr/>
          </p:nvSpPr>
          <p:spPr bwMode="auto">
            <a:xfrm>
              <a:off x="7008813" y="1212850"/>
              <a:ext cx="371475" cy="849313"/>
            </a:xfrm>
            <a:prstGeom prst="cube">
              <a:avLst>
                <a:gd name="adj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7939" name="Freeform 3"/>
            <p:cNvSpPr>
              <a:spLocks/>
            </p:cNvSpPr>
            <p:nvPr/>
          </p:nvSpPr>
          <p:spPr bwMode="auto">
            <a:xfrm flipH="1">
              <a:off x="6502400" y="546100"/>
              <a:ext cx="1423988" cy="950913"/>
            </a:xfrm>
            <a:custGeom>
              <a:avLst/>
              <a:gdLst>
                <a:gd name="T0" fmla="*/ 130 w 783"/>
                <a:gd name="T1" fmla="*/ 133 h 551"/>
                <a:gd name="T2" fmla="*/ 293 w 783"/>
                <a:gd name="T3" fmla="*/ 108 h 551"/>
                <a:gd name="T4" fmla="*/ 520 w 783"/>
                <a:gd name="T5" fmla="*/ 56 h 551"/>
                <a:gd name="T6" fmla="*/ 686 w 783"/>
                <a:gd name="T7" fmla="*/ 12 h 551"/>
                <a:gd name="T8" fmla="*/ 763 w 783"/>
                <a:gd name="T9" fmla="*/ 130 h 551"/>
                <a:gd name="T10" fmla="*/ 779 w 783"/>
                <a:gd name="T11" fmla="*/ 338 h 551"/>
                <a:gd name="T12" fmla="*/ 738 w 783"/>
                <a:gd name="T13" fmla="*/ 504 h 551"/>
                <a:gd name="T14" fmla="*/ 507 w 783"/>
                <a:gd name="T15" fmla="*/ 546 h 551"/>
                <a:gd name="T16" fmla="*/ 238 w 783"/>
                <a:gd name="T17" fmla="*/ 533 h 551"/>
                <a:gd name="T18" fmla="*/ 37 w 783"/>
                <a:gd name="T19" fmla="*/ 469 h 551"/>
                <a:gd name="T20" fmla="*/ 14 w 783"/>
                <a:gd name="T21" fmla="*/ 296 h 551"/>
                <a:gd name="T22" fmla="*/ 46 w 783"/>
                <a:gd name="T23" fmla="*/ 178 h 551"/>
                <a:gd name="T24" fmla="*/ 130 w 783"/>
                <a:gd name="T25" fmla="*/ 133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3" h="551">
                  <a:moveTo>
                    <a:pt x="130" y="133"/>
                  </a:moveTo>
                  <a:cubicBezTo>
                    <a:pt x="171" y="121"/>
                    <a:pt x="228" y="121"/>
                    <a:pt x="293" y="108"/>
                  </a:cubicBezTo>
                  <a:cubicBezTo>
                    <a:pt x="358" y="95"/>
                    <a:pt x="455" y="72"/>
                    <a:pt x="520" y="56"/>
                  </a:cubicBezTo>
                  <a:cubicBezTo>
                    <a:pt x="585" y="40"/>
                    <a:pt x="646" y="0"/>
                    <a:pt x="686" y="12"/>
                  </a:cubicBezTo>
                  <a:cubicBezTo>
                    <a:pt x="726" y="24"/>
                    <a:pt x="748" y="76"/>
                    <a:pt x="763" y="130"/>
                  </a:cubicBezTo>
                  <a:cubicBezTo>
                    <a:pt x="778" y="184"/>
                    <a:pt x="783" y="276"/>
                    <a:pt x="779" y="338"/>
                  </a:cubicBezTo>
                  <a:cubicBezTo>
                    <a:pt x="775" y="400"/>
                    <a:pt x="783" y="469"/>
                    <a:pt x="738" y="504"/>
                  </a:cubicBezTo>
                  <a:cubicBezTo>
                    <a:pt x="693" y="539"/>
                    <a:pt x="590" y="541"/>
                    <a:pt x="507" y="546"/>
                  </a:cubicBezTo>
                  <a:cubicBezTo>
                    <a:pt x="424" y="551"/>
                    <a:pt x="316" y="546"/>
                    <a:pt x="238" y="533"/>
                  </a:cubicBezTo>
                  <a:cubicBezTo>
                    <a:pt x="160" y="520"/>
                    <a:pt x="74" y="508"/>
                    <a:pt x="37" y="469"/>
                  </a:cubicBezTo>
                  <a:cubicBezTo>
                    <a:pt x="0" y="430"/>
                    <a:pt x="13" y="344"/>
                    <a:pt x="14" y="296"/>
                  </a:cubicBezTo>
                  <a:cubicBezTo>
                    <a:pt x="15" y="248"/>
                    <a:pt x="27" y="205"/>
                    <a:pt x="46" y="178"/>
                  </a:cubicBezTo>
                  <a:cubicBezTo>
                    <a:pt x="65" y="151"/>
                    <a:pt x="89" y="145"/>
                    <a:pt x="130" y="133"/>
                  </a:cubicBezTo>
                  <a:close/>
                </a:path>
              </a:pathLst>
            </a:custGeom>
            <a:solidFill>
              <a:srgbClr val="DBC9FF"/>
            </a:soli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47940" name="WordArt 4"/>
            <p:cNvSpPr>
              <a:spLocks noChangeArrowheads="1" noChangeShapeType="1" noTextEdit="1"/>
            </p:cNvSpPr>
            <p:nvPr/>
          </p:nvSpPr>
          <p:spPr bwMode="auto">
            <a:xfrm>
              <a:off x="6646863" y="566738"/>
              <a:ext cx="1065212" cy="822325"/>
            </a:xfrm>
            <a:prstGeom prst="rect">
              <a:avLst/>
            </a:prstGeom>
          </p:spPr>
          <p:txBody>
            <a:bodyPr wrap="none" fromWordArt="1">
              <a:prstTxWarp prst="textCurveDown">
                <a:avLst>
                  <a:gd name="adj" fmla="val 43477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45791" dir="2021404" algn="ctr" rotWithShape="0">
                      <a:srgbClr val="808080">
                        <a:alpha val="80000"/>
                      </a:srgbClr>
                    </a:outerShdw>
                  </a:effectLst>
                  <a:latin typeface="华文新魏"/>
                  <a:ea typeface="华文新魏"/>
                </a:rPr>
                <a:t>作业</a:t>
              </a:r>
            </a:p>
          </p:txBody>
        </p:sp>
      </p:grpSp>
      <p:sp>
        <p:nvSpPr>
          <p:cNvPr id="1447944" name="Text Box 8"/>
          <p:cNvSpPr txBox="1">
            <a:spLocks noChangeArrowheads="1"/>
          </p:cNvSpPr>
          <p:nvPr/>
        </p:nvSpPr>
        <p:spPr bwMode="auto">
          <a:xfrm>
            <a:off x="3140646" y="2005013"/>
            <a:ext cx="4749906" cy="1551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9900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990600" indent="-990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1699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4937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52876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4-2</a:t>
            </a:r>
            <a:endParaRPr lang="en-US" altLang="zh-CN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4-6 </a:t>
            </a:r>
            <a:endParaRPr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4-7  (</a:t>
            </a:r>
            <a:r>
              <a:rPr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1)(2)(3</a:t>
            </a:r>
            <a:r>
              <a:rPr lang="en-US" altLang="zh-CN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)(5)(</a:t>
            </a:r>
            <a:r>
              <a:rPr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6)</a:t>
            </a: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559175" y="5663553"/>
            <a:ext cx="24066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本章作业</a:t>
            </a:r>
            <a:r>
              <a:rPr kumimoji="1" lang="en-US" altLang="zh-CN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0" y="0"/>
            <a:ext cx="36893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第四章：本章概要</a:t>
            </a:r>
            <a:r>
              <a:rPr lang="zh-CN" altLang="en-US" sz="2000" kern="900" spc="-140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endParaRPr lang="zh-CN" altLang="en-US" sz="2000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964" name="Text Box 4"/>
          <p:cNvSpPr txBox="1">
            <a:spLocks noChangeArrowheads="1"/>
          </p:cNvSpPr>
          <p:nvPr/>
        </p:nvSpPr>
        <p:spPr bwMode="auto">
          <a:xfrm>
            <a:off x="1968500" y="2192338"/>
            <a:ext cx="6059488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6096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§4.1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概述  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§4.2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土的压缩性测试方法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§4.3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一维压缩性及其指标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§4.4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地基的最终沉降量计算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§4.5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饱和土体的渗流固结理论</a:t>
            </a:r>
            <a:endParaRPr lang="zh-CN" altLang="en-US" sz="3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48965" name="Text Box 5"/>
          <p:cNvSpPr txBox="1">
            <a:spLocks noChangeArrowheads="1"/>
          </p:cNvSpPr>
          <p:nvPr/>
        </p:nvSpPr>
        <p:spPr bwMode="auto">
          <a:xfrm>
            <a:off x="885825" y="1147763"/>
            <a:ext cx="77771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第四章：</a:t>
            </a: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土的压缩性与地基沉降计算</a:t>
            </a:r>
            <a:endParaRPr kumimoji="0"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48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48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448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48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48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48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48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48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448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448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5714" name="Picture 17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540000">
            <a:off x="3445224" y="933718"/>
            <a:ext cx="5443695" cy="4554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45715" name="AutoShape 179"/>
          <p:cNvSpPr>
            <a:spLocks noChangeArrowheads="1"/>
          </p:cNvSpPr>
          <p:nvPr/>
        </p:nvSpPr>
        <p:spPr bwMode="auto">
          <a:xfrm>
            <a:off x="270212" y="712381"/>
            <a:ext cx="2478088" cy="578882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墨西哥某宫殿</a:t>
            </a:r>
          </a:p>
        </p:txBody>
      </p:sp>
      <p:sp>
        <p:nvSpPr>
          <p:cNvPr id="1345716" name="Text Box 180"/>
          <p:cNvSpPr txBox="1">
            <a:spLocks noChangeArrowheads="1"/>
          </p:cNvSpPr>
          <p:nvPr/>
        </p:nvSpPr>
        <p:spPr bwMode="auto">
          <a:xfrm>
            <a:off x="326258" y="1357306"/>
            <a:ext cx="346075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左部：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1709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年</a:t>
            </a:r>
            <a:b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</a:b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右部：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1622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年</a:t>
            </a:r>
            <a:b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</a:b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地基：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20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多米厚粘土</a:t>
            </a:r>
          </a:p>
        </p:txBody>
      </p:sp>
      <p:sp>
        <p:nvSpPr>
          <p:cNvPr id="1345717" name="Text Box 181"/>
          <p:cNvSpPr txBox="1">
            <a:spLocks noChangeArrowheads="1"/>
          </p:cNvSpPr>
          <p:nvPr/>
        </p:nvSpPr>
        <p:spPr bwMode="auto">
          <a:xfrm>
            <a:off x="3527548" y="5809434"/>
            <a:ext cx="32035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工 程 实 例</a:t>
            </a:r>
          </a:p>
        </p:txBody>
      </p:sp>
      <p:sp>
        <p:nvSpPr>
          <p:cNvPr id="1345718" name="Text Box 182"/>
          <p:cNvSpPr txBox="1">
            <a:spLocks noChangeArrowheads="1"/>
          </p:cNvSpPr>
          <p:nvPr/>
        </p:nvSpPr>
        <p:spPr bwMode="auto">
          <a:xfrm>
            <a:off x="386583" y="2976563"/>
            <a:ext cx="27447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问题：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沉降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2.2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米，且左右两部分存在明显的沉降差。左侧建筑物于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1969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年加固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2686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457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4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345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345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345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345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5714" grpId="0" autoUpdateAnimBg="0"/>
      <p:bldP spid="1345715" grpId="0"/>
      <p:bldP spid="1345716" grpId="0"/>
      <p:bldP spid="13457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637" name="Text Box 5"/>
          <p:cNvSpPr txBox="1">
            <a:spLocks noChangeArrowheads="1"/>
          </p:cNvSpPr>
          <p:nvPr/>
        </p:nvSpPr>
        <p:spPr bwMode="auto">
          <a:xfrm>
            <a:off x="5382566" y="1044467"/>
            <a:ext cx="3276600" cy="4081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zh-CN" sz="2400" b="1" dirty="0" smtClean="0">
                <a:solidFill>
                  <a:srgbClr val="000066"/>
                </a:solidFill>
                <a:ea typeface="幼圆" pitchFamily="49" charset="-122"/>
              </a:rPr>
              <a:t>墨西哥城</a:t>
            </a:r>
            <a:r>
              <a:rPr kumimoji="1" lang="zh-CN" altLang="zh-CN" sz="2400" b="1" dirty="0">
                <a:solidFill>
                  <a:srgbClr val="000066"/>
                </a:solidFill>
                <a:ea typeface="幼圆" pitchFamily="49" charset="-122"/>
              </a:rPr>
              <a:t>的一幢建筑，可清晰地看见其发生的沉降及不均匀沉降。该地的土层为深厚的湖相沉积层，土的天然含水量高达 650 ％，液限 500% ，塑性指数 350 ，孔隙比为 15 ，具有极高的压缩性。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pic>
        <p:nvPicPr>
          <p:cNvPr id="1605638" name="Picture 6" descr="djcj_clip_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489075"/>
            <a:ext cx="4951413" cy="328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-9526" y="0"/>
            <a:ext cx="2686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181"/>
          <p:cNvSpPr txBox="1">
            <a:spLocks noChangeArrowheads="1"/>
          </p:cNvSpPr>
          <p:nvPr/>
        </p:nvSpPr>
        <p:spPr bwMode="auto">
          <a:xfrm>
            <a:off x="3429893" y="5720657"/>
            <a:ext cx="32035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工 程 实 例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6642" name="Picture 82" descr="jwtc_clip_image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7"/>
          <a:stretch>
            <a:fillRect/>
          </a:stretch>
        </p:blipFill>
        <p:spPr bwMode="auto">
          <a:xfrm>
            <a:off x="1516063" y="728663"/>
            <a:ext cx="3786187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6638" name="Text Box 78"/>
          <p:cNvSpPr txBox="1">
            <a:spLocks noChangeArrowheads="1"/>
          </p:cNvSpPr>
          <p:nvPr/>
        </p:nvSpPr>
        <p:spPr bwMode="auto">
          <a:xfrm>
            <a:off x="3421016" y="5800556"/>
            <a:ext cx="31718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工 程 实 例</a:t>
            </a:r>
          </a:p>
        </p:txBody>
      </p:sp>
      <p:sp>
        <p:nvSpPr>
          <p:cNvPr id="1346640" name="Text Box 80"/>
          <p:cNvSpPr txBox="1">
            <a:spLocks noChangeArrowheads="1"/>
          </p:cNvSpPr>
          <p:nvPr/>
        </p:nvSpPr>
        <p:spPr bwMode="auto">
          <a:xfrm>
            <a:off x="3065463" y="620713"/>
            <a:ext cx="1392237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5400" i="1">
                <a:solidFill>
                  <a:srgbClr val="FF3300"/>
                </a:solidFill>
              </a:rPr>
              <a:t>Kiss</a:t>
            </a:r>
          </a:p>
        </p:txBody>
      </p:sp>
      <p:sp>
        <p:nvSpPr>
          <p:cNvPr id="1346641" name="Text Box 81"/>
          <p:cNvSpPr txBox="1">
            <a:spLocks noChangeArrowheads="1"/>
          </p:cNvSpPr>
          <p:nvPr/>
        </p:nvSpPr>
        <p:spPr bwMode="auto">
          <a:xfrm>
            <a:off x="5713351" y="1853892"/>
            <a:ext cx="2703512" cy="1949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A50021"/>
                </a:solidFill>
                <a:ea typeface="黑体" pitchFamily="2" charset="-122"/>
              </a:rPr>
              <a:t>由于沉降相互影响，两栋相邻的建筑物上部接触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2686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346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346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" presetID="15" presetClass="entr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3466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3466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46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346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6640" grpId="0" autoUpdateAnimBg="0"/>
      <p:bldP spid="13466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676" name="Text Box 92"/>
          <p:cNvSpPr txBox="1">
            <a:spLocks noChangeArrowheads="1"/>
          </p:cNvSpPr>
          <p:nvPr/>
        </p:nvSpPr>
        <p:spPr bwMode="auto">
          <a:xfrm>
            <a:off x="3358873" y="5827189"/>
            <a:ext cx="3187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工 程 实 例</a:t>
            </a:r>
          </a:p>
        </p:txBody>
      </p:sp>
      <p:pic>
        <p:nvPicPr>
          <p:cNvPr id="1347677" name="Picture 93" descr="Pict106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00" y="849313"/>
            <a:ext cx="7556500" cy="466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7678" name="Text Box 94"/>
          <p:cNvSpPr txBox="1">
            <a:spLocks noChangeArrowheads="1"/>
          </p:cNvSpPr>
          <p:nvPr/>
        </p:nvSpPr>
        <p:spPr bwMode="auto">
          <a:xfrm>
            <a:off x="1460500" y="2436813"/>
            <a:ext cx="41894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chemeClr val="folHlink"/>
                </a:solidFill>
                <a:ea typeface="幼圆" pitchFamily="49" charset="-122"/>
              </a:rPr>
              <a:t>基坑开挖，引起阳台裂缝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-9526" y="0"/>
            <a:ext cx="2686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4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347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347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767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8701" name="Group 93"/>
          <p:cNvGrpSpPr>
            <a:grpSpLocks/>
          </p:cNvGrpSpPr>
          <p:nvPr/>
        </p:nvGrpSpPr>
        <p:grpSpPr bwMode="auto">
          <a:xfrm>
            <a:off x="2420939" y="752475"/>
            <a:ext cx="5065712" cy="4937002"/>
            <a:chOff x="1507" y="375"/>
            <a:chExt cx="4080" cy="3782"/>
          </a:xfrm>
        </p:grpSpPr>
        <p:sp>
          <p:nvSpPr>
            <p:cNvPr id="1348702" name="Rectangle 94"/>
            <p:cNvSpPr>
              <a:spLocks noChangeArrowheads="1"/>
            </p:cNvSpPr>
            <p:nvPr/>
          </p:nvSpPr>
          <p:spPr bwMode="auto">
            <a:xfrm>
              <a:off x="1507" y="375"/>
              <a:ext cx="4080" cy="37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348703" name="Picture 9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96" t="4861" r="-911" b="8009"/>
            <a:stretch>
              <a:fillRect/>
            </a:stretch>
          </p:blipFill>
          <p:spPr bwMode="auto">
            <a:xfrm>
              <a:off x="1732" y="384"/>
              <a:ext cx="3686" cy="37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348704" name="Text Box 96"/>
          <p:cNvSpPr txBox="1">
            <a:spLocks noChangeArrowheads="1"/>
          </p:cNvSpPr>
          <p:nvPr/>
        </p:nvSpPr>
        <p:spPr bwMode="auto">
          <a:xfrm>
            <a:off x="722313" y="1050925"/>
            <a:ext cx="1403350" cy="3675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A50021"/>
                </a:solidFill>
                <a:ea typeface="黑体" pitchFamily="2" charset="-122"/>
              </a:rPr>
              <a:t>新建筑引起原有建筑物开裂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9526" y="0"/>
            <a:ext cx="2686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4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348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348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870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0711" name="Picture 55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088" y="885673"/>
            <a:ext cx="5084555" cy="4449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50712" name="Text Box 56"/>
          <p:cNvSpPr txBox="1">
            <a:spLocks noChangeArrowheads="1"/>
          </p:cNvSpPr>
          <p:nvPr/>
        </p:nvSpPr>
        <p:spPr bwMode="auto">
          <a:xfrm>
            <a:off x="3693879" y="5745283"/>
            <a:ext cx="31559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工 程 实 例</a:t>
            </a:r>
          </a:p>
        </p:txBody>
      </p:sp>
      <p:sp>
        <p:nvSpPr>
          <p:cNvPr id="1350713" name="Text Box 57"/>
          <p:cNvSpPr txBox="1">
            <a:spLocks noChangeArrowheads="1"/>
          </p:cNvSpPr>
          <p:nvPr/>
        </p:nvSpPr>
        <p:spPr bwMode="auto">
          <a:xfrm>
            <a:off x="7292975" y="1371600"/>
            <a:ext cx="671513" cy="385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A50021"/>
                </a:solidFill>
                <a:ea typeface="黑体" pitchFamily="2" charset="-122"/>
              </a:rPr>
              <a:t>建筑物立面高差过大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-9526" y="0"/>
            <a:ext cx="2686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350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350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07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834" name="Picture 154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" contrast="-5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50" y="1787525"/>
            <a:ext cx="7712075" cy="145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51835" name="Line 155"/>
          <p:cNvSpPr>
            <a:spLocks noChangeShapeType="1"/>
          </p:cNvSpPr>
          <p:nvPr/>
        </p:nvSpPr>
        <p:spPr bwMode="auto">
          <a:xfrm>
            <a:off x="992188" y="3529013"/>
            <a:ext cx="0" cy="20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36" name="Line 156"/>
          <p:cNvSpPr>
            <a:spLocks noChangeShapeType="1"/>
          </p:cNvSpPr>
          <p:nvPr/>
        </p:nvSpPr>
        <p:spPr bwMode="auto">
          <a:xfrm>
            <a:off x="8382000" y="3508375"/>
            <a:ext cx="0" cy="203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37" name="Line 157"/>
          <p:cNvSpPr>
            <a:spLocks noChangeShapeType="1"/>
          </p:cNvSpPr>
          <p:nvPr/>
        </p:nvSpPr>
        <p:spPr bwMode="auto">
          <a:xfrm>
            <a:off x="989013" y="3635375"/>
            <a:ext cx="7385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38" name="Text Box 158"/>
          <p:cNvSpPr txBox="1">
            <a:spLocks noChangeArrowheads="1"/>
          </p:cNvSpPr>
          <p:nvPr/>
        </p:nvSpPr>
        <p:spPr bwMode="auto">
          <a:xfrm>
            <a:off x="4370388" y="3340100"/>
            <a:ext cx="725487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66"/>
                </a:solidFill>
                <a:ea typeface="幼圆" pitchFamily="49" charset="-122"/>
              </a:rPr>
              <a:t>47m</a:t>
            </a:r>
          </a:p>
        </p:txBody>
      </p:sp>
      <p:sp>
        <p:nvSpPr>
          <p:cNvPr id="1351839" name="Freeform 159"/>
          <p:cNvSpPr>
            <a:spLocks/>
          </p:cNvSpPr>
          <p:nvPr/>
        </p:nvSpPr>
        <p:spPr bwMode="auto">
          <a:xfrm>
            <a:off x="987425" y="3846513"/>
            <a:ext cx="7396163" cy="600075"/>
          </a:xfrm>
          <a:custGeom>
            <a:avLst/>
            <a:gdLst>
              <a:gd name="T0" fmla="*/ 0 w 4659"/>
              <a:gd name="T1" fmla="*/ 58 h 378"/>
              <a:gd name="T2" fmla="*/ 0 w 4659"/>
              <a:gd name="T3" fmla="*/ 0 h 378"/>
              <a:gd name="T4" fmla="*/ 4659 w 4659"/>
              <a:gd name="T5" fmla="*/ 0 h 378"/>
              <a:gd name="T6" fmla="*/ 4659 w 4659"/>
              <a:gd name="T7" fmla="*/ 135 h 378"/>
              <a:gd name="T8" fmla="*/ 4410 w 4659"/>
              <a:gd name="T9" fmla="*/ 167 h 378"/>
              <a:gd name="T10" fmla="*/ 4032 w 4659"/>
              <a:gd name="T11" fmla="*/ 224 h 378"/>
              <a:gd name="T12" fmla="*/ 3725 w 4659"/>
              <a:gd name="T13" fmla="*/ 275 h 378"/>
              <a:gd name="T14" fmla="*/ 3373 w 4659"/>
              <a:gd name="T15" fmla="*/ 314 h 378"/>
              <a:gd name="T16" fmla="*/ 2887 w 4659"/>
              <a:gd name="T17" fmla="*/ 352 h 378"/>
              <a:gd name="T18" fmla="*/ 2541 w 4659"/>
              <a:gd name="T19" fmla="*/ 378 h 378"/>
              <a:gd name="T20" fmla="*/ 2202 w 4659"/>
              <a:gd name="T21" fmla="*/ 378 h 378"/>
              <a:gd name="T22" fmla="*/ 1792 w 4659"/>
              <a:gd name="T23" fmla="*/ 359 h 378"/>
              <a:gd name="T24" fmla="*/ 1306 w 4659"/>
              <a:gd name="T25" fmla="*/ 301 h 378"/>
              <a:gd name="T26" fmla="*/ 858 w 4659"/>
              <a:gd name="T27" fmla="*/ 243 h 378"/>
              <a:gd name="T28" fmla="*/ 365 w 4659"/>
              <a:gd name="T29" fmla="*/ 147 h 378"/>
              <a:gd name="T30" fmla="*/ 115 w 4659"/>
              <a:gd name="T31" fmla="*/ 90 h 378"/>
              <a:gd name="T32" fmla="*/ 0 w 4659"/>
              <a:gd name="T33" fmla="*/ 5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659" h="378">
                <a:moveTo>
                  <a:pt x="0" y="58"/>
                </a:moveTo>
                <a:lnTo>
                  <a:pt x="0" y="0"/>
                </a:lnTo>
                <a:lnTo>
                  <a:pt x="4659" y="0"/>
                </a:lnTo>
                <a:lnTo>
                  <a:pt x="4659" y="135"/>
                </a:lnTo>
                <a:lnTo>
                  <a:pt x="4410" y="167"/>
                </a:lnTo>
                <a:lnTo>
                  <a:pt x="4032" y="224"/>
                </a:lnTo>
                <a:lnTo>
                  <a:pt x="3725" y="275"/>
                </a:lnTo>
                <a:lnTo>
                  <a:pt x="3373" y="314"/>
                </a:lnTo>
                <a:lnTo>
                  <a:pt x="2887" y="352"/>
                </a:lnTo>
                <a:lnTo>
                  <a:pt x="2541" y="378"/>
                </a:lnTo>
                <a:lnTo>
                  <a:pt x="2202" y="378"/>
                </a:lnTo>
                <a:lnTo>
                  <a:pt x="1792" y="359"/>
                </a:lnTo>
                <a:lnTo>
                  <a:pt x="1306" y="301"/>
                </a:lnTo>
                <a:lnTo>
                  <a:pt x="858" y="243"/>
                </a:lnTo>
                <a:lnTo>
                  <a:pt x="365" y="147"/>
                </a:lnTo>
                <a:lnTo>
                  <a:pt x="115" y="90"/>
                </a:lnTo>
                <a:lnTo>
                  <a:pt x="0" y="58"/>
                </a:lnTo>
                <a:close/>
              </a:path>
            </a:pathLst>
          </a:custGeom>
          <a:solidFill>
            <a:srgbClr val="FFCCFF"/>
          </a:solidFill>
          <a:ln w="19050" cmpd="sng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40" name="Line 160"/>
          <p:cNvSpPr>
            <a:spLocks noChangeShapeType="1"/>
          </p:cNvSpPr>
          <p:nvPr/>
        </p:nvSpPr>
        <p:spPr bwMode="auto">
          <a:xfrm>
            <a:off x="2887663" y="3857625"/>
            <a:ext cx="0" cy="446088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41" name="Line 161"/>
          <p:cNvSpPr>
            <a:spLocks noChangeShapeType="1"/>
          </p:cNvSpPr>
          <p:nvPr/>
        </p:nvSpPr>
        <p:spPr bwMode="auto">
          <a:xfrm>
            <a:off x="4483100" y="3846513"/>
            <a:ext cx="0" cy="60007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42" name="Line 162"/>
          <p:cNvSpPr>
            <a:spLocks noChangeShapeType="1"/>
          </p:cNvSpPr>
          <p:nvPr/>
        </p:nvSpPr>
        <p:spPr bwMode="auto">
          <a:xfrm>
            <a:off x="4940300" y="3836988"/>
            <a:ext cx="0" cy="5984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43" name="Line 163"/>
          <p:cNvSpPr>
            <a:spLocks noChangeShapeType="1"/>
          </p:cNvSpPr>
          <p:nvPr/>
        </p:nvSpPr>
        <p:spPr bwMode="auto">
          <a:xfrm>
            <a:off x="6535738" y="3846513"/>
            <a:ext cx="0" cy="4873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44" name="Text Box 164"/>
          <p:cNvSpPr txBox="1">
            <a:spLocks noChangeArrowheads="1"/>
          </p:cNvSpPr>
          <p:nvPr/>
        </p:nvSpPr>
        <p:spPr bwMode="auto">
          <a:xfrm>
            <a:off x="804863" y="3986213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66"/>
                </a:solidFill>
                <a:ea typeface="幼圆" pitchFamily="49" charset="-122"/>
              </a:rPr>
              <a:t>39</a:t>
            </a:r>
          </a:p>
        </p:txBody>
      </p:sp>
      <p:sp>
        <p:nvSpPr>
          <p:cNvPr id="1351845" name="Text Box 165"/>
          <p:cNvSpPr txBox="1">
            <a:spLocks noChangeArrowheads="1"/>
          </p:cNvSpPr>
          <p:nvPr/>
        </p:nvSpPr>
        <p:spPr bwMode="auto">
          <a:xfrm>
            <a:off x="2657475" y="4303713"/>
            <a:ext cx="565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66"/>
                </a:solidFill>
                <a:ea typeface="幼圆" pitchFamily="49" charset="-122"/>
              </a:rPr>
              <a:t>150</a:t>
            </a:r>
          </a:p>
        </p:txBody>
      </p:sp>
      <p:sp>
        <p:nvSpPr>
          <p:cNvPr id="1351846" name="Text Box 166"/>
          <p:cNvSpPr txBox="1">
            <a:spLocks noChangeArrowheads="1"/>
          </p:cNvSpPr>
          <p:nvPr/>
        </p:nvSpPr>
        <p:spPr bwMode="auto">
          <a:xfrm>
            <a:off x="4143375" y="4479925"/>
            <a:ext cx="565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66"/>
                </a:solidFill>
                <a:ea typeface="幼圆" pitchFamily="49" charset="-122"/>
              </a:rPr>
              <a:t>194</a:t>
            </a:r>
          </a:p>
        </p:txBody>
      </p:sp>
      <p:sp>
        <p:nvSpPr>
          <p:cNvPr id="1351847" name="Text Box 167"/>
          <p:cNvSpPr txBox="1">
            <a:spLocks noChangeArrowheads="1"/>
          </p:cNvSpPr>
          <p:nvPr/>
        </p:nvSpPr>
        <p:spPr bwMode="auto">
          <a:xfrm>
            <a:off x="4756150" y="4462463"/>
            <a:ext cx="565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66"/>
                </a:solidFill>
                <a:ea typeface="幼圆" pitchFamily="49" charset="-122"/>
              </a:rPr>
              <a:t>199</a:t>
            </a:r>
          </a:p>
        </p:txBody>
      </p:sp>
      <p:sp>
        <p:nvSpPr>
          <p:cNvPr id="1351848" name="Text Box 168"/>
          <p:cNvSpPr txBox="1">
            <a:spLocks noChangeArrowheads="1"/>
          </p:cNvSpPr>
          <p:nvPr/>
        </p:nvSpPr>
        <p:spPr bwMode="auto">
          <a:xfrm>
            <a:off x="6332538" y="4352925"/>
            <a:ext cx="565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66"/>
                </a:solidFill>
                <a:ea typeface="幼圆" pitchFamily="49" charset="-122"/>
              </a:rPr>
              <a:t>175</a:t>
            </a:r>
          </a:p>
        </p:txBody>
      </p:sp>
      <p:sp>
        <p:nvSpPr>
          <p:cNvPr id="1351849" name="Text Box 169"/>
          <p:cNvSpPr txBox="1">
            <a:spLocks noChangeArrowheads="1"/>
          </p:cNvSpPr>
          <p:nvPr/>
        </p:nvSpPr>
        <p:spPr bwMode="auto">
          <a:xfrm>
            <a:off x="8204200" y="4040188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66"/>
                </a:solidFill>
                <a:ea typeface="幼圆" pitchFamily="49" charset="-122"/>
              </a:rPr>
              <a:t>87</a:t>
            </a:r>
          </a:p>
        </p:txBody>
      </p:sp>
      <p:sp>
        <p:nvSpPr>
          <p:cNvPr id="1351850" name="Text Box 170"/>
          <p:cNvSpPr txBox="1">
            <a:spLocks noChangeArrowheads="1"/>
          </p:cNvSpPr>
          <p:nvPr/>
        </p:nvSpPr>
        <p:spPr bwMode="auto">
          <a:xfrm>
            <a:off x="5937250" y="4757738"/>
            <a:ext cx="1797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沉降曲线</a:t>
            </a:r>
            <a:r>
              <a:rPr lang="en-US" altLang="zh-CN" sz="2000" b="1">
                <a:solidFill>
                  <a:srgbClr val="000066"/>
                </a:solidFill>
                <a:ea typeface="幼圆" pitchFamily="49" charset="-122"/>
              </a:rPr>
              <a:t>(mm)</a:t>
            </a:r>
          </a:p>
        </p:txBody>
      </p:sp>
      <p:sp>
        <p:nvSpPr>
          <p:cNvPr id="1351851" name="Line 171"/>
          <p:cNvSpPr>
            <a:spLocks noChangeShapeType="1"/>
          </p:cNvSpPr>
          <p:nvPr/>
        </p:nvSpPr>
        <p:spPr bwMode="auto">
          <a:xfrm>
            <a:off x="5499100" y="4437063"/>
            <a:ext cx="404813" cy="428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52" name="Text Box 172"/>
          <p:cNvSpPr txBox="1">
            <a:spLocks noChangeArrowheads="1"/>
          </p:cNvSpPr>
          <p:nvPr/>
        </p:nvSpPr>
        <p:spPr bwMode="auto">
          <a:xfrm>
            <a:off x="3740150" y="5589588"/>
            <a:ext cx="31559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工 程 实 例</a:t>
            </a:r>
          </a:p>
        </p:txBody>
      </p:sp>
      <p:sp>
        <p:nvSpPr>
          <p:cNvPr id="1351853" name="Text Box 173"/>
          <p:cNvSpPr txBox="1">
            <a:spLocks noChangeArrowheads="1"/>
          </p:cNvSpPr>
          <p:nvPr/>
        </p:nvSpPr>
        <p:spPr bwMode="auto">
          <a:xfrm>
            <a:off x="2255838" y="825500"/>
            <a:ext cx="45704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建筑物过长：长高比</a:t>
            </a:r>
            <a:r>
              <a:rPr kumimoji="1" lang="en-US" altLang="zh-CN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7.6:1</a:t>
            </a:r>
            <a:endParaRPr kumimoji="1" lang="zh-CN" altLang="en-US" sz="28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-9526" y="0"/>
            <a:ext cx="2686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24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35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85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786" name="Text Box 82"/>
          <p:cNvSpPr txBox="1">
            <a:spLocks noChangeArrowheads="1"/>
          </p:cNvSpPr>
          <p:nvPr/>
        </p:nvSpPr>
        <p:spPr bwMode="auto">
          <a:xfrm>
            <a:off x="212725" y="892295"/>
            <a:ext cx="19335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buSzPct val="135000"/>
              <a:buFont typeface="Wingdings" pitchFamily="2" charset="2"/>
              <a:buChar char="F"/>
            </a:pPr>
            <a:r>
              <a:rPr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压缩性测试</a:t>
            </a:r>
          </a:p>
        </p:txBody>
      </p:sp>
      <p:sp>
        <p:nvSpPr>
          <p:cNvPr id="1352787" name="Text Box 83"/>
          <p:cNvSpPr txBox="1">
            <a:spLocks noChangeArrowheads="1"/>
          </p:cNvSpPr>
          <p:nvPr/>
        </p:nvSpPr>
        <p:spPr bwMode="auto">
          <a:xfrm>
            <a:off x="212725" y="2470270"/>
            <a:ext cx="18891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buSzPct val="135000"/>
              <a:buFont typeface="Wingdings" pitchFamily="2" charset="2"/>
              <a:buChar char="F"/>
            </a:pPr>
            <a:r>
              <a:rPr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最终沉降量</a:t>
            </a:r>
          </a:p>
        </p:txBody>
      </p:sp>
      <p:sp>
        <p:nvSpPr>
          <p:cNvPr id="1352788" name="Text Box 84"/>
          <p:cNvSpPr txBox="1">
            <a:spLocks noChangeArrowheads="1"/>
          </p:cNvSpPr>
          <p:nvPr/>
        </p:nvSpPr>
        <p:spPr bwMode="auto">
          <a:xfrm>
            <a:off x="212725" y="3878383"/>
            <a:ext cx="15922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buSzPct val="135000"/>
              <a:buFont typeface="Wingdings" pitchFamily="2" charset="2"/>
              <a:buChar char="F"/>
            </a:pPr>
            <a:r>
              <a:rPr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沉降速率</a:t>
            </a:r>
          </a:p>
        </p:txBody>
      </p:sp>
      <p:sp>
        <p:nvSpPr>
          <p:cNvPr id="1352789" name="Text Box 85"/>
          <p:cNvSpPr txBox="1">
            <a:spLocks noChangeArrowheads="1"/>
          </p:cNvSpPr>
          <p:nvPr/>
        </p:nvSpPr>
        <p:spPr bwMode="auto">
          <a:xfrm>
            <a:off x="5991225" y="730370"/>
            <a:ext cx="3048000" cy="166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98525" indent="-8985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779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2573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366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zh-CN" b="1">
                <a:solidFill>
                  <a:srgbClr val="000066"/>
                </a:solidFill>
                <a:ea typeface="幼圆" pitchFamily="49" charset="-122"/>
              </a:rPr>
              <a:t>§4.2  </a:t>
            </a: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土的压缩性测试方法</a:t>
            </a:r>
          </a:p>
          <a:p>
            <a:pPr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zh-CN" b="1">
                <a:solidFill>
                  <a:srgbClr val="000066"/>
                </a:solidFill>
                <a:ea typeface="幼圆" pitchFamily="49" charset="-122"/>
              </a:rPr>
              <a:t>§4.3   </a:t>
            </a:r>
            <a:r>
              <a:rPr lang="zh-CN" altLang="en-US" b="1">
                <a:solidFill>
                  <a:srgbClr val="000066"/>
                </a:solidFill>
                <a:ea typeface="幼圆" pitchFamily="49" charset="-122"/>
              </a:rPr>
              <a:t>一维压缩性及其指标</a:t>
            </a:r>
          </a:p>
        </p:txBody>
      </p:sp>
      <p:sp>
        <p:nvSpPr>
          <p:cNvPr id="1352790" name="Text Box 86"/>
          <p:cNvSpPr txBox="1">
            <a:spLocks noChangeArrowheads="1"/>
          </p:cNvSpPr>
          <p:nvPr/>
        </p:nvSpPr>
        <p:spPr bwMode="auto">
          <a:xfrm>
            <a:off x="2351088" y="2497258"/>
            <a:ext cx="3140075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indent="-18256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5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FontTx/>
              <a:buChar char="•"/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一维压缩：基本方法</a:t>
            </a:r>
            <a:endParaRPr kumimoji="0" lang="en-US" altLang="zh-CN" b="1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05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FontTx/>
              <a:buChar char="•"/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复杂条件：修正</a:t>
            </a:r>
            <a:endParaRPr kumimoji="0" lang="en-US" altLang="zh-CN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52791" name="Text Box 87"/>
          <p:cNvSpPr txBox="1">
            <a:spLocks noChangeArrowheads="1"/>
          </p:cNvSpPr>
          <p:nvPr/>
        </p:nvSpPr>
        <p:spPr bwMode="auto">
          <a:xfrm>
            <a:off x="2365375" y="3852983"/>
            <a:ext cx="162242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一维固结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三维固结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52792" name="Rectangle 88"/>
          <p:cNvSpPr>
            <a:spLocks noChangeArrowheads="1"/>
          </p:cNvSpPr>
          <p:nvPr/>
        </p:nvSpPr>
        <p:spPr bwMode="auto">
          <a:xfrm>
            <a:off x="2347913" y="692270"/>
            <a:ext cx="2527300" cy="166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82563" indent="-182563"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室内：三轴压缩</a:t>
            </a:r>
            <a:b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</a:b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          侧限压缩</a:t>
            </a:r>
          </a:p>
          <a:p>
            <a:pPr marL="182563" indent="-182563"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室外：荷载试验</a:t>
            </a:r>
            <a:b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</a:b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          旁压试验</a:t>
            </a:r>
          </a:p>
        </p:txBody>
      </p:sp>
      <p:sp>
        <p:nvSpPr>
          <p:cNvPr id="1352793" name="Text Box 89"/>
          <p:cNvSpPr txBox="1">
            <a:spLocks noChangeArrowheads="1"/>
          </p:cNvSpPr>
          <p:nvPr/>
        </p:nvSpPr>
        <p:spPr bwMode="auto">
          <a:xfrm>
            <a:off x="5978525" y="2632195"/>
            <a:ext cx="3048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98525" indent="-8985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779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2573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366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zh-CN" b="1">
                <a:solidFill>
                  <a:srgbClr val="000066"/>
                </a:solidFill>
                <a:ea typeface="幼圆" pitchFamily="49" charset="-122"/>
              </a:rPr>
              <a:t>§4.4  </a:t>
            </a: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地基的最终沉降量计算</a:t>
            </a:r>
          </a:p>
        </p:txBody>
      </p:sp>
      <p:sp>
        <p:nvSpPr>
          <p:cNvPr id="1352794" name="Text Box 90"/>
          <p:cNvSpPr txBox="1">
            <a:spLocks noChangeArrowheads="1"/>
          </p:cNvSpPr>
          <p:nvPr/>
        </p:nvSpPr>
        <p:spPr bwMode="auto">
          <a:xfrm>
            <a:off x="5994400" y="3935533"/>
            <a:ext cx="3048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898525" indent="-8985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779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2573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366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altLang="zh-CN" b="1">
                <a:solidFill>
                  <a:srgbClr val="000066"/>
                </a:solidFill>
                <a:ea typeface="幼圆" pitchFamily="49" charset="-122"/>
              </a:rPr>
              <a:t>§4.5 </a:t>
            </a:r>
            <a:r>
              <a:rPr lang="zh-CN" altLang="en-US" b="1">
                <a:solidFill>
                  <a:srgbClr val="000066"/>
                </a:solidFill>
                <a:ea typeface="幼圆" pitchFamily="49" charset="-122"/>
              </a:rPr>
              <a:t>饱和土体的渗流固结理论</a:t>
            </a:r>
          </a:p>
        </p:txBody>
      </p:sp>
      <p:sp>
        <p:nvSpPr>
          <p:cNvPr id="1352795" name="Text Box 91"/>
          <p:cNvSpPr txBox="1">
            <a:spLocks noChangeArrowheads="1"/>
          </p:cNvSpPr>
          <p:nvPr/>
        </p:nvSpPr>
        <p:spPr bwMode="auto">
          <a:xfrm>
            <a:off x="3976688" y="5876925"/>
            <a:ext cx="20034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概  述</a:t>
            </a:r>
          </a:p>
        </p:txBody>
      </p:sp>
      <p:sp>
        <p:nvSpPr>
          <p:cNvPr id="1352796" name="AutoShape 92"/>
          <p:cNvSpPr>
            <a:spLocks/>
          </p:cNvSpPr>
          <p:nvPr/>
        </p:nvSpPr>
        <p:spPr bwMode="auto">
          <a:xfrm>
            <a:off x="2124075" y="862133"/>
            <a:ext cx="193675" cy="1114425"/>
          </a:xfrm>
          <a:prstGeom prst="leftBrace">
            <a:avLst>
              <a:gd name="adj1" fmla="val 47951"/>
              <a:gd name="adj2" fmla="val 50000"/>
            </a:avLst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797" name="AutoShape 93"/>
          <p:cNvSpPr>
            <a:spLocks noChangeArrowheads="1"/>
          </p:cNvSpPr>
          <p:nvPr/>
        </p:nvSpPr>
        <p:spPr bwMode="auto">
          <a:xfrm>
            <a:off x="5491163" y="1205033"/>
            <a:ext cx="444500" cy="495300"/>
          </a:xfrm>
          <a:prstGeom prst="homePlate">
            <a:avLst>
              <a:gd name="adj" fmla="val 25000"/>
            </a:avLst>
          </a:prstGeom>
          <a:solidFill>
            <a:srgbClr val="FF942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798" name="AutoShape 94"/>
          <p:cNvSpPr>
            <a:spLocks/>
          </p:cNvSpPr>
          <p:nvPr/>
        </p:nvSpPr>
        <p:spPr bwMode="auto">
          <a:xfrm>
            <a:off x="2116138" y="2527420"/>
            <a:ext cx="177800" cy="931863"/>
          </a:xfrm>
          <a:prstGeom prst="leftBrace">
            <a:avLst>
              <a:gd name="adj1" fmla="val 43676"/>
              <a:gd name="adj2" fmla="val 50000"/>
            </a:avLst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799" name="AutoShape 95"/>
          <p:cNvSpPr>
            <a:spLocks/>
          </p:cNvSpPr>
          <p:nvPr/>
        </p:nvSpPr>
        <p:spPr bwMode="auto">
          <a:xfrm>
            <a:off x="2116138" y="3900608"/>
            <a:ext cx="177800" cy="931862"/>
          </a:xfrm>
          <a:prstGeom prst="leftBrace">
            <a:avLst>
              <a:gd name="adj1" fmla="val 43676"/>
              <a:gd name="adj2" fmla="val 50000"/>
            </a:avLst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800" name="AutoShape 96"/>
          <p:cNvSpPr>
            <a:spLocks noChangeArrowheads="1"/>
          </p:cNvSpPr>
          <p:nvPr/>
        </p:nvSpPr>
        <p:spPr bwMode="auto">
          <a:xfrm>
            <a:off x="5500688" y="2783008"/>
            <a:ext cx="444500" cy="495300"/>
          </a:xfrm>
          <a:prstGeom prst="homePlate">
            <a:avLst>
              <a:gd name="adj" fmla="val 25000"/>
            </a:avLst>
          </a:prstGeom>
          <a:solidFill>
            <a:srgbClr val="FF942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801" name="AutoShape 97"/>
          <p:cNvSpPr>
            <a:spLocks noChangeArrowheads="1"/>
          </p:cNvSpPr>
          <p:nvPr/>
        </p:nvSpPr>
        <p:spPr bwMode="auto">
          <a:xfrm>
            <a:off x="5499100" y="4108570"/>
            <a:ext cx="444500" cy="495300"/>
          </a:xfrm>
          <a:prstGeom prst="homePlate">
            <a:avLst>
              <a:gd name="adj" fmla="val 25000"/>
            </a:avLst>
          </a:prstGeom>
          <a:solidFill>
            <a:srgbClr val="FF942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2802" name="Text Box 98"/>
          <p:cNvSpPr txBox="1">
            <a:spLocks noChangeArrowheads="1"/>
          </p:cNvSpPr>
          <p:nvPr/>
        </p:nvSpPr>
        <p:spPr bwMode="auto">
          <a:xfrm>
            <a:off x="3080764" y="5119514"/>
            <a:ext cx="4624961" cy="519113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4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 主线、重点：一维问题！</a:t>
            </a: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-9526" y="0"/>
            <a:ext cx="268605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§4.1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概述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2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13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352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352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" presetID="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352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352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" presetID="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352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352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1000"/>
                                        <p:tgtEl>
                                          <p:spTgt spid="135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52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52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35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52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52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1000"/>
                                        <p:tgtEl>
                                          <p:spTgt spid="1352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352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52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35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52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52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1000"/>
                                        <p:tgtEl>
                                          <p:spTgt spid="135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1352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352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135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1352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1352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7" presetID="1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" dur="1000"/>
                                        <p:tgtEl>
                                          <p:spTgt spid="135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786" grpId="0"/>
      <p:bldP spid="1352787" grpId="0"/>
      <p:bldP spid="1352788" grpId="0"/>
      <p:bldP spid="1352789" grpId="0"/>
      <p:bldP spid="1352790" grpId="0"/>
      <p:bldP spid="1352791" grpId="0"/>
      <p:bldP spid="1352792" grpId="0"/>
      <p:bldP spid="1352793" grpId="0"/>
      <p:bldP spid="1352794" grpId="0"/>
      <p:bldP spid="1352796" grpId="0" animBg="1"/>
      <p:bldP spid="1352797" grpId="0" animBg="1"/>
      <p:bldP spid="1352798" grpId="0" animBg="1"/>
      <p:bldP spid="1352799" grpId="0" animBg="1"/>
      <p:bldP spid="1352800" grpId="0" animBg="1"/>
      <p:bldP spid="1352801" grpId="0" animBg="1"/>
      <p:bldP spid="135280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65" name="Text Box 13"/>
          <p:cNvSpPr txBox="1">
            <a:spLocks noChangeArrowheads="1"/>
          </p:cNvSpPr>
          <p:nvPr/>
        </p:nvSpPr>
        <p:spPr bwMode="auto">
          <a:xfrm>
            <a:off x="1849438" y="2135188"/>
            <a:ext cx="6059487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6096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§4.1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概述 </a:t>
            </a:r>
            <a:r>
              <a:rPr lang="zh-CN" altLang="en-US" sz="3200" b="1" dirty="0">
                <a:solidFill>
                  <a:schemeClr val="tx2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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§4.2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土的压缩性测试方法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§4.3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一维压缩性及其指标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§4.4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地基的最终沉降量计算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§4.5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饱和土体的渗流固结理论</a:t>
            </a:r>
            <a:endParaRPr lang="zh-CN" altLang="en-US" sz="3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354766" name="Text Box 14"/>
          <p:cNvSpPr txBox="1">
            <a:spLocks noChangeArrowheads="1"/>
          </p:cNvSpPr>
          <p:nvPr/>
        </p:nvSpPr>
        <p:spPr bwMode="auto">
          <a:xfrm>
            <a:off x="858838" y="1030288"/>
            <a:ext cx="77771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第四章：</a:t>
            </a: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土的压缩性与地基沉降计算</a:t>
            </a:r>
            <a:endParaRPr kumimoji="0"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54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54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54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54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3547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3547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547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3547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3547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3547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951" name="Text Box 175"/>
          <p:cNvSpPr txBox="1">
            <a:spLocks noChangeArrowheads="1"/>
          </p:cNvSpPr>
          <p:nvPr/>
        </p:nvSpPr>
        <p:spPr bwMode="auto">
          <a:xfrm>
            <a:off x="2671763" y="5767388"/>
            <a:ext cx="52800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土的变形特性测定方法</a:t>
            </a:r>
          </a:p>
        </p:txBody>
      </p:sp>
      <p:grpSp>
        <p:nvGrpSpPr>
          <p:cNvPr id="1355952" name="Group 176"/>
          <p:cNvGrpSpPr>
            <a:grpSpLocks/>
          </p:cNvGrpSpPr>
          <p:nvPr/>
        </p:nvGrpSpPr>
        <p:grpSpPr bwMode="auto">
          <a:xfrm>
            <a:off x="652463" y="3719513"/>
            <a:ext cx="4705350" cy="1281112"/>
            <a:chOff x="411" y="2343"/>
            <a:chExt cx="2964" cy="807"/>
          </a:xfrm>
        </p:grpSpPr>
        <p:sp>
          <p:nvSpPr>
            <p:cNvPr id="1355953" name="Text Box 177"/>
            <p:cNvSpPr txBox="1">
              <a:spLocks noChangeArrowheads="1"/>
            </p:cNvSpPr>
            <p:nvPr/>
          </p:nvSpPr>
          <p:spPr bwMode="auto">
            <a:xfrm>
              <a:off x="411" y="2613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A50021"/>
                  </a:solidFill>
                  <a:ea typeface="幼圆" pitchFamily="49" charset="-122"/>
                </a:rPr>
                <a:t>现场试验</a:t>
              </a:r>
              <a:endParaRPr lang="en-US" altLang="zh-CN" sz="2800" b="1">
                <a:solidFill>
                  <a:srgbClr val="A50021"/>
                </a:solidFill>
                <a:ea typeface="幼圆" pitchFamily="49" charset="-122"/>
              </a:endParaRPr>
            </a:p>
          </p:txBody>
        </p:sp>
        <p:sp>
          <p:nvSpPr>
            <p:cNvPr id="1355954" name="Text Box 178"/>
            <p:cNvSpPr txBox="1">
              <a:spLocks noChangeArrowheads="1"/>
            </p:cNvSpPr>
            <p:nvPr/>
          </p:nvSpPr>
          <p:spPr bwMode="auto">
            <a:xfrm>
              <a:off x="1954" y="2343"/>
              <a:ext cx="1421" cy="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marL="365125" indent="-3651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5445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90000"/>
                </a:lnSpc>
                <a:buClr>
                  <a:srgbClr val="A50021"/>
                </a:buClr>
                <a:buFontTx/>
                <a:buChar char="•"/>
              </a:pPr>
              <a:r>
                <a:rPr lang="zh-CN" altLang="en-US" sz="28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荷载试验</a:t>
              </a:r>
            </a:p>
            <a:p>
              <a:pPr>
                <a:lnSpc>
                  <a:spcPct val="90000"/>
                </a:lnSpc>
                <a:buClr>
                  <a:srgbClr val="A50021"/>
                </a:buClr>
                <a:buFontTx/>
                <a:buChar char="•"/>
              </a:pPr>
              <a:endParaRPr lang="zh-CN" altLang="en-US" sz="28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  <a:p>
              <a:pPr>
                <a:lnSpc>
                  <a:spcPct val="90000"/>
                </a:lnSpc>
                <a:buClr>
                  <a:srgbClr val="A50021"/>
                </a:buClr>
                <a:buFontTx/>
                <a:buChar char="•"/>
              </a:pPr>
              <a:r>
                <a:rPr lang="zh-CN" altLang="en-US" sz="28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旁压试验</a:t>
              </a:r>
            </a:p>
          </p:txBody>
        </p:sp>
        <p:sp>
          <p:nvSpPr>
            <p:cNvPr id="1355955" name="AutoShape 179"/>
            <p:cNvSpPr>
              <a:spLocks/>
            </p:cNvSpPr>
            <p:nvPr/>
          </p:nvSpPr>
          <p:spPr bwMode="auto">
            <a:xfrm>
              <a:off x="1613" y="2460"/>
              <a:ext cx="244" cy="619"/>
            </a:xfrm>
            <a:prstGeom prst="leftBrace">
              <a:avLst>
                <a:gd name="adj1" fmla="val 21141"/>
                <a:gd name="adj2" fmla="val 50000"/>
              </a:avLst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</p:grpSp>
      <p:grpSp>
        <p:nvGrpSpPr>
          <p:cNvPr id="1355956" name="Group 180"/>
          <p:cNvGrpSpPr>
            <a:grpSpLocks/>
          </p:cNvGrpSpPr>
          <p:nvPr/>
        </p:nvGrpSpPr>
        <p:grpSpPr bwMode="auto">
          <a:xfrm>
            <a:off x="623888" y="1073153"/>
            <a:ext cx="8286750" cy="2198691"/>
            <a:chOff x="393" y="616"/>
            <a:chExt cx="5220" cy="1385"/>
          </a:xfrm>
        </p:grpSpPr>
        <p:sp>
          <p:nvSpPr>
            <p:cNvPr id="1355957" name="Text Box 181"/>
            <p:cNvSpPr txBox="1">
              <a:spLocks noChangeArrowheads="1"/>
            </p:cNvSpPr>
            <p:nvPr/>
          </p:nvSpPr>
          <p:spPr bwMode="auto">
            <a:xfrm>
              <a:off x="4330" y="1093"/>
              <a:ext cx="1283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三轴应力状态</a:t>
              </a:r>
            </a:p>
          </p:txBody>
        </p:sp>
        <p:sp>
          <p:nvSpPr>
            <p:cNvPr id="1355958" name="Text Box 182"/>
            <p:cNvSpPr txBox="1">
              <a:spLocks noChangeArrowheads="1"/>
            </p:cNvSpPr>
            <p:nvPr/>
          </p:nvSpPr>
          <p:spPr bwMode="auto">
            <a:xfrm>
              <a:off x="1962" y="656"/>
              <a:ext cx="1772" cy="1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marL="365125" indent="-36512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5445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85000"/>
                </a:lnSpc>
                <a:buClr>
                  <a:srgbClr val="A50021"/>
                </a:buClr>
                <a:buFontTx/>
                <a:buChar char="•"/>
              </a:pPr>
              <a:r>
                <a:rPr lang="zh-CN" altLang="en-US" sz="2800" b="1" dirty="0">
                  <a:solidFill>
                    <a:srgbClr val="000066"/>
                  </a:solidFill>
                  <a:ea typeface="幼圆" pitchFamily="49" charset="-122"/>
                </a:rPr>
                <a:t>三轴压缩试验</a:t>
              </a:r>
            </a:p>
            <a:p>
              <a:pPr>
                <a:lnSpc>
                  <a:spcPct val="85000"/>
                </a:lnSpc>
                <a:buClr>
                  <a:srgbClr val="A50021"/>
                </a:buClr>
                <a:buFontTx/>
                <a:buChar char="•"/>
              </a:pPr>
              <a:endParaRPr lang="en-US" altLang="zh-CN" sz="2800" b="1" dirty="0" smtClean="0">
                <a:solidFill>
                  <a:srgbClr val="000066"/>
                </a:solidFill>
                <a:ea typeface="幼圆" pitchFamily="49" charset="-122"/>
              </a:endParaRPr>
            </a:p>
            <a:p>
              <a:pPr>
                <a:lnSpc>
                  <a:spcPct val="85000"/>
                </a:lnSpc>
                <a:buClr>
                  <a:srgbClr val="A50021"/>
                </a:buClr>
                <a:buFontTx/>
                <a:buChar char="•"/>
              </a:pPr>
              <a:r>
                <a:rPr lang="zh-CN" altLang="en-US" sz="2800" b="1" dirty="0" smtClean="0">
                  <a:solidFill>
                    <a:srgbClr val="000066"/>
                  </a:solidFill>
                  <a:ea typeface="幼圆" pitchFamily="49" charset="-122"/>
                </a:rPr>
                <a:t>侧</a:t>
              </a:r>
              <a:r>
                <a:rPr lang="zh-CN" altLang="en-US" sz="2800" b="1" dirty="0">
                  <a:solidFill>
                    <a:srgbClr val="000066"/>
                  </a:solidFill>
                  <a:ea typeface="幼圆" pitchFamily="49" charset="-122"/>
                </a:rPr>
                <a:t>限压缩试验</a:t>
              </a:r>
            </a:p>
            <a:p>
              <a:pPr>
                <a:lnSpc>
                  <a:spcPct val="85000"/>
                </a:lnSpc>
                <a:buClr>
                  <a:srgbClr val="A50021"/>
                </a:buClr>
                <a:buFontTx/>
                <a:buChar char="•"/>
              </a:pPr>
              <a:endParaRPr lang="zh-CN" altLang="en-US" sz="2800" b="1" dirty="0">
                <a:solidFill>
                  <a:srgbClr val="000066"/>
                </a:solidFill>
                <a:ea typeface="幼圆" pitchFamily="49" charset="-122"/>
              </a:endParaRPr>
            </a:p>
            <a:p>
              <a:pPr>
                <a:lnSpc>
                  <a:spcPct val="85000"/>
                </a:lnSpc>
                <a:buClr>
                  <a:srgbClr val="A50021"/>
                </a:buClr>
                <a:buFontTx/>
                <a:buChar char="•"/>
              </a:pPr>
              <a:r>
                <a:rPr lang="zh-CN" altLang="en-US" sz="2800" b="1" dirty="0">
                  <a:solidFill>
                    <a:srgbClr val="000066"/>
                  </a:solidFill>
                  <a:ea typeface="幼圆" pitchFamily="49" charset="-122"/>
                </a:rPr>
                <a:t>其他特殊试验</a:t>
              </a:r>
            </a:p>
          </p:txBody>
        </p:sp>
        <p:sp>
          <p:nvSpPr>
            <p:cNvPr id="1355959" name="AutoShape 183"/>
            <p:cNvSpPr>
              <a:spLocks/>
            </p:cNvSpPr>
            <p:nvPr/>
          </p:nvSpPr>
          <p:spPr bwMode="auto">
            <a:xfrm>
              <a:off x="1603" y="810"/>
              <a:ext cx="244" cy="1070"/>
            </a:xfrm>
            <a:prstGeom prst="leftBrace">
              <a:avLst>
                <a:gd name="adj1" fmla="val 36544"/>
                <a:gd name="adj2" fmla="val 50000"/>
              </a:avLst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355960" name="Text Box 184"/>
            <p:cNvSpPr txBox="1">
              <a:spLocks noChangeArrowheads="1"/>
            </p:cNvSpPr>
            <p:nvPr/>
          </p:nvSpPr>
          <p:spPr bwMode="auto">
            <a:xfrm>
              <a:off x="393" y="1094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A50021"/>
                  </a:solidFill>
                  <a:ea typeface="幼圆" pitchFamily="49" charset="-122"/>
                </a:rPr>
                <a:t>室内试验</a:t>
              </a:r>
              <a:endParaRPr lang="en-US" altLang="zh-CN" sz="2800" b="1">
                <a:solidFill>
                  <a:srgbClr val="A50021"/>
                </a:solidFill>
                <a:ea typeface="幼圆" pitchFamily="49" charset="-122"/>
              </a:endParaRPr>
            </a:p>
          </p:txBody>
        </p:sp>
        <p:sp>
          <p:nvSpPr>
            <p:cNvPr id="1355961" name="Rectangle 185"/>
            <p:cNvSpPr>
              <a:spLocks noChangeArrowheads="1"/>
            </p:cNvSpPr>
            <p:nvPr/>
          </p:nvSpPr>
          <p:spPr bwMode="auto">
            <a:xfrm>
              <a:off x="4312" y="616"/>
              <a:ext cx="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一维问题</a:t>
              </a:r>
            </a:p>
          </p:txBody>
        </p:sp>
        <p:sp>
          <p:nvSpPr>
            <p:cNvPr id="1355962" name="Line 186"/>
            <p:cNvSpPr>
              <a:spLocks noChangeShapeType="1"/>
            </p:cNvSpPr>
            <p:nvPr/>
          </p:nvSpPr>
          <p:spPr bwMode="auto">
            <a:xfrm>
              <a:off x="3726" y="769"/>
              <a:ext cx="423" cy="0"/>
            </a:xfrm>
            <a:prstGeom prst="line">
              <a:avLst/>
            </a:prstGeom>
            <a:noFill/>
            <a:ln w="57150">
              <a:solidFill>
                <a:srgbClr val="A5002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5963" name="Line 187"/>
            <p:cNvSpPr>
              <a:spLocks noChangeShapeType="1"/>
            </p:cNvSpPr>
            <p:nvPr/>
          </p:nvSpPr>
          <p:spPr bwMode="auto">
            <a:xfrm>
              <a:off x="3726" y="1234"/>
              <a:ext cx="423" cy="0"/>
            </a:xfrm>
            <a:prstGeom prst="line">
              <a:avLst/>
            </a:prstGeom>
            <a:noFill/>
            <a:ln w="57150">
              <a:solidFill>
                <a:srgbClr val="A5002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的压缩性测试方法</a:t>
            </a:r>
          </a:p>
        </p:txBody>
      </p:sp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15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55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55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355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355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237" name="Rectangle 5"/>
          <p:cNvSpPr>
            <a:spLocks noChangeArrowheads="1"/>
          </p:cNvSpPr>
          <p:nvPr/>
        </p:nvSpPr>
        <p:spPr bwMode="auto">
          <a:xfrm>
            <a:off x="4860925" y="669925"/>
            <a:ext cx="4038600" cy="575945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3238" name="Text Box 6"/>
          <p:cNvSpPr txBox="1">
            <a:spLocks noChangeArrowheads="1"/>
          </p:cNvSpPr>
          <p:nvPr/>
        </p:nvSpPr>
        <p:spPr bwMode="auto">
          <a:xfrm>
            <a:off x="365125" y="1117600"/>
            <a:ext cx="432752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547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45000"/>
              </a:lnSpc>
              <a:buSzPct val="130000"/>
              <a:buFont typeface="Wingdings" pitchFamily="2" charset="2"/>
              <a:buChar char="F"/>
            </a:pPr>
            <a:r>
              <a:rPr kumimoji="0"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固结容器：</a:t>
            </a:r>
          </a:p>
          <a:p>
            <a:pPr lvl="1">
              <a:lnSpc>
                <a:spcPct val="120000"/>
              </a:lnSpc>
              <a:buSzPct val="130000"/>
              <a:buFont typeface="Wingdings" pitchFamily="2" charset="2"/>
              <a:buNone/>
            </a:pP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环刀、护环、导环、透水石、加压上盖和量表架等</a:t>
            </a:r>
          </a:p>
          <a:p>
            <a:pPr>
              <a:lnSpc>
                <a:spcPct val="145000"/>
              </a:lnSpc>
              <a:buSzPct val="130000"/>
              <a:buFont typeface="Wingdings" pitchFamily="2" charset="2"/>
              <a:buChar char="F"/>
            </a:pPr>
            <a:r>
              <a:rPr kumimoji="0"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加压设备：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杠杆比例</a:t>
            </a: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1:10</a:t>
            </a:r>
            <a:endParaRPr kumimoji="0" lang="zh-CN" altLang="en-US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45000"/>
              </a:lnSpc>
              <a:buSzPct val="130000"/>
              <a:buFont typeface="Wingdings" pitchFamily="2" charset="2"/>
              <a:buChar char="F"/>
            </a:pPr>
            <a:r>
              <a:rPr kumimoji="0"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变形测量设备</a:t>
            </a:r>
          </a:p>
        </p:txBody>
      </p:sp>
      <p:sp>
        <p:nvSpPr>
          <p:cNvPr id="1503239" name="Rectangle 7"/>
          <p:cNvSpPr>
            <a:spLocks noChangeArrowheads="1"/>
          </p:cNvSpPr>
          <p:nvPr/>
        </p:nvSpPr>
        <p:spPr bwMode="auto">
          <a:xfrm>
            <a:off x="579657" y="4544649"/>
            <a:ext cx="431193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zh-CN" altLang="en-US" sz="4000" b="1" dirty="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侧限</a:t>
            </a:r>
            <a:r>
              <a:rPr lang="zh-CN" altLang="en-US" sz="4000" b="1" dirty="0" smtClean="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压缩</a:t>
            </a:r>
            <a:r>
              <a:rPr lang="en-US" altLang="zh-CN" sz="4000" b="1" dirty="0" smtClean="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4000" b="1" dirty="0" smtClean="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固结</a:t>
            </a:r>
            <a:r>
              <a:rPr lang="en-US" altLang="zh-CN" sz="4000" b="1" dirty="0" smtClean="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4000" b="1" dirty="0" smtClean="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仪</a:t>
            </a:r>
            <a:endParaRPr lang="zh-CN" altLang="en-US" sz="4000" b="1" dirty="0">
              <a:solidFill>
                <a:srgbClr val="A50021"/>
              </a:solidFill>
              <a:latin typeface="黑体" pitchFamily="2" charset="-122"/>
              <a:ea typeface="黑体" pitchFamily="2" charset="-122"/>
            </a:endParaRPr>
          </a:p>
        </p:txBody>
      </p:sp>
      <p:pic>
        <p:nvPicPr>
          <p:cNvPr id="1503240" name="Picture 8" descr="压缩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25" y="871538"/>
            <a:ext cx="3435350" cy="539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03241" name="Text Box 9"/>
          <p:cNvSpPr txBox="1">
            <a:spLocks noChangeArrowheads="1"/>
          </p:cNvSpPr>
          <p:nvPr/>
        </p:nvSpPr>
        <p:spPr bwMode="auto">
          <a:xfrm>
            <a:off x="5834063" y="4606925"/>
            <a:ext cx="1023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ea typeface="幼圆" pitchFamily="49" charset="-122"/>
              </a:rPr>
              <a:t>支架</a:t>
            </a:r>
          </a:p>
        </p:txBody>
      </p:sp>
      <p:sp>
        <p:nvSpPr>
          <p:cNvPr id="1503242" name="Text Box 10"/>
          <p:cNvSpPr txBox="1">
            <a:spLocks noChangeArrowheads="1"/>
          </p:cNvSpPr>
          <p:nvPr/>
        </p:nvSpPr>
        <p:spPr bwMode="auto">
          <a:xfrm>
            <a:off x="8128000" y="3794125"/>
            <a:ext cx="549275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ea typeface="幼圆" pitchFamily="49" charset="-122"/>
              </a:rPr>
              <a:t>加压设备</a:t>
            </a:r>
          </a:p>
        </p:txBody>
      </p:sp>
      <p:sp>
        <p:nvSpPr>
          <p:cNvPr id="1503243" name="Text Box 11"/>
          <p:cNvSpPr txBox="1">
            <a:spLocks noChangeArrowheads="1"/>
          </p:cNvSpPr>
          <p:nvPr/>
        </p:nvSpPr>
        <p:spPr bwMode="auto">
          <a:xfrm>
            <a:off x="7237413" y="1439863"/>
            <a:ext cx="1441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ea typeface="幼圆" pitchFamily="49" charset="-122"/>
              </a:rPr>
              <a:t>固结容器</a:t>
            </a:r>
          </a:p>
        </p:txBody>
      </p:sp>
      <p:sp>
        <p:nvSpPr>
          <p:cNvPr id="1503244" name="Line 12"/>
          <p:cNvSpPr>
            <a:spLocks noChangeShapeType="1"/>
          </p:cNvSpPr>
          <p:nvPr/>
        </p:nvSpPr>
        <p:spPr bwMode="auto">
          <a:xfrm flipV="1">
            <a:off x="6718300" y="1797050"/>
            <a:ext cx="519113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3245" name="Text Box 13"/>
          <p:cNvSpPr txBox="1">
            <a:spLocks noChangeArrowheads="1"/>
          </p:cNvSpPr>
          <p:nvPr/>
        </p:nvSpPr>
        <p:spPr bwMode="auto">
          <a:xfrm>
            <a:off x="7054850" y="965200"/>
            <a:ext cx="1441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ea typeface="幼圆" pitchFamily="49" charset="-122"/>
              </a:rPr>
              <a:t>变形测量</a:t>
            </a:r>
          </a:p>
        </p:txBody>
      </p:sp>
      <p:sp>
        <p:nvSpPr>
          <p:cNvPr id="1503246" name="Line 14"/>
          <p:cNvSpPr>
            <a:spLocks noChangeShapeType="1"/>
          </p:cNvSpPr>
          <p:nvPr/>
        </p:nvSpPr>
        <p:spPr bwMode="auto">
          <a:xfrm flipV="1">
            <a:off x="6657975" y="1279525"/>
            <a:ext cx="427038" cy="1984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-9526" y="0"/>
            <a:ext cx="47720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4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16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259" name="Rectangle 3"/>
          <p:cNvSpPr>
            <a:spLocks noChangeArrowheads="1"/>
          </p:cNvSpPr>
          <p:nvPr/>
        </p:nvSpPr>
        <p:spPr bwMode="auto">
          <a:xfrm>
            <a:off x="3981450" y="554038"/>
            <a:ext cx="4927600" cy="6105525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04260" name="Text Box 4"/>
          <p:cNvSpPr txBox="1">
            <a:spLocks noChangeArrowheads="1"/>
          </p:cNvSpPr>
          <p:nvPr/>
        </p:nvSpPr>
        <p:spPr bwMode="auto">
          <a:xfrm>
            <a:off x="593725" y="1552575"/>
            <a:ext cx="3251200" cy="147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800000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施加荷载，静置至变形稳定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800000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逐级加大荷载</a:t>
            </a:r>
          </a:p>
        </p:txBody>
      </p:sp>
      <p:sp>
        <p:nvSpPr>
          <p:cNvPr id="1504261" name="Line 5"/>
          <p:cNvSpPr>
            <a:spLocks noChangeShapeType="1"/>
          </p:cNvSpPr>
          <p:nvPr/>
        </p:nvSpPr>
        <p:spPr bwMode="auto">
          <a:xfrm>
            <a:off x="5810250" y="4752975"/>
            <a:ext cx="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4262" name="Freeform 6"/>
          <p:cNvSpPr>
            <a:spLocks/>
          </p:cNvSpPr>
          <p:nvPr/>
        </p:nvSpPr>
        <p:spPr bwMode="auto">
          <a:xfrm>
            <a:off x="4900613" y="6249988"/>
            <a:ext cx="912812" cy="236537"/>
          </a:xfrm>
          <a:custGeom>
            <a:avLst/>
            <a:gdLst>
              <a:gd name="T0" fmla="*/ 0 w 575"/>
              <a:gd name="T1" fmla="*/ 149 h 149"/>
              <a:gd name="T2" fmla="*/ 88 w 575"/>
              <a:gd name="T3" fmla="*/ 71 h 149"/>
              <a:gd name="T4" fmla="*/ 220 w 575"/>
              <a:gd name="T5" fmla="*/ 11 h 149"/>
              <a:gd name="T6" fmla="*/ 460 w 575"/>
              <a:gd name="T7" fmla="*/ 5 h 149"/>
              <a:gd name="T8" fmla="*/ 575 w 575"/>
              <a:gd name="T9" fmla="*/ 5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5" h="149">
                <a:moveTo>
                  <a:pt x="0" y="149"/>
                </a:moveTo>
                <a:cubicBezTo>
                  <a:pt x="15" y="136"/>
                  <a:pt x="51" y="94"/>
                  <a:pt x="88" y="71"/>
                </a:cubicBezTo>
                <a:cubicBezTo>
                  <a:pt x="125" y="48"/>
                  <a:pt x="158" y="22"/>
                  <a:pt x="220" y="11"/>
                </a:cubicBezTo>
                <a:cubicBezTo>
                  <a:pt x="282" y="0"/>
                  <a:pt x="401" y="6"/>
                  <a:pt x="460" y="5"/>
                </a:cubicBezTo>
                <a:cubicBezTo>
                  <a:pt x="519" y="4"/>
                  <a:pt x="546" y="5"/>
                  <a:pt x="575" y="5"/>
                </a:cubicBezTo>
              </a:path>
            </a:pathLst>
          </a:custGeom>
          <a:noFill/>
          <a:ln w="19050" cap="flat" cmpd="sng">
            <a:solidFill>
              <a:schemeClr val="folHlink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04264" name="Group 8"/>
          <p:cNvGrpSpPr>
            <a:grpSpLocks/>
          </p:cNvGrpSpPr>
          <p:nvPr/>
        </p:nvGrpSpPr>
        <p:grpSpPr bwMode="auto">
          <a:xfrm>
            <a:off x="3970338" y="627063"/>
            <a:ext cx="4983162" cy="3022600"/>
            <a:chOff x="2501" y="395"/>
            <a:chExt cx="3139" cy="1904"/>
          </a:xfrm>
        </p:grpSpPr>
        <p:sp>
          <p:nvSpPr>
            <p:cNvPr id="1504265" name="Rectangle 9"/>
            <p:cNvSpPr>
              <a:spLocks noChangeArrowheads="1"/>
            </p:cNvSpPr>
            <p:nvPr/>
          </p:nvSpPr>
          <p:spPr bwMode="auto">
            <a:xfrm>
              <a:off x="2723" y="1607"/>
              <a:ext cx="2275" cy="61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04266" name="Line 10"/>
            <p:cNvSpPr>
              <a:spLocks noChangeShapeType="1"/>
            </p:cNvSpPr>
            <p:nvPr/>
          </p:nvSpPr>
          <p:spPr bwMode="auto">
            <a:xfrm>
              <a:off x="3861" y="395"/>
              <a:ext cx="0" cy="960"/>
            </a:xfrm>
            <a:prstGeom prst="line">
              <a:avLst/>
            </a:prstGeom>
            <a:noFill/>
            <a:ln w="57150">
              <a:solidFill>
                <a:srgbClr val="66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4267" name="Freeform 11"/>
            <p:cNvSpPr>
              <a:spLocks/>
            </p:cNvSpPr>
            <p:nvPr/>
          </p:nvSpPr>
          <p:spPr bwMode="auto">
            <a:xfrm>
              <a:off x="2641" y="1437"/>
              <a:ext cx="2450" cy="862"/>
            </a:xfrm>
            <a:custGeom>
              <a:avLst/>
              <a:gdLst>
                <a:gd name="T0" fmla="*/ 0 w 2450"/>
                <a:gd name="T1" fmla="*/ 0 h 862"/>
                <a:gd name="T2" fmla="*/ 0 w 2450"/>
                <a:gd name="T3" fmla="*/ 862 h 862"/>
                <a:gd name="T4" fmla="*/ 2450 w 2450"/>
                <a:gd name="T5" fmla="*/ 862 h 862"/>
                <a:gd name="T6" fmla="*/ 2450 w 2450"/>
                <a:gd name="T7" fmla="*/ 0 h 862"/>
                <a:gd name="T8" fmla="*/ 2359 w 2450"/>
                <a:gd name="T9" fmla="*/ 0 h 862"/>
                <a:gd name="T10" fmla="*/ 2354 w 2450"/>
                <a:gd name="T11" fmla="*/ 771 h 862"/>
                <a:gd name="T12" fmla="*/ 91 w 2450"/>
                <a:gd name="T13" fmla="*/ 771 h 862"/>
                <a:gd name="T14" fmla="*/ 91 w 2450"/>
                <a:gd name="T15" fmla="*/ 0 h 862"/>
                <a:gd name="T16" fmla="*/ 0 w 2450"/>
                <a:gd name="T17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50" h="862">
                  <a:moveTo>
                    <a:pt x="0" y="0"/>
                  </a:moveTo>
                  <a:lnTo>
                    <a:pt x="0" y="862"/>
                  </a:lnTo>
                  <a:lnTo>
                    <a:pt x="2450" y="862"/>
                  </a:lnTo>
                  <a:lnTo>
                    <a:pt x="2450" y="0"/>
                  </a:lnTo>
                  <a:lnTo>
                    <a:pt x="2359" y="0"/>
                  </a:lnTo>
                  <a:lnTo>
                    <a:pt x="2354" y="771"/>
                  </a:lnTo>
                  <a:lnTo>
                    <a:pt x="91" y="771"/>
                  </a:lnTo>
                  <a:lnTo>
                    <a:pt x="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04268" name="Group 12"/>
            <p:cNvGrpSpPr>
              <a:grpSpLocks/>
            </p:cNvGrpSpPr>
            <p:nvPr/>
          </p:nvGrpSpPr>
          <p:grpSpPr bwMode="auto">
            <a:xfrm>
              <a:off x="3080" y="1754"/>
              <a:ext cx="1566" cy="454"/>
              <a:chOff x="1958" y="2069"/>
              <a:chExt cx="1566" cy="454"/>
            </a:xfrm>
          </p:grpSpPr>
          <p:sp>
            <p:nvSpPr>
              <p:cNvPr id="1504269" name="Rectangle 13"/>
              <p:cNvSpPr>
                <a:spLocks noChangeArrowheads="1"/>
              </p:cNvSpPr>
              <p:nvPr/>
            </p:nvSpPr>
            <p:spPr bwMode="auto">
              <a:xfrm>
                <a:off x="1958" y="2069"/>
                <a:ext cx="181" cy="454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04270" name="Rectangle 14"/>
              <p:cNvSpPr>
                <a:spLocks noChangeArrowheads="1"/>
              </p:cNvSpPr>
              <p:nvPr/>
            </p:nvSpPr>
            <p:spPr bwMode="auto">
              <a:xfrm>
                <a:off x="3343" y="2069"/>
                <a:ext cx="181" cy="454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04271" name="Rectangle 15"/>
              <p:cNvSpPr>
                <a:spLocks noChangeArrowheads="1"/>
              </p:cNvSpPr>
              <p:nvPr/>
            </p:nvSpPr>
            <p:spPr bwMode="auto">
              <a:xfrm>
                <a:off x="1958" y="2432"/>
                <a:ext cx="181" cy="4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04272" name="Rectangle 16"/>
              <p:cNvSpPr>
                <a:spLocks noChangeArrowheads="1"/>
              </p:cNvSpPr>
              <p:nvPr/>
            </p:nvSpPr>
            <p:spPr bwMode="auto">
              <a:xfrm>
                <a:off x="3343" y="2432"/>
                <a:ext cx="181" cy="4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1504273" name="Rectangle 17" descr="大纸屑"/>
            <p:cNvSpPr>
              <a:spLocks noChangeAspect="1" noChangeArrowheads="1"/>
            </p:cNvSpPr>
            <p:nvPr/>
          </p:nvSpPr>
          <p:spPr bwMode="auto">
            <a:xfrm>
              <a:off x="3267" y="2069"/>
              <a:ext cx="1190" cy="134"/>
            </a:xfrm>
            <a:prstGeom prst="rect">
              <a:avLst/>
            </a:prstGeom>
            <a:pattFill prst="lgConfetti">
              <a:fgClr>
                <a:srgbClr val="990033"/>
              </a:fgClr>
              <a:bgClr>
                <a:srgbClr val="FFFFFF"/>
              </a:bgClr>
            </a:patt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1504274" name="Group 18"/>
            <p:cNvGrpSpPr>
              <a:grpSpLocks/>
            </p:cNvGrpSpPr>
            <p:nvPr/>
          </p:nvGrpSpPr>
          <p:grpSpPr bwMode="auto">
            <a:xfrm>
              <a:off x="3243" y="1707"/>
              <a:ext cx="1237" cy="361"/>
              <a:chOff x="2121" y="2022"/>
              <a:chExt cx="1237" cy="361"/>
            </a:xfrm>
          </p:grpSpPr>
          <p:sp>
            <p:nvSpPr>
              <p:cNvPr id="1504275" name="Freeform 19"/>
              <p:cNvSpPr>
                <a:spLocks/>
              </p:cNvSpPr>
              <p:nvPr/>
            </p:nvSpPr>
            <p:spPr bwMode="auto">
              <a:xfrm>
                <a:off x="2121" y="2022"/>
                <a:ext cx="48" cy="359"/>
              </a:xfrm>
              <a:custGeom>
                <a:avLst/>
                <a:gdLst>
                  <a:gd name="T0" fmla="*/ 44 w 48"/>
                  <a:gd name="T1" fmla="*/ 2 h 359"/>
                  <a:gd name="T2" fmla="*/ 44 w 48"/>
                  <a:gd name="T3" fmla="*/ 357 h 359"/>
                  <a:gd name="T4" fmla="*/ 20 w 48"/>
                  <a:gd name="T5" fmla="*/ 359 h 359"/>
                  <a:gd name="T6" fmla="*/ 14 w 48"/>
                  <a:gd name="T7" fmla="*/ 41 h 359"/>
                  <a:gd name="T8" fmla="*/ 0 w 48"/>
                  <a:gd name="T9" fmla="*/ 0 h 359"/>
                  <a:gd name="T10" fmla="*/ 44 w 48"/>
                  <a:gd name="T11" fmla="*/ 2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" h="359">
                    <a:moveTo>
                      <a:pt x="44" y="2"/>
                    </a:moveTo>
                    <a:cubicBezTo>
                      <a:pt x="47" y="61"/>
                      <a:pt x="48" y="298"/>
                      <a:pt x="44" y="357"/>
                    </a:cubicBezTo>
                    <a:lnTo>
                      <a:pt x="20" y="359"/>
                    </a:lnTo>
                    <a:lnTo>
                      <a:pt x="14" y="41"/>
                    </a:lnTo>
                    <a:lnTo>
                      <a:pt x="0" y="0"/>
                    </a:lnTo>
                    <a:lnTo>
                      <a:pt x="44" y="2"/>
                    </a:lnTo>
                    <a:close/>
                  </a:path>
                </a:pathLst>
              </a:custGeom>
              <a:solidFill>
                <a:srgbClr val="800000"/>
              </a:solidFill>
              <a:ln w="9525" cap="flat" cmpd="sng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76" name="Freeform 20"/>
              <p:cNvSpPr>
                <a:spLocks/>
              </p:cNvSpPr>
              <p:nvPr/>
            </p:nvSpPr>
            <p:spPr bwMode="auto">
              <a:xfrm flipH="1">
                <a:off x="3310" y="2024"/>
                <a:ext cx="48" cy="359"/>
              </a:xfrm>
              <a:custGeom>
                <a:avLst/>
                <a:gdLst>
                  <a:gd name="T0" fmla="*/ 44 w 48"/>
                  <a:gd name="T1" fmla="*/ 2 h 359"/>
                  <a:gd name="T2" fmla="*/ 44 w 48"/>
                  <a:gd name="T3" fmla="*/ 357 h 359"/>
                  <a:gd name="T4" fmla="*/ 20 w 48"/>
                  <a:gd name="T5" fmla="*/ 359 h 359"/>
                  <a:gd name="T6" fmla="*/ 14 w 48"/>
                  <a:gd name="T7" fmla="*/ 41 h 359"/>
                  <a:gd name="T8" fmla="*/ 0 w 48"/>
                  <a:gd name="T9" fmla="*/ 0 h 359"/>
                  <a:gd name="T10" fmla="*/ 44 w 48"/>
                  <a:gd name="T11" fmla="*/ 2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" h="359">
                    <a:moveTo>
                      <a:pt x="44" y="2"/>
                    </a:moveTo>
                    <a:cubicBezTo>
                      <a:pt x="47" y="61"/>
                      <a:pt x="48" y="298"/>
                      <a:pt x="44" y="357"/>
                    </a:cubicBezTo>
                    <a:lnTo>
                      <a:pt x="20" y="359"/>
                    </a:lnTo>
                    <a:lnTo>
                      <a:pt x="14" y="41"/>
                    </a:lnTo>
                    <a:lnTo>
                      <a:pt x="0" y="0"/>
                    </a:lnTo>
                    <a:lnTo>
                      <a:pt x="44" y="2"/>
                    </a:lnTo>
                    <a:close/>
                  </a:path>
                </a:pathLst>
              </a:custGeom>
              <a:solidFill>
                <a:srgbClr val="800000"/>
              </a:solidFill>
              <a:ln w="9525" cap="flat" cmpd="sng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77" name="Rectangle 21"/>
              <p:cNvSpPr>
                <a:spLocks noChangeArrowheads="1"/>
              </p:cNvSpPr>
              <p:nvPr/>
            </p:nvSpPr>
            <p:spPr bwMode="auto">
              <a:xfrm>
                <a:off x="2172" y="2024"/>
                <a:ext cx="1134" cy="354"/>
              </a:xfrm>
              <a:prstGeom prst="rect">
                <a:avLst/>
              </a:prstGeom>
              <a:solidFill>
                <a:srgbClr val="CC9900"/>
              </a:solidFill>
              <a:ln w="9525" algn="ctr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1504278" name="Rectangle 22" descr="大纸屑"/>
            <p:cNvSpPr>
              <a:spLocks noChangeArrowheads="1"/>
            </p:cNvSpPr>
            <p:nvPr/>
          </p:nvSpPr>
          <p:spPr bwMode="auto">
            <a:xfrm>
              <a:off x="3292" y="1577"/>
              <a:ext cx="1134" cy="127"/>
            </a:xfrm>
            <a:prstGeom prst="rect">
              <a:avLst/>
            </a:prstGeom>
            <a:pattFill prst="lgConfetti">
              <a:fgClr>
                <a:srgbClr val="993300"/>
              </a:fgClr>
              <a:bgClr>
                <a:srgbClr val="FFFFFF"/>
              </a:bgClr>
            </a:pattFill>
            <a:ln w="9525" algn="ctr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04279" name="Rectangle 23"/>
            <p:cNvSpPr>
              <a:spLocks noChangeArrowheads="1"/>
            </p:cNvSpPr>
            <p:nvPr/>
          </p:nvSpPr>
          <p:spPr bwMode="auto">
            <a:xfrm>
              <a:off x="3292" y="1355"/>
              <a:ext cx="1134" cy="21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1504280" name="Group 24"/>
            <p:cNvGrpSpPr>
              <a:grpSpLocks/>
            </p:cNvGrpSpPr>
            <p:nvPr/>
          </p:nvGrpSpPr>
          <p:grpSpPr bwMode="auto">
            <a:xfrm>
              <a:off x="3297" y="1119"/>
              <a:ext cx="1115" cy="235"/>
              <a:chOff x="3108" y="2262"/>
              <a:chExt cx="1134" cy="235"/>
            </a:xfrm>
          </p:grpSpPr>
          <p:sp>
            <p:nvSpPr>
              <p:cNvPr id="1504281" name="Line 25"/>
              <p:cNvSpPr>
                <a:spLocks noChangeShapeType="1"/>
              </p:cNvSpPr>
              <p:nvPr/>
            </p:nvSpPr>
            <p:spPr bwMode="auto">
              <a:xfrm>
                <a:off x="3108" y="2268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82" name="Line 26"/>
              <p:cNvSpPr>
                <a:spLocks noChangeShapeType="1"/>
              </p:cNvSpPr>
              <p:nvPr/>
            </p:nvSpPr>
            <p:spPr bwMode="auto">
              <a:xfrm>
                <a:off x="3242" y="2264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83" name="Line 27"/>
              <p:cNvSpPr>
                <a:spLocks noChangeShapeType="1"/>
              </p:cNvSpPr>
              <p:nvPr/>
            </p:nvSpPr>
            <p:spPr bwMode="auto">
              <a:xfrm>
                <a:off x="3370" y="2270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84" name="Line 28"/>
              <p:cNvSpPr>
                <a:spLocks noChangeShapeType="1"/>
              </p:cNvSpPr>
              <p:nvPr/>
            </p:nvSpPr>
            <p:spPr bwMode="auto">
              <a:xfrm>
                <a:off x="3494" y="2266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85" name="Line 29"/>
              <p:cNvSpPr>
                <a:spLocks noChangeShapeType="1"/>
              </p:cNvSpPr>
              <p:nvPr/>
            </p:nvSpPr>
            <p:spPr bwMode="auto">
              <a:xfrm>
                <a:off x="3613" y="2268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86" name="Line 30"/>
              <p:cNvSpPr>
                <a:spLocks noChangeShapeType="1"/>
              </p:cNvSpPr>
              <p:nvPr/>
            </p:nvSpPr>
            <p:spPr bwMode="auto">
              <a:xfrm>
                <a:off x="3745" y="2264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87" name="Line 31"/>
              <p:cNvSpPr>
                <a:spLocks noChangeShapeType="1"/>
              </p:cNvSpPr>
              <p:nvPr/>
            </p:nvSpPr>
            <p:spPr bwMode="auto">
              <a:xfrm>
                <a:off x="3875" y="2270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88" name="Line 32"/>
              <p:cNvSpPr>
                <a:spLocks noChangeShapeType="1"/>
              </p:cNvSpPr>
              <p:nvPr/>
            </p:nvSpPr>
            <p:spPr bwMode="auto">
              <a:xfrm>
                <a:off x="4001" y="2266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89" name="Line 33"/>
              <p:cNvSpPr>
                <a:spLocks noChangeShapeType="1"/>
              </p:cNvSpPr>
              <p:nvPr/>
            </p:nvSpPr>
            <p:spPr bwMode="auto">
              <a:xfrm>
                <a:off x="4120" y="2266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90" name="Line 34"/>
              <p:cNvSpPr>
                <a:spLocks noChangeShapeType="1"/>
              </p:cNvSpPr>
              <p:nvPr/>
            </p:nvSpPr>
            <p:spPr bwMode="auto">
              <a:xfrm>
                <a:off x="4242" y="2262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04291" name="Oval 35"/>
            <p:cNvSpPr>
              <a:spLocks noChangeArrowheads="1"/>
            </p:cNvSpPr>
            <p:nvPr/>
          </p:nvSpPr>
          <p:spPr bwMode="auto">
            <a:xfrm>
              <a:off x="3633" y="530"/>
              <a:ext cx="454" cy="454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04292" name="Freeform 36"/>
            <p:cNvSpPr>
              <a:spLocks/>
            </p:cNvSpPr>
            <p:nvPr/>
          </p:nvSpPr>
          <p:spPr bwMode="auto">
            <a:xfrm>
              <a:off x="3824" y="617"/>
              <a:ext cx="147" cy="186"/>
            </a:xfrm>
            <a:custGeom>
              <a:avLst/>
              <a:gdLst>
                <a:gd name="T0" fmla="*/ 0 w 147"/>
                <a:gd name="T1" fmla="*/ 186 h 186"/>
                <a:gd name="T2" fmla="*/ 147 w 147"/>
                <a:gd name="T3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7" h="186">
                  <a:moveTo>
                    <a:pt x="0" y="186"/>
                  </a:moveTo>
                  <a:lnTo>
                    <a:pt x="147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4293" name="Oval 37"/>
            <p:cNvSpPr>
              <a:spLocks noChangeAspect="1" noChangeArrowheads="1"/>
            </p:cNvSpPr>
            <p:nvPr/>
          </p:nvSpPr>
          <p:spPr bwMode="auto">
            <a:xfrm>
              <a:off x="3850" y="744"/>
              <a:ext cx="23" cy="2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04294" name="Line 38"/>
            <p:cNvSpPr>
              <a:spLocks noChangeShapeType="1"/>
            </p:cNvSpPr>
            <p:nvPr/>
          </p:nvSpPr>
          <p:spPr bwMode="auto">
            <a:xfrm flipH="1">
              <a:off x="2862" y="756"/>
              <a:ext cx="771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04295" name="Group 39"/>
            <p:cNvGrpSpPr>
              <a:grpSpLocks/>
            </p:cNvGrpSpPr>
            <p:nvPr/>
          </p:nvGrpSpPr>
          <p:grpSpPr bwMode="auto">
            <a:xfrm>
              <a:off x="2809" y="619"/>
              <a:ext cx="49" cy="318"/>
              <a:chOff x="1687" y="934"/>
              <a:chExt cx="49" cy="318"/>
            </a:xfrm>
          </p:grpSpPr>
          <p:sp>
            <p:nvSpPr>
              <p:cNvPr id="1504296" name="Line 40"/>
              <p:cNvSpPr>
                <a:spLocks noChangeShapeType="1"/>
              </p:cNvSpPr>
              <p:nvPr/>
            </p:nvSpPr>
            <p:spPr bwMode="auto">
              <a:xfrm>
                <a:off x="1735" y="935"/>
                <a:ext cx="0" cy="2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97" name="Line 41"/>
              <p:cNvSpPr>
                <a:spLocks noChangeShapeType="1"/>
              </p:cNvSpPr>
              <p:nvPr/>
            </p:nvSpPr>
            <p:spPr bwMode="auto">
              <a:xfrm flipH="1">
                <a:off x="1691" y="934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98" name="Line 42"/>
              <p:cNvSpPr>
                <a:spLocks noChangeShapeType="1"/>
              </p:cNvSpPr>
              <p:nvPr/>
            </p:nvSpPr>
            <p:spPr bwMode="auto">
              <a:xfrm flipH="1">
                <a:off x="1691" y="980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299" name="Line 43"/>
              <p:cNvSpPr>
                <a:spLocks noChangeShapeType="1"/>
              </p:cNvSpPr>
              <p:nvPr/>
            </p:nvSpPr>
            <p:spPr bwMode="auto">
              <a:xfrm flipH="1">
                <a:off x="1689" y="1026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300" name="Line 44"/>
              <p:cNvSpPr>
                <a:spLocks noChangeShapeType="1"/>
              </p:cNvSpPr>
              <p:nvPr/>
            </p:nvSpPr>
            <p:spPr bwMode="auto">
              <a:xfrm flipH="1">
                <a:off x="1689" y="1072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301" name="Line 45"/>
              <p:cNvSpPr>
                <a:spLocks noChangeShapeType="1"/>
              </p:cNvSpPr>
              <p:nvPr/>
            </p:nvSpPr>
            <p:spPr bwMode="auto">
              <a:xfrm flipH="1">
                <a:off x="1689" y="1114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302" name="Line 46"/>
              <p:cNvSpPr>
                <a:spLocks noChangeShapeType="1"/>
              </p:cNvSpPr>
              <p:nvPr/>
            </p:nvSpPr>
            <p:spPr bwMode="auto">
              <a:xfrm flipH="1">
                <a:off x="1689" y="1160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4303" name="Line 47"/>
              <p:cNvSpPr>
                <a:spLocks noChangeShapeType="1"/>
              </p:cNvSpPr>
              <p:nvPr/>
            </p:nvSpPr>
            <p:spPr bwMode="auto">
              <a:xfrm flipH="1">
                <a:off x="1687" y="1206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04304" name="Group 48"/>
            <p:cNvGrpSpPr>
              <a:grpSpLocks/>
            </p:cNvGrpSpPr>
            <p:nvPr/>
          </p:nvGrpSpPr>
          <p:grpSpPr bwMode="auto">
            <a:xfrm>
              <a:off x="2730" y="1516"/>
              <a:ext cx="2265" cy="166"/>
              <a:chOff x="1608" y="1831"/>
              <a:chExt cx="2265" cy="166"/>
            </a:xfrm>
          </p:grpSpPr>
          <p:grpSp>
            <p:nvGrpSpPr>
              <p:cNvPr id="1504305" name="Group 49"/>
              <p:cNvGrpSpPr>
                <a:grpSpLocks/>
              </p:cNvGrpSpPr>
              <p:nvPr/>
            </p:nvGrpSpPr>
            <p:grpSpPr bwMode="auto">
              <a:xfrm>
                <a:off x="1608" y="1831"/>
                <a:ext cx="561" cy="163"/>
                <a:chOff x="1608" y="1831"/>
                <a:chExt cx="561" cy="163"/>
              </a:xfrm>
            </p:grpSpPr>
            <p:sp>
              <p:nvSpPr>
                <p:cNvPr id="1504306" name="Freeform 50"/>
                <p:cNvSpPr>
                  <a:spLocks/>
                </p:cNvSpPr>
                <p:nvPr/>
              </p:nvSpPr>
              <p:spPr bwMode="auto">
                <a:xfrm>
                  <a:off x="1608" y="1921"/>
                  <a:ext cx="561" cy="2"/>
                </a:xfrm>
                <a:custGeom>
                  <a:avLst/>
                  <a:gdLst>
                    <a:gd name="T0" fmla="*/ 0 w 561"/>
                    <a:gd name="T1" fmla="*/ 0 h 2"/>
                    <a:gd name="T2" fmla="*/ 561 w 56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61" h="2">
                      <a:moveTo>
                        <a:pt x="0" y="0"/>
                      </a:moveTo>
                      <a:lnTo>
                        <a:pt x="561" y="2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4307" name="AutoShape 51"/>
                <p:cNvSpPr>
                  <a:spLocks noChangeArrowheads="1"/>
                </p:cNvSpPr>
                <p:nvPr/>
              </p:nvSpPr>
              <p:spPr bwMode="auto">
                <a:xfrm flipV="1">
                  <a:off x="1721" y="1831"/>
                  <a:ext cx="136" cy="9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1"/>
                </a:solidFill>
                <a:ln w="9525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1504308" name="Line 52"/>
                <p:cNvSpPr>
                  <a:spLocks noChangeShapeType="1"/>
                </p:cNvSpPr>
                <p:nvPr/>
              </p:nvSpPr>
              <p:spPr bwMode="auto">
                <a:xfrm>
                  <a:off x="1701" y="1947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4309" name="Line 53"/>
                <p:cNvSpPr>
                  <a:spLocks noChangeShapeType="1"/>
                </p:cNvSpPr>
                <p:nvPr/>
              </p:nvSpPr>
              <p:spPr bwMode="auto">
                <a:xfrm>
                  <a:off x="1726" y="1969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4310" name="Line 54"/>
                <p:cNvSpPr>
                  <a:spLocks noChangeShapeType="1"/>
                </p:cNvSpPr>
                <p:nvPr/>
              </p:nvSpPr>
              <p:spPr bwMode="auto">
                <a:xfrm>
                  <a:off x="1746" y="199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04311" name="Group 55"/>
              <p:cNvGrpSpPr>
                <a:grpSpLocks/>
              </p:cNvGrpSpPr>
              <p:nvPr/>
            </p:nvGrpSpPr>
            <p:grpSpPr bwMode="auto">
              <a:xfrm>
                <a:off x="3312" y="1834"/>
                <a:ext cx="561" cy="163"/>
                <a:chOff x="3312" y="1834"/>
                <a:chExt cx="561" cy="163"/>
              </a:xfrm>
            </p:grpSpPr>
            <p:sp>
              <p:nvSpPr>
                <p:cNvPr id="1504312" name="Freeform 56"/>
                <p:cNvSpPr>
                  <a:spLocks/>
                </p:cNvSpPr>
                <p:nvPr/>
              </p:nvSpPr>
              <p:spPr bwMode="auto">
                <a:xfrm>
                  <a:off x="3312" y="1924"/>
                  <a:ext cx="561" cy="2"/>
                </a:xfrm>
                <a:custGeom>
                  <a:avLst/>
                  <a:gdLst>
                    <a:gd name="T0" fmla="*/ 0 w 561"/>
                    <a:gd name="T1" fmla="*/ 0 h 2"/>
                    <a:gd name="T2" fmla="*/ 561 w 56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61" h="2">
                      <a:moveTo>
                        <a:pt x="0" y="0"/>
                      </a:moveTo>
                      <a:lnTo>
                        <a:pt x="561" y="2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4313" name="AutoShape 57"/>
                <p:cNvSpPr>
                  <a:spLocks noChangeArrowheads="1"/>
                </p:cNvSpPr>
                <p:nvPr/>
              </p:nvSpPr>
              <p:spPr bwMode="auto">
                <a:xfrm flipV="1">
                  <a:off x="3625" y="1834"/>
                  <a:ext cx="136" cy="9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1"/>
                </a:solidFill>
                <a:ln w="9525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1504314" name="Line 58"/>
                <p:cNvSpPr>
                  <a:spLocks noChangeShapeType="1"/>
                </p:cNvSpPr>
                <p:nvPr/>
              </p:nvSpPr>
              <p:spPr bwMode="auto">
                <a:xfrm>
                  <a:off x="3605" y="1950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4315" name="Line 59"/>
                <p:cNvSpPr>
                  <a:spLocks noChangeShapeType="1"/>
                </p:cNvSpPr>
                <p:nvPr/>
              </p:nvSpPr>
              <p:spPr bwMode="auto">
                <a:xfrm>
                  <a:off x="3630" y="1972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4316" name="Line 60"/>
                <p:cNvSpPr>
                  <a:spLocks noChangeShapeType="1"/>
                </p:cNvSpPr>
                <p:nvPr/>
              </p:nvSpPr>
              <p:spPr bwMode="auto">
                <a:xfrm>
                  <a:off x="3650" y="1997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504317" name="Text Box 61"/>
            <p:cNvSpPr txBox="1">
              <a:spLocks noChangeArrowheads="1"/>
            </p:cNvSpPr>
            <p:nvPr/>
          </p:nvSpPr>
          <p:spPr bwMode="auto">
            <a:xfrm>
              <a:off x="4418" y="434"/>
              <a:ext cx="64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百分表</a:t>
              </a:r>
            </a:p>
          </p:txBody>
        </p:sp>
        <p:sp>
          <p:nvSpPr>
            <p:cNvPr id="1504318" name="Line 62"/>
            <p:cNvSpPr>
              <a:spLocks noChangeShapeType="1"/>
            </p:cNvSpPr>
            <p:nvPr/>
          </p:nvSpPr>
          <p:spPr bwMode="auto">
            <a:xfrm flipV="1">
              <a:off x="4106" y="585"/>
              <a:ext cx="283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4319" name="Text Box 63"/>
            <p:cNvSpPr txBox="1">
              <a:spLocks noChangeArrowheads="1"/>
            </p:cNvSpPr>
            <p:nvPr/>
          </p:nvSpPr>
          <p:spPr bwMode="auto">
            <a:xfrm>
              <a:off x="4557" y="772"/>
              <a:ext cx="82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加压上盖</a:t>
              </a:r>
              <a:endParaRPr kumimoji="1" lang="en-US" altLang="zh-CN" sz="2200" b="1">
                <a:solidFill>
                  <a:srgbClr val="0000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04320" name="Line 64"/>
            <p:cNvSpPr>
              <a:spLocks noChangeShapeType="1"/>
            </p:cNvSpPr>
            <p:nvPr/>
          </p:nvSpPr>
          <p:spPr bwMode="auto">
            <a:xfrm flipV="1">
              <a:off x="4384" y="1007"/>
              <a:ext cx="202" cy="4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4321" name="Text Box 65"/>
            <p:cNvSpPr txBox="1">
              <a:spLocks noChangeArrowheads="1"/>
            </p:cNvSpPr>
            <p:nvPr/>
          </p:nvSpPr>
          <p:spPr bwMode="auto">
            <a:xfrm>
              <a:off x="3596" y="1736"/>
              <a:ext cx="5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试样</a:t>
              </a:r>
            </a:p>
          </p:txBody>
        </p:sp>
        <p:sp>
          <p:nvSpPr>
            <p:cNvPr id="1504322" name="Text Box 66"/>
            <p:cNvSpPr txBox="1">
              <a:spLocks noChangeArrowheads="1"/>
            </p:cNvSpPr>
            <p:nvPr/>
          </p:nvSpPr>
          <p:spPr bwMode="auto">
            <a:xfrm>
              <a:off x="2501" y="1046"/>
              <a:ext cx="81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透水石</a:t>
              </a:r>
            </a:p>
          </p:txBody>
        </p:sp>
        <p:sp>
          <p:nvSpPr>
            <p:cNvPr id="1504323" name="Text Box 67"/>
            <p:cNvSpPr txBox="1">
              <a:spLocks noChangeArrowheads="1"/>
            </p:cNvSpPr>
            <p:nvPr/>
          </p:nvSpPr>
          <p:spPr bwMode="auto">
            <a:xfrm>
              <a:off x="5138" y="1684"/>
              <a:ext cx="5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护环</a:t>
              </a:r>
            </a:p>
          </p:txBody>
        </p:sp>
        <p:sp>
          <p:nvSpPr>
            <p:cNvPr id="1504324" name="Line 68"/>
            <p:cNvSpPr>
              <a:spLocks noChangeShapeType="1"/>
            </p:cNvSpPr>
            <p:nvPr/>
          </p:nvSpPr>
          <p:spPr bwMode="auto">
            <a:xfrm flipH="1" flipV="1">
              <a:off x="3034" y="1329"/>
              <a:ext cx="293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4325" name="Text Box 69"/>
            <p:cNvSpPr txBox="1">
              <a:spLocks noChangeArrowheads="1"/>
            </p:cNvSpPr>
            <p:nvPr/>
          </p:nvSpPr>
          <p:spPr bwMode="auto">
            <a:xfrm>
              <a:off x="4656" y="1084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环刀</a:t>
              </a:r>
            </a:p>
          </p:txBody>
        </p:sp>
        <p:sp>
          <p:nvSpPr>
            <p:cNvPr id="1504326" name="Line 70"/>
            <p:cNvSpPr>
              <a:spLocks noChangeShapeType="1"/>
            </p:cNvSpPr>
            <p:nvPr/>
          </p:nvSpPr>
          <p:spPr bwMode="auto">
            <a:xfrm flipV="1">
              <a:off x="4461" y="1315"/>
              <a:ext cx="225" cy="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4327" name="Text Box 71"/>
            <p:cNvSpPr txBox="1">
              <a:spLocks noChangeArrowheads="1"/>
            </p:cNvSpPr>
            <p:nvPr/>
          </p:nvSpPr>
          <p:spPr bwMode="auto">
            <a:xfrm>
              <a:off x="5157" y="1044"/>
              <a:ext cx="47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ea typeface="幼圆" pitchFamily="49" charset="-122"/>
                </a:rPr>
                <a:t>压缩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ea typeface="幼圆" pitchFamily="49" charset="-122"/>
                </a:rPr>
                <a:t>容器</a:t>
              </a:r>
              <a:endParaRPr lang="en-US" altLang="zh-CN" sz="2200" b="1">
                <a:ea typeface="幼圆" pitchFamily="49" charset="-122"/>
              </a:endParaRPr>
            </a:p>
          </p:txBody>
        </p:sp>
        <p:sp>
          <p:nvSpPr>
            <p:cNvPr id="1504328" name="Line 72"/>
            <p:cNvSpPr>
              <a:spLocks noChangeShapeType="1"/>
            </p:cNvSpPr>
            <p:nvPr/>
          </p:nvSpPr>
          <p:spPr bwMode="auto">
            <a:xfrm flipV="1">
              <a:off x="5055" y="1536"/>
              <a:ext cx="219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4329" name="Line 73"/>
            <p:cNvSpPr>
              <a:spLocks noChangeShapeType="1"/>
            </p:cNvSpPr>
            <p:nvPr/>
          </p:nvSpPr>
          <p:spPr bwMode="auto">
            <a:xfrm flipV="1">
              <a:off x="4543" y="1863"/>
              <a:ext cx="634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04330" name="Rectangle 74"/>
          <p:cNvSpPr>
            <a:spLocks noChangeArrowheads="1"/>
          </p:cNvSpPr>
          <p:nvPr/>
        </p:nvSpPr>
        <p:spPr bwMode="auto">
          <a:xfrm>
            <a:off x="500063" y="993775"/>
            <a:ext cx="33401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>
                <a:solidFill>
                  <a:srgbClr val="A50021"/>
                </a:solidFill>
                <a:latin typeface="黑体" pitchFamily="2" charset="-122"/>
                <a:ea typeface="黑体" pitchFamily="2" charset="-122"/>
              </a:rPr>
              <a:t> 侧限压缩试验</a:t>
            </a:r>
          </a:p>
        </p:txBody>
      </p:sp>
      <p:sp>
        <p:nvSpPr>
          <p:cNvPr id="1504331" name="Text Box 75"/>
          <p:cNvSpPr txBox="1">
            <a:spLocks noChangeArrowheads="1"/>
          </p:cNvSpPr>
          <p:nvPr/>
        </p:nvSpPr>
        <p:spPr bwMode="auto">
          <a:xfrm>
            <a:off x="5137150" y="4352925"/>
            <a:ext cx="50017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ea typeface="幼圆" pitchFamily="49" charset="-122"/>
                <a:cs typeface="Times New Roman" panose="02020603050405020304" pitchFamily="18" charset="0"/>
              </a:rPr>
              <a:t>1</a:t>
            </a:r>
            <a:endParaRPr lang="en-US" altLang="zh-CN" sz="2000" b="1" dirty="0"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04332" name="Text Box 76"/>
          <p:cNvSpPr txBox="1">
            <a:spLocks noChangeArrowheads="1"/>
          </p:cNvSpPr>
          <p:nvPr/>
        </p:nvSpPr>
        <p:spPr bwMode="auto">
          <a:xfrm>
            <a:off x="5800725" y="6054725"/>
            <a:ext cx="45803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i="1" dirty="0">
                <a:solidFill>
                  <a:srgbClr val="993300"/>
                </a:solidFill>
                <a:ea typeface="幼圆" pitchFamily="49" charset="-122"/>
              </a:rPr>
              <a:t>s</a:t>
            </a:r>
            <a:r>
              <a:rPr lang="en-US" altLang="zh-CN" sz="2000" b="1" baseline="-25000" dirty="0">
                <a:solidFill>
                  <a:srgbClr val="993300"/>
                </a:solidFill>
                <a:ea typeface="幼圆" pitchFamily="49" charset="-122"/>
              </a:rPr>
              <a:t>1</a:t>
            </a:r>
            <a:endParaRPr lang="en-US" altLang="zh-CN" sz="2000" b="1" dirty="0">
              <a:solidFill>
                <a:srgbClr val="993300"/>
              </a:solidFill>
              <a:ea typeface="幼圆" pitchFamily="49" charset="-122"/>
            </a:endParaRPr>
          </a:p>
        </p:txBody>
      </p:sp>
      <p:grpSp>
        <p:nvGrpSpPr>
          <p:cNvPr id="1504335" name="Group 79"/>
          <p:cNvGrpSpPr>
            <a:grpSpLocks/>
          </p:cNvGrpSpPr>
          <p:nvPr/>
        </p:nvGrpSpPr>
        <p:grpSpPr bwMode="auto">
          <a:xfrm>
            <a:off x="4535488" y="3730625"/>
            <a:ext cx="3946525" cy="2901950"/>
            <a:chOff x="2857" y="2350"/>
            <a:chExt cx="2486" cy="1828"/>
          </a:xfrm>
        </p:grpSpPr>
        <p:sp>
          <p:nvSpPr>
            <p:cNvPr id="1504336" name="Freeform 80"/>
            <p:cNvSpPr>
              <a:spLocks/>
            </p:cNvSpPr>
            <p:nvPr/>
          </p:nvSpPr>
          <p:spPr bwMode="auto">
            <a:xfrm>
              <a:off x="3088" y="3395"/>
              <a:ext cx="2055" cy="701"/>
            </a:xfrm>
            <a:custGeom>
              <a:avLst/>
              <a:gdLst>
                <a:gd name="T0" fmla="*/ 0 w 2055"/>
                <a:gd name="T1" fmla="*/ 0 h 701"/>
                <a:gd name="T2" fmla="*/ 0 w 2055"/>
                <a:gd name="T3" fmla="*/ 701 h 701"/>
                <a:gd name="T4" fmla="*/ 2055 w 2055"/>
                <a:gd name="T5" fmla="*/ 701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55" h="701">
                  <a:moveTo>
                    <a:pt x="0" y="0"/>
                  </a:moveTo>
                  <a:lnTo>
                    <a:pt x="0" y="701"/>
                  </a:lnTo>
                  <a:lnTo>
                    <a:pt x="2055" y="70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cs typeface="Times New Roman" panose="02020603050405020304" pitchFamily="18" charset="0"/>
              </a:endParaRPr>
            </a:p>
          </p:txBody>
        </p:sp>
        <p:sp>
          <p:nvSpPr>
            <p:cNvPr id="1504337" name="Freeform 81"/>
            <p:cNvSpPr>
              <a:spLocks/>
            </p:cNvSpPr>
            <p:nvPr/>
          </p:nvSpPr>
          <p:spPr bwMode="auto">
            <a:xfrm>
              <a:off x="3082" y="2467"/>
              <a:ext cx="2055" cy="701"/>
            </a:xfrm>
            <a:custGeom>
              <a:avLst/>
              <a:gdLst>
                <a:gd name="T0" fmla="*/ 0 w 2055"/>
                <a:gd name="T1" fmla="*/ 0 h 701"/>
                <a:gd name="T2" fmla="*/ 0 w 2055"/>
                <a:gd name="T3" fmla="*/ 701 h 701"/>
                <a:gd name="T4" fmla="*/ 2055 w 2055"/>
                <a:gd name="T5" fmla="*/ 701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55" h="701">
                  <a:moveTo>
                    <a:pt x="0" y="0"/>
                  </a:moveTo>
                  <a:lnTo>
                    <a:pt x="0" y="701"/>
                  </a:lnTo>
                  <a:lnTo>
                    <a:pt x="2055" y="70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cs typeface="Times New Roman" panose="02020603050405020304" pitchFamily="18" charset="0"/>
              </a:endParaRPr>
            </a:p>
          </p:txBody>
        </p:sp>
        <p:sp>
          <p:nvSpPr>
            <p:cNvPr id="1504338" name="Text Box 82"/>
            <p:cNvSpPr txBox="1">
              <a:spLocks noChangeArrowheads="1"/>
            </p:cNvSpPr>
            <p:nvPr/>
          </p:nvSpPr>
          <p:spPr bwMode="auto">
            <a:xfrm>
              <a:off x="2857" y="2350"/>
              <a:ext cx="21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ea typeface="幼圆" pitchFamily="49" charset="-12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1504339" name="Text Box 83"/>
            <p:cNvSpPr txBox="1">
              <a:spLocks noChangeArrowheads="1"/>
            </p:cNvSpPr>
            <p:nvPr/>
          </p:nvSpPr>
          <p:spPr bwMode="auto">
            <a:xfrm>
              <a:off x="5138" y="3004"/>
              <a:ext cx="16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>
                  <a:ea typeface="幼圆" pitchFamily="49" charset="-122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504340" name="Text Box 84"/>
            <p:cNvSpPr txBox="1">
              <a:spLocks noChangeArrowheads="1"/>
            </p:cNvSpPr>
            <p:nvPr/>
          </p:nvSpPr>
          <p:spPr bwMode="auto">
            <a:xfrm>
              <a:off x="2901" y="3173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>
                  <a:ea typeface="幼圆" pitchFamily="49" charset="-12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504341" name="Text Box 85"/>
            <p:cNvSpPr txBox="1">
              <a:spLocks noChangeArrowheads="1"/>
            </p:cNvSpPr>
            <p:nvPr/>
          </p:nvSpPr>
          <p:spPr bwMode="auto">
            <a:xfrm>
              <a:off x="5178" y="3909"/>
              <a:ext cx="16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i="1" dirty="0">
                  <a:ea typeface="幼圆" pitchFamily="49" charset="-122"/>
                  <a:cs typeface="Times New Roman" panose="02020603050405020304" pitchFamily="18" charset="0"/>
                </a:rPr>
                <a:t>t</a:t>
              </a:r>
            </a:p>
          </p:txBody>
        </p:sp>
      </p:grpSp>
      <p:sp>
        <p:nvSpPr>
          <p:cNvPr id="1504342" name="Text Box 86"/>
          <p:cNvSpPr txBox="1">
            <a:spLocks noChangeArrowheads="1"/>
          </p:cNvSpPr>
          <p:nvPr/>
        </p:nvSpPr>
        <p:spPr bwMode="auto">
          <a:xfrm>
            <a:off x="395288" y="3611563"/>
            <a:ext cx="2900362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31813" indent="-2651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Aft>
                <a:spcPct val="25000"/>
              </a:spcAft>
              <a:buFont typeface="Wingdings" pitchFamily="2" charset="2"/>
              <a:buChar char="n"/>
            </a:pPr>
            <a:r>
              <a:rPr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测定：</a:t>
            </a:r>
          </a:p>
          <a:p>
            <a:pPr lvl="1">
              <a:buClr>
                <a:srgbClr val="800000"/>
              </a:buClr>
              <a:buFontTx/>
              <a:buChar char="•"/>
            </a:pPr>
            <a:r>
              <a:rPr lang="zh-CN" altLang="en-US" sz="22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轴向压缩应力</a:t>
            </a:r>
            <a:endParaRPr lang="zh-CN" altLang="en-US" sz="2200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 lvl="1">
              <a:buClr>
                <a:srgbClr val="800000"/>
              </a:buClr>
              <a:buFontTx/>
              <a:buChar char="•"/>
            </a:pPr>
            <a:r>
              <a:rPr lang="zh-CN" altLang="en-US" sz="22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轴向压缩变形</a:t>
            </a:r>
            <a:endParaRPr lang="en-US" altLang="zh-CN" sz="2200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04343" name="Line 87"/>
          <p:cNvSpPr>
            <a:spLocks noChangeShapeType="1"/>
          </p:cNvSpPr>
          <p:nvPr/>
        </p:nvSpPr>
        <p:spPr bwMode="auto">
          <a:xfrm>
            <a:off x="4892675" y="4749800"/>
            <a:ext cx="9191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04361" name="Group 105"/>
          <p:cNvGrpSpPr>
            <a:grpSpLocks/>
          </p:cNvGrpSpPr>
          <p:nvPr/>
        </p:nvGrpSpPr>
        <p:grpSpPr bwMode="auto">
          <a:xfrm>
            <a:off x="5807075" y="4032250"/>
            <a:ext cx="1301750" cy="2473325"/>
            <a:chOff x="3658" y="2540"/>
            <a:chExt cx="820" cy="1558"/>
          </a:xfrm>
        </p:grpSpPr>
        <p:sp>
          <p:nvSpPr>
            <p:cNvPr id="1504345" name="Line 89"/>
            <p:cNvSpPr>
              <a:spLocks noChangeShapeType="1"/>
            </p:cNvSpPr>
            <p:nvPr/>
          </p:nvSpPr>
          <p:spPr bwMode="auto">
            <a:xfrm>
              <a:off x="4188" y="2754"/>
              <a:ext cx="0" cy="1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cs typeface="Times New Roman" panose="02020603050405020304" pitchFamily="18" charset="0"/>
              </a:endParaRPr>
            </a:p>
          </p:txBody>
        </p:sp>
        <p:sp>
          <p:nvSpPr>
            <p:cNvPr id="1504348" name="Text Box 92"/>
            <p:cNvSpPr txBox="1">
              <a:spLocks noChangeArrowheads="1"/>
            </p:cNvSpPr>
            <p:nvPr/>
          </p:nvSpPr>
          <p:spPr bwMode="auto">
            <a:xfrm>
              <a:off x="3770" y="2540"/>
              <a:ext cx="3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ea typeface="幼圆" pitchFamily="49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000" b="1" baseline="-25000" dirty="0">
                  <a:ea typeface="幼圆" pitchFamily="49" charset="-122"/>
                  <a:cs typeface="Times New Roman" panose="02020603050405020304" pitchFamily="18" charset="0"/>
                </a:rPr>
                <a:t>2</a:t>
              </a:r>
              <a:endParaRPr lang="en-US" altLang="zh-CN" sz="2000" b="1" dirty="0"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504360" name="Group 104"/>
            <p:cNvGrpSpPr>
              <a:grpSpLocks/>
            </p:cNvGrpSpPr>
            <p:nvPr/>
          </p:nvGrpSpPr>
          <p:grpSpPr bwMode="auto">
            <a:xfrm>
              <a:off x="3662" y="3605"/>
              <a:ext cx="816" cy="337"/>
              <a:chOff x="3662" y="3605"/>
              <a:chExt cx="816" cy="337"/>
            </a:xfrm>
          </p:grpSpPr>
          <p:sp>
            <p:nvSpPr>
              <p:cNvPr id="1504346" name="Freeform 90"/>
              <p:cNvSpPr>
                <a:spLocks/>
              </p:cNvSpPr>
              <p:nvPr/>
            </p:nvSpPr>
            <p:spPr bwMode="auto">
              <a:xfrm>
                <a:off x="3662" y="3745"/>
                <a:ext cx="518" cy="197"/>
              </a:xfrm>
              <a:custGeom>
                <a:avLst/>
                <a:gdLst>
                  <a:gd name="T0" fmla="*/ 0 w 518"/>
                  <a:gd name="T1" fmla="*/ 197 h 197"/>
                  <a:gd name="T2" fmla="*/ 58 w 518"/>
                  <a:gd name="T3" fmla="*/ 101 h 197"/>
                  <a:gd name="T4" fmla="*/ 164 w 518"/>
                  <a:gd name="T5" fmla="*/ 33 h 197"/>
                  <a:gd name="T6" fmla="*/ 288 w 518"/>
                  <a:gd name="T7" fmla="*/ 5 h 197"/>
                  <a:gd name="T8" fmla="*/ 518 w 518"/>
                  <a:gd name="T9" fmla="*/ 5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8" h="197">
                    <a:moveTo>
                      <a:pt x="0" y="197"/>
                    </a:moveTo>
                    <a:cubicBezTo>
                      <a:pt x="14" y="161"/>
                      <a:pt x="31" y="128"/>
                      <a:pt x="58" y="101"/>
                    </a:cubicBezTo>
                    <a:cubicBezTo>
                      <a:pt x="85" y="74"/>
                      <a:pt x="126" y="49"/>
                      <a:pt x="164" y="33"/>
                    </a:cubicBezTo>
                    <a:cubicBezTo>
                      <a:pt x="202" y="17"/>
                      <a:pt x="229" y="10"/>
                      <a:pt x="288" y="5"/>
                    </a:cubicBezTo>
                    <a:cubicBezTo>
                      <a:pt x="347" y="0"/>
                      <a:pt x="432" y="1"/>
                      <a:pt x="518" y="5"/>
                    </a:cubicBezTo>
                  </a:path>
                </a:pathLst>
              </a:custGeom>
              <a:noFill/>
              <a:ln w="19050" cap="flat" cmpd="sng">
                <a:solidFill>
                  <a:schemeClr val="folHlink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>
                  <a:cs typeface="Times New Roman" panose="02020603050405020304" pitchFamily="18" charset="0"/>
                </a:endParaRPr>
              </a:p>
            </p:txBody>
          </p:sp>
          <p:sp>
            <p:nvSpPr>
              <p:cNvPr id="1504349" name="Text Box 93"/>
              <p:cNvSpPr txBox="1">
                <a:spLocks noChangeArrowheads="1"/>
              </p:cNvSpPr>
              <p:nvPr/>
            </p:nvSpPr>
            <p:spPr bwMode="auto">
              <a:xfrm>
                <a:off x="4176" y="3605"/>
                <a:ext cx="30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i="1" dirty="0">
                    <a:solidFill>
                      <a:srgbClr val="993300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1" baseline="-25000" dirty="0">
                    <a:solidFill>
                      <a:srgbClr val="993300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2</a:t>
                </a:r>
                <a:endParaRPr lang="en-US" altLang="zh-CN" sz="2000" b="1" dirty="0">
                  <a:solidFill>
                    <a:srgbClr val="993300"/>
                  </a:solidFill>
                  <a:ea typeface="幼圆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04351" name="Freeform 95"/>
            <p:cNvSpPr>
              <a:spLocks/>
            </p:cNvSpPr>
            <p:nvPr/>
          </p:nvSpPr>
          <p:spPr bwMode="auto">
            <a:xfrm>
              <a:off x="3658" y="2781"/>
              <a:ext cx="531" cy="211"/>
            </a:xfrm>
            <a:custGeom>
              <a:avLst/>
              <a:gdLst>
                <a:gd name="T0" fmla="*/ 0 w 531"/>
                <a:gd name="T1" fmla="*/ 211 h 211"/>
                <a:gd name="T2" fmla="*/ 0 w 531"/>
                <a:gd name="T3" fmla="*/ 0 h 211"/>
                <a:gd name="T4" fmla="*/ 531 w 531"/>
                <a:gd name="T5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1" h="211">
                  <a:moveTo>
                    <a:pt x="0" y="211"/>
                  </a:moveTo>
                  <a:lnTo>
                    <a:pt x="0" y="0"/>
                  </a:lnTo>
                  <a:lnTo>
                    <a:pt x="53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cs typeface="Times New Roman" panose="02020603050405020304" pitchFamily="18" charset="0"/>
              </a:endParaRPr>
            </a:p>
          </p:txBody>
        </p:sp>
      </p:grpSp>
      <p:grpSp>
        <p:nvGrpSpPr>
          <p:cNvPr id="1504362" name="Group 106"/>
          <p:cNvGrpSpPr>
            <a:grpSpLocks/>
          </p:cNvGrpSpPr>
          <p:nvPr/>
        </p:nvGrpSpPr>
        <p:grpSpPr bwMode="auto">
          <a:xfrm>
            <a:off x="6635752" y="3757613"/>
            <a:ext cx="1238251" cy="2741612"/>
            <a:chOff x="4180" y="2367"/>
            <a:chExt cx="780" cy="1727"/>
          </a:xfrm>
        </p:grpSpPr>
        <p:sp>
          <p:nvSpPr>
            <p:cNvPr id="1504353" name="Line 97"/>
            <p:cNvSpPr>
              <a:spLocks noChangeShapeType="1"/>
            </p:cNvSpPr>
            <p:nvPr/>
          </p:nvSpPr>
          <p:spPr bwMode="auto">
            <a:xfrm>
              <a:off x="4714" y="2606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cs typeface="Times New Roman" panose="02020603050405020304" pitchFamily="18" charset="0"/>
              </a:endParaRPr>
            </a:p>
          </p:txBody>
        </p:sp>
        <p:sp>
          <p:nvSpPr>
            <p:cNvPr id="1504354" name="Freeform 98"/>
            <p:cNvSpPr>
              <a:spLocks/>
            </p:cNvSpPr>
            <p:nvPr/>
          </p:nvSpPr>
          <p:spPr bwMode="auto">
            <a:xfrm>
              <a:off x="4180" y="3557"/>
              <a:ext cx="517" cy="193"/>
            </a:xfrm>
            <a:custGeom>
              <a:avLst/>
              <a:gdLst>
                <a:gd name="T0" fmla="*/ 0 w 517"/>
                <a:gd name="T1" fmla="*/ 193 h 193"/>
                <a:gd name="T2" fmla="*/ 57 w 517"/>
                <a:gd name="T3" fmla="*/ 97 h 193"/>
                <a:gd name="T4" fmla="*/ 178 w 517"/>
                <a:gd name="T5" fmla="*/ 29 h 193"/>
                <a:gd name="T6" fmla="*/ 303 w 517"/>
                <a:gd name="T7" fmla="*/ 5 h 193"/>
                <a:gd name="T8" fmla="*/ 517 w 517"/>
                <a:gd name="T9" fmla="*/ 1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7" h="193">
                  <a:moveTo>
                    <a:pt x="0" y="193"/>
                  </a:moveTo>
                  <a:cubicBezTo>
                    <a:pt x="14" y="157"/>
                    <a:pt x="27" y="124"/>
                    <a:pt x="57" y="97"/>
                  </a:cubicBezTo>
                  <a:cubicBezTo>
                    <a:pt x="87" y="70"/>
                    <a:pt x="137" y="44"/>
                    <a:pt x="178" y="29"/>
                  </a:cubicBezTo>
                  <a:cubicBezTo>
                    <a:pt x="219" y="14"/>
                    <a:pt x="247" y="10"/>
                    <a:pt x="303" y="5"/>
                  </a:cubicBezTo>
                  <a:cubicBezTo>
                    <a:pt x="359" y="0"/>
                    <a:pt x="473" y="2"/>
                    <a:pt x="517" y="1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cs typeface="Times New Roman" panose="02020603050405020304" pitchFamily="18" charset="0"/>
              </a:endParaRPr>
            </a:p>
          </p:txBody>
        </p:sp>
        <p:sp>
          <p:nvSpPr>
            <p:cNvPr id="1504356" name="Text Box 100"/>
            <p:cNvSpPr txBox="1">
              <a:spLocks noChangeArrowheads="1"/>
            </p:cNvSpPr>
            <p:nvPr/>
          </p:nvSpPr>
          <p:spPr bwMode="auto">
            <a:xfrm>
              <a:off x="4324" y="2367"/>
              <a:ext cx="34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ea typeface="幼圆" pitchFamily="49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000" b="1" baseline="-25000" dirty="0">
                  <a:ea typeface="幼圆" pitchFamily="49" charset="-122"/>
                  <a:cs typeface="Times New Roman" panose="02020603050405020304" pitchFamily="18" charset="0"/>
                </a:rPr>
                <a:t>3</a:t>
              </a:r>
              <a:endParaRPr lang="en-US" altLang="zh-CN" sz="2000" b="1" dirty="0"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04357" name="Text Box 101"/>
            <p:cNvSpPr txBox="1">
              <a:spLocks noChangeArrowheads="1"/>
            </p:cNvSpPr>
            <p:nvPr/>
          </p:nvSpPr>
          <p:spPr bwMode="auto">
            <a:xfrm>
              <a:off x="4665" y="3390"/>
              <a:ext cx="29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993300"/>
                  </a:solidFill>
                  <a:ea typeface="幼圆" pitchFamily="49" charset="-122"/>
                  <a:cs typeface="Times New Roman" panose="02020603050405020304" pitchFamily="18" charset="0"/>
                </a:rPr>
                <a:t>s</a:t>
              </a:r>
              <a:r>
                <a:rPr lang="en-US" altLang="zh-CN" sz="2000" b="1" baseline="-25000" dirty="0">
                  <a:solidFill>
                    <a:srgbClr val="993300"/>
                  </a:solidFill>
                  <a:ea typeface="幼圆" pitchFamily="49" charset="-122"/>
                  <a:cs typeface="Times New Roman" panose="02020603050405020304" pitchFamily="18" charset="0"/>
                </a:rPr>
                <a:t>3</a:t>
              </a:r>
              <a:endParaRPr lang="en-US" altLang="zh-CN" sz="2000" b="1" dirty="0">
                <a:solidFill>
                  <a:srgbClr val="993300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04359" name="Freeform 103"/>
            <p:cNvSpPr>
              <a:spLocks/>
            </p:cNvSpPr>
            <p:nvPr/>
          </p:nvSpPr>
          <p:spPr bwMode="auto">
            <a:xfrm>
              <a:off x="4188" y="2626"/>
              <a:ext cx="531" cy="150"/>
            </a:xfrm>
            <a:custGeom>
              <a:avLst/>
              <a:gdLst>
                <a:gd name="T0" fmla="*/ 0 w 531"/>
                <a:gd name="T1" fmla="*/ 211 h 211"/>
                <a:gd name="T2" fmla="*/ 0 w 531"/>
                <a:gd name="T3" fmla="*/ 0 h 211"/>
                <a:gd name="T4" fmla="*/ 531 w 531"/>
                <a:gd name="T5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1" h="211">
                  <a:moveTo>
                    <a:pt x="0" y="211"/>
                  </a:moveTo>
                  <a:lnTo>
                    <a:pt x="0" y="0"/>
                  </a:lnTo>
                  <a:lnTo>
                    <a:pt x="53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cs typeface="Times New Roman" panose="02020603050405020304" pitchFamily="18" charset="0"/>
              </a:endParaRPr>
            </a:p>
          </p:txBody>
        </p:sp>
      </p:grpSp>
      <p:sp>
        <p:nvSpPr>
          <p:cNvPr id="99" name="灯片编号占位符 1"/>
          <p:cNvSpPr txBox="1">
            <a:spLocks/>
          </p:cNvSpPr>
          <p:nvPr/>
        </p:nvSpPr>
        <p:spPr>
          <a:xfrm>
            <a:off x="1637291" y="6116653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/>
              <a:t>17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1" name="Text Box 7"/>
          <p:cNvSpPr txBox="1">
            <a:spLocks noChangeArrowheads="1"/>
          </p:cNvSpPr>
          <p:nvPr/>
        </p:nvSpPr>
        <p:spPr bwMode="auto">
          <a:xfrm>
            <a:off x="-9526" y="0"/>
            <a:ext cx="47720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04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04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150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150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0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04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0"/>
                                        <p:tgtEl>
                                          <p:spTgt spid="150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0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0"/>
                                        <p:tgtEl>
                                          <p:spTgt spid="150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04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0"/>
                                        <p:tgtEl>
                                          <p:spTgt spid="150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0"/>
                                        <p:tgtEl>
                                          <p:spTgt spid="150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50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50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4259" grpId="0" animBg="1"/>
      <p:bldP spid="1504261" grpId="0" animBg="1"/>
      <p:bldP spid="1504262" grpId="0" animBg="1"/>
      <p:bldP spid="1504330" grpId="0"/>
      <p:bldP spid="1504331" grpId="0"/>
      <p:bldP spid="1504332" grpId="0"/>
      <p:bldP spid="1504342" grpId="0"/>
      <p:bldP spid="150434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83" name="Rectangle 3"/>
          <p:cNvSpPr>
            <a:spLocks noChangeArrowheads="1"/>
          </p:cNvSpPr>
          <p:nvPr/>
        </p:nvSpPr>
        <p:spPr bwMode="auto">
          <a:xfrm>
            <a:off x="3514725" y="5800725"/>
            <a:ext cx="3770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侧限压缩试验  </a:t>
            </a:r>
          </a:p>
        </p:txBody>
      </p:sp>
      <p:sp>
        <p:nvSpPr>
          <p:cNvPr id="1505284" name="Text Box 4"/>
          <p:cNvSpPr txBox="1">
            <a:spLocks noChangeArrowheads="1"/>
          </p:cNvSpPr>
          <p:nvPr/>
        </p:nvSpPr>
        <p:spPr bwMode="auto">
          <a:xfrm>
            <a:off x="544513" y="1585913"/>
            <a:ext cx="3932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15000"/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侧限变形（压缩）模量：</a:t>
            </a:r>
          </a:p>
        </p:txBody>
      </p:sp>
      <p:sp>
        <p:nvSpPr>
          <p:cNvPr id="1505285" name="Rectangle 5"/>
          <p:cNvSpPr>
            <a:spLocks noChangeArrowheads="1"/>
          </p:cNvSpPr>
          <p:nvPr/>
        </p:nvSpPr>
        <p:spPr bwMode="auto">
          <a:xfrm>
            <a:off x="400050" y="819150"/>
            <a:ext cx="31496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450850" indent="-4508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压缩曲线及特点</a:t>
            </a:r>
          </a:p>
        </p:txBody>
      </p:sp>
      <p:grpSp>
        <p:nvGrpSpPr>
          <p:cNvPr id="1505286" name="Group 6"/>
          <p:cNvGrpSpPr>
            <a:grpSpLocks/>
          </p:cNvGrpSpPr>
          <p:nvPr/>
        </p:nvGrpSpPr>
        <p:grpSpPr bwMode="auto">
          <a:xfrm>
            <a:off x="4792663" y="866775"/>
            <a:ext cx="4203700" cy="4672013"/>
            <a:chOff x="3029" y="546"/>
            <a:chExt cx="2648" cy="2943"/>
          </a:xfrm>
        </p:grpSpPr>
        <p:sp>
          <p:nvSpPr>
            <p:cNvPr id="1505287" name="Rectangle 7"/>
            <p:cNvSpPr>
              <a:spLocks noChangeArrowheads="1"/>
            </p:cNvSpPr>
            <p:nvPr/>
          </p:nvSpPr>
          <p:spPr bwMode="auto">
            <a:xfrm>
              <a:off x="3029" y="546"/>
              <a:ext cx="2648" cy="294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05288" name="Freeform 8"/>
            <p:cNvSpPr>
              <a:spLocks/>
            </p:cNvSpPr>
            <p:nvPr/>
          </p:nvSpPr>
          <p:spPr bwMode="auto">
            <a:xfrm>
              <a:off x="3497" y="1158"/>
              <a:ext cx="1795" cy="1900"/>
            </a:xfrm>
            <a:custGeom>
              <a:avLst/>
              <a:gdLst>
                <a:gd name="T0" fmla="*/ 0 w 1795"/>
                <a:gd name="T1" fmla="*/ 0 h 1900"/>
                <a:gd name="T2" fmla="*/ 0 w 1795"/>
                <a:gd name="T3" fmla="*/ 1900 h 1900"/>
                <a:gd name="T4" fmla="*/ 1795 w 1795"/>
                <a:gd name="T5" fmla="*/ 1900 h 1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95" h="1900">
                  <a:moveTo>
                    <a:pt x="0" y="0"/>
                  </a:moveTo>
                  <a:lnTo>
                    <a:pt x="0" y="1900"/>
                  </a:lnTo>
                  <a:lnTo>
                    <a:pt x="1795" y="190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289" name="Text Box 9"/>
            <p:cNvSpPr txBox="1">
              <a:spLocks noChangeArrowheads="1"/>
            </p:cNvSpPr>
            <p:nvPr/>
          </p:nvSpPr>
          <p:spPr bwMode="auto">
            <a:xfrm>
              <a:off x="3380" y="633"/>
              <a:ext cx="20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A50021"/>
                  </a:solidFill>
                  <a:ea typeface="幼圆" pitchFamily="49" charset="-122"/>
                </a:rPr>
                <a:t>土的一般化的压缩曲线</a:t>
              </a:r>
            </a:p>
          </p:txBody>
        </p:sp>
        <p:sp>
          <p:nvSpPr>
            <p:cNvPr id="1505290" name="Freeform 10"/>
            <p:cNvSpPr>
              <a:spLocks noChangeAspect="1"/>
            </p:cNvSpPr>
            <p:nvPr/>
          </p:nvSpPr>
          <p:spPr bwMode="auto">
            <a:xfrm>
              <a:off x="3500" y="2644"/>
              <a:ext cx="747" cy="412"/>
            </a:xfrm>
            <a:custGeom>
              <a:avLst/>
              <a:gdLst>
                <a:gd name="T0" fmla="*/ 574 w 574"/>
                <a:gd name="T1" fmla="*/ 0 h 317"/>
                <a:gd name="T2" fmla="*/ 391 w 574"/>
                <a:gd name="T3" fmla="*/ 138 h 317"/>
                <a:gd name="T4" fmla="*/ 208 w 574"/>
                <a:gd name="T5" fmla="*/ 237 h 317"/>
                <a:gd name="T6" fmla="*/ 0 w 574"/>
                <a:gd name="T7" fmla="*/ 317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4" h="317">
                  <a:moveTo>
                    <a:pt x="574" y="0"/>
                  </a:moveTo>
                  <a:cubicBezTo>
                    <a:pt x="544" y="23"/>
                    <a:pt x="452" y="99"/>
                    <a:pt x="391" y="138"/>
                  </a:cubicBezTo>
                  <a:cubicBezTo>
                    <a:pt x="330" y="177"/>
                    <a:pt x="273" y="207"/>
                    <a:pt x="208" y="237"/>
                  </a:cubicBezTo>
                  <a:cubicBezTo>
                    <a:pt x="143" y="267"/>
                    <a:pt x="43" y="300"/>
                    <a:pt x="0" y="317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291" name="Line 11"/>
            <p:cNvSpPr>
              <a:spLocks noChangeAspect="1" noChangeShapeType="1"/>
            </p:cNvSpPr>
            <p:nvPr/>
          </p:nvSpPr>
          <p:spPr bwMode="auto">
            <a:xfrm>
              <a:off x="4895" y="1263"/>
              <a:ext cx="0" cy="1792"/>
            </a:xfrm>
            <a:prstGeom prst="line">
              <a:avLst/>
            </a:prstGeom>
            <a:noFill/>
            <a:ln w="22225">
              <a:solidFill>
                <a:srgbClr val="C0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05292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2634492"/>
                </p:ext>
              </p:extLst>
            </p:nvPr>
          </p:nvGraphicFramePr>
          <p:xfrm>
            <a:off x="4711" y="3078"/>
            <a:ext cx="443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5523" name="公式" r:id="rId3" imgW="507960" imgH="419040" progId="Equation.3">
                    <p:embed/>
                  </p:oleObj>
                </mc:Choice>
                <mc:Fallback>
                  <p:oleObj name="公式" r:id="rId3" imgW="507960" imgH="41904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1" y="3078"/>
                          <a:ext cx="443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05293" name="Oval 13"/>
            <p:cNvSpPr>
              <a:spLocks noChangeAspect="1" noChangeArrowheads="1"/>
            </p:cNvSpPr>
            <p:nvPr/>
          </p:nvSpPr>
          <p:spPr bwMode="auto">
            <a:xfrm>
              <a:off x="4867" y="3042"/>
              <a:ext cx="51" cy="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C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505294" name="Freeform 14"/>
            <p:cNvSpPr>
              <a:spLocks noChangeAspect="1"/>
            </p:cNvSpPr>
            <p:nvPr/>
          </p:nvSpPr>
          <p:spPr bwMode="auto">
            <a:xfrm>
              <a:off x="4064" y="2640"/>
              <a:ext cx="191" cy="417"/>
            </a:xfrm>
            <a:custGeom>
              <a:avLst/>
              <a:gdLst>
                <a:gd name="T0" fmla="*/ 147 w 147"/>
                <a:gd name="T1" fmla="*/ 0 h 321"/>
                <a:gd name="T2" fmla="*/ 126 w 147"/>
                <a:gd name="T3" fmla="*/ 111 h 321"/>
                <a:gd name="T4" fmla="*/ 99 w 147"/>
                <a:gd name="T5" fmla="*/ 185 h 321"/>
                <a:gd name="T6" fmla="*/ 61 w 147"/>
                <a:gd name="T7" fmla="*/ 250 h 321"/>
                <a:gd name="T8" fmla="*/ 0 w 147"/>
                <a:gd name="T9" fmla="*/ 321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321">
                  <a:moveTo>
                    <a:pt x="147" y="0"/>
                  </a:moveTo>
                  <a:cubicBezTo>
                    <a:pt x="138" y="36"/>
                    <a:pt x="135" y="88"/>
                    <a:pt x="126" y="111"/>
                  </a:cubicBezTo>
                  <a:cubicBezTo>
                    <a:pt x="117" y="134"/>
                    <a:pt x="108" y="164"/>
                    <a:pt x="99" y="185"/>
                  </a:cubicBezTo>
                  <a:cubicBezTo>
                    <a:pt x="90" y="206"/>
                    <a:pt x="77" y="227"/>
                    <a:pt x="61" y="250"/>
                  </a:cubicBezTo>
                  <a:cubicBezTo>
                    <a:pt x="45" y="273"/>
                    <a:pt x="13" y="306"/>
                    <a:pt x="0" y="321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295" name="Freeform 15"/>
            <p:cNvSpPr>
              <a:spLocks noChangeAspect="1"/>
            </p:cNvSpPr>
            <p:nvPr/>
          </p:nvSpPr>
          <p:spPr bwMode="auto">
            <a:xfrm>
              <a:off x="4066" y="1331"/>
              <a:ext cx="734" cy="1717"/>
            </a:xfrm>
            <a:custGeom>
              <a:avLst/>
              <a:gdLst>
                <a:gd name="T0" fmla="*/ 564 w 564"/>
                <a:gd name="T1" fmla="*/ 0 h 1320"/>
                <a:gd name="T2" fmla="*/ 550 w 564"/>
                <a:gd name="T3" fmla="*/ 94 h 1320"/>
                <a:gd name="T4" fmla="*/ 537 w 564"/>
                <a:gd name="T5" fmla="*/ 183 h 1320"/>
                <a:gd name="T6" fmla="*/ 502 w 564"/>
                <a:gd name="T7" fmla="*/ 361 h 1320"/>
                <a:gd name="T8" fmla="*/ 445 w 564"/>
                <a:gd name="T9" fmla="*/ 523 h 1320"/>
                <a:gd name="T10" fmla="*/ 370 w 564"/>
                <a:gd name="T11" fmla="*/ 700 h 1320"/>
                <a:gd name="T12" fmla="*/ 271 w 564"/>
                <a:gd name="T13" fmla="*/ 861 h 1320"/>
                <a:gd name="T14" fmla="*/ 172 w 564"/>
                <a:gd name="T15" fmla="*/ 994 h 1320"/>
                <a:gd name="T16" fmla="*/ 106 w 564"/>
                <a:gd name="T17" fmla="*/ 1077 h 1320"/>
                <a:gd name="T18" fmla="*/ 69 w 564"/>
                <a:gd name="T19" fmla="*/ 1141 h 1320"/>
                <a:gd name="T20" fmla="*/ 34 w 564"/>
                <a:gd name="T21" fmla="*/ 1219 h 1320"/>
                <a:gd name="T22" fmla="*/ 0 w 564"/>
                <a:gd name="T23" fmla="*/ 1320 h 1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4" h="1320">
                  <a:moveTo>
                    <a:pt x="564" y="0"/>
                  </a:moveTo>
                  <a:cubicBezTo>
                    <a:pt x="561" y="1"/>
                    <a:pt x="555" y="63"/>
                    <a:pt x="550" y="94"/>
                  </a:cubicBezTo>
                  <a:cubicBezTo>
                    <a:pt x="546" y="124"/>
                    <a:pt x="545" y="139"/>
                    <a:pt x="537" y="183"/>
                  </a:cubicBezTo>
                  <a:cubicBezTo>
                    <a:pt x="527" y="243"/>
                    <a:pt x="517" y="304"/>
                    <a:pt x="502" y="361"/>
                  </a:cubicBezTo>
                  <a:cubicBezTo>
                    <a:pt x="487" y="418"/>
                    <a:pt x="467" y="467"/>
                    <a:pt x="445" y="523"/>
                  </a:cubicBezTo>
                  <a:cubicBezTo>
                    <a:pt x="423" y="579"/>
                    <a:pt x="399" y="644"/>
                    <a:pt x="370" y="700"/>
                  </a:cubicBezTo>
                  <a:cubicBezTo>
                    <a:pt x="341" y="756"/>
                    <a:pt x="304" y="812"/>
                    <a:pt x="271" y="861"/>
                  </a:cubicBezTo>
                  <a:cubicBezTo>
                    <a:pt x="238" y="910"/>
                    <a:pt x="199" y="958"/>
                    <a:pt x="172" y="994"/>
                  </a:cubicBezTo>
                  <a:cubicBezTo>
                    <a:pt x="145" y="1030"/>
                    <a:pt x="123" y="1053"/>
                    <a:pt x="106" y="1077"/>
                  </a:cubicBezTo>
                  <a:cubicBezTo>
                    <a:pt x="97" y="1100"/>
                    <a:pt x="78" y="1120"/>
                    <a:pt x="69" y="1141"/>
                  </a:cubicBezTo>
                  <a:cubicBezTo>
                    <a:pt x="60" y="1162"/>
                    <a:pt x="45" y="1189"/>
                    <a:pt x="34" y="1219"/>
                  </a:cubicBezTo>
                  <a:cubicBezTo>
                    <a:pt x="23" y="1249"/>
                    <a:pt x="7" y="1299"/>
                    <a:pt x="0" y="1320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5296" name="Freeform 16"/>
            <p:cNvSpPr>
              <a:spLocks/>
            </p:cNvSpPr>
            <p:nvPr/>
          </p:nvSpPr>
          <p:spPr bwMode="auto">
            <a:xfrm>
              <a:off x="4073" y="2072"/>
              <a:ext cx="422" cy="998"/>
            </a:xfrm>
            <a:custGeom>
              <a:avLst/>
              <a:gdLst>
                <a:gd name="T0" fmla="*/ 0 w 406"/>
                <a:gd name="T1" fmla="*/ 954 h 954"/>
                <a:gd name="T2" fmla="*/ 406 w 406"/>
                <a:gd name="T3" fmla="*/ 0 h 954"/>
                <a:gd name="connsiteX0" fmla="*/ 0 w 10394"/>
                <a:gd name="connsiteY0" fmla="*/ 10461 h 10461"/>
                <a:gd name="connsiteX1" fmla="*/ 10394 w 10394"/>
                <a:gd name="connsiteY1" fmla="*/ 0 h 10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94" h="10461">
                  <a:moveTo>
                    <a:pt x="0" y="10461"/>
                  </a:moveTo>
                  <a:lnTo>
                    <a:pt x="10394" y="0"/>
                  </a:lnTo>
                </a:path>
              </a:pathLst>
            </a:custGeom>
            <a:noFill/>
            <a:ln w="19050" cap="flat" cmpd="sng">
              <a:solidFill>
                <a:srgbClr val="0066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05297" name="Group 17"/>
            <p:cNvGrpSpPr>
              <a:grpSpLocks/>
            </p:cNvGrpSpPr>
            <p:nvPr/>
          </p:nvGrpSpPr>
          <p:grpSpPr bwMode="auto">
            <a:xfrm>
              <a:off x="3635" y="2500"/>
              <a:ext cx="460" cy="411"/>
              <a:chOff x="918" y="3047"/>
              <a:chExt cx="460" cy="411"/>
            </a:xfrm>
          </p:grpSpPr>
          <p:grpSp>
            <p:nvGrpSpPr>
              <p:cNvPr id="1505298" name="Group 18"/>
              <p:cNvGrpSpPr>
                <a:grpSpLocks noChangeAspect="1"/>
              </p:cNvGrpSpPr>
              <p:nvPr/>
            </p:nvGrpSpPr>
            <p:grpSpPr bwMode="auto">
              <a:xfrm>
                <a:off x="1190" y="3311"/>
                <a:ext cx="184" cy="116"/>
                <a:chOff x="3695" y="3067"/>
                <a:chExt cx="92" cy="58"/>
              </a:xfrm>
            </p:grpSpPr>
            <p:sp>
              <p:nvSpPr>
                <p:cNvPr id="1505299" name="Line 19"/>
                <p:cNvSpPr>
                  <a:spLocks noChangeAspect="1" noChangeShapeType="1"/>
                </p:cNvSpPr>
                <p:nvPr/>
              </p:nvSpPr>
              <p:spPr bwMode="auto">
                <a:xfrm>
                  <a:off x="3696" y="3067"/>
                  <a:ext cx="91" cy="0"/>
                </a:xfrm>
                <a:prstGeom prst="line">
                  <a:avLst/>
                </a:prstGeom>
                <a:noFill/>
                <a:ln w="19050">
                  <a:solidFill>
                    <a:srgbClr val="99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300" name="Freeform 20"/>
                <p:cNvSpPr>
                  <a:spLocks noChangeAspect="1"/>
                </p:cNvSpPr>
                <p:nvPr/>
              </p:nvSpPr>
              <p:spPr bwMode="auto">
                <a:xfrm>
                  <a:off x="3695" y="3067"/>
                  <a:ext cx="1" cy="58"/>
                </a:xfrm>
                <a:custGeom>
                  <a:avLst/>
                  <a:gdLst>
                    <a:gd name="T0" fmla="*/ 1 w 1"/>
                    <a:gd name="T1" fmla="*/ 0 h 58"/>
                    <a:gd name="T2" fmla="*/ 0 w 1"/>
                    <a:gd name="T3" fmla="*/ 58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8">
                      <a:moveTo>
                        <a:pt x="1" y="0"/>
                      </a:moveTo>
                      <a:lnTo>
                        <a:pt x="0" y="58"/>
                      </a:lnTo>
                    </a:path>
                  </a:pathLst>
                </a:custGeom>
                <a:noFill/>
                <a:ln w="19050" cap="flat" cmpd="sng">
                  <a:solidFill>
                    <a:srgbClr val="9933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05301" name="Text Box 21"/>
              <p:cNvSpPr txBox="1">
                <a:spLocks noChangeArrowheads="1"/>
              </p:cNvSpPr>
              <p:nvPr/>
            </p:nvSpPr>
            <p:spPr bwMode="auto">
              <a:xfrm>
                <a:off x="1166" y="3047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宋体" charset="-122"/>
                    <a:sym typeface="Symbol" pitchFamily="18" charset="2"/>
                  </a:rPr>
                  <a:t>1</a:t>
                </a:r>
              </a:p>
            </p:txBody>
          </p:sp>
          <p:sp>
            <p:nvSpPr>
              <p:cNvPr id="1505302" name="Text Box 22"/>
              <p:cNvSpPr txBox="1">
                <a:spLocks noChangeArrowheads="1"/>
              </p:cNvSpPr>
              <p:nvPr/>
            </p:nvSpPr>
            <p:spPr bwMode="auto">
              <a:xfrm>
                <a:off x="918" y="3170"/>
                <a:ext cx="29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 i="1" dirty="0" err="1">
                    <a:solidFill>
                      <a:srgbClr val="000000"/>
                    </a:solidFill>
                    <a:sym typeface="Symbol" pitchFamily="18" charset="2"/>
                  </a:rPr>
                  <a:t>E</a:t>
                </a:r>
                <a:r>
                  <a:rPr kumimoji="1" lang="en-US" altLang="zh-CN" sz="2400" b="1" baseline="-25000" dirty="0" err="1">
                    <a:solidFill>
                      <a:srgbClr val="000000"/>
                    </a:solidFill>
                    <a:sym typeface="Symbol" pitchFamily="18" charset="2"/>
                  </a:rPr>
                  <a:t>s</a:t>
                </a:r>
                <a:endParaRPr kumimoji="1" lang="en-US" altLang="zh-CN" sz="2400" b="1" baseline="-25000" dirty="0">
                  <a:solidFill>
                    <a:srgbClr val="000000"/>
                  </a:solidFill>
                  <a:sym typeface="Symbol" pitchFamily="18" charset="2"/>
                </a:endParaRPr>
              </a:p>
            </p:txBody>
          </p:sp>
        </p:grpSp>
        <p:grpSp>
          <p:nvGrpSpPr>
            <p:cNvPr id="1505303" name="Group 23"/>
            <p:cNvGrpSpPr>
              <a:grpSpLocks/>
            </p:cNvGrpSpPr>
            <p:nvPr/>
          </p:nvGrpSpPr>
          <p:grpSpPr bwMode="auto">
            <a:xfrm>
              <a:off x="4018" y="1852"/>
              <a:ext cx="456" cy="716"/>
              <a:chOff x="1301" y="2399"/>
              <a:chExt cx="456" cy="716"/>
            </a:xfrm>
          </p:grpSpPr>
          <p:grpSp>
            <p:nvGrpSpPr>
              <p:cNvPr id="1505304" name="Group 24"/>
              <p:cNvGrpSpPr>
                <a:grpSpLocks noChangeAspect="1"/>
              </p:cNvGrpSpPr>
              <p:nvPr/>
            </p:nvGrpSpPr>
            <p:grpSpPr bwMode="auto">
              <a:xfrm>
                <a:off x="1570" y="2666"/>
                <a:ext cx="181" cy="449"/>
                <a:chOff x="4028" y="2612"/>
                <a:chExt cx="91" cy="226"/>
              </a:xfrm>
            </p:grpSpPr>
            <p:sp>
              <p:nvSpPr>
                <p:cNvPr id="1505305" name="Line 25"/>
                <p:cNvSpPr>
                  <a:spLocks noChangeAspect="1" noChangeShapeType="1"/>
                </p:cNvSpPr>
                <p:nvPr/>
              </p:nvSpPr>
              <p:spPr bwMode="auto">
                <a:xfrm>
                  <a:off x="4028" y="2612"/>
                  <a:ext cx="0" cy="226"/>
                </a:xfrm>
                <a:prstGeom prst="line">
                  <a:avLst/>
                </a:prstGeom>
                <a:noFill/>
                <a:ln w="19050">
                  <a:solidFill>
                    <a:srgbClr val="99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05306" name="Line 26"/>
                <p:cNvSpPr>
                  <a:spLocks noChangeAspect="1" noChangeShapeType="1"/>
                </p:cNvSpPr>
                <p:nvPr/>
              </p:nvSpPr>
              <p:spPr bwMode="auto">
                <a:xfrm>
                  <a:off x="4028" y="2612"/>
                  <a:ext cx="91" cy="0"/>
                </a:xfrm>
                <a:prstGeom prst="line">
                  <a:avLst/>
                </a:prstGeom>
                <a:noFill/>
                <a:ln w="19050">
                  <a:solidFill>
                    <a:srgbClr val="99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05307" name="Text Box 27"/>
              <p:cNvSpPr txBox="1">
                <a:spLocks noChangeArrowheads="1"/>
              </p:cNvSpPr>
              <p:nvPr/>
            </p:nvSpPr>
            <p:spPr bwMode="auto">
              <a:xfrm>
                <a:off x="1545" y="2399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宋体" charset="-122"/>
                    <a:sym typeface="Symbol" pitchFamily="18" charset="2"/>
                  </a:rPr>
                  <a:t>1</a:t>
                </a:r>
              </a:p>
            </p:txBody>
          </p:sp>
          <p:sp>
            <p:nvSpPr>
              <p:cNvPr id="1505308" name="Text Box 28"/>
              <p:cNvSpPr txBox="1">
                <a:spLocks noChangeArrowheads="1"/>
              </p:cNvSpPr>
              <p:nvPr/>
            </p:nvSpPr>
            <p:spPr bwMode="auto">
              <a:xfrm>
                <a:off x="1301" y="2666"/>
                <a:ext cx="30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 i="1" dirty="0" err="1">
                    <a:solidFill>
                      <a:srgbClr val="000000"/>
                    </a:solidFill>
                    <a:sym typeface="Symbol" pitchFamily="18" charset="2"/>
                  </a:rPr>
                  <a:t>E</a:t>
                </a:r>
                <a:r>
                  <a:rPr kumimoji="1" lang="en-US" altLang="zh-CN" sz="2400" b="1" baseline="-25000" dirty="0" err="1">
                    <a:solidFill>
                      <a:srgbClr val="000000"/>
                    </a:solidFill>
                    <a:sym typeface="Symbol" pitchFamily="18" charset="2"/>
                  </a:rPr>
                  <a:t>e</a:t>
                </a:r>
                <a:endParaRPr kumimoji="1" lang="en-US" altLang="zh-CN" sz="2400" b="1" baseline="-25000" dirty="0">
                  <a:solidFill>
                    <a:srgbClr val="000000"/>
                  </a:solidFill>
                  <a:sym typeface="Symbol" pitchFamily="18" charset="2"/>
                </a:endParaRPr>
              </a:p>
            </p:txBody>
          </p:sp>
        </p:grpSp>
        <p:sp>
          <p:nvSpPr>
            <p:cNvPr id="1505309" name="Text Box 29"/>
            <p:cNvSpPr txBox="1">
              <a:spLocks noChangeArrowheads="1"/>
            </p:cNvSpPr>
            <p:nvPr/>
          </p:nvSpPr>
          <p:spPr bwMode="auto">
            <a:xfrm>
              <a:off x="3570" y="1085"/>
              <a:ext cx="6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8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en-US" altLang="zh-CN" sz="2800" b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 </a:t>
              </a:r>
              <a:r>
                <a:rPr lang="en-US" altLang="zh-CN" sz="28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endParaRPr lang="en-US" altLang="zh-CN" sz="28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05310" name="Text Box 30"/>
            <p:cNvSpPr txBox="1">
              <a:spLocks noChangeArrowheads="1"/>
            </p:cNvSpPr>
            <p:nvPr/>
          </p:nvSpPr>
          <p:spPr bwMode="auto">
            <a:xfrm>
              <a:off x="5252" y="2858"/>
              <a:ext cx="2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</a:t>
              </a:r>
              <a:r>
                <a:rPr lang="en-US" altLang="zh-CN" sz="28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8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505311" name="Text Box 31"/>
          <p:cNvSpPr txBox="1">
            <a:spLocks noChangeArrowheads="1"/>
          </p:cNvSpPr>
          <p:nvPr/>
        </p:nvSpPr>
        <p:spPr bwMode="auto">
          <a:xfrm>
            <a:off x="2555875" y="4279900"/>
            <a:ext cx="1149350" cy="968375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非线性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弹塑性</a:t>
            </a:r>
          </a:p>
        </p:txBody>
      </p:sp>
      <p:grpSp>
        <p:nvGrpSpPr>
          <p:cNvPr id="1505312" name="Group 32"/>
          <p:cNvGrpSpPr>
            <a:grpSpLocks/>
          </p:cNvGrpSpPr>
          <p:nvPr/>
        </p:nvGrpSpPr>
        <p:grpSpPr bwMode="auto">
          <a:xfrm>
            <a:off x="942975" y="2287587"/>
            <a:ext cx="2520950" cy="977899"/>
            <a:chOff x="594" y="1441"/>
            <a:chExt cx="1588" cy="616"/>
          </a:xfrm>
        </p:grpSpPr>
        <p:graphicFrame>
          <p:nvGraphicFramePr>
            <p:cNvPr id="1505313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2073488"/>
                </p:ext>
              </p:extLst>
            </p:nvPr>
          </p:nvGraphicFramePr>
          <p:xfrm>
            <a:off x="1303" y="1441"/>
            <a:ext cx="879" cy="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5524" name="Microsoft 公式 3.0" r:id="rId5" imgW="634680" imgH="444240" progId="Equation.3">
                    <p:embed/>
                  </p:oleObj>
                </mc:Choice>
                <mc:Fallback>
                  <p:oleObj name="Microsoft 公式 3.0" r:id="rId5" imgW="634680" imgH="44424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3" y="1441"/>
                          <a:ext cx="879" cy="6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05314" name="Text Box 34"/>
            <p:cNvSpPr txBox="1">
              <a:spLocks noChangeArrowheads="1"/>
            </p:cNvSpPr>
            <p:nvPr/>
          </p:nvSpPr>
          <p:spPr bwMode="auto">
            <a:xfrm>
              <a:off x="594" y="1598"/>
              <a:ext cx="7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加载：</a:t>
              </a:r>
            </a:p>
          </p:txBody>
        </p:sp>
      </p:grpSp>
      <p:grpSp>
        <p:nvGrpSpPr>
          <p:cNvPr id="1505315" name="Group 35"/>
          <p:cNvGrpSpPr>
            <a:grpSpLocks/>
          </p:cNvGrpSpPr>
          <p:nvPr/>
        </p:nvGrpSpPr>
        <p:grpSpPr bwMode="auto">
          <a:xfrm>
            <a:off x="960438" y="3119437"/>
            <a:ext cx="3738562" cy="977899"/>
            <a:chOff x="605" y="1965"/>
            <a:chExt cx="2355" cy="616"/>
          </a:xfrm>
        </p:grpSpPr>
        <p:graphicFrame>
          <p:nvGraphicFramePr>
            <p:cNvPr id="1505316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8276199"/>
                </p:ext>
              </p:extLst>
            </p:nvPr>
          </p:nvGraphicFramePr>
          <p:xfrm>
            <a:off x="2062" y="1965"/>
            <a:ext cx="898" cy="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5525" name="Microsoft 公式 3.0" r:id="rId7" imgW="647640" imgH="444240" progId="Equation.3">
                    <p:embed/>
                  </p:oleObj>
                </mc:Choice>
                <mc:Fallback>
                  <p:oleObj name="Microsoft 公式 3.0" r:id="rId7" imgW="647640" imgH="44424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2" y="1965"/>
                          <a:ext cx="898" cy="6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05317" name="Text Box 37"/>
            <p:cNvSpPr txBox="1">
              <a:spLocks noChangeArrowheads="1"/>
            </p:cNvSpPr>
            <p:nvPr/>
          </p:nvSpPr>
          <p:spPr bwMode="auto">
            <a:xfrm>
              <a:off x="605" y="2102"/>
              <a:ext cx="15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卸载和重加载：</a:t>
              </a:r>
            </a:p>
          </p:txBody>
        </p:sp>
      </p:grpSp>
      <p:sp>
        <p:nvSpPr>
          <p:cNvPr id="1505318" name="AutoShape 38"/>
          <p:cNvSpPr>
            <a:spLocks noChangeArrowheads="1"/>
          </p:cNvSpPr>
          <p:nvPr/>
        </p:nvSpPr>
        <p:spPr bwMode="auto">
          <a:xfrm>
            <a:off x="1725613" y="4564063"/>
            <a:ext cx="560387" cy="457200"/>
          </a:xfrm>
          <a:prstGeom prst="homePlate">
            <a:avLst>
              <a:gd name="adj" fmla="val 3064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4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-9526" y="0"/>
            <a:ext cx="47720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05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05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50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0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505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505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505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05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50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505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505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284" grpId="0"/>
      <p:bldP spid="1505285" grpId="0"/>
      <p:bldP spid="1505311" grpId="0" animBg="1"/>
      <p:bldP spid="15053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815" name="Text Box 143"/>
          <p:cNvSpPr txBox="1">
            <a:spLocks noChangeArrowheads="1"/>
          </p:cNvSpPr>
          <p:nvPr/>
        </p:nvSpPr>
        <p:spPr bwMode="auto">
          <a:xfrm>
            <a:off x="549275" y="846138"/>
            <a:ext cx="8394700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9378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3037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6696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300355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6075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795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7515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3235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1325" marR="0" lvl="0" indent="-441325" algn="l" defTabSz="914400" rtl="0" eaLnBrk="1" fontAlgn="base" latinLnBrk="0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Casagrande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等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1930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年首先使用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Times New Roman" panose="02020603050405020304" pitchFamily="18" charset="0"/>
              <a:sym typeface="Wingdings 2" pitchFamily="18" charset="2"/>
            </a:endParaRPr>
          </a:p>
          <a:p>
            <a:pPr marL="441325" marR="0" lvl="0" indent="-441325" algn="l" defTabSz="914400" rtl="0" eaLnBrk="1" fontAlgn="base" latinLnBrk="0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Wingdings 2" pitchFamily="18" charset="2"/>
              </a:rPr>
              <a:t>试样采用圆柱形土样，用橡皮膜包裹，放在密封压力室的压力水中，施加轴向力，应力状态明确；变形量测简单</a:t>
            </a:r>
          </a:p>
          <a:p>
            <a:pPr marL="441325" marR="0" lvl="0" indent="-441325" algn="l" defTabSz="914400" rtl="0" eaLnBrk="1" fontAlgn="base" latinLnBrk="0" hangingPunct="1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Wingdings 2" pitchFamily="18" charset="2"/>
              </a:rPr>
              <a:t>可控制排水条件；可完整的描述试样受力、变形和破坏的全过程；可进行不同应力路径的试验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Times New Roman" panose="02020603050405020304" pitchFamily="18" charset="0"/>
              <a:sym typeface="Wingdings 2" pitchFamily="18" charset="2"/>
            </a:endParaRPr>
          </a:p>
        </p:txBody>
      </p:sp>
      <p:sp>
        <p:nvSpPr>
          <p:cNvPr id="1436816" name="AutoShape 144"/>
          <p:cNvSpPr>
            <a:spLocks noChangeArrowheads="1"/>
          </p:cNvSpPr>
          <p:nvPr/>
        </p:nvSpPr>
        <p:spPr bwMode="auto">
          <a:xfrm>
            <a:off x="823913" y="3597275"/>
            <a:ext cx="476250" cy="461963"/>
          </a:xfrm>
          <a:prstGeom prst="homePlate">
            <a:avLst>
              <a:gd name="adj" fmla="val 25773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6817" name="Text Box 145"/>
          <p:cNvSpPr txBox="1">
            <a:spLocks noChangeArrowheads="1"/>
          </p:cNvSpPr>
          <p:nvPr/>
        </p:nvSpPr>
        <p:spPr bwMode="auto">
          <a:xfrm>
            <a:off x="1379538" y="3657600"/>
            <a:ext cx="751681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533400" indent="-5334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533400" marR="0" lvl="0" indent="-53340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三轴：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同“单轴”对应，表明土样在三个方向受力</a:t>
            </a:r>
          </a:p>
          <a:p>
            <a:pPr marL="533400" marR="0" lvl="0" indent="-53340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常规：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同“真”对应，表明土样在两个方向受到相同压力（室压力）的作用，并非真正的三轴应力</a:t>
            </a:r>
          </a:p>
        </p:txBody>
      </p:sp>
      <p:sp>
        <p:nvSpPr>
          <p:cNvPr id="1436818" name="Text Box 146"/>
          <p:cNvSpPr txBox="1">
            <a:spLocks noChangeArrowheads="1"/>
          </p:cNvSpPr>
          <p:nvPr/>
        </p:nvSpPr>
        <p:spPr bwMode="auto">
          <a:xfrm>
            <a:off x="3054350" y="5757863"/>
            <a:ext cx="42608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常规三轴压缩试验</a:t>
            </a: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078330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1436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14368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14368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43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368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36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36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6815" grpId="0" build="p"/>
      <p:bldP spid="1436816" grpId="0" animBg="1"/>
      <p:bldP spid="14368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4" name="Rectangle 24"/>
          <p:cNvSpPr>
            <a:spLocks noChangeArrowheads="1"/>
          </p:cNvSpPr>
          <p:nvPr/>
        </p:nvSpPr>
        <p:spPr bwMode="auto">
          <a:xfrm>
            <a:off x="0" y="795338"/>
            <a:ext cx="9144000" cy="5881687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3656" name="Rectangle 56"/>
          <p:cNvSpPr>
            <a:spLocks noChangeArrowheads="1"/>
          </p:cNvSpPr>
          <p:nvPr/>
        </p:nvSpPr>
        <p:spPr bwMode="auto">
          <a:xfrm>
            <a:off x="198438" y="2044700"/>
            <a:ext cx="2620962" cy="623888"/>
          </a:xfrm>
          <a:prstGeom prst="rect">
            <a:avLst/>
          </a:prstGeom>
          <a:solidFill>
            <a:srgbClr val="FFD7AF"/>
          </a:solidFill>
          <a:ln w="12700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3625" name="Text Box 25"/>
          <p:cNvSpPr txBox="1">
            <a:spLocks noChangeArrowheads="1"/>
          </p:cNvSpPr>
          <p:nvPr/>
        </p:nvSpPr>
        <p:spPr bwMode="auto">
          <a:xfrm>
            <a:off x="201613" y="1958975"/>
            <a:ext cx="2592387" cy="177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5000"/>
              </a:lnSpc>
              <a:spcBef>
                <a:spcPct val="15000"/>
              </a:spcBef>
              <a:spcAft>
                <a:spcPct val="15000"/>
              </a:spcAft>
              <a:buClrTx/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 主机系统</a:t>
            </a:r>
          </a:p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 稳压调压系统</a:t>
            </a:r>
          </a:p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 量测系统 </a:t>
            </a:r>
          </a:p>
        </p:txBody>
      </p:sp>
      <p:pic>
        <p:nvPicPr>
          <p:cNvPr id="1433626" name="Picture 26" descr="三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975" y="790575"/>
            <a:ext cx="5502275" cy="587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3627" name="Rectangle 27"/>
          <p:cNvSpPr>
            <a:spLocks noChangeArrowheads="1"/>
          </p:cNvSpPr>
          <p:nvPr/>
        </p:nvSpPr>
        <p:spPr bwMode="auto">
          <a:xfrm>
            <a:off x="522288" y="5029200"/>
            <a:ext cx="2470150" cy="97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常规三轴</a:t>
            </a:r>
            <a:b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</a:b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压缩试验仪</a:t>
            </a:r>
          </a:p>
        </p:txBody>
      </p:sp>
      <p:grpSp>
        <p:nvGrpSpPr>
          <p:cNvPr id="1433642" name="Group 42"/>
          <p:cNvGrpSpPr>
            <a:grpSpLocks/>
          </p:cNvGrpSpPr>
          <p:nvPr/>
        </p:nvGrpSpPr>
        <p:grpSpPr bwMode="auto">
          <a:xfrm>
            <a:off x="3440113" y="782638"/>
            <a:ext cx="3648075" cy="4802187"/>
            <a:chOff x="2197" y="463"/>
            <a:chExt cx="2241" cy="3025"/>
          </a:xfrm>
        </p:grpSpPr>
        <p:sp>
          <p:nvSpPr>
            <p:cNvPr id="1433643" name="Text Box 43"/>
            <p:cNvSpPr txBox="1">
              <a:spLocks noChangeArrowheads="1"/>
            </p:cNvSpPr>
            <p:nvPr/>
          </p:nvSpPr>
          <p:spPr bwMode="auto">
            <a:xfrm>
              <a:off x="2206" y="1827"/>
              <a:ext cx="6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压力室</a:t>
              </a:r>
            </a:p>
          </p:txBody>
        </p:sp>
        <p:sp>
          <p:nvSpPr>
            <p:cNvPr id="1433644" name="Text Box 44"/>
            <p:cNvSpPr txBox="1">
              <a:spLocks noChangeArrowheads="1"/>
            </p:cNvSpPr>
            <p:nvPr/>
          </p:nvSpPr>
          <p:spPr bwMode="auto">
            <a:xfrm>
              <a:off x="3760" y="1137"/>
              <a:ext cx="67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压力室</a:t>
              </a:r>
              <a:b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</a:b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底座</a:t>
              </a:r>
            </a:p>
          </p:txBody>
        </p:sp>
        <p:sp>
          <p:nvSpPr>
            <p:cNvPr id="1433645" name="Text Box 45"/>
            <p:cNvSpPr txBox="1">
              <a:spLocks noChangeArrowheads="1"/>
            </p:cNvSpPr>
            <p:nvPr/>
          </p:nvSpPr>
          <p:spPr bwMode="auto">
            <a:xfrm>
              <a:off x="3013" y="3200"/>
              <a:ext cx="8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主机马达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endParaRPr>
            </a:p>
          </p:txBody>
        </p:sp>
        <p:sp>
          <p:nvSpPr>
            <p:cNvPr id="1433646" name="Text Box 46"/>
            <p:cNvSpPr txBox="1">
              <a:spLocks noChangeArrowheads="1"/>
            </p:cNvSpPr>
            <p:nvPr/>
          </p:nvSpPr>
          <p:spPr bwMode="auto">
            <a:xfrm>
              <a:off x="3834" y="463"/>
              <a:ext cx="490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主机</a:t>
              </a:r>
              <a:b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</a:b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框架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endParaRPr>
            </a:p>
          </p:txBody>
        </p:sp>
        <p:sp>
          <p:nvSpPr>
            <p:cNvPr id="1433647" name="Text Box 47"/>
            <p:cNvSpPr txBox="1">
              <a:spLocks noChangeArrowheads="1"/>
            </p:cNvSpPr>
            <p:nvPr/>
          </p:nvSpPr>
          <p:spPr bwMode="auto">
            <a:xfrm>
              <a:off x="2197" y="2242"/>
              <a:ext cx="6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离合器</a:t>
              </a:r>
            </a:p>
          </p:txBody>
        </p:sp>
        <p:sp>
          <p:nvSpPr>
            <p:cNvPr id="1433648" name="Line 48"/>
            <p:cNvSpPr>
              <a:spLocks noChangeShapeType="1"/>
            </p:cNvSpPr>
            <p:nvPr/>
          </p:nvSpPr>
          <p:spPr bwMode="auto">
            <a:xfrm flipV="1">
              <a:off x="3504" y="1440"/>
              <a:ext cx="365" cy="25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3649" name="Line 49"/>
            <p:cNvSpPr>
              <a:spLocks noChangeShapeType="1"/>
            </p:cNvSpPr>
            <p:nvPr/>
          </p:nvSpPr>
          <p:spPr bwMode="auto">
            <a:xfrm flipV="1">
              <a:off x="3686" y="960"/>
              <a:ext cx="202" cy="192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3650" name="Line 50"/>
            <p:cNvSpPr>
              <a:spLocks noChangeShapeType="1"/>
            </p:cNvSpPr>
            <p:nvPr/>
          </p:nvSpPr>
          <p:spPr bwMode="auto">
            <a:xfrm flipV="1">
              <a:off x="2880" y="2102"/>
              <a:ext cx="594" cy="308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</p:grpSp>
      <p:sp>
        <p:nvSpPr>
          <p:cNvPr id="1433654" name="Freeform 54"/>
          <p:cNvSpPr>
            <a:spLocks/>
          </p:cNvSpPr>
          <p:nvPr/>
        </p:nvSpPr>
        <p:spPr bwMode="auto">
          <a:xfrm>
            <a:off x="4389438" y="2247900"/>
            <a:ext cx="914400" cy="255588"/>
          </a:xfrm>
          <a:custGeom>
            <a:avLst/>
            <a:gdLst>
              <a:gd name="T0" fmla="*/ 0 w 576"/>
              <a:gd name="T1" fmla="*/ 7 h 161"/>
              <a:gd name="T2" fmla="*/ 307 w 576"/>
              <a:gd name="T3" fmla="*/ 26 h 161"/>
              <a:gd name="T4" fmla="*/ 576 w 576"/>
              <a:gd name="T5" fmla="*/ 161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6" h="161">
                <a:moveTo>
                  <a:pt x="0" y="7"/>
                </a:moveTo>
                <a:cubicBezTo>
                  <a:pt x="105" y="3"/>
                  <a:pt x="211" y="0"/>
                  <a:pt x="307" y="26"/>
                </a:cubicBezTo>
                <a:cubicBezTo>
                  <a:pt x="403" y="52"/>
                  <a:pt x="489" y="106"/>
                  <a:pt x="576" y="161"/>
                </a:cubicBezTo>
              </a:path>
            </a:pathLst>
          </a:custGeom>
          <a:noFill/>
          <a:ln w="38100" cmpd="sng">
            <a:solidFill>
              <a:srgbClr val="333399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3655" name="Text Box 55"/>
          <p:cNvSpPr txBox="1">
            <a:spLocks noChangeArrowheads="1"/>
          </p:cNvSpPr>
          <p:nvPr/>
        </p:nvSpPr>
        <p:spPr bwMode="auto">
          <a:xfrm>
            <a:off x="320675" y="1068388"/>
            <a:ext cx="2497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仪器组成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+mn-cs"/>
            </a:endParaRPr>
          </a:p>
        </p:txBody>
      </p:sp>
      <p:sp>
        <p:nvSpPr>
          <p:cNvPr id="20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081726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33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433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5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756" name="Rectangle 4"/>
          <p:cNvSpPr>
            <a:spLocks noChangeArrowheads="1"/>
          </p:cNvSpPr>
          <p:nvPr/>
        </p:nvSpPr>
        <p:spPr bwMode="auto">
          <a:xfrm>
            <a:off x="0" y="795338"/>
            <a:ext cx="9144000" cy="5881687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82757" name="Rectangle 5"/>
          <p:cNvSpPr>
            <a:spLocks noChangeArrowheads="1"/>
          </p:cNvSpPr>
          <p:nvPr/>
        </p:nvSpPr>
        <p:spPr bwMode="auto">
          <a:xfrm>
            <a:off x="198438" y="2632075"/>
            <a:ext cx="2620962" cy="623888"/>
          </a:xfrm>
          <a:prstGeom prst="rect">
            <a:avLst/>
          </a:prstGeom>
          <a:solidFill>
            <a:srgbClr val="FFD7AF"/>
          </a:solidFill>
          <a:ln w="12700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82759" name="Text Box 7"/>
          <p:cNvSpPr txBox="1">
            <a:spLocks noChangeArrowheads="1"/>
          </p:cNvSpPr>
          <p:nvPr/>
        </p:nvSpPr>
        <p:spPr bwMode="auto">
          <a:xfrm>
            <a:off x="201613" y="1958975"/>
            <a:ext cx="2592387" cy="177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5000"/>
              </a:lnSpc>
              <a:spcBef>
                <a:spcPct val="15000"/>
              </a:spcBef>
              <a:spcAft>
                <a:spcPct val="15000"/>
              </a:spcAft>
              <a:buClrTx/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 主机系统</a:t>
            </a:r>
          </a:p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 稳压调压系统</a:t>
            </a:r>
          </a:p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 量测系统 </a:t>
            </a:r>
          </a:p>
        </p:txBody>
      </p:sp>
      <p:pic>
        <p:nvPicPr>
          <p:cNvPr id="1482760" name="Picture 8" descr="三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975" y="790575"/>
            <a:ext cx="5502275" cy="587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82761" name="Rectangle 9"/>
          <p:cNvSpPr>
            <a:spLocks noChangeArrowheads="1"/>
          </p:cNvSpPr>
          <p:nvPr/>
        </p:nvSpPr>
        <p:spPr bwMode="auto">
          <a:xfrm>
            <a:off x="522288" y="5029200"/>
            <a:ext cx="2470150" cy="97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常规三轴</a:t>
            </a:r>
            <a:b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</a:b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压缩试验仪</a:t>
            </a:r>
          </a:p>
        </p:txBody>
      </p:sp>
      <p:sp>
        <p:nvSpPr>
          <p:cNvPr id="1482771" name="Freeform 19"/>
          <p:cNvSpPr>
            <a:spLocks/>
          </p:cNvSpPr>
          <p:nvPr/>
        </p:nvSpPr>
        <p:spPr bwMode="auto">
          <a:xfrm>
            <a:off x="4389438" y="2247900"/>
            <a:ext cx="914400" cy="255588"/>
          </a:xfrm>
          <a:custGeom>
            <a:avLst/>
            <a:gdLst>
              <a:gd name="T0" fmla="*/ 0 w 576"/>
              <a:gd name="T1" fmla="*/ 7 h 161"/>
              <a:gd name="T2" fmla="*/ 307 w 576"/>
              <a:gd name="T3" fmla="*/ 26 h 161"/>
              <a:gd name="T4" fmla="*/ 576 w 576"/>
              <a:gd name="T5" fmla="*/ 161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6" h="161">
                <a:moveTo>
                  <a:pt x="0" y="7"/>
                </a:moveTo>
                <a:cubicBezTo>
                  <a:pt x="105" y="3"/>
                  <a:pt x="211" y="0"/>
                  <a:pt x="307" y="26"/>
                </a:cubicBezTo>
                <a:cubicBezTo>
                  <a:pt x="403" y="52"/>
                  <a:pt x="489" y="106"/>
                  <a:pt x="576" y="161"/>
                </a:cubicBezTo>
              </a:path>
            </a:pathLst>
          </a:custGeom>
          <a:noFill/>
          <a:ln w="38100" cmpd="sng">
            <a:solidFill>
              <a:srgbClr val="333399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82772" name="Text Box 20"/>
          <p:cNvSpPr txBox="1">
            <a:spLocks noChangeArrowheads="1"/>
          </p:cNvSpPr>
          <p:nvPr/>
        </p:nvSpPr>
        <p:spPr bwMode="auto">
          <a:xfrm>
            <a:off x="320675" y="1068388"/>
            <a:ext cx="2497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仪器组成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+mn-cs"/>
            </a:endParaRPr>
          </a:p>
        </p:txBody>
      </p:sp>
      <p:grpSp>
        <p:nvGrpSpPr>
          <p:cNvPr id="1482773" name="Group 21"/>
          <p:cNvGrpSpPr>
            <a:grpSpLocks/>
          </p:cNvGrpSpPr>
          <p:nvPr/>
        </p:nvGrpSpPr>
        <p:grpSpPr bwMode="auto">
          <a:xfrm>
            <a:off x="6232525" y="1798638"/>
            <a:ext cx="2119313" cy="4683125"/>
            <a:chOff x="3996" y="1123"/>
            <a:chExt cx="1306" cy="2950"/>
          </a:xfrm>
        </p:grpSpPr>
        <p:sp>
          <p:nvSpPr>
            <p:cNvPr id="1482774" name="Text Box 22"/>
            <p:cNvSpPr txBox="1">
              <a:spLocks noChangeArrowheads="1"/>
            </p:cNvSpPr>
            <p:nvPr/>
          </p:nvSpPr>
          <p:spPr bwMode="auto">
            <a:xfrm>
              <a:off x="4607" y="3325"/>
              <a:ext cx="695" cy="7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压力泵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或高压氮气瓶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endParaRPr>
            </a:p>
          </p:txBody>
        </p:sp>
        <p:sp>
          <p:nvSpPr>
            <p:cNvPr id="1482775" name="Text Box 23"/>
            <p:cNvSpPr txBox="1">
              <a:spLocks noChangeArrowheads="1"/>
            </p:cNvSpPr>
            <p:nvPr/>
          </p:nvSpPr>
          <p:spPr bwMode="auto">
            <a:xfrm>
              <a:off x="4044" y="2065"/>
              <a:ext cx="6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调压阀</a:t>
              </a:r>
            </a:p>
          </p:txBody>
        </p:sp>
        <p:sp>
          <p:nvSpPr>
            <p:cNvPr id="1482776" name="Text Box 24"/>
            <p:cNvSpPr txBox="1">
              <a:spLocks noChangeArrowheads="1"/>
            </p:cNvSpPr>
            <p:nvPr/>
          </p:nvSpPr>
          <p:spPr bwMode="auto">
            <a:xfrm>
              <a:off x="3996" y="1264"/>
              <a:ext cx="6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压力表</a:t>
              </a:r>
            </a:p>
          </p:txBody>
        </p:sp>
        <p:sp>
          <p:nvSpPr>
            <p:cNvPr id="1482777" name="Line 25"/>
            <p:cNvSpPr>
              <a:spLocks noChangeShapeType="1"/>
            </p:cNvSpPr>
            <p:nvPr/>
          </p:nvSpPr>
          <p:spPr bwMode="auto">
            <a:xfrm flipH="1" flipV="1">
              <a:off x="4703" y="2247"/>
              <a:ext cx="202" cy="15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82778" name="Line 26"/>
            <p:cNvSpPr>
              <a:spLocks noChangeShapeType="1"/>
            </p:cNvSpPr>
            <p:nvPr/>
          </p:nvSpPr>
          <p:spPr bwMode="auto">
            <a:xfrm flipH="1">
              <a:off x="4629" y="1123"/>
              <a:ext cx="172" cy="163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</p:grp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7834400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8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48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275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711" name="Rectangle 63"/>
          <p:cNvSpPr>
            <a:spLocks noChangeArrowheads="1"/>
          </p:cNvSpPr>
          <p:nvPr/>
        </p:nvSpPr>
        <p:spPr bwMode="auto">
          <a:xfrm>
            <a:off x="0" y="795338"/>
            <a:ext cx="9144000" cy="5881687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5712" name="Rectangle 64"/>
          <p:cNvSpPr>
            <a:spLocks noChangeArrowheads="1"/>
          </p:cNvSpPr>
          <p:nvPr/>
        </p:nvSpPr>
        <p:spPr bwMode="auto">
          <a:xfrm>
            <a:off x="198438" y="3171825"/>
            <a:ext cx="2620962" cy="623888"/>
          </a:xfrm>
          <a:prstGeom prst="rect">
            <a:avLst/>
          </a:prstGeom>
          <a:solidFill>
            <a:srgbClr val="FFD7AF"/>
          </a:solidFill>
          <a:ln w="12700" algn="ctr">
            <a:solidFill>
              <a:srgbClr val="A5002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5714" name="Text Box 66"/>
          <p:cNvSpPr txBox="1">
            <a:spLocks noChangeArrowheads="1"/>
          </p:cNvSpPr>
          <p:nvPr/>
        </p:nvSpPr>
        <p:spPr bwMode="auto">
          <a:xfrm>
            <a:off x="201613" y="1958975"/>
            <a:ext cx="2592387" cy="177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5000"/>
              </a:lnSpc>
              <a:spcBef>
                <a:spcPct val="15000"/>
              </a:spcBef>
              <a:spcAft>
                <a:spcPct val="15000"/>
              </a:spcAft>
              <a:buClrTx/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 主机系统</a:t>
            </a:r>
          </a:p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 稳压调压系统</a:t>
            </a:r>
          </a:p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 量测系统 </a:t>
            </a:r>
          </a:p>
        </p:txBody>
      </p:sp>
      <p:pic>
        <p:nvPicPr>
          <p:cNvPr id="1435715" name="Picture 67" descr="三轴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975" y="790575"/>
            <a:ext cx="5502275" cy="587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5716" name="Rectangle 68"/>
          <p:cNvSpPr>
            <a:spLocks noChangeArrowheads="1"/>
          </p:cNvSpPr>
          <p:nvPr/>
        </p:nvSpPr>
        <p:spPr bwMode="auto">
          <a:xfrm>
            <a:off x="522288" y="5029200"/>
            <a:ext cx="2470150" cy="97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常规三轴</a:t>
            </a:r>
            <a:b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</a:b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压缩试验仪</a:t>
            </a:r>
          </a:p>
        </p:txBody>
      </p:sp>
      <p:sp>
        <p:nvSpPr>
          <p:cNvPr id="1435717" name="Freeform 69"/>
          <p:cNvSpPr>
            <a:spLocks/>
          </p:cNvSpPr>
          <p:nvPr/>
        </p:nvSpPr>
        <p:spPr bwMode="auto">
          <a:xfrm>
            <a:off x="4389438" y="2247900"/>
            <a:ext cx="914400" cy="255588"/>
          </a:xfrm>
          <a:custGeom>
            <a:avLst/>
            <a:gdLst>
              <a:gd name="T0" fmla="*/ 0 w 576"/>
              <a:gd name="T1" fmla="*/ 7 h 161"/>
              <a:gd name="T2" fmla="*/ 307 w 576"/>
              <a:gd name="T3" fmla="*/ 26 h 161"/>
              <a:gd name="T4" fmla="*/ 576 w 576"/>
              <a:gd name="T5" fmla="*/ 161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76" h="161">
                <a:moveTo>
                  <a:pt x="0" y="7"/>
                </a:moveTo>
                <a:cubicBezTo>
                  <a:pt x="105" y="3"/>
                  <a:pt x="211" y="0"/>
                  <a:pt x="307" y="26"/>
                </a:cubicBezTo>
                <a:cubicBezTo>
                  <a:pt x="403" y="52"/>
                  <a:pt x="489" y="106"/>
                  <a:pt x="576" y="161"/>
                </a:cubicBezTo>
              </a:path>
            </a:pathLst>
          </a:custGeom>
          <a:noFill/>
          <a:ln w="38100" cmpd="sng">
            <a:solidFill>
              <a:srgbClr val="333399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5718" name="Text Box 70"/>
          <p:cNvSpPr txBox="1">
            <a:spLocks noChangeArrowheads="1"/>
          </p:cNvSpPr>
          <p:nvPr/>
        </p:nvSpPr>
        <p:spPr bwMode="auto">
          <a:xfrm>
            <a:off x="320675" y="1068388"/>
            <a:ext cx="2497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仪器组成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+mn-cs"/>
            </a:endParaRPr>
          </a:p>
        </p:txBody>
      </p:sp>
      <p:grpSp>
        <p:nvGrpSpPr>
          <p:cNvPr id="1435725" name="Group 77"/>
          <p:cNvGrpSpPr>
            <a:grpSpLocks/>
          </p:cNvGrpSpPr>
          <p:nvPr/>
        </p:nvGrpSpPr>
        <p:grpSpPr bwMode="auto">
          <a:xfrm>
            <a:off x="3424238" y="671513"/>
            <a:ext cx="3890962" cy="2946400"/>
            <a:chOff x="2217" y="413"/>
            <a:chExt cx="2414" cy="1856"/>
          </a:xfrm>
        </p:grpSpPr>
        <p:sp>
          <p:nvSpPr>
            <p:cNvPr id="1435726" name="Text Box 78"/>
            <p:cNvSpPr txBox="1">
              <a:spLocks noChangeArrowheads="1"/>
            </p:cNvSpPr>
            <p:nvPr/>
          </p:nvSpPr>
          <p:spPr bwMode="auto">
            <a:xfrm>
              <a:off x="2220" y="1751"/>
              <a:ext cx="684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孔压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传感器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endParaRPr>
            </a:p>
          </p:txBody>
        </p:sp>
        <p:sp>
          <p:nvSpPr>
            <p:cNvPr id="1435727" name="Text Box 79"/>
            <p:cNvSpPr txBox="1">
              <a:spLocks noChangeArrowheads="1"/>
            </p:cNvSpPr>
            <p:nvPr/>
          </p:nvSpPr>
          <p:spPr bwMode="auto">
            <a:xfrm>
              <a:off x="3947" y="1434"/>
              <a:ext cx="6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体变管</a:t>
              </a:r>
            </a:p>
          </p:txBody>
        </p:sp>
        <p:sp>
          <p:nvSpPr>
            <p:cNvPr id="1435728" name="Text Box 80"/>
            <p:cNvSpPr txBox="1">
              <a:spLocks noChangeArrowheads="1"/>
            </p:cNvSpPr>
            <p:nvPr/>
          </p:nvSpPr>
          <p:spPr bwMode="auto">
            <a:xfrm>
              <a:off x="2217" y="413"/>
              <a:ext cx="701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轴向位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移量测</a:t>
              </a:r>
            </a:p>
          </p:txBody>
        </p:sp>
        <p:sp>
          <p:nvSpPr>
            <p:cNvPr id="1435729" name="Text Box 81"/>
            <p:cNvSpPr txBox="1">
              <a:spLocks noChangeArrowheads="1"/>
            </p:cNvSpPr>
            <p:nvPr/>
          </p:nvSpPr>
          <p:spPr bwMode="auto">
            <a:xfrm>
              <a:off x="3775" y="666"/>
              <a:ext cx="75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轴向力</a:t>
              </a:r>
              <a:b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</a:b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量测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endParaRPr>
            </a:p>
          </p:txBody>
        </p:sp>
        <p:sp>
          <p:nvSpPr>
            <p:cNvPr id="1435730" name="Line 82"/>
            <p:cNvSpPr>
              <a:spLocks noChangeShapeType="1"/>
            </p:cNvSpPr>
            <p:nvPr/>
          </p:nvSpPr>
          <p:spPr bwMode="auto">
            <a:xfrm flipV="1">
              <a:off x="3418" y="922"/>
              <a:ext cx="412" cy="153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5731" name="Line 83"/>
            <p:cNvSpPr>
              <a:spLocks noChangeShapeType="1"/>
            </p:cNvSpPr>
            <p:nvPr/>
          </p:nvSpPr>
          <p:spPr bwMode="auto">
            <a:xfrm flipH="1" flipV="1">
              <a:off x="2870" y="883"/>
              <a:ext cx="432" cy="288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5732" name="Line 84"/>
            <p:cNvSpPr>
              <a:spLocks noChangeShapeType="1"/>
            </p:cNvSpPr>
            <p:nvPr/>
          </p:nvSpPr>
          <p:spPr bwMode="auto">
            <a:xfrm flipH="1">
              <a:off x="2774" y="1661"/>
              <a:ext cx="308" cy="22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</p:grpSp>
      <p:sp>
        <p:nvSpPr>
          <p:cNvPr id="20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630874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35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43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7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587" name="Rectangle 11"/>
          <p:cNvSpPr>
            <a:spLocks noChangeArrowheads="1"/>
          </p:cNvSpPr>
          <p:nvPr/>
        </p:nvSpPr>
        <p:spPr bwMode="auto">
          <a:xfrm>
            <a:off x="4573588" y="2320925"/>
            <a:ext cx="1554162" cy="2270125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588" name="Rectangle 12"/>
          <p:cNvSpPr>
            <a:spLocks noChangeArrowheads="1"/>
          </p:cNvSpPr>
          <p:nvPr/>
        </p:nvSpPr>
        <p:spPr bwMode="auto">
          <a:xfrm>
            <a:off x="2784475" y="5800725"/>
            <a:ext cx="48656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常规三轴压缩试验仪  </a:t>
            </a:r>
          </a:p>
        </p:txBody>
      </p:sp>
      <p:sp>
        <p:nvSpPr>
          <p:cNvPr id="1432589" name="Rectangle 13" descr="大纸屑"/>
          <p:cNvSpPr>
            <a:spLocks noChangeArrowheads="1"/>
          </p:cNvSpPr>
          <p:nvPr/>
        </p:nvSpPr>
        <p:spPr bwMode="auto">
          <a:xfrm>
            <a:off x="5016500" y="4125913"/>
            <a:ext cx="674688" cy="115887"/>
          </a:xfrm>
          <a:prstGeom prst="rect">
            <a:avLst/>
          </a:prstGeom>
          <a:pattFill prst="lgConfetti">
            <a:fgClr>
              <a:schemeClr val="tx2"/>
            </a:fgClr>
            <a:bgClr>
              <a:srgbClr val="FFCC66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590" name="Rectangle 14" descr="浅色上对角线"/>
          <p:cNvSpPr>
            <a:spLocks noChangeArrowheads="1"/>
          </p:cNvSpPr>
          <p:nvPr/>
        </p:nvSpPr>
        <p:spPr bwMode="auto">
          <a:xfrm>
            <a:off x="5006739" y="2625725"/>
            <a:ext cx="693449" cy="230188"/>
          </a:xfrm>
          <a:prstGeom prst="rect">
            <a:avLst/>
          </a:prstGeom>
          <a:pattFill prst="ltUpDiag">
            <a:fgClr>
              <a:srgbClr val="5F5F5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grpSp>
        <p:nvGrpSpPr>
          <p:cNvPr id="1432591" name="Group 15"/>
          <p:cNvGrpSpPr>
            <a:grpSpLocks/>
          </p:cNvGrpSpPr>
          <p:nvPr/>
        </p:nvGrpSpPr>
        <p:grpSpPr bwMode="auto">
          <a:xfrm>
            <a:off x="4992688" y="2692400"/>
            <a:ext cx="717550" cy="1627188"/>
            <a:chOff x="3374" y="2353"/>
            <a:chExt cx="452" cy="1025"/>
          </a:xfrm>
        </p:grpSpPr>
        <p:sp>
          <p:nvSpPr>
            <p:cNvPr id="1432592" name="Line 16"/>
            <p:cNvSpPr>
              <a:spLocks noChangeShapeType="1"/>
            </p:cNvSpPr>
            <p:nvPr/>
          </p:nvSpPr>
          <p:spPr bwMode="auto">
            <a:xfrm>
              <a:off x="3374" y="2359"/>
              <a:ext cx="0" cy="1019"/>
            </a:xfrm>
            <a:prstGeom prst="line">
              <a:avLst/>
            </a:prstGeom>
            <a:noFill/>
            <a:ln w="38100">
              <a:solidFill>
                <a:srgbClr val="FFCC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2593" name="Line 17"/>
            <p:cNvSpPr>
              <a:spLocks noChangeShapeType="1"/>
            </p:cNvSpPr>
            <p:nvPr/>
          </p:nvSpPr>
          <p:spPr bwMode="auto">
            <a:xfrm>
              <a:off x="3826" y="2353"/>
              <a:ext cx="0" cy="1019"/>
            </a:xfrm>
            <a:prstGeom prst="line">
              <a:avLst/>
            </a:prstGeom>
            <a:noFill/>
            <a:ln w="38100">
              <a:solidFill>
                <a:srgbClr val="FFCC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</p:grpSp>
      <p:grpSp>
        <p:nvGrpSpPr>
          <p:cNvPr id="1432594" name="Group 18"/>
          <p:cNvGrpSpPr>
            <a:grpSpLocks/>
          </p:cNvGrpSpPr>
          <p:nvPr/>
        </p:nvGrpSpPr>
        <p:grpSpPr bwMode="auto">
          <a:xfrm>
            <a:off x="4908550" y="2720975"/>
            <a:ext cx="871538" cy="1589088"/>
            <a:chOff x="3321" y="2371"/>
            <a:chExt cx="549" cy="1001"/>
          </a:xfrm>
        </p:grpSpPr>
        <p:sp>
          <p:nvSpPr>
            <p:cNvPr id="1432595" name="Oval 19"/>
            <p:cNvSpPr>
              <a:spLocks noChangeArrowheads="1"/>
            </p:cNvSpPr>
            <p:nvPr/>
          </p:nvSpPr>
          <p:spPr bwMode="auto">
            <a:xfrm>
              <a:off x="3330" y="2383"/>
              <a:ext cx="35" cy="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2596" name="Oval 20"/>
            <p:cNvSpPr>
              <a:spLocks noChangeArrowheads="1"/>
            </p:cNvSpPr>
            <p:nvPr/>
          </p:nvSpPr>
          <p:spPr bwMode="auto">
            <a:xfrm>
              <a:off x="3832" y="3329"/>
              <a:ext cx="36" cy="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2597" name="Oval 21"/>
            <p:cNvSpPr>
              <a:spLocks noChangeArrowheads="1"/>
            </p:cNvSpPr>
            <p:nvPr/>
          </p:nvSpPr>
          <p:spPr bwMode="auto">
            <a:xfrm>
              <a:off x="3321" y="3335"/>
              <a:ext cx="35" cy="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2598" name="Oval 22"/>
            <p:cNvSpPr>
              <a:spLocks noChangeArrowheads="1"/>
            </p:cNvSpPr>
            <p:nvPr/>
          </p:nvSpPr>
          <p:spPr bwMode="auto">
            <a:xfrm>
              <a:off x="3835" y="2371"/>
              <a:ext cx="35" cy="3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7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endParaRPr>
            </a:p>
          </p:txBody>
        </p:sp>
      </p:grpSp>
      <p:grpSp>
        <p:nvGrpSpPr>
          <p:cNvPr id="1432599" name="Group 23"/>
          <p:cNvGrpSpPr>
            <a:grpSpLocks/>
          </p:cNvGrpSpPr>
          <p:nvPr/>
        </p:nvGrpSpPr>
        <p:grpSpPr bwMode="auto">
          <a:xfrm>
            <a:off x="4443413" y="4241800"/>
            <a:ext cx="1801812" cy="635000"/>
            <a:chOff x="3028" y="3329"/>
            <a:chExt cx="1135" cy="400"/>
          </a:xfrm>
        </p:grpSpPr>
        <p:sp>
          <p:nvSpPr>
            <p:cNvPr id="1432600" name="Rectangle 24"/>
            <p:cNvSpPr>
              <a:spLocks noChangeArrowheads="1"/>
            </p:cNvSpPr>
            <p:nvPr/>
          </p:nvSpPr>
          <p:spPr bwMode="auto">
            <a:xfrm>
              <a:off x="3389" y="3329"/>
              <a:ext cx="425" cy="218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rgbClr val="9966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2601" name="Rectangle 25"/>
            <p:cNvSpPr>
              <a:spLocks noChangeArrowheads="1"/>
            </p:cNvSpPr>
            <p:nvPr/>
          </p:nvSpPr>
          <p:spPr bwMode="auto">
            <a:xfrm>
              <a:off x="3028" y="3547"/>
              <a:ext cx="1135" cy="182"/>
            </a:xfrm>
            <a:prstGeom prst="rect">
              <a:avLst/>
            </a:prstGeom>
            <a:solidFill>
              <a:srgbClr val="996633"/>
            </a:solidFill>
            <a:ln w="9525">
              <a:solidFill>
                <a:srgbClr val="9966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</p:grpSp>
      <p:sp>
        <p:nvSpPr>
          <p:cNvPr id="1432602" name="Line 26" descr="30%"/>
          <p:cNvSpPr>
            <a:spLocks noChangeShapeType="1"/>
          </p:cNvSpPr>
          <p:nvPr/>
        </p:nvSpPr>
        <p:spPr bwMode="auto">
          <a:xfrm>
            <a:off x="4562475" y="2336800"/>
            <a:ext cx="0" cy="2251075"/>
          </a:xfrm>
          <a:prstGeom prst="line">
            <a:avLst/>
          </a:prstGeom>
          <a:noFill/>
          <a:ln w="76200">
            <a:solidFill>
              <a:srgbClr val="99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03" name="Line 27" descr="30%"/>
          <p:cNvSpPr>
            <a:spLocks noChangeShapeType="1"/>
          </p:cNvSpPr>
          <p:nvPr/>
        </p:nvSpPr>
        <p:spPr bwMode="auto">
          <a:xfrm>
            <a:off x="6138863" y="2336800"/>
            <a:ext cx="0" cy="2251075"/>
          </a:xfrm>
          <a:prstGeom prst="line">
            <a:avLst/>
          </a:prstGeom>
          <a:noFill/>
          <a:ln w="76200">
            <a:solidFill>
              <a:srgbClr val="99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04" name="Rectangle 28"/>
          <p:cNvSpPr>
            <a:spLocks noChangeArrowheads="1"/>
          </p:cNvSpPr>
          <p:nvPr/>
        </p:nvSpPr>
        <p:spPr bwMode="auto">
          <a:xfrm>
            <a:off x="4233863" y="2173288"/>
            <a:ext cx="1014412" cy="173037"/>
          </a:xfrm>
          <a:prstGeom prst="rect">
            <a:avLst/>
          </a:prstGeom>
          <a:solidFill>
            <a:srgbClr val="996633"/>
          </a:solidFill>
          <a:ln w="9525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05" name="Rectangle 29"/>
          <p:cNvSpPr>
            <a:spLocks noChangeArrowheads="1"/>
          </p:cNvSpPr>
          <p:nvPr/>
        </p:nvSpPr>
        <p:spPr bwMode="auto">
          <a:xfrm>
            <a:off x="5454650" y="2173288"/>
            <a:ext cx="1012825" cy="173037"/>
          </a:xfrm>
          <a:prstGeom prst="rect">
            <a:avLst/>
          </a:prstGeom>
          <a:solidFill>
            <a:srgbClr val="996633"/>
          </a:solidFill>
          <a:ln w="9525">
            <a:solidFill>
              <a:srgbClr val="99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06" name="Rectangle 30" descr="浅色竖线"/>
          <p:cNvSpPr>
            <a:spLocks noChangeArrowheads="1"/>
          </p:cNvSpPr>
          <p:nvPr/>
        </p:nvSpPr>
        <p:spPr bwMode="auto">
          <a:xfrm>
            <a:off x="5250462" y="1834971"/>
            <a:ext cx="200025" cy="789766"/>
          </a:xfrm>
          <a:custGeom>
            <a:avLst/>
            <a:gdLst>
              <a:gd name="connsiteX0" fmla="*/ 0 w 200025"/>
              <a:gd name="connsiteY0" fmla="*/ 0 h 771525"/>
              <a:gd name="connsiteX1" fmla="*/ 200025 w 200025"/>
              <a:gd name="connsiteY1" fmla="*/ 0 h 771525"/>
              <a:gd name="connsiteX2" fmla="*/ 200025 w 200025"/>
              <a:gd name="connsiteY2" fmla="*/ 771525 h 771525"/>
              <a:gd name="connsiteX3" fmla="*/ 0 w 200025"/>
              <a:gd name="connsiteY3" fmla="*/ 771525 h 771525"/>
              <a:gd name="connsiteX4" fmla="*/ 0 w 200025"/>
              <a:gd name="connsiteY4" fmla="*/ 0 h 771525"/>
              <a:gd name="connsiteX0" fmla="*/ 0 w 200025"/>
              <a:gd name="connsiteY0" fmla="*/ 0 h 789766"/>
              <a:gd name="connsiteX1" fmla="*/ 200025 w 200025"/>
              <a:gd name="connsiteY1" fmla="*/ 0 h 789766"/>
              <a:gd name="connsiteX2" fmla="*/ 200025 w 200025"/>
              <a:gd name="connsiteY2" fmla="*/ 771525 h 789766"/>
              <a:gd name="connsiteX3" fmla="*/ 96846 w 200025"/>
              <a:gd name="connsiteY3" fmla="*/ 789743 h 789766"/>
              <a:gd name="connsiteX4" fmla="*/ 0 w 200025"/>
              <a:gd name="connsiteY4" fmla="*/ 771525 h 789766"/>
              <a:gd name="connsiteX5" fmla="*/ 0 w 200025"/>
              <a:gd name="connsiteY5" fmla="*/ 0 h 789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025" h="789766">
                <a:moveTo>
                  <a:pt x="0" y="0"/>
                </a:moveTo>
                <a:lnTo>
                  <a:pt x="200025" y="0"/>
                </a:lnTo>
                <a:lnTo>
                  <a:pt x="200025" y="771525"/>
                </a:lnTo>
                <a:cubicBezTo>
                  <a:pt x="167349" y="770729"/>
                  <a:pt x="129522" y="790539"/>
                  <a:pt x="96846" y="789743"/>
                </a:cubicBez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pattFill prst="ltVert">
            <a:fgClr>
              <a:srgbClr val="4D4D4D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grpSp>
        <p:nvGrpSpPr>
          <p:cNvPr id="1432607" name="Group 31"/>
          <p:cNvGrpSpPr>
            <a:grpSpLocks/>
          </p:cNvGrpSpPr>
          <p:nvPr/>
        </p:nvGrpSpPr>
        <p:grpSpPr bwMode="auto">
          <a:xfrm>
            <a:off x="5006975" y="2855913"/>
            <a:ext cx="688975" cy="1270000"/>
            <a:chOff x="3383" y="2456"/>
            <a:chExt cx="434" cy="800"/>
          </a:xfrm>
        </p:grpSpPr>
        <p:sp>
          <p:nvSpPr>
            <p:cNvPr id="1432608" name="Rectangle 32"/>
            <p:cNvSpPr>
              <a:spLocks noChangeArrowheads="1"/>
            </p:cNvSpPr>
            <p:nvPr/>
          </p:nvSpPr>
          <p:spPr bwMode="auto">
            <a:xfrm>
              <a:off x="3383" y="2456"/>
              <a:ext cx="434" cy="800"/>
            </a:xfrm>
            <a:prstGeom prst="rect">
              <a:avLst/>
            </a:prstGeom>
            <a:solidFill>
              <a:srgbClr val="990000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2609" name="Text Box 33"/>
            <p:cNvSpPr txBox="1">
              <a:spLocks noChangeArrowheads="1"/>
            </p:cNvSpPr>
            <p:nvPr/>
          </p:nvSpPr>
          <p:spPr bwMode="auto">
            <a:xfrm>
              <a:off x="3436" y="2602"/>
              <a:ext cx="308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试样</a:t>
              </a:r>
            </a:p>
          </p:txBody>
        </p:sp>
      </p:grpSp>
      <p:sp>
        <p:nvSpPr>
          <p:cNvPr id="1432610" name="Line 34"/>
          <p:cNvSpPr>
            <a:spLocks noChangeShapeType="1"/>
          </p:cNvSpPr>
          <p:nvPr/>
        </p:nvSpPr>
        <p:spPr bwMode="auto">
          <a:xfrm flipH="1">
            <a:off x="5973763" y="2971800"/>
            <a:ext cx="674687" cy="577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11" name="Text Box 35"/>
          <p:cNvSpPr txBox="1">
            <a:spLocks noChangeArrowheads="1"/>
          </p:cNvSpPr>
          <p:nvPr/>
        </p:nvSpPr>
        <p:spPr bwMode="auto">
          <a:xfrm>
            <a:off x="6650038" y="2728913"/>
            <a:ext cx="709612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水</a:t>
            </a:r>
          </a:p>
        </p:txBody>
      </p:sp>
      <p:sp>
        <p:nvSpPr>
          <p:cNvPr id="1432612" name="Text Box 36"/>
          <p:cNvSpPr txBox="1">
            <a:spLocks noChangeArrowheads="1"/>
          </p:cNvSpPr>
          <p:nvPr/>
        </p:nvSpPr>
        <p:spPr bwMode="auto">
          <a:xfrm>
            <a:off x="1414463" y="4364038"/>
            <a:ext cx="1311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稳压调压系统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+mn-cs"/>
              <a:sym typeface="Symbol" pitchFamily="18" charset="2"/>
            </a:endParaRPr>
          </a:p>
        </p:txBody>
      </p:sp>
      <p:sp>
        <p:nvSpPr>
          <p:cNvPr id="1432613" name="Text Box 37"/>
          <p:cNvSpPr txBox="1">
            <a:spLocks noChangeArrowheads="1"/>
          </p:cNvSpPr>
          <p:nvPr/>
        </p:nvSpPr>
        <p:spPr bwMode="auto">
          <a:xfrm>
            <a:off x="7416800" y="4392613"/>
            <a:ext cx="14287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排水管或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孔压量测</a:t>
            </a:r>
          </a:p>
        </p:txBody>
      </p:sp>
      <p:sp>
        <p:nvSpPr>
          <p:cNvPr id="1432614" name="Text Box 38"/>
          <p:cNvSpPr txBox="1">
            <a:spLocks noChangeArrowheads="1"/>
          </p:cNvSpPr>
          <p:nvPr/>
        </p:nvSpPr>
        <p:spPr bwMode="auto">
          <a:xfrm>
            <a:off x="6372225" y="4883150"/>
            <a:ext cx="8159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阀门</a:t>
            </a:r>
          </a:p>
        </p:txBody>
      </p:sp>
      <p:sp>
        <p:nvSpPr>
          <p:cNvPr id="1432615" name="Line 39"/>
          <p:cNvSpPr>
            <a:spLocks noChangeShapeType="1"/>
          </p:cNvSpPr>
          <p:nvPr/>
        </p:nvSpPr>
        <p:spPr bwMode="auto">
          <a:xfrm flipH="1">
            <a:off x="5349875" y="1879600"/>
            <a:ext cx="669925" cy="369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16" name="Text Box 40"/>
          <p:cNvSpPr txBox="1">
            <a:spLocks noChangeArrowheads="1"/>
          </p:cNvSpPr>
          <p:nvPr/>
        </p:nvSpPr>
        <p:spPr bwMode="auto">
          <a:xfrm>
            <a:off x="5976938" y="1631950"/>
            <a:ext cx="1827212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轴向活塞</a:t>
            </a:r>
          </a:p>
        </p:txBody>
      </p:sp>
      <p:sp>
        <p:nvSpPr>
          <p:cNvPr id="1432617" name="Line 41"/>
          <p:cNvSpPr>
            <a:spLocks noChangeShapeType="1"/>
          </p:cNvSpPr>
          <p:nvPr/>
        </p:nvSpPr>
        <p:spPr bwMode="auto">
          <a:xfrm>
            <a:off x="4002088" y="2971800"/>
            <a:ext cx="563562" cy="346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18" name="Text Box 42"/>
          <p:cNvSpPr txBox="1">
            <a:spLocks noChangeArrowheads="1"/>
          </p:cNvSpPr>
          <p:nvPr/>
        </p:nvSpPr>
        <p:spPr bwMode="auto">
          <a:xfrm>
            <a:off x="2673350" y="2655888"/>
            <a:ext cx="1717675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有机玻璃罩</a:t>
            </a:r>
          </a:p>
        </p:txBody>
      </p:sp>
      <p:sp>
        <p:nvSpPr>
          <p:cNvPr id="1432619" name="Line 43"/>
          <p:cNvSpPr>
            <a:spLocks noChangeShapeType="1"/>
          </p:cNvSpPr>
          <p:nvPr/>
        </p:nvSpPr>
        <p:spPr bwMode="auto">
          <a:xfrm flipV="1">
            <a:off x="3833813" y="3895725"/>
            <a:ext cx="1125537" cy="346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20" name="Text Box 44"/>
          <p:cNvSpPr txBox="1">
            <a:spLocks noChangeArrowheads="1"/>
          </p:cNvSpPr>
          <p:nvPr/>
        </p:nvSpPr>
        <p:spPr bwMode="auto">
          <a:xfrm>
            <a:off x="2722563" y="4071938"/>
            <a:ext cx="1168400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橡皮膜</a:t>
            </a:r>
          </a:p>
        </p:txBody>
      </p:sp>
      <p:sp>
        <p:nvSpPr>
          <p:cNvPr id="1432621" name="Line 45"/>
          <p:cNvSpPr>
            <a:spLocks noChangeShapeType="1"/>
          </p:cNvSpPr>
          <p:nvPr/>
        </p:nvSpPr>
        <p:spPr bwMode="auto">
          <a:xfrm flipH="1">
            <a:off x="5522913" y="3736975"/>
            <a:ext cx="1181100" cy="461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22" name="Text Box 46"/>
          <p:cNvSpPr txBox="1">
            <a:spLocks noChangeArrowheads="1"/>
          </p:cNvSpPr>
          <p:nvPr/>
        </p:nvSpPr>
        <p:spPr bwMode="auto">
          <a:xfrm>
            <a:off x="6591300" y="3490913"/>
            <a:ext cx="1181100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透水石</a:t>
            </a:r>
          </a:p>
        </p:txBody>
      </p:sp>
      <p:sp>
        <p:nvSpPr>
          <p:cNvPr id="1432623" name="Line 47"/>
          <p:cNvSpPr>
            <a:spLocks noChangeShapeType="1"/>
          </p:cNvSpPr>
          <p:nvPr/>
        </p:nvSpPr>
        <p:spPr bwMode="auto">
          <a:xfrm flipH="1">
            <a:off x="5581650" y="2444750"/>
            <a:ext cx="1096963" cy="2682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24" name="Text Box 48"/>
          <p:cNvSpPr txBox="1">
            <a:spLocks noChangeArrowheads="1"/>
          </p:cNvSpPr>
          <p:nvPr/>
        </p:nvSpPr>
        <p:spPr bwMode="auto">
          <a:xfrm>
            <a:off x="6621463" y="2155825"/>
            <a:ext cx="95885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顶帽</a:t>
            </a:r>
          </a:p>
        </p:txBody>
      </p:sp>
      <p:sp>
        <p:nvSpPr>
          <p:cNvPr id="1432625" name="Rectangle 49"/>
          <p:cNvSpPr>
            <a:spLocks noChangeArrowheads="1"/>
          </p:cNvSpPr>
          <p:nvPr/>
        </p:nvSpPr>
        <p:spPr bwMode="auto">
          <a:xfrm>
            <a:off x="661988" y="985163"/>
            <a:ext cx="2119958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450850" marR="0" lvl="0" indent="-450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压力室</a:t>
            </a:r>
            <a:b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</a:b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及试样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幼圆" pitchFamily="49" charset="-122"/>
              <a:ea typeface="幼圆" pitchFamily="49" charset="-122"/>
              <a:cs typeface="+mn-cs"/>
            </a:endParaRPr>
          </a:p>
        </p:txBody>
      </p:sp>
      <p:sp>
        <p:nvSpPr>
          <p:cNvPr id="1432626" name="Text Box 50"/>
          <p:cNvSpPr txBox="1">
            <a:spLocks noChangeArrowheads="1"/>
          </p:cNvSpPr>
          <p:nvPr/>
        </p:nvSpPr>
        <p:spPr bwMode="auto">
          <a:xfrm>
            <a:off x="3549650" y="4830763"/>
            <a:ext cx="81597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阀门</a:t>
            </a:r>
          </a:p>
        </p:txBody>
      </p:sp>
      <p:sp>
        <p:nvSpPr>
          <p:cNvPr id="1432627" name="Freeform 51"/>
          <p:cNvSpPr>
            <a:spLocks/>
          </p:cNvSpPr>
          <p:nvPr/>
        </p:nvSpPr>
        <p:spPr bwMode="auto">
          <a:xfrm>
            <a:off x="2782888" y="4575175"/>
            <a:ext cx="1989137" cy="106363"/>
          </a:xfrm>
          <a:custGeom>
            <a:avLst/>
            <a:gdLst>
              <a:gd name="T0" fmla="*/ 1253 w 1253"/>
              <a:gd name="T1" fmla="*/ 0 h 67"/>
              <a:gd name="T2" fmla="*/ 1253 w 1253"/>
              <a:gd name="T3" fmla="*/ 67 h 67"/>
              <a:gd name="T4" fmla="*/ 0 w 1253"/>
              <a:gd name="T5" fmla="*/ 67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53" h="67">
                <a:moveTo>
                  <a:pt x="1253" y="0"/>
                </a:moveTo>
                <a:lnTo>
                  <a:pt x="1253" y="67"/>
                </a:lnTo>
                <a:lnTo>
                  <a:pt x="0" y="67"/>
                </a:lnTo>
              </a:path>
            </a:pathLst>
          </a:custGeom>
          <a:noFill/>
          <a:ln w="571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28" name="AutoShape 52"/>
          <p:cNvSpPr>
            <a:spLocks noChangeArrowheads="1"/>
          </p:cNvSpPr>
          <p:nvPr/>
        </p:nvSpPr>
        <p:spPr bwMode="auto">
          <a:xfrm>
            <a:off x="3948113" y="4562475"/>
            <a:ext cx="225425" cy="231775"/>
          </a:xfrm>
          <a:prstGeom prst="flowChartSummingJunction">
            <a:avLst/>
          </a:prstGeom>
          <a:solidFill>
            <a:srgbClr val="CCEC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29" name="Freeform 53"/>
          <p:cNvSpPr>
            <a:spLocks/>
          </p:cNvSpPr>
          <p:nvPr/>
        </p:nvSpPr>
        <p:spPr bwMode="auto">
          <a:xfrm>
            <a:off x="5480050" y="4240213"/>
            <a:ext cx="1882775" cy="473075"/>
          </a:xfrm>
          <a:custGeom>
            <a:avLst/>
            <a:gdLst>
              <a:gd name="T0" fmla="*/ 0 w 1186"/>
              <a:gd name="T1" fmla="*/ 0 h 298"/>
              <a:gd name="T2" fmla="*/ 0 w 1186"/>
              <a:gd name="T3" fmla="*/ 298 h 298"/>
              <a:gd name="T4" fmla="*/ 1186 w 1186"/>
              <a:gd name="T5" fmla="*/ 298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86" h="298">
                <a:moveTo>
                  <a:pt x="0" y="0"/>
                </a:moveTo>
                <a:lnTo>
                  <a:pt x="0" y="298"/>
                </a:lnTo>
                <a:lnTo>
                  <a:pt x="1186" y="298"/>
                </a:lnTo>
              </a:path>
            </a:pathLst>
          </a:custGeom>
          <a:noFill/>
          <a:ln w="571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30" name="AutoShape 54"/>
          <p:cNvSpPr>
            <a:spLocks noChangeArrowheads="1"/>
          </p:cNvSpPr>
          <p:nvPr/>
        </p:nvSpPr>
        <p:spPr bwMode="auto">
          <a:xfrm>
            <a:off x="6497638" y="4575175"/>
            <a:ext cx="225425" cy="231775"/>
          </a:xfrm>
          <a:prstGeom prst="flowChartSummingJunction">
            <a:avLst/>
          </a:prstGeom>
          <a:solidFill>
            <a:srgbClr val="CCEC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31" name="Oval 55"/>
          <p:cNvSpPr>
            <a:spLocks noChangeArrowheads="1"/>
          </p:cNvSpPr>
          <p:nvPr/>
        </p:nvSpPr>
        <p:spPr bwMode="auto">
          <a:xfrm>
            <a:off x="4995863" y="1184275"/>
            <a:ext cx="701675" cy="722313"/>
          </a:xfrm>
          <a:prstGeom prst="ellipse">
            <a:avLst/>
          </a:prstGeom>
          <a:solidFill>
            <a:srgbClr val="CCEC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grpSp>
        <p:nvGrpSpPr>
          <p:cNvPr id="1432632" name="Group 56"/>
          <p:cNvGrpSpPr>
            <a:grpSpLocks/>
          </p:cNvGrpSpPr>
          <p:nvPr/>
        </p:nvGrpSpPr>
        <p:grpSpPr bwMode="auto">
          <a:xfrm>
            <a:off x="5194300" y="1182688"/>
            <a:ext cx="304800" cy="539750"/>
            <a:chOff x="371" y="1926"/>
            <a:chExt cx="192" cy="340"/>
          </a:xfrm>
        </p:grpSpPr>
        <p:sp>
          <p:nvSpPr>
            <p:cNvPr id="1432633" name="Line 57"/>
            <p:cNvSpPr>
              <a:spLocks noChangeShapeType="1"/>
            </p:cNvSpPr>
            <p:nvPr/>
          </p:nvSpPr>
          <p:spPr bwMode="auto">
            <a:xfrm>
              <a:off x="467" y="1926"/>
              <a:ext cx="0" cy="340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2634" name="Oval 58"/>
            <p:cNvSpPr>
              <a:spLocks noChangeArrowheads="1"/>
            </p:cNvSpPr>
            <p:nvPr/>
          </p:nvSpPr>
          <p:spPr bwMode="auto">
            <a:xfrm>
              <a:off x="371" y="198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2635" name="Line 59"/>
            <p:cNvSpPr>
              <a:spLocks noChangeShapeType="1"/>
            </p:cNvSpPr>
            <p:nvPr/>
          </p:nvSpPr>
          <p:spPr bwMode="auto">
            <a:xfrm flipV="1">
              <a:off x="473" y="2025"/>
              <a:ext cx="65" cy="56"/>
            </a:xfrm>
            <a:prstGeom prst="line">
              <a:avLst/>
            </a:prstGeom>
            <a:noFill/>
            <a:ln w="9525">
              <a:solidFill>
                <a:srgbClr val="9933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</p:grpSp>
      <p:sp>
        <p:nvSpPr>
          <p:cNvPr id="1432636" name="Line 60"/>
          <p:cNvSpPr>
            <a:spLocks noChangeShapeType="1"/>
          </p:cNvSpPr>
          <p:nvPr/>
        </p:nvSpPr>
        <p:spPr bwMode="auto">
          <a:xfrm>
            <a:off x="5292725" y="1719263"/>
            <a:ext cx="1031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37" name="Line 61"/>
          <p:cNvSpPr>
            <a:spLocks noChangeShapeType="1"/>
          </p:cNvSpPr>
          <p:nvPr/>
        </p:nvSpPr>
        <p:spPr bwMode="auto">
          <a:xfrm>
            <a:off x="5343525" y="1719263"/>
            <a:ext cx="0" cy="174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38" name="Rectangle 62"/>
          <p:cNvSpPr>
            <a:spLocks noChangeArrowheads="1"/>
          </p:cNvSpPr>
          <p:nvPr/>
        </p:nvSpPr>
        <p:spPr bwMode="auto">
          <a:xfrm>
            <a:off x="5248275" y="1071563"/>
            <a:ext cx="214313" cy="1095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39" name="Line 63"/>
          <p:cNvSpPr>
            <a:spLocks noChangeShapeType="1"/>
          </p:cNvSpPr>
          <p:nvPr/>
        </p:nvSpPr>
        <p:spPr bwMode="auto">
          <a:xfrm flipH="1">
            <a:off x="4786313" y="1931988"/>
            <a:ext cx="5635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grpSp>
        <p:nvGrpSpPr>
          <p:cNvPr id="1432640" name="Group 64"/>
          <p:cNvGrpSpPr>
            <a:grpSpLocks/>
          </p:cNvGrpSpPr>
          <p:nvPr/>
        </p:nvGrpSpPr>
        <p:grpSpPr bwMode="auto">
          <a:xfrm>
            <a:off x="4614863" y="1646238"/>
            <a:ext cx="304800" cy="539750"/>
            <a:chOff x="371" y="1926"/>
            <a:chExt cx="192" cy="340"/>
          </a:xfrm>
        </p:grpSpPr>
        <p:sp>
          <p:nvSpPr>
            <p:cNvPr id="1432641" name="Line 65"/>
            <p:cNvSpPr>
              <a:spLocks noChangeShapeType="1"/>
            </p:cNvSpPr>
            <p:nvPr/>
          </p:nvSpPr>
          <p:spPr bwMode="auto">
            <a:xfrm>
              <a:off x="467" y="1926"/>
              <a:ext cx="0" cy="340"/>
            </a:xfrm>
            <a:prstGeom prst="line">
              <a:avLst/>
            </a:prstGeom>
            <a:noFill/>
            <a:ln w="28575">
              <a:solidFill>
                <a:srgbClr val="99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2642" name="Oval 66"/>
            <p:cNvSpPr>
              <a:spLocks noChangeArrowheads="1"/>
            </p:cNvSpPr>
            <p:nvPr/>
          </p:nvSpPr>
          <p:spPr bwMode="auto">
            <a:xfrm>
              <a:off x="371" y="1984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2643" name="Line 67"/>
            <p:cNvSpPr>
              <a:spLocks noChangeShapeType="1"/>
            </p:cNvSpPr>
            <p:nvPr/>
          </p:nvSpPr>
          <p:spPr bwMode="auto">
            <a:xfrm flipV="1">
              <a:off x="473" y="2025"/>
              <a:ext cx="65" cy="56"/>
            </a:xfrm>
            <a:prstGeom prst="line">
              <a:avLst/>
            </a:prstGeom>
            <a:noFill/>
            <a:ln w="9525">
              <a:solidFill>
                <a:srgbClr val="9933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</p:grpSp>
      <p:sp>
        <p:nvSpPr>
          <p:cNvPr id="1432644" name="Rectangle 68"/>
          <p:cNvSpPr>
            <a:spLocks noChangeArrowheads="1"/>
          </p:cNvSpPr>
          <p:nvPr/>
        </p:nvSpPr>
        <p:spPr bwMode="auto">
          <a:xfrm>
            <a:off x="5241716" y="1897063"/>
            <a:ext cx="214312" cy="777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45" name="Rectangle 69"/>
          <p:cNvSpPr>
            <a:spLocks noChangeArrowheads="1"/>
          </p:cNvSpPr>
          <p:nvPr/>
        </p:nvSpPr>
        <p:spPr bwMode="auto">
          <a:xfrm>
            <a:off x="4725988" y="4876800"/>
            <a:ext cx="1298575" cy="1412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46" name="Rectangle 70"/>
          <p:cNvSpPr>
            <a:spLocks noChangeArrowheads="1"/>
          </p:cNvSpPr>
          <p:nvPr/>
        </p:nvSpPr>
        <p:spPr bwMode="auto">
          <a:xfrm>
            <a:off x="4902200" y="5018088"/>
            <a:ext cx="952500" cy="4048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47" name="Text Box 71"/>
          <p:cNvSpPr txBox="1">
            <a:spLocks noChangeArrowheads="1"/>
          </p:cNvSpPr>
          <p:nvPr/>
        </p:nvSpPr>
        <p:spPr bwMode="auto">
          <a:xfrm>
            <a:off x="5030788" y="4960938"/>
            <a:ext cx="796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马达</a:t>
            </a:r>
          </a:p>
        </p:txBody>
      </p:sp>
      <p:sp>
        <p:nvSpPr>
          <p:cNvPr id="1432648" name="Rectangle 72"/>
          <p:cNvSpPr>
            <a:spLocks noChangeArrowheads="1"/>
          </p:cNvSpPr>
          <p:nvPr/>
        </p:nvSpPr>
        <p:spPr bwMode="auto">
          <a:xfrm>
            <a:off x="4257675" y="841375"/>
            <a:ext cx="2063750" cy="295275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49" name="Text Box 73"/>
          <p:cNvSpPr txBox="1">
            <a:spLocks noChangeArrowheads="1"/>
          </p:cNvSpPr>
          <p:nvPr/>
        </p:nvSpPr>
        <p:spPr bwMode="auto">
          <a:xfrm>
            <a:off x="6508750" y="769938"/>
            <a:ext cx="917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横梁</a:t>
            </a:r>
          </a:p>
        </p:txBody>
      </p:sp>
      <p:sp>
        <p:nvSpPr>
          <p:cNvPr id="1432650" name="Line 74"/>
          <p:cNvSpPr>
            <a:spLocks noChangeShapeType="1"/>
          </p:cNvSpPr>
          <p:nvPr/>
        </p:nvSpPr>
        <p:spPr bwMode="auto">
          <a:xfrm>
            <a:off x="6107113" y="984250"/>
            <a:ext cx="406400" cy="9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51" name="Text Box 75"/>
          <p:cNvSpPr txBox="1">
            <a:spLocks noChangeArrowheads="1"/>
          </p:cNvSpPr>
          <p:nvPr/>
        </p:nvSpPr>
        <p:spPr bwMode="auto">
          <a:xfrm>
            <a:off x="3095625" y="1149350"/>
            <a:ext cx="1165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量力环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+mn-cs"/>
            </a:endParaRPr>
          </a:p>
        </p:txBody>
      </p:sp>
      <p:sp>
        <p:nvSpPr>
          <p:cNvPr id="1432652" name="Line 76"/>
          <p:cNvSpPr>
            <a:spLocks noChangeShapeType="1"/>
          </p:cNvSpPr>
          <p:nvPr/>
        </p:nvSpPr>
        <p:spPr bwMode="auto">
          <a:xfrm flipH="1" flipV="1">
            <a:off x="4183063" y="1441450"/>
            <a:ext cx="809625" cy="139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2653" name="Text Box 77"/>
          <p:cNvSpPr txBox="1">
            <a:spLocks noChangeArrowheads="1"/>
          </p:cNvSpPr>
          <p:nvPr/>
        </p:nvSpPr>
        <p:spPr bwMode="auto">
          <a:xfrm>
            <a:off x="2990850" y="1671638"/>
            <a:ext cx="1165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百分表</a:t>
            </a:r>
          </a:p>
        </p:txBody>
      </p:sp>
      <p:sp>
        <p:nvSpPr>
          <p:cNvPr id="1432654" name="Line 78"/>
          <p:cNvSpPr>
            <a:spLocks noChangeShapeType="1"/>
          </p:cNvSpPr>
          <p:nvPr/>
        </p:nvSpPr>
        <p:spPr bwMode="auto">
          <a:xfrm flipH="1">
            <a:off x="4102100" y="1882775"/>
            <a:ext cx="496888" cy="80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72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73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710599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564" name="Rectangle 12"/>
          <p:cNvSpPr>
            <a:spLocks noChangeArrowheads="1"/>
          </p:cNvSpPr>
          <p:nvPr/>
        </p:nvSpPr>
        <p:spPr bwMode="auto">
          <a:xfrm>
            <a:off x="2932113" y="5762625"/>
            <a:ext cx="4562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常规三轴压缩试验  </a:t>
            </a:r>
          </a:p>
        </p:txBody>
      </p:sp>
      <p:sp>
        <p:nvSpPr>
          <p:cNvPr id="1431565" name="Text Box 13"/>
          <p:cNvSpPr txBox="1">
            <a:spLocks noChangeArrowheads="1"/>
          </p:cNvSpPr>
          <p:nvPr/>
        </p:nvSpPr>
        <p:spPr bwMode="auto">
          <a:xfrm>
            <a:off x="220663" y="644525"/>
            <a:ext cx="4787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试验</a:t>
            </a:r>
            <a:r>
              <a:rPr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通常分为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两个阶段：</a:t>
            </a:r>
          </a:p>
        </p:txBody>
      </p:sp>
      <p:sp>
        <p:nvSpPr>
          <p:cNvPr id="1431566" name="Text Box 14"/>
          <p:cNvSpPr txBox="1">
            <a:spLocks noChangeArrowheads="1"/>
          </p:cNvSpPr>
          <p:nvPr/>
        </p:nvSpPr>
        <p:spPr bwMode="auto">
          <a:xfrm>
            <a:off x="892175" y="1801813"/>
            <a:ext cx="3127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ea typeface="幼圆" pitchFamily="49" charset="-122"/>
                <a:cs typeface="Times New Roman" panose="02020603050405020304" pitchFamily="18" charset="0"/>
              </a:rPr>
              <a:t> 施加周围压力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</a:t>
            </a:r>
            <a:endParaRPr kumimoji="0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31567" name="Text Box 15"/>
          <p:cNvSpPr txBox="1">
            <a:spLocks noChangeArrowheads="1"/>
          </p:cNvSpPr>
          <p:nvPr/>
        </p:nvSpPr>
        <p:spPr bwMode="auto">
          <a:xfrm>
            <a:off x="6072188" y="1276350"/>
            <a:ext cx="2674937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过程中，允许试样排水称为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固结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；不允许试样排水称为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不固结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+mn-cs"/>
            </a:endParaRPr>
          </a:p>
        </p:txBody>
      </p:sp>
      <p:grpSp>
        <p:nvGrpSpPr>
          <p:cNvPr id="1431568" name="Group 16"/>
          <p:cNvGrpSpPr>
            <a:grpSpLocks/>
          </p:cNvGrpSpPr>
          <p:nvPr/>
        </p:nvGrpSpPr>
        <p:grpSpPr bwMode="auto">
          <a:xfrm>
            <a:off x="4197351" y="1038225"/>
            <a:ext cx="1368426" cy="1736725"/>
            <a:chOff x="2624" y="1108"/>
            <a:chExt cx="862" cy="1094"/>
          </a:xfrm>
        </p:grpSpPr>
        <p:sp>
          <p:nvSpPr>
            <p:cNvPr id="1431569" name="Text Box 17"/>
            <p:cNvSpPr txBox="1">
              <a:spLocks noChangeArrowheads="1"/>
            </p:cNvSpPr>
            <p:nvPr/>
          </p:nvSpPr>
          <p:spPr bwMode="auto">
            <a:xfrm>
              <a:off x="2624" y="1419"/>
              <a:ext cx="26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000" b="1" u="none" strike="noStrike" kern="1200" cap="none" spc="0" normalizeH="0" baseline="-2500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endParaRPr kumimoji="0" lang="zh-CN" altLang="en-US" sz="2000" b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1570" name="Text Box 18"/>
            <p:cNvSpPr txBox="1">
              <a:spLocks noChangeArrowheads="1"/>
            </p:cNvSpPr>
            <p:nvPr/>
          </p:nvSpPr>
          <p:spPr bwMode="auto">
            <a:xfrm>
              <a:off x="3224" y="1449"/>
              <a:ext cx="26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000" b="1" u="none" strike="noStrike" kern="1200" cap="none" spc="0" normalizeH="0" baseline="-2500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endParaRPr kumimoji="0" lang="zh-CN" altLang="en-US" sz="2000" b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1571" name="Text Box 19"/>
            <p:cNvSpPr txBox="1">
              <a:spLocks noChangeArrowheads="1"/>
            </p:cNvSpPr>
            <p:nvPr/>
          </p:nvSpPr>
          <p:spPr bwMode="auto">
            <a:xfrm>
              <a:off x="3037" y="1108"/>
              <a:ext cx="26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000" b="1" u="none" strike="noStrike" kern="1200" cap="none" spc="0" normalizeH="0" baseline="-2500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endParaRPr kumimoji="0" lang="zh-CN" altLang="en-US" sz="2000" b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1572" name="Text Box 20"/>
            <p:cNvSpPr txBox="1">
              <a:spLocks noChangeArrowheads="1"/>
            </p:cNvSpPr>
            <p:nvPr/>
          </p:nvSpPr>
          <p:spPr bwMode="auto">
            <a:xfrm>
              <a:off x="3085" y="1950"/>
              <a:ext cx="26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000" b="1" u="none" strike="noStrike" kern="1200" cap="none" spc="0" normalizeH="0" baseline="-2500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endParaRPr kumimoji="0" lang="zh-CN" altLang="en-US" sz="2000" b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1573" name="AutoShape 21"/>
            <p:cNvSpPr>
              <a:spLocks noChangeArrowheads="1"/>
            </p:cNvSpPr>
            <p:nvPr/>
          </p:nvSpPr>
          <p:spPr bwMode="auto">
            <a:xfrm>
              <a:off x="2913" y="1424"/>
              <a:ext cx="278" cy="549"/>
            </a:xfrm>
            <a:prstGeom prst="can">
              <a:avLst>
                <a:gd name="adj" fmla="val 49371"/>
              </a:avLst>
            </a:prstGeom>
            <a:solidFill>
              <a:srgbClr val="CC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1574" name="Line 22"/>
            <p:cNvSpPr>
              <a:spLocks noChangeShapeType="1"/>
            </p:cNvSpPr>
            <p:nvPr/>
          </p:nvSpPr>
          <p:spPr bwMode="auto">
            <a:xfrm>
              <a:off x="2653" y="1696"/>
              <a:ext cx="197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1575" name="Line 23"/>
            <p:cNvSpPr>
              <a:spLocks noChangeShapeType="1"/>
            </p:cNvSpPr>
            <p:nvPr/>
          </p:nvSpPr>
          <p:spPr bwMode="auto">
            <a:xfrm flipH="1">
              <a:off x="3221" y="1702"/>
              <a:ext cx="197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1576" name="Line 24"/>
            <p:cNvSpPr>
              <a:spLocks noChangeShapeType="1"/>
            </p:cNvSpPr>
            <p:nvPr/>
          </p:nvSpPr>
          <p:spPr bwMode="auto">
            <a:xfrm rot="5400000" flipH="1">
              <a:off x="2980" y="2052"/>
              <a:ext cx="164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1577" name="Line 25"/>
            <p:cNvSpPr>
              <a:spLocks noChangeShapeType="1"/>
            </p:cNvSpPr>
            <p:nvPr/>
          </p:nvSpPr>
          <p:spPr bwMode="auto">
            <a:xfrm rot="5400000">
              <a:off x="2943" y="1315"/>
              <a:ext cx="197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</p:grpSp>
      <p:sp>
        <p:nvSpPr>
          <p:cNvPr id="1431578" name="Text Box 26"/>
          <p:cNvSpPr txBox="1">
            <a:spLocks noChangeArrowheads="1"/>
          </p:cNvSpPr>
          <p:nvPr/>
        </p:nvSpPr>
        <p:spPr bwMode="auto">
          <a:xfrm>
            <a:off x="919163" y="3844925"/>
            <a:ext cx="25558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533400" indent="-5334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施加轴向力，</a:t>
            </a:r>
            <a:b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</a:b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进行剪切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  <a:sym typeface="Symbol" pitchFamily="18" charset="2"/>
              </a:rPr>
              <a:t>：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幼圆" pitchFamily="49" charset="-122"/>
              <a:ea typeface="幼圆" pitchFamily="49" charset="-122"/>
              <a:cs typeface="+mn-cs"/>
              <a:sym typeface="Symbol" pitchFamily="18" charset="2"/>
            </a:endParaRPr>
          </a:p>
        </p:txBody>
      </p:sp>
      <p:grpSp>
        <p:nvGrpSpPr>
          <p:cNvPr id="1431579" name="Group 27"/>
          <p:cNvGrpSpPr>
            <a:grpSpLocks/>
          </p:cNvGrpSpPr>
          <p:nvPr/>
        </p:nvGrpSpPr>
        <p:grpSpPr bwMode="auto">
          <a:xfrm>
            <a:off x="4224338" y="3209925"/>
            <a:ext cx="1382712" cy="2252663"/>
            <a:chOff x="2901" y="2012"/>
            <a:chExt cx="871" cy="1419"/>
          </a:xfrm>
        </p:grpSpPr>
        <p:sp>
          <p:nvSpPr>
            <p:cNvPr id="1431580" name="Text Box 28"/>
            <p:cNvSpPr txBox="1">
              <a:spLocks noChangeArrowheads="1"/>
            </p:cNvSpPr>
            <p:nvPr/>
          </p:nvSpPr>
          <p:spPr bwMode="auto">
            <a:xfrm>
              <a:off x="2901" y="2455"/>
              <a:ext cx="2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000" b="1" u="none" strike="noStrike" kern="1200" cap="none" spc="0" normalizeH="0" baseline="-2500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endParaRPr kumimoji="0" lang="zh-CN" altLang="en-US" sz="2000" b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1581" name="Text Box 29"/>
            <p:cNvSpPr txBox="1">
              <a:spLocks noChangeArrowheads="1"/>
            </p:cNvSpPr>
            <p:nvPr/>
          </p:nvSpPr>
          <p:spPr bwMode="auto">
            <a:xfrm>
              <a:off x="3501" y="2485"/>
              <a:ext cx="2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000" b="1" u="none" strike="noStrike" kern="1200" cap="none" spc="0" normalizeH="0" baseline="-2500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endParaRPr kumimoji="0" lang="zh-CN" altLang="en-US" sz="2000" b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1582" name="Text Box 30"/>
            <p:cNvSpPr txBox="1">
              <a:spLocks noChangeArrowheads="1"/>
            </p:cNvSpPr>
            <p:nvPr/>
          </p:nvSpPr>
          <p:spPr bwMode="auto">
            <a:xfrm>
              <a:off x="3314" y="2144"/>
              <a:ext cx="2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000" b="1" u="none" strike="noStrike" kern="1200" cap="none" spc="0" normalizeH="0" baseline="-2500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endParaRPr kumimoji="0" lang="zh-CN" altLang="en-US" sz="2000" b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1583" name="Text Box 31"/>
            <p:cNvSpPr txBox="1">
              <a:spLocks noChangeArrowheads="1"/>
            </p:cNvSpPr>
            <p:nvPr/>
          </p:nvSpPr>
          <p:spPr bwMode="auto">
            <a:xfrm>
              <a:off x="3362" y="2944"/>
              <a:ext cx="27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000" b="1" u="none" strike="noStrike" kern="1200" cap="none" spc="0" normalizeH="0" baseline="-2500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endParaRPr kumimoji="0" lang="zh-CN" altLang="en-US" sz="2000" b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Times New Roman" panose="02020603050405020304" pitchFamily="18" charset="0"/>
              </a:endParaRPr>
            </a:p>
          </p:txBody>
        </p:sp>
        <p:sp>
          <p:nvSpPr>
            <p:cNvPr id="1431584" name="AutoShape 32"/>
            <p:cNvSpPr>
              <a:spLocks noChangeArrowheads="1"/>
            </p:cNvSpPr>
            <p:nvPr/>
          </p:nvSpPr>
          <p:spPr bwMode="auto">
            <a:xfrm>
              <a:off x="3190" y="2460"/>
              <a:ext cx="278" cy="549"/>
            </a:xfrm>
            <a:prstGeom prst="can">
              <a:avLst>
                <a:gd name="adj" fmla="val 49371"/>
              </a:avLst>
            </a:prstGeom>
            <a:solidFill>
              <a:srgbClr val="CCCC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1585" name="Line 33"/>
            <p:cNvSpPr>
              <a:spLocks noChangeShapeType="1"/>
            </p:cNvSpPr>
            <p:nvPr/>
          </p:nvSpPr>
          <p:spPr bwMode="auto">
            <a:xfrm>
              <a:off x="2930" y="2732"/>
              <a:ext cx="197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1586" name="Line 34"/>
            <p:cNvSpPr>
              <a:spLocks noChangeShapeType="1"/>
            </p:cNvSpPr>
            <p:nvPr/>
          </p:nvSpPr>
          <p:spPr bwMode="auto">
            <a:xfrm flipH="1">
              <a:off x="3498" y="2738"/>
              <a:ext cx="197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1587" name="Line 35"/>
            <p:cNvSpPr>
              <a:spLocks noChangeShapeType="1"/>
            </p:cNvSpPr>
            <p:nvPr/>
          </p:nvSpPr>
          <p:spPr bwMode="auto">
            <a:xfrm rot="5400000" flipH="1">
              <a:off x="3257" y="3088"/>
              <a:ext cx="164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1588" name="Line 36"/>
            <p:cNvSpPr>
              <a:spLocks noChangeShapeType="1"/>
            </p:cNvSpPr>
            <p:nvPr/>
          </p:nvSpPr>
          <p:spPr bwMode="auto">
            <a:xfrm rot="5400000">
              <a:off x="3220" y="2351"/>
              <a:ext cx="197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1589" name="Line 37"/>
            <p:cNvSpPr>
              <a:spLocks noChangeShapeType="1"/>
            </p:cNvSpPr>
            <p:nvPr/>
          </p:nvSpPr>
          <p:spPr bwMode="auto">
            <a:xfrm rot="16200000">
              <a:off x="3276" y="3306"/>
              <a:ext cx="137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1590" name="Text Box 38"/>
            <p:cNvSpPr txBox="1">
              <a:spLocks noChangeArrowheads="1"/>
            </p:cNvSpPr>
            <p:nvPr/>
          </p:nvSpPr>
          <p:spPr bwMode="auto">
            <a:xfrm>
              <a:off x="3375" y="3181"/>
              <a:ext cx="31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kumimoji="1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  <p:sp>
          <p:nvSpPr>
            <p:cNvPr id="1431591" name="Line 39"/>
            <p:cNvSpPr>
              <a:spLocks noChangeShapeType="1"/>
            </p:cNvSpPr>
            <p:nvPr/>
          </p:nvSpPr>
          <p:spPr bwMode="auto">
            <a:xfrm rot="5400000" flipV="1">
              <a:off x="3251" y="2137"/>
              <a:ext cx="137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1592" name="Text Box 40"/>
            <p:cNvSpPr txBox="1">
              <a:spLocks noChangeArrowheads="1"/>
            </p:cNvSpPr>
            <p:nvPr/>
          </p:nvSpPr>
          <p:spPr bwMode="auto">
            <a:xfrm>
              <a:off x="3329" y="2012"/>
              <a:ext cx="31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kumimoji="1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</a:p>
          </p:txBody>
        </p:sp>
      </p:grpSp>
      <p:sp>
        <p:nvSpPr>
          <p:cNvPr id="1431593" name="Text Box 41"/>
          <p:cNvSpPr txBox="1">
            <a:spLocks noChangeArrowheads="1"/>
          </p:cNvSpPr>
          <p:nvPr/>
        </p:nvSpPr>
        <p:spPr bwMode="auto">
          <a:xfrm>
            <a:off x="6072188" y="3541713"/>
            <a:ext cx="2674937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过程中，允许试样排水称为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排水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；不允许试样排水称为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不排水</a:t>
            </a:r>
          </a:p>
        </p:txBody>
      </p:sp>
      <p:sp>
        <p:nvSpPr>
          <p:cNvPr id="34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357776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31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31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31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431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431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431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431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431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31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431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31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4315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431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1431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31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31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1565" grpId="0"/>
      <p:bldP spid="1431566" grpId="0"/>
      <p:bldP spid="1431567" grpId="0"/>
      <p:bldP spid="1431578" grpId="0"/>
      <p:bldP spid="143159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831" name="Rectangle 135"/>
          <p:cNvSpPr>
            <a:spLocks noChangeArrowheads="1"/>
          </p:cNvSpPr>
          <p:nvPr/>
        </p:nvSpPr>
        <p:spPr bwMode="auto">
          <a:xfrm>
            <a:off x="2933700" y="5765800"/>
            <a:ext cx="44418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常规三轴压缩试验  </a:t>
            </a:r>
          </a:p>
        </p:txBody>
      </p:sp>
      <p:sp>
        <p:nvSpPr>
          <p:cNvPr id="1437832" name="Text Box 136"/>
          <p:cNvSpPr txBox="1">
            <a:spLocks noChangeArrowheads="1"/>
          </p:cNvSpPr>
          <p:nvPr/>
        </p:nvSpPr>
        <p:spPr bwMode="auto">
          <a:xfrm>
            <a:off x="1560513" y="2165350"/>
            <a:ext cx="7240587" cy="310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 不固结不排水试验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[UU]</a:t>
            </a:r>
            <a:b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</a:b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    unconsolidated-undrained test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 固结不排水试验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[CU]</a:t>
            </a:r>
            <a:b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</a:b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    consolidated-undrained test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  <a:tabLst/>
              <a:defRPr/>
            </a:pPr>
            <a:r>
              <a:rPr kumimoji="0" lang="zh-CN" altLang="en-US" sz="2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 固结排水试验</a:t>
            </a: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[CD]</a:t>
            </a:r>
            <a:b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</a:b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    consolidated-drained test</a:t>
            </a:r>
            <a:endParaRPr kumimoji="0" lang="zh-CN" altLang="en-US" sz="26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7833" name="Text Box 137"/>
          <p:cNvSpPr txBox="1">
            <a:spLocks noChangeArrowheads="1"/>
          </p:cNvSpPr>
          <p:nvPr/>
        </p:nvSpPr>
        <p:spPr bwMode="auto">
          <a:xfrm>
            <a:off x="931863" y="928688"/>
            <a:ext cx="678973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  常规三轴压缩试验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    conventional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triaxial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 compression test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471190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37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37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783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735" name="Rectangle 15"/>
          <p:cNvSpPr>
            <a:spLocks noChangeArrowheads="1"/>
          </p:cNvSpPr>
          <p:nvPr/>
        </p:nvSpPr>
        <p:spPr bwMode="auto">
          <a:xfrm>
            <a:off x="3028950" y="5848350"/>
            <a:ext cx="42878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固结排水试验</a:t>
            </a:r>
          </a:p>
        </p:txBody>
      </p:sp>
      <p:sp>
        <p:nvSpPr>
          <p:cNvPr id="1438736" name="Rectangle 16"/>
          <p:cNvSpPr>
            <a:spLocks noChangeArrowheads="1"/>
          </p:cNvSpPr>
          <p:nvPr/>
        </p:nvSpPr>
        <p:spPr bwMode="auto">
          <a:xfrm>
            <a:off x="400050" y="819150"/>
            <a:ext cx="270668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450850" marR="0" lvl="0" indent="-450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试验过程：</a:t>
            </a:r>
          </a:p>
        </p:txBody>
      </p:sp>
      <p:grpSp>
        <p:nvGrpSpPr>
          <p:cNvPr id="1438737" name="Group 17"/>
          <p:cNvGrpSpPr>
            <a:grpSpLocks/>
          </p:cNvGrpSpPr>
          <p:nvPr/>
        </p:nvGrpSpPr>
        <p:grpSpPr bwMode="auto">
          <a:xfrm>
            <a:off x="4560888" y="720725"/>
            <a:ext cx="4433887" cy="4932363"/>
            <a:chOff x="2873" y="454"/>
            <a:chExt cx="2793" cy="3107"/>
          </a:xfrm>
        </p:grpSpPr>
        <p:sp>
          <p:nvSpPr>
            <p:cNvPr id="1438738" name="Rectangle 18"/>
            <p:cNvSpPr>
              <a:spLocks noChangeArrowheads="1"/>
            </p:cNvSpPr>
            <p:nvPr/>
          </p:nvSpPr>
          <p:spPr bwMode="auto">
            <a:xfrm>
              <a:off x="2873" y="454"/>
              <a:ext cx="2793" cy="310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39" name="Rectangle 19"/>
            <p:cNvSpPr>
              <a:spLocks noChangeArrowheads="1"/>
            </p:cNvSpPr>
            <p:nvPr/>
          </p:nvSpPr>
          <p:spPr bwMode="auto">
            <a:xfrm>
              <a:off x="5429" y="1843"/>
              <a:ext cx="70" cy="89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40" name="Rectangle 20"/>
            <p:cNvSpPr>
              <a:spLocks noChangeArrowheads="1"/>
            </p:cNvSpPr>
            <p:nvPr/>
          </p:nvSpPr>
          <p:spPr bwMode="auto">
            <a:xfrm>
              <a:off x="3788" y="1462"/>
              <a:ext cx="979" cy="143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41" name="Rectangle 21" descr="大纸屑"/>
            <p:cNvSpPr>
              <a:spLocks noChangeArrowheads="1"/>
            </p:cNvSpPr>
            <p:nvPr/>
          </p:nvSpPr>
          <p:spPr bwMode="auto">
            <a:xfrm>
              <a:off x="4067" y="2599"/>
              <a:ext cx="425" cy="73"/>
            </a:xfrm>
            <a:prstGeom prst="rect">
              <a:avLst/>
            </a:prstGeom>
            <a:pattFill prst="lgConfetti">
              <a:fgClr>
                <a:schemeClr val="tx2"/>
              </a:fgClr>
              <a:bgClr>
                <a:srgbClr val="FFCC66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42" name="Rectangle 22" descr="浅色上对角线"/>
            <p:cNvSpPr>
              <a:spLocks noChangeArrowheads="1"/>
            </p:cNvSpPr>
            <p:nvPr/>
          </p:nvSpPr>
          <p:spPr bwMode="auto">
            <a:xfrm>
              <a:off x="4059" y="1654"/>
              <a:ext cx="435" cy="145"/>
            </a:xfrm>
            <a:prstGeom prst="rect">
              <a:avLst/>
            </a:prstGeom>
            <a:pattFill prst="ltUpDiag">
              <a:fgClr>
                <a:srgbClr val="5F5F5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pSp>
          <p:nvGrpSpPr>
            <p:cNvPr id="1438743" name="Group 23"/>
            <p:cNvGrpSpPr>
              <a:grpSpLocks/>
            </p:cNvGrpSpPr>
            <p:nvPr/>
          </p:nvGrpSpPr>
          <p:grpSpPr bwMode="auto">
            <a:xfrm>
              <a:off x="4052" y="1696"/>
              <a:ext cx="452" cy="1025"/>
              <a:chOff x="3374" y="2353"/>
              <a:chExt cx="452" cy="1025"/>
            </a:xfrm>
          </p:grpSpPr>
          <p:sp>
            <p:nvSpPr>
              <p:cNvPr id="1438744" name="Line 24"/>
              <p:cNvSpPr>
                <a:spLocks noChangeShapeType="1"/>
              </p:cNvSpPr>
              <p:nvPr/>
            </p:nvSpPr>
            <p:spPr bwMode="auto">
              <a:xfrm>
                <a:off x="3374" y="2359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38745" name="Line 25"/>
              <p:cNvSpPr>
                <a:spLocks noChangeShapeType="1"/>
              </p:cNvSpPr>
              <p:nvPr/>
            </p:nvSpPr>
            <p:spPr bwMode="auto">
              <a:xfrm>
                <a:off x="3826" y="2353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</p:grpSp>
        <p:grpSp>
          <p:nvGrpSpPr>
            <p:cNvPr id="1438746" name="Group 26"/>
            <p:cNvGrpSpPr>
              <a:grpSpLocks/>
            </p:cNvGrpSpPr>
            <p:nvPr/>
          </p:nvGrpSpPr>
          <p:grpSpPr bwMode="auto">
            <a:xfrm>
              <a:off x="3999" y="1714"/>
              <a:ext cx="549" cy="1001"/>
              <a:chOff x="3321" y="2371"/>
              <a:chExt cx="549" cy="1001"/>
            </a:xfrm>
          </p:grpSpPr>
          <p:sp>
            <p:nvSpPr>
              <p:cNvPr id="1438747" name="Oval 27"/>
              <p:cNvSpPr>
                <a:spLocks noChangeArrowheads="1"/>
              </p:cNvSpPr>
              <p:nvPr/>
            </p:nvSpPr>
            <p:spPr bwMode="auto">
              <a:xfrm>
                <a:off x="3330" y="2383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38748" name="Oval 28"/>
              <p:cNvSpPr>
                <a:spLocks noChangeArrowheads="1"/>
              </p:cNvSpPr>
              <p:nvPr/>
            </p:nvSpPr>
            <p:spPr bwMode="auto">
              <a:xfrm>
                <a:off x="3832" y="3329"/>
                <a:ext cx="36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38749" name="Oval 29"/>
              <p:cNvSpPr>
                <a:spLocks noChangeArrowheads="1"/>
              </p:cNvSpPr>
              <p:nvPr/>
            </p:nvSpPr>
            <p:spPr bwMode="auto">
              <a:xfrm>
                <a:off x="3321" y="3335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38750" name="Oval 30"/>
              <p:cNvSpPr>
                <a:spLocks noChangeArrowheads="1"/>
              </p:cNvSpPr>
              <p:nvPr/>
            </p:nvSpPr>
            <p:spPr bwMode="auto">
              <a:xfrm>
                <a:off x="3835" y="2371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endParaRPr>
              </a:p>
            </p:txBody>
          </p:sp>
        </p:grpSp>
        <p:grpSp>
          <p:nvGrpSpPr>
            <p:cNvPr id="1438751" name="Group 31"/>
            <p:cNvGrpSpPr>
              <a:grpSpLocks/>
            </p:cNvGrpSpPr>
            <p:nvPr/>
          </p:nvGrpSpPr>
          <p:grpSpPr bwMode="auto">
            <a:xfrm>
              <a:off x="3706" y="2672"/>
              <a:ext cx="1135" cy="400"/>
              <a:chOff x="3028" y="3329"/>
              <a:chExt cx="1135" cy="400"/>
            </a:xfrm>
          </p:grpSpPr>
          <p:sp>
            <p:nvSpPr>
              <p:cNvPr id="1438752" name="Rectangle 32"/>
              <p:cNvSpPr>
                <a:spLocks noChangeArrowheads="1"/>
              </p:cNvSpPr>
              <p:nvPr/>
            </p:nvSpPr>
            <p:spPr bwMode="auto">
              <a:xfrm>
                <a:off x="3389" y="3329"/>
                <a:ext cx="425" cy="218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38753" name="Rectangle 33"/>
              <p:cNvSpPr>
                <a:spLocks noChangeArrowheads="1"/>
              </p:cNvSpPr>
              <p:nvPr/>
            </p:nvSpPr>
            <p:spPr bwMode="auto">
              <a:xfrm>
                <a:off x="3028" y="3547"/>
                <a:ext cx="1135" cy="182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</p:grpSp>
        <p:sp>
          <p:nvSpPr>
            <p:cNvPr id="1438754" name="Line 34" descr="30%"/>
            <p:cNvSpPr>
              <a:spLocks noChangeShapeType="1"/>
            </p:cNvSpPr>
            <p:nvPr/>
          </p:nvSpPr>
          <p:spPr bwMode="auto">
            <a:xfrm>
              <a:off x="3781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55" name="Line 35" descr="30%"/>
            <p:cNvSpPr>
              <a:spLocks noChangeShapeType="1"/>
            </p:cNvSpPr>
            <p:nvPr/>
          </p:nvSpPr>
          <p:spPr bwMode="auto">
            <a:xfrm>
              <a:off x="4774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56" name="Rectangle 36"/>
            <p:cNvSpPr>
              <a:spLocks noChangeArrowheads="1"/>
            </p:cNvSpPr>
            <p:nvPr/>
          </p:nvSpPr>
          <p:spPr bwMode="auto">
            <a:xfrm>
              <a:off x="3574" y="1369"/>
              <a:ext cx="639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57" name="Rectangle 37"/>
            <p:cNvSpPr>
              <a:spLocks noChangeArrowheads="1"/>
            </p:cNvSpPr>
            <p:nvPr/>
          </p:nvSpPr>
          <p:spPr bwMode="auto">
            <a:xfrm>
              <a:off x="4343" y="1369"/>
              <a:ext cx="638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58" name="Rectangle 38" descr="浅色竖线"/>
            <p:cNvSpPr>
              <a:spLocks noChangeArrowheads="1"/>
            </p:cNvSpPr>
            <p:nvPr/>
          </p:nvSpPr>
          <p:spPr bwMode="auto">
            <a:xfrm>
              <a:off x="4216" y="1160"/>
              <a:ext cx="126" cy="496"/>
            </a:xfrm>
            <a:custGeom>
              <a:avLst/>
              <a:gdLst>
                <a:gd name="connsiteX0" fmla="*/ 0 w 200025"/>
                <a:gd name="connsiteY0" fmla="*/ 0 h 771525"/>
                <a:gd name="connsiteX1" fmla="*/ 200025 w 200025"/>
                <a:gd name="connsiteY1" fmla="*/ 0 h 771525"/>
                <a:gd name="connsiteX2" fmla="*/ 200025 w 200025"/>
                <a:gd name="connsiteY2" fmla="*/ 771525 h 771525"/>
                <a:gd name="connsiteX3" fmla="*/ 0 w 200025"/>
                <a:gd name="connsiteY3" fmla="*/ 771525 h 771525"/>
                <a:gd name="connsiteX4" fmla="*/ 0 w 200025"/>
                <a:gd name="connsiteY4" fmla="*/ 0 h 771525"/>
                <a:gd name="connsiteX0" fmla="*/ 0 w 200025"/>
                <a:gd name="connsiteY0" fmla="*/ 0 h 787635"/>
                <a:gd name="connsiteX1" fmla="*/ 200025 w 200025"/>
                <a:gd name="connsiteY1" fmla="*/ 0 h 787635"/>
                <a:gd name="connsiteX2" fmla="*/ 200025 w 200025"/>
                <a:gd name="connsiteY2" fmla="*/ 771525 h 787635"/>
                <a:gd name="connsiteX3" fmla="*/ 93702 w 200025"/>
                <a:gd name="connsiteY3" fmla="*/ 787626 h 787635"/>
                <a:gd name="connsiteX4" fmla="*/ 0 w 200025"/>
                <a:gd name="connsiteY4" fmla="*/ 771525 h 787635"/>
                <a:gd name="connsiteX5" fmla="*/ 0 w 200025"/>
                <a:gd name="connsiteY5" fmla="*/ 0 h 787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025" h="787635">
                  <a:moveTo>
                    <a:pt x="0" y="0"/>
                  </a:moveTo>
                  <a:lnTo>
                    <a:pt x="200025" y="0"/>
                  </a:lnTo>
                  <a:lnTo>
                    <a:pt x="200025" y="771525"/>
                  </a:lnTo>
                  <a:cubicBezTo>
                    <a:pt x="165419" y="771047"/>
                    <a:pt x="128308" y="788104"/>
                    <a:pt x="93702" y="787626"/>
                  </a:cubicBezTo>
                  <a:lnTo>
                    <a:pt x="0" y="771525"/>
                  </a:lnTo>
                  <a:lnTo>
                    <a:pt x="0" y="0"/>
                  </a:lnTo>
                  <a:close/>
                </a:path>
              </a:pathLst>
            </a:custGeom>
            <a:pattFill prst="ltVert">
              <a:fgClr>
                <a:srgbClr val="4D4D4D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pSp>
          <p:nvGrpSpPr>
            <p:cNvPr id="1438759" name="Group 39"/>
            <p:cNvGrpSpPr>
              <a:grpSpLocks/>
            </p:cNvGrpSpPr>
            <p:nvPr/>
          </p:nvGrpSpPr>
          <p:grpSpPr bwMode="auto">
            <a:xfrm>
              <a:off x="4061" y="1799"/>
              <a:ext cx="434" cy="800"/>
              <a:chOff x="3383" y="2456"/>
              <a:chExt cx="434" cy="800"/>
            </a:xfrm>
          </p:grpSpPr>
          <p:sp>
            <p:nvSpPr>
              <p:cNvPr id="1438760" name="Rectangle 40"/>
              <p:cNvSpPr>
                <a:spLocks noChangeArrowheads="1"/>
              </p:cNvSpPr>
              <p:nvPr/>
            </p:nvSpPr>
            <p:spPr bwMode="auto">
              <a:xfrm>
                <a:off x="3383" y="2456"/>
                <a:ext cx="434" cy="800"/>
              </a:xfrm>
              <a:prstGeom prst="rect">
                <a:avLst/>
              </a:prstGeom>
              <a:solidFill>
                <a:srgbClr val="996633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38761" name="Text Box 41"/>
              <p:cNvSpPr txBox="1">
                <a:spLocks noChangeArrowheads="1"/>
              </p:cNvSpPr>
              <p:nvPr/>
            </p:nvSpPr>
            <p:spPr bwMode="auto">
              <a:xfrm>
                <a:off x="3436" y="2602"/>
                <a:ext cx="308" cy="472"/>
              </a:xfrm>
              <a:prstGeom prst="rect">
                <a:avLst/>
              </a:prstGeom>
              <a:solidFill>
                <a:srgbClr val="9966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Times New Roman" pitchFamily="18" charset="0"/>
                    <a:ea typeface="幼圆" pitchFamily="49" charset="-122"/>
                    <a:cs typeface="+mn-cs"/>
                    <a:sym typeface="Symbol" pitchFamily="18" charset="2"/>
                  </a:rPr>
                  <a:t>试样</a:t>
                </a:r>
              </a:p>
            </p:txBody>
          </p:sp>
        </p:grpSp>
        <p:sp>
          <p:nvSpPr>
            <p:cNvPr id="1438762" name="Text Box 42"/>
            <p:cNvSpPr txBox="1">
              <a:spLocks noChangeArrowheads="1"/>
            </p:cNvSpPr>
            <p:nvPr/>
          </p:nvSpPr>
          <p:spPr bwMode="auto">
            <a:xfrm>
              <a:off x="2958" y="2264"/>
              <a:ext cx="67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围压</a:t>
              </a:r>
              <a:b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</a:b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力</a:t>
              </a:r>
              <a:r>
                <a:rPr kumimoji="0" lang="zh-CN" alt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0" lang="en-US" altLang="zh-CN" sz="2400" b="1" u="none" strike="noStrike" kern="1200" cap="none" spc="0" normalizeH="0" baseline="-2500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kumimoji="0" lang="zh-CN" altLang="zh-CN" sz="2400" b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38763" name="Text Box 43"/>
            <p:cNvSpPr txBox="1">
              <a:spLocks noChangeArrowheads="1"/>
            </p:cNvSpPr>
            <p:nvPr/>
          </p:nvSpPr>
          <p:spPr bwMode="auto">
            <a:xfrm>
              <a:off x="4921" y="3076"/>
              <a:ext cx="514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阀门</a:t>
              </a:r>
            </a:p>
          </p:txBody>
        </p:sp>
        <p:sp>
          <p:nvSpPr>
            <p:cNvPr id="1438764" name="Text Box 44"/>
            <p:cNvSpPr txBox="1">
              <a:spLocks noChangeArrowheads="1"/>
            </p:cNvSpPr>
            <p:nvPr/>
          </p:nvSpPr>
          <p:spPr bwMode="auto">
            <a:xfrm>
              <a:off x="3143" y="3043"/>
              <a:ext cx="514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阀门</a:t>
              </a:r>
            </a:p>
          </p:txBody>
        </p:sp>
        <p:sp>
          <p:nvSpPr>
            <p:cNvPr id="1438765" name="Freeform 45"/>
            <p:cNvSpPr>
              <a:spLocks/>
            </p:cNvSpPr>
            <p:nvPr/>
          </p:nvSpPr>
          <p:spPr bwMode="auto">
            <a:xfrm>
              <a:off x="3025" y="2882"/>
              <a:ext cx="888" cy="61"/>
            </a:xfrm>
            <a:custGeom>
              <a:avLst/>
              <a:gdLst>
                <a:gd name="T0" fmla="*/ 1253 w 1253"/>
                <a:gd name="T1" fmla="*/ 0 h 67"/>
                <a:gd name="T2" fmla="*/ 1253 w 1253"/>
                <a:gd name="T3" fmla="*/ 67 h 67"/>
                <a:gd name="T4" fmla="*/ 0 w 1253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53" h="67">
                  <a:moveTo>
                    <a:pt x="1253" y="0"/>
                  </a:moveTo>
                  <a:lnTo>
                    <a:pt x="1253" y="67"/>
                  </a:lnTo>
                  <a:lnTo>
                    <a:pt x="0" y="67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66" name="AutoShape 46"/>
            <p:cNvSpPr>
              <a:spLocks noChangeArrowheads="1"/>
            </p:cNvSpPr>
            <p:nvPr/>
          </p:nvSpPr>
          <p:spPr bwMode="auto">
            <a:xfrm>
              <a:off x="3331" y="2874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67" name="Freeform 47"/>
            <p:cNvSpPr>
              <a:spLocks/>
            </p:cNvSpPr>
            <p:nvPr/>
          </p:nvSpPr>
          <p:spPr bwMode="auto">
            <a:xfrm>
              <a:off x="4359" y="2671"/>
              <a:ext cx="1097" cy="302"/>
            </a:xfrm>
            <a:custGeom>
              <a:avLst/>
              <a:gdLst>
                <a:gd name="T0" fmla="*/ 0 w 1257"/>
                <a:gd name="T1" fmla="*/ 0 h 302"/>
                <a:gd name="T2" fmla="*/ 0 w 1257"/>
                <a:gd name="T3" fmla="*/ 298 h 302"/>
                <a:gd name="T4" fmla="*/ 1257 w 1257"/>
                <a:gd name="T5" fmla="*/ 302 h 302"/>
                <a:gd name="T6" fmla="*/ 1257 w 1257"/>
                <a:gd name="T7" fmla="*/ 65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7" h="302">
                  <a:moveTo>
                    <a:pt x="0" y="0"/>
                  </a:moveTo>
                  <a:lnTo>
                    <a:pt x="0" y="298"/>
                  </a:lnTo>
                  <a:lnTo>
                    <a:pt x="1257" y="302"/>
                  </a:lnTo>
                  <a:lnTo>
                    <a:pt x="1257" y="65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68" name="AutoShape 48"/>
            <p:cNvSpPr>
              <a:spLocks noChangeArrowheads="1"/>
            </p:cNvSpPr>
            <p:nvPr/>
          </p:nvSpPr>
          <p:spPr bwMode="auto">
            <a:xfrm>
              <a:off x="5000" y="2882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69" name="Oval 49"/>
            <p:cNvSpPr>
              <a:spLocks noChangeArrowheads="1"/>
            </p:cNvSpPr>
            <p:nvPr/>
          </p:nvSpPr>
          <p:spPr bwMode="auto">
            <a:xfrm>
              <a:off x="4054" y="746"/>
              <a:ext cx="442" cy="455"/>
            </a:xfrm>
            <a:prstGeom prst="ellipse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pSp>
          <p:nvGrpSpPr>
            <p:cNvPr id="1438770" name="Group 50"/>
            <p:cNvGrpSpPr>
              <a:grpSpLocks/>
            </p:cNvGrpSpPr>
            <p:nvPr/>
          </p:nvGrpSpPr>
          <p:grpSpPr bwMode="auto">
            <a:xfrm>
              <a:off x="4179" y="745"/>
              <a:ext cx="192" cy="340"/>
              <a:chOff x="371" y="1926"/>
              <a:chExt cx="192" cy="340"/>
            </a:xfrm>
          </p:grpSpPr>
          <p:sp>
            <p:nvSpPr>
              <p:cNvPr id="1438771" name="Line 51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38772" name="Oval 52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38773" name="Line 53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</p:grpSp>
        <p:sp>
          <p:nvSpPr>
            <p:cNvPr id="1438774" name="Line 54"/>
            <p:cNvSpPr>
              <a:spLocks noChangeShapeType="1"/>
            </p:cNvSpPr>
            <p:nvPr/>
          </p:nvSpPr>
          <p:spPr bwMode="auto">
            <a:xfrm>
              <a:off x="4241" y="1083"/>
              <a:ext cx="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75" name="Line 55"/>
            <p:cNvSpPr>
              <a:spLocks noChangeShapeType="1"/>
            </p:cNvSpPr>
            <p:nvPr/>
          </p:nvSpPr>
          <p:spPr bwMode="auto">
            <a:xfrm>
              <a:off x="4273" y="1083"/>
              <a:ext cx="0" cy="1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76" name="Rectangle 56"/>
            <p:cNvSpPr>
              <a:spLocks noChangeArrowheads="1"/>
            </p:cNvSpPr>
            <p:nvPr/>
          </p:nvSpPr>
          <p:spPr bwMode="auto">
            <a:xfrm>
              <a:off x="4213" y="675"/>
              <a:ext cx="135" cy="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77" name="Line 57"/>
            <p:cNvSpPr>
              <a:spLocks noChangeShapeType="1"/>
            </p:cNvSpPr>
            <p:nvPr/>
          </p:nvSpPr>
          <p:spPr bwMode="auto">
            <a:xfrm flipH="1">
              <a:off x="3922" y="1217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pSp>
          <p:nvGrpSpPr>
            <p:cNvPr id="1438778" name="Group 58"/>
            <p:cNvGrpSpPr>
              <a:grpSpLocks/>
            </p:cNvGrpSpPr>
            <p:nvPr/>
          </p:nvGrpSpPr>
          <p:grpSpPr bwMode="auto">
            <a:xfrm>
              <a:off x="3814" y="1037"/>
              <a:ext cx="192" cy="340"/>
              <a:chOff x="371" y="1926"/>
              <a:chExt cx="192" cy="340"/>
            </a:xfrm>
          </p:grpSpPr>
          <p:sp>
            <p:nvSpPr>
              <p:cNvPr id="1438779" name="Line 59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38780" name="Oval 60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38781" name="Line 61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</p:grpSp>
        <p:sp>
          <p:nvSpPr>
            <p:cNvPr id="1438782" name="Rectangle 62"/>
            <p:cNvSpPr>
              <a:spLocks noChangeArrowheads="1"/>
            </p:cNvSpPr>
            <p:nvPr/>
          </p:nvSpPr>
          <p:spPr bwMode="auto">
            <a:xfrm>
              <a:off x="4208" y="1195"/>
              <a:ext cx="135" cy="4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83" name="Rectangle 63"/>
            <p:cNvSpPr>
              <a:spLocks noChangeArrowheads="1"/>
            </p:cNvSpPr>
            <p:nvPr/>
          </p:nvSpPr>
          <p:spPr bwMode="auto">
            <a:xfrm>
              <a:off x="3884" y="3072"/>
              <a:ext cx="818" cy="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84" name="Rectangle 64"/>
            <p:cNvSpPr>
              <a:spLocks noChangeArrowheads="1"/>
            </p:cNvSpPr>
            <p:nvPr/>
          </p:nvSpPr>
          <p:spPr bwMode="auto">
            <a:xfrm>
              <a:off x="3995" y="3161"/>
              <a:ext cx="600" cy="25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85" name="Text Box 65"/>
            <p:cNvSpPr txBox="1">
              <a:spLocks noChangeArrowheads="1"/>
            </p:cNvSpPr>
            <p:nvPr/>
          </p:nvSpPr>
          <p:spPr bwMode="auto">
            <a:xfrm>
              <a:off x="4038" y="3125"/>
              <a:ext cx="5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马达</a:t>
              </a:r>
            </a:p>
          </p:txBody>
        </p:sp>
        <p:sp>
          <p:nvSpPr>
            <p:cNvPr id="1438786" name="Rectangle 66"/>
            <p:cNvSpPr>
              <a:spLocks noChangeArrowheads="1"/>
            </p:cNvSpPr>
            <p:nvPr/>
          </p:nvSpPr>
          <p:spPr bwMode="auto">
            <a:xfrm>
              <a:off x="3589" y="530"/>
              <a:ext cx="1300" cy="186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87" name="Text Box 67"/>
            <p:cNvSpPr txBox="1">
              <a:spLocks noChangeArrowheads="1"/>
            </p:cNvSpPr>
            <p:nvPr/>
          </p:nvSpPr>
          <p:spPr bwMode="auto">
            <a:xfrm>
              <a:off x="5007" y="485"/>
              <a:ext cx="53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横梁</a:t>
              </a:r>
            </a:p>
          </p:txBody>
        </p:sp>
        <p:sp>
          <p:nvSpPr>
            <p:cNvPr id="1438788" name="Line 68"/>
            <p:cNvSpPr>
              <a:spLocks noChangeShapeType="1"/>
            </p:cNvSpPr>
            <p:nvPr/>
          </p:nvSpPr>
          <p:spPr bwMode="auto">
            <a:xfrm>
              <a:off x="4754" y="620"/>
              <a:ext cx="256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89" name="Text Box 69"/>
            <p:cNvSpPr txBox="1">
              <a:spLocks noChangeArrowheads="1"/>
            </p:cNvSpPr>
            <p:nvPr/>
          </p:nvSpPr>
          <p:spPr bwMode="auto">
            <a:xfrm>
              <a:off x="4593" y="812"/>
              <a:ext cx="7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量力环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endParaRPr>
            </a:p>
          </p:txBody>
        </p:sp>
        <p:sp>
          <p:nvSpPr>
            <p:cNvPr id="1438790" name="Line 70"/>
            <p:cNvSpPr>
              <a:spLocks noChangeShapeType="1"/>
            </p:cNvSpPr>
            <p:nvPr/>
          </p:nvSpPr>
          <p:spPr bwMode="auto">
            <a:xfrm flipH="1">
              <a:off x="4446" y="1018"/>
              <a:ext cx="204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91" name="Text Box 71"/>
            <p:cNvSpPr txBox="1">
              <a:spLocks noChangeArrowheads="1"/>
            </p:cNvSpPr>
            <p:nvPr/>
          </p:nvSpPr>
          <p:spPr bwMode="auto">
            <a:xfrm>
              <a:off x="3053" y="776"/>
              <a:ext cx="7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百分表</a:t>
              </a:r>
            </a:p>
          </p:txBody>
        </p:sp>
        <p:sp>
          <p:nvSpPr>
            <p:cNvPr id="1438792" name="Line 72"/>
            <p:cNvSpPr>
              <a:spLocks noChangeShapeType="1"/>
            </p:cNvSpPr>
            <p:nvPr/>
          </p:nvSpPr>
          <p:spPr bwMode="auto">
            <a:xfrm flipH="1" flipV="1">
              <a:off x="3695" y="1076"/>
              <a:ext cx="138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93" name="Freeform 73"/>
            <p:cNvSpPr>
              <a:spLocks/>
            </p:cNvSpPr>
            <p:nvPr/>
          </p:nvSpPr>
          <p:spPr bwMode="auto">
            <a:xfrm>
              <a:off x="5426" y="1536"/>
              <a:ext cx="70" cy="1206"/>
            </a:xfrm>
            <a:custGeom>
              <a:avLst/>
              <a:gdLst>
                <a:gd name="T0" fmla="*/ 0 w 89"/>
                <a:gd name="T1" fmla="*/ 0 h 1206"/>
                <a:gd name="T2" fmla="*/ 0 w 89"/>
                <a:gd name="T3" fmla="*/ 1206 h 1206"/>
                <a:gd name="T4" fmla="*/ 89 w 89"/>
                <a:gd name="T5" fmla="*/ 1206 h 1206"/>
                <a:gd name="T6" fmla="*/ 89 w 89"/>
                <a:gd name="T7" fmla="*/ 0 h 1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" h="1206">
                  <a:moveTo>
                    <a:pt x="0" y="0"/>
                  </a:moveTo>
                  <a:lnTo>
                    <a:pt x="0" y="1206"/>
                  </a:lnTo>
                  <a:lnTo>
                    <a:pt x="89" y="1206"/>
                  </a:lnTo>
                  <a:lnTo>
                    <a:pt x="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8794" name="Text Box 74"/>
            <p:cNvSpPr txBox="1">
              <a:spLocks noChangeArrowheads="1"/>
            </p:cNvSpPr>
            <p:nvPr/>
          </p:nvSpPr>
          <p:spPr bwMode="auto">
            <a:xfrm>
              <a:off x="5040" y="1651"/>
              <a:ext cx="346" cy="6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量水管</a:t>
              </a:r>
            </a:p>
          </p:txBody>
        </p:sp>
      </p:grpSp>
      <p:sp>
        <p:nvSpPr>
          <p:cNvPr id="1438795" name="Text Box 75"/>
          <p:cNvSpPr txBox="1">
            <a:spLocks noChangeArrowheads="1"/>
          </p:cNvSpPr>
          <p:nvPr/>
        </p:nvSpPr>
        <p:spPr bwMode="auto">
          <a:xfrm>
            <a:off x="660400" y="1393825"/>
            <a:ext cx="3652838" cy="2099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66700" indent="-266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8743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2402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606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9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54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1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68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26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施加围压</a:t>
            </a:r>
            <a:r>
              <a:rPr kumimoji="0" lang="zh-CN" altLang="en-US" sz="2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zh-CN" altLang="en-US" sz="2200" b="1" u="none" strike="noStrike" kern="1200" cap="none" spc="0" normalizeH="0" baseline="-2500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kumimoji="0" lang="zh-CN" altLang="en-US" sz="2200" b="1" i="0" u="none" strike="noStrike" kern="1200" cap="none" spc="0" normalizeH="0" baseline="-2500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排水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阀门始终打开，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充分排水</a:t>
            </a: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施加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200" b="1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-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200" b="1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进行</a:t>
            </a:r>
            <a:r>
              <a:rPr kumimoji="0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剪切，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排水阀门始终打开。剪切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速度慢足以使孔压消散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38796" name="Text Box 76"/>
          <p:cNvSpPr txBox="1">
            <a:spLocks noChangeArrowheads="1"/>
          </p:cNvSpPr>
          <p:nvPr/>
        </p:nvSpPr>
        <p:spPr bwMode="auto">
          <a:xfrm>
            <a:off x="304800" y="3698875"/>
            <a:ext cx="3722688" cy="178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31813" indent="-2651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 测定：</a:t>
            </a:r>
          </a:p>
          <a:p>
            <a:pPr marL="531813" marR="0" lvl="1" indent="-265113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 轴向变形：轴向应变</a:t>
            </a:r>
          </a:p>
          <a:p>
            <a:pPr marL="531813" marR="0" lvl="1" indent="-265113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 轴向力：轴向应力</a:t>
            </a:r>
          </a:p>
          <a:p>
            <a:pPr marL="531813" marR="0" lvl="1" indent="-265113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 排水量：体积应变</a:t>
            </a:r>
          </a:p>
        </p:txBody>
      </p:sp>
      <p:sp>
        <p:nvSpPr>
          <p:cNvPr id="68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66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6533744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43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438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38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438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438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43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8736" grpId="0"/>
      <p:bldP spid="1438795" grpId="0" build="p"/>
      <p:bldP spid="143879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777" name="Rectangle 33"/>
          <p:cNvSpPr>
            <a:spLocks noChangeArrowheads="1"/>
          </p:cNvSpPr>
          <p:nvPr/>
        </p:nvSpPr>
        <p:spPr bwMode="auto">
          <a:xfrm>
            <a:off x="400050" y="819150"/>
            <a:ext cx="294957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450850" marR="0" lvl="0" indent="-450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典型试验结果</a:t>
            </a:r>
          </a:p>
        </p:txBody>
      </p:sp>
      <p:grpSp>
        <p:nvGrpSpPr>
          <p:cNvPr id="1439778" name="Group 34"/>
          <p:cNvGrpSpPr>
            <a:grpSpLocks/>
          </p:cNvGrpSpPr>
          <p:nvPr/>
        </p:nvGrpSpPr>
        <p:grpSpPr bwMode="auto">
          <a:xfrm>
            <a:off x="4262438" y="752475"/>
            <a:ext cx="4749800" cy="4919663"/>
            <a:chOff x="2685" y="474"/>
            <a:chExt cx="2992" cy="3099"/>
          </a:xfrm>
        </p:grpSpPr>
        <p:sp>
          <p:nvSpPr>
            <p:cNvPr id="1439779" name="Rectangle 35"/>
            <p:cNvSpPr>
              <a:spLocks noChangeArrowheads="1"/>
            </p:cNvSpPr>
            <p:nvPr/>
          </p:nvSpPr>
          <p:spPr bwMode="auto">
            <a:xfrm>
              <a:off x="2685" y="474"/>
              <a:ext cx="2992" cy="3099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80" name="Line 36"/>
            <p:cNvSpPr>
              <a:spLocks noChangeShapeType="1"/>
            </p:cNvSpPr>
            <p:nvPr/>
          </p:nvSpPr>
          <p:spPr bwMode="auto">
            <a:xfrm>
              <a:off x="3033" y="555"/>
              <a:ext cx="1" cy="286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81" name="Line 37"/>
            <p:cNvSpPr>
              <a:spLocks noChangeShapeType="1"/>
            </p:cNvSpPr>
            <p:nvPr/>
          </p:nvSpPr>
          <p:spPr bwMode="auto">
            <a:xfrm>
              <a:off x="3033" y="2133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82" name="Line 38"/>
            <p:cNvSpPr>
              <a:spLocks noChangeShapeType="1"/>
            </p:cNvSpPr>
            <p:nvPr/>
          </p:nvSpPr>
          <p:spPr bwMode="auto">
            <a:xfrm>
              <a:off x="3033" y="1805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83" name="Line 39"/>
            <p:cNvSpPr>
              <a:spLocks noChangeShapeType="1"/>
            </p:cNvSpPr>
            <p:nvPr/>
          </p:nvSpPr>
          <p:spPr bwMode="auto">
            <a:xfrm>
              <a:off x="3033" y="1485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84" name="Line 40"/>
            <p:cNvSpPr>
              <a:spLocks noChangeShapeType="1"/>
            </p:cNvSpPr>
            <p:nvPr/>
          </p:nvSpPr>
          <p:spPr bwMode="auto">
            <a:xfrm>
              <a:off x="3033" y="1159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85" name="Line 41"/>
            <p:cNvSpPr>
              <a:spLocks noChangeShapeType="1"/>
            </p:cNvSpPr>
            <p:nvPr/>
          </p:nvSpPr>
          <p:spPr bwMode="auto">
            <a:xfrm>
              <a:off x="3033" y="832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86" name="Line 42"/>
            <p:cNvSpPr>
              <a:spLocks noChangeShapeType="1"/>
            </p:cNvSpPr>
            <p:nvPr/>
          </p:nvSpPr>
          <p:spPr bwMode="auto">
            <a:xfrm>
              <a:off x="3033" y="2459"/>
              <a:ext cx="2466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87" name="Line 43"/>
            <p:cNvSpPr>
              <a:spLocks noChangeShapeType="1"/>
            </p:cNvSpPr>
            <p:nvPr/>
          </p:nvSpPr>
          <p:spPr bwMode="auto">
            <a:xfrm flipV="1">
              <a:off x="3033" y="2427"/>
              <a:ext cx="1" cy="3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88" name="Line 44"/>
            <p:cNvSpPr>
              <a:spLocks noChangeShapeType="1"/>
            </p:cNvSpPr>
            <p:nvPr/>
          </p:nvSpPr>
          <p:spPr bwMode="auto">
            <a:xfrm flipV="1">
              <a:off x="3765" y="2427"/>
              <a:ext cx="1" cy="3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89" name="Line 45"/>
            <p:cNvSpPr>
              <a:spLocks noChangeShapeType="1"/>
            </p:cNvSpPr>
            <p:nvPr/>
          </p:nvSpPr>
          <p:spPr bwMode="auto">
            <a:xfrm flipV="1">
              <a:off x="4495" y="2427"/>
              <a:ext cx="2" cy="3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90" name="Line 46"/>
            <p:cNvSpPr>
              <a:spLocks noChangeShapeType="1"/>
            </p:cNvSpPr>
            <p:nvPr/>
          </p:nvSpPr>
          <p:spPr bwMode="auto">
            <a:xfrm flipV="1">
              <a:off x="5227" y="2427"/>
              <a:ext cx="1" cy="3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91" name="Rectangle 47"/>
            <p:cNvSpPr>
              <a:spLocks noChangeArrowheads="1"/>
            </p:cNvSpPr>
            <p:nvPr/>
          </p:nvSpPr>
          <p:spPr bwMode="auto">
            <a:xfrm>
              <a:off x="3011" y="2438"/>
              <a:ext cx="50" cy="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92" name="Rectangle 48"/>
            <p:cNvSpPr>
              <a:spLocks noChangeArrowheads="1"/>
            </p:cNvSpPr>
            <p:nvPr/>
          </p:nvSpPr>
          <p:spPr bwMode="auto">
            <a:xfrm>
              <a:off x="3011" y="2438"/>
              <a:ext cx="50" cy="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793" name="Rectangle 49"/>
            <p:cNvSpPr>
              <a:spLocks noChangeArrowheads="1"/>
            </p:cNvSpPr>
            <p:nvPr/>
          </p:nvSpPr>
          <p:spPr bwMode="auto">
            <a:xfrm>
              <a:off x="2786" y="657"/>
              <a:ext cx="160" cy="19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r" defTabSz="576263" rtl="0" eaLnBrk="1" fontAlgn="base" latinLnBrk="0" hangingPunct="1">
                <a:lnSpc>
                  <a:spcPct val="1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50</a:t>
              </a:r>
            </a:p>
            <a:p>
              <a:pPr marL="0" marR="0" lvl="0" indent="0" algn="r" defTabSz="576263" rtl="0" eaLnBrk="1" fontAlgn="base" latinLnBrk="0" hangingPunct="1">
                <a:lnSpc>
                  <a:spcPct val="1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40</a:t>
              </a:r>
            </a:p>
            <a:p>
              <a:pPr marL="0" marR="0" lvl="0" indent="0" algn="r" defTabSz="576263" rtl="0" eaLnBrk="1" fontAlgn="base" latinLnBrk="0" hangingPunct="1">
                <a:lnSpc>
                  <a:spcPct val="1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30</a:t>
              </a:r>
            </a:p>
            <a:p>
              <a:pPr marL="0" marR="0" lvl="0" indent="0" algn="r" defTabSz="576263" rtl="0" eaLnBrk="1" fontAlgn="base" latinLnBrk="0" hangingPunct="1">
                <a:lnSpc>
                  <a:spcPct val="1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20</a:t>
              </a:r>
            </a:p>
            <a:p>
              <a:pPr marL="0" marR="0" lvl="0" indent="0" algn="r" defTabSz="576263" rtl="0" eaLnBrk="1" fontAlgn="base" latinLnBrk="0" hangingPunct="1">
                <a:lnSpc>
                  <a:spcPct val="1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10</a:t>
              </a:r>
            </a:p>
            <a:p>
              <a:pPr marL="0" marR="0" lvl="0" indent="0" algn="r" defTabSz="576263" rtl="0" eaLnBrk="1" fontAlgn="base" latinLnBrk="0" hangingPunct="1">
                <a:lnSpc>
                  <a:spcPct val="16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39794" name="Rectangle 50"/>
            <p:cNvSpPr>
              <a:spLocks noChangeArrowheads="1"/>
            </p:cNvSpPr>
            <p:nvPr/>
          </p:nvSpPr>
          <p:spPr bwMode="auto">
            <a:xfrm>
              <a:off x="3076" y="517"/>
              <a:ext cx="107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0" lang="en-US" altLang="zh-CN" sz="2000" b="1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-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0" lang="en-US" altLang="zh-CN" sz="2000" b="1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3 </a:t>
              </a:r>
              <a:r>
                <a:rPr kumimoji="0" lang="en-US" altLang="zh-CN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</a:rPr>
                <a:t>100kPa)</a:t>
              </a:r>
            </a:p>
          </p:txBody>
        </p:sp>
        <p:sp>
          <p:nvSpPr>
            <p:cNvPr id="1439795" name="Rectangle 51"/>
            <p:cNvSpPr>
              <a:spLocks noChangeArrowheads="1"/>
            </p:cNvSpPr>
            <p:nvPr/>
          </p:nvSpPr>
          <p:spPr bwMode="auto">
            <a:xfrm>
              <a:off x="4536" y="582"/>
              <a:ext cx="87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0" lang="en-US" altLang="zh-CN" sz="2000" b="1" u="none" strike="noStrike" kern="1200" cap="none" spc="0" normalizeH="0" baseline="-2500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rPr>
                <a:t> =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2500kPa</a:t>
              </a:r>
            </a:p>
          </p:txBody>
        </p:sp>
        <p:sp>
          <p:nvSpPr>
            <p:cNvPr id="1439796" name="Rectangle 52"/>
            <p:cNvSpPr>
              <a:spLocks noChangeArrowheads="1"/>
            </p:cNvSpPr>
            <p:nvPr/>
          </p:nvSpPr>
          <p:spPr bwMode="auto">
            <a:xfrm>
              <a:off x="4881" y="1177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1500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39797" name="Rectangle 53"/>
            <p:cNvSpPr>
              <a:spLocks noChangeArrowheads="1"/>
            </p:cNvSpPr>
            <p:nvPr/>
          </p:nvSpPr>
          <p:spPr bwMode="auto">
            <a:xfrm>
              <a:off x="4990" y="1606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900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39798" name="Rectangle 54"/>
            <p:cNvSpPr>
              <a:spLocks noChangeArrowheads="1"/>
            </p:cNvSpPr>
            <p:nvPr/>
          </p:nvSpPr>
          <p:spPr bwMode="auto">
            <a:xfrm>
              <a:off x="5015" y="1873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500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39799" name="Rectangle 55"/>
            <p:cNvSpPr>
              <a:spLocks noChangeArrowheads="1"/>
            </p:cNvSpPr>
            <p:nvPr/>
          </p:nvSpPr>
          <p:spPr bwMode="auto">
            <a:xfrm>
              <a:off x="4762" y="2157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300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39800" name="Rectangle 56"/>
            <p:cNvSpPr>
              <a:spLocks noChangeArrowheads="1"/>
            </p:cNvSpPr>
            <p:nvPr/>
          </p:nvSpPr>
          <p:spPr bwMode="auto">
            <a:xfrm>
              <a:off x="3921" y="2206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100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39801" name="Line 57"/>
            <p:cNvSpPr>
              <a:spLocks noChangeShapeType="1"/>
            </p:cNvSpPr>
            <p:nvPr/>
          </p:nvSpPr>
          <p:spPr bwMode="auto">
            <a:xfrm flipV="1">
              <a:off x="3039" y="2596"/>
              <a:ext cx="29" cy="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02" name="Line 58"/>
            <p:cNvSpPr>
              <a:spLocks noChangeShapeType="1"/>
            </p:cNvSpPr>
            <p:nvPr/>
          </p:nvSpPr>
          <p:spPr bwMode="auto">
            <a:xfrm flipV="1">
              <a:off x="3039" y="2729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03" name="Line 59"/>
            <p:cNvSpPr>
              <a:spLocks noChangeShapeType="1"/>
            </p:cNvSpPr>
            <p:nvPr/>
          </p:nvSpPr>
          <p:spPr bwMode="auto">
            <a:xfrm flipV="1">
              <a:off x="3039" y="2859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04" name="Line 60"/>
            <p:cNvSpPr>
              <a:spLocks noChangeShapeType="1"/>
            </p:cNvSpPr>
            <p:nvPr/>
          </p:nvSpPr>
          <p:spPr bwMode="auto">
            <a:xfrm flipV="1">
              <a:off x="3039" y="2990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05" name="Line 61"/>
            <p:cNvSpPr>
              <a:spLocks noChangeShapeType="1"/>
            </p:cNvSpPr>
            <p:nvPr/>
          </p:nvSpPr>
          <p:spPr bwMode="auto">
            <a:xfrm flipV="1">
              <a:off x="3039" y="3125"/>
              <a:ext cx="29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06" name="Line 62"/>
            <p:cNvSpPr>
              <a:spLocks noChangeShapeType="1"/>
            </p:cNvSpPr>
            <p:nvPr/>
          </p:nvSpPr>
          <p:spPr bwMode="auto">
            <a:xfrm flipV="1">
              <a:off x="3039" y="3255"/>
              <a:ext cx="29" cy="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07" name="Line 63"/>
            <p:cNvSpPr>
              <a:spLocks noChangeShapeType="1"/>
            </p:cNvSpPr>
            <p:nvPr/>
          </p:nvSpPr>
          <p:spPr bwMode="auto">
            <a:xfrm>
              <a:off x="3039" y="2464"/>
              <a:ext cx="1" cy="2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08" name="Text Box 64"/>
            <p:cNvSpPr txBox="1">
              <a:spLocks noChangeArrowheads="1"/>
            </p:cNvSpPr>
            <p:nvPr/>
          </p:nvSpPr>
          <p:spPr bwMode="auto">
            <a:xfrm>
              <a:off x="3658" y="2414"/>
              <a:ext cx="1128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2372" tIns="51185" rIns="102372" bIns="51185">
              <a:spAutoFit/>
            </a:bodyPr>
            <a:lstStyle>
              <a:lvl1pPr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511175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022350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535113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46288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034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606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178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750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5                10   </a:t>
              </a:r>
            </a:p>
          </p:txBody>
        </p:sp>
        <p:sp>
          <p:nvSpPr>
            <p:cNvPr id="1439809" name="Text Box 65"/>
            <p:cNvSpPr txBox="1">
              <a:spLocks noChangeArrowheads="1"/>
            </p:cNvSpPr>
            <p:nvPr/>
          </p:nvSpPr>
          <p:spPr bwMode="auto">
            <a:xfrm>
              <a:off x="2797" y="2526"/>
              <a:ext cx="208" cy="8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2372" tIns="51185" rIns="102372" bIns="51185">
              <a:spAutoFit/>
            </a:bodyPr>
            <a:lstStyle>
              <a:lvl1pPr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511175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022350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535113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46288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034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606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178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750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algn="l" defTabSz="576263" rtl="0" eaLnBrk="1" fontAlgn="base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2</a:t>
              </a:r>
            </a:p>
            <a:p>
              <a:pPr marL="0" marR="0" lvl="0" indent="0" algn="l" defTabSz="576263" rtl="0" eaLnBrk="1" fontAlgn="base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4</a:t>
              </a:r>
            </a:p>
            <a:p>
              <a:pPr marL="0" marR="0" lvl="0" indent="0" algn="l" defTabSz="576263" rtl="0" eaLnBrk="1" fontAlgn="base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6</a:t>
              </a:r>
            </a:p>
          </p:txBody>
        </p:sp>
        <p:sp>
          <p:nvSpPr>
            <p:cNvPr id="1439810" name="Rectangle 66"/>
            <p:cNvSpPr>
              <a:spLocks noChangeArrowheads="1"/>
            </p:cNvSpPr>
            <p:nvPr/>
          </p:nvSpPr>
          <p:spPr bwMode="auto">
            <a:xfrm>
              <a:off x="3140" y="3244"/>
              <a:ext cx="46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</a:t>
              </a:r>
              <a:r>
                <a:rPr kumimoji="0" lang="en-US" altLang="zh-CN" sz="2000" b="1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v </a:t>
              </a:r>
              <a:r>
                <a:rPr kumimoji="0" lang="en-US" altLang="zh-CN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(%)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39811" name="Rectangle 67"/>
            <p:cNvSpPr>
              <a:spLocks noChangeArrowheads="1"/>
            </p:cNvSpPr>
            <p:nvPr/>
          </p:nvSpPr>
          <p:spPr bwMode="auto">
            <a:xfrm>
              <a:off x="5095" y="2209"/>
              <a:ext cx="46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</a:t>
              </a:r>
              <a:r>
                <a:rPr kumimoji="0" lang="en-US" altLang="zh-CN" sz="2000" b="1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Times New Roman" panose="02020603050405020304" pitchFamily="18" charset="0"/>
                  <a:sym typeface="Symbol" pitchFamily="18" charset="2"/>
                </a:rPr>
                <a:t>1 </a:t>
              </a:r>
              <a:r>
                <a:rPr kumimoji="0" lang="en-US" altLang="zh-CN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(%)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39812" name="Freeform 68"/>
            <p:cNvSpPr>
              <a:spLocks/>
            </p:cNvSpPr>
            <p:nvPr/>
          </p:nvSpPr>
          <p:spPr bwMode="auto">
            <a:xfrm>
              <a:off x="3031" y="779"/>
              <a:ext cx="2258" cy="1673"/>
            </a:xfrm>
            <a:custGeom>
              <a:avLst/>
              <a:gdLst>
                <a:gd name="T0" fmla="*/ 0 w 2020"/>
                <a:gd name="T1" fmla="*/ 1491 h 1491"/>
                <a:gd name="T2" fmla="*/ 31 w 2020"/>
                <a:gd name="T3" fmla="*/ 1356 h 1491"/>
                <a:gd name="T4" fmla="*/ 67 w 2020"/>
                <a:gd name="T5" fmla="*/ 1250 h 1491"/>
                <a:gd name="T6" fmla="*/ 100 w 2020"/>
                <a:gd name="T7" fmla="*/ 1178 h 1491"/>
                <a:gd name="T8" fmla="*/ 139 w 2020"/>
                <a:gd name="T9" fmla="*/ 1097 h 1491"/>
                <a:gd name="T10" fmla="*/ 168 w 2020"/>
                <a:gd name="T11" fmla="*/ 1037 h 1491"/>
                <a:gd name="T12" fmla="*/ 201 w 2020"/>
                <a:gd name="T13" fmla="*/ 981 h 1491"/>
                <a:gd name="T14" fmla="*/ 237 w 2020"/>
                <a:gd name="T15" fmla="*/ 924 h 1491"/>
                <a:gd name="T16" fmla="*/ 266 w 2020"/>
                <a:gd name="T17" fmla="*/ 869 h 1491"/>
                <a:gd name="T18" fmla="*/ 336 w 2020"/>
                <a:gd name="T19" fmla="*/ 770 h 1491"/>
                <a:gd name="T20" fmla="*/ 403 w 2020"/>
                <a:gd name="T21" fmla="*/ 691 h 1491"/>
                <a:gd name="T22" fmla="*/ 477 w 2020"/>
                <a:gd name="T23" fmla="*/ 605 h 1491"/>
                <a:gd name="T24" fmla="*/ 544 w 2020"/>
                <a:gd name="T25" fmla="*/ 528 h 1491"/>
                <a:gd name="T26" fmla="*/ 674 w 2020"/>
                <a:gd name="T27" fmla="*/ 408 h 1491"/>
                <a:gd name="T28" fmla="*/ 808 w 2020"/>
                <a:gd name="T29" fmla="*/ 288 h 1491"/>
                <a:gd name="T30" fmla="*/ 948 w 2020"/>
                <a:gd name="T31" fmla="*/ 185 h 1491"/>
                <a:gd name="T32" fmla="*/ 1072 w 2020"/>
                <a:gd name="T33" fmla="*/ 122 h 1491"/>
                <a:gd name="T34" fmla="*/ 1212 w 2020"/>
                <a:gd name="T35" fmla="*/ 91 h 1491"/>
                <a:gd name="T36" fmla="*/ 1346 w 2020"/>
                <a:gd name="T37" fmla="*/ 57 h 1491"/>
                <a:gd name="T38" fmla="*/ 1476 w 2020"/>
                <a:gd name="T39" fmla="*/ 31 h 1491"/>
                <a:gd name="T40" fmla="*/ 1612 w 2020"/>
                <a:gd name="T41" fmla="*/ 14 h 1491"/>
                <a:gd name="T42" fmla="*/ 1744 w 2020"/>
                <a:gd name="T43" fmla="*/ 24 h 1491"/>
                <a:gd name="T44" fmla="*/ 1879 w 2020"/>
                <a:gd name="T45" fmla="*/ 0 h 1491"/>
                <a:gd name="T46" fmla="*/ 2020 w 2020"/>
                <a:gd name="T47" fmla="*/ 5 h 1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20" h="1491">
                  <a:moveTo>
                    <a:pt x="0" y="1491"/>
                  </a:moveTo>
                  <a:lnTo>
                    <a:pt x="31" y="1356"/>
                  </a:lnTo>
                  <a:lnTo>
                    <a:pt x="67" y="1250"/>
                  </a:lnTo>
                  <a:lnTo>
                    <a:pt x="100" y="1178"/>
                  </a:lnTo>
                  <a:lnTo>
                    <a:pt x="139" y="1097"/>
                  </a:lnTo>
                  <a:lnTo>
                    <a:pt x="168" y="1037"/>
                  </a:lnTo>
                  <a:lnTo>
                    <a:pt x="201" y="981"/>
                  </a:lnTo>
                  <a:lnTo>
                    <a:pt x="237" y="924"/>
                  </a:lnTo>
                  <a:lnTo>
                    <a:pt x="266" y="869"/>
                  </a:lnTo>
                  <a:lnTo>
                    <a:pt x="336" y="770"/>
                  </a:lnTo>
                  <a:lnTo>
                    <a:pt x="403" y="691"/>
                  </a:lnTo>
                  <a:lnTo>
                    <a:pt x="477" y="605"/>
                  </a:lnTo>
                  <a:lnTo>
                    <a:pt x="544" y="528"/>
                  </a:lnTo>
                  <a:lnTo>
                    <a:pt x="674" y="408"/>
                  </a:lnTo>
                  <a:lnTo>
                    <a:pt x="808" y="288"/>
                  </a:lnTo>
                  <a:lnTo>
                    <a:pt x="948" y="185"/>
                  </a:lnTo>
                  <a:lnTo>
                    <a:pt x="1072" y="122"/>
                  </a:lnTo>
                  <a:lnTo>
                    <a:pt x="1212" y="91"/>
                  </a:lnTo>
                  <a:lnTo>
                    <a:pt x="1346" y="57"/>
                  </a:lnTo>
                  <a:lnTo>
                    <a:pt x="1476" y="31"/>
                  </a:lnTo>
                  <a:lnTo>
                    <a:pt x="1612" y="14"/>
                  </a:lnTo>
                  <a:lnTo>
                    <a:pt x="1744" y="24"/>
                  </a:lnTo>
                  <a:lnTo>
                    <a:pt x="1879" y="0"/>
                  </a:lnTo>
                  <a:lnTo>
                    <a:pt x="2020" y="5"/>
                  </a:lnTo>
                </a:path>
              </a:pathLst>
            </a:custGeom>
            <a:noFill/>
            <a:ln w="12700" cmpd="sng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13" name="Freeform 69"/>
            <p:cNvSpPr>
              <a:spLocks/>
            </p:cNvSpPr>
            <p:nvPr/>
          </p:nvSpPr>
          <p:spPr bwMode="auto">
            <a:xfrm>
              <a:off x="3032" y="1366"/>
              <a:ext cx="2254" cy="1092"/>
            </a:xfrm>
            <a:custGeom>
              <a:avLst/>
              <a:gdLst>
                <a:gd name="T0" fmla="*/ 0 w 2017"/>
                <a:gd name="T1" fmla="*/ 973 h 973"/>
                <a:gd name="T2" fmla="*/ 35 w 2017"/>
                <a:gd name="T3" fmla="*/ 840 h 973"/>
                <a:gd name="T4" fmla="*/ 66 w 2017"/>
                <a:gd name="T5" fmla="*/ 773 h 973"/>
                <a:gd name="T6" fmla="*/ 104 w 2017"/>
                <a:gd name="T7" fmla="*/ 715 h 973"/>
                <a:gd name="T8" fmla="*/ 135 w 2017"/>
                <a:gd name="T9" fmla="*/ 672 h 973"/>
                <a:gd name="T10" fmla="*/ 169 w 2017"/>
                <a:gd name="T11" fmla="*/ 619 h 973"/>
                <a:gd name="T12" fmla="*/ 198 w 2017"/>
                <a:gd name="T13" fmla="*/ 578 h 973"/>
                <a:gd name="T14" fmla="*/ 229 w 2017"/>
                <a:gd name="T15" fmla="*/ 535 h 973"/>
                <a:gd name="T16" fmla="*/ 267 w 2017"/>
                <a:gd name="T17" fmla="*/ 502 h 973"/>
                <a:gd name="T18" fmla="*/ 330 w 2017"/>
                <a:gd name="T19" fmla="*/ 432 h 973"/>
                <a:gd name="T20" fmla="*/ 397 w 2017"/>
                <a:gd name="T21" fmla="*/ 370 h 973"/>
                <a:gd name="T22" fmla="*/ 467 w 2017"/>
                <a:gd name="T23" fmla="*/ 331 h 973"/>
                <a:gd name="T24" fmla="*/ 539 w 2017"/>
                <a:gd name="T25" fmla="*/ 283 h 973"/>
                <a:gd name="T26" fmla="*/ 666 w 2017"/>
                <a:gd name="T27" fmla="*/ 211 h 973"/>
                <a:gd name="T28" fmla="*/ 812 w 2017"/>
                <a:gd name="T29" fmla="*/ 154 h 973"/>
                <a:gd name="T30" fmla="*/ 942 w 2017"/>
                <a:gd name="T31" fmla="*/ 110 h 973"/>
                <a:gd name="T32" fmla="*/ 1076 w 2017"/>
                <a:gd name="T33" fmla="*/ 72 h 973"/>
                <a:gd name="T34" fmla="*/ 1213 w 2017"/>
                <a:gd name="T35" fmla="*/ 48 h 973"/>
                <a:gd name="T36" fmla="*/ 1340 w 2017"/>
                <a:gd name="T37" fmla="*/ 26 h 973"/>
                <a:gd name="T38" fmla="*/ 1479 w 2017"/>
                <a:gd name="T39" fmla="*/ 7 h 973"/>
                <a:gd name="T40" fmla="*/ 1609 w 2017"/>
                <a:gd name="T41" fmla="*/ 10 h 973"/>
                <a:gd name="T42" fmla="*/ 1748 w 2017"/>
                <a:gd name="T43" fmla="*/ 5 h 973"/>
                <a:gd name="T44" fmla="*/ 1878 w 2017"/>
                <a:gd name="T45" fmla="*/ 0 h 973"/>
                <a:gd name="T46" fmla="*/ 2017 w 2017"/>
                <a:gd name="T47" fmla="*/ 0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17" h="973">
                  <a:moveTo>
                    <a:pt x="0" y="973"/>
                  </a:moveTo>
                  <a:lnTo>
                    <a:pt x="35" y="840"/>
                  </a:lnTo>
                  <a:lnTo>
                    <a:pt x="66" y="773"/>
                  </a:lnTo>
                  <a:lnTo>
                    <a:pt x="104" y="715"/>
                  </a:lnTo>
                  <a:lnTo>
                    <a:pt x="135" y="672"/>
                  </a:lnTo>
                  <a:lnTo>
                    <a:pt x="169" y="619"/>
                  </a:lnTo>
                  <a:lnTo>
                    <a:pt x="198" y="578"/>
                  </a:lnTo>
                  <a:lnTo>
                    <a:pt x="229" y="535"/>
                  </a:lnTo>
                  <a:lnTo>
                    <a:pt x="267" y="502"/>
                  </a:lnTo>
                  <a:lnTo>
                    <a:pt x="330" y="432"/>
                  </a:lnTo>
                  <a:lnTo>
                    <a:pt x="397" y="370"/>
                  </a:lnTo>
                  <a:lnTo>
                    <a:pt x="467" y="331"/>
                  </a:lnTo>
                  <a:lnTo>
                    <a:pt x="539" y="283"/>
                  </a:lnTo>
                  <a:lnTo>
                    <a:pt x="666" y="211"/>
                  </a:lnTo>
                  <a:lnTo>
                    <a:pt x="812" y="154"/>
                  </a:lnTo>
                  <a:lnTo>
                    <a:pt x="942" y="110"/>
                  </a:lnTo>
                  <a:lnTo>
                    <a:pt x="1076" y="72"/>
                  </a:lnTo>
                  <a:lnTo>
                    <a:pt x="1213" y="48"/>
                  </a:lnTo>
                  <a:lnTo>
                    <a:pt x="1340" y="26"/>
                  </a:lnTo>
                  <a:lnTo>
                    <a:pt x="1479" y="7"/>
                  </a:lnTo>
                  <a:lnTo>
                    <a:pt x="1609" y="10"/>
                  </a:lnTo>
                  <a:lnTo>
                    <a:pt x="1748" y="5"/>
                  </a:lnTo>
                  <a:lnTo>
                    <a:pt x="1878" y="0"/>
                  </a:lnTo>
                  <a:lnTo>
                    <a:pt x="2017" y="0"/>
                  </a:lnTo>
                </a:path>
              </a:pathLst>
            </a:custGeom>
            <a:noFill/>
            <a:ln w="12700" cmpd="sng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14" name="Freeform 70"/>
            <p:cNvSpPr>
              <a:spLocks/>
            </p:cNvSpPr>
            <p:nvPr/>
          </p:nvSpPr>
          <p:spPr bwMode="auto">
            <a:xfrm>
              <a:off x="3033" y="1799"/>
              <a:ext cx="2235" cy="658"/>
            </a:xfrm>
            <a:custGeom>
              <a:avLst/>
              <a:gdLst>
                <a:gd name="T0" fmla="*/ 0 w 2000"/>
                <a:gd name="T1" fmla="*/ 586 h 586"/>
                <a:gd name="T2" fmla="*/ 35 w 2000"/>
                <a:gd name="T3" fmla="*/ 518 h 586"/>
                <a:gd name="T4" fmla="*/ 67 w 2000"/>
                <a:gd name="T5" fmla="*/ 476 h 586"/>
                <a:gd name="T6" fmla="*/ 127 w 2000"/>
                <a:gd name="T7" fmla="*/ 411 h 586"/>
                <a:gd name="T8" fmla="*/ 187 w 2000"/>
                <a:gd name="T9" fmla="*/ 356 h 586"/>
                <a:gd name="T10" fmla="*/ 266 w 2000"/>
                <a:gd name="T11" fmla="*/ 300 h 586"/>
                <a:gd name="T12" fmla="*/ 333 w 2000"/>
                <a:gd name="T13" fmla="*/ 256 h 586"/>
                <a:gd name="T14" fmla="*/ 400 w 2000"/>
                <a:gd name="T15" fmla="*/ 220 h 586"/>
                <a:gd name="T16" fmla="*/ 467 w 2000"/>
                <a:gd name="T17" fmla="*/ 182 h 586"/>
                <a:gd name="T18" fmla="*/ 531 w 2000"/>
                <a:gd name="T19" fmla="*/ 160 h 586"/>
                <a:gd name="T20" fmla="*/ 669 w 2000"/>
                <a:gd name="T21" fmla="*/ 118 h 586"/>
                <a:gd name="T22" fmla="*/ 797 w 2000"/>
                <a:gd name="T23" fmla="*/ 87 h 586"/>
                <a:gd name="T24" fmla="*/ 936 w 2000"/>
                <a:gd name="T25" fmla="*/ 56 h 586"/>
                <a:gd name="T26" fmla="*/ 1066 w 2000"/>
                <a:gd name="T27" fmla="*/ 39 h 586"/>
                <a:gd name="T28" fmla="*/ 1200 w 2000"/>
                <a:gd name="T29" fmla="*/ 25 h 586"/>
                <a:gd name="T30" fmla="*/ 1337 w 2000"/>
                <a:gd name="T31" fmla="*/ 15 h 586"/>
                <a:gd name="T32" fmla="*/ 1464 w 2000"/>
                <a:gd name="T33" fmla="*/ 12 h 586"/>
                <a:gd name="T34" fmla="*/ 1600 w 2000"/>
                <a:gd name="T35" fmla="*/ 9 h 586"/>
                <a:gd name="T36" fmla="*/ 1740 w 2000"/>
                <a:gd name="T37" fmla="*/ 5 h 586"/>
                <a:gd name="T38" fmla="*/ 1867 w 2000"/>
                <a:gd name="T39" fmla="*/ 3 h 586"/>
                <a:gd name="T40" fmla="*/ 2000 w 2000"/>
                <a:gd name="T41" fmla="*/ 0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00" h="586">
                  <a:moveTo>
                    <a:pt x="0" y="586"/>
                  </a:moveTo>
                  <a:lnTo>
                    <a:pt x="35" y="518"/>
                  </a:lnTo>
                  <a:lnTo>
                    <a:pt x="67" y="476"/>
                  </a:lnTo>
                  <a:lnTo>
                    <a:pt x="127" y="411"/>
                  </a:lnTo>
                  <a:lnTo>
                    <a:pt x="187" y="356"/>
                  </a:lnTo>
                  <a:lnTo>
                    <a:pt x="266" y="300"/>
                  </a:lnTo>
                  <a:lnTo>
                    <a:pt x="333" y="256"/>
                  </a:lnTo>
                  <a:lnTo>
                    <a:pt x="400" y="220"/>
                  </a:lnTo>
                  <a:lnTo>
                    <a:pt x="467" y="182"/>
                  </a:lnTo>
                  <a:lnTo>
                    <a:pt x="531" y="160"/>
                  </a:lnTo>
                  <a:lnTo>
                    <a:pt x="669" y="118"/>
                  </a:lnTo>
                  <a:lnTo>
                    <a:pt x="797" y="87"/>
                  </a:lnTo>
                  <a:lnTo>
                    <a:pt x="936" y="56"/>
                  </a:lnTo>
                  <a:lnTo>
                    <a:pt x="1066" y="39"/>
                  </a:lnTo>
                  <a:lnTo>
                    <a:pt x="1200" y="25"/>
                  </a:lnTo>
                  <a:lnTo>
                    <a:pt x="1337" y="15"/>
                  </a:lnTo>
                  <a:lnTo>
                    <a:pt x="1464" y="12"/>
                  </a:lnTo>
                  <a:lnTo>
                    <a:pt x="1600" y="9"/>
                  </a:lnTo>
                  <a:lnTo>
                    <a:pt x="1740" y="5"/>
                  </a:lnTo>
                  <a:lnTo>
                    <a:pt x="1867" y="3"/>
                  </a:lnTo>
                  <a:lnTo>
                    <a:pt x="2000" y="0"/>
                  </a:lnTo>
                </a:path>
              </a:pathLst>
            </a:custGeom>
            <a:noFill/>
            <a:ln w="12700" cmpd="sng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15" name="Freeform 71"/>
            <p:cNvSpPr>
              <a:spLocks/>
            </p:cNvSpPr>
            <p:nvPr/>
          </p:nvSpPr>
          <p:spPr bwMode="auto">
            <a:xfrm>
              <a:off x="3029" y="2046"/>
              <a:ext cx="2228" cy="411"/>
            </a:xfrm>
            <a:custGeom>
              <a:avLst/>
              <a:gdLst>
                <a:gd name="T0" fmla="*/ 0 w 1994"/>
                <a:gd name="T1" fmla="*/ 366 h 366"/>
                <a:gd name="T2" fmla="*/ 65 w 1994"/>
                <a:gd name="T3" fmla="*/ 279 h 366"/>
                <a:gd name="T4" fmla="*/ 141 w 1994"/>
                <a:gd name="T5" fmla="*/ 203 h 366"/>
                <a:gd name="T6" fmla="*/ 199 w 1994"/>
                <a:gd name="T7" fmla="*/ 154 h 366"/>
                <a:gd name="T8" fmla="*/ 263 w 1994"/>
                <a:gd name="T9" fmla="*/ 112 h 366"/>
                <a:gd name="T10" fmla="*/ 340 w 1994"/>
                <a:gd name="T11" fmla="*/ 84 h 366"/>
                <a:gd name="T12" fmla="*/ 404 w 1994"/>
                <a:gd name="T13" fmla="*/ 64 h 366"/>
                <a:gd name="T14" fmla="*/ 465 w 1994"/>
                <a:gd name="T15" fmla="*/ 48 h 366"/>
                <a:gd name="T16" fmla="*/ 535 w 1994"/>
                <a:gd name="T17" fmla="*/ 36 h 366"/>
                <a:gd name="T18" fmla="*/ 673 w 1994"/>
                <a:gd name="T19" fmla="*/ 23 h 366"/>
                <a:gd name="T20" fmla="*/ 801 w 1994"/>
                <a:gd name="T21" fmla="*/ 13 h 366"/>
                <a:gd name="T22" fmla="*/ 942 w 1994"/>
                <a:gd name="T23" fmla="*/ 10 h 366"/>
                <a:gd name="T24" fmla="*/ 1066 w 1994"/>
                <a:gd name="T25" fmla="*/ 7 h 366"/>
                <a:gd name="T26" fmla="*/ 1191 w 1994"/>
                <a:gd name="T27" fmla="*/ 7 h 366"/>
                <a:gd name="T28" fmla="*/ 1329 w 1994"/>
                <a:gd name="T29" fmla="*/ 4 h 366"/>
                <a:gd name="T30" fmla="*/ 1460 w 1994"/>
                <a:gd name="T31" fmla="*/ 0 h 366"/>
                <a:gd name="T32" fmla="*/ 1598 w 1994"/>
                <a:gd name="T33" fmla="*/ 7 h 366"/>
                <a:gd name="T34" fmla="*/ 1722 w 1994"/>
                <a:gd name="T35" fmla="*/ 7 h 366"/>
                <a:gd name="T36" fmla="*/ 1860 w 1994"/>
                <a:gd name="T37" fmla="*/ 10 h 366"/>
                <a:gd name="T38" fmla="*/ 1994 w 1994"/>
                <a:gd name="T39" fmla="*/ 16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94" h="366">
                  <a:moveTo>
                    <a:pt x="0" y="366"/>
                  </a:moveTo>
                  <a:lnTo>
                    <a:pt x="65" y="279"/>
                  </a:lnTo>
                  <a:lnTo>
                    <a:pt x="141" y="203"/>
                  </a:lnTo>
                  <a:lnTo>
                    <a:pt x="199" y="154"/>
                  </a:lnTo>
                  <a:lnTo>
                    <a:pt x="263" y="112"/>
                  </a:lnTo>
                  <a:lnTo>
                    <a:pt x="340" y="84"/>
                  </a:lnTo>
                  <a:lnTo>
                    <a:pt x="404" y="64"/>
                  </a:lnTo>
                  <a:lnTo>
                    <a:pt x="465" y="48"/>
                  </a:lnTo>
                  <a:lnTo>
                    <a:pt x="535" y="36"/>
                  </a:lnTo>
                  <a:lnTo>
                    <a:pt x="673" y="23"/>
                  </a:lnTo>
                  <a:lnTo>
                    <a:pt x="801" y="13"/>
                  </a:lnTo>
                  <a:lnTo>
                    <a:pt x="942" y="10"/>
                  </a:lnTo>
                  <a:lnTo>
                    <a:pt x="1066" y="7"/>
                  </a:lnTo>
                  <a:lnTo>
                    <a:pt x="1191" y="7"/>
                  </a:lnTo>
                  <a:lnTo>
                    <a:pt x="1329" y="4"/>
                  </a:lnTo>
                  <a:lnTo>
                    <a:pt x="1460" y="0"/>
                  </a:lnTo>
                  <a:lnTo>
                    <a:pt x="1598" y="7"/>
                  </a:lnTo>
                  <a:lnTo>
                    <a:pt x="1722" y="7"/>
                  </a:lnTo>
                  <a:lnTo>
                    <a:pt x="1860" y="10"/>
                  </a:lnTo>
                  <a:lnTo>
                    <a:pt x="1994" y="16"/>
                  </a:lnTo>
                </a:path>
              </a:pathLst>
            </a:custGeom>
            <a:noFill/>
            <a:ln w="12700" cmpd="sng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16" name="Freeform 72"/>
            <p:cNvSpPr>
              <a:spLocks/>
            </p:cNvSpPr>
            <p:nvPr/>
          </p:nvSpPr>
          <p:spPr bwMode="auto">
            <a:xfrm>
              <a:off x="3032" y="2165"/>
              <a:ext cx="2222" cy="292"/>
            </a:xfrm>
            <a:custGeom>
              <a:avLst/>
              <a:gdLst>
                <a:gd name="T0" fmla="*/ 0 w 1988"/>
                <a:gd name="T1" fmla="*/ 260 h 260"/>
                <a:gd name="T2" fmla="*/ 81 w 1988"/>
                <a:gd name="T3" fmla="*/ 166 h 260"/>
                <a:gd name="T4" fmla="*/ 132 w 1988"/>
                <a:gd name="T5" fmla="*/ 128 h 260"/>
                <a:gd name="T6" fmla="*/ 196 w 1988"/>
                <a:gd name="T7" fmla="*/ 93 h 260"/>
                <a:gd name="T8" fmla="*/ 270 w 1988"/>
                <a:gd name="T9" fmla="*/ 61 h 260"/>
                <a:gd name="T10" fmla="*/ 334 w 1988"/>
                <a:gd name="T11" fmla="*/ 42 h 260"/>
                <a:gd name="T12" fmla="*/ 399 w 1988"/>
                <a:gd name="T13" fmla="*/ 27 h 260"/>
                <a:gd name="T14" fmla="*/ 465 w 1988"/>
                <a:gd name="T15" fmla="*/ 19 h 260"/>
                <a:gd name="T16" fmla="*/ 532 w 1988"/>
                <a:gd name="T17" fmla="*/ 16 h 260"/>
                <a:gd name="T18" fmla="*/ 663 w 1988"/>
                <a:gd name="T19" fmla="*/ 6 h 260"/>
                <a:gd name="T20" fmla="*/ 788 w 1988"/>
                <a:gd name="T21" fmla="*/ 3 h 260"/>
                <a:gd name="T22" fmla="*/ 927 w 1988"/>
                <a:gd name="T23" fmla="*/ 3 h 260"/>
                <a:gd name="T24" fmla="*/ 1057 w 1988"/>
                <a:gd name="T25" fmla="*/ 3 h 260"/>
                <a:gd name="T26" fmla="*/ 1195 w 1988"/>
                <a:gd name="T27" fmla="*/ 3 h 260"/>
                <a:gd name="T28" fmla="*/ 1323 w 1988"/>
                <a:gd name="T29" fmla="*/ 0 h 260"/>
                <a:gd name="T30" fmla="*/ 1460 w 1988"/>
                <a:gd name="T31" fmla="*/ 3 h 260"/>
                <a:gd name="T32" fmla="*/ 1591 w 1988"/>
                <a:gd name="T33" fmla="*/ 6 h 260"/>
                <a:gd name="T34" fmla="*/ 1716 w 1988"/>
                <a:gd name="T35" fmla="*/ 6 h 260"/>
                <a:gd name="T36" fmla="*/ 1854 w 1988"/>
                <a:gd name="T37" fmla="*/ 13 h 260"/>
                <a:gd name="T38" fmla="*/ 1988 w 1988"/>
                <a:gd name="T39" fmla="*/ 13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88" h="260">
                  <a:moveTo>
                    <a:pt x="0" y="260"/>
                  </a:moveTo>
                  <a:lnTo>
                    <a:pt x="81" y="166"/>
                  </a:lnTo>
                  <a:lnTo>
                    <a:pt x="132" y="128"/>
                  </a:lnTo>
                  <a:lnTo>
                    <a:pt x="196" y="93"/>
                  </a:lnTo>
                  <a:lnTo>
                    <a:pt x="270" y="61"/>
                  </a:lnTo>
                  <a:lnTo>
                    <a:pt x="334" y="42"/>
                  </a:lnTo>
                  <a:lnTo>
                    <a:pt x="399" y="27"/>
                  </a:lnTo>
                  <a:lnTo>
                    <a:pt x="465" y="19"/>
                  </a:lnTo>
                  <a:lnTo>
                    <a:pt x="532" y="16"/>
                  </a:lnTo>
                  <a:lnTo>
                    <a:pt x="663" y="6"/>
                  </a:lnTo>
                  <a:lnTo>
                    <a:pt x="788" y="3"/>
                  </a:lnTo>
                  <a:lnTo>
                    <a:pt x="927" y="3"/>
                  </a:lnTo>
                  <a:lnTo>
                    <a:pt x="1057" y="3"/>
                  </a:lnTo>
                  <a:lnTo>
                    <a:pt x="1195" y="3"/>
                  </a:lnTo>
                  <a:lnTo>
                    <a:pt x="1323" y="0"/>
                  </a:lnTo>
                  <a:lnTo>
                    <a:pt x="1460" y="3"/>
                  </a:lnTo>
                  <a:lnTo>
                    <a:pt x="1591" y="6"/>
                  </a:lnTo>
                  <a:lnTo>
                    <a:pt x="1716" y="6"/>
                  </a:lnTo>
                  <a:lnTo>
                    <a:pt x="1854" y="13"/>
                  </a:lnTo>
                  <a:lnTo>
                    <a:pt x="1988" y="13"/>
                  </a:lnTo>
                </a:path>
              </a:pathLst>
            </a:custGeom>
            <a:noFill/>
            <a:ln w="12700" cmpd="sng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17" name="Freeform 73"/>
            <p:cNvSpPr>
              <a:spLocks/>
            </p:cNvSpPr>
            <p:nvPr/>
          </p:nvSpPr>
          <p:spPr bwMode="auto">
            <a:xfrm>
              <a:off x="3034" y="2320"/>
              <a:ext cx="854" cy="137"/>
            </a:xfrm>
            <a:custGeom>
              <a:avLst/>
              <a:gdLst>
                <a:gd name="T0" fmla="*/ 0 w 764"/>
                <a:gd name="T1" fmla="*/ 122 h 122"/>
                <a:gd name="T2" fmla="*/ 31 w 764"/>
                <a:gd name="T3" fmla="*/ 89 h 122"/>
                <a:gd name="T4" fmla="*/ 71 w 764"/>
                <a:gd name="T5" fmla="*/ 50 h 122"/>
                <a:gd name="T6" fmla="*/ 127 w 764"/>
                <a:gd name="T7" fmla="*/ 22 h 122"/>
                <a:gd name="T8" fmla="*/ 201 w 764"/>
                <a:gd name="T9" fmla="*/ 3 h 122"/>
                <a:gd name="T10" fmla="*/ 258 w 764"/>
                <a:gd name="T11" fmla="*/ 0 h 122"/>
                <a:gd name="T12" fmla="*/ 322 w 764"/>
                <a:gd name="T13" fmla="*/ 0 h 122"/>
                <a:gd name="T14" fmla="*/ 393 w 764"/>
                <a:gd name="T15" fmla="*/ 3 h 122"/>
                <a:gd name="T16" fmla="*/ 457 w 764"/>
                <a:gd name="T17" fmla="*/ 3 h 122"/>
                <a:gd name="T18" fmla="*/ 527 w 764"/>
                <a:gd name="T19" fmla="*/ 6 h 122"/>
                <a:gd name="T20" fmla="*/ 597 w 764"/>
                <a:gd name="T21" fmla="*/ 3 h 122"/>
                <a:gd name="T22" fmla="*/ 652 w 764"/>
                <a:gd name="T23" fmla="*/ 6 h 122"/>
                <a:gd name="T24" fmla="*/ 729 w 764"/>
                <a:gd name="T25" fmla="*/ 9 h 122"/>
                <a:gd name="T26" fmla="*/ 764 w 764"/>
                <a:gd name="T27" fmla="*/ 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4" h="122">
                  <a:moveTo>
                    <a:pt x="0" y="122"/>
                  </a:moveTo>
                  <a:lnTo>
                    <a:pt x="31" y="89"/>
                  </a:lnTo>
                  <a:lnTo>
                    <a:pt x="71" y="50"/>
                  </a:lnTo>
                  <a:lnTo>
                    <a:pt x="127" y="22"/>
                  </a:lnTo>
                  <a:lnTo>
                    <a:pt x="201" y="3"/>
                  </a:lnTo>
                  <a:lnTo>
                    <a:pt x="258" y="0"/>
                  </a:lnTo>
                  <a:lnTo>
                    <a:pt x="322" y="0"/>
                  </a:lnTo>
                  <a:lnTo>
                    <a:pt x="393" y="3"/>
                  </a:lnTo>
                  <a:lnTo>
                    <a:pt x="457" y="3"/>
                  </a:lnTo>
                  <a:lnTo>
                    <a:pt x="527" y="6"/>
                  </a:lnTo>
                  <a:lnTo>
                    <a:pt x="597" y="3"/>
                  </a:lnTo>
                  <a:lnTo>
                    <a:pt x="652" y="6"/>
                  </a:lnTo>
                  <a:lnTo>
                    <a:pt x="729" y="9"/>
                  </a:lnTo>
                  <a:lnTo>
                    <a:pt x="764" y="9"/>
                  </a:lnTo>
                </a:path>
              </a:pathLst>
            </a:custGeom>
            <a:noFill/>
            <a:ln w="12700" cmpd="sng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18" name="Freeform 74"/>
            <p:cNvSpPr>
              <a:spLocks/>
            </p:cNvSpPr>
            <p:nvPr/>
          </p:nvSpPr>
          <p:spPr bwMode="auto">
            <a:xfrm>
              <a:off x="3033" y="2371"/>
              <a:ext cx="810" cy="127"/>
            </a:xfrm>
            <a:custGeom>
              <a:avLst/>
              <a:gdLst>
                <a:gd name="T0" fmla="*/ 0 w 725"/>
                <a:gd name="T1" fmla="*/ 79 h 114"/>
                <a:gd name="T2" fmla="*/ 68 w 725"/>
                <a:gd name="T3" fmla="*/ 100 h 114"/>
                <a:gd name="T4" fmla="*/ 134 w 725"/>
                <a:gd name="T5" fmla="*/ 112 h 114"/>
                <a:gd name="T6" fmla="*/ 202 w 725"/>
                <a:gd name="T7" fmla="*/ 114 h 114"/>
                <a:gd name="T8" fmla="*/ 265 w 725"/>
                <a:gd name="T9" fmla="*/ 107 h 114"/>
                <a:gd name="T10" fmla="*/ 336 w 725"/>
                <a:gd name="T11" fmla="*/ 89 h 114"/>
                <a:gd name="T12" fmla="*/ 395 w 725"/>
                <a:gd name="T13" fmla="*/ 71 h 114"/>
                <a:gd name="T14" fmla="*/ 463 w 725"/>
                <a:gd name="T15" fmla="*/ 54 h 114"/>
                <a:gd name="T16" fmla="*/ 526 w 725"/>
                <a:gd name="T17" fmla="*/ 37 h 114"/>
                <a:gd name="T18" fmla="*/ 593 w 725"/>
                <a:gd name="T19" fmla="*/ 24 h 114"/>
                <a:gd name="T20" fmla="*/ 654 w 725"/>
                <a:gd name="T21" fmla="*/ 9 h 114"/>
                <a:gd name="T22" fmla="*/ 725 w 725"/>
                <a:gd name="T23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5" h="114">
                  <a:moveTo>
                    <a:pt x="0" y="79"/>
                  </a:moveTo>
                  <a:lnTo>
                    <a:pt x="68" y="100"/>
                  </a:lnTo>
                  <a:lnTo>
                    <a:pt x="134" y="112"/>
                  </a:lnTo>
                  <a:lnTo>
                    <a:pt x="202" y="114"/>
                  </a:lnTo>
                  <a:lnTo>
                    <a:pt x="265" y="107"/>
                  </a:lnTo>
                  <a:lnTo>
                    <a:pt x="336" y="89"/>
                  </a:lnTo>
                  <a:lnTo>
                    <a:pt x="395" y="71"/>
                  </a:lnTo>
                  <a:lnTo>
                    <a:pt x="463" y="54"/>
                  </a:lnTo>
                  <a:lnTo>
                    <a:pt x="526" y="37"/>
                  </a:lnTo>
                  <a:lnTo>
                    <a:pt x="593" y="24"/>
                  </a:lnTo>
                  <a:lnTo>
                    <a:pt x="654" y="9"/>
                  </a:lnTo>
                  <a:lnTo>
                    <a:pt x="725" y="0"/>
                  </a:lnTo>
                </a:path>
              </a:pathLst>
            </a:custGeom>
            <a:noFill/>
            <a:ln w="12700" cmpd="sng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19" name="Freeform 75"/>
            <p:cNvSpPr>
              <a:spLocks/>
            </p:cNvSpPr>
            <p:nvPr/>
          </p:nvSpPr>
          <p:spPr bwMode="auto">
            <a:xfrm>
              <a:off x="3030" y="2463"/>
              <a:ext cx="2214" cy="130"/>
            </a:xfrm>
            <a:custGeom>
              <a:avLst/>
              <a:gdLst>
                <a:gd name="T0" fmla="*/ 0 w 1982"/>
                <a:gd name="T1" fmla="*/ 0 h 115"/>
                <a:gd name="T2" fmla="*/ 140 w 1982"/>
                <a:gd name="T3" fmla="*/ 47 h 115"/>
                <a:gd name="T4" fmla="*/ 205 w 1982"/>
                <a:gd name="T5" fmla="*/ 66 h 115"/>
                <a:gd name="T6" fmla="*/ 271 w 1982"/>
                <a:gd name="T7" fmla="*/ 88 h 115"/>
                <a:gd name="T8" fmla="*/ 342 w 1982"/>
                <a:gd name="T9" fmla="*/ 99 h 115"/>
                <a:gd name="T10" fmla="*/ 406 w 1982"/>
                <a:gd name="T11" fmla="*/ 105 h 115"/>
                <a:gd name="T12" fmla="*/ 464 w 1982"/>
                <a:gd name="T13" fmla="*/ 112 h 115"/>
                <a:gd name="T14" fmla="*/ 534 w 1982"/>
                <a:gd name="T15" fmla="*/ 112 h 115"/>
                <a:gd name="T16" fmla="*/ 665 w 1982"/>
                <a:gd name="T17" fmla="*/ 115 h 115"/>
                <a:gd name="T18" fmla="*/ 793 w 1982"/>
                <a:gd name="T19" fmla="*/ 102 h 115"/>
                <a:gd name="T20" fmla="*/ 921 w 1982"/>
                <a:gd name="T21" fmla="*/ 92 h 115"/>
                <a:gd name="T22" fmla="*/ 1062 w 1982"/>
                <a:gd name="T23" fmla="*/ 92 h 115"/>
                <a:gd name="T24" fmla="*/ 1186 w 1982"/>
                <a:gd name="T25" fmla="*/ 94 h 115"/>
                <a:gd name="T26" fmla="*/ 1318 w 1982"/>
                <a:gd name="T27" fmla="*/ 90 h 115"/>
                <a:gd name="T28" fmla="*/ 1456 w 1982"/>
                <a:gd name="T29" fmla="*/ 86 h 115"/>
                <a:gd name="T30" fmla="*/ 1581 w 1982"/>
                <a:gd name="T31" fmla="*/ 83 h 115"/>
                <a:gd name="T32" fmla="*/ 1709 w 1982"/>
                <a:gd name="T33" fmla="*/ 79 h 115"/>
                <a:gd name="T34" fmla="*/ 1843 w 1982"/>
                <a:gd name="T35" fmla="*/ 76 h 115"/>
                <a:gd name="T36" fmla="*/ 1982 w 1982"/>
                <a:gd name="T37" fmla="*/ 6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82" h="115">
                  <a:moveTo>
                    <a:pt x="0" y="0"/>
                  </a:moveTo>
                  <a:lnTo>
                    <a:pt x="140" y="47"/>
                  </a:lnTo>
                  <a:lnTo>
                    <a:pt x="205" y="66"/>
                  </a:lnTo>
                  <a:lnTo>
                    <a:pt x="271" y="88"/>
                  </a:lnTo>
                  <a:lnTo>
                    <a:pt x="342" y="99"/>
                  </a:lnTo>
                  <a:lnTo>
                    <a:pt x="406" y="105"/>
                  </a:lnTo>
                  <a:lnTo>
                    <a:pt x="464" y="112"/>
                  </a:lnTo>
                  <a:lnTo>
                    <a:pt x="534" y="112"/>
                  </a:lnTo>
                  <a:lnTo>
                    <a:pt x="665" y="115"/>
                  </a:lnTo>
                  <a:lnTo>
                    <a:pt x="793" y="102"/>
                  </a:lnTo>
                  <a:lnTo>
                    <a:pt x="921" y="92"/>
                  </a:lnTo>
                  <a:lnTo>
                    <a:pt x="1062" y="92"/>
                  </a:lnTo>
                  <a:lnTo>
                    <a:pt x="1186" y="94"/>
                  </a:lnTo>
                  <a:lnTo>
                    <a:pt x="1318" y="90"/>
                  </a:lnTo>
                  <a:lnTo>
                    <a:pt x="1456" y="86"/>
                  </a:lnTo>
                  <a:lnTo>
                    <a:pt x="1581" y="83"/>
                  </a:lnTo>
                  <a:lnTo>
                    <a:pt x="1709" y="79"/>
                  </a:lnTo>
                  <a:lnTo>
                    <a:pt x="1843" y="76"/>
                  </a:lnTo>
                  <a:lnTo>
                    <a:pt x="1982" y="67"/>
                  </a:lnTo>
                </a:path>
              </a:pathLst>
            </a:custGeom>
            <a:noFill/>
            <a:ln w="12700" cmpd="sng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20" name="Freeform 76"/>
            <p:cNvSpPr>
              <a:spLocks/>
            </p:cNvSpPr>
            <p:nvPr/>
          </p:nvSpPr>
          <p:spPr bwMode="auto">
            <a:xfrm>
              <a:off x="3032" y="2459"/>
              <a:ext cx="2218" cy="302"/>
            </a:xfrm>
            <a:custGeom>
              <a:avLst/>
              <a:gdLst>
                <a:gd name="T0" fmla="*/ 0 w 1985"/>
                <a:gd name="T1" fmla="*/ 0 h 269"/>
                <a:gd name="T2" fmla="*/ 133 w 1985"/>
                <a:gd name="T3" fmla="*/ 65 h 269"/>
                <a:gd name="T4" fmla="*/ 203 w 1985"/>
                <a:gd name="T5" fmla="*/ 98 h 269"/>
                <a:gd name="T6" fmla="*/ 273 w 1985"/>
                <a:gd name="T7" fmla="*/ 125 h 269"/>
                <a:gd name="T8" fmla="*/ 343 w 1985"/>
                <a:gd name="T9" fmla="*/ 148 h 269"/>
                <a:gd name="T10" fmla="*/ 401 w 1985"/>
                <a:gd name="T11" fmla="*/ 170 h 269"/>
                <a:gd name="T12" fmla="*/ 463 w 1985"/>
                <a:gd name="T13" fmla="*/ 184 h 269"/>
                <a:gd name="T14" fmla="*/ 534 w 1985"/>
                <a:gd name="T15" fmla="*/ 198 h 269"/>
                <a:gd name="T16" fmla="*/ 670 w 1985"/>
                <a:gd name="T17" fmla="*/ 221 h 269"/>
                <a:gd name="T18" fmla="*/ 817 w 1985"/>
                <a:gd name="T19" fmla="*/ 234 h 269"/>
                <a:gd name="T20" fmla="*/ 926 w 1985"/>
                <a:gd name="T21" fmla="*/ 240 h 269"/>
                <a:gd name="T22" fmla="*/ 1070 w 1985"/>
                <a:gd name="T23" fmla="*/ 250 h 269"/>
                <a:gd name="T24" fmla="*/ 1196 w 1985"/>
                <a:gd name="T25" fmla="*/ 250 h 269"/>
                <a:gd name="T26" fmla="*/ 1326 w 1985"/>
                <a:gd name="T27" fmla="*/ 260 h 269"/>
                <a:gd name="T28" fmla="*/ 1460 w 1985"/>
                <a:gd name="T29" fmla="*/ 263 h 269"/>
                <a:gd name="T30" fmla="*/ 1588 w 1985"/>
                <a:gd name="T31" fmla="*/ 266 h 269"/>
                <a:gd name="T32" fmla="*/ 1710 w 1985"/>
                <a:gd name="T33" fmla="*/ 266 h 269"/>
                <a:gd name="T34" fmla="*/ 1857 w 1985"/>
                <a:gd name="T35" fmla="*/ 266 h 269"/>
                <a:gd name="T36" fmla="*/ 1985 w 1985"/>
                <a:gd name="T37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85" h="269">
                  <a:moveTo>
                    <a:pt x="0" y="0"/>
                  </a:moveTo>
                  <a:lnTo>
                    <a:pt x="133" y="65"/>
                  </a:lnTo>
                  <a:lnTo>
                    <a:pt x="203" y="98"/>
                  </a:lnTo>
                  <a:lnTo>
                    <a:pt x="273" y="125"/>
                  </a:lnTo>
                  <a:lnTo>
                    <a:pt x="343" y="148"/>
                  </a:lnTo>
                  <a:lnTo>
                    <a:pt x="401" y="170"/>
                  </a:lnTo>
                  <a:lnTo>
                    <a:pt x="463" y="184"/>
                  </a:lnTo>
                  <a:lnTo>
                    <a:pt x="534" y="198"/>
                  </a:lnTo>
                  <a:lnTo>
                    <a:pt x="670" y="221"/>
                  </a:lnTo>
                  <a:lnTo>
                    <a:pt x="817" y="234"/>
                  </a:lnTo>
                  <a:lnTo>
                    <a:pt x="926" y="240"/>
                  </a:lnTo>
                  <a:lnTo>
                    <a:pt x="1070" y="250"/>
                  </a:lnTo>
                  <a:lnTo>
                    <a:pt x="1196" y="250"/>
                  </a:lnTo>
                  <a:lnTo>
                    <a:pt x="1326" y="260"/>
                  </a:lnTo>
                  <a:lnTo>
                    <a:pt x="1460" y="263"/>
                  </a:lnTo>
                  <a:lnTo>
                    <a:pt x="1588" y="266"/>
                  </a:lnTo>
                  <a:lnTo>
                    <a:pt x="1710" y="266"/>
                  </a:lnTo>
                  <a:lnTo>
                    <a:pt x="1857" y="266"/>
                  </a:lnTo>
                  <a:lnTo>
                    <a:pt x="1985" y="269"/>
                  </a:lnTo>
                </a:path>
              </a:pathLst>
            </a:custGeom>
            <a:noFill/>
            <a:ln w="12700" cmpd="sng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21" name="Freeform 77"/>
            <p:cNvSpPr>
              <a:spLocks/>
            </p:cNvSpPr>
            <p:nvPr/>
          </p:nvSpPr>
          <p:spPr bwMode="auto">
            <a:xfrm>
              <a:off x="3027" y="2459"/>
              <a:ext cx="2227" cy="526"/>
            </a:xfrm>
            <a:custGeom>
              <a:avLst/>
              <a:gdLst>
                <a:gd name="T0" fmla="*/ 0 w 1993"/>
                <a:gd name="T1" fmla="*/ 0 h 468"/>
                <a:gd name="T2" fmla="*/ 86 w 1993"/>
                <a:gd name="T3" fmla="*/ 48 h 468"/>
                <a:gd name="T4" fmla="*/ 144 w 1993"/>
                <a:gd name="T5" fmla="*/ 87 h 468"/>
                <a:gd name="T6" fmla="*/ 214 w 1993"/>
                <a:gd name="T7" fmla="*/ 125 h 468"/>
                <a:gd name="T8" fmla="*/ 275 w 1993"/>
                <a:gd name="T9" fmla="*/ 164 h 468"/>
                <a:gd name="T10" fmla="*/ 336 w 1993"/>
                <a:gd name="T11" fmla="*/ 196 h 468"/>
                <a:gd name="T12" fmla="*/ 406 w 1993"/>
                <a:gd name="T13" fmla="*/ 224 h 468"/>
                <a:gd name="T14" fmla="*/ 473 w 1993"/>
                <a:gd name="T15" fmla="*/ 250 h 468"/>
                <a:gd name="T16" fmla="*/ 546 w 1993"/>
                <a:gd name="T17" fmla="*/ 274 h 468"/>
                <a:gd name="T18" fmla="*/ 674 w 1993"/>
                <a:gd name="T19" fmla="*/ 316 h 468"/>
                <a:gd name="T20" fmla="*/ 803 w 1993"/>
                <a:gd name="T21" fmla="*/ 349 h 468"/>
                <a:gd name="T22" fmla="*/ 938 w 1993"/>
                <a:gd name="T23" fmla="*/ 370 h 468"/>
                <a:gd name="T24" fmla="*/ 1072 w 1993"/>
                <a:gd name="T25" fmla="*/ 388 h 468"/>
                <a:gd name="T26" fmla="*/ 1203 w 1993"/>
                <a:gd name="T27" fmla="*/ 407 h 468"/>
                <a:gd name="T28" fmla="*/ 1328 w 1993"/>
                <a:gd name="T29" fmla="*/ 420 h 468"/>
                <a:gd name="T30" fmla="*/ 1465 w 1993"/>
                <a:gd name="T31" fmla="*/ 435 h 468"/>
                <a:gd name="T32" fmla="*/ 1601 w 1993"/>
                <a:gd name="T33" fmla="*/ 444 h 468"/>
                <a:gd name="T34" fmla="*/ 1735 w 1993"/>
                <a:gd name="T35" fmla="*/ 454 h 468"/>
                <a:gd name="T36" fmla="*/ 1865 w 1993"/>
                <a:gd name="T37" fmla="*/ 461 h 468"/>
                <a:gd name="T38" fmla="*/ 1993 w 1993"/>
                <a:gd name="T3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93" h="468">
                  <a:moveTo>
                    <a:pt x="0" y="0"/>
                  </a:moveTo>
                  <a:lnTo>
                    <a:pt x="86" y="48"/>
                  </a:lnTo>
                  <a:lnTo>
                    <a:pt x="144" y="87"/>
                  </a:lnTo>
                  <a:lnTo>
                    <a:pt x="214" y="125"/>
                  </a:lnTo>
                  <a:lnTo>
                    <a:pt x="275" y="164"/>
                  </a:lnTo>
                  <a:lnTo>
                    <a:pt x="336" y="196"/>
                  </a:lnTo>
                  <a:lnTo>
                    <a:pt x="406" y="224"/>
                  </a:lnTo>
                  <a:lnTo>
                    <a:pt x="473" y="250"/>
                  </a:lnTo>
                  <a:lnTo>
                    <a:pt x="546" y="274"/>
                  </a:lnTo>
                  <a:lnTo>
                    <a:pt x="674" y="316"/>
                  </a:lnTo>
                  <a:lnTo>
                    <a:pt x="803" y="349"/>
                  </a:lnTo>
                  <a:lnTo>
                    <a:pt x="938" y="370"/>
                  </a:lnTo>
                  <a:lnTo>
                    <a:pt x="1072" y="388"/>
                  </a:lnTo>
                  <a:lnTo>
                    <a:pt x="1203" y="407"/>
                  </a:lnTo>
                  <a:lnTo>
                    <a:pt x="1328" y="420"/>
                  </a:lnTo>
                  <a:lnTo>
                    <a:pt x="1465" y="435"/>
                  </a:lnTo>
                  <a:lnTo>
                    <a:pt x="1601" y="444"/>
                  </a:lnTo>
                  <a:lnTo>
                    <a:pt x="1735" y="454"/>
                  </a:lnTo>
                  <a:lnTo>
                    <a:pt x="1865" y="461"/>
                  </a:lnTo>
                  <a:lnTo>
                    <a:pt x="1993" y="468"/>
                  </a:lnTo>
                </a:path>
              </a:pathLst>
            </a:custGeom>
            <a:noFill/>
            <a:ln w="12700" cmpd="sng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22" name="Freeform 78"/>
            <p:cNvSpPr>
              <a:spLocks/>
            </p:cNvSpPr>
            <p:nvPr/>
          </p:nvSpPr>
          <p:spPr bwMode="auto">
            <a:xfrm>
              <a:off x="3027" y="2459"/>
              <a:ext cx="2248" cy="783"/>
            </a:xfrm>
            <a:custGeom>
              <a:avLst/>
              <a:gdLst>
                <a:gd name="T0" fmla="*/ 0 w 2012"/>
                <a:gd name="T1" fmla="*/ 0 h 698"/>
                <a:gd name="T2" fmla="*/ 80 w 2012"/>
                <a:gd name="T3" fmla="*/ 54 h 698"/>
                <a:gd name="T4" fmla="*/ 143 w 2012"/>
                <a:gd name="T5" fmla="*/ 107 h 698"/>
                <a:gd name="T6" fmla="*/ 210 w 2012"/>
                <a:gd name="T7" fmla="*/ 154 h 698"/>
                <a:gd name="T8" fmla="*/ 278 w 2012"/>
                <a:gd name="T9" fmla="*/ 210 h 698"/>
                <a:gd name="T10" fmla="*/ 340 w 2012"/>
                <a:gd name="T11" fmla="*/ 248 h 698"/>
                <a:gd name="T12" fmla="*/ 412 w 2012"/>
                <a:gd name="T13" fmla="*/ 292 h 698"/>
                <a:gd name="T14" fmla="*/ 484 w 2012"/>
                <a:gd name="T15" fmla="*/ 332 h 698"/>
                <a:gd name="T16" fmla="*/ 544 w 2012"/>
                <a:gd name="T17" fmla="*/ 358 h 698"/>
                <a:gd name="T18" fmla="*/ 688 w 2012"/>
                <a:gd name="T19" fmla="*/ 420 h 698"/>
                <a:gd name="T20" fmla="*/ 812 w 2012"/>
                <a:gd name="T21" fmla="*/ 466 h 698"/>
                <a:gd name="T22" fmla="*/ 947 w 2012"/>
                <a:gd name="T23" fmla="*/ 503 h 698"/>
                <a:gd name="T24" fmla="*/ 1080 w 2012"/>
                <a:gd name="T25" fmla="*/ 537 h 698"/>
                <a:gd name="T26" fmla="*/ 1214 w 2012"/>
                <a:gd name="T27" fmla="*/ 569 h 698"/>
                <a:gd name="T28" fmla="*/ 1346 w 2012"/>
                <a:gd name="T29" fmla="*/ 597 h 698"/>
                <a:gd name="T30" fmla="*/ 1478 w 2012"/>
                <a:gd name="T31" fmla="*/ 621 h 698"/>
                <a:gd name="T32" fmla="*/ 1613 w 2012"/>
                <a:gd name="T33" fmla="*/ 644 h 698"/>
                <a:gd name="T34" fmla="*/ 1747 w 2012"/>
                <a:gd name="T35" fmla="*/ 664 h 698"/>
                <a:gd name="T36" fmla="*/ 1877 w 2012"/>
                <a:gd name="T37" fmla="*/ 681 h 698"/>
                <a:gd name="T38" fmla="*/ 2012 w 2012"/>
                <a:gd name="T39" fmla="*/ 698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12" h="698">
                  <a:moveTo>
                    <a:pt x="0" y="0"/>
                  </a:moveTo>
                  <a:lnTo>
                    <a:pt x="80" y="54"/>
                  </a:lnTo>
                  <a:lnTo>
                    <a:pt x="143" y="107"/>
                  </a:lnTo>
                  <a:lnTo>
                    <a:pt x="210" y="154"/>
                  </a:lnTo>
                  <a:lnTo>
                    <a:pt x="278" y="210"/>
                  </a:lnTo>
                  <a:lnTo>
                    <a:pt x="340" y="248"/>
                  </a:lnTo>
                  <a:lnTo>
                    <a:pt x="412" y="292"/>
                  </a:lnTo>
                  <a:lnTo>
                    <a:pt x="484" y="332"/>
                  </a:lnTo>
                  <a:lnTo>
                    <a:pt x="544" y="358"/>
                  </a:lnTo>
                  <a:lnTo>
                    <a:pt x="688" y="420"/>
                  </a:lnTo>
                  <a:lnTo>
                    <a:pt x="812" y="466"/>
                  </a:lnTo>
                  <a:lnTo>
                    <a:pt x="947" y="503"/>
                  </a:lnTo>
                  <a:lnTo>
                    <a:pt x="1080" y="537"/>
                  </a:lnTo>
                  <a:lnTo>
                    <a:pt x="1214" y="569"/>
                  </a:lnTo>
                  <a:lnTo>
                    <a:pt x="1346" y="597"/>
                  </a:lnTo>
                  <a:lnTo>
                    <a:pt x="1478" y="621"/>
                  </a:lnTo>
                  <a:lnTo>
                    <a:pt x="1613" y="644"/>
                  </a:lnTo>
                  <a:lnTo>
                    <a:pt x="1747" y="664"/>
                  </a:lnTo>
                  <a:lnTo>
                    <a:pt x="1877" y="681"/>
                  </a:lnTo>
                  <a:lnTo>
                    <a:pt x="2012" y="698"/>
                  </a:lnTo>
                </a:path>
              </a:pathLst>
            </a:custGeom>
            <a:noFill/>
            <a:ln w="12700" cmpd="sng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23" name="Freeform 79"/>
            <p:cNvSpPr>
              <a:spLocks/>
            </p:cNvSpPr>
            <p:nvPr/>
          </p:nvSpPr>
          <p:spPr bwMode="auto">
            <a:xfrm>
              <a:off x="3030" y="2459"/>
              <a:ext cx="2249" cy="945"/>
            </a:xfrm>
            <a:custGeom>
              <a:avLst/>
              <a:gdLst>
                <a:gd name="T0" fmla="*/ 0 w 2013"/>
                <a:gd name="T1" fmla="*/ 0 h 842"/>
                <a:gd name="T2" fmla="*/ 109 w 2013"/>
                <a:gd name="T3" fmla="*/ 90 h 842"/>
                <a:gd name="T4" fmla="*/ 208 w 2013"/>
                <a:gd name="T5" fmla="*/ 182 h 842"/>
                <a:gd name="T6" fmla="*/ 281 w 2013"/>
                <a:gd name="T7" fmla="*/ 244 h 842"/>
                <a:gd name="T8" fmla="*/ 345 w 2013"/>
                <a:gd name="T9" fmla="*/ 295 h 842"/>
                <a:gd name="T10" fmla="*/ 400 w 2013"/>
                <a:gd name="T11" fmla="*/ 327 h 842"/>
                <a:gd name="T12" fmla="*/ 470 w 2013"/>
                <a:gd name="T13" fmla="*/ 365 h 842"/>
                <a:gd name="T14" fmla="*/ 544 w 2013"/>
                <a:gd name="T15" fmla="*/ 400 h 842"/>
                <a:gd name="T16" fmla="*/ 681 w 2013"/>
                <a:gd name="T17" fmla="*/ 472 h 842"/>
                <a:gd name="T18" fmla="*/ 814 w 2013"/>
                <a:gd name="T19" fmla="*/ 538 h 842"/>
                <a:gd name="T20" fmla="*/ 941 w 2013"/>
                <a:gd name="T21" fmla="*/ 592 h 842"/>
                <a:gd name="T22" fmla="*/ 1081 w 2013"/>
                <a:gd name="T23" fmla="*/ 628 h 842"/>
                <a:gd name="T24" fmla="*/ 1204 w 2013"/>
                <a:gd name="T25" fmla="*/ 658 h 842"/>
                <a:gd name="T26" fmla="*/ 1342 w 2013"/>
                <a:gd name="T27" fmla="*/ 692 h 842"/>
                <a:gd name="T28" fmla="*/ 1475 w 2013"/>
                <a:gd name="T29" fmla="*/ 730 h 842"/>
                <a:gd name="T30" fmla="*/ 1613 w 2013"/>
                <a:gd name="T31" fmla="*/ 774 h 842"/>
                <a:gd name="T32" fmla="*/ 1747 w 2013"/>
                <a:gd name="T33" fmla="*/ 804 h 842"/>
                <a:gd name="T34" fmla="*/ 1877 w 2013"/>
                <a:gd name="T35" fmla="*/ 828 h 842"/>
                <a:gd name="T36" fmla="*/ 2013 w 2013"/>
                <a:gd name="T37" fmla="*/ 842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13" h="842">
                  <a:moveTo>
                    <a:pt x="0" y="0"/>
                  </a:moveTo>
                  <a:lnTo>
                    <a:pt x="109" y="90"/>
                  </a:lnTo>
                  <a:lnTo>
                    <a:pt x="208" y="182"/>
                  </a:lnTo>
                  <a:lnTo>
                    <a:pt x="281" y="244"/>
                  </a:lnTo>
                  <a:lnTo>
                    <a:pt x="345" y="295"/>
                  </a:lnTo>
                  <a:lnTo>
                    <a:pt x="400" y="327"/>
                  </a:lnTo>
                  <a:lnTo>
                    <a:pt x="470" y="365"/>
                  </a:lnTo>
                  <a:lnTo>
                    <a:pt x="544" y="400"/>
                  </a:lnTo>
                  <a:lnTo>
                    <a:pt x="681" y="472"/>
                  </a:lnTo>
                  <a:lnTo>
                    <a:pt x="814" y="538"/>
                  </a:lnTo>
                  <a:lnTo>
                    <a:pt x="941" y="592"/>
                  </a:lnTo>
                  <a:lnTo>
                    <a:pt x="1081" y="628"/>
                  </a:lnTo>
                  <a:lnTo>
                    <a:pt x="1204" y="658"/>
                  </a:lnTo>
                  <a:lnTo>
                    <a:pt x="1342" y="692"/>
                  </a:lnTo>
                  <a:lnTo>
                    <a:pt x="1475" y="730"/>
                  </a:lnTo>
                  <a:lnTo>
                    <a:pt x="1613" y="774"/>
                  </a:lnTo>
                  <a:lnTo>
                    <a:pt x="1747" y="804"/>
                  </a:lnTo>
                  <a:lnTo>
                    <a:pt x="1877" y="828"/>
                  </a:lnTo>
                  <a:lnTo>
                    <a:pt x="2013" y="842"/>
                  </a:lnTo>
                </a:path>
              </a:pathLst>
            </a:custGeom>
            <a:noFill/>
            <a:ln w="12700" cmpd="sng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39824" name="Rectangle 80"/>
            <p:cNvSpPr>
              <a:spLocks noChangeArrowheads="1"/>
            </p:cNvSpPr>
            <p:nvPr/>
          </p:nvSpPr>
          <p:spPr bwMode="auto">
            <a:xfrm>
              <a:off x="5068" y="2525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300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39825" name="Rectangle 81"/>
            <p:cNvSpPr>
              <a:spLocks noChangeArrowheads="1"/>
            </p:cNvSpPr>
            <p:nvPr/>
          </p:nvSpPr>
          <p:spPr bwMode="auto">
            <a:xfrm>
              <a:off x="5059" y="2738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500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39826" name="Rectangle 82"/>
            <p:cNvSpPr>
              <a:spLocks noChangeArrowheads="1"/>
            </p:cNvSpPr>
            <p:nvPr/>
          </p:nvSpPr>
          <p:spPr bwMode="auto">
            <a:xfrm>
              <a:off x="5053" y="2967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900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39827" name="Rectangle 83"/>
            <p:cNvSpPr>
              <a:spLocks noChangeArrowheads="1"/>
            </p:cNvSpPr>
            <p:nvPr/>
          </p:nvSpPr>
          <p:spPr bwMode="auto">
            <a:xfrm>
              <a:off x="5017" y="3165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1500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39828" name="Rectangle 84"/>
            <p:cNvSpPr>
              <a:spLocks noChangeArrowheads="1"/>
            </p:cNvSpPr>
            <p:nvPr/>
          </p:nvSpPr>
          <p:spPr bwMode="auto">
            <a:xfrm>
              <a:off x="5074" y="3376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2500</a:t>
              </a:r>
            </a:p>
          </p:txBody>
        </p:sp>
      </p:grpSp>
      <p:sp>
        <p:nvSpPr>
          <p:cNvPr id="1439829" name="Text Box 85"/>
          <p:cNvSpPr txBox="1">
            <a:spLocks noChangeArrowheads="1"/>
          </p:cNvSpPr>
          <p:nvPr/>
        </p:nvSpPr>
        <p:spPr bwMode="auto">
          <a:xfrm>
            <a:off x="1708150" y="3683000"/>
            <a:ext cx="2384425" cy="164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99CC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Tx/>
              <a:buFontTx/>
              <a:buChar char="•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  <a:sym typeface="Symbol" pitchFamily="18" charset="2"/>
              </a:rPr>
              <a:t> 与围压有关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Tx/>
              <a:buFontTx/>
              <a:buChar char="•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  <a:sym typeface="Symbol" pitchFamily="18" charset="2"/>
              </a:rPr>
              <a:t> 非线性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Tx/>
              <a:buFontTx/>
              <a:buChar char="•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  <a:sym typeface="Symbol" pitchFamily="18" charset="2"/>
              </a:rPr>
              <a:t> 剪胀性</a:t>
            </a:r>
          </a:p>
        </p:txBody>
      </p:sp>
      <p:sp>
        <p:nvSpPr>
          <p:cNvPr id="1439830" name="Text Box 86"/>
          <p:cNvSpPr txBox="1">
            <a:spLocks noChangeArrowheads="1"/>
          </p:cNvSpPr>
          <p:nvPr/>
        </p:nvSpPr>
        <p:spPr bwMode="auto">
          <a:xfrm>
            <a:off x="676275" y="2198688"/>
            <a:ext cx="3370263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糯扎渡高心墙堆石坝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心墙砾石土料试验结果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+mn-cs"/>
            </a:endParaRPr>
          </a:p>
        </p:txBody>
      </p:sp>
      <p:sp>
        <p:nvSpPr>
          <p:cNvPr id="1439831" name="AutoShape 87"/>
          <p:cNvSpPr>
            <a:spLocks noChangeArrowheads="1"/>
          </p:cNvSpPr>
          <p:nvPr/>
        </p:nvSpPr>
        <p:spPr bwMode="auto">
          <a:xfrm>
            <a:off x="3251200" y="1590675"/>
            <a:ext cx="655638" cy="593725"/>
          </a:xfrm>
          <a:prstGeom prst="rightArrow">
            <a:avLst>
              <a:gd name="adj1" fmla="val 49731"/>
              <a:gd name="adj2" fmla="val 48128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9832" name="AutoShape 88"/>
          <p:cNvSpPr>
            <a:spLocks noChangeArrowheads="1"/>
          </p:cNvSpPr>
          <p:nvPr/>
        </p:nvSpPr>
        <p:spPr bwMode="auto">
          <a:xfrm>
            <a:off x="1001713" y="4341813"/>
            <a:ext cx="560387" cy="457200"/>
          </a:xfrm>
          <a:prstGeom prst="homePlate">
            <a:avLst>
              <a:gd name="adj" fmla="val 3064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39833" name="Rectangle 89"/>
          <p:cNvSpPr>
            <a:spLocks noChangeArrowheads="1"/>
          </p:cNvSpPr>
          <p:nvPr/>
        </p:nvSpPr>
        <p:spPr bwMode="auto">
          <a:xfrm>
            <a:off x="3222625" y="5848350"/>
            <a:ext cx="42878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固结排水试验  </a:t>
            </a:r>
          </a:p>
        </p:txBody>
      </p:sp>
      <p:sp>
        <p:nvSpPr>
          <p:cNvPr id="6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63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361350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39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39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39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39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439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1" dur="2000"/>
                                        <p:tgtEl>
                                          <p:spTgt spid="143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439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39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8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398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8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398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9777" grpId="0"/>
      <p:bldP spid="1439830" grpId="0"/>
      <p:bldP spid="1439831" grpId="0" animBg="1"/>
      <p:bldP spid="14398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Box 321"/>
          <p:cNvSpPr txBox="1">
            <a:spLocks noChangeArrowheads="1"/>
          </p:cNvSpPr>
          <p:nvPr/>
        </p:nvSpPr>
        <p:spPr bwMode="auto">
          <a:xfrm>
            <a:off x="1460500" y="4102298"/>
            <a:ext cx="2997200" cy="1430337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spcBef>
                <a:spcPct val="5000"/>
              </a:spcBef>
              <a:spcAft>
                <a:spcPct val="5000"/>
              </a:spcAft>
              <a:buClr>
                <a:schemeClr val="bg1"/>
              </a:buClr>
              <a:buFontTx/>
              <a:buChar char="•"/>
            </a:pP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与围压有关</a:t>
            </a:r>
          </a:p>
          <a:p>
            <a:pPr>
              <a:spcBef>
                <a:spcPct val="5000"/>
              </a:spcBef>
              <a:spcAft>
                <a:spcPct val="5000"/>
              </a:spcAft>
              <a:buClr>
                <a:schemeClr val="bg1"/>
              </a:buClr>
              <a:buFontTx/>
              <a:buChar char="•"/>
            </a:pP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非线性（弹塑性）</a:t>
            </a:r>
          </a:p>
          <a:p>
            <a:pPr>
              <a:spcBef>
                <a:spcPct val="5000"/>
              </a:spcBef>
              <a:spcAft>
                <a:spcPct val="5000"/>
              </a:spcAft>
              <a:buClr>
                <a:schemeClr val="bg1"/>
              </a:buClr>
              <a:buFontTx/>
              <a:buChar char="•"/>
            </a:pP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剪胀性</a:t>
            </a:r>
          </a:p>
        </p:txBody>
      </p:sp>
      <p:sp>
        <p:nvSpPr>
          <p:cNvPr id="1440786" name="Text Box 18"/>
          <p:cNvSpPr txBox="1">
            <a:spLocks noChangeArrowheads="1"/>
          </p:cNvSpPr>
          <p:nvPr/>
        </p:nvSpPr>
        <p:spPr bwMode="auto">
          <a:xfrm>
            <a:off x="623471" y="1666905"/>
            <a:ext cx="2027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  <a:sym typeface="Symbol" pitchFamily="18" charset="2"/>
              </a:rPr>
              <a:t> 变形模量：</a:t>
            </a:r>
          </a:p>
        </p:txBody>
      </p:sp>
      <p:sp>
        <p:nvSpPr>
          <p:cNvPr id="1440787" name="Text Box 19"/>
          <p:cNvSpPr txBox="1">
            <a:spLocks noChangeArrowheads="1"/>
          </p:cNvSpPr>
          <p:nvPr/>
        </p:nvSpPr>
        <p:spPr bwMode="auto">
          <a:xfrm>
            <a:off x="582613" y="3157757"/>
            <a:ext cx="1770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宋体" charset="-122"/>
                <a:ea typeface="幼圆" pitchFamily="49" charset="-122"/>
                <a:cs typeface="+mn-cs"/>
                <a:sym typeface="Symbol" pitchFamily="18" charset="2"/>
              </a:rPr>
              <a:t> 泊松比：</a:t>
            </a:r>
          </a:p>
        </p:txBody>
      </p:sp>
      <p:sp>
        <p:nvSpPr>
          <p:cNvPr id="1440788" name="Rectangle 20"/>
          <p:cNvSpPr>
            <a:spLocks noChangeArrowheads="1"/>
          </p:cNvSpPr>
          <p:nvPr/>
        </p:nvSpPr>
        <p:spPr bwMode="auto">
          <a:xfrm>
            <a:off x="336550" y="879475"/>
            <a:ext cx="42624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450850" marR="0" lvl="0" indent="-450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一般化的应力应变曲线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幼圆" pitchFamily="49" charset="-122"/>
              <a:ea typeface="幼圆" pitchFamily="49" charset="-122"/>
              <a:cs typeface="+mn-cs"/>
            </a:endParaRPr>
          </a:p>
        </p:txBody>
      </p:sp>
      <p:sp>
        <p:nvSpPr>
          <p:cNvPr id="1440821" name="Text Box 53"/>
          <p:cNvSpPr txBox="1">
            <a:spLocks noChangeArrowheads="1"/>
          </p:cNvSpPr>
          <p:nvPr/>
        </p:nvSpPr>
        <p:spPr bwMode="auto">
          <a:xfrm>
            <a:off x="2232025" y="2422957"/>
            <a:ext cx="1774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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弹性模量</a:t>
            </a:r>
          </a:p>
        </p:txBody>
      </p:sp>
      <p:sp>
        <p:nvSpPr>
          <p:cNvPr id="1440822" name="Rectangle 54"/>
          <p:cNvSpPr>
            <a:spLocks noChangeArrowheads="1"/>
          </p:cNvSpPr>
          <p:nvPr/>
        </p:nvSpPr>
        <p:spPr bwMode="auto">
          <a:xfrm>
            <a:off x="3194050" y="5762625"/>
            <a:ext cx="42878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固结排水试验  </a:t>
            </a:r>
          </a:p>
        </p:txBody>
      </p:sp>
      <p:sp>
        <p:nvSpPr>
          <p:cNvPr id="43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445001"/>
              </p:ext>
            </p:extLst>
          </p:nvPr>
        </p:nvGraphicFramePr>
        <p:xfrm>
          <a:off x="2490788" y="1539905"/>
          <a:ext cx="2057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4922" name="Equation" r:id="rId3" imgW="1028520" imgH="444240" progId="Equation.DSMT4">
                  <p:embed/>
                </p:oleObj>
              </mc:Choice>
              <mc:Fallback>
                <p:oleObj name="Equation" r:id="rId3" imgW="1028520" imgH="44424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8" y="1539905"/>
                        <a:ext cx="2057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5" name="Group 287"/>
          <p:cNvGrpSpPr>
            <a:grpSpLocks/>
          </p:cNvGrpSpPr>
          <p:nvPr/>
        </p:nvGrpSpPr>
        <p:grpSpPr bwMode="auto">
          <a:xfrm>
            <a:off x="4712628" y="895350"/>
            <a:ext cx="4203700" cy="4551363"/>
            <a:chOff x="3029" y="546"/>
            <a:chExt cx="2648" cy="2867"/>
          </a:xfrm>
        </p:grpSpPr>
        <p:sp>
          <p:nvSpPr>
            <p:cNvPr id="46" name="Rectangle 288"/>
            <p:cNvSpPr>
              <a:spLocks noChangeArrowheads="1"/>
            </p:cNvSpPr>
            <p:nvPr/>
          </p:nvSpPr>
          <p:spPr bwMode="auto">
            <a:xfrm>
              <a:off x="3029" y="546"/>
              <a:ext cx="2648" cy="286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47" name="Line 289"/>
            <p:cNvSpPr>
              <a:spLocks noChangeAspect="1" noChangeShapeType="1"/>
            </p:cNvSpPr>
            <p:nvPr/>
          </p:nvSpPr>
          <p:spPr bwMode="auto">
            <a:xfrm>
              <a:off x="3433" y="2815"/>
              <a:ext cx="202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48" name="Line 290"/>
            <p:cNvSpPr>
              <a:spLocks noChangeAspect="1" noChangeShapeType="1"/>
            </p:cNvSpPr>
            <p:nvPr/>
          </p:nvSpPr>
          <p:spPr bwMode="auto">
            <a:xfrm flipV="1">
              <a:off x="3440" y="1423"/>
              <a:ext cx="0" cy="1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aphicFrame>
          <p:nvGraphicFramePr>
            <p:cNvPr id="49" name="Object 29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2069001"/>
                </p:ext>
              </p:extLst>
            </p:nvPr>
          </p:nvGraphicFramePr>
          <p:xfrm>
            <a:off x="3408" y="1170"/>
            <a:ext cx="53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4923" name="Microsoft 公式 3.0" r:id="rId5" imgW="457200" imgH="228600" progId="Equation.3">
                    <p:embed/>
                  </p:oleObj>
                </mc:Choice>
                <mc:Fallback>
                  <p:oleObj name="Microsoft 公式 3.0" r:id="rId5" imgW="457200" imgH="228600" progId="Equation.3">
                    <p:embed/>
                    <p:pic>
                      <p:nvPicPr>
                        <p:cNvPr id="49" name="Object 2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170"/>
                          <a:ext cx="53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Object 2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346185"/>
                </p:ext>
              </p:extLst>
            </p:nvPr>
          </p:nvGraphicFramePr>
          <p:xfrm>
            <a:off x="5317" y="2796"/>
            <a:ext cx="239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4924" name="Microsoft 公式 3.0" r:id="rId7" imgW="152280" imgH="215640" progId="Equation.3">
                    <p:embed/>
                  </p:oleObj>
                </mc:Choice>
                <mc:Fallback>
                  <p:oleObj name="Microsoft 公式 3.0" r:id="rId7" imgW="152280" imgH="215640" progId="Equation.3">
                    <p:embed/>
                    <p:pic>
                      <p:nvPicPr>
                        <p:cNvPr id="50" name="Object 2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7" y="2796"/>
                          <a:ext cx="239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Freeform 293"/>
            <p:cNvSpPr>
              <a:spLocks noChangeAspect="1"/>
            </p:cNvSpPr>
            <p:nvPr/>
          </p:nvSpPr>
          <p:spPr bwMode="auto">
            <a:xfrm>
              <a:off x="3440" y="1802"/>
              <a:ext cx="1174" cy="1009"/>
            </a:xfrm>
            <a:custGeom>
              <a:avLst/>
              <a:gdLst>
                <a:gd name="T0" fmla="*/ 0 w 1174"/>
                <a:gd name="T1" fmla="*/ 1009 h 1009"/>
                <a:gd name="T2" fmla="*/ 188 w 1174"/>
                <a:gd name="T3" fmla="*/ 617 h 1009"/>
                <a:gd name="T4" fmla="*/ 449 w 1174"/>
                <a:gd name="T5" fmla="*/ 305 h 1009"/>
                <a:gd name="T6" fmla="*/ 783 w 1174"/>
                <a:gd name="T7" fmla="*/ 112 h 1009"/>
                <a:gd name="T8" fmla="*/ 1174 w 1174"/>
                <a:gd name="T9" fmla="*/ 0 h 1009"/>
                <a:gd name="connsiteX0" fmla="*/ 0 w 10000"/>
                <a:gd name="connsiteY0" fmla="*/ 10000 h 10000"/>
                <a:gd name="connsiteX1" fmla="*/ 1601 w 10000"/>
                <a:gd name="connsiteY1" fmla="*/ 6115 h 10000"/>
                <a:gd name="connsiteX2" fmla="*/ 4064 w 10000"/>
                <a:gd name="connsiteY2" fmla="*/ 2944 h 10000"/>
                <a:gd name="connsiteX3" fmla="*/ 6670 w 10000"/>
                <a:gd name="connsiteY3" fmla="*/ 1110 h 10000"/>
                <a:gd name="connsiteX4" fmla="*/ 1000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264" y="9356"/>
                    <a:pt x="924" y="7291"/>
                    <a:pt x="1601" y="6115"/>
                  </a:cubicBezTo>
                  <a:cubicBezTo>
                    <a:pt x="2278" y="4939"/>
                    <a:pt x="3220" y="3776"/>
                    <a:pt x="4064" y="2944"/>
                  </a:cubicBezTo>
                  <a:cubicBezTo>
                    <a:pt x="4907" y="2111"/>
                    <a:pt x="5639" y="1615"/>
                    <a:pt x="6670" y="1110"/>
                  </a:cubicBezTo>
                  <a:cubicBezTo>
                    <a:pt x="7700" y="605"/>
                    <a:pt x="9361" y="188"/>
                    <a:pt x="10000" y="0"/>
                  </a:cubicBezTo>
                </a:path>
              </a:pathLst>
            </a:custGeom>
            <a:noFill/>
            <a:ln w="19050" cap="flat" cmpd="sng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52" name="Freeform 294"/>
            <p:cNvSpPr>
              <a:spLocks noChangeAspect="1"/>
            </p:cNvSpPr>
            <p:nvPr/>
          </p:nvSpPr>
          <p:spPr bwMode="auto">
            <a:xfrm>
              <a:off x="4279" y="1802"/>
              <a:ext cx="335" cy="1016"/>
            </a:xfrm>
            <a:custGeom>
              <a:avLst/>
              <a:gdLst>
                <a:gd name="T0" fmla="*/ 335 w 335"/>
                <a:gd name="T1" fmla="*/ 0 h 1016"/>
                <a:gd name="T2" fmla="*/ 282 w 335"/>
                <a:gd name="T3" fmla="*/ 359 h 1016"/>
                <a:gd name="T4" fmla="*/ 213 w 335"/>
                <a:gd name="T5" fmla="*/ 647 h 1016"/>
                <a:gd name="T6" fmla="*/ 99 w 335"/>
                <a:gd name="T7" fmla="*/ 905 h 1016"/>
                <a:gd name="T8" fmla="*/ 0 w 335"/>
                <a:gd name="T9" fmla="*/ 1016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5" h="1016">
                  <a:moveTo>
                    <a:pt x="335" y="0"/>
                  </a:moveTo>
                  <a:cubicBezTo>
                    <a:pt x="326" y="60"/>
                    <a:pt x="302" y="251"/>
                    <a:pt x="282" y="359"/>
                  </a:cubicBezTo>
                  <a:cubicBezTo>
                    <a:pt x="262" y="467"/>
                    <a:pt x="244" y="556"/>
                    <a:pt x="213" y="647"/>
                  </a:cubicBezTo>
                  <a:cubicBezTo>
                    <a:pt x="182" y="738"/>
                    <a:pt x="134" y="844"/>
                    <a:pt x="99" y="905"/>
                  </a:cubicBezTo>
                  <a:cubicBezTo>
                    <a:pt x="64" y="966"/>
                    <a:pt x="21" y="993"/>
                    <a:pt x="0" y="1016"/>
                  </a:cubicBezTo>
                </a:path>
              </a:pathLst>
            </a:custGeom>
            <a:noFill/>
            <a:ln w="19050" cap="flat" cmpd="sng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53" name="Freeform 295"/>
            <p:cNvSpPr>
              <a:spLocks noChangeAspect="1"/>
            </p:cNvSpPr>
            <p:nvPr/>
          </p:nvSpPr>
          <p:spPr bwMode="auto">
            <a:xfrm>
              <a:off x="4284" y="1661"/>
              <a:ext cx="1312" cy="1154"/>
            </a:xfrm>
            <a:custGeom>
              <a:avLst/>
              <a:gdLst>
                <a:gd name="T0" fmla="*/ 0 w 1312"/>
                <a:gd name="T1" fmla="*/ 1154 h 1154"/>
                <a:gd name="T2" fmla="*/ 70 w 1312"/>
                <a:gd name="T3" fmla="*/ 797 h 1154"/>
                <a:gd name="T4" fmla="*/ 166 w 1312"/>
                <a:gd name="T5" fmla="*/ 455 h 1154"/>
                <a:gd name="T6" fmla="*/ 268 w 1312"/>
                <a:gd name="T7" fmla="*/ 257 h 1154"/>
                <a:gd name="T8" fmla="*/ 469 w 1312"/>
                <a:gd name="T9" fmla="*/ 125 h 1154"/>
                <a:gd name="T10" fmla="*/ 675 w 1312"/>
                <a:gd name="T11" fmla="*/ 54 h 1154"/>
                <a:gd name="T12" fmla="*/ 990 w 1312"/>
                <a:gd name="T13" fmla="*/ 15 h 1154"/>
                <a:gd name="T14" fmla="*/ 1312 w 1312"/>
                <a:gd name="T15" fmla="*/ 0 h 1154"/>
                <a:gd name="connsiteX0" fmla="*/ 0 w 10000"/>
                <a:gd name="connsiteY0" fmla="*/ 10000 h 10000"/>
                <a:gd name="connsiteX1" fmla="*/ 534 w 10000"/>
                <a:gd name="connsiteY1" fmla="*/ 6906 h 10000"/>
                <a:gd name="connsiteX2" fmla="*/ 1265 w 10000"/>
                <a:gd name="connsiteY2" fmla="*/ 3943 h 10000"/>
                <a:gd name="connsiteX3" fmla="*/ 2043 w 10000"/>
                <a:gd name="connsiteY3" fmla="*/ 2227 h 10000"/>
                <a:gd name="connsiteX4" fmla="*/ 3575 w 10000"/>
                <a:gd name="connsiteY4" fmla="*/ 1083 h 10000"/>
                <a:gd name="connsiteX5" fmla="*/ 5236 w 10000"/>
                <a:gd name="connsiteY5" fmla="*/ 503 h 10000"/>
                <a:gd name="connsiteX6" fmla="*/ 7546 w 10000"/>
                <a:gd name="connsiteY6" fmla="*/ 130 h 10000"/>
                <a:gd name="connsiteX7" fmla="*/ 1000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>
                  <a:moveTo>
                    <a:pt x="0" y="10000"/>
                  </a:moveTo>
                  <a:cubicBezTo>
                    <a:pt x="91" y="9489"/>
                    <a:pt x="320" y="7912"/>
                    <a:pt x="534" y="6906"/>
                  </a:cubicBezTo>
                  <a:cubicBezTo>
                    <a:pt x="747" y="5901"/>
                    <a:pt x="1014" y="4723"/>
                    <a:pt x="1265" y="3943"/>
                  </a:cubicBezTo>
                  <a:cubicBezTo>
                    <a:pt x="1517" y="3163"/>
                    <a:pt x="1662" y="2704"/>
                    <a:pt x="2043" y="2227"/>
                  </a:cubicBezTo>
                  <a:cubicBezTo>
                    <a:pt x="2424" y="1750"/>
                    <a:pt x="3043" y="1370"/>
                    <a:pt x="3575" y="1083"/>
                  </a:cubicBezTo>
                  <a:cubicBezTo>
                    <a:pt x="4107" y="796"/>
                    <a:pt x="4573" y="659"/>
                    <a:pt x="5236" y="503"/>
                  </a:cubicBezTo>
                  <a:cubicBezTo>
                    <a:pt x="5899" y="347"/>
                    <a:pt x="6738" y="208"/>
                    <a:pt x="7546" y="130"/>
                  </a:cubicBezTo>
                  <a:cubicBezTo>
                    <a:pt x="8354" y="52"/>
                    <a:pt x="9489" y="26"/>
                    <a:pt x="10000" y="0"/>
                  </a:cubicBezTo>
                </a:path>
              </a:pathLst>
            </a:custGeom>
            <a:noFill/>
            <a:ln w="19050" cap="flat" cmpd="sng">
              <a:solidFill>
                <a:srgbClr val="C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54" name="Freeform 296"/>
            <p:cNvSpPr>
              <a:spLocks/>
            </p:cNvSpPr>
            <p:nvPr/>
          </p:nvSpPr>
          <p:spPr bwMode="auto">
            <a:xfrm>
              <a:off x="4294" y="1817"/>
              <a:ext cx="305" cy="992"/>
            </a:xfrm>
            <a:custGeom>
              <a:avLst/>
              <a:gdLst>
                <a:gd name="T0" fmla="*/ 305 w 305"/>
                <a:gd name="T1" fmla="*/ 0 h 992"/>
                <a:gd name="T2" fmla="*/ 0 w 305"/>
                <a:gd name="T3" fmla="*/ 992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05" h="992">
                  <a:moveTo>
                    <a:pt x="305" y="0"/>
                  </a:moveTo>
                  <a:lnTo>
                    <a:pt x="0" y="992"/>
                  </a:lnTo>
                </a:path>
              </a:pathLst>
            </a:custGeom>
            <a:noFill/>
            <a:ln w="19050" cap="flat" cmpd="sng">
              <a:solidFill>
                <a:srgbClr val="0066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55" name="Line 298"/>
            <p:cNvSpPr>
              <a:spLocks noChangeShapeType="1"/>
            </p:cNvSpPr>
            <p:nvPr/>
          </p:nvSpPr>
          <p:spPr bwMode="auto">
            <a:xfrm>
              <a:off x="3437" y="2934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56" name="Line 299"/>
            <p:cNvSpPr>
              <a:spLocks noChangeShapeType="1"/>
            </p:cNvSpPr>
            <p:nvPr/>
          </p:nvSpPr>
          <p:spPr bwMode="auto">
            <a:xfrm>
              <a:off x="4283" y="2942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57" name="Line 300"/>
            <p:cNvSpPr>
              <a:spLocks noChangeShapeType="1"/>
            </p:cNvSpPr>
            <p:nvPr/>
          </p:nvSpPr>
          <p:spPr bwMode="auto">
            <a:xfrm>
              <a:off x="4597" y="2934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58" name="Freeform 301"/>
            <p:cNvSpPr>
              <a:spLocks/>
            </p:cNvSpPr>
            <p:nvPr/>
          </p:nvSpPr>
          <p:spPr bwMode="auto">
            <a:xfrm>
              <a:off x="3441" y="3153"/>
              <a:ext cx="835" cy="1"/>
            </a:xfrm>
            <a:custGeom>
              <a:avLst/>
              <a:gdLst>
                <a:gd name="T0" fmla="*/ 0 w 835"/>
                <a:gd name="T1" fmla="*/ 0 h 1"/>
                <a:gd name="T2" fmla="*/ 835 w 835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35" h="1">
                  <a:moveTo>
                    <a:pt x="0" y="0"/>
                  </a:moveTo>
                  <a:lnTo>
                    <a:pt x="835" y="1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59" name="Freeform 302"/>
            <p:cNvSpPr>
              <a:spLocks/>
            </p:cNvSpPr>
            <p:nvPr/>
          </p:nvSpPr>
          <p:spPr bwMode="auto">
            <a:xfrm>
              <a:off x="4285" y="3151"/>
              <a:ext cx="314" cy="1"/>
            </a:xfrm>
            <a:custGeom>
              <a:avLst/>
              <a:gdLst>
                <a:gd name="T0" fmla="*/ 0 w 314"/>
                <a:gd name="T1" fmla="*/ 0 h 1"/>
                <a:gd name="T2" fmla="*/ 314 w 314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4" h="1">
                  <a:moveTo>
                    <a:pt x="0" y="0"/>
                  </a:moveTo>
                  <a:lnTo>
                    <a:pt x="314" y="1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aphicFrame>
          <p:nvGraphicFramePr>
            <p:cNvPr id="60" name="Object 30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6710366"/>
                </p:ext>
              </p:extLst>
            </p:nvPr>
          </p:nvGraphicFramePr>
          <p:xfrm>
            <a:off x="4337" y="2868"/>
            <a:ext cx="22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4925" name="Equation" r:id="rId9" imgW="177480" imgH="203040" progId="Equation.DSMT4">
                    <p:embed/>
                  </p:oleObj>
                </mc:Choice>
                <mc:Fallback>
                  <p:oleObj name="Equation" r:id="rId9" imgW="177480" imgH="203040" progId="Equation.DSMT4">
                    <p:embed/>
                    <p:pic>
                      <p:nvPicPr>
                        <p:cNvPr id="60" name="Object 3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7" y="2868"/>
                          <a:ext cx="224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30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5862982"/>
                </p:ext>
              </p:extLst>
            </p:nvPr>
          </p:nvGraphicFramePr>
          <p:xfrm>
            <a:off x="3742" y="2881"/>
            <a:ext cx="24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4926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61" name="Object 3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2881"/>
                          <a:ext cx="24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2" name="Group 305"/>
            <p:cNvGrpSpPr>
              <a:grpSpLocks/>
            </p:cNvGrpSpPr>
            <p:nvPr/>
          </p:nvGrpSpPr>
          <p:grpSpPr bwMode="auto">
            <a:xfrm>
              <a:off x="3440" y="1526"/>
              <a:ext cx="482" cy="1271"/>
              <a:chOff x="504" y="1758"/>
              <a:chExt cx="482" cy="1271"/>
            </a:xfrm>
          </p:grpSpPr>
          <p:sp>
            <p:nvSpPr>
              <p:cNvPr id="70" name="Text Box 306"/>
              <p:cNvSpPr txBox="1">
                <a:spLocks noChangeArrowheads="1"/>
              </p:cNvSpPr>
              <p:nvPr/>
            </p:nvSpPr>
            <p:spPr bwMode="auto">
              <a:xfrm>
                <a:off x="780" y="1758"/>
                <a:ext cx="206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宋体" charset="-122"/>
                    <a:ea typeface="宋体" charset="-122"/>
                    <a:cs typeface="+mn-cs"/>
                    <a:sym typeface="Symbol" pitchFamily="18" charset="2"/>
                  </a:rPr>
                  <a:t>1</a:t>
                </a:r>
              </a:p>
            </p:txBody>
          </p:sp>
          <p:grpSp>
            <p:nvGrpSpPr>
              <p:cNvPr id="71" name="Group 307"/>
              <p:cNvGrpSpPr>
                <a:grpSpLocks/>
              </p:cNvGrpSpPr>
              <p:nvPr/>
            </p:nvGrpSpPr>
            <p:grpSpPr bwMode="auto">
              <a:xfrm>
                <a:off x="504" y="2000"/>
                <a:ext cx="474" cy="1029"/>
                <a:chOff x="504" y="2000"/>
                <a:chExt cx="474" cy="1029"/>
              </a:xfrm>
            </p:grpSpPr>
            <p:sp>
              <p:nvSpPr>
                <p:cNvPr id="72" name="Freeform 308"/>
                <p:cNvSpPr>
                  <a:spLocks/>
                </p:cNvSpPr>
                <p:nvPr/>
              </p:nvSpPr>
              <p:spPr bwMode="auto">
                <a:xfrm>
                  <a:off x="504" y="2000"/>
                  <a:ext cx="474" cy="1029"/>
                </a:xfrm>
                <a:custGeom>
                  <a:avLst/>
                  <a:gdLst>
                    <a:gd name="T0" fmla="*/ 0 w 474"/>
                    <a:gd name="T1" fmla="*/ 1029 h 1029"/>
                    <a:gd name="T2" fmla="*/ 474 w 474"/>
                    <a:gd name="T3" fmla="*/ 0 h 10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74" h="1029">
                      <a:moveTo>
                        <a:pt x="0" y="1029"/>
                      </a:moveTo>
                      <a:lnTo>
                        <a:pt x="474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73" name="Freeform 309"/>
                <p:cNvSpPr>
                  <a:spLocks noChangeAspect="1"/>
                </p:cNvSpPr>
                <p:nvPr/>
              </p:nvSpPr>
              <p:spPr bwMode="auto">
                <a:xfrm>
                  <a:off x="776" y="2034"/>
                  <a:ext cx="1" cy="398"/>
                </a:xfrm>
                <a:custGeom>
                  <a:avLst/>
                  <a:gdLst>
                    <a:gd name="T0" fmla="*/ 1 w 1"/>
                    <a:gd name="T1" fmla="*/ 0 h 398"/>
                    <a:gd name="T2" fmla="*/ 0 w 1"/>
                    <a:gd name="T3" fmla="*/ 398 h 3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98">
                      <a:moveTo>
                        <a:pt x="1" y="0"/>
                      </a:moveTo>
                      <a:lnTo>
                        <a:pt x="0" y="398"/>
                      </a:lnTo>
                    </a:path>
                  </a:pathLst>
                </a:custGeom>
                <a:noFill/>
                <a:ln w="19050">
                  <a:solidFill>
                    <a:srgbClr val="99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74" name="Line 310"/>
                <p:cNvSpPr>
                  <a:spLocks noChangeAspect="1" noChangeShapeType="1"/>
                </p:cNvSpPr>
                <p:nvPr/>
              </p:nvSpPr>
              <p:spPr bwMode="auto">
                <a:xfrm>
                  <a:off x="777" y="2034"/>
                  <a:ext cx="181" cy="0"/>
                </a:xfrm>
                <a:prstGeom prst="line">
                  <a:avLst/>
                </a:prstGeom>
                <a:noFill/>
                <a:ln w="19050">
                  <a:solidFill>
                    <a:srgbClr val="9933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15000"/>
                    </a:lnSpc>
                    <a:spcBef>
                      <a:spcPct val="15000"/>
                    </a:spcBef>
                    <a:spcAft>
                      <a:spcPct val="1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itchFamily="18" charset="0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75" name="Text Box 311"/>
                <p:cNvSpPr txBox="1">
                  <a:spLocks noChangeArrowheads="1"/>
                </p:cNvSpPr>
                <p:nvPr/>
              </p:nvSpPr>
              <p:spPr bwMode="auto">
                <a:xfrm>
                  <a:off x="532" y="2031"/>
                  <a:ext cx="268" cy="2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200" b="1" i="1" u="none" strike="noStrike" kern="1200" cap="none" spc="0" normalizeH="0" baseline="0" noProof="0" dirty="0" err="1">
                      <a:ln>
                        <a:noFill/>
                      </a:ln>
                      <a:solidFill>
                        <a:srgbClr val="000066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  <a:sym typeface="Symbol" pitchFamily="18" charset="2"/>
                    </a:rPr>
                    <a:t>E</a:t>
                  </a:r>
                  <a:r>
                    <a:rPr kumimoji="1" lang="en-US" altLang="zh-CN" sz="2200" b="1" u="none" strike="noStrike" kern="1200" cap="none" spc="0" normalizeH="0" baseline="-25000" noProof="0" dirty="0" err="1">
                      <a:ln>
                        <a:noFill/>
                      </a:ln>
                      <a:solidFill>
                        <a:srgbClr val="000066"/>
                      </a:solidFill>
                      <a:effectLst/>
                      <a:uLnTx/>
                      <a:uFillTx/>
                      <a:latin typeface="Times New Roman" pitchFamily="18" charset="0"/>
                      <a:ea typeface="宋体" charset="-122"/>
                      <a:cs typeface="+mn-cs"/>
                      <a:sym typeface="Symbol" pitchFamily="18" charset="2"/>
                    </a:rPr>
                    <a:t>i</a:t>
                  </a:r>
                  <a:endParaRPr kumimoji="1" lang="en-US" altLang="zh-CN" sz="2200" b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Times New Roman" pitchFamily="18" charset="0"/>
                    <a:ea typeface="宋体" charset="-122"/>
                    <a:cs typeface="+mn-cs"/>
                    <a:sym typeface="Symbol" pitchFamily="18" charset="2"/>
                  </a:endParaRPr>
                </a:p>
              </p:txBody>
            </p:sp>
          </p:grpSp>
        </p:grpSp>
        <p:grpSp>
          <p:nvGrpSpPr>
            <p:cNvPr id="63" name="Group 312"/>
            <p:cNvGrpSpPr>
              <a:grpSpLocks/>
            </p:cNvGrpSpPr>
            <p:nvPr/>
          </p:nvGrpSpPr>
          <p:grpSpPr bwMode="auto">
            <a:xfrm>
              <a:off x="3947" y="1245"/>
              <a:ext cx="828" cy="819"/>
              <a:chOff x="1011" y="1477"/>
              <a:chExt cx="828" cy="819"/>
            </a:xfrm>
          </p:grpSpPr>
          <p:sp>
            <p:nvSpPr>
              <p:cNvPr id="65" name="Freeform 313"/>
              <p:cNvSpPr>
                <a:spLocks/>
              </p:cNvSpPr>
              <p:nvPr/>
            </p:nvSpPr>
            <p:spPr bwMode="auto">
              <a:xfrm>
                <a:off x="1011" y="1737"/>
                <a:ext cx="828" cy="559"/>
              </a:xfrm>
              <a:custGeom>
                <a:avLst/>
                <a:gdLst>
                  <a:gd name="T0" fmla="*/ 0 w 828"/>
                  <a:gd name="T1" fmla="*/ 559 h 559"/>
                  <a:gd name="T2" fmla="*/ 828 w 828"/>
                  <a:gd name="T3" fmla="*/ 0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828" h="559">
                    <a:moveTo>
                      <a:pt x="0" y="559"/>
                    </a:moveTo>
                    <a:lnTo>
                      <a:pt x="828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66" name="Freeform 314"/>
              <p:cNvSpPr>
                <a:spLocks noChangeAspect="1"/>
              </p:cNvSpPr>
              <p:nvPr/>
            </p:nvSpPr>
            <p:spPr bwMode="auto">
              <a:xfrm>
                <a:off x="1639" y="1732"/>
                <a:ext cx="1" cy="130"/>
              </a:xfrm>
              <a:custGeom>
                <a:avLst/>
                <a:gdLst>
                  <a:gd name="T0" fmla="*/ 0 w 1"/>
                  <a:gd name="T1" fmla="*/ 0 h 130"/>
                  <a:gd name="T2" fmla="*/ 0 w 1"/>
                  <a:gd name="T3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30">
                    <a:moveTo>
                      <a:pt x="0" y="0"/>
                    </a:moveTo>
                    <a:lnTo>
                      <a:pt x="0" y="130"/>
                    </a:lnTo>
                  </a:path>
                </a:pathLst>
              </a:custGeom>
              <a:noFill/>
              <a:ln w="19050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67" name="Line 315"/>
              <p:cNvSpPr>
                <a:spLocks noChangeAspect="1" noChangeShapeType="1"/>
              </p:cNvSpPr>
              <p:nvPr/>
            </p:nvSpPr>
            <p:spPr bwMode="auto">
              <a:xfrm>
                <a:off x="1645" y="1737"/>
                <a:ext cx="181" cy="0"/>
              </a:xfrm>
              <a:prstGeom prst="line">
                <a:avLst/>
              </a:prstGeom>
              <a:noFill/>
              <a:ln w="19050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68" name="Text Box 316"/>
              <p:cNvSpPr txBox="1">
                <a:spLocks noChangeArrowheads="1"/>
              </p:cNvSpPr>
              <p:nvPr/>
            </p:nvSpPr>
            <p:spPr bwMode="auto">
              <a:xfrm>
                <a:off x="1631" y="1477"/>
                <a:ext cx="206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宋体" charset="-122"/>
                    <a:ea typeface="宋体" charset="-122"/>
                    <a:cs typeface="+mn-cs"/>
                    <a:sym typeface="Symbol" pitchFamily="18" charset="2"/>
                  </a:rPr>
                  <a:t>1</a:t>
                </a:r>
              </a:p>
            </p:txBody>
          </p:sp>
          <p:sp>
            <p:nvSpPr>
              <p:cNvPr id="69" name="Text Box 317"/>
              <p:cNvSpPr txBox="1">
                <a:spLocks noChangeArrowheads="1"/>
              </p:cNvSpPr>
              <p:nvPr/>
            </p:nvSpPr>
            <p:spPr bwMode="auto">
              <a:xfrm>
                <a:off x="1372" y="1610"/>
                <a:ext cx="274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2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Times New Roman" pitchFamily="18" charset="0"/>
                    <a:ea typeface="宋体" charset="-122"/>
                    <a:cs typeface="+mn-cs"/>
                    <a:sym typeface="Symbol" pitchFamily="18" charset="2"/>
                  </a:rPr>
                  <a:t>E</a:t>
                </a:r>
                <a:r>
                  <a:rPr kumimoji="1" lang="en-US" altLang="zh-CN" sz="2200" b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Times New Roman" pitchFamily="18" charset="0"/>
                    <a:ea typeface="宋体" charset="-122"/>
                    <a:cs typeface="+mn-cs"/>
                    <a:sym typeface="Symbol" pitchFamily="18" charset="2"/>
                  </a:rPr>
                  <a:t>t</a:t>
                </a:r>
              </a:p>
            </p:txBody>
          </p:sp>
        </p:grpSp>
        <p:sp>
          <p:nvSpPr>
            <p:cNvPr id="64" name="Text Box 318"/>
            <p:cNvSpPr txBox="1">
              <a:spLocks noChangeArrowheads="1"/>
            </p:cNvSpPr>
            <p:nvPr/>
          </p:nvSpPr>
          <p:spPr bwMode="auto">
            <a:xfrm>
              <a:off x="3175" y="653"/>
              <a:ext cx="24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土一般化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的应力应变曲线</a:t>
              </a:r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265859"/>
              </p:ext>
            </p:extLst>
          </p:nvPr>
        </p:nvGraphicFramePr>
        <p:xfrm>
          <a:off x="2579688" y="3032125"/>
          <a:ext cx="1244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4927" name="Equation" r:id="rId13" imgW="622080" imgH="419040" progId="Equation.DSMT4">
                  <p:embed/>
                </p:oleObj>
              </mc:Choice>
              <mc:Fallback>
                <p:oleObj name="Equation" r:id="rId13" imgW="622080" imgH="41904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88" y="3032125"/>
                        <a:ext cx="1244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77" name="AutoShape 322"/>
          <p:cNvSpPr>
            <a:spLocks noChangeArrowheads="1"/>
          </p:cNvSpPr>
          <p:nvPr/>
        </p:nvSpPr>
        <p:spPr bwMode="auto">
          <a:xfrm>
            <a:off x="681038" y="4567435"/>
            <a:ext cx="560387" cy="457200"/>
          </a:xfrm>
          <a:prstGeom prst="homePlate">
            <a:avLst>
              <a:gd name="adj" fmla="val 3064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446442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uild="p" animBg="1"/>
      <p:bldP spid="7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815" name="Rectangle 23"/>
          <p:cNvSpPr>
            <a:spLocks noChangeArrowheads="1"/>
          </p:cNvSpPr>
          <p:nvPr/>
        </p:nvSpPr>
        <p:spPr bwMode="auto">
          <a:xfrm>
            <a:off x="400050" y="692150"/>
            <a:ext cx="299878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450850" marR="0" lvl="0" indent="-450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试验过程</a:t>
            </a:r>
          </a:p>
        </p:txBody>
      </p:sp>
      <p:sp>
        <p:nvSpPr>
          <p:cNvPr id="1441816" name="Text Box 24"/>
          <p:cNvSpPr txBox="1">
            <a:spLocks noChangeArrowheads="1"/>
          </p:cNvSpPr>
          <p:nvPr/>
        </p:nvSpPr>
        <p:spPr bwMode="auto">
          <a:xfrm>
            <a:off x="660400" y="1266825"/>
            <a:ext cx="3652838" cy="250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266700" indent="-266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8743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2402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606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9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54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1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68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26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施加</a:t>
            </a:r>
            <a:r>
              <a:rPr kumimoji="0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围压</a:t>
            </a:r>
            <a:r>
              <a:rPr kumimoji="0" lang="zh-CN" altLang="en-US" sz="2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zh-CN" altLang="en-US" sz="2200" b="1" u="none" strike="noStrike" kern="1200" cap="none" spc="0" normalizeH="0" baseline="-2500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 </a:t>
            </a:r>
            <a:r>
              <a:rPr kumimoji="0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排水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阀门始终打开，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充分排水</a:t>
            </a:r>
          </a:p>
          <a:p>
            <a:pPr marL="266700" marR="0" lvl="0" indent="-266700" algn="l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施加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200" b="1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-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200" b="1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进行</a:t>
            </a:r>
            <a:r>
              <a:rPr kumimoji="0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剪切，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排水阀门关闭。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用孔压传感器量测剪切过程中产生的超静孔隙水压力</a:t>
            </a:r>
            <a:r>
              <a:rPr kumimoji="1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endParaRPr kumimoji="0" lang="zh-CN" altLang="en-US" sz="2200" b="1" i="1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441817" name="Text Box 25"/>
          <p:cNvSpPr txBox="1">
            <a:spLocks noChangeArrowheads="1"/>
          </p:cNvSpPr>
          <p:nvPr/>
        </p:nvSpPr>
        <p:spPr bwMode="auto">
          <a:xfrm>
            <a:off x="304800" y="3794125"/>
            <a:ext cx="3722688" cy="178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31813" indent="-2651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 测定：</a:t>
            </a:r>
          </a:p>
          <a:p>
            <a:pPr marL="531813" marR="0" lvl="1" indent="-265113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 轴向变形：轴向应变</a:t>
            </a:r>
          </a:p>
          <a:p>
            <a:pPr marL="531813" marR="0" lvl="1" indent="-265113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 轴向力：轴向应力</a:t>
            </a:r>
          </a:p>
          <a:p>
            <a:pPr marL="531813" marR="0" lvl="1" indent="-265113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 孔隙水压力</a:t>
            </a:r>
            <a:endParaRPr kumimoji="1" lang="en-US" altLang="zh-CN" sz="22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+mn-cs"/>
              <a:sym typeface="Symbol" pitchFamily="18" charset="2"/>
            </a:endParaRPr>
          </a:p>
        </p:txBody>
      </p:sp>
      <p:grpSp>
        <p:nvGrpSpPr>
          <p:cNvPr id="1441818" name="Group 26"/>
          <p:cNvGrpSpPr>
            <a:grpSpLocks/>
          </p:cNvGrpSpPr>
          <p:nvPr/>
        </p:nvGrpSpPr>
        <p:grpSpPr bwMode="auto">
          <a:xfrm>
            <a:off x="4560888" y="720725"/>
            <a:ext cx="4433887" cy="4932363"/>
            <a:chOff x="2873" y="454"/>
            <a:chExt cx="2793" cy="3107"/>
          </a:xfrm>
        </p:grpSpPr>
        <p:sp>
          <p:nvSpPr>
            <p:cNvPr id="1441819" name="Rectangle 27"/>
            <p:cNvSpPr>
              <a:spLocks noChangeArrowheads="1"/>
            </p:cNvSpPr>
            <p:nvPr/>
          </p:nvSpPr>
          <p:spPr bwMode="auto">
            <a:xfrm>
              <a:off x="2873" y="454"/>
              <a:ext cx="2793" cy="310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20" name="Rectangle 28"/>
            <p:cNvSpPr>
              <a:spLocks noChangeArrowheads="1"/>
            </p:cNvSpPr>
            <p:nvPr/>
          </p:nvSpPr>
          <p:spPr bwMode="auto">
            <a:xfrm>
              <a:off x="5465" y="1843"/>
              <a:ext cx="70" cy="89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21" name="Rectangle 29"/>
            <p:cNvSpPr>
              <a:spLocks noChangeArrowheads="1"/>
            </p:cNvSpPr>
            <p:nvPr/>
          </p:nvSpPr>
          <p:spPr bwMode="auto">
            <a:xfrm>
              <a:off x="3669" y="1462"/>
              <a:ext cx="979" cy="143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22" name="Rectangle 30" descr="大纸屑"/>
            <p:cNvSpPr>
              <a:spLocks noChangeArrowheads="1"/>
            </p:cNvSpPr>
            <p:nvPr/>
          </p:nvSpPr>
          <p:spPr bwMode="auto">
            <a:xfrm>
              <a:off x="3948" y="2599"/>
              <a:ext cx="425" cy="73"/>
            </a:xfrm>
            <a:prstGeom prst="rect">
              <a:avLst/>
            </a:prstGeom>
            <a:pattFill prst="lgConfetti">
              <a:fgClr>
                <a:schemeClr val="tx2"/>
              </a:fgClr>
              <a:bgClr>
                <a:srgbClr val="FFCC66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23" name="Rectangle 31" descr="浅色上对角线"/>
            <p:cNvSpPr>
              <a:spLocks noChangeArrowheads="1"/>
            </p:cNvSpPr>
            <p:nvPr/>
          </p:nvSpPr>
          <p:spPr bwMode="auto">
            <a:xfrm>
              <a:off x="3941" y="1654"/>
              <a:ext cx="436" cy="145"/>
            </a:xfrm>
            <a:prstGeom prst="rect">
              <a:avLst/>
            </a:prstGeom>
            <a:pattFill prst="ltUpDiag">
              <a:fgClr>
                <a:srgbClr val="5F5F5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pSp>
          <p:nvGrpSpPr>
            <p:cNvPr id="1441824" name="Group 32"/>
            <p:cNvGrpSpPr>
              <a:grpSpLocks/>
            </p:cNvGrpSpPr>
            <p:nvPr/>
          </p:nvGrpSpPr>
          <p:grpSpPr bwMode="auto">
            <a:xfrm>
              <a:off x="3933" y="1696"/>
              <a:ext cx="452" cy="1025"/>
              <a:chOff x="3374" y="2353"/>
              <a:chExt cx="452" cy="1025"/>
            </a:xfrm>
          </p:grpSpPr>
          <p:sp>
            <p:nvSpPr>
              <p:cNvPr id="1441825" name="Line 33"/>
              <p:cNvSpPr>
                <a:spLocks noChangeShapeType="1"/>
              </p:cNvSpPr>
              <p:nvPr/>
            </p:nvSpPr>
            <p:spPr bwMode="auto">
              <a:xfrm>
                <a:off x="3374" y="2359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1826" name="Line 34"/>
              <p:cNvSpPr>
                <a:spLocks noChangeShapeType="1"/>
              </p:cNvSpPr>
              <p:nvPr/>
            </p:nvSpPr>
            <p:spPr bwMode="auto">
              <a:xfrm>
                <a:off x="3826" y="2353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</p:grpSp>
        <p:grpSp>
          <p:nvGrpSpPr>
            <p:cNvPr id="1441827" name="Group 35"/>
            <p:cNvGrpSpPr>
              <a:grpSpLocks/>
            </p:cNvGrpSpPr>
            <p:nvPr/>
          </p:nvGrpSpPr>
          <p:grpSpPr bwMode="auto">
            <a:xfrm>
              <a:off x="3880" y="1714"/>
              <a:ext cx="549" cy="1001"/>
              <a:chOff x="3321" y="2371"/>
              <a:chExt cx="549" cy="1001"/>
            </a:xfrm>
          </p:grpSpPr>
          <p:sp>
            <p:nvSpPr>
              <p:cNvPr id="1441828" name="Oval 36"/>
              <p:cNvSpPr>
                <a:spLocks noChangeArrowheads="1"/>
              </p:cNvSpPr>
              <p:nvPr/>
            </p:nvSpPr>
            <p:spPr bwMode="auto">
              <a:xfrm>
                <a:off x="3330" y="2383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1829" name="Oval 37"/>
              <p:cNvSpPr>
                <a:spLocks noChangeArrowheads="1"/>
              </p:cNvSpPr>
              <p:nvPr/>
            </p:nvSpPr>
            <p:spPr bwMode="auto">
              <a:xfrm>
                <a:off x="3832" y="3329"/>
                <a:ext cx="36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1830" name="Oval 38"/>
              <p:cNvSpPr>
                <a:spLocks noChangeArrowheads="1"/>
              </p:cNvSpPr>
              <p:nvPr/>
            </p:nvSpPr>
            <p:spPr bwMode="auto">
              <a:xfrm>
                <a:off x="3321" y="3335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1831" name="Oval 39"/>
              <p:cNvSpPr>
                <a:spLocks noChangeArrowheads="1"/>
              </p:cNvSpPr>
              <p:nvPr/>
            </p:nvSpPr>
            <p:spPr bwMode="auto">
              <a:xfrm>
                <a:off x="3835" y="2371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endParaRPr>
              </a:p>
            </p:txBody>
          </p:sp>
        </p:grpSp>
        <p:grpSp>
          <p:nvGrpSpPr>
            <p:cNvPr id="1441832" name="Group 40"/>
            <p:cNvGrpSpPr>
              <a:grpSpLocks/>
            </p:cNvGrpSpPr>
            <p:nvPr/>
          </p:nvGrpSpPr>
          <p:grpSpPr bwMode="auto">
            <a:xfrm>
              <a:off x="3587" y="2672"/>
              <a:ext cx="1135" cy="400"/>
              <a:chOff x="3028" y="3329"/>
              <a:chExt cx="1135" cy="400"/>
            </a:xfrm>
          </p:grpSpPr>
          <p:sp>
            <p:nvSpPr>
              <p:cNvPr id="1441833" name="Rectangle 41"/>
              <p:cNvSpPr>
                <a:spLocks noChangeArrowheads="1"/>
              </p:cNvSpPr>
              <p:nvPr/>
            </p:nvSpPr>
            <p:spPr bwMode="auto">
              <a:xfrm>
                <a:off x="3389" y="3329"/>
                <a:ext cx="425" cy="218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1834" name="Rectangle 42"/>
              <p:cNvSpPr>
                <a:spLocks noChangeArrowheads="1"/>
              </p:cNvSpPr>
              <p:nvPr/>
            </p:nvSpPr>
            <p:spPr bwMode="auto">
              <a:xfrm>
                <a:off x="3028" y="3547"/>
                <a:ext cx="1135" cy="182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</p:grpSp>
        <p:sp>
          <p:nvSpPr>
            <p:cNvPr id="1441835" name="Line 43" descr="30%"/>
            <p:cNvSpPr>
              <a:spLocks noChangeShapeType="1"/>
            </p:cNvSpPr>
            <p:nvPr/>
          </p:nvSpPr>
          <p:spPr bwMode="auto">
            <a:xfrm>
              <a:off x="3662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36" name="Line 44" descr="30%"/>
            <p:cNvSpPr>
              <a:spLocks noChangeShapeType="1"/>
            </p:cNvSpPr>
            <p:nvPr/>
          </p:nvSpPr>
          <p:spPr bwMode="auto">
            <a:xfrm>
              <a:off x="4655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37" name="Rectangle 45"/>
            <p:cNvSpPr>
              <a:spLocks noChangeArrowheads="1"/>
            </p:cNvSpPr>
            <p:nvPr/>
          </p:nvSpPr>
          <p:spPr bwMode="auto">
            <a:xfrm>
              <a:off x="3455" y="1369"/>
              <a:ext cx="639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38" name="Rectangle 46"/>
            <p:cNvSpPr>
              <a:spLocks noChangeArrowheads="1"/>
            </p:cNvSpPr>
            <p:nvPr/>
          </p:nvSpPr>
          <p:spPr bwMode="auto">
            <a:xfrm>
              <a:off x="4224" y="1369"/>
              <a:ext cx="638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39" name="Rectangle 47" descr="浅色竖线"/>
            <p:cNvSpPr>
              <a:spLocks noChangeArrowheads="1"/>
            </p:cNvSpPr>
            <p:nvPr/>
          </p:nvSpPr>
          <p:spPr bwMode="auto">
            <a:xfrm>
              <a:off x="4097" y="1156"/>
              <a:ext cx="126" cy="501"/>
            </a:xfrm>
            <a:custGeom>
              <a:avLst/>
              <a:gdLst>
                <a:gd name="connsiteX0" fmla="*/ 0 w 200025"/>
                <a:gd name="connsiteY0" fmla="*/ 0 h 771525"/>
                <a:gd name="connsiteX1" fmla="*/ 200025 w 200025"/>
                <a:gd name="connsiteY1" fmla="*/ 0 h 771525"/>
                <a:gd name="connsiteX2" fmla="*/ 200025 w 200025"/>
                <a:gd name="connsiteY2" fmla="*/ 771525 h 771525"/>
                <a:gd name="connsiteX3" fmla="*/ 0 w 200025"/>
                <a:gd name="connsiteY3" fmla="*/ 771525 h 771525"/>
                <a:gd name="connsiteX4" fmla="*/ 0 w 200025"/>
                <a:gd name="connsiteY4" fmla="*/ 0 h 771525"/>
                <a:gd name="connsiteX0" fmla="*/ 0 w 200025"/>
                <a:gd name="connsiteY0" fmla="*/ 0 h 794925"/>
                <a:gd name="connsiteX1" fmla="*/ 200025 w 200025"/>
                <a:gd name="connsiteY1" fmla="*/ 0 h 794925"/>
                <a:gd name="connsiteX2" fmla="*/ 200025 w 200025"/>
                <a:gd name="connsiteY2" fmla="*/ 771525 h 794925"/>
                <a:gd name="connsiteX3" fmla="*/ 97663 w 200025"/>
                <a:gd name="connsiteY3" fmla="*/ 794925 h 794925"/>
                <a:gd name="connsiteX4" fmla="*/ 0 w 200025"/>
                <a:gd name="connsiteY4" fmla="*/ 771525 h 794925"/>
                <a:gd name="connsiteX5" fmla="*/ 0 w 200025"/>
                <a:gd name="connsiteY5" fmla="*/ 0 h 794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025" h="794925">
                  <a:moveTo>
                    <a:pt x="0" y="0"/>
                  </a:moveTo>
                  <a:lnTo>
                    <a:pt x="200025" y="0"/>
                  </a:lnTo>
                  <a:lnTo>
                    <a:pt x="200025" y="771525"/>
                  </a:lnTo>
                  <a:cubicBezTo>
                    <a:pt x="165023" y="771397"/>
                    <a:pt x="132665" y="795053"/>
                    <a:pt x="97663" y="794925"/>
                  </a:cubicBezTo>
                  <a:lnTo>
                    <a:pt x="0" y="771525"/>
                  </a:lnTo>
                  <a:lnTo>
                    <a:pt x="0" y="0"/>
                  </a:lnTo>
                  <a:close/>
                </a:path>
              </a:pathLst>
            </a:custGeom>
            <a:pattFill prst="ltVert">
              <a:fgClr>
                <a:srgbClr val="4D4D4D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pSp>
          <p:nvGrpSpPr>
            <p:cNvPr id="1441840" name="Group 48"/>
            <p:cNvGrpSpPr>
              <a:grpSpLocks/>
            </p:cNvGrpSpPr>
            <p:nvPr/>
          </p:nvGrpSpPr>
          <p:grpSpPr bwMode="auto">
            <a:xfrm>
              <a:off x="3942" y="1799"/>
              <a:ext cx="434" cy="800"/>
              <a:chOff x="3383" y="2456"/>
              <a:chExt cx="434" cy="800"/>
            </a:xfrm>
          </p:grpSpPr>
          <p:sp>
            <p:nvSpPr>
              <p:cNvPr id="1441841" name="Rectangle 49"/>
              <p:cNvSpPr>
                <a:spLocks noChangeArrowheads="1"/>
              </p:cNvSpPr>
              <p:nvPr/>
            </p:nvSpPr>
            <p:spPr bwMode="auto">
              <a:xfrm>
                <a:off x="3383" y="2456"/>
                <a:ext cx="434" cy="800"/>
              </a:xfrm>
              <a:prstGeom prst="rect">
                <a:avLst/>
              </a:prstGeom>
              <a:solidFill>
                <a:srgbClr val="996633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1842" name="Text Box 50"/>
              <p:cNvSpPr txBox="1">
                <a:spLocks noChangeArrowheads="1"/>
              </p:cNvSpPr>
              <p:nvPr/>
            </p:nvSpPr>
            <p:spPr bwMode="auto">
              <a:xfrm>
                <a:off x="3436" y="2602"/>
                <a:ext cx="308" cy="472"/>
              </a:xfrm>
              <a:prstGeom prst="rect">
                <a:avLst/>
              </a:prstGeom>
              <a:solidFill>
                <a:srgbClr val="9966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Times New Roman" pitchFamily="18" charset="0"/>
                    <a:ea typeface="幼圆" pitchFamily="49" charset="-122"/>
                    <a:cs typeface="+mn-cs"/>
                    <a:sym typeface="Symbol" pitchFamily="18" charset="2"/>
                  </a:rPr>
                  <a:t>试样</a:t>
                </a:r>
              </a:p>
            </p:txBody>
          </p:sp>
        </p:grpSp>
        <p:sp>
          <p:nvSpPr>
            <p:cNvPr id="1441843" name="Text Box 51"/>
            <p:cNvSpPr txBox="1">
              <a:spLocks noChangeArrowheads="1"/>
            </p:cNvSpPr>
            <p:nvPr/>
          </p:nvSpPr>
          <p:spPr bwMode="auto">
            <a:xfrm>
              <a:off x="2923" y="2264"/>
              <a:ext cx="67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围压</a:t>
              </a:r>
              <a:b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</a:b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力</a:t>
              </a:r>
              <a:r>
                <a:rPr kumimoji="0" lang="zh-CN" alt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0" lang="en-US" altLang="zh-CN" sz="2400" b="1" u="none" strike="noStrike" kern="1200" cap="none" spc="0" normalizeH="0" baseline="-2500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3</a:t>
              </a:r>
              <a:endParaRPr kumimoji="0" lang="zh-CN" altLang="zh-CN" sz="2400" b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441844" name="Text Box 52"/>
            <p:cNvSpPr txBox="1">
              <a:spLocks noChangeArrowheads="1"/>
            </p:cNvSpPr>
            <p:nvPr/>
          </p:nvSpPr>
          <p:spPr bwMode="auto">
            <a:xfrm>
              <a:off x="5014" y="3034"/>
              <a:ext cx="514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阀门</a:t>
              </a:r>
            </a:p>
          </p:txBody>
        </p:sp>
        <p:sp>
          <p:nvSpPr>
            <p:cNvPr id="1441845" name="Text Box 53"/>
            <p:cNvSpPr txBox="1">
              <a:spLocks noChangeArrowheads="1"/>
            </p:cNvSpPr>
            <p:nvPr/>
          </p:nvSpPr>
          <p:spPr bwMode="auto">
            <a:xfrm>
              <a:off x="3024" y="3043"/>
              <a:ext cx="514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阀门</a:t>
              </a:r>
            </a:p>
          </p:txBody>
        </p:sp>
        <p:sp>
          <p:nvSpPr>
            <p:cNvPr id="1441846" name="Freeform 54"/>
            <p:cNvSpPr>
              <a:spLocks/>
            </p:cNvSpPr>
            <p:nvPr/>
          </p:nvSpPr>
          <p:spPr bwMode="auto">
            <a:xfrm>
              <a:off x="2906" y="2882"/>
              <a:ext cx="888" cy="61"/>
            </a:xfrm>
            <a:custGeom>
              <a:avLst/>
              <a:gdLst>
                <a:gd name="T0" fmla="*/ 1253 w 1253"/>
                <a:gd name="T1" fmla="*/ 0 h 67"/>
                <a:gd name="T2" fmla="*/ 1253 w 1253"/>
                <a:gd name="T3" fmla="*/ 67 h 67"/>
                <a:gd name="T4" fmla="*/ 0 w 1253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53" h="67">
                  <a:moveTo>
                    <a:pt x="1253" y="0"/>
                  </a:moveTo>
                  <a:lnTo>
                    <a:pt x="1253" y="67"/>
                  </a:lnTo>
                  <a:lnTo>
                    <a:pt x="0" y="67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47" name="AutoShape 55"/>
            <p:cNvSpPr>
              <a:spLocks noChangeArrowheads="1"/>
            </p:cNvSpPr>
            <p:nvPr/>
          </p:nvSpPr>
          <p:spPr bwMode="auto">
            <a:xfrm>
              <a:off x="3212" y="2874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48" name="Freeform 56"/>
            <p:cNvSpPr>
              <a:spLocks/>
            </p:cNvSpPr>
            <p:nvPr/>
          </p:nvSpPr>
          <p:spPr bwMode="auto">
            <a:xfrm>
              <a:off x="4240" y="2671"/>
              <a:ext cx="1258" cy="273"/>
            </a:xfrm>
            <a:custGeom>
              <a:avLst/>
              <a:gdLst>
                <a:gd name="T0" fmla="*/ 0 w 1257"/>
                <a:gd name="T1" fmla="*/ 0 h 302"/>
                <a:gd name="T2" fmla="*/ 0 w 1257"/>
                <a:gd name="T3" fmla="*/ 298 h 302"/>
                <a:gd name="T4" fmla="*/ 1257 w 1257"/>
                <a:gd name="T5" fmla="*/ 302 h 302"/>
                <a:gd name="T6" fmla="*/ 1257 w 1257"/>
                <a:gd name="T7" fmla="*/ 65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7" h="302">
                  <a:moveTo>
                    <a:pt x="0" y="0"/>
                  </a:moveTo>
                  <a:lnTo>
                    <a:pt x="0" y="298"/>
                  </a:lnTo>
                  <a:lnTo>
                    <a:pt x="1257" y="302"/>
                  </a:lnTo>
                  <a:lnTo>
                    <a:pt x="1257" y="65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49" name="AutoShape 57"/>
            <p:cNvSpPr>
              <a:spLocks noChangeArrowheads="1"/>
            </p:cNvSpPr>
            <p:nvPr/>
          </p:nvSpPr>
          <p:spPr bwMode="auto">
            <a:xfrm>
              <a:off x="5159" y="2863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50" name="Oval 58"/>
            <p:cNvSpPr>
              <a:spLocks noChangeArrowheads="1"/>
            </p:cNvSpPr>
            <p:nvPr/>
          </p:nvSpPr>
          <p:spPr bwMode="auto">
            <a:xfrm>
              <a:off x="3935" y="746"/>
              <a:ext cx="442" cy="455"/>
            </a:xfrm>
            <a:prstGeom prst="ellipse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pSp>
          <p:nvGrpSpPr>
            <p:cNvPr id="1441851" name="Group 59"/>
            <p:cNvGrpSpPr>
              <a:grpSpLocks/>
            </p:cNvGrpSpPr>
            <p:nvPr/>
          </p:nvGrpSpPr>
          <p:grpSpPr bwMode="auto">
            <a:xfrm>
              <a:off x="4060" y="745"/>
              <a:ext cx="192" cy="340"/>
              <a:chOff x="371" y="1926"/>
              <a:chExt cx="192" cy="340"/>
            </a:xfrm>
          </p:grpSpPr>
          <p:sp>
            <p:nvSpPr>
              <p:cNvPr id="1441852" name="Line 60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1853" name="Oval 61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1854" name="Line 62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</p:grpSp>
        <p:sp>
          <p:nvSpPr>
            <p:cNvPr id="1441855" name="Line 63"/>
            <p:cNvSpPr>
              <a:spLocks noChangeShapeType="1"/>
            </p:cNvSpPr>
            <p:nvPr/>
          </p:nvSpPr>
          <p:spPr bwMode="auto">
            <a:xfrm>
              <a:off x="4122" y="1083"/>
              <a:ext cx="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56" name="Line 64"/>
            <p:cNvSpPr>
              <a:spLocks noChangeShapeType="1"/>
            </p:cNvSpPr>
            <p:nvPr/>
          </p:nvSpPr>
          <p:spPr bwMode="auto">
            <a:xfrm>
              <a:off x="4154" y="1083"/>
              <a:ext cx="0" cy="1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57" name="Rectangle 65"/>
            <p:cNvSpPr>
              <a:spLocks noChangeArrowheads="1"/>
            </p:cNvSpPr>
            <p:nvPr/>
          </p:nvSpPr>
          <p:spPr bwMode="auto">
            <a:xfrm>
              <a:off x="4094" y="675"/>
              <a:ext cx="135" cy="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58" name="Line 66"/>
            <p:cNvSpPr>
              <a:spLocks noChangeShapeType="1"/>
            </p:cNvSpPr>
            <p:nvPr/>
          </p:nvSpPr>
          <p:spPr bwMode="auto">
            <a:xfrm flipH="1">
              <a:off x="3803" y="1217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pSp>
          <p:nvGrpSpPr>
            <p:cNvPr id="1441859" name="Group 67"/>
            <p:cNvGrpSpPr>
              <a:grpSpLocks/>
            </p:cNvGrpSpPr>
            <p:nvPr/>
          </p:nvGrpSpPr>
          <p:grpSpPr bwMode="auto">
            <a:xfrm>
              <a:off x="3695" y="1037"/>
              <a:ext cx="192" cy="340"/>
              <a:chOff x="371" y="1926"/>
              <a:chExt cx="192" cy="340"/>
            </a:xfrm>
          </p:grpSpPr>
          <p:sp>
            <p:nvSpPr>
              <p:cNvPr id="1441860" name="Line 68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1861" name="Oval 69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1862" name="Line 70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</p:grpSp>
        <p:sp>
          <p:nvSpPr>
            <p:cNvPr id="1441863" name="Rectangle 71"/>
            <p:cNvSpPr>
              <a:spLocks noChangeArrowheads="1"/>
            </p:cNvSpPr>
            <p:nvPr/>
          </p:nvSpPr>
          <p:spPr bwMode="auto">
            <a:xfrm>
              <a:off x="4089" y="1195"/>
              <a:ext cx="135" cy="4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64" name="Rectangle 72"/>
            <p:cNvSpPr>
              <a:spLocks noChangeArrowheads="1"/>
            </p:cNvSpPr>
            <p:nvPr/>
          </p:nvSpPr>
          <p:spPr bwMode="auto">
            <a:xfrm>
              <a:off x="3765" y="3072"/>
              <a:ext cx="818" cy="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65" name="Rectangle 73"/>
            <p:cNvSpPr>
              <a:spLocks noChangeArrowheads="1"/>
            </p:cNvSpPr>
            <p:nvPr/>
          </p:nvSpPr>
          <p:spPr bwMode="auto">
            <a:xfrm>
              <a:off x="3876" y="3161"/>
              <a:ext cx="600" cy="25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66" name="Text Box 74"/>
            <p:cNvSpPr txBox="1">
              <a:spLocks noChangeArrowheads="1"/>
            </p:cNvSpPr>
            <p:nvPr/>
          </p:nvSpPr>
          <p:spPr bwMode="auto">
            <a:xfrm>
              <a:off x="3919" y="3125"/>
              <a:ext cx="5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马达</a:t>
              </a:r>
            </a:p>
          </p:txBody>
        </p:sp>
        <p:sp>
          <p:nvSpPr>
            <p:cNvPr id="1441867" name="Rectangle 75"/>
            <p:cNvSpPr>
              <a:spLocks noChangeArrowheads="1"/>
            </p:cNvSpPr>
            <p:nvPr/>
          </p:nvSpPr>
          <p:spPr bwMode="auto">
            <a:xfrm>
              <a:off x="3470" y="530"/>
              <a:ext cx="1300" cy="186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68" name="Text Box 76"/>
            <p:cNvSpPr txBox="1">
              <a:spLocks noChangeArrowheads="1"/>
            </p:cNvSpPr>
            <p:nvPr/>
          </p:nvSpPr>
          <p:spPr bwMode="auto">
            <a:xfrm>
              <a:off x="4888" y="485"/>
              <a:ext cx="57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横梁</a:t>
              </a:r>
            </a:p>
          </p:txBody>
        </p:sp>
        <p:sp>
          <p:nvSpPr>
            <p:cNvPr id="1441869" name="Line 77"/>
            <p:cNvSpPr>
              <a:spLocks noChangeShapeType="1"/>
            </p:cNvSpPr>
            <p:nvPr/>
          </p:nvSpPr>
          <p:spPr bwMode="auto">
            <a:xfrm>
              <a:off x="4635" y="620"/>
              <a:ext cx="256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70" name="Text Box 78"/>
            <p:cNvSpPr txBox="1">
              <a:spLocks noChangeArrowheads="1"/>
            </p:cNvSpPr>
            <p:nvPr/>
          </p:nvSpPr>
          <p:spPr bwMode="auto">
            <a:xfrm>
              <a:off x="4474" y="812"/>
              <a:ext cx="7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量力环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endParaRPr>
            </a:p>
          </p:txBody>
        </p:sp>
        <p:sp>
          <p:nvSpPr>
            <p:cNvPr id="1441871" name="Line 79"/>
            <p:cNvSpPr>
              <a:spLocks noChangeShapeType="1"/>
            </p:cNvSpPr>
            <p:nvPr/>
          </p:nvSpPr>
          <p:spPr bwMode="auto">
            <a:xfrm flipH="1">
              <a:off x="4327" y="1018"/>
              <a:ext cx="204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72" name="Text Box 80"/>
            <p:cNvSpPr txBox="1">
              <a:spLocks noChangeArrowheads="1"/>
            </p:cNvSpPr>
            <p:nvPr/>
          </p:nvSpPr>
          <p:spPr bwMode="auto">
            <a:xfrm>
              <a:off x="2934" y="776"/>
              <a:ext cx="7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百分表</a:t>
              </a:r>
            </a:p>
          </p:txBody>
        </p:sp>
        <p:sp>
          <p:nvSpPr>
            <p:cNvPr id="1441873" name="Line 81"/>
            <p:cNvSpPr>
              <a:spLocks noChangeShapeType="1"/>
            </p:cNvSpPr>
            <p:nvPr/>
          </p:nvSpPr>
          <p:spPr bwMode="auto">
            <a:xfrm flipH="1" flipV="1">
              <a:off x="3576" y="1076"/>
              <a:ext cx="138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74" name="Freeform 82"/>
            <p:cNvSpPr>
              <a:spLocks/>
            </p:cNvSpPr>
            <p:nvPr/>
          </p:nvSpPr>
          <p:spPr bwMode="auto">
            <a:xfrm>
              <a:off x="5462" y="1536"/>
              <a:ext cx="70" cy="1206"/>
            </a:xfrm>
            <a:custGeom>
              <a:avLst/>
              <a:gdLst>
                <a:gd name="T0" fmla="*/ 0 w 89"/>
                <a:gd name="T1" fmla="*/ 0 h 1206"/>
                <a:gd name="T2" fmla="*/ 0 w 89"/>
                <a:gd name="T3" fmla="*/ 1206 h 1206"/>
                <a:gd name="T4" fmla="*/ 89 w 89"/>
                <a:gd name="T5" fmla="*/ 1206 h 1206"/>
                <a:gd name="T6" fmla="*/ 89 w 89"/>
                <a:gd name="T7" fmla="*/ 0 h 1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" h="1206">
                  <a:moveTo>
                    <a:pt x="0" y="0"/>
                  </a:moveTo>
                  <a:lnTo>
                    <a:pt x="0" y="1206"/>
                  </a:lnTo>
                  <a:lnTo>
                    <a:pt x="89" y="1206"/>
                  </a:lnTo>
                  <a:lnTo>
                    <a:pt x="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75" name="Text Box 83"/>
            <p:cNvSpPr txBox="1">
              <a:spLocks noChangeArrowheads="1"/>
            </p:cNvSpPr>
            <p:nvPr/>
          </p:nvSpPr>
          <p:spPr bwMode="auto">
            <a:xfrm>
              <a:off x="5150" y="1225"/>
              <a:ext cx="327" cy="6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量水管</a:t>
              </a:r>
            </a:p>
          </p:txBody>
        </p:sp>
        <p:sp>
          <p:nvSpPr>
            <p:cNvPr id="1441876" name="Rectangle 84"/>
            <p:cNvSpPr>
              <a:spLocks noChangeArrowheads="1"/>
            </p:cNvSpPr>
            <p:nvPr/>
          </p:nvSpPr>
          <p:spPr bwMode="auto">
            <a:xfrm>
              <a:off x="4898" y="2874"/>
              <a:ext cx="144" cy="1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77" name="Oval 85"/>
            <p:cNvSpPr>
              <a:spLocks noChangeArrowheads="1"/>
            </p:cNvSpPr>
            <p:nvPr/>
          </p:nvSpPr>
          <p:spPr bwMode="auto">
            <a:xfrm>
              <a:off x="4936" y="2904"/>
              <a:ext cx="72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pic>
          <p:nvPicPr>
            <p:cNvPr id="1441878" name="Picture 86" descr="Graphic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9" y="2291"/>
              <a:ext cx="431" cy="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41879" name="Freeform 87"/>
            <p:cNvSpPr>
              <a:spLocks/>
            </p:cNvSpPr>
            <p:nvPr/>
          </p:nvSpPr>
          <p:spPr bwMode="auto">
            <a:xfrm>
              <a:off x="4958" y="2602"/>
              <a:ext cx="171" cy="272"/>
            </a:xfrm>
            <a:custGeom>
              <a:avLst/>
              <a:gdLst>
                <a:gd name="T0" fmla="*/ 0 w 171"/>
                <a:gd name="T1" fmla="*/ 272 h 272"/>
                <a:gd name="T2" fmla="*/ 6 w 171"/>
                <a:gd name="T3" fmla="*/ 243 h 272"/>
                <a:gd name="T4" fmla="*/ 89 w 171"/>
                <a:gd name="T5" fmla="*/ 166 h 272"/>
                <a:gd name="T6" fmla="*/ 112 w 171"/>
                <a:gd name="T7" fmla="*/ 198 h 272"/>
                <a:gd name="T8" fmla="*/ 102 w 171"/>
                <a:gd name="T9" fmla="*/ 217 h 272"/>
                <a:gd name="T10" fmla="*/ 83 w 171"/>
                <a:gd name="T11" fmla="*/ 230 h 272"/>
                <a:gd name="T12" fmla="*/ 54 w 171"/>
                <a:gd name="T13" fmla="*/ 217 h 272"/>
                <a:gd name="T14" fmla="*/ 41 w 171"/>
                <a:gd name="T15" fmla="*/ 188 h 272"/>
                <a:gd name="T16" fmla="*/ 76 w 171"/>
                <a:gd name="T17" fmla="*/ 115 h 272"/>
                <a:gd name="T18" fmla="*/ 166 w 171"/>
                <a:gd name="T19" fmla="*/ 86 h 272"/>
                <a:gd name="T20" fmla="*/ 150 w 171"/>
                <a:gd name="T21" fmla="*/ 115 h 272"/>
                <a:gd name="T22" fmla="*/ 92 w 171"/>
                <a:gd name="T23" fmla="*/ 124 h 272"/>
                <a:gd name="T24" fmla="*/ 89 w 171"/>
                <a:gd name="T25" fmla="*/ 115 h 272"/>
                <a:gd name="T26" fmla="*/ 80 w 171"/>
                <a:gd name="T27" fmla="*/ 108 h 272"/>
                <a:gd name="T28" fmla="*/ 73 w 171"/>
                <a:gd name="T29" fmla="*/ 83 h 272"/>
                <a:gd name="T30" fmla="*/ 89 w 171"/>
                <a:gd name="T31" fmla="*/ 35 h 272"/>
                <a:gd name="T32" fmla="*/ 131 w 171"/>
                <a:gd name="T33" fmla="*/ 9 h 272"/>
                <a:gd name="T34" fmla="*/ 156 w 171"/>
                <a:gd name="T35" fmla="*/ 3 h 272"/>
                <a:gd name="T36" fmla="*/ 169 w 171"/>
                <a:gd name="T37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272">
                  <a:moveTo>
                    <a:pt x="0" y="272"/>
                  </a:moveTo>
                  <a:cubicBezTo>
                    <a:pt x="3" y="263"/>
                    <a:pt x="3" y="252"/>
                    <a:pt x="6" y="243"/>
                  </a:cubicBezTo>
                  <a:cubicBezTo>
                    <a:pt x="18" y="209"/>
                    <a:pt x="56" y="177"/>
                    <a:pt x="89" y="166"/>
                  </a:cubicBezTo>
                  <a:cubicBezTo>
                    <a:pt x="113" y="170"/>
                    <a:pt x="118" y="172"/>
                    <a:pt x="112" y="198"/>
                  </a:cubicBezTo>
                  <a:cubicBezTo>
                    <a:pt x="111" y="203"/>
                    <a:pt x="106" y="214"/>
                    <a:pt x="102" y="217"/>
                  </a:cubicBezTo>
                  <a:cubicBezTo>
                    <a:pt x="96" y="222"/>
                    <a:pt x="83" y="230"/>
                    <a:pt x="83" y="230"/>
                  </a:cubicBezTo>
                  <a:cubicBezTo>
                    <a:pt x="69" y="227"/>
                    <a:pt x="67" y="221"/>
                    <a:pt x="54" y="217"/>
                  </a:cubicBezTo>
                  <a:cubicBezTo>
                    <a:pt x="50" y="206"/>
                    <a:pt x="44" y="199"/>
                    <a:pt x="41" y="188"/>
                  </a:cubicBezTo>
                  <a:cubicBezTo>
                    <a:pt x="46" y="146"/>
                    <a:pt x="30" y="130"/>
                    <a:pt x="76" y="115"/>
                  </a:cubicBezTo>
                  <a:cubicBezTo>
                    <a:pt x="97" y="94"/>
                    <a:pt x="139" y="89"/>
                    <a:pt x="166" y="86"/>
                  </a:cubicBezTo>
                  <a:cubicBezTo>
                    <a:pt x="171" y="102"/>
                    <a:pt x="166" y="110"/>
                    <a:pt x="150" y="115"/>
                  </a:cubicBezTo>
                  <a:cubicBezTo>
                    <a:pt x="129" y="134"/>
                    <a:pt x="127" y="128"/>
                    <a:pt x="92" y="124"/>
                  </a:cubicBezTo>
                  <a:cubicBezTo>
                    <a:pt x="91" y="121"/>
                    <a:pt x="91" y="118"/>
                    <a:pt x="89" y="115"/>
                  </a:cubicBezTo>
                  <a:cubicBezTo>
                    <a:pt x="87" y="112"/>
                    <a:pt x="82" y="111"/>
                    <a:pt x="80" y="108"/>
                  </a:cubicBezTo>
                  <a:cubicBezTo>
                    <a:pt x="76" y="100"/>
                    <a:pt x="76" y="91"/>
                    <a:pt x="73" y="83"/>
                  </a:cubicBezTo>
                  <a:cubicBezTo>
                    <a:pt x="76" y="66"/>
                    <a:pt x="79" y="50"/>
                    <a:pt x="89" y="35"/>
                  </a:cubicBezTo>
                  <a:cubicBezTo>
                    <a:pt x="97" y="9"/>
                    <a:pt x="103" y="14"/>
                    <a:pt x="131" y="9"/>
                  </a:cubicBezTo>
                  <a:cubicBezTo>
                    <a:pt x="139" y="8"/>
                    <a:pt x="148" y="5"/>
                    <a:pt x="156" y="3"/>
                  </a:cubicBezTo>
                  <a:cubicBezTo>
                    <a:pt x="160" y="2"/>
                    <a:pt x="169" y="0"/>
                    <a:pt x="169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1880" name="Text Box 88"/>
            <p:cNvSpPr txBox="1">
              <a:spLocks noChangeArrowheads="1"/>
            </p:cNvSpPr>
            <p:nvPr/>
          </p:nvSpPr>
          <p:spPr bwMode="auto">
            <a:xfrm>
              <a:off x="4717" y="1787"/>
              <a:ext cx="509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孔压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量测</a:t>
              </a:r>
              <a:endPara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endParaRPr>
            </a:p>
          </p:txBody>
        </p:sp>
        <p:sp>
          <p:nvSpPr>
            <p:cNvPr id="1441881" name="Line 89"/>
            <p:cNvSpPr>
              <a:spLocks noChangeShapeType="1"/>
            </p:cNvSpPr>
            <p:nvPr/>
          </p:nvSpPr>
          <p:spPr bwMode="auto">
            <a:xfrm flipH="1" flipV="1">
              <a:off x="4877" y="2291"/>
              <a:ext cx="70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</p:grpSp>
      <p:sp>
        <p:nvSpPr>
          <p:cNvPr id="1441882" name="Rectangle 90"/>
          <p:cNvSpPr>
            <a:spLocks noChangeArrowheads="1"/>
          </p:cNvSpPr>
          <p:nvPr/>
        </p:nvSpPr>
        <p:spPr bwMode="auto">
          <a:xfrm>
            <a:off x="3108325" y="5880100"/>
            <a:ext cx="42878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固结不排水试验  </a:t>
            </a:r>
          </a:p>
        </p:txBody>
      </p:sp>
      <p:sp>
        <p:nvSpPr>
          <p:cNvPr id="7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73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6458213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41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41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441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41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441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8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4418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4418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441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441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1815" grpId="0"/>
      <p:bldP spid="1441816" grpId="0" build="p"/>
      <p:bldP spid="14418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828" name="Rectangle 12"/>
          <p:cNvSpPr>
            <a:spLocks noChangeArrowheads="1"/>
          </p:cNvSpPr>
          <p:nvPr/>
        </p:nvSpPr>
        <p:spPr bwMode="auto">
          <a:xfrm>
            <a:off x="400050" y="692150"/>
            <a:ext cx="299878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450850" marR="0" lvl="0" indent="-4508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</a:rPr>
              <a:t>典型试验结果：</a:t>
            </a:r>
          </a:p>
        </p:txBody>
      </p:sp>
      <p:grpSp>
        <p:nvGrpSpPr>
          <p:cNvPr id="1442829" name="Group 13"/>
          <p:cNvGrpSpPr>
            <a:grpSpLocks/>
          </p:cNvGrpSpPr>
          <p:nvPr/>
        </p:nvGrpSpPr>
        <p:grpSpPr bwMode="auto">
          <a:xfrm>
            <a:off x="4398963" y="722313"/>
            <a:ext cx="4613275" cy="5043487"/>
            <a:chOff x="2771" y="455"/>
            <a:chExt cx="2906" cy="3177"/>
          </a:xfrm>
        </p:grpSpPr>
        <p:sp>
          <p:nvSpPr>
            <p:cNvPr id="1442830" name="Rectangle 14"/>
            <p:cNvSpPr>
              <a:spLocks noChangeArrowheads="1"/>
            </p:cNvSpPr>
            <p:nvPr/>
          </p:nvSpPr>
          <p:spPr bwMode="auto">
            <a:xfrm>
              <a:off x="2771" y="455"/>
              <a:ext cx="2906" cy="317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31" name="Line 15"/>
            <p:cNvSpPr>
              <a:spLocks noChangeShapeType="1"/>
            </p:cNvSpPr>
            <p:nvPr/>
          </p:nvSpPr>
          <p:spPr bwMode="auto">
            <a:xfrm>
              <a:off x="3177" y="634"/>
              <a:ext cx="1" cy="28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32" name="Line 16"/>
            <p:cNvSpPr>
              <a:spLocks noChangeShapeType="1"/>
            </p:cNvSpPr>
            <p:nvPr/>
          </p:nvSpPr>
          <p:spPr bwMode="auto">
            <a:xfrm>
              <a:off x="3177" y="1989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33" name="Line 17"/>
            <p:cNvSpPr>
              <a:spLocks noChangeShapeType="1"/>
            </p:cNvSpPr>
            <p:nvPr/>
          </p:nvSpPr>
          <p:spPr bwMode="auto">
            <a:xfrm>
              <a:off x="3177" y="1579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34" name="Line 18"/>
            <p:cNvSpPr>
              <a:spLocks noChangeShapeType="1"/>
            </p:cNvSpPr>
            <p:nvPr/>
          </p:nvSpPr>
          <p:spPr bwMode="auto">
            <a:xfrm>
              <a:off x="3177" y="1173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35" name="Line 19"/>
            <p:cNvSpPr>
              <a:spLocks noChangeShapeType="1"/>
            </p:cNvSpPr>
            <p:nvPr/>
          </p:nvSpPr>
          <p:spPr bwMode="auto">
            <a:xfrm>
              <a:off x="3177" y="761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36" name="Line 20"/>
            <p:cNvSpPr>
              <a:spLocks noChangeShapeType="1"/>
            </p:cNvSpPr>
            <p:nvPr/>
          </p:nvSpPr>
          <p:spPr bwMode="auto">
            <a:xfrm>
              <a:off x="3177" y="2388"/>
              <a:ext cx="2466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37" name="Line 21"/>
            <p:cNvSpPr>
              <a:spLocks noChangeShapeType="1"/>
            </p:cNvSpPr>
            <p:nvPr/>
          </p:nvSpPr>
          <p:spPr bwMode="auto">
            <a:xfrm flipV="1">
              <a:off x="3909" y="2356"/>
              <a:ext cx="1" cy="3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38" name="Line 22"/>
            <p:cNvSpPr>
              <a:spLocks noChangeShapeType="1"/>
            </p:cNvSpPr>
            <p:nvPr/>
          </p:nvSpPr>
          <p:spPr bwMode="auto">
            <a:xfrm flipV="1">
              <a:off x="4639" y="2356"/>
              <a:ext cx="2" cy="3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39" name="Line 23"/>
            <p:cNvSpPr>
              <a:spLocks noChangeShapeType="1"/>
            </p:cNvSpPr>
            <p:nvPr/>
          </p:nvSpPr>
          <p:spPr bwMode="auto">
            <a:xfrm flipV="1">
              <a:off x="5371" y="2356"/>
              <a:ext cx="1" cy="3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40" name="Rectangle 24"/>
            <p:cNvSpPr>
              <a:spLocks noChangeArrowheads="1"/>
            </p:cNvSpPr>
            <p:nvPr/>
          </p:nvSpPr>
          <p:spPr bwMode="auto">
            <a:xfrm>
              <a:off x="2935" y="526"/>
              <a:ext cx="160" cy="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r" defTabSz="576263" rtl="0" eaLnBrk="1" fontAlgn="base" latinLnBrk="0" hangingPunct="1">
                <a:lnSpc>
                  <a:spcPct val="2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20</a:t>
              </a:r>
            </a:p>
            <a:p>
              <a:pPr marL="0" marR="0" lvl="0" indent="0" algn="r" defTabSz="576263" rtl="0" eaLnBrk="1" fontAlgn="base" latinLnBrk="0" hangingPunct="1">
                <a:lnSpc>
                  <a:spcPct val="2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15</a:t>
              </a:r>
            </a:p>
            <a:p>
              <a:pPr marL="0" marR="0" lvl="0" indent="0" algn="r" defTabSz="576263" rtl="0" eaLnBrk="1" fontAlgn="base" latinLnBrk="0" hangingPunct="1">
                <a:lnSpc>
                  <a:spcPct val="2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10</a:t>
              </a:r>
            </a:p>
            <a:p>
              <a:pPr marL="0" marR="0" lvl="0" indent="0" algn="r" defTabSz="576263" rtl="0" eaLnBrk="1" fontAlgn="base" latinLnBrk="0" hangingPunct="1">
                <a:lnSpc>
                  <a:spcPct val="2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5</a:t>
              </a:r>
            </a:p>
            <a:p>
              <a:pPr marL="0" marR="0" lvl="0" indent="0" algn="r" defTabSz="576263" rtl="0" eaLnBrk="1" fontAlgn="base" latinLnBrk="0" hangingPunct="1">
                <a:lnSpc>
                  <a:spcPct val="20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42841" name="Rectangle 25"/>
            <p:cNvSpPr>
              <a:spLocks noChangeArrowheads="1"/>
            </p:cNvSpPr>
            <p:nvPr/>
          </p:nvSpPr>
          <p:spPr bwMode="auto">
            <a:xfrm>
              <a:off x="3194" y="506"/>
              <a:ext cx="110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Symbol" pitchFamily="18" charset="2"/>
                  <a:ea typeface="宋体" charset="-122"/>
                  <a:cs typeface="+mn-cs"/>
                  <a:sym typeface="Symbol" pitchFamily="18" charset="2"/>
                </a:rPr>
                <a:t></a:t>
              </a:r>
              <a:r>
                <a:rPr kumimoji="0" lang="en-US" altLang="zh-CN" sz="2000" b="1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Symbol" pitchFamily="18" charset="2"/>
                  <a:ea typeface="宋体" charset="-122"/>
                  <a:cs typeface="+mn-cs"/>
                  <a:sym typeface="Symbol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Symbol" pitchFamily="18" charset="2"/>
                  <a:ea typeface="宋体" charset="-122"/>
                  <a:cs typeface="+mn-cs"/>
                  <a:sym typeface="Symbol" pitchFamily="18" charset="2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Symbol" pitchFamily="18" charset="2"/>
                  <a:ea typeface="宋体" charset="-122"/>
                  <a:cs typeface="+mn-cs"/>
                  <a:sym typeface="Symbol" pitchFamily="18" charset="2"/>
                </a:rPr>
                <a:t>-</a:t>
              </a:r>
              <a:r>
                <a:rPr kumimoji="0" lang="en-US" altLang="zh-CN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Symbol" pitchFamily="18" charset="2"/>
                  <a:ea typeface="宋体" charset="-122"/>
                  <a:cs typeface="+mn-cs"/>
                  <a:sym typeface="Symbol" pitchFamily="18" charset="2"/>
                </a:rPr>
                <a:t></a:t>
              </a:r>
              <a:r>
                <a:rPr kumimoji="0" lang="en-US" altLang="zh-CN" sz="2000" b="1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Symbol" pitchFamily="18" charset="2"/>
                  <a:ea typeface="宋体" charset="-122"/>
                  <a:cs typeface="+mn-cs"/>
                  <a:sym typeface="Symbol" pitchFamily="18" charset="2"/>
                </a:rPr>
                <a:t>3 </a:t>
              </a:r>
              <a:r>
                <a:rPr kumimoji="0" lang="en-US" altLang="zh-CN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(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A50021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100kPa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)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42842" name="Rectangle 26"/>
            <p:cNvSpPr>
              <a:spLocks noChangeArrowheads="1"/>
            </p:cNvSpPr>
            <p:nvPr/>
          </p:nvSpPr>
          <p:spPr bwMode="auto">
            <a:xfrm>
              <a:off x="4503" y="638"/>
              <a:ext cx="88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  <a:sym typeface="Symbol" pitchFamily="18" charset="2"/>
                </a:rPr>
                <a:t></a:t>
              </a:r>
              <a:r>
                <a:rPr kumimoji="0" lang="en-US" altLang="zh-CN" sz="2000" b="1" u="none" strike="noStrike" kern="1200" cap="none" spc="0" normalizeH="0" baseline="-2500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  <a:sym typeface="Symbol" pitchFamily="18" charset="2"/>
                </a:rPr>
                <a:t>3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rPr>
                <a:t> =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2500kPa</a:t>
              </a:r>
            </a:p>
          </p:txBody>
        </p:sp>
        <p:sp>
          <p:nvSpPr>
            <p:cNvPr id="1442843" name="Rectangle 27"/>
            <p:cNvSpPr>
              <a:spLocks noChangeArrowheads="1"/>
            </p:cNvSpPr>
            <p:nvPr/>
          </p:nvSpPr>
          <p:spPr bwMode="auto">
            <a:xfrm>
              <a:off x="4928" y="1087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1500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42844" name="Rectangle 28"/>
            <p:cNvSpPr>
              <a:spLocks noChangeArrowheads="1"/>
            </p:cNvSpPr>
            <p:nvPr/>
          </p:nvSpPr>
          <p:spPr bwMode="auto">
            <a:xfrm>
              <a:off x="5051" y="1341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900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42845" name="Rectangle 29"/>
            <p:cNvSpPr>
              <a:spLocks noChangeArrowheads="1"/>
            </p:cNvSpPr>
            <p:nvPr/>
          </p:nvSpPr>
          <p:spPr bwMode="auto">
            <a:xfrm>
              <a:off x="5041" y="1535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500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42846" name="Rectangle 30"/>
            <p:cNvSpPr>
              <a:spLocks noChangeArrowheads="1"/>
            </p:cNvSpPr>
            <p:nvPr/>
          </p:nvSpPr>
          <p:spPr bwMode="auto">
            <a:xfrm>
              <a:off x="5063" y="1794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300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42847" name="Rectangle 31"/>
            <p:cNvSpPr>
              <a:spLocks noChangeArrowheads="1"/>
            </p:cNvSpPr>
            <p:nvPr/>
          </p:nvSpPr>
          <p:spPr bwMode="auto">
            <a:xfrm>
              <a:off x="4761" y="2049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100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42848" name="Line 32"/>
            <p:cNvSpPr>
              <a:spLocks noChangeShapeType="1"/>
            </p:cNvSpPr>
            <p:nvPr/>
          </p:nvSpPr>
          <p:spPr bwMode="auto">
            <a:xfrm flipV="1">
              <a:off x="3183" y="2658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49" name="Line 33"/>
            <p:cNvSpPr>
              <a:spLocks noChangeShapeType="1"/>
            </p:cNvSpPr>
            <p:nvPr/>
          </p:nvSpPr>
          <p:spPr bwMode="auto">
            <a:xfrm flipV="1">
              <a:off x="3183" y="2919"/>
              <a:ext cx="2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50" name="Line 34"/>
            <p:cNvSpPr>
              <a:spLocks noChangeShapeType="1"/>
            </p:cNvSpPr>
            <p:nvPr/>
          </p:nvSpPr>
          <p:spPr bwMode="auto">
            <a:xfrm flipV="1">
              <a:off x="3183" y="3184"/>
              <a:ext cx="29" cy="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51" name="Text Box 35"/>
            <p:cNvSpPr txBox="1">
              <a:spLocks noChangeArrowheads="1"/>
            </p:cNvSpPr>
            <p:nvPr/>
          </p:nvSpPr>
          <p:spPr bwMode="auto">
            <a:xfrm>
              <a:off x="3802" y="2343"/>
              <a:ext cx="1128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2372" tIns="51185" rIns="102372" bIns="51185">
              <a:spAutoFit/>
            </a:bodyPr>
            <a:lstStyle>
              <a:lvl1pPr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511175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022350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535113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46288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034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606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178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750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5                10   </a:t>
              </a:r>
            </a:p>
          </p:txBody>
        </p:sp>
        <p:sp>
          <p:nvSpPr>
            <p:cNvPr id="1442852" name="Text Box 36"/>
            <p:cNvSpPr txBox="1">
              <a:spLocks noChangeArrowheads="1"/>
            </p:cNvSpPr>
            <p:nvPr/>
          </p:nvSpPr>
          <p:spPr bwMode="auto">
            <a:xfrm>
              <a:off x="2869" y="2455"/>
              <a:ext cx="288" cy="8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2372" tIns="51185" rIns="102372" bIns="51185">
              <a:spAutoFit/>
            </a:bodyPr>
            <a:lstStyle>
              <a:lvl1pPr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511175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022350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535113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46288" defTabSz="57626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034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606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178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75088" defTabSz="57626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algn="r" defTabSz="576263" rtl="0" eaLnBrk="1" fontAlgn="base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4</a:t>
              </a:r>
            </a:p>
            <a:p>
              <a:pPr marL="0" marR="0" lvl="0" indent="0" algn="r" defTabSz="576263" rtl="0" eaLnBrk="1" fontAlgn="base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8</a:t>
              </a:r>
            </a:p>
            <a:p>
              <a:pPr marL="0" marR="0" lvl="0" indent="0" algn="r" defTabSz="576263" rtl="0" eaLnBrk="1" fontAlgn="base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12</a:t>
              </a:r>
            </a:p>
          </p:txBody>
        </p:sp>
        <p:sp>
          <p:nvSpPr>
            <p:cNvPr id="1442853" name="Rectangle 37"/>
            <p:cNvSpPr>
              <a:spLocks noChangeArrowheads="1"/>
            </p:cNvSpPr>
            <p:nvPr/>
          </p:nvSpPr>
          <p:spPr bwMode="auto">
            <a:xfrm>
              <a:off x="3222" y="3392"/>
              <a:ext cx="54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 </a:t>
              </a:r>
              <a:r>
                <a:rPr kumimoji="0" lang="en-US" altLang="zh-CN" sz="2000" b="1" i="1" u="none" strike="noStrike" kern="1200" cap="none" spc="0" normalizeH="0" baseline="0" noProof="0" dirty="0" smtClean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  <a:sym typeface="Symbol" pitchFamily="18" charset="2"/>
                </a:rPr>
                <a:t>u </a:t>
              </a:r>
              <a:r>
                <a:rPr kumimoji="0" lang="en-US" altLang="zh-CN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(</a:t>
              </a: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kPa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)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42854" name="Rectangle 38"/>
            <p:cNvSpPr>
              <a:spLocks noChangeArrowheads="1"/>
            </p:cNvSpPr>
            <p:nvPr/>
          </p:nvSpPr>
          <p:spPr bwMode="auto">
            <a:xfrm>
              <a:off x="5174" y="2108"/>
              <a:ext cx="46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 </a:t>
              </a:r>
              <a:r>
                <a:rPr kumimoji="0" lang="zh-CN" alt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Symbol" pitchFamily="18" charset="2"/>
                  <a:ea typeface="宋体" charset="-122"/>
                  <a:cs typeface="+mn-cs"/>
                  <a:sym typeface="Symbol" pitchFamily="18" charset="2"/>
                </a:rPr>
                <a:t></a:t>
              </a:r>
              <a:r>
                <a:rPr kumimoji="0" lang="en-US" altLang="zh-CN" sz="2000" b="1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  <a:sym typeface="Symbol" pitchFamily="18" charset="2"/>
                </a:rPr>
                <a:t>1</a:t>
              </a:r>
              <a:r>
                <a:rPr kumimoji="0" lang="en-US" altLang="zh-CN" sz="2000" b="1" i="1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  <a:sym typeface="Symbol" pitchFamily="18" charset="2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(%)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42855" name="Rectangle 39"/>
            <p:cNvSpPr>
              <a:spLocks noChangeArrowheads="1"/>
            </p:cNvSpPr>
            <p:nvPr/>
          </p:nvSpPr>
          <p:spPr bwMode="auto">
            <a:xfrm>
              <a:off x="5108" y="2338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300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42856" name="Rectangle 40"/>
            <p:cNvSpPr>
              <a:spLocks noChangeArrowheads="1"/>
            </p:cNvSpPr>
            <p:nvPr/>
          </p:nvSpPr>
          <p:spPr bwMode="auto">
            <a:xfrm>
              <a:off x="5114" y="2506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500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42857" name="Rectangle 41"/>
            <p:cNvSpPr>
              <a:spLocks noChangeArrowheads="1"/>
            </p:cNvSpPr>
            <p:nvPr/>
          </p:nvSpPr>
          <p:spPr bwMode="auto">
            <a:xfrm>
              <a:off x="5100" y="2714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900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42858" name="Rectangle 42"/>
            <p:cNvSpPr>
              <a:spLocks noChangeArrowheads="1"/>
            </p:cNvSpPr>
            <p:nvPr/>
          </p:nvSpPr>
          <p:spPr bwMode="auto">
            <a:xfrm>
              <a:off x="5072" y="3036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1500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 charset="0"/>
                <a:ea typeface="宋体" charset="-122"/>
                <a:cs typeface="+mn-cs"/>
              </a:endParaRPr>
            </a:p>
          </p:txBody>
        </p:sp>
        <p:sp>
          <p:nvSpPr>
            <p:cNvPr id="1442859" name="Rectangle 43"/>
            <p:cNvSpPr>
              <a:spLocks noChangeArrowheads="1"/>
            </p:cNvSpPr>
            <p:nvPr/>
          </p:nvSpPr>
          <p:spPr bwMode="auto">
            <a:xfrm>
              <a:off x="5056" y="3306"/>
              <a:ext cx="32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576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rPr>
                <a:t>2500</a:t>
              </a:r>
            </a:p>
          </p:txBody>
        </p:sp>
        <p:sp>
          <p:nvSpPr>
            <p:cNvPr id="1442860" name="Freeform 44"/>
            <p:cNvSpPr>
              <a:spLocks/>
            </p:cNvSpPr>
            <p:nvPr/>
          </p:nvSpPr>
          <p:spPr bwMode="auto">
            <a:xfrm>
              <a:off x="3187" y="2011"/>
              <a:ext cx="1686" cy="379"/>
            </a:xfrm>
            <a:custGeom>
              <a:avLst/>
              <a:gdLst>
                <a:gd name="T0" fmla="*/ 0 w 1686"/>
                <a:gd name="T1" fmla="*/ 379 h 379"/>
                <a:gd name="T2" fmla="*/ 38 w 1686"/>
                <a:gd name="T3" fmla="*/ 270 h 379"/>
                <a:gd name="T4" fmla="*/ 105 w 1686"/>
                <a:gd name="T5" fmla="*/ 187 h 379"/>
                <a:gd name="T6" fmla="*/ 227 w 1686"/>
                <a:gd name="T7" fmla="*/ 84 h 379"/>
                <a:gd name="T8" fmla="*/ 413 w 1686"/>
                <a:gd name="T9" fmla="*/ 43 h 379"/>
                <a:gd name="T10" fmla="*/ 589 w 1686"/>
                <a:gd name="T11" fmla="*/ 27 h 379"/>
                <a:gd name="T12" fmla="*/ 742 w 1686"/>
                <a:gd name="T13" fmla="*/ 17 h 379"/>
                <a:gd name="T14" fmla="*/ 883 w 1686"/>
                <a:gd name="T15" fmla="*/ 4 h 379"/>
                <a:gd name="T16" fmla="*/ 1081 w 1686"/>
                <a:gd name="T17" fmla="*/ 1 h 379"/>
                <a:gd name="T18" fmla="*/ 1363 w 1686"/>
                <a:gd name="T19" fmla="*/ 11 h 379"/>
                <a:gd name="T20" fmla="*/ 1494 w 1686"/>
                <a:gd name="T21" fmla="*/ 20 h 379"/>
                <a:gd name="T22" fmla="*/ 1686 w 1686"/>
                <a:gd name="T23" fmla="*/ 24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86" h="379">
                  <a:moveTo>
                    <a:pt x="0" y="379"/>
                  </a:moveTo>
                  <a:cubicBezTo>
                    <a:pt x="10" y="340"/>
                    <a:pt x="20" y="302"/>
                    <a:pt x="38" y="270"/>
                  </a:cubicBezTo>
                  <a:cubicBezTo>
                    <a:pt x="56" y="238"/>
                    <a:pt x="73" y="218"/>
                    <a:pt x="105" y="187"/>
                  </a:cubicBezTo>
                  <a:cubicBezTo>
                    <a:pt x="137" y="156"/>
                    <a:pt x="176" y="108"/>
                    <a:pt x="227" y="84"/>
                  </a:cubicBezTo>
                  <a:cubicBezTo>
                    <a:pt x="278" y="60"/>
                    <a:pt x="353" y="52"/>
                    <a:pt x="413" y="43"/>
                  </a:cubicBezTo>
                  <a:cubicBezTo>
                    <a:pt x="473" y="34"/>
                    <a:pt x="534" y="31"/>
                    <a:pt x="589" y="27"/>
                  </a:cubicBezTo>
                  <a:cubicBezTo>
                    <a:pt x="644" y="23"/>
                    <a:pt x="693" y="21"/>
                    <a:pt x="742" y="17"/>
                  </a:cubicBezTo>
                  <a:cubicBezTo>
                    <a:pt x="791" y="13"/>
                    <a:pt x="827" y="7"/>
                    <a:pt x="883" y="4"/>
                  </a:cubicBezTo>
                  <a:cubicBezTo>
                    <a:pt x="939" y="1"/>
                    <a:pt x="1001" y="0"/>
                    <a:pt x="1081" y="1"/>
                  </a:cubicBezTo>
                  <a:cubicBezTo>
                    <a:pt x="1161" y="2"/>
                    <a:pt x="1294" y="8"/>
                    <a:pt x="1363" y="11"/>
                  </a:cubicBezTo>
                  <a:cubicBezTo>
                    <a:pt x="1432" y="14"/>
                    <a:pt x="1440" y="18"/>
                    <a:pt x="1494" y="20"/>
                  </a:cubicBezTo>
                  <a:cubicBezTo>
                    <a:pt x="1548" y="22"/>
                    <a:pt x="1617" y="23"/>
                    <a:pt x="1686" y="24"/>
                  </a:cubicBezTo>
                </a:path>
              </a:pathLst>
            </a:cu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61" name="Freeform 45"/>
            <p:cNvSpPr>
              <a:spLocks/>
            </p:cNvSpPr>
            <p:nvPr/>
          </p:nvSpPr>
          <p:spPr bwMode="auto">
            <a:xfrm>
              <a:off x="3180" y="1802"/>
              <a:ext cx="2205" cy="581"/>
            </a:xfrm>
            <a:custGeom>
              <a:avLst/>
              <a:gdLst>
                <a:gd name="T0" fmla="*/ 0 w 2205"/>
                <a:gd name="T1" fmla="*/ 581 h 581"/>
                <a:gd name="T2" fmla="*/ 36 w 2205"/>
                <a:gd name="T3" fmla="*/ 428 h 581"/>
                <a:gd name="T4" fmla="*/ 84 w 2205"/>
                <a:gd name="T5" fmla="*/ 284 h 581"/>
                <a:gd name="T6" fmla="*/ 141 w 2205"/>
                <a:gd name="T7" fmla="*/ 191 h 581"/>
                <a:gd name="T8" fmla="*/ 253 w 2205"/>
                <a:gd name="T9" fmla="*/ 111 h 581"/>
                <a:gd name="T10" fmla="*/ 458 w 2205"/>
                <a:gd name="T11" fmla="*/ 66 h 581"/>
                <a:gd name="T12" fmla="*/ 650 w 2205"/>
                <a:gd name="T13" fmla="*/ 37 h 581"/>
                <a:gd name="T14" fmla="*/ 944 w 2205"/>
                <a:gd name="T15" fmla="*/ 25 h 581"/>
                <a:gd name="T16" fmla="*/ 1242 w 2205"/>
                <a:gd name="T17" fmla="*/ 15 h 581"/>
                <a:gd name="T18" fmla="*/ 1476 w 2205"/>
                <a:gd name="T19" fmla="*/ 2 h 581"/>
                <a:gd name="T20" fmla="*/ 1703 w 2205"/>
                <a:gd name="T21" fmla="*/ 2 h 581"/>
                <a:gd name="T22" fmla="*/ 1860 w 2205"/>
                <a:gd name="T23" fmla="*/ 15 h 581"/>
                <a:gd name="T24" fmla="*/ 2055 w 2205"/>
                <a:gd name="T25" fmla="*/ 15 h 581"/>
                <a:gd name="T26" fmla="*/ 2205 w 2205"/>
                <a:gd name="T27" fmla="*/ 21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05" h="581">
                  <a:moveTo>
                    <a:pt x="0" y="581"/>
                  </a:moveTo>
                  <a:cubicBezTo>
                    <a:pt x="11" y="529"/>
                    <a:pt x="22" y="477"/>
                    <a:pt x="36" y="428"/>
                  </a:cubicBezTo>
                  <a:cubicBezTo>
                    <a:pt x="50" y="379"/>
                    <a:pt x="67" y="323"/>
                    <a:pt x="84" y="284"/>
                  </a:cubicBezTo>
                  <a:cubicBezTo>
                    <a:pt x="101" y="245"/>
                    <a:pt x="113" y="220"/>
                    <a:pt x="141" y="191"/>
                  </a:cubicBezTo>
                  <a:cubicBezTo>
                    <a:pt x="169" y="162"/>
                    <a:pt x="200" y="132"/>
                    <a:pt x="253" y="111"/>
                  </a:cubicBezTo>
                  <a:cubicBezTo>
                    <a:pt x="306" y="90"/>
                    <a:pt x="392" y="78"/>
                    <a:pt x="458" y="66"/>
                  </a:cubicBezTo>
                  <a:cubicBezTo>
                    <a:pt x="524" y="54"/>
                    <a:pt x="569" y="44"/>
                    <a:pt x="650" y="37"/>
                  </a:cubicBezTo>
                  <a:cubicBezTo>
                    <a:pt x="731" y="30"/>
                    <a:pt x="845" y="29"/>
                    <a:pt x="944" y="25"/>
                  </a:cubicBezTo>
                  <a:cubicBezTo>
                    <a:pt x="1043" y="21"/>
                    <a:pt x="1153" y="19"/>
                    <a:pt x="1242" y="15"/>
                  </a:cubicBezTo>
                  <a:cubicBezTo>
                    <a:pt x="1331" y="11"/>
                    <a:pt x="1399" y="4"/>
                    <a:pt x="1476" y="2"/>
                  </a:cubicBezTo>
                  <a:cubicBezTo>
                    <a:pt x="1553" y="0"/>
                    <a:pt x="1639" y="0"/>
                    <a:pt x="1703" y="2"/>
                  </a:cubicBezTo>
                  <a:cubicBezTo>
                    <a:pt x="1767" y="4"/>
                    <a:pt x="1801" y="13"/>
                    <a:pt x="1860" y="15"/>
                  </a:cubicBezTo>
                  <a:cubicBezTo>
                    <a:pt x="1919" y="17"/>
                    <a:pt x="1998" y="14"/>
                    <a:pt x="2055" y="15"/>
                  </a:cubicBezTo>
                  <a:cubicBezTo>
                    <a:pt x="2112" y="16"/>
                    <a:pt x="2158" y="18"/>
                    <a:pt x="2205" y="21"/>
                  </a:cubicBezTo>
                </a:path>
              </a:pathLst>
            </a:cu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62" name="Freeform 46"/>
            <p:cNvSpPr>
              <a:spLocks/>
            </p:cNvSpPr>
            <p:nvPr/>
          </p:nvSpPr>
          <p:spPr bwMode="auto">
            <a:xfrm>
              <a:off x="3180" y="1699"/>
              <a:ext cx="2224" cy="691"/>
            </a:xfrm>
            <a:custGeom>
              <a:avLst/>
              <a:gdLst>
                <a:gd name="T0" fmla="*/ 0 w 2224"/>
                <a:gd name="T1" fmla="*/ 691 h 691"/>
                <a:gd name="T2" fmla="*/ 39 w 2224"/>
                <a:gd name="T3" fmla="*/ 460 h 691"/>
                <a:gd name="T4" fmla="*/ 100 w 2224"/>
                <a:gd name="T5" fmla="*/ 307 h 691"/>
                <a:gd name="T6" fmla="*/ 154 w 2224"/>
                <a:gd name="T7" fmla="*/ 188 h 691"/>
                <a:gd name="T8" fmla="*/ 266 w 2224"/>
                <a:gd name="T9" fmla="*/ 102 h 691"/>
                <a:gd name="T10" fmla="*/ 477 w 2224"/>
                <a:gd name="T11" fmla="*/ 57 h 691"/>
                <a:gd name="T12" fmla="*/ 708 w 2224"/>
                <a:gd name="T13" fmla="*/ 32 h 691"/>
                <a:gd name="T14" fmla="*/ 1066 w 2224"/>
                <a:gd name="T15" fmla="*/ 12 h 691"/>
                <a:gd name="T16" fmla="*/ 1204 w 2224"/>
                <a:gd name="T17" fmla="*/ 16 h 691"/>
                <a:gd name="T18" fmla="*/ 1325 w 2224"/>
                <a:gd name="T19" fmla="*/ 16 h 691"/>
                <a:gd name="T20" fmla="*/ 1495 w 2224"/>
                <a:gd name="T21" fmla="*/ 9 h 691"/>
                <a:gd name="T22" fmla="*/ 1744 w 2224"/>
                <a:gd name="T23" fmla="*/ 3 h 691"/>
                <a:gd name="T24" fmla="*/ 1968 w 2224"/>
                <a:gd name="T25" fmla="*/ 3 h 691"/>
                <a:gd name="T26" fmla="*/ 2224 w 2224"/>
                <a:gd name="T27" fmla="*/ 19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24" h="691">
                  <a:moveTo>
                    <a:pt x="0" y="691"/>
                  </a:moveTo>
                  <a:cubicBezTo>
                    <a:pt x="11" y="607"/>
                    <a:pt x="22" y="524"/>
                    <a:pt x="39" y="460"/>
                  </a:cubicBezTo>
                  <a:cubicBezTo>
                    <a:pt x="56" y="396"/>
                    <a:pt x="81" y="352"/>
                    <a:pt x="100" y="307"/>
                  </a:cubicBezTo>
                  <a:cubicBezTo>
                    <a:pt x="119" y="262"/>
                    <a:pt x="126" y="222"/>
                    <a:pt x="154" y="188"/>
                  </a:cubicBezTo>
                  <a:cubicBezTo>
                    <a:pt x="182" y="154"/>
                    <a:pt x="212" y="124"/>
                    <a:pt x="266" y="102"/>
                  </a:cubicBezTo>
                  <a:cubicBezTo>
                    <a:pt x="320" y="80"/>
                    <a:pt x="403" y="69"/>
                    <a:pt x="477" y="57"/>
                  </a:cubicBezTo>
                  <a:cubicBezTo>
                    <a:pt x="551" y="45"/>
                    <a:pt x="610" y="39"/>
                    <a:pt x="708" y="32"/>
                  </a:cubicBezTo>
                  <a:cubicBezTo>
                    <a:pt x="806" y="25"/>
                    <a:pt x="983" y="15"/>
                    <a:pt x="1066" y="12"/>
                  </a:cubicBezTo>
                  <a:cubicBezTo>
                    <a:pt x="1149" y="9"/>
                    <a:pt x="1161" y="15"/>
                    <a:pt x="1204" y="16"/>
                  </a:cubicBezTo>
                  <a:cubicBezTo>
                    <a:pt x="1247" y="17"/>
                    <a:pt x="1277" y="17"/>
                    <a:pt x="1325" y="16"/>
                  </a:cubicBezTo>
                  <a:cubicBezTo>
                    <a:pt x="1373" y="15"/>
                    <a:pt x="1425" y="11"/>
                    <a:pt x="1495" y="9"/>
                  </a:cubicBezTo>
                  <a:cubicBezTo>
                    <a:pt x="1565" y="7"/>
                    <a:pt x="1665" y="4"/>
                    <a:pt x="1744" y="3"/>
                  </a:cubicBezTo>
                  <a:cubicBezTo>
                    <a:pt x="1823" y="2"/>
                    <a:pt x="1888" y="0"/>
                    <a:pt x="1968" y="3"/>
                  </a:cubicBezTo>
                  <a:cubicBezTo>
                    <a:pt x="2048" y="6"/>
                    <a:pt x="2136" y="12"/>
                    <a:pt x="2224" y="19"/>
                  </a:cubicBezTo>
                </a:path>
              </a:pathLst>
            </a:cu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63" name="Freeform 47"/>
            <p:cNvSpPr>
              <a:spLocks/>
            </p:cNvSpPr>
            <p:nvPr/>
          </p:nvSpPr>
          <p:spPr bwMode="auto">
            <a:xfrm>
              <a:off x="3180" y="1502"/>
              <a:ext cx="2221" cy="891"/>
            </a:xfrm>
            <a:custGeom>
              <a:avLst/>
              <a:gdLst>
                <a:gd name="T0" fmla="*/ 0 w 2221"/>
                <a:gd name="T1" fmla="*/ 891 h 891"/>
                <a:gd name="T2" fmla="*/ 42 w 2221"/>
                <a:gd name="T3" fmla="*/ 648 h 891"/>
                <a:gd name="T4" fmla="*/ 64 w 2221"/>
                <a:gd name="T5" fmla="*/ 504 h 891"/>
                <a:gd name="T6" fmla="*/ 109 w 2221"/>
                <a:gd name="T7" fmla="*/ 363 h 891"/>
                <a:gd name="T8" fmla="*/ 144 w 2221"/>
                <a:gd name="T9" fmla="*/ 254 h 891"/>
                <a:gd name="T10" fmla="*/ 183 w 2221"/>
                <a:gd name="T11" fmla="*/ 181 h 891"/>
                <a:gd name="T12" fmla="*/ 221 w 2221"/>
                <a:gd name="T13" fmla="*/ 126 h 891"/>
                <a:gd name="T14" fmla="*/ 269 w 2221"/>
                <a:gd name="T15" fmla="*/ 110 h 891"/>
                <a:gd name="T16" fmla="*/ 314 w 2221"/>
                <a:gd name="T17" fmla="*/ 88 h 891"/>
                <a:gd name="T18" fmla="*/ 378 w 2221"/>
                <a:gd name="T19" fmla="*/ 69 h 891"/>
                <a:gd name="T20" fmla="*/ 483 w 2221"/>
                <a:gd name="T21" fmla="*/ 43 h 891"/>
                <a:gd name="T22" fmla="*/ 695 w 2221"/>
                <a:gd name="T23" fmla="*/ 21 h 891"/>
                <a:gd name="T24" fmla="*/ 887 w 2221"/>
                <a:gd name="T25" fmla="*/ 8 h 891"/>
                <a:gd name="T26" fmla="*/ 1018 w 2221"/>
                <a:gd name="T27" fmla="*/ 5 h 891"/>
                <a:gd name="T28" fmla="*/ 1155 w 2221"/>
                <a:gd name="T29" fmla="*/ 8 h 891"/>
                <a:gd name="T30" fmla="*/ 1328 w 2221"/>
                <a:gd name="T31" fmla="*/ 8 h 891"/>
                <a:gd name="T32" fmla="*/ 1523 w 2221"/>
                <a:gd name="T33" fmla="*/ 5 h 891"/>
                <a:gd name="T34" fmla="*/ 1725 w 2221"/>
                <a:gd name="T35" fmla="*/ 5 h 891"/>
                <a:gd name="T36" fmla="*/ 1872 w 2221"/>
                <a:gd name="T37" fmla="*/ 1 h 891"/>
                <a:gd name="T38" fmla="*/ 1984 w 2221"/>
                <a:gd name="T39" fmla="*/ 1 h 891"/>
                <a:gd name="T40" fmla="*/ 2090 w 2221"/>
                <a:gd name="T41" fmla="*/ 8 h 891"/>
                <a:gd name="T42" fmla="*/ 2221 w 2221"/>
                <a:gd name="T43" fmla="*/ 21 h 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21" h="891">
                  <a:moveTo>
                    <a:pt x="0" y="891"/>
                  </a:moveTo>
                  <a:cubicBezTo>
                    <a:pt x="15" y="801"/>
                    <a:pt x="31" y="712"/>
                    <a:pt x="42" y="648"/>
                  </a:cubicBezTo>
                  <a:cubicBezTo>
                    <a:pt x="53" y="584"/>
                    <a:pt x="53" y="551"/>
                    <a:pt x="64" y="504"/>
                  </a:cubicBezTo>
                  <a:cubicBezTo>
                    <a:pt x="75" y="457"/>
                    <a:pt x="96" y="405"/>
                    <a:pt x="109" y="363"/>
                  </a:cubicBezTo>
                  <a:cubicBezTo>
                    <a:pt x="122" y="321"/>
                    <a:pt x="132" y="284"/>
                    <a:pt x="144" y="254"/>
                  </a:cubicBezTo>
                  <a:cubicBezTo>
                    <a:pt x="156" y="224"/>
                    <a:pt x="170" y="202"/>
                    <a:pt x="183" y="181"/>
                  </a:cubicBezTo>
                  <a:cubicBezTo>
                    <a:pt x="196" y="160"/>
                    <a:pt x="207" y="138"/>
                    <a:pt x="221" y="126"/>
                  </a:cubicBezTo>
                  <a:cubicBezTo>
                    <a:pt x="235" y="114"/>
                    <a:pt x="253" y="116"/>
                    <a:pt x="269" y="110"/>
                  </a:cubicBezTo>
                  <a:cubicBezTo>
                    <a:pt x="285" y="104"/>
                    <a:pt x="296" y="95"/>
                    <a:pt x="314" y="88"/>
                  </a:cubicBezTo>
                  <a:cubicBezTo>
                    <a:pt x="332" y="81"/>
                    <a:pt x="350" y="76"/>
                    <a:pt x="378" y="69"/>
                  </a:cubicBezTo>
                  <a:cubicBezTo>
                    <a:pt x="406" y="62"/>
                    <a:pt x="430" y="51"/>
                    <a:pt x="483" y="43"/>
                  </a:cubicBezTo>
                  <a:cubicBezTo>
                    <a:pt x="536" y="35"/>
                    <a:pt x="628" y="27"/>
                    <a:pt x="695" y="21"/>
                  </a:cubicBezTo>
                  <a:cubicBezTo>
                    <a:pt x="762" y="15"/>
                    <a:pt x="833" y="11"/>
                    <a:pt x="887" y="8"/>
                  </a:cubicBezTo>
                  <a:cubicBezTo>
                    <a:pt x="941" y="5"/>
                    <a:pt x="973" y="5"/>
                    <a:pt x="1018" y="5"/>
                  </a:cubicBezTo>
                  <a:cubicBezTo>
                    <a:pt x="1063" y="5"/>
                    <a:pt x="1103" y="7"/>
                    <a:pt x="1155" y="8"/>
                  </a:cubicBezTo>
                  <a:cubicBezTo>
                    <a:pt x="1207" y="9"/>
                    <a:pt x="1267" y="9"/>
                    <a:pt x="1328" y="8"/>
                  </a:cubicBezTo>
                  <a:cubicBezTo>
                    <a:pt x="1389" y="7"/>
                    <a:pt x="1457" y="5"/>
                    <a:pt x="1523" y="5"/>
                  </a:cubicBezTo>
                  <a:cubicBezTo>
                    <a:pt x="1589" y="5"/>
                    <a:pt x="1667" y="6"/>
                    <a:pt x="1725" y="5"/>
                  </a:cubicBezTo>
                  <a:cubicBezTo>
                    <a:pt x="1783" y="4"/>
                    <a:pt x="1829" y="2"/>
                    <a:pt x="1872" y="1"/>
                  </a:cubicBezTo>
                  <a:cubicBezTo>
                    <a:pt x="1915" y="0"/>
                    <a:pt x="1948" y="0"/>
                    <a:pt x="1984" y="1"/>
                  </a:cubicBezTo>
                  <a:cubicBezTo>
                    <a:pt x="2020" y="2"/>
                    <a:pt x="2051" y="5"/>
                    <a:pt x="2090" y="8"/>
                  </a:cubicBezTo>
                  <a:cubicBezTo>
                    <a:pt x="2129" y="11"/>
                    <a:pt x="2175" y="16"/>
                    <a:pt x="2221" y="21"/>
                  </a:cubicBezTo>
                </a:path>
              </a:pathLst>
            </a:cu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64" name="Freeform 48"/>
            <p:cNvSpPr>
              <a:spLocks/>
            </p:cNvSpPr>
            <p:nvPr/>
          </p:nvSpPr>
          <p:spPr bwMode="auto">
            <a:xfrm>
              <a:off x="3174" y="1294"/>
              <a:ext cx="2243" cy="1089"/>
            </a:xfrm>
            <a:custGeom>
              <a:avLst/>
              <a:gdLst>
                <a:gd name="T0" fmla="*/ 0 w 2243"/>
                <a:gd name="T1" fmla="*/ 1089 h 1089"/>
                <a:gd name="T2" fmla="*/ 45 w 2243"/>
                <a:gd name="T3" fmla="*/ 709 h 1089"/>
                <a:gd name="T4" fmla="*/ 77 w 2243"/>
                <a:gd name="T5" fmla="*/ 504 h 1089"/>
                <a:gd name="T6" fmla="*/ 112 w 2243"/>
                <a:gd name="T7" fmla="*/ 315 h 1089"/>
                <a:gd name="T8" fmla="*/ 160 w 2243"/>
                <a:gd name="T9" fmla="*/ 193 h 1089"/>
                <a:gd name="T10" fmla="*/ 205 w 2243"/>
                <a:gd name="T11" fmla="*/ 97 h 1089"/>
                <a:gd name="T12" fmla="*/ 307 w 2243"/>
                <a:gd name="T13" fmla="*/ 37 h 1089"/>
                <a:gd name="T14" fmla="*/ 493 w 2243"/>
                <a:gd name="T15" fmla="*/ 5 h 1089"/>
                <a:gd name="T16" fmla="*/ 829 w 2243"/>
                <a:gd name="T17" fmla="*/ 5 h 1089"/>
                <a:gd name="T18" fmla="*/ 1094 w 2243"/>
                <a:gd name="T19" fmla="*/ 8 h 1089"/>
                <a:gd name="T20" fmla="*/ 1392 w 2243"/>
                <a:gd name="T21" fmla="*/ 8 h 1089"/>
                <a:gd name="T22" fmla="*/ 1574 w 2243"/>
                <a:gd name="T23" fmla="*/ 11 h 1089"/>
                <a:gd name="T24" fmla="*/ 1712 w 2243"/>
                <a:gd name="T25" fmla="*/ 21 h 1089"/>
                <a:gd name="T26" fmla="*/ 1904 w 2243"/>
                <a:gd name="T27" fmla="*/ 27 h 1089"/>
                <a:gd name="T28" fmla="*/ 2083 w 2243"/>
                <a:gd name="T29" fmla="*/ 40 h 1089"/>
                <a:gd name="T30" fmla="*/ 2243 w 2243"/>
                <a:gd name="T31" fmla="*/ 40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43" h="1089">
                  <a:moveTo>
                    <a:pt x="0" y="1089"/>
                  </a:moveTo>
                  <a:cubicBezTo>
                    <a:pt x="16" y="947"/>
                    <a:pt x="32" y="806"/>
                    <a:pt x="45" y="709"/>
                  </a:cubicBezTo>
                  <a:cubicBezTo>
                    <a:pt x="58" y="612"/>
                    <a:pt x="66" y="570"/>
                    <a:pt x="77" y="504"/>
                  </a:cubicBezTo>
                  <a:cubicBezTo>
                    <a:pt x="88" y="438"/>
                    <a:pt x="98" y="367"/>
                    <a:pt x="112" y="315"/>
                  </a:cubicBezTo>
                  <a:cubicBezTo>
                    <a:pt x="126" y="263"/>
                    <a:pt x="144" y="229"/>
                    <a:pt x="160" y="193"/>
                  </a:cubicBezTo>
                  <a:cubicBezTo>
                    <a:pt x="176" y="157"/>
                    <a:pt x="181" y="123"/>
                    <a:pt x="205" y="97"/>
                  </a:cubicBezTo>
                  <a:cubicBezTo>
                    <a:pt x="229" y="71"/>
                    <a:pt x="259" y="52"/>
                    <a:pt x="307" y="37"/>
                  </a:cubicBezTo>
                  <a:cubicBezTo>
                    <a:pt x="355" y="22"/>
                    <a:pt x="406" y="10"/>
                    <a:pt x="493" y="5"/>
                  </a:cubicBezTo>
                  <a:cubicBezTo>
                    <a:pt x="580" y="0"/>
                    <a:pt x="729" y="5"/>
                    <a:pt x="829" y="5"/>
                  </a:cubicBezTo>
                  <a:cubicBezTo>
                    <a:pt x="929" y="5"/>
                    <a:pt x="1000" y="8"/>
                    <a:pt x="1094" y="8"/>
                  </a:cubicBezTo>
                  <a:cubicBezTo>
                    <a:pt x="1188" y="8"/>
                    <a:pt x="1312" y="7"/>
                    <a:pt x="1392" y="8"/>
                  </a:cubicBezTo>
                  <a:cubicBezTo>
                    <a:pt x="1472" y="9"/>
                    <a:pt x="1521" y="9"/>
                    <a:pt x="1574" y="11"/>
                  </a:cubicBezTo>
                  <a:cubicBezTo>
                    <a:pt x="1627" y="13"/>
                    <a:pt x="1657" y="18"/>
                    <a:pt x="1712" y="21"/>
                  </a:cubicBezTo>
                  <a:cubicBezTo>
                    <a:pt x="1767" y="24"/>
                    <a:pt x="1842" y="24"/>
                    <a:pt x="1904" y="27"/>
                  </a:cubicBezTo>
                  <a:cubicBezTo>
                    <a:pt x="1966" y="30"/>
                    <a:pt x="2027" y="38"/>
                    <a:pt x="2083" y="40"/>
                  </a:cubicBezTo>
                  <a:cubicBezTo>
                    <a:pt x="2139" y="42"/>
                    <a:pt x="2191" y="41"/>
                    <a:pt x="2243" y="40"/>
                  </a:cubicBezTo>
                </a:path>
              </a:pathLst>
            </a:cu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65" name="Freeform 49"/>
            <p:cNvSpPr>
              <a:spLocks/>
            </p:cNvSpPr>
            <p:nvPr/>
          </p:nvSpPr>
          <p:spPr bwMode="auto">
            <a:xfrm>
              <a:off x="3177" y="763"/>
              <a:ext cx="1949" cy="1627"/>
            </a:xfrm>
            <a:custGeom>
              <a:avLst/>
              <a:gdLst>
                <a:gd name="T0" fmla="*/ 1949 w 1949"/>
                <a:gd name="T1" fmla="*/ 142 h 1627"/>
                <a:gd name="T2" fmla="*/ 1603 w 1949"/>
                <a:gd name="T3" fmla="*/ 91 h 1627"/>
                <a:gd name="T4" fmla="*/ 1367 w 1949"/>
                <a:gd name="T5" fmla="*/ 62 h 1627"/>
                <a:gd name="T6" fmla="*/ 1184 w 1949"/>
                <a:gd name="T7" fmla="*/ 36 h 1627"/>
                <a:gd name="T8" fmla="*/ 1040 w 1949"/>
                <a:gd name="T9" fmla="*/ 20 h 1627"/>
                <a:gd name="T10" fmla="*/ 810 w 1949"/>
                <a:gd name="T11" fmla="*/ 4 h 1627"/>
                <a:gd name="T12" fmla="*/ 663 w 1949"/>
                <a:gd name="T13" fmla="*/ 4 h 1627"/>
                <a:gd name="T14" fmla="*/ 515 w 1949"/>
                <a:gd name="T15" fmla="*/ 4 h 1627"/>
                <a:gd name="T16" fmla="*/ 349 w 1949"/>
                <a:gd name="T17" fmla="*/ 27 h 1627"/>
                <a:gd name="T18" fmla="*/ 237 w 1949"/>
                <a:gd name="T19" fmla="*/ 94 h 1627"/>
                <a:gd name="T20" fmla="*/ 179 w 1949"/>
                <a:gd name="T21" fmla="*/ 238 h 1627"/>
                <a:gd name="T22" fmla="*/ 115 w 1949"/>
                <a:gd name="T23" fmla="*/ 555 h 1627"/>
                <a:gd name="T24" fmla="*/ 87 w 1949"/>
                <a:gd name="T25" fmla="*/ 779 h 1627"/>
                <a:gd name="T26" fmla="*/ 39 w 1949"/>
                <a:gd name="T27" fmla="*/ 1121 h 1627"/>
                <a:gd name="T28" fmla="*/ 23 w 1949"/>
                <a:gd name="T29" fmla="*/ 1278 h 1627"/>
                <a:gd name="T30" fmla="*/ 0 w 1949"/>
                <a:gd name="T31" fmla="*/ 1627 h 1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49" h="1627">
                  <a:moveTo>
                    <a:pt x="1949" y="142"/>
                  </a:moveTo>
                  <a:cubicBezTo>
                    <a:pt x="1824" y="123"/>
                    <a:pt x="1700" y="104"/>
                    <a:pt x="1603" y="91"/>
                  </a:cubicBezTo>
                  <a:cubicBezTo>
                    <a:pt x="1506" y="78"/>
                    <a:pt x="1437" y="71"/>
                    <a:pt x="1367" y="62"/>
                  </a:cubicBezTo>
                  <a:cubicBezTo>
                    <a:pt x="1297" y="53"/>
                    <a:pt x="1238" y="43"/>
                    <a:pt x="1184" y="36"/>
                  </a:cubicBezTo>
                  <a:cubicBezTo>
                    <a:pt x="1130" y="29"/>
                    <a:pt x="1102" y="25"/>
                    <a:pt x="1040" y="20"/>
                  </a:cubicBezTo>
                  <a:cubicBezTo>
                    <a:pt x="978" y="15"/>
                    <a:pt x="873" y="7"/>
                    <a:pt x="810" y="4"/>
                  </a:cubicBezTo>
                  <a:cubicBezTo>
                    <a:pt x="747" y="1"/>
                    <a:pt x="712" y="4"/>
                    <a:pt x="663" y="4"/>
                  </a:cubicBezTo>
                  <a:cubicBezTo>
                    <a:pt x="614" y="4"/>
                    <a:pt x="567" y="0"/>
                    <a:pt x="515" y="4"/>
                  </a:cubicBezTo>
                  <a:cubicBezTo>
                    <a:pt x="463" y="8"/>
                    <a:pt x="395" y="12"/>
                    <a:pt x="349" y="27"/>
                  </a:cubicBezTo>
                  <a:cubicBezTo>
                    <a:pt x="303" y="42"/>
                    <a:pt x="265" y="59"/>
                    <a:pt x="237" y="94"/>
                  </a:cubicBezTo>
                  <a:cubicBezTo>
                    <a:pt x="209" y="129"/>
                    <a:pt x="199" y="161"/>
                    <a:pt x="179" y="238"/>
                  </a:cubicBezTo>
                  <a:cubicBezTo>
                    <a:pt x="159" y="315"/>
                    <a:pt x="130" y="465"/>
                    <a:pt x="115" y="555"/>
                  </a:cubicBezTo>
                  <a:cubicBezTo>
                    <a:pt x="100" y="645"/>
                    <a:pt x="100" y="685"/>
                    <a:pt x="87" y="779"/>
                  </a:cubicBezTo>
                  <a:cubicBezTo>
                    <a:pt x="74" y="873"/>
                    <a:pt x="50" y="1038"/>
                    <a:pt x="39" y="1121"/>
                  </a:cubicBezTo>
                  <a:cubicBezTo>
                    <a:pt x="28" y="1204"/>
                    <a:pt x="29" y="1194"/>
                    <a:pt x="23" y="1278"/>
                  </a:cubicBezTo>
                  <a:cubicBezTo>
                    <a:pt x="17" y="1362"/>
                    <a:pt x="8" y="1494"/>
                    <a:pt x="0" y="1627"/>
                  </a:cubicBezTo>
                </a:path>
              </a:pathLst>
            </a:custGeom>
            <a:noFill/>
            <a:ln w="952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66" name="Freeform 50"/>
            <p:cNvSpPr>
              <a:spLocks/>
            </p:cNvSpPr>
            <p:nvPr/>
          </p:nvSpPr>
          <p:spPr bwMode="auto">
            <a:xfrm>
              <a:off x="3178" y="2393"/>
              <a:ext cx="2211" cy="1104"/>
            </a:xfrm>
            <a:custGeom>
              <a:avLst/>
              <a:gdLst>
                <a:gd name="T0" fmla="*/ 0 w 2211"/>
                <a:gd name="T1" fmla="*/ 0 h 1104"/>
                <a:gd name="T2" fmla="*/ 63 w 2211"/>
                <a:gd name="T3" fmla="*/ 192 h 1104"/>
                <a:gd name="T4" fmla="*/ 137 w 2211"/>
                <a:gd name="T5" fmla="*/ 464 h 1104"/>
                <a:gd name="T6" fmla="*/ 189 w 2211"/>
                <a:gd name="T7" fmla="*/ 708 h 1104"/>
                <a:gd name="T8" fmla="*/ 262 w 2211"/>
                <a:gd name="T9" fmla="*/ 906 h 1104"/>
                <a:gd name="T10" fmla="*/ 381 w 2211"/>
                <a:gd name="T11" fmla="*/ 1018 h 1104"/>
                <a:gd name="T12" fmla="*/ 601 w 2211"/>
                <a:gd name="T13" fmla="*/ 1082 h 1104"/>
                <a:gd name="T14" fmla="*/ 851 w 2211"/>
                <a:gd name="T15" fmla="*/ 1101 h 1104"/>
                <a:gd name="T16" fmla="*/ 1296 w 2211"/>
                <a:gd name="T17" fmla="*/ 1101 h 1104"/>
                <a:gd name="T18" fmla="*/ 1693 w 2211"/>
                <a:gd name="T19" fmla="*/ 1098 h 1104"/>
                <a:gd name="T20" fmla="*/ 2211 w 2211"/>
                <a:gd name="T21" fmla="*/ 1098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11" h="1104">
                  <a:moveTo>
                    <a:pt x="0" y="0"/>
                  </a:moveTo>
                  <a:cubicBezTo>
                    <a:pt x="11" y="32"/>
                    <a:pt x="40" y="115"/>
                    <a:pt x="63" y="192"/>
                  </a:cubicBezTo>
                  <a:cubicBezTo>
                    <a:pt x="86" y="269"/>
                    <a:pt x="116" y="378"/>
                    <a:pt x="137" y="464"/>
                  </a:cubicBezTo>
                  <a:cubicBezTo>
                    <a:pt x="158" y="550"/>
                    <a:pt x="168" y="634"/>
                    <a:pt x="189" y="708"/>
                  </a:cubicBezTo>
                  <a:cubicBezTo>
                    <a:pt x="210" y="782"/>
                    <a:pt x="230" y="854"/>
                    <a:pt x="262" y="906"/>
                  </a:cubicBezTo>
                  <a:cubicBezTo>
                    <a:pt x="294" y="958"/>
                    <a:pt x="325" y="989"/>
                    <a:pt x="381" y="1018"/>
                  </a:cubicBezTo>
                  <a:cubicBezTo>
                    <a:pt x="437" y="1047"/>
                    <a:pt x="523" y="1068"/>
                    <a:pt x="601" y="1082"/>
                  </a:cubicBezTo>
                  <a:cubicBezTo>
                    <a:pt x="679" y="1096"/>
                    <a:pt x="735" y="1098"/>
                    <a:pt x="851" y="1101"/>
                  </a:cubicBezTo>
                  <a:cubicBezTo>
                    <a:pt x="967" y="1104"/>
                    <a:pt x="1156" y="1102"/>
                    <a:pt x="1296" y="1101"/>
                  </a:cubicBezTo>
                  <a:cubicBezTo>
                    <a:pt x="1436" y="1100"/>
                    <a:pt x="1541" y="1098"/>
                    <a:pt x="1693" y="1098"/>
                  </a:cubicBezTo>
                  <a:cubicBezTo>
                    <a:pt x="1845" y="1098"/>
                    <a:pt x="2028" y="1098"/>
                    <a:pt x="2211" y="1098"/>
                  </a:cubicBezTo>
                </a:path>
              </a:pathLst>
            </a:custGeom>
            <a:noFill/>
            <a:ln w="952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67" name="Freeform 51"/>
            <p:cNvSpPr>
              <a:spLocks/>
            </p:cNvSpPr>
            <p:nvPr/>
          </p:nvSpPr>
          <p:spPr bwMode="auto">
            <a:xfrm>
              <a:off x="3175" y="2393"/>
              <a:ext cx="2220" cy="680"/>
            </a:xfrm>
            <a:custGeom>
              <a:avLst/>
              <a:gdLst>
                <a:gd name="T0" fmla="*/ 0 w 2220"/>
                <a:gd name="T1" fmla="*/ 0 h 680"/>
                <a:gd name="T2" fmla="*/ 66 w 2220"/>
                <a:gd name="T3" fmla="*/ 115 h 680"/>
                <a:gd name="T4" fmla="*/ 108 w 2220"/>
                <a:gd name="T5" fmla="*/ 247 h 680"/>
                <a:gd name="T6" fmla="*/ 192 w 2220"/>
                <a:gd name="T7" fmla="*/ 461 h 680"/>
                <a:gd name="T8" fmla="*/ 307 w 2220"/>
                <a:gd name="T9" fmla="*/ 608 h 680"/>
                <a:gd name="T10" fmla="*/ 537 w 2220"/>
                <a:gd name="T11" fmla="*/ 669 h 680"/>
                <a:gd name="T12" fmla="*/ 873 w 2220"/>
                <a:gd name="T13" fmla="*/ 672 h 680"/>
                <a:gd name="T14" fmla="*/ 1270 w 2220"/>
                <a:gd name="T15" fmla="*/ 663 h 680"/>
                <a:gd name="T16" fmla="*/ 1664 w 2220"/>
                <a:gd name="T17" fmla="*/ 650 h 680"/>
                <a:gd name="T18" fmla="*/ 1955 w 2220"/>
                <a:gd name="T19" fmla="*/ 634 h 680"/>
                <a:gd name="T20" fmla="*/ 2220 w 2220"/>
                <a:gd name="T21" fmla="*/ 624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0" h="680">
                  <a:moveTo>
                    <a:pt x="0" y="0"/>
                  </a:moveTo>
                  <a:cubicBezTo>
                    <a:pt x="11" y="19"/>
                    <a:pt x="48" y="74"/>
                    <a:pt x="66" y="115"/>
                  </a:cubicBezTo>
                  <a:cubicBezTo>
                    <a:pt x="84" y="156"/>
                    <a:pt x="87" y="189"/>
                    <a:pt x="108" y="247"/>
                  </a:cubicBezTo>
                  <a:cubicBezTo>
                    <a:pt x="129" y="305"/>
                    <a:pt x="159" y="401"/>
                    <a:pt x="192" y="461"/>
                  </a:cubicBezTo>
                  <a:cubicBezTo>
                    <a:pt x="225" y="521"/>
                    <a:pt x="250" y="573"/>
                    <a:pt x="307" y="608"/>
                  </a:cubicBezTo>
                  <a:cubicBezTo>
                    <a:pt x="364" y="643"/>
                    <a:pt x="443" y="658"/>
                    <a:pt x="537" y="669"/>
                  </a:cubicBezTo>
                  <a:cubicBezTo>
                    <a:pt x="631" y="680"/>
                    <a:pt x="751" y="673"/>
                    <a:pt x="873" y="672"/>
                  </a:cubicBezTo>
                  <a:cubicBezTo>
                    <a:pt x="995" y="671"/>
                    <a:pt x="1138" y="667"/>
                    <a:pt x="1270" y="663"/>
                  </a:cubicBezTo>
                  <a:cubicBezTo>
                    <a:pt x="1402" y="659"/>
                    <a:pt x="1550" y="655"/>
                    <a:pt x="1664" y="650"/>
                  </a:cubicBezTo>
                  <a:cubicBezTo>
                    <a:pt x="1778" y="645"/>
                    <a:pt x="1862" y="638"/>
                    <a:pt x="1955" y="634"/>
                  </a:cubicBezTo>
                  <a:cubicBezTo>
                    <a:pt x="2048" y="630"/>
                    <a:pt x="2134" y="627"/>
                    <a:pt x="2220" y="624"/>
                  </a:cubicBezTo>
                </a:path>
              </a:pathLst>
            </a:custGeom>
            <a:noFill/>
            <a:ln w="952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68" name="Freeform 52"/>
            <p:cNvSpPr>
              <a:spLocks/>
            </p:cNvSpPr>
            <p:nvPr/>
          </p:nvSpPr>
          <p:spPr bwMode="auto">
            <a:xfrm>
              <a:off x="3187" y="2390"/>
              <a:ext cx="2215" cy="366"/>
            </a:xfrm>
            <a:custGeom>
              <a:avLst/>
              <a:gdLst>
                <a:gd name="T0" fmla="*/ 0 w 2215"/>
                <a:gd name="T1" fmla="*/ 0 h 366"/>
                <a:gd name="T2" fmla="*/ 73 w 2215"/>
                <a:gd name="T3" fmla="*/ 105 h 366"/>
                <a:gd name="T4" fmla="*/ 189 w 2215"/>
                <a:gd name="T5" fmla="*/ 250 h 366"/>
                <a:gd name="T6" fmla="*/ 352 w 2215"/>
                <a:gd name="T7" fmla="*/ 349 h 366"/>
                <a:gd name="T8" fmla="*/ 826 w 2215"/>
                <a:gd name="T9" fmla="*/ 352 h 366"/>
                <a:gd name="T10" fmla="*/ 1271 w 2215"/>
                <a:gd name="T11" fmla="*/ 339 h 366"/>
                <a:gd name="T12" fmla="*/ 1639 w 2215"/>
                <a:gd name="T13" fmla="*/ 339 h 366"/>
                <a:gd name="T14" fmla="*/ 2109 w 2215"/>
                <a:gd name="T15" fmla="*/ 336 h 366"/>
                <a:gd name="T16" fmla="*/ 2215 w 2215"/>
                <a:gd name="T17" fmla="*/ 333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15" h="366">
                  <a:moveTo>
                    <a:pt x="0" y="0"/>
                  </a:moveTo>
                  <a:cubicBezTo>
                    <a:pt x="12" y="17"/>
                    <a:pt x="42" y="63"/>
                    <a:pt x="73" y="105"/>
                  </a:cubicBezTo>
                  <a:cubicBezTo>
                    <a:pt x="104" y="147"/>
                    <a:pt x="143" y="209"/>
                    <a:pt x="189" y="250"/>
                  </a:cubicBezTo>
                  <a:cubicBezTo>
                    <a:pt x="235" y="291"/>
                    <a:pt x="246" y="332"/>
                    <a:pt x="352" y="349"/>
                  </a:cubicBezTo>
                  <a:cubicBezTo>
                    <a:pt x="458" y="366"/>
                    <a:pt x="673" y="354"/>
                    <a:pt x="826" y="352"/>
                  </a:cubicBezTo>
                  <a:cubicBezTo>
                    <a:pt x="979" y="350"/>
                    <a:pt x="1136" y="341"/>
                    <a:pt x="1271" y="339"/>
                  </a:cubicBezTo>
                  <a:cubicBezTo>
                    <a:pt x="1406" y="337"/>
                    <a:pt x="1499" y="339"/>
                    <a:pt x="1639" y="339"/>
                  </a:cubicBezTo>
                  <a:cubicBezTo>
                    <a:pt x="1779" y="339"/>
                    <a:pt x="2013" y="337"/>
                    <a:pt x="2109" y="336"/>
                  </a:cubicBezTo>
                  <a:cubicBezTo>
                    <a:pt x="2205" y="335"/>
                    <a:pt x="2210" y="334"/>
                    <a:pt x="2215" y="333"/>
                  </a:cubicBezTo>
                </a:path>
              </a:pathLst>
            </a:custGeom>
            <a:noFill/>
            <a:ln w="952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69" name="Freeform 53"/>
            <p:cNvSpPr>
              <a:spLocks/>
            </p:cNvSpPr>
            <p:nvPr/>
          </p:nvSpPr>
          <p:spPr bwMode="auto">
            <a:xfrm>
              <a:off x="3175" y="2398"/>
              <a:ext cx="2211" cy="149"/>
            </a:xfrm>
            <a:custGeom>
              <a:avLst/>
              <a:gdLst>
                <a:gd name="T0" fmla="*/ 0 w 2211"/>
                <a:gd name="T1" fmla="*/ 0 h 149"/>
                <a:gd name="T2" fmla="*/ 108 w 2211"/>
                <a:gd name="T3" fmla="*/ 72 h 149"/>
                <a:gd name="T4" fmla="*/ 278 w 2211"/>
                <a:gd name="T5" fmla="*/ 137 h 149"/>
                <a:gd name="T6" fmla="*/ 483 w 2211"/>
                <a:gd name="T7" fmla="*/ 144 h 149"/>
                <a:gd name="T8" fmla="*/ 838 w 2211"/>
                <a:gd name="T9" fmla="*/ 140 h 149"/>
                <a:gd name="T10" fmla="*/ 1196 w 2211"/>
                <a:gd name="T11" fmla="*/ 131 h 149"/>
                <a:gd name="T12" fmla="*/ 1574 w 2211"/>
                <a:gd name="T13" fmla="*/ 124 h 149"/>
                <a:gd name="T14" fmla="*/ 1923 w 2211"/>
                <a:gd name="T15" fmla="*/ 121 h 149"/>
                <a:gd name="T16" fmla="*/ 2211 w 2211"/>
                <a:gd name="T17" fmla="*/ 11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11" h="149">
                  <a:moveTo>
                    <a:pt x="0" y="0"/>
                  </a:moveTo>
                  <a:cubicBezTo>
                    <a:pt x="18" y="12"/>
                    <a:pt x="62" y="49"/>
                    <a:pt x="108" y="72"/>
                  </a:cubicBezTo>
                  <a:cubicBezTo>
                    <a:pt x="154" y="95"/>
                    <a:pt x="216" y="125"/>
                    <a:pt x="278" y="137"/>
                  </a:cubicBezTo>
                  <a:cubicBezTo>
                    <a:pt x="340" y="149"/>
                    <a:pt x="390" y="144"/>
                    <a:pt x="483" y="144"/>
                  </a:cubicBezTo>
                  <a:cubicBezTo>
                    <a:pt x="576" y="144"/>
                    <a:pt x="719" y="142"/>
                    <a:pt x="838" y="140"/>
                  </a:cubicBezTo>
                  <a:cubicBezTo>
                    <a:pt x="957" y="138"/>
                    <a:pt x="1073" y="134"/>
                    <a:pt x="1196" y="131"/>
                  </a:cubicBezTo>
                  <a:cubicBezTo>
                    <a:pt x="1319" y="128"/>
                    <a:pt x="1453" y="126"/>
                    <a:pt x="1574" y="124"/>
                  </a:cubicBezTo>
                  <a:cubicBezTo>
                    <a:pt x="1695" y="122"/>
                    <a:pt x="1817" y="122"/>
                    <a:pt x="1923" y="121"/>
                  </a:cubicBezTo>
                  <a:cubicBezTo>
                    <a:pt x="2029" y="120"/>
                    <a:pt x="2120" y="118"/>
                    <a:pt x="2211" y="115"/>
                  </a:cubicBezTo>
                </a:path>
              </a:pathLst>
            </a:custGeom>
            <a:noFill/>
            <a:ln w="952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70" name="Freeform 54"/>
            <p:cNvSpPr>
              <a:spLocks/>
            </p:cNvSpPr>
            <p:nvPr/>
          </p:nvSpPr>
          <p:spPr bwMode="auto">
            <a:xfrm>
              <a:off x="3180" y="2393"/>
              <a:ext cx="2203" cy="89"/>
            </a:xfrm>
            <a:custGeom>
              <a:avLst/>
              <a:gdLst>
                <a:gd name="T0" fmla="*/ 0 w 2203"/>
                <a:gd name="T1" fmla="*/ 0 h 89"/>
                <a:gd name="T2" fmla="*/ 154 w 2203"/>
                <a:gd name="T3" fmla="*/ 77 h 89"/>
                <a:gd name="T4" fmla="*/ 478 w 2203"/>
                <a:gd name="T5" fmla="*/ 71 h 89"/>
                <a:gd name="T6" fmla="*/ 868 w 2203"/>
                <a:gd name="T7" fmla="*/ 55 h 89"/>
                <a:gd name="T8" fmla="*/ 1249 w 2203"/>
                <a:gd name="T9" fmla="*/ 42 h 89"/>
                <a:gd name="T10" fmla="*/ 1655 w 2203"/>
                <a:gd name="T11" fmla="*/ 42 h 89"/>
                <a:gd name="T12" fmla="*/ 1982 w 2203"/>
                <a:gd name="T13" fmla="*/ 39 h 89"/>
                <a:gd name="T14" fmla="*/ 2203 w 2203"/>
                <a:gd name="T15" fmla="*/ 32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03" h="89">
                  <a:moveTo>
                    <a:pt x="0" y="0"/>
                  </a:moveTo>
                  <a:cubicBezTo>
                    <a:pt x="26" y="13"/>
                    <a:pt x="74" y="65"/>
                    <a:pt x="154" y="77"/>
                  </a:cubicBezTo>
                  <a:cubicBezTo>
                    <a:pt x="234" y="89"/>
                    <a:pt x="359" y="75"/>
                    <a:pt x="478" y="71"/>
                  </a:cubicBezTo>
                  <a:cubicBezTo>
                    <a:pt x="597" y="67"/>
                    <a:pt x="740" y="60"/>
                    <a:pt x="868" y="55"/>
                  </a:cubicBezTo>
                  <a:cubicBezTo>
                    <a:pt x="996" y="50"/>
                    <a:pt x="1118" y="44"/>
                    <a:pt x="1249" y="42"/>
                  </a:cubicBezTo>
                  <a:cubicBezTo>
                    <a:pt x="1380" y="40"/>
                    <a:pt x="1533" y="42"/>
                    <a:pt x="1655" y="42"/>
                  </a:cubicBezTo>
                  <a:cubicBezTo>
                    <a:pt x="1777" y="42"/>
                    <a:pt x="1891" y="41"/>
                    <a:pt x="1982" y="39"/>
                  </a:cubicBezTo>
                  <a:cubicBezTo>
                    <a:pt x="2073" y="37"/>
                    <a:pt x="2138" y="35"/>
                    <a:pt x="2203" y="32"/>
                  </a:cubicBezTo>
                </a:path>
              </a:pathLst>
            </a:custGeom>
            <a:noFill/>
            <a:ln w="952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2871" name="Freeform 55"/>
            <p:cNvSpPr>
              <a:spLocks/>
            </p:cNvSpPr>
            <p:nvPr/>
          </p:nvSpPr>
          <p:spPr bwMode="auto">
            <a:xfrm>
              <a:off x="3177" y="2368"/>
              <a:ext cx="2186" cy="64"/>
            </a:xfrm>
            <a:custGeom>
              <a:avLst/>
              <a:gdLst>
                <a:gd name="T0" fmla="*/ 0 w 2186"/>
                <a:gd name="T1" fmla="*/ 25 h 64"/>
                <a:gd name="T2" fmla="*/ 103 w 2186"/>
                <a:gd name="T3" fmla="*/ 61 h 64"/>
                <a:gd name="T4" fmla="*/ 330 w 2186"/>
                <a:gd name="T5" fmla="*/ 41 h 64"/>
                <a:gd name="T6" fmla="*/ 628 w 2186"/>
                <a:gd name="T7" fmla="*/ 35 h 64"/>
                <a:gd name="T8" fmla="*/ 993 w 2186"/>
                <a:gd name="T9" fmla="*/ 16 h 64"/>
                <a:gd name="T10" fmla="*/ 1438 w 2186"/>
                <a:gd name="T11" fmla="*/ 13 h 64"/>
                <a:gd name="T12" fmla="*/ 1863 w 2186"/>
                <a:gd name="T13" fmla="*/ 3 h 64"/>
                <a:gd name="T14" fmla="*/ 2186 w 2186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86" h="64">
                  <a:moveTo>
                    <a:pt x="0" y="25"/>
                  </a:moveTo>
                  <a:cubicBezTo>
                    <a:pt x="18" y="31"/>
                    <a:pt x="48" y="58"/>
                    <a:pt x="103" y="61"/>
                  </a:cubicBezTo>
                  <a:cubicBezTo>
                    <a:pt x="158" y="64"/>
                    <a:pt x="243" y="45"/>
                    <a:pt x="330" y="41"/>
                  </a:cubicBezTo>
                  <a:cubicBezTo>
                    <a:pt x="417" y="37"/>
                    <a:pt x="518" y="39"/>
                    <a:pt x="628" y="35"/>
                  </a:cubicBezTo>
                  <a:cubicBezTo>
                    <a:pt x="738" y="31"/>
                    <a:pt x="858" y="20"/>
                    <a:pt x="993" y="16"/>
                  </a:cubicBezTo>
                  <a:cubicBezTo>
                    <a:pt x="1128" y="12"/>
                    <a:pt x="1293" y="15"/>
                    <a:pt x="1438" y="13"/>
                  </a:cubicBezTo>
                  <a:cubicBezTo>
                    <a:pt x="1583" y="11"/>
                    <a:pt x="1738" y="5"/>
                    <a:pt x="1863" y="3"/>
                  </a:cubicBezTo>
                  <a:cubicBezTo>
                    <a:pt x="1988" y="1"/>
                    <a:pt x="2132" y="0"/>
                    <a:pt x="2186" y="0"/>
                  </a:cubicBezTo>
                </a:path>
              </a:pathLst>
            </a:custGeom>
            <a:noFill/>
            <a:ln w="952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</p:grpSp>
      <p:sp>
        <p:nvSpPr>
          <p:cNvPr id="1442872" name="Text Box 56"/>
          <p:cNvSpPr txBox="1">
            <a:spLocks noChangeArrowheads="1"/>
          </p:cNvSpPr>
          <p:nvPr/>
        </p:nvSpPr>
        <p:spPr bwMode="auto">
          <a:xfrm>
            <a:off x="798513" y="2198688"/>
            <a:ext cx="3338512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糯扎渡高心墙堆石坝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rPr>
              <a:t>心墙砾石土料试验结果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+mn-cs"/>
            </a:endParaRPr>
          </a:p>
        </p:txBody>
      </p:sp>
      <p:sp>
        <p:nvSpPr>
          <p:cNvPr id="1442873" name="AutoShape 57"/>
          <p:cNvSpPr>
            <a:spLocks noChangeArrowheads="1"/>
          </p:cNvSpPr>
          <p:nvPr/>
        </p:nvSpPr>
        <p:spPr bwMode="auto">
          <a:xfrm>
            <a:off x="3251200" y="1590675"/>
            <a:ext cx="655638" cy="593725"/>
          </a:xfrm>
          <a:prstGeom prst="rightArrow">
            <a:avLst>
              <a:gd name="adj1" fmla="val 49731"/>
              <a:gd name="adj2" fmla="val 48128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42874" name="Text Box 58"/>
          <p:cNvSpPr txBox="1">
            <a:spLocks noChangeArrowheads="1"/>
          </p:cNvSpPr>
          <p:nvPr/>
        </p:nvSpPr>
        <p:spPr bwMode="auto">
          <a:xfrm>
            <a:off x="1585913" y="3392488"/>
            <a:ext cx="2643187" cy="213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99CC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41325" marR="0" lvl="0" indent="-441325" algn="l" defTabSz="914400" rtl="0" eaLnBrk="1" fontAlgn="base" latinLnBrk="0" hangingPunct="1">
              <a:lnSpc>
                <a:spcPct val="115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20000"/>
              <a:buFontTx/>
              <a:buChar char="•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  <a:sym typeface="Symbol" pitchFamily="18" charset="2"/>
              </a:rPr>
              <a:t>与围压有关</a:t>
            </a:r>
          </a:p>
          <a:p>
            <a:pPr marL="441325" marR="0" lvl="0" indent="-441325" algn="l" defTabSz="914400" rtl="0" eaLnBrk="1" fontAlgn="base" latinLnBrk="0" hangingPunct="1">
              <a:lnSpc>
                <a:spcPct val="115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20000"/>
              <a:buFontTx/>
              <a:buChar char="•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  <a:sym typeface="Symbol" pitchFamily="18" charset="2"/>
              </a:rPr>
              <a:t>非线性</a:t>
            </a:r>
          </a:p>
          <a:p>
            <a:pPr marL="441325" marR="0" lvl="0" indent="-441325" algn="l" defTabSz="914400" rtl="0" eaLnBrk="1" fontAlgn="base" latinLnBrk="0" hangingPunct="1">
              <a:lnSpc>
                <a:spcPct val="115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20000"/>
              <a:buFontTx/>
              <a:buChar char="•"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  <a:sym typeface="Symbol" pitchFamily="18" charset="2"/>
              </a:rPr>
              <a:t>剪切过程产生孔压</a:t>
            </a:r>
          </a:p>
        </p:txBody>
      </p:sp>
      <p:sp>
        <p:nvSpPr>
          <p:cNvPr id="1442875" name="AutoShape 59"/>
          <p:cNvSpPr>
            <a:spLocks noChangeArrowheads="1"/>
          </p:cNvSpPr>
          <p:nvPr/>
        </p:nvSpPr>
        <p:spPr bwMode="auto">
          <a:xfrm>
            <a:off x="811213" y="3802063"/>
            <a:ext cx="560387" cy="457200"/>
          </a:xfrm>
          <a:prstGeom prst="homePlate">
            <a:avLst>
              <a:gd name="adj" fmla="val 3064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1442876" name="Rectangle 60"/>
          <p:cNvSpPr>
            <a:spLocks noChangeArrowheads="1"/>
          </p:cNvSpPr>
          <p:nvPr/>
        </p:nvSpPr>
        <p:spPr bwMode="auto">
          <a:xfrm>
            <a:off x="3108325" y="5880100"/>
            <a:ext cx="42878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固结不排水试验  </a:t>
            </a:r>
          </a:p>
        </p:txBody>
      </p:sp>
      <p:sp>
        <p:nvSpPr>
          <p:cNvPr id="52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54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664263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42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42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144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42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442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442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442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4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42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42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42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2828" grpId="0"/>
      <p:bldP spid="1442872" grpId="0"/>
      <p:bldP spid="1442873" grpId="0" animBg="1"/>
      <p:bldP spid="144287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3" name="Rectangle 13"/>
          <p:cNvSpPr>
            <a:spLocks noChangeArrowheads="1"/>
          </p:cNvSpPr>
          <p:nvPr/>
        </p:nvSpPr>
        <p:spPr bwMode="auto">
          <a:xfrm>
            <a:off x="314325" y="454213"/>
            <a:ext cx="3949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幼圆" pitchFamily="49" charset="-122"/>
                <a:ea typeface="幼圆" pitchFamily="49" charset="-122"/>
                <a:cs typeface="+mn-cs"/>
                <a:sym typeface="Symbol" pitchFamily="18" charset="2"/>
              </a:rPr>
              <a:t> 试验过程：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幼圆" pitchFamily="49" charset="-122"/>
              <a:ea typeface="幼圆" pitchFamily="49" charset="-122"/>
              <a:cs typeface="+mn-cs"/>
              <a:sym typeface="Symbol" pitchFamily="18" charset="2"/>
            </a:endParaRPr>
          </a:p>
        </p:txBody>
      </p:sp>
      <p:sp>
        <p:nvSpPr>
          <p:cNvPr id="1443854" name="Text Box 14"/>
          <p:cNvSpPr txBox="1">
            <a:spLocks noChangeArrowheads="1"/>
          </p:cNvSpPr>
          <p:nvPr/>
        </p:nvSpPr>
        <p:spPr bwMode="auto">
          <a:xfrm>
            <a:off x="547688" y="1101749"/>
            <a:ext cx="3892576" cy="2403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266700" indent="-266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8743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2402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606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9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54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1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68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26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266700" marR="0" lvl="0" indent="-266700" algn="l" defTabSz="914400" rtl="0" eaLnBrk="1" fontAlgn="base" latinLnBrk="0" hangingPunct="1">
              <a:lnSpc>
                <a:spcPct val="11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关闭排水阀门，连接孔压传感器，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施加围压</a:t>
            </a:r>
            <a:r>
              <a:rPr kumimoji="1" lang="zh-CN" altLang="en-US" sz="22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200" b="1" u="none" strike="noStrike" kern="1200" cap="none" spc="0" normalizeH="0" baseline="-2500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kumimoji="1" lang="en-US" altLang="zh-CN" sz="2200" b="1" i="0" u="none" strike="noStrike" kern="1200" cap="none" spc="0" normalizeH="0" baseline="-2500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量测超静孔隙水压力  </a:t>
            </a:r>
            <a:r>
              <a:rPr kumimoji="1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sz="2200" b="1" u="none" strike="noStrike" kern="1200" cap="none" spc="0" normalizeH="0" baseline="-2500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endParaRPr kumimoji="1" lang="en-US" altLang="zh-CN" sz="2200" b="1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266700" marR="0" lvl="0" indent="-266700" algn="l" defTabSz="914400" rtl="0" eaLnBrk="1" fontAlgn="base" latinLnBrk="0" hangingPunct="1">
              <a:lnSpc>
                <a:spcPct val="11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施加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200" b="1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-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200" b="1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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进行剪切时，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关闭排水阀门</a:t>
            </a: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</a:rPr>
              <a:t>。</a:t>
            </a:r>
            <a:r>
              <a:rPr kumimoji="1" lang="zh-CN" alt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量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测剪切过程中产生的超静孔隙水压力 </a:t>
            </a:r>
            <a:r>
              <a:rPr kumimoji="1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sz="2200" b="1" u="none" strike="noStrike" kern="1200" cap="none" spc="0" normalizeH="0" baseline="-25000" noProof="0" dirty="0" err="1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endParaRPr kumimoji="1" lang="zh-CN" altLang="en-US" sz="2200" b="1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1443855" name="Group 15"/>
          <p:cNvGrpSpPr>
            <a:grpSpLocks/>
          </p:cNvGrpSpPr>
          <p:nvPr/>
        </p:nvGrpSpPr>
        <p:grpSpPr bwMode="auto">
          <a:xfrm>
            <a:off x="4560888" y="720725"/>
            <a:ext cx="4433887" cy="4932363"/>
            <a:chOff x="2873" y="454"/>
            <a:chExt cx="2793" cy="3107"/>
          </a:xfrm>
        </p:grpSpPr>
        <p:sp>
          <p:nvSpPr>
            <p:cNvPr id="1443856" name="Rectangle 16"/>
            <p:cNvSpPr>
              <a:spLocks noChangeArrowheads="1"/>
            </p:cNvSpPr>
            <p:nvPr/>
          </p:nvSpPr>
          <p:spPr bwMode="auto">
            <a:xfrm>
              <a:off x="2873" y="454"/>
              <a:ext cx="2793" cy="310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57" name="Rectangle 17"/>
            <p:cNvSpPr>
              <a:spLocks noChangeArrowheads="1"/>
            </p:cNvSpPr>
            <p:nvPr/>
          </p:nvSpPr>
          <p:spPr bwMode="auto">
            <a:xfrm>
              <a:off x="5465" y="1843"/>
              <a:ext cx="70" cy="89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58" name="Rectangle 18"/>
            <p:cNvSpPr>
              <a:spLocks noChangeArrowheads="1"/>
            </p:cNvSpPr>
            <p:nvPr/>
          </p:nvSpPr>
          <p:spPr bwMode="auto">
            <a:xfrm>
              <a:off x="3669" y="1462"/>
              <a:ext cx="979" cy="143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59" name="Rectangle 19" descr="大纸屑"/>
            <p:cNvSpPr>
              <a:spLocks noChangeArrowheads="1"/>
            </p:cNvSpPr>
            <p:nvPr/>
          </p:nvSpPr>
          <p:spPr bwMode="auto">
            <a:xfrm>
              <a:off x="3948" y="2599"/>
              <a:ext cx="425" cy="73"/>
            </a:xfrm>
            <a:prstGeom prst="rect">
              <a:avLst/>
            </a:prstGeom>
            <a:pattFill prst="lgConfetti">
              <a:fgClr>
                <a:schemeClr val="tx2"/>
              </a:fgClr>
              <a:bgClr>
                <a:srgbClr val="FFCC66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60" name="Rectangle 20" descr="浅色上对角线"/>
            <p:cNvSpPr>
              <a:spLocks noChangeArrowheads="1"/>
            </p:cNvSpPr>
            <p:nvPr/>
          </p:nvSpPr>
          <p:spPr bwMode="auto">
            <a:xfrm>
              <a:off x="3939" y="1654"/>
              <a:ext cx="446" cy="145"/>
            </a:xfrm>
            <a:prstGeom prst="rect">
              <a:avLst/>
            </a:prstGeom>
            <a:pattFill prst="ltUpDiag">
              <a:fgClr>
                <a:srgbClr val="5F5F5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pSp>
          <p:nvGrpSpPr>
            <p:cNvPr id="1443861" name="Group 21"/>
            <p:cNvGrpSpPr>
              <a:grpSpLocks/>
            </p:cNvGrpSpPr>
            <p:nvPr/>
          </p:nvGrpSpPr>
          <p:grpSpPr bwMode="auto">
            <a:xfrm>
              <a:off x="3933" y="1696"/>
              <a:ext cx="452" cy="1025"/>
              <a:chOff x="3374" y="2353"/>
              <a:chExt cx="452" cy="1025"/>
            </a:xfrm>
          </p:grpSpPr>
          <p:sp>
            <p:nvSpPr>
              <p:cNvPr id="1443862" name="Line 22"/>
              <p:cNvSpPr>
                <a:spLocks noChangeShapeType="1"/>
              </p:cNvSpPr>
              <p:nvPr/>
            </p:nvSpPr>
            <p:spPr bwMode="auto">
              <a:xfrm>
                <a:off x="3374" y="2359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3863" name="Line 23"/>
              <p:cNvSpPr>
                <a:spLocks noChangeShapeType="1"/>
              </p:cNvSpPr>
              <p:nvPr/>
            </p:nvSpPr>
            <p:spPr bwMode="auto">
              <a:xfrm>
                <a:off x="3826" y="2353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</p:grpSp>
        <p:grpSp>
          <p:nvGrpSpPr>
            <p:cNvPr id="1443864" name="Group 24"/>
            <p:cNvGrpSpPr>
              <a:grpSpLocks/>
            </p:cNvGrpSpPr>
            <p:nvPr/>
          </p:nvGrpSpPr>
          <p:grpSpPr bwMode="auto">
            <a:xfrm>
              <a:off x="3880" y="1714"/>
              <a:ext cx="549" cy="1001"/>
              <a:chOff x="3321" y="2371"/>
              <a:chExt cx="549" cy="1001"/>
            </a:xfrm>
          </p:grpSpPr>
          <p:sp>
            <p:nvSpPr>
              <p:cNvPr id="1443865" name="Oval 25"/>
              <p:cNvSpPr>
                <a:spLocks noChangeArrowheads="1"/>
              </p:cNvSpPr>
              <p:nvPr/>
            </p:nvSpPr>
            <p:spPr bwMode="auto">
              <a:xfrm>
                <a:off x="3330" y="2383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3866" name="Oval 26"/>
              <p:cNvSpPr>
                <a:spLocks noChangeArrowheads="1"/>
              </p:cNvSpPr>
              <p:nvPr/>
            </p:nvSpPr>
            <p:spPr bwMode="auto">
              <a:xfrm>
                <a:off x="3832" y="3329"/>
                <a:ext cx="36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3867" name="Oval 27"/>
              <p:cNvSpPr>
                <a:spLocks noChangeArrowheads="1"/>
              </p:cNvSpPr>
              <p:nvPr/>
            </p:nvSpPr>
            <p:spPr bwMode="auto">
              <a:xfrm>
                <a:off x="3321" y="3335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3868" name="Oval 28"/>
              <p:cNvSpPr>
                <a:spLocks noChangeArrowheads="1"/>
              </p:cNvSpPr>
              <p:nvPr/>
            </p:nvSpPr>
            <p:spPr bwMode="auto">
              <a:xfrm>
                <a:off x="3835" y="2371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7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endParaRPr>
              </a:p>
            </p:txBody>
          </p:sp>
        </p:grpSp>
        <p:grpSp>
          <p:nvGrpSpPr>
            <p:cNvPr id="1443869" name="Group 29"/>
            <p:cNvGrpSpPr>
              <a:grpSpLocks/>
            </p:cNvGrpSpPr>
            <p:nvPr/>
          </p:nvGrpSpPr>
          <p:grpSpPr bwMode="auto">
            <a:xfrm>
              <a:off x="3587" y="2672"/>
              <a:ext cx="1135" cy="400"/>
              <a:chOff x="3028" y="3329"/>
              <a:chExt cx="1135" cy="400"/>
            </a:xfrm>
          </p:grpSpPr>
          <p:sp>
            <p:nvSpPr>
              <p:cNvPr id="1443870" name="Rectangle 30"/>
              <p:cNvSpPr>
                <a:spLocks noChangeArrowheads="1"/>
              </p:cNvSpPr>
              <p:nvPr/>
            </p:nvSpPr>
            <p:spPr bwMode="auto">
              <a:xfrm>
                <a:off x="3389" y="3329"/>
                <a:ext cx="425" cy="218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3871" name="Rectangle 31"/>
              <p:cNvSpPr>
                <a:spLocks noChangeArrowheads="1"/>
              </p:cNvSpPr>
              <p:nvPr/>
            </p:nvSpPr>
            <p:spPr bwMode="auto">
              <a:xfrm>
                <a:off x="3028" y="3547"/>
                <a:ext cx="1135" cy="182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</p:grpSp>
        <p:sp>
          <p:nvSpPr>
            <p:cNvPr id="1443872" name="Line 32" descr="30%"/>
            <p:cNvSpPr>
              <a:spLocks noChangeShapeType="1"/>
            </p:cNvSpPr>
            <p:nvPr/>
          </p:nvSpPr>
          <p:spPr bwMode="auto">
            <a:xfrm>
              <a:off x="3662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73" name="Line 33" descr="30%"/>
            <p:cNvSpPr>
              <a:spLocks noChangeShapeType="1"/>
            </p:cNvSpPr>
            <p:nvPr/>
          </p:nvSpPr>
          <p:spPr bwMode="auto">
            <a:xfrm>
              <a:off x="4655" y="1472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74" name="Rectangle 34"/>
            <p:cNvSpPr>
              <a:spLocks noChangeArrowheads="1"/>
            </p:cNvSpPr>
            <p:nvPr/>
          </p:nvSpPr>
          <p:spPr bwMode="auto">
            <a:xfrm>
              <a:off x="3455" y="1369"/>
              <a:ext cx="639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75" name="Rectangle 35"/>
            <p:cNvSpPr>
              <a:spLocks noChangeArrowheads="1"/>
            </p:cNvSpPr>
            <p:nvPr/>
          </p:nvSpPr>
          <p:spPr bwMode="auto">
            <a:xfrm>
              <a:off x="4224" y="1369"/>
              <a:ext cx="638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76" name="Rectangle 36" descr="浅色竖线"/>
            <p:cNvSpPr>
              <a:spLocks noChangeArrowheads="1"/>
            </p:cNvSpPr>
            <p:nvPr/>
          </p:nvSpPr>
          <p:spPr bwMode="auto">
            <a:xfrm>
              <a:off x="4097" y="1158"/>
              <a:ext cx="126" cy="496"/>
            </a:xfrm>
            <a:custGeom>
              <a:avLst/>
              <a:gdLst>
                <a:gd name="connsiteX0" fmla="*/ 0 w 200025"/>
                <a:gd name="connsiteY0" fmla="*/ 0 h 771525"/>
                <a:gd name="connsiteX1" fmla="*/ 200025 w 200025"/>
                <a:gd name="connsiteY1" fmla="*/ 0 h 771525"/>
                <a:gd name="connsiteX2" fmla="*/ 200025 w 200025"/>
                <a:gd name="connsiteY2" fmla="*/ 771525 h 771525"/>
                <a:gd name="connsiteX3" fmla="*/ 0 w 200025"/>
                <a:gd name="connsiteY3" fmla="*/ 771525 h 771525"/>
                <a:gd name="connsiteX4" fmla="*/ 0 w 200025"/>
                <a:gd name="connsiteY4" fmla="*/ 0 h 771525"/>
                <a:gd name="connsiteX0" fmla="*/ 0 w 200025"/>
                <a:gd name="connsiteY0" fmla="*/ 0 h 786996"/>
                <a:gd name="connsiteX1" fmla="*/ 200025 w 200025"/>
                <a:gd name="connsiteY1" fmla="*/ 0 h 786996"/>
                <a:gd name="connsiteX2" fmla="*/ 200025 w 200025"/>
                <a:gd name="connsiteY2" fmla="*/ 771525 h 786996"/>
                <a:gd name="connsiteX3" fmla="*/ 97663 w 200025"/>
                <a:gd name="connsiteY3" fmla="*/ 786996 h 786996"/>
                <a:gd name="connsiteX4" fmla="*/ 0 w 200025"/>
                <a:gd name="connsiteY4" fmla="*/ 771525 h 786996"/>
                <a:gd name="connsiteX5" fmla="*/ 0 w 200025"/>
                <a:gd name="connsiteY5" fmla="*/ 0 h 786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025" h="786996">
                  <a:moveTo>
                    <a:pt x="0" y="0"/>
                  </a:moveTo>
                  <a:lnTo>
                    <a:pt x="200025" y="0"/>
                  </a:lnTo>
                  <a:lnTo>
                    <a:pt x="200025" y="771525"/>
                  </a:lnTo>
                  <a:cubicBezTo>
                    <a:pt x="165904" y="771397"/>
                    <a:pt x="131784" y="787124"/>
                    <a:pt x="97663" y="786996"/>
                  </a:cubicBezTo>
                  <a:lnTo>
                    <a:pt x="0" y="771525"/>
                  </a:lnTo>
                  <a:lnTo>
                    <a:pt x="0" y="0"/>
                  </a:lnTo>
                  <a:close/>
                </a:path>
              </a:pathLst>
            </a:custGeom>
            <a:pattFill prst="ltVert">
              <a:fgClr>
                <a:srgbClr val="4D4D4D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pSp>
          <p:nvGrpSpPr>
            <p:cNvPr id="1443877" name="Group 37"/>
            <p:cNvGrpSpPr>
              <a:grpSpLocks/>
            </p:cNvGrpSpPr>
            <p:nvPr/>
          </p:nvGrpSpPr>
          <p:grpSpPr bwMode="auto">
            <a:xfrm>
              <a:off x="3942" y="1799"/>
              <a:ext cx="434" cy="800"/>
              <a:chOff x="3383" y="2456"/>
              <a:chExt cx="434" cy="800"/>
            </a:xfrm>
          </p:grpSpPr>
          <p:sp>
            <p:nvSpPr>
              <p:cNvPr id="1443878" name="Rectangle 38"/>
              <p:cNvSpPr>
                <a:spLocks noChangeArrowheads="1"/>
              </p:cNvSpPr>
              <p:nvPr/>
            </p:nvSpPr>
            <p:spPr bwMode="auto">
              <a:xfrm>
                <a:off x="3383" y="2456"/>
                <a:ext cx="434" cy="800"/>
              </a:xfrm>
              <a:prstGeom prst="rect">
                <a:avLst/>
              </a:prstGeom>
              <a:solidFill>
                <a:srgbClr val="996633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3879" name="Text Box 39"/>
              <p:cNvSpPr txBox="1">
                <a:spLocks noChangeArrowheads="1"/>
              </p:cNvSpPr>
              <p:nvPr/>
            </p:nvSpPr>
            <p:spPr bwMode="auto">
              <a:xfrm>
                <a:off x="3436" y="2602"/>
                <a:ext cx="308" cy="472"/>
              </a:xfrm>
              <a:prstGeom prst="rect">
                <a:avLst/>
              </a:prstGeom>
              <a:solidFill>
                <a:srgbClr val="9966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66"/>
                    </a:solidFill>
                    <a:effectLst/>
                    <a:uLnTx/>
                    <a:uFillTx/>
                    <a:latin typeface="Times New Roman" pitchFamily="18" charset="0"/>
                    <a:ea typeface="幼圆" pitchFamily="49" charset="-122"/>
                    <a:cs typeface="+mn-cs"/>
                    <a:sym typeface="Symbol" pitchFamily="18" charset="2"/>
                  </a:rPr>
                  <a:t>试样</a:t>
                </a:r>
              </a:p>
            </p:txBody>
          </p:sp>
        </p:grpSp>
        <p:sp>
          <p:nvSpPr>
            <p:cNvPr id="1443880" name="Text Box 40"/>
            <p:cNvSpPr txBox="1">
              <a:spLocks noChangeArrowheads="1"/>
            </p:cNvSpPr>
            <p:nvPr/>
          </p:nvSpPr>
          <p:spPr bwMode="auto">
            <a:xfrm>
              <a:off x="2923" y="2264"/>
              <a:ext cx="67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围压</a:t>
              </a:r>
              <a:b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</a:b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力</a:t>
              </a:r>
              <a:r>
                <a:rPr kumimoji="0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3</a:t>
              </a:r>
              <a:endPara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endParaRPr>
            </a:p>
          </p:txBody>
        </p:sp>
        <p:sp>
          <p:nvSpPr>
            <p:cNvPr id="1443881" name="Text Box 41"/>
            <p:cNvSpPr txBox="1">
              <a:spLocks noChangeArrowheads="1"/>
            </p:cNvSpPr>
            <p:nvPr/>
          </p:nvSpPr>
          <p:spPr bwMode="auto">
            <a:xfrm>
              <a:off x="5014" y="3034"/>
              <a:ext cx="514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阀门</a:t>
              </a:r>
            </a:p>
          </p:txBody>
        </p:sp>
        <p:sp>
          <p:nvSpPr>
            <p:cNvPr id="1443882" name="Text Box 42"/>
            <p:cNvSpPr txBox="1">
              <a:spLocks noChangeArrowheads="1"/>
            </p:cNvSpPr>
            <p:nvPr/>
          </p:nvSpPr>
          <p:spPr bwMode="auto">
            <a:xfrm>
              <a:off x="3024" y="3043"/>
              <a:ext cx="514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阀门</a:t>
              </a:r>
            </a:p>
          </p:txBody>
        </p:sp>
        <p:sp>
          <p:nvSpPr>
            <p:cNvPr id="1443883" name="Freeform 43"/>
            <p:cNvSpPr>
              <a:spLocks/>
            </p:cNvSpPr>
            <p:nvPr/>
          </p:nvSpPr>
          <p:spPr bwMode="auto">
            <a:xfrm>
              <a:off x="2906" y="2882"/>
              <a:ext cx="888" cy="61"/>
            </a:xfrm>
            <a:custGeom>
              <a:avLst/>
              <a:gdLst>
                <a:gd name="T0" fmla="*/ 1253 w 1253"/>
                <a:gd name="T1" fmla="*/ 0 h 67"/>
                <a:gd name="T2" fmla="*/ 1253 w 1253"/>
                <a:gd name="T3" fmla="*/ 67 h 67"/>
                <a:gd name="T4" fmla="*/ 0 w 1253"/>
                <a:gd name="T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53" h="67">
                  <a:moveTo>
                    <a:pt x="1253" y="0"/>
                  </a:moveTo>
                  <a:lnTo>
                    <a:pt x="1253" y="67"/>
                  </a:lnTo>
                  <a:lnTo>
                    <a:pt x="0" y="67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84" name="AutoShape 44"/>
            <p:cNvSpPr>
              <a:spLocks noChangeArrowheads="1"/>
            </p:cNvSpPr>
            <p:nvPr/>
          </p:nvSpPr>
          <p:spPr bwMode="auto">
            <a:xfrm>
              <a:off x="3212" y="2874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85" name="Freeform 45"/>
            <p:cNvSpPr>
              <a:spLocks/>
            </p:cNvSpPr>
            <p:nvPr/>
          </p:nvSpPr>
          <p:spPr bwMode="auto">
            <a:xfrm>
              <a:off x="4240" y="2671"/>
              <a:ext cx="1258" cy="273"/>
            </a:xfrm>
            <a:custGeom>
              <a:avLst/>
              <a:gdLst>
                <a:gd name="T0" fmla="*/ 0 w 1257"/>
                <a:gd name="T1" fmla="*/ 0 h 302"/>
                <a:gd name="T2" fmla="*/ 0 w 1257"/>
                <a:gd name="T3" fmla="*/ 298 h 302"/>
                <a:gd name="T4" fmla="*/ 1257 w 1257"/>
                <a:gd name="T5" fmla="*/ 302 h 302"/>
                <a:gd name="T6" fmla="*/ 1257 w 1257"/>
                <a:gd name="T7" fmla="*/ 65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7" h="302">
                  <a:moveTo>
                    <a:pt x="0" y="0"/>
                  </a:moveTo>
                  <a:lnTo>
                    <a:pt x="0" y="298"/>
                  </a:lnTo>
                  <a:lnTo>
                    <a:pt x="1257" y="302"/>
                  </a:lnTo>
                  <a:lnTo>
                    <a:pt x="1257" y="65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86" name="AutoShape 46"/>
            <p:cNvSpPr>
              <a:spLocks noChangeArrowheads="1"/>
            </p:cNvSpPr>
            <p:nvPr/>
          </p:nvSpPr>
          <p:spPr bwMode="auto">
            <a:xfrm>
              <a:off x="5159" y="2863"/>
              <a:ext cx="142" cy="146"/>
            </a:xfrm>
            <a:prstGeom prst="flowChartSummingJunction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87" name="Oval 47"/>
            <p:cNvSpPr>
              <a:spLocks noChangeArrowheads="1"/>
            </p:cNvSpPr>
            <p:nvPr/>
          </p:nvSpPr>
          <p:spPr bwMode="auto">
            <a:xfrm>
              <a:off x="3935" y="746"/>
              <a:ext cx="442" cy="455"/>
            </a:xfrm>
            <a:prstGeom prst="ellipse">
              <a:avLst/>
            </a:prstGeom>
            <a:solidFill>
              <a:srgbClr val="CCECFF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pSp>
          <p:nvGrpSpPr>
            <p:cNvPr id="1443888" name="Group 48"/>
            <p:cNvGrpSpPr>
              <a:grpSpLocks/>
            </p:cNvGrpSpPr>
            <p:nvPr/>
          </p:nvGrpSpPr>
          <p:grpSpPr bwMode="auto">
            <a:xfrm>
              <a:off x="4060" y="745"/>
              <a:ext cx="192" cy="340"/>
              <a:chOff x="371" y="1926"/>
              <a:chExt cx="192" cy="340"/>
            </a:xfrm>
          </p:grpSpPr>
          <p:sp>
            <p:nvSpPr>
              <p:cNvPr id="1443889" name="Line 49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3890" name="Oval 50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3891" name="Line 51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</p:grpSp>
        <p:sp>
          <p:nvSpPr>
            <p:cNvPr id="1443892" name="Line 52"/>
            <p:cNvSpPr>
              <a:spLocks noChangeShapeType="1"/>
            </p:cNvSpPr>
            <p:nvPr/>
          </p:nvSpPr>
          <p:spPr bwMode="auto">
            <a:xfrm>
              <a:off x="4122" y="1083"/>
              <a:ext cx="6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93" name="Line 53"/>
            <p:cNvSpPr>
              <a:spLocks noChangeShapeType="1"/>
            </p:cNvSpPr>
            <p:nvPr/>
          </p:nvSpPr>
          <p:spPr bwMode="auto">
            <a:xfrm>
              <a:off x="4154" y="1083"/>
              <a:ext cx="0" cy="1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94" name="Rectangle 54"/>
            <p:cNvSpPr>
              <a:spLocks noChangeArrowheads="1"/>
            </p:cNvSpPr>
            <p:nvPr/>
          </p:nvSpPr>
          <p:spPr bwMode="auto">
            <a:xfrm>
              <a:off x="4094" y="675"/>
              <a:ext cx="135" cy="6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895" name="Line 55"/>
            <p:cNvSpPr>
              <a:spLocks noChangeShapeType="1"/>
            </p:cNvSpPr>
            <p:nvPr/>
          </p:nvSpPr>
          <p:spPr bwMode="auto">
            <a:xfrm flipH="1">
              <a:off x="3803" y="1217"/>
              <a:ext cx="3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grpSp>
          <p:nvGrpSpPr>
            <p:cNvPr id="1443896" name="Group 56"/>
            <p:cNvGrpSpPr>
              <a:grpSpLocks/>
            </p:cNvGrpSpPr>
            <p:nvPr/>
          </p:nvGrpSpPr>
          <p:grpSpPr bwMode="auto">
            <a:xfrm>
              <a:off x="3695" y="1037"/>
              <a:ext cx="192" cy="340"/>
              <a:chOff x="371" y="1926"/>
              <a:chExt cx="192" cy="340"/>
            </a:xfrm>
          </p:grpSpPr>
          <p:sp>
            <p:nvSpPr>
              <p:cNvPr id="1443897" name="Line 57"/>
              <p:cNvSpPr>
                <a:spLocks noChangeShapeType="1"/>
              </p:cNvSpPr>
              <p:nvPr/>
            </p:nvSpPr>
            <p:spPr bwMode="auto">
              <a:xfrm>
                <a:off x="467" y="1926"/>
                <a:ext cx="0" cy="340"/>
              </a:xfrm>
              <a:prstGeom prst="line">
                <a:avLst/>
              </a:prstGeom>
              <a:noFill/>
              <a:ln w="2857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3898" name="Oval 58"/>
              <p:cNvSpPr>
                <a:spLocks noChangeArrowheads="1"/>
              </p:cNvSpPr>
              <p:nvPr/>
            </p:nvSpPr>
            <p:spPr bwMode="auto">
              <a:xfrm>
                <a:off x="371" y="1984"/>
                <a:ext cx="192" cy="19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9933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  <p:sp>
            <p:nvSpPr>
              <p:cNvPr id="1443899" name="Line 59"/>
              <p:cNvSpPr>
                <a:spLocks noChangeShapeType="1"/>
              </p:cNvSpPr>
              <p:nvPr/>
            </p:nvSpPr>
            <p:spPr bwMode="auto">
              <a:xfrm flipV="1">
                <a:off x="473" y="2025"/>
                <a:ext cx="65" cy="56"/>
              </a:xfrm>
              <a:prstGeom prst="line">
                <a:avLst/>
              </a:prstGeom>
              <a:noFill/>
              <a:ln w="9525">
                <a:solidFill>
                  <a:srgbClr val="993300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charset="-122"/>
                  <a:cs typeface="+mn-cs"/>
                </a:endParaRPr>
              </a:p>
            </p:txBody>
          </p:sp>
        </p:grpSp>
        <p:sp>
          <p:nvSpPr>
            <p:cNvPr id="1443900" name="Rectangle 60"/>
            <p:cNvSpPr>
              <a:spLocks noChangeArrowheads="1"/>
            </p:cNvSpPr>
            <p:nvPr/>
          </p:nvSpPr>
          <p:spPr bwMode="auto">
            <a:xfrm>
              <a:off x="4091" y="1195"/>
              <a:ext cx="135" cy="4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901" name="Rectangle 61"/>
            <p:cNvSpPr>
              <a:spLocks noChangeArrowheads="1"/>
            </p:cNvSpPr>
            <p:nvPr/>
          </p:nvSpPr>
          <p:spPr bwMode="auto">
            <a:xfrm>
              <a:off x="3765" y="3072"/>
              <a:ext cx="818" cy="89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902" name="Rectangle 62"/>
            <p:cNvSpPr>
              <a:spLocks noChangeArrowheads="1"/>
            </p:cNvSpPr>
            <p:nvPr/>
          </p:nvSpPr>
          <p:spPr bwMode="auto">
            <a:xfrm>
              <a:off x="3876" y="3161"/>
              <a:ext cx="600" cy="25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903" name="Text Box 63"/>
            <p:cNvSpPr txBox="1">
              <a:spLocks noChangeArrowheads="1"/>
            </p:cNvSpPr>
            <p:nvPr/>
          </p:nvSpPr>
          <p:spPr bwMode="auto">
            <a:xfrm>
              <a:off x="3919" y="3125"/>
              <a:ext cx="5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马达</a:t>
              </a:r>
            </a:p>
          </p:txBody>
        </p:sp>
        <p:sp>
          <p:nvSpPr>
            <p:cNvPr id="1443904" name="Rectangle 64"/>
            <p:cNvSpPr>
              <a:spLocks noChangeArrowheads="1"/>
            </p:cNvSpPr>
            <p:nvPr/>
          </p:nvSpPr>
          <p:spPr bwMode="auto">
            <a:xfrm>
              <a:off x="3470" y="530"/>
              <a:ext cx="1300" cy="186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905" name="Text Box 65"/>
            <p:cNvSpPr txBox="1">
              <a:spLocks noChangeArrowheads="1"/>
            </p:cNvSpPr>
            <p:nvPr/>
          </p:nvSpPr>
          <p:spPr bwMode="auto">
            <a:xfrm>
              <a:off x="4888" y="485"/>
              <a:ext cx="5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横梁</a:t>
              </a:r>
            </a:p>
          </p:txBody>
        </p:sp>
        <p:sp>
          <p:nvSpPr>
            <p:cNvPr id="1443906" name="Line 66"/>
            <p:cNvSpPr>
              <a:spLocks noChangeShapeType="1"/>
            </p:cNvSpPr>
            <p:nvPr/>
          </p:nvSpPr>
          <p:spPr bwMode="auto">
            <a:xfrm>
              <a:off x="4635" y="620"/>
              <a:ext cx="256" cy="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907" name="Text Box 67"/>
            <p:cNvSpPr txBox="1">
              <a:spLocks noChangeArrowheads="1"/>
            </p:cNvSpPr>
            <p:nvPr/>
          </p:nvSpPr>
          <p:spPr bwMode="auto">
            <a:xfrm>
              <a:off x="4474" y="812"/>
              <a:ext cx="7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量力环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endParaRPr>
            </a:p>
          </p:txBody>
        </p:sp>
        <p:sp>
          <p:nvSpPr>
            <p:cNvPr id="1443908" name="Line 68"/>
            <p:cNvSpPr>
              <a:spLocks noChangeShapeType="1"/>
            </p:cNvSpPr>
            <p:nvPr/>
          </p:nvSpPr>
          <p:spPr bwMode="auto">
            <a:xfrm flipH="1">
              <a:off x="4327" y="1018"/>
              <a:ext cx="204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909" name="Text Box 69"/>
            <p:cNvSpPr txBox="1">
              <a:spLocks noChangeArrowheads="1"/>
            </p:cNvSpPr>
            <p:nvPr/>
          </p:nvSpPr>
          <p:spPr bwMode="auto">
            <a:xfrm>
              <a:off x="2934" y="776"/>
              <a:ext cx="7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百分表</a:t>
              </a:r>
            </a:p>
          </p:txBody>
        </p:sp>
        <p:sp>
          <p:nvSpPr>
            <p:cNvPr id="1443910" name="Line 70"/>
            <p:cNvSpPr>
              <a:spLocks noChangeShapeType="1"/>
            </p:cNvSpPr>
            <p:nvPr/>
          </p:nvSpPr>
          <p:spPr bwMode="auto">
            <a:xfrm flipH="1" flipV="1">
              <a:off x="3576" y="1076"/>
              <a:ext cx="138" cy="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911" name="Freeform 71"/>
            <p:cNvSpPr>
              <a:spLocks/>
            </p:cNvSpPr>
            <p:nvPr/>
          </p:nvSpPr>
          <p:spPr bwMode="auto">
            <a:xfrm>
              <a:off x="5462" y="1536"/>
              <a:ext cx="70" cy="1206"/>
            </a:xfrm>
            <a:custGeom>
              <a:avLst/>
              <a:gdLst>
                <a:gd name="T0" fmla="*/ 0 w 89"/>
                <a:gd name="T1" fmla="*/ 0 h 1206"/>
                <a:gd name="T2" fmla="*/ 0 w 89"/>
                <a:gd name="T3" fmla="*/ 1206 h 1206"/>
                <a:gd name="T4" fmla="*/ 89 w 89"/>
                <a:gd name="T5" fmla="*/ 1206 h 1206"/>
                <a:gd name="T6" fmla="*/ 89 w 89"/>
                <a:gd name="T7" fmla="*/ 0 h 1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" h="1206">
                  <a:moveTo>
                    <a:pt x="0" y="0"/>
                  </a:moveTo>
                  <a:lnTo>
                    <a:pt x="0" y="1206"/>
                  </a:lnTo>
                  <a:lnTo>
                    <a:pt x="89" y="1206"/>
                  </a:lnTo>
                  <a:lnTo>
                    <a:pt x="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912" name="Text Box 72"/>
            <p:cNvSpPr txBox="1">
              <a:spLocks noChangeArrowheads="1"/>
            </p:cNvSpPr>
            <p:nvPr/>
          </p:nvSpPr>
          <p:spPr bwMode="auto">
            <a:xfrm>
              <a:off x="5150" y="1225"/>
              <a:ext cx="327" cy="6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  <a:sym typeface="Symbol" pitchFamily="18" charset="2"/>
                </a:rPr>
                <a:t>量水管</a:t>
              </a:r>
            </a:p>
          </p:txBody>
        </p:sp>
        <p:sp>
          <p:nvSpPr>
            <p:cNvPr id="1443913" name="Rectangle 73"/>
            <p:cNvSpPr>
              <a:spLocks noChangeArrowheads="1"/>
            </p:cNvSpPr>
            <p:nvPr/>
          </p:nvSpPr>
          <p:spPr bwMode="auto">
            <a:xfrm>
              <a:off x="4898" y="2874"/>
              <a:ext cx="144" cy="1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914" name="Oval 74"/>
            <p:cNvSpPr>
              <a:spLocks noChangeArrowheads="1"/>
            </p:cNvSpPr>
            <p:nvPr/>
          </p:nvSpPr>
          <p:spPr bwMode="auto">
            <a:xfrm>
              <a:off x="4936" y="2904"/>
              <a:ext cx="72" cy="7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pic>
          <p:nvPicPr>
            <p:cNvPr id="1443915" name="Picture 75" descr="Graphic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9" y="2291"/>
              <a:ext cx="431" cy="3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43916" name="Freeform 76"/>
            <p:cNvSpPr>
              <a:spLocks/>
            </p:cNvSpPr>
            <p:nvPr/>
          </p:nvSpPr>
          <p:spPr bwMode="auto">
            <a:xfrm>
              <a:off x="4958" y="2602"/>
              <a:ext cx="171" cy="272"/>
            </a:xfrm>
            <a:custGeom>
              <a:avLst/>
              <a:gdLst>
                <a:gd name="T0" fmla="*/ 0 w 171"/>
                <a:gd name="T1" fmla="*/ 272 h 272"/>
                <a:gd name="T2" fmla="*/ 6 w 171"/>
                <a:gd name="T3" fmla="*/ 243 h 272"/>
                <a:gd name="T4" fmla="*/ 89 w 171"/>
                <a:gd name="T5" fmla="*/ 166 h 272"/>
                <a:gd name="T6" fmla="*/ 112 w 171"/>
                <a:gd name="T7" fmla="*/ 198 h 272"/>
                <a:gd name="T8" fmla="*/ 102 w 171"/>
                <a:gd name="T9" fmla="*/ 217 h 272"/>
                <a:gd name="T10" fmla="*/ 83 w 171"/>
                <a:gd name="T11" fmla="*/ 230 h 272"/>
                <a:gd name="T12" fmla="*/ 54 w 171"/>
                <a:gd name="T13" fmla="*/ 217 h 272"/>
                <a:gd name="T14" fmla="*/ 41 w 171"/>
                <a:gd name="T15" fmla="*/ 188 h 272"/>
                <a:gd name="T16" fmla="*/ 76 w 171"/>
                <a:gd name="T17" fmla="*/ 115 h 272"/>
                <a:gd name="T18" fmla="*/ 166 w 171"/>
                <a:gd name="T19" fmla="*/ 86 h 272"/>
                <a:gd name="T20" fmla="*/ 150 w 171"/>
                <a:gd name="T21" fmla="*/ 115 h 272"/>
                <a:gd name="T22" fmla="*/ 92 w 171"/>
                <a:gd name="T23" fmla="*/ 124 h 272"/>
                <a:gd name="T24" fmla="*/ 89 w 171"/>
                <a:gd name="T25" fmla="*/ 115 h 272"/>
                <a:gd name="T26" fmla="*/ 80 w 171"/>
                <a:gd name="T27" fmla="*/ 108 h 272"/>
                <a:gd name="T28" fmla="*/ 73 w 171"/>
                <a:gd name="T29" fmla="*/ 83 h 272"/>
                <a:gd name="T30" fmla="*/ 89 w 171"/>
                <a:gd name="T31" fmla="*/ 35 h 272"/>
                <a:gd name="T32" fmla="*/ 131 w 171"/>
                <a:gd name="T33" fmla="*/ 9 h 272"/>
                <a:gd name="T34" fmla="*/ 156 w 171"/>
                <a:gd name="T35" fmla="*/ 3 h 272"/>
                <a:gd name="T36" fmla="*/ 169 w 171"/>
                <a:gd name="T37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272">
                  <a:moveTo>
                    <a:pt x="0" y="272"/>
                  </a:moveTo>
                  <a:cubicBezTo>
                    <a:pt x="3" y="263"/>
                    <a:pt x="3" y="252"/>
                    <a:pt x="6" y="243"/>
                  </a:cubicBezTo>
                  <a:cubicBezTo>
                    <a:pt x="18" y="209"/>
                    <a:pt x="56" y="177"/>
                    <a:pt x="89" y="166"/>
                  </a:cubicBezTo>
                  <a:cubicBezTo>
                    <a:pt x="113" y="170"/>
                    <a:pt x="118" y="172"/>
                    <a:pt x="112" y="198"/>
                  </a:cubicBezTo>
                  <a:cubicBezTo>
                    <a:pt x="111" y="203"/>
                    <a:pt x="106" y="214"/>
                    <a:pt x="102" y="217"/>
                  </a:cubicBezTo>
                  <a:cubicBezTo>
                    <a:pt x="96" y="222"/>
                    <a:pt x="83" y="230"/>
                    <a:pt x="83" y="230"/>
                  </a:cubicBezTo>
                  <a:cubicBezTo>
                    <a:pt x="69" y="227"/>
                    <a:pt x="67" y="221"/>
                    <a:pt x="54" y="217"/>
                  </a:cubicBezTo>
                  <a:cubicBezTo>
                    <a:pt x="50" y="206"/>
                    <a:pt x="44" y="199"/>
                    <a:pt x="41" y="188"/>
                  </a:cubicBezTo>
                  <a:cubicBezTo>
                    <a:pt x="46" y="146"/>
                    <a:pt x="30" y="130"/>
                    <a:pt x="76" y="115"/>
                  </a:cubicBezTo>
                  <a:cubicBezTo>
                    <a:pt x="97" y="94"/>
                    <a:pt x="139" y="89"/>
                    <a:pt x="166" y="86"/>
                  </a:cubicBezTo>
                  <a:cubicBezTo>
                    <a:pt x="171" y="102"/>
                    <a:pt x="166" y="110"/>
                    <a:pt x="150" y="115"/>
                  </a:cubicBezTo>
                  <a:cubicBezTo>
                    <a:pt x="129" y="134"/>
                    <a:pt x="127" y="128"/>
                    <a:pt x="92" y="124"/>
                  </a:cubicBezTo>
                  <a:cubicBezTo>
                    <a:pt x="91" y="121"/>
                    <a:pt x="91" y="118"/>
                    <a:pt x="89" y="115"/>
                  </a:cubicBezTo>
                  <a:cubicBezTo>
                    <a:pt x="87" y="112"/>
                    <a:pt x="82" y="111"/>
                    <a:pt x="80" y="108"/>
                  </a:cubicBezTo>
                  <a:cubicBezTo>
                    <a:pt x="76" y="100"/>
                    <a:pt x="76" y="91"/>
                    <a:pt x="73" y="83"/>
                  </a:cubicBezTo>
                  <a:cubicBezTo>
                    <a:pt x="76" y="66"/>
                    <a:pt x="79" y="50"/>
                    <a:pt x="89" y="35"/>
                  </a:cubicBezTo>
                  <a:cubicBezTo>
                    <a:pt x="97" y="9"/>
                    <a:pt x="103" y="14"/>
                    <a:pt x="131" y="9"/>
                  </a:cubicBezTo>
                  <a:cubicBezTo>
                    <a:pt x="139" y="8"/>
                    <a:pt x="148" y="5"/>
                    <a:pt x="156" y="3"/>
                  </a:cubicBezTo>
                  <a:cubicBezTo>
                    <a:pt x="160" y="2"/>
                    <a:pt x="169" y="0"/>
                    <a:pt x="169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  <p:sp>
          <p:nvSpPr>
            <p:cNvPr id="1443917" name="Text Box 77"/>
            <p:cNvSpPr txBox="1">
              <a:spLocks noChangeArrowheads="1"/>
            </p:cNvSpPr>
            <p:nvPr/>
          </p:nvSpPr>
          <p:spPr bwMode="auto">
            <a:xfrm>
              <a:off x="4717" y="1787"/>
              <a:ext cx="528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孔压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幼圆" pitchFamily="49" charset="-122"/>
                  <a:cs typeface="+mn-cs"/>
                </a:rPr>
                <a:t>量测</a:t>
              </a:r>
              <a:endParaRPr kumimoji="0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</a:endParaRPr>
            </a:p>
          </p:txBody>
        </p:sp>
        <p:sp>
          <p:nvSpPr>
            <p:cNvPr id="1443918" name="Line 78"/>
            <p:cNvSpPr>
              <a:spLocks noChangeShapeType="1"/>
            </p:cNvSpPr>
            <p:nvPr/>
          </p:nvSpPr>
          <p:spPr bwMode="auto">
            <a:xfrm flipH="1" flipV="1">
              <a:off x="4877" y="2291"/>
              <a:ext cx="70" cy="4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endParaRPr>
            </a:p>
          </p:txBody>
        </p:sp>
      </p:grpSp>
      <p:sp>
        <p:nvSpPr>
          <p:cNvPr id="1443919" name="Rectangle 79"/>
          <p:cNvSpPr>
            <a:spLocks noChangeArrowheads="1"/>
          </p:cNvSpPr>
          <p:nvPr/>
        </p:nvSpPr>
        <p:spPr bwMode="auto">
          <a:xfrm>
            <a:off x="3003550" y="5803900"/>
            <a:ext cx="47291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不固结不排水试验  </a:t>
            </a:r>
          </a:p>
        </p:txBody>
      </p:sp>
      <p:sp>
        <p:nvSpPr>
          <p:cNvPr id="1443920" name="Text Box 80"/>
          <p:cNvSpPr txBox="1">
            <a:spLocks noChangeArrowheads="1"/>
          </p:cNvSpPr>
          <p:nvPr/>
        </p:nvSpPr>
        <p:spPr bwMode="auto">
          <a:xfrm>
            <a:off x="304800" y="3770750"/>
            <a:ext cx="3722688" cy="178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31813" indent="-2651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 测定：</a:t>
            </a:r>
          </a:p>
          <a:p>
            <a:pPr marL="531813" marR="0" lvl="1" indent="-265113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 轴向变形：轴向应变</a:t>
            </a:r>
          </a:p>
          <a:p>
            <a:pPr marL="531813" marR="0" lvl="1" indent="-265113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 轴向力：轴向应力</a:t>
            </a:r>
          </a:p>
          <a:p>
            <a:pPr marL="531813" marR="0" lvl="1" indent="-265113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Tx/>
              <a:buChar char="•"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幼圆" pitchFamily="49" charset="-122"/>
                <a:cs typeface="+mn-cs"/>
                <a:sym typeface="Symbol" pitchFamily="18" charset="2"/>
              </a:rPr>
              <a:t> 孔隙水压力</a:t>
            </a:r>
            <a:endParaRPr kumimoji="1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itchFamily="18" charset="0"/>
              <a:ea typeface="幼圆" pitchFamily="49" charset="-122"/>
              <a:cs typeface="+mn-cs"/>
              <a:sym typeface="Symbol" pitchFamily="18" charset="2"/>
            </a:endParaRPr>
          </a:p>
        </p:txBody>
      </p:sp>
      <p:sp>
        <p:nvSpPr>
          <p:cNvPr id="71" name="灯片编号占位符 1"/>
          <p:cNvSpPr txBox="1">
            <a:spLocks/>
          </p:cNvSpPr>
          <p:nvPr/>
        </p:nvSpPr>
        <p:spPr>
          <a:xfrm>
            <a:off x="6479968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fld id="{21B3B741-5216-414E-B74B-795A24EA3A0B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宋体" charset="-122"/>
              <a:cs typeface="+mn-cs"/>
            </a:endParaRPr>
          </a:p>
        </p:txBody>
      </p:sp>
      <p:sp>
        <p:nvSpPr>
          <p:cNvPr id="73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345735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8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44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443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443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4500"/>
                            </p:stCondLst>
                            <p:childTnLst>
                              <p:par>
                                <p:cTn id="18" presetID="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4438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14438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443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443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53" grpId="0" build="p" autoUpdateAnimBg="0" advAuto="0"/>
      <p:bldP spid="1443854" grpId="0" build="p"/>
      <p:bldP spid="144392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605088" y="5884863"/>
            <a:ext cx="59674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</a:rPr>
              <a:t>应力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</a:rPr>
              <a:t>特点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71083" y="717981"/>
            <a:ext cx="6752606" cy="1902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8038" indent="-3508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应力特点：</a:t>
            </a:r>
          </a:p>
          <a:p>
            <a:pPr marL="712788" lvl="1" indent="-255588" eaLnBrk="1" hangingPunct="1"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试样是轴对称应力状态</a:t>
            </a:r>
          </a:p>
          <a:p>
            <a:pPr marL="712788" lvl="1" indent="-255588" eaLnBrk="1" hangingPunct="1"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垂直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应力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一般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是大主应力</a:t>
            </a:r>
            <a:r>
              <a:rPr lang="zh-CN" altLang="en-US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</a:p>
          <a:p>
            <a:pPr marL="712788" lvl="1" indent="-255588" eaLnBrk="1" hangingPunct="1">
              <a:buClr>
                <a:srgbClr val="A50021"/>
              </a:buClr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侧向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应力相等且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为中、小主应力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</a:p>
        </p:txBody>
      </p:sp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1664236" y="3003371"/>
            <a:ext cx="2636488" cy="2488005"/>
            <a:chOff x="1990" y="963"/>
            <a:chExt cx="2214" cy="2090"/>
          </a:xfrm>
        </p:grpSpPr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2922" y="1443"/>
              <a:ext cx="979" cy="143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Rectangle 10" descr="大纸屑"/>
            <p:cNvSpPr>
              <a:spLocks noChangeArrowheads="1"/>
            </p:cNvSpPr>
            <p:nvPr/>
          </p:nvSpPr>
          <p:spPr bwMode="auto">
            <a:xfrm>
              <a:off x="3201" y="2580"/>
              <a:ext cx="425" cy="73"/>
            </a:xfrm>
            <a:prstGeom prst="rect">
              <a:avLst/>
            </a:prstGeom>
            <a:pattFill prst="lgConfetti">
              <a:fgClr>
                <a:schemeClr val="tx2"/>
              </a:fgClr>
              <a:bgClr>
                <a:srgbClr val="FFCC66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Rectangle 11" descr="浅色上对角线"/>
            <p:cNvSpPr>
              <a:spLocks noChangeArrowheads="1"/>
            </p:cNvSpPr>
            <p:nvPr/>
          </p:nvSpPr>
          <p:spPr bwMode="auto">
            <a:xfrm>
              <a:off x="3192" y="1635"/>
              <a:ext cx="440" cy="145"/>
            </a:xfrm>
            <a:prstGeom prst="rect">
              <a:avLst/>
            </a:prstGeom>
            <a:pattFill prst="ltUpDiag">
              <a:fgClr>
                <a:srgbClr val="5F5F5F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" name="Group 12"/>
            <p:cNvGrpSpPr>
              <a:grpSpLocks/>
            </p:cNvGrpSpPr>
            <p:nvPr/>
          </p:nvGrpSpPr>
          <p:grpSpPr bwMode="auto">
            <a:xfrm>
              <a:off x="3186" y="1677"/>
              <a:ext cx="452" cy="1025"/>
              <a:chOff x="3374" y="2353"/>
              <a:chExt cx="452" cy="1025"/>
            </a:xfrm>
          </p:grpSpPr>
          <p:sp>
            <p:nvSpPr>
              <p:cNvPr id="62" name="Line 13"/>
              <p:cNvSpPr>
                <a:spLocks noChangeShapeType="1"/>
              </p:cNvSpPr>
              <p:nvPr/>
            </p:nvSpPr>
            <p:spPr bwMode="auto">
              <a:xfrm>
                <a:off x="3374" y="2359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Line 14"/>
              <p:cNvSpPr>
                <a:spLocks noChangeShapeType="1"/>
              </p:cNvSpPr>
              <p:nvPr/>
            </p:nvSpPr>
            <p:spPr bwMode="auto">
              <a:xfrm>
                <a:off x="3826" y="2353"/>
                <a:ext cx="0" cy="1019"/>
              </a:xfrm>
              <a:prstGeom prst="line">
                <a:avLst/>
              </a:pr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" name="Group 15"/>
            <p:cNvGrpSpPr>
              <a:grpSpLocks/>
            </p:cNvGrpSpPr>
            <p:nvPr/>
          </p:nvGrpSpPr>
          <p:grpSpPr bwMode="auto">
            <a:xfrm>
              <a:off x="3133" y="1695"/>
              <a:ext cx="549" cy="1001"/>
              <a:chOff x="3321" y="2371"/>
              <a:chExt cx="549" cy="1001"/>
            </a:xfrm>
          </p:grpSpPr>
          <p:sp>
            <p:nvSpPr>
              <p:cNvPr id="58" name="Oval 16"/>
              <p:cNvSpPr>
                <a:spLocks noChangeArrowheads="1"/>
              </p:cNvSpPr>
              <p:nvPr/>
            </p:nvSpPr>
            <p:spPr bwMode="auto">
              <a:xfrm>
                <a:off x="3330" y="2383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Oval 17"/>
              <p:cNvSpPr>
                <a:spLocks noChangeArrowheads="1"/>
              </p:cNvSpPr>
              <p:nvPr/>
            </p:nvSpPr>
            <p:spPr bwMode="auto">
              <a:xfrm>
                <a:off x="3832" y="3329"/>
                <a:ext cx="36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Oval 18"/>
              <p:cNvSpPr>
                <a:spLocks noChangeArrowheads="1"/>
              </p:cNvSpPr>
              <p:nvPr/>
            </p:nvSpPr>
            <p:spPr bwMode="auto">
              <a:xfrm>
                <a:off x="3321" y="3335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Oval 19"/>
              <p:cNvSpPr>
                <a:spLocks noChangeArrowheads="1"/>
              </p:cNvSpPr>
              <p:nvPr/>
            </p:nvSpPr>
            <p:spPr bwMode="auto">
              <a:xfrm>
                <a:off x="3835" y="2371"/>
                <a:ext cx="35" cy="3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/>
              <a:p>
                <a:pPr algn="ctr" defTabSz="685800">
                  <a:lnSpc>
                    <a:spcPct val="70000"/>
                  </a:lnSpc>
                  <a:spcBef>
                    <a:spcPct val="20000"/>
                  </a:spcBef>
                  <a:spcAft>
                    <a:spcPct val="0"/>
                  </a:spcAft>
                </a:pPr>
                <a:endParaRPr lang="zh-CN" altLang="en-US" sz="1800">
                  <a:ea typeface="幼圆" pitchFamily="49" charset="-122"/>
                  <a:sym typeface="Symbol" pitchFamily="18" charset="2"/>
                </a:endParaRPr>
              </a:p>
            </p:txBody>
          </p:sp>
        </p:grpSp>
        <p:grpSp>
          <p:nvGrpSpPr>
            <p:cNvPr id="24" name="Group 20"/>
            <p:cNvGrpSpPr>
              <a:grpSpLocks/>
            </p:cNvGrpSpPr>
            <p:nvPr/>
          </p:nvGrpSpPr>
          <p:grpSpPr bwMode="auto">
            <a:xfrm>
              <a:off x="2840" y="2653"/>
              <a:ext cx="1135" cy="400"/>
              <a:chOff x="3028" y="3329"/>
              <a:chExt cx="1135" cy="400"/>
            </a:xfrm>
          </p:grpSpPr>
          <p:sp>
            <p:nvSpPr>
              <p:cNvPr id="56" name="Rectangle 21"/>
              <p:cNvSpPr>
                <a:spLocks noChangeArrowheads="1"/>
              </p:cNvSpPr>
              <p:nvPr/>
            </p:nvSpPr>
            <p:spPr bwMode="auto">
              <a:xfrm>
                <a:off x="3389" y="3329"/>
                <a:ext cx="425" cy="218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Rectangle 22"/>
              <p:cNvSpPr>
                <a:spLocks noChangeArrowheads="1"/>
              </p:cNvSpPr>
              <p:nvPr/>
            </p:nvSpPr>
            <p:spPr bwMode="auto">
              <a:xfrm>
                <a:off x="3028" y="3547"/>
                <a:ext cx="1135" cy="182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996633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5" name="Line 23" descr="30%"/>
            <p:cNvSpPr>
              <a:spLocks noChangeShapeType="1"/>
            </p:cNvSpPr>
            <p:nvPr/>
          </p:nvSpPr>
          <p:spPr bwMode="auto">
            <a:xfrm>
              <a:off x="2915" y="1453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4" descr="30%"/>
            <p:cNvSpPr>
              <a:spLocks noChangeShapeType="1"/>
            </p:cNvSpPr>
            <p:nvPr/>
          </p:nvSpPr>
          <p:spPr bwMode="auto">
            <a:xfrm>
              <a:off x="3908" y="1453"/>
              <a:ext cx="0" cy="1418"/>
            </a:xfrm>
            <a:prstGeom prst="line">
              <a:avLst/>
            </a:prstGeom>
            <a:noFill/>
            <a:ln w="76200">
              <a:solidFill>
                <a:srgbClr val="99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2708" y="1350"/>
              <a:ext cx="639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3477" y="1350"/>
              <a:ext cx="638" cy="109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99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Rectangle 27" descr="浅色竖线"/>
            <p:cNvSpPr>
              <a:spLocks noChangeArrowheads="1"/>
            </p:cNvSpPr>
            <p:nvPr/>
          </p:nvSpPr>
          <p:spPr bwMode="auto">
            <a:xfrm>
              <a:off x="3350" y="1213"/>
              <a:ext cx="126" cy="424"/>
            </a:xfrm>
            <a:custGeom>
              <a:avLst/>
              <a:gdLst>
                <a:gd name="connsiteX0" fmla="*/ 0 w 150043"/>
                <a:gd name="connsiteY0" fmla="*/ 0 h 578555"/>
                <a:gd name="connsiteX1" fmla="*/ 150043 w 150043"/>
                <a:gd name="connsiteY1" fmla="*/ 0 h 578555"/>
                <a:gd name="connsiteX2" fmla="*/ 150043 w 150043"/>
                <a:gd name="connsiteY2" fmla="*/ 578555 h 578555"/>
                <a:gd name="connsiteX3" fmla="*/ 0 w 150043"/>
                <a:gd name="connsiteY3" fmla="*/ 578555 h 578555"/>
                <a:gd name="connsiteX4" fmla="*/ 0 w 150043"/>
                <a:gd name="connsiteY4" fmla="*/ 0 h 578555"/>
                <a:gd name="connsiteX0" fmla="*/ 0 w 150043"/>
                <a:gd name="connsiteY0" fmla="*/ 0 h 595502"/>
                <a:gd name="connsiteX1" fmla="*/ 150043 w 150043"/>
                <a:gd name="connsiteY1" fmla="*/ 0 h 595502"/>
                <a:gd name="connsiteX2" fmla="*/ 150043 w 150043"/>
                <a:gd name="connsiteY2" fmla="*/ 578555 h 595502"/>
                <a:gd name="connsiteX3" fmla="*/ 72972 w 150043"/>
                <a:gd name="connsiteY3" fmla="*/ 595374 h 595502"/>
                <a:gd name="connsiteX4" fmla="*/ 0 w 150043"/>
                <a:gd name="connsiteY4" fmla="*/ 578555 h 595502"/>
                <a:gd name="connsiteX5" fmla="*/ 0 w 150043"/>
                <a:gd name="connsiteY5" fmla="*/ 0 h 59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043" h="595502">
                  <a:moveTo>
                    <a:pt x="0" y="0"/>
                  </a:moveTo>
                  <a:lnTo>
                    <a:pt x="150043" y="0"/>
                  </a:lnTo>
                  <a:lnTo>
                    <a:pt x="150043" y="578555"/>
                  </a:lnTo>
                  <a:cubicBezTo>
                    <a:pt x="124353" y="576617"/>
                    <a:pt x="98662" y="597312"/>
                    <a:pt x="72972" y="595374"/>
                  </a:cubicBezTo>
                  <a:lnTo>
                    <a:pt x="0" y="578555"/>
                  </a:lnTo>
                  <a:lnTo>
                    <a:pt x="0" y="0"/>
                  </a:lnTo>
                  <a:close/>
                </a:path>
              </a:pathLst>
            </a:custGeom>
            <a:pattFill prst="ltVert">
              <a:fgClr>
                <a:srgbClr val="4D4D4D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0" name="Group 28"/>
            <p:cNvGrpSpPr>
              <a:grpSpLocks/>
            </p:cNvGrpSpPr>
            <p:nvPr/>
          </p:nvGrpSpPr>
          <p:grpSpPr bwMode="auto">
            <a:xfrm>
              <a:off x="3195" y="1780"/>
              <a:ext cx="434" cy="800"/>
              <a:chOff x="3383" y="2456"/>
              <a:chExt cx="434" cy="800"/>
            </a:xfrm>
          </p:grpSpPr>
          <p:sp>
            <p:nvSpPr>
              <p:cNvPr id="54" name="Rectangle 29"/>
              <p:cNvSpPr>
                <a:spLocks noChangeArrowheads="1"/>
              </p:cNvSpPr>
              <p:nvPr/>
            </p:nvSpPr>
            <p:spPr bwMode="auto">
              <a:xfrm>
                <a:off x="3383" y="2456"/>
                <a:ext cx="434" cy="800"/>
              </a:xfrm>
              <a:prstGeom prst="rect">
                <a:avLst/>
              </a:prstGeom>
              <a:solidFill>
                <a:srgbClr val="996633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Text Box 30"/>
              <p:cNvSpPr txBox="1">
                <a:spLocks noChangeArrowheads="1"/>
              </p:cNvSpPr>
              <p:nvPr/>
            </p:nvSpPr>
            <p:spPr bwMode="auto">
              <a:xfrm>
                <a:off x="3436" y="2602"/>
                <a:ext cx="308" cy="472"/>
              </a:xfrm>
              <a:prstGeom prst="rect">
                <a:avLst/>
              </a:prstGeom>
              <a:solidFill>
                <a:srgbClr val="9966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lIns="68580" tIns="34290" rIns="68580" bIns="34290">
                <a:spAutoFit/>
              </a:bodyPr>
              <a:lstStyle>
                <a:lvl1pPr defTabSz="6858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defTabSz="6858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defTabSz="6858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defTabSz="6858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defTabSz="685800" eaLnBrk="0" hangingPunct="0"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defTabSz="6858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defTabSz="6858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defTabSz="6858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defTabSz="685800" eaLnBrk="0" fontAlgn="base" hangingPunct="0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defRPr sz="1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1500" b="1">
                    <a:solidFill>
                      <a:schemeClr val="bg1"/>
                    </a:solidFill>
                    <a:ea typeface="幼圆" pitchFamily="49" charset="-122"/>
                    <a:sym typeface="Symbol" pitchFamily="18" charset="2"/>
                  </a:rPr>
                  <a:t>试样</a:t>
                </a:r>
              </a:p>
            </p:txBody>
          </p:sp>
        </p:grpSp>
        <p:sp>
          <p:nvSpPr>
            <p:cNvPr id="31" name="Text Box 31"/>
            <p:cNvSpPr txBox="1">
              <a:spLocks noChangeArrowheads="1"/>
            </p:cNvSpPr>
            <p:nvPr/>
          </p:nvSpPr>
          <p:spPr bwMode="auto">
            <a:xfrm>
              <a:off x="1990" y="2609"/>
              <a:ext cx="86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80" tIns="34290" rIns="68580" bIns="34290">
              <a:spAutoFit/>
            </a:bodyPr>
            <a:lstStyle>
              <a:lvl1pPr defTabSz="6858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6858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6858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6858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6858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6858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6858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6858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6858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500" b="1" dirty="0">
                  <a:ea typeface="幼圆" pitchFamily="49" charset="-122"/>
                  <a:sym typeface="Symbol" pitchFamily="18" charset="2"/>
                </a:rPr>
                <a:t>水</a:t>
              </a:r>
              <a:r>
                <a:rPr lang="zh-CN" altLang="en-US" sz="1500" b="1" dirty="0" smtClean="0">
                  <a:ea typeface="幼圆" pitchFamily="49" charset="-122"/>
                  <a:sym typeface="Symbol" pitchFamily="18" charset="2"/>
                </a:rPr>
                <a:t>压力</a:t>
              </a:r>
              <a:r>
                <a:rPr lang="zh-CN" altLang="en-US" sz="1500" b="1" dirty="0"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1500" b="1" baseline="-25000" dirty="0">
                  <a:ea typeface="幼圆" pitchFamily="49" charset="-122"/>
                  <a:sym typeface="Symbol" pitchFamily="18" charset="2"/>
                </a:rPr>
                <a:t>c</a:t>
              </a:r>
              <a:endParaRPr lang="zh-CN" altLang="zh-CN" sz="1500" b="1" dirty="0"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2688" y="2863"/>
              <a:ext cx="359" cy="61"/>
            </a:xfrm>
            <a:custGeom>
              <a:avLst/>
              <a:gdLst>
                <a:gd name="T0" fmla="*/ 1253 w 1253"/>
                <a:gd name="T1" fmla="*/ 0 h 67"/>
                <a:gd name="T2" fmla="*/ 1253 w 1253"/>
                <a:gd name="T3" fmla="*/ 67 h 67"/>
                <a:gd name="T4" fmla="*/ 0 w 1253"/>
                <a:gd name="T5" fmla="*/ 67 h 67"/>
                <a:gd name="T6" fmla="*/ 0 60000 65536"/>
                <a:gd name="T7" fmla="*/ 0 60000 65536"/>
                <a:gd name="T8" fmla="*/ 0 60000 65536"/>
                <a:gd name="T9" fmla="*/ 0 w 1253"/>
                <a:gd name="T10" fmla="*/ 0 h 67"/>
                <a:gd name="T11" fmla="*/ 1253 w 1253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3" h="67">
                  <a:moveTo>
                    <a:pt x="1253" y="0"/>
                  </a:moveTo>
                  <a:lnTo>
                    <a:pt x="1253" y="67"/>
                  </a:lnTo>
                  <a:lnTo>
                    <a:pt x="0" y="67"/>
                  </a:lnTo>
                </a:path>
              </a:pathLst>
            </a:custGeom>
            <a:noFill/>
            <a:ln w="57150" cmpd="sng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3410" y="1040"/>
              <a:ext cx="0" cy="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 rot="-5400000">
              <a:off x="2553" y="2845"/>
              <a:ext cx="0" cy="1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" name="Group 35"/>
            <p:cNvGrpSpPr>
              <a:grpSpLocks/>
            </p:cNvGrpSpPr>
            <p:nvPr/>
          </p:nvGrpSpPr>
          <p:grpSpPr bwMode="auto">
            <a:xfrm>
              <a:off x="3019" y="1511"/>
              <a:ext cx="580" cy="1048"/>
              <a:chOff x="3013" y="1511"/>
              <a:chExt cx="580" cy="1048"/>
            </a:xfrm>
          </p:grpSpPr>
          <p:sp>
            <p:nvSpPr>
              <p:cNvPr id="46" name="Line 36"/>
              <p:cNvSpPr>
                <a:spLocks noChangeShapeType="1"/>
              </p:cNvSpPr>
              <p:nvPr/>
            </p:nvSpPr>
            <p:spPr bwMode="auto">
              <a:xfrm>
                <a:off x="3013" y="1831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Line 37"/>
              <p:cNvSpPr>
                <a:spLocks noChangeShapeType="1"/>
              </p:cNvSpPr>
              <p:nvPr/>
            </p:nvSpPr>
            <p:spPr bwMode="auto">
              <a:xfrm>
                <a:off x="3013" y="1935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Line 38"/>
              <p:cNvSpPr>
                <a:spLocks noChangeShapeType="1"/>
              </p:cNvSpPr>
              <p:nvPr/>
            </p:nvSpPr>
            <p:spPr bwMode="auto">
              <a:xfrm>
                <a:off x="3013" y="2039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Line 39"/>
              <p:cNvSpPr>
                <a:spLocks noChangeShapeType="1"/>
              </p:cNvSpPr>
              <p:nvPr/>
            </p:nvSpPr>
            <p:spPr bwMode="auto">
              <a:xfrm>
                <a:off x="3013" y="2143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40"/>
              <p:cNvSpPr>
                <a:spLocks noChangeShapeType="1"/>
              </p:cNvSpPr>
              <p:nvPr/>
            </p:nvSpPr>
            <p:spPr bwMode="auto">
              <a:xfrm>
                <a:off x="3013" y="2247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41"/>
              <p:cNvSpPr>
                <a:spLocks noChangeShapeType="1"/>
              </p:cNvSpPr>
              <p:nvPr/>
            </p:nvSpPr>
            <p:spPr bwMode="auto">
              <a:xfrm>
                <a:off x="3013" y="2351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42"/>
              <p:cNvSpPr>
                <a:spLocks noChangeShapeType="1"/>
              </p:cNvSpPr>
              <p:nvPr/>
            </p:nvSpPr>
            <p:spPr bwMode="auto">
              <a:xfrm>
                <a:off x="3013" y="2455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43"/>
              <p:cNvSpPr>
                <a:spLocks noChangeShapeType="1"/>
              </p:cNvSpPr>
              <p:nvPr/>
            </p:nvSpPr>
            <p:spPr bwMode="auto">
              <a:xfrm>
                <a:off x="3013" y="2559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36"/>
              <p:cNvSpPr>
                <a:spLocks noChangeShapeType="1"/>
              </p:cNvSpPr>
              <p:nvPr/>
            </p:nvSpPr>
            <p:spPr bwMode="auto">
              <a:xfrm rot="5400000">
                <a:off x="3141" y="1571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Line 36"/>
              <p:cNvSpPr>
                <a:spLocks noChangeShapeType="1"/>
              </p:cNvSpPr>
              <p:nvPr/>
            </p:nvSpPr>
            <p:spPr bwMode="auto">
              <a:xfrm rot="5400000">
                <a:off x="3225" y="1571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Line 36"/>
              <p:cNvSpPr>
                <a:spLocks noChangeShapeType="1"/>
              </p:cNvSpPr>
              <p:nvPr/>
            </p:nvSpPr>
            <p:spPr bwMode="auto">
              <a:xfrm rot="5400000">
                <a:off x="3449" y="1571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36"/>
              <p:cNvSpPr>
                <a:spLocks noChangeShapeType="1"/>
              </p:cNvSpPr>
              <p:nvPr/>
            </p:nvSpPr>
            <p:spPr bwMode="auto">
              <a:xfrm rot="5400000">
                <a:off x="3533" y="1571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" name="Group 44"/>
            <p:cNvGrpSpPr>
              <a:grpSpLocks/>
            </p:cNvGrpSpPr>
            <p:nvPr/>
          </p:nvGrpSpPr>
          <p:grpSpPr bwMode="auto">
            <a:xfrm flipH="1">
              <a:off x="3675" y="1831"/>
              <a:ext cx="120" cy="728"/>
              <a:chOff x="3013" y="1831"/>
              <a:chExt cx="120" cy="728"/>
            </a:xfrm>
          </p:grpSpPr>
          <p:sp>
            <p:nvSpPr>
              <p:cNvPr id="38" name="Line 45"/>
              <p:cNvSpPr>
                <a:spLocks noChangeShapeType="1"/>
              </p:cNvSpPr>
              <p:nvPr/>
            </p:nvSpPr>
            <p:spPr bwMode="auto">
              <a:xfrm>
                <a:off x="3013" y="1831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46"/>
              <p:cNvSpPr>
                <a:spLocks noChangeShapeType="1"/>
              </p:cNvSpPr>
              <p:nvPr/>
            </p:nvSpPr>
            <p:spPr bwMode="auto">
              <a:xfrm>
                <a:off x="3013" y="1935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47"/>
              <p:cNvSpPr>
                <a:spLocks noChangeShapeType="1"/>
              </p:cNvSpPr>
              <p:nvPr/>
            </p:nvSpPr>
            <p:spPr bwMode="auto">
              <a:xfrm>
                <a:off x="3013" y="2039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48"/>
              <p:cNvSpPr>
                <a:spLocks noChangeShapeType="1"/>
              </p:cNvSpPr>
              <p:nvPr/>
            </p:nvSpPr>
            <p:spPr bwMode="auto">
              <a:xfrm>
                <a:off x="3013" y="2143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Line 49"/>
              <p:cNvSpPr>
                <a:spLocks noChangeShapeType="1"/>
              </p:cNvSpPr>
              <p:nvPr/>
            </p:nvSpPr>
            <p:spPr bwMode="auto">
              <a:xfrm>
                <a:off x="3013" y="2247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Line 50"/>
              <p:cNvSpPr>
                <a:spLocks noChangeShapeType="1"/>
              </p:cNvSpPr>
              <p:nvPr/>
            </p:nvSpPr>
            <p:spPr bwMode="auto">
              <a:xfrm>
                <a:off x="3013" y="2351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Line 51"/>
              <p:cNvSpPr>
                <a:spLocks noChangeShapeType="1"/>
              </p:cNvSpPr>
              <p:nvPr/>
            </p:nvSpPr>
            <p:spPr bwMode="auto">
              <a:xfrm>
                <a:off x="3013" y="2455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Line 52"/>
              <p:cNvSpPr>
                <a:spLocks noChangeShapeType="1"/>
              </p:cNvSpPr>
              <p:nvPr/>
            </p:nvSpPr>
            <p:spPr bwMode="auto">
              <a:xfrm>
                <a:off x="3013" y="2559"/>
                <a:ext cx="12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" name="Text Box 53"/>
            <p:cNvSpPr txBox="1">
              <a:spLocks noChangeArrowheads="1"/>
            </p:cNvSpPr>
            <p:nvPr/>
          </p:nvSpPr>
          <p:spPr bwMode="auto">
            <a:xfrm>
              <a:off x="3449" y="963"/>
              <a:ext cx="75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80" tIns="34290" rIns="68580" bIns="34290">
              <a:spAutoFit/>
            </a:bodyPr>
            <a:lstStyle>
              <a:lvl1pPr defTabSz="6858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defTabSz="6858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defTabSz="6858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defTabSz="6858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defTabSz="685800" eaLnBrk="0" hangingPunct="0"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defTabSz="6858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defTabSz="6858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defTabSz="6858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defTabSz="685800" eaLnBrk="0" fontAlgn="base" hangingPunct="0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defRPr sz="1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500" b="1" dirty="0">
                  <a:ea typeface="幼圆" pitchFamily="49" charset="-122"/>
                  <a:sym typeface="Symbol" pitchFamily="18" charset="2"/>
                </a:rPr>
                <a:t>轴向力</a:t>
              </a:r>
              <a:r>
                <a:rPr lang="en-US" altLang="zh-CN" sz="1500" b="1" i="1" dirty="0">
                  <a:ea typeface="幼圆" pitchFamily="49" charset="-122"/>
                  <a:sym typeface="Symbol" pitchFamily="18" charset="2"/>
                </a:rPr>
                <a:t>F</a:t>
              </a:r>
              <a:endParaRPr lang="zh-CN" altLang="zh-CN" sz="1500" b="1" i="1" dirty="0"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12" name="AutoShape 54"/>
          <p:cNvSpPr>
            <a:spLocks noChangeArrowheads="1"/>
          </p:cNvSpPr>
          <p:nvPr/>
        </p:nvSpPr>
        <p:spPr bwMode="auto">
          <a:xfrm>
            <a:off x="5987079" y="4075334"/>
            <a:ext cx="671512" cy="1331913"/>
          </a:xfrm>
          <a:prstGeom prst="flowChartMagneticDisk">
            <a:avLst/>
          </a:prstGeom>
          <a:solidFill>
            <a:srgbClr val="996633"/>
          </a:solidFill>
          <a:ln w="12700">
            <a:solidFill>
              <a:srgbClr val="8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55"/>
          <p:cNvSpPr>
            <a:spLocks noChangeShapeType="1"/>
          </p:cNvSpPr>
          <p:nvPr/>
        </p:nvSpPr>
        <p:spPr bwMode="auto">
          <a:xfrm flipV="1">
            <a:off x="5794991" y="4816696"/>
            <a:ext cx="366712" cy="287338"/>
          </a:xfrm>
          <a:prstGeom prst="line">
            <a:avLst/>
          </a:prstGeom>
          <a:noFill/>
          <a:ln w="57150">
            <a:solidFill>
              <a:srgbClr val="A5002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" name="Line 56"/>
          <p:cNvSpPr>
            <a:spLocks noChangeShapeType="1"/>
          </p:cNvSpPr>
          <p:nvPr/>
        </p:nvSpPr>
        <p:spPr bwMode="auto">
          <a:xfrm flipH="1" flipV="1">
            <a:off x="6644304" y="4805584"/>
            <a:ext cx="474662" cy="0"/>
          </a:xfrm>
          <a:prstGeom prst="line">
            <a:avLst/>
          </a:prstGeom>
          <a:noFill/>
          <a:ln w="57150">
            <a:solidFill>
              <a:srgbClr val="A5002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Freeform 57"/>
          <p:cNvSpPr>
            <a:spLocks/>
          </p:cNvSpPr>
          <p:nvPr/>
        </p:nvSpPr>
        <p:spPr bwMode="auto">
          <a:xfrm>
            <a:off x="6337751" y="3858275"/>
            <a:ext cx="3175" cy="432000"/>
          </a:xfrm>
          <a:custGeom>
            <a:avLst/>
            <a:gdLst>
              <a:gd name="T0" fmla="*/ 2 w 2"/>
              <a:gd name="T1" fmla="*/ 0 h 456"/>
              <a:gd name="T2" fmla="*/ 0 w 2"/>
              <a:gd name="T3" fmla="*/ 456 h 456"/>
              <a:gd name="T4" fmla="*/ 0 60000 65536"/>
              <a:gd name="T5" fmla="*/ 0 60000 65536"/>
              <a:gd name="T6" fmla="*/ 0 w 2"/>
              <a:gd name="T7" fmla="*/ 0 h 456"/>
              <a:gd name="T8" fmla="*/ 2 w 2"/>
              <a:gd name="T9" fmla="*/ 456 h 45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456">
                <a:moveTo>
                  <a:pt x="2" y="0"/>
                </a:moveTo>
                <a:lnTo>
                  <a:pt x="0" y="456"/>
                </a:lnTo>
              </a:path>
            </a:pathLst>
          </a:custGeom>
          <a:noFill/>
          <a:ln w="57150" cmpd="sng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5226783" y="5010655"/>
            <a:ext cx="912147" cy="357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8038" indent="-3508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endParaRPr lang="en-US" altLang="zh-CN" sz="22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70" name="Text Box 5"/>
          <p:cNvSpPr txBox="1">
            <a:spLocks noChangeArrowheads="1"/>
          </p:cNvSpPr>
          <p:nvPr/>
        </p:nvSpPr>
        <p:spPr bwMode="auto">
          <a:xfrm>
            <a:off x="6927972" y="4776729"/>
            <a:ext cx="912147" cy="357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8038" indent="-3508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endParaRPr lang="en-US" altLang="zh-CN" sz="22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71" name="Text Box 5"/>
          <p:cNvSpPr txBox="1">
            <a:spLocks noChangeArrowheads="1"/>
          </p:cNvSpPr>
          <p:nvPr/>
        </p:nvSpPr>
        <p:spPr bwMode="auto">
          <a:xfrm>
            <a:off x="8066215" y="3634028"/>
            <a:ext cx="472658" cy="3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8038" indent="-3508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endParaRPr lang="en-US" altLang="zh-CN" sz="22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72" name="Text Box 5"/>
          <p:cNvSpPr txBox="1">
            <a:spLocks noChangeArrowheads="1"/>
          </p:cNvSpPr>
          <p:nvPr/>
        </p:nvSpPr>
        <p:spPr bwMode="auto">
          <a:xfrm>
            <a:off x="6592544" y="3780654"/>
            <a:ext cx="912147" cy="32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8038" indent="-3508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endParaRPr lang="en-US" altLang="zh-CN" sz="20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73" name="Freeform 57"/>
          <p:cNvSpPr>
            <a:spLocks/>
          </p:cNvSpPr>
          <p:nvPr/>
        </p:nvSpPr>
        <p:spPr bwMode="auto">
          <a:xfrm>
            <a:off x="6333202" y="3410174"/>
            <a:ext cx="3175" cy="396000"/>
          </a:xfrm>
          <a:custGeom>
            <a:avLst/>
            <a:gdLst>
              <a:gd name="T0" fmla="*/ 2 w 2"/>
              <a:gd name="T1" fmla="*/ 0 h 456"/>
              <a:gd name="T2" fmla="*/ 0 w 2"/>
              <a:gd name="T3" fmla="*/ 456 h 456"/>
              <a:gd name="T4" fmla="*/ 0 60000 65536"/>
              <a:gd name="T5" fmla="*/ 0 60000 65536"/>
              <a:gd name="T6" fmla="*/ 0 w 2"/>
              <a:gd name="T7" fmla="*/ 0 h 456"/>
              <a:gd name="T8" fmla="*/ 2 w 2"/>
              <a:gd name="T9" fmla="*/ 456 h 45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456">
                <a:moveTo>
                  <a:pt x="2" y="0"/>
                </a:moveTo>
                <a:lnTo>
                  <a:pt x="0" y="456"/>
                </a:lnTo>
              </a:path>
            </a:pathLst>
          </a:custGeom>
          <a:noFill/>
          <a:ln w="57150" cmpd="sng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74" name="Text Box 5"/>
          <p:cNvSpPr txBox="1">
            <a:spLocks noChangeArrowheads="1"/>
          </p:cNvSpPr>
          <p:nvPr/>
        </p:nvSpPr>
        <p:spPr bwMode="auto">
          <a:xfrm>
            <a:off x="6622112" y="3421262"/>
            <a:ext cx="1391311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8038" indent="-350838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0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zh-CN" altLang="en-US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/</a:t>
            </a:r>
            <a:r>
              <a:rPr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endParaRPr lang="en-US" altLang="zh-CN" sz="2000" b="1" i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" name="右大括号 1"/>
          <p:cNvSpPr/>
          <p:nvPr/>
        </p:nvSpPr>
        <p:spPr bwMode="auto">
          <a:xfrm>
            <a:off x="7856486" y="3542171"/>
            <a:ext cx="139107" cy="570650"/>
          </a:xfrm>
          <a:prstGeom prst="rightBrace">
            <a:avLst>
              <a:gd name="adj1" fmla="val 24124"/>
              <a:gd name="adj2" fmla="val 50000"/>
            </a:avLst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75" name="Text Box 7"/>
          <p:cNvSpPr txBox="1">
            <a:spLocks noChangeArrowheads="1"/>
          </p:cNvSpPr>
          <p:nvPr/>
        </p:nvSpPr>
        <p:spPr bwMode="auto">
          <a:xfrm>
            <a:off x="-9527" y="0"/>
            <a:ext cx="618560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方法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常规三轴压缩试验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4997936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307" name="Text Box 3"/>
          <p:cNvSpPr txBox="1">
            <a:spLocks noChangeArrowheads="1"/>
          </p:cNvSpPr>
          <p:nvPr/>
        </p:nvSpPr>
        <p:spPr bwMode="auto">
          <a:xfrm>
            <a:off x="2386013" y="5784850"/>
            <a:ext cx="6102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常规三轴与侧限压缩试验</a:t>
            </a:r>
          </a:p>
        </p:txBody>
      </p:sp>
      <p:sp>
        <p:nvSpPr>
          <p:cNvPr id="1506308" name="Text Box 4"/>
          <p:cNvSpPr txBox="1">
            <a:spLocks noChangeArrowheads="1"/>
          </p:cNvSpPr>
          <p:nvPr/>
        </p:nvSpPr>
        <p:spPr bwMode="auto">
          <a:xfrm>
            <a:off x="567558" y="924986"/>
            <a:ext cx="3340100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32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应力应变关系曲线的比较</a:t>
            </a:r>
          </a:p>
        </p:txBody>
      </p:sp>
      <p:sp>
        <p:nvSpPr>
          <p:cNvPr id="1506309" name="Text Box 5"/>
          <p:cNvSpPr txBox="1">
            <a:spLocks noChangeArrowheads="1"/>
          </p:cNvSpPr>
          <p:nvPr/>
        </p:nvSpPr>
        <p:spPr bwMode="auto">
          <a:xfrm>
            <a:off x="1049338" y="2405063"/>
            <a:ext cx="3411537" cy="2705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 常规三轴：</a:t>
            </a:r>
          </a:p>
          <a:p>
            <a:pPr lvl="1">
              <a:spcBef>
                <a:spcPct val="10000"/>
              </a:spcBef>
              <a:spcAft>
                <a:spcPts val="1800"/>
              </a:spcAft>
              <a:buClr>
                <a:srgbClr val="800000"/>
              </a:buClr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 存在破坏应力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 侧限压缩试验：</a:t>
            </a:r>
          </a:p>
          <a:p>
            <a:pPr lvl="1">
              <a:spcBef>
                <a:spcPct val="10000"/>
              </a:spcBef>
              <a:spcAft>
                <a:spcPct val="10000"/>
              </a:spcAft>
              <a:buClr>
                <a:srgbClr val="800000"/>
              </a:buClr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 不存在破坏应力</a:t>
            </a:r>
          </a:p>
          <a:p>
            <a:pPr lvl="1">
              <a:spcBef>
                <a:spcPct val="10000"/>
              </a:spcBef>
              <a:spcAft>
                <a:spcPct val="10000"/>
              </a:spcAft>
              <a:buClr>
                <a:srgbClr val="800000"/>
              </a:buClr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 存在体积压缩极限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grpSp>
        <p:nvGrpSpPr>
          <p:cNvPr id="1506310" name="Group 6"/>
          <p:cNvGrpSpPr>
            <a:grpSpLocks/>
          </p:cNvGrpSpPr>
          <p:nvPr/>
        </p:nvGrpSpPr>
        <p:grpSpPr bwMode="auto">
          <a:xfrm>
            <a:off x="4762500" y="887413"/>
            <a:ext cx="4040188" cy="4611687"/>
            <a:chOff x="3084" y="559"/>
            <a:chExt cx="2545" cy="2905"/>
          </a:xfrm>
        </p:grpSpPr>
        <p:sp>
          <p:nvSpPr>
            <p:cNvPr id="1506311" name="Rectangle 7"/>
            <p:cNvSpPr>
              <a:spLocks noChangeArrowheads="1"/>
            </p:cNvSpPr>
            <p:nvPr/>
          </p:nvSpPr>
          <p:spPr bwMode="auto">
            <a:xfrm>
              <a:off x="3084" y="559"/>
              <a:ext cx="2545" cy="2905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6312" name="Freeform 8"/>
            <p:cNvSpPr>
              <a:spLocks/>
            </p:cNvSpPr>
            <p:nvPr/>
          </p:nvSpPr>
          <p:spPr bwMode="auto">
            <a:xfrm>
              <a:off x="3316" y="1191"/>
              <a:ext cx="1364" cy="1786"/>
            </a:xfrm>
            <a:custGeom>
              <a:avLst/>
              <a:gdLst>
                <a:gd name="T0" fmla="*/ 0 w 1364"/>
                <a:gd name="T1" fmla="*/ 1786 h 1786"/>
                <a:gd name="T2" fmla="*/ 384 w 1364"/>
                <a:gd name="T3" fmla="*/ 1645 h 1786"/>
                <a:gd name="T4" fmla="*/ 762 w 1364"/>
                <a:gd name="T5" fmla="*/ 1383 h 1786"/>
                <a:gd name="T6" fmla="*/ 1063 w 1364"/>
                <a:gd name="T7" fmla="*/ 954 h 1786"/>
                <a:gd name="T8" fmla="*/ 1261 w 1364"/>
                <a:gd name="T9" fmla="*/ 448 h 1786"/>
                <a:gd name="T10" fmla="*/ 1364 w 1364"/>
                <a:gd name="T11" fmla="*/ 0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64" h="1786">
                  <a:moveTo>
                    <a:pt x="0" y="1786"/>
                  </a:moveTo>
                  <a:cubicBezTo>
                    <a:pt x="127" y="1749"/>
                    <a:pt x="257" y="1712"/>
                    <a:pt x="384" y="1645"/>
                  </a:cubicBezTo>
                  <a:cubicBezTo>
                    <a:pt x="511" y="1578"/>
                    <a:pt x="649" y="1498"/>
                    <a:pt x="762" y="1383"/>
                  </a:cubicBezTo>
                  <a:cubicBezTo>
                    <a:pt x="875" y="1268"/>
                    <a:pt x="980" y="1110"/>
                    <a:pt x="1063" y="954"/>
                  </a:cubicBezTo>
                  <a:cubicBezTo>
                    <a:pt x="1146" y="798"/>
                    <a:pt x="1211" y="607"/>
                    <a:pt x="1261" y="448"/>
                  </a:cubicBezTo>
                  <a:cubicBezTo>
                    <a:pt x="1311" y="289"/>
                    <a:pt x="1343" y="93"/>
                    <a:pt x="1364" y="0"/>
                  </a:cubicBezTo>
                </a:path>
              </a:pathLst>
            </a:custGeom>
            <a:noFill/>
            <a:ln w="19050" cmpd="sng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6313" name="Freeform 9"/>
            <p:cNvSpPr>
              <a:spLocks/>
            </p:cNvSpPr>
            <p:nvPr/>
          </p:nvSpPr>
          <p:spPr bwMode="auto">
            <a:xfrm>
              <a:off x="3320" y="1080"/>
              <a:ext cx="1795" cy="1900"/>
            </a:xfrm>
            <a:custGeom>
              <a:avLst/>
              <a:gdLst>
                <a:gd name="T0" fmla="*/ 0 w 1795"/>
                <a:gd name="T1" fmla="*/ 0 h 1900"/>
                <a:gd name="T2" fmla="*/ 0 w 1795"/>
                <a:gd name="T3" fmla="*/ 1900 h 1900"/>
                <a:gd name="T4" fmla="*/ 1795 w 1795"/>
                <a:gd name="T5" fmla="*/ 1900 h 1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95" h="1900">
                  <a:moveTo>
                    <a:pt x="0" y="0"/>
                  </a:moveTo>
                  <a:lnTo>
                    <a:pt x="0" y="1900"/>
                  </a:lnTo>
                  <a:lnTo>
                    <a:pt x="1795" y="190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6314" name="Line 10"/>
            <p:cNvSpPr>
              <a:spLocks noChangeAspect="1" noChangeShapeType="1"/>
            </p:cNvSpPr>
            <p:nvPr/>
          </p:nvSpPr>
          <p:spPr bwMode="auto">
            <a:xfrm>
              <a:off x="4730" y="1181"/>
              <a:ext cx="0" cy="1792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50631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3746932"/>
                </p:ext>
              </p:extLst>
            </p:nvPr>
          </p:nvGraphicFramePr>
          <p:xfrm>
            <a:off x="4506" y="2964"/>
            <a:ext cx="534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6393" name="公式" r:id="rId3" imgW="507960" imgH="419040" progId="Equation.3">
                    <p:embed/>
                  </p:oleObj>
                </mc:Choice>
                <mc:Fallback>
                  <p:oleObj name="公式" r:id="rId3" imgW="507960" imgH="4190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6" y="2964"/>
                          <a:ext cx="534" cy="4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06316" name="Oval 12"/>
            <p:cNvSpPr>
              <a:spLocks noChangeAspect="1" noChangeArrowheads="1"/>
            </p:cNvSpPr>
            <p:nvPr/>
          </p:nvSpPr>
          <p:spPr bwMode="auto">
            <a:xfrm>
              <a:off x="4694" y="2945"/>
              <a:ext cx="55" cy="5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C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06317" name="Text Box 13"/>
            <p:cNvSpPr txBox="1">
              <a:spLocks noChangeArrowheads="1"/>
            </p:cNvSpPr>
            <p:nvPr/>
          </p:nvSpPr>
          <p:spPr bwMode="auto">
            <a:xfrm>
              <a:off x="3162" y="748"/>
              <a:ext cx="56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en-US" altLang="zh-CN" sz="2800" b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n-US" altLang="zh-CN" sz="28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endParaRPr lang="en-US" altLang="zh-CN" sz="28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06318" name="Text Box 14"/>
            <p:cNvSpPr txBox="1">
              <a:spLocks noChangeArrowheads="1"/>
            </p:cNvSpPr>
            <p:nvPr/>
          </p:nvSpPr>
          <p:spPr bwMode="auto">
            <a:xfrm>
              <a:off x="5105" y="2770"/>
              <a:ext cx="25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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06319" name="Freeform 15"/>
            <p:cNvSpPr>
              <a:spLocks/>
            </p:cNvSpPr>
            <p:nvPr/>
          </p:nvSpPr>
          <p:spPr bwMode="auto">
            <a:xfrm>
              <a:off x="3323" y="1794"/>
              <a:ext cx="1830" cy="1164"/>
            </a:xfrm>
            <a:custGeom>
              <a:avLst/>
              <a:gdLst>
                <a:gd name="T0" fmla="*/ 0 w 1766"/>
                <a:gd name="T1" fmla="*/ 1152 h 1152"/>
                <a:gd name="T2" fmla="*/ 262 w 1766"/>
                <a:gd name="T3" fmla="*/ 697 h 1152"/>
                <a:gd name="T4" fmla="*/ 781 w 1766"/>
                <a:gd name="T5" fmla="*/ 275 h 1152"/>
                <a:gd name="T6" fmla="*/ 1337 w 1766"/>
                <a:gd name="T7" fmla="*/ 76 h 1152"/>
                <a:gd name="T8" fmla="*/ 1766 w 1766"/>
                <a:gd name="T9" fmla="*/ 0 h 1152"/>
                <a:gd name="connsiteX0" fmla="*/ 0 w 10000"/>
                <a:gd name="connsiteY0" fmla="*/ 10000 h 10000"/>
                <a:gd name="connsiteX1" fmla="*/ 1484 w 10000"/>
                <a:gd name="connsiteY1" fmla="*/ 6050 h 10000"/>
                <a:gd name="connsiteX2" fmla="*/ 4037 w 10000"/>
                <a:gd name="connsiteY2" fmla="*/ 2734 h 10000"/>
                <a:gd name="connsiteX3" fmla="*/ 7571 w 10000"/>
                <a:gd name="connsiteY3" fmla="*/ 660 h 10000"/>
                <a:gd name="connsiteX4" fmla="*/ 10000 w 10000"/>
                <a:gd name="connsiteY4" fmla="*/ 0 h 10000"/>
                <a:gd name="connsiteX0" fmla="*/ 0 w 10362"/>
                <a:gd name="connsiteY0" fmla="*/ 10104 h 10104"/>
                <a:gd name="connsiteX1" fmla="*/ 1484 w 10362"/>
                <a:gd name="connsiteY1" fmla="*/ 6154 h 10104"/>
                <a:gd name="connsiteX2" fmla="*/ 4037 w 10362"/>
                <a:gd name="connsiteY2" fmla="*/ 2838 h 10104"/>
                <a:gd name="connsiteX3" fmla="*/ 7571 w 10362"/>
                <a:gd name="connsiteY3" fmla="*/ 764 h 10104"/>
                <a:gd name="connsiteX4" fmla="*/ 10362 w 10362"/>
                <a:gd name="connsiteY4" fmla="*/ 0 h 10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62" h="10104">
                  <a:moveTo>
                    <a:pt x="0" y="10104"/>
                  </a:moveTo>
                  <a:cubicBezTo>
                    <a:pt x="374" y="8759"/>
                    <a:pt x="811" y="7365"/>
                    <a:pt x="1484" y="6154"/>
                  </a:cubicBezTo>
                  <a:cubicBezTo>
                    <a:pt x="2157" y="4943"/>
                    <a:pt x="3024" y="3732"/>
                    <a:pt x="4037" y="2838"/>
                  </a:cubicBezTo>
                  <a:cubicBezTo>
                    <a:pt x="5051" y="1944"/>
                    <a:pt x="6642" y="1163"/>
                    <a:pt x="7571" y="764"/>
                  </a:cubicBezTo>
                  <a:cubicBezTo>
                    <a:pt x="8499" y="364"/>
                    <a:pt x="9609" y="130"/>
                    <a:pt x="10362" y="0"/>
                  </a:cubicBezTo>
                </a:path>
              </a:pathLst>
            </a:custGeom>
            <a:noFill/>
            <a:ln w="19050" cmpd="sng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6320" name="Text Box 16"/>
            <p:cNvSpPr txBox="1">
              <a:spLocks noChangeArrowheads="1"/>
            </p:cNvSpPr>
            <p:nvPr/>
          </p:nvSpPr>
          <p:spPr bwMode="auto">
            <a:xfrm>
              <a:off x="3703" y="1233"/>
              <a:ext cx="653" cy="4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 dirty="0">
                  <a:solidFill>
                    <a:srgbClr val="A50021"/>
                  </a:solidFill>
                  <a:ea typeface="幼圆" pitchFamily="49" charset="-122"/>
                </a:rPr>
                <a:t>侧限压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 dirty="0">
                  <a:solidFill>
                    <a:srgbClr val="A50021"/>
                  </a:solidFill>
                  <a:ea typeface="幼圆" pitchFamily="49" charset="-122"/>
                </a:rPr>
                <a:t>缩试验</a:t>
              </a:r>
            </a:p>
          </p:txBody>
        </p:sp>
        <p:sp>
          <p:nvSpPr>
            <p:cNvPr id="1506321" name="Text Box 17"/>
            <p:cNvSpPr txBox="1">
              <a:spLocks noChangeArrowheads="1"/>
            </p:cNvSpPr>
            <p:nvPr/>
          </p:nvSpPr>
          <p:spPr bwMode="auto">
            <a:xfrm>
              <a:off x="4826" y="1943"/>
              <a:ext cx="653" cy="4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</a:rPr>
                <a:t>常规三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 dirty="0">
                  <a:solidFill>
                    <a:srgbClr val="000066"/>
                  </a:solidFill>
                  <a:ea typeface="幼圆" pitchFamily="49" charset="-122"/>
                </a:rPr>
                <a:t>轴试验</a:t>
              </a:r>
            </a:p>
          </p:txBody>
        </p:sp>
        <p:sp>
          <p:nvSpPr>
            <p:cNvPr id="1506322" name="Line 18"/>
            <p:cNvSpPr>
              <a:spLocks noChangeShapeType="1"/>
            </p:cNvSpPr>
            <p:nvPr/>
          </p:nvSpPr>
          <p:spPr bwMode="auto">
            <a:xfrm flipH="1" flipV="1">
              <a:off x="4328" y="1396"/>
              <a:ext cx="22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6323" name="Line 19"/>
            <p:cNvSpPr>
              <a:spLocks noChangeShapeType="1"/>
            </p:cNvSpPr>
            <p:nvPr/>
          </p:nvSpPr>
          <p:spPr bwMode="auto">
            <a:xfrm>
              <a:off x="4577" y="1943"/>
              <a:ext cx="240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6324" name="Line 20"/>
            <p:cNvSpPr>
              <a:spLocks noChangeShapeType="1"/>
            </p:cNvSpPr>
            <p:nvPr/>
          </p:nvSpPr>
          <p:spPr bwMode="auto">
            <a:xfrm>
              <a:off x="3322" y="1773"/>
              <a:ext cx="1766" cy="0"/>
            </a:xfrm>
            <a:prstGeom prst="line">
              <a:avLst/>
            </a:prstGeom>
            <a:noFill/>
            <a:ln w="12700">
              <a:solidFill>
                <a:srgbClr val="00206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的压缩性测试方法</a:t>
            </a:r>
          </a:p>
        </p:txBody>
      </p:sp>
      <p:sp>
        <p:nvSpPr>
          <p:cNvPr id="2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33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06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06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506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06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06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06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06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06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06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06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06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06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06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6308" grpId="0"/>
      <p:bldP spid="1506309" grpId="0" build="allAtOnce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331" name="Text Box 3"/>
          <p:cNvSpPr txBox="1">
            <a:spLocks noChangeArrowheads="1"/>
          </p:cNvSpPr>
          <p:nvPr/>
        </p:nvSpPr>
        <p:spPr bwMode="auto">
          <a:xfrm>
            <a:off x="2386013" y="5784850"/>
            <a:ext cx="6102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幼圆" pitchFamily="49" charset="-122"/>
              </a:rPr>
              <a:t>常规三轴与侧限压缩试验</a:t>
            </a:r>
          </a:p>
        </p:txBody>
      </p:sp>
      <p:sp>
        <p:nvSpPr>
          <p:cNvPr id="1507332" name="Text Box 4"/>
          <p:cNvSpPr txBox="1">
            <a:spLocks noChangeArrowheads="1"/>
          </p:cNvSpPr>
          <p:nvPr/>
        </p:nvSpPr>
        <p:spPr bwMode="auto">
          <a:xfrm>
            <a:off x="393700" y="639763"/>
            <a:ext cx="70913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变形模量 </a:t>
            </a:r>
            <a:r>
              <a:rPr lang="en-US" altLang="zh-CN" sz="28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800" b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与侧限变形模量 </a:t>
            </a:r>
            <a:r>
              <a:rPr lang="en-US" altLang="zh-CN" sz="2800" b="1" i="1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间的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关系</a:t>
            </a:r>
          </a:p>
        </p:txBody>
      </p:sp>
      <p:graphicFrame>
        <p:nvGraphicFramePr>
          <p:cNvPr id="15073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247773"/>
              </p:ext>
            </p:extLst>
          </p:nvPr>
        </p:nvGraphicFramePr>
        <p:xfrm>
          <a:off x="1946275" y="1214438"/>
          <a:ext cx="3022600" cy="230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700" name="Microsoft 公式 3.0" r:id="rId3" imgW="1777680" imgH="1358640" progId="Equation.3">
                  <p:embed/>
                </p:oleObj>
              </mc:Choice>
              <mc:Fallback>
                <p:oleObj name="Microsoft 公式 3.0" r:id="rId3" imgW="1777680" imgH="1358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275" y="1214438"/>
                        <a:ext cx="3022600" cy="230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07334" name="Group 6"/>
          <p:cNvGrpSpPr>
            <a:grpSpLocks/>
          </p:cNvGrpSpPr>
          <p:nvPr/>
        </p:nvGrpSpPr>
        <p:grpSpPr bwMode="auto">
          <a:xfrm>
            <a:off x="830263" y="3698641"/>
            <a:ext cx="5778498" cy="866775"/>
            <a:chOff x="703" y="2428"/>
            <a:chExt cx="3640" cy="546"/>
          </a:xfrm>
        </p:grpSpPr>
        <p:sp>
          <p:nvSpPr>
            <p:cNvPr id="1507335" name="Rectangle 7"/>
            <p:cNvSpPr>
              <a:spLocks noChangeArrowheads="1"/>
            </p:cNvSpPr>
            <p:nvPr/>
          </p:nvSpPr>
          <p:spPr bwMode="auto">
            <a:xfrm>
              <a:off x="703" y="2561"/>
              <a:ext cx="3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339966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则</a:t>
              </a:r>
              <a:r>
                <a:rPr kumimoji="1" lang="en-US" altLang="zh-CN" sz="20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:</a:t>
              </a:r>
            </a:p>
          </p:txBody>
        </p:sp>
        <p:graphicFrame>
          <p:nvGraphicFramePr>
            <p:cNvPr id="150733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1169266"/>
                </p:ext>
              </p:extLst>
            </p:nvPr>
          </p:nvGraphicFramePr>
          <p:xfrm>
            <a:off x="1046" y="2428"/>
            <a:ext cx="3297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7701" name="Microsoft 公式 3.0" r:id="rId5" imgW="2908080" imgH="482400" progId="Equation.3">
                    <p:embed/>
                  </p:oleObj>
                </mc:Choice>
                <mc:Fallback>
                  <p:oleObj name="Microsoft 公式 3.0" r:id="rId5" imgW="2908080" imgH="4824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6" y="2428"/>
                          <a:ext cx="3297" cy="5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07337" name="Text Box 9"/>
          <p:cNvSpPr txBox="1">
            <a:spLocks noChangeArrowheads="1"/>
          </p:cNvSpPr>
          <p:nvPr/>
        </p:nvSpPr>
        <p:spPr bwMode="auto">
          <a:xfrm>
            <a:off x="5898017" y="4843229"/>
            <a:ext cx="1483857" cy="525401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 wrap="square" lIns="90000" tIns="46800" rIns="90000" bIns="4680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E</a:t>
            </a:r>
            <a:r>
              <a:rPr kumimoji="1" lang="en-US" altLang="zh-CN" sz="2800" b="1" baseline="-25000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t</a:t>
            </a:r>
            <a:r>
              <a:rPr kumimoji="1" lang="en-US" altLang="zh-CN" sz="2800" b="1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en-US" altLang="zh-CN" sz="28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&lt; </a:t>
            </a:r>
            <a:r>
              <a:rPr kumimoji="1" lang="en-US" altLang="zh-CN" sz="2800" b="1" i="1" dirty="0" err="1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E</a:t>
            </a:r>
            <a:r>
              <a:rPr kumimoji="1" lang="en-US" altLang="zh-CN" sz="2800" b="1" baseline="-25000" dirty="0" err="1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s</a:t>
            </a:r>
            <a:endParaRPr kumimoji="1" lang="en-US" altLang="zh-CN" sz="2800" b="1" baseline="-25000" dirty="0">
              <a:solidFill>
                <a:schemeClr val="bg1">
                  <a:lumMod val="95000"/>
                </a:schemeClr>
              </a:solidFill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5073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637076"/>
              </p:ext>
            </p:extLst>
          </p:nvPr>
        </p:nvGraphicFramePr>
        <p:xfrm>
          <a:off x="6199188" y="2546350"/>
          <a:ext cx="260508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702" name="Microsoft 公式 3.0" r:id="rId7" imgW="1447560" imgH="444240" progId="Equation.3">
                  <p:embed/>
                </p:oleObj>
              </mc:Choice>
              <mc:Fallback>
                <p:oleObj name="Microsoft 公式 3.0" r:id="rId7" imgW="1447560" imgH="4442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188" y="2546350"/>
                        <a:ext cx="260508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7339" name="AutoShape 11"/>
          <p:cNvSpPr>
            <a:spLocks noChangeArrowheads="1"/>
          </p:cNvSpPr>
          <p:nvPr/>
        </p:nvSpPr>
        <p:spPr bwMode="auto">
          <a:xfrm>
            <a:off x="5541963" y="2765425"/>
            <a:ext cx="560387" cy="457200"/>
          </a:xfrm>
          <a:prstGeom prst="homePlate">
            <a:avLst>
              <a:gd name="adj" fmla="val 3064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5073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442482"/>
              </p:ext>
            </p:extLst>
          </p:nvPr>
        </p:nvGraphicFramePr>
        <p:xfrm>
          <a:off x="1393825" y="4592638"/>
          <a:ext cx="324643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703" name="Microsoft 公式 3.0" r:id="rId9" imgW="1803240" imgH="482400" progId="Equation.3">
                  <p:embed/>
                </p:oleObj>
              </mc:Choice>
              <mc:Fallback>
                <p:oleObj name="Microsoft 公式 3.0" r:id="rId9" imgW="1803240" imgH="482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4592638"/>
                        <a:ext cx="3246438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7341" name="AutoShape 13"/>
          <p:cNvSpPr>
            <a:spLocks noChangeArrowheads="1"/>
          </p:cNvSpPr>
          <p:nvPr/>
        </p:nvSpPr>
        <p:spPr bwMode="auto">
          <a:xfrm>
            <a:off x="5065713" y="4895617"/>
            <a:ext cx="560387" cy="457200"/>
          </a:xfrm>
          <a:prstGeom prst="homePlate">
            <a:avLst>
              <a:gd name="adj" fmla="val 3064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7342" name="Text Box 14"/>
          <p:cNvSpPr txBox="1">
            <a:spLocks noChangeArrowheads="1"/>
          </p:cNvSpPr>
          <p:nvPr/>
        </p:nvSpPr>
        <p:spPr bwMode="auto">
          <a:xfrm>
            <a:off x="858838" y="1533525"/>
            <a:ext cx="611187" cy="152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虎克定律</a:t>
            </a:r>
          </a:p>
        </p:txBody>
      </p:sp>
      <p:graphicFrame>
        <p:nvGraphicFramePr>
          <p:cNvPr id="15073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281204"/>
              </p:ext>
            </p:extLst>
          </p:nvPr>
        </p:nvGraphicFramePr>
        <p:xfrm>
          <a:off x="7170738" y="1449388"/>
          <a:ext cx="1600200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704" name="Microsoft 公式 3.0" r:id="rId11" imgW="888840" imgH="495000" progId="Equation.3">
                  <p:embed/>
                </p:oleObj>
              </mc:Choice>
              <mc:Fallback>
                <p:oleObj name="Microsoft 公式 3.0" r:id="rId11" imgW="888840" imgH="4950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0738" y="1449388"/>
                        <a:ext cx="1600200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7344" name="Text Box 16"/>
          <p:cNvSpPr txBox="1">
            <a:spLocks noChangeArrowheads="1"/>
          </p:cNvSpPr>
          <p:nvPr/>
        </p:nvSpPr>
        <p:spPr bwMode="auto">
          <a:xfrm>
            <a:off x="5622925" y="1666875"/>
            <a:ext cx="1463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侧限条件</a:t>
            </a: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的压缩性测试方法</a:t>
            </a:r>
          </a:p>
        </p:txBody>
      </p:sp>
      <p:sp>
        <p:nvSpPr>
          <p:cNvPr id="1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34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7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7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07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7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0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07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0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507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07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07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07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07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07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07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507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07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7332" grpId="0"/>
      <p:bldP spid="1507337" grpId="0" animBg="1"/>
      <p:bldP spid="1507339" grpId="0" animBg="1"/>
      <p:bldP spid="1507341" grpId="0" animBg="1"/>
      <p:bldP spid="1507342" grpId="0"/>
      <p:bldP spid="150734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355" name="Rectangle 3"/>
          <p:cNvSpPr>
            <a:spLocks noChangeArrowheads="1"/>
          </p:cNvSpPr>
          <p:nvPr/>
        </p:nvSpPr>
        <p:spPr bwMode="auto">
          <a:xfrm>
            <a:off x="3397250" y="5807075"/>
            <a:ext cx="42973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土体变形的机理</a:t>
            </a:r>
            <a:endParaRPr kumimoji="1" lang="en-US" altLang="zh-CN" sz="4000" b="1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pSp>
        <p:nvGrpSpPr>
          <p:cNvPr id="1508356" name="Group 4"/>
          <p:cNvGrpSpPr>
            <a:grpSpLocks/>
          </p:cNvGrpSpPr>
          <p:nvPr/>
        </p:nvGrpSpPr>
        <p:grpSpPr bwMode="auto">
          <a:xfrm>
            <a:off x="868363" y="1520825"/>
            <a:ext cx="3352800" cy="2620963"/>
            <a:chOff x="547" y="1008"/>
            <a:chExt cx="2112" cy="1651"/>
          </a:xfrm>
        </p:grpSpPr>
        <p:sp>
          <p:nvSpPr>
            <p:cNvPr id="1508357" name="AutoShape 5"/>
            <p:cNvSpPr>
              <a:spLocks noChangeArrowheads="1"/>
            </p:cNvSpPr>
            <p:nvPr/>
          </p:nvSpPr>
          <p:spPr bwMode="auto">
            <a:xfrm>
              <a:off x="547" y="1008"/>
              <a:ext cx="2112" cy="1651"/>
            </a:xfrm>
            <a:prstGeom prst="roundRect">
              <a:avLst>
                <a:gd name="adj" fmla="val 16667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8358" name="Rectangle 6"/>
            <p:cNvSpPr>
              <a:spLocks noChangeArrowheads="1"/>
            </p:cNvSpPr>
            <p:nvPr/>
          </p:nvSpPr>
          <p:spPr bwMode="auto">
            <a:xfrm>
              <a:off x="997" y="1040"/>
              <a:ext cx="110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lnSpc>
                  <a:spcPct val="120000"/>
                </a:lnSpc>
                <a:spcBef>
                  <a:spcPct val="30000"/>
                </a:spcBef>
                <a:spcAft>
                  <a:spcPct val="0"/>
                </a:spcAft>
                <a:buFont typeface="Wingdings" pitchFamily="2" charset="2"/>
                <a:buChar char="§"/>
              </a:pPr>
              <a:r>
                <a:rPr kumimoji="1" lang="zh-CN" altLang="en-US" sz="2400" b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  弹性变形</a:t>
              </a:r>
            </a:p>
          </p:txBody>
        </p:sp>
        <p:sp>
          <p:nvSpPr>
            <p:cNvPr id="1508359" name="Rectangle 7"/>
            <p:cNvSpPr>
              <a:spLocks noChangeArrowheads="1"/>
            </p:cNvSpPr>
            <p:nvPr/>
          </p:nvSpPr>
          <p:spPr bwMode="auto">
            <a:xfrm>
              <a:off x="688" y="1388"/>
              <a:ext cx="1890" cy="11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1" lang="zh-CN" altLang="en-US" sz="2400" b="1" dirty="0" smtClean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 接触点</a:t>
              </a:r>
              <a:r>
                <a:rPr kumimoji="1" lang="zh-CN" altLang="en-US" sz="24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处弹性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变形</a:t>
              </a:r>
              <a:endPara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  <a:p>
              <a:pPr eaLnBrk="0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1" lang="zh-CN" altLang="en-US" sz="2400" b="1" dirty="0" smtClean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 弹性</a:t>
              </a:r>
              <a:r>
                <a:rPr kumimoji="1" lang="zh-CN" altLang="en-US" sz="24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挠曲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变形</a:t>
              </a:r>
              <a:endPara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  <a:p>
              <a:pPr eaLnBrk="0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1" lang="zh-CN" altLang="en-US" sz="2400" b="1" dirty="0" smtClean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 颗粒</a:t>
              </a:r>
              <a:r>
                <a:rPr kumimoji="1" lang="zh-CN" altLang="en-US" sz="24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翻转的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可逆性</a:t>
              </a:r>
              <a:endParaRPr kumimoji="1" lang="en-US" altLang="zh-CN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  <a:p>
              <a:pPr eaLnBrk="0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1" lang="zh-CN" altLang="en-US" sz="2400" b="1" dirty="0" smtClean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 封闭</a:t>
              </a:r>
              <a:r>
                <a:rPr kumimoji="1" lang="zh-CN" altLang="en-US" sz="24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气泡受压</a:t>
              </a:r>
            </a:p>
          </p:txBody>
        </p:sp>
      </p:grpSp>
      <p:grpSp>
        <p:nvGrpSpPr>
          <p:cNvPr id="1508360" name="Group 8"/>
          <p:cNvGrpSpPr>
            <a:grpSpLocks/>
          </p:cNvGrpSpPr>
          <p:nvPr/>
        </p:nvGrpSpPr>
        <p:grpSpPr bwMode="auto">
          <a:xfrm>
            <a:off x="4725988" y="1524000"/>
            <a:ext cx="3352800" cy="2620963"/>
            <a:chOff x="2977" y="1010"/>
            <a:chExt cx="2112" cy="1651"/>
          </a:xfrm>
        </p:grpSpPr>
        <p:sp>
          <p:nvSpPr>
            <p:cNvPr id="1508361" name="AutoShape 9"/>
            <p:cNvSpPr>
              <a:spLocks noChangeArrowheads="1"/>
            </p:cNvSpPr>
            <p:nvPr/>
          </p:nvSpPr>
          <p:spPr bwMode="auto">
            <a:xfrm>
              <a:off x="2977" y="1010"/>
              <a:ext cx="2112" cy="165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8362" name="Rectangle 10"/>
            <p:cNvSpPr>
              <a:spLocks noChangeArrowheads="1"/>
            </p:cNvSpPr>
            <p:nvPr/>
          </p:nvSpPr>
          <p:spPr bwMode="auto">
            <a:xfrm>
              <a:off x="3494" y="1027"/>
              <a:ext cx="110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lnSpc>
                  <a:spcPct val="120000"/>
                </a:lnSpc>
                <a:spcBef>
                  <a:spcPct val="30000"/>
                </a:spcBef>
                <a:spcAft>
                  <a:spcPct val="0"/>
                </a:spcAft>
                <a:buFont typeface="Wingdings" pitchFamily="2" charset="2"/>
                <a:buChar char="§"/>
              </a:pPr>
              <a:r>
                <a:rPr kumimoji="1" lang="zh-CN" altLang="en-US" sz="2400" b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  塑性变形</a:t>
              </a:r>
            </a:p>
          </p:txBody>
        </p:sp>
        <p:sp>
          <p:nvSpPr>
            <p:cNvPr id="1508363" name="Rectangle 11"/>
            <p:cNvSpPr>
              <a:spLocks noChangeArrowheads="1"/>
            </p:cNvSpPr>
            <p:nvPr/>
          </p:nvSpPr>
          <p:spPr bwMode="auto">
            <a:xfrm>
              <a:off x="3191" y="1375"/>
              <a:ext cx="1719" cy="11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1" lang="zh-CN" altLang="en-US" sz="2400" b="1" dirty="0" smtClean="0">
                  <a:solidFill>
                    <a:srgbClr val="6600CC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 大</a:t>
              </a:r>
              <a:r>
                <a:rPr kumimoji="1" lang="zh-CN" altLang="en-US" sz="2400" b="1" dirty="0">
                  <a:solidFill>
                    <a:srgbClr val="6600CC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孔隙</a:t>
              </a:r>
              <a:r>
                <a:rPr kumimoji="1" lang="zh-CN" altLang="en-US" sz="2400" b="1" dirty="0" smtClean="0">
                  <a:solidFill>
                    <a:srgbClr val="6600CC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消失</a:t>
              </a:r>
              <a:endParaRPr kumimoji="1" lang="en-US" altLang="zh-CN" sz="2400" b="1" dirty="0" smtClean="0">
                <a:solidFill>
                  <a:srgbClr val="6600CC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  <a:p>
              <a:pPr eaLnBrk="0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1" lang="zh-CN" altLang="en-US" sz="2400" b="1" dirty="0" smtClean="0">
                  <a:solidFill>
                    <a:srgbClr val="6600CC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 接触点</a:t>
              </a:r>
              <a:r>
                <a:rPr kumimoji="1" lang="zh-CN" altLang="en-US" sz="2400" b="1" dirty="0">
                  <a:solidFill>
                    <a:srgbClr val="6600CC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颗粒</a:t>
              </a:r>
              <a:r>
                <a:rPr kumimoji="1" lang="zh-CN" altLang="en-US" sz="2400" b="1" dirty="0" smtClean="0">
                  <a:solidFill>
                    <a:srgbClr val="6600CC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破碎</a:t>
              </a:r>
              <a:endParaRPr kumimoji="1" lang="en-US" altLang="zh-CN" sz="2400" b="1" dirty="0" smtClean="0">
                <a:solidFill>
                  <a:srgbClr val="6600CC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  <a:p>
              <a:pPr eaLnBrk="0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1" lang="zh-CN" altLang="en-US" sz="2400" b="1" dirty="0" smtClean="0">
                  <a:solidFill>
                    <a:srgbClr val="6600CC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 颗粒</a:t>
              </a:r>
              <a:r>
                <a:rPr kumimoji="1" lang="zh-CN" altLang="en-US" sz="2400" b="1" dirty="0">
                  <a:solidFill>
                    <a:srgbClr val="6600CC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相对</a:t>
              </a:r>
              <a:r>
                <a:rPr kumimoji="1" lang="zh-CN" altLang="en-US" sz="2400" b="1" dirty="0" smtClean="0">
                  <a:solidFill>
                    <a:srgbClr val="6600CC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滑移</a:t>
              </a:r>
              <a:endParaRPr kumimoji="1" lang="en-US" altLang="zh-CN" sz="2400" b="1" dirty="0" smtClean="0">
                <a:solidFill>
                  <a:srgbClr val="6600CC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  <a:p>
              <a:pPr eaLnBrk="0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1" lang="en-US" altLang="zh-CN" sz="2400" b="1" dirty="0">
                  <a:solidFill>
                    <a:srgbClr val="6600CC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 </a:t>
              </a:r>
              <a:r>
                <a:rPr kumimoji="1" lang="zh-CN" altLang="en-US" sz="2400" b="1" dirty="0" smtClean="0">
                  <a:solidFill>
                    <a:srgbClr val="6600CC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扁平</a:t>
              </a:r>
              <a:r>
                <a:rPr kumimoji="1" lang="zh-CN" altLang="en-US" sz="2400" b="1" dirty="0">
                  <a:solidFill>
                    <a:srgbClr val="6600CC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颗粒断裂</a:t>
              </a:r>
            </a:p>
          </p:txBody>
        </p:sp>
      </p:grpSp>
      <p:sp>
        <p:nvSpPr>
          <p:cNvPr id="1508364" name="Rectangle 12"/>
          <p:cNvSpPr>
            <a:spLocks noChangeArrowheads="1"/>
          </p:cNvSpPr>
          <p:nvPr/>
        </p:nvSpPr>
        <p:spPr bwMode="auto">
          <a:xfrm>
            <a:off x="1155700" y="788988"/>
            <a:ext cx="232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土体的变形特性</a:t>
            </a:r>
          </a:p>
        </p:txBody>
      </p:sp>
      <p:sp>
        <p:nvSpPr>
          <p:cNvPr id="1508365" name="Rectangle 13"/>
          <p:cNvSpPr>
            <a:spLocks noChangeArrowheads="1"/>
          </p:cNvSpPr>
          <p:nvPr/>
        </p:nvSpPr>
        <p:spPr bwMode="auto">
          <a:xfrm>
            <a:off x="5016500" y="808038"/>
            <a:ext cx="294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土体的特点：散粒体</a:t>
            </a:r>
            <a:endParaRPr kumimoji="1" lang="en-US" altLang="zh-CN" sz="2400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08366" name="Rectangle 14"/>
          <p:cNvSpPr>
            <a:spLocks noChangeArrowheads="1"/>
          </p:cNvSpPr>
          <p:nvPr/>
        </p:nvSpPr>
        <p:spPr bwMode="auto">
          <a:xfrm>
            <a:off x="1430338" y="4400550"/>
            <a:ext cx="7289800" cy="1179513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/>
          <a:lstStyle/>
          <a:p>
            <a:pPr marL="441325" indent="-441325"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体应变主要由孔隙体积变化引起</a:t>
            </a:r>
            <a:endParaRPr kumimoji="1" lang="en-US" altLang="zh-CN" sz="2400" dirty="0">
              <a:solidFill>
                <a:schemeClr val="bg1">
                  <a:lumMod val="95000"/>
                </a:schemeClr>
              </a:solidFill>
              <a:ea typeface="幼圆" pitchFamily="49" charset="-122"/>
              <a:sym typeface="Symbol" pitchFamily="18" charset="2"/>
            </a:endParaRPr>
          </a:p>
          <a:p>
            <a:pPr marL="441325" indent="-441325"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剪应变主要由土颗粒的大小和排列形态变化引起</a:t>
            </a:r>
          </a:p>
        </p:txBody>
      </p:sp>
      <p:sp>
        <p:nvSpPr>
          <p:cNvPr id="1508367" name="AutoShape 15"/>
          <p:cNvSpPr>
            <a:spLocks noChangeArrowheads="1"/>
          </p:cNvSpPr>
          <p:nvPr/>
        </p:nvSpPr>
        <p:spPr bwMode="auto">
          <a:xfrm>
            <a:off x="4021138" y="822325"/>
            <a:ext cx="560387" cy="427038"/>
          </a:xfrm>
          <a:prstGeom prst="homePlate">
            <a:avLst>
              <a:gd name="adj" fmla="val 3280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的压缩性测试方法</a:t>
            </a:r>
          </a:p>
        </p:txBody>
      </p:sp>
      <p:sp>
        <p:nvSpPr>
          <p:cNvPr id="1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35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8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8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50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08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08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150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150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08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08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08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8364" grpId="0"/>
      <p:bldP spid="1508365" grpId="0"/>
      <p:bldP spid="1508366" grpId="0" animBg="1"/>
      <p:bldP spid="150836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379" name="Rectangle 3"/>
          <p:cNvSpPr>
            <a:spLocks noChangeArrowheads="1"/>
          </p:cNvSpPr>
          <p:nvPr/>
        </p:nvSpPr>
        <p:spPr bwMode="auto">
          <a:xfrm>
            <a:off x="3452813" y="5756275"/>
            <a:ext cx="38782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土的本构模型</a:t>
            </a:r>
          </a:p>
        </p:txBody>
      </p:sp>
      <p:sp>
        <p:nvSpPr>
          <p:cNvPr id="1509382" name="Freeform 6"/>
          <p:cNvSpPr>
            <a:spLocks/>
          </p:cNvSpPr>
          <p:nvPr/>
        </p:nvSpPr>
        <p:spPr bwMode="auto">
          <a:xfrm>
            <a:off x="777875" y="2238375"/>
            <a:ext cx="2295525" cy="1854200"/>
          </a:xfrm>
          <a:custGeom>
            <a:avLst/>
            <a:gdLst>
              <a:gd name="T0" fmla="*/ 0 w 1446"/>
              <a:gd name="T1" fmla="*/ 1168 h 1168"/>
              <a:gd name="T2" fmla="*/ 348 w 1446"/>
              <a:gd name="T3" fmla="*/ 0 h 1168"/>
              <a:gd name="T4" fmla="*/ 1446 w 1446"/>
              <a:gd name="T5" fmla="*/ 0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46" h="1168">
                <a:moveTo>
                  <a:pt x="0" y="1168"/>
                </a:moveTo>
                <a:lnTo>
                  <a:pt x="348" y="0"/>
                </a:lnTo>
                <a:lnTo>
                  <a:pt x="1446" y="0"/>
                </a:lnTo>
              </a:path>
            </a:pathLst>
          </a:custGeom>
          <a:noFill/>
          <a:ln w="28575" cmpd="sng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383" name="Line 7"/>
          <p:cNvSpPr>
            <a:spLocks noChangeShapeType="1"/>
          </p:cNvSpPr>
          <p:nvPr/>
        </p:nvSpPr>
        <p:spPr bwMode="auto">
          <a:xfrm>
            <a:off x="777875" y="2243138"/>
            <a:ext cx="53816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386" name="Rectangle 10"/>
          <p:cNvSpPr>
            <a:spLocks noChangeArrowheads="1"/>
          </p:cNvSpPr>
          <p:nvPr/>
        </p:nvSpPr>
        <p:spPr bwMode="auto">
          <a:xfrm>
            <a:off x="1065213" y="2312988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b="1">
                <a:solidFill>
                  <a:srgbClr val="000066"/>
                </a:solidFill>
                <a:cs typeface="Times New Roman" panose="02020603050405020304" pitchFamily="18" charset="0"/>
              </a:rPr>
              <a:t>1</a:t>
            </a:r>
            <a:endParaRPr kumimoji="1" lang="en-US" altLang="zh-CN" sz="2400" b="1">
              <a:solidFill>
                <a:srgbClr val="000066"/>
              </a:solidFill>
              <a:cs typeface="Times New Roman" panose="02020603050405020304" pitchFamily="18" charset="0"/>
            </a:endParaRPr>
          </a:p>
        </p:txBody>
      </p:sp>
      <p:sp>
        <p:nvSpPr>
          <p:cNvPr id="1509387" name="Rectangle 11"/>
          <p:cNvSpPr>
            <a:spLocks noChangeArrowheads="1"/>
          </p:cNvSpPr>
          <p:nvPr/>
        </p:nvSpPr>
        <p:spPr bwMode="auto">
          <a:xfrm>
            <a:off x="860425" y="2687638"/>
            <a:ext cx="1524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E</a:t>
            </a:r>
            <a:endParaRPr kumimoji="1" lang="en-US" altLang="zh-CN" sz="2400" b="1" i="1" dirty="0">
              <a:solidFill>
                <a:srgbClr val="000066"/>
              </a:solidFill>
              <a:cs typeface="Times New Roman" panose="02020603050405020304" pitchFamily="18" charset="0"/>
            </a:endParaRPr>
          </a:p>
        </p:txBody>
      </p:sp>
      <p:sp>
        <p:nvSpPr>
          <p:cNvPr id="1509390" name="Freeform 14"/>
          <p:cNvSpPr>
            <a:spLocks/>
          </p:cNvSpPr>
          <p:nvPr/>
        </p:nvSpPr>
        <p:spPr bwMode="auto">
          <a:xfrm>
            <a:off x="777875" y="2257425"/>
            <a:ext cx="2286000" cy="1849438"/>
          </a:xfrm>
          <a:custGeom>
            <a:avLst/>
            <a:gdLst>
              <a:gd name="T0" fmla="*/ 0 w 1440"/>
              <a:gd name="T1" fmla="*/ 1165 h 1165"/>
              <a:gd name="T2" fmla="*/ 108 w 1440"/>
              <a:gd name="T3" fmla="*/ 813 h 1165"/>
              <a:gd name="T4" fmla="*/ 297 w 1440"/>
              <a:gd name="T5" fmla="*/ 426 h 1165"/>
              <a:gd name="T6" fmla="*/ 547 w 1440"/>
              <a:gd name="T7" fmla="*/ 148 h 1165"/>
              <a:gd name="T8" fmla="*/ 880 w 1440"/>
              <a:gd name="T9" fmla="*/ 23 h 1165"/>
              <a:gd name="T10" fmla="*/ 1193 w 1440"/>
              <a:gd name="T11" fmla="*/ 13 h 1165"/>
              <a:gd name="T12" fmla="*/ 1440 w 1440"/>
              <a:gd name="T13" fmla="*/ 39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0" h="1165">
                <a:moveTo>
                  <a:pt x="0" y="1165"/>
                </a:moveTo>
                <a:cubicBezTo>
                  <a:pt x="29" y="1050"/>
                  <a:pt x="59" y="936"/>
                  <a:pt x="108" y="813"/>
                </a:cubicBezTo>
                <a:cubicBezTo>
                  <a:pt x="157" y="690"/>
                  <a:pt x="224" y="537"/>
                  <a:pt x="297" y="426"/>
                </a:cubicBezTo>
                <a:cubicBezTo>
                  <a:pt x="370" y="315"/>
                  <a:pt x="450" y="215"/>
                  <a:pt x="547" y="148"/>
                </a:cubicBezTo>
                <a:cubicBezTo>
                  <a:pt x="644" y="81"/>
                  <a:pt x="772" y="46"/>
                  <a:pt x="880" y="23"/>
                </a:cubicBezTo>
                <a:cubicBezTo>
                  <a:pt x="988" y="0"/>
                  <a:pt x="1100" y="10"/>
                  <a:pt x="1193" y="13"/>
                </a:cubicBezTo>
                <a:cubicBezTo>
                  <a:pt x="1286" y="16"/>
                  <a:pt x="1363" y="27"/>
                  <a:pt x="1440" y="39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391" name="Freeform 15"/>
          <p:cNvSpPr>
            <a:spLocks/>
          </p:cNvSpPr>
          <p:nvPr/>
        </p:nvSpPr>
        <p:spPr bwMode="auto">
          <a:xfrm>
            <a:off x="782638" y="1617663"/>
            <a:ext cx="2244725" cy="2493962"/>
          </a:xfrm>
          <a:custGeom>
            <a:avLst/>
            <a:gdLst>
              <a:gd name="T0" fmla="*/ 0 w 1414"/>
              <a:gd name="T1" fmla="*/ 0 h 1571"/>
              <a:gd name="T2" fmla="*/ 0 w 1414"/>
              <a:gd name="T3" fmla="*/ 1571 h 1571"/>
              <a:gd name="T4" fmla="*/ 1414 w 1414"/>
              <a:gd name="T5" fmla="*/ 1571 h 1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14" h="1571">
                <a:moveTo>
                  <a:pt x="0" y="0"/>
                </a:moveTo>
                <a:lnTo>
                  <a:pt x="0" y="1571"/>
                </a:lnTo>
                <a:lnTo>
                  <a:pt x="1414" y="1571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392" name="Text Box 16"/>
          <p:cNvSpPr txBox="1">
            <a:spLocks noChangeArrowheads="1"/>
          </p:cNvSpPr>
          <p:nvPr/>
        </p:nvSpPr>
        <p:spPr bwMode="auto">
          <a:xfrm>
            <a:off x="876300" y="1323975"/>
            <a:ext cx="857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09393" name="Text Box 17"/>
          <p:cNvSpPr txBox="1">
            <a:spLocks noChangeArrowheads="1"/>
          </p:cNvSpPr>
          <p:nvPr/>
        </p:nvSpPr>
        <p:spPr bwMode="auto">
          <a:xfrm>
            <a:off x="284163" y="2033588"/>
            <a:ext cx="436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09394" name="Text Box 18"/>
          <p:cNvSpPr txBox="1">
            <a:spLocks noChangeArrowheads="1"/>
          </p:cNvSpPr>
          <p:nvPr/>
        </p:nvSpPr>
        <p:spPr bwMode="auto">
          <a:xfrm>
            <a:off x="2933700" y="3852863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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09395" name="Freeform 19"/>
          <p:cNvSpPr>
            <a:spLocks/>
          </p:cNvSpPr>
          <p:nvPr/>
        </p:nvSpPr>
        <p:spPr bwMode="auto">
          <a:xfrm>
            <a:off x="3594100" y="2252663"/>
            <a:ext cx="2286000" cy="1849437"/>
          </a:xfrm>
          <a:custGeom>
            <a:avLst/>
            <a:gdLst>
              <a:gd name="T0" fmla="*/ 0 w 1440"/>
              <a:gd name="T1" fmla="*/ 1165 h 1165"/>
              <a:gd name="T2" fmla="*/ 108 w 1440"/>
              <a:gd name="T3" fmla="*/ 813 h 1165"/>
              <a:gd name="T4" fmla="*/ 297 w 1440"/>
              <a:gd name="T5" fmla="*/ 426 h 1165"/>
              <a:gd name="T6" fmla="*/ 547 w 1440"/>
              <a:gd name="T7" fmla="*/ 148 h 1165"/>
              <a:gd name="T8" fmla="*/ 880 w 1440"/>
              <a:gd name="T9" fmla="*/ 23 h 1165"/>
              <a:gd name="T10" fmla="*/ 1193 w 1440"/>
              <a:gd name="T11" fmla="*/ 13 h 1165"/>
              <a:gd name="T12" fmla="*/ 1440 w 1440"/>
              <a:gd name="T13" fmla="*/ 39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0" h="1165">
                <a:moveTo>
                  <a:pt x="0" y="1165"/>
                </a:moveTo>
                <a:cubicBezTo>
                  <a:pt x="29" y="1050"/>
                  <a:pt x="59" y="936"/>
                  <a:pt x="108" y="813"/>
                </a:cubicBezTo>
                <a:cubicBezTo>
                  <a:pt x="157" y="690"/>
                  <a:pt x="224" y="537"/>
                  <a:pt x="297" y="426"/>
                </a:cubicBezTo>
                <a:cubicBezTo>
                  <a:pt x="370" y="315"/>
                  <a:pt x="450" y="215"/>
                  <a:pt x="547" y="148"/>
                </a:cubicBezTo>
                <a:cubicBezTo>
                  <a:pt x="644" y="81"/>
                  <a:pt x="772" y="46"/>
                  <a:pt x="880" y="23"/>
                </a:cubicBezTo>
                <a:cubicBezTo>
                  <a:pt x="988" y="0"/>
                  <a:pt x="1100" y="10"/>
                  <a:pt x="1193" y="13"/>
                </a:cubicBezTo>
                <a:cubicBezTo>
                  <a:pt x="1286" y="16"/>
                  <a:pt x="1363" y="27"/>
                  <a:pt x="1440" y="39"/>
                </a:cubicBezTo>
              </a:path>
            </a:pathLst>
          </a:custGeom>
          <a:noFill/>
          <a:ln w="38100" cap="flat" cmpd="sng">
            <a:solidFill>
              <a:srgbClr val="A5002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396" name="Freeform 20"/>
          <p:cNvSpPr>
            <a:spLocks/>
          </p:cNvSpPr>
          <p:nvPr/>
        </p:nvSpPr>
        <p:spPr bwMode="auto">
          <a:xfrm>
            <a:off x="3598863" y="1612900"/>
            <a:ext cx="2244725" cy="2493963"/>
          </a:xfrm>
          <a:custGeom>
            <a:avLst/>
            <a:gdLst>
              <a:gd name="T0" fmla="*/ 0 w 1414"/>
              <a:gd name="T1" fmla="*/ 0 h 1571"/>
              <a:gd name="T2" fmla="*/ 0 w 1414"/>
              <a:gd name="T3" fmla="*/ 1571 h 1571"/>
              <a:gd name="T4" fmla="*/ 1414 w 1414"/>
              <a:gd name="T5" fmla="*/ 1571 h 1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14" h="1571">
                <a:moveTo>
                  <a:pt x="0" y="0"/>
                </a:moveTo>
                <a:lnTo>
                  <a:pt x="0" y="1571"/>
                </a:lnTo>
                <a:lnTo>
                  <a:pt x="1414" y="1571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397" name="Text Box 21"/>
          <p:cNvSpPr txBox="1">
            <a:spLocks noChangeArrowheads="1"/>
          </p:cNvSpPr>
          <p:nvPr/>
        </p:nvSpPr>
        <p:spPr bwMode="auto">
          <a:xfrm>
            <a:off x="3692525" y="1319213"/>
            <a:ext cx="857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09398" name="Text Box 22"/>
          <p:cNvSpPr txBox="1">
            <a:spLocks noChangeArrowheads="1"/>
          </p:cNvSpPr>
          <p:nvPr/>
        </p:nvSpPr>
        <p:spPr bwMode="auto">
          <a:xfrm>
            <a:off x="5749925" y="3848100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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09399" name="Freeform 23"/>
          <p:cNvSpPr>
            <a:spLocks/>
          </p:cNvSpPr>
          <p:nvPr/>
        </p:nvSpPr>
        <p:spPr bwMode="auto">
          <a:xfrm>
            <a:off x="4202113" y="2170113"/>
            <a:ext cx="601662" cy="347662"/>
          </a:xfrm>
          <a:custGeom>
            <a:avLst/>
            <a:gdLst>
              <a:gd name="T0" fmla="*/ 0 w 379"/>
              <a:gd name="T1" fmla="*/ 219 h 219"/>
              <a:gd name="T2" fmla="*/ 189 w 379"/>
              <a:gd name="T3" fmla="*/ 81 h 219"/>
              <a:gd name="T4" fmla="*/ 379 w 379"/>
              <a:gd name="T5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9" h="219">
                <a:moveTo>
                  <a:pt x="0" y="219"/>
                </a:moveTo>
                <a:cubicBezTo>
                  <a:pt x="63" y="168"/>
                  <a:pt x="126" y="117"/>
                  <a:pt x="189" y="81"/>
                </a:cubicBezTo>
                <a:cubicBezTo>
                  <a:pt x="252" y="45"/>
                  <a:pt x="315" y="22"/>
                  <a:pt x="379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400" name="Freeform 24"/>
          <p:cNvSpPr>
            <a:spLocks/>
          </p:cNvSpPr>
          <p:nvPr/>
        </p:nvSpPr>
        <p:spPr bwMode="auto">
          <a:xfrm>
            <a:off x="4360863" y="2409825"/>
            <a:ext cx="601662" cy="347663"/>
          </a:xfrm>
          <a:custGeom>
            <a:avLst/>
            <a:gdLst>
              <a:gd name="T0" fmla="*/ 0 w 379"/>
              <a:gd name="T1" fmla="*/ 219 h 219"/>
              <a:gd name="T2" fmla="*/ 189 w 379"/>
              <a:gd name="T3" fmla="*/ 81 h 219"/>
              <a:gd name="T4" fmla="*/ 379 w 379"/>
              <a:gd name="T5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9" h="219">
                <a:moveTo>
                  <a:pt x="0" y="219"/>
                </a:moveTo>
                <a:cubicBezTo>
                  <a:pt x="63" y="168"/>
                  <a:pt x="126" y="117"/>
                  <a:pt x="189" y="81"/>
                </a:cubicBezTo>
                <a:cubicBezTo>
                  <a:pt x="252" y="45"/>
                  <a:pt x="315" y="22"/>
                  <a:pt x="379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401" name="Text Box 25"/>
          <p:cNvSpPr txBox="1">
            <a:spLocks noChangeArrowheads="1"/>
          </p:cNvSpPr>
          <p:nvPr/>
        </p:nvSpPr>
        <p:spPr bwMode="auto">
          <a:xfrm>
            <a:off x="4792663" y="1797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09402" name="Text Box 26"/>
          <p:cNvSpPr txBox="1">
            <a:spLocks noChangeArrowheads="1"/>
          </p:cNvSpPr>
          <p:nvPr/>
        </p:nvSpPr>
        <p:spPr bwMode="auto">
          <a:xfrm>
            <a:off x="4210050" y="27193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09403" name="Freeform 27"/>
          <p:cNvSpPr>
            <a:spLocks/>
          </p:cNvSpPr>
          <p:nvPr/>
        </p:nvSpPr>
        <p:spPr bwMode="auto">
          <a:xfrm>
            <a:off x="6446838" y="2252663"/>
            <a:ext cx="2286000" cy="1849437"/>
          </a:xfrm>
          <a:custGeom>
            <a:avLst/>
            <a:gdLst>
              <a:gd name="T0" fmla="*/ 0 w 1440"/>
              <a:gd name="T1" fmla="*/ 1165 h 1165"/>
              <a:gd name="T2" fmla="*/ 108 w 1440"/>
              <a:gd name="T3" fmla="*/ 813 h 1165"/>
              <a:gd name="T4" fmla="*/ 297 w 1440"/>
              <a:gd name="T5" fmla="*/ 426 h 1165"/>
              <a:gd name="T6" fmla="*/ 547 w 1440"/>
              <a:gd name="T7" fmla="*/ 148 h 1165"/>
              <a:gd name="T8" fmla="*/ 880 w 1440"/>
              <a:gd name="T9" fmla="*/ 23 h 1165"/>
              <a:gd name="T10" fmla="*/ 1193 w 1440"/>
              <a:gd name="T11" fmla="*/ 13 h 1165"/>
              <a:gd name="T12" fmla="*/ 1440 w 1440"/>
              <a:gd name="T13" fmla="*/ 39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0" h="1165">
                <a:moveTo>
                  <a:pt x="0" y="1165"/>
                </a:moveTo>
                <a:cubicBezTo>
                  <a:pt x="29" y="1050"/>
                  <a:pt x="59" y="936"/>
                  <a:pt x="108" y="813"/>
                </a:cubicBezTo>
                <a:cubicBezTo>
                  <a:pt x="157" y="690"/>
                  <a:pt x="224" y="537"/>
                  <a:pt x="297" y="426"/>
                </a:cubicBezTo>
                <a:cubicBezTo>
                  <a:pt x="370" y="315"/>
                  <a:pt x="450" y="215"/>
                  <a:pt x="547" y="148"/>
                </a:cubicBezTo>
                <a:cubicBezTo>
                  <a:pt x="644" y="81"/>
                  <a:pt x="772" y="46"/>
                  <a:pt x="880" y="23"/>
                </a:cubicBezTo>
                <a:cubicBezTo>
                  <a:pt x="988" y="0"/>
                  <a:pt x="1100" y="10"/>
                  <a:pt x="1193" y="13"/>
                </a:cubicBezTo>
                <a:cubicBezTo>
                  <a:pt x="1286" y="16"/>
                  <a:pt x="1363" y="27"/>
                  <a:pt x="1440" y="39"/>
                </a:cubicBezTo>
              </a:path>
            </a:pathLst>
          </a:custGeom>
          <a:noFill/>
          <a:ln w="38100" cap="flat" cmpd="sng">
            <a:solidFill>
              <a:srgbClr val="A5002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404" name="Freeform 28"/>
          <p:cNvSpPr>
            <a:spLocks/>
          </p:cNvSpPr>
          <p:nvPr/>
        </p:nvSpPr>
        <p:spPr bwMode="auto">
          <a:xfrm>
            <a:off x="6451600" y="1612900"/>
            <a:ext cx="2244725" cy="2493963"/>
          </a:xfrm>
          <a:custGeom>
            <a:avLst/>
            <a:gdLst>
              <a:gd name="T0" fmla="*/ 0 w 1414"/>
              <a:gd name="T1" fmla="*/ 0 h 1571"/>
              <a:gd name="T2" fmla="*/ 0 w 1414"/>
              <a:gd name="T3" fmla="*/ 1571 h 1571"/>
              <a:gd name="T4" fmla="*/ 1414 w 1414"/>
              <a:gd name="T5" fmla="*/ 1571 h 1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14" h="1571">
                <a:moveTo>
                  <a:pt x="0" y="0"/>
                </a:moveTo>
                <a:lnTo>
                  <a:pt x="0" y="1571"/>
                </a:lnTo>
                <a:lnTo>
                  <a:pt x="1414" y="1571"/>
                </a:ln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405" name="Text Box 29"/>
          <p:cNvSpPr txBox="1">
            <a:spLocks noChangeArrowheads="1"/>
          </p:cNvSpPr>
          <p:nvPr/>
        </p:nvSpPr>
        <p:spPr bwMode="auto">
          <a:xfrm>
            <a:off x="6545263" y="1319213"/>
            <a:ext cx="857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09406" name="Text Box 30"/>
          <p:cNvSpPr txBox="1">
            <a:spLocks noChangeArrowheads="1"/>
          </p:cNvSpPr>
          <p:nvPr/>
        </p:nvSpPr>
        <p:spPr bwMode="auto">
          <a:xfrm>
            <a:off x="8602663" y="3848100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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09407" name="Freeform 31"/>
          <p:cNvSpPr>
            <a:spLocks/>
          </p:cNvSpPr>
          <p:nvPr/>
        </p:nvSpPr>
        <p:spPr bwMode="auto">
          <a:xfrm>
            <a:off x="7054850" y="2170113"/>
            <a:ext cx="601663" cy="347662"/>
          </a:xfrm>
          <a:custGeom>
            <a:avLst/>
            <a:gdLst>
              <a:gd name="T0" fmla="*/ 0 w 379"/>
              <a:gd name="T1" fmla="*/ 219 h 219"/>
              <a:gd name="T2" fmla="*/ 189 w 379"/>
              <a:gd name="T3" fmla="*/ 81 h 219"/>
              <a:gd name="T4" fmla="*/ 379 w 379"/>
              <a:gd name="T5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9" h="219">
                <a:moveTo>
                  <a:pt x="0" y="219"/>
                </a:moveTo>
                <a:cubicBezTo>
                  <a:pt x="63" y="168"/>
                  <a:pt x="126" y="117"/>
                  <a:pt x="189" y="81"/>
                </a:cubicBezTo>
                <a:cubicBezTo>
                  <a:pt x="252" y="45"/>
                  <a:pt x="315" y="22"/>
                  <a:pt x="379" y="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408" name="Freeform 32"/>
          <p:cNvSpPr>
            <a:spLocks/>
          </p:cNvSpPr>
          <p:nvPr/>
        </p:nvSpPr>
        <p:spPr bwMode="auto">
          <a:xfrm>
            <a:off x="8032750" y="2135188"/>
            <a:ext cx="577850" cy="23812"/>
          </a:xfrm>
          <a:custGeom>
            <a:avLst/>
            <a:gdLst>
              <a:gd name="T0" fmla="*/ 364 w 364"/>
              <a:gd name="T1" fmla="*/ 8 h 15"/>
              <a:gd name="T2" fmla="*/ 160 w 364"/>
              <a:gd name="T3" fmla="*/ 1 h 15"/>
              <a:gd name="T4" fmla="*/ 0 w 364"/>
              <a:gd name="T5" fmla="*/ 15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4" h="15">
                <a:moveTo>
                  <a:pt x="364" y="8"/>
                </a:moveTo>
                <a:cubicBezTo>
                  <a:pt x="330" y="7"/>
                  <a:pt x="221" y="0"/>
                  <a:pt x="160" y="1"/>
                </a:cubicBezTo>
                <a:cubicBezTo>
                  <a:pt x="99" y="2"/>
                  <a:pt x="33" y="12"/>
                  <a:pt x="0" y="15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 type="triangle" w="med" len="lg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409" name="Text Box 33"/>
          <p:cNvSpPr txBox="1">
            <a:spLocks noChangeArrowheads="1"/>
          </p:cNvSpPr>
          <p:nvPr/>
        </p:nvSpPr>
        <p:spPr bwMode="auto">
          <a:xfrm>
            <a:off x="7645400" y="1797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09410" name="Text Box 34"/>
          <p:cNvSpPr txBox="1">
            <a:spLocks noChangeArrowheads="1"/>
          </p:cNvSpPr>
          <p:nvPr/>
        </p:nvSpPr>
        <p:spPr bwMode="auto">
          <a:xfrm>
            <a:off x="7143750" y="3194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09411" name="Line 35"/>
          <p:cNvSpPr>
            <a:spLocks noChangeShapeType="1"/>
          </p:cNvSpPr>
          <p:nvPr/>
        </p:nvSpPr>
        <p:spPr bwMode="auto">
          <a:xfrm flipH="1">
            <a:off x="7332663" y="2274888"/>
            <a:ext cx="623887" cy="1852612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412" name="Line 36"/>
          <p:cNvSpPr>
            <a:spLocks noChangeShapeType="1"/>
          </p:cNvSpPr>
          <p:nvPr/>
        </p:nvSpPr>
        <p:spPr bwMode="auto">
          <a:xfrm flipH="1">
            <a:off x="7442200" y="2935288"/>
            <a:ext cx="196850" cy="520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413" name="Line 37"/>
          <p:cNvSpPr>
            <a:spLocks noChangeShapeType="1"/>
          </p:cNvSpPr>
          <p:nvPr/>
        </p:nvSpPr>
        <p:spPr bwMode="auto">
          <a:xfrm rot="10800000" flipH="1">
            <a:off x="7623175" y="2989263"/>
            <a:ext cx="196850" cy="520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1509414" name="Text Box 38"/>
          <p:cNvSpPr txBox="1">
            <a:spLocks noChangeArrowheads="1"/>
          </p:cNvSpPr>
          <p:nvPr/>
        </p:nvSpPr>
        <p:spPr bwMode="auto">
          <a:xfrm>
            <a:off x="7847013" y="27447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509415" name="Text Box 39"/>
          <p:cNvSpPr txBox="1">
            <a:spLocks noChangeArrowheads="1"/>
          </p:cNvSpPr>
          <p:nvPr/>
        </p:nvSpPr>
        <p:spPr bwMode="auto">
          <a:xfrm>
            <a:off x="8362950" y="16875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09416" name="Text Box 40"/>
          <p:cNvSpPr txBox="1">
            <a:spLocks noChangeArrowheads="1"/>
          </p:cNvSpPr>
          <p:nvPr/>
        </p:nvSpPr>
        <p:spPr bwMode="auto">
          <a:xfrm>
            <a:off x="792163" y="4478338"/>
            <a:ext cx="2570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线弹性</a:t>
            </a:r>
            <a:r>
              <a:rPr kumimoji="1" lang="en-US" altLang="zh-CN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-</a:t>
            </a: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理想塑性</a:t>
            </a:r>
          </a:p>
        </p:txBody>
      </p:sp>
      <p:sp>
        <p:nvSpPr>
          <p:cNvPr id="1509417" name="Text Box 41"/>
          <p:cNvSpPr txBox="1">
            <a:spLocks noChangeArrowheads="1"/>
          </p:cNvSpPr>
          <p:nvPr/>
        </p:nvSpPr>
        <p:spPr bwMode="auto">
          <a:xfrm>
            <a:off x="3946525" y="4479925"/>
            <a:ext cx="177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非线性弹性</a:t>
            </a:r>
          </a:p>
        </p:txBody>
      </p:sp>
      <p:sp>
        <p:nvSpPr>
          <p:cNvPr id="1509418" name="Text Box 42"/>
          <p:cNvSpPr txBox="1">
            <a:spLocks noChangeArrowheads="1"/>
          </p:cNvSpPr>
          <p:nvPr/>
        </p:nvSpPr>
        <p:spPr bwMode="auto">
          <a:xfrm>
            <a:off x="7150100" y="448945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弹塑性</a:t>
            </a:r>
          </a:p>
        </p:txBody>
      </p:sp>
      <p:sp>
        <p:nvSpPr>
          <p:cNvPr id="1509419" name="Freeform 43"/>
          <p:cNvSpPr>
            <a:spLocks/>
          </p:cNvSpPr>
          <p:nvPr/>
        </p:nvSpPr>
        <p:spPr bwMode="auto">
          <a:xfrm>
            <a:off x="1096963" y="2606675"/>
            <a:ext cx="109537" cy="342274"/>
          </a:xfrm>
          <a:custGeom>
            <a:avLst/>
            <a:gdLst>
              <a:gd name="T0" fmla="*/ 0 w 69"/>
              <a:gd name="T1" fmla="*/ 232 h 232"/>
              <a:gd name="T2" fmla="*/ 0 w 69"/>
              <a:gd name="T3" fmla="*/ 0 h 232"/>
              <a:gd name="T4" fmla="*/ 69 w 69"/>
              <a:gd name="T5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9" h="232">
                <a:moveTo>
                  <a:pt x="0" y="232"/>
                </a:moveTo>
                <a:lnTo>
                  <a:pt x="0" y="0"/>
                </a:lnTo>
                <a:lnTo>
                  <a:pt x="69" y="0"/>
                </a:lnTo>
              </a:path>
            </a:pathLst>
          </a:custGeom>
          <a:solidFill>
            <a:srgbClr val="FFC58B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 b="1">
              <a:cs typeface="Times New Roman" panose="02020603050405020304" pitchFamily="18" charset="0"/>
            </a:endParaRPr>
          </a:p>
        </p:txBody>
      </p:sp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§4.2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的压缩性测试方法</a:t>
            </a:r>
          </a:p>
        </p:txBody>
      </p:sp>
      <p:sp>
        <p:nvSpPr>
          <p:cNvPr id="3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36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158" name="Text Box 6"/>
          <p:cNvSpPr txBox="1">
            <a:spLocks noChangeArrowheads="1"/>
          </p:cNvSpPr>
          <p:nvPr/>
        </p:nvSpPr>
        <p:spPr bwMode="auto">
          <a:xfrm>
            <a:off x="1893888" y="2106613"/>
            <a:ext cx="6059487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6096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§4.1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概述 </a:t>
            </a:r>
            <a:r>
              <a:rPr lang="zh-CN" altLang="en-US" sz="3200" b="1" dirty="0">
                <a:solidFill>
                  <a:schemeClr val="tx2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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§4.2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土的压缩性测试方法 </a:t>
            </a:r>
            <a:r>
              <a:rPr lang="zh-CN" altLang="en-US" sz="3200" b="1" dirty="0">
                <a:solidFill>
                  <a:schemeClr val="tx2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</a:t>
            </a:r>
            <a:endParaRPr lang="zh-CN" altLang="en-US" sz="3200" b="1" dirty="0">
              <a:solidFill>
                <a:schemeClr val="tx2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§4.3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一维压缩性及其指标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§4.4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地基的最终沉降量计算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§4.5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饱和土体的渗流固结理论</a:t>
            </a:r>
          </a:p>
        </p:txBody>
      </p:sp>
      <p:sp>
        <p:nvSpPr>
          <p:cNvPr id="1457159" name="Text Box 7"/>
          <p:cNvSpPr txBox="1">
            <a:spLocks noChangeArrowheads="1"/>
          </p:cNvSpPr>
          <p:nvPr/>
        </p:nvSpPr>
        <p:spPr bwMode="auto">
          <a:xfrm>
            <a:off x="858838" y="1030288"/>
            <a:ext cx="77771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第四章：</a:t>
            </a: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土的压缩性与地基沉降计算</a:t>
            </a:r>
            <a:endParaRPr kumimoji="0"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57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57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457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57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57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4571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457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4571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457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4571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93" name="Rectangle 21"/>
          <p:cNvSpPr>
            <a:spLocks noChangeArrowheads="1"/>
          </p:cNvSpPr>
          <p:nvPr/>
        </p:nvSpPr>
        <p:spPr bwMode="auto">
          <a:xfrm>
            <a:off x="2308225" y="5757863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一维压缩性及其指标</a:t>
            </a:r>
          </a:p>
        </p:txBody>
      </p:sp>
      <p:sp>
        <p:nvSpPr>
          <p:cNvPr id="1359894" name="Rectangle 22"/>
          <p:cNvSpPr>
            <a:spLocks noChangeArrowheads="1"/>
          </p:cNvSpPr>
          <p:nvPr/>
        </p:nvSpPr>
        <p:spPr bwMode="auto">
          <a:xfrm>
            <a:off x="981075" y="1371600"/>
            <a:ext cx="5905500" cy="359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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- </a:t>
            </a:r>
            <a:r>
              <a:rPr kumimoji="1"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kumimoji="1" lang="en-US" altLang="zh-CN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kumimoji="1"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-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800" b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lg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kumimoji="1" lang="zh-CN" altLang="en-US" sz="2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先期固结压力</a:t>
            </a:r>
          </a:p>
          <a:p>
            <a:pPr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原位压缩曲线及原位再压缩曲线</a:t>
            </a:r>
          </a:p>
        </p:txBody>
      </p:sp>
      <p:sp>
        <p:nvSpPr>
          <p:cNvPr id="1359895" name="AutoShape 23"/>
          <p:cNvSpPr>
            <a:spLocks/>
          </p:cNvSpPr>
          <p:nvPr/>
        </p:nvSpPr>
        <p:spPr bwMode="auto">
          <a:xfrm>
            <a:off x="4983163" y="1617663"/>
            <a:ext cx="379412" cy="1504950"/>
          </a:xfrm>
          <a:prstGeom prst="rightBrace">
            <a:avLst>
              <a:gd name="adj1" fmla="val 33054"/>
              <a:gd name="adj2" fmla="val 50000"/>
            </a:avLst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9896" name="Text Box 24"/>
          <p:cNvSpPr txBox="1">
            <a:spLocks noChangeArrowheads="1"/>
          </p:cNvSpPr>
          <p:nvPr/>
        </p:nvSpPr>
        <p:spPr bwMode="auto">
          <a:xfrm>
            <a:off x="5656263" y="1504950"/>
            <a:ext cx="25146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由侧限压缩试验整理得到的三条常用曲线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维压缩性及其指标</a:t>
            </a: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38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9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9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59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598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59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59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9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9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59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59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135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1000"/>
                                        <p:tgtEl>
                                          <p:spTgt spid="135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9894" grpId="0" build="p" advAuto="500"/>
      <p:bldP spid="1359895" grpId="0" animBg="1"/>
      <p:bldP spid="135989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976" name="Rectangle 80"/>
          <p:cNvSpPr>
            <a:spLocks noChangeArrowheads="1"/>
          </p:cNvSpPr>
          <p:nvPr/>
        </p:nvSpPr>
        <p:spPr bwMode="auto">
          <a:xfrm>
            <a:off x="1465263" y="4785205"/>
            <a:ext cx="3340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zh-CN" altLang="en-US" sz="36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侧限压缩试验</a:t>
            </a:r>
          </a:p>
        </p:txBody>
      </p:sp>
      <p:grpSp>
        <p:nvGrpSpPr>
          <p:cNvPr id="1360982" name="Group 86"/>
          <p:cNvGrpSpPr>
            <a:grpSpLocks/>
          </p:cNvGrpSpPr>
          <p:nvPr/>
        </p:nvGrpSpPr>
        <p:grpSpPr bwMode="auto">
          <a:xfrm>
            <a:off x="5441950" y="814628"/>
            <a:ext cx="3360738" cy="2568575"/>
            <a:chOff x="3140" y="662"/>
            <a:chExt cx="2117" cy="1618"/>
          </a:xfrm>
        </p:grpSpPr>
        <p:sp>
          <p:nvSpPr>
            <p:cNvPr id="1360983" name="Rectangle 87"/>
            <p:cNvSpPr>
              <a:spLocks noChangeArrowheads="1"/>
            </p:cNvSpPr>
            <p:nvPr/>
          </p:nvSpPr>
          <p:spPr bwMode="auto">
            <a:xfrm>
              <a:off x="3210" y="1692"/>
              <a:ext cx="1933" cy="523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360984" name="Line 88"/>
            <p:cNvSpPr>
              <a:spLocks noChangeShapeType="1"/>
            </p:cNvSpPr>
            <p:nvPr/>
          </p:nvSpPr>
          <p:spPr bwMode="auto">
            <a:xfrm>
              <a:off x="4177" y="662"/>
              <a:ext cx="0" cy="816"/>
            </a:xfrm>
            <a:prstGeom prst="line">
              <a:avLst/>
            </a:prstGeom>
            <a:noFill/>
            <a:ln w="57150">
              <a:solidFill>
                <a:srgbClr val="66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0985" name="Freeform 89"/>
            <p:cNvSpPr>
              <a:spLocks/>
            </p:cNvSpPr>
            <p:nvPr/>
          </p:nvSpPr>
          <p:spPr bwMode="auto">
            <a:xfrm>
              <a:off x="3140" y="1547"/>
              <a:ext cx="2082" cy="733"/>
            </a:xfrm>
            <a:custGeom>
              <a:avLst/>
              <a:gdLst>
                <a:gd name="T0" fmla="*/ 0 w 2450"/>
                <a:gd name="T1" fmla="*/ 0 h 862"/>
                <a:gd name="T2" fmla="*/ 0 w 2450"/>
                <a:gd name="T3" fmla="*/ 862 h 862"/>
                <a:gd name="T4" fmla="*/ 2450 w 2450"/>
                <a:gd name="T5" fmla="*/ 862 h 862"/>
                <a:gd name="T6" fmla="*/ 2450 w 2450"/>
                <a:gd name="T7" fmla="*/ 0 h 862"/>
                <a:gd name="T8" fmla="*/ 2359 w 2450"/>
                <a:gd name="T9" fmla="*/ 0 h 862"/>
                <a:gd name="T10" fmla="*/ 2354 w 2450"/>
                <a:gd name="T11" fmla="*/ 771 h 862"/>
                <a:gd name="T12" fmla="*/ 91 w 2450"/>
                <a:gd name="T13" fmla="*/ 771 h 862"/>
                <a:gd name="T14" fmla="*/ 91 w 2450"/>
                <a:gd name="T15" fmla="*/ 0 h 862"/>
                <a:gd name="T16" fmla="*/ 0 w 2450"/>
                <a:gd name="T17" fmla="*/ 0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50" h="862">
                  <a:moveTo>
                    <a:pt x="0" y="0"/>
                  </a:moveTo>
                  <a:lnTo>
                    <a:pt x="0" y="862"/>
                  </a:lnTo>
                  <a:lnTo>
                    <a:pt x="2450" y="862"/>
                  </a:lnTo>
                  <a:lnTo>
                    <a:pt x="2450" y="0"/>
                  </a:lnTo>
                  <a:lnTo>
                    <a:pt x="2359" y="0"/>
                  </a:lnTo>
                  <a:lnTo>
                    <a:pt x="2354" y="771"/>
                  </a:lnTo>
                  <a:lnTo>
                    <a:pt x="91" y="771"/>
                  </a:lnTo>
                  <a:lnTo>
                    <a:pt x="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60986" name="Group 90"/>
            <p:cNvGrpSpPr>
              <a:grpSpLocks/>
            </p:cNvGrpSpPr>
            <p:nvPr/>
          </p:nvGrpSpPr>
          <p:grpSpPr bwMode="auto">
            <a:xfrm>
              <a:off x="3513" y="1817"/>
              <a:ext cx="1331" cy="386"/>
              <a:chOff x="1958" y="2069"/>
              <a:chExt cx="1566" cy="454"/>
            </a:xfrm>
          </p:grpSpPr>
          <p:sp>
            <p:nvSpPr>
              <p:cNvPr id="1360987" name="Rectangle 91"/>
              <p:cNvSpPr>
                <a:spLocks noChangeArrowheads="1"/>
              </p:cNvSpPr>
              <p:nvPr/>
            </p:nvSpPr>
            <p:spPr bwMode="auto">
              <a:xfrm>
                <a:off x="1958" y="2069"/>
                <a:ext cx="181" cy="454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360988" name="Rectangle 92"/>
              <p:cNvSpPr>
                <a:spLocks noChangeArrowheads="1"/>
              </p:cNvSpPr>
              <p:nvPr/>
            </p:nvSpPr>
            <p:spPr bwMode="auto">
              <a:xfrm>
                <a:off x="3343" y="2069"/>
                <a:ext cx="181" cy="454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360989" name="Rectangle 93"/>
              <p:cNvSpPr>
                <a:spLocks noChangeArrowheads="1"/>
              </p:cNvSpPr>
              <p:nvPr/>
            </p:nvSpPr>
            <p:spPr bwMode="auto">
              <a:xfrm>
                <a:off x="1958" y="2432"/>
                <a:ext cx="181" cy="4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360990" name="Rectangle 94"/>
              <p:cNvSpPr>
                <a:spLocks noChangeArrowheads="1"/>
              </p:cNvSpPr>
              <p:nvPr/>
            </p:nvSpPr>
            <p:spPr bwMode="auto">
              <a:xfrm>
                <a:off x="3343" y="2432"/>
                <a:ext cx="181" cy="46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1360991" name="Rectangle 95" descr="大纸屑"/>
            <p:cNvSpPr>
              <a:spLocks noChangeAspect="1" noChangeArrowheads="1"/>
            </p:cNvSpPr>
            <p:nvPr/>
          </p:nvSpPr>
          <p:spPr bwMode="auto">
            <a:xfrm>
              <a:off x="3672" y="2085"/>
              <a:ext cx="1011" cy="113"/>
            </a:xfrm>
            <a:prstGeom prst="rect">
              <a:avLst/>
            </a:prstGeom>
            <a:pattFill prst="lgConfetti">
              <a:fgClr>
                <a:srgbClr val="990033"/>
              </a:fgClr>
              <a:bgClr>
                <a:srgbClr val="FFFFFF"/>
              </a:bgClr>
            </a:patt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1360992" name="Group 96"/>
            <p:cNvGrpSpPr>
              <a:grpSpLocks/>
            </p:cNvGrpSpPr>
            <p:nvPr/>
          </p:nvGrpSpPr>
          <p:grpSpPr bwMode="auto">
            <a:xfrm>
              <a:off x="3652" y="1777"/>
              <a:ext cx="1051" cy="307"/>
              <a:chOff x="2121" y="2022"/>
              <a:chExt cx="1237" cy="361"/>
            </a:xfrm>
          </p:grpSpPr>
          <p:sp>
            <p:nvSpPr>
              <p:cNvPr id="1360993" name="Freeform 97"/>
              <p:cNvSpPr>
                <a:spLocks/>
              </p:cNvSpPr>
              <p:nvPr/>
            </p:nvSpPr>
            <p:spPr bwMode="auto">
              <a:xfrm>
                <a:off x="2121" y="2022"/>
                <a:ext cx="48" cy="359"/>
              </a:xfrm>
              <a:custGeom>
                <a:avLst/>
                <a:gdLst>
                  <a:gd name="T0" fmla="*/ 44 w 48"/>
                  <a:gd name="T1" fmla="*/ 2 h 359"/>
                  <a:gd name="T2" fmla="*/ 44 w 48"/>
                  <a:gd name="T3" fmla="*/ 357 h 359"/>
                  <a:gd name="T4" fmla="*/ 20 w 48"/>
                  <a:gd name="T5" fmla="*/ 359 h 359"/>
                  <a:gd name="T6" fmla="*/ 14 w 48"/>
                  <a:gd name="T7" fmla="*/ 41 h 359"/>
                  <a:gd name="T8" fmla="*/ 0 w 48"/>
                  <a:gd name="T9" fmla="*/ 0 h 359"/>
                  <a:gd name="T10" fmla="*/ 44 w 48"/>
                  <a:gd name="T11" fmla="*/ 2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" h="359">
                    <a:moveTo>
                      <a:pt x="44" y="2"/>
                    </a:moveTo>
                    <a:cubicBezTo>
                      <a:pt x="47" y="61"/>
                      <a:pt x="48" y="298"/>
                      <a:pt x="44" y="357"/>
                    </a:cubicBezTo>
                    <a:lnTo>
                      <a:pt x="20" y="359"/>
                    </a:lnTo>
                    <a:lnTo>
                      <a:pt x="14" y="41"/>
                    </a:lnTo>
                    <a:lnTo>
                      <a:pt x="0" y="0"/>
                    </a:lnTo>
                    <a:lnTo>
                      <a:pt x="44" y="2"/>
                    </a:lnTo>
                    <a:close/>
                  </a:path>
                </a:pathLst>
              </a:custGeom>
              <a:solidFill>
                <a:srgbClr val="800000"/>
              </a:solidFill>
              <a:ln w="9525" cap="flat" cmpd="sng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0994" name="Freeform 98"/>
              <p:cNvSpPr>
                <a:spLocks/>
              </p:cNvSpPr>
              <p:nvPr/>
            </p:nvSpPr>
            <p:spPr bwMode="auto">
              <a:xfrm flipH="1">
                <a:off x="3310" y="2024"/>
                <a:ext cx="48" cy="359"/>
              </a:xfrm>
              <a:custGeom>
                <a:avLst/>
                <a:gdLst>
                  <a:gd name="T0" fmla="*/ 44 w 48"/>
                  <a:gd name="T1" fmla="*/ 2 h 359"/>
                  <a:gd name="T2" fmla="*/ 44 w 48"/>
                  <a:gd name="T3" fmla="*/ 357 h 359"/>
                  <a:gd name="T4" fmla="*/ 20 w 48"/>
                  <a:gd name="T5" fmla="*/ 359 h 359"/>
                  <a:gd name="T6" fmla="*/ 14 w 48"/>
                  <a:gd name="T7" fmla="*/ 41 h 359"/>
                  <a:gd name="T8" fmla="*/ 0 w 48"/>
                  <a:gd name="T9" fmla="*/ 0 h 359"/>
                  <a:gd name="T10" fmla="*/ 44 w 48"/>
                  <a:gd name="T11" fmla="*/ 2 h 3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" h="359">
                    <a:moveTo>
                      <a:pt x="44" y="2"/>
                    </a:moveTo>
                    <a:cubicBezTo>
                      <a:pt x="47" y="61"/>
                      <a:pt x="48" y="298"/>
                      <a:pt x="44" y="357"/>
                    </a:cubicBezTo>
                    <a:lnTo>
                      <a:pt x="20" y="359"/>
                    </a:lnTo>
                    <a:lnTo>
                      <a:pt x="14" y="41"/>
                    </a:lnTo>
                    <a:lnTo>
                      <a:pt x="0" y="0"/>
                    </a:lnTo>
                    <a:lnTo>
                      <a:pt x="44" y="2"/>
                    </a:lnTo>
                    <a:close/>
                  </a:path>
                </a:pathLst>
              </a:custGeom>
              <a:solidFill>
                <a:srgbClr val="800000"/>
              </a:solidFill>
              <a:ln w="9525" cap="flat" cmpd="sng">
                <a:solidFill>
                  <a:srgbClr val="8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0995" name="Rectangle 99"/>
              <p:cNvSpPr>
                <a:spLocks noChangeArrowheads="1"/>
              </p:cNvSpPr>
              <p:nvPr/>
            </p:nvSpPr>
            <p:spPr bwMode="auto">
              <a:xfrm>
                <a:off x="2172" y="2024"/>
                <a:ext cx="1134" cy="354"/>
              </a:xfrm>
              <a:prstGeom prst="rect">
                <a:avLst/>
              </a:prstGeom>
              <a:solidFill>
                <a:srgbClr val="CC9900"/>
              </a:solidFill>
              <a:ln w="9525" algn="ctr">
                <a:solidFill>
                  <a:srgbClr val="CC99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1360996" name="Rectangle 100" descr="大纸屑"/>
            <p:cNvSpPr>
              <a:spLocks noChangeArrowheads="1"/>
            </p:cNvSpPr>
            <p:nvPr/>
          </p:nvSpPr>
          <p:spPr bwMode="auto">
            <a:xfrm>
              <a:off x="3693" y="1666"/>
              <a:ext cx="964" cy="108"/>
            </a:xfrm>
            <a:prstGeom prst="rect">
              <a:avLst/>
            </a:prstGeom>
            <a:pattFill prst="lgConfetti">
              <a:fgClr>
                <a:srgbClr val="993300"/>
              </a:fgClr>
              <a:bgClr>
                <a:srgbClr val="FFFFFF"/>
              </a:bgClr>
            </a:pattFill>
            <a:ln w="9525" algn="ctr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360997" name="Rectangle 101"/>
            <p:cNvSpPr>
              <a:spLocks noChangeArrowheads="1"/>
            </p:cNvSpPr>
            <p:nvPr/>
          </p:nvSpPr>
          <p:spPr bwMode="auto">
            <a:xfrm>
              <a:off x="3693" y="1478"/>
              <a:ext cx="964" cy="185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1360998" name="Group 102"/>
            <p:cNvGrpSpPr>
              <a:grpSpLocks/>
            </p:cNvGrpSpPr>
            <p:nvPr/>
          </p:nvGrpSpPr>
          <p:grpSpPr bwMode="auto">
            <a:xfrm>
              <a:off x="3698" y="1277"/>
              <a:ext cx="947" cy="200"/>
              <a:chOff x="3108" y="2262"/>
              <a:chExt cx="1134" cy="235"/>
            </a:xfrm>
          </p:grpSpPr>
          <p:sp>
            <p:nvSpPr>
              <p:cNvPr id="1360999" name="Line 103"/>
              <p:cNvSpPr>
                <a:spLocks noChangeShapeType="1"/>
              </p:cNvSpPr>
              <p:nvPr/>
            </p:nvSpPr>
            <p:spPr bwMode="auto">
              <a:xfrm>
                <a:off x="3108" y="2268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00" name="Line 104"/>
              <p:cNvSpPr>
                <a:spLocks noChangeShapeType="1"/>
              </p:cNvSpPr>
              <p:nvPr/>
            </p:nvSpPr>
            <p:spPr bwMode="auto">
              <a:xfrm>
                <a:off x="3242" y="2264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01" name="Line 105"/>
              <p:cNvSpPr>
                <a:spLocks noChangeShapeType="1"/>
              </p:cNvSpPr>
              <p:nvPr/>
            </p:nvSpPr>
            <p:spPr bwMode="auto">
              <a:xfrm>
                <a:off x="3370" y="2270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02" name="Line 106"/>
              <p:cNvSpPr>
                <a:spLocks noChangeShapeType="1"/>
              </p:cNvSpPr>
              <p:nvPr/>
            </p:nvSpPr>
            <p:spPr bwMode="auto">
              <a:xfrm>
                <a:off x="3494" y="2266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03" name="Line 107"/>
              <p:cNvSpPr>
                <a:spLocks noChangeShapeType="1"/>
              </p:cNvSpPr>
              <p:nvPr/>
            </p:nvSpPr>
            <p:spPr bwMode="auto">
              <a:xfrm>
                <a:off x="3613" y="2268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04" name="Line 108"/>
              <p:cNvSpPr>
                <a:spLocks noChangeShapeType="1"/>
              </p:cNvSpPr>
              <p:nvPr/>
            </p:nvSpPr>
            <p:spPr bwMode="auto">
              <a:xfrm>
                <a:off x="3745" y="2264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05" name="Line 109"/>
              <p:cNvSpPr>
                <a:spLocks noChangeShapeType="1"/>
              </p:cNvSpPr>
              <p:nvPr/>
            </p:nvSpPr>
            <p:spPr bwMode="auto">
              <a:xfrm>
                <a:off x="3875" y="2270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06" name="Line 110"/>
              <p:cNvSpPr>
                <a:spLocks noChangeShapeType="1"/>
              </p:cNvSpPr>
              <p:nvPr/>
            </p:nvSpPr>
            <p:spPr bwMode="auto">
              <a:xfrm>
                <a:off x="4001" y="2266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07" name="Line 111"/>
              <p:cNvSpPr>
                <a:spLocks noChangeShapeType="1"/>
              </p:cNvSpPr>
              <p:nvPr/>
            </p:nvSpPr>
            <p:spPr bwMode="auto">
              <a:xfrm>
                <a:off x="4120" y="2266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08" name="Line 112"/>
              <p:cNvSpPr>
                <a:spLocks noChangeShapeType="1"/>
              </p:cNvSpPr>
              <p:nvPr/>
            </p:nvSpPr>
            <p:spPr bwMode="auto">
              <a:xfrm>
                <a:off x="4242" y="2262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61009" name="Oval 113"/>
            <p:cNvSpPr>
              <a:spLocks noChangeArrowheads="1"/>
            </p:cNvSpPr>
            <p:nvPr/>
          </p:nvSpPr>
          <p:spPr bwMode="auto">
            <a:xfrm>
              <a:off x="3983" y="777"/>
              <a:ext cx="386" cy="386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361010" name="Freeform 114"/>
            <p:cNvSpPr>
              <a:spLocks/>
            </p:cNvSpPr>
            <p:nvPr/>
          </p:nvSpPr>
          <p:spPr bwMode="auto">
            <a:xfrm>
              <a:off x="4145" y="851"/>
              <a:ext cx="125" cy="158"/>
            </a:xfrm>
            <a:custGeom>
              <a:avLst/>
              <a:gdLst>
                <a:gd name="T0" fmla="*/ 0 w 147"/>
                <a:gd name="T1" fmla="*/ 186 h 186"/>
                <a:gd name="T2" fmla="*/ 147 w 147"/>
                <a:gd name="T3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7" h="186">
                  <a:moveTo>
                    <a:pt x="0" y="186"/>
                  </a:moveTo>
                  <a:lnTo>
                    <a:pt x="147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1011" name="Oval 115"/>
            <p:cNvSpPr>
              <a:spLocks noChangeAspect="1" noChangeArrowheads="1"/>
            </p:cNvSpPr>
            <p:nvPr/>
          </p:nvSpPr>
          <p:spPr bwMode="auto">
            <a:xfrm>
              <a:off x="4167" y="959"/>
              <a:ext cx="20" cy="19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361012" name="Line 116"/>
            <p:cNvSpPr>
              <a:spLocks noChangeShapeType="1"/>
            </p:cNvSpPr>
            <p:nvPr/>
          </p:nvSpPr>
          <p:spPr bwMode="auto">
            <a:xfrm flipH="1">
              <a:off x="3328" y="969"/>
              <a:ext cx="655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61013" name="Group 117"/>
            <p:cNvGrpSpPr>
              <a:grpSpLocks/>
            </p:cNvGrpSpPr>
            <p:nvPr/>
          </p:nvGrpSpPr>
          <p:grpSpPr bwMode="auto">
            <a:xfrm>
              <a:off x="3283" y="852"/>
              <a:ext cx="41" cy="271"/>
              <a:chOff x="1687" y="934"/>
              <a:chExt cx="49" cy="318"/>
            </a:xfrm>
          </p:grpSpPr>
          <p:sp>
            <p:nvSpPr>
              <p:cNvPr id="1361014" name="Line 118"/>
              <p:cNvSpPr>
                <a:spLocks noChangeShapeType="1"/>
              </p:cNvSpPr>
              <p:nvPr/>
            </p:nvSpPr>
            <p:spPr bwMode="auto">
              <a:xfrm>
                <a:off x="1735" y="935"/>
                <a:ext cx="0" cy="2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15" name="Line 119"/>
              <p:cNvSpPr>
                <a:spLocks noChangeShapeType="1"/>
              </p:cNvSpPr>
              <p:nvPr/>
            </p:nvSpPr>
            <p:spPr bwMode="auto">
              <a:xfrm flipH="1">
                <a:off x="1691" y="934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16" name="Line 120"/>
              <p:cNvSpPr>
                <a:spLocks noChangeShapeType="1"/>
              </p:cNvSpPr>
              <p:nvPr/>
            </p:nvSpPr>
            <p:spPr bwMode="auto">
              <a:xfrm flipH="1">
                <a:off x="1691" y="980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17" name="Line 121"/>
              <p:cNvSpPr>
                <a:spLocks noChangeShapeType="1"/>
              </p:cNvSpPr>
              <p:nvPr/>
            </p:nvSpPr>
            <p:spPr bwMode="auto">
              <a:xfrm flipH="1">
                <a:off x="1689" y="1026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18" name="Line 122"/>
              <p:cNvSpPr>
                <a:spLocks noChangeShapeType="1"/>
              </p:cNvSpPr>
              <p:nvPr/>
            </p:nvSpPr>
            <p:spPr bwMode="auto">
              <a:xfrm flipH="1">
                <a:off x="1689" y="1072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19" name="Line 123"/>
              <p:cNvSpPr>
                <a:spLocks noChangeShapeType="1"/>
              </p:cNvSpPr>
              <p:nvPr/>
            </p:nvSpPr>
            <p:spPr bwMode="auto">
              <a:xfrm flipH="1">
                <a:off x="1689" y="1114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20" name="Line 124"/>
              <p:cNvSpPr>
                <a:spLocks noChangeShapeType="1"/>
              </p:cNvSpPr>
              <p:nvPr/>
            </p:nvSpPr>
            <p:spPr bwMode="auto">
              <a:xfrm flipH="1">
                <a:off x="1689" y="1160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21" name="Line 125"/>
              <p:cNvSpPr>
                <a:spLocks noChangeShapeType="1"/>
              </p:cNvSpPr>
              <p:nvPr/>
            </p:nvSpPr>
            <p:spPr bwMode="auto">
              <a:xfrm flipH="1">
                <a:off x="1687" y="1206"/>
                <a:ext cx="45" cy="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61022" name="Group 126"/>
            <p:cNvGrpSpPr>
              <a:grpSpLocks/>
            </p:cNvGrpSpPr>
            <p:nvPr/>
          </p:nvGrpSpPr>
          <p:grpSpPr bwMode="auto">
            <a:xfrm>
              <a:off x="3216" y="1615"/>
              <a:ext cx="1925" cy="141"/>
              <a:chOff x="1608" y="1831"/>
              <a:chExt cx="2265" cy="166"/>
            </a:xfrm>
          </p:grpSpPr>
          <p:grpSp>
            <p:nvGrpSpPr>
              <p:cNvPr id="1361023" name="Group 127"/>
              <p:cNvGrpSpPr>
                <a:grpSpLocks/>
              </p:cNvGrpSpPr>
              <p:nvPr/>
            </p:nvGrpSpPr>
            <p:grpSpPr bwMode="auto">
              <a:xfrm>
                <a:off x="1608" y="1831"/>
                <a:ext cx="561" cy="163"/>
                <a:chOff x="1608" y="1831"/>
                <a:chExt cx="561" cy="163"/>
              </a:xfrm>
            </p:grpSpPr>
            <p:sp>
              <p:nvSpPr>
                <p:cNvPr id="1361024" name="Freeform 128"/>
                <p:cNvSpPr>
                  <a:spLocks/>
                </p:cNvSpPr>
                <p:nvPr/>
              </p:nvSpPr>
              <p:spPr bwMode="auto">
                <a:xfrm>
                  <a:off x="1608" y="1921"/>
                  <a:ext cx="561" cy="2"/>
                </a:xfrm>
                <a:custGeom>
                  <a:avLst/>
                  <a:gdLst>
                    <a:gd name="T0" fmla="*/ 0 w 561"/>
                    <a:gd name="T1" fmla="*/ 0 h 2"/>
                    <a:gd name="T2" fmla="*/ 561 w 56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61" h="2">
                      <a:moveTo>
                        <a:pt x="0" y="0"/>
                      </a:moveTo>
                      <a:lnTo>
                        <a:pt x="561" y="2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1025" name="AutoShape 129"/>
                <p:cNvSpPr>
                  <a:spLocks noChangeArrowheads="1"/>
                </p:cNvSpPr>
                <p:nvPr/>
              </p:nvSpPr>
              <p:spPr bwMode="auto">
                <a:xfrm flipV="1">
                  <a:off x="1721" y="1831"/>
                  <a:ext cx="136" cy="9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1"/>
                </a:solidFill>
                <a:ln w="9525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1361026" name="Line 130"/>
                <p:cNvSpPr>
                  <a:spLocks noChangeShapeType="1"/>
                </p:cNvSpPr>
                <p:nvPr/>
              </p:nvSpPr>
              <p:spPr bwMode="auto">
                <a:xfrm>
                  <a:off x="1701" y="1947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1027" name="Line 131"/>
                <p:cNvSpPr>
                  <a:spLocks noChangeShapeType="1"/>
                </p:cNvSpPr>
                <p:nvPr/>
              </p:nvSpPr>
              <p:spPr bwMode="auto">
                <a:xfrm>
                  <a:off x="1726" y="1969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1028" name="Line 132"/>
                <p:cNvSpPr>
                  <a:spLocks noChangeShapeType="1"/>
                </p:cNvSpPr>
                <p:nvPr/>
              </p:nvSpPr>
              <p:spPr bwMode="auto">
                <a:xfrm>
                  <a:off x="1746" y="199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61029" name="Group 133"/>
              <p:cNvGrpSpPr>
                <a:grpSpLocks/>
              </p:cNvGrpSpPr>
              <p:nvPr/>
            </p:nvGrpSpPr>
            <p:grpSpPr bwMode="auto">
              <a:xfrm>
                <a:off x="3312" y="1834"/>
                <a:ext cx="561" cy="163"/>
                <a:chOff x="3312" y="1834"/>
                <a:chExt cx="561" cy="163"/>
              </a:xfrm>
            </p:grpSpPr>
            <p:sp>
              <p:nvSpPr>
                <p:cNvPr id="1361030" name="Freeform 134"/>
                <p:cNvSpPr>
                  <a:spLocks/>
                </p:cNvSpPr>
                <p:nvPr/>
              </p:nvSpPr>
              <p:spPr bwMode="auto">
                <a:xfrm>
                  <a:off x="3312" y="1924"/>
                  <a:ext cx="561" cy="2"/>
                </a:xfrm>
                <a:custGeom>
                  <a:avLst/>
                  <a:gdLst>
                    <a:gd name="T0" fmla="*/ 0 w 561"/>
                    <a:gd name="T1" fmla="*/ 0 h 2"/>
                    <a:gd name="T2" fmla="*/ 561 w 56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61" h="2">
                      <a:moveTo>
                        <a:pt x="0" y="0"/>
                      </a:moveTo>
                      <a:lnTo>
                        <a:pt x="561" y="2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1031" name="AutoShape 135"/>
                <p:cNvSpPr>
                  <a:spLocks noChangeArrowheads="1"/>
                </p:cNvSpPr>
                <p:nvPr/>
              </p:nvSpPr>
              <p:spPr bwMode="auto">
                <a:xfrm flipV="1">
                  <a:off x="3625" y="1834"/>
                  <a:ext cx="136" cy="9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1"/>
                </a:solidFill>
                <a:ln w="9525" algn="ctr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1361032" name="Line 136"/>
                <p:cNvSpPr>
                  <a:spLocks noChangeShapeType="1"/>
                </p:cNvSpPr>
                <p:nvPr/>
              </p:nvSpPr>
              <p:spPr bwMode="auto">
                <a:xfrm>
                  <a:off x="3605" y="1950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1033" name="Line 137"/>
                <p:cNvSpPr>
                  <a:spLocks noChangeShapeType="1"/>
                </p:cNvSpPr>
                <p:nvPr/>
              </p:nvSpPr>
              <p:spPr bwMode="auto">
                <a:xfrm>
                  <a:off x="3630" y="1972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61034" name="Line 138"/>
                <p:cNvSpPr>
                  <a:spLocks noChangeShapeType="1"/>
                </p:cNvSpPr>
                <p:nvPr/>
              </p:nvSpPr>
              <p:spPr bwMode="auto">
                <a:xfrm>
                  <a:off x="3650" y="1997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361035" name="Text Box 139"/>
            <p:cNvSpPr txBox="1">
              <a:spLocks noChangeArrowheads="1"/>
            </p:cNvSpPr>
            <p:nvPr/>
          </p:nvSpPr>
          <p:spPr bwMode="auto">
            <a:xfrm>
              <a:off x="4650" y="695"/>
              <a:ext cx="557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7724" tIns="38862" rIns="77724" bIns="38862"/>
            <a:lstStyle>
              <a:lvl1pPr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88938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7787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6522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554163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113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685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257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829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1900" b="1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百分表</a:t>
              </a:r>
            </a:p>
          </p:txBody>
        </p:sp>
        <p:sp>
          <p:nvSpPr>
            <p:cNvPr id="1361036" name="Line 140"/>
            <p:cNvSpPr>
              <a:spLocks noChangeShapeType="1"/>
            </p:cNvSpPr>
            <p:nvPr/>
          </p:nvSpPr>
          <p:spPr bwMode="auto">
            <a:xfrm flipV="1">
              <a:off x="4385" y="823"/>
              <a:ext cx="241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1037" name="Text Box 141"/>
            <p:cNvSpPr txBox="1">
              <a:spLocks noChangeArrowheads="1"/>
            </p:cNvSpPr>
            <p:nvPr/>
          </p:nvSpPr>
          <p:spPr bwMode="auto">
            <a:xfrm>
              <a:off x="3952" y="1802"/>
              <a:ext cx="420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7724" tIns="38862" rIns="77724" bIns="38862"/>
            <a:lstStyle>
              <a:lvl1pPr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88938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7787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6522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554163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113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685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257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829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2000" b="1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试样</a:t>
              </a:r>
            </a:p>
          </p:txBody>
        </p:sp>
        <p:sp>
          <p:nvSpPr>
            <p:cNvPr id="1361038" name="Text Box 142"/>
            <p:cNvSpPr txBox="1">
              <a:spLocks noChangeArrowheads="1"/>
            </p:cNvSpPr>
            <p:nvPr/>
          </p:nvSpPr>
          <p:spPr bwMode="auto">
            <a:xfrm>
              <a:off x="4853" y="1248"/>
              <a:ext cx="404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7724" tIns="38862" rIns="77724" bIns="38862"/>
            <a:lstStyle>
              <a:lvl1pPr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88938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7787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6522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554163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113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685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257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829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1900" b="1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环刀</a:t>
              </a:r>
            </a:p>
          </p:txBody>
        </p:sp>
        <p:sp>
          <p:nvSpPr>
            <p:cNvPr id="1361039" name="Line 143"/>
            <p:cNvSpPr>
              <a:spLocks noChangeShapeType="1"/>
            </p:cNvSpPr>
            <p:nvPr/>
          </p:nvSpPr>
          <p:spPr bwMode="auto">
            <a:xfrm flipV="1">
              <a:off x="4687" y="1444"/>
              <a:ext cx="191" cy="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61073" name="Group 177"/>
          <p:cNvGrpSpPr>
            <a:grpSpLocks/>
          </p:cNvGrpSpPr>
          <p:nvPr/>
        </p:nvGrpSpPr>
        <p:grpSpPr bwMode="auto">
          <a:xfrm>
            <a:off x="5403850" y="3734040"/>
            <a:ext cx="3368675" cy="2468563"/>
            <a:chOff x="3404" y="2464"/>
            <a:chExt cx="2122" cy="1555"/>
          </a:xfrm>
        </p:grpSpPr>
        <p:sp>
          <p:nvSpPr>
            <p:cNvPr id="1360979" name="Line 83"/>
            <p:cNvSpPr>
              <a:spLocks noChangeShapeType="1"/>
            </p:cNvSpPr>
            <p:nvPr/>
          </p:nvSpPr>
          <p:spPr bwMode="auto">
            <a:xfrm>
              <a:off x="4086" y="3003"/>
              <a:ext cx="0" cy="9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60980" name="Freeform 84"/>
            <p:cNvSpPr>
              <a:spLocks/>
            </p:cNvSpPr>
            <p:nvPr/>
          </p:nvSpPr>
          <p:spPr bwMode="auto">
            <a:xfrm>
              <a:off x="3599" y="3813"/>
              <a:ext cx="489" cy="126"/>
            </a:xfrm>
            <a:custGeom>
              <a:avLst/>
              <a:gdLst>
                <a:gd name="T0" fmla="*/ 0 w 575"/>
                <a:gd name="T1" fmla="*/ 149 h 149"/>
                <a:gd name="T2" fmla="*/ 88 w 575"/>
                <a:gd name="T3" fmla="*/ 71 h 149"/>
                <a:gd name="T4" fmla="*/ 220 w 575"/>
                <a:gd name="T5" fmla="*/ 11 h 149"/>
                <a:gd name="T6" fmla="*/ 460 w 575"/>
                <a:gd name="T7" fmla="*/ 5 h 149"/>
                <a:gd name="T8" fmla="*/ 575 w 575"/>
                <a:gd name="T9" fmla="*/ 5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5" h="149">
                  <a:moveTo>
                    <a:pt x="0" y="149"/>
                  </a:moveTo>
                  <a:cubicBezTo>
                    <a:pt x="15" y="136"/>
                    <a:pt x="51" y="94"/>
                    <a:pt x="88" y="71"/>
                  </a:cubicBezTo>
                  <a:cubicBezTo>
                    <a:pt x="125" y="48"/>
                    <a:pt x="158" y="22"/>
                    <a:pt x="220" y="11"/>
                  </a:cubicBezTo>
                  <a:cubicBezTo>
                    <a:pt x="282" y="0"/>
                    <a:pt x="401" y="6"/>
                    <a:pt x="460" y="5"/>
                  </a:cubicBezTo>
                  <a:cubicBezTo>
                    <a:pt x="519" y="4"/>
                    <a:pt x="546" y="5"/>
                    <a:pt x="575" y="5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61040" name="Text Box 144"/>
            <p:cNvSpPr txBox="1">
              <a:spLocks noChangeArrowheads="1"/>
            </p:cNvSpPr>
            <p:nvPr/>
          </p:nvSpPr>
          <p:spPr bwMode="auto">
            <a:xfrm>
              <a:off x="3726" y="2797"/>
              <a:ext cx="27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7724" tIns="38862" rIns="77724" bIns="38862"/>
            <a:lstStyle>
              <a:lvl1pPr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88938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7787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6522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554163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113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685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257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829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700" b="1" i="1" dirty="0">
                  <a:ea typeface="幼圆" pitchFamily="49" charset="-122"/>
                  <a:cs typeface="Times New Roman" panose="02020603050405020304" pitchFamily="18" charset="0"/>
                </a:rPr>
                <a:t>P</a:t>
              </a:r>
              <a:r>
                <a:rPr kumimoji="0" lang="en-US" altLang="zh-CN" sz="1700" b="1" baseline="-25000" dirty="0">
                  <a:ea typeface="幼圆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700" b="1" dirty="0"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61041" name="Text Box 145"/>
            <p:cNvSpPr txBox="1">
              <a:spLocks noChangeArrowheads="1"/>
            </p:cNvSpPr>
            <p:nvPr/>
          </p:nvSpPr>
          <p:spPr bwMode="auto">
            <a:xfrm>
              <a:off x="4081" y="3708"/>
              <a:ext cx="229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7724" tIns="38862" rIns="77724" bIns="38862"/>
            <a:lstStyle>
              <a:lvl1pPr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88938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7787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6522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554163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113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685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257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829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700" b="1" i="1" dirty="0">
                  <a:solidFill>
                    <a:srgbClr val="993300"/>
                  </a:solidFill>
                  <a:ea typeface="幼圆" pitchFamily="49" charset="-122"/>
                  <a:cs typeface="Times New Roman" panose="02020603050405020304" pitchFamily="18" charset="0"/>
                </a:rPr>
                <a:t>S</a:t>
              </a:r>
              <a:r>
                <a:rPr kumimoji="0" lang="en-US" altLang="zh-CN" sz="1700" b="1" baseline="-25000" dirty="0">
                  <a:solidFill>
                    <a:srgbClr val="993300"/>
                  </a:solidFill>
                  <a:ea typeface="幼圆" pitchFamily="49" charset="-122"/>
                  <a:cs typeface="Times New Roman" panose="02020603050405020304" pitchFamily="18" charset="0"/>
                </a:rPr>
                <a:t>1</a:t>
              </a:r>
              <a:endParaRPr kumimoji="0" lang="en-US" altLang="zh-CN" sz="1700" b="1" dirty="0">
                <a:solidFill>
                  <a:srgbClr val="993300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61045" name="Freeform 149"/>
            <p:cNvSpPr>
              <a:spLocks/>
            </p:cNvSpPr>
            <p:nvPr/>
          </p:nvSpPr>
          <p:spPr bwMode="auto">
            <a:xfrm>
              <a:off x="3600" y="3352"/>
              <a:ext cx="1747" cy="596"/>
            </a:xfrm>
            <a:custGeom>
              <a:avLst/>
              <a:gdLst>
                <a:gd name="T0" fmla="*/ 0 w 2055"/>
                <a:gd name="T1" fmla="*/ 0 h 701"/>
                <a:gd name="T2" fmla="*/ 0 w 2055"/>
                <a:gd name="T3" fmla="*/ 701 h 701"/>
                <a:gd name="T4" fmla="*/ 2055 w 2055"/>
                <a:gd name="T5" fmla="*/ 701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55" h="701">
                  <a:moveTo>
                    <a:pt x="0" y="0"/>
                  </a:moveTo>
                  <a:lnTo>
                    <a:pt x="0" y="701"/>
                  </a:lnTo>
                  <a:lnTo>
                    <a:pt x="2055" y="70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61046" name="Freeform 150"/>
            <p:cNvSpPr>
              <a:spLocks/>
            </p:cNvSpPr>
            <p:nvPr/>
          </p:nvSpPr>
          <p:spPr bwMode="auto">
            <a:xfrm>
              <a:off x="3595" y="2563"/>
              <a:ext cx="1747" cy="596"/>
            </a:xfrm>
            <a:custGeom>
              <a:avLst/>
              <a:gdLst>
                <a:gd name="T0" fmla="*/ 0 w 2055"/>
                <a:gd name="T1" fmla="*/ 0 h 701"/>
                <a:gd name="T2" fmla="*/ 0 w 2055"/>
                <a:gd name="T3" fmla="*/ 701 h 701"/>
                <a:gd name="T4" fmla="*/ 2055 w 2055"/>
                <a:gd name="T5" fmla="*/ 701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55" h="701">
                  <a:moveTo>
                    <a:pt x="0" y="0"/>
                  </a:moveTo>
                  <a:lnTo>
                    <a:pt x="0" y="701"/>
                  </a:lnTo>
                  <a:lnTo>
                    <a:pt x="2055" y="70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61047" name="Text Box 151"/>
            <p:cNvSpPr txBox="1">
              <a:spLocks noChangeArrowheads="1"/>
            </p:cNvSpPr>
            <p:nvPr/>
          </p:nvSpPr>
          <p:spPr bwMode="auto">
            <a:xfrm>
              <a:off x="3404" y="2464"/>
              <a:ext cx="183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7724" tIns="38862" rIns="77724" bIns="38862"/>
            <a:lstStyle>
              <a:lvl1pPr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88938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7787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6522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554163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113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685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257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829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900" b="1" i="1" dirty="0">
                  <a:ea typeface="幼圆" pitchFamily="49" charset="-12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1361048" name="Text Box 152"/>
            <p:cNvSpPr txBox="1">
              <a:spLocks noChangeArrowheads="1"/>
            </p:cNvSpPr>
            <p:nvPr/>
          </p:nvSpPr>
          <p:spPr bwMode="auto">
            <a:xfrm>
              <a:off x="5342" y="3020"/>
              <a:ext cx="15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7724" tIns="38862" rIns="77724" bIns="38862"/>
            <a:lstStyle>
              <a:lvl1pPr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88938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7787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6522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554163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113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685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257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829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900" b="1" i="1" dirty="0">
                  <a:ea typeface="幼圆" pitchFamily="49" charset="-122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361049" name="Text Box 153"/>
            <p:cNvSpPr txBox="1">
              <a:spLocks noChangeArrowheads="1"/>
            </p:cNvSpPr>
            <p:nvPr/>
          </p:nvSpPr>
          <p:spPr bwMode="auto">
            <a:xfrm>
              <a:off x="3441" y="3176"/>
              <a:ext cx="311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7724" tIns="38862" rIns="77724" bIns="38862"/>
            <a:lstStyle>
              <a:lvl1pPr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88938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7787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6522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554163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113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685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257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829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2000" b="1" i="1">
                  <a:ea typeface="幼圆" pitchFamily="49" charset="-12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361050" name="Text Box 154"/>
            <p:cNvSpPr txBox="1">
              <a:spLocks noChangeArrowheads="1"/>
            </p:cNvSpPr>
            <p:nvPr/>
          </p:nvSpPr>
          <p:spPr bwMode="auto">
            <a:xfrm>
              <a:off x="5376" y="3789"/>
              <a:ext cx="15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7724" tIns="38862" rIns="77724" bIns="38862"/>
            <a:lstStyle>
              <a:lvl1pPr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88938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7787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6522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554163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113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685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257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829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900" b="1" i="1">
                  <a:ea typeface="幼圆" pitchFamily="49" charset="-122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361051" name="Line 155"/>
            <p:cNvSpPr>
              <a:spLocks noChangeShapeType="1"/>
            </p:cNvSpPr>
            <p:nvPr/>
          </p:nvSpPr>
          <p:spPr bwMode="auto">
            <a:xfrm>
              <a:off x="3595" y="3009"/>
              <a:ext cx="4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61053" name="Line 157"/>
            <p:cNvSpPr>
              <a:spLocks noChangeShapeType="1"/>
            </p:cNvSpPr>
            <p:nvPr/>
          </p:nvSpPr>
          <p:spPr bwMode="auto">
            <a:xfrm>
              <a:off x="4536" y="2791"/>
              <a:ext cx="0" cy="11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61054" name="Freeform 158"/>
            <p:cNvSpPr>
              <a:spLocks/>
            </p:cNvSpPr>
            <p:nvPr/>
          </p:nvSpPr>
          <p:spPr bwMode="auto">
            <a:xfrm>
              <a:off x="4088" y="3643"/>
              <a:ext cx="441" cy="167"/>
            </a:xfrm>
            <a:custGeom>
              <a:avLst/>
              <a:gdLst>
                <a:gd name="T0" fmla="*/ 0 w 518"/>
                <a:gd name="T1" fmla="*/ 197 h 197"/>
                <a:gd name="T2" fmla="*/ 58 w 518"/>
                <a:gd name="T3" fmla="*/ 101 h 197"/>
                <a:gd name="T4" fmla="*/ 164 w 518"/>
                <a:gd name="T5" fmla="*/ 33 h 197"/>
                <a:gd name="T6" fmla="*/ 288 w 518"/>
                <a:gd name="T7" fmla="*/ 5 h 197"/>
                <a:gd name="T8" fmla="*/ 518 w 518"/>
                <a:gd name="T9" fmla="*/ 5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8" h="197">
                  <a:moveTo>
                    <a:pt x="0" y="197"/>
                  </a:moveTo>
                  <a:cubicBezTo>
                    <a:pt x="14" y="161"/>
                    <a:pt x="31" y="128"/>
                    <a:pt x="58" y="101"/>
                  </a:cubicBezTo>
                  <a:cubicBezTo>
                    <a:pt x="85" y="74"/>
                    <a:pt x="126" y="49"/>
                    <a:pt x="164" y="33"/>
                  </a:cubicBezTo>
                  <a:cubicBezTo>
                    <a:pt x="202" y="17"/>
                    <a:pt x="229" y="10"/>
                    <a:pt x="288" y="5"/>
                  </a:cubicBezTo>
                  <a:cubicBezTo>
                    <a:pt x="347" y="0"/>
                    <a:pt x="432" y="1"/>
                    <a:pt x="518" y="5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61056" name="Text Box 160"/>
            <p:cNvSpPr txBox="1">
              <a:spLocks noChangeArrowheads="1"/>
            </p:cNvSpPr>
            <p:nvPr/>
          </p:nvSpPr>
          <p:spPr bwMode="auto">
            <a:xfrm>
              <a:off x="4180" y="2618"/>
              <a:ext cx="26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7724" tIns="38862" rIns="77724" bIns="38862"/>
            <a:lstStyle>
              <a:lvl1pPr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88938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7787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6522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554163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113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685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257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829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700" b="1" i="1" dirty="0">
                  <a:ea typeface="幼圆" pitchFamily="49" charset="-122"/>
                  <a:cs typeface="Times New Roman" panose="02020603050405020304" pitchFamily="18" charset="0"/>
                </a:rPr>
                <a:t>P</a:t>
              </a:r>
              <a:r>
                <a:rPr kumimoji="0" lang="en-US" altLang="zh-CN" sz="1700" b="1" baseline="-25000" dirty="0">
                  <a:ea typeface="幼圆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700" b="1" dirty="0"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61057" name="Text Box 161"/>
            <p:cNvSpPr txBox="1">
              <a:spLocks noChangeArrowheads="1"/>
            </p:cNvSpPr>
            <p:nvPr/>
          </p:nvSpPr>
          <p:spPr bwMode="auto">
            <a:xfrm>
              <a:off x="4527" y="3555"/>
              <a:ext cx="225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7724" tIns="38862" rIns="77724" bIns="38862"/>
            <a:lstStyle>
              <a:lvl1pPr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88938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7787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6522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554163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113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685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257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829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700" b="1" i="1" dirty="0">
                  <a:solidFill>
                    <a:srgbClr val="993300"/>
                  </a:solidFill>
                  <a:ea typeface="幼圆" pitchFamily="49" charset="-122"/>
                  <a:cs typeface="Times New Roman" panose="02020603050405020304" pitchFamily="18" charset="0"/>
                </a:rPr>
                <a:t>S</a:t>
              </a:r>
              <a:r>
                <a:rPr kumimoji="0" lang="en-US" altLang="zh-CN" sz="1700" b="1" baseline="-25000" dirty="0">
                  <a:solidFill>
                    <a:srgbClr val="993300"/>
                  </a:solidFill>
                  <a:ea typeface="幼圆" pitchFamily="49" charset="-122"/>
                  <a:cs typeface="Times New Roman" panose="02020603050405020304" pitchFamily="18" charset="0"/>
                </a:rPr>
                <a:t>2</a:t>
              </a:r>
              <a:endParaRPr kumimoji="0" lang="en-US" altLang="zh-CN" sz="1700" b="1" dirty="0">
                <a:solidFill>
                  <a:srgbClr val="993300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61059" name="Freeform 163"/>
            <p:cNvSpPr>
              <a:spLocks/>
            </p:cNvSpPr>
            <p:nvPr/>
          </p:nvSpPr>
          <p:spPr bwMode="auto">
            <a:xfrm>
              <a:off x="4085" y="2823"/>
              <a:ext cx="451" cy="179"/>
            </a:xfrm>
            <a:custGeom>
              <a:avLst/>
              <a:gdLst>
                <a:gd name="T0" fmla="*/ 0 w 531"/>
                <a:gd name="T1" fmla="*/ 211 h 211"/>
                <a:gd name="T2" fmla="*/ 0 w 531"/>
                <a:gd name="T3" fmla="*/ 0 h 211"/>
                <a:gd name="T4" fmla="*/ 531 w 531"/>
                <a:gd name="T5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1" h="211">
                  <a:moveTo>
                    <a:pt x="0" y="211"/>
                  </a:moveTo>
                  <a:lnTo>
                    <a:pt x="0" y="0"/>
                  </a:lnTo>
                  <a:lnTo>
                    <a:pt x="53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61061" name="Line 165"/>
            <p:cNvSpPr>
              <a:spLocks noChangeShapeType="1"/>
            </p:cNvSpPr>
            <p:nvPr/>
          </p:nvSpPr>
          <p:spPr bwMode="auto">
            <a:xfrm>
              <a:off x="4959" y="2690"/>
              <a:ext cx="0" cy="12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61062" name="Freeform 166"/>
            <p:cNvSpPr>
              <a:spLocks/>
            </p:cNvSpPr>
            <p:nvPr/>
          </p:nvSpPr>
          <p:spPr bwMode="auto">
            <a:xfrm>
              <a:off x="4528" y="3490"/>
              <a:ext cx="440" cy="164"/>
            </a:xfrm>
            <a:custGeom>
              <a:avLst/>
              <a:gdLst>
                <a:gd name="T0" fmla="*/ 0 w 517"/>
                <a:gd name="T1" fmla="*/ 193 h 193"/>
                <a:gd name="T2" fmla="*/ 57 w 517"/>
                <a:gd name="T3" fmla="*/ 97 h 193"/>
                <a:gd name="T4" fmla="*/ 178 w 517"/>
                <a:gd name="T5" fmla="*/ 29 h 193"/>
                <a:gd name="T6" fmla="*/ 303 w 517"/>
                <a:gd name="T7" fmla="*/ 5 h 193"/>
                <a:gd name="T8" fmla="*/ 517 w 517"/>
                <a:gd name="T9" fmla="*/ 1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7" h="193">
                  <a:moveTo>
                    <a:pt x="0" y="193"/>
                  </a:moveTo>
                  <a:cubicBezTo>
                    <a:pt x="14" y="157"/>
                    <a:pt x="27" y="124"/>
                    <a:pt x="57" y="97"/>
                  </a:cubicBezTo>
                  <a:cubicBezTo>
                    <a:pt x="87" y="70"/>
                    <a:pt x="137" y="44"/>
                    <a:pt x="178" y="29"/>
                  </a:cubicBezTo>
                  <a:cubicBezTo>
                    <a:pt x="219" y="14"/>
                    <a:pt x="247" y="10"/>
                    <a:pt x="303" y="5"/>
                  </a:cubicBezTo>
                  <a:cubicBezTo>
                    <a:pt x="359" y="0"/>
                    <a:pt x="473" y="2"/>
                    <a:pt x="517" y="1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361064" name="Text Box 168"/>
            <p:cNvSpPr txBox="1">
              <a:spLocks noChangeArrowheads="1"/>
            </p:cNvSpPr>
            <p:nvPr/>
          </p:nvSpPr>
          <p:spPr bwMode="auto">
            <a:xfrm>
              <a:off x="4650" y="2478"/>
              <a:ext cx="266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7724" tIns="38862" rIns="77724" bIns="38862"/>
            <a:lstStyle>
              <a:lvl1pPr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88938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7787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6522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554163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113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685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257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829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700" b="1" i="1" dirty="0">
                  <a:ea typeface="幼圆" pitchFamily="49" charset="-122"/>
                  <a:cs typeface="Times New Roman" panose="02020603050405020304" pitchFamily="18" charset="0"/>
                </a:rPr>
                <a:t>P</a:t>
              </a:r>
              <a:r>
                <a:rPr kumimoji="0" lang="en-US" altLang="zh-CN" sz="1700" b="1" baseline="-25000" dirty="0">
                  <a:ea typeface="幼圆" pitchFamily="49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700" b="1" dirty="0"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61065" name="Text Box 169"/>
            <p:cNvSpPr txBox="1">
              <a:spLocks noChangeArrowheads="1"/>
            </p:cNvSpPr>
            <p:nvPr/>
          </p:nvSpPr>
          <p:spPr bwMode="auto">
            <a:xfrm>
              <a:off x="4940" y="3348"/>
              <a:ext cx="261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7724" tIns="38862" rIns="77724" bIns="38862"/>
            <a:lstStyle>
              <a:lvl1pPr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388938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77787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165225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1554163" defTabSz="777875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0113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4685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29257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382963" defTabSz="777875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kumimoji="0" lang="en-US" altLang="zh-CN" sz="1700" b="1" i="1" dirty="0">
                  <a:solidFill>
                    <a:srgbClr val="993300"/>
                  </a:solidFill>
                  <a:ea typeface="幼圆" pitchFamily="49" charset="-122"/>
                  <a:cs typeface="Times New Roman" panose="02020603050405020304" pitchFamily="18" charset="0"/>
                </a:rPr>
                <a:t>S</a:t>
              </a:r>
              <a:r>
                <a:rPr kumimoji="0" lang="en-US" altLang="zh-CN" sz="1700" b="1" baseline="-25000" dirty="0">
                  <a:solidFill>
                    <a:srgbClr val="993300"/>
                  </a:solidFill>
                  <a:ea typeface="幼圆" pitchFamily="49" charset="-122"/>
                  <a:cs typeface="Times New Roman" panose="02020603050405020304" pitchFamily="18" charset="0"/>
                </a:rPr>
                <a:t>3</a:t>
              </a:r>
              <a:endParaRPr kumimoji="0" lang="en-US" altLang="zh-CN" sz="1700" b="1" dirty="0">
                <a:solidFill>
                  <a:srgbClr val="993300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361067" name="Freeform 171"/>
            <p:cNvSpPr>
              <a:spLocks/>
            </p:cNvSpPr>
            <p:nvPr/>
          </p:nvSpPr>
          <p:spPr bwMode="auto">
            <a:xfrm>
              <a:off x="4535" y="2698"/>
              <a:ext cx="451" cy="128"/>
            </a:xfrm>
            <a:custGeom>
              <a:avLst/>
              <a:gdLst>
                <a:gd name="T0" fmla="*/ 0 w 531"/>
                <a:gd name="T1" fmla="*/ 211 h 211"/>
                <a:gd name="T2" fmla="*/ 0 w 531"/>
                <a:gd name="T3" fmla="*/ 0 h 211"/>
                <a:gd name="T4" fmla="*/ 531 w 531"/>
                <a:gd name="T5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1" h="211">
                  <a:moveTo>
                    <a:pt x="0" y="211"/>
                  </a:moveTo>
                  <a:lnTo>
                    <a:pt x="0" y="0"/>
                  </a:lnTo>
                  <a:lnTo>
                    <a:pt x="53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</p:grpSp>
      <p:sp>
        <p:nvSpPr>
          <p:cNvPr id="1361069" name="Text Box 173"/>
          <p:cNvSpPr txBox="1">
            <a:spLocks noChangeArrowheads="1"/>
          </p:cNvSpPr>
          <p:nvPr/>
        </p:nvSpPr>
        <p:spPr bwMode="auto">
          <a:xfrm>
            <a:off x="439738" y="790575"/>
            <a:ext cx="3599602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已知：</a:t>
            </a:r>
          </a:p>
          <a:p>
            <a:pPr lvl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试样初始高度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H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</a:p>
          <a:p>
            <a:pPr lvl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Tx/>
              <a:buChar char="•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试样初始孔隙比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61070" name="Text Box 174"/>
          <p:cNvSpPr txBox="1">
            <a:spLocks noChangeArrowheads="1"/>
          </p:cNvSpPr>
          <p:nvPr/>
        </p:nvSpPr>
        <p:spPr bwMode="auto">
          <a:xfrm>
            <a:off x="423863" y="2682875"/>
            <a:ext cx="3305175" cy="147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试验结果：</a:t>
            </a:r>
          </a:p>
          <a:p>
            <a:pPr lvl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每级压力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作用下，试样的压缩变形</a:t>
            </a:r>
            <a:r>
              <a: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8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39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8" name="Text Box 7"/>
          <p:cNvSpPr txBox="1">
            <a:spLocks noChangeArrowheads="1"/>
          </p:cNvSpPr>
          <p:nvPr/>
        </p:nvSpPr>
        <p:spPr bwMode="auto">
          <a:xfrm>
            <a:off x="-9526" y="0"/>
            <a:ext cx="46614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-p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曲线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  <a:sym typeface="Symbol" pitchFamily="18" charset="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36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2000"/>
                                        <p:tgtEl>
                                          <p:spTgt spid="136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2451" name="Group 3"/>
          <p:cNvGrpSpPr>
            <a:grpSpLocks/>
          </p:cNvGrpSpPr>
          <p:nvPr/>
        </p:nvGrpSpPr>
        <p:grpSpPr bwMode="auto">
          <a:xfrm>
            <a:off x="563563" y="1246188"/>
            <a:ext cx="3978275" cy="4281487"/>
            <a:chOff x="249" y="759"/>
            <a:chExt cx="2506" cy="2697"/>
          </a:xfrm>
        </p:grpSpPr>
        <p:sp>
          <p:nvSpPr>
            <p:cNvPr id="1512452" name="Rectangle 4"/>
            <p:cNvSpPr>
              <a:spLocks noChangeArrowheads="1"/>
            </p:cNvSpPr>
            <p:nvPr/>
          </p:nvSpPr>
          <p:spPr bwMode="auto">
            <a:xfrm>
              <a:off x="249" y="759"/>
              <a:ext cx="2506" cy="2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1512453" name="Group 5"/>
            <p:cNvGrpSpPr>
              <a:grpSpLocks/>
            </p:cNvGrpSpPr>
            <p:nvPr/>
          </p:nvGrpSpPr>
          <p:grpSpPr bwMode="auto">
            <a:xfrm>
              <a:off x="656" y="971"/>
              <a:ext cx="1751" cy="2342"/>
              <a:chOff x="656" y="971"/>
              <a:chExt cx="1751" cy="2342"/>
            </a:xfrm>
          </p:grpSpPr>
          <p:graphicFrame>
            <p:nvGraphicFramePr>
              <p:cNvPr id="1512455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81233173"/>
                  </p:ext>
                </p:extLst>
              </p:nvPr>
            </p:nvGraphicFramePr>
            <p:xfrm>
              <a:off x="2199" y="3041"/>
              <a:ext cx="208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12619" name="公式" r:id="rId3" imgW="164880" imgH="215640" progId="Equation.3">
                      <p:embed/>
                    </p:oleObj>
                  </mc:Choice>
                  <mc:Fallback>
                    <p:oleObj name="公式" r:id="rId3" imgW="164880" imgH="21564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99" y="3041"/>
                            <a:ext cx="208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12456" name="Freeform 8"/>
              <p:cNvSpPr>
                <a:spLocks/>
              </p:cNvSpPr>
              <p:nvPr/>
            </p:nvSpPr>
            <p:spPr bwMode="auto">
              <a:xfrm>
                <a:off x="656" y="1236"/>
                <a:ext cx="1622" cy="1815"/>
              </a:xfrm>
              <a:custGeom>
                <a:avLst/>
                <a:gdLst>
                  <a:gd name="T0" fmla="*/ 0 w 1622"/>
                  <a:gd name="T1" fmla="*/ 0 h 1815"/>
                  <a:gd name="T2" fmla="*/ 0 w 1622"/>
                  <a:gd name="T3" fmla="*/ 1815 h 1815"/>
                  <a:gd name="T4" fmla="*/ 1622 w 1622"/>
                  <a:gd name="T5" fmla="*/ 1815 h 18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622" h="1815">
                    <a:moveTo>
                      <a:pt x="0" y="0"/>
                    </a:moveTo>
                    <a:lnTo>
                      <a:pt x="0" y="1815"/>
                    </a:lnTo>
                    <a:lnTo>
                      <a:pt x="1622" y="181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3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537917"/>
                  </p:ext>
                </p:extLst>
              </p:nvPr>
            </p:nvGraphicFramePr>
            <p:xfrm>
              <a:off x="660" y="971"/>
              <a:ext cx="57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12620" name="公式" r:id="rId5" imgW="457200" imgH="215640" progId="Equation.3">
                      <p:embed/>
                    </p:oleObj>
                  </mc:Choice>
                  <mc:Fallback>
                    <p:oleObj name="公式" r:id="rId5" imgW="457200" imgH="215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0" y="971"/>
                            <a:ext cx="576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512457" name="Freeform 9"/>
          <p:cNvSpPr>
            <a:spLocks noChangeAspect="1"/>
          </p:cNvSpPr>
          <p:nvPr/>
        </p:nvSpPr>
        <p:spPr bwMode="auto">
          <a:xfrm>
            <a:off x="1223963" y="2182813"/>
            <a:ext cx="2060575" cy="2682875"/>
          </a:xfrm>
          <a:custGeom>
            <a:avLst/>
            <a:gdLst>
              <a:gd name="T0" fmla="*/ 1298 w 1298"/>
              <a:gd name="T1" fmla="*/ 0 h 1690"/>
              <a:gd name="T2" fmla="*/ 1245 w 1298"/>
              <a:gd name="T3" fmla="*/ 302 h 1690"/>
              <a:gd name="T4" fmla="*/ 1164 w 1298"/>
              <a:gd name="T5" fmla="*/ 581 h 1690"/>
              <a:gd name="T6" fmla="*/ 1010 w 1298"/>
              <a:gd name="T7" fmla="*/ 941 h 1690"/>
              <a:gd name="T8" fmla="*/ 871 w 1298"/>
              <a:gd name="T9" fmla="*/ 1166 h 1690"/>
              <a:gd name="T10" fmla="*/ 695 w 1298"/>
              <a:gd name="T11" fmla="*/ 1342 h 1690"/>
              <a:gd name="T12" fmla="*/ 494 w 1298"/>
              <a:gd name="T13" fmla="*/ 1493 h 1690"/>
              <a:gd name="T14" fmla="*/ 249 w 1298"/>
              <a:gd name="T15" fmla="*/ 1613 h 1690"/>
              <a:gd name="T16" fmla="*/ 0 w 1298"/>
              <a:gd name="T17" fmla="*/ 1690 h 16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98" h="1690">
                <a:moveTo>
                  <a:pt x="1298" y="0"/>
                </a:moveTo>
                <a:cubicBezTo>
                  <a:pt x="1289" y="50"/>
                  <a:pt x="1267" y="205"/>
                  <a:pt x="1245" y="302"/>
                </a:cubicBezTo>
                <a:cubicBezTo>
                  <a:pt x="1223" y="399"/>
                  <a:pt x="1203" y="475"/>
                  <a:pt x="1164" y="581"/>
                </a:cubicBezTo>
                <a:cubicBezTo>
                  <a:pt x="1125" y="687"/>
                  <a:pt x="1059" y="844"/>
                  <a:pt x="1010" y="941"/>
                </a:cubicBezTo>
                <a:cubicBezTo>
                  <a:pt x="961" y="1038"/>
                  <a:pt x="923" y="1099"/>
                  <a:pt x="871" y="1166"/>
                </a:cubicBezTo>
                <a:cubicBezTo>
                  <a:pt x="819" y="1233"/>
                  <a:pt x="758" y="1287"/>
                  <a:pt x="695" y="1342"/>
                </a:cubicBezTo>
                <a:cubicBezTo>
                  <a:pt x="632" y="1397"/>
                  <a:pt x="568" y="1448"/>
                  <a:pt x="494" y="1493"/>
                </a:cubicBezTo>
                <a:cubicBezTo>
                  <a:pt x="420" y="1538"/>
                  <a:pt x="331" y="1580"/>
                  <a:pt x="249" y="1613"/>
                </a:cubicBezTo>
                <a:cubicBezTo>
                  <a:pt x="167" y="1646"/>
                  <a:pt x="52" y="1674"/>
                  <a:pt x="0" y="1690"/>
                </a:cubicBezTo>
              </a:path>
            </a:pathLst>
          </a:custGeom>
          <a:noFill/>
          <a:ln w="28575" cap="flat" cmpd="sng">
            <a:solidFill>
              <a:srgbClr val="A50021"/>
            </a:solidFill>
            <a:prstDash val="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2458" name="Freeform 10"/>
          <p:cNvSpPr>
            <a:spLocks noChangeAspect="1"/>
          </p:cNvSpPr>
          <p:nvPr/>
        </p:nvSpPr>
        <p:spPr bwMode="auto">
          <a:xfrm>
            <a:off x="1212850" y="3667125"/>
            <a:ext cx="1631950" cy="1204913"/>
          </a:xfrm>
          <a:custGeom>
            <a:avLst/>
            <a:gdLst>
              <a:gd name="T0" fmla="*/ 1028 w 1028"/>
              <a:gd name="T1" fmla="*/ 0 h 759"/>
              <a:gd name="T2" fmla="*/ 866 w 1028"/>
              <a:gd name="T3" fmla="*/ 243 h 759"/>
              <a:gd name="T4" fmla="*/ 695 w 1028"/>
              <a:gd name="T5" fmla="*/ 411 h 759"/>
              <a:gd name="T6" fmla="*/ 494 w 1028"/>
              <a:gd name="T7" fmla="*/ 562 h 759"/>
              <a:gd name="T8" fmla="*/ 249 w 1028"/>
              <a:gd name="T9" fmla="*/ 682 h 759"/>
              <a:gd name="T10" fmla="*/ 0 w 1028"/>
              <a:gd name="T11" fmla="*/ 759 h 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28" h="759">
                <a:moveTo>
                  <a:pt x="1028" y="0"/>
                </a:moveTo>
                <a:cubicBezTo>
                  <a:pt x="1001" y="40"/>
                  <a:pt x="921" y="175"/>
                  <a:pt x="866" y="243"/>
                </a:cubicBezTo>
                <a:cubicBezTo>
                  <a:pt x="811" y="311"/>
                  <a:pt x="757" y="358"/>
                  <a:pt x="695" y="411"/>
                </a:cubicBezTo>
                <a:cubicBezTo>
                  <a:pt x="633" y="464"/>
                  <a:pt x="568" y="517"/>
                  <a:pt x="494" y="562"/>
                </a:cubicBezTo>
                <a:cubicBezTo>
                  <a:pt x="420" y="607"/>
                  <a:pt x="331" y="649"/>
                  <a:pt x="249" y="682"/>
                </a:cubicBezTo>
                <a:cubicBezTo>
                  <a:pt x="167" y="715"/>
                  <a:pt x="52" y="743"/>
                  <a:pt x="0" y="759"/>
                </a:cubicBezTo>
              </a:path>
            </a:pathLst>
          </a:custGeom>
          <a:noFill/>
          <a:ln w="28575" cap="flat" cmpd="sng">
            <a:solidFill>
              <a:srgbClr val="A5002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2459" name="Freeform 11"/>
          <p:cNvSpPr>
            <a:spLocks noChangeAspect="1"/>
          </p:cNvSpPr>
          <p:nvPr/>
        </p:nvSpPr>
        <p:spPr bwMode="auto">
          <a:xfrm>
            <a:off x="2416175" y="3686175"/>
            <a:ext cx="423863" cy="1204913"/>
          </a:xfrm>
          <a:custGeom>
            <a:avLst/>
            <a:gdLst>
              <a:gd name="T0" fmla="*/ 267 w 267"/>
              <a:gd name="T1" fmla="*/ 0 h 759"/>
              <a:gd name="T2" fmla="*/ 234 w 267"/>
              <a:gd name="T3" fmla="*/ 213 h 759"/>
              <a:gd name="T4" fmla="*/ 186 w 267"/>
              <a:gd name="T5" fmla="*/ 378 h 759"/>
              <a:gd name="T6" fmla="*/ 111 w 267"/>
              <a:gd name="T7" fmla="*/ 555 h 759"/>
              <a:gd name="T8" fmla="*/ 0 w 267"/>
              <a:gd name="T9" fmla="*/ 759 h 7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7" h="759">
                <a:moveTo>
                  <a:pt x="267" y="0"/>
                </a:moveTo>
                <a:cubicBezTo>
                  <a:pt x="262" y="30"/>
                  <a:pt x="247" y="150"/>
                  <a:pt x="234" y="213"/>
                </a:cubicBezTo>
                <a:cubicBezTo>
                  <a:pt x="221" y="276"/>
                  <a:pt x="207" y="321"/>
                  <a:pt x="186" y="378"/>
                </a:cubicBezTo>
                <a:cubicBezTo>
                  <a:pt x="165" y="435"/>
                  <a:pt x="142" y="492"/>
                  <a:pt x="111" y="555"/>
                </a:cubicBezTo>
                <a:cubicBezTo>
                  <a:pt x="80" y="618"/>
                  <a:pt x="23" y="717"/>
                  <a:pt x="0" y="759"/>
                </a:cubicBezTo>
              </a:path>
            </a:pathLst>
          </a:custGeom>
          <a:noFill/>
          <a:ln w="28575" cap="flat" cmpd="sng">
            <a:solidFill>
              <a:srgbClr val="0080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2460" name="Freeform 12"/>
          <p:cNvSpPr>
            <a:spLocks noChangeAspect="1"/>
          </p:cNvSpPr>
          <p:nvPr/>
        </p:nvSpPr>
        <p:spPr bwMode="auto">
          <a:xfrm>
            <a:off x="2406650" y="2176463"/>
            <a:ext cx="904875" cy="2709862"/>
          </a:xfrm>
          <a:custGeom>
            <a:avLst/>
            <a:gdLst>
              <a:gd name="T0" fmla="*/ 570 w 570"/>
              <a:gd name="T1" fmla="*/ 0 h 1707"/>
              <a:gd name="T2" fmla="*/ 525 w 570"/>
              <a:gd name="T3" fmla="*/ 231 h 1707"/>
              <a:gd name="T4" fmla="*/ 471 w 570"/>
              <a:gd name="T5" fmla="*/ 468 h 1707"/>
              <a:gd name="T6" fmla="*/ 400 w 570"/>
              <a:gd name="T7" fmla="*/ 705 h 1707"/>
              <a:gd name="T8" fmla="*/ 323 w 570"/>
              <a:gd name="T9" fmla="*/ 911 h 1707"/>
              <a:gd name="T10" fmla="*/ 222 w 570"/>
              <a:gd name="T11" fmla="*/ 1093 h 1707"/>
              <a:gd name="T12" fmla="*/ 135 w 570"/>
              <a:gd name="T13" fmla="*/ 1275 h 1707"/>
              <a:gd name="T14" fmla="*/ 74 w 570"/>
              <a:gd name="T15" fmla="*/ 1414 h 1707"/>
              <a:gd name="T16" fmla="*/ 34 w 570"/>
              <a:gd name="T17" fmla="*/ 1542 h 1707"/>
              <a:gd name="T18" fmla="*/ 0 w 570"/>
              <a:gd name="T19" fmla="*/ 1707 h 17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0" h="1707">
                <a:moveTo>
                  <a:pt x="570" y="0"/>
                </a:moveTo>
                <a:cubicBezTo>
                  <a:pt x="562" y="37"/>
                  <a:pt x="542" y="154"/>
                  <a:pt x="525" y="231"/>
                </a:cubicBezTo>
                <a:cubicBezTo>
                  <a:pt x="508" y="309"/>
                  <a:pt x="492" y="389"/>
                  <a:pt x="471" y="468"/>
                </a:cubicBezTo>
                <a:cubicBezTo>
                  <a:pt x="450" y="547"/>
                  <a:pt x="425" y="631"/>
                  <a:pt x="400" y="705"/>
                </a:cubicBezTo>
                <a:cubicBezTo>
                  <a:pt x="375" y="779"/>
                  <a:pt x="353" y="846"/>
                  <a:pt x="323" y="911"/>
                </a:cubicBezTo>
                <a:cubicBezTo>
                  <a:pt x="293" y="976"/>
                  <a:pt x="253" y="1032"/>
                  <a:pt x="222" y="1093"/>
                </a:cubicBezTo>
                <a:cubicBezTo>
                  <a:pt x="191" y="1154"/>
                  <a:pt x="160" y="1221"/>
                  <a:pt x="135" y="1275"/>
                </a:cubicBezTo>
                <a:cubicBezTo>
                  <a:pt x="110" y="1329"/>
                  <a:pt x="91" y="1370"/>
                  <a:pt x="74" y="1414"/>
                </a:cubicBezTo>
                <a:cubicBezTo>
                  <a:pt x="57" y="1458"/>
                  <a:pt x="46" y="1493"/>
                  <a:pt x="34" y="1542"/>
                </a:cubicBezTo>
                <a:cubicBezTo>
                  <a:pt x="22" y="1591"/>
                  <a:pt x="7" y="1673"/>
                  <a:pt x="0" y="1707"/>
                </a:cubicBezTo>
              </a:path>
            </a:pathLst>
          </a:custGeom>
          <a:noFill/>
          <a:ln w="28575" cap="flat" cmpd="sng">
            <a:solidFill>
              <a:srgbClr val="0000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12461" name="Group 13"/>
          <p:cNvGrpSpPr>
            <a:grpSpLocks/>
          </p:cNvGrpSpPr>
          <p:nvPr/>
        </p:nvGrpSpPr>
        <p:grpSpPr bwMode="auto">
          <a:xfrm>
            <a:off x="1384300" y="3681413"/>
            <a:ext cx="746125" cy="1069975"/>
            <a:chOff x="766" y="2293"/>
            <a:chExt cx="470" cy="674"/>
          </a:xfrm>
        </p:grpSpPr>
        <p:sp>
          <p:nvSpPr>
            <p:cNvPr id="1512462" name="Text Box 14"/>
            <p:cNvSpPr txBox="1">
              <a:spLocks noChangeArrowheads="1"/>
            </p:cNvSpPr>
            <p:nvPr/>
          </p:nvSpPr>
          <p:spPr bwMode="auto">
            <a:xfrm>
              <a:off x="766" y="2293"/>
              <a:ext cx="47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990000"/>
                  </a:solidFill>
                  <a:ea typeface="幼圆" pitchFamily="49" charset="-122"/>
                </a:rPr>
                <a:t>初始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990000"/>
                  </a:solidFill>
                  <a:ea typeface="幼圆" pitchFamily="49" charset="-122"/>
                </a:rPr>
                <a:t>加载</a:t>
              </a:r>
              <a:endParaRPr lang="en-US" altLang="zh-CN" sz="2200" b="1" dirty="0">
                <a:solidFill>
                  <a:srgbClr val="990000"/>
                </a:solidFill>
                <a:ea typeface="幼圆" pitchFamily="49" charset="-122"/>
              </a:endParaRPr>
            </a:p>
          </p:txBody>
        </p:sp>
        <p:sp>
          <p:nvSpPr>
            <p:cNvPr id="1512463" name="Line 15"/>
            <p:cNvSpPr>
              <a:spLocks noChangeShapeType="1"/>
            </p:cNvSpPr>
            <p:nvPr/>
          </p:nvSpPr>
          <p:spPr bwMode="auto">
            <a:xfrm flipH="1">
              <a:off x="903" y="2793"/>
              <a:ext cx="86" cy="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12464" name="Group 16"/>
          <p:cNvGrpSpPr>
            <a:grpSpLocks/>
          </p:cNvGrpSpPr>
          <p:nvPr/>
        </p:nvGrpSpPr>
        <p:grpSpPr bwMode="auto">
          <a:xfrm>
            <a:off x="2751138" y="3798888"/>
            <a:ext cx="1123950" cy="427037"/>
            <a:chOff x="1627" y="2367"/>
            <a:chExt cx="708" cy="269"/>
          </a:xfrm>
        </p:grpSpPr>
        <p:sp>
          <p:nvSpPr>
            <p:cNvPr id="1512465" name="Rectangle 17"/>
            <p:cNvSpPr>
              <a:spLocks noChangeArrowheads="1"/>
            </p:cNvSpPr>
            <p:nvPr/>
          </p:nvSpPr>
          <p:spPr bwMode="auto">
            <a:xfrm>
              <a:off x="1865" y="2367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008000"/>
                  </a:solidFill>
                  <a:ea typeface="幼圆" pitchFamily="49" charset="-122"/>
                  <a:sym typeface="Symbol" pitchFamily="18" charset="2"/>
                </a:rPr>
                <a:t>卸载</a:t>
              </a:r>
            </a:p>
          </p:txBody>
        </p:sp>
        <p:sp>
          <p:nvSpPr>
            <p:cNvPr id="1512466" name="Line 18"/>
            <p:cNvSpPr>
              <a:spLocks noChangeShapeType="1"/>
            </p:cNvSpPr>
            <p:nvPr/>
          </p:nvSpPr>
          <p:spPr bwMode="auto">
            <a:xfrm flipV="1">
              <a:off x="1627" y="2558"/>
              <a:ext cx="230" cy="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12467" name="Group 19"/>
          <p:cNvGrpSpPr>
            <a:grpSpLocks/>
          </p:cNvGrpSpPr>
          <p:nvPr/>
        </p:nvGrpSpPr>
        <p:grpSpPr bwMode="auto">
          <a:xfrm>
            <a:off x="2452688" y="4264025"/>
            <a:ext cx="1439862" cy="427038"/>
            <a:chOff x="1439" y="2660"/>
            <a:chExt cx="907" cy="269"/>
          </a:xfrm>
        </p:grpSpPr>
        <p:sp>
          <p:nvSpPr>
            <p:cNvPr id="1512468" name="Text Box 20"/>
            <p:cNvSpPr txBox="1">
              <a:spLocks noChangeArrowheads="1"/>
            </p:cNvSpPr>
            <p:nvPr/>
          </p:nvSpPr>
          <p:spPr bwMode="auto">
            <a:xfrm>
              <a:off x="1699" y="2660"/>
              <a:ext cx="64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solidFill>
                    <a:srgbClr val="000066"/>
                  </a:solidFill>
                  <a:ea typeface="幼圆" pitchFamily="49" charset="-122"/>
                </a:rPr>
                <a:t>再加载</a:t>
              </a:r>
              <a:endParaRPr lang="en-US" altLang="zh-CN" sz="22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12469" name="Line 21"/>
            <p:cNvSpPr>
              <a:spLocks noChangeShapeType="1"/>
            </p:cNvSpPr>
            <p:nvPr/>
          </p:nvSpPr>
          <p:spPr bwMode="auto">
            <a:xfrm flipV="1">
              <a:off x="1439" y="2751"/>
              <a:ext cx="279" cy="1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12470" name="Group 22"/>
          <p:cNvGrpSpPr>
            <a:grpSpLocks/>
          </p:cNvGrpSpPr>
          <p:nvPr/>
        </p:nvGrpSpPr>
        <p:grpSpPr bwMode="auto">
          <a:xfrm>
            <a:off x="1901825" y="2311400"/>
            <a:ext cx="1089025" cy="884238"/>
            <a:chOff x="1142" y="1430"/>
            <a:chExt cx="648" cy="557"/>
          </a:xfrm>
        </p:grpSpPr>
        <p:sp>
          <p:nvSpPr>
            <p:cNvPr id="1512471" name="Text Box 23"/>
            <p:cNvSpPr txBox="1">
              <a:spLocks noChangeArrowheads="1"/>
            </p:cNvSpPr>
            <p:nvPr/>
          </p:nvSpPr>
          <p:spPr bwMode="auto">
            <a:xfrm>
              <a:off x="1142" y="1430"/>
              <a:ext cx="47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solidFill>
                    <a:srgbClr val="990000"/>
                  </a:solidFill>
                  <a:ea typeface="幼圆" pitchFamily="49" charset="-122"/>
                </a:rPr>
                <a:t>一次</a:t>
              </a:r>
              <a:endParaRPr lang="en-US" altLang="zh-CN" sz="2200" b="1">
                <a:solidFill>
                  <a:srgbClr val="990000"/>
                </a:solidFill>
                <a:ea typeface="幼圆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solidFill>
                    <a:srgbClr val="990000"/>
                  </a:solidFill>
                  <a:ea typeface="幼圆" pitchFamily="49" charset="-122"/>
                </a:rPr>
                <a:t>加载</a:t>
              </a:r>
              <a:endParaRPr lang="en-US" altLang="zh-CN" sz="2200" b="1">
                <a:solidFill>
                  <a:srgbClr val="990000"/>
                </a:solidFill>
                <a:ea typeface="幼圆" pitchFamily="49" charset="-122"/>
              </a:endParaRPr>
            </a:p>
          </p:txBody>
        </p:sp>
        <p:sp>
          <p:nvSpPr>
            <p:cNvPr id="1512472" name="Line 24"/>
            <p:cNvSpPr>
              <a:spLocks noChangeShapeType="1"/>
            </p:cNvSpPr>
            <p:nvPr/>
          </p:nvSpPr>
          <p:spPr bwMode="auto">
            <a:xfrm flipH="1" flipV="1">
              <a:off x="1617" y="1820"/>
              <a:ext cx="173" cy="1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12473" name="Rectangle 25"/>
          <p:cNvSpPr>
            <a:spLocks noChangeArrowheads="1"/>
          </p:cNvSpPr>
          <p:nvPr/>
        </p:nvSpPr>
        <p:spPr bwMode="auto">
          <a:xfrm>
            <a:off x="3446463" y="5891213"/>
            <a:ext cx="3340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侧限压缩试验</a:t>
            </a:r>
          </a:p>
        </p:txBody>
      </p:sp>
      <p:sp>
        <p:nvSpPr>
          <p:cNvPr id="1512474" name="Text Box 26"/>
          <p:cNvSpPr txBox="1">
            <a:spLocks noChangeArrowheads="1"/>
          </p:cNvSpPr>
          <p:nvPr/>
        </p:nvSpPr>
        <p:spPr bwMode="auto">
          <a:xfrm>
            <a:off x="490538" y="622300"/>
            <a:ext cx="30162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n"/>
            </a:pPr>
            <a:r>
              <a:rPr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卸载和再加载曲线</a:t>
            </a:r>
          </a:p>
        </p:txBody>
      </p:sp>
      <p:grpSp>
        <p:nvGrpSpPr>
          <p:cNvPr id="1512475" name="Group 27"/>
          <p:cNvGrpSpPr>
            <a:grpSpLocks/>
          </p:cNvGrpSpPr>
          <p:nvPr/>
        </p:nvGrpSpPr>
        <p:grpSpPr bwMode="auto">
          <a:xfrm>
            <a:off x="704850" y="3351213"/>
            <a:ext cx="2070100" cy="519112"/>
            <a:chOff x="338" y="2085"/>
            <a:chExt cx="1304" cy="327"/>
          </a:xfrm>
        </p:grpSpPr>
        <p:sp>
          <p:nvSpPr>
            <p:cNvPr id="1512476" name="Line 28"/>
            <p:cNvSpPr>
              <a:spLocks noChangeShapeType="1"/>
            </p:cNvSpPr>
            <p:nvPr/>
          </p:nvSpPr>
          <p:spPr bwMode="auto">
            <a:xfrm flipH="1">
              <a:off x="662" y="2285"/>
              <a:ext cx="9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2477" name="Text Box 29"/>
            <p:cNvSpPr txBox="1">
              <a:spLocks noChangeArrowheads="1"/>
            </p:cNvSpPr>
            <p:nvPr/>
          </p:nvSpPr>
          <p:spPr bwMode="auto">
            <a:xfrm>
              <a:off x="338" y="2085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sym typeface="Symbol" pitchFamily="18" charset="2"/>
                </a:rPr>
                <a:t>p</a:t>
              </a:r>
              <a:endParaRPr lang="en-US" altLang="zh-CN" sz="2400" b="1" dirty="0"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1512478" name="Text Box 30"/>
          <p:cNvSpPr txBox="1">
            <a:spLocks noChangeArrowheads="1"/>
          </p:cNvSpPr>
          <p:nvPr/>
        </p:nvSpPr>
        <p:spPr bwMode="auto">
          <a:xfrm>
            <a:off x="4643439" y="1049337"/>
            <a:ext cx="4043361" cy="4446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在试验曲线的卸载和再加载段，土样的变形特性同初始加载段明显不同，前者的刚度较大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在再加载段，当应力超过卸载时的应力</a:t>
            </a:r>
            <a:r>
              <a:rPr kumimoji="0"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时，曲线逐渐接近一次加载曲线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卸载和再加载曲线形成滞回圈</a:t>
            </a:r>
            <a:endParaRPr kumimoji="0" lang="en-US" altLang="zh-CN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-9526" y="0"/>
            <a:ext cx="46614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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曲线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  <a:sym typeface="Symbol" pitchFamily="18" charset="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1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1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151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2000"/>
                                        <p:tgtEl>
                                          <p:spTgt spid="151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151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51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2000"/>
                                        <p:tgtEl>
                                          <p:spTgt spid="151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8" dur="1000"/>
                                        <p:tgtEl>
                                          <p:spTgt spid="151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1000"/>
                                        <p:tgtEl>
                                          <p:spTgt spid="151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1000"/>
                                        <p:tgtEl>
                                          <p:spTgt spid="151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12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124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12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124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4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124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124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2457" grpId="0" animBg="1"/>
      <p:bldP spid="1512458" grpId="0" animBg="1"/>
      <p:bldP spid="1512459" grpId="0" animBg="1"/>
      <p:bldP spid="1512460" grpId="0" animBg="1"/>
      <p:bldP spid="1512478" grpId="0" build="p" advAuto="50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475" name="Rectangle 3"/>
          <p:cNvSpPr>
            <a:spLocks noChangeArrowheads="1"/>
          </p:cNvSpPr>
          <p:nvPr/>
        </p:nvSpPr>
        <p:spPr bwMode="auto">
          <a:xfrm>
            <a:off x="3278188" y="5849938"/>
            <a:ext cx="3340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侧限压缩试验</a:t>
            </a:r>
          </a:p>
        </p:txBody>
      </p:sp>
      <p:sp>
        <p:nvSpPr>
          <p:cNvPr id="1513476" name="Text Box 4"/>
          <p:cNvSpPr txBox="1">
            <a:spLocks noChangeArrowheads="1"/>
          </p:cNvSpPr>
          <p:nvPr/>
        </p:nvSpPr>
        <p:spPr bwMode="auto">
          <a:xfrm>
            <a:off x="592138" y="592138"/>
            <a:ext cx="2709862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n"/>
            </a:pPr>
            <a:r>
              <a:rPr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应力历史及影响</a:t>
            </a:r>
            <a:endParaRPr lang="en-US" altLang="zh-CN" sz="2400" b="1">
              <a:solidFill>
                <a:srgbClr val="A50021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1513477" name="Text Box 5"/>
          <p:cNvSpPr txBox="1">
            <a:spLocks noChangeArrowheads="1"/>
          </p:cNvSpPr>
          <p:nvPr/>
        </p:nvSpPr>
        <p:spPr bwMode="auto">
          <a:xfrm>
            <a:off x="4503738" y="1120775"/>
            <a:ext cx="4364037" cy="135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95000"/>
              <a:buFont typeface="Wingdings" pitchFamily="2" charset="2"/>
              <a:buChar char="n"/>
            </a:pP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</a:rPr>
              <a:t>土体在历史上所承受过的应力情况（包括最大应力等）称为</a:t>
            </a:r>
            <a:r>
              <a:rPr kumimoji="0" lang="zh-CN" altLang="en-US" b="1" dirty="0">
                <a:solidFill>
                  <a:srgbClr val="A50021"/>
                </a:solidFill>
                <a:ea typeface="幼圆" pitchFamily="49" charset="-122"/>
              </a:rPr>
              <a:t>应力历史</a:t>
            </a:r>
            <a:endParaRPr kumimoji="0" lang="en-US" altLang="zh-CN" b="1" dirty="0">
              <a:solidFill>
                <a:srgbClr val="A50021"/>
              </a:solidFill>
              <a:ea typeface="幼圆" pitchFamily="49" charset="-122"/>
            </a:endParaRPr>
          </a:p>
        </p:txBody>
      </p:sp>
      <p:grpSp>
        <p:nvGrpSpPr>
          <p:cNvPr id="1513478" name="Group 6"/>
          <p:cNvGrpSpPr>
            <a:grpSpLocks/>
          </p:cNvGrpSpPr>
          <p:nvPr/>
        </p:nvGrpSpPr>
        <p:grpSpPr bwMode="auto">
          <a:xfrm>
            <a:off x="395288" y="1200149"/>
            <a:ext cx="3851275" cy="4200525"/>
            <a:chOff x="249" y="810"/>
            <a:chExt cx="2426" cy="2646"/>
          </a:xfrm>
        </p:grpSpPr>
        <p:sp>
          <p:nvSpPr>
            <p:cNvPr id="1513479" name="Rectangle 7"/>
            <p:cNvSpPr>
              <a:spLocks noChangeArrowheads="1"/>
            </p:cNvSpPr>
            <p:nvPr/>
          </p:nvSpPr>
          <p:spPr bwMode="auto">
            <a:xfrm>
              <a:off x="249" y="810"/>
              <a:ext cx="2426" cy="26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aphicFrame>
          <p:nvGraphicFramePr>
            <p:cNvPr id="1513481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0423489"/>
                </p:ext>
              </p:extLst>
            </p:nvPr>
          </p:nvGraphicFramePr>
          <p:xfrm>
            <a:off x="2241" y="3029"/>
            <a:ext cx="20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3643" name="公式" r:id="rId3" imgW="164880" imgH="215640" progId="Equation.3">
                    <p:embed/>
                  </p:oleObj>
                </mc:Choice>
                <mc:Fallback>
                  <p:oleObj name="公式" r:id="rId3" imgW="164880" imgH="2156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1" y="3029"/>
                          <a:ext cx="20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13482" name="Freeform 10"/>
            <p:cNvSpPr>
              <a:spLocks noChangeAspect="1"/>
            </p:cNvSpPr>
            <p:nvPr/>
          </p:nvSpPr>
          <p:spPr bwMode="auto">
            <a:xfrm>
              <a:off x="658" y="2284"/>
              <a:ext cx="1028" cy="759"/>
            </a:xfrm>
            <a:custGeom>
              <a:avLst/>
              <a:gdLst>
                <a:gd name="T0" fmla="*/ 1028 w 1028"/>
                <a:gd name="T1" fmla="*/ 0 h 759"/>
                <a:gd name="T2" fmla="*/ 866 w 1028"/>
                <a:gd name="T3" fmla="*/ 243 h 759"/>
                <a:gd name="T4" fmla="*/ 695 w 1028"/>
                <a:gd name="T5" fmla="*/ 411 h 759"/>
                <a:gd name="T6" fmla="*/ 494 w 1028"/>
                <a:gd name="T7" fmla="*/ 562 h 759"/>
                <a:gd name="T8" fmla="*/ 249 w 1028"/>
                <a:gd name="T9" fmla="*/ 682 h 759"/>
                <a:gd name="T10" fmla="*/ 0 w 1028"/>
                <a:gd name="T11" fmla="*/ 759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28" h="759">
                  <a:moveTo>
                    <a:pt x="1028" y="0"/>
                  </a:moveTo>
                  <a:cubicBezTo>
                    <a:pt x="1001" y="40"/>
                    <a:pt x="921" y="175"/>
                    <a:pt x="866" y="243"/>
                  </a:cubicBezTo>
                  <a:cubicBezTo>
                    <a:pt x="811" y="311"/>
                    <a:pt x="757" y="358"/>
                    <a:pt x="695" y="411"/>
                  </a:cubicBezTo>
                  <a:cubicBezTo>
                    <a:pt x="633" y="464"/>
                    <a:pt x="568" y="517"/>
                    <a:pt x="494" y="562"/>
                  </a:cubicBezTo>
                  <a:cubicBezTo>
                    <a:pt x="420" y="607"/>
                    <a:pt x="331" y="649"/>
                    <a:pt x="249" y="682"/>
                  </a:cubicBezTo>
                  <a:cubicBezTo>
                    <a:pt x="167" y="715"/>
                    <a:pt x="52" y="743"/>
                    <a:pt x="0" y="759"/>
                  </a:cubicBezTo>
                </a:path>
              </a:pathLst>
            </a:custGeom>
            <a:noFill/>
            <a:ln w="28575" cap="flat" cmpd="sng">
              <a:solidFill>
                <a:srgbClr val="A5002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3483" name="Freeform 11"/>
            <p:cNvSpPr>
              <a:spLocks noChangeAspect="1"/>
            </p:cNvSpPr>
            <p:nvPr/>
          </p:nvSpPr>
          <p:spPr bwMode="auto">
            <a:xfrm>
              <a:off x="1416" y="2296"/>
              <a:ext cx="267" cy="759"/>
            </a:xfrm>
            <a:custGeom>
              <a:avLst/>
              <a:gdLst>
                <a:gd name="T0" fmla="*/ 267 w 267"/>
                <a:gd name="T1" fmla="*/ 0 h 759"/>
                <a:gd name="T2" fmla="*/ 234 w 267"/>
                <a:gd name="T3" fmla="*/ 213 h 759"/>
                <a:gd name="T4" fmla="*/ 186 w 267"/>
                <a:gd name="T5" fmla="*/ 378 h 759"/>
                <a:gd name="T6" fmla="*/ 111 w 267"/>
                <a:gd name="T7" fmla="*/ 555 h 759"/>
                <a:gd name="T8" fmla="*/ 0 w 267"/>
                <a:gd name="T9" fmla="*/ 759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759">
                  <a:moveTo>
                    <a:pt x="267" y="0"/>
                  </a:moveTo>
                  <a:cubicBezTo>
                    <a:pt x="262" y="30"/>
                    <a:pt x="247" y="150"/>
                    <a:pt x="234" y="213"/>
                  </a:cubicBezTo>
                  <a:cubicBezTo>
                    <a:pt x="221" y="276"/>
                    <a:pt x="207" y="321"/>
                    <a:pt x="186" y="378"/>
                  </a:cubicBezTo>
                  <a:cubicBezTo>
                    <a:pt x="165" y="435"/>
                    <a:pt x="142" y="492"/>
                    <a:pt x="111" y="555"/>
                  </a:cubicBezTo>
                  <a:cubicBezTo>
                    <a:pt x="80" y="618"/>
                    <a:pt x="23" y="717"/>
                    <a:pt x="0" y="759"/>
                  </a:cubicBezTo>
                </a:path>
              </a:pathLst>
            </a:custGeom>
            <a:noFill/>
            <a:ln w="28575" cap="flat" cmpd="sng">
              <a:solidFill>
                <a:srgbClr val="008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3484" name="Freeform 12"/>
            <p:cNvSpPr>
              <a:spLocks noChangeAspect="1"/>
            </p:cNvSpPr>
            <p:nvPr/>
          </p:nvSpPr>
          <p:spPr bwMode="auto">
            <a:xfrm>
              <a:off x="1410" y="1345"/>
              <a:ext cx="570" cy="1707"/>
            </a:xfrm>
            <a:custGeom>
              <a:avLst/>
              <a:gdLst>
                <a:gd name="T0" fmla="*/ 570 w 570"/>
                <a:gd name="T1" fmla="*/ 0 h 1707"/>
                <a:gd name="T2" fmla="*/ 525 w 570"/>
                <a:gd name="T3" fmla="*/ 231 h 1707"/>
                <a:gd name="T4" fmla="*/ 471 w 570"/>
                <a:gd name="T5" fmla="*/ 468 h 1707"/>
                <a:gd name="T6" fmla="*/ 400 w 570"/>
                <a:gd name="T7" fmla="*/ 705 h 1707"/>
                <a:gd name="T8" fmla="*/ 323 w 570"/>
                <a:gd name="T9" fmla="*/ 911 h 1707"/>
                <a:gd name="T10" fmla="*/ 222 w 570"/>
                <a:gd name="T11" fmla="*/ 1093 h 1707"/>
                <a:gd name="T12" fmla="*/ 135 w 570"/>
                <a:gd name="T13" fmla="*/ 1275 h 1707"/>
                <a:gd name="T14" fmla="*/ 74 w 570"/>
                <a:gd name="T15" fmla="*/ 1414 h 1707"/>
                <a:gd name="T16" fmla="*/ 34 w 570"/>
                <a:gd name="T17" fmla="*/ 1542 h 1707"/>
                <a:gd name="T18" fmla="*/ 0 w 570"/>
                <a:gd name="T19" fmla="*/ 1707 h 1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0" h="1707">
                  <a:moveTo>
                    <a:pt x="570" y="0"/>
                  </a:moveTo>
                  <a:cubicBezTo>
                    <a:pt x="562" y="37"/>
                    <a:pt x="542" y="154"/>
                    <a:pt x="525" y="231"/>
                  </a:cubicBezTo>
                  <a:cubicBezTo>
                    <a:pt x="508" y="309"/>
                    <a:pt x="492" y="389"/>
                    <a:pt x="471" y="468"/>
                  </a:cubicBezTo>
                  <a:cubicBezTo>
                    <a:pt x="450" y="547"/>
                    <a:pt x="425" y="631"/>
                    <a:pt x="400" y="705"/>
                  </a:cubicBezTo>
                  <a:cubicBezTo>
                    <a:pt x="375" y="779"/>
                    <a:pt x="353" y="846"/>
                    <a:pt x="323" y="911"/>
                  </a:cubicBezTo>
                  <a:cubicBezTo>
                    <a:pt x="293" y="976"/>
                    <a:pt x="253" y="1032"/>
                    <a:pt x="222" y="1093"/>
                  </a:cubicBezTo>
                  <a:cubicBezTo>
                    <a:pt x="191" y="1154"/>
                    <a:pt x="160" y="1221"/>
                    <a:pt x="135" y="1275"/>
                  </a:cubicBezTo>
                  <a:cubicBezTo>
                    <a:pt x="110" y="1329"/>
                    <a:pt x="91" y="1370"/>
                    <a:pt x="74" y="1414"/>
                  </a:cubicBezTo>
                  <a:cubicBezTo>
                    <a:pt x="57" y="1458"/>
                    <a:pt x="46" y="1493"/>
                    <a:pt x="34" y="1542"/>
                  </a:cubicBezTo>
                  <a:cubicBezTo>
                    <a:pt x="22" y="1591"/>
                    <a:pt x="7" y="1673"/>
                    <a:pt x="0" y="1707"/>
                  </a:cubicBezTo>
                </a:path>
              </a:pathLst>
            </a:custGeom>
            <a:noFill/>
            <a:ln w="28575" cap="flat" cmpd="sng">
              <a:solidFill>
                <a:srgbClr val="000066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3485" name="Text Box 13"/>
            <p:cNvSpPr txBox="1">
              <a:spLocks noChangeArrowheads="1"/>
            </p:cNvSpPr>
            <p:nvPr/>
          </p:nvSpPr>
          <p:spPr bwMode="auto">
            <a:xfrm>
              <a:off x="1083" y="1679"/>
              <a:ext cx="47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solidFill>
                    <a:srgbClr val="990000"/>
                  </a:solidFill>
                  <a:ea typeface="幼圆" pitchFamily="49" charset="-122"/>
                </a:rPr>
                <a:t>初始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solidFill>
                    <a:srgbClr val="990000"/>
                  </a:solidFill>
                  <a:ea typeface="幼圆" pitchFamily="49" charset="-122"/>
                </a:rPr>
                <a:t>加载</a:t>
              </a:r>
              <a:endParaRPr lang="en-US" altLang="zh-CN" sz="2200" b="1">
                <a:solidFill>
                  <a:srgbClr val="990000"/>
                </a:solidFill>
                <a:ea typeface="幼圆" pitchFamily="49" charset="-122"/>
              </a:endParaRPr>
            </a:p>
          </p:txBody>
        </p:sp>
        <p:sp>
          <p:nvSpPr>
            <p:cNvPr id="1513486" name="Line 14"/>
            <p:cNvSpPr>
              <a:spLocks noChangeShapeType="1"/>
            </p:cNvSpPr>
            <p:nvPr/>
          </p:nvSpPr>
          <p:spPr bwMode="auto">
            <a:xfrm>
              <a:off x="1296" y="2198"/>
              <a:ext cx="164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3487" name="Rectangle 15"/>
            <p:cNvSpPr>
              <a:spLocks noChangeArrowheads="1"/>
            </p:cNvSpPr>
            <p:nvPr/>
          </p:nvSpPr>
          <p:spPr bwMode="auto">
            <a:xfrm>
              <a:off x="1856" y="2281"/>
              <a:ext cx="47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008000"/>
                  </a:solidFill>
                  <a:ea typeface="幼圆" pitchFamily="49" charset="-122"/>
                  <a:sym typeface="Symbol" pitchFamily="18" charset="2"/>
                </a:rPr>
                <a:t>卸载</a:t>
              </a:r>
            </a:p>
          </p:txBody>
        </p:sp>
        <p:sp>
          <p:nvSpPr>
            <p:cNvPr id="1513488" name="Line 16"/>
            <p:cNvSpPr>
              <a:spLocks noChangeShapeType="1"/>
            </p:cNvSpPr>
            <p:nvPr/>
          </p:nvSpPr>
          <p:spPr bwMode="auto">
            <a:xfrm flipV="1">
              <a:off x="1642" y="2464"/>
              <a:ext cx="230" cy="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3489" name="Freeform 17"/>
            <p:cNvSpPr>
              <a:spLocks/>
            </p:cNvSpPr>
            <p:nvPr/>
          </p:nvSpPr>
          <p:spPr bwMode="auto">
            <a:xfrm>
              <a:off x="656" y="1236"/>
              <a:ext cx="1622" cy="1815"/>
            </a:xfrm>
            <a:custGeom>
              <a:avLst/>
              <a:gdLst>
                <a:gd name="T0" fmla="*/ 0 w 1622"/>
                <a:gd name="T1" fmla="*/ 0 h 1815"/>
                <a:gd name="T2" fmla="*/ 0 w 1622"/>
                <a:gd name="T3" fmla="*/ 1815 h 1815"/>
                <a:gd name="T4" fmla="*/ 1622 w 1622"/>
                <a:gd name="T5" fmla="*/ 1815 h 1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22" h="1815">
                  <a:moveTo>
                    <a:pt x="0" y="0"/>
                  </a:moveTo>
                  <a:lnTo>
                    <a:pt x="0" y="1815"/>
                  </a:lnTo>
                  <a:lnTo>
                    <a:pt x="1622" y="181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3490" name="Text Box 18"/>
            <p:cNvSpPr txBox="1">
              <a:spLocks noChangeArrowheads="1"/>
            </p:cNvSpPr>
            <p:nvPr/>
          </p:nvSpPr>
          <p:spPr bwMode="auto">
            <a:xfrm>
              <a:off x="1748" y="2636"/>
              <a:ext cx="64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000066"/>
                  </a:solidFill>
                  <a:ea typeface="幼圆" pitchFamily="49" charset="-122"/>
                </a:rPr>
                <a:t>再加载</a:t>
              </a:r>
              <a:endParaRPr lang="en-US" altLang="zh-CN" sz="22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13491" name="Line 19"/>
            <p:cNvSpPr>
              <a:spLocks noChangeShapeType="1"/>
            </p:cNvSpPr>
            <p:nvPr/>
          </p:nvSpPr>
          <p:spPr bwMode="auto">
            <a:xfrm flipV="1">
              <a:off x="1445" y="2813"/>
              <a:ext cx="313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3492" name="Line 20"/>
            <p:cNvSpPr>
              <a:spLocks noChangeShapeType="1"/>
            </p:cNvSpPr>
            <p:nvPr/>
          </p:nvSpPr>
          <p:spPr bwMode="auto">
            <a:xfrm flipH="1">
              <a:off x="662" y="2285"/>
              <a:ext cx="9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3493" name="Text Box 21"/>
            <p:cNvSpPr txBox="1">
              <a:spLocks noChangeArrowheads="1"/>
            </p:cNvSpPr>
            <p:nvPr/>
          </p:nvSpPr>
          <p:spPr bwMode="auto">
            <a:xfrm>
              <a:off x="356" y="2097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13494" name="Line 22"/>
            <p:cNvSpPr>
              <a:spLocks noChangeShapeType="1"/>
            </p:cNvSpPr>
            <p:nvPr/>
          </p:nvSpPr>
          <p:spPr bwMode="auto">
            <a:xfrm flipV="1">
              <a:off x="1421" y="2131"/>
              <a:ext cx="340" cy="908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0385947"/>
                </p:ext>
              </p:extLst>
            </p:nvPr>
          </p:nvGraphicFramePr>
          <p:xfrm>
            <a:off x="673" y="983"/>
            <a:ext cx="5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3644" name="公式" r:id="rId5" imgW="457200" imgH="215640" progId="Equation.3">
                    <p:embed/>
                  </p:oleObj>
                </mc:Choice>
                <mc:Fallback>
                  <p:oleObj name="公式" r:id="rId5" imgW="45720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" y="983"/>
                          <a:ext cx="57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13495" name="Text Box 23"/>
          <p:cNvSpPr txBox="1">
            <a:spLocks noChangeArrowheads="1"/>
          </p:cNvSpPr>
          <p:nvPr/>
        </p:nvSpPr>
        <p:spPr bwMode="auto">
          <a:xfrm>
            <a:off x="5992813" y="4422775"/>
            <a:ext cx="2217737" cy="960607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应力历史的影响非常显著</a:t>
            </a:r>
            <a:endParaRPr kumimoji="1" lang="en-US" altLang="zh-CN" sz="2400" b="1" dirty="0">
              <a:solidFill>
                <a:schemeClr val="bg1">
                  <a:lumMod val="95000"/>
                </a:schemeClr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13496" name="Text Box 24"/>
          <p:cNvSpPr txBox="1">
            <a:spLocks noChangeArrowheads="1"/>
          </p:cNvSpPr>
          <p:nvPr/>
        </p:nvSpPr>
        <p:spPr bwMode="auto">
          <a:xfrm>
            <a:off x="4926014" y="2714625"/>
            <a:ext cx="3827462" cy="135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61950" indent="-36195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</a:rPr>
              <a:t>土样在</a:t>
            </a: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</a:rPr>
              <a:t>A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</a:rPr>
              <a:t>和</a:t>
            </a: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</a:rPr>
              <a:t>B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</a:rPr>
              <a:t>点所处的应力状态完全相同，但其变形特性差别很大</a:t>
            </a:r>
            <a:endParaRPr kumimoji="0" lang="en-US" altLang="zh-CN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13497" name="AutoShape 25"/>
          <p:cNvSpPr>
            <a:spLocks noChangeArrowheads="1"/>
          </p:cNvSpPr>
          <p:nvPr/>
        </p:nvSpPr>
        <p:spPr bwMode="auto">
          <a:xfrm>
            <a:off x="5106988" y="4603750"/>
            <a:ext cx="560387" cy="457200"/>
          </a:xfrm>
          <a:prstGeom prst="homePlate">
            <a:avLst>
              <a:gd name="adj" fmla="val 3064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1513498" name="Group 26"/>
          <p:cNvGrpSpPr>
            <a:grpSpLocks/>
          </p:cNvGrpSpPr>
          <p:nvPr/>
        </p:nvGrpSpPr>
        <p:grpSpPr bwMode="auto">
          <a:xfrm>
            <a:off x="569913" y="3719513"/>
            <a:ext cx="2309812" cy="769937"/>
            <a:chOff x="359" y="2397"/>
            <a:chExt cx="1455" cy="485"/>
          </a:xfrm>
        </p:grpSpPr>
        <p:sp>
          <p:nvSpPr>
            <p:cNvPr id="1513499" name="Line 27"/>
            <p:cNvSpPr>
              <a:spLocks noChangeShapeType="1"/>
            </p:cNvSpPr>
            <p:nvPr/>
          </p:nvSpPr>
          <p:spPr bwMode="auto">
            <a:xfrm>
              <a:off x="643" y="2698"/>
              <a:ext cx="9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3500" name="Oval 28"/>
            <p:cNvSpPr>
              <a:spLocks noChangeArrowheads="1"/>
            </p:cNvSpPr>
            <p:nvPr/>
          </p:nvSpPr>
          <p:spPr bwMode="auto">
            <a:xfrm>
              <a:off x="1315" y="2669"/>
              <a:ext cx="56" cy="56"/>
            </a:xfrm>
            <a:prstGeom prst="ellipse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13501" name="Oval 29"/>
            <p:cNvSpPr>
              <a:spLocks noChangeArrowheads="1"/>
            </p:cNvSpPr>
            <p:nvPr/>
          </p:nvSpPr>
          <p:spPr bwMode="auto">
            <a:xfrm>
              <a:off x="1523" y="2671"/>
              <a:ext cx="56" cy="5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13502" name="Text Box 30"/>
            <p:cNvSpPr txBox="1">
              <a:spLocks noChangeArrowheads="1"/>
            </p:cNvSpPr>
            <p:nvPr/>
          </p:nvSpPr>
          <p:spPr bwMode="auto">
            <a:xfrm>
              <a:off x="1152" y="2397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ea typeface="幼圆" pitchFamily="49" charset="-122"/>
                </a:rPr>
                <a:t>A</a:t>
              </a:r>
            </a:p>
          </p:txBody>
        </p:sp>
        <p:sp>
          <p:nvSpPr>
            <p:cNvPr id="1513503" name="Text Box 31"/>
            <p:cNvSpPr txBox="1">
              <a:spLocks noChangeArrowheads="1"/>
            </p:cNvSpPr>
            <p:nvPr/>
          </p:nvSpPr>
          <p:spPr bwMode="auto">
            <a:xfrm>
              <a:off x="1570" y="2544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ea typeface="幼圆" pitchFamily="49" charset="-122"/>
                </a:rPr>
                <a:t>B</a:t>
              </a:r>
            </a:p>
          </p:txBody>
        </p:sp>
        <p:sp>
          <p:nvSpPr>
            <p:cNvPr id="1513504" name="Text Box 32"/>
            <p:cNvSpPr txBox="1">
              <a:spLocks noChangeArrowheads="1"/>
            </p:cNvSpPr>
            <p:nvPr/>
          </p:nvSpPr>
          <p:spPr bwMode="auto">
            <a:xfrm>
              <a:off x="359" y="2555"/>
              <a:ext cx="2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endParaRPr lang="en-US" altLang="zh-CN" sz="24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34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-9526" y="0"/>
            <a:ext cx="46614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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曲线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  <a:sym typeface="Symbol" pitchFamily="18" charset="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1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13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13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1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1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1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51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134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1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51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3477" grpId="0"/>
      <p:bldP spid="1513495" grpId="0" animBg="1"/>
      <p:bldP spid="1513496" grpId="0"/>
      <p:bldP spid="151349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499" name="Rectangle 3"/>
          <p:cNvSpPr>
            <a:spLocks noChangeArrowheads="1"/>
          </p:cNvSpPr>
          <p:nvPr/>
        </p:nvSpPr>
        <p:spPr bwMode="auto">
          <a:xfrm>
            <a:off x="3362325" y="5994400"/>
            <a:ext cx="314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450850" indent="-45085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en-US" altLang="zh-CN" sz="3600" b="1" i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</a:t>
            </a:r>
            <a:r>
              <a:rPr kumimoji="1" lang="en-US" altLang="zh-CN" sz="36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- </a:t>
            </a:r>
            <a:r>
              <a:rPr kumimoji="1" lang="en-US" altLang="zh-CN" sz="3600" b="1" i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p</a:t>
            </a:r>
            <a:r>
              <a:rPr kumimoji="1" lang="zh-CN" altLang="en-US" sz="36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曲线</a:t>
            </a:r>
            <a:endParaRPr lang="zh-CN" altLang="en-US" sz="3600" b="1" dirty="0">
              <a:solidFill>
                <a:srgbClr val="000066"/>
              </a:solidFill>
              <a:ea typeface="黑体" pitchFamily="2" charset="-122"/>
            </a:endParaRPr>
          </a:p>
        </p:txBody>
      </p:sp>
      <p:graphicFrame>
        <p:nvGraphicFramePr>
          <p:cNvPr id="15145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662224"/>
              </p:ext>
            </p:extLst>
          </p:nvPr>
        </p:nvGraphicFramePr>
        <p:xfrm>
          <a:off x="806450" y="1846263"/>
          <a:ext cx="1368425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704" name="Microsoft 公式 3.0" r:id="rId3" imgW="571320" imgH="406080" progId="Equation.3">
                  <p:embed/>
                </p:oleObj>
              </mc:Choice>
              <mc:Fallback>
                <p:oleObj name="Microsoft 公式 3.0" r:id="rId3" imgW="571320" imgH="406080" progId="Equation.3">
                  <p:embed/>
                  <p:pic>
                    <p:nvPicPr>
                      <p:cNvPr id="0" name="Object 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" y="1846263"/>
                        <a:ext cx="1368425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4501" name="Text Box 5"/>
          <p:cNvSpPr txBox="1">
            <a:spLocks noChangeArrowheads="1"/>
          </p:cNvSpPr>
          <p:nvPr/>
        </p:nvSpPr>
        <p:spPr bwMode="auto">
          <a:xfrm>
            <a:off x="2559050" y="1793875"/>
            <a:ext cx="25685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初始加载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s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卸载和重加载</a:t>
            </a: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endParaRPr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14554" name="Text Box 58"/>
          <p:cNvSpPr txBox="1">
            <a:spLocks noChangeArrowheads="1"/>
          </p:cNvSpPr>
          <p:nvPr/>
        </p:nvSpPr>
        <p:spPr bwMode="auto">
          <a:xfrm>
            <a:off x="433387" y="3151188"/>
            <a:ext cx="4644640" cy="950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55600" indent="-3556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体积</a:t>
            </a: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压缩系数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：</a:t>
            </a:r>
            <a:r>
              <a:rPr kumimoji="1" lang="zh-CN" altLang="en-US" sz="24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单位压应力变化引起的单位体积的体积变化</a:t>
            </a:r>
            <a:endParaRPr kumimoji="1" lang="en-US" altLang="zh-CN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514555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530703"/>
              </p:ext>
            </p:extLst>
          </p:nvPr>
        </p:nvGraphicFramePr>
        <p:xfrm>
          <a:off x="2193925" y="4359275"/>
          <a:ext cx="133032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705" name="Microsoft 公式 3.0" r:id="rId5" imgW="583920" imgH="444240" progId="Equation.3">
                  <p:embed/>
                </p:oleObj>
              </mc:Choice>
              <mc:Fallback>
                <p:oleObj name="Microsoft 公式 3.0" r:id="rId5" imgW="583920" imgH="444240" progId="Equation.3">
                  <p:embed/>
                  <p:pic>
                    <p:nvPicPr>
                      <p:cNvPr id="0" name="Object 5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4359275"/>
                        <a:ext cx="1330325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4557" name="AutoShape 61"/>
          <p:cNvSpPr>
            <a:spLocks noChangeArrowheads="1"/>
          </p:cNvSpPr>
          <p:nvPr/>
        </p:nvSpPr>
        <p:spPr bwMode="auto">
          <a:xfrm>
            <a:off x="1469277" y="4565573"/>
            <a:ext cx="560388" cy="457200"/>
          </a:xfrm>
          <a:prstGeom prst="homePlate">
            <a:avLst>
              <a:gd name="adj" fmla="val 30642"/>
            </a:avLst>
          </a:prstGeom>
          <a:solidFill>
            <a:srgbClr val="FF942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14558" name="Text Box 62"/>
          <p:cNvSpPr txBox="1">
            <a:spLocks noChangeArrowheads="1"/>
          </p:cNvSpPr>
          <p:nvPr/>
        </p:nvSpPr>
        <p:spPr bwMode="auto">
          <a:xfrm>
            <a:off x="441325" y="695325"/>
            <a:ext cx="3773488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Font typeface="Wingdings" pitchFamily="2" charset="2"/>
              <a:buChar char="n"/>
            </a:pP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侧限压缩（变形）模量</a:t>
            </a:r>
            <a:br>
              <a:rPr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lang="en-US" altLang="zh-CN" b="1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lang="en-US" altLang="zh-CN" b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Pa</a:t>
            </a:r>
            <a:r>
              <a:rPr lang="en-US" altLang="zh-CN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lang="en-US" altLang="zh-CN" b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MPa</a:t>
            </a:r>
            <a:endParaRPr lang="en-US" altLang="zh-CN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5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638118" y="864965"/>
            <a:ext cx="3129757" cy="2468563"/>
            <a:chOff x="5638118" y="864965"/>
            <a:chExt cx="3129757" cy="2468563"/>
          </a:xfrm>
        </p:grpSpPr>
        <p:sp>
          <p:nvSpPr>
            <p:cNvPr id="1514537" name="Freeform 41"/>
            <p:cNvSpPr>
              <a:spLocks/>
            </p:cNvSpPr>
            <p:nvPr/>
          </p:nvSpPr>
          <p:spPr bwMode="auto">
            <a:xfrm rot="5400000">
              <a:off x="6050074" y="487140"/>
              <a:ext cx="2192338" cy="3016250"/>
            </a:xfrm>
            <a:custGeom>
              <a:avLst/>
              <a:gdLst>
                <a:gd name="T0" fmla="*/ 0 w 1795"/>
                <a:gd name="T1" fmla="*/ 0 h 1900"/>
                <a:gd name="T2" fmla="*/ 0 w 1795"/>
                <a:gd name="T3" fmla="*/ 1900 h 1900"/>
                <a:gd name="T4" fmla="*/ 1795 w 1795"/>
                <a:gd name="T5" fmla="*/ 1900 h 1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95" h="1900">
                  <a:moveTo>
                    <a:pt x="0" y="0"/>
                  </a:moveTo>
                  <a:lnTo>
                    <a:pt x="0" y="1900"/>
                  </a:lnTo>
                  <a:lnTo>
                    <a:pt x="1795" y="190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4538" name="Freeform 42"/>
            <p:cNvSpPr>
              <a:spLocks noChangeAspect="1"/>
            </p:cNvSpPr>
            <p:nvPr/>
          </p:nvSpPr>
          <p:spPr bwMode="auto">
            <a:xfrm rot="5400000">
              <a:off x="5373955" y="1170563"/>
              <a:ext cx="1193808" cy="654050"/>
            </a:xfrm>
            <a:custGeom>
              <a:avLst/>
              <a:gdLst>
                <a:gd name="T0" fmla="*/ 574 w 574"/>
                <a:gd name="T1" fmla="*/ 0 h 317"/>
                <a:gd name="T2" fmla="*/ 391 w 574"/>
                <a:gd name="T3" fmla="*/ 138 h 317"/>
                <a:gd name="T4" fmla="*/ 208 w 574"/>
                <a:gd name="T5" fmla="*/ 237 h 317"/>
                <a:gd name="T6" fmla="*/ 0 w 574"/>
                <a:gd name="T7" fmla="*/ 317 h 317"/>
                <a:gd name="connsiteX0" fmla="*/ 10045 w 10045"/>
                <a:gd name="connsiteY0" fmla="*/ 0 h 10121"/>
                <a:gd name="connsiteX1" fmla="*/ 6812 w 10045"/>
                <a:gd name="connsiteY1" fmla="*/ 4474 h 10121"/>
                <a:gd name="connsiteX2" fmla="*/ 3624 w 10045"/>
                <a:gd name="connsiteY2" fmla="*/ 7597 h 10121"/>
                <a:gd name="connsiteX3" fmla="*/ 0 w 10045"/>
                <a:gd name="connsiteY3" fmla="*/ 10121 h 10121"/>
                <a:gd name="connsiteX0" fmla="*/ 10067 w 10067"/>
                <a:gd name="connsiteY0" fmla="*/ 0 h 10000"/>
                <a:gd name="connsiteX1" fmla="*/ 6812 w 10067"/>
                <a:gd name="connsiteY1" fmla="*/ 4353 h 10000"/>
                <a:gd name="connsiteX2" fmla="*/ 3624 w 10067"/>
                <a:gd name="connsiteY2" fmla="*/ 7476 h 10000"/>
                <a:gd name="connsiteX3" fmla="*/ 0 w 10067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67" h="10000">
                  <a:moveTo>
                    <a:pt x="10067" y="0"/>
                  </a:moveTo>
                  <a:cubicBezTo>
                    <a:pt x="9544" y="726"/>
                    <a:pt x="7886" y="3107"/>
                    <a:pt x="6812" y="4353"/>
                  </a:cubicBezTo>
                  <a:cubicBezTo>
                    <a:pt x="5738" y="5599"/>
                    <a:pt x="4756" y="6530"/>
                    <a:pt x="3624" y="7476"/>
                  </a:cubicBezTo>
                  <a:cubicBezTo>
                    <a:pt x="2491" y="8423"/>
                    <a:pt x="749" y="9464"/>
                    <a:pt x="0" y="10000"/>
                  </a:cubicBezTo>
                </a:path>
              </a:pathLst>
            </a:custGeom>
            <a:noFill/>
            <a:ln w="28575" cap="flat" cmpd="sng">
              <a:solidFill>
                <a:srgbClr val="8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4539" name="Freeform 43"/>
            <p:cNvSpPr>
              <a:spLocks noChangeAspect="1"/>
            </p:cNvSpPr>
            <p:nvPr/>
          </p:nvSpPr>
          <p:spPr bwMode="auto">
            <a:xfrm rot="5400000">
              <a:off x="5820839" y="1619662"/>
              <a:ext cx="303213" cy="661988"/>
            </a:xfrm>
            <a:custGeom>
              <a:avLst/>
              <a:gdLst>
                <a:gd name="T0" fmla="*/ 147 w 147"/>
                <a:gd name="T1" fmla="*/ 0 h 321"/>
                <a:gd name="T2" fmla="*/ 126 w 147"/>
                <a:gd name="T3" fmla="*/ 111 h 321"/>
                <a:gd name="T4" fmla="*/ 99 w 147"/>
                <a:gd name="T5" fmla="*/ 185 h 321"/>
                <a:gd name="T6" fmla="*/ 61 w 147"/>
                <a:gd name="T7" fmla="*/ 250 h 321"/>
                <a:gd name="T8" fmla="*/ 0 w 147"/>
                <a:gd name="T9" fmla="*/ 321 h 321"/>
                <a:gd name="connsiteX0" fmla="*/ 10000 w 10000"/>
                <a:gd name="connsiteY0" fmla="*/ 0 h 10000"/>
                <a:gd name="connsiteX1" fmla="*/ 8571 w 10000"/>
                <a:gd name="connsiteY1" fmla="*/ 3458 h 10000"/>
                <a:gd name="connsiteX2" fmla="*/ 6735 w 10000"/>
                <a:gd name="connsiteY2" fmla="*/ 5763 h 10000"/>
                <a:gd name="connsiteX3" fmla="*/ 4150 w 10000"/>
                <a:gd name="connsiteY3" fmla="*/ 7788 h 10000"/>
                <a:gd name="connsiteX4" fmla="*/ 0 w 10000"/>
                <a:gd name="connsiteY4" fmla="*/ 10000 h 10000"/>
                <a:gd name="connsiteX0" fmla="*/ 10000 w 10000"/>
                <a:gd name="connsiteY0" fmla="*/ 0 h 10000"/>
                <a:gd name="connsiteX1" fmla="*/ 6735 w 10000"/>
                <a:gd name="connsiteY1" fmla="*/ 5763 h 10000"/>
                <a:gd name="connsiteX2" fmla="*/ 4150 w 10000"/>
                <a:gd name="connsiteY2" fmla="*/ 7788 h 10000"/>
                <a:gd name="connsiteX3" fmla="*/ 0 w 10000"/>
                <a:gd name="connsiteY3" fmla="*/ 10000 h 10000"/>
                <a:gd name="connsiteX0" fmla="*/ 10000 w 10000"/>
                <a:gd name="connsiteY0" fmla="*/ 0 h 10000"/>
                <a:gd name="connsiteX1" fmla="*/ 8515 w 10000"/>
                <a:gd name="connsiteY1" fmla="*/ 3577 h 10000"/>
                <a:gd name="connsiteX2" fmla="*/ 6735 w 10000"/>
                <a:gd name="connsiteY2" fmla="*/ 5763 h 10000"/>
                <a:gd name="connsiteX3" fmla="*/ 4150 w 10000"/>
                <a:gd name="connsiteY3" fmla="*/ 7788 h 10000"/>
                <a:gd name="connsiteX4" fmla="*/ 0 w 10000"/>
                <a:gd name="connsiteY4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9680" y="596"/>
                    <a:pt x="9059" y="2617"/>
                    <a:pt x="8515" y="3577"/>
                  </a:cubicBezTo>
                  <a:cubicBezTo>
                    <a:pt x="7971" y="4537"/>
                    <a:pt x="7462" y="5061"/>
                    <a:pt x="6735" y="5763"/>
                  </a:cubicBezTo>
                  <a:cubicBezTo>
                    <a:pt x="6008" y="6465"/>
                    <a:pt x="5238" y="7072"/>
                    <a:pt x="4150" y="7788"/>
                  </a:cubicBezTo>
                  <a:cubicBezTo>
                    <a:pt x="3061" y="8505"/>
                    <a:pt x="884" y="9533"/>
                    <a:pt x="0" y="10000"/>
                  </a:cubicBezTo>
                </a:path>
              </a:pathLst>
            </a:custGeom>
            <a:noFill/>
            <a:ln w="28575" cap="flat" cmpd="sng">
              <a:solidFill>
                <a:srgbClr val="8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4540" name="Freeform 44"/>
            <p:cNvSpPr>
              <a:spLocks noChangeAspect="1"/>
            </p:cNvSpPr>
            <p:nvPr/>
          </p:nvSpPr>
          <p:spPr bwMode="auto">
            <a:xfrm rot="5400000">
              <a:off x="6439268" y="1016034"/>
              <a:ext cx="1159981" cy="2733643"/>
            </a:xfrm>
            <a:custGeom>
              <a:avLst/>
              <a:gdLst>
                <a:gd name="T0" fmla="*/ 564 w 564"/>
                <a:gd name="T1" fmla="*/ 0 h 1320"/>
                <a:gd name="T2" fmla="*/ 550 w 564"/>
                <a:gd name="T3" fmla="*/ 94 h 1320"/>
                <a:gd name="T4" fmla="*/ 537 w 564"/>
                <a:gd name="T5" fmla="*/ 183 h 1320"/>
                <a:gd name="T6" fmla="*/ 502 w 564"/>
                <a:gd name="T7" fmla="*/ 361 h 1320"/>
                <a:gd name="T8" fmla="*/ 445 w 564"/>
                <a:gd name="T9" fmla="*/ 523 h 1320"/>
                <a:gd name="T10" fmla="*/ 370 w 564"/>
                <a:gd name="T11" fmla="*/ 700 h 1320"/>
                <a:gd name="T12" fmla="*/ 271 w 564"/>
                <a:gd name="T13" fmla="*/ 861 h 1320"/>
                <a:gd name="T14" fmla="*/ 172 w 564"/>
                <a:gd name="T15" fmla="*/ 994 h 1320"/>
                <a:gd name="T16" fmla="*/ 106 w 564"/>
                <a:gd name="T17" fmla="*/ 1077 h 1320"/>
                <a:gd name="T18" fmla="*/ 69 w 564"/>
                <a:gd name="T19" fmla="*/ 1141 h 1320"/>
                <a:gd name="T20" fmla="*/ 34 w 564"/>
                <a:gd name="T21" fmla="*/ 1219 h 1320"/>
                <a:gd name="T22" fmla="*/ 0 w 564"/>
                <a:gd name="T23" fmla="*/ 1320 h 1320"/>
                <a:gd name="connsiteX0" fmla="*/ 10000 w 10000"/>
                <a:gd name="connsiteY0" fmla="*/ 0 h 10000"/>
                <a:gd name="connsiteX1" fmla="*/ 9752 w 10000"/>
                <a:gd name="connsiteY1" fmla="*/ 712 h 10000"/>
                <a:gd name="connsiteX2" fmla="*/ 9521 w 10000"/>
                <a:gd name="connsiteY2" fmla="*/ 1386 h 10000"/>
                <a:gd name="connsiteX3" fmla="*/ 8901 w 10000"/>
                <a:gd name="connsiteY3" fmla="*/ 2735 h 10000"/>
                <a:gd name="connsiteX4" fmla="*/ 7890 w 10000"/>
                <a:gd name="connsiteY4" fmla="*/ 3962 h 10000"/>
                <a:gd name="connsiteX5" fmla="*/ 6560 w 10000"/>
                <a:gd name="connsiteY5" fmla="*/ 5303 h 10000"/>
                <a:gd name="connsiteX6" fmla="*/ 4805 w 10000"/>
                <a:gd name="connsiteY6" fmla="*/ 6523 h 10000"/>
                <a:gd name="connsiteX7" fmla="*/ 3050 w 10000"/>
                <a:gd name="connsiteY7" fmla="*/ 7530 h 10000"/>
                <a:gd name="connsiteX8" fmla="*/ 1223 w 10000"/>
                <a:gd name="connsiteY8" fmla="*/ 8644 h 10000"/>
                <a:gd name="connsiteX9" fmla="*/ 603 w 10000"/>
                <a:gd name="connsiteY9" fmla="*/ 9235 h 10000"/>
                <a:gd name="connsiteX10" fmla="*/ 0 w 10000"/>
                <a:gd name="connsiteY10" fmla="*/ 10000 h 10000"/>
                <a:gd name="connsiteX0" fmla="*/ 10000 w 10000"/>
                <a:gd name="connsiteY0" fmla="*/ 0 h 10000"/>
                <a:gd name="connsiteX1" fmla="*/ 9752 w 10000"/>
                <a:gd name="connsiteY1" fmla="*/ 712 h 10000"/>
                <a:gd name="connsiteX2" fmla="*/ 9521 w 10000"/>
                <a:gd name="connsiteY2" fmla="*/ 1386 h 10000"/>
                <a:gd name="connsiteX3" fmla="*/ 8901 w 10000"/>
                <a:gd name="connsiteY3" fmla="*/ 2735 h 10000"/>
                <a:gd name="connsiteX4" fmla="*/ 7890 w 10000"/>
                <a:gd name="connsiteY4" fmla="*/ 3962 h 10000"/>
                <a:gd name="connsiteX5" fmla="*/ 6560 w 10000"/>
                <a:gd name="connsiteY5" fmla="*/ 5303 h 10000"/>
                <a:gd name="connsiteX6" fmla="*/ 4805 w 10000"/>
                <a:gd name="connsiteY6" fmla="*/ 6523 h 10000"/>
                <a:gd name="connsiteX7" fmla="*/ 3050 w 10000"/>
                <a:gd name="connsiteY7" fmla="*/ 7530 h 10000"/>
                <a:gd name="connsiteX8" fmla="*/ 1946 w 10000"/>
                <a:gd name="connsiteY8" fmla="*/ 8117 h 10000"/>
                <a:gd name="connsiteX9" fmla="*/ 1223 w 10000"/>
                <a:gd name="connsiteY9" fmla="*/ 8644 h 10000"/>
                <a:gd name="connsiteX10" fmla="*/ 603 w 10000"/>
                <a:gd name="connsiteY10" fmla="*/ 9235 h 10000"/>
                <a:gd name="connsiteX11" fmla="*/ 0 w 10000"/>
                <a:gd name="connsiteY11" fmla="*/ 10000 h 10000"/>
                <a:gd name="connsiteX0" fmla="*/ 9955 w 9955"/>
                <a:gd name="connsiteY0" fmla="*/ 0 h 10029"/>
                <a:gd name="connsiteX1" fmla="*/ 9707 w 9955"/>
                <a:gd name="connsiteY1" fmla="*/ 712 h 10029"/>
                <a:gd name="connsiteX2" fmla="*/ 9476 w 9955"/>
                <a:gd name="connsiteY2" fmla="*/ 1386 h 10029"/>
                <a:gd name="connsiteX3" fmla="*/ 8856 w 9955"/>
                <a:gd name="connsiteY3" fmla="*/ 2735 h 10029"/>
                <a:gd name="connsiteX4" fmla="*/ 7845 w 9955"/>
                <a:gd name="connsiteY4" fmla="*/ 3962 h 10029"/>
                <a:gd name="connsiteX5" fmla="*/ 6515 w 9955"/>
                <a:gd name="connsiteY5" fmla="*/ 5303 h 10029"/>
                <a:gd name="connsiteX6" fmla="*/ 4760 w 9955"/>
                <a:gd name="connsiteY6" fmla="*/ 6523 h 10029"/>
                <a:gd name="connsiteX7" fmla="*/ 3005 w 9955"/>
                <a:gd name="connsiteY7" fmla="*/ 7530 h 10029"/>
                <a:gd name="connsiteX8" fmla="*/ 1901 w 9955"/>
                <a:gd name="connsiteY8" fmla="*/ 8117 h 10029"/>
                <a:gd name="connsiteX9" fmla="*/ 1178 w 9955"/>
                <a:gd name="connsiteY9" fmla="*/ 8644 h 10029"/>
                <a:gd name="connsiteX10" fmla="*/ 558 w 9955"/>
                <a:gd name="connsiteY10" fmla="*/ 9235 h 10029"/>
                <a:gd name="connsiteX11" fmla="*/ 0 w 9955"/>
                <a:gd name="connsiteY11" fmla="*/ 10029 h 10029"/>
                <a:gd name="connsiteX0" fmla="*/ 10000 w 10000"/>
                <a:gd name="connsiteY0" fmla="*/ 0 h 10000"/>
                <a:gd name="connsiteX1" fmla="*/ 9751 w 10000"/>
                <a:gd name="connsiteY1" fmla="*/ 710 h 10000"/>
                <a:gd name="connsiteX2" fmla="*/ 9519 w 10000"/>
                <a:gd name="connsiteY2" fmla="*/ 1382 h 10000"/>
                <a:gd name="connsiteX3" fmla="*/ 8896 w 10000"/>
                <a:gd name="connsiteY3" fmla="*/ 2727 h 10000"/>
                <a:gd name="connsiteX4" fmla="*/ 7946 w 10000"/>
                <a:gd name="connsiteY4" fmla="*/ 3951 h 10000"/>
                <a:gd name="connsiteX5" fmla="*/ 6544 w 10000"/>
                <a:gd name="connsiteY5" fmla="*/ 5288 h 10000"/>
                <a:gd name="connsiteX6" fmla="*/ 4782 w 10000"/>
                <a:gd name="connsiteY6" fmla="*/ 6504 h 10000"/>
                <a:gd name="connsiteX7" fmla="*/ 3019 w 10000"/>
                <a:gd name="connsiteY7" fmla="*/ 7508 h 10000"/>
                <a:gd name="connsiteX8" fmla="*/ 1910 w 10000"/>
                <a:gd name="connsiteY8" fmla="*/ 8094 h 10000"/>
                <a:gd name="connsiteX9" fmla="*/ 1183 w 10000"/>
                <a:gd name="connsiteY9" fmla="*/ 8619 h 10000"/>
                <a:gd name="connsiteX10" fmla="*/ 561 w 10000"/>
                <a:gd name="connsiteY10" fmla="*/ 9208 h 10000"/>
                <a:gd name="connsiteX11" fmla="*/ 0 w 10000"/>
                <a:gd name="connsiteY11" fmla="*/ 10000 h 10000"/>
                <a:gd name="connsiteX0" fmla="*/ 10000 w 10000"/>
                <a:gd name="connsiteY0" fmla="*/ 0 h 10000"/>
                <a:gd name="connsiteX1" fmla="*/ 9519 w 10000"/>
                <a:gd name="connsiteY1" fmla="*/ 1382 h 10000"/>
                <a:gd name="connsiteX2" fmla="*/ 8896 w 10000"/>
                <a:gd name="connsiteY2" fmla="*/ 2727 h 10000"/>
                <a:gd name="connsiteX3" fmla="*/ 7946 w 10000"/>
                <a:gd name="connsiteY3" fmla="*/ 3951 h 10000"/>
                <a:gd name="connsiteX4" fmla="*/ 6544 w 10000"/>
                <a:gd name="connsiteY4" fmla="*/ 5288 h 10000"/>
                <a:gd name="connsiteX5" fmla="*/ 4782 w 10000"/>
                <a:gd name="connsiteY5" fmla="*/ 6504 h 10000"/>
                <a:gd name="connsiteX6" fmla="*/ 3019 w 10000"/>
                <a:gd name="connsiteY6" fmla="*/ 7508 h 10000"/>
                <a:gd name="connsiteX7" fmla="*/ 1910 w 10000"/>
                <a:gd name="connsiteY7" fmla="*/ 8094 h 10000"/>
                <a:gd name="connsiteX8" fmla="*/ 1183 w 10000"/>
                <a:gd name="connsiteY8" fmla="*/ 8619 h 10000"/>
                <a:gd name="connsiteX9" fmla="*/ 561 w 10000"/>
                <a:gd name="connsiteY9" fmla="*/ 9208 h 10000"/>
                <a:gd name="connsiteX10" fmla="*/ 0 w 10000"/>
                <a:gd name="connsiteY10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9900" y="288"/>
                    <a:pt x="9703" y="928"/>
                    <a:pt x="9519" y="1382"/>
                  </a:cubicBezTo>
                  <a:cubicBezTo>
                    <a:pt x="9335" y="1836"/>
                    <a:pt x="9158" y="2299"/>
                    <a:pt x="8896" y="2727"/>
                  </a:cubicBezTo>
                  <a:cubicBezTo>
                    <a:pt x="8634" y="3155"/>
                    <a:pt x="8338" y="3528"/>
                    <a:pt x="7946" y="3951"/>
                  </a:cubicBezTo>
                  <a:cubicBezTo>
                    <a:pt x="7555" y="4373"/>
                    <a:pt x="7071" y="4863"/>
                    <a:pt x="6544" y="5288"/>
                  </a:cubicBezTo>
                  <a:cubicBezTo>
                    <a:pt x="6017" y="5713"/>
                    <a:pt x="5369" y="6134"/>
                    <a:pt x="4782" y="6504"/>
                  </a:cubicBezTo>
                  <a:cubicBezTo>
                    <a:pt x="4194" y="6874"/>
                    <a:pt x="3497" y="7243"/>
                    <a:pt x="3019" y="7508"/>
                  </a:cubicBezTo>
                  <a:cubicBezTo>
                    <a:pt x="2540" y="7773"/>
                    <a:pt x="2215" y="7908"/>
                    <a:pt x="1910" y="8094"/>
                  </a:cubicBezTo>
                  <a:cubicBezTo>
                    <a:pt x="1604" y="8279"/>
                    <a:pt x="1408" y="8434"/>
                    <a:pt x="1183" y="8619"/>
                  </a:cubicBezTo>
                  <a:cubicBezTo>
                    <a:pt x="958" y="8804"/>
                    <a:pt x="756" y="8982"/>
                    <a:pt x="561" y="9208"/>
                  </a:cubicBezTo>
                  <a:cubicBezTo>
                    <a:pt x="365" y="9435"/>
                    <a:pt x="125" y="9841"/>
                    <a:pt x="0" y="10000"/>
                  </a:cubicBezTo>
                </a:path>
              </a:pathLst>
            </a:custGeom>
            <a:noFill/>
            <a:ln w="28575" cap="flat" cmpd="sng">
              <a:solidFill>
                <a:srgbClr val="8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4541" name="Freeform 45"/>
            <p:cNvSpPr>
              <a:spLocks/>
            </p:cNvSpPr>
            <p:nvPr/>
          </p:nvSpPr>
          <p:spPr bwMode="auto">
            <a:xfrm rot="5400000">
              <a:off x="6077062" y="1382490"/>
              <a:ext cx="720725" cy="1568450"/>
            </a:xfrm>
            <a:custGeom>
              <a:avLst/>
              <a:gdLst>
                <a:gd name="T0" fmla="*/ 0 w 406"/>
                <a:gd name="T1" fmla="*/ 954 h 954"/>
                <a:gd name="T2" fmla="*/ 406 w 406"/>
                <a:gd name="T3" fmla="*/ 0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6" h="954">
                  <a:moveTo>
                    <a:pt x="0" y="954"/>
                  </a:moveTo>
                  <a:lnTo>
                    <a:pt x="406" y="0"/>
                  </a:lnTo>
                </a:path>
              </a:pathLst>
            </a:custGeom>
            <a:noFill/>
            <a:ln w="19050" cap="flat" cmpd="sng">
              <a:solidFill>
                <a:srgbClr val="008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4545" name="Text Box 49"/>
            <p:cNvSpPr txBox="1">
              <a:spLocks noChangeArrowheads="1"/>
            </p:cNvSpPr>
            <p:nvPr/>
          </p:nvSpPr>
          <p:spPr bwMode="auto">
            <a:xfrm>
              <a:off x="6120088" y="1472294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514546" name="Text Box 50"/>
            <p:cNvSpPr txBox="1">
              <a:spLocks noChangeArrowheads="1"/>
            </p:cNvSpPr>
            <p:nvPr/>
          </p:nvSpPr>
          <p:spPr bwMode="auto">
            <a:xfrm>
              <a:off x="5838552" y="1080124"/>
              <a:ext cx="4667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 err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r>
                <a:rPr kumimoji="1" lang="en-US" altLang="zh-CN" sz="2400" b="1" baseline="-25000" dirty="0" err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endParaRPr kumimoji="1" lang="en-US" altLang="zh-CN" sz="2400" b="1" baseline="-25000" dirty="0">
                <a:solidFill>
                  <a:srgbClr val="000000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14550" name="Text Box 54"/>
            <p:cNvSpPr txBox="1">
              <a:spLocks noChangeArrowheads="1"/>
            </p:cNvSpPr>
            <p:nvPr/>
          </p:nvSpPr>
          <p:spPr bwMode="auto">
            <a:xfrm>
              <a:off x="7134664" y="2088081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514551" name="Text Box 55"/>
            <p:cNvSpPr txBox="1">
              <a:spLocks noChangeArrowheads="1"/>
            </p:cNvSpPr>
            <p:nvPr/>
          </p:nvSpPr>
          <p:spPr bwMode="auto">
            <a:xfrm>
              <a:off x="6575806" y="1722734"/>
              <a:ext cx="47783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 err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r>
                <a:rPr kumimoji="1" lang="en-US" altLang="zh-CN" sz="2400" b="1" baseline="-25000" dirty="0" err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endParaRPr kumimoji="1" lang="en-US" altLang="zh-CN" sz="2400" b="1" baseline="-25000" dirty="0">
                <a:solidFill>
                  <a:srgbClr val="000000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14552" name="Text Box 56"/>
            <p:cNvSpPr txBox="1">
              <a:spLocks noChangeArrowheads="1"/>
            </p:cNvSpPr>
            <p:nvPr/>
          </p:nvSpPr>
          <p:spPr bwMode="auto">
            <a:xfrm>
              <a:off x="8353537" y="864965"/>
              <a:ext cx="41433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endParaRPr lang="zh-CN" altLang="en-US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14553" name="Text Box 57"/>
            <p:cNvSpPr txBox="1">
              <a:spLocks noChangeArrowheads="1"/>
            </p:cNvSpPr>
            <p:nvPr/>
          </p:nvSpPr>
          <p:spPr bwMode="auto">
            <a:xfrm>
              <a:off x="5697650" y="2814415"/>
              <a:ext cx="117633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 </a:t>
              </a:r>
              <a:r>
                <a:rPr lang="en-US" altLang="zh-CN" sz="2400" b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lang="en-US" altLang="zh-CN" sz="24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r>
                <a:rPr lang="en-US" altLang="zh-CN" sz="2400" b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/</a:t>
              </a:r>
              <a:r>
                <a:rPr lang="en-US" altLang="zh-CN" sz="24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lang="en-US" altLang="zh-CN" sz="2400" b="1" baseline="-25000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0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2" name="任意多边形 1"/>
            <p:cNvSpPr/>
            <p:nvPr/>
          </p:nvSpPr>
          <p:spPr bwMode="auto">
            <a:xfrm>
              <a:off x="5924182" y="1532238"/>
              <a:ext cx="229483" cy="363642"/>
            </a:xfrm>
            <a:custGeom>
              <a:avLst/>
              <a:gdLst>
                <a:gd name="connsiteX0" fmla="*/ 0 w 229483"/>
                <a:gd name="connsiteY0" fmla="*/ 0 h 363642"/>
                <a:gd name="connsiteX1" fmla="*/ 229483 w 229483"/>
                <a:gd name="connsiteY1" fmla="*/ 0 h 363642"/>
                <a:gd name="connsiteX2" fmla="*/ 229483 w 229483"/>
                <a:gd name="connsiteY2" fmla="*/ 363642 h 363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9483" h="363642">
                  <a:moveTo>
                    <a:pt x="0" y="0"/>
                  </a:moveTo>
                  <a:lnTo>
                    <a:pt x="229483" y="0"/>
                  </a:lnTo>
                  <a:lnTo>
                    <a:pt x="229483" y="363642"/>
                  </a:ln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" name="任意多边形 2"/>
            <p:cNvSpPr/>
            <p:nvPr/>
          </p:nvSpPr>
          <p:spPr bwMode="auto">
            <a:xfrm>
              <a:off x="6478471" y="2181850"/>
              <a:ext cx="646082" cy="303623"/>
            </a:xfrm>
            <a:custGeom>
              <a:avLst/>
              <a:gdLst>
                <a:gd name="connsiteX0" fmla="*/ 0 w 646082"/>
                <a:gd name="connsiteY0" fmla="*/ 0 h 303623"/>
                <a:gd name="connsiteX1" fmla="*/ 646082 w 646082"/>
                <a:gd name="connsiteY1" fmla="*/ 0 h 303623"/>
                <a:gd name="connsiteX2" fmla="*/ 646082 w 646082"/>
                <a:gd name="connsiteY2" fmla="*/ 303623 h 30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6082" h="303623">
                  <a:moveTo>
                    <a:pt x="0" y="0"/>
                  </a:moveTo>
                  <a:lnTo>
                    <a:pt x="646082" y="0"/>
                  </a:lnTo>
                  <a:lnTo>
                    <a:pt x="646082" y="303623"/>
                  </a:lnTo>
                </a:path>
              </a:pathLst>
            </a:cu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358775" algn="l" defTabSz="914400" rtl="0" eaLnBrk="1" fontAlgn="base" latinLnBrk="0" hangingPunct="1">
                <a:lnSpc>
                  <a:spcPct val="115000"/>
                </a:lnSpc>
                <a:spcBef>
                  <a:spcPct val="1500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213954" y="3882572"/>
            <a:ext cx="3747179" cy="1716941"/>
            <a:chOff x="5086738" y="3882572"/>
            <a:chExt cx="3747179" cy="1716941"/>
          </a:xfrm>
        </p:grpSpPr>
        <p:grpSp>
          <p:nvGrpSpPr>
            <p:cNvPr id="16" name="组合 15"/>
            <p:cNvGrpSpPr/>
            <p:nvPr/>
          </p:nvGrpSpPr>
          <p:grpSpPr>
            <a:xfrm>
              <a:off x="5797874" y="4029048"/>
              <a:ext cx="1024345" cy="1562700"/>
              <a:chOff x="5805825" y="4044950"/>
              <a:chExt cx="1190625" cy="1562700"/>
            </a:xfrm>
          </p:grpSpPr>
          <p:sp>
            <p:nvSpPr>
              <p:cNvPr id="4" name="矩形 3"/>
              <p:cNvSpPr/>
              <p:nvPr/>
            </p:nvSpPr>
            <p:spPr bwMode="auto">
              <a:xfrm>
                <a:off x="5805825" y="4311650"/>
                <a:ext cx="1190625" cy="1296000"/>
              </a:xfrm>
              <a:prstGeom prst="rect">
                <a:avLst/>
              </a:prstGeom>
              <a:solidFill>
                <a:srgbClr val="FFC000"/>
              </a:solidFill>
              <a:ln w="28575" cap="flat" cmpd="sng" algn="ctr">
                <a:solidFill>
                  <a:srgbClr val="00006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non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9" name="任意多边形 8"/>
              <p:cNvSpPr/>
              <p:nvPr/>
            </p:nvSpPr>
            <p:spPr bwMode="auto">
              <a:xfrm>
                <a:off x="5807425" y="4044950"/>
                <a:ext cx="1188000" cy="260350"/>
              </a:xfrm>
              <a:custGeom>
                <a:avLst/>
                <a:gdLst>
                  <a:gd name="connsiteX0" fmla="*/ 0 w 1200150"/>
                  <a:gd name="connsiteY0" fmla="*/ 254000 h 260350"/>
                  <a:gd name="connsiteX1" fmla="*/ 0 w 1200150"/>
                  <a:gd name="connsiteY1" fmla="*/ 0 h 260350"/>
                  <a:gd name="connsiteX2" fmla="*/ 1200150 w 1200150"/>
                  <a:gd name="connsiteY2" fmla="*/ 0 h 260350"/>
                  <a:gd name="connsiteX3" fmla="*/ 1200150 w 1200150"/>
                  <a:gd name="connsiteY3" fmla="*/ 260350 h 260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0150" h="260350">
                    <a:moveTo>
                      <a:pt x="0" y="254000"/>
                    </a:moveTo>
                    <a:lnTo>
                      <a:pt x="0" y="0"/>
                    </a:lnTo>
                    <a:lnTo>
                      <a:pt x="1200150" y="0"/>
                    </a:lnTo>
                    <a:lnTo>
                      <a:pt x="1200150" y="260350"/>
                    </a:lnTo>
                  </a:path>
                </a:pathLst>
              </a:custGeom>
              <a:noFill/>
              <a:ln w="28575" cap="flat" cmpd="sng" algn="ctr">
                <a:solidFill>
                  <a:srgbClr val="000066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0000" tIns="46800" rIns="90000" bIns="46800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358775" algn="l" defTabSz="914400" rtl="0" eaLnBrk="1" fontAlgn="base" latinLnBrk="0" hangingPunct="1">
                  <a:lnSpc>
                    <a:spcPct val="115000"/>
                  </a:lnSpc>
                  <a:spcBef>
                    <a:spcPct val="15000"/>
                  </a:spcBef>
                  <a:spcAft>
                    <a:spcPct val="1500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59" name="Text Box 5"/>
            <p:cNvSpPr txBox="1">
              <a:spLocks noChangeArrowheads="1"/>
            </p:cNvSpPr>
            <p:nvPr/>
          </p:nvSpPr>
          <p:spPr bwMode="auto">
            <a:xfrm>
              <a:off x="7061577" y="4286112"/>
              <a:ext cx="1772340" cy="914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侧</a:t>
              </a:r>
              <a:r>
                <a:rPr lang="zh-CN" altLang="en-US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限时有</a:t>
              </a:r>
              <a:r>
                <a:rPr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:</a:t>
              </a:r>
              <a:endParaRPr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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=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 </a:t>
              </a: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/>
                </a:rPr>
                <a:t>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=s</a:t>
              </a:r>
              <a:r>
                <a:rPr lang="en-US" altLang="zh-CN" sz="24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/</a:t>
              </a: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H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0</a:t>
              </a:r>
              <a:endPara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 bwMode="auto">
            <a:xfrm>
              <a:off x="5502797" y="4014526"/>
              <a:ext cx="2221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/>
            <p:cNvCxnSpPr/>
            <p:nvPr/>
          </p:nvCxnSpPr>
          <p:spPr bwMode="auto">
            <a:xfrm>
              <a:off x="5610747" y="4024714"/>
              <a:ext cx="0" cy="157435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直接连接符 64"/>
            <p:cNvCxnSpPr/>
            <p:nvPr/>
          </p:nvCxnSpPr>
          <p:spPr bwMode="auto">
            <a:xfrm>
              <a:off x="5491726" y="5599513"/>
              <a:ext cx="2221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6" name="Text Box 57"/>
            <p:cNvSpPr txBox="1">
              <a:spLocks noChangeArrowheads="1"/>
            </p:cNvSpPr>
            <p:nvPr/>
          </p:nvSpPr>
          <p:spPr bwMode="auto">
            <a:xfrm>
              <a:off x="5086738" y="4582282"/>
              <a:ext cx="534847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lang="en-US" altLang="zh-CN" sz="2400" b="1" baseline="-25000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0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cxnSp>
          <p:nvCxnSpPr>
            <p:cNvPr id="68" name="直接连接符 67"/>
            <p:cNvCxnSpPr/>
            <p:nvPr/>
          </p:nvCxnSpPr>
          <p:spPr bwMode="auto">
            <a:xfrm>
              <a:off x="5993734" y="4040617"/>
              <a:ext cx="0" cy="253089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0" name="Text Box 57"/>
            <p:cNvSpPr txBox="1">
              <a:spLocks noChangeArrowheads="1"/>
            </p:cNvSpPr>
            <p:nvPr/>
          </p:nvSpPr>
          <p:spPr bwMode="auto">
            <a:xfrm>
              <a:off x="6026301" y="3882572"/>
              <a:ext cx="374501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</a:t>
              </a:r>
              <a:endParaRPr lang="en-US" altLang="zh-CN" sz="2400" b="1" i="1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75" name="Text Box 7"/>
          <p:cNvSpPr txBox="1">
            <a:spLocks noChangeArrowheads="1"/>
          </p:cNvSpPr>
          <p:nvPr/>
        </p:nvSpPr>
        <p:spPr bwMode="auto">
          <a:xfrm>
            <a:off x="-9526" y="0"/>
            <a:ext cx="46614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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曲线</a:t>
            </a:r>
            <a:endParaRPr lang="en-US" altLang="zh-CN" sz="2000" b="1" kern="900" spc="-140" dirty="0">
              <a:solidFill>
                <a:srgbClr val="C00000"/>
              </a:solidFill>
              <a:latin typeface="宋体" pitchFamily="2" charset="-122"/>
              <a:sym typeface="Symbol" pitchFamily="18" charset="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1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51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51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1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51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514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4501" grpId="0"/>
      <p:bldP spid="1514554" grpId="0"/>
      <p:bldP spid="1514557" grpId="0" animBg="1"/>
      <p:bldP spid="151455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5523" name="Group 3"/>
          <p:cNvGrpSpPr>
            <a:grpSpLocks/>
          </p:cNvGrpSpPr>
          <p:nvPr/>
        </p:nvGrpSpPr>
        <p:grpSpPr bwMode="auto">
          <a:xfrm>
            <a:off x="690563" y="1017588"/>
            <a:ext cx="4349750" cy="3863975"/>
            <a:chOff x="349" y="705"/>
            <a:chExt cx="2740" cy="2434"/>
          </a:xfrm>
        </p:grpSpPr>
        <p:sp>
          <p:nvSpPr>
            <p:cNvPr id="1515524" name="Rectangle 4"/>
            <p:cNvSpPr>
              <a:spLocks noChangeArrowheads="1"/>
            </p:cNvSpPr>
            <p:nvPr/>
          </p:nvSpPr>
          <p:spPr bwMode="auto">
            <a:xfrm>
              <a:off x="349" y="705"/>
              <a:ext cx="2740" cy="24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dirty="0">
                <a:cs typeface="Times New Roman" panose="02020603050405020304" pitchFamily="18" charset="0"/>
              </a:endParaRPr>
            </a:p>
          </p:txBody>
        </p:sp>
        <p:sp>
          <p:nvSpPr>
            <p:cNvPr id="1515525" name="Line 5"/>
            <p:cNvSpPr>
              <a:spLocks noChangeShapeType="1"/>
            </p:cNvSpPr>
            <p:nvPr/>
          </p:nvSpPr>
          <p:spPr bwMode="auto">
            <a:xfrm>
              <a:off x="877" y="1485"/>
              <a:ext cx="20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26" name="Line 6"/>
            <p:cNvSpPr>
              <a:spLocks noChangeShapeType="1"/>
            </p:cNvSpPr>
            <p:nvPr/>
          </p:nvSpPr>
          <p:spPr bwMode="auto">
            <a:xfrm>
              <a:off x="1014" y="1165"/>
              <a:ext cx="0" cy="3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27" name="Line 7"/>
            <p:cNvSpPr>
              <a:spLocks noChangeShapeType="1"/>
            </p:cNvSpPr>
            <p:nvPr/>
          </p:nvSpPr>
          <p:spPr bwMode="auto">
            <a:xfrm flipH="1">
              <a:off x="498" y="2770"/>
              <a:ext cx="58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28" name="Line 8"/>
            <p:cNvSpPr>
              <a:spLocks noChangeShapeType="1"/>
            </p:cNvSpPr>
            <p:nvPr/>
          </p:nvSpPr>
          <p:spPr bwMode="auto">
            <a:xfrm flipH="1">
              <a:off x="498" y="2076"/>
              <a:ext cx="60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29" name="Line 9"/>
            <p:cNvSpPr>
              <a:spLocks noChangeShapeType="1"/>
            </p:cNvSpPr>
            <p:nvPr/>
          </p:nvSpPr>
          <p:spPr bwMode="auto">
            <a:xfrm>
              <a:off x="682" y="2076"/>
              <a:ext cx="0" cy="6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30" name="Text Box 10"/>
            <p:cNvSpPr txBox="1">
              <a:spLocks noChangeArrowheads="1"/>
            </p:cNvSpPr>
            <p:nvPr/>
          </p:nvSpPr>
          <p:spPr bwMode="auto">
            <a:xfrm>
              <a:off x="386" y="2317"/>
              <a:ext cx="21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515531" name="Line 11"/>
            <p:cNvSpPr>
              <a:spLocks noChangeShapeType="1"/>
            </p:cNvSpPr>
            <p:nvPr/>
          </p:nvSpPr>
          <p:spPr bwMode="auto">
            <a:xfrm flipH="1">
              <a:off x="498" y="1154"/>
              <a:ext cx="5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32" name="Line 12"/>
            <p:cNvSpPr>
              <a:spLocks noChangeShapeType="1"/>
            </p:cNvSpPr>
            <p:nvPr/>
          </p:nvSpPr>
          <p:spPr bwMode="auto">
            <a:xfrm flipV="1">
              <a:off x="682" y="1150"/>
              <a:ext cx="0" cy="92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33" name="Text Box 13"/>
            <p:cNvSpPr txBox="1">
              <a:spLocks noChangeArrowheads="1"/>
            </p:cNvSpPr>
            <p:nvPr/>
          </p:nvSpPr>
          <p:spPr bwMode="auto">
            <a:xfrm>
              <a:off x="366" y="1467"/>
              <a:ext cx="2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ea typeface="隶书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隶书" pitchFamily="49" charset="-122"/>
                  <a:cs typeface="Times New Roman" panose="02020603050405020304" pitchFamily="18" charset="0"/>
                  <a:sym typeface="Symbol" pitchFamily="18" charset="2"/>
                </a:rPr>
                <a:t>0</a:t>
              </a:r>
            </a:p>
          </p:txBody>
        </p:sp>
        <p:sp>
          <p:nvSpPr>
            <p:cNvPr id="1515534" name="Text Box 14"/>
            <p:cNvSpPr txBox="1">
              <a:spLocks noChangeArrowheads="1"/>
            </p:cNvSpPr>
            <p:nvPr/>
          </p:nvSpPr>
          <p:spPr bwMode="auto">
            <a:xfrm>
              <a:off x="676" y="1142"/>
              <a:ext cx="35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</a:p>
          </p:txBody>
        </p:sp>
        <p:sp>
          <p:nvSpPr>
            <p:cNvPr id="1515535" name="Rectangle 15" descr="沙滩"/>
            <p:cNvSpPr>
              <a:spLocks noChangeArrowheads="1"/>
            </p:cNvSpPr>
            <p:nvPr/>
          </p:nvSpPr>
          <p:spPr bwMode="auto">
            <a:xfrm>
              <a:off x="1168" y="2076"/>
              <a:ext cx="1013" cy="69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9050" algn="ctr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36" name="Rectangle 16"/>
            <p:cNvSpPr>
              <a:spLocks noChangeArrowheads="1"/>
            </p:cNvSpPr>
            <p:nvPr/>
          </p:nvSpPr>
          <p:spPr bwMode="auto">
            <a:xfrm>
              <a:off x="1168" y="1150"/>
              <a:ext cx="1013" cy="925"/>
            </a:xfrm>
            <a:prstGeom prst="rect">
              <a:avLst/>
            </a:prstGeom>
            <a:solidFill>
              <a:srgbClr val="CCECFF"/>
            </a:solidFill>
            <a:ln w="19050" algn="ctr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37" name="Line 17"/>
            <p:cNvSpPr>
              <a:spLocks noChangeShapeType="1"/>
            </p:cNvSpPr>
            <p:nvPr/>
          </p:nvSpPr>
          <p:spPr bwMode="auto">
            <a:xfrm>
              <a:off x="1168" y="1476"/>
              <a:ext cx="1013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38" name="Text Box 18"/>
            <p:cNvSpPr txBox="1">
              <a:spLocks noChangeArrowheads="1"/>
            </p:cNvSpPr>
            <p:nvPr/>
          </p:nvSpPr>
          <p:spPr bwMode="auto">
            <a:xfrm>
              <a:off x="1402" y="1583"/>
              <a:ext cx="5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孔隙</a:t>
              </a:r>
            </a:p>
          </p:txBody>
        </p:sp>
        <p:sp>
          <p:nvSpPr>
            <p:cNvPr id="1515539" name="Text Box 19"/>
            <p:cNvSpPr txBox="1">
              <a:spLocks noChangeArrowheads="1"/>
            </p:cNvSpPr>
            <p:nvPr/>
          </p:nvSpPr>
          <p:spPr bwMode="auto">
            <a:xfrm>
              <a:off x="1421" y="2134"/>
              <a:ext cx="61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固体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颗粒</a:t>
              </a:r>
            </a:p>
          </p:txBody>
        </p:sp>
        <p:sp>
          <p:nvSpPr>
            <p:cNvPr id="1515540" name="Line 20"/>
            <p:cNvSpPr>
              <a:spLocks noChangeShapeType="1"/>
            </p:cNvSpPr>
            <p:nvPr/>
          </p:nvSpPr>
          <p:spPr bwMode="auto">
            <a:xfrm flipH="1">
              <a:off x="2283" y="1470"/>
              <a:ext cx="21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41" name="Line 21"/>
            <p:cNvSpPr>
              <a:spLocks noChangeShapeType="1"/>
            </p:cNvSpPr>
            <p:nvPr/>
          </p:nvSpPr>
          <p:spPr bwMode="auto">
            <a:xfrm flipH="1">
              <a:off x="2362" y="1162"/>
              <a:ext cx="0" cy="3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42" name="Line 22"/>
            <p:cNvSpPr>
              <a:spLocks noChangeShapeType="1"/>
            </p:cNvSpPr>
            <p:nvPr/>
          </p:nvSpPr>
          <p:spPr bwMode="auto">
            <a:xfrm>
              <a:off x="2283" y="2763"/>
              <a:ext cx="5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43" name="Text Box 23"/>
            <p:cNvSpPr txBox="1">
              <a:spLocks noChangeArrowheads="1"/>
            </p:cNvSpPr>
            <p:nvPr/>
          </p:nvSpPr>
          <p:spPr bwMode="auto">
            <a:xfrm flipH="1">
              <a:off x="2702" y="1880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H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0</a:t>
              </a:r>
              <a:endPara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15544" name="Line 24"/>
            <p:cNvSpPr>
              <a:spLocks noChangeShapeType="1"/>
            </p:cNvSpPr>
            <p:nvPr/>
          </p:nvSpPr>
          <p:spPr bwMode="auto">
            <a:xfrm>
              <a:off x="2288" y="1155"/>
              <a:ext cx="53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45" name="Line 25"/>
            <p:cNvSpPr>
              <a:spLocks noChangeShapeType="1"/>
            </p:cNvSpPr>
            <p:nvPr/>
          </p:nvSpPr>
          <p:spPr bwMode="auto">
            <a:xfrm flipH="1" flipV="1">
              <a:off x="2664" y="1155"/>
              <a:ext cx="0" cy="15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46" name="Text Box 26"/>
            <p:cNvSpPr txBox="1">
              <a:spLocks noChangeArrowheads="1"/>
            </p:cNvSpPr>
            <p:nvPr/>
          </p:nvSpPr>
          <p:spPr bwMode="auto">
            <a:xfrm flipH="1">
              <a:off x="2382" y="1167"/>
              <a:ext cx="2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</a:t>
              </a:r>
            </a:p>
          </p:txBody>
        </p:sp>
        <p:sp>
          <p:nvSpPr>
            <p:cNvPr id="1515547" name="Line 27"/>
            <p:cNvSpPr>
              <a:spLocks noChangeShapeType="1"/>
            </p:cNvSpPr>
            <p:nvPr/>
          </p:nvSpPr>
          <p:spPr bwMode="auto">
            <a:xfrm>
              <a:off x="1019" y="1496"/>
              <a:ext cx="0" cy="5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15548" name="Text Box 28"/>
            <p:cNvSpPr txBox="1">
              <a:spLocks noChangeArrowheads="1"/>
            </p:cNvSpPr>
            <p:nvPr/>
          </p:nvSpPr>
          <p:spPr bwMode="auto">
            <a:xfrm>
              <a:off x="775" y="1602"/>
              <a:ext cx="2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</a:p>
          </p:txBody>
        </p:sp>
      </p:grpSp>
      <p:graphicFrame>
        <p:nvGraphicFramePr>
          <p:cNvPr id="1515549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390957"/>
              </p:ext>
            </p:extLst>
          </p:nvPr>
        </p:nvGraphicFramePr>
        <p:xfrm>
          <a:off x="6010275" y="1692275"/>
          <a:ext cx="2463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695" name="Microsoft 公式 3.0" r:id="rId4" imgW="1028520" imgH="444240" progId="Equation.3">
                  <p:embed/>
                </p:oleObj>
              </mc:Choice>
              <mc:Fallback>
                <p:oleObj name="Microsoft 公式 3.0" r:id="rId4" imgW="1028520" imgH="444240" progId="Equation.3">
                  <p:embed/>
                  <p:pic>
                    <p:nvPicPr>
                      <p:cNvPr id="0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0275" y="1692275"/>
                        <a:ext cx="24638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5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473302"/>
              </p:ext>
            </p:extLst>
          </p:nvPr>
        </p:nvGraphicFramePr>
        <p:xfrm>
          <a:off x="5922963" y="2836863"/>
          <a:ext cx="2919412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696" name="Microsoft 公式 3.0" r:id="rId6" imgW="1218960" imgH="444240" progId="Equation.3">
                  <p:embed/>
                </p:oleObj>
              </mc:Choice>
              <mc:Fallback>
                <p:oleObj name="Microsoft 公式 3.0" r:id="rId6" imgW="1218960" imgH="444240" progId="Equation.3">
                  <p:embed/>
                  <p:pic>
                    <p:nvPicPr>
                      <p:cNvPr id="0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2963" y="2836863"/>
                        <a:ext cx="2919412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51" name="Rectangle 31"/>
          <p:cNvSpPr>
            <a:spLocks noChangeArrowheads="1"/>
          </p:cNvSpPr>
          <p:nvPr/>
        </p:nvSpPr>
        <p:spPr bwMode="auto">
          <a:xfrm>
            <a:off x="3536950" y="5748338"/>
            <a:ext cx="3340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侧限压缩试验</a:t>
            </a:r>
          </a:p>
        </p:txBody>
      </p:sp>
      <p:sp>
        <p:nvSpPr>
          <p:cNvPr id="1515552" name="Text Box 32"/>
          <p:cNvSpPr txBox="1">
            <a:spLocks noChangeArrowheads="1"/>
          </p:cNvSpPr>
          <p:nvPr/>
        </p:nvSpPr>
        <p:spPr bwMode="auto">
          <a:xfrm>
            <a:off x="6064250" y="1001713"/>
            <a:ext cx="2022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由三相草图：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15553" name="Text Box 33"/>
          <p:cNvSpPr txBox="1">
            <a:spLocks noChangeArrowheads="1"/>
          </p:cNvSpPr>
          <p:nvPr/>
        </p:nvSpPr>
        <p:spPr bwMode="auto">
          <a:xfrm>
            <a:off x="6500813" y="4368800"/>
            <a:ext cx="2338387" cy="4572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可得到</a:t>
            </a:r>
            <a:r>
              <a:rPr lang="en-US" altLang="zh-CN" sz="2400" b="1" i="1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e </a:t>
            </a:r>
            <a:r>
              <a:rPr lang="en-US" altLang="zh-CN" sz="2400" b="1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2400" b="1" i="1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关系</a:t>
            </a:r>
          </a:p>
        </p:txBody>
      </p:sp>
      <p:sp>
        <p:nvSpPr>
          <p:cNvPr id="1515554" name="AutoShape 34"/>
          <p:cNvSpPr>
            <a:spLocks noChangeArrowheads="1"/>
          </p:cNvSpPr>
          <p:nvPr/>
        </p:nvSpPr>
        <p:spPr bwMode="auto">
          <a:xfrm>
            <a:off x="5797550" y="4302125"/>
            <a:ext cx="560388" cy="457200"/>
          </a:xfrm>
          <a:prstGeom prst="homePlate">
            <a:avLst>
              <a:gd name="adj" fmla="val 30642"/>
            </a:avLst>
          </a:prstGeom>
          <a:solidFill>
            <a:srgbClr val="FF942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-9526" y="0"/>
            <a:ext cx="46614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</a:rPr>
              <a:t>维压缩性及其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- 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lang="en-US" altLang="zh-CN" sz="2000" b="1" kern="900" spc="-140" dirty="0">
              <a:solidFill>
                <a:srgbClr val="C00000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1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51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51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51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1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15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15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2" grpId="0"/>
      <p:bldP spid="1515553" grpId="0" animBg="1"/>
      <p:bldP spid="151555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547" name="Rectangle 3"/>
          <p:cNvSpPr>
            <a:spLocks noChangeArrowheads="1"/>
          </p:cNvSpPr>
          <p:nvPr/>
        </p:nvSpPr>
        <p:spPr bwMode="auto">
          <a:xfrm>
            <a:off x="198438" y="606425"/>
            <a:ext cx="4206875" cy="5053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6548" name="Rectangle 4"/>
          <p:cNvSpPr>
            <a:spLocks noChangeArrowheads="1"/>
          </p:cNvSpPr>
          <p:nvPr/>
        </p:nvSpPr>
        <p:spPr bwMode="auto">
          <a:xfrm>
            <a:off x="2169881" y="5743113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i="1" dirty="0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lang="en-US" altLang="zh-CN" sz="4000" b="1" dirty="0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altLang="zh-CN" sz="4000" b="1" i="1" dirty="0" smtClean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lang="zh-CN" altLang="en-US" sz="4000" b="1" dirty="0">
              <a:solidFill>
                <a:srgbClr val="000066"/>
              </a:solidFill>
              <a:ea typeface="黑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516549" name="Freeform 5"/>
          <p:cNvSpPr>
            <a:spLocks noChangeAspect="1"/>
          </p:cNvSpPr>
          <p:nvPr/>
        </p:nvSpPr>
        <p:spPr bwMode="auto">
          <a:xfrm>
            <a:off x="1082783" y="2461473"/>
            <a:ext cx="2576512" cy="1957387"/>
          </a:xfrm>
          <a:custGeom>
            <a:avLst/>
            <a:gdLst>
              <a:gd name="T0" fmla="*/ 1623 w 1623"/>
              <a:gd name="T1" fmla="*/ 1233 h 1233"/>
              <a:gd name="T2" fmla="*/ 1303 w 1623"/>
              <a:gd name="T3" fmla="*/ 1103 h 1233"/>
              <a:gd name="T4" fmla="*/ 962 w 1623"/>
              <a:gd name="T5" fmla="*/ 935 h 1233"/>
              <a:gd name="T6" fmla="*/ 631 w 1623"/>
              <a:gd name="T7" fmla="*/ 728 h 1233"/>
              <a:gd name="T8" fmla="*/ 415 w 1623"/>
              <a:gd name="T9" fmla="*/ 541 h 1233"/>
              <a:gd name="T10" fmla="*/ 228 w 1623"/>
              <a:gd name="T11" fmla="*/ 354 h 1233"/>
              <a:gd name="T12" fmla="*/ 93 w 1623"/>
              <a:gd name="T13" fmla="*/ 172 h 1233"/>
              <a:gd name="T14" fmla="*/ 0 w 1623"/>
              <a:gd name="T15" fmla="*/ 0 h 1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23" h="1233">
                <a:moveTo>
                  <a:pt x="1623" y="1233"/>
                </a:moveTo>
                <a:cubicBezTo>
                  <a:pt x="1570" y="1211"/>
                  <a:pt x="1413" y="1153"/>
                  <a:pt x="1303" y="1103"/>
                </a:cubicBezTo>
                <a:cubicBezTo>
                  <a:pt x="1193" y="1053"/>
                  <a:pt x="1074" y="998"/>
                  <a:pt x="962" y="935"/>
                </a:cubicBezTo>
                <a:cubicBezTo>
                  <a:pt x="850" y="872"/>
                  <a:pt x="722" y="794"/>
                  <a:pt x="631" y="728"/>
                </a:cubicBezTo>
                <a:cubicBezTo>
                  <a:pt x="540" y="662"/>
                  <a:pt x="482" y="603"/>
                  <a:pt x="415" y="541"/>
                </a:cubicBezTo>
                <a:cubicBezTo>
                  <a:pt x="348" y="479"/>
                  <a:pt x="282" y="416"/>
                  <a:pt x="228" y="354"/>
                </a:cubicBezTo>
                <a:cubicBezTo>
                  <a:pt x="174" y="292"/>
                  <a:pt x="131" y="231"/>
                  <a:pt x="93" y="172"/>
                </a:cubicBezTo>
                <a:cubicBezTo>
                  <a:pt x="55" y="113"/>
                  <a:pt x="20" y="36"/>
                  <a:pt x="0" y="0"/>
                </a:cubicBezTo>
              </a:path>
            </a:pathLst>
          </a:custGeom>
          <a:noFill/>
          <a:ln w="19050" cap="flat" cmpd="sng">
            <a:solidFill>
              <a:srgbClr val="8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516550" name="Group 6"/>
          <p:cNvGrpSpPr>
            <a:grpSpLocks/>
          </p:cNvGrpSpPr>
          <p:nvPr/>
        </p:nvGrpSpPr>
        <p:grpSpPr bwMode="auto">
          <a:xfrm>
            <a:off x="1079500" y="3313113"/>
            <a:ext cx="1295400" cy="500062"/>
            <a:chOff x="3627" y="1566"/>
            <a:chExt cx="816" cy="315"/>
          </a:xfrm>
        </p:grpSpPr>
        <p:sp>
          <p:nvSpPr>
            <p:cNvPr id="1516551" name="Text Box 7"/>
            <p:cNvSpPr txBox="1">
              <a:spLocks noChangeArrowheads="1"/>
            </p:cNvSpPr>
            <p:nvPr/>
          </p:nvSpPr>
          <p:spPr bwMode="auto">
            <a:xfrm>
              <a:off x="3736" y="156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e</a:t>
              </a:r>
            </a:p>
          </p:txBody>
        </p:sp>
        <p:grpSp>
          <p:nvGrpSpPr>
            <p:cNvPr id="1516552" name="Group 8"/>
            <p:cNvGrpSpPr>
              <a:grpSpLocks/>
            </p:cNvGrpSpPr>
            <p:nvPr/>
          </p:nvGrpSpPr>
          <p:grpSpPr bwMode="auto">
            <a:xfrm>
              <a:off x="3627" y="1577"/>
              <a:ext cx="816" cy="304"/>
              <a:chOff x="3627" y="1577"/>
              <a:chExt cx="816" cy="304"/>
            </a:xfrm>
          </p:grpSpPr>
          <p:sp>
            <p:nvSpPr>
              <p:cNvPr id="1516553" name="Line 9"/>
              <p:cNvSpPr>
                <a:spLocks noChangeShapeType="1"/>
              </p:cNvSpPr>
              <p:nvPr/>
            </p:nvSpPr>
            <p:spPr bwMode="auto">
              <a:xfrm>
                <a:off x="3627" y="1577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1516554" name="Line 10"/>
              <p:cNvSpPr>
                <a:spLocks noChangeShapeType="1"/>
              </p:cNvSpPr>
              <p:nvPr/>
            </p:nvSpPr>
            <p:spPr bwMode="auto">
              <a:xfrm>
                <a:off x="3627" y="1881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 b="1"/>
              </a:p>
            </p:txBody>
          </p:sp>
          <p:sp>
            <p:nvSpPr>
              <p:cNvPr id="1516555" name="Line 11"/>
              <p:cNvSpPr>
                <a:spLocks noChangeShapeType="1"/>
              </p:cNvSpPr>
              <p:nvPr/>
            </p:nvSpPr>
            <p:spPr bwMode="auto">
              <a:xfrm>
                <a:off x="3737" y="1577"/>
                <a:ext cx="0" cy="2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 b="1"/>
              </a:p>
            </p:txBody>
          </p:sp>
        </p:grpSp>
      </p:grpSp>
      <p:grpSp>
        <p:nvGrpSpPr>
          <p:cNvPr id="1516556" name="Group 12"/>
          <p:cNvGrpSpPr>
            <a:grpSpLocks/>
          </p:cNvGrpSpPr>
          <p:nvPr/>
        </p:nvGrpSpPr>
        <p:grpSpPr bwMode="auto">
          <a:xfrm>
            <a:off x="1735138" y="3332163"/>
            <a:ext cx="647700" cy="1536700"/>
            <a:chOff x="4040" y="1578"/>
            <a:chExt cx="408" cy="968"/>
          </a:xfrm>
        </p:grpSpPr>
        <p:sp>
          <p:nvSpPr>
            <p:cNvPr id="1516557" name="Text Box 13"/>
            <p:cNvSpPr txBox="1">
              <a:spLocks noChangeArrowheads="1"/>
            </p:cNvSpPr>
            <p:nvPr/>
          </p:nvSpPr>
          <p:spPr bwMode="auto">
            <a:xfrm>
              <a:off x="4080" y="1901"/>
              <a:ext cx="3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p</a:t>
              </a:r>
            </a:p>
          </p:txBody>
        </p:sp>
        <p:sp>
          <p:nvSpPr>
            <p:cNvPr id="1516558" name="Line 14"/>
            <p:cNvSpPr>
              <a:spLocks noChangeShapeType="1"/>
            </p:cNvSpPr>
            <p:nvPr/>
          </p:nvSpPr>
          <p:spPr bwMode="auto">
            <a:xfrm>
              <a:off x="4040" y="2183"/>
              <a:ext cx="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1516559" name="Line 15"/>
            <p:cNvSpPr>
              <a:spLocks noChangeShapeType="1"/>
            </p:cNvSpPr>
            <p:nvPr/>
          </p:nvSpPr>
          <p:spPr bwMode="auto">
            <a:xfrm>
              <a:off x="4042" y="1578"/>
              <a:ext cx="0" cy="9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b="1"/>
            </a:p>
          </p:txBody>
        </p:sp>
        <p:sp>
          <p:nvSpPr>
            <p:cNvPr id="1516560" name="Line 16"/>
            <p:cNvSpPr>
              <a:spLocks noChangeShapeType="1"/>
            </p:cNvSpPr>
            <p:nvPr/>
          </p:nvSpPr>
          <p:spPr bwMode="auto">
            <a:xfrm>
              <a:off x="4440" y="1878"/>
              <a:ext cx="0" cy="6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 b="1"/>
            </a:p>
          </p:txBody>
        </p:sp>
      </p:grpSp>
      <p:sp>
        <p:nvSpPr>
          <p:cNvPr id="1516561" name="Line 17"/>
          <p:cNvSpPr>
            <a:spLocks noChangeShapeType="1"/>
          </p:cNvSpPr>
          <p:nvPr/>
        </p:nvSpPr>
        <p:spPr bwMode="auto">
          <a:xfrm>
            <a:off x="1268413" y="2970213"/>
            <a:ext cx="1739900" cy="13049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516562" name="Group 18"/>
          <p:cNvGrpSpPr>
            <a:grpSpLocks/>
          </p:cNvGrpSpPr>
          <p:nvPr/>
        </p:nvGrpSpPr>
        <p:grpSpPr bwMode="auto">
          <a:xfrm>
            <a:off x="581025" y="1674813"/>
            <a:ext cx="3744913" cy="3773487"/>
            <a:chOff x="3313" y="601"/>
            <a:chExt cx="2359" cy="2377"/>
          </a:xfrm>
        </p:grpSpPr>
        <p:grpSp>
          <p:nvGrpSpPr>
            <p:cNvPr id="1516563" name="Group 19"/>
            <p:cNvGrpSpPr>
              <a:grpSpLocks/>
            </p:cNvGrpSpPr>
            <p:nvPr/>
          </p:nvGrpSpPr>
          <p:grpSpPr bwMode="auto">
            <a:xfrm>
              <a:off x="3624" y="746"/>
              <a:ext cx="1867" cy="1970"/>
              <a:chOff x="1421" y="1143"/>
              <a:chExt cx="1867" cy="1970"/>
            </a:xfrm>
          </p:grpSpPr>
          <p:sp>
            <p:nvSpPr>
              <p:cNvPr id="1516564" name="Freeform 20"/>
              <p:cNvSpPr>
                <a:spLocks noChangeAspect="1"/>
              </p:cNvSpPr>
              <p:nvPr/>
            </p:nvSpPr>
            <p:spPr bwMode="auto">
              <a:xfrm>
                <a:off x="1425" y="1143"/>
                <a:ext cx="1" cy="1970"/>
              </a:xfrm>
              <a:custGeom>
                <a:avLst/>
                <a:gdLst>
                  <a:gd name="T0" fmla="*/ 0 w 1"/>
                  <a:gd name="T1" fmla="*/ 0 h 1970"/>
                  <a:gd name="T2" fmla="*/ 0 w 1"/>
                  <a:gd name="T3" fmla="*/ 197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970">
                    <a:moveTo>
                      <a:pt x="0" y="0"/>
                    </a:moveTo>
                    <a:lnTo>
                      <a:pt x="0" y="197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 type="triangl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516565" name="Line 21"/>
              <p:cNvSpPr>
                <a:spLocks noChangeAspect="1" noChangeShapeType="1"/>
              </p:cNvSpPr>
              <p:nvPr/>
            </p:nvSpPr>
            <p:spPr bwMode="auto">
              <a:xfrm rot="5400000" flipV="1">
                <a:off x="2355" y="2179"/>
                <a:ext cx="0" cy="186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516566" name="Line 22"/>
              <p:cNvSpPr>
                <a:spLocks noChangeShapeType="1"/>
              </p:cNvSpPr>
              <p:nvPr/>
            </p:nvSpPr>
            <p:spPr bwMode="auto">
              <a:xfrm>
                <a:off x="1421" y="2731"/>
                <a:ext cx="4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516567" name="Line 23"/>
              <p:cNvSpPr>
                <a:spLocks noChangeShapeType="1"/>
              </p:cNvSpPr>
              <p:nvPr/>
            </p:nvSpPr>
            <p:spPr bwMode="auto">
              <a:xfrm>
                <a:off x="1421" y="2329"/>
                <a:ext cx="4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516568" name="Line 24"/>
              <p:cNvSpPr>
                <a:spLocks noChangeShapeType="1"/>
              </p:cNvSpPr>
              <p:nvPr/>
            </p:nvSpPr>
            <p:spPr bwMode="auto">
              <a:xfrm>
                <a:off x="1421" y="1942"/>
                <a:ext cx="4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516569" name="Line 25"/>
              <p:cNvSpPr>
                <a:spLocks noChangeShapeType="1"/>
              </p:cNvSpPr>
              <p:nvPr/>
            </p:nvSpPr>
            <p:spPr bwMode="auto">
              <a:xfrm>
                <a:off x="1423" y="1552"/>
                <a:ext cx="4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516570" name="Line 26"/>
              <p:cNvSpPr>
                <a:spLocks noChangeShapeType="1"/>
              </p:cNvSpPr>
              <p:nvPr/>
            </p:nvSpPr>
            <p:spPr bwMode="auto">
              <a:xfrm>
                <a:off x="2620" y="3067"/>
                <a:ext cx="0" cy="4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516571" name="Line 27"/>
              <p:cNvSpPr>
                <a:spLocks noChangeShapeType="1"/>
              </p:cNvSpPr>
              <p:nvPr/>
            </p:nvSpPr>
            <p:spPr bwMode="auto">
              <a:xfrm>
                <a:off x="1834" y="3067"/>
                <a:ext cx="0" cy="4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516572" name="Line 28"/>
              <p:cNvSpPr>
                <a:spLocks noChangeShapeType="1"/>
              </p:cNvSpPr>
              <p:nvPr/>
            </p:nvSpPr>
            <p:spPr bwMode="auto">
              <a:xfrm>
                <a:off x="2236" y="3067"/>
                <a:ext cx="0" cy="4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  <p:sp>
            <p:nvSpPr>
              <p:cNvPr id="1516573" name="Line 29"/>
              <p:cNvSpPr>
                <a:spLocks noChangeShapeType="1"/>
              </p:cNvSpPr>
              <p:nvPr/>
            </p:nvSpPr>
            <p:spPr bwMode="auto">
              <a:xfrm>
                <a:off x="3016" y="3067"/>
                <a:ext cx="0" cy="4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516574" name="Group 30"/>
            <p:cNvGrpSpPr>
              <a:grpSpLocks/>
            </p:cNvGrpSpPr>
            <p:nvPr/>
          </p:nvGrpSpPr>
          <p:grpSpPr bwMode="auto">
            <a:xfrm>
              <a:off x="3313" y="601"/>
              <a:ext cx="2359" cy="2377"/>
              <a:chOff x="3313" y="601"/>
              <a:chExt cx="2359" cy="2377"/>
            </a:xfrm>
          </p:grpSpPr>
          <p:grpSp>
            <p:nvGrpSpPr>
              <p:cNvPr id="1516575" name="Group 31"/>
              <p:cNvGrpSpPr>
                <a:grpSpLocks/>
              </p:cNvGrpSpPr>
              <p:nvPr/>
            </p:nvGrpSpPr>
            <p:grpSpPr bwMode="auto">
              <a:xfrm>
                <a:off x="3558" y="2700"/>
                <a:ext cx="1689" cy="233"/>
                <a:chOff x="1355" y="3097"/>
                <a:chExt cx="1689" cy="233"/>
              </a:xfrm>
            </p:grpSpPr>
            <p:sp>
              <p:nvSpPr>
                <p:cNvPr id="1516576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355" y="3097"/>
                  <a:ext cx="189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800" b="1">
                      <a:solidFill>
                        <a:srgbClr val="000066"/>
                      </a:solidFill>
                      <a:cs typeface="Times New Roman" panose="02020603050405020304" pitchFamily="18" charset="0"/>
                      <a:sym typeface="Symbol" pitchFamily="18" charset="2"/>
                    </a:rPr>
                    <a:t>0</a:t>
                  </a:r>
                </a:p>
              </p:txBody>
            </p:sp>
            <p:sp>
              <p:nvSpPr>
                <p:cNvPr id="151657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731" y="3120"/>
                  <a:ext cx="218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800" b="1" dirty="0">
                      <a:solidFill>
                        <a:srgbClr val="000066"/>
                      </a:solidFill>
                      <a:cs typeface="Times New Roman" panose="02020603050405020304" pitchFamily="18" charset="0"/>
                      <a:sym typeface="Symbol" pitchFamily="18" charset="2"/>
                    </a:rPr>
                    <a:t>100</a:t>
                  </a:r>
                </a:p>
              </p:txBody>
            </p:sp>
            <p:sp>
              <p:nvSpPr>
                <p:cNvPr id="1516578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2165" y="3122"/>
                  <a:ext cx="218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800" b="1">
                      <a:solidFill>
                        <a:srgbClr val="000066"/>
                      </a:solidFill>
                      <a:cs typeface="Times New Roman" panose="02020603050405020304" pitchFamily="18" charset="0"/>
                      <a:sym typeface="Symbol" pitchFamily="18" charset="2"/>
                    </a:rPr>
                    <a:t>200</a:t>
                  </a:r>
                </a:p>
              </p:txBody>
            </p:sp>
            <p:sp>
              <p:nvSpPr>
                <p:cNvPr id="1516579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528" y="3122"/>
                  <a:ext cx="218" cy="1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800" b="1">
                      <a:solidFill>
                        <a:srgbClr val="000066"/>
                      </a:solidFill>
                      <a:cs typeface="Times New Roman" panose="02020603050405020304" pitchFamily="18" charset="0"/>
                      <a:sym typeface="Symbol" pitchFamily="18" charset="2"/>
                    </a:rPr>
                    <a:t>300</a:t>
                  </a:r>
                </a:p>
              </p:txBody>
            </p:sp>
            <p:sp>
              <p:nvSpPr>
                <p:cNvPr id="1516580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3044" y="3113"/>
                  <a:ext cx="0" cy="1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2000" b="1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endParaRPr>
                </a:p>
              </p:txBody>
            </p:sp>
          </p:grpSp>
          <p:grpSp>
            <p:nvGrpSpPr>
              <p:cNvPr id="1516581" name="Group 37"/>
              <p:cNvGrpSpPr>
                <a:grpSpLocks/>
              </p:cNvGrpSpPr>
              <p:nvPr/>
            </p:nvGrpSpPr>
            <p:grpSpPr bwMode="auto">
              <a:xfrm>
                <a:off x="3313" y="1037"/>
                <a:ext cx="305" cy="1775"/>
                <a:chOff x="269" y="1434"/>
                <a:chExt cx="305" cy="1775"/>
              </a:xfrm>
            </p:grpSpPr>
            <p:sp>
              <p:nvSpPr>
                <p:cNvPr id="1516582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270" y="2976"/>
                  <a:ext cx="29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800" b="1">
                      <a:solidFill>
                        <a:srgbClr val="000066"/>
                      </a:solidFill>
                      <a:cs typeface="Times New Roman" panose="02020603050405020304" pitchFamily="18" charset="0"/>
                      <a:sym typeface="Symbol" pitchFamily="18" charset="2"/>
                    </a:rPr>
                    <a:t>0.6</a:t>
                  </a:r>
                </a:p>
              </p:txBody>
            </p:sp>
            <p:sp>
              <p:nvSpPr>
                <p:cNvPr id="1516583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276" y="2603"/>
                  <a:ext cx="29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800" b="1">
                      <a:solidFill>
                        <a:srgbClr val="000066"/>
                      </a:solidFill>
                      <a:cs typeface="Times New Roman" panose="02020603050405020304" pitchFamily="18" charset="0"/>
                      <a:sym typeface="Symbol" pitchFamily="18" charset="2"/>
                    </a:rPr>
                    <a:t>0.7</a:t>
                  </a:r>
                </a:p>
              </p:txBody>
            </p:sp>
            <p:sp>
              <p:nvSpPr>
                <p:cNvPr id="1516584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273" y="2209"/>
                  <a:ext cx="29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800" b="1">
                      <a:solidFill>
                        <a:srgbClr val="000066"/>
                      </a:solidFill>
                      <a:cs typeface="Times New Roman" panose="02020603050405020304" pitchFamily="18" charset="0"/>
                      <a:sym typeface="Symbol" pitchFamily="18" charset="2"/>
                    </a:rPr>
                    <a:t>0.8</a:t>
                  </a:r>
                </a:p>
              </p:txBody>
            </p:sp>
            <p:sp>
              <p:nvSpPr>
                <p:cNvPr id="1516585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273" y="1821"/>
                  <a:ext cx="29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800" b="1" dirty="0">
                      <a:solidFill>
                        <a:srgbClr val="000066"/>
                      </a:solidFill>
                      <a:cs typeface="Times New Roman" panose="02020603050405020304" pitchFamily="18" charset="0"/>
                      <a:sym typeface="Symbol" pitchFamily="18" charset="2"/>
                    </a:rPr>
                    <a:t>0.9</a:t>
                  </a:r>
                </a:p>
              </p:txBody>
            </p:sp>
            <p:sp>
              <p:nvSpPr>
                <p:cNvPr id="1516586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269" y="1434"/>
                  <a:ext cx="29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800" b="1" dirty="0">
                      <a:solidFill>
                        <a:srgbClr val="000066"/>
                      </a:solidFill>
                      <a:cs typeface="Times New Roman" panose="02020603050405020304" pitchFamily="18" charset="0"/>
                      <a:sym typeface="Symbol" pitchFamily="18" charset="2"/>
                    </a:rPr>
                    <a:t>1.0</a:t>
                  </a:r>
                </a:p>
              </p:txBody>
            </p:sp>
          </p:grpSp>
          <p:sp>
            <p:nvSpPr>
              <p:cNvPr id="1516587" name="Text Box 43"/>
              <p:cNvSpPr txBox="1">
                <a:spLocks noChangeArrowheads="1"/>
              </p:cNvSpPr>
              <p:nvPr/>
            </p:nvSpPr>
            <p:spPr bwMode="auto">
              <a:xfrm>
                <a:off x="3343" y="601"/>
                <a:ext cx="216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800" b="1" i="1" dirty="0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e</a:t>
                </a:r>
              </a:p>
            </p:txBody>
          </p:sp>
          <p:sp>
            <p:nvSpPr>
              <p:cNvPr id="1516588" name="Text Box 44"/>
              <p:cNvSpPr txBox="1">
                <a:spLocks noChangeArrowheads="1"/>
              </p:cNvSpPr>
              <p:nvPr/>
            </p:nvSpPr>
            <p:spPr bwMode="auto">
              <a:xfrm>
                <a:off x="5001" y="2690"/>
                <a:ext cx="67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4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b="1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kPa</a:t>
                </a:r>
                <a:r>
                  <a:rPr lang="en-US" altLang="zh-CN" sz="24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)</a:t>
                </a:r>
              </a:p>
            </p:txBody>
          </p:sp>
        </p:grpSp>
      </p:grpSp>
      <p:grpSp>
        <p:nvGrpSpPr>
          <p:cNvPr id="1516589" name="Group 45"/>
          <p:cNvGrpSpPr>
            <a:grpSpLocks/>
          </p:cNvGrpSpPr>
          <p:nvPr/>
        </p:nvGrpSpPr>
        <p:grpSpPr bwMode="auto">
          <a:xfrm>
            <a:off x="1709738" y="3292475"/>
            <a:ext cx="708025" cy="565150"/>
            <a:chOff x="4024" y="1553"/>
            <a:chExt cx="446" cy="356"/>
          </a:xfrm>
        </p:grpSpPr>
        <p:sp>
          <p:nvSpPr>
            <p:cNvPr id="1516590" name="Oval 46"/>
            <p:cNvSpPr>
              <a:spLocks noChangeAspect="1" noChangeArrowheads="1"/>
            </p:cNvSpPr>
            <p:nvPr/>
          </p:nvSpPr>
          <p:spPr bwMode="auto">
            <a:xfrm>
              <a:off x="4024" y="1553"/>
              <a:ext cx="54" cy="53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6591" name="Oval 47"/>
            <p:cNvSpPr>
              <a:spLocks noChangeAspect="1" noChangeArrowheads="1"/>
            </p:cNvSpPr>
            <p:nvPr/>
          </p:nvSpPr>
          <p:spPr bwMode="auto">
            <a:xfrm>
              <a:off x="4416" y="1856"/>
              <a:ext cx="54" cy="53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151659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26848"/>
              </p:ext>
            </p:extLst>
          </p:nvPr>
        </p:nvGraphicFramePr>
        <p:xfrm>
          <a:off x="2781300" y="673100"/>
          <a:ext cx="156527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664" name="Microsoft 公式 3.0" r:id="rId3" imgW="596880" imgH="431640" progId="Equation.3">
                  <p:embed/>
                </p:oleObj>
              </mc:Choice>
              <mc:Fallback>
                <p:oleObj name="Microsoft 公式 3.0" r:id="rId3" imgW="596880" imgH="43164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673100"/>
                        <a:ext cx="156527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6593" name="Text Box 49"/>
          <p:cNvSpPr txBox="1">
            <a:spLocks noChangeArrowheads="1"/>
          </p:cNvSpPr>
          <p:nvPr/>
        </p:nvSpPr>
        <p:spPr bwMode="auto">
          <a:xfrm>
            <a:off x="4731798" y="1269814"/>
            <a:ext cx="4194715" cy="3833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486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8425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不同土的压缩系数不同，</a:t>
            </a:r>
            <a:r>
              <a:rPr kumimoji="0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a</a:t>
            </a: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越大，土的压缩性越大</a:t>
            </a:r>
          </a:p>
          <a:p>
            <a:pPr>
              <a:lnSpc>
                <a:spcPct val="125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同种土的压缩系数</a:t>
            </a:r>
            <a:r>
              <a:rPr kumimoji="0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a</a:t>
            </a: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不是常数，与</a:t>
            </a:r>
            <a:r>
              <a:rPr kumimoji="0" lang="zh-CN" altLang="en-US" sz="2600" b="1" dirty="0" smtClean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应力 </a:t>
            </a:r>
            <a:r>
              <a:rPr kumimoji="0" lang="en-US" altLang="zh-CN" sz="2600" b="1" i="1" dirty="0" smtClean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p </a:t>
            </a:r>
            <a:r>
              <a:rPr kumimoji="0" lang="zh-CN" altLang="en-US" sz="2600" b="1" dirty="0" smtClean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有关</a:t>
            </a:r>
            <a:endParaRPr kumimoji="0" lang="zh-CN" altLang="en-US" sz="2600" b="1" dirty="0">
              <a:solidFill>
                <a:srgbClr val="000066"/>
              </a:solidFill>
              <a:ea typeface="幼圆" pitchFamily="49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通常用</a:t>
            </a:r>
            <a:r>
              <a:rPr kumimoji="0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a</a:t>
            </a:r>
            <a:r>
              <a:rPr kumimoji="0" lang="en-US" altLang="zh-CN" sz="2600" b="1" baseline="-25000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1-2</a:t>
            </a: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即应力范围为</a:t>
            </a:r>
            <a:r>
              <a:rPr kumimoji="0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100-200 </a:t>
            </a:r>
            <a:r>
              <a:rPr kumimoji="0" lang="en-US" altLang="zh-CN" sz="2600" b="1" dirty="0" err="1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kPa</a:t>
            </a: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的</a:t>
            </a:r>
            <a:r>
              <a:rPr kumimoji="0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a</a:t>
            </a: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itchFamily="18" charset="0"/>
              </a:rPr>
              <a:t>值对不同土的压缩性进行比较</a:t>
            </a:r>
            <a:endParaRPr kumimoji="0" lang="en-US" altLang="zh-CN" sz="2600" b="1" dirty="0">
              <a:solidFill>
                <a:srgbClr val="000066"/>
              </a:solidFill>
              <a:ea typeface="幼圆" pitchFamily="49" charset="-122"/>
              <a:cs typeface="Times New Roman" pitchFamily="18" charset="0"/>
            </a:endParaRPr>
          </a:p>
        </p:txBody>
      </p:sp>
      <p:sp>
        <p:nvSpPr>
          <p:cNvPr id="1516594" name="Text Box 50"/>
          <p:cNvSpPr txBox="1">
            <a:spLocks noChangeArrowheads="1"/>
          </p:cNvSpPr>
          <p:nvPr/>
        </p:nvSpPr>
        <p:spPr bwMode="auto">
          <a:xfrm>
            <a:off x="373063" y="728663"/>
            <a:ext cx="2406650" cy="9417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Font typeface="Wingdings" pitchFamily="2" charset="2"/>
              <a:buChar char="n"/>
            </a:pPr>
            <a:r>
              <a:rPr lang="zh-CN" altLang="en-US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压缩系数</a:t>
            </a:r>
            <a:br>
              <a:rPr lang="zh-CN" altLang="en-US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</a:br>
            <a:r>
              <a:rPr lang="en-US" altLang="zh-CN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lang="en-US" altLang="zh-CN" sz="22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en-US" altLang="zh-CN" sz="2200" b="1" dirty="0" smtClean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a</a:t>
            </a:r>
            <a:r>
              <a:rPr lang="en-US" altLang="zh-CN" sz="2200" b="1" baseline="30000" dirty="0" smtClean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-1</a:t>
            </a: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，</a:t>
            </a:r>
            <a:r>
              <a:rPr lang="en-US" altLang="zh-CN" sz="22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MPa</a:t>
            </a:r>
            <a:r>
              <a:rPr lang="en-US" altLang="zh-CN" sz="2200" b="1" baseline="30000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-1</a:t>
            </a:r>
            <a:endParaRPr lang="en-US" altLang="zh-CN" sz="2200" b="1" baseline="30000" dirty="0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5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4" name="Text Box 7"/>
          <p:cNvSpPr txBox="1">
            <a:spLocks noChangeArrowheads="1"/>
          </p:cNvSpPr>
          <p:nvPr/>
        </p:nvSpPr>
        <p:spPr bwMode="auto">
          <a:xfrm>
            <a:off x="-9526" y="0"/>
            <a:ext cx="46614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</a:rPr>
              <a:t>维压缩性及其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- 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lang="en-US" altLang="zh-CN" sz="2000" b="1" kern="900" spc="-140" dirty="0">
              <a:solidFill>
                <a:srgbClr val="C00000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6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6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51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516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2000"/>
                                        <p:tgtEl>
                                          <p:spTgt spid="151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516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2000"/>
                                        <p:tgtEl>
                                          <p:spTgt spid="1516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16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16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1516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5165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5165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6549" grpId="0" animBg="1"/>
      <p:bldP spid="1516561" grpId="0" animBg="1"/>
      <p:bldP spid="1516593" grpId="0" build="p" advAuto="500"/>
      <p:bldP spid="151659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571" name="Rectangle 3"/>
          <p:cNvSpPr>
            <a:spLocks noChangeArrowheads="1"/>
          </p:cNvSpPr>
          <p:nvPr/>
        </p:nvSpPr>
        <p:spPr bwMode="auto">
          <a:xfrm>
            <a:off x="2232025" y="5745163"/>
            <a:ext cx="57324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i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e</a:t>
            </a:r>
            <a:r>
              <a:rPr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- </a:t>
            </a:r>
            <a:r>
              <a:rPr lang="en-US" altLang="zh-CN" sz="4000" b="1" i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p</a:t>
            </a:r>
            <a:r>
              <a:rPr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lang="zh-CN" altLang="en-US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曲线</a:t>
            </a:r>
            <a:r>
              <a:rPr lang="en-US" altLang="zh-CN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压缩系数</a:t>
            </a:r>
            <a:r>
              <a:rPr lang="en-US" altLang="zh-CN" sz="4000" b="1" i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a</a:t>
            </a:r>
            <a:endParaRPr lang="en-US" altLang="zh-CN" sz="4000" b="1" i="1" dirty="0">
              <a:solidFill>
                <a:srgbClr val="000066"/>
              </a:solidFill>
              <a:ea typeface="黑体" pitchFamily="2" charset="-122"/>
            </a:endParaRPr>
          </a:p>
        </p:txBody>
      </p:sp>
      <p:graphicFrame>
        <p:nvGraphicFramePr>
          <p:cNvPr id="1517631" name="Group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421988"/>
              </p:ext>
            </p:extLst>
          </p:nvPr>
        </p:nvGraphicFramePr>
        <p:xfrm>
          <a:off x="565150" y="2520950"/>
          <a:ext cx="3744913" cy="2674938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itchFamily="49" charset="-122"/>
                          <a:ea typeface="幼圆" pitchFamily="49" charset="-122"/>
                        </a:rPr>
                        <a:t>土的类别</a:t>
                      </a:r>
                    </a:p>
                  </a:txBody>
                  <a:tcPr marL="90000" marR="90000" marT="1440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2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1-2</a:t>
                      </a:r>
                      <a:r>
                        <a:rPr kumimoji="0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 (MPa</a:t>
                      </a:r>
                      <a:r>
                        <a:rPr kumimoji="0" lang="en-US" altLang="zh-CN" sz="21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kumimoji="0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0000" marR="90000" marT="1440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itchFamily="49" charset="-122"/>
                          <a:ea typeface="幼圆" pitchFamily="49" charset="-122"/>
                        </a:rPr>
                        <a:t>高压缩性土</a:t>
                      </a:r>
                    </a:p>
                  </a:txBody>
                  <a:tcPr marL="90000" marR="90000" marT="1440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&gt;0.5</a:t>
                      </a:r>
                    </a:p>
                  </a:txBody>
                  <a:tcPr marL="90000" marR="90000" marT="1440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itchFamily="49" charset="-122"/>
                          <a:ea typeface="幼圆" pitchFamily="49" charset="-122"/>
                        </a:rPr>
                        <a:t>中压缩性土</a:t>
                      </a:r>
                    </a:p>
                  </a:txBody>
                  <a:tcPr marL="90000" marR="90000" marT="1440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0.1-0.5</a:t>
                      </a:r>
                    </a:p>
                  </a:txBody>
                  <a:tcPr marL="90000" marR="90000" marT="1440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itchFamily="49" charset="-122"/>
                          <a:ea typeface="幼圆" pitchFamily="49" charset="-122"/>
                        </a:rPr>
                        <a:t>低压缩性土</a:t>
                      </a:r>
                    </a:p>
                  </a:txBody>
                  <a:tcPr marL="90000" marR="90000" marT="1440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&lt;0.1</a:t>
                      </a:r>
                    </a:p>
                  </a:txBody>
                  <a:tcPr marL="90000" marR="90000" marT="1440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17589" name="Rectangle 21"/>
          <p:cNvSpPr>
            <a:spLocks noChangeArrowheads="1"/>
          </p:cNvSpPr>
          <p:nvPr/>
        </p:nvSpPr>
        <p:spPr bwMode="auto">
          <a:xfrm>
            <a:off x="484188" y="1004888"/>
            <a:ext cx="378142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65125" indent="-36512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压缩系数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a</a:t>
            </a:r>
            <a:r>
              <a:rPr kumimoji="1" lang="en-US" altLang="zh-CN" sz="2800" b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1-2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常用作比较土的压缩性大小</a:t>
            </a:r>
          </a:p>
        </p:txBody>
      </p:sp>
      <p:grpSp>
        <p:nvGrpSpPr>
          <p:cNvPr id="1517590" name="Group 22"/>
          <p:cNvGrpSpPr>
            <a:grpSpLocks/>
          </p:cNvGrpSpPr>
          <p:nvPr/>
        </p:nvGrpSpPr>
        <p:grpSpPr bwMode="auto">
          <a:xfrm>
            <a:off x="4746625" y="836259"/>
            <a:ext cx="4059238" cy="4440238"/>
            <a:chOff x="3120" y="510"/>
            <a:chExt cx="2557" cy="2797"/>
          </a:xfrm>
        </p:grpSpPr>
        <p:sp>
          <p:nvSpPr>
            <p:cNvPr id="1517591" name="Rectangle 23"/>
            <p:cNvSpPr>
              <a:spLocks noChangeArrowheads="1"/>
            </p:cNvSpPr>
            <p:nvPr/>
          </p:nvSpPr>
          <p:spPr bwMode="auto">
            <a:xfrm>
              <a:off x="3120" y="510"/>
              <a:ext cx="2557" cy="2797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7592" name="Rectangle 24"/>
            <p:cNvSpPr>
              <a:spLocks noChangeArrowheads="1"/>
            </p:cNvSpPr>
            <p:nvPr/>
          </p:nvSpPr>
          <p:spPr bwMode="auto">
            <a:xfrm>
              <a:off x="4260" y="787"/>
              <a:ext cx="10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ea typeface="幼圆" pitchFamily="49" charset="-122"/>
                  <a:sym typeface="Symbol" pitchFamily="18" charset="2"/>
                </a:rPr>
                <a:t>压缩系数：</a:t>
              </a:r>
            </a:p>
          </p:txBody>
        </p:sp>
        <p:graphicFrame>
          <p:nvGraphicFramePr>
            <p:cNvPr id="1517593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3379991"/>
                </p:ext>
              </p:extLst>
            </p:nvPr>
          </p:nvGraphicFramePr>
          <p:xfrm>
            <a:off x="4347" y="1076"/>
            <a:ext cx="827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7703" name="公式" r:id="rId3" imgW="596880" imgH="393480" progId="Equation.3">
                    <p:embed/>
                  </p:oleObj>
                </mc:Choice>
                <mc:Fallback>
                  <p:oleObj name="公式" r:id="rId3" imgW="596880" imgH="39348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7" y="1076"/>
                          <a:ext cx="827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17594" name="Freeform 26"/>
            <p:cNvSpPr>
              <a:spLocks noChangeAspect="1"/>
            </p:cNvSpPr>
            <p:nvPr/>
          </p:nvSpPr>
          <p:spPr bwMode="auto">
            <a:xfrm>
              <a:off x="3567" y="1096"/>
              <a:ext cx="1623" cy="1233"/>
            </a:xfrm>
            <a:custGeom>
              <a:avLst/>
              <a:gdLst>
                <a:gd name="T0" fmla="*/ 1623 w 1623"/>
                <a:gd name="T1" fmla="*/ 1233 h 1233"/>
                <a:gd name="T2" fmla="*/ 1303 w 1623"/>
                <a:gd name="T3" fmla="*/ 1103 h 1233"/>
                <a:gd name="T4" fmla="*/ 962 w 1623"/>
                <a:gd name="T5" fmla="*/ 935 h 1233"/>
                <a:gd name="T6" fmla="*/ 631 w 1623"/>
                <a:gd name="T7" fmla="*/ 728 h 1233"/>
                <a:gd name="T8" fmla="*/ 415 w 1623"/>
                <a:gd name="T9" fmla="*/ 541 h 1233"/>
                <a:gd name="T10" fmla="*/ 228 w 1623"/>
                <a:gd name="T11" fmla="*/ 354 h 1233"/>
                <a:gd name="T12" fmla="*/ 93 w 1623"/>
                <a:gd name="T13" fmla="*/ 172 h 1233"/>
                <a:gd name="T14" fmla="*/ 0 w 1623"/>
                <a:gd name="T15" fmla="*/ 0 h 1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23" h="1233">
                  <a:moveTo>
                    <a:pt x="1623" y="1233"/>
                  </a:moveTo>
                  <a:cubicBezTo>
                    <a:pt x="1570" y="1211"/>
                    <a:pt x="1413" y="1153"/>
                    <a:pt x="1303" y="1103"/>
                  </a:cubicBezTo>
                  <a:cubicBezTo>
                    <a:pt x="1193" y="1053"/>
                    <a:pt x="1074" y="998"/>
                    <a:pt x="962" y="935"/>
                  </a:cubicBezTo>
                  <a:cubicBezTo>
                    <a:pt x="850" y="872"/>
                    <a:pt x="722" y="794"/>
                    <a:pt x="631" y="728"/>
                  </a:cubicBezTo>
                  <a:cubicBezTo>
                    <a:pt x="540" y="662"/>
                    <a:pt x="482" y="603"/>
                    <a:pt x="415" y="541"/>
                  </a:cubicBezTo>
                  <a:cubicBezTo>
                    <a:pt x="348" y="479"/>
                    <a:pt x="282" y="416"/>
                    <a:pt x="228" y="354"/>
                  </a:cubicBezTo>
                  <a:cubicBezTo>
                    <a:pt x="174" y="292"/>
                    <a:pt x="131" y="231"/>
                    <a:pt x="93" y="172"/>
                  </a:cubicBezTo>
                  <a:cubicBezTo>
                    <a:pt x="55" y="113"/>
                    <a:pt x="20" y="36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rgbClr val="A5002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7595" name="Line 27"/>
            <p:cNvSpPr>
              <a:spLocks noChangeShapeType="1"/>
            </p:cNvSpPr>
            <p:nvPr/>
          </p:nvSpPr>
          <p:spPr bwMode="auto">
            <a:xfrm>
              <a:off x="3567" y="1647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7596" name="Line 28"/>
            <p:cNvSpPr>
              <a:spLocks noChangeShapeType="1"/>
            </p:cNvSpPr>
            <p:nvPr/>
          </p:nvSpPr>
          <p:spPr bwMode="auto">
            <a:xfrm>
              <a:off x="3567" y="1951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7597" name="Line 29"/>
            <p:cNvSpPr>
              <a:spLocks noChangeShapeType="1"/>
            </p:cNvSpPr>
            <p:nvPr/>
          </p:nvSpPr>
          <p:spPr bwMode="auto">
            <a:xfrm>
              <a:off x="3980" y="2253"/>
              <a:ext cx="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7598" name="Line 30"/>
            <p:cNvSpPr>
              <a:spLocks noChangeShapeType="1"/>
            </p:cNvSpPr>
            <p:nvPr/>
          </p:nvSpPr>
          <p:spPr bwMode="auto">
            <a:xfrm>
              <a:off x="3677" y="1647"/>
              <a:ext cx="0" cy="3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7599" name="Line 31"/>
            <p:cNvSpPr>
              <a:spLocks noChangeShapeType="1"/>
            </p:cNvSpPr>
            <p:nvPr/>
          </p:nvSpPr>
          <p:spPr bwMode="auto">
            <a:xfrm>
              <a:off x="3982" y="1648"/>
              <a:ext cx="0" cy="9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17600" name="Line 32"/>
            <p:cNvSpPr>
              <a:spLocks noChangeShapeType="1"/>
            </p:cNvSpPr>
            <p:nvPr/>
          </p:nvSpPr>
          <p:spPr bwMode="auto">
            <a:xfrm>
              <a:off x="4380" y="1948"/>
              <a:ext cx="0" cy="6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517601" name="Group 33"/>
            <p:cNvGrpSpPr>
              <a:grpSpLocks/>
            </p:cNvGrpSpPr>
            <p:nvPr/>
          </p:nvGrpSpPr>
          <p:grpSpPr bwMode="auto">
            <a:xfrm>
              <a:off x="3563" y="819"/>
              <a:ext cx="1870" cy="1970"/>
              <a:chOff x="1420" y="1146"/>
              <a:chExt cx="1870" cy="1970"/>
            </a:xfrm>
          </p:grpSpPr>
          <p:sp>
            <p:nvSpPr>
              <p:cNvPr id="1517602" name="Freeform 34"/>
              <p:cNvSpPr>
                <a:spLocks noChangeAspect="1"/>
              </p:cNvSpPr>
              <p:nvPr/>
            </p:nvSpPr>
            <p:spPr bwMode="auto">
              <a:xfrm>
                <a:off x="1421" y="1146"/>
                <a:ext cx="1" cy="1970"/>
              </a:xfrm>
              <a:custGeom>
                <a:avLst/>
                <a:gdLst>
                  <a:gd name="T0" fmla="*/ 0 w 1"/>
                  <a:gd name="T1" fmla="*/ 0 h 1970"/>
                  <a:gd name="T2" fmla="*/ 0 w 1"/>
                  <a:gd name="T3" fmla="*/ 197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970">
                    <a:moveTo>
                      <a:pt x="0" y="0"/>
                    </a:moveTo>
                    <a:lnTo>
                      <a:pt x="0" y="197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miter lim="800000"/>
                <a:headEnd type="triangl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17603" name="Line 35"/>
              <p:cNvSpPr>
                <a:spLocks noChangeAspect="1" noChangeShapeType="1"/>
              </p:cNvSpPr>
              <p:nvPr/>
            </p:nvSpPr>
            <p:spPr bwMode="auto">
              <a:xfrm rot="5400000" flipV="1">
                <a:off x="2357" y="2179"/>
                <a:ext cx="0" cy="186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17604" name="Line 36"/>
              <p:cNvSpPr>
                <a:spLocks noChangeShapeType="1"/>
              </p:cNvSpPr>
              <p:nvPr/>
            </p:nvSpPr>
            <p:spPr bwMode="auto">
              <a:xfrm>
                <a:off x="1423" y="2731"/>
                <a:ext cx="4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17605" name="Line 37"/>
              <p:cNvSpPr>
                <a:spLocks noChangeShapeType="1"/>
              </p:cNvSpPr>
              <p:nvPr/>
            </p:nvSpPr>
            <p:spPr bwMode="auto">
              <a:xfrm>
                <a:off x="1423" y="2329"/>
                <a:ext cx="4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17606" name="Line 38"/>
              <p:cNvSpPr>
                <a:spLocks noChangeShapeType="1"/>
              </p:cNvSpPr>
              <p:nvPr/>
            </p:nvSpPr>
            <p:spPr bwMode="auto">
              <a:xfrm>
                <a:off x="1420" y="1942"/>
                <a:ext cx="4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17607" name="Line 39"/>
              <p:cNvSpPr>
                <a:spLocks noChangeShapeType="1"/>
              </p:cNvSpPr>
              <p:nvPr/>
            </p:nvSpPr>
            <p:spPr bwMode="auto">
              <a:xfrm>
                <a:off x="1423" y="1552"/>
                <a:ext cx="45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17608" name="Line 40"/>
              <p:cNvSpPr>
                <a:spLocks noChangeShapeType="1"/>
              </p:cNvSpPr>
              <p:nvPr/>
            </p:nvSpPr>
            <p:spPr bwMode="auto">
              <a:xfrm>
                <a:off x="2620" y="3067"/>
                <a:ext cx="0" cy="4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17609" name="Line 41"/>
              <p:cNvSpPr>
                <a:spLocks noChangeShapeType="1"/>
              </p:cNvSpPr>
              <p:nvPr/>
            </p:nvSpPr>
            <p:spPr bwMode="auto">
              <a:xfrm>
                <a:off x="1834" y="3067"/>
                <a:ext cx="0" cy="4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17610" name="Line 42"/>
              <p:cNvSpPr>
                <a:spLocks noChangeShapeType="1"/>
              </p:cNvSpPr>
              <p:nvPr/>
            </p:nvSpPr>
            <p:spPr bwMode="auto">
              <a:xfrm>
                <a:off x="2236" y="3067"/>
                <a:ext cx="0" cy="4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17611" name="Line 43"/>
              <p:cNvSpPr>
                <a:spLocks noChangeShapeType="1"/>
              </p:cNvSpPr>
              <p:nvPr/>
            </p:nvSpPr>
            <p:spPr bwMode="auto">
              <a:xfrm>
                <a:off x="3016" y="3067"/>
                <a:ext cx="0" cy="4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17612" name="Group 44"/>
            <p:cNvGrpSpPr>
              <a:grpSpLocks/>
            </p:cNvGrpSpPr>
            <p:nvPr/>
          </p:nvGrpSpPr>
          <p:grpSpPr bwMode="auto">
            <a:xfrm>
              <a:off x="3498" y="2775"/>
              <a:ext cx="1690" cy="233"/>
              <a:chOff x="1355" y="3102"/>
              <a:chExt cx="1690" cy="233"/>
            </a:xfrm>
          </p:grpSpPr>
          <p:sp>
            <p:nvSpPr>
              <p:cNvPr id="1517613" name="Text Box 45"/>
              <p:cNvSpPr txBox="1">
                <a:spLocks noChangeArrowheads="1"/>
              </p:cNvSpPr>
              <p:nvPr/>
            </p:nvSpPr>
            <p:spPr bwMode="auto">
              <a:xfrm>
                <a:off x="1355" y="3102"/>
                <a:ext cx="18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800" b="1" dirty="0">
                    <a:solidFill>
                      <a:srgbClr val="000000"/>
                    </a:solidFill>
                    <a:cs typeface="Times New Roman" panose="02020603050405020304" pitchFamily="18" charset="0"/>
                    <a:sym typeface="Symbol" pitchFamily="18" charset="2"/>
                  </a:rPr>
                  <a:t>0</a:t>
                </a:r>
              </a:p>
            </p:txBody>
          </p:sp>
          <p:sp>
            <p:nvSpPr>
              <p:cNvPr id="1517614" name="Text Box 46"/>
              <p:cNvSpPr txBox="1">
                <a:spLocks noChangeArrowheads="1"/>
              </p:cNvSpPr>
              <p:nvPr/>
            </p:nvSpPr>
            <p:spPr bwMode="auto">
              <a:xfrm>
                <a:off x="1731" y="3125"/>
                <a:ext cx="218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800" b="1">
                    <a:solidFill>
                      <a:srgbClr val="000000"/>
                    </a:solidFill>
                    <a:cs typeface="Times New Roman" panose="02020603050405020304" pitchFamily="18" charset="0"/>
                    <a:sym typeface="Symbol" pitchFamily="18" charset="2"/>
                  </a:rPr>
                  <a:t>100</a:t>
                </a:r>
              </a:p>
            </p:txBody>
          </p:sp>
          <p:sp>
            <p:nvSpPr>
              <p:cNvPr id="1517615" name="Text Box 47"/>
              <p:cNvSpPr txBox="1">
                <a:spLocks noChangeArrowheads="1"/>
              </p:cNvSpPr>
              <p:nvPr/>
            </p:nvSpPr>
            <p:spPr bwMode="auto">
              <a:xfrm>
                <a:off x="2165" y="3127"/>
                <a:ext cx="218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800" b="1">
                    <a:solidFill>
                      <a:srgbClr val="000000"/>
                    </a:solidFill>
                    <a:cs typeface="Times New Roman" panose="02020603050405020304" pitchFamily="18" charset="0"/>
                    <a:sym typeface="Symbol" pitchFamily="18" charset="2"/>
                  </a:rPr>
                  <a:t>200</a:t>
                </a:r>
              </a:p>
            </p:txBody>
          </p:sp>
          <p:sp>
            <p:nvSpPr>
              <p:cNvPr id="1517616" name="Text Box 48"/>
              <p:cNvSpPr txBox="1">
                <a:spLocks noChangeArrowheads="1"/>
              </p:cNvSpPr>
              <p:nvPr/>
            </p:nvSpPr>
            <p:spPr bwMode="auto">
              <a:xfrm>
                <a:off x="2528" y="3127"/>
                <a:ext cx="218" cy="1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800" b="1">
                    <a:solidFill>
                      <a:srgbClr val="000000"/>
                    </a:solidFill>
                    <a:cs typeface="Times New Roman" panose="02020603050405020304" pitchFamily="18" charset="0"/>
                    <a:sym typeface="Symbol" pitchFamily="18" charset="2"/>
                  </a:rPr>
                  <a:t>300</a:t>
                </a:r>
              </a:p>
            </p:txBody>
          </p:sp>
          <p:sp>
            <p:nvSpPr>
              <p:cNvPr id="1517617" name="Text Box 49"/>
              <p:cNvSpPr txBox="1">
                <a:spLocks noChangeArrowheads="1"/>
              </p:cNvSpPr>
              <p:nvPr/>
            </p:nvSpPr>
            <p:spPr bwMode="auto">
              <a:xfrm>
                <a:off x="3044" y="3113"/>
                <a:ext cx="1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en-US" altLang="zh-CN" sz="2000" b="1">
                  <a:solidFill>
                    <a:srgbClr val="000000"/>
                  </a:solidFill>
                  <a:latin typeface="Arial" charset="0"/>
                  <a:sym typeface="Symbol" pitchFamily="18" charset="2"/>
                </a:endParaRPr>
              </a:p>
            </p:txBody>
          </p:sp>
        </p:grpSp>
        <p:grpSp>
          <p:nvGrpSpPr>
            <p:cNvPr id="1517618" name="Group 50"/>
            <p:cNvGrpSpPr>
              <a:grpSpLocks/>
            </p:cNvGrpSpPr>
            <p:nvPr/>
          </p:nvGrpSpPr>
          <p:grpSpPr bwMode="auto">
            <a:xfrm>
              <a:off x="3253" y="1107"/>
              <a:ext cx="305" cy="1775"/>
              <a:chOff x="269" y="1434"/>
              <a:chExt cx="305" cy="1775"/>
            </a:xfrm>
          </p:grpSpPr>
          <p:sp>
            <p:nvSpPr>
              <p:cNvPr id="1517619" name="Text Box 51"/>
              <p:cNvSpPr txBox="1">
                <a:spLocks noChangeArrowheads="1"/>
              </p:cNvSpPr>
              <p:nvPr/>
            </p:nvSpPr>
            <p:spPr bwMode="auto">
              <a:xfrm>
                <a:off x="270" y="2976"/>
                <a:ext cx="29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800" b="1">
                    <a:solidFill>
                      <a:srgbClr val="000000"/>
                    </a:solidFill>
                    <a:cs typeface="Times New Roman" panose="02020603050405020304" pitchFamily="18" charset="0"/>
                    <a:sym typeface="Symbol" pitchFamily="18" charset="2"/>
                  </a:rPr>
                  <a:t>0.6</a:t>
                </a:r>
              </a:p>
            </p:txBody>
          </p:sp>
          <p:sp>
            <p:nvSpPr>
              <p:cNvPr id="1517620" name="Text Box 52"/>
              <p:cNvSpPr txBox="1">
                <a:spLocks noChangeArrowheads="1"/>
              </p:cNvSpPr>
              <p:nvPr/>
            </p:nvSpPr>
            <p:spPr bwMode="auto">
              <a:xfrm>
                <a:off x="276" y="2603"/>
                <a:ext cx="29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800" b="1">
                    <a:solidFill>
                      <a:srgbClr val="000000"/>
                    </a:solidFill>
                    <a:cs typeface="Times New Roman" panose="02020603050405020304" pitchFamily="18" charset="0"/>
                    <a:sym typeface="Symbol" pitchFamily="18" charset="2"/>
                  </a:rPr>
                  <a:t>0.7</a:t>
                </a:r>
              </a:p>
            </p:txBody>
          </p:sp>
          <p:sp>
            <p:nvSpPr>
              <p:cNvPr id="1517621" name="Text Box 53"/>
              <p:cNvSpPr txBox="1">
                <a:spLocks noChangeArrowheads="1"/>
              </p:cNvSpPr>
              <p:nvPr/>
            </p:nvSpPr>
            <p:spPr bwMode="auto">
              <a:xfrm>
                <a:off x="273" y="2209"/>
                <a:ext cx="29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800" b="1">
                    <a:solidFill>
                      <a:srgbClr val="000000"/>
                    </a:solidFill>
                    <a:cs typeface="Times New Roman" panose="02020603050405020304" pitchFamily="18" charset="0"/>
                    <a:sym typeface="Symbol" pitchFamily="18" charset="2"/>
                  </a:rPr>
                  <a:t>0.8</a:t>
                </a:r>
              </a:p>
            </p:txBody>
          </p:sp>
          <p:sp>
            <p:nvSpPr>
              <p:cNvPr id="1517622" name="Text Box 54"/>
              <p:cNvSpPr txBox="1">
                <a:spLocks noChangeArrowheads="1"/>
              </p:cNvSpPr>
              <p:nvPr/>
            </p:nvSpPr>
            <p:spPr bwMode="auto">
              <a:xfrm>
                <a:off x="273" y="1821"/>
                <a:ext cx="29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800" b="1">
                    <a:solidFill>
                      <a:srgbClr val="000000"/>
                    </a:solidFill>
                    <a:cs typeface="Times New Roman" panose="02020603050405020304" pitchFamily="18" charset="0"/>
                    <a:sym typeface="Symbol" pitchFamily="18" charset="2"/>
                  </a:rPr>
                  <a:t>0.9</a:t>
                </a:r>
              </a:p>
            </p:txBody>
          </p:sp>
          <p:sp>
            <p:nvSpPr>
              <p:cNvPr id="1517623" name="Text Box 55"/>
              <p:cNvSpPr txBox="1">
                <a:spLocks noChangeArrowheads="1"/>
              </p:cNvSpPr>
              <p:nvPr/>
            </p:nvSpPr>
            <p:spPr bwMode="auto">
              <a:xfrm>
                <a:off x="269" y="1434"/>
                <a:ext cx="29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800" b="1" dirty="0">
                    <a:solidFill>
                      <a:srgbClr val="000000"/>
                    </a:solidFill>
                    <a:cs typeface="Times New Roman" panose="02020603050405020304" pitchFamily="18" charset="0"/>
                    <a:sym typeface="Symbol" pitchFamily="18" charset="2"/>
                  </a:rPr>
                  <a:t>1.0</a:t>
                </a:r>
              </a:p>
            </p:txBody>
          </p:sp>
        </p:grpSp>
        <p:sp>
          <p:nvSpPr>
            <p:cNvPr id="1517624" name="Text Box 56"/>
            <p:cNvSpPr txBox="1">
              <a:spLocks noChangeArrowheads="1"/>
            </p:cNvSpPr>
            <p:nvPr/>
          </p:nvSpPr>
          <p:spPr bwMode="auto">
            <a:xfrm>
              <a:off x="3283" y="671"/>
              <a:ext cx="21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e</a:t>
              </a:r>
            </a:p>
          </p:txBody>
        </p:sp>
        <p:sp>
          <p:nvSpPr>
            <p:cNvPr id="1517625" name="Line 57"/>
            <p:cNvSpPr>
              <a:spLocks noChangeShapeType="1"/>
            </p:cNvSpPr>
            <p:nvPr/>
          </p:nvSpPr>
          <p:spPr bwMode="auto">
            <a:xfrm>
              <a:off x="3686" y="1420"/>
              <a:ext cx="1096" cy="822"/>
            </a:xfrm>
            <a:prstGeom prst="line">
              <a:avLst/>
            </a:prstGeom>
            <a:noFill/>
            <a:ln w="19050">
              <a:solidFill>
                <a:srgbClr val="0066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17626" name="Text Box 58"/>
            <p:cNvSpPr txBox="1">
              <a:spLocks noChangeArrowheads="1"/>
            </p:cNvSpPr>
            <p:nvPr/>
          </p:nvSpPr>
          <p:spPr bwMode="auto">
            <a:xfrm>
              <a:off x="4020" y="1971"/>
              <a:ext cx="3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en-US" altLang="zh-CN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</p:txBody>
        </p:sp>
        <p:sp>
          <p:nvSpPr>
            <p:cNvPr id="1517627" name="Text Box 59"/>
            <p:cNvSpPr txBox="1">
              <a:spLocks noChangeArrowheads="1"/>
            </p:cNvSpPr>
            <p:nvPr/>
          </p:nvSpPr>
          <p:spPr bwMode="auto">
            <a:xfrm>
              <a:off x="3676" y="163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en-US" altLang="zh-CN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</a:p>
          </p:txBody>
        </p:sp>
        <p:sp>
          <p:nvSpPr>
            <p:cNvPr id="1517628" name="Oval 60"/>
            <p:cNvSpPr>
              <a:spLocks noChangeAspect="1" noChangeArrowheads="1"/>
            </p:cNvSpPr>
            <p:nvPr/>
          </p:nvSpPr>
          <p:spPr bwMode="auto">
            <a:xfrm>
              <a:off x="3964" y="1623"/>
              <a:ext cx="54" cy="53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7629" name="Text Box 61"/>
            <p:cNvSpPr txBox="1">
              <a:spLocks noChangeArrowheads="1"/>
            </p:cNvSpPr>
            <p:nvPr/>
          </p:nvSpPr>
          <p:spPr bwMode="auto">
            <a:xfrm>
              <a:off x="4941" y="2760"/>
              <a:ext cx="6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ea typeface="幼圆" pitchFamily="49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400" b="1" dirty="0">
                  <a:ea typeface="幼圆" pitchFamily="49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400" b="1" dirty="0" err="1">
                  <a:ea typeface="幼圆" pitchFamily="49" charset="-122"/>
                  <a:cs typeface="Times New Roman" panose="02020603050405020304" pitchFamily="18" charset="0"/>
                </a:rPr>
                <a:t>kPa</a:t>
              </a:r>
              <a:r>
                <a:rPr lang="en-US" altLang="zh-CN" sz="2400" b="1" dirty="0">
                  <a:ea typeface="幼圆" pitchFamily="49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517630" name="Oval 62"/>
            <p:cNvSpPr>
              <a:spLocks noChangeAspect="1" noChangeArrowheads="1"/>
            </p:cNvSpPr>
            <p:nvPr/>
          </p:nvSpPr>
          <p:spPr bwMode="auto">
            <a:xfrm>
              <a:off x="4356" y="1926"/>
              <a:ext cx="54" cy="53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4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-9526" y="0"/>
            <a:ext cx="46614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</a:rPr>
              <a:t>维压缩性及其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- 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lang="en-US" altLang="zh-CN" sz="2000" b="1" kern="900" spc="-140" dirty="0">
              <a:solidFill>
                <a:srgbClr val="C00000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1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17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17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151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758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595" name="Text Box 3"/>
          <p:cNvSpPr txBox="1">
            <a:spLocks noChangeArrowheads="1"/>
          </p:cNvSpPr>
          <p:nvPr/>
        </p:nvSpPr>
        <p:spPr bwMode="auto">
          <a:xfrm>
            <a:off x="236538" y="1860550"/>
            <a:ext cx="2406650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压缩系数</a:t>
            </a:r>
            <a:endParaRPr lang="en-US" altLang="zh-CN" b="1" baseline="3000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18596" name="Text Box 4"/>
          <p:cNvSpPr txBox="1">
            <a:spLocks noChangeArrowheads="1"/>
          </p:cNvSpPr>
          <p:nvPr/>
        </p:nvSpPr>
        <p:spPr bwMode="auto">
          <a:xfrm>
            <a:off x="220663" y="803275"/>
            <a:ext cx="2417762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Font typeface="Wingdings" pitchFamily="2" charset="2"/>
              <a:buChar char="n"/>
            </a:pPr>
            <a:r>
              <a:rPr lang="zh-CN" altLang="en-US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侧限压缩模量</a:t>
            </a:r>
            <a:endParaRPr lang="en-US" altLang="zh-CN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18599" name="Text Box 7"/>
          <p:cNvSpPr txBox="1">
            <a:spLocks noChangeArrowheads="1"/>
          </p:cNvSpPr>
          <p:nvPr/>
        </p:nvSpPr>
        <p:spPr bwMode="auto">
          <a:xfrm>
            <a:off x="319088" y="4521200"/>
            <a:ext cx="2525712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体积压缩系数</a:t>
            </a:r>
            <a:endParaRPr kumimoji="1" lang="en-US" altLang="zh-CN" sz="2400" b="1" baseline="3000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18600" name="Rectangle 8"/>
          <p:cNvSpPr>
            <a:spLocks noChangeArrowheads="1"/>
          </p:cNvSpPr>
          <p:nvPr/>
        </p:nvSpPr>
        <p:spPr bwMode="auto">
          <a:xfrm>
            <a:off x="2246313" y="5776913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压缩指标间的关系</a:t>
            </a:r>
            <a:endParaRPr lang="zh-CN" altLang="en-US" sz="40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518601" name="Group 9"/>
          <p:cNvGrpSpPr>
            <a:grpSpLocks/>
          </p:cNvGrpSpPr>
          <p:nvPr/>
        </p:nvGrpSpPr>
        <p:grpSpPr bwMode="auto">
          <a:xfrm>
            <a:off x="5549900" y="792163"/>
            <a:ext cx="3282950" cy="3863975"/>
            <a:chOff x="3412" y="685"/>
            <a:chExt cx="2068" cy="2434"/>
          </a:xfrm>
        </p:grpSpPr>
        <p:sp>
          <p:nvSpPr>
            <p:cNvPr id="1518602" name="Rectangle 10"/>
            <p:cNvSpPr>
              <a:spLocks noChangeArrowheads="1"/>
            </p:cNvSpPr>
            <p:nvPr/>
          </p:nvSpPr>
          <p:spPr bwMode="auto">
            <a:xfrm>
              <a:off x="3412" y="685"/>
              <a:ext cx="2068" cy="24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8603" name="Line 11"/>
            <p:cNvSpPr>
              <a:spLocks noChangeShapeType="1"/>
            </p:cNvSpPr>
            <p:nvPr/>
          </p:nvSpPr>
          <p:spPr bwMode="auto">
            <a:xfrm>
              <a:off x="4010" y="1465"/>
              <a:ext cx="20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18604" name="Line 12"/>
            <p:cNvSpPr>
              <a:spLocks noChangeShapeType="1"/>
            </p:cNvSpPr>
            <p:nvPr/>
          </p:nvSpPr>
          <p:spPr bwMode="auto">
            <a:xfrm>
              <a:off x="4147" y="1145"/>
              <a:ext cx="0" cy="3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8605" name="Line 13"/>
            <p:cNvSpPr>
              <a:spLocks noChangeShapeType="1"/>
            </p:cNvSpPr>
            <p:nvPr/>
          </p:nvSpPr>
          <p:spPr bwMode="auto">
            <a:xfrm flipH="1">
              <a:off x="3631" y="2750"/>
              <a:ext cx="58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18606" name="Line 14"/>
            <p:cNvSpPr>
              <a:spLocks noChangeShapeType="1"/>
            </p:cNvSpPr>
            <p:nvPr/>
          </p:nvSpPr>
          <p:spPr bwMode="auto">
            <a:xfrm flipH="1">
              <a:off x="3631" y="2056"/>
              <a:ext cx="60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18607" name="Line 15"/>
            <p:cNvSpPr>
              <a:spLocks noChangeShapeType="1"/>
            </p:cNvSpPr>
            <p:nvPr/>
          </p:nvSpPr>
          <p:spPr bwMode="auto">
            <a:xfrm>
              <a:off x="3815" y="2056"/>
              <a:ext cx="0" cy="6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8608" name="Text Box 16"/>
            <p:cNvSpPr txBox="1">
              <a:spLocks noChangeArrowheads="1"/>
            </p:cNvSpPr>
            <p:nvPr/>
          </p:nvSpPr>
          <p:spPr bwMode="auto">
            <a:xfrm>
              <a:off x="3519" y="2297"/>
              <a:ext cx="21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66"/>
                  </a:solidFill>
                  <a:sym typeface="Symbol" pitchFamily="18" charset="2"/>
                </a:rPr>
                <a:t>1</a:t>
              </a:r>
            </a:p>
          </p:txBody>
        </p:sp>
        <p:sp>
          <p:nvSpPr>
            <p:cNvPr id="1518609" name="Line 17"/>
            <p:cNvSpPr>
              <a:spLocks noChangeShapeType="1"/>
            </p:cNvSpPr>
            <p:nvPr/>
          </p:nvSpPr>
          <p:spPr bwMode="auto">
            <a:xfrm flipH="1">
              <a:off x="3631" y="1142"/>
              <a:ext cx="5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18610" name="Line 18"/>
            <p:cNvSpPr>
              <a:spLocks noChangeShapeType="1"/>
            </p:cNvSpPr>
            <p:nvPr/>
          </p:nvSpPr>
          <p:spPr bwMode="auto">
            <a:xfrm flipV="1">
              <a:off x="3809" y="1130"/>
              <a:ext cx="0" cy="92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8611" name="Text Box 19"/>
            <p:cNvSpPr txBox="1">
              <a:spLocks noChangeArrowheads="1"/>
            </p:cNvSpPr>
            <p:nvPr/>
          </p:nvSpPr>
          <p:spPr bwMode="auto">
            <a:xfrm>
              <a:off x="3513" y="1447"/>
              <a:ext cx="2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ea typeface="隶书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隶书" pitchFamily="49" charset="-122"/>
                  <a:cs typeface="Times New Roman" panose="02020603050405020304" pitchFamily="18" charset="0"/>
                  <a:sym typeface="Symbol" pitchFamily="18" charset="2"/>
                </a:rPr>
                <a:t>0</a:t>
              </a:r>
            </a:p>
          </p:txBody>
        </p:sp>
        <p:sp>
          <p:nvSpPr>
            <p:cNvPr id="1518612" name="Text Box 20"/>
            <p:cNvSpPr txBox="1">
              <a:spLocks noChangeArrowheads="1"/>
            </p:cNvSpPr>
            <p:nvPr/>
          </p:nvSpPr>
          <p:spPr bwMode="auto">
            <a:xfrm>
              <a:off x="3809" y="1130"/>
              <a:ext cx="32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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</a:p>
          </p:txBody>
        </p:sp>
        <p:sp>
          <p:nvSpPr>
            <p:cNvPr id="1518613" name="Rectangle 21" descr="沙滩"/>
            <p:cNvSpPr>
              <a:spLocks noChangeArrowheads="1"/>
            </p:cNvSpPr>
            <p:nvPr/>
          </p:nvSpPr>
          <p:spPr bwMode="auto">
            <a:xfrm>
              <a:off x="4301" y="2056"/>
              <a:ext cx="1013" cy="69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9050" algn="ctr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8614" name="Rectangle 22"/>
            <p:cNvSpPr>
              <a:spLocks noChangeArrowheads="1"/>
            </p:cNvSpPr>
            <p:nvPr/>
          </p:nvSpPr>
          <p:spPr bwMode="auto">
            <a:xfrm>
              <a:off x="4301" y="1130"/>
              <a:ext cx="1013" cy="925"/>
            </a:xfrm>
            <a:prstGeom prst="rect">
              <a:avLst/>
            </a:prstGeom>
            <a:solidFill>
              <a:srgbClr val="FFC58B"/>
            </a:solidFill>
            <a:ln w="19050" algn="ctr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8615" name="Line 23"/>
            <p:cNvSpPr>
              <a:spLocks noChangeShapeType="1"/>
            </p:cNvSpPr>
            <p:nvPr/>
          </p:nvSpPr>
          <p:spPr bwMode="auto">
            <a:xfrm>
              <a:off x="4301" y="1456"/>
              <a:ext cx="1013" cy="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8616" name="Text Box 24"/>
            <p:cNvSpPr txBox="1">
              <a:spLocks noChangeArrowheads="1"/>
            </p:cNvSpPr>
            <p:nvPr/>
          </p:nvSpPr>
          <p:spPr bwMode="auto">
            <a:xfrm>
              <a:off x="4535" y="1563"/>
              <a:ext cx="56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孔隙</a:t>
              </a:r>
            </a:p>
          </p:txBody>
        </p:sp>
        <p:sp>
          <p:nvSpPr>
            <p:cNvPr id="1518617" name="Text Box 25"/>
            <p:cNvSpPr txBox="1">
              <a:spLocks noChangeArrowheads="1"/>
            </p:cNvSpPr>
            <p:nvPr/>
          </p:nvSpPr>
          <p:spPr bwMode="auto">
            <a:xfrm>
              <a:off x="4554" y="2114"/>
              <a:ext cx="61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固体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颗粒</a:t>
              </a:r>
            </a:p>
          </p:txBody>
        </p:sp>
        <p:sp>
          <p:nvSpPr>
            <p:cNvPr id="1518618" name="Line 26"/>
            <p:cNvSpPr>
              <a:spLocks noChangeShapeType="1"/>
            </p:cNvSpPr>
            <p:nvPr/>
          </p:nvSpPr>
          <p:spPr bwMode="auto">
            <a:xfrm>
              <a:off x="4154" y="1474"/>
              <a:ext cx="0" cy="5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18619" name="Text Box 27"/>
            <p:cNvSpPr txBox="1">
              <a:spLocks noChangeArrowheads="1"/>
            </p:cNvSpPr>
            <p:nvPr/>
          </p:nvSpPr>
          <p:spPr bwMode="auto">
            <a:xfrm>
              <a:off x="3908" y="1582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</a:p>
          </p:txBody>
        </p:sp>
      </p:grpSp>
      <p:graphicFrame>
        <p:nvGraphicFramePr>
          <p:cNvPr id="1518620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932863"/>
              </p:ext>
            </p:extLst>
          </p:nvPr>
        </p:nvGraphicFramePr>
        <p:xfrm>
          <a:off x="2924175" y="661988"/>
          <a:ext cx="1366838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969" name="Microsoft 公式 3.0" r:id="rId4" imgW="571320" imgH="406080" progId="Equation.3">
                  <p:embed/>
                </p:oleObj>
              </mc:Choice>
              <mc:Fallback>
                <p:oleObj name="Microsoft 公式 3.0" r:id="rId4" imgW="571320" imgH="4060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661988"/>
                        <a:ext cx="1366838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862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5086159"/>
              </p:ext>
            </p:extLst>
          </p:nvPr>
        </p:nvGraphicFramePr>
        <p:xfrm>
          <a:off x="2762250" y="1665288"/>
          <a:ext cx="156210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970" name="Microsoft 公式 3.0" r:id="rId6" imgW="596880" imgH="431640" progId="Equation.3">
                  <p:embed/>
                </p:oleObj>
              </mc:Choice>
              <mc:Fallback>
                <p:oleObj name="Microsoft 公式 3.0" r:id="rId6" imgW="596880" imgH="43164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0" y="1665288"/>
                        <a:ext cx="1562100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862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182344"/>
              </p:ext>
            </p:extLst>
          </p:nvPr>
        </p:nvGraphicFramePr>
        <p:xfrm>
          <a:off x="652463" y="2970213"/>
          <a:ext cx="2006600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971" name="Microsoft 公式 3.0" r:id="rId8" imgW="838080" imgH="444240" progId="Equation.3">
                  <p:embed/>
                </p:oleObj>
              </mc:Choice>
              <mc:Fallback>
                <p:oleObj name="Microsoft 公式 3.0" r:id="rId8" imgW="838080" imgH="44424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3" y="2970213"/>
                        <a:ext cx="2006600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8623" name="AutoShape 31"/>
          <p:cNvSpPr>
            <a:spLocks noChangeArrowheads="1"/>
          </p:cNvSpPr>
          <p:nvPr/>
        </p:nvSpPr>
        <p:spPr bwMode="auto">
          <a:xfrm>
            <a:off x="2803525" y="3246438"/>
            <a:ext cx="560388" cy="457200"/>
          </a:xfrm>
          <a:prstGeom prst="homePlate">
            <a:avLst>
              <a:gd name="adj" fmla="val 30642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-9526" y="0"/>
            <a:ext cx="46614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</a:rPr>
              <a:t>维压缩性及其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- 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lang="en-US" altLang="zh-CN" sz="2000" b="1" kern="900" spc="-140" dirty="0">
              <a:solidFill>
                <a:srgbClr val="C00000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858147"/>
              </p:ext>
            </p:extLst>
          </p:nvPr>
        </p:nvGraphicFramePr>
        <p:xfrm>
          <a:off x="3532188" y="2955925"/>
          <a:ext cx="1731962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972" name="Microsoft 公式 3.0" r:id="rId10" imgW="723600" imgH="406080" progId="Equation.3">
                  <p:embed/>
                </p:oleObj>
              </mc:Choice>
              <mc:Fallback>
                <p:oleObj name="Microsoft 公式 3.0" r:id="rId10" imgW="72360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2188" y="2955925"/>
                        <a:ext cx="1731962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295496"/>
              </p:ext>
            </p:extLst>
          </p:nvPr>
        </p:nvGraphicFramePr>
        <p:xfrm>
          <a:off x="2763838" y="4314825"/>
          <a:ext cx="2643187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973" name="Microsoft 公式 3.0" r:id="rId12" imgW="1104840" imgH="444240" progId="Equation.3">
                  <p:embed/>
                </p:oleObj>
              </mc:Choice>
              <mc:Fallback>
                <p:oleObj name="Microsoft 公式 3.0" r:id="rId12" imgW="11048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838" y="4314825"/>
                        <a:ext cx="2643187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1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1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151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1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1000"/>
                                        <p:tgtEl>
                                          <p:spTgt spid="151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51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51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18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8595" grpId="0"/>
      <p:bldP spid="1518596" grpId="0"/>
      <p:bldP spid="1518599" grpId="0"/>
      <p:bldP spid="15186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9682" name="Group 66"/>
          <p:cNvGrpSpPr>
            <a:grpSpLocks/>
          </p:cNvGrpSpPr>
          <p:nvPr/>
        </p:nvGrpSpPr>
        <p:grpSpPr bwMode="auto">
          <a:xfrm>
            <a:off x="347663" y="720725"/>
            <a:ext cx="4060825" cy="4792663"/>
            <a:chOff x="219" y="454"/>
            <a:chExt cx="2558" cy="3019"/>
          </a:xfrm>
        </p:grpSpPr>
        <p:sp>
          <p:nvSpPr>
            <p:cNvPr id="1519668" name="Text Box 52"/>
            <p:cNvSpPr txBox="1">
              <a:spLocks noChangeArrowheads="1"/>
            </p:cNvSpPr>
            <p:nvPr/>
          </p:nvSpPr>
          <p:spPr bwMode="auto">
            <a:xfrm>
              <a:off x="991" y="1444"/>
              <a:ext cx="38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err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r>
                <a:rPr kumimoji="1" lang="en-US" altLang="zh-CN" sz="2000" b="1" baseline="-25000" dirty="0" err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endParaRPr kumimoji="1" lang="en-US" altLang="zh-CN" sz="2000" b="1" baseline="-25000" dirty="0">
                <a:solidFill>
                  <a:srgbClr val="000000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19620" name="Rectangle 4"/>
            <p:cNvSpPr>
              <a:spLocks noChangeArrowheads="1"/>
            </p:cNvSpPr>
            <p:nvPr/>
          </p:nvSpPr>
          <p:spPr bwMode="auto">
            <a:xfrm>
              <a:off x="219" y="454"/>
              <a:ext cx="2558" cy="30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19621" name="Freeform 5"/>
            <p:cNvSpPr>
              <a:spLocks noChangeAspect="1"/>
            </p:cNvSpPr>
            <p:nvPr/>
          </p:nvSpPr>
          <p:spPr bwMode="auto">
            <a:xfrm>
              <a:off x="796" y="938"/>
              <a:ext cx="1221" cy="1062"/>
            </a:xfrm>
            <a:custGeom>
              <a:avLst/>
              <a:gdLst>
                <a:gd name="T0" fmla="*/ 1221 w 1221"/>
                <a:gd name="T1" fmla="*/ 1062 h 1062"/>
                <a:gd name="T2" fmla="*/ 1116 w 1221"/>
                <a:gd name="T3" fmla="*/ 855 h 1062"/>
                <a:gd name="T4" fmla="*/ 980 w 1221"/>
                <a:gd name="T5" fmla="*/ 617 h 1062"/>
                <a:gd name="T6" fmla="*/ 864 w 1221"/>
                <a:gd name="T7" fmla="*/ 450 h 1062"/>
                <a:gd name="T8" fmla="*/ 672 w 1221"/>
                <a:gd name="T9" fmla="*/ 255 h 1062"/>
                <a:gd name="T10" fmla="*/ 471 w 1221"/>
                <a:gd name="T11" fmla="*/ 132 h 1062"/>
                <a:gd name="T12" fmla="*/ 216 w 1221"/>
                <a:gd name="T13" fmla="*/ 36 h 1062"/>
                <a:gd name="T14" fmla="*/ 0 w 1221"/>
                <a:gd name="T15" fmla="*/ 0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1" h="1062">
                  <a:moveTo>
                    <a:pt x="1221" y="1062"/>
                  </a:moveTo>
                  <a:cubicBezTo>
                    <a:pt x="1203" y="1027"/>
                    <a:pt x="1156" y="929"/>
                    <a:pt x="1116" y="855"/>
                  </a:cubicBezTo>
                  <a:cubicBezTo>
                    <a:pt x="1076" y="781"/>
                    <a:pt x="1022" y="685"/>
                    <a:pt x="980" y="617"/>
                  </a:cubicBezTo>
                  <a:cubicBezTo>
                    <a:pt x="938" y="549"/>
                    <a:pt x="915" y="510"/>
                    <a:pt x="864" y="450"/>
                  </a:cubicBezTo>
                  <a:cubicBezTo>
                    <a:pt x="813" y="390"/>
                    <a:pt x="737" y="308"/>
                    <a:pt x="672" y="255"/>
                  </a:cubicBezTo>
                  <a:cubicBezTo>
                    <a:pt x="607" y="202"/>
                    <a:pt x="547" y="168"/>
                    <a:pt x="471" y="132"/>
                  </a:cubicBezTo>
                  <a:cubicBezTo>
                    <a:pt x="395" y="96"/>
                    <a:pt x="295" y="58"/>
                    <a:pt x="216" y="36"/>
                  </a:cubicBezTo>
                  <a:cubicBezTo>
                    <a:pt x="137" y="14"/>
                    <a:pt x="45" y="7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8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9623" name="Freeform 7"/>
            <p:cNvSpPr>
              <a:spLocks noChangeAspect="1"/>
            </p:cNvSpPr>
            <p:nvPr/>
          </p:nvSpPr>
          <p:spPr bwMode="auto">
            <a:xfrm>
              <a:off x="616" y="655"/>
              <a:ext cx="1" cy="2251"/>
            </a:xfrm>
            <a:custGeom>
              <a:avLst/>
              <a:gdLst>
                <a:gd name="T0" fmla="*/ 0 w 1"/>
                <a:gd name="T1" fmla="*/ 0 h 1970"/>
                <a:gd name="T2" fmla="*/ 0 w 1"/>
                <a:gd name="T3" fmla="*/ 1970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970">
                  <a:moveTo>
                    <a:pt x="0" y="0"/>
                  </a:moveTo>
                  <a:lnTo>
                    <a:pt x="0" y="1970"/>
                  </a:lnTo>
                </a:path>
              </a:pathLst>
            </a:custGeom>
            <a:solidFill>
              <a:srgbClr val="008000"/>
            </a:solidFill>
            <a:ln w="19050">
              <a:solidFill>
                <a:srgbClr val="000000"/>
              </a:solidFill>
              <a:miter lim="800000"/>
              <a:headEnd type="arrow" w="med" len="med"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9624" name="Line 8"/>
            <p:cNvSpPr>
              <a:spLocks noChangeShapeType="1"/>
            </p:cNvSpPr>
            <p:nvPr/>
          </p:nvSpPr>
          <p:spPr bwMode="auto">
            <a:xfrm>
              <a:off x="624" y="2470"/>
              <a:ext cx="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25" name="Line 9"/>
            <p:cNvSpPr>
              <a:spLocks noChangeShapeType="1"/>
            </p:cNvSpPr>
            <p:nvPr/>
          </p:nvSpPr>
          <p:spPr bwMode="auto">
            <a:xfrm>
              <a:off x="624" y="2010"/>
              <a:ext cx="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26" name="Line 10"/>
            <p:cNvSpPr>
              <a:spLocks noChangeShapeType="1"/>
            </p:cNvSpPr>
            <p:nvPr/>
          </p:nvSpPr>
          <p:spPr bwMode="auto">
            <a:xfrm>
              <a:off x="624" y="1568"/>
              <a:ext cx="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27" name="Line 11"/>
            <p:cNvSpPr>
              <a:spLocks noChangeShapeType="1"/>
            </p:cNvSpPr>
            <p:nvPr/>
          </p:nvSpPr>
          <p:spPr bwMode="auto">
            <a:xfrm>
              <a:off x="618" y="1122"/>
              <a:ext cx="4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28" name="Freeform 12"/>
            <p:cNvSpPr>
              <a:spLocks noChangeAspect="1"/>
            </p:cNvSpPr>
            <p:nvPr/>
          </p:nvSpPr>
          <p:spPr bwMode="auto">
            <a:xfrm>
              <a:off x="608" y="2906"/>
              <a:ext cx="2056" cy="3"/>
            </a:xfrm>
            <a:custGeom>
              <a:avLst/>
              <a:gdLst>
                <a:gd name="T0" fmla="*/ 0 w 2229"/>
                <a:gd name="T1" fmla="*/ 0 h 3"/>
                <a:gd name="T2" fmla="*/ 2229 w 2229"/>
                <a:gd name="T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9" h="3">
                  <a:moveTo>
                    <a:pt x="0" y="0"/>
                  </a:moveTo>
                  <a:lnTo>
                    <a:pt x="2229" y="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miter lim="800000"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9629" name="Line 13"/>
            <p:cNvSpPr>
              <a:spLocks noChangeShapeType="1"/>
            </p:cNvSpPr>
            <p:nvPr/>
          </p:nvSpPr>
          <p:spPr bwMode="auto">
            <a:xfrm>
              <a:off x="1047" y="2853"/>
              <a:ext cx="0" cy="5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30" name="Line 14"/>
            <p:cNvSpPr>
              <a:spLocks noChangeShapeType="1"/>
            </p:cNvSpPr>
            <p:nvPr/>
          </p:nvSpPr>
          <p:spPr bwMode="auto">
            <a:xfrm>
              <a:off x="2275" y="2853"/>
              <a:ext cx="0" cy="5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32" name="Text Box 16"/>
            <p:cNvSpPr txBox="1">
              <a:spLocks noChangeArrowheads="1"/>
            </p:cNvSpPr>
            <p:nvPr/>
          </p:nvSpPr>
          <p:spPr bwMode="auto">
            <a:xfrm>
              <a:off x="883" y="2974"/>
              <a:ext cx="242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100</a:t>
              </a:r>
            </a:p>
          </p:txBody>
        </p:sp>
        <p:sp>
          <p:nvSpPr>
            <p:cNvPr id="1519633" name="Text Box 17"/>
            <p:cNvSpPr txBox="1">
              <a:spLocks noChangeArrowheads="1"/>
            </p:cNvSpPr>
            <p:nvPr/>
          </p:nvSpPr>
          <p:spPr bwMode="auto">
            <a:xfrm>
              <a:off x="2184" y="2977"/>
              <a:ext cx="323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1000</a:t>
              </a:r>
            </a:p>
          </p:txBody>
        </p:sp>
        <p:sp>
          <p:nvSpPr>
            <p:cNvPr id="1519635" name="Text Box 19"/>
            <p:cNvSpPr txBox="1">
              <a:spLocks noChangeArrowheads="1"/>
            </p:cNvSpPr>
            <p:nvPr/>
          </p:nvSpPr>
          <p:spPr bwMode="auto">
            <a:xfrm>
              <a:off x="273" y="2338"/>
              <a:ext cx="31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0.6</a:t>
              </a:r>
            </a:p>
          </p:txBody>
        </p:sp>
        <p:sp>
          <p:nvSpPr>
            <p:cNvPr id="1519636" name="Text Box 20"/>
            <p:cNvSpPr txBox="1">
              <a:spLocks noChangeArrowheads="1"/>
            </p:cNvSpPr>
            <p:nvPr/>
          </p:nvSpPr>
          <p:spPr bwMode="auto">
            <a:xfrm>
              <a:off x="279" y="1871"/>
              <a:ext cx="31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0.7</a:t>
              </a:r>
            </a:p>
          </p:txBody>
        </p:sp>
        <p:sp>
          <p:nvSpPr>
            <p:cNvPr id="1519637" name="Text Box 21"/>
            <p:cNvSpPr txBox="1">
              <a:spLocks noChangeArrowheads="1"/>
            </p:cNvSpPr>
            <p:nvPr/>
          </p:nvSpPr>
          <p:spPr bwMode="auto">
            <a:xfrm>
              <a:off x="276" y="1443"/>
              <a:ext cx="31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0.8</a:t>
              </a:r>
            </a:p>
          </p:txBody>
        </p:sp>
        <p:sp>
          <p:nvSpPr>
            <p:cNvPr id="1519638" name="Text Box 22"/>
            <p:cNvSpPr txBox="1">
              <a:spLocks noChangeArrowheads="1"/>
            </p:cNvSpPr>
            <p:nvPr/>
          </p:nvSpPr>
          <p:spPr bwMode="auto">
            <a:xfrm>
              <a:off x="282" y="1000"/>
              <a:ext cx="31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0.9</a:t>
              </a:r>
            </a:p>
          </p:txBody>
        </p:sp>
        <p:sp>
          <p:nvSpPr>
            <p:cNvPr id="1519639" name="Text Box 23"/>
            <p:cNvSpPr txBox="1">
              <a:spLocks noChangeArrowheads="1"/>
            </p:cNvSpPr>
            <p:nvPr/>
          </p:nvSpPr>
          <p:spPr bwMode="auto">
            <a:xfrm>
              <a:off x="298" y="506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 dirty="0">
                  <a:solidFill>
                    <a:srgbClr val="000000"/>
                  </a:solidFill>
                  <a:ea typeface="黑体" pitchFamily="2" charset="-122"/>
                  <a:cs typeface="Times New Roman" panose="02020603050405020304" pitchFamily="18" charset="0"/>
                  <a:sym typeface="Symbol" pitchFamily="18" charset="2"/>
                </a:rPr>
                <a:t>e</a:t>
              </a:r>
            </a:p>
          </p:txBody>
        </p:sp>
        <p:sp>
          <p:nvSpPr>
            <p:cNvPr id="1519640" name="Freeform 24"/>
            <p:cNvSpPr>
              <a:spLocks noChangeAspect="1"/>
            </p:cNvSpPr>
            <p:nvPr/>
          </p:nvSpPr>
          <p:spPr bwMode="auto">
            <a:xfrm>
              <a:off x="1084" y="1730"/>
              <a:ext cx="929" cy="260"/>
            </a:xfrm>
            <a:custGeom>
              <a:avLst/>
              <a:gdLst>
                <a:gd name="T0" fmla="*/ 929 w 929"/>
                <a:gd name="T1" fmla="*/ 260 h 260"/>
                <a:gd name="T2" fmla="*/ 790 w 929"/>
                <a:gd name="T3" fmla="*/ 243 h 260"/>
                <a:gd name="T4" fmla="*/ 624 w 929"/>
                <a:gd name="T5" fmla="*/ 211 h 260"/>
                <a:gd name="T6" fmla="*/ 456 w 929"/>
                <a:gd name="T7" fmla="*/ 167 h 260"/>
                <a:gd name="T8" fmla="*/ 282 w 929"/>
                <a:gd name="T9" fmla="*/ 113 h 260"/>
                <a:gd name="T10" fmla="*/ 170 w 929"/>
                <a:gd name="T11" fmla="*/ 71 h 260"/>
                <a:gd name="T12" fmla="*/ 94 w 929"/>
                <a:gd name="T13" fmla="*/ 45 h 260"/>
                <a:gd name="T14" fmla="*/ 0 w 929"/>
                <a:gd name="T15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9" h="260">
                  <a:moveTo>
                    <a:pt x="929" y="260"/>
                  </a:moveTo>
                  <a:cubicBezTo>
                    <a:pt x="906" y="257"/>
                    <a:pt x="841" y="251"/>
                    <a:pt x="790" y="243"/>
                  </a:cubicBezTo>
                  <a:cubicBezTo>
                    <a:pt x="739" y="235"/>
                    <a:pt x="680" y="224"/>
                    <a:pt x="624" y="211"/>
                  </a:cubicBezTo>
                  <a:cubicBezTo>
                    <a:pt x="568" y="198"/>
                    <a:pt x="513" y="183"/>
                    <a:pt x="456" y="167"/>
                  </a:cubicBezTo>
                  <a:cubicBezTo>
                    <a:pt x="399" y="151"/>
                    <a:pt x="330" y="129"/>
                    <a:pt x="282" y="113"/>
                  </a:cubicBezTo>
                  <a:cubicBezTo>
                    <a:pt x="234" y="97"/>
                    <a:pt x="201" y="82"/>
                    <a:pt x="170" y="71"/>
                  </a:cubicBezTo>
                  <a:cubicBezTo>
                    <a:pt x="139" y="60"/>
                    <a:pt x="122" y="57"/>
                    <a:pt x="94" y="45"/>
                  </a:cubicBezTo>
                  <a:cubicBezTo>
                    <a:pt x="66" y="33"/>
                    <a:pt x="20" y="9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8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9641" name="Freeform 25"/>
            <p:cNvSpPr>
              <a:spLocks noChangeAspect="1"/>
            </p:cNvSpPr>
            <p:nvPr/>
          </p:nvSpPr>
          <p:spPr bwMode="auto">
            <a:xfrm>
              <a:off x="1096" y="1724"/>
              <a:ext cx="1275" cy="978"/>
            </a:xfrm>
            <a:custGeom>
              <a:avLst/>
              <a:gdLst>
                <a:gd name="T0" fmla="*/ 1275 w 1275"/>
                <a:gd name="T1" fmla="*/ 978 h 978"/>
                <a:gd name="T2" fmla="*/ 1119 w 1275"/>
                <a:gd name="T3" fmla="*/ 669 h 978"/>
                <a:gd name="T4" fmla="*/ 945 w 1275"/>
                <a:gd name="T5" fmla="*/ 423 h 978"/>
                <a:gd name="T6" fmla="*/ 798 w 1275"/>
                <a:gd name="T7" fmla="*/ 273 h 978"/>
                <a:gd name="T8" fmla="*/ 594 w 1275"/>
                <a:gd name="T9" fmla="*/ 156 h 978"/>
                <a:gd name="T10" fmla="*/ 429 w 1275"/>
                <a:gd name="T11" fmla="*/ 93 h 978"/>
                <a:gd name="T12" fmla="*/ 198 w 1275"/>
                <a:gd name="T13" fmla="*/ 30 h 978"/>
                <a:gd name="T14" fmla="*/ 0 w 1275"/>
                <a:gd name="T15" fmla="*/ 0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75" h="978">
                  <a:moveTo>
                    <a:pt x="1275" y="978"/>
                  </a:moveTo>
                  <a:cubicBezTo>
                    <a:pt x="1249" y="927"/>
                    <a:pt x="1174" y="761"/>
                    <a:pt x="1119" y="669"/>
                  </a:cubicBezTo>
                  <a:cubicBezTo>
                    <a:pt x="1064" y="577"/>
                    <a:pt x="998" y="489"/>
                    <a:pt x="945" y="423"/>
                  </a:cubicBezTo>
                  <a:cubicBezTo>
                    <a:pt x="892" y="357"/>
                    <a:pt x="856" y="317"/>
                    <a:pt x="798" y="273"/>
                  </a:cubicBezTo>
                  <a:cubicBezTo>
                    <a:pt x="740" y="229"/>
                    <a:pt x="656" y="186"/>
                    <a:pt x="594" y="156"/>
                  </a:cubicBezTo>
                  <a:cubicBezTo>
                    <a:pt x="532" y="126"/>
                    <a:pt x="495" y="114"/>
                    <a:pt x="429" y="93"/>
                  </a:cubicBezTo>
                  <a:cubicBezTo>
                    <a:pt x="363" y="72"/>
                    <a:pt x="269" y="45"/>
                    <a:pt x="198" y="30"/>
                  </a:cubicBezTo>
                  <a:cubicBezTo>
                    <a:pt x="127" y="15"/>
                    <a:pt x="41" y="6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8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19642" name="Freeform 26"/>
            <p:cNvSpPr>
              <a:spLocks/>
            </p:cNvSpPr>
            <p:nvPr/>
          </p:nvSpPr>
          <p:spPr bwMode="auto">
            <a:xfrm>
              <a:off x="1268" y="632"/>
              <a:ext cx="1188" cy="2190"/>
            </a:xfrm>
            <a:custGeom>
              <a:avLst/>
              <a:gdLst>
                <a:gd name="T0" fmla="*/ 1312 w 1312"/>
                <a:gd name="T1" fmla="*/ 2419 h 2419"/>
                <a:gd name="T2" fmla="*/ 0 w 1312"/>
                <a:gd name="T3" fmla="*/ 0 h 2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12" h="2419">
                  <a:moveTo>
                    <a:pt x="1312" y="2419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0080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43" name="Freeform 27"/>
            <p:cNvSpPr>
              <a:spLocks/>
            </p:cNvSpPr>
            <p:nvPr/>
          </p:nvSpPr>
          <p:spPr bwMode="auto">
            <a:xfrm>
              <a:off x="715" y="1619"/>
              <a:ext cx="1128" cy="339"/>
            </a:xfrm>
            <a:custGeom>
              <a:avLst/>
              <a:gdLst>
                <a:gd name="T0" fmla="*/ 1128 w 1128"/>
                <a:gd name="T1" fmla="*/ 339 h 339"/>
                <a:gd name="T2" fmla="*/ 0 w 1128"/>
                <a:gd name="T3" fmla="*/ 0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28" h="339">
                  <a:moveTo>
                    <a:pt x="1128" y="339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008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45" name="Oval 29"/>
            <p:cNvSpPr>
              <a:spLocks noChangeAspect="1" noChangeArrowheads="1"/>
            </p:cNvSpPr>
            <p:nvPr/>
          </p:nvSpPr>
          <p:spPr bwMode="auto">
            <a:xfrm>
              <a:off x="1470" y="1861"/>
              <a:ext cx="39" cy="43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46" name="Oval 30"/>
            <p:cNvSpPr>
              <a:spLocks noChangeAspect="1" noChangeArrowheads="1"/>
            </p:cNvSpPr>
            <p:nvPr/>
          </p:nvSpPr>
          <p:spPr bwMode="auto">
            <a:xfrm>
              <a:off x="1061" y="1704"/>
              <a:ext cx="39" cy="43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48" name="Oval 32"/>
            <p:cNvSpPr>
              <a:spLocks noChangeAspect="1" noChangeArrowheads="1"/>
            </p:cNvSpPr>
            <p:nvPr/>
          </p:nvSpPr>
          <p:spPr bwMode="auto">
            <a:xfrm>
              <a:off x="1978" y="2079"/>
              <a:ext cx="39" cy="43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49" name="Oval 33"/>
            <p:cNvSpPr>
              <a:spLocks noChangeAspect="1" noChangeArrowheads="1"/>
            </p:cNvSpPr>
            <p:nvPr/>
          </p:nvSpPr>
          <p:spPr bwMode="auto">
            <a:xfrm>
              <a:off x="1454" y="1773"/>
              <a:ext cx="39" cy="43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50" name="Oval 34"/>
            <p:cNvSpPr>
              <a:spLocks noChangeAspect="1" noChangeArrowheads="1"/>
            </p:cNvSpPr>
            <p:nvPr/>
          </p:nvSpPr>
          <p:spPr bwMode="auto">
            <a:xfrm>
              <a:off x="2345" y="2669"/>
              <a:ext cx="39" cy="43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52" name="Oval 36"/>
            <p:cNvSpPr>
              <a:spLocks noChangeAspect="1" noChangeArrowheads="1"/>
            </p:cNvSpPr>
            <p:nvPr/>
          </p:nvSpPr>
          <p:spPr bwMode="auto">
            <a:xfrm>
              <a:off x="806" y="915"/>
              <a:ext cx="39" cy="43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53" name="Oval 37"/>
            <p:cNvSpPr>
              <a:spLocks noChangeAspect="1" noChangeArrowheads="1"/>
            </p:cNvSpPr>
            <p:nvPr/>
          </p:nvSpPr>
          <p:spPr bwMode="auto">
            <a:xfrm>
              <a:off x="1770" y="1557"/>
              <a:ext cx="39" cy="43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54" name="Oval 38"/>
            <p:cNvSpPr>
              <a:spLocks noChangeAspect="1" noChangeArrowheads="1"/>
            </p:cNvSpPr>
            <p:nvPr/>
          </p:nvSpPr>
          <p:spPr bwMode="auto">
            <a:xfrm>
              <a:off x="1543" y="1257"/>
              <a:ext cx="39" cy="43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55" name="Oval 39"/>
            <p:cNvSpPr>
              <a:spLocks noChangeAspect="1" noChangeArrowheads="1"/>
            </p:cNvSpPr>
            <p:nvPr/>
          </p:nvSpPr>
          <p:spPr bwMode="auto">
            <a:xfrm>
              <a:off x="1211" y="1028"/>
              <a:ext cx="39" cy="43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56" name="Oval 40"/>
            <p:cNvSpPr>
              <a:spLocks noChangeAspect="1" noChangeArrowheads="1"/>
            </p:cNvSpPr>
            <p:nvPr/>
          </p:nvSpPr>
          <p:spPr bwMode="auto">
            <a:xfrm>
              <a:off x="1977" y="1951"/>
              <a:ext cx="39" cy="43"/>
            </a:xfrm>
            <a:prstGeom prst="ellipse">
              <a:avLst/>
            </a:prstGeom>
            <a:solidFill>
              <a:srgbClr val="FFFFFF"/>
            </a:solidFill>
            <a:ln w="12700" algn="ctr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59" name="Line 43"/>
            <p:cNvSpPr>
              <a:spLocks noChangeShapeType="1"/>
            </p:cNvSpPr>
            <p:nvPr/>
          </p:nvSpPr>
          <p:spPr bwMode="auto">
            <a:xfrm>
              <a:off x="1356" y="793"/>
              <a:ext cx="147" cy="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60" name="Line 44"/>
            <p:cNvSpPr>
              <a:spLocks noChangeShapeType="1"/>
            </p:cNvSpPr>
            <p:nvPr/>
          </p:nvSpPr>
          <p:spPr bwMode="auto">
            <a:xfrm flipV="1">
              <a:off x="1502" y="791"/>
              <a:ext cx="0" cy="272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61" name="Text Box 45"/>
            <p:cNvSpPr txBox="1">
              <a:spLocks noChangeArrowheads="1"/>
            </p:cNvSpPr>
            <p:nvPr/>
          </p:nvSpPr>
          <p:spPr bwMode="auto">
            <a:xfrm>
              <a:off x="1473" y="778"/>
              <a:ext cx="3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C</a:t>
              </a:r>
              <a:r>
                <a:rPr kumimoji="1" lang="en-US" altLang="zh-CN" sz="2000" b="1" baseline="-25000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c</a:t>
              </a:r>
            </a:p>
          </p:txBody>
        </p:sp>
        <p:sp>
          <p:nvSpPr>
            <p:cNvPr id="1519662" name="Text Box 46"/>
            <p:cNvSpPr txBox="1">
              <a:spLocks noChangeArrowheads="1"/>
            </p:cNvSpPr>
            <p:nvPr/>
          </p:nvSpPr>
          <p:spPr bwMode="auto">
            <a:xfrm>
              <a:off x="1344" y="508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519665" name="Line 49"/>
            <p:cNvSpPr>
              <a:spLocks noChangeShapeType="1"/>
            </p:cNvSpPr>
            <p:nvPr/>
          </p:nvSpPr>
          <p:spPr bwMode="auto">
            <a:xfrm>
              <a:off x="738" y="1624"/>
              <a:ext cx="281" cy="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66" name="Line 50"/>
            <p:cNvSpPr>
              <a:spLocks noChangeShapeType="1"/>
            </p:cNvSpPr>
            <p:nvPr/>
          </p:nvSpPr>
          <p:spPr bwMode="auto">
            <a:xfrm>
              <a:off x="1022" y="1622"/>
              <a:ext cx="0" cy="9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9667" name="Text Box 51"/>
            <p:cNvSpPr txBox="1">
              <a:spLocks noChangeArrowheads="1"/>
            </p:cNvSpPr>
            <p:nvPr/>
          </p:nvSpPr>
          <p:spPr bwMode="auto">
            <a:xfrm>
              <a:off x="729" y="1335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519669" name="Text Box 53"/>
            <p:cNvSpPr txBox="1">
              <a:spLocks noChangeArrowheads="1"/>
            </p:cNvSpPr>
            <p:nvPr/>
          </p:nvSpPr>
          <p:spPr bwMode="auto">
            <a:xfrm>
              <a:off x="1278" y="3121"/>
              <a:ext cx="7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ea typeface="幼圆" pitchFamily="49" charset="-122"/>
                  <a:cs typeface="Times New Roman" panose="02020603050405020304" pitchFamily="18" charset="0"/>
                </a:rPr>
                <a:t>p </a:t>
              </a:r>
              <a:r>
                <a:rPr lang="en-US" altLang="zh-CN" sz="2400" b="1" dirty="0" smtClean="0">
                  <a:ea typeface="幼圆" pitchFamily="49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400" b="1" dirty="0" err="1" smtClean="0">
                  <a:ea typeface="幼圆" pitchFamily="49" charset="-122"/>
                  <a:cs typeface="Times New Roman" panose="02020603050405020304" pitchFamily="18" charset="0"/>
                </a:rPr>
                <a:t>kPa</a:t>
              </a:r>
              <a:r>
                <a:rPr lang="en-US" altLang="zh-CN" sz="2400" b="1" dirty="0" smtClean="0">
                  <a:ea typeface="幼圆" pitchFamily="49" charset="-122"/>
                  <a:cs typeface="Times New Roman" panose="02020603050405020304" pitchFamily="18" charset="0"/>
                </a:rPr>
                <a:t>)</a:t>
              </a:r>
              <a:endParaRPr lang="en-US" altLang="zh-CN" sz="2400" b="1" dirty="0"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519670" name="Rectangle 54"/>
          <p:cNvSpPr>
            <a:spLocks noChangeArrowheads="1"/>
          </p:cNvSpPr>
          <p:nvPr/>
        </p:nvSpPr>
        <p:spPr bwMode="auto">
          <a:xfrm>
            <a:off x="2098860" y="5757339"/>
            <a:ext cx="57324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i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e </a:t>
            </a:r>
            <a:r>
              <a:rPr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– </a:t>
            </a:r>
            <a:r>
              <a:rPr lang="en-US" altLang="zh-CN" sz="4000" b="1" dirty="0" err="1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lg</a:t>
            </a:r>
            <a:r>
              <a:rPr lang="en-US" altLang="zh-CN" sz="4000" b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 </a:t>
            </a:r>
            <a:r>
              <a:rPr lang="en-US" altLang="zh-CN" sz="4000" b="1" i="1" dirty="0" smtClean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p</a:t>
            </a:r>
            <a:r>
              <a:rPr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曲线</a:t>
            </a:r>
            <a:endParaRPr lang="en-US" altLang="zh-CN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grpSp>
        <p:nvGrpSpPr>
          <p:cNvPr id="1519671" name="Group 55"/>
          <p:cNvGrpSpPr>
            <a:grpSpLocks/>
          </p:cNvGrpSpPr>
          <p:nvPr/>
        </p:nvGrpSpPr>
        <p:grpSpPr bwMode="auto">
          <a:xfrm>
            <a:off x="4867275" y="3705639"/>
            <a:ext cx="2971800" cy="933450"/>
            <a:chOff x="3066" y="2379"/>
            <a:chExt cx="1872" cy="588"/>
          </a:xfrm>
        </p:grpSpPr>
        <p:sp>
          <p:nvSpPr>
            <p:cNvPr id="1519672" name="Text Box 56"/>
            <p:cNvSpPr txBox="1">
              <a:spLocks noChangeArrowheads="1"/>
            </p:cNvSpPr>
            <p:nvPr/>
          </p:nvSpPr>
          <p:spPr bwMode="auto">
            <a:xfrm>
              <a:off x="4632" y="2530"/>
              <a:ext cx="30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6000" tIns="36000" rIns="36000" bIns="3600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 dirty="0" err="1">
                  <a:sym typeface="Symbol" pitchFamily="18" charset="2"/>
                </a:rPr>
                <a:t>C</a:t>
              </a:r>
              <a:r>
                <a:rPr kumimoji="1" lang="en-US" altLang="zh-CN" sz="2800" b="1" baseline="-25000" dirty="0" err="1">
                  <a:sym typeface="Symbol" pitchFamily="18" charset="2"/>
                </a:rPr>
                <a:t>e</a:t>
              </a:r>
              <a:endParaRPr kumimoji="1" lang="en-US" altLang="zh-CN" sz="2800" b="1" baseline="-25000" dirty="0">
                <a:sym typeface="Symbol" pitchFamily="18" charset="2"/>
              </a:endParaRPr>
            </a:p>
          </p:txBody>
        </p:sp>
        <p:sp>
          <p:nvSpPr>
            <p:cNvPr id="1519673" name="Text Box 57"/>
            <p:cNvSpPr txBox="1">
              <a:spLocks noChangeArrowheads="1"/>
            </p:cNvSpPr>
            <p:nvPr/>
          </p:nvSpPr>
          <p:spPr bwMode="auto">
            <a:xfrm>
              <a:off x="3066" y="2379"/>
              <a:ext cx="1567" cy="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SzPct val="135000"/>
                <a:buFontTx/>
                <a:buChar char="•"/>
              </a:pPr>
              <a:r>
                <a:rPr kumimoji="1"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 回弹指数</a:t>
              </a:r>
              <a:br>
                <a:rPr kumimoji="1"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</a:br>
              <a:r>
                <a:rPr kumimoji="1"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 （再压缩指数）</a:t>
              </a:r>
            </a:p>
          </p:txBody>
        </p:sp>
      </p:grpSp>
      <p:sp>
        <p:nvSpPr>
          <p:cNvPr id="1519674" name="Text Box 58"/>
          <p:cNvSpPr txBox="1">
            <a:spLocks noChangeArrowheads="1"/>
          </p:cNvSpPr>
          <p:nvPr/>
        </p:nvSpPr>
        <p:spPr bwMode="auto">
          <a:xfrm>
            <a:off x="5554663" y="4667664"/>
            <a:ext cx="3024187" cy="1042987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 dirty="0" err="1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C</a:t>
            </a:r>
            <a:r>
              <a:rPr kumimoji="1" lang="en-US" altLang="zh-CN" sz="2400" b="1" baseline="-25000" dirty="0" err="1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e</a:t>
            </a:r>
            <a:r>
              <a:rPr kumimoji="1" lang="en-US" altLang="zh-CN" sz="2800" b="1" dirty="0">
                <a:solidFill>
                  <a:schemeClr val="bg1">
                    <a:lumMod val="95000"/>
                  </a:schemeClr>
                </a:solidFill>
                <a:latin typeface="宋体" charset="-122"/>
                <a:sym typeface="Symbol" pitchFamily="18" charset="2"/>
              </a:rPr>
              <a:t> </a:t>
            </a:r>
            <a:r>
              <a:rPr kumimoji="1" lang="en-US" altLang="zh-CN" sz="2400" b="1" dirty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&lt;&lt;  </a:t>
            </a:r>
            <a:r>
              <a:rPr kumimoji="1" lang="en-US" altLang="zh-CN" sz="2400" b="1" i="1" dirty="0" smtClean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C</a:t>
            </a:r>
            <a:r>
              <a:rPr kumimoji="1" lang="en-US" altLang="zh-CN" sz="2400" b="1" baseline="-25000" dirty="0" smtClean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c</a:t>
            </a:r>
            <a:endParaRPr kumimoji="1" lang="zh-CN" altLang="en-US" sz="2400" b="1" dirty="0">
              <a:solidFill>
                <a:schemeClr val="bg1">
                  <a:lumMod val="95000"/>
                </a:schemeClr>
              </a:solidFill>
              <a:latin typeface="宋体" charset="-122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latin typeface="宋体" charset="-122"/>
                <a:sym typeface="Symbol" pitchFamily="18" charset="2"/>
              </a:rPr>
              <a:t>一般</a:t>
            </a:r>
            <a:r>
              <a:rPr kumimoji="1" lang="en-US" altLang="zh-CN" sz="2400" b="1" i="1" dirty="0" err="1" smtClean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C</a:t>
            </a:r>
            <a:r>
              <a:rPr kumimoji="1" lang="en-US" altLang="zh-CN" sz="2400" b="1" baseline="-25000" dirty="0" err="1" smtClean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e</a:t>
            </a:r>
            <a:r>
              <a:rPr kumimoji="1" lang="en-US" altLang="zh-CN" sz="2400" b="1" i="1" baseline="-25000" dirty="0" smtClean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 </a:t>
            </a:r>
            <a:r>
              <a:rPr kumimoji="1" lang="en-US" altLang="zh-CN" sz="2400" b="1" dirty="0" smtClean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≈ 0.1-0.2</a:t>
            </a:r>
            <a:r>
              <a:rPr kumimoji="1" lang="en-US" altLang="zh-CN" sz="2400" b="1" i="1" dirty="0" smtClean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C</a:t>
            </a:r>
            <a:r>
              <a:rPr kumimoji="1" lang="en-US" altLang="zh-CN" sz="2400" b="1" baseline="-25000" dirty="0" smtClean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c</a:t>
            </a:r>
            <a:endParaRPr kumimoji="1" lang="zh-CN" altLang="en-US" sz="2400" b="1" baseline="-25000" dirty="0">
              <a:solidFill>
                <a:schemeClr val="bg1">
                  <a:lumMod val="95000"/>
                </a:schemeClr>
              </a:solidFill>
              <a:sym typeface="Symbol" pitchFamily="18" charset="2"/>
            </a:endParaRPr>
          </a:p>
        </p:txBody>
      </p:sp>
      <p:sp>
        <p:nvSpPr>
          <p:cNvPr id="1519675" name="Rectangle 59"/>
          <p:cNvSpPr>
            <a:spLocks noChangeArrowheads="1"/>
          </p:cNvSpPr>
          <p:nvPr/>
        </p:nvSpPr>
        <p:spPr bwMode="auto">
          <a:xfrm>
            <a:off x="4670425" y="595313"/>
            <a:ext cx="4103688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特点：</a:t>
            </a: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在压力较大部分，</a:t>
            </a:r>
            <a:b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</a:b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        接近直线段</a:t>
            </a:r>
          </a:p>
        </p:txBody>
      </p:sp>
      <p:sp>
        <p:nvSpPr>
          <p:cNvPr id="1519676" name="Text Box 60"/>
          <p:cNvSpPr txBox="1">
            <a:spLocks noChangeArrowheads="1"/>
          </p:cNvSpPr>
          <p:nvPr/>
        </p:nvSpPr>
        <p:spPr bwMode="auto">
          <a:xfrm>
            <a:off x="4697413" y="2362200"/>
            <a:ext cx="1573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指标：</a:t>
            </a:r>
          </a:p>
        </p:txBody>
      </p:sp>
      <p:sp>
        <p:nvSpPr>
          <p:cNvPr id="1519677" name="AutoShape 61"/>
          <p:cNvSpPr>
            <a:spLocks noChangeArrowheads="1"/>
          </p:cNvSpPr>
          <p:nvPr/>
        </p:nvSpPr>
        <p:spPr bwMode="auto">
          <a:xfrm>
            <a:off x="5286375" y="1606550"/>
            <a:ext cx="531621" cy="427038"/>
          </a:xfrm>
          <a:prstGeom prst="homePlate">
            <a:avLst>
              <a:gd name="adj" fmla="val 3280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9678" name="Text Box 62"/>
          <p:cNvSpPr txBox="1">
            <a:spLocks noChangeArrowheads="1"/>
          </p:cNvSpPr>
          <p:nvPr/>
        </p:nvSpPr>
        <p:spPr bwMode="auto">
          <a:xfrm>
            <a:off x="5989638" y="1589088"/>
            <a:ext cx="2992437" cy="4572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反映了土的应力历史</a:t>
            </a:r>
          </a:p>
        </p:txBody>
      </p:sp>
      <p:grpSp>
        <p:nvGrpSpPr>
          <p:cNvPr id="1519679" name="Group 63"/>
          <p:cNvGrpSpPr>
            <a:grpSpLocks/>
          </p:cNvGrpSpPr>
          <p:nvPr/>
        </p:nvGrpSpPr>
        <p:grpSpPr bwMode="auto">
          <a:xfrm>
            <a:off x="4857750" y="2784476"/>
            <a:ext cx="4144613" cy="950913"/>
            <a:chOff x="3060" y="1754"/>
            <a:chExt cx="2494" cy="599"/>
          </a:xfrm>
        </p:grpSpPr>
        <p:sp>
          <p:nvSpPr>
            <p:cNvPr id="1519680" name="Text Box 64"/>
            <p:cNvSpPr txBox="1">
              <a:spLocks noChangeArrowheads="1"/>
            </p:cNvSpPr>
            <p:nvPr/>
          </p:nvSpPr>
          <p:spPr bwMode="auto">
            <a:xfrm>
              <a:off x="3060" y="1883"/>
              <a:ext cx="10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A50021"/>
                </a:buClr>
                <a:buSzPct val="125000"/>
                <a:buFontTx/>
                <a:buChar char="•"/>
              </a:pPr>
              <a:r>
                <a:rPr kumimoji="1"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 压缩指数</a:t>
              </a:r>
            </a:p>
          </p:txBody>
        </p:sp>
        <p:graphicFrame>
          <p:nvGraphicFramePr>
            <p:cNvPr id="1519681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0359073"/>
                </p:ext>
              </p:extLst>
            </p:nvPr>
          </p:nvGraphicFramePr>
          <p:xfrm>
            <a:off x="4195" y="1754"/>
            <a:ext cx="1359" cy="5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19752" name="Microsoft 公式 3.0" r:id="rId3" imgW="901440" imgH="431640" progId="Equation.3">
                    <p:embed/>
                  </p:oleObj>
                </mc:Choice>
                <mc:Fallback>
                  <p:oleObj name="Microsoft 公式 3.0" r:id="rId3" imgW="901440" imgH="43164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1754"/>
                          <a:ext cx="1359" cy="5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7" name="Text Box 7"/>
          <p:cNvSpPr txBox="1">
            <a:spLocks noChangeArrowheads="1"/>
          </p:cNvSpPr>
          <p:nvPr/>
        </p:nvSpPr>
        <p:spPr bwMode="auto">
          <a:xfrm>
            <a:off x="-9526" y="0"/>
            <a:ext cx="46614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</a:rPr>
              <a:t>维压缩性及其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- 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altLang="zh-CN" sz="2000" b="1" kern="900" spc="-140" dirty="0" err="1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lg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lang="en-US" altLang="zh-CN" sz="2000" b="1" kern="900" spc="-140" dirty="0">
              <a:solidFill>
                <a:srgbClr val="C00000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1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9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519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9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19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19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19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19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19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19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19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9674" grpId="0" animBg="1"/>
      <p:bldP spid="1519675" grpId="0" build="p" autoUpdateAnimBg="0"/>
      <p:bldP spid="1519676" grpId="0"/>
      <p:bldP spid="1519677" grpId="0" animBg="1"/>
      <p:bldP spid="151967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2221" name="Group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578468"/>
              </p:ext>
            </p:extLst>
          </p:nvPr>
        </p:nvGraphicFramePr>
        <p:xfrm>
          <a:off x="392113" y="1363663"/>
          <a:ext cx="8453437" cy="3365501"/>
        </p:xfrm>
        <a:graphic>
          <a:graphicData uri="http://schemas.openxmlformats.org/drawingml/2006/table">
            <a:tbl>
              <a:tblPr/>
              <a:tblGrid>
                <a:gridCol w="156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指标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名称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定义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曲线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5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25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25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幼圆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侧限压缩模量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</a:t>
                      </a:r>
                      <a:r>
                        <a:rPr kumimoji="0" lang="en-US" altLang="zh-CN" sz="25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p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</a:t>
                      </a:r>
                      <a:r>
                        <a:rPr kumimoji="0" lang="en-US" altLang="zh-CN" sz="25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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  </a:t>
                      </a:r>
                      <a:r>
                        <a:rPr kumimoji="1" lang="en-US" altLang="zh-CN" sz="2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 </a:t>
                      </a:r>
                      <a:r>
                        <a:rPr kumimoji="1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- </a:t>
                      </a:r>
                      <a:r>
                        <a:rPr kumimoji="1" lang="en-US" altLang="zh-CN" sz="2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p</a:t>
                      </a:r>
                      <a:r>
                        <a:rPr kumimoji="1" lang="zh-CN" altLang="en-US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曲线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5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5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v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体积压缩系数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</a:t>
                      </a:r>
                      <a:r>
                        <a:rPr kumimoji="0" lang="zh-CN" altLang="en-US" sz="25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</a:t>
                      </a:r>
                      <a:r>
                        <a:rPr kumimoji="0" lang="en-US" altLang="zh-CN" sz="25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v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</a:t>
                      </a:r>
                      <a:r>
                        <a:rPr kumimoji="0" lang="en-US" altLang="zh-CN" sz="25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5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压缩系数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</a:t>
                      </a:r>
                      <a:r>
                        <a:rPr kumimoji="0" lang="en-US" altLang="zh-CN" sz="25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</a:t>
                      </a:r>
                      <a:r>
                        <a:rPr kumimoji="0" lang="en-US" altLang="zh-CN" sz="25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p</a:t>
                      </a:r>
                      <a:endParaRPr kumimoji="0" lang="en-US" altLang="zh-CN" sz="2500" b="1" i="1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幼圆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e </a:t>
                      </a:r>
                      <a:r>
                        <a:rPr kumimoji="1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- </a:t>
                      </a:r>
                      <a:r>
                        <a:rPr kumimoji="1" lang="en-US" altLang="zh-CN" sz="2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p</a:t>
                      </a:r>
                      <a:r>
                        <a:rPr kumimoji="1" lang="zh-CN" altLang="en-US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曲线</a:t>
                      </a:r>
                      <a:endParaRPr kumimoji="1" lang="en-US" altLang="zh-CN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幼圆" pitchFamily="49" charset="-122"/>
                        <a:cs typeface="Times New Roman" panose="02020603050405020304" pitchFamily="18" charset="0"/>
                        <a:sym typeface="Symbol" pitchFamily="18" charset="2"/>
                      </a:endParaRP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5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5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压缩指数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</a:t>
                      </a:r>
                      <a:r>
                        <a:rPr kumimoji="0" lang="en-US" altLang="zh-CN" sz="25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(</a:t>
                      </a:r>
                      <a:r>
                        <a:rPr kumimoji="0" lang="en-US" altLang="zh-CN" sz="25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lg</a:t>
                      </a:r>
                      <a:r>
                        <a:rPr kumimoji="0" lang="en-US" altLang="zh-CN" sz="25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p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)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e </a:t>
                      </a:r>
                      <a:r>
                        <a:rPr kumimoji="1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- </a:t>
                      </a:r>
                      <a:r>
                        <a:rPr kumimoji="1" lang="en-US" altLang="zh-CN" sz="2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lg</a:t>
                      </a:r>
                      <a:r>
                        <a:rPr kumimoji="1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(</a:t>
                      </a:r>
                      <a:r>
                        <a:rPr kumimoji="1" lang="en-US" altLang="zh-CN" sz="2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p</a:t>
                      </a:r>
                      <a:r>
                        <a:rPr kumimoji="1" lang="en-US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)</a:t>
                      </a:r>
                      <a:r>
                        <a:rPr kumimoji="1" lang="zh-CN" altLang="en-US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曲线</a:t>
                      </a:r>
                      <a:endParaRPr kumimoji="1" lang="en-US" altLang="zh-CN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幼圆" pitchFamily="49" charset="-122"/>
                        <a:cs typeface="Times New Roman" panose="02020603050405020304" pitchFamily="18" charset="0"/>
                        <a:sym typeface="Symbol" pitchFamily="18" charset="2"/>
                      </a:endParaRP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5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5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25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幼圆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5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回弹指数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1000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</a:t>
                      </a:r>
                      <a:r>
                        <a:rPr kumimoji="0" lang="en-US" altLang="zh-CN" sz="25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(</a:t>
                      </a:r>
                      <a:r>
                        <a:rPr kumimoji="0" lang="en-US" altLang="zh-CN" sz="25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lg</a:t>
                      </a:r>
                      <a:r>
                        <a:rPr kumimoji="0" lang="en-US" altLang="zh-CN" sz="25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p</a:t>
                      </a:r>
                      <a:r>
                        <a:rPr kumimoji="0" lang="en-US" altLang="zh-CN" sz="25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Times New Roman" panose="02020603050405020304" pitchFamily="18" charset="0"/>
                          <a:ea typeface="幼圆" pitchFamily="49" charset="-122"/>
                          <a:cs typeface="Times New Roman" panose="02020603050405020304" pitchFamily="18" charset="0"/>
                          <a:sym typeface="Symbol" pitchFamily="18" charset="2"/>
                        </a:rPr>
                        <a:t>)</a:t>
                      </a:r>
                    </a:p>
                  </a:txBody>
                  <a:tcPr marL="0" marR="0" marT="0" marB="0" anchor="ctr" anchorCtr="1" horzOverflow="overflow">
                    <a:lnL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66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9050" cap="flat" cmpd="sng" algn="ctr">
                      <a:solidFill>
                        <a:srgbClr val="000066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62133" name="Rectangle 213"/>
          <p:cNvSpPr>
            <a:spLocks noChangeArrowheads="1"/>
          </p:cNvSpPr>
          <p:nvPr/>
        </p:nvSpPr>
        <p:spPr bwMode="auto">
          <a:xfrm>
            <a:off x="2597150" y="5632450"/>
            <a:ext cx="53863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侧限压缩试验指标汇总</a:t>
            </a:r>
          </a:p>
        </p:txBody>
      </p:sp>
      <p:sp>
        <p:nvSpPr>
          <p:cNvPr id="3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-9526" y="0"/>
            <a:ext cx="466142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</a:rPr>
              <a:t>维压缩性及其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- 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lang="en-US" altLang="zh-CN" sz="2000" b="1" kern="900" spc="-140" dirty="0" err="1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lg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000" b="1" i="1" kern="900" spc="-140" dirty="0" smtClean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2000" b="1" kern="900" spc="-140" dirty="0">
                <a:solidFill>
                  <a:srgbClr val="C00000"/>
                </a:solidFill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lang="en-US" altLang="zh-CN" sz="2000" b="1" kern="900" spc="-140" dirty="0">
              <a:solidFill>
                <a:srgbClr val="C00000"/>
              </a:solidFill>
              <a:cs typeface="Times New Roman" panose="02020603050405020304" pitchFamily="18" charset="0"/>
              <a:sym typeface="Symbol" pitchFamily="18" charset="2"/>
            </a:endParaRPr>
          </a:p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kern="900" spc="-140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6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643" name="Text Box 3"/>
          <p:cNvSpPr txBox="1">
            <a:spLocks noChangeArrowheads="1"/>
          </p:cNvSpPr>
          <p:nvPr/>
        </p:nvSpPr>
        <p:spPr bwMode="auto">
          <a:xfrm>
            <a:off x="3530600" y="5884863"/>
            <a:ext cx="3689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先期固结压力</a:t>
            </a:r>
          </a:p>
        </p:txBody>
      </p:sp>
      <p:sp>
        <p:nvSpPr>
          <p:cNvPr id="1520644" name="Text Box 4"/>
          <p:cNvSpPr txBox="1">
            <a:spLocks noChangeArrowheads="1"/>
          </p:cNvSpPr>
          <p:nvPr/>
        </p:nvSpPr>
        <p:spPr bwMode="auto">
          <a:xfrm>
            <a:off x="455613" y="700088"/>
            <a:ext cx="7381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先期固结压力：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土层历史上所经受到的最大压力</a:t>
            </a:r>
            <a:r>
              <a:rPr kumimoji="1" lang="zh-CN" altLang="en-US" sz="28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800" b="1" baseline="-25000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1" lang="zh-CN" altLang="en-US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20645" name="Rectangle 5"/>
          <p:cNvSpPr>
            <a:spLocks noChangeArrowheads="1"/>
          </p:cNvSpPr>
          <p:nvPr/>
        </p:nvSpPr>
        <p:spPr bwMode="auto">
          <a:xfrm>
            <a:off x="4819948" y="1387028"/>
            <a:ext cx="3384550" cy="187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altLang="zh-CN" sz="2400" b="1" i="1" baseline="-25000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zh-CN" altLang="en-US" sz="24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正常固结土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&gt;</a:t>
            </a:r>
            <a:r>
              <a:rPr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</a:t>
            </a:r>
            <a:r>
              <a:rPr lang="en-US" altLang="zh-CN" sz="2400" b="1" baseline="-25000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altLang="zh-CN" sz="2400" b="1" i="1" baseline="-25000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 </a:t>
            </a:r>
            <a:r>
              <a:rPr lang="zh-CN" altLang="en-US" sz="24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超固结土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&lt;</a:t>
            </a:r>
            <a:r>
              <a:rPr lang="en-US" altLang="zh-CN" sz="2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</a:t>
            </a:r>
            <a:r>
              <a:rPr lang="en-US" altLang="zh-CN" sz="2400" b="1" baseline="-25000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s </a:t>
            </a:r>
            <a:r>
              <a:rPr lang="en-US" altLang="zh-CN" sz="2400" b="1" i="1" baseline="-25000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zh-CN" altLang="en-US" sz="24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：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欠固结土</a:t>
            </a:r>
            <a:endParaRPr lang="zh-CN" altLang="en-US" sz="2400" b="1" dirty="0">
              <a:solidFill>
                <a:srgbClr val="000066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5206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42390"/>
              </p:ext>
            </p:extLst>
          </p:nvPr>
        </p:nvGraphicFramePr>
        <p:xfrm>
          <a:off x="2606675" y="3678238"/>
          <a:ext cx="148748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0723" name="Equation" r:id="rId4" imgW="736560" imgH="457200" progId="Equation.DSMT4">
                  <p:embed/>
                </p:oleObj>
              </mc:Choice>
              <mc:Fallback>
                <p:oleObj name="Equation" r:id="rId4" imgW="73656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5" y="3678238"/>
                        <a:ext cx="1487488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0647" name="Text Box 7"/>
          <p:cNvSpPr txBox="1">
            <a:spLocks noChangeArrowheads="1"/>
          </p:cNvSpPr>
          <p:nvPr/>
        </p:nvSpPr>
        <p:spPr bwMode="auto">
          <a:xfrm>
            <a:off x="5948363" y="3460750"/>
            <a:ext cx="2716212" cy="1368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OCR=1：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正常固结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OCR&gt;1：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超固结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OCR&lt;1：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欠固结</a:t>
            </a:r>
          </a:p>
        </p:txBody>
      </p:sp>
      <p:sp>
        <p:nvSpPr>
          <p:cNvPr id="1520648" name="AutoShape 8"/>
          <p:cNvSpPr>
            <a:spLocks/>
          </p:cNvSpPr>
          <p:nvPr/>
        </p:nvSpPr>
        <p:spPr bwMode="auto">
          <a:xfrm>
            <a:off x="5578475" y="3659188"/>
            <a:ext cx="320675" cy="1076325"/>
          </a:xfrm>
          <a:prstGeom prst="leftBrace">
            <a:avLst>
              <a:gd name="adj1" fmla="val 27970"/>
              <a:gd name="adj2" fmla="val 50000"/>
            </a:avLst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520649" name="Text Box 9"/>
          <p:cNvSpPr txBox="1">
            <a:spLocks noChangeArrowheads="1"/>
          </p:cNvSpPr>
          <p:nvPr/>
        </p:nvSpPr>
        <p:spPr bwMode="auto">
          <a:xfrm>
            <a:off x="452438" y="3843338"/>
            <a:ext cx="2146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超固结比：</a:t>
            </a:r>
          </a:p>
        </p:txBody>
      </p:sp>
      <p:sp>
        <p:nvSpPr>
          <p:cNvPr id="1520650" name="Text Box 10"/>
          <p:cNvSpPr txBox="1">
            <a:spLocks noChangeArrowheads="1"/>
          </p:cNvSpPr>
          <p:nvPr/>
        </p:nvSpPr>
        <p:spPr bwMode="auto">
          <a:xfrm>
            <a:off x="958850" y="1460500"/>
            <a:ext cx="1879600" cy="164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如土层当前承受的自重压力为</a:t>
            </a:r>
            <a:r>
              <a:rPr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endParaRPr lang="zh-CN" altLang="en-US" sz="2400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20651" name="AutoShape 11"/>
          <p:cNvSpPr>
            <a:spLocks noChangeArrowheads="1"/>
          </p:cNvSpPr>
          <p:nvPr/>
        </p:nvSpPr>
        <p:spPr bwMode="auto">
          <a:xfrm>
            <a:off x="3170238" y="2087563"/>
            <a:ext cx="622300" cy="488950"/>
          </a:xfrm>
          <a:prstGeom prst="homePlate">
            <a:avLst>
              <a:gd name="adj" fmla="val 31818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0652" name="AutoShape 12"/>
          <p:cNvSpPr>
            <a:spLocks/>
          </p:cNvSpPr>
          <p:nvPr/>
        </p:nvSpPr>
        <p:spPr bwMode="auto">
          <a:xfrm>
            <a:off x="4220503" y="1679724"/>
            <a:ext cx="362134" cy="1329291"/>
          </a:xfrm>
          <a:prstGeom prst="leftBrace">
            <a:avLst>
              <a:gd name="adj1" fmla="val 28253"/>
              <a:gd name="adj2" fmla="val 50000"/>
            </a:avLst>
          </a:prstGeom>
          <a:noFill/>
          <a:ln w="2857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0653" name="Text Box 13"/>
          <p:cNvSpPr txBox="1">
            <a:spLocks noChangeArrowheads="1"/>
          </p:cNvSpPr>
          <p:nvPr/>
        </p:nvSpPr>
        <p:spPr bwMode="auto">
          <a:xfrm>
            <a:off x="1392238" y="4998943"/>
            <a:ext cx="7558479" cy="461665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5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相同</a:t>
            </a:r>
            <a:r>
              <a:rPr kumimoji="1" lang="en-US" altLang="zh-CN" sz="2400" b="1" i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400" b="1" i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时，一般</a:t>
            </a:r>
            <a:r>
              <a:rPr kumimoji="1" lang="en-US" altLang="zh-CN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OCR</a:t>
            </a: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越大，土越密实，压缩性越小</a:t>
            </a:r>
          </a:p>
        </p:txBody>
      </p:sp>
      <p:sp>
        <p:nvSpPr>
          <p:cNvPr id="1520654" name="AutoShape 14"/>
          <p:cNvSpPr>
            <a:spLocks noChangeArrowheads="1"/>
          </p:cNvSpPr>
          <p:nvPr/>
        </p:nvSpPr>
        <p:spPr bwMode="auto">
          <a:xfrm>
            <a:off x="4619625" y="3948113"/>
            <a:ext cx="622300" cy="488950"/>
          </a:xfrm>
          <a:prstGeom prst="homePlate">
            <a:avLst>
              <a:gd name="adj" fmla="val 31818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49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-9526" y="0"/>
            <a:ext cx="5016532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先期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固结压力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20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20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2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520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1520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825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"/>
                                        <p:tgtEl>
                                          <p:spTgt spid="1520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75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1520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52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0"/>
                                        <p:tgtEl>
                                          <p:spTgt spid="152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520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2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20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20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20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20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20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0644" grpId="0"/>
      <p:bldP spid="1520645" grpId="0" build="p" autoUpdateAnimBg="0"/>
      <p:bldP spid="1520647" grpId="0" build="p" autoUpdateAnimBg="0" advAuto="0"/>
      <p:bldP spid="1520648" grpId="0" animBg="1"/>
      <p:bldP spid="1520649" grpId="0"/>
      <p:bldP spid="1520650" grpId="0"/>
      <p:bldP spid="1520651" grpId="0" animBg="1"/>
      <p:bldP spid="1520652" grpId="0" animBg="1"/>
      <p:bldP spid="1520653" grpId="0" animBg="1"/>
      <p:bldP spid="152065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668" name="Freeform 4"/>
          <p:cNvSpPr>
            <a:spLocks/>
          </p:cNvSpPr>
          <p:nvPr/>
        </p:nvSpPr>
        <p:spPr bwMode="auto">
          <a:xfrm>
            <a:off x="1055688" y="1249363"/>
            <a:ext cx="2863850" cy="3460750"/>
          </a:xfrm>
          <a:custGeom>
            <a:avLst/>
            <a:gdLst>
              <a:gd name="T0" fmla="*/ 0 w 1977"/>
              <a:gd name="T1" fmla="*/ 0 h 2266"/>
              <a:gd name="T2" fmla="*/ 0 w 1977"/>
              <a:gd name="T3" fmla="*/ 2266 h 2266"/>
              <a:gd name="T4" fmla="*/ 1977 w 1977"/>
              <a:gd name="T5" fmla="*/ 2266 h 2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7" h="2266">
                <a:moveTo>
                  <a:pt x="0" y="0"/>
                </a:moveTo>
                <a:lnTo>
                  <a:pt x="0" y="2266"/>
                </a:lnTo>
                <a:lnTo>
                  <a:pt x="1977" y="226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1669" name="Line 5"/>
          <p:cNvSpPr>
            <a:spLocks noChangeShapeType="1"/>
          </p:cNvSpPr>
          <p:nvPr/>
        </p:nvSpPr>
        <p:spPr bwMode="auto">
          <a:xfrm>
            <a:off x="1063625" y="4017963"/>
            <a:ext cx="730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1670" name="Line 6"/>
          <p:cNvSpPr>
            <a:spLocks noChangeShapeType="1"/>
          </p:cNvSpPr>
          <p:nvPr/>
        </p:nvSpPr>
        <p:spPr bwMode="auto">
          <a:xfrm>
            <a:off x="1063625" y="3287713"/>
            <a:ext cx="730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1671" name="Line 7"/>
          <p:cNvSpPr>
            <a:spLocks noChangeShapeType="1"/>
          </p:cNvSpPr>
          <p:nvPr/>
        </p:nvSpPr>
        <p:spPr bwMode="auto">
          <a:xfrm>
            <a:off x="1063625" y="2586038"/>
            <a:ext cx="730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1672" name="Line 8"/>
          <p:cNvSpPr>
            <a:spLocks noChangeShapeType="1"/>
          </p:cNvSpPr>
          <p:nvPr/>
        </p:nvSpPr>
        <p:spPr bwMode="auto">
          <a:xfrm>
            <a:off x="1054100" y="1878013"/>
            <a:ext cx="71438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1673" name="Line 9"/>
          <p:cNvSpPr>
            <a:spLocks noChangeShapeType="1"/>
          </p:cNvSpPr>
          <p:nvPr/>
        </p:nvSpPr>
        <p:spPr bwMode="auto">
          <a:xfrm>
            <a:off x="1792288" y="4625975"/>
            <a:ext cx="0" cy="841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1674" name="Line 10"/>
          <p:cNvSpPr>
            <a:spLocks noChangeShapeType="1"/>
          </p:cNvSpPr>
          <p:nvPr/>
        </p:nvSpPr>
        <p:spPr bwMode="auto">
          <a:xfrm>
            <a:off x="3603625" y="4625975"/>
            <a:ext cx="0" cy="841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1675" name="Text Box 11"/>
          <p:cNvSpPr txBox="1">
            <a:spLocks noChangeArrowheads="1"/>
          </p:cNvSpPr>
          <p:nvPr/>
        </p:nvSpPr>
        <p:spPr bwMode="auto">
          <a:xfrm>
            <a:off x="1112838" y="933450"/>
            <a:ext cx="363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>
                <a:solidFill>
                  <a:srgbClr val="000000"/>
                </a:solidFill>
                <a:cs typeface="Times New Roman" panose="02020603050405020304" pitchFamily="18" charset="0"/>
                <a:sym typeface="Symbol" pitchFamily="18" charset="2"/>
              </a:rPr>
              <a:t>e</a:t>
            </a:r>
          </a:p>
        </p:txBody>
      </p:sp>
      <p:sp>
        <p:nvSpPr>
          <p:cNvPr id="1521676" name="Freeform 12"/>
          <p:cNvSpPr>
            <a:spLocks/>
          </p:cNvSpPr>
          <p:nvPr/>
        </p:nvSpPr>
        <p:spPr bwMode="auto">
          <a:xfrm>
            <a:off x="1644650" y="1404938"/>
            <a:ext cx="1768475" cy="3068637"/>
          </a:xfrm>
          <a:custGeom>
            <a:avLst/>
            <a:gdLst>
              <a:gd name="T0" fmla="*/ 1094 w 1094"/>
              <a:gd name="T1" fmla="*/ 2384 h 2384"/>
              <a:gd name="T2" fmla="*/ 0 w 1094"/>
              <a:gd name="T3" fmla="*/ 0 h 238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94" h="2384">
                <a:moveTo>
                  <a:pt x="1094" y="2384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1677" name="Rectangle 13" descr="小纸屑"/>
          <p:cNvSpPr>
            <a:spLocks noChangeArrowheads="1"/>
          </p:cNvSpPr>
          <p:nvPr/>
        </p:nvSpPr>
        <p:spPr bwMode="auto">
          <a:xfrm>
            <a:off x="5680075" y="1350963"/>
            <a:ext cx="1706563" cy="2400300"/>
          </a:xfrm>
          <a:prstGeom prst="rect">
            <a:avLst/>
          </a:prstGeom>
          <a:pattFill prst="smConfetti">
            <a:fgClr>
              <a:schemeClr val="bg1"/>
            </a:fgClr>
            <a:bgClr>
              <a:schemeClr val="accent2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000000"/>
              </a:solidFill>
              <a:latin typeface="宋体" charset="-122"/>
              <a:sym typeface="Symbol" pitchFamily="18" charset="2"/>
            </a:endParaRPr>
          </a:p>
        </p:txBody>
      </p:sp>
      <p:sp>
        <p:nvSpPr>
          <p:cNvPr id="1521678" name="Rectangle 14"/>
          <p:cNvSpPr>
            <a:spLocks noChangeArrowheads="1"/>
          </p:cNvSpPr>
          <p:nvPr/>
        </p:nvSpPr>
        <p:spPr bwMode="auto">
          <a:xfrm>
            <a:off x="6332538" y="3154363"/>
            <a:ext cx="242887" cy="241300"/>
          </a:xfrm>
          <a:prstGeom prst="rect">
            <a:avLst/>
          </a:prstGeom>
          <a:solidFill>
            <a:srgbClr val="9900FF"/>
          </a:solidFill>
          <a:ln w="9525" algn="ctr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21679" name="Text Box 15"/>
          <p:cNvSpPr txBox="1">
            <a:spLocks noChangeArrowheads="1"/>
          </p:cNvSpPr>
          <p:nvPr/>
        </p:nvSpPr>
        <p:spPr bwMode="auto">
          <a:xfrm>
            <a:off x="3306763" y="478790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cs typeface="Times New Roman" panose="02020603050405020304" pitchFamily="18" charset="0"/>
              </a:rPr>
              <a:t>lg</a:t>
            </a:r>
            <a:r>
              <a:rPr lang="en-US" altLang="zh-CN" sz="2400" b="1" dirty="0"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cs typeface="Times New Roman" panose="02020603050405020304" pitchFamily="18" charset="0"/>
            </a:endParaRPr>
          </a:p>
        </p:txBody>
      </p:sp>
      <p:sp>
        <p:nvSpPr>
          <p:cNvPr id="1521680" name="Text Box 16"/>
          <p:cNvSpPr txBox="1">
            <a:spLocks noChangeArrowheads="1"/>
          </p:cNvSpPr>
          <p:nvPr/>
        </p:nvSpPr>
        <p:spPr bwMode="auto">
          <a:xfrm>
            <a:off x="5765800" y="4146550"/>
            <a:ext cx="2708275" cy="1006475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正常固结土的原位压缩曲线：直线</a:t>
            </a:r>
          </a:p>
        </p:txBody>
      </p:sp>
      <p:sp>
        <p:nvSpPr>
          <p:cNvPr id="1521681" name="Text Box 17"/>
          <p:cNvSpPr txBox="1">
            <a:spLocks noChangeArrowheads="1"/>
          </p:cNvSpPr>
          <p:nvPr/>
        </p:nvSpPr>
        <p:spPr bwMode="auto">
          <a:xfrm>
            <a:off x="2374900" y="5810250"/>
            <a:ext cx="57896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正常固结土初始压缩曲线</a:t>
            </a:r>
          </a:p>
        </p:txBody>
      </p:sp>
      <p:sp>
        <p:nvSpPr>
          <p:cNvPr id="1521682" name="Oval 18"/>
          <p:cNvSpPr>
            <a:spLocks noChangeArrowheads="1"/>
          </p:cNvSpPr>
          <p:nvPr/>
        </p:nvSpPr>
        <p:spPr bwMode="auto">
          <a:xfrm>
            <a:off x="1708150" y="1539875"/>
            <a:ext cx="84138" cy="84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21683" name="Rectangle 19"/>
          <p:cNvSpPr>
            <a:spLocks noChangeArrowheads="1"/>
          </p:cNvSpPr>
          <p:nvPr/>
        </p:nvSpPr>
        <p:spPr bwMode="auto">
          <a:xfrm>
            <a:off x="5680075" y="2773363"/>
            <a:ext cx="1706563" cy="344487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000000"/>
              </a:solidFill>
              <a:latin typeface="宋体" charset="-122"/>
              <a:sym typeface="Symbol" pitchFamily="18" charset="2"/>
            </a:endParaRPr>
          </a:p>
        </p:txBody>
      </p:sp>
      <p:sp>
        <p:nvSpPr>
          <p:cNvPr id="1521684" name="Rectangle 20"/>
          <p:cNvSpPr>
            <a:spLocks noChangeArrowheads="1"/>
          </p:cNvSpPr>
          <p:nvPr/>
        </p:nvSpPr>
        <p:spPr bwMode="auto">
          <a:xfrm>
            <a:off x="5680075" y="2468563"/>
            <a:ext cx="1706563" cy="344487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000000"/>
              </a:solidFill>
              <a:latin typeface="宋体" charset="-122"/>
              <a:sym typeface="Symbol" pitchFamily="18" charset="2"/>
            </a:endParaRPr>
          </a:p>
        </p:txBody>
      </p:sp>
      <p:sp>
        <p:nvSpPr>
          <p:cNvPr id="1521685" name="Rectangle 21"/>
          <p:cNvSpPr>
            <a:spLocks noChangeArrowheads="1"/>
          </p:cNvSpPr>
          <p:nvPr/>
        </p:nvSpPr>
        <p:spPr bwMode="auto">
          <a:xfrm>
            <a:off x="5680075" y="2162175"/>
            <a:ext cx="1706563" cy="346075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000000"/>
              </a:solidFill>
              <a:latin typeface="宋体" charset="-122"/>
              <a:sym typeface="Symbol" pitchFamily="18" charset="2"/>
            </a:endParaRPr>
          </a:p>
        </p:txBody>
      </p:sp>
      <p:sp>
        <p:nvSpPr>
          <p:cNvPr id="1521686" name="Rectangle 22"/>
          <p:cNvSpPr>
            <a:spLocks noChangeArrowheads="1"/>
          </p:cNvSpPr>
          <p:nvPr/>
        </p:nvSpPr>
        <p:spPr bwMode="auto">
          <a:xfrm>
            <a:off x="5680075" y="1857375"/>
            <a:ext cx="1706563" cy="34448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000000"/>
              </a:solidFill>
              <a:latin typeface="宋体" charset="-122"/>
              <a:sym typeface="Symbol" pitchFamily="18" charset="2"/>
            </a:endParaRPr>
          </a:p>
        </p:txBody>
      </p:sp>
      <p:sp>
        <p:nvSpPr>
          <p:cNvPr id="1521687" name="Rectangle 23"/>
          <p:cNvSpPr>
            <a:spLocks noChangeArrowheads="1"/>
          </p:cNvSpPr>
          <p:nvPr/>
        </p:nvSpPr>
        <p:spPr bwMode="auto">
          <a:xfrm>
            <a:off x="5680075" y="1552575"/>
            <a:ext cx="1706563" cy="34448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000000"/>
              </a:solidFill>
              <a:latin typeface="宋体" charset="-122"/>
              <a:sym typeface="Symbol" pitchFamily="18" charset="2"/>
            </a:endParaRPr>
          </a:p>
        </p:txBody>
      </p:sp>
      <p:sp>
        <p:nvSpPr>
          <p:cNvPr id="1521688" name="Oval 24"/>
          <p:cNvSpPr>
            <a:spLocks noChangeArrowheads="1"/>
          </p:cNvSpPr>
          <p:nvPr/>
        </p:nvSpPr>
        <p:spPr bwMode="auto">
          <a:xfrm>
            <a:off x="1960563" y="2009775"/>
            <a:ext cx="84137" cy="84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21689" name="Oval 25"/>
          <p:cNvSpPr>
            <a:spLocks noChangeArrowheads="1"/>
          </p:cNvSpPr>
          <p:nvPr/>
        </p:nvSpPr>
        <p:spPr bwMode="auto">
          <a:xfrm>
            <a:off x="2316163" y="2573338"/>
            <a:ext cx="84137" cy="84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21690" name="Oval 26"/>
          <p:cNvSpPr>
            <a:spLocks noChangeArrowheads="1"/>
          </p:cNvSpPr>
          <p:nvPr/>
        </p:nvSpPr>
        <p:spPr bwMode="auto">
          <a:xfrm>
            <a:off x="2647950" y="3135313"/>
            <a:ext cx="84138" cy="841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21691" name="Oval 27"/>
          <p:cNvSpPr>
            <a:spLocks noChangeArrowheads="1"/>
          </p:cNvSpPr>
          <p:nvPr/>
        </p:nvSpPr>
        <p:spPr bwMode="auto">
          <a:xfrm>
            <a:off x="2968625" y="3775075"/>
            <a:ext cx="84138" cy="841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21692" name="Rectangle 28"/>
          <p:cNvSpPr>
            <a:spLocks noChangeArrowheads="1"/>
          </p:cNvSpPr>
          <p:nvPr/>
        </p:nvSpPr>
        <p:spPr bwMode="auto">
          <a:xfrm>
            <a:off x="5680075" y="1235075"/>
            <a:ext cx="1706563" cy="344488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000000"/>
              </a:solidFill>
              <a:latin typeface="宋体" charset="-122"/>
              <a:sym typeface="Symbol" pitchFamily="18" charset="2"/>
            </a:endParaRPr>
          </a:p>
        </p:txBody>
      </p:sp>
      <p:sp>
        <p:nvSpPr>
          <p:cNvPr id="1521693" name="AutoShape 29"/>
          <p:cNvSpPr>
            <a:spLocks noChangeArrowheads="1"/>
          </p:cNvSpPr>
          <p:nvPr/>
        </p:nvSpPr>
        <p:spPr bwMode="auto">
          <a:xfrm>
            <a:off x="4983014" y="4186022"/>
            <a:ext cx="622300" cy="488950"/>
          </a:xfrm>
          <a:prstGeom prst="homePlate">
            <a:avLst>
              <a:gd name="adj" fmla="val 31818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-9526" y="0"/>
            <a:ext cx="5016532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先期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固结压力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2000"/>
                                        <p:tgtEl>
                                          <p:spTgt spid="15216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2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2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2000"/>
                                        <p:tgtEl>
                                          <p:spTgt spid="15216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2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2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2000"/>
                                        <p:tgtEl>
                                          <p:spTgt spid="15216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2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2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2000"/>
                                        <p:tgtEl>
                                          <p:spTgt spid="15216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2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21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52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52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521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521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1676" grpId="0" animBg="1"/>
      <p:bldP spid="1521680" grpId="0" animBg="1"/>
      <p:bldP spid="1521683" grpId="0" animBg="1"/>
      <p:bldP spid="1521684" grpId="0" animBg="1"/>
      <p:bldP spid="1521685" grpId="0" animBg="1"/>
      <p:bldP spid="1521686" grpId="0" animBg="1"/>
      <p:bldP spid="1521688" grpId="0" animBg="1"/>
      <p:bldP spid="1521689" grpId="0" animBg="1"/>
      <p:bldP spid="1521690" grpId="0" animBg="1"/>
      <p:bldP spid="1521691" grpId="0" animBg="1"/>
      <p:bldP spid="152169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2691" name="Group 3"/>
          <p:cNvGrpSpPr>
            <a:grpSpLocks/>
          </p:cNvGrpSpPr>
          <p:nvPr/>
        </p:nvGrpSpPr>
        <p:grpSpPr bwMode="auto">
          <a:xfrm>
            <a:off x="484188" y="784225"/>
            <a:ext cx="4011612" cy="4762500"/>
            <a:chOff x="345" y="474"/>
            <a:chExt cx="2527" cy="3000"/>
          </a:xfrm>
        </p:grpSpPr>
        <p:sp>
          <p:nvSpPr>
            <p:cNvPr id="1522692" name="Rectangle 4"/>
            <p:cNvSpPr>
              <a:spLocks noChangeArrowheads="1"/>
            </p:cNvSpPr>
            <p:nvPr/>
          </p:nvSpPr>
          <p:spPr bwMode="auto">
            <a:xfrm>
              <a:off x="345" y="474"/>
              <a:ext cx="2527" cy="3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E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1522693" name="Group 5"/>
            <p:cNvGrpSpPr>
              <a:grpSpLocks/>
            </p:cNvGrpSpPr>
            <p:nvPr/>
          </p:nvGrpSpPr>
          <p:grpSpPr bwMode="auto">
            <a:xfrm>
              <a:off x="664" y="588"/>
              <a:ext cx="1919" cy="2716"/>
              <a:chOff x="664" y="588"/>
              <a:chExt cx="1919" cy="2716"/>
            </a:xfrm>
          </p:grpSpPr>
          <p:sp>
            <p:nvSpPr>
              <p:cNvPr id="1522694" name="Freeform 6"/>
              <p:cNvSpPr>
                <a:spLocks/>
              </p:cNvSpPr>
              <p:nvPr/>
            </p:nvSpPr>
            <p:spPr bwMode="auto">
              <a:xfrm>
                <a:off x="665" y="787"/>
                <a:ext cx="1804" cy="2180"/>
              </a:xfrm>
              <a:custGeom>
                <a:avLst/>
                <a:gdLst>
                  <a:gd name="T0" fmla="*/ 0 w 1977"/>
                  <a:gd name="T1" fmla="*/ 0 h 2266"/>
                  <a:gd name="T2" fmla="*/ 0 w 1977"/>
                  <a:gd name="T3" fmla="*/ 2266 h 2266"/>
                  <a:gd name="T4" fmla="*/ 1977 w 1977"/>
                  <a:gd name="T5" fmla="*/ 2266 h 2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7" h="2266">
                    <a:moveTo>
                      <a:pt x="0" y="0"/>
                    </a:moveTo>
                    <a:lnTo>
                      <a:pt x="0" y="2266"/>
                    </a:lnTo>
                    <a:lnTo>
                      <a:pt x="1977" y="226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22695" name="Group 7"/>
              <p:cNvGrpSpPr>
                <a:grpSpLocks/>
              </p:cNvGrpSpPr>
              <p:nvPr/>
            </p:nvGrpSpPr>
            <p:grpSpPr bwMode="auto">
              <a:xfrm>
                <a:off x="664" y="1183"/>
                <a:ext cx="52" cy="1348"/>
                <a:chOff x="664" y="1183"/>
                <a:chExt cx="52" cy="1348"/>
              </a:xfrm>
            </p:grpSpPr>
            <p:sp>
              <p:nvSpPr>
                <p:cNvPr id="1522696" name="Line 8"/>
                <p:cNvSpPr>
                  <a:spLocks noChangeShapeType="1"/>
                </p:cNvSpPr>
                <p:nvPr/>
              </p:nvSpPr>
              <p:spPr bwMode="auto">
                <a:xfrm>
                  <a:off x="670" y="2531"/>
                  <a:ext cx="4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2697" name="Line 9"/>
                <p:cNvSpPr>
                  <a:spLocks noChangeShapeType="1"/>
                </p:cNvSpPr>
                <p:nvPr/>
              </p:nvSpPr>
              <p:spPr bwMode="auto">
                <a:xfrm>
                  <a:off x="670" y="2071"/>
                  <a:ext cx="4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2698" name="Line 10"/>
                <p:cNvSpPr>
                  <a:spLocks noChangeShapeType="1"/>
                </p:cNvSpPr>
                <p:nvPr/>
              </p:nvSpPr>
              <p:spPr bwMode="auto">
                <a:xfrm>
                  <a:off x="670" y="1629"/>
                  <a:ext cx="4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2699" name="Line 11"/>
                <p:cNvSpPr>
                  <a:spLocks noChangeShapeType="1"/>
                </p:cNvSpPr>
                <p:nvPr/>
              </p:nvSpPr>
              <p:spPr bwMode="auto">
                <a:xfrm>
                  <a:off x="664" y="1183"/>
                  <a:ext cx="45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22700" name="Text Box 12"/>
              <p:cNvSpPr txBox="1">
                <a:spLocks noChangeArrowheads="1"/>
              </p:cNvSpPr>
              <p:nvPr/>
            </p:nvSpPr>
            <p:spPr bwMode="auto">
              <a:xfrm>
                <a:off x="701" y="588"/>
                <a:ext cx="22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800" b="1" i="1" dirty="0">
                    <a:solidFill>
                      <a:srgbClr val="000000"/>
                    </a:solidFill>
                    <a:cs typeface="Times New Roman" panose="02020603050405020304" pitchFamily="18" charset="0"/>
                    <a:sym typeface="Symbol" pitchFamily="18" charset="2"/>
                  </a:rPr>
                  <a:t>e</a:t>
                </a:r>
              </a:p>
            </p:txBody>
          </p:sp>
          <p:sp>
            <p:nvSpPr>
              <p:cNvPr id="1522701" name="Freeform 13"/>
              <p:cNvSpPr>
                <a:spLocks/>
              </p:cNvSpPr>
              <p:nvPr/>
            </p:nvSpPr>
            <p:spPr bwMode="auto">
              <a:xfrm>
                <a:off x="1106" y="885"/>
                <a:ext cx="1114" cy="1933"/>
              </a:xfrm>
              <a:custGeom>
                <a:avLst/>
                <a:gdLst>
                  <a:gd name="T0" fmla="*/ 1094 w 1094"/>
                  <a:gd name="T1" fmla="*/ 2384 h 2384"/>
                  <a:gd name="T2" fmla="*/ 0 w 1094"/>
                  <a:gd name="T3" fmla="*/ 0 h 2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94" h="2384">
                    <a:moveTo>
                      <a:pt x="1094" y="2384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22702" name="Group 14"/>
              <p:cNvGrpSpPr>
                <a:grpSpLocks/>
              </p:cNvGrpSpPr>
              <p:nvPr/>
            </p:nvGrpSpPr>
            <p:grpSpPr bwMode="auto">
              <a:xfrm>
                <a:off x="1129" y="2914"/>
                <a:ext cx="1454" cy="390"/>
                <a:chOff x="1129" y="2914"/>
                <a:chExt cx="1454" cy="390"/>
              </a:xfrm>
            </p:grpSpPr>
            <p:sp>
              <p:nvSpPr>
                <p:cNvPr id="1522703" name="Line 15"/>
                <p:cNvSpPr>
                  <a:spLocks noChangeShapeType="1"/>
                </p:cNvSpPr>
                <p:nvPr/>
              </p:nvSpPr>
              <p:spPr bwMode="auto">
                <a:xfrm>
                  <a:off x="1129" y="2914"/>
                  <a:ext cx="0" cy="5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2704" name="Line 16"/>
                <p:cNvSpPr>
                  <a:spLocks noChangeShapeType="1"/>
                </p:cNvSpPr>
                <p:nvPr/>
              </p:nvSpPr>
              <p:spPr bwMode="auto">
                <a:xfrm>
                  <a:off x="2270" y="2914"/>
                  <a:ext cx="0" cy="5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2705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2083" y="3016"/>
                  <a:ext cx="50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sz="2400" b="1" i="1" dirty="0"/>
                    <a:t>p</a:t>
                  </a:r>
                  <a:r>
                    <a:rPr lang="en-US" altLang="zh-CN" sz="2400" b="1" dirty="0"/>
                    <a:t>(</a:t>
                  </a:r>
                  <a:r>
                    <a:rPr lang="en-US" altLang="zh-CN" sz="2400" b="1" dirty="0" err="1"/>
                    <a:t>lg</a:t>
                  </a:r>
                  <a:r>
                    <a:rPr lang="en-US" altLang="zh-CN" sz="2400" b="1" dirty="0"/>
                    <a:t>)</a:t>
                  </a:r>
                  <a:endParaRPr lang="zh-CN" altLang="en-US" sz="2400" b="1" dirty="0"/>
                </a:p>
              </p:txBody>
            </p:sp>
          </p:grpSp>
        </p:grpSp>
      </p:grpSp>
      <p:sp>
        <p:nvSpPr>
          <p:cNvPr id="1522706" name="Text Box 18"/>
          <p:cNvSpPr txBox="1">
            <a:spLocks noChangeArrowheads="1"/>
          </p:cNvSpPr>
          <p:nvPr/>
        </p:nvSpPr>
        <p:spPr bwMode="auto">
          <a:xfrm>
            <a:off x="5578475" y="4160838"/>
            <a:ext cx="2981325" cy="1354137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/>
          <a:lstStyle/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在先期固结压力</a:t>
            </a:r>
            <a:r>
              <a:rPr lang="zh-CN" altLang="en-US" sz="2400" b="1" i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附近发生转折，据此可确定</a:t>
            </a:r>
            <a:r>
              <a:rPr lang="zh-CN" altLang="en-US" sz="2400" b="1" i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400" b="1" baseline="-25000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1" lang="zh-CN" altLang="en-US" sz="2400" b="1" dirty="0">
              <a:solidFill>
                <a:schemeClr val="bg1">
                  <a:lumMod val="95000"/>
                </a:schemeClr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22707" name="Text Box 19"/>
          <p:cNvSpPr txBox="1">
            <a:spLocks noChangeArrowheads="1"/>
          </p:cNvSpPr>
          <p:nvPr/>
        </p:nvSpPr>
        <p:spPr bwMode="auto">
          <a:xfrm>
            <a:off x="3016250" y="5824538"/>
            <a:ext cx="3486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先期固结压力</a:t>
            </a:r>
            <a:endParaRPr kumimoji="1" lang="en-US" altLang="zh-CN" sz="4000" b="1">
              <a:solidFill>
                <a:srgbClr val="000066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1522708" name="AutoShape 20"/>
          <p:cNvSpPr>
            <a:spLocks noChangeArrowheads="1"/>
          </p:cNvSpPr>
          <p:nvPr/>
        </p:nvSpPr>
        <p:spPr bwMode="auto">
          <a:xfrm>
            <a:off x="4808538" y="4284663"/>
            <a:ext cx="622300" cy="488950"/>
          </a:xfrm>
          <a:prstGeom prst="homePlate">
            <a:avLst>
              <a:gd name="adj" fmla="val 31818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1522709" name="Group 21"/>
          <p:cNvGrpSpPr>
            <a:grpSpLocks/>
          </p:cNvGrpSpPr>
          <p:nvPr/>
        </p:nvGrpSpPr>
        <p:grpSpPr bwMode="auto">
          <a:xfrm>
            <a:off x="1327150" y="1377950"/>
            <a:ext cx="1792288" cy="1843088"/>
            <a:chOff x="876" y="848"/>
            <a:chExt cx="1129" cy="1161"/>
          </a:xfrm>
        </p:grpSpPr>
        <p:sp>
          <p:nvSpPr>
            <p:cNvPr id="1522710" name="Text Box 22"/>
            <p:cNvSpPr txBox="1">
              <a:spLocks noChangeArrowheads="1"/>
            </p:cNvSpPr>
            <p:nvPr/>
          </p:nvSpPr>
          <p:spPr bwMode="auto">
            <a:xfrm>
              <a:off x="1761" y="1721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ea typeface="幼圆" pitchFamily="49" charset="-122"/>
                </a:rPr>
                <a:t>B</a:t>
              </a:r>
            </a:p>
          </p:txBody>
        </p:sp>
        <p:sp>
          <p:nvSpPr>
            <p:cNvPr id="1522711" name="Line 23"/>
            <p:cNvSpPr>
              <a:spLocks noChangeShapeType="1"/>
            </p:cNvSpPr>
            <p:nvPr/>
          </p:nvSpPr>
          <p:spPr bwMode="auto">
            <a:xfrm>
              <a:off x="1114" y="922"/>
              <a:ext cx="620" cy="1084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2712" name="Text Box 24"/>
            <p:cNvSpPr txBox="1">
              <a:spLocks noChangeArrowheads="1"/>
            </p:cNvSpPr>
            <p:nvPr/>
          </p:nvSpPr>
          <p:spPr bwMode="auto">
            <a:xfrm>
              <a:off x="876" y="848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ea typeface="幼圆" pitchFamily="49" charset="-122"/>
                </a:rPr>
                <a:t>A</a:t>
              </a:r>
            </a:p>
          </p:txBody>
        </p:sp>
      </p:grpSp>
      <p:grpSp>
        <p:nvGrpSpPr>
          <p:cNvPr id="1522713" name="Group 25"/>
          <p:cNvGrpSpPr>
            <a:grpSpLocks/>
          </p:cNvGrpSpPr>
          <p:nvPr/>
        </p:nvGrpSpPr>
        <p:grpSpPr bwMode="auto">
          <a:xfrm>
            <a:off x="1152525" y="2495550"/>
            <a:ext cx="1538288" cy="709613"/>
            <a:chOff x="766" y="1552"/>
            <a:chExt cx="969" cy="447"/>
          </a:xfrm>
        </p:grpSpPr>
        <p:sp>
          <p:nvSpPr>
            <p:cNvPr id="1522714" name="Freeform 26"/>
            <p:cNvSpPr>
              <a:spLocks noChangeAspect="1"/>
            </p:cNvSpPr>
            <p:nvPr/>
          </p:nvSpPr>
          <p:spPr bwMode="auto">
            <a:xfrm>
              <a:off x="852" y="1843"/>
              <a:ext cx="883" cy="156"/>
            </a:xfrm>
            <a:custGeom>
              <a:avLst/>
              <a:gdLst>
                <a:gd name="T0" fmla="*/ 883 w 883"/>
                <a:gd name="T1" fmla="*/ 156 h 156"/>
                <a:gd name="T2" fmla="*/ 708 w 883"/>
                <a:gd name="T3" fmla="*/ 147 h 156"/>
                <a:gd name="T4" fmla="*/ 528 w 883"/>
                <a:gd name="T5" fmla="*/ 127 h 156"/>
                <a:gd name="T6" fmla="*/ 353 w 883"/>
                <a:gd name="T7" fmla="*/ 94 h 156"/>
                <a:gd name="T8" fmla="*/ 163 w 883"/>
                <a:gd name="T9" fmla="*/ 48 h 156"/>
                <a:gd name="T10" fmla="*/ 0 w 883"/>
                <a:gd name="T1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3" h="156">
                  <a:moveTo>
                    <a:pt x="883" y="156"/>
                  </a:moveTo>
                  <a:cubicBezTo>
                    <a:pt x="854" y="155"/>
                    <a:pt x="767" y="152"/>
                    <a:pt x="708" y="147"/>
                  </a:cubicBezTo>
                  <a:cubicBezTo>
                    <a:pt x="649" y="142"/>
                    <a:pt x="587" y="136"/>
                    <a:pt x="528" y="127"/>
                  </a:cubicBezTo>
                  <a:cubicBezTo>
                    <a:pt x="469" y="118"/>
                    <a:pt x="414" y="107"/>
                    <a:pt x="353" y="94"/>
                  </a:cubicBezTo>
                  <a:cubicBezTo>
                    <a:pt x="292" y="81"/>
                    <a:pt x="222" y="64"/>
                    <a:pt x="163" y="48"/>
                  </a:cubicBezTo>
                  <a:cubicBezTo>
                    <a:pt x="104" y="32"/>
                    <a:pt x="34" y="10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2715" name="Text Box 27"/>
            <p:cNvSpPr txBox="1">
              <a:spLocks noChangeArrowheads="1"/>
            </p:cNvSpPr>
            <p:nvPr/>
          </p:nvSpPr>
          <p:spPr bwMode="auto">
            <a:xfrm>
              <a:off x="766" y="155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ea typeface="幼圆" pitchFamily="49" charset="-122"/>
                </a:rPr>
                <a:t>C</a:t>
              </a:r>
            </a:p>
          </p:txBody>
        </p:sp>
      </p:grpSp>
      <p:grpSp>
        <p:nvGrpSpPr>
          <p:cNvPr id="1522716" name="Group 28"/>
          <p:cNvGrpSpPr>
            <a:grpSpLocks/>
          </p:cNvGrpSpPr>
          <p:nvPr/>
        </p:nvGrpSpPr>
        <p:grpSpPr bwMode="auto">
          <a:xfrm>
            <a:off x="1308100" y="2962275"/>
            <a:ext cx="2159000" cy="1647825"/>
            <a:chOff x="864" y="1846"/>
            <a:chExt cx="1360" cy="1038"/>
          </a:xfrm>
        </p:grpSpPr>
        <p:sp>
          <p:nvSpPr>
            <p:cNvPr id="1522717" name="Freeform 29"/>
            <p:cNvSpPr>
              <a:spLocks/>
            </p:cNvSpPr>
            <p:nvPr/>
          </p:nvSpPr>
          <p:spPr bwMode="auto">
            <a:xfrm>
              <a:off x="864" y="1846"/>
              <a:ext cx="1360" cy="980"/>
            </a:xfrm>
            <a:custGeom>
              <a:avLst/>
              <a:gdLst>
                <a:gd name="T0" fmla="*/ 0 w 1360"/>
                <a:gd name="T1" fmla="*/ 0 h 980"/>
                <a:gd name="T2" fmla="*/ 278 w 1360"/>
                <a:gd name="T3" fmla="*/ 9 h 980"/>
                <a:gd name="T4" fmla="*/ 509 w 1360"/>
                <a:gd name="T5" fmla="*/ 43 h 980"/>
                <a:gd name="T6" fmla="*/ 706 w 1360"/>
                <a:gd name="T7" fmla="*/ 108 h 980"/>
                <a:gd name="T8" fmla="*/ 838 w 1360"/>
                <a:gd name="T9" fmla="*/ 201 h 980"/>
                <a:gd name="T10" fmla="*/ 934 w 1360"/>
                <a:gd name="T11" fmla="*/ 304 h 980"/>
                <a:gd name="T12" fmla="*/ 1053 w 1360"/>
                <a:gd name="T13" fmla="*/ 477 h 980"/>
                <a:gd name="T14" fmla="*/ 1229 w 1360"/>
                <a:gd name="T15" fmla="*/ 762 h 980"/>
                <a:gd name="T16" fmla="*/ 1360 w 1360"/>
                <a:gd name="T17" fmla="*/ 980 h 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60" h="980">
                  <a:moveTo>
                    <a:pt x="0" y="0"/>
                  </a:moveTo>
                  <a:cubicBezTo>
                    <a:pt x="46" y="2"/>
                    <a:pt x="193" y="2"/>
                    <a:pt x="278" y="9"/>
                  </a:cubicBezTo>
                  <a:cubicBezTo>
                    <a:pt x="363" y="16"/>
                    <a:pt x="438" y="27"/>
                    <a:pt x="509" y="43"/>
                  </a:cubicBezTo>
                  <a:cubicBezTo>
                    <a:pt x="580" y="59"/>
                    <a:pt x="651" y="82"/>
                    <a:pt x="706" y="108"/>
                  </a:cubicBezTo>
                  <a:cubicBezTo>
                    <a:pt x="761" y="134"/>
                    <a:pt x="800" y="168"/>
                    <a:pt x="838" y="201"/>
                  </a:cubicBezTo>
                  <a:cubicBezTo>
                    <a:pt x="876" y="234"/>
                    <a:pt x="898" y="258"/>
                    <a:pt x="934" y="304"/>
                  </a:cubicBezTo>
                  <a:cubicBezTo>
                    <a:pt x="970" y="350"/>
                    <a:pt x="1004" y="401"/>
                    <a:pt x="1053" y="477"/>
                  </a:cubicBezTo>
                  <a:cubicBezTo>
                    <a:pt x="1102" y="553"/>
                    <a:pt x="1178" y="678"/>
                    <a:pt x="1229" y="762"/>
                  </a:cubicBezTo>
                  <a:cubicBezTo>
                    <a:pt x="1280" y="846"/>
                    <a:pt x="1333" y="935"/>
                    <a:pt x="1360" y="980"/>
                  </a:cubicBezTo>
                </a:path>
              </a:pathLst>
            </a:custGeom>
            <a:noFill/>
            <a:ln w="28575" cmpd="sng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2718" name="Text Box 30"/>
            <p:cNvSpPr txBox="1">
              <a:spLocks noChangeArrowheads="1"/>
            </p:cNvSpPr>
            <p:nvPr/>
          </p:nvSpPr>
          <p:spPr bwMode="auto">
            <a:xfrm>
              <a:off x="1887" y="2596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ea typeface="幼圆" pitchFamily="49" charset="-122"/>
                </a:rPr>
                <a:t>D</a:t>
              </a:r>
            </a:p>
          </p:txBody>
        </p:sp>
      </p:grpSp>
      <p:grpSp>
        <p:nvGrpSpPr>
          <p:cNvPr id="1522737" name="Group 49"/>
          <p:cNvGrpSpPr>
            <a:grpSpLocks/>
          </p:cNvGrpSpPr>
          <p:nvPr/>
        </p:nvGrpSpPr>
        <p:grpSpPr bwMode="auto">
          <a:xfrm>
            <a:off x="2490788" y="3162300"/>
            <a:ext cx="481012" cy="2011363"/>
            <a:chOff x="1569" y="1992"/>
            <a:chExt cx="303" cy="1267"/>
          </a:xfrm>
        </p:grpSpPr>
        <p:sp>
          <p:nvSpPr>
            <p:cNvPr id="1522720" name="Oval 32"/>
            <p:cNvSpPr>
              <a:spLocks noChangeArrowheads="1"/>
            </p:cNvSpPr>
            <p:nvPr/>
          </p:nvSpPr>
          <p:spPr bwMode="auto">
            <a:xfrm rot="-5400000">
              <a:off x="1663" y="1992"/>
              <a:ext cx="53" cy="53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22722" name="Line 34"/>
            <p:cNvSpPr>
              <a:spLocks noChangeShapeType="1"/>
            </p:cNvSpPr>
            <p:nvPr/>
          </p:nvSpPr>
          <p:spPr bwMode="auto">
            <a:xfrm rot="16200000" flipH="1">
              <a:off x="1217" y="2530"/>
              <a:ext cx="9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2723" name="Text Box 35"/>
            <p:cNvSpPr txBox="1">
              <a:spLocks noChangeArrowheads="1"/>
            </p:cNvSpPr>
            <p:nvPr/>
          </p:nvSpPr>
          <p:spPr bwMode="auto">
            <a:xfrm>
              <a:off x="1569" y="2971"/>
              <a:ext cx="3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endParaRPr kumimoji="1" lang="zh-CN" altLang="en-US" sz="2400" b="1" baseline="-25000" dirty="0"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522724" name="Text Box 36"/>
          <p:cNvSpPr txBox="1">
            <a:spLocks noChangeArrowheads="1"/>
          </p:cNvSpPr>
          <p:nvPr/>
        </p:nvSpPr>
        <p:spPr bwMode="auto">
          <a:xfrm>
            <a:off x="4800600" y="657225"/>
            <a:ext cx="4052888" cy="325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AB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：沉积过程，到</a:t>
            </a: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B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点应力为</a:t>
            </a:r>
            <a:r>
              <a:rPr kumimoji="0"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</a:p>
          <a:p>
            <a:pPr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BC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：取样过程，应力减小，先期固结压力为</a:t>
            </a:r>
            <a:r>
              <a:rPr kumimoji="0"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0" lang="zh-CN" altLang="zh-CN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CD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：压缩试验曲线，开始段位于再压缩曲线上，后段趋近原位压缩曲线</a:t>
            </a:r>
            <a:endParaRPr kumimoji="0" lang="en-US" altLang="zh-CN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22725" name="Group 37"/>
          <p:cNvGrpSpPr>
            <a:grpSpLocks/>
          </p:cNvGrpSpPr>
          <p:nvPr/>
        </p:nvGrpSpPr>
        <p:grpSpPr bwMode="auto">
          <a:xfrm>
            <a:off x="1841500" y="1173163"/>
            <a:ext cx="1457325" cy="701675"/>
            <a:chOff x="1877" y="1890"/>
            <a:chExt cx="918" cy="442"/>
          </a:xfrm>
        </p:grpSpPr>
        <p:sp>
          <p:nvSpPr>
            <p:cNvPr id="1522726" name="Line 38"/>
            <p:cNvSpPr>
              <a:spLocks noChangeShapeType="1"/>
            </p:cNvSpPr>
            <p:nvPr/>
          </p:nvSpPr>
          <p:spPr bwMode="auto">
            <a:xfrm flipV="1">
              <a:off x="1877" y="2069"/>
              <a:ext cx="177" cy="1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2727" name="Text Box 39"/>
            <p:cNvSpPr txBox="1">
              <a:spLocks noChangeArrowheads="1"/>
            </p:cNvSpPr>
            <p:nvPr/>
          </p:nvSpPr>
          <p:spPr bwMode="auto">
            <a:xfrm>
              <a:off x="2097" y="1890"/>
              <a:ext cx="69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tx2"/>
                  </a:solidFill>
                  <a:ea typeface="幼圆" pitchFamily="49" charset="-122"/>
                </a:rPr>
                <a:t>原位压缩曲线</a:t>
              </a:r>
              <a:endParaRPr lang="en-US" altLang="zh-CN" sz="2000" b="1">
                <a:solidFill>
                  <a:schemeClr val="tx2"/>
                </a:solidFill>
                <a:ea typeface="幼圆" pitchFamily="49" charset="-122"/>
              </a:endParaRPr>
            </a:p>
          </p:txBody>
        </p:sp>
      </p:grpSp>
      <p:grpSp>
        <p:nvGrpSpPr>
          <p:cNvPr id="1522728" name="Group 40"/>
          <p:cNvGrpSpPr>
            <a:grpSpLocks/>
          </p:cNvGrpSpPr>
          <p:nvPr/>
        </p:nvGrpSpPr>
        <p:grpSpPr bwMode="auto">
          <a:xfrm>
            <a:off x="2306638" y="1827213"/>
            <a:ext cx="1614487" cy="757237"/>
            <a:chOff x="1493" y="1131"/>
            <a:chExt cx="1017" cy="477"/>
          </a:xfrm>
        </p:grpSpPr>
        <p:sp>
          <p:nvSpPr>
            <p:cNvPr id="1522729" name="Line 41"/>
            <p:cNvSpPr>
              <a:spLocks noChangeShapeType="1"/>
            </p:cNvSpPr>
            <p:nvPr/>
          </p:nvSpPr>
          <p:spPr bwMode="auto">
            <a:xfrm flipV="1">
              <a:off x="1493" y="1397"/>
              <a:ext cx="29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2730" name="Text Box 42"/>
            <p:cNvSpPr txBox="1">
              <a:spLocks noChangeArrowheads="1"/>
            </p:cNvSpPr>
            <p:nvPr/>
          </p:nvSpPr>
          <p:spPr bwMode="auto">
            <a:xfrm>
              <a:off x="1699" y="1131"/>
              <a:ext cx="81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990000"/>
                  </a:solidFill>
                  <a:ea typeface="幼圆" pitchFamily="49" charset="-122"/>
                </a:rPr>
                <a:t>沉积过程</a:t>
              </a:r>
              <a:endParaRPr lang="en-US" altLang="zh-CN" sz="2000" b="1">
                <a:solidFill>
                  <a:srgbClr val="990000"/>
                </a:solidFill>
                <a:ea typeface="幼圆" pitchFamily="49" charset="-122"/>
              </a:endParaRPr>
            </a:p>
          </p:txBody>
        </p:sp>
      </p:grpSp>
      <p:grpSp>
        <p:nvGrpSpPr>
          <p:cNvPr id="1522731" name="Group 43"/>
          <p:cNvGrpSpPr>
            <a:grpSpLocks/>
          </p:cNvGrpSpPr>
          <p:nvPr/>
        </p:nvGrpSpPr>
        <p:grpSpPr bwMode="auto">
          <a:xfrm>
            <a:off x="1385888" y="3113088"/>
            <a:ext cx="1287462" cy="879475"/>
            <a:chOff x="913" y="1941"/>
            <a:chExt cx="811" cy="554"/>
          </a:xfrm>
        </p:grpSpPr>
        <p:sp>
          <p:nvSpPr>
            <p:cNvPr id="1522732" name="Line 44"/>
            <p:cNvSpPr>
              <a:spLocks noChangeShapeType="1"/>
            </p:cNvSpPr>
            <p:nvPr/>
          </p:nvSpPr>
          <p:spPr bwMode="auto">
            <a:xfrm flipH="1" flipV="1">
              <a:off x="1168" y="1941"/>
              <a:ext cx="52" cy="3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2733" name="Text Box 45"/>
            <p:cNvSpPr txBox="1">
              <a:spLocks noChangeArrowheads="1"/>
            </p:cNvSpPr>
            <p:nvPr/>
          </p:nvSpPr>
          <p:spPr bwMode="auto">
            <a:xfrm>
              <a:off x="913" y="2245"/>
              <a:ext cx="81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6600"/>
                  </a:solidFill>
                  <a:ea typeface="幼圆" pitchFamily="49" charset="-122"/>
                </a:rPr>
                <a:t>取样过程</a:t>
              </a:r>
              <a:endParaRPr lang="en-US" altLang="zh-CN" sz="2000" b="1">
                <a:solidFill>
                  <a:srgbClr val="006600"/>
                </a:solidFill>
                <a:ea typeface="幼圆" pitchFamily="49" charset="-122"/>
              </a:endParaRPr>
            </a:p>
          </p:txBody>
        </p:sp>
      </p:grpSp>
      <p:grpSp>
        <p:nvGrpSpPr>
          <p:cNvPr id="1522734" name="Group 46"/>
          <p:cNvGrpSpPr>
            <a:grpSpLocks/>
          </p:cNvGrpSpPr>
          <p:nvPr/>
        </p:nvGrpSpPr>
        <p:grpSpPr bwMode="auto">
          <a:xfrm>
            <a:off x="2747963" y="3151188"/>
            <a:ext cx="1549400" cy="396875"/>
            <a:chOff x="1771" y="1965"/>
            <a:chExt cx="976" cy="250"/>
          </a:xfrm>
        </p:grpSpPr>
        <p:sp>
          <p:nvSpPr>
            <p:cNvPr id="1522735" name="Text Box 47"/>
            <p:cNvSpPr txBox="1">
              <a:spLocks noChangeArrowheads="1"/>
            </p:cNvSpPr>
            <p:nvPr/>
          </p:nvSpPr>
          <p:spPr bwMode="auto">
            <a:xfrm>
              <a:off x="1987" y="1965"/>
              <a:ext cx="76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990000"/>
                  </a:solidFill>
                  <a:ea typeface="幼圆" pitchFamily="49" charset="-122"/>
                </a:rPr>
                <a:t>压缩试验</a:t>
              </a:r>
            </a:p>
          </p:txBody>
        </p:sp>
        <p:sp>
          <p:nvSpPr>
            <p:cNvPr id="1522736" name="Line 48"/>
            <p:cNvSpPr>
              <a:spLocks noChangeShapeType="1"/>
            </p:cNvSpPr>
            <p:nvPr/>
          </p:nvSpPr>
          <p:spPr bwMode="auto">
            <a:xfrm flipV="1">
              <a:off x="1771" y="2102"/>
              <a:ext cx="240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0" name="Text Box 7"/>
          <p:cNvSpPr txBox="1">
            <a:spLocks noChangeArrowheads="1"/>
          </p:cNvSpPr>
          <p:nvPr/>
        </p:nvSpPr>
        <p:spPr bwMode="auto">
          <a:xfrm>
            <a:off x="-9526" y="0"/>
            <a:ext cx="5016532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先期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固结压力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2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152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2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2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152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152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52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22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22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2000"/>
                                        <p:tgtEl>
                                          <p:spTgt spid="152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152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22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22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152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500"/>
                                        <p:tgtEl>
                                          <p:spTgt spid="152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52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52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52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2706" grpId="0" animBg="1"/>
      <p:bldP spid="1522708" grpId="0" animBg="1"/>
      <p:bldP spid="1522724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3715" name="Group 3"/>
          <p:cNvGrpSpPr>
            <a:grpSpLocks/>
          </p:cNvGrpSpPr>
          <p:nvPr/>
        </p:nvGrpSpPr>
        <p:grpSpPr bwMode="auto">
          <a:xfrm>
            <a:off x="4714875" y="738188"/>
            <a:ext cx="4208463" cy="4930775"/>
            <a:chOff x="2970" y="465"/>
            <a:chExt cx="2651" cy="3106"/>
          </a:xfrm>
        </p:grpSpPr>
        <p:grpSp>
          <p:nvGrpSpPr>
            <p:cNvPr id="1523716" name="Group 4"/>
            <p:cNvGrpSpPr>
              <a:grpSpLocks/>
            </p:cNvGrpSpPr>
            <p:nvPr/>
          </p:nvGrpSpPr>
          <p:grpSpPr bwMode="auto">
            <a:xfrm>
              <a:off x="2970" y="465"/>
              <a:ext cx="2651" cy="3106"/>
              <a:chOff x="2970" y="465"/>
              <a:chExt cx="2651" cy="3106"/>
            </a:xfrm>
          </p:grpSpPr>
          <p:grpSp>
            <p:nvGrpSpPr>
              <p:cNvPr id="1523717" name="Group 5"/>
              <p:cNvGrpSpPr>
                <a:grpSpLocks/>
              </p:cNvGrpSpPr>
              <p:nvPr/>
            </p:nvGrpSpPr>
            <p:grpSpPr bwMode="auto">
              <a:xfrm>
                <a:off x="2970" y="465"/>
                <a:ext cx="2634" cy="3106"/>
                <a:chOff x="2970" y="465"/>
                <a:chExt cx="2634" cy="3106"/>
              </a:xfrm>
            </p:grpSpPr>
            <p:sp>
              <p:nvSpPr>
                <p:cNvPr id="1523718" name="Rectangle 6"/>
                <p:cNvSpPr>
                  <a:spLocks noChangeArrowheads="1"/>
                </p:cNvSpPr>
                <p:nvPr/>
              </p:nvSpPr>
              <p:spPr bwMode="auto">
                <a:xfrm>
                  <a:off x="2970" y="465"/>
                  <a:ext cx="2634" cy="31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EC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23719" name="Freeform 7"/>
                <p:cNvSpPr>
                  <a:spLocks/>
                </p:cNvSpPr>
                <p:nvPr/>
              </p:nvSpPr>
              <p:spPr bwMode="auto">
                <a:xfrm>
                  <a:off x="3305" y="1197"/>
                  <a:ext cx="1783" cy="1598"/>
                </a:xfrm>
                <a:custGeom>
                  <a:avLst/>
                  <a:gdLst>
                    <a:gd name="T0" fmla="*/ 0 w 1670"/>
                    <a:gd name="T1" fmla="*/ 0 h 1645"/>
                    <a:gd name="T2" fmla="*/ 134 w 1670"/>
                    <a:gd name="T3" fmla="*/ 20 h 1645"/>
                    <a:gd name="T4" fmla="*/ 297 w 1670"/>
                    <a:gd name="T5" fmla="*/ 56 h 1645"/>
                    <a:gd name="T6" fmla="*/ 459 w 1670"/>
                    <a:gd name="T7" fmla="*/ 110 h 1645"/>
                    <a:gd name="T8" fmla="*/ 544 w 1670"/>
                    <a:gd name="T9" fmla="*/ 146 h 1645"/>
                    <a:gd name="T10" fmla="*/ 659 w 1670"/>
                    <a:gd name="T11" fmla="*/ 203 h 1645"/>
                    <a:gd name="T12" fmla="*/ 773 w 1670"/>
                    <a:gd name="T13" fmla="*/ 279 h 1645"/>
                    <a:gd name="T14" fmla="*/ 894 w 1670"/>
                    <a:gd name="T15" fmla="*/ 392 h 1645"/>
                    <a:gd name="T16" fmla="*/ 1048 w 1670"/>
                    <a:gd name="T17" fmla="*/ 611 h 1645"/>
                    <a:gd name="T18" fmla="*/ 1230 w 1670"/>
                    <a:gd name="T19" fmla="*/ 921 h 1645"/>
                    <a:gd name="T20" fmla="*/ 1334 w 1670"/>
                    <a:gd name="T21" fmla="*/ 1090 h 1645"/>
                    <a:gd name="T22" fmla="*/ 1505 w 1670"/>
                    <a:gd name="T23" fmla="*/ 1372 h 1645"/>
                    <a:gd name="T24" fmla="*/ 1593 w 1670"/>
                    <a:gd name="T25" fmla="*/ 1519 h 1645"/>
                    <a:gd name="T26" fmla="*/ 1640 w 1670"/>
                    <a:gd name="T27" fmla="*/ 1598 h 1645"/>
                    <a:gd name="T28" fmla="*/ 1670 w 1670"/>
                    <a:gd name="T29" fmla="*/ 1645 h 1645"/>
                    <a:gd name="connsiteX0" fmla="*/ 0 w 10000"/>
                    <a:gd name="connsiteY0" fmla="*/ 0 h 10000"/>
                    <a:gd name="connsiteX1" fmla="*/ 802 w 10000"/>
                    <a:gd name="connsiteY1" fmla="*/ 122 h 10000"/>
                    <a:gd name="connsiteX2" fmla="*/ 1778 w 10000"/>
                    <a:gd name="connsiteY2" fmla="*/ 340 h 10000"/>
                    <a:gd name="connsiteX3" fmla="*/ 2561 w 10000"/>
                    <a:gd name="connsiteY3" fmla="*/ 582 h 10000"/>
                    <a:gd name="connsiteX4" fmla="*/ 3257 w 10000"/>
                    <a:gd name="connsiteY4" fmla="*/ 888 h 10000"/>
                    <a:gd name="connsiteX5" fmla="*/ 3946 w 10000"/>
                    <a:gd name="connsiteY5" fmla="*/ 1234 h 10000"/>
                    <a:gd name="connsiteX6" fmla="*/ 4629 w 10000"/>
                    <a:gd name="connsiteY6" fmla="*/ 1696 h 10000"/>
                    <a:gd name="connsiteX7" fmla="*/ 5353 w 10000"/>
                    <a:gd name="connsiteY7" fmla="*/ 2383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9539 w 10000"/>
                    <a:gd name="connsiteY12" fmla="*/ 9234 h 10000"/>
                    <a:gd name="connsiteX13" fmla="*/ 9820 w 10000"/>
                    <a:gd name="connsiteY13" fmla="*/ 9714 h 10000"/>
                    <a:gd name="connsiteX14" fmla="*/ 10000 w 10000"/>
                    <a:gd name="connsiteY14" fmla="*/ 10000 h 10000"/>
                    <a:gd name="connsiteX0" fmla="*/ 0 w 10000"/>
                    <a:gd name="connsiteY0" fmla="*/ 0 h 10000"/>
                    <a:gd name="connsiteX1" fmla="*/ 802 w 10000"/>
                    <a:gd name="connsiteY1" fmla="*/ 122 h 10000"/>
                    <a:gd name="connsiteX2" fmla="*/ 1778 w 10000"/>
                    <a:gd name="connsiteY2" fmla="*/ 340 h 10000"/>
                    <a:gd name="connsiteX3" fmla="*/ 2561 w 10000"/>
                    <a:gd name="connsiteY3" fmla="*/ 582 h 10000"/>
                    <a:gd name="connsiteX4" fmla="*/ 3257 w 10000"/>
                    <a:gd name="connsiteY4" fmla="*/ 888 h 10000"/>
                    <a:gd name="connsiteX5" fmla="*/ 3946 w 10000"/>
                    <a:gd name="connsiteY5" fmla="*/ 1234 h 10000"/>
                    <a:gd name="connsiteX6" fmla="*/ 4629 w 10000"/>
                    <a:gd name="connsiteY6" fmla="*/ 1696 h 10000"/>
                    <a:gd name="connsiteX7" fmla="*/ 5353 w 10000"/>
                    <a:gd name="connsiteY7" fmla="*/ 2383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9539 w 10000"/>
                    <a:gd name="connsiteY12" fmla="*/ 9234 h 10000"/>
                    <a:gd name="connsiteX13" fmla="*/ 10000 w 10000"/>
                    <a:gd name="connsiteY13" fmla="*/ 10000 h 10000"/>
                    <a:gd name="connsiteX0" fmla="*/ 0 w 10000"/>
                    <a:gd name="connsiteY0" fmla="*/ 0 h 10000"/>
                    <a:gd name="connsiteX1" fmla="*/ 802 w 10000"/>
                    <a:gd name="connsiteY1" fmla="*/ 122 h 10000"/>
                    <a:gd name="connsiteX2" fmla="*/ 1778 w 10000"/>
                    <a:gd name="connsiteY2" fmla="*/ 340 h 10000"/>
                    <a:gd name="connsiteX3" fmla="*/ 2561 w 10000"/>
                    <a:gd name="connsiteY3" fmla="*/ 582 h 10000"/>
                    <a:gd name="connsiteX4" fmla="*/ 3257 w 10000"/>
                    <a:gd name="connsiteY4" fmla="*/ 888 h 10000"/>
                    <a:gd name="connsiteX5" fmla="*/ 3946 w 10000"/>
                    <a:gd name="connsiteY5" fmla="*/ 1234 h 10000"/>
                    <a:gd name="connsiteX6" fmla="*/ 4629 w 10000"/>
                    <a:gd name="connsiteY6" fmla="*/ 1696 h 10000"/>
                    <a:gd name="connsiteX7" fmla="*/ 5353 w 10000"/>
                    <a:gd name="connsiteY7" fmla="*/ 2383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802 w 10000"/>
                    <a:gd name="connsiteY1" fmla="*/ 122 h 10000"/>
                    <a:gd name="connsiteX2" fmla="*/ 1778 w 10000"/>
                    <a:gd name="connsiteY2" fmla="*/ 340 h 10000"/>
                    <a:gd name="connsiteX3" fmla="*/ 2561 w 10000"/>
                    <a:gd name="connsiteY3" fmla="*/ 582 h 10000"/>
                    <a:gd name="connsiteX4" fmla="*/ 3257 w 10000"/>
                    <a:gd name="connsiteY4" fmla="*/ 888 h 10000"/>
                    <a:gd name="connsiteX5" fmla="*/ 3946 w 10000"/>
                    <a:gd name="connsiteY5" fmla="*/ 1234 h 10000"/>
                    <a:gd name="connsiteX6" fmla="*/ 4629 w 10000"/>
                    <a:gd name="connsiteY6" fmla="*/ 1696 h 10000"/>
                    <a:gd name="connsiteX7" fmla="*/ 5353 w 10000"/>
                    <a:gd name="connsiteY7" fmla="*/ 2383 h 10000"/>
                    <a:gd name="connsiteX8" fmla="*/ 5811 w 10000"/>
                    <a:gd name="connsiteY8" fmla="*/ 3011 h 10000"/>
                    <a:gd name="connsiteX9" fmla="*/ 6275 w 10000"/>
                    <a:gd name="connsiteY9" fmla="*/ 3714 h 10000"/>
                    <a:gd name="connsiteX10" fmla="*/ 7365 w 10000"/>
                    <a:gd name="connsiteY10" fmla="*/ 5599 h 10000"/>
                    <a:gd name="connsiteX11" fmla="*/ 7988 w 10000"/>
                    <a:gd name="connsiteY11" fmla="*/ 6626 h 10000"/>
                    <a:gd name="connsiteX12" fmla="*/ 9012 w 10000"/>
                    <a:gd name="connsiteY12" fmla="*/ 8340 h 10000"/>
                    <a:gd name="connsiteX13" fmla="*/ 10000 w 10000"/>
                    <a:gd name="connsiteY13" fmla="*/ 10000 h 10000"/>
                    <a:gd name="connsiteX0" fmla="*/ 0 w 10000"/>
                    <a:gd name="connsiteY0" fmla="*/ 0 h 10000"/>
                    <a:gd name="connsiteX1" fmla="*/ 802 w 10000"/>
                    <a:gd name="connsiteY1" fmla="*/ 122 h 10000"/>
                    <a:gd name="connsiteX2" fmla="*/ 1778 w 10000"/>
                    <a:gd name="connsiteY2" fmla="*/ 340 h 10000"/>
                    <a:gd name="connsiteX3" fmla="*/ 2561 w 10000"/>
                    <a:gd name="connsiteY3" fmla="*/ 582 h 10000"/>
                    <a:gd name="connsiteX4" fmla="*/ 3308 w 10000"/>
                    <a:gd name="connsiteY4" fmla="*/ 871 h 10000"/>
                    <a:gd name="connsiteX5" fmla="*/ 3946 w 10000"/>
                    <a:gd name="connsiteY5" fmla="*/ 1234 h 10000"/>
                    <a:gd name="connsiteX6" fmla="*/ 4629 w 10000"/>
                    <a:gd name="connsiteY6" fmla="*/ 1696 h 10000"/>
                    <a:gd name="connsiteX7" fmla="*/ 5353 w 10000"/>
                    <a:gd name="connsiteY7" fmla="*/ 2383 h 10000"/>
                    <a:gd name="connsiteX8" fmla="*/ 5811 w 10000"/>
                    <a:gd name="connsiteY8" fmla="*/ 3011 h 10000"/>
                    <a:gd name="connsiteX9" fmla="*/ 6275 w 10000"/>
                    <a:gd name="connsiteY9" fmla="*/ 3714 h 10000"/>
                    <a:gd name="connsiteX10" fmla="*/ 7365 w 10000"/>
                    <a:gd name="connsiteY10" fmla="*/ 5599 h 10000"/>
                    <a:gd name="connsiteX11" fmla="*/ 7988 w 10000"/>
                    <a:gd name="connsiteY11" fmla="*/ 6626 h 10000"/>
                    <a:gd name="connsiteX12" fmla="*/ 9012 w 10000"/>
                    <a:gd name="connsiteY12" fmla="*/ 8340 h 10000"/>
                    <a:gd name="connsiteX13" fmla="*/ 10000 w 10000"/>
                    <a:gd name="connsiteY13" fmla="*/ 10000 h 10000"/>
                    <a:gd name="connsiteX0" fmla="*/ 0 w 10000"/>
                    <a:gd name="connsiteY0" fmla="*/ 0 h 10000"/>
                    <a:gd name="connsiteX1" fmla="*/ 802 w 10000"/>
                    <a:gd name="connsiteY1" fmla="*/ 122 h 10000"/>
                    <a:gd name="connsiteX2" fmla="*/ 1778 w 10000"/>
                    <a:gd name="connsiteY2" fmla="*/ 340 h 10000"/>
                    <a:gd name="connsiteX3" fmla="*/ 2561 w 10000"/>
                    <a:gd name="connsiteY3" fmla="*/ 582 h 10000"/>
                    <a:gd name="connsiteX4" fmla="*/ 3291 w 10000"/>
                    <a:gd name="connsiteY4" fmla="*/ 906 h 10000"/>
                    <a:gd name="connsiteX5" fmla="*/ 3946 w 10000"/>
                    <a:gd name="connsiteY5" fmla="*/ 1234 h 10000"/>
                    <a:gd name="connsiteX6" fmla="*/ 4629 w 10000"/>
                    <a:gd name="connsiteY6" fmla="*/ 1696 h 10000"/>
                    <a:gd name="connsiteX7" fmla="*/ 5353 w 10000"/>
                    <a:gd name="connsiteY7" fmla="*/ 2383 h 10000"/>
                    <a:gd name="connsiteX8" fmla="*/ 5811 w 10000"/>
                    <a:gd name="connsiteY8" fmla="*/ 3011 h 10000"/>
                    <a:gd name="connsiteX9" fmla="*/ 6275 w 10000"/>
                    <a:gd name="connsiteY9" fmla="*/ 3714 h 10000"/>
                    <a:gd name="connsiteX10" fmla="*/ 7365 w 10000"/>
                    <a:gd name="connsiteY10" fmla="*/ 5599 h 10000"/>
                    <a:gd name="connsiteX11" fmla="*/ 7988 w 10000"/>
                    <a:gd name="connsiteY11" fmla="*/ 6626 h 10000"/>
                    <a:gd name="connsiteX12" fmla="*/ 9012 w 10000"/>
                    <a:gd name="connsiteY12" fmla="*/ 8340 h 10000"/>
                    <a:gd name="connsiteX13" fmla="*/ 10000 w 10000"/>
                    <a:gd name="connsiteY13" fmla="*/ 10000 h 10000"/>
                    <a:gd name="connsiteX0" fmla="*/ 0 w 10000"/>
                    <a:gd name="connsiteY0" fmla="*/ 0 h 10000"/>
                    <a:gd name="connsiteX1" fmla="*/ 802 w 10000"/>
                    <a:gd name="connsiteY1" fmla="*/ 122 h 10000"/>
                    <a:gd name="connsiteX2" fmla="*/ 1778 w 10000"/>
                    <a:gd name="connsiteY2" fmla="*/ 340 h 10000"/>
                    <a:gd name="connsiteX3" fmla="*/ 3291 w 10000"/>
                    <a:gd name="connsiteY3" fmla="*/ 906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353 w 10000"/>
                    <a:gd name="connsiteY6" fmla="*/ 2383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802 w 10000"/>
                    <a:gd name="connsiteY1" fmla="*/ 122 h 10000"/>
                    <a:gd name="connsiteX2" fmla="*/ 1778 w 10000"/>
                    <a:gd name="connsiteY2" fmla="*/ 340 h 10000"/>
                    <a:gd name="connsiteX3" fmla="*/ 3035 w 10000"/>
                    <a:gd name="connsiteY3" fmla="*/ 802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353 w 10000"/>
                    <a:gd name="connsiteY6" fmla="*/ 2383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802 w 10000"/>
                    <a:gd name="connsiteY1" fmla="*/ 122 h 10000"/>
                    <a:gd name="connsiteX2" fmla="*/ 1778 w 10000"/>
                    <a:gd name="connsiteY2" fmla="*/ 340 h 10000"/>
                    <a:gd name="connsiteX3" fmla="*/ 3035 w 10000"/>
                    <a:gd name="connsiteY3" fmla="*/ 750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353 w 10000"/>
                    <a:gd name="connsiteY6" fmla="*/ 2383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802 w 10000"/>
                    <a:gd name="connsiteY1" fmla="*/ 122 h 10000"/>
                    <a:gd name="connsiteX2" fmla="*/ 1778 w 10000"/>
                    <a:gd name="connsiteY2" fmla="*/ 340 h 10000"/>
                    <a:gd name="connsiteX3" fmla="*/ 3086 w 10000"/>
                    <a:gd name="connsiteY3" fmla="*/ 785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353 w 10000"/>
                    <a:gd name="connsiteY6" fmla="*/ 2383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802 w 10000"/>
                    <a:gd name="connsiteY1" fmla="*/ 122 h 10000"/>
                    <a:gd name="connsiteX2" fmla="*/ 2000 w 10000"/>
                    <a:gd name="connsiteY2" fmla="*/ 392 h 10000"/>
                    <a:gd name="connsiteX3" fmla="*/ 3086 w 10000"/>
                    <a:gd name="connsiteY3" fmla="*/ 785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353 w 10000"/>
                    <a:gd name="connsiteY6" fmla="*/ 2383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000 w 10000"/>
                    <a:gd name="connsiteY2" fmla="*/ 392 h 10000"/>
                    <a:gd name="connsiteX3" fmla="*/ 3086 w 10000"/>
                    <a:gd name="connsiteY3" fmla="*/ 785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353 w 10000"/>
                    <a:gd name="connsiteY6" fmla="*/ 2383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000 w 10000"/>
                    <a:gd name="connsiteY2" fmla="*/ 392 h 10000"/>
                    <a:gd name="connsiteX3" fmla="*/ 3086 w 10000"/>
                    <a:gd name="connsiteY3" fmla="*/ 785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353 w 10000"/>
                    <a:gd name="connsiteY6" fmla="*/ 2383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000 w 10000"/>
                    <a:gd name="connsiteY2" fmla="*/ 392 h 10000"/>
                    <a:gd name="connsiteX3" fmla="*/ 3086 w 10000"/>
                    <a:gd name="connsiteY3" fmla="*/ 785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353 w 10000"/>
                    <a:gd name="connsiteY6" fmla="*/ 2383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000 w 10000"/>
                    <a:gd name="connsiteY2" fmla="*/ 392 h 10000"/>
                    <a:gd name="connsiteX3" fmla="*/ 3086 w 10000"/>
                    <a:gd name="connsiteY3" fmla="*/ 785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353 w 10000"/>
                    <a:gd name="connsiteY6" fmla="*/ 2383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000 w 10000"/>
                    <a:gd name="connsiteY2" fmla="*/ 392 h 10000"/>
                    <a:gd name="connsiteX3" fmla="*/ 3086 w 10000"/>
                    <a:gd name="connsiteY3" fmla="*/ 785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353 w 10000"/>
                    <a:gd name="connsiteY6" fmla="*/ 2383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000 w 10000"/>
                    <a:gd name="connsiteY2" fmla="*/ 392 h 10000"/>
                    <a:gd name="connsiteX3" fmla="*/ 3086 w 10000"/>
                    <a:gd name="connsiteY3" fmla="*/ 785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353 w 10000"/>
                    <a:gd name="connsiteY6" fmla="*/ 2383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102 w 10000"/>
                    <a:gd name="connsiteY2" fmla="*/ 392 h 10000"/>
                    <a:gd name="connsiteX3" fmla="*/ 3086 w 10000"/>
                    <a:gd name="connsiteY3" fmla="*/ 785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353 w 10000"/>
                    <a:gd name="connsiteY6" fmla="*/ 2383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102 w 10000"/>
                    <a:gd name="connsiteY2" fmla="*/ 392 h 10000"/>
                    <a:gd name="connsiteX3" fmla="*/ 3223 w 10000"/>
                    <a:gd name="connsiteY3" fmla="*/ 837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353 w 10000"/>
                    <a:gd name="connsiteY6" fmla="*/ 2383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102 w 10000"/>
                    <a:gd name="connsiteY2" fmla="*/ 392 h 10000"/>
                    <a:gd name="connsiteX3" fmla="*/ 3223 w 10000"/>
                    <a:gd name="connsiteY3" fmla="*/ 837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233 w 10000"/>
                    <a:gd name="connsiteY6" fmla="*/ 2279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365 w 10000"/>
                    <a:gd name="connsiteY9" fmla="*/ 5599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102 w 10000"/>
                    <a:gd name="connsiteY2" fmla="*/ 392 h 10000"/>
                    <a:gd name="connsiteX3" fmla="*/ 3223 w 10000"/>
                    <a:gd name="connsiteY3" fmla="*/ 837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233 w 10000"/>
                    <a:gd name="connsiteY6" fmla="*/ 2279 h 10000"/>
                    <a:gd name="connsiteX7" fmla="*/ 5811 w 10000"/>
                    <a:gd name="connsiteY7" fmla="*/ 3011 h 10000"/>
                    <a:gd name="connsiteX8" fmla="*/ 6275 w 10000"/>
                    <a:gd name="connsiteY8" fmla="*/ 3714 h 10000"/>
                    <a:gd name="connsiteX9" fmla="*/ 7211 w 10000"/>
                    <a:gd name="connsiteY9" fmla="*/ 5270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102 w 10000"/>
                    <a:gd name="connsiteY2" fmla="*/ 392 h 10000"/>
                    <a:gd name="connsiteX3" fmla="*/ 3223 w 10000"/>
                    <a:gd name="connsiteY3" fmla="*/ 837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233 w 10000"/>
                    <a:gd name="connsiteY6" fmla="*/ 2279 h 10000"/>
                    <a:gd name="connsiteX7" fmla="*/ 5811 w 10000"/>
                    <a:gd name="connsiteY7" fmla="*/ 3011 h 10000"/>
                    <a:gd name="connsiteX8" fmla="*/ 6343 w 10000"/>
                    <a:gd name="connsiteY8" fmla="*/ 3835 h 10000"/>
                    <a:gd name="connsiteX9" fmla="*/ 7211 w 10000"/>
                    <a:gd name="connsiteY9" fmla="*/ 5270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102 w 10000"/>
                    <a:gd name="connsiteY2" fmla="*/ 392 h 10000"/>
                    <a:gd name="connsiteX3" fmla="*/ 3223 w 10000"/>
                    <a:gd name="connsiteY3" fmla="*/ 837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233 w 10000"/>
                    <a:gd name="connsiteY6" fmla="*/ 2279 h 10000"/>
                    <a:gd name="connsiteX7" fmla="*/ 5811 w 10000"/>
                    <a:gd name="connsiteY7" fmla="*/ 3011 h 10000"/>
                    <a:gd name="connsiteX8" fmla="*/ 6394 w 10000"/>
                    <a:gd name="connsiteY8" fmla="*/ 3887 h 10000"/>
                    <a:gd name="connsiteX9" fmla="*/ 7211 w 10000"/>
                    <a:gd name="connsiteY9" fmla="*/ 5270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102 w 10000"/>
                    <a:gd name="connsiteY2" fmla="*/ 392 h 10000"/>
                    <a:gd name="connsiteX3" fmla="*/ 3163 w 10000"/>
                    <a:gd name="connsiteY3" fmla="*/ 837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233 w 10000"/>
                    <a:gd name="connsiteY6" fmla="*/ 2279 h 10000"/>
                    <a:gd name="connsiteX7" fmla="*/ 5811 w 10000"/>
                    <a:gd name="connsiteY7" fmla="*/ 3011 h 10000"/>
                    <a:gd name="connsiteX8" fmla="*/ 6394 w 10000"/>
                    <a:gd name="connsiteY8" fmla="*/ 3887 h 10000"/>
                    <a:gd name="connsiteX9" fmla="*/ 7211 w 10000"/>
                    <a:gd name="connsiteY9" fmla="*/ 5270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058 w 10000"/>
                    <a:gd name="connsiteY1" fmla="*/ 139 h 10000"/>
                    <a:gd name="connsiteX2" fmla="*/ 2042 w 10000"/>
                    <a:gd name="connsiteY2" fmla="*/ 473 h 10000"/>
                    <a:gd name="connsiteX3" fmla="*/ 3163 w 10000"/>
                    <a:gd name="connsiteY3" fmla="*/ 837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233 w 10000"/>
                    <a:gd name="connsiteY6" fmla="*/ 2279 h 10000"/>
                    <a:gd name="connsiteX7" fmla="*/ 5811 w 10000"/>
                    <a:gd name="connsiteY7" fmla="*/ 3011 h 10000"/>
                    <a:gd name="connsiteX8" fmla="*/ 6394 w 10000"/>
                    <a:gd name="connsiteY8" fmla="*/ 3887 h 10000"/>
                    <a:gd name="connsiteX9" fmla="*/ 7211 w 10000"/>
                    <a:gd name="connsiteY9" fmla="*/ 5270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799 w 10000"/>
                    <a:gd name="connsiteY1" fmla="*/ 301 h 10000"/>
                    <a:gd name="connsiteX2" fmla="*/ 2042 w 10000"/>
                    <a:gd name="connsiteY2" fmla="*/ 473 h 10000"/>
                    <a:gd name="connsiteX3" fmla="*/ 3163 w 10000"/>
                    <a:gd name="connsiteY3" fmla="*/ 837 h 10000"/>
                    <a:gd name="connsiteX4" fmla="*/ 3946 w 10000"/>
                    <a:gd name="connsiteY4" fmla="*/ 1234 h 10000"/>
                    <a:gd name="connsiteX5" fmla="*/ 4629 w 10000"/>
                    <a:gd name="connsiteY5" fmla="*/ 1696 h 10000"/>
                    <a:gd name="connsiteX6" fmla="*/ 5233 w 10000"/>
                    <a:gd name="connsiteY6" fmla="*/ 2279 h 10000"/>
                    <a:gd name="connsiteX7" fmla="*/ 5811 w 10000"/>
                    <a:gd name="connsiteY7" fmla="*/ 3011 h 10000"/>
                    <a:gd name="connsiteX8" fmla="*/ 6394 w 10000"/>
                    <a:gd name="connsiteY8" fmla="*/ 3887 h 10000"/>
                    <a:gd name="connsiteX9" fmla="*/ 7211 w 10000"/>
                    <a:gd name="connsiteY9" fmla="*/ 5270 h 10000"/>
                    <a:gd name="connsiteX10" fmla="*/ 7988 w 10000"/>
                    <a:gd name="connsiteY10" fmla="*/ 6626 h 10000"/>
                    <a:gd name="connsiteX11" fmla="*/ 9012 w 10000"/>
                    <a:gd name="connsiteY11" fmla="*/ 8340 h 10000"/>
                    <a:gd name="connsiteX12" fmla="*/ 10000 w 10000"/>
                    <a:gd name="connsiteY12" fmla="*/ 10000 h 10000"/>
                    <a:gd name="connsiteX0" fmla="*/ 0 w 10379"/>
                    <a:gd name="connsiteY0" fmla="*/ 0 h 9838"/>
                    <a:gd name="connsiteX1" fmla="*/ 1178 w 10379"/>
                    <a:gd name="connsiteY1" fmla="*/ 139 h 9838"/>
                    <a:gd name="connsiteX2" fmla="*/ 2421 w 10379"/>
                    <a:gd name="connsiteY2" fmla="*/ 311 h 9838"/>
                    <a:gd name="connsiteX3" fmla="*/ 3542 w 10379"/>
                    <a:gd name="connsiteY3" fmla="*/ 675 h 9838"/>
                    <a:gd name="connsiteX4" fmla="*/ 4325 w 10379"/>
                    <a:gd name="connsiteY4" fmla="*/ 1072 h 9838"/>
                    <a:gd name="connsiteX5" fmla="*/ 5008 w 10379"/>
                    <a:gd name="connsiteY5" fmla="*/ 1534 h 9838"/>
                    <a:gd name="connsiteX6" fmla="*/ 5612 w 10379"/>
                    <a:gd name="connsiteY6" fmla="*/ 2117 h 9838"/>
                    <a:gd name="connsiteX7" fmla="*/ 6190 w 10379"/>
                    <a:gd name="connsiteY7" fmla="*/ 2849 h 9838"/>
                    <a:gd name="connsiteX8" fmla="*/ 6773 w 10379"/>
                    <a:gd name="connsiteY8" fmla="*/ 3725 h 9838"/>
                    <a:gd name="connsiteX9" fmla="*/ 7590 w 10379"/>
                    <a:gd name="connsiteY9" fmla="*/ 5108 h 9838"/>
                    <a:gd name="connsiteX10" fmla="*/ 8367 w 10379"/>
                    <a:gd name="connsiteY10" fmla="*/ 6464 h 9838"/>
                    <a:gd name="connsiteX11" fmla="*/ 9391 w 10379"/>
                    <a:gd name="connsiteY11" fmla="*/ 8178 h 9838"/>
                    <a:gd name="connsiteX12" fmla="*/ 10379 w 10379"/>
                    <a:gd name="connsiteY12" fmla="*/ 9838 h 9838"/>
                    <a:gd name="connsiteX0" fmla="*/ 0 w 10000"/>
                    <a:gd name="connsiteY0" fmla="*/ 0 h 10000"/>
                    <a:gd name="connsiteX1" fmla="*/ 1135 w 10000"/>
                    <a:gd name="connsiteY1" fmla="*/ 141 h 10000"/>
                    <a:gd name="connsiteX2" fmla="*/ 2371 w 10000"/>
                    <a:gd name="connsiteY2" fmla="*/ 378 h 10000"/>
                    <a:gd name="connsiteX3" fmla="*/ 3413 w 10000"/>
                    <a:gd name="connsiteY3" fmla="*/ 686 h 10000"/>
                    <a:gd name="connsiteX4" fmla="*/ 4167 w 10000"/>
                    <a:gd name="connsiteY4" fmla="*/ 1090 h 10000"/>
                    <a:gd name="connsiteX5" fmla="*/ 4825 w 10000"/>
                    <a:gd name="connsiteY5" fmla="*/ 1559 h 10000"/>
                    <a:gd name="connsiteX6" fmla="*/ 5407 w 10000"/>
                    <a:gd name="connsiteY6" fmla="*/ 2152 h 10000"/>
                    <a:gd name="connsiteX7" fmla="*/ 5964 w 10000"/>
                    <a:gd name="connsiteY7" fmla="*/ 2896 h 10000"/>
                    <a:gd name="connsiteX8" fmla="*/ 6526 w 10000"/>
                    <a:gd name="connsiteY8" fmla="*/ 3786 h 10000"/>
                    <a:gd name="connsiteX9" fmla="*/ 7313 w 10000"/>
                    <a:gd name="connsiteY9" fmla="*/ 5192 h 10000"/>
                    <a:gd name="connsiteX10" fmla="*/ 8061 w 10000"/>
                    <a:gd name="connsiteY10" fmla="*/ 6570 h 10000"/>
                    <a:gd name="connsiteX11" fmla="*/ 9048 w 10000"/>
                    <a:gd name="connsiteY11" fmla="*/ 8313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135 w 10000"/>
                    <a:gd name="connsiteY1" fmla="*/ 141 h 10000"/>
                    <a:gd name="connsiteX2" fmla="*/ 2371 w 10000"/>
                    <a:gd name="connsiteY2" fmla="*/ 378 h 10000"/>
                    <a:gd name="connsiteX3" fmla="*/ 3317 w 10000"/>
                    <a:gd name="connsiteY3" fmla="*/ 727 h 10000"/>
                    <a:gd name="connsiteX4" fmla="*/ 4167 w 10000"/>
                    <a:gd name="connsiteY4" fmla="*/ 1090 h 10000"/>
                    <a:gd name="connsiteX5" fmla="*/ 4825 w 10000"/>
                    <a:gd name="connsiteY5" fmla="*/ 1559 h 10000"/>
                    <a:gd name="connsiteX6" fmla="*/ 5407 w 10000"/>
                    <a:gd name="connsiteY6" fmla="*/ 2152 h 10000"/>
                    <a:gd name="connsiteX7" fmla="*/ 5964 w 10000"/>
                    <a:gd name="connsiteY7" fmla="*/ 2896 h 10000"/>
                    <a:gd name="connsiteX8" fmla="*/ 6526 w 10000"/>
                    <a:gd name="connsiteY8" fmla="*/ 3786 h 10000"/>
                    <a:gd name="connsiteX9" fmla="*/ 7313 w 10000"/>
                    <a:gd name="connsiteY9" fmla="*/ 5192 h 10000"/>
                    <a:gd name="connsiteX10" fmla="*/ 8061 w 10000"/>
                    <a:gd name="connsiteY10" fmla="*/ 6570 h 10000"/>
                    <a:gd name="connsiteX11" fmla="*/ 9048 w 10000"/>
                    <a:gd name="connsiteY11" fmla="*/ 8313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135 w 10000"/>
                    <a:gd name="connsiteY1" fmla="*/ 141 h 10000"/>
                    <a:gd name="connsiteX2" fmla="*/ 2371 w 10000"/>
                    <a:gd name="connsiteY2" fmla="*/ 378 h 10000"/>
                    <a:gd name="connsiteX3" fmla="*/ 3394 w 10000"/>
                    <a:gd name="connsiteY3" fmla="*/ 706 h 10000"/>
                    <a:gd name="connsiteX4" fmla="*/ 4167 w 10000"/>
                    <a:gd name="connsiteY4" fmla="*/ 1090 h 10000"/>
                    <a:gd name="connsiteX5" fmla="*/ 4825 w 10000"/>
                    <a:gd name="connsiteY5" fmla="*/ 1559 h 10000"/>
                    <a:gd name="connsiteX6" fmla="*/ 5407 w 10000"/>
                    <a:gd name="connsiteY6" fmla="*/ 2152 h 10000"/>
                    <a:gd name="connsiteX7" fmla="*/ 5964 w 10000"/>
                    <a:gd name="connsiteY7" fmla="*/ 2896 h 10000"/>
                    <a:gd name="connsiteX8" fmla="*/ 6526 w 10000"/>
                    <a:gd name="connsiteY8" fmla="*/ 3786 h 10000"/>
                    <a:gd name="connsiteX9" fmla="*/ 7313 w 10000"/>
                    <a:gd name="connsiteY9" fmla="*/ 5192 h 10000"/>
                    <a:gd name="connsiteX10" fmla="*/ 8061 w 10000"/>
                    <a:gd name="connsiteY10" fmla="*/ 6570 h 10000"/>
                    <a:gd name="connsiteX11" fmla="*/ 9048 w 10000"/>
                    <a:gd name="connsiteY11" fmla="*/ 8313 h 10000"/>
                    <a:gd name="connsiteX12" fmla="*/ 10000 w 10000"/>
                    <a:gd name="connsiteY12" fmla="*/ 10000 h 10000"/>
                    <a:gd name="connsiteX0" fmla="*/ 0 w 10192"/>
                    <a:gd name="connsiteY0" fmla="*/ 0 h 9979"/>
                    <a:gd name="connsiteX1" fmla="*/ 1327 w 10192"/>
                    <a:gd name="connsiteY1" fmla="*/ 120 h 9979"/>
                    <a:gd name="connsiteX2" fmla="*/ 2563 w 10192"/>
                    <a:gd name="connsiteY2" fmla="*/ 357 h 9979"/>
                    <a:gd name="connsiteX3" fmla="*/ 3586 w 10192"/>
                    <a:gd name="connsiteY3" fmla="*/ 685 h 9979"/>
                    <a:gd name="connsiteX4" fmla="*/ 4359 w 10192"/>
                    <a:gd name="connsiteY4" fmla="*/ 1069 h 9979"/>
                    <a:gd name="connsiteX5" fmla="*/ 5017 w 10192"/>
                    <a:gd name="connsiteY5" fmla="*/ 1538 h 9979"/>
                    <a:gd name="connsiteX6" fmla="*/ 5599 w 10192"/>
                    <a:gd name="connsiteY6" fmla="*/ 2131 h 9979"/>
                    <a:gd name="connsiteX7" fmla="*/ 6156 w 10192"/>
                    <a:gd name="connsiteY7" fmla="*/ 2875 h 9979"/>
                    <a:gd name="connsiteX8" fmla="*/ 6718 w 10192"/>
                    <a:gd name="connsiteY8" fmla="*/ 3765 h 9979"/>
                    <a:gd name="connsiteX9" fmla="*/ 7505 w 10192"/>
                    <a:gd name="connsiteY9" fmla="*/ 5171 h 9979"/>
                    <a:gd name="connsiteX10" fmla="*/ 8253 w 10192"/>
                    <a:gd name="connsiteY10" fmla="*/ 6549 h 9979"/>
                    <a:gd name="connsiteX11" fmla="*/ 9240 w 10192"/>
                    <a:gd name="connsiteY11" fmla="*/ 8292 h 9979"/>
                    <a:gd name="connsiteX12" fmla="*/ 10192 w 10192"/>
                    <a:gd name="connsiteY12" fmla="*/ 9979 h 9979"/>
                    <a:gd name="connsiteX0" fmla="*/ 0 w 10000"/>
                    <a:gd name="connsiteY0" fmla="*/ 0 h 10000"/>
                    <a:gd name="connsiteX1" fmla="*/ 1302 w 10000"/>
                    <a:gd name="connsiteY1" fmla="*/ 120 h 10000"/>
                    <a:gd name="connsiteX2" fmla="*/ 2515 w 10000"/>
                    <a:gd name="connsiteY2" fmla="*/ 358 h 10000"/>
                    <a:gd name="connsiteX3" fmla="*/ 3461 w 10000"/>
                    <a:gd name="connsiteY3" fmla="*/ 665 h 10000"/>
                    <a:gd name="connsiteX4" fmla="*/ 4277 w 10000"/>
                    <a:gd name="connsiteY4" fmla="*/ 1071 h 10000"/>
                    <a:gd name="connsiteX5" fmla="*/ 4922 w 10000"/>
                    <a:gd name="connsiteY5" fmla="*/ 1541 h 10000"/>
                    <a:gd name="connsiteX6" fmla="*/ 5494 w 10000"/>
                    <a:gd name="connsiteY6" fmla="*/ 2135 h 10000"/>
                    <a:gd name="connsiteX7" fmla="*/ 6040 w 10000"/>
                    <a:gd name="connsiteY7" fmla="*/ 2881 h 10000"/>
                    <a:gd name="connsiteX8" fmla="*/ 6591 w 10000"/>
                    <a:gd name="connsiteY8" fmla="*/ 3773 h 10000"/>
                    <a:gd name="connsiteX9" fmla="*/ 7364 w 10000"/>
                    <a:gd name="connsiteY9" fmla="*/ 5182 h 10000"/>
                    <a:gd name="connsiteX10" fmla="*/ 8098 w 10000"/>
                    <a:gd name="connsiteY10" fmla="*/ 6563 h 10000"/>
                    <a:gd name="connsiteX11" fmla="*/ 9066 w 10000"/>
                    <a:gd name="connsiteY11" fmla="*/ 8309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302 w 10000"/>
                    <a:gd name="connsiteY1" fmla="*/ 120 h 10000"/>
                    <a:gd name="connsiteX2" fmla="*/ 2515 w 10000"/>
                    <a:gd name="connsiteY2" fmla="*/ 358 h 10000"/>
                    <a:gd name="connsiteX3" fmla="*/ 3518 w 10000"/>
                    <a:gd name="connsiteY3" fmla="*/ 686 h 10000"/>
                    <a:gd name="connsiteX4" fmla="*/ 4277 w 10000"/>
                    <a:gd name="connsiteY4" fmla="*/ 1071 h 10000"/>
                    <a:gd name="connsiteX5" fmla="*/ 4922 w 10000"/>
                    <a:gd name="connsiteY5" fmla="*/ 1541 h 10000"/>
                    <a:gd name="connsiteX6" fmla="*/ 5494 w 10000"/>
                    <a:gd name="connsiteY6" fmla="*/ 2135 h 10000"/>
                    <a:gd name="connsiteX7" fmla="*/ 6040 w 10000"/>
                    <a:gd name="connsiteY7" fmla="*/ 2881 h 10000"/>
                    <a:gd name="connsiteX8" fmla="*/ 6591 w 10000"/>
                    <a:gd name="connsiteY8" fmla="*/ 3773 h 10000"/>
                    <a:gd name="connsiteX9" fmla="*/ 7364 w 10000"/>
                    <a:gd name="connsiteY9" fmla="*/ 5182 h 10000"/>
                    <a:gd name="connsiteX10" fmla="*/ 8098 w 10000"/>
                    <a:gd name="connsiteY10" fmla="*/ 6563 h 10000"/>
                    <a:gd name="connsiteX11" fmla="*/ 9066 w 10000"/>
                    <a:gd name="connsiteY11" fmla="*/ 8309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302 w 10000"/>
                    <a:gd name="connsiteY1" fmla="*/ 120 h 10000"/>
                    <a:gd name="connsiteX2" fmla="*/ 2515 w 10000"/>
                    <a:gd name="connsiteY2" fmla="*/ 358 h 10000"/>
                    <a:gd name="connsiteX3" fmla="*/ 3556 w 10000"/>
                    <a:gd name="connsiteY3" fmla="*/ 665 h 10000"/>
                    <a:gd name="connsiteX4" fmla="*/ 4277 w 10000"/>
                    <a:gd name="connsiteY4" fmla="*/ 1071 h 10000"/>
                    <a:gd name="connsiteX5" fmla="*/ 4922 w 10000"/>
                    <a:gd name="connsiteY5" fmla="*/ 1541 h 10000"/>
                    <a:gd name="connsiteX6" fmla="*/ 5494 w 10000"/>
                    <a:gd name="connsiteY6" fmla="*/ 2135 h 10000"/>
                    <a:gd name="connsiteX7" fmla="*/ 6040 w 10000"/>
                    <a:gd name="connsiteY7" fmla="*/ 2881 h 10000"/>
                    <a:gd name="connsiteX8" fmla="*/ 6591 w 10000"/>
                    <a:gd name="connsiteY8" fmla="*/ 3773 h 10000"/>
                    <a:gd name="connsiteX9" fmla="*/ 7364 w 10000"/>
                    <a:gd name="connsiteY9" fmla="*/ 5182 h 10000"/>
                    <a:gd name="connsiteX10" fmla="*/ 8098 w 10000"/>
                    <a:gd name="connsiteY10" fmla="*/ 6563 h 10000"/>
                    <a:gd name="connsiteX11" fmla="*/ 9066 w 10000"/>
                    <a:gd name="connsiteY11" fmla="*/ 8309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302 w 10000"/>
                    <a:gd name="connsiteY1" fmla="*/ 120 h 10000"/>
                    <a:gd name="connsiteX2" fmla="*/ 2421 w 10000"/>
                    <a:gd name="connsiteY2" fmla="*/ 296 h 10000"/>
                    <a:gd name="connsiteX3" fmla="*/ 3556 w 10000"/>
                    <a:gd name="connsiteY3" fmla="*/ 665 h 10000"/>
                    <a:gd name="connsiteX4" fmla="*/ 4277 w 10000"/>
                    <a:gd name="connsiteY4" fmla="*/ 1071 h 10000"/>
                    <a:gd name="connsiteX5" fmla="*/ 4922 w 10000"/>
                    <a:gd name="connsiteY5" fmla="*/ 1541 h 10000"/>
                    <a:gd name="connsiteX6" fmla="*/ 5494 w 10000"/>
                    <a:gd name="connsiteY6" fmla="*/ 2135 h 10000"/>
                    <a:gd name="connsiteX7" fmla="*/ 6040 w 10000"/>
                    <a:gd name="connsiteY7" fmla="*/ 2881 h 10000"/>
                    <a:gd name="connsiteX8" fmla="*/ 6591 w 10000"/>
                    <a:gd name="connsiteY8" fmla="*/ 3773 h 10000"/>
                    <a:gd name="connsiteX9" fmla="*/ 7364 w 10000"/>
                    <a:gd name="connsiteY9" fmla="*/ 5182 h 10000"/>
                    <a:gd name="connsiteX10" fmla="*/ 8098 w 10000"/>
                    <a:gd name="connsiteY10" fmla="*/ 6563 h 10000"/>
                    <a:gd name="connsiteX11" fmla="*/ 9066 w 10000"/>
                    <a:gd name="connsiteY11" fmla="*/ 8309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396 w 10000"/>
                    <a:gd name="connsiteY1" fmla="*/ 120 h 10000"/>
                    <a:gd name="connsiteX2" fmla="*/ 2421 w 10000"/>
                    <a:gd name="connsiteY2" fmla="*/ 296 h 10000"/>
                    <a:gd name="connsiteX3" fmla="*/ 3556 w 10000"/>
                    <a:gd name="connsiteY3" fmla="*/ 665 h 10000"/>
                    <a:gd name="connsiteX4" fmla="*/ 4277 w 10000"/>
                    <a:gd name="connsiteY4" fmla="*/ 1071 h 10000"/>
                    <a:gd name="connsiteX5" fmla="*/ 4922 w 10000"/>
                    <a:gd name="connsiteY5" fmla="*/ 1541 h 10000"/>
                    <a:gd name="connsiteX6" fmla="*/ 5494 w 10000"/>
                    <a:gd name="connsiteY6" fmla="*/ 2135 h 10000"/>
                    <a:gd name="connsiteX7" fmla="*/ 6040 w 10000"/>
                    <a:gd name="connsiteY7" fmla="*/ 2881 h 10000"/>
                    <a:gd name="connsiteX8" fmla="*/ 6591 w 10000"/>
                    <a:gd name="connsiteY8" fmla="*/ 3773 h 10000"/>
                    <a:gd name="connsiteX9" fmla="*/ 7364 w 10000"/>
                    <a:gd name="connsiteY9" fmla="*/ 5182 h 10000"/>
                    <a:gd name="connsiteX10" fmla="*/ 8098 w 10000"/>
                    <a:gd name="connsiteY10" fmla="*/ 6563 h 10000"/>
                    <a:gd name="connsiteX11" fmla="*/ 9066 w 10000"/>
                    <a:gd name="connsiteY11" fmla="*/ 8309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396 w 10000"/>
                    <a:gd name="connsiteY1" fmla="*/ 120 h 10000"/>
                    <a:gd name="connsiteX2" fmla="*/ 2346 w 10000"/>
                    <a:gd name="connsiteY2" fmla="*/ 337 h 10000"/>
                    <a:gd name="connsiteX3" fmla="*/ 3556 w 10000"/>
                    <a:gd name="connsiteY3" fmla="*/ 665 h 10000"/>
                    <a:gd name="connsiteX4" fmla="*/ 4277 w 10000"/>
                    <a:gd name="connsiteY4" fmla="*/ 1071 h 10000"/>
                    <a:gd name="connsiteX5" fmla="*/ 4922 w 10000"/>
                    <a:gd name="connsiteY5" fmla="*/ 1541 h 10000"/>
                    <a:gd name="connsiteX6" fmla="*/ 5494 w 10000"/>
                    <a:gd name="connsiteY6" fmla="*/ 2135 h 10000"/>
                    <a:gd name="connsiteX7" fmla="*/ 6040 w 10000"/>
                    <a:gd name="connsiteY7" fmla="*/ 2881 h 10000"/>
                    <a:gd name="connsiteX8" fmla="*/ 6591 w 10000"/>
                    <a:gd name="connsiteY8" fmla="*/ 3773 h 10000"/>
                    <a:gd name="connsiteX9" fmla="*/ 7364 w 10000"/>
                    <a:gd name="connsiteY9" fmla="*/ 5182 h 10000"/>
                    <a:gd name="connsiteX10" fmla="*/ 8098 w 10000"/>
                    <a:gd name="connsiteY10" fmla="*/ 6563 h 10000"/>
                    <a:gd name="connsiteX11" fmla="*/ 9066 w 10000"/>
                    <a:gd name="connsiteY11" fmla="*/ 8309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358 w 10000"/>
                    <a:gd name="connsiteY1" fmla="*/ 202 h 10000"/>
                    <a:gd name="connsiteX2" fmla="*/ 2346 w 10000"/>
                    <a:gd name="connsiteY2" fmla="*/ 337 h 10000"/>
                    <a:gd name="connsiteX3" fmla="*/ 3556 w 10000"/>
                    <a:gd name="connsiteY3" fmla="*/ 665 h 10000"/>
                    <a:gd name="connsiteX4" fmla="*/ 4277 w 10000"/>
                    <a:gd name="connsiteY4" fmla="*/ 1071 h 10000"/>
                    <a:gd name="connsiteX5" fmla="*/ 4922 w 10000"/>
                    <a:gd name="connsiteY5" fmla="*/ 1541 h 10000"/>
                    <a:gd name="connsiteX6" fmla="*/ 5494 w 10000"/>
                    <a:gd name="connsiteY6" fmla="*/ 2135 h 10000"/>
                    <a:gd name="connsiteX7" fmla="*/ 6040 w 10000"/>
                    <a:gd name="connsiteY7" fmla="*/ 2881 h 10000"/>
                    <a:gd name="connsiteX8" fmla="*/ 6591 w 10000"/>
                    <a:gd name="connsiteY8" fmla="*/ 3773 h 10000"/>
                    <a:gd name="connsiteX9" fmla="*/ 7364 w 10000"/>
                    <a:gd name="connsiteY9" fmla="*/ 5182 h 10000"/>
                    <a:gd name="connsiteX10" fmla="*/ 8098 w 10000"/>
                    <a:gd name="connsiteY10" fmla="*/ 6563 h 10000"/>
                    <a:gd name="connsiteX11" fmla="*/ 9066 w 10000"/>
                    <a:gd name="connsiteY11" fmla="*/ 8309 h 10000"/>
                    <a:gd name="connsiteX12" fmla="*/ 10000 w 10000"/>
                    <a:gd name="connsiteY12" fmla="*/ 10000 h 10000"/>
                    <a:gd name="connsiteX0" fmla="*/ 0 w 10094"/>
                    <a:gd name="connsiteY0" fmla="*/ 0 h 9897"/>
                    <a:gd name="connsiteX1" fmla="*/ 1452 w 10094"/>
                    <a:gd name="connsiteY1" fmla="*/ 99 h 9897"/>
                    <a:gd name="connsiteX2" fmla="*/ 2440 w 10094"/>
                    <a:gd name="connsiteY2" fmla="*/ 234 h 9897"/>
                    <a:gd name="connsiteX3" fmla="*/ 3650 w 10094"/>
                    <a:gd name="connsiteY3" fmla="*/ 562 h 9897"/>
                    <a:gd name="connsiteX4" fmla="*/ 4371 w 10094"/>
                    <a:gd name="connsiteY4" fmla="*/ 968 h 9897"/>
                    <a:gd name="connsiteX5" fmla="*/ 5016 w 10094"/>
                    <a:gd name="connsiteY5" fmla="*/ 1438 h 9897"/>
                    <a:gd name="connsiteX6" fmla="*/ 5588 w 10094"/>
                    <a:gd name="connsiteY6" fmla="*/ 2032 h 9897"/>
                    <a:gd name="connsiteX7" fmla="*/ 6134 w 10094"/>
                    <a:gd name="connsiteY7" fmla="*/ 2778 h 9897"/>
                    <a:gd name="connsiteX8" fmla="*/ 6685 w 10094"/>
                    <a:gd name="connsiteY8" fmla="*/ 3670 h 9897"/>
                    <a:gd name="connsiteX9" fmla="*/ 7458 w 10094"/>
                    <a:gd name="connsiteY9" fmla="*/ 5079 h 9897"/>
                    <a:gd name="connsiteX10" fmla="*/ 8192 w 10094"/>
                    <a:gd name="connsiteY10" fmla="*/ 6460 h 9897"/>
                    <a:gd name="connsiteX11" fmla="*/ 9160 w 10094"/>
                    <a:gd name="connsiteY11" fmla="*/ 8206 h 9897"/>
                    <a:gd name="connsiteX12" fmla="*/ 10094 w 10094"/>
                    <a:gd name="connsiteY12" fmla="*/ 9897 h 9897"/>
                    <a:gd name="connsiteX0" fmla="*/ 0 w 10000"/>
                    <a:gd name="connsiteY0" fmla="*/ 0 h 10000"/>
                    <a:gd name="connsiteX1" fmla="*/ 1438 w 10000"/>
                    <a:gd name="connsiteY1" fmla="*/ 100 h 10000"/>
                    <a:gd name="connsiteX2" fmla="*/ 2417 w 10000"/>
                    <a:gd name="connsiteY2" fmla="*/ 236 h 10000"/>
                    <a:gd name="connsiteX3" fmla="*/ 3541 w 10000"/>
                    <a:gd name="connsiteY3" fmla="*/ 568 h 10000"/>
                    <a:gd name="connsiteX4" fmla="*/ 4330 w 10000"/>
                    <a:gd name="connsiteY4" fmla="*/ 978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438 w 10000"/>
                    <a:gd name="connsiteY1" fmla="*/ 100 h 10000"/>
                    <a:gd name="connsiteX2" fmla="*/ 2417 w 10000"/>
                    <a:gd name="connsiteY2" fmla="*/ 236 h 10000"/>
                    <a:gd name="connsiteX3" fmla="*/ 3541 w 10000"/>
                    <a:gd name="connsiteY3" fmla="*/ 568 h 10000"/>
                    <a:gd name="connsiteX4" fmla="*/ 4274 w 10000"/>
                    <a:gd name="connsiteY4" fmla="*/ 936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438 w 10000"/>
                    <a:gd name="connsiteY1" fmla="*/ 100 h 10000"/>
                    <a:gd name="connsiteX2" fmla="*/ 2548 w 10000"/>
                    <a:gd name="connsiteY2" fmla="*/ 278 h 10000"/>
                    <a:gd name="connsiteX3" fmla="*/ 3541 w 10000"/>
                    <a:gd name="connsiteY3" fmla="*/ 568 h 10000"/>
                    <a:gd name="connsiteX4" fmla="*/ 4274 w 10000"/>
                    <a:gd name="connsiteY4" fmla="*/ 936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587 w 10000"/>
                    <a:gd name="connsiteY1" fmla="*/ 142 h 10000"/>
                    <a:gd name="connsiteX2" fmla="*/ 2548 w 10000"/>
                    <a:gd name="connsiteY2" fmla="*/ 278 h 10000"/>
                    <a:gd name="connsiteX3" fmla="*/ 3541 w 10000"/>
                    <a:gd name="connsiteY3" fmla="*/ 568 h 10000"/>
                    <a:gd name="connsiteX4" fmla="*/ 4274 w 10000"/>
                    <a:gd name="connsiteY4" fmla="*/ 936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587 w 10000"/>
                    <a:gd name="connsiteY1" fmla="*/ 142 h 10000"/>
                    <a:gd name="connsiteX2" fmla="*/ 2679 w 10000"/>
                    <a:gd name="connsiteY2" fmla="*/ 278 h 10000"/>
                    <a:gd name="connsiteX3" fmla="*/ 3541 w 10000"/>
                    <a:gd name="connsiteY3" fmla="*/ 568 h 10000"/>
                    <a:gd name="connsiteX4" fmla="*/ 4274 w 10000"/>
                    <a:gd name="connsiteY4" fmla="*/ 936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587 w 10000"/>
                    <a:gd name="connsiteY1" fmla="*/ 142 h 10000"/>
                    <a:gd name="connsiteX2" fmla="*/ 2679 w 10000"/>
                    <a:gd name="connsiteY2" fmla="*/ 341 h 10000"/>
                    <a:gd name="connsiteX3" fmla="*/ 3541 w 10000"/>
                    <a:gd name="connsiteY3" fmla="*/ 568 h 10000"/>
                    <a:gd name="connsiteX4" fmla="*/ 4274 w 10000"/>
                    <a:gd name="connsiteY4" fmla="*/ 936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587 w 10000"/>
                    <a:gd name="connsiteY1" fmla="*/ 142 h 10000"/>
                    <a:gd name="connsiteX2" fmla="*/ 2791 w 10000"/>
                    <a:gd name="connsiteY2" fmla="*/ 341 h 10000"/>
                    <a:gd name="connsiteX3" fmla="*/ 3541 w 10000"/>
                    <a:gd name="connsiteY3" fmla="*/ 568 h 10000"/>
                    <a:gd name="connsiteX4" fmla="*/ 4274 w 10000"/>
                    <a:gd name="connsiteY4" fmla="*/ 936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587 w 10000"/>
                    <a:gd name="connsiteY1" fmla="*/ 142 h 10000"/>
                    <a:gd name="connsiteX2" fmla="*/ 2791 w 10000"/>
                    <a:gd name="connsiteY2" fmla="*/ 341 h 10000"/>
                    <a:gd name="connsiteX3" fmla="*/ 3597 w 10000"/>
                    <a:gd name="connsiteY3" fmla="*/ 568 h 10000"/>
                    <a:gd name="connsiteX4" fmla="*/ 4274 w 10000"/>
                    <a:gd name="connsiteY4" fmla="*/ 936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587 w 10000"/>
                    <a:gd name="connsiteY1" fmla="*/ 142 h 10000"/>
                    <a:gd name="connsiteX2" fmla="*/ 2791 w 10000"/>
                    <a:gd name="connsiteY2" fmla="*/ 341 h 10000"/>
                    <a:gd name="connsiteX3" fmla="*/ 3485 w 10000"/>
                    <a:gd name="connsiteY3" fmla="*/ 526 h 10000"/>
                    <a:gd name="connsiteX4" fmla="*/ 4274 w 10000"/>
                    <a:gd name="connsiteY4" fmla="*/ 936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587 w 10000"/>
                    <a:gd name="connsiteY1" fmla="*/ 142 h 10000"/>
                    <a:gd name="connsiteX2" fmla="*/ 2567 w 10000"/>
                    <a:gd name="connsiteY2" fmla="*/ 278 h 10000"/>
                    <a:gd name="connsiteX3" fmla="*/ 3485 w 10000"/>
                    <a:gd name="connsiteY3" fmla="*/ 526 h 10000"/>
                    <a:gd name="connsiteX4" fmla="*/ 4274 w 10000"/>
                    <a:gd name="connsiteY4" fmla="*/ 936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363 w 10000"/>
                    <a:gd name="connsiteY1" fmla="*/ 121 h 10000"/>
                    <a:gd name="connsiteX2" fmla="*/ 2567 w 10000"/>
                    <a:gd name="connsiteY2" fmla="*/ 278 h 10000"/>
                    <a:gd name="connsiteX3" fmla="*/ 3485 w 10000"/>
                    <a:gd name="connsiteY3" fmla="*/ 526 h 10000"/>
                    <a:gd name="connsiteX4" fmla="*/ 4274 w 10000"/>
                    <a:gd name="connsiteY4" fmla="*/ 936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419 w 10000"/>
                    <a:gd name="connsiteY1" fmla="*/ 100 h 10000"/>
                    <a:gd name="connsiteX2" fmla="*/ 2567 w 10000"/>
                    <a:gd name="connsiteY2" fmla="*/ 278 h 10000"/>
                    <a:gd name="connsiteX3" fmla="*/ 3485 w 10000"/>
                    <a:gd name="connsiteY3" fmla="*/ 526 h 10000"/>
                    <a:gd name="connsiteX4" fmla="*/ 4274 w 10000"/>
                    <a:gd name="connsiteY4" fmla="*/ 936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419 w 10000"/>
                    <a:gd name="connsiteY1" fmla="*/ 100 h 10000"/>
                    <a:gd name="connsiteX2" fmla="*/ 2567 w 10000"/>
                    <a:gd name="connsiteY2" fmla="*/ 278 h 10000"/>
                    <a:gd name="connsiteX3" fmla="*/ 3485 w 10000"/>
                    <a:gd name="connsiteY3" fmla="*/ 526 h 10000"/>
                    <a:gd name="connsiteX4" fmla="*/ 4199 w 10000"/>
                    <a:gd name="connsiteY4" fmla="*/ 873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419 w 10000"/>
                    <a:gd name="connsiteY1" fmla="*/ 100 h 10000"/>
                    <a:gd name="connsiteX2" fmla="*/ 2567 w 10000"/>
                    <a:gd name="connsiteY2" fmla="*/ 278 h 10000"/>
                    <a:gd name="connsiteX3" fmla="*/ 3410 w 10000"/>
                    <a:gd name="connsiteY3" fmla="*/ 547 h 10000"/>
                    <a:gd name="connsiteX4" fmla="*/ 4199 w 10000"/>
                    <a:gd name="connsiteY4" fmla="*/ 873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  <a:gd name="connsiteX0" fmla="*/ 0 w 10000"/>
                    <a:gd name="connsiteY0" fmla="*/ 0 h 10000"/>
                    <a:gd name="connsiteX1" fmla="*/ 1419 w 10000"/>
                    <a:gd name="connsiteY1" fmla="*/ 100 h 10000"/>
                    <a:gd name="connsiteX2" fmla="*/ 2567 w 10000"/>
                    <a:gd name="connsiteY2" fmla="*/ 278 h 10000"/>
                    <a:gd name="connsiteX3" fmla="*/ 3466 w 10000"/>
                    <a:gd name="connsiteY3" fmla="*/ 526 h 10000"/>
                    <a:gd name="connsiteX4" fmla="*/ 4199 w 10000"/>
                    <a:gd name="connsiteY4" fmla="*/ 873 h 10000"/>
                    <a:gd name="connsiteX5" fmla="*/ 4969 w 10000"/>
                    <a:gd name="connsiteY5" fmla="*/ 1453 h 10000"/>
                    <a:gd name="connsiteX6" fmla="*/ 5536 w 10000"/>
                    <a:gd name="connsiteY6" fmla="*/ 2053 h 10000"/>
                    <a:gd name="connsiteX7" fmla="*/ 6077 w 10000"/>
                    <a:gd name="connsiteY7" fmla="*/ 2807 h 10000"/>
                    <a:gd name="connsiteX8" fmla="*/ 6623 w 10000"/>
                    <a:gd name="connsiteY8" fmla="*/ 3708 h 10000"/>
                    <a:gd name="connsiteX9" fmla="*/ 7389 w 10000"/>
                    <a:gd name="connsiteY9" fmla="*/ 5132 h 10000"/>
                    <a:gd name="connsiteX10" fmla="*/ 8116 w 10000"/>
                    <a:gd name="connsiteY10" fmla="*/ 6527 h 10000"/>
                    <a:gd name="connsiteX11" fmla="*/ 9075 w 10000"/>
                    <a:gd name="connsiteY11" fmla="*/ 8291 h 10000"/>
                    <a:gd name="connsiteX12" fmla="*/ 10000 w 10000"/>
                    <a:gd name="connsiteY12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0000" h="10000">
                      <a:moveTo>
                        <a:pt x="0" y="0"/>
                      </a:moveTo>
                      <a:cubicBezTo>
                        <a:pt x="479" y="33"/>
                        <a:pt x="991" y="54"/>
                        <a:pt x="1419" y="100"/>
                      </a:cubicBezTo>
                      <a:cubicBezTo>
                        <a:pt x="1847" y="146"/>
                        <a:pt x="2226" y="207"/>
                        <a:pt x="2567" y="278"/>
                      </a:cubicBezTo>
                      <a:cubicBezTo>
                        <a:pt x="2908" y="349"/>
                        <a:pt x="3162" y="382"/>
                        <a:pt x="3466" y="526"/>
                      </a:cubicBezTo>
                      <a:cubicBezTo>
                        <a:pt x="3692" y="662"/>
                        <a:pt x="3973" y="737"/>
                        <a:pt x="4199" y="873"/>
                      </a:cubicBezTo>
                      <a:cubicBezTo>
                        <a:pt x="4413" y="1011"/>
                        <a:pt x="4746" y="1256"/>
                        <a:pt x="4969" y="1453"/>
                      </a:cubicBezTo>
                      <a:cubicBezTo>
                        <a:pt x="5192" y="1650"/>
                        <a:pt x="5354" y="1831"/>
                        <a:pt x="5536" y="2053"/>
                      </a:cubicBezTo>
                      <a:cubicBezTo>
                        <a:pt x="5717" y="2275"/>
                        <a:pt x="5933" y="2579"/>
                        <a:pt x="6077" y="2807"/>
                      </a:cubicBezTo>
                      <a:cubicBezTo>
                        <a:pt x="6221" y="3036"/>
                        <a:pt x="6377" y="3262"/>
                        <a:pt x="6623" y="3708"/>
                      </a:cubicBezTo>
                      <a:lnTo>
                        <a:pt x="7389" y="5132"/>
                      </a:lnTo>
                      <a:lnTo>
                        <a:pt x="8116" y="6527"/>
                      </a:lnTo>
                      <a:lnTo>
                        <a:pt x="9075" y="8291"/>
                      </a:lnTo>
                      <a:lnTo>
                        <a:pt x="10000" y="10000"/>
                      </a:lnTo>
                    </a:path>
                  </a:pathLst>
                </a:custGeom>
                <a:noFill/>
                <a:ln w="28575" cap="flat" cmpd="sng">
                  <a:solidFill>
                    <a:srgbClr val="A5002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3720" name="Freeform 8"/>
                <p:cNvSpPr>
                  <a:spLocks/>
                </p:cNvSpPr>
                <p:nvPr/>
              </p:nvSpPr>
              <p:spPr bwMode="auto">
                <a:xfrm>
                  <a:off x="3174" y="709"/>
                  <a:ext cx="2363" cy="2495"/>
                </a:xfrm>
                <a:custGeom>
                  <a:avLst/>
                  <a:gdLst>
                    <a:gd name="T0" fmla="*/ 0 w 2450"/>
                    <a:gd name="T1" fmla="*/ 0 h 2495"/>
                    <a:gd name="T2" fmla="*/ 0 w 2450"/>
                    <a:gd name="T3" fmla="*/ 2495 h 2495"/>
                    <a:gd name="T4" fmla="*/ 2450 w 2450"/>
                    <a:gd name="T5" fmla="*/ 2495 h 24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450" h="2495">
                      <a:moveTo>
                        <a:pt x="0" y="0"/>
                      </a:moveTo>
                      <a:lnTo>
                        <a:pt x="0" y="2495"/>
                      </a:lnTo>
                      <a:lnTo>
                        <a:pt x="2450" y="2495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 type="triangle" w="med" len="lg"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3726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214" y="498"/>
                  <a:ext cx="216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2800" b="1" i="1" dirty="0">
                      <a:solidFill>
                        <a:srgbClr val="000000"/>
                      </a:solidFill>
                      <a:cs typeface="Times New Roman" panose="02020603050405020304" pitchFamily="18" charset="0"/>
                      <a:sym typeface="Symbol" pitchFamily="18" charset="2"/>
                    </a:rPr>
                    <a:t>e</a:t>
                  </a:r>
                </a:p>
              </p:txBody>
            </p:sp>
          </p:grpSp>
          <p:sp>
            <p:nvSpPr>
              <p:cNvPr id="1523730" name="Text Box 18"/>
              <p:cNvSpPr txBox="1">
                <a:spLocks noChangeArrowheads="1"/>
              </p:cNvSpPr>
              <p:nvPr/>
            </p:nvSpPr>
            <p:spPr bwMode="auto">
              <a:xfrm>
                <a:off x="5121" y="3241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/>
                  <a:t>p</a:t>
                </a:r>
                <a:r>
                  <a:rPr lang="en-US" altLang="zh-CN" sz="2400" b="1" dirty="0"/>
                  <a:t>(</a:t>
                </a:r>
                <a:r>
                  <a:rPr lang="en-US" altLang="zh-CN" sz="2400" b="1" dirty="0" err="1"/>
                  <a:t>lg</a:t>
                </a:r>
                <a:r>
                  <a:rPr lang="en-US" altLang="zh-CN" sz="2400" b="1" dirty="0"/>
                  <a:t>)</a:t>
                </a:r>
                <a:endParaRPr lang="zh-CN" altLang="en-US" sz="2400" b="1" dirty="0"/>
              </a:p>
            </p:txBody>
          </p:sp>
        </p:grpSp>
        <p:sp>
          <p:nvSpPr>
            <p:cNvPr id="1523731" name="Text Box 19"/>
            <p:cNvSpPr txBox="1">
              <a:spLocks noChangeArrowheads="1"/>
            </p:cNvSpPr>
            <p:nvPr/>
          </p:nvSpPr>
          <p:spPr bwMode="auto">
            <a:xfrm>
              <a:off x="3263" y="855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>
                  <a:solidFill>
                    <a:srgbClr val="000000"/>
                  </a:solidFill>
                  <a:sym typeface="Symbol" pitchFamily="18" charset="2"/>
                </a:rPr>
                <a:t>C</a:t>
              </a:r>
            </a:p>
          </p:txBody>
        </p:sp>
        <p:sp>
          <p:nvSpPr>
            <p:cNvPr id="1523732" name="Text Box 20"/>
            <p:cNvSpPr txBox="1">
              <a:spLocks noChangeArrowheads="1"/>
            </p:cNvSpPr>
            <p:nvPr/>
          </p:nvSpPr>
          <p:spPr bwMode="auto">
            <a:xfrm>
              <a:off x="5077" y="2497"/>
              <a:ext cx="27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sym typeface="Symbol" pitchFamily="18" charset="2"/>
                </a:rPr>
                <a:t>D</a:t>
              </a:r>
            </a:p>
          </p:txBody>
        </p:sp>
      </p:grpSp>
      <p:sp>
        <p:nvSpPr>
          <p:cNvPr id="1523733" name="Text Box 21"/>
          <p:cNvSpPr txBox="1">
            <a:spLocks noChangeArrowheads="1"/>
          </p:cNvSpPr>
          <p:nvPr/>
        </p:nvSpPr>
        <p:spPr bwMode="auto">
          <a:xfrm>
            <a:off x="484188" y="1328738"/>
            <a:ext cx="4240212" cy="3859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144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288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10000"/>
              </a:spcAft>
              <a:buFontTx/>
              <a:buAutoNum type="arabicPeriod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lg</a:t>
            </a:r>
            <a:r>
              <a:rPr lang="el-GR" altLang="zh-CN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曲线上，找出曲率最大点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FontTx/>
              <a:buAutoNum type="arabicPeriod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作水平线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m1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FontTx/>
              <a:buAutoNum type="arabicPeriod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点切线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m2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FontTx/>
              <a:buAutoNum type="arabicPeriod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m1,m2 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的角分线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m3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FontTx/>
              <a:buAutoNum type="arabicPeriod"/>
            </a:pP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m3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与试验曲线的直线段交于点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B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FontTx/>
              <a:buAutoNum type="arabicPeriod"/>
            </a:pP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点对应于先期固结压力</a:t>
            </a:r>
            <a:r>
              <a:rPr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</a:p>
        </p:txBody>
      </p:sp>
      <p:grpSp>
        <p:nvGrpSpPr>
          <p:cNvPr id="1523734" name="Group 22"/>
          <p:cNvGrpSpPr>
            <a:grpSpLocks/>
          </p:cNvGrpSpPr>
          <p:nvPr/>
        </p:nvGrpSpPr>
        <p:grpSpPr bwMode="auto">
          <a:xfrm>
            <a:off x="5953125" y="1917700"/>
            <a:ext cx="554038" cy="1176338"/>
            <a:chOff x="3750" y="1208"/>
            <a:chExt cx="349" cy="741"/>
          </a:xfrm>
        </p:grpSpPr>
        <p:sp>
          <p:nvSpPr>
            <p:cNvPr id="1523735" name="Text Box 23"/>
            <p:cNvSpPr txBox="1">
              <a:spLocks noChangeArrowheads="1"/>
            </p:cNvSpPr>
            <p:nvPr/>
          </p:nvSpPr>
          <p:spPr bwMode="auto">
            <a:xfrm>
              <a:off x="3795" y="1208"/>
              <a:ext cx="3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>
                  <a:solidFill>
                    <a:srgbClr val="000000"/>
                  </a:solidFill>
                  <a:sym typeface="Symbol" pitchFamily="18" charset="2"/>
                </a:rPr>
                <a:t>m</a:t>
              </a:r>
            </a:p>
          </p:txBody>
        </p:sp>
        <p:sp>
          <p:nvSpPr>
            <p:cNvPr id="1523736" name="Freeform 24"/>
            <p:cNvSpPr>
              <a:spLocks/>
            </p:cNvSpPr>
            <p:nvPr/>
          </p:nvSpPr>
          <p:spPr bwMode="auto">
            <a:xfrm>
              <a:off x="3925" y="1364"/>
              <a:ext cx="174" cy="296"/>
            </a:xfrm>
            <a:custGeom>
              <a:avLst/>
              <a:gdLst>
                <a:gd name="T0" fmla="*/ 0 w 155"/>
                <a:gd name="T1" fmla="*/ 267 h 267"/>
                <a:gd name="T2" fmla="*/ 155 w 155"/>
                <a:gd name="T3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5" h="267">
                  <a:moveTo>
                    <a:pt x="0" y="267"/>
                  </a:moveTo>
                  <a:lnTo>
                    <a:pt x="155" y="0"/>
                  </a:lnTo>
                </a:path>
              </a:pathLst>
            </a:custGeom>
            <a:noFill/>
            <a:ln w="38100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3737" name="Text Box 25"/>
            <p:cNvSpPr txBox="1">
              <a:spLocks noChangeArrowheads="1"/>
            </p:cNvSpPr>
            <p:nvPr/>
          </p:nvSpPr>
          <p:spPr bwMode="auto">
            <a:xfrm rot="17796232">
              <a:off x="3679" y="1551"/>
              <a:ext cx="46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 err="1">
                  <a:solidFill>
                    <a:srgbClr val="000000"/>
                  </a:solidFill>
                  <a:sym typeface="Symbol" pitchFamily="18" charset="2"/>
                </a:rPr>
                <a:t>r</a:t>
              </a:r>
              <a:r>
                <a:rPr kumimoji="1" lang="en-US" altLang="zh-CN" sz="2800" b="1" baseline="-25000" dirty="0" err="1">
                  <a:solidFill>
                    <a:srgbClr val="000000"/>
                  </a:solidFill>
                  <a:sym typeface="Symbol" pitchFamily="18" charset="2"/>
                </a:rPr>
                <a:t>min</a:t>
              </a:r>
              <a:endParaRPr kumimoji="1" lang="en-US" altLang="zh-CN" sz="2800" b="1" baseline="-25000" dirty="0">
                <a:solidFill>
                  <a:srgbClr val="000000"/>
                </a:solidFill>
                <a:sym typeface="Symbol" pitchFamily="18" charset="2"/>
              </a:endParaRPr>
            </a:p>
          </p:txBody>
        </p:sp>
      </p:grpSp>
      <p:grpSp>
        <p:nvGrpSpPr>
          <p:cNvPr id="1523738" name="Group 26"/>
          <p:cNvGrpSpPr>
            <a:grpSpLocks/>
          </p:cNvGrpSpPr>
          <p:nvPr/>
        </p:nvGrpSpPr>
        <p:grpSpPr bwMode="auto">
          <a:xfrm>
            <a:off x="6503988" y="1784350"/>
            <a:ext cx="2197100" cy="519113"/>
            <a:chOff x="4097" y="1124"/>
            <a:chExt cx="1384" cy="327"/>
          </a:xfrm>
        </p:grpSpPr>
        <p:sp>
          <p:nvSpPr>
            <p:cNvPr id="1523739" name="Line 27"/>
            <p:cNvSpPr>
              <a:spLocks noChangeShapeType="1"/>
            </p:cNvSpPr>
            <p:nvPr/>
          </p:nvSpPr>
          <p:spPr bwMode="auto">
            <a:xfrm>
              <a:off x="4097" y="1363"/>
              <a:ext cx="1168" cy="0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3740" name="Text Box 28"/>
            <p:cNvSpPr txBox="1">
              <a:spLocks noChangeArrowheads="1"/>
            </p:cNvSpPr>
            <p:nvPr/>
          </p:nvSpPr>
          <p:spPr bwMode="auto">
            <a:xfrm>
              <a:off x="5253" y="1124"/>
              <a:ext cx="228" cy="327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</p:grpSp>
      <p:grpSp>
        <p:nvGrpSpPr>
          <p:cNvPr id="1523741" name="Group 29"/>
          <p:cNvGrpSpPr>
            <a:grpSpLocks/>
          </p:cNvGrpSpPr>
          <p:nvPr/>
        </p:nvGrpSpPr>
        <p:grpSpPr bwMode="auto">
          <a:xfrm>
            <a:off x="6503988" y="2163763"/>
            <a:ext cx="2185987" cy="1300162"/>
            <a:chOff x="4097" y="1363"/>
            <a:chExt cx="1377" cy="819"/>
          </a:xfrm>
        </p:grpSpPr>
        <p:sp>
          <p:nvSpPr>
            <p:cNvPr id="1523742" name="Line 30"/>
            <p:cNvSpPr>
              <a:spLocks noChangeShapeType="1"/>
            </p:cNvSpPr>
            <p:nvPr/>
          </p:nvSpPr>
          <p:spPr bwMode="auto">
            <a:xfrm>
              <a:off x="4097" y="1363"/>
              <a:ext cx="1118" cy="703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3743" name="Text Box 31"/>
            <p:cNvSpPr txBox="1">
              <a:spLocks noChangeArrowheads="1"/>
            </p:cNvSpPr>
            <p:nvPr/>
          </p:nvSpPr>
          <p:spPr bwMode="auto">
            <a:xfrm>
              <a:off x="5245" y="1855"/>
              <a:ext cx="229" cy="327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2</a:t>
              </a:r>
            </a:p>
          </p:txBody>
        </p:sp>
      </p:grpSp>
      <p:grpSp>
        <p:nvGrpSpPr>
          <p:cNvPr id="1523744" name="Group 32"/>
          <p:cNvGrpSpPr>
            <a:grpSpLocks/>
          </p:cNvGrpSpPr>
          <p:nvPr/>
        </p:nvGrpSpPr>
        <p:grpSpPr bwMode="auto">
          <a:xfrm>
            <a:off x="6503988" y="2163763"/>
            <a:ext cx="2197100" cy="700087"/>
            <a:chOff x="4097" y="1363"/>
            <a:chExt cx="1384" cy="441"/>
          </a:xfrm>
        </p:grpSpPr>
        <p:sp>
          <p:nvSpPr>
            <p:cNvPr id="1523745" name="Line 33"/>
            <p:cNvSpPr>
              <a:spLocks noChangeShapeType="1"/>
            </p:cNvSpPr>
            <p:nvPr/>
          </p:nvSpPr>
          <p:spPr bwMode="auto">
            <a:xfrm>
              <a:off x="4097" y="1363"/>
              <a:ext cx="1219" cy="351"/>
            </a:xfrm>
            <a:prstGeom prst="line">
              <a:avLst/>
            </a:prstGeom>
            <a:noFill/>
            <a:ln w="19050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3746" name="Text Box 34"/>
            <p:cNvSpPr txBox="1">
              <a:spLocks noChangeArrowheads="1"/>
            </p:cNvSpPr>
            <p:nvPr/>
          </p:nvSpPr>
          <p:spPr bwMode="auto">
            <a:xfrm>
              <a:off x="5253" y="1477"/>
              <a:ext cx="228" cy="327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3</a:t>
              </a:r>
            </a:p>
          </p:txBody>
        </p:sp>
      </p:grpSp>
      <p:grpSp>
        <p:nvGrpSpPr>
          <p:cNvPr id="1523747" name="Group 35"/>
          <p:cNvGrpSpPr>
            <a:grpSpLocks/>
          </p:cNvGrpSpPr>
          <p:nvPr/>
        </p:nvGrpSpPr>
        <p:grpSpPr bwMode="auto">
          <a:xfrm>
            <a:off x="6384925" y="2222500"/>
            <a:ext cx="763588" cy="3273425"/>
            <a:chOff x="4022" y="1400"/>
            <a:chExt cx="481" cy="2062"/>
          </a:xfrm>
        </p:grpSpPr>
        <p:sp>
          <p:nvSpPr>
            <p:cNvPr id="1523748" name="Line 36"/>
            <p:cNvSpPr>
              <a:spLocks noChangeShapeType="1"/>
            </p:cNvSpPr>
            <p:nvPr/>
          </p:nvSpPr>
          <p:spPr bwMode="auto">
            <a:xfrm>
              <a:off x="4249" y="1400"/>
              <a:ext cx="0" cy="1810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3749" name="Text Box 37"/>
            <p:cNvSpPr txBox="1">
              <a:spLocks noChangeArrowheads="1"/>
            </p:cNvSpPr>
            <p:nvPr/>
          </p:nvSpPr>
          <p:spPr bwMode="auto">
            <a:xfrm>
              <a:off x="4022" y="3171"/>
              <a:ext cx="48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endParaRPr kumimoji="1" lang="zh-CN" altLang="en-US" sz="2400" b="1" baseline="-25000" dirty="0">
                <a:solidFill>
                  <a:srgbClr val="000000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523750" name="Rectangle 38"/>
          <p:cNvSpPr>
            <a:spLocks noChangeArrowheads="1"/>
          </p:cNvSpPr>
          <p:nvPr/>
        </p:nvSpPr>
        <p:spPr bwMode="auto">
          <a:xfrm>
            <a:off x="2595563" y="5876925"/>
            <a:ext cx="5743575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先期固结压力</a:t>
            </a:r>
            <a:r>
              <a:rPr lang="el-GR" altLang="zh-CN" sz="3600" b="1" i="1" dirty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3600" b="1" baseline="-25000" dirty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3600" b="1" dirty="0">
                <a:solidFill>
                  <a:srgbClr val="000066"/>
                </a:solidFill>
                <a:ea typeface="黑体" pitchFamily="2" charset="-122"/>
                <a:cs typeface="Times New Roman" panose="02020603050405020304" pitchFamily="18" charset="0"/>
              </a:rPr>
              <a:t>的确定</a:t>
            </a:r>
          </a:p>
        </p:txBody>
      </p:sp>
      <p:sp>
        <p:nvSpPr>
          <p:cNvPr id="1523751" name="Text Box 39"/>
          <p:cNvSpPr txBox="1">
            <a:spLocks noChangeArrowheads="1"/>
          </p:cNvSpPr>
          <p:nvPr/>
        </p:nvSpPr>
        <p:spPr bwMode="auto">
          <a:xfrm>
            <a:off x="474663" y="668338"/>
            <a:ext cx="3127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Casagrande</a:t>
            </a:r>
            <a:r>
              <a:rPr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法</a:t>
            </a:r>
          </a:p>
        </p:txBody>
      </p:sp>
      <p:grpSp>
        <p:nvGrpSpPr>
          <p:cNvPr id="1523752" name="Group 40"/>
          <p:cNvGrpSpPr>
            <a:grpSpLocks/>
          </p:cNvGrpSpPr>
          <p:nvPr/>
        </p:nvGrpSpPr>
        <p:grpSpPr bwMode="auto">
          <a:xfrm>
            <a:off x="6032500" y="849313"/>
            <a:ext cx="954088" cy="1792287"/>
            <a:chOff x="3800" y="535"/>
            <a:chExt cx="601" cy="1129"/>
          </a:xfrm>
        </p:grpSpPr>
        <p:sp>
          <p:nvSpPr>
            <p:cNvPr id="1523753" name="Text Box 41"/>
            <p:cNvSpPr txBox="1">
              <a:spLocks noChangeArrowheads="1"/>
            </p:cNvSpPr>
            <p:nvPr/>
          </p:nvSpPr>
          <p:spPr bwMode="auto">
            <a:xfrm>
              <a:off x="3948" y="535"/>
              <a:ext cx="278" cy="327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sym typeface="Symbol" pitchFamily="18" charset="2"/>
                </a:rPr>
                <a:t>A</a:t>
              </a:r>
            </a:p>
          </p:txBody>
        </p:sp>
        <p:sp>
          <p:nvSpPr>
            <p:cNvPr id="1523754" name="Freeform 42"/>
            <p:cNvSpPr>
              <a:spLocks/>
            </p:cNvSpPr>
            <p:nvPr/>
          </p:nvSpPr>
          <p:spPr bwMode="auto">
            <a:xfrm>
              <a:off x="3800" y="691"/>
              <a:ext cx="601" cy="973"/>
            </a:xfrm>
            <a:custGeom>
              <a:avLst/>
              <a:gdLst>
                <a:gd name="T0" fmla="*/ 0 w 743"/>
                <a:gd name="T1" fmla="*/ 0 h 1217"/>
                <a:gd name="T2" fmla="*/ 743 w 743"/>
                <a:gd name="T3" fmla="*/ 1217 h 1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43" h="1217">
                  <a:moveTo>
                    <a:pt x="0" y="0"/>
                  </a:moveTo>
                  <a:lnTo>
                    <a:pt x="743" y="1217"/>
                  </a:lnTo>
                </a:path>
              </a:pathLst>
            </a:custGeom>
            <a:noFill/>
            <a:ln w="19050" cap="flat" cmpd="sng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23755" name="Group 43"/>
          <p:cNvGrpSpPr>
            <a:grpSpLocks/>
          </p:cNvGrpSpPr>
          <p:nvPr/>
        </p:nvGrpSpPr>
        <p:grpSpPr bwMode="auto">
          <a:xfrm>
            <a:off x="6557963" y="1701800"/>
            <a:ext cx="420687" cy="568325"/>
            <a:chOff x="4131" y="1072"/>
            <a:chExt cx="265" cy="358"/>
          </a:xfrm>
        </p:grpSpPr>
        <p:sp>
          <p:nvSpPr>
            <p:cNvPr id="1523756" name="Text Box 44"/>
            <p:cNvSpPr txBox="1">
              <a:spLocks noChangeArrowheads="1"/>
            </p:cNvSpPr>
            <p:nvPr/>
          </p:nvSpPr>
          <p:spPr bwMode="auto">
            <a:xfrm>
              <a:off x="4131" y="1072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sym typeface="Symbol" pitchFamily="18" charset="2"/>
                </a:rPr>
                <a:t>B</a:t>
              </a:r>
            </a:p>
          </p:txBody>
        </p:sp>
        <p:sp>
          <p:nvSpPr>
            <p:cNvPr id="1523757" name="Oval 45"/>
            <p:cNvSpPr>
              <a:spLocks noChangeArrowheads="1"/>
            </p:cNvSpPr>
            <p:nvPr/>
          </p:nvSpPr>
          <p:spPr bwMode="auto">
            <a:xfrm>
              <a:off x="4216" y="1378"/>
              <a:ext cx="53" cy="5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algn="ctr">
              <a:solidFill>
                <a:srgbClr val="8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-9526" y="0"/>
            <a:ext cx="5016532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先期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固结压力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3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3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52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152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152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152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76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237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23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23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152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152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152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8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52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80"/>
                                        <p:tgtEl>
                                          <p:spTgt spid="1523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80"/>
                                        <p:tgtEl>
                                          <p:spTgt spid="1523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80"/>
                                        <p:tgtEl>
                                          <p:spTgt spid="1523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2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52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2" dur="80"/>
                                        <p:tgtEl>
                                          <p:spTgt spid="15237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3" dur="80"/>
                                        <p:tgtEl>
                                          <p:spTgt spid="15237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80"/>
                                        <p:tgtEl>
                                          <p:spTgt spid="15237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2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52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1523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1523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1523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64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2000"/>
                                        <p:tgtEl>
                                          <p:spTgt spid="152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640"/>
                            </p:stCondLst>
                            <p:childTnLst>
                              <p:par>
                                <p:cTn id="71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23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23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23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23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1" dur="80"/>
                                        <p:tgtEl>
                                          <p:spTgt spid="15237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2" dur="80"/>
                                        <p:tgtEl>
                                          <p:spTgt spid="15237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80"/>
                                        <p:tgtEl>
                                          <p:spTgt spid="15237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6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1000"/>
                                        <p:tgtEl>
                                          <p:spTgt spid="1523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3733" grpId="0" uiExpand="1" build="p"/>
      <p:bldP spid="152375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740" name="Text Box 4"/>
          <p:cNvSpPr txBox="1">
            <a:spLocks noChangeArrowheads="1"/>
          </p:cNvSpPr>
          <p:nvPr/>
        </p:nvSpPr>
        <p:spPr bwMode="auto">
          <a:xfrm>
            <a:off x="2144713" y="5794375"/>
            <a:ext cx="6664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原位压缩及原位再压缩曲线</a:t>
            </a:r>
          </a:p>
        </p:txBody>
      </p:sp>
      <p:grpSp>
        <p:nvGrpSpPr>
          <p:cNvPr id="1524741" name="Group 5"/>
          <p:cNvGrpSpPr>
            <a:grpSpLocks/>
          </p:cNvGrpSpPr>
          <p:nvPr/>
        </p:nvGrpSpPr>
        <p:grpSpPr bwMode="auto">
          <a:xfrm>
            <a:off x="5427663" y="3146425"/>
            <a:ext cx="3517900" cy="1201738"/>
            <a:chOff x="3419" y="1982"/>
            <a:chExt cx="2216" cy="757"/>
          </a:xfrm>
        </p:grpSpPr>
        <p:sp>
          <p:nvSpPr>
            <p:cNvPr id="1524742" name="Rectangle 6"/>
            <p:cNvSpPr>
              <a:spLocks noChangeArrowheads="1"/>
            </p:cNvSpPr>
            <p:nvPr/>
          </p:nvSpPr>
          <p:spPr bwMode="auto">
            <a:xfrm>
              <a:off x="3419" y="1985"/>
              <a:ext cx="926" cy="7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CC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algn="r" ea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水位上升 </a:t>
              </a:r>
            </a:p>
            <a:p>
              <a:pPr algn="r" ea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土层剥蚀</a:t>
              </a:r>
            </a:p>
            <a:p>
              <a:pPr algn="r" ea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冰川融化</a:t>
              </a:r>
            </a:p>
          </p:txBody>
        </p:sp>
        <p:sp>
          <p:nvSpPr>
            <p:cNvPr id="1524743" name="Rectangle 7"/>
            <p:cNvSpPr>
              <a:spLocks noChangeArrowheads="1"/>
            </p:cNvSpPr>
            <p:nvPr/>
          </p:nvSpPr>
          <p:spPr bwMode="auto">
            <a:xfrm>
              <a:off x="4624" y="1982"/>
              <a:ext cx="1011" cy="7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CC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2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引起卸载，使土处于</a:t>
              </a:r>
              <a:br>
                <a:rPr kumimoji="1" lang="zh-CN" altLang="en-US" sz="22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</a:br>
              <a:r>
                <a:rPr kumimoji="1" lang="zh-CN" altLang="en-US" sz="22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回弹状态</a:t>
              </a:r>
            </a:p>
          </p:txBody>
        </p:sp>
        <p:sp>
          <p:nvSpPr>
            <p:cNvPr id="1524744" name="AutoShape 8"/>
            <p:cNvSpPr>
              <a:spLocks/>
            </p:cNvSpPr>
            <p:nvPr/>
          </p:nvSpPr>
          <p:spPr bwMode="auto">
            <a:xfrm>
              <a:off x="4398" y="2095"/>
              <a:ext cx="135" cy="624"/>
            </a:xfrm>
            <a:prstGeom prst="rightBrace">
              <a:avLst>
                <a:gd name="adj1" fmla="val 38519"/>
                <a:gd name="adj2" fmla="val 50000"/>
              </a:avLst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24745" name="Text Box 9"/>
          <p:cNvSpPr txBox="1">
            <a:spLocks noChangeArrowheads="1"/>
          </p:cNvSpPr>
          <p:nvPr/>
        </p:nvSpPr>
        <p:spPr bwMode="auto">
          <a:xfrm>
            <a:off x="3543300" y="962025"/>
            <a:ext cx="2532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正常固结土</a:t>
            </a:r>
            <a:r>
              <a:rPr kumimoji="1"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:</a:t>
            </a:r>
          </a:p>
        </p:txBody>
      </p:sp>
      <p:sp>
        <p:nvSpPr>
          <p:cNvPr id="1524746" name="Text Box 10"/>
          <p:cNvSpPr txBox="1">
            <a:spLocks noChangeArrowheads="1"/>
          </p:cNvSpPr>
          <p:nvPr/>
        </p:nvSpPr>
        <p:spPr bwMode="auto">
          <a:xfrm>
            <a:off x="3584575" y="3227388"/>
            <a:ext cx="241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超固结土</a:t>
            </a:r>
            <a:r>
              <a:rPr kumimoji="1"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:</a:t>
            </a:r>
          </a:p>
        </p:txBody>
      </p:sp>
      <p:grpSp>
        <p:nvGrpSpPr>
          <p:cNvPr id="1524747" name="Group 11"/>
          <p:cNvGrpSpPr>
            <a:grpSpLocks/>
          </p:cNvGrpSpPr>
          <p:nvPr/>
        </p:nvGrpSpPr>
        <p:grpSpPr bwMode="auto">
          <a:xfrm>
            <a:off x="4092575" y="1936755"/>
            <a:ext cx="4105275" cy="1041400"/>
            <a:chOff x="2578" y="1220"/>
            <a:chExt cx="2586" cy="656"/>
          </a:xfrm>
        </p:grpSpPr>
        <p:sp>
          <p:nvSpPr>
            <p:cNvPr id="1524748" name="Rectangle 12"/>
            <p:cNvSpPr>
              <a:spLocks noChangeArrowheads="1"/>
            </p:cNvSpPr>
            <p:nvPr/>
          </p:nvSpPr>
          <p:spPr bwMode="auto">
            <a:xfrm>
              <a:off x="2578" y="1220"/>
              <a:ext cx="2586" cy="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None/>
              </a:pPr>
              <a:r>
                <a:rPr kumimoji="1" lang="zh-CN" altLang="en-US" sz="2400" b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原状土的原位压缩曲线：</a:t>
              </a:r>
            </a:p>
            <a:p>
              <a:pPr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None/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客观存在的，无法直接得到</a:t>
              </a:r>
              <a:endParaRPr kumimoji="1"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24749" name="WordArt 13"/>
            <p:cNvSpPr>
              <a:spLocks noChangeArrowheads="1" noChangeShapeType="1" noTextEdit="1"/>
            </p:cNvSpPr>
            <p:nvPr/>
          </p:nvSpPr>
          <p:spPr bwMode="auto">
            <a:xfrm rot="5400000">
              <a:off x="4755" y="1287"/>
              <a:ext cx="270" cy="19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vert="eaVert" wrap="none" fromWordArt="1">
              <a:prstTxWarp prst="textPlain">
                <a:avLst>
                  <a:gd name="adj" fmla="val 50000"/>
                </a:avLst>
              </a:prstTxWarp>
              <a:scene3d>
                <a:camera prst="legacyPerspectiveFront">
                  <a:rot lat="20639999" lon="20699999" rev="0"/>
                </a:camera>
                <a:lightRig rig="legacyNormal3" dir="l"/>
              </a:scene3d>
              <a:sp3d extrusionH="201600" prstMaterial="legacyPlastic">
                <a:extrusionClr>
                  <a:srgbClr val="FF9966"/>
                </a:extrusionClr>
              </a:sp3d>
            </a:bodyPr>
            <a:lstStyle/>
            <a:p>
              <a:pPr algn="ctr" fontAlgn="auto"/>
              <a:r>
                <a:rPr lang="zh-CN" altLang="en-US" sz="3600" kern="10" dirty="0">
                  <a:ln w="9525">
                    <a:round/>
                    <a:headEnd/>
                    <a:tailEnd/>
                  </a:ln>
                  <a:solidFill>
                    <a:srgbClr val="CC0000"/>
                  </a:solidFill>
                  <a:latin typeface="宋体"/>
                  <a:ea typeface="宋体"/>
                </a:rPr>
                <a:t>？</a:t>
              </a:r>
            </a:p>
          </p:txBody>
        </p:sp>
      </p:grpSp>
      <p:sp>
        <p:nvSpPr>
          <p:cNvPr id="1524750" name="Rectangle 14"/>
          <p:cNvSpPr>
            <a:spLocks noChangeArrowheads="1"/>
          </p:cNvSpPr>
          <p:nvPr/>
        </p:nvSpPr>
        <p:spPr bwMode="auto">
          <a:xfrm>
            <a:off x="5983384" y="657857"/>
            <a:ext cx="2443163" cy="1226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 2" pitchFamily="18" charset="2"/>
              </a:rPr>
              <a:t> 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沉积</a:t>
            </a:r>
            <a:r>
              <a:rPr kumimoji="1" lang="en-US" altLang="zh-CN" sz="22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ab</a:t>
            </a: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Wingdings 2" pitchFamily="18" charset="2"/>
              </a:rPr>
              <a:t> </a:t>
            </a:r>
            <a:r>
              <a:rPr kumimoji="1" lang="zh-CN" altLang="en-US" sz="2200" b="1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取样</a:t>
            </a:r>
            <a:r>
              <a:rPr kumimoji="1" lang="en-US" altLang="zh-CN" sz="2200" b="1" dirty="0">
                <a:solidFill>
                  <a:srgbClr val="0066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bb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Wingdings 2" pitchFamily="18" charset="2"/>
              </a:rPr>
              <a:t> </a:t>
            </a:r>
            <a:r>
              <a:rPr kumimoji="1"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室内试验</a:t>
            </a:r>
            <a:r>
              <a:rPr kumimoji="1" lang="en-US" altLang="zh-CN" sz="2200" b="1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bcd</a:t>
            </a:r>
            <a:endParaRPr kumimoji="1" lang="zh-CN" altLang="en-US" sz="22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pSp>
        <p:nvGrpSpPr>
          <p:cNvPr id="1524751" name="Group 15"/>
          <p:cNvGrpSpPr>
            <a:grpSpLocks/>
          </p:cNvGrpSpPr>
          <p:nvPr/>
        </p:nvGrpSpPr>
        <p:grpSpPr bwMode="auto">
          <a:xfrm>
            <a:off x="603250" y="768352"/>
            <a:ext cx="3260725" cy="4498977"/>
            <a:chOff x="380" y="484"/>
            <a:chExt cx="2054" cy="2834"/>
          </a:xfrm>
        </p:grpSpPr>
        <p:sp>
          <p:nvSpPr>
            <p:cNvPr id="1524761" name="Text Box 25"/>
            <p:cNvSpPr txBox="1">
              <a:spLocks noChangeArrowheads="1"/>
            </p:cNvSpPr>
            <p:nvPr/>
          </p:nvSpPr>
          <p:spPr bwMode="auto">
            <a:xfrm>
              <a:off x="380" y="484"/>
              <a:ext cx="21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e</a:t>
              </a:r>
            </a:p>
          </p:txBody>
        </p:sp>
        <p:sp>
          <p:nvSpPr>
            <p:cNvPr id="1524762" name="Freeform 26"/>
            <p:cNvSpPr>
              <a:spLocks/>
            </p:cNvSpPr>
            <p:nvPr/>
          </p:nvSpPr>
          <p:spPr bwMode="auto">
            <a:xfrm>
              <a:off x="1096" y="775"/>
              <a:ext cx="988" cy="2154"/>
            </a:xfrm>
            <a:custGeom>
              <a:avLst/>
              <a:gdLst>
                <a:gd name="T0" fmla="*/ 1094 w 1094"/>
                <a:gd name="T1" fmla="*/ 2384 h 2384"/>
                <a:gd name="T2" fmla="*/ 0 w 1094"/>
                <a:gd name="T3" fmla="*/ 0 h 2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94" h="2384">
                  <a:moveTo>
                    <a:pt x="1094" y="2384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0066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24764" name="Freeform 28"/>
            <p:cNvSpPr>
              <a:spLocks noChangeAspect="1"/>
            </p:cNvSpPr>
            <p:nvPr/>
          </p:nvSpPr>
          <p:spPr bwMode="auto">
            <a:xfrm>
              <a:off x="1045" y="683"/>
              <a:ext cx="340" cy="737"/>
            </a:xfrm>
            <a:custGeom>
              <a:avLst/>
              <a:gdLst>
                <a:gd name="T0" fmla="*/ 379 w 379"/>
                <a:gd name="T1" fmla="*/ 846 h 846"/>
                <a:gd name="T2" fmla="*/ 0 w 379"/>
                <a:gd name="T3" fmla="*/ 0 h 846"/>
                <a:gd name="connsiteX0" fmla="*/ 10000 w 10000"/>
                <a:gd name="connsiteY0" fmla="*/ 9822 h 9822"/>
                <a:gd name="connsiteX1" fmla="*/ 0 w 10000"/>
                <a:gd name="connsiteY1" fmla="*/ 0 h 9822"/>
                <a:gd name="connsiteX0" fmla="*/ 10495 w 10495"/>
                <a:gd name="connsiteY0" fmla="*/ 10136 h 10136"/>
                <a:gd name="connsiteX1" fmla="*/ 0 w 10495"/>
                <a:gd name="connsiteY1" fmla="*/ 0 h 10136"/>
                <a:gd name="connsiteX0" fmla="*/ 10099 w 10099"/>
                <a:gd name="connsiteY0" fmla="*/ 10000 h 10000"/>
                <a:gd name="connsiteX1" fmla="*/ 0 w 10099"/>
                <a:gd name="connsiteY1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99" h="10000">
                  <a:moveTo>
                    <a:pt x="10099" y="10000"/>
                  </a:moveTo>
                  <a:cubicBezTo>
                    <a:pt x="6766" y="6607"/>
                    <a:pt x="3333" y="3393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000066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4768" name="Freeform 32"/>
            <p:cNvSpPr>
              <a:spLocks noChangeAspect="1"/>
            </p:cNvSpPr>
            <p:nvPr/>
          </p:nvSpPr>
          <p:spPr bwMode="auto">
            <a:xfrm>
              <a:off x="483" y="1104"/>
              <a:ext cx="905" cy="321"/>
            </a:xfrm>
            <a:custGeom>
              <a:avLst/>
              <a:gdLst>
                <a:gd name="T0" fmla="*/ 926 w 926"/>
                <a:gd name="T1" fmla="*/ 335 h 335"/>
                <a:gd name="T2" fmla="*/ 723 w 926"/>
                <a:gd name="T3" fmla="*/ 309 h 335"/>
                <a:gd name="T4" fmla="*/ 575 w 926"/>
                <a:gd name="T5" fmla="*/ 275 h 335"/>
                <a:gd name="T6" fmla="*/ 416 w 926"/>
                <a:gd name="T7" fmla="*/ 224 h 335"/>
                <a:gd name="T8" fmla="*/ 254 w 926"/>
                <a:gd name="T9" fmla="*/ 158 h 335"/>
                <a:gd name="T10" fmla="*/ 0 w 926"/>
                <a:gd name="T11" fmla="*/ 0 h 335"/>
                <a:gd name="connsiteX0" fmla="*/ 10000 w 10000"/>
                <a:gd name="connsiteY0" fmla="*/ 10000 h 10000"/>
                <a:gd name="connsiteX1" fmla="*/ 7808 w 10000"/>
                <a:gd name="connsiteY1" fmla="*/ 9224 h 10000"/>
                <a:gd name="connsiteX2" fmla="*/ 6210 w 10000"/>
                <a:gd name="connsiteY2" fmla="*/ 8209 h 10000"/>
                <a:gd name="connsiteX3" fmla="*/ 4492 w 10000"/>
                <a:gd name="connsiteY3" fmla="*/ 6687 h 10000"/>
                <a:gd name="connsiteX4" fmla="*/ 2285 w 10000"/>
                <a:gd name="connsiteY4" fmla="*/ 3872 h 10000"/>
                <a:gd name="connsiteX5" fmla="*/ 0 w 10000"/>
                <a:gd name="connsiteY5" fmla="*/ 0 h 10000"/>
                <a:gd name="connsiteX0" fmla="*/ 10000 w 10000"/>
                <a:gd name="connsiteY0" fmla="*/ 10000 h 10000"/>
                <a:gd name="connsiteX1" fmla="*/ 7808 w 10000"/>
                <a:gd name="connsiteY1" fmla="*/ 9224 h 10000"/>
                <a:gd name="connsiteX2" fmla="*/ 6057 w 10000"/>
                <a:gd name="connsiteY2" fmla="*/ 8104 h 10000"/>
                <a:gd name="connsiteX3" fmla="*/ 4492 w 10000"/>
                <a:gd name="connsiteY3" fmla="*/ 6687 h 10000"/>
                <a:gd name="connsiteX4" fmla="*/ 2285 w 10000"/>
                <a:gd name="connsiteY4" fmla="*/ 3872 h 10000"/>
                <a:gd name="connsiteX5" fmla="*/ 0 w 10000"/>
                <a:gd name="connsiteY5" fmla="*/ 0 h 10000"/>
                <a:gd name="connsiteX0" fmla="*/ 10000 w 10000"/>
                <a:gd name="connsiteY0" fmla="*/ 10000 h 10000"/>
                <a:gd name="connsiteX1" fmla="*/ 7808 w 10000"/>
                <a:gd name="connsiteY1" fmla="*/ 9224 h 10000"/>
                <a:gd name="connsiteX2" fmla="*/ 6057 w 10000"/>
                <a:gd name="connsiteY2" fmla="*/ 8104 h 10000"/>
                <a:gd name="connsiteX3" fmla="*/ 4149 w 10000"/>
                <a:gd name="connsiteY3" fmla="*/ 6265 h 10000"/>
                <a:gd name="connsiteX4" fmla="*/ 2285 w 10000"/>
                <a:gd name="connsiteY4" fmla="*/ 3872 h 10000"/>
                <a:gd name="connsiteX5" fmla="*/ 0 w 10000"/>
                <a:gd name="connsiteY5" fmla="*/ 0 h 10000"/>
                <a:gd name="connsiteX0" fmla="*/ 9771 w 9771"/>
                <a:gd name="connsiteY0" fmla="*/ 9578 h 9578"/>
                <a:gd name="connsiteX1" fmla="*/ 7579 w 9771"/>
                <a:gd name="connsiteY1" fmla="*/ 8802 h 9578"/>
                <a:gd name="connsiteX2" fmla="*/ 5828 w 9771"/>
                <a:gd name="connsiteY2" fmla="*/ 7682 h 9578"/>
                <a:gd name="connsiteX3" fmla="*/ 3920 w 9771"/>
                <a:gd name="connsiteY3" fmla="*/ 5843 h 9578"/>
                <a:gd name="connsiteX4" fmla="*/ 2056 w 9771"/>
                <a:gd name="connsiteY4" fmla="*/ 3450 h 9578"/>
                <a:gd name="connsiteX5" fmla="*/ 0 w 9771"/>
                <a:gd name="connsiteY5" fmla="*/ 0 h 9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71" h="9578">
                  <a:moveTo>
                    <a:pt x="9771" y="9578"/>
                  </a:moveTo>
                  <a:cubicBezTo>
                    <a:pt x="9415" y="9459"/>
                    <a:pt x="8236" y="9118"/>
                    <a:pt x="7579" y="8802"/>
                  </a:cubicBezTo>
                  <a:cubicBezTo>
                    <a:pt x="6922" y="8486"/>
                    <a:pt x="6438" y="8175"/>
                    <a:pt x="5828" y="7682"/>
                  </a:cubicBezTo>
                  <a:cubicBezTo>
                    <a:pt x="5218" y="7189"/>
                    <a:pt x="4549" y="6548"/>
                    <a:pt x="3920" y="5843"/>
                  </a:cubicBezTo>
                  <a:cubicBezTo>
                    <a:pt x="3291" y="5138"/>
                    <a:pt x="2801" y="4555"/>
                    <a:pt x="2056" y="3450"/>
                  </a:cubicBezTo>
                  <a:cubicBezTo>
                    <a:pt x="1311" y="2346"/>
                    <a:pt x="572" y="985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66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4771" name="Freeform 35"/>
            <p:cNvSpPr>
              <a:spLocks noChangeAspect="1"/>
            </p:cNvSpPr>
            <p:nvPr/>
          </p:nvSpPr>
          <p:spPr bwMode="auto">
            <a:xfrm>
              <a:off x="476" y="1100"/>
              <a:ext cx="1221" cy="1062"/>
            </a:xfrm>
            <a:custGeom>
              <a:avLst/>
              <a:gdLst>
                <a:gd name="T0" fmla="*/ 1221 w 1221"/>
                <a:gd name="T1" fmla="*/ 1062 h 1062"/>
                <a:gd name="T2" fmla="*/ 1116 w 1221"/>
                <a:gd name="T3" fmla="*/ 855 h 1062"/>
                <a:gd name="T4" fmla="*/ 989 w 1221"/>
                <a:gd name="T5" fmla="*/ 615 h 1062"/>
                <a:gd name="T6" fmla="*/ 880 w 1221"/>
                <a:gd name="T7" fmla="*/ 430 h 1062"/>
                <a:gd name="T8" fmla="*/ 701 w 1221"/>
                <a:gd name="T9" fmla="*/ 238 h 1062"/>
                <a:gd name="T10" fmla="*/ 516 w 1221"/>
                <a:gd name="T11" fmla="*/ 110 h 1062"/>
                <a:gd name="T12" fmla="*/ 260 w 1221"/>
                <a:gd name="T13" fmla="*/ 26 h 1062"/>
                <a:gd name="T14" fmla="*/ 0 w 1221"/>
                <a:gd name="T15" fmla="*/ 0 h 1062"/>
                <a:gd name="connsiteX0" fmla="*/ 10000 w 10000"/>
                <a:gd name="connsiteY0" fmla="*/ 10000 h 10000"/>
                <a:gd name="connsiteX1" fmla="*/ 9140 w 10000"/>
                <a:gd name="connsiteY1" fmla="*/ 8051 h 10000"/>
                <a:gd name="connsiteX2" fmla="*/ 8100 w 10000"/>
                <a:gd name="connsiteY2" fmla="*/ 5791 h 10000"/>
                <a:gd name="connsiteX3" fmla="*/ 7033 w 10000"/>
                <a:gd name="connsiteY3" fmla="*/ 3883 h 10000"/>
                <a:gd name="connsiteX4" fmla="*/ 5741 w 10000"/>
                <a:gd name="connsiteY4" fmla="*/ 2241 h 10000"/>
                <a:gd name="connsiteX5" fmla="*/ 4226 w 10000"/>
                <a:gd name="connsiteY5" fmla="*/ 1036 h 10000"/>
                <a:gd name="connsiteX6" fmla="*/ 2129 w 10000"/>
                <a:gd name="connsiteY6" fmla="*/ 245 h 10000"/>
                <a:gd name="connsiteX7" fmla="*/ 0 w 10000"/>
                <a:gd name="connsiteY7" fmla="*/ 0 h 10000"/>
                <a:gd name="connsiteX0" fmla="*/ 10000 w 10000"/>
                <a:gd name="connsiteY0" fmla="*/ 10000 h 10000"/>
                <a:gd name="connsiteX1" fmla="*/ 9140 w 10000"/>
                <a:gd name="connsiteY1" fmla="*/ 8051 h 10000"/>
                <a:gd name="connsiteX2" fmla="*/ 8100 w 10000"/>
                <a:gd name="connsiteY2" fmla="*/ 5791 h 10000"/>
                <a:gd name="connsiteX3" fmla="*/ 7033 w 10000"/>
                <a:gd name="connsiteY3" fmla="*/ 3883 h 10000"/>
                <a:gd name="connsiteX4" fmla="*/ 5741 w 10000"/>
                <a:gd name="connsiteY4" fmla="*/ 2241 h 10000"/>
                <a:gd name="connsiteX5" fmla="*/ 4226 w 10000"/>
                <a:gd name="connsiteY5" fmla="*/ 1036 h 10000"/>
                <a:gd name="connsiteX6" fmla="*/ 2245 w 10000"/>
                <a:gd name="connsiteY6" fmla="*/ 312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>
                  <a:moveTo>
                    <a:pt x="10000" y="10000"/>
                  </a:moveTo>
                  <a:cubicBezTo>
                    <a:pt x="9853" y="9670"/>
                    <a:pt x="9459" y="8748"/>
                    <a:pt x="9140" y="8051"/>
                  </a:cubicBezTo>
                  <a:cubicBezTo>
                    <a:pt x="8821" y="7354"/>
                    <a:pt x="8451" y="6486"/>
                    <a:pt x="8100" y="5791"/>
                  </a:cubicBezTo>
                  <a:cubicBezTo>
                    <a:pt x="7749" y="5096"/>
                    <a:pt x="7426" y="4476"/>
                    <a:pt x="7033" y="3883"/>
                  </a:cubicBezTo>
                  <a:cubicBezTo>
                    <a:pt x="6640" y="3290"/>
                    <a:pt x="6209" y="2716"/>
                    <a:pt x="5741" y="2241"/>
                  </a:cubicBezTo>
                  <a:cubicBezTo>
                    <a:pt x="5273" y="1767"/>
                    <a:pt x="4809" y="1358"/>
                    <a:pt x="4226" y="1036"/>
                  </a:cubicBezTo>
                  <a:cubicBezTo>
                    <a:pt x="3643" y="715"/>
                    <a:pt x="2950" y="481"/>
                    <a:pt x="2245" y="312"/>
                  </a:cubicBezTo>
                  <a:cubicBezTo>
                    <a:pt x="1541" y="142"/>
                    <a:pt x="442" y="47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8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4775" name="Freeform 39"/>
            <p:cNvSpPr>
              <a:spLocks noChangeAspect="1"/>
            </p:cNvSpPr>
            <p:nvPr/>
          </p:nvSpPr>
          <p:spPr bwMode="auto">
            <a:xfrm>
              <a:off x="768" y="1886"/>
              <a:ext cx="1275" cy="978"/>
            </a:xfrm>
            <a:custGeom>
              <a:avLst/>
              <a:gdLst>
                <a:gd name="T0" fmla="*/ 1275 w 1275"/>
                <a:gd name="T1" fmla="*/ 978 h 978"/>
                <a:gd name="T2" fmla="*/ 1119 w 1275"/>
                <a:gd name="T3" fmla="*/ 669 h 978"/>
                <a:gd name="T4" fmla="*/ 945 w 1275"/>
                <a:gd name="T5" fmla="*/ 423 h 978"/>
                <a:gd name="T6" fmla="*/ 798 w 1275"/>
                <a:gd name="T7" fmla="*/ 273 h 978"/>
                <a:gd name="T8" fmla="*/ 594 w 1275"/>
                <a:gd name="T9" fmla="*/ 156 h 978"/>
                <a:gd name="T10" fmla="*/ 429 w 1275"/>
                <a:gd name="T11" fmla="*/ 93 h 978"/>
                <a:gd name="T12" fmla="*/ 198 w 1275"/>
                <a:gd name="T13" fmla="*/ 30 h 978"/>
                <a:gd name="T14" fmla="*/ 0 w 1275"/>
                <a:gd name="T15" fmla="*/ 0 h 978"/>
                <a:gd name="connsiteX0" fmla="*/ 10000 w 10000"/>
                <a:gd name="connsiteY0" fmla="*/ 10000 h 10000"/>
                <a:gd name="connsiteX1" fmla="*/ 8776 w 10000"/>
                <a:gd name="connsiteY1" fmla="*/ 6840 h 10000"/>
                <a:gd name="connsiteX2" fmla="*/ 7412 w 10000"/>
                <a:gd name="connsiteY2" fmla="*/ 4325 h 10000"/>
                <a:gd name="connsiteX3" fmla="*/ 6259 w 10000"/>
                <a:gd name="connsiteY3" fmla="*/ 2791 h 10000"/>
                <a:gd name="connsiteX4" fmla="*/ 4659 w 10000"/>
                <a:gd name="connsiteY4" fmla="*/ 1595 h 10000"/>
                <a:gd name="connsiteX5" fmla="*/ 3143 w 10000"/>
                <a:gd name="connsiteY5" fmla="*/ 879 h 10000"/>
                <a:gd name="connsiteX6" fmla="*/ 1553 w 10000"/>
                <a:gd name="connsiteY6" fmla="*/ 307 h 10000"/>
                <a:gd name="connsiteX7" fmla="*/ 0 w 10000"/>
                <a:gd name="connsiteY7" fmla="*/ 0 h 10000"/>
                <a:gd name="connsiteX0" fmla="*/ 10000 w 10000"/>
                <a:gd name="connsiteY0" fmla="*/ 10000 h 10000"/>
                <a:gd name="connsiteX1" fmla="*/ 8776 w 10000"/>
                <a:gd name="connsiteY1" fmla="*/ 6840 h 10000"/>
                <a:gd name="connsiteX2" fmla="*/ 7412 w 10000"/>
                <a:gd name="connsiteY2" fmla="*/ 4325 h 10000"/>
                <a:gd name="connsiteX3" fmla="*/ 6259 w 10000"/>
                <a:gd name="connsiteY3" fmla="*/ 2791 h 10000"/>
                <a:gd name="connsiteX4" fmla="*/ 4659 w 10000"/>
                <a:gd name="connsiteY4" fmla="*/ 1595 h 10000"/>
                <a:gd name="connsiteX5" fmla="*/ 3004 w 10000"/>
                <a:gd name="connsiteY5" fmla="*/ 771 h 10000"/>
                <a:gd name="connsiteX6" fmla="*/ 1553 w 10000"/>
                <a:gd name="connsiteY6" fmla="*/ 307 h 10000"/>
                <a:gd name="connsiteX7" fmla="*/ 0 w 10000"/>
                <a:gd name="connsiteY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00" h="10000">
                  <a:moveTo>
                    <a:pt x="10000" y="10000"/>
                  </a:moveTo>
                  <a:cubicBezTo>
                    <a:pt x="9796" y="9479"/>
                    <a:pt x="9208" y="7781"/>
                    <a:pt x="8776" y="6840"/>
                  </a:cubicBezTo>
                  <a:cubicBezTo>
                    <a:pt x="8345" y="5900"/>
                    <a:pt x="7827" y="5000"/>
                    <a:pt x="7412" y="4325"/>
                  </a:cubicBezTo>
                  <a:cubicBezTo>
                    <a:pt x="6996" y="3650"/>
                    <a:pt x="6714" y="3241"/>
                    <a:pt x="6259" y="2791"/>
                  </a:cubicBezTo>
                  <a:cubicBezTo>
                    <a:pt x="5804" y="2342"/>
                    <a:pt x="5201" y="1932"/>
                    <a:pt x="4659" y="1595"/>
                  </a:cubicBezTo>
                  <a:cubicBezTo>
                    <a:pt x="4117" y="1258"/>
                    <a:pt x="3521" y="986"/>
                    <a:pt x="3004" y="771"/>
                  </a:cubicBezTo>
                  <a:cubicBezTo>
                    <a:pt x="2486" y="556"/>
                    <a:pt x="2110" y="460"/>
                    <a:pt x="1553" y="307"/>
                  </a:cubicBezTo>
                  <a:cubicBezTo>
                    <a:pt x="996" y="153"/>
                    <a:pt x="322" y="61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8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24777" name="Text Box 41"/>
            <p:cNvSpPr txBox="1">
              <a:spLocks noChangeArrowheads="1"/>
            </p:cNvSpPr>
            <p:nvPr/>
          </p:nvSpPr>
          <p:spPr bwMode="auto">
            <a:xfrm>
              <a:off x="1934" y="3030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/>
                <a:t>p</a:t>
              </a:r>
              <a:r>
                <a:rPr lang="en-US" altLang="zh-CN" sz="2400" b="1" dirty="0"/>
                <a:t>(</a:t>
              </a:r>
              <a:r>
                <a:rPr lang="en-US" altLang="zh-CN" sz="2400" b="1" dirty="0" err="1"/>
                <a:t>lg</a:t>
              </a:r>
              <a:r>
                <a:rPr lang="en-US" altLang="zh-CN" sz="2400" b="1" dirty="0"/>
                <a:t>)</a:t>
              </a:r>
              <a:endParaRPr lang="zh-CN" altLang="en-US" sz="2400" b="1" dirty="0"/>
            </a:p>
          </p:txBody>
        </p:sp>
        <p:sp>
          <p:nvSpPr>
            <p:cNvPr id="1524779" name="Freeform 43"/>
            <p:cNvSpPr>
              <a:spLocks noChangeAspect="1"/>
            </p:cNvSpPr>
            <p:nvPr/>
          </p:nvSpPr>
          <p:spPr bwMode="auto">
            <a:xfrm>
              <a:off x="764" y="1892"/>
              <a:ext cx="941" cy="263"/>
            </a:xfrm>
            <a:custGeom>
              <a:avLst/>
              <a:gdLst>
                <a:gd name="T0" fmla="*/ 941 w 941"/>
                <a:gd name="T1" fmla="*/ 263 h 263"/>
                <a:gd name="T2" fmla="*/ 790 w 941"/>
                <a:gd name="T3" fmla="*/ 243 h 263"/>
                <a:gd name="T4" fmla="*/ 624 w 941"/>
                <a:gd name="T5" fmla="*/ 211 h 263"/>
                <a:gd name="T6" fmla="*/ 456 w 941"/>
                <a:gd name="T7" fmla="*/ 167 h 263"/>
                <a:gd name="T8" fmla="*/ 282 w 941"/>
                <a:gd name="T9" fmla="*/ 113 h 263"/>
                <a:gd name="T10" fmla="*/ 170 w 941"/>
                <a:gd name="T11" fmla="*/ 71 h 263"/>
                <a:gd name="T12" fmla="*/ 94 w 941"/>
                <a:gd name="T13" fmla="*/ 45 h 263"/>
                <a:gd name="T14" fmla="*/ 0 w 941"/>
                <a:gd name="T15" fmla="*/ 0 h 263"/>
                <a:gd name="connsiteX0" fmla="*/ 10000 w 10000"/>
                <a:gd name="connsiteY0" fmla="*/ 10000 h 10000"/>
                <a:gd name="connsiteX1" fmla="*/ 8395 w 10000"/>
                <a:gd name="connsiteY1" fmla="*/ 9240 h 10000"/>
                <a:gd name="connsiteX2" fmla="*/ 6631 w 10000"/>
                <a:gd name="connsiteY2" fmla="*/ 8023 h 10000"/>
                <a:gd name="connsiteX3" fmla="*/ 4846 w 10000"/>
                <a:gd name="connsiteY3" fmla="*/ 6350 h 10000"/>
                <a:gd name="connsiteX4" fmla="*/ 2997 w 10000"/>
                <a:gd name="connsiteY4" fmla="*/ 4297 h 10000"/>
                <a:gd name="connsiteX5" fmla="*/ 999 w 10000"/>
                <a:gd name="connsiteY5" fmla="*/ 1711 h 10000"/>
                <a:gd name="connsiteX6" fmla="*/ 0 w 10000"/>
                <a:gd name="connsiteY6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0" h="10000">
                  <a:moveTo>
                    <a:pt x="10000" y="10000"/>
                  </a:moveTo>
                  <a:cubicBezTo>
                    <a:pt x="9734" y="9886"/>
                    <a:pt x="8959" y="9582"/>
                    <a:pt x="8395" y="9240"/>
                  </a:cubicBezTo>
                  <a:cubicBezTo>
                    <a:pt x="7832" y="8897"/>
                    <a:pt x="7226" y="8517"/>
                    <a:pt x="6631" y="8023"/>
                  </a:cubicBezTo>
                  <a:cubicBezTo>
                    <a:pt x="6036" y="7529"/>
                    <a:pt x="5452" y="6958"/>
                    <a:pt x="4846" y="6350"/>
                  </a:cubicBezTo>
                  <a:cubicBezTo>
                    <a:pt x="4240" y="5741"/>
                    <a:pt x="3638" y="5070"/>
                    <a:pt x="2997" y="4297"/>
                  </a:cubicBezTo>
                  <a:cubicBezTo>
                    <a:pt x="2356" y="3524"/>
                    <a:pt x="1498" y="2427"/>
                    <a:pt x="999" y="1711"/>
                  </a:cubicBezTo>
                  <a:cubicBezTo>
                    <a:pt x="701" y="1255"/>
                    <a:pt x="213" y="342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8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" name="Text Box 41"/>
            <p:cNvSpPr txBox="1">
              <a:spLocks noChangeArrowheads="1"/>
            </p:cNvSpPr>
            <p:nvPr/>
          </p:nvSpPr>
          <p:spPr bwMode="auto">
            <a:xfrm>
              <a:off x="1090" y="512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A50021"/>
                  </a:solidFill>
                </a:rPr>
                <a:t>a</a:t>
              </a:r>
              <a:endParaRPr lang="zh-CN" altLang="en-US" sz="2400" b="1" dirty="0">
                <a:solidFill>
                  <a:srgbClr val="A50021"/>
                </a:solidFill>
              </a:endParaRPr>
            </a:p>
          </p:txBody>
        </p:sp>
        <p:sp>
          <p:nvSpPr>
            <p:cNvPr id="51" name="Text Box 41"/>
            <p:cNvSpPr txBox="1">
              <a:spLocks noChangeArrowheads="1"/>
            </p:cNvSpPr>
            <p:nvPr/>
          </p:nvSpPr>
          <p:spPr bwMode="auto">
            <a:xfrm>
              <a:off x="1407" y="1226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A50021"/>
                  </a:solidFill>
                </a:rPr>
                <a:t>b</a:t>
              </a:r>
              <a:endParaRPr lang="zh-CN" altLang="en-US" sz="2400" b="1" dirty="0">
                <a:solidFill>
                  <a:srgbClr val="A50021"/>
                </a:solidFill>
              </a:endParaRPr>
            </a:p>
          </p:txBody>
        </p:sp>
        <p:sp>
          <p:nvSpPr>
            <p:cNvPr id="52" name="Text Box 41"/>
            <p:cNvSpPr txBox="1">
              <a:spLocks noChangeArrowheads="1"/>
            </p:cNvSpPr>
            <p:nvPr/>
          </p:nvSpPr>
          <p:spPr bwMode="auto">
            <a:xfrm>
              <a:off x="927" y="969"/>
              <a:ext cx="2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A50021"/>
                  </a:solidFill>
                </a:rPr>
                <a:t>c</a:t>
              </a:r>
              <a:endParaRPr lang="zh-CN" altLang="en-US" sz="2400" b="1" dirty="0">
                <a:solidFill>
                  <a:srgbClr val="A50021"/>
                </a:solidFill>
              </a:endParaRPr>
            </a:p>
          </p:txBody>
        </p:sp>
        <p:sp>
          <p:nvSpPr>
            <p:cNvPr id="53" name="Text Box 41"/>
            <p:cNvSpPr txBox="1">
              <a:spLocks noChangeArrowheads="1"/>
            </p:cNvSpPr>
            <p:nvPr/>
          </p:nvSpPr>
          <p:spPr bwMode="auto">
            <a:xfrm>
              <a:off x="384" y="820"/>
              <a:ext cx="2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A50021"/>
                  </a:solidFill>
                </a:rPr>
                <a:t>b</a:t>
              </a:r>
              <a:r>
                <a:rPr lang="en-US" altLang="zh-CN" sz="2400" b="1" dirty="0" smtClean="0">
                  <a:solidFill>
                    <a:srgbClr val="A50021"/>
                  </a:solidFill>
                  <a:sym typeface="Symbol"/>
                </a:rPr>
                <a:t></a:t>
              </a:r>
              <a:endParaRPr lang="zh-CN" altLang="en-US" sz="2400" b="1" dirty="0">
                <a:solidFill>
                  <a:srgbClr val="A50021"/>
                </a:solidFill>
              </a:endParaRPr>
            </a:p>
          </p:txBody>
        </p:sp>
        <p:sp>
          <p:nvSpPr>
            <p:cNvPr id="54" name="Text Box 41"/>
            <p:cNvSpPr txBox="1">
              <a:spLocks noChangeArrowheads="1"/>
            </p:cNvSpPr>
            <p:nvPr/>
          </p:nvSpPr>
          <p:spPr bwMode="auto">
            <a:xfrm>
              <a:off x="1710" y="1972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A50021"/>
                  </a:solidFill>
                </a:rPr>
                <a:t>d</a:t>
              </a:r>
              <a:endParaRPr lang="zh-CN" altLang="en-US" sz="2400" b="1" dirty="0">
                <a:solidFill>
                  <a:srgbClr val="A50021"/>
                </a:solidFill>
              </a:endParaRPr>
            </a:p>
          </p:txBody>
        </p:sp>
        <p:sp>
          <p:nvSpPr>
            <p:cNvPr id="55" name="Text Box 41"/>
            <p:cNvSpPr txBox="1">
              <a:spLocks noChangeArrowheads="1"/>
            </p:cNvSpPr>
            <p:nvPr/>
          </p:nvSpPr>
          <p:spPr bwMode="auto">
            <a:xfrm>
              <a:off x="587" y="1632"/>
              <a:ext cx="2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A50021"/>
                  </a:solidFill>
                </a:rPr>
                <a:t>d</a:t>
              </a:r>
              <a:r>
                <a:rPr lang="en-US" altLang="zh-CN" sz="2400" b="1" dirty="0" smtClean="0">
                  <a:solidFill>
                    <a:srgbClr val="A50021"/>
                  </a:solidFill>
                  <a:sym typeface="Symbol"/>
                </a:rPr>
                <a:t></a:t>
              </a:r>
              <a:endParaRPr lang="zh-CN" altLang="en-US" sz="2400" b="1" dirty="0">
                <a:solidFill>
                  <a:srgbClr val="A50021"/>
                </a:solidFill>
              </a:endParaRPr>
            </a:p>
          </p:txBody>
        </p:sp>
        <p:sp>
          <p:nvSpPr>
            <p:cNvPr id="56" name="Text Box 41"/>
            <p:cNvSpPr txBox="1">
              <a:spLocks noChangeArrowheads="1"/>
            </p:cNvSpPr>
            <p:nvPr/>
          </p:nvSpPr>
          <p:spPr bwMode="auto">
            <a:xfrm>
              <a:off x="2067" y="2663"/>
              <a:ext cx="18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A50021"/>
                  </a:solidFill>
                </a:rPr>
                <a:t>f</a:t>
              </a:r>
              <a:endParaRPr lang="zh-CN" altLang="en-US" sz="2400" b="1" dirty="0">
                <a:solidFill>
                  <a:srgbClr val="A50021"/>
                </a:solidFill>
              </a:endParaRPr>
            </a:p>
          </p:txBody>
        </p:sp>
      </p:grpSp>
      <p:grpSp>
        <p:nvGrpSpPr>
          <p:cNvPr id="1524781" name="Group 45"/>
          <p:cNvGrpSpPr>
            <a:grpSpLocks/>
          </p:cNvGrpSpPr>
          <p:nvPr/>
        </p:nvGrpSpPr>
        <p:grpSpPr bwMode="auto">
          <a:xfrm>
            <a:off x="4552950" y="4494213"/>
            <a:ext cx="4105275" cy="1041400"/>
            <a:chOff x="2868" y="2831"/>
            <a:chExt cx="2586" cy="656"/>
          </a:xfrm>
        </p:grpSpPr>
        <p:sp>
          <p:nvSpPr>
            <p:cNvPr id="1524782" name="Rectangle 46"/>
            <p:cNvSpPr>
              <a:spLocks noChangeArrowheads="1"/>
            </p:cNvSpPr>
            <p:nvPr/>
          </p:nvSpPr>
          <p:spPr bwMode="auto">
            <a:xfrm>
              <a:off x="2868" y="2831"/>
              <a:ext cx="2586" cy="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None/>
              </a:pPr>
              <a:r>
                <a:rPr kumimoji="1" lang="zh-CN" altLang="en-US" sz="2400" b="1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原状土的原位再压缩曲线：</a:t>
              </a:r>
            </a:p>
            <a:p>
              <a:pPr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Wingdings" pitchFamily="2" charset="2"/>
                <a:buNone/>
              </a:pPr>
              <a:r>
                <a:rPr kumimoji="1" lang="zh-CN" altLang="en-US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客观存在的，无法直接得到</a:t>
              </a:r>
              <a:endParaRPr kumimoji="1" lang="zh-CN" altLang="en-US" sz="24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24783" name="WordArt 47"/>
            <p:cNvSpPr>
              <a:spLocks noChangeArrowheads="1" noChangeShapeType="1" noTextEdit="1"/>
            </p:cNvSpPr>
            <p:nvPr/>
          </p:nvSpPr>
          <p:spPr bwMode="auto">
            <a:xfrm rot="5400000">
              <a:off x="5220" y="2929"/>
              <a:ext cx="270" cy="19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vert="eaVert" wrap="none" fromWordArt="1">
              <a:prstTxWarp prst="textPlain">
                <a:avLst>
                  <a:gd name="adj" fmla="val 50000"/>
                </a:avLst>
              </a:prstTxWarp>
              <a:scene3d>
                <a:camera prst="legacyPerspectiveFront">
                  <a:rot lat="20639999" lon="20699999" rev="0"/>
                </a:camera>
                <a:lightRig rig="legacyNormal3" dir="l"/>
              </a:scene3d>
              <a:sp3d extrusionH="201600" prstMaterial="legacyPlastic">
                <a:extrusionClr>
                  <a:srgbClr val="FF9966"/>
                </a:extrusionClr>
              </a:sp3d>
            </a:bodyPr>
            <a:lstStyle/>
            <a:p>
              <a:pPr algn="ctr" fontAlgn="auto"/>
              <a:r>
                <a:rPr lang="zh-CN" altLang="en-US" sz="3600" kern="10">
                  <a:ln w="9525">
                    <a:round/>
                    <a:headEnd/>
                    <a:tailEnd/>
                  </a:ln>
                  <a:solidFill>
                    <a:srgbClr val="CC0000"/>
                  </a:solidFill>
                  <a:latin typeface="宋体"/>
                  <a:ea typeface="宋体"/>
                </a:rPr>
                <a:t>？</a:t>
              </a:r>
            </a:p>
          </p:txBody>
        </p:sp>
      </p:grpSp>
      <p:sp>
        <p:nvSpPr>
          <p:cNvPr id="4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-9526" y="0"/>
            <a:ext cx="53272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原位压缩曲线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2" name="任意多边形 1"/>
          <p:cNvSpPr/>
          <p:nvPr/>
        </p:nvSpPr>
        <p:spPr bwMode="auto">
          <a:xfrm>
            <a:off x="574158" y="1052614"/>
            <a:ext cx="3253563" cy="3816000"/>
          </a:xfrm>
          <a:custGeom>
            <a:avLst/>
            <a:gdLst>
              <a:gd name="connsiteX0" fmla="*/ 0 w 3147237"/>
              <a:gd name="connsiteY0" fmla="*/ 0 h 3710762"/>
              <a:gd name="connsiteX1" fmla="*/ 0 w 3147237"/>
              <a:gd name="connsiteY1" fmla="*/ 3710762 h 3710762"/>
              <a:gd name="connsiteX2" fmla="*/ 3147237 w 3147237"/>
              <a:gd name="connsiteY2" fmla="*/ 3710762 h 3710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47237" h="3710762">
                <a:moveTo>
                  <a:pt x="0" y="0"/>
                </a:moveTo>
                <a:lnTo>
                  <a:pt x="0" y="3710762"/>
                </a:lnTo>
                <a:lnTo>
                  <a:pt x="3147237" y="3710762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524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" dur="500"/>
                                        <p:tgtEl>
                                          <p:spTgt spid="152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524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24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24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524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24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24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4745" grpId="0"/>
      <p:bldP spid="1524746" grpId="0"/>
      <p:bldP spid="152475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63" name="Text Box 3"/>
          <p:cNvSpPr txBox="1">
            <a:spLocks noChangeArrowheads="1"/>
          </p:cNvSpPr>
          <p:nvPr/>
        </p:nvSpPr>
        <p:spPr bwMode="auto">
          <a:xfrm>
            <a:off x="2359025" y="5756275"/>
            <a:ext cx="57896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ea typeface="黑体" pitchFamily="2" charset="-122"/>
              </a:rPr>
              <a:t>原位初始压缩曲线的推求</a:t>
            </a:r>
          </a:p>
        </p:txBody>
      </p:sp>
      <p:sp>
        <p:nvSpPr>
          <p:cNvPr id="1525764" name="Text Box 4"/>
          <p:cNvSpPr txBox="1">
            <a:spLocks noChangeArrowheads="1"/>
          </p:cNvSpPr>
          <p:nvPr/>
        </p:nvSpPr>
        <p:spPr bwMode="auto">
          <a:xfrm>
            <a:off x="966788" y="1244600"/>
            <a:ext cx="7402512" cy="366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985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26206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4145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 typeface="Wingdings" pitchFamily="2" charset="2"/>
              <a:buChar char="n"/>
            </a:pPr>
            <a:r>
              <a:rPr kumimoji="0" lang="zh-CN" altLang="en-US" sz="26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基本假定：</a:t>
            </a:r>
          </a:p>
          <a:p>
            <a:pPr lvl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5000"/>
              <a:buFont typeface="Wingdings" pitchFamily="2" charset="2"/>
              <a:buChar char="l"/>
            </a:pP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取样后不回弹，即土样取出后孔隙比保持不变，</a:t>
            </a:r>
            <a:r>
              <a:rPr kumimoji="0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6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6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6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6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0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点位于原状土初始压缩或再压缩曲线上</a:t>
            </a:r>
          </a:p>
          <a:p>
            <a:pPr lvl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5000"/>
              <a:buFont typeface="Wingdings" pitchFamily="2" charset="2"/>
              <a:buChar char="l"/>
            </a:pP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压缩指数</a:t>
            </a:r>
            <a:r>
              <a:rPr kumimoji="0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和回弹指数</a:t>
            </a:r>
            <a:r>
              <a:rPr kumimoji="0" lang="en-US" altLang="zh-CN" sz="26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6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为常数</a:t>
            </a:r>
          </a:p>
          <a:p>
            <a:pPr lvl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5000"/>
              <a:buFont typeface="Wingdings" pitchFamily="2" charset="2"/>
              <a:buChar char="l"/>
            </a:pP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试验曲线上的</a:t>
            </a:r>
            <a:r>
              <a:rPr kumimoji="0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0.42</a:t>
            </a:r>
            <a:r>
              <a:rPr kumimoji="0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e</a:t>
            </a:r>
            <a:r>
              <a:rPr kumimoji="0" lang="en-US" altLang="zh-CN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点不受到扰动影响，未受扰动的原位初始压缩曲线也应相交于该点</a:t>
            </a:r>
          </a:p>
        </p:txBody>
      </p:sp>
      <p:sp>
        <p:nvSpPr>
          <p:cNvPr id="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9526" y="0"/>
            <a:ext cx="53272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原位压缩曲线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788" name="Rectangle 4"/>
          <p:cNvSpPr>
            <a:spLocks noChangeArrowheads="1"/>
          </p:cNvSpPr>
          <p:nvPr/>
        </p:nvSpPr>
        <p:spPr bwMode="auto">
          <a:xfrm>
            <a:off x="1979613" y="957263"/>
            <a:ext cx="6037262" cy="3778250"/>
          </a:xfrm>
          <a:prstGeom prst="rect">
            <a:avLst/>
          </a:prstGeom>
          <a:solidFill>
            <a:srgbClr val="FFD7A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26789" name="Line 5"/>
          <p:cNvSpPr>
            <a:spLocks noChangeShapeType="1"/>
          </p:cNvSpPr>
          <p:nvPr/>
        </p:nvSpPr>
        <p:spPr bwMode="auto">
          <a:xfrm>
            <a:off x="1973263" y="1447800"/>
            <a:ext cx="60436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790" name="Line 6"/>
          <p:cNvSpPr>
            <a:spLocks noChangeShapeType="1"/>
          </p:cNvSpPr>
          <p:nvPr/>
        </p:nvSpPr>
        <p:spPr bwMode="auto">
          <a:xfrm>
            <a:off x="1973263" y="1908175"/>
            <a:ext cx="60436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791" name="Line 7"/>
          <p:cNvSpPr>
            <a:spLocks noChangeShapeType="1"/>
          </p:cNvSpPr>
          <p:nvPr/>
        </p:nvSpPr>
        <p:spPr bwMode="auto">
          <a:xfrm>
            <a:off x="1973263" y="2376488"/>
            <a:ext cx="60436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792" name="Line 8"/>
          <p:cNvSpPr>
            <a:spLocks noChangeShapeType="1"/>
          </p:cNvSpPr>
          <p:nvPr/>
        </p:nvSpPr>
        <p:spPr bwMode="auto">
          <a:xfrm>
            <a:off x="1973263" y="2854325"/>
            <a:ext cx="60436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793" name="Line 9"/>
          <p:cNvSpPr>
            <a:spLocks noChangeShapeType="1"/>
          </p:cNvSpPr>
          <p:nvPr/>
        </p:nvSpPr>
        <p:spPr bwMode="auto">
          <a:xfrm>
            <a:off x="1973263" y="3322638"/>
            <a:ext cx="60436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794" name="Line 10"/>
          <p:cNvSpPr>
            <a:spLocks noChangeShapeType="1"/>
          </p:cNvSpPr>
          <p:nvPr/>
        </p:nvSpPr>
        <p:spPr bwMode="auto">
          <a:xfrm>
            <a:off x="1973263" y="3790950"/>
            <a:ext cx="60436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795" name="Line 11"/>
          <p:cNvSpPr>
            <a:spLocks noChangeShapeType="1"/>
          </p:cNvSpPr>
          <p:nvPr/>
        </p:nvSpPr>
        <p:spPr bwMode="auto">
          <a:xfrm>
            <a:off x="1973263" y="4259263"/>
            <a:ext cx="60436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796" name="Line 12"/>
          <p:cNvSpPr>
            <a:spLocks noChangeShapeType="1"/>
          </p:cNvSpPr>
          <p:nvPr/>
        </p:nvSpPr>
        <p:spPr bwMode="auto">
          <a:xfrm>
            <a:off x="2573338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797" name="Line 13"/>
          <p:cNvSpPr>
            <a:spLocks noChangeShapeType="1"/>
          </p:cNvSpPr>
          <p:nvPr/>
        </p:nvSpPr>
        <p:spPr bwMode="auto">
          <a:xfrm>
            <a:off x="2909888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798" name="Line 14"/>
          <p:cNvSpPr>
            <a:spLocks noChangeShapeType="1"/>
          </p:cNvSpPr>
          <p:nvPr/>
        </p:nvSpPr>
        <p:spPr bwMode="auto">
          <a:xfrm>
            <a:off x="3184525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799" name="Line 15"/>
          <p:cNvSpPr>
            <a:spLocks noChangeShapeType="1"/>
          </p:cNvSpPr>
          <p:nvPr/>
        </p:nvSpPr>
        <p:spPr bwMode="auto">
          <a:xfrm>
            <a:off x="3360738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00" name="Line 16"/>
          <p:cNvSpPr>
            <a:spLocks noChangeShapeType="1"/>
          </p:cNvSpPr>
          <p:nvPr/>
        </p:nvSpPr>
        <p:spPr bwMode="auto">
          <a:xfrm>
            <a:off x="3538538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01" name="Line 17"/>
          <p:cNvSpPr>
            <a:spLocks noChangeShapeType="1"/>
          </p:cNvSpPr>
          <p:nvPr/>
        </p:nvSpPr>
        <p:spPr bwMode="auto">
          <a:xfrm>
            <a:off x="3663950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02" name="Line 18"/>
          <p:cNvSpPr>
            <a:spLocks noChangeShapeType="1"/>
          </p:cNvSpPr>
          <p:nvPr/>
        </p:nvSpPr>
        <p:spPr bwMode="auto">
          <a:xfrm>
            <a:off x="3779838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03" name="Line 19"/>
          <p:cNvSpPr>
            <a:spLocks noChangeShapeType="1"/>
          </p:cNvSpPr>
          <p:nvPr/>
        </p:nvSpPr>
        <p:spPr bwMode="auto">
          <a:xfrm>
            <a:off x="3894138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04" name="Line 20"/>
          <p:cNvSpPr>
            <a:spLocks noChangeShapeType="1"/>
          </p:cNvSpPr>
          <p:nvPr/>
        </p:nvSpPr>
        <p:spPr bwMode="auto">
          <a:xfrm>
            <a:off x="3986213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05" name="Line 21"/>
          <p:cNvSpPr>
            <a:spLocks noChangeShapeType="1"/>
          </p:cNvSpPr>
          <p:nvPr/>
        </p:nvSpPr>
        <p:spPr bwMode="auto">
          <a:xfrm>
            <a:off x="4572000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06" name="Line 22"/>
          <p:cNvSpPr>
            <a:spLocks noChangeShapeType="1"/>
          </p:cNvSpPr>
          <p:nvPr/>
        </p:nvSpPr>
        <p:spPr bwMode="auto">
          <a:xfrm>
            <a:off x="4906963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07" name="Line 23"/>
          <p:cNvSpPr>
            <a:spLocks noChangeShapeType="1"/>
          </p:cNvSpPr>
          <p:nvPr/>
        </p:nvSpPr>
        <p:spPr bwMode="auto">
          <a:xfrm>
            <a:off x="5180013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08" name="Line 24"/>
          <p:cNvSpPr>
            <a:spLocks noChangeShapeType="1"/>
          </p:cNvSpPr>
          <p:nvPr/>
        </p:nvSpPr>
        <p:spPr bwMode="auto">
          <a:xfrm>
            <a:off x="5357813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09" name="Line 25"/>
          <p:cNvSpPr>
            <a:spLocks noChangeShapeType="1"/>
          </p:cNvSpPr>
          <p:nvPr/>
        </p:nvSpPr>
        <p:spPr bwMode="auto">
          <a:xfrm>
            <a:off x="5537200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10" name="Line 26"/>
          <p:cNvSpPr>
            <a:spLocks noChangeShapeType="1"/>
          </p:cNvSpPr>
          <p:nvPr/>
        </p:nvSpPr>
        <p:spPr bwMode="auto">
          <a:xfrm>
            <a:off x="5661025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11" name="Line 27"/>
          <p:cNvSpPr>
            <a:spLocks noChangeShapeType="1"/>
          </p:cNvSpPr>
          <p:nvPr/>
        </p:nvSpPr>
        <p:spPr bwMode="auto">
          <a:xfrm>
            <a:off x="5775325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12" name="Line 28"/>
          <p:cNvSpPr>
            <a:spLocks noChangeShapeType="1"/>
          </p:cNvSpPr>
          <p:nvPr/>
        </p:nvSpPr>
        <p:spPr bwMode="auto">
          <a:xfrm>
            <a:off x="5891213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13" name="Line 29"/>
          <p:cNvSpPr>
            <a:spLocks noChangeShapeType="1"/>
          </p:cNvSpPr>
          <p:nvPr/>
        </p:nvSpPr>
        <p:spPr bwMode="auto">
          <a:xfrm>
            <a:off x="5983288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14" name="Line 30"/>
          <p:cNvSpPr>
            <a:spLocks noChangeShapeType="1"/>
          </p:cNvSpPr>
          <p:nvPr/>
        </p:nvSpPr>
        <p:spPr bwMode="auto">
          <a:xfrm>
            <a:off x="6599238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15" name="Line 31"/>
          <p:cNvSpPr>
            <a:spLocks noChangeShapeType="1"/>
          </p:cNvSpPr>
          <p:nvPr/>
        </p:nvSpPr>
        <p:spPr bwMode="auto">
          <a:xfrm>
            <a:off x="6935788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16" name="Line 32"/>
          <p:cNvSpPr>
            <a:spLocks noChangeShapeType="1"/>
          </p:cNvSpPr>
          <p:nvPr/>
        </p:nvSpPr>
        <p:spPr bwMode="auto">
          <a:xfrm>
            <a:off x="7208838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17" name="Line 33"/>
          <p:cNvSpPr>
            <a:spLocks noChangeShapeType="1"/>
          </p:cNvSpPr>
          <p:nvPr/>
        </p:nvSpPr>
        <p:spPr bwMode="auto">
          <a:xfrm>
            <a:off x="7385050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18" name="Line 34"/>
          <p:cNvSpPr>
            <a:spLocks noChangeShapeType="1"/>
          </p:cNvSpPr>
          <p:nvPr/>
        </p:nvSpPr>
        <p:spPr bwMode="auto">
          <a:xfrm>
            <a:off x="7564438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19" name="Line 35"/>
          <p:cNvSpPr>
            <a:spLocks noChangeShapeType="1"/>
          </p:cNvSpPr>
          <p:nvPr/>
        </p:nvSpPr>
        <p:spPr bwMode="auto">
          <a:xfrm>
            <a:off x="7689850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20" name="Line 36"/>
          <p:cNvSpPr>
            <a:spLocks noChangeShapeType="1"/>
          </p:cNvSpPr>
          <p:nvPr/>
        </p:nvSpPr>
        <p:spPr bwMode="auto">
          <a:xfrm>
            <a:off x="7804150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21" name="Line 37"/>
          <p:cNvSpPr>
            <a:spLocks noChangeShapeType="1"/>
          </p:cNvSpPr>
          <p:nvPr/>
        </p:nvSpPr>
        <p:spPr bwMode="auto">
          <a:xfrm>
            <a:off x="7918450" y="957263"/>
            <a:ext cx="0" cy="378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22" name="Freeform 38"/>
          <p:cNvSpPr>
            <a:spLocks/>
          </p:cNvSpPr>
          <p:nvPr/>
        </p:nvSpPr>
        <p:spPr bwMode="auto">
          <a:xfrm>
            <a:off x="1978025" y="1079500"/>
            <a:ext cx="4411663" cy="2957513"/>
          </a:xfrm>
          <a:custGeom>
            <a:avLst/>
            <a:gdLst>
              <a:gd name="T0" fmla="*/ 0 w 2925"/>
              <a:gd name="T1" fmla="*/ 6 h 2329"/>
              <a:gd name="T2" fmla="*/ 410 w 2925"/>
              <a:gd name="T3" fmla="*/ 0 h 2329"/>
              <a:gd name="T4" fmla="*/ 986 w 2925"/>
              <a:gd name="T5" fmla="*/ 6 h 2329"/>
              <a:gd name="T6" fmla="*/ 1287 w 2925"/>
              <a:gd name="T7" fmla="*/ 12 h 2329"/>
              <a:gd name="T8" fmla="*/ 1517 w 2925"/>
              <a:gd name="T9" fmla="*/ 57 h 2329"/>
              <a:gd name="T10" fmla="*/ 1677 w 2925"/>
              <a:gd name="T11" fmla="*/ 179 h 2329"/>
              <a:gd name="T12" fmla="*/ 1882 w 2925"/>
              <a:gd name="T13" fmla="*/ 524 h 2329"/>
              <a:gd name="T14" fmla="*/ 2157 w 2925"/>
              <a:gd name="T15" fmla="*/ 1030 h 2329"/>
              <a:gd name="T16" fmla="*/ 2477 w 2925"/>
              <a:gd name="T17" fmla="*/ 1580 h 2329"/>
              <a:gd name="T18" fmla="*/ 2925 w 2925"/>
              <a:gd name="T19" fmla="*/ 2329 h 2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925" h="2329">
                <a:moveTo>
                  <a:pt x="0" y="6"/>
                </a:moveTo>
                <a:cubicBezTo>
                  <a:pt x="123" y="3"/>
                  <a:pt x="246" y="0"/>
                  <a:pt x="410" y="0"/>
                </a:cubicBezTo>
                <a:cubicBezTo>
                  <a:pt x="574" y="0"/>
                  <a:pt x="840" y="4"/>
                  <a:pt x="986" y="6"/>
                </a:cubicBezTo>
                <a:cubicBezTo>
                  <a:pt x="1132" y="8"/>
                  <a:pt x="1199" y="4"/>
                  <a:pt x="1287" y="12"/>
                </a:cubicBezTo>
                <a:cubicBezTo>
                  <a:pt x="1375" y="20"/>
                  <a:pt x="1452" y="29"/>
                  <a:pt x="1517" y="57"/>
                </a:cubicBezTo>
                <a:cubicBezTo>
                  <a:pt x="1582" y="85"/>
                  <a:pt x="1616" y="101"/>
                  <a:pt x="1677" y="179"/>
                </a:cubicBezTo>
                <a:cubicBezTo>
                  <a:pt x="1738" y="257"/>
                  <a:pt x="1802" y="382"/>
                  <a:pt x="1882" y="524"/>
                </a:cubicBezTo>
                <a:cubicBezTo>
                  <a:pt x="1962" y="666"/>
                  <a:pt x="2058" y="854"/>
                  <a:pt x="2157" y="1030"/>
                </a:cubicBezTo>
                <a:cubicBezTo>
                  <a:pt x="2256" y="1206"/>
                  <a:pt x="2349" y="1364"/>
                  <a:pt x="2477" y="1580"/>
                </a:cubicBezTo>
                <a:cubicBezTo>
                  <a:pt x="2605" y="1796"/>
                  <a:pt x="2765" y="2062"/>
                  <a:pt x="2925" y="2329"/>
                </a:cubicBezTo>
              </a:path>
            </a:pathLst>
          </a:custGeom>
          <a:noFill/>
          <a:ln w="19050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23" name="Freeform 39"/>
          <p:cNvSpPr>
            <a:spLocks/>
          </p:cNvSpPr>
          <p:nvPr/>
        </p:nvSpPr>
        <p:spPr bwMode="auto">
          <a:xfrm>
            <a:off x="2362200" y="1081088"/>
            <a:ext cx="3678238" cy="2549525"/>
          </a:xfrm>
          <a:custGeom>
            <a:avLst/>
            <a:gdLst>
              <a:gd name="T0" fmla="*/ 2438 w 2438"/>
              <a:gd name="T1" fmla="*/ 2007 h 2007"/>
              <a:gd name="T2" fmla="*/ 1982 w 2438"/>
              <a:gd name="T3" fmla="*/ 1282 h 2007"/>
              <a:gd name="T4" fmla="*/ 1627 w 2438"/>
              <a:gd name="T5" fmla="*/ 720 h 2007"/>
              <a:gd name="T6" fmla="*/ 1459 w 2438"/>
              <a:gd name="T7" fmla="*/ 471 h 2007"/>
              <a:gd name="T8" fmla="*/ 1281 w 2438"/>
              <a:gd name="T9" fmla="*/ 274 h 2007"/>
              <a:gd name="T10" fmla="*/ 1104 w 2438"/>
              <a:gd name="T11" fmla="*/ 139 h 2007"/>
              <a:gd name="T12" fmla="*/ 864 w 2438"/>
              <a:gd name="T13" fmla="*/ 58 h 2007"/>
              <a:gd name="T14" fmla="*/ 609 w 2438"/>
              <a:gd name="T15" fmla="*/ 15 h 2007"/>
              <a:gd name="T16" fmla="*/ 0 w 2438"/>
              <a:gd name="T17" fmla="*/ 0 h 20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38" h="2007">
                <a:moveTo>
                  <a:pt x="2438" y="2007"/>
                </a:moveTo>
                <a:cubicBezTo>
                  <a:pt x="2277" y="1751"/>
                  <a:pt x="2117" y="1496"/>
                  <a:pt x="1982" y="1282"/>
                </a:cubicBezTo>
                <a:cubicBezTo>
                  <a:pt x="1847" y="1068"/>
                  <a:pt x="1714" y="855"/>
                  <a:pt x="1627" y="720"/>
                </a:cubicBezTo>
                <a:cubicBezTo>
                  <a:pt x="1540" y="585"/>
                  <a:pt x="1517" y="545"/>
                  <a:pt x="1459" y="471"/>
                </a:cubicBezTo>
                <a:cubicBezTo>
                  <a:pt x="1401" y="397"/>
                  <a:pt x="1340" y="329"/>
                  <a:pt x="1281" y="274"/>
                </a:cubicBezTo>
                <a:cubicBezTo>
                  <a:pt x="1222" y="219"/>
                  <a:pt x="1173" y="175"/>
                  <a:pt x="1104" y="139"/>
                </a:cubicBezTo>
                <a:cubicBezTo>
                  <a:pt x="1035" y="103"/>
                  <a:pt x="946" y="79"/>
                  <a:pt x="864" y="58"/>
                </a:cubicBezTo>
                <a:cubicBezTo>
                  <a:pt x="782" y="37"/>
                  <a:pt x="753" y="25"/>
                  <a:pt x="609" y="15"/>
                </a:cubicBezTo>
                <a:cubicBezTo>
                  <a:pt x="465" y="5"/>
                  <a:pt x="232" y="2"/>
                  <a:pt x="0" y="0"/>
                </a:cubicBezTo>
              </a:path>
            </a:pathLst>
          </a:custGeom>
          <a:noFill/>
          <a:ln w="19050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24" name="Freeform 40"/>
          <p:cNvSpPr>
            <a:spLocks/>
          </p:cNvSpPr>
          <p:nvPr/>
        </p:nvSpPr>
        <p:spPr bwMode="auto">
          <a:xfrm>
            <a:off x="2165350" y="1081088"/>
            <a:ext cx="3838575" cy="2554287"/>
          </a:xfrm>
          <a:custGeom>
            <a:avLst/>
            <a:gdLst>
              <a:gd name="T0" fmla="*/ 2544 w 2544"/>
              <a:gd name="T1" fmla="*/ 2011 h 2011"/>
              <a:gd name="T2" fmla="*/ 2275 w 2544"/>
              <a:gd name="T3" fmla="*/ 1666 h 2011"/>
              <a:gd name="T4" fmla="*/ 1983 w 2544"/>
              <a:gd name="T5" fmla="*/ 1239 h 2011"/>
              <a:gd name="T6" fmla="*/ 1599 w 2544"/>
              <a:gd name="T7" fmla="*/ 691 h 2011"/>
              <a:gd name="T8" fmla="*/ 1339 w 2544"/>
              <a:gd name="T9" fmla="*/ 379 h 2011"/>
              <a:gd name="T10" fmla="*/ 1095 w 2544"/>
              <a:gd name="T11" fmla="*/ 187 h 2011"/>
              <a:gd name="T12" fmla="*/ 802 w 2544"/>
              <a:gd name="T13" fmla="*/ 63 h 2011"/>
              <a:gd name="T14" fmla="*/ 475 w 2544"/>
              <a:gd name="T15" fmla="*/ 15 h 2011"/>
              <a:gd name="T16" fmla="*/ 0 w 2544"/>
              <a:gd name="T17" fmla="*/ 0 h 2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44" h="2011">
                <a:moveTo>
                  <a:pt x="2544" y="2011"/>
                </a:moveTo>
                <a:cubicBezTo>
                  <a:pt x="2456" y="1903"/>
                  <a:pt x="2369" y="1795"/>
                  <a:pt x="2275" y="1666"/>
                </a:cubicBezTo>
                <a:cubicBezTo>
                  <a:pt x="2181" y="1537"/>
                  <a:pt x="2096" y="1401"/>
                  <a:pt x="1983" y="1239"/>
                </a:cubicBezTo>
                <a:cubicBezTo>
                  <a:pt x="1870" y="1077"/>
                  <a:pt x="1706" y="834"/>
                  <a:pt x="1599" y="691"/>
                </a:cubicBezTo>
                <a:cubicBezTo>
                  <a:pt x="1492" y="548"/>
                  <a:pt x="1423" y="463"/>
                  <a:pt x="1339" y="379"/>
                </a:cubicBezTo>
                <a:cubicBezTo>
                  <a:pt x="1255" y="295"/>
                  <a:pt x="1184" y="240"/>
                  <a:pt x="1095" y="187"/>
                </a:cubicBezTo>
                <a:cubicBezTo>
                  <a:pt x="1006" y="134"/>
                  <a:pt x="905" y="92"/>
                  <a:pt x="802" y="63"/>
                </a:cubicBezTo>
                <a:cubicBezTo>
                  <a:pt x="699" y="34"/>
                  <a:pt x="609" y="25"/>
                  <a:pt x="475" y="15"/>
                </a:cubicBezTo>
                <a:cubicBezTo>
                  <a:pt x="341" y="5"/>
                  <a:pt x="170" y="2"/>
                  <a:pt x="0" y="0"/>
                </a:cubicBezTo>
              </a:path>
            </a:pathLst>
          </a:custGeom>
          <a:noFill/>
          <a:ln w="19050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25" name="Text Box 41"/>
          <p:cNvSpPr txBox="1">
            <a:spLocks noChangeArrowheads="1"/>
          </p:cNvSpPr>
          <p:nvPr/>
        </p:nvSpPr>
        <p:spPr bwMode="auto">
          <a:xfrm>
            <a:off x="1751013" y="4768850"/>
            <a:ext cx="6926262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152" tIns="36576" rIns="73152" bIns="36576"/>
          <a:lstStyle>
            <a:lvl1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731838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096963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463675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9208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3780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8352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2924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zh-CN" sz="1900" b="1" dirty="0">
                <a:solidFill>
                  <a:srgbClr val="000066"/>
                </a:solidFill>
                <a:ea typeface="幼圆" pitchFamily="49" charset="-122"/>
              </a:rPr>
              <a:t>0.1                              1                              10            </a:t>
            </a:r>
            <a:r>
              <a:rPr kumimoji="0" lang="en-US" altLang="zh-CN" b="1" i="1" dirty="0">
                <a:solidFill>
                  <a:srgbClr val="000066"/>
                </a:solidFill>
                <a:ea typeface="幼圆" pitchFamily="49" charset="-122"/>
              </a:rPr>
              <a:t>p</a:t>
            </a: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</a:rPr>
              <a:t>(100kPa)</a:t>
            </a:r>
          </a:p>
        </p:txBody>
      </p:sp>
      <p:sp>
        <p:nvSpPr>
          <p:cNvPr id="1526826" name="Text Box 42"/>
          <p:cNvSpPr txBox="1">
            <a:spLocks noChangeArrowheads="1"/>
          </p:cNvSpPr>
          <p:nvPr/>
        </p:nvSpPr>
        <p:spPr bwMode="auto">
          <a:xfrm>
            <a:off x="1349375" y="1254125"/>
            <a:ext cx="536575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152" tIns="36576" rIns="73152" bIns="36576"/>
          <a:lstStyle>
            <a:lvl1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731838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096963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463675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9208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3780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8352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2924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7000"/>
              </a:lnSpc>
            </a:pPr>
            <a:r>
              <a:rPr kumimoji="0" lang="en-US" altLang="zh-CN" sz="1900" b="1" dirty="0">
                <a:solidFill>
                  <a:srgbClr val="000066"/>
                </a:solidFill>
                <a:ea typeface="幼圆" pitchFamily="49" charset="-122"/>
              </a:rPr>
              <a:t>1.0</a:t>
            </a:r>
          </a:p>
          <a:p>
            <a:pPr>
              <a:lnSpc>
                <a:spcPct val="107000"/>
              </a:lnSpc>
            </a:pPr>
            <a:endParaRPr kumimoji="0" lang="en-US" altLang="zh-CN" sz="1900" b="1" dirty="0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07000"/>
              </a:lnSpc>
            </a:pPr>
            <a:endParaRPr kumimoji="0" lang="en-US" altLang="zh-CN" sz="1900" b="1" dirty="0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07000"/>
              </a:lnSpc>
            </a:pPr>
            <a:r>
              <a:rPr kumimoji="0" lang="en-US" altLang="zh-CN" sz="1900" b="1" dirty="0">
                <a:solidFill>
                  <a:srgbClr val="000066"/>
                </a:solidFill>
                <a:ea typeface="幼圆" pitchFamily="49" charset="-122"/>
              </a:rPr>
              <a:t>0.8</a:t>
            </a:r>
          </a:p>
          <a:p>
            <a:pPr>
              <a:lnSpc>
                <a:spcPct val="107000"/>
              </a:lnSpc>
            </a:pPr>
            <a:endParaRPr kumimoji="0" lang="en-US" altLang="zh-CN" sz="1900" b="1" dirty="0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07000"/>
              </a:lnSpc>
            </a:pPr>
            <a:endParaRPr kumimoji="0" lang="en-US" altLang="zh-CN" sz="1900" b="1" dirty="0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07000"/>
              </a:lnSpc>
            </a:pPr>
            <a:r>
              <a:rPr kumimoji="0" lang="en-US" altLang="zh-CN" sz="1900" b="1" dirty="0">
                <a:solidFill>
                  <a:srgbClr val="000066"/>
                </a:solidFill>
                <a:ea typeface="幼圆" pitchFamily="49" charset="-122"/>
              </a:rPr>
              <a:t>0.6</a:t>
            </a:r>
          </a:p>
          <a:p>
            <a:pPr>
              <a:lnSpc>
                <a:spcPct val="107000"/>
              </a:lnSpc>
            </a:pPr>
            <a:endParaRPr kumimoji="0" lang="en-US" altLang="zh-CN" sz="1900" b="1" dirty="0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07000"/>
              </a:lnSpc>
            </a:pPr>
            <a:endParaRPr kumimoji="0" lang="en-US" altLang="zh-CN" sz="1900" b="1" dirty="0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07000"/>
              </a:lnSpc>
            </a:pPr>
            <a:r>
              <a:rPr kumimoji="0" lang="en-US" altLang="zh-CN" sz="1900" b="1" dirty="0">
                <a:solidFill>
                  <a:srgbClr val="000066"/>
                </a:solidFill>
                <a:ea typeface="幼圆" pitchFamily="49" charset="-122"/>
              </a:rPr>
              <a:t>0.4</a:t>
            </a:r>
          </a:p>
        </p:txBody>
      </p:sp>
      <p:sp>
        <p:nvSpPr>
          <p:cNvPr id="1526827" name="Text Box 43"/>
          <p:cNvSpPr txBox="1">
            <a:spLocks noChangeArrowheads="1"/>
          </p:cNvSpPr>
          <p:nvPr/>
        </p:nvSpPr>
        <p:spPr bwMode="auto">
          <a:xfrm rot="-5400000">
            <a:off x="983456" y="2447132"/>
            <a:ext cx="32702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152" tIns="36576" rIns="73152" bIns="36576"/>
          <a:lstStyle>
            <a:lvl1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731838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096963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463675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9208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3780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8352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2924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zh-CN" sz="2800" b="1" i="1" dirty="0">
                <a:solidFill>
                  <a:srgbClr val="000066"/>
                </a:solidFill>
                <a:ea typeface="幼圆" pitchFamily="49" charset="-122"/>
              </a:rPr>
              <a:t>e</a:t>
            </a:r>
          </a:p>
        </p:txBody>
      </p:sp>
      <p:sp>
        <p:nvSpPr>
          <p:cNvPr id="1526828" name="Text Box 44"/>
          <p:cNvSpPr txBox="1">
            <a:spLocks noChangeArrowheads="1"/>
          </p:cNvSpPr>
          <p:nvPr/>
        </p:nvSpPr>
        <p:spPr bwMode="auto">
          <a:xfrm>
            <a:off x="1524000" y="863600"/>
            <a:ext cx="406400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152" tIns="36576" rIns="73152" bIns="36576"/>
          <a:lstStyle>
            <a:lvl1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731838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096963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463675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9208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3780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8352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2924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zh-CN" sz="2000" b="1" i="1" dirty="0">
                <a:solidFill>
                  <a:srgbClr val="A50021"/>
                </a:solidFill>
                <a:ea typeface="幼圆" pitchFamily="49" charset="-122"/>
              </a:rPr>
              <a:t>e</a:t>
            </a:r>
            <a:r>
              <a:rPr kumimoji="0" lang="en-US" altLang="zh-CN" sz="2000" b="1" baseline="-25000" dirty="0">
                <a:solidFill>
                  <a:srgbClr val="A50021"/>
                </a:solidFill>
                <a:ea typeface="幼圆" pitchFamily="49" charset="-122"/>
              </a:rPr>
              <a:t>0</a:t>
            </a:r>
            <a:endParaRPr kumimoji="0" lang="en-US" altLang="zh-CN" sz="20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526829" name="Line 45"/>
          <p:cNvSpPr>
            <a:spLocks noChangeShapeType="1"/>
          </p:cNvSpPr>
          <p:nvPr/>
        </p:nvSpPr>
        <p:spPr bwMode="auto">
          <a:xfrm>
            <a:off x="1962150" y="4030663"/>
            <a:ext cx="44275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30" name="Text Box 46"/>
          <p:cNvSpPr txBox="1">
            <a:spLocks noChangeArrowheads="1"/>
          </p:cNvSpPr>
          <p:nvPr/>
        </p:nvSpPr>
        <p:spPr bwMode="auto">
          <a:xfrm>
            <a:off x="1228725" y="3773488"/>
            <a:ext cx="906463" cy="36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152" tIns="36576" rIns="73152" bIns="36576"/>
          <a:lstStyle>
            <a:lvl1pPr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65125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731838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096963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463675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9208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3780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8352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2924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zh-CN" sz="1900" b="1" dirty="0">
                <a:solidFill>
                  <a:srgbClr val="A50021"/>
                </a:solidFill>
                <a:ea typeface="幼圆" pitchFamily="49" charset="-122"/>
              </a:rPr>
              <a:t>0.42e</a:t>
            </a:r>
            <a:r>
              <a:rPr kumimoji="0" lang="en-US" altLang="zh-CN" sz="1900" b="1" baseline="-25000" dirty="0">
                <a:solidFill>
                  <a:srgbClr val="A50021"/>
                </a:solidFill>
                <a:ea typeface="幼圆" pitchFamily="49" charset="-122"/>
              </a:rPr>
              <a:t>0</a:t>
            </a:r>
            <a:endParaRPr kumimoji="0" lang="en-US" altLang="zh-CN" sz="19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526831" name="Text Box 47"/>
          <p:cNvSpPr txBox="1">
            <a:spLocks noChangeArrowheads="1"/>
          </p:cNvSpPr>
          <p:nvPr/>
        </p:nvSpPr>
        <p:spPr bwMode="auto">
          <a:xfrm>
            <a:off x="2713038" y="2014538"/>
            <a:ext cx="1296987" cy="396875"/>
          </a:xfrm>
          <a:prstGeom prst="rect">
            <a:avLst/>
          </a:prstGeom>
          <a:solidFill>
            <a:srgbClr val="FFD7A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66"/>
                </a:solidFill>
                <a:ea typeface="幼圆" pitchFamily="49" charset="-122"/>
              </a:rPr>
              <a:t>扰动增加</a:t>
            </a:r>
            <a:endParaRPr lang="en-US" altLang="zh-CN" sz="20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26832" name="Freeform 48"/>
          <p:cNvSpPr>
            <a:spLocks/>
          </p:cNvSpPr>
          <p:nvPr/>
        </p:nvSpPr>
        <p:spPr bwMode="auto">
          <a:xfrm>
            <a:off x="1978025" y="1082675"/>
            <a:ext cx="4013200" cy="2589213"/>
          </a:xfrm>
          <a:custGeom>
            <a:avLst/>
            <a:gdLst>
              <a:gd name="T0" fmla="*/ 2660 w 2660"/>
              <a:gd name="T1" fmla="*/ 2038 h 2038"/>
              <a:gd name="T2" fmla="*/ 2141 w 2660"/>
              <a:gd name="T3" fmla="*/ 1361 h 2038"/>
              <a:gd name="T4" fmla="*/ 1704 w 2660"/>
              <a:gd name="T5" fmla="*/ 795 h 2038"/>
              <a:gd name="T6" fmla="*/ 1464 w 2660"/>
              <a:gd name="T7" fmla="*/ 517 h 2038"/>
              <a:gd name="T8" fmla="*/ 1224 w 2660"/>
              <a:gd name="T9" fmla="*/ 310 h 2038"/>
              <a:gd name="T10" fmla="*/ 836 w 2660"/>
              <a:gd name="T11" fmla="*/ 137 h 2038"/>
              <a:gd name="T12" fmla="*/ 432 w 2660"/>
              <a:gd name="T13" fmla="*/ 22 h 2038"/>
              <a:gd name="T14" fmla="*/ 0 w 2660"/>
              <a:gd name="T15" fmla="*/ 8 h 20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60" h="2038">
                <a:moveTo>
                  <a:pt x="2660" y="2038"/>
                </a:moveTo>
                <a:cubicBezTo>
                  <a:pt x="2480" y="1803"/>
                  <a:pt x="2300" y="1568"/>
                  <a:pt x="2141" y="1361"/>
                </a:cubicBezTo>
                <a:cubicBezTo>
                  <a:pt x="1982" y="1154"/>
                  <a:pt x="1817" y="936"/>
                  <a:pt x="1704" y="795"/>
                </a:cubicBezTo>
                <a:cubicBezTo>
                  <a:pt x="1591" y="654"/>
                  <a:pt x="1544" y="598"/>
                  <a:pt x="1464" y="517"/>
                </a:cubicBezTo>
                <a:cubicBezTo>
                  <a:pt x="1384" y="436"/>
                  <a:pt x="1329" y="373"/>
                  <a:pt x="1224" y="310"/>
                </a:cubicBezTo>
                <a:cubicBezTo>
                  <a:pt x="1119" y="247"/>
                  <a:pt x="968" y="185"/>
                  <a:pt x="836" y="137"/>
                </a:cubicBezTo>
                <a:cubicBezTo>
                  <a:pt x="704" y="89"/>
                  <a:pt x="571" y="44"/>
                  <a:pt x="432" y="22"/>
                </a:cubicBezTo>
                <a:cubicBezTo>
                  <a:pt x="293" y="0"/>
                  <a:pt x="73" y="10"/>
                  <a:pt x="0" y="8"/>
                </a:cubicBezTo>
              </a:path>
            </a:pathLst>
          </a:custGeom>
          <a:noFill/>
          <a:ln w="19050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33" name="Freeform 49"/>
          <p:cNvSpPr>
            <a:spLocks/>
          </p:cNvSpPr>
          <p:nvPr/>
        </p:nvSpPr>
        <p:spPr bwMode="auto">
          <a:xfrm>
            <a:off x="1949450" y="1082675"/>
            <a:ext cx="4011613" cy="2601913"/>
          </a:xfrm>
          <a:custGeom>
            <a:avLst/>
            <a:gdLst>
              <a:gd name="T0" fmla="*/ 2659 w 2659"/>
              <a:gd name="T1" fmla="*/ 2048 h 2048"/>
              <a:gd name="T2" fmla="*/ 2175 w 2659"/>
              <a:gd name="T3" fmla="*/ 1477 h 2048"/>
              <a:gd name="T4" fmla="*/ 1613 w 2659"/>
              <a:gd name="T5" fmla="*/ 809 h 2048"/>
              <a:gd name="T6" fmla="*/ 1311 w 2659"/>
              <a:gd name="T7" fmla="*/ 483 h 2048"/>
              <a:gd name="T8" fmla="*/ 994 w 2659"/>
              <a:gd name="T9" fmla="*/ 267 h 2048"/>
              <a:gd name="T10" fmla="*/ 504 w 2659"/>
              <a:gd name="T11" fmla="*/ 85 h 2048"/>
              <a:gd name="T12" fmla="*/ 211 w 2659"/>
              <a:gd name="T13" fmla="*/ 13 h 2048"/>
              <a:gd name="T14" fmla="*/ 0 w 2659"/>
              <a:gd name="T15" fmla="*/ 8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659" h="2048">
                <a:moveTo>
                  <a:pt x="2659" y="2048"/>
                </a:moveTo>
                <a:cubicBezTo>
                  <a:pt x="2504" y="1865"/>
                  <a:pt x="2349" y="1683"/>
                  <a:pt x="2175" y="1477"/>
                </a:cubicBezTo>
                <a:cubicBezTo>
                  <a:pt x="2001" y="1271"/>
                  <a:pt x="1757" y="975"/>
                  <a:pt x="1613" y="809"/>
                </a:cubicBezTo>
                <a:cubicBezTo>
                  <a:pt x="1469" y="643"/>
                  <a:pt x="1414" y="573"/>
                  <a:pt x="1311" y="483"/>
                </a:cubicBezTo>
                <a:cubicBezTo>
                  <a:pt x="1208" y="393"/>
                  <a:pt x="1128" y="333"/>
                  <a:pt x="994" y="267"/>
                </a:cubicBezTo>
                <a:cubicBezTo>
                  <a:pt x="860" y="201"/>
                  <a:pt x="634" y="127"/>
                  <a:pt x="504" y="85"/>
                </a:cubicBezTo>
                <a:cubicBezTo>
                  <a:pt x="374" y="43"/>
                  <a:pt x="295" y="26"/>
                  <a:pt x="211" y="13"/>
                </a:cubicBezTo>
                <a:cubicBezTo>
                  <a:pt x="127" y="0"/>
                  <a:pt x="63" y="4"/>
                  <a:pt x="0" y="8"/>
                </a:cubicBezTo>
              </a:path>
            </a:pathLst>
          </a:custGeom>
          <a:noFill/>
          <a:ln w="19050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34" name="Freeform 50"/>
          <p:cNvSpPr>
            <a:spLocks/>
          </p:cNvSpPr>
          <p:nvPr/>
        </p:nvSpPr>
        <p:spPr bwMode="auto">
          <a:xfrm>
            <a:off x="1963738" y="1104900"/>
            <a:ext cx="4383087" cy="2932113"/>
          </a:xfrm>
          <a:custGeom>
            <a:avLst/>
            <a:gdLst>
              <a:gd name="T0" fmla="*/ 2325 w 2325"/>
              <a:gd name="T1" fmla="*/ 1847 h 1847"/>
              <a:gd name="T2" fmla="*/ 1825 w 2325"/>
              <a:gd name="T3" fmla="*/ 1337 h 1847"/>
              <a:gd name="T4" fmla="*/ 1440 w 2325"/>
              <a:gd name="T5" fmla="*/ 918 h 1847"/>
              <a:gd name="T6" fmla="*/ 1029 w 2325"/>
              <a:gd name="T7" fmla="*/ 469 h 1847"/>
              <a:gd name="T8" fmla="*/ 664 w 2325"/>
              <a:gd name="T9" fmla="*/ 230 h 1847"/>
              <a:gd name="T10" fmla="*/ 311 w 2325"/>
              <a:gd name="T11" fmla="*/ 74 h 1847"/>
              <a:gd name="T12" fmla="*/ 0 w 2325"/>
              <a:gd name="T13" fmla="*/ 0 h 18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5" h="1847">
                <a:moveTo>
                  <a:pt x="2325" y="1847"/>
                </a:moveTo>
                <a:cubicBezTo>
                  <a:pt x="2241" y="1762"/>
                  <a:pt x="1972" y="1492"/>
                  <a:pt x="1825" y="1337"/>
                </a:cubicBezTo>
                <a:cubicBezTo>
                  <a:pt x="1678" y="1182"/>
                  <a:pt x="1573" y="1063"/>
                  <a:pt x="1440" y="918"/>
                </a:cubicBezTo>
                <a:cubicBezTo>
                  <a:pt x="1308" y="774"/>
                  <a:pt x="1159" y="583"/>
                  <a:pt x="1029" y="469"/>
                </a:cubicBezTo>
                <a:cubicBezTo>
                  <a:pt x="900" y="354"/>
                  <a:pt x="783" y="296"/>
                  <a:pt x="664" y="230"/>
                </a:cubicBezTo>
                <a:cubicBezTo>
                  <a:pt x="545" y="165"/>
                  <a:pt x="422" y="112"/>
                  <a:pt x="311" y="74"/>
                </a:cubicBezTo>
                <a:cubicBezTo>
                  <a:pt x="201" y="35"/>
                  <a:pt x="51" y="13"/>
                  <a:pt x="0" y="0"/>
                </a:cubicBezTo>
              </a:path>
            </a:pathLst>
          </a:custGeom>
          <a:noFill/>
          <a:ln w="28575" cap="flat" cmpd="sng">
            <a:solidFill>
              <a:srgbClr val="000099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35" name="Line 51"/>
          <p:cNvSpPr>
            <a:spLocks noChangeShapeType="1"/>
          </p:cNvSpPr>
          <p:nvPr/>
        </p:nvSpPr>
        <p:spPr bwMode="auto">
          <a:xfrm flipH="1">
            <a:off x="3949700" y="1538288"/>
            <a:ext cx="887413" cy="563562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36" name="Text Box 52"/>
          <p:cNvSpPr txBox="1">
            <a:spLocks noChangeArrowheads="1"/>
          </p:cNvSpPr>
          <p:nvPr/>
        </p:nvSpPr>
        <p:spPr bwMode="auto">
          <a:xfrm>
            <a:off x="5359400" y="1252538"/>
            <a:ext cx="1103313" cy="457200"/>
          </a:xfrm>
          <a:prstGeom prst="rect">
            <a:avLst/>
          </a:prstGeom>
          <a:solidFill>
            <a:srgbClr val="FFD7A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原状样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26837" name="Line 53"/>
          <p:cNvSpPr>
            <a:spLocks noChangeShapeType="1"/>
          </p:cNvSpPr>
          <p:nvPr/>
        </p:nvSpPr>
        <p:spPr bwMode="auto">
          <a:xfrm flipV="1">
            <a:off x="4854575" y="1490663"/>
            <a:ext cx="561975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38" name="Text Box 54"/>
          <p:cNvSpPr txBox="1">
            <a:spLocks noChangeArrowheads="1"/>
          </p:cNvSpPr>
          <p:nvPr/>
        </p:nvSpPr>
        <p:spPr bwMode="auto">
          <a:xfrm>
            <a:off x="3641725" y="3036888"/>
            <a:ext cx="1225550" cy="457200"/>
          </a:xfrm>
          <a:prstGeom prst="rect">
            <a:avLst/>
          </a:prstGeom>
          <a:solidFill>
            <a:srgbClr val="FFD7A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重塑样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26839" name="Line 55"/>
          <p:cNvSpPr>
            <a:spLocks noChangeShapeType="1"/>
          </p:cNvSpPr>
          <p:nvPr/>
        </p:nvSpPr>
        <p:spPr bwMode="auto">
          <a:xfrm flipH="1">
            <a:off x="4618038" y="2709863"/>
            <a:ext cx="18097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6840" name="Text Box 56"/>
          <p:cNvSpPr txBox="1">
            <a:spLocks noChangeArrowheads="1"/>
          </p:cNvSpPr>
          <p:nvPr/>
        </p:nvSpPr>
        <p:spPr bwMode="auto">
          <a:xfrm>
            <a:off x="2816225" y="5419725"/>
            <a:ext cx="4576763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不同扰动程度试样的室内压缩曲线</a:t>
            </a:r>
          </a:p>
        </p:txBody>
      </p:sp>
      <p:sp>
        <p:nvSpPr>
          <p:cNvPr id="5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8" name="Text Box 7"/>
          <p:cNvSpPr txBox="1">
            <a:spLocks noChangeArrowheads="1"/>
          </p:cNvSpPr>
          <p:nvPr/>
        </p:nvSpPr>
        <p:spPr bwMode="auto">
          <a:xfrm>
            <a:off x="-9526" y="0"/>
            <a:ext cx="53272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原位压缩曲线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267" name="Text Box 323"/>
          <p:cNvSpPr txBox="1">
            <a:spLocks noChangeArrowheads="1"/>
          </p:cNvSpPr>
          <p:nvPr/>
        </p:nvSpPr>
        <p:spPr bwMode="auto">
          <a:xfrm>
            <a:off x="1892300" y="5741988"/>
            <a:ext cx="69977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正常固结土原位压缩曲线的推求</a:t>
            </a:r>
          </a:p>
        </p:txBody>
      </p:sp>
      <p:sp>
        <p:nvSpPr>
          <p:cNvPr id="1363268" name="Rectangle 324"/>
          <p:cNvSpPr>
            <a:spLocks noChangeArrowheads="1"/>
          </p:cNvSpPr>
          <p:nvPr/>
        </p:nvSpPr>
        <p:spPr bwMode="auto">
          <a:xfrm>
            <a:off x="4092575" y="1871663"/>
            <a:ext cx="4860925" cy="2696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61950" indent="-361950" eaLnBrk="0" hangingPunct="0">
              <a:lnSpc>
                <a:spcPct val="120000"/>
              </a:lnSpc>
              <a:spcBef>
                <a:spcPct val="35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/>
              <a:tabLst>
                <a:tab pos="361950" algn="l"/>
              </a:tabLst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正常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固结土先期固结压力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endParaRPr kumimoji="1" lang="zh-CN" altLang="en-US" sz="24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61950" indent="-361950" eaLnBrk="0" hangingPunct="0">
              <a:lnSpc>
                <a:spcPct val="120000"/>
              </a:lnSpc>
              <a:spcBef>
                <a:spcPct val="35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/>
              <a:tabLst>
                <a:tab pos="361950" algn="l"/>
              </a:tabLst>
            </a:pP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B(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kumimoji="1" lang="en-US" altLang="zh-CN" sz="24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,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位于原位压缩曲线上</a:t>
            </a:r>
          </a:p>
          <a:p>
            <a:pPr marL="361950" indent="-361950" eaLnBrk="0" hangingPunct="0">
              <a:lnSpc>
                <a:spcPct val="120000"/>
              </a:lnSpc>
              <a:spcBef>
                <a:spcPct val="35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/>
              <a:tabLst>
                <a:tab pos="361950" algn="l"/>
              </a:tabLs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以0.42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在压缩曲线上确定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点</a:t>
            </a:r>
          </a:p>
          <a:p>
            <a:pPr marL="361950" indent="-361950" eaLnBrk="0" hangingPunct="0">
              <a:lnSpc>
                <a:spcPct val="120000"/>
              </a:lnSpc>
              <a:spcBef>
                <a:spcPct val="35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/>
              <a:tabLst>
                <a:tab pos="361950" algn="l"/>
              </a:tabLs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通过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、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两点的直线即为所求的原位压缩曲线</a:t>
            </a:r>
          </a:p>
        </p:txBody>
      </p:sp>
      <p:sp>
        <p:nvSpPr>
          <p:cNvPr id="1363269" name="Rectangle 325"/>
          <p:cNvSpPr>
            <a:spLocks noChangeArrowheads="1"/>
          </p:cNvSpPr>
          <p:nvPr/>
        </p:nvSpPr>
        <p:spPr bwMode="auto">
          <a:xfrm>
            <a:off x="3929063" y="911225"/>
            <a:ext cx="424487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8000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正常固结土推定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方法</a:t>
            </a:r>
          </a:p>
        </p:txBody>
      </p:sp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-9526" y="0"/>
            <a:ext cx="53272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原位压缩曲线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5" name="Freeform 319"/>
          <p:cNvSpPr>
            <a:spLocks/>
          </p:cNvSpPr>
          <p:nvPr/>
        </p:nvSpPr>
        <p:spPr bwMode="auto">
          <a:xfrm>
            <a:off x="1217296" y="1908811"/>
            <a:ext cx="2078354" cy="2101214"/>
          </a:xfrm>
          <a:custGeom>
            <a:avLst/>
            <a:gdLst>
              <a:gd name="T0" fmla="*/ 0 w 1045"/>
              <a:gd name="T1" fmla="*/ 0 h 1020"/>
              <a:gd name="T2" fmla="*/ 108 w 1045"/>
              <a:gd name="T3" fmla="*/ 6 h 1020"/>
              <a:gd name="T4" fmla="*/ 225 w 1045"/>
              <a:gd name="T5" fmla="*/ 18 h 1020"/>
              <a:gd name="T6" fmla="*/ 348 w 1045"/>
              <a:gd name="T7" fmla="*/ 69 h 1020"/>
              <a:gd name="T8" fmla="*/ 470 w 1045"/>
              <a:gd name="T9" fmla="*/ 190 h 1020"/>
              <a:gd name="T10" fmla="*/ 684 w 1045"/>
              <a:gd name="T11" fmla="*/ 492 h 1020"/>
              <a:gd name="T12" fmla="*/ 1045 w 1045"/>
              <a:gd name="T13" fmla="*/ 1020 h 1020"/>
              <a:gd name="connsiteX0" fmla="*/ 0 w 10000"/>
              <a:gd name="connsiteY0" fmla="*/ 0 h 10000"/>
              <a:gd name="connsiteX1" fmla="*/ 1033 w 10000"/>
              <a:gd name="connsiteY1" fmla="*/ 59 h 10000"/>
              <a:gd name="connsiteX2" fmla="*/ 2153 w 10000"/>
              <a:gd name="connsiteY2" fmla="*/ 176 h 10000"/>
              <a:gd name="connsiteX3" fmla="*/ 3330 w 10000"/>
              <a:gd name="connsiteY3" fmla="*/ 676 h 10000"/>
              <a:gd name="connsiteX4" fmla="*/ 4498 w 10000"/>
              <a:gd name="connsiteY4" fmla="*/ 1863 h 10000"/>
              <a:gd name="connsiteX5" fmla="*/ 6545 w 10000"/>
              <a:gd name="connsiteY5" fmla="*/ 4824 h 10000"/>
              <a:gd name="connsiteX6" fmla="*/ 7770 w 10000"/>
              <a:gd name="connsiteY6" fmla="*/ 6599 h 10000"/>
              <a:gd name="connsiteX7" fmla="*/ 10000 w 10000"/>
              <a:gd name="connsiteY7" fmla="*/ 10000 h 10000"/>
              <a:gd name="connsiteX0" fmla="*/ 0 w 10000"/>
              <a:gd name="connsiteY0" fmla="*/ 0 h 10000"/>
              <a:gd name="connsiteX1" fmla="*/ 1033 w 10000"/>
              <a:gd name="connsiteY1" fmla="*/ 59 h 10000"/>
              <a:gd name="connsiteX2" fmla="*/ 2153 w 10000"/>
              <a:gd name="connsiteY2" fmla="*/ 176 h 10000"/>
              <a:gd name="connsiteX3" fmla="*/ 3330 w 10000"/>
              <a:gd name="connsiteY3" fmla="*/ 676 h 10000"/>
              <a:gd name="connsiteX4" fmla="*/ 4498 w 10000"/>
              <a:gd name="connsiteY4" fmla="*/ 1863 h 10000"/>
              <a:gd name="connsiteX5" fmla="*/ 5974 w 10000"/>
              <a:gd name="connsiteY5" fmla="*/ 4005 h 10000"/>
              <a:gd name="connsiteX6" fmla="*/ 7770 w 10000"/>
              <a:gd name="connsiteY6" fmla="*/ 6599 h 10000"/>
              <a:gd name="connsiteX7" fmla="*/ 10000 w 10000"/>
              <a:gd name="connsiteY7" fmla="*/ 10000 h 10000"/>
              <a:gd name="connsiteX0" fmla="*/ 0 w 10000"/>
              <a:gd name="connsiteY0" fmla="*/ 0 h 10000"/>
              <a:gd name="connsiteX1" fmla="*/ 1033 w 10000"/>
              <a:gd name="connsiteY1" fmla="*/ 59 h 10000"/>
              <a:gd name="connsiteX2" fmla="*/ 2153 w 10000"/>
              <a:gd name="connsiteY2" fmla="*/ 176 h 10000"/>
              <a:gd name="connsiteX3" fmla="*/ 3330 w 10000"/>
              <a:gd name="connsiteY3" fmla="*/ 676 h 10000"/>
              <a:gd name="connsiteX4" fmla="*/ 4612 w 10000"/>
              <a:gd name="connsiteY4" fmla="*/ 2117 h 10000"/>
              <a:gd name="connsiteX5" fmla="*/ 5974 w 10000"/>
              <a:gd name="connsiteY5" fmla="*/ 4005 h 10000"/>
              <a:gd name="connsiteX6" fmla="*/ 7770 w 10000"/>
              <a:gd name="connsiteY6" fmla="*/ 6599 h 10000"/>
              <a:gd name="connsiteX7" fmla="*/ 10000 w 10000"/>
              <a:gd name="connsiteY7" fmla="*/ 10000 h 10000"/>
              <a:gd name="connsiteX0" fmla="*/ 0 w 10000"/>
              <a:gd name="connsiteY0" fmla="*/ 0 h 10000"/>
              <a:gd name="connsiteX1" fmla="*/ 1033 w 10000"/>
              <a:gd name="connsiteY1" fmla="*/ 59 h 10000"/>
              <a:gd name="connsiteX2" fmla="*/ 2153 w 10000"/>
              <a:gd name="connsiteY2" fmla="*/ 176 h 10000"/>
              <a:gd name="connsiteX3" fmla="*/ 3530 w 10000"/>
              <a:gd name="connsiteY3" fmla="*/ 817 h 10000"/>
              <a:gd name="connsiteX4" fmla="*/ 4612 w 10000"/>
              <a:gd name="connsiteY4" fmla="*/ 2117 h 10000"/>
              <a:gd name="connsiteX5" fmla="*/ 5974 w 10000"/>
              <a:gd name="connsiteY5" fmla="*/ 4005 h 10000"/>
              <a:gd name="connsiteX6" fmla="*/ 7770 w 10000"/>
              <a:gd name="connsiteY6" fmla="*/ 6599 h 10000"/>
              <a:gd name="connsiteX7" fmla="*/ 10000 w 10000"/>
              <a:gd name="connsiteY7" fmla="*/ 10000 h 10000"/>
              <a:gd name="connsiteX0" fmla="*/ 0 w 10000"/>
              <a:gd name="connsiteY0" fmla="*/ 0 h 10000"/>
              <a:gd name="connsiteX1" fmla="*/ 1033 w 10000"/>
              <a:gd name="connsiteY1" fmla="*/ 59 h 10000"/>
              <a:gd name="connsiteX2" fmla="*/ 2296 w 10000"/>
              <a:gd name="connsiteY2" fmla="*/ 233 h 10000"/>
              <a:gd name="connsiteX3" fmla="*/ 3530 w 10000"/>
              <a:gd name="connsiteY3" fmla="*/ 817 h 10000"/>
              <a:gd name="connsiteX4" fmla="*/ 4612 w 10000"/>
              <a:gd name="connsiteY4" fmla="*/ 2117 h 10000"/>
              <a:gd name="connsiteX5" fmla="*/ 5974 w 10000"/>
              <a:gd name="connsiteY5" fmla="*/ 4005 h 10000"/>
              <a:gd name="connsiteX6" fmla="*/ 7770 w 10000"/>
              <a:gd name="connsiteY6" fmla="*/ 6599 h 10000"/>
              <a:gd name="connsiteX7" fmla="*/ 10000 w 10000"/>
              <a:gd name="connsiteY7" fmla="*/ 10000 h 10000"/>
              <a:gd name="connsiteX0" fmla="*/ 0 w 10000"/>
              <a:gd name="connsiteY0" fmla="*/ 0 h 10000"/>
              <a:gd name="connsiteX1" fmla="*/ 1033 w 10000"/>
              <a:gd name="connsiteY1" fmla="*/ 59 h 10000"/>
              <a:gd name="connsiteX2" fmla="*/ 2296 w 10000"/>
              <a:gd name="connsiteY2" fmla="*/ 233 h 10000"/>
              <a:gd name="connsiteX3" fmla="*/ 3673 w 10000"/>
              <a:gd name="connsiteY3" fmla="*/ 987 h 10000"/>
              <a:gd name="connsiteX4" fmla="*/ 4612 w 10000"/>
              <a:gd name="connsiteY4" fmla="*/ 2117 h 10000"/>
              <a:gd name="connsiteX5" fmla="*/ 5974 w 10000"/>
              <a:gd name="connsiteY5" fmla="*/ 4005 h 10000"/>
              <a:gd name="connsiteX6" fmla="*/ 7770 w 10000"/>
              <a:gd name="connsiteY6" fmla="*/ 6599 h 10000"/>
              <a:gd name="connsiteX7" fmla="*/ 10000 w 10000"/>
              <a:gd name="connsiteY7" fmla="*/ 10000 h 10000"/>
              <a:gd name="connsiteX0" fmla="*/ 0 w 10000"/>
              <a:gd name="connsiteY0" fmla="*/ 0 h 10000"/>
              <a:gd name="connsiteX1" fmla="*/ 1033 w 10000"/>
              <a:gd name="connsiteY1" fmla="*/ 59 h 10000"/>
              <a:gd name="connsiteX2" fmla="*/ 2296 w 10000"/>
              <a:gd name="connsiteY2" fmla="*/ 233 h 10000"/>
              <a:gd name="connsiteX3" fmla="*/ 3559 w 10000"/>
              <a:gd name="connsiteY3" fmla="*/ 846 h 10000"/>
              <a:gd name="connsiteX4" fmla="*/ 4612 w 10000"/>
              <a:gd name="connsiteY4" fmla="*/ 2117 h 10000"/>
              <a:gd name="connsiteX5" fmla="*/ 5974 w 10000"/>
              <a:gd name="connsiteY5" fmla="*/ 4005 h 10000"/>
              <a:gd name="connsiteX6" fmla="*/ 7770 w 10000"/>
              <a:gd name="connsiteY6" fmla="*/ 6599 h 10000"/>
              <a:gd name="connsiteX7" fmla="*/ 10000 w 10000"/>
              <a:gd name="connsiteY7" fmla="*/ 10000 h 10000"/>
              <a:gd name="connsiteX0" fmla="*/ 0 w 10000"/>
              <a:gd name="connsiteY0" fmla="*/ 0 h 10000"/>
              <a:gd name="connsiteX1" fmla="*/ 1033 w 10000"/>
              <a:gd name="connsiteY1" fmla="*/ 59 h 10000"/>
              <a:gd name="connsiteX2" fmla="*/ 2382 w 10000"/>
              <a:gd name="connsiteY2" fmla="*/ 261 h 10000"/>
              <a:gd name="connsiteX3" fmla="*/ 3559 w 10000"/>
              <a:gd name="connsiteY3" fmla="*/ 846 h 10000"/>
              <a:gd name="connsiteX4" fmla="*/ 4612 w 10000"/>
              <a:gd name="connsiteY4" fmla="*/ 2117 h 10000"/>
              <a:gd name="connsiteX5" fmla="*/ 5974 w 10000"/>
              <a:gd name="connsiteY5" fmla="*/ 4005 h 10000"/>
              <a:gd name="connsiteX6" fmla="*/ 7770 w 10000"/>
              <a:gd name="connsiteY6" fmla="*/ 6599 h 10000"/>
              <a:gd name="connsiteX7" fmla="*/ 10000 w 10000"/>
              <a:gd name="connsiteY7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0" y="0"/>
                </a:moveTo>
                <a:cubicBezTo>
                  <a:pt x="172" y="10"/>
                  <a:pt x="636" y="16"/>
                  <a:pt x="1033" y="59"/>
                </a:cubicBezTo>
                <a:cubicBezTo>
                  <a:pt x="1430" y="103"/>
                  <a:pt x="1961" y="130"/>
                  <a:pt x="2382" y="261"/>
                </a:cubicBezTo>
                <a:cubicBezTo>
                  <a:pt x="2803" y="392"/>
                  <a:pt x="3187" y="537"/>
                  <a:pt x="3559" y="846"/>
                </a:cubicBezTo>
                <a:cubicBezTo>
                  <a:pt x="3931" y="1155"/>
                  <a:pt x="4210" y="1591"/>
                  <a:pt x="4612" y="2117"/>
                </a:cubicBezTo>
                <a:cubicBezTo>
                  <a:pt x="5014" y="2643"/>
                  <a:pt x="5462" y="3249"/>
                  <a:pt x="5974" y="4005"/>
                </a:cubicBezTo>
                <a:cubicBezTo>
                  <a:pt x="6486" y="4761"/>
                  <a:pt x="7194" y="5736"/>
                  <a:pt x="7770" y="6599"/>
                </a:cubicBezTo>
                <a:cubicBezTo>
                  <a:pt x="8346" y="7462"/>
                  <a:pt x="9595" y="9400"/>
                  <a:pt x="10000" y="10000"/>
                </a:cubicBezTo>
              </a:path>
            </a:pathLst>
          </a:custGeom>
          <a:noFill/>
          <a:ln w="19050" cap="flat" cmpd="sng">
            <a:solidFill>
              <a:srgbClr val="000066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" name="Text Box 321"/>
          <p:cNvSpPr txBox="1">
            <a:spLocks noChangeArrowheads="1"/>
          </p:cNvSpPr>
          <p:nvPr/>
        </p:nvSpPr>
        <p:spPr bwMode="auto">
          <a:xfrm>
            <a:off x="2758441" y="4396741"/>
            <a:ext cx="9048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>
                <a:solidFill>
                  <a:srgbClr val="000066"/>
                </a:solidFill>
              </a:rPr>
              <a:t>p</a:t>
            </a:r>
            <a:r>
              <a:rPr lang="en-US" altLang="zh-CN" sz="2800" b="1" dirty="0">
                <a:solidFill>
                  <a:srgbClr val="000066"/>
                </a:solidFill>
              </a:rPr>
              <a:t>(</a:t>
            </a:r>
            <a:r>
              <a:rPr lang="en-US" altLang="zh-CN" sz="2800" b="1" dirty="0" err="1">
                <a:solidFill>
                  <a:srgbClr val="000066"/>
                </a:solidFill>
              </a:rPr>
              <a:t>lg</a:t>
            </a:r>
            <a:r>
              <a:rPr lang="en-US" altLang="zh-CN" sz="2800" b="1" dirty="0">
                <a:solidFill>
                  <a:srgbClr val="000066"/>
                </a:solidFill>
              </a:rPr>
              <a:t>)</a:t>
            </a:r>
            <a:endParaRPr lang="zh-CN" altLang="en-US" sz="2800" b="1" dirty="0">
              <a:solidFill>
                <a:srgbClr val="000066"/>
              </a:solidFill>
            </a:endParaRPr>
          </a:p>
        </p:txBody>
      </p:sp>
      <p:sp>
        <p:nvSpPr>
          <p:cNvPr id="38" name="Freeform 322"/>
          <p:cNvSpPr>
            <a:spLocks/>
          </p:cNvSpPr>
          <p:nvPr/>
        </p:nvSpPr>
        <p:spPr bwMode="auto">
          <a:xfrm>
            <a:off x="1144595" y="1243966"/>
            <a:ext cx="2413635" cy="3070860"/>
          </a:xfrm>
          <a:custGeom>
            <a:avLst/>
            <a:gdLst>
              <a:gd name="T0" fmla="*/ 0 w 1267"/>
              <a:gd name="T1" fmla="*/ 0 h 1612"/>
              <a:gd name="T2" fmla="*/ 0 w 1267"/>
              <a:gd name="T3" fmla="*/ 1612 h 1612"/>
              <a:gd name="T4" fmla="*/ 1267 w 1267"/>
              <a:gd name="T5" fmla="*/ 1612 h 16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67" h="1612">
                <a:moveTo>
                  <a:pt x="0" y="0"/>
                </a:moveTo>
                <a:lnTo>
                  <a:pt x="0" y="1612"/>
                </a:lnTo>
                <a:lnTo>
                  <a:pt x="1267" y="1612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Text Box 321"/>
          <p:cNvSpPr txBox="1">
            <a:spLocks noChangeArrowheads="1"/>
          </p:cNvSpPr>
          <p:nvPr/>
        </p:nvSpPr>
        <p:spPr bwMode="auto">
          <a:xfrm>
            <a:off x="758191" y="929641"/>
            <a:ext cx="350520" cy="539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 smtClean="0">
                <a:solidFill>
                  <a:srgbClr val="000066"/>
                </a:solidFill>
              </a:rPr>
              <a:t>e</a:t>
            </a:r>
            <a:endParaRPr lang="zh-CN" altLang="en-US" sz="2800" b="1" i="1" dirty="0">
              <a:solidFill>
                <a:srgbClr val="000066"/>
              </a:solidFill>
            </a:endParaRPr>
          </a:p>
        </p:txBody>
      </p:sp>
      <p:sp>
        <p:nvSpPr>
          <p:cNvPr id="48" name="Line 335"/>
          <p:cNvSpPr>
            <a:spLocks noChangeShapeType="1"/>
          </p:cNvSpPr>
          <p:nvPr/>
        </p:nvSpPr>
        <p:spPr bwMode="auto">
          <a:xfrm>
            <a:off x="1661504" y="1432560"/>
            <a:ext cx="1271699" cy="2023159"/>
          </a:xfrm>
          <a:prstGeom prst="line">
            <a:avLst/>
          </a:prstGeom>
          <a:noFill/>
          <a:ln w="19050">
            <a:solidFill>
              <a:srgbClr val="99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09728" tIns="54864" rIns="109728" bIns="54864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596391" y="1882810"/>
            <a:ext cx="1002197" cy="2966071"/>
            <a:chOff x="1596391" y="1882810"/>
            <a:chExt cx="1002197" cy="2966071"/>
          </a:xfrm>
        </p:grpSpPr>
        <p:sp>
          <p:nvSpPr>
            <p:cNvPr id="63" name="Text Box 321"/>
            <p:cNvSpPr txBox="1">
              <a:spLocks noChangeArrowheads="1"/>
            </p:cNvSpPr>
            <p:nvPr/>
          </p:nvSpPr>
          <p:spPr bwMode="auto">
            <a:xfrm>
              <a:off x="1596391" y="4387216"/>
              <a:ext cx="100219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000066"/>
                  </a:solidFill>
                  <a:sym typeface="Symbol"/>
                </a:rPr>
                <a:t>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</a:rPr>
                <a:t>p</a:t>
              </a:r>
              <a:r>
                <a:rPr lang="en-US" altLang="zh-CN" sz="2400" b="1" dirty="0" smtClean="0">
                  <a:solidFill>
                    <a:srgbClr val="000066"/>
                  </a:solidFill>
                </a:rPr>
                <a:t>=</a:t>
              </a:r>
              <a:r>
                <a:rPr lang="en-US" altLang="zh-CN" sz="2400" b="1" i="1" dirty="0">
                  <a:solidFill>
                    <a:srgbClr val="000066"/>
                  </a:solidFill>
                  <a:sym typeface="Symbol"/>
                </a:rPr>
                <a:t> </a:t>
              </a:r>
              <a:r>
                <a:rPr lang="en-US" altLang="zh-CN" sz="2400" b="1" i="1" dirty="0" smtClean="0">
                  <a:solidFill>
                    <a:srgbClr val="000066"/>
                  </a:solidFill>
                  <a:sym typeface="Symbol"/>
                </a:rPr>
                <a:t>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</a:rPr>
                <a:t>s</a:t>
              </a:r>
              <a:endParaRPr lang="zh-CN" altLang="en-US" sz="2400" b="1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49" name="Line 336"/>
            <p:cNvSpPr>
              <a:spLocks noChangeShapeType="1"/>
            </p:cNvSpPr>
            <p:nvPr/>
          </p:nvSpPr>
          <p:spPr bwMode="auto">
            <a:xfrm flipV="1">
              <a:off x="1945006" y="1882810"/>
              <a:ext cx="0" cy="241935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9728" tIns="54864" rIns="109728" bIns="54864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Oval 337"/>
            <p:cNvSpPr>
              <a:spLocks noChangeArrowheads="1"/>
            </p:cNvSpPr>
            <p:nvPr/>
          </p:nvSpPr>
          <p:spPr bwMode="auto">
            <a:xfrm>
              <a:off x="1906115" y="4277394"/>
              <a:ext cx="72000" cy="72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000066"/>
              </a:solidFill>
              <a:round/>
              <a:headEnd/>
              <a:tailEnd/>
            </a:ln>
            <a:effectLst/>
            <a:extLst/>
          </p:spPr>
          <p:txBody>
            <a:bodyPr wrap="none" lIns="109728" tIns="54864" rIns="109728" bIns="54864" anchor="ctr"/>
            <a:lstStyle/>
            <a:p>
              <a:endParaRPr lang="zh-CN" altLang="en-US"/>
            </a:p>
          </p:txBody>
        </p:sp>
      </p:grpSp>
      <p:grpSp>
        <p:nvGrpSpPr>
          <p:cNvPr id="53" name="Group 340"/>
          <p:cNvGrpSpPr>
            <a:grpSpLocks/>
          </p:cNvGrpSpPr>
          <p:nvPr/>
        </p:nvGrpSpPr>
        <p:grpSpPr bwMode="auto">
          <a:xfrm>
            <a:off x="2215516" y="1550671"/>
            <a:ext cx="1567815" cy="842010"/>
            <a:chOff x="1363" y="1174"/>
            <a:chExt cx="823" cy="442"/>
          </a:xfrm>
        </p:grpSpPr>
        <p:sp>
          <p:nvSpPr>
            <p:cNvPr id="54" name="Text Box 341"/>
            <p:cNvSpPr txBox="1">
              <a:spLocks noChangeArrowheads="1"/>
            </p:cNvSpPr>
            <p:nvPr/>
          </p:nvSpPr>
          <p:spPr bwMode="auto">
            <a:xfrm>
              <a:off x="1520" y="1174"/>
              <a:ext cx="66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990000"/>
                  </a:solidFill>
                  <a:ea typeface="幼圆" pitchFamily="49" charset="-122"/>
                  <a:sym typeface="Symbol" pitchFamily="18" charset="2"/>
                </a:rPr>
                <a:t>原位压缩曲线</a:t>
              </a:r>
            </a:p>
          </p:txBody>
        </p:sp>
        <p:sp>
          <p:nvSpPr>
            <p:cNvPr id="55" name="Line 342"/>
            <p:cNvSpPr>
              <a:spLocks noChangeShapeType="1"/>
            </p:cNvSpPr>
            <p:nvPr/>
          </p:nvSpPr>
          <p:spPr bwMode="auto">
            <a:xfrm flipV="1">
              <a:off x="1363" y="1421"/>
              <a:ext cx="173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20091" y="1465549"/>
            <a:ext cx="1633332" cy="563277"/>
            <a:chOff x="720091" y="1465549"/>
            <a:chExt cx="1633332" cy="563277"/>
          </a:xfrm>
        </p:grpSpPr>
        <p:grpSp>
          <p:nvGrpSpPr>
            <p:cNvPr id="3" name="组合 2"/>
            <p:cNvGrpSpPr/>
            <p:nvPr/>
          </p:nvGrpSpPr>
          <p:grpSpPr>
            <a:xfrm>
              <a:off x="720091" y="1567816"/>
              <a:ext cx="1259127" cy="461010"/>
              <a:chOff x="720091" y="1567816"/>
              <a:chExt cx="1259127" cy="461010"/>
            </a:xfrm>
          </p:grpSpPr>
          <p:sp>
            <p:nvSpPr>
              <p:cNvPr id="61" name="Text Box 321"/>
              <p:cNvSpPr txBox="1">
                <a:spLocks noChangeArrowheads="1"/>
              </p:cNvSpPr>
              <p:nvPr/>
            </p:nvSpPr>
            <p:spPr bwMode="auto">
              <a:xfrm>
                <a:off x="720091" y="1567816"/>
                <a:ext cx="422910" cy="4610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 smtClean="0">
                    <a:solidFill>
                      <a:srgbClr val="000066"/>
                    </a:solidFill>
                  </a:rPr>
                  <a:t>e</a:t>
                </a:r>
                <a:r>
                  <a:rPr lang="en-US" altLang="zh-CN" sz="2400" b="1" baseline="-25000" dirty="0" smtClean="0">
                    <a:solidFill>
                      <a:srgbClr val="000066"/>
                    </a:solidFill>
                  </a:rPr>
                  <a:t>0</a:t>
                </a:r>
                <a:endParaRPr lang="zh-CN" altLang="en-US" sz="2400" b="1" baseline="-25000" dirty="0">
                  <a:solidFill>
                    <a:srgbClr val="000066"/>
                  </a:solidFill>
                </a:endParaRPr>
              </a:p>
            </p:txBody>
          </p:sp>
          <p:sp>
            <p:nvSpPr>
              <p:cNvPr id="47" name="Line 334"/>
              <p:cNvSpPr>
                <a:spLocks noChangeShapeType="1"/>
              </p:cNvSpPr>
              <p:nvPr/>
            </p:nvSpPr>
            <p:spPr bwMode="auto">
              <a:xfrm>
                <a:off x="1192531" y="1873061"/>
                <a:ext cx="710565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1" name="Oval 338"/>
              <p:cNvSpPr>
                <a:spLocks noChangeArrowheads="1"/>
              </p:cNvSpPr>
              <p:nvPr/>
            </p:nvSpPr>
            <p:spPr bwMode="auto">
              <a:xfrm>
                <a:off x="1907218" y="1838205"/>
                <a:ext cx="72000" cy="72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66"/>
                </a:solidFill>
                <a:round/>
                <a:headEnd/>
                <a:tailEnd/>
              </a:ln>
              <a:effectLst/>
              <a:extLst/>
            </p:spPr>
            <p:txBody>
              <a:bodyPr wrap="none" lIns="109728" tIns="54864" rIns="109728" bIns="54864" anchor="ctr"/>
              <a:lstStyle/>
              <a:p>
                <a:endParaRPr lang="zh-CN" altLang="en-US"/>
              </a:p>
            </p:txBody>
          </p:sp>
        </p:grpSp>
        <p:sp>
          <p:nvSpPr>
            <p:cNvPr id="64" name="Text Box 321"/>
            <p:cNvSpPr txBox="1">
              <a:spLocks noChangeArrowheads="1"/>
            </p:cNvSpPr>
            <p:nvPr/>
          </p:nvSpPr>
          <p:spPr bwMode="auto">
            <a:xfrm>
              <a:off x="1929909" y="1465549"/>
              <a:ext cx="4235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 smtClean="0">
                  <a:solidFill>
                    <a:srgbClr val="A50021"/>
                  </a:solidFill>
                </a:rPr>
                <a:t>B</a:t>
              </a:r>
              <a:endParaRPr lang="zh-CN" altLang="en-US" sz="2800" b="1" dirty="0">
                <a:solidFill>
                  <a:srgbClr val="A50021"/>
                </a:solidFill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7166" y="3123519"/>
            <a:ext cx="3226931" cy="553132"/>
            <a:chOff x="177166" y="3123519"/>
            <a:chExt cx="3226931" cy="553132"/>
          </a:xfrm>
        </p:grpSpPr>
        <p:grpSp>
          <p:nvGrpSpPr>
            <p:cNvPr id="5" name="组合 4"/>
            <p:cNvGrpSpPr/>
            <p:nvPr/>
          </p:nvGrpSpPr>
          <p:grpSpPr>
            <a:xfrm>
              <a:off x="177166" y="3215641"/>
              <a:ext cx="2794914" cy="461010"/>
              <a:chOff x="177166" y="3215641"/>
              <a:chExt cx="2794914" cy="461010"/>
            </a:xfrm>
          </p:grpSpPr>
          <p:sp>
            <p:nvSpPr>
              <p:cNvPr id="62" name="Text Box 321"/>
              <p:cNvSpPr txBox="1">
                <a:spLocks noChangeArrowheads="1"/>
              </p:cNvSpPr>
              <p:nvPr/>
            </p:nvSpPr>
            <p:spPr bwMode="auto">
              <a:xfrm>
                <a:off x="177166" y="3215641"/>
                <a:ext cx="962025" cy="4610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dirty="0" smtClean="0">
                    <a:solidFill>
                      <a:srgbClr val="000066"/>
                    </a:solidFill>
                  </a:rPr>
                  <a:t>0.42</a:t>
                </a:r>
                <a:r>
                  <a:rPr lang="en-US" altLang="zh-CN" sz="2400" b="1" i="1" dirty="0" smtClean="0">
                    <a:solidFill>
                      <a:srgbClr val="000066"/>
                    </a:solidFill>
                  </a:rPr>
                  <a:t>e</a:t>
                </a:r>
                <a:r>
                  <a:rPr lang="en-US" altLang="zh-CN" sz="2400" b="1" baseline="-25000" dirty="0" smtClean="0">
                    <a:solidFill>
                      <a:srgbClr val="000066"/>
                    </a:solidFill>
                  </a:rPr>
                  <a:t>0</a:t>
                </a:r>
                <a:endParaRPr lang="zh-CN" altLang="en-US" sz="2400" b="1" baseline="-25000" dirty="0">
                  <a:solidFill>
                    <a:srgbClr val="000066"/>
                  </a:solidFill>
                </a:endParaRPr>
              </a:p>
            </p:txBody>
          </p:sp>
          <p:sp>
            <p:nvSpPr>
              <p:cNvPr id="41" name="Line 328"/>
              <p:cNvSpPr>
                <a:spLocks noChangeShapeType="1"/>
              </p:cNvSpPr>
              <p:nvPr/>
            </p:nvSpPr>
            <p:spPr bwMode="auto">
              <a:xfrm flipH="1">
                <a:off x="1137286" y="3455671"/>
                <a:ext cx="1811654" cy="0"/>
              </a:xfrm>
              <a:prstGeom prst="line">
                <a:avLst/>
              </a:prstGeom>
              <a:noFill/>
              <a:ln w="19050">
                <a:solidFill>
                  <a:srgbClr val="000066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2" name="Oval 339"/>
              <p:cNvSpPr>
                <a:spLocks noChangeArrowheads="1"/>
              </p:cNvSpPr>
              <p:nvPr/>
            </p:nvSpPr>
            <p:spPr bwMode="auto">
              <a:xfrm>
                <a:off x="2900080" y="3422718"/>
                <a:ext cx="72000" cy="72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rgbClr val="000066"/>
                </a:solidFill>
                <a:round/>
                <a:headEnd/>
                <a:tailEnd/>
              </a:ln>
              <a:effectLst/>
              <a:extLst/>
            </p:spPr>
            <p:txBody>
              <a:bodyPr wrap="none" lIns="109728" tIns="54864" rIns="109728" bIns="54864" anchor="ctr"/>
              <a:lstStyle/>
              <a:p>
                <a:endParaRPr lang="zh-CN" altLang="en-US"/>
              </a:p>
            </p:txBody>
          </p:sp>
        </p:grpSp>
        <p:sp>
          <p:nvSpPr>
            <p:cNvPr id="65" name="Text Box 321"/>
            <p:cNvSpPr txBox="1">
              <a:spLocks noChangeArrowheads="1"/>
            </p:cNvSpPr>
            <p:nvPr/>
          </p:nvSpPr>
          <p:spPr bwMode="auto">
            <a:xfrm>
              <a:off x="2959745" y="3123519"/>
              <a:ext cx="44435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 smtClean="0">
                  <a:solidFill>
                    <a:srgbClr val="A50021"/>
                  </a:solidFill>
                </a:rPr>
                <a:t>C</a:t>
              </a:r>
              <a:endParaRPr lang="zh-CN" altLang="en-US" sz="2800" b="1" dirty="0">
                <a:solidFill>
                  <a:srgbClr val="A50021"/>
                </a:solidFill>
              </a:endParaRP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3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63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63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63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3268" grpId="0" uiExpand="1" build="p" autoUpdateAnimBg="0"/>
      <p:bldP spid="4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988930" y="1976829"/>
            <a:ext cx="484428" cy="3110406"/>
            <a:chOff x="2096282" y="1992733"/>
            <a:chExt cx="484428" cy="3110406"/>
          </a:xfrm>
        </p:grpSpPr>
        <p:sp>
          <p:nvSpPr>
            <p:cNvPr id="1527824" name="Line 16"/>
            <p:cNvSpPr>
              <a:spLocks noChangeShapeType="1"/>
            </p:cNvSpPr>
            <p:nvPr/>
          </p:nvSpPr>
          <p:spPr bwMode="auto">
            <a:xfrm>
              <a:off x="2304784" y="1992733"/>
              <a:ext cx="0" cy="270000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Text Box 321"/>
            <p:cNvSpPr txBox="1">
              <a:spLocks noChangeArrowheads="1"/>
            </p:cNvSpPr>
            <p:nvPr/>
          </p:nvSpPr>
          <p:spPr bwMode="auto">
            <a:xfrm>
              <a:off x="2096282" y="4641474"/>
              <a:ext cx="4844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000066"/>
                  </a:solidFill>
                  <a:sym typeface="Symbol"/>
                </a:rPr>
                <a:t>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</a:rPr>
                <a:t>p</a:t>
              </a:r>
              <a:endParaRPr lang="zh-CN" altLang="en-US" sz="2400" b="1" baseline="-25000" dirty="0">
                <a:solidFill>
                  <a:srgbClr val="000066"/>
                </a:solidFill>
              </a:endParaRPr>
            </a:p>
          </p:txBody>
        </p:sp>
      </p:grpSp>
      <p:sp>
        <p:nvSpPr>
          <p:cNvPr id="1527835" name="Text Box 27"/>
          <p:cNvSpPr txBox="1">
            <a:spLocks noChangeArrowheads="1"/>
          </p:cNvSpPr>
          <p:nvPr/>
        </p:nvSpPr>
        <p:spPr bwMode="auto">
          <a:xfrm>
            <a:off x="1759495" y="5718836"/>
            <a:ext cx="69977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超固结土原位再压缩曲线的推求</a:t>
            </a:r>
          </a:p>
        </p:txBody>
      </p:sp>
      <p:sp>
        <p:nvSpPr>
          <p:cNvPr id="1527837" name="Rectangle 29"/>
          <p:cNvSpPr>
            <a:spLocks noChangeArrowheads="1"/>
          </p:cNvSpPr>
          <p:nvPr/>
        </p:nvSpPr>
        <p:spPr bwMode="auto">
          <a:xfrm>
            <a:off x="4259528" y="724166"/>
            <a:ext cx="4240416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8000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超固结土</a:t>
            </a: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推定方法</a:t>
            </a:r>
          </a:p>
        </p:txBody>
      </p:sp>
      <p:sp>
        <p:nvSpPr>
          <p:cNvPr id="1527814" name="Freeform 6"/>
          <p:cNvSpPr>
            <a:spLocks noChangeAspect="1"/>
          </p:cNvSpPr>
          <p:nvPr/>
        </p:nvSpPr>
        <p:spPr bwMode="auto">
          <a:xfrm>
            <a:off x="1112016" y="2044329"/>
            <a:ext cx="1710985" cy="1116558"/>
          </a:xfrm>
          <a:custGeom>
            <a:avLst/>
            <a:gdLst>
              <a:gd name="T0" fmla="*/ 852 w 852"/>
              <a:gd name="T1" fmla="*/ 556 h 556"/>
              <a:gd name="T2" fmla="*/ 732 w 852"/>
              <a:gd name="T3" fmla="*/ 381 h 556"/>
              <a:gd name="T4" fmla="*/ 627 w 852"/>
              <a:gd name="T5" fmla="*/ 244 h 556"/>
              <a:gd name="T6" fmla="*/ 495 w 852"/>
              <a:gd name="T7" fmla="*/ 129 h 556"/>
              <a:gd name="T8" fmla="*/ 365 w 852"/>
              <a:gd name="T9" fmla="*/ 63 h 556"/>
              <a:gd name="T10" fmla="*/ 255 w 852"/>
              <a:gd name="T11" fmla="*/ 28 h 556"/>
              <a:gd name="T12" fmla="*/ 120 w 852"/>
              <a:gd name="T13" fmla="*/ 6 h 556"/>
              <a:gd name="T14" fmla="*/ 0 w 852"/>
              <a:gd name="T15" fmla="*/ 0 h 556"/>
              <a:gd name="connsiteX0" fmla="*/ 10000 w 10000"/>
              <a:gd name="connsiteY0" fmla="*/ 10000 h 10000"/>
              <a:gd name="connsiteX1" fmla="*/ 8592 w 10000"/>
              <a:gd name="connsiteY1" fmla="*/ 6853 h 10000"/>
              <a:gd name="connsiteX2" fmla="*/ 7359 w 10000"/>
              <a:gd name="connsiteY2" fmla="*/ 4388 h 10000"/>
              <a:gd name="connsiteX3" fmla="*/ 5810 w 10000"/>
              <a:gd name="connsiteY3" fmla="*/ 2320 h 10000"/>
              <a:gd name="connsiteX4" fmla="*/ 4548 w 10000"/>
              <a:gd name="connsiteY4" fmla="*/ 1223 h 10000"/>
              <a:gd name="connsiteX5" fmla="*/ 2993 w 10000"/>
              <a:gd name="connsiteY5" fmla="*/ 504 h 10000"/>
              <a:gd name="connsiteX6" fmla="*/ 1408 w 10000"/>
              <a:gd name="connsiteY6" fmla="*/ 108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592 w 10000"/>
              <a:gd name="connsiteY1" fmla="*/ 6853 h 10000"/>
              <a:gd name="connsiteX2" fmla="*/ 7359 w 10000"/>
              <a:gd name="connsiteY2" fmla="*/ 4388 h 10000"/>
              <a:gd name="connsiteX3" fmla="*/ 5810 w 10000"/>
              <a:gd name="connsiteY3" fmla="*/ 2320 h 10000"/>
              <a:gd name="connsiteX4" fmla="*/ 4401 w 10000"/>
              <a:gd name="connsiteY4" fmla="*/ 1223 h 10000"/>
              <a:gd name="connsiteX5" fmla="*/ 2993 w 10000"/>
              <a:gd name="connsiteY5" fmla="*/ 504 h 10000"/>
              <a:gd name="connsiteX6" fmla="*/ 1408 w 10000"/>
              <a:gd name="connsiteY6" fmla="*/ 108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592 w 10000"/>
              <a:gd name="connsiteY1" fmla="*/ 6853 h 10000"/>
              <a:gd name="connsiteX2" fmla="*/ 7359 w 10000"/>
              <a:gd name="connsiteY2" fmla="*/ 4388 h 10000"/>
              <a:gd name="connsiteX3" fmla="*/ 5810 w 10000"/>
              <a:gd name="connsiteY3" fmla="*/ 2320 h 10000"/>
              <a:gd name="connsiteX4" fmla="*/ 4401 w 10000"/>
              <a:gd name="connsiteY4" fmla="*/ 1133 h 10000"/>
              <a:gd name="connsiteX5" fmla="*/ 2993 w 10000"/>
              <a:gd name="connsiteY5" fmla="*/ 504 h 10000"/>
              <a:gd name="connsiteX6" fmla="*/ 1408 w 10000"/>
              <a:gd name="connsiteY6" fmla="*/ 108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592 w 10000"/>
              <a:gd name="connsiteY1" fmla="*/ 6853 h 10000"/>
              <a:gd name="connsiteX2" fmla="*/ 7359 w 10000"/>
              <a:gd name="connsiteY2" fmla="*/ 4388 h 10000"/>
              <a:gd name="connsiteX3" fmla="*/ 5810 w 10000"/>
              <a:gd name="connsiteY3" fmla="*/ 2320 h 10000"/>
              <a:gd name="connsiteX4" fmla="*/ 4313 w 10000"/>
              <a:gd name="connsiteY4" fmla="*/ 1178 h 10000"/>
              <a:gd name="connsiteX5" fmla="*/ 2993 w 10000"/>
              <a:gd name="connsiteY5" fmla="*/ 504 h 10000"/>
              <a:gd name="connsiteX6" fmla="*/ 1408 w 10000"/>
              <a:gd name="connsiteY6" fmla="*/ 108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592 w 10000"/>
              <a:gd name="connsiteY1" fmla="*/ 6853 h 10000"/>
              <a:gd name="connsiteX2" fmla="*/ 7359 w 10000"/>
              <a:gd name="connsiteY2" fmla="*/ 4388 h 10000"/>
              <a:gd name="connsiteX3" fmla="*/ 5810 w 10000"/>
              <a:gd name="connsiteY3" fmla="*/ 2320 h 10000"/>
              <a:gd name="connsiteX4" fmla="*/ 4401 w 10000"/>
              <a:gd name="connsiteY4" fmla="*/ 1178 h 10000"/>
              <a:gd name="connsiteX5" fmla="*/ 2993 w 10000"/>
              <a:gd name="connsiteY5" fmla="*/ 504 h 10000"/>
              <a:gd name="connsiteX6" fmla="*/ 1408 w 10000"/>
              <a:gd name="connsiteY6" fmla="*/ 108 h 10000"/>
              <a:gd name="connsiteX7" fmla="*/ 0 w 10000"/>
              <a:gd name="connsiteY7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10000" y="10000"/>
                </a:moveTo>
                <a:cubicBezTo>
                  <a:pt x="9765" y="9478"/>
                  <a:pt x="9026" y="7788"/>
                  <a:pt x="8592" y="6853"/>
                </a:cubicBezTo>
                <a:cubicBezTo>
                  <a:pt x="8157" y="5917"/>
                  <a:pt x="7817" y="5144"/>
                  <a:pt x="7359" y="4388"/>
                </a:cubicBezTo>
                <a:cubicBezTo>
                  <a:pt x="6901" y="3633"/>
                  <a:pt x="6303" y="2855"/>
                  <a:pt x="5810" y="2320"/>
                </a:cubicBezTo>
                <a:cubicBezTo>
                  <a:pt x="5317" y="1785"/>
                  <a:pt x="4871" y="1484"/>
                  <a:pt x="4401" y="1178"/>
                </a:cubicBezTo>
                <a:cubicBezTo>
                  <a:pt x="3932" y="872"/>
                  <a:pt x="3492" y="682"/>
                  <a:pt x="2993" y="504"/>
                </a:cubicBezTo>
                <a:cubicBezTo>
                  <a:pt x="2494" y="326"/>
                  <a:pt x="1901" y="198"/>
                  <a:pt x="1408" y="108"/>
                </a:cubicBezTo>
                <a:cubicBezTo>
                  <a:pt x="915" y="18"/>
                  <a:pt x="293" y="18"/>
                  <a:pt x="0" y="0"/>
                </a:cubicBezTo>
              </a:path>
            </a:pathLst>
          </a:custGeom>
          <a:noFill/>
          <a:ln w="19050" cap="flat" cmpd="sng">
            <a:solidFill>
              <a:srgbClr val="000066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27815" name="Freeform 7"/>
          <p:cNvSpPr>
            <a:spLocks noChangeAspect="1"/>
          </p:cNvSpPr>
          <p:nvPr/>
        </p:nvSpPr>
        <p:spPr bwMode="auto">
          <a:xfrm>
            <a:off x="1470991" y="2814762"/>
            <a:ext cx="1361643" cy="345883"/>
          </a:xfrm>
          <a:custGeom>
            <a:avLst/>
            <a:gdLst>
              <a:gd name="T0" fmla="*/ 561 w 561"/>
              <a:gd name="T1" fmla="*/ 213 h 213"/>
              <a:gd name="T2" fmla="*/ 438 w 561"/>
              <a:gd name="T3" fmla="*/ 204 h 213"/>
              <a:gd name="T4" fmla="*/ 330 w 561"/>
              <a:gd name="T5" fmla="*/ 180 h 213"/>
              <a:gd name="T6" fmla="*/ 192 w 561"/>
              <a:gd name="T7" fmla="*/ 126 h 213"/>
              <a:gd name="T8" fmla="*/ 84 w 561"/>
              <a:gd name="T9" fmla="*/ 66 h 213"/>
              <a:gd name="T10" fmla="*/ 0 w 561"/>
              <a:gd name="T11" fmla="*/ 0 h 213"/>
              <a:gd name="connsiteX0" fmla="*/ 10000 w 10000"/>
              <a:gd name="connsiteY0" fmla="*/ 10000 h 10000"/>
              <a:gd name="connsiteX1" fmla="*/ 7807 w 10000"/>
              <a:gd name="connsiteY1" fmla="*/ 9577 h 10000"/>
              <a:gd name="connsiteX2" fmla="*/ 5659 w 10000"/>
              <a:gd name="connsiteY2" fmla="*/ 8216 h 10000"/>
              <a:gd name="connsiteX3" fmla="*/ 3422 w 10000"/>
              <a:gd name="connsiteY3" fmla="*/ 5915 h 10000"/>
              <a:gd name="connsiteX4" fmla="*/ 1497 w 10000"/>
              <a:gd name="connsiteY4" fmla="*/ 3099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10000" y="10000"/>
                </a:moveTo>
                <a:cubicBezTo>
                  <a:pt x="9643" y="9953"/>
                  <a:pt x="8531" y="9874"/>
                  <a:pt x="7807" y="9577"/>
                </a:cubicBezTo>
                <a:cubicBezTo>
                  <a:pt x="7084" y="9280"/>
                  <a:pt x="6390" y="8826"/>
                  <a:pt x="5659" y="8216"/>
                </a:cubicBezTo>
                <a:cubicBezTo>
                  <a:pt x="4929" y="7605"/>
                  <a:pt x="4116" y="6768"/>
                  <a:pt x="3422" y="5915"/>
                </a:cubicBezTo>
                <a:cubicBezTo>
                  <a:pt x="2728" y="5062"/>
                  <a:pt x="2068" y="4085"/>
                  <a:pt x="1497" y="3099"/>
                </a:cubicBezTo>
                <a:cubicBezTo>
                  <a:pt x="927" y="2113"/>
                  <a:pt x="303" y="657"/>
                  <a:pt x="0" y="0"/>
                </a:cubicBezTo>
              </a:path>
            </a:pathLst>
          </a:custGeom>
          <a:noFill/>
          <a:ln w="19050" cap="flat" cmpd="sng">
            <a:solidFill>
              <a:srgbClr val="000066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27816" name="Freeform 8"/>
          <p:cNvSpPr>
            <a:spLocks noChangeAspect="1"/>
          </p:cNvSpPr>
          <p:nvPr/>
        </p:nvSpPr>
        <p:spPr bwMode="auto">
          <a:xfrm>
            <a:off x="1478943" y="2806811"/>
            <a:ext cx="2299919" cy="1771906"/>
          </a:xfrm>
          <a:custGeom>
            <a:avLst/>
            <a:gdLst>
              <a:gd name="T0" fmla="*/ 1050 w 1050"/>
              <a:gd name="T1" fmla="*/ 927 h 927"/>
              <a:gd name="T2" fmla="*/ 864 w 1050"/>
              <a:gd name="T3" fmla="*/ 648 h 927"/>
              <a:gd name="T4" fmla="*/ 711 w 1050"/>
              <a:gd name="T5" fmla="*/ 423 h 927"/>
              <a:gd name="T6" fmla="*/ 609 w 1050"/>
              <a:gd name="T7" fmla="*/ 294 h 927"/>
              <a:gd name="T8" fmla="*/ 495 w 1050"/>
              <a:gd name="T9" fmla="*/ 171 h 927"/>
              <a:gd name="T10" fmla="*/ 381 w 1050"/>
              <a:gd name="T11" fmla="*/ 96 h 927"/>
              <a:gd name="T12" fmla="*/ 231 w 1050"/>
              <a:gd name="T13" fmla="*/ 39 h 927"/>
              <a:gd name="T14" fmla="*/ 0 w 1050"/>
              <a:gd name="T15" fmla="*/ 0 h 927"/>
              <a:gd name="connsiteX0" fmla="*/ 10000 w 10000"/>
              <a:gd name="connsiteY0" fmla="*/ 10000 h 10000"/>
              <a:gd name="connsiteX1" fmla="*/ 8229 w 10000"/>
              <a:gd name="connsiteY1" fmla="*/ 6990 h 10000"/>
              <a:gd name="connsiteX2" fmla="*/ 6771 w 10000"/>
              <a:gd name="connsiteY2" fmla="*/ 4563 h 10000"/>
              <a:gd name="connsiteX3" fmla="*/ 5800 w 10000"/>
              <a:gd name="connsiteY3" fmla="*/ 3172 h 10000"/>
              <a:gd name="connsiteX4" fmla="*/ 4714 w 10000"/>
              <a:gd name="connsiteY4" fmla="*/ 1845 h 10000"/>
              <a:gd name="connsiteX5" fmla="*/ 3629 w 10000"/>
              <a:gd name="connsiteY5" fmla="*/ 1036 h 10000"/>
              <a:gd name="connsiteX6" fmla="*/ 2200 w 10000"/>
              <a:gd name="connsiteY6" fmla="*/ 421 h 10000"/>
              <a:gd name="connsiteX7" fmla="*/ 1919 w 10000"/>
              <a:gd name="connsiteY7" fmla="*/ 329 h 10000"/>
              <a:gd name="connsiteX8" fmla="*/ 0 w 10000"/>
              <a:gd name="connsiteY8" fmla="*/ 0 h 10000"/>
              <a:gd name="connsiteX0" fmla="*/ 10000 w 10000"/>
              <a:gd name="connsiteY0" fmla="*/ 10000 h 10000"/>
              <a:gd name="connsiteX1" fmla="*/ 8229 w 10000"/>
              <a:gd name="connsiteY1" fmla="*/ 6990 h 10000"/>
              <a:gd name="connsiteX2" fmla="*/ 6771 w 10000"/>
              <a:gd name="connsiteY2" fmla="*/ 4563 h 10000"/>
              <a:gd name="connsiteX3" fmla="*/ 5800 w 10000"/>
              <a:gd name="connsiteY3" fmla="*/ 3172 h 10000"/>
              <a:gd name="connsiteX4" fmla="*/ 4714 w 10000"/>
              <a:gd name="connsiteY4" fmla="*/ 1845 h 10000"/>
              <a:gd name="connsiteX5" fmla="*/ 3629 w 10000"/>
              <a:gd name="connsiteY5" fmla="*/ 1036 h 10000"/>
              <a:gd name="connsiteX6" fmla="*/ 1919 w 10000"/>
              <a:gd name="connsiteY6" fmla="*/ 329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29 w 10000"/>
              <a:gd name="connsiteY1" fmla="*/ 6990 h 10000"/>
              <a:gd name="connsiteX2" fmla="*/ 6771 w 10000"/>
              <a:gd name="connsiteY2" fmla="*/ 4563 h 10000"/>
              <a:gd name="connsiteX3" fmla="*/ 5800 w 10000"/>
              <a:gd name="connsiteY3" fmla="*/ 3172 h 10000"/>
              <a:gd name="connsiteX4" fmla="*/ 4714 w 10000"/>
              <a:gd name="connsiteY4" fmla="*/ 1845 h 10000"/>
              <a:gd name="connsiteX5" fmla="*/ 3415 w 10000"/>
              <a:gd name="connsiteY5" fmla="*/ 874 h 10000"/>
              <a:gd name="connsiteX6" fmla="*/ 1919 w 10000"/>
              <a:gd name="connsiteY6" fmla="*/ 329 h 10000"/>
              <a:gd name="connsiteX7" fmla="*/ 0 w 10000"/>
              <a:gd name="connsiteY7" fmla="*/ 0 h 10000"/>
              <a:gd name="connsiteX0" fmla="*/ 10132 w 10132"/>
              <a:gd name="connsiteY0" fmla="*/ 9676 h 9676"/>
              <a:gd name="connsiteX1" fmla="*/ 8361 w 10132"/>
              <a:gd name="connsiteY1" fmla="*/ 6666 h 9676"/>
              <a:gd name="connsiteX2" fmla="*/ 6903 w 10132"/>
              <a:gd name="connsiteY2" fmla="*/ 4239 h 9676"/>
              <a:gd name="connsiteX3" fmla="*/ 5932 w 10132"/>
              <a:gd name="connsiteY3" fmla="*/ 2848 h 9676"/>
              <a:gd name="connsiteX4" fmla="*/ 4846 w 10132"/>
              <a:gd name="connsiteY4" fmla="*/ 1521 h 9676"/>
              <a:gd name="connsiteX5" fmla="*/ 3547 w 10132"/>
              <a:gd name="connsiteY5" fmla="*/ 550 h 9676"/>
              <a:gd name="connsiteX6" fmla="*/ 2051 w 10132"/>
              <a:gd name="connsiteY6" fmla="*/ 5 h 9676"/>
              <a:gd name="connsiteX7" fmla="*/ 0 w 10132"/>
              <a:gd name="connsiteY7" fmla="*/ 573 h 9676"/>
              <a:gd name="connsiteX0" fmla="*/ 10000 w 10000"/>
              <a:gd name="connsiteY0" fmla="*/ 9445 h 9445"/>
              <a:gd name="connsiteX1" fmla="*/ 8252 w 10000"/>
              <a:gd name="connsiteY1" fmla="*/ 6334 h 9445"/>
              <a:gd name="connsiteX2" fmla="*/ 6813 w 10000"/>
              <a:gd name="connsiteY2" fmla="*/ 3826 h 9445"/>
              <a:gd name="connsiteX3" fmla="*/ 5855 w 10000"/>
              <a:gd name="connsiteY3" fmla="*/ 2388 h 9445"/>
              <a:gd name="connsiteX4" fmla="*/ 4783 w 10000"/>
              <a:gd name="connsiteY4" fmla="*/ 1017 h 9445"/>
              <a:gd name="connsiteX5" fmla="*/ 3501 w 10000"/>
              <a:gd name="connsiteY5" fmla="*/ 13 h 9445"/>
              <a:gd name="connsiteX6" fmla="*/ 2024 w 10000"/>
              <a:gd name="connsiteY6" fmla="*/ 355 h 9445"/>
              <a:gd name="connsiteX7" fmla="*/ 0 w 10000"/>
              <a:gd name="connsiteY7" fmla="*/ 37 h 9445"/>
              <a:gd name="connsiteX0" fmla="*/ 10000 w 10000"/>
              <a:gd name="connsiteY0" fmla="*/ 9961 h 9961"/>
              <a:gd name="connsiteX1" fmla="*/ 8252 w 10000"/>
              <a:gd name="connsiteY1" fmla="*/ 6667 h 9961"/>
              <a:gd name="connsiteX2" fmla="*/ 6813 w 10000"/>
              <a:gd name="connsiteY2" fmla="*/ 4012 h 9961"/>
              <a:gd name="connsiteX3" fmla="*/ 5855 w 10000"/>
              <a:gd name="connsiteY3" fmla="*/ 2489 h 9961"/>
              <a:gd name="connsiteX4" fmla="*/ 4783 w 10000"/>
              <a:gd name="connsiteY4" fmla="*/ 1038 h 9961"/>
              <a:gd name="connsiteX5" fmla="*/ 3408 w 10000"/>
              <a:gd name="connsiteY5" fmla="*/ 676 h 9961"/>
              <a:gd name="connsiteX6" fmla="*/ 2024 w 10000"/>
              <a:gd name="connsiteY6" fmla="*/ 337 h 9961"/>
              <a:gd name="connsiteX7" fmla="*/ 0 w 10000"/>
              <a:gd name="connsiteY7" fmla="*/ 0 h 9961"/>
              <a:gd name="connsiteX0" fmla="*/ 10000 w 10000"/>
              <a:gd name="connsiteY0" fmla="*/ 10000 h 10000"/>
              <a:gd name="connsiteX1" fmla="*/ 8252 w 10000"/>
              <a:gd name="connsiteY1" fmla="*/ 6693 h 10000"/>
              <a:gd name="connsiteX2" fmla="*/ 6813 w 10000"/>
              <a:gd name="connsiteY2" fmla="*/ 4028 h 10000"/>
              <a:gd name="connsiteX3" fmla="*/ 5855 w 10000"/>
              <a:gd name="connsiteY3" fmla="*/ 2499 h 10000"/>
              <a:gd name="connsiteX4" fmla="*/ 4820 w 10000"/>
              <a:gd name="connsiteY4" fmla="*/ 1370 h 10000"/>
              <a:gd name="connsiteX5" fmla="*/ 3408 w 10000"/>
              <a:gd name="connsiteY5" fmla="*/ 679 h 10000"/>
              <a:gd name="connsiteX6" fmla="*/ 2024 w 10000"/>
              <a:gd name="connsiteY6" fmla="*/ 338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52 w 10000"/>
              <a:gd name="connsiteY1" fmla="*/ 6693 h 10000"/>
              <a:gd name="connsiteX2" fmla="*/ 6813 w 10000"/>
              <a:gd name="connsiteY2" fmla="*/ 4028 h 10000"/>
              <a:gd name="connsiteX3" fmla="*/ 5874 w 10000"/>
              <a:gd name="connsiteY3" fmla="*/ 2616 h 10000"/>
              <a:gd name="connsiteX4" fmla="*/ 4820 w 10000"/>
              <a:gd name="connsiteY4" fmla="*/ 1370 h 10000"/>
              <a:gd name="connsiteX5" fmla="*/ 3408 w 10000"/>
              <a:gd name="connsiteY5" fmla="*/ 679 h 10000"/>
              <a:gd name="connsiteX6" fmla="*/ 2024 w 10000"/>
              <a:gd name="connsiteY6" fmla="*/ 338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52 w 10000"/>
              <a:gd name="connsiteY1" fmla="*/ 6693 h 10000"/>
              <a:gd name="connsiteX2" fmla="*/ 6813 w 10000"/>
              <a:gd name="connsiteY2" fmla="*/ 4028 h 10000"/>
              <a:gd name="connsiteX3" fmla="*/ 5874 w 10000"/>
              <a:gd name="connsiteY3" fmla="*/ 2616 h 10000"/>
              <a:gd name="connsiteX4" fmla="*/ 4727 w 10000"/>
              <a:gd name="connsiteY4" fmla="*/ 1417 h 10000"/>
              <a:gd name="connsiteX5" fmla="*/ 3408 w 10000"/>
              <a:gd name="connsiteY5" fmla="*/ 679 h 10000"/>
              <a:gd name="connsiteX6" fmla="*/ 2024 w 10000"/>
              <a:gd name="connsiteY6" fmla="*/ 338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52 w 10000"/>
              <a:gd name="connsiteY1" fmla="*/ 6693 h 10000"/>
              <a:gd name="connsiteX2" fmla="*/ 6813 w 10000"/>
              <a:gd name="connsiteY2" fmla="*/ 4028 h 10000"/>
              <a:gd name="connsiteX3" fmla="*/ 5874 w 10000"/>
              <a:gd name="connsiteY3" fmla="*/ 2616 h 10000"/>
              <a:gd name="connsiteX4" fmla="*/ 4727 w 10000"/>
              <a:gd name="connsiteY4" fmla="*/ 1417 h 10000"/>
              <a:gd name="connsiteX5" fmla="*/ 3408 w 10000"/>
              <a:gd name="connsiteY5" fmla="*/ 679 h 10000"/>
              <a:gd name="connsiteX6" fmla="*/ 1968 w 10000"/>
              <a:gd name="connsiteY6" fmla="*/ 221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52 w 10000"/>
              <a:gd name="connsiteY1" fmla="*/ 6693 h 10000"/>
              <a:gd name="connsiteX2" fmla="*/ 6813 w 10000"/>
              <a:gd name="connsiteY2" fmla="*/ 4028 h 10000"/>
              <a:gd name="connsiteX3" fmla="*/ 5874 w 10000"/>
              <a:gd name="connsiteY3" fmla="*/ 2616 h 10000"/>
              <a:gd name="connsiteX4" fmla="*/ 4727 w 10000"/>
              <a:gd name="connsiteY4" fmla="*/ 1417 h 10000"/>
              <a:gd name="connsiteX5" fmla="*/ 3408 w 10000"/>
              <a:gd name="connsiteY5" fmla="*/ 679 h 10000"/>
              <a:gd name="connsiteX6" fmla="*/ 1670 w 10000"/>
              <a:gd name="connsiteY6" fmla="*/ 221 h 10000"/>
              <a:gd name="connsiteX7" fmla="*/ 0 w 10000"/>
              <a:gd name="connsiteY7" fmla="*/ 0 h 10000"/>
              <a:gd name="connsiteX0" fmla="*/ 9907 w 9907"/>
              <a:gd name="connsiteY0" fmla="*/ 10047 h 10047"/>
              <a:gd name="connsiteX1" fmla="*/ 8159 w 9907"/>
              <a:gd name="connsiteY1" fmla="*/ 6740 h 10047"/>
              <a:gd name="connsiteX2" fmla="*/ 6720 w 9907"/>
              <a:gd name="connsiteY2" fmla="*/ 4075 h 10047"/>
              <a:gd name="connsiteX3" fmla="*/ 5781 w 9907"/>
              <a:gd name="connsiteY3" fmla="*/ 2663 h 10047"/>
              <a:gd name="connsiteX4" fmla="*/ 4634 w 9907"/>
              <a:gd name="connsiteY4" fmla="*/ 1464 h 10047"/>
              <a:gd name="connsiteX5" fmla="*/ 3315 w 9907"/>
              <a:gd name="connsiteY5" fmla="*/ 726 h 10047"/>
              <a:gd name="connsiteX6" fmla="*/ 1577 w 9907"/>
              <a:gd name="connsiteY6" fmla="*/ 268 h 10047"/>
              <a:gd name="connsiteX7" fmla="*/ 0 w 9907"/>
              <a:gd name="connsiteY7" fmla="*/ 0 h 10047"/>
              <a:gd name="connsiteX0" fmla="*/ 10000 w 10000"/>
              <a:gd name="connsiteY0" fmla="*/ 10000 h 10000"/>
              <a:gd name="connsiteX1" fmla="*/ 8236 w 10000"/>
              <a:gd name="connsiteY1" fmla="*/ 6708 h 10000"/>
              <a:gd name="connsiteX2" fmla="*/ 6783 w 10000"/>
              <a:gd name="connsiteY2" fmla="*/ 4056 h 10000"/>
              <a:gd name="connsiteX3" fmla="*/ 5835 w 10000"/>
              <a:gd name="connsiteY3" fmla="*/ 2651 h 10000"/>
              <a:gd name="connsiteX4" fmla="*/ 4678 w 10000"/>
              <a:gd name="connsiteY4" fmla="*/ 1457 h 10000"/>
              <a:gd name="connsiteX5" fmla="*/ 3121 w 10000"/>
              <a:gd name="connsiteY5" fmla="*/ 606 h 10000"/>
              <a:gd name="connsiteX6" fmla="*/ 1592 w 10000"/>
              <a:gd name="connsiteY6" fmla="*/ 267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36 w 10000"/>
              <a:gd name="connsiteY1" fmla="*/ 6708 h 10000"/>
              <a:gd name="connsiteX2" fmla="*/ 6783 w 10000"/>
              <a:gd name="connsiteY2" fmla="*/ 4056 h 10000"/>
              <a:gd name="connsiteX3" fmla="*/ 5835 w 10000"/>
              <a:gd name="connsiteY3" fmla="*/ 2651 h 10000"/>
              <a:gd name="connsiteX4" fmla="*/ 4678 w 10000"/>
              <a:gd name="connsiteY4" fmla="*/ 1457 h 10000"/>
              <a:gd name="connsiteX5" fmla="*/ 3121 w 10000"/>
              <a:gd name="connsiteY5" fmla="*/ 606 h 10000"/>
              <a:gd name="connsiteX6" fmla="*/ 1761 w 10000"/>
              <a:gd name="connsiteY6" fmla="*/ 220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36 w 10000"/>
              <a:gd name="connsiteY1" fmla="*/ 6708 h 10000"/>
              <a:gd name="connsiteX2" fmla="*/ 6783 w 10000"/>
              <a:gd name="connsiteY2" fmla="*/ 4056 h 10000"/>
              <a:gd name="connsiteX3" fmla="*/ 5835 w 10000"/>
              <a:gd name="connsiteY3" fmla="*/ 2651 h 10000"/>
              <a:gd name="connsiteX4" fmla="*/ 4678 w 10000"/>
              <a:gd name="connsiteY4" fmla="*/ 1457 h 10000"/>
              <a:gd name="connsiteX5" fmla="*/ 3121 w 10000"/>
              <a:gd name="connsiteY5" fmla="*/ 606 h 10000"/>
              <a:gd name="connsiteX6" fmla="*/ 1761 w 10000"/>
              <a:gd name="connsiteY6" fmla="*/ 290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36 w 10000"/>
              <a:gd name="connsiteY1" fmla="*/ 6708 h 10000"/>
              <a:gd name="connsiteX2" fmla="*/ 6783 w 10000"/>
              <a:gd name="connsiteY2" fmla="*/ 4056 h 10000"/>
              <a:gd name="connsiteX3" fmla="*/ 5835 w 10000"/>
              <a:gd name="connsiteY3" fmla="*/ 2651 h 10000"/>
              <a:gd name="connsiteX4" fmla="*/ 4678 w 10000"/>
              <a:gd name="connsiteY4" fmla="*/ 1457 h 10000"/>
              <a:gd name="connsiteX5" fmla="*/ 3121 w 10000"/>
              <a:gd name="connsiteY5" fmla="*/ 606 h 10000"/>
              <a:gd name="connsiteX6" fmla="*/ 1836 w 10000"/>
              <a:gd name="connsiteY6" fmla="*/ 197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36 w 10000"/>
              <a:gd name="connsiteY1" fmla="*/ 6708 h 10000"/>
              <a:gd name="connsiteX2" fmla="*/ 6783 w 10000"/>
              <a:gd name="connsiteY2" fmla="*/ 4056 h 10000"/>
              <a:gd name="connsiteX3" fmla="*/ 5835 w 10000"/>
              <a:gd name="connsiteY3" fmla="*/ 2651 h 10000"/>
              <a:gd name="connsiteX4" fmla="*/ 4678 w 10000"/>
              <a:gd name="connsiteY4" fmla="*/ 1457 h 10000"/>
              <a:gd name="connsiteX5" fmla="*/ 3121 w 10000"/>
              <a:gd name="connsiteY5" fmla="*/ 606 h 10000"/>
              <a:gd name="connsiteX6" fmla="*/ 1761 w 10000"/>
              <a:gd name="connsiteY6" fmla="*/ 244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36 w 10000"/>
              <a:gd name="connsiteY1" fmla="*/ 6708 h 10000"/>
              <a:gd name="connsiteX2" fmla="*/ 6783 w 10000"/>
              <a:gd name="connsiteY2" fmla="*/ 4056 h 10000"/>
              <a:gd name="connsiteX3" fmla="*/ 5835 w 10000"/>
              <a:gd name="connsiteY3" fmla="*/ 2651 h 10000"/>
              <a:gd name="connsiteX4" fmla="*/ 4678 w 10000"/>
              <a:gd name="connsiteY4" fmla="*/ 1457 h 10000"/>
              <a:gd name="connsiteX5" fmla="*/ 2990 w 10000"/>
              <a:gd name="connsiteY5" fmla="*/ 583 h 10000"/>
              <a:gd name="connsiteX6" fmla="*/ 1761 w 10000"/>
              <a:gd name="connsiteY6" fmla="*/ 244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36 w 10000"/>
              <a:gd name="connsiteY1" fmla="*/ 6708 h 10000"/>
              <a:gd name="connsiteX2" fmla="*/ 6783 w 10000"/>
              <a:gd name="connsiteY2" fmla="*/ 4056 h 10000"/>
              <a:gd name="connsiteX3" fmla="*/ 5835 w 10000"/>
              <a:gd name="connsiteY3" fmla="*/ 2651 h 10000"/>
              <a:gd name="connsiteX4" fmla="*/ 4678 w 10000"/>
              <a:gd name="connsiteY4" fmla="*/ 1457 h 10000"/>
              <a:gd name="connsiteX5" fmla="*/ 2990 w 10000"/>
              <a:gd name="connsiteY5" fmla="*/ 583 h 10000"/>
              <a:gd name="connsiteX6" fmla="*/ 1479 w 10000"/>
              <a:gd name="connsiteY6" fmla="*/ 174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36 w 10000"/>
              <a:gd name="connsiteY1" fmla="*/ 6708 h 10000"/>
              <a:gd name="connsiteX2" fmla="*/ 6783 w 10000"/>
              <a:gd name="connsiteY2" fmla="*/ 4056 h 10000"/>
              <a:gd name="connsiteX3" fmla="*/ 5835 w 10000"/>
              <a:gd name="connsiteY3" fmla="*/ 2651 h 10000"/>
              <a:gd name="connsiteX4" fmla="*/ 4678 w 10000"/>
              <a:gd name="connsiteY4" fmla="*/ 1457 h 10000"/>
              <a:gd name="connsiteX5" fmla="*/ 2990 w 10000"/>
              <a:gd name="connsiteY5" fmla="*/ 583 h 10000"/>
              <a:gd name="connsiteX6" fmla="*/ 1404 w 10000"/>
              <a:gd name="connsiteY6" fmla="*/ 244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36 w 10000"/>
              <a:gd name="connsiteY1" fmla="*/ 6708 h 10000"/>
              <a:gd name="connsiteX2" fmla="*/ 6783 w 10000"/>
              <a:gd name="connsiteY2" fmla="*/ 4056 h 10000"/>
              <a:gd name="connsiteX3" fmla="*/ 5835 w 10000"/>
              <a:gd name="connsiteY3" fmla="*/ 2651 h 10000"/>
              <a:gd name="connsiteX4" fmla="*/ 4678 w 10000"/>
              <a:gd name="connsiteY4" fmla="*/ 1457 h 10000"/>
              <a:gd name="connsiteX5" fmla="*/ 2990 w 10000"/>
              <a:gd name="connsiteY5" fmla="*/ 583 h 10000"/>
              <a:gd name="connsiteX6" fmla="*/ 1498 w 10000"/>
              <a:gd name="connsiteY6" fmla="*/ 221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36 w 10000"/>
              <a:gd name="connsiteY1" fmla="*/ 6708 h 10000"/>
              <a:gd name="connsiteX2" fmla="*/ 6783 w 10000"/>
              <a:gd name="connsiteY2" fmla="*/ 4056 h 10000"/>
              <a:gd name="connsiteX3" fmla="*/ 5835 w 10000"/>
              <a:gd name="connsiteY3" fmla="*/ 2651 h 10000"/>
              <a:gd name="connsiteX4" fmla="*/ 4678 w 10000"/>
              <a:gd name="connsiteY4" fmla="*/ 1457 h 10000"/>
              <a:gd name="connsiteX5" fmla="*/ 2990 w 10000"/>
              <a:gd name="connsiteY5" fmla="*/ 583 h 10000"/>
              <a:gd name="connsiteX6" fmla="*/ 1592 w 10000"/>
              <a:gd name="connsiteY6" fmla="*/ 221 h 10000"/>
              <a:gd name="connsiteX7" fmla="*/ 0 w 10000"/>
              <a:gd name="connsiteY7" fmla="*/ 0 h 10000"/>
              <a:gd name="connsiteX0" fmla="*/ 10000 w 10000"/>
              <a:gd name="connsiteY0" fmla="*/ 10000 h 10000"/>
              <a:gd name="connsiteX1" fmla="*/ 8236 w 10000"/>
              <a:gd name="connsiteY1" fmla="*/ 6708 h 10000"/>
              <a:gd name="connsiteX2" fmla="*/ 6783 w 10000"/>
              <a:gd name="connsiteY2" fmla="*/ 4056 h 10000"/>
              <a:gd name="connsiteX3" fmla="*/ 5835 w 10000"/>
              <a:gd name="connsiteY3" fmla="*/ 2651 h 10000"/>
              <a:gd name="connsiteX4" fmla="*/ 4678 w 10000"/>
              <a:gd name="connsiteY4" fmla="*/ 1457 h 10000"/>
              <a:gd name="connsiteX5" fmla="*/ 2990 w 10000"/>
              <a:gd name="connsiteY5" fmla="*/ 583 h 10000"/>
              <a:gd name="connsiteX6" fmla="*/ 1592 w 10000"/>
              <a:gd name="connsiteY6" fmla="*/ 221 h 10000"/>
              <a:gd name="connsiteX7" fmla="*/ 0 w 10000"/>
              <a:gd name="connsiteY7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0" h="10000">
                <a:moveTo>
                  <a:pt x="10000" y="10000"/>
                </a:moveTo>
                <a:cubicBezTo>
                  <a:pt x="9706" y="9458"/>
                  <a:pt x="8767" y="7700"/>
                  <a:pt x="8236" y="6708"/>
                </a:cubicBezTo>
                <a:cubicBezTo>
                  <a:pt x="7704" y="5718"/>
                  <a:pt x="7183" y="4732"/>
                  <a:pt x="6783" y="4056"/>
                </a:cubicBezTo>
                <a:cubicBezTo>
                  <a:pt x="6383" y="3380"/>
                  <a:pt x="6187" y="3084"/>
                  <a:pt x="5835" y="2651"/>
                </a:cubicBezTo>
                <a:cubicBezTo>
                  <a:pt x="5484" y="2218"/>
                  <a:pt x="5152" y="1802"/>
                  <a:pt x="4678" y="1457"/>
                </a:cubicBezTo>
                <a:cubicBezTo>
                  <a:pt x="4204" y="1112"/>
                  <a:pt x="3504" y="789"/>
                  <a:pt x="2990" y="583"/>
                </a:cubicBezTo>
                <a:cubicBezTo>
                  <a:pt x="2476" y="377"/>
                  <a:pt x="2269" y="363"/>
                  <a:pt x="1592" y="221"/>
                </a:cubicBezTo>
                <a:cubicBezTo>
                  <a:pt x="1226" y="145"/>
                  <a:pt x="346" y="74"/>
                  <a:pt x="0" y="0"/>
                </a:cubicBezTo>
              </a:path>
            </a:pathLst>
          </a:custGeom>
          <a:noFill/>
          <a:ln w="19050" cap="flat" cmpd="sng">
            <a:solidFill>
              <a:srgbClr val="000066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27828" name="Freeform 20"/>
          <p:cNvSpPr>
            <a:spLocks/>
          </p:cNvSpPr>
          <p:nvPr/>
        </p:nvSpPr>
        <p:spPr bwMode="auto">
          <a:xfrm>
            <a:off x="1076247" y="2692837"/>
            <a:ext cx="1863607" cy="546088"/>
          </a:xfrm>
          <a:custGeom>
            <a:avLst/>
            <a:gdLst>
              <a:gd name="T0" fmla="*/ 0 w 1295"/>
              <a:gd name="T1" fmla="*/ 0 h 527"/>
              <a:gd name="T2" fmla="*/ 1295 w 1295"/>
              <a:gd name="T3" fmla="*/ 527 h 527"/>
              <a:gd name="connsiteX0" fmla="*/ 0 w 10054"/>
              <a:gd name="connsiteY0" fmla="*/ 0 h 9371"/>
              <a:gd name="connsiteX1" fmla="*/ 10054 w 10054"/>
              <a:gd name="connsiteY1" fmla="*/ 9371 h 9371"/>
              <a:gd name="connsiteX0" fmla="*/ 0 w 10992"/>
              <a:gd name="connsiteY0" fmla="*/ 0 h 10893"/>
              <a:gd name="connsiteX1" fmla="*/ 10992 w 10992"/>
              <a:gd name="connsiteY1" fmla="*/ 10893 h 10893"/>
              <a:gd name="connsiteX0" fmla="*/ 0 w 11475"/>
              <a:gd name="connsiteY0" fmla="*/ 0 h 11072"/>
              <a:gd name="connsiteX1" fmla="*/ 11475 w 11475"/>
              <a:gd name="connsiteY1" fmla="*/ 11072 h 11072"/>
              <a:gd name="connsiteX0" fmla="*/ 0 w 11529"/>
              <a:gd name="connsiteY0" fmla="*/ 0 h 11251"/>
              <a:gd name="connsiteX1" fmla="*/ 11529 w 11529"/>
              <a:gd name="connsiteY1" fmla="*/ 11251 h 1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9" h="11251">
                <a:moveTo>
                  <a:pt x="0" y="0"/>
                </a:moveTo>
                <a:cubicBezTo>
                  <a:pt x="3315" y="3557"/>
                  <a:pt x="8214" y="7694"/>
                  <a:pt x="11529" y="11251"/>
                </a:cubicBezTo>
              </a:path>
            </a:pathLst>
          </a:custGeom>
          <a:noFill/>
          <a:ln w="19050" cap="flat">
            <a:solidFill>
              <a:srgbClr val="0066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020186" y="1185009"/>
            <a:ext cx="1669164" cy="920238"/>
            <a:chOff x="2020186" y="1185009"/>
            <a:chExt cx="1669164" cy="920238"/>
          </a:xfrm>
        </p:grpSpPr>
        <p:sp>
          <p:nvSpPr>
            <p:cNvPr id="1527839" name="Text Box 31"/>
            <p:cNvSpPr txBox="1">
              <a:spLocks noChangeArrowheads="1"/>
            </p:cNvSpPr>
            <p:nvPr/>
          </p:nvSpPr>
          <p:spPr bwMode="auto">
            <a:xfrm>
              <a:off x="2361186" y="1185009"/>
              <a:ext cx="1328164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990000"/>
                  </a:solidFill>
                  <a:ea typeface="幼圆" pitchFamily="49" charset="-122"/>
                  <a:sym typeface="Symbol" pitchFamily="18" charset="2"/>
                </a:rPr>
                <a:t>原位再</a:t>
              </a:r>
              <a:r>
                <a:rPr kumimoji="1" lang="zh-CN" altLang="en-US" sz="2000" b="1" dirty="0" smtClean="0">
                  <a:solidFill>
                    <a:srgbClr val="990000"/>
                  </a:solidFill>
                  <a:ea typeface="幼圆" pitchFamily="49" charset="-122"/>
                  <a:sym typeface="Symbol" pitchFamily="18" charset="2"/>
                </a:rPr>
                <a:t>压</a:t>
              </a:r>
              <a:r>
                <a:rPr kumimoji="1" lang="en-US" altLang="zh-CN" sz="2000" b="1" dirty="0" smtClean="0">
                  <a:solidFill>
                    <a:srgbClr val="990000"/>
                  </a:solidFill>
                  <a:ea typeface="幼圆" pitchFamily="49" charset="-122"/>
                  <a:sym typeface="Symbol" pitchFamily="18" charset="2"/>
                </a:rPr>
                <a:t/>
              </a:r>
              <a:br>
                <a:rPr kumimoji="1" lang="en-US" altLang="zh-CN" sz="2000" b="1" dirty="0" smtClean="0">
                  <a:solidFill>
                    <a:srgbClr val="990000"/>
                  </a:solidFill>
                  <a:ea typeface="幼圆" pitchFamily="49" charset="-122"/>
                  <a:sym typeface="Symbol" pitchFamily="18" charset="2"/>
                </a:rPr>
              </a:br>
              <a:r>
                <a:rPr kumimoji="1" lang="zh-CN" altLang="en-US" sz="2000" b="1" dirty="0" smtClean="0">
                  <a:solidFill>
                    <a:srgbClr val="990000"/>
                  </a:solidFill>
                  <a:ea typeface="幼圆" pitchFamily="49" charset="-122"/>
                  <a:sym typeface="Symbol" pitchFamily="18" charset="2"/>
                </a:rPr>
                <a:t>缩</a:t>
              </a:r>
              <a:r>
                <a:rPr kumimoji="1" lang="zh-CN" altLang="en-US" sz="2000" b="1" dirty="0">
                  <a:solidFill>
                    <a:srgbClr val="990000"/>
                  </a:solidFill>
                  <a:ea typeface="幼圆" pitchFamily="49" charset="-122"/>
                  <a:sym typeface="Symbol" pitchFamily="18" charset="2"/>
                </a:rPr>
                <a:t>曲线</a:t>
              </a:r>
            </a:p>
          </p:txBody>
        </p:sp>
        <p:sp>
          <p:nvSpPr>
            <p:cNvPr id="1527840" name="Line 32"/>
            <p:cNvSpPr>
              <a:spLocks noChangeShapeType="1"/>
            </p:cNvSpPr>
            <p:nvPr/>
          </p:nvSpPr>
          <p:spPr bwMode="auto">
            <a:xfrm flipV="1">
              <a:off x="2020186" y="1549399"/>
              <a:ext cx="443614" cy="5558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27843" name="Line 35"/>
          <p:cNvSpPr>
            <a:spLocks noChangeShapeType="1"/>
          </p:cNvSpPr>
          <p:nvPr/>
        </p:nvSpPr>
        <p:spPr bwMode="auto">
          <a:xfrm>
            <a:off x="2202512" y="2158779"/>
            <a:ext cx="1313278" cy="2018297"/>
          </a:xfrm>
          <a:prstGeom prst="line">
            <a:avLst/>
          </a:prstGeom>
          <a:noFill/>
          <a:ln w="19050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0" name="Text Box 7"/>
          <p:cNvSpPr txBox="1">
            <a:spLocks noChangeArrowheads="1"/>
          </p:cNvSpPr>
          <p:nvPr/>
        </p:nvSpPr>
        <p:spPr bwMode="auto">
          <a:xfrm>
            <a:off x="-9526" y="0"/>
            <a:ext cx="5327250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维压缩性及其指标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原位压缩曲线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426268" y="1826165"/>
            <a:ext cx="450764" cy="3253199"/>
            <a:chOff x="1426268" y="1848726"/>
            <a:chExt cx="450764" cy="3253199"/>
          </a:xfrm>
        </p:grpSpPr>
        <p:sp>
          <p:nvSpPr>
            <p:cNvPr id="1527821" name="Line 13"/>
            <p:cNvSpPr>
              <a:spLocks noChangeShapeType="1"/>
            </p:cNvSpPr>
            <p:nvPr/>
          </p:nvSpPr>
          <p:spPr bwMode="auto">
            <a:xfrm>
              <a:off x="1672263" y="1848726"/>
              <a:ext cx="0" cy="284400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Text Box 321"/>
            <p:cNvSpPr txBox="1">
              <a:spLocks noChangeArrowheads="1"/>
            </p:cNvSpPr>
            <p:nvPr/>
          </p:nvSpPr>
          <p:spPr bwMode="auto">
            <a:xfrm>
              <a:off x="1426268" y="4640260"/>
              <a:ext cx="45076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000066"/>
                  </a:solidFill>
                  <a:sym typeface="Symbol"/>
                </a:rPr>
                <a:t>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</a:rPr>
                <a:t>s</a:t>
              </a:r>
              <a:endParaRPr lang="zh-CN" altLang="en-US" sz="2400" b="1" baseline="-25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673750" y="1891633"/>
            <a:ext cx="1102022" cy="523220"/>
            <a:chOff x="1673750" y="1891633"/>
            <a:chExt cx="1102022" cy="523220"/>
          </a:xfrm>
        </p:grpSpPr>
        <p:sp>
          <p:nvSpPr>
            <p:cNvPr id="1527842" name="Line 34"/>
            <p:cNvSpPr>
              <a:spLocks noChangeShapeType="1"/>
            </p:cNvSpPr>
            <p:nvPr/>
          </p:nvSpPr>
          <p:spPr bwMode="auto">
            <a:xfrm>
              <a:off x="1673750" y="2007704"/>
              <a:ext cx="528761" cy="159026"/>
            </a:xfrm>
            <a:prstGeom prst="line">
              <a:avLst/>
            </a:prstGeom>
            <a:noFill/>
            <a:ln w="19050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7844" name="Oval 36"/>
            <p:cNvSpPr>
              <a:spLocks noChangeArrowheads="1"/>
            </p:cNvSpPr>
            <p:nvPr/>
          </p:nvSpPr>
          <p:spPr bwMode="auto">
            <a:xfrm>
              <a:off x="2152846" y="2119721"/>
              <a:ext cx="93600" cy="936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000066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Text Box 321"/>
            <p:cNvSpPr txBox="1">
              <a:spLocks noChangeArrowheads="1"/>
            </p:cNvSpPr>
            <p:nvPr/>
          </p:nvSpPr>
          <p:spPr bwMode="auto">
            <a:xfrm>
              <a:off x="2352258" y="1891633"/>
              <a:ext cx="42351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 smtClean="0">
                  <a:solidFill>
                    <a:srgbClr val="A50021"/>
                  </a:solidFill>
                </a:rPr>
                <a:t>B</a:t>
              </a:r>
              <a:endParaRPr lang="zh-CN" altLang="en-US" sz="2800" b="1" dirty="0">
                <a:solidFill>
                  <a:srgbClr val="A50021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29614" y="3816303"/>
            <a:ext cx="3871457" cy="546998"/>
            <a:chOff x="129614" y="3816303"/>
            <a:chExt cx="3871457" cy="546998"/>
          </a:xfrm>
        </p:grpSpPr>
        <p:sp>
          <p:nvSpPr>
            <p:cNvPr id="1527834" name="Line 26"/>
            <p:cNvSpPr>
              <a:spLocks noChangeShapeType="1"/>
            </p:cNvSpPr>
            <p:nvPr/>
          </p:nvSpPr>
          <p:spPr bwMode="auto">
            <a:xfrm flipH="1">
              <a:off x="1075801" y="4158995"/>
              <a:ext cx="2419879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7845" name="Oval 37"/>
            <p:cNvSpPr>
              <a:spLocks noChangeArrowheads="1"/>
            </p:cNvSpPr>
            <p:nvPr/>
          </p:nvSpPr>
          <p:spPr bwMode="auto">
            <a:xfrm>
              <a:off x="3439477" y="4102772"/>
              <a:ext cx="93600" cy="936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000066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Text Box 321"/>
            <p:cNvSpPr txBox="1">
              <a:spLocks noChangeArrowheads="1"/>
            </p:cNvSpPr>
            <p:nvPr/>
          </p:nvSpPr>
          <p:spPr bwMode="auto">
            <a:xfrm>
              <a:off x="129614" y="3902291"/>
              <a:ext cx="962025" cy="46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000066"/>
                  </a:solidFill>
                </a:rPr>
                <a:t>0.42</a:t>
              </a:r>
              <a:r>
                <a:rPr lang="en-US" altLang="zh-CN" sz="2400" b="1" i="1" dirty="0" smtClean="0">
                  <a:solidFill>
                    <a:srgbClr val="000066"/>
                  </a:solidFill>
                </a:rPr>
                <a:t>e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</a:rPr>
                <a:t>0</a:t>
              </a:r>
              <a:endParaRPr lang="zh-CN" altLang="en-US" sz="2400" b="1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55" name="Text Box 321"/>
            <p:cNvSpPr txBox="1">
              <a:spLocks noChangeArrowheads="1"/>
            </p:cNvSpPr>
            <p:nvPr/>
          </p:nvSpPr>
          <p:spPr bwMode="auto">
            <a:xfrm>
              <a:off x="3556719" y="3816303"/>
              <a:ext cx="44435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 smtClean="0">
                  <a:solidFill>
                    <a:srgbClr val="A50021"/>
                  </a:solidFill>
                </a:rPr>
                <a:t>C</a:t>
              </a:r>
              <a:endParaRPr lang="zh-CN" altLang="en-US" sz="2800" b="1" dirty="0">
                <a:solidFill>
                  <a:srgbClr val="A50021"/>
                </a:solidFill>
              </a:endParaRPr>
            </a:p>
          </p:txBody>
        </p:sp>
      </p:grpSp>
      <p:sp>
        <p:nvSpPr>
          <p:cNvPr id="60" name="Text Box 321"/>
          <p:cNvSpPr txBox="1">
            <a:spLocks noChangeArrowheads="1"/>
          </p:cNvSpPr>
          <p:nvPr/>
        </p:nvSpPr>
        <p:spPr bwMode="auto">
          <a:xfrm>
            <a:off x="3205010" y="4683835"/>
            <a:ext cx="9048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>
                <a:solidFill>
                  <a:srgbClr val="000066"/>
                </a:solidFill>
              </a:rPr>
              <a:t>p</a:t>
            </a:r>
            <a:r>
              <a:rPr lang="en-US" altLang="zh-CN" sz="2800" b="1" dirty="0">
                <a:solidFill>
                  <a:srgbClr val="000066"/>
                </a:solidFill>
              </a:rPr>
              <a:t>(</a:t>
            </a:r>
            <a:r>
              <a:rPr lang="en-US" altLang="zh-CN" sz="2800" b="1" dirty="0" err="1">
                <a:solidFill>
                  <a:srgbClr val="000066"/>
                </a:solidFill>
              </a:rPr>
              <a:t>lg</a:t>
            </a:r>
            <a:r>
              <a:rPr lang="en-US" altLang="zh-CN" sz="2800" b="1" dirty="0">
                <a:solidFill>
                  <a:srgbClr val="000066"/>
                </a:solidFill>
              </a:rPr>
              <a:t>)</a:t>
            </a:r>
            <a:endParaRPr lang="zh-CN" altLang="en-US" sz="2800" b="1" dirty="0">
              <a:solidFill>
                <a:srgbClr val="000066"/>
              </a:solidFill>
            </a:endParaRPr>
          </a:p>
        </p:txBody>
      </p:sp>
      <p:sp>
        <p:nvSpPr>
          <p:cNvPr id="61" name="Freeform 322"/>
          <p:cNvSpPr>
            <a:spLocks/>
          </p:cNvSpPr>
          <p:nvPr/>
        </p:nvSpPr>
        <p:spPr bwMode="auto">
          <a:xfrm>
            <a:off x="1070164" y="1605488"/>
            <a:ext cx="2863883" cy="3070860"/>
          </a:xfrm>
          <a:custGeom>
            <a:avLst/>
            <a:gdLst>
              <a:gd name="T0" fmla="*/ 0 w 1267"/>
              <a:gd name="T1" fmla="*/ 0 h 1612"/>
              <a:gd name="T2" fmla="*/ 0 w 1267"/>
              <a:gd name="T3" fmla="*/ 1612 h 1612"/>
              <a:gd name="T4" fmla="*/ 1267 w 1267"/>
              <a:gd name="T5" fmla="*/ 1612 h 16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67" h="1612">
                <a:moveTo>
                  <a:pt x="0" y="0"/>
                </a:moveTo>
                <a:lnTo>
                  <a:pt x="0" y="1612"/>
                </a:lnTo>
                <a:lnTo>
                  <a:pt x="1267" y="1612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Text Box 321"/>
          <p:cNvSpPr txBox="1">
            <a:spLocks noChangeArrowheads="1"/>
          </p:cNvSpPr>
          <p:nvPr/>
        </p:nvSpPr>
        <p:spPr bwMode="auto">
          <a:xfrm>
            <a:off x="683760" y="1291163"/>
            <a:ext cx="350520" cy="539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 dirty="0" smtClean="0">
                <a:solidFill>
                  <a:srgbClr val="000066"/>
                </a:solidFill>
              </a:rPr>
              <a:t>e</a:t>
            </a:r>
            <a:endParaRPr lang="zh-CN" altLang="en-US" sz="2800" b="1" i="1" dirty="0">
              <a:solidFill>
                <a:srgbClr val="000066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18789" y="1520158"/>
            <a:ext cx="1533296" cy="682272"/>
            <a:chOff x="618789" y="1520158"/>
            <a:chExt cx="1533296" cy="682272"/>
          </a:xfrm>
        </p:grpSpPr>
        <p:sp>
          <p:nvSpPr>
            <p:cNvPr id="50" name="Text Box 321"/>
            <p:cNvSpPr txBox="1">
              <a:spLocks noChangeArrowheads="1"/>
            </p:cNvSpPr>
            <p:nvPr/>
          </p:nvSpPr>
          <p:spPr bwMode="auto">
            <a:xfrm>
              <a:off x="618789" y="1741420"/>
              <a:ext cx="422910" cy="46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000066"/>
                  </a:solidFill>
                </a:rPr>
                <a:t>e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</a:rPr>
                <a:t>0</a:t>
              </a:r>
              <a:endParaRPr lang="zh-CN" altLang="en-US" sz="2400" b="1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64" name="Text Box 321"/>
            <p:cNvSpPr txBox="1">
              <a:spLocks noChangeArrowheads="1"/>
            </p:cNvSpPr>
            <p:nvPr/>
          </p:nvSpPr>
          <p:spPr bwMode="auto">
            <a:xfrm>
              <a:off x="1707733" y="1520158"/>
              <a:ext cx="44435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>
                  <a:solidFill>
                    <a:srgbClr val="A50021"/>
                  </a:solidFill>
                </a:rPr>
                <a:t>D</a:t>
              </a:r>
              <a:endParaRPr lang="zh-CN" altLang="en-US" sz="2800" b="1" dirty="0">
                <a:solidFill>
                  <a:srgbClr val="A50021"/>
                </a:solidFill>
              </a:endParaRPr>
            </a:p>
          </p:txBody>
        </p:sp>
        <p:sp>
          <p:nvSpPr>
            <p:cNvPr id="65" name="Line 26"/>
            <p:cNvSpPr>
              <a:spLocks noChangeShapeType="1"/>
            </p:cNvSpPr>
            <p:nvPr/>
          </p:nvSpPr>
          <p:spPr bwMode="auto">
            <a:xfrm flipH="1">
              <a:off x="1082499" y="2005298"/>
              <a:ext cx="590552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7841" name="Oval 33"/>
            <p:cNvSpPr>
              <a:spLocks noChangeArrowheads="1"/>
            </p:cNvSpPr>
            <p:nvPr/>
          </p:nvSpPr>
          <p:spPr bwMode="auto">
            <a:xfrm>
              <a:off x="1625074" y="1958030"/>
              <a:ext cx="93600" cy="936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000066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7" name="Rectangle 28"/>
          <p:cNvSpPr>
            <a:spLocks noChangeArrowheads="1"/>
          </p:cNvSpPr>
          <p:nvPr/>
        </p:nvSpPr>
        <p:spPr bwMode="auto">
          <a:xfrm>
            <a:off x="4536499" y="1488084"/>
            <a:ext cx="4426756" cy="3773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61950" indent="-361950" ea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/>
              <a:tabLst>
                <a:tab pos="361950" algn="l"/>
              </a:tabLst>
            </a:pP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确定</a:t>
            </a:r>
            <a:r>
              <a:rPr kumimoji="1" lang="zh-CN" altLang="en-US" sz="23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3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3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3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kumimoji="1" lang="en-US" altLang="zh-CN" sz="23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3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的作用线</a:t>
            </a:r>
            <a:endParaRPr kumimoji="1" lang="en-US" altLang="zh-CN" sz="23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61950" indent="-361950" ea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/>
              <a:tabLst>
                <a:tab pos="361950" algn="l"/>
              </a:tabLst>
            </a:pP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因为</a:t>
            </a:r>
            <a:r>
              <a:rPr kumimoji="1" lang="zh-CN" altLang="en-US" sz="23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3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&gt;</a:t>
            </a:r>
            <a:r>
              <a:rPr kumimoji="1" lang="en-US" altLang="zh-CN" sz="23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3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zh-CN" altLang="en-US" sz="23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，点</a:t>
            </a:r>
            <a:r>
              <a:rPr kumimoji="1" lang="en-US" altLang="zh-CN" sz="23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D(</a:t>
            </a:r>
            <a:r>
              <a:rPr kumimoji="1" lang="en-US" altLang="zh-CN" sz="23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23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kumimoji="1" lang="en-US" altLang="zh-CN" sz="23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3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kumimoji="1" lang="en-US" altLang="zh-CN" sz="23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3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位于再压缩曲线上</a:t>
            </a:r>
          </a:p>
          <a:p>
            <a:pPr marL="361950" indent="-361950" ea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/>
              <a:tabLst>
                <a:tab pos="361950" algn="l"/>
              </a:tabLst>
            </a:pP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过</a:t>
            </a:r>
            <a:r>
              <a:rPr kumimoji="1" lang="en-US" altLang="zh-CN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D</a:t>
            </a: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点作斜率为</a:t>
            </a:r>
            <a:r>
              <a:rPr kumimoji="1" lang="en-US" altLang="zh-CN" sz="23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en-US" altLang="zh-CN" sz="23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的直线</a:t>
            </a:r>
            <a:r>
              <a:rPr kumimoji="1" lang="en-US" altLang="zh-CN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DB</a:t>
            </a: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en-US" altLang="zh-CN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DB</a:t>
            </a: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为原位再压缩曲线</a:t>
            </a:r>
            <a:endParaRPr kumimoji="1" lang="en-US" altLang="zh-CN" sz="23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61950" indent="-361950" ea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/>
              <a:tabLst>
                <a:tab pos="361950" algn="l"/>
              </a:tabLst>
            </a:pP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以0.42</a:t>
            </a:r>
            <a:r>
              <a:rPr kumimoji="1" lang="en-US" altLang="zh-CN" sz="23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23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在压缩曲线上确定</a:t>
            </a:r>
            <a:r>
              <a:rPr kumimoji="1" lang="en-US" altLang="zh-CN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点，</a:t>
            </a:r>
            <a:r>
              <a:rPr kumimoji="1" lang="en-US" altLang="zh-CN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BC</a:t>
            </a: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为原位初始压缩曲线</a:t>
            </a:r>
          </a:p>
          <a:p>
            <a:pPr marL="361950" indent="-361950" ea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A50021"/>
              </a:buClr>
              <a:buSzPct val="100000"/>
              <a:buFont typeface="+mj-lt"/>
              <a:buAutoNum type="arabicPeriod"/>
              <a:tabLst>
                <a:tab pos="361950" algn="l"/>
              </a:tabLst>
            </a:pPr>
            <a:r>
              <a:rPr kumimoji="1" lang="en-US" altLang="zh-CN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DBC</a:t>
            </a:r>
            <a:r>
              <a:rPr kumimoji="1" lang="zh-CN" altLang="en-US" sz="23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即为所求的原位再压缩和压缩曲线</a:t>
            </a:r>
          </a:p>
        </p:txBody>
      </p:sp>
      <p:sp>
        <p:nvSpPr>
          <p:cNvPr id="75" name="Text Box 52"/>
          <p:cNvSpPr txBox="1">
            <a:spLocks noChangeArrowheads="1"/>
          </p:cNvSpPr>
          <p:nvPr/>
        </p:nvSpPr>
        <p:spPr bwMode="auto">
          <a:xfrm>
            <a:off x="1344613" y="2478090"/>
            <a:ext cx="6111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b="1" i="1" dirty="0" err="1">
                <a:solidFill>
                  <a:srgbClr val="000000"/>
                </a:solidFill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en-US" altLang="zh-CN" sz="1800" b="1" baseline="-25000" dirty="0" err="1">
                <a:solidFill>
                  <a:srgbClr val="000000"/>
                </a:solidFill>
                <a:cs typeface="Times New Roman" panose="02020603050405020304" pitchFamily="18" charset="0"/>
                <a:sym typeface="Symbol" pitchFamily="18" charset="2"/>
              </a:rPr>
              <a:t>e</a:t>
            </a:r>
            <a:endParaRPr kumimoji="1" lang="en-US" altLang="zh-CN" sz="1800" b="1" baseline="-25000" dirty="0">
              <a:solidFill>
                <a:srgbClr val="000000"/>
              </a:solidFill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78" name="Text Box 51"/>
          <p:cNvSpPr txBox="1">
            <a:spLocks noChangeArrowheads="1"/>
          </p:cNvSpPr>
          <p:nvPr/>
        </p:nvSpPr>
        <p:spPr bwMode="auto">
          <a:xfrm>
            <a:off x="1115778" y="2376139"/>
            <a:ext cx="3000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b="1" dirty="0">
                <a:solidFill>
                  <a:srgbClr val="000000"/>
                </a:solidFill>
                <a:cs typeface="Times New Roman" panose="02020603050405020304" pitchFamily="18" charset="0"/>
                <a:sym typeface="Symbol" pitchFamily="18" charset="2"/>
              </a:rPr>
              <a:t>1</a:t>
            </a:r>
          </a:p>
        </p:txBody>
      </p:sp>
      <p:sp>
        <p:nvSpPr>
          <p:cNvPr id="11" name="任意多边形 10"/>
          <p:cNvSpPr/>
          <p:nvPr/>
        </p:nvSpPr>
        <p:spPr bwMode="auto">
          <a:xfrm>
            <a:off x="1138793" y="2703931"/>
            <a:ext cx="272076" cy="89757"/>
          </a:xfrm>
          <a:custGeom>
            <a:avLst/>
            <a:gdLst>
              <a:gd name="connsiteX0" fmla="*/ 0 w 272076"/>
              <a:gd name="connsiteY0" fmla="*/ 0 h 89757"/>
              <a:gd name="connsiteX1" fmla="*/ 272076 w 272076"/>
              <a:gd name="connsiteY1" fmla="*/ 0 h 89757"/>
              <a:gd name="connsiteX2" fmla="*/ 272076 w 272076"/>
              <a:gd name="connsiteY2" fmla="*/ 89757 h 89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076" h="89757">
                <a:moveTo>
                  <a:pt x="0" y="0"/>
                </a:moveTo>
                <a:lnTo>
                  <a:pt x="272076" y="0"/>
                </a:lnTo>
                <a:lnTo>
                  <a:pt x="272076" y="89757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2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7843" grpId="0" animBg="1"/>
      <p:bldP spid="67" grpId="0" uiExpand="1" build="p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835" name="Rectangle 3"/>
          <p:cNvSpPr>
            <a:spLocks noChangeArrowheads="1"/>
          </p:cNvSpPr>
          <p:nvPr/>
        </p:nvSpPr>
        <p:spPr bwMode="auto">
          <a:xfrm>
            <a:off x="2308225" y="5661868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小    结</a:t>
            </a:r>
          </a:p>
        </p:txBody>
      </p:sp>
      <p:sp>
        <p:nvSpPr>
          <p:cNvPr id="1528836" name="Rectangle 4"/>
          <p:cNvSpPr>
            <a:spLocks noChangeArrowheads="1"/>
          </p:cNvSpPr>
          <p:nvPr/>
        </p:nvSpPr>
        <p:spPr bwMode="auto">
          <a:xfrm>
            <a:off x="695325" y="1371600"/>
            <a:ext cx="6499225" cy="359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25475" indent="-625475"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en-US" altLang="zh-CN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3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</a:t>
            </a:r>
            <a:r>
              <a:rPr kumimoji="1" lang="en-US" altLang="zh-CN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- </a:t>
            </a:r>
            <a:r>
              <a:rPr kumimoji="1" lang="en-US" altLang="zh-CN" sz="3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kumimoji="1" lang="en-US" altLang="zh-CN" sz="3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625475" indent="-625475"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en-US" altLang="zh-CN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3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kumimoji="1" lang="en-US" altLang="zh-CN" sz="3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 </a:t>
            </a:r>
            <a:r>
              <a:rPr kumimoji="1" lang="zh-CN" altLang="en-US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kumimoji="1" lang="zh-CN" altLang="en-US" sz="3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625475" indent="-625475"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en-US" altLang="zh-CN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3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– </a:t>
            </a:r>
            <a:r>
              <a:rPr kumimoji="1" lang="en-US" altLang="zh-CN" sz="3000" b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lg</a:t>
            </a:r>
            <a:r>
              <a:rPr kumimoji="1" lang="en-US" altLang="zh-CN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3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 </a:t>
            </a:r>
            <a:r>
              <a:rPr kumimoji="1" lang="zh-CN" altLang="en-US" sz="3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kumimoji="1" lang="zh-CN" altLang="en-US" sz="3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625475" indent="-625475"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先期固结压力</a:t>
            </a:r>
          </a:p>
          <a:p>
            <a:pPr marL="625475" indent="-625475"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3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原位压缩曲线及原位再压缩曲线</a:t>
            </a:r>
          </a:p>
        </p:txBody>
      </p:sp>
      <p:sp>
        <p:nvSpPr>
          <p:cNvPr id="1528837" name="AutoShape 5"/>
          <p:cNvSpPr>
            <a:spLocks/>
          </p:cNvSpPr>
          <p:nvPr/>
        </p:nvSpPr>
        <p:spPr bwMode="auto">
          <a:xfrm>
            <a:off x="5713413" y="1690688"/>
            <a:ext cx="258762" cy="1595437"/>
          </a:xfrm>
          <a:prstGeom prst="rightBrace">
            <a:avLst>
              <a:gd name="adj1" fmla="val 51380"/>
              <a:gd name="adj2" fmla="val 50000"/>
            </a:avLst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8838" name="Text Box 6"/>
          <p:cNvSpPr txBox="1">
            <a:spLocks noChangeArrowheads="1"/>
          </p:cNvSpPr>
          <p:nvPr/>
        </p:nvSpPr>
        <p:spPr bwMode="auto">
          <a:xfrm>
            <a:off x="6235700" y="1616075"/>
            <a:ext cx="25146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66"/>
                </a:solidFill>
                <a:ea typeface="幼圆" pitchFamily="49" charset="-122"/>
              </a:rPr>
              <a:t>由侧限压缩试验整理得到的三条常用曲线</a:t>
            </a: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58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§4.3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维压缩性及其指标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28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28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28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528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528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528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528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28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28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28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52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152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8836" grpId="0" build="p" advAuto="500"/>
      <p:bldP spid="1528837" grpId="0" animBg="1"/>
      <p:bldP spid="152883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280" name="Text Box 8"/>
          <p:cNvSpPr txBox="1">
            <a:spLocks noChangeArrowheads="1"/>
          </p:cNvSpPr>
          <p:nvPr/>
        </p:nvSpPr>
        <p:spPr bwMode="auto">
          <a:xfrm>
            <a:off x="1814513" y="2249488"/>
            <a:ext cx="6059487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6096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§4.1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概述 </a:t>
            </a:r>
            <a:r>
              <a:rPr lang="zh-CN" altLang="en-US" sz="3200" b="1" dirty="0">
                <a:solidFill>
                  <a:schemeClr val="tx2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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§4.2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土的压缩性测试方法 </a:t>
            </a:r>
            <a:r>
              <a:rPr lang="zh-CN" altLang="en-US" sz="3200" b="1" dirty="0">
                <a:solidFill>
                  <a:schemeClr val="tx2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</a:t>
            </a:r>
            <a:endParaRPr lang="zh-CN" altLang="en-US" sz="3200" b="1" dirty="0">
              <a:solidFill>
                <a:schemeClr val="tx2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§4.3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一维压缩性及其指标 </a:t>
            </a:r>
            <a:r>
              <a:rPr lang="zh-CN" altLang="en-US" sz="3200" b="1" dirty="0">
                <a:solidFill>
                  <a:schemeClr val="tx2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</a:t>
            </a:r>
            <a:endParaRPr lang="zh-CN" altLang="en-US" sz="3200" b="1" dirty="0">
              <a:solidFill>
                <a:schemeClr val="tx2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§4.4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地基的最终沉降量计算</a:t>
            </a:r>
          </a:p>
          <a:p>
            <a:pPr>
              <a:lnSpc>
                <a:spcPct val="125000"/>
              </a:lnSpc>
            </a:pPr>
            <a:r>
              <a:rPr lang="en-US" altLang="zh-CN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§4.5  </a:t>
            </a:r>
            <a:r>
              <a:rPr lang="zh-CN" altLang="en-US" sz="3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饱和土体的渗流固结理论</a:t>
            </a:r>
          </a:p>
        </p:txBody>
      </p:sp>
      <p:sp>
        <p:nvSpPr>
          <p:cNvPr id="1462281" name="Text Box 9"/>
          <p:cNvSpPr txBox="1">
            <a:spLocks noChangeArrowheads="1"/>
          </p:cNvSpPr>
          <p:nvPr/>
        </p:nvSpPr>
        <p:spPr bwMode="auto">
          <a:xfrm>
            <a:off x="858838" y="1030288"/>
            <a:ext cx="77771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第四章：</a:t>
            </a: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土的压缩性与地基沉降计算</a:t>
            </a:r>
            <a:endParaRPr kumimoji="0"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62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62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62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62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462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462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462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462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462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462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9859" name="Group 3"/>
          <p:cNvGrpSpPr>
            <a:grpSpLocks/>
          </p:cNvGrpSpPr>
          <p:nvPr/>
        </p:nvGrpSpPr>
        <p:grpSpPr bwMode="auto">
          <a:xfrm>
            <a:off x="4838700" y="742945"/>
            <a:ext cx="3997325" cy="3203569"/>
            <a:chOff x="3048" y="468"/>
            <a:chExt cx="2518" cy="2018"/>
          </a:xfrm>
        </p:grpSpPr>
        <p:sp>
          <p:nvSpPr>
            <p:cNvPr id="1529860" name="Rectangle 4"/>
            <p:cNvSpPr>
              <a:spLocks noChangeArrowheads="1"/>
            </p:cNvSpPr>
            <p:nvPr/>
          </p:nvSpPr>
          <p:spPr bwMode="auto">
            <a:xfrm>
              <a:off x="3048" y="543"/>
              <a:ext cx="2518" cy="19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1529861" name="Group 5"/>
            <p:cNvGrpSpPr>
              <a:grpSpLocks/>
            </p:cNvGrpSpPr>
            <p:nvPr/>
          </p:nvGrpSpPr>
          <p:grpSpPr bwMode="auto">
            <a:xfrm>
              <a:off x="3195" y="468"/>
              <a:ext cx="2337" cy="1862"/>
              <a:chOff x="3195" y="468"/>
              <a:chExt cx="2337" cy="1862"/>
            </a:xfrm>
          </p:grpSpPr>
          <p:sp>
            <p:nvSpPr>
              <p:cNvPr id="1529862" name="Text Box 6"/>
              <p:cNvSpPr txBox="1">
                <a:spLocks noChangeAspect="1" noChangeArrowheads="1"/>
              </p:cNvSpPr>
              <p:nvPr/>
            </p:nvSpPr>
            <p:spPr bwMode="auto">
              <a:xfrm>
                <a:off x="5325" y="468"/>
                <a:ext cx="20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 i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1529863" name="Text Box 7"/>
              <p:cNvSpPr txBox="1">
                <a:spLocks noChangeAspect="1" noChangeArrowheads="1"/>
              </p:cNvSpPr>
              <p:nvPr/>
            </p:nvSpPr>
            <p:spPr bwMode="auto">
              <a:xfrm>
                <a:off x="3242" y="2029"/>
                <a:ext cx="2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 i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529864" name="Freeform 8"/>
              <p:cNvSpPr>
                <a:spLocks noChangeAspect="1"/>
              </p:cNvSpPr>
              <p:nvPr/>
            </p:nvSpPr>
            <p:spPr bwMode="auto">
              <a:xfrm>
                <a:off x="3200" y="755"/>
                <a:ext cx="2197" cy="1117"/>
              </a:xfrm>
              <a:custGeom>
                <a:avLst/>
                <a:gdLst>
                  <a:gd name="T0" fmla="*/ 0 w 2197"/>
                  <a:gd name="T1" fmla="*/ 0 h 1117"/>
                  <a:gd name="T2" fmla="*/ 10 w 2197"/>
                  <a:gd name="T3" fmla="*/ 139 h 1117"/>
                  <a:gd name="T4" fmla="*/ 16 w 2197"/>
                  <a:gd name="T5" fmla="*/ 208 h 1117"/>
                  <a:gd name="T6" fmla="*/ 29 w 2197"/>
                  <a:gd name="T7" fmla="*/ 289 h 1117"/>
                  <a:gd name="T8" fmla="*/ 52 w 2197"/>
                  <a:gd name="T9" fmla="*/ 400 h 1117"/>
                  <a:gd name="T10" fmla="*/ 79 w 2197"/>
                  <a:gd name="T11" fmla="*/ 489 h 1117"/>
                  <a:gd name="T12" fmla="*/ 130 w 2197"/>
                  <a:gd name="T13" fmla="*/ 591 h 1117"/>
                  <a:gd name="T14" fmla="*/ 266 w 2197"/>
                  <a:gd name="T15" fmla="*/ 752 h 1117"/>
                  <a:gd name="T16" fmla="*/ 553 w 2197"/>
                  <a:gd name="T17" fmla="*/ 919 h 1117"/>
                  <a:gd name="T18" fmla="*/ 991 w 2197"/>
                  <a:gd name="T19" fmla="*/ 1015 h 1117"/>
                  <a:gd name="T20" fmla="*/ 1599 w 2197"/>
                  <a:gd name="T21" fmla="*/ 1081 h 1117"/>
                  <a:gd name="T22" fmla="*/ 2197 w 2197"/>
                  <a:gd name="T23" fmla="*/ 1117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97" h="1117">
                    <a:moveTo>
                      <a:pt x="0" y="0"/>
                    </a:moveTo>
                    <a:cubicBezTo>
                      <a:pt x="1" y="23"/>
                      <a:pt x="8" y="104"/>
                      <a:pt x="10" y="139"/>
                    </a:cubicBezTo>
                    <a:cubicBezTo>
                      <a:pt x="12" y="173"/>
                      <a:pt x="13" y="183"/>
                      <a:pt x="16" y="208"/>
                    </a:cubicBezTo>
                    <a:cubicBezTo>
                      <a:pt x="19" y="233"/>
                      <a:pt x="23" y="258"/>
                      <a:pt x="29" y="289"/>
                    </a:cubicBezTo>
                    <a:cubicBezTo>
                      <a:pt x="35" y="321"/>
                      <a:pt x="44" y="367"/>
                      <a:pt x="52" y="400"/>
                    </a:cubicBezTo>
                    <a:cubicBezTo>
                      <a:pt x="60" y="433"/>
                      <a:pt x="66" y="458"/>
                      <a:pt x="79" y="489"/>
                    </a:cubicBezTo>
                    <a:cubicBezTo>
                      <a:pt x="92" y="521"/>
                      <a:pt x="99" y="547"/>
                      <a:pt x="130" y="591"/>
                    </a:cubicBezTo>
                    <a:cubicBezTo>
                      <a:pt x="161" y="635"/>
                      <a:pt x="196" y="697"/>
                      <a:pt x="266" y="752"/>
                    </a:cubicBezTo>
                    <a:cubicBezTo>
                      <a:pt x="336" y="807"/>
                      <a:pt x="432" y="875"/>
                      <a:pt x="553" y="919"/>
                    </a:cubicBezTo>
                    <a:cubicBezTo>
                      <a:pt x="674" y="963"/>
                      <a:pt x="817" y="988"/>
                      <a:pt x="991" y="1015"/>
                    </a:cubicBezTo>
                    <a:cubicBezTo>
                      <a:pt x="1166" y="1042"/>
                      <a:pt x="1399" y="1064"/>
                      <a:pt x="1599" y="1081"/>
                    </a:cubicBezTo>
                    <a:cubicBezTo>
                      <a:pt x="1800" y="1099"/>
                      <a:pt x="2073" y="1110"/>
                      <a:pt x="2197" y="1117"/>
                    </a:cubicBezTo>
                  </a:path>
                </a:pathLst>
              </a:custGeom>
              <a:noFill/>
              <a:ln w="19050" cap="flat" cmpd="sng">
                <a:solidFill>
                  <a:srgbClr val="A5002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529865" name="Group 9"/>
              <p:cNvGrpSpPr>
                <a:grpSpLocks/>
              </p:cNvGrpSpPr>
              <p:nvPr/>
            </p:nvGrpSpPr>
            <p:grpSpPr bwMode="auto">
              <a:xfrm>
                <a:off x="3195" y="755"/>
                <a:ext cx="2266" cy="1575"/>
                <a:chOff x="2777" y="684"/>
                <a:chExt cx="2831" cy="1431"/>
              </a:xfrm>
            </p:grpSpPr>
            <p:sp>
              <p:nvSpPr>
                <p:cNvPr id="1529866" name="Freeform 10"/>
                <p:cNvSpPr>
                  <a:spLocks noChangeAspect="1"/>
                </p:cNvSpPr>
                <p:nvPr/>
              </p:nvSpPr>
              <p:spPr bwMode="auto">
                <a:xfrm>
                  <a:off x="2781" y="684"/>
                  <a:ext cx="2" cy="1431"/>
                </a:xfrm>
                <a:custGeom>
                  <a:avLst/>
                  <a:gdLst>
                    <a:gd name="T0" fmla="*/ 2 w 2"/>
                    <a:gd name="T1" fmla="*/ 0 h 1431"/>
                    <a:gd name="T2" fmla="*/ 0 w 2"/>
                    <a:gd name="T3" fmla="*/ 1431 h 1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431">
                      <a:moveTo>
                        <a:pt x="2" y="0"/>
                      </a:moveTo>
                      <a:lnTo>
                        <a:pt x="0" y="1431"/>
                      </a:lnTo>
                    </a:path>
                  </a:pathLst>
                </a:custGeom>
                <a:noFill/>
                <a:ln w="19050" cmpd="sng">
                  <a:solidFill>
                    <a:srgbClr val="000066"/>
                  </a:solidFill>
                  <a:miter lim="800000"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29867" name="Line 11"/>
                <p:cNvSpPr>
                  <a:spLocks noChangeAspect="1" noChangeShapeType="1"/>
                </p:cNvSpPr>
                <p:nvPr/>
              </p:nvSpPr>
              <p:spPr bwMode="auto">
                <a:xfrm>
                  <a:off x="2777" y="690"/>
                  <a:ext cx="2831" cy="0"/>
                </a:xfrm>
                <a:prstGeom prst="line">
                  <a:avLst/>
                </a:prstGeom>
                <a:noFill/>
                <a:ln w="19050">
                  <a:solidFill>
                    <a:srgbClr val="000066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1529868" name="Rectangle 12"/>
          <p:cNvSpPr>
            <a:spLocks noChangeArrowheads="1"/>
          </p:cNvSpPr>
          <p:nvPr/>
        </p:nvSpPr>
        <p:spPr bwMode="auto">
          <a:xfrm>
            <a:off x="318908" y="616424"/>
            <a:ext cx="4322762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65125" indent="-36512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粘性土地基的沉降量</a:t>
            </a:r>
            <a:r>
              <a:rPr kumimoji="1" lang="en-US" altLang="zh-CN" sz="24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由机理不同的三部分沉降组成：</a:t>
            </a:r>
          </a:p>
        </p:txBody>
      </p:sp>
      <p:sp>
        <p:nvSpPr>
          <p:cNvPr id="1529869" name="Rectangle 13"/>
          <p:cNvSpPr>
            <a:spLocks noChangeArrowheads="1"/>
          </p:cNvSpPr>
          <p:nvPr/>
        </p:nvSpPr>
        <p:spPr bwMode="auto">
          <a:xfrm>
            <a:off x="482420" y="1705449"/>
            <a:ext cx="426402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441325" indent="-441325" eaLnBrk="0" hangingPunct="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初始瞬时沉降</a:t>
            </a:r>
            <a:r>
              <a:rPr kumimoji="1" lang="en-US" altLang="zh-CN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en-US" altLang="zh-CN" sz="2400" b="1" i="1" dirty="0" err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S</a:t>
            </a:r>
            <a:r>
              <a:rPr kumimoji="1" lang="en-US" altLang="zh-CN" sz="2400" b="1" baseline="-25000" dirty="0" err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d</a:t>
            </a:r>
            <a:r>
              <a:rPr kumimoji="1" lang="en-US" altLang="zh-CN" sz="2400" b="1" baseline="-25000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在不排水条件下，由剪应变引起侧向变形导致</a:t>
            </a:r>
          </a:p>
          <a:p>
            <a:pPr marL="441325" indent="-441325" eaLnBrk="0" hangingPunct="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主固结沉降</a:t>
            </a:r>
            <a:r>
              <a:rPr kumimoji="1" lang="en-US" altLang="zh-CN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en-US" altLang="zh-CN" sz="2400" b="1" i="1" dirty="0" err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S</a:t>
            </a:r>
            <a:r>
              <a:rPr kumimoji="1" lang="en-US" altLang="zh-CN" sz="2400" b="1" baseline="-25000" dirty="0" err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c</a:t>
            </a:r>
            <a:r>
              <a:rPr kumimoji="1" lang="en-US" altLang="zh-CN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由超静孔压消散导致的沉降，通常是地基变形的主要部分</a:t>
            </a:r>
          </a:p>
          <a:p>
            <a:pPr marL="441325" indent="-441325" eaLnBrk="0" hangingPunct="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次固结沉降  </a:t>
            </a:r>
            <a:r>
              <a:rPr kumimoji="1" lang="en-US" altLang="zh-CN" sz="2400" b="1" i="1" dirty="0" err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S</a:t>
            </a:r>
            <a:r>
              <a:rPr kumimoji="1" lang="en-US" altLang="zh-CN" sz="2400" b="1" baseline="-25000" dirty="0" err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s</a:t>
            </a:r>
            <a:r>
              <a:rPr kumimoji="1" lang="en-US" altLang="zh-CN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由于土骨架的蠕变特性引起的变形</a:t>
            </a:r>
          </a:p>
        </p:txBody>
      </p:sp>
      <p:graphicFrame>
        <p:nvGraphicFramePr>
          <p:cNvPr id="15298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046116"/>
              </p:ext>
            </p:extLst>
          </p:nvPr>
        </p:nvGraphicFramePr>
        <p:xfrm>
          <a:off x="6149975" y="4999038"/>
          <a:ext cx="28606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9954" name="Microsoft 公式 3.0" r:id="rId3" imgW="1041120" imgH="228600" progId="Equation.3">
                  <p:embed/>
                </p:oleObj>
              </mc:Choice>
              <mc:Fallback>
                <p:oleObj name="Microsoft 公式 3.0" r:id="rId3" imgW="1041120" imgH="228600" progId="Equation.3">
                  <p:embed/>
                  <p:pic>
                    <p:nvPicPr>
                      <p:cNvPr id="0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9975" y="4999038"/>
                        <a:ext cx="286067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33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9871" name="Rectangle 15"/>
          <p:cNvSpPr>
            <a:spLocks noChangeArrowheads="1"/>
          </p:cNvSpPr>
          <p:nvPr/>
        </p:nvSpPr>
        <p:spPr bwMode="auto">
          <a:xfrm>
            <a:off x="2646363" y="5872163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黏性土地基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的沉降类型</a:t>
            </a:r>
          </a:p>
        </p:txBody>
      </p:sp>
      <p:grpSp>
        <p:nvGrpSpPr>
          <p:cNvPr id="1529872" name="Group 16"/>
          <p:cNvGrpSpPr>
            <a:grpSpLocks/>
          </p:cNvGrpSpPr>
          <p:nvPr/>
        </p:nvGrpSpPr>
        <p:grpSpPr bwMode="auto">
          <a:xfrm>
            <a:off x="5094288" y="1204914"/>
            <a:ext cx="3255962" cy="457201"/>
            <a:chOff x="3209" y="759"/>
            <a:chExt cx="2051" cy="288"/>
          </a:xfrm>
        </p:grpSpPr>
        <p:sp>
          <p:nvSpPr>
            <p:cNvPr id="1529873" name="Line 17"/>
            <p:cNvSpPr>
              <a:spLocks noChangeAspect="1" noChangeShapeType="1"/>
            </p:cNvSpPr>
            <p:nvPr/>
          </p:nvSpPr>
          <p:spPr bwMode="auto">
            <a:xfrm>
              <a:off x="3209" y="1047"/>
              <a:ext cx="205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29874" name="Line 18"/>
            <p:cNvSpPr>
              <a:spLocks noChangeAspect="1" noChangeShapeType="1"/>
            </p:cNvSpPr>
            <p:nvPr/>
          </p:nvSpPr>
          <p:spPr bwMode="auto">
            <a:xfrm>
              <a:off x="4862" y="759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29875" name="Text Box 19"/>
            <p:cNvSpPr txBox="1">
              <a:spLocks noChangeAspect="1" noChangeArrowheads="1"/>
            </p:cNvSpPr>
            <p:nvPr/>
          </p:nvSpPr>
          <p:spPr bwMode="auto">
            <a:xfrm>
              <a:off x="3531" y="794"/>
              <a:ext cx="13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1800" b="1" i="1" dirty="0" err="1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1800" b="1" baseline="-25000" dirty="0" err="1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1800" b="1" baseline="-25000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18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：初始瞬时沉降</a:t>
              </a:r>
              <a:endParaRPr kumimoji="1" lang="zh-CN" altLang="en-US" sz="1800" b="1" baseline="-25000" dirty="0">
                <a:solidFill>
                  <a:srgbClr val="800000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29876" name="Group 20"/>
          <p:cNvGrpSpPr>
            <a:grpSpLocks/>
          </p:cNvGrpSpPr>
          <p:nvPr/>
        </p:nvGrpSpPr>
        <p:grpSpPr bwMode="auto">
          <a:xfrm>
            <a:off x="6832600" y="2809875"/>
            <a:ext cx="1885950" cy="850900"/>
            <a:chOff x="4304" y="1770"/>
            <a:chExt cx="1188" cy="536"/>
          </a:xfrm>
        </p:grpSpPr>
        <p:sp>
          <p:nvSpPr>
            <p:cNvPr id="1529877" name="Line 21"/>
            <p:cNvSpPr>
              <a:spLocks noChangeAspect="1" noChangeShapeType="1"/>
            </p:cNvSpPr>
            <p:nvPr/>
          </p:nvSpPr>
          <p:spPr bwMode="auto">
            <a:xfrm>
              <a:off x="5251" y="1770"/>
              <a:ext cx="0" cy="2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29878" name="AutoShape 22"/>
            <p:cNvSpPr>
              <a:spLocks noChangeAspect="1" noChangeArrowheads="1"/>
            </p:cNvSpPr>
            <p:nvPr/>
          </p:nvSpPr>
          <p:spPr bwMode="auto">
            <a:xfrm>
              <a:off x="4304" y="2038"/>
              <a:ext cx="1188" cy="268"/>
            </a:xfrm>
            <a:prstGeom prst="wedgeRectCallout">
              <a:avLst>
                <a:gd name="adj1" fmla="val 19727"/>
                <a:gd name="adj2" fmla="val -64551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b="1" i="1" dirty="0" err="1">
                  <a:solidFill>
                    <a:srgbClr val="800000"/>
                  </a:solidFill>
                  <a:cs typeface="Times New Roman" panose="02020603050405020304" pitchFamily="18" charset="0"/>
                </a:rPr>
                <a:t>S</a:t>
              </a:r>
              <a:r>
                <a:rPr kumimoji="1" lang="en-US" altLang="zh-CN" sz="1800" b="1" baseline="-25000" dirty="0" err="1">
                  <a:solidFill>
                    <a:srgbClr val="800000"/>
                  </a:solidFill>
                  <a:cs typeface="Times New Roman" panose="02020603050405020304" pitchFamily="18" charset="0"/>
                </a:rPr>
                <a:t>s</a:t>
              </a:r>
              <a:r>
                <a:rPr kumimoji="1" lang="en-US" altLang="zh-CN" sz="1800" b="1" dirty="0">
                  <a:solidFill>
                    <a:srgbClr val="800000"/>
                  </a:solidFill>
                  <a:latin typeface="幼圆" panose="02010509060101010101" pitchFamily="49" charset="-122"/>
                  <a:ea typeface="幼圆" panose="02010509060101010101" pitchFamily="49" charset="-122"/>
                  <a:cs typeface="Times New Roman" panose="02020603050405020304" pitchFamily="18" charset="0"/>
                </a:rPr>
                <a:t>: </a:t>
              </a:r>
              <a:r>
                <a:rPr kumimoji="1" lang="zh-CN" altLang="en-US" sz="1800" b="1" dirty="0">
                  <a:solidFill>
                    <a:srgbClr val="800000"/>
                  </a:solidFill>
                  <a:latin typeface="幼圆" panose="02010509060101010101" pitchFamily="49" charset="-122"/>
                  <a:ea typeface="幼圆" panose="02010509060101010101" pitchFamily="49" charset="-122"/>
                  <a:cs typeface="Times New Roman" panose="02020603050405020304" pitchFamily="18" charset="0"/>
                </a:rPr>
                <a:t>次固结沉降</a:t>
              </a:r>
            </a:p>
          </p:txBody>
        </p:sp>
      </p:grpSp>
      <p:grpSp>
        <p:nvGrpSpPr>
          <p:cNvPr id="1529879" name="Group 23"/>
          <p:cNvGrpSpPr>
            <a:grpSpLocks/>
          </p:cNvGrpSpPr>
          <p:nvPr/>
        </p:nvGrpSpPr>
        <p:grpSpPr bwMode="auto">
          <a:xfrm>
            <a:off x="5870575" y="1651000"/>
            <a:ext cx="2574925" cy="1158875"/>
            <a:chOff x="3698" y="1040"/>
            <a:chExt cx="1622" cy="730"/>
          </a:xfrm>
        </p:grpSpPr>
        <p:sp>
          <p:nvSpPr>
            <p:cNvPr id="1529880" name="Line 24"/>
            <p:cNvSpPr>
              <a:spLocks noChangeAspect="1" noChangeShapeType="1"/>
            </p:cNvSpPr>
            <p:nvPr/>
          </p:nvSpPr>
          <p:spPr bwMode="auto">
            <a:xfrm>
              <a:off x="4191" y="1770"/>
              <a:ext cx="112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29881" name="Line 25"/>
            <p:cNvSpPr>
              <a:spLocks noChangeAspect="1" noChangeShapeType="1"/>
            </p:cNvSpPr>
            <p:nvPr/>
          </p:nvSpPr>
          <p:spPr bwMode="auto">
            <a:xfrm>
              <a:off x="4864" y="1040"/>
              <a:ext cx="0" cy="7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29882" name="AutoShape 26"/>
            <p:cNvSpPr>
              <a:spLocks noChangeAspect="1" noChangeArrowheads="1"/>
            </p:cNvSpPr>
            <p:nvPr/>
          </p:nvSpPr>
          <p:spPr bwMode="auto">
            <a:xfrm>
              <a:off x="3698" y="1270"/>
              <a:ext cx="1148" cy="299"/>
            </a:xfrm>
            <a:prstGeom prst="wedgeRectCallout">
              <a:avLst>
                <a:gd name="adj1" fmla="val 69861"/>
                <a:gd name="adj2" fmla="val 3494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b="1" i="1" dirty="0" err="1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1800" b="1" baseline="-25000" dirty="0" err="1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c</a:t>
              </a:r>
              <a:r>
                <a:rPr kumimoji="1" lang="zh-CN" altLang="en-US" sz="18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：主固结沉降</a:t>
              </a:r>
            </a:p>
          </p:txBody>
        </p:sp>
      </p:grpSp>
      <p:grpSp>
        <p:nvGrpSpPr>
          <p:cNvPr id="1529883" name="Group 27"/>
          <p:cNvGrpSpPr>
            <a:grpSpLocks/>
          </p:cNvGrpSpPr>
          <p:nvPr/>
        </p:nvGrpSpPr>
        <p:grpSpPr bwMode="auto">
          <a:xfrm>
            <a:off x="5151438" y="4325938"/>
            <a:ext cx="2352675" cy="565150"/>
            <a:chOff x="3245" y="2725"/>
            <a:chExt cx="1482" cy="356"/>
          </a:xfrm>
        </p:grpSpPr>
        <p:sp>
          <p:nvSpPr>
            <p:cNvPr id="1529884" name="AutoShape 28"/>
            <p:cNvSpPr>
              <a:spLocks noChangeArrowheads="1"/>
            </p:cNvSpPr>
            <p:nvPr/>
          </p:nvSpPr>
          <p:spPr bwMode="auto">
            <a:xfrm>
              <a:off x="3245" y="2725"/>
              <a:ext cx="489" cy="356"/>
            </a:xfrm>
            <a:prstGeom prst="homePlate">
              <a:avLst>
                <a:gd name="adj" fmla="val 36801"/>
              </a:avLst>
            </a:prstGeom>
            <a:solidFill>
              <a:srgbClr val="FF99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29885" name="Text Box 29"/>
            <p:cNvSpPr txBox="1">
              <a:spLocks noChangeArrowheads="1"/>
            </p:cNvSpPr>
            <p:nvPr/>
          </p:nvSpPr>
          <p:spPr bwMode="auto">
            <a:xfrm>
              <a:off x="3839" y="2749"/>
              <a:ext cx="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总变形：</a:t>
              </a:r>
            </a:p>
          </p:txBody>
        </p:sp>
      </p:grpSp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2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29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29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529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29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52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29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152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152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2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9868" grpId="0" build="p" autoUpdateAnimBg="0"/>
      <p:bldP spid="1529869" grpId="0" build="p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885" name="Rectangle 5"/>
          <p:cNvSpPr>
            <a:spLocks noChangeArrowheads="1"/>
          </p:cNvSpPr>
          <p:nvPr/>
        </p:nvSpPr>
        <p:spPr bwMode="auto">
          <a:xfrm>
            <a:off x="2530949" y="5738993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地基的最终沉降量计算</a:t>
            </a:r>
          </a:p>
        </p:txBody>
      </p:sp>
      <p:sp>
        <p:nvSpPr>
          <p:cNvPr id="1530886" name="Rectangle 6"/>
          <p:cNvSpPr>
            <a:spLocks noChangeArrowheads="1"/>
          </p:cNvSpPr>
          <p:nvPr/>
        </p:nvSpPr>
        <p:spPr bwMode="auto">
          <a:xfrm>
            <a:off x="484188" y="3410424"/>
            <a:ext cx="2811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990033"/>
                </a:solidFill>
                <a:ea typeface="黑体" pitchFamily="2" charset="-122"/>
                <a:sym typeface="Symbol" pitchFamily="18" charset="2"/>
              </a:rPr>
              <a:t> 最终沉降量</a:t>
            </a:r>
            <a:r>
              <a:rPr kumimoji="1" lang="en-US" altLang="zh-CN" sz="2400" b="1" i="1" dirty="0">
                <a:solidFill>
                  <a:srgbClr val="990033"/>
                </a:solidFill>
                <a:ea typeface="黑体" pitchFamily="2" charset="-122"/>
                <a:sym typeface="Symbol" pitchFamily="18" charset="2"/>
              </a:rPr>
              <a:t>S</a:t>
            </a:r>
            <a:r>
              <a:rPr kumimoji="1" lang="en-US" altLang="zh-CN" sz="2400" b="1" i="1" baseline="-25000" dirty="0">
                <a:solidFill>
                  <a:srgbClr val="990033"/>
                </a:solidFill>
                <a:ea typeface="黑体" pitchFamily="2" charset="-122"/>
                <a:cs typeface="Times New Roman" pitchFamily="18" charset="0"/>
                <a:sym typeface="Symbol" pitchFamily="18" charset="2"/>
              </a:rPr>
              <a:t>∞</a:t>
            </a:r>
            <a:r>
              <a:rPr kumimoji="1" lang="zh-CN" altLang="en-US" sz="2400" b="1" dirty="0">
                <a:solidFill>
                  <a:srgbClr val="990033"/>
                </a:solidFill>
                <a:sym typeface="Symbol" pitchFamily="18" charset="2"/>
              </a:rPr>
              <a:t>：</a:t>
            </a:r>
            <a:endParaRPr kumimoji="1" lang="zh-CN" altLang="en-US" sz="2400" dirty="0">
              <a:solidFill>
                <a:srgbClr val="666633"/>
              </a:solidFill>
              <a:sym typeface="Symbol" pitchFamily="18" charset="2"/>
            </a:endParaRPr>
          </a:p>
        </p:txBody>
      </p:sp>
      <p:grpSp>
        <p:nvGrpSpPr>
          <p:cNvPr id="1530887" name="Group 7"/>
          <p:cNvGrpSpPr>
            <a:grpSpLocks/>
          </p:cNvGrpSpPr>
          <p:nvPr/>
        </p:nvGrpSpPr>
        <p:grpSpPr bwMode="auto">
          <a:xfrm>
            <a:off x="5030789" y="2211859"/>
            <a:ext cx="3625852" cy="431800"/>
            <a:chOff x="3169" y="1466"/>
            <a:chExt cx="2284" cy="272"/>
          </a:xfrm>
        </p:grpSpPr>
        <p:graphicFrame>
          <p:nvGraphicFramePr>
            <p:cNvPr id="153088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0377117"/>
                </p:ext>
              </p:extLst>
            </p:nvPr>
          </p:nvGraphicFramePr>
          <p:xfrm>
            <a:off x="3169" y="1466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1122" name="公式" r:id="rId3" imgW="215640" imgH="215640" progId="Equation.3">
                    <p:embed/>
                  </p:oleObj>
                </mc:Choice>
                <mc:Fallback>
                  <p:oleObj name="公式" r:id="rId3" imgW="215640" imgH="2156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9" y="1466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0889" name="Freeform 9"/>
            <p:cNvSpPr>
              <a:spLocks/>
            </p:cNvSpPr>
            <p:nvPr/>
          </p:nvSpPr>
          <p:spPr bwMode="auto">
            <a:xfrm>
              <a:off x="3503" y="1649"/>
              <a:ext cx="1950" cy="2"/>
            </a:xfrm>
            <a:custGeom>
              <a:avLst/>
              <a:gdLst>
                <a:gd name="T0" fmla="*/ 0 w 1950"/>
                <a:gd name="T1" fmla="*/ 0 h 2"/>
                <a:gd name="T2" fmla="*/ 1950 w 1950"/>
                <a:gd name="T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950" h="2">
                  <a:moveTo>
                    <a:pt x="0" y="0"/>
                  </a:moveTo>
                  <a:lnTo>
                    <a:pt x="1950" y="2"/>
                  </a:lnTo>
                </a:path>
              </a:pathLst>
            </a:custGeom>
            <a:noFill/>
            <a:ln w="22225" cap="flat">
              <a:solidFill>
                <a:srgbClr val="000066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530890" name="Rectangle 10"/>
          <p:cNvSpPr>
            <a:spLocks noChangeArrowheads="1"/>
          </p:cNvSpPr>
          <p:nvPr/>
        </p:nvSpPr>
        <p:spPr bwMode="auto">
          <a:xfrm>
            <a:off x="3362325" y="3369149"/>
            <a:ext cx="4679950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∞</a:t>
            </a: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时地基最终沉降稳定以后的最大沉降量，不考虑沉降过程。</a:t>
            </a:r>
          </a:p>
        </p:txBody>
      </p:sp>
      <p:sp>
        <p:nvSpPr>
          <p:cNvPr id="1530891" name="AutoShape 11"/>
          <p:cNvSpPr>
            <a:spLocks noChangeArrowheads="1"/>
          </p:cNvSpPr>
          <p:nvPr/>
        </p:nvSpPr>
        <p:spPr bwMode="auto">
          <a:xfrm>
            <a:off x="4481513" y="1495899"/>
            <a:ext cx="585787" cy="714375"/>
          </a:xfrm>
          <a:prstGeom prst="rightArrow">
            <a:avLst>
              <a:gd name="adj1" fmla="val 47111"/>
              <a:gd name="adj2" fmla="val 42005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0911" name="Text Box 31"/>
          <p:cNvSpPr txBox="1">
            <a:spLocks noChangeArrowheads="1"/>
          </p:cNvSpPr>
          <p:nvPr/>
        </p:nvSpPr>
        <p:spPr bwMode="auto">
          <a:xfrm>
            <a:off x="3365500" y="4515324"/>
            <a:ext cx="50641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以一维侧限应力状态土的压缩特性为基础的</a:t>
            </a: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分层总和法</a:t>
            </a:r>
          </a:p>
        </p:txBody>
      </p:sp>
      <p:sp>
        <p:nvSpPr>
          <p:cNvPr id="1530912" name="Rectangle 32"/>
          <p:cNvSpPr>
            <a:spLocks noChangeArrowheads="1"/>
          </p:cNvSpPr>
          <p:nvPr/>
        </p:nvSpPr>
        <p:spPr bwMode="auto">
          <a:xfrm>
            <a:off x="487363" y="4585174"/>
            <a:ext cx="221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990033"/>
                </a:solidFill>
                <a:ea typeface="黑体" pitchFamily="2" charset="-122"/>
                <a:sym typeface="Symbol" pitchFamily="18" charset="2"/>
              </a:rPr>
              <a:t> 计算方法</a:t>
            </a:r>
            <a:r>
              <a:rPr kumimoji="1" lang="zh-CN" altLang="en-US" sz="2400" b="1">
                <a:solidFill>
                  <a:srgbClr val="990033"/>
                </a:solidFill>
                <a:sym typeface="Symbol" pitchFamily="18" charset="2"/>
              </a:rPr>
              <a:t>：</a:t>
            </a:r>
            <a:endParaRPr kumimoji="1" lang="zh-CN" altLang="en-US" sz="2400">
              <a:solidFill>
                <a:srgbClr val="666633"/>
              </a:solidFill>
              <a:sym typeface="Symbol" pitchFamily="18" charset="2"/>
            </a:endParaRPr>
          </a:p>
        </p:txBody>
      </p:sp>
      <p:grpSp>
        <p:nvGrpSpPr>
          <p:cNvPr id="1530913" name="Group 33"/>
          <p:cNvGrpSpPr>
            <a:grpSpLocks/>
          </p:cNvGrpSpPr>
          <p:nvPr/>
        </p:nvGrpSpPr>
        <p:grpSpPr bwMode="auto">
          <a:xfrm>
            <a:off x="5405437" y="1010124"/>
            <a:ext cx="3186113" cy="2101850"/>
            <a:chOff x="3405" y="709"/>
            <a:chExt cx="2007" cy="1324"/>
          </a:xfrm>
        </p:grpSpPr>
        <p:graphicFrame>
          <p:nvGraphicFramePr>
            <p:cNvPr id="1530914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6388403"/>
                </p:ext>
              </p:extLst>
            </p:nvPr>
          </p:nvGraphicFramePr>
          <p:xfrm>
            <a:off x="3405" y="1809"/>
            <a:ext cx="192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1123" name="公式" r:id="rId5" imgW="152280" imgH="177480" progId="Equation.3">
                    <p:embed/>
                  </p:oleObj>
                </mc:Choice>
                <mc:Fallback>
                  <p:oleObj name="公式" r:id="rId5" imgW="152280" imgH="17748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5" y="1809"/>
                          <a:ext cx="192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0915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3725512"/>
                </p:ext>
              </p:extLst>
            </p:nvPr>
          </p:nvGraphicFramePr>
          <p:xfrm>
            <a:off x="5284" y="709"/>
            <a:ext cx="12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1124" name="公式" r:id="rId7" imgW="101520" imgH="164880" progId="Equation.3">
                    <p:embed/>
                  </p:oleObj>
                </mc:Choice>
                <mc:Fallback>
                  <p:oleObj name="公式" r:id="rId7" imgW="101520" imgH="16488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4" y="709"/>
                          <a:ext cx="128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0916" name="Freeform 36"/>
            <p:cNvSpPr>
              <a:spLocks/>
            </p:cNvSpPr>
            <p:nvPr/>
          </p:nvSpPr>
          <p:spPr bwMode="auto">
            <a:xfrm>
              <a:off x="3488" y="839"/>
              <a:ext cx="1723" cy="747"/>
            </a:xfrm>
            <a:custGeom>
              <a:avLst/>
              <a:gdLst>
                <a:gd name="T0" fmla="*/ 0 w 1723"/>
                <a:gd name="T1" fmla="*/ 0 h 747"/>
                <a:gd name="T2" fmla="*/ 64 w 1723"/>
                <a:gd name="T3" fmla="*/ 172 h 747"/>
                <a:gd name="T4" fmla="*/ 205 w 1723"/>
                <a:gd name="T5" fmla="*/ 345 h 747"/>
                <a:gd name="T6" fmla="*/ 426 w 1723"/>
                <a:gd name="T7" fmla="*/ 476 h 747"/>
                <a:gd name="T8" fmla="*/ 730 w 1723"/>
                <a:gd name="T9" fmla="*/ 585 h 747"/>
                <a:gd name="T10" fmla="*/ 1051 w 1723"/>
                <a:gd name="T11" fmla="*/ 660 h 747"/>
                <a:gd name="T12" fmla="*/ 1386 w 1723"/>
                <a:gd name="T13" fmla="*/ 712 h 747"/>
                <a:gd name="T14" fmla="*/ 1723 w 1723"/>
                <a:gd name="T15" fmla="*/ 747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23" h="747">
                  <a:moveTo>
                    <a:pt x="0" y="0"/>
                  </a:moveTo>
                  <a:cubicBezTo>
                    <a:pt x="11" y="29"/>
                    <a:pt x="30" y="115"/>
                    <a:pt x="64" y="172"/>
                  </a:cubicBezTo>
                  <a:cubicBezTo>
                    <a:pt x="98" y="229"/>
                    <a:pt x="145" y="294"/>
                    <a:pt x="205" y="345"/>
                  </a:cubicBezTo>
                  <a:cubicBezTo>
                    <a:pt x="265" y="396"/>
                    <a:pt x="339" y="436"/>
                    <a:pt x="426" y="476"/>
                  </a:cubicBezTo>
                  <a:cubicBezTo>
                    <a:pt x="513" y="516"/>
                    <a:pt x="626" y="554"/>
                    <a:pt x="730" y="585"/>
                  </a:cubicBezTo>
                  <a:cubicBezTo>
                    <a:pt x="834" y="616"/>
                    <a:pt x="942" y="639"/>
                    <a:pt x="1051" y="660"/>
                  </a:cubicBezTo>
                  <a:cubicBezTo>
                    <a:pt x="1160" y="681"/>
                    <a:pt x="1274" y="698"/>
                    <a:pt x="1386" y="712"/>
                  </a:cubicBezTo>
                  <a:cubicBezTo>
                    <a:pt x="1498" y="726"/>
                    <a:pt x="1653" y="740"/>
                    <a:pt x="1723" y="747"/>
                  </a:cubicBezTo>
                </a:path>
              </a:pathLst>
            </a:custGeom>
            <a:noFill/>
            <a:ln w="19050" cap="flat" cmpd="sng">
              <a:solidFill>
                <a:srgbClr val="A5002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0917" name="Freeform 37"/>
            <p:cNvSpPr>
              <a:spLocks/>
            </p:cNvSpPr>
            <p:nvPr/>
          </p:nvSpPr>
          <p:spPr bwMode="auto">
            <a:xfrm>
              <a:off x="3485" y="834"/>
              <a:ext cx="1786" cy="989"/>
            </a:xfrm>
            <a:custGeom>
              <a:avLst/>
              <a:gdLst>
                <a:gd name="T0" fmla="*/ 0 w 1786"/>
                <a:gd name="T1" fmla="*/ 989 h 989"/>
                <a:gd name="T2" fmla="*/ 0 w 1786"/>
                <a:gd name="T3" fmla="*/ 0 h 989"/>
                <a:gd name="T4" fmla="*/ 1786 w 1786"/>
                <a:gd name="T5" fmla="*/ 0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86" h="989">
                  <a:moveTo>
                    <a:pt x="0" y="989"/>
                  </a:moveTo>
                  <a:lnTo>
                    <a:pt x="0" y="0"/>
                  </a:lnTo>
                  <a:lnTo>
                    <a:pt x="178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28638" y="559280"/>
            <a:ext cx="3660776" cy="2338395"/>
            <a:chOff x="528638" y="559280"/>
            <a:chExt cx="3660776" cy="2338395"/>
          </a:xfrm>
        </p:grpSpPr>
        <p:grpSp>
          <p:nvGrpSpPr>
            <p:cNvPr id="1530892" name="Group 12"/>
            <p:cNvGrpSpPr>
              <a:grpSpLocks/>
            </p:cNvGrpSpPr>
            <p:nvPr/>
          </p:nvGrpSpPr>
          <p:grpSpPr bwMode="auto">
            <a:xfrm>
              <a:off x="528638" y="559280"/>
              <a:ext cx="3660776" cy="2338395"/>
              <a:chOff x="333" y="425"/>
              <a:chExt cx="2306" cy="1473"/>
            </a:xfrm>
          </p:grpSpPr>
          <p:grpSp>
            <p:nvGrpSpPr>
              <p:cNvPr id="1530893" name="Group 13"/>
              <p:cNvGrpSpPr>
                <a:grpSpLocks/>
              </p:cNvGrpSpPr>
              <p:nvPr/>
            </p:nvGrpSpPr>
            <p:grpSpPr bwMode="auto">
              <a:xfrm>
                <a:off x="1353" y="644"/>
                <a:ext cx="1067" cy="165"/>
                <a:chOff x="3544" y="1083"/>
                <a:chExt cx="1067" cy="165"/>
              </a:xfrm>
            </p:grpSpPr>
            <p:sp>
              <p:nvSpPr>
                <p:cNvPr id="1530894" name="Line 14"/>
                <p:cNvSpPr>
                  <a:spLocks noChangeShapeType="1"/>
                </p:cNvSpPr>
                <p:nvPr/>
              </p:nvSpPr>
              <p:spPr bwMode="auto">
                <a:xfrm>
                  <a:off x="3544" y="1083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0895" name="Line 15"/>
                <p:cNvSpPr>
                  <a:spLocks noChangeShapeType="1"/>
                </p:cNvSpPr>
                <p:nvPr/>
              </p:nvSpPr>
              <p:spPr bwMode="auto">
                <a:xfrm>
                  <a:off x="3663" y="1083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0896" name="Line 16"/>
                <p:cNvSpPr>
                  <a:spLocks noChangeShapeType="1"/>
                </p:cNvSpPr>
                <p:nvPr/>
              </p:nvSpPr>
              <p:spPr bwMode="auto">
                <a:xfrm>
                  <a:off x="3782" y="1083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0897" name="Line 17"/>
                <p:cNvSpPr>
                  <a:spLocks noChangeShapeType="1"/>
                </p:cNvSpPr>
                <p:nvPr/>
              </p:nvSpPr>
              <p:spPr bwMode="auto">
                <a:xfrm>
                  <a:off x="3900" y="1083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0898" name="Line 18"/>
                <p:cNvSpPr>
                  <a:spLocks noChangeShapeType="1"/>
                </p:cNvSpPr>
                <p:nvPr/>
              </p:nvSpPr>
              <p:spPr bwMode="auto">
                <a:xfrm>
                  <a:off x="4019" y="1083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0899" name="Line 19"/>
                <p:cNvSpPr>
                  <a:spLocks noChangeShapeType="1"/>
                </p:cNvSpPr>
                <p:nvPr/>
              </p:nvSpPr>
              <p:spPr bwMode="auto">
                <a:xfrm>
                  <a:off x="4136" y="1083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0900" name="Line 20"/>
                <p:cNvSpPr>
                  <a:spLocks noChangeShapeType="1"/>
                </p:cNvSpPr>
                <p:nvPr/>
              </p:nvSpPr>
              <p:spPr bwMode="auto">
                <a:xfrm>
                  <a:off x="4255" y="1083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0901" name="Line 21"/>
                <p:cNvSpPr>
                  <a:spLocks noChangeShapeType="1"/>
                </p:cNvSpPr>
                <p:nvPr/>
              </p:nvSpPr>
              <p:spPr bwMode="auto">
                <a:xfrm>
                  <a:off x="4374" y="1083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0902" name="Line 22"/>
                <p:cNvSpPr>
                  <a:spLocks noChangeShapeType="1"/>
                </p:cNvSpPr>
                <p:nvPr/>
              </p:nvSpPr>
              <p:spPr bwMode="auto">
                <a:xfrm>
                  <a:off x="4492" y="1083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0903" name="Line 23"/>
                <p:cNvSpPr>
                  <a:spLocks noChangeShapeType="1"/>
                </p:cNvSpPr>
                <p:nvPr/>
              </p:nvSpPr>
              <p:spPr bwMode="auto">
                <a:xfrm>
                  <a:off x="4611" y="1083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1530904" name="Rectangle 24" descr="深色上对角线"/>
              <p:cNvSpPr>
                <a:spLocks noChangeArrowheads="1"/>
              </p:cNvSpPr>
              <p:nvPr/>
            </p:nvSpPr>
            <p:spPr bwMode="auto">
              <a:xfrm>
                <a:off x="1349" y="1639"/>
                <a:ext cx="1078" cy="255"/>
              </a:xfrm>
              <a:prstGeom prst="rect">
                <a:avLst/>
              </a:prstGeom>
              <a:pattFill prst="dkUpDiag">
                <a:fgClr>
                  <a:srgbClr val="666633"/>
                </a:fgClr>
                <a:bgClr>
                  <a:schemeClr val="hlink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0905" name="Rectangle 25"/>
              <p:cNvSpPr>
                <a:spLocks noChangeArrowheads="1"/>
              </p:cNvSpPr>
              <p:nvPr/>
            </p:nvSpPr>
            <p:spPr bwMode="auto">
              <a:xfrm>
                <a:off x="1349" y="806"/>
                <a:ext cx="1078" cy="833"/>
              </a:xfrm>
              <a:prstGeom prst="rect">
                <a:avLst/>
              </a:prstGeom>
              <a:solidFill>
                <a:srgbClr val="FFCC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0906" name="Rectangle 26" descr="浅色横线"/>
              <p:cNvSpPr>
                <a:spLocks noChangeAspect="1" noChangeArrowheads="1"/>
              </p:cNvSpPr>
              <p:nvPr/>
            </p:nvSpPr>
            <p:spPr bwMode="auto">
              <a:xfrm>
                <a:off x="1661" y="809"/>
                <a:ext cx="252" cy="830"/>
              </a:xfrm>
              <a:prstGeom prst="rect">
                <a:avLst/>
              </a:prstGeom>
              <a:pattFill prst="ltHorz">
                <a:fgClr>
                  <a:schemeClr val="hlink"/>
                </a:fgClr>
                <a:bgClr>
                  <a:schemeClr val="accent1"/>
                </a:bgClr>
              </a:pattFill>
              <a:ln w="9525">
                <a:solidFill>
                  <a:srgbClr val="00006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000" b="1">
                  <a:solidFill>
                    <a:srgbClr val="666633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endParaRPr>
              </a:p>
            </p:txBody>
          </p:sp>
          <p:sp>
            <p:nvSpPr>
              <p:cNvPr id="1530907" name="Text Box 27"/>
              <p:cNvSpPr txBox="1">
                <a:spLocks noChangeArrowheads="1"/>
              </p:cNvSpPr>
              <p:nvPr/>
            </p:nvSpPr>
            <p:spPr bwMode="auto">
              <a:xfrm>
                <a:off x="333" y="1665"/>
                <a:ext cx="97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>
                    <a:solidFill>
                      <a:srgbClr val="000066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sym typeface="Symbol" pitchFamily="18" charset="2"/>
                  </a:rPr>
                  <a:t>不可压缩层</a:t>
                </a:r>
              </a:p>
            </p:txBody>
          </p:sp>
          <p:sp>
            <p:nvSpPr>
              <p:cNvPr id="1530908" name="Text Box 28"/>
              <p:cNvSpPr txBox="1">
                <a:spLocks noChangeArrowheads="1"/>
              </p:cNvSpPr>
              <p:nvPr/>
            </p:nvSpPr>
            <p:spPr bwMode="auto">
              <a:xfrm>
                <a:off x="480" y="1042"/>
                <a:ext cx="78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 dirty="0">
                    <a:solidFill>
                      <a:srgbClr val="000066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sym typeface="Symbol" pitchFamily="18" charset="2"/>
                  </a:rPr>
                  <a:t>可压缩层</a:t>
                </a:r>
              </a:p>
            </p:txBody>
          </p:sp>
          <p:sp>
            <p:nvSpPr>
              <p:cNvPr id="1530909" name="Text Box 29"/>
              <p:cNvSpPr txBox="1">
                <a:spLocks noChangeArrowheads="1"/>
              </p:cNvSpPr>
              <p:nvPr/>
            </p:nvSpPr>
            <p:spPr bwMode="auto">
              <a:xfrm>
                <a:off x="1888" y="1072"/>
                <a:ext cx="48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990033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l-GR" altLang="zh-CN" sz="2400" b="1" i="1" dirty="0">
                    <a:solidFill>
                      <a:srgbClr val="000000"/>
                    </a:solidFill>
                    <a:ea typeface="幼圆" pitchFamily="49" charset="-122"/>
                    <a:sym typeface="Symbol" pitchFamily="18" charset="2"/>
                  </a:rPr>
                  <a:t>σ</a:t>
                </a:r>
                <a:r>
                  <a:rPr kumimoji="1" lang="en-US" altLang="zh-CN" sz="2400" b="1" baseline="-25000" dirty="0">
                    <a:solidFill>
                      <a:srgbClr val="000000"/>
                    </a:solidFill>
                    <a:ea typeface="幼圆" pitchFamily="49" charset="-122"/>
                    <a:sym typeface="Symbol" pitchFamily="18" charset="2"/>
                  </a:rPr>
                  <a:t>z</a:t>
                </a:r>
                <a:r>
                  <a:rPr kumimoji="1" lang="en-US" altLang="zh-CN" sz="2400" b="1" dirty="0">
                    <a:solidFill>
                      <a:srgbClr val="000000"/>
                    </a:solidFill>
                    <a:ea typeface="幼圆" pitchFamily="49" charset="-122"/>
                    <a:sym typeface="Symbol" pitchFamily="18" charset="2"/>
                  </a:rPr>
                  <a:t>=</a:t>
                </a:r>
                <a:r>
                  <a:rPr kumimoji="1" lang="en-US" altLang="zh-CN" sz="2400" b="1" i="1" dirty="0">
                    <a:solidFill>
                      <a:srgbClr val="000000"/>
                    </a:solidFill>
                    <a:ea typeface="幼圆" pitchFamily="49" charset="-122"/>
                    <a:sym typeface="Symbol" pitchFamily="18" charset="2"/>
                  </a:rPr>
                  <a:t>p</a:t>
                </a:r>
              </a:p>
            </p:txBody>
          </p:sp>
          <p:sp>
            <p:nvSpPr>
              <p:cNvPr id="1530910" name="Rectangle 30"/>
              <p:cNvSpPr>
                <a:spLocks noChangeArrowheads="1"/>
              </p:cNvSpPr>
              <p:nvPr/>
            </p:nvSpPr>
            <p:spPr bwMode="auto">
              <a:xfrm>
                <a:off x="2426" y="425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miter lim="800000"/>
                    <a:headEnd type="none" w="med" len="lg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 i="1" dirty="0">
                    <a:cs typeface="Times New Roman" panose="02020603050405020304" pitchFamily="18" charset="0"/>
                  </a:rPr>
                  <a:t>p</a:t>
                </a:r>
                <a:endParaRPr kumimoji="1" lang="zh-CN" altLang="en-US" sz="2400" b="1" i="1" dirty="0"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" name="直接连接符 2"/>
            <p:cNvCxnSpPr/>
            <p:nvPr/>
          </p:nvCxnSpPr>
          <p:spPr bwMode="auto">
            <a:xfrm>
              <a:off x="2128837" y="1166813"/>
              <a:ext cx="1724025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38"/>
            <p:cNvCxnSpPr/>
            <p:nvPr/>
          </p:nvCxnSpPr>
          <p:spPr bwMode="auto">
            <a:xfrm>
              <a:off x="2128838" y="904877"/>
              <a:ext cx="1724025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53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53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30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530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30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30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530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530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0886" grpId="0" build="p" autoUpdateAnimBg="0"/>
      <p:bldP spid="1530890" grpId="0" build="p" autoUpdateAnimBg="0"/>
      <p:bldP spid="1530891" grpId="0" animBg="1"/>
      <p:bldP spid="1530911" grpId="0"/>
      <p:bldP spid="1530912" grpId="0" build="p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979" name="Rectangle 3"/>
          <p:cNvSpPr>
            <a:spLocks noChangeArrowheads="1"/>
          </p:cNvSpPr>
          <p:nvPr/>
        </p:nvSpPr>
        <p:spPr bwMode="auto">
          <a:xfrm>
            <a:off x="2559404" y="5673492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地基的最终沉降量计算</a:t>
            </a:r>
          </a:p>
        </p:txBody>
      </p:sp>
      <p:sp>
        <p:nvSpPr>
          <p:cNvPr id="1534980" name="Text Box 4"/>
          <p:cNvSpPr txBox="1">
            <a:spLocks noChangeArrowheads="1"/>
          </p:cNvSpPr>
          <p:nvPr/>
        </p:nvSpPr>
        <p:spPr bwMode="auto">
          <a:xfrm>
            <a:off x="2014538" y="1819275"/>
            <a:ext cx="5757862" cy="235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25475" indent="-62547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486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8425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35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单一土层一维压缩问题</a:t>
            </a:r>
          </a:p>
          <a:p>
            <a:pPr>
              <a:lnSpc>
                <a:spcPct val="135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32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地基最终沉降量分层总和法</a:t>
            </a:r>
          </a:p>
          <a:p>
            <a:pPr>
              <a:lnSpc>
                <a:spcPct val="135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32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地基沉降计算的若干问题</a:t>
            </a:r>
          </a:p>
        </p:txBody>
      </p:sp>
      <p:sp>
        <p:nvSpPr>
          <p:cNvPr id="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-9526" y="0"/>
            <a:ext cx="4244175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4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49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349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4980" grpId="0" build="p" advAuto="50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468912" y="1554148"/>
            <a:ext cx="4572000" cy="1779603"/>
            <a:chOff x="471488" y="1554148"/>
            <a:chExt cx="4572000" cy="1779603"/>
          </a:xfrm>
        </p:grpSpPr>
        <p:grpSp>
          <p:nvGrpSpPr>
            <p:cNvPr id="7" name="组合 6"/>
            <p:cNvGrpSpPr/>
            <p:nvPr/>
          </p:nvGrpSpPr>
          <p:grpSpPr>
            <a:xfrm>
              <a:off x="471488" y="1554148"/>
              <a:ext cx="4572000" cy="1779603"/>
              <a:chOff x="471488" y="1554148"/>
              <a:chExt cx="4572000" cy="1779603"/>
            </a:xfrm>
          </p:grpSpPr>
          <p:grpSp>
            <p:nvGrpSpPr>
              <p:cNvPr id="1536004" name="Group 4"/>
              <p:cNvGrpSpPr>
                <a:grpSpLocks/>
              </p:cNvGrpSpPr>
              <p:nvPr/>
            </p:nvGrpSpPr>
            <p:grpSpPr bwMode="auto">
              <a:xfrm>
                <a:off x="471488" y="1554163"/>
                <a:ext cx="4572000" cy="1779588"/>
                <a:chOff x="297" y="979"/>
                <a:chExt cx="2880" cy="1121"/>
              </a:xfrm>
            </p:grpSpPr>
            <p:sp>
              <p:nvSpPr>
                <p:cNvPr id="1536005" name="Rectangle 5"/>
                <p:cNvSpPr>
                  <a:spLocks noChangeArrowheads="1"/>
                </p:cNvSpPr>
                <p:nvPr/>
              </p:nvSpPr>
              <p:spPr bwMode="auto">
                <a:xfrm>
                  <a:off x="838" y="979"/>
                  <a:ext cx="1950" cy="1030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800" b="1">
                    <a:solidFill>
                      <a:srgbClr val="000000"/>
                    </a:solidFill>
                    <a:latin typeface="宋体" charset="-122"/>
                    <a:sym typeface="Symbol" pitchFamily="18" charset="2"/>
                  </a:endParaRPr>
                </a:p>
              </p:txBody>
            </p:sp>
            <p:sp>
              <p:nvSpPr>
                <p:cNvPr id="1536008" name="Rectangle 8" descr="深色上对角线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2010"/>
                  <a:ext cx="1963" cy="90"/>
                </a:xfrm>
                <a:prstGeom prst="rect">
                  <a:avLst/>
                </a:prstGeom>
                <a:pattFill prst="dkUpDiag">
                  <a:fgClr>
                    <a:srgbClr val="666633"/>
                  </a:fgClr>
                  <a:bgClr>
                    <a:schemeClr val="hlink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6009" name="AutoShape 9" descr="浅色横线"/>
                <p:cNvSpPr>
                  <a:spLocks noChangeArrowheads="1"/>
                </p:cNvSpPr>
                <p:nvPr/>
              </p:nvSpPr>
              <p:spPr bwMode="auto">
                <a:xfrm flipH="1">
                  <a:off x="1366" y="986"/>
                  <a:ext cx="539" cy="1024"/>
                </a:xfrm>
                <a:prstGeom prst="rtTriangle">
                  <a:avLst/>
                </a:prstGeom>
                <a:pattFill prst="ltHorz">
                  <a:fgClr>
                    <a:srgbClr val="000066"/>
                  </a:fgClr>
                  <a:bgClr>
                    <a:srgbClr val="CCFFCC"/>
                  </a:bgClr>
                </a:patt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536010" name="Group 10"/>
                <p:cNvGrpSpPr>
                  <a:grpSpLocks/>
                </p:cNvGrpSpPr>
                <p:nvPr/>
              </p:nvGrpSpPr>
              <p:grpSpPr bwMode="auto">
                <a:xfrm>
                  <a:off x="2865" y="980"/>
                  <a:ext cx="312" cy="1030"/>
                  <a:chOff x="2835" y="1190"/>
                  <a:chExt cx="312" cy="1030"/>
                </a:xfrm>
              </p:grpSpPr>
              <p:sp>
                <p:nvSpPr>
                  <p:cNvPr id="1536011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25" y="1630"/>
                    <a:ext cx="22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2000" b="1" i="1" dirty="0">
                        <a:solidFill>
                          <a:srgbClr val="A50021"/>
                        </a:solidFill>
                      </a:rPr>
                      <a:t>H</a:t>
                    </a:r>
                    <a:endParaRPr kumimoji="1" lang="en-US" altLang="zh-CN" sz="2000" b="1" i="1" baseline="-25000" dirty="0">
                      <a:solidFill>
                        <a:srgbClr val="A50021"/>
                      </a:solidFill>
                    </a:endParaRPr>
                  </a:p>
                </p:txBody>
              </p:sp>
              <p:sp>
                <p:nvSpPr>
                  <p:cNvPr id="1536012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2835" y="2220"/>
                    <a:ext cx="12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601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2835" y="1190"/>
                    <a:ext cx="12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6014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918" y="1192"/>
                    <a:ext cx="0" cy="102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triangl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36015" name="Group 15"/>
                <p:cNvGrpSpPr>
                  <a:grpSpLocks/>
                </p:cNvGrpSpPr>
                <p:nvPr/>
              </p:nvGrpSpPr>
              <p:grpSpPr bwMode="auto">
                <a:xfrm>
                  <a:off x="297" y="1012"/>
                  <a:ext cx="387" cy="998"/>
                  <a:chOff x="288" y="1222"/>
                  <a:chExt cx="387" cy="998"/>
                </a:xfrm>
              </p:grpSpPr>
              <p:sp>
                <p:nvSpPr>
                  <p:cNvPr id="1536016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533" y="1722"/>
                    <a:ext cx="13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6017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539" y="2220"/>
                    <a:ext cx="13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6018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539" y="1222"/>
                    <a:ext cx="13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6019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612" y="1222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6020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612" y="1721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6021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" y="1403"/>
                    <a:ext cx="318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2000" b="1" i="1" dirty="0">
                        <a:solidFill>
                          <a:srgbClr val="A50021"/>
                        </a:solidFill>
                      </a:rPr>
                      <a:t>H</a:t>
                    </a:r>
                    <a:r>
                      <a:rPr kumimoji="1" lang="en-US" altLang="zh-CN" sz="2000" b="1" dirty="0">
                        <a:solidFill>
                          <a:srgbClr val="A50021"/>
                        </a:solidFill>
                      </a:rPr>
                      <a:t>/2</a:t>
                    </a:r>
                    <a:endParaRPr kumimoji="1" lang="en-US" altLang="zh-CN" sz="2000" b="1" baseline="-25000" dirty="0">
                      <a:solidFill>
                        <a:srgbClr val="A50021"/>
                      </a:solidFill>
                    </a:endParaRPr>
                  </a:p>
                </p:txBody>
              </p:sp>
              <p:sp>
                <p:nvSpPr>
                  <p:cNvPr id="1536022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" y="1877"/>
                    <a:ext cx="318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2000" b="1" i="1" dirty="0">
                        <a:solidFill>
                          <a:srgbClr val="A50021"/>
                        </a:solidFill>
                      </a:rPr>
                      <a:t>H</a:t>
                    </a:r>
                    <a:r>
                      <a:rPr kumimoji="1" lang="en-US" altLang="zh-CN" sz="2000" b="1" dirty="0">
                        <a:solidFill>
                          <a:srgbClr val="A50021"/>
                        </a:solidFill>
                      </a:rPr>
                      <a:t>/2</a:t>
                    </a:r>
                    <a:endParaRPr kumimoji="1" lang="en-US" altLang="zh-CN" sz="2000" b="1" baseline="-25000" dirty="0">
                      <a:solidFill>
                        <a:srgbClr val="A50021"/>
                      </a:solidFill>
                    </a:endParaRPr>
                  </a:p>
                </p:txBody>
              </p:sp>
            </p:grpSp>
            <p:sp>
              <p:nvSpPr>
                <p:cNvPr id="1536023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2275" y="1117"/>
                  <a:ext cx="499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l-GR" altLang="zh-CN" sz="2200" b="1" i="1" dirty="0" smtClean="0">
                      <a:solidFill>
                        <a:srgbClr val="000000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</a:t>
                  </a:r>
                  <a:r>
                    <a:rPr kumimoji="1" lang="en-US" altLang="zh-CN" sz="2200" b="1" i="1" dirty="0" smtClean="0">
                      <a:solidFill>
                        <a:srgbClr val="000000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 </a:t>
                  </a:r>
                  <a:r>
                    <a:rPr kumimoji="1" lang="en-US" altLang="zh-CN" sz="2200" b="1" dirty="0" smtClean="0">
                      <a:solidFill>
                        <a:srgbClr val="000000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, </a:t>
                  </a:r>
                  <a:r>
                    <a:rPr kumimoji="1" lang="en-US" altLang="zh-CN" sz="2200" b="1" i="1" dirty="0" smtClean="0">
                      <a:solidFill>
                        <a:srgbClr val="000000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e</a:t>
                  </a:r>
                  <a:r>
                    <a:rPr kumimoji="1" lang="en-US" altLang="zh-CN" sz="2200" b="1" baseline="-25000" dirty="0" smtClean="0">
                      <a:solidFill>
                        <a:srgbClr val="000000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1</a:t>
                  </a:r>
                  <a:endParaRPr kumimoji="1" lang="el-GR" altLang="zh-CN" sz="2200" b="1" baseline="-25000" dirty="0">
                    <a:solidFill>
                      <a:srgbClr val="00000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endParaRPr>
                </a:p>
              </p:txBody>
            </p:sp>
            <p:sp>
              <p:nvSpPr>
                <p:cNvPr id="1536024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1630" y="1519"/>
                  <a:ext cx="27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36025" name="AutoShape 25"/>
                <p:cNvSpPr>
                  <a:spLocks noChangeArrowheads="1"/>
                </p:cNvSpPr>
                <p:nvPr/>
              </p:nvSpPr>
              <p:spPr bwMode="auto">
                <a:xfrm flipV="1">
                  <a:off x="1595" y="1284"/>
                  <a:ext cx="226" cy="181"/>
                </a:xfrm>
                <a:custGeom>
                  <a:avLst/>
                  <a:gdLst>
                    <a:gd name="G0" fmla="+- 13491 0 0"/>
                    <a:gd name="G1" fmla="+- 18738 0 0"/>
                    <a:gd name="G2" fmla="+- 5847 0 0"/>
                    <a:gd name="G3" fmla="*/ 13491 1 2"/>
                    <a:gd name="G4" fmla="+- G3 10800 0"/>
                    <a:gd name="G5" fmla="+- 21600 13491 18738"/>
                    <a:gd name="G6" fmla="+- 18738 5847 0"/>
                    <a:gd name="G7" fmla="*/ G6 1 2"/>
                    <a:gd name="G8" fmla="*/ 18738 2 1"/>
                    <a:gd name="G9" fmla="+- G8 0 21600"/>
                    <a:gd name="G10" fmla="*/ 21600 G0 G1"/>
                    <a:gd name="G11" fmla="*/ 21600 G4 G1"/>
                    <a:gd name="G12" fmla="*/ 21600 G5 G1"/>
                    <a:gd name="G13" fmla="*/ 21600 G7 G1"/>
                    <a:gd name="G14" fmla="*/ 18738 1 2"/>
                    <a:gd name="G15" fmla="+- G5 0 G4"/>
                    <a:gd name="G16" fmla="+- G0 0 G4"/>
                    <a:gd name="G17" fmla="*/ G2 G15 G16"/>
                    <a:gd name="T0" fmla="*/ 17546 w 21600"/>
                    <a:gd name="T1" fmla="*/ 0 h 21600"/>
                    <a:gd name="T2" fmla="*/ 13491 w 21600"/>
                    <a:gd name="T3" fmla="*/ 5847 h 21600"/>
                    <a:gd name="T4" fmla="*/ 0 w 21600"/>
                    <a:gd name="T5" fmla="*/ 20226 h 21600"/>
                    <a:gd name="T6" fmla="*/ 9369 w 21600"/>
                    <a:gd name="T7" fmla="*/ 21600 h 21600"/>
                    <a:gd name="T8" fmla="*/ 18738 w 21600"/>
                    <a:gd name="T9" fmla="*/ 14171 h 21600"/>
                    <a:gd name="T10" fmla="*/ 21600 w 21600"/>
                    <a:gd name="T11" fmla="*/ 5847 h 21600"/>
                    <a:gd name="T12" fmla="*/ 17694720 60000 65536"/>
                    <a:gd name="T13" fmla="*/ 11796480 60000 65536"/>
                    <a:gd name="T14" fmla="*/ 11796480 60000 65536"/>
                    <a:gd name="T15" fmla="*/ 5898240 60000 65536"/>
                    <a:gd name="T16" fmla="*/ 0 60000 65536"/>
                    <a:gd name="T17" fmla="*/ 0 60000 65536"/>
                    <a:gd name="T18" fmla="*/ 0 w 21600"/>
                    <a:gd name="T19" fmla="*/ G12 h 21600"/>
                    <a:gd name="T20" fmla="*/ G1 w 21600"/>
                    <a:gd name="T21" fmla="*/ 21600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17546" y="0"/>
                      </a:moveTo>
                      <a:lnTo>
                        <a:pt x="13491" y="5847"/>
                      </a:lnTo>
                      <a:lnTo>
                        <a:pt x="16353" y="5847"/>
                      </a:lnTo>
                      <a:lnTo>
                        <a:pt x="16353" y="18851"/>
                      </a:lnTo>
                      <a:lnTo>
                        <a:pt x="0" y="18851"/>
                      </a:lnTo>
                      <a:lnTo>
                        <a:pt x="0" y="21600"/>
                      </a:lnTo>
                      <a:lnTo>
                        <a:pt x="18738" y="21600"/>
                      </a:lnTo>
                      <a:lnTo>
                        <a:pt x="18738" y="5847"/>
                      </a:lnTo>
                      <a:lnTo>
                        <a:pt x="21600" y="5847"/>
                      </a:lnTo>
                      <a:close/>
                    </a:path>
                  </a:pathLst>
                </a:custGeom>
                <a:solidFill>
                  <a:srgbClr val="FF66FF"/>
                </a:solidFill>
                <a:ln w="9525" algn="ctr">
                  <a:solidFill>
                    <a:srgbClr val="A5002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3" name="直接连接符 2"/>
              <p:cNvCxnSpPr/>
              <p:nvPr/>
            </p:nvCxnSpPr>
            <p:spPr bwMode="auto">
              <a:xfrm>
                <a:off x="1339879" y="1554148"/>
                <a:ext cx="3068639" cy="127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4549308"/>
                </p:ext>
              </p:extLst>
            </p:nvPr>
          </p:nvGraphicFramePr>
          <p:xfrm>
            <a:off x="1599601" y="1782763"/>
            <a:ext cx="854075" cy="569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5915" name="Microsoft 公式 3.0" r:id="rId3" imgW="609480" imgH="406080" progId="Equation.3">
                    <p:embed/>
                  </p:oleObj>
                </mc:Choice>
                <mc:Fallback>
                  <p:oleObj name="Microsoft 公式 3.0" r:id="rId3" imgW="609480" imgH="40608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9601" y="1782763"/>
                          <a:ext cx="854075" cy="5699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" name="对象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5343352"/>
                </p:ext>
              </p:extLst>
            </p:nvPr>
          </p:nvGraphicFramePr>
          <p:xfrm>
            <a:off x="1808162" y="2830512"/>
            <a:ext cx="345024" cy="365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5916" name="Microsoft 公式 3.0" r:id="rId5" imgW="215640" imgH="228600" progId="Equation.3">
                    <p:embed/>
                  </p:oleObj>
                </mc:Choice>
                <mc:Fallback>
                  <p:oleObj name="Microsoft 公式 3.0" r:id="rId5" imgW="2156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8162" y="2830512"/>
                          <a:ext cx="345024" cy="3657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026" name="Rectangle 26"/>
          <p:cNvSpPr>
            <a:spLocks noChangeArrowheads="1"/>
          </p:cNvSpPr>
          <p:nvPr/>
        </p:nvSpPr>
        <p:spPr bwMode="auto">
          <a:xfrm>
            <a:off x="2433638" y="5762625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单一土层一维压缩问题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36027" name="Rectangle 27"/>
          <p:cNvSpPr>
            <a:spLocks noChangeArrowheads="1"/>
          </p:cNvSpPr>
          <p:nvPr/>
        </p:nvSpPr>
        <p:spPr bwMode="auto">
          <a:xfrm>
            <a:off x="179388" y="61595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计算简图</a:t>
            </a:r>
          </a:p>
        </p:txBody>
      </p:sp>
      <p:sp>
        <p:nvSpPr>
          <p:cNvPr id="1536028" name="AutoShape 28"/>
          <p:cNvSpPr>
            <a:spLocks noChangeArrowheads="1"/>
          </p:cNvSpPr>
          <p:nvPr/>
        </p:nvSpPr>
        <p:spPr bwMode="auto">
          <a:xfrm>
            <a:off x="2217738" y="4279900"/>
            <a:ext cx="530225" cy="458788"/>
          </a:xfrm>
          <a:prstGeom prst="rightArrow">
            <a:avLst>
              <a:gd name="adj1" fmla="val 57407"/>
              <a:gd name="adj2" fmla="val 47309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pSp>
        <p:nvGrpSpPr>
          <p:cNvPr id="1536049" name="Group 49"/>
          <p:cNvGrpSpPr>
            <a:grpSpLocks/>
          </p:cNvGrpSpPr>
          <p:nvPr/>
        </p:nvGrpSpPr>
        <p:grpSpPr bwMode="auto">
          <a:xfrm>
            <a:off x="3027575" y="1558926"/>
            <a:ext cx="1355727" cy="1631951"/>
            <a:chOff x="1912" y="982"/>
            <a:chExt cx="854" cy="1028"/>
          </a:xfrm>
        </p:grpSpPr>
        <p:sp>
          <p:nvSpPr>
            <p:cNvPr id="1536050" name="Rectangle 50" descr="浅色横线"/>
            <p:cNvSpPr>
              <a:spLocks noChangeAspect="1" noChangeArrowheads="1"/>
            </p:cNvSpPr>
            <p:nvPr/>
          </p:nvSpPr>
          <p:spPr bwMode="auto">
            <a:xfrm>
              <a:off x="1912" y="982"/>
              <a:ext cx="363" cy="1028"/>
            </a:xfrm>
            <a:prstGeom prst="rect">
              <a:avLst/>
            </a:prstGeom>
            <a:pattFill prst="ltHorz">
              <a:fgClr>
                <a:srgbClr val="000066"/>
              </a:fgClr>
              <a:bgClr>
                <a:srgbClr val="FFCCFF"/>
              </a:bgClr>
            </a:pattFill>
            <a:ln w="9525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>
                <a:solidFill>
                  <a:srgbClr val="666633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36051" name="Text Box 51"/>
            <p:cNvSpPr txBox="1">
              <a:spLocks noChangeArrowheads="1"/>
            </p:cNvSpPr>
            <p:nvPr/>
          </p:nvSpPr>
          <p:spPr bwMode="auto">
            <a:xfrm>
              <a:off x="2284" y="1374"/>
              <a:ext cx="4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400" b="1" i="1" dirty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σ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z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= </a:t>
              </a:r>
              <a:r>
                <a:rPr kumimoji="1" lang="en-US" altLang="zh-CN" sz="2400" b="1" i="1" dirty="0" smtClean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p</a:t>
              </a:r>
              <a:endParaRPr kumimoji="1" lang="en-US" altLang="zh-CN" sz="2400" b="1" i="1" dirty="0">
                <a:solidFill>
                  <a:srgbClr val="0000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36052" name="Line 52"/>
            <p:cNvSpPr>
              <a:spLocks noChangeShapeType="1"/>
            </p:cNvSpPr>
            <p:nvPr/>
          </p:nvSpPr>
          <p:spPr bwMode="auto">
            <a:xfrm>
              <a:off x="1912" y="1519"/>
              <a:ext cx="3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36063" name="Text Box 63"/>
          <p:cNvSpPr txBox="1">
            <a:spLocks noChangeArrowheads="1"/>
          </p:cNvSpPr>
          <p:nvPr/>
        </p:nvSpPr>
        <p:spPr bwMode="auto">
          <a:xfrm>
            <a:off x="5802313" y="4554538"/>
            <a:ext cx="24511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（</a:t>
            </a:r>
            <a:r>
              <a:rPr kumimoji="1"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）</a:t>
            </a:r>
            <a:r>
              <a:rPr kumimoji="1" lang="en-US" altLang="zh-CN" sz="24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kumimoji="1" lang="en-US" altLang="zh-CN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kumimoji="1" lang="en-US" altLang="zh-CN" sz="24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</a:p>
        </p:txBody>
      </p:sp>
      <p:sp>
        <p:nvSpPr>
          <p:cNvPr id="1536064" name="Text Box 64"/>
          <p:cNvSpPr txBox="1">
            <a:spLocks noChangeArrowheads="1"/>
          </p:cNvSpPr>
          <p:nvPr/>
        </p:nvSpPr>
        <p:spPr bwMode="auto">
          <a:xfrm>
            <a:off x="5802314" y="5130800"/>
            <a:ext cx="24511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33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（</a:t>
            </a:r>
            <a:r>
              <a:rPr kumimoji="1" lang="en-US" altLang="zh-CN" sz="2400" b="1" dirty="0">
                <a:solidFill>
                  <a:srgbClr val="0033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1" lang="zh-CN" altLang="en-US" sz="2400" b="1" dirty="0">
                <a:solidFill>
                  <a:srgbClr val="0033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）</a:t>
            </a:r>
            <a:r>
              <a:rPr kumimoji="1" lang="en-US" altLang="zh-CN" sz="2400" b="1" i="1" dirty="0" smtClean="0">
                <a:solidFill>
                  <a:srgbClr val="0033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kumimoji="1" lang="en-US" altLang="zh-CN" sz="2400" b="1" dirty="0" smtClean="0">
                <a:solidFill>
                  <a:srgbClr val="0033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kumimoji="1" lang="en-US" altLang="zh-CN" sz="2400" b="1" dirty="0" err="1" smtClean="0">
                <a:solidFill>
                  <a:srgbClr val="0033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lg</a:t>
            </a:r>
            <a:r>
              <a:rPr kumimoji="1" lang="en-US" altLang="zh-CN" sz="2400" b="1" i="1" dirty="0" err="1" smtClean="0">
                <a:solidFill>
                  <a:srgbClr val="0033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zh-CN" altLang="en-US" sz="2400" b="1" dirty="0">
                <a:solidFill>
                  <a:srgbClr val="0033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</a:p>
        </p:txBody>
      </p:sp>
      <p:grpSp>
        <p:nvGrpSpPr>
          <p:cNvPr id="1536065" name="Group 65"/>
          <p:cNvGrpSpPr>
            <a:grpSpLocks/>
          </p:cNvGrpSpPr>
          <p:nvPr/>
        </p:nvGrpSpPr>
        <p:grpSpPr bwMode="auto">
          <a:xfrm>
            <a:off x="6218236" y="1281113"/>
            <a:ext cx="784224" cy="1376362"/>
            <a:chOff x="950" y="2592"/>
            <a:chExt cx="384" cy="576"/>
          </a:xfrm>
        </p:grpSpPr>
        <p:sp>
          <p:nvSpPr>
            <p:cNvPr id="1536066" name="Rectangle 66"/>
            <p:cNvSpPr>
              <a:spLocks noChangeArrowheads="1"/>
            </p:cNvSpPr>
            <p:nvPr/>
          </p:nvSpPr>
          <p:spPr bwMode="auto">
            <a:xfrm>
              <a:off x="950" y="2592"/>
              <a:ext cx="38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6067" name="Rectangle 67"/>
            <p:cNvSpPr>
              <a:spLocks noChangeArrowheads="1"/>
            </p:cNvSpPr>
            <p:nvPr/>
          </p:nvSpPr>
          <p:spPr bwMode="auto">
            <a:xfrm>
              <a:off x="950" y="2592"/>
              <a:ext cx="384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536068" name="Object 6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9894787"/>
                </p:ext>
              </p:extLst>
            </p:nvPr>
          </p:nvGraphicFramePr>
          <p:xfrm>
            <a:off x="994" y="2928"/>
            <a:ext cx="319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5917" name="Microsoft 公式 3.0" r:id="rId7" imgW="406080" imgH="228600" progId="Equation.3">
                    <p:embed/>
                  </p:oleObj>
                </mc:Choice>
                <mc:Fallback>
                  <p:oleObj name="Microsoft 公式 3.0" r:id="rId7" imgW="406080" imgH="228600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4" y="2928"/>
                          <a:ext cx="319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069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1341705"/>
                </p:ext>
              </p:extLst>
            </p:nvPr>
          </p:nvGraphicFramePr>
          <p:xfrm>
            <a:off x="1102" y="2645"/>
            <a:ext cx="120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5918" name="公式" r:id="rId9" imgW="152280" imgH="215640" progId="Equation.3">
                    <p:embed/>
                  </p:oleObj>
                </mc:Choice>
                <mc:Fallback>
                  <p:oleObj name="公式" r:id="rId9" imgW="152280" imgH="21564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2" y="2645"/>
                          <a:ext cx="120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36070" name="Group 70"/>
          <p:cNvGrpSpPr>
            <a:grpSpLocks/>
          </p:cNvGrpSpPr>
          <p:nvPr/>
        </p:nvGrpSpPr>
        <p:grpSpPr bwMode="auto">
          <a:xfrm>
            <a:off x="7073900" y="1217613"/>
            <a:ext cx="1527175" cy="1439862"/>
            <a:chOff x="4456" y="767"/>
            <a:chExt cx="962" cy="907"/>
          </a:xfrm>
        </p:grpSpPr>
        <p:sp>
          <p:nvSpPr>
            <p:cNvPr id="1536071" name="Rectangle 71"/>
            <p:cNvSpPr>
              <a:spLocks noChangeArrowheads="1"/>
            </p:cNvSpPr>
            <p:nvPr/>
          </p:nvSpPr>
          <p:spPr bwMode="auto">
            <a:xfrm>
              <a:off x="4456" y="813"/>
              <a:ext cx="499" cy="134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536072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8068728"/>
                </p:ext>
              </p:extLst>
            </p:nvPr>
          </p:nvGraphicFramePr>
          <p:xfrm>
            <a:off x="5017" y="767"/>
            <a:ext cx="401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5919" name="公式" r:id="rId11" imgW="330120" imgH="177480" progId="Equation.3">
                    <p:embed/>
                  </p:oleObj>
                </mc:Choice>
                <mc:Fallback>
                  <p:oleObj name="公式" r:id="rId11" imgW="330120" imgH="177480" progId="Equation.3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7" y="767"/>
                          <a:ext cx="401" cy="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36073" name="Group 73"/>
            <p:cNvGrpSpPr>
              <a:grpSpLocks/>
            </p:cNvGrpSpPr>
            <p:nvPr/>
          </p:nvGrpSpPr>
          <p:grpSpPr bwMode="auto">
            <a:xfrm>
              <a:off x="4456" y="949"/>
              <a:ext cx="499" cy="725"/>
              <a:chOff x="1670" y="2688"/>
              <a:chExt cx="384" cy="480"/>
            </a:xfrm>
          </p:grpSpPr>
          <p:sp>
            <p:nvSpPr>
              <p:cNvPr id="1536074" name="Rectangle 74"/>
              <p:cNvSpPr>
                <a:spLocks noChangeArrowheads="1"/>
              </p:cNvSpPr>
              <p:nvPr/>
            </p:nvSpPr>
            <p:spPr bwMode="auto">
              <a:xfrm>
                <a:off x="1670" y="2784"/>
                <a:ext cx="384" cy="38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rgbClr val="8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36075" name="Rectangle 75"/>
              <p:cNvSpPr>
                <a:spLocks noChangeArrowheads="1"/>
              </p:cNvSpPr>
              <p:nvPr/>
            </p:nvSpPr>
            <p:spPr bwMode="auto">
              <a:xfrm>
                <a:off x="1670" y="2688"/>
                <a:ext cx="384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8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1536076" name="Object 7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0364207"/>
                  </p:ext>
                </p:extLst>
              </p:nvPr>
            </p:nvGraphicFramePr>
            <p:xfrm>
              <a:off x="1722" y="2942"/>
              <a:ext cx="319" cy="1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15920" name="Microsoft 公式 3.0" r:id="rId13" imgW="406080" imgH="228600" progId="Equation.3">
                      <p:embed/>
                    </p:oleObj>
                  </mc:Choice>
                  <mc:Fallback>
                    <p:oleObj name="Microsoft 公式 3.0" r:id="rId13" imgW="406080" imgH="228600" progId="Equation.3">
                      <p:embed/>
                      <p:pic>
                        <p:nvPicPr>
                          <p:cNvPr id="0" name="Object 7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2" y="2942"/>
                            <a:ext cx="319" cy="1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99CC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6077" name="Object 7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36467928"/>
                  </p:ext>
                </p:extLst>
              </p:nvPr>
            </p:nvGraphicFramePr>
            <p:xfrm>
              <a:off x="1809" y="2688"/>
              <a:ext cx="13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15921" name="公式" r:id="rId15" imgW="164880" imgH="215640" progId="Equation.3">
                      <p:embed/>
                    </p:oleObj>
                  </mc:Choice>
                  <mc:Fallback>
                    <p:oleObj name="公式" r:id="rId15" imgW="164880" imgH="215640" progId="Equation.3">
                      <p:embed/>
                      <p:pic>
                        <p:nvPicPr>
                          <p:cNvPr id="0" name="Object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09" y="2688"/>
                            <a:ext cx="130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99CC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8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1" name="Text Box 7"/>
          <p:cNvSpPr txBox="1">
            <a:spLocks noChangeArrowheads="1"/>
          </p:cNvSpPr>
          <p:nvPr/>
        </p:nvSpPr>
        <p:spPr bwMode="auto">
          <a:xfrm>
            <a:off x="-9526" y="0"/>
            <a:ext cx="471469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单一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土层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353131" y="1032011"/>
            <a:ext cx="3372857" cy="530231"/>
            <a:chOff x="1353131" y="1032011"/>
            <a:chExt cx="3372857" cy="530231"/>
          </a:xfrm>
        </p:grpSpPr>
        <p:grpSp>
          <p:nvGrpSpPr>
            <p:cNvPr id="1536029" name="Group 29"/>
            <p:cNvGrpSpPr>
              <a:grpSpLocks/>
            </p:cNvGrpSpPr>
            <p:nvPr/>
          </p:nvGrpSpPr>
          <p:grpSpPr bwMode="auto">
            <a:xfrm>
              <a:off x="1379538" y="1032011"/>
              <a:ext cx="3346450" cy="530231"/>
              <a:chOff x="869" y="661"/>
              <a:chExt cx="2108" cy="334"/>
            </a:xfrm>
          </p:grpSpPr>
          <p:sp>
            <p:nvSpPr>
              <p:cNvPr id="1536030" name="Rectangle 30"/>
              <p:cNvSpPr>
                <a:spLocks noChangeArrowheads="1"/>
              </p:cNvSpPr>
              <p:nvPr/>
            </p:nvSpPr>
            <p:spPr bwMode="auto">
              <a:xfrm>
                <a:off x="2780" y="661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miter lim="800000"/>
                    <a:headEnd type="none" w="med" len="lg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b="1" i="1" dirty="0">
                    <a:cs typeface="Times New Roman" panose="02020603050405020304" pitchFamily="18" charset="0"/>
                  </a:rPr>
                  <a:t>p</a:t>
                </a:r>
                <a:endParaRPr kumimoji="1" lang="zh-CN" altLang="en-US" sz="2000" b="1" i="1" dirty="0"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536031" name="Group 31"/>
              <p:cNvGrpSpPr>
                <a:grpSpLocks/>
              </p:cNvGrpSpPr>
              <p:nvPr/>
            </p:nvGrpSpPr>
            <p:grpSpPr bwMode="auto">
              <a:xfrm>
                <a:off x="869" y="830"/>
                <a:ext cx="1898" cy="165"/>
                <a:chOff x="1474" y="2432"/>
                <a:chExt cx="1898" cy="165"/>
              </a:xfrm>
            </p:grpSpPr>
            <p:sp>
              <p:nvSpPr>
                <p:cNvPr id="1536032" name="Line 32"/>
                <p:cNvSpPr>
                  <a:spLocks noChangeShapeType="1"/>
                </p:cNvSpPr>
                <p:nvPr/>
              </p:nvSpPr>
              <p:spPr bwMode="auto">
                <a:xfrm>
                  <a:off x="1474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33" name="Line 33"/>
                <p:cNvSpPr>
                  <a:spLocks noChangeShapeType="1"/>
                </p:cNvSpPr>
                <p:nvPr/>
              </p:nvSpPr>
              <p:spPr bwMode="auto">
                <a:xfrm>
                  <a:off x="1593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34" name="Line 34"/>
                <p:cNvSpPr>
                  <a:spLocks noChangeShapeType="1"/>
                </p:cNvSpPr>
                <p:nvPr/>
              </p:nvSpPr>
              <p:spPr bwMode="auto">
                <a:xfrm>
                  <a:off x="1712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35" name="Line 35"/>
                <p:cNvSpPr>
                  <a:spLocks noChangeShapeType="1"/>
                </p:cNvSpPr>
                <p:nvPr/>
              </p:nvSpPr>
              <p:spPr bwMode="auto">
                <a:xfrm>
                  <a:off x="1830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36" name="Line 36"/>
                <p:cNvSpPr>
                  <a:spLocks noChangeShapeType="1"/>
                </p:cNvSpPr>
                <p:nvPr/>
              </p:nvSpPr>
              <p:spPr bwMode="auto">
                <a:xfrm>
                  <a:off x="1949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37" name="Line 37"/>
                <p:cNvSpPr>
                  <a:spLocks noChangeShapeType="1"/>
                </p:cNvSpPr>
                <p:nvPr/>
              </p:nvSpPr>
              <p:spPr bwMode="auto">
                <a:xfrm>
                  <a:off x="2066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38" name="Line 38"/>
                <p:cNvSpPr>
                  <a:spLocks noChangeShapeType="1"/>
                </p:cNvSpPr>
                <p:nvPr/>
              </p:nvSpPr>
              <p:spPr bwMode="auto">
                <a:xfrm>
                  <a:off x="2185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39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40" name="Line 40"/>
                <p:cNvSpPr>
                  <a:spLocks noChangeShapeType="1"/>
                </p:cNvSpPr>
                <p:nvPr/>
              </p:nvSpPr>
              <p:spPr bwMode="auto">
                <a:xfrm>
                  <a:off x="2422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41" name="Line 41"/>
                <p:cNvSpPr>
                  <a:spLocks noChangeShapeType="1"/>
                </p:cNvSpPr>
                <p:nvPr/>
              </p:nvSpPr>
              <p:spPr bwMode="auto">
                <a:xfrm>
                  <a:off x="2541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42" name="Line 42"/>
                <p:cNvSpPr>
                  <a:spLocks noChangeShapeType="1"/>
                </p:cNvSpPr>
                <p:nvPr/>
              </p:nvSpPr>
              <p:spPr bwMode="auto">
                <a:xfrm>
                  <a:off x="2661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43" name="Line 43"/>
                <p:cNvSpPr>
                  <a:spLocks noChangeShapeType="1"/>
                </p:cNvSpPr>
                <p:nvPr/>
              </p:nvSpPr>
              <p:spPr bwMode="auto">
                <a:xfrm>
                  <a:off x="2780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44" name="Line 44"/>
                <p:cNvSpPr>
                  <a:spLocks noChangeShapeType="1"/>
                </p:cNvSpPr>
                <p:nvPr/>
              </p:nvSpPr>
              <p:spPr bwMode="auto">
                <a:xfrm>
                  <a:off x="2899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45" name="Line 45"/>
                <p:cNvSpPr>
                  <a:spLocks noChangeShapeType="1"/>
                </p:cNvSpPr>
                <p:nvPr/>
              </p:nvSpPr>
              <p:spPr bwMode="auto">
                <a:xfrm>
                  <a:off x="3017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46" name="Line 46"/>
                <p:cNvSpPr>
                  <a:spLocks noChangeShapeType="1"/>
                </p:cNvSpPr>
                <p:nvPr/>
              </p:nvSpPr>
              <p:spPr bwMode="auto">
                <a:xfrm>
                  <a:off x="3136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47" name="Line 47"/>
                <p:cNvSpPr>
                  <a:spLocks noChangeShapeType="1"/>
                </p:cNvSpPr>
                <p:nvPr/>
              </p:nvSpPr>
              <p:spPr bwMode="auto">
                <a:xfrm>
                  <a:off x="3253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536048" name="Line 48"/>
                <p:cNvSpPr>
                  <a:spLocks noChangeShapeType="1"/>
                </p:cNvSpPr>
                <p:nvPr/>
              </p:nvSpPr>
              <p:spPr bwMode="auto">
                <a:xfrm>
                  <a:off x="3372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85" name="直接连接符 84"/>
            <p:cNvCxnSpPr/>
            <p:nvPr/>
          </p:nvCxnSpPr>
          <p:spPr bwMode="auto">
            <a:xfrm>
              <a:off x="1353131" y="1293132"/>
              <a:ext cx="3068639" cy="12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658813" y="3686175"/>
            <a:ext cx="1368425" cy="1728788"/>
            <a:chOff x="658813" y="3686175"/>
            <a:chExt cx="1368425" cy="1728788"/>
          </a:xfrm>
        </p:grpSpPr>
        <p:grpSp>
          <p:nvGrpSpPr>
            <p:cNvPr id="1536053" name="Group 53"/>
            <p:cNvGrpSpPr>
              <a:grpSpLocks/>
            </p:cNvGrpSpPr>
            <p:nvPr/>
          </p:nvGrpSpPr>
          <p:grpSpPr bwMode="auto">
            <a:xfrm>
              <a:off x="658813" y="3686175"/>
              <a:ext cx="1368425" cy="1728788"/>
              <a:chOff x="415" y="2350"/>
              <a:chExt cx="862" cy="1089"/>
            </a:xfrm>
          </p:grpSpPr>
          <p:sp>
            <p:nvSpPr>
              <p:cNvPr id="1536054" name="Rectangle 54"/>
              <p:cNvSpPr>
                <a:spLocks noChangeArrowheads="1"/>
              </p:cNvSpPr>
              <p:nvPr/>
            </p:nvSpPr>
            <p:spPr bwMode="auto">
              <a:xfrm>
                <a:off x="506" y="2396"/>
                <a:ext cx="72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miter lim="800000"/>
                    <a:headEnd type="none" w="med" len="lg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zh-CN" altLang="en-US" sz="2000" b="1" dirty="0">
                    <a:ea typeface="黑体" pitchFamily="2" charset="-122"/>
                    <a:sym typeface="Symbol" pitchFamily="18" charset="2"/>
                  </a:rPr>
                  <a:t>压缩前</a:t>
                </a:r>
              </a:p>
            </p:txBody>
          </p:sp>
          <p:sp>
            <p:nvSpPr>
              <p:cNvPr id="1536057" name="AutoShape 57"/>
              <p:cNvSpPr>
                <a:spLocks noChangeArrowheads="1"/>
              </p:cNvSpPr>
              <p:nvPr/>
            </p:nvSpPr>
            <p:spPr bwMode="auto">
              <a:xfrm>
                <a:off x="415" y="2350"/>
                <a:ext cx="862" cy="1089"/>
              </a:xfrm>
              <a:prstGeom prst="roundRect">
                <a:avLst>
                  <a:gd name="adj" fmla="val 16667"/>
                </a:avLst>
              </a:prstGeom>
              <a:noFill/>
              <a:ln w="28575" algn="ctr">
                <a:solidFill>
                  <a:srgbClr val="008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0233152"/>
                </p:ext>
              </p:extLst>
            </p:nvPr>
          </p:nvGraphicFramePr>
          <p:xfrm>
            <a:off x="842963" y="4287838"/>
            <a:ext cx="10414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5922" name="Microsoft 公式 3.0" r:id="rId17" imgW="520560" imgH="228600" progId="Equation.3">
                    <p:embed/>
                  </p:oleObj>
                </mc:Choice>
                <mc:Fallback>
                  <p:oleObj name="Microsoft 公式 3.0" r:id="rId17" imgW="520560" imgH="228600" progId="Equation.3">
                    <p:embed/>
                    <p:pic>
                      <p:nvPicPr>
                        <p:cNvPr id="0" name="对象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2963" y="4287838"/>
                          <a:ext cx="104140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" name="对象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626461"/>
                </p:ext>
              </p:extLst>
            </p:nvPr>
          </p:nvGraphicFramePr>
          <p:xfrm>
            <a:off x="1154113" y="4840288"/>
            <a:ext cx="304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5923" name="Microsoft 公式 3.0" r:id="rId19" imgW="152280" imgH="215640" progId="Equation.3">
                    <p:embed/>
                  </p:oleObj>
                </mc:Choice>
                <mc:Fallback>
                  <p:oleObj name="Microsoft 公式 3.0" r:id="rId19" imgW="1522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4113" y="4840288"/>
                          <a:ext cx="3048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2890838" y="3686175"/>
            <a:ext cx="1727200" cy="1800225"/>
            <a:chOff x="2890838" y="3686175"/>
            <a:chExt cx="1727200" cy="1800225"/>
          </a:xfrm>
        </p:grpSpPr>
        <p:grpSp>
          <p:nvGrpSpPr>
            <p:cNvPr id="1536058" name="Group 58"/>
            <p:cNvGrpSpPr>
              <a:grpSpLocks/>
            </p:cNvGrpSpPr>
            <p:nvPr/>
          </p:nvGrpSpPr>
          <p:grpSpPr bwMode="auto">
            <a:xfrm>
              <a:off x="2890838" y="3686175"/>
              <a:ext cx="1727200" cy="1800225"/>
              <a:chOff x="1821" y="2350"/>
              <a:chExt cx="1088" cy="1134"/>
            </a:xfrm>
          </p:grpSpPr>
          <p:sp>
            <p:nvSpPr>
              <p:cNvPr id="1536059" name="Rectangle 59"/>
              <p:cNvSpPr>
                <a:spLocks noChangeArrowheads="1"/>
              </p:cNvSpPr>
              <p:nvPr/>
            </p:nvSpPr>
            <p:spPr bwMode="auto">
              <a:xfrm>
                <a:off x="2051" y="2441"/>
                <a:ext cx="72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339966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>
                    <a:ea typeface="黑体" pitchFamily="2" charset="-122"/>
                    <a:sym typeface="Symbol" pitchFamily="18" charset="2"/>
                  </a:rPr>
                  <a:t>压缩后</a:t>
                </a:r>
              </a:p>
            </p:txBody>
          </p:sp>
          <p:sp>
            <p:nvSpPr>
              <p:cNvPr id="1536062" name="AutoShape 62"/>
              <p:cNvSpPr>
                <a:spLocks noChangeArrowheads="1"/>
              </p:cNvSpPr>
              <p:nvPr/>
            </p:nvSpPr>
            <p:spPr bwMode="auto">
              <a:xfrm>
                <a:off x="1821" y="2350"/>
                <a:ext cx="1088" cy="1134"/>
              </a:xfrm>
              <a:prstGeom prst="roundRect">
                <a:avLst>
                  <a:gd name="adj" fmla="val 16667"/>
                </a:avLst>
              </a:prstGeom>
              <a:noFill/>
              <a:ln w="28575" algn="ctr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3957325"/>
                </p:ext>
              </p:extLst>
            </p:nvPr>
          </p:nvGraphicFramePr>
          <p:xfrm>
            <a:off x="2938463" y="4265613"/>
            <a:ext cx="16510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5924" name="Microsoft 公式 3.0" r:id="rId21" imgW="825480" imgH="228600" progId="Equation.3">
                    <p:embed/>
                  </p:oleObj>
                </mc:Choice>
                <mc:Fallback>
                  <p:oleObj name="Microsoft 公式 3.0" r:id="rId21" imgW="825480" imgH="228600" progId="Equation.3">
                    <p:embed/>
                    <p:pic>
                      <p:nvPicPr>
                        <p:cNvPr id="0" name="对象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8463" y="4265613"/>
                          <a:ext cx="165100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3520363"/>
                </p:ext>
              </p:extLst>
            </p:nvPr>
          </p:nvGraphicFramePr>
          <p:xfrm>
            <a:off x="3560763" y="4846638"/>
            <a:ext cx="3302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5925" name="公式" r:id="rId23" imgW="164880" imgH="215640" progId="Equation.3">
                    <p:embed/>
                  </p:oleObj>
                </mc:Choice>
                <mc:Fallback>
                  <p:oleObj name="公式" r:id="rId23" imgW="164880" imgH="215640" progId="Equation.3">
                    <p:embed/>
                    <p:pic>
                      <p:nvPicPr>
                        <p:cNvPr id="0" name="对象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763" y="4846638"/>
                          <a:ext cx="3302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2095834"/>
              </p:ext>
            </p:extLst>
          </p:nvPr>
        </p:nvGraphicFramePr>
        <p:xfrm>
          <a:off x="6170613" y="708025"/>
          <a:ext cx="200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5926" name="Microsoft 公式 3.0" r:id="rId25" imgW="1002960" imgH="228600" progId="Equation.3">
                  <p:embed/>
                </p:oleObj>
              </mc:Choice>
              <mc:Fallback>
                <p:oleObj name="Microsoft 公式 3.0" r:id="rId25" imgW="1002960" imgH="228600" progId="Equation.3">
                  <p:embed/>
                  <p:pic>
                    <p:nvPicPr>
                      <p:cNvPr id="0" name="对象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0613" y="708025"/>
                        <a:ext cx="2006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对象 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940710"/>
              </p:ext>
            </p:extLst>
          </p:nvPr>
        </p:nvGraphicFramePr>
        <p:xfrm>
          <a:off x="5872163" y="2909888"/>
          <a:ext cx="25590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5927" name="Equation" r:id="rId27" imgW="1422360" imgH="406080" progId="Equation.DSMT4">
                  <p:embed/>
                </p:oleObj>
              </mc:Choice>
              <mc:Fallback>
                <p:oleObj name="Equation" r:id="rId27" imgW="1422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2163" y="2909888"/>
                        <a:ext cx="255905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对象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659139"/>
              </p:ext>
            </p:extLst>
          </p:nvPr>
        </p:nvGraphicFramePr>
        <p:xfrm>
          <a:off x="5778500" y="3667125"/>
          <a:ext cx="31321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5928" name="Microsoft 公式 3.0" r:id="rId29" imgW="1739880" imgH="444240" progId="Equation.3">
                  <p:embed/>
                </p:oleObj>
              </mc:Choice>
              <mc:Fallback>
                <p:oleObj name="Microsoft 公式 3.0" r:id="rId29" imgW="17398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0" y="3667125"/>
                        <a:ext cx="3132138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536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53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153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153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3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3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8" grpId="0" animBg="1"/>
      <p:bldP spid="1536063" grpId="0"/>
      <p:bldP spid="153606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27" name="Rectangle 3"/>
          <p:cNvSpPr>
            <a:spLocks noChangeArrowheads="1"/>
          </p:cNvSpPr>
          <p:nvPr/>
        </p:nvSpPr>
        <p:spPr bwMode="auto">
          <a:xfrm>
            <a:off x="400050" y="665163"/>
            <a:ext cx="35337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计算公式：</a:t>
            </a:r>
            <a:r>
              <a:rPr kumimoji="1" lang="en-US" altLang="zh-CN" sz="24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kumimoji="1" lang="en-US" altLang="zh-CN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– </a:t>
            </a:r>
            <a:r>
              <a:rPr kumimoji="1" lang="en-US" altLang="zh-CN" sz="24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 </a:t>
            </a:r>
            <a:r>
              <a:rPr kumimoji="1"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线</a:t>
            </a:r>
            <a:endParaRPr kumimoji="1" lang="zh-CN" altLang="en-US" sz="2400" b="1" dirty="0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37033" name="Rectangle 9"/>
          <p:cNvSpPr>
            <a:spLocks noChangeArrowheads="1"/>
          </p:cNvSpPr>
          <p:nvPr/>
        </p:nvSpPr>
        <p:spPr bwMode="auto">
          <a:xfrm>
            <a:off x="2353736" y="5766507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单一土层一维压缩问题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1537037" name="Group 13"/>
          <p:cNvGrpSpPr>
            <a:grpSpLocks/>
          </p:cNvGrpSpPr>
          <p:nvPr/>
        </p:nvGrpSpPr>
        <p:grpSpPr bwMode="auto">
          <a:xfrm>
            <a:off x="5100639" y="735013"/>
            <a:ext cx="3784601" cy="4757737"/>
            <a:chOff x="3213" y="463"/>
            <a:chExt cx="2384" cy="2997"/>
          </a:xfrm>
        </p:grpSpPr>
        <p:sp>
          <p:nvSpPr>
            <p:cNvPr id="1537038" name="Rectangle 14"/>
            <p:cNvSpPr>
              <a:spLocks noChangeArrowheads="1"/>
            </p:cNvSpPr>
            <p:nvPr/>
          </p:nvSpPr>
          <p:spPr bwMode="auto">
            <a:xfrm>
              <a:off x="3222" y="463"/>
              <a:ext cx="2375" cy="2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37039" name="Freeform 15"/>
            <p:cNvSpPr>
              <a:spLocks/>
            </p:cNvSpPr>
            <p:nvPr/>
          </p:nvSpPr>
          <p:spPr bwMode="auto">
            <a:xfrm>
              <a:off x="3516" y="880"/>
              <a:ext cx="1881" cy="1831"/>
            </a:xfrm>
            <a:custGeom>
              <a:avLst/>
              <a:gdLst>
                <a:gd name="T0" fmla="*/ 0 w 1881"/>
                <a:gd name="T1" fmla="*/ 0 h 1831"/>
                <a:gd name="T2" fmla="*/ 0 w 1881"/>
                <a:gd name="T3" fmla="*/ 1831 h 1831"/>
                <a:gd name="T4" fmla="*/ 1881 w 1881"/>
                <a:gd name="T5" fmla="*/ 1831 h 1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1" h="1831">
                  <a:moveTo>
                    <a:pt x="0" y="0"/>
                  </a:moveTo>
                  <a:lnTo>
                    <a:pt x="0" y="1831"/>
                  </a:lnTo>
                  <a:lnTo>
                    <a:pt x="1881" y="183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40" name="Freeform 16"/>
            <p:cNvSpPr>
              <a:spLocks noChangeAspect="1"/>
            </p:cNvSpPr>
            <p:nvPr/>
          </p:nvSpPr>
          <p:spPr bwMode="auto">
            <a:xfrm>
              <a:off x="3515" y="1196"/>
              <a:ext cx="1675" cy="1255"/>
            </a:xfrm>
            <a:custGeom>
              <a:avLst/>
              <a:gdLst>
                <a:gd name="T0" fmla="*/ 1675 w 1675"/>
                <a:gd name="T1" fmla="*/ 1255 h 1255"/>
                <a:gd name="T2" fmla="*/ 1339 w 1675"/>
                <a:gd name="T3" fmla="*/ 1108 h 1255"/>
                <a:gd name="T4" fmla="*/ 958 w 1675"/>
                <a:gd name="T5" fmla="*/ 897 h 1255"/>
                <a:gd name="T6" fmla="*/ 686 w 1675"/>
                <a:gd name="T7" fmla="*/ 722 h 1255"/>
                <a:gd name="T8" fmla="*/ 408 w 1675"/>
                <a:gd name="T9" fmla="*/ 501 h 1255"/>
                <a:gd name="T10" fmla="*/ 238 w 1675"/>
                <a:gd name="T11" fmla="*/ 331 h 1255"/>
                <a:gd name="T12" fmla="*/ 96 w 1675"/>
                <a:gd name="T13" fmla="*/ 153 h 1255"/>
                <a:gd name="T14" fmla="*/ 0 w 1675"/>
                <a:gd name="T15" fmla="*/ 0 h 1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75" h="1255">
                  <a:moveTo>
                    <a:pt x="1675" y="1255"/>
                  </a:moveTo>
                  <a:cubicBezTo>
                    <a:pt x="1619" y="1231"/>
                    <a:pt x="1458" y="1168"/>
                    <a:pt x="1339" y="1108"/>
                  </a:cubicBezTo>
                  <a:cubicBezTo>
                    <a:pt x="1220" y="1048"/>
                    <a:pt x="1067" y="961"/>
                    <a:pt x="958" y="897"/>
                  </a:cubicBezTo>
                  <a:cubicBezTo>
                    <a:pt x="849" y="833"/>
                    <a:pt x="778" y="788"/>
                    <a:pt x="686" y="722"/>
                  </a:cubicBezTo>
                  <a:cubicBezTo>
                    <a:pt x="594" y="656"/>
                    <a:pt x="483" y="566"/>
                    <a:pt x="408" y="501"/>
                  </a:cubicBezTo>
                  <a:cubicBezTo>
                    <a:pt x="333" y="436"/>
                    <a:pt x="290" y="389"/>
                    <a:pt x="238" y="331"/>
                  </a:cubicBezTo>
                  <a:cubicBezTo>
                    <a:pt x="186" y="273"/>
                    <a:pt x="136" y="208"/>
                    <a:pt x="96" y="153"/>
                  </a:cubicBezTo>
                  <a:cubicBezTo>
                    <a:pt x="56" y="98"/>
                    <a:pt x="20" y="32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rgbClr val="A5002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41" name="Line 17"/>
            <p:cNvSpPr>
              <a:spLocks noChangeShapeType="1"/>
            </p:cNvSpPr>
            <p:nvPr/>
          </p:nvSpPr>
          <p:spPr bwMode="auto">
            <a:xfrm>
              <a:off x="3515" y="1696"/>
              <a:ext cx="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42" name="Line 18"/>
            <p:cNvSpPr>
              <a:spLocks noChangeShapeType="1"/>
            </p:cNvSpPr>
            <p:nvPr/>
          </p:nvSpPr>
          <p:spPr bwMode="auto">
            <a:xfrm>
              <a:off x="3515" y="2124"/>
              <a:ext cx="10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43" name="Line 19"/>
            <p:cNvSpPr>
              <a:spLocks noChangeShapeType="1"/>
            </p:cNvSpPr>
            <p:nvPr/>
          </p:nvSpPr>
          <p:spPr bwMode="auto">
            <a:xfrm>
              <a:off x="3915" y="1671"/>
              <a:ext cx="0" cy="10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44" name="Line 20"/>
            <p:cNvSpPr>
              <a:spLocks noChangeShapeType="1"/>
            </p:cNvSpPr>
            <p:nvPr/>
          </p:nvSpPr>
          <p:spPr bwMode="auto">
            <a:xfrm>
              <a:off x="4515" y="2124"/>
              <a:ext cx="0" cy="5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53" name="Text Box 29"/>
            <p:cNvSpPr txBox="1">
              <a:spLocks noChangeArrowheads="1"/>
            </p:cNvSpPr>
            <p:nvPr/>
          </p:nvSpPr>
          <p:spPr bwMode="auto">
            <a:xfrm>
              <a:off x="3242" y="673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3200" b="1" i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e</a:t>
              </a:r>
            </a:p>
          </p:txBody>
        </p:sp>
        <p:sp>
          <p:nvSpPr>
            <p:cNvPr id="1537054" name="Text Box 30"/>
            <p:cNvSpPr txBox="1">
              <a:spLocks noChangeArrowheads="1"/>
            </p:cNvSpPr>
            <p:nvPr/>
          </p:nvSpPr>
          <p:spPr bwMode="auto">
            <a:xfrm>
              <a:off x="3223" y="1482"/>
              <a:ext cx="3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r>
                <a:rPr kumimoji="1" lang="en-US" altLang="zh-CN" sz="2400" b="1" i="1" baseline="-25000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537055" name="Text Box 31"/>
            <p:cNvSpPr txBox="1">
              <a:spLocks noChangeArrowheads="1"/>
            </p:cNvSpPr>
            <p:nvPr/>
          </p:nvSpPr>
          <p:spPr bwMode="auto">
            <a:xfrm>
              <a:off x="3213" y="1912"/>
              <a:ext cx="3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r>
                <a:rPr kumimoji="1" lang="en-US" altLang="zh-CN" sz="2400" b="1" i="1" baseline="-2500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2</a:t>
              </a:r>
            </a:p>
          </p:txBody>
        </p:sp>
        <p:sp>
          <p:nvSpPr>
            <p:cNvPr id="1537056" name="Line 32"/>
            <p:cNvSpPr>
              <a:spLocks noChangeShapeType="1"/>
            </p:cNvSpPr>
            <p:nvPr/>
          </p:nvSpPr>
          <p:spPr bwMode="auto">
            <a:xfrm>
              <a:off x="3510" y="2804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57" name="Line 33"/>
            <p:cNvSpPr>
              <a:spLocks noChangeShapeType="1"/>
            </p:cNvSpPr>
            <p:nvPr/>
          </p:nvSpPr>
          <p:spPr bwMode="auto">
            <a:xfrm>
              <a:off x="4518" y="2798"/>
              <a:ext cx="0" cy="5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58" name="Line 34"/>
            <p:cNvSpPr>
              <a:spLocks noChangeShapeType="1"/>
            </p:cNvSpPr>
            <p:nvPr/>
          </p:nvSpPr>
          <p:spPr bwMode="auto">
            <a:xfrm>
              <a:off x="3918" y="2797"/>
              <a:ext cx="0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59" name="Line 35"/>
            <p:cNvSpPr>
              <a:spLocks noChangeShapeType="1"/>
            </p:cNvSpPr>
            <p:nvPr/>
          </p:nvSpPr>
          <p:spPr bwMode="auto">
            <a:xfrm>
              <a:off x="3514" y="3032"/>
              <a:ext cx="3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60" name="Line 36"/>
            <p:cNvSpPr>
              <a:spLocks noChangeShapeType="1"/>
            </p:cNvSpPr>
            <p:nvPr/>
          </p:nvSpPr>
          <p:spPr bwMode="auto">
            <a:xfrm>
              <a:off x="3919" y="3032"/>
              <a:ext cx="6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61" name="Line 37"/>
            <p:cNvSpPr>
              <a:spLocks noChangeShapeType="1"/>
            </p:cNvSpPr>
            <p:nvPr/>
          </p:nvSpPr>
          <p:spPr bwMode="auto">
            <a:xfrm>
              <a:off x="3516" y="3280"/>
              <a:ext cx="10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62" name="Text Box 38"/>
            <p:cNvSpPr txBox="1">
              <a:spLocks noChangeArrowheads="1"/>
            </p:cNvSpPr>
            <p:nvPr/>
          </p:nvSpPr>
          <p:spPr bwMode="auto">
            <a:xfrm>
              <a:off x="3548" y="2672"/>
              <a:ext cx="3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537063" name="Text Box 39"/>
            <p:cNvSpPr txBox="1">
              <a:spLocks noChangeArrowheads="1"/>
            </p:cNvSpPr>
            <p:nvPr/>
          </p:nvSpPr>
          <p:spPr bwMode="auto">
            <a:xfrm>
              <a:off x="3855" y="2986"/>
              <a:ext cx="30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2</a:t>
              </a:r>
            </a:p>
          </p:txBody>
        </p:sp>
        <p:sp>
          <p:nvSpPr>
            <p:cNvPr id="1537064" name="Text Box 40"/>
            <p:cNvSpPr txBox="1">
              <a:spLocks noChangeArrowheads="1"/>
            </p:cNvSpPr>
            <p:nvPr/>
          </p:nvSpPr>
          <p:spPr bwMode="auto">
            <a:xfrm>
              <a:off x="4085" y="2681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</p:txBody>
        </p:sp>
        <p:sp>
          <p:nvSpPr>
            <p:cNvPr id="1537066" name="Text Box 42"/>
            <p:cNvSpPr txBox="1">
              <a:spLocks noChangeArrowheads="1"/>
            </p:cNvSpPr>
            <p:nvPr/>
          </p:nvSpPr>
          <p:spPr bwMode="auto">
            <a:xfrm>
              <a:off x="5234" y="2696"/>
              <a:ext cx="256" cy="3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200" b="1" i="1" dirty="0">
                  <a:ea typeface="幼圆" pitchFamily="49" charset="-12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1537067" name="Oval 43"/>
            <p:cNvSpPr>
              <a:spLocks noChangeArrowheads="1"/>
            </p:cNvSpPr>
            <p:nvPr/>
          </p:nvSpPr>
          <p:spPr bwMode="auto">
            <a:xfrm>
              <a:off x="3892" y="1669"/>
              <a:ext cx="44" cy="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37068" name="Oval 44"/>
            <p:cNvSpPr>
              <a:spLocks noChangeArrowheads="1"/>
            </p:cNvSpPr>
            <p:nvPr/>
          </p:nvSpPr>
          <p:spPr bwMode="auto">
            <a:xfrm>
              <a:off x="4496" y="2100"/>
              <a:ext cx="44" cy="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37069" name="Freeform 45"/>
            <p:cNvSpPr>
              <a:spLocks/>
            </p:cNvSpPr>
            <p:nvPr/>
          </p:nvSpPr>
          <p:spPr bwMode="auto">
            <a:xfrm>
              <a:off x="4119" y="1753"/>
              <a:ext cx="292" cy="216"/>
            </a:xfrm>
            <a:custGeom>
              <a:avLst/>
              <a:gdLst>
                <a:gd name="T0" fmla="*/ 0 w 292"/>
                <a:gd name="T1" fmla="*/ 0 h 216"/>
                <a:gd name="T2" fmla="*/ 134 w 292"/>
                <a:gd name="T3" fmla="*/ 106 h 216"/>
                <a:gd name="T4" fmla="*/ 292 w 292"/>
                <a:gd name="T5" fmla="*/ 21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2" h="216">
                  <a:moveTo>
                    <a:pt x="0" y="0"/>
                  </a:moveTo>
                  <a:cubicBezTo>
                    <a:pt x="42" y="35"/>
                    <a:pt x="85" y="70"/>
                    <a:pt x="134" y="106"/>
                  </a:cubicBezTo>
                  <a:cubicBezTo>
                    <a:pt x="183" y="142"/>
                    <a:pt x="237" y="179"/>
                    <a:pt x="292" y="216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70" name="Text Box 46"/>
            <p:cNvSpPr txBox="1">
              <a:spLocks noChangeArrowheads="1"/>
            </p:cNvSpPr>
            <p:nvPr/>
          </p:nvSpPr>
          <p:spPr bwMode="auto">
            <a:xfrm>
              <a:off x="4070" y="1107"/>
              <a:ext cx="659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solidFill>
                    <a:srgbClr val="990000"/>
                  </a:solidFill>
                  <a:ea typeface="幼圆" pitchFamily="49" charset="-122"/>
                </a:rPr>
                <a:t>自重应力状态</a:t>
              </a:r>
            </a:p>
          </p:txBody>
        </p:sp>
        <p:sp>
          <p:nvSpPr>
            <p:cNvPr id="1537071" name="Line 47"/>
            <p:cNvSpPr>
              <a:spLocks noChangeShapeType="1"/>
            </p:cNvSpPr>
            <p:nvPr/>
          </p:nvSpPr>
          <p:spPr bwMode="auto">
            <a:xfrm flipV="1">
              <a:off x="3926" y="1430"/>
              <a:ext cx="144" cy="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72" name="Text Box 48"/>
            <p:cNvSpPr txBox="1">
              <a:spLocks noChangeArrowheads="1"/>
            </p:cNvSpPr>
            <p:nvPr/>
          </p:nvSpPr>
          <p:spPr bwMode="auto">
            <a:xfrm>
              <a:off x="4724" y="1656"/>
              <a:ext cx="659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ea typeface="幼圆" pitchFamily="49" charset="-122"/>
                </a:rPr>
                <a:t>附加应力状态</a:t>
              </a:r>
            </a:p>
          </p:txBody>
        </p:sp>
        <p:sp>
          <p:nvSpPr>
            <p:cNvPr id="1537073" name="Line 49"/>
            <p:cNvSpPr>
              <a:spLocks noChangeShapeType="1"/>
            </p:cNvSpPr>
            <p:nvPr/>
          </p:nvSpPr>
          <p:spPr bwMode="auto">
            <a:xfrm flipV="1">
              <a:off x="4550" y="1901"/>
              <a:ext cx="183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-9526" y="0"/>
            <a:ext cx="471469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单一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土层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785753"/>
              </p:ext>
            </p:extLst>
          </p:nvPr>
        </p:nvGraphicFramePr>
        <p:xfrm>
          <a:off x="5797550" y="849313"/>
          <a:ext cx="295592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46" name="Microsoft 公式 3.0" r:id="rId3" imgW="1739880" imgH="444240" progId="Equation.3">
                  <p:embed/>
                </p:oleObj>
              </mc:Choice>
              <mc:Fallback>
                <p:oleObj name="Microsoft 公式 3.0" r:id="rId3" imgW="1739880" imgH="444240" progId="Equation.3">
                  <p:embed/>
                  <p:pic>
                    <p:nvPicPr>
                      <p:cNvPr id="0" name="对象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7550" y="849313"/>
                        <a:ext cx="2955925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355042"/>
              </p:ext>
            </p:extLst>
          </p:nvPr>
        </p:nvGraphicFramePr>
        <p:xfrm>
          <a:off x="809625" y="1308100"/>
          <a:ext cx="2463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47" name="Microsoft 公式 3.0" r:id="rId5" imgW="1231560" imgH="215640" progId="Equation.3">
                  <p:embed/>
                </p:oleObj>
              </mc:Choice>
              <mc:Fallback>
                <p:oleObj name="Microsoft 公式 3.0" r:id="rId5" imgW="1231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1308100"/>
                        <a:ext cx="2463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006402"/>
              </p:ext>
            </p:extLst>
          </p:nvPr>
        </p:nvGraphicFramePr>
        <p:xfrm>
          <a:off x="811213" y="1892300"/>
          <a:ext cx="407670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48" name="Microsoft 公式 3.0" r:id="rId7" imgW="2145960" imgH="444240" progId="Equation.3">
                  <p:embed/>
                </p:oleObj>
              </mc:Choice>
              <mc:Fallback>
                <p:oleObj name="Microsoft 公式 3.0" r:id="rId7" imgW="21459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3" y="1892300"/>
                        <a:ext cx="4076700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156250"/>
              </p:ext>
            </p:extLst>
          </p:nvPr>
        </p:nvGraphicFramePr>
        <p:xfrm>
          <a:off x="835025" y="2909372"/>
          <a:ext cx="1495425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49" name="Microsoft 公式 3.0" r:id="rId9" imgW="787320" imgH="444240" progId="Equation.3">
                  <p:embed/>
                </p:oleObj>
              </mc:Choice>
              <mc:Fallback>
                <p:oleObj name="Microsoft 公式 3.0" r:id="rId9" imgW="7873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2909372"/>
                        <a:ext cx="1495425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571489"/>
              </p:ext>
            </p:extLst>
          </p:nvPr>
        </p:nvGraphicFramePr>
        <p:xfrm>
          <a:off x="833438" y="3823395"/>
          <a:ext cx="22431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50" name="Microsoft 公式 3.0" r:id="rId11" imgW="1180800" imgH="228600" progId="Equation.3">
                  <p:embed/>
                </p:oleObj>
              </mc:Choice>
              <mc:Fallback>
                <p:oleObj name="Microsoft 公式 3.0" r:id="rId11" imgW="1180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8" y="3823395"/>
                        <a:ext cx="22431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455739"/>
              </p:ext>
            </p:extLst>
          </p:nvPr>
        </p:nvGraphicFramePr>
        <p:xfrm>
          <a:off x="831020" y="4361558"/>
          <a:ext cx="10858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51" name="Microsoft 公式 3.0" r:id="rId13" imgW="571320" imgH="444240" progId="Equation.3">
                  <p:embed/>
                </p:oleObj>
              </mc:Choice>
              <mc:Fallback>
                <p:oleObj name="Microsoft 公式 3.0" r:id="rId13" imgW="5713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020" y="4361558"/>
                        <a:ext cx="10858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37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37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027" grpId="0" build="p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051" name="Rectangle 3"/>
          <p:cNvSpPr>
            <a:spLocks noChangeArrowheads="1"/>
          </p:cNvSpPr>
          <p:nvPr/>
        </p:nvSpPr>
        <p:spPr bwMode="auto">
          <a:xfrm>
            <a:off x="1579563" y="1689100"/>
            <a:ext cx="6218237" cy="327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优点:</a:t>
            </a:r>
          </a:p>
          <a:p>
            <a:pPr marL="1077913" lvl="1" indent="-636588"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8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可使用推定的原位压缩和再压缩曲线</a:t>
            </a:r>
          </a:p>
          <a:p>
            <a:pPr marL="1077913" lvl="1" indent="-636588"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8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可考虑土层的应力历史，区分正常固结土和超固结土分别进行计算</a:t>
            </a:r>
            <a:endParaRPr kumimoji="1" lang="zh-CN" altLang="en-US" sz="2400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38052" name="Rectangle 4"/>
          <p:cNvSpPr>
            <a:spLocks noChangeArrowheads="1"/>
          </p:cNvSpPr>
          <p:nvPr/>
        </p:nvSpPr>
        <p:spPr bwMode="auto">
          <a:xfrm>
            <a:off x="400050" y="723900"/>
            <a:ext cx="4433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计算公式：</a:t>
            </a:r>
            <a:r>
              <a:rPr kumimoji="1" lang="en-US" altLang="zh-CN" sz="28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kumimoji="1"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800" b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lg</a:t>
            </a:r>
            <a:r>
              <a:rPr kumimoji="1" lang="en-US" altLang="zh-CN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8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 </a:t>
            </a:r>
            <a:r>
              <a:rPr kumimoji="1" lang="zh-CN" altLang="en-US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  <a:endParaRPr kumimoji="1" lang="zh-CN" altLang="en-US" sz="28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38053" name="Rectangle 5"/>
          <p:cNvSpPr>
            <a:spLocks noChangeArrowheads="1"/>
          </p:cNvSpPr>
          <p:nvPr/>
        </p:nvSpPr>
        <p:spPr bwMode="auto">
          <a:xfrm>
            <a:off x="2380370" y="5705008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单一土层一维压缩问题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9526" y="0"/>
            <a:ext cx="471469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单一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土层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8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8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38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38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051" grpId="0" build="p" autoUpdateAnimBg="0"/>
      <p:bldP spid="1538052" grpId="0" build="p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5" name="Rectangle 3"/>
          <p:cNvSpPr>
            <a:spLocks noChangeArrowheads="1"/>
          </p:cNvSpPr>
          <p:nvPr/>
        </p:nvSpPr>
        <p:spPr bwMode="auto">
          <a:xfrm>
            <a:off x="279400" y="677863"/>
            <a:ext cx="62468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计算公式：</a:t>
            </a:r>
            <a:r>
              <a:rPr kumimoji="1" lang="en-US" altLang="zh-CN" sz="28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kumimoji="1" lang="en-US" altLang="zh-CN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kumimoji="1" lang="en-US" altLang="zh-CN" sz="2800" b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lg</a:t>
            </a:r>
            <a:r>
              <a:rPr kumimoji="1" lang="en-US" altLang="zh-CN" sz="2800" b="1" i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  <a:r>
              <a:rPr kumimoji="1"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正常固结土</a:t>
            </a:r>
          </a:p>
        </p:txBody>
      </p:sp>
      <p:sp>
        <p:nvSpPr>
          <p:cNvPr id="1539076" name="Rectangle 4"/>
          <p:cNvSpPr>
            <a:spLocks noChangeArrowheads="1"/>
          </p:cNvSpPr>
          <p:nvPr/>
        </p:nvSpPr>
        <p:spPr bwMode="auto">
          <a:xfrm>
            <a:off x="2371492" y="5779914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单一土层一维压缩问题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39077" name="Text Box 5"/>
          <p:cNvSpPr txBox="1">
            <a:spLocks noChangeArrowheads="1"/>
          </p:cNvSpPr>
          <p:nvPr/>
        </p:nvSpPr>
        <p:spPr bwMode="auto">
          <a:xfrm>
            <a:off x="598488" y="1492250"/>
            <a:ext cx="367665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25475" indent="-62547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486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8425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可使用推定的原位压缩曲线的</a:t>
            </a:r>
            <a:r>
              <a:rPr lang="en-US" altLang="zh-CN" sz="28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C</a:t>
            </a:r>
            <a:r>
              <a:rPr lang="en-US" altLang="zh-CN" sz="2800" b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c</a:t>
            </a: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值进行计算：</a:t>
            </a:r>
            <a:endParaRPr lang="en-US" altLang="zh-CN" sz="28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5390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78782"/>
              </p:ext>
            </p:extLst>
          </p:nvPr>
        </p:nvGraphicFramePr>
        <p:xfrm>
          <a:off x="1384300" y="3346450"/>
          <a:ext cx="2746375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451" name="Microsoft 公式 3.0" r:id="rId3" imgW="1282680" imgH="888840" progId="Equation.3">
                  <p:embed/>
                </p:oleObj>
              </mc:Choice>
              <mc:Fallback>
                <p:oleObj name="Microsoft 公式 3.0" r:id="rId3" imgW="1282680" imgH="8888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3346450"/>
                        <a:ext cx="2746375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-9526" y="0"/>
            <a:ext cx="471469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单一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土层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41850" y="1404938"/>
            <a:ext cx="4206875" cy="4264025"/>
            <a:chOff x="4641850" y="1404938"/>
            <a:chExt cx="4206875" cy="4264025"/>
          </a:xfrm>
        </p:grpSpPr>
        <p:grpSp>
          <p:nvGrpSpPr>
            <p:cNvPr id="1539079" name="Group 7"/>
            <p:cNvGrpSpPr>
              <a:grpSpLocks/>
            </p:cNvGrpSpPr>
            <p:nvPr/>
          </p:nvGrpSpPr>
          <p:grpSpPr bwMode="auto">
            <a:xfrm>
              <a:off x="4641850" y="1404938"/>
              <a:ext cx="4206875" cy="4264025"/>
              <a:chOff x="2924" y="885"/>
              <a:chExt cx="2650" cy="2686"/>
            </a:xfrm>
          </p:grpSpPr>
          <p:sp>
            <p:nvSpPr>
              <p:cNvPr id="1539080" name="Rectangle 8"/>
              <p:cNvSpPr>
                <a:spLocks noChangeArrowheads="1"/>
              </p:cNvSpPr>
              <p:nvPr/>
            </p:nvSpPr>
            <p:spPr bwMode="auto">
              <a:xfrm>
                <a:off x="2924" y="885"/>
                <a:ext cx="2650" cy="2686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39081" name="Freeform 9"/>
              <p:cNvSpPr>
                <a:spLocks/>
              </p:cNvSpPr>
              <p:nvPr/>
            </p:nvSpPr>
            <p:spPr bwMode="auto">
              <a:xfrm>
                <a:off x="3324" y="1700"/>
                <a:ext cx="1691" cy="1502"/>
              </a:xfrm>
              <a:custGeom>
                <a:avLst/>
                <a:gdLst>
                  <a:gd name="T0" fmla="*/ 0 w 1881"/>
                  <a:gd name="T1" fmla="*/ 0 h 1831"/>
                  <a:gd name="T2" fmla="*/ 0 w 1881"/>
                  <a:gd name="T3" fmla="*/ 1831 h 1831"/>
                  <a:gd name="T4" fmla="*/ 1881 w 1881"/>
                  <a:gd name="T5" fmla="*/ 1831 h 18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81" h="1831">
                    <a:moveTo>
                      <a:pt x="0" y="0"/>
                    </a:moveTo>
                    <a:lnTo>
                      <a:pt x="0" y="1831"/>
                    </a:lnTo>
                    <a:lnTo>
                      <a:pt x="1881" y="183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083" name="Freeform 11"/>
              <p:cNvSpPr>
                <a:spLocks/>
              </p:cNvSpPr>
              <p:nvPr/>
            </p:nvSpPr>
            <p:spPr bwMode="auto">
              <a:xfrm>
                <a:off x="3322" y="2644"/>
                <a:ext cx="1045" cy="1"/>
              </a:xfrm>
              <a:custGeom>
                <a:avLst/>
                <a:gdLst>
                  <a:gd name="T0" fmla="*/ 1045 w 1045"/>
                  <a:gd name="T1" fmla="*/ 1 h 1"/>
                  <a:gd name="T2" fmla="*/ 0 w 104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45" h="1">
                    <a:moveTo>
                      <a:pt x="1045" y="1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089" name="Freeform 17"/>
              <p:cNvSpPr>
                <a:spLocks/>
              </p:cNvSpPr>
              <p:nvPr/>
            </p:nvSpPr>
            <p:spPr bwMode="auto">
              <a:xfrm>
                <a:off x="3326" y="2187"/>
                <a:ext cx="669" cy="2"/>
              </a:xfrm>
              <a:custGeom>
                <a:avLst/>
                <a:gdLst>
                  <a:gd name="T0" fmla="*/ 0 w 669"/>
                  <a:gd name="T1" fmla="*/ 2 h 2"/>
                  <a:gd name="T2" fmla="*/ 669 w 669"/>
                  <a:gd name="T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69" h="2">
                    <a:moveTo>
                      <a:pt x="0" y="2"/>
                    </a:moveTo>
                    <a:lnTo>
                      <a:pt x="669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539090" name="Freeform 18"/>
              <p:cNvSpPr>
                <a:spLocks/>
              </p:cNvSpPr>
              <p:nvPr/>
            </p:nvSpPr>
            <p:spPr bwMode="auto">
              <a:xfrm>
                <a:off x="3822" y="1976"/>
                <a:ext cx="755" cy="930"/>
              </a:xfrm>
              <a:custGeom>
                <a:avLst/>
                <a:gdLst>
                  <a:gd name="T0" fmla="*/ 0 w 797"/>
                  <a:gd name="T1" fmla="*/ 0 h 936"/>
                  <a:gd name="T2" fmla="*/ 797 w 797"/>
                  <a:gd name="T3" fmla="*/ 936 h 9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97" h="936">
                    <a:moveTo>
                      <a:pt x="0" y="0"/>
                    </a:moveTo>
                    <a:lnTo>
                      <a:pt x="797" y="936"/>
                    </a:lnTo>
                  </a:path>
                </a:pathLst>
              </a:custGeom>
              <a:noFill/>
              <a:ln w="19050">
                <a:solidFill>
                  <a:srgbClr val="A5002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091" name="Freeform 19"/>
              <p:cNvSpPr>
                <a:spLocks/>
              </p:cNvSpPr>
              <p:nvPr/>
            </p:nvSpPr>
            <p:spPr bwMode="auto">
              <a:xfrm>
                <a:off x="3983" y="2179"/>
                <a:ext cx="11" cy="1025"/>
              </a:xfrm>
              <a:custGeom>
                <a:avLst/>
                <a:gdLst>
                  <a:gd name="T0" fmla="*/ 0 w 11"/>
                  <a:gd name="T1" fmla="*/ 1025 h 1025"/>
                  <a:gd name="T2" fmla="*/ 11 w 11"/>
                  <a:gd name="T3" fmla="*/ 0 h 10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" h="1025">
                    <a:moveTo>
                      <a:pt x="0" y="1025"/>
                    </a:moveTo>
                    <a:lnTo>
                      <a:pt x="11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092" name="Line 20"/>
              <p:cNvSpPr>
                <a:spLocks noChangeShapeType="1"/>
              </p:cNvSpPr>
              <p:nvPr/>
            </p:nvSpPr>
            <p:spPr bwMode="auto">
              <a:xfrm>
                <a:off x="4361" y="2643"/>
                <a:ext cx="0" cy="5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095" name="Freeform 23"/>
              <p:cNvSpPr>
                <a:spLocks/>
              </p:cNvSpPr>
              <p:nvPr/>
            </p:nvSpPr>
            <p:spPr bwMode="auto">
              <a:xfrm>
                <a:off x="3349" y="2039"/>
                <a:ext cx="1359" cy="1020"/>
              </a:xfrm>
              <a:custGeom>
                <a:avLst/>
                <a:gdLst>
                  <a:gd name="T0" fmla="*/ 0 w 1359"/>
                  <a:gd name="T1" fmla="*/ 0 h 1020"/>
                  <a:gd name="T2" fmla="*/ 166 w 1359"/>
                  <a:gd name="T3" fmla="*/ 4 h 1020"/>
                  <a:gd name="T4" fmla="*/ 313 w 1359"/>
                  <a:gd name="T5" fmla="*/ 18 h 1020"/>
                  <a:gd name="T6" fmla="*/ 470 w 1359"/>
                  <a:gd name="T7" fmla="*/ 69 h 1020"/>
                  <a:gd name="T8" fmla="*/ 626 w 1359"/>
                  <a:gd name="T9" fmla="*/ 190 h 1020"/>
                  <a:gd name="T10" fmla="*/ 899 w 1359"/>
                  <a:gd name="T11" fmla="*/ 492 h 1020"/>
                  <a:gd name="T12" fmla="*/ 1359 w 1359"/>
                  <a:gd name="T13" fmla="*/ 1020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9" h="1020">
                    <a:moveTo>
                      <a:pt x="0" y="0"/>
                    </a:moveTo>
                    <a:cubicBezTo>
                      <a:pt x="28" y="1"/>
                      <a:pt x="114" y="1"/>
                      <a:pt x="166" y="4"/>
                    </a:cubicBezTo>
                    <a:cubicBezTo>
                      <a:pt x="218" y="7"/>
                      <a:pt x="262" y="7"/>
                      <a:pt x="313" y="18"/>
                    </a:cubicBezTo>
                    <a:cubicBezTo>
                      <a:pt x="364" y="29"/>
                      <a:pt x="418" y="40"/>
                      <a:pt x="470" y="69"/>
                    </a:cubicBezTo>
                    <a:cubicBezTo>
                      <a:pt x="522" y="98"/>
                      <a:pt x="554" y="120"/>
                      <a:pt x="626" y="190"/>
                    </a:cubicBezTo>
                    <a:cubicBezTo>
                      <a:pt x="697" y="260"/>
                      <a:pt x="776" y="354"/>
                      <a:pt x="899" y="492"/>
                    </a:cubicBezTo>
                    <a:cubicBezTo>
                      <a:pt x="1021" y="630"/>
                      <a:pt x="1282" y="932"/>
                      <a:pt x="1359" y="1020"/>
                    </a:cubicBezTo>
                  </a:path>
                </a:pathLst>
              </a:custGeom>
              <a:noFill/>
              <a:ln w="19050" cap="flat" cmpd="sng">
                <a:solidFill>
                  <a:srgbClr val="000066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096" name="Text Box 24"/>
              <p:cNvSpPr txBox="1">
                <a:spLocks noChangeArrowheads="1"/>
              </p:cNvSpPr>
              <p:nvPr/>
            </p:nvSpPr>
            <p:spPr bwMode="auto">
              <a:xfrm>
                <a:off x="4649" y="3197"/>
                <a:ext cx="5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solidFill>
                      <a:srgbClr val="000066"/>
                    </a:solidFill>
                  </a:rPr>
                  <a:t>p</a:t>
                </a:r>
                <a:r>
                  <a:rPr lang="en-US" altLang="zh-CN" sz="2400" b="1" dirty="0">
                    <a:solidFill>
                      <a:srgbClr val="000066"/>
                    </a:solidFill>
                  </a:rPr>
                  <a:t>(</a:t>
                </a:r>
                <a:r>
                  <a:rPr lang="en-US" altLang="zh-CN" sz="2400" b="1" dirty="0" err="1">
                    <a:solidFill>
                      <a:srgbClr val="000066"/>
                    </a:solidFill>
                  </a:rPr>
                  <a:t>lg</a:t>
                </a:r>
                <a:r>
                  <a:rPr lang="en-US" altLang="zh-CN" sz="2400" b="1" dirty="0">
                    <a:solidFill>
                      <a:srgbClr val="000066"/>
                    </a:solidFill>
                  </a:rPr>
                  <a:t>)</a:t>
                </a:r>
                <a:endParaRPr lang="zh-CN" altLang="en-US" sz="2400" b="1" dirty="0">
                  <a:solidFill>
                    <a:srgbClr val="000066"/>
                  </a:solidFill>
                </a:endParaRPr>
              </a:p>
            </p:txBody>
          </p:sp>
          <p:sp>
            <p:nvSpPr>
              <p:cNvPr id="1539097" name="Oval 25"/>
              <p:cNvSpPr>
                <a:spLocks noChangeArrowheads="1"/>
              </p:cNvSpPr>
              <p:nvPr/>
            </p:nvSpPr>
            <p:spPr bwMode="auto">
              <a:xfrm>
                <a:off x="3973" y="2158"/>
                <a:ext cx="44" cy="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39098" name="Oval 26"/>
              <p:cNvSpPr>
                <a:spLocks noChangeArrowheads="1"/>
              </p:cNvSpPr>
              <p:nvPr/>
            </p:nvSpPr>
            <p:spPr bwMode="auto">
              <a:xfrm>
                <a:off x="4336" y="2620"/>
                <a:ext cx="44" cy="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39099" name="Text Box 27"/>
              <p:cNvSpPr txBox="1">
                <a:spLocks noChangeArrowheads="1"/>
              </p:cNvSpPr>
              <p:nvPr/>
            </p:nvSpPr>
            <p:spPr bwMode="auto">
              <a:xfrm>
                <a:off x="4414" y="1821"/>
                <a:ext cx="1048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推定的原位压缩曲线</a:t>
                </a:r>
              </a:p>
            </p:txBody>
          </p:sp>
          <p:sp>
            <p:nvSpPr>
              <p:cNvPr id="1539100" name="Text Box 28"/>
              <p:cNvSpPr txBox="1">
                <a:spLocks noChangeArrowheads="1"/>
              </p:cNvSpPr>
              <p:nvPr/>
            </p:nvSpPr>
            <p:spPr bwMode="auto">
              <a:xfrm>
                <a:off x="3569" y="1504"/>
                <a:ext cx="124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b="1">
                    <a:solidFill>
                      <a:srgbClr val="000066"/>
                    </a:solidFill>
                    <a:ea typeface="幼圆" pitchFamily="49" charset="-122"/>
                  </a:rPr>
                  <a:t>实验室试验结果</a:t>
                </a:r>
              </a:p>
            </p:txBody>
          </p:sp>
          <p:sp>
            <p:nvSpPr>
              <p:cNvPr id="1539101" name="Line 29"/>
              <p:cNvSpPr>
                <a:spLocks noChangeShapeType="1"/>
              </p:cNvSpPr>
              <p:nvPr/>
            </p:nvSpPr>
            <p:spPr bwMode="auto">
              <a:xfrm flipV="1">
                <a:off x="3502" y="1747"/>
                <a:ext cx="154" cy="2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102" name="Line 30"/>
              <p:cNvSpPr>
                <a:spLocks noChangeShapeType="1"/>
              </p:cNvSpPr>
              <p:nvPr/>
            </p:nvSpPr>
            <p:spPr bwMode="auto">
              <a:xfrm flipV="1">
                <a:off x="4086" y="2040"/>
                <a:ext cx="316" cy="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103" name="Text Box 31"/>
              <p:cNvSpPr txBox="1">
                <a:spLocks noChangeArrowheads="1"/>
              </p:cNvSpPr>
              <p:nvPr/>
            </p:nvSpPr>
            <p:spPr bwMode="auto">
              <a:xfrm>
                <a:off x="4165" y="2214"/>
                <a:ext cx="3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</a:rPr>
                  <a:t>C</a:t>
                </a:r>
                <a:r>
                  <a:rPr lang="en-US" altLang="zh-CN" sz="2400" b="1" baseline="-25000" dirty="0">
                    <a:solidFill>
                      <a:srgbClr val="000066"/>
                    </a:solidFill>
                    <a:ea typeface="幼圆" pitchFamily="49" charset="-122"/>
                  </a:rPr>
                  <a:t>c</a:t>
                </a:r>
                <a:endParaRPr lang="en-US" altLang="zh-CN" sz="2400" b="1" dirty="0">
                  <a:solidFill>
                    <a:srgbClr val="000066"/>
                  </a:solidFill>
                  <a:ea typeface="幼圆" pitchFamily="49" charset="-122"/>
                </a:endParaRPr>
              </a:p>
            </p:txBody>
          </p:sp>
        </p:grpSp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3627548"/>
                </p:ext>
              </p:extLst>
            </p:nvPr>
          </p:nvGraphicFramePr>
          <p:xfrm>
            <a:off x="5187950" y="1544638"/>
            <a:ext cx="2955925" cy="754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452" name="Microsoft 公式 3.0" r:id="rId5" imgW="1739880" imgH="444240" progId="Equation.3">
                    <p:embed/>
                  </p:oleObj>
                </mc:Choice>
                <mc:Fallback>
                  <p:oleObj name="Microsoft 公式 3.0" r:id="rId5" imgW="1739880" imgH="444240" progId="Equation.3">
                    <p:embed/>
                    <p:pic>
                      <p:nvPicPr>
                        <p:cNvPr id="0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7950" y="1544638"/>
                          <a:ext cx="2955925" cy="7540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Text Box 321"/>
            <p:cNvSpPr txBox="1">
              <a:spLocks noChangeArrowheads="1"/>
            </p:cNvSpPr>
            <p:nvPr/>
          </p:nvSpPr>
          <p:spPr bwMode="auto">
            <a:xfrm>
              <a:off x="6966669" y="3959178"/>
              <a:ext cx="38824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dirty="0" smtClean="0">
                  <a:solidFill>
                    <a:srgbClr val="A50021"/>
                  </a:solidFill>
                </a:rPr>
                <a:t>C</a:t>
              </a:r>
              <a:endParaRPr lang="zh-CN" altLang="en-US" sz="2200" b="1" dirty="0">
                <a:solidFill>
                  <a:srgbClr val="A50021"/>
                </a:solidFill>
              </a:endParaRPr>
            </a:p>
          </p:txBody>
        </p:sp>
        <p:sp>
          <p:nvSpPr>
            <p:cNvPr id="35" name="Text Box 321"/>
            <p:cNvSpPr txBox="1">
              <a:spLocks noChangeArrowheads="1"/>
            </p:cNvSpPr>
            <p:nvPr/>
          </p:nvSpPr>
          <p:spPr bwMode="auto">
            <a:xfrm>
              <a:off x="6338019" y="3140028"/>
              <a:ext cx="37221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dirty="0" smtClean="0">
                  <a:solidFill>
                    <a:srgbClr val="A50021"/>
                  </a:solidFill>
                </a:rPr>
                <a:t>B</a:t>
              </a:r>
              <a:endParaRPr lang="zh-CN" altLang="en-US" sz="2200" b="1" dirty="0">
                <a:solidFill>
                  <a:srgbClr val="A50021"/>
                </a:solidFill>
              </a:endParaRPr>
            </a:p>
          </p:txBody>
        </p:sp>
        <p:sp>
          <p:nvSpPr>
            <p:cNvPr id="36" name="Text Box 321"/>
            <p:cNvSpPr txBox="1">
              <a:spLocks noChangeArrowheads="1"/>
            </p:cNvSpPr>
            <p:nvPr/>
          </p:nvSpPr>
          <p:spPr bwMode="auto">
            <a:xfrm>
              <a:off x="4814019" y="3178128"/>
              <a:ext cx="42351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A50021"/>
                  </a:solidFill>
                </a:rPr>
                <a:t>e</a:t>
              </a:r>
              <a:r>
                <a:rPr lang="en-US" altLang="zh-CN" sz="2400" b="1" baseline="-25000" dirty="0" smtClean="0">
                  <a:solidFill>
                    <a:srgbClr val="A50021"/>
                  </a:solidFill>
                </a:rPr>
                <a:t>1</a:t>
              </a:r>
              <a:endParaRPr lang="zh-CN" altLang="en-US" sz="24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37" name="Text Box 321"/>
            <p:cNvSpPr txBox="1">
              <a:spLocks noChangeArrowheads="1"/>
            </p:cNvSpPr>
            <p:nvPr/>
          </p:nvSpPr>
          <p:spPr bwMode="auto">
            <a:xfrm>
              <a:off x="4814019" y="3911553"/>
              <a:ext cx="42351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A50021"/>
                  </a:solidFill>
                </a:rPr>
                <a:t>e</a:t>
              </a:r>
              <a:r>
                <a:rPr lang="en-US" altLang="zh-CN" sz="2400" b="1" baseline="-25000" dirty="0" smtClean="0">
                  <a:solidFill>
                    <a:srgbClr val="A50021"/>
                  </a:solidFill>
                </a:rPr>
                <a:t>2</a:t>
              </a:r>
              <a:endParaRPr lang="zh-CN" altLang="en-US" sz="24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38" name="Text Box 321"/>
            <p:cNvSpPr txBox="1">
              <a:spLocks noChangeArrowheads="1"/>
            </p:cNvSpPr>
            <p:nvPr/>
          </p:nvSpPr>
          <p:spPr bwMode="auto">
            <a:xfrm>
              <a:off x="6137994" y="4997403"/>
              <a:ext cx="44114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A50021"/>
                  </a:solidFill>
                </a:rPr>
                <a:t>p</a:t>
              </a:r>
              <a:r>
                <a:rPr lang="en-US" altLang="zh-CN" sz="2400" b="1" baseline="-25000" dirty="0" smtClean="0">
                  <a:solidFill>
                    <a:srgbClr val="A50021"/>
                  </a:solidFill>
                </a:rPr>
                <a:t>1</a:t>
              </a:r>
              <a:endParaRPr lang="zh-CN" altLang="en-US" sz="24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39" name="Text Box 321"/>
            <p:cNvSpPr txBox="1">
              <a:spLocks noChangeArrowheads="1"/>
            </p:cNvSpPr>
            <p:nvPr/>
          </p:nvSpPr>
          <p:spPr bwMode="auto">
            <a:xfrm>
              <a:off x="6757119" y="4987878"/>
              <a:ext cx="44114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A50021"/>
                  </a:solidFill>
                </a:rPr>
                <a:t>p</a:t>
              </a:r>
              <a:r>
                <a:rPr lang="en-US" altLang="zh-CN" sz="2400" b="1" baseline="-25000" dirty="0" smtClean="0">
                  <a:solidFill>
                    <a:srgbClr val="A50021"/>
                  </a:solidFill>
                </a:rPr>
                <a:t>2</a:t>
              </a:r>
              <a:endParaRPr lang="zh-CN" altLang="en-US" sz="24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41" name="Text Box 321"/>
            <p:cNvSpPr txBox="1">
              <a:spLocks noChangeArrowheads="1"/>
            </p:cNvSpPr>
            <p:nvPr/>
          </p:nvSpPr>
          <p:spPr bwMode="auto">
            <a:xfrm>
              <a:off x="4880694" y="2473278"/>
              <a:ext cx="34336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 dirty="0" smtClean="0">
                  <a:solidFill>
                    <a:srgbClr val="000066"/>
                  </a:solidFill>
                </a:rPr>
                <a:t>e</a:t>
              </a:r>
              <a:endParaRPr lang="zh-CN" altLang="en-US" sz="2800" b="1" i="1" dirty="0">
                <a:solidFill>
                  <a:srgbClr val="000066"/>
                </a:solidFill>
              </a:endParaRP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3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9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9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9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39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075" grpId="0" build="p" autoUpdateAnimBg="0"/>
      <p:bldP spid="153907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0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237437"/>
              </p:ext>
            </p:extLst>
          </p:nvPr>
        </p:nvGraphicFramePr>
        <p:xfrm>
          <a:off x="1047750" y="2947988"/>
          <a:ext cx="3748088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582" name="Microsoft 公式 3.0" r:id="rId3" imgW="2082600" imgH="520560" progId="Equation.3">
                  <p:embed/>
                </p:oleObj>
              </mc:Choice>
              <mc:Fallback>
                <p:oleObj name="Microsoft 公式 3.0" r:id="rId3" imgW="2082600" imgH="5205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2947988"/>
                        <a:ext cx="3748088" cy="93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0100" name="Rectangle 4"/>
          <p:cNvSpPr>
            <a:spLocks noChangeArrowheads="1"/>
          </p:cNvSpPr>
          <p:nvPr/>
        </p:nvSpPr>
        <p:spPr bwMode="auto">
          <a:xfrm>
            <a:off x="279400" y="677863"/>
            <a:ext cx="6124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计算公式：</a:t>
            </a:r>
            <a:r>
              <a:rPr kumimoji="1" lang="en-US" altLang="zh-CN" sz="28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kumimoji="1" lang="en-US" altLang="zh-CN" sz="28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kumimoji="1" lang="en-US" altLang="zh-CN" sz="2800" b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lg</a:t>
            </a:r>
            <a:r>
              <a:rPr kumimoji="1" lang="en-US" altLang="zh-CN" sz="2800" b="1" i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  <a:r>
              <a:rPr kumimoji="1" lang="en-US" altLang="zh-CN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超固结土</a:t>
            </a:r>
          </a:p>
        </p:txBody>
      </p:sp>
      <p:sp>
        <p:nvSpPr>
          <p:cNvPr id="1540101" name="Rectangle 5"/>
          <p:cNvSpPr>
            <a:spLocks noChangeArrowheads="1"/>
          </p:cNvSpPr>
          <p:nvPr/>
        </p:nvSpPr>
        <p:spPr bwMode="auto">
          <a:xfrm>
            <a:off x="2433638" y="5743575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单一土层一维压缩问题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40102" name="Text Box 6"/>
          <p:cNvSpPr txBox="1">
            <a:spLocks noChangeArrowheads="1"/>
          </p:cNvSpPr>
          <p:nvPr/>
        </p:nvSpPr>
        <p:spPr bwMode="auto">
          <a:xfrm>
            <a:off x="252413" y="1362075"/>
            <a:ext cx="4743450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可使用推定的原位压缩和再压缩曲线的</a:t>
            </a:r>
            <a:r>
              <a:rPr lang="en-US" altLang="zh-CN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C</a:t>
            </a:r>
            <a:r>
              <a:rPr lang="en-US" altLang="zh-CN" b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c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和</a:t>
            </a:r>
            <a:r>
              <a:rPr lang="en-US" altLang="zh-CN" b="1" i="1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C</a:t>
            </a:r>
            <a:r>
              <a:rPr lang="en-US" altLang="zh-CN" b="1" baseline="-25000" dirty="0" err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e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值进行计算：</a:t>
            </a:r>
            <a:endParaRPr lang="en-US" altLang="zh-CN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40134" name="Text Box 38"/>
          <p:cNvSpPr txBox="1">
            <a:spLocks noChangeArrowheads="1"/>
          </p:cNvSpPr>
          <p:nvPr/>
        </p:nvSpPr>
        <p:spPr bwMode="auto">
          <a:xfrm>
            <a:off x="612775" y="2406650"/>
            <a:ext cx="1931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当 </a:t>
            </a:r>
            <a:r>
              <a:rPr kumimoji="1" lang="en-US" altLang="zh-CN" sz="24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400" b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kumimoji="1" lang="en-US" altLang="zh-CN" sz="2400" b="1" i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&gt;</a:t>
            </a:r>
            <a:r>
              <a:rPr kumimoji="1" lang="en-US" altLang="zh-CN" sz="24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1" lang="zh-CN" altLang="en-US" sz="24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aphicFrame>
        <p:nvGraphicFramePr>
          <p:cNvPr id="154013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92478"/>
              </p:ext>
            </p:extLst>
          </p:nvPr>
        </p:nvGraphicFramePr>
        <p:xfrm>
          <a:off x="1025525" y="4533900"/>
          <a:ext cx="223837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583" name="Microsoft 公式 3.0" r:id="rId5" imgW="1244520" imgH="444240" progId="Equation.3">
                  <p:embed/>
                </p:oleObj>
              </mc:Choice>
              <mc:Fallback>
                <p:oleObj name="Microsoft 公式 3.0" r:id="rId5" imgW="1244520" imgH="44424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4533900"/>
                        <a:ext cx="223837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0136" name="Text Box 40"/>
          <p:cNvSpPr txBox="1">
            <a:spLocks noChangeArrowheads="1"/>
          </p:cNvSpPr>
          <p:nvPr/>
        </p:nvSpPr>
        <p:spPr bwMode="auto">
          <a:xfrm>
            <a:off x="1127125" y="455136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40137" name="Text Box 41"/>
          <p:cNvSpPr txBox="1">
            <a:spLocks noChangeArrowheads="1"/>
          </p:cNvSpPr>
          <p:nvPr/>
        </p:nvSpPr>
        <p:spPr bwMode="auto">
          <a:xfrm>
            <a:off x="628650" y="4005263"/>
            <a:ext cx="1931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zh-CN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当 </a:t>
            </a:r>
            <a:r>
              <a:rPr kumimoji="1" lang="en-US" altLang="zh-CN" sz="24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kumimoji="1" lang="en-US" altLang="zh-CN" sz="2400" b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kumimoji="1" lang="en-US" altLang="zh-CN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&lt; </a:t>
            </a:r>
            <a:r>
              <a:rPr kumimoji="1" lang="en-US" altLang="zh-CN" sz="2400" b="1" i="1" dirty="0" smtClean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400" b="1" baseline="-25000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1" lang="zh-CN" altLang="en-US" sz="24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4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-9526" y="0"/>
            <a:ext cx="471469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单一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土层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086350" y="1304926"/>
            <a:ext cx="3946525" cy="4325938"/>
            <a:chOff x="5086350" y="1485901"/>
            <a:chExt cx="3946525" cy="4325938"/>
          </a:xfrm>
        </p:grpSpPr>
        <p:grpSp>
          <p:nvGrpSpPr>
            <p:cNvPr id="1540103" name="Group 7"/>
            <p:cNvGrpSpPr>
              <a:grpSpLocks/>
            </p:cNvGrpSpPr>
            <p:nvPr/>
          </p:nvGrpSpPr>
          <p:grpSpPr bwMode="auto">
            <a:xfrm>
              <a:off x="5086350" y="1485901"/>
              <a:ext cx="3946525" cy="4325938"/>
              <a:chOff x="3186" y="936"/>
              <a:chExt cx="2486" cy="2725"/>
            </a:xfrm>
          </p:grpSpPr>
          <p:sp>
            <p:nvSpPr>
              <p:cNvPr id="1540104" name="Rectangle 8"/>
              <p:cNvSpPr>
                <a:spLocks noChangeArrowheads="1"/>
              </p:cNvSpPr>
              <p:nvPr/>
            </p:nvSpPr>
            <p:spPr bwMode="auto">
              <a:xfrm>
                <a:off x="3186" y="936"/>
                <a:ext cx="2424" cy="2725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106" name="Freeform 10"/>
              <p:cNvSpPr>
                <a:spLocks/>
              </p:cNvSpPr>
              <p:nvPr/>
            </p:nvSpPr>
            <p:spPr bwMode="auto">
              <a:xfrm>
                <a:off x="3509" y="2665"/>
                <a:ext cx="1150" cy="1"/>
              </a:xfrm>
              <a:custGeom>
                <a:avLst/>
                <a:gdLst>
                  <a:gd name="T0" fmla="*/ 1045 w 1045"/>
                  <a:gd name="T1" fmla="*/ 1 h 1"/>
                  <a:gd name="T2" fmla="*/ 0 w 1045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45" h="1">
                    <a:moveTo>
                      <a:pt x="1045" y="1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0112" name="Freeform 16"/>
              <p:cNvSpPr>
                <a:spLocks/>
              </p:cNvSpPr>
              <p:nvPr/>
            </p:nvSpPr>
            <p:spPr bwMode="auto">
              <a:xfrm>
                <a:off x="3514" y="2160"/>
                <a:ext cx="381" cy="5"/>
              </a:xfrm>
              <a:custGeom>
                <a:avLst/>
                <a:gdLst>
                  <a:gd name="T0" fmla="*/ 0 w 347"/>
                  <a:gd name="T1" fmla="*/ 4 h 4"/>
                  <a:gd name="T2" fmla="*/ 347 w 347"/>
                  <a:gd name="T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47" h="4">
                    <a:moveTo>
                      <a:pt x="0" y="4"/>
                    </a:moveTo>
                    <a:lnTo>
                      <a:pt x="347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0113" name="Freeform 17"/>
              <p:cNvSpPr>
                <a:spLocks/>
              </p:cNvSpPr>
              <p:nvPr/>
            </p:nvSpPr>
            <p:spPr bwMode="auto">
              <a:xfrm>
                <a:off x="4339" y="2292"/>
                <a:ext cx="562" cy="660"/>
              </a:xfrm>
              <a:custGeom>
                <a:avLst/>
                <a:gdLst>
                  <a:gd name="T0" fmla="*/ 0 w 797"/>
                  <a:gd name="T1" fmla="*/ 0 h 936"/>
                  <a:gd name="T2" fmla="*/ 797 w 797"/>
                  <a:gd name="T3" fmla="*/ 936 h 9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97" h="936">
                    <a:moveTo>
                      <a:pt x="0" y="0"/>
                    </a:moveTo>
                    <a:lnTo>
                      <a:pt x="797" y="936"/>
                    </a:lnTo>
                  </a:path>
                </a:pathLst>
              </a:custGeom>
              <a:noFill/>
              <a:ln w="19050">
                <a:solidFill>
                  <a:srgbClr val="A5002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40114" name="Freeform 18"/>
              <p:cNvSpPr>
                <a:spLocks/>
              </p:cNvSpPr>
              <p:nvPr/>
            </p:nvSpPr>
            <p:spPr bwMode="auto">
              <a:xfrm>
                <a:off x="3888" y="2161"/>
                <a:ext cx="11" cy="1101"/>
              </a:xfrm>
              <a:custGeom>
                <a:avLst/>
                <a:gdLst>
                  <a:gd name="T0" fmla="*/ 0 w 10"/>
                  <a:gd name="T1" fmla="*/ 1001 h 1001"/>
                  <a:gd name="T2" fmla="*/ 10 w 10"/>
                  <a:gd name="T3" fmla="*/ 0 h 10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0" h="1001">
                    <a:moveTo>
                      <a:pt x="0" y="1001"/>
                    </a:moveTo>
                    <a:lnTo>
                      <a:pt x="10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0115" name="Line 19"/>
              <p:cNvSpPr>
                <a:spLocks noChangeShapeType="1"/>
              </p:cNvSpPr>
              <p:nvPr/>
            </p:nvSpPr>
            <p:spPr bwMode="auto">
              <a:xfrm>
                <a:off x="4660" y="2664"/>
                <a:ext cx="0" cy="59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0118" name="Line 22"/>
              <p:cNvSpPr>
                <a:spLocks noChangeShapeType="1"/>
              </p:cNvSpPr>
              <p:nvPr/>
            </p:nvSpPr>
            <p:spPr bwMode="auto">
              <a:xfrm>
                <a:off x="3723" y="2108"/>
                <a:ext cx="648" cy="200"/>
              </a:xfrm>
              <a:prstGeom prst="line">
                <a:avLst/>
              </a:prstGeom>
              <a:noFill/>
              <a:ln w="19050">
                <a:solidFill>
                  <a:srgbClr val="A5002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0119" name="Freeform 23"/>
              <p:cNvSpPr>
                <a:spLocks/>
              </p:cNvSpPr>
              <p:nvPr/>
            </p:nvSpPr>
            <p:spPr bwMode="auto">
              <a:xfrm>
                <a:off x="4342" y="2305"/>
                <a:ext cx="12" cy="976"/>
              </a:xfrm>
              <a:custGeom>
                <a:avLst/>
                <a:gdLst>
                  <a:gd name="T0" fmla="*/ 0 w 11"/>
                  <a:gd name="T1" fmla="*/ 887 h 887"/>
                  <a:gd name="T2" fmla="*/ 11 w 11"/>
                  <a:gd name="T3" fmla="*/ 0 h 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" h="887">
                    <a:moveTo>
                      <a:pt x="0" y="887"/>
                    </a:moveTo>
                    <a:lnTo>
                      <a:pt x="11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40122" name="Oval 26"/>
              <p:cNvSpPr>
                <a:spLocks noChangeArrowheads="1"/>
              </p:cNvSpPr>
              <p:nvPr/>
            </p:nvSpPr>
            <p:spPr bwMode="auto">
              <a:xfrm>
                <a:off x="3870" y="2133"/>
                <a:ext cx="49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123" name="Oval 27"/>
              <p:cNvSpPr>
                <a:spLocks noChangeArrowheads="1"/>
              </p:cNvSpPr>
              <p:nvPr/>
            </p:nvSpPr>
            <p:spPr bwMode="auto">
              <a:xfrm>
                <a:off x="4326" y="2282"/>
                <a:ext cx="48" cy="4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124" name="Oval 28"/>
              <p:cNvSpPr>
                <a:spLocks noChangeArrowheads="1"/>
              </p:cNvSpPr>
              <p:nvPr/>
            </p:nvSpPr>
            <p:spPr bwMode="auto">
              <a:xfrm>
                <a:off x="4634" y="2632"/>
                <a:ext cx="48" cy="49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126" name="Freeform 30"/>
              <p:cNvSpPr>
                <a:spLocks/>
              </p:cNvSpPr>
              <p:nvPr/>
            </p:nvSpPr>
            <p:spPr bwMode="auto">
              <a:xfrm>
                <a:off x="3506" y="1667"/>
                <a:ext cx="1678" cy="1614"/>
              </a:xfrm>
              <a:custGeom>
                <a:avLst/>
                <a:gdLst>
                  <a:gd name="T0" fmla="*/ 0 w 1881"/>
                  <a:gd name="T1" fmla="*/ 0 h 1831"/>
                  <a:gd name="T2" fmla="*/ 0 w 1881"/>
                  <a:gd name="T3" fmla="*/ 1831 h 1831"/>
                  <a:gd name="T4" fmla="*/ 1881 w 1881"/>
                  <a:gd name="T5" fmla="*/ 1831 h 18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81" h="1831">
                    <a:moveTo>
                      <a:pt x="0" y="0"/>
                    </a:moveTo>
                    <a:lnTo>
                      <a:pt x="0" y="1831"/>
                    </a:lnTo>
                    <a:lnTo>
                      <a:pt x="1881" y="183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127" name="Text Box 31"/>
              <p:cNvSpPr txBox="1">
                <a:spLocks noChangeArrowheads="1"/>
              </p:cNvSpPr>
              <p:nvPr/>
            </p:nvSpPr>
            <p:spPr bwMode="auto">
              <a:xfrm>
                <a:off x="4681" y="1985"/>
                <a:ext cx="991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推定的原位压缩曲线</a:t>
                </a:r>
              </a:p>
            </p:txBody>
          </p:sp>
          <p:sp>
            <p:nvSpPr>
              <p:cNvPr id="1540128" name="Line 32"/>
              <p:cNvSpPr>
                <a:spLocks noChangeShapeType="1"/>
              </p:cNvSpPr>
              <p:nvPr/>
            </p:nvSpPr>
            <p:spPr bwMode="auto">
              <a:xfrm flipV="1">
                <a:off x="4476" y="2174"/>
                <a:ext cx="201" cy="2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129" name="Text Box 33"/>
              <p:cNvSpPr txBox="1">
                <a:spLocks noChangeArrowheads="1"/>
              </p:cNvSpPr>
              <p:nvPr/>
            </p:nvSpPr>
            <p:spPr bwMode="auto">
              <a:xfrm>
                <a:off x="4281" y="1516"/>
                <a:ext cx="991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>
                    <a:solidFill>
                      <a:srgbClr val="000066"/>
                    </a:solidFill>
                    <a:ea typeface="幼圆" pitchFamily="49" charset="-122"/>
                    <a:sym typeface="Symbol" pitchFamily="18" charset="2"/>
                  </a:rPr>
                  <a:t>推定的原位再压缩曲线</a:t>
                </a:r>
              </a:p>
            </p:txBody>
          </p:sp>
          <p:sp>
            <p:nvSpPr>
              <p:cNvPr id="1540130" name="Line 34"/>
              <p:cNvSpPr>
                <a:spLocks noChangeShapeType="1"/>
              </p:cNvSpPr>
              <p:nvPr/>
            </p:nvSpPr>
            <p:spPr bwMode="auto">
              <a:xfrm flipV="1">
                <a:off x="4094" y="1926"/>
                <a:ext cx="163" cy="2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131" name="Text Box 35"/>
              <p:cNvSpPr txBox="1">
                <a:spLocks noChangeArrowheads="1"/>
              </p:cNvSpPr>
              <p:nvPr/>
            </p:nvSpPr>
            <p:spPr bwMode="auto">
              <a:xfrm>
                <a:off x="4481" y="2299"/>
                <a:ext cx="3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>
                    <a:solidFill>
                      <a:srgbClr val="000066"/>
                    </a:solidFill>
                    <a:ea typeface="幼圆" pitchFamily="49" charset="-122"/>
                  </a:rPr>
                  <a:t>C</a:t>
                </a:r>
                <a:r>
                  <a:rPr lang="en-US" altLang="zh-CN" sz="2400" b="1" baseline="-25000">
                    <a:solidFill>
                      <a:srgbClr val="000066"/>
                    </a:solidFill>
                    <a:ea typeface="幼圆" pitchFamily="49" charset="-122"/>
                  </a:rPr>
                  <a:t>c</a:t>
                </a:r>
                <a:endParaRPr lang="en-US" altLang="zh-CN" sz="2400" b="1">
                  <a:solidFill>
                    <a:srgbClr val="000066"/>
                  </a:solidFill>
                  <a:ea typeface="幼圆" pitchFamily="49" charset="-122"/>
                </a:endParaRPr>
              </a:p>
            </p:txBody>
          </p:sp>
          <p:sp>
            <p:nvSpPr>
              <p:cNvPr id="1540132" name="Text Box 36"/>
              <p:cNvSpPr txBox="1">
                <a:spLocks noChangeArrowheads="1"/>
              </p:cNvSpPr>
              <p:nvPr/>
            </p:nvSpPr>
            <p:spPr bwMode="auto">
              <a:xfrm>
                <a:off x="3973" y="2195"/>
                <a:ext cx="3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dirty="0" err="1">
                    <a:solidFill>
                      <a:srgbClr val="000066"/>
                    </a:solidFill>
                    <a:ea typeface="幼圆" pitchFamily="49" charset="-122"/>
                  </a:rPr>
                  <a:t>C</a:t>
                </a:r>
                <a:r>
                  <a:rPr lang="en-US" altLang="zh-CN" sz="2400" b="1" baseline="-25000" dirty="0" err="1">
                    <a:solidFill>
                      <a:srgbClr val="000066"/>
                    </a:solidFill>
                    <a:ea typeface="幼圆" pitchFamily="49" charset="-122"/>
                  </a:rPr>
                  <a:t>e</a:t>
                </a:r>
                <a:endParaRPr lang="en-US" altLang="zh-CN" sz="2400" b="1" dirty="0">
                  <a:solidFill>
                    <a:srgbClr val="000066"/>
                  </a:solidFill>
                  <a:ea typeface="幼圆" pitchFamily="49" charset="-122"/>
                </a:endParaRPr>
              </a:p>
            </p:txBody>
          </p:sp>
        </p:grpSp>
        <p:sp>
          <p:nvSpPr>
            <p:cNvPr id="43" name="Text Box 24"/>
            <p:cNvSpPr txBox="1">
              <a:spLocks noChangeArrowheads="1"/>
            </p:cNvSpPr>
            <p:nvPr/>
          </p:nvSpPr>
          <p:spPr bwMode="auto">
            <a:xfrm>
              <a:off x="7685088" y="5180013"/>
              <a:ext cx="793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</a:rPr>
                <a:t>p</a:t>
              </a:r>
              <a:r>
                <a:rPr lang="en-US" altLang="zh-CN" sz="2400" b="1" dirty="0">
                  <a:solidFill>
                    <a:srgbClr val="000066"/>
                  </a:solidFill>
                </a:rPr>
                <a:t>(</a:t>
              </a:r>
              <a:r>
                <a:rPr lang="en-US" altLang="zh-CN" sz="2400" b="1" dirty="0" err="1">
                  <a:solidFill>
                    <a:srgbClr val="000066"/>
                  </a:solidFill>
                </a:rPr>
                <a:t>lg</a:t>
              </a:r>
              <a:r>
                <a:rPr lang="en-US" altLang="zh-CN" sz="2400" b="1" dirty="0">
                  <a:solidFill>
                    <a:srgbClr val="000066"/>
                  </a:solidFill>
                </a:rPr>
                <a:t>)</a:t>
              </a:r>
              <a:endParaRPr lang="zh-CN" altLang="en-US" sz="2400" b="1" dirty="0">
                <a:solidFill>
                  <a:srgbClr val="000066"/>
                </a:solidFill>
              </a:endParaRPr>
            </a:p>
          </p:txBody>
        </p:sp>
        <p:graphicFrame>
          <p:nvGraphicFramePr>
            <p:cNvPr id="44" name="对象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3447678"/>
                </p:ext>
              </p:extLst>
            </p:nvPr>
          </p:nvGraphicFramePr>
          <p:xfrm>
            <a:off x="5216525" y="1544638"/>
            <a:ext cx="2955925" cy="754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584" name="Microsoft 公式 3.0" r:id="rId7" imgW="1739880" imgH="444240" progId="Equation.3">
                    <p:embed/>
                  </p:oleObj>
                </mc:Choice>
                <mc:Fallback>
                  <p:oleObj name="Microsoft 公式 3.0" r:id="rId7" imgW="1739880" imgH="444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6525" y="1544638"/>
                          <a:ext cx="2955925" cy="7540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Text Box 321"/>
            <p:cNvSpPr txBox="1">
              <a:spLocks noChangeArrowheads="1"/>
            </p:cNvSpPr>
            <p:nvPr/>
          </p:nvSpPr>
          <p:spPr bwMode="auto">
            <a:xfrm>
              <a:off x="7519119" y="3997278"/>
              <a:ext cx="38824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dirty="0" smtClean="0">
                  <a:solidFill>
                    <a:srgbClr val="A50021"/>
                  </a:solidFill>
                </a:rPr>
                <a:t>C</a:t>
              </a:r>
              <a:endParaRPr lang="zh-CN" altLang="en-US" sz="2200" b="1" dirty="0">
                <a:solidFill>
                  <a:srgbClr val="A50021"/>
                </a:solidFill>
              </a:endParaRPr>
            </a:p>
          </p:txBody>
        </p:sp>
        <p:sp>
          <p:nvSpPr>
            <p:cNvPr id="46" name="Text Box 321"/>
            <p:cNvSpPr txBox="1">
              <a:spLocks noChangeArrowheads="1"/>
            </p:cNvSpPr>
            <p:nvPr/>
          </p:nvSpPr>
          <p:spPr bwMode="auto">
            <a:xfrm>
              <a:off x="6861894" y="3292428"/>
              <a:ext cx="37221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dirty="0" smtClean="0">
                  <a:solidFill>
                    <a:srgbClr val="A50021"/>
                  </a:solidFill>
                </a:rPr>
                <a:t>B</a:t>
              </a:r>
              <a:endParaRPr lang="zh-CN" altLang="en-US" sz="2200" b="1" dirty="0">
                <a:solidFill>
                  <a:srgbClr val="A50021"/>
                </a:solidFill>
              </a:endParaRPr>
            </a:p>
          </p:txBody>
        </p:sp>
        <p:sp>
          <p:nvSpPr>
            <p:cNvPr id="47" name="Text Box 321"/>
            <p:cNvSpPr txBox="1">
              <a:spLocks noChangeArrowheads="1"/>
            </p:cNvSpPr>
            <p:nvPr/>
          </p:nvSpPr>
          <p:spPr bwMode="auto">
            <a:xfrm>
              <a:off x="5128344" y="3159078"/>
              <a:ext cx="42351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A50021"/>
                  </a:solidFill>
                </a:rPr>
                <a:t>e</a:t>
              </a:r>
              <a:r>
                <a:rPr lang="en-US" altLang="zh-CN" sz="2400" b="1" baseline="-25000" dirty="0" smtClean="0">
                  <a:solidFill>
                    <a:srgbClr val="A50021"/>
                  </a:solidFill>
                </a:rPr>
                <a:t>1</a:t>
              </a:r>
              <a:endParaRPr lang="zh-CN" altLang="en-US" sz="24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48" name="Text Box 321"/>
            <p:cNvSpPr txBox="1">
              <a:spLocks noChangeArrowheads="1"/>
            </p:cNvSpPr>
            <p:nvPr/>
          </p:nvSpPr>
          <p:spPr bwMode="auto">
            <a:xfrm>
              <a:off x="5147394" y="3940128"/>
              <a:ext cx="42351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A50021"/>
                  </a:solidFill>
                </a:rPr>
                <a:t>e</a:t>
              </a:r>
              <a:r>
                <a:rPr lang="en-US" altLang="zh-CN" sz="2400" b="1" baseline="-25000" dirty="0" smtClean="0">
                  <a:solidFill>
                    <a:srgbClr val="A50021"/>
                  </a:solidFill>
                </a:rPr>
                <a:t>2</a:t>
              </a:r>
              <a:endParaRPr lang="zh-CN" altLang="en-US" sz="24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49" name="Text Box 321"/>
            <p:cNvSpPr txBox="1">
              <a:spLocks noChangeArrowheads="1"/>
            </p:cNvSpPr>
            <p:nvPr/>
          </p:nvSpPr>
          <p:spPr bwMode="auto">
            <a:xfrm>
              <a:off x="6061794" y="5111703"/>
              <a:ext cx="44114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A50021"/>
                  </a:solidFill>
                </a:rPr>
                <a:t>p</a:t>
              </a:r>
              <a:r>
                <a:rPr lang="en-US" altLang="zh-CN" sz="2400" b="1" baseline="-25000" dirty="0" smtClean="0">
                  <a:solidFill>
                    <a:srgbClr val="A50021"/>
                  </a:solidFill>
                </a:rPr>
                <a:t>1</a:t>
              </a:r>
              <a:endParaRPr lang="zh-CN" altLang="en-US" sz="24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50" name="Text Box 321"/>
            <p:cNvSpPr txBox="1">
              <a:spLocks noChangeArrowheads="1"/>
            </p:cNvSpPr>
            <p:nvPr/>
          </p:nvSpPr>
          <p:spPr bwMode="auto">
            <a:xfrm>
              <a:off x="7204794" y="5111703"/>
              <a:ext cx="44114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A50021"/>
                  </a:solidFill>
                </a:rPr>
                <a:t>p</a:t>
              </a:r>
              <a:r>
                <a:rPr lang="en-US" altLang="zh-CN" sz="2400" b="1" baseline="-25000" dirty="0" smtClean="0">
                  <a:solidFill>
                    <a:srgbClr val="A50021"/>
                  </a:solidFill>
                </a:rPr>
                <a:t>2</a:t>
              </a:r>
              <a:endParaRPr lang="zh-CN" altLang="en-US" sz="24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51" name="Text Box 321"/>
            <p:cNvSpPr txBox="1">
              <a:spLocks noChangeArrowheads="1"/>
            </p:cNvSpPr>
            <p:nvPr/>
          </p:nvSpPr>
          <p:spPr bwMode="auto">
            <a:xfrm>
              <a:off x="5185494" y="2378028"/>
              <a:ext cx="34336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 dirty="0" smtClean="0">
                  <a:solidFill>
                    <a:srgbClr val="000066"/>
                  </a:solidFill>
                </a:rPr>
                <a:t>e</a:t>
              </a:r>
              <a:endParaRPr lang="zh-CN" altLang="en-US" sz="2800" b="1" i="1" dirty="0">
                <a:solidFill>
                  <a:srgbClr val="000066"/>
                </a:solidFill>
              </a:endParaRPr>
            </a:p>
          </p:txBody>
        </p:sp>
        <p:sp>
          <p:nvSpPr>
            <p:cNvPr id="52" name="Text Box 321"/>
            <p:cNvSpPr txBox="1">
              <a:spLocks noChangeArrowheads="1"/>
            </p:cNvSpPr>
            <p:nvPr/>
          </p:nvSpPr>
          <p:spPr bwMode="auto">
            <a:xfrm>
              <a:off x="6699969" y="5130753"/>
              <a:ext cx="4844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000066"/>
                  </a:solidFill>
                  <a:sym typeface="Symbol"/>
                </a:rPr>
                <a:t></a:t>
              </a:r>
              <a:r>
                <a:rPr lang="en-US" altLang="zh-CN" sz="2400" b="1" baseline="-25000" dirty="0" smtClean="0">
                  <a:solidFill>
                    <a:srgbClr val="000066"/>
                  </a:solidFill>
                </a:rPr>
                <a:t>p</a:t>
              </a:r>
              <a:endParaRPr lang="zh-CN" altLang="en-US" sz="2400" b="1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53" name="Text Box 321"/>
            <p:cNvSpPr txBox="1">
              <a:spLocks noChangeArrowheads="1"/>
            </p:cNvSpPr>
            <p:nvPr/>
          </p:nvSpPr>
          <p:spPr bwMode="auto">
            <a:xfrm>
              <a:off x="6166569" y="3025728"/>
              <a:ext cx="38824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dirty="0" smtClean="0">
                  <a:solidFill>
                    <a:srgbClr val="A50021"/>
                  </a:solidFill>
                </a:rPr>
                <a:t>A</a:t>
              </a:r>
              <a:endParaRPr lang="zh-CN" altLang="en-US" sz="2200" b="1" dirty="0">
                <a:solidFill>
                  <a:srgbClr val="A50021"/>
                </a:solidFill>
              </a:endParaRP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54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40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40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40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40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40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40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40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40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0100" grpId="0" build="p" autoUpdateAnimBg="0"/>
      <p:bldP spid="1540102" grpId="0"/>
      <p:bldP spid="1540134" grpId="0"/>
      <p:bldP spid="154013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62525" y="2838577"/>
            <a:ext cx="3449637" cy="2743200"/>
            <a:chOff x="4962525" y="2838577"/>
            <a:chExt cx="3449637" cy="2743200"/>
          </a:xfrm>
        </p:grpSpPr>
        <p:sp>
          <p:nvSpPr>
            <p:cNvPr id="1541154" name="Freeform 34"/>
            <p:cNvSpPr>
              <a:spLocks/>
            </p:cNvSpPr>
            <p:nvPr/>
          </p:nvSpPr>
          <p:spPr bwMode="auto">
            <a:xfrm>
              <a:off x="5397500" y="3106865"/>
              <a:ext cx="2986087" cy="2114550"/>
            </a:xfrm>
            <a:custGeom>
              <a:avLst/>
              <a:gdLst>
                <a:gd name="T0" fmla="*/ 0 w 1881"/>
                <a:gd name="T1" fmla="*/ 0 h 1831"/>
                <a:gd name="T2" fmla="*/ 0 w 1881"/>
                <a:gd name="T3" fmla="*/ 1831 h 1831"/>
                <a:gd name="T4" fmla="*/ 1881 w 1881"/>
                <a:gd name="T5" fmla="*/ 1831 h 1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1" h="1831">
                  <a:moveTo>
                    <a:pt x="0" y="0"/>
                  </a:moveTo>
                  <a:lnTo>
                    <a:pt x="0" y="1831"/>
                  </a:lnTo>
                  <a:lnTo>
                    <a:pt x="1881" y="183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1541155" name="Freeform 35"/>
            <p:cNvSpPr>
              <a:spLocks noChangeAspect="1"/>
            </p:cNvSpPr>
            <p:nvPr/>
          </p:nvSpPr>
          <p:spPr bwMode="auto">
            <a:xfrm>
              <a:off x="5395912" y="3452940"/>
              <a:ext cx="2659062" cy="1449388"/>
            </a:xfrm>
            <a:custGeom>
              <a:avLst/>
              <a:gdLst>
                <a:gd name="T0" fmla="*/ 1675 w 1675"/>
                <a:gd name="T1" fmla="*/ 1255 h 1255"/>
                <a:gd name="T2" fmla="*/ 1339 w 1675"/>
                <a:gd name="T3" fmla="*/ 1108 h 1255"/>
                <a:gd name="T4" fmla="*/ 958 w 1675"/>
                <a:gd name="T5" fmla="*/ 897 h 1255"/>
                <a:gd name="T6" fmla="*/ 686 w 1675"/>
                <a:gd name="T7" fmla="*/ 722 h 1255"/>
                <a:gd name="T8" fmla="*/ 408 w 1675"/>
                <a:gd name="T9" fmla="*/ 501 h 1255"/>
                <a:gd name="T10" fmla="*/ 238 w 1675"/>
                <a:gd name="T11" fmla="*/ 331 h 1255"/>
                <a:gd name="T12" fmla="*/ 96 w 1675"/>
                <a:gd name="T13" fmla="*/ 153 h 1255"/>
                <a:gd name="T14" fmla="*/ 0 w 1675"/>
                <a:gd name="T15" fmla="*/ 0 h 1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75" h="1255">
                  <a:moveTo>
                    <a:pt x="1675" y="1255"/>
                  </a:moveTo>
                  <a:cubicBezTo>
                    <a:pt x="1619" y="1231"/>
                    <a:pt x="1458" y="1168"/>
                    <a:pt x="1339" y="1108"/>
                  </a:cubicBezTo>
                  <a:cubicBezTo>
                    <a:pt x="1220" y="1048"/>
                    <a:pt x="1067" y="961"/>
                    <a:pt x="958" y="897"/>
                  </a:cubicBezTo>
                  <a:cubicBezTo>
                    <a:pt x="849" y="833"/>
                    <a:pt x="778" y="788"/>
                    <a:pt x="686" y="722"/>
                  </a:cubicBezTo>
                  <a:cubicBezTo>
                    <a:pt x="594" y="656"/>
                    <a:pt x="483" y="566"/>
                    <a:pt x="408" y="501"/>
                  </a:cubicBezTo>
                  <a:cubicBezTo>
                    <a:pt x="333" y="436"/>
                    <a:pt x="290" y="389"/>
                    <a:pt x="238" y="331"/>
                  </a:cubicBezTo>
                  <a:cubicBezTo>
                    <a:pt x="186" y="273"/>
                    <a:pt x="136" y="208"/>
                    <a:pt x="96" y="153"/>
                  </a:cubicBezTo>
                  <a:cubicBezTo>
                    <a:pt x="56" y="98"/>
                    <a:pt x="20" y="32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rgbClr val="A5002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i="1">
                <a:cs typeface="Times New Roman" panose="02020603050405020304" pitchFamily="18" charset="0"/>
              </a:endParaRPr>
            </a:p>
          </p:txBody>
        </p:sp>
        <p:sp>
          <p:nvSpPr>
            <p:cNvPr id="1541161" name="Text Box 41"/>
            <p:cNvSpPr txBox="1">
              <a:spLocks noChangeArrowheads="1"/>
            </p:cNvSpPr>
            <p:nvPr/>
          </p:nvSpPr>
          <p:spPr bwMode="auto">
            <a:xfrm>
              <a:off x="4962525" y="2838577"/>
              <a:ext cx="363537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e</a:t>
              </a:r>
            </a:p>
          </p:txBody>
        </p:sp>
        <p:sp>
          <p:nvSpPr>
            <p:cNvPr id="1541168" name="Text Box 48"/>
            <p:cNvSpPr txBox="1">
              <a:spLocks noChangeArrowheads="1"/>
            </p:cNvSpPr>
            <p:nvPr/>
          </p:nvSpPr>
          <p:spPr bwMode="auto">
            <a:xfrm>
              <a:off x="8075612" y="5124577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1541188" name="Rectangle 68"/>
          <p:cNvSpPr>
            <a:spLocks noChangeArrowheads="1"/>
          </p:cNvSpPr>
          <p:nvPr/>
        </p:nvSpPr>
        <p:spPr bwMode="auto">
          <a:xfrm>
            <a:off x="279400" y="677863"/>
            <a:ext cx="2878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计算步骤：</a:t>
            </a:r>
          </a:p>
        </p:txBody>
      </p:sp>
      <p:sp>
        <p:nvSpPr>
          <p:cNvPr id="1541189" name="Rectangle 69"/>
          <p:cNvSpPr>
            <a:spLocks noChangeArrowheads="1"/>
          </p:cNvSpPr>
          <p:nvPr/>
        </p:nvSpPr>
        <p:spPr bwMode="auto">
          <a:xfrm>
            <a:off x="2309346" y="5779914"/>
            <a:ext cx="5473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单一土层一维压缩问题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1541190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512604"/>
              </p:ext>
            </p:extLst>
          </p:nvPr>
        </p:nvGraphicFramePr>
        <p:xfrm>
          <a:off x="1879600" y="2482850"/>
          <a:ext cx="149832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698" name="Microsoft 公式 3.0" r:id="rId3" imgW="749160" imgH="228600" progId="Equation.3">
                  <p:embed/>
                </p:oleObj>
              </mc:Choice>
              <mc:Fallback>
                <p:oleObj name="Microsoft 公式 3.0" r:id="rId3" imgW="749160" imgH="22860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2482850"/>
                        <a:ext cx="149832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1192" name="Rectangle 72"/>
          <p:cNvSpPr>
            <a:spLocks noChangeArrowheads="1"/>
          </p:cNvSpPr>
          <p:nvPr/>
        </p:nvSpPr>
        <p:spPr bwMode="auto">
          <a:xfrm>
            <a:off x="498475" y="2424113"/>
            <a:ext cx="1417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确定</a:t>
            </a:r>
            <a:r>
              <a:rPr kumimoji="1" lang="zh-CN" altLang="en-US" sz="240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：</a:t>
            </a:r>
          </a:p>
        </p:txBody>
      </p:sp>
      <p:sp>
        <p:nvSpPr>
          <p:cNvPr id="1541193" name="Rectangle 73"/>
          <p:cNvSpPr>
            <a:spLocks noChangeArrowheads="1"/>
          </p:cNvSpPr>
          <p:nvPr/>
        </p:nvSpPr>
        <p:spPr bwMode="auto">
          <a:xfrm>
            <a:off x="498475" y="3209925"/>
            <a:ext cx="1819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查定</a:t>
            </a:r>
            <a:r>
              <a:rPr kumimoji="1" lang="zh-CN" altLang="en-US" sz="240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：  </a:t>
            </a:r>
            <a:endParaRPr kumimoji="1" lang="zh-CN" altLang="en-US" sz="2400" b="1" baseline="-2500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41194" name="Rectangle 74"/>
          <p:cNvSpPr>
            <a:spLocks noChangeArrowheads="1"/>
          </p:cNvSpPr>
          <p:nvPr/>
        </p:nvSpPr>
        <p:spPr bwMode="auto">
          <a:xfrm>
            <a:off x="506413" y="4630738"/>
            <a:ext cx="1522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算定</a:t>
            </a:r>
            <a:r>
              <a:rPr kumimoji="1" lang="zh-CN" altLang="en-US" sz="240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：</a:t>
            </a:r>
          </a:p>
        </p:txBody>
      </p:sp>
      <p:graphicFrame>
        <p:nvGraphicFramePr>
          <p:cNvPr id="1541195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273375"/>
              </p:ext>
            </p:extLst>
          </p:nvPr>
        </p:nvGraphicFramePr>
        <p:xfrm>
          <a:off x="1900238" y="3217863"/>
          <a:ext cx="1803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699" name="Microsoft 公式 3.0" r:id="rId5" imgW="901440" imgH="228600" progId="Equation.3">
                  <p:embed/>
                </p:oleObj>
              </mc:Choice>
              <mc:Fallback>
                <p:oleObj name="Microsoft 公式 3.0" r:id="rId5" imgW="901440" imgH="22860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238" y="3217863"/>
                        <a:ext cx="1803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41196" name="Group 76"/>
          <p:cNvGrpSpPr>
            <a:grpSpLocks/>
          </p:cNvGrpSpPr>
          <p:nvPr/>
        </p:nvGrpSpPr>
        <p:grpSpPr bwMode="auto">
          <a:xfrm>
            <a:off x="522288" y="1285876"/>
            <a:ext cx="3602037" cy="887413"/>
            <a:chOff x="329" y="810"/>
            <a:chExt cx="2269" cy="559"/>
          </a:xfrm>
        </p:grpSpPr>
        <p:sp>
          <p:nvSpPr>
            <p:cNvPr id="1541197" name="Rectangle 77"/>
            <p:cNvSpPr>
              <a:spLocks noChangeArrowheads="1"/>
            </p:cNvSpPr>
            <p:nvPr/>
          </p:nvSpPr>
          <p:spPr bwMode="auto">
            <a:xfrm>
              <a:off x="329" y="810"/>
              <a:ext cx="2269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118800" rIns="90000" bIns="118800">
              <a:spAutoFit/>
            </a:bodyPr>
            <a:lstStyle/>
            <a:p>
              <a:pPr eaLnBrk="0" hangingPunct="0">
                <a:lnSpc>
                  <a:spcPct val="160000"/>
                </a:lnSpc>
                <a:spcBef>
                  <a:spcPct val="60000"/>
                </a:spcBef>
                <a:spcAft>
                  <a:spcPct val="100000"/>
                </a:spcAft>
              </a:pPr>
              <a:r>
                <a:rPr kumimoji="1" lang="zh-CN" altLang="en-US" sz="24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以公式           为例</a:t>
              </a:r>
            </a:p>
          </p:txBody>
        </p:sp>
        <p:graphicFrame>
          <p:nvGraphicFramePr>
            <p:cNvPr id="1541198" name="Object 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7761935"/>
                </p:ext>
              </p:extLst>
            </p:nvPr>
          </p:nvGraphicFramePr>
          <p:xfrm>
            <a:off x="1004" y="865"/>
            <a:ext cx="1008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1700" name="Microsoft 公式 3.0" r:id="rId7" imgW="888840" imgH="444240" progId="Equation.3">
                    <p:embed/>
                  </p:oleObj>
                </mc:Choice>
                <mc:Fallback>
                  <p:oleObj name="Microsoft 公式 3.0" r:id="rId7" imgW="888840" imgH="444240" progId="Equation.3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" y="865"/>
                          <a:ext cx="1008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41199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3094564"/>
              </p:ext>
            </p:extLst>
          </p:nvPr>
        </p:nvGraphicFramePr>
        <p:xfrm>
          <a:off x="1897063" y="3836988"/>
          <a:ext cx="241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701" name="Microsoft 公式 3.0" r:id="rId9" imgW="1206360" imgH="228600" progId="Equation.3">
                  <p:embed/>
                </p:oleObj>
              </mc:Choice>
              <mc:Fallback>
                <p:oleObj name="Microsoft 公式 3.0" r:id="rId9" imgW="1206360" imgH="228600" progId="Equation.3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7063" y="3836988"/>
                        <a:ext cx="2413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4932363" y="3744913"/>
            <a:ext cx="1111250" cy="519112"/>
            <a:chOff x="4932363" y="3744913"/>
            <a:chExt cx="1111250" cy="519112"/>
          </a:xfrm>
        </p:grpSpPr>
        <p:sp>
          <p:nvSpPr>
            <p:cNvPr id="1541201" name="Line 81"/>
            <p:cNvSpPr>
              <a:spLocks noChangeShapeType="1"/>
            </p:cNvSpPr>
            <p:nvPr/>
          </p:nvSpPr>
          <p:spPr bwMode="auto">
            <a:xfrm>
              <a:off x="5395913" y="4046538"/>
              <a:ext cx="6477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02" name="Text Box 82"/>
            <p:cNvSpPr txBox="1">
              <a:spLocks noChangeArrowheads="1"/>
            </p:cNvSpPr>
            <p:nvPr/>
          </p:nvSpPr>
          <p:spPr bwMode="auto">
            <a:xfrm>
              <a:off x="4932363" y="3744913"/>
              <a:ext cx="485775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r>
                <a:rPr kumimoji="1" lang="en-US" altLang="zh-CN" sz="2800" b="1" baseline="-25000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916488" y="4268788"/>
            <a:ext cx="2085975" cy="519112"/>
            <a:chOff x="4916488" y="4268788"/>
            <a:chExt cx="2085975" cy="519112"/>
          </a:xfrm>
        </p:grpSpPr>
        <p:sp>
          <p:nvSpPr>
            <p:cNvPr id="1541204" name="Line 84"/>
            <p:cNvSpPr>
              <a:spLocks noChangeShapeType="1"/>
            </p:cNvSpPr>
            <p:nvPr/>
          </p:nvSpPr>
          <p:spPr bwMode="auto">
            <a:xfrm>
              <a:off x="5395913" y="4543425"/>
              <a:ext cx="16065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05" name="Text Box 85"/>
            <p:cNvSpPr txBox="1">
              <a:spLocks noChangeArrowheads="1"/>
            </p:cNvSpPr>
            <p:nvPr/>
          </p:nvSpPr>
          <p:spPr bwMode="auto">
            <a:xfrm>
              <a:off x="4916488" y="4268788"/>
              <a:ext cx="485775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e</a:t>
              </a:r>
              <a:r>
                <a:rPr kumimoji="1" lang="en-US" altLang="zh-CN" sz="2800" b="1" baseline="-25000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2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43613" y="3225800"/>
            <a:ext cx="958851" cy="1138238"/>
            <a:chOff x="6043613" y="3225800"/>
            <a:chExt cx="958851" cy="1138238"/>
          </a:xfrm>
        </p:grpSpPr>
        <p:sp>
          <p:nvSpPr>
            <p:cNvPr id="1541207" name="Line 87"/>
            <p:cNvSpPr>
              <a:spLocks noChangeShapeType="1"/>
            </p:cNvSpPr>
            <p:nvPr/>
          </p:nvSpPr>
          <p:spPr bwMode="auto">
            <a:xfrm>
              <a:off x="6045201" y="3727450"/>
              <a:ext cx="957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41208" name="Group 88"/>
            <p:cNvGrpSpPr>
              <a:grpSpLocks/>
            </p:cNvGrpSpPr>
            <p:nvPr/>
          </p:nvGrpSpPr>
          <p:grpSpPr bwMode="auto">
            <a:xfrm>
              <a:off x="6043613" y="3225800"/>
              <a:ext cx="955675" cy="1138238"/>
              <a:chOff x="3807" y="2032"/>
              <a:chExt cx="602" cy="717"/>
            </a:xfrm>
          </p:grpSpPr>
          <p:sp>
            <p:nvSpPr>
              <p:cNvPr id="1541209" name="Line 89"/>
              <p:cNvSpPr>
                <a:spLocks noChangeShapeType="1"/>
              </p:cNvSpPr>
              <p:nvPr/>
            </p:nvSpPr>
            <p:spPr bwMode="auto">
              <a:xfrm>
                <a:off x="3807" y="2233"/>
                <a:ext cx="0" cy="2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210" name="Text Box 90"/>
              <p:cNvSpPr txBox="1">
                <a:spLocks noChangeArrowheads="1"/>
              </p:cNvSpPr>
              <p:nvPr/>
            </p:nvSpPr>
            <p:spPr bwMode="auto">
              <a:xfrm>
                <a:off x="3987" y="2032"/>
                <a:ext cx="22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400" b="1" i="1" dirty="0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</a:p>
            </p:txBody>
          </p:sp>
          <p:sp>
            <p:nvSpPr>
              <p:cNvPr id="1541211" name="Freeform 91"/>
              <p:cNvSpPr>
                <a:spLocks/>
              </p:cNvSpPr>
              <p:nvPr/>
            </p:nvSpPr>
            <p:spPr bwMode="auto">
              <a:xfrm>
                <a:off x="4003" y="2591"/>
                <a:ext cx="292" cy="158"/>
              </a:xfrm>
              <a:custGeom>
                <a:avLst/>
                <a:gdLst>
                  <a:gd name="T0" fmla="*/ 0 w 292"/>
                  <a:gd name="T1" fmla="*/ 0 h 216"/>
                  <a:gd name="T2" fmla="*/ 134 w 292"/>
                  <a:gd name="T3" fmla="*/ 106 h 216"/>
                  <a:gd name="T4" fmla="*/ 292 w 292"/>
                  <a:gd name="T5" fmla="*/ 21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92" h="216">
                    <a:moveTo>
                      <a:pt x="0" y="0"/>
                    </a:moveTo>
                    <a:cubicBezTo>
                      <a:pt x="42" y="35"/>
                      <a:pt x="85" y="70"/>
                      <a:pt x="134" y="106"/>
                    </a:cubicBezTo>
                    <a:cubicBezTo>
                      <a:pt x="183" y="142"/>
                      <a:pt x="237" y="179"/>
                      <a:pt x="292" y="216"/>
                    </a:cubicBezTo>
                  </a:path>
                </a:pathLst>
              </a:custGeom>
              <a:noFill/>
              <a:ln w="28575" cmpd="sng">
                <a:solidFill>
                  <a:srgbClr val="A50021"/>
                </a:solidFill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212" name="Line 92"/>
              <p:cNvSpPr>
                <a:spLocks noChangeShapeType="1"/>
              </p:cNvSpPr>
              <p:nvPr/>
            </p:nvSpPr>
            <p:spPr bwMode="auto">
              <a:xfrm>
                <a:off x="4409" y="2249"/>
                <a:ext cx="0" cy="2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5780088" y="3994150"/>
            <a:ext cx="485775" cy="1646238"/>
            <a:chOff x="5780088" y="3994150"/>
            <a:chExt cx="485775" cy="1646238"/>
          </a:xfrm>
        </p:grpSpPr>
        <p:sp>
          <p:nvSpPr>
            <p:cNvPr id="1541214" name="Line 94"/>
            <p:cNvSpPr>
              <a:spLocks noChangeShapeType="1"/>
            </p:cNvSpPr>
            <p:nvPr/>
          </p:nvSpPr>
          <p:spPr bwMode="auto">
            <a:xfrm>
              <a:off x="6030913" y="3994150"/>
              <a:ext cx="0" cy="12207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15" name="Text Box 95"/>
            <p:cNvSpPr txBox="1">
              <a:spLocks noChangeArrowheads="1"/>
            </p:cNvSpPr>
            <p:nvPr/>
          </p:nvSpPr>
          <p:spPr bwMode="auto">
            <a:xfrm>
              <a:off x="5780088" y="5121275"/>
              <a:ext cx="48577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1</a:t>
              </a:r>
            </a:p>
          </p:txBody>
        </p:sp>
        <p:sp>
          <p:nvSpPr>
            <p:cNvPr id="1541216" name="Oval 96"/>
            <p:cNvSpPr>
              <a:spLocks noChangeArrowheads="1"/>
            </p:cNvSpPr>
            <p:nvPr/>
          </p:nvSpPr>
          <p:spPr bwMode="auto">
            <a:xfrm>
              <a:off x="5991226" y="4000500"/>
              <a:ext cx="73025" cy="714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788150" y="4503738"/>
            <a:ext cx="485775" cy="1136651"/>
            <a:chOff x="6788150" y="4503738"/>
            <a:chExt cx="485775" cy="1136651"/>
          </a:xfrm>
        </p:grpSpPr>
        <p:sp>
          <p:nvSpPr>
            <p:cNvPr id="1541218" name="Line 98"/>
            <p:cNvSpPr>
              <a:spLocks noChangeShapeType="1"/>
            </p:cNvSpPr>
            <p:nvPr/>
          </p:nvSpPr>
          <p:spPr bwMode="auto">
            <a:xfrm>
              <a:off x="6983413" y="4533901"/>
              <a:ext cx="0" cy="6810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19" name="Text Box 99"/>
            <p:cNvSpPr txBox="1">
              <a:spLocks noChangeArrowheads="1"/>
            </p:cNvSpPr>
            <p:nvPr/>
          </p:nvSpPr>
          <p:spPr bwMode="auto">
            <a:xfrm>
              <a:off x="6788150" y="5121276"/>
              <a:ext cx="48577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2</a:t>
              </a:r>
            </a:p>
          </p:txBody>
        </p:sp>
        <p:sp>
          <p:nvSpPr>
            <p:cNvPr id="1541220" name="Oval 100"/>
            <p:cNvSpPr>
              <a:spLocks noChangeArrowheads="1"/>
            </p:cNvSpPr>
            <p:nvPr/>
          </p:nvSpPr>
          <p:spPr bwMode="auto">
            <a:xfrm>
              <a:off x="6953250" y="4503738"/>
              <a:ext cx="73025" cy="714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0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2" name="Text Box 7"/>
          <p:cNvSpPr txBox="1">
            <a:spLocks noChangeArrowheads="1"/>
          </p:cNvSpPr>
          <p:nvPr/>
        </p:nvSpPr>
        <p:spPr bwMode="auto">
          <a:xfrm>
            <a:off x="-9526" y="0"/>
            <a:ext cx="471469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单一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土层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000599"/>
              </p:ext>
            </p:extLst>
          </p:nvPr>
        </p:nvGraphicFramePr>
        <p:xfrm>
          <a:off x="1920875" y="4506913"/>
          <a:ext cx="1600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702" name="Microsoft 公式 3.0" r:id="rId11" imgW="888840" imgH="444240" progId="Equation.3">
                  <p:embed/>
                </p:oleObj>
              </mc:Choice>
              <mc:Fallback>
                <p:oleObj name="Microsoft 公式 3.0" r:id="rId11" imgW="888840" imgH="444240" progId="Equation.3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5" y="4506913"/>
                        <a:ext cx="1600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6" name="组合 155"/>
          <p:cNvGrpSpPr/>
          <p:nvPr/>
        </p:nvGrpSpPr>
        <p:grpSpPr>
          <a:xfrm>
            <a:off x="4452938" y="1030273"/>
            <a:ext cx="4533900" cy="1779603"/>
            <a:chOff x="471488" y="1554148"/>
            <a:chExt cx="4533900" cy="1779603"/>
          </a:xfrm>
        </p:grpSpPr>
        <p:grpSp>
          <p:nvGrpSpPr>
            <p:cNvPr id="157" name="组合 156"/>
            <p:cNvGrpSpPr/>
            <p:nvPr/>
          </p:nvGrpSpPr>
          <p:grpSpPr>
            <a:xfrm>
              <a:off x="471488" y="1554148"/>
              <a:ext cx="4533900" cy="1779603"/>
              <a:chOff x="471488" y="1554148"/>
              <a:chExt cx="4533900" cy="1779603"/>
            </a:xfrm>
          </p:grpSpPr>
          <p:grpSp>
            <p:nvGrpSpPr>
              <p:cNvPr id="160" name="Group 4"/>
              <p:cNvGrpSpPr>
                <a:grpSpLocks/>
              </p:cNvGrpSpPr>
              <p:nvPr/>
            </p:nvGrpSpPr>
            <p:grpSpPr bwMode="auto">
              <a:xfrm>
                <a:off x="471488" y="1554163"/>
                <a:ext cx="4533900" cy="1779588"/>
                <a:chOff x="297" y="979"/>
                <a:chExt cx="2856" cy="1121"/>
              </a:xfrm>
            </p:grpSpPr>
            <p:sp>
              <p:nvSpPr>
                <p:cNvPr id="162" name="Rectangle 5"/>
                <p:cNvSpPr>
                  <a:spLocks noChangeArrowheads="1"/>
                </p:cNvSpPr>
                <p:nvPr/>
              </p:nvSpPr>
              <p:spPr bwMode="auto">
                <a:xfrm>
                  <a:off x="838" y="979"/>
                  <a:ext cx="1950" cy="1030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800" b="1">
                    <a:solidFill>
                      <a:srgbClr val="000000"/>
                    </a:solidFill>
                    <a:latin typeface="宋体" charset="-122"/>
                    <a:sym typeface="Symbol" pitchFamily="18" charset="2"/>
                  </a:endParaRPr>
                </a:p>
              </p:txBody>
            </p:sp>
            <p:sp>
              <p:nvSpPr>
                <p:cNvPr id="163" name="Rectangle 8" descr="深色上对角线"/>
                <p:cNvSpPr>
                  <a:spLocks noChangeAspect="1" noChangeArrowheads="1"/>
                </p:cNvSpPr>
                <p:nvPr/>
              </p:nvSpPr>
              <p:spPr bwMode="auto">
                <a:xfrm>
                  <a:off x="831" y="2010"/>
                  <a:ext cx="1963" cy="90"/>
                </a:xfrm>
                <a:prstGeom prst="rect">
                  <a:avLst/>
                </a:prstGeom>
                <a:pattFill prst="dkUpDiag">
                  <a:fgClr>
                    <a:srgbClr val="666633"/>
                  </a:fgClr>
                  <a:bgClr>
                    <a:schemeClr val="hlink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" name="AutoShape 9" descr="浅色横线"/>
                <p:cNvSpPr>
                  <a:spLocks noChangeArrowheads="1"/>
                </p:cNvSpPr>
                <p:nvPr/>
              </p:nvSpPr>
              <p:spPr bwMode="auto">
                <a:xfrm flipH="1">
                  <a:off x="1368" y="986"/>
                  <a:ext cx="539" cy="1028"/>
                </a:xfrm>
                <a:prstGeom prst="rtTriangle">
                  <a:avLst/>
                </a:prstGeom>
                <a:pattFill prst="ltHorz">
                  <a:fgClr>
                    <a:srgbClr val="000066"/>
                  </a:fgClr>
                  <a:bgClr>
                    <a:srgbClr val="CCFFCC"/>
                  </a:bgClr>
                </a:pattFill>
                <a:ln w="12700">
                  <a:solidFill>
                    <a:srgbClr val="000066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65" name="Group 10"/>
                <p:cNvGrpSpPr>
                  <a:grpSpLocks/>
                </p:cNvGrpSpPr>
                <p:nvPr/>
              </p:nvGrpSpPr>
              <p:grpSpPr bwMode="auto">
                <a:xfrm>
                  <a:off x="2865" y="980"/>
                  <a:ext cx="288" cy="1030"/>
                  <a:chOff x="2835" y="1190"/>
                  <a:chExt cx="288" cy="1030"/>
                </a:xfrm>
              </p:grpSpPr>
              <p:sp>
                <p:nvSpPr>
                  <p:cNvPr id="177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01" y="1630"/>
                    <a:ext cx="22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2000" b="1" i="1" dirty="0">
                        <a:solidFill>
                          <a:srgbClr val="A50021"/>
                        </a:solidFill>
                      </a:rPr>
                      <a:t>H</a:t>
                    </a:r>
                    <a:endParaRPr kumimoji="1" lang="en-US" altLang="zh-CN" sz="2000" b="1" i="1" baseline="-25000" dirty="0">
                      <a:solidFill>
                        <a:srgbClr val="A50021"/>
                      </a:solidFill>
                    </a:endParaRPr>
                  </a:p>
                </p:txBody>
              </p:sp>
              <p:sp>
                <p:nvSpPr>
                  <p:cNvPr id="178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2835" y="2220"/>
                    <a:ext cx="12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9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2835" y="1190"/>
                    <a:ext cx="12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918" y="1192"/>
                    <a:ext cx="0" cy="102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triangl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66" name="Group 15"/>
                <p:cNvGrpSpPr>
                  <a:grpSpLocks/>
                </p:cNvGrpSpPr>
                <p:nvPr/>
              </p:nvGrpSpPr>
              <p:grpSpPr bwMode="auto">
                <a:xfrm>
                  <a:off x="297" y="1012"/>
                  <a:ext cx="387" cy="998"/>
                  <a:chOff x="288" y="1222"/>
                  <a:chExt cx="387" cy="998"/>
                </a:xfrm>
              </p:grpSpPr>
              <p:sp>
                <p:nvSpPr>
                  <p:cNvPr id="170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533" y="1722"/>
                    <a:ext cx="13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71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539" y="2220"/>
                    <a:ext cx="13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72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539" y="1222"/>
                    <a:ext cx="13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73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612" y="1222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612" y="1721"/>
                    <a:ext cx="0" cy="49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" y="1403"/>
                    <a:ext cx="318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2000" b="1" i="1" dirty="0">
                        <a:solidFill>
                          <a:srgbClr val="A50021"/>
                        </a:solidFill>
                      </a:rPr>
                      <a:t>H</a:t>
                    </a:r>
                    <a:r>
                      <a:rPr kumimoji="1" lang="en-US" altLang="zh-CN" sz="2000" b="1" dirty="0">
                        <a:solidFill>
                          <a:srgbClr val="A50021"/>
                        </a:solidFill>
                      </a:rPr>
                      <a:t>/2</a:t>
                    </a:r>
                    <a:endParaRPr kumimoji="1" lang="en-US" altLang="zh-CN" sz="2000" b="1" baseline="-25000" dirty="0">
                      <a:solidFill>
                        <a:srgbClr val="A50021"/>
                      </a:solidFill>
                    </a:endParaRPr>
                  </a:p>
                </p:txBody>
              </p:sp>
              <p:sp>
                <p:nvSpPr>
                  <p:cNvPr id="176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" y="1877"/>
                    <a:ext cx="318" cy="1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kumimoji="1" lang="en-US" altLang="zh-CN" sz="2000" b="1" i="1" dirty="0">
                        <a:solidFill>
                          <a:srgbClr val="A50021"/>
                        </a:solidFill>
                      </a:rPr>
                      <a:t>H</a:t>
                    </a:r>
                    <a:r>
                      <a:rPr kumimoji="1" lang="en-US" altLang="zh-CN" sz="2000" b="1" dirty="0">
                        <a:solidFill>
                          <a:srgbClr val="A50021"/>
                        </a:solidFill>
                      </a:rPr>
                      <a:t>/2</a:t>
                    </a:r>
                    <a:endParaRPr kumimoji="1" lang="en-US" altLang="zh-CN" sz="2000" b="1" baseline="-25000" dirty="0">
                      <a:solidFill>
                        <a:srgbClr val="A50021"/>
                      </a:solidFill>
                    </a:endParaRPr>
                  </a:p>
                </p:txBody>
              </p:sp>
            </p:grpSp>
            <p:sp>
              <p:nvSpPr>
                <p:cNvPr id="167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2275" y="1117"/>
                  <a:ext cx="499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FF66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l-GR" altLang="zh-CN" sz="2200" b="1" i="1" dirty="0" smtClean="0">
                      <a:solidFill>
                        <a:srgbClr val="000000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</a:t>
                  </a:r>
                  <a:r>
                    <a:rPr kumimoji="1" lang="en-US" altLang="zh-CN" sz="2200" b="1" i="1" dirty="0" smtClean="0">
                      <a:solidFill>
                        <a:srgbClr val="000000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 </a:t>
                  </a:r>
                  <a:r>
                    <a:rPr kumimoji="1" lang="en-US" altLang="zh-CN" sz="2200" b="1" dirty="0" smtClean="0">
                      <a:solidFill>
                        <a:srgbClr val="000000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, </a:t>
                  </a:r>
                  <a:r>
                    <a:rPr kumimoji="1" lang="en-US" altLang="zh-CN" sz="2200" b="1" i="1" dirty="0" smtClean="0">
                      <a:solidFill>
                        <a:srgbClr val="000000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e</a:t>
                  </a:r>
                  <a:r>
                    <a:rPr kumimoji="1" lang="en-US" altLang="zh-CN" sz="2200" b="1" baseline="-25000" dirty="0" smtClean="0">
                      <a:solidFill>
                        <a:srgbClr val="000000"/>
                      </a:solidFill>
                      <a:ea typeface="幼圆" pitchFamily="49" charset="-122"/>
                      <a:cs typeface="Times New Roman" panose="02020603050405020304" pitchFamily="18" charset="0"/>
                      <a:sym typeface="Symbol" pitchFamily="18" charset="2"/>
                    </a:rPr>
                    <a:t>1</a:t>
                  </a:r>
                  <a:endParaRPr kumimoji="1" lang="el-GR" altLang="zh-CN" sz="2200" b="1" baseline="-25000" dirty="0">
                    <a:solidFill>
                      <a:srgbClr val="000000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endParaRPr>
                </a:p>
              </p:txBody>
            </p:sp>
            <p:sp>
              <p:nvSpPr>
                <p:cNvPr id="168" name="Line 24"/>
                <p:cNvSpPr>
                  <a:spLocks noChangeShapeType="1"/>
                </p:cNvSpPr>
                <p:nvPr/>
              </p:nvSpPr>
              <p:spPr bwMode="auto">
                <a:xfrm>
                  <a:off x="1636" y="1519"/>
                  <a:ext cx="27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9" name="AutoShape 25"/>
                <p:cNvSpPr>
                  <a:spLocks noChangeArrowheads="1"/>
                </p:cNvSpPr>
                <p:nvPr/>
              </p:nvSpPr>
              <p:spPr bwMode="auto">
                <a:xfrm flipV="1">
                  <a:off x="1595" y="1284"/>
                  <a:ext cx="226" cy="181"/>
                </a:xfrm>
                <a:custGeom>
                  <a:avLst/>
                  <a:gdLst>
                    <a:gd name="G0" fmla="+- 13491 0 0"/>
                    <a:gd name="G1" fmla="+- 18738 0 0"/>
                    <a:gd name="G2" fmla="+- 5847 0 0"/>
                    <a:gd name="G3" fmla="*/ 13491 1 2"/>
                    <a:gd name="G4" fmla="+- G3 10800 0"/>
                    <a:gd name="G5" fmla="+- 21600 13491 18738"/>
                    <a:gd name="G6" fmla="+- 18738 5847 0"/>
                    <a:gd name="G7" fmla="*/ G6 1 2"/>
                    <a:gd name="G8" fmla="*/ 18738 2 1"/>
                    <a:gd name="G9" fmla="+- G8 0 21600"/>
                    <a:gd name="G10" fmla="*/ 21600 G0 G1"/>
                    <a:gd name="G11" fmla="*/ 21600 G4 G1"/>
                    <a:gd name="G12" fmla="*/ 21600 G5 G1"/>
                    <a:gd name="G13" fmla="*/ 21600 G7 G1"/>
                    <a:gd name="G14" fmla="*/ 18738 1 2"/>
                    <a:gd name="G15" fmla="+- G5 0 G4"/>
                    <a:gd name="G16" fmla="+- G0 0 G4"/>
                    <a:gd name="G17" fmla="*/ G2 G15 G16"/>
                    <a:gd name="T0" fmla="*/ 17546 w 21600"/>
                    <a:gd name="T1" fmla="*/ 0 h 21600"/>
                    <a:gd name="T2" fmla="*/ 13491 w 21600"/>
                    <a:gd name="T3" fmla="*/ 5847 h 21600"/>
                    <a:gd name="T4" fmla="*/ 0 w 21600"/>
                    <a:gd name="T5" fmla="*/ 20226 h 21600"/>
                    <a:gd name="T6" fmla="*/ 9369 w 21600"/>
                    <a:gd name="T7" fmla="*/ 21600 h 21600"/>
                    <a:gd name="T8" fmla="*/ 18738 w 21600"/>
                    <a:gd name="T9" fmla="*/ 14171 h 21600"/>
                    <a:gd name="T10" fmla="*/ 21600 w 21600"/>
                    <a:gd name="T11" fmla="*/ 5847 h 21600"/>
                    <a:gd name="T12" fmla="*/ 17694720 60000 65536"/>
                    <a:gd name="T13" fmla="*/ 11796480 60000 65536"/>
                    <a:gd name="T14" fmla="*/ 11796480 60000 65536"/>
                    <a:gd name="T15" fmla="*/ 5898240 60000 65536"/>
                    <a:gd name="T16" fmla="*/ 0 60000 65536"/>
                    <a:gd name="T17" fmla="*/ 0 60000 65536"/>
                    <a:gd name="T18" fmla="*/ 0 w 21600"/>
                    <a:gd name="T19" fmla="*/ G12 h 21600"/>
                    <a:gd name="T20" fmla="*/ G1 w 21600"/>
                    <a:gd name="T21" fmla="*/ 21600 h 2160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600" h="21600">
                      <a:moveTo>
                        <a:pt x="17546" y="0"/>
                      </a:moveTo>
                      <a:lnTo>
                        <a:pt x="13491" y="5847"/>
                      </a:lnTo>
                      <a:lnTo>
                        <a:pt x="16353" y="5847"/>
                      </a:lnTo>
                      <a:lnTo>
                        <a:pt x="16353" y="18851"/>
                      </a:lnTo>
                      <a:lnTo>
                        <a:pt x="0" y="18851"/>
                      </a:lnTo>
                      <a:lnTo>
                        <a:pt x="0" y="21600"/>
                      </a:lnTo>
                      <a:lnTo>
                        <a:pt x="18738" y="21600"/>
                      </a:lnTo>
                      <a:lnTo>
                        <a:pt x="18738" y="5847"/>
                      </a:lnTo>
                      <a:lnTo>
                        <a:pt x="21600" y="5847"/>
                      </a:lnTo>
                      <a:close/>
                    </a:path>
                  </a:pathLst>
                </a:custGeom>
                <a:solidFill>
                  <a:srgbClr val="FF66FF"/>
                </a:solidFill>
                <a:ln w="9525" algn="ctr">
                  <a:solidFill>
                    <a:srgbClr val="A5002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161" name="直接连接符 160"/>
              <p:cNvCxnSpPr/>
              <p:nvPr/>
            </p:nvCxnSpPr>
            <p:spPr bwMode="auto">
              <a:xfrm>
                <a:off x="1339879" y="1554148"/>
                <a:ext cx="3068639" cy="127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aphicFrame>
          <p:nvGraphicFramePr>
            <p:cNvPr id="158" name="对象 1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3191982"/>
                </p:ext>
              </p:extLst>
            </p:nvPr>
          </p:nvGraphicFramePr>
          <p:xfrm>
            <a:off x="1600200" y="1784350"/>
            <a:ext cx="852488" cy="568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1703" name="Microsoft 公式 3.0" r:id="rId13" imgW="609480" imgH="406080" progId="Equation.3">
                    <p:embed/>
                  </p:oleObj>
                </mc:Choice>
                <mc:Fallback>
                  <p:oleObj name="Microsoft 公式 3.0" r:id="rId13" imgW="60948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200" y="1784350"/>
                          <a:ext cx="852488" cy="568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9" name="对象 1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0903209"/>
                </p:ext>
              </p:extLst>
            </p:nvPr>
          </p:nvGraphicFramePr>
          <p:xfrm>
            <a:off x="1808162" y="2830512"/>
            <a:ext cx="345024" cy="365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1704" name="Microsoft 公式 3.0" r:id="rId15" imgW="215640" imgH="228600" progId="Equation.3">
                    <p:embed/>
                  </p:oleObj>
                </mc:Choice>
                <mc:Fallback>
                  <p:oleObj name="Microsoft 公式 3.0" r:id="rId15" imgW="2156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8162" y="2830512"/>
                          <a:ext cx="345024" cy="3657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1" name="Group 49"/>
          <p:cNvGrpSpPr>
            <a:grpSpLocks/>
          </p:cNvGrpSpPr>
          <p:nvPr/>
        </p:nvGrpSpPr>
        <p:grpSpPr bwMode="auto">
          <a:xfrm>
            <a:off x="7011601" y="1035051"/>
            <a:ext cx="1355727" cy="1638301"/>
            <a:chOff x="1912" y="982"/>
            <a:chExt cx="854" cy="1032"/>
          </a:xfrm>
        </p:grpSpPr>
        <p:sp>
          <p:nvSpPr>
            <p:cNvPr id="182" name="Rectangle 50" descr="浅色横线"/>
            <p:cNvSpPr>
              <a:spLocks noChangeAspect="1" noChangeArrowheads="1"/>
            </p:cNvSpPr>
            <p:nvPr/>
          </p:nvSpPr>
          <p:spPr bwMode="auto">
            <a:xfrm>
              <a:off x="1912" y="982"/>
              <a:ext cx="363" cy="1032"/>
            </a:xfrm>
            <a:prstGeom prst="rect">
              <a:avLst/>
            </a:prstGeom>
            <a:pattFill prst="ltHorz">
              <a:fgClr>
                <a:srgbClr val="000066"/>
              </a:fgClr>
              <a:bgClr>
                <a:srgbClr val="FFCCFF"/>
              </a:bgClr>
            </a:pattFill>
            <a:ln w="9525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>
                <a:solidFill>
                  <a:srgbClr val="666633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83" name="Text Box 51"/>
            <p:cNvSpPr txBox="1">
              <a:spLocks noChangeArrowheads="1"/>
            </p:cNvSpPr>
            <p:nvPr/>
          </p:nvSpPr>
          <p:spPr bwMode="auto">
            <a:xfrm>
              <a:off x="2284" y="1374"/>
              <a:ext cx="4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400" b="1" i="1" dirty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σ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z</a:t>
              </a:r>
              <a:r>
                <a:rPr kumimoji="1" lang="en-US" altLang="zh-CN" sz="2400" b="1" dirty="0" smtClean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= </a:t>
              </a:r>
              <a:r>
                <a:rPr kumimoji="1" lang="en-US" altLang="zh-CN" sz="2400" b="1" i="1" dirty="0" smtClean="0">
                  <a:solidFill>
                    <a:srgbClr val="000000"/>
                  </a:solidFill>
                  <a:ea typeface="幼圆" pitchFamily="49" charset="-122"/>
                  <a:sym typeface="Symbol" pitchFamily="18" charset="2"/>
                </a:rPr>
                <a:t>p</a:t>
              </a:r>
              <a:endParaRPr kumimoji="1" lang="en-US" altLang="zh-CN" sz="2400" b="1" i="1" dirty="0">
                <a:solidFill>
                  <a:srgbClr val="000000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84" name="Line 52"/>
            <p:cNvSpPr>
              <a:spLocks noChangeShapeType="1"/>
            </p:cNvSpPr>
            <p:nvPr/>
          </p:nvSpPr>
          <p:spPr bwMode="auto">
            <a:xfrm>
              <a:off x="1912" y="1519"/>
              <a:ext cx="3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5" name="组合 184"/>
          <p:cNvGrpSpPr/>
          <p:nvPr/>
        </p:nvGrpSpPr>
        <p:grpSpPr>
          <a:xfrm>
            <a:off x="5334581" y="508136"/>
            <a:ext cx="3372857" cy="530231"/>
            <a:chOff x="1353131" y="1032011"/>
            <a:chExt cx="3372857" cy="530231"/>
          </a:xfrm>
        </p:grpSpPr>
        <p:grpSp>
          <p:nvGrpSpPr>
            <p:cNvPr id="186" name="Group 29"/>
            <p:cNvGrpSpPr>
              <a:grpSpLocks/>
            </p:cNvGrpSpPr>
            <p:nvPr/>
          </p:nvGrpSpPr>
          <p:grpSpPr bwMode="auto">
            <a:xfrm>
              <a:off x="1379538" y="1032011"/>
              <a:ext cx="3346450" cy="530231"/>
              <a:chOff x="869" y="661"/>
              <a:chExt cx="2108" cy="334"/>
            </a:xfrm>
          </p:grpSpPr>
          <p:sp>
            <p:nvSpPr>
              <p:cNvPr id="188" name="Rectangle 30"/>
              <p:cNvSpPr>
                <a:spLocks noChangeArrowheads="1"/>
              </p:cNvSpPr>
              <p:nvPr/>
            </p:nvSpPr>
            <p:spPr bwMode="auto">
              <a:xfrm>
                <a:off x="2780" y="661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FF0000"/>
                    </a:solidFill>
                    <a:miter lim="800000"/>
                    <a:headEnd type="none" w="med" len="lg"/>
                    <a:tailEnd type="none" w="med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b="1" i="1" dirty="0">
                    <a:cs typeface="Times New Roman" panose="02020603050405020304" pitchFamily="18" charset="0"/>
                  </a:rPr>
                  <a:t>p</a:t>
                </a:r>
                <a:endParaRPr kumimoji="1" lang="zh-CN" altLang="en-US" sz="2000" b="1" i="1" dirty="0"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9" name="Group 31"/>
              <p:cNvGrpSpPr>
                <a:grpSpLocks/>
              </p:cNvGrpSpPr>
              <p:nvPr/>
            </p:nvGrpSpPr>
            <p:grpSpPr bwMode="auto">
              <a:xfrm>
                <a:off x="869" y="830"/>
                <a:ext cx="1898" cy="165"/>
                <a:chOff x="1474" y="2432"/>
                <a:chExt cx="1898" cy="165"/>
              </a:xfrm>
            </p:grpSpPr>
            <p:sp>
              <p:nvSpPr>
                <p:cNvPr id="190" name="Line 32"/>
                <p:cNvSpPr>
                  <a:spLocks noChangeShapeType="1"/>
                </p:cNvSpPr>
                <p:nvPr/>
              </p:nvSpPr>
              <p:spPr bwMode="auto">
                <a:xfrm>
                  <a:off x="1474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91" name="Line 33"/>
                <p:cNvSpPr>
                  <a:spLocks noChangeShapeType="1"/>
                </p:cNvSpPr>
                <p:nvPr/>
              </p:nvSpPr>
              <p:spPr bwMode="auto">
                <a:xfrm>
                  <a:off x="1593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92" name="Line 34"/>
                <p:cNvSpPr>
                  <a:spLocks noChangeShapeType="1"/>
                </p:cNvSpPr>
                <p:nvPr/>
              </p:nvSpPr>
              <p:spPr bwMode="auto">
                <a:xfrm>
                  <a:off x="1712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93" name="Line 35"/>
                <p:cNvSpPr>
                  <a:spLocks noChangeShapeType="1"/>
                </p:cNvSpPr>
                <p:nvPr/>
              </p:nvSpPr>
              <p:spPr bwMode="auto">
                <a:xfrm>
                  <a:off x="1830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94" name="Line 36"/>
                <p:cNvSpPr>
                  <a:spLocks noChangeShapeType="1"/>
                </p:cNvSpPr>
                <p:nvPr/>
              </p:nvSpPr>
              <p:spPr bwMode="auto">
                <a:xfrm>
                  <a:off x="1949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95" name="Line 37"/>
                <p:cNvSpPr>
                  <a:spLocks noChangeShapeType="1"/>
                </p:cNvSpPr>
                <p:nvPr/>
              </p:nvSpPr>
              <p:spPr bwMode="auto">
                <a:xfrm>
                  <a:off x="2066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96" name="Line 38"/>
                <p:cNvSpPr>
                  <a:spLocks noChangeShapeType="1"/>
                </p:cNvSpPr>
                <p:nvPr/>
              </p:nvSpPr>
              <p:spPr bwMode="auto">
                <a:xfrm>
                  <a:off x="2185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97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98" name="Line 40"/>
                <p:cNvSpPr>
                  <a:spLocks noChangeShapeType="1"/>
                </p:cNvSpPr>
                <p:nvPr/>
              </p:nvSpPr>
              <p:spPr bwMode="auto">
                <a:xfrm>
                  <a:off x="2422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99" name="Line 41"/>
                <p:cNvSpPr>
                  <a:spLocks noChangeShapeType="1"/>
                </p:cNvSpPr>
                <p:nvPr/>
              </p:nvSpPr>
              <p:spPr bwMode="auto">
                <a:xfrm>
                  <a:off x="2541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00" name="Line 42"/>
                <p:cNvSpPr>
                  <a:spLocks noChangeShapeType="1"/>
                </p:cNvSpPr>
                <p:nvPr/>
              </p:nvSpPr>
              <p:spPr bwMode="auto">
                <a:xfrm>
                  <a:off x="2661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01" name="Line 43"/>
                <p:cNvSpPr>
                  <a:spLocks noChangeShapeType="1"/>
                </p:cNvSpPr>
                <p:nvPr/>
              </p:nvSpPr>
              <p:spPr bwMode="auto">
                <a:xfrm>
                  <a:off x="2780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02" name="Line 44"/>
                <p:cNvSpPr>
                  <a:spLocks noChangeShapeType="1"/>
                </p:cNvSpPr>
                <p:nvPr/>
              </p:nvSpPr>
              <p:spPr bwMode="auto">
                <a:xfrm>
                  <a:off x="2899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03" name="Line 45"/>
                <p:cNvSpPr>
                  <a:spLocks noChangeShapeType="1"/>
                </p:cNvSpPr>
                <p:nvPr/>
              </p:nvSpPr>
              <p:spPr bwMode="auto">
                <a:xfrm>
                  <a:off x="3017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04" name="Line 46"/>
                <p:cNvSpPr>
                  <a:spLocks noChangeShapeType="1"/>
                </p:cNvSpPr>
                <p:nvPr/>
              </p:nvSpPr>
              <p:spPr bwMode="auto">
                <a:xfrm>
                  <a:off x="3136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05" name="Line 47"/>
                <p:cNvSpPr>
                  <a:spLocks noChangeShapeType="1"/>
                </p:cNvSpPr>
                <p:nvPr/>
              </p:nvSpPr>
              <p:spPr bwMode="auto">
                <a:xfrm>
                  <a:off x="3253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206" name="Line 48"/>
                <p:cNvSpPr>
                  <a:spLocks noChangeShapeType="1"/>
                </p:cNvSpPr>
                <p:nvPr/>
              </p:nvSpPr>
              <p:spPr bwMode="auto">
                <a:xfrm>
                  <a:off x="3372" y="2432"/>
                  <a:ext cx="0" cy="165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 type="non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187" name="直接连接符 186"/>
            <p:cNvCxnSpPr/>
            <p:nvPr/>
          </p:nvCxnSpPr>
          <p:spPr bwMode="auto">
            <a:xfrm>
              <a:off x="1353131" y="1305007"/>
              <a:ext cx="3068639" cy="127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1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41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41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41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41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54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41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4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541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41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1188" grpId="0" build="p" autoUpdateAnimBg="0"/>
      <p:bldP spid="1541192" grpId="0" build="p" autoUpdateAnimBg="0"/>
      <p:bldP spid="1541193" grpId="0" build="p" autoUpdateAnimBg="0"/>
      <p:bldP spid="1541194" grpId="0" build="p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147" name="Rectangle 3"/>
          <p:cNvSpPr>
            <a:spLocks noChangeArrowheads="1"/>
          </p:cNvSpPr>
          <p:nvPr/>
        </p:nvSpPr>
        <p:spPr bwMode="auto">
          <a:xfrm>
            <a:off x="2584450" y="4502917"/>
            <a:ext cx="5184775" cy="956288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 lIns="90000" tIns="46800" rIns="90000" bIns="46800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chemeClr val="bg1">
                    <a:lumMod val="95000"/>
                  </a:schemeClr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理论上不够完备，缺乏统一理论</a:t>
            </a:r>
            <a:r>
              <a:rPr kumimoji="1" lang="en-US" altLang="zh-CN" sz="2800" b="1" dirty="0">
                <a:solidFill>
                  <a:schemeClr val="bg1">
                    <a:lumMod val="95000"/>
                  </a:schemeClr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,</a:t>
            </a:r>
            <a:r>
              <a:rPr kumimoji="1" lang="zh-CN" altLang="en-US" sz="2800" b="1" dirty="0">
                <a:solidFill>
                  <a:schemeClr val="bg1">
                    <a:lumMod val="95000"/>
                  </a:schemeClr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是一个半经验性方法</a:t>
            </a:r>
            <a:endParaRPr kumimoji="1" lang="zh-CN" altLang="en-US" sz="2800" dirty="0">
              <a:solidFill>
                <a:schemeClr val="bg1">
                  <a:lumMod val="95000"/>
                </a:schemeClr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42148" name="Rectangle 4"/>
          <p:cNvSpPr>
            <a:spLocks noChangeArrowheads="1"/>
          </p:cNvSpPr>
          <p:nvPr/>
        </p:nvSpPr>
        <p:spPr bwMode="auto">
          <a:xfrm>
            <a:off x="782638" y="1213617"/>
            <a:ext cx="7189787" cy="301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533400" indent="-5334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假设基底压力为线性分布 </a:t>
            </a:r>
          </a:p>
          <a:p>
            <a:pPr marL="533400" indent="-5334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附加应力用弹性理论计算</a:t>
            </a:r>
          </a:p>
          <a:p>
            <a:pPr marL="533400" indent="-5334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侧限应力状态</a:t>
            </a:r>
            <a:r>
              <a:rPr lang="en-US" altLang="zh-CN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,</a:t>
            </a: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只发生单向沉降，以基础基面的中心线来计算</a:t>
            </a:r>
          </a:p>
          <a:p>
            <a:pPr marL="533400" indent="-5334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只计算固结沉降，不计瞬时沉降和次固结沉降</a:t>
            </a:r>
          </a:p>
          <a:p>
            <a:pPr marL="533400" indent="-5334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000066"/>
                </a:solidFill>
                <a:latin typeface="Verdana" pitchFamily="34" charset="0"/>
                <a:ea typeface="幼圆" pitchFamily="49" charset="-122"/>
                <a:sym typeface="Symbol" pitchFamily="18" charset="2"/>
              </a:rPr>
              <a:t>将地基分成若干层，认为整个地基的最终沉降量为各层沉降量之和</a:t>
            </a:r>
            <a:r>
              <a:rPr lang="zh-CN" altLang="en-US" sz="2200" dirty="0">
                <a:solidFill>
                  <a:srgbClr val="000066"/>
                </a:solidFill>
                <a:latin typeface="Verdana" pitchFamily="34" charset="0"/>
                <a:ea typeface="幼圆" pitchFamily="49" charset="-122"/>
                <a:sym typeface="Symbol" pitchFamily="18" charset="2"/>
              </a:rPr>
              <a:t>：</a:t>
            </a:r>
            <a:endParaRPr lang="zh-CN" altLang="en-US" sz="2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graphicFrame>
        <p:nvGraphicFramePr>
          <p:cNvPr id="1542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691268"/>
              </p:ext>
            </p:extLst>
          </p:nvPr>
        </p:nvGraphicFramePr>
        <p:xfrm>
          <a:off x="3517900" y="3883025"/>
          <a:ext cx="13700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221" name="Microsoft 公式 3.0" r:id="rId3" imgW="634680" imgH="253800" progId="Equation.3">
                  <p:embed/>
                </p:oleObj>
              </mc:Choice>
              <mc:Fallback>
                <p:oleObj name="Microsoft 公式 3.0" r:id="rId3" imgW="634680" imgH="253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3883025"/>
                        <a:ext cx="137001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3333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2150" name="Rectangle 6"/>
          <p:cNvSpPr>
            <a:spLocks noChangeArrowheads="1"/>
          </p:cNvSpPr>
          <p:nvPr/>
        </p:nvSpPr>
        <p:spPr bwMode="auto">
          <a:xfrm>
            <a:off x="279400" y="580205"/>
            <a:ext cx="42656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基本假定和基本原理：</a:t>
            </a:r>
          </a:p>
        </p:txBody>
      </p:sp>
      <p:sp>
        <p:nvSpPr>
          <p:cNvPr id="1542151" name="Rectangle 7"/>
          <p:cNvSpPr>
            <a:spLocks noChangeArrowheads="1"/>
          </p:cNvSpPr>
          <p:nvPr/>
        </p:nvSpPr>
        <p:spPr bwMode="auto">
          <a:xfrm>
            <a:off x="1916113" y="5774565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542152" name="AutoShape 8"/>
          <p:cNvSpPr>
            <a:spLocks noChangeArrowheads="1"/>
          </p:cNvSpPr>
          <p:nvPr/>
        </p:nvSpPr>
        <p:spPr bwMode="auto">
          <a:xfrm>
            <a:off x="1662113" y="4469580"/>
            <a:ext cx="714375" cy="565150"/>
          </a:xfrm>
          <a:prstGeom prst="homePlate">
            <a:avLst>
              <a:gd name="adj" fmla="val 33866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69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-9526" y="0"/>
            <a:ext cx="52029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分层总和法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2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80"/>
                                        <p:tgtEl>
                                          <p:spTgt spid="1542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80"/>
                                        <p:tgtEl>
                                          <p:spTgt spid="1542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80"/>
                                        <p:tgtEl>
                                          <p:spTgt spid="1542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980"/>
                            </p:stCondLst>
                            <p:childTnLst>
                              <p:par>
                                <p:cTn id="15" presetID="27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1542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1542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1542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960"/>
                            </p:stCondLst>
                            <p:childTnLst>
                              <p:par>
                                <p:cTn id="21" presetID="27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1542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1542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1542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580"/>
                            </p:stCondLst>
                            <p:childTnLst>
                              <p:par>
                                <p:cTn id="27" presetID="27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1542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1542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1542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920"/>
                            </p:stCondLst>
                            <p:childTnLst>
                              <p:par>
                                <p:cTn id="33" presetID="27" presetClass="entr" presetSubtype="0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1542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1542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1542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666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154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1000"/>
                                        <p:tgtEl>
                                          <p:spTgt spid="154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4214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4214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4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4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2147" grpId="0" build="allAtOnce" animBg="1"/>
      <p:bldP spid="1542148" grpId="0" build="p" autoUpdateAnimBg="0"/>
      <p:bldP spid="1542150" grpId="0" build="p" autoUpdateAnimBg="0"/>
      <p:bldP spid="154215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3171" name="Group 3"/>
          <p:cNvGrpSpPr>
            <a:grpSpLocks/>
          </p:cNvGrpSpPr>
          <p:nvPr/>
        </p:nvGrpSpPr>
        <p:grpSpPr bwMode="auto">
          <a:xfrm>
            <a:off x="4765674" y="1627187"/>
            <a:ext cx="4203700" cy="3724275"/>
            <a:chOff x="2973" y="769"/>
            <a:chExt cx="2648" cy="2346"/>
          </a:xfrm>
        </p:grpSpPr>
        <p:sp>
          <p:nvSpPr>
            <p:cNvPr id="1543173" name="Rectangle 5"/>
            <p:cNvSpPr>
              <a:spLocks noChangeArrowheads="1"/>
            </p:cNvSpPr>
            <p:nvPr/>
          </p:nvSpPr>
          <p:spPr bwMode="auto">
            <a:xfrm>
              <a:off x="2977" y="2014"/>
              <a:ext cx="2472" cy="98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43174" name="Rectangle 6"/>
            <p:cNvSpPr>
              <a:spLocks noChangeArrowheads="1"/>
            </p:cNvSpPr>
            <p:nvPr/>
          </p:nvSpPr>
          <p:spPr bwMode="auto">
            <a:xfrm>
              <a:off x="2977" y="1705"/>
              <a:ext cx="2472" cy="309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43175" name="Rectangle 7"/>
            <p:cNvSpPr>
              <a:spLocks noChangeArrowheads="1"/>
            </p:cNvSpPr>
            <p:nvPr/>
          </p:nvSpPr>
          <p:spPr bwMode="auto">
            <a:xfrm>
              <a:off x="2977" y="1022"/>
              <a:ext cx="2472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43176" name="Line 8"/>
            <p:cNvSpPr>
              <a:spLocks noChangeAspect="1" noChangeShapeType="1"/>
            </p:cNvSpPr>
            <p:nvPr/>
          </p:nvSpPr>
          <p:spPr bwMode="auto">
            <a:xfrm>
              <a:off x="2977" y="1023"/>
              <a:ext cx="24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77" name="Line 9"/>
            <p:cNvSpPr>
              <a:spLocks noChangeAspect="1" noChangeShapeType="1"/>
            </p:cNvSpPr>
            <p:nvPr/>
          </p:nvSpPr>
          <p:spPr bwMode="auto">
            <a:xfrm>
              <a:off x="3171" y="1018"/>
              <a:ext cx="0" cy="7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78" name="Text Box 10"/>
            <p:cNvSpPr txBox="1">
              <a:spLocks noChangeAspect="1" noChangeArrowheads="1"/>
            </p:cNvSpPr>
            <p:nvPr/>
          </p:nvSpPr>
          <p:spPr bwMode="auto">
            <a:xfrm>
              <a:off x="3068" y="1232"/>
              <a:ext cx="201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</a:rPr>
                <a:t>d</a:t>
              </a:r>
            </a:p>
          </p:txBody>
        </p:sp>
        <p:sp>
          <p:nvSpPr>
            <p:cNvPr id="1543179" name="Line 11"/>
            <p:cNvSpPr>
              <a:spLocks noChangeAspect="1" noChangeShapeType="1"/>
            </p:cNvSpPr>
            <p:nvPr/>
          </p:nvSpPr>
          <p:spPr bwMode="auto">
            <a:xfrm>
              <a:off x="2973" y="1711"/>
              <a:ext cx="24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80" name="Line 12"/>
            <p:cNvSpPr>
              <a:spLocks noChangeAspect="1" noChangeShapeType="1"/>
            </p:cNvSpPr>
            <p:nvPr/>
          </p:nvSpPr>
          <p:spPr bwMode="auto">
            <a:xfrm>
              <a:off x="2973" y="2013"/>
              <a:ext cx="24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81" name="Line 13"/>
            <p:cNvSpPr>
              <a:spLocks noChangeAspect="1" noChangeShapeType="1"/>
            </p:cNvSpPr>
            <p:nvPr/>
          </p:nvSpPr>
          <p:spPr bwMode="auto">
            <a:xfrm>
              <a:off x="2977" y="3007"/>
              <a:ext cx="24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82" name="Text Box 14"/>
            <p:cNvSpPr txBox="1">
              <a:spLocks noChangeAspect="1" noChangeArrowheads="1"/>
            </p:cNvSpPr>
            <p:nvPr/>
          </p:nvSpPr>
          <p:spPr bwMode="auto">
            <a:xfrm>
              <a:off x="5011" y="769"/>
              <a:ext cx="6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地面</a:t>
              </a:r>
            </a:p>
          </p:txBody>
        </p:sp>
        <p:sp>
          <p:nvSpPr>
            <p:cNvPr id="1543183" name="Rectangle 15"/>
            <p:cNvSpPr>
              <a:spLocks noChangeAspect="1" noChangeArrowheads="1"/>
            </p:cNvSpPr>
            <p:nvPr/>
          </p:nvSpPr>
          <p:spPr bwMode="auto">
            <a:xfrm>
              <a:off x="5011" y="1448"/>
              <a:ext cx="6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基底</a:t>
              </a:r>
            </a:p>
          </p:txBody>
        </p:sp>
        <p:sp>
          <p:nvSpPr>
            <p:cNvPr id="1543184" name="Freeform 16"/>
            <p:cNvSpPr>
              <a:spLocks/>
            </p:cNvSpPr>
            <p:nvPr/>
          </p:nvSpPr>
          <p:spPr bwMode="auto">
            <a:xfrm>
              <a:off x="4823" y="876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85" name="Freeform 17"/>
            <p:cNvSpPr>
              <a:spLocks/>
            </p:cNvSpPr>
            <p:nvPr/>
          </p:nvSpPr>
          <p:spPr bwMode="auto">
            <a:xfrm>
              <a:off x="4865" y="1566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86" name="Line 18"/>
            <p:cNvSpPr>
              <a:spLocks noChangeAspect="1" noChangeShapeType="1"/>
            </p:cNvSpPr>
            <p:nvPr/>
          </p:nvSpPr>
          <p:spPr bwMode="auto">
            <a:xfrm>
              <a:off x="4106" y="1005"/>
              <a:ext cx="0" cy="21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43187" name="Rectangle 19"/>
          <p:cNvSpPr>
            <a:spLocks noChangeArrowheads="1"/>
          </p:cNvSpPr>
          <p:nvPr/>
        </p:nvSpPr>
        <p:spPr bwMode="auto">
          <a:xfrm>
            <a:off x="5608638" y="2022475"/>
            <a:ext cx="1889125" cy="10969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3188" name="Rectangle 20"/>
          <p:cNvSpPr>
            <a:spLocks noChangeArrowheads="1"/>
          </p:cNvSpPr>
          <p:nvPr/>
        </p:nvSpPr>
        <p:spPr bwMode="auto">
          <a:xfrm>
            <a:off x="352425" y="623888"/>
            <a:ext cx="2574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施工步骤</a:t>
            </a:r>
            <a:endParaRPr kumimoji="1" lang="en-US" altLang="zh-CN" sz="28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43189" name="Rectangle 21"/>
          <p:cNvSpPr>
            <a:spLocks noChangeArrowheads="1"/>
          </p:cNvSpPr>
          <p:nvPr/>
        </p:nvSpPr>
        <p:spPr bwMode="auto">
          <a:xfrm>
            <a:off x="2070100" y="5737225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543190" name="Line 22"/>
          <p:cNvSpPr>
            <a:spLocks noChangeAspect="1" noChangeShapeType="1"/>
          </p:cNvSpPr>
          <p:nvPr/>
        </p:nvSpPr>
        <p:spPr bwMode="auto">
          <a:xfrm>
            <a:off x="6578600" y="1255713"/>
            <a:ext cx="0" cy="533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43191" name="Group 23"/>
          <p:cNvGrpSpPr>
            <a:grpSpLocks/>
          </p:cNvGrpSpPr>
          <p:nvPr/>
        </p:nvGrpSpPr>
        <p:grpSpPr bwMode="auto">
          <a:xfrm>
            <a:off x="5618163" y="1789113"/>
            <a:ext cx="1866900" cy="1333500"/>
            <a:chOff x="3510" y="871"/>
            <a:chExt cx="1176" cy="840"/>
          </a:xfrm>
        </p:grpSpPr>
        <p:sp>
          <p:nvSpPr>
            <p:cNvPr id="1543192" name="Rectangle 24" descr="宽上对角线"/>
            <p:cNvSpPr>
              <a:spLocks noChangeAspect="1" noChangeArrowheads="1"/>
            </p:cNvSpPr>
            <p:nvPr/>
          </p:nvSpPr>
          <p:spPr bwMode="auto">
            <a:xfrm>
              <a:off x="3510" y="1442"/>
              <a:ext cx="1176" cy="269"/>
            </a:xfrm>
            <a:prstGeom prst="rect">
              <a:avLst/>
            </a:prstGeom>
            <a:pattFill prst="dkUpDiag">
              <a:fgClr>
                <a:srgbClr val="CCECFF"/>
              </a:fgClr>
              <a:bgClr>
                <a:schemeClr val="accent6">
                  <a:lumMod val="60000"/>
                  <a:lumOff val="40000"/>
                </a:schemeClr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43193" name="Rectangle 25" descr="横向砖形"/>
            <p:cNvSpPr>
              <a:spLocks noChangeAspect="1" noChangeArrowheads="1"/>
            </p:cNvSpPr>
            <p:nvPr/>
          </p:nvSpPr>
          <p:spPr bwMode="auto">
            <a:xfrm>
              <a:off x="3928" y="871"/>
              <a:ext cx="370" cy="571"/>
            </a:xfrm>
            <a:prstGeom prst="rect">
              <a:avLst/>
            </a:prstGeom>
            <a:pattFill prst="horzBrick">
              <a:fgClr>
                <a:srgbClr val="FFCC00"/>
              </a:fgClr>
              <a:bgClr>
                <a:srgbClr val="FF9966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543194" name="Text Box 26"/>
          <p:cNvSpPr txBox="1">
            <a:spLocks noChangeArrowheads="1"/>
          </p:cNvSpPr>
          <p:nvPr/>
        </p:nvSpPr>
        <p:spPr bwMode="auto">
          <a:xfrm>
            <a:off x="600075" y="1300163"/>
            <a:ext cx="3848100" cy="97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基坑开挖：基础土层卸载，基础底面回弹</a:t>
            </a:r>
            <a:endParaRPr lang="en-US" altLang="zh-CN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43195" name="Text Box 27"/>
          <p:cNvSpPr txBox="1">
            <a:spLocks noChangeArrowheads="1"/>
          </p:cNvSpPr>
          <p:nvPr/>
        </p:nvSpPr>
        <p:spPr bwMode="auto">
          <a:xfrm>
            <a:off x="496888" y="2363788"/>
            <a:ext cx="3848100" cy="109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基础施工：基础土层重加载，基础底面再压缩</a:t>
            </a:r>
          </a:p>
        </p:txBody>
      </p:sp>
      <p:sp>
        <p:nvSpPr>
          <p:cNvPr id="1543196" name="Text Box 28"/>
          <p:cNvSpPr txBox="1">
            <a:spLocks noChangeArrowheads="1"/>
          </p:cNvSpPr>
          <p:nvPr/>
        </p:nvSpPr>
        <p:spPr bwMode="auto">
          <a:xfrm>
            <a:off x="627063" y="3414713"/>
            <a:ext cx="38481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基坑回填：基础土层重加载，基础地面再压缩</a:t>
            </a:r>
          </a:p>
        </p:txBody>
      </p:sp>
      <p:sp>
        <p:nvSpPr>
          <p:cNvPr id="1543197" name="Text Box 29"/>
          <p:cNvSpPr txBox="1">
            <a:spLocks noChangeArrowheads="1"/>
          </p:cNvSpPr>
          <p:nvPr/>
        </p:nvSpPr>
        <p:spPr bwMode="auto">
          <a:xfrm>
            <a:off x="584200" y="4437063"/>
            <a:ext cx="38481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建筑物施工：基础土层压缩沉降</a:t>
            </a:r>
          </a:p>
        </p:txBody>
      </p:sp>
      <p:sp>
        <p:nvSpPr>
          <p:cNvPr id="3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-9526" y="0"/>
            <a:ext cx="52029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分层总和法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54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43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43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43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54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43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43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43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2000"/>
                                        <p:tgtEl>
                                          <p:spTgt spid="154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43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43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43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2000"/>
                                        <p:tgtEl>
                                          <p:spTgt spid="1543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4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43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43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43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154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3187" grpId="0" animBg="1"/>
      <p:bldP spid="1543187" grpId="1" animBg="1"/>
      <p:bldP spid="1543188" grpId="0" build="p" autoUpdateAnimBg="0"/>
      <p:bldP spid="1543190" grpId="0" animBg="1"/>
      <p:bldP spid="1543194" grpId="0"/>
      <p:bldP spid="1543195" grpId="0"/>
      <p:bldP spid="1543196" grpId="0"/>
      <p:bldP spid="154319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195" name="Rectangle 3"/>
          <p:cNvSpPr>
            <a:spLocks noChangeArrowheads="1"/>
          </p:cNvSpPr>
          <p:nvPr/>
        </p:nvSpPr>
        <p:spPr bwMode="auto">
          <a:xfrm>
            <a:off x="1422400" y="1664174"/>
            <a:ext cx="6702425" cy="1198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82563" indent="-182563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latin typeface="宋体" charset="-122"/>
                <a:ea typeface="幼圆" pitchFamily="49" charset="-122"/>
                <a:sym typeface="Symbol" pitchFamily="18" charset="2"/>
              </a:rPr>
              <a:t>沉降量从原基底算起</a:t>
            </a:r>
            <a:endParaRPr kumimoji="1" lang="zh-CN" altLang="en-US" sz="2400" b="1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 marL="182563" indent="-182563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适用于基础底面积小，埋深浅，施工快的情况</a:t>
            </a:r>
          </a:p>
        </p:txBody>
      </p:sp>
      <p:sp>
        <p:nvSpPr>
          <p:cNvPr id="1544196" name="Rectangle 4"/>
          <p:cNvSpPr>
            <a:spLocks noChangeArrowheads="1"/>
          </p:cNvSpPr>
          <p:nvPr/>
        </p:nvSpPr>
        <p:spPr bwMode="auto">
          <a:xfrm>
            <a:off x="1401763" y="3402486"/>
            <a:ext cx="7224712" cy="1198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182563" indent="-182563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latin typeface="宋体" charset="-122"/>
                <a:ea typeface="幼圆" pitchFamily="49" charset="-122"/>
                <a:sym typeface="Symbol" pitchFamily="18" charset="2"/>
              </a:rPr>
              <a:t>沉降量从回弹后的基底算起</a:t>
            </a:r>
            <a:endParaRPr kumimoji="1" lang="zh-CN" altLang="en-US" sz="2400" b="1">
              <a:solidFill>
                <a:srgbClr val="000066"/>
              </a:solidFill>
              <a:latin typeface="黑体" pitchFamily="2" charset="-122"/>
              <a:ea typeface="幼圆" pitchFamily="49" charset="-122"/>
              <a:sym typeface="Symbol" pitchFamily="18" charset="2"/>
            </a:endParaRPr>
          </a:p>
          <a:p>
            <a:pPr marL="182563" indent="-182563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>
                <a:solidFill>
                  <a:srgbClr val="000066"/>
                </a:solidFill>
                <a:latin typeface="黑体" pitchFamily="2" charset="-122"/>
                <a:ea typeface="幼圆" pitchFamily="49" charset="-122"/>
                <a:sym typeface="Symbol" pitchFamily="18" charset="2"/>
              </a:rPr>
              <a:t>基础底面大，埋深大，施工期长的情况</a:t>
            </a:r>
            <a:endParaRPr kumimoji="1" lang="en-US" altLang="zh-CN" sz="2400" b="1">
              <a:solidFill>
                <a:srgbClr val="000066"/>
              </a:solidFill>
              <a:latin typeface="黑体" pitchFamily="2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44197" name="AutoShape 5"/>
          <p:cNvSpPr>
            <a:spLocks noChangeArrowheads="1"/>
          </p:cNvSpPr>
          <p:nvPr/>
        </p:nvSpPr>
        <p:spPr bwMode="auto">
          <a:xfrm>
            <a:off x="1800225" y="4777261"/>
            <a:ext cx="7216775" cy="5556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已知：地基各土层的压缩曲线 </a:t>
            </a:r>
            <a:r>
              <a:rPr kumimoji="1" lang="zh-CN" altLang="en-US" sz="24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itchFamily="49" charset="-122"/>
                <a:ea typeface="幼圆" pitchFamily="49" charset="-122"/>
                <a:sym typeface="Symbol" pitchFamily="18" charset="2"/>
              </a:rPr>
              <a:t> </a:t>
            </a: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原状土压缩曲线</a:t>
            </a:r>
          </a:p>
        </p:txBody>
      </p:sp>
      <p:sp>
        <p:nvSpPr>
          <p:cNvPr id="1544198" name="Rectangle 6"/>
          <p:cNvSpPr>
            <a:spLocks noChangeArrowheads="1"/>
          </p:cNvSpPr>
          <p:nvPr/>
        </p:nvSpPr>
        <p:spPr bwMode="auto">
          <a:xfrm>
            <a:off x="415925" y="623361"/>
            <a:ext cx="2574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计算步骤</a:t>
            </a:r>
            <a:endParaRPr kumimoji="1" lang="en-US" altLang="zh-CN" sz="2800" b="1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44199" name="Text Box 7"/>
          <p:cNvSpPr txBox="1">
            <a:spLocks noChangeArrowheads="1"/>
          </p:cNvSpPr>
          <p:nvPr/>
        </p:nvSpPr>
        <p:spPr bwMode="auto">
          <a:xfrm>
            <a:off x="873125" y="1210149"/>
            <a:ext cx="4714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情况1：不考虑地基回弹</a:t>
            </a:r>
          </a:p>
        </p:txBody>
      </p:sp>
      <p:sp>
        <p:nvSpPr>
          <p:cNvPr id="1544200" name="Text Box 8"/>
          <p:cNvSpPr txBox="1">
            <a:spLocks noChangeArrowheads="1"/>
          </p:cNvSpPr>
          <p:nvPr/>
        </p:nvSpPr>
        <p:spPr bwMode="auto">
          <a:xfrm>
            <a:off x="865188" y="2926236"/>
            <a:ext cx="4729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情况</a:t>
            </a:r>
            <a:r>
              <a:rPr kumimoji="1" lang="en-US" altLang="zh-CN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2</a:t>
            </a: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：考虑地基回弹</a:t>
            </a:r>
          </a:p>
        </p:txBody>
      </p:sp>
      <p:sp>
        <p:nvSpPr>
          <p:cNvPr id="1544201" name="Rectangle 9"/>
          <p:cNvSpPr>
            <a:spLocks noChangeArrowheads="1"/>
          </p:cNvSpPr>
          <p:nvPr/>
        </p:nvSpPr>
        <p:spPr bwMode="auto">
          <a:xfrm>
            <a:off x="1870075" y="5791200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544202" name="AutoShape 10"/>
          <p:cNvSpPr>
            <a:spLocks noChangeArrowheads="1"/>
          </p:cNvSpPr>
          <p:nvPr/>
        </p:nvSpPr>
        <p:spPr bwMode="auto">
          <a:xfrm>
            <a:off x="998538" y="4772499"/>
            <a:ext cx="671512" cy="488950"/>
          </a:xfrm>
          <a:prstGeom prst="homePlate">
            <a:avLst>
              <a:gd name="adj" fmla="val 36795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-9526" y="0"/>
            <a:ext cx="5202963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分层总和法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4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44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44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44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4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44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44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44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44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44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1000"/>
                                        <p:tgtEl>
                                          <p:spTgt spid="154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4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4195" grpId="0" build="p" autoUpdateAnimBg="0"/>
      <p:bldP spid="1544196" grpId="0" build="p" autoUpdateAnimBg="0"/>
      <p:bldP spid="1544197" grpId="0"/>
      <p:bldP spid="1544198" grpId="0" build="p" autoUpdateAnimBg="0"/>
      <p:bldP spid="1544199" grpId="0"/>
      <p:bldP spid="1544200" grpId="0"/>
      <p:bldP spid="154420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493" name="Text Box 5"/>
          <p:cNvSpPr txBox="1">
            <a:spLocks noChangeArrowheads="1"/>
          </p:cNvSpPr>
          <p:nvPr/>
        </p:nvSpPr>
        <p:spPr bwMode="auto">
          <a:xfrm>
            <a:off x="385763" y="620833"/>
            <a:ext cx="4714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情况1：不考虑地基回弹</a:t>
            </a:r>
          </a:p>
        </p:txBody>
      </p:sp>
      <p:sp>
        <p:nvSpPr>
          <p:cNvPr id="1599494" name="Rectangle 6"/>
          <p:cNvSpPr>
            <a:spLocks noChangeArrowheads="1"/>
          </p:cNvSpPr>
          <p:nvPr/>
        </p:nvSpPr>
        <p:spPr bwMode="auto">
          <a:xfrm>
            <a:off x="1852319" y="5720176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599496" name="Rectangle 8"/>
          <p:cNvSpPr>
            <a:spLocks noChangeArrowheads="1"/>
          </p:cNvSpPr>
          <p:nvPr/>
        </p:nvSpPr>
        <p:spPr bwMode="auto">
          <a:xfrm>
            <a:off x="650875" y="752595"/>
            <a:ext cx="4311650" cy="5122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9666" name="Rectangle 178"/>
          <p:cNvSpPr>
            <a:spLocks noChangeArrowheads="1"/>
          </p:cNvSpPr>
          <p:nvPr/>
        </p:nvSpPr>
        <p:spPr bwMode="auto">
          <a:xfrm>
            <a:off x="365125" y="1771770"/>
            <a:ext cx="2351088" cy="1147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9667" name="Line 179"/>
          <p:cNvSpPr>
            <a:spLocks noChangeAspect="1" noChangeShapeType="1"/>
          </p:cNvSpPr>
          <p:nvPr/>
        </p:nvSpPr>
        <p:spPr bwMode="auto">
          <a:xfrm>
            <a:off x="354013" y="1776533"/>
            <a:ext cx="23685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668" name="Rectangle 180"/>
          <p:cNvSpPr>
            <a:spLocks noChangeArrowheads="1"/>
          </p:cNvSpPr>
          <p:nvPr/>
        </p:nvSpPr>
        <p:spPr bwMode="auto">
          <a:xfrm>
            <a:off x="377825" y="2910008"/>
            <a:ext cx="2338388" cy="9525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9670" name="Rectangle 182" descr="宽上对角线"/>
          <p:cNvSpPr>
            <a:spLocks noChangeAspect="1" noChangeArrowheads="1"/>
          </p:cNvSpPr>
          <p:nvPr/>
        </p:nvSpPr>
        <p:spPr bwMode="auto">
          <a:xfrm>
            <a:off x="825500" y="1782883"/>
            <a:ext cx="1119188" cy="785812"/>
          </a:xfrm>
          <a:prstGeom prst="rect">
            <a:avLst/>
          </a:prstGeom>
          <a:noFill/>
          <a:ln w="28575">
            <a:solidFill>
              <a:srgbClr val="A5002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9671" name="Line 183"/>
          <p:cNvSpPr>
            <a:spLocks noChangeAspect="1" noChangeShapeType="1"/>
          </p:cNvSpPr>
          <p:nvPr/>
        </p:nvSpPr>
        <p:spPr bwMode="auto">
          <a:xfrm>
            <a:off x="571500" y="1771770"/>
            <a:ext cx="0" cy="806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672" name="Text Box 184"/>
          <p:cNvSpPr txBox="1">
            <a:spLocks noChangeAspect="1" noChangeArrowheads="1"/>
          </p:cNvSpPr>
          <p:nvPr/>
        </p:nvSpPr>
        <p:spPr bwMode="auto">
          <a:xfrm>
            <a:off x="438150" y="2016245"/>
            <a:ext cx="227013" cy="3254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1700" b="1" i="1" dirty="0">
                <a:solidFill>
                  <a:srgbClr val="000066"/>
                </a:solidFill>
              </a:rPr>
              <a:t>d</a:t>
            </a:r>
          </a:p>
        </p:txBody>
      </p:sp>
      <p:sp>
        <p:nvSpPr>
          <p:cNvPr id="1599673" name="Line 185"/>
          <p:cNvSpPr>
            <a:spLocks noChangeAspect="1" noChangeShapeType="1"/>
          </p:cNvSpPr>
          <p:nvPr/>
        </p:nvSpPr>
        <p:spPr bwMode="auto">
          <a:xfrm>
            <a:off x="447675" y="2568695"/>
            <a:ext cx="1862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674" name="Line 186"/>
          <p:cNvSpPr>
            <a:spLocks noChangeAspect="1" noChangeShapeType="1"/>
          </p:cNvSpPr>
          <p:nvPr/>
        </p:nvSpPr>
        <p:spPr bwMode="auto">
          <a:xfrm>
            <a:off x="377825" y="2908420"/>
            <a:ext cx="2365375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99675" name="Text Box 187"/>
          <p:cNvSpPr txBox="1">
            <a:spLocks noChangeAspect="1" noChangeArrowheads="1"/>
          </p:cNvSpPr>
          <p:nvPr/>
        </p:nvSpPr>
        <p:spPr bwMode="auto">
          <a:xfrm>
            <a:off x="2139950" y="1487608"/>
            <a:ext cx="574675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1400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地面</a:t>
            </a:r>
          </a:p>
        </p:txBody>
      </p:sp>
      <p:sp>
        <p:nvSpPr>
          <p:cNvPr id="1599676" name="Rectangle 188"/>
          <p:cNvSpPr>
            <a:spLocks noChangeAspect="1" noChangeArrowheads="1"/>
          </p:cNvSpPr>
          <p:nvPr/>
        </p:nvSpPr>
        <p:spPr bwMode="auto">
          <a:xfrm>
            <a:off x="2314575" y="2287708"/>
            <a:ext cx="512763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/>
          <a:p>
            <a:pPr defTabSz="65881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基底</a:t>
            </a:r>
          </a:p>
        </p:txBody>
      </p:sp>
      <p:sp>
        <p:nvSpPr>
          <p:cNvPr id="1599677" name="Freeform 189"/>
          <p:cNvSpPr>
            <a:spLocks/>
          </p:cNvSpPr>
          <p:nvPr/>
        </p:nvSpPr>
        <p:spPr bwMode="auto">
          <a:xfrm>
            <a:off x="1876425" y="1590795"/>
            <a:ext cx="171450" cy="150813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599678" name="Freeform 190"/>
          <p:cNvSpPr>
            <a:spLocks/>
          </p:cNvSpPr>
          <p:nvPr/>
        </p:nvSpPr>
        <p:spPr bwMode="auto">
          <a:xfrm>
            <a:off x="2079625" y="2406770"/>
            <a:ext cx="171450" cy="150813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599680" name="Line 192"/>
          <p:cNvSpPr>
            <a:spLocks noChangeAspect="1" noChangeShapeType="1"/>
          </p:cNvSpPr>
          <p:nvPr/>
        </p:nvSpPr>
        <p:spPr bwMode="auto">
          <a:xfrm>
            <a:off x="1404938" y="1763833"/>
            <a:ext cx="0" cy="2119312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99681" name="Freeform 193"/>
          <p:cNvSpPr>
            <a:spLocks/>
          </p:cNvSpPr>
          <p:nvPr/>
        </p:nvSpPr>
        <p:spPr bwMode="auto">
          <a:xfrm>
            <a:off x="728663" y="1770183"/>
            <a:ext cx="668337" cy="1887537"/>
          </a:xfrm>
          <a:custGeom>
            <a:avLst/>
            <a:gdLst>
              <a:gd name="T0" fmla="*/ 421 w 421"/>
              <a:gd name="T1" fmla="*/ 0 h 1189"/>
              <a:gd name="T2" fmla="*/ 109 w 421"/>
              <a:gd name="T3" fmla="*/ 722 h 1189"/>
              <a:gd name="T4" fmla="*/ 0 w 421"/>
              <a:gd name="T5" fmla="*/ 1189 h 1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1" h="1189">
                <a:moveTo>
                  <a:pt x="421" y="0"/>
                </a:moveTo>
                <a:lnTo>
                  <a:pt x="109" y="722"/>
                </a:lnTo>
                <a:lnTo>
                  <a:pt x="0" y="1189"/>
                </a:lnTo>
              </a:path>
            </a:pathLst>
          </a:custGeom>
          <a:noFill/>
          <a:ln w="28575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683" name="Text Box 195"/>
          <p:cNvSpPr txBox="1">
            <a:spLocks noChangeAspect="1" noChangeArrowheads="1"/>
          </p:cNvSpPr>
          <p:nvPr/>
        </p:nvSpPr>
        <p:spPr bwMode="auto">
          <a:xfrm>
            <a:off x="2146300" y="1889245"/>
            <a:ext cx="192088" cy="3254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17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</a:p>
        </p:txBody>
      </p:sp>
      <p:sp>
        <p:nvSpPr>
          <p:cNvPr id="1599691" name="Rectangle 203"/>
          <p:cNvSpPr>
            <a:spLocks noChangeAspect="1" noChangeArrowheads="1"/>
          </p:cNvSpPr>
          <p:nvPr/>
        </p:nvSpPr>
        <p:spPr bwMode="auto">
          <a:xfrm>
            <a:off x="1050925" y="2533770"/>
            <a:ext cx="339725" cy="325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/>
          <a:p>
            <a:pPr defTabSz="65881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7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17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d</a:t>
            </a:r>
          </a:p>
        </p:txBody>
      </p:sp>
      <p:sp>
        <p:nvSpPr>
          <p:cNvPr id="1599692" name="Line 204"/>
          <p:cNvSpPr>
            <a:spLocks noChangeShapeType="1"/>
          </p:cNvSpPr>
          <p:nvPr/>
        </p:nvSpPr>
        <p:spPr bwMode="auto">
          <a:xfrm>
            <a:off x="1217613" y="1776533"/>
            <a:ext cx="385762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694" name="Line 206"/>
          <p:cNvSpPr>
            <a:spLocks noChangeShapeType="1"/>
          </p:cNvSpPr>
          <p:nvPr/>
        </p:nvSpPr>
        <p:spPr bwMode="auto">
          <a:xfrm>
            <a:off x="850900" y="3246558"/>
            <a:ext cx="117475" cy="176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696" name="Text Box 208"/>
          <p:cNvSpPr txBox="1">
            <a:spLocks noChangeArrowheads="1"/>
          </p:cNvSpPr>
          <p:nvPr/>
        </p:nvSpPr>
        <p:spPr bwMode="auto">
          <a:xfrm>
            <a:off x="842963" y="3311645"/>
            <a:ext cx="431100" cy="37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0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0" lang="en-US" altLang="zh-CN" sz="20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endParaRPr kumimoji="0"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99728" name="Rectangle 240"/>
          <p:cNvSpPr>
            <a:spLocks noChangeArrowheads="1"/>
          </p:cNvSpPr>
          <p:nvPr/>
        </p:nvSpPr>
        <p:spPr bwMode="auto">
          <a:xfrm>
            <a:off x="6357938" y="1797170"/>
            <a:ext cx="2351087" cy="1147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9729" name="Line 241"/>
          <p:cNvSpPr>
            <a:spLocks noChangeAspect="1" noChangeShapeType="1"/>
          </p:cNvSpPr>
          <p:nvPr/>
        </p:nvSpPr>
        <p:spPr bwMode="auto">
          <a:xfrm>
            <a:off x="6346825" y="1801933"/>
            <a:ext cx="23685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730" name="Rectangle 242"/>
          <p:cNvSpPr>
            <a:spLocks noChangeArrowheads="1"/>
          </p:cNvSpPr>
          <p:nvPr/>
        </p:nvSpPr>
        <p:spPr bwMode="auto">
          <a:xfrm>
            <a:off x="6370638" y="2935408"/>
            <a:ext cx="2338387" cy="9525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9731" name="Line 243"/>
          <p:cNvSpPr>
            <a:spLocks noChangeAspect="1" noChangeShapeType="1"/>
          </p:cNvSpPr>
          <p:nvPr/>
        </p:nvSpPr>
        <p:spPr bwMode="auto">
          <a:xfrm>
            <a:off x="7327900" y="1244720"/>
            <a:ext cx="0" cy="384175"/>
          </a:xfrm>
          <a:prstGeom prst="line">
            <a:avLst/>
          </a:prstGeom>
          <a:noFill/>
          <a:ln w="7620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732" name="Rectangle 244" descr="宽上对角线"/>
          <p:cNvSpPr>
            <a:spLocks noChangeAspect="1" noChangeArrowheads="1"/>
          </p:cNvSpPr>
          <p:nvPr/>
        </p:nvSpPr>
        <p:spPr bwMode="auto">
          <a:xfrm>
            <a:off x="6751638" y="2281358"/>
            <a:ext cx="1119187" cy="307975"/>
          </a:xfrm>
          <a:prstGeom prst="rect">
            <a:avLst/>
          </a:prstGeom>
          <a:pattFill prst="dkUpDiag">
            <a:fgClr>
              <a:srgbClr val="CCECFF"/>
            </a:fgClr>
            <a:bgClr>
              <a:srgbClr val="FFC000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9736" name="Line 248"/>
          <p:cNvSpPr>
            <a:spLocks noChangeAspect="1" noChangeShapeType="1"/>
          </p:cNvSpPr>
          <p:nvPr/>
        </p:nvSpPr>
        <p:spPr bwMode="auto">
          <a:xfrm>
            <a:off x="6370638" y="2933820"/>
            <a:ext cx="2365375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99737" name="Text Box 249"/>
          <p:cNvSpPr txBox="1">
            <a:spLocks noChangeAspect="1" noChangeArrowheads="1"/>
          </p:cNvSpPr>
          <p:nvPr/>
        </p:nvSpPr>
        <p:spPr bwMode="auto">
          <a:xfrm>
            <a:off x="8132763" y="1513008"/>
            <a:ext cx="574675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1400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地面</a:t>
            </a:r>
          </a:p>
        </p:txBody>
      </p:sp>
      <p:sp>
        <p:nvSpPr>
          <p:cNvPr id="1599739" name="Freeform 251"/>
          <p:cNvSpPr>
            <a:spLocks/>
          </p:cNvSpPr>
          <p:nvPr/>
        </p:nvSpPr>
        <p:spPr bwMode="auto">
          <a:xfrm>
            <a:off x="8002588" y="1616195"/>
            <a:ext cx="171450" cy="150813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599741" name="Rectangle 253" descr="横向砖形"/>
          <p:cNvSpPr>
            <a:spLocks noChangeAspect="1" noChangeArrowheads="1"/>
          </p:cNvSpPr>
          <p:nvPr/>
        </p:nvSpPr>
        <p:spPr bwMode="auto">
          <a:xfrm>
            <a:off x="7150100" y="1628895"/>
            <a:ext cx="352425" cy="652463"/>
          </a:xfrm>
          <a:prstGeom prst="rect">
            <a:avLst/>
          </a:prstGeom>
          <a:pattFill prst="horzBrick">
            <a:fgClr>
              <a:srgbClr val="FF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9742" name="Line 254"/>
          <p:cNvSpPr>
            <a:spLocks noChangeAspect="1" noChangeShapeType="1"/>
          </p:cNvSpPr>
          <p:nvPr/>
        </p:nvSpPr>
        <p:spPr bwMode="auto">
          <a:xfrm>
            <a:off x="7331075" y="1789233"/>
            <a:ext cx="0" cy="2097087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99743" name="Freeform 255"/>
          <p:cNvSpPr>
            <a:spLocks/>
          </p:cNvSpPr>
          <p:nvPr/>
        </p:nvSpPr>
        <p:spPr bwMode="auto">
          <a:xfrm>
            <a:off x="6654800" y="1795583"/>
            <a:ext cx="668338" cy="1887537"/>
          </a:xfrm>
          <a:custGeom>
            <a:avLst/>
            <a:gdLst>
              <a:gd name="T0" fmla="*/ 421 w 421"/>
              <a:gd name="T1" fmla="*/ 0 h 1189"/>
              <a:gd name="T2" fmla="*/ 109 w 421"/>
              <a:gd name="T3" fmla="*/ 722 h 1189"/>
              <a:gd name="T4" fmla="*/ 0 w 421"/>
              <a:gd name="T5" fmla="*/ 1189 h 1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1" h="1189">
                <a:moveTo>
                  <a:pt x="421" y="0"/>
                </a:moveTo>
                <a:lnTo>
                  <a:pt x="109" y="722"/>
                </a:lnTo>
                <a:lnTo>
                  <a:pt x="0" y="1189"/>
                </a:lnTo>
              </a:path>
            </a:pathLst>
          </a:custGeom>
          <a:noFill/>
          <a:ln w="28575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744" name="Freeform 256"/>
          <p:cNvSpPr>
            <a:spLocks/>
          </p:cNvSpPr>
          <p:nvPr/>
        </p:nvSpPr>
        <p:spPr bwMode="auto">
          <a:xfrm>
            <a:off x="7904163" y="2590920"/>
            <a:ext cx="246062" cy="1152525"/>
          </a:xfrm>
          <a:custGeom>
            <a:avLst/>
            <a:gdLst>
              <a:gd name="T0" fmla="*/ 260 w 260"/>
              <a:gd name="T1" fmla="*/ 0 h 1008"/>
              <a:gd name="T2" fmla="*/ 240 w 260"/>
              <a:gd name="T3" fmla="*/ 269 h 1008"/>
              <a:gd name="T4" fmla="*/ 164 w 260"/>
              <a:gd name="T5" fmla="*/ 585 h 1008"/>
              <a:gd name="T6" fmla="*/ 0 w 260"/>
              <a:gd name="T7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" h="1008">
                <a:moveTo>
                  <a:pt x="260" y="0"/>
                </a:moveTo>
                <a:cubicBezTo>
                  <a:pt x="258" y="86"/>
                  <a:pt x="256" y="172"/>
                  <a:pt x="240" y="269"/>
                </a:cubicBezTo>
                <a:cubicBezTo>
                  <a:pt x="224" y="366"/>
                  <a:pt x="204" y="462"/>
                  <a:pt x="164" y="585"/>
                </a:cubicBezTo>
                <a:cubicBezTo>
                  <a:pt x="124" y="708"/>
                  <a:pt x="27" y="938"/>
                  <a:pt x="0" y="1008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746" name="Line 258"/>
          <p:cNvSpPr>
            <a:spLocks noChangeAspect="1" noChangeShapeType="1"/>
          </p:cNvSpPr>
          <p:nvPr/>
        </p:nvSpPr>
        <p:spPr bwMode="auto">
          <a:xfrm flipV="1">
            <a:off x="8148638" y="1944808"/>
            <a:ext cx="0" cy="6540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99747" name="Text Box 259"/>
          <p:cNvSpPr txBox="1">
            <a:spLocks noChangeAspect="1" noChangeArrowheads="1"/>
          </p:cNvSpPr>
          <p:nvPr/>
        </p:nvSpPr>
        <p:spPr bwMode="auto">
          <a:xfrm>
            <a:off x="7561263" y="1716208"/>
            <a:ext cx="285750" cy="37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20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599748" name="Line 260"/>
          <p:cNvSpPr>
            <a:spLocks noChangeAspect="1" noChangeShapeType="1"/>
          </p:cNvSpPr>
          <p:nvPr/>
        </p:nvSpPr>
        <p:spPr bwMode="auto">
          <a:xfrm>
            <a:off x="6989763" y="2092445"/>
            <a:ext cx="1147762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99749" name="Line 261"/>
          <p:cNvSpPr>
            <a:spLocks noChangeAspect="1" noChangeShapeType="1"/>
          </p:cNvSpPr>
          <p:nvPr/>
        </p:nvSpPr>
        <p:spPr bwMode="auto">
          <a:xfrm flipV="1">
            <a:off x="6989763" y="1944808"/>
            <a:ext cx="0" cy="6540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99750" name="Text Box 262"/>
          <p:cNvSpPr txBox="1">
            <a:spLocks noChangeAspect="1" noChangeArrowheads="1"/>
          </p:cNvSpPr>
          <p:nvPr/>
        </p:nvSpPr>
        <p:spPr bwMode="auto">
          <a:xfrm>
            <a:off x="7577138" y="2500433"/>
            <a:ext cx="465137" cy="37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20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solidFill>
                  <a:srgbClr val="000066"/>
                </a:solidFill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99751" name="Line 263"/>
          <p:cNvSpPr>
            <a:spLocks noChangeAspect="1" noChangeShapeType="1"/>
          </p:cNvSpPr>
          <p:nvPr/>
        </p:nvSpPr>
        <p:spPr bwMode="auto">
          <a:xfrm>
            <a:off x="7331075" y="2594095"/>
            <a:ext cx="833438" cy="0"/>
          </a:xfrm>
          <a:prstGeom prst="line">
            <a:avLst/>
          </a:prstGeom>
          <a:noFill/>
          <a:ln w="38100">
            <a:solidFill>
              <a:srgbClr val="CC0000"/>
            </a:solidFill>
            <a:miter lim="800000"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99753" name="Rectangle 265"/>
          <p:cNvSpPr>
            <a:spLocks noChangeAspect="1" noChangeArrowheads="1"/>
          </p:cNvSpPr>
          <p:nvPr/>
        </p:nvSpPr>
        <p:spPr bwMode="auto">
          <a:xfrm>
            <a:off x="6973888" y="2546470"/>
            <a:ext cx="344538" cy="328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/>
          <a:p>
            <a:pPr defTabSz="65881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700" b="1" i="1" dirty="0">
                <a:solidFill>
                  <a:srgbClr val="C00000"/>
                </a:solidFill>
                <a:sym typeface="Symbol" pitchFamily="18" charset="2"/>
              </a:rPr>
              <a:t></a:t>
            </a:r>
            <a:r>
              <a:rPr kumimoji="1" lang="en-US" altLang="zh-CN" sz="1700" b="1" i="1" dirty="0">
                <a:solidFill>
                  <a:srgbClr val="C00000"/>
                </a:solidFill>
                <a:sym typeface="Symbol" pitchFamily="18" charset="2"/>
              </a:rPr>
              <a:t>d</a:t>
            </a:r>
          </a:p>
        </p:txBody>
      </p:sp>
      <p:sp>
        <p:nvSpPr>
          <p:cNvPr id="1599755" name="Text Box 267"/>
          <p:cNvSpPr txBox="1">
            <a:spLocks noChangeArrowheads="1"/>
          </p:cNvSpPr>
          <p:nvPr/>
        </p:nvSpPr>
        <p:spPr bwMode="auto">
          <a:xfrm>
            <a:off x="8116888" y="3349745"/>
            <a:ext cx="363774" cy="37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endParaRPr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99756" name="Line 268"/>
          <p:cNvSpPr>
            <a:spLocks noChangeShapeType="1"/>
          </p:cNvSpPr>
          <p:nvPr/>
        </p:nvSpPr>
        <p:spPr bwMode="auto">
          <a:xfrm>
            <a:off x="6777038" y="3271958"/>
            <a:ext cx="117475" cy="176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757" name="Line 269"/>
          <p:cNvSpPr>
            <a:spLocks noChangeShapeType="1"/>
          </p:cNvSpPr>
          <p:nvPr/>
        </p:nvSpPr>
        <p:spPr bwMode="auto">
          <a:xfrm>
            <a:off x="8077200" y="3322758"/>
            <a:ext cx="123825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758" name="Text Box 270"/>
          <p:cNvSpPr txBox="1">
            <a:spLocks noChangeArrowheads="1"/>
          </p:cNvSpPr>
          <p:nvPr/>
        </p:nvSpPr>
        <p:spPr bwMode="auto">
          <a:xfrm>
            <a:off x="6769100" y="3337045"/>
            <a:ext cx="431100" cy="37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0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0" lang="en-US" altLang="zh-CN" sz="20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endParaRPr kumimoji="0"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99759" name="Line 271"/>
          <p:cNvSpPr>
            <a:spLocks noChangeShapeType="1"/>
          </p:cNvSpPr>
          <p:nvPr/>
        </p:nvSpPr>
        <p:spPr bwMode="auto">
          <a:xfrm flipH="1" flipV="1">
            <a:off x="644525" y="1625720"/>
            <a:ext cx="177800" cy="284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599760" name="Text Box 272"/>
          <p:cNvSpPr txBox="1">
            <a:spLocks noChangeAspect="1" noChangeArrowheads="1"/>
          </p:cNvSpPr>
          <p:nvPr/>
        </p:nvSpPr>
        <p:spPr bwMode="auto">
          <a:xfrm>
            <a:off x="139700" y="1292345"/>
            <a:ext cx="1103313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lang="zh-CN" altLang="en-US" sz="1400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拟开挖基坑</a:t>
            </a:r>
          </a:p>
        </p:txBody>
      </p:sp>
      <p:sp>
        <p:nvSpPr>
          <p:cNvPr id="1599761" name="Line 273"/>
          <p:cNvSpPr>
            <a:spLocks noChangeShapeType="1"/>
          </p:cNvSpPr>
          <p:nvPr/>
        </p:nvSpPr>
        <p:spPr bwMode="auto">
          <a:xfrm>
            <a:off x="1068388" y="2565520"/>
            <a:ext cx="3302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599763" name="Rectangle 275"/>
          <p:cNvSpPr>
            <a:spLocks noChangeArrowheads="1"/>
          </p:cNvSpPr>
          <p:nvPr/>
        </p:nvSpPr>
        <p:spPr bwMode="auto">
          <a:xfrm>
            <a:off x="3322638" y="1778120"/>
            <a:ext cx="2351087" cy="1147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9764" name="Line 276"/>
          <p:cNvSpPr>
            <a:spLocks noChangeAspect="1" noChangeShapeType="1"/>
          </p:cNvSpPr>
          <p:nvPr/>
        </p:nvSpPr>
        <p:spPr bwMode="auto">
          <a:xfrm>
            <a:off x="3311525" y="1782883"/>
            <a:ext cx="23685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765" name="Rectangle 277"/>
          <p:cNvSpPr>
            <a:spLocks noChangeArrowheads="1"/>
          </p:cNvSpPr>
          <p:nvPr/>
        </p:nvSpPr>
        <p:spPr bwMode="auto">
          <a:xfrm>
            <a:off x="3335338" y="2916358"/>
            <a:ext cx="2338387" cy="9525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9770" name="Line 282"/>
          <p:cNvSpPr>
            <a:spLocks noChangeAspect="1" noChangeShapeType="1"/>
          </p:cNvSpPr>
          <p:nvPr/>
        </p:nvSpPr>
        <p:spPr bwMode="auto">
          <a:xfrm>
            <a:off x="3335338" y="2914770"/>
            <a:ext cx="2365375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99776" name="Freeform 288"/>
          <p:cNvSpPr>
            <a:spLocks/>
          </p:cNvSpPr>
          <p:nvPr/>
        </p:nvSpPr>
        <p:spPr bwMode="auto">
          <a:xfrm>
            <a:off x="3686175" y="1776533"/>
            <a:ext cx="668338" cy="1887537"/>
          </a:xfrm>
          <a:custGeom>
            <a:avLst/>
            <a:gdLst>
              <a:gd name="T0" fmla="*/ 701 w 701"/>
              <a:gd name="T1" fmla="*/ 0 h 1652"/>
              <a:gd name="T2" fmla="*/ 384 w 701"/>
              <a:gd name="T3" fmla="*/ 696 h 1652"/>
              <a:gd name="T4" fmla="*/ 182 w 701"/>
              <a:gd name="T5" fmla="*/ 1003 h 1652"/>
              <a:gd name="T6" fmla="*/ 0 w 701"/>
              <a:gd name="T7" fmla="*/ 1652 h 1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1" h="1652">
                <a:moveTo>
                  <a:pt x="701" y="0"/>
                </a:moveTo>
                <a:lnTo>
                  <a:pt x="384" y="696"/>
                </a:lnTo>
                <a:lnTo>
                  <a:pt x="182" y="1003"/>
                </a:lnTo>
                <a:lnTo>
                  <a:pt x="0" y="1652"/>
                </a:lnTo>
              </a:path>
            </a:pathLst>
          </a:custGeom>
          <a:noFill/>
          <a:ln w="28575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778" name="Rectangle 290"/>
          <p:cNvSpPr>
            <a:spLocks noChangeAspect="1" noChangeArrowheads="1"/>
          </p:cNvSpPr>
          <p:nvPr/>
        </p:nvSpPr>
        <p:spPr bwMode="auto">
          <a:xfrm>
            <a:off x="4008438" y="2532183"/>
            <a:ext cx="339725" cy="32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/>
          <a:p>
            <a:pPr defTabSz="65881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700" b="1" i="1" dirty="0">
                <a:solidFill>
                  <a:srgbClr val="A50021"/>
                </a:solidFill>
                <a:sym typeface="Symbol" pitchFamily="18" charset="2"/>
              </a:rPr>
              <a:t></a:t>
            </a:r>
            <a:r>
              <a:rPr kumimoji="1" lang="en-US" altLang="zh-CN" sz="1700" b="1" i="1" dirty="0">
                <a:solidFill>
                  <a:srgbClr val="A50021"/>
                </a:solidFill>
                <a:sym typeface="Symbol" pitchFamily="18" charset="2"/>
              </a:rPr>
              <a:t>d</a:t>
            </a:r>
          </a:p>
        </p:txBody>
      </p:sp>
      <p:sp>
        <p:nvSpPr>
          <p:cNvPr id="1599780" name="Line 292"/>
          <p:cNvSpPr>
            <a:spLocks noChangeShapeType="1"/>
          </p:cNvSpPr>
          <p:nvPr/>
        </p:nvSpPr>
        <p:spPr bwMode="auto">
          <a:xfrm>
            <a:off x="3808413" y="3252908"/>
            <a:ext cx="117475" cy="176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99781" name="Text Box 293"/>
          <p:cNvSpPr txBox="1">
            <a:spLocks noChangeArrowheads="1"/>
          </p:cNvSpPr>
          <p:nvPr/>
        </p:nvSpPr>
        <p:spPr bwMode="auto">
          <a:xfrm>
            <a:off x="3800475" y="3317995"/>
            <a:ext cx="431100" cy="37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0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0" lang="en-US" altLang="zh-CN" sz="20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endParaRPr kumimoji="0"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99784" name="Line 296"/>
          <p:cNvSpPr>
            <a:spLocks noChangeShapeType="1"/>
          </p:cNvSpPr>
          <p:nvPr/>
        </p:nvSpPr>
        <p:spPr bwMode="auto">
          <a:xfrm>
            <a:off x="4044950" y="2579808"/>
            <a:ext cx="3302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599786" name="Freeform 298"/>
          <p:cNvSpPr>
            <a:spLocks/>
          </p:cNvSpPr>
          <p:nvPr/>
        </p:nvSpPr>
        <p:spPr bwMode="auto">
          <a:xfrm>
            <a:off x="3776907" y="1781835"/>
            <a:ext cx="1130281" cy="808606"/>
          </a:xfrm>
          <a:custGeom>
            <a:avLst/>
            <a:gdLst>
              <a:gd name="T0" fmla="*/ 0 w 710"/>
              <a:gd name="T1" fmla="*/ 0 h 502"/>
              <a:gd name="T2" fmla="*/ 0 w 710"/>
              <a:gd name="T3" fmla="*/ 502 h 502"/>
              <a:gd name="T4" fmla="*/ 710 w 710"/>
              <a:gd name="T5" fmla="*/ 502 h 502"/>
              <a:gd name="T6" fmla="*/ 710 w 710"/>
              <a:gd name="T7" fmla="*/ 5 h 502"/>
              <a:gd name="connsiteX0" fmla="*/ 0 w 10000"/>
              <a:gd name="connsiteY0" fmla="*/ 118 h 9900"/>
              <a:gd name="connsiteX1" fmla="*/ 0 w 10000"/>
              <a:gd name="connsiteY1" fmla="*/ 9900 h 9900"/>
              <a:gd name="connsiteX2" fmla="*/ 10000 w 10000"/>
              <a:gd name="connsiteY2" fmla="*/ 9900 h 9900"/>
              <a:gd name="connsiteX3" fmla="*/ 10000 w 10000"/>
              <a:gd name="connsiteY3" fmla="*/ 0 h 9900"/>
              <a:gd name="connsiteX0" fmla="*/ 0 w 10026"/>
              <a:gd name="connsiteY0" fmla="*/ 0 h 10065"/>
              <a:gd name="connsiteX1" fmla="*/ 26 w 10026"/>
              <a:gd name="connsiteY1" fmla="*/ 10065 h 10065"/>
              <a:gd name="connsiteX2" fmla="*/ 10026 w 10026"/>
              <a:gd name="connsiteY2" fmla="*/ 10065 h 10065"/>
              <a:gd name="connsiteX3" fmla="*/ 10026 w 10026"/>
              <a:gd name="connsiteY3" fmla="*/ 65 h 10065"/>
              <a:gd name="connsiteX0" fmla="*/ 0 w 10026"/>
              <a:gd name="connsiteY0" fmla="*/ 45 h 10000"/>
              <a:gd name="connsiteX1" fmla="*/ 26 w 10026"/>
              <a:gd name="connsiteY1" fmla="*/ 10000 h 10000"/>
              <a:gd name="connsiteX2" fmla="*/ 10026 w 10026"/>
              <a:gd name="connsiteY2" fmla="*/ 10000 h 10000"/>
              <a:gd name="connsiteX3" fmla="*/ 10026 w 10026"/>
              <a:gd name="connsiteY3" fmla="*/ 0 h 10000"/>
              <a:gd name="connsiteX0" fmla="*/ 0 w 10026"/>
              <a:gd name="connsiteY0" fmla="*/ 133 h 10088"/>
              <a:gd name="connsiteX1" fmla="*/ 26 w 10026"/>
              <a:gd name="connsiteY1" fmla="*/ 10088 h 10088"/>
              <a:gd name="connsiteX2" fmla="*/ 10026 w 10026"/>
              <a:gd name="connsiteY2" fmla="*/ 10088 h 10088"/>
              <a:gd name="connsiteX3" fmla="*/ 10005 w 10026"/>
              <a:gd name="connsiteY3" fmla="*/ 0 h 10088"/>
              <a:gd name="connsiteX0" fmla="*/ 0 w 10028"/>
              <a:gd name="connsiteY0" fmla="*/ 16 h 9971"/>
              <a:gd name="connsiteX1" fmla="*/ 26 w 10028"/>
              <a:gd name="connsiteY1" fmla="*/ 9971 h 9971"/>
              <a:gd name="connsiteX2" fmla="*/ 10026 w 10028"/>
              <a:gd name="connsiteY2" fmla="*/ 9971 h 9971"/>
              <a:gd name="connsiteX3" fmla="*/ 10026 w 10028"/>
              <a:gd name="connsiteY3" fmla="*/ 0 h 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28" h="9971">
                <a:moveTo>
                  <a:pt x="0" y="16"/>
                </a:moveTo>
                <a:cubicBezTo>
                  <a:pt x="9" y="3371"/>
                  <a:pt x="17" y="6616"/>
                  <a:pt x="26" y="9971"/>
                </a:cubicBezTo>
                <a:lnTo>
                  <a:pt x="10026" y="9971"/>
                </a:lnTo>
                <a:cubicBezTo>
                  <a:pt x="10019" y="6608"/>
                  <a:pt x="10033" y="3363"/>
                  <a:pt x="10026" y="0"/>
                </a:cubicBezTo>
              </a:path>
            </a:pathLst>
          </a:custGeom>
          <a:solidFill>
            <a:schemeClr val="bg1"/>
          </a:solidFill>
          <a:ln w="12700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599775" name="Line 287"/>
          <p:cNvSpPr>
            <a:spLocks noChangeAspect="1" noChangeShapeType="1"/>
          </p:cNvSpPr>
          <p:nvPr/>
        </p:nvSpPr>
        <p:spPr bwMode="auto">
          <a:xfrm>
            <a:off x="4362450" y="2335333"/>
            <a:ext cx="0" cy="1538287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99787" name="Rectangle 299" descr="宽上对角线"/>
          <p:cNvSpPr>
            <a:spLocks noChangeAspect="1" noChangeArrowheads="1"/>
          </p:cNvSpPr>
          <p:nvPr/>
        </p:nvSpPr>
        <p:spPr bwMode="auto">
          <a:xfrm>
            <a:off x="3783806" y="2273421"/>
            <a:ext cx="1119188" cy="307975"/>
          </a:xfrm>
          <a:prstGeom prst="rect">
            <a:avLst/>
          </a:prstGeom>
          <a:pattFill prst="dkUpDiag">
            <a:fgClr>
              <a:srgbClr val="CCECFF"/>
            </a:fgClr>
            <a:bgClr>
              <a:srgbClr val="FFC000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9788" name="Rectangle 300" descr="横向砖形"/>
          <p:cNvSpPr>
            <a:spLocks noChangeAspect="1" noChangeArrowheads="1"/>
          </p:cNvSpPr>
          <p:nvPr/>
        </p:nvSpPr>
        <p:spPr bwMode="auto">
          <a:xfrm>
            <a:off x="4170363" y="1881308"/>
            <a:ext cx="352425" cy="392113"/>
          </a:xfrm>
          <a:prstGeom prst="rect">
            <a:avLst/>
          </a:prstGeom>
          <a:pattFill prst="horzBrick">
            <a:fgClr>
              <a:srgbClr val="FF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9789" name="Text Box 301"/>
          <p:cNvSpPr txBox="1">
            <a:spLocks noChangeAspect="1" noChangeArrowheads="1"/>
          </p:cNvSpPr>
          <p:nvPr/>
        </p:nvSpPr>
        <p:spPr bwMode="auto">
          <a:xfrm>
            <a:off x="5110163" y="1508245"/>
            <a:ext cx="574675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1400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地面</a:t>
            </a:r>
          </a:p>
        </p:txBody>
      </p:sp>
      <p:sp>
        <p:nvSpPr>
          <p:cNvPr id="1599790" name="Freeform 302"/>
          <p:cNvSpPr>
            <a:spLocks/>
          </p:cNvSpPr>
          <p:nvPr/>
        </p:nvSpPr>
        <p:spPr bwMode="auto">
          <a:xfrm>
            <a:off x="4979988" y="1611433"/>
            <a:ext cx="171450" cy="150812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599791" name="Line 303"/>
          <p:cNvSpPr>
            <a:spLocks noChangeShapeType="1"/>
          </p:cNvSpPr>
          <p:nvPr/>
        </p:nvSpPr>
        <p:spPr bwMode="auto">
          <a:xfrm>
            <a:off x="6994525" y="2590907"/>
            <a:ext cx="3302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599793" name="Text Box 305"/>
          <p:cNvSpPr txBox="1">
            <a:spLocks noChangeAspect="1" noChangeArrowheads="1"/>
          </p:cNvSpPr>
          <p:nvPr/>
        </p:nvSpPr>
        <p:spPr bwMode="auto">
          <a:xfrm>
            <a:off x="404813" y="4122858"/>
            <a:ext cx="2068512" cy="80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30000"/>
              </a:spcAft>
            </a:pPr>
            <a:r>
              <a: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a</a:t>
            </a: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）开挖前</a:t>
            </a:r>
          </a:p>
          <a:p>
            <a:pPr>
              <a:spcBef>
                <a:spcPct val="10000"/>
              </a:spcBef>
            </a:pP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基底处自重应力 </a:t>
            </a:r>
            <a:r>
              <a:rPr lang="zh-CN" altLang="en-US" sz="18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18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d</a:t>
            </a:r>
            <a:endParaRPr lang="en-US" altLang="zh-CN" sz="18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99794" name="Text Box 306"/>
          <p:cNvSpPr txBox="1">
            <a:spLocks noChangeAspect="1" noChangeArrowheads="1"/>
          </p:cNvSpPr>
          <p:nvPr/>
        </p:nvSpPr>
        <p:spPr bwMode="auto">
          <a:xfrm>
            <a:off x="3227388" y="4111745"/>
            <a:ext cx="299402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marL="182563" indent="-18256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84263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20850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57438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94025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51225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08425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65625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22825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30000"/>
              </a:spcAft>
            </a:pPr>
            <a:r>
              <a: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   b</a:t>
            </a: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）开挖后</a:t>
            </a:r>
          </a:p>
          <a:p>
            <a:pPr>
              <a:spcBef>
                <a:spcPct val="10000"/>
              </a:spcBef>
              <a:buFontTx/>
              <a:buChar char="•"/>
            </a:pP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地基来不及回弹</a:t>
            </a:r>
          </a:p>
          <a:p>
            <a:pPr>
              <a:spcBef>
                <a:spcPct val="10000"/>
              </a:spcBef>
              <a:buFontTx/>
              <a:buChar char="•"/>
            </a:pP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当基底应力</a:t>
            </a:r>
            <a:r>
              <a: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18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1800" b="1" i="1" dirty="0" smtClean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d </a:t>
            </a:r>
            <a:r>
              <a:rPr lang="zh-CN" altLang="en-US" sz="1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时</a:t>
            </a: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，基础土层应力同原来相同</a:t>
            </a:r>
            <a:endParaRPr lang="zh-CN" altLang="en-US" sz="1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99795" name="Text Box 307"/>
          <p:cNvSpPr txBox="1">
            <a:spLocks noChangeAspect="1" noChangeArrowheads="1"/>
          </p:cNvSpPr>
          <p:nvPr/>
        </p:nvSpPr>
        <p:spPr bwMode="auto">
          <a:xfrm>
            <a:off x="6423025" y="4113333"/>
            <a:ext cx="2486025" cy="143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marL="9525" indent="-95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93788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30375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66963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3003550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60750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7950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75150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32350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30000"/>
              </a:spcAft>
            </a:pPr>
            <a:r>
              <a: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1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1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施工完成后</a:t>
            </a:r>
          </a:p>
          <a:p>
            <a:pPr>
              <a:spcBef>
                <a:spcPct val="10000"/>
              </a:spcBef>
            </a:pP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如基底总压力</a:t>
            </a:r>
            <a:r>
              <a:rPr lang="zh-CN" altLang="en-US" sz="1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1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1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则引起地基压缩的基底</a:t>
            </a:r>
            <a:r>
              <a:rPr lang="zh-CN" altLang="en-US" sz="1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压力 </a:t>
            </a:r>
            <a:r>
              <a:rPr lang="en-US" altLang="zh-CN" sz="1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1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1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18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d</a:t>
            </a:r>
            <a:endParaRPr lang="zh-CN" altLang="en-US" sz="18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7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3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不考虑回弹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219" name="Rectangle 3"/>
          <p:cNvSpPr>
            <a:spLocks noChangeArrowheads="1"/>
          </p:cNvSpPr>
          <p:nvPr/>
        </p:nvSpPr>
        <p:spPr bwMode="auto">
          <a:xfrm>
            <a:off x="168275" y="582613"/>
            <a:ext cx="3549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计算步骤 </a:t>
            </a:r>
            <a:r>
              <a:rPr kumimoji="1" lang="en-US" altLang="zh-CN" sz="2800" b="1">
                <a:solidFill>
                  <a:srgbClr val="000066"/>
                </a:solidFill>
                <a:latin typeface="Times New Roman"/>
                <a:ea typeface="幼圆" pitchFamily="49" charset="-122"/>
                <a:sym typeface="Symbol" pitchFamily="18" charset="2"/>
              </a:rPr>
              <a:t>–</a:t>
            </a:r>
            <a:r>
              <a:rPr kumimoji="1" lang="en-US" altLang="zh-CN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情况</a:t>
            </a:r>
            <a:r>
              <a:rPr kumimoji="1" lang="en-US" altLang="zh-CN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1</a:t>
            </a:r>
          </a:p>
        </p:txBody>
      </p:sp>
      <p:sp>
        <p:nvSpPr>
          <p:cNvPr id="1545220" name="Rectangle 4"/>
          <p:cNvSpPr>
            <a:spLocks noChangeArrowheads="1"/>
          </p:cNvSpPr>
          <p:nvPr/>
        </p:nvSpPr>
        <p:spPr bwMode="auto">
          <a:xfrm>
            <a:off x="1901825" y="5902325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grpSp>
        <p:nvGrpSpPr>
          <p:cNvPr id="1545221" name="Group 5"/>
          <p:cNvGrpSpPr>
            <a:grpSpLocks/>
          </p:cNvGrpSpPr>
          <p:nvPr/>
        </p:nvGrpSpPr>
        <p:grpSpPr bwMode="auto">
          <a:xfrm>
            <a:off x="4714875" y="685800"/>
            <a:ext cx="4340225" cy="5122863"/>
            <a:chOff x="2970" y="432"/>
            <a:chExt cx="2734" cy="3227"/>
          </a:xfrm>
        </p:grpSpPr>
        <p:sp>
          <p:nvSpPr>
            <p:cNvPr id="1545222" name="Rectangle 6"/>
            <p:cNvSpPr>
              <a:spLocks noChangeArrowheads="1"/>
            </p:cNvSpPr>
            <p:nvPr/>
          </p:nvSpPr>
          <p:spPr bwMode="auto">
            <a:xfrm>
              <a:off x="2970" y="432"/>
              <a:ext cx="2716" cy="3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223" name="Rectangle 7"/>
            <p:cNvSpPr>
              <a:spLocks noChangeArrowheads="1"/>
            </p:cNvSpPr>
            <p:nvPr/>
          </p:nvSpPr>
          <p:spPr bwMode="auto">
            <a:xfrm>
              <a:off x="3009" y="2559"/>
              <a:ext cx="2646" cy="98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224" name="Rectangle 8"/>
            <p:cNvSpPr>
              <a:spLocks noChangeArrowheads="1"/>
            </p:cNvSpPr>
            <p:nvPr/>
          </p:nvSpPr>
          <p:spPr bwMode="auto">
            <a:xfrm>
              <a:off x="3012" y="967"/>
              <a:ext cx="2646" cy="6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225" name="Line 9"/>
            <p:cNvSpPr>
              <a:spLocks noChangeAspect="1" noChangeShapeType="1"/>
            </p:cNvSpPr>
            <p:nvPr/>
          </p:nvSpPr>
          <p:spPr bwMode="auto">
            <a:xfrm>
              <a:off x="3012" y="972"/>
              <a:ext cx="264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26" name="Rectangle 10"/>
            <p:cNvSpPr>
              <a:spLocks noChangeArrowheads="1"/>
            </p:cNvSpPr>
            <p:nvPr/>
          </p:nvSpPr>
          <p:spPr bwMode="auto">
            <a:xfrm>
              <a:off x="3012" y="1963"/>
              <a:ext cx="2646" cy="98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227" name="Rectangle 11"/>
            <p:cNvSpPr>
              <a:spLocks noChangeArrowheads="1"/>
            </p:cNvSpPr>
            <p:nvPr/>
          </p:nvSpPr>
          <p:spPr bwMode="auto">
            <a:xfrm>
              <a:off x="3012" y="1654"/>
              <a:ext cx="2646" cy="309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228" name="Line 12"/>
            <p:cNvSpPr>
              <a:spLocks noChangeAspect="1" noChangeShapeType="1"/>
            </p:cNvSpPr>
            <p:nvPr/>
          </p:nvSpPr>
          <p:spPr bwMode="auto">
            <a:xfrm>
              <a:off x="4150" y="484"/>
              <a:ext cx="0" cy="336"/>
            </a:xfrm>
            <a:prstGeom prst="line">
              <a:avLst/>
            </a:prstGeom>
            <a:noFill/>
            <a:ln w="76200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29" name="Rectangle 13" descr="宽上对角线"/>
            <p:cNvSpPr>
              <a:spLocks noChangeAspect="1" noChangeArrowheads="1"/>
            </p:cNvSpPr>
            <p:nvPr/>
          </p:nvSpPr>
          <p:spPr bwMode="auto">
            <a:xfrm>
              <a:off x="3545" y="1391"/>
              <a:ext cx="1176" cy="269"/>
            </a:xfrm>
            <a:prstGeom prst="rect">
              <a:avLst/>
            </a:prstGeom>
            <a:pattFill prst="dkUpDiag">
              <a:fgClr>
                <a:srgbClr val="CCECFF"/>
              </a:fgClr>
              <a:bgClr>
                <a:schemeClr val="accent6">
                  <a:lumMod val="60000"/>
                  <a:lumOff val="40000"/>
                </a:schemeClr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230" name="Line 14"/>
            <p:cNvSpPr>
              <a:spLocks noChangeAspect="1" noChangeShapeType="1"/>
            </p:cNvSpPr>
            <p:nvPr/>
          </p:nvSpPr>
          <p:spPr bwMode="auto">
            <a:xfrm>
              <a:off x="3417" y="962"/>
              <a:ext cx="0" cy="7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31" name="Text Box 15"/>
            <p:cNvSpPr txBox="1">
              <a:spLocks noChangeAspect="1" noChangeArrowheads="1"/>
            </p:cNvSpPr>
            <p:nvPr/>
          </p:nvSpPr>
          <p:spPr bwMode="auto">
            <a:xfrm>
              <a:off x="3314" y="1181"/>
              <a:ext cx="201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</a:rPr>
                <a:t>d</a:t>
              </a:r>
            </a:p>
          </p:txBody>
        </p:sp>
        <p:sp>
          <p:nvSpPr>
            <p:cNvPr id="1545232" name="Line 16"/>
            <p:cNvSpPr>
              <a:spLocks noChangeAspect="1" noChangeShapeType="1"/>
            </p:cNvSpPr>
            <p:nvPr/>
          </p:nvSpPr>
          <p:spPr bwMode="auto">
            <a:xfrm>
              <a:off x="3012" y="1660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33" name="Line 17"/>
            <p:cNvSpPr>
              <a:spLocks noChangeAspect="1" noChangeShapeType="1"/>
            </p:cNvSpPr>
            <p:nvPr/>
          </p:nvSpPr>
          <p:spPr bwMode="auto">
            <a:xfrm>
              <a:off x="3012" y="1962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234" name="Line 18"/>
            <p:cNvSpPr>
              <a:spLocks noChangeAspect="1" noChangeShapeType="1"/>
            </p:cNvSpPr>
            <p:nvPr/>
          </p:nvSpPr>
          <p:spPr bwMode="auto">
            <a:xfrm>
              <a:off x="3007" y="2957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235" name="Text Box 19"/>
            <p:cNvSpPr txBox="1">
              <a:spLocks noChangeAspect="1" noChangeArrowheads="1"/>
            </p:cNvSpPr>
            <p:nvPr/>
          </p:nvSpPr>
          <p:spPr bwMode="auto">
            <a:xfrm>
              <a:off x="5046" y="718"/>
              <a:ext cx="6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地面</a:t>
              </a:r>
            </a:p>
          </p:txBody>
        </p:sp>
        <p:sp>
          <p:nvSpPr>
            <p:cNvPr id="1545236" name="Rectangle 20"/>
            <p:cNvSpPr>
              <a:spLocks noChangeAspect="1" noChangeArrowheads="1"/>
            </p:cNvSpPr>
            <p:nvPr/>
          </p:nvSpPr>
          <p:spPr bwMode="auto">
            <a:xfrm>
              <a:off x="5240" y="1418"/>
              <a:ext cx="4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基底</a:t>
              </a:r>
            </a:p>
          </p:txBody>
        </p:sp>
        <p:sp>
          <p:nvSpPr>
            <p:cNvPr id="1545237" name="Freeform 21"/>
            <p:cNvSpPr>
              <a:spLocks/>
            </p:cNvSpPr>
            <p:nvPr/>
          </p:nvSpPr>
          <p:spPr bwMode="auto">
            <a:xfrm>
              <a:off x="4858" y="829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5238" name="Freeform 22"/>
            <p:cNvSpPr>
              <a:spLocks/>
            </p:cNvSpPr>
            <p:nvPr/>
          </p:nvSpPr>
          <p:spPr bwMode="auto">
            <a:xfrm>
              <a:off x="5082" y="1523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5239" name="Rectangle 23" descr="横向砖形"/>
            <p:cNvSpPr>
              <a:spLocks noChangeAspect="1" noChangeArrowheads="1"/>
            </p:cNvSpPr>
            <p:nvPr/>
          </p:nvSpPr>
          <p:spPr bwMode="auto">
            <a:xfrm>
              <a:off x="3963" y="820"/>
              <a:ext cx="370" cy="571"/>
            </a:xfrm>
            <a:prstGeom prst="rect">
              <a:avLst/>
            </a:prstGeom>
            <a:pattFill prst="horzBrick">
              <a:fgClr>
                <a:srgbClr val="FFCC00"/>
              </a:fgClr>
              <a:bgClr>
                <a:srgbClr val="FF9966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240" name="Line 24"/>
            <p:cNvSpPr>
              <a:spLocks noChangeAspect="1" noChangeShapeType="1"/>
            </p:cNvSpPr>
            <p:nvPr/>
          </p:nvSpPr>
          <p:spPr bwMode="auto">
            <a:xfrm>
              <a:off x="3008" y="3546"/>
              <a:ext cx="264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241" name="Text Box 25"/>
            <p:cNvSpPr txBox="1">
              <a:spLocks noChangeAspect="1" noChangeArrowheads="1"/>
            </p:cNvSpPr>
            <p:nvPr/>
          </p:nvSpPr>
          <p:spPr bwMode="auto">
            <a:xfrm>
              <a:off x="4677" y="3288"/>
              <a:ext cx="88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计算深度</a:t>
              </a:r>
            </a:p>
          </p:txBody>
        </p:sp>
        <p:sp>
          <p:nvSpPr>
            <p:cNvPr id="1545242" name="Freeform 26"/>
            <p:cNvSpPr>
              <a:spLocks/>
            </p:cNvSpPr>
            <p:nvPr/>
          </p:nvSpPr>
          <p:spPr bwMode="auto">
            <a:xfrm>
              <a:off x="4498" y="3398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5243" name="Line 27"/>
            <p:cNvSpPr>
              <a:spLocks noChangeAspect="1" noChangeShapeType="1"/>
            </p:cNvSpPr>
            <p:nvPr/>
          </p:nvSpPr>
          <p:spPr bwMode="auto">
            <a:xfrm>
              <a:off x="4141" y="954"/>
              <a:ext cx="0" cy="2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244" name="Freeform 28"/>
            <p:cNvSpPr>
              <a:spLocks/>
            </p:cNvSpPr>
            <p:nvPr/>
          </p:nvSpPr>
          <p:spPr bwMode="auto">
            <a:xfrm>
              <a:off x="3289" y="966"/>
              <a:ext cx="855" cy="2568"/>
            </a:xfrm>
            <a:custGeom>
              <a:avLst/>
              <a:gdLst>
                <a:gd name="T0" fmla="*/ 855 w 855"/>
                <a:gd name="T1" fmla="*/ 0 h 2568"/>
                <a:gd name="T2" fmla="*/ 538 w 855"/>
                <a:gd name="T3" fmla="*/ 696 h 2568"/>
                <a:gd name="T4" fmla="*/ 336 w 855"/>
                <a:gd name="T5" fmla="*/ 1003 h 2568"/>
                <a:gd name="T6" fmla="*/ 77 w 855"/>
                <a:gd name="T7" fmla="*/ 1982 h 2568"/>
                <a:gd name="T8" fmla="*/ 0 w 855"/>
                <a:gd name="T9" fmla="*/ 2568 h 2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5" h="2568">
                  <a:moveTo>
                    <a:pt x="855" y="0"/>
                  </a:moveTo>
                  <a:lnTo>
                    <a:pt x="538" y="696"/>
                  </a:lnTo>
                  <a:lnTo>
                    <a:pt x="336" y="1003"/>
                  </a:lnTo>
                  <a:lnTo>
                    <a:pt x="77" y="1982"/>
                  </a:lnTo>
                  <a:lnTo>
                    <a:pt x="0" y="256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45" name="Freeform 29"/>
            <p:cNvSpPr>
              <a:spLocks/>
            </p:cNvSpPr>
            <p:nvPr/>
          </p:nvSpPr>
          <p:spPr bwMode="auto">
            <a:xfrm>
              <a:off x="4297" y="1662"/>
              <a:ext cx="740" cy="1881"/>
            </a:xfrm>
            <a:custGeom>
              <a:avLst/>
              <a:gdLst>
                <a:gd name="T0" fmla="*/ 740 w 740"/>
                <a:gd name="T1" fmla="*/ 0 h 1881"/>
                <a:gd name="T2" fmla="*/ 720 w 740"/>
                <a:gd name="T3" fmla="*/ 269 h 1881"/>
                <a:gd name="T4" fmla="*/ 644 w 740"/>
                <a:gd name="T5" fmla="*/ 585 h 1881"/>
                <a:gd name="T6" fmla="*/ 480 w 740"/>
                <a:gd name="T7" fmla="*/ 1008 h 1881"/>
                <a:gd name="T8" fmla="*/ 183 w 740"/>
                <a:gd name="T9" fmla="*/ 1469 h 1881"/>
                <a:gd name="T10" fmla="*/ 39 w 740"/>
                <a:gd name="T11" fmla="*/ 1718 h 1881"/>
                <a:gd name="T12" fmla="*/ 0 w 740"/>
                <a:gd name="T13" fmla="*/ 1881 h 1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1881">
                  <a:moveTo>
                    <a:pt x="740" y="0"/>
                  </a:moveTo>
                  <a:cubicBezTo>
                    <a:pt x="738" y="86"/>
                    <a:pt x="736" y="172"/>
                    <a:pt x="720" y="269"/>
                  </a:cubicBezTo>
                  <a:cubicBezTo>
                    <a:pt x="704" y="366"/>
                    <a:pt x="684" y="462"/>
                    <a:pt x="644" y="585"/>
                  </a:cubicBezTo>
                  <a:cubicBezTo>
                    <a:pt x="604" y="708"/>
                    <a:pt x="557" y="861"/>
                    <a:pt x="480" y="1008"/>
                  </a:cubicBezTo>
                  <a:cubicBezTo>
                    <a:pt x="403" y="1155"/>
                    <a:pt x="256" y="1351"/>
                    <a:pt x="183" y="1469"/>
                  </a:cubicBezTo>
                  <a:cubicBezTo>
                    <a:pt x="110" y="1587"/>
                    <a:pt x="70" y="1649"/>
                    <a:pt x="39" y="1718"/>
                  </a:cubicBezTo>
                  <a:cubicBezTo>
                    <a:pt x="8" y="1787"/>
                    <a:pt x="4" y="1834"/>
                    <a:pt x="0" y="1881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46" name="Text Box 30"/>
            <p:cNvSpPr txBox="1">
              <a:spLocks noChangeAspect="1" noChangeArrowheads="1"/>
            </p:cNvSpPr>
            <p:nvPr/>
          </p:nvSpPr>
          <p:spPr bwMode="auto">
            <a:xfrm>
              <a:off x="3052" y="1194"/>
              <a:ext cx="201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</a:t>
              </a:r>
            </a:p>
          </p:txBody>
        </p:sp>
        <p:sp>
          <p:nvSpPr>
            <p:cNvPr id="1545247" name="Line 31"/>
            <p:cNvSpPr>
              <a:spLocks noChangeAspect="1" noChangeShapeType="1"/>
            </p:cNvSpPr>
            <p:nvPr/>
          </p:nvSpPr>
          <p:spPr bwMode="auto">
            <a:xfrm flipV="1">
              <a:off x="5035" y="1097"/>
              <a:ext cx="0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248" name="Text Box 32"/>
            <p:cNvSpPr txBox="1">
              <a:spLocks noChangeAspect="1" noChangeArrowheads="1"/>
            </p:cNvSpPr>
            <p:nvPr/>
          </p:nvSpPr>
          <p:spPr bwMode="auto">
            <a:xfrm>
              <a:off x="4345" y="938"/>
              <a:ext cx="3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1545249" name="Line 33"/>
            <p:cNvSpPr>
              <a:spLocks noChangeAspect="1" noChangeShapeType="1"/>
            </p:cNvSpPr>
            <p:nvPr/>
          </p:nvSpPr>
          <p:spPr bwMode="auto">
            <a:xfrm>
              <a:off x="3830" y="1225"/>
              <a:ext cx="120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250" name="Line 34"/>
            <p:cNvSpPr>
              <a:spLocks noChangeAspect="1" noChangeShapeType="1"/>
            </p:cNvSpPr>
            <p:nvPr/>
          </p:nvSpPr>
          <p:spPr bwMode="auto">
            <a:xfrm flipV="1">
              <a:off x="3830" y="1097"/>
              <a:ext cx="0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251" name="Text Box 35"/>
            <p:cNvSpPr txBox="1">
              <a:spLocks noChangeAspect="1" noChangeArrowheads="1"/>
            </p:cNvSpPr>
            <p:nvPr/>
          </p:nvSpPr>
          <p:spPr bwMode="auto">
            <a:xfrm>
              <a:off x="4381" y="162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45252" name="Line 36"/>
            <p:cNvSpPr>
              <a:spLocks noChangeAspect="1" noChangeShapeType="1"/>
            </p:cNvSpPr>
            <p:nvPr/>
          </p:nvSpPr>
          <p:spPr bwMode="auto">
            <a:xfrm>
              <a:off x="4152" y="1664"/>
              <a:ext cx="875" cy="1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253" name="Line 37"/>
            <p:cNvSpPr>
              <a:spLocks noChangeAspect="1" noChangeShapeType="1"/>
            </p:cNvSpPr>
            <p:nvPr/>
          </p:nvSpPr>
          <p:spPr bwMode="auto">
            <a:xfrm>
              <a:off x="3834" y="1664"/>
              <a:ext cx="316" cy="1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5254" name="Rectangle 38"/>
            <p:cNvSpPr>
              <a:spLocks noChangeAspect="1" noChangeArrowheads="1"/>
            </p:cNvSpPr>
            <p:nvPr/>
          </p:nvSpPr>
          <p:spPr bwMode="auto">
            <a:xfrm>
              <a:off x="3791" y="1634"/>
              <a:ext cx="3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d</a:t>
              </a:r>
            </a:p>
          </p:txBody>
        </p:sp>
        <p:sp>
          <p:nvSpPr>
            <p:cNvPr id="1545255" name="Line 39"/>
            <p:cNvSpPr>
              <a:spLocks noChangeShapeType="1"/>
            </p:cNvSpPr>
            <p:nvPr/>
          </p:nvSpPr>
          <p:spPr bwMode="auto">
            <a:xfrm>
              <a:off x="3957" y="971"/>
              <a:ext cx="4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56" name="Text Box 40"/>
            <p:cNvSpPr txBox="1">
              <a:spLocks noChangeArrowheads="1"/>
            </p:cNvSpPr>
            <p:nvPr/>
          </p:nvSpPr>
          <p:spPr bwMode="auto">
            <a:xfrm>
              <a:off x="4978" y="2325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45257" name="Line 41"/>
            <p:cNvSpPr>
              <a:spLocks noChangeShapeType="1"/>
            </p:cNvSpPr>
            <p:nvPr/>
          </p:nvSpPr>
          <p:spPr bwMode="auto">
            <a:xfrm>
              <a:off x="3571" y="2258"/>
              <a:ext cx="123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58" name="Line 42"/>
            <p:cNvSpPr>
              <a:spLocks noChangeShapeType="1"/>
            </p:cNvSpPr>
            <p:nvPr/>
          </p:nvSpPr>
          <p:spPr bwMode="auto">
            <a:xfrm>
              <a:off x="4935" y="2302"/>
              <a:ext cx="131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5259" name="Text Box 43"/>
            <p:cNvSpPr txBox="1">
              <a:spLocks noChangeArrowheads="1"/>
            </p:cNvSpPr>
            <p:nvPr/>
          </p:nvSpPr>
          <p:spPr bwMode="auto">
            <a:xfrm>
              <a:off x="3564" y="2335"/>
              <a:ext cx="3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8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sz</a:t>
              </a:r>
              <a:endPara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545260" name="Text Box 44"/>
          <p:cNvSpPr txBox="1">
            <a:spLocks noChangeArrowheads="1"/>
          </p:cNvSpPr>
          <p:nvPr/>
        </p:nvSpPr>
        <p:spPr bwMode="auto">
          <a:xfrm>
            <a:off x="566971" y="1418648"/>
            <a:ext cx="3983775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58775" indent="-35877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8743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2402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606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9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54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1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68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26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原</a:t>
            </a:r>
            <a:r>
              <a:rPr lang="zh-CN" altLang="en-US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地基自重应力</a:t>
            </a: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分布</a:t>
            </a:r>
            <a:r>
              <a:rPr lang="zh-CN" altLang="en-US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b="1" baseline="-25000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lang="en-US" altLang="zh-CN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基底附加</a:t>
            </a:r>
            <a:r>
              <a:rPr lang="zh-CN" altLang="en-US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压力 </a:t>
            </a:r>
            <a:r>
              <a:rPr lang="en-US" altLang="zh-CN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endParaRPr lang="zh-CN" altLang="en-US" b="1" baseline="-25000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地基</a:t>
            </a: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中</a:t>
            </a:r>
            <a:r>
              <a:rPr lang="zh-CN" altLang="en-US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附加应力</a:t>
            </a:r>
            <a:r>
              <a:rPr lang="zh-CN" altLang="en-US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b="1" baseline="-25000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zh-CN" altLang="en-US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分布</a:t>
            </a:r>
            <a:endParaRPr lang="zh-CN" altLang="en-US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45261" name="Text Box 45"/>
          <p:cNvSpPr txBox="1">
            <a:spLocks noChangeArrowheads="1"/>
          </p:cNvSpPr>
          <p:nvPr/>
        </p:nvSpPr>
        <p:spPr bwMode="auto">
          <a:xfrm>
            <a:off x="1240249" y="3338723"/>
            <a:ext cx="3213248" cy="179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66700" indent="-266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3816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0"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从地面算起；</a:t>
            </a:r>
          </a:p>
          <a:p>
            <a:pPr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0"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从基底算起，由基底</a:t>
            </a:r>
            <a:r>
              <a:rPr kumimoji="0"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附加应力 </a:t>
            </a:r>
            <a:r>
              <a:rPr kumimoji="0" lang="en-US" altLang="zh-CN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kumimoji="0" lang="en-US" altLang="zh-CN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kumimoji="0" lang="en-US" altLang="zh-CN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 </a:t>
            </a:r>
            <a:r>
              <a:rPr kumimoji="0" lang="en-US" altLang="zh-CN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kumimoji="0" lang="en-US" altLang="zh-CN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</a:t>
            </a:r>
            <a:r>
              <a:rPr kumimoji="0" lang="en-US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d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引起</a:t>
            </a:r>
          </a:p>
        </p:txBody>
      </p:sp>
      <p:sp>
        <p:nvSpPr>
          <p:cNvPr id="1545262" name="AutoShape 46"/>
          <p:cNvSpPr>
            <a:spLocks noChangeArrowheads="1"/>
          </p:cNvSpPr>
          <p:nvPr/>
        </p:nvSpPr>
        <p:spPr bwMode="auto">
          <a:xfrm>
            <a:off x="621458" y="3366971"/>
            <a:ext cx="525462" cy="474663"/>
          </a:xfrm>
          <a:prstGeom prst="homePlate">
            <a:avLst>
              <a:gd name="adj" fmla="val 29659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4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不考虑回弹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54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4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1000"/>
                                        <p:tgtEl>
                                          <p:spTgt spid="154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00"/>
                                        <p:tgtEl>
                                          <p:spTgt spid="154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5219" grpId="0" build="p" autoUpdateAnimBg="0"/>
      <p:bldP spid="1545260" grpId="0"/>
      <p:bldP spid="1545261" grpId="0"/>
      <p:bldP spid="154526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"/>
          <p:cNvGrpSpPr>
            <a:grpSpLocks/>
          </p:cNvGrpSpPr>
          <p:nvPr/>
        </p:nvGrpSpPr>
        <p:grpSpPr bwMode="auto">
          <a:xfrm>
            <a:off x="4714875" y="685800"/>
            <a:ext cx="4340225" cy="5122863"/>
            <a:chOff x="2970" y="432"/>
            <a:chExt cx="2734" cy="3227"/>
          </a:xfrm>
        </p:grpSpPr>
        <p:sp>
          <p:nvSpPr>
            <p:cNvPr id="56" name="Rectangle 6"/>
            <p:cNvSpPr>
              <a:spLocks noChangeArrowheads="1"/>
            </p:cNvSpPr>
            <p:nvPr/>
          </p:nvSpPr>
          <p:spPr bwMode="auto">
            <a:xfrm>
              <a:off x="2970" y="432"/>
              <a:ext cx="2716" cy="3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3009" y="2559"/>
              <a:ext cx="2646" cy="98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3012" y="967"/>
              <a:ext cx="2646" cy="6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9"/>
            <p:cNvSpPr>
              <a:spLocks noChangeAspect="1" noChangeShapeType="1"/>
            </p:cNvSpPr>
            <p:nvPr/>
          </p:nvSpPr>
          <p:spPr bwMode="auto">
            <a:xfrm>
              <a:off x="3012" y="972"/>
              <a:ext cx="264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>
              <a:off x="3012" y="1963"/>
              <a:ext cx="2646" cy="98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Rectangle 11"/>
            <p:cNvSpPr>
              <a:spLocks noChangeArrowheads="1"/>
            </p:cNvSpPr>
            <p:nvPr/>
          </p:nvSpPr>
          <p:spPr bwMode="auto">
            <a:xfrm>
              <a:off x="3012" y="1654"/>
              <a:ext cx="2646" cy="309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12"/>
            <p:cNvSpPr>
              <a:spLocks noChangeAspect="1" noChangeShapeType="1"/>
            </p:cNvSpPr>
            <p:nvPr/>
          </p:nvSpPr>
          <p:spPr bwMode="auto">
            <a:xfrm>
              <a:off x="4150" y="484"/>
              <a:ext cx="0" cy="336"/>
            </a:xfrm>
            <a:prstGeom prst="line">
              <a:avLst/>
            </a:prstGeom>
            <a:noFill/>
            <a:ln w="76200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Rectangle 13" descr="宽上对角线"/>
            <p:cNvSpPr>
              <a:spLocks noChangeAspect="1" noChangeArrowheads="1"/>
            </p:cNvSpPr>
            <p:nvPr/>
          </p:nvSpPr>
          <p:spPr bwMode="auto">
            <a:xfrm>
              <a:off x="3545" y="1391"/>
              <a:ext cx="1176" cy="269"/>
            </a:xfrm>
            <a:prstGeom prst="rect">
              <a:avLst/>
            </a:prstGeom>
            <a:pattFill prst="dkUpDiag">
              <a:fgClr>
                <a:srgbClr val="CCECFF"/>
              </a:fgClr>
              <a:bgClr>
                <a:schemeClr val="accent6">
                  <a:lumMod val="60000"/>
                  <a:lumOff val="40000"/>
                </a:schemeClr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14"/>
            <p:cNvSpPr>
              <a:spLocks noChangeAspect="1" noChangeShapeType="1"/>
            </p:cNvSpPr>
            <p:nvPr/>
          </p:nvSpPr>
          <p:spPr bwMode="auto">
            <a:xfrm>
              <a:off x="3417" y="962"/>
              <a:ext cx="0" cy="7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15"/>
            <p:cNvSpPr txBox="1">
              <a:spLocks noChangeAspect="1" noChangeArrowheads="1"/>
            </p:cNvSpPr>
            <p:nvPr/>
          </p:nvSpPr>
          <p:spPr bwMode="auto">
            <a:xfrm>
              <a:off x="3314" y="1181"/>
              <a:ext cx="201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</a:rPr>
                <a:t>d</a:t>
              </a:r>
            </a:p>
          </p:txBody>
        </p:sp>
        <p:sp>
          <p:nvSpPr>
            <p:cNvPr id="66" name="Line 16"/>
            <p:cNvSpPr>
              <a:spLocks noChangeAspect="1" noChangeShapeType="1"/>
            </p:cNvSpPr>
            <p:nvPr/>
          </p:nvSpPr>
          <p:spPr bwMode="auto">
            <a:xfrm>
              <a:off x="3012" y="1660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7"/>
            <p:cNvSpPr>
              <a:spLocks noChangeAspect="1" noChangeShapeType="1"/>
            </p:cNvSpPr>
            <p:nvPr/>
          </p:nvSpPr>
          <p:spPr bwMode="auto">
            <a:xfrm>
              <a:off x="3012" y="1962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8" name="Line 18"/>
            <p:cNvSpPr>
              <a:spLocks noChangeAspect="1" noChangeShapeType="1"/>
            </p:cNvSpPr>
            <p:nvPr/>
          </p:nvSpPr>
          <p:spPr bwMode="auto">
            <a:xfrm>
              <a:off x="3007" y="2957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9" name="Text Box 19"/>
            <p:cNvSpPr txBox="1">
              <a:spLocks noChangeAspect="1" noChangeArrowheads="1"/>
            </p:cNvSpPr>
            <p:nvPr/>
          </p:nvSpPr>
          <p:spPr bwMode="auto">
            <a:xfrm>
              <a:off x="5046" y="718"/>
              <a:ext cx="6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地面</a:t>
              </a:r>
            </a:p>
          </p:txBody>
        </p:sp>
        <p:sp>
          <p:nvSpPr>
            <p:cNvPr id="70" name="Rectangle 20"/>
            <p:cNvSpPr>
              <a:spLocks noChangeAspect="1" noChangeArrowheads="1"/>
            </p:cNvSpPr>
            <p:nvPr/>
          </p:nvSpPr>
          <p:spPr bwMode="auto">
            <a:xfrm>
              <a:off x="5240" y="1418"/>
              <a:ext cx="4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基底</a:t>
              </a:r>
            </a:p>
          </p:txBody>
        </p:sp>
        <p:sp>
          <p:nvSpPr>
            <p:cNvPr id="71" name="Freeform 21"/>
            <p:cNvSpPr>
              <a:spLocks/>
            </p:cNvSpPr>
            <p:nvPr/>
          </p:nvSpPr>
          <p:spPr bwMode="auto">
            <a:xfrm>
              <a:off x="4858" y="829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72" name="Freeform 22"/>
            <p:cNvSpPr>
              <a:spLocks/>
            </p:cNvSpPr>
            <p:nvPr/>
          </p:nvSpPr>
          <p:spPr bwMode="auto">
            <a:xfrm>
              <a:off x="5082" y="1523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Rectangle 23" descr="横向砖形"/>
            <p:cNvSpPr>
              <a:spLocks noChangeAspect="1" noChangeArrowheads="1"/>
            </p:cNvSpPr>
            <p:nvPr/>
          </p:nvSpPr>
          <p:spPr bwMode="auto">
            <a:xfrm>
              <a:off x="3963" y="820"/>
              <a:ext cx="370" cy="571"/>
            </a:xfrm>
            <a:prstGeom prst="rect">
              <a:avLst/>
            </a:prstGeom>
            <a:pattFill prst="horzBrick">
              <a:fgClr>
                <a:srgbClr val="FFCC00"/>
              </a:fgClr>
              <a:bgClr>
                <a:srgbClr val="FF9966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24"/>
            <p:cNvSpPr>
              <a:spLocks noChangeAspect="1" noChangeShapeType="1"/>
            </p:cNvSpPr>
            <p:nvPr/>
          </p:nvSpPr>
          <p:spPr bwMode="auto">
            <a:xfrm>
              <a:off x="3008" y="3546"/>
              <a:ext cx="264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5" name="Text Box 25"/>
            <p:cNvSpPr txBox="1">
              <a:spLocks noChangeAspect="1" noChangeArrowheads="1"/>
            </p:cNvSpPr>
            <p:nvPr/>
          </p:nvSpPr>
          <p:spPr bwMode="auto">
            <a:xfrm>
              <a:off x="4712" y="3288"/>
              <a:ext cx="88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计算深度</a:t>
              </a:r>
            </a:p>
          </p:txBody>
        </p:sp>
        <p:sp>
          <p:nvSpPr>
            <p:cNvPr id="76" name="Freeform 26"/>
            <p:cNvSpPr>
              <a:spLocks/>
            </p:cNvSpPr>
            <p:nvPr/>
          </p:nvSpPr>
          <p:spPr bwMode="auto">
            <a:xfrm>
              <a:off x="4533" y="3398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77" name="Line 27"/>
            <p:cNvSpPr>
              <a:spLocks noChangeAspect="1" noChangeShapeType="1"/>
            </p:cNvSpPr>
            <p:nvPr/>
          </p:nvSpPr>
          <p:spPr bwMode="auto">
            <a:xfrm>
              <a:off x="4141" y="954"/>
              <a:ext cx="0" cy="2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8" name="Freeform 28"/>
            <p:cNvSpPr>
              <a:spLocks/>
            </p:cNvSpPr>
            <p:nvPr/>
          </p:nvSpPr>
          <p:spPr bwMode="auto">
            <a:xfrm>
              <a:off x="3289" y="966"/>
              <a:ext cx="855" cy="2568"/>
            </a:xfrm>
            <a:custGeom>
              <a:avLst/>
              <a:gdLst>
                <a:gd name="T0" fmla="*/ 855 w 855"/>
                <a:gd name="T1" fmla="*/ 0 h 2568"/>
                <a:gd name="T2" fmla="*/ 538 w 855"/>
                <a:gd name="T3" fmla="*/ 696 h 2568"/>
                <a:gd name="T4" fmla="*/ 336 w 855"/>
                <a:gd name="T5" fmla="*/ 1003 h 2568"/>
                <a:gd name="T6" fmla="*/ 77 w 855"/>
                <a:gd name="T7" fmla="*/ 1982 h 2568"/>
                <a:gd name="T8" fmla="*/ 0 w 855"/>
                <a:gd name="T9" fmla="*/ 2568 h 2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5" h="2568">
                  <a:moveTo>
                    <a:pt x="855" y="0"/>
                  </a:moveTo>
                  <a:lnTo>
                    <a:pt x="538" y="696"/>
                  </a:lnTo>
                  <a:lnTo>
                    <a:pt x="336" y="1003"/>
                  </a:lnTo>
                  <a:lnTo>
                    <a:pt x="77" y="1982"/>
                  </a:lnTo>
                  <a:lnTo>
                    <a:pt x="0" y="256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29"/>
            <p:cNvSpPr>
              <a:spLocks/>
            </p:cNvSpPr>
            <p:nvPr/>
          </p:nvSpPr>
          <p:spPr bwMode="auto">
            <a:xfrm>
              <a:off x="4297" y="1662"/>
              <a:ext cx="740" cy="1881"/>
            </a:xfrm>
            <a:custGeom>
              <a:avLst/>
              <a:gdLst>
                <a:gd name="T0" fmla="*/ 740 w 740"/>
                <a:gd name="T1" fmla="*/ 0 h 1881"/>
                <a:gd name="T2" fmla="*/ 720 w 740"/>
                <a:gd name="T3" fmla="*/ 269 h 1881"/>
                <a:gd name="T4" fmla="*/ 644 w 740"/>
                <a:gd name="T5" fmla="*/ 585 h 1881"/>
                <a:gd name="T6" fmla="*/ 480 w 740"/>
                <a:gd name="T7" fmla="*/ 1008 h 1881"/>
                <a:gd name="T8" fmla="*/ 183 w 740"/>
                <a:gd name="T9" fmla="*/ 1469 h 1881"/>
                <a:gd name="T10" fmla="*/ 39 w 740"/>
                <a:gd name="T11" fmla="*/ 1718 h 1881"/>
                <a:gd name="T12" fmla="*/ 0 w 740"/>
                <a:gd name="T13" fmla="*/ 1881 h 1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1881">
                  <a:moveTo>
                    <a:pt x="740" y="0"/>
                  </a:moveTo>
                  <a:cubicBezTo>
                    <a:pt x="738" y="86"/>
                    <a:pt x="736" y="172"/>
                    <a:pt x="720" y="269"/>
                  </a:cubicBezTo>
                  <a:cubicBezTo>
                    <a:pt x="704" y="366"/>
                    <a:pt x="684" y="462"/>
                    <a:pt x="644" y="585"/>
                  </a:cubicBezTo>
                  <a:cubicBezTo>
                    <a:pt x="604" y="708"/>
                    <a:pt x="557" y="861"/>
                    <a:pt x="480" y="1008"/>
                  </a:cubicBezTo>
                  <a:cubicBezTo>
                    <a:pt x="403" y="1155"/>
                    <a:pt x="256" y="1351"/>
                    <a:pt x="183" y="1469"/>
                  </a:cubicBezTo>
                  <a:cubicBezTo>
                    <a:pt x="110" y="1587"/>
                    <a:pt x="70" y="1649"/>
                    <a:pt x="39" y="1718"/>
                  </a:cubicBezTo>
                  <a:cubicBezTo>
                    <a:pt x="8" y="1787"/>
                    <a:pt x="4" y="1834"/>
                    <a:pt x="0" y="1881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Text Box 30"/>
            <p:cNvSpPr txBox="1">
              <a:spLocks noChangeAspect="1" noChangeArrowheads="1"/>
            </p:cNvSpPr>
            <p:nvPr/>
          </p:nvSpPr>
          <p:spPr bwMode="auto">
            <a:xfrm>
              <a:off x="3052" y="1194"/>
              <a:ext cx="201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</a:t>
              </a:r>
            </a:p>
          </p:txBody>
        </p:sp>
        <p:sp>
          <p:nvSpPr>
            <p:cNvPr id="81" name="Line 31"/>
            <p:cNvSpPr>
              <a:spLocks noChangeAspect="1" noChangeShapeType="1"/>
            </p:cNvSpPr>
            <p:nvPr/>
          </p:nvSpPr>
          <p:spPr bwMode="auto">
            <a:xfrm flipV="1">
              <a:off x="5035" y="1097"/>
              <a:ext cx="0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2" name="Text Box 32"/>
            <p:cNvSpPr txBox="1">
              <a:spLocks noChangeAspect="1" noChangeArrowheads="1"/>
            </p:cNvSpPr>
            <p:nvPr/>
          </p:nvSpPr>
          <p:spPr bwMode="auto">
            <a:xfrm>
              <a:off x="4345" y="938"/>
              <a:ext cx="3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83" name="Line 33"/>
            <p:cNvSpPr>
              <a:spLocks noChangeAspect="1" noChangeShapeType="1"/>
            </p:cNvSpPr>
            <p:nvPr/>
          </p:nvSpPr>
          <p:spPr bwMode="auto">
            <a:xfrm>
              <a:off x="3830" y="1225"/>
              <a:ext cx="120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4" name="Line 34"/>
            <p:cNvSpPr>
              <a:spLocks noChangeAspect="1" noChangeShapeType="1"/>
            </p:cNvSpPr>
            <p:nvPr/>
          </p:nvSpPr>
          <p:spPr bwMode="auto">
            <a:xfrm flipV="1">
              <a:off x="3830" y="1097"/>
              <a:ext cx="0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5" name="Text Box 35"/>
            <p:cNvSpPr txBox="1">
              <a:spLocks noChangeAspect="1" noChangeArrowheads="1"/>
            </p:cNvSpPr>
            <p:nvPr/>
          </p:nvSpPr>
          <p:spPr bwMode="auto">
            <a:xfrm>
              <a:off x="4381" y="162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86" name="Line 36"/>
            <p:cNvSpPr>
              <a:spLocks noChangeAspect="1" noChangeShapeType="1"/>
            </p:cNvSpPr>
            <p:nvPr/>
          </p:nvSpPr>
          <p:spPr bwMode="auto">
            <a:xfrm>
              <a:off x="4152" y="1664"/>
              <a:ext cx="875" cy="1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7" name="Line 37"/>
            <p:cNvSpPr>
              <a:spLocks noChangeAspect="1" noChangeShapeType="1"/>
            </p:cNvSpPr>
            <p:nvPr/>
          </p:nvSpPr>
          <p:spPr bwMode="auto">
            <a:xfrm>
              <a:off x="3834" y="1664"/>
              <a:ext cx="316" cy="1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8" name="Rectangle 38"/>
            <p:cNvSpPr>
              <a:spLocks noChangeAspect="1" noChangeArrowheads="1"/>
            </p:cNvSpPr>
            <p:nvPr/>
          </p:nvSpPr>
          <p:spPr bwMode="auto">
            <a:xfrm>
              <a:off x="3791" y="1634"/>
              <a:ext cx="3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d</a:t>
              </a:r>
            </a:p>
          </p:txBody>
        </p:sp>
        <p:sp>
          <p:nvSpPr>
            <p:cNvPr id="89" name="Line 39"/>
            <p:cNvSpPr>
              <a:spLocks noChangeShapeType="1"/>
            </p:cNvSpPr>
            <p:nvPr/>
          </p:nvSpPr>
          <p:spPr bwMode="auto">
            <a:xfrm>
              <a:off x="3957" y="971"/>
              <a:ext cx="4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Text Box 40"/>
            <p:cNvSpPr txBox="1">
              <a:spLocks noChangeArrowheads="1"/>
            </p:cNvSpPr>
            <p:nvPr/>
          </p:nvSpPr>
          <p:spPr bwMode="auto">
            <a:xfrm>
              <a:off x="4978" y="2325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91" name="Line 41"/>
            <p:cNvSpPr>
              <a:spLocks noChangeShapeType="1"/>
            </p:cNvSpPr>
            <p:nvPr/>
          </p:nvSpPr>
          <p:spPr bwMode="auto">
            <a:xfrm>
              <a:off x="3571" y="2258"/>
              <a:ext cx="123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42"/>
            <p:cNvSpPr>
              <a:spLocks noChangeShapeType="1"/>
            </p:cNvSpPr>
            <p:nvPr/>
          </p:nvSpPr>
          <p:spPr bwMode="auto">
            <a:xfrm>
              <a:off x="4935" y="2302"/>
              <a:ext cx="131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Text Box 43"/>
            <p:cNvSpPr txBox="1">
              <a:spLocks noChangeArrowheads="1"/>
            </p:cNvSpPr>
            <p:nvPr/>
          </p:nvSpPr>
          <p:spPr bwMode="auto">
            <a:xfrm>
              <a:off x="3564" y="2335"/>
              <a:ext cx="3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8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sz</a:t>
              </a:r>
              <a:endPara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546243" name="Rectangle 3"/>
          <p:cNvSpPr>
            <a:spLocks noChangeArrowheads="1"/>
          </p:cNvSpPr>
          <p:nvPr/>
        </p:nvSpPr>
        <p:spPr bwMode="auto">
          <a:xfrm>
            <a:off x="168275" y="534988"/>
            <a:ext cx="3549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计算步骤 </a:t>
            </a:r>
            <a:r>
              <a:rPr kumimoji="1" lang="en-US" altLang="zh-CN" sz="2800" b="1">
                <a:solidFill>
                  <a:srgbClr val="000066"/>
                </a:solidFill>
                <a:latin typeface="Times New Roman"/>
                <a:ea typeface="幼圆" pitchFamily="49" charset="-122"/>
                <a:sym typeface="Symbol" pitchFamily="18" charset="2"/>
              </a:rPr>
              <a:t>–</a:t>
            </a:r>
            <a:r>
              <a:rPr kumimoji="1" lang="en-US" altLang="zh-CN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情况</a:t>
            </a:r>
            <a:r>
              <a:rPr kumimoji="1" lang="en-US" altLang="zh-CN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1</a:t>
            </a:r>
          </a:p>
        </p:txBody>
      </p:sp>
      <p:sp>
        <p:nvSpPr>
          <p:cNvPr id="1546244" name="Rectangle 4"/>
          <p:cNvSpPr>
            <a:spLocks noChangeArrowheads="1"/>
          </p:cNvSpPr>
          <p:nvPr/>
        </p:nvSpPr>
        <p:spPr bwMode="auto">
          <a:xfrm>
            <a:off x="1901825" y="5902325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546245" name="Text Box 5"/>
          <p:cNvSpPr txBox="1">
            <a:spLocks noChangeArrowheads="1"/>
          </p:cNvSpPr>
          <p:nvPr/>
        </p:nvSpPr>
        <p:spPr bwMode="auto">
          <a:xfrm>
            <a:off x="577306" y="1374710"/>
            <a:ext cx="3484340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8743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2402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606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9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54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1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68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26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Font typeface="+mj-lt"/>
              <a:buAutoNum type="arabicPeriod" startAt="4"/>
            </a:pPr>
            <a:r>
              <a:rPr lang="zh-CN" altLang="en-US" b="1" dirty="0" smtClean="0">
                <a:solidFill>
                  <a:srgbClr val="A50021"/>
                </a:solidFill>
                <a:ea typeface="幼圆" pitchFamily="49" charset="-122"/>
              </a:rPr>
              <a:t>确定</a:t>
            </a: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</a:rPr>
              <a:t>计算深度</a:t>
            </a:r>
            <a:r>
              <a:rPr lang="en-US" altLang="zh-CN" b="1" dirty="0" err="1" smtClean="0">
                <a:solidFill>
                  <a:srgbClr val="A50021"/>
                </a:solidFill>
                <a:ea typeface="幼圆" pitchFamily="49" charset="-122"/>
              </a:rPr>
              <a:t>z</a:t>
            </a:r>
            <a:r>
              <a:rPr lang="en-US" altLang="zh-CN" b="1" baseline="-25000" dirty="0" err="1" smtClean="0">
                <a:solidFill>
                  <a:srgbClr val="A50021"/>
                </a:solidFill>
                <a:ea typeface="幼圆" pitchFamily="49" charset="-122"/>
              </a:rPr>
              <a:t>n</a:t>
            </a:r>
            <a:endParaRPr lang="zh-CN" altLang="en-US" b="1" baseline="-25000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546246" name="AutoShape 6"/>
          <p:cNvSpPr>
            <a:spLocks noChangeArrowheads="1"/>
          </p:cNvSpPr>
          <p:nvPr/>
        </p:nvSpPr>
        <p:spPr bwMode="auto">
          <a:xfrm>
            <a:off x="387499" y="2169018"/>
            <a:ext cx="523875" cy="473075"/>
          </a:xfrm>
          <a:prstGeom prst="homePlate">
            <a:avLst>
              <a:gd name="adj" fmla="val 29669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6247" name="Text Box 7"/>
          <p:cNvSpPr txBox="1">
            <a:spLocks noChangeArrowheads="1"/>
          </p:cNvSpPr>
          <p:nvPr/>
        </p:nvSpPr>
        <p:spPr bwMode="auto">
          <a:xfrm>
            <a:off x="970591" y="2167123"/>
            <a:ext cx="3775075" cy="2896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82563" indent="-18256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15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经验法：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15000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一般土层：</a:t>
            </a:r>
            <a:r>
              <a:rPr lang="zh-CN" altLang="en-US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=0.2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ts val="600"/>
              </a:spcAft>
              <a:buClr>
                <a:srgbClr val="A50021"/>
              </a:buClr>
              <a:buSzPct val="115000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         软土层：</a:t>
            </a:r>
            <a:r>
              <a:rPr lang="zh-CN" altLang="en-US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=0.1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ts val="600"/>
              </a:spcAft>
              <a:buClr>
                <a:srgbClr val="A50021"/>
              </a:buClr>
              <a:buSzPct val="115000"/>
              <a:buFontTx/>
              <a:buChar char="•"/>
            </a:pP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经验公式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altLang="zh-CN" sz="22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n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(2.5-0.4ln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ts val="600"/>
              </a:spcAft>
              <a:buClr>
                <a:srgbClr val="A50021"/>
              </a:buClr>
              <a:buSzPct val="115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计算到压缩性较大土层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底面</a:t>
            </a:r>
            <a:endParaRPr lang="en-US" altLang="zh-CN" sz="2200" b="1" dirty="0" smtClean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15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规范法：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  </a:t>
            </a:r>
            <a:r>
              <a:rPr lang="en-US" altLang="zh-CN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0.025</a:t>
            </a:r>
            <a:r>
              <a:rPr lang="en-US" altLang="zh-CN" sz="22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endParaRPr lang="en-US" altLang="zh-CN" sz="22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46249" name="Rectangle 9"/>
          <p:cNvSpPr>
            <a:spLocks noChangeArrowheads="1"/>
          </p:cNvSpPr>
          <p:nvPr/>
        </p:nvSpPr>
        <p:spPr bwMode="auto">
          <a:xfrm>
            <a:off x="4724400" y="703263"/>
            <a:ext cx="4311650" cy="512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不考虑回弹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165004" y="5238737"/>
            <a:ext cx="2213357" cy="470940"/>
            <a:chOff x="4165004" y="5238737"/>
            <a:chExt cx="2213357" cy="470940"/>
          </a:xfrm>
        </p:grpSpPr>
        <p:sp>
          <p:nvSpPr>
            <p:cNvPr id="52" name="Line 47"/>
            <p:cNvSpPr>
              <a:spLocks noChangeShapeType="1"/>
            </p:cNvSpPr>
            <p:nvPr/>
          </p:nvSpPr>
          <p:spPr bwMode="auto">
            <a:xfrm>
              <a:off x="4787900" y="5335561"/>
              <a:ext cx="15904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>
              <a:off x="5544025" y="5335561"/>
              <a:ext cx="0" cy="296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 Box 49"/>
            <p:cNvSpPr txBox="1">
              <a:spLocks noChangeArrowheads="1"/>
            </p:cNvSpPr>
            <p:nvPr/>
          </p:nvSpPr>
          <p:spPr bwMode="auto">
            <a:xfrm>
              <a:off x="5547200" y="5238737"/>
              <a:ext cx="5064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z</a:t>
              </a:r>
            </a:p>
          </p:txBody>
        </p:sp>
        <p:sp>
          <p:nvSpPr>
            <p:cNvPr id="94" name="Text Box 49"/>
            <p:cNvSpPr txBox="1">
              <a:spLocks noChangeArrowheads="1"/>
            </p:cNvSpPr>
            <p:nvPr/>
          </p:nvSpPr>
          <p:spPr bwMode="auto">
            <a:xfrm>
              <a:off x="4165004" y="5248012"/>
              <a:ext cx="62228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 smtClean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</a:t>
              </a:r>
              <a:r>
                <a:rPr lang="en-US" altLang="zh-CN" sz="2400" b="1" i="1" dirty="0" smtClean="0">
                  <a:solidFill>
                    <a:srgbClr val="C00000"/>
                  </a:solidFill>
                  <a:ea typeface="幼圆" pitchFamily="49" charset="-122"/>
                  <a:sym typeface="Symbol" pitchFamily="18" charset="2"/>
                </a:rPr>
                <a:t>S</a:t>
              </a:r>
              <a:r>
                <a:rPr lang="en-US" altLang="zh-CN" sz="2400" b="1" dirty="0" smtClean="0">
                  <a:solidFill>
                    <a:srgbClr val="C00000"/>
                  </a:solidFill>
                  <a:ea typeface="幼圆" pitchFamily="49" charset="-122"/>
                  <a:sym typeface="Symbol"/>
                </a:rPr>
                <a:t></a:t>
              </a:r>
              <a:endParaRPr lang="en-US" altLang="zh-CN" sz="2400" b="1" dirty="0">
                <a:solidFill>
                  <a:srgbClr val="C00000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3" name="任意多边形 2"/>
          <p:cNvSpPr/>
          <p:nvPr/>
        </p:nvSpPr>
        <p:spPr bwMode="auto">
          <a:xfrm>
            <a:off x="2555350" y="5007748"/>
            <a:ext cx="1526651" cy="504000"/>
          </a:xfrm>
          <a:custGeom>
            <a:avLst/>
            <a:gdLst>
              <a:gd name="connsiteX0" fmla="*/ 0 w 1526651"/>
              <a:gd name="connsiteY0" fmla="*/ 0 h 524786"/>
              <a:gd name="connsiteX1" fmla="*/ 0 w 1526651"/>
              <a:gd name="connsiteY1" fmla="*/ 524786 h 524786"/>
              <a:gd name="connsiteX2" fmla="*/ 1526651 w 1526651"/>
              <a:gd name="connsiteY2" fmla="*/ 524786 h 52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6651" h="524786">
                <a:moveTo>
                  <a:pt x="0" y="0"/>
                </a:moveTo>
                <a:lnTo>
                  <a:pt x="0" y="524786"/>
                </a:lnTo>
                <a:lnTo>
                  <a:pt x="1526651" y="524786"/>
                </a:lnTo>
              </a:path>
            </a:pathLst>
          </a:custGeom>
          <a:noFill/>
          <a:ln w="38100" cap="flat" cmpd="sng" algn="ctr">
            <a:solidFill>
              <a:srgbClr val="A50021"/>
            </a:solidFill>
            <a:prstDash val="solid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358775" algn="l" defTabSz="914400" rtl="0" eaLnBrk="1" fontAlgn="base" latinLnBrk="0" hangingPunct="1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4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4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6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6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46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46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46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46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46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46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46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46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46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46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462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462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43" grpId="0" build="p" autoUpdateAnimBg="0"/>
      <p:bldP spid="1546245" grpId="0"/>
      <p:bldP spid="1546246" grpId="0" animBg="1"/>
      <p:bldP spid="1546247" grpId="0" build="allAtOnce"/>
      <p:bldP spid="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5"/>
          <p:cNvGrpSpPr>
            <a:grpSpLocks/>
          </p:cNvGrpSpPr>
          <p:nvPr/>
        </p:nvGrpSpPr>
        <p:grpSpPr bwMode="auto">
          <a:xfrm>
            <a:off x="4714875" y="685800"/>
            <a:ext cx="4340225" cy="5122863"/>
            <a:chOff x="2970" y="432"/>
            <a:chExt cx="2734" cy="3227"/>
          </a:xfrm>
        </p:grpSpPr>
        <p:sp>
          <p:nvSpPr>
            <p:cNvPr id="88" name="Rectangle 6"/>
            <p:cNvSpPr>
              <a:spLocks noChangeArrowheads="1"/>
            </p:cNvSpPr>
            <p:nvPr/>
          </p:nvSpPr>
          <p:spPr bwMode="auto">
            <a:xfrm>
              <a:off x="2970" y="432"/>
              <a:ext cx="2716" cy="3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Rectangle 7"/>
            <p:cNvSpPr>
              <a:spLocks noChangeArrowheads="1"/>
            </p:cNvSpPr>
            <p:nvPr/>
          </p:nvSpPr>
          <p:spPr bwMode="auto">
            <a:xfrm>
              <a:off x="3009" y="2559"/>
              <a:ext cx="2646" cy="98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Rectangle 8"/>
            <p:cNvSpPr>
              <a:spLocks noChangeArrowheads="1"/>
            </p:cNvSpPr>
            <p:nvPr/>
          </p:nvSpPr>
          <p:spPr bwMode="auto">
            <a:xfrm>
              <a:off x="3012" y="967"/>
              <a:ext cx="2646" cy="6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9"/>
            <p:cNvSpPr>
              <a:spLocks noChangeAspect="1" noChangeShapeType="1"/>
            </p:cNvSpPr>
            <p:nvPr/>
          </p:nvSpPr>
          <p:spPr bwMode="auto">
            <a:xfrm>
              <a:off x="3012" y="972"/>
              <a:ext cx="264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Rectangle 10"/>
            <p:cNvSpPr>
              <a:spLocks noChangeArrowheads="1"/>
            </p:cNvSpPr>
            <p:nvPr/>
          </p:nvSpPr>
          <p:spPr bwMode="auto">
            <a:xfrm>
              <a:off x="3012" y="1963"/>
              <a:ext cx="2646" cy="98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Rectangle 11"/>
            <p:cNvSpPr>
              <a:spLocks noChangeArrowheads="1"/>
            </p:cNvSpPr>
            <p:nvPr/>
          </p:nvSpPr>
          <p:spPr bwMode="auto">
            <a:xfrm>
              <a:off x="3012" y="1654"/>
              <a:ext cx="2646" cy="309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Line 12"/>
            <p:cNvSpPr>
              <a:spLocks noChangeAspect="1" noChangeShapeType="1"/>
            </p:cNvSpPr>
            <p:nvPr/>
          </p:nvSpPr>
          <p:spPr bwMode="auto">
            <a:xfrm>
              <a:off x="4150" y="484"/>
              <a:ext cx="0" cy="336"/>
            </a:xfrm>
            <a:prstGeom prst="line">
              <a:avLst/>
            </a:prstGeom>
            <a:noFill/>
            <a:ln w="76200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Rectangle 13" descr="宽上对角线"/>
            <p:cNvSpPr>
              <a:spLocks noChangeAspect="1" noChangeArrowheads="1"/>
            </p:cNvSpPr>
            <p:nvPr/>
          </p:nvSpPr>
          <p:spPr bwMode="auto">
            <a:xfrm>
              <a:off x="3545" y="1391"/>
              <a:ext cx="1176" cy="269"/>
            </a:xfrm>
            <a:prstGeom prst="rect">
              <a:avLst/>
            </a:prstGeom>
            <a:pattFill prst="dkUpDiag">
              <a:fgClr>
                <a:srgbClr val="CCECFF"/>
              </a:fgClr>
              <a:bgClr>
                <a:schemeClr val="accent6">
                  <a:lumMod val="60000"/>
                  <a:lumOff val="40000"/>
                </a:schemeClr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14"/>
            <p:cNvSpPr>
              <a:spLocks noChangeAspect="1" noChangeShapeType="1"/>
            </p:cNvSpPr>
            <p:nvPr/>
          </p:nvSpPr>
          <p:spPr bwMode="auto">
            <a:xfrm>
              <a:off x="3417" y="962"/>
              <a:ext cx="0" cy="7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Text Box 15"/>
            <p:cNvSpPr txBox="1">
              <a:spLocks noChangeAspect="1" noChangeArrowheads="1"/>
            </p:cNvSpPr>
            <p:nvPr/>
          </p:nvSpPr>
          <p:spPr bwMode="auto">
            <a:xfrm>
              <a:off x="3314" y="1181"/>
              <a:ext cx="201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</a:rPr>
                <a:t>d</a:t>
              </a:r>
            </a:p>
          </p:txBody>
        </p:sp>
        <p:sp>
          <p:nvSpPr>
            <p:cNvPr id="98" name="Line 16"/>
            <p:cNvSpPr>
              <a:spLocks noChangeAspect="1" noChangeShapeType="1"/>
            </p:cNvSpPr>
            <p:nvPr/>
          </p:nvSpPr>
          <p:spPr bwMode="auto">
            <a:xfrm>
              <a:off x="3012" y="1660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17"/>
            <p:cNvSpPr>
              <a:spLocks noChangeAspect="1" noChangeShapeType="1"/>
            </p:cNvSpPr>
            <p:nvPr/>
          </p:nvSpPr>
          <p:spPr bwMode="auto">
            <a:xfrm>
              <a:off x="3012" y="1962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" name="Line 18"/>
            <p:cNvSpPr>
              <a:spLocks noChangeAspect="1" noChangeShapeType="1"/>
            </p:cNvSpPr>
            <p:nvPr/>
          </p:nvSpPr>
          <p:spPr bwMode="auto">
            <a:xfrm>
              <a:off x="3007" y="2957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" name="Text Box 19"/>
            <p:cNvSpPr txBox="1">
              <a:spLocks noChangeAspect="1" noChangeArrowheads="1"/>
            </p:cNvSpPr>
            <p:nvPr/>
          </p:nvSpPr>
          <p:spPr bwMode="auto">
            <a:xfrm>
              <a:off x="5046" y="718"/>
              <a:ext cx="6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地面</a:t>
              </a:r>
            </a:p>
          </p:txBody>
        </p:sp>
        <p:sp>
          <p:nvSpPr>
            <p:cNvPr id="102" name="Rectangle 20"/>
            <p:cNvSpPr>
              <a:spLocks noChangeAspect="1" noChangeArrowheads="1"/>
            </p:cNvSpPr>
            <p:nvPr/>
          </p:nvSpPr>
          <p:spPr bwMode="auto">
            <a:xfrm>
              <a:off x="5240" y="1418"/>
              <a:ext cx="4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基底</a:t>
              </a:r>
            </a:p>
          </p:txBody>
        </p:sp>
        <p:sp>
          <p:nvSpPr>
            <p:cNvPr id="103" name="Freeform 21"/>
            <p:cNvSpPr>
              <a:spLocks/>
            </p:cNvSpPr>
            <p:nvPr/>
          </p:nvSpPr>
          <p:spPr bwMode="auto">
            <a:xfrm>
              <a:off x="4858" y="829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" name="Freeform 22"/>
            <p:cNvSpPr>
              <a:spLocks/>
            </p:cNvSpPr>
            <p:nvPr/>
          </p:nvSpPr>
          <p:spPr bwMode="auto">
            <a:xfrm>
              <a:off x="5082" y="1523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05" name="Rectangle 23" descr="横向砖形"/>
            <p:cNvSpPr>
              <a:spLocks noChangeAspect="1" noChangeArrowheads="1"/>
            </p:cNvSpPr>
            <p:nvPr/>
          </p:nvSpPr>
          <p:spPr bwMode="auto">
            <a:xfrm>
              <a:off x="3963" y="820"/>
              <a:ext cx="370" cy="571"/>
            </a:xfrm>
            <a:prstGeom prst="rect">
              <a:avLst/>
            </a:prstGeom>
            <a:pattFill prst="horzBrick">
              <a:fgClr>
                <a:srgbClr val="FFCC00"/>
              </a:fgClr>
              <a:bgClr>
                <a:srgbClr val="FF9966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24"/>
            <p:cNvSpPr>
              <a:spLocks noChangeAspect="1" noChangeShapeType="1"/>
            </p:cNvSpPr>
            <p:nvPr/>
          </p:nvSpPr>
          <p:spPr bwMode="auto">
            <a:xfrm>
              <a:off x="3008" y="3546"/>
              <a:ext cx="264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7" name="Text Box 25"/>
            <p:cNvSpPr txBox="1">
              <a:spLocks noChangeAspect="1" noChangeArrowheads="1"/>
            </p:cNvSpPr>
            <p:nvPr/>
          </p:nvSpPr>
          <p:spPr bwMode="auto">
            <a:xfrm>
              <a:off x="4712" y="3288"/>
              <a:ext cx="88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计算深度</a:t>
              </a:r>
            </a:p>
          </p:txBody>
        </p:sp>
        <p:sp>
          <p:nvSpPr>
            <p:cNvPr id="108" name="Freeform 26"/>
            <p:cNvSpPr>
              <a:spLocks/>
            </p:cNvSpPr>
            <p:nvPr/>
          </p:nvSpPr>
          <p:spPr bwMode="auto">
            <a:xfrm>
              <a:off x="4533" y="3398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09" name="Line 27"/>
            <p:cNvSpPr>
              <a:spLocks noChangeAspect="1" noChangeShapeType="1"/>
            </p:cNvSpPr>
            <p:nvPr/>
          </p:nvSpPr>
          <p:spPr bwMode="auto">
            <a:xfrm>
              <a:off x="4141" y="954"/>
              <a:ext cx="0" cy="2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0" name="Freeform 28"/>
            <p:cNvSpPr>
              <a:spLocks/>
            </p:cNvSpPr>
            <p:nvPr/>
          </p:nvSpPr>
          <p:spPr bwMode="auto">
            <a:xfrm>
              <a:off x="3289" y="966"/>
              <a:ext cx="855" cy="2568"/>
            </a:xfrm>
            <a:custGeom>
              <a:avLst/>
              <a:gdLst>
                <a:gd name="T0" fmla="*/ 855 w 855"/>
                <a:gd name="T1" fmla="*/ 0 h 2568"/>
                <a:gd name="T2" fmla="*/ 538 w 855"/>
                <a:gd name="T3" fmla="*/ 696 h 2568"/>
                <a:gd name="T4" fmla="*/ 336 w 855"/>
                <a:gd name="T5" fmla="*/ 1003 h 2568"/>
                <a:gd name="T6" fmla="*/ 77 w 855"/>
                <a:gd name="T7" fmla="*/ 1982 h 2568"/>
                <a:gd name="T8" fmla="*/ 0 w 855"/>
                <a:gd name="T9" fmla="*/ 2568 h 2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5" h="2568">
                  <a:moveTo>
                    <a:pt x="855" y="0"/>
                  </a:moveTo>
                  <a:lnTo>
                    <a:pt x="538" y="696"/>
                  </a:lnTo>
                  <a:lnTo>
                    <a:pt x="336" y="1003"/>
                  </a:lnTo>
                  <a:lnTo>
                    <a:pt x="77" y="1982"/>
                  </a:lnTo>
                  <a:lnTo>
                    <a:pt x="0" y="2568"/>
                  </a:lnTo>
                </a:path>
              </a:pathLst>
            </a:custGeom>
            <a:noFill/>
            <a:ln w="28575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29"/>
            <p:cNvSpPr>
              <a:spLocks/>
            </p:cNvSpPr>
            <p:nvPr/>
          </p:nvSpPr>
          <p:spPr bwMode="auto">
            <a:xfrm>
              <a:off x="4297" y="1662"/>
              <a:ext cx="740" cy="1881"/>
            </a:xfrm>
            <a:custGeom>
              <a:avLst/>
              <a:gdLst>
                <a:gd name="T0" fmla="*/ 740 w 740"/>
                <a:gd name="T1" fmla="*/ 0 h 1881"/>
                <a:gd name="T2" fmla="*/ 720 w 740"/>
                <a:gd name="T3" fmla="*/ 269 h 1881"/>
                <a:gd name="T4" fmla="*/ 644 w 740"/>
                <a:gd name="T5" fmla="*/ 585 h 1881"/>
                <a:gd name="T6" fmla="*/ 480 w 740"/>
                <a:gd name="T7" fmla="*/ 1008 h 1881"/>
                <a:gd name="T8" fmla="*/ 183 w 740"/>
                <a:gd name="T9" fmla="*/ 1469 h 1881"/>
                <a:gd name="T10" fmla="*/ 39 w 740"/>
                <a:gd name="T11" fmla="*/ 1718 h 1881"/>
                <a:gd name="T12" fmla="*/ 0 w 740"/>
                <a:gd name="T13" fmla="*/ 1881 h 1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1881">
                  <a:moveTo>
                    <a:pt x="740" y="0"/>
                  </a:moveTo>
                  <a:cubicBezTo>
                    <a:pt x="738" y="86"/>
                    <a:pt x="736" y="172"/>
                    <a:pt x="720" y="269"/>
                  </a:cubicBezTo>
                  <a:cubicBezTo>
                    <a:pt x="704" y="366"/>
                    <a:pt x="684" y="462"/>
                    <a:pt x="644" y="585"/>
                  </a:cubicBezTo>
                  <a:cubicBezTo>
                    <a:pt x="604" y="708"/>
                    <a:pt x="557" y="861"/>
                    <a:pt x="480" y="1008"/>
                  </a:cubicBezTo>
                  <a:cubicBezTo>
                    <a:pt x="403" y="1155"/>
                    <a:pt x="256" y="1351"/>
                    <a:pt x="183" y="1469"/>
                  </a:cubicBezTo>
                  <a:cubicBezTo>
                    <a:pt x="110" y="1587"/>
                    <a:pt x="70" y="1649"/>
                    <a:pt x="39" y="1718"/>
                  </a:cubicBezTo>
                  <a:cubicBezTo>
                    <a:pt x="8" y="1787"/>
                    <a:pt x="4" y="1834"/>
                    <a:pt x="0" y="1881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Text Box 30"/>
            <p:cNvSpPr txBox="1">
              <a:spLocks noChangeAspect="1" noChangeArrowheads="1"/>
            </p:cNvSpPr>
            <p:nvPr/>
          </p:nvSpPr>
          <p:spPr bwMode="auto">
            <a:xfrm>
              <a:off x="3052" y="1194"/>
              <a:ext cx="201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sym typeface="Symbol" pitchFamily="18" charset="2"/>
                </a:rPr>
                <a:t></a:t>
              </a:r>
            </a:p>
          </p:txBody>
        </p:sp>
        <p:sp>
          <p:nvSpPr>
            <p:cNvPr id="113" name="Line 31"/>
            <p:cNvSpPr>
              <a:spLocks noChangeAspect="1" noChangeShapeType="1"/>
            </p:cNvSpPr>
            <p:nvPr/>
          </p:nvSpPr>
          <p:spPr bwMode="auto">
            <a:xfrm flipV="1">
              <a:off x="5035" y="1097"/>
              <a:ext cx="0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4" name="Text Box 32"/>
            <p:cNvSpPr txBox="1">
              <a:spLocks noChangeAspect="1" noChangeArrowheads="1"/>
            </p:cNvSpPr>
            <p:nvPr/>
          </p:nvSpPr>
          <p:spPr bwMode="auto">
            <a:xfrm>
              <a:off x="4345" y="938"/>
              <a:ext cx="3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115" name="Line 33"/>
            <p:cNvSpPr>
              <a:spLocks noChangeAspect="1" noChangeShapeType="1"/>
            </p:cNvSpPr>
            <p:nvPr/>
          </p:nvSpPr>
          <p:spPr bwMode="auto">
            <a:xfrm>
              <a:off x="3830" y="1225"/>
              <a:ext cx="120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" name="Line 34"/>
            <p:cNvSpPr>
              <a:spLocks noChangeAspect="1" noChangeShapeType="1"/>
            </p:cNvSpPr>
            <p:nvPr/>
          </p:nvSpPr>
          <p:spPr bwMode="auto">
            <a:xfrm flipV="1">
              <a:off x="3830" y="1097"/>
              <a:ext cx="0" cy="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7" name="Text Box 35"/>
            <p:cNvSpPr txBox="1">
              <a:spLocks noChangeAspect="1" noChangeArrowheads="1"/>
            </p:cNvSpPr>
            <p:nvPr/>
          </p:nvSpPr>
          <p:spPr bwMode="auto">
            <a:xfrm>
              <a:off x="4381" y="162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8" name="Line 36"/>
            <p:cNvSpPr>
              <a:spLocks noChangeAspect="1" noChangeShapeType="1"/>
            </p:cNvSpPr>
            <p:nvPr/>
          </p:nvSpPr>
          <p:spPr bwMode="auto">
            <a:xfrm>
              <a:off x="4152" y="1664"/>
              <a:ext cx="875" cy="1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9" name="Line 37"/>
            <p:cNvSpPr>
              <a:spLocks noChangeAspect="1" noChangeShapeType="1"/>
            </p:cNvSpPr>
            <p:nvPr/>
          </p:nvSpPr>
          <p:spPr bwMode="auto">
            <a:xfrm>
              <a:off x="3834" y="1664"/>
              <a:ext cx="316" cy="1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0" name="Rectangle 38"/>
            <p:cNvSpPr>
              <a:spLocks noChangeAspect="1" noChangeArrowheads="1"/>
            </p:cNvSpPr>
            <p:nvPr/>
          </p:nvSpPr>
          <p:spPr bwMode="auto">
            <a:xfrm>
              <a:off x="3791" y="1634"/>
              <a:ext cx="3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d</a:t>
              </a:r>
            </a:p>
          </p:txBody>
        </p:sp>
        <p:sp>
          <p:nvSpPr>
            <p:cNvPr id="121" name="Line 39"/>
            <p:cNvSpPr>
              <a:spLocks noChangeShapeType="1"/>
            </p:cNvSpPr>
            <p:nvPr/>
          </p:nvSpPr>
          <p:spPr bwMode="auto">
            <a:xfrm>
              <a:off x="3957" y="971"/>
              <a:ext cx="4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Text Box 40"/>
            <p:cNvSpPr txBox="1">
              <a:spLocks noChangeArrowheads="1"/>
            </p:cNvSpPr>
            <p:nvPr/>
          </p:nvSpPr>
          <p:spPr bwMode="auto">
            <a:xfrm>
              <a:off x="4690" y="2913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23" name="Line 41"/>
            <p:cNvSpPr>
              <a:spLocks noChangeShapeType="1"/>
            </p:cNvSpPr>
            <p:nvPr/>
          </p:nvSpPr>
          <p:spPr bwMode="auto">
            <a:xfrm>
              <a:off x="3409" y="2846"/>
              <a:ext cx="123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42"/>
            <p:cNvSpPr>
              <a:spLocks noChangeShapeType="1"/>
            </p:cNvSpPr>
            <p:nvPr/>
          </p:nvSpPr>
          <p:spPr bwMode="auto">
            <a:xfrm>
              <a:off x="4647" y="2896"/>
              <a:ext cx="131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Text Box 43"/>
            <p:cNvSpPr txBox="1">
              <a:spLocks noChangeArrowheads="1"/>
            </p:cNvSpPr>
            <p:nvPr/>
          </p:nvSpPr>
          <p:spPr bwMode="auto">
            <a:xfrm>
              <a:off x="3402" y="2923"/>
              <a:ext cx="3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2800" b="1" baseline="-25000" dirty="0" err="1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sz</a:t>
              </a:r>
              <a:endParaRPr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531908" name="Rectangle 4"/>
          <p:cNvSpPr>
            <a:spLocks noChangeArrowheads="1"/>
          </p:cNvSpPr>
          <p:nvPr/>
        </p:nvSpPr>
        <p:spPr bwMode="auto">
          <a:xfrm>
            <a:off x="168275" y="521821"/>
            <a:ext cx="3549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计算步骤 </a:t>
            </a:r>
            <a:r>
              <a:rPr kumimoji="1" lang="en-US" altLang="zh-CN" sz="2800" b="1">
                <a:solidFill>
                  <a:srgbClr val="000066"/>
                </a:solidFill>
                <a:latin typeface="Times New Roman"/>
                <a:ea typeface="幼圆" pitchFamily="49" charset="-122"/>
                <a:sym typeface="Symbol" pitchFamily="18" charset="2"/>
              </a:rPr>
              <a:t>–</a:t>
            </a:r>
            <a:r>
              <a:rPr kumimoji="1" lang="en-US" altLang="zh-CN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情况</a:t>
            </a:r>
            <a:r>
              <a:rPr kumimoji="1" lang="en-US" altLang="zh-CN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1</a:t>
            </a:r>
          </a:p>
        </p:txBody>
      </p:sp>
      <p:sp>
        <p:nvSpPr>
          <p:cNvPr id="1531909" name="Rectangle 5"/>
          <p:cNvSpPr>
            <a:spLocks noChangeArrowheads="1"/>
          </p:cNvSpPr>
          <p:nvPr/>
        </p:nvSpPr>
        <p:spPr bwMode="auto">
          <a:xfrm>
            <a:off x="1901825" y="5902325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531910" name="Text Box 6"/>
          <p:cNvSpPr txBox="1">
            <a:spLocks noChangeArrowheads="1"/>
          </p:cNvSpPr>
          <p:nvPr/>
        </p:nvSpPr>
        <p:spPr bwMode="auto">
          <a:xfrm>
            <a:off x="576264" y="1094908"/>
            <a:ext cx="2586036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58775" indent="-35877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8743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2402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606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9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54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1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68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26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rabicPeriod" startAt="5"/>
            </a:pPr>
            <a:r>
              <a:rPr lang="zh-CN" altLang="en-US" b="1" dirty="0" smtClean="0">
                <a:solidFill>
                  <a:srgbClr val="A50021"/>
                </a:solidFill>
                <a:ea typeface="幼圆" pitchFamily="49" charset="-122"/>
              </a:rPr>
              <a:t>地基</a:t>
            </a: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</a:rPr>
              <a:t>分层</a:t>
            </a:r>
            <a:r>
              <a:rPr lang="en-US" altLang="zh-CN" b="1" i="1" dirty="0" smtClean="0">
                <a:solidFill>
                  <a:srgbClr val="A50021"/>
                </a:solidFill>
                <a:ea typeface="幼圆" pitchFamily="49" charset="-122"/>
              </a:rPr>
              <a:t>H</a:t>
            </a:r>
            <a:r>
              <a:rPr lang="en-US" altLang="zh-CN" b="1" baseline="-25000" dirty="0" smtClean="0">
                <a:solidFill>
                  <a:srgbClr val="A50021"/>
                </a:solidFill>
                <a:ea typeface="幼圆" pitchFamily="49" charset="-122"/>
              </a:rPr>
              <a:t>i</a:t>
            </a:r>
            <a:endParaRPr lang="en-US" altLang="zh-CN" b="1" baseline="-25000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531912" name="Rectangle 8"/>
          <p:cNvSpPr>
            <a:spLocks noChangeArrowheads="1"/>
          </p:cNvSpPr>
          <p:nvPr/>
        </p:nvSpPr>
        <p:spPr bwMode="auto">
          <a:xfrm>
            <a:off x="1000125" y="1603322"/>
            <a:ext cx="3771900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77800" indent="-177800" eaLnBrk="0" hangingPunct="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不同土层界面</a:t>
            </a:r>
            <a:endParaRPr kumimoji="1"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177800" indent="-177800" eaLnBrk="0" hangingPunct="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地下水位线</a:t>
            </a:r>
          </a:p>
          <a:p>
            <a:pPr marL="177800" indent="-177800" eaLnBrk="0" hangingPunct="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厚度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不宜</a:t>
            </a:r>
            <a:r>
              <a:rPr kumimoji="1" lang="en-US" altLang="zh-CN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0.4</a:t>
            </a:r>
            <a:r>
              <a:rPr kumimoji="1" lang="en-US" altLang="zh-CN" sz="20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或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4m</a:t>
            </a:r>
          </a:p>
          <a:p>
            <a:pPr marL="177800" indent="-177800" eaLnBrk="0" hangingPunct="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FontTx/>
              <a:buChar char="•"/>
            </a:pPr>
            <a:r>
              <a:rPr kumimoji="1"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 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变化明显的土层，适当取小</a:t>
            </a:r>
          </a:p>
        </p:txBody>
      </p:sp>
      <p:sp>
        <p:nvSpPr>
          <p:cNvPr id="6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2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不考虑回弹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565150" y="3239298"/>
            <a:ext cx="3663950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58775" indent="-35877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8743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2402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606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9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54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1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68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26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rabicPeriod" startAt="6"/>
            </a:pPr>
            <a:r>
              <a:rPr lang="zh-CN" altLang="en-US" b="1" dirty="0" smtClean="0">
                <a:solidFill>
                  <a:srgbClr val="A50021"/>
                </a:solidFill>
                <a:ea typeface="幼圆" pitchFamily="49" charset="-122"/>
              </a:rPr>
              <a:t>计算</a:t>
            </a: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</a:rPr>
              <a:t>每层沉降量</a:t>
            </a:r>
            <a:r>
              <a:rPr lang="en-US" altLang="zh-CN" b="1" i="1" dirty="0" smtClean="0">
                <a:solidFill>
                  <a:srgbClr val="A50021"/>
                </a:solidFill>
                <a:ea typeface="幼圆" pitchFamily="49" charset="-122"/>
              </a:rPr>
              <a:t>S</a:t>
            </a:r>
            <a:r>
              <a:rPr lang="en-US" altLang="zh-CN" b="1" baseline="-25000" dirty="0" smtClean="0">
                <a:solidFill>
                  <a:srgbClr val="A50021"/>
                </a:solidFill>
                <a:ea typeface="幼圆" pitchFamily="49" charset="-122"/>
              </a:rPr>
              <a:t>i</a:t>
            </a:r>
          </a:p>
        </p:txBody>
      </p:sp>
      <p:sp>
        <p:nvSpPr>
          <p:cNvPr id="64" name="Text Box 6"/>
          <p:cNvSpPr txBox="1">
            <a:spLocks noChangeArrowheads="1"/>
          </p:cNvSpPr>
          <p:nvPr/>
        </p:nvSpPr>
        <p:spPr bwMode="auto">
          <a:xfrm>
            <a:off x="546100" y="4772823"/>
            <a:ext cx="3663950" cy="493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58775" indent="-35877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8743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2402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606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9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54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1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68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26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457200" indent="-457200">
              <a:lnSpc>
                <a:spcPct val="120000"/>
              </a:lnSpc>
              <a:buFont typeface="+mj-lt"/>
              <a:buAutoNum type="arabicPeriod" startAt="7"/>
            </a:pPr>
            <a:r>
              <a:rPr lang="en-US" altLang="zh-CN" b="1" dirty="0" smtClean="0">
                <a:solidFill>
                  <a:srgbClr val="A50021"/>
                </a:solidFill>
                <a:ea typeface="幼圆" pitchFamily="49" charset="-122"/>
              </a:rPr>
              <a:t> </a:t>
            </a: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</a:rPr>
              <a:t>各层沉降量叠加</a:t>
            </a:r>
            <a:r>
              <a:rPr lang="zh-CN" altLang="en-US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</a:t>
            </a:r>
            <a:r>
              <a:rPr lang="en-US" altLang="zh-CN" b="1" i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S</a:t>
            </a:r>
            <a:r>
              <a:rPr lang="en-US" altLang="zh-CN" b="1" baseline="-25000" dirty="0">
                <a:solidFill>
                  <a:srgbClr val="A50021"/>
                </a:solidFill>
                <a:ea typeface="幼圆" pitchFamily="49" charset="-122"/>
              </a:rPr>
              <a:t>i</a:t>
            </a:r>
            <a:endParaRPr lang="zh-CN" altLang="en-US" b="1" baseline="-25000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65" name="Rectangle 8"/>
          <p:cNvSpPr>
            <a:spLocks noChangeArrowheads="1"/>
          </p:cNvSpPr>
          <p:nvPr/>
        </p:nvSpPr>
        <p:spPr bwMode="auto">
          <a:xfrm>
            <a:off x="1729417" y="3883391"/>
            <a:ext cx="2543174" cy="769441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</a:pPr>
            <a:r>
              <a:rPr kumimoji="1" lang="zh-CN" altLang="en-US" sz="2000" b="1" dirty="0" smtClean="0">
                <a:solidFill>
                  <a:schemeClr val="bg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按前述单一土层的</a:t>
            </a:r>
            <a:r>
              <a:rPr kumimoji="1" lang="zh-CN" altLang="en-US" sz="2000" b="1" dirty="0">
                <a:solidFill>
                  <a:schemeClr val="bg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沉降</a:t>
            </a:r>
            <a:r>
              <a:rPr kumimoji="1" lang="zh-CN" altLang="en-US" sz="2000" b="1" dirty="0" smtClean="0">
                <a:solidFill>
                  <a:schemeClr val="bg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量计算方法计算</a:t>
            </a:r>
            <a:endParaRPr kumimoji="1" lang="zh-CN" altLang="en-US" sz="2000" b="1" dirty="0">
              <a:solidFill>
                <a:schemeClr val="bg1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67" name="AutoShape 6"/>
          <p:cNvSpPr>
            <a:spLocks noChangeArrowheads="1"/>
          </p:cNvSpPr>
          <p:nvPr/>
        </p:nvSpPr>
        <p:spPr bwMode="auto">
          <a:xfrm>
            <a:off x="1254275" y="3952875"/>
            <a:ext cx="403076" cy="422768"/>
          </a:xfrm>
          <a:prstGeom prst="homePlate">
            <a:avLst>
              <a:gd name="adj" fmla="val 29669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568950" y="3437626"/>
            <a:ext cx="3257550" cy="555626"/>
            <a:chOff x="5568950" y="3429000"/>
            <a:chExt cx="3257550" cy="555626"/>
          </a:xfrm>
        </p:grpSpPr>
        <p:grpSp>
          <p:nvGrpSpPr>
            <p:cNvPr id="126" name="Group 12"/>
            <p:cNvGrpSpPr>
              <a:grpSpLocks/>
            </p:cNvGrpSpPr>
            <p:nvPr/>
          </p:nvGrpSpPr>
          <p:grpSpPr bwMode="auto">
            <a:xfrm>
              <a:off x="5568950" y="3429000"/>
              <a:ext cx="3257550" cy="457200"/>
              <a:chOff x="3508" y="2160"/>
              <a:chExt cx="2052" cy="288"/>
            </a:xfrm>
          </p:grpSpPr>
          <p:sp>
            <p:nvSpPr>
              <p:cNvPr id="127" name="Freeform 13" descr="宽下对角线"/>
              <p:cNvSpPr>
                <a:spLocks/>
              </p:cNvSpPr>
              <p:nvPr/>
            </p:nvSpPr>
            <p:spPr bwMode="auto">
              <a:xfrm>
                <a:off x="3508" y="2192"/>
                <a:ext cx="1439" cy="243"/>
              </a:xfrm>
              <a:custGeom>
                <a:avLst/>
                <a:gdLst>
                  <a:gd name="T0" fmla="*/ 70 w 1446"/>
                  <a:gd name="T1" fmla="*/ 0 h 243"/>
                  <a:gd name="T2" fmla="*/ 1446 w 1446"/>
                  <a:gd name="T3" fmla="*/ 0 h 243"/>
                  <a:gd name="T4" fmla="*/ 1408 w 1446"/>
                  <a:gd name="T5" fmla="*/ 122 h 243"/>
                  <a:gd name="T6" fmla="*/ 1369 w 1446"/>
                  <a:gd name="T7" fmla="*/ 243 h 243"/>
                  <a:gd name="T8" fmla="*/ 0 w 1446"/>
                  <a:gd name="T9" fmla="*/ 243 h 243"/>
                  <a:gd name="T10" fmla="*/ 70 w 1446"/>
                  <a:gd name="T11" fmla="*/ 0 h 243"/>
                  <a:gd name="connsiteX0" fmla="*/ 438 w 9954"/>
                  <a:gd name="connsiteY0" fmla="*/ 0 h 10000"/>
                  <a:gd name="connsiteX1" fmla="*/ 9954 w 9954"/>
                  <a:gd name="connsiteY1" fmla="*/ 0 h 10000"/>
                  <a:gd name="connsiteX2" fmla="*/ 9691 w 9954"/>
                  <a:gd name="connsiteY2" fmla="*/ 5021 h 10000"/>
                  <a:gd name="connsiteX3" fmla="*/ 9421 w 9954"/>
                  <a:gd name="connsiteY3" fmla="*/ 10000 h 10000"/>
                  <a:gd name="connsiteX4" fmla="*/ 0 w 9954"/>
                  <a:gd name="connsiteY4" fmla="*/ 10000 h 10000"/>
                  <a:gd name="connsiteX5" fmla="*/ 438 w 9954"/>
                  <a:gd name="connsiteY5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54" h="10000">
                    <a:moveTo>
                      <a:pt x="438" y="0"/>
                    </a:moveTo>
                    <a:lnTo>
                      <a:pt x="9954" y="0"/>
                    </a:lnTo>
                    <a:cubicBezTo>
                      <a:pt x="9866" y="1674"/>
                      <a:pt x="9779" y="3347"/>
                      <a:pt x="9691" y="5021"/>
                    </a:cubicBezTo>
                    <a:lnTo>
                      <a:pt x="9421" y="10000"/>
                    </a:lnTo>
                    <a:lnTo>
                      <a:pt x="0" y="10000"/>
                    </a:lnTo>
                    <a:lnTo>
                      <a:pt x="438" y="0"/>
                    </a:lnTo>
                    <a:close/>
                  </a:path>
                </a:pathLst>
              </a:custGeom>
              <a:pattFill prst="wdDnDiag">
                <a:fgClr>
                  <a:schemeClr val="accent2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Text Box 14"/>
              <p:cNvSpPr txBox="1">
                <a:spLocks noChangeAspect="1" noChangeArrowheads="1"/>
              </p:cNvSpPr>
              <p:nvPr/>
            </p:nvSpPr>
            <p:spPr bwMode="auto">
              <a:xfrm>
                <a:off x="5179" y="2160"/>
                <a:ext cx="38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 i="1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H</a:t>
                </a:r>
                <a:r>
                  <a:rPr kumimoji="1" lang="en-US" altLang="zh-CN" sz="2400" b="1" baseline="-25000" dirty="0">
                    <a:solidFill>
                      <a:srgbClr val="000066"/>
                    </a:solidFill>
                    <a:cs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129" name="Line 15"/>
              <p:cNvSpPr>
                <a:spLocks noChangeShapeType="1"/>
              </p:cNvSpPr>
              <p:nvPr/>
            </p:nvSpPr>
            <p:spPr bwMode="auto">
              <a:xfrm>
                <a:off x="5146" y="2191"/>
                <a:ext cx="0" cy="24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0" name="Group 57"/>
            <p:cNvGrpSpPr>
              <a:grpSpLocks/>
            </p:cNvGrpSpPr>
            <p:nvPr/>
          </p:nvGrpSpPr>
          <p:grpSpPr bwMode="auto">
            <a:xfrm>
              <a:off x="5616575" y="3525838"/>
              <a:ext cx="2193925" cy="458788"/>
              <a:chOff x="3538" y="2221"/>
              <a:chExt cx="1382" cy="289"/>
            </a:xfrm>
          </p:grpSpPr>
          <p:sp>
            <p:nvSpPr>
              <p:cNvPr id="131" name="Rectangle 58"/>
              <p:cNvSpPr>
                <a:spLocks noChangeAspect="1" noChangeArrowheads="1"/>
              </p:cNvSpPr>
              <p:nvPr/>
            </p:nvSpPr>
            <p:spPr bwMode="auto">
              <a:xfrm>
                <a:off x="3654" y="2222"/>
                <a:ext cx="37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 b="1" i="1" dirty="0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kumimoji="1" lang="en-US" altLang="zh-CN" sz="2400" b="1" baseline="-25000" dirty="0" err="1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szi</a:t>
                </a:r>
                <a:endParaRPr kumimoji="1"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32" name="Text Box 59"/>
              <p:cNvSpPr txBox="1">
                <a:spLocks noChangeAspect="1" noChangeArrowheads="1"/>
              </p:cNvSpPr>
              <p:nvPr/>
            </p:nvSpPr>
            <p:spPr bwMode="auto">
              <a:xfrm>
                <a:off x="4345" y="2221"/>
                <a:ext cx="3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zh-CN" altLang="en-US" sz="2400" b="1" i="1" dirty="0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kumimoji="1" lang="en-US" altLang="zh-CN" sz="2400" b="1" baseline="-25000" dirty="0" err="1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zi</a:t>
                </a:r>
                <a:endParaRPr kumimoji="1" lang="en-US" altLang="zh-CN" sz="2400" b="1" dirty="0">
                  <a:solidFill>
                    <a:srgbClr val="000066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Line 60"/>
              <p:cNvSpPr>
                <a:spLocks noChangeShapeType="1"/>
              </p:cNvSpPr>
              <p:nvPr/>
            </p:nvSpPr>
            <p:spPr bwMode="auto">
              <a:xfrm>
                <a:off x="3538" y="2315"/>
                <a:ext cx="59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Line 61"/>
              <p:cNvSpPr>
                <a:spLocks noChangeShapeType="1"/>
              </p:cNvSpPr>
              <p:nvPr/>
            </p:nvSpPr>
            <p:spPr bwMode="auto">
              <a:xfrm>
                <a:off x="4142" y="2314"/>
                <a:ext cx="77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5" name="直接连接符 4"/>
            <p:cNvCxnSpPr/>
            <p:nvPr/>
          </p:nvCxnSpPr>
          <p:spPr bwMode="auto">
            <a:xfrm>
              <a:off x="6575223" y="3551890"/>
              <a:ext cx="0" cy="243135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7" name="Group 52"/>
          <p:cNvGrpSpPr>
            <a:grpSpLocks/>
          </p:cNvGrpSpPr>
          <p:nvPr/>
        </p:nvGrpSpPr>
        <p:grpSpPr bwMode="auto">
          <a:xfrm>
            <a:off x="4779963" y="3475041"/>
            <a:ext cx="4176713" cy="1673226"/>
            <a:chOff x="3011" y="2189"/>
            <a:chExt cx="2631" cy="1054"/>
          </a:xfrm>
        </p:grpSpPr>
        <p:sp>
          <p:nvSpPr>
            <p:cNvPr id="79" name="Line 54"/>
            <p:cNvSpPr>
              <a:spLocks noChangeShapeType="1"/>
            </p:cNvSpPr>
            <p:nvPr/>
          </p:nvSpPr>
          <p:spPr bwMode="auto">
            <a:xfrm>
              <a:off x="3011" y="2440"/>
              <a:ext cx="2631" cy="0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55"/>
            <p:cNvSpPr>
              <a:spLocks noChangeShapeType="1"/>
            </p:cNvSpPr>
            <p:nvPr/>
          </p:nvSpPr>
          <p:spPr bwMode="auto">
            <a:xfrm>
              <a:off x="3011" y="2701"/>
              <a:ext cx="2631" cy="0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56"/>
            <p:cNvSpPr>
              <a:spLocks noChangeShapeType="1"/>
            </p:cNvSpPr>
            <p:nvPr/>
          </p:nvSpPr>
          <p:spPr bwMode="auto">
            <a:xfrm>
              <a:off x="3011" y="3243"/>
              <a:ext cx="2631" cy="0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53"/>
            <p:cNvSpPr>
              <a:spLocks noChangeShapeType="1"/>
            </p:cNvSpPr>
            <p:nvPr/>
          </p:nvSpPr>
          <p:spPr bwMode="auto">
            <a:xfrm>
              <a:off x="3011" y="2189"/>
              <a:ext cx="2631" cy="0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1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3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31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19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319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319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1908" grpId="0" build="p" autoUpdateAnimBg="0"/>
      <p:bldP spid="1531910" grpId="0"/>
      <p:bldP spid="1531912" grpId="0" build="p" autoUpdateAnimBg="0"/>
      <p:bldP spid="63" grpId="0"/>
      <p:bldP spid="64" grpId="0"/>
      <p:bldP spid="65" grpId="0" animBg="1"/>
      <p:bldP spid="6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2563" name="Group 3"/>
          <p:cNvGrpSpPr>
            <a:grpSpLocks/>
          </p:cNvGrpSpPr>
          <p:nvPr/>
        </p:nvGrpSpPr>
        <p:grpSpPr bwMode="auto">
          <a:xfrm>
            <a:off x="4883150" y="679450"/>
            <a:ext cx="4179888" cy="5122863"/>
            <a:chOff x="3050" y="432"/>
            <a:chExt cx="2633" cy="3227"/>
          </a:xfrm>
        </p:grpSpPr>
        <p:sp>
          <p:nvSpPr>
            <p:cNvPr id="1602564" name="Rectangle 4"/>
            <p:cNvSpPr>
              <a:spLocks noChangeArrowheads="1"/>
            </p:cNvSpPr>
            <p:nvPr/>
          </p:nvSpPr>
          <p:spPr bwMode="auto">
            <a:xfrm>
              <a:off x="3050" y="432"/>
              <a:ext cx="2633" cy="3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2565" name="Rectangle 5"/>
            <p:cNvSpPr>
              <a:spLocks noChangeArrowheads="1"/>
            </p:cNvSpPr>
            <p:nvPr/>
          </p:nvSpPr>
          <p:spPr bwMode="auto">
            <a:xfrm>
              <a:off x="3172" y="1651"/>
              <a:ext cx="2436" cy="189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2566" name="Rectangle 6"/>
            <p:cNvSpPr>
              <a:spLocks noChangeArrowheads="1"/>
            </p:cNvSpPr>
            <p:nvPr/>
          </p:nvSpPr>
          <p:spPr bwMode="auto">
            <a:xfrm>
              <a:off x="3172" y="967"/>
              <a:ext cx="2436" cy="6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2567" name="Line 7"/>
            <p:cNvSpPr>
              <a:spLocks noChangeAspect="1" noChangeShapeType="1"/>
            </p:cNvSpPr>
            <p:nvPr/>
          </p:nvSpPr>
          <p:spPr bwMode="auto">
            <a:xfrm>
              <a:off x="3162" y="972"/>
              <a:ext cx="243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2568" name="Line 8"/>
            <p:cNvSpPr>
              <a:spLocks noChangeAspect="1" noChangeShapeType="1"/>
            </p:cNvSpPr>
            <p:nvPr/>
          </p:nvSpPr>
          <p:spPr bwMode="auto">
            <a:xfrm>
              <a:off x="4050" y="484"/>
              <a:ext cx="0" cy="336"/>
            </a:xfrm>
            <a:prstGeom prst="line">
              <a:avLst/>
            </a:prstGeom>
            <a:noFill/>
            <a:ln w="76200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2569" name="Rectangle 9" descr="宽上对角线"/>
            <p:cNvSpPr>
              <a:spLocks noChangeAspect="1" noChangeArrowheads="1"/>
            </p:cNvSpPr>
            <p:nvPr/>
          </p:nvSpPr>
          <p:spPr bwMode="auto">
            <a:xfrm>
              <a:off x="3445" y="1391"/>
              <a:ext cx="1176" cy="269"/>
            </a:xfrm>
            <a:prstGeom prst="rect">
              <a:avLst/>
            </a:prstGeom>
            <a:pattFill prst="dkUpDiag">
              <a:fgClr>
                <a:srgbClr val="CCECFF"/>
              </a:fgClr>
              <a:bgClr>
                <a:schemeClr val="accent6">
                  <a:lumMod val="60000"/>
                  <a:lumOff val="40000"/>
                </a:schemeClr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2570" name="Line 10"/>
            <p:cNvSpPr>
              <a:spLocks noChangeAspect="1" noChangeShapeType="1"/>
            </p:cNvSpPr>
            <p:nvPr/>
          </p:nvSpPr>
          <p:spPr bwMode="auto">
            <a:xfrm>
              <a:off x="3166" y="1660"/>
              <a:ext cx="243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2571" name="Text Box 11"/>
            <p:cNvSpPr txBox="1">
              <a:spLocks noChangeAspect="1" noChangeArrowheads="1"/>
            </p:cNvSpPr>
            <p:nvPr/>
          </p:nvSpPr>
          <p:spPr bwMode="auto">
            <a:xfrm>
              <a:off x="4666" y="728"/>
              <a:ext cx="6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地面</a:t>
              </a:r>
            </a:p>
          </p:txBody>
        </p:sp>
        <p:sp>
          <p:nvSpPr>
            <p:cNvPr id="1602572" name="Freeform 12"/>
            <p:cNvSpPr>
              <a:spLocks/>
            </p:cNvSpPr>
            <p:nvPr/>
          </p:nvSpPr>
          <p:spPr bwMode="auto">
            <a:xfrm>
              <a:off x="4478" y="819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602573" name="Rectangle 13" descr="横向砖形"/>
            <p:cNvSpPr>
              <a:spLocks noChangeAspect="1" noChangeArrowheads="1"/>
            </p:cNvSpPr>
            <p:nvPr/>
          </p:nvSpPr>
          <p:spPr bwMode="auto">
            <a:xfrm>
              <a:off x="3863" y="820"/>
              <a:ext cx="370" cy="571"/>
            </a:xfrm>
            <a:prstGeom prst="rect">
              <a:avLst/>
            </a:prstGeom>
            <a:pattFill prst="horzBrick">
              <a:fgClr>
                <a:srgbClr val="FFCC00"/>
              </a:fgClr>
              <a:bgClr>
                <a:srgbClr val="FF9966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2574" name="Line 14"/>
            <p:cNvSpPr>
              <a:spLocks noChangeAspect="1" noChangeShapeType="1"/>
            </p:cNvSpPr>
            <p:nvPr/>
          </p:nvSpPr>
          <p:spPr bwMode="auto">
            <a:xfrm>
              <a:off x="4041" y="954"/>
              <a:ext cx="0" cy="25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02575" name="Text Box 15"/>
            <p:cNvSpPr txBox="1">
              <a:spLocks noChangeAspect="1" noChangeArrowheads="1"/>
            </p:cNvSpPr>
            <p:nvPr/>
          </p:nvSpPr>
          <p:spPr bwMode="auto">
            <a:xfrm>
              <a:off x="4281" y="162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02576" name="Line 16"/>
            <p:cNvSpPr>
              <a:spLocks noChangeAspect="1" noChangeShapeType="1"/>
            </p:cNvSpPr>
            <p:nvPr/>
          </p:nvSpPr>
          <p:spPr bwMode="auto">
            <a:xfrm>
              <a:off x="4052" y="1658"/>
              <a:ext cx="875" cy="1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02577" name="Line 17"/>
            <p:cNvSpPr>
              <a:spLocks noChangeShapeType="1"/>
            </p:cNvSpPr>
            <p:nvPr/>
          </p:nvSpPr>
          <p:spPr bwMode="auto">
            <a:xfrm>
              <a:off x="3857" y="971"/>
              <a:ext cx="4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2578" name="Text Box 18"/>
            <p:cNvSpPr txBox="1">
              <a:spLocks noChangeArrowheads="1"/>
            </p:cNvSpPr>
            <p:nvPr/>
          </p:nvSpPr>
          <p:spPr bwMode="auto">
            <a:xfrm>
              <a:off x="4666" y="2900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602579" name="Line 19"/>
            <p:cNvSpPr>
              <a:spLocks noChangeShapeType="1"/>
            </p:cNvSpPr>
            <p:nvPr/>
          </p:nvSpPr>
          <p:spPr bwMode="auto">
            <a:xfrm>
              <a:off x="4460" y="3012"/>
              <a:ext cx="238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2580" name="Freeform 20"/>
            <p:cNvSpPr>
              <a:spLocks/>
            </p:cNvSpPr>
            <p:nvPr/>
          </p:nvSpPr>
          <p:spPr bwMode="auto">
            <a:xfrm>
              <a:off x="4197" y="1662"/>
              <a:ext cx="740" cy="1881"/>
            </a:xfrm>
            <a:custGeom>
              <a:avLst/>
              <a:gdLst>
                <a:gd name="T0" fmla="*/ 740 w 740"/>
                <a:gd name="T1" fmla="*/ 0 h 1881"/>
                <a:gd name="T2" fmla="*/ 720 w 740"/>
                <a:gd name="T3" fmla="*/ 269 h 1881"/>
                <a:gd name="T4" fmla="*/ 644 w 740"/>
                <a:gd name="T5" fmla="*/ 585 h 1881"/>
                <a:gd name="T6" fmla="*/ 480 w 740"/>
                <a:gd name="T7" fmla="*/ 1008 h 1881"/>
                <a:gd name="T8" fmla="*/ 183 w 740"/>
                <a:gd name="T9" fmla="*/ 1469 h 1881"/>
                <a:gd name="T10" fmla="*/ 39 w 740"/>
                <a:gd name="T11" fmla="*/ 1718 h 1881"/>
                <a:gd name="T12" fmla="*/ 0 w 740"/>
                <a:gd name="T13" fmla="*/ 1881 h 1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1881">
                  <a:moveTo>
                    <a:pt x="740" y="0"/>
                  </a:moveTo>
                  <a:cubicBezTo>
                    <a:pt x="738" y="86"/>
                    <a:pt x="736" y="172"/>
                    <a:pt x="720" y="269"/>
                  </a:cubicBezTo>
                  <a:cubicBezTo>
                    <a:pt x="704" y="366"/>
                    <a:pt x="684" y="462"/>
                    <a:pt x="644" y="585"/>
                  </a:cubicBezTo>
                  <a:cubicBezTo>
                    <a:pt x="604" y="708"/>
                    <a:pt x="557" y="861"/>
                    <a:pt x="480" y="1008"/>
                  </a:cubicBezTo>
                  <a:cubicBezTo>
                    <a:pt x="403" y="1155"/>
                    <a:pt x="256" y="1351"/>
                    <a:pt x="183" y="1469"/>
                  </a:cubicBezTo>
                  <a:cubicBezTo>
                    <a:pt x="110" y="1587"/>
                    <a:pt x="70" y="1649"/>
                    <a:pt x="39" y="1718"/>
                  </a:cubicBezTo>
                  <a:cubicBezTo>
                    <a:pt x="8" y="1787"/>
                    <a:pt x="4" y="1834"/>
                    <a:pt x="0" y="1881"/>
                  </a:cubicBez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02581" name="Rectangle 21"/>
          <p:cNvSpPr>
            <a:spLocks noChangeArrowheads="1"/>
          </p:cNvSpPr>
          <p:nvPr/>
        </p:nvSpPr>
        <p:spPr bwMode="auto">
          <a:xfrm>
            <a:off x="209550" y="639763"/>
            <a:ext cx="48402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情况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：单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层沉降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计算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kumimoji="1"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规范法</a:t>
            </a:r>
            <a:endParaRPr kumimoji="1" lang="zh-CN" altLang="en-US" sz="24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602582" name="Rectangle 22"/>
          <p:cNvSpPr>
            <a:spLocks noChangeArrowheads="1"/>
          </p:cNvSpPr>
          <p:nvPr/>
        </p:nvSpPr>
        <p:spPr bwMode="auto">
          <a:xfrm>
            <a:off x="1898710" y="5771683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grpSp>
        <p:nvGrpSpPr>
          <p:cNvPr id="1602583" name="Group 23"/>
          <p:cNvGrpSpPr>
            <a:grpSpLocks/>
          </p:cNvGrpSpPr>
          <p:nvPr/>
        </p:nvGrpSpPr>
        <p:grpSpPr bwMode="auto">
          <a:xfrm>
            <a:off x="7894638" y="2630488"/>
            <a:ext cx="1028700" cy="1446212"/>
            <a:chOff x="4917" y="1661"/>
            <a:chExt cx="648" cy="911"/>
          </a:xfrm>
        </p:grpSpPr>
        <p:sp>
          <p:nvSpPr>
            <p:cNvPr id="1602584" name="Line 24"/>
            <p:cNvSpPr>
              <a:spLocks noChangeShapeType="1"/>
            </p:cNvSpPr>
            <p:nvPr/>
          </p:nvSpPr>
          <p:spPr bwMode="auto">
            <a:xfrm>
              <a:off x="5328" y="1670"/>
              <a:ext cx="0" cy="5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2585" name="Text Box 25"/>
            <p:cNvSpPr txBox="1">
              <a:spLocks noChangeAspect="1" noChangeArrowheads="1"/>
            </p:cNvSpPr>
            <p:nvPr/>
          </p:nvSpPr>
          <p:spPr bwMode="auto">
            <a:xfrm>
              <a:off x="5132" y="1719"/>
              <a:ext cx="433" cy="32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z</a:t>
              </a:r>
              <a:r>
                <a:rPr kumimoji="1" lang="en-US" altLang="zh-CN" sz="28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i-1</a:t>
              </a:r>
            </a:p>
          </p:txBody>
        </p:sp>
        <p:sp>
          <p:nvSpPr>
            <p:cNvPr id="1602586" name="Line 26"/>
            <p:cNvSpPr>
              <a:spLocks noChangeShapeType="1"/>
            </p:cNvSpPr>
            <p:nvPr/>
          </p:nvSpPr>
          <p:spPr bwMode="auto">
            <a:xfrm>
              <a:off x="5038" y="1661"/>
              <a:ext cx="0" cy="9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2587" name="Text Box 27"/>
            <p:cNvSpPr txBox="1">
              <a:spLocks noChangeAspect="1" noChangeArrowheads="1"/>
            </p:cNvSpPr>
            <p:nvPr/>
          </p:nvSpPr>
          <p:spPr bwMode="auto">
            <a:xfrm>
              <a:off x="4917" y="1816"/>
              <a:ext cx="259" cy="32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800" b="1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z</a:t>
              </a:r>
              <a:r>
                <a:rPr kumimoji="1" lang="en-US" altLang="zh-CN" sz="2800" b="1" baseline="-25000" dirty="0" err="1">
                  <a:solidFill>
                    <a:srgbClr val="000066"/>
                  </a:solidFill>
                  <a:cs typeface="Times New Roman" panose="02020603050405020304" pitchFamily="18" charset="0"/>
                </a:rPr>
                <a:t>i</a:t>
              </a:r>
              <a:endParaRPr kumimoji="1" lang="en-US" altLang="zh-CN" sz="2800" b="1" baseline="-25000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1602588" name="Group 28"/>
          <p:cNvGrpSpPr>
            <a:grpSpLocks/>
          </p:cNvGrpSpPr>
          <p:nvPr/>
        </p:nvGrpSpPr>
        <p:grpSpPr bwMode="auto">
          <a:xfrm>
            <a:off x="5075238" y="3468688"/>
            <a:ext cx="3840162" cy="592137"/>
            <a:chOff x="3171" y="2189"/>
            <a:chExt cx="2419" cy="373"/>
          </a:xfrm>
        </p:grpSpPr>
        <p:sp>
          <p:nvSpPr>
            <p:cNvPr id="1602589" name="Freeform 29" descr="宽下对角线"/>
            <p:cNvSpPr>
              <a:spLocks/>
            </p:cNvSpPr>
            <p:nvPr/>
          </p:nvSpPr>
          <p:spPr bwMode="auto">
            <a:xfrm>
              <a:off x="4050" y="2195"/>
              <a:ext cx="797" cy="363"/>
            </a:xfrm>
            <a:custGeom>
              <a:avLst/>
              <a:gdLst>
                <a:gd name="T0" fmla="*/ 0 w 797"/>
                <a:gd name="T1" fmla="*/ 4 h 363"/>
                <a:gd name="T2" fmla="*/ 797 w 797"/>
                <a:gd name="T3" fmla="*/ 0 h 363"/>
                <a:gd name="T4" fmla="*/ 745 w 797"/>
                <a:gd name="T5" fmla="*/ 176 h 363"/>
                <a:gd name="T6" fmla="*/ 673 w 797"/>
                <a:gd name="T7" fmla="*/ 363 h 363"/>
                <a:gd name="T8" fmla="*/ 0 w 797"/>
                <a:gd name="T9" fmla="*/ 358 h 363"/>
                <a:gd name="T10" fmla="*/ 0 w 797"/>
                <a:gd name="T11" fmla="*/ 4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7" h="363">
                  <a:moveTo>
                    <a:pt x="0" y="4"/>
                  </a:moveTo>
                  <a:lnTo>
                    <a:pt x="797" y="0"/>
                  </a:lnTo>
                  <a:lnTo>
                    <a:pt x="745" y="176"/>
                  </a:lnTo>
                  <a:lnTo>
                    <a:pt x="673" y="363"/>
                  </a:lnTo>
                  <a:lnTo>
                    <a:pt x="0" y="358"/>
                  </a:lnTo>
                  <a:lnTo>
                    <a:pt x="0" y="4"/>
                  </a:lnTo>
                  <a:close/>
                </a:path>
              </a:pathLst>
            </a:custGeom>
            <a:pattFill prst="wdDnDiag">
              <a:fgClr>
                <a:schemeClr val="accent2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2590" name="Text Box 30"/>
            <p:cNvSpPr txBox="1">
              <a:spLocks noChangeAspect="1" noChangeArrowheads="1"/>
            </p:cNvSpPr>
            <p:nvPr/>
          </p:nvSpPr>
          <p:spPr bwMode="auto">
            <a:xfrm>
              <a:off x="3582" y="2197"/>
              <a:ext cx="3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H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602591" name="Line 31"/>
            <p:cNvSpPr>
              <a:spLocks noChangeShapeType="1"/>
            </p:cNvSpPr>
            <p:nvPr/>
          </p:nvSpPr>
          <p:spPr bwMode="auto">
            <a:xfrm>
              <a:off x="3894" y="2190"/>
              <a:ext cx="0" cy="3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2592" name="Line 32"/>
            <p:cNvSpPr>
              <a:spLocks noChangeShapeType="1"/>
            </p:cNvSpPr>
            <p:nvPr/>
          </p:nvSpPr>
          <p:spPr bwMode="auto">
            <a:xfrm>
              <a:off x="3171" y="2189"/>
              <a:ext cx="241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2593" name="Line 33"/>
            <p:cNvSpPr>
              <a:spLocks noChangeShapeType="1"/>
            </p:cNvSpPr>
            <p:nvPr/>
          </p:nvSpPr>
          <p:spPr bwMode="auto">
            <a:xfrm>
              <a:off x="3171" y="2560"/>
              <a:ext cx="241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2594" name="Text Box 34"/>
            <p:cNvSpPr txBox="1">
              <a:spLocks noChangeArrowheads="1"/>
            </p:cNvSpPr>
            <p:nvPr/>
          </p:nvSpPr>
          <p:spPr bwMode="auto">
            <a:xfrm>
              <a:off x="4262" y="2209"/>
              <a:ext cx="2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</a:rPr>
                <a:t>A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</a:rPr>
                <a:t>i</a:t>
              </a:r>
              <a:endParaRPr kumimoji="1" lang="zh-CN" altLang="en-US" sz="2400" b="1" baseline="-25000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sp>
        <p:nvSpPr>
          <p:cNvPr id="1602596" name="Text Box 36"/>
          <p:cNvSpPr txBox="1">
            <a:spLocks noChangeArrowheads="1"/>
          </p:cNvSpPr>
          <p:nvPr/>
        </p:nvSpPr>
        <p:spPr bwMode="auto">
          <a:xfrm>
            <a:off x="2154160" y="4021839"/>
            <a:ext cx="275087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深度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1"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范围内平均</a:t>
            </a:r>
            <a:r>
              <a:rPr kumimoji="1" lang="zh-CN" altLang="en-US" sz="20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附加</a:t>
            </a:r>
            <a:r>
              <a:rPr kumimoji="1" lang="en-US" altLang="zh-CN" sz="20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/>
            </a:r>
            <a:br>
              <a:rPr kumimoji="1" lang="en-US" altLang="zh-CN" sz="20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</a:br>
            <a:r>
              <a:rPr kumimoji="1" lang="zh-CN" altLang="en-US" sz="20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应力</a:t>
            </a:r>
            <a:r>
              <a:rPr kumimoji="1"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系数</a:t>
            </a:r>
            <a:r>
              <a:rPr kumimoji="1" lang="en-US" altLang="zh-CN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(</a:t>
            </a:r>
            <a:r>
              <a:rPr kumimoji="1"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表</a:t>
            </a:r>
            <a:r>
              <a:rPr kumimoji="1" lang="en-US" altLang="zh-CN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4</a:t>
            </a:r>
            <a:r>
              <a:rPr kumimoji="1" lang="zh-CN" altLang="en-US" sz="20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－</a:t>
            </a:r>
            <a:r>
              <a:rPr kumimoji="1" lang="en-US" altLang="zh-CN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5</a:t>
            </a:r>
            <a:r>
              <a:rPr kumimoji="1" lang="en-US" altLang="zh-CN" sz="20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)</a:t>
            </a:r>
            <a:endParaRPr kumimoji="1" lang="en-US" altLang="zh-CN" sz="20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602597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857951"/>
              </p:ext>
            </p:extLst>
          </p:nvPr>
        </p:nvGraphicFramePr>
        <p:xfrm>
          <a:off x="700088" y="1258888"/>
          <a:ext cx="3581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2803" name="Microsoft 公式 3.0" r:id="rId3" imgW="1790640" imgH="444240" progId="Equation.3">
                  <p:embed/>
                </p:oleObj>
              </mc:Choice>
              <mc:Fallback>
                <p:oleObj name="Microsoft 公式 3.0" r:id="rId3" imgW="1790640" imgH="44424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" y="1258888"/>
                        <a:ext cx="3581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2598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464003"/>
              </p:ext>
            </p:extLst>
          </p:nvPr>
        </p:nvGraphicFramePr>
        <p:xfrm>
          <a:off x="1968500" y="4860925"/>
          <a:ext cx="281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2804" name="Microsoft 公式 3.0" r:id="rId5" imgW="1409400" imgH="228600" progId="Equation.3">
                  <p:embed/>
                </p:oleObj>
              </mc:Choice>
              <mc:Fallback>
                <p:oleObj name="Microsoft 公式 3.0" r:id="rId5" imgW="1409400" imgH="2286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860925"/>
                        <a:ext cx="281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2599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7534911"/>
              </p:ext>
            </p:extLst>
          </p:nvPr>
        </p:nvGraphicFramePr>
        <p:xfrm>
          <a:off x="661988" y="2316163"/>
          <a:ext cx="30226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2805" name="Microsoft 公式 3.0" r:id="rId7" imgW="1511280" imgH="672840" progId="Equation.3">
                  <p:embed/>
                </p:oleObj>
              </mc:Choice>
              <mc:Fallback>
                <p:oleObj name="Microsoft 公式 3.0" r:id="rId7" imgW="1511280" imgH="67284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2316163"/>
                        <a:ext cx="3022600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2600" name="Line 40"/>
          <p:cNvSpPr>
            <a:spLocks noChangeShapeType="1"/>
          </p:cNvSpPr>
          <p:nvPr/>
        </p:nvSpPr>
        <p:spPr bwMode="auto">
          <a:xfrm>
            <a:off x="3525634" y="3610091"/>
            <a:ext cx="0" cy="395288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不考虑回弹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2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60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60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02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02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02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60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1602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02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02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02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02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02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02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60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2581" grpId="0" build="p" autoUpdateAnimBg="0"/>
      <p:bldP spid="1602596" grpId="0"/>
      <p:bldP spid="160260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568" name="Rectangle 56"/>
          <p:cNvSpPr>
            <a:spLocks noChangeArrowheads="1"/>
          </p:cNvSpPr>
          <p:nvPr/>
        </p:nvSpPr>
        <p:spPr bwMode="auto">
          <a:xfrm>
            <a:off x="3330177" y="1782469"/>
            <a:ext cx="2351087" cy="1147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0570" name="Rectangle 58"/>
          <p:cNvSpPr>
            <a:spLocks noChangeArrowheads="1"/>
          </p:cNvSpPr>
          <p:nvPr/>
        </p:nvSpPr>
        <p:spPr bwMode="auto">
          <a:xfrm>
            <a:off x="3327793" y="2920707"/>
            <a:ext cx="2360533" cy="9525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0589" name="Freeform 77" descr="浅色横线"/>
          <p:cNvSpPr>
            <a:spLocks/>
          </p:cNvSpPr>
          <p:nvPr/>
        </p:nvSpPr>
        <p:spPr bwMode="auto">
          <a:xfrm>
            <a:off x="3657202" y="2590507"/>
            <a:ext cx="712787" cy="1184275"/>
          </a:xfrm>
          <a:custGeom>
            <a:avLst/>
            <a:gdLst>
              <a:gd name="T0" fmla="*/ 252 w 449"/>
              <a:gd name="T1" fmla="*/ 2 h 746"/>
              <a:gd name="T2" fmla="*/ 142 w 449"/>
              <a:gd name="T3" fmla="*/ 211 h 746"/>
              <a:gd name="T4" fmla="*/ 0 w 449"/>
              <a:gd name="T5" fmla="*/ 746 h 746"/>
              <a:gd name="T6" fmla="*/ 41 w 449"/>
              <a:gd name="T7" fmla="*/ 744 h 746"/>
              <a:gd name="T8" fmla="*/ 235 w 449"/>
              <a:gd name="T9" fmla="*/ 204 h 746"/>
              <a:gd name="T10" fmla="*/ 449 w 449"/>
              <a:gd name="T11" fmla="*/ 0 h 746"/>
              <a:gd name="T12" fmla="*/ 252 w 449"/>
              <a:gd name="T13" fmla="*/ 2 h 7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49" h="746">
                <a:moveTo>
                  <a:pt x="252" y="2"/>
                </a:moveTo>
                <a:lnTo>
                  <a:pt x="142" y="211"/>
                </a:lnTo>
                <a:lnTo>
                  <a:pt x="0" y="746"/>
                </a:lnTo>
                <a:lnTo>
                  <a:pt x="41" y="744"/>
                </a:lnTo>
                <a:lnTo>
                  <a:pt x="235" y="204"/>
                </a:lnTo>
                <a:lnTo>
                  <a:pt x="449" y="0"/>
                </a:lnTo>
                <a:lnTo>
                  <a:pt x="252" y="2"/>
                </a:lnTo>
                <a:close/>
              </a:path>
            </a:pathLst>
          </a:custGeom>
          <a:pattFill prst="ltHorz">
            <a:fgClr>
              <a:srgbClr val="A5002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600517" name="Text Box 5"/>
          <p:cNvSpPr txBox="1">
            <a:spLocks noChangeArrowheads="1"/>
          </p:cNvSpPr>
          <p:nvPr/>
        </p:nvSpPr>
        <p:spPr bwMode="auto">
          <a:xfrm>
            <a:off x="338138" y="625182"/>
            <a:ext cx="4714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情况</a:t>
            </a:r>
            <a:r>
              <a:rPr kumimoji="1" lang="en-US" altLang="zh-CN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2</a:t>
            </a:r>
            <a:r>
              <a:rPr kumimoji="1" lang="zh-CN" altLang="en-US" sz="2800" b="1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：考虑地基回弹</a:t>
            </a:r>
          </a:p>
        </p:txBody>
      </p:sp>
      <p:sp>
        <p:nvSpPr>
          <p:cNvPr id="1600518" name="Rectangle 6"/>
          <p:cNvSpPr>
            <a:spLocks noChangeArrowheads="1"/>
          </p:cNvSpPr>
          <p:nvPr/>
        </p:nvSpPr>
        <p:spPr bwMode="auto">
          <a:xfrm>
            <a:off x="1843441" y="5729054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600519" name="Rectangle 7"/>
          <p:cNvSpPr>
            <a:spLocks noChangeArrowheads="1"/>
          </p:cNvSpPr>
          <p:nvPr/>
        </p:nvSpPr>
        <p:spPr bwMode="auto">
          <a:xfrm>
            <a:off x="603250" y="756944"/>
            <a:ext cx="4311650" cy="5122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0520" name="Rectangle 8"/>
          <p:cNvSpPr>
            <a:spLocks noChangeArrowheads="1"/>
          </p:cNvSpPr>
          <p:nvPr/>
        </p:nvSpPr>
        <p:spPr bwMode="auto">
          <a:xfrm>
            <a:off x="563164" y="1776119"/>
            <a:ext cx="2351088" cy="1147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0521" name="Line 9"/>
          <p:cNvSpPr>
            <a:spLocks noChangeAspect="1" noChangeShapeType="1"/>
          </p:cNvSpPr>
          <p:nvPr/>
        </p:nvSpPr>
        <p:spPr bwMode="auto">
          <a:xfrm>
            <a:off x="552052" y="1780882"/>
            <a:ext cx="23685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22" name="Rectangle 10"/>
          <p:cNvSpPr>
            <a:spLocks noChangeArrowheads="1"/>
          </p:cNvSpPr>
          <p:nvPr/>
        </p:nvSpPr>
        <p:spPr bwMode="auto">
          <a:xfrm>
            <a:off x="556349" y="2914357"/>
            <a:ext cx="2361434" cy="9525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0523" name="Rectangle 11" descr="宽上对角线"/>
          <p:cNvSpPr>
            <a:spLocks noChangeAspect="1" noChangeArrowheads="1"/>
          </p:cNvSpPr>
          <p:nvPr/>
        </p:nvSpPr>
        <p:spPr bwMode="auto">
          <a:xfrm>
            <a:off x="1023539" y="1787232"/>
            <a:ext cx="1119188" cy="785812"/>
          </a:xfrm>
          <a:prstGeom prst="rect">
            <a:avLst/>
          </a:prstGeom>
          <a:noFill/>
          <a:ln w="28575">
            <a:solidFill>
              <a:srgbClr val="A5002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0524" name="Line 12"/>
          <p:cNvSpPr>
            <a:spLocks noChangeAspect="1" noChangeShapeType="1"/>
          </p:cNvSpPr>
          <p:nvPr/>
        </p:nvSpPr>
        <p:spPr bwMode="auto">
          <a:xfrm>
            <a:off x="769539" y="1776119"/>
            <a:ext cx="0" cy="806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25" name="Text Box 13"/>
          <p:cNvSpPr txBox="1">
            <a:spLocks noChangeAspect="1" noChangeArrowheads="1"/>
          </p:cNvSpPr>
          <p:nvPr/>
        </p:nvSpPr>
        <p:spPr bwMode="auto">
          <a:xfrm>
            <a:off x="636189" y="2020594"/>
            <a:ext cx="227013" cy="3254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17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600526" name="Line 14"/>
          <p:cNvSpPr>
            <a:spLocks noChangeAspect="1" noChangeShapeType="1"/>
          </p:cNvSpPr>
          <p:nvPr/>
        </p:nvSpPr>
        <p:spPr bwMode="auto">
          <a:xfrm>
            <a:off x="645714" y="2573044"/>
            <a:ext cx="1862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28" name="Text Box 16"/>
          <p:cNvSpPr txBox="1">
            <a:spLocks noChangeAspect="1" noChangeArrowheads="1"/>
          </p:cNvSpPr>
          <p:nvPr/>
        </p:nvSpPr>
        <p:spPr bwMode="auto">
          <a:xfrm>
            <a:off x="2337989" y="1491957"/>
            <a:ext cx="574675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1400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地面</a:t>
            </a:r>
          </a:p>
        </p:txBody>
      </p:sp>
      <p:sp>
        <p:nvSpPr>
          <p:cNvPr id="1600529" name="Rectangle 17"/>
          <p:cNvSpPr>
            <a:spLocks noChangeAspect="1" noChangeArrowheads="1"/>
          </p:cNvSpPr>
          <p:nvPr/>
        </p:nvSpPr>
        <p:spPr bwMode="auto">
          <a:xfrm>
            <a:off x="2512614" y="2292057"/>
            <a:ext cx="512763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/>
          <a:p>
            <a:pPr defTabSz="65881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基底</a:t>
            </a:r>
          </a:p>
        </p:txBody>
      </p:sp>
      <p:sp>
        <p:nvSpPr>
          <p:cNvPr id="1600530" name="Freeform 18"/>
          <p:cNvSpPr>
            <a:spLocks/>
          </p:cNvSpPr>
          <p:nvPr/>
        </p:nvSpPr>
        <p:spPr bwMode="auto">
          <a:xfrm>
            <a:off x="2074464" y="1595144"/>
            <a:ext cx="171450" cy="150813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600531" name="Freeform 19"/>
          <p:cNvSpPr>
            <a:spLocks/>
          </p:cNvSpPr>
          <p:nvPr/>
        </p:nvSpPr>
        <p:spPr bwMode="auto">
          <a:xfrm>
            <a:off x="2277664" y="2411119"/>
            <a:ext cx="171450" cy="150813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600532" name="Line 20"/>
          <p:cNvSpPr>
            <a:spLocks noChangeAspect="1" noChangeShapeType="1"/>
          </p:cNvSpPr>
          <p:nvPr/>
        </p:nvSpPr>
        <p:spPr bwMode="auto">
          <a:xfrm>
            <a:off x="1602977" y="1768182"/>
            <a:ext cx="0" cy="2119312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00533" name="Freeform 21"/>
          <p:cNvSpPr>
            <a:spLocks/>
          </p:cNvSpPr>
          <p:nvPr/>
        </p:nvSpPr>
        <p:spPr bwMode="auto">
          <a:xfrm>
            <a:off x="926702" y="1774532"/>
            <a:ext cx="668337" cy="1887537"/>
          </a:xfrm>
          <a:custGeom>
            <a:avLst/>
            <a:gdLst>
              <a:gd name="T0" fmla="*/ 421 w 421"/>
              <a:gd name="T1" fmla="*/ 0 h 1189"/>
              <a:gd name="T2" fmla="*/ 109 w 421"/>
              <a:gd name="T3" fmla="*/ 722 h 1189"/>
              <a:gd name="T4" fmla="*/ 0 w 421"/>
              <a:gd name="T5" fmla="*/ 1189 h 1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1" h="1189">
                <a:moveTo>
                  <a:pt x="421" y="0"/>
                </a:moveTo>
                <a:lnTo>
                  <a:pt x="109" y="722"/>
                </a:lnTo>
                <a:lnTo>
                  <a:pt x="0" y="1189"/>
                </a:lnTo>
              </a:path>
            </a:pathLst>
          </a:custGeom>
          <a:noFill/>
          <a:ln w="28575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34" name="Text Box 22"/>
          <p:cNvSpPr txBox="1">
            <a:spLocks noChangeAspect="1" noChangeArrowheads="1"/>
          </p:cNvSpPr>
          <p:nvPr/>
        </p:nvSpPr>
        <p:spPr bwMode="auto">
          <a:xfrm>
            <a:off x="2306239" y="1903119"/>
            <a:ext cx="192088" cy="3254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17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</a:p>
        </p:txBody>
      </p:sp>
      <p:sp>
        <p:nvSpPr>
          <p:cNvPr id="1600535" name="Rectangle 23"/>
          <p:cNvSpPr>
            <a:spLocks noChangeAspect="1" noChangeArrowheads="1"/>
          </p:cNvSpPr>
          <p:nvPr/>
        </p:nvSpPr>
        <p:spPr bwMode="auto">
          <a:xfrm>
            <a:off x="1248964" y="2538119"/>
            <a:ext cx="344538" cy="328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/>
          <a:p>
            <a:pPr defTabSz="65881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7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17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d</a:t>
            </a:r>
          </a:p>
        </p:txBody>
      </p:sp>
      <p:sp>
        <p:nvSpPr>
          <p:cNvPr id="1600536" name="Line 24"/>
          <p:cNvSpPr>
            <a:spLocks noChangeShapeType="1"/>
          </p:cNvSpPr>
          <p:nvPr/>
        </p:nvSpPr>
        <p:spPr bwMode="auto">
          <a:xfrm>
            <a:off x="1415652" y="1780882"/>
            <a:ext cx="385762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37" name="Line 25"/>
          <p:cNvSpPr>
            <a:spLocks noChangeShapeType="1"/>
          </p:cNvSpPr>
          <p:nvPr/>
        </p:nvSpPr>
        <p:spPr bwMode="auto">
          <a:xfrm>
            <a:off x="1048939" y="3250907"/>
            <a:ext cx="117475" cy="176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38" name="Text Box 26"/>
          <p:cNvSpPr txBox="1">
            <a:spLocks noChangeArrowheads="1"/>
          </p:cNvSpPr>
          <p:nvPr/>
        </p:nvSpPr>
        <p:spPr bwMode="auto">
          <a:xfrm>
            <a:off x="1041002" y="3315994"/>
            <a:ext cx="431100" cy="37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0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kumimoji="0"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600539" name="Rectangle 27"/>
          <p:cNvSpPr>
            <a:spLocks noChangeArrowheads="1"/>
          </p:cNvSpPr>
          <p:nvPr/>
        </p:nvSpPr>
        <p:spPr bwMode="auto">
          <a:xfrm>
            <a:off x="6365477" y="1801519"/>
            <a:ext cx="2351087" cy="1147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0540" name="Line 28"/>
          <p:cNvSpPr>
            <a:spLocks noChangeAspect="1" noChangeShapeType="1"/>
          </p:cNvSpPr>
          <p:nvPr/>
        </p:nvSpPr>
        <p:spPr bwMode="auto">
          <a:xfrm>
            <a:off x="6354364" y="1806282"/>
            <a:ext cx="23685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41" name="Rectangle 29"/>
          <p:cNvSpPr>
            <a:spLocks noChangeArrowheads="1"/>
          </p:cNvSpPr>
          <p:nvPr/>
        </p:nvSpPr>
        <p:spPr bwMode="auto">
          <a:xfrm>
            <a:off x="6378177" y="2939757"/>
            <a:ext cx="2338387" cy="9525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0542" name="Line 30"/>
          <p:cNvSpPr>
            <a:spLocks noChangeAspect="1" noChangeShapeType="1"/>
          </p:cNvSpPr>
          <p:nvPr/>
        </p:nvSpPr>
        <p:spPr bwMode="auto">
          <a:xfrm>
            <a:off x="7335439" y="1249069"/>
            <a:ext cx="0" cy="384175"/>
          </a:xfrm>
          <a:prstGeom prst="line">
            <a:avLst/>
          </a:prstGeom>
          <a:noFill/>
          <a:ln w="7620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43" name="Rectangle 31" descr="宽上对角线"/>
          <p:cNvSpPr>
            <a:spLocks noChangeAspect="1" noChangeArrowheads="1"/>
          </p:cNvSpPr>
          <p:nvPr/>
        </p:nvSpPr>
        <p:spPr bwMode="auto">
          <a:xfrm>
            <a:off x="6759177" y="2285707"/>
            <a:ext cx="1119187" cy="307975"/>
          </a:xfrm>
          <a:prstGeom prst="rect">
            <a:avLst/>
          </a:prstGeom>
          <a:pattFill prst="dkUpDiag">
            <a:fgClr>
              <a:srgbClr val="CCECFF"/>
            </a:fgClr>
            <a:bgClr>
              <a:schemeClr val="accent6">
                <a:lumMod val="60000"/>
                <a:lumOff val="40000"/>
              </a:schemeClr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0545" name="Text Box 33"/>
          <p:cNvSpPr txBox="1">
            <a:spLocks noChangeAspect="1" noChangeArrowheads="1"/>
          </p:cNvSpPr>
          <p:nvPr/>
        </p:nvSpPr>
        <p:spPr bwMode="auto">
          <a:xfrm>
            <a:off x="8140302" y="1517357"/>
            <a:ext cx="574675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1400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地面</a:t>
            </a:r>
          </a:p>
        </p:txBody>
      </p:sp>
      <p:sp>
        <p:nvSpPr>
          <p:cNvPr id="1600547" name="Freeform 35"/>
          <p:cNvSpPr>
            <a:spLocks/>
          </p:cNvSpPr>
          <p:nvPr/>
        </p:nvSpPr>
        <p:spPr bwMode="auto">
          <a:xfrm>
            <a:off x="8010127" y="1620544"/>
            <a:ext cx="171450" cy="150813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600549" name="Rectangle 37" descr="横向砖形"/>
          <p:cNvSpPr>
            <a:spLocks noChangeAspect="1" noChangeArrowheads="1"/>
          </p:cNvSpPr>
          <p:nvPr/>
        </p:nvSpPr>
        <p:spPr bwMode="auto">
          <a:xfrm>
            <a:off x="7157639" y="1633244"/>
            <a:ext cx="352425" cy="652463"/>
          </a:xfrm>
          <a:prstGeom prst="rect">
            <a:avLst/>
          </a:prstGeom>
          <a:pattFill prst="horzBrick">
            <a:fgClr>
              <a:srgbClr val="FF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0550" name="Line 38"/>
          <p:cNvSpPr>
            <a:spLocks noChangeAspect="1" noChangeShapeType="1"/>
          </p:cNvSpPr>
          <p:nvPr/>
        </p:nvSpPr>
        <p:spPr bwMode="auto">
          <a:xfrm>
            <a:off x="7338614" y="1793582"/>
            <a:ext cx="0" cy="2097087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00552" name="Freeform 40"/>
          <p:cNvSpPr>
            <a:spLocks/>
          </p:cNvSpPr>
          <p:nvPr/>
        </p:nvSpPr>
        <p:spPr bwMode="auto">
          <a:xfrm>
            <a:off x="7913289" y="2609557"/>
            <a:ext cx="246063" cy="1152525"/>
          </a:xfrm>
          <a:custGeom>
            <a:avLst/>
            <a:gdLst>
              <a:gd name="T0" fmla="*/ 260 w 260"/>
              <a:gd name="T1" fmla="*/ 0 h 1008"/>
              <a:gd name="T2" fmla="*/ 240 w 260"/>
              <a:gd name="T3" fmla="*/ 269 h 1008"/>
              <a:gd name="T4" fmla="*/ 164 w 260"/>
              <a:gd name="T5" fmla="*/ 585 h 1008"/>
              <a:gd name="T6" fmla="*/ 0 w 260"/>
              <a:gd name="T7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" h="1008">
                <a:moveTo>
                  <a:pt x="260" y="0"/>
                </a:moveTo>
                <a:cubicBezTo>
                  <a:pt x="258" y="86"/>
                  <a:pt x="256" y="172"/>
                  <a:pt x="240" y="269"/>
                </a:cubicBezTo>
                <a:cubicBezTo>
                  <a:pt x="224" y="366"/>
                  <a:pt x="204" y="462"/>
                  <a:pt x="164" y="585"/>
                </a:cubicBezTo>
                <a:cubicBezTo>
                  <a:pt x="124" y="708"/>
                  <a:pt x="27" y="938"/>
                  <a:pt x="0" y="1008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57" name="Text Box 45"/>
          <p:cNvSpPr txBox="1">
            <a:spLocks noChangeAspect="1" noChangeArrowheads="1"/>
          </p:cNvSpPr>
          <p:nvPr/>
        </p:nvSpPr>
        <p:spPr bwMode="auto">
          <a:xfrm>
            <a:off x="7556102" y="2552407"/>
            <a:ext cx="465137" cy="32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1700" b="1" i="1">
                <a:solidFill>
                  <a:srgbClr val="000066"/>
                </a:solidFill>
                <a:cs typeface="Times New Roman" panose="02020603050405020304" pitchFamily="18" charset="0"/>
              </a:rPr>
              <a:t>p</a:t>
            </a:r>
            <a:endParaRPr lang="en-US" altLang="zh-CN" sz="1700" b="1" i="1" baseline="-25000">
              <a:solidFill>
                <a:srgbClr val="000066"/>
              </a:solidFill>
              <a:cs typeface="Times New Roman" panose="02020603050405020304" pitchFamily="18" charset="0"/>
            </a:endParaRPr>
          </a:p>
        </p:txBody>
      </p:sp>
      <p:sp>
        <p:nvSpPr>
          <p:cNvPr id="1600558" name="Line 46"/>
          <p:cNvSpPr>
            <a:spLocks noChangeAspect="1" noChangeShapeType="1"/>
          </p:cNvSpPr>
          <p:nvPr/>
        </p:nvSpPr>
        <p:spPr bwMode="auto">
          <a:xfrm>
            <a:off x="7327502" y="2609557"/>
            <a:ext cx="833437" cy="0"/>
          </a:xfrm>
          <a:prstGeom prst="line">
            <a:avLst/>
          </a:prstGeom>
          <a:noFill/>
          <a:ln w="38100">
            <a:solidFill>
              <a:srgbClr val="CC0000"/>
            </a:solidFill>
            <a:miter lim="800000"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00560" name="Line 48"/>
          <p:cNvSpPr>
            <a:spLocks noChangeShapeType="1"/>
          </p:cNvSpPr>
          <p:nvPr/>
        </p:nvSpPr>
        <p:spPr bwMode="auto">
          <a:xfrm>
            <a:off x="7151289" y="1806282"/>
            <a:ext cx="38576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61" name="Text Box 49"/>
          <p:cNvSpPr txBox="1">
            <a:spLocks noChangeArrowheads="1"/>
          </p:cNvSpPr>
          <p:nvPr/>
        </p:nvSpPr>
        <p:spPr bwMode="auto">
          <a:xfrm>
            <a:off x="8124427" y="3354094"/>
            <a:ext cx="363774" cy="37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endParaRPr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600563" name="Line 51"/>
          <p:cNvSpPr>
            <a:spLocks noChangeShapeType="1"/>
          </p:cNvSpPr>
          <p:nvPr/>
        </p:nvSpPr>
        <p:spPr bwMode="auto">
          <a:xfrm>
            <a:off x="8084739" y="3327107"/>
            <a:ext cx="123825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65" name="Line 53"/>
          <p:cNvSpPr>
            <a:spLocks noChangeShapeType="1"/>
          </p:cNvSpPr>
          <p:nvPr/>
        </p:nvSpPr>
        <p:spPr bwMode="auto">
          <a:xfrm flipH="1" flipV="1">
            <a:off x="842564" y="1630069"/>
            <a:ext cx="177800" cy="284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600566" name="Text Box 54"/>
          <p:cNvSpPr txBox="1">
            <a:spLocks noChangeAspect="1" noChangeArrowheads="1"/>
          </p:cNvSpPr>
          <p:nvPr/>
        </p:nvSpPr>
        <p:spPr bwMode="auto">
          <a:xfrm>
            <a:off x="337739" y="1296694"/>
            <a:ext cx="1103313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lang="zh-CN" altLang="en-US" sz="1400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拟开挖基坑</a:t>
            </a:r>
          </a:p>
        </p:txBody>
      </p:sp>
      <p:sp>
        <p:nvSpPr>
          <p:cNvPr id="1600567" name="Line 55"/>
          <p:cNvSpPr>
            <a:spLocks noChangeShapeType="1"/>
          </p:cNvSpPr>
          <p:nvPr/>
        </p:nvSpPr>
        <p:spPr bwMode="auto">
          <a:xfrm>
            <a:off x="1266427" y="2569869"/>
            <a:ext cx="3302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600569" name="Line 57"/>
          <p:cNvSpPr>
            <a:spLocks noChangeAspect="1" noChangeShapeType="1"/>
          </p:cNvSpPr>
          <p:nvPr/>
        </p:nvSpPr>
        <p:spPr bwMode="auto">
          <a:xfrm>
            <a:off x="3319064" y="1787232"/>
            <a:ext cx="23685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72" name="Freeform 60"/>
          <p:cNvSpPr>
            <a:spLocks/>
          </p:cNvSpPr>
          <p:nvPr/>
        </p:nvSpPr>
        <p:spPr bwMode="auto">
          <a:xfrm>
            <a:off x="3644502" y="1780882"/>
            <a:ext cx="717550" cy="1995487"/>
          </a:xfrm>
          <a:custGeom>
            <a:avLst/>
            <a:gdLst>
              <a:gd name="T0" fmla="*/ 452 w 452"/>
              <a:gd name="T1" fmla="*/ 0 h 1257"/>
              <a:gd name="T2" fmla="*/ 262 w 452"/>
              <a:gd name="T3" fmla="*/ 501 h 1257"/>
              <a:gd name="T4" fmla="*/ 140 w 452"/>
              <a:gd name="T5" fmla="*/ 722 h 1257"/>
              <a:gd name="T6" fmla="*/ 0 w 452"/>
              <a:gd name="T7" fmla="*/ 1257 h 1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2" h="1257">
                <a:moveTo>
                  <a:pt x="452" y="0"/>
                </a:moveTo>
                <a:lnTo>
                  <a:pt x="262" y="501"/>
                </a:lnTo>
                <a:lnTo>
                  <a:pt x="140" y="722"/>
                </a:lnTo>
                <a:lnTo>
                  <a:pt x="0" y="1257"/>
                </a:lnTo>
              </a:path>
            </a:pathLst>
          </a:custGeom>
          <a:noFill/>
          <a:ln w="28575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74" name="Line 62"/>
          <p:cNvSpPr>
            <a:spLocks noChangeShapeType="1"/>
          </p:cNvSpPr>
          <p:nvPr/>
        </p:nvSpPr>
        <p:spPr bwMode="auto">
          <a:xfrm>
            <a:off x="4182664" y="1787232"/>
            <a:ext cx="385763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75" name="Line 63"/>
          <p:cNvSpPr>
            <a:spLocks noChangeShapeType="1"/>
          </p:cNvSpPr>
          <p:nvPr/>
        </p:nvSpPr>
        <p:spPr bwMode="auto">
          <a:xfrm flipH="1">
            <a:off x="3577827" y="3257257"/>
            <a:ext cx="177800" cy="125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76" name="Text Box 64"/>
          <p:cNvSpPr txBox="1">
            <a:spLocks noChangeArrowheads="1"/>
          </p:cNvSpPr>
          <p:nvPr/>
        </p:nvSpPr>
        <p:spPr bwMode="auto">
          <a:xfrm>
            <a:off x="3297195" y="3271544"/>
            <a:ext cx="431100" cy="37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0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kumimoji="0"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600577" name="Line 65"/>
          <p:cNvSpPr>
            <a:spLocks noChangeShapeType="1"/>
          </p:cNvSpPr>
          <p:nvPr/>
        </p:nvSpPr>
        <p:spPr bwMode="auto">
          <a:xfrm>
            <a:off x="4052489" y="2584157"/>
            <a:ext cx="3302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600578" name="Freeform 66"/>
          <p:cNvSpPr>
            <a:spLocks/>
          </p:cNvSpPr>
          <p:nvPr/>
        </p:nvSpPr>
        <p:spPr bwMode="auto">
          <a:xfrm>
            <a:off x="3787377" y="1763775"/>
            <a:ext cx="1127125" cy="819150"/>
          </a:xfrm>
          <a:custGeom>
            <a:avLst/>
            <a:gdLst>
              <a:gd name="T0" fmla="*/ 0 w 710"/>
              <a:gd name="T1" fmla="*/ 0 h 502"/>
              <a:gd name="T2" fmla="*/ 0 w 710"/>
              <a:gd name="T3" fmla="*/ 502 h 502"/>
              <a:gd name="T4" fmla="*/ 710 w 710"/>
              <a:gd name="T5" fmla="*/ 502 h 502"/>
              <a:gd name="T6" fmla="*/ 710 w 710"/>
              <a:gd name="T7" fmla="*/ 5 h 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10" h="502">
                <a:moveTo>
                  <a:pt x="0" y="0"/>
                </a:moveTo>
                <a:lnTo>
                  <a:pt x="0" y="502"/>
                </a:lnTo>
                <a:lnTo>
                  <a:pt x="710" y="502"/>
                </a:lnTo>
                <a:lnTo>
                  <a:pt x="710" y="5"/>
                </a:lnTo>
              </a:path>
            </a:pathLst>
          </a:custGeom>
          <a:solidFill>
            <a:schemeClr val="bg1"/>
          </a:solidFill>
          <a:ln w="12700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600579" name="Line 67"/>
          <p:cNvSpPr>
            <a:spLocks noChangeAspect="1" noChangeShapeType="1"/>
          </p:cNvSpPr>
          <p:nvPr/>
        </p:nvSpPr>
        <p:spPr bwMode="auto">
          <a:xfrm>
            <a:off x="4369989" y="2573044"/>
            <a:ext cx="0" cy="1304925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00582" name="Text Box 70"/>
          <p:cNvSpPr txBox="1">
            <a:spLocks noChangeAspect="1" noChangeArrowheads="1"/>
          </p:cNvSpPr>
          <p:nvPr/>
        </p:nvSpPr>
        <p:spPr bwMode="auto">
          <a:xfrm>
            <a:off x="5117702" y="1512594"/>
            <a:ext cx="574675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1400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地面</a:t>
            </a:r>
          </a:p>
        </p:txBody>
      </p:sp>
      <p:sp>
        <p:nvSpPr>
          <p:cNvPr id="1600583" name="Freeform 71"/>
          <p:cNvSpPr>
            <a:spLocks/>
          </p:cNvSpPr>
          <p:nvPr/>
        </p:nvSpPr>
        <p:spPr bwMode="auto">
          <a:xfrm>
            <a:off x="4987527" y="1615782"/>
            <a:ext cx="171450" cy="150812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600585" name="Text Box 73"/>
          <p:cNvSpPr txBox="1">
            <a:spLocks noChangeAspect="1" noChangeArrowheads="1"/>
          </p:cNvSpPr>
          <p:nvPr/>
        </p:nvSpPr>
        <p:spPr bwMode="auto">
          <a:xfrm>
            <a:off x="466372" y="4031957"/>
            <a:ext cx="2068512" cy="80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30000"/>
              </a:spcAft>
            </a:pPr>
            <a:r>
              <a: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a</a:t>
            </a: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）开挖前</a:t>
            </a:r>
          </a:p>
          <a:p>
            <a:pPr>
              <a:spcBef>
                <a:spcPct val="10000"/>
              </a:spcBef>
            </a:pP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基底处自重应力 </a:t>
            </a:r>
            <a:r>
              <a:rPr lang="zh-CN" altLang="en-US" sz="18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18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d</a:t>
            </a:r>
            <a:endParaRPr lang="en-US" altLang="zh-CN" sz="1800" b="1" i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00586" name="Text Box 74"/>
          <p:cNvSpPr txBox="1">
            <a:spLocks noChangeAspect="1" noChangeArrowheads="1"/>
          </p:cNvSpPr>
          <p:nvPr/>
        </p:nvSpPr>
        <p:spPr bwMode="auto">
          <a:xfrm>
            <a:off x="3015897" y="4039894"/>
            <a:ext cx="286067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marL="182563" indent="-18256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84263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20850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57438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94025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51225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08425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65625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22825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30000"/>
              </a:spcAft>
            </a:pPr>
            <a:r>
              <a: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   b</a:t>
            </a: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）开挖后</a:t>
            </a:r>
          </a:p>
          <a:p>
            <a:pPr>
              <a:spcBef>
                <a:spcPct val="10000"/>
              </a:spcBef>
              <a:buFontTx/>
              <a:buChar char="•"/>
            </a:pP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开挖后地基中自重应力分布</a:t>
            </a:r>
            <a:r>
              <a:rPr lang="zh-CN" altLang="en-US" sz="18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</a:t>
            </a:r>
            <a:r>
              <a:rPr lang="en-US" altLang="zh-CN" sz="1800" b="1" baseline="-25000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r>
              <a: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lang="zh-CN" altLang="en-US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18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r>
              <a: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lang="en-US" altLang="zh-CN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zh-CN" altLang="en-US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lang="en-US" altLang="zh-CN" sz="18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d</a:t>
            </a:r>
            <a:r>
              <a:rPr lang="en-US" altLang="zh-CN" sz="18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,z</a:t>
            </a:r>
            <a:r>
              <a: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endParaRPr lang="zh-CN" altLang="en-US" sz="1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10000"/>
              </a:spcBef>
              <a:buFontTx/>
              <a:buChar char="•"/>
            </a:pP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地基回弹，回弹量被挖除</a:t>
            </a:r>
            <a:endParaRPr lang="zh-CN" altLang="en-US" sz="1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600587" name="Text Box 75"/>
          <p:cNvSpPr txBox="1">
            <a:spLocks noChangeAspect="1" noChangeArrowheads="1"/>
          </p:cNvSpPr>
          <p:nvPr/>
        </p:nvSpPr>
        <p:spPr bwMode="auto">
          <a:xfrm>
            <a:off x="6055959" y="4043069"/>
            <a:ext cx="3009900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marL="182563" indent="-18256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93788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30375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66963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3003550" indent="-457200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60750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7950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75150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32350" indent="-457200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30000"/>
              </a:spcAft>
            </a:pPr>
            <a:r>
              <a: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b</a:t>
            </a: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）施工完成后</a:t>
            </a:r>
          </a:p>
          <a:p>
            <a:pPr>
              <a:spcBef>
                <a:spcPct val="10000"/>
              </a:spcBef>
              <a:buFontTx/>
              <a:buChar char="•"/>
            </a:pP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基底总压力</a:t>
            </a:r>
            <a:r>
              <a:rPr lang="en-US" altLang="zh-CN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引起地基压缩</a:t>
            </a:r>
            <a:endParaRPr lang="en-US" altLang="zh-CN" sz="18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spcBef>
                <a:spcPct val="10000"/>
              </a:spcBef>
              <a:buFontTx/>
              <a:buChar char="•"/>
            </a:pPr>
            <a:r>
              <a:rPr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地基应力：</a:t>
            </a:r>
            <a:r>
              <a:rPr lang="zh-CN" altLang="en-US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/>
            </a:r>
            <a:br>
              <a:rPr lang="zh-CN" altLang="en-US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</a:br>
            <a:r>
              <a:rPr lang="zh-CN" altLang="en-US" sz="18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</a:t>
            </a:r>
            <a:r>
              <a:rPr lang="en-US" altLang="zh-CN" sz="1800" b="1" baseline="-25000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r>
              <a:rPr lang="en-US" altLang="zh-CN" sz="1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 </a:t>
            </a:r>
            <a:r>
              <a:rPr lang="zh-CN" altLang="en-US" sz="18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1800" b="1" baseline="-25000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r>
              <a:rPr lang="en-US" altLang="zh-CN" sz="1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 </a:t>
            </a:r>
            <a:r>
              <a:rPr lang="zh-CN" altLang="en-US" sz="18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</a:t>
            </a:r>
            <a:r>
              <a:rPr lang="en-US" altLang="zh-CN" sz="1800" b="1" baseline="-25000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r>
              <a:rPr lang="en-US" altLang="zh-CN" sz="1400" dirty="0"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18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 </a:t>
            </a:r>
            <a:r>
              <a:rPr lang="zh-CN" altLang="en-US" sz="18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1800" b="1" baseline="-25000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  </a:t>
            </a:r>
            <a:endParaRPr lang="en-US" altLang="zh-CN" sz="18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600573" name="Rectangle 61"/>
          <p:cNvSpPr>
            <a:spLocks noChangeAspect="1" noChangeArrowheads="1"/>
          </p:cNvSpPr>
          <p:nvPr/>
        </p:nvSpPr>
        <p:spPr bwMode="auto">
          <a:xfrm>
            <a:off x="4046139" y="2233319"/>
            <a:ext cx="339725" cy="325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/>
          <a:p>
            <a:pPr defTabSz="65881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700" b="1" i="1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1700" b="1" i="1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d</a:t>
            </a:r>
          </a:p>
        </p:txBody>
      </p:sp>
      <p:sp>
        <p:nvSpPr>
          <p:cNvPr id="1600588" name="Freeform 76"/>
          <p:cNvSpPr>
            <a:spLocks/>
          </p:cNvSpPr>
          <p:nvPr/>
        </p:nvSpPr>
        <p:spPr bwMode="auto">
          <a:xfrm>
            <a:off x="3722289" y="2593682"/>
            <a:ext cx="644525" cy="1169987"/>
          </a:xfrm>
          <a:custGeom>
            <a:avLst/>
            <a:gdLst>
              <a:gd name="T0" fmla="*/ 406 w 406"/>
              <a:gd name="T1" fmla="*/ 0 h 737"/>
              <a:gd name="T2" fmla="*/ 199 w 406"/>
              <a:gd name="T3" fmla="*/ 202 h 737"/>
              <a:gd name="T4" fmla="*/ 0 w 406"/>
              <a:gd name="T5" fmla="*/ 737 h 7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6" h="737">
                <a:moveTo>
                  <a:pt x="406" y="0"/>
                </a:moveTo>
                <a:lnTo>
                  <a:pt x="199" y="202"/>
                </a:lnTo>
                <a:lnTo>
                  <a:pt x="0" y="737"/>
                </a:lnTo>
              </a:path>
            </a:pathLst>
          </a:custGeom>
          <a:noFill/>
          <a:ln w="19050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600590" name="Text Box 78"/>
          <p:cNvSpPr txBox="1">
            <a:spLocks noChangeArrowheads="1"/>
          </p:cNvSpPr>
          <p:nvPr/>
        </p:nvSpPr>
        <p:spPr bwMode="auto">
          <a:xfrm>
            <a:off x="3904852" y="3389019"/>
            <a:ext cx="598487" cy="37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20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</a:t>
            </a:r>
            <a:r>
              <a:rPr kumimoji="0" lang="en-US" altLang="zh-CN" sz="2000" b="1" baseline="-25000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kumimoji="0" lang="en-US" altLang="zh-CN" sz="20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600591" name="Line 79"/>
          <p:cNvSpPr>
            <a:spLocks noChangeShapeType="1"/>
          </p:cNvSpPr>
          <p:nvPr/>
        </p:nvSpPr>
        <p:spPr bwMode="auto">
          <a:xfrm>
            <a:off x="3885802" y="3352507"/>
            <a:ext cx="92075" cy="171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600593" name="Text Box 81"/>
          <p:cNvSpPr txBox="1">
            <a:spLocks noChangeArrowheads="1"/>
          </p:cNvSpPr>
          <p:nvPr/>
        </p:nvSpPr>
        <p:spPr bwMode="auto">
          <a:xfrm>
            <a:off x="6884588" y="3320757"/>
            <a:ext cx="581025" cy="37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20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</a:t>
            </a:r>
            <a:r>
              <a:rPr kumimoji="0" lang="en-US" altLang="zh-CN" sz="2000" b="1" baseline="-25000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kumimoji="0" lang="en-US" altLang="zh-CN" sz="20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600594" name="Line 82"/>
          <p:cNvSpPr>
            <a:spLocks noChangeShapeType="1"/>
          </p:cNvSpPr>
          <p:nvPr/>
        </p:nvSpPr>
        <p:spPr bwMode="auto">
          <a:xfrm>
            <a:off x="6865539" y="3284244"/>
            <a:ext cx="92075" cy="171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600595" name="Freeform 83" descr="浅色横线"/>
          <p:cNvSpPr>
            <a:spLocks/>
          </p:cNvSpPr>
          <p:nvPr/>
        </p:nvSpPr>
        <p:spPr bwMode="auto">
          <a:xfrm>
            <a:off x="6597253" y="2595303"/>
            <a:ext cx="726900" cy="1212816"/>
          </a:xfrm>
          <a:custGeom>
            <a:avLst/>
            <a:gdLst>
              <a:gd name="T0" fmla="*/ 252 w 449"/>
              <a:gd name="T1" fmla="*/ 2 h 746"/>
              <a:gd name="T2" fmla="*/ 142 w 449"/>
              <a:gd name="T3" fmla="*/ 211 h 746"/>
              <a:gd name="T4" fmla="*/ 0 w 449"/>
              <a:gd name="T5" fmla="*/ 746 h 746"/>
              <a:gd name="T6" fmla="*/ 41 w 449"/>
              <a:gd name="T7" fmla="*/ 744 h 746"/>
              <a:gd name="T8" fmla="*/ 235 w 449"/>
              <a:gd name="T9" fmla="*/ 204 h 746"/>
              <a:gd name="T10" fmla="*/ 449 w 449"/>
              <a:gd name="T11" fmla="*/ 0 h 746"/>
              <a:gd name="T12" fmla="*/ 252 w 449"/>
              <a:gd name="T13" fmla="*/ 2 h 746"/>
              <a:gd name="connsiteX0" fmla="*/ 6008 w 10000"/>
              <a:gd name="connsiteY0" fmla="*/ 0 h 10241"/>
              <a:gd name="connsiteX1" fmla="*/ 3163 w 10000"/>
              <a:gd name="connsiteY1" fmla="*/ 3069 h 10241"/>
              <a:gd name="connsiteX2" fmla="*/ 0 w 10000"/>
              <a:gd name="connsiteY2" fmla="*/ 10241 h 10241"/>
              <a:gd name="connsiteX3" fmla="*/ 913 w 10000"/>
              <a:gd name="connsiteY3" fmla="*/ 10214 h 10241"/>
              <a:gd name="connsiteX4" fmla="*/ 5234 w 10000"/>
              <a:gd name="connsiteY4" fmla="*/ 2976 h 10241"/>
              <a:gd name="connsiteX5" fmla="*/ 10000 w 10000"/>
              <a:gd name="connsiteY5" fmla="*/ 241 h 10241"/>
              <a:gd name="connsiteX6" fmla="*/ 6008 w 10000"/>
              <a:gd name="connsiteY6" fmla="*/ 0 h 10241"/>
              <a:gd name="connsiteX0" fmla="*/ 6008 w 10198"/>
              <a:gd name="connsiteY0" fmla="*/ 0 h 10241"/>
              <a:gd name="connsiteX1" fmla="*/ 3163 w 10198"/>
              <a:gd name="connsiteY1" fmla="*/ 3069 h 10241"/>
              <a:gd name="connsiteX2" fmla="*/ 0 w 10198"/>
              <a:gd name="connsiteY2" fmla="*/ 10241 h 10241"/>
              <a:gd name="connsiteX3" fmla="*/ 913 w 10198"/>
              <a:gd name="connsiteY3" fmla="*/ 10214 h 10241"/>
              <a:gd name="connsiteX4" fmla="*/ 5234 w 10198"/>
              <a:gd name="connsiteY4" fmla="*/ 2976 h 10241"/>
              <a:gd name="connsiteX5" fmla="*/ 10198 w 10198"/>
              <a:gd name="connsiteY5" fmla="*/ 3 h 10241"/>
              <a:gd name="connsiteX6" fmla="*/ 6008 w 10198"/>
              <a:gd name="connsiteY6" fmla="*/ 0 h 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98" h="10241">
                <a:moveTo>
                  <a:pt x="6008" y="0"/>
                </a:moveTo>
                <a:lnTo>
                  <a:pt x="3163" y="3069"/>
                </a:lnTo>
                <a:lnTo>
                  <a:pt x="0" y="10241"/>
                </a:lnTo>
                <a:lnTo>
                  <a:pt x="913" y="10214"/>
                </a:lnTo>
                <a:lnTo>
                  <a:pt x="5234" y="2976"/>
                </a:lnTo>
                <a:lnTo>
                  <a:pt x="10198" y="3"/>
                </a:lnTo>
                <a:lnTo>
                  <a:pt x="6008" y="0"/>
                </a:lnTo>
                <a:close/>
              </a:path>
            </a:pathLst>
          </a:custGeom>
          <a:pattFill prst="ltHorz">
            <a:fgClr>
              <a:srgbClr val="A5002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600596" name="Freeform 84"/>
          <p:cNvSpPr>
            <a:spLocks/>
          </p:cNvSpPr>
          <p:nvPr/>
        </p:nvSpPr>
        <p:spPr bwMode="auto">
          <a:xfrm>
            <a:off x="6584552" y="2609557"/>
            <a:ext cx="423862" cy="1200150"/>
          </a:xfrm>
          <a:custGeom>
            <a:avLst/>
            <a:gdLst>
              <a:gd name="T0" fmla="*/ 267 w 267"/>
              <a:gd name="T1" fmla="*/ 5 h 756"/>
              <a:gd name="T2" fmla="*/ 262 w 267"/>
              <a:gd name="T3" fmla="*/ 0 h 756"/>
              <a:gd name="T4" fmla="*/ 140 w 267"/>
              <a:gd name="T5" fmla="*/ 221 h 756"/>
              <a:gd name="T6" fmla="*/ 0 w 267"/>
              <a:gd name="T7" fmla="*/ 756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7" h="756">
                <a:moveTo>
                  <a:pt x="267" y="5"/>
                </a:moveTo>
                <a:lnTo>
                  <a:pt x="262" y="0"/>
                </a:lnTo>
                <a:lnTo>
                  <a:pt x="140" y="221"/>
                </a:lnTo>
                <a:lnTo>
                  <a:pt x="0" y="756"/>
                </a:lnTo>
              </a:path>
            </a:pathLst>
          </a:custGeom>
          <a:noFill/>
          <a:ln w="28575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00597" name="Text Box 85"/>
          <p:cNvSpPr txBox="1">
            <a:spLocks noChangeArrowheads="1"/>
          </p:cNvSpPr>
          <p:nvPr/>
        </p:nvSpPr>
        <p:spPr bwMode="auto">
          <a:xfrm>
            <a:off x="6233714" y="3304882"/>
            <a:ext cx="431100" cy="374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20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kumimoji="0" lang="en-US" altLang="zh-CN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600598" name="Rectangle 86"/>
          <p:cNvSpPr>
            <a:spLocks noChangeAspect="1" noChangeArrowheads="1"/>
          </p:cNvSpPr>
          <p:nvPr/>
        </p:nvSpPr>
        <p:spPr bwMode="auto">
          <a:xfrm>
            <a:off x="7005239" y="2276182"/>
            <a:ext cx="339725" cy="32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/>
          <a:p>
            <a:pPr defTabSz="65881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7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17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d</a:t>
            </a:r>
          </a:p>
        </p:txBody>
      </p:sp>
      <p:sp>
        <p:nvSpPr>
          <p:cNvPr id="1600592" name="Freeform 80"/>
          <p:cNvSpPr>
            <a:spLocks/>
          </p:cNvSpPr>
          <p:nvPr/>
        </p:nvSpPr>
        <p:spPr bwMode="auto">
          <a:xfrm>
            <a:off x="6681389" y="2601619"/>
            <a:ext cx="644525" cy="1169988"/>
          </a:xfrm>
          <a:custGeom>
            <a:avLst/>
            <a:gdLst>
              <a:gd name="T0" fmla="*/ 406 w 406"/>
              <a:gd name="T1" fmla="*/ 0 h 737"/>
              <a:gd name="T2" fmla="*/ 199 w 406"/>
              <a:gd name="T3" fmla="*/ 202 h 737"/>
              <a:gd name="T4" fmla="*/ 0 w 406"/>
              <a:gd name="T5" fmla="*/ 737 h 7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6" h="737">
                <a:moveTo>
                  <a:pt x="406" y="0"/>
                </a:moveTo>
                <a:lnTo>
                  <a:pt x="199" y="202"/>
                </a:lnTo>
                <a:lnTo>
                  <a:pt x="0" y="737"/>
                </a:lnTo>
              </a:path>
            </a:pathLst>
          </a:custGeom>
          <a:noFill/>
          <a:ln w="19050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7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4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考虑回弹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 bwMode="auto">
          <a:xfrm>
            <a:off x="6371085" y="2944439"/>
            <a:ext cx="2344253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直接连接符 4"/>
          <p:cNvCxnSpPr/>
          <p:nvPr/>
        </p:nvCxnSpPr>
        <p:spPr bwMode="auto">
          <a:xfrm>
            <a:off x="3326595" y="2925252"/>
            <a:ext cx="235427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连接符 6"/>
          <p:cNvCxnSpPr/>
          <p:nvPr/>
        </p:nvCxnSpPr>
        <p:spPr bwMode="auto">
          <a:xfrm>
            <a:off x="554433" y="2908702"/>
            <a:ext cx="2362544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341" name="Rectangle 85"/>
          <p:cNvSpPr>
            <a:spLocks noChangeArrowheads="1"/>
          </p:cNvSpPr>
          <p:nvPr/>
        </p:nvSpPr>
        <p:spPr bwMode="auto">
          <a:xfrm>
            <a:off x="168275" y="677863"/>
            <a:ext cx="3549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计算步骤 </a:t>
            </a:r>
            <a:r>
              <a:rPr kumimoji="1" lang="en-US" altLang="zh-CN" sz="2800" b="1">
                <a:solidFill>
                  <a:srgbClr val="000066"/>
                </a:solidFill>
                <a:latin typeface="Times New Roman"/>
                <a:ea typeface="幼圆" pitchFamily="49" charset="-122"/>
                <a:sym typeface="Symbol" pitchFamily="18" charset="2"/>
              </a:rPr>
              <a:t>–</a:t>
            </a:r>
            <a:r>
              <a:rPr kumimoji="1" lang="en-US" altLang="zh-CN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情况</a:t>
            </a:r>
            <a:r>
              <a:rPr kumimoji="1" lang="en-US" altLang="zh-CN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2</a:t>
            </a:r>
          </a:p>
        </p:txBody>
      </p:sp>
      <p:sp>
        <p:nvSpPr>
          <p:cNvPr id="1376342" name="Rectangle 86"/>
          <p:cNvSpPr>
            <a:spLocks noChangeArrowheads="1"/>
          </p:cNvSpPr>
          <p:nvPr/>
        </p:nvSpPr>
        <p:spPr bwMode="auto">
          <a:xfrm>
            <a:off x="1892947" y="5831301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376343" name="Text Box 87"/>
          <p:cNvSpPr txBox="1">
            <a:spLocks noChangeArrowheads="1"/>
          </p:cNvSpPr>
          <p:nvPr/>
        </p:nvSpPr>
        <p:spPr bwMode="auto">
          <a:xfrm>
            <a:off x="508882" y="1313788"/>
            <a:ext cx="4131362" cy="2603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87438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724025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360613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99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454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911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368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8260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355600" indent="-3556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原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地基自重应力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分布</a:t>
            </a:r>
            <a:r>
              <a:rPr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lang="en-US" altLang="zh-CN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55600" indent="-3556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开挖后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地基自重应力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分布</a:t>
            </a:r>
          </a:p>
          <a:p>
            <a:pPr marL="355600" indent="-3556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+mj-lt"/>
              <a:buAutoNum type="arabicPeriod"/>
            </a:pPr>
            <a:endParaRPr lang="zh-CN" altLang="en-US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55600" indent="-3556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+mj-lt"/>
              <a:buAutoNum type="arabicPeriod"/>
            </a:pPr>
            <a:endParaRPr lang="zh-CN" altLang="en-US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55600" indent="-35560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 typeface="+mj-lt"/>
              <a:buAutoNum type="arabicPeriod"/>
            </a:pP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中附加应力</a:t>
            </a:r>
            <a:r>
              <a:rPr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分布</a:t>
            </a:r>
          </a:p>
        </p:txBody>
      </p:sp>
      <p:sp>
        <p:nvSpPr>
          <p:cNvPr id="1376387" name="AutoShape 131"/>
          <p:cNvSpPr>
            <a:spLocks noChangeArrowheads="1"/>
          </p:cNvSpPr>
          <p:nvPr/>
        </p:nvSpPr>
        <p:spPr bwMode="auto">
          <a:xfrm>
            <a:off x="879475" y="4581525"/>
            <a:ext cx="1838325" cy="56515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下同情况</a:t>
            </a:r>
            <a:r>
              <a:rPr kumimoji="1" lang="en-US" altLang="zh-CN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1</a:t>
            </a:r>
          </a:p>
        </p:txBody>
      </p:sp>
      <p:sp>
        <p:nvSpPr>
          <p:cNvPr id="5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考虑回弹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52" name="Group 7"/>
          <p:cNvGrpSpPr>
            <a:grpSpLocks/>
          </p:cNvGrpSpPr>
          <p:nvPr/>
        </p:nvGrpSpPr>
        <p:grpSpPr bwMode="auto">
          <a:xfrm>
            <a:off x="4551099" y="1169988"/>
            <a:ext cx="4340225" cy="4591050"/>
            <a:chOff x="2970" y="767"/>
            <a:chExt cx="2734" cy="2892"/>
          </a:xfrm>
        </p:grpSpPr>
        <p:sp>
          <p:nvSpPr>
            <p:cNvPr id="53" name="Rectangle 8"/>
            <p:cNvSpPr>
              <a:spLocks noChangeArrowheads="1"/>
            </p:cNvSpPr>
            <p:nvPr/>
          </p:nvSpPr>
          <p:spPr bwMode="auto">
            <a:xfrm>
              <a:off x="2970" y="767"/>
              <a:ext cx="2716" cy="28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Rectangle 9"/>
            <p:cNvSpPr>
              <a:spLocks noChangeArrowheads="1"/>
            </p:cNvSpPr>
            <p:nvPr/>
          </p:nvSpPr>
          <p:spPr bwMode="auto">
            <a:xfrm>
              <a:off x="3009" y="2559"/>
              <a:ext cx="2646" cy="98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Rectangle 10"/>
            <p:cNvSpPr>
              <a:spLocks noChangeArrowheads="1"/>
            </p:cNvSpPr>
            <p:nvPr/>
          </p:nvSpPr>
          <p:spPr bwMode="auto">
            <a:xfrm>
              <a:off x="2998" y="1963"/>
              <a:ext cx="2646" cy="98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Rectangle 11"/>
            <p:cNvSpPr>
              <a:spLocks noChangeArrowheads="1"/>
            </p:cNvSpPr>
            <p:nvPr/>
          </p:nvSpPr>
          <p:spPr bwMode="auto">
            <a:xfrm>
              <a:off x="3003" y="1654"/>
              <a:ext cx="2653" cy="309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Freeform 12" descr="浅色横线"/>
            <p:cNvSpPr>
              <a:spLocks/>
            </p:cNvSpPr>
            <p:nvPr/>
          </p:nvSpPr>
          <p:spPr bwMode="auto">
            <a:xfrm>
              <a:off x="3283" y="1658"/>
              <a:ext cx="871" cy="1888"/>
            </a:xfrm>
            <a:custGeom>
              <a:avLst/>
              <a:gdLst>
                <a:gd name="T0" fmla="*/ 531 w 871"/>
                <a:gd name="T1" fmla="*/ 0 h 1888"/>
                <a:gd name="T2" fmla="*/ 871 w 871"/>
                <a:gd name="T3" fmla="*/ 0 h 1888"/>
                <a:gd name="T4" fmla="*/ 704 w 871"/>
                <a:gd name="T5" fmla="*/ 128 h 1888"/>
                <a:gd name="T6" fmla="*/ 512 w 871"/>
                <a:gd name="T7" fmla="*/ 313 h 1888"/>
                <a:gd name="T8" fmla="*/ 403 w 871"/>
                <a:gd name="T9" fmla="*/ 550 h 1888"/>
                <a:gd name="T10" fmla="*/ 301 w 871"/>
                <a:gd name="T11" fmla="*/ 812 h 1888"/>
                <a:gd name="T12" fmla="*/ 231 w 871"/>
                <a:gd name="T13" fmla="*/ 1011 h 1888"/>
                <a:gd name="T14" fmla="*/ 160 w 871"/>
                <a:gd name="T15" fmla="*/ 1254 h 1888"/>
                <a:gd name="T16" fmla="*/ 109 w 871"/>
                <a:gd name="T17" fmla="*/ 1465 h 1888"/>
                <a:gd name="T18" fmla="*/ 77 w 871"/>
                <a:gd name="T19" fmla="*/ 1568 h 1888"/>
                <a:gd name="T20" fmla="*/ 39 w 871"/>
                <a:gd name="T21" fmla="*/ 1798 h 1888"/>
                <a:gd name="T22" fmla="*/ 32 w 871"/>
                <a:gd name="T23" fmla="*/ 1888 h 1888"/>
                <a:gd name="T24" fmla="*/ 0 w 871"/>
                <a:gd name="T25" fmla="*/ 1881 h 1888"/>
                <a:gd name="T26" fmla="*/ 58 w 871"/>
                <a:gd name="T27" fmla="*/ 1510 h 1888"/>
                <a:gd name="T28" fmla="*/ 90 w 871"/>
                <a:gd name="T29" fmla="*/ 1299 h 1888"/>
                <a:gd name="T30" fmla="*/ 346 w 871"/>
                <a:gd name="T31" fmla="*/ 281 h 1888"/>
                <a:gd name="T32" fmla="*/ 531 w 871"/>
                <a:gd name="T33" fmla="*/ 0 h 1888"/>
                <a:gd name="connsiteX0" fmla="*/ 6096 w 10000"/>
                <a:gd name="connsiteY0" fmla="*/ 0 h 10000"/>
                <a:gd name="connsiteX1" fmla="*/ 10000 w 10000"/>
                <a:gd name="connsiteY1" fmla="*/ 0 h 10000"/>
                <a:gd name="connsiteX2" fmla="*/ 8083 w 10000"/>
                <a:gd name="connsiteY2" fmla="*/ 678 h 10000"/>
                <a:gd name="connsiteX3" fmla="*/ 5878 w 10000"/>
                <a:gd name="connsiteY3" fmla="*/ 1658 h 10000"/>
                <a:gd name="connsiteX4" fmla="*/ 4627 w 10000"/>
                <a:gd name="connsiteY4" fmla="*/ 2913 h 10000"/>
                <a:gd name="connsiteX5" fmla="*/ 3456 w 10000"/>
                <a:gd name="connsiteY5" fmla="*/ 4301 h 10000"/>
                <a:gd name="connsiteX6" fmla="*/ 2652 w 10000"/>
                <a:gd name="connsiteY6" fmla="*/ 5355 h 10000"/>
                <a:gd name="connsiteX7" fmla="*/ 1837 w 10000"/>
                <a:gd name="connsiteY7" fmla="*/ 6642 h 10000"/>
                <a:gd name="connsiteX8" fmla="*/ 1251 w 10000"/>
                <a:gd name="connsiteY8" fmla="*/ 7760 h 10000"/>
                <a:gd name="connsiteX9" fmla="*/ 884 w 10000"/>
                <a:gd name="connsiteY9" fmla="*/ 8305 h 10000"/>
                <a:gd name="connsiteX10" fmla="*/ 448 w 10000"/>
                <a:gd name="connsiteY10" fmla="*/ 9523 h 10000"/>
                <a:gd name="connsiteX11" fmla="*/ 367 w 10000"/>
                <a:gd name="connsiteY11" fmla="*/ 10000 h 10000"/>
                <a:gd name="connsiteX12" fmla="*/ 0 w 10000"/>
                <a:gd name="connsiteY12" fmla="*/ 9963 h 10000"/>
                <a:gd name="connsiteX13" fmla="*/ 666 w 10000"/>
                <a:gd name="connsiteY13" fmla="*/ 7998 h 10000"/>
                <a:gd name="connsiteX14" fmla="*/ 1033 w 10000"/>
                <a:gd name="connsiteY14" fmla="*/ 6880 h 10000"/>
                <a:gd name="connsiteX15" fmla="*/ 3972 w 10000"/>
                <a:gd name="connsiteY15" fmla="*/ 1488 h 10000"/>
                <a:gd name="connsiteX16" fmla="*/ 6192 w 10000"/>
                <a:gd name="connsiteY16" fmla="*/ 29 h 10000"/>
                <a:gd name="connsiteX17" fmla="*/ 6096 w 10000"/>
                <a:gd name="connsiteY17" fmla="*/ 0 h 10000"/>
                <a:gd name="connsiteX0" fmla="*/ 6096 w 10000"/>
                <a:gd name="connsiteY0" fmla="*/ 0 h 10000"/>
                <a:gd name="connsiteX1" fmla="*/ 10000 w 10000"/>
                <a:gd name="connsiteY1" fmla="*/ 0 h 10000"/>
                <a:gd name="connsiteX2" fmla="*/ 8083 w 10000"/>
                <a:gd name="connsiteY2" fmla="*/ 678 h 10000"/>
                <a:gd name="connsiteX3" fmla="*/ 5878 w 10000"/>
                <a:gd name="connsiteY3" fmla="*/ 1658 h 10000"/>
                <a:gd name="connsiteX4" fmla="*/ 4627 w 10000"/>
                <a:gd name="connsiteY4" fmla="*/ 2913 h 10000"/>
                <a:gd name="connsiteX5" fmla="*/ 3456 w 10000"/>
                <a:gd name="connsiteY5" fmla="*/ 4301 h 10000"/>
                <a:gd name="connsiteX6" fmla="*/ 2652 w 10000"/>
                <a:gd name="connsiteY6" fmla="*/ 5355 h 10000"/>
                <a:gd name="connsiteX7" fmla="*/ 1837 w 10000"/>
                <a:gd name="connsiteY7" fmla="*/ 6642 h 10000"/>
                <a:gd name="connsiteX8" fmla="*/ 1251 w 10000"/>
                <a:gd name="connsiteY8" fmla="*/ 7760 h 10000"/>
                <a:gd name="connsiteX9" fmla="*/ 884 w 10000"/>
                <a:gd name="connsiteY9" fmla="*/ 8305 h 10000"/>
                <a:gd name="connsiteX10" fmla="*/ 448 w 10000"/>
                <a:gd name="connsiteY10" fmla="*/ 9523 h 10000"/>
                <a:gd name="connsiteX11" fmla="*/ 367 w 10000"/>
                <a:gd name="connsiteY11" fmla="*/ 10000 h 10000"/>
                <a:gd name="connsiteX12" fmla="*/ 0 w 10000"/>
                <a:gd name="connsiteY12" fmla="*/ 9963 h 10000"/>
                <a:gd name="connsiteX13" fmla="*/ 666 w 10000"/>
                <a:gd name="connsiteY13" fmla="*/ 7998 h 10000"/>
                <a:gd name="connsiteX14" fmla="*/ 1033 w 10000"/>
                <a:gd name="connsiteY14" fmla="*/ 6880 h 10000"/>
                <a:gd name="connsiteX15" fmla="*/ 4051 w 10000"/>
                <a:gd name="connsiteY15" fmla="*/ 1610 h 10000"/>
                <a:gd name="connsiteX16" fmla="*/ 6192 w 10000"/>
                <a:gd name="connsiteY16" fmla="*/ 29 h 10000"/>
                <a:gd name="connsiteX17" fmla="*/ 6096 w 10000"/>
                <a:gd name="connsiteY1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000" h="10000">
                  <a:moveTo>
                    <a:pt x="6096" y="0"/>
                  </a:moveTo>
                  <a:lnTo>
                    <a:pt x="10000" y="0"/>
                  </a:lnTo>
                  <a:lnTo>
                    <a:pt x="8083" y="678"/>
                  </a:lnTo>
                  <a:lnTo>
                    <a:pt x="5878" y="1658"/>
                  </a:lnTo>
                  <a:lnTo>
                    <a:pt x="4627" y="2913"/>
                  </a:lnTo>
                  <a:lnTo>
                    <a:pt x="3456" y="4301"/>
                  </a:lnTo>
                  <a:lnTo>
                    <a:pt x="2652" y="5355"/>
                  </a:lnTo>
                  <a:lnTo>
                    <a:pt x="1837" y="6642"/>
                  </a:lnTo>
                  <a:lnTo>
                    <a:pt x="1251" y="7760"/>
                  </a:lnTo>
                  <a:lnTo>
                    <a:pt x="884" y="8305"/>
                  </a:lnTo>
                  <a:lnTo>
                    <a:pt x="448" y="9523"/>
                  </a:lnTo>
                  <a:lnTo>
                    <a:pt x="367" y="10000"/>
                  </a:lnTo>
                  <a:lnTo>
                    <a:pt x="0" y="9963"/>
                  </a:lnTo>
                  <a:lnTo>
                    <a:pt x="666" y="7998"/>
                  </a:lnTo>
                  <a:cubicBezTo>
                    <a:pt x="788" y="7625"/>
                    <a:pt x="911" y="7253"/>
                    <a:pt x="1033" y="6880"/>
                  </a:cubicBezTo>
                  <a:lnTo>
                    <a:pt x="4051" y="1610"/>
                  </a:lnTo>
                  <a:lnTo>
                    <a:pt x="6192" y="29"/>
                  </a:lnTo>
                  <a:cubicBezTo>
                    <a:pt x="6160" y="19"/>
                    <a:pt x="6128" y="10"/>
                    <a:pt x="6096" y="0"/>
                  </a:cubicBezTo>
                  <a:close/>
                </a:path>
              </a:pathLst>
            </a:custGeom>
            <a:pattFill prst="ltHorz">
              <a:fgClr>
                <a:srgbClr val="006600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Rectangle 13"/>
            <p:cNvSpPr>
              <a:spLocks noChangeArrowheads="1"/>
            </p:cNvSpPr>
            <p:nvPr/>
          </p:nvSpPr>
          <p:spPr bwMode="auto">
            <a:xfrm>
              <a:off x="3007" y="1100"/>
              <a:ext cx="2646" cy="5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14"/>
            <p:cNvSpPr>
              <a:spLocks noChangeAspect="1" noChangeShapeType="1"/>
            </p:cNvSpPr>
            <p:nvPr/>
          </p:nvSpPr>
          <p:spPr bwMode="auto">
            <a:xfrm>
              <a:off x="3003" y="1096"/>
              <a:ext cx="264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Rectangle 15" descr="宽上对角线"/>
            <p:cNvSpPr>
              <a:spLocks noChangeAspect="1" noChangeArrowheads="1"/>
            </p:cNvSpPr>
            <p:nvPr/>
          </p:nvSpPr>
          <p:spPr bwMode="auto">
            <a:xfrm>
              <a:off x="3545" y="1391"/>
              <a:ext cx="1176" cy="269"/>
            </a:xfrm>
            <a:prstGeom prst="rect">
              <a:avLst/>
            </a:prstGeom>
            <a:pattFill prst="dkUpDiag">
              <a:fgClr>
                <a:srgbClr val="CCECFF"/>
              </a:fgClr>
              <a:bgClr>
                <a:schemeClr val="accent6">
                  <a:lumMod val="60000"/>
                  <a:lumOff val="40000"/>
                </a:schemeClr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16"/>
            <p:cNvSpPr>
              <a:spLocks noChangeAspect="1" noChangeShapeType="1"/>
            </p:cNvSpPr>
            <p:nvPr/>
          </p:nvSpPr>
          <p:spPr bwMode="auto">
            <a:xfrm>
              <a:off x="3372" y="1101"/>
              <a:ext cx="0" cy="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 Box 17"/>
            <p:cNvSpPr txBox="1">
              <a:spLocks noChangeAspect="1" noChangeArrowheads="1"/>
            </p:cNvSpPr>
            <p:nvPr/>
          </p:nvSpPr>
          <p:spPr bwMode="auto">
            <a:xfrm>
              <a:off x="3269" y="1221"/>
              <a:ext cx="201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63" name="Line 18"/>
            <p:cNvSpPr>
              <a:spLocks noChangeAspect="1" noChangeShapeType="1"/>
            </p:cNvSpPr>
            <p:nvPr/>
          </p:nvSpPr>
          <p:spPr bwMode="auto">
            <a:xfrm>
              <a:off x="3003" y="1660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20"/>
            <p:cNvSpPr>
              <a:spLocks noChangeAspect="1" noChangeShapeType="1"/>
            </p:cNvSpPr>
            <p:nvPr/>
          </p:nvSpPr>
          <p:spPr bwMode="auto">
            <a:xfrm>
              <a:off x="3004" y="2960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" name="Text Box 21"/>
            <p:cNvSpPr txBox="1">
              <a:spLocks noChangeAspect="1" noChangeArrowheads="1"/>
            </p:cNvSpPr>
            <p:nvPr/>
          </p:nvSpPr>
          <p:spPr bwMode="auto">
            <a:xfrm>
              <a:off x="5046" y="826"/>
              <a:ext cx="6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地面</a:t>
              </a:r>
            </a:p>
          </p:txBody>
        </p:sp>
        <p:sp>
          <p:nvSpPr>
            <p:cNvPr id="66" name="Rectangle 22"/>
            <p:cNvSpPr>
              <a:spLocks noChangeAspect="1" noChangeArrowheads="1"/>
            </p:cNvSpPr>
            <p:nvPr/>
          </p:nvSpPr>
          <p:spPr bwMode="auto">
            <a:xfrm>
              <a:off x="5240" y="1418"/>
              <a:ext cx="4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基底</a:t>
              </a:r>
            </a:p>
          </p:txBody>
        </p:sp>
        <p:sp>
          <p:nvSpPr>
            <p:cNvPr id="67" name="Freeform 23"/>
            <p:cNvSpPr>
              <a:spLocks/>
            </p:cNvSpPr>
            <p:nvPr/>
          </p:nvSpPr>
          <p:spPr bwMode="auto">
            <a:xfrm>
              <a:off x="4858" y="941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Freeform 24"/>
            <p:cNvSpPr>
              <a:spLocks/>
            </p:cNvSpPr>
            <p:nvPr/>
          </p:nvSpPr>
          <p:spPr bwMode="auto">
            <a:xfrm>
              <a:off x="5082" y="1523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Rectangle 25" descr="横向砖形"/>
            <p:cNvSpPr>
              <a:spLocks noChangeAspect="1" noChangeArrowheads="1"/>
            </p:cNvSpPr>
            <p:nvPr/>
          </p:nvSpPr>
          <p:spPr bwMode="auto">
            <a:xfrm>
              <a:off x="3963" y="1042"/>
              <a:ext cx="370" cy="349"/>
            </a:xfrm>
            <a:prstGeom prst="rect">
              <a:avLst/>
            </a:prstGeom>
            <a:pattFill prst="horzBrick">
              <a:fgClr>
                <a:srgbClr val="FFCC00"/>
              </a:fgClr>
              <a:bgClr>
                <a:srgbClr val="FF9966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26"/>
            <p:cNvSpPr>
              <a:spLocks noChangeAspect="1" noChangeShapeType="1"/>
            </p:cNvSpPr>
            <p:nvPr/>
          </p:nvSpPr>
          <p:spPr bwMode="auto">
            <a:xfrm>
              <a:off x="3011" y="3546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1" name="Text Box 27"/>
            <p:cNvSpPr txBox="1">
              <a:spLocks noChangeAspect="1" noChangeArrowheads="1"/>
            </p:cNvSpPr>
            <p:nvPr/>
          </p:nvSpPr>
          <p:spPr bwMode="auto">
            <a:xfrm>
              <a:off x="4677" y="3288"/>
              <a:ext cx="88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计算深度</a:t>
              </a:r>
            </a:p>
          </p:txBody>
        </p:sp>
        <p:sp>
          <p:nvSpPr>
            <p:cNvPr id="72" name="Freeform 28"/>
            <p:cNvSpPr>
              <a:spLocks/>
            </p:cNvSpPr>
            <p:nvPr/>
          </p:nvSpPr>
          <p:spPr bwMode="auto">
            <a:xfrm>
              <a:off x="4498" y="3398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Freeform 29"/>
            <p:cNvSpPr>
              <a:spLocks noChangeAspect="1"/>
            </p:cNvSpPr>
            <p:nvPr/>
          </p:nvSpPr>
          <p:spPr bwMode="auto">
            <a:xfrm>
              <a:off x="4138" y="1104"/>
              <a:ext cx="4" cy="2440"/>
            </a:xfrm>
            <a:custGeom>
              <a:avLst/>
              <a:gdLst>
                <a:gd name="T0" fmla="*/ 0 w 4"/>
                <a:gd name="T1" fmla="*/ 0 h 2440"/>
                <a:gd name="T2" fmla="*/ 4 w 4"/>
                <a:gd name="T3" fmla="*/ 2440 h 2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440">
                  <a:moveTo>
                    <a:pt x="0" y="0"/>
                  </a:moveTo>
                  <a:lnTo>
                    <a:pt x="4" y="244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prstDash val="lg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4" name="Freeform 30"/>
            <p:cNvSpPr>
              <a:spLocks/>
            </p:cNvSpPr>
            <p:nvPr/>
          </p:nvSpPr>
          <p:spPr bwMode="auto">
            <a:xfrm>
              <a:off x="3289" y="1085"/>
              <a:ext cx="849" cy="2449"/>
            </a:xfrm>
            <a:custGeom>
              <a:avLst/>
              <a:gdLst>
                <a:gd name="T0" fmla="*/ 849 w 849"/>
                <a:gd name="T1" fmla="*/ 0 h 2449"/>
                <a:gd name="T2" fmla="*/ 538 w 849"/>
                <a:gd name="T3" fmla="*/ 577 h 2449"/>
                <a:gd name="T4" fmla="*/ 336 w 849"/>
                <a:gd name="T5" fmla="*/ 884 h 2449"/>
                <a:gd name="T6" fmla="*/ 77 w 849"/>
                <a:gd name="T7" fmla="*/ 1863 h 2449"/>
                <a:gd name="T8" fmla="*/ 0 w 849"/>
                <a:gd name="T9" fmla="*/ 2449 h 2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9" h="2449">
                  <a:moveTo>
                    <a:pt x="849" y="0"/>
                  </a:moveTo>
                  <a:lnTo>
                    <a:pt x="538" y="577"/>
                  </a:lnTo>
                  <a:lnTo>
                    <a:pt x="336" y="884"/>
                  </a:lnTo>
                  <a:lnTo>
                    <a:pt x="77" y="1863"/>
                  </a:lnTo>
                  <a:lnTo>
                    <a:pt x="0" y="2449"/>
                  </a:lnTo>
                </a:path>
              </a:pathLst>
            </a:custGeom>
            <a:noFill/>
            <a:ln w="19050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31"/>
            <p:cNvSpPr>
              <a:spLocks/>
            </p:cNvSpPr>
            <p:nvPr/>
          </p:nvSpPr>
          <p:spPr bwMode="auto">
            <a:xfrm>
              <a:off x="4297" y="1662"/>
              <a:ext cx="740" cy="1881"/>
            </a:xfrm>
            <a:custGeom>
              <a:avLst/>
              <a:gdLst>
                <a:gd name="T0" fmla="*/ 740 w 740"/>
                <a:gd name="T1" fmla="*/ 0 h 1881"/>
                <a:gd name="T2" fmla="*/ 720 w 740"/>
                <a:gd name="T3" fmla="*/ 269 h 1881"/>
                <a:gd name="T4" fmla="*/ 644 w 740"/>
                <a:gd name="T5" fmla="*/ 585 h 1881"/>
                <a:gd name="T6" fmla="*/ 480 w 740"/>
                <a:gd name="T7" fmla="*/ 1008 h 1881"/>
                <a:gd name="T8" fmla="*/ 183 w 740"/>
                <a:gd name="T9" fmla="*/ 1469 h 1881"/>
                <a:gd name="T10" fmla="*/ 39 w 740"/>
                <a:gd name="T11" fmla="*/ 1718 h 1881"/>
                <a:gd name="T12" fmla="*/ 0 w 740"/>
                <a:gd name="T13" fmla="*/ 1881 h 1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1881">
                  <a:moveTo>
                    <a:pt x="740" y="0"/>
                  </a:moveTo>
                  <a:cubicBezTo>
                    <a:pt x="738" y="86"/>
                    <a:pt x="736" y="172"/>
                    <a:pt x="720" y="269"/>
                  </a:cubicBezTo>
                  <a:cubicBezTo>
                    <a:pt x="704" y="366"/>
                    <a:pt x="684" y="462"/>
                    <a:pt x="644" y="585"/>
                  </a:cubicBezTo>
                  <a:cubicBezTo>
                    <a:pt x="604" y="708"/>
                    <a:pt x="557" y="861"/>
                    <a:pt x="480" y="1008"/>
                  </a:cubicBezTo>
                  <a:cubicBezTo>
                    <a:pt x="403" y="1155"/>
                    <a:pt x="256" y="1351"/>
                    <a:pt x="183" y="1469"/>
                  </a:cubicBezTo>
                  <a:cubicBezTo>
                    <a:pt x="110" y="1587"/>
                    <a:pt x="70" y="1649"/>
                    <a:pt x="39" y="1718"/>
                  </a:cubicBezTo>
                  <a:cubicBezTo>
                    <a:pt x="8" y="1787"/>
                    <a:pt x="4" y="1834"/>
                    <a:pt x="0" y="1881"/>
                  </a:cubicBez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 Box 32"/>
            <p:cNvSpPr txBox="1">
              <a:spLocks noChangeAspect="1" noChangeArrowheads="1"/>
            </p:cNvSpPr>
            <p:nvPr/>
          </p:nvSpPr>
          <p:spPr bwMode="auto">
            <a:xfrm>
              <a:off x="3061" y="1198"/>
              <a:ext cx="201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</a:t>
              </a:r>
            </a:p>
          </p:txBody>
        </p:sp>
        <p:sp>
          <p:nvSpPr>
            <p:cNvPr id="77" name="Text Box 33"/>
            <p:cNvSpPr txBox="1">
              <a:spLocks noChangeAspect="1" noChangeArrowheads="1"/>
            </p:cNvSpPr>
            <p:nvPr/>
          </p:nvSpPr>
          <p:spPr bwMode="auto">
            <a:xfrm>
              <a:off x="4470" y="136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endParaRPr kumimoji="1" lang="en-US" altLang="zh-CN" sz="2400" b="1" i="1" baseline="-2500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8" name="Line 34"/>
            <p:cNvSpPr>
              <a:spLocks noChangeAspect="1" noChangeShapeType="1"/>
            </p:cNvSpPr>
            <p:nvPr/>
          </p:nvSpPr>
          <p:spPr bwMode="auto">
            <a:xfrm>
              <a:off x="4147" y="1664"/>
              <a:ext cx="903" cy="1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9" name="Line 35"/>
            <p:cNvSpPr>
              <a:spLocks noChangeAspect="1" noChangeShapeType="1"/>
            </p:cNvSpPr>
            <p:nvPr/>
          </p:nvSpPr>
          <p:spPr bwMode="auto">
            <a:xfrm>
              <a:off x="3829" y="1662"/>
              <a:ext cx="316" cy="1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0" name="Rectangle 36"/>
            <p:cNvSpPr>
              <a:spLocks noChangeAspect="1" noChangeArrowheads="1"/>
            </p:cNvSpPr>
            <p:nvPr/>
          </p:nvSpPr>
          <p:spPr bwMode="auto">
            <a:xfrm>
              <a:off x="3864" y="1361"/>
              <a:ext cx="3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d</a:t>
              </a:r>
            </a:p>
          </p:txBody>
        </p:sp>
        <p:sp>
          <p:nvSpPr>
            <p:cNvPr id="81" name="Line 37"/>
            <p:cNvSpPr>
              <a:spLocks noChangeShapeType="1"/>
            </p:cNvSpPr>
            <p:nvPr/>
          </p:nvSpPr>
          <p:spPr bwMode="auto">
            <a:xfrm>
              <a:off x="3957" y="1096"/>
              <a:ext cx="4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Text Box 38"/>
            <p:cNvSpPr txBox="1">
              <a:spLocks noChangeArrowheads="1"/>
            </p:cNvSpPr>
            <p:nvPr/>
          </p:nvSpPr>
          <p:spPr bwMode="auto">
            <a:xfrm>
              <a:off x="4978" y="2325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kumimoji="1" lang="en-US" altLang="zh-CN" sz="28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  <a:endParaRPr kumimoji="1" lang="en-US" altLang="zh-CN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83" name="Line 39"/>
            <p:cNvSpPr>
              <a:spLocks noChangeShapeType="1"/>
            </p:cNvSpPr>
            <p:nvPr/>
          </p:nvSpPr>
          <p:spPr bwMode="auto">
            <a:xfrm>
              <a:off x="3244" y="2718"/>
              <a:ext cx="123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40"/>
            <p:cNvSpPr>
              <a:spLocks noChangeShapeType="1"/>
            </p:cNvSpPr>
            <p:nvPr/>
          </p:nvSpPr>
          <p:spPr bwMode="auto">
            <a:xfrm>
              <a:off x="4935" y="2302"/>
              <a:ext cx="131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 Box 41"/>
            <p:cNvSpPr txBox="1">
              <a:spLocks noChangeArrowheads="1"/>
            </p:cNvSpPr>
            <p:nvPr/>
          </p:nvSpPr>
          <p:spPr bwMode="auto">
            <a:xfrm>
              <a:off x="3011" y="2362"/>
              <a:ext cx="3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800" b="1" baseline="-25000" dirty="0" err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sz</a:t>
              </a:r>
              <a:endParaRPr lang="en-US" altLang="zh-CN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86" name="Line 42"/>
            <p:cNvSpPr>
              <a:spLocks noChangeShapeType="1"/>
            </p:cNvSpPr>
            <p:nvPr/>
          </p:nvSpPr>
          <p:spPr bwMode="auto">
            <a:xfrm flipV="1">
              <a:off x="3552" y="1095"/>
              <a:ext cx="0" cy="2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43"/>
            <p:cNvSpPr>
              <a:spLocks noChangeShapeType="1"/>
            </p:cNvSpPr>
            <p:nvPr/>
          </p:nvSpPr>
          <p:spPr bwMode="auto">
            <a:xfrm flipV="1">
              <a:off x="4715" y="1106"/>
              <a:ext cx="0" cy="2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44"/>
            <p:cNvSpPr>
              <a:spLocks/>
            </p:cNvSpPr>
            <p:nvPr/>
          </p:nvSpPr>
          <p:spPr bwMode="auto">
            <a:xfrm>
              <a:off x="3312" y="1670"/>
              <a:ext cx="826" cy="1872"/>
            </a:xfrm>
            <a:custGeom>
              <a:avLst/>
              <a:gdLst>
                <a:gd name="T0" fmla="*/ 826 w 826"/>
                <a:gd name="T1" fmla="*/ 0 h 1872"/>
                <a:gd name="T2" fmla="*/ 726 w 826"/>
                <a:gd name="T3" fmla="*/ 77 h 1872"/>
                <a:gd name="T4" fmla="*/ 643 w 826"/>
                <a:gd name="T5" fmla="*/ 154 h 1872"/>
                <a:gd name="T6" fmla="*/ 499 w 826"/>
                <a:gd name="T7" fmla="*/ 288 h 1872"/>
                <a:gd name="T8" fmla="*/ 438 w 826"/>
                <a:gd name="T9" fmla="*/ 397 h 1872"/>
                <a:gd name="T10" fmla="*/ 374 w 826"/>
                <a:gd name="T11" fmla="*/ 538 h 1872"/>
                <a:gd name="T12" fmla="*/ 298 w 826"/>
                <a:gd name="T13" fmla="*/ 724 h 1872"/>
                <a:gd name="T14" fmla="*/ 202 w 826"/>
                <a:gd name="T15" fmla="*/ 989 h 1872"/>
                <a:gd name="T16" fmla="*/ 125 w 826"/>
                <a:gd name="T17" fmla="*/ 1248 h 1872"/>
                <a:gd name="T18" fmla="*/ 48 w 826"/>
                <a:gd name="T19" fmla="*/ 1565 h 1872"/>
                <a:gd name="T20" fmla="*/ 0 w 826"/>
                <a:gd name="T21" fmla="*/ 1872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6" h="1872">
                  <a:moveTo>
                    <a:pt x="826" y="0"/>
                  </a:moveTo>
                  <a:cubicBezTo>
                    <a:pt x="809" y="13"/>
                    <a:pt x="756" y="51"/>
                    <a:pt x="726" y="77"/>
                  </a:cubicBezTo>
                  <a:cubicBezTo>
                    <a:pt x="696" y="103"/>
                    <a:pt x="681" y="119"/>
                    <a:pt x="643" y="154"/>
                  </a:cubicBezTo>
                  <a:cubicBezTo>
                    <a:pt x="605" y="189"/>
                    <a:pt x="533" y="247"/>
                    <a:pt x="499" y="288"/>
                  </a:cubicBezTo>
                  <a:cubicBezTo>
                    <a:pt x="465" y="329"/>
                    <a:pt x="459" y="355"/>
                    <a:pt x="438" y="397"/>
                  </a:cubicBezTo>
                  <a:cubicBezTo>
                    <a:pt x="417" y="439"/>
                    <a:pt x="397" y="484"/>
                    <a:pt x="374" y="538"/>
                  </a:cubicBezTo>
                  <a:cubicBezTo>
                    <a:pt x="351" y="592"/>
                    <a:pt x="327" y="649"/>
                    <a:pt x="298" y="724"/>
                  </a:cubicBezTo>
                  <a:cubicBezTo>
                    <a:pt x="269" y="799"/>
                    <a:pt x="231" y="902"/>
                    <a:pt x="202" y="989"/>
                  </a:cubicBezTo>
                  <a:cubicBezTo>
                    <a:pt x="173" y="1076"/>
                    <a:pt x="151" y="1152"/>
                    <a:pt x="125" y="1248"/>
                  </a:cubicBezTo>
                  <a:cubicBezTo>
                    <a:pt x="99" y="1344"/>
                    <a:pt x="69" y="1461"/>
                    <a:pt x="48" y="1565"/>
                  </a:cubicBezTo>
                  <a:cubicBezTo>
                    <a:pt x="27" y="1669"/>
                    <a:pt x="13" y="1770"/>
                    <a:pt x="0" y="1872"/>
                  </a:cubicBezTo>
                </a:path>
              </a:pathLst>
            </a:custGeom>
            <a:noFill/>
            <a:ln w="19050" cmpd="sng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Text Box 45"/>
            <p:cNvSpPr txBox="1">
              <a:spLocks noChangeArrowheads="1"/>
            </p:cNvSpPr>
            <p:nvPr/>
          </p:nvSpPr>
          <p:spPr bwMode="auto">
            <a:xfrm>
              <a:off x="3595" y="2575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</a:t>
              </a:r>
              <a:r>
                <a:rPr lang="en-US" altLang="zh-CN" sz="2800" b="1" baseline="-25000" dirty="0" err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sz</a:t>
              </a:r>
              <a:endParaRPr lang="en-US" altLang="zh-CN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90" name="Line 46"/>
            <p:cNvSpPr>
              <a:spLocks noChangeShapeType="1"/>
            </p:cNvSpPr>
            <p:nvPr/>
          </p:nvSpPr>
          <p:spPr bwMode="auto">
            <a:xfrm>
              <a:off x="3558" y="2586"/>
              <a:ext cx="122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47"/>
            <p:cNvSpPr>
              <a:spLocks noChangeAspect="1" noChangeShapeType="1"/>
            </p:cNvSpPr>
            <p:nvPr/>
          </p:nvSpPr>
          <p:spPr bwMode="auto">
            <a:xfrm>
              <a:off x="4150" y="792"/>
              <a:ext cx="0" cy="249"/>
            </a:xfrm>
            <a:prstGeom prst="line">
              <a:avLst/>
            </a:prstGeom>
            <a:noFill/>
            <a:ln w="76200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20"/>
            <p:cNvSpPr>
              <a:spLocks noChangeAspect="1" noChangeShapeType="1"/>
            </p:cNvSpPr>
            <p:nvPr/>
          </p:nvSpPr>
          <p:spPr bwMode="auto">
            <a:xfrm>
              <a:off x="3010" y="1960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835722"/>
              </p:ext>
            </p:extLst>
          </p:nvPr>
        </p:nvGraphicFramePr>
        <p:xfrm>
          <a:off x="1055688" y="2484438"/>
          <a:ext cx="2489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523" name="Microsoft 公式 3.0" r:id="rId3" imgW="1244520" imgH="228600" progId="Equation.3">
                  <p:embed/>
                </p:oleObj>
              </mc:Choice>
              <mc:Fallback>
                <p:oleObj name="Microsoft 公式 3.0" r:id="rId3" imgW="1244520" imgH="2286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2484438"/>
                        <a:ext cx="2489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对象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164566"/>
              </p:ext>
            </p:extLst>
          </p:nvPr>
        </p:nvGraphicFramePr>
        <p:xfrm>
          <a:off x="1082675" y="3973513"/>
          <a:ext cx="165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524" name="Microsoft 公式 3.0" r:id="rId5" imgW="825480" imgH="215640" progId="Equation.3">
                  <p:embed/>
                </p:oleObj>
              </mc:Choice>
              <mc:Fallback>
                <p:oleObj name="Microsoft 公式 3.0" r:id="rId5" imgW="825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675" y="3973513"/>
                        <a:ext cx="1651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76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6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76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7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7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6341" grpId="0" build="p" autoUpdateAnimBg="0"/>
      <p:bldP spid="1376343" grpId="0"/>
      <p:bldP spid="137638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339" name="Rectangle 3"/>
          <p:cNvSpPr>
            <a:spLocks noChangeArrowheads="1"/>
          </p:cNvSpPr>
          <p:nvPr/>
        </p:nvSpPr>
        <p:spPr bwMode="auto">
          <a:xfrm>
            <a:off x="168275" y="598488"/>
            <a:ext cx="6034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单层计算公式：情况</a:t>
            </a:r>
            <a:r>
              <a:rPr kumimoji="1"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2</a:t>
            </a: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考虑</a:t>
            </a: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地基回弹</a:t>
            </a:r>
            <a:endParaRPr kumimoji="1" lang="en-US" altLang="zh-CN" sz="24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50340" name="Rectangle 4"/>
          <p:cNvSpPr>
            <a:spLocks noChangeArrowheads="1"/>
          </p:cNvSpPr>
          <p:nvPr/>
        </p:nvSpPr>
        <p:spPr bwMode="auto">
          <a:xfrm>
            <a:off x="1901825" y="5902325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550341" name="Text Box 5"/>
          <p:cNvSpPr txBox="1">
            <a:spLocks noChangeArrowheads="1"/>
          </p:cNvSpPr>
          <p:nvPr/>
        </p:nvSpPr>
        <p:spPr bwMode="auto">
          <a:xfrm>
            <a:off x="621217" y="3067050"/>
            <a:ext cx="227017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 对土层</a:t>
            </a:r>
            <a:r>
              <a:rPr lang="en-US" altLang="zh-CN" sz="2400" b="1" i="1" dirty="0" err="1">
                <a:solidFill>
                  <a:srgbClr val="A50021"/>
                </a:solidFill>
                <a:ea typeface="幼圆" pitchFamily="49" charset="-122"/>
              </a:rPr>
              <a:t>i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有：</a:t>
            </a:r>
          </a:p>
        </p:txBody>
      </p:sp>
      <p:grpSp>
        <p:nvGrpSpPr>
          <p:cNvPr id="1550343" name="Group 7"/>
          <p:cNvGrpSpPr>
            <a:grpSpLocks/>
          </p:cNvGrpSpPr>
          <p:nvPr/>
        </p:nvGrpSpPr>
        <p:grpSpPr bwMode="auto">
          <a:xfrm>
            <a:off x="4555380" y="1169988"/>
            <a:ext cx="4340225" cy="4591050"/>
            <a:chOff x="2970" y="767"/>
            <a:chExt cx="2734" cy="2892"/>
          </a:xfrm>
        </p:grpSpPr>
        <p:sp>
          <p:nvSpPr>
            <p:cNvPr id="1550344" name="Rectangle 8"/>
            <p:cNvSpPr>
              <a:spLocks noChangeArrowheads="1"/>
            </p:cNvSpPr>
            <p:nvPr/>
          </p:nvSpPr>
          <p:spPr bwMode="auto">
            <a:xfrm>
              <a:off x="2970" y="767"/>
              <a:ext cx="2716" cy="28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345" name="Rectangle 9"/>
            <p:cNvSpPr>
              <a:spLocks noChangeArrowheads="1"/>
            </p:cNvSpPr>
            <p:nvPr/>
          </p:nvSpPr>
          <p:spPr bwMode="auto">
            <a:xfrm>
              <a:off x="3009" y="2559"/>
              <a:ext cx="2646" cy="987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346" name="Rectangle 10"/>
            <p:cNvSpPr>
              <a:spLocks noChangeArrowheads="1"/>
            </p:cNvSpPr>
            <p:nvPr/>
          </p:nvSpPr>
          <p:spPr bwMode="auto">
            <a:xfrm>
              <a:off x="3007" y="1963"/>
              <a:ext cx="2646" cy="987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347" name="Rectangle 11"/>
            <p:cNvSpPr>
              <a:spLocks noChangeArrowheads="1"/>
            </p:cNvSpPr>
            <p:nvPr/>
          </p:nvSpPr>
          <p:spPr bwMode="auto">
            <a:xfrm>
              <a:off x="3003" y="1654"/>
              <a:ext cx="2653" cy="309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348" name="Freeform 12" descr="浅色横线"/>
            <p:cNvSpPr>
              <a:spLocks/>
            </p:cNvSpPr>
            <p:nvPr/>
          </p:nvSpPr>
          <p:spPr bwMode="auto">
            <a:xfrm>
              <a:off x="3283" y="1658"/>
              <a:ext cx="871" cy="1888"/>
            </a:xfrm>
            <a:custGeom>
              <a:avLst/>
              <a:gdLst>
                <a:gd name="T0" fmla="*/ 531 w 871"/>
                <a:gd name="T1" fmla="*/ 0 h 1888"/>
                <a:gd name="T2" fmla="*/ 871 w 871"/>
                <a:gd name="T3" fmla="*/ 0 h 1888"/>
                <a:gd name="T4" fmla="*/ 704 w 871"/>
                <a:gd name="T5" fmla="*/ 128 h 1888"/>
                <a:gd name="T6" fmla="*/ 512 w 871"/>
                <a:gd name="T7" fmla="*/ 313 h 1888"/>
                <a:gd name="T8" fmla="*/ 403 w 871"/>
                <a:gd name="T9" fmla="*/ 550 h 1888"/>
                <a:gd name="T10" fmla="*/ 301 w 871"/>
                <a:gd name="T11" fmla="*/ 812 h 1888"/>
                <a:gd name="T12" fmla="*/ 231 w 871"/>
                <a:gd name="T13" fmla="*/ 1011 h 1888"/>
                <a:gd name="T14" fmla="*/ 160 w 871"/>
                <a:gd name="T15" fmla="*/ 1254 h 1888"/>
                <a:gd name="T16" fmla="*/ 109 w 871"/>
                <a:gd name="T17" fmla="*/ 1465 h 1888"/>
                <a:gd name="T18" fmla="*/ 77 w 871"/>
                <a:gd name="T19" fmla="*/ 1568 h 1888"/>
                <a:gd name="T20" fmla="*/ 39 w 871"/>
                <a:gd name="T21" fmla="*/ 1798 h 1888"/>
                <a:gd name="T22" fmla="*/ 32 w 871"/>
                <a:gd name="T23" fmla="*/ 1888 h 1888"/>
                <a:gd name="T24" fmla="*/ 0 w 871"/>
                <a:gd name="T25" fmla="*/ 1881 h 1888"/>
                <a:gd name="T26" fmla="*/ 58 w 871"/>
                <a:gd name="T27" fmla="*/ 1510 h 1888"/>
                <a:gd name="T28" fmla="*/ 90 w 871"/>
                <a:gd name="T29" fmla="*/ 1299 h 1888"/>
                <a:gd name="T30" fmla="*/ 346 w 871"/>
                <a:gd name="T31" fmla="*/ 281 h 1888"/>
                <a:gd name="T32" fmla="*/ 531 w 871"/>
                <a:gd name="T33" fmla="*/ 0 h 1888"/>
                <a:gd name="connsiteX0" fmla="*/ 6096 w 10000"/>
                <a:gd name="connsiteY0" fmla="*/ 0 h 10000"/>
                <a:gd name="connsiteX1" fmla="*/ 10000 w 10000"/>
                <a:gd name="connsiteY1" fmla="*/ 0 h 10000"/>
                <a:gd name="connsiteX2" fmla="*/ 8083 w 10000"/>
                <a:gd name="connsiteY2" fmla="*/ 678 h 10000"/>
                <a:gd name="connsiteX3" fmla="*/ 5878 w 10000"/>
                <a:gd name="connsiteY3" fmla="*/ 1658 h 10000"/>
                <a:gd name="connsiteX4" fmla="*/ 4627 w 10000"/>
                <a:gd name="connsiteY4" fmla="*/ 2913 h 10000"/>
                <a:gd name="connsiteX5" fmla="*/ 3456 w 10000"/>
                <a:gd name="connsiteY5" fmla="*/ 4301 h 10000"/>
                <a:gd name="connsiteX6" fmla="*/ 2652 w 10000"/>
                <a:gd name="connsiteY6" fmla="*/ 5355 h 10000"/>
                <a:gd name="connsiteX7" fmla="*/ 1837 w 10000"/>
                <a:gd name="connsiteY7" fmla="*/ 6642 h 10000"/>
                <a:gd name="connsiteX8" fmla="*/ 1251 w 10000"/>
                <a:gd name="connsiteY8" fmla="*/ 7760 h 10000"/>
                <a:gd name="connsiteX9" fmla="*/ 884 w 10000"/>
                <a:gd name="connsiteY9" fmla="*/ 8305 h 10000"/>
                <a:gd name="connsiteX10" fmla="*/ 448 w 10000"/>
                <a:gd name="connsiteY10" fmla="*/ 9523 h 10000"/>
                <a:gd name="connsiteX11" fmla="*/ 367 w 10000"/>
                <a:gd name="connsiteY11" fmla="*/ 10000 h 10000"/>
                <a:gd name="connsiteX12" fmla="*/ 0 w 10000"/>
                <a:gd name="connsiteY12" fmla="*/ 9963 h 10000"/>
                <a:gd name="connsiteX13" fmla="*/ 666 w 10000"/>
                <a:gd name="connsiteY13" fmla="*/ 7998 h 10000"/>
                <a:gd name="connsiteX14" fmla="*/ 1033 w 10000"/>
                <a:gd name="connsiteY14" fmla="*/ 6880 h 10000"/>
                <a:gd name="connsiteX15" fmla="*/ 3972 w 10000"/>
                <a:gd name="connsiteY15" fmla="*/ 1488 h 10000"/>
                <a:gd name="connsiteX16" fmla="*/ 6192 w 10000"/>
                <a:gd name="connsiteY16" fmla="*/ 29 h 10000"/>
                <a:gd name="connsiteX17" fmla="*/ 6096 w 10000"/>
                <a:gd name="connsiteY17" fmla="*/ 0 h 10000"/>
                <a:gd name="connsiteX0" fmla="*/ 6096 w 10000"/>
                <a:gd name="connsiteY0" fmla="*/ 0 h 10000"/>
                <a:gd name="connsiteX1" fmla="*/ 10000 w 10000"/>
                <a:gd name="connsiteY1" fmla="*/ 0 h 10000"/>
                <a:gd name="connsiteX2" fmla="*/ 8083 w 10000"/>
                <a:gd name="connsiteY2" fmla="*/ 678 h 10000"/>
                <a:gd name="connsiteX3" fmla="*/ 5878 w 10000"/>
                <a:gd name="connsiteY3" fmla="*/ 1658 h 10000"/>
                <a:gd name="connsiteX4" fmla="*/ 4627 w 10000"/>
                <a:gd name="connsiteY4" fmla="*/ 2913 h 10000"/>
                <a:gd name="connsiteX5" fmla="*/ 3456 w 10000"/>
                <a:gd name="connsiteY5" fmla="*/ 4301 h 10000"/>
                <a:gd name="connsiteX6" fmla="*/ 2652 w 10000"/>
                <a:gd name="connsiteY6" fmla="*/ 5355 h 10000"/>
                <a:gd name="connsiteX7" fmla="*/ 1837 w 10000"/>
                <a:gd name="connsiteY7" fmla="*/ 6642 h 10000"/>
                <a:gd name="connsiteX8" fmla="*/ 1251 w 10000"/>
                <a:gd name="connsiteY8" fmla="*/ 7760 h 10000"/>
                <a:gd name="connsiteX9" fmla="*/ 884 w 10000"/>
                <a:gd name="connsiteY9" fmla="*/ 8305 h 10000"/>
                <a:gd name="connsiteX10" fmla="*/ 448 w 10000"/>
                <a:gd name="connsiteY10" fmla="*/ 9523 h 10000"/>
                <a:gd name="connsiteX11" fmla="*/ 367 w 10000"/>
                <a:gd name="connsiteY11" fmla="*/ 10000 h 10000"/>
                <a:gd name="connsiteX12" fmla="*/ 0 w 10000"/>
                <a:gd name="connsiteY12" fmla="*/ 9963 h 10000"/>
                <a:gd name="connsiteX13" fmla="*/ 666 w 10000"/>
                <a:gd name="connsiteY13" fmla="*/ 7998 h 10000"/>
                <a:gd name="connsiteX14" fmla="*/ 1033 w 10000"/>
                <a:gd name="connsiteY14" fmla="*/ 6880 h 10000"/>
                <a:gd name="connsiteX15" fmla="*/ 4051 w 10000"/>
                <a:gd name="connsiteY15" fmla="*/ 1610 h 10000"/>
                <a:gd name="connsiteX16" fmla="*/ 6192 w 10000"/>
                <a:gd name="connsiteY16" fmla="*/ 29 h 10000"/>
                <a:gd name="connsiteX17" fmla="*/ 6096 w 10000"/>
                <a:gd name="connsiteY17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000" h="10000">
                  <a:moveTo>
                    <a:pt x="6096" y="0"/>
                  </a:moveTo>
                  <a:lnTo>
                    <a:pt x="10000" y="0"/>
                  </a:lnTo>
                  <a:lnTo>
                    <a:pt x="8083" y="678"/>
                  </a:lnTo>
                  <a:lnTo>
                    <a:pt x="5878" y="1658"/>
                  </a:lnTo>
                  <a:lnTo>
                    <a:pt x="4627" y="2913"/>
                  </a:lnTo>
                  <a:lnTo>
                    <a:pt x="3456" y="4301"/>
                  </a:lnTo>
                  <a:lnTo>
                    <a:pt x="2652" y="5355"/>
                  </a:lnTo>
                  <a:lnTo>
                    <a:pt x="1837" y="6642"/>
                  </a:lnTo>
                  <a:lnTo>
                    <a:pt x="1251" y="7760"/>
                  </a:lnTo>
                  <a:lnTo>
                    <a:pt x="884" y="8305"/>
                  </a:lnTo>
                  <a:lnTo>
                    <a:pt x="448" y="9523"/>
                  </a:lnTo>
                  <a:lnTo>
                    <a:pt x="367" y="10000"/>
                  </a:lnTo>
                  <a:lnTo>
                    <a:pt x="0" y="9963"/>
                  </a:lnTo>
                  <a:lnTo>
                    <a:pt x="666" y="7998"/>
                  </a:lnTo>
                  <a:cubicBezTo>
                    <a:pt x="788" y="7625"/>
                    <a:pt x="911" y="7253"/>
                    <a:pt x="1033" y="6880"/>
                  </a:cubicBezTo>
                  <a:lnTo>
                    <a:pt x="4051" y="1610"/>
                  </a:lnTo>
                  <a:lnTo>
                    <a:pt x="6192" y="29"/>
                  </a:lnTo>
                  <a:cubicBezTo>
                    <a:pt x="6160" y="19"/>
                    <a:pt x="6128" y="10"/>
                    <a:pt x="6096" y="0"/>
                  </a:cubicBezTo>
                  <a:close/>
                </a:path>
              </a:pathLst>
            </a:custGeom>
            <a:pattFill prst="ltHorz">
              <a:fgClr>
                <a:srgbClr val="006600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49" name="Rectangle 13"/>
            <p:cNvSpPr>
              <a:spLocks noChangeArrowheads="1"/>
            </p:cNvSpPr>
            <p:nvPr/>
          </p:nvSpPr>
          <p:spPr bwMode="auto">
            <a:xfrm>
              <a:off x="3007" y="1100"/>
              <a:ext cx="2646" cy="5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350" name="Line 14"/>
            <p:cNvSpPr>
              <a:spLocks noChangeAspect="1" noChangeShapeType="1"/>
            </p:cNvSpPr>
            <p:nvPr/>
          </p:nvSpPr>
          <p:spPr bwMode="auto">
            <a:xfrm>
              <a:off x="3003" y="1096"/>
              <a:ext cx="264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51" name="Rectangle 15" descr="宽上对角线"/>
            <p:cNvSpPr>
              <a:spLocks noChangeAspect="1" noChangeArrowheads="1"/>
            </p:cNvSpPr>
            <p:nvPr/>
          </p:nvSpPr>
          <p:spPr bwMode="auto">
            <a:xfrm>
              <a:off x="3545" y="1391"/>
              <a:ext cx="1176" cy="269"/>
            </a:xfrm>
            <a:prstGeom prst="rect">
              <a:avLst/>
            </a:prstGeom>
            <a:pattFill prst="dkUpDiag">
              <a:fgClr>
                <a:srgbClr val="CCECFF"/>
              </a:fgClr>
              <a:bgClr>
                <a:schemeClr val="accent6">
                  <a:lumMod val="60000"/>
                  <a:lumOff val="40000"/>
                </a:schemeClr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352" name="Line 16"/>
            <p:cNvSpPr>
              <a:spLocks noChangeAspect="1" noChangeShapeType="1"/>
            </p:cNvSpPr>
            <p:nvPr/>
          </p:nvSpPr>
          <p:spPr bwMode="auto">
            <a:xfrm>
              <a:off x="3372" y="1101"/>
              <a:ext cx="0" cy="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53" name="Text Box 17"/>
            <p:cNvSpPr txBox="1">
              <a:spLocks noChangeAspect="1" noChangeArrowheads="1"/>
            </p:cNvSpPr>
            <p:nvPr/>
          </p:nvSpPr>
          <p:spPr bwMode="auto">
            <a:xfrm>
              <a:off x="3269" y="1221"/>
              <a:ext cx="201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550354" name="Line 18"/>
            <p:cNvSpPr>
              <a:spLocks noChangeAspect="1" noChangeShapeType="1"/>
            </p:cNvSpPr>
            <p:nvPr/>
          </p:nvSpPr>
          <p:spPr bwMode="auto">
            <a:xfrm>
              <a:off x="3003" y="1660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56" name="Line 20"/>
            <p:cNvSpPr>
              <a:spLocks noChangeAspect="1" noChangeShapeType="1"/>
            </p:cNvSpPr>
            <p:nvPr/>
          </p:nvSpPr>
          <p:spPr bwMode="auto">
            <a:xfrm>
              <a:off x="3004" y="2960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0357" name="Text Box 21"/>
            <p:cNvSpPr txBox="1">
              <a:spLocks noChangeAspect="1" noChangeArrowheads="1"/>
            </p:cNvSpPr>
            <p:nvPr/>
          </p:nvSpPr>
          <p:spPr bwMode="auto">
            <a:xfrm>
              <a:off x="5046" y="826"/>
              <a:ext cx="60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地面</a:t>
              </a:r>
            </a:p>
          </p:txBody>
        </p:sp>
        <p:sp>
          <p:nvSpPr>
            <p:cNvPr id="1550358" name="Rectangle 22"/>
            <p:cNvSpPr>
              <a:spLocks noChangeAspect="1" noChangeArrowheads="1"/>
            </p:cNvSpPr>
            <p:nvPr/>
          </p:nvSpPr>
          <p:spPr bwMode="auto">
            <a:xfrm>
              <a:off x="5240" y="1418"/>
              <a:ext cx="46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基底</a:t>
              </a:r>
            </a:p>
          </p:txBody>
        </p:sp>
        <p:sp>
          <p:nvSpPr>
            <p:cNvPr id="1550359" name="Freeform 23"/>
            <p:cNvSpPr>
              <a:spLocks/>
            </p:cNvSpPr>
            <p:nvPr/>
          </p:nvSpPr>
          <p:spPr bwMode="auto">
            <a:xfrm>
              <a:off x="4858" y="941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50360" name="Freeform 24"/>
            <p:cNvSpPr>
              <a:spLocks/>
            </p:cNvSpPr>
            <p:nvPr/>
          </p:nvSpPr>
          <p:spPr bwMode="auto">
            <a:xfrm>
              <a:off x="5082" y="1523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50361" name="Rectangle 25" descr="横向砖形"/>
            <p:cNvSpPr>
              <a:spLocks noChangeAspect="1" noChangeArrowheads="1"/>
            </p:cNvSpPr>
            <p:nvPr/>
          </p:nvSpPr>
          <p:spPr bwMode="auto">
            <a:xfrm>
              <a:off x="3963" y="1042"/>
              <a:ext cx="370" cy="349"/>
            </a:xfrm>
            <a:prstGeom prst="rect">
              <a:avLst/>
            </a:prstGeom>
            <a:pattFill prst="horzBrick">
              <a:fgClr>
                <a:srgbClr val="FFCC00"/>
              </a:fgClr>
              <a:bgClr>
                <a:srgbClr val="FF9966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362" name="Line 26"/>
            <p:cNvSpPr>
              <a:spLocks noChangeAspect="1" noChangeShapeType="1"/>
            </p:cNvSpPr>
            <p:nvPr/>
          </p:nvSpPr>
          <p:spPr bwMode="auto">
            <a:xfrm>
              <a:off x="3011" y="3546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0363" name="Text Box 27"/>
            <p:cNvSpPr txBox="1">
              <a:spLocks noChangeAspect="1" noChangeArrowheads="1"/>
            </p:cNvSpPr>
            <p:nvPr/>
          </p:nvSpPr>
          <p:spPr bwMode="auto">
            <a:xfrm>
              <a:off x="4677" y="3288"/>
              <a:ext cx="88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Tahoma" pitchFamily="34" charset="0"/>
                  <a:ea typeface="幼圆" pitchFamily="49" charset="-122"/>
                </a:rPr>
                <a:t>计算深度</a:t>
              </a:r>
            </a:p>
          </p:txBody>
        </p:sp>
        <p:sp>
          <p:nvSpPr>
            <p:cNvPr id="1550364" name="Freeform 28"/>
            <p:cNvSpPr>
              <a:spLocks/>
            </p:cNvSpPr>
            <p:nvPr/>
          </p:nvSpPr>
          <p:spPr bwMode="auto">
            <a:xfrm>
              <a:off x="4498" y="3398"/>
              <a:ext cx="180" cy="132"/>
            </a:xfrm>
            <a:custGeom>
              <a:avLst/>
              <a:gdLst>
                <a:gd name="T0" fmla="*/ 0 w 180"/>
                <a:gd name="T1" fmla="*/ 0 h 132"/>
                <a:gd name="T2" fmla="*/ 180 w 180"/>
                <a:gd name="T3" fmla="*/ 0 h 132"/>
                <a:gd name="T4" fmla="*/ 92 w 180"/>
                <a:gd name="T5" fmla="*/ 132 h 132"/>
                <a:gd name="T6" fmla="*/ 0 w 18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0" h="132">
                  <a:moveTo>
                    <a:pt x="0" y="0"/>
                  </a:moveTo>
                  <a:lnTo>
                    <a:pt x="180" y="0"/>
                  </a:lnTo>
                  <a:lnTo>
                    <a:pt x="92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50365" name="Freeform 29"/>
            <p:cNvSpPr>
              <a:spLocks noChangeAspect="1"/>
            </p:cNvSpPr>
            <p:nvPr/>
          </p:nvSpPr>
          <p:spPr bwMode="auto">
            <a:xfrm>
              <a:off x="4138" y="1104"/>
              <a:ext cx="4" cy="2440"/>
            </a:xfrm>
            <a:custGeom>
              <a:avLst/>
              <a:gdLst>
                <a:gd name="T0" fmla="*/ 0 w 4"/>
                <a:gd name="T1" fmla="*/ 0 h 2440"/>
                <a:gd name="T2" fmla="*/ 4 w 4"/>
                <a:gd name="T3" fmla="*/ 2440 h 2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440">
                  <a:moveTo>
                    <a:pt x="0" y="0"/>
                  </a:moveTo>
                  <a:lnTo>
                    <a:pt x="4" y="244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prstDash val="lgDash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0366" name="Freeform 30"/>
            <p:cNvSpPr>
              <a:spLocks/>
            </p:cNvSpPr>
            <p:nvPr/>
          </p:nvSpPr>
          <p:spPr bwMode="auto">
            <a:xfrm>
              <a:off x="3289" y="1085"/>
              <a:ext cx="849" cy="2449"/>
            </a:xfrm>
            <a:custGeom>
              <a:avLst/>
              <a:gdLst>
                <a:gd name="T0" fmla="*/ 849 w 849"/>
                <a:gd name="T1" fmla="*/ 0 h 2449"/>
                <a:gd name="T2" fmla="*/ 538 w 849"/>
                <a:gd name="T3" fmla="*/ 577 h 2449"/>
                <a:gd name="T4" fmla="*/ 336 w 849"/>
                <a:gd name="T5" fmla="*/ 884 h 2449"/>
                <a:gd name="T6" fmla="*/ 77 w 849"/>
                <a:gd name="T7" fmla="*/ 1863 h 2449"/>
                <a:gd name="T8" fmla="*/ 0 w 849"/>
                <a:gd name="T9" fmla="*/ 2449 h 2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9" h="2449">
                  <a:moveTo>
                    <a:pt x="849" y="0"/>
                  </a:moveTo>
                  <a:lnTo>
                    <a:pt x="538" y="577"/>
                  </a:lnTo>
                  <a:lnTo>
                    <a:pt x="336" y="884"/>
                  </a:lnTo>
                  <a:lnTo>
                    <a:pt x="77" y="1863"/>
                  </a:lnTo>
                  <a:lnTo>
                    <a:pt x="0" y="2449"/>
                  </a:lnTo>
                </a:path>
              </a:pathLst>
            </a:custGeom>
            <a:noFill/>
            <a:ln w="19050" cmpd="sng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67" name="Freeform 31"/>
            <p:cNvSpPr>
              <a:spLocks/>
            </p:cNvSpPr>
            <p:nvPr/>
          </p:nvSpPr>
          <p:spPr bwMode="auto">
            <a:xfrm>
              <a:off x="4297" y="1662"/>
              <a:ext cx="740" cy="1881"/>
            </a:xfrm>
            <a:custGeom>
              <a:avLst/>
              <a:gdLst>
                <a:gd name="T0" fmla="*/ 740 w 740"/>
                <a:gd name="T1" fmla="*/ 0 h 1881"/>
                <a:gd name="T2" fmla="*/ 720 w 740"/>
                <a:gd name="T3" fmla="*/ 269 h 1881"/>
                <a:gd name="T4" fmla="*/ 644 w 740"/>
                <a:gd name="T5" fmla="*/ 585 h 1881"/>
                <a:gd name="T6" fmla="*/ 480 w 740"/>
                <a:gd name="T7" fmla="*/ 1008 h 1881"/>
                <a:gd name="T8" fmla="*/ 183 w 740"/>
                <a:gd name="T9" fmla="*/ 1469 h 1881"/>
                <a:gd name="T10" fmla="*/ 39 w 740"/>
                <a:gd name="T11" fmla="*/ 1718 h 1881"/>
                <a:gd name="T12" fmla="*/ 0 w 740"/>
                <a:gd name="T13" fmla="*/ 1881 h 1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0" h="1881">
                  <a:moveTo>
                    <a:pt x="740" y="0"/>
                  </a:moveTo>
                  <a:cubicBezTo>
                    <a:pt x="738" y="86"/>
                    <a:pt x="736" y="172"/>
                    <a:pt x="720" y="269"/>
                  </a:cubicBezTo>
                  <a:cubicBezTo>
                    <a:pt x="704" y="366"/>
                    <a:pt x="684" y="462"/>
                    <a:pt x="644" y="585"/>
                  </a:cubicBezTo>
                  <a:cubicBezTo>
                    <a:pt x="604" y="708"/>
                    <a:pt x="557" y="861"/>
                    <a:pt x="480" y="1008"/>
                  </a:cubicBezTo>
                  <a:cubicBezTo>
                    <a:pt x="403" y="1155"/>
                    <a:pt x="256" y="1351"/>
                    <a:pt x="183" y="1469"/>
                  </a:cubicBezTo>
                  <a:cubicBezTo>
                    <a:pt x="110" y="1587"/>
                    <a:pt x="70" y="1649"/>
                    <a:pt x="39" y="1718"/>
                  </a:cubicBezTo>
                  <a:cubicBezTo>
                    <a:pt x="8" y="1787"/>
                    <a:pt x="4" y="1834"/>
                    <a:pt x="0" y="1881"/>
                  </a:cubicBezTo>
                </a:path>
              </a:pathLst>
            </a:custGeom>
            <a:noFill/>
            <a:ln w="1905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68" name="Text Box 32"/>
            <p:cNvSpPr txBox="1">
              <a:spLocks noChangeAspect="1" noChangeArrowheads="1"/>
            </p:cNvSpPr>
            <p:nvPr/>
          </p:nvSpPr>
          <p:spPr bwMode="auto">
            <a:xfrm>
              <a:off x="3061" y="1198"/>
              <a:ext cx="201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</a:t>
              </a:r>
            </a:p>
          </p:txBody>
        </p:sp>
        <p:sp>
          <p:nvSpPr>
            <p:cNvPr id="1550369" name="Text Box 33"/>
            <p:cNvSpPr txBox="1">
              <a:spLocks noChangeAspect="1" noChangeArrowheads="1"/>
            </p:cNvSpPr>
            <p:nvPr/>
          </p:nvSpPr>
          <p:spPr bwMode="auto">
            <a:xfrm>
              <a:off x="4470" y="1364"/>
              <a:ext cx="4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endParaRPr kumimoji="1" lang="en-US" altLang="zh-CN" sz="2400" b="1" i="1" baseline="-2500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550370" name="Line 34"/>
            <p:cNvSpPr>
              <a:spLocks noChangeAspect="1" noChangeShapeType="1"/>
            </p:cNvSpPr>
            <p:nvPr/>
          </p:nvSpPr>
          <p:spPr bwMode="auto">
            <a:xfrm>
              <a:off x="4147" y="1664"/>
              <a:ext cx="903" cy="1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0371" name="Line 35"/>
            <p:cNvSpPr>
              <a:spLocks noChangeAspect="1" noChangeShapeType="1"/>
            </p:cNvSpPr>
            <p:nvPr/>
          </p:nvSpPr>
          <p:spPr bwMode="auto">
            <a:xfrm>
              <a:off x="3829" y="1662"/>
              <a:ext cx="316" cy="1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0372" name="Rectangle 36"/>
            <p:cNvSpPr>
              <a:spLocks noChangeAspect="1" noChangeArrowheads="1"/>
            </p:cNvSpPr>
            <p:nvPr/>
          </p:nvSpPr>
          <p:spPr bwMode="auto">
            <a:xfrm>
              <a:off x="3864" y="1361"/>
              <a:ext cx="3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</a:t>
              </a: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  <a:sym typeface="Symbol" pitchFamily="18" charset="2"/>
                </a:rPr>
                <a:t>d</a:t>
              </a:r>
            </a:p>
          </p:txBody>
        </p:sp>
        <p:sp>
          <p:nvSpPr>
            <p:cNvPr id="1550373" name="Line 37"/>
            <p:cNvSpPr>
              <a:spLocks noChangeShapeType="1"/>
            </p:cNvSpPr>
            <p:nvPr/>
          </p:nvSpPr>
          <p:spPr bwMode="auto">
            <a:xfrm>
              <a:off x="3957" y="1096"/>
              <a:ext cx="4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74" name="Text Box 38"/>
            <p:cNvSpPr txBox="1">
              <a:spLocks noChangeArrowheads="1"/>
            </p:cNvSpPr>
            <p:nvPr/>
          </p:nvSpPr>
          <p:spPr bwMode="auto">
            <a:xfrm>
              <a:off x="4978" y="2325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kumimoji="1" lang="en-US" altLang="zh-CN" sz="28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  <a:endParaRPr kumimoji="1" lang="en-US" altLang="zh-CN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50375" name="Line 39"/>
            <p:cNvSpPr>
              <a:spLocks noChangeShapeType="1"/>
            </p:cNvSpPr>
            <p:nvPr/>
          </p:nvSpPr>
          <p:spPr bwMode="auto">
            <a:xfrm>
              <a:off x="3244" y="2718"/>
              <a:ext cx="123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76" name="Line 40"/>
            <p:cNvSpPr>
              <a:spLocks noChangeShapeType="1"/>
            </p:cNvSpPr>
            <p:nvPr/>
          </p:nvSpPr>
          <p:spPr bwMode="auto">
            <a:xfrm>
              <a:off x="4935" y="2302"/>
              <a:ext cx="131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77" name="Text Box 41"/>
            <p:cNvSpPr txBox="1">
              <a:spLocks noChangeArrowheads="1"/>
            </p:cNvSpPr>
            <p:nvPr/>
          </p:nvSpPr>
          <p:spPr bwMode="auto">
            <a:xfrm>
              <a:off x="3011" y="2362"/>
              <a:ext cx="3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800" b="1" baseline="-25000" dirty="0" err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sz</a:t>
              </a:r>
              <a:endParaRPr lang="en-US" altLang="zh-CN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50378" name="Line 42"/>
            <p:cNvSpPr>
              <a:spLocks noChangeShapeType="1"/>
            </p:cNvSpPr>
            <p:nvPr/>
          </p:nvSpPr>
          <p:spPr bwMode="auto">
            <a:xfrm flipV="1">
              <a:off x="3552" y="1095"/>
              <a:ext cx="0" cy="2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79" name="Line 43"/>
            <p:cNvSpPr>
              <a:spLocks noChangeShapeType="1"/>
            </p:cNvSpPr>
            <p:nvPr/>
          </p:nvSpPr>
          <p:spPr bwMode="auto">
            <a:xfrm flipV="1">
              <a:off x="4715" y="1106"/>
              <a:ext cx="0" cy="2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80" name="Freeform 44"/>
            <p:cNvSpPr>
              <a:spLocks/>
            </p:cNvSpPr>
            <p:nvPr/>
          </p:nvSpPr>
          <p:spPr bwMode="auto">
            <a:xfrm>
              <a:off x="3312" y="1670"/>
              <a:ext cx="826" cy="1872"/>
            </a:xfrm>
            <a:custGeom>
              <a:avLst/>
              <a:gdLst>
                <a:gd name="T0" fmla="*/ 826 w 826"/>
                <a:gd name="T1" fmla="*/ 0 h 1872"/>
                <a:gd name="T2" fmla="*/ 726 w 826"/>
                <a:gd name="T3" fmla="*/ 77 h 1872"/>
                <a:gd name="T4" fmla="*/ 643 w 826"/>
                <a:gd name="T5" fmla="*/ 154 h 1872"/>
                <a:gd name="T6" fmla="*/ 499 w 826"/>
                <a:gd name="T7" fmla="*/ 288 h 1872"/>
                <a:gd name="T8" fmla="*/ 438 w 826"/>
                <a:gd name="T9" fmla="*/ 397 h 1872"/>
                <a:gd name="T10" fmla="*/ 374 w 826"/>
                <a:gd name="T11" fmla="*/ 538 h 1872"/>
                <a:gd name="T12" fmla="*/ 298 w 826"/>
                <a:gd name="T13" fmla="*/ 724 h 1872"/>
                <a:gd name="T14" fmla="*/ 202 w 826"/>
                <a:gd name="T15" fmla="*/ 989 h 1872"/>
                <a:gd name="T16" fmla="*/ 125 w 826"/>
                <a:gd name="T17" fmla="*/ 1248 h 1872"/>
                <a:gd name="T18" fmla="*/ 48 w 826"/>
                <a:gd name="T19" fmla="*/ 1565 h 1872"/>
                <a:gd name="T20" fmla="*/ 0 w 826"/>
                <a:gd name="T21" fmla="*/ 1872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26" h="1872">
                  <a:moveTo>
                    <a:pt x="826" y="0"/>
                  </a:moveTo>
                  <a:cubicBezTo>
                    <a:pt x="809" y="13"/>
                    <a:pt x="756" y="51"/>
                    <a:pt x="726" y="77"/>
                  </a:cubicBezTo>
                  <a:cubicBezTo>
                    <a:pt x="696" y="103"/>
                    <a:pt x="681" y="119"/>
                    <a:pt x="643" y="154"/>
                  </a:cubicBezTo>
                  <a:cubicBezTo>
                    <a:pt x="605" y="189"/>
                    <a:pt x="533" y="247"/>
                    <a:pt x="499" y="288"/>
                  </a:cubicBezTo>
                  <a:cubicBezTo>
                    <a:pt x="465" y="329"/>
                    <a:pt x="459" y="355"/>
                    <a:pt x="438" y="397"/>
                  </a:cubicBezTo>
                  <a:cubicBezTo>
                    <a:pt x="417" y="439"/>
                    <a:pt x="397" y="484"/>
                    <a:pt x="374" y="538"/>
                  </a:cubicBezTo>
                  <a:cubicBezTo>
                    <a:pt x="351" y="592"/>
                    <a:pt x="327" y="649"/>
                    <a:pt x="298" y="724"/>
                  </a:cubicBezTo>
                  <a:cubicBezTo>
                    <a:pt x="269" y="799"/>
                    <a:pt x="231" y="902"/>
                    <a:pt x="202" y="989"/>
                  </a:cubicBezTo>
                  <a:cubicBezTo>
                    <a:pt x="173" y="1076"/>
                    <a:pt x="151" y="1152"/>
                    <a:pt x="125" y="1248"/>
                  </a:cubicBezTo>
                  <a:cubicBezTo>
                    <a:pt x="99" y="1344"/>
                    <a:pt x="69" y="1461"/>
                    <a:pt x="48" y="1565"/>
                  </a:cubicBezTo>
                  <a:cubicBezTo>
                    <a:pt x="27" y="1669"/>
                    <a:pt x="13" y="1770"/>
                    <a:pt x="0" y="1872"/>
                  </a:cubicBezTo>
                </a:path>
              </a:pathLst>
            </a:custGeom>
            <a:noFill/>
            <a:ln w="19050" cmpd="sng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81" name="Text Box 45"/>
            <p:cNvSpPr txBox="1">
              <a:spLocks noChangeArrowheads="1"/>
            </p:cNvSpPr>
            <p:nvPr/>
          </p:nvSpPr>
          <p:spPr bwMode="auto">
            <a:xfrm>
              <a:off x="3595" y="2575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zh-CN" altLang="en-US" sz="28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</a:t>
              </a:r>
              <a:r>
                <a:rPr lang="en-US" altLang="zh-CN" sz="2800" b="1" baseline="-25000" dirty="0" err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sz</a:t>
              </a:r>
              <a:endParaRPr lang="en-US" altLang="zh-CN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50382" name="Line 46"/>
            <p:cNvSpPr>
              <a:spLocks noChangeShapeType="1"/>
            </p:cNvSpPr>
            <p:nvPr/>
          </p:nvSpPr>
          <p:spPr bwMode="auto">
            <a:xfrm>
              <a:off x="3558" y="2586"/>
              <a:ext cx="122" cy="1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0383" name="Line 47"/>
            <p:cNvSpPr>
              <a:spLocks noChangeAspect="1" noChangeShapeType="1"/>
            </p:cNvSpPr>
            <p:nvPr/>
          </p:nvSpPr>
          <p:spPr bwMode="auto">
            <a:xfrm>
              <a:off x="4150" y="792"/>
              <a:ext cx="0" cy="249"/>
            </a:xfrm>
            <a:prstGeom prst="line">
              <a:avLst/>
            </a:prstGeom>
            <a:noFill/>
            <a:ln w="76200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0"/>
            <p:cNvSpPr>
              <a:spLocks noChangeAspect="1" noChangeShapeType="1"/>
            </p:cNvSpPr>
            <p:nvPr/>
          </p:nvSpPr>
          <p:spPr bwMode="auto">
            <a:xfrm>
              <a:off x="3010" y="1960"/>
              <a:ext cx="2646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550384" name="Rectangle 48"/>
          <p:cNvSpPr>
            <a:spLocks noChangeArrowheads="1"/>
          </p:cNvSpPr>
          <p:nvPr/>
        </p:nvSpPr>
        <p:spPr bwMode="auto">
          <a:xfrm>
            <a:off x="359746" y="1228086"/>
            <a:ext cx="4097337" cy="1751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74638" indent="-274638" eaLnBrk="0" hangingPunct="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200" b="1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条件</a:t>
            </a:r>
            <a:r>
              <a:rPr kumimoji="1" lang="zh-CN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幼圆" pitchFamily="49" charset="-122"/>
                <a:ea typeface="幼圆" pitchFamily="49" charset="-122"/>
                <a:sym typeface="Symbol" pitchFamily="18" charset="2"/>
              </a:rPr>
              <a:t>：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基面积大</a:t>
            </a:r>
            <a:endParaRPr kumimoji="1" lang="en-US" altLang="zh-CN" sz="2200" b="1" dirty="0" smtClean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 eaLnBrk="0" hangingPunct="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</a:pP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             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埋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深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大</a:t>
            </a:r>
            <a:endParaRPr kumimoji="1" lang="en-US" altLang="zh-CN" sz="2200" b="1" dirty="0" smtClean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 eaLnBrk="0" hangingPunct="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</a:pPr>
            <a:r>
              <a:rPr kumimoji="1" lang="en-US" altLang="zh-CN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en-US" altLang="zh-CN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             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施工期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长</a:t>
            </a:r>
          </a:p>
          <a:p>
            <a:pPr marL="274638" indent="-274638" eaLnBrk="0" hangingPunct="0"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以原地基为</a:t>
            </a:r>
            <a:r>
              <a:rPr kumimoji="1" lang="zh-CN" altLang="en-US" sz="2200" b="1" dirty="0">
                <a:solidFill>
                  <a:srgbClr val="C00000"/>
                </a:solidFill>
                <a:ea typeface="幼圆" pitchFamily="49" charset="-122"/>
                <a:sym typeface="Symbol" pitchFamily="18" charset="2"/>
              </a:rPr>
              <a:t>正常固结土</a:t>
            </a:r>
            <a:r>
              <a:rPr kumimoji="1"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为</a:t>
            </a:r>
            <a:r>
              <a:rPr kumimoji="1" lang="zh-CN" altLang="en-US" sz="22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例</a:t>
            </a:r>
            <a:endParaRPr kumimoji="1" lang="en-US" altLang="zh-CN" sz="22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50385" name="Text Box 49"/>
          <p:cNvSpPr txBox="1">
            <a:spLocks noChangeArrowheads="1"/>
          </p:cNvSpPr>
          <p:nvPr/>
        </p:nvSpPr>
        <p:spPr bwMode="auto">
          <a:xfrm>
            <a:off x="749690" y="3663950"/>
            <a:ext cx="266541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开挖前：</a:t>
            </a:r>
            <a:r>
              <a:rPr lang="zh-CN" altLang="en-US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szi</a:t>
            </a:r>
            <a:endParaRPr lang="en-US" altLang="zh-CN" sz="22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开挖后：</a:t>
            </a:r>
            <a:r>
              <a:rPr lang="zh-CN" altLang="en-US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22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szi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压缩后：</a:t>
            </a:r>
            <a:r>
              <a:rPr lang="zh-CN" altLang="en-US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sz="22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szi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22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zi</a:t>
            </a:r>
            <a:endParaRPr lang="en-US" altLang="zh-CN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50386" name="Rectangle 50"/>
          <p:cNvSpPr>
            <a:spLocks noChangeArrowheads="1"/>
          </p:cNvSpPr>
          <p:nvPr/>
        </p:nvSpPr>
        <p:spPr bwMode="auto">
          <a:xfrm>
            <a:off x="3306292" y="3702997"/>
            <a:ext cx="1207776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相当于先期固结压力</a:t>
            </a:r>
            <a:r>
              <a:rPr kumimoji="1" lang="en-US" altLang="zh-CN" sz="20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pi</a:t>
            </a:r>
          </a:p>
        </p:txBody>
      </p:sp>
      <p:sp>
        <p:nvSpPr>
          <p:cNvPr id="1550387" name="Line 51"/>
          <p:cNvSpPr>
            <a:spLocks noChangeShapeType="1"/>
          </p:cNvSpPr>
          <p:nvPr/>
        </p:nvSpPr>
        <p:spPr bwMode="auto">
          <a:xfrm rot="-5400000">
            <a:off x="3008934" y="3679830"/>
            <a:ext cx="0" cy="623887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79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2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考虑回弹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55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5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155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550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5503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5503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55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80"/>
                                        <p:tgtEl>
                                          <p:spTgt spid="15503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80"/>
                                        <p:tgtEl>
                                          <p:spTgt spid="15503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80"/>
                                        <p:tgtEl>
                                          <p:spTgt spid="15503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0339" grpId="0" build="p" autoUpdateAnimBg="0"/>
      <p:bldP spid="1550341" grpId="0"/>
      <p:bldP spid="1550384" grpId="0" autoUpdateAnimBg="0"/>
      <p:bldP spid="1550385" grpId="0" build="p" advAuto="500"/>
      <p:bldP spid="1550386" grpId="0"/>
      <p:bldP spid="155038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018186" y="1238250"/>
            <a:ext cx="3703638" cy="4184628"/>
            <a:chOff x="5018186" y="1238250"/>
            <a:chExt cx="3703638" cy="4184628"/>
          </a:xfrm>
        </p:grpSpPr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5018186" y="1238250"/>
              <a:ext cx="3703638" cy="418462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Freeform 10"/>
            <p:cNvSpPr>
              <a:spLocks/>
            </p:cNvSpPr>
            <p:nvPr/>
          </p:nvSpPr>
          <p:spPr bwMode="auto">
            <a:xfrm>
              <a:off x="5530949" y="3841728"/>
              <a:ext cx="1825625" cy="1588"/>
            </a:xfrm>
            <a:custGeom>
              <a:avLst/>
              <a:gdLst>
                <a:gd name="T0" fmla="*/ 1045 w 1045"/>
                <a:gd name="T1" fmla="*/ 1 h 1"/>
                <a:gd name="T2" fmla="*/ 0 w 1045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45" h="1">
                  <a:moveTo>
                    <a:pt x="1045" y="1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" name="Freeform 16"/>
            <p:cNvSpPr>
              <a:spLocks/>
            </p:cNvSpPr>
            <p:nvPr/>
          </p:nvSpPr>
          <p:spPr bwMode="auto">
            <a:xfrm>
              <a:off x="5538886" y="3040040"/>
              <a:ext cx="604838" cy="7938"/>
            </a:xfrm>
            <a:custGeom>
              <a:avLst/>
              <a:gdLst>
                <a:gd name="T0" fmla="*/ 0 w 347"/>
                <a:gd name="T1" fmla="*/ 4 h 4"/>
                <a:gd name="T2" fmla="*/ 347 w 347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7" h="4">
                  <a:moveTo>
                    <a:pt x="0" y="4"/>
                  </a:moveTo>
                  <a:lnTo>
                    <a:pt x="347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Freeform 17"/>
            <p:cNvSpPr>
              <a:spLocks/>
            </p:cNvSpPr>
            <p:nvPr/>
          </p:nvSpPr>
          <p:spPr bwMode="auto">
            <a:xfrm>
              <a:off x="6848574" y="3249590"/>
              <a:ext cx="892175" cy="1047750"/>
            </a:xfrm>
            <a:custGeom>
              <a:avLst/>
              <a:gdLst>
                <a:gd name="T0" fmla="*/ 0 w 797"/>
                <a:gd name="T1" fmla="*/ 0 h 936"/>
                <a:gd name="T2" fmla="*/ 797 w 797"/>
                <a:gd name="T3" fmla="*/ 936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97" h="936">
                  <a:moveTo>
                    <a:pt x="0" y="0"/>
                  </a:moveTo>
                  <a:lnTo>
                    <a:pt x="797" y="936"/>
                  </a:lnTo>
                </a:path>
              </a:pathLst>
            </a:custGeom>
            <a:noFill/>
            <a:ln w="19050">
              <a:solidFill>
                <a:srgbClr val="A5002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4" name="Line 22"/>
            <p:cNvSpPr>
              <a:spLocks noChangeShapeType="1"/>
            </p:cNvSpPr>
            <p:nvPr/>
          </p:nvSpPr>
          <p:spPr bwMode="auto">
            <a:xfrm>
              <a:off x="5870674" y="2957490"/>
              <a:ext cx="1028700" cy="317500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Freeform 30"/>
            <p:cNvSpPr>
              <a:spLocks/>
            </p:cNvSpPr>
            <p:nvPr/>
          </p:nvSpPr>
          <p:spPr bwMode="auto">
            <a:xfrm>
              <a:off x="5526186" y="2257403"/>
              <a:ext cx="2892425" cy="2562225"/>
            </a:xfrm>
            <a:custGeom>
              <a:avLst/>
              <a:gdLst>
                <a:gd name="T0" fmla="*/ 0 w 1881"/>
                <a:gd name="T1" fmla="*/ 0 h 1831"/>
                <a:gd name="T2" fmla="*/ 0 w 1881"/>
                <a:gd name="T3" fmla="*/ 1831 h 1831"/>
                <a:gd name="T4" fmla="*/ 1881 w 1881"/>
                <a:gd name="T5" fmla="*/ 1831 h 1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81" h="1831">
                  <a:moveTo>
                    <a:pt x="0" y="0"/>
                  </a:moveTo>
                  <a:lnTo>
                    <a:pt x="0" y="1831"/>
                  </a:lnTo>
                  <a:lnTo>
                    <a:pt x="1881" y="183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24"/>
            <p:cNvSpPr txBox="1">
              <a:spLocks noChangeArrowheads="1"/>
            </p:cNvSpPr>
            <p:nvPr/>
          </p:nvSpPr>
          <p:spPr bwMode="auto">
            <a:xfrm>
              <a:off x="7766400" y="4313378"/>
              <a:ext cx="7937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</a:rPr>
                <a:t>p</a:t>
              </a:r>
              <a:r>
                <a:rPr lang="en-US" altLang="zh-CN" sz="2400" b="1" dirty="0">
                  <a:solidFill>
                    <a:srgbClr val="000066"/>
                  </a:solidFill>
                </a:rPr>
                <a:t>(</a:t>
              </a:r>
              <a:r>
                <a:rPr lang="en-US" altLang="zh-CN" sz="2400" b="1" dirty="0" err="1">
                  <a:solidFill>
                    <a:srgbClr val="000066"/>
                  </a:solidFill>
                </a:rPr>
                <a:t>lg</a:t>
              </a:r>
              <a:r>
                <a:rPr lang="en-US" altLang="zh-CN" sz="2400" b="1" dirty="0">
                  <a:solidFill>
                    <a:srgbClr val="000066"/>
                  </a:solidFill>
                </a:rPr>
                <a:t>)</a:t>
              </a:r>
              <a:endParaRPr lang="zh-CN" altLang="en-US" sz="2400" b="1" dirty="0">
                <a:solidFill>
                  <a:srgbClr val="000066"/>
                </a:solidFill>
              </a:endParaRPr>
            </a:p>
          </p:txBody>
        </p:sp>
        <p:sp>
          <p:nvSpPr>
            <p:cNvPr id="51" name="Text Box 321"/>
            <p:cNvSpPr txBox="1">
              <a:spLocks noChangeArrowheads="1"/>
            </p:cNvSpPr>
            <p:nvPr/>
          </p:nvSpPr>
          <p:spPr bwMode="auto">
            <a:xfrm>
              <a:off x="5060179" y="2770117"/>
              <a:ext cx="4812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A50021"/>
                  </a:solidFill>
                </a:rPr>
                <a:t>e</a:t>
              </a:r>
              <a:r>
                <a:rPr lang="en-US" altLang="zh-CN" sz="2400" b="1" baseline="-25000" dirty="0" smtClean="0">
                  <a:solidFill>
                    <a:srgbClr val="A50021"/>
                  </a:solidFill>
                </a:rPr>
                <a:t>1i</a:t>
              </a:r>
              <a:endParaRPr lang="zh-CN" altLang="en-US" sz="24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52" name="Text Box 321"/>
            <p:cNvSpPr txBox="1">
              <a:spLocks noChangeArrowheads="1"/>
            </p:cNvSpPr>
            <p:nvPr/>
          </p:nvSpPr>
          <p:spPr bwMode="auto">
            <a:xfrm>
              <a:off x="5079229" y="3551167"/>
              <a:ext cx="4812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A50021"/>
                  </a:solidFill>
                </a:rPr>
                <a:t>e</a:t>
              </a:r>
              <a:r>
                <a:rPr lang="en-US" altLang="zh-CN" sz="2400" b="1" baseline="-25000" dirty="0" smtClean="0">
                  <a:solidFill>
                    <a:srgbClr val="A50021"/>
                  </a:solidFill>
                </a:rPr>
                <a:t>2i</a:t>
              </a:r>
              <a:endParaRPr lang="zh-CN" altLang="en-US" sz="24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53" name="Text Box 321"/>
            <p:cNvSpPr txBox="1">
              <a:spLocks noChangeArrowheads="1"/>
            </p:cNvSpPr>
            <p:nvPr/>
          </p:nvSpPr>
          <p:spPr bwMode="auto">
            <a:xfrm>
              <a:off x="5761613" y="4736390"/>
              <a:ext cx="67678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A50021"/>
                  </a:solidFill>
                  <a:sym typeface="Symbol"/>
                </a:rPr>
                <a:t></a:t>
              </a:r>
              <a:r>
                <a:rPr lang="en-US" altLang="zh-CN" sz="2400" b="1" dirty="0" smtClean="0">
                  <a:solidFill>
                    <a:srgbClr val="A50021"/>
                  </a:solidFill>
                  <a:sym typeface="Symbol"/>
                </a:rPr>
                <a:t></a:t>
              </a:r>
              <a:r>
                <a:rPr lang="en-US" altLang="zh-CN" sz="2400" b="1" baseline="-25000" dirty="0" err="1" smtClean="0">
                  <a:solidFill>
                    <a:srgbClr val="A50021"/>
                  </a:solidFill>
                </a:rPr>
                <a:t>szi</a:t>
              </a:r>
              <a:endParaRPr lang="zh-CN" altLang="en-US" sz="24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54" name="Text Box 321"/>
            <p:cNvSpPr txBox="1">
              <a:spLocks noChangeArrowheads="1"/>
            </p:cNvSpPr>
            <p:nvPr/>
          </p:nvSpPr>
          <p:spPr bwMode="auto">
            <a:xfrm>
              <a:off x="7122212" y="4736385"/>
              <a:ext cx="11865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A50021"/>
                  </a:solidFill>
                  <a:sym typeface="Symbol"/>
                </a:rPr>
                <a:t></a:t>
              </a:r>
              <a:r>
                <a:rPr lang="en-US" altLang="zh-CN" sz="2400" b="1" dirty="0">
                  <a:solidFill>
                    <a:srgbClr val="A50021"/>
                  </a:solidFill>
                  <a:sym typeface="Symbol"/>
                </a:rPr>
                <a:t></a:t>
              </a:r>
              <a:r>
                <a:rPr lang="en-US" altLang="zh-CN" sz="2400" b="1" baseline="-25000" dirty="0" err="1" smtClean="0">
                  <a:solidFill>
                    <a:srgbClr val="A50021"/>
                  </a:solidFill>
                </a:rPr>
                <a:t>szi</a:t>
              </a:r>
              <a:r>
                <a:rPr lang="en-US" altLang="zh-CN" sz="2400" b="1" i="1" dirty="0" smtClean="0">
                  <a:solidFill>
                    <a:srgbClr val="A50021"/>
                  </a:solidFill>
                </a:rPr>
                <a:t>+</a:t>
              </a:r>
              <a:r>
                <a:rPr lang="en-US" altLang="zh-CN" sz="2400" b="1" i="1" dirty="0" smtClean="0">
                  <a:solidFill>
                    <a:srgbClr val="A50021"/>
                  </a:solidFill>
                  <a:sym typeface="Symbol"/>
                </a:rPr>
                <a:t></a:t>
              </a:r>
              <a:r>
                <a:rPr lang="en-US" altLang="zh-CN" sz="2400" b="1" baseline="-25000" dirty="0" err="1" smtClean="0">
                  <a:solidFill>
                    <a:srgbClr val="A50021"/>
                  </a:solidFill>
                </a:rPr>
                <a:t>zi</a:t>
              </a:r>
              <a:endParaRPr lang="zh-CN" altLang="en-US" sz="2400" b="1" baseline="-25000" dirty="0">
                <a:solidFill>
                  <a:srgbClr val="A50021"/>
                </a:solidFill>
              </a:endParaRPr>
            </a:p>
          </p:txBody>
        </p:sp>
        <p:sp>
          <p:nvSpPr>
            <p:cNvPr id="55" name="Text Box 321"/>
            <p:cNvSpPr txBox="1">
              <a:spLocks noChangeArrowheads="1"/>
            </p:cNvSpPr>
            <p:nvPr/>
          </p:nvSpPr>
          <p:spPr bwMode="auto">
            <a:xfrm>
              <a:off x="5117329" y="1989067"/>
              <a:ext cx="34336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 dirty="0" smtClean="0">
                  <a:solidFill>
                    <a:srgbClr val="000066"/>
                  </a:solidFill>
                </a:rPr>
                <a:t>e</a:t>
              </a:r>
              <a:endParaRPr lang="zh-CN" altLang="en-US" sz="2800" b="1" i="1" dirty="0">
                <a:solidFill>
                  <a:srgbClr val="000066"/>
                </a:solidFill>
              </a:endParaRPr>
            </a:p>
          </p:txBody>
        </p:sp>
        <p:sp>
          <p:nvSpPr>
            <p:cNvPr id="56" name="Text Box 321"/>
            <p:cNvSpPr txBox="1">
              <a:spLocks noChangeArrowheads="1"/>
            </p:cNvSpPr>
            <p:nvPr/>
          </p:nvSpPr>
          <p:spPr bwMode="auto">
            <a:xfrm>
              <a:off x="6495324" y="4728144"/>
              <a:ext cx="5998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smtClean="0">
                  <a:solidFill>
                    <a:srgbClr val="A50021"/>
                  </a:solidFill>
                  <a:sym typeface="Symbol"/>
                </a:rPr>
                <a:t></a:t>
              </a:r>
              <a:r>
                <a:rPr lang="en-US" altLang="zh-CN" sz="2400" b="1" baseline="-25000" dirty="0" err="1" smtClean="0">
                  <a:solidFill>
                    <a:srgbClr val="A50021"/>
                  </a:solidFill>
                </a:rPr>
                <a:t>szi</a:t>
              </a:r>
              <a:endParaRPr lang="zh-CN" altLang="en-US" sz="2400" b="1" baseline="-25000" dirty="0">
                <a:solidFill>
                  <a:srgbClr val="A50021"/>
                </a:solidFill>
              </a:endParaRPr>
            </a:p>
          </p:txBody>
        </p:sp>
        <p:cxnSp>
          <p:nvCxnSpPr>
            <p:cNvPr id="3" name="直接连接符 2"/>
            <p:cNvCxnSpPr/>
            <p:nvPr/>
          </p:nvCxnSpPr>
          <p:spPr bwMode="auto">
            <a:xfrm>
              <a:off x="6150634" y="3053751"/>
              <a:ext cx="0" cy="176841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直接连接符 77"/>
            <p:cNvCxnSpPr/>
            <p:nvPr/>
          </p:nvCxnSpPr>
          <p:spPr bwMode="auto">
            <a:xfrm>
              <a:off x="6872377" y="3286664"/>
              <a:ext cx="0" cy="1549879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直接连接符 79"/>
            <p:cNvCxnSpPr/>
            <p:nvPr/>
          </p:nvCxnSpPr>
          <p:spPr bwMode="auto">
            <a:xfrm flipH="1">
              <a:off x="7361218" y="3847110"/>
              <a:ext cx="12082" cy="97219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6" name="Oval 26"/>
            <p:cNvSpPr>
              <a:spLocks noChangeArrowheads="1"/>
            </p:cNvSpPr>
            <p:nvPr/>
          </p:nvSpPr>
          <p:spPr bwMode="auto">
            <a:xfrm>
              <a:off x="6110386" y="3003528"/>
              <a:ext cx="72000" cy="72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Oval 27"/>
            <p:cNvSpPr>
              <a:spLocks noChangeArrowheads="1"/>
            </p:cNvSpPr>
            <p:nvPr/>
          </p:nvSpPr>
          <p:spPr bwMode="auto">
            <a:xfrm>
              <a:off x="6832270" y="3238049"/>
              <a:ext cx="72000" cy="72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Oval 28"/>
            <p:cNvSpPr>
              <a:spLocks noChangeArrowheads="1"/>
            </p:cNvSpPr>
            <p:nvPr/>
          </p:nvSpPr>
          <p:spPr bwMode="auto">
            <a:xfrm>
              <a:off x="7325554" y="3811010"/>
              <a:ext cx="72000" cy="72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Text Box 35"/>
            <p:cNvSpPr txBox="1">
              <a:spLocks noChangeArrowheads="1"/>
            </p:cNvSpPr>
            <p:nvPr/>
          </p:nvSpPr>
          <p:spPr bwMode="auto">
            <a:xfrm>
              <a:off x="7073999" y="3260703"/>
              <a:ext cx="557213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 smtClean="0">
                  <a:solidFill>
                    <a:srgbClr val="000066"/>
                  </a:solidFill>
                  <a:ea typeface="幼圆" pitchFamily="49" charset="-122"/>
                </a:rPr>
                <a:t>C</a:t>
              </a:r>
              <a:r>
                <a:rPr lang="en-US" altLang="zh-CN" sz="2400" b="1" baseline="-25000" dirty="0" err="1" smtClean="0">
                  <a:solidFill>
                    <a:srgbClr val="000066"/>
                  </a:solidFill>
                  <a:ea typeface="幼圆" pitchFamily="49" charset="-122"/>
                </a:rPr>
                <a:t>ci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75" name="Text Box 36"/>
            <p:cNvSpPr txBox="1">
              <a:spLocks noChangeArrowheads="1"/>
            </p:cNvSpPr>
            <p:nvPr/>
          </p:nvSpPr>
          <p:spPr bwMode="auto">
            <a:xfrm>
              <a:off x="6310081" y="2723448"/>
              <a:ext cx="557213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 err="1" smtClean="0">
                  <a:solidFill>
                    <a:srgbClr val="000066"/>
                  </a:solidFill>
                  <a:ea typeface="幼圆" pitchFamily="49" charset="-122"/>
                </a:rPr>
                <a:t>C</a:t>
              </a:r>
              <a:r>
                <a:rPr lang="en-US" altLang="zh-CN" sz="2400" b="1" baseline="-25000" dirty="0" err="1" smtClean="0">
                  <a:solidFill>
                    <a:srgbClr val="000066"/>
                  </a:solidFill>
                  <a:ea typeface="幼圆" pitchFamily="49" charset="-122"/>
                </a:rPr>
                <a:t>ei</a:t>
              </a:r>
              <a:endParaRPr lang="en-US" altLang="zh-CN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49" name="Text Box 321"/>
            <p:cNvSpPr txBox="1">
              <a:spLocks noChangeArrowheads="1"/>
            </p:cNvSpPr>
            <p:nvPr/>
          </p:nvSpPr>
          <p:spPr bwMode="auto">
            <a:xfrm>
              <a:off x="7450954" y="3608317"/>
              <a:ext cx="38824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dirty="0" smtClean="0">
                  <a:solidFill>
                    <a:srgbClr val="A50021"/>
                  </a:solidFill>
                </a:rPr>
                <a:t>C</a:t>
              </a:r>
              <a:endParaRPr lang="zh-CN" altLang="en-US" sz="2200" b="1" dirty="0">
                <a:solidFill>
                  <a:srgbClr val="A50021"/>
                </a:solidFill>
              </a:endParaRPr>
            </a:p>
          </p:txBody>
        </p:sp>
        <p:sp>
          <p:nvSpPr>
            <p:cNvPr id="50" name="Text Box 321"/>
            <p:cNvSpPr txBox="1">
              <a:spLocks noChangeArrowheads="1"/>
            </p:cNvSpPr>
            <p:nvPr/>
          </p:nvSpPr>
          <p:spPr bwMode="auto">
            <a:xfrm>
              <a:off x="6868399" y="2883371"/>
              <a:ext cx="37221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dirty="0" smtClean="0">
                  <a:solidFill>
                    <a:srgbClr val="A50021"/>
                  </a:solidFill>
                </a:rPr>
                <a:t>B</a:t>
              </a:r>
              <a:endParaRPr lang="zh-CN" altLang="en-US" sz="2200" b="1" dirty="0">
                <a:solidFill>
                  <a:srgbClr val="A50021"/>
                </a:solidFill>
              </a:endParaRPr>
            </a:p>
          </p:txBody>
        </p:sp>
        <p:sp>
          <p:nvSpPr>
            <p:cNvPr id="57" name="Text Box 321"/>
            <p:cNvSpPr txBox="1">
              <a:spLocks noChangeArrowheads="1"/>
            </p:cNvSpPr>
            <p:nvPr/>
          </p:nvSpPr>
          <p:spPr bwMode="auto">
            <a:xfrm>
              <a:off x="5996949" y="2590966"/>
              <a:ext cx="388248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 dirty="0" smtClean="0">
                  <a:solidFill>
                    <a:srgbClr val="A50021"/>
                  </a:solidFill>
                </a:rPr>
                <a:t>A</a:t>
              </a:r>
              <a:endParaRPr lang="zh-CN" altLang="en-US" sz="2200" b="1" dirty="0">
                <a:solidFill>
                  <a:srgbClr val="A50021"/>
                </a:solidFill>
              </a:endParaRPr>
            </a:p>
          </p:txBody>
        </p:sp>
      </p:grpSp>
      <p:sp>
        <p:nvSpPr>
          <p:cNvPr id="1551363" name="Rectangle 3"/>
          <p:cNvSpPr>
            <a:spLocks noChangeArrowheads="1"/>
          </p:cNvSpPr>
          <p:nvPr/>
        </p:nvSpPr>
        <p:spPr bwMode="auto">
          <a:xfrm>
            <a:off x="168275" y="598488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单层沉降计算：情况</a:t>
            </a:r>
            <a:r>
              <a:rPr kumimoji="1"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2</a:t>
            </a: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考虑</a:t>
            </a: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地基回弹</a:t>
            </a:r>
            <a:endParaRPr kumimoji="1" lang="en-US" altLang="zh-CN" sz="24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51364" name="Rectangle 4"/>
          <p:cNvSpPr>
            <a:spLocks noChangeArrowheads="1"/>
          </p:cNvSpPr>
          <p:nvPr/>
        </p:nvSpPr>
        <p:spPr bwMode="auto">
          <a:xfrm>
            <a:off x="1901825" y="5902325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551365" name="Text Box 5"/>
          <p:cNvSpPr txBox="1">
            <a:spLocks noChangeArrowheads="1"/>
          </p:cNvSpPr>
          <p:nvPr/>
        </p:nvSpPr>
        <p:spPr bwMode="auto">
          <a:xfrm>
            <a:off x="317500" y="1290638"/>
            <a:ext cx="2324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 对土层</a:t>
            </a:r>
            <a:r>
              <a:rPr lang="en-US" altLang="zh-CN" sz="2400" b="1" dirty="0" err="1">
                <a:solidFill>
                  <a:srgbClr val="000066"/>
                </a:solidFill>
                <a:ea typeface="幼圆" pitchFamily="49" charset="-122"/>
              </a:rPr>
              <a:t>i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有：</a:t>
            </a:r>
          </a:p>
        </p:txBody>
      </p:sp>
      <p:sp>
        <p:nvSpPr>
          <p:cNvPr id="1551367" name="Rectangle 7"/>
          <p:cNvSpPr>
            <a:spLocks noChangeArrowheads="1"/>
          </p:cNvSpPr>
          <p:nvPr/>
        </p:nvSpPr>
        <p:spPr bwMode="auto">
          <a:xfrm>
            <a:off x="777567" y="2048560"/>
            <a:ext cx="2943225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沉降量</a:t>
            </a:r>
            <a:r>
              <a:rPr kumimoji="1"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8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kumimoji="1" lang="en-US" altLang="zh-CN" sz="28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1i 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8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2i</a:t>
            </a:r>
          </a:p>
        </p:txBody>
      </p:sp>
      <p:graphicFrame>
        <p:nvGraphicFramePr>
          <p:cNvPr id="15513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834582"/>
              </p:ext>
            </p:extLst>
          </p:nvPr>
        </p:nvGraphicFramePr>
        <p:xfrm>
          <a:off x="949325" y="2887663"/>
          <a:ext cx="2997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694" name="Microsoft 公式 3.0" r:id="rId3" imgW="1498320" imgH="482400" progId="Equation.3">
                  <p:embed/>
                </p:oleObj>
              </mc:Choice>
              <mc:Fallback>
                <p:oleObj name="Microsoft 公式 3.0" r:id="rId3" imgW="1498320" imgH="482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2887663"/>
                        <a:ext cx="29972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13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998287"/>
              </p:ext>
            </p:extLst>
          </p:nvPr>
        </p:nvGraphicFramePr>
        <p:xfrm>
          <a:off x="976313" y="4140200"/>
          <a:ext cx="3632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695" name="Microsoft 公式 3.0" r:id="rId5" imgW="1815840" imgH="482400" progId="Equation.3">
                  <p:embed/>
                </p:oleObj>
              </mc:Choice>
              <mc:Fallback>
                <p:oleObj name="Microsoft 公式 3.0" r:id="rId5" imgW="1815840" imgH="482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313" y="4140200"/>
                        <a:ext cx="36322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5384227" y="1481789"/>
            <a:ext cx="2977135" cy="1130300"/>
            <a:chOff x="5384227" y="1481789"/>
            <a:chExt cx="2977135" cy="1130300"/>
          </a:xfrm>
        </p:grpSpPr>
        <p:sp>
          <p:nvSpPr>
            <p:cNvPr id="1551395" name="Line 35"/>
            <p:cNvSpPr>
              <a:spLocks noChangeShapeType="1"/>
            </p:cNvSpPr>
            <p:nvPr/>
          </p:nvSpPr>
          <p:spPr bwMode="auto">
            <a:xfrm flipV="1">
              <a:off x="6153400" y="2123139"/>
              <a:ext cx="0" cy="4889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396" name="Line 36"/>
            <p:cNvSpPr>
              <a:spLocks noChangeShapeType="1"/>
            </p:cNvSpPr>
            <p:nvPr/>
          </p:nvSpPr>
          <p:spPr bwMode="auto">
            <a:xfrm flipV="1">
              <a:off x="7385115" y="2121552"/>
              <a:ext cx="0" cy="4889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397" name="Line 37"/>
            <p:cNvSpPr>
              <a:spLocks noChangeShapeType="1"/>
            </p:cNvSpPr>
            <p:nvPr/>
          </p:nvSpPr>
          <p:spPr bwMode="auto">
            <a:xfrm>
              <a:off x="6153401" y="2399364"/>
              <a:ext cx="1226888" cy="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399" name="Line 39"/>
            <p:cNvSpPr>
              <a:spLocks noChangeShapeType="1"/>
            </p:cNvSpPr>
            <p:nvPr/>
          </p:nvSpPr>
          <p:spPr bwMode="auto">
            <a:xfrm flipV="1">
              <a:off x="6865278" y="2283477"/>
              <a:ext cx="0" cy="2444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400" name="Text Box 40"/>
            <p:cNvSpPr txBox="1">
              <a:spLocks noChangeArrowheads="1"/>
            </p:cNvSpPr>
            <p:nvPr/>
          </p:nvSpPr>
          <p:spPr bwMode="auto">
            <a:xfrm>
              <a:off x="5384227" y="1481789"/>
              <a:ext cx="144842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再压缩</a:t>
              </a:r>
              <a:r>
                <a:rPr kumimoji="1" lang="en-US" altLang="zh-CN" sz="2400" b="1" i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S</a:t>
              </a:r>
              <a:r>
                <a:rPr kumimoji="1" lang="en-US" altLang="zh-CN" sz="2400" b="1" baseline="-25000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1i</a:t>
              </a:r>
              <a:endParaRPr kumimoji="1" lang="zh-CN" altLang="en-US" sz="2400" b="1" baseline="-25000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51401" name="Text Box 41"/>
            <p:cNvSpPr txBox="1">
              <a:spLocks noChangeArrowheads="1"/>
            </p:cNvSpPr>
            <p:nvPr/>
          </p:nvSpPr>
          <p:spPr bwMode="auto">
            <a:xfrm>
              <a:off x="7235703" y="1484964"/>
              <a:ext cx="1125659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压缩</a:t>
              </a:r>
              <a:r>
                <a:rPr kumimoji="1" lang="en-US" altLang="zh-CN" sz="2400" b="1" i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S</a:t>
              </a:r>
              <a:r>
                <a:rPr kumimoji="1" lang="en-US" altLang="zh-CN" sz="2400" b="1" baseline="-25000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2i</a:t>
              </a:r>
              <a:endParaRPr kumimoji="1" lang="zh-CN" altLang="en-US" sz="2400" b="1" baseline="-25000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51402" name="Line 42"/>
            <p:cNvSpPr>
              <a:spLocks noChangeShapeType="1"/>
            </p:cNvSpPr>
            <p:nvPr/>
          </p:nvSpPr>
          <p:spPr bwMode="auto">
            <a:xfrm flipH="1" flipV="1">
              <a:off x="6214421" y="1926289"/>
              <a:ext cx="370938" cy="320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1403" name="Line 43"/>
            <p:cNvSpPr>
              <a:spLocks noChangeShapeType="1"/>
            </p:cNvSpPr>
            <p:nvPr/>
          </p:nvSpPr>
          <p:spPr bwMode="auto">
            <a:xfrm flipV="1">
              <a:off x="7124904" y="1958039"/>
              <a:ext cx="277802" cy="2730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4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考虑回弹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1000"/>
                                        <p:tgtEl>
                                          <p:spTgt spid="155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1000"/>
                                        <p:tgtEl>
                                          <p:spTgt spid="155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55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55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1363" grpId="0" build="p" autoUpdateAnimBg="0"/>
      <p:bldP spid="1551365" grpId="0"/>
      <p:bldP spid="1551367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387" name="Rectangle 3"/>
          <p:cNvSpPr>
            <a:spLocks noChangeArrowheads="1"/>
          </p:cNvSpPr>
          <p:nvPr/>
        </p:nvSpPr>
        <p:spPr bwMode="auto">
          <a:xfrm>
            <a:off x="168275" y="693738"/>
            <a:ext cx="6034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单层计算公式：情况</a:t>
            </a:r>
            <a:r>
              <a:rPr kumimoji="1" lang="en-US" altLang="zh-CN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2</a:t>
            </a: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考虑</a:t>
            </a: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地基回弹</a:t>
            </a:r>
            <a:endParaRPr kumimoji="1" lang="en-US" altLang="zh-CN" sz="24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52388" name="Rectangle 4"/>
          <p:cNvSpPr>
            <a:spLocks noChangeArrowheads="1"/>
          </p:cNvSpPr>
          <p:nvPr/>
        </p:nvSpPr>
        <p:spPr bwMode="auto">
          <a:xfrm>
            <a:off x="1901825" y="5721530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552390" name="Rectangle 6"/>
          <p:cNvSpPr>
            <a:spLocks noChangeArrowheads="1"/>
          </p:cNvSpPr>
          <p:nvPr/>
        </p:nvSpPr>
        <p:spPr bwMode="auto">
          <a:xfrm>
            <a:off x="323850" y="1527175"/>
            <a:ext cx="777557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812800" indent="-812800"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</a:pPr>
            <a:endParaRPr lang="zh-CN" altLang="en-US" sz="2900">
              <a:solidFill>
                <a:srgbClr val="000066"/>
              </a:solidFill>
              <a:latin typeface="Verdana" pitchFamily="34" charset="0"/>
            </a:endParaRPr>
          </a:p>
        </p:txBody>
      </p:sp>
      <p:sp>
        <p:nvSpPr>
          <p:cNvPr id="1552391" name="Rectangle 7"/>
          <p:cNvSpPr>
            <a:spLocks noChangeArrowheads="1"/>
          </p:cNvSpPr>
          <p:nvPr/>
        </p:nvSpPr>
        <p:spPr bwMode="auto">
          <a:xfrm>
            <a:off x="714375" y="1501775"/>
            <a:ext cx="7877175" cy="381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533400" indent="-533400" algn="just" eaLnBrk="0" hangingPunct="0">
              <a:lnSpc>
                <a:spcPct val="125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类似于超固结土的计算方法</a:t>
            </a:r>
          </a:p>
          <a:p>
            <a:pPr marL="533400" indent="-533400" algn="just" eaLnBrk="0" hangingPunct="0">
              <a:lnSpc>
                <a:spcPct val="125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无论回弹、再压缩或压缩，均相对于开挖前的拟定基底高程为基准点，故在计算公式中采用开挖前地基的天然</a:t>
            </a:r>
            <a:r>
              <a:rPr kumimoji="1" lang="zh-CN" altLang="en-US" sz="26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孔隙比 </a:t>
            </a:r>
            <a:r>
              <a:rPr kumimoji="1" lang="en-US" altLang="zh-CN" sz="26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</a:t>
            </a:r>
            <a:r>
              <a:rPr kumimoji="1" lang="en-US" altLang="zh-CN" sz="26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1i</a:t>
            </a:r>
            <a:endParaRPr kumimoji="1" lang="zh-CN" altLang="en-US" sz="26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533400" indent="-533400" algn="just" eaLnBrk="0" hangingPunct="0">
              <a:lnSpc>
                <a:spcPct val="125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原本</a:t>
            </a:r>
            <a:r>
              <a:rPr kumimoji="1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kumimoji="1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zh-CN" altLang="en-US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回弹</a:t>
            </a:r>
            <a:r>
              <a:rPr kumimoji="1" lang="en-US" altLang="zh-CN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kumimoji="1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kumimoji="1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1i</a:t>
            </a:r>
            <a:r>
              <a:rPr kumimoji="1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kumimoji="1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2i</a:t>
            </a:r>
            <a:r>
              <a:rPr kumimoji="1" lang="zh-CN" altLang="en-US" sz="26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，但由于沉降量从建筑物开始修建的高程起算，</a:t>
            </a:r>
            <a:r>
              <a:rPr kumimoji="1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zh-CN" altLang="en-US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回弹</a:t>
            </a:r>
            <a:r>
              <a:rPr kumimoji="1" lang="en-US" altLang="zh-CN" sz="26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kumimoji="1" lang="zh-CN" altLang="en-US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部分已经被挖除，故实际的 </a:t>
            </a:r>
            <a:r>
              <a:rPr kumimoji="1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i</a:t>
            </a:r>
            <a:r>
              <a:rPr kumimoji="1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kumimoji="1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1i</a:t>
            </a:r>
            <a:r>
              <a:rPr kumimoji="1" lang="en-US" altLang="zh-CN" sz="26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kumimoji="1" lang="en-US" altLang="zh-CN" sz="26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6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2i</a:t>
            </a:r>
            <a:endParaRPr kumimoji="1" lang="zh-CN" altLang="en-US" sz="26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考虑回弹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5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5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5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52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52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523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52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52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523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2387" grpId="0" build="p" autoUpdateAnimBg="0"/>
      <p:bldP spid="1552391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854" name="Text Box 198"/>
          <p:cNvSpPr txBox="1">
            <a:spLocks noChangeArrowheads="1"/>
          </p:cNvSpPr>
          <p:nvPr/>
        </p:nvSpPr>
        <p:spPr bwMode="auto">
          <a:xfrm>
            <a:off x="297458" y="1596498"/>
            <a:ext cx="1733365" cy="111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153" tIns="36576" rIns="73153" bIns="36576"/>
          <a:lstStyle>
            <a:lvl1pPr marL="361950" indent="-361950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1338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731838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098550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463675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9208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3780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8352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2924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情况1：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不考虑地基回弹</a:t>
            </a:r>
          </a:p>
        </p:txBody>
      </p:sp>
      <p:sp>
        <p:nvSpPr>
          <p:cNvPr id="1606919" name="Text Box 263"/>
          <p:cNvSpPr txBox="1">
            <a:spLocks noChangeArrowheads="1"/>
          </p:cNvSpPr>
          <p:nvPr/>
        </p:nvSpPr>
        <p:spPr bwMode="auto">
          <a:xfrm>
            <a:off x="322858" y="3549123"/>
            <a:ext cx="1569743" cy="111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3153" tIns="36576" rIns="73153" bIns="36576"/>
          <a:lstStyle>
            <a:lvl1pPr marL="361950" indent="-361950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1338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731838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098550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463675" defTabSz="7318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9208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3780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8352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292475" defTabSz="73183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buSzPct val="130000"/>
              <a:buFont typeface="Wingdings" pitchFamily="2" charset="2"/>
              <a:buChar char="F"/>
            </a:pP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情况</a:t>
            </a:r>
            <a:r>
              <a:rPr lang="en-US" altLang="zh-CN" sz="22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2</a:t>
            </a:r>
            <a:r>
              <a:rPr lang="zh-CN" altLang="en-US" sz="22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：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考虑地基回弹</a:t>
            </a:r>
          </a:p>
        </p:txBody>
      </p:sp>
      <p:sp>
        <p:nvSpPr>
          <p:cNvPr id="1606920" name="Rectangle 264"/>
          <p:cNvSpPr>
            <a:spLocks noChangeArrowheads="1"/>
          </p:cNvSpPr>
          <p:nvPr/>
        </p:nvSpPr>
        <p:spPr bwMode="auto">
          <a:xfrm>
            <a:off x="1901825" y="5813545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606921" name="Rectangle 265"/>
          <p:cNvSpPr>
            <a:spLocks noChangeArrowheads="1"/>
          </p:cNvSpPr>
          <p:nvPr/>
        </p:nvSpPr>
        <p:spPr bwMode="auto">
          <a:xfrm>
            <a:off x="168275" y="604311"/>
            <a:ext cx="6034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情况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和情况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对比</a:t>
            </a:r>
            <a:endParaRPr kumimoji="1" lang="zh-CN" altLang="en-US" sz="24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34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5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分层总和法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97" name="Rectangle 178"/>
          <p:cNvSpPr>
            <a:spLocks noChangeArrowheads="1"/>
          </p:cNvSpPr>
          <p:nvPr/>
        </p:nvSpPr>
        <p:spPr bwMode="auto">
          <a:xfrm>
            <a:off x="2320265" y="1554828"/>
            <a:ext cx="1692617" cy="8263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 anchor="ctr"/>
          <a:lstStyle/>
          <a:p>
            <a:endParaRPr lang="zh-CN" altLang="en-US"/>
          </a:p>
        </p:txBody>
      </p:sp>
      <p:sp>
        <p:nvSpPr>
          <p:cNvPr id="198" name="Line 179"/>
          <p:cNvSpPr>
            <a:spLocks noChangeAspect="1" noChangeShapeType="1"/>
          </p:cNvSpPr>
          <p:nvPr/>
        </p:nvSpPr>
        <p:spPr bwMode="auto">
          <a:xfrm>
            <a:off x="2312264" y="1558257"/>
            <a:ext cx="1705189" cy="114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199" name="Rectangle 180"/>
          <p:cNvSpPr>
            <a:spLocks noChangeArrowheads="1"/>
          </p:cNvSpPr>
          <p:nvPr/>
        </p:nvSpPr>
        <p:spPr bwMode="auto">
          <a:xfrm>
            <a:off x="2329408" y="2374278"/>
            <a:ext cx="1683474" cy="685733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 anchor="ctr"/>
          <a:lstStyle/>
          <a:p>
            <a:endParaRPr lang="zh-CN" altLang="en-US"/>
          </a:p>
        </p:txBody>
      </p:sp>
      <p:sp>
        <p:nvSpPr>
          <p:cNvPr id="200" name="Rectangle 182" descr="宽上对角线"/>
          <p:cNvSpPr>
            <a:spLocks noChangeAspect="1" noChangeArrowheads="1"/>
          </p:cNvSpPr>
          <p:nvPr/>
        </p:nvSpPr>
        <p:spPr bwMode="auto">
          <a:xfrm>
            <a:off x="2651703" y="1562829"/>
            <a:ext cx="805736" cy="565729"/>
          </a:xfrm>
          <a:prstGeom prst="rect">
            <a:avLst/>
          </a:prstGeom>
          <a:noFill/>
          <a:ln w="19050">
            <a:solidFill>
              <a:srgbClr val="A5002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 anchor="ctr"/>
          <a:lstStyle/>
          <a:p>
            <a:endParaRPr lang="zh-CN" altLang="en-US"/>
          </a:p>
        </p:txBody>
      </p:sp>
      <p:sp>
        <p:nvSpPr>
          <p:cNvPr id="201" name="Line 183"/>
          <p:cNvSpPr>
            <a:spLocks noChangeAspect="1" noChangeShapeType="1"/>
          </p:cNvSpPr>
          <p:nvPr/>
        </p:nvSpPr>
        <p:spPr bwMode="auto">
          <a:xfrm>
            <a:off x="2468840" y="1554827"/>
            <a:ext cx="0" cy="580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02" name="Text Box 184"/>
          <p:cNvSpPr txBox="1">
            <a:spLocks noChangeAspect="1" noChangeArrowheads="1"/>
          </p:cNvSpPr>
          <p:nvPr/>
        </p:nvSpPr>
        <p:spPr bwMode="auto">
          <a:xfrm>
            <a:off x="2372839" y="1730832"/>
            <a:ext cx="163433" cy="2342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7387" tIns="23693" rIns="47387" bIns="23693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1200" b="1" i="1" dirty="0">
                <a:solidFill>
                  <a:srgbClr val="000066"/>
                </a:solidFill>
              </a:rPr>
              <a:t>d</a:t>
            </a:r>
          </a:p>
        </p:txBody>
      </p:sp>
      <p:sp>
        <p:nvSpPr>
          <p:cNvPr id="203" name="Line 185"/>
          <p:cNvSpPr>
            <a:spLocks noChangeAspect="1" noChangeShapeType="1"/>
          </p:cNvSpPr>
          <p:nvPr/>
        </p:nvSpPr>
        <p:spPr bwMode="auto">
          <a:xfrm>
            <a:off x="2379694" y="2128557"/>
            <a:ext cx="134060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04" name="Line 186"/>
          <p:cNvSpPr>
            <a:spLocks noChangeAspect="1" noChangeShapeType="1"/>
          </p:cNvSpPr>
          <p:nvPr/>
        </p:nvSpPr>
        <p:spPr bwMode="auto">
          <a:xfrm>
            <a:off x="2329409" y="2373135"/>
            <a:ext cx="1702903" cy="114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/>
          <a:lstStyle/>
          <a:p>
            <a:endParaRPr lang="zh-CN" altLang="en-US"/>
          </a:p>
        </p:txBody>
      </p:sp>
      <p:sp>
        <p:nvSpPr>
          <p:cNvPr id="205" name="Text Box 187"/>
          <p:cNvSpPr txBox="1">
            <a:spLocks noChangeAspect="1" noChangeArrowheads="1"/>
          </p:cNvSpPr>
          <p:nvPr/>
        </p:nvSpPr>
        <p:spPr bwMode="auto">
          <a:xfrm>
            <a:off x="3550389" y="1359776"/>
            <a:ext cx="413725" cy="20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7387" tIns="23693" rIns="47387" bIns="23693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1000" b="1" dirty="0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地面</a:t>
            </a:r>
          </a:p>
        </p:txBody>
      </p:sp>
      <p:sp>
        <p:nvSpPr>
          <p:cNvPr id="206" name="Rectangle 188"/>
          <p:cNvSpPr>
            <a:spLocks noChangeAspect="1" noChangeArrowheads="1"/>
          </p:cNvSpPr>
          <p:nvPr/>
        </p:nvSpPr>
        <p:spPr bwMode="auto">
          <a:xfrm>
            <a:off x="3723732" y="1926267"/>
            <a:ext cx="369153" cy="44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7387" tIns="23693" rIns="47387" bIns="23693">
            <a:spAutoFit/>
          </a:bodyPr>
          <a:lstStyle/>
          <a:p>
            <a:pPr defTabSz="47425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基底</a:t>
            </a:r>
          </a:p>
        </p:txBody>
      </p:sp>
      <p:sp>
        <p:nvSpPr>
          <p:cNvPr id="207" name="Freeform 189"/>
          <p:cNvSpPr>
            <a:spLocks/>
          </p:cNvSpPr>
          <p:nvPr/>
        </p:nvSpPr>
        <p:spPr bwMode="auto">
          <a:xfrm>
            <a:off x="3408294" y="1424538"/>
            <a:ext cx="133006" cy="122400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>
            <a:spAutoFit/>
          </a:bodyPr>
          <a:lstStyle/>
          <a:p>
            <a:endParaRPr lang="zh-CN" altLang="en-US"/>
          </a:p>
        </p:txBody>
      </p:sp>
      <p:sp>
        <p:nvSpPr>
          <p:cNvPr id="208" name="Freeform 190"/>
          <p:cNvSpPr>
            <a:spLocks/>
          </p:cNvSpPr>
          <p:nvPr/>
        </p:nvSpPr>
        <p:spPr bwMode="auto">
          <a:xfrm>
            <a:off x="3554583" y="2011984"/>
            <a:ext cx="133006" cy="122400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>
            <a:spAutoFit/>
          </a:bodyPr>
          <a:lstStyle/>
          <a:p>
            <a:endParaRPr lang="zh-CN" altLang="en-US"/>
          </a:p>
        </p:txBody>
      </p:sp>
      <p:sp>
        <p:nvSpPr>
          <p:cNvPr id="209" name="Line 192"/>
          <p:cNvSpPr>
            <a:spLocks noChangeAspect="1" noChangeShapeType="1"/>
          </p:cNvSpPr>
          <p:nvPr/>
        </p:nvSpPr>
        <p:spPr bwMode="auto">
          <a:xfrm>
            <a:off x="3068856" y="1549113"/>
            <a:ext cx="0" cy="1525755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/>
          <a:lstStyle/>
          <a:p>
            <a:endParaRPr lang="zh-CN" altLang="en-US"/>
          </a:p>
        </p:txBody>
      </p:sp>
      <p:sp>
        <p:nvSpPr>
          <p:cNvPr id="210" name="Freeform 193"/>
          <p:cNvSpPr>
            <a:spLocks/>
          </p:cNvSpPr>
          <p:nvPr/>
        </p:nvSpPr>
        <p:spPr bwMode="auto">
          <a:xfrm>
            <a:off x="2581987" y="1553685"/>
            <a:ext cx="481155" cy="1358893"/>
          </a:xfrm>
          <a:custGeom>
            <a:avLst/>
            <a:gdLst>
              <a:gd name="T0" fmla="*/ 421 w 421"/>
              <a:gd name="T1" fmla="*/ 0 h 1189"/>
              <a:gd name="T2" fmla="*/ 109 w 421"/>
              <a:gd name="T3" fmla="*/ 722 h 1189"/>
              <a:gd name="T4" fmla="*/ 0 w 421"/>
              <a:gd name="T5" fmla="*/ 1189 h 1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1" h="1189">
                <a:moveTo>
                  <a:pt x="421" y="0"/>
                </a:moveTo>
                <a:lnTo>
                  <a:pt x="109" y="722"/>
                </a:lnTo>
                <a:lnTo>
                  <a:pt x="0" y="1189"/>
                </a:lnTo>
              </a:path>
            </a:pathLst>
          </a:custGeom>
          <a:noFill/>
          <a:ln w="28575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11" name="Text Box 195"/>
          <p:cNvSpPr txBox="1">
            <a:spLocks noChangeAspect="1" noChangeArrowheads="1"/>
          </p:cNvSpPr>
          <p:nvPr/>
        </p:nvSpPr>
        <p:spPr bwMode="auto">
          <a:xfrm>
            <a:off x="3602584" y="1639401"/>
            <a:ext cx="138290" cy="2342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7387" tIns="23693" rIns="47387" bIns="23693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1200" b="1" i="1" dirty="0">
                <a:solidFill>
                  <a:srgbClr val="000066"/>
                </a:solidFill>
                <a:sym typeface="Symbol" pitchFamily="18" charset="2"/>
              </a:rPr>
              <a:t></a:t>
            </a:r>
          </a:p>
        </p:txBody>
      </p:sp>
      <p:sp>
        <p:nvSpPr>
          <p:cNvPr id="212" name="Rectangle 203"/>
          <p:cNvSpPr>
            <a:spLocks noChangeAspect="1" noChangeArrowheads="1"/>
          </p:cNvSpPr>
          <p:nvPr/>
        </p:nvSpPr>
        <p:spPr bwMode="auto">
          <a:xfrm>
            <a:off x="2813992" y="2103415"/>
            <a:ext cx="244578" cy="234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7387" tIns="23693" rIns="47387" bIns="23693">
            <a:spAutoFit/>
          </a:bodyPr>
          <a:lstStyle/>
          <a:p>
            <a:pPr defTabSz="47425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sz="1200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d</a:t>
            </a:r>
          </a:p>
        </p:txBody>
      </p:sp>
      <p:sp>
        <p:nvSpPr>
          <p:cNvPr id="213" name="Line 204"/>
          <p:cNvSpPr>
            <a:spLocks noChangeShapeType="1"/>
          </p:cNvSpPr>
          <p:nvPr/>
        </p:nvSpPr>
        <p:spPr bwMode="auto">
          <a:xfrm>
            <a:off x="2933997" y="1558256"/>
            <a:ext cx="277721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14" name="Line 206"/>
          <p:cNvSpPr>
            <a:spLocks noChangeShapeType="1"/>
          </p:cNvSpPr>
          <p:nvPr/>
        </p:nvSpPr>
        <p:spPr bwMode="auto">
          <a:xfrm>
            <a:off x="2669988" y="2616571"/>
            <a:ext cx="84574" cy="1268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15" name="Text Box 208"/>
          <p:cNvSpPr txBox="1">
            <a:spLocks noChangeArrowheads="1"/>
          </p:cNvSpPr>
          <p:nvPr/>
        </p:nvSpPr>
        <p:spPr bwMode="auto">
          <a:xfrm>
            <a:off x="2664274" y="2663430"/>
            <a:ext cx="304090" cy="26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7387" tIns="23693" rIns="47387" bIns="23693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1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1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kumimoji="0" lang="en-US" altLang="zh-CN" sz="1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16" name="Rectangle 240"/>
          <p:cNvSpPr>
            <a:spLocks noChangeArrowheads="1"/>
          </p:cNvSpPr>
          <p:nvPr/>
        </p:nvSpPr>
        <p:spPr bwMode="auto">
          <a:xfrm>
            <a:off x="6634668" y="1573114"/>
            <a:ext cx="1692617" cy="8263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 anchor="ctr"/>
          <a:lstStyle/>
          <a:p>
            <a:endParaRPr lang="zh-CN" altLang="en-US"/>
          </a:p>
        </p:txBody>
      </p:sp>
      <p:sp>
        <p:nvSpPr>
          <p:cNvPr id="217" name="Line 241"/>
          <p:cNvSpPr>
            <a:spLocks noChangeAspect="1" noChangeShapeType="1"/>
          </p:cNvSpPr>
          <p:nvPr/>
        </p:nvSpPr>
        <p:spPr bwMode="auto">
          <a:xfrm>
            <a:off x="6626666" y="1576543"/>
            <a:ext cx="1705189" cy="114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18" name="Rectangle 242"/>
          <p:cNvSpPr>
            <a:spLocks noChangeArrowheads="1"/>
          </p:cNvSpPr>
          <p:nvPr/>
        </p:nvSpPr>
        <p:spPr bwMode="auto">
          <a:xfrm>
            <a:off x="6643810" y="2392565"/>
            <a:ext cx="1683474" cy="685733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 anchor="ctr"/>
          <a:lstStyle/>
          <a:p>
            <a:endParaRPr lang="zh-CN" altLang="en-US"/>
          </a:p>
        </p:txBody>
      </p:sp>
      <p:sp>
        <p:nvSpPr>
          <p:cNvPr id="219" name="Line 243"/>
          <p:cNvSpPr>
            <a:spLocks noChangeAspect="1" noChangeShapeType="1"/>
          </p:cNvSpPr>
          <p:nvPr/>
        </p:nvSpPr>
        <p:spPr bwMode="auto">
          <a:xfrm>
            <a:off x="7332971" y="1175390"/>
            <a:ext cx="0" cy="276579"/>
          </a:xfrm>
          <a:prstGeom prst="line">
            <a:avLst/>
          </a:prstGeom>
          <a:noFill/>
          <a:ln w="7620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20" name="Rectangle 244" descr="宽上对角线"/>
          <p:cNvSpPr>
            <a:spLocks noChangeAspect="1" noChangeArrowheads="1"/>
          </p:cNvSpPr>
          <p:nvPr/>
        </p:nvSpPr>
        <p:spPr bwMode="auto">
          <a:xfrm>
            <a:off x="6918103" y="1921695"/>
            <a:ext cx="805736" cy="221720"/>
          </a:xfrm>
          <a:prstGeom prst="rect">
            <a:avLst/>
          </a:prstGeom>
          <a:pattFill prst="dkUpDiag">
            <a:fgClr>
              <a:srgbClr val="CCECFF"/>
            </a:fgClr>
            <a:bgClr>
              <a:srgbClr val="FFC000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5824" tIns="32912" rIns="65824" bIns="32912" anchor="ctr"/>
          <a:lstStyle/>
          <a:p>
            <a:endParaRPr lang="zh-CN" altLang="en-US"/>
          </a:p>
        </p:txBody>
      </p:sp>
      <p:sp>
        <p:nvSpPr>
          <p:cNvPr id="221" name="Line 248"/>
          <p:cNvSpPr>
            <a:spLocks noChangeAspect="1" noChangeShapeType="1"/>
          </p:cNvSpPr>
          <p:nvPr/>
        </p:nvSpPr>
        <p:spPr bwMode="auto">
          <a:xfrm>
            <a:off x="6643811" y="2391422"/>
            <a:ext cx="1702903" cy="114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/>
          <a:lstStyle/>
          <a:p>
            <a:endParaRPr lang="zh-CN" altLang="en-US"/>
          </a:p>
        </p:txBody>
      </p:sp>
      <p:sp>
        <p:nvSpPr>
          <p:cNvPr id="222" name="Text Box 249"/>
          <p:cNvSpPr txBox="1">
            <a:spLocks noChangeAspect="1" noChangeArrowheads="1"/>
          </p:cNvSpPr>
          <p:nvPr/>
        </p:nvSpPr>
        <p:spPr bwMode="auto">
          <a:xfrm>
            <a:off x="7912416" y="1368537"/>
            <a:ext cx="413725" cy="20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7387" tIns="23693" rIns="47387" bIns="23693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1000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地面</a:t>
            </a:r>
          </a:p>
        </p:txBody>
      </p:sp>
      <p:sp>
        <p:nvSpPr>
          <p:cNvPr id="223" name="Freeform 251"/>
          <p:cNvSpPr>
            <a:spLocks/>
          </p:cNvSpPr>
          <p:nvPr/>
        </p:nvSpPr>
        <p:spPr bwMode="auto">
          <a:xfrm>
            <a:off x="7818699" y="1442825"/>
            <a:ext cx="133006" cy="122400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>
            <a:spAutoFit/>
          </a:bodyPr>
          <a:lstStyle/>
          <a:p>
            <a:endParaRPr lang="zh-CN" altLang="en-US"/>
          </a:p>
        </p:txBody>
      </p:sp>
      <p:sp>
        <p:nvSpPr>
          <p:cNvPr id="224" name="Rectangle 253" descr="横向砖形"/>
          <p:cNvSpPr>
            <a:spLocks noChangeAspect="1" noChangeArrowheads="1"/>
          </p:cNvSpPr>
          <p:nvPr/>
        </p:nvSpPr>
        <p:spPr bwMode="auto">
          <a:xfrm>
            <a:off x="7204969" y="1451969"/>
            <a:ext cx="253721" cy="469727"/>
          </a:xfrm>
          <a:prstGeom prst="rect">
            <a:avLst/>
          </a:prstGeom>
          <a:pattFill prst="horzBrick">
            <a:fgClr>
              <a:srgbClr val="FF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 anchor="ctr"/>
          <a:lstStyle/>
          <a:p>
            <a:endParaRPr lang="zh-CN" altLang="en-US"/>
          </a:p>
        </p:txBody>
      </p:sp>
      <p:sp>
        <p:nvSpPr>
          <p:cNvPr id="225" name="Line 254"/>
          <p:cNvSpPr>
            <a:spLocks noChangeAspect="1" noChangeShapeType="1"/>
          </p:cNvSpPr>
          <p:nvPr/>
        </p:nvSpPr>
        <p:spPr bwMode="auto">
          <a:xfrm>
            <a:off x="7335257" y="1567401"/>
            <a:ext cx="0" cy="1509755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/>
          <a:lstStyle/>
          <a:p>
            <a:endParaRPr lang="zh-CN" altLang="en-US"/>
          </a:p>
        </p:txBody>
      </p:sp>
      <p:sp>
        <p:nvSpPr>
          <p:cNvPr id="226" name="Freeform 255"/>
          <p:cNvSpPr>
            <a:spLocks/>
          </p:cNvSpPr>
          <p:nvPr/>
        </p:nvSpPr>
        <p:spPr bwMode="auto">
          <a:xfrm>
            <a:off x="6848387" y="1571972"/>
            <a:ext cx="481156" cy="1358893"/>
          </a:xfrm>
          <a:custGeom>
            <a:avLst/>
            <a:gdLst>
              <a:gd name="T0" fmla="*/ 421 w 421"/>
              <a:gd name="T1" fmla="*/ 0 h 1189"/>
              <a:gd name="T2" fmla="*/ 109 w 421"/>
              <a:gd name="T3" fmla="*/ 722 h 1189"/>
              <a:gd name="T4" fmla="*/ 0 w 421"/>
              <a:gd name="T5" fmla="*/ 1189 h 1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1" h="1189">
                <a:moveTo>
                  <a:pt x="421" y="0"/>
                </a:moveTo>
                <a:lnTo>
                  <a:pt x="109" y="722"/>
                </a:lnTo>
                <a:lnTo>
                  <a:pt x="0" y="1189"/>
                </a:lnTo>
              </a:path>
            </a:pathLst>
          </a:custGeom>
          <a:noFill/>
          <a:ln w="28575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27" name="Freeform 256"/>
          <p:cNvSpPr>
            <a:spLocks/>
          </p:cNvSpPr>
          <p:nvPr/>
        </p:nvSpPr>
        <p:spPr bwMode="auto">
          <a:xfrm>
            <a:off x="7747841" y="2144559"/>
            <a:ext cx="177147" cy="829737"/>
          </a:xfrm>
          <a:custGeom>
            <a:avLst/>
            <a:gdLst>
              <a:gd name="T0" fmla="*/ 260 w 260"/>
              <a:gd name="T1" fmla="*/ 0 h 1008"/>
              <a:gd name="T2" fmla="*/ 240 w 260"/>
              <a:gd name="T3" fmla="*/ 269 h 1008"/>
              <a:gd name="T4" fmla="*/ 164 w 260"/>
              <a:gd name="T5" fmla="*/ 585 h 1008"/>
              <a:gd name="T6" fmla="*/ 0 w 260"/>
              <a:gd name="T7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" h="1008">
                <a:moveTo>
                  <a:pt x="260" y="0"/>
                </a:moveTo>
                <a:cubicBezTo>
                  <a:pt x="258" y="86"/>
                  <a:pt x="256" y="172"/>
                  <a:pt x="240" y="269"/>
                </a:cubicBezTo>
                <a:cubicBezTo>
                  <a:pt x="224" y="366"/>
                  <a:pt x="204" y="462"/>
                  <a:pt x="164" y="585"/>
                </a:cubicBezTo>
                <a:cubicBezTo>
                  <a:pt x="124" y="708"/>
                  <a:pt x="27" y="938"/>
                  <a:pt x="0" y="1008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28" name="Line 258"/>
          <p:cNvSpPr>
            <a:spLocks noChangeAspect="1" noChangeShapeType="1"/>
          </p:cNvSpPr>
          <p:nvPr/>
        </p:nvSpPr>
        <p:spPr bwMode="auto">
          <a:xfrm flipV="1">
            <a:off x="7923845" y="1679402"/>
            <a:ext cx="0" cy="47087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/>
          <a:lstStyle/>
          <a:p>
            <a:endParaRPr lang="zh-CN" altLang="en-US"/>
          </a:p>
        </p:txBody>
      </p:sp>
      <p:sp>
        <p:nvSpPr>
          <p:cNvPr id="229" name="Text Box 259"/>
          <p:cNvSpPr txBox="1">
            <a:spLocks noChangeAspect="1" noChangeArrowheads="1"/>
          </p:cNvSpPr>
          <p:nvPr/>
        </p:nvSpPr>
        <p:spPr bwMode="auto">
          <a:xfrm>
            <a:off x="7500976" y="1514828"/>
            <a:ext cx="205720" cy="26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7387" tIns="23693" rIns="47387" bIns="23693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14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230" name="Line 260"/>
          <p:cNvSpPr>
            <a:spLocks noChangeAspect="1" noChangeShapeType="1"/>
          </p:cNvSpPr>
          <p:nvPr/>
        </p:nvSpPr>
        <p:spPr bwMode="auto">
          <a:xfrm>
            <a:off x="7089536" y="1785691"/>
            <a:ext cx="826308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/>
          <a:lstStyle/>
          <a:p>
            <a:endParaRPr lang="zh-CN" altLang="en-US"/>
          </a:p>
        </p:txBody>
      </p:sp>
      <p:sp>
        <p:nvSpPr>
          <p:cNvPr id="231" name="Line 261"/>
          <p:cNvSpPr>
            <a:spLocks noChangeAspect="1" noChangeShapeType="1"/>
          </p:cNvSpPr>
          <p:nvPr/>
        </p:nvSpPr>
        <p:spPr bwMode="auto">
          <a:xfrm flipV="1">
            <a:off x="7089536" y="1679402"/>
            <a:ext cx="0" cy="47087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/>
          <a:lstStyle/>
          <a:p>
            <a:endParaRPr lang="zh-CN" altLang="en-US"/>
          </a:p>
        </p:txBody>
      </p:sp>
      <p:sp>
        <p:nvSpPr>
          <p:cNvPr id="232" name="Text Box 262"/>
          <p:cNvSpPr txBox="1">
            <a:spLocks noChangeAspect="1" noChangeArrowheads="1"/>
          </p:cNvSpPr>
          <p:nvPr/>
        </p:nvSpPr>
        <p:spPr bwMode="auto">
          <a:xfrm>
            <a:off x="7512405" y="2079415"/>
            <a:ext cx="334866" cy="26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7387" tIns="23693" rIns="47387" bIns="23693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1400" b="1" i="1">
                <a:solidFill>
                  <a:srgbClr val="000066"/>
                </a:solidFill>
                <a:cs typeface="Times New Roman" panose="02020603050405020304" pitchFamily="18" charset="0"/>
              </a:rPr>
              <a:t>p</a:t>
            </a:r>
            <a:r>
              <a:rPr lang="en-US" altLang="zh-CN" sz="1400" b="1" i="1" baseline="-25000">
                <a:solidFill>
                  <a:srgbClr val="000066"/>
                </a:solidFill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33" name="Line 263"/>
          <p:cNvSpPr>
            <a:spLocks noChangeAspect="1" noChangeShapeType="1"/>
          </p:cNvSpPr>
          <p:nvPr/>
        </p:nvSpPr>
        <p:spPr bwMode="auto">
          <a:xfrm>
            <a:off x="7335258" y="2146843"/>
            <a:ext cx="600017" cy="0"/>
          </a:xfrm>
          <a:prstGeom prst="line">
            <a:avLst/>
          </a:prstGeom>
          <a:noFill/>
          <a:ln w="38100">
            <a:solidFill>
              <a:srgbClr val="CC0000"/>
            </a:solidFill>
            <a:miter lim="800000"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/>
          <a:lstStyle/>
          <a:p>
            <a:endParaRPr lang="zh-CN" altLang="en-US"/>
          </a:p>
        </p:txBody>
      </p:sp>
      <p:sp>
        <p:nvSpPr>
          <p:cNvPr id="234" name="Rectangle 265"/>
          <p:cNvSpPr>
            <a:spLocks noChangeAspect="1" noChangeArrowheads="1"/>
          </p:cNvSpPr>
          <p:nvPr/>
        </p:nvSpPr>
        <p:spPr bwMode="auto">
          <a:xfrm>
            <a:off x="7078107" y="2112558"/>
            <a:ext cx="248043" cy="236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7387" tIns="23693" rIns="47387" bIns="23693">
            <a:spAutoFit/>
          </a:bodyPr>
          <a:lstStyle/>
          <a:p>
            <a:pPr defTabSz="47425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i="1" dirty="0">
                <a:solidFill>
                  <a:srgbClr val="C00000"/>
                </a:solidFill>
                <a:sym typeface="Symbol" pitchFamily="18" charset="2"/>
              </a:rPr>
              <a:t></a:t>
            </a:r>
            <a:r>
              <a:rPr kumimoji="1" lang="en-US" altLang="zh-CN" sz="1200" b="1" i="1" dirty="0">
                <a:solidFill>
                  <a:srgbClr val="C00000"/>
                </a:solidFill>
                <a:sym typeface="Symbol" pitchFamily="18" charset="2"/>
              </a:rPr>
              <a:t>d</a:t>
            </a:r>
          </a:p>
        </p:txBody>
      </p:sp>
      <p:sp>
        <p:nvSpPr>
          <p:cNvPr id="235" name="Text Box 267"/>
          <p:cNvSpPr txBox="1">
            <a:spLocks noChangeArrowheads="1"/>
          </p:cNvSpPr>
          <p:nvPr/>
        </p:nvSpPr>
        <p:spPr bwMode="auto">
          <a:xfrm>
            <a:off x="7900987" y="2690860"/>
            <a:ext cx="257603" cy="26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7387" tIns="23693" rIns="47387" bIns="23693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1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1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endParaRPr lang="en-US" altLang="zh-CN" sz="1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36" name="Line 268"/>
          <p:cNvSpPr>
            <a:spLocks noChangeShapeType="1"/>
          </p:cNvSpPr>
          <p:nvPr/>
        </p:nvSpPr>
        <p:spPr bwMode="auto">
          <a:xfrm>
            <a:off x="6936389" y="2634857"/>
            <a:ext cx="84574" cy="1268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37" name="Line 269"/>
          <p:cNvSpPr>
            <a:spLocks noChangeShapeType="1"/>
          </p:cNvSpPr>
          <p:nvPr/>
        </p:nvSpPr>
        <p:spPr bwMode="auto">
          <a:xfrm>
            <a:off x="7872416" y="2671431"/>
            <a:ext cx="89145" cy="1017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38" name="Text Box 270"/>
          <p:cNvSpPr txBox="1">
            <a:spLocks noChangeArrowheads="1"/>
          </p:cNvSpPr>
          <p:nvPr/>
        </p:nvSpPr>
        <p:spPr bwMode="auto">
          <a:xfrm>
            <a:off x="6930674" y="2681717"/>
            <a:ext cx="304090" cy="26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7387" tIns="23693" rIns="47387" bIns="23693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1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1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kumimoji="0" lang="en-US" altLang="zh-CN" sz="1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39" name="Line 271"/>
          <p:cNvSpPr>
            <a:spLocks noChangeShapeType="1"/>
          </p:cNvSpPr>
          <p:nvPr/>
        </p:nvSpPr>
        <p:spPr bwMode="auto">
          <a:xfrm flipH="1" flipV="1">
            <a:off x="2521414" y="1449683"/>
            <a:ext cx="128003" cy="20457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787" tIns="33689" rIns="64787" bIns="33689">
            <a:spAutoFit/>
          </a:bodyPr>
          <a:lstStyle/>
          <a:p>
            <a:endParaRPr lang="zh-CN" altLang="en-US"/>
          </a:p>
        </p:txBody>
      </p:sp>
      <p:sp>
        <p:nvSpPr>
          <p:cNvPr id="240" name="Text Box 272"/>
          <p:cNvSpPr txBox="1">
            <a:spLocks noChangeAspect="1" noChangeArrowheads="1"/>
          </p:cNvSpPr>
          <p:nvPr/>
        </p:nvSpPr>
        <p:spPr bwMode="auto">
          <a:xfrm>
            <a:off x="2157974" y="1209675"/>
            <a:ext cx="794308" cy="20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7387" tIns="23693" rIns="47387" bIns="23693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lang="zh-CN" altLang="en-US" sz="1000" b="1" dirty="0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拟开挖基坑</a:t>
            </a:r>
          </a:p>
        </p:txBody>
      </p:sp>
      <p:sp>
        <p:nvSpPr>
          <p:cNvPr id="241" name="Line 273"/>
          <p:cNvSpPr>
            <a:spLocks noChangeShapeType="1"/>
          </p:cNvSpPr>
          <p:nvPr/>
        </p:nvSpPr>
        <p:spPr bwMode="auto">
          <a:xfrm>
            <a:off x="2826565" y="2126271"/>
            <a:ext cx="237721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4787" tIns="33689" rIns="64787" bIns="33689">
            <a:spAutoFit/>
          </a:bodyPr>
          <a:lstStyle/>
          <a:p>
            <a:endParaRPr lang="zh-CN" altLang="en-US"/>
          </a:p>
        </p:txBody>
      </p:sp>
      <p:sp>
        <p:nvSpPr>
          <p:cNvPr id="242" name="Rectangle 275"/>
          <p:cNvSpPr>
            <a:spLocks noChangeArrowheads="1"/>
          </p:cNvSpPr>
          <p:nvPr/>
        </p:nvSpPr>
        <p:spPr bwMode="auto">
          <a:xfrm>
            <a:off x="4449466" y="1559400"/>
            <a:ext cx="1692617" cy="8263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 anchor="ctr"/>
          <a:lstStyle/>
          <a:p>
            <a:endParaRPr lang="zh-CN" altLang="en-US"/>
          </a:p>
        </p:txBody>
      </p:sp>
      <p:sp>
        <p:nvSpPr>
          <p:cNvPr id="243" name="Line 276"/>
          <p:cNvSpPr>
            <a:spLocks noChangeAspect="1" noChangeShapeType="1"/>
          </p:cNvSpPr>
          <p:nvPr/>
        </p:nvSpPr>
        <p:spPr bwMode="auto">
          <a:xfrm>
            <a:off x="4441464" y="1562829"/>
            <a:ext cx="1705189" cy="114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44" name="Rectangle 277"/>
          <p:cNvSpPr>
            <a:spLocks noChangeArrowheads="1"/>
          </p:cNvSpPr>
          <p:nvPr/>
        </p:nvSpPr>
        <p:spPr bwMode="auto">
          <a:xfrm>
            <a:off x="4458608" y="2378851"/>
            <a:ext cx="1683474" cy="685733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 anchor="ctr"/>
          <a:lstStyle/>
          <a:p>
            <a:endParaRPr lang="zh-CN" altLang="en-US"/>
          </a:p>
        </p:txBody>
      </p:sp>
      <p:sp>
        <p:nvSpPr>
          <p:cNvPr id="245" name="Line 282"/>
          <p:cNvSpPr>
            <a:spLocks noChangeAspect="1" noChangeShapeType="1"/>
          </p:cNvSpPr>
          <p:nvPr/>
        </p:nvSpPr>
        <p:spPr bwMode="auto">
          <a:xfrm>
            <a:off x="4458609" y="2377708"/>
            <a:ext cx="1702903" cy="1143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/>
          <a:lstStyle/>
          <a:p>
            <a:endParaRPr lang="zh-CN" altLang="en-US"/>
          </a:p>
        </p:txBody>
      </p:sp>
      <p:sp>
        <p:nvSpPr>
          <p:cNvPr id="246" name="Freeform 288"/>
          <p:cNvSpPr>
            <a:spLocks/>
          </p:cNvSpPr>
          <p:nvPr/>
        </p:nvSpPr>
        <p:spPr bwMode="auto">
          <a:xfrm>
            <a:off x="4711186" y="1558258"/>
            <a:ext cx="481156" cy="1358893"/>
          </a:xfrm>
          <a:custGeom>
            <a:avLst/>
            <a:gdLst>
              <a:gd name="T0" fmla="*/ 701 w 701"/>
              <a:gd name="T1" fmla="*/ 0 h 1652"/>
              <a:gd name="T2" fmla="*/ 384 w 701"/>
              <a:gd name="T3" fmla="*/ 696 h 1652"/>
              <a:gd name="T4" fmla="*/ 182 w 701"/>
              <a:gd name="T5" fmla="*/ 1003 h 1652"/>
              <a:gd name="T6" fmla="*/ 0 w 701"/>
              <a:gd name="T7" fmla="*/ 1652 h 1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01" h="1652">
                <a:moveTo>
                  <a:pt x="701" y="0"/>
                </a:moveTo>
                <a:lnTo>
                  <a:pt x="384" y="696"/>
                </a:lnTo>
                <a:lnTo>
                  <a:pt x="182" y="1003"/>
                </a:lnTo>
                <a:lnTo>
                  <a:pt x="0" y="1652"/>
                </a:lnTo>
              </a:path>
            </a:pathLst>
          </a:custGeom>
          <a:noFill/>
          <a:ln w="28575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47" name="Rectangle 290"/>
          <p:cNvSpPr>
            <a:spLocks noChangeAspect="1" noChangeArrowheads="1"/>
          </p:cNvSpPr>
          <p:nvPr/>
        </p:nvSpPr>
        <p:spPr bwMode="auto">
          <a:xfrm>
            <a:off x="4943194" y="2102271"/>
            <a:ext cx="244578" cy="234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7387" tIns="23693" rIns="47387" bIns="23693">
            <a:spAutoFit/>
          </a:bodyPr>
          <a:lstStyle/>
          <a:p>
            <a:pPr defTabSz="474251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i="1" dirty="0">
                <a:solidFill>
                  <a:srgbClr val="A50021"/>
                </a:solidFill>
                <a:sym typeface="Symbol" pitchFamily="18" charset="2"/>
              </a:rPr>
              <a:t></a:t>
            </a:r>
            <a:r>
              <a:rPr kumimoji="1" lang="en-US" altLang="zh-CN" sz="1200" b="1" i="1" dirty="0">
                <a:solidFill>
                  <a:srgbClr val="A50021"/>
                </a:solidFill>
                <a:sym typeface="Symbol" pitchFamily="18" charset="2"/>
              </a:rPr>
              <a:t>d</a:t>
            </a:r>
          </a:p>
        </p:txBody>
      </p:sp>
      <p:sp>
        <p:nvSpPr>
          <p:cNvPr id="248" name="Line 292"/>
          <p:cNvSpPr>
            <a:spLocks noChangeShapeType="1"/>
          </p:cNvSpPr>
          <p:nvPr/>
        </p:nvSpPr>
        <p:spPr bwMode="auto">
          <a:xfrm>
            <a:off x="4799190" y="2621142"/>
            <a:ext cx="84574" cy="1268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4" tIns="32912" rIns="65824" bIns="32912"/>
          <a:lstStyle/>
          <a:p>
            <a:endParaRPr lang="zh-CN" altLang="en-US"/>
          </a:p>
        </p:txBody>
      </p:sp>
      <p:sp>
        <p:nvSpPr>
          <p:cNvPr id="249" name="Text Box 293"/>
          <p:cNvSpPr txBox="1">
            <a:spLocks noChangeArrowheads="1"/>
          </p:cNvSpPr>
          <p:nvPr/>
        </p:nvSpPr>
        <p:spPr bwMode="auto">
          <a:xfrm>
            <a:off x="4793474" y="2668002"/>
            <a:ext cx="304090" cy="26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7387" tIns="23693" rIns="47387" bIns="23693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1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1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kumimoji="0" lang="en-US" altLang="zh-CN" sz="1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250" name="Line 296"/>
          <p:cNvSpPr>
            <a:spLocks noChangeShapeType="1"/>
          </p:cNvSpPr>
          <p:nvPr/>
        </p:nvSpPr>
        <p:spPr bwMode="auto">
          <a:xfrm>
            <a:off x="4969478" y="2136558"/>
            <a:ext cx="237721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4787" tIns="33689" rIns="64787" bIns="33689">
            <a:spAutoFit/>
          </a:bodyPr>
          <a:lstStyle/>
          <a:p>
            <a:endParaRPr lang="zh-CN" altLang="en-US"/>
          </a:p>
        </p:txBody>
      </p:sp>
      <p:sp>
        <p:nvSpPr>
          <p:cNvPr id="251" name="Freeform 298"/>
          <p:cNvSpPr>
            <a:spLocks/>
          </p:cNvSpPr>
          <p:nvPr/>
        </p:nvSpPr>
        <p:spPr bwMode="auto">
          <a:xfrm>
            <a:off x="4776507" y="1553021"/>
            <a:ext cx="813723" cy="268095"/>
          </a:xfrm>
          <a:custGeom>
            <a:avLst/>
            <a:gdLst>
              <a:gd name="T0" fmla="*/ 0 w 710"/>
              <a:gd name="T1" fmla="*/ 0 h 502"/>
              <a:gd name="T2" fmla="*/ 0 w 710"/>
              <a:gd name="T3" fmla="*/ 502 h 502"/>
              <a:gd name="T4" fmla="*/ 710 w 710"/>
              <a:gd name="T5" fmla="*/ 502 h 502"/>
              <a:gd name="T6" fmla="*/ 710 w 710"/>
              <a:gd name="T7" fmla="*/ 5 h 502"/>
              <a:gd name="connsiteX0" fmla="*/ 0 w 10000"/>
              <a:gd name="connsiteY0" fmla="*/ 118 h 9900"/>
              <a:gd name="connsiteX1" fmla="*/ 0 w 10000"/>
              <a:gd name="connsiteY1" fmla="*/ 9900 h 9900"/>
              <a:gd name="connsiteX2" fmla="*/ 10000 w 10000"/>
              <a:gd name="connsiteY2" fmla="*/ 9900 h 9900"/>
              <a:gd name="connsiteX3" fmla="*/ 10000 w 10000"/>
              <a:gd name="connsiteY3" fmla="*/ 0 h 9900"/>
              <a:gd name="connsiteX0" fmla="*/ 0 w 10026"/>
              <a:gd name="connsiteY0" fmla="*/ 0 h 10065"/>
              <a:gd name="connsiteX1" fmla="*/ 26 w 10026"/>
              <a:gd name="connsiteY1" fmla="*/ 10065 h 10065"/>
              <a:gd name="connsiteX2" fmla="*/ 10026 w 10026"/>
              <a:gd name="connsiteY2" fmla="*/ 10065 h 10065"/>
              <a:gd name="connsiteX3" fmla="*/ 10026 w 10026"/>
              <a:gd name="connsiteY3" fmla="*/ 65 h 10065"/>
              <a:gd name="connsiteX0" fmla="*/ 0 w 10026"/>
              <a:gd name="connsiteY0" fmla="*/ 45 h 10000"/>
              <a:gd name="connsiteX1" fmla="*/ 26 w 10026"/>
              <a:gd name="connsiteY1" fmla="*/ 10000 h 10000"/>
              <a:gd name="connsiteX2" fmla="*/ 10026 w 10026"/>
              <a:gd name="connsiteY2" fmla="*/ 10000 h 10000"/>
              <a:gd name="connsiteX3" fmla="*/ 10026 w 10026"/>
              <a:gd name="connsiteY3" fmla="*/ 0 h 10000"/>
              <a:gd name="connsiteX0" fmla="*/ 0 w 10026"/>
              <a:gd name="connsiteY0" fmla="*/ 133 h 10088"/>
              <a:gd name="connsiteX1" fmla="*/ 26 w 10026"/>
              <a:gd name="connsiteY1" fmla="*/ 10088 h 10088"/>
              <a:gd name="connsiteX2" fmla="*/ 10026 w 10026"/>
              <a:gd name="connsiteY2" fmla="*/ 10088 h 10088"/>
              <a:gd name="connsiteX3" fmla="*/ 10005 w 10026"/>
              <a:gd name="connsiteY3" fmla="*/ 0 h 10088"/>
              <a:gd name="connsiteX0" fmla="*/ 0 w 10028"/>
              <a:gd name="connsiteY0" fmla="*/ 16 h 9971"/>
              <a:gd name="connsiteX1" fmla="*/ 26 w 10028"/>
              <a:gd name="connsiteY1" fmla="*/ 9971 h 9971"/>
              <a:gd name="connsiteX2" fmla="*/ 10026 w 10028"/>
              <a:gd name="connsiteY2" fmla="*/ 9971 h 9971"/>
              <a:gd name="connsiteX3" fmla="*/ 10026 w 10028"/>
              <a:gd name="connsiteY3" fmla="*/ 0 h 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28" h="9971">
                <a:moveTo>
                  <a:pt x="0" y="16"/>
                </a:moveTo>
                <a:cubicBezTo>
                  <a:pt x="9" y="3371"/>
                  <a:pt x="17" y="6616"/>
                  <a:pt x="26" y="9971"/>
                </a:cubicBezTo>
                <a:lnTo>
                  <a:pt x="10026" y="9971"/>
                </a:lnTo>
                <a:cubicBezTo>
                  <a:pt x="10019" y="6608"/>
                  <a:pt x="10033" y="3363"/>
                  <a:pt x="10026" y="0"/>
                </a:cubicBezTo>
              </a:path>
            </a:pathLst>
          </a:custGeom>
          <a:solidFill>
            <a:schemeClr val="bg1"/>
          </a:solidFill>
          <a:ln w="12700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787" tIns="33689" rIns="64787" bIns="33689">
            <a:spAutoFit/>
          </a:bodyPr>
          <a:lstStyle/>
          <a:p>
            <a:endParaRPr lang="zh-CN" altLang="en-US"/>
          </a:p>
        </p:txBody>
      </p:sp>
      <p:sp>
        <p:nvSpPr>
          <p:cNvPr id="252" name="Line 287"/>
          <p:cNvSpPr>
            <a:spLocks noChangeAspect="1" noChangeShapeType="1"/>
          </p:cNvSpPr>
          <p:nvPr/>
        </p:nvSpPr>
        <p:spPr bwMode="auto">
          <a:xfrm>
            <a:off x="5198056" y="1960553"/>
            <a:ext cx="0" cy="1107458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/>
          <a:lstStyle/>
          <a:p>
            <a:endParaRPr lang="zh-CN" altLang="en-US"/>
          </a:p>
        </p:txBody>
      </p:sp>
      <p:sp>
        <p:nvSpPr>
          <p:cNvPr id="253" name="Rectangle 299" descr="宽上对角线"/>
          <p:cNvSpPr>
            <a:spLocks noChangeAspect="1" noChangeArrowheads="1"/>
          </p:cNvSpPr>
          <p:nvPr/>
        </p:nvSpPr>
        <p:spPr bwMode="auto">
          <a:xfrm>
            <a:off x="4781474" y="1915981"/>
            <a:ext cx="805736" cy="221720"/>
          </a:xfrm>
          <a:prstGeom prst="rect">
            <a:avLst/>
          </a:prstGeom>
          <a:pattFill prst="dkUpDiag">
            <a:fgClr>
              <a:srgbClr val="CCECFF"/>
            </a:fgClr>
            <a:bgClr>
              <a:srgbClr val="FFC000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5824" tIns="32912" rIns="65824" bIns="32912" anchor="ctr"/>
          <a:lstStyle/>
          <a:p>
            <a:endParaRPr lang="zh-CN" altLang="en-US"/>
          </a:p>
        </p:txBody>
      </p:sp>
      <p:sp>
        <p:nvSpPr>
          <p:cNvPr id="254" name="Rectangle 300" descr="横向砖形"/>
          <p:cNvSpPr>
            <a:spLocks noChangeAspect="1" noChangeArrowheads="1"/>
          </p:cNvSpPr>
          <p:nvPr/>
        </p:nvSpPr>
        <p:spPr bwMode="auto">
          <a:xfrm>
            <a:off x="5059769" y="1633687"/>
            <a:ext cx="253721" cy="282294"/>
          </a:xfrm>
          <a:prstGeom prst="rect">
            <a:avLst/>
          </a:prstGeom>
          <a:pattFill prst="horzBrick">
            <a:fgClr>
              <a:srgbClr val="FF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 anchor="ctr"/>
          <a:lstStyle/>
          <a:p>
            <a:endParaRPr lang="zh-CN" altLang="en-US"/>
          </a:p>
        </p:txBody>
      </p:sp>
      <p:sp>
        <p:nvSpPr>
          <p:cNvPr id="255" name="Text Box 301"/>
          <p:cNvSpPr txBox="1">
            <a:spLocks noChangeAspect="1" noChangeArrowheads="1"/>
          </p:cNvSpPr>
          <p:nvPr/>
        </p:nvSpPr>
        <p:spPr bwMode="auto">
          <a:xfrm>
            <a:off x="5736357" y="1365108"/>
            <a:ext cx="413725" cy="20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7387" tIns="23693" rIns="47387" bIns="23693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1000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地面</a:t>
            </a:r>
          </a:p>
        </p:txBody>
      </p:sp>
      <p:sp>
        <p:nvSpPr>
          <p:cNvPr id="256" name="Freeform 302"/>
          <p:cNvSpPr>
            <a:spLocks/>
          </p:cNvSpPr>
          <p:nvPr/>
        </p:nvSpPr>
        <p:spPr bwMode="auto">
          <a:xfrm>
            <a:off x="5642641" y="1439396"/>
            <a:ext cx="133006" cy="122400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4" tIns="32912" rIns="65824" bIns="32912">
            <a:spAutoFit/>
          </a:bodyPr>
          <a:lstStyle/>
          <a:p>
            <a:endParaRPr lang="zh-CN" altLang="en-US"/>
          </a:p>
        </p:txBody>
      </p:sp>
      <p:sp>
        <p:nvSpPr>
          <p:cNvPr id="257" name="Line 303"/>
          <p:cNvSpPr>
            <a:spLocks noChangeShapeType="1"/>
          </p:cNvSpPr>
          <p:nvPr/>
        </p:nvSpPr>
        <p:spPr bwMode="auto">
          <a:xfrm>
            <a:off x="7092964" y="2144548"/>
            <a:ext cx="237721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4787" tIns="33689" rIns="64787" bIns="33689">
            <a:spAutoFit/>
          </a:bodyPr>
          <a:lstStyle/>
          <a:p>
            <a:endParaRPr lang="zh-CN" altLang="en-US"/>
          </a:p>
        </p:txBody>
      </p:sp>
      <p:sp>
        <p:nvSpPr>
          <p:cNvPr id="322" name="Rectangle 56"/>
          <p:cNvSpPr>
            <a:spLocks noChangeArrowheads="1"/>
          </p:cNvSpPr>
          <p:nvPr/>
        </p:nvSpPr>
        <p:spPr bwMode="auto">
          <a:xfrm>
            <a:off x="4387166" y="3770244"/>
            <a:ext cx="1786454" cy="87211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3" name="Rectangle 58"/>
          <p:cNvSpPr>
            <a:spLocks noChangeArrowheads="1"/>
          </p:cNvSpPr>
          <p:nvPr/>
        </p:nvSpPr>
        <p:spPr bwMode="auto">
          <a:xfrm>
            <a:off x="4385354" y="4635124"/>
            <a:ext cx="1793631" cy="723749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4" name="Freeform 77" descr="浅色横线"/>
          <p:cNvSpPr>
            <a:spLocks/>
          </p:cNvSpPr>
          <p:nvPr/>
        </p:nvSpPr>
        <p:spPr bwMode="auto">
          <a:xfrm>
            <a:off x="4635653" y="4384225"/>
            <a:ext cx="541605" cy="899862"/>
          </a:xfrm>
          <a:custGeom>
            <a:avLst/>
            <a:gdLst>
              <a:gd name="T0" fmla="*/ 252 w 449"/>
              <a:gd name="T1" fmla="*/ 2 h 746"/>
              <a:gd name="T2" fmla="*/ 142 w 449"/>
              <a:gd name="T3" fmla="*/ 211 h 746"/>
              <a:gd name="T4" fmla="*/ 0 w 449"/>
              <a:gd name="T5" fmla="*/ 746 h 746"/>
              <a:gd name="T6" fmla="*/ 41 w 449"/>
              <a:gd name="T7" fmla="*/ 744 h 746"/>
              <a:gd name="T8" fmla="*/ 235 w 449"/>
              <a:gd name="T9" fmla="*/ 204 h 746"/>
              <a:gd name="T10" fmla="*/ 449 w 449"/>
              <a:gd name="T11" fmla="*/ 0 h 746"/>
              <a:gd name="T12" fmla="*/ 252 w 449"/>
              <a:gd name="T13" fmla="*/ 2 h 7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49" h="746">
                <a:moveTo>
                  <a:pt x="252" y="2"/>
                </a:moveTo>
                <a:lnTo>
                  <a:pt x="142" y="211"/>
                </a:lnTo>
                <a:lnTo>
                  <a:pt x="0" y="746"/>
                </a:lnTo>
                <a:lnTo>
                  <a:pt x="41" y="744"/>
                </a:lnTo>
                <a:lnTo>
                  <a:pt x="235" y="204"/>
                </a:lnTo>
                <a:lnTo>
                  <a:pt x="449" y="0"/>
                </a:lnTo>
                <a:lnTo>
                  <a:pt x="252" y="2"/>
                </a:lnTo>
                <a:close/>
              </a:path>
            </a:pathLst>
          </a:custGeom>
          <a:pattFill prst="ltHorz">
            <a:fgClr>
              <a:srgbClr val="A5002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25" name="Rectangle 8"/>
          <p:cNvSpPr>
            <a:spLocks noChangeArrowheads="1"/>
          </p:cNvSpPr>
          <p:nvPr/>
        </p:nvSpPr>
        <p:spPr bwMode="auto">
          <a:xfrm>
            <a:off x="2284674" y="3765419"/>
            <a:ext cx="1786455" cy="87211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6" name="Line 9"/>
          <p:cNvSpPr>
            <a:spLocks noChangeAspect="1" noChangeShapeType="1"/>
          </p:cNvSpPr>
          <p:nvPr/>
        </p:nvSpPr>
        <p:spPr bwMode="auto">
          <a:xfrm>
            <a:off x="2276231" y="3769038"/>
            <a:ext cx="1799723" cy="12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" name="Rectangle 10"/>
          <p:cNvSpPr>
            <a:spLocks noChangeArrowheads="1"/>
          </p:cNvSpPr>
          <p:nvPr/>
        </p:nvSpPr>
        <p:spPr bwMode="auto">
          <a:xfrm>
            <a:off x="2279496" y="4630299"/>
            <a:ext cx="1794316" cy="723749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8" name="Rectangle 11" descr="宽上对角线"/>
          <p:cNvSpPr>
            <a:spLocks noChangeAspect="1" noChangeArrowheads="1"/>
          </p:cNvSpPr>
          <p:nvPr/>
        </p:nvSpPr>
        <p:spPr bwMode="auto">
          <a:xfrm>
            <a:off x="2634486" y="3773863"/>
            <a:ext cx="850406" cy="597093"/>
          </a:xfrm>
          <a:prstGeom prst="rect">
            <a:avLst/>
          </a:prstGeom>
          <a:noFill/>
          <a:ln w="19050">
            <a:solidFill>
              <a:srgbClr val="A5002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9" name="Line 12"/>
          <p:cNvSpPr>
            <a:spLocks noChangeAspect="1" noChangeShapeType="1"/>
          </p:cNvSpPr>
          <p:nvPr/>
        </p:nvSpPr>
        <p:spPr bwMode="auto">
          <a:xfrm>
            <a:off x="2441487" y="3765419"/>
            <a:ext cx="0" cy="6127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0" name="Text Box 13"/>
          <p:cNvSpPr txBox="1">
            <a:spLocks noChangeAspect="1" noChangeArrowheads="1"/>
          </p:cNvSpPr>
          <p:nvPr/>
        </p:nvSpPr>
        <p:spPr bwMode="auto">
          <a:xfrm>
            <a:off x="2340162" y="3951181"/>
            <a:ext cx="172494" cy="28191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14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31" name="Line 14"/>
          <p:cNvSpPr>
            <a:spLocks noChangeAspect="1" noChangeShapeType="1"/>
          </p:cNvSpPr>
          <p:nvPr/>
        </p:nvSpPr>
        <p:spPr bwMode="auto">
          <a:xfrm>
            <a:off x="2347399" y="4370956"/>
            <a:ext cx="141493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2" name="Text Box 16"/>
          <p:cNvSpPr txBox="1">
            <a:spLocks noChangeAspect="1" noChangeArrowheads="1"/>
          </p:cNvSpPr>
          <p:nvPr/>
        </p:nvSpPr>
        <p:spPr bwMode="auto">
          <a:xfrm>
            <a:off x="3528485" y="3539975"/>
            <a:ext cx="436662" cy="251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1200" b="1" dirty="0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地面</a:t>
            </a:r>
          </a:p>
        </p:txBody>
      </p:sp>
      <p:sp>
        <p:nvSpPr>
          <p:cNvPr id="333" name="Rectangle 17"/>
          <p:cNvSpPr>
            <a:spLocks noChangeAspect="1" noChangeArrowheads="1"/>
          </p:cNvSpPr>
          <p:nvPr/>
        </p:nvSpPr>
        <p:spPr bwMode="auto">
          <a:xfrm>
            <a:off x="3765948" y="4157450"/>
            <a:ext cx="389619" cy="21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/>
          <a:p>
            <a:pPr defTabSz="65881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基底</a:t>
            </a:r>
          </a:p>
        </p:txBody>
      </p:sp>
      <p:sp>
        <p:nvSpPr>
          <p:cNvPr id="334" name="Freeform 18"/>
          <p:cNvSpPr>
            <a:spLocks/>
          </p:cNvSpPr>
          <p:nvPr/>
        </p:nvSpPr>
        <p:spPr bwMode="auto">
          <a:xfrm>
            <a:off x="3433023" y="3627906"/>
            <a:ext cx="130275" cy="114594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35" name="Freeform 19"/>
          <p:cNvSpPr>
            <a:spLocks/>
          </p:cNvSpPr>
          <p:nvPr/>
        </p:nvSpPr>
        <p:spPr bwMode="auto">
          <a:xfrm>
            <a:off x="3587423" y="4247918"/>
            <a:ext cx="130275" cy="114594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36" name="Line 20"/>
          <p:cNvSpPr>
            <a:spLocks noChangeAspect="1" noChangeShapeType="1"/>
          </p:cNvSpPr>
          <p:nvPr/>
        </p:nvSpPr>
        <p:spPr bwMode="auto">
          <a:xfrm>
            <a:off x="3074767" y="3759388"/>
            <a:ext cx="0" cy="1610342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37" name="Freeform 21"/>
          <p:cNvSpPr>
            <a:spLocks/>
          </p:cNvSpPr>
          <p:nvPr/>
        </p:nvSpPr>
        <p:spPr bwMode="auto">
          <a:xfrm>
            <a:off x="2560906" y="3764213"/>
            <a:ext cx="507830" cy="1434229"/>
          </a:xfrm>
          <a:custGeom>
            <a:avLst/>
            <a:gdLst>
              <a:gd name="T0" fmla="*/ 421 w 421"/>
              <a:gd name="T1" fmla="*/ 0 h 1189"/>
              <a:gd name="T2" fmla="*/ 109 w 421"/>
              <a:gd name="T3" fmla="*/ 722 h 1189"/>
              <a:gd name="T4" fmla="*/ 0 w 421"/>
              <a:gd name="T5" fmla="*/ 1189 h 1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1" h="1189">
                <a:moveTo>
                  <a:pt x="421" y="0"/>
                </a:moveTo>
                <a:lnTo>
                  <a:pt x="109" y="722"/>
                </a:lnTo>
                <a:lnTo>
                  <a:pt x="0" y="1189"/>
                </a:lnTo>
              </a:path>
            </a:pathLst>
          </a:custGeom>
          <a:noFill/>
          <a:ln w="28575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" name="Text Box 22"/>
          <p:cNvSpPr txBox="1">
            <a:spLocks noChangeAspect="1" noChangeArrowheads="1"/>
          </p:cNvSpPr>
          <p:nvPr/>
        </p:nvSpPr>
        <p:spPr bwMode="auto">
          <a:xfrm>
            <a:off x="3609135" y="3861919"/>
            <a:ext cx="145956" cy="28191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1400" b="1" i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</a:p>
        </p:txBody>
      </p:sp>
      <p:sp>
        <p:nvSpPr>
          <p:cNvPr id="339" name="Rectangle 23"/>
          <p:cNvSpPr>
            <a:spLocks noChangeAspect="1" noChangeArrowheads="1"/>
          </p:cNvSpPr>
          <p:nvPr/>
        </p:nvSpPr>
        <p:spPr bwMode="auto">
          <a:xfrm>
            <a:off x="2805774" y="4344418"/>
            <a:ext cx="296448" cy="28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/>
          <a:p>
            <a:pPr defTabSz="65881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d</a:t>
            </a:r>
          </a:p>
        </p:txBody>
      </p:sp>
      <p:sp>
        <p:nvSpPr>
          <p:cNvPr id="340" name="Line 24"/>
          <p:cNvSpPr>
            <a:spLocks noChangeShapeType="1"/>
          </p:cNvSpPr>
          <p:nvPr/>
        </p:nvSpPr>
        <p:spPr bwMode="auto">
          <a:xfrm>
            <a:off x="2932430" y="3769038"/>
            <a:ext cx="29311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1" name="Line 25"/>
          <p:cNvSpPr>
            <a:spLocks noChangeShapeType="1"/>
          </p:cNvSpPr>
          <p:nvPr/>
        </p:nvSpPr>
        <p:spPr bwMode="auto">
          <a:xfrm>
            <a:off x="2653786" y="4886024"/>
            <a:ext cx="89262" cy="1338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2" name="Text Box 26"/>
          <p:cNvSpPr txBox="1">
            <a:spLocks noChangeArrowheads="1"/>
          </p:cNvSpPr>
          <p:nvPr/>
        </p:nvSpPr>
        <p:spPr bwMode="auto">
          <a:xfrm>
            <a:off x="2647756" y="4935480"/>
            <a:ext cx="341332" cy="28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1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1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kumimoji="0" lang="en-US" altLang="zh-CN" sz="1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43" name="Rectangle 27"/>
          <p:cNvSpPr>
            <a:spLocks noChangeArrowheads="1"/>
          </p:cNvSpPr>
          <p:nvPr/>
        </p:nvSpPr>
        <p:spPr bwMode="auto">
          <a:xfrm>
            <a:off x="6693513" y="3784719"/>
            <a:ext cx="1786454" cy="87211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4" name="Line 28"/>
          <p:cNvSpPr>
            <a:spLocks noChangeAspect="1" noChangeShapeType="1"/>
          </p:cNvSpPr>
          <p:nvPr/>
        </p:nvSpPr>
        <p:spPr bwMode="auto">
          <a:xfrm>
            <a:off x="6685069" y="3788338"/>
            <a:ext cx="1799723" cy="12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5" name="Rectangle 29"/>
          <p:cNvSpPr>
            <a:spLocks noChangeArrowheads="1"/>
          </p:cNvSpPr>
          <p:nvPr/>
        </p:nvSpPr>
        <p:spPr bwMode="auto">
          <a:xfrm>
            <a:off x="6703163" y="4649599"/>
            <a:ext cx="1776804" cy="723749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6" name="Line 30"/>
          <p:cNvSpPr>
            <a:spLocks noChangeAspect="1" noChangeShapeType="1"/>
          </p:cNvSpPr>
          <p:nvPr/>
        </p:nvSpPr>
        <p:spPr bwMode="auto">
          <a:xfrm>
            <a:off x="7430531" y="3364944"/>
            <a:ext cx="0" cy="291912"/>
          </a:xfrm>
          <a:prstGeom prst="line">
            <a:avLst/>
          </a:prstGeom>
          <a:noFill/>
          <a:ln w="7620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7" name="Rectangle 31" descr="宽上对角线"/>
          <p:cNvSpPr>
            <a:spLocks noChangeAspect="1" noChangeArrowheads="1"/>
          </p:cNvSpPr>
          <p:nvPr/>
        </p:nvSpPr>
        <p:spPr bwMode="auto">
          <a:xfrm>
            <a:off x="6992663" y="4152625"/>
            <a:ext cx="850405" cy="234012"/>
          </a:xfrm>
          <a:prstGeom prst="rect">
            <a:avLst/>
          </a:prstGeom>
          <a:pattFill prst="dkUpDiag">
            <a:fgClr>
              <a:srgbClr val="CCECFF"/>
            </a:fgClr>
            <a:bgClr>
              <a:schemeClr val="accent6">
                <a:lumMod val="60000"/>
                <a:lumOff val="40000"/>
              </a:schemeClr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" name="Text Box 33"/>
          <p:cNvSpPr txBox="1">
            <a:spLocks noChangeAspect="1" noChangeArrowheads="1"/>
          </p:cNvSpPr>
          <p:nvPr/>
        </p:nvSpPr>
        <p:spPr bwMode="auto">
          <a:xfrm>
            <a:off x="8042099" y="3558167"/>
            <a:ext cx="436662" cy="220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1000" b="1" dirty="0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地面</a:t>
            </a:r>
          </a:p>
        </p:txBody>
      </p:sp>
      <p:sp>
        <p:nvSpPr>
          <p:cNvPr id="349" name="Freeform 35"/>
          <p:cNvSpPr>
            <a:spLocks/>
          </p:cNvSpPr>
          <p:nvPr/>
        </p:nvSpPr>
        <p:spPr bwMode="auto">
          <a:xfrm>
            <a:off x="7943187" y="3647206"/>
            <a:ext cx="130275" cy="114594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50" name="Rectangle 37" descr="横向砖形"/>
          <p:cNvSpPr>
            <a:spLocks noChangeAspect="1" noChangeArrowheads="1"/>
          </p:cNvSpPr>
          <p:nvPr/>
        </p:nvSpPr>
        <p:spPr bwMode="auto">
          <a:xfrm>
            <a:off x="7295431" y="3656856"/>
            <a:ext cx="267787" cy="495769"/>
          </a:xfrm>
          <a:prstGeom prst="rect">
            <a:avLst/>
          </a:prstGeom>
          <a:pattFill prst="horzBrick">
            <a:fgClr>
              <a:srgbClr val="FF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1" name="Line 38"/>
          <p:cNvSpPr>
            <a:spLocks noChangeAspect="1" noChangeShapeType="1"/>
          </p:cNvSpPr>
          <p:nvPr/>
        </p:nvSpPr>
        <p:spPr bwMode="auto">
          <a:xfrm>
            <a:off x="7432943" y="3778688"/>
            <a:ext cx="0" cy="1593454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2" name="Freeform 40"/>
          <p:cNvSpPr>
            <a:spLocks/>
          </p:cNvSpPr>
          <p:nvPr/>
        </p:nvSpPr>
        <p:spPr bwMode="auto">
          <a:xfrm>
            <a:off x="7869605" y="4398700"/>
            <a:ext cx="186969" cy="875737"/>
          </a:xfrm>
          <a:custGeom>
            <a:avLst/>
            <a:gdLst>
              <a:gd name="T0" fmla="*/ 260 w 260"/>
              <a:gd name="T1" fmla="*/ 0 h 1008"/>
              <a:gd name="T2" fmla="*/ 240 w 260"/>
              <a:gd name="T3" fmla="*/ 269 h 1008"/>
              <a:gd name="T4" fmla="*/ 164 w 260"/>
              <a:gd name="T5" fmla="*/ 585 h 1008"/>
              <a:gd name="T6" fmla="*/ 0 w 260"/>
              <a:gd name="T7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0" h="1008">
                <a:moveTo>
                  <a:pt x="260" y="0"/>
                </a:moveTo>
                <a:cubicBezTo>
                  <a:pt x="258" y="86"/>
                  <a:pt x="256" y="172"/>
                  <a:pt x="240" y="269"/>
                </a:cubicBezTo>
                <a:cubicBezTo>
                  <a:pt x="224" y="366"/>
                  <a:pt x="204" y="462"/>
                  <a:pt x="164" y="585"/>
                </a:cubicBezTo>
                <a:cubicBezTo>
                  <a:pt x="124" y="708"/>
                  <a:pt x="27" y="938"/>
                  <a:pt x="0" y="1008"/>
                </a:cubicBez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" name="Text Box 45"/>
          <p:cNvSpPr txBox="1">
            <a:spLocks noChangeAspect="1" noChangeArrowheads="1"/>
          </p:cNvSpPr>
          <p:nvPr/>
        </p:nvSpPr>
        <p:spPr bwMode="auto">
          <a:xfrm>
            <a:off x="7598200" y="4355275"/>
            <a:ext cx="353430" cy="28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>
                    <a:alpha val="50000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sz="1400" b="1" i="1" dirty="0">
                <a:solidFill>
                  <a:srgbClr val="000066"/>
                </a:solidFill>
                <a:cs typeface="Times New Roman" panose="02020603050405020304" pitchFamily="18" charset="0"/>
              </a:rPr>
              <a:t>p</a:t>
            </a:r>
            <a:endParaRPr lang="en-US" altLang="zh-CN" sz="1400" b="1" i="1" baseline="-25000" dirty="0">
              <a:solidFill>
                <a:srgbClr val="000066"/>
              </a:solidFill>
              <a:cs typeface="Times New Roman" panose="02020603050405020304" pitchFamily="18" charset="0"/>
            </a:endParaRPr>
          </a:p>
        </p:txBody>
      </p:sp>
      <p:sp>
        <p:nvSpPr>
          <p:cNvPr id="354" name="Line 46"/>
          <p:cNvSpPr>
            <a:spLocks noChangeAspect="1" noChangeShapeType="1"/>
          </p:cNvSpPr>
          <p:nvPr/>
        </p:nvSpPr>
        <p:spPr bwMode="auto">
          <a:xfrm>
            <a:off x="7424500" y="4398700"/>
            <a:ext cx="633280" cy="0"/>
          </a:xfrm>
          <a:prstGeom prst="line">
            <a:avLst/>
          </a:prstGeom>
          <a:noFill/>
          <a:ln w="38100">
            <a:solidFill>
              <a:srgbClr val="CC0000"/>
            </a:solidFill>
            <a:miter lim="800000"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5" name="Line 48"/>
          <p:cNvSpPr>
            <a:spLocks noChangeShapeType="1"/>
          </p:cNvSpPr>
          <p:nvPr/>
        </p:nvSpPr>
        <p:spPr bwMode="auto">
          <a:xfrm>
            <a:off x="7290606" y="3788338"/>
            <a:ext cx="293119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6" name="Text Box 49"/>
          <p:cNvSpPr txBox="1">
            <a:spLocks noChangeArrowheads="1"/>
          </p:cNvSpPr>
          <p:nvPr/>
        </p:nvSpPr>
        <p:spPr bwMode="auto">
          <a:xfrm>
            <a:off x="8030037" y="4964430"/>
            <a:ext cx="294846" cy="28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1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US" altLang="zh-CN" sz="1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endParaRPr lang="en-US" altLang="zh-CN" sz="1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57" name="Line 51"/>
          <p:cNvSpPr>
            <a:spLocks noChangeShapeType="1"/>
          </p:cNvSpPr>
          <p:nvPr/>
        </p:nvSpPr>
        <p:spPr bwMode="auto">
          <a:xfrm>
            <a:off x="7999880" y="4943924"/>
            <a:ext cx="94087" cy="1073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" name="Line 53"/>
          <p:cNvSpPr>
            <a:spLocks noChangeShapeType="1"/>
          </p:cNvSpPr>
          <p:nvPr/>
        </p:nvSpPr>
        <p:spPr bwMode="auto">
          <a:xfrm flipH="1" flipV="1">
            <a:off x="2496974" y="3654444"/>
            <a:ext cx="135100" cy="21591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59" name="Text Box 54"/>
          <p:cNvSpPr txBox="1">
            <a:spLocks noChangeAspect="1" noChangeArrowheads="1"/>
          </p:cNvSpPr>
          <p:nvPr/>
        </p:nvSpPr>
        <p:spPr bwMode="auto">
          <a:xfrm>
            <a:off x="2113387" y="3411764"/>
            <a:ext cx="948790" cy="220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lang="zh-CN" altLang="en-US" sz="1000" b="1" dirty="0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拟开挖基坑</a:t>
            </a:r>
          </a:p>
        </p:txBody>
      </p:sp>
      <p:sp>
        <p:nvSpPr>
          <p:cNvPr id="360" name="Line 55"/>
          <p:cNvSpPr>
            <a:spLocks noChangeShapeType="1"/>
          </p:cNvSpPr>
          <p:nvPr/>
        </p:nvSpPr>
        <p:spPr bwMode="auto">
          <a:xfrm>
            <a:off x="2819043" y="4368543"/>
            <a:ext cx="2509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61" name="Line 57"/>
          <p:cNvSpPr>
            <a:spLocks noChangeAspect="1" noChangeShapeType="1"/>
          </p:cNvSpPr>
          <p:nvPr/>
        </p:nvSpPr>
        <p:spPr bwMode="auto">
          <a:xfrm>
            <a:off x="4378722" y="3773863"/>
            <a:ext cx="1799723" cy="12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2" name="Freeform 60"/>
          <p:cNvSpPr>
            <a:spLocks/>
          </p:cNvSpPr>
          <p:nvPr/>
        </p:nvSpPr>
        <p:spPr bwMode="auto">
          <a:xfrm>
            <a:off x="4626003" y="3769038"/>
            <a:ext cx="545224" cy="1516254"/>
          </a:xfrm>
          <a:custGeom>
            <a:avLst/>
            <a:gdLst>
              <a:gd name="T0" fmla="*/ 452 w 452"/>
              <a:gd name="T1" fmla="*/ 0 h 1257"/>
              <a:gd name="T2" fmla="*/ 262 w 452"/>
              <a:gd name="T3" fmla="*/ 501 h 1257"/>
              <a:gd name="T4" fmla="*/ 140 w 452"/>
              <a:gd name="T5" fmla="*/ 722 h 1257"/>
              <a:gd name="T6" fmla="*/ 0 w 452"/>
              <a:gd name="T7" fmla="*/ 1257 h 1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2" h="1257">
                <a:moveTo>
                  <a:pt x="452" y="0"/>
                </a:moveTo>
                <a:lnTo>
                  <a:pt x="262" y="501"/>
                </a:lnTo>
                <a:lnTo>
                  <a:pt x="140" y="722"/>
                </a:lnTo>
                <a:lnTo>
                  <a:pt x="0" y="1257"/>
                </a:lnTo>
              </a:path>
            </a:pathLst>
          </a:custGeom>
          <a:noFill/>
          <a:ln w="28575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4" name="Line 63"/>
          <p:cNvSpPr>
            <a:spLocks noChangeShapeType="1"/>
          </p:cNvSpPr>
          <p:nvPr/>
        </p:nvSpPr>
        <p:spPr bwMode="auto">
          <a:xfrm flipH="1">
            <a:off x="4575341" y="4890849"/>
            <a:ext cx="135100" cy="952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5" name="Text Box 64"/>
          <p:cNvSpPr txBox="1">
            <a:spLocks noChangeArrowheads="1"/>
          </p:cNvSpPr>
          <p:nvPr/>
        </p:nvSpPr>
        <p:spPr bwMode="auto">
          <a:xfrm>
            <a:off x="4362105" y="4901705"/>
            <a:ext cx="341332" cy="28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1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1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kumimoji="0" lang="en-US" altLang="zh-CN" sz="1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66" name="Line 65"/>
          <p:cNvSpPr>
            <a:spLocks noChangeShapeType="1"/>
          </p:cNvSpPr>
          <p:nvPr/>
        </p:nvSpPr>
        <p:spPr bwMode="auto">
          <a:xfrm>
            <a:off x="4936009" y="4379400"/>
            <a:ext cx="2509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67" name="Freeform 66"/>
          <p:cNvSpPr>
            <a:spLocks/>
          </p:cNvSpPr>
          <p:nvPr/>
        </p:nvSpPr>
        <p:spPr bwMode="auto">
          <a:xfrm>
            <a:off x="4734566" y="3766036"/>
            <a:ext cx="856436" cy="616954"/>
          </a:xfrm>
          <a:custGeom>
            <a:avLst/>
            <a:gdLst>
              <a:gd name="T0" fmla="*/ 0 w 710"/>
              <a:gd name="T1" fmla="*/ 0 h 502"/>
              <a:gd name="T2" fmla="*/ 0 w 710"/>
              <a:gd name="T3" fmla="*/ 502 h 502"/>
              <a:gd name="T4" fmla="*/ 710 w 710"/>
              <a:gd name="T5" fmla="*/ 502 h 502"/>
              <a:gd name="T6" fmla="*/ 710 w 710"/>
              <a:gd name="T7" fmla="*/ 5 h 502"/>
              <a:gd name="connsiteX0" fmla="*/ 64 w 10000"/>
              <a:gd name="connsiteY0" fmla="*/ 0 h 9956"/>
              <a:gd name="connsiteX1" fmla="*/ 0 w 10000"/>
              <a:gd name="connsiteY1" fmla="*/ 9956 h 9956"/>
              <a:gd name="connsiteX2" fmla="*/ 10000 w 10000"/>
              <a:gd name="connsiteY2" fmla="*/ 9956 h 9956"/>
              <a:gd name="connsiteX3" fmla="*/ 10000 w 10000"/>
              <a:gd name="connsiteY3" fmla="*/ 56 h 9956"/>
              <a:gd name="connsiteX0" fmla="*/ 96 w 10000"/>
              <a:gd name="connsiteY0" fmla="*/ 76 h 9944"/>
              <a:gd name="connsiteX1" fmla="*/ 0 w 10000"/>
              <a:gd name="connsiteY1" fmla="*/ 9944 h 9944"/>
              <a:gd name="connsiteX2" fmla="*/ 10000 w 10000"/>
              <a:gd name="connsiteY2" fmla="*/ 9944 h 9944"/>
              <a:gd name="connsiteX3" fmla="*/ 10000 w 10000"/>
              <a:gd name="connsiteY3" fmla="*/ 0 h 9944"/>
              <a:gd name="connsiteX0" fmla="*/ 96 w 10000"/>
              <a:gd name="connsiteY0" fmla="*/ 0 h 10145"/>
              <a:gd name="connsiteX1" fmla="*/ 0 w 10000"/>
              <a:gd name="connsiteY1" fmla="*/ 10145 h 10145"/>
              <a:gd name="connsiteX2" fmla="*/ 10000 w 10000"/>
              <a:gd name="connsiteY2" fmla="*/ 10145 h 10145"/>
              <a:gd name="connsiteX3" fmla="*/ 10000 w 10000"/>
              <a:gd name="connsiteY3" fmla="*/ 145 h 10145"/>
              <a:gd name="connsiteX0" fmla="*/ 64 w 10000"/>
              <a:gd name="connsiteY0" fmla="*/ 0 h 10012"/>
              <a:gd name="connsiteX1" fmla="*/ 0 w 10000"/>
              <a:gd name="connsiteY1" fmla="*/ 10012 h 10012"/>
              <a:gd name="connsiteX2" fmla="*/ 10000 w 10000"/>
              <a:gd name="connsiteY2" fmla="*/ 10012 h 10012"/>
              <a:gd name="connsiteX3" fmla="*/ 10000 w 10000"/>
              <a:gd name="connsiteY3" fmla="*/ 12 h 10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" h="10012">
                <a:moveTo>
                  <a:pt x="64" y="0"/>
                </a:moveTo>
                <a:cubicBezTo>
                  <a:pt x="43" y="3353"/>
                  <a:pt x="21" y="6659"/>
                  <a:pt x="0" y="10012"/>
                </a:cubicBezTo>
                <a:lnTo>
                  <a:pt x="10000" y="10012"/>
                </a:lnTo>
                <a:lnTo>
                  <a:pt x="10000" y="12"/>
                </a:lnTo>
              </a:path>
            </a:pathLst>
          </a:custGeom>
          <a:solidFill>
            <a:schemeClr val="bg1"/>
          </a:solidFill>
          <a:ln w="12700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68" name="Line 67"/>
          <p:cNvSpPr>
            <a:spLocks noChangeAspect="1" noChangeShapeType="1"/>
          </p:cNvSpPr>
          <p:nvPr/>
        </p:nvSpPr>
        <p:spPr bwMode="auto">
          <a:xfrm>
            <a:off x="5177258" y="4381528"/>
            <a:ext cx="0" cy="991537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9" name="Text Box 70"/>
          <p:cNvSpPr txBox="1">
            <a:spLocks noChangeAspect="1" noChangeArrowheads="1"/>
          </p:cNvSpPr>
          <p:nvPr/>
        </p:nvSpPr>
        <p:spPr bwMode="auto">
          <a:xfrm>
            <a:off x="5745402" y="3535498"/>
            <a:ext cx="436662" cy="220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1000" b="1" dirty="0">
                <a:solidFill>
                  <a:srgbClr val="000066"/>
                </a:solidFill>
                <a:latin typeface="Tahoma" pitchFamily="34" charset="0"/>
                <a:ea typeface="幼圆" pitchFamily="49" charset="-122"/>
              </a:rPr>
              <a:t>地面</a:t>
            </a:r>
          </a:p>
        </p:txBody>
      </p:sp>
      <p:sp>
        <p:nvSpPr>
          <p:cNvPr id="370" name="Freeform 71"/>
          <p:cNvSpPr>
            <a:spLocks/>
          </p:cNvSpPr>
          <p:nvPr/>
        </p:nvSpPr>
        <p:spPr bwMode="auto">
          <a:xfrm>
            <a:off x="5646489" y="3643588"/>
            <a:ext cx="130275" cy="114593"/>
          </a:xfrm>
          <a:custGeom>
            <a:avLst/>
            <a:gdLst>
              <a:gd name="T0" fmla="*/ 0 w 180"/>
              <a:gd name="T1" fmla="*/ 0 h 132"/>
              <a:gd name="T2" fmla="*/ 180 w 180"/>
              <a:gd name="T3" fmla="*/ 0 h 132"/>
              <a:gd name="T4" fmla="*/ 92 w 180"/>
              <a:gd name="T5" fmla="*/ 132 h 132"/>
              <a:gd name="T6" fmla="*/ 0 w 180"/>
              <a:gd name="T7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132">
                <a:moveTo>
                  <a:pt x="0" y="0"/>
                </a:moveTo>
                <a:lnTo>
                  <a:pt x="180" y="0"/>
                </a:lnTo>
                <a:lnTo>
                  <a:pt x="92" y="13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371" name="Rectangle 61"/>
          <p:cNvSpPr>
            <a:spLocks noChangeAspect="1" noChangeArrowheads="1"/>
          </p:cNvSpPr>
          <p:nvPr/>
        </p:nvSpPr>
        <p:spPr bwMode="auto">
          <a:xfrm>
            <a:off x="4931184" y="4112818"/>
            <a:ext cx="296448" cy="28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/>
          <a:p>
            <a:pPr defTabSz="65881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 i="1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b="1" i="1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d</a:t>
            </a:r>
          </a:p>
        </p:txBody>
      </p:sp>
      <p:sp>
        <p:nvSpPr>
          <p:cNvPr id="372" name="Freeform 76"/>
          <p:cNvSpPr>
            <a:spLocks/>
          </p:cNvSpPr>
          <p:nvPr/>
        </p:nvSpPr>
        <p:spPr bwMode="auto">
          <a:xfrm>
            <a:off x="4685109" y="4386637"/>
            <a:ext cx="489737" cy="889005"/>
          </a:xfrm>
          <a:custGeom>
            <a:avLst/>
            <a:gdLst>
              <a:gd name="T0" fmla="*/ 406 w 406"/>
              <a:gd name="T1" fmla="*/ 0 h 737"/>
              <a:gd name="T2" fmla="*/ 199 w 406"/>
              <a:gd name="T3" fmla="*/ 202 h 737"/>
              <a:gd name="T4" fmla="*/ 0 w 406"/>
              <a:gd name="T5" fmla="*/ 737 h 7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6" h="737">
                <a:moveTo>
                  <a:pt x="406" y="0"/>
                </a:moveTo>
                <a:lnTo>
                  <a:pt x="199" y="202"/>
                </a:lnTo>
                <a:lnTo>
                  <a:pt x="0" y="737"/>
                </a:lnTo>
              </a:path>
            </a:pathLst>
          </a:custGeom>
          <a:noFill/>
          <a:ln w="19050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73" name="Text Box 78"/>
          <p:cNvSpPr txBox="1">
            <a:spLocks noChangeArrowheads="1"/>
          </p:cNvSpPr>
          <p:nvPr/>
        </p:nvSpPr>
        <p:spPr bwMode="auto">
          <a:xfrm>
            <a:off x="4823828" y="4990967"/>
            <a:ext cx="407391" cy="28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14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</a:t>
            </a:r>
            <a:r>
              <a:rPr kumimoji="0" lang="en-US" altLang="zh-CN" sz="1400" b="1" baseline="-25000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kumimoji="0" lang="en-US" altLang="zh-CN" sz="14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74" name="Line 79"/>
          <p:cNvSpPr>
            <a:spLocks noChangeShapeType="1"/>
          </p:cNvSpPr>
          <p:nvPr/>
        </p:nvSpPr>
        <p:spPr bwMode="auto">
          <a:xfrm>
            <a:off x="4809353" y="4963224"/>
            <a:ext cx="69962" cy="130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75" name="Text Box 81"/>
          <p:cNvSpPr txBox="1">
            <a:spLocks noChangeArrowheads="1"/>
          </p:cNvSpPr>
          <p:nvPr/>
        </p:nvSpPr>
        <p:spPr bwMode="auto">
          <a:xfrm>
            <a:off x="7087955" y="4939099"/>
            <a:ext cx="441487" cy="28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1400" b="1" i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</a:t>
            </a:r>
            <a:r>
              <a:rPr kumimoji="0" lang="en-US" altLang="zh-CN" sz="1400" b="1" baseline="-25000" dirty="0" err="1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sz</a:t>
            </a:r>
            <a:endParaRPr kumimoji="0" lang="en-US" altLang="zh-CN" sz="1400" b="1" dirty="0">
              <a:solidFill>
                <a:srgbClr val="A50021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76" name="Line 82"/>
          <p:cNvSpPr>
            <a:spLocks noChangeShapeType="1"/>
          </p:cNvSpPr>
          <p:nvPr/>
        </p:nvSpPr>
        <p:spPr bwMode="auto">
          <a:xfrm>
            <a:off x="7073481" y="4911355"/>
            <a:ext cx="69962" cy="130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77" name="Freeform 83" descr="浅色横线"/>
          <p:cNvSpPr>
            <a:spLocks/>
          </p:cNvSpPr>
          <p:nvPr/>
        </p:nvSpPr>
        <p:spPr bwMode="auto">
          <a:xfrm>
            <a:off x="6869626" y="4387869"/>
            <a:ext cx="552329" cy="921548"/>
          </a:xfrm>
          <a:custGeom>
            <a:avLst/>
            <a:gdLst>
              <a:gd name="T0" fmla="*/ 252 w 449"/>
              <a:gd name="T1" fmla="*/ 2 h 746"/>
              <a:gd name="T2" fmla="*/ 142 w 449"/>
              <a:gd name="T3" fmla="*/ 211 h 746"/>
              <a:gd name="T4" fmla="*/ 0 w 449"/>
              <a:gd name="T5" fmla="*/ 746 h 746"/>
              <a:gd name="T6" fmla="*/ 41 w 449"/>
              <a:gd name="T7" fmla="*/ 744 h 746"/>
              <a:gd name="T8" fmla="*/ 235 w 449"/>
              <a:gd name="T9" fmla="*/ 204 h 746"/>
              <a:gd name="T10" fmla="*/ 449 w 449"/>
              <a:gd name="T11" fmla="*/ 0 h 746"/>
              <a:gd name="T12" fmla="*/ 252 w 449"/>
              <a:gd name="T13" fmla="*/ 2 h 746"/>
              <a:gd name="connsiteX0" fmla="*/ 6008 w 10000"/>
              <a:gd name="connsiteY0" fmla="*/ 0 h 10241"/>
              <a:gd name="connsiteX1" fmla="*/ 3163 w 10000"/>
              <a:gd name="connsiteY1" fmla="*/ 3069 h 10241"/>
              <a:gd name="connsiteX2" fmla="*/ 0 w 10000"/>
              <a:gd name="connsiteY2" fmla="*/ 10241 h 10241"/>
              <a:gd name="connsiteX3" fmla="*/ 913 w 10000"/>
              <a:gd name="connsiteY3" fmla="*/ 10214 h 10241"/>
              <a:gd name="connsiteX4" fmla="*/ 5234 w 10000"/>
              <a:gd name="connsiteY4" fmla="*/ 2976 h 10241"/>
              <a:gd name="connsiteX5" fmla="*/ 10000 w 10000"/>
              <a:gd name="connsiteY5" fmla="*/ 241 h 10241"/>
              <a:gd name="connsiteX6" fmla="*/ 6008 w 10000"/>
              <a:gd name="connsiteY6" fmla="*/ 0 h 10241"/>
              <a:gd name="connsiteX0" fmla="*/ 6008 w 10198"/>
              <a:gd name="connsiteY0" fmla="*/ 0 h 10241"/>
              <a:gd name="connsiteX1" fmla="*/ 3163 w 10198"/>
              <a:gd name="connsiteY1" fmla="*/ 3069 h 10241"/>
              <a:gd name="connsiteX2" fmla="*/ 0 w 10198"/>
              <a:gd name="connsiteY2" fmla="*/ 10241 h 10241"/>
              <a:gd name="connsiteX3" fmla="*/ 913 w 10198"/>
              <a:gd name="connsiteY3" fmla="*/ 10214 h 10241"/>
              <a:gd name="connsiteX4" fmla="*/ 5234 w 10198"/>
              <a:gd name="connsiteY4" fmla="*/ 2976 h 10241"/>
              <a:gd name="connsiteX5" fmla="*/ 10198 w 10198"/>
              <a:gd name="connsiteY5" fmla="*/ 3 h 10241"/>
              <a:gd name="connsiteX6" fmla="*/ 6008 w 10198"/>
              <a:gd name="connsiteY6" fmla="*/ 0 h 1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98" h="10241">
                <a:moveTo>
                  <a:pt x="6008" y="0"/>
                </a:moveTo>
                <a:lnTo>
                  <a:pt x="3163" y="3069"/>
                </a:lnTo>
                <a:lnTo>
                  <a:pt x="0" y="10241"/>
                </a:lnTo>
                <a:lnTo>
                  <a:pt x="913" y="10214"/>
                </a:lnTo>
                <a:lnTo>
                  <a:pt x="5234" y="2976"/>
                </a:lnTo>
                <a:lnTo>
                  <a:pt x="10198" y="3"/>
                </a:lnTo>
                <a:lnTo>
                  <a:pt x="6008" y="0"/>
                </a:lnTo>
                <a:close/>
              </a:path>
            </a:pathLst>
          </a:custGeom>
          <a:pattFill prst="ltHorz">
            <a:fgClr>
              <a:srgbClr val="A5002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378" name="Freeform 84"/>
          <p:cNvSpPr>
            <a:spLocks/>
          </p:cNvSpPr>
          <p:nvPr/>
        </p:nvSpPr>
        <p:spPr bwMode="auto">
          <a:xfrm>
            <a:off x="6859976" y="4398700"/>
            <a:ext cx="322068" cy="911924"/>
          </a:xfrm>
          <a:custGeom>
            <a:avLst/>
            <a:gdLst>
              <a:gd name="T0" fmla="*/ 267 w 267"/>
              <a:gd name="T1" fmla="*/ 5 h 756"/>
              <a:gd name="T2" fmla="*/ 262 w 267"/>
              <a:gd name="T3" fmla="*/ 0 h 756"/>
              <a:gd name="T4" fmla="*/ 140 w 267"/>
              <a:gd name="T5" fmla="*/ 221 h 756"/>
              <a:gd name="T6" fmla="*/ 0 w 267"/>
              <a:gd name="T7" fmla="*/ 756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7" h="756">
                <a:moveTo>
                  <a:pt x="267" y="5"/>
                </a:moveTo>
                <a:lnTo>
                  <a:pt x="262" y="0"/>
                </a:lnTo>
                <a:lnTo>
                  <a:pt x="140" y="221"/>
                </a:lnTo>
                <a:lnTo>
                  <a:pt x="0" y="756"/>
                </a:lnTo>
              </a:path>
            </a:pathLst>
          </a:custGeom>
          <a:noFill/>
          <a:ln w="28575" cmpd="sng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" name="Text Box 85"/>
          <p:cNvSpPr txBox="1">
            <a:spLocks noChangeArrowheads="1"/>
          </p:cNvSpPr>
          <p:nvPr/>
        </p:nvSpPr>
        <p:spPr bwMode="auto">
          <a:xfrm>
            <a:off x="6593394" y="4927037"/>
            <a:ext cx="341332" cy="28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>
            <a:lvl1pPr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3286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658813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987425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316038" defTabSz="6588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17732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2304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26876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144838" defTabSz="658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1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sz="1400" b="1" i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0" lang="en-US" altLang="zh-CN" sz="1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endParaRPr kumimoji="0" lang="en-US" altLang="zh-CN" sz="1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380" name="Rectangle 86"/>
          <p:cNvSpPr>
            <a:spLocks noChangeAspect="1" noChangeArrowheads="1"/>
          </p:cNvSpPr>
          <p:nvPr/>
        </p:nvSpPr>
        <p:spPr bwMode="auto">
          <a:xfrm>
            <a:off x="7168998" y="4145387"/>
            <a:ext cx="296448" cy="28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5828" tIns="32914" rIns="65828" bIns="32914">
            <a:spAutoFit/>
          </a:bodyPr>
          <a:lstStyle/>
          <a:p>
            <a:pPr defTabSz="658813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</a:t>
            </a:r>
            <a:r>
              <a:rPr kumimoji="1" lang="en-US" altLang="zh-CN" b="1" i="1" dirty="0">
                <a:solidFill>
                  <a:srgbClr val="A50021"/>
                </a:solidFill>
                <a:cs typeface="Times New Roman" panose="02020603050405020304" pitchFamily="18" charset="0"/>
                <a:sym typeface="Symbol" pitchFamily="18" charset="2"/>
              </a:rPr>
              <a:t>d</a:t>
            </a:r>
          </a:p>
        </p:txBody>
      </p:sp>
      <p:sp>
        <p:nvSpPr>
          <p:cNvPr id="381" name="Freeform 80"/>
          <p:cNvSpPr>
            <a:spLocks/>
          </p:cNvSpPr>
          <p:nvPr/>
        </p:nvSpPr>
        <p:spPr bwMode="auto">
          <a:xfrm>
            <a:off x="6933556" y="4392668"/>
            <a:ext cx="489737" cy="889006"/>
          </a:xfrm>
          <a:custGeom>
            <a:avLst/>
            <a:gdLst>
              <a:gd name="T0" fmla="*/ 406 w 406"/>
              <a:gd name="T1" fmla="*/ 0 h 737"/>
              <a:gd name="T2" fmla="*/ 199 w 406"/>
              <a:gd name="T3" fmla="*/ 202 h 737"/>
              <a:gd name="T4" fmla="*/ 0 w 406"/>
              <a:gd name="T5" fmla="*/ 737 h 7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6" h="737">
                <a:moveTo>
                  <a:pt x="406" y="0"/>
                </a:moveTo>
                <a:lnTo>
                  <a:pt x="199" y="202"/>
                </a:lnTo>
                <a:lnTo>
                  <a:pt x="0" y="737"/>
                </a:lnTo>
              </a:path>
            </a:pathLst>
          </a:custGeom>
          <a:noFill/>
          <a:ln w="19050" cap="flat" cmpd="sng">
            <a:solidFill>
              <a:srgbClr val="A5002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cxnSp>
        <p:nvCxnSpPr>
          <p:cNvPr id="382" name="直接连接符 381"/>
          <p:cNvCxnSpPr/>
          <p:nvPr/>
        </p:nvCxnSpPr>
        <p:spPr bwMode="auto">
          <a:xfrm>
            <a:off x="6697774" y="4653157"/>
            <a:ext cx="1781261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3" name="直接连接符 382"/>
          <p:cNvCxnSpPr/>
          <p:nvPr/>
        </p:nvCxnSpPr>
        <p:spPr bwMode="auto">
          <a:xfrm>
            <a:off x="4384444" y="4638578"/>
            <a:ext cx="178887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4" name="直接连接符 383"/>
          <p:cNvCxnSpPr/>
          <p:nvPr/>
        </p:nvCxnSpPr>
        <p:spPr bwMode="auto">
          <a:xfrm>
            <a:off x="2278040" y="4626003"/>
            <a:ext cx="1795159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69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6921" grpId="0" build="p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422" name="Rectangle 118"/>
          <p:cNvSpPr>
            <a:spLocks noChangeArrowheads="1"/>
          </p:cNvSpPr>
          <p:nvPr/>
        </p:nvSpPr>
        <p:spPr bwMode="auto">
          <a:xfrm>
            <a:off x="263525" y="550863"/>
            <a:ext cx="3244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结果修正</a:t>
            </a:r>
            <a:endParaRPr kumimoji="1" lang="en-US" altLang="zh-CN" sz="28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378423" name="Rectangle 119"/>
          <p:cNvSpPr>
            <a:spLocks noChangeArrowheads="1"/>
          </p:cNvSpPr>
          <p:nvPr/>
        </p:nvSpPr>
        <p:spPr bwMode="auto">
          <a:xfrm>
            <a:off x="1901825" y="5795789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378424" name="AutoShape 120"/>
          <p:cNvSpPr>
            <a:spLocks noChangeArrowheads="1"/>
          </p:cNvSpPr>
          <p:nvPr/>
        </p:nvSpPr>
        <p:spPr bwMode="auto">
          <a:xfrm>
            <a:off x="4668837" y="1451389"/>
            <a:ext cx="4256087" cy="2188544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28575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会导致</a:t>
            </a:r>
            <a:r>
              <a:rPr kumimoji="1" lang="en-US" altLang="zh-CN" sz="2200" b="1" i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zh-CN" altLang="en-US" sz="2200" b="1" dirty="0">
                <a:solidFill>
                  <a:srgbClr val="C00000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的计算误差，如：</a:t>
            </a:r>
          </a:p>
          <a:p>
            <a:pPr ea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000" b="1" dirty="0">
              <a:solidFill>
                <a:srgbClr val="000000"/>
              </a:solidFill>
              <a:ea typeface="华文新魏" pitchFamily="2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① 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取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中点下附加应力值，使</a:t>
            </a:r>
            <a:r>
              <a:rPr kumimoji="1"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偏大</a:t>
            </a:r>
          </a:p>
          <a:p>
            <a:pPr ea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② 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侧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限压缩使计算值偏小</a:t>
            </a:r>
          </a:p>
          <a:p>
            <a:pPr ea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③ 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地基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不均匀性导致的误差等</a:t>
            </a:r>
          </a:p>
        </p:txBody>
      </p:sp>
      <p:sp>
        <p:nvSpPr>
          <p:cNvPr id="1378425" name="Rectangle 121"/>
          <p:cNvSpPr>
            <a:spLocks noChangeArrowheads="1"/>
          </p:cNvSpPr>
          <p:nvPr/>
        </p:nvSpPr>
        <p:spPr bwMode="auto">
          <a:xfrm>
            <a:off x="5576888" y="4037426"/>
            <a:ext cx="2986087" cy="1571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365125" indent="-365125"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软粘土（应力集中）</a:t>
            </a:r>
            <a:r>
              <a:rPr kumimoji="1"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偏小, </a:t>
            </a:r>
            <a:r>
              <a:rPr kumimoji="1" lang="en-US" altLang="zh-CN" sz="20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Ψ</a:t>
            </a:r>
            <a:r>
              <a:rPr kumimoji="1" lang="en-US" altLang="zh-CN" sz="20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&gt;1 </a:t>
            </a:r>
          </a:p>
          <a:p>
            <a:pPr marL="365125" indent="-365125">
              <a:spcBef>
                <a:spcPct val="10000"/>
              </a:spcBef>
              <a:spcAft>
                <a:spcPct val="10000"/>
              </a:spcAft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硬粘土（应力扩散）</a:t>
            </a:r>
            <a:r>
              <a:rPr kumimoji="1"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偏大, </a:t>
            </a:r>
            <a:r>
              <a:rPr kumimoji="1" lang="en-US" altLang="zh-CN" sz="20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Ψ</a:t>
            </a:r>
            <a:r>
              <a:rPr kumimoji="1" lang="en-US" altLang="zh-CN" sz="20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&lt;1</a:t>
            </a:r>
            <a:endParaRPr kumimoji="1" lang="zh-CN" altLang="en-US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aphicFrame>
        <p:nvGraphicFramePr>
          <p:cNvPr id="1378426" name="Object 1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3872194"/>
              </p:ext>
            </p:extLst>
          </p:nvPr>
        </p:nvGraphicFramePr>
        <p:xfrm>
          <a:off x="1395413" y="4179888"/>
          <a:ext cx="201453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8499" name="Equation" r:id="rId3" imgW="672840" imgH="215640" progId="Equation.DSMT4">
                  <p:embed/>
                </p:oleObj>
              </mc:Choice>
              <mc:Fallback>
                <p:oleObj name="Equation" r:id="rId3" imgW="672840" imgH="215640" progId="Equation.DSMT4">
                  <p:embed/>
                  <p:pic>
                    <p:nvPicPr>
                      <p:cNvPr id="0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413" y="4179888"/>
                        <a:ext cx="201453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8427" name="Rectangle 123"/>
          <p:cNvSpPr>
            <a:spLocks noChangeArrowheads="1"/>
          </p:cNvSpPr>
          <p:nvPr/>
        </p:nvSpPr>
        <p:spPr bwMode="auto">
          <a:xfrm>
            <a:off x="2066925" y="4983576"/>
            <a:ext cx="2428875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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经验修正系数</a:t>
            </a:r>
          </a:p>
        </p:txBody>
      </p:sp>
      <p:sp>
        <p:nvSpPr>
          <p:cNvPr id="1378428" name="AutoShape 124"/>
          <p:cNvSpPr>
            <a:spLocks noChangeArrowheads="1"/>
          </p:cNvSpPr>
          <p:nvPr/>
        </p:nvSpPr>
        <p:spPr bwMode="auto">
          <a:xfrm>
            <a:off x="319088" y="1287876"/>
            <a:ext cx="3529012" cy="25923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8575">
            <a:solidFill>
              <a:srgbClr val="3333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80000"/>
              <a:buFont typeface="Wingdings" pitchFamily="2" charset="2"/>
              <a:buChar char="¡"/>
            </a:pPr>
            <a:r>
              <a:rPr lang="zh-CN" altLang="en-US" sz="1900" b="1" dirty="0">
                <a:solidFill>
                  <a:srgbClr val="000066"/>
                </a:solidFill>
                <a:latin typeface="Verdana" pitchFamily="34" charset="0"/>
                <a:ea typeface="幼圆" pitchFamily="49" charset="-122"/>
              </a:rPr>
              <a:t>基底压力线性分布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80000"/>
              <a:buFont typeface="Wingdings" pitchFamily="2" charset="2"/>
              <a:buChar char="¡"/>
            </a:pPr>
            <a:r>
              <a:rPr lang="zh-CN" altLang="en-US" sz="1900" b="1" dirty="0">
                <a:solidFill>
                  <a:srgbClr val="000066"/>
                </a:solidFill>
                <a:latin typeface="Verdana" pitchFamily="34" charset="0"/>
                <a:ea typeface="幼圆" pitchFamily="49" charset="-122"/>
              </a:rPr>
              <a:t>弹性附加应力计算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80000"/>
              <a:buFont typeface="Wingdings" pitchFamily="2" charset="2"/>
              <a:buChar char="¡"/>
            </a:pPr>
            <a:r>
              <a:rPr lang="zh-CN" altLang="en-US" sz="1900" b="1" dirty="0">
                <a:solidFill>
                  <a:srgbClr val="000066"/>
                </a:solidFill>
                <a:latin typeface="Verdana" pitchFamily="34" charset="0"/>
                <a:ea typeface="幼圆" pitchFamily="49" charset="-122"/>
              </a:rPr>
              <a:t>单向压缩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80000"/>
              <a:buFont typeface="Wingdings" pitchFamily="2" charset="2"/>
              <a:buChar char="¡"/>
            </a:pPr>
            <a:r>
              <a:rPr lang="zh-CN" altLang="en-US" sz="1900" b="1" dirty="0">
                <a:solidFill>
                  <a:srgbClr val="000066"/>
                </a:solidFill>
                <a:latin typeface="Verdana" pitchFamily="34" charset="0"/>
                <a:ea typeface="幼圆" pitchFamily="49" charset="-122"/>
              </a:rPr>
              <a:t>只计主固结沉降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80000"/>
              <a:buFont typeface="Wingdings" pitchFamily="2" charset="2"/>
              <a:buChar char="¡"/>
            </a:pPr>
            <a:r>
              <a:rPr lang="zh-CN" altLang="en-US" sz="1900" b="1" dirty="0">
                <a:solidFill>
                  <a:srgbClr val="000066"/>
                </a:solidFill>
                <a:latin typeface="Verdana" pitchFamily="34" charset="0"/>
                <a:ea typeface="幼圆" pitchFamily="49" charset="-122"/>
              </a:rPr>
              <a:t>原状土现场取样的扰动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80000"/>
              <a:buFont typeface="Wingdings" pitchFamily="2" charset="2"/>
              <a:buChar char="¡"/>
            </a:pPr>
            <a:r>
              <a:rPr lang="zh-CN" altLang="en-US" sz="1900" b="1" dirty="0">
                <a:solidFill>
                  <a:srgbClr val="000066"/>
                </a:solidFill>
                <a:latin typeface="Verdana" pitchFamily="34" charset="0"/>
                <a:ea typeface="幼圆" pitchFamily="49" charset="-122"/>
              </a:rPr>
              <a:t>参数为常数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80000"/>
              <a:buFont typeface="Wingdings" pitchFamily="2" charset="2"/>
              <a:buChar char="¡"/>
            </a:pPr>
            <a:r>
              <a:rPr lang="zh-CN" altLang="en-US" sz="1900" b="1" dirty="0">
                <a:solidFill>
                  <a:srgbClr val="000066"/>
                </a:solidFill>
                <a:latin typeface="Verdana" pitchFamily="34" charset="0"/>
                <a:ea typeface="幼圆" pitchFamily="49" charset="-122"/>
              </a:rPr>
              <a:t>按中点下附加应力计算</a:t>
            </a:r>
          </a:p>
        </p:txBody>
      </p:sp>
      <p:sp>
        <p:nvSpPr>
          <p:cNvPr id="1378429" name="AutoShape 125"/>
          <p:cNvSpPr>
            <a:spLocks noChangeArrowheads="1"/>
          </p:cNvSpPr>
          <p:nvPr/>
        </p:nvSpPr>
        <p:spPr bwMode="auto">
          <a:xfrm>
            <a:off x="4014788" y="2356264"/>
            <a:ext cx="549275" cy="496887"/>
          </a:xfrm>
          <a:prstGeom prst="homePlate">
            <a:avLst>
              <a:gd name="adj" fmla="val 29616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8430" name="AutoShape 126"/>
          <p:cNvSpPr>
            <a:spLocks noChangeArrowheads="1"/>
          </p:cNvSpPr>
          <p:nvPr/>
        </p:nvSpPr>
        <p:spPr bwMode="auto">
          <a:xfrm>
            <a:off x="631825" y="4218401"/>
            <a:ext cx="549275" cy="496888"/>
          </a:xfrm>
          <a:prstGeom prst="homePlate">
            <a:avLst>
              <a:gd name="adj" fmla="val 29616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8431" name="AutoShape 127"/>
          <p:cNvSpPr>
            <a:spLocks/>
          </p:cNvSpPr>
          <p:nvPr/>
        </p:nvSpPr>
        <p:spPr bwMode="auto">
          <a:xfrm>
            <a:off x="5059363" y="4240626"/>
            <a:ext cx="441325" cy="1265238"/>
          </a:xfrm>
          <a:prstGeom prst="leftBrace">
            <a:avLst>
              <a:gd name="adj1" fmla="val 23891"/>
              <a:gd name="adj2" fmla="val 50000"/>
            </a:avLst>
          </a:prstGeom>
          <a:noFill/>
          <a:ln w="2857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分层总和法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8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84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78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78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78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78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78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78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78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37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784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78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784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784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784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6" dur="500"/>
                                        <p:tgtEl>
                                          <p:spTgt spid="1378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7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78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8" dur="1000"/>
                                        <p:tgtEl>
                                          <p:spTgt spid="137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78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4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3784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8422" grpId="0" build="p" autoUpdateAnimBg="0"/>
      <p:bldP spid="1378424" grpId="0" build="p" animBg="1" autoUpdateAnimBg="0"/>
      <p:bldP spid="1378425" grpId="0" build="p" autoUpdateAnimBg="0"/>
      <p:bldP spid="1378427" grpId="0" build="p" autoUpdateAnimBg="0" advAuto="0"/>
      <p:bldP spid="1378428" grpId="0" build="p" animBg="1"/>
      <p:bldP spid="1378429" grpId="0" animBg="1"/>
      <p:bldP spid="1378430" grpId="0" animBg="1"/>
      <p:bldP spid="1378431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412" name="Rectangle 4"/>
          <p:cNvSpPr>
            <a:spLocks noChangeArrowheads="1"/>
          </p:cNvSpPr>
          <p:nvPr/>
        </p:nvSpPr>
        <p:spPr bwMode="auto">
          <a:xfrm>
            <a:off x="1901825" y="5698131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553455" name="Rectangle 47"/>
          <p:cNvSpPr>
            <a:spLocks noChangeArrowheads="1"/>
          </p:cNvSpPr>
          <p:nvPr/>
        </p:nvSpPr>
        <p:spPr bwMode="auto">
          <a:xfrm>
            <a:off x="168275" y="598488"/>
            <a:ext cx="6034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结果修正</a:t>
            </a:r>
            <a:endParaRPr kumimoji="1" lang="en-US" altLang="zh-CN" sz="28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553457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942117"/>
              </p:ext>
            </p:extLst>
          </p:nvPr>
        </p:nvGraphicFramePr>
        <p:xfrm>
          <a:off x="6240463" y="1560513"/>
          <a:ext cx="1346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767" name="Equation" r:id="rId4" imgW="672840" imgH="215640" progId="Equation.DSMT4">
                  <p:embed/>
                </p:oleObj>
              </mc:Choice>
              <mc:Fallback>
                <p:oleObj name="Equation" r:id="rId4" imgW="672840" imgH="215640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1560513"/>
                        <a:ext cx="1346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3458" name="Rectangle 50"/>
          <p:cNvSpPr>
            <a:spLocks noChangeArrowheads="1"/>
          </p:cNvSpPr>
          <p:nvPr/>
        </p:nvSpPr>
        <p:spPr bwMode="auto">
          <a:xfrm>
            <a:off x="6048375" y="2346325"/>
            <a:ext cx="2857500" cy="238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20000"/>
              </a:spcBef>
              <a:spcAft>
                <a:spcPct val="2500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经验修正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系数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/>
            </a:r>
            <a:b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</a:b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  </a:t>
            </a:r>
            <a:r>
              <a:rPr kumimoji="1" lang="zh-CN" altLang="en-US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</a:t>
            </a:r>
            <a:r>
              <a:rPr kumimoji="1"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=1.4-0.2 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与土质软硬有关</a:t>
            </a:r>
          </a:p>
          <a:p>
            <a:pPr marL="342900" indent="-34290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与基底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附加应力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/>
            </a:r>
            <a:b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</a:b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p</a:t>
            </a:r>
            <a:r>
              <a:rPr kumimoji="1" lang="en-US" altLang="zh-CN" sz="2400" b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4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/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的大小有关</a:t>
            </a:r>
          </a:p>
        </p:txBody>
      </p:sp>
      <p:grpSp>
        <p:nvGrpSpPr>
          <p:cNvPr id="1553459" name="Group 51"/>
          <p:cNvGrpSpPr>
            <a:grpSpLocks/>
          </p:cNvGrpSpPr>
          <p:nvPr/>
        </p:nvGrpSpPr>
        <p:grpSpPr bwMode="auto">
          <a:xfrm>
            <a:off x="482600" y="1200150"/>
            <a:ext cx="5045075" cy="4222750"/>
            <a:chOff x="344" y="816"/>
            <a:chExt cx="3178" cy="2660"/>
          </a:xfrm>
        </p:grpSpPr>
        <p:sp>
          <p:nvSpPr>
            <p:cNvPr id="1553460" name="Rectangle 52"/>
            <p:cNvSpPr>
              <a:spLocks noChangeArrowheads="1"/>
            </p:cNvSpPr>
            <p:nvPr/>
          </p:nvSpPr>
          <p:spPr bwMode="auto">
            <a:xfrm>
              <a:off x="344" y="816"/>
              <a:ext cx="3178" cy="26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3461" name="Rectangle 53"/>
            <p:cNvSpPr>
              <a:spLocks noChangeArrowheads="1"/>
            </p:cNvSpPr>
            <p:nvPr/>
          </p:nvSpPr>
          <p:spPr bwMode="auto">
            <a:xfrm>
              <a:off x="2955" y="1608"/>
              <a:ext cx="4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A50021"/>
                  </a:solidFill>
                </a:rPr>
                <a:t>20.0</a:t>
              </a:r>
            </a:p>
          </p:txBody>
        </p:sp>
        <p:sp>
          <p:nvSpPr>
            <p:cNvPr id="1553462" name="Rectangle 54"/>
            <p:cNvSpPr>
              <a:spLocks noChangeArrowheads="1"/>
            </p:cNvSpPr>
            <p:nvPr/>
          </p:nvSpPr>
          <p:spPr bwMode="auto">
            <a:xfrm>
              <a:off x="2504" y="1608"/>
              <a:ext cx="4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A50021"/>
                  </a:solidFill>
                </a:rPr>
                <a:t>15.0</a:t>
              </a:r>
              <a:endParaRPr lang="zh-CN" altLang="en-US" sz="1900" b="1">
                <a:solidFill>
                  <a:srgbClr val="A50021"/>
                </a:solidFill>
              </a:endParaRPr>
            </a:p>
          </p:txBody>
        </p:sp>
        <p:sp>
          <p:nvSpPr>
            <p:cNvPr id="1553463" name="Rectangle 55"/>
            <p:cNvSpPr>
              <a:spLocks noChangeArrowheads="1"/>
            </p:cNvSpPr>
            <p:nvPr/>
          </p:nvSpPr>
          <p:spPr bwMode="auto">
            <a:xfrm>
              <a:off x="2130" y="1608"/>
              <a:ext cx="3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A50021"/>
                  </a:solidFill>
                </a:rPr>
                <a:t>7.0</a:t>
              </a:r>
            </a:p>
          </p:txBody>
        </p:sp>
        <p:sp>
          <p:nvSpPr>
            <p:cNvPr id="1553464" name="Rectangle 56"/>
            <p:cNvSpPr>
              <a:spLocks noChangeArrowheads="1"/>
            </p:cNvSpPr>
            <p:nvPr/>
          </p:nvSpPr>
          <p:spPr bwMode="auto">
            <a:xfrm>
              <a:off x="1746" y="160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A50021"/>
                  </a:solidFill>
                </a:rPr>
                <a:t>4.0</a:t>
              </a:r>
            </a:p>
          </p:txBody>
        </p:sp>
        <p:sp>
          <p:nvSpPr>
            <p:cNvPr id="1553465" name="Rectangle 57"/>
            <p:cNvSpPr>
              <a:spLocks noChangeArrowheads="1"/>
            </p:cNvSpPr>
            <p:nvPr/>
          </p:nvSpPr>
          <p:spPr bwMode="auto">
            <a:xfrm>
              <a:off x="1352" y="1608"/>
              <a:ext cx="3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A50021"/>
                  </a:solidFill>
                </a:rPr>
                <a:t>2.5</a:t>
              </a:r>
            </a:p>
          </p:txBody>
        </p:sp>
        <p:sp>
          <p:nvSpPr>
            <p:cNvPr id="1553466" name="Rectangle 58"/>
            <p:cNvSpPr>
              <a:spLocks noChangeArrowheads="1"/>
            </p:cNvSpPr>
            <p:nvPr/>
          </p:nvSpPr>
          <p:spPr bwMode="auto">
            <a:xfrm>
              <a:off x="2955" y="2183"/>
              <a:ext cx="44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000066"/>
                  </a:solidFill>
                </a:rPr>
                <a:t>0.2</a:t>
              </a:r>
            </a:p>
          </p:txBody>
        </p:sp>
        <p:sp>
          <p:nvSpPr>
            <p:cNvPr id="1553467" name="Rectangle 59"/>
            <p:cNvSpPr>
              <a:spLocks noChangeArrowheads="1"/>
            </p:cNvSpPr>
            <p:nvPr/>
          </p:nvSpPr>
          <p:spPr bwMode="auto">
            <a:xfrm>
              <a:off x="2504" y="2183"/>
              <a:ext cx="45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000066"/>
                  </a:solidFill>
                </a:rPr>
                <a:t>0.4</a:t>
              </a:r>
            </a:p>
          </p:txBody>
        </p:sp>
        <p:sp>
          <p:nvSpPr>
            <p:cNvPr id="1553468" name="Rectangle 60"/>
            <p:cNvSpPr>
              <a:spLocks noChangeArrowheads="1"/>
            </p:cNvSpPr>
            <p:nvPr/>
          </p:nvSpPr>
          <p:spPr bwMode="auto">
            <a:xfrm>
              <a:off x="2130" y="2183"/>
              <a:ext cx="37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000066"/>
                  </a:solidFill>
                </a:rPr>
                <a:t>0.7</a:t>
              </a:r>
            </a:p>
          </p:txBody>
        </p:sp>
        <p:sp>
          <p:nvSpPr>
            <p:cNvPr id="1553469" name="Rectangle 61"/>
            <p:cNvSpPr>
              <a:spLocks noChangeArrowheads="1"/>
            </p:cNvSpPr>
            <p:nvPr/>
          </p:nvSpPr>
          <p:spPr bwMode="auto">
            <a:xfrm>
              <a:off x="1746" y="2183"/>
              <a:ext cx="38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000066"/>
                  </a:solidFill>
                </a:rPr>
                <a:t>1.0</a:t>
              </a:r>
            </a:p>
          </p:txBody>
        </p:sp>
        <p:sp>
          <p:nvSpPr>
            <p:cNvPr id="1553470" name="Rectangle 62"/>
            <p:cNvSpPr>
              <a:spLocks noChangeArrowheads="1"/>
            </p:cNvSpPr>
            <p:nvPr/>
          </p:nvSpPr>
          <p:spPr bwMode="auto">
            <a:xfrm>
              <a:off x="1352" y="2183"/>
              <a:ext cx="39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000066"/>
                  </a:solidFill>
                </a:rPr>
                <a:t>1.1</a:t>
              </a:r>
            </a:p>
          </p:txBody>
        </p:sp>
        <p:sp>
          <p:nvSpPr>
            <p:cNvPr id="1553471" name="Rectangle 63"/>
            <p:cNvSpPr>
              <a:spLocks noChangeArrowheads="1"/>
            </p:cNvSpPr>
            <p:nvPr/>
          </p:nvSpPr>
          <p:spPr bwMode="auto">
            <a:xfrm>
              <a:off x="473" y="2183"/>
              <a:ext cx="90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 i="1" dirty="0">
                  <a:solidFill>
                    <a:srgbClr val="000066"/>
                  </a:solidFill>
                </a:rPr>
                <a:t>p</a:t>
              </a:r>
              <a:r>
                <a:rPr lang="en-US" altLang="zh-CN" sz="1900" b="1" baseline="-25000" dirty="0">
                  <a:solidFill>
                    <a:srgbClr val="000066"/>
                  </a:solidFill>
                </a:rPr>
                <a:t>0</a:t>
              </a:r>
              <a:r>
                <a:rPr lang="en-US" altLang="zh-CN" sz="1900" b="1" dirty="0">
                  <a:solidFill>
                    <a:srgbClr val="000066"/>
                  </a:solidFill>
                </a:rPr>
                <a:t> </a:t>
              </a:r>
              <a:r>
                <a:rPr lang="en-US" altLang="zh-CN" sz="1900" b="1" dirty="0" smtClean="0">
                  <a:solidFill>
                    <a:srgbClr val="000066"/>
                  </a:solidFill>
                  <a:sym typeface="Symbol" pitchFamily="18" charset="2"/>
                </a:rPr>
                <a:t> 0.75 </a:t>
              </a:r>
              <a:r>
                <a:rPr lang="en-US" altLang="zh-CN" sz="1900" b="1" i="1" dirty="0" err="1">
                  <a:solidFill>
                    <a:srgbClr val="000066"/>
                  </a:solidFill>
                  <a:sym typeface="Symbol" pitchFamily="18" charset="2"/>
                </a:rPr>
                <a:t>f</a:t>
              </a:r>
              <a:r>
                <a:rPr lang="en-US" altLang="zh-CN" sz="1900" b="1" baseline="-25000" dirty="0" err="1">
                  <a:solidFill>
                    <a:srgbClr val="000066"/>
                  </a:solidFill>
                  <a:sym typeface="Symbol" pitchFamily="18" charset="2"/>
                </a:rPr>
                <a:t>k</a:t>
              </a:r>
              <a:endParaRPr lang="en-US" altLang="zh-CN" sz="1900" b="1" baseline="-25000" dirty="0">
                <a:solidFill>
                  <a:srgbClr val="000066"/>
                </a:solidFill>
                <a:sym typeface="Symbol" pitchFamily="18" charset="2"/>
              </a:endParaRPr>
            </a:p>
          </p:txBody>
        </p:sp>
        <p:sp>
          <p:nvSpPr>
            <p:cNvPr id="1553472" name="Rectangle 64"/>
            <p:cNvSpPr>
              <a:spLocks noChangeArrowheads="1"/>
            </p:cNvSpPr>
            <p:nvPr/>
          </p:nvSpPr>
          <p:spPr bwMode="auto">
            <a:xfrm>
              <a:off x="2955" y="1896"/>
              <a:ext cx="44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000066"/>
                  </a:solidFill>
                </a:rPr>
                <a:t>0.2</a:t>
              </a:r>
            </a:p>
          </p:txBody>
        </p:sp>
        <p:sp>
          <p:nvSpPr>
            <p:cNvPr id="1553473" name="Rectangle 65"/>
            <p:cNvSpPr>
              <a:spLocks noChangeArrowheads="1"/>
            </p:cNvSpPr>
            <p:nvPr/>
          </p:nvSpPr>
          <p:spPr bwMode="auto">
            <a:xfrm>
              <a:off x="2504" y="1896"/>
              <a:ext cx="45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000066"/>
                  </a:solidFill>
                </a:rPr>
                <a:t>0.4</a:t>
              </a:r>
            </a:p>
          </p:txBody>
        </p:sp>
        <p:sp>
          <p:nvSpPr>
            <p:cNvPr id="1553474" name="Rectangle 66"/>
            <p:cNvSpPr>
              <a:spLocks noChangeArrowheads="1"/>
            </p:cNvSpPr>
            <p:nvPr/>
          </p:nvSpPr>
          <p:spPr bwMode="auto">
            <a:xfrm>
              <a:off x="2130" y="1896"/>
              <a:ext cx="37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000066"/>
                  </a:solidFill>
                </a:rPr>
                <a:t>1.0</a:t>
              </a:r>
            </a:p>
          </p:txBody>
        </p:sp>
        <p:sp>
          <p:nvSpPr>
            <p:cNvPr id="1553475" name="Rectangle 67"/>
            <p:cNvSpPr>
              <a:spLocks noChangeArrowheads="1"/>
            </p:cNvSpPr>
            <p:nvPr/>
          </p:nvSpPr>
          <p:spPr bwMode="auto">
            <a:xfrm>
              <a:off x="1746" y="1896"/>
              <a:ext cx="38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000066"/>
                  </a:solidFill>
                </a:rPr>
                <a:t>1.3</a:t>
              </a:r>
            </a:p>
          </p:txBody>
        </p:sp>
        <p:sp>
          <p:nvSpPr>
            <p:cNvPr id="1553476" name="Rectangle 68"/>
            <p:cNvSpPr>
              <a:spLocks noChangeArrowheads="1"/>
            </p:cNvSpPr>
            <p:nvPr/>
          </p:nvSpPr>
          <p:spPr bwMode="auto">
            <a:xfrm>
              <a:off x="1352" y="1896"/>
              <a:ext cx="394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>
                  <a:solidFill>
                    <a:srgbClr val="000066"/>
                  </a:solidFill>
                </a:rPr>
                <a:t>1.4</a:t>
              </a:r>
            </a:p>
          </p:txBody>
        </p:sp>
        <p:sp>
          <p:nvSpPr>
            <p:cNvPr id="1553477" name="Rectangle 69"/>
            <p:cNvSpPr>
              <a:spLocks noChangeArrowheads="1"/>
            </p:cNvSpPr>
            <p:nvPr/>
          </p:nvSpPr>
          <p:spPr bwMode="auto">
            <a:xfrm>
              <a:off x="449" y="1896"/>
              <a:ext cx="90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en-US" altLang="zh-CN" sz="1900" b="1" dirty="0">
                  <a:solidFill>
                    <a:srgbClr val="000066"/>
                  </a:solidFill>
                </a:rPr>
                <a:t>     </a:t>
              </a:r>
              <a:r>
                <a:rPr lang="en-US" altLang="zh-CN" sz="1900" b="1" i="1" dirty="0" smtClean="0">
                  <a:solidFill>
                    <a:srgbClr val="000066"/>
                  </a:solidFill>
                </a:rPr>
                <a:t>p</a:t>
              </a:r>
              <a:r>
                <a:rPr lang="en-US" altLang="zh-CN" sz="1900" b="1" baseline="-25000" dirty="0" smtClean="0">
                  <a:solidFill>
                    <a:srgbClr val="000066"/>
                  </a:solidFill>
                </a:rPr>
                <a:t>0</a:t>
              </a:r>
              <a:r>
                <a:rPr lang="en-US" altLang="zh-CN" sz="1900" b="1" i="1" baseline="-25000" dirty="0" smtClean="0">
                  <a:solidFill>
                    <a:srgbClr val="000066"/>
                  </a:solidFill>
                </a:rPr>
                <a:t> </a:t>
              </a:r>
              <a:r>
                <a:rPr lang="en-US" altLang="zh-CN" sz="1900" b="1" dirty="0" smtClean="0">
                  <a:solidFill>
                    <a:srgbClr val="000066"/>
                  </a:solidFill>
                  <a:sym typeface="Symbol" pitchFamily="18" charset="2"/>
                </a:rPr>
                <a:t> </a:t>
              </a:r>
              <a:r>
                <a:rPr lang="en-US" altLang="zh-CN" sz="1900" b="1" i="1" dirty="0" err="1" smtClean="0">
                  <a:solidFill>
                    <a:srgbClr val="000066"/>
                  </a:solidFill>
                  <a:sym typeface="Symbol" pitchFamily="18" charset="2"/>
                </a:rPr>
                <a:t>f</a:t>
              </a:r>
              <a:r>
                <a:rPr lang="en-US" altLang="zh-CN" sz="1900" b="1" baseline="-25000" dirty="0" err="1" smtClean="0">
                  <a:solidFill>
                    <a:srgbClr val="000066"/>
                  </a:solidFill>
                  <a:sym typeface="Symbol" pitchFamily="18" charset="2"/>
                </a:rPr>
                <a:t>k</a:t>
              </a:r>
              <a:endParaRPr lang="en-US" altLang="zh-CN" sz="1900" b="1" baseline="-25000" dirty="0">
                <a:solidFill>
                  <a:srgbClr val="000066"/>
                </a:solidFill>
              </a:endParaRPr>
            </a:p>
          </p:txBody>
        </p:sp>
        <p:sp>
          <p:nvSpPr>
            <p:cNvPr id="1553478" name="Rectangle 70"/>
            <p:cNvSpPr>
              <a:spLocks noChangeArrowheads="1"/>
            </p:cNvSpPr>
            <p:nvPr/>
          </p:nvSpPr>
          <p:spPr bwMode="auto">
            <a:xfrm>
              <a:off x="1352" y="1291"/>
              <a:ext cx="2045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endParaRPr lang="en-US" altLang="zh-CN" sz="1900" b="1" baseline="-25000">
                <a:solidFill>
                  <a:srgbClr val="000066"/>
                </a:solidFill>
              </a:endParaRPr>
            </a:p>
          </p:txBody>
        </p:sp>
        <p:sp>
          <p:nvSpPr>
            <p:cNvPr id="1553479" name="Rectangle 71"/>
            <p:cNvSpPr>
              <a:spLocks noChangeArrowheads="1"/>
            </p:cNvSpPr>
            <p:nvPr/>
          </p:nvSpPr>
          <p:spPr bwMode="auto">
            <a:xfrm>
              <a:off x="449" y="1291"/>
              <a:ext cx="903" cy="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288000" rIns="90000" bIns="46800"/>
            <a:lstStyle/>
            <a:p>
              <a:pPr algn="ctr" fontAlgn="ctr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70000"/>
                <a:buFont typeface="Wingdings" pitchFamily="2" charset="2"/>
                <a:buNone/>
              </a:pPr>
              <a:r>
                <a:rPr lang="zh-CN" altLang="en-US" sz="1900" b="1">
                  <a:solidFill>
                    <a:srgbClr val="000066"/>
                  </a:solidFill>
                  <a:ea typeface="幼圆" pitchFamily="49" charset="-122"/>
                </a:rPr>
                <a:t>基底</a:t>
              </a:r>
              <a:br>
                <a:rPr lang="zh-CN" altLang="en-US" sz="1900" b="1">
                  <a:solidFill>
                    <a:srgbClr val="000066"/>
                  </a:solidFill>
                  <a:ea typeface="幼圆" pitchFamily="49" charset="-122"/>
                </a:rPr>
              </a:br>
              <a:r>
                <a:rPr lang="zh-CN" altLang="en-US" sz="1900" b="1">
                  <a:solidFill>
                    <a:srgbClr val="000066"/>
                  </a:solidFill>
                  <a:ea typeface="幼圆" pitchFamily="49" charset="-122"/>
                </a:rPr>
                <a:t>附加应力</a:t>
              </a:r>
            </a:p>
          </p:txBody>
        </p:sp>
        <p:sp>
          <p:nvSpPr>
            <p:cNvPr id="1553480" name="Line 72"/>
            <p:cNvSpPr>
              <a:spLocks noChangeShapeType="1"/>
            </p:cNvSpPr>
            <p:nvPr/>
          </p:nvSpPr>
          <p:spPr bwMode="auto">
            <a:xfrm>
              <a:off x="449" y="1291"/>
              <a:ext cx="9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3481" name="Line 73"/>
            <p:cNvSpPr>
              <a:spLocks noChangeShapeType="1"/>
            </p:cNvSpPr>
            <p:nvPr/>
          </p:nvSpPr>
          <p:spPr bwMode="auto">
            <a:xfrm>
              <a:off x="449" y="2183"/>
              <a:ext cx="29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3482" name="Line 74"/>
            <p:cNvSpPr>
              <a:spLocks noChangeShapeType="1"/>
            </p:cNvSpPr>
            <p:nvPr/>
          </p:nvSpPr>
          <p:spPr bwMode="auto">
            <a:xfrm>
              <a:off x="449" y="2470"/>
              <a:ext cx="29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3483" name="Line 75"/>
            <p:cNvSpPr>
              <a:spLocks noChangeShapeType="1"/>
            </p:cNvSpPr>
            <p:nvPr/>
          </p:nvSpPr>
          <p:spPr bwMode="auto">
            <a:xfrm>
              <a:off x="449" y="1291"/>
              <a:ext cx="0" cy="6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3484" name="Line 76"/>
            <p:cNvSpPr>
              <a:spLocks noChangeShapeType="1"/>
            </p:cNvSpPr>
            <p:nvPr/>
          </p:nvSpPr>
          <p:spPr bwMode="auto">
            <a:xfrm>
              <a:off x="1352" y="1291"/>
              <a:ext cx="0" cy="11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3485" name="Line 77"/>
            <p:cNvSpPr>
              <a:spLocks noChangeShapeType="1"/>
            </p:cNvSpPr>
            <p:nvPr/>
          </p:nvSpPr>
          <p:spPr bwMode="auto">
            <a:xfrm>
              <a:off x="3397" y="1291"/>
              <a:ext cx="0" cy="117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3486" name="Line 78"/>
            <p:cNvSpPr>
              <a:spLocks noChangeShapeType="1"/>
            </p:cNvSpPr>
            <p:nvPr/>
          </p:nvSpPr>
          <p:spPr bwMode="auto">
            <a:xfrm>
              <a:off x="449" y="1896"/>
              <a:ext cx="29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53487" name="Line 79"/>
            <p:cNvSpPr>
              <a:spLocks noChangeShapeType="1"/>
            </p:cNvSpPr>
            <p:nvPr/>
          </p:nvSpPr>
          <p:spPr bwMode="auto">
            <a:xfrm>
              <a:off x="1352" y="1291"/>
              <a:ext cx="204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3488" name="Line 80"/>
            <p:cNvSpPr>
              <a:spLocks noChangeShapeType="1"/>
            </p:cNvSpPr>
            <p:nvPr/>
          </p:nvSpPr>
          <p:spPr bwMode="auto">
            <a:xfrm>
              <a:off x="449" y="1896"/>
              <a:ext cx="0" cy="57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3489" name="Line 81"/>
            <p:cNvSpPr>
              <a:spLocks noChangeShapeType="1"/>
            </p:cNvSpPr>
            <p:nvPr/>
          </p:nvSpPr>
          <p:spPr bwMode="auto">
            <a:xfrm>
              <a:off x="1746" y="1608"/>
              <a:ext cx="0" cy="8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3490" name="Line 82"/>
            <p:cNvSpPr>
              <a:spLocks noChangeShapeType="1"/>
            </p:cNvSpPr>
            <p:nvPr/>
          </p:nvSpPr>
          <p:spPr bwMode="auto">
            <a:xfrm>
              <a:off x="2130" y="1608"/>
              <a:ext cx="0" cy="8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3491" name="Line 83"/>
            <p:cNvSpPr>
              <a:spLocks noChangeShapeType="1"/>
            </p:cNvSpPr>
            <p:nvPr/>
          </p:nvSpPr>
          <p:spPr bwMode="auto">
            <a:xfrm>
              <a:off x="2504" y="1608"/>
              <a:ext cx="0" cy="8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3492" name="Line 84"/>
            <p:cNvSpPr>
              <a:spLocks noChangeShapeType="1"/>
            </p:cNvSpPr>
            <p:nvPr/>
          </p:nvSpPr>
          <p:spPr bwMode="auto">
            <a:xfrm>
              <a:off x="2955" y="1608"/>
              <a:ext cx="0" cy="8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3493" name="Line 85"/>
            <p:cNvSpPr>
              <a:spLocks noChangeShapeType="1"/>
            </p:cNvSpPr>
            <p:nvPr/>
          </p:nvSpPr>
          <p:spPr bwMode="auto">
            <a:xfrm>
              <a:off x="1352" y="1608"/>
              <a:ext cx="20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53494" name="Text Box 86"/>
            <p:cNvSpPr txBox="1">
              <a:spLocks noChangeArrowheads="1"/>
            </p:cNvSpPr>
            <p:nvPr/>
          </p:nvSpPr>
          <p:spPr bwMode="auto">
            <a:xfrm>
              <a:off x="767" y="973"/>
              <a:ext cx="213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</a:rPr>
                <a:t>表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ea typeface="幼圆" pitchFamily="49" charset="-122"/>
                </a:rPr>
                <a:t>4-6  </a:t>
              </a: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</a:rPr>
                <a:t>沉降计算经验系数</a:t>
              </a:r>
              <a:r>
                <a:rPr kumimoji="1" lang="zh-CN" altLang="en-US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</a:t>
              </a:r>
              <a:r>
                <a:rPr kumimoji="1" lang="en-US" altLang="zh-CN" sz="20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s</a:t>
              </a:r>
            </a:p>
          </p:txBody>
        </p:sp>
        <p:graphicFrame>
          <p:nvGraphicFramePr>
            <p:cNvPr id="1553495" name="Object 8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640489"/>
                </p:ext>
              </p:extLst>
            </p:nvPr>
          </p:nvGraphicFramePr>
          <p:xfrm>
            <a:off x="2392" y="1322"/>
            <a:ext cx="26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3768" name="Equation" r:id="rId6" imgW="203040" imgH="241200" progId="Equation.DSMT4">
                    <p:embed/>
                  </p:oleObj>
                </mc:Choice>
                <mc:Fallback>
                  <p:oleObj name="Equation" r:id="rId6" imgW="203040" imgH="241200" progId="Equation.DSMT4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2" y="1322"/>
                          <a:ext cx="26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53496" name="Object 8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261680"/>
                </p:ext>
              </p:extLst>
            </p:nvPr>
          </p:nvGraphicFramePr>
          <p:xfrm>
            <a:off x="369" y="2609"/>
            <a:ext cx="1271" cy="4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3769" name="Equation" r:id="rId8" imgW="1206360" imgH="444240" progId="Equation.DSMT4">
                    <p:embed/>
                  </p:oleObj>
                </mc:Choice>
                <mc:Fallback>
                  <p:oleObj name="Equation" r:id="rId8" imgW="1206360" imgH="444240" progId="Equation.DSMT4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" y="2609"/>
                          <a:ext cx="1271" cy="4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53497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4873019"/>
                </p:ext>
              </p:extLst>
            </p:nvPr>
          </p:nvGraphicFramePr>
          <p:xfrm>
            <a:off x="1771" y="2697"/>
            <a:ext cx="169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3770" name="Equation" r:id="rId10" imgW="1434960" imgH="228600" progId="Equation.DSMT4">
                    <p:embed/>
                  </p:oleObj>
                </mc:Choice>
                <mc:Fallback>
                  <p:oleObj name="Equation" r:id="rId10" imgW="1434960" imgH="228600" progId="Equation.DSMT4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1" y="2697"/>
                          <a:ext cx="169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3498" name="Text Box 90"/>
            <p:cNvSpPr txBox="1">
              <a:spLocks noChangeArrowheads="1"/>
            </p:cNvSpPr>
            <p:nvPr/>
          </p:nvSpPr>
          <p:spPr bwMode="auto">
            <a:xfrm>
              <a:off x="407" y="3095"/>
              <a:ext cx="169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err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f</a:t>
              </a:r>
              <a:r>
                <a:rPr kumimoji="1" lang="en-US" altLang="zh-CN" sz="2000" b="1" baseline="-25000" dirty="0" err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k</a:t>
              </a: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：地基承载力标准值</a:t>
              </a:r>
            </a:p>
          </p:txBody>
        </p:sp>
      </p:grpSp>
      <p:sp>
        <p:nvSpPr>
          <p:cNvPr id="4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分层总和法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3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55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53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53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53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53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53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53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53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53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53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53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3455" grpId="0" build="p" autoUpdateAnimBg="0"/>
      <p:bldP spid="1553458" grpId="0" build="p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85" name="Rectangle 5"/>
          <p:cNvSpPr>
            <a:spLocks noChangeArrowheads="1"/>
          </p:cNvSpPr>
          <p:nvPr/>
        </p:nvSpPr>
        <p:spPr bwMode="auto">
          <a:xfrm>
            <a:off x="1901825" y="5698131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地基最终沉降量分层总和法</a:t>
            </a:r>
          </a:p>
        </p:txBody>
      </p:sp>
      <p:sp>
        <p:nvSpPr>
          <p:cNvPr id="1607686" name="Text Box 6"/>
          <p:cNvSpPr txBox="1">
            <a:spLocks noChangeArrowheads="1"/>
          </p:cNvSpPr>
          <p:nvPr/>
        </p:nvSpPr>
        <p:spPr bwMode="auto">
          <a:xfrm>
            <a:off x="1435100" y="674688"/>
            <a:ext cx="6356350" cy="260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结构工程是这样一门艺术：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使用材料，这些材料只能近似估算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建立真实的结构，这些真实的结构只能近似的分析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来承受外力，这些外力不能准确得知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以满足我们对公众安全职责的要求。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 b="1" dirty="0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                       </a:t>
            </a:r>
            <a:r>
              <a:rPr lang="en-US" altLang="zh-CN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- </a:t>
            </a:r>
            <a:r>
              <a:rPr lang="zh-CN" altLang="en-US" sz="20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改编自一位不知名作者</a:t>
            </a:r>
          </a:p>
        </p:txBody>
      </p:sp>
      <p:sp>
        <p:nvSpPr>
          <p:cNvPr id="1607687" name="Text Box 7"/>
          <p:cNvSpPr txBox="1">
            <a:spLocks noChangeArrowheads="1"/>
          </p:cNvSpPr>
          <p:nvPr/>
        </p:nvSpPr>
        <p:spPr bwMode="auto">
          <a:xfrm>
            <a:off x="1119188" y="3562350"/>
            <a:ext cx="7658100" cy="1864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indent="542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22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kumimoji="0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无论天然土层结构怎样复杂，也无论我们的知识与土的实际条件有多么大的差距，我们必须利用处理问题的艺术（</a:t>
            </a:r>
            <a:r>
              <a:rPr kumimoji="0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art</a:t>
            </a:r>
            <a:r>
              <a:rPr kumimoji="0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），在合理造价的前提下，为土工结构和地基基础问题寻求满意的答案。</a:t>
            </a:r>
          </a:p>
          <a:p>
            <a:pPr>
              <a:lnSpc>
                <a:spcPct val="100000"/>
              </a:lnSpc>
            </a:pPr>
            <a:endParaRPr kumimoji="0" lang="zh-CN" altLang="en-US" sz="20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kumimoji="0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                         </a:t>
            </a:r>
            <a:r>
              <a:rPr kumimoji="0" lang="zh-CN" altLang="en-US" sz="20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               </a:t>
            </a:r>
            <a:r>
              <a:rPr kumimoji="0" lang="en-US" altLang="zh-CN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 </a:t>
            </a:r>
            <a:r>
              <a:rPr kumimoji="0" lang="zh-CN" altLang="en-US" sz="20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太沙基</a:t>
            </a:r>
          </a:p>
        </p:txBody>
      </p:sp>
      <p:sp>
        <p:nvSpPr>
          <p:cNvPr id="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分层总和法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435" name="AutoShape 3"/>
          <p:cNvSpPr>
            <a:spLocks noChangeArrowheads="1"/>
          </p:cNvSpPr>
          <p:nvPr/>
        </p:nvSpPr>
        <p:spPr bwMode="auto">
          <a:xfrm>
            <a:off x="488950" y="1057275"/>
            <a:ext cx="1966913" cy="49688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① 准备资料</a:t>
            </a:r>
          </a:p>
        </p:txBody>
      </p:sp>
      <p:sp>
        <p:nvSpPr>
          <p:cNvPr id="1554436" name="AutoShape 4"/>
          <p:cNvSpPr>
            <a:spLocks noChangeArrowheads="1"/>
          </p:cNvSpPr>
          <p:nvPr/>
        </p:nvSpPr>
        <p:spPr bwMode="auto">
          <a:xfrm>
            <a:off x="488950" y="2209800"/>
            <a:ext cx="1966913" cy="49688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② 应力分布</a:t>
            </a:r>
          </a:p>
        </p:txBody>
      </p:sp>
      <p:sp>
        <p:nvSpPr>
          <p:cNvPr id="1554437" name="AutoShape 5"/>
          <p:cNvSpPr>
            <a:spLocks noChangeArrowheads="1"/>
          </p:cNvSpPr>
          <p:nvPr/>
        </p:nvSpPr>
        <p:spPr bwMode="auto">
          <a:xfrm>
            <a:off x="504825" y="3578225"/>
            <a:ext cx="1966913" cy="49688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③ 沉降计算</a:t>
            </a:r>
          </a:p>
        </p:txBody>
      </p:sp>
      <p:sp>
        <p:nvSpPr>
          <p:cNvPr id="1554438" name="Rectangle 6"/>
          <p:cNvSpPr>
            <a:spLocks noChangeArrowheads="1"/>
          </p:cNvSpPr>
          <p:nvPr/>
        </p:nvSpPr>
        <p:spPr bwMode="auto">
          <a:xfrm>
            <a:off x="2700338" y="754063"/>
            <a:ext cx="5543550" cy="1044575"/>
          </a:xfrm>
          <a:prstGeom prst="rect">
            <a:avLst/>
          </a:prstGeom>
          <a:noFill/>
          <a:ln w="38100">
            <a:solidFill>
              <a:srgbClr val="0066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建筑基础（形状、大小、重量、埋深）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地基各土层的压缩曲线 </a:t>
            </a:r>
            <a:r>
              <a:rPr kumimoji="1" lang="zh-CN" altLang="en-US" sz="20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 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原状土压缩曲线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计算断面和计算点</a:t>
            </a:r>
          </a:p>
        </p:txBody>
      </p:sp>
      <p:sp>
        <p:nvSpPr>
          <p:cNvPr id="1554439" name="Rectangle 7"/>
          <p:cNvSpPr>
            <a:spLocks noChangeArrowheads="1"/>
          </p:cNvSpPr>
          <p:nvPr/>
        </p:nvSpPr>
        <p:spPr bwMode="auto">
          <a:xfrm>
            <a:off x="2700338" y="3057525"/>
            <a:ext cx="3024187" cy="1654175"/>
          </a:xfrm>
          <a:prstGeom prst="rect">
            <a:avLst/>
          </a:prstGeom>
          <a:noFill/>
          <a:ln w="38100">
            <a:solidFill>
              <a:srgbClr val="0066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确定计算深度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确定分层界面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计算各土层的</a:t>
            </a:r>
            <a:r>
              <a:rPr kumimoji="1" lang="zh-CN" altLang="en-US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000" b="1" baseline="-25000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szi</a:t>
            </a:r>
            <a:r>
              <a:rPr kumimoji="1"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zh-CN" altLang="en-US" sz="2000" b="1" i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en-US" altLang="zh-CN" sz="2000" b="1" baseline="-25000" dirty="0" err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zi</a:t>
            </a:r>
            <a:endParaRPr kumimoji="1" lang="en-US" altLang="zh-CN" sz="2000" b="1" baseline="-25000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计算各层沉降量</a:t>
            </a:r>
            <a:endParaRPr kumimoji="1" lang="en-US" altLang="zh-CN" sz="2000" b="1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地基总沉降量</a:t>
            </a:r>
            <a:endParaRPr kumimoji="1" lang="zh-CN" altLang="en-US" sz="2000" b="1" baseline="-25000" dirty="0">
              <a:solidFill>
                <a:srgbClr val="000066"/>
              </a:solidFill>
              <a:ea typeface="幼圆" panose="02010509060101010101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54440" name="Rectangle 8"/>
          <p:cNvSpPr>
            <a:spLocks noChangeArrowheads="1"/>
          </p:cNvSpPr>
          <p:nvPr/>
        </p:nvSpPr>
        <p:spPr bwMode="auto">
          <a:xfrm>
            <a:off x="2700338" y="1905000"/>
            <a:ext cx="3600450" cy="1044575"/>
          </a:xfrm>
          <a:prstGeom prst="rect">
            <a:avLst/>
          </a:prstGeom>
          <a:noFill/>
          <a:ln w="38100">
            <a:solidFill>
              <a:srgbClr val="0066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自重应力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基底压力</a:t>
            </a:r>
            <a:r>
              <a:rPr kumimoji="1" lang="zh-CN" altLang="en-US" sz="20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</a:t>
            </a:r>
            <a:r>
              <a:rPr kumimoji="1"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基底附加应力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000" b="1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  <a:sym typeface="Symbol" pitchFamily="18" charset="2"/>
              </a:rPr>
              <a:t> 附加应力</a:t>
            </a:r>
          </a:p>
        </p:txBody>
      </p:sp>
      <p:sp>
        <p:nvSpPr>
          <p:cNvPr id="1554441" name="AutoShape 9"/>
          <p:cNvSpPr>
            <a:spLocks noChangeArrowheads="1"/>
          </p:cNvSpPr>
          <p:nvPr/>
        </p:nvSpPr>
        <p:spPr bwMode="auto">
          <a:xfrm>
            <a:off x="482600" y="4837113"/>
            <a:ext cx="1966913" cy="496887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④ 结果修正</a:t>
            </a:r>
          </a:p>
        </p:txBody>
      </p:sp>
      <p:graphicFrame>
        <p:nvGraphicFramePr>
          <p:cNvPr id="15544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13374"/>
              </p:ext>
            </p:extLst>
          </p:nvPr>
        </p:nvGraphicFramePr>
        <p:xfrm>
          <a:off x="2803525" y="4899025"/>
          <a:ext cx="13462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511" name="Equation" r:id="rId3" imgW="672840" imgH="215640" progId="Equation.DSMT4">
                  <p:embed/>
                </p:oleObj>
              </mc:Choice>
              <mc:Fallback>
                <p:oleObj name="Equation" r:id="rId3" imgW="672840" imgH="2156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5" y="4899025"/>
                        <a:ext cx="1346200" cy="42862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6600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4443" name="Rectangle 11"/>
          <p:cNvSpPr>
            <a:spLocks noChangeArrowheads="1"/>
          </p:cNvSpPr>
          <p:nvPr/>
        </p:nvSpPr>
        <p:spPr bwMode="auto">
          <a:xfrm>
            <a:off x="1885950" y="5700833"/>
            <a:ext cx="6616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分层总和法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要点小结</a:t>
            </a:r>
          </a:p>
        </p:txBody>
      </p:sp>
      <p:sp>
        <p:nvSpPr>
          <p:cNvPr id="1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-9526" y="0"/>
            <a:ext cx="5478171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分层总和法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544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55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554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5544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5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5544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554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5544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5544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5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5544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554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5544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1554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5544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554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54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5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4435" grpId="0"/>
      <p:bldP spid="1554436" grpId="0"/>
      <p:bldP spid="1554437" grpId="0"/>
      <p:bldP spid="1554438" grpId="0" build="p" animBg="1"/>
      <p:bldP spid="1554439" grpId="0" build="p" animBg="1"/>
      <p:bldP spid="1554440" grpId="0" build="p" animBg="1"/>
      <p:bldP spid="155444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64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133411"/>
              </p:ext>
            </p:extLst>
          </p:nvPr>
        </p:nvGraphicFramePr>
        <p:xfrm>
          <a:off x="4548188" y="4595813"/>
          <a:ext cx="26511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575" name="Equation" r:id="rId3" imgW="965160" imgH="215640" progId="Equation.DSMT4">
                  <p:embed/>
                </p:oleObj>
              </mc:Choice>
              <mc:Fallback>
                <p:oleObj name="Equation" r:id="rId3" imgW="965160" imgH="215640" progId="Equation.DSMT4">
                  <p:embed/>
                  <p:pic>
                    <p:nvPicPr>
                      <p:cNvPr id="0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188" y="4595813"/>
                        <a:ext cx="265112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33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494" name="Rectangle 14"/>
          <p:cNvSpPr>
            <a:spLocks noChangeArrowheads="1"/>
          </p:cNvSpPr>
          <p:nvPr/>
        </p:nvSpPr>
        <p:spPr bwMode="auto">
          <a:xfrm>
            <a:off x="2561285" y="5700479"/>
            <a:ext cx="56721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粘性地基的沉降量计算</a:t>
            </a:r>
          </a:p>
        </p:txBody>
      </p:sp>
      <p:sp>
        <p:nvSpPr>
          <p:cNvPr id="1556495" name="AutoShape 15"/>
          <p:cNvSpPr>
            <a:spLocks noChangeArrowheads="1"/>
          </p:cNvSpPr>
          <p:nvPr/>
        </p:nvSpPr>
        <p:spPr bwMode="auto">
          <a:xfrm>
            <a:off x="1766888" y="4578884"/>
            <a:ext cx="776287" cy="565150"/>
          </a:xfrm>
          <a:prstGeom prst="homePlate">
            <a:avLst>
              <a:gd name="adj" fmla="val 36801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56496" name="Text Box 16"/>
          <p:cNvSpPr txBox="1">
            <a:spLocks noChangeArrowheads="1"/>
          </p:cNvSpPr>
          <p:nvPr/>
        </p:nvSpPr>
        <p:spPr bwMode="auto">
          <a:xfrm>
            <a:off x="2954338" y="4578884"/>
            <a:ext cx="1612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66"/>
                </a:solidFill>
                <a:ea typeface="幼圆" pitchFamily="49" charset="-122"/>
              </a:rPr>
              <a:t>总变形：</a:t>
            </a:r>
          </a:p>
        </p:txBody>
      </p:sp>
      <p:sp>
        <p:nvSpPr>
          <p:cNvPr id="2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-9526" y="0"/>
            <a:ext cx="602932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粘性地的沉降计算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30" name="Group 3"/>
          <p:cNvGrpSpPr>
            <a:grpSpLocks/>
          </p:cNvGrpSpPr>
          <p:nvPr/>
        </p:nvGrpSpPr>
        <p:grpSpPr bwMode="auto">
          <a:xfrm>
            <a:off x="4838700" y="742945"/>
            <a:ext cx="3997325" cy="3203569"/>
            <a:chOff x="3048" y="468"/>
            <a:chExt cx="2518" cy="2018"/>
          </a:xfrm>
        </p:grpSpPr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3048" y="543"/>
              <a:ext cx="2518" cy="19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32" name="Group 5"/>
            <p:cNvGrpSpPr>
              <a:grpSpLocks/>
            </p:cNvGrpSpPr>
            <p:nvPr/>
          </p:nvGrpSpPr>
          <p:grpSpPr bwMode="auto">
            <a:xfrm>
              <a:off x="3195" y="468"/>
              <a:ext cx="2337" cy="1862"/>
              <a:chOff x="3195" y="468"/>
              <a:chExt cx="2337" cy="1862"/>
            </a:xfrm>
          </p:grpSpPr>
          <p:sp>
            <p:nvSpPr>
              <p:cNvPr id="33" name="Text Box 6"/>
              <p:cNvSpPr txBox="1">
                <a:spLocks noChangeAspect="1" noChangeArrowheads="1"/>
              </p:cNvSpPr>
              <p:nvPr/>
            </p:nvSpPr>
            <p:spPr bwMode="auto">
              <a:xfrm>
                <a:off x="5325" y="468"/>
                <a:ext cx="20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 i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34" name="Text Box 7"/>
              <p:cNvSpPr txBox="1">
                <a:spLocks noChangeAspect="1" noChangeArrowheads="1"/>
              </p:cNvSpPr>
              <p:nvPr/>
            </p:nvSpPr>
            <p:spPr bwMode="auto">
              <a:xfrm>
                <a:off x="3242" y="2029"/>
                <a:ext cx="2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 i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35" name="Freeform 8"/>
              <p:cNvSpPr>
                <a:spLocks noChangeAspect="1"/>
              </p:cNvSpPr>
              <p:nvPr/>
            </p:nvSpPr>
            <p:spPr bwMode="auto">
              <a:xfrm>
                <a:off x="3200" y="755"/>
                <a:ext cx="2197" cy="1117"/>
              </a:xfrm>
              <a:custGeom>
                <a:avLst/>
                <a:gdLst>
                  <a:gd name="T0" fmla="*/ 0 w 2197"/>
                  <a:gd name="T1" fmla="*/ 0 h 1117"/>
                  <a:gd name="T2" fmla="*/ 10 w 2197"/>
                  <a:gd name="T3" fmla="*/ 139 h 1117"/>
                  <a:gd name="T4" fmla="*/ 16 w 2197"/>
                  <a:gd name="T5" fmla="*/ 208 h 1117"/>
                  <a:gd name="T6" fmla="*/ 29 w 2197"/>
                  <a:gd name="T7" fmla="*/ 289 h 1117"/>
                  <a:gd name="T8" fmla="*/ 52 w 2197"/>
                  <a:gd name="T9" fmla="*/ 400 h 1117"/>
                  <a:gd name="T10" fmla="*/ 79 w 2197"/>
                  <a:gd name="T11" fmla="*/ 489 h 1117"/>
                  <a:gd name="T12" fmla="*/ 130 w 2197"/>
                  <a:gd name="T13" fmla="*/ 591 h 1117"/>
                  <a:gd name="T14" fmla="*/ 266 w 2197"/>
                  <a:gd name="T15" fmla="*/ 752 h 1117"/>
                  <a:gd name="T16" fmla="*/ 553 w 2197"/>
                  <a:gd name="T17" fmla="*/ 919 h 1117"/>
                  <a:gd name="T18" fmla="*/ 991 w 2197"/>
                  <a:gd name="T19" fmla="*/ 1015 h 1117"/>
                  <a:gd name="T20" fmla="*/ 1599 w 2197"/>
                  <a:gd name="T21" fmla="*/ 1081 h 1117"/>
                  <a:gd name="T22" fmla="*/ 2197 w 2197"/>
                  <a:gd name="T23" fmla="*/ 1117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97" h="1117">
                    <a:moveTo>
                      <a:pt x="0" y="0"/>
                    </a:moveTo>
                    <a:cubicBezTo>
                      <a:pt x="1" y="23"/>
                      <a:pt x="8" y="104"/>
                      <a:pt x="10" y="139"/>
                    </a:cubicBezTo>
                    <a:cubicBezTo>
                      <a:pt x="12" y="173"/>
                      <a:pt x="13" y="183"/>
                      <a:pt x="16" y="208"/>
                    </a:cubicBezTo>
                    <a:cubicBezTo>
                      <a:pt x="19" y="233"/>
                      <a:pt x="23" y="258"/>
                      <a:pt x="29" y="289"/>
                    </a:cubicBezTo>
                    <a:cubicBezTo>
                      <a:pt x="35" y="321"/>
                      <a:pt x="44" y="367"/>
                      <a:pt x="52" y="400"/>
                    </a:cubicBezTo>
                    <a:cubicBezTo>
                      <a:pt x="60" y="433"/>
                      <a:pt x="66" y="458"/>
                      <a:pt x="79" y="489"/>
                    </a:cubicBezTo>
                    <a:cubicBezTo>
                      <a:pt x="92" y="521"/>
                      <a:pt x="99" y="547"/>
                      <a:pt x="130" y="591"/>
                    </a:cubicBezTo>
                    <a:cubicBezTo>
                      <a:pt x="161" y="635"/>
                      <a:pt x="196" y="697"/>
                      <a:pt x="266" y="752"/>
                    </a:cubicBezTo>
                    <a:cubicBezTo>
                      <a:pt x="336" y="807"/>
                      <a:pt x="432" y="875"/>
                      <a:pt x="553" y="919"/>
                    </a:cubicBezTo>
                    <a:cubicBezTo>
                      <a:pt x="674" y="963"/>
                      <a:pt x="817" y="988"/>
                      <a:pt x="991" y="1015"/>
                    </a:cubicBezTo>
                    <a:cubicBezTo>
                      <a:pt x="1166" y="1042"/>
                      <a:pt x="1399" y="1064"/>
                      <a:pt x="1599" y="1081"/>
                    </a:cubicBezTo>
                    <a:cubicBezTo>
                      <a:pt x="1800" y="1099"/>
                      <a:pt x="2073" y="1110"/>
                      <a:pt x="2197" y="1117"/>
                    </a:cubicBezTo>
                  </a:path>
                </a:pathLst>
              </a:custGeom>
              <a:noFill/>
              <a:ln w="28575" cap="flat" cmpd="sng">
                <a:solidFill>
                  <a:srgbClr val="A5002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" name="Group 9"/>
              <p:cNvGrpSpPr>
                <a:grpSpLocks/>
              </p:cNvGrpSpPr>
              <p:nvPr/>
            </p:nvGrpSpPr>
            <p:grpSpPr bwMode="auto">
              <a:xfrm>
                <a:off x="3195" y="755"/>
                <a:ext cx="2266" cy="1575"/>
                <a:chOff x="2777" y="684"/>
                <a:chExt cx="2831" cy="1431"/>
              </a:xfrm>
            </p:grpSpPr>
            <p:sp>
              <p:nvSpPr>
                <p:cNvPr id="37" name="Freeform 10"/>
                <p:cNvSpPr>
                  <a:spLocks noChangeAspect="1"/>
                </p:cNvSpPr>
                <p:nvPr/>
              </p:nvSpPr>
              <p:spPr bwMode="auto">
                <a:xfrm>
                  <a:off x="2781" y="684"/>
                  <a:ext cx="2" cy="1431"/>
                </a:xfrm>
                <a:custGeom>
                  <a:avLst/>
                  <a:gdLst>
                    <a:gd name="T0" fmla="*/ 2 w 2"/>
                    <a:gd name="T1" fmla="*/ 0 h 1431"/>
                    <a:gd name="T2" fmla="*/ 0 w 2"/>
                    <a:gd name="T3" fmla="*/ 1431 h 1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431">
                      <a:moveTo>
                        <a:pt x="2" y="0"/>
                      </a:moveTo>
                      <a:lnTo>
                        <a:pt x="0" y="1431"/>
                      </a:lnTo>
                    </a:path>
                  </a:pathLst>
                </a:custGeom>
                <a:noFill/>
                <a:ln w="28575" cmpd="sng">
                  <a:solidFill>
                    <a:srgbClr val="000066"/>
                  </a:solidFill>
                  <a:miter lim="800000"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11"/>
                <p:cNvSpPr>
                  <a:spLocks noChangeAspect="1" noChangeShapeType="1"/>
                </p:cNvSpPr>
                <p:nvPr/>
              </p:nvSpPr>
              <p:spPr bwMode="auto">
                <a:xfrm>
                  <a:off x="2777" y="690"/>
                  <a:ext cx="2831" cy="0"/>
                </a:xfrm>
                <a:prstGeom prst="line">
                  <a:avLst/>
                </a:prstGeom>
                <a:noFill/>
                <a:ln w="28575">
                  <a:solidFill>
                    <a:srgbClr val="000066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42" name="Group 16"/>
          <p:cNvGrpSpPr>
            <a:grpSpLocks/>
          </p:cNvGrpSpPr>
          <p:nvPr/>
        </p:nvGrpSpPr>
        <p:grpSpPr bwMode="auto">
          <a:xfrm>
            <a:off x="5094288" y="1204914"/>
            <a:ext cx="3255962" cy="457201"/>
            <a:chOff x="3209" y="759"/>
            <a:chExt cx="2051" cy="288"/>
          </a:xfrm>
        </p:grpSpPr>
        <p:sp>
          <p:nvSpPr>
            <p:cNvPr id="43" name="Line 17"/>
            <p:cNvSpPr>
              <a:spLocks noChangeAspect="1" noChangeShapeType="1"/>
            </p:cNvSpPr>
            <p:nvPr/>
          </p:nvSpPr>
          <p:spPr bwMode="auto">
            <a:xfrm>
              <a:off x="3209" y="1047"/>
              <a:ext cx="205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44" name="Line 18"/>
            <p:cNvSpPr>
              <a:spLocks noChangeAspect="1" noChangeShapeType="1"/>
            </p:cNvSpPr>
            <p:nvPr/>
          </p:nvSpPr>
          <p:spPr bwMode="auto">
            <a:xfrm>
              <a:off x="4862" y="759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45" name="Text Box 19"/>
            <p:cNvSpPr txBox="1">
              <a:spLocks noChangeAspect="1" noChangeArrowheads="1"/>
            </p:cNvSpPr>
            <p:nvPr/>
          </p:nvSpPr>
          <p:spPr bwMode="auto">
            <a:xfrm>
              <a:off x="3531" y="794"/>
              <a:ext cx="130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r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1800" b="1" i="1" dirty="0" err="1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1800" b="1" baseline="-25000" dirty="0" err="1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1800" b="1" baseline="-25000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18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：初始瞬时沉降</a:t>
              </a:r>
              <a:endParaRPr kumimoji="1" lang="zh-CN" altLang="en-US" sz="1800" b="1" baseline="-25000" dirty="0">
                <a:solidFill>
                  <a:srgbClr val="800000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Group 20"/>
          <p:cNvGrpSpPr>
            <a:grpSpLocks/>
          </p:cNvGrpSpPr>
          <p:nvPr/>
        </p:nvGrpSpPr>
        <p:grpSpPr bwMode="auto">
          <a:xfrm>
            <a:off x="6832600" y="2809875"/>
            <a:ext cx="1885950" cy="850900"/>
            <a:chOff x="4304" y="1770"/>
            <a:chExt cx="1188" cy="536"/>
          </a:xfrm>
        </p:grpSpPr>
        <p:sp>
          <p:nvSpPr>
            <p:cNvPr id="47" name="Line 21"/>
            <p:cNvSpPr>
              <a:spLocks noChangeAspect="1" noChangeShapeType="1"/>
            </p:cNvSpPr>
            <p:nvPr/>
          </p:nvSpPr>
          <p:spPr bwMode="auto">
            <a:xfrm>
              <a:off x="5251" y="1770"/>
              <a:ext cx="0" cy="2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48" name="AutoShape 22"/>
            <p:cNvSpPr>
              <a:spLocks noChangeAspect="1" noChangeArrowheads="1"/>
            </p:cNvSpPr>
            <p:nvPr/>
          </p:nvSpPr>
          <p:spPr bwMode="auto">
            <a:xfrm>
              <a:off x="4304" y="2038"/>
              <a:ext cx="1188" cy="268"/>
            </a:xfrm>
            <a:prstGeom prst="wedgeRectCallout">
              <a:avLst>
                <a:gd name="adj1" fmla="val 19727"/>
                <a:gd name="adj2" fmla="val -64551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b="1" i="1" dirty="0" err="1">
                  <a:solidFill>
                    <a:srgbClr val="800000"/>
                  </a:solidFill>
                  <a:cs typeface="Times New Roman" panose="02020603050405020304" pitchFamily="18" charset="0"/>
                </a:rPr>
                <a:t>S</a:t>
              </a:r>
              <a:r>
                <a:rPr kumimoji="1" lang="en-US" altLang="zh-CN" sz="1800" b="1" baseline="-25000" dirty="0" err="1">
                  <a:solidFill>
                    <a:srgbClr val="800000"/>
                  </a:solidFill>
                  <a:cs typeface="Times New Roman" panose="02020603050405020304" pitchFamily="18" charset="0"/>
                </a:rPr>
                <a:t>s</a:t>
              </a:r>
              <a:r>
                <a:rPr kumimoji="1" lang="en-US" altLang="zh-CN" sz="1800" b="1" dirty="0">
                  <a:solidFill>
                    <a:srgbClr val="800000"/>
                  </a:solidFill>
                  <a:latin typeface="幼圆" panose="02010509060101010101" pitchFamily="49" charset="-122"/>
                  <a:ea typeface="幼圆" panose="02010509060101010101" pitchFamily="49" charset="-122"/>
                  <a:cs typeface="Times New Roman" panose="02020603050405020304" pitchFamily="18" charset="0"/>
                </a:rPr>
                <a:t>: </a:t>
              </a:r>
              <a:r>
                <a:rPr kumimoji="1" lang="zh-CN" altLang="en-US" sz="1800" b="1" dirty="0">
                  <a:solidFill>
                    <a:srgbClr val="800000"/>
                  </a:solidFill>
                  <a:latin typeface="幼圆" panose="02010509060101010101" pitchFamily="49" charset="-122"/>
                  <a:ea typeface="幼圆" panose="02010509060101010101" pitchFamily="49" charset="-122"/>
                  <a:cs typeface="Times New Roman" panose="02020603050405020304" pitchFamily="18" charset="0"/>
                </a:rPr>
                <a:t>次固结沉降</a:t>
              </a:r>
            </a:p>
          </p:txBody>
        </p:sp>
      </p:grpSp>
      <p:grpSp>
        <p:nvGrpSpPr>
          <p:cNvPr id="49" name="Group 23"/>
          <p:cNvGrpSpPr>
            <a:grpSpLocks/>
          </p:cNvGrpSpPr>
          <p:nvPr/>
        </p:nvGrpSpPr>
        <p:grpSpPr bwMode="auto">
          <a:xfrm>
            <a:off x="5870575" y="1651000"/>
            <a:ext cx="2574925" cy="1158875"/>
            <a:chOff x="3698" y="1040"/>
            <a:chExt cx="1622" cy="730"/>
          </a:xfrm>
        </p:grpSpPr>
        <p:sp>
          <p:nvSpPr>
            <p:cNvPr id="50" name="Line 24"/>
            <p:cNvSpPr>
              <a:spLocks noChangeAspect="1" noChangeShapeType="1"/>
            </p:cNvSpPr>
            <p:nvPr/>
          </p:nvSpPr>
          <p:spPr bwMode="auto">
            <a:xfrm>
              <a:off x="4191" y="1770"/>
              <a:ext cx="112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1" name="Line 25"/>
            <p:cNvSpPr>
              <a:spLocks noChangeAspect="1" noChangeShapeType="1"/>
            </p:cNvSpPr>
            <p:nvPr/>
          </p:nvSpPr>
          <p:spPr bwMode="auto">
            <a:xfrm>
              <a:off x="4864" y="1040"/>
              <a:ext cx="0" cy="7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52" name="AutoShape 26"/>
            <p:cNvSpPr>
              <a:spLocks noChangeAspect="1" noChangeArrowheads="1"/>
            </p:cNvSpPr>
            <p:nvPr/>
          </p:nvSpPr>
          <p:spPr bwMode="auto">
            <a:xfrm>
              <a:off x="3698" y="1270"/>
              <a:ext cx="1148" cy="299"/>
            </a:xfrm>
            <a:prstGeom prst="wedgeRectCallout">
              <a:avLst>
                <a:gd name="adj1" fmla="val 69861"/>
                <a:gd name="adj2" fmla="val 34949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800" b="1" i="1" dirty="0" err="1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1800" b="1" baseline="-25000" dirty="0" err="1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c</a:t>
              </a:r>
              <a:r>
                <a:rPr kumimoji="1" lang="zh-CN" altLang="en-US" sz="18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</a:rPr>
                <a:t>：主固结沉降</a:t>
              </a:r>
            </a:p>
          </p:txBody>
        </p:sp>
      </p:grpSp>
      <p:sp>
        <p:nvSpPr>
          <p:cNvPr id="56" name="Rectangle 12"/>
          <p:cNvSpPr>
            <a:spLocks noChangeArrowheads="1"/>
          </p:cNvSpPr>
          <p:nvPr/>
        </p:nvSpPr>
        <p:spPr bwMode="auto">
          <a:xfrm>
            <a:off x="411163" y="876300"/>
            <a:ext cx="4264025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441325" indent="-441325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初始瞬时沉降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d</a:t>
            </a:r>
            <a:r>
              <a:rPr kumimoji="1" lang="en-US" altLang="zh-CN" sz="24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，取决于剪切变形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主固结沉降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，取决于渗透固结过程，通常是地基变形的主要部分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次固结沉降  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，取决于土骨架的蠕变变形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1000"/>
                                        <p:tgtEl>
                                          <p:spTgt spid="1556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1000"/>
                                        <p:tgtEl>
                                          <p:spTgt spid="155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55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495" grpId="0" animBg="1"/>
      <p:bldP spid="1556496" grpId="0"/>
      <p:bldP spid="56" grpId="0" uiExpand="1" build="p" autoUpdateAnimBg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555" name="Rectangle 3"/>
          <p:cNvSpPr>
            <a:spLocks noChangeArrowheads="1"/>
          </p:cNvSpPr>
          <p:nvPr/>
        </p:nvSpPr>
        <p:spPr bwMode="auto">
          <a:xfrm>
            <a:off x="1419225" y="3484976"/>
            <a:ext cx="7221538" cy="2074863"/>
          </a:xfrm>
          <a:prstGeom prst="rect">
            <a:avLst/>
          </a:prstGeom>
          <a:noFill/>
          <a:ln w="41275" cap="rnd">
            <a:solidFill>
              <a:srgbClr val="FF66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266700" indent="-26670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"/>
            </a:pP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可计算成层地基</a:t>
            </a:r>
          </a:p>
          <a:p>
            <a:pPr marL="266700" indent="-26670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"/>
            </a:pP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可计算不同形状基础 </a:t>
            </a:r>
            <a:r>
              <a:rPr kumimoji="1" lang="en-US" altLang="zh-CN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- </a:t>
            </a: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条性、矩形和园形等</a:t>
            </a:r>
            <a:endParaRPr kumimoji="1" lang="en-US" altLang="zh-CN" sz="2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 marL="266700" indent="-26670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"/>
            </a:pP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可计算不同基底压力分布 </a:t>
            </a:r>
            <a:r>
              <a:rPr kumimoji="1" lang="en-US" altLang="zh-CN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- </a:t>
            </a: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均匀、三角和梯形分布</a:t>
            </a:r>
            <a:endParaRPr kumimoji="1" lang="zh-CN" altLang="en-US" sz="2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 marL="266700" indent="-26670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"/>
            </a:pP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参数的试验测定方法简单</a:t>
            </a:r>
          </a:p>
          <a:p>
            <a:pPr marL="266700" indent="-26670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"/>
            </a:pPr>
            <a:r>
              <a:rPr kumimoji="1" lang="zh-CN" altLang="en-US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已经积累了几十年应用的经验，适当</a:t>
            </a:r>
            <a:r>
              <a:rPr kumimoji="1" lang="zh-CN" altLang="en-US" sz="22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修正</a:t>
            </a:r>
            <a:endParaRPr kumimoji="1" lang="zh-CN" altLang="en-US" sz="22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59556" name="AutoShape 4"/>
          <p:cNvSpPr>
            <a:spLocks noChangeArrowheads="1"/>
          </p:cNvSpPr>
          <p:nvPr/>
        </p:nvSpPr>
        <p:spPr bwMode="auto">
          <a:xfrm>
            <a:off x="530225" y="508767"/>
            <a:ext cx="3378200" cy="56515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round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基本假定：</a:t>
            </a:r>
          </a:p>
        </p:txBody>
      </p:sp>
      <p:sp>
        <p:nvSpPr>
          <p:cNvPr id="1559557" name="AutoShape 5"/>
          <p:cNvSpPr>
            <a:spLocks noChangeArrowheads="1"/>
          </p:cNvSpPr>
          <p:nvPr/>
        </p:nvSpPr>
        <p:spPr bwMode="auto">
          <a:xfrm>
            <a:off x="517525" y="2856326"/>
            <a:ext cx="3054350" cy="56515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800" b="1">
                <a:solidFill>
                  <a:srgbClr val="A50021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优  点：</a:t>
            </a:r>
          </a:p>
        </p:txBody>
      </p:sp>
      <p:sp>
        <p:nvSpPr>
          <p:cNvPr id="1559558" name="Rectangle 6"/>
          <p:cNvSpPr>
            <a:spLocks noChangeArrowheads="1"/>
          </p:cNvSpPr>
          <p:nvPr/>
        </p:nvSpPr>
        <p:spPr bwMode="auto">
          <a:xfrm>
            <a:off x="1419225" y="1132301"/>
            <a:ext cx="6764338" cy="1700213"/>
          </a:xfrm>
          <a:prstGeom prst="rect">
            <a:avLst/>
          </a:prstGeom>
          <a:noFill/>
          <a:ln w="38100">
            <a:solidFill>
              <a:srgbClr val="FF66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zh-CN" altLang="en-US" sz="21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（</a:t>
            </a:r>
            <a:r>
              <a:rPr lang="en-US" altLang="zh-CN" sz="21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a</a:t>
            </a:r>
            <a:r>
              <a:rPr lang="zh-CN" altLang="en-US" sz="21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）基底压力为线性分布 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zh-CN" altLang="en-US" sz="21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（</a:t>
            </a:r>
            <a:r>
              <a:rPr lang="en-US" altLang="zh-CN" sz="21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b</a:t>
            </a:r>
            <a:r>
              <a:rPr lang="zh-CN" altLang="en-US" sz="21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）附加应力用弹性理论计算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zh-CN" altLang="en-US" sz="21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（</a:t>
            </a:r>
            <a:r>
              <a:rPr lang="en-US" altLang="zh-CN" sz="21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c</a:t>
            </a:r>
            <a:r>
              <a:rPr lang="zh-CN" altLang="en-US" sz="21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）只发生单向沉降：侧限应力状态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zh-CN" altLang="en-US" sz="21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（</a:t>
            </a:r>
            <a:r>
              <a:rPr lang="en-US" altLang="zh-CN" sz="21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d</a:t>
            </a:r>
            <a:r>
              <a:rPr lang="zh-CN" altLang="en-US" sz="21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）只计算固结沉降，不计瞬时沉降和次固结沉降</a:t>
            </a:r>
          </a:p>
        </p:txBody>
      </p:sp>
      <p:sp>
        <p:nvSpPr>
          <p:cNvPr id="1559559" name="Rectangle 7"/>
          <p:cNvSpPr>
            <a:spLocks noChangeArrowheads="1"/>
          </p:cNvSpPr>
          <p:nvPr/>
        </p:nvSpPr>
        <p:spPr bwMode="auto">
          <a:xfrm>
            <a:off x="2151770" y="5806255"/>
            <a:ext cx="56721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分层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总和法的评价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-9525" y="0"/>
            <a:ext cx="604837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分层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总和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法评价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5955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59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59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59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59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5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595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5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59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5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5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559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9555" grpId="0" build="p" animBg="1"/>
      <p:bldP spid="1559556" grpId="0"/>
      <p:bldP spid="1559557" grpId="0"/>
      <p:bldP spid="1559558" grpId="0" build="allAtOnce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396" name="AutoShape 68"/>
          <p:cNvSpPr>
            <a:spLocks noChangeArrowheads="1"/>
          </p:cNvSpPr>
          <p:nvPr/>
        </p:nvSpPr>
        <p:spPr bwMode="auto">
          <a:xfrm>
            <a:off x="530225" y="765175"/>
            <a:ext cx="3378200" cy="56515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round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8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计算精度：</a:t>
            </a:r>
          </a:p>
        </p:txBody>
      </p:sp>
      <p:sp>
        <p:nvSpPr>
          <p:cNvPr id="1379398" name="Rectangle 70"/>
          <p:cNvSpPr>
            <a:spLocks noChangeArrowheads="1"/>
          </p:cNvSpPr>
          <p:nvPr/>
        </p:nvSpPr>
        <p:spPr bwMode="auto">
          <a:xfrm>
            <a:off x="4987925" y="3135313"/>
            <a:ext cx="3611563" cy="2138362"/>
          </a:xfrm>
          <a:prstGeom prst="rect">
            <a:avLst/>
          </a:prstGeom>
          <a:solidFill>
            <a:srgbClr val="FFFFCC"/>
          </a:solidFill>
          <a:ln w="41275" cap="rnd">
            <a:solidFill>
              <a:srgbClr val="A50021"/>
            </a:solidFill>
            <a:prstDash val="sysDot"/>
            <a:miter lim="800000"/>
            <a:headEnd type="none" w="med" len="lg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endParaRPr kumimoji="1" lang="en-US" altLang="zh-CN" sz="2200" b="1">
              <a:solidFill>
                <a:schemeClr val="bg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 eaLnBrk="0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en-US" altLang="zh-CN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① </a:t>
            </a: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欧美 </a:t>
            </a:r>
          </a:p>
          <a:p>
            <a:pPr eaLnBrk="0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② 可判定原状土压缩曲线 </a:t>
            </a:r>
          </a:p>
          <a:p>
            <a:pPr eaLnBrk="0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③ 区分不同固结状态  </a:t>
            </a:r>
          </a:p>
          <a:p>
            <a:pPr eaLnBrk="0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④ 计算结果偏大</a:t>
            </a:r>
          </a:p>
        </p:txBody>
      </p:sp>
      <p:sp>
        <p:nvSpPr>
          <p:cNvPr id="1379399" name="Rectangle 71"/>
          <p:cNvSpPr>
            <a:spLocks noChangeArrowheads="1"/>
          </p:cNvSpPr>
          <p:nvPr/>
        </p:nvSpPr>
        <p:spPr bwMode="auto">
          <a:xfrm>
            <a:off x="3033713" y="841375"/>
            <a:ext cx="2266950" cy="866775"/>
          </a:xfrm>
          <a:prstGeom prst="rect">
            <a:avLst/>
          </a:prstGeom>
          <a:noFill/>
          <a:ln w="38100">
            <a:solidFill>
              <a:srgbClr val="A5002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相差比较大   </a:t>
            </a: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kumimoji="1" lang="zh-CN" altLang="en-US" sz="2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修正靠经验</a:t>
            </a:r>
          </a:p>
        </p:txBody>
      </p:sp>
      <p:sp>
        <p:nvSpPr>
          <p:cNvPr id="1379400" name="AutoShape 72"/>
          <p:cNvSpPr>
            <a:spLocks noChangeArrowheads="1"/>
          </p:cNvSpPr>
          <p:nvPr/>
        </p:nvSpPr>
        <p:spPr bwMode="auto">
          <a:xfrm>
            <a:off x="542925" y="2038350"/>
            <a:ext cx="7308850" cy="58129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en-US" altLang="zh-CN" sz="2800" b="1" i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e 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- </a:t>
            </a:r>
            <a:r>
              <a:rPr kumimoji="1" lang="en-US" altLang="zh-CN" sz="2800" b="1" i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p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曲线与</a:t>
            </a:r>
            <a:r>
              <a:rPr kumimoji="1" lang="en-US" altLang="zh-CN" sz="2800" b="1" i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e 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-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en-US" altLang="zh-CN" sz="2800" b="1" dirty="0" err="1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lg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</a:t>
            </a:r>
            <a:r>
              <a:rPr kumimoji="1" lang="en-US" altLang="zh-CN" sz="2800" b="1" i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p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曲线的对比：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均需修正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         </a:t>
            </a:r>
          </a:p>
        </p:txBody>
      </p:sp>
      <p:sp>
        <p:nvSpPr>
          <p:cNvPr id="1379401" name="Rectangle 73"/>
          <p:cNvSpPr>
            <a:spLocks noChangeArrowheads="1"/>
          </p:cNvSpPr>
          <p:nvPr/>
        </p:nvSpPr>
        <p:spPr bwMode="auto">
          <a:xfrm>
            <a:off x="650875" y="3143250"/>
            <a:ext cx="3949700" cy="2166938"/>
          </a:xfrm>
          <a:prstGeom prst="rect">
            <a:avLst/>
          </a:prstGeom>
          <a:solidFill>
            <a:srgbClr val="FFFFCC"/>
          </a:solidFill>
          <a:ln w="38100" cap="rnd">
            <a:solidFill>
              <a:srgbClr val="A50021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kumimoji="1" lang="en-US" altLang="zh-CN" sz="2200" b="1">
              <a:solidFill>
                <a:schemeClr val="bg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2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① </a:t>
            </a:r>
            <a:r>
              <a:rPr kumimoji="1" lang="zh-CN" altLang="en-US" sz="22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原苏联 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② 无法确定现场土压缩曲线  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③ 不区分不同固结状态 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2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④ 计算结果偏小</a:t>
            </a:r>
          </a:p>
        </p:txBody>
      </p:sp>
      <p:sp>
        <p:nvSpPr>
          <p:cNvPr id="1379402" name="AutoShape 74"/>
          <p:cNvSpPr>
            <a:spLocks noChangeArrowheads="1"/>
          </p:cNvSpPr>
          <p:nvPr/>
        </p:nvSpPr>
        <p:spPr bwMode="auto">
          <a:xfrm>
            <a:off x="1971675" y="2897188"/>
            <a:ext cx="1081088" cy="51319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66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6600"/>
                </a:solidFill>
                <a:latin typeface="Arial Black" pitchFamily="34" charset="0"/>
                <a:sym typeface="Symbol" pitchFamily="18" charset="2"/>
              </a:rPr>
              <a:t> </a:t>
            </a:r>
            <a:r>
              <a:rPr kumimoji="1" lang="en-US" altLang="zh-CN" sz="2400" b="1" i="1" dirty="0" smtClean="0">
                <a:solidFill>
                  <a:srgbClr val="006600"/>
                </a:solidFill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kumimoji="1" lang="en-US" altLang="zh-CN" sz="2400" dirty="0" smtClean="0">
                <a:solidFill>
                  <a:srgbClr val="006600"/>
                </a:solidFill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kumimoji="1" lang="en-US" altLang="zh-CN" sz="2400" b="1" i="1" dirty="0" smtClean="0">
                <a:solidFill>
                  <a:srgbClr val="006600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1" lang="zh-CN" altLang="en-US" sz="2400" b="1" i="1" dirty="0">
              <a:solidFill>
                <a:srgbClr val="006600"/>
              </a:solidFill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89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79403" name="AutoShape 75"/>
          <p:cNvSpPr>
            <a:spLocks noChangeArrowheads="1"/>
          </p:cNvSpPr>
          <p:nvPr/>
        </p:nvSpPr>
        <p:spPr bwMode="auto">
          <a:xfrm>
            <a:off x="6000750" y="2859088"/>
            <a:ext cx="1409700" cy="51319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srgbClr val="000066"/>
                </a:solidFill>
                <a:latin typeface="Arial Black" pitchFamily="34" charset="0"/>
                <a:sym typeface="Symbol" pitchFamily="18" charset="2"/>
              </a:rPr>
              <a:t> </a:t>
            </a:r>
            <a:r>
              <a:rPr kumimoji="1" lang="en-US" altLang="zh-CN" sz="2400" b="1" i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e </a:t>
            </a:r>
            <a:r>
              <a: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-</a:t>
            </a:r>
            <a:r>
              <a:rPr kumimoji="1" lang="en-US" altLang="zh-CN" sz="24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b="1" dirty="0" err="1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lg</a:t>
            </a:r>
            <a:r>
              <a:rPr kumimoji="1" lang="en-US" altLang="zh-CN" sz="2400" b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b="1" i="1" dirty="0" smtClean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p</a:t>
            </a:r>
            <a:endParaRPr kumimoji="1" lang="zh-CN" altLang="en-US" sz="2400" b="1" i="1" dirty="0">
              <a:solidFill>
                <a:srgbClr val="000066"/>
              </a:solidFill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-9525" y="0"/>
            <a:ext cx="604837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地基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的最终沉降量计算 </a:t>
            </a:r>
            <a:r>
              <a:rPr lang="en-US" altLang="zh-CN" sz="2000" b="1" kern="900" spc="-140" dirty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分层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总和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法评价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2151770" y="5806255"/>
            <a:ext cx="56721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00FF00"/>
                    </a:gs>
                    <a:gs pos="100000">
                      <a:schemeClr val="bg1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分层</a:t>
            </a:r>
            <a:r>
              <a:rPr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总和法的评价</a:t>
            </a:r>
            <a:endParaRPr lang="zh-CN" altLang="en-US" sz="4000" b="1" dirty="0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7939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79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79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7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7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7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40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7940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7939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4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794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79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4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794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79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4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794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79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4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794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793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9396" grpId="0"/>
      <p:bldP spid="1379398" grpId="0" build="p" animBg="1"/>
      <p:bldP spid="1379399" grpId="0" build="p" animBg="1"/>
      <p:bldP spid="1379400" grpId="0"/>
      <p:bldP spid="1379401" grpId="0" build="p" animBg="1"/>
      <p:bldP spid="1379402" grpId="0" animBg="1"/>
      <p:bldP spid="137940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594" name="Text Box 98"/>
          <p:cNvSpPr txBox="1">
            <a:spLocks noChangeArrowheads="1"/>
          </p:cNvSpPr>
          <p:nvPr/>
        </p:nvSpPr>
        <p:spPr bwMode="auto">
          <a:xfrm>
            <a:off x="1798638" y="2170113"/>
            <a:ext cx="6227762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6096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§4.1  </a:t>
            </a: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概述 </a:t>
            </a:r>
            <a:r>
              <a:rPr lang="zh-CN" altLang="en-US" sz="3200" b="1">
                <a:solidFill>
                  <a:schemeClr val="tx2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r>
              <a:rPr lang="zh-CN" altLang="en-US" sz="3200" b="1">
                <a:solidFill>
                  <a:schemeClr val="tx2"/>
                </a:solidFill>
                <a:latin typeface="幼圆" pitchFamily="49" charset="-122"/>
                <a:ea typeface="幼圆" pitchFamily="49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§4.2  </a:t>
            </a: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土的压缩性测试方法 </a:t>
            </a:r>
            <a:r>
              <a:rPr lang="zh-CN" altLang="en-US" sz="3200" b="1">
                <a:solidFill>
                  <a:schemeClr val="tx2"/>
                </a:solidFill>
                <a:ea typeface="幼圆" pitchFamily="49" charset="-122"/>
                <a:sym typeface="Symbol" pitchFamily="18" charset="2"/>
              </a:rPr>
              <a:t></a:t>
            </a:r>
            <a:endParaRPr lang="zh-CN" altLang="en-US" sz="3200" b="1">
              <a:solidFill>
                <a:schemeClr val="tx2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§4.3  </a:t>
            </a: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一维压缩性及其指标 </a:t>
            </a:r>
            <a:r>
              <a:rPr lang="zh-CN" altLang="en-US" sz="3200" b="1">
                <a:solidFill>
                  <a:schemeClr val="tx2"/>
                </a:solidFill>
                <a:ea typeface="幼圆" pitchFamily="49" charset="-122"/>
                <a:sym typeface="Symbol" pitchFamily="18" charset="2"/>
              </a:rPr>
              <a:t></a:t>
            </a:r>
            <a:endParaRPr lang="zh-CN" altLang="en-US" sz="3200" b="1">
              <a:solidFill>
                <a:schemeClr val="tx2"/>
              </a:solidFill>
              <a:ea typeface="幼圆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§4.4  </a:t>
            </a: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地基的最终沉降量计算 </a:t>
            </a:r>
            <a:r>
              <a:rPr lang="zh-CN" altLang="en-US" sz="3200" b="1">
                <a:solidFill>
                  <a:schemeClr val="tx2"/>
                </a:solidFill>
                <a:ea typeface="幼圆" pitchFamily="49" charset="-122"/>
                <a:sym typeface="Symbol" pitchFamily="18" charset="2"/>
              </a:rPr>
              <a:t></a:t>
            </a:r>
            <a:endParaRPr lang="zh-CN" altLang="en-US" sz="3200" b="1">
              <a:solidFill>
                <a:schemeClr val="tx2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§4.5  </a:t>
            </a: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饱和土体的渗流固结理论</a:t>
            </a:r>
          </a:p>
        </p:txBody>
      </p:sp>
      <p:sp>
        <p:nvSpPr>
          <p:cNvPr id="1386595" name="Text Box 99"/>
          <p:cNvSpPr txBox="1">
            <a:spLocks noChangeArrowheads="1"/>
          </p:cNvSpPr>
          <p:nvPr/>
        </p:nvSpPr>
        <p:spPr bwMode="auto">
          <a:xfrm>
            <a:off x="858838" y="1030288"/>
            <a:ext cx="77771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第四章：</a:t>
            </a: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土的压缩性与地基沉降计算</a:t>
            </a:r>
            <a:endParaRPr kumimoji="0"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86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86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86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3865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386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865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386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3865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5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865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865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615" name="Text Box 95"/>
          <p:cNvSpPr txBox="1">
            <a:spLocks noChangeArrowheads="1"/>
          </p:cNvSpPr>
          <p:nvPr/>
        </p:nvSpPr>
        <p:spPr bwMode="auto">
          <a:xfrm>
            <a:off x="341313" y="704850"/>
            <a:ext cx="3241675" cy="432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10800" rIns="18000" bIns="10800"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1986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年：开工</a:t>
            </a:r>
          </a:p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1990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年：人工岛完成</a:t>
            </a:r>
          </a:p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1994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年：机场运营</a:t>
            </a:r>
          </a:p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面积：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4370m×1250m</a:t>
            </a:r>
          </a:p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填筑量：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180×10</a:t>
            </a:r>
            <a:r>
              <a:rPr lang="en-US" altLang="zh-CN" sz="2200" b="1" baseline="30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baseline="30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</a:t>
            </a:r>
            <a:endParaRPr lang="zh-CN" altLang="en-US" sz="22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平均厚度：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33m</a:t>
            </a:r>
          </a:p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地基：</a:t>
            </a:r>
            <a:r>
              <a:rPr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15-21m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厚粘土</a:t>
            </a:r>
          </a:p>
          <a:p>
            <a:pPr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问题：沉降</a:t>
            </a:r>
            <a:r>
              <a:rPr lang="zh-CN" altLang="en-US" sz="22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大，不</a:t>
            </a:r>
            <a:r>
              <a:rPr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均匀</a:t>
            </a:r>
          </a:p>
        </p:txBody>
      </p:sp>
      <p:pic>
        <p:nvPicPr>
          <p:cNvPr id="1387616" name="Picture 96" descr="1st Pha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714" y="987373"/>
            <a:ext cx="4989512" cy="416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990033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7617" name="Text Box 97"/>
          <p:cNvSpPr txBox="1">
            <a:spLocks noChangeArrowheads="1"/>
          </p:cNvSpPr>
          <p:nvPr/>
        </p:nvSpPr>
        <p:spPr bwMode="auto">
          <a:xfrm>
            <a:off x="3062288" y="5708650"/>
            <a:ext cx="43100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隶书" pitchFamily="49" charset="-122"/>
                <a:ea typeface="黑体" pitchFamily="2" charset="-122"/>
              </a:rPr>
              <a:t>日本关西国际机场</a:t>
            </a:r>
            <a:endParaRPr kumimoji="1" lang="zh-CN" altLang="en-US" sz="4000" b="1" dirty="0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387618" name="Rectangle 98"/>
          <p:cNvSpPr>
            <a:spLocks noChangeArrowheads="1"/>
          </p:cNvSpPr>
          <p:nvPr/>
        </p:nvSpPr>
        <p:spPr bwMode="auto">
          <a:xfrm>
            <a:off x="3946525" y="4602163"/>
            <a:ext cx="232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chemeClr val="accent2"/>
                </a:solidFill>
                <a:ea typeface="幼圆" pitchFamily="49" charset="-122"/>
              </a:rPr>
              <a:t>世界最大人工岛</a:t>
            </a:r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5" y="0"/>
            <a:ext cx="48389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87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87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87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87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6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876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87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87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7615" grpId="0"/>
      <p:bldP spid="1387618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579" name="Text Box 3"/>
          <p:cNvSpPr txBox="1">
            <a:spLocks noChangeArrowheads="1"/>
          </p:cNvSpPr>
          <p:nvPr/>
        </p:nvSpPr>
        <p:spPr bwMode="auto">
          <a:xfrm>
            <a:off x="2855913" y="5707063"/>
            <a:ext cx="40338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关西国际机场</a:t>
            </a:r>
          </a:p>
        </p:txBody>
      </p:sp>
      <p:sp>
        <p:nvSpPr>
          <p:cNvPr id="1560580" name="AutoShape 4"/>
          <p:cNvSpPr>
            <a:spLocks noChangeArrowheads="1"/>
          </p:cNvSpPr>
          <p:nvPr/>
        </p:nvSpPr>
        <p:spPr bwMode="auto">
          <a:xfrm>
            <a:off x="6113463" y="620713"/>
            <a:ext cx="2779712" cy="304165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 algn="ctr">
            <a:solidFill>
              <a:srgbClr val="9900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10800" rIns="18000" bIns="10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设计预测沉降：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cs typeface="Times New Roman" panose="02020603050405020304" pitchFamily="18" charset="0"/>
              </a:rPr>
              <a:t>　</a:t>
            </a:r>
            <a:r>
              <a:rPr kumimoji="1" lang="en-US" altLang="zh-CN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5.7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－</a:t>
            </a:r>
            <a:r>
              <a:rPr kumimoji="1" lang="en-US" altLang="zh-CN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7.5 m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完工实际沉降：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cs typeface="Times New Roman" panose="02020603050405020304" pitchFamily="18" charset="0"/>
              </a:rPr>
              <a:t>　</a:t>
            </a:r>
            <a:r>
              <a:rPr kumimoji="1" lang="en-US" altLang="zh-CN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8.1 m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，</a:t>
            </a:r>
            <a:r>
              <a:rPr kumimoji="1" lang="en-US" altLang="zh-CN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5cm/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月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　　</a:t>
            </a:r>
            <a:r>
              <a:rPr kumimoji="1" lang="en-US" altLang="zh-CN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(1990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年</a:t>
            </a:r>
            <a:r>
              <a:rPr kumimoji="1" lang="en-US" altLang="zh-CN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)</a:t>
            </a:r>
            <a:endParaRPr kumimoji="1" lang="zh-CN" altLang="en-US" sz="2000" b="1" dirty="0">
              <a:solidFill>
                <a:srgbClr val="000066"/>
              </a:solidFill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预测主固结完成：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cs typeface="Times New Roman" panose="02020603050405020304" pitchFamily="18" charset="0"/>
              </a:rPr>
              <a:t>　</a:t>
            </a:r>
            <a:r>
              <a:rPr kumimoji="1" lang="en-US" altLang="zh-CN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20</a:t>
            </a:r>
            <a:r>
              <a:rPr kumimoji="1" lang="zh-CN" altLang="en-US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年后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比设计超填：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　  </a:t>
            </a:r>
            <a:r>
              <a:rPr kumimoji="1" lang="en-US" altLang="zh-CN" sz="2000" b="1" dirty="0">
                <a:solidFill>
                  <a:srgbClr val="000066"/>
                </a:solidFill>
                <a:cs typeface="Times New Roman" panose="02020603050405020304" pitchFamily="18" charset="0"/>
              </a:rPr>
              <a:t>3.0 m</a:t>
            </a:r>
          </a:p>
        </p:txBody>
      </p:sp>
      <p:pic>
        <p:nvPicPr>
          <p:cNvPr id="1560581" name="Picture 5" descr="0203-7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6"/>
          <a:stretch>
            <a:fillRect/>
          </a:stretch>
        </p:blipFill>
        <p:spPr bwMode="auto">
          <a:xfrm>
            <a:off x="274638" y="1387475"/>
            <a:ext cx="5661025" cy="1949450"/>
          </a:xfrm>
          <a:prstGeom prst="rect">
            <a:avLst/>
          </a:prstGeom>
          <a:solidFill>
            <a:schemeClr val="accent2"/>
          </a:solidFill>
          <a:ln w="19050">
            <a:solidFill>
              <a:srgbClr val="CC6600"/>
            </a:solidFill>
            <a:miter lim="800000"/>
            <a:headEnd/>
            <a:tailEnd/>
          </a:ln>
        </p:spPr>
      </p:pic>
      <p:graphicFrame>
        <p:nvGraphicFramePr>
          <p:cNvPr id="1560582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12695"/>
              </p:ext>
            </p:extLst>
          </p:nvPr>
        </p:nvGraphicFramePr>
        <p:xfrm>
          <a:off x="179388" y="3811588"/>
          <a:ext cx="8713787" cy="1565276"/>
        </p:xfrm>
        <a:graphic>
          <a:graphicData uri="http://schemas.openxmlformats.org/drawingml/2006/table">
            <a:tbl>
              <a:tblPr/>
              <a:tblGrid>
                <a:gridCol w="62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207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9211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8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日期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gridSpan="1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测   点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平均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00-12</a:t>
                      </a:r>
                      <a:endParaRPr kumimoji="0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幼圆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10.6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9.7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12.8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11.7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10.6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13.0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11.6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10.3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12.7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12.5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9.0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14.1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11.7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01-12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10.8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9.9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13.0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11.9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10.7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13.2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11.8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10.5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12.9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12.7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9.1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14.3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幼圆" pitchFamily="49" charset="-122"/>
                        </a:rPr>
                        <a:t>11.9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1" name="Text Box 7"/>
          <p:cNvSpPr txBox="1">
            <a:spLocks noChangeArrowheads="1"/>
          </p:cNvSpPr>
          <p:nvPr/>
        </p:nvSpPr>
        <p:spPr bwMode="auto">
          <a:xfrm>
            <a:off x="-9525" y="0"/>
            <a:ext cx="48389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56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" dur="500"/>
                                        <p:tgtEl>
                                          <p:spTgt spid="156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0580" grpId="0" animBg="1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603" name="Rectangle 3"/>
          <p:cNvSpPr>
            <a:spLocks noChangeArrowheads="1"/>
          </p:cNvSpPr>
          <p:nvPr/>
        </p:nvSpPr>
        <p:spPr bwMode="auto">
          <a:xfrm>
            <a:off x="274638" y="688975"/>
            <a:ext cx="8580437" cy="3368675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1604" name="Rectangle 4"/>
          <p:cNvSpPr>
            <a:spLocks noChangeArrowheads="1"/>
          </p:cNvSpPr>
          <p:nvPr/>
        </p:nvSpPr>
        <p:spPr bwMode="auto">
          <a:xfrm>
            <a:off x="527050" y="741363"/>
            <a:ext cx="7027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n"/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沉降与时间之间的关系：饱和土层的渗流固结</a:t>
            </a:r>
          </a:p>
        </p:txBody>
      </p:sp>
      <p:sp>
        <p:nvSpPr>
          <p:cNvPr id="1561605" name="AutoShape 5"/>
          <p:cNvSpPr>
            <a:spLocks noChangeArrowheads="1"/>
          </p:cNvSpPr>
          <p:nvPr/>
        </p:nvSpPr>
        <p:spPr bwMode="auto">
          <a:xfrm>
            <a:off x="631825" y="4178300"/>
            <a:ext cx="4786313" cy="1182688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66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问题：</a:t>
            </a: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固结沉降的速度和程度</a:t>
            </a:r>
            <a:r>
              <a:rPr kumimoji="1" lang="zh-CN" altLang="en-US" sz="2400" b="1" i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</a:t>
            </a: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？</a:t>
            </a:r>
          </a:p>
          <a:p>
            <a:pPr eaLnBrk="0" hangingPunct="0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     超静孔隙水压力的大小 ？</a:t>
            </a:r>
          </a:p>
        </p:txBody>
      </p:sp>
      <p:sp>
        <p:nvSpPr>
          <p:cNvPr id="1561606" name="Text Box 6"/>
          <p:cNvSpPr txBox="1">
            <a:spLocks noChangeArrowheads="1"/>
          </p:cNvSpPr>
          <p:nvPr/>
        </p:nvSpPr>
        <p:spPr bwMode="auto">
          <a:xfrm>
            <a:off x="2298173" y="5824658"/>
            <a:ext cx="59261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饱和土体的渗流固结理论</a:t>
            </a:r>
          </a:p>
        </p:txBody>
      </p:sp>
      <p:sp>
        <p:nvSpPr>
          <p:cNvPr id="1561634" name="AutoShape 34"/>
          <p:cNvSpPr>
            <a:spLocks noChangeArrowheads="1"/>
          </p:cNvSpPr>
          <p:nvPr/>
        </p:nvSpPr>
        <p:spPr bwMode="auto">
          <a:xfrm>
            <a:off x="5826125" y="4486275"/>
            <a:ext cx="715963" cy="534988"/>
          </a:xfrm>
          <a:prstGeom prst="homePlate">
            <a:avLst>
              <a:gd name="adj" fmla="val 35855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1635" name="Text Box 35"/>
          <p:cNvSpPr txBox="1">
            <a:spLocks noChangeArrowheads="1"/>
          </p:cNvSpPr>
          <p:nvPr/>
        </p:nvSpPr>
        <p:spPr bwMode="auto">
          <a:xfrm>
            <a:off x="6691313" y="4502150"/>
            <a:ext cx="209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一维渗流固结</a:t>
            </a:r>
          </a:p>
        </p:txBody>
      </p:sp>
      <p:sp>
        <p:nvSpPr>
          <p:cNvPr id="3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-9525" y="0"/>
            <a:ext cx="48389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8638" y="1187930"/>
            <a:ext cx="8128003" cy="2552694"/>
            <a:chOff x="528638" y="1187930"/>
            <a:chExt cx="8128003" cy="2552694"/>
          </a:xfrm>
        </p:grpSpPr>
        <p:grpSp>
          <p:nvGrpSpPr>
            <p:cNvPr id="38" name="Group 7"/>
            <p:cNvGrpSpPr>
              <a:grpSpLocks/>
            </p:cNvGrpSpPr>
            <p:nvPr/>
          </p:nvGrpSpPr>
          <p:grpSpPr bwMode="auto">
            <a:xfrm>
              <a:off x="5030789" y="2840509"/>
              <a:ext cx="3625852" cy="431800"/>
              <a:chOff x="3169" y="1466"/>
              <a:chExt cx="2284" cy="272"/>
            </a:xfrm>
          </p:grpSpPr>
          <p:graphicFrame>
            <p:nvGraphicFramePr>
              <p:cNvPr id="39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83289691"/>
                  </p:ext>
                </p:extLst>
              </p:nvPr>
            </p:nvGraphicFramePr>
            <p:xfrm>
              <a:off x="3169" y="1466"/>
              <a:ext cx="272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61837" name="公式" r:id="rId3" imgW="215640" imgH="215640" progId="Equation.3">
                      <p:embed/>
                    </p:oleObj>
                  </mc:Choice>
                  <mc:Fallback>
                    <p:oleObj name="公式" r:id="rId3" imgW="215640" imgH="215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69" y="1466"/>
                            <a:ext cx="272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" name="Freeform 9"/>
              <p:cNvSpPr>
                <a:spLocks/>
              </p:cNvSpPr>
              <p:nvPr/>
            </p:nvSpPr>
            <p:spPr bwMode="auto">
              <a:xfrm>
                <a:off x="3503" y="1649"/>
                <a:ext cx="1950" cy="2"/>
              </a:xfrm>
              <a:custGeom>
                <a:avLst/>
                <a:gdLst>
                  <a:gd name="T0" fmla="*/ 0 w 1950"/>
                  <a:gd name="T1" fmla="*/ 0 h 2"/>
                  <a:gd name="T2" fmla="*/ 1950 w 1950"/>
                  <a:gd name="T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950" h="2">
                    <a:moveTo>
                      <a:pt x="0" y="0"/>
                    </a:moveTo>
                    <a:lnTo>
                      <a:pt x="1950" y="2"/>
                    </a:lnTo>
                  </a:path>
                </a:pathLst>
              </a:custGeom>
              <a:noFill/>
              <a:ln w="22225" cap="flat">
                <a:solidFill>
                  <a:srgbClr val="000066"/>
                </a:solidFill>
                <a:prstDash val="dash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41" name="AutoShape 11"/>
            <p:cNvSpPr>
              <a:spLocks noChangeArrowheads="1"/>
            </p:cNvSpPr>
            <p:nvPr/>
          </p:nvSpPr>
          <p:spPr bwMode="auto">
            <a:xfrm>
              <a:off x="4481513" y="2124549"/>
              <a:ext cx="585787" cy="714375"/>
            </a:xfrm>
            <a:prstGeom prst="rightArrow">
              <a:avLst>
                <a:gd name="adj1" fmla="val 47111"/>
                <a:gd name="adj2" fmla="val 42005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2" name="Group 33"/>
            <p:cNvGrpSpPr>
              <a:grpSpLocks/>
            </p:cNvGrpSpPr>
            <p:nvPr/>
          </p:nvGrpSpPr>
          <p:grpSpPr bwMode="auto">
            <a:xfrm>
              <a:off x="5405437" y="1638774"/>
              <a:ext cx="3186113" cy="2101850"/>
              <a:chOff x="3405" y="709"/>
              <a:chExt cx="2007" cy="1324"/>
            </a:xfrm>
          </p:grpSpPr>
          <p:graphicFrame>
            <p:nvGraphicFramePr>
              <p:cNvPr id="43" name="Object 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7115907"/>
                  </p:ext>
                </p:extLst>
              </p:nvPr>
            </p:nvGraphicFramePr>
            <p:xfrm>
              <a:off x="3405" y="1809"/>
              <a:ext cx="192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61838" name="公式" r:id="rId5" imgW="152280" imgH="177480" progId="Equation.3">
                      <p:embed/>
                    </p:oleObj>
                  </mc:Choice>
                  <mc:Fallback>
                    <p:oleObj name="公式" r:id="rId5" imgW="152280" imgH="1774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5" y="1809"/>
                            <a:ext cx="192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Object 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49548497"/>
                  </p:ext>
                </p:extLst>
              </p:nvPr>
            </p:nvGraphicFramePr>
            <p:xfrm>
              <a:off x="5284" y="709"/>
              <a:ext cx="128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61839" name="公式" r:id="rId7" imgW="101520" imgH="164880" progId="Equation.3">
                      <p:embed/>
                    </p:oleObj>
                  </mc:Choice>
                  <mc:Fallback>
                    <p:oleObj name="公式" r:id="rId7" imgW="10152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4" y="709"/>
                            <a:ext cx="128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Freeform 36"/>
              <p:cNvSpPr>
                <a:spLocks/>
              </p:cNvSpPr>
              <p:nvPr/>
            </p:nvSpPr>
            <p:spPr bwMode="auto">
              <a:xfrm>
                <a:off x="3488" y="839"/>
                <a:ext cx="1723" cy="747"/>
              </a:xfrm>
              <a:custGeom>
                <a:avLst/>
                <a:gdLst>
                  <a:gd name="T0" fmla="*/ 0 w 1723"/>
                  <a:gd name="T1" fmla="*/ 0 h 747"/>
                  <a:gd name="T2" fmla="*/ 64 w 1723"/>
                  <a:gd name="T3" fmla="*/ 172 h 747"/>
                  <a:gd name="T4" fmla="*/ 205 w 1723"/>
                  <a:gd name="T5" fmla="*/ 345 h 747"/>
                  <a:gd name="T6" fmla="*/ 426 w 1723"/>
                  <a:gd name="T7" fmla="*/ 476 h 747"/>
                  <a:gd name="T8" fmla="*/ 730 w 1723"/>
                  <a:gd name="T9" fmla="*/ 585 h 747"/>
                  <a:gd name="T10" fmla="*/ 1051 w 1723"/>
                  <a:gd name="T11" fmla="*/ 660 h 747"/>
                  <a:gd name="T12" fmla="*/ 1386 w 1723"/>
                  <a:gd name="T13" fmla="*/ 712 h 747"/>
                  <a:gd name="T14" fmla="*/ 1723 w 1723"/>
                  <a:gd name="T15" fmla="*/ 747 h 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23" h="747">
                    <a:moveTo>
                      <a:pt x="0" y="0"/>
                    </a:moveTo>
                    <a:cubicBezTo>
                      <a:pt x="11" y="29"/>
                      <a:pt x="30" y="115"/>
                      <a:pt x="64" y="172"/>
                    </a:cubicBezTo>
                    <a:cubicBezTo>
                      <a:pt x="98" y="229"/>
                      <a:pt x="145" y="294"/>
                      <a:pt x="205" y="345"/>
                    </a:cubicBezTo>
                    <a:cubicBezTo>
                      <a:pt x="265" y="396"/>
                      <a:pt x="339" y="436"/>
                      <a:pt x="426" y="476"/>
                    </a:cubicBezTo>
                    <a:cubicBezTo>
                      <a:pt x="513" y="516"/>
                      <a:pt x="626" y="554"/>
                      <a:pt x="730" y="585"/>
                    </a:cubicBezTo>
                    <a:cubicBezTo>
                      <a:pt x="834" y="616"/>
                      <a:pt x="942" y="639"/>
                      <a:pt x="1051" y="660"/>
                    </a:cubicBezTo>
                    <a:cubicBezTo>
                      <a:pt x="1160" y="681"/>
                      <a:pt x="1274" y="698"/>
                      <a:pt x="1386" y="712"/>
                    </a:cubicBezTo>
                    <a:cubicBezTo>
                      <a:pt x="1498" y="726"/>
                      <a:pt x="1653" y="740"/>
                      <a:pt x="1723" y="747"/>
                    </a:cubicBezTo>
                  </a:path>
                </a:pathLst>
              </a:custGeom>
              <a:noFill/>
              <a:ln w="19050" cap="flat" cmpd="sng">
                <a:solidFill>
                  <a:srgbClr val="A5002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6" name="Freeform 37"/>
              <p:cNvSpPr>
                <a:spLocks/>
              </p:cNvSpPr>
              <p:nvPr/>
            </p:nvSpPr>
            <p:spPr bwMode="auto">
              <a:xfrm>
                <a:off x="3485" y="834"/>
                <a:ext cx="1786" cy="989"/>
              </a:xfrm>
              <a:custGeom>
                <a:avLst/>
                <a:gdLst>
                  <a:gd name="T0" fmla="*/ 0 w 1786"/>
                  <a:gd name="T1" fmla="*/ 989 h 989"/>
                  <a:gd name="T2" fmla="*/ 0 w 1786"/>
                  <a:gd name="T3" fmla="*/ 0 h 989"/>
                  <a:gd name="T4" fmla="*/ 1786 w 1786"/>
                  <a:gd name="T5" fmla="*/ 0 h 9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786" h="989">
                    <a:moveTo>
                      <a:pt x="0" y="989"/>
                    </a:moveTo>
                    <a:lnTo>
                      <a:pt x="0" y="0"/>
                    </a:lnTo>
                    <a:lnTo>
                      <a:pt x="178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528638" y="1187930"/>
              <a:ext cx="3660776" cy="2338395"/>
              <a:chOff x="528638" y="559280"/>
              <a:chExt cx="3660776" cy="2338395"/>
            </a:xfrm>
          </p:grpSpPr>
          <p:grpSp>
            <p:nvGrpSpPr>
              <p:cNvPr id="48" name="Group 12"/>
              <p:cNvGrpSpPr>
                <a:grpSpLocks/>
              </p:cNvGrpSpPr>
              <p:nvPr/>
            </p:nvGrpSpPr>
            <p:grpSpPr bwMode="auto">
              <a:xfrm>
                <a:off x="528638" y="559280"/>
                <a:ext cx="3660776" cy="2338395"/>
                <a:chOff x="333" y="425"/>
                <a:chExt cx="2306" cy="1473"/>
              </a:xfrm>
            </p:grpSpPr>
            <p:grpSp>
              <p:nvGrpSpPr>
                <p:cNvPr id="51" name="Group 13"/>
                <p:cNvGrpSpPr>
                  <a:grpSpLocks/>
                </p:cNvGrpSpPr>
                <p:nvPr/>
              </p:nvGrpSpPr>
              <p:grpSpPr bwMode="auto">
                <a:xfrm>
                  <a:off x="1353" y="644"/>
                  <a:ext cx="1067" cy="165"/>
                  <a:chOff x="3544" y="1083"/>
                  <a:chExt cx="1067" cy="165"/>
                </a:xfrm>
              </p:grpSpPr>
              <p:sp>
                <p:nvSpPr>
                  <p:cNvPr id="59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3544" y="1083"/>
                    <a:ext cx="0" cy="165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 type="non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0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663" y="1083"/>
                    <a:ext cx="0" cy="165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 type="non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1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3782" y="1083"/>
                    <a:ext cx="0" cy="165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 type="non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2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3900" y="1083"/>
                    <a:ext cx="0" cy="165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 type="non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4019" y="1083"/>
                    <a:ext cx="0" cy="165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 type="non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4136" y="1083"/>
                    <a:ext cx="0" cy="165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 type="non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5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4255" y="1083"/>
                    <a:ext cx="0" cy="165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 type="non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6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4374" y="1083"/>
                    <a:ext cx="0" cy="165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 type="non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7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4492" y="1083"/>
                    <a:ext cx="0" cy="165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 type="non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8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4611" y="1083"/>
                    <a:ext cx="0" cy="165"/>
                  </a:xfrm>
                  <a:prstGeom prst="line">
                    <a:avLst/>
                  </a:prstGeom>
                  <a:noFill/>
                  <a:ln w="28575">
                    <a:solidFill>
                      <a:srgbClr val="000000"/>
                    </a:solidFill>
                    <a:miter lim="800000"/>
                    <a:headEnd type="non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52" name="Rectangle 24" descr="深色上对角线"/>
                <p:cNvSpPr>
                  <a:spLocks noChangeArrowheads="1"/>
                </p:cNvSpPr>
                <p:nvPr/>
              </p:nvSpPr>
              <p:spPr bwMode="auto">
                <a:xfrm>
                  <a:off x="1349" y="1639"/>
                  <a:ext cx="1078" cy="255"/>
                </a:xfrm>
                <a:prstGeom prst="rect">
                  <a:avLst/>
                </a:prstGeom>
                <a:pattFill prst="dkUpDiag">
                  <a:fgClr>
                    <a:srgbClr val="666633"/>
                  </a:fgClr>
                  <a:bgClr>
                    <a:schemeClr val="hlink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Rectangle 25"/>
                <p:cNvSpPr>
                  <a:spLocks noChangeArrowheads="1"/>
                </p:cNvSpPr>
                <p:nvPr/>
              </p:nvSpPr>
              <p:spPr bwMode="auto">
                <a:xfrm>
                  <a:off x="1349" y="806"/>
                  <a:ext cx="1078" cy="833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Rectangle 26" descr="浅色横线"/>
                <p:cNvSpPr>
                  <a:spLocks noChangeAspect="1" noChangeArrowheads="1"/>
                </p:cNvSpPr>
                <p:nvPr/>
              </p:nvSpPr>
              <p:spPr bwMode="auto">
                <a:xfrm>
                  <a:off x="1661" y="809"/>
                  <a:ext cx="252" cy="830"/>
                </a:xfrm>
                <a:prstGeom prst="rect">
                  <a:avLst/>
                </a:prstGeom>
                <a:pattFill prst="ltHorz">
                  <a:fgClr>
                    <a:schemeClr val="hlink"/>
                  </a:fgClr>
                  <a:bgClr>
                    <a:schemeClr val="accent1"/>
                  </a:bgClr>
                </a:pattFill>
                <a:ln w="9525">
                  <a:solidFill>
                    <a:srgbClr val="000066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zh-CN" altLang="en-US" sz="2000" b="1">
                    <a:solidFill>
                      <a:srgbClr val="666633"/>
                    </a:solidFill>
                    <a:latin typeface="幼圆" pitchFamily="49" charset="-122"/>
                    <a:ea typeface="幼圆" pitchFamily="49" charset="-122"/>
                    <a:sym typeface="Symbol" pitchFamily="18" charset="2"/>
                  </a:endParaRPr>
                </a:p>
              </p:txBody>
            </p:sp>
            <p:sp>
              <p:nvSpPr>
                <p:cNvPr id="55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33" y="1665"/>
                  <a:ext cx="974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990033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2400" b="1">
                      <a:solidFill>
                        <a:srgbClr val="000066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  <a:sym typeface="Symbol" pitchFamily="18" charset="2"/>
                    </a:rPr>
                    <a:t>不可压缩层</a:t>
                  </a:r>
                </a:p>
              </p:txBody>
            </p:sp>
            <p:sp>
              <p:nvSpPr>
                <p:cNvPr id="56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480" y="1042"/>
                  <a:ext cx="780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990033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2400" b="1" dirty="0">
                      <a:solidFill>
                        <a:srgbClr val="000066"/>
                      </a:solidFill>
                      <a:latin typeface="幼圆" panose="02010509060101010101" pitchFamily="49" charset="-122"/>
                      <a:ea typeface="幼圆" panose="02010509060101010101" pitchFamily="49" charset="-122"/>
                      <a:sym typeface="Symbol" pitchFamily="18" charset="2"/>
                    </a:rPr>
                    <a:t>可压缩层</a:t>
                  </a:r>
                </a:p>
              </p:txBody>
            </p:sp>
            <p:sp>
              <p:nvSpPr>
                <p:cNvPr id="57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1888" y="1072"/>
                  <a:ext cx="482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990033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l-GR" altLang="zh-CN" sz="2400" b="1" i="1" dirty="0">
                      <a:solidFill>
                        <a:srgbClr val="000000"/>
                      </a:solidFill>
                      <a:ea typeface="幼圆" pitchFamily="49" charset="-122"/>
                      <a:sym typeface="Symbol" pitchFamily="18" charset="2"/>
                    </a:rPr>
                    <a:t>σ</a:t>
                  </a:r>
                  <a:r>
                    <a:rPr kumimoji="1" lang="en-US" altLang="zh-CN" sz="2400" b="1" baseline="-25000" dirty="0">
                      <a:solidFill>
                        <a:srgbClr val="000000"/>
                      </a:solidFill>
                      <a:ea typeface="幼圆" pitchFamily="49" charset="-122"/>
                      <a:sym typeface="Symbol" pitchFamily="18" charset="2"/>
                    </a:rPr>
                    <a:t>z</a:t>
                  </a:r>
                  <a:r>
                    <a:rPr kumimoji="1" lang="en-US" altLang="zh-CN" sz="2400" b="1" dirty="0">
                      <a:solidFill>
                        <a:srgbClr val="000000"/>
                      </a:solidFill>
                      <a:ea typeface="幼圆" pitchFamily="49" charset="-122"/>
                      <a:sym typeface="Symbol" pitchFamily="18" charset="2"/>
                    </a:rPr>
                    <a:t>=</a:t>
                  </a:r>
                  <a:r>
                    <a:rPr kumimoji="1" lang="en-US" altLang="zh-CN" sz="2400" b="1" i="1" dirty="0">
                      <a:solidFill>
                        <a:srgbClr val="000000"/>
                      </a:solidFill>
                      <a:ea typeface="幼圆" pitchFamily="49" charset="-122"/>
                      <a:sym typeface="Symbol" pitchFamily="18" charset="2"/>
                    </a:rPr>
                    <a:t>p</a:t>
                  </a:r>
                </a:p>
              </p:txBody>
            </p:sp>
            <p:sp>
              <p:nvSpPr>
                <p:cNvPr id="58" name="Rectangle 30"/>
                <p:cNvSpPr>
                  <a:spLocks noChangeArrowheads="1"/>
                </p:cNvSpPr>
                <p:nvPr/>
              </p:nvSpPr>
              <p:spPr bwMode="auto">
                <a:xfrm>
                  <a:off x="2426" y="425"/>
                  <a:ext cx="21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FF0000"/>
                      </a:solidFill>
                      <a:miter lim="800000"/>
                      <a:headEnd type="none" w="med" len="lg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2400" b="1" i="1" dirty="0">
                      <a:cs typeface="Times New Roman" panose="02020603050405020304" pitchFamily="18" charset="0"/>
                    </a:rPr>
                    <a:t>p</a:t>
                  </a:r>
                  <a:endParaRPr kumimoji="1" lang="zh-CN" altLang="en-US" sz="2400" b="1" i="1" dirty="0"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49" name="直接连接符 48"/>
              <p:cNvCxnSpPr/>
              <p:nvPr/>
            </p:nvCxnSpPr>
            <p:spPr bwMode="auto">
              <a:xfrm>
                <a:off x="2128837" y="1157288"/>
                <a:ext cx="1724025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0" name="直接连接符 49"/>
              <p:cNvCxnSpPr/>
              <p:nvPr/>
            </p:nvCxnSpPr>
            <p:spPr bwMode="auto">
              <a:xfrm>
                <a:off x="2128838" y="904877"/>
                <a:ext cx="1724025" cy="0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1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0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6160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61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61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1000"/>
                                        <p:tgtEl>
                                          <p:spTgt spid="156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616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61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561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1604" grpId="0" build="p" autoUpdateAnimBg="0" advAuto="0"/>
      <p:bldP spid="1561605" grpId="0" build="p" animBg="1" autoUpdateAnimBg="0"/>
      <p:bldP spid="1561634" grpId="0" animBg="1"/>
      <p:bldP spid="156163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627" name="Rectangle 3"/>
          <p:cNvSpPr>
            <a:spLocks noChangeArrowheads="1"/>
          </p:cNvSpPr>
          <p:nvPr/>
        </p:nvSpPr>
        <p:spPr bwMode="auto">
          <a:xfrm>
            <a:off x="1679575" y="1436688"/>
            <a:ext cx="6016625" cy="2936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625475" indent="-625475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饱和土一维渗流固结理论</a:t>
            </a:r>
            <a:b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</a:b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（</a:t>
            </a:r>
            <a:r>
              <a:rPr kumimoji="1" lang="en-US" altLang="zh-CN" sz="2800" b="1" dirty="0" err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Terzaghi</a:t>
            </a: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渗流固结理论）</a:t>
            </a:r>
          </a:p>
          <a:p>
            <a:pPr marL="625475" indent="-625475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固结度的计算</a:t>
            </a:r>
          </a:p>
          <a:p>
            <a:pPr marL="625475" indent="-625475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有关沉降－时间的工程问题</a:t>
            </a:r>
          </a:p>
          <a:p>
            <a:pPr marL="625475" indent="-625475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固结系数的</a:t>
            </a:r>
            <a:r>
              <a:rPr kumimoji="1" lang="zh-CN" altLang="en-US" sz="2800" b="1" dirty="0" smtClean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测定</a:t>
            </a:r>
            <a:endParaRPr kumimoji="1" lang="zh-CN" altLang="en-US" sz="2800" b="1" dirty="0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62628" name="Text Box 4"/>
          <p:cNvSpPr txBox="1">
            <a:spLocks noChangeArrowheads="1"/>
          </p:cNvSpPr>
          <p:nvPr/>
        </p:nvSpPr>
        <p:spPr bwMode="auto">
          <a:xfrm>
            <a:off x="2360319" y="5726113"/>
            <a:ext cx="58801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饱和土体的渗流固结理论</a:t>
            </a:r>
          </a:p>
        </p:txBody>
      </p:sp>
      <p:sp>
        <p:nvSpPr>
          <p:cNvPr id="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-9525" y="0"/>
            <a:ext cx="4838978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62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56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56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56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2627" grpId="0" uiExpand="1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651" name="Text Box 3"/>
          <p:cNvSpPr txBox="1">
            <a:spLocks noChangeArrowheads="1"/>
          </p:cNvSpPr>
          <p:nvPr/>
        </p:nvSpPr>
        <p:spPr bwMode="auto">
          <a:xfrm>
            <a:off x="685800" y="835025"/>
            <a:ext cx="7205663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Clr>
                <a:srgbClr val="A50021"/>
              </a:buClr>
              <a:buFont typeface="Wingdings" pitchFamily="2" charset="2"/>
              <a:buChar char="n"/>
            </a:pP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渗透固结理论是针对土这种多孔多相松散介质</a:t>
            </a: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,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建立起来的反映土体变形过程的基本理论。土力学的创始人</a:t>
            </a:r>
            <a:r>
              <a:rPr kumimoji="0" lang="en-US" altLang="zh-CN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Terzaghi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教授于</a:t>
            </a: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20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世纪</a:t>
            </a:r>
            <a:r>
              <a:rPr kumimoji="0"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20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年代提出饱和土的一维渗透固结理论</a:t>
            </a:r>
          </a:p>
        </p:txBody>
      </p:sp>
      <p:sp>
        <p:nvSpPr>
          <p:cNvPr id="1563652" name="Text Box 4"/>
          <p:cNvSpPr txBox="1">
            <a:spLocks noChangeArrowheads="1"/>
          </p:cNvSpPr>
          <p:nvPr/>
        </p:nvSpPr>
        <p:spPr bwMode="auto">
          <a:xfrm>
            <a:off x="2332038" y="3138488"/>
            <a:ext cx="5668962" cy="206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Tx/>
              <a:buChar char="•"/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物理模型 － 太沙基一维渗透固结模型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Tx/>
              <a:buChar char="•"/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数学模型 － 渗透固结微分方程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Tx/>
              <a:buChar char="•"/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方程求解 － 理论解答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FontTx/>
              <a:buChar char="•"/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固结程度 － 固结度的概念</a:t>
            </a:r>
          </a:p>
        </p:txBody>
      </p:sp>
      <p:sp>
        <p:nvSpPr>
          <p:cNvPr id="1563653" name="Rectangle 5"/>
          <p:cNvSpPr>
            <a:spLocks noChangeArrowheads="1"/>
          </p:cNvSpPr>
          <p:nvPr/>
        </p:nvSpPr>
        <p:spPr bwMode="auto">
          <a:xfrm>
            <a:off x="2689225" y="5815013"/>
            <a:ext cx="5129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一维渗流固结理论</a:t>
            </a:r>
          </a:p>
        </p:txBody>
      </p:sp>
      <p:sp>
        <p:nvSpPr>
          <p:cNvPr id="1563654" name="AutoShape 6"/>
          <p:cNvSpPr>
            <a:spLocks noChangeArrowheads="1"/>
          </p:cNvSpPr>
          <p:nvPr/>
        </p:nvSpPr>
        <p:spPr bwMode="auto">
          <a:xfrm>
            <a:off x="1254125" y="3338513"/>
            <a:ext cx="715963" cy="534987"/>
          </a:xfrm>
          <a:prstGeom prst="homePlate">
            <a:avLst>
              <a:gd name="adj" fmla="val 35855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636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63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63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1000"/>
                                        <p:tgtEl>
                                          <p:spTgt spid="156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1563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1563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1000"/>
                                        <p:tgtEl>
                                          <p:spTgt spid="1563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1000"/>
                                        <p:tgtEl>
                                          <p:spTgt spid="1563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3651" grpId="0"/>
      <p:bldP spid="1563652" grpId="0" build="p"/>
      <p:bldP spid="156365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675" name="Rectangle 3"/>
          <p:cNvSpPr>
            <a:spLocks noChangeArrowheads="1"/>
          </p:cNvSpPr>
          <p:nvPr/>
        </p:nvSpPr>
        <p:spPr bwMode="auto">
          <a:xfrm>
            <a:off x="2109201" y="5772857"/>
            <a:ext cx="63103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en-US" altLang="zh-CN" sz="4000" b="1" dirty="0" err="1">
                <a:solidFill>
                  <a:srgbClr val="000066"/>
                </a:solidFill>
                <a:ea typeface="黑体" pitchFamily="2" charset="-122"/>
              </a:rPr>
              <a:t>Terzaghi</a:t>
            </a: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一维渗流固结模型</a:t>
            </a:r>
          </a:p>
        </p:txBody>
      </p:sp>
      <p:sp>
        <p:nvSpPr>
          <p:cNvPr id="1564678" name="Rectangle 6"/>
          <p:cNvSpPr>
            <a:spLocks noChangeArrowheads="1"/>
          </p:cNvSpPr>
          <p:nvPr/>
        </p:nvSpPr>
        <p:spPr bwMode="auto">
          <a:xfrm>
            <a:off x="458788" y="949325"/>
            <a:ext cx="4287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9933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Font typeface="Wingdings" pitchFamily="2" charset="2"/>
              <a:buChar char="l"/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实践背景：大面积均布荷载</a:t>
            </a:r>
          </a:p>
        </p:txBody>
      </p:sp>
      <p:sp>
        <p:nvSpPr>
          <p:cNvPr id="1564679" name="AutoShape 7"/>
          <p:cNvSpPr>
            <a:spLocks noChangeArrowheads="1"/>
          </p:cNvSpPr>
          <p:nvPr/>
        </p:nvSpPr>
        <p:spPr bwMode="auto">
          <a:xfrm>
            <a:off x="4824413" y="2535238"/>
            <a:ext cx="679450" cy="714375"/>
          </a:xfrm>
          <a:prstGeom prst="rightArrow">
            <a:avLst>
              <a:gd name="adj1" fmla="val 51556"/>
              <a:gd name="adj2" fmla="val 50231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4680" name="Text Box 8"/>
          <p:cNvSpPr txBox="1">
            <a:spLocks noChangeArrowheads="1"/>
          </p:cNvSpPr>
          <p:nvPr/>
        </p:nvSpPr>
        <p:spPr bwMode="auto">
          <a:xfrm>
            <a:off x="5643563" y="1006475"/>
            <a:ext cx="27876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侧限状态的简化模型</a:t>
            </a:r>
            <a:endParaRPr kumimoji="1" lang="en-US" altLang="zh-CN" sz="2400" b="1">
              <a:solidFill>
                <a:srgbClr val="000066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grpSp>
        <p:nvGrpSpPr>
          <p:cNvPr id="1564681" name="Group 9"/>
          <p:cNvGrpSpPr>
            <a:grpSpLocks/>
          </p:cNvGrpSpPr>
          <p:nvPr/>
        </p:nvGrpSpPr>
        <p:grpSpPr bwMode="auto">
          <a:xfrm>
            <a:off x="687388" y="1508125"/>
            <a:ext cx="3657600" cy="2528888"/>
            <a:chOff x="307" y="1284"/>
            <a:chExt cx="2285" cy="1593"/>
          </a:xfrm>
        </p:grpSpPr>
        <p:grpSp>
          <p:nvGrpSpPr>
            <p:cNvPr id="1564682" name="Group 10"/>
            <p:cNvGrpSpPr>
              <a:grpSpLocks/>
            </p:cNvGrpSpPr>
            <p:nvPr/>
          </p:nvGrpSpPr>
          <p:grpSpPr bwMode="auto">
            <a:xfrm>
              <a:off x="1192" y="1566"/>
              <a:ext cx="1067" cy="165"/>
              <a:chOff x="3544" y="1083"/>
              <a:chExt cx="1067" cy="165"/>
            </a:xfrm>
          </p:grpSpPr>
          <p:sp>
            <p:nvSpPr>
              <p:cNvPr id="1564683" name="Line 11"/>
              <p:cNvSpPr>
                <a:spLocks noChangeShapeType="1"/>
              </p:cNvSpPr>
              <p:nvPr/>
            </p:nvSpPr>
            <p:spPr bwMode="auto">
              <a:xfrm>
                <a:off x="3544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684" name="Line 12"/>
              <p:cNvSpPr>
                <a:spLocks noChangeShapeType="1"/>
              </p:cNvSpPr>
              <p:nvPr/>
            </p:nvSpPr>
            <p:spPr bwMode="auto">
              <a:xfrm>
                <a:off x="3663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685" name="Line 13"/>
              <p:cNvSpPr>
                <a:spLocks noChangeShapeType="1"/>
              </p:cNvSpPr>
              <p:nvPr/>
            </p:nvSpPr>
            <p:spPr bwMode="auto">
              <a:xfrm>
                <a:off x="3782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686" name="Line 14"/>
              <p:cNvSpPr>
                <a:spLocks noChangeShapeType="1"/>
              </p:cNvSpPr>
              <p:nvPr/>
            </p:nvSpPr>
            <p:spPr bwMode="auto">
              <a:xfrm>
                <a:off x="3900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687" name="Line 15"/>
              <p:cNvSpPr>
                <a:spLocks noChangeShapeType="1"/>
              </p:cNvSpPr>
              <p:nvPr/>
            </p:nvSpPr>
            <p:spPr bwMode="auto">
              <a:xfrm>
                <a:off x="4019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688" name="Line 16"/>
              <p:cNvSpPr>
                <a:spLocks noChangeShapeType="1"/>
              </p:cNvSpPr>
              <p:nvPr/>
            </p:nvSpPr>
            <p:spPr bwMode="auto">
              <a:xfrm>
                <a:off x="4136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689" name="Line 17"/>
              <p:cNvSpPr>
                <a:spLocks noChangeShapeType="1"/>
              </p:cNvSpPr>
              <p:nvPr/>
            </p:nvSpPr>
            <p:spPr bwMode="auto">
              <a:xfrm>
                <a:off x="4255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690" name="Line 18"/>
              <p:cNvSpPr>
                <a:spLocks noChangeShapeType="1"/>
              </p:cNvSpPr>
              <p:nvPr/>
            </p:nvSpPr>
            <p:spPr bwMode="auto">
              <a:xfrm>
                <a:off x="4374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691" name="Line 19"/>
              <p:cNvSpPr>
                <a:spLocks noChangeShapeType="1"/>
              </p:cNvSpPr>
              <p:nvPr/>
            </p:nvSpPr>
            <p:spPr bwMode="auto">
              <a:xfrm>
                <a:off x="4492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692" name="Line 20"/>
              <p:cNvSpPr>
                <a:spLocks noChangeShapeType="1"/>
              </p:cNvSpPr>
              <p:nvPr/>
            </p:nvSpPr>
            <p:spPr bwMode="auto">
              <a:xfrm>
                <a:off x="4611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64693" name="Rectangle 21" descr="5%"/>
            <p:cNvSpPr>
              <a:spLocks noChangeArrowheads="1"/>
            </p:cNvSpPr>
            <p:nvPr/>
          </p:nvSpPr>
          <p:spPr bwMode="auto">
            <a:xfrm>
              <a:off x="911" y="1728"/>
              <a:ext cx="1681" cy="847"/>
            </a:xfrm>
            <a:prstGeom prst="rect">
              <a:avLst/>
            </a:prstGeom>
            <a:pattFill prst="pct5">
              <a:fgClr>
                <a:srgbClr val="FFCC99"/>
              </a:fgClr>
              <a:bgClr>
                <a:srgbClr val="66CC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4694" name="Rectangle 22" descr="浅色横线"/>
            <p:cNvSpPr>
              <a:spLocks noChangeAspect="1" noChangeArrowheads="1"/>
            </p:cNvSpPr>
            <p:nvPr/>
          </p:nvSpPr>
          <p:spPr bwMode="auto">
            <a:xfrm>
              <a:off x="1290" y="1726"/>
              <a:ext cx="252" cy="854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chemeClr val="accent2"/>
              </a:bgClr>
            </a:patt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64695" name="Rectangle 23"/>
            <p:cNvSpPr>
              <a:spLocks noChangeArrowheads="1"/>
            </p:cNvSpPr>
            <p:nvPr/>
          </p:nvSpPr>
          <p:spPr bwMode="auto">
            <a:xfrm>
              <a:off x="1616" y="1284"/>
              <a:ext cx="19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endParaRPr kumimoji="1" lang="zh-CN" altLang="en-US" sz="20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564696" name="Text Box 24"/>
            <p:cNvSpPr txBox="1">
              <a:spLocks noChangeArrowheads="1"/>
            </p:cNvSpPr>
            <p:nvPr/>
          </p:nvSpPr>
          <p:spPr bwMode="auto">
            <a:xfrm>
              <a:off x="1530" y="1878"/>
              <a:ext cx="4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l-GR" altLang="zh-CN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σ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  <a:r>
                <a:rPr kumimoji="1" lang="en-US" altLang="zh-CN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=</a:t>
              </a: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p</a:t>
              </a:r>
            </a:p>
          </p:txBody>
        </p:sp>
        <p:sp>
          <p:nvSpPr>
            <p:cNvPr id="1564697" name="Line 25"/>
            <p:cNvSpPr>
              <a:spLocks noChangeShapeType="1"/>
            </p:cNvSpPr>
            <p:nvPr/>
          </p:nvSpPr>
          <p:spPr bwMode="auto">
            <a:xfrm>
              <a:off x="913" y="1723"/>
              <a:ext cx="1671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698" name="Text Box 26"/>
            <p:cNvSpPr txBox="1">
              <a:spLocks noChangeArrowheads="1"/>
            </p:cNvSpPr>
            <p:nvPr/>
          </p:nvSpPr>
          <p:spPr bwMode="auto">
            <a:xfrm>
              <a:off x="871" y="1362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564699" name="Line 27"/>
            <p:cNvSpPr>
              <a:spLocks noChangeShapeType="1"/>
            </p:cNvSpPr>
            <p:nvPr/>
          </p:nvSpPr>
          <p:spPr bwMode="auto">
            <a:xfrm flipH="1">
              <a:off x="904" y="1633"/>
              <a:ext cx="2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700" name="Text Box 28"/>
            <p:cNvSpPr txBox="1">
              <a:spLocks noChangeArrowheads="1"/>
            </p:cNvSpPr>
            <p:nvPr/>
          </p:nvSpPr>
          <p:spPr bwMode="auto">
            <a:xfrm flipH="1">
              <a:off x="2321" y="1354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564701" name="Line 29"/>
            <p:cNvSpPr>
              <a:spLocks noChangeShapeType="1"/>
            </p:cNvSpPr>
            <p:nvPr/>
          </p:nvSpPr>
          <p:spPr bwMode="auto">
            <a:xfrm>
              <a:off x="2353" y="1625"/>
              <a:ext cx="2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702" name="Rectangle 30" descr="深色上对角线"/>
            <p:cNvSpPr>
              <a:spLocks noChangeArrowheads="1"/>
            </p:cNvSpPr>
            <p:nvPr/>
          </p:nvSpPr>
          <p:spPr bwMode="auto">
            <a:xfrm>
              <a:off x="911" y="2572"/>
              <a:ext cx="1680" cy="255"/>
            </a:xfrm>
            <a:prstGeom prst="rect">
              <a:avLst/>
            </a:prstGeom>
            <a:pattFill prst="dkUpDiag">
              <a:fgClr>
                <a:srgbClr val="666633"/>
              </a:fgClr>
              <a:bgClr>
                <a:schemeClr val="hlink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4703" name="Text Box 31"/>
            <p:cNvSpPr txBox="1">
              <a:spLocks noChangeArrowheads="1"/>
            </p:cNvSpPr>
            <p:nvPr/>
          </p:nvSpPr>
          <p:spPr bwMode="auto">
            <a:xfrm>
              <a:off x="307" y="2493"/>
              <a:ext cx="479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不透水</a:t>
              </a:r>
              <a:b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</a:b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岩层</a:t>
              </a:r>
            </a:p>
          </p:txBody>
        </p:sp>
        <p:sp>
          <p:nvSpPr>
            <p:cNvPr id="1564704" name="Text Box 32"/>
            <p:cNvSpPr txBox="1">
              <a:spLocks noChangeArrowheads="1"/>
            </p:cNvSpPr>
            <p:nvPr/>
          </p:nvSpPr>
          <p:spPr bwMode="auto">
            <a:xfrm>
              <a:off x="322" y="1892"/>
              <a:ext cx="483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饱和</a:t>
              </a:r>
              <a:b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</a:b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压缩层</a:t>
              </a:r>
            </a:p>
          </p:txBody>
        </p:sp>
      </p:grpSp>
      <p:grpSp>
        <p:nvGrpSpPr>
          <p:cNvPr id="1564705" name="Group 33"/>
          <p:cNvGrpSpPr>
            <a:grpSpLocks/>
          </p:cNvGrpSpPr>
          <p:nvPr/>
        </p:nvGrpSpPr>
        <p:grpSpPr bwMode="auto">
          <a:xfrm>
            <a:off x="2863852" y="2744792"/>
            <a:ext cx="1577976" cy="849313"/>
            <a:chOff x="1678" y="2063"/>
            <a:chExt cx="994" cy="535"/>
          </a:xfrm>
        </p:grpSpPr>
        <p:sp>
          <p:nvSpPr>
            <p:cNvPr id="1564706" name="AutoShape 34"/>
            <p:cNvSpPr>
              <a:spLocks noChangeArrowheads="1"/>
            </p:cNvSpPr>
            <p:nvPr/>
          </p:nvSpPr>
          <p:spPr bwMode="auto">
            <a:xfrm>
              <a:off x="2041" y="2368"/>
              <a:ext cx="197" cy="204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4707" name="Line 35"/>
            <p:cNvSpPr>
              <a:spLocks noChangeShapeType="1"/>
            </p:cNvSpPr>
            <p:nvPr/>
          </p:nvSpPr>
          <p:spPr bwMode="auto">
            <a:xfrm>
              <a:off x="2129" y="2224"/>
              <a:ext cx="0" cy="1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708" name="Text Box 36"/>
            <p:cNvSpPr txBox="1">
              <a:spLocks noChangeArrowheads="1"/>
            </p:cNvSpPr>
            <p:nvPr/>
          </p:nvSpPr>
          <p:spPr bwMode="auto">
            <a:xfrm>
              <a:off x="2137" y="2063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>
                  <a:solidFill>
                    <a:srgbClr val="000066"/>
                  </a:solidFill>
                  <a:ea typeface="幼圆" pitchFamily="49" charset="-122"/>
                </a:rPr>
                <a:t>p</a:t>
              </a:r>
            </a:p>
          </p:txBody>
        </p:sp>
        <p:sp>
          <p:nvSpPr>
            <p:cNvPr id="1564709" name="Text Box 37"/>
            <p:cNvSpPr txBox="1">
              <a:spLocks noChangeArrowheads="1"/>
            </p:cNvSpPr>
            <p:nvPr/>
          </p:nvSpPr>
          <p:spPr bwMode="auto">
            <a:xfrm>
              <a:off x="2286" y="2316"/>
              <a:ext cx="38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</a:rPr>
                <a:t>K</a:t>
              </a:r>
              <a:r>
                <a:rPr lang="en-US" altLang="zh-CN" sz="2000" b="1" baseline="-25000" dirty="0" smtClean="0">
                  <a:solidFill>
                    <a:srgbClr val="000066"/>
                  </a:solidFill>
                  <a:ea typeface="幼圆" pitchFamily="49" charset="-122"/>
                </a:rPr>
                <a:t>0</a:t>
              </a:r>
              <a:r>
                <a:rPr lang="en-US" altLang="zh-CN" sz="2000" b="1" i="1" baseline="-25000" dirty="0" smtClean="0">
                  <a:solidFill>
                    <a:srgbClr val="000066"/>
                  </a:solidFill>
                  <a:ea typeface="幼圆" pitchFamily="49" charset="-122"/>
                </a:rPr>
                <a:t> </a:t>
              </a: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endParaRPr lang="en-US" altLang="zh-CN" sz="2000" b="1" i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64710" name="Line 38"/>
            <p:cNvSpPr>
              <a:spLocks noChangeShapeType="1"/>
            </p:cNvSpPr>
            <p:nvPr/>
          </p:nvSpPr>
          <p:spPr bwMode="auto">
            <a:xfrm flipH="1">
              <a:off x="2211" y="2461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711" name="Line 39"/>
            <p:cNvSpPr>
              <a:spLocks noChangeShapeType="1"/>
            </p:cNvSpPr>
            <p:nvPr/>
          </p:nvSpPr>
          <p:spPr bwMode="auto">
            <a:xfrm flipV="1">
              <a:off x="2009" y="249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4712" name="Text Box 40"/>
            <p:cNvSpPr txBox="1">
              <a:spLocks noChangeArrowheads="1"/>
            </p:cNvSpPr>
            <p:nvPr/>
          </p:nvSpPr>
          <p:spPr bwMode="auto">
            <a:xfrm>
              <a:off x="1678" y="2346"/>
              <a:ext cx="38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</a:rPr>
                <a:t>K</a:t>
              </a:r>
              <a:r>
                <a:rPr lang="en-US" altLang="zh-CN" sz="2000" b="1" baseline="-25000" dirty="0" smtClean="0">
                  <a:solidFill>
                    <a:srgbClr val="000066"/>
                  </a:solidFill>
                  <a:ea typeface="幼圆" pitchFamily="49" charset="-122"/>
                </a:rPr>
                <a:t>0</a:t>
              </a:r>
              <a:r>
                <a:rPr lang="en-US" altLang="zh-CN" sz="2000" b="1" i="1" baseline="-25000" dirty="0" smtClean="0">
                  <a:solidFill>
                    <a:srgbClr val="000066"/>
                  </a:solidFill>
                  <a:ea typeface="幼圆" pitchFamily="49" charset="-122"/>
                </a:rPr>
                <a:t> </a:t>
              </a: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endParaRPr lang="en-US" altLang="zh-CN" sz="2000" b="1" i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sp>
        <p:nvSpPr>
          <p:cNvPr id="1564713" name="Text Box 41"/>
          <p:cNvSpPr txBox="1">
            <a:spLocks noChangeArrowheads="1"/>
          </p:cNvSpPr>
          <p:nvPr/>
        </p:nvSpPr>
        <p:spPr bwMode="auto">
          <a:xfrm>
            <a:off x="2701926" y="4356100"/>
            <a:ext cx="4938711" cy="1089529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marL="447675" indent="-447675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95000"/>
                </a:schemeClr>
              </a:buClr>
              <a:buSzPct val="135000"/>
              <a:buFont typeface="Wingdings" pitchFamily="2" charset="2"/>
              <a:buChar char="F"/>
            </a:pP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</a:rPr>
              <a:t>处于侧限状态，渗流和土体的变形只沿竖向发生</a:t>
            </a:r>
            <a:endParaRPr lang="en-US" altLang="zh-CN" sz="2400" b="1" dirty="0">
              <a:solidFill>
                <a:schemeClr val="bg1">
                  <a:lumMod val="95000"/>
                </a:schemeClr>
              </a:solidFill>
              <a:ea typeface="幼圆" pitchFamily="49" charset="-122"/>
            </a:endParaRPr>
          </a:p>
        </p:txBody>
      </p:sp>
      <p:grpSp>
        <p:nvGrpSpPr>
          <p:cNvPr id="1564714" name="Group 42"/>
          <p:cNvGrpSpPr>
            <a:grpSpLocks/>
          </p:cNvGrpSpPr>
          <p:nvPr/>
        </p:nvGrpSpPr>
        <p:grpSpPr bwMode="auto">
          <a:xfrm>
            <a:off x="5973763" y="1590675"/>
            <a:ext cx="2820987" cy="2065338"/>
            <a:chOff x="3757" y="1294"/>
            <a:chExt cx="1777" cy="1301"/>
          </a:xfrm>
        </p:grpSpPr>
        <p:sp>
          <p:nvSpPr>
            <p:cNvPr id="1564715" name="Rectangle 43" descr="5%"/>
            <p:cNvSpPr>
              <a:spLocks noChangeArrowheads="1"/>
            </p:cNvSpPr>
            <p:nvPr/>
          </p:nvSpPr>
          <p:spPr bwMode="auto">
            <a:xfrm>
              <a:off x="3763" y="1748"/>
              <a:ext cx="894" cy="847"/>
            </a:xfrm>
            <a:prstGeom prst="rect">
              <a:avLst/>
            </a:prstGeom>
            <a:pattFill prst="pct5">
              <a:fgClr>
                <a:srgbClr val="FFCC99"/>
              </a:fgClr>
              <a:bgClr>
                <a:srgbClr val="66CC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4716" name="Freeform 44"/>
            <p:cNvSpPr>
              <a:spLocks/>
            </p:cNvSpPr>
            <p:nvPr/>
          </p:nvSpPr>
          <p:spPr bwMode="auto">
            <a:xfrm>
              <a:off x="3757" y="1724"/>
              <a:ext cx="907" cy="867"/>
            </a:xfrm>
            <a:custGeom>
              <a:avLst/>
              <a:gdLst>
                <a:gd name="T0" fmla="*/ 0 w 907"/>
                <a:gd name="T1" fmla="*/ 0 h 992"/>
                <a:gd name="T2" fmla="*/ 0 w 907"/>
                <a:gd name="T3" fmla="*/ 992 h 992"/>
                <a:gd name="T4" fmla="*/ 907 w 907"/>
                <a:gd name="T5" fmla="*/ 992 h 992"/>
                <a:gd name="T6" fmla="*/ 907 w 907"/>
                <a:gd name="T7" fmla="*/ 0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7" h="992">
                  <a:moveTo>
                    <a:pt x="0" y="0"/>
                  </a:moveTo>
                  <a:lnTo>
                    <a:pt x="0" y="992"/>
                  </a:lnTo>
                  <a:lnTo>
                    <a:pt x="907" y="992"/>
                  </a:lnTo>
                  <a:lnTo>
                    <a:pt x="907" y="0"/>
                  </a:lnTo>
                </a:path>
              </a:pathLst>
            </a:custGeom>
            <a:noFill/>
            <a:ln w="76200" cap="flat" cmpd="sng">
              <a:solidFill>
                <a:srgbClr val="990033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564717" name="Group 45"/>
            <p:cNvGrpSpPr>
              <a:grpSpLocks/>
            </p:cNvGrpSpPr>
            <p:nvPr/>
          </p:nvGrpSpPr>
          <p:grpSpPr bwMode="auto">
            <a:xfrm>
              <a:off x="3801" y="1571"/>
              <a:ext cx="822" cy="165"/>
              <a:chOff x="3525" y="981"/>
              <a:chExt cx="829" cy="165"/>
            </a:xfrm>
          </p:grpSpPr>
          <p:sp>
            <p:nvSpPr>
              <p:cNvPr id="1564718" name="Line 46"/>
              <p:cNvSpPr>
                <a:spLocks noChangeShapeType="1"/>
              </p:cNvSpPr>
              <p:nvPr/>
            </p:nvSpPr>
            <p:spPr bwMode="auto">
              <a:xfrm>
                <a:off x="3525" y="981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719" name="Line 47"/>
              <p:cNvSpPr>
                <a:spLocks noChangeShapeType="1"/>
              </p:cNvSpPr>
              <p:nvPr/>
            </p:nvSpPr>
            <p:spPr bwMode="auto">
              <a:xfrm>
                <a:off x="3643" y="981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720" name="Line 48"/>
              <p:cNvSpPr>
                <a:spLocks noChangeShapeType="1"/>
              </p:cNvSpPr>
              <p:nvPr/>
            </p:nvSpPr>
            <p:spPr bwMode="auto">
              <a:xfrm>
                <a:off x="3762" y="981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721" name="Line 49"/>
              <p:cNvSpPr>
                <a:spLocks noChangeShapeType="1"/>
              </p:cNvSpPr>
              <p:nvPr/>
            </p:nvSpPr>
            <p:spPr bwMode="auto">
              <a:xfrm>
                <a:off x="3879" y="981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722" name="Line 50"/>
              <p:cNvSpPr>
                <a:spLocks noChangeShapeType="1"/>
              </p:cNvSpPr>
              <p:nvPr/>
            </p:nvSpPr>
            <p:spPr bwMode="auto">
              <a:xfrm>
                <a:off x="3998" y="981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723" name="Line 51"/>
              <p:cNvSpPr>
                <a:spLocks noChangeShapeType="1"/>
              </p:cNvSpPr>
              <p:nvPr/>
            </p:nvSpPr>
            <p:spPr bwMode="auto">
              <a:xfrm>
                <a:off x="4117" y="981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724" name="Line 52"/>
              <p:cNvSpPr>
                <a:spLocks noChangeShapeType="1"/>
              </p:cNvSpPr>
              <p:nvPr/>
            </p:nvSpPr>
            <p:spPr bwMode="auto">
              <a:xfrm>
                <a:off x="4235" y="981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4725" name="Line 53"/>
              <p:cNvSpPr>
                <a:spLocks noChangeShapeType="1"/>
              </p:cNvSpPr>
              <p:nvPr/>
            </p:nvSpPr>
            <p:spPr bwMode="auto">
              <a:xfrm>
                <a:off x="4354" y="981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64726" name="Rectangle 54"/>
            <p:cNvSpPr>
              <a:spLocks noChangeArrowheads="1"/>
            </p:cNvSpPr>
            <p:nvPr/>
          </p:nvSpPr>
          <p:spPr bwMode="auto">
            <a:xfrm>
              <a:off x="4098" y="1294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endParaRPr kumimoji="1" lang="zh-CN" altLang="en-US" sz="20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564727" name="Text Box 55"/>
            <p:cNvSpPr txBox="1">
              <a:spLocks noChangeArrowheads="1"/>
            </p:cNvSpPr>
            <p:nvPr/>
          </p:nvSpPr>
          <p:spPr bwMode="auto">
            <a:xfrm>
              <a:off x="4860" y="2094"/>
              <a:ext cx="67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ea typeface="幼圆" pitchFamily="49" charset="-122"/>
                </a:rPr>
                <a:t>不变形的钢筒</a:t>
              </a:r>
            </a:p>
          </p:txBody>
        </p:sp>
        <p:sp>
          <p:nvSpPr>
            <p:cNvPr id="1564728" name="Line 56"/>
            <p:cNvSpPr>
              <a:spLocks noChangeShapeType="1"/>
            </p:cNvSpPr>
            <p:nvPr/>
          </p:nvSpPr>
          <p:spPr bwMode="auto">
            <a:xfrm flipV="1">
              <a:off x="4685" y="2297"/>
              <a:ext cx="168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6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4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56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6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156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646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64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64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564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2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7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647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64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564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4678" grpId="0" build="p" autoUpdateAnimBg="0"/>
      <p:bldP spid="1564679" grpId="0" animBg="1"/>
      <p:bldP spid="1564680" grpId="0"/>
      <p:bldP spid="1564713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702" name="Rectangle 6"/>
          <p:cNvSpPr>
            <a:spLocks noChangeArrowheads="1"/>
          </p:cNvSpPr>
          <p:nvPr/>
        </p:nvSpPr>
        <p:spPr bwMode="auto">
          <a:xfrm>
            <a:off x="3633788" y="3494561"/>
            <a:ext cx="1814512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9933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钢筒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弹簧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水体  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带孔活塞  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活塞小孔大小</a:t>
            </a:r>
          </a:p>
        </p:txBody>
      </p:sp>
      <p:sp>
        <p:nvSpPr>
          <p:cNvPr id="1565703" name="Rectangle 7"/>
          <p:cNvSpPr>
            <a:spLocks noChangeArrowheads="1"/>
          </p:cNvSpPr>
          <p:nvPr/>
        </p:nvSpPr>
        <p:spPr bwMode="auto">
          <a:xfrm>
            <a:off x="6680200" y="3856511"/>
            <a:ext cx="1809750" cy="396875"/>
          </a:xfrm>
          <a:prstGeom prst="rect">
            <a:avLst/>
          </a:prstGeom>
          <a:solidFill>
            <a:srgbClr val="FFFFCC"/>
          </a:solidFill>
          <a:ln w="31750">
            <a:solidFill>
              <a:srgbClr val="A50021"/>
            </a:solidFill>
            <a:prstDash val="sysDot"/>
            <a:miter lim="800000"/>
            <a:headEnd type="none" w="med" len="lg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sym typeface="Symbol" pitchFamily="18" charset="2"/>
              </a:rPr>
              <a:t>渗透固结过程</a:t>
            </a:r>
          </a:p>
        </p:txBody>
      </p:sp>
      <p:grpSp>
        <p:nvGrpSpPr>
          <p:cNvPr id="1565752" name="Group 56"/>
          <p:cNvGrpSpPr>
            <a:grpSpLocks/>
          </p:cNvGrpSpPr>
          <p:nvPr/>
        </p:nvGrpSpPr>
        <p:grpSpPr bwMode="auto">
          <a:xfrm>
            <a:off x="6702425" y="1754661"/>
            <a:ext cx="1982788" cy="1844675"/>
            <a:chOff x="4222" y="1318"/>
            <a:chExt cx="1249" cy="1162"/>
          </a:xfrm>
        </p:grpSpPr>
        <p:sp>
          <p:nvSpPr>
            <p:cNvPr id="1565705" name="Rectangle 9"/>
            <p:cNvSpPr>
              <a:spLocks noChangeArrowheads="1"/>
            </p:cNvSpPr>
            <p:nvPr/>
          </p:nvSpPr>
          <p:spPr bwMode="auto">
            <a:xfrm>
              <a:off x="4443" y="1346"/>
              <a:ext cx="85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9933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初始状态</a:t>
              </a:r>
            </a:p>
          </p:txBody>
        </p:sp>
        <p:sp>
          <p:nvSpPr>
            <p:cNvPr id="1565706" name="Rectangle 10"/>
            <p:cNvSpPr>
              <a:spLocks noChangeArrowheads="1"/>
            </p:cNvSpPr>
            <p:nvPr/>
          </p:nvSpPr>
          <p:spPr bwMode="auto">
            <a:xfrm>
              <a:off x="4443" y="1572"/>
              <a:ext cx="88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prstDash val="sysDot"/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边界条件</a:t>
              </a:r>
            </a:p>
          </p:txBody>
        </p:sp>
        <p:sp>
          <p:nvSpPr>
            <p:cNvPr id="1565707" name="Text Box 11"/>
            <p:cNvSpPr txBox="1">
              <a:spLocks noChangeArrowheads="1"/>
            </p:cNvSpPr>
            <p:nvPr/>
          </p:nvSpPr>
          <p:spPr bwMode="auto">
            <a:xfrm>
              <a:off x="4292" y="1856"/>
              <a:ext cx="104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相间相互作用</a:t>
              </a:r>
              <a:endParaRPr kumimoji="1" lang="en-US" altLang="zh-CN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65708" name="AutoShape 12"/>
            <p:cNvSpPr>
              <a:spLocks noChangeArrowheads="1"/>
            </p:cNvSpPr>
            <p:nvPr/>
          </p:nvSpPr>
          <p:spPr bwMode="auto">
            <a:xfrm>
              <a:off x="4222" y="1318"/>
              <a:ext cx="1249" cy="1162"/>
            </a:xfrm>
            <a:prstGeom prst="downArrowCallout">
              <a:avLst>
                <a:gd name="adj1" fmla="val 26872"/>
                <a:gd name="adj2" fmla="val 26872"/>
                <a:gd name="adj3" fmla="val 16667"/>
                <a:gd name="adj4" fmla="val 66667"/>
              </a:avLst>
            </a:prstGeom>
            <a:noFill/>
            <a:ln w="38100" algn="ctr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</p:grpSp>
      <p:grpSp>
        <p:nvGrpSpPr>
          <p:cNvPr id="1565709" name="Group 13"/>
          <p:cNvGrpSpPr>
            <a:grpSpLocks/>
          </p:cNvGrpSpPr>
          <p:nvPr/>
        </p:nvGrpSpPr>
        <p:grpSpPr bwMode="auto">
          <a:xfrm>
            <a:off x="3675063" y="986311"/>
            <a:ext cx="2116137" cy="2419350"/>
            <a:chOff x="2315" y="834"/>
            <a:chExt cx="1324" cy="1524"/>
          </a:xfrm>
        </p:grpSpPr>
        <p:sp>
          <p:nvSpPr>
            <p:cNvPr id="1565710" name="Rectangle 14"/>
            <p:cNvSpPr>
              <a:spLocks noChangeArrowheads="1"/>
            </p:cNvSpPr>
            <p:nvPr/>
          </p:nvSpPr>
          <p:spPr bwMode="auto">
            <a:xfrm>
              <a:off x="2370" y="1511"/>
              <a:ext cx="894" cy="847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65711" name="Rectangle 15"/>
            <p:cNvSpPr>
              <a:spLocks noChangeArrowheads="1"/>
            </p:cNvSpPr>
            <p:nvPr/>
          </p:nvSpPr>
          <p:spPr bwMode="auto">
            <a:xfrm>
              <a:off x="2315" y="834"/>
              <a:ext cx="107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9933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Font typeface="Wingdings" pitchFamily="2" charset="2"/>
                <a:buNone/>
              </a:pPr>
              <a:r>
                <a:rPr kumimoji="1" lang="zh-CN" altLang="en-US" sz="22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物理模型</a:t>
              </a:r>
            </a:p>
          </p:txBody>
        </p:sp>
        <p:sp>
          <p:nvSpPr>
            <p:cNvPr id="1565712" name="Rectangle 16"/>
            <p:cNvSpPr>
              <a:spLocks noChangeArrowheads="1"/>
            </p:cNvSpPr>
            <p:nvPr/>
          </p:nvSpPr>
          <p:spPr bwMode="auto">
            <a:xfrm>
              <a:off x="2698" y="1024"/>
              <a:ext cx="2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endParaRPr kumimoji="1" lang="zh-CN" altLang="en-US" sz="20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1565713" name="Group 17"/>
            <p:cNvGrpSpPr>
              <a:grpSpLocks/>
            </p:cNvGrpSpPr>
            <p:nvPr/>
          </p:nvGrpSpPr>
          <p:grpSpPr bwMode="auto">
            <a:xfrm>
              <a:off x="2406" y="1288"/>
              <a:ext cx="822" cy="165"/>
              <a:chOff x="3525" y="969"/>
              <a:chExt cx="829" cy="165"/>
            </a:xfrm>
          </p:grpSpPr>
          <p:sp>
            <p:nvSpPr>
              <p:cNvPr id="1565714" name="Line 18"/>
              <p:cNvSpPr>
                <a:spLocks noChangeShapeType="1"/>
              </p:cNvSpPr>
              <p:nvPr/>
            </p:nvSpPr>
            <p:spPr bwMode="auto">
              <a:xfrm>
                <a:off x="352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15" name="Line 19"/>
              <p:cNvSpPr>
                <a:spLocks noChangeShapeType="1"/>
              </p:cNvSpPr>
              <p:nvPr/>
            </p:nvSpPr>
            <p:spPr bwMode="auto">
              <a:xfrm>
                <a:off x="3643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16" name="Line 20"/>
              <p:cNvSpPr>
                <a:spLocks noChangeShapeType="1"/>
              </p:cNvSpPr>
              <p:nvPr/>
            </p:nvSpPr>
            <p:spPr bwMode="auto">
              <a:xfrm>
                <a:off x="3762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17" name="Line 21"/>
              <p:cNvSpPr>
                <a:spLocks noChangeShapeType="1"/>
              </p:cNvSpPr>
              <p:nvPr/>
            </p:nvSpPr>
            <p:spPr bwMode="auto">
              <a:xfrm>
                <a:off x="3879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18" name="Line 22"/>
              <p:cNvSpPr>
                <a:spLocks noChangeShapeType="1"/>
              </p:cNvSpPr>
              <p:nvPr/>
            </p:nvSpPr>
            <p:spPr bwMode="auto">
              <a:xfrm>
                <a:off x="3998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19" name="Line 23"/>
              <p:cNvSpPr>
                <a:spLocks noChangeShapeType="1"/>
              </p:cNvSpPr>
              <p:nvPr/>
            </p:nvSpPr>
            <p:spPr bwMode="auto">
              <a:xfrm>
                <a:off x="4117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20" name="Line 24"/>
              <p:cNvSpPr>
                <a:spLocks noChangeShapeType="1"/>
              </p:cNvSpPr>
              <p:nvPr/>
            </p:nvSpPr>
            <p:spPr bwMode="auto">
              <a:xfrm>
                <a:off x="423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21" name="Line 25"/>
              <p:cNvSpPr>
                <a:spLocks noChangeShapeType="1"/>
              </p:cNvSpPr>
              <p:nvPr/>
            </p:nvSpPr>
            <p:spPr bwMode="auto">
              <a:xfrm>
                <a:off x="4354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65722" name="Freeform 26"/>
            <p:cNvSpPr>
              <a:spLocks/>
            </p:cNvSpPr>
            <p:nvPr/>
          </p:nvSpPr>
          <p:spPr bwMode="auto">
            <a:xfrm>
              <a:off x="2681" y="1532"/>
              <a:ext cx="337" cy="815"/>
            </a:xfrm>
            <a:custGeom>
              <a:avLst/>
              <a:gdLst>
                <a:gd name="T0" fmla="*/ 33 w 337"/>
                <a:gd name="T1" fmla="*/ 0 h 804"/>
                <a:gd name="T2" fmla="*/ 319 w 337"/>
                <a:gd name="T3" fmla="*/ 70 h 804"/>
                <a:gd name="T4" fmla="*/ 0 w 337"/>
                <a:gd name="T5" fmla="*/ 159 h 804"/>
                <a:gd name="T6" fmla="*/ 319 w 337"/>
                <a:gd name="T7" fmla="*/ 238 h 804"/>
                <a:gd name="T8" fmla="*/ 2 w 337"/>
                <a:gd name="T9" fmla="*/ 315 h 804"/>
                <a:gd name="T10" fmla="*/ 329 w 337"/>
                <a:gd name="T11" fmla="*/ 399 h 804"/>
                <a:gd name="T12" fmla="*/ 2 w 337"/>
                <a:gd name="T13" fmla="*/ 485 h 804"/>
                <a:gd name="T14" fmla="*/ 333 w 337"/>
                <a:gd name="T15" fmla="*/ 569 h 804"/>
                <a:gd name="T16" fmla="*/ 14 w 337"/>
                <a:gd name="T17" fmla="*/ 641 h 804"/>
                <a:gd name="T18" fmla="*/ 329 w 337"/>
                <a:gd name="T19" fmla="*/ 727 h 804"/>
                <a:gd name="T20" fmla="*/ 60 w 337"/>
                <a:gd name="T21" fmla="*/ 804 h 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7" h="804">
                  <a:moveTo>
                    <a:pt x="33" y="0"/>
                  </a:moveTo>
                  <a:cubicBezTo>
                    <a:pt x="178" y="22"/>
                    <a:pt x="324" y="44"/>
                    <a:pt x="319" y="70"/>
                  </a:cubicBezTo>
                  <a:cubicBezTo>
                    <a:pt x="314" y="96"/>
                    <a:pt x="0" y="131"/>
                    <a:pt x="0" y="159"/>
                  </a:cubicBezTo>
                  <a:cubicBezTo>
                    <a:pt x="0" y="187"/>
                    <a:pt x="319" y="212"/>
                    <a:pt x="319" y="238"/>
                  </a:cubicBezTo>
                  <a:cubicBezTo>
                    <a:pt x="319" y="264"/>
                    <a:pt x="0" y="288"/>
                    <a:pt x="2" y="315"/>
                  </a:cubicBezTo>
                  <a:cubicBezTo>
                    <a:pt x="4" y="342"/>
                    <a:pt x="329" y="371"/>
                    <a:pt x="329" y="399"/>
                  </a:cubicBezTo>
                  <a:cubicBezTo>
                    <a:pt x="329" y="427"/>
                    <a:pt x="1" y="457"/>
                    <a:pt x="2" y="485"/>
                  </a:cubicBezTo>
                  <a:cubicBezTo>
                    <a:pt x="3" y="513"/>
                    <a:pt x="331" y="543"/>
                    <a:pt x="333" y="569"/>
                  </a:cubicBezTo>
                  <a:cubicBezTo>
                    <a:pt x="335" y="595"/>
                    <a:pt x="15" y="615"/>
                    <a:pt x="14" y="641"/>
                  </a:cubicBezTo>
                  <a:cubicBezTo>
                    <a:pt x="13" y="667"/>
                    <a:pt x="321" y="700"/>
                    <a:pt x="329" y="727"/>
                  </a:cubicBezTo>
                  <a:cubicBezTo>
                    <a:pt x="337" y="754"/>
                    <a:pt x="198" y="779"/>
                    <a:pt x="60" y="804"/>
                  </a:cubicBezTo>
                </a:path>
              </a:pathLst>
            </a:custGeom>
            <a:noFill/>
            <a:ln w="57150" cmpd="sng">
              <a:solidFill>
                <a:srgbClr val="66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65723" name="Group 27"/>
            <p:cNvGrpSpPr>
              <a:grpSpLocks/>
            </p:cNvGrpSpPr>
            <p:nvPr/>
          </p:nvGrpSpPr>
          <p:grpSpPr bwMode="auto">
            <a:xfrm>
              <a:off x="2390" y="1486"/>
              <a:ext cx="857" cy="57"/>
              <a:chOff x="3470" y="1430"/>
              <a:chExt cx="857" cy="57"/>
            </a:xfrm>
          </p:grpSpPr>
          <p:sp>
            <p:nvSpPr>
              <p:cNvPr id="1565724" name="Rectangle 28"/>
              <p:cNvSpPr>
                <a:spLocks noChangeArrowheads="1"/>
              </p:cNvSpPr>
              <p:nvPr/>
            </p:nvSpPr>
            <p:spPr bwMode="auto">
              <a:xfrm>
                <a:off x="3470" y="1430"/>
                <a:ext cx="857" cy="56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65725" name="Line 29"/>
              <p:cNvSpPr>
                <a:spLocks noChangeShapeType="1"/>
              </p:cNvSpPr>
              <p:nvPr/>
            </p:nvSpPr>
            <p:spPr bwMode="auto">
              <a:xfrm>
                <a:off x="3580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26" name="Line 30"/>
              <p:cNvSpPr>
                <a:spLocks noChangeShapeType="1"/>
              </p:cNvSpPr>
              <p:nvPr/>
            </p:nvSpPr>
            <p:spPr bwMode="auto">
              <a:xfrm>
                <a:off x="3694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27" name="Line 31"/>
              <p:cNvSpPr>
                <a:spLocks noChangeShapeType="1"/>
              </p:cNvSpPr>
              <p:nvPr/>
            </p:nvSpPr>
            <p:spPr bwMode="auto">
              <a:xfrm>
                <a:off x="3801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28" name="Line 32"/>
              <p:cNvSpPr>
                <a:spLocks noChangeShapeType="1"/>
              </p:cNvSpPr>
              <p:nvPr/>
            </p:nvSpPr>
            <p:spPr bwMode="auto">
              <a:xfrm>
                <a:off x="3905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29" name="Line 33"/>
              <p:cNvSpPr>
                <a:spLocks noChangeShapeType="1"/>
              </p:cNvSpPr>
              <p:nvPr/>
            </p:nvSpPr>
            <p:spPr bwMode="auto">
              <a:xfrm>
                <a:off x="4009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30" name="Line 34"/>
              <p:cNvSpPr>
                <a:spLocks noChangeShapeType="1"/>
              </p:cNvSpPr>
              <p:nvPr/>
            </p:nvSpPr>
            <p:spPr bwMode="auto">
              <a:xfrm>
                <a:off x="4113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31" name="Line 35"/>
              <p:cNvSpPr>
                <a:spLocks noChangeShapeType="1"/>
              </p:cNvSpPr>
              <p:nvPr/>
            </p:nvSpPr>
            <p:spPr bwMode="auto">
              <a:xfrm>
                <a:off x="4217" y="1431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65732" name="Freeform 36"/>
            <p:cNvSpPr>
              <a:spLocks/>
            </p:cNvSpPr>
            <p:nvPr/>
          </p:nvSpPr>
          <p:spPr bwMode="auto">
            <a:xfrm>
              <a:off x="2364" y="1487"/>
              <a:ext cx="907" cy="867"/>
            </a:xfrm>
            <a:custGeom>
              <a:avLst/>
              <a:gdLst>
                <a:gd name="T0" fmla="*/ 0 w 907"/>
                <a:gd name="T1" fmla="*/ 0 h 992"/>
                <a:gd name="T2" fmla="*/ 0 w 907"/>
                <a:gd name="T3" fmla="*/ 992 h 992"/>
                <a:gd name="T4" fmla="*/ 907 w 907"/>
                <a:gd name="T5" fmla="*/ 992 h 992"/>
                <a:gd name="T6" fmla="*/ 907 w 907"/>
                <a:gd name="T7" fmla="*/ 0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7" h="992">
                  <a:moveTo>
                    <a:pt x="0" y="0"/>
                  </a:moveTo>
                  <a:lnTo>
                    <a:pt x="0" y="992"/>
                  </a:lnTo>
                  <a:lnTo>
                    <a:pt x="907" y="992"/>
                  </a:lnTo>
                  <a:lnTo>
                    <a:pt x="907" y="0"/>
                  </a:lnTo>
                </a:path>
              </a:pathLst>
            </a:custGeom>
            <a:noFill/>
            <a:ln w="76200" cap="flat" cmpd="sng">
              <a:solidFill>
                <a:srgbClr val="990033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565733" name="Freeform 37"/>
            <p:cNvSpPr>
              <a:spLocks/>
            </p:cNvSpPr>
            <p:nvPr/>
          </p:nvSpPr>
          <p:spPr bwMode="auto">
            <a:xfrm>
              <a:off x="3242" y="1035"/>
              <a:ext cx="394" cy="1126"/>
            </a:xfrm>
            <a:custGeom>
              <a:avLst/>
              <a:gdLst>
                <a:gd name="T0" fmla="*/ 5 w 394"/>
                <a:gd name="T1" fmla="*/ 1085 h 1126"/>
                <a:gd name="T2" fmla="*/ 356 w 394"/>
                <a:gd name="T3" fmla="*/ 1085 h 1126"/>
                <a:gd name="T4" fmla="*/ 356 w 394"/>
                <a:gd name="T5" fmla="*/ 0 h 1126"/>
                <a:gd name="T6" fmla="*/ 394 w 394"/>
                <a:gd name="T7" fmla="*/ 0 h 1126"/>
                <a:gd name="T8" fmla="*/ 392 w 394"/>
                <a:gd name="T9" fmla="*/ 1126 h 1126"/>
                <a:gd name="T10" fmla="*/ 0 w 394"/>
                <a:gd name="T11" fmla="*/ 1121 h 1126"/>
                <a:gd name="T12" fmla="*/ 5 w 394"/>
                <a:gd name="T13" fmla="*/ 1085 h 1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4" h="1126">
                  <a:moveTo>
                    <a:pt x="5" y="1085"/>
                  </a:moveTo>
                  <a:lnTo>
                    <a:pt x="356" y="1085"/>
                  </a:lnTo>
                  <a:lnTo>
                    <a:pt x="356" y="0"/>
                  </a:lnTo>
                  <a:lnTo>
                    <a:pt x="394" y="0"/>
                  </a:lnTo>
                  <a:lnTo>
                    <a:pt x="392" y="1126"/>
                  </a:lnTo>
                  <a:lnTo>
                    <a:pt x="0" y="1121"/>
                  </a:lnTo>
                  <a:lnTo>
                    <a:pt x="5" y="1085"/>
                  </a:lnTo>
                  <a:close/>
                </a:path>
              </a:pathLst>
            </a:custGeom>
            <a:solidFill>
              <a:srgbClr val="33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5734" name="Freeform 38"/>
            <p:cNvSpPr>
              <a:spLocks noChangeAspect="1"/>
            </p:cNvSpPr>
            <p:nvPr/>
          </p:nvSpPr>
          <p:spPr bwMode="auto">
            <a:xfrm>
              <a:off x="3250" y="897"/>
              <a:ext cx="389" cy="1261"/>
            </a:xfrm>
            <a:custGeom>
              <a:avLst/>
              <a:gdLst>
                <a:gd name="T0" fmla="*/ 0 w 389"/>
                <a:gd name="T1" fmla="*/ 1221 h 1261"/>
                <a:gd name="T2" fmla="*/ 347 w 389"/>
                <a:gd name="T3" fmla="*/ 1221 h 1261"/>
                <a:gd name="T4" fmla="*/ 345 w 389"/>
                <a:gd name="T5" fmla="*/ 0 h 1261"/>
                <a:gd name="T6" fmla="*/ 389 w 389"/>
                <a:gd name="T7" fmla="*/ 0 h 1261"/>
                <a:gd name="T8" fmla="*/ 381 w 389"/>
                <a:gd name="T9" fmla="*/ 1261 h 1261"/>
                <a:gd name="T10" fmla="*/ 2 w 389"/>
                <a:gd name="T11" fmla="*/ 1261 h 1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9" h="1261">
                  <a:moveTo>
                    <a:pt x="0" y="1221"/>
                  </a:moveTo>
                  <a:lnTo>
                    <a:pt x="347" y="1221"/>
                  </a:lnTo>
                  <a:lnTo>
                    <a:pt x="345" y="0"/>
                  </a:lnTo>
                  <a:lnTo>
                    <a:pt x="389" y="0"/>
                  </a:lnTo>
                  <a:lnTo>
                    <a:pt x="381" y="1261"/>
                  </a:lnTo>
                  <a:lnTo>
                    <a:pt x="2" y="1261"/>
                  </a:lnTo>
                </a:path>
              </a:pathLst>
            </a:custGeom>
            <a:noFill/>
            <a:ln w="12700" cap="flat" cmpd="sng">
              <a:solidFill>
                <a:srgbClr val="990033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</p:grpSp>
      <p:sp>
        <p:nvSpPr>
          <p:cNvPr id="1565735" name="Rectangle 39"/>
          <p:cNvSpPr>
            <a:spLocks noChangeArrowheads="1"/>
          </p:cNvSpPr>
          <p:nvPr/>
        </p:nvSpPr>
        <p:spPr bwMode="auto">
          <a:xfrm>
            <a:off x="495300" y="3454874"/>
            <a:ext cx="17399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9933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侧限条件 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土骨架 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孔隙水  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排水顶面   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渗透性大小</a:t>
            </a:r>
          </a:p>
        </p:txBody>
      </p:sp>
      <p:sp>
        <p:nvSpPr>
          <p:cNvPr id="1565736" name="AutoShape 40"/>
          <p:cNvSpPr>
            <a:spLocks noChangeArrowheads="1"/>
          </p:cNvSpPr>
          <p:nvPr/>
        </p:nvSpPr>
        <p:spPr bwMode="auto">
          <a:xfrm>
            <a:off x="2732088" y="3986686"/>
            <a:ext cx="612775" cy="461963"/>
          </a:xfrm>
          <a:prstGeom prst="homePlate">
            <a:avLst>
              <a:gd name="adj" fmla="val 33161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65737" name="AutoShape 41"/>
          <p:cNvSpPr>
            <a:spLocks noChangeArrowheads="1"/>
          </p:cNvSpPr>
          <p:nvPr/>
        </p:nvSpPr>
        <p:spPr bwMode="auto">
          <a:xfrm>
            <a:off x="2740025" y="2511899"/>
            <a:ext cx="612775" cy="461962"/>
          </a:xfrm>
          <a:prstGeom prst="homePlate">
            <a:avLst>
              <a:gd name="adj" fmla="val 3316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1565738" name="Group 42"/>
          <p:cNvGrpSpPr>
            <a:grpSpLocks/>
          </p:cNvGrpSpPr>
          <p:nvPr/>
        </p:nvGrpSpPr>
        <p:grpSpPr bwMode="auto">
          <a:xfrm>
            <a:off x="603250" y="965674"/>
            <a:ext cx="1589088" cy="2397125"/>
            <a:chOff x="380" y="821"/>
            <a:chExt cx="1001" cy="1510"/>
          </a:xfrm>
        </p:grpSpPr>
        <p:sp>
          <p:nvSpPr>
            <p:cNvPr id="1565739" name="Rectangle 43" descr="5%"/>
            <p:cNvSpPr>
              <a:spLocks noChangeArrowheads="1"/>
            </p:cNvSpPr>
            <p:nvPr/>
          </p:nvSpPr>
          <p:spPr bwMode="auto">
            <a:xfrm>
              <a:off x="442" y="1484"/>
              <a:ext cx="894" cy="847"/>
            </a:xfrm>
            <a:prstGeom prst="rect">
              <a:avLst/>
            </a:prstGeom>
            <a:pattFill prst="pct5">
              <a:fgClr>
                <a:srgbClr val="FFCC99"/>
              </a:fgClr>
              <a:bgClr>
                <a:srgbClr val="3399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65740" name="Freeform 44"/>
            <p:cNvSpPr>
              <a:spLocks/>
            </p:cNvSpPr>
            <p:nvPr/>
          </p:nvSpPr>
          <p:spPr bwMode="auto">
            <a:xfrm>
              <a:off x="436" y="1460"/>
              <a:ext cx="907" cy="867"/>
            </a:xfrm>
            <a:custGeom>
              <a:avLst/>
              <a:gdLst>
                <a:gd name="T0" fmla="*/ 0 w 907"/>
                <a:gd name="T1" fmla="*/ 0 h 992"/>
                <a:gd name="T2" fmla="*/ 0 w 907"/>
                <a:gd name="T3" fmla="*/ 992 h 992"/>
                <a:gd name="T4" fmla="*/ 907 w 907"/>
                <a:gd name="T5" fmla="*/ 992 h 992"/>
                <a:gd name="T6" fmla="*/ 907 w 907"/>
                <a:gd name="T7" fmla="*/ 0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7" h="992">
                  <a:moveTo>
                    <a:pt x="0" y="0"/>
                  </a:moveTo>
                  <a:lnTo>
                    <a:pt x="0" y="992"/>
                  </a:lnTo>
                  <a:lnTo>
                    <a:pt x="907" y="992"/>
                  </a:lnTo>
                  <a:lnTo>
                    <a:pt x="907" y="0"/>
                  </a:lnTo>
                </a:path>
              </a:pathLst>
            </a:custGeom>
            <a:noFill/>
            <a:ln w="76200" cap="flat" cmpd="sng">
              <a:solidFill>
                <a:srgbClr val="990033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grpSp>
          <p:nvGrpSpPr>
            <p:cNvPr id="1565741" name="Group 45"/>
            <p:cNvGrpSpPr>
              <a:grpSpLocks/>
            </p:cNvGrpSpPr>
            <p:nvPr/>
          </p:nvGrpSpPr>
          <p:grpSpPr bwMode="auto">
            <a:xfrm>
              <a:off x="478" y="1301"/>
              <a:ext cx="822" cy="165"/>
              <a:chOff x="3525" y="969"/>
              <a:chExt cx="829" cy="165"/>
            </a:xfrm>
          </p:grpSpPr>
          <p:sp>
            <p:nvSpPr>
              <p:cNvPr id="1565742" name="Line 46"/>
              <p:cNvSpPr>
                <a:spLocks noChangeShapeType="1"/>
              </p:cNvSpPr>
              <p:nvPr/>
            </p:nvSpPr>
            <p:spPr bwMode="auto">
              <a:xfrm>
                <a:off x="352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43" name="Line 47"/>
              <p:cNvSpPr>
                <a:spLocks noChangeShapeType="1"/>
              </p:cNvSpPr>
              <p:nvPr/>
            </p:nvSpPr>
            <p:spPr bwMode="auto">
              <a:xfrm>
                <a:off x="3643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44" name="Line 48"/>
              <p:cNvSpPr>
                <a:spLocks noChangeShapeType="1"/>
              </p:cNvSpPr>
              <p:nvPr/>
            </p:nvSpPr>
            <p:spPr bwMode="auto">
              <a:xfrm>
                <a:off x="3762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45" name="Line 49"/>
              <p:cNvSpPr>
                <a:spLocks noChangeShapeType="1"/>
              </p:cNvSpPr>
              <p:nvPr/>
            </p:nvSpPr>
            <p:spPr bwMode="auto">
              <a:xfrm>
                <a:off x="3879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46" name="Line 50"/>
              <p:cNvSpPr>
                <a:spLocks noChangeShapeType="1"/>
              </p:cNvSpPr>
              <p:nvPr/>
            </p:nvSpPr>
            <p:spPr bwMode="auto">
              <a:xfrm>
                <a:off x="3998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47" name="Line 51"/>
              <p:cNvSpPr>
                <a:spLocks noChangeShapeType="1"/>
              </p:cNvSpPr>
              <p:nvPr/>
            </p:nvSpPr>
            <p:spPr bwMode="auto">
              <a:xfrm>
                <a:off x="4117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48" name="Line 52"/>
              <p:cNvSpPr>
                <a:spLocks noChangeShapeType="1"/>
              </p:cNvSpPr>
              <p:nvPr/>
            </p:nvSpPr>
            <p:spPr bwMode="auto">
              <a:xfrm>
                <a:off x="423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5749" name="Line 53"/>
              <p:cNvSpPr>
                <a:spLocks noChangeShapeType="1"/>
              </p:cNvSpPr>
              <p:nvPr/>
            </p:nvSpPr>
            <p:spPr bwMode="auto">
              <a:xfrm>
                <a:off x="4354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65750" name="Text Box 54"/>
            <p:cNvSpPr txBox="1">
              <a:spLocks noChangeArrowheads="1"/>
            </p:cNvSpPr>
            <p:nvPr/>
          </p:nvSpPr>
          <p:spPr bwMode="auto">
            <a:xfrm>
              <a:off x="380" y="821"/>
              <a:ext cx="1001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solidFill>
                    <a:srgbClr val="000066"/>
                  </a:solidFill>
                  <a:ea typeface="幼圆" pitchFamily="49" charset="-122"/>
                </a:rPr>
                <a:t>土体的固结</a:t>
              </a:r>
              <a:endParaRPr lang="en-US" altLang="zh-CN" sz="22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65751" name="Rectangle 55"/>
            <p:cNvSpPr>
              <a:spLocks noChangeArrowheads="1"/>
            </p:cNvSpPr>
            <p:nvPr/>
          </p:nvSpPr>
          <p:spPr bwMode="auto">
            <a:xfrm>
              <a:off x="770" y="1005"/>
              <a:ext cx="2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endParaRPr kumimoji="1" lang="zh-CN" altLang="en-US" sz="20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565754" name="Rectangle 58"/>
          <p:cNvSpPr>
            <a:spLocks noChangeArrowheads="1"/>
          </p:cNvSpPr>
          <p:nvPr/>
        </p:nvSpPr>
        <p:spPr bwMode="auto">
          <a:xfrm>
            <a:off x="2144713" y="5763979"/>
            <a:ext cx="63103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en-US" altLang="zh-CN" sz="4000" b="1" dirty="0" err="1">
                <a:solidFill>
                  <a:srgbClr val="000066"/>
                </a:solidFill>
                <a:ea typeface="黑体" pitchFamily="2" charset="-122"/>
              </a:rPr>
              <a:t>Terzaghi</a:t>
            </a: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一维渗流固结模型</a:t>
            </a:r>
          </a:p>
        </p:txBody>
      </p:sp>
      <p:sp>
        <p:nvSpPr>
          <p:cNvPr id="54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5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5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6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6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65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156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65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657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65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657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65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657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65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657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65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1000"/>
                                        <p:tgtEl>
                                          <p:spTgt spid="1565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9" dur="500"/>
                                        <p:tgtEl>
                                          <p:spTgt spid="1565703">
                                            <p:bg/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0" dur="500"/>
                                        <p:tgtEl>
                                          <p:spTgt spid="1565703">
                                            <p:bg/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500"/>
                                        <p:tgtEl>
                                          <p:spTgt spid="1565703">
                                            <p:bg/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7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65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65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565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5702" grpId="0" build="p" autoUpdateAnimBg="0"/>
      <p:bldP spid="1565703" grpId="0" build="allAtOnce" animBg="1"/>
      <p:bldP spid="1565735" grpId="0" build="p" autoUpdateAnimBg="0"/>
      <p:bldP spid="1565736" grpId="0" animBg="1"/>
      <p:bldP spid="156573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26" name="Rectangle 6"/>
          <p:cNvSpPr>
            <a:spLocks noChangeArrowheads="1"/>
          </p:cNvSpPr>
          <p:nvPr/>
        </p:nvSpPr>
        <p:spPr bwMode="auto">
          <a:xfrm>
            <a:off x="646113" y="1985963"/>
            <a:ext cx="1419225" cy="1344612"/>
          </a:xfrm>
          <a:prstGeom prst="rect">
            <a:avLst/>
          </a:pr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27" name="Rectangle 7"/>
          <p:cNvSpPr>
            <a:spLocks noChangeArrowheads="1"/>
          </p:cNvSpPr>
          <p:nvPr/>
        </p:nvSpPr>
        <p:spPr bwMode="auto">
          <a:xfrm>
            <a:off x="1166813" y="1212850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>
                <a:cs typeface="Times New Roman" panose="02020603050405020304" pitchFamily="18" charset="0"/>
              </a:rPr>
              <a:t>p</a:t>
            </a:r>
            <a:endParaRPr kumimoji="1" lang="zh-CN" altLang="en-US" sz="2000" b="1" i="1" dirty="0">
              <a:cs typeface="Times New Roman" panose="02020603050405020304" pitchFamily="18" charset="0"/>
            </a:endParaRPr>
          </a:p>
        </p:txBody>
      </p:sp>
      <p:grpSp>
        <p:nvGrpSpPr>
          <p:cNvPr id="1566728" name="Group 8"/>
          <p:cNvGrpSpPr>
            <a:grpSpLocks/>
          </p:cNvGrpSpPr>
          <p:nvPr/>
        </p:nvGrpSpPr>
        <p:grpSpPr bwMode="auto">
          <a:xfrm>
            <a:off x="703263" y="1631950"/>
            <a:ext cx="1304925" cy="261938"/>
            <a:chOff x="3525" y="969"/>
            <a:chExt cx="829" cy="165"/>
          </a:xfrm>
        </p:grpSpPr>
        <p:sp>
          <p:nvSpPr>
            <p:cNvPr id="1566729" name="Line 9"/>
            <p:cNvSpPr>
              <a:spLocks noChangeShapeType="1"/>
            </p:cNvSpPr>
            <p:nvPr/>
          </p:nvSpPr>
          <p:spPr bwMode="auto">
            <a:xfrm>
              <a:off x="3525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66730" name="Line 10"/>
            <p:cNvSpPr>
              <a:spLocks noChangeShapeType="1"/>
            </p:cNvSpPr>
            <p:nvPr/>
          </p:nvSpPr>
          <p:spPr bwMode="auto">
            <a:xfrm>
              <a:off x="3643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66731" name="Line 11"/>
            <p:cNvSpPr>
              <a:spLocks noChangeShapeType="1"/>
            </p:cNvSpPr>
            <p:nvPr/>
          </p:nvSpPr>
          <p:spPr bwMode="auto">
            <a:xfrm>
              <a:off x="3762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66732" name="Line 12"/>
            <p:cNvSpPr>
              <a:spLocks noChangeShapeType="1"/>
            </p:cNvSpPr>
            <p:nvPr/>
          </p:nvSpPr>
          <p:spPr bwMode="auto">
            <a:xfrm>
              <a:off x="3879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66733" name="Line 13"/>
            <p:cNvSpPr>
              <a:spLocks noChangeShapeType="1"/>
            </p:cNvSpPr>
            <p:nvPr/>
          </p:nvSpPr>
          <p:spPr bwMode="auto">
            <a:xfrm>
              <a:off x="3998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66734" name="Line 14"/>
            <p:cNvSpPr>
              <a:spLocks noChangeShapeType="1"/>
            </p:cNvSpPr>
            <p:nvPr/>
          </p:nvSpPr>
          <p:spPr bwMode="auto">
            <a:xfrm>
              <a:off x="4117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66735" name="Line 15"/>
            <p:cNvSpPr>
              <a:spLocks noChangeShapeType="1"/>
            </p:cNvSpPr>
            <p:nvPr/>
          </p:nvSpPr>
          <p:spPr bwMode="auto">
            <a:xfrm>
              <a:off x="4235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66736" name="Line 16"/>
            <p:cNvSpPr>
              <a:spLocks noChangeShapeType="1"/>
            </p:cNvSpPr>
            <p:nvPr/>
          </p:nvSpPr>
          <p:spPr bwMode="auto">
            <a:xfrm>
              <a:off x="4354" y="969"/>
              <a:ext cx="0" cy="16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566737" name="Freeform 17"/>
          <p:cNvSpPr>
            <a:spLocks/>
          </p:cNvSpPr>
          <p:nvPr/>
        </p:nvSpPr>
        <p:spPr bwMode="auto">
          <a:xfrm>
            <a:off x="1139825" y="2019300"/>
            <a:ext cx="534988" cy="1293813"/>
          </a:xfrm>
          <a:custGeom>
            <a:avLst/>
            <a:gdLst>
              <a:gd name="T0" fmla="*/ 33 w 337"/>
              <a:gd name="T1" fmla="*/ 0 h 804"/>
              <a:gd name="T2" fmla="*/ 319 w 337"/>
              <a:gd name="T3" fmla="*/ 70 h 804"/>
              <a:gd name="T4" fmla="*/ 0 w 337"/>
              <a:gd name="T5" fmla="*/ 159 h 804"/>
              <a:gd name="T6" fmla="*/ 319 w 337"/>
              <a:gd name="T7" fmla="*/ 238 h 804"/>
              <a:gd name="T8" fmla="*/ 2 w 337"/>
              <a:gd name="T9" fmla="*/ 315 h 804"/>
              <a:gd name="T10" fmla="*/ 329 w 337"/>
              <a:gd name="T11" fmla="*/ 399 h 804"/>
              <a:gd name="T12" fmla="*/ 2 w 337"/>
              <a:gd name="T13" fmla="*/ 485 h 804"/>
              <a:gd name="T14" fmla="*/ 333 w 337"/>
              <a:gd name="T15" fmla="*/ 569 h 804"/>
              <a:gd name="T16" fmla="*/ 14 w 337"/>
              <a:gd name="T17" fmla="*/ 641 h 804"/>
              <a:gd name="T18" fmla="*/ 329 w 337"/>
              <a:gd name="T19" fmla="*/ 727 h 804"/>
              <a:gd name="T20" fmla="*/ 60 w 337"/>
              <a:gd name="T21" fmla="*/ 804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7" h="804">
                <a:moveTo>
                  <a:pt x="33" y="0"/>
                </a:moveTo>
                <a:cubicBezTo>
                  <a:pt x="178" y="22"/>
                  <a:pt x="324" y="44"/>
                  <a:pt x="319" y="70"/>
                </a:cubicBezTo>
                <a:cubicBezTo>
                  <a:pt x="314" y="96"/>
                  <a:pt x="0" y="131"/>
                  <a:pt x="0" y="159"/>
                </a:cubicBezTo>
                <a:cubicBezTo>
                  <a:pt x="0" y="187"/>
                  <a:pt x="319" y="212"/>
                  <a:pt x="319" y="238"/>
                </a:cubicBezTo>
                <a:cubicBezTo>
                  <a:pt x="319" y="264"/>
                  <a:pt x="0" y="288"/>
                  <a:pt x="2" y="315"/>
                </a:cubicBezTo>
                <a:cubicBezTo>
                  <a:pt x="4" y="342"/>
                  <a:pt x="329" y="371"/>
                  <a:pt x="329" y="399"/>
                </a:cubicBezTo>
                <a:cubicBezTo>
                  <a:pt x="329" y="427"/>
                  <a:pt x="1" y="457"/>
                  <a:pt x="2" y="485"/>
                </a:cubicBezTo>
                <a:cubicBezTo>
                  <a:pt x="3" y="513"/>
                  <a:pt x="331" y="543"/>
                  <a:pt x="333" y="569"/>
                </a:cubicBezTo>
                <a:cubicBezTo>
                  <a:pt x="335" y="595"/>
                  <a:pt x="15" y="615"/>
                  <a:pt x="14" y="641"/>
                </a:cubicBezTo>
                <a:cubicBezTo>
                  <a:pt x="13" y="667"/>
                  <a:pt x="321" y="700"/>
                  <a:pt x="329" y="727"/>
                </a:cubicBezTo>
                <a:cubicBezTo>
                  <a:pt x="337" y="754"/>
                  <a:pt x="198" y="779"/>
                  <a:pt x="60" y="804"/>
                </a:cubicBezTo>
              </a:path>
            </a:pathLst>
          </a:custGeom>
          <a:noFill/>
          <a:ln w="57150" cmpd="sng">
            <a:solidFill>
              <a:srgbClr val="66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66738" name="Group 18"/>
          <p:cNvGrpSpPr>
            <a:grpSpLocks/>
          </p:cNvGrpSpPr>
          <p:nvPr/>
        </p:nvGrpSpPr>
        <p:grpSpPr bwMode="auto">
          <a:xfrm>
            <a:off x="677863" y="1946275"/>
            <a:ext cx="1360487" cy="90488"/>
            <a:chOff x="3470" y="1430"/>
            <a:chExt cx="857" cy="57"/>
          </a:xfrm>
        </p:grpSpPr>
        <p:sp>
          <p:nvSpPr>
            <p:cNvPr id="1566739" name="Rectangle 19"/>
            <p:cNvSpPr>
              <a:spLocks noChangeArrowheads="1"/>
            </p:cNvSpPr>
            <p:nvPr/>
          </p:nvSpPr>
          <p:spPr bwMode="auto">
            <a:xfrm>
              <a:off x="3470" y="1430"/>
              <a:ext cx="857" cy="5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6740" name="Line 20"/>
            <p:cNvSpPr>
              <a:spLocks noChangeShapeType="1"/>
            </p:cNvSpPr>
            <p:nvPr/>
          </p:nvSpPr>
          <p:spPr bwMode="auto">
            <a:xfrm>
              <a:off x="3580" y="1430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741" name="Line 21"/>
            <p:cNvSpPr>
              <a:spLocks noChangeShapeType="1"/>
            </p:cNvSpPr>
            <p:nvPr/>
          </p:nvSpPr>
          <p:spPr bwMode="auto">
            <a:xfrm>
              <a:off x="3694" y="1430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742" name="Line 22"/>
            <p:cNvSpPr>
              <a:spLocks noChangeShapeType="1"/>
            </p:cNvSpPr>
            <p:nvPr/>
          </p:nvSpPr>
          <p:spPr bwMode="auto">
            <a:xfrm>
              <a:off x="3801" y="1430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743" name="Line 23"/>
            <p:cNvSpPr>
              <a:spLocks noChangeShapeType="1"/>
            </p:cNvSpPr>
            <p:nvPr/>
          </p:nvSpPr>
          <p:spPr bwMode="auto">
            <a:xfrm>
              <a:off x="3905" y="1430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744" name="Line 24"/>
            <p:cNvSpPr>
              <a:spLocks noChangeShapeType="1"/>
            </p:cNvSpPr>
            <p:nvPr/>
          </p:nvSpPr>
          <p:spPr bwMode="auto">
            <a:xfrm>
              <a:off x="4009" y="1430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745" name="Line 25"/>
            <p:cNvSpPr>
              <a:spLocks noChangeShapeType="1"/>
            </p:cNvSpPr>
            <p:nvPr/>
          </p:nvSpPr>
          <p:spPr bwMode="auto">
            <a:xfrm>
              <a:off x="4113" y="1430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6746" name="Line 26"/>
            <p:cNvSpPr>
              <a:spLocks noChangeShapeType="1"/>
            </p:cNvSpPr>
            <p:nvPr/>
          </p:nvSpPr>
          <p:spPr bwMode="auto">
            <a:xfrm>
              <a:off x="4217" y="1431"/>
              <a:ext cx="0" cy="56"/>
            </a:xfrm>
            <a:prstGeom prst="line">
              <a:avLst/>
            </a:prstGeom>
            <a:noFill/>
            <a:ln w="50800" cmpd="dbl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66747" name="Freeform 27"/>
          <p:cNvSpPr>
            <a:spLocks/>
          </p:cNvSpPr>
          <p:nvPr/>
        </p:nvSpPr>
        <p:spPr bwMode="auto">
          <a:xfrm>
            <a:off x="636588" y="1947863"/>
            <a:ext cx="1439862" cy="1376362"/>
          </a:xfrm>
          <a:custGeom>
            <a:avLst/>
            <a:gdLst>
              <a:gd name="T0" fmla="*/ 0 w 907"/>
              <a:gd name="T1" fmla="*/ 0 h 992"/>
              <a:gd name="T2" fmla="*/ 0 w 907"/>
              <a:gd name="T3" fmla="*/ 992 h 992"/>
              <a:gd name="T4" fmla="*/ 907 w 907"/>
              <a:gd name="T5" fmla="*/ 992 h 992"/>
              <a:gd name="T6" fmla="*/ 907 w 907"/>
              <a:gd name="T7" fmla="*/ 0 h 9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07" h="992">
                <a:moveTo>
                  <a:pt x="0" y="0"/>
                </a:moveTo>
                <a:lnTo>
                  <a:pt x="0" y="992"/>
                </a:lnTo>
                <a:lnTo>
                  <a:pt x="907" y="992"/>
                </a:lnTo>
                <a:lnTo>
                  <a:pt x="907" y="0"/>
                </a:lnTo>
              </a:path>
            </a:pathLst>
          </a:custGeom>
          <a:noFill/>
          <a:ln w="76200" cap="flat" cmpd="sng">
            <a:solidFill>
              <a:srgbClr val="9900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66748" name="Freeform 28"/>
          <p:cNvSpPr>
            <a:spLocks/>
          </p:cNvSpPr>
          <p:nvPr/>
        </p:nvSpPr>
        <p:spPr bwMode="auto">
          <a:xfrm>
            <a:off x="2030413" y="1117600"/>
            <a:ext cx="404812" cy="1892300"/>
          </a:xfrm>
          <a:custGeom>
            <a:avLst/>
            <a:gdLst>
              <a:gd name="T0" fmla="*/ 5 w 255"/>
              <a:gd name="T1" fmla="*/ 1156 h 1192"/>
              <a:gd name="T2" fmla="*/ 216 w 255"/>
              <a:gd name="T3" fmla="*/ 1153 h 1192"/>
              <a:gd name="T4" fmla="*/ 215 w 255"/>
              <a:gd name="T5" fmla="*/ 0 h 1192"/>
              <a:gd name="T6" fmla="*/ 255 w 255"/>
              <a:gd name="T7" fmla="*/ 0 h 1192"/>
              <a:gd name="T8" fmla="*/ 252 w 255"/>
              <a:gd name="T9" fmla="*/ 1190 h 1192"/>
              <a:gd name="T10" fmla="*/ 0 w 255"/>
              <a:gd name="T11" fmla="*/ 1192 h 1192"/>
              <a:gd name="T12" fmla="*/ 5 w 255"/>
              <a:gd name="T13" fmla="*/ 1156 h 1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5" h="1192">
                <a:moveTo>
                  <a:pt x="5" y="1156"/>
                </a:moveTo>
                <a:lnTo>
                  <a:pt x="216" y="1153"/>
                </a:lnTo>
                <a:lnTo>
                  <a:pt x="215" y="0"/>
                </a:lnTo>
                <a:lnTo>
                  <a:pt x="255" y="0"/>
                </a:lnTo>
                <a:lnTo>
                  <a:pt x="252" y="1190"/>
                </a:lnTo>
                <a:lnTo>
                  <a:pt x="0" y="1192"/>
                </a:lnTo>
                <a:lnTo>
                  <a:pt x="5" y="1156"/>
                </a:lnTo>
                <a:close/>
              </a:path>
            </a:pathLst>
          </a:cu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749" name="Freeform 29"/>
          <p:cNvSpPr>
            <a:spLocks noChangeAspect="1"/>
          </p:cNvSpPr>
          <p:nvPr/>
        </p:nvSpPr>
        <p:spPr bwMode="auto">
          <a:xfrm>
            <a:off x="2043113" y="1019175"/>
            <a:ext cx="395287" cy="1993900"/>
          </a:xfrm>
          <a:custGeom>
            <a:avLst/>
            <a:gdLst>
              <a:gd name="T0" fmla="*/ 0 w 249"/>
              <a:gd name="T1" fmla="*/ 1216 h 1256"/>
              <a:gd name="T2" fmla="*/ 206 w 249"/>
              <a:gd name="T3" fmla="*/ 1213 h 1256"/>
              <a:gd name="T4" fmla="*/ 203 w 249"/>
              <a:gd name="T5" fmla="*/ 0 h 1256"/>
              <a:gd name="T6" fmla="*/ 249 w 249"/>
              <a:gd name="T7" fmla="*/ 0 h 1256"/>
              <a:gd name="T8" fmla="*/ 243 w 249"/>
              <a:gd name="T9" fmla="*/ 1253 h 1256"/>
              <a:gd name="T10" fmla="*/ 2 w 249"/>
              <a:gd name="T11" fmla="*/ 1256 h 1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9" h="1256">
                <a:moveTo>
                  <a:pt x="0" y="1216"/>
                </a:moveTo>
                <a:lnTo>
                  <a:pt x="206" y="1213"/>
                </a:lnTo>
                <a:lnTo>
                  <a:pt x="203" y="0"/>
                </a:lnTo>
                <a:lnTo>
                  <a:pt x="249" y="0"/>
                </a:lnTo>
                <a:lnTo>
                  <a:pt x="243" y="1253"/>
                </a:lnTo>
                <a:lnTo>
                  <a:pt x="2" y="1256"/>
                </a:lnTo>
              </a:path>
            </a:pathLst>
          </a:custGeom>
          <a:noFill/>
          <a:ln w="12700" cap="flat" cmpd="sng">
            <a:solidFill>
              <a:srgbClr val="9900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66750" name="Line 30"/>
          <p:cNvSpPr>
            <a:spLocks noChangeShapeType="1"/>
          </p:cNvSpPr>
          <p:nvPr/>
        </p:nvSpPr>
        <p:spPr bwMode="auto">
          <a:xfrm>
            <a:off x="2106613" y="2028825"/>
            <a:ext cx="741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66751" name="Line 31"/>
          <p:cNvSpPr>
            <a:spLocks noChangeShapeType="1"/>
          </p:cNvSpPr>
          <p:nvPr/>
        </p:nvSpPr>
        <p:spPr bwMode="auto">
          <a:xfrm>
            <a:off x="2500313" y="1114425"/>
            <a:ext cx="2651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66752" name="Line 32"/>
          <p:cNvSpPr>
            <a:spLocks noChangeShapeType="1"/>
          </p:cNvSpPr>
          <p:nvPr/>
        </p:nvSpPr>
        <p:spPr bwMode="auto">
          <a:xfrm>
            <a:off x="2601913" y="1119188"/>
            <a:ext cx="0" cy="911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6675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687175"/>
              </p:ext>
            </p:extLst>
          </p:nvPr>
        </p:nvGraphicFramePr>
        <p:xfrm>
          <a:off x="2667000" y="1212850"/>
          <a:ext cx="715963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233" name="Equation" r:id="rId3" imgW="431640" imgH="406080" progId="Equation.DSMT4">
                  <p:embed/>
                </p:oleObj>
              </mc:Choice>
              <mc:Fallback>
                <p:oleObj name="Equation" r:id="rId3" imgW="431640" imgH="40608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212850"/>
                        <a:ext cx="715963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66754" name="Group 34"/>
          <p:cNvGrpSpPr>
            <a:grpSpLocks/>
          </p:cNvGrpSpPr>
          <p:nvPr/>
        </p:nvGrpSpPr>
        <p:grpSpPr bwMode="auto">
          <a:xfrm>
            <a:off x="492125" y="3473450"/>
            <a:ext cx="2655888" cy="1703388"/>
            <a:chOff x="310" y="2388"/>
            <a:chExt cx="1673" cy="1073"/>
          </a:xfrm>
        </p:grpSpPr>
        <p:graphicFrame>
          <p:nvGraphicFramePr>
            <p:cNvPr id="1566755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3504021"/>
                </p:ext>
              </p:extLst>
            </p:nvPr>
          </p:nvGraphicFramePr>
          <p:xfrm>
            <a:off x="583" y="2388"/>
            <a:ext cx="54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7234" name="公式" r:id="rId5" imgW="342720" imgH="177480" progId="Equation.3">
                    <p:embed/>
                  </p:oleObj>
                </mc:Choice>
                <mc:Fallback>
                  <p:oleObj name="公式" r:id="rId5" imgW="342720" imgH="17748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 l="-7939" r="-7939"/>
                        <a:stretch>
                          <a:fillRect/>
                        </a:stretch>
                      </p:blipFill>
                      <p:spPr bwMode="auto">
                        <a:xfrm>
                          <a:off x="583" y="2388"/>
                          <a:ext cx="540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66756" name="Text Box 36"/>
            <p:cNvSpPr txBox="1">
              <a:spLocks noChangeArrowheads="1"/>
            </p:cNvSpPr>
            <p:nvPr/>
          </p:nvSpPr>
          <p:spPr bwMode="auto">
            <a:xfrm>
              <a:off x="310" y="2623"/>
              <a:ext cx="1673" cy="8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附加应力</a:t>
              </a:r>
              <a:r>
                <a:rPr kumimoji="1" lang="en-US" altLang="zh-CN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:  </a:t>
              </a:r>
              <a:r>
                <a:rPr kumimoji="1" lang="en-US" altLang="zh-CN" sz="20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kumimoji="1" lang="en-US" altLang="zh-CN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kumimoji="1" lang="en-US" altLang="zh-CN" sz="2400" b="1" i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超静孔压</a:t>
              </a:r>
              <a:r>
                <a:rPr kumimoji="1" lang="en-US" altLang="zh-CN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:</a:t>
              </a:r>
              <a:r>
                <a:rPr kumimoji="1" lang="en-US" altLang="zh-CN" sz="2000" b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</a:t>
              </a:r>
              <a:r>
                <a:rPr kumimoji="1" lang="en-US" altLang="zh-CN" sz="2400" b="1" i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kumimoji="1" lang="en-US" altLang="zh-CN" sz="2400" b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kumimoji="1" lang="en-US" altLang="zh-CN" sz="2400" b="1" i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kumimoji="1" lang="en-US" altLang="zh-CN" sz="2400" b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kumimoji="1" lang="en-US" altLang="zh-CN" sz="2400" b="1" i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有效应力</a:t>
              </a:r>
              <a:r>
                <a:rPr kumimoji="1" lang="en-US" altLang="zh-CN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: </a:t>
              </a:r>
              <a:r>
                <a:rPr kumimoji="1" lang="en-US" altLang="zh-CN" sz="2000" b="1" dirty="0" smtClean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kumimoji="1" lang="en-US" altLang="zh-CN" sz="2000" b="1" i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kumimoji="1" lang="en-US" altLang="zh-CN" sz="2000" b="1" dirty="0" smtClean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kumimoji="1" lang="en-US" altLang="zh-CN" sz="2400" b="1" baseline="-25000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kumimoji="1" lang="en-US" altLang="zh-CN" sz="2400" b="1" dirty="0"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=0</a:t>
              </a:r>
              <a:endParaRPr kumimoji="1" lang="en-US" altLang="zh-CN" sz="2400" b="1" dirty="0"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566757" name="Rectangle 37"/>
          <p:cNvSpPr>
            <a:spLocks noChangeArrowheads="1"/>
          </p:cNvSpPr>
          <p:nvPr/>
        </p:nvSpPr>
        <p:spPr bwMode="auto">
          <a:xfrm>
            <a:off x="3557588" y="1985963"/>
            <a:ext cx="1419225" cy="1344612"/>
          </a:xfrm>
          <a:prstGeom prst="rect">
            <a:avLst/>
          </a:pr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58" name="Freeform 38"/>
          <p:cNvSpPr>
            <a:spLocks/>
          </p:cNvSpPr>
          <p:nvPr/>
        </p:nvSpPr>
        <p:spPr bwMode="auto">
          <a:xfrm>
            <a:off x="4051300" y="2019300"/>
            <a:ext cx="534988" cy="1293813"/>
          </a:xfrm>
          <a:custGeom>
            <a:avLst/>
            <a:gdLst>
              <a:gd name="T0" fmla="*/ 33 w 337"/>
              <a:gd name="T1" fmla="*/ 0 h 804"/>
              <a:gd name="T2" fmla="*/ 319 w 337"/>
              <a:gd name="T3" fmla="*/ 70 h 804"/>
              <a:gd name="T4" fmla="*/ 0 w 337"/>
              <a:gd name="T5" fmla="*/ 159 h 804"/>
              <a:gd name="T6" fmla="*/ 319 w 337"/>
              <a:gd name="T7" fmla="*/ 238 h 804"/>
              <a:gd name="T8" fmla="*/ 2 w 337"/>
              <a:gd name="T9" fmla="*/ 315 h 804"/>
              <a:gd name="T10" fmla="*/ 329 w 337"/>
              <a:gd name="T11" fmla="*/ 399 h 804"/>
              <a:gd name="T12" fmla="*/ 2 w 337"/>
              <a:gd name="T13" fmla="*/ 485 h 804"/>
              <a:gd name="T14" fmla="*/ 333 w 337"/>
              <a:gd name="T15" fmla="*/ 569 h 804"/>
              <a:gd name="T16" fmla="*/ 14 w 337"/>
              <a:gd name="T17" fmla="*/ 641 h 804"/>
              <a:gd name="T18" fmla="*/ 329 w 337"/>
              <a:gd name="T19" fmla="*/ 727 h 804"/>
              <a:gd name="T20" fmla="*/ 60 w 337"/>
              <a:gd name="T21" fmla="*/ 804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7" h="804">
                <a:moveTo>
                  <a:pt x="33" y="0"/>
                </a:moveTo>
                <a:cubicBezTo>
                  <a:pt x="178" y="22"/>
                  <a:pt x="324" y="44"/>
                  <a:pt x="319" y="70"/>
                </a:cubicBezTo>
                <a:cubicBezTo>
                  <a:pt x="314" y="96"/>
                  <a:pt x="0" y="131"/>
                  <a:pt x="0" y="159"/>
                </a:cubicBezTo>
                <a:cubicBezTo>
                  <a:pt x="0" y="187"/>
                  <a:pt x="319" y="212"/>
                  <a:pt x="319" y="238"/>
                </a:cubicBezTo>
                <a:cubicBezTo>
                  <a:pt x="319" y="264"/>
                  <a:pt x="0" y="288"/>
                  <a:pt x="2" y="315"/>
                </a:cubicBezTo>
                <a:cubicBezTo>
                  <a:pt x="4" y="342"/>
                  <a:pt x="329" y="371"/>
                  <a:pt x="329" y="399"/>
                </a:cubicBezTo>
                <a:cubicBezTo>
                  <a:pt x="329" y="427"/>
                  <a:pt x="1" y="457"/>
                  <a:pt x="2" y="485"/>
                </a:cubicBezTo>
                <a:cubicBezTo>
                  <a:pt x="3" y="513"/>
                  <a:pt x="331" y="543"/>
                  <a:pt x="333" y="569"/>
                </a:cubicBezTo>
                <a:cubicBezTo>
                  <a:pt x="335" y="595"/>
                  <a:pt x="15" y="615"/>
                  <a:pt x="14" y="641"/>
                </a:cubicBezTo>
                <a:cubicBezTo>
                  <a:pt x="13" y="667"/>
                  <a:pt x="321" y="700"/>
                  <a:pt x="329" y="727"/>
                </a:cubicBezTo>
                <a:cubicBezTo>
                  <a:pt x="337" y="754"/>
                  <a:pt x="198" y="779"/>
                  <a:pt x="60" y="804"/>
                </a:cubicBezTo>
              </a:path>
            </a:pathLst>
          </a:custGeom>
          <a:noFill/>
          <a:ln w="57150" cmpd="sng">
            <a:solidFill>
              <a:srgbClr val="66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759" name="Freeform 39"/>
          <p:cNvSpPr>
            <a:spLocks/>
          </p:cNvSpPr>
          <p:nvPr/>
        </p:nvSpPr>
        <p:spPr bwMode="auto">
          <a:xfrm>
            <a:off x="3548063" y="1947863"/>
            <a:ext cx="1439862" cy="1376362"/>
          </a:xfrm>
          <a:custGeom>
            <a:avLst/>
            <a:gdLst>
              <a:gd name="T0" fmla="*/ 0 w 907"/>
              <a:gd name="T1" fmla="*/ 0 h 992"/>
              <a:gd name="T2" fmla="*/ 0 w 907"/>
              <a:gd name="T3" fmla="*/ 992 h 992"/>
              <a:gd name="T4" fmla="*/ 907 w 907"/>
              <a:gd name="T5" fmla="*/ 992 h 992"/>
              <a:gd name="T6" fmla="*/ 907 w 907"/>
              <a:gd name="T7" fmla="*/ 0 h 9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07" h="992">
                <a:moveTo>
                  <a:pt x="0" y="0"/>
                </a:moveTo>
                <a:lnTo>
                  <a:pt x="0" y="992"/>
                </a:lnTo>
                <a:lnTo>
                  <a:pt x="907" y="992"/>
                </a:lnTo>
                <a:lnTo>
                  <a:pt x="907" y="0"/>
                </a:lnTo>
              </a:path>
            </a:pathLst>
          </a:custGeom>
          <a:noFill/>
          <a:ln w="76200" cap="flat" cmpd="sng">
            <a:solidFill>
              <a:srgbClr val="9900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66760" name="Freeform 40"/>
          <p:cNvSpPr>
            <a:spLocks/>
          </p:cNvSpPr>
          <p:nvPr/>
        </p:nvSpPr>
        <p:spPr bwMode="auto">
          <a:xfrm>
            <a:off x="4941888" y="1117600"/>
            <a:ext cx="404812" cy="1892300"/>
          </a:xfrm>
          <a:custGeom>
            <a:avLst/>
            <a:gdLst>
              <a:gd name="T0" fmla="*/ 5 w 255"/>
              <a:gd name="T1" fmla="*/ 1156 h 1192"/>
              <a:gd name="T2" fmla="*/ 216 w 255"/>
              <a:gd name="T3" fmla="*/ 1153 h 1192"/>
              <a:gd name="T4" fmla="*/ 215 w 255"/>
              <a:gd name="T5" fmla="*/ 0 h 1192"/>
              <a:gd name="T6" fmla="*/ 255 w 255"/>
              <a:gd name="T7" fmla="*/ 0 h 1192"/>
              <a:gd name="T8" fmla="*/ 252 w 255"/>
              <a:gd name="T9" fmla="*/ 1190 h 1192"/>
              <a:gd name="T10" fmla="*/ 0 w 255"/>
              <a:gd name="T11" fmla="*/ 1192 h 1192"/>
              <a:gd name="T12" fmla="*/ 5 w 255"/>
              <a:gd name="T13" fmla="*/ 1156 h 1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5" h="1192">
                <a:moveTo>
                  <a:pt x="5" y="1156"/>
                </a:moveTo>
                <a:lnTo>
                  <a:pt x="216" y="1153"/>
                </a:lnTo>
                <a:lnTo>
                  <a:pt x="215" y="0"/>
                </a:lnTo>
                <a:lnTo>
                  <a:pt x="255" y="0"/>
                </a:lnTo>
                <a:lnTo>
                  <a:pt x="252" y="1190"/>
                </a:lnTo>
                <a:lnTo>
                  <a:pt x="0" y="1192"/>
                </a:lnTo>
                <a:lnTo>
                  <a:pt x="5" y="1156"/>
                </a:lnTo>
                <a:close/>
              </a:path>
            </a:pathLst>
          </a:cu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761" name="Line 41"/>
          <p:cNvSpPr>
            <a:spLocks noChangeShapeType="1"/>
          </p:cNvSpPr>
          <p:nvPr/>
        </p:nvSpPr>
        <p:spPr bwMode="auto">
          <a:xfrm>
            <a:off x="5018088" y="2028825"/>
            <a:ext cx="741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66762" name="Line 42"/>
          <p:cNvSpPr>
            <a:spLocks noChangeShapeType="1"/>
          </p:cNvSpPr>
          <p:nvPr/>
        </p:nvSpPr>
        <p:spPr bwMode="auto">
          <a:xfrm>
            <a:off x="5399088" y="1525588"/>
            <a:ext cx="2651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66763" name="Line 43"/>
          <p:cNvSpPr>
            <a:spLocks noChangeShapeType="1"/>
          </p:cNvSpPr>
          <p:nvPr/>
        </p:nvSpPr>
        <p:spPr bwMode="auto">
          <a:xfrm>
            <a:off x="5513388" y="1528763"/>
            <a:ext cx="0" cy="501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66764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642549"/>
              </p:ext>
            </p:extLst>
          </p:nvPr>
        </p:nvGraphicFramePr>
        <p:xfrm>
          <a:off x="5573713" y="1619250"/>
          <a:ext cx="67151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235" name="公式" r:id="rId7" imgW="406080" imgH="177480" progId="Equation.3">
                  <p:embed/>
                </p:oleObj>
              </mc:Choice>
              <mc:Fallback>
                <p:oleObj name="公式" r:id="rId7" imgW="406080" imgH="17748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713" y="1619250"/>
                        <a:ext cx="671512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65" name="Rectangle 45"/>
          <p:cNvSpPr>
            <a:spLocks noChangeArrowheads="1"/>
          </p:cNvSpPr>
          <p:nvPr/>
        </p:nvSpPr>
        <p:spPr bwMode="auto">
          <a:xfrm>
            <a:off x="6376988" y="2008188"/>
            <a:ext cx="1419225" cy="1323975"/>
          </a:xfrm>
          <a:prstGeom prst="rect">
            <a:avLst/>
          </a:pr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66" name="Freeform 46"/>
          <p:cNvSpPr>
            <a:spLocks/>
          </p:cNvSpPr>
          <p:nvPr/>
        </p:nvSpPr>
        <p:spPr bwMode="auto">
          <a:xfrm>
            <a:off x="6367463" y="1949450"/>
            <a:ext cx="1439862" cy="1376363"/>
          </a:xfrm>
          <a:custGeom>
            <a:avLst/>
            <a:gdLst>
              <a:gd name="T0" fmla="*/ 0 w 907"/>
              <a:gd name="T1" fmla="*/ 0 h 992"/>
              <a:gd name="T2" fmla="*/ 0 w 907"/>
              <a:gd name="T3" fmla="*/ 992 h 992"/>
              <a:gd name="T4" fmla="*/ 907 w 907"/>
              <a:gd name="T5" fmla="*/ 992 h 992"/>
              <a:gd name="T6" fmla="*/ 907 w 907"/>
              <a:gd name="T7" fmla="*/ 0 h 9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07" h="992">
                <a:moveTo>
                  <a:pt x="0" y="0"/>
                </a:moveTo>
                <a:lnTo>
                  <a:pt x="0" y="992"/>
                </a:lnTo>
                <a:lnTo>
                  <a:pt x="907" y="992"/>
                </a:lnTo>
                <a:lnTo>
                  <a:pt x="907" y="0"/>
                </a:lnTo>
              </a:path>
            </a:pathLst>
          </a:custGeom>
          <a:noFill/>
          <a:ln w="76200" cap="flat" cmpd="sng">
            <a:solidFill>
              <a:srgbClr val="9900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66767" name="Freeform 47"/>
          <p:cNvSpPr>
            <a:spLocks/>
          </p:cNvSpPr>
          <p:nvPr/>
        </p:nvSpPr>
        <p:spPr bwMode="auto">
          <a:xfrm>
            <a:off x="7761288" y="1119188"/>
            <a:ext cx="404812" cy="1892300"/>
          </a:xfrm>
          <a:custGeom>
            <a:avLst/>
            <a:gdLst>
              <a:gd name="T0" fmla="*/ 5 w 255"/>
              <a:gd name="T1" fmla="*/ 1156 h 1192"/>
              <a:gd name="T2" fmla="*/ 216 w 255"/>
              <a:gd name="T3" fmla="*/ 1153 h 1192"/>
              <a:gd name="T4" fmla="*/ 215 w 255"/>
              <a:gd name="T5" fmla="*/ 0 h 1192"/>
              <a:gd name="T6" fmla="*/ 255 w 255"/>
              <a:gd name="T7" fmla="*/ 0 h 1192"/>
              <a:gd name="T8" fmla="*/ 252 w 255"/>
              <a:gd name="T9" fmla="*/ 1190 h 1192"/>
              <a:gd name="T10" fmla="*/ 0 w 255"/>
              <a:gd name="T11" fmla="*/ 1192 h 1192"/>
              <a:gd name="T12" fmla="*/ 5 w 255"/>
              <a:gd name="T13" fmla="*/ 1156 h 1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5" h="1192">
                <a:moveTo>
                  <a:pt x="5" y="1156"/>
                </a:moveTo>
                <a:lnTo>
                  <a:pt x="216" y="1153"/>
                </a:lnTo>
                <a:lnTo>
                  <a:pt x="215" y="0"/>
                </a:lnTo>
                <a:lnTo>
                  <a:pt x="255" y="0"/>
                </a:lnTo>
                <a:lnTo>
                  <a:pt x="252" y="1190"/>
                </a:lnTo>
                <a:lnTo>
                  <a:pt x="0" y="1192"/>
                </a:lnTo>
                <a:lnTo>
                  <a:pt x="5" y="1156"/>
                </a:lnTo>
                <a:close/>
              </a:path>
            </a:pathLst>
          </a:custGeom>
          <a:solidFill>
            <a:srgbClr val="33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768" name="Line 48"/>
          <p:cNvSpPr>
            <a:spLocks noChangeShapeType="1"/>
          </p:cNvSpPr>
          <p:nvPr/>
        </p:nvSpPr>
        <p:spPr bwMode="auto">
          <a:xfrm>
            <a:off x="7837488" y="2030413"/>
            <a:ext cx="7413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66769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18873"/>
              </p:ext>
            </p:extLst>
          </p:nvPr>
        </p:nvGraphicFramePr>
        <p:xfrm>
          <a:off x="8261350" y="1698625"/>
          <a:ext cx="5873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236" name="公式" r:id="rId9" imgW="355320" imgH="177480" progId="Equation.3">
                  <p:embed/>
                </p:oleObj>
              </mc:Choice>
              <mc:Fallback>
                <p:oleObj name="公式" r:id="rId9" imgW="355320" imgH="17748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1350" y="1698625"/>
                        <a:ext cx="5873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70" name="Rectangle 50"/>
          <p:cNvSpPr>
            <a:spLocks noChangeArrowheads="1"/>
          </p:cNvSpPr>
          <p:nvPr/>
        </p:nvSpPr>
        <p:spPr bwMode="auto">
          <a:xfrm>
            <a:off x="5280025" y="1089025"/>
            <a:ext cx="66675" cy="434975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71" name="Freeform 51"/>
          <p:cNvSpPr>
            <a:spLocks noChangeAspect="1"/>
          </p:cNvSpPr>
          <p:nvPr/>
        </p:nvSpPr>
        <p:spPr bwMode="auto">
          <a:xfrm>
            <a:off x="4954588" y="1019175"/>
            <a:ext cx="395287" cy="1993900"/>
          </a:xfrm>
          <a:custGeom>
            <a:avLst/>
            <a:gdLst>
              <a:gd name="T0" fmla="*/ 0 w 249"/>
              <a:gd name="T1" fmla="*/ 1216 h 1256"/>
              <a:gd name="T2" fmla="*/ 206 w 249"/>
              <a:gd name="T3" fmla="*/ 1213 h 1256"/>
              <a:gd name="T4" fmla="*/ 203 w 249"/>
              <a:gd name="T5" fmla="*/ 0 h 1256"/>
              <a:gd name="T6" fmla="*/ 249 w 249"/>
              <a:gd name="T7" fmla="*/ 0 h 1256"/>
              <a:gd name="T8" fmla="*/ 243 w 249"/>
              <a:gd name="T9" fmla="*/ 1253 h 1256"/>
              <a:gd name="T10" fmla="*/ 2 w 249"/>
              <a:gd name="T11" fmla="*/ 1256 h 1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9" h="1256">
                <a:moveTo>
                  <a:pt x="0" y="1216"/>
                </a:moveTo>
                <a:lnTo>
                  <a:pt x="206" y="1213"/>
                </a:lnTo>
                <a:lnTo>
                  <a:pt x="203" y="0"/>
                </a:lnTo>
                <a:lnTo>
                  <a:pt x="249" y="0"/>
                </a:lnTo>
                <a:lnTo>
                  <a:pt x="243" y="1253"/>
                </a:lnTo>
                <a:lnTo>
                  <a:pt x="2" y="1256"/>
                </a:lnTo>
              </a:path>
            </a:pathLst>
          </a:custGeom>
          <a:noFill/>
          <a:ln w="12700" cap="flat" cmpd="sng">
            <a:solidFill>
              <a:srgbClr val="9900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66772" name="Freeform 52"/>
          <p:cNvSpPr>
            <a:spLocks/>
          </p:cNvSpPr>
          <p:nvPr/>
        </p:nvSpPr>
        <p:spPr bwMode="auto">
          <a:xfrm>
            <a:off x="4054475" y="2368550"/>
            <a:ext cx="534988" cy="931863"/>
          </a:xfrm>
          <a:custGeom>
            <a:avLst/>
            <a:gdLst>
              <a:gd name="T0" fmla="*/ 33 w 337"/>
              <a:gd name="T1" fmla="*/ 0 h 804"/>
              <a:gd name="T2" fmla="*/ 319 w 337"/>
              <a:gd name="T3" fmla="*/ 70 h 804"/>
              <a:gd name="T4" fmla="*/ 0 w 337"/>
              <a:gd name="T5" fmla="*/ 159 h 804"/>
              <a:gd name="T6" fmla="*/ 319 w 337"/>
              <a:gd name="T7" fmla="*/ 238 h 804"/>
              <a:gd name="T8" fmla="*/ 2 w 337"/>
              <a:gd name="T9" fmla="*/ 315 h 804"/>
              <a:gd name="T10" fmla="*/ 329 w 337"/>
              <a:gd name="T11" fmla="*/ 399 h 804"/>
              <a:gd name="T12" fmla="*/ 2 w 337"/>
              <a:gd name="T13" fmla="*/ 485 h 804"/>
              <a:gd name="T14" fmla="*/ 333 w 337"/>
              <a:gd name="T15" fmla="*/ 569 h 804"/>
              <a:gd name="T16" fmla="*/ 14 w 337"/>
              <a:gd name="T17" fmla="*/ 641 h 804"/>
              <a:gd name="T18" fmla="*/ 329 w 337"/>
              <a:gd name="T19" fmla="*/ 727 h 804"/>
              <a:gd name="T20" fmla="*/ 60 w 337"/>
              <a:gd name="T21" fmla="*/ 804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7" h="804">
                <a:moveTo>
                  <a:pt x="33" y="0"/>
                </a:moveTo>
                <a:cubicBezTo>
                  <a:pt x="178" y="22"/>
                  <a:pt x="324" y="44"/>
                  <a:pt x="319" y="70"/>
                </a:cubicBezTo>
                <a:cubicBezTo>
                  <a:pt x="314" y="96"/>
                  <a:pt x="0" y="131"/>
                  <a:pt x="0" y="159"/>
                </a:cubicBezTo>
                <a:cubicBezTo>
                  <a:pt x="0" y="187"/>
                  <a:pt x="319" y="212"/>
                  <a:pt x="319" y="238"/>
                </a:cubicBezTo>
                <a:cubicBezTo>
                  <a:pt x="319" y="264"/>
                  <a:pt x="0" y="288"/>
                  <a:pt x="2" y="315"/>
                </a:cubicBezTo>
                <a:cubicBezTo>
                  <a:pt x="4" y="342"/>
                  <a:pt x="329" y="371"/>
                  <a:pt x="329" y="399"/>
                </a:cubicBezTo>
                <a:cubicBezTo>
                  <a:pt x="329" y="427"/>
                  <a:pt x="1" y="457"/>
                  <a:pt x="2" y="485"/>
                </a:cubicBezTo>
                <a:cubicBezTo>
                  <a:pt x="3" y="513"/>
                  <a:pt x="331" y="543"/>
                  <a:pt x="333" y="569"/>
                </a:cubicBezTo>
                <a:cubicBezTo>
                  <a:pt x="335" y="595"/>
                  <a:pt x="15" y="615"/>
                  <a:pt x="14" y="641"/>
                </a:cubicBezTo>
                <a:cubicBezTo>
                  <a:pt x="13" y="667"/>
                  <a:pt x="321" y="700"/>
                  <a:pt x="329" y="727"/>
                </a:cubicBezTo>
                <a:cubicBezTo>
                  <a:pt x="337" y="754"/>
                  <a:pt x="198" y="779"/>
                  <a:pt x="60" y="804"/>
                </a:cubicBezTo>
              </a:path>
            </a:pathLst>
          </a:custGeom>
          <a:noFill/>
          <a:ln w="57150" cmpd="sng">
            <a:solidFill>
              <a:srgbClr val="66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6773" name="Freeform 53"/>
          <p:cNvSpPr>
            <a:spLocks/>
          </p:cNvSpPr>
          <p:nvPr/>
        </p:nvSpPr>
        <p:spPr bwMode="auto">
          <a:xfrm>
            <a:off x="6872288" y="2359025"/>
            <a:ext cx="534987" cy="952500"/>
          </a:xfrm>
          <a:custGeom>
            <a:avLst/>
            <a:gdLst>
              <a:gd name="T0" fmla="*/ 33 w 337"/>
              <a:gd name="T1" fmla="*/ 0 h 804"/>
              <a:gd name="T2" fmla="*/ 319 w 337"/>
              <a:gd name="T3" fmla="*/ 70 h 804"/>
              <a:gd name="T4" fmla="*/ 0 w 337"/>
              <a:gd name="T5" fmla="*/ 159 h 804"/>
              <a:gd name="T6" fmla="*/ 319 w 337"/>
              <a:gd name="T7" fmla="*/ 238 h 804"/>
              <a:gd name="T8" fmla="*/ 2 w 337"/>
              <a:gd name="T9" fmla="*/ 315 h 804"/>
              <a:gd name="T10" fmla="*/ 329 w 337"/>
              <a:gd name="T11" fmla="*/ 399 h 804"/>
              <a:gd name="T12" fmla="*/ 2 w 337"/>
              <a:gd name="T13" fmla="*/ 485 h 804"/>
              <a:gd name="T14" fmla="*/ 333 w 337"/>
              <a:gd name="T15" fmla="*/ 569 h 804"/>
              <a:gd name="T16" fmla="*/ 14 w 337"/>
              <a:gd name="T17" fmla="*/ 641 h 804"/>
              <a:gd name="T18" fmla="*/ 329 w 337"/>
              <a:gd name="T19" fmla="*/ 727 h 804"/>
              <a:gd name="T20" fmla="*/ 60 w 337"/>
              <a:gd name="T21" fmla="*/ 804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7" h="804">
                <a:moveTo>
                  <a:pt x="33" y="0"/>
                </a:moveTo>
                <a:cubicBezTo>
                  <a:pt x="178" y="22"/>
                  <a:pt x="324" y="44"/>
                  <a:pt x="319" y="70"/>
                </a:cubicBezTo>
                <a:cubicBezTo>
                  <a:pt x="314" y="96"/>
                  <a:pt x="0" y="131"/>
                  <a:pt x="0" y="159"/>
                </a:cubicBezTo>
                <a:cubicBezTo>
                  <a:pt x="0" y="187"/>
                  <a:pt x="319" y="212"/>
                  <a:pt x="319" y="238"/>
                </a:cubicBezTo>
                <a:cubicBezTo>
                  <a:pt x="319" y="264"/>
                  <a:pt x="0" y="288"/>
                  <a:pt x="2" y="315"/>
                </a:cubicBezTo>
                <a:cubicBezTo>
                  <a:pt x="4" y="342"/>
                  <a:pt x="329" y="371"/>
                  <a:pt x="329" y="399"/>
                </a:cubicBezTo>
                <a:cubicBezTo>
                  <a:pt x="329" y="427"/>
                  <a:pt x="1" y="457"/>
                  <a:pt x="2" y="485"/>
                </a:cubicBezTo>
                <a:cubicBezTo>
                  <a:pt x="3" y="513"/>
                  <a:pt x="331" y="543"/>
                  <a:pt x="333" y="569"/>
                </a:cubicBezTo>
                <a:cubicBezTo>
                  <a:pt x="335" y="595"/>
                  <a:pt x="15" y="615"/>
                  <a:pt x="14" y="641"/>
                </a:cubicBezTo>
                <a:cubicBezTo>
                  <a:pt x="13" y="667"/>
                  <a:pt x="321" y="700"/>
                  <a:pt x="329" y="727"/>
                </a:cubicBezTo>
                <a:cubicBezTo>
                  <a:pt x="337" y="754"/>
                  <a:pt x="198" y="779"/>
                  <a:pt x="60" y="804"/>
                </a:cubicBezTo>
              </a:path>
            </a:pathLst>
          </a:custGeom>
          <a:noFill/>
          <a:ln w="57150" cmpd="sng">
            <a:solidFill>
              <a:srgbClr val="66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66774" name="Group 54"/>
          <p:cNvGrpSpPr>
            <a:grpSpLocks/>
          </p:cNvGrpSpPr>
          <p:nvPr/>
        </p:nvGrpSpPr>
        <p:grpSpPr bwMode="auto">
          <a:xfrm>
            <a:off x="6408738" y="1966913"/>
            <a:ext cx="1360487" cy="404812"/>
            <a:chOff x="4037" y="1229"/>
            <a:chExt cx="857" cy="255"/>
          </a:xfrm>
        </p:grpSpPr>
        <p:grpSp>
          <p:nvGrpSpPr>
            <p:cNvPr id="1566775" name="Group 55"/>
            <p:cNvGrpSpPr>
              <a:grpSpLocks/>
            </p:cNvGrpSpPr>
            <p:nvPr/>
          </p:nvGrpSpPr>
          <p:grpSpPr bwMode="auto">
            <a:xfrm>
              <a:off x="4053" y="1229"/>
              <a:ext cx="822" cy="165"/>
              <a:chOff x="3525" y="969"/>
              <a:chExt cx="829" cy="165"/>
            </a:xfrm>
          </p:grpSpPr>
          <p:sp>
            <p:nvSpPr>
              <p:cNvPr id="1566776" name="Line 56"/>
              <p:cNvSpPr>
                <a:spLocks noChangeShapeType="1"/>
              </p:cNvSpPr>
              <p:nvPr/>
            </p:nvSpPr>
            <p:spPr bwMode="auto">
              <a:xfrm>
                <a:off x="352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777" name="Line 57"/>
              <p:cNvSpPr>
                <a:spLocks noChangeShapeType="1"/>
              </p:cNvSpPr>
              <p:nvPr/>
            </p:nvSpPr>
            <p:spPr bwMode="auto">
              <a:xfrm>
                <a:off x="3643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778" name="Line 58"/>
              <p:cNvSpPr>
                <a:spLocks noChangeShapeType="1"/>
              </p:cNvSpPr>
              <p:nvPr/>
            </p:nvSpPr>
            <p:spPr bwMode="auto">
              <a:xfrm>
                <a:off x="3762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779" name="Line 59"/>
              <p:cNvSpPr>
                <a:spLocks noChangeShapeType="1"/>
              </p:cNvSpPr>
              <p:nvPr/>
            </p:nvSpPr>
            <p:spPr bwMode="auto">
              <a:xfrm>
                <a:off x="3879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780" name="Line 60"/>
              <p:cNvSpPr>
                <a:spLocks noChangeShapeType="1"/>
              </p:cNvSpPr>
              <p:nvPr/>
            </p:nvSpPr>
            <p:spPr bwMode="auto">
              <a:xfrm>
                <a:off x="3998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781" name="Line 61"/>
              <p:cNvSpPr>
                <a:spLocks noChangeShapeType="1"/>
              </p:cNvSpPr>
              <p:nvPr/>
            </p:nvSpPr>
            <p:spPr bwMode="auto">
              <a:xfrm>
                <a:off x="4117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782" name="Line 62"/>
              <p:cNvSpPr>
                <a:spLocks noChangeShapeType="1"/>
              </p:cNvSpPr>
              <p:nvPr/>
            </p:nvSpPr>
            <p:spPr bwMode="auto">
              <a:xfrm>
                <a:off x="423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783" name="Line 63"/>
              <p:cNvSpPr>
                <a:spLocks noChangeShapeType="1"/>
              </p:cNvSpPr>
              <p:nvPr/>
            </p:nvSpPr>
            <p:spPr bwMode="auto">
              <a:xfrm>
                <a:off x="4354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566784" name="Group 64"/>
            <p:cNvGrpSpPr>
              <a:grpSpLocks/>
            </p:cNvGrpSpPr>
            <p:nvPr/>
          </p:nvGrpSpPr>
          <p:grpSpPr bwMode="auto">
            <a:xfrm>
              <a:off x="4037" y="1427"/>
              <a:ext cx="857" cy="57"/>
              <a:chOff x="3470" y="1430"/>
              <a:chExt cx="857" cy="57"/>
            </a:xfrm>
          </p:grpSpPr>
          <p:sp>
            <p:nvSpPr>
              <p:cNvPr id="1566785" name="Rectangle 65"/>
              <p:cNvSpPr>
                <a:spLocks noChangeArrowheads="1"/>
              </p:cNvSpPr>
              <p:nvPr/>
            </p:nvSpPr>
            <p:spPr bwMode="auto">
              <a:xfrm>
                <a:off x="3470" y="1430"/>
                <a:ext cx="857" cy="56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6786" name="Line 66"/>
              <p:cNvSpPr>
                <a:spLocks noChangeShapeType="1"/>
              </p:cNvSpPr>
              <p:nvPr/>
            </p:nvSpPr>
            <p:spPr bwMode="auto">
              <a:xfrm>
                <a:off x="3580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787" name="Line 67"/>
              <p:cNvSpPr>
                <a:spLocks noChangeShapeType="1"/>
              </p:cNvSpPr>
              <p:nvPr/>
            </p:nvSpPr>
            <p:spPr bwMode="auto">
              <a:xfrm>
                <a:off x="3694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788" name="Line 68"/>
              <p:cNvSpPr>
                <a:spLocks noChangeShapeType="1"/>
              </p:cNvSpPr>
              <p:nvPr/>
            </p:nvSpPr>
            <p:spPr bwMode="auto">
              <a:xfrm>
                <a:off x="3801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789" name="Line 69"/>
              <p:cNvSpPr>
                <a:spLocks noChangeShapeType="1"/>
              </p:cNvSpPr>
              <p:nvPr/>
            </p:nvSpPr>
            <p:spPr bwMode="auto">
              <a:xfrm>
                <a:off x="3905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790" name="Line 70"/>
              <p:cNvSpPr>
                <a:spLocks noChangeShapeType="1"/>
              </p:cNvSpPr>
              <p:nvPr/>
            </p:nvSpPr>
            <p:spPr bwMode="auto">
              <a:xfrm>
                <a:off x="4009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791" name="Line 71"/>
              <p:cNvSpPr>
                <a:spLocks noChangeShapeType="1"/>
              </p:cNvSpPr>
              <p:nvPr/>
            </p:nvSpPr>
            <p:spPr bwMode="auto">
              <a:xfrm>
                <a:off x="4113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792" name="Line 72"/>
              <p:cNvSpPr>
                <a:spLocks noChangeShapeType="1"/>
              </p:cNvSpPr>
              <p:nvPr/>
            </p:nvSpPr>
            <p:spPr bwMode="auto">
              <a:xfrm>
                <a:off x="4217" y="1431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566793" name="Rectangle 73"/>
          <p:cNvSpPr>
            <a:spLocks noChangeArrowheads="1"/>
          </p:cNvSpPr>
          <p:nvPr/>
        </p:nvSpPr>
        <p:spPr bwMode="auto">
          <a:xfrm>
            <a:off x="8101013" y="1098550"/>
            <a:ext cx="66675" cy="923925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94" name="Freeform 74"/>
          <p:cNvSpPr>
            <a:spLocks noChangeAspect="1"/>
          </p:cNvSpPr>
          <p:nvPr/>
        </p:nvSpPr>
        <p:spPr bwMode="auto">
          <a:xfrm>
            <a:off x="7773988" y="1020763"/>
            <a:ext cx="395287" cy="1993900"/>
          </a:xfrm>
          <a:custGeom>
            <a:avLst/>
            <a:gdLst>
              <a:gd name="T0" fmla="*/ 0 w 249"/>
              <a:gd name="T1" fmla="*/ 1216 h 1256"/>
              <a:gd name="T2" fmla="*/ 206 w 249"/>
              <a:gd name="T3" fmla="*/ 1213 h 1256"/>
              <a:gd name="T4" fmla="*/ 203 w 249"/>
              <a:gd name="T5" fmla="*/ 0 h 1256"/>
              <a:gd name="T6" fmla="*/ 249 w 249"/>
              <a:gd name="T7" fmla="*/ 0 h 1256"/>
              <a:gd name="T8" fmla="*/ 243 w 249"/>
              <a:gd name="T9" fmla="*/ 1253 h 1256"/>
              <a:gd name="T10" fmla="*/ 2 w 249"/>
              <a:gd name="T11" fmla="*/ 1256 h 1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9" h="1256">
                <a:moveTo>
                  <a:pt x="0" y="1216"/>
                </a:moveTo>
                <a:lnTo>
                  <a:pt x="206" y="1213"/>
                </a:lnTo>
                <a:lnTo>
                  <a:pt x="203" y="0"/>
                </a:lnTo>
                <a:lnTo>
                  <a:pt x="249" y="0"/>
                </a:lnTo>
                <a:lnTo>
                  <a:pt x="243" y="1253"/>
                </a:lnTo>
                <a:lnTo>
                  <a:pt x="2" y="1256"/>
                </a:lnTo>
              </a:path>
            </a:pathLst>
          </a:custGeom>
          <a:noFill/>
          <a:ln w="12700" cap="flat" cmpd="sng">
            <a:solidFill>
              <a:srgbClr val="9900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66795" name="Freeform 75"/>
          <p:cNvSpPr>
            <a:spLocks/>
          </p:cNvSpPr>
          <p:nvPr/>
        </p:nvSpPr>
        <p:spPr bwMode="auto">
          <a:xfrm>
            <a:off x="6889750" y="2582863"/>
            <a:ext cx="534988" cy="731837"/>
          </a:xfrm>
          <a:custGeom>
            <a:avLst/>
            <a:gdLst>
              <a:gd name="T0" fmla="*/ 33 w 337"/>
              <a:gd name="T1" fmla="*/ 0 h 804"/>
              <a:gd name="T2" fmla="*/ 319 w 337"/>
              <a:gd name="T3" fmla="*/ 70 h 804"/>
              <a:gd name="T4" fmla="*/ 0 w 337"/>
              <a:gd name="T5" fmla="*/ 159 h 804"/>
              <a:gd name="T6" fmla="*/ 319 w 337"/>
              <a:gd name="T7" fmla="*/ 238 h 804"/>
              <a:gd name="T8" fmla="*/ 2 w 337"/>
              <a:gd name="T9" fmla="*/ 315 h 804"/>
              <a:gd name="T10" fmla="*/ 329 w 337"/>
              <a:gd name="T11" fmla="*/ 399 h 804"/>
              <a:gd name="T12" fmla="*/ 2 w 337"/>
              <a:gd name="T13" fmla="*/ 485 h 804"/>
              <a:gd name="T14" fmla="*/ 333 w 337"/>
              <a:gd name="T15" fmla="*/ 569 h 804"/>
              <a:gd name="T16" fmla="*/ 14 w 337"/>
              <a:gd name="T17" fmla="*/ 641 h 804"/>
              <a:gd name="T18" fmla="*/ 329 w 337"/>
              <a:gd name="T19" fmla="*/ 727 h 804"/>
              <a:gd name="T20" fmla="*/ 60 w 337"/>
              <a:gd name="T21" fmla="*/ 804 h 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7" h="804">
                <a:moveTo>
                  <a:pt x="33" y="0"/>
                </a:moveTo>
                <a:cubicBezTo>
                  <a:pt x="178" y="22"/>
                  <a:pt x="324" y="44"/>
                  <a:pt x="319" y="70"/>
                </a:cubicBezTo>
                <a:cubicBezTo>
                  <a:pt x="314" y="96"/>
                  <a:pt x="0" y="131"/>
                  <a:pt x="0" y="159"/>
                </a:cubicBezTo>
                <a:cubicBezTo>
                  <a:pt x="0" y="187"/>
                  <a:pt x="319" y="212"/>
                  <a:pt x="319" y="238"/>
                </a:cubicBezTo>
                <a:cubicBezTo>
                  <a:pt x="319" y="264"/>
                  <a:pt x="0" y="288"/>
                  <a:pt x="2" y="315"/>
                </a:cubicBezTo>
                <a:cubicBezTo>
                  <a:pt x="4" y="342"/>
                  <a:pt x="329" y="371"/>
                  <a:pt x="329" y="399"/>
                </a:cubicBezTo>
                <a:cubicBezTo>
                  <a:pt x="329" y="427"/>
                  <a:pt x="1" y="457"/>
                  <a:pt x="2" y="485"/>
                </a:cubicBezTo>
                <a:cubicBezTo>
                  <a:pt x="3" y="513"/>
                  <a:pt x="331" y="543"/>
                  <a:pt x="333" y="569"/>
                </a:cubicBezTo>
                <a:cubicBezTo>
                  <a:pt x="335" y="595"/>
                  <a:pt x="15" y="615"/>
                  <a:pt x="14" y="641"/>
                </a:cubicBezTo>
                <a:cubicBezTo>
                  <a:pt x="13" y="667"/>
                  <a:pt x="321" y="700"/>
                  <a:pt x="329" y="727"/>
                </a:cubicBezTo>
                <a:cubicBezTo>
                  <a:pt x="337" y="754"/>
                  <a:pt x="198" y="779"/>
                  <a:pt x="60" y="804"/>
                </a:cubicBezTo>
              </a:path>
            </a:pathLst>
          </a:custGeom>
          <a:noFill/>
          <a:ln w="57150" cmpd="sng">
            <a:solidFill>
              <a:srgbClr val="66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66796" name="Group 76"/>
          <p:cNvGrpSpPr>
            <a:grpSpLocks/>
          </p:cNvGrpSpPr>
          <p:nvPr/>
        </p:nvGrpSpPr>
        <p:grpSpPr bwMode="auto">
          <a:xfrm>
            <a:off x="3589338" y="1631950"/>
            <a:ext cx="1360487" cy="404813"/>
            <a:chOff x="2261" y="1228"/>
            <a:chExt cx="857" cy="255"/>
          </a:xfrm>
        </p:grpSpPr>
        <p:grpSp>
          <p:nvGrpSpPr>
            <p:cNvPr id="1566797" name="Group 77"/>
            <p:cNvGrpSpPr>
              <a:grpSpLocks/>
            </p:cNvGrpSpPr>
            <p:nvPr/>
          </p:nvGrpSpPr>
          <p:grpSpPr bwMode="auto">
            <a:xfrm>
              <a:off x="2277" y="1228"/>
              <a:ext cx="822" cy="165"/>
              <a:chOff x="3525" y="969"/>
              <a:chExt cx="829" cy="165"/>
            </a:xfrm>
          </p:grpSpPr>
          <p:sp>
            <p:nvSpPr>
              <p:cNvPr id="1566798" name="Line 78"/>
              <p:cNvSpPr>
                <a:spLocks noChangeShapeType="1"/>
              </p:cNvSpPr>
              <p:nvPr/>
            </p:nvSpPr>
            <p:spPr bwMode="auto">
              <a:xfrm>
                <a:off x="352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799" name="Line 79"/>
              <p:cNvSpPr>
                <a:spLocks noChangeShapeType="1"/>
              </p:cNvSpPr>
              <p:nvPr/>
            </p:nvSpPr>
            <p:spPr bwMode="auto">
              <a:xfrm>
                <a:off x="3643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800" name="Line 80"/>
              <p:cNvSpPr>
                <a:spLocks noChangeShapeType="1"/>
              </p:cNvSpPr>
              <p:nvPr/>
            </p:nvSpPr>
            <p:spPr bwMode="auto">
              <a:xfrm>
                <a:off x="3762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801" name="Line 81"/>
              <p:cNvSpPr>
                <a:spLocks noChangeShapeType="1"/>
              </p:cNvSpPr>
              <p:nvPr/>
            </p:nvSpPr>
            <p:spPr bwMode="auto">
              <a:xfrm>
                <a:off x="3879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802" name="Line 82"/>
              <p:cNvSpPr>
                <a:spLocks noChangeShapeType="1"/>
              </p:cNvSpPr>
              <p:nvPr/>
            </p:nvSpPr>
            <p:spPr bwMode="auto">
              <a:xfrm>
                <a:off x="3998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803" name="Line 83"/>
              <p:cNvSpPr>
                <a:spLocks noChangeShapeType="1"/>
              </p:cNvSpPr>
              <p:nvPr/>
            </p:nvSpPr>
            <p:spPr bwMode="auto">
              <a:xfrm>
                <a:off x="4117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804" name="Line 84"/>
              <p:cNvSpPr>
                <a:spLocks noChangeShapeType="1"/>
              </p:cNvSpPr>
              <p:nvPr/>
            </p:nvSpPr>
            <p:spPr bwMode="auto">
              <a:xfrm>
                <a:off x="4235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6805" name="Line 85"/>
              <p:cNvSpPr>
                <a:spLocks noChangeShapeType="1"/>
              </p:cNvSpPr>
              <p:nvPr/>
            </p:nvSpPr>
            <p:spPr bwMode="auto">
              <a:xfrm>
                <a:off x="4354" y="9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566806" name="Group 86"/>
            <p:cNvGrpSpPr>
              <a:grpSpLocks/>
            </p:cNvGrpSpPr>
            <p:nvPr/>
          </p:nvGrpSpPr>
          <p:grpSpPr bwMode="auto">
            <a:xfrm>
              <a:off x="2261" y="1426"/>
              <a:ext cx="857" cy="57"/>
              <a:chOff x="3470" y="1430"/>
              <a:chExt cx="857" cy="57"/>
            </a:xfrm>
          </p:grpSpPr>
          <p:sp>
            <p:nvSpPr>
              <p:cNvPr id="1566807" name="Rectangle 87"/>
              <p:cNvSpPr>
                <a:spLocks noChangeArrowheads="1"/>
              </p:cNvSpPr>
              <p:nvPr/>
            </p:nvSpPr>
            <p:spPr bwMode="auto">
              <a:xfrm>
                <a:off x="3470" y="1430"/>
                <a:ext cx="857" cy="56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6808" name="Line 88"/>
              <p:cNvSpPr>
                <a:spLocks noChangeShapeType="1"/>
              </p:cNvSpPr>
              <p:nvPr/>
            </p:nvSpPr>
            <p:spPr bwMode="auto">
              <a:xfrm>
                <a:off x="3580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809" name="Line 89"/>
              <p:cNvSpPr>
                <a:spLocks noChangeShapeType="1"/>
              </p:cNvSpPr>
              <p:nvPr/>
            </p:nvSpPr>
            <p:spPr bwMode="auto">
              <a:xfrm>
                <a:off x="3694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810" name="Line 90"/>
              <p:cNvSpPr>
                <a:spLocks noChangeShapeType="1"/>
              </p:cNvSpPr>
              <p:nvPr/>
            </p:nvSpPr>
            <p:spPr bwMode="auto">
              <a:xfrm>
                <a:off x="3801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811" name="Line 91"/>
              <p:cNvSpPr>
                <a:spLocks noChangeShapeType="1"/>
              </p:cNvSpPr>
              <p:nvPr/>
            </p:nvSpPr>
            <p:spPr bwMode="auto">
              <a:xfrm>
                <a:off x="3905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812" name="Line 92"/>
              <p:cNvSpPr>
                <a:spLocks noChangeShapeType="1"/>
              </p:cNvSpPr>
              <p:nvPr/>
            </p:nvSpPr>
            <p:spPr bwMode="auto">
              <a:xfrm>
                <a:off x="4009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813" name="Line 93"/>
              <p:cNvSpPr>
                <a:spLocks noChangeShapeType="1"/>
              </p:cNvSpPr>
              <p:nvPr/>
            </p:nvSpPr>
            <p:spPr bwMode="auto">
              <a:xfrm>
                <a:off x="4113" y="1430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6814" name="Line 94"/>
              <p:cNvSpPr>
                <a:spLocks noChangeShapeType="1"/>
              </p:cNvSpPr>
              <p:nvPr/>
            </p:nvSpPr>
            <p:spPr bwMode="auto">
              <a:xfrm>
                <a:off x="4217" y="1431"/>
                <a:ext cx="0" cy="56"/>
              </a:xfrm>
              <a:prstGeom prst="line">
                <a:avLst/>
              </a:prstGeom>
              <a:noFill/>
              <a:ln w="50800" cmpd="dbl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66815" name="Group 95"/>
          <p:cNvGrpSpPr>
            <a:grpSpLocks/>
          </p:cNvGrpSpPr>
          <p:nvPr/>
        </p:nvGrpSpPr>
        <p:grpSpPr bwMode="auto">
          <a:xfrm>
            <a:off x="3359150" y="3468695"/>
            <a:ext cx="2430463" cy="1716090"/>
            <a:chOff x="2116" y="2385"/>
            <a:chExt cx="1531" cy="1081"/>
          </a:xfrm>
        </p:grpSpPr>
        <p:graphicFrame>
          <p:nvGraphicFramePr>
            <p:cNvPr id="1566816" name="Object 9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4228140"/>
                </p:ext>
              </p:extLst>
            </p:nvPr>
          </p:nvGraphicFramePr>
          <p:xfrm>
            <a:off x="2229" y="2385"/>
            <a:ext cx="94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7237" name="公式" r:id="rId11" imgW="596880" imgH="177480" progId="Equation.3">
                    <p:embed/>
                  </p:oleObj>
                </mc:Choice>
                <mc:Fallback>
                  <p:oleObj name="公式" r:id="rId11" imgW="596880" imgH="177480" progId="Equation.3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 l="-7939" r="-7939"/>
                        <a:stretch>
                          <a:fillRect/>
                        </a:stretch>
                      </p:blipFill>
                      <p:spPr bwMode="auto">
                        <a:xfrm>
                          <a:off x="2229" y="2385"/>
                          <a:ext cx="940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66817" name="Text Box 97"/>
            <p:cNvSpPr txBox="1">
              <a:spLocks noChangeArrowheads="1"/>
            </p:cNvSpPr>
            <p:nvPr/>
          </p:nvSpPr>
          <p:spPr bwMode="auto">
            <a:xfrm>
              <a:off x="2116" y="2628"/>
              <a:ext cx="1531" cy="8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附加应力</a:t>
              </a:r>
              <a:r>
                <a:rPr kumimoji="1" lang="en-US" altLang="zh-CN" sz="2000" b="1" dirty="0" smtClean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: </a:t>
              </a:r>
              <a:r>
                <a:rPr kumimoji="1" lang="el-GR" altLang="zh-CN" sz="2400" b="1" i="1" dirty="0" smtClean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σ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kumimoji="1" lang="en-US" altLang="zh-CN" sz="2400" b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kumimoji="1" lang="en-US" altLang="zh-CN" sz="2400" b="1" i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超静孔压</a:t>
              </a:r>
              <a:r>
                <a:rPr kumimoji="1" lang="en-US" altLang="zh-CN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:</a:t>
              </a:r>
              <a:r>
                <a:rPr kumimoji="1" lang="en-US" altLang="zh-CN" sz="2000" b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</a:t>
              </a:r>
              <a:r>
                <a:rPr kumimoji="1" lang="en-US" altLang="zh-CN" sz="2400" b="1" i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kumimoji="1" lang="en-US" altLang="zh-CN" sz="2400" b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&lt;</a:t>
              </a:r>
              <a:r>
                <a:rPr kumimoji="1" lang="en-US" altLang="zh-CN" sz="2400" b="1" i="1" dirty="0">
                  <a:solidFill>
                    <a:srgbClr val="000000"/>
                  </a:solidFill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有效应力</a:t>
              </a:r>
              <a:r>
                <a:rPr kumimoji="1" lang="en-US" altLang="zh-CN" sz="2000" b="1" dirty="0" smtClean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: </a:t>
              </a:r>
              <a:r>
                <a:rPr kumimoji="1" lang="el-GR" altLang="zh-CN" sz="2400" b="1" i="1" dirty="0" smtClean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σ</a:t>
              </a:r>
              <a:r>
                <a:rPr kumimoji="1" lang="el-GR" altLang="zh-CN" sz="2400" b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kumimoji="1" lang="en-US" altLang="zh-CN" sz="2400" b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&gt;0</a:t>
              </a:r>
              <a:endParaRPr kumimoji="1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grpSp>
        <p:nvGrpSpPr>
          <p:cNvPr id="1566818" name="Group 98"/>
          <p:cNvGrpSpPr>
            <a:grpSpLocks/>
          </p:cNvGrpSpPr>
          <p:nvPr/>
        </p:nvGrpSpPr>
        <p:grpSpPr bwMode="auto">
          <a:xfrm>
            <a:off x="6194425" y="3482984"/>
            <a:ext cx="2430463" cy="1692278"/>
            <a:chOff x="3902" y="2394"/>
            <a:chExt cx="1531" cy="1066"/>
          </a:xfrm>
        </p:grpSpPr>
        <p:graphicFrame>
          <p:nvGraphicFramePr>
            <p:cNvPr id="1566819" name="Object 9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1594395"/>
                </p:ext>
              </p:extLst>
            </p:nvPr>
          </p:nvGraphicFramePr>
          <p:xfrm>
            <a:off x="4185" y="2394"/>
            <a:ext cx="680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7238" name="公式" r:id="rId13" imgW="431640" imgH="164880" progId="Equation.3">
                    <p:embed/>
                  </p:oleObj>
                </mc:Choice>
                <mc:Fallback>
                  <p:oleObj name="公式" r:id="rId13" imgW="431640" imgH="164880" progId="Equation.3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 l="-7939" r="-7939"/>
                        <a:stretch>
                          <a:fillRect/>
                        </a:stretch>
                      </p:blipFill>
                      <p:spPr bwMode="auto">
                        <a:xfrm>
                          <a:off x="4185" y="2394"/>
                          <a:ext cx="680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66820" name="Text Box 100"/>
            <p:cNvSpPr txBox="1">
              <a:spLocks noChangeArrowheads="1"/>
            </p:cNvSpPr>
            <p:nvPr/>
          </p:nvSpPr>
          <p:spPr bwMode="auto">
            <a:xfrm>
              <a:off x="3902" y="2622"/>
              <a:ext cx="1531" cy="8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附加应力</a:t>
              </a:r>
              <a:r>
                <a:rPr kumimoji="1" lang="en-US" altLang="zh-CN" sz="2000" b="1" dirty="0" smtClean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: </a:t>
              </a:r>
              <a:r>
                <a:rPr kumimoji="1" lang="el-GR" altLang="zh-CN" sz="2400" b="1" i="1" dirty="0" smtClean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σ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kumimoji="1" lang="en-US" altLang="zh-CN" sz="2400" b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kumimoji="1" lang="en-US" altLang="zh-CN" sz="2400" b="1" i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超静孔压</a:t>
              </a:r>
              <a:r>
                <a:rPr kumimoji="1" lang="en-US" altLang="zh-CN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:</a:t>
              </a:r>
              <a:r>
                <a:rPr kumimoji="1" lang="en-US" altLang="zh-CN" sz="2000" b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 </a:t>
              </a:r>
              <a:r>
                <a:rPr kumimoji="1" lang="en-US" altLang="zh-CN" sz="2400" b="1" i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kumimoji="1" lang="en-US" altLang="zh-CN" sz="2400" b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=0</a:t>
              </a:r>
              <a:endParaRPr kumimoji="1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  <a:sym typeface="Symbol" pitchFamily="18" charset="2"/>
              </a:endParaRPr>
            </a:p>
            <a:p>
              <a:pPr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有效应力</a:t>
              </a:r>
              <a:r>
                <a:rPr kumimoji="1" lang="en-US" altLang="zh-CN" sz="2000" b="1" dirty="0" smtClean="0">
                  <a:solidFill>
                    <a:srgbClr val="8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: </a:t>
              </a:r>
              <a:r>
                <a:rPr kumimoji="1" lang="el-GR" altLang="zh-CN" sz="2400" b="1" i="1" dirty="0" smtClean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σ</a:t>
              </a:r>
              <a:r>
                <a:rPr kumimoji="1" lang="el-GR" altLang="zh-CN" sz="2400" b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kumimoji="1" lang="en-US" altLang="zh-CN" sz="2400" b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</a:t>
              </a:r>
              <a:r>
                <a:rPr kumimoji="1" lang="en-US" altLang="zh-CN" sz="2400" b="1" i="1" dirty="0">
                  <a:solidFill>
                    <a:srgbClr val="000000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endParaRPr kumimoji="1" lang="en-US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  <a:sym typeface="Symbol" pitchFamily="18" charset="2"/>
              </a:endParaRPr>
            </a:p>
          </p:txBody>
        </p:sp>
      </p:grpSp>
      <p:sp>
        <p:nvSpPr>
          <p:cNvPr id="1566822" name="Rectangle 102"/>
          <p:cNvSpPr>
            <a:spLocks noChangeArrowheads="1"/>
          </p:cNvSpPr>
          <p:nvPr/>
        </p:nvSpPr>
        <p:spPr bwMode="auto">
          <a:xfrm>
            <a:off x="2135835" y="5746223"/>
            <a:ext cx="63103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en-US" altLang="zh-CN" sz="4000" b="1" dirty="0" err="1">
                <a:solidFill>
                  <a:srgbClr val="000066"/>
                </a:solidFill>
                <a:ea typeface="黑体" pitchFamily="2" charset="-122"/>
              </a:rPr>
              <a:t>Terzaghi</a:t>
            </a:r>
            <a:r>
              <a:rPr kumimoji="1" lang="zh-CN" altLang="en-US" sz="4000" b="1" dirty="0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一维渗流固结模型</a:t>
            </a:r>
          </a:p>
        </p:txBody>
      </p:sp>
      <p:sp>
        <p:nvSpPr>
          <p:cNvPr id="1566823" name="Rectangle 103"/>
          <p:cNvSpPr>
            <a:spLocks noChangeArrowheads="1"/>
          </p:cNvSpPr>
          <p:nvPr/>
        </p:nvSpPr>
        <p:spPr bwMode="auto">
          <a:xfrm>
            <a:off x="4086225" y="1239838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>
                <a:cs typeface="Times New Roman" panose="02020603050405020304" pitchFamily="18" charset="0"/>
              </a:rPr>
              <a:t>p</a:t>
            </a:r>
            <a:endParaRPr kumimoji="1" lang="zh-CN" altLang="en-US" sz="2000" b="1" i="1">
              <a:cs typeface="Times New Roman" panose="02020603050405020304" pitchFamily="18" charset="0"/>
            </a:endParaRPr>
          </a:p>
        </p:txBody>
      </p:sp>
      <p:sp>
        <p:nvSpPr>
          <p:cNvPr id="1566824" name="Rectangle 104"/>
          <p:cNvSpPr>
            <a:spLocks noChangeArrowheads="1"/>
          </p:cNvSpPr>
          <p:nvPr/>
        </p:nvSpPr>
        <p:spPr bwMode="auto">
          <a:xfrm>
            <a:off x="6986588" y="1514475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i="1" dirty="0">
                <a:cs typeface="Times New Roman" panose="02020603050405020304" pitchFamily="18" charset="0"/>
              </a:rPr>
              <a:t>p</a:t>
            </a:r>
            <a:endParaRPr kumimoji="1" lang="zh-CN" altLang="en-US" sz="2000" b="1" i="1" dirty="0">
              <a:cs typeface="Times New Roman" panose="02020603050405020304" pitchFamily="18" charset="0"/>
            </a:endParaRPr>
          </a:p>
        </p:txBody>
      </p:sp>
      <p:sp>
        <p:nvSpPr>
          <p:cNvPr id="10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2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56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00093 L 0.00069 0.05463 " pathEditMode="relative" rAng="0" ptsTypes="AA">
                                      <p:cBhvr>
                                        <p:cTn id="11" dur="3000" fill="hold"/>
                                        <p:tgtEl>
                                          <p:spTgt spid="15667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2778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5667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1566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566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156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1566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566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5667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566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1566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5.55112E-17 L -3.61111E-6 0.03194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5667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156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8" grpId="0" animBg="1"/>
      <p:bldP spid="1566770" grpId="0" animBg="1"/>
      <p:bldP spid="1566772" grpId="0" animBg="1"/>
      <p:bldP spid="1566773" grpId="0" animBg="1"/>
      <p:bldP spid="1566793" grpId="0" animBg="1"/>
      <p:bldP spid="156679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749" name="Rectangle 5"/>
          <p:cNvSpPr>
            <a:spLocks noChangeArrowheads="1"/>
          </p:cNvSpPr>
          <p:nvPr/>
        </p:nvSpPr>
        <p:spPr bwMode="auto">
          <a:xfrm>
            <a:off x="2474913" y="891001"/>
            <a:ext cx="654208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FF6600"/>
                </a:solidFill>
                <a:prstDash val="sysDot"/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AutoNum type="arabicPeriod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土层是均质且完全饱和</a:t>
            </a:r>
          </a:p>
          <a:p>
            <a:pPr marL="457200" indent="-45720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AutoNum type="arabicPeriod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土颗粒与水不可压缩</a:t>
            </a:r>
          </a:p>
          <a:p>
            <a:pPr marL="457200" indent="-45720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AutoNum type="arabicPeriod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水的渗出和土层压缩只沿竖向发生</a:t>
            </a:r>
          </a:p>
          <a:p>
            <a:pPr marL="457200" indent="-45720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AutoNum type="arabicPeriod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渗流符合达西定律且渗透系数保持不变</a:t>
            </a:r>
          </a:p>
          <a:p>
            <a:pPr marL="457200" indent="-45720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AutoNum type="arabicPeriod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压缩系数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是常数</a:t>
            </a:r>
          </a:p>
          <a:p>
            <a:pPr marL="457200" indent="-457200" ea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AutoNum type="arabicPeriod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荷载均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布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瞬时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施加，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总应力不随时间变化</a:t>
            </a:r>
          </a:p>
        </p:txBody>
      </p:sp>
      <p:sp>
        <p:nvSpPr>
          <p:cNvPr id="1567750" name="AutoShape 6"/>
          <p:cNvSpPr>
            <a:spLocks noChangeArrowheads="1"/>
          </p:cNvSpPr>
          <p:nvPr/>
        </p:nvSpPr>
        <p:spPr bwMode="auto">
          <a:xfrm>
            <a:off x="379413" y="1043401"/>
            <a:ext cx="1995487" cy="531813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itchFamily="2" charset="2"/>
              <a:buChar char="u"/>
            </a:pPr>
            <a:r>
              <a:rPr kumimoji="1" lang="zh-CN" altLang="en-US" sz="26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基本假定</a:t>
            </a:r>
          </a:p>
        </p:txBody>
      </p:sp>
      <p:sp>
        <p:nvSpPr>
          <p:cNvPr id="1567751" name="AutoShape 7"/>
          <p:cNvSpPr>
            <a:spLocks noChangeArrowheads="1"/>
          </p:cNvSpPr>
          <p:nvPr/>
        </p:nvSpPr>
        <p:spPr bwMode="auto">
          <a:xfrm>
            <a:off x="409575" y="3856451"/>
            <a:ext cx="2209338" cy="547243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80000"/>
              <a:buFont typeface="Wingdings" pitchFamily="2" charset="2"/>
              <a:buChar char="u"/>
            </a:pPr>
            <a:r>
              <a:rPr kumimoji="1" lang="zh-CN" altLang="en-US" sz="26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基本变量</a:t>
            </a:r>
          </a:p>
        </p:txBody>
      </p:sp>
      <p:sp>
        <p:nvSpPr>
          <p:cNvPr id="1567752" name="Text Box 8"/>
          <p:cNvSpPr txBox="1">
            <a:spLocks noChangeArrowheads="1"/>
          </p:cNvSpPr>
          <p:nvPr/>
        </p:nvSpPr>
        <p:spPr bwMode="auto">
          <a:xfrm>
            <a:off x="2640013" y="4378739"/>
            <a:ext cx="11572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总应力已知</a:t>
            </a:r>
          </a:p>
        </p:txBody>
      </p:sp>
      <p:sp>
        <p:nvSpPr>
          <p:cNvPr id="1567753" name="Text Box 9"/>
          <p:cNvSpPr txBox="1">
            <a:spLocks noChangeArrowheads="1"/>
          </p:cNvSpPr>
          <p:nvPr/>
        </p:nvSpPr>
        <p:spPr bwMode="auto">
          <a:xfrm>
            <a:off x="3938588" y="4242214"/>
            <a:ext cx="2274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有效应力原理</a:t>
            </a:r>
          </a:p>
        </p:txBody>
      </p:sp>
      <p:sp>
        <p:nvSpPr>
          <p:cNvPr id="1567754" name="Line 10"/>
          <p:cNvSpPr>
            <a:spLocks noChangeShapeType="1"/>
          </p:cNvSpPr>
          <p:nvPr/>
        </p:nvSpPr>
        <p:spPr bwMode="auto">
          <a:xfrm>
            <a:off x="3940175" y="4910551"/>
            <a:ext cx="2089150" cy="0"/>
          </a:xfrm>
          <a:prstGeom prst="line">
            <a:avLst/>
          </a:prstGeom>
          <a:noFill/>
          <a:ln w="7620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567755" name="AutoShape 11"/>
          <p:cNvSpPr>
            <a:spLocks noChangeArrowheads="1"/>
          </p:cNvSpPr>
          <p:nvPr/>
        </p:nvSpPr>
        <p:spPr bwMode="auto">
          <a:xfrm>
            <a:off x="6067425" y="4381914"/>
            <a:ext cx="2284413" cy="92075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FF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超静孔隙水压力的时空分布</a:t>
            </a:r>
          </a:p>
        </p:txBody>
      </p:sp>
      <p:sp>
        <p:nvSpPr>
          <p:cNvPr id="1567757" name="Rectangle 13"/>
          <p:cNvSpPr>
            <a:spLocks noChangeArrowheads="1"/>
          </p:cNvSpPr>
          <p:nvPr/>
        </p:nvSpPr>
        <p:spPr bwMode="auto">
          <a:xfrm>
            <a:off x="3409950" y="5795963"/>
            <a:ext cx="31861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数 学 </a:t>
            </a: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模 型</a:t>
            </a:r>
          </a:p>
        </p:txBody>
      </p:sp>
      <p:sp>
        <p:nvSpPr>
          <p:cNvPr id="11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99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7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7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7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67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67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67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67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67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67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67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6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67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6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6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7749" grpId="0" build="p"/>
      <p:bldP spid="1567750" grpId="0"/>
      <p:bldP spid="1567751" grpId="0"/>
      <p:bldP spid="1567752" grpId="0"/>
      <p:bldP spid="1567753" grpId="0"/>
      <p:bldP spid="1567754" grpId="0" animBg="1"/>
      <p:bldP spid="156775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950" name="Group 182"/>
          <p:cNvGrpSpPr>
            <a:grpSpLocks/>
          </p:cNvGrpSpPr>
          <p:nvPr/>
        </p:nvGrpSpPr>
        <p:grpSpPr bwMode="auto">
          <a:xfrm>
            <a:off x="6527800" y="695325"/>
            <a:ext cx="2030413" cy="1662113"/>
            <a:chOff x="4112" y="438"/>
            <a:chExt cx="1279" cy="1047"/>
          </a:xfrm>
        </p:grpSpPr>
        <p:sp>
          <p:nvSpPr>
            <p:cNvPr id="1568850" name="Rectangle 82"/>
            <p:cNvSpPr>
              <a:spLocks noChangeArrowheads="1"/>
            </p:cNvSpPr>
            <p:nvPr/>
          </p:nvSpPr>
          <p:spPr bwMode="auto">
            <a:xfrm>
              <a:off x="4112" y="438"/>
              <a:ext cx="473" cy="1047"/>
            </a:xfrm>
            <a:prstGeom prst="rect">
              <a:avLst/>
            </a:prstGeom>
            <a:solidFill>
              <a:srgbClr val="99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8872" name="Line 104"/>
            <p:cNvSpPr>
              <a:spLocks noChangeShapeType="1"/>
            </p:cNvSpPr>
            <p:nvPr/>
          </p:nvSpPr>
          <p:spPr bwMode="auto">
            <a:xfrm>
              <a:off x="4580" y="452"/>
              <a:ext cx="0" cy="10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879" name="Line 111"/>
            <p:cNvSpPr>
              <a:spLocks noChangeShapeType="1"/>
            </p:cNvSpPr>
            <p:nvPr/>
          </p:nvSpPr>
          <p:spPr bwMode="auto">
            <a:xfrm>
              <a:off x="4580" y="848"/>
              <a:ext cx="0" cy="1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880" name="Line 112"/>
            <p:cNvSpPr>
              <a:spLocks noChangeShapeType="1"/>
            </p:cNvSpPr>
            <p:nvPr/>
          </p:nvSpPr>
          <p:spPr bwMode="auto">
            <a:xfrm>
              <a:off x="4117" y="949"/>
              <a:ext cx="4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881" name="Text Box 113"/>
            <p:cNvSpPr txBox="1">
              <a:spLocks noChangeArrowheads="1"/>
            </p:cNvSpPr>
            <p:nvPr/>
          </p:nvSpPr>
          <p:spPr bwMode="auto">
            <a:xfrm>
              <a:off x="4147" y="923"/>
              <a:ext cx="4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 smtClean="0">
                  <a:solidFill>
                    <a:srgbClr val="000066"/>
                  </a:solidFill>
                  <a:ea typeface="幼圆" pitchFamily="49" charset="-122"/>
                </a:rPr>
                <a:t>u</a:t>
              </a:r>
              <a:r>
                <a:rPr lang="en-US" altLang="zh-CN" sz="1800" b="1" baseline="-25000" dirty="0" smtClean="0">
                  <a:solidFill>
                    <a:srgbClr val="000066"/>
                  </a:solidFill>
                  <a:ea typeface="幼圆" pitchFamily="49" charset="-122"/>
                </a:rPr>
                <a:t>0</a:t>
              </a:r>
              <a:r>
                <a:rPr lang="en-US" altLang="zh-CN" sz="1800" b="1" i="1" baseline="-25000" dirty="0" smtClean="0">
                  <a:solidFill>
                    <a:srgbClr val="000066"/>
                  </a:solidFill>
                  <a:ea typeface="幼圆" pitchFamily="49" charset="-122"/>
                </a:rPr>
                <a:t> </a:t>
              </a:r>
              <a:r>
                <a:rPr lang="en-US" altLang="zh-CN" sz="1800" b="1" dirty="0" smtClean="0">
                  <a:solidFill>
                    <a:srgbClr val="000066"/>
                  </a:solidFill>
                  <a:ea typeface="幼圆" pitchFamily="49" charset="-122"/>
                </a:rPr>
                <a:t>= </a:t>
              </a:r>
              <a:r>
                <a:rPr lang="en-US" altLang="zh-CN" sz="1800" b="1" i="1" dirty="0" smtClean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endParaRPr lang="en-US" altLang="zh-CN" sz="1800" b="1" i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68882" name="Text Box 114"/>
            <p:cNvSpPr txBox="1">
              <a:spLocks noChangeArrowheads="1"/>
            </p:cNvSpPr>
            <p:nvPr/>
          </p:nvSpPr>
          <p:spPr bwMode="auto">
            <a:xfrm>
              <a:off x="4849" y="525"/>
              <a:ext cx="542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solidFill>
                    <a:srgbClr val="A50021"/>
                  </a:solidFill>
                  <a:ea typeface="幼圆" pitchFamily="49" charset="-122"/>
                </a:rPr>
                <a:t>t </a:t>
              </a:r>
              <a:r>
                <a:rPr lang="en-US" altLang="zh-CN" sz="2000" b="1" dirty="0" smtClean="0">
                  <a:solidFill>
                    <a:srgbClr val="A50021"/>
                  </a:solidFill>
                  <a:ea typeface="幼圆" pitchFamily="49" charset="-122"/>
                </a:rPr>
                <a:t>= 0</a:t>
              </a:r>
              <a:endParaRPr lang="en-US" altLang="zh-CN" sz="2000" b="1" dirty="0">
                <a:solidFill>
                  <a:srgbClr val="A50021"/>
                </a:solidFill>
                <a:ea typeface="幼圆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zh-CN" sz="2000" b="1" dirty="0">
                <a:solidFill>
                  <a:srgbClr val="000066"/>
                </a:solidFill>
                <a:ea typeface="幼圆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</a:rPr>
                <a:t>u 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</a:rPr>
                <a:t>= </a:t>
              </a: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</a:rPr>
                <a:t> </a:t>
              </a:r>
              <a:endParaRPr lang="zh-CN" altLang="en-US" sz="2000" b="1" dirty="0">
                <a:solidFill>
                  <a:srgbClr val="000066"/>
                </a:solidFill>
                <a:ea typeface="幼圆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</a:t>
              </a:r>
              <a:r>
                <a:rPr lang="en-US" altLang="zh-CN" sz="20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 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= 0</a:t>
              </a:r>
              <a:endParaRPr lang="zh-CN" altLang="en-US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grpSp>
        <p:nvGrpSpPr>
          <p:cNvPr id="1568948" name="Group 180"/>
          <p:cNvGrpSpPr>
            <a:grpSpLocks/>
          </p:cNvGrpSpPr>
          <p:nvPr/>
        </p:nvGrpSpPr>
        <p:grpSpPr bwMode="auto">
          <a:xfrm>
            <a:off x="6545261" y="4456113"/>
            <a:ext cx="2060574" cy="1668462"/>
            <a:chOff x="4123" y="2807"/>
            <a:chExt cx="1298" cy="1051"/>
          </a:xfrm>
        </p:grpSpPr>
        <p:sp>
          <p:nvSpPr>
            <p:cNvPr id="1568926" name="Freeform 158" descr="浅色横线"/>
            <p:cNvSpPr>
              <a:spLocks/>
            </p:cNvSpPr>
            <p:nvPr/>
          </p:nvSpPr>
          <p:spPr bwMode="auto">
            <a:xfrm>
              <a:off x="4123" y="2807"/>
              <a:ext cx="473" cy="1051"/>
            </a:xfrm>
            <a:custGeom>
              <a:avLst/>
              <a:gdLst>
                <a:gd name="T0" fmla="*/ 5 w 473"/>
                <a:gd name="T1" fmla="*/ 1046 h 1051"/>
                <a:gd name="T2" fmla="*/ 0 w 473"/>
                <a:gd name="T3" fmla="*/ 0 h 1051"/>
                <a:gd name="T4" fmla="*/ 473 w 473"/>
                <a:gd name="T5" fmla="*/ 0 h 1051"/>
                <a:gd name="T6" fmla="*/ 473 w 473"/>
                <a:gd name="T7" fmla="*/ 1051 h 1051"/>
                <a:gd name="T8" fmla="*/ 5 w 473"/>
                <a:gd name="T9" fmla="*/ 1046 h 1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3" h="1051">
                  <a:moveTo>
                    <a:pt x="5" y="1046"/>
                  </a:moveTo>
                  <a:lnTo>
                    <a:pt x="0" y="0"/>
                  </a:lnTo>
                  <a:lnTo>
                    <a:pt x="473" y="0"/>
                  </a:lnTo>
                  <a:lnTo>
                    <a:pt x="473" y="1051"/>
                  </a:lnTo>
                  <a:lnTo>
                    <a:pt x="5" y="1046"/>
                  </a:lnTo>
                  <a:close/>
                </a:path>
              </a:pathLst>
            </a:custGeom>
            <a:pattFill prst="ltHorz">
              <a:fgClr>
                <a:srgbClr val="FF9999"/>
              </a:fgClr>
              <a:bgClr>
                <a:srgbClr val="CCECFF"/>
              </a:bgClr>
            </a:pattFill>
            <a:ln w="19050" cmpd="sng">
              <a:solidFill>
                <a:srgbClr val="0000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938" name="Text Box 170"/>
            <p:cNvSpPr txBox="1">
              <a:spLocks noChangeArrowheads="1"/>
            </p:cNvSpPr>
            <p:nvPr/>
          </p:nvSpPr>
          <p:spPr bwMode="auto">
            <a:xfrm>
              <a:off x="4879" y="2924"/>
              <a:ext cx="542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solidFill>
                    <a:srgbClr val="A50021"/>
                  </a:solidFill>
                  <a:ea typeface="幼圆" pitchFamily="49" charset="-122"/>
                </a:rPr>
                <a:t>t </a:t>
              </a:r>
              <a:r>
                <a:rPr lang="en-US" altLang="zh-CN" sz="2000" b="1" dirty="0" smtClean="0">
                  <a:solidFill>
                    <a:srgbClr val="A50021"/>
                  </a:solidFill>
                  <a:ea typeface="幼圆" pitchFamily="49" charset="-122"/>
                </a:rPr>
                <a:t>= </a:t>
              </a:r>
              <a:r>
                <a:rPr lang="en-US" altLang="zh-CN" sz="2000" b="1" dirty="0" smtClean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</a:t>
              </a:r>
              <a:endParaRPr lang="en-US" altLang="zh-CN" sz="20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zh-CN" sz="2000" b="1" dirty="0">
                <a:solidFill>
                  <a:srgbClr val="000066"/>
                </a:solidFill>
                <a:ea typeface="幼圆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</a:rPr>
                <a:t>u 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</a:rPr>
                <a:t>= 0 </a:t>
              </a:r>
              <a:endParaRPr lang="zh-CN" altLang="en-US" sz="2000" b="1" dirty="0">
                <a:solidFill>
                  <a:srgbClr val="000066"/>
                </a:solidFill>
                <a:ea typeface="幼圆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</a:t>
              </a:r>
              <a:r>
                <a:rPr lang="en-US" altLang="zh-CN" sz="20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 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= </a:t>
              </a: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p</a:t>
              </a:r>
              <a:endParaRPr lang="zh-CN" altLang="en-US" sz="20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grpSp>
        <p:nvGrpSpPr>
          <p:cNvPr id="1568949" name="Group 181"/>
          <p:cNvGrpSpPr>
            <a:grpSpLocks/>
          </p:cNvGrpSpPr>
          <p:nvPr/>
        </p:nvGrpSpPr>
        <p:grpSpPr bwMode="auto">
          <a:xfrm>
            <a:off x="6530975" y="2551113"/>
            <a:ext cx="2189163" cy="1690687"/>
            <a:chOff x="4114" y="1607"/>
            <a:chExt cx="1379" cy="1065"/>
          </a:xfrm>
        </p:grpSpPr>
        <p:sp>
          <p:nvSpPr>
            <p:cNvPr id="1568887" name="Rectangle 119"/>
            <p:cNvSpPr>
              <a:spLocks noChangeArrowheads="1"/>
            </p:cNvSpPr>
            <p:nvPr/>
          </p:nvSpPr>
          <p:spPr bwMode="auto">
            <a:xfrm>
              <a:off x="4119" y="1616"/>
              <a:ext cx="473" cy="105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8888" name="Freeform 120" descr="浅色横线"/>
            <p:cNvSpPr>
              <a:spLocks/>
            </p:cNvSpPr>
            <p:nvPr/>
          </p:nvSpPr>
          <p:spPr bwMode="auto">
            <a:xfrm>
              <a:off x="4119" y="1607"/>
              <a:ext cx="473" cy="1054"/>
            </a:xfrm>
            <a:custGeom>
              <a:avLst/>
              <a:gdLst>
                <a:gd name="T0" fmla="*/ 0 w 471"/>
                <a:gd name="T1" fmla="*/ 0 h 1027"/>
                <a:gd name="T2" fmla="*/ 471 w 471"/>
                <a:gd name="T3" fmla="*/ 0 h 1027"/>
                <a:gd name="T4" fmla="*/ 389 w 471"/>
                <a:gd name="T5" fmla="*/ 106 h 1027"/>
                <a:gd name="T6" fmla="*/ 303 w 471"/>
                <a:gd name="T7" fmla="*/ 274 h 1027"/>
                <a:gd name="T8" fmla="*/ 221 w 471"/>
                <a:gd name="T9" fmla="*/ 475 h 1027"/>
                <a:gd name="T10" fmla="*/ 159 w 471"/>
                <a:gd name="T11" fmla="*/ 725 h 1027"/>
                <a:gd name="T12" fmla="*/ 120 w 471"/>
                <a:gd name="T13" fmla="*/ 893 h 1027"/>
                <a:gd name="T14" fmla="*/ 106 w 471"/>
                <a:gd name="T15" fmla="*/ 1027 h 1027"/>
                <a:gd name="T16" fmla="*/ 5 w 471"/>
                <a:gd name="T17" fmla="*/ 1027 h 1027"/>
                <a:gd name="T18" fmla="*/ 0 w 471"/>
                <a:gd name="T19" fmla="*/ 0 h 1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1" h="1027">
                  <a:moveTo>
                    <a:pt x="0" y="0"/>
                  </a:moveTo>
                  <a:lnTo>
                    <a:pt x="471" y="0"/>
                  </a:lnTo>
                  <a:lnTo>
                    <a:pt x="389" y="106"/>
                  </a:lnTo>
                  <a:lnTo>
                    <a:pt x="303" y="274"/>
                  </a:lnTo>
                  <a:lnTo>
                    <a:pt x="221" y="475"/>
                  </a:lnTo>
                  <a:lnTo>
                    <a:pt x="159" y="725"/>
                  </a:lnTo>
                  <a:lnTo>
                    <a:pt x="120" y="893"/>
                  </a:lnTo>
                  <a:lnTo>
                    <a:pt x="106" y="1027"/>
                  </a:lnTo>
                  <a:lnTo>
                    <a:pt x="5" y="1027"/>
                  </a:lnTo>
                  <a:lnTo>
                    <a:pt x="0" y="0"/>
                  </a:lnTo>
                  <a:close/>
                </a:path>
              </a:pathLst>
            </a:custGeom>
            <a:pattFill prst="ltHorz">
              <a:fgClr>
                <a:srgbClr val="FF9999"/>
              </a:fgClr>
              <a:bgClr>
                <a:srgbClr val="CCEC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910" name="Freeform 142"/>
            <p:cNvSpPr>
              <a:spLocks/>
            </p:cNvSpPr>
            <p:nvPr/>
          </p:nvSpPr>
          <p:spPr bwMode="auto">
            <a:xfrm>
              <a:off x="4216" y="1611"/>
              <a:ext cx="366" cy="1061"/>
            </a:xfrm>
            <a:custGeom>
              <a:avLst/>
              <a:gdLst>
                <a:gd name="T0" fmla="*/ 365 w 365"/>
                <a:gd name="T1" fmla="*/ 0 h 1032"/>
                <a:gd name="T2" fmla="*/ 264 w 365"/>
                <a:gd name="T3" fmla="*/ 139 h 1032"/>
                <a:gd name="T4" fmla="*/ 134 w 365"/>
                <a:gd name="T5" fmla="*/ 427 h 1032"/>
                <a:gd name="T6" fmla="*/ 38 w 365"/>
                <a:gd name="T7" fmla="*/ 782 h 1032"/>
                <a:gd name="T8" fmla="*/ 0 w 365"/>
                <a:gd name="T9" fmla="*/ 1032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" h="1032">
                  <a:moveTo>
                    <a:pt x="365" y="0"/>
                  </a:moveTo>
                  <a:cubicBezTo>
                    <a:pt x="348" y="23"/>
                    <a:pt x="303" y="68"/>
                    <a:pt x="264" y="139"/>
                  </a:cubicBezTo>
                  <a:cubicBezTo>
                    <a:pt x="225" y="210"/>
                    <a:pt x="172" y="320"/>
                    <a:pt x="134" y="427"/>
                  </a:cubicBezTo>
                  <a:cubicBezTo>
                    <a:pt x="96" y="534"/>
                    <a:pt x="60" y="681"/>
                    <a:pt x="38" y="782"/>
                  </a:cubicBezTo>
                  <a:cubicBezTo>
                    <a:pt x="16" y="883"/>
                    <a:pt x="9" y="953"/>
                    <a:pt x="0" y="1032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932" name="Rectangle 164"/>
            <p:cNvSpPr>
              <a:spLocks noChangeArrowheads="1"/>
            </p:cNvSpPr>
            <p:nvPr/>
          </p:nvSpPr>
          <p:spPr bwMode="auto">
            <a:xfrm>
              <a:off x="4117" y="1614"/>
              <a:ext cx="473" cy="1056"/>
            </a:xfrm>
            <a:prstGeom prst="rect">
              <a:avLst/>
            </a:prstGeom>
            <a:noFill/>
            <a:ln w="12700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68933" name="Group 165"/>
            <p:cNvGrpSpPr>
              <a:grpSpLocks/>
            </p:cNvGrpSpPr>
            <p:nvPr/>
          </p:nvGrpSpPr>
          <p:grpSpPr bwMode="auto">
            <a:xfrm>
              <a:off x="4114" y="1686"/>
              <a:ext cx="475" cy="459"/>
              <a:chOff x="1404" y="1255"/>
              <a:chExt cx="461" cy="459"/>
            </a:xfrm>
          </p:grpSpPr>
          <p:sp>
            <p:nvSpPr>
              <p:cNvPr id="1568934" name="Text Box 166"/>
              <p:cNvSpPr txBox="1">
                <a:spLocks noChangeArrowheads="1"/>
              </p:cNvSpPr>
              <p:nvPr/>
            </p:nvSpPr>
            <p:spPr bwMode="auto">
              <a:xfrm>
                <a:off x="1414" y="1255"/>
                <a:ext cx="27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</a:t>
                </a:r>
                <a:r>
                  <a:rPr lang="zh-CN" altLang="en-US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</a:t>
                </a:r>
                <a:r>
                  <a:rPr lang="en-US" altLang="zh-CN" sz="1800" b="1" baseline="-25000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z</a:t>
                </a:r>
                <a:endParaRPr lang="en-US" altLang="zh-CN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568935" name="Text Box 167"/>
              <p:cNvSpPr txBox="1">
                <a:spLocks noChangeArrowheads="1"/>
              </p:cNvSpPr>
              <p:nvPr/>
            </p:nvSpPr>
            <p:spPr bwMode="auto">
              <a:xfrm>
                <a:off x="1668" y="1483"/>
                <a:ext cx="19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800" b="1" i="1" dirty="0">
                    <a:solidFill>
                      <a:srgbClr val="000066"/>
                    </a:solidFill>
                    <a:ea typeface="幼圆" pitchFamily="49" charset="-122"/>
                  </a:rPr>
                  <a:t>u</a:t>
                </a:r>
              </a:p>
            </p:txBody>
          </p:sp>
          <p:sp>
            <p:nvSpPr>
              <p:cNvPr id="1568936" name="Line 168"/>
              <p:cNvSpPr>
                <a:spLocks noChangeShapeType="1"/>
              </p:cNvSpPr>
              <p:nvPr/>
            </p:nvSpPr>
            <p:spPr bwMode="auto">
              <a:xfrm>
                <a:off x="1404" y="1513"/>
                <a:ext cx="2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8937" name="Line 169"/>
              <p:cNvSpPr>
                <a:spLocks noChangeShapeType="1"/>
              </p:cNvSpPr>
              <p:nvPr/>
            </p:nvSpPr>
            <p:spPr bwMode="auto">
              <a:xfrm>
                <a:off x="1673" y="1513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68943" name="Text Box 175"/>
            <p:cNvSpPr txBox="1">
              <a:spLocks noChangeArrowheads="1"/>
            </p:cNvSpPr>
            <p:nvPr/>
          </p:nvSpPr>
          <p:spPr bwMode="auto">
            <a:xfrm>
              <a:off x="4872" y="1713"/>
              <a:ext cx="621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srgbClr val="A50021"/>
                  </a:solidFill>
                  <a:ea typeface="幼圆" pitchFamily="49" charset="-122"/>
                </a:rPr>
                <a:t>0</a:t>
              </a:r>
              <a:r>
                <a:rPr lang="en-US" altLang="zh-CN" sz="2000" b="1" dirty="0" smtClean="0">
                  <a:solidFill>
                    <a:srgbClr val="A50021"/>
                  </a:solidFill>
                  <a:ea typeface="幼圆" pitchFamily="49" charset="-122"/>
                </a:rPr>
                <a:t>&lt; </a:t>
              </a:r>
              <a:r>
                <a:rPr lang="en-US" altLang="zh-CN" sz="2000" b="1" i="1" dirty="0" smtClean="0">
                  <a:solidFill>
                    <a:srgbClr val="A50021"/>
                  </a:solidFill>
                  <a:ea typeface="幼圆" pitchFamily="49" charset="-122"/>
                </a:rPr>
                <a:t>t </a:t>
              </a:r>
              <a:r>
                <a:rPr lang="en-US" altLang="zh-CN" sz="2000" b="1" dirty="0" smtClean="0">
                  <a:solidFill>
                    <a:srgbClr val="A50021"/>
                  </a:solidFill>
                  <a:ea typeface="幼圆" pitchFamily="49" charset="-122"/>
                </a:rPr>
                <a:t>&lt;</a:t>
              </a:r>
              <a:r>
                <a:rPr lang="en-US" altLang="zh-CN" sz="2000" b="1" dirty="0">
                  <a:solidFill>
                    <a:srgbClr val="A50021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zh-CN" sz="2000" b="1" dirty="0">
                <a:solidFill>
                  <a:srgbClr val="000066"/>
                </a:solidFill>
                <a:ea typeface="幼圆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</a:rPr>
                <a:t>u 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</a:rPr>
                <a:t>&lt; </a:t>
              </a:r>
              <a:r>
                <a:rPr lang="en-US" altLang="zh-CN" sz="2000" b="1" i="1" dirty="0" smtClean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</a:rPr>
                <a:t> </a:t>
              </a:r>
              <a:endParaRPr lang="zh-CN" altLang="en-US" sz="2000" b="1" dirty="0">
                <a:solidFill>
                  <a:srgbClr val="000066"/>
                </a:solidFill>
                <a:ea typeface="幼圆" pitchFamily="49" charset="-122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0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</a:t>
              </a:r>
              <a:r>
                <a:rPr lang="en-US" altLang="zh-CN" sz="20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 </a:t>
              </a:r>
              <a:r>
                <a:rPr lang="en-US" altLang="zh-CN" sz="2000" b="1" dirty="0" smtClean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&gt; 0</a:t>
              </a:r>
              <a:endParaRPr lang="zh-CN" altLang="en-US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grpSp>
        <p:nvGrpSpPr>
          <p:cNvPr id="1568947" name="Group 179"/>
          <p:cNvGrpSpPr>
            <a:grpSpLocks/>
          </p:cNvGrpSpPr>
          <p:nvPr/>
        </p:nvGrpSpPr>
        <p:grpSpPr bwMode="auto">
          <a:xfrm>
            <a:off x="830263" y="942975"/>
            <a:ext cx="4294187" cy="2908300"/>
            <a:chOff x="341" y="700"/>
            <a:chExt cx="2705" cy="1832"/>
          </a:xfrm>
        </p:grpSpPr>
        <p:sp>
          <p:nvSpPr>
            <p:cNvPr id="1568773" name="Rectangle 5"/>
            <p:cNvSpPr>
              <a:spLocks noChangeArrowheads="1"/>
            </p:cNvSpPr>
            <p:nvPr/>
          </p:nvSpPr>
          <p:spPr bwMode="auto">
            <a:xfrm>
              <a:off x="397" y="1162"/>
              <a:ext cx="2548" cy="1037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8944" name="Rectangle 176" descr="浅色横线"/>
            <p:cNvSpPr>
              <a:spLocks noChangeArrowheads="1"/>
            </p:cNvSpPr>
            <p:nvPr/>
          </p:nvSpPr>
          <p:spPr bwMode="auto">
            <a:xfrm>
              <a:off x="1014" y="1169"/>
              <a:ext cx="473" cy="1047"/>
            </a:xfrm>
            <a:prstGeom prst="rect">
              <a:avLst/>
            </a:prstGeom>
            <a:pattFill prst="ltHorz">
              <a:fgClr>
                <a:srgbClr val="000066"/>
              </a:fgClr>
              <a:bgClr>
                <a:srgbClr val="FFFFCC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68776" name="Group 8"/>
            <p:cNvGrpSpPr>
              <a:grpSpLocks/>
            </p:cNvGrpSpPr>
            <p:nvPr/>
          </p:nvGrpSpPr>
          <p:grpSpPr bwMode="auto">
            <a:xfrm>
              <a:off x="789" y="963"/>
              <a:ext cx="1371" cy="203"/>
              <a:chOff x="3544" y="1083"/>
              <a:chExt cx="1067" cy="165"/>
            </a:xfrm>
          </p:grpSpPr>
          <p:sp>
            <p:nvSpPr>
              <p:cNvPr id="1568777" name="Line 9"/>
              <p:cNvSpPr>
                <a:spLocks noChangeShapeType="1"/>
              </p:cNvSpPr>
              <p:nvPr/>
            </p:nvSpPr>
            <p:spPr bwMode="auto">
              <a:xfrm>
                <a:off x="3544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8778" name="Line 10"/>
              <p:cNvSpPr>
                <a:spLocks noChangeShapeType="1"/>
              </p:cNvSpPr>
              <p:nvPr/>
            </p:nvSpPr>
            <p:spPr bwMode="auto">
              <a:xfrm>
                <a:off x="3663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8779" name="Line 11"/>
              <p:cNvSpPr>
                <a:spLocks noChangeShapeType="1"/>
              </p:cNvSpPr>
              <p:nvPr/>
            </p:nvSpPr>
            <p:spPr bwMode="auto">
              <a:xfrm>
                <a:off x="3782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8780" name="Line 12"/>
              <p:cNvSpPr>
                <a:spLocks noChangeShapeType="1"/>
              </p:cNvSpPr>
              <p:nvPr/>
            </p:nvSpPr>
            <p:spPr bwMode="auto">
              <a:xfrm>
                <a:off x="3900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8781" name="Line 13"/>
              <p:cNvSpPr>
                <a:spLocks noChangeShapeType="1"/>
              </p:cNvSpPr>
              <p:nvPr/>
            </p:nvSpPr>
            <p:spPr bwMode="auto">
              <a:xfrm>
                <a:off x="4019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8782" name="Line 14"/>
              <p:cNvSpPr>
                <a:spLocks noChangeShapeType="1"/>
              </p:cNvSpPr>
              <p:nvPr/>
            </p:nvSpPr>
            <p:spPr bwMode="auto">
              <a:xfrm>
                <a:off x="4136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8783" name="Line 15"/>
              <p:cNvSpPr>
                <a:spLocks noChangeShapeType="1"/>
              </p:cNvSpPr>
              <p:nvPr/>
            </p:nvSpPr>
            <p:spPr bwMode="auto">
              <a:xfrm>
                <a:off x="4255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8784" name="Line 16"/>
              <p:cNvSpPr>
                <a:spLocks noChangeShapeType="1"/>
              </p:cNvSpPr>
              <p:nvPr/>
            </p:nvSpPr>
            <p:spPr bwMode="auto">
              <a:xfrm>
                <a:off x="4374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8785" name="Line 17"/>
              <p:cNvSpPr>
                <a:spLocks noChangeShapeType="1"/>
              </p:cNvSpPr>
              <p:nvPr/>
            </p:nvSpPr>
            <p:spPr bwMode="auto">
              <a:xfrm>
                <a:off x="4492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8786" name="Line 18"/>
              <p:cNvSpPr>
                <a:spLocks noChangeShapeType="1"/>
              </p:cNvSpPr>
              <p:nvPr/>
            </p:nvSpPr>
            <p:spPr bwMode="auto">
              <a:xfrm>
                <a:off x="4611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68787" name="Rectangle 19"/>
            <p:cNvSpPr>
              <a:spLocks noChangeArrowheads="1"/>
            </p:cNvSpPr>
            <p:nvPr/>
          </p:nvSpPr>
          <p:spPr bwMode="auto">
            <a:xfrm>
              <a:off x="1385" y="700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endParaRPr kumimoji="1" lang="zh-CN" altLang="en-US" sz="20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68788" name="Line 20"/>
            <p:cNvSpPr>
              <a:spLocks noChangeShapeType="1"/>
            </p:cNvSpPr>
            <p:nvPr/>
          </p:nvSpPr>
          <p:spPr bwMode="auto">
            <a:xfrm>
              <a:off x="393" y="1166"/>
              <a:ext cx="2549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789" name="Text Box 21"/>
            <p:cNvSpPr txBox="1">
              <a:spLocks noChangeArrowheads="1"/>
            </p:cNvSpPr>
            <p:nvPr/>
          </p:nvSpPr>
          <p:spPr bwMode="auto">
            <a:xfrm>
              <a:off x="341" y="714"/>
              <a:ext cx="2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568790" name="Line 22"/>
            <p:cNvSpPr>
              <a:spLocks noChangeShapeType="1"/>
            </p:cNvSpPr>
            <p:nvPr/>
          </p:nvSpPr>
          <p:spPr bwMode="auto">
            <a:xfrm flipH="1">
              <a:off x="387" y="1045"/>
              <a:ext cx="2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791" name="Text Box 23"/>
            <p:cNvSpPr txBox="1">
              <a:spLocks noChangeArrowheads="1"/>
            </p:cNvSpPr>
            <p:nvPr/>
          </p:nvSpPr>
          <p:spPr bwMode="auto">
            <a:xfrm flipH="1">
              <a:off x="2256" y="736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568792" name="Line 24"/>
            <p:cNvSpPr>
              <a:spLocks noChangeShapeType="1"/>
            </p:cNvSpPr>
            <p:nvPr/>
          </p:nvSpPr>
          <p:spPr bwMode="auto">
            <a:xfrm>
              <a:off x="2249" y="1051"/>
              <a:ext cx="2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793" name="Rectangle 25" descr="深色上对角线"/>
            <p:cNvSpPr>
              <a:spLocks noChangeArrowheads="1"/>
            </p:cNvSpPr>
            <p:nvPr/>
          </p:nvSpPr>
          <p:spPr bwMode="auto">
            <a:xfrm>
              <a:off x="397" y="2196"/>
              <a:ext cx="2549" cy="68"/>
            </a:xfrm>
            <a:prstGeom prst="rect">
              <a:avLst/>
            </a:prstGeom>
            <a:pattFill prst="dkUpDiag">
              <a:fgClr>
                <a:srgbClr val="666633"/>
              </a:fgClr>
              <a:bgClr>
                <a:schemeClr val="hlink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8794" name="Text Box 26"/>
            <p:cNvSpPr txBox="1">
              <a:spLocks noChangeArrowheads="1"/>
            </p:cNvSpPr>
            <p:nvPr/>
          </p:nvSpPr>
          <p:spPr bwMode="auto">
            <a:xfrm>
              <a:off x="1607" y="2302"/>
              <a:ext cx="95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不透水岩层</a:t>
              </a:r>
            </a:p>
          </p:txBody>
        </p:sp>
        <p:sp>
          <p:nvSpPr>
            <p:cNvPr id="1568795" name="Text Box 27"/>
            <p:cNvSpPr txBox="1">
              <a:spLocks noChangeArrowheads="1"/>
            </p:cNvSpPr>
            <p:nvPr/>
          </p:nvSpPr>
          <p:spPr bwMode="auto">
            <a:xfrm>
              <a:off x="1049" y="2244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z</a:t>
              </a:r>
            </a:p>
          </p:txBody>
        </p:sp>
        <p:sp>
          <p:nvSpPr>
            <p:cNvPr id="1568798" name="Text Box 30"/>
            <p:cNvSpPr txBox="1">
              <a:spLocks noChangeArrowheads="1"/>
            </p:cNvSpPr>
            <p:nvPr/>
          </p:nvSpPr>
          <p:spPr bwMode="auto">
            <a:xfrm>
              <a:off x="2447" y="752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ea typeface="幼圆" pitchFamily="49" charset="-122"/>
                </a:rPr>
                <a:t>排水面</a:t>
              </a:r>
              <a:endParaRPr lang="en-US" altLang="zh-CN" sz="20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68799" name="Line 31"/>
            <p:cNvSpPr>
              <a:spLocks noChangeShapeType="1"/>
            </p:cNvSpPr>
            <p:nvPr/>
          </p:nvSpPr>
          <p:spPr bwMode="auto">
            <a:xfrm flipV="1">
              <a:off x="2636" y="1003"/>
              <a:ext cx="93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800" name="Line 32"/>
            <p:cNvSpPr>
              <a:spLocks noChangeShapeType="1"/>
            </p:cNvSpPr>
            <p:nvPr/>
          </p:nvSpPr>
          <p:spPr bwMode="auto">
            <a:xfrm>
              <a:off x="623" y="1167"/>
              <a:ext cx="0" cy="10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801" name="Text Box 33"/>
            <p:cNvSpPr txBox="1">
              <a:spLocks noChangeArrowheads="1"/>
            </p:cNvSpPr>
            <p:nvPr/>
          </p:nvSpPr>
          <p:spPr bwMode="auto">
            <a:xfrm>
              <a:off x="488" y="1546"/>
              <a:ext cx="240" cy="250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>
                  <a:solidFill>
                    <a:srgbClr val="000066"/>
                  </a:solidFill>
                  <a:ea typeface="幼圆" pitchFamily="49" charset="-122"/>
                </a:rPr>
                <a:t>H</a:t>
              </a:r>
            </a:p>
          </p:txBody>
        </p:sp>
        <p:sp>
          <p:nvSpPr>
            <p:cNvPr id="1568802" name="Line 34"/>
            <p:cNvSpPr>
              <a:spLocks noChangeShapeType="1"/>
            </p:cNvSpPr>
            <p:nvPr/>
          </p:nvSpPr>
          <p:spPr bwMode="auto">
            <a:xfrm>
              <a:off x="1008" y="1167"/>
              <a:ext cx="0" cy="12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806" name="Text Box 38"/>
            <p:cNvSpPr txBox="1">
              <a:spLocks noChangeArrowheads="1"/>
            </p:cNvSpPr>
            <p:nvPr/>
          </p:nvSpPr>
          <p:spPr bwMode="auto">
            <a:xfrm>
              <a:off x="1838" y="1316"/>
              <a:ext cx="1102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u</a:t>
              </a: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：超静孔压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18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 </a:t>
              </a:r>
              <a:r>
                <a:rPr lang="zh-CN" altLang="en-US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：有效应力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zh-CN" altLang="en-US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：总附加应力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 </a:t>
              </a:r>
              <a:r>
                <a:rPr lang="en-US" altLang="zh-CN" sz="18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+</a:t>
              </a:r>
              <a:r>
                <a:rPr lang="en-US" altLang="zh-CN" sz="1800" b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18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r>
                <a:rPr lang="en-US" altLang="zh-CN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en-US" altLang="zh-CN" sz="18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 </a:t>
              </a:r>
              <a:r>
                <a:rPr lang="en-US" altLang="zh-CN" sz="18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endParaRPr lang="en-US" altLang="zh-CN" sz="1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68945" name="Text Box 177"/>
            <p:cNvSpPr txBox="1">
              <a:spLocks noChangeArrowheads="1"/>
            </p:cNvSpPr>
            <p:nvPr/>
          </p:nvSpPr>
          <p:spPr bwMode="auto">
            <a:xfrm>
              <a:off x="1489" y="1405"/>
              <a:ext cx="211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i="1">
                  <a:solidFill>
                    <a:srgbClr val="000066"/>
                  </a:solidFill>
                </a:rPr>
                <a:t>p</a:t>
              </a:r>
            </a:p>
          </p:txBody>
        </p:sp>
      </p:grpSp>
      <p:sp>
        <p:nvSpPr>
          <p:cNvPr id="1568946" name="AutoShape 178"/>
          <p:cNvSpPr>
            <a:spLocks noChangeArrowheads="1"/>
          </p:cNvSpPr>
          <p:nvPr/>
        </p:nvSpPr>
        <p:spPr bwMode="auto">
          <a:xfrm>
            <a:off x="393700" y="4016375"/>
            <a:ext cx="5734050" cy="1325563"/>
          </a:xfrm>
          <a:prstGeom prst="roundRect">
            <a:avLst>
              <a:gd name="adj" fmla="val 16667"/>
            </a:avLst>
          </a:prstGeom>
          <a:solidFill>
            <a:srgbClr val="660066"/>
          </a:solidFill>
          <a:ln w="19050" algn="ctr">
            <a:solidFill>
              <a:srgbClr val="FFFFCC"/>
            </a:solidFill>
            <a:round/>
            <a:headEnd/>
            <a:tailEnd/>
          </a:ln>
          <a:effectLst/>
          <a:extLst/>
        </p:spPr>
        <p:txBody>
          <a:bodyPr>
            <a:spAutoFit/>
          </a:bodyPr>
          <a:lstStyle/>
          <a:p>
            <a:pPr marL="441325" indent="-44132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95000"/>
                </a:schemeClr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土层超静孔压</a:t>
            </a:r>
            <a:r>
              <a:rPr kumimoji="1" lang="zh-CN" altLang="en-US" sz="2400" b="1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是 </a:t>
            </a:r>
            <a:r>
              <a:rPr kumimoji="1" lang="en-US" altLang="zh-CN" sz="2400" b="1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 </a:t>
            </a:r>
            <a:r>
              <a:rPr kumimoji="1" lang="zh-CN" altLang="en-US" sz="2400" b="1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和 </a:t>
            </a:r>
            <a:r>
              <a:rPr kumimoji="1" lang="en-US" altLang="zh-CN" sz="2400" b="1" i="1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 </a:t>
            </a:r>
            <a:r>
              <a:rPr kumimoji="1" lang="zh-CN" altLang="en-US" sz="2400" b="1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函数，渗流固结的过程取决于土层可压缩性（总排水量）和渗透性（渗透速度）</a:t>
            </a:r>
          </a:p>
        </p:txBody>
      </p:sp>
      <p:sp>
        <p:nvSpPr>
          <p:cNvPr id="1568952" name="Rectangle 184"/>
          <p:cNvSpPr>
            <a:spLocks noChangeArrowheads="1"/>
          </p:cNvSpPr>
          <p:nvPr/>
        </p:nvSpPr>
        <p:spPr bwMode="auto">
          <a:xfrm>
            <a:off x="3273425" y="5842000"/>
            <a:ext cx="31861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数 学 </a:t>
            </a: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模 型</a:t>
            </a:r>
          </a:p>
        </p:txBody>
      </p:sp>
      <p:sp>
        <p:nvSpPr>
          <p:cNvPr id="5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7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6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1000"/>
                                        <p:tgtEl>
                                          <p:spTgt spid="156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156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1000"/>
                                        <p:tgtEl>
                                          <p:spTgt spid="156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15689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15689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1568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1568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68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68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8946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7443" name="Group 3"/>
          <p:cNvGrpSpPr>
            <a:grpSpLocks/>
          </p:cNvGrpSpPr>
          <p:nvPr/>
        </p:nvGrpSpPr>
        <p:grpSpPr bwMode="auto">
          <a:xfrm>
            <a:off x="438150" y="873125"/>
            <a:ext cx="4716867" cy="3065463"/>
            <a:chOff x="306" y="710"/>
            <a:chExt cx="2962" cy="1931"/>
          </a:xfrm>
        </p:grpSpPr>
        <p:sp>
          <p:nvSpPr>
            <p:cNvPr id="1597444" name="Rectangle 4"/>
            <p:cNvSpPr>
              <a:spLocks noChangeArrowheads="1"/>
            </p:cNvSpPr>
            <p:nvPr/>
          </p:nvSpPr>
          <p:spPr bwMode="auto">
            <a:xfrm>
              <a:off x="525" y="1172"/>
              <a:ext cx="2540" cy="1037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7445" name="Rectangle 5"/>
            <p:cNvSpPr>
              <a:spLocks noChangeArrowheads="1"/>
            </p:cNvSpPr>
            <p:nvPr/>
          </p:nvSpPr>
          <p:spPr bwMode="auto">
            <a:xfrm>
              <a:off x="1399" y="1179"/>
              <a:ext cx="471" cy="103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7446" name="Freeform 6" descr="浅色横线"/>
            <p:cNvSpPr>
              <a:spLocks/>
            </p:cNvSpPr>
            <p:nvPr/>
          </p:nvSpPr>
          <p:spPr bwMode="auto">
            <a:xfrm>
              <a:off x="1399" y="1172"/>
              <a:ext cx="471" cy="1027"/>
            </a:xfrm>
            <a:custGeom>
              <a:avLst/>
              <a:gdLst>
                <a:gd name="T0" fmla="*/ 0 w 471"/>
                <a:gd name="T1" fmla="*/ 0 h 1027"/>
                <a:gd name="T2" fmla="*/ 471 w 471"/>
                <a:gd name="T3" fmla="*/ 0 h 1027"/>
                <a:gd name="T4" fmla="*/ 389 w 471"/>
                <a:gd name="T5" fmla="*/ 106 h 1027"/>
                <a:gd name="T6" fmla="*/ 303 w 471"/>
                <a:gd name="T7" fmla="*/ 274 h 1027"/>
                <a:gd name="T8" fmla="*/ 221 w 471"/>
                <a:gd name="T9" fmla="*/ 475 h 1027"/>
                <a:gd name="T10" fmla="*/ 159 w 471"/>
                <a:gd name="T11" fmla="*/ 725 h 1027"/>
                <a:gd name="T12" fmla="*/ 120 w 471"/>
                <a:gd name="T13" fmla="*/ 893 h 1027"/>
                <a:gd name="T14" fmla="*/ 106 w 471"/>
                <a:gd name="T15" fmla="*/ 1027 h 1027"/>
                <a:gd name="T16" fmla="*/ 5 w 471"/>
                <a:gd name="T17" fmla="*/ 1027 h 1027"/>
                <a:gd name="T18" fmla="*/ 0 w 471"/>
                <a:gd name="T19" fmla="*/ 0 h 1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1" h="1027">
                  <a:moveTo>
                    <a:pt x="0" y="0"/>
                  </a:moveTo>
                  <a:lnTo>
                    <a:pt x="471" y="0"/>
                  </a:lnTo>
                  <a:lnTo>
                    <a:pt x="389" y="106"/>
                  </a:lnTo>
                  <a:lnTo>
                    <a:pt x="303" y="274"/>
                  </a:lnTo>
                  <a:lnTo>
                    <a:pt x="221" y="475"/>
                  </a:lnTo>
                  <a:lnTo>
                    <a:pt x="159" y="725"/>
                  </a:lnTo>
                  <a:lnTo>
                    <a:pt x="120" y="893"/>
                  </a:lnTo>
                  <a:lnTo>
                    <a:pt x="106" y="1027"/>
                  </a:lnTo>
                  <a:lnTo>
                    <a:pt x="5" y="1027"/>
                  </a:lnTo>
                  <a:lnTo>
                    <a:pt x="0" y="0"/>
                  </a:lnTo>
                  <a:close/>
                </a:path>
              </a:pathLst>
            </a:custGeom>
            <a:pattFill prst="ltHorz">
              <a:fgClr>
                <a:srgbClr val="FF9999"/>
              </a:fgClr>
              <a:bgClr>
                <a:srgbClr val="CCEC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97447" name="Group 7"/>
            <p:cNvGrpSpPr>
              <a:grpSpLocks/>
            </p:cNvGrpSpPr>
            <p:nvPr/>
          </p:nvGrpSpPr>
          <p:grpSpPr bwMode="auto">
            <a:xfrm>
              <a:off x="916" y="973"/>
              <a:ext cx="1367" cy="203"/>
              <a:chOff x="3544" y="1083"/>
              <a:chExt cx="1067" cy="165"/>
            </a:xfrm>
          </p:grpSpPr>
          <p:sp>
            <p:nvSpPr>
              <p:cNvPr id="1597448" name="Line 8"/>
              <p:cNvSpPr>
                <a:spLocks noChangeShapeType="1"/>
              </p:cNvSpPr>
              <p:nvPr/>
            </p:nvSpPr>
            <p:spPr bwMode="auto">
              <a:xfrm>
                <a:off x="3544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97449" name="Line 9"/>
              <p:cNvSpPr>
                <a:spLocks noChangeShapeType="1"/>
              </p:cNvSpPr>
              <p:nvPr/>
            </p:nvSpPr>
            <p:spPr bwMode="auto">
              <a:xfrm>
                <a:off x="3663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97450" name="Line 10"/>
              <p:cNvSpPr>
                <a:spLocks noChangeShapeType="1"/>
              </p:cNvSpPr>
              <p:nvPr/>
            </p:nvSpPr>
            <p:spPr bwMode="auto">
              <a:xfrm>
                <a:off x="3782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97451" name="Line 11"/>
              <p:cNvSpPr>
                <a:spLocks noChangeShapeType="1"/>
              </p:cNvSpPr>
              <p:nvPr/>
            </p:nvSpPr>
            <p:spPr bwMode="auto">
              <a:xfrm>
                <a:off x="3900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97452" name="Line 12"/>
              <p:cNvSpPr>
                <a:spLocks noChangeShapeType="1"/>
              </p:cNvSpPr>
              <p:nvPr/>
            </p:nvSpPr>
            <p:spPr bwMode="auto">
              <a:xfrm>
                <a:off x="4019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97453" name="Line 13"/>
              <p:cNvSpPr>
                <a:spLocks noChangeShapeType="1"/>
              </p:cNvSpPr>
              <p:nvPr/>
            </p:nvSpPr>
            <p:spPr bwMode="auto">
              <a:xfrm>
                <a:off x="4136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97454" name="Line 14"/>
              <p:cNvSpPr>
                <a:spLocks noChangeShapeType="1"/>
              </p:cNvSpPr>
              <p:nvPr/>
            </p:nvSpPr>
            <p:spPr bwMode="auto">
              <a:xfrm>
                <a:off x="4255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97455" name="Line 15"/>
              <p:cNvSpPr>
                <a:spLocks noChangeShapeType="1"/>
              </p:cNvSpPr>
              <p:nvPr/>
            </p:nvSpPr>
            <p:spPr bwMode="auto">
              <a:xfrm>
                <a:off x="4374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97456" name="Line 16"/>
              <p:cNvSpPr>
                <a:spLocks noChangeShapeType="1"/>
              </p:cNvSpPr>
              <p:nvPr/>
            </p:nvSpPr>
            <p:spPr bwMode="auto">
              <a:xfrm>
                <a:off x="4492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97457" name="Line 17"/>
              <p:cNvSpPr>
                <a:spLocks noChangeShapeType="1"/>
              </p:cNvSpPr>
              <p:nvPr/>
            </p:nvSpPr>
            <p:spPr bwMode="auto">
              <a:xfrm>
                <a:off x="4611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97458" name="Rectangle 18"/>
            <p:cNvSpPr>
              <a:spLocks noChangeArrowheads="1"/>
            </p:cNvSpPr>
            <p:nvPr/>
          </p:nvSpPr>
          <p:spPr bwMode="auto">
            <a:xfrm>
              <a:off x="1510" y="710"/>
              <a:ext cx="19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ea typeface="幼圆" pitchFamily="49" charset="-122"/>
                </a:rPr>
                <a:t>p</a:t>
              </a:r>
              <a:endParaRPr kumimoji="1" lang="zh-CN" altLang="en-US" sz="2000" b="1" i="1" dirty="0">
                <a:ea typeface="幼圆" pitchFamily="49" charset="-122"/>
              </a:endParaRPr>
            </a:p>
          </p:txBody>
        </p:sp>
        <p:sp>
          <p:nvSpPr>
            <p:cNvPr id="1597459" name="Line 19"/>
            <p:cNvSpPr>
              <a:spLocks noChangeShapeType="1"/>
            </p:cNvSpPr>
            <p:nvPr/>
          </p:nvSpPr>
          <p:spPr bwMode="auto">
            <a:xfrm>
              <a:off x="521" y="1176"/>
              <a:ext cx="2541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60" name="Text Box 20"/>
            <p:cNvSpPr txBox="1">
              <a:spLocks noChangeArrowheads="1"/>
            </p:cNvSpPr>
            <p:nvPr/>
          </p:nvSpPr>
          <p:spPr bwMode="auto">
            <a:xfrm>
              <a:off x="469" y="814"/>
              <a:ext cx="25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597461" name="Line 21"/>
            <p:cNvSpPr>
              <a:spLocks noChangeShapeType="1"/>
            </p:cNvSpPr>
            <p:nvPr/>
          </p:nvSpPr>
          <p:spPr bwMode="auto">
            <a:xfrm flipH="1">
              <a:off x="515" y="1091"/>
              <a:ext cx="2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62" name="Text Box 22"/>
            <p:cNvSpPr txBox="1">
              <a:spLocks noChangeArrowheads="1"/>
            </p:cNvSpPr>
            <p:nvPr/>
          </p:nvSpPr>
          <p:spPr bwMode="auto">
            <a:xfrm flipH="1">
              <a:off x="2379" y="836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597463" name="Line 23"/>
            <p:cNvSpPr>
              <a:spLocks noChangeShapeType="1"/>
            </p:cNvSpPr>
            <p:nvPr/>
          </p:nvSpPr>
          <p:spPr bwMode="auto">
            <a:xfrm>
              <a:off x="2372" y="1097"/>
              <a:ext cx="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64" name="Rectangle 24" descr="深色上对角线"/>
            <p:cNvSpPr>
              <a:spLocks noChangeArrowheads="1"/>
            </p:cNvSpPr>
            <p:nvPr/>
          </p:nvSpPr>
          <p:spPr bwMode="auto">
            <a:xfrm>
              <a:off x="525" y="2206"/>
              <a:ext cx="2541" cy="68"/>
            </a:xfrm>
            <a:prstGeom prst="rect">
              <a:avLst/>
            </a:prstGeom>
            <a:pattFill prst="dkUpDiag">
              <a:fgClr>
                <a:srgbClr val="666633"/>
              </a:fgClr>
              <a:bgClr>
                <a:schemeClr val="hlink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7465" name="Text Box 25"/>
            <p:cNvSpPr txBox="1">
              <a:spLocks noChangeArrowheads="1"/>
            </p:cNvSpPr>
            <p:nvPr/>
          </p:nvSpPr>
          <p:spPr bwMode="auto">
            <a:xfrm>
              <a:off x="306" y="2292"/>
              <a:ext cx="95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ea typeface="幼圆" pitchFamily="49" charset="-122"/>
                  <a:sym typeface="Symbol" pitchFamily="18" charset="2"/>
                </a:rPr>
                <a:t>不透水岩层</a:t>
              </a:r>
            </a:p>
          </p:txBody>
        </p:sp>
        <p:sp>
          <p:nvSpPr>
            <p:cNvPr id="1597466" name="Text Box 26"/>
            <p:cNvSpPr txBox="1">
              <a:spLocks noChangeArrowheads="1"/>
            </p:cNvSpPr>
            <p:nvPr/>
          </p:nvSpPr>
          <p:spPr bwMode="auto">
            <a:xfrm>
              <a:off x="1195" y="2350"/>
              <a:ext cx="2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ea typeface="幼圆" pitchFamily="49" charset="-122"/>
                </a:rPr>
                <a:t>z</a:t>
              </a:r>
            </a:p>
          </p:txBody>
        </p:sp>
        <p:sp>
          <p:nvSpPr>
            <p:cNvPr id="1597467" name="Line 27"/>
            <p:cNvSpPr>
              <a:spLocks noChangeShapeType="1"/>
            </p:cNvSpPr>
            <p:nvPr/>
          </p:nvSpPr>
          <p:spPr bwMode="auto">
            <a:xfrm>
              <a:off x="1865" y="1181"/>
              <a:ext cx="0" cy="10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68" name="Freeform 28"/>
            <p:cNvSpPr>
              <a:spLocks/>
            </p:cNvSpPr>
            <p:nvPr/>
          </p:nvSpPr>
          <p:spPr bwMode="auto">
            <a:xfrm>
              <a:off x="1505" y="1172"/>
              <a:ext cx="365" cy="1032"/>
            </a:xfrm>
            <a:custGeom>
              <a:avLst/>
              <a:gdLst>
                <a:gd name="T0" fmla="*/ 365 w 365"/>
                <a:gd name="T1" fmla="*/ 0 h 1032"/>
                <a:gd name="T2" fmla="*/ 264 w 365"/>
                <a:gd name="T3" fmla="*/ 139 h 1032"/>
                <a:gd name="T4" fmla="*/ 134 w 365"/>
                <a:gd name="T5" fmla="*/ 427 h 1032"/>
                <a:gd name="T6" fmla="*/ 38 w 365"/>
                <a:gd name="T7" fmla="*/ 782 h 1032"/>
                <a:gd name="T8" fmla="*/ 0 w 365"/>
                <a:gd name="T9" fmla="*/ 1032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" h="1032">
                  <a:moveTo>
                    <a:pt x="365" y="0"/>
                  </a:moveTo>
                  <a:cubicBezTo>
                    <a:pt x="348" y="23"/>
                    <a:pt x="303" y="68"/>
                    <a:pt x="264" y="139"/>
                  </a:cubicBezTo>
                  <a:cubicBezTo>
                    <a:pt x="225" y="210"/>
                    <a:pt x="172" y="320"/>
                    <a:pt x="134" y="427"/>
                  </a:cubicBezTo>
                  <a:cubicBezTo>
                    <a:pt x="96" y="534"/>
                    <a:pt x="60" y="681"/>
                    <a:pt x="38" y="782"/>
                  </a:cubicBezTo>
                  <a:cubicBezTo>
                    <a:pt x="16" y="883"/>
                    <a:pt x="9" y="953"/>
                    <a:pt x="0" y="1032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69" name="Text Box 29"/>
            <p:cNvSpPr txBox="1">
              <a:spLocks noChangeArrowheads="1"/>
            </p:cNvSpPr>
            <p:nvPr/>
          </p:nvSpPr>
          <p:spPr bwMode="auto">
            <a:xfrm>
              <a:off x="2671" y="792"/>
              <a:ext cx="5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dirty="0">
                  <a:ea typeface="幼圆" pitchFamily="49" charset="-122"/>
                </a:rPr>
                <a:t>排水面</a:t>
              </a:r>
              <a:endParaRPr lang="en-US" altLang="zh-CN" sz="2000" b="1" dirty="0">
                <a:ea typeface="幼圆" pitchFamily="49" charset="-122"/>
              </a:endParaRPr>
            </a:p>
          </p:txBody>
        </p:sp>
        <p:sp>
          <p:nvSpPr>
            <p:cNvPr id="1597470" name="Line 30"/>
            <p:cNvSpPr>
              <a:spLocks noChangeShapeType="1"/>
            </p:cNvSpPr>
            <p:nvPr/>
          </p:nvSpPr>
          <p:spPr bwMode="auto">
            <a:xfrm flipV="1">
              <a:off x="2757" y="1013"/>
              <a:ext cx="93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71" name="Line 31"/>
            <p:cNvSpPr>
              <a:spLocks noChangeShapeType="1"/>
            </p:cNvSpPr>
            <p:nvPr/>
          </p:nvSpPr>
          <p:spPr bwMode="auto">
            <a:xfrm>
              <a:off x="751" y="1177"/>
              <a:ext cx="0" cy="10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72" name="Text Box 32"/>
            <p:cNvSpPr txBox="1">
              <a:spLocks noChangeArrowheads="1"/>
            </p:cNvSpPr>
            <p:nvPr/>
          </p:nvSpPr>
          <p:spPr bwMode="auto">
            <a:xfrm>
              <a:off x="616" y="1556"/>
              <a:ext cx="239" cy="250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ea typeface="幼圆" pitchFamily="49" charset="-122"/>
                </a:rPr>
                <a:t>H</a:t>
              </a:r>
            </a:p>
          </p:txBody>
        </p:sp>
        <p:sp>
          <p:nvSpPr>
            <p:cNvPr id="1597473" name="Line 33"/>
            <p:cNvSpPr>
              <a:spLocks noChangeShapeType="1"/>
            </p:cNvSpPr>
            <p:nvPr/>
          </p:nvSpPr>
          <p:spPr bwMode="auto">
            <a:xfrm>
              <a:off x="1404" y="1173"/>
              <a:ext cx="0" cy="14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74" name="Line 34"/>
            <p:cNvSpPr>
              <a:spLocks noChangeShapeType="1"/>
            </p:cNvSpPr>
            <p:nvPr/>
          </p:nvSpPr>
          <p:spPr bwMode="auto">
            <a:xfrm>
              <a:off x="1865" y="2257"/>
              <a:ext cx="0" cy="1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75" name="Line 35"/>
            <p:cNvSpPr>
              <a:spLocks noChangeShapeType="1"/>
            </p:cNvSpPr>
            <p:nvPr/>
          </p:nvSpPr>
          <p:spPr bwMode="auto">
            <a:xfrm>
              <a:off x="1404" y="2358"/>
              <a:ext cx="4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76" name="Text Box 36"/>
            <p:cNvSpPr txBox="1">
              <a:spLocks noChangeArrowheads="1"/>
            </p:cNvSpPr>
            <p:nvPr/>
          </p:nvSpPr>
          <p:spPr bwMode="auto">
            <a:xfrm>
              <a:off x="1451" y="2332"/>
              <a:ext cx="46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 smtClean="0">
                  <a:ea typeface="幼圆" pitchFamily="49" charset="-122"/>
                </a:rPr>
                <a:t>u</a:t>
              </a:r>
              <a:r>
                <a:rPr lang="en-US" altLang="zh-CN" sz="1800" b="1" baseline="-25000" dirty="0" smtClean="0">
                  <a:ea typeface="幼圆" pitchFamily="49" charset="-122"/>
                </a:rPr>
                <a:t>0</a:t>
              </a:r>
              <a:r>
                <a:rPr lang="en-US" altLang="zh-CN" sz="1800" b="1" i="1" baseline="-25000" dirty="0" smtClean="0">
                  <a:ea typeface="幼圆" pitchFamily="49" charset="-122"/>
                </a:rPr>
                <a:t> </a:t>
              </a:r>
              <a:r>
                <a:rPr lang="en-US" altLang="zh-CN" sz="1800" b="1" dirty="0" smtClean="0">
                  <a:ea typeface="幼圆" pitchFamily="49" charset="-122"/>
                </a:rPr>
                <a:t>= </a:t>
              </a:r>
              <a:r>
                <a:rPr lang="en-US" altLang="zh-CN" sz="1800" b="1" i="1" dirty="0" smtClean="0">
                  <a:ea typeface="幼圆" pitchFamily="49" charset="-122"/>
                </a:rPr>
                <a:t>p</a:t>
              </a:r>
              <a:endParaRPr lang="en-US" altLang="zh-CN" sz="1800" b="1" i="1" dirty="0">
                <a:ea typeface="幼圆" pitchFamily="49" charset="-122"/>
              </a:endParaRPr>
            </a:p>
          </p:txBody>
        </p:sp>
        <p:sp>
          <p:nvSpPr>
            <p:cNvPr id="1597477" name="Text Box 37"/>
            <p:cNvSpPr txBox="1">
              <a:spLocks noChangeArrowheads="1"/>
            </p:cNvSpPr>
            <p:nvPr/>
          </p:nvSpPr>
          <p:spPr bwMode="auto">
            <a:xfrm>
              <a:off x="1974" y="1316"/>
              <a:ext cx="1098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ea typeface="幼圆" pitchFamily="49" charset="-122"/>
                </a:rPr>
                <a:t>u</a:t>
              </a:r>
              <a:r>
                <a:rPr lang="en-US" altLang="zh-CN" sz="1800" b="1" dirty="0">
                  <a:ea typeface="幼圆" pitchFamily="49" charset="-122"/>
                </a:rPr>
                <a:t> </a:t>
              </a:r>
              <a:r>
                <a:rPr lang="zh-CN" altLang="en-US" sz="1800" b="1" dirty="0">
                  <a:ea typeface="幼圆" pitchFamily="49" charset="-122"/>
                </a:rPr>
                <a:t>：超静孔压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1800" b="1" dirty="0">
                  <a:ea typeface="幼圆" pitchFamily="49" charset="-122"/>
                  <a:sym typeface="Symbol" pitchFamily="18" charset="2"/>
                </a:rPr>
                <a:t></a:t>
              </a:r>
              <a:r>
                <a:rPr lang="en-US" altLang="zh-CN" sz="1800" b="1" baseline="-25000" dirty="0">
                  <a:ea typeface="幼圆" pitchFamily="49" charset="-122"/>
                  <a:sym typeface="Symbol" pitchFamily="18" charset="2"/>
                </a:rPr>
                <a:t>z </a:t>
              </a:r>
              <a:r>
                <a:rPr lang="zh-CN" altLang="en-US" sz="1800" b="1" dirty="0">
                  <a:ea typeface="幼圆" pitchFamily="49" charset="-122"/>
                  <a:sym typeface="Symbol" pitchFamily="18" charset="2"/>
                </a:rPr>
                <a:t>：有效应力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ea typeface="幼圆" pitchFamily="49" charset="-122"/>
                  <a:sym typeface="Symbol" pitchFamily="18" charset="2"/>
                </a:rPr>
                <a:t>p</a:t>
              </a:r>
              <a:r>
                <a:rPr lang="en-US" altLang="zh-CN" sz="1800" b="1" dirty="0">
                  <a:ea typeface="幼圆" pitchFamily="49" charset="-122"/>
                  <a:sym typeface="Symbol" pitchFamily="18" charset="2"/>
                </a:rPr>
                <a:t> </a:t>
              </a:r>
              <a:r>
                <a:rPr lang="zh-CN" altLang="en-US" sz="1800" b="1" dirty="0">
                  <a:ea typeface="幼圆" pitchFamily="49" charset="-122"/>
                  <a:sym typeface="Symbol" pitchFamily="18" charset="2"/>
                </a:rPr>
                <a:t>：总附加应力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 smtClean="0">
                  <a:ea typeface="幼圆" pitchFamily="49" charset="-122"/>
                  <a:sym typeface="Symbol" pitchFamily="18" charset="2"/>
                </a:rPr>
                <a:t>u </a:t>
              </a:r>
              <a:r>
                <a:rPr lang="en-US" altLang="zh-CN" sz="1800" b="1" dirty="0" smtClean="0">
                  <a:ea typeface="幼圆" pitchFamily="49" charset="-122"/>
                  <a:sym typeface="Symbol" pitchFamily="18" charset="2"/>
                </a:rPr>
                <a:t>+</a:t>
              </a:r>
              <a:r>
                <a:rPr lang="en-US" altLang="zh-CN" sz="1800" b="1" baseline="-25000" dirty="0" smtClean="0">
                  <a:ea typeface="幼圆" pitchFamily="49" charset="-122"/>
                  <a:sym typeface="Symbol" pitchFamily="18" charset="2"/>
                </a:rPr>
                <a:t> </a:t>
              </a:r>
              <a:r>
                <a:rPr lang="en-US" altLang="zh-CN" sz="1800" b="1" i="1" dirty="0"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1800" b="1" dirty="0">
                  <a:ea typeface="幼圆" pitchFamily="49" charset="-122"/>
                  <a:sym typeface="Symbol" pitchFamily="18" charset="2"/>
                </a:rPr>
                <a:t></a:t>
              </a:r>
              <a:r>
                <a:rPr lang="en-US" altLang="zh-CN" sz="1800" b="1" baseline="-25000" dirty="0">
                  <a:ea typeface="幼圆" pitchFamily="49" charset="-122"/>
                  <a:sym typeface="Symbol" pitchFamily="18" charset="2"/>
                </a:rPr>
                <a:t>z</a:t>
              </a:r>
              <a:r>
                <a:rPr lang="en-US" altLang="zh-CN" sz="1800" b="1" dirty="0">
                  <a:solidFill>
                    <a:schemeClr val="bg1"/>
                  </a:solidFill>
                  <a:ea typeface="幼圆" pitchFamily="49" charset="-122"/>
                  <a:sym typeface="Symbol" pitchFamily="18" charset="2"/>
                </a:rPr>
                <a:t> </a:t>
              </a:r>
              <a:r>
                <a:rPr lang="en-US" altLang="zh-CN" sz="1800" b="1" dirty="0" smtClean="0">
                  <a:ea typeface="幼圆" pitchFamily="49" charset="-122"/>
                  <a:sym typeface="Symbol" pitchFamily="18" charset="2"/>
                </a:rPr>
                <a:t>= </a:t>
              </a:r>
              <a:r>
                <a:rPr lang="en-US" altLang="zh-CN" sz="1800" b="1" i="1" dirty="0" smtClean="0">
                  <a:ea typeface="幼圆" pitchFamily="49" charset="-122"/>
                  <a:sym typeface="Symbol" pitchFamily="18" charset="2"/>
                </a:rPr>
                <a:t>p</a:t>
              </a:r>
              <a:endParaRPr lang="en-US" altLang="zh-CN" sz="1800" b="1" i="1" dirty="0"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97478" name="Text Box 38"/>
            <p:cNvSpPr txBox="1">
              <a:spLocks noChangeArrowheads="1"/>
            </p:cNvSpPr>
            <p:nvPr/>
          </p:nvSpPr>
          <p:spPr bwMode="auto">
            <a:xfrm>
              <a:off x="1932" y="2295"/>
              <a:ext cx="125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ea typeface="幼圆" pitchFamily="49" charset="-122"/>
                </a:rPr>
                <a:t>u</a:t>
              </a:r>
              <a:r>
                <a:rPr lang="en-US" altLang="zh-CN" sz="1800" b="1" baseline="-25000" dirty="0">
                  <a:ea typeface="幼圆" pitchFamily="49" charset="-122"/>
                </a:rPr>
                <a:t>0</a:t>
              </a:r>
              <a:r>
                <a:rPr lang="zh-CN" altLang="en-US" sz="1800" b="1" dirty="0">
                  <a:ea typeface="幼圆" pitchFamily="49" charset="-122"/>
                </a:rPr>
                <a:t>：初始超静孔压</a:t>
              </a:r>
              <a:endParaRPr lang="en-US" altLang="zh-CN" sz="1800" b="1" dirty="0">
                <a:ea typeface="幼圆" pitchFamily="49" charset="-122"/>
              </a:endParaRPr>
            </a:p>
          </p:txBody>
        </p:sp>
      </p:grpSp>
      <p:grpSp>
        <p:nvGrpSpPr>
          <p:cNvPr id="1597481" name="Group 41"/>
          <p:cNvGrpSpPr>
            <a:grpSpLocks/>
          </p:cNvGrpSpPr>
          <p:nvPr/>
        </p:nvGrpSpPr>
        <p:grpSpPr bwMode="auto">
          <a:xfrm>
            <a:off x="1417638" y="1611313"/>
            <a:ext cx="527050" cy="749300"/>
            <a:chOff x="923" y="1175"/>
            <a:chExt cx="332" cy="472"/>
          </a:xfrm>
        </p:grpSpPr>
        <p:sp>
          <p:nvSpPr>
            <p:cNvPr id="1597482" name="Line 42"/>
            <p:cNvSpPr>
              <a:spLocks noChangeShapeType="1"/>
            </p:cNvSpPr>
            <p:nvPr/>
          </p:nvSpPr>
          <p:spPr bwMode="auto">
            <a:xfrm flipH="1">
              <a:off x="1150" y="1479"/>
              <a:ext cx="1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83" name="Line 43"/>
            <p:cNvSpPr>
              <a:spLocks noChangeShapeType="1"/>
            </p:cNvSpPr>
            <p:nvPr/>
          </p:nvSpPr>
          <p:spPr bwMode="auto">
            <a:xfrm flipH="1">
              <a:off x="1150" y="1547"/>
              <a:ext cx="1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84" name="Line 44"/>
            <p:cNvSpPr>
              <a:spLocks noChangeShapeType="1"/>
            </p:cNvSpPr>
            <p:nvPr/>
          </p:nvSpPr>
          <p:spPr bwMode="auto">
            <a:xfrm>
              <a:off x="1198" y="1177"/>
              <a:ext cx="0" cy="2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485" name="Text Box 45"/>
            <p:cNvSpPr txBox="1">
              <a:spLocks noChangeArrowheads="1"/>
            </p:cNvSpPr>
            <p:nvPr/>
          </p:nvSpPr>
          <p:spPr bwMode="auto">
            <a:xfrm>
              <a:off x="991" y="1175"/>
              <a:ext cx="18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dirty="0">
                  <a:ea typeface="幼圆" pitchFamily="49" charset="-122"/>
                </a:rPr>
                <a:t>z</a:t>
              </a:r>
            </a:p>
          </p:txBody>
        </p:sp>
        <p:sp>
          <p:nvSpPr>
            <p:cNvPr id="1597486" name="Text Box 46"/>
            <p:cNvSpPr txBox="1">
              <a:spLocks noChangeArrowheads="1"/>
            </p:cNvSpPr>
            <p:nvPr/>
          </p:nvSpPr>
          <p:spPr bwMode="auto">
            <a:xfrm>
              <a:off x="923" y="1379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dirty="0" err="1">
                  <a:ea typeface="幼圆" pitchFamily="49" charset="-122"/>
                </a:rPr>
                <a:t>dz</a:t>
              </a:r>
              <a:endParaRPr lang="en-US" altLang="zh-CN" sz="1800" b="1" dirty="0">
                <a:ea typeface="幼圆" pitchFamily="49" charset="-122"/>
              </a:endParaRPr>
            </a:p>
          </p:txBody>
        </p:sp>
        <p:sp>
          <p:nvSpPr>
            <p:cNvPr id="1597487" name="Line 47"/>
            <p:cNvSpPr>
              <a:spLocks noChangeShapeType="1"/>
            </p:cNvSpPr>
            <p:nvPr/>
          </p:nvSpPr>
          <p:spPr bwMode="auto">
            <a:xfrm flipV="1">
              <a:off x="1205" y="1551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97488" name="Group 48"/>
          <p:cNvGrpSpPr>
            <a:grpSpLocks/>
          </p:cNvGrpSpPr>
          <p:nvPr/>
        </p:nvGrpSpPr>
        <p:grpSpPr bwMode="auto">
          <a:xfrm>
            <a:off x="1287463" y="2078038"/>
            <a:ext cx="989012" cy="1130300"/>
            <a:chOff x="843" y="1479"/>
            <a:chExt cx="623" cy="712"/>
          </a:xfrm>
        </p:grpSpPr>
        <p:grpSp>
          <p:nvGrpSpPr>
            <p:cNvPr id="1597489" name="Group 49"/>
            <p:cNvGrpSpPr>
              <a:grpSpLocks/>
            </p:cNvGrpSpPr>
            <p:nvPr/>
          </p:nvGrpSpPr>
          <p:grpSpPr bwMode="auto">
            <a:xfrm>
              <a:off x="843" y="1479"/>
              <a:ext cx="623" cy="432"/>
              <a:chOff x="843" y="1479"/>
              <a:chExt cx="623" cy="432"/>
            </a:xfrm>
          </p:grpSpPr>
          <p:sp>
            <p:nvSpPr>
              <p:cNvPr id="1597490" name="Rectangle 50"/>
              <p:cNvSpPr>
                <a:spLocks noChangeArrowheads="1"/>
              </p:cNvSpPr>
              <p:nvPr/>
            </p:nvSpPr>
            <p:spPr bwMode="auto">
              <a:xfrm>
                <a:off x="1341" y="1479"/>
                <a:ext cx="125" cy="72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97491" name="Text Box 51"/>
              <p:cNvSpPr txBox="1">
                <a:spLocks noChangeArrowheads="1"/>
              </p:cNvSpPr>
              <p:nvPr/>
            </p:nvSpPr>
            <p:spPr bwMode="auto">
              <a:xfrm>
                <a:off x="843" y="1680"/>
                <a:ext cx="55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800" b="1">
                    <a:ea typeface="幼圆" pitchFamily="49" charset="-122"/>
                  </a:rPr>
                  <a:t>微单元</a:t>
                </a:r>
                <a:endParaRPr lang="en-US" altLang="zh-CN" sz="1800" b="1">
                  <a:ea typeface="幼圆" pitchFamily="49" charset="-122"/>
                </a:endParaRPr>
              </a:p>
            </p:txBody>
          </p:sp>
          <p:sp>
            <p:nvSpPr>
              <p:cNvPr id="1597492" name="Line 52"/>
              <p:cNvSpPr>
                <a:spLocks noChangeShapeType="1"/>
              </p:cNvSpPr>
              <p:nvPr/>
            </p:nvSpPr>
            <p:spPr bwMode="auto">
              <a:xfrm flipH="1">
                <a:off x="1260" y="1565"/>
                <a:ext cx="95" cy="1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97493" name="Text Box 53"/>
            <p:cNvSpPr txBox="1">
              <a:spLocks noChangeArrowheads="1"/>
            </p:cNvSpPr>
            <p:nvPr/>
          </p:nvSpPr>
          <p:spPr bwMode="auto">
            <a:xfrm>
              <a:off x="894" y="1939"/>
              <a:ext cx="52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 smtClean="0">
                  <a:ea typeface="幼圆" pitchFamily="49" charset="-122"/>
                </a:rPr>
                <a:t>t </a:t>
              </a:r>
              <a:r>
                <a:rPr lang="zh-CN" altLang="en-US" sz="2000" b="1" dirty="0" smtClean="0">
                  <a:ea typeface="幼圆" pitchFamily="49" charset="-122"/>
                </a:rPr>
                <a:t>时刻</a:t>
              </a:r>
              <a:endParaRPr lang="zh-CN" altLang="en-US" sz="2000" b="1" dirty="0">
                <a:ea typeface="幼圆" pitchFamily="49" charset="-122"/>
              </a:endParaRPr>
            </a:p>
          </p:txBody>
        </p:sp>
      </p:grpSp>
      <p:grpSp>
        <p:nvGrpSpPr>
          <p:cNvPr id="1597494" name="Group 54"/>
          <p:cNvGrpSpPr>
            <a:grpSpLocks/>
          </p:cNvGrpSpPr>
          <p:nvPr/>
        </p:nvGrpSpPr>
        <p:grpSpPr bwMode="auto">
          <a:xfrm>
            <a:off x="5646740" y="1916113"/>
            <a:ext cx="2239963" cy="1820862"/>
            <a:chOff x="3527" y="1407"/>
            <a:chExt cx="1411" cy="1147"/>
          </a:xfrm>
        </p:grpSpPr>
        <p:sp>
          <p:nvSpPr>
            <p:cNvPr id="1597495" name="Line 55"/>
            <p:cNvSpPr>
              <a:spLocks noChangeShapeType="1"/>
            </p:cNvSpPr>
            <p:nvPr/>
          </p:nvSpPr>
          <p:spPr bwMode="auto">
            <a:xfrm flipV="1">
              <a:off x="4033" y="2084"/>
              <a:ext cx="0" cy="240"/>
            </a:xfrm>
            <a:prstGeom prst="line">
              <a:avLst/>
            </a:prstGeom>
            <a:noFill/>
            <a:ln w="4127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597496" name="Object 56"/>
            <p:cNvGraphicFramePr>
              <a:graphicFrameLocks noChangeAspect="1"/>
            </p:cNvGraphicFramePr>
            <p:nvPr>
              <p:extLst/>
            </p:nvPr>
          </p:nvGraphicFramePr>
          <p:xfrm>
            <a:off x="4229" y="2098"/>
            <a:ext cx="709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0784" name="Equation" r:id="rId3" imgW="622080" imgH="406080" progId="Equation.DSMT4">
                    <p:embed/>
                  </p:oleObj>
                </mc:Choice>
                <mc:Fallback>
                  <p:oleObj name="Equation" r:id="rId3" imgW="622080" imgH="406080" progId="Equation.DSMT4">
                    <p:embed/>
                    <p:pic>
                      <p:nvPicPr>
                        <p:cNvPr id="1597496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9" y="2098"/>
                          <a:ext cx="709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7497" name="AutoShape 57"/>
            <p:cNvSpPr>
              <a:spLocks noChangeArrowheads="1"/>
            </p:cNvSpPr>
            <p:nvPr/>
          </p:nvSpPr>
          <p:spPr bwMode="auto">
            <a:xfrm>
              <a:off x="3601" y="1652"/>
              <a:ext cx="912" cy="432"/>
            </a:xfrm>
            <a:prstGeom prst="cube">
              <a:avLst>
                <a:gd name="adj" fmla="val 43981"/>
              </a:avLst>
            </a:prstGeom>
            <a:solidFill>
              <a:srgbClr val="CCFFCC"/>
            </a:solidFill>
            <a:ln w="19050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7498" name="Line 58"/>
            <p:cNvSpPr>
              <a:spLocks noChangeShapeType="1"/>
            </p:cNvSpPr>
            <p:nvPr/>
          </p:nvSpPr>
          <p:spPr bwMode="auto">
            <a:xfrm>
              <a:off x="4571" y="1652"/>
              <a:ext cx="1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97499" name="Line 59"/>
            <p:cNvSpPr>
              <a:spLocks noChangeShapeType="1"/>
            </p:cNvSpPr>
            <p:nvPr/>
          </p:nvSpPr>
          <p:spPr bwMode="auto">
            <a:xfrm>
              <a:off x="4564" y="1892"/>
              <a:ext cx="1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97500" name="Line 60"/>
            <p:cNvSpPr>
              <a:spLocks noChangeShapeType="1"/>
            </p:cNvSpPr>
            <p:nvPr/>
          </p:nvSpPr>
          <p:spPr bwMode="auto">
            <a:xfrm flipV="1">
              <a:off x="4026" y="1515"/>
              <a:ext cx="0" cy="240"/>
            </a:xfrm>
            <a:prstGeom prst="line">
              <a:avLst/>
            </a:prstGeom>
            <a:noFill/>
            <a:ln w="41275">
              <a:solidFill>
                <a:srgbClr val="00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597501" name="Object 61"/>
            <p:cNvGraphicFramePr>
              <a:graphicFrameLocks noChangeAspect="1"/>
            </p:cNvGraphicFramePr>
            <p:nvPr>
              <p:extLst/>
            </p:nvPr>
          </p:nvGraphicFramePr>
          <p:xfrm>
            <a:off x="4158" y="1407"/>
            <a:ext cx="145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0785" name="Equation" r:id="rId5" imgW="126720" imgH="164880" progId="Equation.DSMT4">
                    <p:embed/>
                  </p:oleObj>
                </mc:Choice>
                <mc:Fallback>
                  <p:oleObj name="Equation" r:id="rId5" imgW="126720" imgH="164880" progId="Equation.DSMT4">
                    <p:embed/>
                    <p:pic>
                      <p:nvPicPr>
                        <p:cNvPr id="1597501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8" y="1407"/>
                          <a:ext cx="145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7502" name="Line 62"/>
            <p:cNvSpPr>
              <a:spLocks noChangeShapeType="1"/>
            </p:cNvSpPr>
            <p:nvPr/>
          </p:nvSpPr>
          <p:spPr bwMode="auto">
            <a:xfrm>
              <a:off x="4637" y="1657"/>
              <a:ext cx="0" cy="2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503" name="Text Box 63"/>
            <p:cNvSpPr txBox="1">
              <a:spLocks noChangeArrowheads="1"/>
            </p:cNvSpPr>
            <p:nvPr/>
          </p:nvSpPr>
          <p:spPr bwMode="auto">
            <a:xfrm>
              <a:off x="4630" y="1647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dirty="0" err="1">
                  <a:ea typeface="幼圆" pitchFamily="49" charset="-122"/>
                </a:rPr>
                <a:t>dz</a:t>
              </a:r>
              <a:endParaRPr lang="en-US" altLang="zh-CN" sz="1800" b="1" dirty="0">
                <a:ea typeface="幼圆" pitchFamily="49" charset="-122"/>
              </a:endParaRPr>
            </a:p>
          </p:txBody>
        </p:sp>
        <p:sp>
          <p:nvSpPr>
            <p:cNvPr id="1597504" name="Text Box 64"/>
            <p:cNvSpPr txBox="1">
              <a:spLocks noChangeArrowheads="1"/>
            </p:cNvSpPr>
            <p:nvPr/>
          </p:nvSpPr>
          <p:spPr bwMode="auto">
            <a:xfrm>
              <a:off x="3527" y="156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ea typeface="幼圆" pitchFamily="49" charset="-122"/>
                </a:rPr>
                <a:t>1</a:t>
              </a:r>
            </a:p>
          </p:txBody>
        </p:sp>
        <p:sp>
          <p:nvSpPr>
            <p:cNvPr id="1597505" name="Text Box 65"/>
            <p:cNvSpPr txBox="1">
              <a:spLocks noChangeArrowheads="1"/>
            </p:cNvSpPr>
            <p:nvPr/>
          </p:nvSpPr>
          <p:spPr bwMode="auto">
            <a:xfrm>
              <a:off x="3874" y="1785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ea typeface="幼圆" pitchFamily="49" charset="-122"/>
                </a:rPr>
                <a:t>1</a:t>
              </a:r>
            </a:p>
          </p:txBody>
        </p:sp>
      </p:grpSp>
      <p:sp>
        <p:nvSpPr>
          <p:cNvPr id="1597506" name="Rectangle 66"/>
          <p:cNvSpPr>
            <a:spLocks noChangeArrowheads="1"/>
          </p:cNvSpPr>
          <p:nvPr/>
        </p:nvSpPr>
        <p:spPr bwMode="auto">
          <a:xfrm>
            <a:off x="5948363" y="1055688"/>
            <a:ext cx="2497137" cy="73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微小单元（</a:t>
            </a:r>
            <a:r>
              <a:rPr kumimoji="1"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1×1×dz</a:t>
            </a:r>
            <a:r>
              <a:rPr kumimoji="1"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）</a:t>
            </a:r>
          </a:p>
          <a:p>
            <a:pPr ea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微小时段（</a:t>
            </a:r>
            <a:r>
              <a:rPr kumimoji="1" lang="en-US" altLang="zh-CN" sz="18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d</a:t>
            </a:r>
            <a:r>
              <a:rPr kumimoji="1" lang="en-US" altLang="zh-CN" sz="18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zh-CN" altLang="en-US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）</a:t>
            </a:r>
          </a:p>
        </p:txBody>
      </p:sp>
      <p:sp>
        <p:nvSpPr>
          <p:cNvPr id="1597507" name="Text Box 67"/>
          <p:cNvSpPr txBox="1">
            <a:spLocks noChangeArrowheads="1"/>
          </p:cNvSpPr>
          <p:nvPr/>
        </p:nvSpPr>
        <p:spPr bwMode="auto">
          <a:xfrm>
            <a:off x="5110163" y="4329113"/>
            <a:ext cx="1889125" cy="1025525"/>
          </a:xfrm>
          <a:prstGeom prst="rect">
            <a:avLst/>
          </a:prstGeom>
          <a:noFill/>
          <a:ln w="19050" algn="ctr">
            <a:solidFill>
              <a:srgbClr val="A5002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0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土的压缩特性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0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有效应力原理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0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 达西定律</a:t>
            </a:r>
          </a:p>
        </p:txBody>
      </p:sp>
      <p:sp>
        <p:nvSpPr>
          <p:cNvPr id="1597508" name="AutoShape 68"/>
          <p:cNvSpPr>
            <a:spLocks noChangeArrowheads="1"/>
          </p:cNvSpPr>
          <p:nvPr/>
        </p:nvSpPr>
        <p:spPr bwMode="auto">
          <a:xfrm>
            <a:off x="7658100" y="4437063"/>
            <a:ext cx="1341438" cy="76835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ea typeface="幼圆" pitchFamily="49" charset="-122"/>
                <a:sym typeface="Symbol" pitchFamily="18" charset="2"/>
              </a:rPr>
              <a:t>渗流固结</a:t>
            </a:r>
            <a:br>
              <a:rPr kumimoji="1" lang="zh-CN" altLang="en-US" sz="2000" b="1">
                <a:ea typeface="幼圆" pitchFamily="49" charset="-122"/>
                <a:sym typeface="Symbol" pitchFamily="18" charset="2"/>
              </a:rPr>
            </a:br>
            <a:r>
              <a:rPr kumimoji="1" lang="zh-CN" altLang="en-US" sz="2000" b="1">
                <a:ea typeface="幼圆" pitchFamily="49" charset="-122"/>
                <a:sym typeface="Symbol" pitchFamily="18" charset="2"/>
              </a:rPr>
              <a:t>基本方程</a:t>
            </a:r>
            <a:endParaRPr kumimoji="1" lang="en-US" altLang="zh-CN" sz="2000" b="1"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97509" name="Text Box 69"/>
          <p:cNvSpPr txBox="1">
            <a:spLocks noChangeArrowheads="1"/>
          </p:cNvSpPr>
          <p:nvPr/>
        </p:nvSpPr>
        <p:spPr bwMode="auto">
          <a:xfrm>
            <a:off x="2108200" y="4341813"/>
            <a:ext cx="2317750" cy="1015663"/>
          </a:xfrm>
          <a:prstGeom prst="rect">
            <a:avLst/>
          </a:prstGeom>
          <a:noFill/>
          <a:ln w="19050" algn="ctr">
            <a:solidFill>
              <a:srgbClr val="000066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33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土骨架的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体积压缩</a:t>
            </a:r>
            <a:endParaRPr kumimoji="1" lang="zh-CN" altLang="en-US" sz="20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＝孔隙体积</a:t>
            </a: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的压缩</a:t>
            </a:r>
            <a:endParaRPr kumimoji="1" lang="zh-CN" altLang="en-US" sz="20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＝流出水量</a:t>
            </a:r>
            <a:endParaRPr kumimoji="1" lang="zh-CN" altLang="en-US" sz="20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97510" name="Text Box 70"/>
          <p:cNvSpPr txBox="1">
            <a:spLocks noChangeArrowheads="1"/>
          </p:cNvSpPr>
          <p:nvPr/>
        </p:nvSpPr>
        <p:spPr bwMode="auto">
          <a:xfrm>
            <a:off x="339725" y="4341813"/>
            <a:ext cx="12414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ea typeface="幼圆" pitchFamily="49" charset="-122"/>
              </a:rPr>
              <a:t>连续性条件</a:t>
            </a:r>
            <a:endParaRPr lang="en-US" altLang="zh-CN" sz="2400" b="1">
              <a:ea typeface="幼圆" pitchFamily="49" charset="-122"/>
            </a:endParaRPr>
          </a:p>
        </p:txBody>
      </p:sp>
      <p:sp>
        <p:nvSpPr>
          <p:cNvPr id="1597511" name="AutoShape 71"/>
          <p:cNvSpPr>
            <a:spLocks noChangeArrowheads="1"/>
          </p:cNvSpPr>
          <p:nvPr/>
        </p:nvSpPr>
        <p:spPr bwMode="auto">
          <a:xfrm>
            <a:off x="1519238" y="4592638"/>
            <a:ext cx="509587" cy="428625"/>
          </a:xfrm>
          <a:prstGeom prst="homePlate">
            <a:avLst>
              <a:gd name="adj" fmla="val 29722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97512" name="AutoShape 72"/>
          <p:cNvSpPr>
            <a:spLocks noChangeArrowheads="1"/>
          </p:cNvSpPr>
          <p:nvPr/>
        </p:nvSpPr>
        <p:spPr bwMode="auto">
          <a:xfrm>
            <a:off x="4524375" y="4613275"/>
            <a:ext cx="509588" cy="428625"/>
          </a:xfrm>
          <a:prstGeom prst="homePlate">
            <a:avLst>
              <a:gd name="adj" fmla="val 29722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97513" name="AutoShape 73"/>
          <p:cNvSpPr>
            <a:spLocks noChangeArrowheads="1"/>
          </p:cNvSpPr>
          <p:nvPr/>
        </p:nvSpPr>
        <p:spPr bwMode="auto">
          <a:xfrm>
            <a:off x="7129463" y="4611688"/>
            <a:ext cx="509587" cy="428625"/>
          </a:xfrm>
          <a:prstGeom prst="homePlate">
            <a:avLst>
              <a:gd name="adj" fmla="val 29722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1597514" name="Group 74"/>
          <p:cNvGrpSpPr>
            <a:grpSpLocks/>
          </p:cNvGrpSpPr>
          <p:nvPr/>
        </p:nvGrpSpPr>
        <p:grpSpPr bwMode="auto">
          <a:xfrm>
            <a:off x="2181225" y="1738313"/>
            <a:ext cx="731838" cy="728662"/>
            <a:chOff x="1404" y="1255"/>
            <a:chExt cx="461" cy="459"/>
          </a:xfrm>
        </p:grpSpPr>
        <p:sp>
          <p:nvSpPr>
            <p:cNvPr id="1597515" name="Text Box 75"/>
            <p:cNvSpPr txBox="1">
              <a:spLocks noChangeArrowheads="1"/>
            </p:cNvSpPr>
            <p:nvPr/>
          </p:nvSpPr>
          <p:spPr bwMode="auto">
            <a:xfrm>
              <a:off x="1414" y="1255"/>
              <a:ext cx="2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1" dirty="0">
                  <a:ea typeface="幼圆" pitchFamily="49" charset="-122"/>
                  <a:sym typeface="Symbol" pitchFamily="18" charset="2"/>
                </a:rPr>
                <a:t></a:t>
              </a:r>
              <a:r>
                <a:rPr lang="zh-CN" altLang="en-US" sz="1800" b="1" dirty="0">
                  <a:ea typeface="幼圆" pitchFamily="49" charset="-122"/>
                  <a:sym typeface="Symbol" pitchFamily="18" charset="2"/>
                </a:rPr>
                <a:t></a:t>
              </a:r>
              <a:r>
                <a:rPr lang="en-US" altLang="zh-CN" sz="1800" b="1" baseline="-25000" dirty="0">
                  <a:ea typeface="幼圆" pitchFamily="49" charset="-122"/>
                  <a:sym typeface="Symbol" pitchFamily="18" charset="2"/>
                </a:rPr>
                <a:t>z</a:t>
              </a:r>
              <a:endParaRPr lang="en-US" altLang="zh-CN" sz="1800" b="1" dirty="0"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97516" name="Text Box 76"/>
            <p:cNvSpPr txBox="1">
              <a:spLocks noChangeArrowheads="1"/>
            </p:cNvSpPr>
            <p:nvPr/>
          </p:nvSpPr>
          <p:spPr bwMode="auto">
            <a:xfrm>
              <a:off x="1668" y="148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ea typeface="幼圆" pitchFamily="49" charset="-122"/>
                </a:rPr>
                <a:t>u</a:t>
              </a:r>
            </a:p>
          </p:txBody>
        </p:sp>
        <p:sp>
          <p:nvSpPr>
            <p:cNvPr id="1597517" name="Line 77"/>
            <p:cNvSpPr>
              <a:spLocks noChangeShapeType="1"/>
            </p:cNvSpPr>
            <p:nvPr/>
          </p:nvSpPr>
          <p:spPr bwMode="auto">
            <a:xfrm>
              <a:off x="1404" y="1513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518" name="Line 78"/>
            <p:cNvSpPr>
              <a:spLocks noChangeShapeType="1"/>
            </p:cNvSpPr>
            <p:nvPr/>
          </p:nvSpPr>
          <p:spPr bwMode="auto">
            <a:xfrm>
              <a:off x="1673" y="1513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97520" name="Rectangle 80"/>
          <p:cNvSpPr>
            <a:spLocks noChangeArrowheads="1"/>
          </p:cNvSpPr>
          <p:nvPr/>
        </p:nvSpPr>
        <p:spPr bwMode="auto">
          <a:xfrm>
            <a:off x="3409950" y="5826125"/>
            <a:ext cx="31861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数 学 </a:t>
            </a: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模 型</a:t>
            </a:r>
          </a:p>
        </p:txBody>
      </p:sp>
      <p:sp>
        <p:nvSpPr>
          <p:cNvPr id="7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9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27983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9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597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97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97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97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97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159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59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159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59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159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9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159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9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07" grpId="0" animBg="1"/>
      <p:bldP spid="1597508" grpId="0"/>
      <p:bldP spid="1597509" grpId="0" animBg="1"/>
      <p:bldP spid="1597510" grpId="0"/>
      <p:bldP spid="1597511" grpId="0" animBg="1"/>
      <p:bldP spid="1597512" grpId="0" animBg="1"/>
      <p:bldP spid="1597513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798" name="Text Box 6"/>
          <p:cNvSpPr txBox="1">
            <a:spLocks noChangeArrowheads="1"/>
          </p:cNvSpPr>
          <p:nvPr/>
        </p:nvSpPr>
        <p:spPr bwMode="auto">
          <a:xfrm>
            <a:off x="614363" y="1085850"/>
            <a:ext cx="1870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固体体积：</a:t>
            </a:r>
          </a:p>
        </p:txBody>
      </p:sp>
      <p:graphicFrame>
        <p:nvGraphicFramePr>
          <p:cNvPr id="15697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568490"/>
              </p:ext>
            </p:extLst>
          </p:nvPr>
        </p:nvGraphicFramePr>
        <p:xfrm>
          <a:off x="2349499" y="1049338"/>
          <a:ext cx="2173824" cy="710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880" name="Equation" r:id="rId3" imgW="1358640" imgH="444240" progId="Equation.DSMT4">
                  <p:embed/>
                </p:oleObj>
              </mc:Choice>
              <mc:Fallback>
                <p:oleObj name="Equation" r:id="rId3" imgW="1358640" imgH="444240" progId="Equation.DSMT4">
                  <p:embed/>
                  <p:pic>
                    <p:nvPicPr>
                      <p:cNvPr id="15697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499" y="1049338"/>
                        <a:ext cx="2173824" cy="7107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9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652717"/>
              </p:ext>
            </p:extLst>
          </p:nvPr>
        </p:nvGraphicFramePr>
        <p:xfrm>
          <a:off x="2347913" y="1773238"/>
          <a:ext cx="233838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881" name="Equation" r:id="rId5" imgW="1460160" imgH="444240" progId="Equation.DSMT4">
                  <p:embed/>
                </p:oleObj>
              </mc:Choice>
              <mc:Fallback>
                <p:oleObj name="Equation" r:id="rId5" imgW="1460160" imgH="444240" progId="Equation.DSMT4">
                  <p:embed/>
                  <p:pic>
                    <p:nvPicPr>
                      <p:cNvPr id="15698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913" y="1773238"/>
                        <a:ext cx="2338387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9801" name="Text Box 9"/>
          <p:cNvSpPr txBox="1">
            <a:spLocks noChangeArrowheads="1"/>
          </p:cNvSpPr>
          <p:nvPr/>
        </p:nvSpPr>
        <p:spPr bwMode="auto">
          <a:xfrm>
            <a:off x="611188" y="1844675"/>
            <a:ext cx="1873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孔隙体积：</a:t>
            </a:r>
          </a:p>
        </p:txBody>
      </p:sp>
      <p:sp>
        <p:nvSpPr>
          <p:cNvPr id="1569802" name="Rectangle 10"/>
          <p:cNvSpPr>
            <a:spLocks noChangeArrowheads="1"/>
          </p:cNvSpPr>
          <p:nvPr/>
        </p:nvSpPr>
        <p:spPr bwMode="auto">
          <a:xfrm>
            <a:off x="611187" y="2852738"/>
            <a:ext cx="1747837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d</a:t>
            </a:r>
            <a:r>
              <a:rPr kumimoji="1" lang="en-US" altLang="zh-CN" sz="2400" b="1" i="1" dirty="0" err="1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en-US" altLang="zh-CN" sz="24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时段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内：</a:t>
            </a:r>
          </a:p>
        </p:txBody>
      </p:sp>
      <p:sp>
        <p:nvSpPr>
          <p:cNvPr id="1569803" name="Text Box 11"/>
          <p:cNvSpPr txBox="1">
            <a:spLocks noChangeArrowheads="1"/>
          </p:cNvSpPr>
          <p:nvPr/>
        </p:nvSpPr>
        <p:spPr bwMode="auto">
          <a:xfrm>
            <a:off x="2374900" y="2932113"/>
            <a:ext cx="3673475" cy="40011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kumimoji="1" lang="zh-CN" altLang="en-US" sz="2000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孔隙体积</a:t>
            </a:r>
            <a:r>
              <a:rPr kumimoji="1" lang="zh-CN" altLang="en-US" sz="2000" b="1" dirty="0" smtClean="0">
                <a:solidFill>
                  <a:schemeClr val="bg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的压缩＝</a:t>
            </a:r>
            <a:r>
              <a:rPr kumimoji="1" lang="zh-CN" altLang="en-US" sz="2000" b="1" dirty="0">
                <a:solidFill>
                  <a:schemeClr val="bg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流出的水量</a:t>
            </a:r>
          </a:p>
        </p:txBody>
      </p:sp>
      <p:graphicFrame>
        <p:nvGraphicFramePr>
          <p:cNvPr id="15698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267060"/>
              </p:ext>
            </p:extLst>
          </p:nvPr>
        </p:nvGraphicFramePr>
        <p:xfrm>
          <a:off x="2227263" y="3640138"/>
          <a:ext cx="4084637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882" name="Equation" r:id="rId7" imgW="2552400" imgH="457200" progId="Equation.DSMT4">
                  <p:embed/>
                </p:oleObj>
              </mc:Choice>
              <mc:Fallback>
                <p:oleObj name="Equation" r:id="rId7" imgW="2552400" imgH="457200" progId="Equation.DSMT4">
                  <p:embed/>
                  <p:pic>
                    <p:nvPicPr>
                      <p:cNvPr id="156980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3" y="3640138"/>
                        <a:ext cx="4084637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98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195041"/>
              </p:ext>
            </p:extLst>
          </p:nvPr>
        </p:nvGraphicFramePr>
        <p:xfrm>
          <a:off x="2295525" y="4584700"/>
          <a:ext cx="158591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883" name="Equation" r:id="rId9" imgW="990360" imgH="444240" progId="Equation.DSMT4">
                  <p:embed/>
                </p:oleObj>
              </mc:Choice>
              <mc:Fallback>
                <p:oleObj name="Equation" r:id="rId9" imgW="990360" imgH="444240" progId="Equation.DSMT4">
                  <p:embed/>
                  <p:pic>
                    <p:nvPicPr>
                      <p:cNvPr id="156980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4584700"/>
                        <a:ext cx="158591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69806" name="Group 14"/>
          <p:cNvGrpSpPr>
            <a:grpSpLocks/>
          </p:cNvGrpSpPr>
          <p:nvPr/>
        </p:nvGrpSpPr>
        <p:grpSpPr bwMode="auto">
          <a:xfrm>
            <a:off x="5897565" y="847725"/>
            <a:ext cx="2671763" cy="1819276"/>
            <a:chOff x="3715" y="534"/>
            <a:chExt cx="1683" cy="1146"/>
          </a:xfrm>
        </p:grpSpPr>
        <p:grpSp>
          <p:nvGrpSpPr>
            <p:cNvPr id="1569807" name="Group 15"/>
            <p:cNvGrpSpPr>
              <a:grpSpLocks/>
            </p:cNvGrpSpPr>
            <p:nvPr/>
          </p:nvGrpSpPr>
          <p:grpSpPr bwMode="auto">
            <a:xfrm>
              <a:off x="3987" y="534"/>
              <a:ext cx="1411" cy="1146"/>
              <a:chOff x="3987" y="534"/>
              <a:chExt cx="1411" cy="1146"/>
            </a:xfrm>
          </p:grpSpPr>
          <p:sp>
            <p:nvSpPr>
              <p:cNvPr id="1569808" name="Line 16"/>
              <p:cNvSpPr>
                <a:spLocks noChangeShapeType="1"/>
              </p:cNvSpPr>
              <p:nvPr/>
            </p:nvSpPr>
            <p:spPr bwMode="auto">
              <a:xfrm flipV="1">
                <a:off x="4493" y="1211"/>
                <a:ext cx="0" cy="240"/>
              </a:xfrm>
              <a:prstGeom prst="line">
                <a:avLst/>
              </a:prstGeom>
              <a:noFill/>
              <a:ln w="4127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569809" name="Object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9659733"/>
                  </p:ext>
                </p:extLst>
              </p:nvPr>
            </p:nvGraphicFramePr>
            <p:xfrm>
              <a:off x="4689" y="1225"/>
              <a:ext cx="709" cy="4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11884" name="Equation" r:id="rId11" imgW="622080" imgH="406080" progId="Equation.DSMT4">
                      <p:embed/>
                    </p:oleObj>
                  </mc:Choice>
                  <mc:Fallback>
                    <p:oleObj name="Equation" r:id="rId11" imgW="622080" imgH="406080" progId="Equation.DSMT4">
                      <p:embed/>
                      <p:pic>
                        <p:nvPicPr>
                          <p:cNvPr id="1569809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89" y="1225"/>
                            <a:ext cx="709" cy="4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99CC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69810" name="AutoShape 18"/>
              <p:cNvSpPr>
                <a:spLocks noChangeArrowheads="1"/>
              </p:cNvSpPr>
              <p:nvPr/>
            </p:nvSpPr>
            <p:spPr bwMode="auto">
              <a:xfrm>
                <a:off x="4061" y="779"/>
                <a:ext cx="912" cy="432"/>
              </a:xfrm>
              <a:prstGeom prst="cube">
                <a:avLst>
                  <a:gd name="adj" fmla="val 43981"/>
                </a:avLst>
              </a:prstGeom>
              <a:solidFill>
                <a:srgbClr val="CCFFCC"/>
              </a:solidFill>
              <a:ln w="19050">
                <a:solidFill>
                  <a:srgbClr val="00006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9811" name="Line 19"/>
              <p:cNvSpPr>
                <a:spLocks noChangeShapeType="1"/>
              </p:cNvSpPr>
              <p:nvPr/>
            </p:nvSpPr>
            <p:spPr bwMode="auto">
              <a:xfrm>
                <a:off x="5031" y="779"/>
                <a:ext cx="1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9812" name="Line 20"/>
              <p:cNvSpPr>
                <a:spLocks noChangeShapeType="1"/>
              </p:cNvSpPr>
              <p:nvPr/>
            </p:nvSpPr>
            <p:spPr bwMode="auto">
              <a:xfrm>
                <a:off x="5024" y="1019"/>
                <a:ext cx="1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69813" name="Line 21"/>
              <p:cNvSpPr>
                <a:spLocks noChangeShapeType="1"/>
              </p:cNvSpPr>
              <p:nvPr/>
            </p:nvSpPr>
            <p:spPr bwMode="auto">
              <a:xfrm flipV="1">
                <a:off x="4493" y="628"/>
                <a:ext cx="0" cy="240"/>
              </a:xfrm>
              <a:prstGeom prst="line">
                <a:avLst/>
              </a:prstGeom>
              <a:noFill/>
              <a:ln w="41275">
                <a:solidFill>
                  <a:srgbClr val="00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graphicFrame>
            <p:nvGraphicFramePr>
              <p:cNvPr id="1569814" name="Object 22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618" y="534"/>
              <a:ext cx="145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11885" name="Equation" r:id="rId13" imgW="126720" imgH="164880" progId="Equation.DSMT4">
                      <p:embed/>
                    </p:oleObj>
                  </mc:Choice>
                  <mc:Fallback>
                    <p:oleObj name="Equation" r:id="rId13" imgW="126720" imgH="164880" progId="Equation.DSMT4">
                      <p:embed/>
                      <p:pic>
                        <p:nvPicPr>
                          <p:cNvPr id="1569814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18" y="534"/>
                            <a:ext cx="145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99CC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69815" name="Line 23"/>
              <p:cNvSpPr>
                <a:spLocks noChangeShapeType="1"/>
              </p:cNvSpPr>
              <p:nvPr/>
            </p:nvSpPr>
            <p:spPr bwMode="auto">
              <a:xfrm>
                <a:off x="5097" y="784"/>
                <a:ext cx="0" cy="2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9816" name="Text Box 24"/>
              <p:cNvSpPr txBox="1">
                <a:spLocks noChangeArrowheads="1"/>
              </p:cNvSpPr>
              <p:nvPr/>
            </p:nvSpPr>
            <p:spPr bwMode="auto">
              <a:xfrm>
                <a:off x="5090" y="774"/>
                <a:ext cx="278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dirty="0" err="1">
                    <a:ea typeface="幼圆" pitchFamily="49" charset="-122"/>
                  </a:rPr>
                  <a:t>dz</a:t>
                </a:r>
                <a:endParaRPr lang="en-US" altLang="zh-CN" sz="2000" b="1" dirty="0">
                  <a:ea typeface="幼圆" pitchFamily="49" charset="-122"/>
                </a:endParaRPr>
              </a:p>
            </p:txBody>
          </p:sp>
          <p:sp>
            <p:nvSpPr>
              <p:cNvPr id="1569817" name="Text Box 25"/>
              <p:cNvSpPr txBox="1">
                <a:spLocks noChangeArrowheads="1"/>
              </p:cNvSpPr>
              <p:nvPr/>
            </p:nvSpPr>
            <p:spPr bwMode="auto">
              <a:xfrm>
                <a:off x="3987" y="688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ea typeface="幼圆" pitchFamily="49" charset="-122"/>
                  </a:rPr>
                  <a:t>1</a:t>
                </a:r>
              </a:p>
            </p:txBody>
          </p:sp>
          <p:sp>
            <p:nvSpPr>
              <p:cNvPr id="1569818" name="Text Box 26"/>
              <p:cNvSpPr txBox="1">
                <a:spLocks noChangeArrowheads="1"/>
              </p:cNvSpPr>
              <p:nvPr/>
            </p:nvSpPr>
            <p:spPr bwMode="auto">
              <a:xfrm>
                <a:off x="4334" y="918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ea typeface="幼圆" pitchFamily="49" charset="-122"/>
                  </a:rPr>
                  <a:t>1</a:t>
                </a:r>
              </a:p>
            </p:txBody>
          </p:sp>
        </p:grpSp>
        <p:sp>
          <p:nvSpPr>
            <p:cNvPr id="1569819" name="Line 27"/>
            <p:cNvSpPr>
              <a:spLocks noChangeShapeType="1"/>
            </p:cNvSpPr>
            <p:nvPr/>
          </p:nvSpPr>
          <p:spPr bwMode="auto">
            <a:xfrm>
              <a:off x="3792" y="567"/>
              <a:ext cx="0" cy="5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9820" name="Text Box 28"/>
            <p:cNvSpPr txBox="1">
              <a:spLocks noChangeArrowheads="1"/>
            </p:cNvSpPr>
            <p:nvPr/>
          </p:nvSpPr>
          <p:spPr bwMode="auto">
            <a:xfrm>
              <a:off x="3715" y="1044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ea typeface="幼圆" pitchFamily="49" charset="-122"/>
                </a:rPr>
                <a:t>z</a:t>
              </a:r>
            </a:p>
          </p:txBody>
        </p:sp>
      </p:grpSp>
      <p:sp>
        <p:nvSpPr>
          <p:cNvPr id="1569822" name="Rectangle 30"/>
          <p:cNvSpPr>
            <a:spLocks noChangeArrowheads="1"/>
          </p:cNvSpPr>
          <p:nvPr/>
        </p:nvSpPr>
        <p:spPr bwMode="auto">
          <a:xfrm>
            <a:off x="3409950" y="5795963"/>
            <a:ext cx="31861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数 学 </a:t>
            </a: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模 型</a:t>
            </a:r>
          </a:p>
        </p:txBody>
      </p:sp>
      <p:sp>
        <p:nvSpPr>
          <p:cNvPr id="2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2336495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69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6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6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6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6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69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69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69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500"/>
                                        <p:tgtEl>
                                          <p:spTgt spid="1569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9798" grpId="0"/>
      <p:bldP spid="1569801" grpId="0"/>
      <p:bldP spid="1569802" grpId="0" build="p" autoUpdateAnimBg="0"/>
      <p:bldP spid="1569803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666" name="Text Box 122"/>
          <p:cNvSpPr txBox="1">
            <a:spLocks noChangeArrowheads="1"/>
          </p:cNvSpPr>
          <p:nvPr/>
        </p:nvSpPr>
        <p:spPr bwMode="auto">
          <a:xfrm>
            <a:off x="546100" y="850900"/>
            <a:ext cx="3673475" cy="396875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FFFF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孔隙体积</a:t>
            </a:r>
            <a:r>
              <a:rPr kumimoji="1" lang="zh-CN" altLang="en-US" sz="2000" b="1" dirty="0" smtClean="0">
                <a:solidFill>
                  <a:srgbClr val="FFFFFF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的压缩＝</a:t>
            </a:r>
            <a:r>
              <a:rPr kumimoji="1" lang="zh-CN" altLang="en-US" sz="2000" b="1" dirty="0">
                <a:solidFill>
                  <a:srgbClr val="FFFFFF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流出的水量</a:t>
            </a:r>
          </a:p>
        </p:txBody>
      </p:sp>
      <p:graphicFrame>
        <p:nvGraphicFramePr>
          <p:cNvPr id="1388667" name="Object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186318"/>
              </p:ext>
            </p:extLst>
          </p:nvPr>
        </p:nvGraphicFramePr>
        <p:xfrm>
          <a:off x="4738688" y="608013"/>
          <a:ext cx="1951037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921" name="Equation" r:id="rId3" imgW="990360" imgH="444240" progId="Equation.DSMT4">
                  <p:embed/>
                </p:oleObj>
              </mc:Choice>
              <mc:Fallback>
                <p:oleObj name="Equation" r:id="rId3" imgW="990360" imgH="444240" progId="Equation.DSMT4">
                  <p:embed/>
                  <p:pic>
                    <p:nvPicPr>
                      <p:cNvPr id="1388667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8688" y="608013"/>
                        <a:ext cx="1951037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8668" name="Object 1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931512"/>
              </p:ext>
            </p:extLst>
          </p:nvPr>
        </p:nvGraphicFramePr>
        <p:xfrm>
          <a:off x="2193925" y="1619250"/>
          <a:ext cx="35655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922" name="Equation" r:id="rId5" imgW="1981080" imgH="444240" progId="Equation.DSMT4">
                  <p:embed/>
                </p:oleObj>
              </mc:Choice>
              <mc:Fallback>
                <p:oleObj name="Equation" r:id="rId5" imgW="1981080" imgH="444240" progId="Equation.DSMT4">
                  <p:embed/>
                  <p:pic>
                    <p:nvPicPr>
                      <p:cNvPr id="1388668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1619250"/>
                        <a:ext cx="35655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8669" name="Object 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358884"/>
              </p:ext>
            </p:extLst>
          </p:nvPr>
        </p:nvGraphicFramePr>
        <p:xfrm>
          <a:off x="1471613" y="4484688"/>
          <a:ext cx="2400192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923" name="Equation" r:id="rId7" imgW="1333440" imgH="457200" progId="Equation.DSMT4">
                  <p:embed/>
                </p:oleObj>
              </mc:Choice>
              <mc:Fallback>
                <p:oleObj name="Equation" r:id="rId7" imgW="1333440" imgH="457200" progId="Equation.DSMT4">
                  <p:embed/>
                  <p:pic>
                    <p:nvPicPr>
                      <p:cNvPr id="1388669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13" y="4484688"/>
                        <a:ext cx="2400192" cy="822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8670" name="Object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270262"/>
              </p:ext>
            </p:extLst>
          </p:nvPr>
        </p:nvGraphicFramePr>
        <p:xfrm>
          <a:off x="4832350" y="4518025"/>
          <a:ext cx="2217738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924" name="Equation" r:id="rId9" imgW="1231560" imgH="469800" progId="Equation.DSMT4">
                  <p:embed/>
                </p:oleObj>
              </mc:Choice>
              <mc:Fallback>
                <p:oleObj name="Equation" r:id="rId9" imgW="1231560" imgH="469800" progId="Equation.DSMT4">
                  <p:embed/>
                  <p:pic>
                    <p:nvPicPr>
                      <p:cNvPr id="1388670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2350" y="4518025"/>
                        <a:ext cx="2217738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8671" name="Object 127"/>
          <p:cNvGraphicFramePr>
            <a:graphicFrameLocks noChangeAspect="1"/>
          </p:cNvGraphicFramePr>
          <p:nvPr>
            <p:extLst/>
          </p:nvPr>
        </p:nvGraphicFramePr>
        <p:xfrm>
          <a:off x="4760913" y="3402013"/>
          <a:ext cx="4068792" cy="730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2925" name="Equation" r:id="rId11" imgW="2260440" imgH="406080" progId="Equation.DSMT4">
                  <p:embed/>
                </p:oleObj>
              </mc:Choice>
              <mc:Fallback>
                <p:oleObj name="Equation" r:id="rId11" imgW="2260440" imgH="406080" progId="Equation.DSMT4">
                  <p:embed/>
                  <p:pic>
                    <p:nvPicPr>
                      <p:cNvPr id="1388671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0913" y="3402013"/>
                        <a:ext cx="4068792" cy="730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8672" name="Text Box 128"/>
          <p:cNvSpPr txBox="1">
            <a:spLocks noChangeArrowheads="1"/>
          </p:cNvSpPr>
          <p:nvPr/>
        </p:nvSpPr>
        <p:spPr bwMode="auto">
          <a:xfrm>
            <a:off x="752475" y="1784350"/>
            <a:ext cx="1406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达西定律</a:t>
            </a:r>
            <a:r>
              <a:rPr kumimoji="1" lang="en-US" altLang="zh-CN" sz="20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:</a:t>
            </a:r>
          </a:p>
        </p:txBody>
      </p:sp>
      <p:grpSp>
        <p:nvGrpSpPr>
          <p:cNvPr id="1388673" name="Group 129"/>
          <p:cNvGrpSpPr>
            <a:grpSpLocks/>
          </p:cNvGrpSpPr>
          <p:nvPr/>
        </p:nvGrpSpPr>
        <p:grpSpPr bwMode="auto">
          <a:xfrm>
            <a:off x="487363" y="3252788"/>
            <a:ext cx="3455987" cy="1028700"/>
            <a:chOff x="181" y="2189"/>
            <a:chExt cx="2177" cy="648"/>
          </a:xfrm>
        </p:grpSpPr>
        <p:sp>
          <p:nvSpPr>
            <p:cNvPr id="1388674" name="Text Box 130"/>
            <p:cNvSpPr txBox="1">
              <a:spLocks noChangeArrowheads="1"/>
            </p:cNvSpPr>
            <p:nvPr/>
          </p:nvSpPr>
          <p:spPr bwMode="auto">
            <a:xfrm>
              <a:off x="317" y="2189"/>
              <a:ext cx="113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土的压缩性：</a:t>
              </a:r>
            </a:p>
          </p:txBody>
        </p:sp>
        <p:graphicFrame>
          <p:nvGraphicFramePr>
            <p:cNvPr id="1388675" name="Object 1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90497336"/>
                </p:ext>
              </p:extLst>
            </p:nvPr>
          </p:nvGraphicFramePr>
          <p:xfrm>
            <a:off x="1329" y="2208"/>
            <a:ext cx="893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2926" name="Equation" r:id="rId13" imgW="787320" imgH="228600" progId="Equation.DSMT4">
                    <p:embed/>
                  </p:oleObj>
                </mc:Choice>
                <mc:Fallback>
                  <p:oleObj name="Equation" r:id="rId13" imgW="787320" imgH="228600" progId="Equation.DSMT4">
                    <p:embed/>
                    <p:pic>
                      <p:nvPicPr>
                        <p:cNvPr id="1388675" name="Object 1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9" y="2208"/>
                          <a:ext cx="893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8676" name="Text Box 132"/>
            <p:cNvSpPr txBox="1">
              <a:spLocks noChangeArrowheads="1"/>
            </p:cNvSpPr>
            <p:nvPr/>
          </p:nvSpPr>
          <p:spPr bwMode="auto">
            <a:xfrm>
              <a:off x="181" y="2578"/>
              <a:ext cx="124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有效应力原理：</a:t>
              </a:r>
            </a:p>
          </p:txBody>
        </p:sp>
        <p:graphicFrame>
          <p:nvGraphicFramePr>
            <p:cNvPr id="1388677" name="Object 1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7540312"/>
                </p:ext>
              </p:extLst>
            </p:nvPr>
          </p:nvGraphicFramePr>
          <p:xfrm>
            <a:off x="1382" y="2578"/>
            <a:ext cx="84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2927" name="Equation" r:id="rId15" imgW="749160" imgH="228600" progId="Equation.DSMT4">
                    <p:embed/>
                  </p:oleObj>
                </mc:Choice>
                <mc:Fallback>
                  <p:oleObj name="Equation" r:id="rId15" imgW="749160" imgH="228600" progId="Equation.DSMT4">
                    <p:embed/>
                    <p:pic>
                      <p:nvPicPr>
                        <p:cNvPr id="1388677" name="Object 1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2" y="2578"/>
                          <a:ext cx="84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8678" name="AutoShape 134"/>
            <p:cNvSpPr>
              <a:spLocks/>
            </p:cNvSpPr>
            <p:nvPr/>
          </p:nvSpPr>
          <p:spPr bwMode="auto">
            <a:xfrm>
              <a:off x="2267" y="2265"/>
              <a:ext cx="91" cy="499"/>
            </a:xfrm>
            <a:prstGeom prst="rightBrace">
              <a:avLst>
                <a:gd name="adj1" fmla="val 45696"/>
                <a:gd name="adj2" fmla="val 50000"/>
              </a:avLst>
            </a:prstGeom>
            <a:noFill/>
            <a:ln w="38100">
              <a:solidFill>
                <a:srgbClr val="66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88679" name="Text Box 135"/>
          <p:cNvSpPr txBox="1">
            <a:spLocks noChangeArrowheads="1"/>
          </p:cNvSpPr>
          <p:nvPr/>
        </p:nvSpPr>
        <p:spPr bwMode="auto">
          <a:xfrm>
            <a:off x="538163" y="2640013"/>
            <a:ext cx="4549775" cy="396875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FFFF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孔隙体积的变化＝土骨架的体积变化</a:t>
            </a:r>
          </a:p>
        </p:txBody>
      </p:sp>
      <p:sp>
        <p:nvSpPr>
          <p:cNvPr id="1388680" name="AutoShape 136"/>
          <p:cNvSpPr>
            <a:spLocks noChangeArrowheads="1"/>
          </p:cNvSpPr>
          <p:nvPr/>
        </p:nvSpPr>
        <p:spPr bwMode="auto">
          <a:xfrm>
            <a:off x="4106863" y="3535363"/>
            <a:ext cx="509587" cy="428625"/>
          </a:xfrm>
          <a:prstGeom prst="homePlate">
            <a:avLst>
              <a:gd name="adj" fmla="val 2972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388681" name="AutoShape 137"/>
          <p:cNvSpPr>
            <a:spLocks noChangeArrowheads="1"/>
          </p:cNvSpPr>
          <p:nvPr/>
        </p:nvSpPr>
        <p:spPr bwMode="auto">
          <a:xfrm>
            <a:off x="4100513" y="4692650"/>
            <a:ext cx="509587" cy="428625"/>
          </a:xfrm>
          <a:prstGeom prst="homePlate">
            <a:avLst>
              <a:gd name="adj" fmla="val 29722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388682" name="Text Box 138"/>
          <p:cNvSpPr txBox="1">
            <a:spLocks noChangeArrowheads="1"/>
          </p:cNvSpPr>
          <p:nvPr/>
        </p:nvSpPr>
        <p:spPr bwMode="auto">
          <a:xfrm>
            <a:off x="6584950" y="1827213"/>
            <a:ext cx="1833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>
                <a:solidFill>
                  <a:srgbClr val="A50021"/>
                </a:solidFill>
                <a:ea typeface="幼圆" pitchFamily="49" charset="-122"/>
              </a:rPr>
              <a:t>u</a:t>
            </a:r>
            <a:r>
              <a:rPr lang="en-US" altLang="zh-CN" sz="2400" b="1" dirty="0">
                <a:solidFill>
                  <a:srgbClr val="A50021"/>
                </a:solidFill>
                <a:ea typeface="幼圆" pitchFamily="49" charset="-122"/>
              </a:rPr>
              <a:t> - </a:t>
            </a:r>
            <a:r>
              <a:rPr lang="zh-CN" altLang="en-US" sz="2400" b="1" dirty="0">
                <a:solidFill>
                  <a:srgbClr val="A50021"/>
                </a:solidFill>
                <a:ea typeface="幼圆" pitchFamily="49" charset="-122"/>
              </a:rPr>
              <a:t>超静孔压</a:t>
            </a:r>
            <a:endParaRPr lang="en-US" altLang="zh-CN" sz="2400" b="1" dirty="0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388684" name="Rectangle 140"/>
          <p:cNvSpPr>
            <a:spLocks noChangeArrowheads="1"/>
          </p:cNvSpPr>
          <p:nvPr/>
        </p:nvSpPr>
        <p:spPr bwMode="auto">
          <a:xfrm>
            <a:off x="3409950" y="5795963"/>
            <a:ext cx="31861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数 学 </a:t>
            </a: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模 型</a:t>
            </a:r>
          </a:p>
        </p:txBody>
      </p:sp>
      <p:sp>
        <p:nvSpPr>
          <p:cNvPr id="2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864416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138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88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8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138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8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38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38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138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88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138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138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8666" grpId="0" animBg="1"/>
      <p:bldP spid="1388672" grpId="0"/>
      <p:bldP spid="1388679" grpId="0" animBg="1"/>
      <p:bldP spid="1388680" grpId="0" animBg="1"/>
      <p:bldP spid="1388681" grpId="0" animBg="1"/>
      <p:bldP spid="138868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821" name="Text Box 5"/>
          <p:cNvSpPr txBox="1">
            <a:spLocks noChangeArrowheads="1"/>
          </p:cNvSpPr>
          <p:nvPr/>
        </p:nvSpPr>
        <p:spPr bwMode="auto">
          <a:xfrm>
            <a:off x="769938" y="3608388"/>
            <a:ext cx="801052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>
                <a:srgbClr val="A50021"/>
              </a:buClr>
              <a:buSzPct val="80000"/>
              <a:buFont typeface="Wingdings" pitchFamily="2" charset="2"/>
              <a:buChar char="u"/>
            </a:pPr>
            <a:r>
              <a:rPr lang="en-US" altLang="zh-CN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反映土的固结特性：孔压消散的快慢－固结速度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>
                <a:srgbClr val="A50021"/>
              </a:buClr>
              <a:buSzPct val="80000"/>
              <a:buFont typeface="Wingdings" pitchFamily="2" charset="2"/>
              <a:buChar char="u"/>
            </a:pPr>
            <a:r>
              <a:rPr lang="en-US" altLang="zh-CN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与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渗透系数 </a:t>
            </a:r>
            <a:r>
              <a:rPr lang="en-US" altLang="zh-CN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 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成正比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，与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压缩系数 </a:t>
            </a:r>
            <a:r>
              <a:rPr lang="en-US" altLang="zh-CN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 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成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反比；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>
                <a:srgbClr val="A50021"/>
              </a:buClr>
              <a:buSzPct val="80000"/>
              <a:buFont typeface="Wingdings" pitchFamily="2" charset="2"/>
              <a:buChar char="u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单位：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cm</a:t>
            </a:r>
            <a:r>
              <a:rPr lang="en-US" altLang="zh-CN" b="1" baseline="30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/s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b="1" baseline="30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/year</a:t>
            </a:r>
            <a:r>
              <a:rPr lang="zh-CN" altLang="en-US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，黏性土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一般在 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10</a:t>
            </a:r>
            <a:r>
              <a:rPr lang="en-US" altLang="zh-CN" b="1" baseline="30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-4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cm</a:t>
            </a:r>
            <a:r>
              <a:rPr lang="en-US" altLang="zh-CN" b="1" baseline="30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/s 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量级</a:t>
            </a:r>
          </a:p>
        </p:txBody>
      </p:sp>
      <p:graphicFrame>
        <p:nvGraphicFramePr>
          <p:cNvPr id="15708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107150"/>
              </p:ext>
            </p:extLst>
          </p:nvPr>
        </p:nvGraphicFramePr>
        <p:xfrm>
          <a:off x="3387725" y="2413000"/>
          <a:ext cx="182880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3877" name="Equation" r:id="rId3" imgW="914400" imgH="444240" progId="Equation.DSMT4">
                  <p:embed/>
                </p:oleObj>
              </mc:Choice>
              <mc:Fallback>
                <p:oleObj name="Equation" r:id="rId3" imgW="914400" imgH="444240" progId="Equation.DSMT4">
                  <p:embed/>
                  <p:pic>
                    <p:nvPicPr>
                      <p:cNvPr id="15708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725" y="2413000"/>
                        <a:ext cx="1828800" cy="888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08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3263710"/>
              </p:ext>
            </p:extLst>
          </p:nvPr>
        </p:nvGraphicFramePr>
        <p:xfrm>
          <a:off x="1293813" y="1071563"/>
          <a:ext cx="2463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3878" name="Equation" r:id="rId5" imgW="1231560" imgH="469800" progId="Equation.DSMT4">
                  <p:embed/>
                </p:oleObj>
              </mc:Choice>
              <mc:Fallback>
                <p:oleObj name="Equation" r:id="rId5" imgW="1231560" imgH="469800" progId="Equation.DSMT4">
                  <p:embed/>
                  <p:pic>
                    <p:nvPicPr>
                      <p:cNvPr id="15708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813" y="1071563"/>
                        <a:ext cx="24638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08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276445"/>
              </p:ext>
            </p:extLst>
          </p:nvPr>
        </p:nvGraphicFramePr>
        <p:xfrm>
          <a:off x="5445125" y="1054100"/>
          <a:ext cx="1651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3879" name="Equation" r:id="rId7" imgW="825480" imgH="419040" progId="Equation.DSMT4">
                  <p:embed/>
                </p:oleObj>
              </mc:Choice>
              <mc:Fallback>
                <p:oleObj name="Equation" r:id="rId7" imgW="825480" imgH="419040" progId="Equation.DSMT4">
                  <p:embed/>
                  <p:pic>
                    <p:nvPicPr>
                      <p:cNvPr id="15708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25" y="1054100"/>
                        <a:ext cx="1651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0825" name="Text Box 9"/>
          <p:cNvSpPr txBox="1">
            <a:spLocks noChangeArrowheads="1"/>
          </p:cNvSpPr>
          <p:nvPr/>
        </p:nvSpPr>
        <p:spPr bwMode="auto">
          <a:xfrm>
            <a:off x="1290638" y="2609850"/>
            <a:ext cx="1958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</a:rPr>
              <a:t> 固结系数</a:t>
            </a:r>
            <a:r>
              <a:rPr kumimoji="1" lang="en-US" altLang="zh-CN" sz="2400" b="1">
                <a:solidFill>
                  <a:srgbClr val="A50021"/>
                </a:solidFill>
                <a:ea typeface="幼圆" pitchFamily="49" charset="-122"/>
              </a:rPr>
              <a:t>:</a:t>
            </a:r>
          </a:p>
        </p:txBody>
      </p:sp>
      <p:sp>
        <p:nvSpPr>
          <p:cNvPr id="1570826" name="AutoShape 10"/>
          <p:cNvSpPr>
            <a:spLocks noChangeArrowheads="1"/>
          </p:cNvSpPr>
          <p:nvPr/>
        </p:nvSpPr>
        <p:spPr bwMode="auto">
          <a:xfrm>
            <a:off x="4422775" y="1296988"/>
            <a:ext cx="555625" cy="488950"/>
          </a:xfrm>
          <a:prstGeom prst="homePlate">
            <a:avLst>
              <a:gd name="adj" fmla="val 28409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70828" name="Rectangle 12"/>
          <p:cNvSpPr>
            <a:spLocks noChangeArrowheads="1"/>
          </p:cNvSpPr>
          <p:nvPr/>
        </p:nvSpPr>
        <p:spPr bwMode="auto">
          <a:xfrm>
            <a:off x="3409950" y="5795963"/>
            <a:ext cx="31861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</a:rPr>
              <a:t>数 学 </a:t>
            </a:r>
            <a:r>
              <a:rPr kumimoji="1" lang="zh-CN" altLang="en-US" sz="4000" b="1">
                <a:solidFill>
                  <a:srgbClr val="000066"/>
                </a:solidFill>
                <a:ea typeface="黑体" pitchFamily="2" charset="-122"/>
                <a:sym typeface="Symbol" pitchFamily="18" charset="2"/>
              </a:rPr>
              <a:t>模 型</a:t>
            </a:r>
          </a:p>
        </p:txBody>
      </p:sp>
      <p:sp>
        <p:nvSpPr>
          <p:cNvPr id="1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903083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0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57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157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570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70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157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70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70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70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0821" grpId="0" build="p"/>
      <p:bldP spid="1570825" grpId="0"/>
      <p:bldP spid="1570826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844" name="Rectangle 4"/>
          <p:cNvSpPr>
            <a:spLocks noChangeArrowheads="1"/>
          </p:cNvSpPr>
          <p:nvPr/>
        </p:nvSpPr>
        <p:spPr bwMode="auto">
          <a:xfrm>
            <a:off x="2432050" y="5695950"/>
            <a:ext cx="53641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方程求解 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- 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解题思路</a:t>
            </a:r>
            <a:endParaRPr kumimoji="1" lang="en-US" altLang="zh-CN" sz="4000" b="1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graphicFrame>
        <p:nvGraphicFramePr>
          <p:cNvPr id="1571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69916"/>
              </p:ext>
            </p:extLst>
          </p:nvPr>
        </p:nvGraphicFramePr>
        <p:xfrm>
          <a:off x="4152900" y="928688"/>
          <a:ext cx="19050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1986" name="Equation" r:id="rId3" imgW="825480" imgH="419040" progId="Equation.DSMT4">
                  <p:embed/>
                </p:oleObj>
              </mc:Choice>
              <mc:Fallback>
                <p:oleObj name="Equation" r:id="rId3" imgW="825480" imgH="419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928688"/>
                        <a:ext cx="190500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1846" name="Rectangle 6"/>
          <p:cNvSpPr>
            <a:spLocks noChangeArrowheads="1"/>
          </p:cNvSpPr>
          <p:nvPr/>
        </p:nvSpPr>
        <p:spPr bwMode="auto">
          <a:xfrm>
            <a:off x="1082675" y="2032000"/>
            <a:ext cx="7661275" cy="342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74638" indent="-274638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1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反映了超静孔压的消散速度与孔压沿竖向的分布有关</a:t>
            </a:r>
          </a:p>
          <a:p>
            <a:pPr marL="274638" indent="-274638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1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是一线性齐次抛物型偏微分方程式，与热传导扩散方程形式上完全相同，一般可用分离变量方法求解</a:t>
            </a:r>
          </a:p>
          <a:p>
            <a:pPr marL="274638" indent="-274638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1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其一般解的形式为：</a:t>
            </a:r>
          </a:p>
          <a:p>
            <a:pPr marL="274638" indent="-274638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endParaRPr lang="zh-CN" altLang="en-US" sz="21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274638" indent="-274638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endParaRPr lang="zh-CN" altLang="en-US" sz="21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274638" indent="-274638">
              <a:lnSpc>
                <a:spcPct val="125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1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只要给出定解条件，求解渗透固结方程，可</a:t>
            </a:r>
            <a:r>
              <a:rPr lang="zh-CN" altLang="en-US" sz="21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得出 </a:t>
            </a:r>
            <a:r>
              <a:rPr lang="en-US" altLang="zh-CN" sz="21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lang="en-US" altLang="zh-CN" sz="21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(</a:t>
            </a:r>
            <a:r>
              <a:rPr lang="en-US" altLang="zh-CN" sz="2100" b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z,</a:t>
            </a:r>
            <a:r>
              <a:rPr lang="en-US" altLang="zh-CN" sz="21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lang="en-US" altLang="zh-CN" sz="21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</a:p>
        </p:txBody>
      </p:sp>
      <p:graphicFrame>
        <p:nvGraphicFramePr>
          <p:cNvPr id="15718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866900"/>
              </p:ext>
            </p:extLst>
          </p:nvPr>
        </p:nvGraphicFramePr>
        <p:xfrm>
          <a:off x="3532188" y="3965575"/>
          <a:ext cx="46799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1987" name="Equation" r:id="rId5" imgW="2171520" imgH="241200" progId="Equation.DSMT4">
                  <p:embed/>
                </p:oleObj>
              </mc:Choice>
              <mc:Fallback>
                <p:oleObj name="Equation" r:id="rId5" imgW="217152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2188" y="3965575"/>
                        <a:ext cx="4679950" cy="5175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25400">
                        <a:solidFill>
                          <a:srgbClr val="C00000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1848" name="Rectangle 8"/>
          <p:cNvSpPr>
            <a:spLocks noChangeArrowheads="1"/>
          </p:cNvSpPr>
          <p:nvPr/>
        </p:nvSpPr>
        <p:spPr bwMode="auto">
          <a:xfrm>
            <a:off x="563563" y="1135063"/>
            <a:ext cx="430053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5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渗透固结微分方程：</a:t>
            </a:r>
          </a:p>
        </p:txBody>
      </p:sp>
      <p:sp>
        <p:nvSpPr>
          <p:cNvPr id="8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1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71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71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157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571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571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571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1571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1571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1571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15718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15718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15718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7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80"/>
                                        <p:tgtEl>
                                          <p:spTgt spid="1571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80"/>
                                        <p:tgtEl>
                                          <p:spTgt spid="1571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80"/>
                                        <p:tgtEl>
                                          <p:spTgt spid="15718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1844" grpId="0" build="p" autoUpdateAnimBg="0" advAuto="0"/>
      <p:bldP spid="1571848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2870" name="Group 6"/>
          <p:cNvGrpSpPr>
            <a:grpSpLocks/>
          </p:cNvGrpSpPr>
          <p:nvPr/>
        </p:nvGrpSpPr>
        <p:grpSpPr bwMode="auto">
          <a:xfrm>
            <a:off x="403225" y="790575"/>
            <a:ext cx="3427413" cy="4284663"/>
            <a:chOff x="224" y="708"/>
            <a:chExt cx="2159" cy="2699"/>
          </a:xfrm>
        </p:grpSpPr>
        <p:sp>
          <p:nvSpPr>
            <p:cNvPr id="1572871" name="Rectangle 7"/>
            <p:cNvSpPr>
              <a:spLocks noChangeArrowheads="1"/>
            </p:cNvSpPr>
            <p:nvPr/>
          </p:nvSpPr>
          <p:spPr bwMode="auto">
            <a:xfrm>
              <a:off x="335" y="1172"/>
              <a:ext cx="1814" cy="1037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2872" name="Rectangle 8"/>
            <p:cNvSpPr>
              <a:spLocks noChangeArrowheads="1"/>
            </p:cNvSpPr>
            <p:nvPr/>
          </p:nvSpPr>
          <p:spPr bwMode="auto">
            <a:xfrm>
              <a:off x="959" y="1167"/>
              <a:ext cx="471" cy="103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2873" name="Freeform 9" descr="浅色横线"/>
            <p:cNvSpPr>
              <a:spLocks/>
            </p:cNvSpPr>
            <p:nvPr/>
          </p:nvSpPr>
          <p:spPr bwMode="auto">
            <a:xfrm>
              <a:off x="959" y="1172"/>
              <a:ext cx="471" cy="1027"/>
            </a:xfrm>
            <a:custGeom>
              <a:avLst/>
              <a:gdLst>
                <a:gd name="T0" fmla="*/ 0 w 471"/>
                <a:gd name="T1" fmla="*/ 0 h 1027"/>
                <a:gd name="T2" fmla="*/ 471 w 471"/>
                <a:gd name="T3" fmla="*/ 0 h 1027"/>
                <a:gd name="T4" fmla="*/ 389 w 471"/>
                <a:gd name="T5" fmla="*/ 106 h 1027"/>
                <a:gd name="T6" fmla="*/ 303 w 471"/>
                <a:gd name="T7" fmla="*/ 274 h 1027"/>
                <a:gd name="T8" fmla="*/ 221 w 471"/>
                <a:gd name="T9" fmla="*/ 475 h 1027"/>
                <a:gd name="T10" fmla="*/ 159 w 471"/>
                <a:gd name="T11" fmla="*/ 725 h 1027"/>
                <a:gd name="T12" fmla="*/ 120 w 471"/>
                <a:gd name="T13" fmla="*/ 893 h 1027"/>
                <a:gd name="T14" fmla="*/ 106 w 471"/>
                <a:gd name="T15" fmla="*/ 1027 h 1027"/>
                <a:gd name="T16" fmla="*/ 5 w 471"/>
                <a:gd name="T17" fmla="*/ 1027 h 1027"/>
                <a:gd name="T18" fmla="*/ 0 w 471"/>
                <a:gd name="T19" fmla="*/ 0 h 1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1" h="1027">
                  <a:moveTo>
                    <a:pt x="0" y="0"/>
                  </a:moveTo>
                  <a:lnTo>
                    <a:pt x="471" y="0"/>
                  </a:lnTo>
                  <a:lnTo>
                    <a:pt x="389" y="106"/>
                  </a:lnTo>
                  <a:lnTo>
                    <a:pt x="303" y="274"/>
                  </a:lnTo>
                  <a:lnTo>
                    <a:pt x="221" y="475"/>
                  </a:lnTo>
                  <a:lnTo>
                    <a:pt x="159" y="725"/>
                  </a:lnTo>
                  <a:lnTo>
                    <a:pt x="120" y="893"/>
                  </a:lnTo>
                  <a:lnTo>
                    <a:pt x="106" y="1027"/>
                  </a:lnTo>
                  <a:lnTo>
                    <a:pt x="5" y="1027"/>
                  </a:lnTo>
                  <a:lnTo>
                    <a:pt x="0" y="0"/>
                  </a:lnTo>
                  <a:close/>
                </a:path>
              </a:pathLst>
            </a:custGeom>
            <a:pattFill prst="ltHorz">
              <a:fgClr>
                <a:srgbClr val="FF9999"/>
              </a:fgClr>
              <a:bgClr>
                <a:srgbClr val="CCEC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72874" name="Group 10"/>
            <p:cNvGrpSpPr>
              <a:grpSpLocks/>
            </p:cNvGrpSpPr>
            <p:nvPr/>
          </p:nvGrpSpPr>
          <p:grpSpPr bwMode="auto">
            <a:xfrm>
              <a:off x="616" y="955"/>
              <a:ext cx="1271" cy="203"/>
              <a:chOff x="3544" y="1068"/>
              <a:chExt cx="1067" cy="165"/>
            </a:xfrm>
          </p:grpSpPr>
          <p:sp>
            <p:nvSpPr>
              <p:cNvPr id="1572875" name="Line 11"/>
              <p:cNvSpPr>
                <a:spLocks noChangeShapeType="1"/>
              </p:cNvSpPr>
              <p:nvPr/>
            </p:nvSpPr>
            <p:spPr bwMode="auto">
              <a:xfrm>
                <a:off x="3544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2876" name="Line 12"/>
              <p:cNvSpPr>
                <a:spLocks noChangeShapeType="1"/>
              </p:cNvSpPr>
              <p:nvPr/>
            </p:nvSpPr>
            <p:spPr bwMode="auto">
              <a:xfrm>
                <a:off x="3663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2877" name="Line 13"/>
              <p:cNvSpPr>
                <a:spLocks noChangeShapeType="1"/>
              </p:cNvSpPr>
              <p:nvPr/>
            </p:nvSpPr>
            <p:spPr bwMode="auto">
              <a:xfrm>
                <a:off x="3782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2878" name="Line 14"/>
              <p:cNvSpPr>
                <a:spLocks noChangeShapeType="1"/>
              </p:cNvSpPr>
              <p:nvPr/>
            </p:nvSpPr>
            <p:spPr bwMode="auto">
              <a:xfrm>
                <a:off x="3900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2879" name="Line 15"/>
              <p:cNvSpPr>
                <a:spLocks noChangeShapeType="1"/>
              </p:cNvSpPr>
              <p:nvPr/>
            </p:nvSpPr>
            <p:spPr bwMode="auto">
              <a:xfrm>
                <a:off x="4019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2880" name="Line 16"/>
              <p:cNvSpPr>
                <a:spLocks noChangeShapeType="1"/>
              </p:cNvSpPr>
              <p:nvPr/>
            </p:nvSpPr>
            <p:spPr bwMode="auto">
              <a:xfrm>
                <a:off x="4136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2881" name="Line 17"/>
              <p:cNvSpPr>
                <a:spLocks noChangeShapeType="1"/>
              </p:cNvSpPr>
              <p:nvPr/>
            </p:nvSpPr>
            <p:spPr bwMode="auto">
              <a:xfrm>
                <a:off x="4255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2882" name="Line 18"/>
              <p:cNvSpPr>
                <a:spLocks noChangeShapeType="1"/>
              </p:cNvSpPr>
              <p:nvPr/>
            </p:nvSpPr>
            <p:spPr bwMode="auto">
              <a:xfrm>
                <a:off x="4374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2883" name="Line 19"/>
              <p:cNvSpPr>
                <a:spLocks noChangeShapeType="1"/>
              </p:cNvSpPr>
              <p:nvPr/>
            </p:nvSpPr>
            <p:spPr bwMode="auto">
              <a:xfrm>
                <a:off x="4492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2884" name="Line 20"/>
              <p:cNvSpPr>
                <a:spLocks noChangeShapeType="1"/>
              </p:cNvSpPr>
              <p:nvPr/>
            </p:nvSpPr>
            <p:spPr bwMode="auto">
              <a:xfrm>
                <a:off x="4611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72885" name="Rectangle 21"/>
            <p:cNvSpPr>
              <a:spLocks noChangeArrowheads="1"/>
            </p:cNvSpPr>
            <p:nvPr/>
          </p:nvSpPr>
          <p:spPr bwMode="auto">
            <a:xfrm>
              <a:off x="1160" y="708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endParaRPr kumimoji="1" lang="zh-CN" altLang="en-US" sz="20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572886" name="Line 22"/>
            <p:cNvSpPr>
              <a:spLocks noChangeShapeType="1"/>
            </p:cNvSpPr>
            <p:nvPr/>
          </p:nvSpPr>
          <p:spPr bwMode="auto">
            <a:xfrm>
              <a:off x="329" y="1166"/>
              <a:ext cx="1814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887" name="Text Box 23"/>
            <p:cNvSpPr txBox="1">
              <a:spLocks noChangeArrowheads="1"/>
            </p:cNvSpPr>
            <p:nvPr/>
          </p:nvSpPr>
          <p:spPr bwMode="auto">
            <a:xfrm>
              <a:off x="339" y="764"/>
              <a:ext cx="2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572888" name="Text Box 24"/>
            <p:cNvSpPr txBox="1">
              <a:spLocks noChangeArrowheads="1"/>
            </p:cNvSpPr>
            <p:nvPr/>
          </p:nvSpPr>
          <p:spPr bwMode="auto">
            <a:xfrm flipH="1">
              <a:off x="1909" y="776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572889" name="Line 25"/>
            <p:cNvSpPr>
              <a:spLocks noChangeShapeType="1"/>
            </p:cNvSpPr>
            <p:nvPr/>
          </p:nvSpPr>
          <p:spPr bwMode="auto">
            <a:xfrm>
              <a:off x="1962" y="1061"/>
              <a:ext cx="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890" name="Rectangle 26" descr="深色上对角线"/>
            <p:cNvSpPr>
              <a:spLocks noChangeArrowheads="1"/>
            </p:cNvSpPr>
            <p:nvPr/>
          </p:nvSpPr>
          <p:spPr bwMode="auto">
            <a:xfrm>
              <a:off x="336" y="2206"/>
              <a:ext cx="1813" cy="68"/>
            </a:xfrm>
            <a:prstGeom prst="rect">
              <a:avLst/>
            </a:prstGeom>
            <a:pattFill prst="dkUpDiag">
              <a:fgClr>
                <a:srgbClr val="666633"/>
              </a:fgClr>
              <a:bgClr>
                <a:schemeClr val="hlink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2891" name="Text Box 27"/>
            <p:cNvSpPr txBox="1">
              <a:spLocks noChangeArrowheads="1"/>
            </p:cNvSpPr>
            <p:nvPr/>
          </p:nvSpPr>
          <p:spPr bwMode="auto">
            <a:xfrm>
              <a:off x="1634" y="1838"/>
              <a:ext cx="5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不透水</a:t>
              </a:r>
            </a:p>
          </p:txBody>
        </p:sp>
        <p:sp>
          <p:nvSpPr>
            <p:cNvPr id="1572892" name="Text Box 28"/>
            <p:cNvSpPr txBox="1">
              <a:spLocks noChangeArrowheads="1"/>
            </p:cNvSpPr>
            <p:nvPr/>
          </p:nvSpPr>
          <p:spPr bwMode="auto">
            <a:xfrm>
              <a:off x="736" y="2244"/>
              <a:ext cx="1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</a:rPr>
                <a:t>z</a:t>
              </a:r>
            </a:p>
          </p:txBody>
        </p:sp>
        <p:sp>
          <p:nvSpPr>
            <p:cNvPr id="1572893" name="Line 29"/>
            <p:cNvSpPr>
              <a:spLocks noChangeShapeType="1"/>
            </p:cNvSpPr>
            <p:nvPr/>
          </p:nvSpPr>
          <p:spPr bwMode="auto">
            <a:xfrm>
              <a:off x="1425" y="1181"/>
              <a:ext cx="0" cy="10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894" name="Freeform 30"/>
            <p:cNvSpPr>
              <a:spLocks/>
            </p:cNvSpPr>
            <p:nvPr/>
          </p:nvSpPr>
          <p:spPr bwMode="auto">
            <a:xfrm>
              <a:off x="1065" y="1172"/>
              <a:ext cx="365" cy="1032"/>
            </a:xfrm>
            <a:custGeom>
              <a:avLst/>
              <a:gdLst>
                <a:gd name="T0" fmla="*/ 365 w 365"/>
                <a:gd name="T1" fmla="*/ 0 h 1032"/>
                <a:gd name="T2" fmla="*/ 264 w 365"/>
                <a:gd name="T3" fmla="*/ 139 h 1032"/>
                <a:gd name="T4" fmla="*/ 134 w 365"/>
                <a:gd name="T5" fmla="*/ 427 h 1032"/>
                <a:gd name="T6" fmla="*/ 38 w 365"/>
                <a:gd name="T7" fmla="*/ 782 h 1032"/>
                <a:gd name="T8" fmla="*/ 0 w 365"/>
                <a:gd name="T9" fmla="*/ 1032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" h="1032">
                  <a:moveTo>
                    <a:pt x="365" y="0"/>
                  </a:moveTo>
                  <a:cubicBezTo>
                    <a:pt x="348" y="23"/>
                    <a:pt x="303" y="68"/>
                    <a:pt x="264" y="139"/>
                  </a:cubicBezTo>
                  <a:cubicBezTo>
                    <a:pt x="225" y="210"/>
                    <a:pt x="172" y="320"/>
                    <a:pt x="134" y="427"/>
                  </a:cubicBezTo>
                  <a:cubicBezTo>
                    <a:pt x="96" y="534"/>
                    <a:pt x="60" y="681"/>
                    <a:pt x="38" y="782"/>
                  </a:cubicBezTo>
                  <a:cubicBezTo>
                    <a:pt x="16" y="883"/>
                    <a:pt x="9" y="953"/>
                    <a:pt x="0" y="1032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895" name="Text Box 31"/>
            <p:cNvSpPr txBox="1">
              <a:spLocks noChangeArrowheads="1"/>
            </p:cNvSpPr>
            <p:nvPr/>
          </p:nvSpPr>
          <p:spPr bwMode="auto">
            <a:xfrm>
              <a:off x="1588" y="1366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ea typeface="幼圆" pitchFamily="49" charset="-122"/>
                </a:rPr>
                <a:t>排水面</a:t>
              </a:r>
              <a:endParaRPr lang="en-US" altLang="zh-CN" sz="20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72896" name="Line 32"/>
            <p:cNvSpPr>
              <a:spLocks noChangeShapeType="1"/>
            </p:cNvSpPr>
            <p:nvPr/>
          </p:nvSpPr>
          <p:spPr bwMode="auto">
            <a:xfrm>
              <a:off x="1811" y="1196"/>
              <a:ext cx="64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897" name="Line 33"/>
            <p:cNvSpPr>
              <a:spLocks noChangeShapeType="1"/>
            </p:cNvSpPr>
            <p:nvPr/>
          </p:nvSpPr>
          <p:spPr bwMode="auto">
            <a:xfrm>
              <a:off x="551" y="1177"/>
              <a:ext cx="0" cy="10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898" name="Text Box 34"/>
            <p:cNvSpPr txBox="1">
              <a:spLocks noChangeArrowheads="1"/>
            </p:cNvSpPr>
            <p:nvPr/>
          </p:nvSpPr>
          <p:spPr bwMode="auto">
            <a:xfrm>
              <a:off x="416" y="1556"/>
              <a:ext cx="240" cy="250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</a:rPr>
                <a:t>H</a:t>
              </a:r>
            </a:p>
          </p:txBody>
        </p:sp>
        <p:sp>
          <p:nvSpPr>
            <p:cNvPr id="1572899" name="Line 35"/>
            <p:cNvSpPr>
              <a:spLocks noChangeShapeType="1"/>
            </p:cNvSpPr>
            <p:nvPr/>
          </p:nvSpPr>
          <p:spPr bwMode="auto">
            <a:xfrm>
              <a:off x="964" y="1167"/>
              <a:ext cx="0" cy="12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900" name="Line 36"/>
            <p:cNvSpPr>
              <a:spLocks noChangeShapeType="1"/>
            </p:cNvSpPr>
            <p:nvPr/>
          </p:nvSpPr>
          <p:spPr bwMode="auto">
            <a:xfrm>
              <a:off x="964" y="1513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901" name="Line 37"/>
            <p:cNvSpPr>
              <a:spLocks noChangeShapeType="1"/>
            </p:cNvSpPr>
            <p:nvPr/>
          </p:nvSpPr>
          <p:spPr bwMode="auto">
            <a:xfrm>
              <a:off x="1233" y="1513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902" name="Text Box 38"/>
            <p:cNvSpPr txBox="1">
              <a:spLocks noChangeArrowheads="1"/>
            </p:cNvSpPr>
            <p:nvPr/>
          </p:nvSpPr>
          <p:spPr bwMode="auto">
            <a:xfrm>
              <a:off x="974" y="1255"/>
              <a:ext cx="2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zh-CN" altLang="en-US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18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  <a:endParaRPr lang="en-US" altLang="zh-CN" sz="1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72903" name="Text Box 39"/>
            <p:cNvSpPr txBox="1">
              <a:spLocks noChangeArrowheads="1"/>
            </p:cNvSpPr>
            <p:nvPr/>
          </p:nvSpPr>
          <p:spPr bwMode="auto">
            <a:xfrm>
              <a:off x="1228" y="148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1572904" name="Text Box 40"/>
            <p:cNvSpPr txBox="1">
              <a:spLocks noChangeArrowheads="1"/>
            </p:cNvSpPr>
            <p:nvPr/>
          </p:nvSpPr>
          <p:spPr bwMode="auto">
            <a:xfrm>
              <a:off x="224" y="2589"/>
              <a:ext cx="1259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u</a:t>
              </a:r>
              <a:r>
                <a:rPr lang="en-US" altLang="zh-CN" sz="18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8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：超静孔压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en-US" altLang="zh-CN" sz="18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1800" b="1" baseline="-25000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z </a:t>
              </a:r>
              <a:r>
                <a:rPr lang="zh-CN" altLang="en-US" sz="18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：有效应力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r>
                <a:rPr lang="en-US" altLang="zh-CN" sz="18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lang="zh-CN" altLang="en-US" sz="18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：总附加应力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u</a:t>
              </a:r>
              <a:r>
                <a:rPr lang="en-US" altLang="zh-CN" sz="1800" b="1" baseline="-25000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0</a:t>
              </a:r>
              <a:r>
                <a:rPr lang="zh-CN" altLang="en-US" sz="1800" b="1" dirty="0">
                  <a:solidFill>
                    <a:srgbClr val="000066"/>
                  </a:solidFill>
                  <a:ea typeface="幼圆" panose="02010509060101010101" pitchFamily="49" charset="-122"/>
                  <a:cs typeface="Times New Roman" panose="02020603050405020304" pitchFamily="18" charset="0"/>
                </a:rPr>
                <a:t>：初始超静孔压</a:t>
              </a:r>
              <a:endParaRPr lang="en-US" altLang="zh-CN" sz="1800" b="1" dirty="0">
                <a:solidFill>
                  <a:srgbClr val="000066"/>
                </a:solidFill>
                <a:ea typeface="幼圆" panose="020105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72905" name="Text Box 41"/>
            <p:cNvSpPr txBox="1">
              <a:spLocks noChangeArrowheads="1"/>
            </p:cNvSpPr>
            <p:nvPr/>
          </p:nvSpPr>
          <p:spPr bwMode="auto">
            <a:xfrm>
              <a:off x="761" y="107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o</a:t>
              </a:r>
            </a:p>
          </p:txBody>
        </p:sp>
        <p:sp>
          <p:nvSpPr>
            <p:cNvPr id="1572906" name="Line 42"/>
            <p:cNvSpPr>
              <a:spLocks noChangeShapeType="1"/>
            </p:cNvSpPr>
            <p:nvPr/>
          </p:nvSpPr>
          <p:spPr bwMode="auto">
            <a:xfrm rot="-10800000">
              <a:off x="380" y="1053"/>
              <a:ext cx="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907" name="Line 43"/>
            <p:cNvSpPr>
              <a:spLocks noChangeShapeType="1"/>
            </p:cNvSpPr>
            <p:nvPr/>
          </p:nvSpPr>
          <p:spPr bwMode="auto">
            <a:xfrm flipV="1">
              <a:off x="1682" y="2065"/>
              <a:ext cx="135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908" name="AutoShape 44"/>
            <p:cNvSpPr>
              <a:spLocks/>
            </p:cNvSpPr>
            <p:nvPr/>
          </p:nvSpPr>
          <p:spPr bwMode="auto">
            <a:xfrm>
              <a:off x="1341" y="2657"/>
              <a:ext cx="56" cy="470"/>
            </a:xfrm>
            <a:prstGeom prst="rightBrace">
              <a:avLst>
                <a:gd name="adj1" fmla="val 6994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2909" name="Text Box 45"/>
            <p:cNvSpPr txBox="1">
              <a:spLocks noChangeArrowheads="1"/>
            </p:cNvSpPr>
            <p:nvPr/>
          </p:nvSpPr>
          <p:spPr bwMode="auto">
            <a:xfrm>
              <a:off x="1425" y="2717"/>
              <a:ext cx="9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u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+ </a:t>
              </a:r>
              <a:r>
                <a:rPr lang="en-US" altLang="zh-CN" sz="2400" b="1" i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</a:t>
              </a:r>
              <a:r>
                <a:rPr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  <a:r>
                <a:rPr lang="en-US" altLang="zh-CN" sz="24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 </a:t>
              </a:r>
              <a:r>
                <a:rPr lang="en-US" altLang="zh-CN" sz="2400" b="1" dirty="0" smtClean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= </a:t>
              </a:r>
              <a:r>
                <a:rPr lang="en-US" altLang="zh-CN" sz="2400" b="1" i="1" dirty="0" smtClean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p</a:t>
              </a:r>
              <a:r>
                <a:rPr lang="en-US" altLang="zh-CN" sz="2400" b="1" dirty="0" smtClean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 </a:t>
              </a:r>
              <a:endParaRPr lang="zh-CN" altLang="en-US" sz="2400" b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grpSp>
        <p:nvGrpSpPr>
          <p:cNvPr id="1572910" name="Group 46"/>
          <p:cNvGrpSpPr>
            <a:grpSpLocks/>
          </p:cNvGrpSpPr>
          <p:nvPr/>
        </p:nvGrpSpPr>
        <p:grpSpPr bwMode="auto">
          <a:xfrm>
            <a:off x="4443418" y="1550988"/>
            <a:ext cx="774701" cy="1646237"/>
            <a:chOff x="2769" y="1187"/>
            <a:chExt cx="488" cy="1037"/>
          </a:xfrm>
        </p:grpSpPr>
        <p:sp>
          <p:nvSpPr>
            <p:cNvPr id="1572911" name="Rectangle 47"/>
            <p:cNvSpPr>
              <a:spLocks noChangeArrowheads="1"/>
            </p:cNvSpPr>
            <p:nvPr/>
          </p:nvSpPr>
          <p:spPr bwMode="auto">
            <a:xfrm>
              <a:off x="2769" y="1187"/>
              <a:ext cx="480" cy="103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2912" name="Rectangle 48"/>
            <p:cNvSpPr>
              <a:spLocks noChangeArrowheads="1"/>
            </p:cNvSpPr>
            <p:nvPr/>
          </p:nvSpPr>
          <p:spPr bwMode="auto">
            <a:xfrm>
              <a:off x="2770" y="1190"/>
              <a:ext cx="470" cy="10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2913" name="Text Box 49"/>
            <p:cNvSpPr txBox="1">
              <a:spLocks noChangeArrowheads="1"/>
            </p:cNvSpPr>
            <p:nvPr/>
          </p:nvSpPr>
          <p:spPr bwMode="auto">
            <a:xfrm>
              <a:off x="2795" y="1506"/>
              <a:ext cx="4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 smtClean="0">
                  <a:solidFill>
                    <a:srgbClr val="000066"/>
                  </a:solidFill>
                  <a:ea typeface="幼圆" pitchFamily="49" charset="-122"/>
                </a:rPr>
                <a:t>u</a:t>
              </a:r>
              <a:r>
                <a:rPr lang="en-US" altLang="zh-CN" sz="1800" b="1" baseline="-25000" dirty="0" smtClean="0">
                  <a:solidFill>
                    <a:srgbClr val="000066"/>
                  </a:solidFill>
                  <a:ea typeface="幼圆" pitchFamily="49" charset="-122"/>
                </a:rPr>
                <a:t>0</a:t>
              </a:r>
              <a:r>
                <a:rPr lang="en-US" altLang="zh-CN" sz="1800" b="1" i="1" baseline="-25000" dirty="0" smtClean="0">
                  <a:solidFill>
                    <a:srgbClr val="000066"/>
                  </a:solidFill>
                  <a:ea typeface="幼圆" pitchFamily="49" charset="-122"/>
                </a:rPr>
                <a:t> </a:t>
              </a:r>
              <a:r>
                <a:rPr lang="en-US" altLang="zh-CN" sz="1800" b="1" dirty="0" smtClean="0">
                  <a:solidFill>
                    <a:srgbClr val="000066"/>
                  </a:solidFill>
                  <a:ea typeface="幼圆" pitchFamily="49" charset="-122"/>
                </a:rPr>
                <a:t>= </a:t>
              </a:r>
              <a:r>
                <a:rPr lang="en-US" altLang="zh-CN" sz="1800" b="1" i="1" dirty="0" smtClean="0">
                  <a:solidFill>
                    <a:srgbClr val="000066"/>
                  </a:solidFill>
                  <a:ea typeface="幼圆" pitchFamily="49" charset="-122"/>
                </a:rPr>
                <a:t>p</a:t>
              </a:r>
              <a:endParaRPr lang="en-US" altLang="zh-CN" sz="1800" b="1" i="1" dirty="0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72914" name="Line 50"/>
            <p:cNvSpPr>
              <a:spLocks noChangeShapeType="1"/>
            </p:cNvSpPr>
            <p:nvPr/>
          </p:nvSpPr>
          <p:spPr bwMode="auto">
            <a:xfrm>
              <a:off x="2769" y="1517"/>
              <a:ext cx="4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72915" name="Group 51"/>
          <p:cNvGrpSpPr>
            <a:grpSpLocks/>
          </p:cNvGrpSpPr>
          <p:nvPr/>
        </p:nvGrpSpPr>
        <p:grpSpPr bwMode="auto">
          <a:xfrm>
            <a:off x="6162671" y="1536700"/>
            <a:ext cx="755650" cy="1646238"/>
            <a:chOff x="3846" y="1178"/>
            <a:chExt cx="476" cy="1037"/>
          </a:xfrm>
        </p:grpSpPr>
        <p:sp>
          <p:nvSpPr>
            <p:cNvPr id="1572916" name="Rectangle 52"/>
            <p:cNvSpPr>
              <a:spLocks noChangeArrowheads="1"/>
            </p:cNvSpPr>
            <p:nvPr/>
          </p:nvSpPr>
          <p:spPr bwMode="auto">
            <a:xfrm>
              <a:off x="3851" y="1178"/>
              <a:ext cx="471" cy="103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2917" name="Freeform 53" descr="浅色横线"/>
            <p:cNvSpPr>
              <a:spLocks/>
            </p:cNvSpPr>
            <p:nvPr/>
          </p:nvSpPr>
          <p:spPr bwMode="auto">
            <a:xfrm>
              <a:off x="3848" y="1183"/>
              <a:ext cx="471" cy="1027"/>
            </a:xfrm>
            <a:custGeom>
              <a:avLst/>
              <a:gdLst>
                <a:gd name="T0" fmla="*/ 0 w 471"/>
                <a:gd name="T1" fmla="*/ 0 h 1027"/>
                <a:gd name="T2" fmla="*/ 471 w 471"/>
                <a:gd name="T3" fmla="*/ 0 h 1027"/>
                <a:gd name="T4" fmla="*/ 389 w 471"/>
                <a:gd name="T5" fmla="*/ 106 h 1027"/>
                <a:gd name="T6" fmla="*/ 303 w 471"/>
                <a:gd name="T7" fmla="*/ 274 h 1027"/>
                <a:gd name="T8" fmla="*/ 221 w 471"/>
                <a:gd name="T9" fmla="*/ 475 h 1027"/>
                <a:gd name="T10" fmla="*/ 159 w 471"/>
                <a:gd name="T11" fmla="*/ 725 h 1027"/>
                <a:gd name="T12" fmla="*/ 120 w 471"/>
                <a:gd name="T13" fmla="*/ 893 h 1027"/>
                <a:gd name="T14" fmla="*/ 106 w 471"/>
                <a:gd name="T15" fmla="*/ 1027 h 1027"/>
                <a:gd name="T16" fmla="*/ 5 w 471"/>
                <a:gd name="T17" fmla="*/ 1027 h 1027"/>
                <a:gd name="T18" fmla="*/ 0 w 471"/>
                <a:gd name="T19" fmla="*/ 0 h 1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1" h="1027">
                  <a:moveTo>
                    <a:pt x="0" y="0"/>
                  </a:moveTo>
                  <a:lnTo>
                    <a:pt x="471" y="0"/>
                  </a:lnTo>
                  <a:lnTo>
                    <a:pt x="389" y="106"/>
                  </a:lnTo>
                  <a:lnTo>
                    <a:pt x="303" y="274"/>
                  </a:lnTo>
                  <a:lnTo>
                    <a:pt x="221" y="475"/>
                  </a:lnTo>
                  <a:lnTo>
                    <a:pt x="159" y="725"/>
                  </a:lnTo>
                  <a:lnTo>
                    <a:pt x="120" y="893"/>
                  </a:lnTo>
                  <a:lnTo>
                    <a:pt x="106" y="1027"/>
                  </a:lnTo>
                  <a:lnTo>
                    <a:pt x="5" y="1027"/>
                  </a:lnTo>
                  <a:lnTo>
                    <a:pt x="0" y="0"/>
                  </a:lnTo>
                  <a:close/>
                </a:path>
              </a:pathLst>
            </a:custGeom>
            <a:pattFill prst="ltHorz">
              <a:fgClr>
                <a:srgbClr val="FF9999"/>
              </a:fgClr>
              <a:bgClr>
                <a:srgbClr val="CCEC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918" name="Freeform 54"/>
            <p:cNvSpPr>
              <a:spLocks/>
            </p:cNvSpPr>
            <p:nvPr/>
          </p:nvSpPr>
          <p:spPr bwMode="auto">
            <a:xfrm>
              <a:off x="3948" y="1183"/>
              <a:ext cx="365" cy="1032"/>
            </a:xfrm>
            <a:custGeom>
              <a:avLst/>
              <a:gdLst>
                <a:gd name="T0" fmla="*/ 365 w 365"/>
                <a:gd name="T1" fmla="*/ 0 h 1032"/>
                <a:gd name="T2" fmla="*/ 264 w 365"/>
                <a:gd name="T3" fmla="*/ 139 h 1032"/>
                <a:gd name="T4" fmla="*/ 134 w 365"/>
                <a:gd name="T5" fmla="*/ 427 h 1032"/>
                <a:gd name="T6" fmla="*/ 38 w 365"/>
                <a:gd name="T7" fmla="*/ 782 h 1032"/>
                <a:gd name="T8" fmla="*/ 0 w 365"/>
                <a:gd name="T9" fmla="*/ 1032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" h="1032">
                  <a:moveTo>
                    <a:pt x="365" y="0"/>
                  </a:moveTo>
                  <a:cubicBezTo>
                    <a:pt x="348" y="23"/>
                    <a:pt x="303" y="68"/>
                    <a:pt x="264" y="139"/>
                  </a:cubicBezTo>
                  <a:cubicBezTo>
                    <a:pt x="225" y="210"/>
                    <a:pt x="172" y="320"/>
                    <a:pt x="134" y="427"/>
                  </a:cubicBezTo>
                  <a:cubicBezTo>
                    <a:pt x="96" y="534"/>
                    <a:pt x="60" y="681"/>
                    <a:pt x="38" y="782"/>
                  </a:cubicBezTo>
                  <a:cubicBezTo>
                    <a:pt x="16" y="883"/>
                    <a:pt x="9" y="953"/>
                    <a:pt x="0" y="1032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919" name="Rectangle 55"/>
            <p:cNvSpPr>
              <a:spLocks noChangeArrowheads="1"/>
            </p:cNvSpPr>
            <p:nvPr/>
          </p:nvSpPr>
          <p:spPr bwMode="auto">
            <a:xfrm>
              <a:off x="3846" y="1181"/>
              <a:ext cx="470" cy="10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2920" name="Line 56"/>
            <p:cNvSpPr>
              <a:spLocks noChangeShapeType="1"/>
            </p:cNvSpPr>
            <p:nvPr/>
          </p:nvSpPr>
          <p:spPr bwMode="auto">
            <a:xfrm>
              <a:off x="3853" y="1520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921" name="Line 57"/>
            <p:cNvSpPr>
              <a:spLocks noChangeShapeType="1"/>
            </p:cNvSpPr>
            <p:nvPr/>
          </p:nvSpPr>
          <p:spPr bwMode="auto">
            <a:xfrm>
              <a:off x="4122" y="152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922" name="Text Box 58"/>
            <p:cNvSpPr txBox="1">
              <a:spLocks noChangeArrowheads="1"/>
            </p:cNvSpPr>
            <p:nvPr/>
          </p:nvSpPr>
          <p:spPr bwMode="auto">
            <a:xfrm>
              <a:off x="3863" y="1262"/>
              <a:ext cx="2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zh-CN" altLang="en-US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18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  <a:endParaRPr lang="en-US" altLang="zh-CN" sz="1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72923" name="Text Box 59"/>
            <p:cNvSpPr txBox="1">
              <a:spLocks noChangeArrowheads="1"/>
            </p:cNvSpPr>
            <p:nvPr/>
          </p:nvSpPr>
          <p:spPr bwMode="auto">
            <a:xfrm>
              <a:off x="4117" y="1490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</a:rPr>
                <a:t>u</a:t>
              </a:r>
            </a:p>
          </p:txBody>
        </p:sp>
      </p:grpSp>
      <p:grpSp>
        <p:nvGrpSpPr>
          <p:cNvPr id="1572924" name="Group 60"/>
          <p:cNvGrpSpPr>
            <a:grpSpLocks/>
          </p:cNvGrpSpPr>
          <p:nvPr/>
        </p:nvGrpSpPr>
        <p:grpSpPr bwMode="auto">
          <a:xfrm>
            <a:off x="7807330" y="1543050"/>
            <a:ext cx="790576" cy="1633538"/>
            <a:chOff x="4768" y="1182"/>
            <a:chExt cx="498" cy="1029"/>
          </a:xfrm>
        </p:grpSpPr>
        <p:sp>
          <p:nvSpPr>
            <p:cNvPr id="1572925" name="Freeform 61" descr="浅色横线"/>
            <p:cNvSpPr>
              <a:spLocks/>
            </p:cNvSpPr>
            <p:nvPr/>
          </p:nvSpPr>
          <p:spPr bwMode="auto">
            <a:xfrm>
              <a:off x="4768" y="1184"/>
              <a:ext cx="481" cy="1027"/>
            </a:xfrm>
            <a:custGeom>
              <a:avLst/>
              <a:gdLst>
                <a:gd name="T0" fmla="*/ 0 w 471"/>
                <a:gd name="T1" fmla="*/ 0 h 1027"/>
                <a:gd name="T2" fmla="*/ 471 w 471"/>
                <a:gd name="T3" fmla="*/ 0 h 1027"/>
                <a:gd name="T4" fmla="*/ 457 w 471"/>
                <a:gd name="T5" fmla="*/ 1024 h 1027"/>
                <a:gd name="T6" fmla="*/ 5 w 471"/>
                <a:gd name="T7" fmla="*/ 1027 h 1027"/>
                <a:gd name="T8" fmla="*/ 0 w 471"/>
                <a:gd name="T9" fmla="*/ 0 h 1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1" h="1027">
                  <a:moveTo>
                    <a:pt x="0" y="0"/>
                  </a:moveTo>
                  <a:lnTo>
                    <a:pt x="471" y="0"/>
                  </a:lnTo>
                  <a:lnTo>
                    <a:pt x="457" y="1024"/>
                  </a:lnTo>
                  <a:lnTo>
                    <a:pt x="5" y="1027"/>
                  </a:lnTo>
                  <a:lnTo>
                    <a:pt x="0" y="0"/>
                  </a:lnTo>
                  <a:close/>
                </a:path>
              </a:pathLst>
            </a:custGeom>
            <a:pattFill prst="ltHorz">
              <a:fgClr>
                <a:srgbClr val="FF9999"/>
              </a:fgClr>
              <a:bgClr>
                <a:srgbClr val="CCEC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926" name="Rectangle 62"/>
            <p:cNvSpPr>
              <a:spLocks noChangeArrowheads="1"/>
            </p:cNvSpPr>
            <p:nvPr/>
          </p:nvSpPr>
          <p:spPr bwMode="auto">
            <a:xfrm>
              <a:off x="4770" y="1182"/>
              <a:ext cx="470" cy="10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2927" name="Line 63"/>
            <p:cNvSpPr>
              <a:spLocks noChangeShapeType="1"/>
            </p:cNvSpPr>
            <p:nvPr/>
          </p:nvSpPr>
          <p:spPr bwMode="auto">
            <a:xfrm>
              <a:off x="4779" y="1531"/>
              <a:ext cx="4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2928" name="Text Box 64"/>
            <p:cNvSpPr txBox="1">
              <a:spLocks noChangeArrowheads="1"/>
            </p:cNvSpPr>
            <p:nvPr/>
          </p:nvSpPr>
          <p:spPr bwMode="auto">
            <a:xfrm>
              <a:off x="4790" y="1259"/>
              <a:ext cx="4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zh-CN" altLang="en-US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18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  <a:r>
                <a:rPr lang="en-US" altLang="zh-CN" sz="1800" b="1" dirty="0" smtClean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= </a:t>
              </a:r>
              <a:r>
                <a:rPr lang="en-US" altLang="zh-CN" sz="1800" b="1" i="1" dirty="0" smtClean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p</a:t>
              </a:r>
              <a:endParaRPr lang="en-US" altLang="zh-CN" sz="18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</p:grpSp>
      <p:sp>
        <p:nvSpPr>
          <p:cNvPr id="1572931" name="Text Box 67"/>
          <p:cNvSpPr txBox="1">
            <a:spLocks noChangeArrowheads="1"/>
          </p:cNvSpPr>
          <p:nvPr/>
        </p:nvSpPr>
        <p:spPr bwMode="auto">
          <a:xfrm>
            <a:off x="4111625" y="3509960"/>
            <a:ext cx="1498600" cy="1480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9144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3716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8288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286000" indent="-4572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1" dirty="0" smtClean="0">
                <a:solidFill>
                  <a:srgbClr val="A50021"/>
                </a:solidFill>
              </a:rPr>
              <a:t>   t = 0 </a:t>
            </a:r>
          </a:p>
          <a:p>
            <a:pPr>
              <a:lnSpc>
                <a:spcPct val="100000"/>
              </a:lnSpc>
              <a:spcBef>
                <a:spcPct val="30000"/>
              </a:spcBef>
            </a:pPr>
            <a:r>
              <a:rPr lang="en-US" altLang="zh-CN" sz="2200" b="1" dirty="0" smtClean="0">
                <a:solidFill>
                  <a:srgbClr val="000066"/>
                </a:solidFill>
              </a:rPr>
              <a:t>0 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</a:t>
            </a:r>
            <a:r>
              <a:rPr lang="en-US" altLang="zh-CN" sz="2200" b="1" dirty="0">
                <a:solidFill>
                  <a:srgbClr val="000066"/>
                </a:solidFill>
              </a:rPr>
              <a:t> z </a:t>
            </a:r>
            <a:r>
              <a:rPr lang="en-US" altLang="zh-CN" sz="2200" b="1" dirty="0">
                <a:solidFill>
                  <a:srgbClr val="000066"/>
                </a:solidFill>
                <a:sym typeface="Symbol" pitchFamily="18" charset="2"/>
              </a:rPr>
              <a:t></a:t>
            </a:r>
            <a:r>
              <a:rPr lang="en-US" altLang="zh-CN" sz="2200" b="1" dirty="0">
                <a:solidFill>
                  <a:srgbClr val="000066"/>
                </a:solidFill>
              </a:rPr>
              <a:t> </a:t>
            </a:r>
            <a:r>
              <a:rPr lang="en-US" altLang="zh-CN" sz="2200" b="1" i="1" dirty="0" smtClean="0">
                <a:solidFill>
                  <a:srgbClr val="000066"/>
                </a:solidFill>
              </a:rPr>
              <a:t>H </a:t>
            </a:r>
            <a:r>
              <a:rPr lang="en-US" altLang="zh-CN" sz="2200" b="1" dirty="0" smtClean="0">
                <a:solidFill>
                  <a:srgbClr val="000066"/>
                </a:solidFill>
              </a:rPr>
              <a:t>:</a:t>
            </a:r>
            <a:endParaRPr lang="en-US" altLang="zh-CN" sz="2200" b="1" dirty="0">
              <a:solidFill>
                <a:srgbClr val="000066"/>
              </a:solidFill>
            </a:endParaRPr>
          </a:p>
          <a:p>
            <a:pPr>
              <a:lnSpc>
                <a:spcPct val="100000"/>
              </a:lnSpc>
              <a:spcBef>
                <a:spcPct val="30000"/>
              </a:spcBef>
            </a:pPr>
            <a:r>
              <a:rPr lang="en-US" altLang="zh-CN" sz="2200" b="1" i="1" dirty="0" smtClean="0">
                <a:solidFill>
                  <a:srgbClr val="000066"/>
                </a:solidFill>
              </a:rPr>
              <a:t>u</a:t>
            </a:r>
            <a:r>
              <a:rPr lang="en-US" altLang="zh-CN" sz="2200" b="1" dirty="0" smtClean="0">
                <a:solidFill>
                  <a:srgbClr val="000066"/>
                </a:solidFill>
              </a:rPr>
              <a:t>=</a:t>
            </a:r>
            <a:r>
              <a:rPr lang="en-US" altLang="zh-CN" sz="2200" b="1" i="1" dirty="0" smtClean="0">
                <a:solidFill>
                  <a:srgbClr val="000066"/>
                </a:solidFill>
              </a:rPr>
              <a:t>p</a:t>
            </a:r>
            <a:endParaRPr lang="en-US" altLang="zh-CN" sz="2200" b="1" i="1" dirty="0">
              <a:solidFill>
                <a:srgbClr val="000066"/>
              </a:solidFill>
            </a:endParaRPr>
          </a:p>
        </p:txBody>
      </p:sp>
      <p:sp>
        <p:nvSpPr>
          <p:cNvPr id="1572934" name="Rectangle 70"/>
          <p:cNvSpPr>
            <a:spLocks noChangeArrowheads="1"/>
          </p:cNvSpPr>
          <p:nvPr/>
        </p:nvSpPr>
        <p:spPr bwMode="auto">
          <a:xfrm>
            <a:off x="5743575" y="3486150"/>
            <a:ext cx="1804988" cy="1480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kumimoji="1" lang="en-US" altLang="zh-CN" sz="2800" b="1" dirty="0" smtClean="0">
                <a:solidFill>
                  <a:srgbClr val="A50021"/>
                </a:solidFill>
              </a:rPr>
              <a:t>0 &lt; t &lt;</a:t>
            </a:r>
            <a:r>
              <a:rPr kumimoji="1" lang="en-US" altLang="zh-CN" sz="2800" b="1" dirty="0" smtClean="0">
                <a:solidFill>
                  <a:srgbClr val="A50021"/>
                </a:solidFill>
                <a:sym typeface="Symbol"/>
              </a:rPr>
              <a:t></a:t>
            </a:r>
            <a:endParaRPr kumimoji="1" lang="en-US" altLang="zh-CN" sz="2800" b="1" dirty="0" smtClean="0">
              <a:solidFill>
                <a:srgbClr val="A50021"/>
              </a:solidFill>
            </a:endParaRPr>
          </a:p>
          <a:p>
            <a:pPr marL="457200" indent="-4572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200" b="1" dirty="0" smtClean="0">
                <a:solidFill>
                  <a:srgbClr val="000066"/>
                </a:solidFill>
              </a:rPr>
              <a:t>z=0</a:t>
            </a:r>
            <a:r>
              <a:rPr kumimoji="1" lang="en-US" altLang="zh-CN" sz="2200" b="1" dirty="0">
                <a:solidFill>
                  <a:srgbClr val="000066"/>
                </a:solidFill>
              </a:rPr>
              <a:t>:   </a:t>
            </a:r>
            <a:r>
              <a:rPr kumimoji="1" lang="en-US" altLang="zh-CN" sz="2200" b="1" i="1" dirty="0">
                <a:solidFill>
                  <a:srgbClr val="000066"/>
                </a:solidFill>
              </a:rPr>
              <a:t>u</a:t>
            </a:r>
            <a:r>
              <a:rPr kumimoji="1" lang="en-US" altLang="zh-CN" sz="2200" b="1" dirty="0">
                <a:solidFill>
                  <a:srgbClr val="000066"/>
                </a:solidFill>
              </a:rPr>
              <a:t>=0</a:t>
            </a:r>
          </a:p>
          <a:p>
            <a:pPr marL="457200" indent="-4572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200" b="1" dirty="0">
                <a:solidFill>
                  <a:srgbClr val="000066"/>
                </a:solidFill>
              </a:rPr>
              <a:t>z=</a:t>
            </a:r>
            <a:r>
              <a:rPr kumimoji="1" lang="en-US" altLang="zh-CN" sz="2200" b="1" i="1" dirty="0">
                <a:solidFill>
                  <a:srgbClr val="000066"/>
                </a:solidFill>
              </a:rPr>
              <a:t>H</a:t>
            </a:r>
            <a:r>
              <a:rPr kumimoji="1" lang="en-US" altLang="zh-CN" sz="2200" b="1" dirty="0">
                <a:solidFill>
                  <a:srgbClr val="000066"/>
                </a:solidFill>
              </a:rPr>
              <a:t>: </a:t>
            </a:r>
            <a:r>
              <a:rPr kumimoji="1" lang="en-US" altLang="zh-CN" sz="2200" b="1" dirty="0">
                <a:solidFill>
                  <a:srgbClr val="000066"/>
                </a:solidFill>
                <a:sym typeface="Symbol" pitchFamily="18" charset="2"/>
              </a:rPr>
              <a:t></a:t>
            </a:r>
            <a:r>
              <a:rPr kumimoji="1" lang="en-US" altLang="zh-CN" sz="2200" b="1" i="1" dirty="0">
                <a:solidFill>
                  <a:srgbClr val="000066"/>
                </a:solidFill>
                <a:sym typeface="Symbol" pitchFamily="18" charset="2"/>
              </a:rPr>
              <a:t>u</a:t>
            </a:r>
            <a:r>
              <a:rPr kumimoji="1" lang="en-US" altLang="zh-CN" sz="2200" b="1" dirty="0">
                <a:solidFill>
                  <a:srgbClr val="000066"/>
                </a:solidFill>
                <a:sym typeface="Symbol" pitchFamily="18" charset="2"/>
              </a:rPr>
              <a:t>z</a:t>
            </a:r>
            <a:endParaRPr kumimoji="1" lang="en-US" altLang="zh-CN" sz="2200" b="1" dirty="0">
              <a:solidFill>
                <a:srgbClr val="000066"/>
              </a:solidFill>
            </a:endParaRPr>
          </a:p>
        </p:txBody>
      </p:sp>
      <p:sp>
        <p:nvSpPr>
          <p:cNvPr id="1572937" name="Rectangle 73"/>
          <p:cNvSpPr>
            <a:spLocks noChangeArrowheads="1"/>
          </p:cNvSpPr>
          <p:nvPr/>
        </p:nvSpPr>
        <p:spPr bwMode="auto">
          <a:xfrm>
            <a:off x="7670803" y="3486151"/>
            <a:ext cx="1358064" cy="1480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kumimoji="1" lang="en-US" altLang="zh-CN" sz="2800" b="1" dirty="0">
                <a:solidFill>
                  <a:srgbClr val="000066"/>
                </a:solidFill>
                <a:sym typeface="Symbol" pitchFamily="18" charset="2"/>
              </a:rPr>
              <a:t> </a:t>
            </a:r>
            <a:r>
              <a:rPr kumimoji="1" lang="en-US" altLang="zh-CN" sz="2800" b="1" dirty="0">
                <a:solidFill>
                  <a:srgbClr val="A50021"/>
                </a:solidFill>
              </a:rPr>
              <a:t>t  </a:t>
            </a:r>
            <a:r>
              <a:rPr kumimoji="1" lang="en-US" altLang="zh-CN" sz="2800" b="1" dirty="0" smtClean="0">
                <a:solidFill>
                  <a:srgbClr val="A50021"/>
                </a:solidFill>
                <a:sym typeface="Symbol"/>
              </a:rPr>
              <a:t> </a:t>
            </a:r>
            <a:endParaRPr kumimoji="1" lang="en-US" altLang="zh-CN" sz="2800" b="1" dirty="0" smtClean="0">
              <a:solidFill>
                <a:srgbClr val="000066"/>
              </a:solidFill>
              <a:sym typeface="Symbol" pitchFamily="18" charset="2"/>
            </a:endParaRPr>
          </a:p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200" b="1" dirty="0" smtClean="0">
                <a:solidFill>
                  <a:srgbClr val="000066"/>
                </a:solidFill>
              </a:rPr>
              <a:t>0 </a:t>
            </a:r>
            <a:r>
              <a:rPr kumimoji="1" lang="en-US" altLang="zh-CN" sz="2200" b="1" dirty="0">
                <a:solidFill>
                  <a:srgbClr val="000066"/>
                </a:solidFill>
                <a:sym typeface="Symbol" pitchFamily="18" charset="2"/>
              </a:rPr>
              <a:t></a:t>
            </a:r>
            <a:r>
              <a:rPr kumimoji="1" lang="en-US" altLang="zh-CN" sz="2200" b="1" dirty="0">
                <a:solidFill>
                  <a:srgbClr val="000066"/>
                </a:solidFill>
              </a:rPr>
              <a:t> z </a:t>
            </a:r>
            <a:r>
              <a:rPr kumimoji="1" lang="en-US" altLang="zh-CN" sz="2200" b="1" dirty="0">
                <a:solidFill>
                  <a:srgbClr val="000066"/>
                </a:solidFill>
                <a:sym typeface="Symbol" pitchFamily="18" charset="2"/>
              </a:rPr>
              <a:t></a:t>
            </a:r>
            <a:r>
              <a:rPr kumimoji="1" lang="en-US" altLang="zh-CN" sz="2200" b="1" dirty="0">
                <a:solidFill>
                  <a:srgbClr val="000066"/>
                </a:solidFill>
              </a:rPr>
              <a:t> </a:t>
            </a:r>
            <a:r>
              <a:rPr kumimoji="1" lang="en-US" altLang="zh-CN" sz="2200" b="1" i="1" dirty="0">
                <a:solidFill>
                  <a:srgbClr val="000066"/>
                </a:solidFill>
              </a:rPr>
              <a:t>H</a:t>
            </a:r>
            <a:r>
              <a:rPr kumimoji="1" lang="en-US" altLang="zh-CN" sz="2200" b="1" dirty="0">
                <a:solidFill>
                  <a:srgbClr val="000066"/>
                </a:solidFill>
              </a:rPr>
              <a:t>:</a:t>
            </a:r>
          </a:p>
          <a:p>
            <a:pPr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200" b="1" dirty="0">
                <a:solidFill>
                  <a:srgbClr val="000066"/>
                </a:solidFill>
              </a:rPr>
              <a:t> </a:t>
            </a:r>
            <a:r>
              <a:rPr kumimoji="1" lang="en-US" altLang="zh-CN" sz="2200" b="1" i="1" dirty="0" smtClean="0">
                <a:solidFill>
                  <a:srgbClr val="000066"/>
                </a:solidFill>
              </a:rPr>
              <a:t>u</a:t>
            </a:r>
            <a:r>
              <a:rPr kumimoji="1" lang="en-US" altLang="zh-CN" sz="2200" b="1" dirty="0" smtClean="0">
                <a:solidFill>
                  <a:srgbClr val="000066"/>
                </a:solidFill>
              </a:rPr>
              <a:t>=0</a:t>
            </a:r>
            <a:endParaRPr kumimoji="1" lang="en-US" altLang="zh-CN" sz="2200" b="1" dirty="0">
              <a:solidFill>
                <a:srgbClr val="000066"/>
              </a:solidFill>
            </a:endParaRPr>
          </a:p>
        </p:txBody>
      </p:sp>
      <p:sp>
        <p:nvSpPr>
          <p:cNvPr id="1572938" name="Text Box 74"/>
          <p:cNvSpPr txBox="1">
            <a:spLocks noChangeArrowheads="1"/>
          </p:cNvSpPr>
          <p:nvPr/>
        </p:nvSpPr>
        <p:spPr bwMode="auto">
          <a:xfrm>
            <a:off x="4132263" y="987425"/>
            <a:ext cx="41216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</a:rPr>
              <a:t>初始条件             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</a:rPr>
              <a:t>     边界条件</a:t>
            </a:r>
            <a:endParaRPr lang="en-US" altLang="zh-CN" sz="24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72940" name="Rectangle 76"/>
          <p:cNvSpPr>
            <a:spLocks noChangeArrowheads="1"/>
          </p:cNvSpPr>
          <p:nvPr/>
        </p:nvSpPr>
        <p:spPr bwMode="auto">
          <a:xfrm>
            <a:off x="2432050" y="5713413"/>
            <a:ext cx="53641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方程求解 </a:t>
            </a:r>
            <a:r>
              <a:rPr kumimoji="1" lang="en-US" altLang="zh-CN" sz="4000" b="1">
                <a:solidFill>
                  <a:srgbClr val="000066"/>
                </a:solidFill>
                <a:latin typeface="Arial Black"/>
                <a:ea typeface="黑体" pitchFamily="2" charset="-122"/>
                <a:sym typeface="Symbol" pitchFamily="18" charset="2"/>
              </a:rPr>
              <a:t>–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边界条件</a:t>
            </a:r>
            <a:endParaRPr kumimoji="1" lang="en-US" altLang="zh-CN" sz="4000" b="1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7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4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2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57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72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72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572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57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57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2938" grpId="0"/>
      <p:bldP spid="1572940" grpId="0" build="p" autoUpdateAnimBg="0" advAuto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3893" name="Group 5"/>
          <p:cNvGrpSpPr>
            <a:grpSpLocks/>
          </p:cNvGrpSpPr>
          <p:nvPr/>
        </p:nvGrpSpPr>
        <p:grpSpPr bwMode="auto">
          <a:xfrm>
            <a:off x="5072063" y="382588"/>
            <a:ext cx="3548062" cy="2895600"/>
            <a:chOff x="3195" y="331"/>
            <a:chExt cx="2235" cy="1824"/>
          </a:xfrm>
        </p:grpSpPr>
        <p:sp>
          <p:nvSpPr>
            <p:cNvPr id="1573894" name="Rectangle 6"/>
            <p:cNvSpPr>
              <a:spLocks noChangeArrowheads="1"/>
            </p:cNvSpPr>
            <p:nvPr/>
          </p:nvSpPr>
          <p:spPr bwMode="auto">
            <a:xfrm>
              <a:off x="3195" y="364"/>
              <a:ext cx="2235" cy="17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3895" name="Rectangle 7"/>
            <p:cNvSpPr>
              <a:spLocks noChangeArrowheads="1"/>
            </p:cNvSpPr>
            <p:nvPr/>
          </p:nvSpPr>
          <p:spPr bwMode="auto">
            <a:xfrm>
              <a:off x="3398" y="795"/>
              <a:ext cx="1814" cy="1037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3896" name="Rectangle 8"/>
            <p:cNvSpPr>
              <a:spLocks noChangeArrowheads="1"/>
            </p:cNvSpPr>
            <p:nvPr/>
          </p:nvSpPr>
          <p:spPr bwMode="auto">
            <a:xfrm>
              <a:off x="4022" y="790"/>
              <a:ext cx="471" cy="1042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3897" name="Freeform 9" descr="浅色横线"/>
            <p:cNvSpPr>
              <a:spLocks/>
            </p:cNvSpPr>
            <p:nvPr/>
          </p:nvSpPr>
          <p:spPr bwMode="auto">
            <a:xfrm>
              <a:off x="4022" y="795"/>
              <a:ext cx="471" cy="1037"/>
            </a:xfrm>
            <a:custGeom>
              <a:avLst/>
              <a:gdLst>
                <a:gd name="T0" fmla="*/ 0 w 471"/>
                <a:gd name="T1" fmla="*/ 0 h 1027"/>
                <a:gd name="T2" fmla="*/ 471 w 471"/>
                <a:gd name="T3" fmla="*/ 0 h 1027"/>
                <a:gd name="T4" fmla="*/ 389 w 471"/>
                <a:gd name="T5" fmla="*/ 106 h 1027"/>
                <a:gd name="T6" fmla="*/ 303 w 471"/>
                <a:gd name="T7" fmla="*/ 274 h 1027"/>
                <a:gd name="T8" fmla="*/ 221 w 471"/>
                <a:gd name="T9" fmla="*/ 475 h 1027"/>
                <a:gd name="T10" fmla="*/ 159 w 471"/>
                <a:gd name="T11" fmla="*/ 725 h 1027"/>
                <a:gd name="T12" fmla="*/ 120 w 471"/>
                <a:gd name="T13" fmla="*/ 893 h 1027"/>
                <a:gd name="T14" fmla="*/ 106 w 471"/>
                <a:gd name="T15" fmla="*/ 1027 h 1027"/>
                <a:gd name="T16" fmla="*/ 5 w 471"/>
                <a:gd name="T17" fmla="*/ 1027 h 1027"/>
                <a:gd name="T18" fmla="*/ 0 w 471"/>
                <a:gd name="T19" fmla="*/ 0 h 1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1" h="1027">
                  <a:moveTo>
                    <a:pt x="0" y="0"/>
                  </a:moveTo>
                  <a:lnTo>
                    <a:pt x="471" y="0"/>
                  </a:lnTo>
                  <a:lnTo>
                    <a:pt x="389" y="106"/>
                  </a:lnTo>
                  <a:lnTo>
                    <a:pt x="303" y="274"/>
                  </a:lnTo>
                  <a:lnTo>
                    <a:pt x="221" y="475"/>
                  </a:lnTo>
                  <a:lnTo>
                    <a:pt x="159" y="725"/>
                  </a:lnTo>
                  <a:lnTo>
                    <a:pt x="120" y="893"/>
                  </a:lnTo>
                  <a:lnTo>
                    <a:pt x="106" y="1027"/>
                  </a:lnTo>
                  <a:lnTo>
                    <a:pt x="5" y="1027"/>
                  </a:lnTo>
                  <a:lnTo>
                    <a:pt x="0" y="0"/>
                  </a:lnTo>
                  <a:close/>
                </a:path>
              </a:pathLst>
            </a:custGeom>
            <a:pattFill prst="ltHorz">
              <a:fgClr>
                <a:srgbClr val="FF9999"/>
              </a:fgClr>
              <a:bgClr>
                <a:srgbClr val="CCEC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73898" name="Group 10"/>
            <p:cNvGrpSpPr>
              <a:grpSpLocks/>
            </p:cNvGrpSpPr>
            <p:nvPr/>
          </p:nvGrpSpPr>
          <p:grpSpPr bwMode="auto">
            <a:xfrm>
              <a:off x="3679" y="575"/>
              <a:ext cx="1271" cy="221"/>
              <a:chOff x="3544" y="1068"/>
              <a:chExt cx="1067" cy="180"/>
            </a:xfrm>
          </p:grpSpPr>
          <p:sp>
            <p:nvSpPr>
              <p:cNvPr id="1573899" name="Line 11"/>
              <p:cNvSpPr>
                <a:spLocks noChangeShapeType="1"/>
              </p:cNvSpPr>
              <p:nvPr/>
            </p:nvSpPr>
            <p:spPr bwMode="auto">
              <a:xfrm>
                <a:off x="3544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3900" name="Line 12"/>
              <p:cNvSpPr>
                <a:spLocks noChangeShapeType="1"/>
              </p:cNvSpPr>
              <p:nvPr/>
            </p:nvSpPr>
            <p:spPr bwMode="auto">
              <a:xfrm>
                <a:off x="3663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3901" name="Line 13"/>
              <p:cNvSpPr>
                <a:spLocks noChangeShapeType="1"/>
              </p:cNvSpPr>
              <p:nvPr/>
            </p:nvSpPr>
            <p:spPr bwMode="auto">
              <a:xfrm>
                <a:off x="3782" y="1083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3902" name="Line 14"/>
              <p:cNvSpPr>
                <a:spLocks noChangeShapeType="1"/>
              </p:cNvSpPr>
              <p:nvPr/>
            </p:nvSpPr>
            <p:spPr bwMode="auto">
              <a:xfrm>
                <a:off x="3900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3903" name="Line 15"/>
              <p:cNvSpPr>
                <a:spLocks noChangeShapeType="1"/>
              </p:cNvSpPr>
              <p:nvPr/>
            </p:nvSpPr>
            <p:spPr bwMode="auto">
              <a:xfrm>
                <a:off x="4019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3904" name="Line 16"/>
              <p:cNvSpPr>
                <a:spLocks noChangeShapeType="1"/>
              </p:cNvSpPr>
              <p:nvPr/>
            </p:nvSpPr>
            <p:spPr bwMode="auto">
              <a:xfrm>
                <a:off x="4136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3905" name="Line 17"/>
              <p:cNvSpPr>
                <a:spLocks noChangeShapeType="1"/>
              </p:cNvSpPr>
              <p:nvPr/>
            </p:nvSpPr>
            <p:spPr bwMode="auto">
              <a:xfrm>
                <a:off x="4255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3906" name="Line 18"/>
              <p:cNvSpPr>
                <a:spLocks noChangeShapeType="1"/>
              </p:cNvSpPr>
              <p:nvPr/>
            </p:nvSpPr>
            <p:spPr bwMode="auto">
              <a:xfrm>
                <a:off x="4374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3907" name="Line 19"/>
              <p:cNvSpPr>
                <a:spLocks noChangeShapeType="1"/>
              </p:cNvSpPr>
              <p:nvPr/>
            </p:nvSpPr>
            <p:spPr bwMode="auto">
              <a:xfrm>
                <a:off x="4492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3908" name="Line 20"/>
              <p:cNvSpPr>
                <a:spLocks noChangeShapeType="1"/>
              </p:cNvSpPr>
              <p:nvPr/>
            </p:nvSpPr>
            <p:spPr bwMode="auto">
              <a:xfrm>
                <a:off x="4611" y="1068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73909" name="Rectangle 21"/>
            <p:cNvSpPr>
              <a:spLocks noChangeArrowheads="1"/>
            </p:cNvSpPr>
            <p:nvPr/>
          </p:nvSpPr>
          <p:spPr bwMode="auto">
            <a:xfrm>
              <a:off x="4223" y="331"/>
              <a:ext cx="19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 type="none" w="med" len="lg"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p</a:t>
              </a:r>
              <a:endParaRPr kumimoji="1" lang="zh-CN" altLang="en-US" sz="2000" b="1" i="1" dirty="0">
                <a:solidFill>
                  <a:srgbClr val="000066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573910" name="Line 22"/>
            <p:cNvSpPr>
              <a:spLocks noChangeShapeType="1"/>
            </p:cNvSpPr>
            <p:nvPr/>
          </p:nvSpPr>
          <p:spPr bwMode="auto">
            <a:xfrm>
              <a:off x="3397" y="789"/>
              <a:ext cx="1814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3911" name="Text Box 23"/>
            <p:cNvSpPr txBox="1">
              <a:spLocks noChangeArrowheads="1"/>
            </p:cNvSpPr>
            <p:nvPr/>
          </p:nvSpPr>
          <p:spPr bwMode="auto">
            <a:xfrm>
              <a:off x="3402" y="387"/>
              <a:ext cx="25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573912" name="Text Box 24"/>
            <p:cNvSpPr txBox="1">
              <a:spLocks noChangeArrowheads="1"/>
            </p:cNvSpPr>
            <p:nvPr/>
          </p:nvSpPr>
          <p:spPr bwMode="auto">
            <a:xfrm flipH="1">
              <a:off x="4972" y="399"/>
              <a:ext cx="2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</a:t>
              </a:r>
            </a:p>
          </p:txBody>
        </p:sp>
        <p:sp>
          <p:nvSpPr>
            <p:cNvPr id="1573913" name="Line 25"/>
            <p:cNvSpPr>
              <a:spLocks noChangeShapeType="1"/>
            </p:cNvSpPr>
            <p:nvPr/>
          </p:nvSpPr>
          <p:spPr bwMode="auto">
            <a:xfrm>
              <a:off x="5025" y="684"/>
              <a:ext cx="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3914" name="Rectangle 26" descr="深色上对角线"/>
            <p:cNvSpPr>
              <a:spLocks noChangeArrowheads="1"/>
            </p:cNvSpPr>
            <p:nvPr/>
          </p:nvSpPr>
          <p:spPr bwMode="auto">
            <a:xfrm>
              <a:off x="3399" y="1829"/>
              <a:ext cx="1813" cy="68"/>
            </a:xfrm>
            <a:prstGeom prst="rect">
              <a:avLst/>
            </a:prstGeom>
            <a:pattFill prst="dkUpDiag">
              <a:fgClr>
                <a:srgbClr val="666633"/>
              </a:fgClr>
              <a:bgClr>
                <a:schemeClr val="hlink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3915" name="Text Box 27"/>
            <p:cNvSpPr txBox="1">
              <a:spLocks noChangeArrowheads="1"/>
            </p:cNvSpPr>
            <p:nvPr/>
          </p:nvSpPr>
          <p:spPr bwMode="auto">
            <a:xfrm>
              <a:off x="4697" y="1461"/>
              <a:ext cx="56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不透水</a:t>
              </a:r>
            </a:p>
          </p:txBody>
        </p:sp>
        <p:sp>
          <p:nvSpPr>
            <p:cNvPr id="1573916" name="Text Box 28"/>
            <p:cNvSpPr txBox="1">
              <a:spLocks noChangeArrowheads="1"/>
            </p:cNvSpPr>
            <p:nvPr/>
          </p:nvSpPr>
          <p:spPr bwMode="auto">
            <a:xfrm>
              <a:off x="3799" y="1867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z</a:t>
              </a:r>
            </a:p>
          </p:txBody>
        </p:sp>
        <p:sp>
          <p:nvSpPr>
            <p:cNvPr id="1573917" name="Line 29"/>
            <p:cNvSpPr>
              <a:spLocks noChangeShapeType="1"/>
            </p:cNvSpPr>
            <p:nvPr/>
          </p:nvSpPr>
          <p:spPr bwMode="auto">
            <a:xfrm>
              <a:off x="4488" y="804"/>
              <a:ext cx="0" cy="10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3918" name="Freeform 30"/>
            <p:cNvSpPr>
              <a:spLocks/>
            </p:cNvSpPr>
            <p:nvPr/>
          </p:nvSpPr>
          <p:spPr bwMode="auto">
            <a:xfrm>
              <a:off x="4128" y="792"/>
              <a:ext cx="365" cy="1041"/>
            </a:xfrm>
            <a:custGeom>
              <a:avLst/>
              <a:gdLst>
                <a:gd name="T0" fmla="*/ 365 w 365"/>
                <a:gd name="T1" fmla="*/ 0 h 1032"/>
                <a:gd name="T2" fmla="*/ 264 w 365"/>
                <a:gd name="T3" fmla="*/ 139 h 1032"/>
                <a:gd name="T4" fmla="*/ 134 w 365"/>
                <a:gd name="T5" fmla="*/ 427 h 1032"/>
                <a:gd name="T6" fmla="*/ 38 w 365"/>
                <a:gd name="T7" fmla="*/ 782 h 1032"/>
                <a:gd name="T8" fmla="*/ 0 w 365"/>
                <a:gd name="T9" fmla="*/ 1032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" h="1032">
                  <a:moveTo>
                    <a:pt x="365" y="0"/>
                  </a:moveTo>
                  <a:cubicBezTo>
                    <a:pt x="348" y="23"/>
                    <a:pt x="303" y="68"/>
                    <a:pt x="264" y="139"/>
                  </a:cubicBezTo>
                  <a:cubicBezTo>
                    <a:pt x="225" y="210"/>
                    <a:pt x="172" y="320"/>
                    <a:pt x="134" y="427"/>
                  </a:cubicBezTo>
                  <a:cubicBezTo>
                    <a:pt x="96" y="534"/>
                    <a:pt x="60" y="681"/>
                    <a:pt x="38" y="782"/>
                  </a:cubicBezTo>
                  <a:cubicBezTo>
                    <a:pt x="16" y="883"/>
                    <a:pt x="9" y="953"/>
                    <a:pt x="0" y="1032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3919" name="Text Box 31"/>
            <p:cNvSpPr txBox="1">
              <a:spLocks noChangeArrowheads="1"/>
            </p:cNvSpPr>
            <p:nvPr/>
          </p:nvSpPr>
          <p:spPr bwMode="auto">
            <a:xfrm>
              <a:off x="4651" y="989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ea typeface="幼圆" pitchFamily="49" charset="-122"/>
                </a:rPr>
                <a:t>排水面</a:t>
              </a:r>
              <a:endParaRPr lang="en-US" altLang="zh-CN" sz="20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73920" name="Line 32"/>
            <p:cNvSpPr>
              <a:spLocks noChangeShapeType="1"/>
            </p:cNvSpPr>
            <p:nvPr/>
          </p:nvSpPr>
          <p:spPr bwMode="auto">
            <a:xfrm>
              <a:off x="4874" y="819"/>
              <a:ext cx="64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3921" name="Line 33"/>
            <p:cNvSpPr>
              <a:spLocks noChangeShapeType="1"/>
            </p:cNvSpPr>
            <p:nvPr/>
          </p:nvSpPr>
          <p:spPr bwMode="auto">
            <a:xfrm>
              <a:off x="3614" y="800"/>
              <a:ext cx="0" cy="10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3922" name="Text Box 34"/>
            <p:cNvSpPr txBox="1">
              <a:spLocks noChangeArrowheads="1"/>
            </p:cNvSpPr>
            <p:nvPr/>
          </p:nvSpPr>
          <p:spPr bwMode="auto">
            <a:xfrm>
              <a:off x="3479" y="1179"/>
              <a:ext cx="240" cy="250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</a:rPr>
                <a:t>H</a:t>
              </a:r>
            </a:p>
          </p:txBody>
        </p:sp>
        <p:sp>
          <p:nvSpPr>
            <p:cNvPr id="1573923" name="Line 35"/>
            <p:cNvSpPr>
              <a:spLocks noChangeShapeType="1"/>
            </p:cNvSpPr>
            <p:nvPr/>
          </p:nvSpPr>
          <p:spPr bwMode="auto">
            <a:xfrm>
              <a:off x="4027" y="790"/>
              <a:ext cx="0" cy="1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3924" name="Line 36"/>
            <p:cNvSpPr>
              <a:spLocks noChangeShapeType="1"/>
            </p:cNvSpPr>
            <p:nvPr/>
          </p:nvSpPr>
          <p:spPr bwMode="auto">
            <a:xfrm>
              <a:off x="4027" y="1136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3925" name="Line 37"/>
            <p:cNvSpPr>
              <a:spLocks noChangeShapeType="1"/>
            </p:cNvSpPr>
            <p:nvPr/>
          </p:nvSpPr>
          <p:spPr bwMode="auto">
            <a:xfrm>
              <a:off x="4296" y="113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3926" name="Text Box 38"/>
            <p:cNvSpPr txBox="1">
              <a:spLocks noChangeArrowheads="1"/>
            </p:cNvSpPr>
            <p:nvPr/>
          </p:nvSpPr>
          <p:spPr bwMode="auto">
            <a:xfrm>
              <a:off x="4037" y="878"/>
              <a:ext cx="2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</a:t>
              </a:r>
              <a:r>
                <a:rPr lang="zh-CN" altLang="en-US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</a:t>
              </a:r>
              <a:r>
                <a:rPr lang="en-US" altLang="zh-CN" sz="18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  <a:endParaRPr lang="en-US" altLang="zh-CN" sz="1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73927" name="Text Box 39"/>
            <p:cNvSpPr txBox="1">
              <a:spLocks noChangeArrowheads="1"/>
            </p:cNvSpPr>
            <p:nvPr/>
          </p:nvSpPr>
          <p:spPr bwMode="auto">
            <a:xfrm>
              <a:off x="4291" y="110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 i="1" dirty="0">
                  <a:solidFill>
                    <a:srgbClr val="000066"/>
                  </a:solidFill>
                  <a:ea typeface="幼圆" pitchFamily="49" charset="-122"/>
                </a:rPr>
                <a:t>u</a:t>
              </a:r>
            </a:p>
          </p:txBody>
        </p:sp>
        <p:sp>
          <p:nvSpPr>
            <p:cNvPr id="1573928" name="Text Box 40"/>
            <p:cNvSpPr txBox="1">
              <a:spLocks noChangeArrowheads="1"/>
            </p:cNvSpPr>
            <p:nvPr/>
          </p:nvSpPr>
          <p:spPr bwMode="auto">
            <a:xfrm>
              <a:off x="3824" y="67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o</a:t>
              </a:r>
            </a:p>
          </p:txBody>
        </p:sp>
        <p:sp>
          <p:nvSpPr>
            <p:cNvPr id="1573929" name="Line 41"/>
            <p:cNvSpPr>
              <a:spLocks noChangeShapeType="1"/>
            </p:cNvSpPr>
            <p:nvPr/>
          </p:nvSpPr>
          <p:spPr bwMode="auto">
            <a:xfrm rot="-10800000">
              <a:off x="3443" y="676"/>
              <a:ext cx="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3930" name="Line 42"/>
            <p:cNvSpPr>
              <a:spLocks noChangeShapeType="1"/>
            </p:cNvSpPr>
            <p:nvPr/>
          </p:nvSpPr>
          <p:spPr bwMode="auto">
            <a:xfrm flipV="1">
              <a:off x="4745" y="1688"/>
              <a:ext cx="135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573931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012323"/>
              </p:ext>
            </p:extLst>
          </p:nvPr>
        </p:nvGraphicFramePr>
        <p:xfrm>
          <a:off x="2544763" y="781050"/>
          <a:ext cx="190658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152" name="Equation" r:id="rId3" imgW="825480" imgH="419040" progId="Equation.DSMT4">
                  <p:embed/>
                </p:oleObj>
              </mc:Choice>
              <mc:Fallback>
                <p:oleObj name="Equation" r:id="rId3" imgW="825480" imgH="41904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3" y="781050"/>
                        <a:ext cx="1906587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3932" name="Rectangle 44"/>
          <p:cNvSpPr>
            <a:spLocks noChangeArrowheads="1"/>
          </p:cNvSpPr>
          <p:nvPr/>
        </p:nvSpPr>
        <p:spPr bwMode="auto">
          <a:xfrm>
            <a:off x="487363" y="1003300"/>
            <a:ext cx="209073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1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微分方程：</a:t>
            </a:r>
          </a:p>
        </p:txBody>
      </p:sp>
      <p:sp>
        <p:nvSpPr>
          <p:cNvPr id="1573933" name="Text Box 45"/>
          <p:cNvSpPr txBox="1">
            <a:spLocks noChangeArrowheads="1"/>
          </p:cNvSpPr>
          <p:nvPr/>
        </p:nvSpPr>
        <p:spPr bwMode="auto">
          <a:xfrm>
            <a:off x="468313" y="2089150"/>
            <a:ext cx="3155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Tx/>
              <a:buChar char="•"/>
            </a:pP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 初始条件和边界条件</a:t>
            </a:r>
            <a:endParaRPr lang="en-US" altLang="zh-CN" sz="2400" b="1">
              <a:solidFill>
                <a:srgbClr val="A50021"/>
              </a:solidFill>
              <a:ea typeface="幼圆" pitchFamily="49" charset="-122"/>
            </a:endParaRPr>
          </a:p>
        </p:txBody>
      </p:sp>
      <p:graphicFrame>
        <p:nvGraphicFramePr>
          <p:cNvPr id="1573934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623072"/>
              </p:ext>
            </p:extLst>
          </p:nvPr>
        </p:nvGraphicFramePr>
        <p:xfrm>
          <a:off x="2260600" y="3394075"/>
          <a:ext cx="6095520" cy="93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153" name="Equation" r:id="rId5" imgW="3047760" imgH="469800" progId="Equation.DSMT4">
                  <p:embed/>
                </p:oleObj>
              </mc:Choice>
              <mc:Fallback>
                <p:oleObj name="Equation" r:id="rId5" imgW="3047760" imgH="4698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3394075"/>
                        <a:ext cx="6095520" cy="9396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C00000"/>
                        </a:solidFill>
                        <a:prstDash val="dash"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3935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895185"/>
              </p:ext>
            </p:extLst>
          </p:nvPr>
        </p:nvGraphicFramePr>
        <p:xfrm>
          <a:off x="2265363" y="4708525"/>
          <a:ext cx="119221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4154" name="Equation" r:id="rId7" imgW="596880" imgH="380880" progId="Equation.DSMT4">
                  <p:embed/>
                </p:oleObj>
              </mc:Choice>
              <mc:Fallback>
                <p:oleObj name="Equation" r:id="rId7" imgW="596880" imgH="38088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363" y="4708525"/>
                        <a:ext cx="1192212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3936" name="Text Box 48"/>
          <p:cNvSpPr txBox="1">
            <a:spLocks noChangeArrowheads="1"/>
          </p:cNvSpPr>
          <p:nvPr/>
        </p:nvSpPr>
        <p:spPr bwMode="auto">
          <a:xfrm>
            <a:off x="3670300" y="4616450"/>
            <a:ext cx="5124243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为无量纲数，称为</a:t>
            </a: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</a:rPr>
              <a:t>时间因数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，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反映超静孔压消散的程度也即固结的程度</a:t>
            </a:r>
          </a:p>
        </p:txBody>
      </p:sp>
      <p:sp>
        <p:nvSpPr>
          <p:cNvPr id="1573937" name="Rectangle 49"/>
          <p:cNvSpPr>
            <a:spLocks noChangeArrowheads="1"/>
          </p:cNvSpPr>
          <p:nvPr/>
        </p:nvSpPr>
        <p:spPr bwMode="auto">
          <a:xfrm>
            <a:off x="452438" y="3552825"/>
            <a:ext cx="353853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1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方程的解：</a:t>
            </a:r>
          </a:p>
        </p:txBody>
      </p:sp>
      <p:sp>
        <p:nvSpPr>
          <p:cNvPr id="1573938" name="AutoShape 50"/>
          <p:cNvSpPr>
            <a:spLocks noChangeArrowheads="1"/>
          </p:cNvSpPr>
          <p:nvPr/>
        </p:nvSpPr>
        <p:spPr bwMode="auto">
          <a:xfrm>
            <a:off x="1484313" y="4821238"/>
            <a:ext cx="569912" cy="488950"/>
          </a:xfrm>
          <a:prstGeom prst="homePlate">
            <a:avLst>
              <a:gd name="adj" fmla="val 29140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73940" name="Rectangle 52"/>
          <p:cNvSpPr>
            <a:spLocks noChangeArrowheads="1"/>
          </p:cNvSpPr>
          <p:nvPr/>
        </p:nvSpPr>
        <p:spPr bwMode="auto">
          <a:xfrm>
            <a:off x="2432050" y="5819775"/>
            <a:ext cx="53641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方程求解 </a:t>
            </a:r>
            <a:r>
              <a:rPr kumimoji="1" lang="en-US" altLang="zh-CN" sz="4000" b="1">
                <a:solidFill>
                  <a:srgbClr val="000066"/>
                </a:solidFill>
                <a:latin typeface="Arial Black"/>
                <a:ea typeface="黑体" pitchFamily="2" charset="-122"/>
                <a:sym typeface="Symbol" pitchFamily="18" charset="2"/>
              </a:rPr>
              <a:t>–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方程的解</a:t>
            </a:r>
          </a:p>
        </p:txBody>
      </p:sp>
      <p:sp>
        <p:nvSpPr>
          <p:cNvPr id="5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3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57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573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573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1000"/>
                                        <p:tgtEl>
                                          <p:spTgt spid="157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45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1000"/>
                                        <p:tgtEl>
                                          <p:spTgt spid="157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573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573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73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57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573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1000"/>
                                        <p:tgtEl>
                                          <p:spTgt spid="1573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3932" grpId="0"/>
      <p:bldP spid="1573933" grpId="0"/>
      <p:bldP spid="1573936" grpId="0"/>
      <p:bldP spid="1573937" grpId="0" autoUpdateAnimBg="0"/>
      <p:bldP spid="1573938" grpId="0" animBg="1"/>
      <p:bldP spid="1573940" grpId="0" build="p" autoUpdateAnimBg="0" advAuto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49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979123"/>
              </p:ext>
            </p:extLst>
          </p:nvPr>
        </p:nvGraphicFramePr>
        <p:xfrm>
          <a:off x="2935288" y="871538"/>
          <a:ext cx="450056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5018" name="Equation" r:id="rId3" imgW="2603160" imgH="431640" progId="Equation.DSMT4">
                  <p:embed/>
                </p:oleObj>
              </mc:Choice>
              <mc:Fallback>
                <p:oleObj name="Equation" r:id="rId3" imgW="2603160" imgH="431640" progId="Equation.DSMT4">
                  <p:embed/>
                  <p:pic>
                    <p:nvPicPr>
                      <p:cNvPr id="0" name="Object 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288" y="871538"/>
                        <a:ext cx="4500562" cy="74295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A50021"/>
                        </a:solidFill>
                        <a:prstDash val="dash"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74918" name="Group 6"/>
          <p:cNvGrpSpPr>
            <a:grpSpLocks/>
          </p:cNvGrpSpPr>
          <p:nvPr/>
        </p:nvGrpSpPr>
        <p:grpSpPr bwMode="auto">
          <a:xfrm>
            <a:off x="292100" y="1946275"/>
            <a:ext cx="4189413" cy="3390900"/>
            <a:chOff x="213" y="1333"/>
            <a:chExt cx="2639" cy="2136"/>
          </a:xfrm>
        </p:grpSpPr>
        <p:sp>
          <p:nvSpPr>
            <p:cNvPr id="1574919" name="Rectangle 7"/>
            <p:cNvSpPr>
              <a:spLocks noChangeArrowheads="1"/>
            </p:cNvSpPr>
            <p:nvPr/>
          </p:nvSpPr>
          <p:spPr bwMode="auto">
            <a:xfrm>
              <a:off x="213" y="1333"/>
              <a:ext cx="2639" cy="2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74920" name="Rectangle 8"/>
            <p:cNvSpPr>
              <a:spLocks noChangeArrowheads="1"/>
            </p:cNvSpPr>
            <p:nvPr/>
          </p:nvSpPr>
          <p:spPr bwMode="auto">
            <a:xfrm>
              <a:off x="401" y="1682"/>
              <a:ext cx="2268" cy="1356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74921" name="Text Box 9"/>
            <p:cNvSpPr txBox="1">
              <a:spLocks noChangeArrowheads="1"/>
            </p:cNvSpPr>
            <p:nvPr/>
          </p:nvSpPr>
          <p:spPr bwMode="auto">
            <a:xfrm rot="-5400000">
              <a:off x="643" y="2314"/>
              <a:ext cx="5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渗流</a:t>
              </a:r>
            </a:p>
          </p:txBody>
        </p:sp>
        <p:sp>
          <p:nvSpPr>
            <p:cNvPr id="1574922" name="Line 10"/>
            <p:cNvSpPr>
              <a:spLocks noChangeShapeType="1"/>
            </p:cNvSpPr>
            <p:nvPr/>
          </p:nvSpPr>
          <p:spPr bwMode="auto">
            <a:xfrm flipV="1">
              <a:off x="2507" y="1693"/>
              <a:ext cx="0" cy="133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4923" name="Line 11"/>
            <p:cNvSpPr>
              <a:spLocks noChangeShapeType="1"/>
            </p:cNvSpPr>
            <p:nvPr/>
          </p:nvSpPr>
          <p:spPr bwMode="auto">
            <a:xfrm flipV="1">
              <a:off x="794" y="2154"/>
              <a:ext cx="0" cy="558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4924" name="Text Box 12"/>
            <p:cNvSpPr txBox="1">
              <a:spLocks noChangeArrowheads="1"/>
            </p:cNvSpPr>
            <p:nvPr/>
          </p:nvSpPr>
          <p:spPr bwMode="auto">
            <a:xfrm>
              <a:off x="1117" y="305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</a:p>
          </p:txBody>
        </p:sp>
        <p:sp>
          <p:nvSpPr>
            <p:cNvPr id="1574925" name="Text Box 13"/>
            <p:cNvSpPr txBox="1">
              <a:spLocks noChangeArrowheads="1"/>
            </p:cNvSpPr>
            <p:nvPr/>
          </p:nvSpPr>
          <p:spPr bwMode="auto">
            <a:xfrm>
              <a:off x="1718" y="3162"/>
              <a:ext cx="50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kumimoji="1" lang="en-US" altLang="zh-CN" sz="2000" b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0</a:t>
              </a:r>
              <a:r>
                <a:rPr kumimoji="1" lang="en-US" altLang="zh-CN" sz="2000" b="1" i="1" baseline="-25000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 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 </a:t>
              </a:r>
              <a:r>
                <a:rPr kumimoji="1" lang="en-US" altLang="zh-CN" sz="20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endParaRPr kumimoji="1"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74926" name="Line 14"/>
            <p:cNvSpPr>
              <a:spLocks noChangeShapeType="1"/>
            </p:cNvSpPr>
            <p:nvPr/>
          </p:nvSpPr>
          <p:spPr bwMode="auto">
            <a:xfrm>
              <a:off x="399" y="1689"/>
              <a:ext cx="2268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4927" name="Rectangle 15" descr="深色上对角线"/>
            <p:cNvSpPr>
              <a:spLocks noChangeArrowheads="1"/>
            </p:cNvSpPr>
            <p:nvPr/>
          </p:nvSpPr>
          <p:spPr bwMode="auto">
            <a:xfrm>
              <a:off x="402" y="3034"/>
              <a:ext cx="2267" cy="88"/>
            </a:xfrm>
            <a:prstGeom prst="rect">
              <a:avLst/>
            </a:prstGeom>
            <a:pattFill prst="dkUpDiag">
              <a:fgClr>
                <a:srgbClr val="666633"/>
              </a:fgClr>
              <a:bgClr>
                <a:schemeClr val="hlink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74928" name="Text Box 16"/>
            <p:cNvSpPr txBox="1">
              <a:spLocks noChangeArrowheads="1"/>
            </p:cNvSpPr>
            <p:nvPr/>
          </p:nvSpPr>
          <p:spPr bwMode="auto">
            <a:xfrm>
              <a:off x="500" y="3138"/>
              <a:ext cx="701" cy="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990033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不透水</a:t>
              </a:r>
            </a:p>
          </p:txBody>
        </p:sp>
        <p:sp>
          <p:nvSpPr>
            <p:cNvPr id="1574929" name="Text Box 17"/>
            <p:cNvSpPr txBox="1">
              <a:spLocks noChangeArrowheads="1"/>
            </p:cNvSpPr>
            <p:nvPr/>
          </p:nvSpPr>
          <p:spPr bwMode="auto">
            <a:xfrm>
              <a:off x="474" y="1359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ea typeface="幼圆" pitchFamily="49" charset="-122"/>
                </a:rPr>
                <a:t>排水面</a:t>
              </a:r>
              <a:endParaRPr lang="en-US" altLang="zh-CN" sz="20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74930" name="Line 18"/>
            <p:cNvSpPr>
              <a:spLocks noChangeShapeType="1"/>
            </p:cNvSpPr>
            <p:nvPr/>
          </p:nvSpPr>
          <p:spPr bwMode="auto">
            <a:xfrm>
              <a:off x="586" y="1688"/>
              <a:ext cx="0" cy="13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4931" name="Text Box 19"/>
            <p:cNvSpPr txBox="1">
              <a:spLocks noChangeArrowheads="1"/>
            </p:cNvSpPr>
            <p:nvPr/>
          </p:nvSpPr>
          <p:spPr bwMode="auto">
            <a:xfrm>
              <a:off x="453" y="2184"/>
              <a:ext cx="240" cy="250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</a:rPr>
                <a:t>H</a:t>
              </a:r>
            </a:p>
          </p:txBody>
        </p:sp>
        <p:sp>
          <p:nvSpPr>
            <p:cNvPr id="1574932" name="Freeform 20"/>
            <p:cNvSpPr>
              <a:spLocks/>
            </p:cNvSpPr>
            <p:nvPr/>
          </p:nvSpPr>
          <p:spPr bwMode="auto">
            <a:xfrm>
              <a:off x="1413" y="1696"/>
              <a:ext cx="1093" cy="1343"/>
            </a:xfrm>
            <a:custGeom>
              <a:avLst/>
              <a:gdLst>
                <a:gd name="T0" fmla="*/ 1077 w 1077"/>
                <a:gd name="T1" fmla="*/ 0 h 1268"/>
                <a:gd name="T2" fmla="*/ 792 w 1077"/>
                <a:gd name="T3" fmla="*/ 116 h 1268"/>
                <a:gd name="T4" fmla="*/ 515 w 1077"/>
                <a:gd name="T5" fmla="*/ 274 h 1268"/>
                <a:gd name="T6" fmla="*/ 326 w 1077"/>
                <a:gd name="T7" fmla="*/ 438 h 1268"/>
                <a:gd name="T8" fmla="*/ 206 w 1077"/>
                <a:gd name="T9" fmla="*/ 586 h 1268"/>
                <a:gd name="T10" fmla="*/ 102 w 1077"/>
                <a:gd name="T11" fmla="*/ 780 h 1268"/>
                <a:gd name="T12" fmla="*/ 29 w 1077"/>
                <a:gd name="T13" fmla="*/ 1000 h 1268"/>
                <a:gd name="T14" fmla="*/ 0 w 1077"/>
                <a:gd name="T15" fmla="*/ 1268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77" h="1268">
                  <a:moveTo>
                    <a:pt x="1077" y="0"/>
                  </a:moveTo>
                  <a:cubicBezTo>
                    <a:pt x="1030" y="19"/>
                    <a:pt x="886" y="70"/>
                    <a:pt x="792" y="116"/>
                  </a:cubicBezTo>
                  <a:cubicBezTo>
                    <a:pt x="698" y="162"/>
                    <a:pt x="593" y="220"/>
                    <a:pt x="515" y="274"/>
                  </a:cubicBezTo>
                  <a:cubicBezTo>
                    <a:pt x="437" y="328"/>
                    <a:pt x="378" y="386"/>
                    <a:pt x="326" y="438"/>
                  </a:cubicBezTo>
                  <a:cubicBezTo>
                    <a:pt x="274" y="490"/>
                    <a:pt x="244" y="529"/>
                    <a:pt x="206" y="586"/>
                  </a:cubicBezTo>
                  <a:cubicBezTo>
                    <a:pt x="168" y="643"/>
                    <a:pt x="131" y="712"/>
                    <a:pt x="102" y="780"/>
                  </a:cubicBezTo>
                  <a:cubicBezTo>
                    <a:pt x="72" y="849"/>
                    <a:pt x="46" y="919"/>
                    <a:pt x="29" y="1000"/>
                  </a:cubicBezTo>
                  <a:cubicBezTo>
                    <a:pt x="12" y="1081"/>
                    <a:pt x="6" y="1212"/>
                    <a:pt x="0" y="1268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4933" name="Freeform 21"/>
            <p:cNvSpPr>
              <a:spLocks/>
            </p:cNvSpPr>
            <p:nvPr/>
          </p:nvSpPr>
          <p:spPr bwMode="auto">
            <a:xfrm>
              <a:off x="1686" y="1699"/>
              <a:ext cx="820" cy="1342"/>
            </a:xfrm>
            <a:custGeom>
              <a:avLst/>
              <a:gdLst>
                <a:gd name="T0" fmla="*/ 808 w 808"/>
                <a:gd name="T1" fmla="*/ 0 h 1270"/>
                <a:gd name="T2" fmla="*/ 575 w 808"/>
                <a:gd name="T3" fmla="*/ 177 h 1270"/>
                <a:gd name="T4" fmla="*/ 354 w 808"/>
                <a:gd name="T5" fmla="*/ 394 h 1270"/>
                <a:gd name="T6" fmla="*/ 187 w 808"/>
                <a:gd name="T7" fmla="*/ 615 h 1270"/>
                <a:gd name="T8" fmla="*/ 69 w 808"/>
                <a:gd name="T9" fmla="*/ 862 h 1270"/>
                <a:gd name="T10" fmla="*/ 17 w 808"/>
                <a:gd name="T11" fmla="*/ 1087 h 1270"/>
                <a:gd name="T12" fmla="*/ 0 w 808"/>
                <a:gd name="T13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8" h="1270">
                  <a:moveTo>
                    <a:pt x="808" y="0"/>
                  </a:moveTo>
                  <a:cubicBezTo>
                    <a:pt x="769" y="29"/>
                    <a:pt x="651" y="111"/>
                    <a:pt x="575" y="177"/>
                  </a:cubicBezTo>
                  <a:cubicBezTo>
                    <a:pt x="499" y="243"/>
                    <a:pt x="419" y="321"/>
                    <a:pt x="354" y="394"/>
                  </a:cubicBezTo>
                  <a:cubicBezTo>
                    <a:pt x="289" y="467"/>
                    <a:pt x="235" y="537"/>
                    <a:pt x="187" y="615"/>
                  </a:cubicBezTo>
                  <a:cubicBezTo>
                    <a:pt x="140" y="692"/>
                    <a:pt x="98" y="784"/>
                    <a:pt x="69" y="862"/>
                  </a:cubicBezTo>
                  <a:cubicBezTo>
                    <a:pt x="41" y="941"/>
                    <a:pt x="28" y="1018"/>
                    <a:pt x="17" y="1087"/>
                  </a:cubicBezTo>
                  <a:cubicBezTo>
                    <a:pt x="5" y="1155"/>
                    <a:pt x="3" y="1232"/>
                    <a:pt x="0" y="1270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4934" name="Freeform 22"/>
            <p:cNvSpPr>
              <a:spLocks/>
            </p:cNvSpPr>
            <p:nvPr/>
          </p:nvSpPr>
          <p:spPr bwMode="auto">
            <a:xfrm>
              <a:off x="2130" y="1699"/>
              <a:ext cx="376" cy="1344"/>
            </a:xfrm>
            <a:custGeom>
              <a:avLst/>
              <a:gdLst>
                <a:gd name="T0" fmla="*/ 370 w 370"/>
                <a:gd name="T1" fmla="*/ 0 h 1272"/>
                <a:gd name="T2" fmla="*/ 219 w 370"/>
                <a:gd name="T3" fmla="*/ 263 h 1272"/>
                <a:gd name="T4" fmla="*/ 93 w 370"/>
                <a:gd name="T5" fmla="*/ 564 h 1272"/>
                <a:gd name="T6" fmla="*/ 38 w 370"/>
                <a:gd name="T7" fmla="*/ 811 h 1272"/>
                <a:gd name="T8" fmla="*/ 6 w 370"/>
                <a:gd name="T9" fmla="*/ 1092 h 1272"/>
                <a:gd name="T10" fmla="*/ 0 w 370"/>
                <a:gd name="T11" fmla="*/ 1272 h 1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0" h="1272">
                  <a:moveTo>
                    <a:pt x="370" y="0"/>
                  </a:moveTo>
                  <a:cubicBezTo>
                    <a:pt x="315" y="88"/>
                    <a:pt x="265" y="169"/>
                    <a:pt x="219" y="263"/>
                  </a:cubicBezTo>
                  <a:cubicBezTo>
                    <a:pt x="173" y="357"/>
                    <a:pt x="123" y="473"/>
                    <a:pt x="93" y="564"/>
                  </a:cubicBezTo>
                  <a:cubicBezTo>
                    <a:pt x="63" y="655"/>
                    <a:pt x="52" y="723"/>
                    <a:pt x="38" y="811"/>
                  </a:cubicBezTo>
                  <a:cubicBezTo>
                    <a:pt x="24" y="899"/>
                    <a:pt x="12" y="1015"/>
                    <a:pt x="6" y="1092"/>
                  </a:cubicBezTo>
                  <a:cubicBezTo>
                    <a:pt x="0" y="1169"/>
                    <a:pt x="1" y="1235"/>
                    <a:pt x="0" y="1272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4935" name="Text Box 23"/>
            <p:cNvSpPr txBox="1">
              <a:spLocks noChangeArrowheads="1"/>
            </p:cNvSpPr>
            <p:nvPr/>
          </p:nvSpPr>
          <p:spPr bwMode="auto">
            <a:xfrm rot="-5400000">
              <a:off x="921" y="2171"/>
              <a:ext cx="61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err="1" smtClean="0">
                  <a:solidFill>
                    <a:srgbClr val="000066"/>
                  </a:solidFill>
                  <a:sym typeface="Symbol" pitchFamily="18" charset="2"/>
                </a:rPr>
                <a:t>T</a:t>
              </a:r>
              <a:r>
                <a:rPr kumimoji="1" lang="en-US" altLang="zh-CN" sz="2000" b="1" baseline="-25000" dirty="0" err="1" smtClean="0">
                  <a:solidFill>
                    <a:srgbClr val="000066"/>
                  </a:solidFill>
                  <a:sym typeface="Symbol" pitchFamily="18" charset="2"/>
                </a:rPr>
                <a:t>v</a:t>
              </a:r>
              <a:r>
                <a:rPr kumimoji="1" lang="en-US" altLang="zh-CN" sz="2000" b="1" i="1" baseline="-25000" dirty="0" smtClean="0">
                  <a:solidFill>
                    <a:srgbClr val="000066"/>
                  </a:solidFill>
                  <a:sym typeface="Symbol" pitchFamily="18" charset="2"/>
                </a:rPr>
                <a:t> 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sym typeface="Symbol" pitchFamily="18" charset="2"/>
                </a:rPr>
                <a:t>= 0</a:t>
              </a:r>
              <a:endParaRPr kumimoji="1" lang="en-US" altLang="zh-CN" sz="2000" b="1" dirty="0">
                <a:solidFill>
                  <a:srgbClr val="000066"/>
                </a:solidFill>
                <a:sym typeface="Symbol" pitchFamily="18" charset="2"/>
              </a:endParaRPr>
            </a:p>
          </p:txBody>
        </p:sp>
        <p:sp>
          <p:nvSpPr>
            <p:cNvPr id="1574936" name="Text Box 24"/>
            <p:cNvSpPr txBox="1">
              <a:spLocks noChangeArrowheads="1"/>
            </p:cNvSpPr>
            <p:nvPr/>
          </p:nvSpPr>
          <p:spPr bwMode="auto">
            <a:xfrm rot="-2904079">
              <a:off x="1302" y="1892"/>
              <a:ext cx="73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err="1" smtClean="0">
                  <a:solidFill>
                    <a:srgbClr val="000066"/>
                  </a:solidFill>
                  <a:sym typeface="Symbol" pitchFamily="18" charset="2"/>
                </a:rPr>
                <a:t>T</a:t>
              </a:r>
              <a:r>
                <a:rPr kumimoji="1" lang="en-US" altLang="zh-CN" sz="2000" b="1" baseline="-25000" dirty="0" err="1" smtClean="0">
                  <a:solidFill>
                    <a:srgbClr val="000066"/>
                  </a:solidFill>
                  <a:sym typeface="Symbol" pitchFamily="18" charset="2"/>
                </a:rPr>
                <a:t>v</a:t>
              </a:r>
              <a:r>
                <a:rPr kumimoji="1" lang="en-US" altLang="zh-CN" sz="2000" b="1" i="1" baseline="-25000" dirty="0" smtClean="0">
                  <a:solidFill>
                    <a:srgbClr val="000066"/>
                  </a:solidFill>
                  <a:sym typeface="Symbol" pitchFamily="18" charset="2"/>
                </a:rPr>
                <a:t> 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sym typeface="Symbol" pitchFamily="18" charset="2"/>
                </a:rPr>
                <a:t>= 0.05</a:t>
              </a:r>
              <a:endParaRPr kumimoji="1" lang="en-US" altLang="zh-CN" sz="2000" b="1" dirty="0">
                <a:solidFill>
                  <a:srgbClr val="000066"/>
                </a:solidFill>
                <a:sym typeface="Symbol" pitchFamily="18" charset="2"/>
              </a:endParaRPr>
            </a:p>
          </p:txBody>
        </p:sp>
        <p:sp>
          <p:nvSpPr>
            <p:cNvPr id="1574937" name="Text Box 25"/>
            <p:cNvSpPr txBox="1">
              <a:spLocks noChangeArrowheads="1"/>
            </p:cNvSpPr>
            <p:nvPr/>
          </p:nvSpPr>
          <p:spPr bwMode="auto">
            <a:xfrm rot="16988818">
              <a:off x="1325" y="2447"/>
              <a:ext cx="6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err="1" smtClean="0">
                  <a:solidFill>
                    <a:srgbClr val="000066"/>
                  </a:solidFill>
                  <a:sym typeface="Symbol" pitchFamily="18" charset="2"/>
                </a:rPr>
                <a:t>T</a:t>
              </a:r>
              <a:r>
                <a:rPr kumimoji="1" lang="en-US" altLang="zh-CN" sz="2000" b="1" baseline="-25000" dirty="0" err="1" smtClean="0">
                  <a:solidFill>
                    <a:srgbClr val="000066"/>
                  </a:solidFill>
                  <a:sym typeface="Symbol" pitchFamily="18" charset="2"/>
                </a:rPr>
                <a:t>v</a:t>
              </a:r>
              <a:r>
                <a:rPr kumimoji="1" lang="en-US" altLang="zh-CN" sz="2000" b="1" i="1" baseline="-25000" dirty="0" smtClean="0">
                  <a:solidFill>
                    <a:srgbClr val="000066"/>
                  </a:solidFill>
                  <a:sym typeface="Symbol" pitchFamily="18" charset="2"/>
                </a:rPr>
                <a:t> 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sym typeface="Symbol" pitchFamily="18" charset="2"/>
                </a:rPr>
                <a:t>= 0.2</a:t>
              </a:r>
              <a:endParaRPr kumimoji="1" lang="en-US" altLang="zh-CN" sz="2000" b="1" dirty="0">
                <a:solidFill>
                  <a:srgbClr val="000066"/>
                </a:solidFill>
                <a:sym typeface="Symbol" pitchFamily="18" charset="2"/>
              </a:endParaRPr>
            </a:p>
          </p:txBody>
        </p:sp>
        <p:sp>
          <p:nvSpPr>
            <p:cNvPr id="1574938" name="Text Box 26"/>
            <p:cNvSpPr txBox="1">
              <a:spLocks noChangeArrowheads="1"/>
            </p:cNvSpPr>
            <p:nvPr/>
          </p:nvSpPr>
          <p:spPr bwMode="auto">
            <a:xfrm rot="16592578">
              <a:off x="1666" y="2516"/>
              <a:ext cx="6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err="1" smtClean="0">
                  <a:solidFill>
                    <a:srgbClr val="000066"/>
                  </a:solidFill>
                  <a:sym typeface="Symbol" pitchFamily="18" charset="2"/>
                </a:rPr>
                <a:t>T</a:t>
              </a:r>
              <a:r>
                <a:rPr kumimoji="1" lang="en-US" altLang="zh-CN" sz="2000" b="1" baseline="-25000" dirty="0" err="1" smtClean="0">
                  <a:solidFill>
                    <a:srgbClr val="000066"/>
                  </a:solidFill>
                  <a:sym typeface="Symbol" pitchFamily="18" charset="2"/>
                </a:rPr>
                <a:t>v</a:t>
              </a:r>
              <a:r>
                <a:rPr kumimoji="1" lang="en-US" altLang="zh-CN" sz="2000" b="1" i="1" baseline="-25000" dirty="0" smtClean="0">
                  <a:solidFill>
                    <a:srgbClr val="000066"/>
                  </a:solidFill>
                  <a:sym typeface="Symbol" pitchFamily="18" charset="2"/>
                </a:rPr>
                <a:t> 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sym typeface="Symbol" pitchFamily="18" charset="2"/>
                </a:rPr>
                <a:t>= 0.7</a:t>
              </a:r>
              <a:endParaRPr kumimoji="1" lang="en-US" altLang="zh-CN" sz="2000" b="1" dirty="0">
                <a:solidFill>
                  <a:srgbClr val="000066"/>
                </a:solidFill>
                <a:sym typeface="Symbol" pitchFamily="18" charset="2"/>
              </a:endParaRPr>
            </a:p>
          </p:txBody>
        </p:sp>
        <p:sp>
          <p:nvSpPr>
            <p:cNvPr id="1574939" name="Text Box 27"/>
            <p:cNvSpPr txBox="1">
              <a:spLocks noChangeArrowheads="1"/>
            </p:cNvSpPr>
            <p:nvPr/>
          </p:nvSpPr>
          <p:spPr bwMode="auto">
            <a:xfrm rot="16200000">
              <a:off x="2054" y="2532"/>
              <a:ext cx="65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err="1" smtClean="0">
                  <a:solidFill>
                    <a:srgbClr val="000066"/>
                  </a:solidFill>
                  <a:sym typeface="Symbol" pitchFamily="18" charset="2"/>
                </a:rPr>
                <a:t>T</a:t>
              </a:r>
              <a:r>
                <a:rPr kumimoji="1" lang="en-US" altLang="zh-CN" sz="2000" b="1" baseline="-25000" dirty="0" err="1" smtClean="0">
                  <a:solidFill>
                    <a:srgbClr val="000066"/>
                  </a:solidFill>
                  <a:sym typeface="Symbol" pitchFamily="18" charset="2"/>
                </a:rPr>
                <a:t>v</a:t>
              </a:r>
              <a:r>
                <a:rPr kumimoji="1" lang="en-US" altLang="zh-CN" sz="2000" b="1" i="1" baseline="-25000" dirty="0" smtClean="0">
                  <a:solidFill>
                    <a:srgbClr val="000066"/>
                  </a:solidFill>
                  <a:sym typeface="Symbol" pitchFamily="18" charset="2"/>
                </a:rPr>
                <a:t> 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sym typeface="Symbol" pitchFamily="18" charset="2"/>
                </a:rPr>
                <a:t>= ∞</a:t>
              </a:r>
              <a:endParaRPr kumimoji="1" lang="en-US" altLang="zh-CN" sz="2000" b="1" dirty="0">
                <a:solidFill>
                  <a:srgbClr val="000066"/>
                </a:solidFill>
                <a:sym typeface="Symbol" pitchFamily="18" charset="2"/>
              </a:endParaRPr>
            </a:p>
          </p:txBody>
        </p:sp>
        <p:sp>
          <p:nvSpPr>
            <p:cNvPr id="1574940" name="Line 28"/>
            <p:cNvSpPr>
              <a:spLocks noChangeShapeType="1"/>
            </p:cNvSpPr>
            <p:nvPr/>
          </p:nvSpPr>
          <p:spPr bwMode="auto">
            <a:xfrm flipV="1">
              <a:off x="1367" y="1693"/>
              <a:ext cx="0" cy="134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4942" name="Line 30"/>
            <p:cNvSpPr>
              <a:spLocks noChangeShapeType="1"/>
            </p:cNvSpPr>
            <p:nvPr/>
          </p:nvSpPr>
          <p:spPr bwMode="auto">
            <a:xfrm>
              <a:off x="2512" y="3085"/>
              <a:ext cx="0" cy="1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4943" name="Line 31"/>
            <p:cNvSpPr>
              <a:spLocks noChangeShapeType="1"/>
            </p:cNvSpPr>
            <p:nvPr/>
          </p:nvSpPr>
          <p:spPr bwMode="auto">
            <a:xfrm>
              <a:off x="1365" y="3201"/>
              <a:ext cx="1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4941" name="Line 29"/>
            <p:cNvSpPr>
              <a:spLocks noChangeShapeType="1"/>
            </p:cNvSpPr>
            <p:nvPr/>
          </p:nvSpPr>
          <p:spPr bwMode="auto">
            <a:xfrm>
              <a:off x="1364" y="1690"/>
              <a:ext cx="0" cy="1642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74944" name="Text Box 32"/>
          <p:cNvSpPr txBox="1">
            <a:spLocks noChangeArrowheads="1"/>
          </p:cNvSpPr>
          <p:nvPr/>
        </p:nvSpPr>
        <p:spPr bwMode="auto">
          <a:xfrm>
            <a:off x="4864100" y="2259013"/>
            <a:ext cx="3914775" cy="202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55600" indent="-355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349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</a:rPr>
              <a:t>从超静孔压分布</a:t>
            </a:r>
            <a:r>
              <a:rPr kumimoji="0" lang="en-US" altLang="zh-CN" sz="2200" b="1" i="1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kumimoji="0" lang="en-US" altLang="zh-CN" sz="2200" b="1" dirty="0">
                <a:solidFill>
                  <a:srgbClr val="000066"/>
                </a:solidFill>
                <a:ea typeface="幼圆" pitchFamily="49" charset="-122"/>
              </a:rPr>
              <a:t>-z</a:t>
            </a: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</a:rPr>
              <a:t>曲线的移动情况可以看出渗流固结的进展情况</a:t>
            </a:r>
          </a:p>
          <a:p>
            <a:pPr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en-US" altLang="zh-CN" sz="2200" b="1" i="1" dirty="0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kumimoji="0" lang="en-US" altLang="zh-CN" sz="2200" b="1" dirty="0">
                <a:solidFill>
                  <a:srgbClr val="000066"/>
                </a:solidFill>
                <a:ea typeface="幼圆" pitchFamily="49" charset="-122"/>
              </a:rPr>
              <a:t>-z</a:t>
            </a: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</a:rPr>
              <a:t>曲线上的切线斜率反映该点的水力梯度水流方向</a:t>
            </a:r>
            <a:endParaRPr kumimoji="0" lang="en-US" altLang="zh-CN" sz="2200" b="1" dirty="0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74945" name="Text Box 33"/>
          <p:cNvSpPr txBox="1">
            <a:spLocks noChangeArrowheads="1"/>
          </p:cNvSpPr>
          <p:nvPr/>
        </p:nvSpPr>
        <p:spPr bwMode="auto">
          <a:xfrm>
            <a:off x="4678363" y="4691063"/>
            <a:ext cx="4281487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accent2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思考：</a:t>
            </a: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两面排水时如何计算？</a:t>
            </a:r>
            <a:endParaRPr lang="en-US" altLang="zh-CN" sz="2400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74947" name="Rectangle 35"/>
          <p:cNvSpPr>
            <a:spLocks noChangeArrowheads="1"/>
          </p:cNvSpPr>
          <p:nvPr/>
        </p:nvSpPr>
        <p:spPr bwMode="auto">
          <a:xfrm>
            <a:off x="2432050" y="5819775"/>
            <a:ext cx="53641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方程求解 </a:t>
            </a:r>
            <a:r>
              <a:rPr kumimoji="1" lang="en-US" altLang="zh-CN" sz="4000" b="1">
                <a:solidFill>
                  <a:srgbClr val="000066"/>
                </a:solidFill>
                <a:latin typeface="Arial Black"/>
                <a:ea typeface="黑体" pitchFamily="2" charset="-122"/>
                <a:sym typeface="Symbol" pitchFamily="18" charset="2"/>
              </a:rPr>
              <a:t>–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固结过程</a:t>
            </a:r>
            <a:endParaRPr kumimoji="1" lang="en-US" altLang="zh-CN" sz="4000" b="1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1574948" name="Rectangle 36"/>
          <p:cNvSpPr>
            <a:spLocks noChangeArrowheads="1"/>
          </p:cNvSpPr>
          <p:nvPr/>
        </p:nvSpPr>
        <p:spPr bwMode="auto">
          <a:xfrm>
            <a:off x="393700" y="1036638"/>
            <a:ext cx="216693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130000"/>
              <a:buFontTx/>
              <a:buChar char="•"/>
            </a:pPr>
            <a:r>
              <a:rPr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 方程的解：</a:t>
            </a:r>
          </a:p>
        </p:txBody>
      </p:sp>
      <p:sp>
        <p:nvSpPr>
          <p:cNvPr id="34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74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74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74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7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157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00"/>
                                        <p:tgtEl>
                                          <p:spTgt spid="1574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9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15749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9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749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74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574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4944" grpId="0" build="p"/>
      <p:bldP spid="1574945" grpId="0"/>
      <p:bldP spid="1574947" grpId="0" build="p" autoUpdateAnimBg="0" advAuto="0"/>
      <p:bldP spid="1574948" grpId="0" autoUpdateAnimBg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5940" name="Group 4"/>
          <p:cNvGrpSpPr>
            <a:grpSpLocks/>
          </p:cNvGrpSpPr>
          <p:nvPr/>
        </p:nvGrpSpPr>
        <p:grpSpPr bwMode="auto">
          <a:xfrm>
            <a:off x="4600575" y="768350"/>
            <a:ext cx="4189413" cy="4956175"/>
            <a:chOff x="2738" y="484"/>
            <a:chExt cx="2639" cy="3122"/>
          </a:xfrm>
        </p:grpSpPr>
        <p:sp>
          <p:nvSpPr>
            <p:cNvPr id="1575941" name="Rectangle 5"/>
            <p:cNvSpPr>
              <a:spLocks noChangeArrowheads="1"/>
            </p:cNvSpPr>
            <p:nvPr/>
          </p:nvSpPr>
          <p:spPr bwMode="auto">
            <a:xfrm>
              <a:off x="2738" y="484"/>
              <a:ext cx="2639" cy="31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75942" name="Rectangle 6"/>
            <p:cNvSpPr>
              <a:spLocks noChangeArrowheads="1"/>
            </p:cNvSpPr>
            <p:nvPr/>
          </p:nvSpPr>
          <p:spPr bwMode="auto">
            <a:xfrm flipV="1">
              <a:off x="2935" y="2013"/>
              <a:ext cx="2276" cy="1270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75943" name="Text Box 7"/>
            <p:cNvSpPr txBox="1">
              <a:spLocks noChangeArrowheads="1"/>
            </p:cNvSpPr>
            <p:nvPr/>
          </p:nvSpPr>
          <p:spPr bwMode="auto">
            <a:xfrm rot="5400000" flipV="1">
              <a:off x="3187" y="2450"/>
              <a:ext cx="5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渗流</a:t>
              </a:r>
            </a:p>
          </p:txBody>
        </p:sp>
        <p:sp>
          <p:nvSpPr>
            <p:cNvPr id="1575944" name="Line 8"/>
            <p:cNvSpPr>
              <a:spLocks noChangeShapeType="1"/>
            </p:cNvSpPr>
            <p:nvPr/>
          </p:nvSpPr>
          <p:spPr bwMode="auto">
            <a:xfrm>
              <a:off x="3321" y="2318"/>
              <a:ext cx="0" cy="523"/>
            </a:xfrm>
            <a:prstGeom prst="line">
              <a:avLst/>
            </a:prstGeom>
            <a:noFill/>
            <a:ln w="57150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45" name="Line 9"/>
            <p:cNvSpPr>
              <a:spLocks noChangeShapeType="1"/>
            </p:cNvSpPr>
            <p:nvPr/>
          </p:nvSpPr>
          <p:spPr bwMode="auto">
            <a:xfrm flipV="1">
              <a:off x="2954" y="3276"/>
              <a:ext cx="2242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46" name="Text Box 10"/>
            <p:cNvSpPr txBox="1">
              <a:spLocks noChangeArrowheads="1"/>
            </p:cNvSpPr>
            <p:nvPr/>
          </p:nvSpPr>
          <p:spPr bwMode="auto">
            <a:xfrm>
              <a:off x="3001" y="3256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ea typeface="幼圆" pitchFamily="49" charset="-122"/>
                </a:rPr>
                <a:t>排水面</a:t>
              </a:r>
              <a:endParaRPr lang="en-US" altLang="zh-CN" sz="20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75947" name="Line 11"/>
            <p:cNvSpPr>
              <a:spLocks noChangeShapeType="1"/>
            </p:cNvSpPr>
            <p:nvPr/>
          </p:nvSpPr>
          <p:spPr bwMode="auto">
            <a:xfrm flipV="1">
              <a:off x="3113" y="2020"/>
              <a:ext cx="0" cy="1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48" name="Text Box 12"/>
            <p:cNvSpPr txBox="1">
              <a:spLocks noChangeArrowheads="1"/>
            </p:cNvSpPr>
            <p:nvPr/>
          </p:nvSpPr>
          <p:spPr bwMode="auto">
            <a:xfrm flipV="1">
              <a:off x="2980" y="2563"/>
              <a:ext cx="240" cy="250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>
                  <a:solidFill>
                    <a:srgbClr val="000066"/>
                  </a:solidFill>
                  <a:ea typeface="幼圆" pitchFamily="49" charset="-122"/>
                </a:rPr>
                <a:t>H</a:t>
              </a:r>
            </a:p>
          </p:txBody>
        </p:sp>
        <p:sp>
          <p:nvSpPr>
            <p:cNvPr id="1575949" name="Freeform 13"/>
            <p:cNvSpPr>
              <a:spLocks/>
            </p:cNvSpPr>
            <p:nvPr/>
          </p:nvSpPr>
          <p:spPr bwMode="auto">
            <a:xfrm flipV="1">
              <a:off x="3940" y="2012"/>
              <a:ext cx="1093" cy="1258"/>
            </a:xfrm>
            <a:custGeom>
              <a:avLst/>
              <a:gdLst>
                <a:gd name="T0" fmla="*/ 1077 w 1077"/>
                <a:gd name="T1" fmla="*/ 0 h 1268"/>
                <a:gd name="T2" fmla="*/ 792 w 1077"/>
                <a:gd name="T3" fmla="*/ 116 h 1268"/>
                <a:gd name="T4" fmla="*/ 515 w 1077"/>
                <a:gd name="T5" fmla="*/ 274 h 1268"/>
                <a:gd name="T6" fmla="*/ 326 w 1077"/>
                <a:gd name="T7" fmla="*/ 438 h 1268"/>
                <a:gd name="T8" fmla="*/ 206 w 1077"/>
                <a:gd name="T9" fmla="*/ 586 h 1268"/>
                <a:gd name="T10" fmla="*/ 102 w 1077"/>
                <a:gd name="T11" fmla="*/ 780 h 1268"/>
                <a:gd name="T12" fmla="*/ 29 w 1077"/>
                <a:gd name="T13" fmla="*/ 1000 h 1268"/>
                <a:gd name="T14" fmla="*/ 0 w 1077"/>
                <a:gd name="T15" fmla="*/ 1268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77" h="1268">
                  <a:moveTo>
                    <a:pt x="1077" y="0"/>
                  </a:moveTo>
                  <a:cubicBezTo>
                    <a:pt x="1030" y="19"/>
                    <a:pt x="886" y="70"/>
                    <a:pt x="792" y="116"/>
                  </a:cubicBezTo>
                  <a:cubicBezTo>
                    <a:pt x="698" y="162"/>
                    <a:pt x="593" y="220"/>
                    <a:pt x="515" y="274"/>
                  </a:cubicBezTo>
                  <a:cubicBezTo>
                    <a:pt x="437" y="328"/>
                    <a:pt x="378" y="386"/>
                    <a:pt x="326" y="438"/>
                  </a:cubicBezTo>
                  <a:cubicBezTo>
                    <a:pt x="274" y="490"/>
                    <a:pt x="244" y="529"/>
                    <a:pt x="206" y="586"/>
                  </a:cubicBezTo>
                  <a:cubicBezTo>
                    <a:pt x="168" y="643"/>
                    <a:pt x="131" y="712"/>
                    <a:pt x="102" y="780"/>
                  </a:cubicBezTo>
                  <a:cubicBezTo>
                    <a:pt x="72" y="849"/>
                    <a:pt x="46" y="919"/>
                    <a:pt x="29" y="1000"/>
                  </a:cubicBezTo>
                  <a:cubicBezTo>
                    <a:pt x="12" y="1081"/>
                    <a:pt x="6" y="1212"/>
                    <a:pt x="0" y="1268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50" name="Freeform 14"/>
            <p:cNvSpPr>
              <a:spLocks/>
            </p:cNvSpPr>
            <p:nvPr/>
          </p:nvSpPr>
          <p:spPr bwMode="auto">
            <a:xfrm flipV="1">
              <a:off x="4213" y="2010"/>
              <a:ext cx="820" cy="1257"/>
            </a:xfrm>
            <a:custGeom>
              <a:avLst/>
              <a:gdLst>
                <a:gd name="T0" fmla="*/ 808 w 808"/>
                <a:gd name="T1" fmla="*/ 0 h 1270"/>
                <a:gd name="T2" fmla="*/ 575 w 808"/>
                <a:gd name="T3" fmla="*/ 177 h 1270"/>
                <a:gd name="T4" fmla="*/ 354 w 808"/>
                <a:gd name="T5" fmla="*/ 394 h 1270"/>
                <a:gd name="T6" fmla="*/ 187 w 808"/>
                <a:gd name="T7" fmla="*/ 615 h 1270"/>
                <a:gd name="T8" fmla="*/ 69 w 808"/>
                <a:gd name="T9" fmla="*/ 862 h 1270"/>
                <a:gd name="T10" fmla="*/ 17 w 808"/>
                <a:gd name="T11" fmla="*/ 1087 h 1270"/>
                <a:gd name="T12" fmla="*/ 0 w 808"/>
                <a:gd name="T13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8" h="1270">
                  <a:moveTo>
                    <a:pt x="808" y="0"/>
                  </a:moveTo>
                  <a:cubicBezTo>
                    <a:pt x="769" y="29"/>
                    <a:pt x="651" y="111"/>
                    <a:pt x="575" y="177"/>
                  </a:cubicBezTo>
                  <a:cubicBezTo>
                    <a:pt x="499" y="243"/>
                    <a:pt x="419" y="321"/>
                    <a:pt x="354" y="394"/>
                  </a:cubicBezTo>
                  <a:cubicBezTo>
                    <a:pt x="289" y="467"/>
                    <a:pt x="235" y="537"/>
                    <a:pt x="187" y="615"/>
                  </a:cubicBezTo>
                  <a:cubicBezTo>
                    <a:pt x="140" y="692"/>
                    <a:pt x="98" y="784"/>
                    <a:pt x="69" y="862"/>
                  </a:cubicBezTo>
                  <a:cubicBezTo>
                    <a:pt x="41" y="941"/>
                    <a:pt x="28" y="1018"/>
                    <a:pt x="17" y="1087"/>
                  </a:cubicBezTo>
                  <a:cubicBezTo>
                    <a:pt x="5" y="1155"/>
                    <a:pt x="3" y="1232"/>
                    <a:pt x="0" y="1270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51" name="Freeform 15"/>
            <p:cNvSpPr>
              <a:spLocks/>
            </p:cNvSpPr>
            <p:nvPr/>
          </p:nvSpPr>
          <p:spPr bwMode="auto">
            <a:xfrm flipV="1">
              <a:off x="4657" y="2008"/>
              <a:ext cx="376" cy="1259"/>
            </a:xfrm>
            <a:custGeom>
              <a:avLst/>
              <a:gdLst>
                <a:gd name="T0" fmla="*/ 370 w 370"/>
                <a:gd name="T1" fmla="*/ 0 h 1272"/>
                <a:gd name="T2" fmla="*/ 219 w 370"/>
                <a:gd name="T3" fmla="*/ 263 h 1272"/>
                <a:gd name="T4" fmla="*/ 93 w 370"/>
                <a:gd name="T5" fmla="*/ 564 h 1272"/>
                <a:gd name="T6" fmla="*/ 38 w 370"/>
                <a:gd name="T7" fmla="*/ 811 h 1272"/>
                <a:gd name="T8" fmla="*/ 6 w 370"/>
                <a:gd name="T9" fmla="*/ 1092 h 1272"/>
                <a:gd name="T10" fmla="*/ 0 w 370"/>
                <a:gd name="T11" fmla="*/ 1272 h 1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0" h="1272">
                  <a:moveTo>
                    <a:pt x="370" y="0"/>
                  </a:moveTo>
                  <a:cubicBezTo>
                    <a:pt x="315" y="88"/>
                    <a:pt x="265" y="169"/>
                    <a:pt x="219" y="263"/>
                  </a:cubicBezTo>
                  <a:cubicBezTo>
                    <a:pt x="173" y="357"/>
                    <a:pt x="123" y="473"/>
                    <a:pt x="93" y="564"/>
                  </a:cubicBezTo>
                  <a:cubicBezTo>
                    <a:pt x="63" y="655"/>
                    <a:pt x="52" y="723"/>
                    <a:pt x="38" y="811"/>
                  </a:cubicBezTo>
                  <a:cubicBezTo>
                    <a:pt x="24" y="899"/>
                    <a:pt x="12" y="1015"/>
                    <a:pt x="6" y="1092"/>
                  </a:cubicBezTo>
                  <a:cubicBezTo>
                    <a:pt x="0" y="1169"/>
                    <a:pt x="1" y="1235"/>
                    <a:pt x="0" y="1272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52" name="Line 16"/>
            <p:cNvSpPr>
              <a:spLocks noChangeShapeType="1"/>
            </p:cNvSpPr>
            <p:nvPr/>
          </p:nvSpPr>
          <p:spPr bwMode="auto">
            <a:xfrm>
              <a:off x="3894" y="2015"/>
              <a:ext cx="0" cy="125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53" name="Rectangle 17"/>
            <p:cNvSpPr>
              <a:spLocks noChangeArrowheads="1"/>
            </p:cNvSpPr>
            <p:nvPr/>
          </p:nvSpPr>
          <p:spPr bwMode="auto">
            <a:xfrm>
              <a:off x="2935" y="755"/>
              <a:ext cx="2276" cy="1270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75954" name="Text Box 18"/>
            <p:cNvSpPr txBox="1">
              <a:spLocks noChangeArrowheads="1"/>
            </p:cNvSpPr>
            <p:nvPr/>
          </p:nvSpPr>
          <p:spPr bwMode="auto">
            <a:xfrm rot="-5400000">
              <a:off x="3188" y="1339"/>
              <a:ext cx="5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渗流</a:t>
              </a:r>
            </a:p>
          </p:txBody>
        </p:sp>
        <p:sp>
          <p:nvSpPr>
            <p:cNvPr id="1575955" name="Line 19"/>
            <p:cNvSpPr>
              <a:spLocks noChangeShapeType="1"/>
            </p:cNvSpPr>
            <p:nvPr/>
          </p:nvSpPr>
          <p:spPr bwMode="auto">
            <a:xfrm flipV="1">
              <a:off x="5034" y="766"/>
              <a:ext cx="0" cy="250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56" name="Line 20"/>
            <p:cNvSpPr>
              <a:spLocks noChangeShapeType="1"/>
            </p:cNvSpPr>
            <p:nvPr/>
          </p:nvSpPr>
          <p:spPr bwMode="auto">
            <a:xfrm flipV="1">
              <a:off x="3321" y="1197"/>
              <a:ext cx="0" cy="523"/>
            </a:xfrm>
            <a:prstGeom prst="line">
              <a:avLst/>
            </a:prstGeom>
            <a:noFill/>
            <a:ln w="57150">
              <a:solidFill>
                <a:srgbClr val="A5002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57" name="Text Box 21"/>
            <p:cNvSpPr txBox="1">
              <a:spLocks noChangeArrowheads="1"/>
            </p:cNvSpPr>
            <p:nvPr/>
          </p:nvSpPr>
          <p:spPr bwMode="auto">
            <a:xfrm>
              <a:off x="3632" y="3235"/>
              <a:ext cx="2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z</a:t>
              </a:r>
            </a:p>
          </p:txBody>
        </p:sp>
        <p:sp>
          <p:nvSpPr>
            <p:cNvPr id="1575958" name="Line 22"/>
            <p:cNvSpPr>
              <a:spLocks noChangeShapeType="1"/>
            </p:cNvSpPr>
            <p:nvPr/>
          </p:nvSpPr>
          <p:spPr bwMode="auto">
            <a:xfrm>
              <a:off x="2932" y="762"/>
              <a:ext cx="2286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59" name="Text Box 23"/>
            <p:cNvSpPr txBox="1">
              <a:spLocks noChangeArrowheads="1"/>
            </p:cNvSpPr>
            <p:nvPr/>
          </p:nvSpPr>
          <p:spPr bwMode="auto">
            <a:xfrm>
              <a:off x="3001" y="501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rgbClr val="000066"/>
                  </a:solidFill>
                  <a:ea typeface="幼圆" pitchFamily="49" charset="-122"/>
                </a:rPr>
                <a:t>排水面</a:t>
              </a:r>
              <a:endParaRPr lang="en-US" altLang="zh-CN" sz="20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  <p:sp>
          <p:nvSpPr>
            <p:cNvPr id="1575960" name="Line 24"/>
            <p:cNvSpPr>
              <a:spLocks noChangeShapeType="1"/>
            </p:cNvSpPr>
            <p:nvPr/>
          </p:nvSpPr>
          <p:spPr bwMode="auto">
            <a:xfrm>
              <a:off x="3113" y="761"/>
              <a:ext cx="0" cy="1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61" name="Text Box 25"/>
            <p:cNvSpPr txBox="1">
              <a:spLocks noChangeArrowheads="1"/>
            </p:cNvSpPr>
            <p:nvPr/>
          </p:nvSpPr>
          <p:spPr bwMode="auto">
            <a:xfrm>
              <a:off x="2980" y="1226"/>
              <a:ext cx="240" cy="250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</a:rPr>
                <a:t>H</a:t>
              </a:r>
            </a:p>
          </p:txBody>
        </p:sp>
        <p:sp>
          <p:nvSpPr>
            <p:cNvPr id="1575962" name="Freeform 26"/>
            <p:cNvSpPr>
              <a:spLocks/>
            </p:cNvSpPr>
            <p:nvPr/>
          </p:nvSpPr>
          <p:spPr bwMode="auto">
            <a:xfrm>
              <a:off x="3940" y="769"/>
              <a:ext cx="1093" cy="1257"/>
            </a:xfrm>
            <a:custGeom>
              <a:avLst/>
              <a:gdLst>
                <a:gd name="T0" fmla="*/ 1077 w 1077"/>
                <a:gd name="T1" fmla="*/ 0 h 1268"/>
                <a:gd name="T2" fmla="*/ 792 w 1077"/>
                <a:gd name="T3" fmla="*/ 116 h 1268"/>
                <a:gd name="T4" fmla="*/ 515 w 1077"/>
                <a:gd name="T5" fmla="*/ 274 h 1268"/>
                <a:gd name="T6" fmla="*/ 326 w 1077"/>
                <a:gd name="T7" fmla="*/ 438 h 1268"/>
                <a:gd name="T8" fmla="*/ 206 w 1077"/>
                <a:gd name="T9" fmla="*/ 586 h 1268"/>
                <a:gd name="T10" fmla="*/ 102 w 1077"/>
                <a:gd name="T11" fmla="*/ 780 h 1268"/>
                <a:gd name="T12" fmla="*/ 29 w 1077"/>
                <a:gd name="T13" fmla="*/ 1000 h 1268"/>
                <a:gd name="T14" fmla="*/ 0 w 1077"/>
                <a:gd name="T15" fmla="*/ 1268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77" h="1268">
                  <a:moveTo>
                    <a:pt x="1077" y="0"/>
                  </a:moveTo>
                  <a:cubicBezTo>
                    <a:pt x="1030" y="19"/>
                    <a:pt x="886" y="70"/>
                    <a:pt x="792" y="116"/>
                  </a:cubicBezTo>
                  <a:cubicBezTo>
                    <a:pt x="698" y="162"/>
                    <a:pt x="593" y="220"/>
                    <a:pt x="515" y="274"/>
                  </a:cubicBezTo>
                  <a:cubicBezTo>
                    <a:pt x="437" y="328"/>
                    <a:pt x="378" y="386"/>
                    <a:pt x="326" y="438"/>
                  </a:cubicBezTo>
                  <a:cubicBezTo>
                    <a:pt x="274" y="490"/>
                    <a:pt x="244" y="529"/>
                    <a:pt x="206" y="586"/>
                  </a:cubicBezTo>
                  <a:cubicBezTo>
                    <a:pt x="168" y="643"/>
                    <a:pt x="131" y="712"/>
                    <a:pt x="102" y="780"/>
                  </a:cubicBezTo>
                  <a:cubicBezTo>
                    <a:pt x="72" y="849"/>
                    <a:pt x="46" y="919"/>
                    <a:pt x="29" y="1000"/>
                  </a:cubicBezTo>
                  <a:cubicBezTo>
                    <a:pt x="12" y="1081"/>
                    <a:pt x="6" y="1212"/>
                    <a:pt x="0" y="1268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63" name="Freeform 27"/>
            <p:cNvSpPr>
              <a:spLocks/>
            </p:cNvSpPr>
            <p:nvPr/>
          </p:nvSpPr>
          <p:spPr bwMode="auto">
            <a:xfrm>
              <a:off x="4213" y="772"/>
              <a:ext cx="820" cy="1256"/>
            </a:xfrm>
            <a:custGeom>
              <a:avLst/>
              <a:gdLst>
                <a:gd name="T0" fmla="*/ 808 w 808"/>
                <a:gd name="T1" fmla="*/ 0 h 1270"/>
                <a:gd name="T2" fmla="*/ 575 w 808"/>
                <a:gd name="T3" fmla="*/ 177 h 1270"/>
                <a:gd name="T4" fmla="*/ 354 w 808"/>
                <a:gd name="T5" fmla="*/ 394 h 1270"/>
                <a:gd name="T6" fmla="*/ 187 w 808"/>
                <a:gd name="T7" fmla="*/ 615 h 1270"/>
                <a:gd name="T8" fmla="*/ 69 w 808"/>
                <a:gd name="T9" fmla="*/ 862 h 1270"/>
                <a:gd name="T10" fmla="*/ 17 w 808"/>
                <a:gd name="T11" fmla="*/ 1087 h 1270"/>
                <a:gd name="T12" fmla="*/ 0 w 808"/>
                <a:gd name="T13" fmla="*/ 1270 h 1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8" h="1270">
                  <a:moveTo>
                    <a:pt x="808" y="0"/>
                  </a:moveTo>
                  <a:cubicBezTo>
                    <a:pt x="769" y="29"/>
                    <a:pt x="651" y="111"/>
                    <a:pt x="575" y="177"/>
                  </a:cubicBezTo>
                  <a:cubicBezTo>
                    <a:pt x="499" y="243"/>
                    <a:pt x="419" y="321"/>
                    <a:pt x="354" y="394"/>
                  </a:cubicBezTo>
                  <a:cubicBezTo>
                    <a:pt x="289" y="467"/>
                    <a:pt x="235" y="537"/>
                    <a:pt x="187" y="615"/>
                  </a:cubicBezTo>
                  <a:cubicBezTo>
                    <a:pt x="140" y="692"/>
                    <a:pt x="98" y="784"/>
                    <a:pt x="69" y="862"/>
                  </a:cubicBezTo>
                  <a:cubicBezTo>
                    <a:pt x="41" y="941"/>
                    <a:pt x="28" y="1018"/>
                    <a:pt x="17" y="1087"/>
                  </a:cubicBezTo>
                  <a:cubicBezTo>
                    <a:pt x="5" y="1155"/>
                    <a:pt x="3" y="1232"/>
                    <a:pt x="0" y="1270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64" name="Freeform 28"/>
            <p:cNvSpPr>
              <a:spLocks/>
            </p:cNvSpPr>
            <p:nvPr/>
          </p:nvSpPr>
          <p:spPr bwMode="auto">
            <a:xfrm>
              <a:off x="4657" y="772"/>
              <a:ext cx="376" cy="1258"/>
            </a:xfrm>
            <a:custGeom>
              <a:avLst/>
              <a:gdLst>
                <a:gd name="T0" fmla="*/ 370 w 370"/>
                <a:gd name="T1" fmla="*/ 0 h 1272"/>
                <a:gd name="T2" fmla="*/ 219 w 370"/>
                <a:gd name="T3" fmla="*/ 263 h 1272"/>
                <a:gd name="T4" fmla="*/ 93 w 370"/>
                <a:gd name="T5" fmla="*/ 564 h 1272"/>
                <a:gd name="T6" fmla="*/ 38 w 370"/>
                <a:gd name="T7" fmla="*/ 811 h 1272"/>
                <a:gd name="T8" fmla="*/ 6 w 370"/>
                <a:gd name="T9" fmla="*/ 1092 h 1272"/>
                <a:gd name="T10" fmla="*/ 0 w 370"/>
                <a:gd name="T11" fmla="*/ 1272 h 1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0" h="1272">
                  <a:moveTo>
                    <a:pt x="370" y="0"/>
                  </a:moveTo>
                  <a:cubicBezTo>
                    <a:pt x="315" y="88"/>
                    <a:pt x="265" y="169"/>
                    <a:pt x="219" y="263"/>
                  </a:cubicBezTo>
                  <a:cubicBezTo>
                    <a:pt x="173" y="357"/>
                    <a:pt x="123" y="473"/>
                    <a:pt x="93" y="564"/>
                  </a:cubicBezTo>
                  <a:cubicBezTo>
                    <a:pt x="63" y="655"/>
                    <a:pt x="52" y="723"/>
                    <a:pt x="38" y="811"/>
                  </a:cubicBezTo>
                  <a:cubicBezTo>
                    <a:pt x="24" y="899"/>
                    <a:pt x="12" y="1015"/>
                    <a:pt x="6" y="1092"/>
                  </a:cubicBezTo>
                  <a:cubicBezTo>
                    <a:pt x="0" y="1169"/>
                    <a:pt x="1" y="1235"/>
                    <a:pt x="0" y="1272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65" name="Text Box 29"/>
            <p:cNvSpPr txBox="1">
              <a:spLocks noChangeArrowheads="1"/>
            </p:cNvSpPr>
            <p:nvPr/>
          </p:nvSpPr>
          <p:spPr bwMode="auto">
            <a:xfrm rot="-5400000">
              <a:off x="3467" y="1205"/>
              <a:ext cx="57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err="1">
                  <a:solidFill>
                    <a:srgbClr val="000066"/>
                  </a:solidFill>
                  <a:sym typeface="Symbol" pitchFamily="18" charset="2"/>
                </a:rPr>
                <a:t>T</a:t>
              </a:r>
              <a:r>
                <a:rPr kumimoji="1" lang="en-US" altLang="zh-CN" sz="2000" b="1" baseline="-25000" dirty="0" err="1">
                  <a:solidFill>
                    <a:srgbClr val="000066"/>
                  </a:solidFill>
                  <a:sym typeface="Symbol" pitchFamily="18" charset="2"/>
                </a:rPr>
                <a:t>v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sym typeface="Symbol" pitchFamily="18" charset="2"/>
                </a:rPr>
                <a:t>= 0</a:t>
              </a:r>
              <a:endParaRPr kumimoji="1" lang="en-US" altLang="zh-CN" sz="2000" b="1" dirty="0">
                <a:solidFill>
                  <a:srgbClr val="000066"/>
                </a:solidFill>
                <a:sym typeface="Symbol" pitchFamily="18" charset="2"/>
              </a:endParaRPr>
            </a:p>
          </p:txBody>
        </p:sp>
        <p:sp>
          <p:nvSpPr>
            <p:cNvPr id="1575966" name="Text Box 30"/>
            <p:cNvSpPr txBox="1">
              <a:spLocks noChangeArrowheads="1"/>
            </p:cNvSpPr>
            <p:nvPr/>
          </p:nvSpPr>
          <p:spPr bwMode="auto">
            <a:xfrm rot="-2904079">
              <a:off x="3853" y="944"/>
              <a:ext cx="68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err="1">
                  <a:solidFill>
                    <a:srgbClr val="000066"/>
                  </a:solidFill>
                  <a:sym typeface="Symbol" pitchFamily="18" charset="2"/>
                </a:rPr>
                <a:t>T</a:t>
              </a:r>
              <a:r>
                <a:rPr kumimoji="1" lang="en-US" altLang="zh-CN" sz="2000" b="1" baseline="-25000" dirty="0" err="1">
                  <a:solidFill>
                    <a:srgbClr val="000066"/>
                  </a:solidFill>
                  <a:sym typeface="Symbol" pitchFamily="18" charset="2"/>
                </a:rPr>
                <a:t>v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sym typeface="Symbol" pitchFamily="18" charset="2"/>
                </a:rPr>
                <a:t>= 0.05</a:t>
              </a:r>
              <a:endParaRPr kumimoji="1" lang="en-US" altLang="zh-CN" sz="2000" b="1" dirty="0">
                <a:solidFill>
                  <a:srgbClr val="000066"/>
                </a:solidFill>
                <a:sym typeface="Symbol" pitchFamily="18" charset="2"/>
              </a:endParaRPr>
            </a:p>
          </p:txBody>
        </p:sp>
        <p:sp>
          <p:nvSpPr>
            <p:cNvPr id="1575967" name="Text Box 31"/>
            <p:cNvSpPr txBox="1">
              <a:spLocks noChangeArrowheads="1"/>
            </p:cNvSpPr>
            <p:nvPr/>
          </p:nvSpPr>
          <p:spPr bwMode="auto">
            <a:xfrm rot="16988818">
              <a:off x="3890" y="1448"/>
              <a:ext cx="6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err="1">
                  <a:solidFill>
                    <a:srgbClr val="000066"/>
                  </a:solidFill>
                  <a:sym typeface="Symbol" pitchFamily="18" charset="2"/>
                </a:rPr>
                <a:t>T</a:t>
              </a:r>
              <a:r>
                <a:rPr kumimoji="1" lang="en-US" altLang="zh-CN" sz="2000" b="1" baseline="-25000" dirty="0" err="1">
                  <a:solidFill>
                    <a:srgbClr val="000066"/>
                  </a:solidFill>
                  <a:sym typeface="Symbol" pitchFamily="18" charset="2"/>
                </a:rPr>
                <a:t>v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sym typeface="Symbol" pitchFamily="18" charset="2"/>
                </a:rPr>
                <a:t>= 0.2</a:t>
              </a:r>
              <a:endParaRPr kumimoji="1" lang="en-US" altLang="zh-CN" sz="2000" b="1" dirty="0">
                <a:solidFill>
                  <a:srgbClr val="000066"/>
                </a:solidFill>
                <a:sym typeface="Symbol" pitchFamily="18" charset="2"/>
              </a:endParaRPr>
            </a:p>
          </p:txBody>
        </p:sp>
        <p:sp>
          <p:nvSpPr>
            <p:cNvPr id="1575968" name="Text Box 32"/>
            <p:cNvSpPr txBox="1">
              <a:spLocks noChangeArrowheads="1"/>
            </p:cNvSpPr>
            <p:nvPr/>
          </p:nvSpPr>
          <p:spPr bwMode="auto">
            <a:xfrm rot="16592578">
              <a:off x="4214" y="1529"/>
              <a:ext cx="6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err="1">
                  <a:solidFill>
                    <a:srgbClr val="000066"/>
                  </a:solidFill>
                  <a:sym typeface="Symbol" pitchFamily="18" charset="2"/>
                </a:rPr>
                <a:t>T</a:t>
              </a:r>
              <a:r>
                <a:rPr kumimoji="1" lang="en-US" altLang="zh-CN" sz="2000" b="1" baseline="-25000" dirty="0" err="1">
                  <a:solidFill>
                    <a:srgbClr val="000066"/>
                  </a:solidFill>
                  <a:sym typeface="Symbol" pitchFamily="18" charset="2"/>
                </a:rPr>
                <a:t>v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sym typeface="Symbol" pitchFamily="18" charset="2"/>
                </a:rPr>
                <a:t>= 0.7</a:t>
              </a:r>
              <a:endParaRPr kumimoji="1" lang="en-US" altLang="zh-CN" sz="2000" b="1" dirty="0">
                <a:solidFill>
                  <a:srgbClr val="000066"/>
                </a:solidFill>
                <a:sym typeface="Symbol" pitchFamily="18" charset="2"/>
              </a:endParaRPr>
            </a:p>
          </p:txBody>
        </p:sp>
        <p:sp>
          <p:nvSpPr>
            <p:cNvPr id="1575969" name="Text Box 33"/>
            <p:cNvSpPr txBox="1">
              <a:spLocks noChangeArrowheads="1"/>
            </p:cNvSpPr>
            <p:nvPr/>
          </p:nvSpPr>
          <p:spPr bwMode="auto">
            <a:xfrm rot="16200000">
              <a:off x="4603" y="1542"/>
              <a:ext cx="6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 err="1">
                  <a:solidFill>
                    <a:srgbClr val="000066"/>
                  </a:solidFill>
                  <a:sym typeface="Symbol" pitchFamily="18" charset="2"/>
                </a:rPr>
                <a:t>T</a:t>
              </a:r>
              <a:r>
                <a:rPr kumimoji="1" lang="en-US" altLang="zh-CN" sz="2000" b="1" baseline="-25000" dirty="0" err="1">
                  <a:solidFill>
                    <a:srgbClr val="000066"/>
                  </a:solidFill>
                  <a:sym typeface="Symbol" pitchFamily="18" charset="2"/>
                </a:rPr>
                <a:t>v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sym typeface="Symbol" pitchFamily="18" charset="2"/>
                </a:rPr>
                <a:t>= ∞</a:t>
              </a:r>
              <a:endParaRPr kumimoji="1" lang="en-US" altLang="zh-CN" sz="2000" b="1" dirty="0">
                <a:solidFill>
                  <a:srgbClr val="000066"/>
                </a:solidFill>
                <a:sym typeface="Symbol" pitchFamily="18" charset="2"/>
              </a:endParaRPr>
            </a:p>
          </p:txBody>
        </p:sp>
        <p:sp>
          <p:nvSpPr>
            <p:cNvPr id="1575970" name="Line 34"/>
            <p:cNvSpPr>
              <a:spLocks noChangeShapeType="1"/>
            </p:cNvSpPr>
            <p:nvPr/>
          </p:nvSpPr>
          <p:spPr bwMode="auto">
            <a:xfrm flipV="1">
              <a:off x="3894" y="766"/>
              <a:ext cx="0" cy="125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71" name="Line 35"/>
            <p:cNvSpPr>
              <a:spLocks noChangeShapeType="1"/>
            </p:cNvSpPr>
            <p:nvPr/>
          </p:nvSpPr>
          <p:spPr bwMode="auto">
            <a:xfrm>
              <a:off x="3890" y="3187"/>
              <a:ext cx="16" cy="3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72" name="Line 36"/>
            <p:cNvSpPr>
              <a:spLocks noChangeShapeType="1"/>
            </p:cNvSpPr>
            <p:nvPr/>
          </p:nvSpPr>
          <p:spPr bwMode="auto">
            <a:xfrm>
              <a:off x="2941" y="2023"/>
              <a:ext cx="226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73" name="Text Box 37"/>
            <p:cNvSpPr txBox="1">
              <a:spLocks noChangeArrowheads="1"/>
            </p:cNvSpPr>
            <p:nvPr/>
          </p:nvSpPr>
          <p:spPr bwMode="auto">
            <a:xfrm>
              <a:off x="4247" y="3328"/>
              <a:ext cx="50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u</a:t>
              </a:r>
              <a:r>
                <a:rPr kumimoji="1" lang="en-US" altLang="zh-CN" sz="20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0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= </a:t>
              </a:r>
              <a:r>
                <a:rPr kumimoji="1" lang="en-US" altLang="zh-CN" sz="2000" b="1" i="1" dirty="0" smtClean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p</a:t>
              </a:r>
              <a:endParaRPr kumimoji="1" lang="en-US" altLang="zh-CN" sz="20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endParaRPr>
            </a:p>
          </p:txBody>
        </p:sp>
        <p:sp>
          <p:nvSpPr>
            <p:cNvPr id="1575974" name="Line 38"/>
            <p:cNvSpPr>
              <a:spLocks noChangeShapeType="1"/>
            </p:cNvSpPr>
            <p:nvPr/>
          </p:nvSpPr>
          <p:spPr bwMode="auto">
            <a:xfrm>
              <a:off x="3894" y="3388"/>
              <a:ext cx="1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5975" name="Line 39"/>
            <p:cNvSpPr>
              <a:spLocks noChangeShapeType="1"/>
            </p:cNvSpPr>
            <p:nvPr/>
          </p:nvSpPr>
          <p:spPr bwMode="auto">
            <a:xfrm>
              <a:off x="5035" y="3283"/>
              <a:ext cx="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75976" name="Text Box 40"/>
          <p:cNvSpPr txBox="1">
            <a:spLocks noChangeArrowheads="1"/>
          </p:cNvSpPr>
          <p:nvPr/>
        </p:nvSpPr>
        <p:spPr bwMode="auto">
          <a:xfrm>
            <a:off x="796925" y="1393825"/>
            <a:ext cx="2986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1" lang="en-US" altLang="zh-CN" sz="28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</a:t>
            </a:r>
            <a:r>
              <a:rPr lang="zh-CN" altLang="en-US" sz="2800" b="1">
                <a:solidFill>
                  <a:srgbClr val="000066"/>
                </a:solidFill>
                <a:ea typeface="幼圆" pitchFamily="49" charset="-122"/>
              </a:rPr>
              <a:t>双面排水的情况</a:t>
            </a:r>
          </a:p>
        </p:txBody>
      </p:sp>
      <p:sp>
        <p:nvSpPr>
          <p:cNvPr id="1575978" name="Text Box 42"/>
          <p:cNvSpPr txBox="1">
            <a:spLocks noChangeArrowheads="1"/>
          </p:cNvSpPr>
          <p:nvPr/>
        </p:nvSpPr>
        <p:spPr bwMode="auto">
          <a:xfrm>
            <a:off x="920750" y="2614613"/>
            <a:ext cx="331152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上半部和单面排水的解完全相同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0" lang="zh-CN" altLang="en-US" b="1">
                <a:solidFill>
                  <a:srgbClr val="000066"/>
                </a:solidFill>
                <a:ea typeface="幼圆" pitchFamily="49" charset="-122"/>
              </a:rPr>
              <a:t>下半部和上半部对称</a:t>
            </a:r>
            <a:endParaRPr kumimoji="0" lang="en-US" altLang="zh-CN" b="1">
              <a:solidFill>
                <a:srgbClr val="000066"/>
              </a:solidFill>
              <a:ea typeface="幼圆" pitchFamily="49" charset="-122"/>
            </a:endParaRPr>
          </a:p>
        </p:txBody>
      </p:sp>
      <p:sp>
        <p:nvSpPr>
          <p:cNvPr id="1575980" name="Rectangle 44"/>
          <p:cNvSpPr>
            <a:spLocks noChangeArrowheads="1"/>
          </p:cNvSpPr>
          <p:nvPr/>
        </p:nvSpPr>
        <p:spPr bwMode="auto">
          <a:xfrm>
            <a:off x="2432050" y="5819775"/>
            <a:ext cx="53641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方程求解 </a:t>
            </a:r>
            <a:r>
              <a:rPr kumimoji="1" lang="en-US" altLang="zh-CN" sz="4000" b="1">
                <a:solidFill>
                  <a:srgbClr val="000066"/>
                </a:solidFill>
                <a:latin typeface="Arial Black"/>
                <a:ea typeface="黑体" pitchFamily="2" charset="-122"/>
                <a:sym typeface="Symbol" pitchFamily="18" charset="2"/>
              </a:rPr>
              <a:t>–</a:t>
            </a:r>
            <a:r>
              <a:rPr kumimoji="1" lang="en-US" altLang="zh-CN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 </a:t>
            </a: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固结过程</a:t>
            </a:r>
            <a:endParaRPr kumimoji="1" lang="en-US" altLang="zh-CN" sz="4000" b="1">
              <a:solidFill>
                <a:srgbClr val="000066"/>
              </a:solidFill>
              <a:latin typeface="黑体" pitchFamily="2" charset="-122"/>
              <a:ea typeface="黑体" pitchFamily="2" charset="-122"/>
              <a:sym typeface="Symbol" pitchFamily="18" charset="2"/>
            </a:endParaRPr>
          </a:p>
        </p:txBody>
      </p:sp>
      <p:sp>
        <p:nvSpPr>
          <p:cNvPr id="4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109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3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一维固结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理论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5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575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157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1575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1575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5976" grpId="0"/>
      <p:bldP spid="1575978" grpId="0" build="p"/>
      <p:bldP spid="1575980" grpId="0" build="p" autoUpdateAnimBg="0" advAuto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63" name="Rectangle 3"/>
          <p:cNvSpPr>
            <a:spLocks noChangeArrowheads="1"/>
          </p:cNvSpPr>
          <p:nvPr/>
        </p:nvSpPr>
        <p:spPr bwMode="auto">
          <a:xfrm>
            <a:off x="3036888" y="5903913"/>
            <a:ext cx="49466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固结度的概念</a:t>
            </a:r>
          </a:p>
        </p:txBody>
      </p:sp>
      <p:sp>
        <p:nvSpPr>
          <p:cNvPr id="1576965" name="Text Box 5"/>
          <p:cNvSpPr txBox="1">
            <a:spLocks noChangeArrowheads="1"/>
          </p:cNvSpPr>
          <p:nvPr/>
        </p:nvSpPr>
        <p:spPr bwMode="auto">
          <a:xfrm>
            <a:off x="493713" y="644525"/>
            <a:ext cx="5014912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buSzPct val="130000"/>
              <a:buFont typeface="Wingdings" pitchFamily="2" charset="2"/>
              <a:buChar char="F"/>
            </a:pPr>
            <a:r>
              <a:rPr kumimoji="0"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一点</a:t>
            </a:r>
            <a:r>
              <a:rPr kumimoji="0" lang="en-US" altLang="zh-CN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M</a:t>
            </a:r>
            <a:r>
              <a:rPr kumimoji="0" lang="zh-CN" altLang="en-US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的固结度：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其有效应力</a:t>
            </a:r>
            <a:r>
              <a:rPr kumimoji="0"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kumimoji="0" lang="en-US" altLang="zh-CN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zt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对总应力</a:t>
            </a:r>
            <a:r>
              <a:rPr kumimoji="0"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0" lang="en-US" altLang="zh-CN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kumimoji="0"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的比值</a:t>
            </a:r>
            <a:endParaRPr kumimoji="0" lang="zh-CN" altLang="zh-CN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76966" name="Rectangle 6"/>
          <p:cNvSpPr>
            <a:spLocks noChangeArrowheads="1"/>
          </p:cNvSpPr>
          <p:nvPr/>
        </p:nvSpPr>
        <p:spPr bwMode="auto">
          <a:xfrm>
            <a:off x="2016125" y="2770188"/>
            <a:ext cx="3570288" cy="9409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 lIns="90000" tIns="46800" rIns="90000" bIns="46800">
            <a:spAutoFit/>
          </a:bodyPr>
          <a:lstStyle/>
          <a:p>
            <a:pPr eaLnBrk="0" hangingPunct="0">
              <a:lnSpc>
                <a:spcPct val="125000"/>
              </a:lnSpc>
              <a:spcBef>
                <a:spcPct val="1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en-US" altLang="zh-CN" sz="2200" b="1" i="1" dirty="0" err="1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U</a:t>
            </a:r>
            <a:r>
              <a:rPr kumimoji="1" lang="en-US" altLang="zh-CN" sz="2200" b="1" baseline="-25000" dirty="0" err="1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z,t</a:t>
            </a:r>
            <a:r>
              <a:rPr kumimoji="1" lang="en-US" altLang="zh-CN" sz="2200" b="1" dirty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=0</a:t>
            </a:r>
            <a:r>
              <a:rPr kumimoji="1" lang="zh-CN" altLang="en-US" sz="2200" b="1" dirty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～1：</a:t>
            </a:r>
            <a:r>
              <a:rPr kumimoji="1" lang="zh-CN" altLang="en-US" sz="22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表征一点</a:t>
            </a:r>
            <a:r>
              <a:rPr lang="zh-CN" altLang="en-US" sz="22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超静孔压的消散程度</a:t>
            </a:r>
          </a:p>
        </p:txBody>
      </p:sp>
      <p:graphicFrame>
        <p:nvGraphicFramePr>
          <p:cNvPr id="15769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347680"/>
              </p:ext>
            </p:extLst>
          </p:nvPr>
        </p:nvGraphicFramePr>
        <p:xfrm>
          <a:off x="3062432" y="3862965"/>
          <a:ext cx="5151438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144" name="Equation" r:id="rId3" imgW="2895480" imgH="583920" progId="Equation.DSMT4">
                  <p:embed/>
                </p:oleObj>
              </mc:Choice>
              <mc:Fallback>
                <p:oleObj name="Equation" r:id="rId3" imgW="2895480" imgH="5839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432" y="3862965"/>
                        <a:ext cx="5151438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6968" name="Rectangle 8"/>
          <p:cNvSpPr>
            <a:spLocks noChangeArrowheads="1"/>
          </p:cNvSpPr>
          <p:nvPr/>
        </p:nvSpPr>
        <p:spPr bwMode="auto">
          <a:xfrm>
            <a:off x="838200" y="2743200"/>
            <a:ext cx="76962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FFCC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769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675947"/>
              </p:ext>
            </p:extLst>
          </p:nvPr>
        </p:nvGraphicFramePr>
        <p:xfrm>
          <a:off x="1614488" y="1752600"/>
          <a:ext cx="311308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145" name="Equation" r:id="rId5" imgW="1688760" imgH="431640" progId="Equation.DSMT4">
                  <p:embed/>
                </p:oleObj>
              </mc:Choice>
              <mc:Fallback>
                <p:oleObj name="Equation" r:id="rId5" imgW="1688760" imgH="4316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1752600"/>
                        <a:ext cx="3113087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76970" name="Group 10"/>
          <p:cNvGrpSpPr>
            <a:grpSpLocks/>
          </p:cNvGrpSpPr>
          <p:nvPr/>
        </p:nvGrpSpPr>
        <p:grpSpPr bwMode="auto">
          <a:xfrm>
            <a:off x="5864225" y="806450"/>
            <a:ext cx="3028950" cy="2568575"/>
            <a:chOff x="3674" y="398"/>
            <a:chExt cx="1908" cy="1618"/>
          </a:xfrm>
        </p:grpSpPr>
        <p:sp>
          <p:nvSpPr>
            <p:cNvPr id="1576971" name="Rectangle 11"/>
            <p:cNvSpPr>
              <a:spLocks noChangeArrowheads="1"/>
            </p:cNvSpPr>
            <p:nvPr/>
          </p:nvSpPr>
          <p:spPr bwMode="auto">
            <a:xfrm>
              <a:off x="3674" y="398"/>
              <a:ext cx="1908" cy="1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6972" name="Rectangle 12"/>
            <p:cNvSpPr>
              <a:spLocks noChangeArrowheads="1"/>
            </p:cNvSpPr>
            <p:nvPr/>
          </p:nvSpPr>
          <p:spPr bwMode="auto">
            <a:xfrm>
              <a:off x="3877" y="656"/>
              <a:ext cx="1579" cy="1037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6973" name="Rectangle 13"/>
            <p:cNvSpPr>
              <a:spLocks noChangeArrowheads="1"/>
            </p:cNvSpPr>
            <p:nvPr/>
          </p:nvSpPr>
          <p:spPr bwMode="auto">
            <a:xfrm>
              <a:off x="4501" y="651"/>
              <a:ext cx="471" cy="103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6974" name="Freeform 14" descr="浅色横线"/>
            <p:cNvSpPr>
              <a:spLocks/>
            </p:cNvSpPr>
            <p:nvPr/>
          </p:nvSpPr>
          <p:spPr bwMode="auto">
            <a:xfrm>
              <a:off x="4501" y="656"/>
              <a:ext cx="471" cy="1027"/>
            </a:xfrm>
            <a:custGeom>
              <a:avLst/>
              <a:gdLst>
                <a:gd name="T0" fmla="*/ 0 w 471"/>
                <a:gd name="T1" fmla="*/ 0 h 1027"/>
                <a:gd name="T2" fmla="*/ 471 w 471"/>
                <a:gd name="T3" fmla="*/ 0 h 1027"/>
                <a:gd name="T4" fmla="*/ 389 w 471"/>
                <a:gd name="T5" fmla="*/ 106 h 1027"/>
                <a:gd name="T6" fmla="*/ 303 w 471"/>
                <a:gd name="T7" fmla="*/ 274 h 1027"/>
                <a:gd name="T8" fmla="*/ 221 w 471"/>
                <a:gd name="T9" fmla="*/ 475 h 1027"/>
                <a:gd name="T10" fmla="*/ 159 w 471"/>
                <a:gd name="T11" fmla="*/ 725 h 1027"/>
                <a:gd name="T12" fmla="*/ 120 w 471"/>
                <a:gd name="T13" fmla="*/ 893 h 1027"/>
                <a:gd name="T14" fmla="*/ 106 w 471"/>
                <a:gd name="T15" fmla="*/ 1027 h 1027"/>
                <a:gd name="T16" fmla="*/ 5 w 471"/>
                <a:gd name="T17" fmla="*/ 1027 h 1027"/>
                <a:gd name="T18" fmla="*/ 0 w 471"/>
                <a:gd name="T19" fmla="*/ 0 h 1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1" h="1027">
                  <a:moveTo>
                    <a:pt x="0" y="0"/>
                  </a:moveTo>
                  <a:lnTo>
                    <a:pt x="471" y="0"/>
                  </a:lnTo>
                  <a:lnTo>
                    <a:pt x="389" y="106"/>
                  </a:lnTo>
                  <a:lnTo>
                    <a:pt x="303" y="274"/>
                  </a:lnTo>
                  <a:lnTo>
                    <a:pt x="221" y="475"/>
                  </a:lnTo>
                  <a:lnTo>
                    <a:pt x="159" y="725"/>
                  </a:lnTo>
                  <a:lnTo>
                    <a:pt x="120" y="893"/>
                  </a:lnTo>
                  <a:lnTo>
                    <a:pt x="106" y="1027"/>
                  </a:lnTo>
                  <a:lnTo>
                    <a:pt x="5" y="1027"/>
                  </a:lnTo>
                  <a:lnTo>
                    <a:pt x="0" y="0"/>
                  </a:lnTo>
                  <a:close/>
                </a:path>
              </a:pathLst>
            </a:custGeom>
            <a:pattFill prst="ltHorz">
              <a:fgClr>
                <a:srgbClr val="FF9999"/>
              </a:fgClr>
              <a:bgClr>
                <a:srgbClr val="CCEC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76975" name="Group 15"/>
            <p:cNvGrpSpPr>
              <a:grpSpLocks/>
            </p:cNvGrpSpPr>
            <p:nvPr/>
          </p:nvGrpSpPr>
          <p:grpSpPr bwMode="auto">
            <a:xfrm>
              <a:off x="3889" y="482"/>
              <a:ext cx="1540" cy="164"/>
              <a:chOff x="3544" y="1069"/>
              <a:chExt cx="1067" cy="165"/>
            </a:xfrm>
          </p:grpSpPr>
          <p:sp>
            <p:nvSpPr>
              <p:cNvPr id="1576976" name="Line 16"/>
              <p:cNvSpPr>
                <a:spLocks noChangeShapeType="1"/>
              </p:cNvSpPr>
              <p:nvPr/>
            </p:nvSpPr>
            <p:spPr bwMode="auto">
              <a:xfrm>
                <a:off x="3544" y="10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6977" name="Line 17"/>
              <p:cNvSpPr>
                <a:spLocks noChangeShapeType="1"/>
              </p:cNvSpPr>
              <p:nvPr/>
            </p:nvSpPr>
            <p:spPr bwMode="auto">
              <a:xfrm>
                <a:off x="3663" y="10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6978" name="Line 18"/>
              <p:cNvSpPr>
                <a:spLocks noChangeShapeType="1"/>
              </p:cNvSpPr>
              <p:nvPr/>
            </p:nvSpPr>
            <p:spPr bwMode="auto">
              <a:xfrm>
                <a:off x="3782" y="10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6979" name="Line 19"/>
              <p:cNvSpPr>
                <a:spLocks noChangeShapeType="1"/>
              </p:cNvSpPr>
              <p:nvPr/>
            </p:nvSpPr>
            <p:spPr bwMode="auto">
              <a:xfrm>
                <a:off x="3900" y="10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6980" name="Line 20"/>
              <p:cNvSpPr>
                <a:spLocks noChangeShapeType="1"/>
              </p:cNvSpPr>
              <p:nvPr/>
            </p:nvSpPr>
            <p:spPr bwMode="auto">
              <a:xfrm>
                <a:off x="4019" y="10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6981" name="Line 21"/>
              <p:cNvSpPr>
                <a:spLocks noChangeShapeType="1"/>
              </p:cNvSpPr>
              <p:nvPr/>
            </p:nvSpPr>
            <p:spPr bwMode="auto">
              <a:xfrm>
                <a:off x="4136" y="10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6982" name="Line 22"/>
              <p:cNvSpPr>
                <a:spLocks noChangeShapeType="1"/>
              </p:cNvSpPr>
              <p:nvPr/>
            </p:nvSpPr>
            <p:spPr bwMode="auto">
              <a:xfrm>
                <a:off x="4255" y="10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6983" name="Line 23"/>
              <p:cNvSpPr>
                <a:spLocks noChangeShapeType="1"/>
              </p:cNvSpPr>
              <p:nvPr/>
            </p:nvSpPr>
            <p:spPr bwMode="auto">
              <a:xfrm>
                <a:off x="4374" y="10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6984" name="Line 24"/>
              <p:cNvSpPr>
                <a:spLocks noChangeShapeType="1"/>
              </p:cNvSpPr>
              <p:nvPr/>
            </p:nvSpPr>
            <p:spPr bwMode="auto">
              <a:xfrm>
                <a:off x="4492" y="10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76985" name="Line 25"/>
              <p:cNvSpPr>
                <a:spLocks noChangeShapeType="1"/>
              </p:cNvSpPr>
              <p:nvPr/>
            </p:nvSpPr>
            <p:spPr bwMode="auto">
              <a:xfrm>
                <a:off x="4611" y="1069"/>
                <a:ext cx="0" cy="16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576986" name="Line 26"/>
            <p:cNvSpPr>
              <a:spLocks noChangeShapeType="1"/>
            </p:cNvSpPr>
            <p:nvPr/>
          </p:nvSpPr>
          <p:spPr bwMode="auto">
            <a:xfrm>
              <a:off x="3892" y="650"/>
              <a:ext cx="1567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6987" name="Rectangle 27" descr="深色上对角线"/>
            <p:cNvSpPr>
              <a:spLocks noChangeArrowheads="1"/>
            </p:cNvSpPr>
            <p:nvPr/>
          </p:nvSpPr>
          <p:spPr bwMode="auto">
            <a:xfrm>
              <a:off x="3878" y="1690"/>
              <a:ext cx="1583" cy="68"/>
            </a:xfrm>
            <a:prstGeom prst="rect">
              <a:avLst/>
            </a:prstGeom>
            <a:pattFill prst="dkUpDiag">
              <a:fgClr>
                <a:srgbClr val="666633"/>
              </a:fgClr>
              <a:bgClr>
                <a:schemeClr val="hlink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6988" name="Text Box 28"/>
            <p:cNvSpPr txBox="1">
              <a:spLocks noChangeArrowheads="1"/>
            </p:cNvSpPr>
            <p:nvPr/>
          </p:nvSpPr>
          <p:spPr bwMode="auto">
            <a:xfrm>
              <a:off x="4278" y="1728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z</a:t>
              </a:r>
            </a:p>
          </p:txBody>
        </p:sp>
        <p:sp>
          <p:nvSpPr>
            <p:cNvPr id="1576989" name="Line 29"/>
            <p:cNvSpPr>
              <a:spLocks noChangeShapeType="1"/>
            </p:cNvSpPr>
            <p:nvPr/>
          </p:nvSpPr>
          <p:spPr bwMode="auto">
            <a:xfrm>
              <a:off x="4967" y="665"/>
              <a:ext cx="0" cy="10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6990" name="Freeform 30"/>
            <p:cNvSpPr>
              <a:spLocks/>
            </p:cNvSpPr>
            <p:nvPr/>
          </p:nvSpPr>
          <p:spPr bwMode="auto">
            <a:xfrm>
              <a:off x="4607" y="656"/>
              <a:ext cx="365" cy="1032"/>
            </a:xfrm>
            <a:custGeom>
              <a:avLst/>
              <a:gdLst>
                <a:gd name="T0" fmla="*/ 365 w 365"/>
                <a:gd name="T1" fmla="*/ 0 h 1032"/>
                <a:gd name="T2" fmla="*/ 264 w 365"/>
                <a:gd name="T3" fmla="*/ 139 h 1032"/>
                <a:gd name="T4" fmla="*/ 134 w 365"/>
                <a:gd name="T5" fmla="*/ 427 h 1032"/>
                <a:gd name="T6" fmla="*/ 38 w 365"/>
                <a:gd name="T7" fmla="*/ 782 h 1032"/>
                <a:gd name="T8" fmla="*/ 0 w 365"/>
                <a:gd name="T9" fmla="*/ 1032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5" h="1032">
                  <a:moveTo>
                    <a:pt x="365" y="0"/>
                  </a:moveTo>
                  <a:cubicBezTo>
                    <a:pt x="348" y="23"/>
                    <a:pt x="303" y="68"/>
                    <a:pt x="264" y="139"/>
                  </a:cubicBezTo>
                  <a:cubicBezTo>
                    <a:pt x="225" y="210"/>
                    <a:pt x="172" y="320"/>
                    <a:pt x="134" y="427"/>
                  </a:cubicBezTo>
                  <a:cubicBezTo>
                    <a:pt x="96" y="534"/>
                    <a:pt x="60" y="681"/>
                    <a:pt x="38" y="782"/>
                  </a:cubicBezTo>
                  <a:cubicBezTo>
                    <a:pt x="16" y="883"/>
                    <a:pt x="9" y="953"/>
                    <a:pt x="0" y="1032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6991" name="Line 31"/>
            <p:cNvSpPr>
              <a:spLocks noChangeShapeType="1"/>
            </p:cNvSpPr>
            <p:nvPr/>
          </p:nvSpPr>
          <p:spPr bwMode="auto">
            <a:xfrm>
              <a:off x="4093" y="661"/>
              <a:ext cx="0" cy="10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6992" name="Text Box 32"/>
            <p:cNvSpPr txBox="1">
              <a:spLocks noChangeArrowheads="1"/>
            </p:cNvSpPr>
            <p:nvPr/>
          </p:nvSpPr>
          <p:spPr bwMode="auto">
            <a:xfrm>
              <a:off x="3958" y="1040"/>
              <a:ext cx="240" cy="250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>
                  <a:solidFill>
                    <a:srgbClr val="000066"/>
                  </a:solidFill>
                  <a:ea typeface="幼圆" pitchFamily="49" charset="-122"/>
                </a:rPr>
                <a:t>H</a:t>
              </a:r>
            </a:p>
          </p:txBody>
        </p:sp>
        <p:sp>
          <p:nvSpPr>
            <p:cNvPr id="1576993" name="Line 33"/>
            <p:cNvSpPr>
              <a:spLocks noChangeShapeType="1"/>
            </p:cNvSpPr>
            <p:nvPr/>
          </p:nvSpPr>
          <p:spPr bwMode="auto">
            <a:xfrm>
              <a:off x="4506" y="651"/>
              <a:ext cx="0" cy="12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6994" name="Line 34"/>
            <p:cNvSpPr>
              <a:spLocks noChangeShapeType="1"/>
            </p:cNvSpPr>
            <p:nvPr/>
          </p:nvSpPr>
          <p:spPr bwMode="auto">
            <a:xfrm>
              <a:off x="4775" y="997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6995" name="Text Box 35"/>
            <p:cNvSpPr txBox="1">
              <a:spLocks noChangeArrowheads="1"/>
            </p:cNvSpPr>
            <p:nvPr/>
          </p:nvSpPr>
          <p:spPr bwMode="auto">
            <a:xfrm>
              <a:off x="4516" y="739"/>
              <a:ext cx="2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</a:t>
              </a:r>
              <a:r>
                <a:rPr lang="en-US" altLang="zh-CN" sz="1800" b="1" baseline="-25000" dirty="0">
                  <a:solidFill>
                    <a:srgbClr val="000066"/>
                  </a:solidFill>
                  <a:ea typeface="幼圆" pitchFamily="49" charset="-122"/>
                  <a:sym typeface="Symbol" pitchFamily="18" charset="2"/>
                </a:rPr>
                <a:t>z</a:t>
              </a:r>
              <a:endParaRPr lang="en-US" altLang="zh-CN" sz="18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76996" name="Text Box 36"/>
            <p:cNvSpPr txBox="1">
              <a:spLocks noChangeArrowheads="1"/>
            </p:cNvSpPr>
            <p:nvPr/>
          </p:nvSpPr>
          <p:spPr bwMode="auto">
            <a:xfrm>
              <a:off x="4770" y="96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800" b="1">
                  <a:solidFill>
                    <a:srgbClr val="000066"/>
                  </a:solidFill>
                  <a:ea typeface="幼圆" pitchFamily="49" charset="-122"/>
                </a:rPr>
                <a:t>u</a:t>
              </a:r>
            </a:p>
          </p:txBody>
        </p:sp>
        <p:sp>
          <p:nvSpPr>
            <p:cNvPr id="1576997" name="Text Box 37"/>
            <p:cNvSpPr txBox="1">
              <a:spLocks noChangeArrowheads="1"/>
            </p:cNvSpPr>
            <p:nvPr/>
          </p:nvSpPr>
          <p:spPr bwMode="auto">
            <a:xfrm>
              <a:off x="4303" y="55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>
                  <a:solidFill>
                    <a:srgbClr val="000066"/>
                  </a:solidFill>
                  <a:ea typeface="幼圆" pitchFamily="49" charset="-122"/>
                </a:rPr>
                <a:t>o</a:t>
              </a:r>
            </a:p>
          </p:txBody>
        </p:sp>
        <p:sp>
          <p:nvSpPr>
            <p:cNvPr id="1576998" name="Text Box 38"/>
            <p:cNvSpPr txBox="1">
              <a:spLocks noChangeArrowheads="1"/>
            </p:cNvSpPr>
            <p:nvPr/>
          </p:nvSpPr>
          <p:spPr bwMode="auto">
            <a:xfrm>
              <a:off x="4223" y="866"/>
              <a:ext cx="28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200" b="1">
                  <a:solidFill>
                    <a:srgbClr val="000066"/>
                  </a:solidFill>
                  <a:ea typeface="幼圆" pitchFamily="49" charset="-122"/>
                </a:rPr>
                <a:t>M</a:t>
              </a:r>
            </a:p>
          </p:txBody>
        </p:sp>
        <p:sp>
          <p:nvSpPr>
            <p:cNvPr id="1576999" name="Oval 39"/>
            <p:cNvSpPr>
              <a:spLocks noChangeArrowheads="1"/>
            </p:cNvSpPr>
            <p:nvPr/>
          </p:nvSpPr>
          <p:spPr bwMode="auto">
            <a:xfrm>
              <a:off x="4473" y="965"/>
              <a:ext cx="56" cy="56"/>
            </a:xfrm>
            <a:prstGeom prst="ellipse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7000" name="Line 40"/>
            <p:cNvSpPr>
              <a:spLocks noChangeShapeType="1"/>
            </p:cNvSpPr>
            <p:nvPr/>
          </p:nvSpPr>
          <p:spPr bwMode="auto">
            <a:xfrm>
              <a:off x="4506" y="997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001" name="Text Box 41"/>
            <p:cNvSpPr txBox="1">
              <a:spLocks noChangeArrowheads="1"/>
            </p:cNvSpPr>
            <p:nvPr/>
          </p:nvSpPr>
          <p:spPr bwMode="auto">
            <a:xfrm>
              <a:off x="4593" y="1726"/>
              <a:ext cx="33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</a:t>
              </a:r>
              <a:r>
                <a:rPr kumimoji="1" lang="en-US" altLang="zh-CN" sz="2000" b="1" baseline="-2500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z</a:t>
              </a:r>
              <a:endParaRPr kumimoji="1" lang="en-US" altLang="zh-CN" sz="20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endParaRPr>
            </a:p>
          </p:txBody>
        </p:sp>
        <p:sp>
          <p:nvSpPr>
            <p:cNvPr id="1577002" name="Line 42"/>
            <p:cNvSpPr>
              <a:spLocks noChangeShapeType="1"/>
            </p:cNvSpPr>
            <p:nvPr/>
          </p:nvSpPr>
          <p:spPr bwMode="auto">
            <a:xfrm>
              <a:off x="4974" y="1703"/>
              <a:ext cx="0" cy="1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003" name="Line 43"/>
            <p:cNvSpPr>
              <a:spLocks noChangeShapeType="1"/>
            </p:cNvSpPr>
            <p:nvPr/>
          </p:nvSpPr>
          <p:spPr bwMode="auto">
            <a:xfrm>
              <a:off x="4504" y="1804"/>
              <a:ext cx="4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77004" name="AutoShape 44"/>
          <p:cNvSpPr>
            <a:spLocks noChangeArrowheads="1"/>
          </p:cNvSpPr>
          <p:nvPr/>
        </p:nvSpPr>
        <p:spPr bwMode="auto">
          <a:xfrm>
            <a:off x="1271588" y="2819400"/>
            <a:ext cx="554037" cy="473075"/>
          </a:xfrm>
          <a:prstGeom prst="homePlate">
            <a:avLst>
              <a:gd name="adj" fmla="val 29278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77005" name="Rectangle 45"/>
          <p:cNvSpPr>
            <a:spLocks noChangeArrowheads="1"/>
          </p:cNvSpPr>
          <p:nvPr/>
        </p:nvSpPr>
        <p:spPr bwMode="auto">
          <a:xfrm>
            <a:off x="2797175" y="5067300"/>
            <a:ext cx="5551488" cy="517707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 lIns="90000" tIns="46800" rIns="90000" bIns="46800">
            <a:spAutoFit/>
          </a:bodyPr>
          <a:lstStyle/>
          <a:p>
            <a:pPr eaLnBrk="0" hangingPunct="0">
              <a:lnSpc>
                <a:spcPct val="125000"/>
              </a:lnSpc>
              <a:spcBef>
                <a:spcPct val="1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en-US" altLang="zh-CN" sz="2200" b="1" i="1" dirty="0" err="1" smtClean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U</a:t>
            </a:r>
            <a:r>
              <a:rPr kumimoji="1" lang="en-US" altLang="zh-CN" sz="2200" b="1" baseline="-25000" dirty="0" err="1" smtClean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t</a:t>
            </a:r>
            <a:r>
              <a:rPr kumimoji="1" lang="en-US" altLang="zh-CN" sz="2200" b="1" i="1" baseline="-25000" dirty="0" smtClean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 </a:t>
            </a:r>
            <a:r>
              <a:rPr kumimoji="1" lang="en-US" altLang="zh-CN" sz="2200" b="1" dirty="0" smtClean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= 0</a:t>
            </a:r>
            <a:r>
              <a:rPr kumimoji="1" lang="zh-CN" altLang="en-US" sz="2200" b="1" dirty="0">
                <a:solidFill>
                  <a:schemeClr val="bg1">
                    <a:lumMod val="95000"/>
                  </a:schemeClr>
                </a:solidFill>
                <a:sym typeface="Symbol" pitchFamily="18" charset="2"/>
              </a:rPr>
              <a:t>～1：</a:t>
            </a:r>
            <a:r>
              <a:rPr kumimoji="1" lang="zh-CN" altLang="en-US" sz="22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表征一层土</a:t>
            </a:r>
            <a:r>
              <a:rPr lang="zh-CN" altLang="en-US" sz="22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sym typeface="Symbol" pitchFamily="18" charset="2"/>
              </a:rPr>
              <a:t>超静孔压的消散程度</a:t>
            </a:r>
          </a:p>
        </p:txBody>
      </p:sp>
      <p:sp>
        <p:nvSpPr>
          <p:cNvPr id="1577006" name="AutoShape 46"/>
          <p:cNvSpPr>
            <a:spLocks noChangeArrowheads="1"/>
          </p:cNvSpPr>
          <p:nvPr/>
        </p:nvSpPr>
        <p:spPr bwMode="auto">
          <a:xfrm>
            <a:off x="2030413" y="5048250"/>
            <a:ext cx="571500" cy="473075"/>
          </a:xfrm>
          <a:prstGeom prst="homePlate">
            <a:avLst>
              <a:gd name="adj" fmla="val 30201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77007" name="Rectangle 47"/>
          <p:cNvSpPr>
            <a:spLocks noChangeArrowheads="1"/>
          </p:cNvSpPr>
          <p:nvPr/>
        </p:nvSpPr>
        <p:spPr bwMode="auto">
          <a:xfrm>
            <a:off x="503238" y="3884282"/>
            <a:ext cx="23653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441325" indent="-441325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sym typeface="Symbol" pitchFamily="18" charset="2"/>
              </a:rPr>
              <a:t>一层土的平均固结度</a:t>
            </a:r>
            <a:endParaRPr kumimoji="1" lang="en-US" altLang="zh-CN" sz="2400" b="1" dirty="0">
              <a:solidFill>
                <a:srgbClr val="A50021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47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固结度计算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7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76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76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76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1000"/>
                                        <p:tgtEl>
                                          <p:spTgt spid="1577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769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577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577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7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1000"/>
                                        <p:tgtEl>
                                          <p:spTgt spid="1577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5770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65" grpId="0"/>
      <p:bldP spid="1576966" grpId="0" build="p" autoUpdateAnimBg="0" advAuto="0"/>
      <p:bldP spid="1577004" grpId="0" animBg="1"/>
      <p:bldP spid="1577005" grpId="0" build="p" autoUpdateAnimBg="0" advAuto="0"/>
      <p:bldP spid="1577006" grpId="0" animBg="1"/>
      <p:bldP spid="1577007" grpId="0" build="p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987" name="Rectangle 3"/>
          <p:cNvSpPr>
            <a:spLocks noChangeArrowheads="1"/>
          </p:cNvSpPr>
          <p:nvPr/>
        </p:nvSpPr>
        <p:spPr bwMode="auto">
          <a:xfrm>
            <a:off x="565150" y="757238"/>
            <a:ext cx="579278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平均固结度</a:t>
            </a:r>
            <a:r>
              <a:rPr kumimoji="1" lang="en-US" altLang="zh-CN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U</a:t>
            </a:r>
            <a:r>
              <a:rPr kumimoji="1" lang="en-US" altLang="zh-CN" sz="2400" b="1" baseline="-2500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t</a:t>
            </a: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与沉降量</a:t>
            </a:r>
            <a:r>
              <a:rPr kumimoji="1" lang="en-US" altLang="zh-CN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S</a:t>
            </a:r>
            <a:r>
              <a:rPr kumimoji="1" lang="en-US" altLang="zh-CN" sz="2400" b="1" baseline="-2500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t</a:t>
            </a:r>
            <a:r>
              <a:rPr kumimoji="1"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之间的关系</a:t>
            </a:r>
            <a:endParaRPr kumimoji="1" lang="en-US" altLang="zh-CN" sz="24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1577988" name="Text Box 4"/>
          <p:cNvSpPr txBox="1">
            <a:spLocks noChangeArrowheads="1"/>
          </p:cNvSpPr>
          <p:nvPr/>
        </p:nvSpPr>
        <p:spPr bwMode="auto">
          <a:xfrm>
            <a:off x="671513" y="1863725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t</a:t>
            </a:r>
            <a:r>
              <a:rPr kumimoji="1" lang="zh-CN" altLang="en-US" sz="24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时刻：</a:t>
            </a:r>
          </a:p>
        </p:txBody>
      </p:sp>
      <p:graphicFrame>
        <p:nvGraphicFramePr>
          <p:cNvPr id="15779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876368"/>
              </p:ext>
            </p:extLst>
          </p:nvPr>
        </p:nvGraphicFramePr>
        <p:xfrm>
          <a:off x="1828800" y="4306888"/>
          <a:ext cx="1490663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203" name="Equation" r:id="rId3" imgW="698400" imgH="215640" progId="Equation.DSMT4">
                  <p:embed/>
                </p:oleObj>
              </mc:Choice>
              <mc:Fallback>
                <p:oleObj name="Equation" r:id="rId3" imgW="698400" imgH="2156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306888"/>
                        <a:ext cx="1490663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990" name="Rectangle 6"/>
          <p:cNvSpPr>
            <a:spLocks noChangeArrowheads="1"/>
          </p:cNvSpPr>
          <p:nvPr/>
        </p:nvSpPr>
        <p:spPr bwMode="auto">
          <a:xfrm>
            <a:off x="3576638" y="4195763"/>
            <a:ext cx="5273675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5000"/>
              </a:lnSpc>
              <a:spcBef>
                <a:spcPct val="10000"/>
              </a:spcBef>
              <a:buClr>
                <a:srgbClr val="A50021"/>
              </a:buClr>
              <a:buFont typeface="Wingdings" pitchFamily="2" charset="2"/>
              <a:buChar char="§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确定沉降过程也即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的关键是确定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endParaRPr kumimoji="1" lang="en-US" altLang="zh-CN" sz="24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eaLnBrk="0" hangingPunct="0">
              <a:lnSpc>
                <a:spcPct val="125000"/>
              </a:lnSpc>
              <a:spcBef>
                <a:spcPct val="10000"/>
              </a:spcBef>
              <a:buClr>
                <a:srgbClr val="A50021"/>
              </a:buClr>
              <a:buFont typeface="Wingdings" pitchFamily="2" charset="2"/>
              <a:buChar char="§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确定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的核心问题是确定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z.t</a:t>
            </a:r>
            <a:endParaRPr kumimoji="1" lang="zh-CN" altLang="en-US" sz="2400" b="1" baseline="-250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graphicFrame>
        <p:nvGraphicFramePr>
          <p:cNvPr id="15779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666651"/>
              </p:ext>
            </p:extLst>
          </p:nvPr>
        </p:nvGraphicFramePr>
        <p:xfrm>
          <a:off x="2409825" y="1477963"/>
          <a:ext cx="5102225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204" name="Equation" r:id="rId5" imgW="3111480" imgH="799920" progId="Equation.DSMT4">
                  <p:embed/>
                </p:oleObj>
              </mc:Choice>
              <mc:Fallback>
                <p:oleObj name="Equation" r:id="rId5" imgW="3111480" imgH="7999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9825" y="1477963"/>
                        <a:ext cx="5102225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9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907390"/>
              </p:ext>
            </p:extLst>
          </p:nvPr>
        </p:nvGraphicFramePr>
        <p:xfrm>
          <a:off x="1820863" y="3006725"/>
          <a:ext cx="93027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205" name="Equation" r:id="rId7" imgW="520560" imgH="419040" progId="Equation.DSMT4">
                  <p:embed/>
                </p:oleObj>
              </mc:Choice>
              <mc:Fallback>
                <p:oleObj name="Equation" r:id="rId7" imgW="520560" imgH="419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3" y="3006725"/>
                        <a:ext cx="93027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993" name="Text Box 9"/>
          <p:cNvSpPr txBox="1">
            <a:spLocks noChangeArrowheads="1"/>
          </p:cNvSpPr>
          <p:nvPr/>
        </p:nvSpPr>
        <p:spPr bwMode="auto">
          <a:xfrm>
            <a:off x="3267075" y="2955925"/>
            <a:ext cx="38417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固结度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等于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t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时刻的沉降量与最终沉降量之比</a:t>
            </a:r>
          </a:p>
        </p:txBody>
      </p:sp>
      <p:sp>
        <p:nvSpPr>
          <p:cNvPr id="1577994" name="AutoShape 10"/>
          <p:cNvSpPr>
            <a:spLocks noChangeArrowheads="1"/>
          </p:cNvSpPr>
          <p:nvPr/>
        </p:nvSpPr>
        <p:spPr bwMode="auto">
          <a:xfrm>
            <a:off x="1012825" y="3148013"/>
            <a:ext cx="509588" cy="428625"/>
          </a:xfrm>
          <a:prstGeom prst="homePlate">
            <a:avLst>
              <a:gd name="adj" fmla="val 29722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77995" name="AutoShape 11"/>
          <p:cNvSpPr>
            <a:spLocks noChangeArrowheads="1"/>
          </p:cNvSpPr>
          <p:nvPr/>
        </p:nvSpPr>
        <p:spPr bwMode="auto">
          <a:xfrm>
            <a:off x="1038225" y="4308475"/>
            <a:ext cx="509588" cy="428625"/>
          </a:xfrm>
          <a:prstGeom prst="homePlate">
            <a:avLst>
              <a:gd name="adj" fmla="val 29722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77998" name="Rectangle 14"/>
          <p:cNvSpPr>
            <a:spLocks noChangeArrowheads="1"/>
          </p:cNvSpPr>
          <p:nvPr/>
        </p:nvSpPr>
        <p:spPr bwMode="auto">
          <a:xfrm>
            <a:off x="3036888" y="5903913"/>
            <a:ext cx="49466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固结度的概念</a:t>
            </a:r>
          </a:p>
        </p:txBody>
      </p:sp>
      <p:sp>
        <p:nvSpPr>
          <p:cNvPr id="1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固结度计算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77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77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77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77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7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1000"/>
                                        <p:tgtEl>
                                          <p:spTgt spid="157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77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779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1000"/>
                                        <p:tgtEl>
                                          <p:spTgt spid="157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57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1577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15779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987" grpId="0" build="p" autoUpdateAnimBg="0" advAuto="0"/>
      <p:bldP spid="1577988" grpId="0" autoUpdateAnimBg="0"/>
      <p:bldP spid="1577990" grpId="0" build="allAtOnce"/>
      <p:bldP spid="1577993" grpId="0" build="p" autoUpdateAnimBg="0"/>
      <p:bldP spid="1577994" grpId="0" animBg="1"/>
      <p:bldP spid="157799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011" name="Rectangle 3"/>
          <p:cNvSpPr>
            <a:spLocks noChangeArrowheads="1"/>
          </p:cNvSpPr>
          <p:nvPr/>
        </p:nvSpPr>
        <p:spPr bwMode="auto">
          <a:xfrm>
            <a:off x="325438" y="636588"/>
            <a:ext cx="3995737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35000"/>
              <a:buFont typeface="Wingdings" pitchFamily="2" charset="2"/>
              <a:buChar char="F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均布荷载单向排水</a:t>
            </a:r>
            <a:endParaRPr kumimoji="1" lang="en-US" altLang="zh-CN" sz="28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579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086438"/>
              </p:ext>
            </p:extLst>
          </p:nvPr>
        </p:nvGraphicFramePr>
        <p:xfrm>
          <a:off x="377825" y="2481263"/>
          <a:ext cx="2195513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300" name="Equation" r:id="rId3" imgW="1041120" imgH="583920" progId="Equation.DSMT4">
                  <p:embed/>
                </p:oleObj>
              </mc:Choice>
              <mc:Fallback>
                <p:oleObj name="Equation" r:id="rId3" imgW="1041120" imgH="583920" progId="Equation.DSMT4">
                  <p:embed/>
                  <p:pic>
                    <p:nvPicPr>
                      <p:cNvPr id="0" name="Object 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2481263"/>
                        <a:ext cx="2195513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9013" name="Rectangle 5"/>
          <p:cNvSpPr>
            <a:spLocks noChangeArrowheads="1"/>
          </p:cNvSpPr>
          <p:nvPr/>
        </p:nvSpPr>
        <p:spPr bwMode="auto">
          <a:xfrm>
            <a:off x="2955925" y="2246313"/>
            <a:ext cx="5827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Tx/>
              <a:buChar char="•"/>
            </a:pPr>
            <a:r>
              <a:rPr kumimoji="1" lang="zh-CN" altLang="en-US" sz="24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图表解：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P157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图4-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7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曲线①</a:t>
            </a:r>
          </a:p>
        </p:txBody>
      </p:sp>
      <p:grpSp>
        <p:nvGrpSpPr>
          <p:cNvPr id="1579014" name="Group 6"/>
          <p:cNvGrpSpPr>
            <a:grpSpLocks/>
          </p:cNvGrpSpPr>
          <p:nvPr/>
        </p:nvGrpSpPr>
        <p:grpSpPr bwMode="auto">
          <a:xfrm>
            <a:off x="2981325" y="1104901"/>
            <a:ext cx="4613276" cy="869950"/>
            <a:chOff x="1878" y="646"/>
            <a:chExt cx="2906" cy="548"/>
          </a:xfrm>
        </p:grpSpPr>
        <p:graphicFrame>
          <p:nvGraphicFramePr>
            <p:cNvPr id="157901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1107487"/>
                </p:ext>
              </p:extLst>
            </p:nvPr>
          </p:nvGraphicFramePr>
          <p:xfrm>
            <a:off x="2821" y="646"/>
            <a:ext cx="1963" cy="5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9301" name="公式" r:id="rId5" imgW="1752480" imgH="495000" progId="Equation.3">
                    <p:embed/>
                  </p:oleObj>
                </mc:Choice>
                <mc:Fallback>
                  <p:oleObj name="公式" r:id="rId5" imgW="1752480" imgH="495000" progId="Equation.3">
                    <p:embed/>
                    <p:pic>
                      <p:nvPicPr>
                        <p:cNvPr id="0" name="Object 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1" y="646"/>
                          <a:ext cx="1963" cy="5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79016" name="Text Box 8"/>
            <p:cNvSpPr txBox="1">
              <a:spLocks noChangeArrowheads="1"/>
            </p:cNvSpPr>
            <p:nvPr/>
          </p:nvSpPr>
          <p:spPr bwMode="auto">
            <a:xfrm>
              <a:off x="1878" y="819"/>
              <a:ext cx="10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zh-CN" altLang="en-US" sz="2400" b="1">
                  <a:solidFill>
                    <a:srgbClr val="A50021"/>
                  </a:solidFill>
                  <a:ea typeface="幼圆" pitchFamily="49" charset="-122"/>
                </a:rPr>
                <a:t> </a:t>
              </a: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一般解：</a:t>
              </a:r>
              <a:endParaRPr lang="en-US" altLang="zh-CN" sz="24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grpSp>
        <p:nvGrpSpPr>
          <p:cNvPr id="1579017" name="Group 9"/>
          <p:cNvGrpSpPr>
            <a:grpSpLocks/>
          </p:cNvGrpSpPr>
          <p:nvPr/>
        </p:nvGrpSpPr>
        <p:grpSpPr bwMode="auto">
          <a:xfrm>
            <a:off x="2955925" y="2867027"/>
            <a:ext cx="3535363" cy="795338"/>
            <a:chOff x="1862" y="1756"/>
            <a:chExt cx="2227" cy="501"/>
          </a:xfrm>
        </p:grpSpPr>
        <p:graphicFrame>
          <p:nvGraphicFramePr>
            <p:cNvPr id="157901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8891679"/>
                </p:ext>
              </p:extLst>
            </p:nvPr>
          </p:nvGraphicFramePr>
          <p:xfrm>
            <a:off x="2904" y="1756"/>
            <a:ext cx="1185" cy="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9302" name="Equation" r:id="rId7" imgW="977760" imgH="419040" progId="Equation.DSMT4">
                    <p:embed/>
                  </p:oleObj>
                </mc:Choice>
                <mc:Fallback>
                  <p:oleObj name="Equation" r:id="rId7" imgW="977760" imgH="419040" progId="Equation.DSMT4">
                    <p:embed/>
                    <p:pic>
                      <p:nvPicPr>
                        <p:cNvPr id="0" name="Object 1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4" y="1756"/>
                          <a:ext cx="1185" cy="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79019" name="Text Box 11"/>
            <p:cNvSpPr txBox="1">
              <a:spLocks noChangeArrowheads="1"/>
            </p:cNvSpPr>
            <p:nvPr/>
          </p:nvSpPr>
          <p:spPr bwMode="auto">
            <a:xfrm>
              <a:off x="1862" y="1904"/>
              <a:ext cx="10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zh-CN" altLang="en-US" sz="2400" b="1">
                  <a:solidFill>
                    <a:srgbClr val="A50021"/>
                  </a:solidFill>
                  <a:ea typeface="幼圆" pitchFamily="49" charset="-122"/>
                </a:rPr>
                <a:t> </a:t>
              </a:r>
              <a:r>
                <a:rPr lang="zh-CN" altLang="en-US" sz="2400" b="1">
                  <a:solidFill>
                    <a:srgbClr val="000066"/>
                  </a:solidFill>
                  <a:ea typeface="幼圆" pitchFamily="49" charset="-122"/>
                </a:rPr>
                <a:t>近似解：</a:t>
              </a:r>
              <a:endParaRPr lang="en-US" altLang="zh-CN" sz="2400" b="1">
                <a:solidFill>
                  <a:srgbClr val="000066"/>
                </a:solidFill>
                <a:ea typeface="幼圆" pitchFamily="49" charset="-122"/>
              </a:endParaRPr>
            </a:p>
          </p:txBody>
        </p:sp>
      </p:grpSp>
      <p:grpSp>
        <p:nvGrpSpPr>
          <p:cNvPr id="1579020" name="Group 12"/>
          <p:cNvGrpSpPr>
            <a:grpSpLocks/>
          </p:cNvGrpSpPr>
          <p:nvPr/>
        </p:nvGrpSpPr>
        <p:grpSpPr bwMode="auto">
          <a:xfrm>
            <a:off x="2984500" y="3821113"/>
            <a:ext cx="5651503" cy="1195387"/>
            <a:chOff x="1880" y="2357"/>
            <a:chExt cx="3560" cy="753"/>
          </a:xfrm>
        </p:grpSpPr>
        <p:sp>
          <p:nvSpPr>
            <p:cNvPr id="1579021" name="Rectangle 13"/>
            <p:cNvSpPr>
              <a:spLocks noChangeArrowheads="1"/>
            </p:cNvSpPr>
            <p:nvPr/>
          </p:nvSpPr>
          <p:spPr bwMode="auto">
            <a:xfrm>
              <a:off x="1880" y="2620"/>
              <a:ext cx="9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kumimoji="1" lang="zh-CN" altLang="en-US" sz="2400" b="1" dirty="0" smtClean="0">
                  <a:solidFill>
                    <a:srgbClr val="A50021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 </a:t>
              </a:r>
              <a:r>
                <a:rPr kumimoji="1" lang="zh-CN" altLang="en-US" sz="2400" b="1" dirty="0" smtClean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简化</a:t>
              </a:r>
              <a:r>
                <a:rPr kumimoji="1" lang="zh-CN" altLang="en-US" sz="24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rPr>
                <a:t>解</a:t>
              </a:r>
            </a:p>
          </p:txBody>
        </p:sp>
        <p:graphicFrame>
          <p:nvGraphicFramePr>
            <p:cNvPr id="157902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2652234"/>
                </p:ext>
              </p:extLst>
            </p:nvPr>
          </p:nvGraphicFramePr>
          <p:xfrm>
            <a:off x="2740" y="2357"/>
            <a:ext cx="2700" cy="7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79303" name="Equation" r:id="rId9" imgW="2679480" imgH="685800" progId="Equation.DSMT4">
                    <p:embed/>
                  </p:oleObj>
                </mc:Choice>
                <mc:Fallback>
                  <p:oleObj name="Equation" r:id="rId9" imgW="2679480" imgH="685800" progId="Equation.DSMT4">
                    <p:embed/>
                    <p:pic>
                      <p:nvPicPr>
                        <p:cNvPr id="0" name="Object 1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0" y="2357"/>
                          <a:ext cx="2700" cy="7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99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79023" name="Rectangle 15"/>
          <p:cNvSpPr>
            <a:spLocks noChangeArrowheads="1"/>
          </p:cNvSpPr>
          <p:nvPr/>
        </p:nvSpPr>
        <p:spPr bwMode="auto">
          <a:xfrm>
            <a:off x="2411413" y="5903913"/>
            <a:ext cx="5648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地基的平均固结度计算</a:t>
            </a:r>
          </a:p>
        </p:txBody>
      </p:sp>
      <p:sp>
        <p:nvSpPr>
          <p:cNvPr id="1579024" name="AutoShape 16"/>
          <p:cNvSpPr>
            <a:spLocks/>
          </p:cNvSpPr>
          <p:nvPr/>
        </p:nvSpPr>
        <p:spPr bwMode="auto">
          <a:xfrm>
            <a:off x="2654300" y="1608138"/>
            <a:ext cx="334963" cy="2987675"/>
          </a:xfrm>
          <a:prstGeom prst="leftBrace">
            <a:avLst>
              <a:gd name="adj1" fmla="val 74328"/>
              <a:gd name="adj2" fmla="val 50000"/>
            </a:avLst>
          </a:prstGeom>
          <a:noFill/>
          <a:ln w="381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9025" name="Text Box 17"/>
          <p:cNvSpPr txBox="1">
            <a:spLocks noChangeArrowheads="1"/>
          </p:cNvSpPr>
          <p:nvPr/>
        </p:nvSpPr>
        <p:spPr bwMode="auto">
          <a:xfrm>
            <a:off x="2909888" y="5184775"/>
            <a:ext cx="5840060" cy="461665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 dirty="0" err="1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i="1" baseline="-25000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400" b="1" i="1" dirty="0" err="1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err="1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单值函数，</a:t>
            </a:r>
            <a:r>
              <a:rPr lang="en-US" altLang="zh-CN" sz="2400" b="1" i="1" dirty="0" err="1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err="1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</a:rPr>
              <a:t>可</a:t>
            </a:r>
            <a:r>
              <a:rPr kumimoji="1" lang="zh-CN" altLang="en-US" sz="2400" b="1" dirty="0">
                <a:solidFill>
                  <a:schemeClr val="bg1">
                    <a:lumMod val="95000"/>
                  </a:schemeClr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反映固结的程度</a:t>
            </a:r>
            <a:endParaRPr kumimoji="1" lang="en-US" altLang="zh-CN" sz="2400" b="1" dirty="0">
              <a:solidFill>
                <a:schemeClr val="bg1">
                  <a:lumMod val="95000"/>
                </a:schemeClr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79026" name="AutoShape 18"/>
          <p:cNvSpPr>
            <a:spLocks noChangeArrowheads="1"/>
          </p:cNvSpPr>
          <p:nvPr/>
        </p:nvSpPr>
        <p:spPr bwMode="auto">
          <a:xfrm>
            <a:off x="2105025" y="5192713"/>
            <a:ext cx="509588" cy="428625"/>
          </a:xfrm>
          <a:prstGeom prst="homePlate">
            <a:avLst>
              <a:gd name="adj" fmla="val 29722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112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固结度计算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7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1579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79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579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579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579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579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79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79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1000"/>
                                        <p:tgtEl>
                                          <p:spTgt spid="157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79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9011" grpId="0" build="p" autoUpdateAnimBg="0" advAuto="0"/>
      <p:bldP spid="1579013" grpId="0" build="p" autoUpdateAnimBg="0"/>
      <p:bldP spid="1579024" grpId="0" animBg="1"/>
      <p:bldP spid="1579025" grpId="0" animBg="1"/>
      <p:bldP spid="157902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709" name="Rectangle 5"/>
          <p:cNvSpPr>
            <a:spLocks noChangeArrowheads="1"/>
          </p:cNvSpPr>
          <p:nvPr/>
        </p:nvSpPr>
        <p:spPr bwMode="auto">
          <a:xfrm>
            <a:off x="2411413" y="5695950"/>
            <a:ext cx="5648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地基的平均固结度计算</a:t>
            </a:r>
          </a:p>
        </p:txBody>
      </p:sp>
      <p:sp>
        <p:nvSpPr>
          <p:cNvPr id="1608710" name="Text Box 6"/>
          <p:cNvSpPr txBox="1">
            <a:spLocks noChangeArrowheads="1"/>
          </p:cNvSpPr>
          <p:nvPr/>
        </p:nvSpPr>
        <p:spPr bwMode="auto">
          <a:xfrm>
            <a:off x="809625" y="985838"/>
            <a:ext cx="52878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85000"/>
              <a:buFont typeface="Wingdings" pitchFamily="2" charset="2"/>
              <a:buChar char="n"/>
            </a:pPr>
            <a:r>
              <a:rPr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土层固结的快慢 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 </a:t>
            </a:r>
            <a:r>
              <a:rPr lang="en-US" altLang="zh-CN" sz="2400" b="1" i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单值函数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608711" name="AutoShape 7"/>
          <p:cNvSpPr>
            <a:spLocks noChangeArrowheads="1"/>
          </p:cNvSpPr>
          <p:nvPr/>
        </p:nvSpPr>
        <p:spPr bwMode="auto">
          <a:xfrm>
            <a:off x="1763713" y="3816350"/>
            <a:ext cx="509587" cy="428625"/>
          </a:xfrm>
          <a:prstGeom prst="homePlate">
            <a:avLst>
              <a:gd name="adj" fmla="val 29722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graphicFrame>
        <p:nvGraphicFramePr>
          <p:cNvPr id="16087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927369"/>
              </p:ext>
            </p:extLst>
          </p:nvPr>
        </p:nvGraphicFramePr>
        <p:xfrm>
          <a:off x="2901950" y="1770063"/>
          <a:ext cx="1193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857" name="Equation" r:id="rId3" imgW="596880" imgH="380880" progId="Equation.DSMT4">
                  <p:embed/>
                </p:oleObj>
              </mc:Choice>
              <mc:Fallback>
                <p:oleObj name="Equation" r:id="rId3" imgW="596880" imgH="3808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950" y="1770063"/>
                        <a:ext cx="11938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8714" name="Text Box 10"/>
          <p:cNvSpPr txBox="1">
            <a:spLocks noChangeArrowheads="1"/>
          </p:cNvSpPr>
          <p:nvPr/>
        </p:nvSpPr>
        <p:spPr bwMode="auto">
          <a:xfrm>
            <a:off x="4583113" y="1881188"/>
            <a:ext cx="1504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</a:rPr>
              <a:t>固结系数</a:t>
            </a:r>
            <a:r>
              <a:rPr kumimoji="1" lang="en-US" altLang="zh-CN" sz="2400" b="1">
                <a:solidFill>
                  <a:srgbClr val="A50021"/>
                </a:solidFill>
                <a:ea typeface="幼圆" pitchFamily="49" charset="-122"/>
              </a:rPr>
              <a:t>:</a:t>
            </a:r>
          </a:p>
        </p:txBody>
      </p:sp>
      <p:sp>
        <p:nvSpPr>
          <p:cNvPr id="1608715" name="Text Box 11"/>
          <p:cNvSpPr txBox="1">
            <a:spLocks noChangeArrowheads="1"/>
          </p:cNvSpPr>
          <p:nvPr/>
        </p:nvSpPr>
        <p:spPr bwMode="auto">
          <a:xfrm>
            <a:off x="1322388" y="1895475"/>
            <a:ext cx="1504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3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A50021"/>
                </a:solidFill>
                <a:ea typeface="幼圆" pitchFamily="49" charset="-122"/>
              </a:rPr>
              <a:t>时间因数</a:t>
            </a:r>
            <a:r>
              <a:rPr kumimoji="1" lang="en-US" altLang="zh-CN" sz="2400" b="1">
                <a:solidFill>
                  <a:srgbClr val="A50021"/>
                </a:solidFill>
                <a:ea typeface="幼圆" pitchFamily="49" charset="-122"/>
              </a:rPr>
              <a:t>:</a:t>
            </a:r>
          </a:p>
        </p:txBody>
      </p:sp>
      <p:sp>
        <p:nvSpPr>
          <p:cNvPr id="1608716" name="Text Box 12"/>
          <p:cNvSpPr txBox="1">
            <a:spLocks noChangeArrowheads="1"/>
          </p:cNvSpPr>
          <p:nvPr/>
        </p:nvSpPr>
        <p:spPr bwMode="auto">
          <a:xfrm>
            <a:off x="2522538" y="3800475"/>
            <a:ext cx="473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lang="en-US" altLang="zh-CN" sz="2400" b="1" baseline="-25000" dirty="0" err="1">
                <a:solidFill>
                  <a:srgbClr val="000066"/>
                </a:solidFill>
                <a:ea typeface="幼圆" pitchFamily="49" charset="-122"/>
              </a:rPr>
              <a:t>t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sp>
        <p:nvSpPr>
          <p:cNvPr id="1608717" name="Text Box 13"/>
          <p:cNvSpPr txBox="1">
            <a:spLocks noChangeArrowheads="1"/>
          </p:cNvSpPr>
          <p:nvPr/>
        </p:nvSpPr>
        <p:spPr bwMode="auto">
          <a:xfrm>
            <a:off x="3643313" y="3063875"/>
            <a:ext cx="5030787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65125" indent="-3651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5445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0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1/</a:t>
            </a:r>
            <a:r>
              <a:rPr kumimoji="0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200" b="1" baseline="30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土层厚度（最大渗径），</a:t>
            </a:r>
            <a:r>
              <a:rPr kumimoji="0" lang="zh-CN" altLang="en-US" sz="2200" b="1" dirty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平方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0" lang="en-US" altLang="zh-CN" sz="22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2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  </a:t>
            </a: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固结系数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0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k</a:t>
            </a:r>
            <a:r>
              <a:rPr kumimoji="0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    </a:t>
            </a: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渗透系数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0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1/</a:t>
            </a:r>
            <a:r>
              <a:rPr kumimoji="0" lang="en-US" altLang="zh-CN" sz="22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sz="22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压缩系数</a:t>
            </a:r>
          </a:p>
        </p:txBody>
      </p:sp>
      <p:sp>
        <p:nvSpPr>
          <p:cNvPr id="1608718" name="AutoShape 14"/>
          <p:cNvSpPr>
            <a:spLocks/>
          </p:cNvSpPr>
          <p:nvPr/>
        </p:nvSpPr>
        <p:spPr bwMode="auto">
          <a:xfrm>
            <a:off x="3206750" y="3306763"/>
            <a:ext cx="361950" cy="1508125"/>
          </a:xfrm>
          <a:prstGeom prst="leftBrace">
            <a:avLst>
              <a:gd name="adj1" fmla="val 34722"/>
              <a:gd name="adj2" fmla="val 50000"/>
            </a:avLst>
          </a:prstGeom>
          <a:noFill/>
          <a:ln w="28575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113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固结度计算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548165"/>
              </p:ext>
            </p:extLst>
          </p:nvPr>
        </p:nvGraphicFramePr>
        <p:xfrm>
          <a:off x="6246813" y="1738313"/>
          <a:ext cx="1701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858" name="Equation" r:id="rId5" imgW="850680" imgH="406080" progId="Equation.DSMT4">
                  <p:embed/>
                </p:oleObj>
              </mc:Choice>
              <mc:Fallback>
                <p:oleObj name="Equation" r:id="rId5" imgW="850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813" y="1738313"/>
                        <a:ext cx="1701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CC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160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08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08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160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1608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1608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1608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7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16087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8711" grpId="0" animBg="1"/>
      <p:bldP spid="1608716" grpId="0"/>
      <p:bldP spid="1608717" grpId="0" build="p"/>
      <p:bldP spid="1608718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118" name="Rectangle 86"/>
          <p:cNvSpPr>
            <a:spLocks noChangeArrowheads="1"/>
          </p:cNvSpPr>
          <p:nvPr/>
        </p:nvSpPr>
        <p:spPr bwMode="auto">
          <a:xfrm>
            <a:off x="2411413" y="5903913"/>
            <a:ext cx="5648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地基的平均固结度计算</a:t>
            </a:r>
          </a:p>
        </p:txBody>
      </p:sp>
      <p:sp>
        <p:nvSpPr>
          <p:cNvPr id="1580119" name="Rectangle 87"/>
          <p:cNvSpPr>
            <a:spLocks noChangeArrowheads="1"/>
          </p:cNvSpPr>
          <p:nvPr/>
        </p:nvSpPr>
        <p:spPr bwMode="auto">
          <a:xfrm>
            <a:off x="369888" y="636588"/>
            <a:ext cx="3995737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35000"/>
              <a:buFont typeface="Wingdings" pitchFamily="2" charset="2"/>
              <a:buChar char="F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三种基本情况</a:t>
            </a:r>
            <a:endParaRPr kumimoji="1" lang="en-US" altLang="zh-CN" sz="28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8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5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固结度计算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39788" y="1438275"/>
            <a:ext cx="7427912" cy="4248150"/>
            <a:chOff x="839788" y="1438275"/>
            <a:chExt cx="7427912" cy="4248150"/>
          </a:xfrm>
        </p:grpSpPr>
        <p:grpSp>
          <p:nvGrpSpPr>
            <p:cNvPr id="1580116" name="Group 84"/>
            <p:cNvGrpSpPr>
              <a:grpSpLocks/>
            </p:cNvGrpSpPr>
            <p:nvPr/>
          </p:nvGrpSpPr>
          <p:grpSpPr bwMode="auto">
            <a:xfrm>
              <a:off x="839788" y="1438275"/>
              <a:ext cx="7427912" cy="4248150"/>
              <a:chOff x="539" y="846"/>
              <a:chExt cx="4679" cy="2580"/>
            </a:xfrm>
          </p:grpSpPr>
          <p:sp>
            <p:nvSpPr>
              <p:cNvPr id="1580115" name="Rectangle 83"/>
              <p:cNvSpPr>
                <a:spLocks noChangeArrowheads="1"/>
              </p:cNvSpPr>
              <p:nvPr/>
            </p:nvSpPr>
            <p:spPr bwMode="auto">
              <a:xfrm>
                <a:off x="1277" y="951"/>
                <a:ext cx="3901" cy="19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90000" tIns="46800" rIns="90000" bIns="4680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80038" name="Freeform 6"/>
              <p:cNvSpPr>
                <a:spLocks/>
              </p:cNvSpPr>
              <p:nvPr/>
            </p:nvSpPr>
            <p:spPr bwMode="auto">
              <a:xfrm>
                <a:off x="3085" y="1060"/>
                <a:ext cx="2089" cy="1652"/>
              </a:xfrm>
              <a:custGeom>
                <a:avLst/>
                <a:gdLst>
                  <a:gd name="T0" fmla="*/ 0 w 2089"/>
                  <a:gd name="T1" fmla="*/ 0 h 1652"/>
                  <a:gd name="T2" fmla="*/ 313 w 2089"/>
                  <a:gd name="T3" fmla="*/ 73 h 1652"/>
                  <a:gd name="T4" fmla="*/ 598 w 2089"/>
                  <a:gd name="T5" fmla="*/ 175 h 1652"/>
                  <a:gd name="T6" fmla="*/ 860 w 2089"/>
                  <a:gd name="T7" fmla="*/ 335 h 1652"/>
                  <a:gd name="T8" fmla="*/ 1091 w 2089"/>
                  <a:gd name="T9" fmla="*/ 520 h 1652"/>
                  <a:gd name="T10" fmla="*/ 1334 w 2089"/>
                  <a:gd name="T11" fmla="*/ 787 h 1652"/>
                  <a:gd name="T12" fmla="*/ 1553 w 2089"/>
                  <a:gd name="T13" fmla="*/ 1064 h 1652"/>
                  <a:gd name="T14" fmla="*/ 1779 w 2089"/>
                  <a:gd name="T15" fmla="*/ 1349 h 1652"/>
                  <a:gd name="T16" fmla="*/ 1974 w 2089"/>
                  <a:gd name="T17" fmla="*/ 1561 h 1652"/>
                  <a:gd name="T18" fmla="*/ 2089 w 2089"/>
                  <a:gd name="T19" fmla="*/ 1652 h 16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89" h="1652">
                    <a:moveTo>
                      <a:pt x="0" y="0"/>
                    </a:moveTo>
                    <a:cubicBezTo>
                      <a:pt x="106" y="22"/>
                      <a:pt x="213" y="44"/>
                      <a:pt x="313" y="73"/>
                    </a:cubicBezTo>
                    <a:cubicBezTo>
                      <a:pt x="413" y="102"/>
                      <a:pt x="507" y="131"/>
                      <a:pt x="598" y="175"/>
                    </a:cubicBezTo>
                    <a:cubicBezTo>
                      <a:pt x="689" y="219"/>
                      <a:pt x="778" y="278"/>
                      <a:pt x="860" y="335"/>
                    </a:cubicBezTo>
                    <a:cubicBezTo>
                      <a:pt x="942" y="392"/>
                      <a:pt x="1012" y="445"/>
                      <a:pt x="1091" y="520"/>
                    </a:cubicBezTo>
                    <a:cubicBezTo>
                      <a:pt x="1170" y="595"/>
                      <a:pt x="1257" y="696"/>
                      <a:pt x="1334" y="787"/>
                    </a:cubicBezTo>
                    <a:cubicBezTo>
                      <a:pt x="1411" y="878"/>
                      <a:pt x="1479" y="970"/>
                      <a:pt x="1553" y="1064"/>
                    </a:cubicBezTo>
                    <a:cubicBezTo>
                      <a:pt x="1627" y="1158"/>
                      <a:pt x="1709" y="1266"/>
                      <a:pt x="1779" y="1349"/>
                    </a:cubicBezTo>
                    <a:cubicBezTo>
                      <a:pt x="1849" y="1432"/>
                      <a:pt x="1922" y="1510"/>
                      <a:pt x="1974" y="1561"/>
                    </a:cubicBezTo>
                    <a:cubicBezTo>
                      <a:pt x="2026" y="1612"/>
                      <a:pt x="2065" y="1633"/>
                      <a:pt x="2089" y="1652"/>
                    </a:cubicBezTo>
                  </a:path>
                </a:pathLst>
              </a:custGeom>
              <a:noFill/>
              <a:ln w="19050" cmpd="sng">
                <a:solidFill>
                  <a:srgbClr val="66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39" name="Freeform 7"/>
              <p:cNvSpPr>
                <a:spLocks/>
              </p:cNvSpPr>
              <p:nvPr/>
            </p:nvSpPr>
            <p:spPr bwMode="auto">
              <a:xfrm>
                <a:off x="1660" y="1056"/>
                <a:ext cx="3514" cy="1700"/>
              </a:xfrm>
              <a:custGeom>
                <a:avLst/>
                <a:gdLst>
                  <a:gd name="T0" fmla="*/ 0 w 3514"/>
                  <a:gd name="T1" fmla="*/ 0 h 1700"/>
                  <a:gd name="T2" fmla="*/ 461 w 3514"/>
                  <a:gd name="T3" fmla="*/ 48 h 1700"/>
                  <a:gd name="T4" fmla="*/ 1008 w 3514"/>
                  <a:gd name="T5" fmla="*/ 135 h 1700"/>
                  <a:gd name="T6" fmla="*/ 1637 w 3514"/>
                  <a:gd name="T7" fmla="*/ 312 h 1700"/>
                  <a:gd name="T8" fmla="*/ 2141 w 3514"/>
                  <a:gd name="T9" fmla="*/ 548 h 1700"/>
                  <a:gd name="T10" fmla="*/ 2434 w 3514"/>
                  <a:gd name="T11" fmla="*/ 730 h 1700"/>
                  <a:gd name="T12" fmla="*/ 2669 w 3514"/>
                  <a:gd name="T13" fmla="*/ 932 h 1700"/>
                  <a:gd name="T14" fmla="*/ 2933 w 3514"/>
                  <a:gd name="T15" fmla="*/ 1191 h 1700"/>
                  <a:gd name="T16" fmla="*/ 3202 w 3514"/>
                  <a:gd name="T17" fmla="*/ 1450 h 1700"/>
                  <a:gd name="T18" fmla="*/ 3360 w 3514"/>
                  <a:gd name="T19" fmla="*/ 1594 h 1700"/>
                  <a:gd name="T20" fmla="*/ 3480 w 3514"/>
                  <a:gd name="T21" fmla="*/ 1666 h 1700"/>
                  <a:gd name="T22" fmla="*/ 3514 w 3514"/>
                  <a:gd name="T23" fmla="*/ 1700 h 1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514" h="1700">
                    <a:moveTo>
                      <a:pt x="0" y="0"/>
                    </a:moveTo>
                    <a:cubicBezTo>
                      <a:pt x="146" y="13"/>
                      <a:pt x="293" y="26"/>
                      <a:pt x="461" y="48"/>
                    </a:cubicBezTo>
                    <a:cubicBezTo>
                      <a:pt x="629" y="70"/>
                      <a:pt x="812" y="91"/>
                      <a:pt x="1008" y="135"/>
                    </a:cubicBezTo>
                    <a:cubicBezTo>
                      <a:pt x="1204" y="179"/>
                      <a:pt x="1448" y="243"/>
                      <a:pt x="1637" y="312"/>
                    </a:cubicBezTo>
                    <a:cubicBezTo>
                      <a:pt x="1826" y="381"/>
                      <a:pt x="2008" y="478"/>
                      <a:pt x="2141" y="548"/>
                    </a:cubicBezTo>
                    <a:cubicBezTo>
                      <a:pt x="2274" y="618"/>
                      <a:pt x="2346" y="666"/>
                      <a:pt x="2434" y="730"/>
                    </a:cubicBezTo>
                    <a:cubicBezTo>
                      <a:pt x="2522" y="794"/>
                      <a:pt x="2586" y="855"/>
                      <a:pt x="2669" y="932"/>
                    </a:cubicBezTo>
                    <a:cubicBezTo>
                      <a:pt x="2752" y="1009"/>
                      <a:pt x="2844" y="1105"/>
                      <a:pt x="2933" y="1191"/>
                    </a:cubicBezTo>
                    <a:cubicBezTo>
                      <a:pt x="3022" y="1277"/>
                      <a:pt x="3131" y="1383"/>
                      <a:pt x="3202" y="1450"/>
                    </a:cubicBezTo>
                    <a:cubicBezTo>
                      <a:pt x="3273" y="1517"/>
                      <a:pt x="3314" y="1558"/>
                      <a:pt x="3360" y="1594"/>
                    </a:cubicBezTo>
                    <a:cubicBezTo>
                      <a:pt x="3406" y="1630"/>
                      <a:pt x="3454" y="1648"/>
                      <a:pt x="3480" y="1666"/>
                    </a:cubicBezTo>
                    <a:cubicBezTo>
                      <a:pt x="3506" y="1684"/>
                      <a:pt x="3510" y="1692"/>
                      <a:pt x="3514" y="1700"/>
                    </a:cubicBezTo>
                  </a:path>
                </a:pathLst>
              </a:custGeom>
              <a:noFill/>
              <a:ln w="19050" cmpd="sng">
                <a:solidFill>
                  <a:srgbClr val="0000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40" name="Freeform 8"/>
              <p:cNvSpPr>
                <a:spLocks/>
              </p:cNvSpPr>
              <p:nvPr/>
            </p:nvSpPr>
            <p:spPr bwMode="auto">
              <a:xfrm>
                <a:off x="1272" y="1052"/>
                <a:ext cx="3897" cy="1732"/>
              </a:xfrm>
              <a:custGeom>
                <a:avLst/>
                <a:gdLst>
                  <a:gd name="T0" fmla="*/ 0 w 3897"/>
                  <a:gd name="T1" fmla="*/ 0 h 1732"/>
                  <a:gd name="T2" fmla="*/ 547 w 3897"/>
                  <a:gd name="T3" fmla="*/ 100 h 1732"/>
                  <a:gd name="T4" fmla="*/ 993 w 3897"/>
                  <a:gd name="T5" fmla="*/ 211 h 1732"/>
                  <a:gd name="T6" fmla="*/ 1521 w 3897"/>
                  <a:gd name="T7" fmla="*/ 374 h 1732"/>
                  <a:gd name="T8" fmla="*/ 1876 w 3897"/>
                  <a:gd name="T9" fmla="*/ 518 h 1732"/>
                  <a:gd name="T10" fmla="*/ 2284 w 3897"/>
                  <a:gd name="T11" fmla="*/ 710 h 1732"/>
                  <a:gd name="T12" fmla="*/ 2577 w 3897"/>
                  <a:gd name="T13" fmla="*/ 868 h 1732"/>
                  <a:gd name="T14" fmla="*/ 2793 w 3897"/>
                  <a:gd name="T15" fmla="*/ 993 h 1732"/>
                  <a:gd name="T16" fmla="*/ 3134 w 3897"/>
                  <a:gd name="T17" fmla="*/ 1233 h 1732"/>
                  <a:gd name="T18" fmla="*/ 3465 w 3897"/>
                  <a:gd name="T19" fmla="*/ 1468 h 1732"/>
                  <a:gd name="T20" fmla="*/ 3700 w 3897"/>
                  <a:gd name="T21" fmla="*/ 1632 h 1732"/>
                  <a:gd name="T22" fmla="*/ 3897 w 3897"/>
                  <a:gd name="T23" fmla="*/ 1732 h 17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897" h="1732">
                    <a:moveTo>
                      <a:pt x="0" y="0"/>
                    </a:moveTo>
                    <a:cubicBezTo>
                      <a:pt x="91" y="17"/>
                      <a:pt x="382" y="65"/>
                      <a:pt x="547" y="100"/>
                    </a:cubicBezTo>
                    <a:cubicBezTo>
                      <a:pt x="712" y="135"/>
                      <a:pt x="831" y="165"/>
                      <a:pt x="993" y="211"/>
                    </a:cubicBezTo>
                    <a:cubicBezTo>
                      <a:pt x="1155" y="257"/>
                      <a:pt x="1374" y="323"/>
                      <a:pt x="1521" y="374"/>
                    </a:cubicBezTo>
                    <a:cubicBezTo>
                      <a:pt x="1668" y="425"/>
                      <a:pt x="1749" y="462"/>
                      <a:pt x="1876" y="518"/>
                    </a:cubicBezTo>
                    <a:cubicBezTo>
                      <a:pt x="2003" y="574"/>
                      <a:pt x="2167" y="652"/>
                      <a:pt x="2284" y="710"/>
                    </a:cubicBezTo>
                    <a:cubicBezTo>
                      <a:pt x="2401" y="768"/>
                      <a:pt x="2492" y="821"/>
                      <a:pt x="2577" y="868"/>
                    </a:cubicBezTo>
                    <a:cubicBezTo>
                      <a:pt x="2662" y="915"/>
                      <a:pt x="2700" y="932"/>
                      <a:pt x="2793" y="993"/>
                    </a:cubicBezTo>
                    <a:cubicBezTo>
                      <a:pt x="2886" y="1054"/>
                      <a:pt x="3022" y="1154"/>
                      <a:pt x="3134" y="1233"/>
                    </a:cubicBezTo>
                    <a:cubicBezTo>
                      <a:pt x="3246" y="1312"/>
                      <a:pt x="3371" y="1402"/>
                      <a:pt x="3465" y="1468"/>
                    </a:cubicBezTo>
                    <a:cubicBezTo>
                      <a:pt x="3559" y="1534"/>
                      <a:pt x="3628" y="1588"/>
                      <a:pt x="3700" y="1632"/>
                    </a:cubicBezTo>
                    <a:cubicBezTo>
                      <a:pt x="3772" y="1676"/>
                      <a:pt x="3835" y="1703"/>
                      <a:pt x="3897" y="1732"/>
                    </a:cubicBezTo>
                  </a:path>
                </a:pathLst>
              </a:custGeom>
              <a:noFill/>
              <a:ln w="19050" cmpd="sng">
                <a:solidFill>
                  <a:srgbClr val="00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41" name="Rectangle 9"/>
              <p:cNvSpPr>
                <a:spLocks noChangeArrowheads="1"/>
              </p:cNvSpPr>
              <p:nvPr/>
            </p:nvSpPr>
            <p:spPr bwMode="auto">
              <a:xfrm>
                <a:off x="1276" y="953"/>
                <a:ext cx="3896" cy="19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42" name="Line 10"/>
              <p:cNvSpPr>
                <a:spLocks noChangeShapeType="1"/>
              </p:cNvSpPr>
              <p:nvPr/>
            </p:nvSpPr>
            <p:spPr bwMode="auto">
              <a:xfrm>
                <a:off x="1276" y="953"/>
                <a:ext cx="389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43" name="Line 11"/>
              <p:cNvSpPr>
                <a:spLocks noChangeShapeType="1"/>
              </p:cNvSpPr>
              <p:nvPr/>
            </p:nvSpPr>
            <p:spPr bwMode="auto">
              <a:xfrm>
                <a:off x="1276" y="1337"/>
                <a:ext cx="389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44" name="Line 12"/>
              <p:cNvSpPr>
                <a:spLocks noChangeShapeType="1"/>
              </p:cNvSpPr>
              <p:nvPr/>
            </p:nvSpPr>
            <p:spPr bwMode="auto">
              <a:xfrm>
                <a:off x="1276" y="1720"/>
                <a:ext cx="389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45" name="Line 13"/>
              <p:cNvSpPr>
                <a:spLocks noChangeShapeType="1"/>
              </p:cNvSpPr>
              <p:nvPr/>
            </p:nvSpPr>
            <p:spPr bwMode="auto">
              <a:xfrm>
                <a:off x="1276" y="2109"/>
                <a:ext cx="389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46" name="Line 14"/>
              <p:cNvSpPr>
                <a:spLocks noChangeShapeType="1"/>
              </p:cNvSpPr>
              <p:nvPr/>
            </p:nvSpPr>
            <p:spPr bwMode="auto">
              <a:xfrm>
                <a:off x="1276" y="2492"/>
                <a:ext cx="389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47" name="Line 15"/>
              <p:cNvSpPr>
                <a:spLocks noChangeShapeType="1"/>
              </p:cNvSpPr>
              <p:nvPr/>
            </p:nvSpPr>
            <p:spPr bwMode="auto">
              <a:xfrm>
                <a:off x="1666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48" name="Line 16"/>
              <p:cNvSpPr>
                <a:spLocks noChangeShapeType="1"/>
              </p:cNvSpPr>
              <p:nvPr/>
            </p:nvSpPr>
            <p:spPr bwMode="auto">
              <a:xfrm>
                <a:off x="1893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49" name="Line 17"/>
              <p:cNvSpPr>
                <a:spLocks noChangeShapeType="1"/>
              </p:cNvSpPr>
              <p:nvPr/>
            </p:nvSpPr>
            <p:spPr bwMode="auto">
              <a:xfrm>
                <a:off x="2055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50" name="Line 18"/>
              <p:cNvSpPr>
                <a:spLocks noChangeShapeType="1"/>
              </p:cNvSpPr>
              <p:nvPr/>
            </p:nvSpPr>
            <p:spPr bwMode="auto">
              <a:xfrm>
                <a:off x="2181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51" name="Line 19"/>
              <p:cNvSpPr>
                <a:spLocks noChangeShapeType="1"/>
              </p:cNvSpPr>
              <p:nvPr/>
            </p:nvSpPr>
            <p:spPr bwMode="auto">
              <a:xfrm>
                <a:off x="2289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52" name="Line 20"/>
              <p:cNvSpPr>
                <a:spLocks noChangeShapeType="1"/>
              </p:cNvSpPr>
              <p:nvPr/>
            </p:nvSpPr>
            <p:spPr bwMode="auto">
              <a:xfrm>
                <a:off x="2373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53" name="Line 21"/>
              <p:cNvSpPr>
                <a:spLocks noChangeShapeType="1"/>
              </p:cNvSpPr>
              <p:nvPr/>
            </p:nvSpPr>
            <p:spPr bwMode="auto">
              <a:xfrm>
                <a:off x="2451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54" name="Line 22"/>
              <p:cNvSpPr>
                <a:spLocks noChangeShapeType="1"/>
              </p:cNvSpPr>
              <p:nvPr/>
            </p:nvSpPr>
            <p:spPr bwMode="auto">
              <a:xfrm>
                <a:off x="2517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55" name="Line 23"/>
              <p:cNvSpPr>
                <a:spLocks noChangeShapeType="1"/>
              </p:cNvSpPr>
              <p:nvPr/>
            </p:nvSpPr>
            <p:spPr bwMode="auto">
              <a:xfrm>
                <a:off x="2966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56" name="Line 24"/>
              <p:cNvSpPr>
                <a:spLocks noChangeShapeType="1"/>
              </p:cNvSpPr>
              <p:nvPr/>
            </p:nvSpPr>
            <p:spPr bwMode="auto">
              <a:xfrm>
                <a:off x="3194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57" name="Line 25"/>
              <p:cNvSpPr>
                <a:spLocks noChangeShapeType="1"/>
              </p:cNvSpPr>
              <p:nvPr/>
            </p:nvSpPr>
            <p:spPr bwMode="auto">
              <a:xfrm>
                <a:off x="3356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58" name="Line 26"/>
              <p:cNvSpPr>
                <a:spLocks noChangeShapeType="1"/>
              </p:cNvSpPr>
              <p:nvPr/>
            </p:nvSpPr>
            <p:spPr bwMode="auto">
              <a:xfrm>
                <a:off x="3481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59" name="Line 27"/>
              <p:cNvSpPr>
                <a:spLocks noChangeShapeType="1"/>
              </p:cNvSpPr>
              <p:nvPr/>
            </p:nvSpPr>
            <p:spPr bwMode="auto">
              <a:xfrm>
                <a:off x="3583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60" name="Line 28"/>
              <p:cNvSpPr>
                <a:spLocks noChangeShapeType="1"/>
              </p:cNvSpPr>
              <p:nvPr/>
            </p:nvSpPr>
            <p:spPr bwMode="auto">
              <a:xfrm>
                <a:off x="3673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61" name="Line 29"/>
              <p:cNvSpPr>
                <a:spLocks noChangeShapeType="1"/>
              </p:cNvSpPr>
              <p:nvPr/>
            </p:nvSpPr>
            <p:spPr bwMode="auto">
              <a:xfrm>
                <a:off x="3745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62" name="Line 30"/>
              <p:cNvSpPr>
                <a:spLocks noChangeShapeType="1"/>
              </p:cNvSpPr>
              <p:nvPr/>
            </p:nvSpPr>
            <p:spPr bwMode="auto">
              <a:xfrm>
                <a:off x="3811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63" name="Line 31"/>
              <p:cNvSpPr>
                <a:spLocks noChangeShapeType="1"/>
              </p:cNvSpPr>
              <p:nvPr/>
            </p:nvSpPr>
            <p:spPr bwMode="auto">
              <a:xfrm>
                <a:off x="4267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64" name="Line 32"/>
              <p:cNvSpPr>
                <a:spLocks noChangeShapeType="1"/>
              </p:cNvSpPr>
              <p:nvPr/>
            </p:nvSpPr>
            <p:spPr bwMode="auto">
              <a:xfrm>
                <a:off x="4494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65" name="Line 33"/>
              <p:cNvSpPr>
                <a:spLocks noChangeShapeType="1"/>
              </p:cNvSpPr>
              <p:nvPr/>
            </p:nvSpPr>
            <p:spPr bwMode="auto">
              <a:xfrm>
                <a:off x="4656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66" name="Line 34"/>
              <p:cNvSpPr>
                <a:spLocks noChangeShapeType="1"/>
              </p:cNvSpPr>
              <p:nvPr/>
            </p:nvSpPr>
            <p:spPr bwMode="auto">
              <a:xfrm>
                <a:off x="4782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67" name="Line 35"/>
              <p:cNvSpPr>
                <a:spLocks noChangeShapeType="1"/>
              </p:cNvSpPr>
              <p:nvPr/>
            </p:nvSpPr>
            <p:spPr bwMode="auto">
              <a:xfrm>
                <a:off x="4884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68" name="Line 36"/>
              <p:cNvSpPr>
                <a:spLocks noChangeShapeType="1"/>
              </p:cNvSpPr>
              <p:nvPr/>
            </p:nvSpPr>
            <p:spPr bwMode="auto">
              <a:xfrm>
                <a:off x="4968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69" name="Line 37"/>
              <p:cNvSpPr>
                <a:spLocks noChangeShapeType="1"/>
              </p:cNvSpPr>
              <p:nvPr/>
            </p:nvSpPr>
            <p:spPr bwMode="auto">
              <a:xfrm>
                <a:off x="5046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70" name="Line 38"/>
              <p:cNvSpPr>
                <a:spLocks noChangeShapeType="1"/>
              </p:cNvSpPr>
              <p:nvPr/>
            </p:nvSpPr>
            <p:spPr bwMode="auto">
              <a:xfrm>
                <a:off x="5112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71" name="Line 39"/>
              <p:cNvSpPr>
                <a:spLocks noChangeShapeType="1"/>
              </p:cNvSpPr>
              <p:nvPr/>
            </p:nvSpPr>
            <p:spPr bwMode="auto">
              <a:xfrm>
                <a:off x="2577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72" name="Line 40"/>
              <p:cNvSpPr>
                <a:spLocks noChangeShapeType="1"/>
              </p:cNvSpPr>
              <p:nvPr/>
            </p:nvSpPr>
            <p:spPr bwMode="auto">
              <a:xfrm>
                <a:off x="3871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73" name="Line 41"/>
              <p:cNvSpPr>
                <a:spLocks noChangeShapeType="1"/>
              </p:cNvSpPr>
              <p:nvPr/>
            </p:nvSpPr>
            <p:spPr bwMode="auto">
              <a:xfrm>
                <a:off x="5172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74" name="Line 42"/>
              <p:cNvSpPr>
                <a:spLocks noChangeShapeType="1"/>
              </p:cNvSpPr>
              <p:nvPr/>
            </p:nvSpPr>
            <p:spPr bwMode="auto">
              <a:xfrm>
                <a:off x="1276" y="953"/>
                <a:ext cx="1" cy="192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75" name="Line 43"/>
              <p:cNvSpPr>
                <a:spLocks noChangeShapeType="1"/>
              </p:cNvSpPr>
              <p:nvPr/>
            </p:nvSpPr>
            <p:spPr bwMode="auto">
              <a:xfrm>
                <a:off x="1276" y="953"/>
                <a:ext cx="60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76" name="Line 44"/>
              <p:cNvSpPr>
                <a:spLocks noChangeShapeType="1"/>
              </p:cNvSpPr>
              <p:nvPr/>
            </p:nvSpPr>
            <p:spPr bwMode="auto">
              <a:xfrm>
                <a:off x="1276" y="1337"/>
                <a:ext cx="60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77" name="Line 45"/>
              <p:cNvSpPr>
                <a:spLocks noChangeShapeType="1"/>
              </p:cNvSpPr>
              <p:nvPr/>
            </p:nvSpPr>
            <p:spPr bwMode="auto">
              <a:xfrm>
                <a:off x="1276" y="2876"/>
                <a:ext cx="389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78" name="Line 46"/>
              <p:cNvSpPr>
                <a:spLocks noChangeShapeType="1"/>
              </p:cNvSpPr>
              <p:nvPr/>
            </p:nvSpPr>
            <p:spPr bwMode="auto">
              <a:xfrm flipV="1">
                <a:off x="3871" y="2816"/>
                <a:ext cx="1" cy="6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079" name="Rectangle 47"/>
              <p:cNvSpPr>
                <a:spLocks noChangeArrowheads="1"/>
              </p:cNvSpPr>
              <p:nvPr/>
            </p:nvSpPr>
            <p:spPr bwMode="auto">
              <a:xfrm>
                <a:off x="933" y="846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solidFill>
                      <a:srgbClr val="000066"/>
                    </a:solidFill>
                    <a:ea typeface="幼圆" pitchFamily="49" charset="-122"/>
                  </a:rPr>
                  <a:t>0.0</a:t>
                </a:r>
              </a:p>
            </p:txBody>
          </p:sp>
          <p:sp>
            <p:nvSpPr>
              <p:cNvPr id="1580080" name="Rectangle 48"/>
              <p:cNvSpPr>
                <a:spLocks noChangeArrowheads="1"/>
              </p:cNvSpPr>
              <p:nvPr/>
            </p:nvSpPr>
            <p:spPr bwMode="auto">
              <a:xfrm>
                <a:off x="933" y="1229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solidFill>
                      <a:srgbClr val="000066"/>
                    </a:solidFill>
                    <a:ea typeface="幼圆" pitchFamily="49" charset="-122"/>
                  </a:rPr>
                  <a:t>0.2</a:t>
                </a:r>
              </a:p>
            </p:txBody>
          </p:sp>
          <p:sp>
            <p:nvSpPr>
              <p:cNvPr id="1580081" name="Rectangle 49"/>
              <p:cNvSpPr>
                <a:spLocks noChangeArrowheads="1"/>
              </p:cNvSpPr>
              <p:nvPr/>
            </p:nvSpPr>
            <p:spPr bwMode="auto">
              <a:xfrm>
                <a:off x="933" y="1612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solidFill>
                      <a:srgbClr val="000066"/>
                    </a:solidFill>
                    <a:ea typeface="幼圆" pitchFamily="49" charset="-122"/>
                  </a:rPr>
                  <a:t>0.4</a:t>
                </a:r>
              </a:p>
            </p:txBody>
          </p:sp>
          <p:sp>
            <p:nvSpPr>
              <p:cNvPr id="1580082" name="Rectangle 50"/>
              <p:cNvSpPr>
                <a:spLocks noChangeArrowheads="1"/>
              </p:cNvSpPr>
              <p:nvPr/>
            </p:nvSpPr>
            <p:spPr bwMode="auto">
              <a:xfrm>
                <a:off x="1056" y="2979"/>
                <a:ext cx="36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solidFill>
                      <a:srgbClr val="000066"/>
                    </a:solidFill>
                    <a:ea typeface="幼圆" pitchFamily="49" charset="-122"/>
                  </a:rPr>
                  <a:t>0.001</a:t>
                </a:r>
              </a:p>
            </p:txBody>
          </p:sp>
          <p:sp>
            <p:nvSpPr>
              <p:cNvPr id="1580083" name="Rectangle 51"/>
              <p:cNvSpPr>
                <a:spLocks noChangeArrowheads="1"/>
              </p:cNvSpPr>
              <p:nvPr/>
            </p:nvSpPr>
            <p:spPr bwMode="auto">
              <a:xfrm>
                <a:off x="3759" y="2979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solidFill>
                      <a:srgbClr val="000066"/>
                    </a:solidFill>
                    <a:ea typeface="幼圆" pitchFamily="49" charset="-122"/>
                  </a:rPr>
                  <a:t>0.1</a:t>
                </a:r>
              </a:p>
            </p:txBody>
          </p:sp>
          <p:sp>
            <p:nvSpPr>
              <p:cNvPr id="1580084" name="Rectangle 52"/>
              <p:cNvSpPr>
                <a:spLocks noChangeArrowheads="1"/>
              </p:cNvSpPr>
              <p:nvPr/>
            </p:nvSpPr>
            <p:spPr bwMode="auto">
              <a:xfrm>
                <a:off x="5138" y="2979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solidFill>
                      <a:srgbClr val="000066"/>
                    </a:solidFill>
                    <a:ea typeface="幼圆" pitchFamily="49" charset="-122"/>
                  </a:rPr>
                  <a:t>1</a:t>
                </a:r>
              </a:p>
            </p:txBody>
          </p:sp>
          <p:sp>
            <p:nvSpPr>
              <p:cNvPr id="1580085" name="Rectangle 53"/>
              <p:cNvSpPr>
                <a:spLocks noChangeArrowheads="1"/>
              </p:cNvSpPr>
              <p:nvPr/>
            </p:nvSpPr>
            <p:spPr bwMode="auto">
              <a:xfrm>
                <a:off x="4171" y="3196"/>
                <a:ext cx="1003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2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时间因数 </a:t>
                </a:r>
                <a:r>
                  <a:rPr lang="en-US" altLang="zh-CN" sz="2200" b="1" i="1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2200" b="1" baseline="-25000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v</a:t>
                </a:r>
                <a:endParaRPr lang="en-US" altLang="zh-CN" sz="22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0086" name="Rectangle 54"/>
              <p:cNvSpPr>
                <a:spLocks noChangeArrowheads="1"/>
              </p:cNvSpPr>
              <p:nvPr/>
            </p:nvSpPr>
            <p:spPr bwMode="auto">
              <a:xfrm rot="16200000">
                <a:off x="247" y="1339"/>
                <a:ext cx="813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固结度 </a:t>
                </a:r>
                <a:r>
                  <a:rPr lang="en-US" altLang="zh-CN" sz="2400" b="1" i="1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sz="2400" b="1" baseline="-25000" dirty="0" err="1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</a:rPr>
                  <a:t>t</a:t>
                </a:r>
                <a:endParaRPr lang="en-US" altLang="zh-CN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0087" name="Text Box 55"/>
              <p:cNvSpPr txBox="1">
                <a:spLocks noChangeArrowheads="1"/>
              </p:cNvSpPr>
              <p:nvPr/>
            </p:nvSpPr>
            <p:spPr bwMode="auto">
              <a:xfrm>
                <a:off x="3952" y="1176"/>
                <a:ext cx="373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6600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3600" b="1" dirty="0">
                    <a:solidFill>
                      <a:srgbClr val="7030A0"/>
                    </a:solidFill>
                    <a:ea typeface="幼圆" pitchFamily="49" charset="-122"/>
                    <a:sym typeface="Wingdings" pitchFamily="2" charset="2"/>
                  </a:rPr>
                  <a:t></a:t>
                </a:r>
              </a:p>
            </p:txBody>
          </p:sp>
          <p:sp>
            <p:nvSpPr>
              <p:cNvPr id="1580088" name="Text Box 56"/>
              <p:cNvSpPr txBox="1">
                <a:spLocks noChangeArrowheads="1"/>
              </p:cNvSpPr>
              <p:nvPr/>
            </p:nvSpPr>
            <p:spPr bwMode="auto">
              <a:xfrm>
                <a:off x="2587" y="891"/>
                <a:ext cx="373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6600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3600" b="1">
                    <a:solidFill>
                      <a:srgbClr val="000066"/>
                    </a:solidFill>
                    <a:ea typeface="幼圆" pitchFamily="49" charset="-122"/>
                    <a:sym typeface="Wingdings" pitchFamily="2" charset="2"/>
                  </a:rPr>
                  <a:t></a:t>
                </a:r>
              </a:p>
            </p:txBody>
          </p:sp>
          <p:sp>
            <p:nvSpPr>
              <p:cNvPr id="1580089" name="Text Box 57"/>
              <p:cNvSpPr txBox="1">
                <a:spLocks noChangeArrowheads="1"/>
              </p:cNvSpPr>
              <p:nvPr/>
            </p:nvSpPr>
            <p:spPr bwMode="auto">
              <a:xfrm>
                <a:off x="3905" y="2035"/>
                <a:ext cx="373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6600CC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3600" b="1" dirty="0">
                    <a:solidFill>
                      <a:srgbClr val="003300"/>
                    </a:solidFill>
                    <a:ea typeface="幼圆" pitchFamily="49" charset="-122"/>
                    <a:sym typeface="Wingdings" pitchFamily="2" charset="2"/>
                  </a:rPr>
                  <a:t></a:t>
                </a:r>
              </a:p>
            </p:txBody>
          </p:sp>
          <p:sp>
            <p:nvSpPr>
              <p:cNvPr id="1580090" name="Rectangle 58"/>
              <p:cNvSpPr>
                <a:spLocks noChangeArrowheads="1"/>
              </p:cNvSpPr>
              <p:nvPr/>
            </p:nvSpPr>
            <p:spPr bwMode="auto">
              <a:xfrm>
                <a:off x="933" y="2001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solidFill>
                      <a:srgbClr val="000066"/>
                    </a:solidFill>
                    <a:ea typeface="幼圆" pitchFamily="49" charset="-122"/>
                  </a:rPr>
                  <a:t>0.6</a:t>
                </a:r>
              </a:p>
            </p:txBody>
          </p:sp>
          <p:sp>
            <p:nvSpPr>
              <p:cNvPr id="1580091" name="Rectangle 59"/>
              <p:cNvSpPr>
                <a:spLocks noChangeArrowheads="1"/>
              </p:cNvSpPr>
              <p:nvPr/>
            </p:nvSpPr>
            <p:spPr bwMode="auto">
              <a:xfrm>
                <a:off x="933" y="2385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solidFill>
                      <a:srgbClr val="000066"/>
                    </a:solidFill>
                    <a:ea typeface="幼圆" pitchFamily="49" charset="-122"/>
                  </a:rPr>
                  <a:t>0.8</a:t>
                </a:r>
              </a:p>
            </p:txBody>
          </p:sp>
          <p:sp>
            <p:nvSpPr>
              <p:cNvPr id="1580092" name="Rectangle 60"/>
              <p:cNvSpPr>
                <a:spLocks noChangeArrowheads="1"/>
              </p:cNvSpPr>
              <p:nvPr/>
            </p:nvSpPr>
            <p:spPr bwMode="auto">
              <a:xfrm>
                <a:off x="933" y="2768"/>
                <a:ext cx="20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 dirty="0">
                    <a:solidFill>
                      <a:srgbClr val="000066"/>
                    </a:solidFill>
                    <a:ea typeface="幼圆" pitchFamily="49" charset="-122"/>
                  </a:rPr>
                  <a:t>1.0</a:t>
                </a:r>
              </a:p>
            </p:txBody>
          </p:sp>
          <p:sp>
            <p:nvSpPr>
              <p:cNvPr id="1580093" name="Rectangle 61"/>
              <p:cNvSpPr>
                <a:spLocks noChangeArrowheads="1"/>
              </p:cNvSpPr>
              <p:nvPr/>
            </p:nvSpPr>
            <p:spPr bwMode="auto">
              <a:xfrm>
                <a:off x="1344" y="1786"/>
                <a:ext cx="2007" cy="100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80094" name="Rectangle 62"/>
              <p:cNvSpPr>
                <a:spLocks noChangeArrowheads="1"/>
              </p:cNvSpPr>
              <p:nvPr/>
            </p:nvSpPr>
            <p:spPr bwMode="auto">
              <a:xfrm>
                <a:off x="2411" y="2979"/>
                <a:ext cx="2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000" b="1">
                    <a:solidFill>
                      <a:srgbClr val="000066"/>
                    </a:solidFill>
                    <a:ea typeface="幼圆" pitchFamily="49" charset="-122"/>
                  </a:rPr>
                  <a:t>0.01</a:t>
                </a:r>
              </a:p>
            </p:txBody>
          </p:sp>
          <p:sp>
            <p:nvSpPr>
              <p:cNvPr id="1580095" name="Rectangle 63" descr="编织物"/>
              <p:cNvSpPr>
                <a:spLocks noChangeArrowheads="1"/>
              </p:cNvSpPr>
              <p:nvPr/>
            </p:nvSpPr>
            <p:spPr bwMode="auto">
              <a:xfrm>
                <a:off x="1441" y="2390"/>
                <a:ext cx="1814" cy="228"/>
              </a:xfrm>
              <a:prstGeom prst="rect">
                <a:avLst/>
              </a:prstGeom>
              <a:pattFill prst="weave">
                <a:fgClr>
                  <a:srgbClr val="666633"/>
                </a:fgClr>
                <a:bgClr>
                  <a:schemeClr val="hlink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80096" name="Rectangle 64"/>
              <p:cNvSpPr>
                <a:spLocks noChangeArrowheads="1"/>
              </p:cNvSpPr>
              <p:nvPr/>
            </p:nvSpPr>
            <p:spPr bwMode="auto">
              <a:xfrm>
                <a:off x="1441" y="2018"/>
                <a:ext cx="1814" cy="552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000" b="1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  <a:sym typeface="Symbol" pitchFamily="18" charset="2"/>
                </a:endParaRPr>
              </a:p>
            </p:txBody>
          </p:sp>
          <p:sp>
            <p:nvSpPr>
              <p:cNvPr id="1580097" name="Text Box 65" descr="窄横线"/>
              <p:cNvSpPr txBox="1">
                <a:spLocks noChangeArrowheads="1"/>
              </p:cNvSpPr>
              <p:nvPr/>
            </p:nvSpPr>
            <p:spPr bwMode="auto">
              <a:xfrm>
                <a:off x="2596" y="2582"/>
                <a:ext cx="81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narHorz">
                      <a:fgClr>
                        <a:srgbClr val="FF0000"/>
                      </a:fgClr>
                      <a:bgClr>
                        <a:schemeClr val="bg1"/>
                      </a:bgClr>
                    </a:patt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>
                    <a:solidFill>
                      <a:srgbClr val="000066"/>
                    </a:solidFill>
                    <a:ea typeface="幼圆" pitchFamily="49" charset="-122"/>
                  </a:rPr>
                  <a:t>不透水边界</a:t>
                </a:r>
              </a:p>
            </p:txBody>
          </p:sp>
          <p:sp>
            <p:nvSpPr>
              <p:cNvPr id="1580098" name="Rectangle 66" descr="窄横线"/>
              <p:cNvSpPr>
                <a:spLocks noChangeArrowheads="1"/>
              </p:cNvSpPr>
              <p:nvPr/>
            </p:nvSpPr>
            <p:spPr bwMode="auto">
              <a:xfrm>
                <a:off x="2697" y="1776"/>
                <a:ext cx="6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narHorz">
                      <a:fgClr>
                        <a:srgbClr val="FF0000"/>
                      </a:fgClr>
                      <a:bgClr>
                        <a:schemeClr val="bg1"/>
                      </a:bgClr>
                    </a:patt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>
                    <a:solidFill>
                      <a:srgbClr val="000066"/>
                    </a:solidFill>
                    <a:ea typeface="幼圆" pitchFamily="49" charset="-122"/>
                  </a:rPr>
                  <a:t>透水边界</a:t>
                </a:r>
              </a:p>
            </p:txBody>
          </p:sp>
          <p:sp>
            <p:nvSpPr>
              <p:cNvPr id="1580099" name="Rectangle 67" descr="窄横线"/>
              <p:cNvSpPr>
                <a:spLocks noChangeArrowheads="1"/>
              </p:cNvSpPr>
              <p:nvPr/>
            </p:nvSpPr>
            <p:spPr bwMode="auto">
              <a:xfrm>
                <a:off x="1585" y="2018"/>
                <a:ext cx="240" cy="552"/>
              </a:xfrm>
              <a:prstGeom prst="rect">
                <a:avLst/>
              </a:prstGeom>
              <a:pattFill prst="narHorz">
                <a:fgClr>
                  <a:schemeClr val="tx2"/>
                </a:fgClr>
                <a:bgClr>
                  <a:schemeClr val="bg1"/>
                </a:bgClr>
              </a:pattFill>
              <a:ln w="12700">
                <a:solidFill>
                  <a:srgbClr val="000066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80100" name="AutoShape 68" descr="窄横线"/>
              <p:cNvSpPr>
                <a:spLocks noChangeArrowheads="1"/>
              </p:cNvSpPr>
              <p:nvPr/>
            </p:nvSpPr>
            <p:spPr bwMode="auto">
              <a:xfrm>
                <a:off x="2076" y="2020"/>
                <a:ext cx="288" cy="553"/>
              </a:xfrm>
              <a:prstGeom prst="rtTriangle">
                <a:avLst/>
              </a:prstGeom>
              <a:pattFill prst="narHorz">
                <a:fgClr>
                  <a:srgbClr val="6600CC"/>
                </a:fgClr>
                <a:bgClr>
                  <a:schemeClr val="bg1"/>
                </a:bgClr>
              </a:pattFill>
              <a:ln w="12700">
                <a:solidFill>
                  <a:srgbClr val="8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80101" name="AutoShape 69" descr="窄横线"/>
              <p:cNvSpPr>
                <a:spLocks noChangeArrowheads="1"/>
              </p:cNvSpPr>
              <p:nvPr/>
            </p:nvSpPr>
            <p:spPr bwMode="auto">
              <a:xfrm flipV="1">
                <a:off x="2575" y="2017"/>
                <a:ext cx="288" cy="553"/>
              </a:xfrm>
              <a:prstGeom prst="rtTriangle">
                <a:avLst/>
              </a:prstGeom>
              <a:pattFill prst="narHorz">
                <a:fgClr>
                  <a:srgbClr val="006600"/>
                </a:fgClr>
                <a:bgClr>
                  <a:schemeClr val="bg1"/>
                </a:bgClr>
              </a:pattFill>
              <a:ln w="12700">
                <a:solidFill>
                  <a:srgbClr val="00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80103" name="Line 71"/>
              <p:cNvSpPr>
                <a:spLocks noChangeShapeType="1"/>
              </p:cNvSpPr>
              <p:nvPr/>
            </p:nvSpPr>
            <p:spPr bwMode="auto">
              <a:xfrm flipV="1">
                <a:off x="2983" y="2118"/>
                <a:ext cx="0" cy="363"/>
              </a:xfrm>
              <a:prstGeom prst="line">
                <a:avLst/>
              </a:prstGeom>
              <a:noFill/>
              <a:ln w="76200">
                <a:solidFill>
                  <a:srgbClr val="000066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104" name="Text Box 72"/>
              <p:cNvSpPr txBox="1">
                <a:spLocks noChangeArrowheads="1"/>
              </p:cNvSpPr>
              <p:nvPr/>
            </p:nvSpPr>
            <p:spPr bwMode="auto">
              <a:xfrm>
                <a:off x="2997" y="2089"/>
                <a:ext cx="261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800" b="1">
                    <a:solidFill>
                      <a:srgbClr val="000066"/>
                    </a:solidFill>
                    <a:latin typeface="黑体" pitchFamily="2" charset="-122"/>
                    <a:ea typeface="黑体" pitchFamily="2" charset="-122"/>
                    <a:sym typeface="Symbol" pitchFamily="18" charset="2"/>
                  </a:rPr>
                  <a:t>渗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800" b="1">
                    <a:solidFill>
                      <a:srgbClr val="000066"/>
                    </a:solidFill>
                    <a:latin typeface="黑体" pitchFamily="2" charset="-122"/>
                    <a:ea typeface="黑体" pitchFamily="2" charset="-122"/>
                    <a:sym typeface="Symbol" pitchFamily="18" charset="2"/>
                  </a:rPr>
                  <a:t>流</a:t>
                </a:r>
              </a:p>
            </p:txBody>
          </p:sp>
          <p:sp>
            <p:nvSpPr>
              <p:cNvPr id="1580105" name="Rectangle 73"/>
              <p:cNvSpPr>
                <a:spLocks noChangeArrowheads="1"/>
              </p:cNvSpPr>
              <p:nvPr/>
            </p:nvSpPr>
            <p:spPr bwMode="auto">
              <a:xfrm>
                <a:off x="1553" y="1805"/>
                <a:ext cx="2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800" b="1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1</a:t>
                </a:r>
              </a:p>
            </p:txBody>
          </p:sp>
          <p:sp>
            <p:nvSpPr>
              <p:cNvPr id="1580106" name="Rectangle 74"/>
              <p:cNvSpPr>
                <a:spLocks noChangeArrowheads="1"/>
              </p:cNvSpPr>
              <p:nvPr/>
            </p:nvSpPr>
            <p:spPr bwMode="auto">
              <a:xfrm>
                <a:off x="2023" y="1805"/>
                <a:ext cx="2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800" b="1" dirty="0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2</a:t>
                </a:r>
              </a:p>
            </p:txBody>
          </p:sp>
          <p:sp>
            <p:nvSpPr>
              <p:cNvPr id="1580107" name="Rectangle 75"/>
              <p:cNvSpPr>
                <a:spLocks noChangeArrowheads="1"/>
              </p:cNvSpPr>
              <p:nvPr/>
            </p:nvSpPr>
            <p:spPr bwMode="auto">
              <a:xfrm>
                <a:off x="2551" y="1805"/>
                <a:ext cx="21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800" b="1">
                    <a:solidFill>
                      <a:srgbClr val="000066"/>
                    </a:solidFill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</a:p>
            </p:txBody>
          </p:sp>
          <p:sp>
            <p:nvSpPr>
              <p:cNvPr id="1580108" name="Line 76"/>
              <p:cNvSpPr>
                <a:spLocks noChangeShapeType="1"/>
              </p:cNvSpPr>
              <p:nvPr/>
            </p:nvSpPr>
            <p:spPr bwMode="auto">
              <a:xfrm>
                <a:off x="1276" y="1720"/>
                <a:ext cx="60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109" name="Line 77"/>
              <p:cNvSpPr>
                <a:spLocks noChangeShapeType="1"/>
              </p:cNvSpPr>
              <p:nvPr/>
            </p:nvSpPr>
            <p:spPr bwMode="auto">
              <a:xfrm>
                <a:off x="1276" y="2109"/>
                <a:ext cx="60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110" name="Line 78"/>
              <p:cNvSpPr>
                <a:spLocks noChangeShapeType="1"/>
              </p:cNvSpPr>
              <p:nvPr/>
            </p:nvSpPr>
            <p:spPr bwMode="auto">
              <a:xfrm>
                <a:off x="1276" y="2492"/>
                <a:ext cx="60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111" name="Line 79"/>
              <p:cNvSpPr>
                <a:spLocks noChangeShapeType="1"/>
              </p:cNvSpPr>
              <p:nvPr/>
            </p:nvSpPr>
            <p:spPr bwMode="auto">
              <a:xfrm>
                <a:off x="1276" y="2876"/>
                <a:ext cx="60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112" name="Line 80"/>
              <p:cNvSpPr>
                <a:spLocks noChangeShapeType="1"/>
              </p:cNvSpPr>
              <p:nvPr/>
            </p:nvSpPr>
            <p:spPr bwMode="auto">
              <a:xfrm flipV="1">
                <a:off x="1276" y="2816"/>
                <a:ext cx="1" cy="6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0113" name="Line 81"/>
              <p:cNvSpPr>
                <a:spLocks noChangeShapeType="1"/>
              </p:cNvSpPr>
              <p:nvPr/>
            </p:nvSpPr>
            <p:spPr bwMode="auto">
              <a:xfrm flipV="1">
                <a:off x="2577" y="2816"/>
                <a:ext cx="1" cy="6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3" name="直接连接符 2"/>
            <p:cNvCxnSpPr/>
            <p:nvPr/>
          </p:nvCxnSpPr>
          <p:spPr bwMode="auto">
            <a:xfrm>
              <a:off x="2266950" y="3368055"/>
              <a:ext cx="2884487" cy="0"/>
            </a:xfrm>
            <a:prstGeom prst="line">
              <a:avLst/>
            </a:prstGeom>
            <a:noFill/>
            <a:ln w="12700" cap="flat" cmpd="sng" algn="ctr">
              <a:solidFill>
                <a:srgbClr val="A5002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0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0119" grpId="0" build="p" autoUpdateAnimBg="0" advAuto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093" name="Rectangle 37"/>
          <p:cNvSpPr>
            <a:spLocks noChangeArrowheads="1"/>
          </p:cNvSpPr>
          <p:nvPr/>
        </p:nvSpPr>
        <p:spPr bwMode="auto">
          <a:xfrm>
            <a:off x="2381250" y="5813425"/>
            <a:ext cx="5648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地基的平均固结度计算</a:t>
            </a:r>
          </a:p>
        </p:txBody>
      </p:sp>
      <p:sp>
        <p:nvSpPr>
          <p:cNvPr id="1581059" name="Rectangle 3"/>
          <p:cNvSpPr>
            <a:spLocks noChangeArrowheads="1"/>
          </p:cNvSpPr>
          <p:nvPr/>
        </p:nvSpPr>
        <p:spPr bwMode="auto">
          <a:xfrm>
            <a:off x="3657600" y="835025"/>
            <a:ext cx="3833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（1） 压缩应力分布不同时</a:t>
            </a:r>
            <a:endParaRPr kumimoji="1" lang="zh-CN" altLang="en-US" sz="2400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1581094" name="Rectangle 38"/>
          <p:cNvSpPr>
            <a:spLocks noChangeArrowheads="1"/>
          </p:cNvSpPr>
          <p:nvPr/>
        </p:nvSpPr>
        <p:spPr bwMode="auto">
          <a:xfrm>
            <a:off x="461963" y="696913"/>
            <a:ext cx="3995737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35000"/>
              <a:buFont typeface="Wingdings" pitchFamily="2" charset="2"/>
              <a:buChar char="F"/>
            </a:pPr>
            <a:r>
              <a:rPr kumimoji="1" lang="zh-CN" altLang="en-US" sz="28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常见计算条件</a:t>
            </a:r>
            <a:endParaRPr kumimoji="1" lang="en-US" altLang="zh-CN" sz="2800" b="1" dirty="0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36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115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固结度计算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134055"/>
              </p:ext>
            </p:extLst>
          </p:nvPr>
        </p:nvGraphicFramePr>
        <p:xfrm>
          <a:off x="7529513" y="677863"/>
          <a:ext cx="891000" cy="799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164" name="Equation" r:id="rId3" imgW="495000" imgH="444240" progId="Equation.DSMT4">
                  <p:embed/>
                </p:oleObj>
              </mc:Choice>
              <mc:Fallback>
                <p:oleObj name="Equation" r:id="rId3" imgW="495000" imgH="44424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9513" y="677863"/>
                        <a:ext cx="891000" cy="7996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163513" y="1704975"/>
            <a:ext cx="8875713" cy="3502025"/>
            <a:chOff x="163513" y="1704975"/>
            <a:chExt cx="8875713" cy="3502025"/>
          </a:xfrm>
        </p:grpSpPr>
        <p:grpSp>
          <p:nvGrpSpPr>
            <p:cNvPr id="1581063" name="Group 7"/>
            <p:cNvGrpSpPr>
              <a:grpSpLocks/>
            </p:cNvGrpSpPr>
            <p:nvPr/>
          </p:nvGrpSpPr>
          <p:grpSpPr bwMode="auto">
            <a:xfrm>
              <a:off x="163513" y="1704975"/>
              <a:ext cx="8875713" cy="3502025"/>
              <a:chOff x="103" y="1114"/>
              <a:chExt cx="5591" cy="2206"/>
            </a:xfrm>
          </p:grpSpPr>
          <p:sp>
            <p:nvSpPr>
              <p:cNvPr id="1581065" name="Rectangle 9"/>
              <p:cNvSpPr>
                <a:spLocks noChangeArrowheads="1"/>
              </p:cNvSpPr>
              <p:nvPr/>
            </p:nvSpPr>
            <p:spPr bwMode="auto">
              <a:xfrm>
                <a:off x="108" y="2536"/>
                <a:ext cx="96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 dirty="0">
                    <a:solidFill>
                      <a:srgbClr val="A50021"/>
                    </a:solidFill>
                    <a:ea typeface="黑体" pitchFamily="2" charset="-122"/>
                    <a:sym typeface="Symbol" pitchFamily="18" charset="2"/>
                  </a:rPr>
                  <a:t>工程背景</a:t>
                </a:r>
              </a:p>
            </p:txBody>
          </p:sp>
          <p:sp>
            <p:nvSpPr>
              <p:cNvPr id="1581066" name="Rectangle 10"/>
              <p:cNvSpPr>
                <a:spLocks noChangeArrowheads="1"/>
              </p:cNvSpPr>
              <p:nvPr/>
            </p:nvSpPr>
            <p:spPr bwMode="auto">
              <a:xfrm>
                <a:off x="1019" y="2535"/>
                <a:ext cx="772" cy="4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CC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H</a:t>
                </a:r>
                <a:r>
                  <a:rPr kumimoji="1" lang="zh-CN" altLang="en-US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小，</a:t>
                </a:r>
                <a:br>
                  <a:rPr kumimoji="1" lang="zh-CN" altLang="en-US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</a:br>
                <a:r>
                  <a:rPr kumimoji="1" lang="en-US" altLang="zh-CN" sz="18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p</a:t>
                </a:r>
                <a:r>
                  <a:rPr kumimoji="1" lang="zh-CN" altLang="en-US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面积大</a:t>
                </a:r>
              </a:p>
            </p:txBody>
          </p:sp>
          <p:sp>
            <p:nvSpPr>
              <p:cNvPr id="1581067" name="Rectangle 11"/>
              <p:cNvSpPr>
                <a:spLocks noChangeArrowheads="1"/>
              </p:cNvSpPr>
              <p:nvPr/>
            </p:nvSpPr>
            <p:spPr bwMode="auto">
              <a:xfrm>
                <a:off x="1824" y="2553"/>
                <a:ext cx="82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CC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800" b="1">
                    <a:solidFill>
                      <a:srgbClr val="000066"/>
                    </a:solidFill>
                    <a:latin typeface="幼圆" pitchFamily="49" charset="-122"/>
                    <a:ea typeface="幼圆" pitchFamily="49" charset="-122"/>
                    <a:sym typeface="Symbol" pitchFamily="18" charset="2"/>
                  </a:rPr>
                  <a:t>自重应力</a:t>
                </a:r>
              </a:p>
            </p:txBody>
          </p:sp>
          <p:sp>
            <p:nvSpPr>
              <p:cNvPr id="1581068" name="Rectangle 12"/>
              <p:cNvSpPr>
                <a:spLocks noChangeArrowheads="1"/>
              </p:cNvSpPr>
              <p:nvPr/>
            </p:nvSpPr>
            <p:spPr bwMode="auto">
              <a:xfrm>
                <a:off x="2619" y="2563"/>
                <a:ext cx="89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CC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800" b="1">
                    <a:solidFill>
                      <a:srgbClr val="000066"/>
                    </a:solidFill>
                    <a:latin typeface="幼圆" pitchFamily="49" charset="-122"/>
                    <a:ea typeface="幼圆" pitchFamily="49" charset="-122"/>
                    <a:sym typeface="Symbol" pitchFamily="18" charset="2"/>
                  </a:rPr>
                  <a:t>附加应力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800" b="1">
                    <a:solidFill>
                      <a:srgbClr val="000066"/>
                    </a:solidFill>
                    <a:latin typeface="幼圆" pitchFamily="49" charset="-122"/>
                    <a:ea typeface="幼圆" pitchFamily="49" charset="-122"/>
                    <a:sym typeface="Symbol" pitchFamily="18" charset="2"/>
                  </a:rPr>
                  <a:t>底面接近零</a:t>
                </a:r>
              </a:p>
            </p:txBody>
          </p:sp>
          <p:sp>
            <p:nvSpPr>
              <p:cNvPr id="1581069" name="Rectangle 13"/>
              <p:cNvSpPr>
                <a:spLocks noChangeArrowheads="1"/>
              </p:cNvSpPr>
              <p:nvPr/>
            </p:nvSpPr>
            <p:spPr bwMode="auto">
              <a:xfrm>
                <a:off x="3508" y="2545"/>
                <a:ext cx="76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CC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800" b="1">
                    <a:solidFill>
                      <a:srgbClr val="000066"/>
                    </a:solidFill>
                    <a:latin typeface="幼圆" pitchFamily="49" charset="-122"/>
                    <a:ea typeface="幼圆" pitchFamily="49" charset="-122"/>
                    <a:sym typeface="Symbol" pitchFamily="18" charset="2"/>
                  </a:rPr>
                  <a:t>自重应力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800" b="1">
                    <a:solidFill>
                      <a:srgbClr val="000066"/>
                    </a:solidFill>
                    <a:latin typeface="幼圆" pitchFamily="49" charset="-122"/>
                    <a:ea typeface="幼圆" pitchFamily="49" charset="-122"/>
                    <a:sym typeface="Symbol" pitchFamily="18" charset="2"/>
                  </a:rPr>
                  <a:t>附加应力</a:t>
                </a:r>
              </a:p>
            </p:txBody>
          </p:sp>
          <p:sp>
            <p:nvSpPr>
              <p:cNvPr id="1581070" name="Rectangle 14"/>
              <p:cNvSpPr>
                <a:spLocks noChangeArrowheads="1"/>
              </p:cNvSpPr>
              <p:nvPr/>
            </p:nvSpPr>
            <p:spPr bwMode="auto">
              <a:xfrm>
                <a:off x="4452" y="2553"/>
                <a:ext cx="1027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CC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zh-CN" altLang="en-US" sz="1800" b="1" dirty="0">
                    <a:solidFill>
                      <a:srgbClr val="000066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和</a:t>
                </a:r>
                <a:r>
                  <a:rPr kumimoji="1" lang="en-US" altLang="zh-CN" sz="1800" b="1" dirty="0">
                    <a:solidFill>
                      <a:srgbClr val="000066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3</a:t>
                </a:r>
                <a:r>
                  <a:rPr kumimoji="1" lang="zh-CN" altLang="en-US" sz="1800" b="1" dirty="0">
                    <a:solidFill>
                      <a:srgbClr val="000066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类似</a:t>
                </a:r>
                <a:br>
                  <a:rPr kumimoji="1" lang="zh-CN" altLang="en-US" sz="1800" b="1" dirty="0">
                    <a:solidFill>
                      <a:srgbClr val="000066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</a:br>
                <a:r>
                  <a:rPr kumimoji="1" lang="zh-CN" altLang="en-US" sz="1800" b="1" dirty="0">
                    <a:solidFill>
                      <a:srgbClr val="000066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Times New Roman" panose="02020603050405020304" pitchFamily="18" charset="0"/>
                    <a:sym typeface="Symbol" pitchFamily="18" charset="2"/>
                  </a:rPr>
                  <a:t>底面不接近零</a:t>
                </a:r>
              </a:p>
            </p:txBody>
          </p:sp>
          <p:sp>
            <p:nvSpPr>
              <p:cNvPr id="1581071" name="Rectangle 15"/>
              <p:cNvSpPr>
                <a:spLocks noChangeArrowheads="1"/>
              </p:cNvSpPr>
              <p:nvPr/>
            </p:nvSpPr>
            <p:spPr bwMode="auto">
              <a:xfrm>
                <a:off x="1179" y="3089"/>
                <a:ext cx="4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CC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800" b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  公式</a:t>
                </a:r>
                <a:r>
                  <a:rPr kumimoji="1" lang="en-US" altLang="zh-CN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(</a:t>
                </a:r>
                <a:r>
                  <a:rPr kumimoji="1" lang="en-US" altLang="zh-CN" sz="1800" b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4-41)-(</a:t>
                </a:r>
                <a:r>
                  <a:rPr kumimoji="1" lang="zh-CN" altLang="en-US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4</a:t>
                </a:r>
                <a:r>
                  <a:rPr kumimoji="1" lang="zh-CN" altLang="en-US" sz="1800" b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-</a:t>
                </a:r>
                <a:r>
                  <a:rPr kumimoji="1" lang="en-US" altLang="zh-CN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6</a:t>
                </a:r>
                <a:r>
                  <a:rPr kumimoji="1" lang="en-US" altLang="zh-CN" sz="1800" b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)</a:t>
                </a:r>
                <a:r>
                  <a:rPr kumimoji="1" lang="zh-CN" altLang="en-US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，图4-</a:t>
                </a:r>
                <a:r>
                  <a:rPr kumimoji="1" lang="zh-CN" altLang="en-US" sz="1800" b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2</a:t>
                </a:r>
                <a:r>
                  <a:rPr kumimoji="1" lang="en-US" altLang="zh-CN" sz="1800" b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7</a:t>
                </a:r>
                <a:r>
                  <a:rPr kumimoji="1" lang="zh-CN" altLang="en-US" sz="1800" b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                     叠加原理</a:t>
                </a:r>
                <a:r>
                  <a:rPr kumimoji="1" lang="zh-CN" altLang="en-US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，公式</a:t>
                </a:r>
                <a:r>
                  <a:rPr kumimoji="1" lang="en-US" altLang="zh-CN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(</a:t>
                </a:r>
                <a:r>
                  <a:rPr kumimoji="1" lang="en-US" altLang="zh-CN" sz="1800" b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4-47) </a:t>
                </a:r>
                <a:r>
                  <a:rPr kumimoji="1" lang="en-US" altLang="zh-CN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- (</a:t>
                </a:r>
                <a:r>
                  <a:rPr kumimoji="1" lang="zh-CN" altLang="en-US" sz="18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4</a:t>
                </a:r>
                <a:r>
                  <a:rPr kumimoji="1" lang="zh-CN" altLang="en-US" sz="1800" b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-</a:t>
                </a:r>
                <a:r>
                  <a:rPr kumimoji="1" lang="en-US" altLang="zh-CN" sz="1800" b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49)</a:t>
                </a:r>
                <a:endParaRPr kumimoji="1" lang="zh-CN" altLang="en-US" sz="18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endParaRPr>
              </a:p>
            </p:txBody>
          </p:sp>
          <p:sp>
            <p:nvSpPr>
              <p:cNvPr id="1581072" name="Rectangle 16"/>
              <p:cNvSpPr>
                <a:spLocks noChangeArrowheads="1"/>
              </p:cNvSpPr>
              <p:nvPr/>
            </p:nvSpPr>
            <p:spPr bwMode="auto">
              <a:xfrm>
                <a:off x="103" y="3049"/>
                <a:ext cx="105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CC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 dirty="0">
                    <a:solidFill>
                      <a:srgbClr val="A50021"/>
                    </a:solidFill>
                    <a:ea typeface="黑体" pitchFamily="2" charset="-122"/>
                    <a:sym typeface="Symbol" pitchFamily="18" charset="2"/>
                  </a:rPr>
                  <a:t>计算公式</a:t>
                </a:r>
              </a:p>
            </p:txBody>
          </p:sp>
          <p:sp>
            <p:nvSpPr>
              <p:cNvPr id="1581073" name="Rectangle 17"/>
              <p:cNvSpPr>
                <a:spLocks noChangeArrowheads="1"/>
              </p:cNvSpPr>
              <p:nvPr/>
            </p:nvSpPr>
            <p:spPr bwMode="auto">
              <a:xfrm>
                <a:off x="108" y="1858"/>
                <a:ext cx="82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 dirty="0">
                    <a:solidFill>
                      <a:srgbClr val="A50021"/>
                    </a:solidFill>
                    <a:ea typeface="黑体" pitchFamily="2" charset="-122"/>
                    <a:sym typeface="Symbol" pitchFamily="18" charset="2"/>
                  </a:rPr>
                  <a:t>应力分布</a:t>
                </a:r>
              </a:p>
            </p:txBody>
          </p:sp>
          <p:sp>
            <p:nvSpPr>
              <p:cNvPr id="1581074" name="Rectangle 18"/>
              <p:cNvSpPr>
                <a:spLocks noChangeArrowheads="1"/>
              </p:cNvSpPr>
              <p:nvPr/>
            </p:nvSpPr>
            <p:spPr bwMode="auto">
              <a:xfrm>
                <a:off x="107" y="1114"/>
                <a:ext cx="508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CC00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66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 dirty="0">
                    <a:solidFill>
                      <a:srgbClr val="A50021"/>
                    </a:solidFill>
                    <a:ea typeface="黑体" pitchFamily="2" charset="-122"/>
                    <a:sym typeface="Symbol" pitchFamily="18" charset="2"/>
                  </a:rPr>
                  <a:t>基本情况</a:t>
                </a:r>
                <a:r>
                  <a:rPr kumimoji="1" lang="zh-CN" altLang="en-US" sz="2000" b="1" dirty="0">
                    <a:solidFill>
                      <a:srgbClr val="000066"/>
                    </a:solidFill>
                    <a:ea typeface="黑体" pitchFamily="2" charset="-122"/>
                    <a:sym typeface="Symbol" pitchFamily="18" charset="2"/>
                  </a:rPr>
                  <a:t>           </a:t>
                </a:r>
                <a:r>
                  <a:rPr kumimoji="1" lang="en-US" altLang="zh-CN" sz="2000" b="1" dirty="0">
                    <a:solidFill>
                      <a:srgbClr val="000066"/>
                    </a:solidFill>
                    <a:ea typeface="黑体" pitchFamily="2" charset="-122"/>
                    <a:sym typeface="Symbol" pitchFamily="18" charset="2"/>
                  </a:rPr>
                  <a:t>1                    2                    3                  4                     5</a:t>
                </a:r>
              </a:p>
            </p:txBody>
          </p:sp>
          <p:sp>
            <p:nvSpPr>
              <p:cNvPr id="1581075" name="Rectangle 19" descr="编织物"/>
              <p:cNvSpPr>
                <a:spLocks noChangeArrowheads="1"/>
              </p:cNvSpPr>
              <p:nvPr/>
            </p:nvSpPr>
            <p:spPr bwMode="auto">
              <a:xfrm>
                <a:off x="1040" y="2089"/>
                <a:ext cx="4080" cy="250"/>
              </a:xfrm>
              <a:prstGeom prst="rect">
                <a:avLst/>
              </a:prstGeom>
              <a:pattFill prst="weave">
                <a:fgClr>
                  <a:srgbClr val="666633"/>
                </a:fgClr>
                <a:bgClr>
                  <a:schemeClr val="hlink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81076" name="Rectangle 20"/>
              <p:cNvSpPr>
                <a:spLocks noChangeArrowheads="1"/>
              </p:cNvSpPr>
              <p:nvPr/>
            </p:nvSpPr>
            <p:spPr bwMode="auto">
              <a:xfrm>
                <a:off x="1040" y="1688"/>
                <a:ext cx="4080" cy="589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81077" name="Text Box 21" descr="窄横线"/>
              <p:cNvSpPr txBox="1">
                <a:spLocks noChangeArrowheads="1"/>
              </p:cNvSpPr>
              <p:nvPr/>
            </p:nvSpPr>
            <p:spPr bwMode="auto">
              <a:xfrm>
                <a:off x="5058" y="2140"/>
                <a:ext cx="63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narHorz">
                      <a:fgClr>
                        <a:srgbClr val="FF0000"/>
                      </a:fgClr>
                      <a:bgClr>
                        <a:schemeClr val="bg1"/>
                      </a:bgClr>
                    </a:patt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 dirty="0">
                    <a:solidFill>
                      <a:srgbClr val="000066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不透水</a:t>
                </a:r>
              </a:p>
            </p:txBody>
          </p:sp>
          <p:sp>
            <p:nvSpPr>
              <p:cNvPr id="1581078" name="Rectangle 22" descr="窄横线"/>
              <p:cNvSpPr>
                <a:spLocks noChangeArrowheads="1"/>
              </p:cNvSpPr>
              <p:nvPr/>
            </p:nvSpPr>
            <p:spPr bwMode="auto">
              <a:xfrm>
                <a:off x="5124" y="1578"/>
                <a:ext cx="43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narHorz">
                      <a:fgClr>
                        <a:srgbClr val="FF0000"/>
                      </a:fgClr>
                      <a:bgClr>
                        <a:schemeClr val="bg1"/>
                      </a:bgClr>
                    </a:patt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8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 b="1" dirty="0">
                    <a:solidFill>
                      <a:srgbClr val="000066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透水</a:t>
                </a:r>
              </a:p>
            </p:txBody>
          </p:sp>
          <p:sp>
            <p:nvSpPr>
              <p:cNvPr id="1581079" name="Rectangle 23" descr="窄横线"/>
              <p:cNvSpPr>
                <a:spLocks noChangeArrowheads="1"/>
              </p:cNvSpPr>
              <p:nvPr/>
            </p:nvSpPr>
            <p:spPr bwMode="auto">
              <a:xfrm>
                <a:off x="1184" y="1688"/>
                <a:ext cx="240" cy="590"/>
              </a:xfrm>
              <a:prstGeom prst="rect">
                <a:avLst/>
              </a:prstGeom>
              <a:pattFill prst="narHorz">
                <a:fgClr>
                  <a:srgbClr val="C00000"/>
                </a:fgClr>
                <a:bgClr>
                  <a:srgbClr val="99CCFF"/>
                </a:bgClr>
              </a:patt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81080" name="AutoShape 24" descr="窄横线"/>
              <p:cNvSpPr>
                <a:spLocks noChangeArrowheads="1"/>
              </p:cNvSpPr>
              <p:nvPr/>
            </p:nvSpPr>
            <p:spPr bwMode="auto">
              <a:xfrm>
                <a:off x="1976" y="1689"/>
                <a:ext cx="288" cy="590"/>
              </a:xfrm>
              <a:prstGeom prst="rtTriangle">
                <a:avLst/>
              </a:prstGeom>
              <a:pattFill prst="narHorz">
                <a:fgClr>
                  <a:srgbClr val="C00000"/>
                </a:fgClr>
                <a:bgClr>
                  <a:srgbClr val="99CCFF"/>
                </a:bgClr>
              </a:patt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81081" name="AutoShape 25" descr="窄横线"/>
              <p:cNvSpPr>
                <a:spLocks noChangeArrowheads="1"/>
              </p:cNvSpPr>
              <p:nvPr/>
            </p:nvSpPr>
            <p:spPr bwMode="auto">
              <a:xfrm flipV="1">
                <a:off x="2816" y="1694"/>
                <a:ext cx="288" cy="590"/>
              </a:xfrm>
              <a:prstGeom prst="rtTriangle">
                <a:avLst/>
              </a:prstGeom>
              <a:pattFill prst="narHorz">
                <a:fgClr>
                  <a:srgbClr val="C00000"/>
                </a:fgClr>
                <a:bgClr>
                  <a:srgbClr val="99CCFF"/>
                </a:bgClr>
              </a:patt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581082" name="Line 26"/>
              <p:cNvSpPr>
                <a:spLocks noChangeShapeType="1"/>
              </p:cNvSpPr>
              <p:nvPr/>
            </p:nvSpPr>
            <p:spPr bwMode="auto">
              <a:xfrm>
                <a:off x="1738" y="1142"/>
                <a:ext cx="1" cy="1901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581083" name="Line 27"/>
              <p:cNvSpPr>
                <a:spLocks noChangeShapeType="1"/>
              </p:cNvSpPr>
              <p:nvPr/>
            </p:nvSpPr>
            <p:spPr bwMode="auto">
              <a:xfrm>
                <a:off x="2575" y="1142"/>
                <a:ext cx="1" cy="1901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581084" name="Line 28"/>
              <p:cNvSpPr>
                <a:spLocks noChangeShapeType="1"/>
              </p:cNvSpPr>
              <p:nvPr/>
            </p:nvSpPr>
            <p:spPr bwMode="auto">
              <a:xfrm>
                <a:off x="3463" y="1142"/>
                <a:ext cx="1" cy="2161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581085" name="Line 29"/>
              <p:cNvSpPr>
                <a:spLocks noChangeShapeType="1"/>
              </p:cNvSpPr>
              <p:nvPr/>
            </p:nvSpPr>
            <p:spPr bwMode="auto">
              <a:xfrm>
                <a:off x="4271" y="1142"/>
                <a:ext cx="1" cy="1902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endParaRPr lang="zh-CN" altLang="en-US"/>
              </a:p>
            </p:txBody>
          </p:sp>
          <p:sp>
            <p:nvSpPr>
              <p:cNvPr id="1581086" name="Freeform 30" descr="窄横线"/>
              <p:cNvSpPr>
                <a:spLocks/>
              </p:cNvSpPr>
              <p:nvPr/>
            </p:nvSpPr>
            <p:spPr bwMode="auto">
              <a:xfrm>
                <a:off x="3653" y="1690"/>
                <a:ext cx="339" cy="590"/>
              </a:xfrm>
              <a:custGeom>
                <a:avLst/>
                <a:gdLst>
                  <a:gd name="T0" fmla="*/ 1 w 339"/>
                  <a:gd name="T1" fmla="*/ 0 h 578"/>
                  <a:gd name="T2" fmla="*/ 0 w 339"/>
                  <a:gd name="T3" fmla="*/ 577 h 578"/>
                  <a:gd name="T4" fmla="*/ 339 w 339"/>
                  <a:gd name="T5" fmla="*/ 578 h 578"/>
                  <a:gd name="T6" fmla="*/ 151 w 339"/>
                  <a:gd name="T7" fmla="*/ 0 h 578"/>
                  <a:gd name="T8" fmla="*/ 1 w 339"/>
                  <a:gd name="T9" fmla="*/ 0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9" h="578">
                    <a:moveTo>
                      <a:pt x="1" y="0"/>
                    </a:moveTo>
                    <a:lnTo>
                      <a:pt x="0" y="577"/>
                    </a:lnTo>
                    <a:lnTo>
                      <a:pt x="339" y="578"/>
                    </a:lnTo>
                    <a:lnTo>
                      <a:pt x="151" y="0"/>
                    </a:lnTo>
                    <a:lnTo>
                      <a:pt x="1" y="0"/>
                    </a:lnTo>
                    <a:close/>
                  </a:path>
                </a:pathLst>
              </a:custGeom>
              <a:pattFill prst="narHorz">
                <a:fgClr>
                  <a:srgbClr val="C00000"/>
                </a:fgClr>
                <a:bgClr>
                  <a:srgbClr val="99CCFF"/>
                </a:bgClr>
              </a:pattFill>
              <a:ln w="127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1087" name="Freeform 31" descr="窄横线"/>
              <p:cNvSpPr>
                <a:spLocks/>
              </p:cNvSpPr>
              <p:nvPr/>
            </p:nvSpPr>
            <p:spPr bwMode="auto">
              <a:xfrm flipV="1">
                <a:off x="4546" y="1690"/>
                <a:ext cx="339" cy="590"/>
              </a:xfrm>
              <a:custGeom>
                <a:avLst/>
                <a:gdLst>
                  <a:gd name="T0" fmla="*/ 1 w 339"/>
                  <a:gd name="T1" fmla="*/ 0 h 578"/>
                  <a:gd name="T2" fmla="*/ 0 w 339"/>
                  <a:gd name="T3" fmla="*/ 577 h 578"/>
                  <a:gd name="T4" fmla="*/ 339 w 339"/>
                  <a:gd name="T5" fmla="*/ 578 h 578"/>
                  <a:gd name="T6" fmla="*/ 151 w 339"/>
                  <a:gd name="T7" fmla="*/ 0 h 578"/>
                  <a:gd name="T8" fmla="*/ 1 w 339"/>
                  <a:gd name="T9" fmla="*/ 0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9" h="578">
                    <a:moveTo>
                      <a:pt x="1" y="0"/>
                    </a:moveTo>
                    <a:lnTo>
                      <a:pt x="0" y="577"/>
                    </a:lnTo>
                    <a:lnTo>
                      <a:pt x="339" y="578"/>
                    </a:lnTo>
                    <a:lnTo>
                      <a:pt x="151" y="0"/>
                    </a:lnTo>
                    <a:lnTo>
                      <a:pt x="1" y="0"/>
                    </a:lnTo>
                    <a:close/>
                  </a:path>
                </a:pathLst>
              </a:custGeom>
              <a:pattFill prst="narHorz">
                <a:fgClr>
                  <a:srgbClr val="C00000"/>
                </a:fgClr>
                <a:bgClr>
                  <a:srgbClr val="99CCFF"/>
                </a:bgClr>
              </a:pattFill>
              <a:ln w="127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1088" name="Text Box 32"/>
              <p:cNvSpPr txBox="1">
                <a:spLocks noChangeArrowheads="1"/>
              </p:cNvSpPr>
              <p:nvPr/>
            </p:nvSpPr>
            <p:spPr bwMode="auto">
              <a:xfrm>
                <a:off x="1448" y="1608"/>
                <a:ext cx="28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>
                    <a:solidFill>
                      <a:srgbClr val="000066"/>
                    </a:solidFill>
                    <a:ea typeface="幼圆" pitchFamily="49" charset="-122"/>
                  </a:rPr>
                  <a:t>p</a:t>
                </a:r>
                <a:r>
                  <a:rPr lang="en-US" altLang="zh-CN" sz="2400" b="1" baseline="-25000" dirty="0">
                    <a:solidFill>
                      <a:srgbClr val="000066"/>
                    </a:solidFill>
                    <a:ea typeface="幼圆" pitchFamily="49" charset="-122"/>
                  </a:rPr>
                  <a:t>a</a:t>
                </a:r>
                <a:endParaRPr lang="en-US" altLang="zh-CN" sz="2400" b="1" dirty="0">
                  <a:solidFill>
                    <a:srgbClr val="000066"/>
                  </a:solidFill>
                  <a:ea typeface="幼圆" pitchFamily="49" charset="-122"/>
                </a:endParaRPr>
              </a:p>
            </p:txBody>
          </p:sp>
          <p:sp>
            <p:nvSpPr>
              <p:cNvPr id="1581089" name="Text Box 33"/>
              <p:cNvSpPr txBox="1">
                <a:spLocks noChangeArrowheads="1"/>
              </p:cNvSpPr>
              <p:nvPr/>
            </p:nvSpPr>
            <p:spPr bwMode="auto">
              <a:xfrm>
                <a:off x="1434" y="2010"/>
                <a:ext cx="29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400" b="1" i="1" dirty="0" err="1">
                    <a:solidFill>
                      <a:srgbClr val="000066"/>
                    </a:solidFill>
                    <a:ea typeface="幼圆" pitchFamily="49" charset="-122"/>
                  </a:rPr>
                  <a:t>p</a:t>
                </a:r>
                <a:r>
                  <a:rPr lang="en-US" altLang="zh-CN" sz="2400" b="1" baseline="-25000" dirty="0" err="1">
                    <a:solidFill>
                      <a:srgbClr val="000066"/>
                    </a:solidFill>
                    <a:ea typeface="幼圆" pitchFamily="49" charset="-122"/>
                  </a:rPr>
                  <a:t>b</a:t>
                </a:r>
                <a:endParaRPr lang="en-US" altLang="zh-CN" sz="2400" b="1" dirty="0">
                  <a:solidFill>
                    <a:srgbClr val="000066"/>
                  </a:solidFill>
                  <a:ea typeface="幼圆" pitchFamily="49" charset="-122"/>
                </a:endParaRPr>
              </a:p>
            </p:txBody>
          </p:sp>
          <p:sp>
            <p:nvSpPr>
              <p:cNvPr id="1581090" name="Text Box 34"/>
              <p:cNvSpPr txBox="1">
                <a:spLocks noChangeArrowheads="1"/>
              </p:cNvSpPr>
              <p:nvPr/>
            </p:nvSpPr>
            <p:spPr bwMode="auto">
              <a:xfrm>
                <a:off x="879" y="1386"/>
                <a:ext cx="427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 i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</a:t>
                </a:r>
                <a:r>
                  <a:rPr lang="zh-CN" altLang="en-US" sz="24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   </a:t>
                </a:r>
                <a:r>
                  <a:rPr lang="en-US" altLang="zh-CN" sz="2400" b="1" dirty="0" smtClean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=</a:t>
                </a:r>
                <a:r>
                  <a:rPr lang="en-US" altLang="zh-CN" sz="2400" b="1" dirty="0">
                    <a:solidFill>
                      <a:srgbClr val="000066"/>
                    </a:solidFill>
                    <a:ea typeface="幼圆" pitchFamily="49" charset="-122"/>
                    <a:cs typeface="Times New Roman" panose="02020603050405020304" pitchFamily="18" charset="0"/>
                    <a:sym typeface="Symbol" pitchFamily="18" charset="2"/>
                  </a:rPr>
                  <a:t>1             =              =0             &gt;1              &lt;1</a:t>
                </a:r>
              </a:p>
            </p:txBody>
          </p:sp>
        </p:grpSp>
        <p:cxnSp>
          <p:nvCxnSpPr>
            <p:cNvPr id="4" name="直接连接符 3"/>
            <p:cNvCxnSpPr/>
            <p:nvPr/>
          </p:nvCxnSpPr>
          <p:spPr bwMode="auto">
            <a:xfrm>
              <a:off x="1651001" y="2616200"/>
              <a:ext cx="6461125" cy="0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0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10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81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1059" grpId="0" build="p" autoUpdateAnimBg="0"/>
      <p:bldP spid="1581094" grpId="0" build="p" autoUpdateAnimBg="0" advAuto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086" name="Rectangle 6"/>
          <p:cNvSpPr>
            <a:spLocks noChangeArrowheads="1"/>
          </p:cNvSpPr>
          <p:nvPr/>
        </p:nvSpPr>
        <p:spPr bwMode="auto">
          <a:xfrm>
            <a:off x="3946525" y="830263"/>
            <a:ext cx="316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 type="none" w="med" len="lg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（2）双面排水时</a:t>
            </a:r>
          </a:p>
        </p:txBody>
      </p:sp>
      <p:sp>
        <p:nvSpPr>
          <p:cNvPr id="1582087" name="Text Box 7"/>
          <p:cNvSpPr txBox="1">
            <a:spLocks noChangeArrowheads="1"/>
          </p:cNvSpPr>
          <p:nvPr/>
        </p:nvSpPr>
        <p:spPr bwMode="auto">
          <a:xfrm>
            <a:off x="833438" y="4025900"/>
            <a:ext cx="47625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41325" indent="-4413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207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无论哪种情况，均按情况1计算</a:t>
            </a:r>
          </a:p>
          <a:p>
            <a:pPr>
              <a:lnSpc>
                <a:spcPct val="125000"/>
              </a:lnSpc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压缩土层深度</a:t>
            </a:r>
            <a:r>
              <a:rPr lang="en-US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取1/2值</a:t>
            </a:r>
          </a:p>
        </p:txBody>
      </p:sp>
      <p:graphicFrame>
        <p:nvGraphicFramePr>
          <p:cNvPr id="158208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406656"/>
              </p:ext>
            </p:extLst>
          </p:nvPr>
        </p:nvGraphicFramePr>
        <p:xfrm>
          <a:off x="5884863" y="4203700"/>
          <a:ext cx="117633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2181" name="Equation" r:id="rId3" imgW="596880" imgH="380880" progId="Equation.DSMT4">
                  <p:embed/>
                </p:oleObj>
              </mc:Choice>
              <mc:Fallback>
                <p:oleObj name="Equation" r:id="rId3" imgW="596880" imgH="380880" progId="Equation.DSMT4">
                  <p:embed/>
                  <p:pic>
                    <p:nvPicPr>
                      <p:cNvPr id="0" name="Object 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863" y="4203700"/>
                        <a:ext cx="1176337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82102" name="Group 22"/>
          <p:cNvGrpSpPr>
            <a:grpSpLocks/>
          </p:cNvGrpSpPr>
          <p:nvPr/>
        </p:nvGrpSpPr>
        <p:grpSpPr bwMode="auto">
          <a:xfrm>
            <a:off x="7278688" y="4102100"/>
            <a:ext cx="1466850" cy="936625"/>
            <a:chOff x="381" y="2502"/>
            <a:chExt cx="924" cy="590"/>
          </a:xfrm>
        </p:grpSpPr>
        <p:sp>
          <p:nvSpPr>
            <p:cNvPr id="1582103" name="Rectangle 23"/>
            <p:cNvSpPr>
              <a:spLocks noChangeArrowheads="1"/>
            </p:cNvSpPr>
            <p:nvPr/>
          </p:nvSpPr>
          <p:spPr bwMode="auto">
            <a:xfrm>
              <a:off x="382" y="2515"/>
              <a:ext cx="917" cy="57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82104" name="Freeform 24" descr="窄横线"/>
            <p:cNvSpPr>
              <a:spLocks/>
            </p:cNvSpPr>
            <p:nvPr/>
          </p:nvSpPr>
          <p:spPr bwMode="auto">
            <a:xfrm>
              <a:off x="494" y="2507"/>
              <a:ext cx="474" cy="578"/>
            </a:xfrm>
            <a:custGeom>
              <a:avLst/>
              <a:gdLst>
                <a:gd name="T0" fmla="*/ 1 w 339"/>
                <a:gd name="T1" fmla="*/ 0 h 578"/>
                <a:gd name="T2" fmla="*/ 0 w 339"/>
                <a:gd name="T3" fmla="*/ 577 h 578"/>
                <a:gd name="T4" fmla="*/ 339 w 339"/>
                <a:gd name="T5" fmla="*/ 578 h 578"/>
                <a:gd name="T6" fmla="*/ 151 w 339"/>
                <a:gd name="T7" fmla="*/ 0 h 578"/>
                <a:gd name="T8" fmla="*/ 1 w 339"/>
                <a:gd name="T9" fmla="*/ 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9" h="578">
                  <a:moveTo>
                    <a:pt x="1" y="0"/>
                  </a:moveTo>
                  <a:lnTo>
                    <a:pt x="0" y="577"/>
                  </a:lnTo>
                  <a:lnTo>
                    <a:pt x="339" y="578"/>
                  </a:lnTo>
                  <a:lnTo>
                    <a:pt x="151" y="0"/>
                  </a:lnTo>
                  <a:lnTo>
                    <a:pt x="1" y="0"/>
                  </a:lnTo>
                  <a:close/>
                </a:path>
              </a:pathLst>
            </a:custGeom>
            <a:pattFill prst="narHorz">
              <a:fgClr>
                <a:srgbClr val="C00000"/>
              </a:fgClr>
              <a:bgClr>
                <a:srgbClr val="99CCFF"/>
              </a:bgClr>
            </a:pattFill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2105" name="Line 25"/>
            <p:cNvSpPr>
              <a:spLocks noChangeShapeType="1"/>
            </p:cNvSpPr>
            <p:nvPr/>
          </p:nvSpPr>
          <p:spPr bwMode="auto">
            <a:xfrm>
              <a:off x="384" y="2507"/>
              <a:ext cx="921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2106" name="Line 26"/>
            <p:cNvSpPr>
              <a:spLocks noChangeShapeType="1"/>
            </p:cNvSpPr>
            <p:nvPr/>
          </p:nvSpPr>
          <p:spPr bwMode="auto">
            <a:xfrm>
              <a:off x="381" y="3089"/>
              <a:ext cx="921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2107" name="Line 27"/>
            <p:cNvSpPr>
              <a:spLocks noChangeShapeType="1"/>
            </p:cNvSpPr>
            <p:nvPr/>
          </p:nvSpPr>
          <p:spPr bwMode="auto">
            <a:xfrm>
              <a:off x="837" y="2502"/>
              <a:ext cx="0" cy="59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2108" name="Line 28"/>
            <p:cNvSpPr>
              <a:spLocks noChangeShapeType="1"/>
            </p:cNvSpPr>
            <p:nvPr/>
          </p:nvSpPr>
          <p:spPr bwMode="auto">
            <a:xfrm>
              <a:off x="1200" y="2512"/>
              <a:ext cx="0" cy="5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2109" name="Text Box 29"/>
            <p:cNvSpPr txBox="1">
              <a:spLocks noChangeArrowheads="1"/>
            </p:cNvSpPr>
            <p:nvPr/>
          </p:nvSpPr>
          <p:spPr bwMode="auto">
            <a:xfrm>
              <a:off x="910" y="2660"/>
              <a:ext cx="3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dirty="0">
                  <a:solidFill>
                    <a:srgbClr val="000066"/>
                  </a:solidFill>
                  <a:ea typeface="幼圆" pitchFamily="49" charset="-122"/>
                </a:rPr>
                <a:t>2</a:t>
              </a:r>
              <a:r>
                <a:rPr lang="en-US" altLang="zh-CN" sz="2000" b="1" i="1" dirty="0">
                  <a:solidFill>
                    <a:srgbClr val="000066"/>
                  </a:solidFill>
                  <a:ea typeface="幼圆" pitchFamily="49" charset="-122"/>
                </a:rPr>
                <a:t>H</a:t>
              </a:r>
            </a:p>
          </p:txBody>
        </p:sp>
      </p:grpSp>
      <p:sp>
        <p:nvSpPr>
          <p:cNvPr id="1582111" name="Rectangle 31"/>
          <p:cNvSpPr>
            <a:spLocks noChangeArrowheads="1"/>
          </p:cNvSpPr>
          <p:nvPr/>
        </p:nvSpPr>
        <p:spPr bwMode="auto">
          <a:xfrm>
            <a:off x="2381250" y="5670550"/>
            <a:ext cx="5648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地基的平均固结度计算</a:t>
            </a:r>
          </a:p>
        </p:txBody>
      </p:sp>
      <p:sp>
        <p:nvSpPr>
          <p:cNvPr id="1582112" name="Rectangle 32"/>
          <p:cNvSpPr>
            <a:spLocks noChangeArrowheads="1"/>
          </p:cNvSpPr>
          <p:nvPr/>
        </p:nvSpPr>
        <p:spPr bwMode="auto">
          <a:xfrm>
            <a:off x="461963" y="696913"/>
            <a:ext cx="3995737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SzPct val="135000"/>
              <a:buFont typeface="Wingdings" pitchFamily="2" charset="2"/>
              <a:buChar char="F"/>
            </a:pPr>
            <a:r>
              <a:rPr kumimoji="1" lang="zh-CN" altLang="en-US" sz="28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 常见计算条件</a:t>
            </a:r>
            <a:endParaRPr kumimoji="1" lang="en-US" altLang="zh-CN" sz="2800" b="1">
              <a:solidFill>
                <a:srgbClr val="A50021"/>
              </a:solidFill>
              <a:latin typeface="幼圆" pitchFamily="49" charset="-122"/>
              <a:ea typeface="幼圆" pitchFamily="49" charset="-122"/>
              <a:sym typeface="Symbol" pitchFamily="18" charset="2"/>
            </a:endParaRPr>
          </a:p>
        </p:txBody>
      </p:sp>
      <p:sp>
        <p:nvSpPr>
          <p:cNvPr id="2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116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-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固结度计算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22253" y="1844675"/>
            <a:ext cx="8810625" cy="1647825"/>
            <a:chOff x="193678" y="1854200"/>
            <a:chExt cx="8810625" cy="1647825"/>
          </a:xfrm>
        </p:grpSpPr>
        <p:sp>
          <p:nvSpPr>
            <p:cNvPr id="1582090" name="Rectangle 10"/>
            <p:cNvSpPr>
              <a:spLocks noChangeArrowheads="1"/>
            </p:cNvSpPr>
            <p:nvPr/>
          </p:nvSpPr>
          <p:spPr bwMode="auto">
            <a:xfrm>
              <a:off x="193678" y="2686050"/>
              <a:ext cx="130968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A50021"/>
                  </a:solidFill>
                  <a:ea typeface="黑体" pitchFamily="2" charset="-122"/>
                  <a:sym typeface="Symbol" pitchFamily="18" charset="2"/>
                </a:rPr>
                <a:t>应力分布</a:t>
              </a:r>
            </a:p>
          </p:txBody>
        </p:sp>
        <p:sp>
          <p:nvSpPr>
            <p:cNvPr id="1582091" name="Rectangle 11"/>
            <p:cNvSpPr>
              <a:spLocks noChangeArrowheads="1"/>
            </p:cNvSpPr>
            <p:nvPr/>
          </p:nvSpPr>
          <p:spPr bwMode="auto">
            <a:xfrm>
              <a:off x="201616" y="1854200"/>
              <a:ext cx="767556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A50021"/>
                  </a:solidFill>
                  <a:ea typeface="黑体" pitchFamily="2" charset="-122"/>
                  <a:sym typeface="Symbol" pitchFamily="18" charset="2"/>
                </a:rPr>
                <a:t>基本情况</a:t>
              </a:r>
              <a:r>
                <a:rPr kumimoji="1" lang="zh-CN" altLang="en-US" sz="2000" b="1" dirty="0">
                  <a:solidFill>
                    <a:srgbClr val="000066"/>
                  </a:solidFill>
                  <a:ea typeface="黑体" pitchFamily="2" charset="-122"/>
                  <a:sym typeface="Symbol" pitchFamily="18" charset="2"/>
                </a:rPr>
                <a:t>   </a:t>
              </a:r>
              <a:r>
                <a:rPr kumimoji="1" lang="zh-CN" altLang="en-US" sz="2000" b="1" dirty="0" smtClean="0">
                  <a:solidFill>
                    <a:srgbClr val="000066"/>
                  </a:solidFill>
                  <a:ea typeface="黑体" pitchFamily="2" charset="-122"/>
                  <a:sym typeface="Symbol" pitchFamily="18" charset="2"/>
                </a:rPr>
                <a:t>       </a:t>
              </a:r>
              <a:r>
                <a:rPr kumimoji="1" lang="en-US" altLang="zh-CN" sz="2000" b="1" dirty="0">
                  <a:solidFill>
                    <a:srgbClr val="000066"/>
                  </a:solidFill>
                  <a:ea typeface="黑体" pitchFamily="2" charset="-122"/>
                  <a:sym typeface="Symbol" pitchFamily="18" charset="2"/>
                </a:rPr>
                <a:t>1           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ea typeface="黑体" pitchFamily="2" charset="-122"/>
                  <a:sym typeface="Symbol" pitchFamily="18" charset="2"/>
                </a:rPr>
                <a:t>      </a:t>
              </a:r>
              <a:r>
                <a:rPr kumimoji="1" lang="en-US" altLang="zh-CN" sz="2000" b="1" dirty="0">
                  <a:solidFill>
                    <a:srgbClr val="000066"/>
                  </a:solidFill>
                  <a:ea typeface="黑体" pitchFamily="2" charset="-122"/>
                  <a:sym typeface="Symbol" pitchFamily="18" charset="2"/>
                </a:rPr>
                <a:t>2                    3                  4          </a:t>
              </a:r>
              <a:r>
                <a:rPr kumimoji="1" lang="en-US" altLang="zh-CN" sz="2000" b="1" dirty="0" smtClean="0">
                  <a:solidFill>
                    <a:srgbClr val="000066"/>
                  </a:solidFill>
                  <a:ea typeface="黑体" pitchFamily="2" charset="-122"/>
                  <a:sym typeface="Symbol" pitchFamily="18" charset="2"/>
                </a:rPr>
                <a:t>          </a:t>
              </a:r>
              <a:r>
                <a:rPr kumimoji="1" lang="en-US" altLang="zh-CN" sz="2000" b="1" dirty="0">
                  <a:solidFill>
                    <a:srgbClr val="000066"/>
                  </a:solidFill>
                  <a:ea typeface="黑体" pitchFamily="2" charset="-122"/>
                  <a:sym typeface="Symbol" pitchFamily="18" charset="2"/>
                </a:rPr>
                <a:t>5</a:t>
              </a:r>
            </a:p>
          </p:txBody>
        </p:sp>
        <p:sp>
          <p:nvSpPr>
            <p:cNvPr id="1582092" name="Rectangle 12"/>
            <p:cNvSpPr>
              <a:spLocks noChangeArrowheads="1"/>
            </p:cNvSpPr>
            <p:nvPr/>
          </p:nvSpPr>
          <p:spPr bwMode="auto">
            <a:xfrm>
              <a:off x="1597028" y="2443163"/>
              <a:ext cx="6477000" cy="91440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82093" name="Text Box 13"/>
            <p:cNvSpPr txBox="1">
              <a:spLocks noChangeArrowheads="1"/>
            </p:cNvSpPr>
            <p:nvPr/>
          </p:nvSpPr>
          <p:spPr bwMode="auto">
            <a:xfrm>
              <a:off x="8054979" y="3105150"/>
              <a:ext cx="860422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</a:rPr>
                <a:t>透水</a:t>
              </a:r>
            </a:p>
          </p:txBody>
        </p:sp>
        <p:sp>
          <p:nvSpPr>
            <p:cNvPr id="1582094" name="Rectangle 14"/>
            <p:cNvSpPr>
              <a:spLocks noChangeArrowheads="1"/>
            </p:cNvSpPr>
            <p:nvPr/>
          </p:nvSpPr>
          <p:spPr bwMode="auto">
            <a:xfrm>
              <a:off x="8080378" y="2241550"/>
              <a:ext cx="92392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8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b="1" dirty="0">
                  <a:solidFill>
                    <a:srgbClr val="000066"/>
                  </a:solidFill>
                  <a:ea typeface="幼圆" pitchFamily="49" charset="-122"/>
                </a:rPr>
                <a:t>透水</a:t>
              </a:r>
            </a:p>
          </p:txBody>
        </p:sp>
        <p:sp>
          <p:nvSpPr>
            <p:cNvPr id="1582095" name="Rectangle 15" descr="窄横线"/>
            <p:cNvSpPr>
              <a:spLocks noChangeArrowheads="1"/>
            </p:cNvSpPr>
            <p:nvPr/>
          </p:nvSpPr>
          <p:spPr bwMode="auto">
            <a:xfrm>
              <a:off x="1825628" y="2451100"/>
              <a:ext cx="381000" cy="906463"/>
            </a:xfrm>
            <a:prstGeom prst="rect">
              <a:avLst/>
            </a:prstGeom>
            <a:pattFill prst="narHorz">
              <a:fgClr>
                <a:srgbClr val="C00000"/>
              </a:fgClr>
              <a:bgClr>
                <a:srgbClr val="99CC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82096" name="AutoShape 16" descr="窄横线"/>
            <p:cNvSpPr>
              <a:spLocks noChangeArrowheads="1"/>
            </p:cNvSpPr>
            <p:nvPr/>
          </p:nvSpPr>
          <p:spPr bwMode="auto">
            <a:xfrm>
              <a:off x="3082928" y="2447925"/>
              <a:ext cx="457200" cy="906463"/>
            </a:xfrm>
            <a:prstGeom prst="rtTriangle">
              <a:avLst/>
            </a:prstGeom>
            <a:pattFill prst="narHorz">
              <a:fgClr>
                <a:srgbClr val="C00000"/>
              </a:fgClr>
              <a:bgClr>
                <a:srgbClr val="99CC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82097" name="AutoShape 17" descr="窄横线"/>
            <p:cNvSpPr>
              <a:spLocks noChangeArrowheads="1"/>
            </p:cNvSpPr>
            <p:nvPr/>
          </p:nvSpPr>
          <p:spPr bwMode="auto">
            <a:xfrm flipV="1">
              <a:off x="4416428" y="2449513"/>
              <a:ext cx="457200" cy="906463"/>
            </a:xfrm>
            <a:prstGeom prst="rtTriangle">
              <a:avLst/>
            </a:prstGeom>
            <a:pattFill prst="narHorz">
              <a:fgClr>
                <a:srgbClr val="C00000"/>
              </a:fgClr>
              <a:bgClr>
                <a:srgbClr val="99CC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82098" name="Freeform 18" descr="窄横线"/>
            <p:cNvSpPr>
              <a:spLocks/>
            </p:cNvSpPr>
            <p:nvPr/>
          </p:nvSpPr>
          <p:spPr bwMode="auto">
            <a:xfrm>
              <a:off x="5745166" y="2449513"/>
              <a:ext cx="538163" cy="906463"/>
            </a:xfrm>
            <a:custGeom>
              <a:avLst/>
              <a:gdLst>
                <a:gd name="T0" fmla="*/ 1 w 339"/>
                <a:gd name="T1" fmla="*/ 0 h 578"/>
                <a:gd name="T2" fmla="*/ 0 w 339"/>
                <a:gd name="T3" fmla="*/ 577 h 578"/>
                <a:gd name="T4" fmla="*/ 339 w 339"/>
                <a:gd name="T5" fmla="*/ 578 h 578"/>
                <a:gd name="T6" fmla="*/ 151 w 339"/>
                <a:gd name="T7" fmla="*/ 0 h 578"/>
                <a:gd name="T8" fmla="*/ 1 w 339"/>
                <a:gd name="T9" fmla="*/ 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9" h="578">
                  <a:moveTo>
                    <a:pt x="1" y="0"/>
                  </a:moveTo>
                  <a:lnTo>
                    <a:pt x="0" y="577"/>
                  </a:lnTo>
                  <a:lnTo>
                    <a:pt x="339" y="578"/>
                  </a:lnTo>
                  <a:lnTo>
                    <a:pt x="151" y="0"/>
                  </a:lnTo>
                  <a:lnTo>
                    <a:pt x="1" y="0"/>
                  </a:lnTo>
                  <a:close/>
                </a:path>
              </a:pathLst>
            </a:custGeom>
            <a:pattFill prst="narHorz">
              <a:fgClr>
                <a:srgbClr val="C00000"/>
              </a:fgClr>
              <a:bgClr>
                <a:srgbClr val="99CCFF"/>
              </a:bgClr>
            </a:pattFill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2099" name="Freeform 19" descr="窄横线"/>
            <p:cNvSpPr>
              <a:spLocks/>
            </p:cNvSpPr>
            <p:nvPr/>
          </p:nvSpPr>
          <p:spPr bwMode="auto">
            <a:xfrm flipV="1">
              <a:off x="7162803" y="2452688"/>
              <a:ext cx="538163" cy="906463"/>
            </a:xfrm>
            <a:custGeom>
              <a:avLst/>
              <a:gdLst>
                <a:gd name="T0" fmla="*/ 1 w 339"/>
                <a:gd name="T1" fmla="*/ 0 h 578"/>
                <a:gd name="T2" fmla="*/ 0 w 339"/>
                <a:gd name="T3" fmla="*/ 577 h 578"/>
                <a:gd name="T4" fmla="*/ 339 w 339"/>
                <a:gd name="T5" fmla="*/ 578 h 578"/>
                <a:gd name="T6" fmla="*/ 151 w 339"/>
                <a:gd name="T7" fmla="*/ 0 h 578"/>
                <a:gd name="T8" fmla="*/ 1 w 339"/>
                <a:gd name="T9" fmla="*/ 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9" h="578">
                  <a:moveTo>
                    <a:pt x="1" y="0"/>
                  </a:moveTo>
                  <a:lnTo>
                    <a:pt x="0" y="577"/>
                  </a:lnTo>
                  <a:lnTo>
                    <a:pt x="339" y="578"/>
                  </a:lnTo>
                  <a:lnTo>
                    <a:pt x="151" y="0"/>
                  </a:lnTo>
                  <a:lnTo>
                    <a:pt x="1" y="0"/>
                  </a:lnTo>
                  <a:close/>
                </a:path>
              </a:pathLst>
            </a:custGeom>
            <a:pattFill prst="narHorz">
              <a:fgClr>
                <a:srgbClr val="C00000"/>
              </a:fgClr>
              <a:bgClr>
                <a:srgbClr val="99CCFF"/>
              </a:bgClr>
            </a:pattFill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" name="直接连接符 2"/>
            <p:cNvCxnSpPr/>
            <p:nvPr/>
          </p:nvCxnSpPr>
          <p:spPr bwMode="auto">
            <a:xfrm>
              <a:off x="1603376" y="2449513"/>
              <a:ext cx="6476400" cy="0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直接连接符 31"/>
            <p:cNvCxnSpPr/>
            <p:nvPr/>
          </p:nvCxnSpPr>
          <p:spPr bwMode="auto">
            <a:xfrm>
              <a:off x="1603376" y="3357563"/>
              <a:ext cx="6476400" cy="0"/>
            </a:xfrm>
            <a:prstGeom prst="lin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2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8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582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582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58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2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82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2086" grpId="0"/>
      <p:bldP spid="1582087" grpId="0" build="p"/>
      <p:bldP spid="1582112" grpId="0" build="p" autoUpdateAnimBg="0" advAuto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722" name="Text Box 154"/>
          <p:cNvSpPr txBox="1">
            <a:spLocks noChangeArrowheads="1"/>
          </p:cNvSpPr>
          <p:nvPr/>
        </p:nvSpPr>
        <p:spPr bwMode="auto">
          <a:xfrm>
            <a:off x="2066925" y="5626807"/>
            <a:ext cx="63912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有关沉降－时间的工程问题</a:t>
            </a:r>
          </a:p>
        </p:txBody>
      </p:sp>
      <p:sp>
        <p:nvSpPr>
          <p:cNvPr id="1389723" name="Text Box 155"/>
          <p:cNvSpPr txBox="1">
            <a:spLocks noChangeArrowheads="1"/>
          </p:cNvSpPr>
          <p:nvPr/>
        </p:nvSpPr>
        <p:spPr bwMode="auto">
          <a:xfrm>
            <a:off x="1597025" y="1778000"/>
            <a:ext cx="6265863" cy="247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25475" indent="-62547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80486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98425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求某一时刻</a:t>
            </a:r>
            <a:r>
              <a:rPr kumimoji="0" lang="en-US" altLang="zh-CN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t</a:t>
            </a:r>
            <a:r>
              <a:rPr kumimoji="0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的固结度与沉降量</a:t>
            </a:r>
          </a:p>
          <a:p>
            <a:pPr>
              <a:lnSpc>
                <a:spcPct val="125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求达到某一固结度所需要的时间</a:t>
            </a:r>
          </a:p>
          <a:p>
            <a:pPr>
              <a:lnSpc>
                <a:spcPct val="125000"/>
              </a:lnSpc>
              <a:spcBef>
                <a:spcPct val="15000"/>
              </a:spcBef>
              <a:spcAft>
                <a:spcPct val="15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sz="28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根据前一阶段测定的沉降－时间曲线，推算以后的沉降－时间关系</a:t>
            </a:r>
          </a:p>
        </p:txBody>
      </p:sp>
      <p:sp>
        <p:nvSpPr>
          <p:cNvPr id="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117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工程问题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1389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1000"/>
                                        <p:tgtEl>
                                          <p:spTgt spid="1389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1000"/>
                                        <p:tgtEl>
                                          <p:spTgt spid="1389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9723" grpId="0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107" name="Rectangle 3"/>
          <p:cNvSpPr>
            <a:spLocks noChangeArrowheads="1"/>
          </p:cNvSpPr>
          <p:nvPr/>
        </p:nvSpPr>
        <p:spPr bwMode="auto">
          <a:xfrm>
            <a:off x="508000" y="911225"/>
            <a:ext cx="290512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65125" indent="-36512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求某一</a:t>
            </a: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时刻 </a:t>
            </a:r>
            <a:r>
              <a:rPr lang="en-US" altLang="zh-CN" sz="2400" b="1" i="1" dirty="0" smtClean="0">
                <a:solidFill>
                  <a:srgbClr val="A50021"/>
                </a:solidFill>
                <a:ea typeface="幼圆" pitchFamily="49" charset="-122"/>
                <a:cs typeface="Times New Roman" panose="02020603050405020304" pitchFamily="18" charset="0"/>
              </a:rPr>
              <a:t>t </a:t>
            </a:r>
            <a:r>
              <a:rPr lang="zh-CN" altLang="en-US" sz="2400" b="1" dirty="0" smtClean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的</a:t>
            </a:r>
            <a:r>
              <a: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固结度与沉降量</a:t>
            </a:r>
          </a:p>
        </p:txBody>
      </p:sp>
      <p:sp>
        <p:nvSpPr>
          <p:cNvPr id="1583108" name="Rectangle 4"/>
          <p:cNvSpPr>
            <a:spLocks noChangeArrowheads="1"/>
          </p:cNvSpPr>
          <p:nvPr/>
        </p:nvSpPr>
        <p:spPr bwMode="auto">
          <a:xfrm>
            <a:off x="4083050" y="2030413"/>
            <a:ext cx="1920875" cy="5461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 err="1" smtClean="0">
                <a:solidFill>
                  <a:srgbClr val="000066"/>
                </a:solidFill>
              </a:rPr>
              <a:t>T</a:t>
            </a:r>
            <a:r>
              <a:rPr kumimoji="1" lang="en-US" altLang="zh-CN" sz="2800" b="1" baseline="-25000" dirty="0" err="1" smtClean="0">
                <a:solidFill>
                  <a:srgbClr val="000066"/>
                </a:solidFill>
              </a:rPr>
              <a:t>v</a:t>
            </a:r>
            <a:r>
              <a:rPr kumimoji="1" lang="en-US" altLang="zh-CN" sz="2800" b="1" dirty="0" smtClean="0">
                <a:solidFill>
                  <a:srgbClr val="000066"/>
                </a:solidFill>
              </a:rPr>
              <a:t>=</a:t>
            </a:r>
            <a:r>
              <a:rPr kumimoji="1" lang="en-US" altLang="zh-CN" sz="2800" b="1" i="1" dirty="0" err="1" smtClean="0">
                <a:solidFill>
                  <a:srgbClr val="000066"/>
                </a:solidFill>
              </a:rPr>
              <a:t>C</a:t>
            </a:r>
            <a:r>
              <a:rPr kumimoji="1" lang="en-US" altLang="zh-CN" sz="2800" b="1" baseline="-25000" dirty="0" err="1" smtClean="0">
                <a:solidFill>
                  <a:srgbClr val="000066"/>
                </a:solidFill>
              </a:rPr>
              <a:t>v</a:t>
            </a:r>
            <a:r>
              <a:rPr kumimoji="1" lang="en-US" altLang="zh-CN" sz="2800" b="1" i="1" baseline="-25000" dirty="0" smtClean="0">
                <a:solidFill>
                  <a:srgbClr val="000066"/>
                </a:solidFill>
              </a:rPr>
              <a:t> </a:t>
            </a:r>
            <a:r>
              <a:rPr kumimoji="1" lang="en-US" altLang="zh-CN" sz="2800" b="1" i="1" dirty="0" smtClean="0">
                <a:solidFill>
                  <a:srgbClr val="000066"/>
                </a:solidFill>
              </a:rPr>
              <a:t>t</a:t>
            </a:r>
            <a:r>
              <a:rPr kumimoji="1" lang="en-US" altLang="zh-CN" sz="2800" b="1" dirty="0" smtClean="0">
                <a:solidFill>
                  <a:srgbClr val="000066"/>
                </a:solidFill>
              </a:rPr>
              <a:t>/</a:t>
            </a:r>
            <a:r>
              <a:rPr kumimoji="1" lang="en-US" altLang="zh-CN" sz="2800" b="1" i="1" dirty="0" smtClean="0">
                <a:solidFill>
                  <a:srgbClr val="000066"/>
                </a:solidFill>
              </a:rPr>
              <a:t>H</a:t>
            </a:r>
            <a:r>
              <a:rPr kumimoji="1" lang="en-US" altLang="zh-CN" sz="2800" b="1" i="1" baseline="30000" dirty="0" smtClean="0">
                <a:solidFill>
                  <a:srgbClr val="000066"/>
                </a:solidFill>
              </a:rPr>
              <a:t>2</a:t>
            </a:r>
            <a:endParaRPr kumimoji="1" lang="en-US" altLang="zh-CN" sz="2800" b="1" i="1" baseline="30000" dirty="0">
              <a:solidFill>
                <a:srgbClr val="000066"/>
              </a:solidFill>
            </a:endParaRPr>
          </a:p>
        </p:txBody>
      </p:sp>
      <p:graphicFrame>
        <p:nvGraphicFramePr>
          <p:cNvPr id="15831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749968"/>
              </p:ext>
            </p:extLst>
          </p:nvPr>
        </p:nvGraphicFramePr>
        <p:xfrm>
          <a:off x="3971925" y="3149600"/>
          <a:ext cx="2184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3185" name="Equation" r:id="rId3" imgW="1091880" imgH="444240" progId="Equation.DSMT4">
                  <p:embed/>
                </p:oleObj>
              </mc:Choice>
              <mc:Fallback>
                <p:oleObj name="Equation" r:id="rId3" imgW="109188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925" y="3149600"/>
                        <a:ext cx="2184400" cy="8890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rgbClr val="00006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3110" name="AutoShape 6"/>
          <p:cNvSpPr>
            <a:spLocks noChangeArrowheads="1"/>
          </p:cNvSpPr>
          <p:nvPr/>
        </p:nvSpPr>
        <p:spPr bwMode="auto">
          <a:xfrm>
            <a:off x="4195763" y="4668838"/>
            <a:ext cx="1693862" cy="547687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 smtClean="0">
                <a:solidFill>
                  <a:srgbClr val="000066"/>
                </a:solidFill>
              </a:rPr>
              <a:t>S</a:t>
            </a:r>
            <a:r>
              <a:rPr kumimoji="1" lang="en-US" altLang="zh-CN" sz="2800" b="1" baseline="-25000" dirty="0" smtClean="0">
                <a:solidFill>
                  <a:srgbClr val="000066"/>
                </a:solidFill>
              </a:rPr>
              <a:t>t </a:t>
            </a:r>
            <a:r>
              <a:rPr kumimoji="1" lang="en-US" altLang="zh-CN" sz="2800" b="1" dirty="0" smtClean="0">
                <a:solidFill>
                  <a:srgbClr val="000066"/>
                </a:solidFill>
              </a:rPr>
              <a:t>= </a:t>
            </a:r>
            <a:r>
              <a:rPr kumimoji="1" lang="en-US" altLang="zh-CN" sz="2800" b="1" i="1" dirty="0" err="1" smtClean="0">
                <a:solidFill>
                  <a:srgbClr val="000066"/>
                </a:solidFill>
              </a:rPr>
              <a:t>U</a:t>
            </a:r>
            <a:r>
              <a:rPr kumimoji="1" lang="en-US" altLang="zh-CN" sz="2800" b="1" baseline="-25000" dirty="0" err="1" smtClean="0">
                <a:solidFill>
                  <a:srgbClr val="000066"/>
                </a:solidFill>
              </a:rPr>
              <a:t>t</a:t>
            </a:r>
            <a:r>
              <a:rPr kumimoji="1" lang="en-US" altLang="zh-CN" sz="2800" b="1" baseline="-25000" dirty="0" smtClean="0">
                <a:solidFill>
                  <a:srgbClr val="000066"/>
                </a:solidFill>
              </a:rPr>
              <a:t> </a:t>
            </a:r>
            <a:r>
              <a:rPr kumimoji="1" lang="en-US" altLang="zh-CN" sz="2800" b="1" i="1" dirty="0">
                <a:solidFill>
                  <a:srgbClr val="000066"/>
                </a:solidFill>
              </a:rPr>
              <a:t>S</a:t>
            </a:r>
            <a:r>
              <a:rPr kumimoji="1" lang="en-US" altLang="zh-CN" sz="2800" b="1" baseline="-25000" dirty="0">
                <a:solidFill>
                  <a:srgbClr val="000066"/>
                </a:solidFill>
                <a:sym typeface="Symbol" pitchFamily="18" charset="2"/>
              </a:rPr>
              <a:t></a:t>
            </a:r>
          </a:p>
        </p:txBody>
      </p:sp>
      <p:sp>
        <p:nvSpPr>
          <p:cNvPr id="1583111" name="Text Box 7"/>
          <p:cNvSpPr txBox="1">
            <a:spLocks noChangeArrowheads="1"/>
          </p:cNvSpPr>
          <p:nvPr/>
        </p:nvSpPr>
        <p:spPr bwMode="auto">
          <a:xfrm>
            <a:off x="1990725" y="5668963"/>
            <a:ext cx="6375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有关沉降－时间的工程问题</a:t>
            </a:r>
          </a:p>
        </p:txBody>
      </p:sp>
      <p:sp>
        <p:nvSpPr>
          <p:cNvPr id="1583112" name="Rectangle 8"/>
          <p:cNvSpPr>
            <a:spLocks noChangeArrowheads="1"/>
          </p:cNvSpPr>
          <p:nvPr/>
        </p:nvSpPr>
        <p:spPr bwMode="auto">
          <a:xfrm>
            <a:off x="4500563" y="1022350"/>
            <a:ext cx="1084262" cy="423863"/>
          </a:xfrm>
          <a:prstGeom prst="rect">
            <a:avLst/>
          </a:prstGeom>
          <a:solidFill>
            <a:srgbClr val="FFFFCC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>
                <a:solidFill>
                  <a:srgbClr val="000066"/>
                </a:solidFill>
              </a:rPr>
              <a:t>t</a:t>
            </a:r>
            <a:endParaRPr kumimoji="1" lang="en-US" altLang="zh-CN" sz="2800" b="1" i="1" baseline="30000" dirty="0">
              <a:solidFill>
                <a:srgbClr val="000066"/>
              </a:solidFill>
            </a:endParaRPr>
          </a:p>
        </p:txBody>
      </p:sp>
      <p:sp>
        <p:nvSpPr>
          <p:cNvPr id="1583113" name="AutoShape 9"/>
          <p:cNvSpPr>
            <a:spLocks noChangeArrowheads="1"/>
          </p:cNvSpPr>
          <p:nvPr/>
        </p:nvSpPr>
        <p:spPr bwMode="auto">
          <a:xfrm rot="5400000">
            <a:off x="4883944" y="1510507"/>
            <a:ext cx="319087" cy="488950"/>
          </a:xfrm>
          <a:prstGeom prst="rightArrow">
            <a:avLst>
              <a:gd name="adj1" fmla="val 40259"/>
              <a:gd name="adj2" fmla="val 57713"/>
            </a:avLst>
          </a:prstGeom>
          <a:solidFill>
            <a:srgbClr val="FFFFCC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3114" name="AutoShape 10"/>
          <p:cNvSpPr>
            <a:spLocks noChangeArrowheads="1"/>
          </p:cNvSpPr>
          <p:nvPr/>
        </p:nvSpPr>
        <p:spPr bwMode="auto">
          <a:xfrm rot="5400000">
            <a:off x="4883944" y="2636044"/>
            <a:ext cx="319088" cy="488950"/>
          </a:xfrm>
          <a:prstGeom prst="rightArrow">
            <a:avLst>
              <a:gd name="adj1" fmla="val 40259"/>
              <a:gd name="adj2" fmla="val 57713"/>
            </a:avLst>
          </a:prstGeom>
          <a:solidFill>
            <a:srgbClr val="FFFFCC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3115" name="AutoShape 11"/>
          <p:cNvSpPr>
            <a:spLocks noChangeArrowheads="1"/>
          </p:cNvSpPr>
          <p:nvPr/>
        </p:nvSpPr>
        <p:spPr bwMode="auto">
          <a:xfrm rot="5400000">
            <a:off x="4883944" y="4110832"/>
            <a:ext cx="319087" cy="488950"/>
          </a:xfrm>
          <a:prstGeom prst="rightArrow">
            <a:avLst>
              <a:gd name="adj1" fmla="val 40259"/>
              <a:gd name="adj2" fmla="val 57713"/>
            </a:avLst>
          </a:prstGeom>
          <a:solidFill>
            <a:srgbClr val="FFFFCC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118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工程问题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1000"/>
                                        <p:tgtEl>
                                          <p:spTgt spid="158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1000"/>
                                        <p:tgtEl>
                                          <p:spTgt spid="158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1000"/>
                                        <p:tgtEl>
                                          <p:spTgt spid="158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1000"/>
                                        <p:tgtEl>
                                          <p:spTgt spid="158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1000"/>
                                        <p:tgtEl>
                                          <p:spTgt spid="158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1000"/>
                                        <p:tgtEl>
                                          <p:spTgt spid="158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1000"/>
                                        <p:tgtEl>
                                          <p:spTgt spid="158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3107" grpId="0"/>
      <p:bldP spid="1583108" grpId="0" animBg="1"/>
      <p:bldP spid="1583110" grpId="0" animBg="1"/>
      <p:bldP spid="1583112" grpId="0" animBg="1"/>
      <p:bldP spid="1583113" grpId="0" animBg="1"/>
      <p:bldP spid="1583114" grpId="0" animBg="1"/>
      <p:bldP spid="1583115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131" name="Rectangle 3"/>
          <p:cNvSpPr>
            <a:spLocks noChangeArrowheads="1"/>
          </p:cNvSpPr>
          <p:nvPr/>
        </p:nvSpPr>
        <p:spPr bwMode="auto">
          <a:xfrm>
            <a:off x="522288" y="887413"/>
            <a:ext cx="66675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41325" indent="-441325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求达到某一沉降量</a:t>
            </a:r>
            <a:r>
              <a:rPr lang="en-US" altLang="zh-CN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(</a:t>
            </a:r>
            <a:r>
              <a: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固结度</a:t>
            </a:r>
            <a:r>
              <a:rPr lang="en-US" altLang="zh-CN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)</a:t>
            </a:r>
            <a:r>
              <a:rPr lang="zh-CN" altLang="en-US" sz="2400" b="1" dirty="0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所需要的时间</a:t>
            </a:r>
          </a:p>
        </p:txBody>
      </p:sp>
      <p:sp>
        <p:nvSpPr>
          <p:cNvPr id="1584132" name="AutoShape 4"/>
          <p:cNvSpPr>
            <a:spLocks noChangeArrowheads="1"/>
          </p:cNvSpPr>
          <p:nvPr/>
        </p:nvSpPr>
        <p:spPr bwMode="auto">
          <a:xfrm>
            <a:off x="3521075" y="1749545"/>
            <a:ext cx="2070100" cy="6858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19050">
            <a:solidFill>
              <a:srgbClr val="0000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 dirty="0" err="1" smtClean="0">
                <a:solidFill>
                  <a:srgbClr val="000066"/>
                </a:solidFill>
              </a:rPr>
              <a:t>U</a:t>
            </a:r>
            <a:r>
              <a:rPr kumimoji="1" lang="en-US" altLang="zh-CN" sz="2800" b="1" baseline="-25000" dirty="0" err="1" smtClean="0">
                <a:solidFill>
                  <a:srgbClr val="000066"/>
                </a:solidFill>
              </a:rPr>
              <a:t>t</a:t>
            </a:r>
            <a:r>
              <a:rPr kumimoji="1" lang="en-US" altLang="zh-CN" sz="2800" b="1" i="1" baseline="-25000" dirty="0" smtClean="0">
                <a:solidFill>
                  <a:srgbClr val="000066"/>
                </a:solidFill>
              </a:rPr>
              <a:t> </a:t>
            </a:r>
            <a:r>
              <a:rPr kumimoji="1" lang="en-US" altLang="zh-CN" sz="2800" b="1" dirty="0" smtClean="0">
                <a:solidFill>
                  <a:srgbClr val="000066"/>
                </a:solidFill>
              </a:rPr>
              <a:t>= </a:t>
            </a:r>
            <a:r>
              <a:rPr kumimoji="1" lang="en-US" altLang="zh-CN" sz="2800" b="1" i="1" dirty="0">
                <a:solidFill>
                  <a:srgbClr val="000066"/>
                </a:solidFill>
              </a:rPr>
              <a:t>S</a:t>
            </a:r>
            <a:r>
              <a:rPr kumimoji="1" lang="en-US" altLang="zh-CN" sz="2800" b="1" baseline="-25000" dirty="0">
                <a:solidFill>
                  <a:srgbClr val="000066"/>
                </a:solidFill>
              </a:rPr>
              <a:t>t</a:t>
            </a:r>
            <a:r>
              <a:rPr kumimoji="1" lang="en-US" altLang="zh-CN" sz="2800" b="1" dirty="0">
                <a:solidFill>
                  <a:srgbClr val="000066"/>
                </a:solidFill>
              </a:rPr>
              <a:t> /</a:t>
            </a:r>
            <a:r>
              <a:rPr kumimoji="1" lang="en-US" altLang="zh-CN" sz="2800" b="1" i="1" dirty="0">
                <a:solidFill>
                  <a:srgbClr val="000066"/>
                </a:solidFill>
              </a:rPr>
              <a:t>S</a:t>
            </a:r>
            <a:r>
              <a:rPr kumimoji="1" lang="en-US" altLang="zh-CN" sz="2800" b="1" baseline="-25000" dirty="0">
                <a:solidFill>
                  <a:srgbClr val="000066"/>
                </a:solidFill>
                <a:sym typeface="Symbol" pitchFamily="18" charset="2"/>
              </a:rPr>
              <a:t></a:t>
            </a:r>
          </a:p>
        </p:txBody>
      </p:sp>
      <p:sp>
        <p:nvSpPr>
          <p:cNvPr id="1584133" name="Rectangle 5"/>
          <p:cNvSpPr>
            <a:spLocks noChangeArrowheads="1"/>
          </p:cNvSpPr>
          <p:nvPr/>
        </p:nvSpPr>
        <p:spPr bwMode="auto">
          <a:xfrm>
            <a:off x="2460625" y="3127495"/>
            <a:ext cx="4191000" cy="6858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从 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U</a:t>
            </a:r>
            <a:r>
              <a:rPr kumimoji="1" lang="en-US" altLang="zh-CN" sz="2400" b="1" baseline="-25000" dirty="0" err="1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</a:rPr>
              <a:t>查表（计算）确定 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</a:rPr>
              <a:t>T</a:t>
            </a:r>
            <a:r>
              <a:rPr kumimoji="1" lang="en-US" altLang="zh-CN" sz="2400" b="1" baseline="-25000" dirty="0" err="1">
                <a:solidFill>
                  <a:srgbClr val="000066"/>
                </a:solidFill>
                <a:ea typeface="幼圆" pitchFamily="49" charset="-122"/>
              </a:rPr>
              <a:t>v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</a:rPr>
              <a:t> </a:t>
            </a:r>
          </a:p>
        </p:txBody>
      </p:sp>
      <p:graphicFrame>
        <p:nvGraphicFramePr>
          <p:cNvPr id="1584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477337"/>
              </p:ext>
            </p:extLst>
          </p:nvPr>
        </p:nvGraphicFramePr>
        <p:xfrm>
          <a:off x="3727450" y="4514850"/>
          <a:ext cx="1655763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4207" name="Equation" r:id="rId3" imgW="660240" imgH="431640" progId="Equation.DSMT4">
                  <p:embed/>
                </p:oleObj>
              </mc:Choice>
              <mc:Fallback>
                <p:oleObj name="Equation" r:id="rId3" imgW="660240" imgH="431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4514850"/>
                        <a:ext cx="1655763" cy="88106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rgbClr val="00006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4135" name="Text Box 7"/>
          <p:cNvSpPr txBox="1">
            <a:spLocks noChangeArrowheads="1"/>
          </p:cNvSpPr>
          <p:nvPr/>
        </p:nvSpPr>
        <p:spPr bwMode="auto">
          <a:xfrm>
            <a:off x="1990725" y="5792788"/>
            <a:ext cx="64055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有关沉降－时间的工程问题</a:t>
            </a:r>
          </a:p>
        </p:txBody>
      </p:sp>
      <p:sp>
        <p:nvSpPr>
          <p:cNvPr id="1584136" name="AutoShape 8"/>
          <p:cNvSpPr>
            <a:spLocks noChangeArrowheads="1"/>
          </p:cNvSpPr>
          <p:nvPr/>
        </p:nvSpPr>
        <p:spPr bwMode="auto">
          <a:xfrm rot="5400000">
            <a:off x="4353719" y="2428201"/>
            <a:ext cx="395288" cy="701675"/>
          </a:xfrm>
          <a:prstGeom prst="rightArrow">
            <a:avLst>
              <a:gd name="adj1" fmla="val 40259"/>
              <a:gd name="adj2" fmla="val 57713"/>
            </a:avLst>
          </a:prstGeom>
          <a:solidFill>
            <a:srgbClr val="FF9933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4137" name="AutoShape 9"/>
          <p:cNvSpPr>
            <a:spLocks noChangeArrowheads="1"/>
          </p:cNvSpPr>
          <p:nvPr/>
        </p:nvSpPr>
        <p:spPr bwMode="auto">
          <a:xfrm rot="5400000">
            <a:off x="4358482" y="3831551"/>
            <a:ext cx="395288" cy="701675"/>
          </a:xfrm>
          <a:prstGeom prst="rightArrow">
            <a:avLst>
              <a:gd name="adj1" fmla="val 40259"/>
              <a:gd name="adj2" fmla="val 57713"/>
            </a:avLst>
          </a:prstGeom>
          <a:solidFill>
            <a:srgbClr val="FF9933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119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工程问题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1000"/>
                                        <p:tgtEl>
                                          <p:spTgt spid="158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1000"/>
                                        <p:tgtEl>
                                          <p:spTgt spid="158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1000"/>
                                        <p:tgtEl>
                                          <p:spTgt spid="158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1000"/>
                                        <p:tgtEl>
                                          <p:spTgt spid="158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1000"/>
                                        <p:tgtEl>
                                          <p:spTgt spid="158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4131" grpId="0"/>
      <p:bldP spid="1584132" grpId="0" animBg="1" autoUpdateAnimBg="0"/>
      <p:bldP spid="1584133" grpId="0" animBg="1"/>
      <p:bldP spid="1584136" grpId="0" animBg="1"/>
      <p:bldP spid="1584137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155" name="Rectangle 3"/>
          <p:cNvSpPr>
            <a:spLocks noChangeArrowheads="1"/>
          </p:cNvSpPr>
          <p:nvPr/>
        </p:nvSpPr>
        <p:spPr bwMode="auto">
          <a:xfrm>
            <a:off x="441325" y="869950"/>
            <a:ext cx="5303838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41325" indent="-441325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</a:rPr>
              <a:t>根据前一阶段测定的沉降－时间曲线，推算以后的沉降－时间关系</a:t>
            </a:r>
          </a:p>
        </p:txBody>
      </p:sp>
      <p:graphicFrame>
        <p:nvGraphicFramePr>
          <p:cNvPr id="15851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019792"/>
              </p:ext>
            </p:extLst>
          </p:nvPr>
        </p:nvGraphicFramePr>
        <p:xfrm>
          <a:off x="1790700" y="3690938"/>
          <a:ext cx="18367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5235" name="Equation" r:id="rId3" imgW="761760" imgH="228600" progId="Equation.DSMT4">
                  <p:embed/>
                </p:oleObj>
              </mc:Choice>
              <mc:Fallback>
                <p:oleObj name="Equation" r:id="rId3" imgW="761760" imgH="228600" progId="Equation.DSMT4">
                  <p:embed/>
                  <p:pic>
                    <p:nvPicPr>
                      <p:cNvPr id="0" name="Object 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3690938"/>
                        <a:ext cx="1836738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5157" name="Text Box 5"/>
          <p:cNvSpPr txBox="1">
            <a:spLocks noChangeArrowheads="1"/>
          </p:cNvSpPr>
          <p:nvPr/>
        </p:nvSpPr>
        <p:spPr bwMode="auto">
          <a:xfrm>
            <a:off x="1990725" y="5792788"/>
            <a:ext cx="6299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有关沉降－时间的工程问题</a:t>
            </a:r>
          </a:p>
        </p:txBody>
      </p:sp>
      <p:sp>
        <p:nvSpPr>
          <p:cNvPr id="1585158" name="Rectangle 6"/>
          <p:cNvSpPr>
            <a:spLocks noChangeArrowheads="1"/>
          </p:cNvSpPr>
          <p:nvPr/>
        </p:nvSpPr>
        <p:spPr bwMode="auto">
          <a:xfrm>
            <a:off x="790575" y="2466975"/>
            <a:ext cx="385603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41325" indent="-441325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400" b="1">
                <a:solidFill>
                  <a:srgbClr val="000066"/>
                </a:solidFill>
                <a:ea typeface="幼圆" pitchFamily="49" charset="-122"/>
              </a:rPr>
              <a:t>对于各种初始应力分布，固结度均可写成：</a:t>
            </a:r>
          </a:p>
        </p:txBody>
      </p:sp>
      <p:grpSp>
        <p:nvGrpSpPr>
          <p:cNvPr id="1585160" name="Group 8"/>
          <p:cNvGrpSpPr>
            <a:grpSpLocks/>
          </p:cNvGrpSpPr>
          <p:nvPr/>
        </p:nvGrpSpPr>
        <p:grpSpPr bwMode="auto">
          <a:xfrm>
            <a:off x="5969000" y="1518771"/>
            <a:ext cx="2190750" cy="3697287"/>
            <a:chOff x="3868" y="1071"/>
            <a:chExt cx="1380" cy="2329"/>
          </a:xfrm>
        </p:grpSpPr>
        <p:sp>
          <p:nvSpPr>
            <p:cNvPr id="1585161" name="AutoShape 9"/>
            <p:cNvSpPr>
              <a:spLocks noChangeArrowheads="1"/>
            </p:cNvSpPr>
            <p:nvPr/>
          </p:nvSpPr>
          <p:spPr bwMode="auto">
            <a:xfrm>
              <a:off x="4154" y="1071"/>
              <a:ext cx="908" cy="82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已知：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－</a:t>
              </a: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1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2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－</a:t>
              </a: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85162" name="Rectangle 10"/>
            <p:cNvSpPr>
              <a:spLocks noChangeArrowheads="1"/>
            </p:cNvSpPr>
            <p:nvPr/>
          </p:nvSpPr>
          <p:spPr bwMode="auto">
            <a:xfrm>
              <a:off x="3868" y="2362"/>
              <a:ext cx="1380" cy="2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公式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计算</a:t>
              </a:r>
              <a:r>
                <a:rPr kumimoji="1"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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，</a:t>
              </a:r>
              <a:r>
                <a:rPr kumimoji="1" lang="zh-CN" altLang="en-US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  <a:sym typeface="Symbol" pitchFamily="18" charset="2"/>
                </a:rPr>
                <a:t></a:t>
              </a:r>
              <a:endPara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85163" name="AutoShape 11"/>
            <p:cNvSpPr>
              <a:spLocks noChangeArrowheads="1"/>
            </p:cNvSpPr>
            <p:nvPr/>
          </p:nvSpPr>
          <p:spPr bwMode="auto">
            <a:xfrm>
              <a:off x="3956" y="3081"/>
              <a:ext cx="1192" cy="31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rgbClr val="00006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计算</a:t>
              </a: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t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3</a:t>
              </a:r>
              <a:r>
                <a:rPr kumimoji="1" lang="zh-CN" altLang="en-US" sz="2400" b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－</a:t>
              </a:r>
              <a:r>
                <a:rPr kumimoji="1" lang="en-US" altLang="zh-CN" sz="2400" b="1" i="1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ea typeface="幼圆" pitchFamily="49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85164" name="AutoShape 12"/>
            <p:cNvSpPr>
              <a:spLocks noChangeArrowheads="1"/>
            </p:cNvSpPr>
            <p:nvPr/>
          </p:nvSpPr>
          <p:spPr bwMode="auto">
            <a:xfrm rot="5400000">
              <a:off x="4483" y="1912"/>
              <a:ext cx="249" cy="442"/>
            </a:xfrm>
            <a:prstGeom prst="rightArrow">
              <a:avLst>
                <a:gd name="adj1" fmla="val 40259"/>
                <a:gd name="adj2" fmla="val 57713"/>
              </a:avLst>
            </a:prstGeom>
            <a:solidFill>
              <a:schemeClr val="accent2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585165" name="AutoShape 13"/>
            <p:cNvSpPr>
              <a:spLocks noChangeArrowheads="1"/>
            </p:cNvSpPr>
            <p:nvPr/>
          </p:nvSpPr>
          <p:spPr bwMode="auto">
            <a:xfrm rot="5400000">
              <a:off x="4483" y="2652"/>
              <a:ext cx="249" cy="442"/>
            </a:xfrm>
            <a:prstGeom prst="rightArrow">
              <a:avLst>
                <a:gd name="adj1" fmla="val 40278"/>
                <a:gd name="adj2" fmla="val 57833"/>
              </a:avLst>
            </a:prstGeom>
            <a:solidFill>
              <a:schemeClr val="accent2"/>
            </a:solidFill>
            <a:ln w="9525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120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工程问题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158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8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8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85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85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8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5155" grpId="0"/>
      <p:bldP spid="1585158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179" name="Rectangle 3"/>
          <p:cNvSpPr>
            <a:spLocks noChangeArrowheads="1"/>
          </p:cNvSpPr>
          <p:nvPr/>
        </p:nvSpPr>
        <p:spPr bwMode="auto">
          <a:xfrm>
            <a:off x="2759075" y="5799138"/>
            <a:ext cx="45561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Arial Black" pitchFamily="34" charset="0"/>
                <a:ea typeface="黑体" pitchFamily="2" charset="-122"/>
                <a:sym typeface="Symbol" pitchFamily="18" charset="2"/>
              </a:rPr>
              <a:t>固结系数确定方法</a:t>
            </a:r>
          </a:p>
        </p:txBody>
      </p:sp>
      <p:sp>
        <p:nvSpPr>
          <p:cNvPr id="1586180" name="Rectangle 4"/>
          <p:cNvSpPr>
            <a:spLocks noChangeArrowheads="1"/>
          </p:cNvSpPr>
          <p:nvPr/>
        </p:nvSpPr>
        <p:spPr bwMode="auto">
          <a:xfrm>
            <a:off x="1298575" y="1919288"/>
            <a:ext cx="6599238" cy="980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625475" indent="-625475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固结系数 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为反映固结速度的指标, 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越大，固结越快，确定方法有四种：</a:t>
            </a:r>
          </a:p>
        </p:txBody>
      </p:sp>
      <p:sp>
        <p:nvSpPr>
          <p:cNvPr id="1586181" name="Rectangle 5"/>
          <p:cNvSpPr>
            <a:spLocks noChangeArrowheads="1"/>
          </p:cNvSpPr>
          <p:nvPr/>
        </p:nvSpPr>
        <p:spPr bwMode="auto">
          <a:xfrm>
            <a:off x="3105150" y="3221038"/>
            <a:ext cx="3870325" cy="195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8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2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直接计算法</a:t>
            </a:r>
          </a:p>
          <a:p>
            <a:pPr>
              <a:lnSpc>
                <a:spcPct val="12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直接测量法</a:t>
            </a:r>
          </a:p>
          <a:p>
            <a:pPr>
              <a:lnSpc>
                <a:spcPct val="12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时间平方根法—经验方法</a:t>
            </a:r>
          </a:p>
          <a:p>
            <a:pPr>
              <a:lnSpc>
                <a:spcPct val="120000"/>
              </a:lnSpc>
              <a:spcBef>
                <a:spcPct val="5000"/>
              </a:spcBef>
              <a:spcAft>
                <a:spcPct val="5000"/>
              </a:spcAft>
              <a:buClr>
                <a:srgbClr val="A50021"/>
              </a:buClr>
              <a:buFontTx/>
              <a:buChar char="•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  时间对数法—经验方法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sym typeface="Symbol" pitchFamily="18" charset="2"/>
            </a:endParaRPr>
          </a:p>
        </p:txBody>
      </p:sp>
      <p:graphicFrame>
        <p:nvGraphicFramePr>
          <p:cNvPr id="1586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432754"/>
              </p:ext>
            </p:extLst>
          </p:nvPr>
        </p:nvGraphicFramePr>
        <p:xfrm>
          <a:off x="2619375" y="849313"/>
          <a:ext cx="1651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6254" name="Equation" r:id="rId3" imgW="825480" imgH="419040" progId="Equation.DSMT4">
                  <p:embed/>
                </p:oleObj>
              </mc:Choice>
              <mc:Fallback>
                <p:oleObj name="Equation" r:id="rId3" imgW="825480" imgH="419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375" y="849313"/>
                        <a:ext cx="1651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6183" name="Text Box 7"/>
          <p:cNvSpPr txBox="1">
            <a:spLocks noChangeArrowheads="1"/>
          </p:cNvSpPr>
          <p:nvPr/>
        </p:nvSpPr>
        <p:spPr bwMode="auto">
          <a:xfrm>
            <a:off x="557213" y="1054100"/>
            <a:ext cx="2111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zh-CN" altLang="en-US" sz="2400" b="1">
                <a:solidFill>
                  <a:srgbClr val="A50021"/>
                </a:solidFill>
                <a:ea typeface="幼圆" pitchFamily="49" charset="-122"/>
              </a:rPr>
              <a:t> 固结方程：</a:t>
            </a:r>
            <a:endParaRPr lang="en-US" altLang="zh-CN" sz="2400" b="1">
              <a:solidFill>
                <a:srgbClr val="A50021"/>
              </a:solidFill>
              <a:ea typeface="幼圆" pitchFamily="49" charset="-122"/>
            </a:endParaRPr>
          </a:p>
        </p:txBody>
      </p:sp>
      <p:sp>
        <p:nvSpPr>
          <p:cNvPr id="1586184" name="AutoShape 8"/>
          <p:cNvSpPr>
            <a:spLocks noChangeArrowheads="1"/>
          </p:cNvSpPr>
          <p:nvPr/>
        </p:nvSpPr>
        <p:spPr bwMode="auto">
          <a:xfrm>
            <a:off x="2028825" y="3370263"/>
            <a:ext cx="681038" cy="517525"/>
          </a:xfrm>
          <a:prstGeom prst="homePlate">
            <a:avLst>
              <a:gd name="adj" fmla="val 32899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121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固结系数确定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6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586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58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1000"/>
                                        <p:tgtEl>
                                          <p:spTgt spid="1586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1586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1000"/>
                                        <p:tgtEl>
                                          <p:spTgt spid="1586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1000"/>
                                        <p:tgtEl>
                                          <p:spTgt spid="15861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6180" grpId="0" build="p" autoUpdateAnimBg="0"/>
      <p:bldP spid="1586181" grpId="0" build="p"/>
      <p:bldP spid="1586183" grpId="0"/>
      <p:bldP spid="1586184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466" name="Rectangle 2"/>
          <p:cNvSpPr>
            <a:spLocks noChangeArrowheads="1"/>
          </p:cNvSpPr>
          <p:nvPr/>
        </p:nvSpPr>
        <p:spPr bwMode="auto">
          <a:xfrm>
            <a:off x="3322638" y="5708650"/>
            <a:ext cx="31400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Arial Black" pitchFamily="34" charset="0"/>
                <a:ea typeface="黑体" pitchFamily="2" charset="-122"/>
                <a:sym typeface="Symbol" pitchFamily="18" charset="2"/>
              </a:rPr>
              <a:t>直接计算法</a:t>
            </a:r>
          </a:p>
        </p:txBody>
      </p:sp>
      <p:sp>
        <p:nvSpPr>
          <p:cNvPr id="1598468" name="Rectangle 4"/>
          <p:cNvSpPr>
            <a:spLocks noChangeArrowheads="1"/>
          </p:cNvSpPr>
          <p:nvPr/>
        </p:nvSpPr>
        <p:spPr bwMode="auto">
          <a:xfrm>
            <a:off x="2209800" y="3008313"/>
            <a:ext cx="5365750" cy="1516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FF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533400" indent="-5334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k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与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均是变化的</a:t>
            </a:r>
          </a:p>
          <a:p>
            <a:pPr marL="533400" indent="-5334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C</a:t>
            </a:r>
            <a:r>
              <a:rPr kumimoji="1" lang="en-US" altLang="zh-CN" sz="24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在较大的应力范围内接近常数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  <a:p>
            <a:pPr marL="533400" indent="-533400"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精度较低</a:t>
            </a:r>
          </a:p>
        </p:txBody>
      </p:sp>
      <p:sp>
        <p:nvSpPr>
          <p:cNvPr id="1598470" name="Rectangle 6"/>
          <p:cNvSpPr>
            <a:spLocks noChangeArrowheads="1"/>
          </p:cNvSpPr>
          <p:nvPr/>
        </p:nvSpPr>
        <p:spPr bwMode="auto">
          <a:xfrm>
            <a:off x="1623385" y="1361883"/>
            <a:ext cx="3105778" cy="1064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压缩试验</a:t>
            </a:r>
            <a:r>
              <a:rPr kumimoji="1" lang="zh-CN" altLang="en-US" sz="28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 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</a:p>
          <a:p>
            <a:pPr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渗透试验</a:t>
            </a:r>
            <a:r>
              <a:rPr kumimoji="1" lang="zh-CN" altLang="en-US" sz="28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 </a:t>
            </a:r>
            <a:r>
              <a:rPr kumimoji="1" lang="en-US" altLang="zh-CN" sz="28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k</a:t>
            </a:r>
          </a:p>
        </p:txBody>
      </p:sp>
      <p:graphicFrame>
        <p:nvGraphicFramePr>
          <p:cNvPr id="15984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968883"/>
              </p:ext>
            </p:extLst>
          </p:nvPr>
        </p:nvGraphicFramePr>
        <p:xfrm>
          <a:off x="5567363" y="1506538"/>
          <a:ext cx="21066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549" name="Equation" r:id="rId3" imgW="888840" imgH="444240" progId="Equation.DSMT4">
                  <p:embed/>
                </p:oleObj>
              </mc:Choice>
              <mc:Fallback>
                <p:oleObj name="Equation" r:id="rId3" imgW="888840" imgH="4442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363" y="1506538"/>
                        <a:ext cx="210661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8479" name="AutoShape 15"/>
          <p:cNvSpPr>
            <a:spLocks noChangeArrowheads="1"/>
          </p:cNvSpPr>
          <p:nvPr/>
        </p:nvSpPr>
        <p:spPr bwMode="auto">
          <a:xfrm>
            <a:off x="4748212" y="1712913"/>
            <a:ext cx="473075" cy="457200"/>
          </a:xfrm>
          <a:prstGeom prst="homePlate">
            <a:avLst>
              <a:gd name="adj" fmla="val 25868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固结系数确定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9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122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9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1000"/>
                                        <p:tgtEl>
                                          <p:spTgt spid="159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159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98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98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98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8468" grpId="0" build="p"/>
      <p:bldP spid="1598470" grpId="0"/>
      <p:bldP spid="1598479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03" name="Rectangle 3"/>
          <p:cNvSpPr>
            <a:spLocks noChangeArrowheads="1"/>
          </p:cNvSpPr>
          <p:nvPr/>
        </p:nvSpPr>
        <p:spPr bwMode="auto">
          <a:xfrm>
            <a:off x="3368675" y="5738813"/>
            <a:ext cx="3200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Arial Black" pitchFamily="34" charset="0"/>
                <a:ea typeface="黑体" pitchFamily="2" charset="-122"/>
                <a:sym typeface="Symbol" pitchFamily="18" charset="2"/>
              </a:rPr>
              <a:t>直接测量法</a:t>
            </a:r>
          </a:p>
        </p:txBody>
      </p:sp>
      <p:sp>
        <p:nvSpPr>
          <p:cNvPr id="1587210" name="Rectangle 10"/>
          <p:cNvSpPr>
            <a:spLocks noChangeArrowheads="1"/>
          </p:cNvSpPr>
          <p:nvPr/>
        </p:nvSpPr>
        <p:spPr bwMode="auto">
          <a:xfrm>
            <a:off x="885825" y="1082675"/>
            <a:ext cx="443230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压缩试验 </a:t>
            </a:r>
            <a:r>
              <a:rPr kumimoji="1" lang="zh-CN" altLang="en-US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 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kumimoji="1" lang="en-US" altLang="zh-CN" sz="28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</a:p>
        </p:txBody>
      </p:sp>
      <p:sp>
        <p:nvSpPr>
          <p:cNvPr id="1587211" name="Rectangle 11"/>
          <p:cNvSpPr>
            <a:spLocks noChangeArrowheads="1"/>
          </p:cNvSpPr>
          <p:nvPr/>
        </p:nvSpPr>
        <p:spPr bwMode="auto">
          <a:xfrm>
            <a:off x="901700" y="1760538"/>
            <a:ext cx="477361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1" lang="zh-CN" altLang="en-US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因为 </a:t>
            </a:r>
            <a:r>
              <a:rPr kumimoji="1" lang="en-US" altLang="zh-CN" sz="28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U</a:t>
            </a:r>
            <a:r>
              <a:rPr kumimoji="1" lang="en-US" altLang="zh-CN" sz="28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=90% </a:t>
            </a:r>
            <a:r>
              <a:rPr kumimoji="1" lang="en-US" altLang="zh-CN" sz="28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  </a:t>
            </a:r>
            <a:r>
              <a:rPr kumimoji="1" lang="en-US" altLang="zh-CN" sz="28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en-US" altLang="zh-CN" sz="28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v</a:t>
            </a:r>
            <a:r>
              <a:rPr kumimoji="1" lang="en-US" altLang="zh-CN" sz="28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=0.848</a:t>
            </a:r>
          </a:p>
        </p:txBody>
      </p:sp>
      <p:graphicFrame>
        <p:nvGraphicFramePr>
          <p:cNvPr id="15872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902270"/>
              </p:ext>
            </p:extLst>
          </p:nvPr>
        </p:nvGraphicFramePr>
        <p:xfrm>
          <a:off x="2624138" y="2836863"/>
          <a:ext cx="22907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286" name="Equation" r:id="rId3" imgW="1041120" imgH="228600" progId="Equation.DSMT4">
                  <p:embed/>
                </p:oleObj>
              </mc:Choice>
              <mc:Fallback>
                <p:oleObj name="Equation" r:id="rId3" imgW="104112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2836863"/>
                        <a:ext cx="22907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13" name="AutoShape 13"/>
          <p:cNvSpPr>
            <a:spLocks noChangeArrowheads="1"/>
          </p:cNvSpPr>
          <p:nvPr/>
        </p:nvSpPr>
        <p:spPr bwMode="auto">
          <a:xfrm>
            <a:off x="1706563" y="2824163"/>
            <a:ext cx="473075" cy="457200"/>
          </a:xfrm>
          <a:prstGeom prst="homePlate">
            <a:avLst>
              <a:gd name="adj" fmla="val 25868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587214" name="Text Box 14"/>
          <p:cNvSpPr txBox="1">
            <a:spLocks noChangeArrowheads="1"/>
          </p:cNvSpPr>
          <p:nvPr/>
        </p:nvSpPr>
        <p:spPr bwMode="auto">
          <a:xfrm>
            <a:off x="2305050" y="3819525"/>
            <a:ext cx="4419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由于次固结，</a:t>
            </a:r>
            <a:r>
              <a:rPr lang="en-US" altLang="zh-CN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lang="en-US" altLang="zh-CN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∞</a:t>
            </a: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不易确定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存在初始沉降，产生误差</a:t>
            </a:r>
            <a:endParaRPr kumimoji="0" lang="zh-CN" altLang="en-US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固结系数确定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0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123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87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1000"/>
                                        <p:tgtEl>
                                          <p:spTgt spid="1587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87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87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10" grpId="0" build="p" autoUpdateAnimBg="0"/>
      <p:bldP spid="1587211" grpId="0" build="p" autoUpdateAnimBg="0"/>
      <p:bldP spid="1587213" grpId="0" animBg="1"/>
      <p:bldP spid="1587214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8234" name="Group 10"/>
          <p:cNvGrpSpPr>
            <a:grpSpLocks/>
          </p:cNvGrpSpPr>
          <p:nvPr/>
        </p:nvGrpSpPr>
        <p:grpSpPr bwMode="auto">
          <a:xfrm>
            <a:off x="307975" y="4065588"/>
            <a:ext cx="3006725" cy="457200"/>
            <a:chOff x="328" y="3006"/>
            <a:chExt cx="1894" cy="288"/>
          </a:xfrm>
        </p:grpSpPr>
        <p:sp>
          <p:nvSpPr>
            <p:cNvPr id="1588235" name="Line 11"/>
            <p:cNvSpPr>
              <a:spLocks noChangeShapeType="1"/>
            </p:cNvSpPr>
            <p:nvPr/>
          </p:nvSpPr>
          <p:spPr bwMode="auto">
            <a:xfrm flipH="1">
              <a:off x="690" y="3249"/>
              <a:ext cx="153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88236" name="Text Box 12"/>
            <p:cNvSpPr txBox="1">
              <a:spLocks noChangeArrowheads="1"/>
            </p:cNvSpPr>
            <p:nvPr/>
          </p:nvSpPr>
          <p:spPr bwMode="auto">
            <a:xfrm>
              <a:off x="328" y="3006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90</a:t>
              </a:r>
            </a:p>
          </p:txBody>
        </p:sp>
      </p:grpSp>
      <p:grpSp>
        <p:nvGrpSpPr>
          <p:cNvPr id="1588237" name="Group 13"/>
          <p:cNvGrpSpPr>
            <a:grpSpLocks/>
          </p:cNvGrpSpPr>
          <p:nvPr/>
        </p:nvGrpSpPr>
        <p:grpSpPr bwMode="auto">
          <a:xfrm>
            <a:off x="904875" y="1301750"/>
            <a:ext cx="2590800" cy="3578225"/>
            <a:chOff x="704" y="1265"/>
            <a:chExt cx="1632" cy="2254"/>
          </a:xfrm>
        </p:grpSpPr>
        <p:sp>
          <p:nvSpPr>
            <p:cNvPr id="1588238" name="Freeform 14"/>
            <p:cNvSpPr>
              <a:spLocks/>
            </p:cNvSpPr>
            <p:nvPr/>
          </p:nvSpPr>
          <p:spPr bwMode="auto">
            <a:xfrm>
              <a:off x="704" y="1265"/>
              <a:ext cx="1632" cy="2142"/>
            </a:xfrm>
            <a:custGeom>
              <a:avLst/>
              <a:gdLst>
                <a:gd name="T0" fmla="*/ 0 w 1845"/>
                <a:gd name="T1" fmla="*/ 0 h 2440"/>
                <a:gd name="T2" fmla="*/ 1845 w 1845"/>
                <a:gd name="T3" fmla="*/ 2440 h 2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45" h="2440">
                  <a:moveTo>
                    <a:pt x="0" y="0"/>
                  </a:moveTo>
                  <a:lnTo>
                    <a:pt x="1845" y="244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8239" name="Rectangle 15"/>
            <p:cNvSpPr>
              <a:spLocks noChangeArrowheads="1"/>
            </p:cNvSpPr>
            <p:nvPr/>
          </p:nvSpPr>
          <p:spPr bwMode="auto">
            <a:xfrm>
              <a:off x="2083" y="3238"/>
              <a:ext cx="224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dirty="0">
                  <a:solidFill>
                    <a:srgbClr val="000066"/>
                  </a:solidFill>
                </a:rPr>
                <a:t>A</a:t>
              </a:r>
            </a:p>
          </p:txBody>
        </p:sp>
      </p:grpSp>
      <p:grpSp>
        <p:nvGrpSpPr>
          <p:cNvPr id="1588240" name="Group 16"/>
          <p:cNvGrpSpPr>
            <a:grpSpLocks/>
          </p:cNvGrpSpPr>
          <p:nvPr/>
        </p:nvGrpSpPr>
        <p:grpSpPr bwMode="auto">
          <a:xfrm>
            <a:off x="2781300" y="720726"/>
            <a:ext cx="760413" cy="3738563"/>
            <a:chOff x="1886" y="899"/>
            <a:chExt cx="479" cy="2355"/>
          </a:xfrm>
        </p:grpSpPr>
        <p:sp>
          <p:nvSpPr>
            <p:cNvPr id="1588241" name="Line 17"/>
            <p:cNvSpPr>
              <a:spLocks noChangeShapeType="1"/>
            </p:cNvSpPr>
            <p:nvPr/>
          </p:nvSpPr>
          <p:spPr bwMode="auto">
            <a:xfrm>
              <a:off x="2209" y="1237"/>
              <a:ext cx="0" cy="20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88242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0883891"/>
                </p:ext>
              </p:extLst>
            </p:nvPr>
          </p:nvGraphicFramePr>
          <p:xfrm>
            <a:off x="1886" y="899"/>
            <a:ext cx="479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8678" name="公式" r:id="rId3" imgW="342720" imgH="291960" progId="Equation.3">
                    <p:embed/>
                  </p:oleObj>
                </mc:Choice>
                <mc:Fallback>
                  <p:oleObj name="公式" r:id="rId3" imgW="342720" imgH="291960" progId="Equation.3">
                    <p:embed/>
                    <p:pic>
                      <p:nvPicPr>
                        <p:cNvPr id="0" name="Object 1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6" y="899"/>
                          <a:ext cx="479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88243" name="Group 19"/>
          <p:cNvGrpSpPr>
            <a:grpSpLocks/>
          </p:cNvGrpSpPr>
          <p:nvPr/>
        </p:nvGrpSpPr>
        <p:grpSpPr bwMode="auto">
          <a:xfrm>
            <a:off x="315913" y="3140075"/>
            <a:ext cx="1766887" cy="457200"/>
            <a:chOff x="333" y="2423"/>
            <a:chExt cx="1113" cy="288"/>
          </a:xfrm>
        </p:grpSpPr>
        <p:sp>
          <p:nvSpPr>
            <p:cNvPr id="1588244" name="Line 20"/>
            <p:cNvSpPr>
              <a:spLocks noChangeShapeType="1"/>
            </p:cNvSpPr>
            <p:nvPr/>
          </p:nvSpPr>
          <p:spPr bwMode="auto">
            <a:xfrm>
              <a:off x="688" y="2588"/>
              <a:ext cx="7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cs typeface="Times New Roman" panose="02020603050405020304" pitchFamily="18" charset="0"/>
              </a:endParaRPr>
            </a:p>
          </p:txBody>
        </p:sp>
        <p:sp>
          <p:nvSpPr>
            <p:cNvPr id="1588245" name="Text Box 21"/>
            <p:cNvSpPr txBox="1">
              <a:spLocks noChangeArrowheads="1"/>
            </p:cNvSpPr>
            <p:nvPr/>
          </p:nvSpPr>
          <p:spPr bwMode="auto">
            <a:xfrm>
              <a:off x="333" y="2423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S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  <a:cs typeface="Times New Roman" panose="02020603050405020304" pitchFamily="18" charset="0"/>
                </a:rPr>
                <a:t>60</a:t>
              </a:r>
            </a:p>
          </p:txBody>
        </p:sp>
      </p:grpSp>
      <p:grpSp>
        <p:nvGrpSpPr>
          <p:cNvPr id="1588246" name="Group 22"/>
          <p:cNvGrpSpPr>
            <a:grpSpLocks/>
          </p:cNvGrpSpPr>
          <p:nvPr/>
        </p:nvGrpSpPr>
        <p:grpSpPr bwMode="auto">
          <a:xfrm>
            <a:off x="2008187" y="704851"/>
            <a:ext cx="788988" cy="3751263"/>
            <a:chOff x="1399" y="889"/>
            <a:chExt cx="497" cy="2363"/>
          </a:xfrm>
        </p:grpSpPr>
        <p:sp>
          <p:nvSpPr>
            <p:cNvPr id="1588247" name="Line 23"/>
            <p:cNvSpPr>
              <a:spLocks noChangeShapeType="1"/>
            </p:cNvSpPr>
            <p:nvPr/>
          </p:nvSpPr>
          <p:spPr bwMode="auto">
            <a:xfrm flipV="1">
              <a:off x="1832" y="1247"/>
              <a:ext cx="0" cy="20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88248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3726979"/>
                </p:ext>
              </p:extLst>
            </p:nvPr>
          </p:nvGraphicFramePr>
          <p:xfrm>
            <a:off x="1399" y="889"/>
            <a:ext cx="49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8679" name="公式" r:id="rId5" imgW="355320" imgH="291960" progId="Equation.3">
                    <p:embed/>
                  </p:oleObj>
                </mc:Choice>
                <mc:Fallback>
                  <p:oleObj name="公式" r:id="rId5" imgW="355320" imgH="291960" progId="Equation.3">
                    <p:embed/>
                    <p:pic>
                      <p:nvPicPr>
                        <p:cNvPr id="0" name="Object 2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9" y="889"/>
                          <a:ext cx="497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88249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086733"/>
              </p:ext>
            </p:extLst>
          </p:nvPr>
        </p:nvGraphicFramePr>
        <p:xfrm>
          <a:off x="5008563" y="811213"/>
          <a:ext cx="34337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680" name="Equation" r:id="rId7" imgW="1968480" imgH="444240" progId="Equation.DSMT4">
                  <p:embed/>
                </p:oleObj>
              </mc:Choice>
              <mc:Fallback>
                <p:oleObj name="Equation" r:id="rId7" imgW="1968480" imgH="444240" progId="Equation.DSMT4">
                  <p:embed/>
                  <p:pic>
                    <p:nvPicPr>
                      <p:cNvPr id="0" name="Object 2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563" y="811213"/>
                        <a:ext cx="3433762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82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358790"/>
              </p:ext>
            </p:extLst>
          </p:nvPr>
        </p:nvGraphicFramePr>
        <p:xfrm>
          <a:off x="4943475" y="1763713"/>
          <a:ext cx="228758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681" name="Equation" r:id="rId9" imgW="1307880" imgH="393480" progId="Equation.DSMT4">
                  <p:embed/>
                </p:oleObj>
              </mc:Choice>
              <mc:Fallback>
                <p:oleObj name="Equation" r:id="rId9" imgW="1307880" imgH="393480" progId="Equation.DSMT4">
                  <p:embed/>
                  <p:pic>
                    <p:nvPicPr>
                      <p:cNvPr id="0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1763713"/>
                        <a:ext cx="2287588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8251" name="Rectangle 27"/>
          <p:cNvSpPr>
            <a:spLocks noChangeArrowheads="1"/>
          </p:cNvSpPr>
          <p:nvPr/>
        </p:nvSpPr>
        <p:spPr bwMode="auto">
          <a:xfrm>
            <a:off x="4741863" y="3243263"/>
            <a:ext cx="3940175" cy="182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FF"/>
                </a:solidFill>
              </a14:hiddenFill>
            </a:ext>
            <a:ext uri="{91240B29-F687-4F45-9708-019B960494DF}">
              <a14:hiddenLine xmlns:a14="http://schemas.microsoft.com/office/drawing/2010/main" w="38100" cap="flat" cmpd="sng">
                <a:solidFill>
                  <a:srgbClr val="FF9933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41325" indent="-441325">
              <a:lnSpc>
                <a:spcPct val="125000"/>
              </a:lnSpc>
              <a:spcBef>
                <a:spcPct val="35000"/>
              </a:spcBef>
              <a:spcAft>
                <a:spcPct val="4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en-US" altLang="zh-CN" sz="21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100" b="1" i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1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</a:t>
            </a:r>
            <a:r>
              <a:rPr lang="en-US" altLang="zh-CN" sz="21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60%</a:t>
            </a:r>
            <a:r>
              <a:rPr lang="zh-CN" altLang="en-US" sz="21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时二线基本重合，之后逐渐分开</a:t>
            </a:r>
          </a:p>
          <a:p>
            <a:pPr marL="441325" indent="-441325">
              <a:lnSpc>
                <a:spcPct val="125000"/>
              </a:lnSpc>
              <a:spcBef>
                <a:spcPct val="35000"/>
              </a:spcBef>
              <a:spcAft>
                <a:spcPct val="40000"/>
              </a:spcAft>
              <a:buClr>
                <a:srgbClr val="A50021"/>
              </a:buClr>
              <a:buSzPct val="135000"/>
              <a:buFont typeface="Wingdings" pitchFamily="2" charset="2"/>
              <a:buChar char="F"/>
            </a:pPr>
            <a:r>
              <a:rPr lang="zh-CN" altLang="en-US" sz="21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1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U</a:t>
            </a:r>
            <a:r>
              <a:rPr lang="en-US" altLang="zh-CN" sz="2100" b="1" baseline="-25000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1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=90%</a:t>
            </a:r>
            <a:r>
              <a:rPr lang="zh-CN" altLang="en-US" sz="21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</a:rPr>
              <a:t>时，</a:t>
            </a:r>
            <a:endParaRPr lang="zh-CN" altLang="en-US" sz="21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Wingdings" pitchFamily="2" charset="2"/>
            </a:endParaRPr>
          </a:p>
        </p:txBody>
      </p:sp>
      <p:graphicFrame>
        <p:nvGraphicFramePr>
          <p:cNvPr id="158825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561709"/>
              </p:ext>
            </p:extLst>
          </p:nvPr>
        </p:nvGraphicFramePr>
        <p:xfrm>
          <a:off x="6850063" y="4332288"/>
          <a:ext cx="17875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682" name="Equation" r:id="rId11" imgW="1028520" imgH="266400" progId="Equation.DSMT4">
                  <p:embed/>
                </p:oleObj>
              </mc:Choice>
              <mc:Fallback>
                <p:oleObj name="Equation" r:id="rId11" imgW="1028520" imgH="266400" progId="Equation.DSMT4">
                  <p:embed/>
                  <p:pic>
                    <p:nvPicPr>
                      <p:cNvPr id="0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0063" y="4332288"/>
                        <a:ext cx="17875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8254" name="Text Box 30"/>
          <p:cNvSpPr txBox="1">
            <a:spLocks noChangeArrowheads="1"/>
          </p:cNvSpPr>
          <p:nvPr/>
        </p:nvSpPr>
        <p:spPr bwMode="auto">
          <a:xfrm>
            <a:off x="3049588" y="5773738"/>
            <a:ext cx="3748087" cy="80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Arial Black" pitchFamily="34" charset="0"/>
                <a:ea typeface="黑体" pitchFamily="2" charset="-122"/>
                <a:sym typeface="Symbol" pitchFamily="18" charset="2"/>
              </a:rPr>
              <a:t>时间平方根法</a:t>
            </a:r>
            <a:endParaRPr lang="en-US" altLang="zh-CN" sz="24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grpSp>
        <p:nvGrpSpPr>
          <p:cNvPr id="1588255" name="Group 31"/>
          <p:cNvGrpSpPr>
            <a:grpSpLocks/>
          </p:cNvGrpSpPr>
          <p:nvPr/>
        </p:nvGrpSpPr>
        <p:grpSpPr bwMode="auto">
          <a:xfrm>
            <a:off x="5576888" y="2720975"/>
            <a:ext cx="3171825" cy="566738"/>
            <a:chOff x="3519" y="1832"/>
            <a:chExt cx="1998" cy="357"/>
          </a:xfrm>
        </p:grpSpPr>
        <p:sp>
          <p:nvSpPr>
            <p:cNvPr id="1588256" name="Text Box 32"/>
            <p:cNvSpPr txBox="1">
              <a:spLocks noChangeArrowheads="1"/>
            </p:cNvSpPr>
            <p:nvPr/>
          </p:nvSpPr>
          <p:spPr bwMode="auto">
            <a:xfrm>
              <a:off x="3941" y="1832"/>
              <a:ext cx="157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>
                  <a:solidFill>
                    <a:srgbClr val="000066"/>
                  </a:solidFill>
                  <a:ea typeface="幼圆" pitchFamily="49" charset="-122"/>
                  <a:sym typeface="Wingdings" pitchFamily="2" charset="2"/>
                </a:rPr>
                <a:t> 校正初始沉降误差</a:t>
              </a:r>
            </a:p>
          </p:txBody>
        </p:sp>
        <p:sp>
          <p:nvSpPr>
            <p:cNvPr id="1588257" name="Freeform 33"/>
            <p:cNvSpPr>
              <a:spLocks/>
            </p:cNvSpPr>
            <p:nvPr/>
          </p:nvSpPr>
          <p:spPr bwMode="auto">
            <a:xfrm>
              <a:off x="3519" y="1958"/>
              <a:ext cx="432" cy="231"/>
            </a:xfrm>
            <a:custGeom>
              <a:avLst/>
              <a:gdLst>
                <a:gd name="T0" fmla="*/ 0 w 432"/>
                <a:gd name="T1" fmla="*/ 231 h 231"/>
                <a:gd name="T2" fmla="*/ 0 w 432"/>
                <a:gd name="T3" fmla="*/ 0 h 231"/>
                <a:gd name="T4" fmla="*/ 432 w 432"/>
                <a:gd name="T5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" h="231">
                  <a:moveTo>
                    <a:pt x="0" y="231"/>
                  </a:moveTo>
                  <a:lnTo>
                    <a:pt x="0" y="0"/>
                  </a:lnTo>
                  <a:lnTo>
                    <a:pt x="432" y="0"/>
                  </a:lnTo>
                </a:path>
              </a:pathLst>
            </a:custGeom>
            <a:noFill/>
            <a:ln w="38100" cmpd="sng">
              <a:solidFill>
                <a:srgbClr val="A50021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88258" name="Group 34"/>
          <p:cNvGrpSpPr>
            <a:grpSpLocks/>
          </p:cNvGrpSpPr>
          <p:nvPr/>
        </p:nvGrpSpPr>
        <p:grpSpPr bwMode="auto">
          <a:xfrm>
            <a:off x="5580063" y="4949825"/>
            <a:ext cx="3084512" cy="566738"/>
            <a:chOff x="3521" y="3236"/>
            <a:chExt cx="1943" cy="357"/>
          </a:xfrm>
        </p:grpSpPr>
        <p:sp>
          <p:nvSpPr>
            <p:cNvPr id="1588259" name="Freeform 35"/>
            <p:cNvSpPr>
              <a:spLocks/>
            </p:cNvSpPr>
            <p:nvPr/>
          </p:nvSpPr>
          <p:spPr bwMode="auto">
            <a:xfrm flipV="1">
              <a:off x="3521" y="3236"/>
              <a:ext cx="432" cy="231"/>
            </a:xfrm>
            <a:custGeom>
              <a:avLst/>
              <a:gdLst>
                <a:gd name="T0" fmla="*/ 0 w 432"/>
                <a:gd name="T1" fmla="*/ 231 h 231"/>
                <a:gd name="T2" fmla="*/ 0 w 432"/>
                <a:gd name="T3" fmla="*/ 0 h 231"/>
                <a:gd name="T4" fmla="*/ 432 w 432"/>
                <a:gd name="T5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" h="231">
                  <a:moveTo>
                    <a:pt x="0" y="231"/>
                  </a:moveTo>
                  <a:lnTo>
                    <a:pt x="0" y="0"/>
                  </a:lnTo>
                  <a:lnTo>
                    <a:pt x="432" y="0"/>
                  </a:lnTo>
                </a:path>
              </a:pathLst>
            </a:custGeom>
            <a:noFill/>
            <a:ln w="38100" cmpd="sng">
              <a:solidFill>
                <a:srgbClr val="A50021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8260" name="Text Box 36"/>
            <p:cNvSpPr txBox="1">
              <a:spLocks noChangeArrowheads="1"/>
            </p:cNvSpPr>
            <p:nvPr/>
          </p:nvSpPr>
          <p:spPr bwMode="auto">
            <a:xfrm>
              <a:off x="4001" y="3250"/>
              <a:ext cx="1463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3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200" b="1" dirty="0">
                  <a:solidFill>
                    <a:srgbClr val="000066"/>
                  </a:solidFill>
                  <a:latin typeface="幼圆" pitchFamily="49" charset="-122"/>
                  <a:ea typeface="幼圆" pitchFamily="49" charset="-122"/>
                </a:rPr>
                <a:t>去除次固结影响</a:t>
              </a:r>
              <a:endParaRPr lang="en-US" altLang="zh-CN" sz="2200" b="1" dirty="0">
                <a:solidFill>
                  <a:srgbClr val="000066"/>
                </a:solidFill>
                <a:latin typeface="幼圆" pitchFamily="49" charset="-122"/>
                <a:ea typeface="幼圆" pitchFamily="49" charset="-122"/>
              </a:endParaRPr>
            </a:p>
          </p:txBody>
        </p:sp>
      </p:grpSp>
      <p:grpSp>
        <p:nvGrpSpPr>
          <p:cNvPr id="1588261" name="Group 37"/>
          <p:cNvGrpSpPr>
            <a:grpSpLocks/>
          </p:cNvGrpSpPr>
          <p:nvPr/>
        </p:nvGrpSpPr>
        <p:grpSpPr bwMode="auto">
          <a:xfrm>
            <a:off x="906463" y="1303338"/>
            <a:ext cx="3268662" cy="3338512"/>
            <a:chOff x="705" y="1266"/>
            <a:chExt cx="2059" cy="2103"/>
          </a:xfrm>
        </p:grpSpPr>
        <p:sp>
          <p:nvSpPr>
            <p:cNvPr id="1588262" name="Freeform 38"/>
            <p:cNvSpPr>
              <a:spLocks/>
            </p:cNvSpPr>
            <p:nvPr/>
          </p:nvSpPr>
          <p:spPr bwMode="auto">
            <a:xfrm>
              <a:off x="705" y="1266"/>
              <a:ext cx="2059" cy="2103"/>
            </a:xfrm>
            <a:custGeom>
              <a:avLst/>
              <a:gdLst>
                <a:gd name="T0" fmla="*/ 0 w 2059"/>
                <a:gd name="T1" fmla="*/ 0 h 2103"/>
                <a:gd name="T2" fmla="*/ 755 w 2059"/>
                <a:gd name="T3" fmla="*/ 1322 h 2103"/>
                <a:gd name="T4" fmla="*/ 1142 w 2059"/>
                <a:gd name="T5" fmla="*/ 1774 h 2103"/>
                <a:gd name="T6" fmla="*/ 1506 w 2059"/>
                <a:gd name="T7" fmla="*/ 1978 h 2103"/>
                <a:gd name="T8" fmla="*/ 1834 w 2059"/>
                <a:gd name="T9" fmla="*/ 2066 h 2103"/>
                <a:gd name="T10" fmla="*/ 2059 w 2059"/>
                <a:gd name="T11" fmla="*/ 2103 h 2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59" h="2103">
                  <a:moveTo>
                    <a:pt x="0" y="0"/>
                  </a:moveTo>
                  <a:lnTo>
                    <a:pt x="755" y="1322"/>
                  </a:lnTo>
                  <a:cubicBezTo>
                    <a:pt x="945" y="1618"/>
                    <a:pt x="1017" y="1665"/>
                    <a:pt x="1142" y="1774"/>
                  </a:cubicBezTo>
                  <a:cubicBezTo>
                    <a:pt x="1267" y="1883"/>
                    <a:pt x="1391" y="1929"/>
                    <a:pt x="1506" y="1978"/>
                  </a:cubicBezTo>
                  <a:cubicBezTo>
                    <a:pt x="1621" y="2027"/>
                    <a:pt x="1742" y="2045"/>
                    <a:pt x="1834" y="2066"/>
                  </a:cubicBezTo>
                  <a:cubicBezTo>
                    <a:pt x="1926" y="2087"/>
                    <a:pt x="2012" y="2095"/>
                    <a:pt x="2059" y="2103"/>
                  </a:cubicBezTo>
                </a:path>
              </a:pathLst>
            </a:custGeom>
            <a:noFill/>
            <a:ln w="28575" cmpd="sng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8263" name="Text Box 39"/>
            <p:cNvSpPr txBox="1">
              <a:spLocks noChangeArrowheads="1"/>
            </p:cNvSpPr>
            <p:nvPr/>
          </p:nvSpPr>
          <p:spPr bwMode="auto">
            <a:xfrm>
              <a:off x="2381" y="2812"/>
              <a:ext cx="37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600" b="1">
                  <a:solidFill>
                    <a:srgbClr val="000066"/>
                  </a:solidFill>
                  <a:ea typeface="幼圆" pitchFamily="49" charset="-122"/>
                  <a:sym typeface="Wingdings 2" pitchFamily="18" charset="2"/>
                </a:rPr>
                <a:t></a:t>
              </a:r>
            </a:p>
          </p:txBody>
        </p:sp>
        <p:sp>
          <p:nvSpPr>
            <p:cNvPr id="1588264" name="Line 40"/>
            <p:cNvSpPr>
              <a:spLocks noChangeShapeType="1"/>
            </p:cNvSpPr>
            <p:nvPr/>
          </p:nvSpPr>
          <p:spPr bwMode="auto">
            <a:xfrm flipV="1">
              <a:off x="2486" y="3158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88265" name="Group 41"/>
          <p:cNvGrpSpPr>
            <a:grpSpLocks/>
          </p:cNvGrpSpPr>
          <p:nvPr/>
        </p:nvGrpSpPr>
        <p:grpSpPr bwMode="auto">
          <a:xfrm>
            <a:off x="901700" y="1292225"/>
            <a:ext cx="2006600" cy="3810000"/>
            <a:chOff x="702" y="1259"/>
            <a:chExt cx="1264" cy="2400"/>
          </a:xfrm>
        </p:grpSpPr>
        <p:sp>
          <p:nvSpPr>
            <p:cNvPr id="1588266" name="Line 42"/>
            <p:cNvSpPr>
              <a:spLocks noChangeShapeType="1"/>
            </p:cNvSpPr>
            <p:nvPr/>
          </p:nvSpPr>
          <p:spPr bwMode="auto">
            <a:xfrm flipH="1" flipV="1">
              <a:off x="702" y="1259"/>
              <a:ext cx="1264" cy="2231"/>
            </a:xfrm>
            <a:prstGeom prst="line">
              <a:avLst/>
            </a:prstGeom>
            <a:noFill/>
            <a:ln w="28575">
              <a:solidFill>
                <a:srgbClr val="66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8267" name="Text Box 43"/>
            <p:cNvSpPr txBox="1">
              <a:spLocks noChangeArrowheads="1"/>
            </p:cNvSpPr>
            <p:nvPr/>
          </p:nvSpPr>
          <p:spPr bwMode="auto">
            <a:xfrm>
              <a:off x="1325" y="3255"/>
              <a:ext cx="37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600" b="1" dirty="0">
                  <a:solidFill>
                    <a:srgbClr val="000066"/>
                  </a:solidFill>
                  <a:ea typeface="幼圆" pitchFamily="49" charset="-122"/>
                  <a:sym typeface="Wingdings" pitchFamily="2" charset="2"/>
                </a:rPr>
                <a:t></a:t>
              </a:r>
            </a:p>
          </p:txBody>
        </p:sp>
        <p:sp>
          <p:nvSpPr>
            <p:cNvPr id="1588268" name="Line 44"/>
            <p:cNvSpPr>
              <a:spLocks noChangeShapeType="1"/>
            </p:cNvSpPr>
            <p:nvPr/>
          </p:nvSpPr>
          <p:spPr bwMode="auto">
            <a:xfrm flipH="1">
              <a:off x="1679" y="3380"/>
              <a:ext cx="173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固结系数确定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5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124</a:t>
            </a:fld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9400" y="612775"/>
            <a:ext cx="4071779" cy="4508500"/>
            <a:chOff x="279400" y="612775"/>
            <a:chExt cx="4071779" cy="4508500"/>
          </a:xfrm>
        </p:grpSpPr>
        <p:grpSp>
          <p:nvGrpSpPr>
            <p:cNvPr id="1588227" name="Group 3"/>
            <p:cNvGrpSpPr>
              <a:grpSpLocks/>
            </p:cNvGrpSpPr>
            <p:nvPr/>
          </p:nvGrpSpPr>
          <p:grpSpPr bwMode="auto">
            <a:xfrm>
              <a:off x="279400" y="612775"/>
              <a:ext cx="4067175" cy="4508500"/>
              <a:chOff x="310" y="831"/>
              <a:chExt cx="2562" cy="2840"/>
            </a:xfrm>
          </p:grpSpPr>
          <p:grpSp>
            <p:nvGrpSpPr>
              <p:cNvPr id="1588228" name="Group 4"/>
              <p:cNvGrpSpPr>
                <a:grpSpLocks/>
              </p:cNvGrpSpPr>
              <p:nvPr/>
            </p:nvGrpSpPr>
            <p:grpSpPr bwMode="auto">
              <a:xfrm>
                <a:off x="310" y="831"/>
                <a:ext cx="2562" cy="2840"/>
                <a:chOff x="310" y="831"/>
                <a:chExt cx="2562" cy="2840"/>
              </a:xfrm>
            </p:grpSpPr>
            <p:sp>
              <p:nvSpPr>
                <p:cNvPr id="1588229" name="Rectangle 5"/>
                <p:cNvSpPr>
                  <a:spLocks noChangeArrowheads="1"/>
                </p:cNvSpPr>
                <p:nvPr/>
              </p:nvSpPr>
              <p:spPr bwMode="auto">
                <a:xfrm>
                  <a:off x="310" y="831"/>
                  <a:ext cx="2562" cy="28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1588230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434" y="3383"/>
                  <a:ext cx="16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 i="1" dirty="0">
                      <a:solidFill>
                        <a:srgbClr val="000066"/>
                      </a:solidFill>
                    </a:rPr>
                    <a:t>S</a:t>
                  </a:r>
                </a:p>
              </p:txBody>
            </p:sp>
            <p:sp>
              <p:nvSpPr>
                <p:cNvPr id="158823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23" y="1084"/>
                  <a:ext cx="20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</a:pPr>
                  <a:r>
                    <a:rPr kumimoji="1" lang="en-US" altLang="zh-CN" sz="2400" b="1" dirty="0">
                      <a:solidFill>
                        <a:srgbClr val="000066"/>
                      </a:solidFill>
                    </a:rPr>
                    <a:t>O</a:t>
                  </a:r>
                </a:p>
              </p:txBody>
            </p:sp>
          </p:grpSp>
          <p:sp>
            <p:nvSpPr>
              <p:cNvPr id="1588233" name="Freeform 9"/>
              <p:cNvSpPr>
                <a:spLocks/>
              </p:cNvSpPr>
              <p:nvPr/>
            </p:nvSpPr>
            <p:spPr bwMode="auto">
              <a:xfrm>
                <a:off x="681" y="1247"/>
                <a:ext cx="1851" cy="2340"/>
              </a:xfrm>
              <a:custGeom>
                <a:avLst/>
                <a:gdLst>
                  <a:gd name="T0" fmla="*/ 0 w 1851"/>
                  <a:gd name="T1" fmla="*/ 2340 h 2340"/>
                  <a:gd name="T2" fmla="*/ 0 w 1851"/>
                  <a:gd name="T3" fmla="*/ 0 h 2340"/>
                  <a:gd name="T4" fmla="*/ 1851 w 1851"/>
                  <a:gd name="T5" fmla="*/ 0 h 2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851" h="2340">
                    <a:moveTo>
                      <a:pt x="0" y="2340"/>
                    </a:moveTo>
                    <a:lnTo>
                      <a:pt x="0" y="0"/>
                    </a:lnTo>
                    <a:lnTo>
                      <a:pt x="185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triangl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4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6868872"/>
                </p:ext>
              </p:extLst>
            </p:nvPr>
          </p:nvGraphicFramePr>
          <p:xfrm>
            <a:off x="3632200" y="742951"/>
            <a:ext cx="718979" cy="517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8683" name="公式" r:id="rId13" imgW="215640" imgH="228600" progId="Equation.3">
                    <p:embed/>
                  </p:oleObj>
                </mc:Choice>
                <mc:Fallback>
                  <p:oleObj name="公式" r:id="rId13" imgW="2156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2200" y="742951"/>
                          <a:ext cx="718979" cy="5175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1588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8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58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8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58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158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" dur="80"/>
                                        <p:tgtEl>
                                          <p:spTgt spid="1588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9" dur="80"/>
                                        <p:tgtEl>
                                          <p:spTgt spid="1588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80"/>
                                        <p:tgtEl>
                                          <p:spTgt spid="1588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000"/>
                                        <p:tgtEl>
                                          <p:spTgt spid="1588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2000"/>
                                        <p:tgtEl>
                                          <p:spTgt spid="158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2000"/>
                                        <p:tgtEl>
                                          <p:spTgt spid="1588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7" dur="80"/>
                                        <p:tgtEl>
                                          <p:spTgt spid="1588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8" dur="80"/>
                                        <p:tgtEl>
                                          <p:spTgt spid="1588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80"/>
                                        <p:tgtEl>
                                          <p:spTgt spid="1588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8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9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58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58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158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8251" grpId="0" build="p"/>
      <p:bldP spid="1588254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9251" name="Group 3"/>
          <p:cNvGrpSpPr>
            <a:grpSpLocks/>
          </p:cNvGrpSpPr>
          <p:nvPr/>
        </p:nvGrpSpPr>
        <p:grpSpPr bwMode="auto">
          <a:xfrm>
            <a:off x="285750" y="544513"/>
            <a:ext cx="4067175" cy="4483100"/>
            <a:chOff x="200" y="848"/>
            <a:chExt cx="2562" cy="2824"/>
          </a:xfrm>
        </p:grpSpPr>
        <p:sp>
          <p:nvSpPr>
            <p:cNvPr id="1589252" name="Rectangle 4"/>
            <p:cNvSpPr>
              <a:spLocks noChangeArrowheads="1"/>
            </p:cNvSpPr>
            <p:nvPr/>
          </p:nvSpPr>
          <p:spPr bwMode="auto">
            <a:xfrm>
              <a:off x="200" y="848"/>
              <a:ext cx="2562" cy="28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9253" name="Text Box 5"/>
            <p:cNvSpPr txBox="1">
              <a:spLocks noChangeArrowheads="1"/>
            </p:cNvSpPr>
            <p:nvPr/>
          </p:nvSpPr>
          <p:spPr bwMode="auto">
            <a:xfrm>
              <a:off x="324" y="3384"/>
              <a:ext cx="1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</a:rPr>
                <a:t>S</a:t>
              </a:r>
            </a:p>
          </p:txBody>
        </p:sp>
        <p:sp>
          <p:nvSpPr>
            <p:cNvPr id="1589254" name="Text Box 6"/>
            <p:cNvSpPr txBox="1">
              <a:spLocks noChangeArrowheads="1"/>
            </p:cNvSpPr>
            <p:nvPr/>
          </p:nvSpPr>
          <p:spPr bwMode="auto">
            <a:xfrm>
              <a:off x="313" y="1056"/>
              <a:ext cx="2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dirty="0">
                  <a:solidFill>
                    <a:srgbClr val="000066"/>
                  </a:solidFill>
                </a:rPr>
                <a:t>O</a:t>
              </a:r>
            </a:p>
          </p:txBody>
        </p:sp>
        <p:graphicFrame>
          <p:nvGraphicFramePr>
            <p:cNvPr id="158925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5720824"/>
                </p:ext>
              </p:extLst>
            </p:nvPr>
          </p:nvGraphicFramePr>
          <p:xfrm>
            <a:off x="2308" y="917"/>
            <a:ext cx="414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9488" name="公式" r:id="rId3" imgW="215640" imgH="228600" progId="Equation.3">
                    <p:embed/>
                  </p:oleObj>
                </mc:Choice>
                <mc:Fallback>
                  <p:oleObj name="公式" r:id="rId3" imgW="21564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8" y="917"/>
                          <a:ext cx="414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89256" name="Freeform 8"/>
            <p:cNvSpPr>
              <a:spLocks/>
            </p:cNvSpPr>
            <p:nvPr/>
          </p:nvSpPr>
          <p:spPr bwMode="auto">
            <a:xfrm>
              <a:off x="571" y="1222"/>
              <a:ext cx="1851" cy="2346"/>
            </a:xfrm>
            <a:custGeom>
              <a:avLst/>
              <a:gdLst>
                <a:gd name="T0" fmla="*/ 0 w 1851"/>
                <a:gd name="T1" fmla="*/ 2340 h 2340"/>
                <a:gd name="T2" fmla="*/ 0 w 1851"/>
                <a:gd name="T3" fmla="*/ 0 h 2340"/>
                <a:gd name="T4" fmla="*/ 1851 w 1851"/>
                <a:gd name="T5" fmla="*/ 0 h 2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51" h="2340">
                  <a:moveTo>
                    <a:pt x="0" y="2340"/>
                  </a:moveTo>
                  <a:lnTo>
                    <a:pt x="0" y="0"/>
                  </a:lnTo>
                  <a:lnTo>
                    <a:pt x="185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89259" name="Freeform 11"/>
          <p:cNvSpPr>
            <a:spLocks/>
          </p:cNvSpPr>
          <p:nvPr/>
        </p:nvSpPr>
        <p:spPr bwMode="auto">
          <a:xfrm>
            <a:off x="885825" y="1141413"/>
            <a:ext cx="3295650" cy="3411537"/>
          </a:xfrm>
          <a:custGeom>
            <a:avLst/>
            <a:gdLst>
              <a:gd name="T0" fmla="*/ 0 w 2076"/>
              <a:gd name="T1" fmla="*/ 0 h 2149"/>
              <a:gd name="T2" fmla="*/ 10 w 2076"/>
              <a:gd name="T3" fmla="*/ 138 h 2149"/>
              <a:gd name="T4" fmla="*/ 22 w 2076"/>
              <a:gd name="T5" fmla="*/ 224 h 2149"/>
              <a:gd name="T6" fmla="*/ 48 w 2076"/>
              <a:gd name="T7" fmla="*/ 307 h 2149"/>
              <a:gd name="T8" fmla="*/ 772 w 2076"/>
              <a:gd name="T9" fmla="*/ 1446 h 2149"/>
              <a:gd name="T10" fmla="*/ 1159 w 2076"/>
              <a:gd name="T11" fmla="*/ 1853 h 2149"/>
              <a:gd name="T12" fmla="*/ 1523 w 2076"/>
              <a:gd name="T13" fmla="*/ 2036 h 2149"/>
              <a:gd name="T14" fmla="*/ 1851 w 2076"/>
              <a:gd name="T15" fmla="*/ 2116 h 2149"/>
              <a:gd name="T16" fmla="*/ 2076 w 2076"/>
              <a:gd name="T17" fmla="*/ 2149 h 2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76" h="2149">
                <a:moveTo>
                  <a:pt x="0" y="0"/>
                </a:moveTo>
                <a:lnTo>
                  <a:pt x="10" y="138"/>
                </a:lnTo>
                <a:lnTo>
                  <a:pt x="22" y="224"/>
                </a:lnTo>
                <a:lnTo>
                  <a:pt x="48" y="307"/>
                </a:lnTo>
                <a:lnTo>
                  <a:pt x="772" y="1446"/>
                </a:lnTo>
                <a:cubicBezTo>
                  <a:pt x="957" y="1704"/>
                  <a:pt x="1034" y="1755"/>
                  <a:pt x="1159" y="1853"/>
                </a:cubicBezTo>
                <a:cubicBezTo>
                  <a:pt x="1284" y="1951"/>
                  <a:pt x="1408" y="1992"/>
                  <a:pt x="1523" y="2036"/>
                </a:cubicBezTo>
                <a:cubicBezTo>
                  <a:pt x="1638" y="2081"/>
                  <a:pt x="1759" y="2097"/>
                  <a:pt x="1851" y="2116"/>
                </a:cubicBezTo>
                <a:cubicBezTo>
                  <a:pt x="1943" y="2135"/>
                  <a:pt x="2029" y="2142"/>
                  <a:pt x="2076" y="2149"/>
                </a:cubicBezTo>
              </a:path>
            </a:pathLst>
          </a:custGeom>
          <a:noFill/>
          <a:ln w="28575" cmpd="sng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589260" name="Group 12"/>
          <p:cNvGrpSpPr>
            <a:grpSpLocks/>
          </p:cNvGrpSpPr>
          <p:nvPr/>
        </p:nvGrpSpPr>
        <p:grpSpPr bwMode="auto">
          <a:xfrm>
            <a:off x="314325" y="4033838"/>
            <a:ext cx="3006725" cy="457200"/>
            <a:chOff x="218" y="3045"/>
            <a:chExt cx="1894" cy="288"/>
          </a:xfrm>
        </p:grpSpPr>
        <p:sp>
          <p:nvSpPr>
            <p:cNvPr id="1589261" name="Line 13"/>
            <p:cNvSpPr>
              <a:spLocks noChangeShapeType="1"/>
            </p:cNvSpPr>
            <p:nvPr/>
          </p:nvSpPr>
          <p:spPr bwMode="auto">
            <a:xfrm flipH="1">
              <a:off x="580" y="3264"/>
              <a:ext cx="153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89262" name="Text Box 14"/>
            <p:cNvSpPr txBox="1">
              <a:spLocks noChangeArrowheads="1"/>
            </p:cNvSpPr>
            <p:nvPr/>
          </p:nvSpPr>
          <p:spPr bwMode="auto">
            <a:xfrm>
              <a:off x="218" y="3045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66"/>
                  </a:solidFill>
                </a:rPr>
                <a:t>S</a:t>
              </a:r>
              <a:r>
                <a:rPr kumimoji="1" lang="en-US" altLang="zh-CN" sz="2400" b="1" baseline="-25000" dirty="0">
                  <a:solidFill>
                    <a:srgbClr val="000066"/>
                  </a:solidFill>
                </a:rPr>
                <a:t>90</a:t>
              </a:r>
            </a:p>
          </p:txBody>
        </p:sp>
      </p:grpSp>
      <p:grpSp>
        <p:nvGrpSpPr>
          <p:cNvPr id="1589263" name="Group 15"/>
          <p:cNvGrpSpPr>
            <a:grpSpLocks/>
          </p:cNvGrpSpPr>
          <p:nvPr/>
        </p:nvGrpSpPr>
        <p:grpSpPr bwMode="auto">
          <a:xfrm>
            <a:off x="911225" y="1546225"/>
            <a:ext cx="2590800" cy="3221038"/>
            <a:chOff x="594" y="1478"/>
            <a:chExt cx="1632" cy="2029"/>
          </a:xfrm>
        </p:grpSpPr>
        <p:sp>
          <p:nvSpPr>
            <p:cNvPr id="1589264" name="Freeform 16"/>
            <p:cNvSpPr>
              <a:spLocks/>
            </p:cNvSpPr>
            <p:nvPr/>
          </p:nvSpPr>
          <p:spPr bwMode="auto">
            <a:xfrm>
              <a:off x="594" y="1478"/>
              <a:ext cx="1632" cy="1928"/>
            </a:xfrm>
            <a:custGeom>
              <a:avLst/>
              <a:gdLst>
                <a:gd name="T0" fmla="*/ 0 w 1845"/>
                <a:gd name="T1" fmla="*/ 0 h 2440"/>
                <a:gd name="T2" fmla="*/ 1845 w 1845"/>
                <a:gd name="T3" fmla="*/ 2440 h 2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45" h="2440">
                  <a:moveTo>
                    <a:pt x="0" y="0"/>
                  </a:moveTo>
                  <a:lnTo>
                    <a:pt x="1845" y="244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89265" name="Rectangle 17"/>
            <p:cNvSpPr>
              <a:spLocks noChangeArrowheads="1"/>
            </p:cNvSpPr>
            <p:nvPr/>
          </p:nvSpPr>
          <p:spPr bwMode="auto">
            <a:xfrm>
              <a:off x="1973" y="3254"/>
              <a:ext cx="224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dirty="0">
                  <a:solidFill>
                    <a:srgbClr val="000066"/>
                  </a:solidFill>
                </a:rPr>
                <a:t>A</a:t>
              </a:r>
            </a:p>
          </p:txBody>
        </p:sp>
      </p:grpSp>
      <p:grpSp>
        <p:nvGrpSpPr>
          <p:cNvPr id="1589266" name="Group 18"/>
          <p:cNvGrpSpPr>
            <a:grpSpLocks/>
          </p:cNvGrpSpPr>
          <p:nvPr/>
        </p:nvGrpSpPr>
        <p:grpSpPr bwMode="auto">
          <a:xfrm>
            <a:off x="2846388" y="685975"/>
            <a:ext cx="815975" cy="3681237"/>
            <a:chOff x="1793" y="912"/>
            <a:chExt cx="514" cy="2356"/>
          </a:xfrm>
        </p:grpSpPr>
        <p:sp>
          <p:nvSpPr>
            <p:cNvPr id="1589267" name="Line 19"/>
            <p:cNvSpPr>
              <a:spLocks noChangeShapeType="1"/>
            </p:cNvSpPr>
            <p:nvPr/>
          </p:nvSpPr>
          <p:spPr bwMode="auto">
            <a:xfrm>
              <a:off x="2099" y="1236"/>
              <a:ext cx="0" cy="20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589268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364228"/>
                </p:ext>
              </p:extLst>
            </p:nvPr>
          </p:nvGraphicFramePr>
          <p:xfrm>
            <a:off x="1793" y="912"/>
            <a:ext cx="514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9489" name="公式" r:id="rId5" imgW="317160" imgH="266400" progId="Equation.3">
                    <p:embed/>
                  </p:oleObj>
                </mc:Choice>
                <mc:Fallback>
                  <p:oleObj name="公式" r:id="rId5" imgW="317160" imgH="2664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3" y="912"/>
                          <a:ext cx="514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89269" name="Rectangle 21"/>
          <p:cNvSpPr>
            <a:spLocks noChangeArrowheads="1"/>
          </p:cNvSpPr>
          <p:nvPr/>
        </p:nvSpPr>
        <p:spPr bwMode="auto">
          <a:xfrm>
            <a:off x="4600575" y="966788"/>
            <a:ext cx="4178300" cy="3787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365125" indent="-365125" algn="just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绘制压缩试验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 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en-US" altLang="zh-CN" sz="2400" b="1" baseline="30000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1/2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</a:p>
          <a:p>
            <a:pPr marL="365125" indent="-365125" algn="just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做近似直线段的延长线交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轴于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，即为主固结的起点，</a:t>
            </a:r>
            <a:r>
              <a:rPr kumimoji="1" lang="en-US" altLang="zh-CN" sz="2400" b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d</a:t>
            </a:r>
            <a:r>
              <a:rPr kumimoji="1" lang="en-US" altLang="zh-CN" sz="2400" b="1" i="1" dirty="0" err="1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为的初始压缩量</a:t>
            </a:r>
            <a:endParaRPr kumimoji="1" lang="en-US" altLang="zh-CN" sz="2400" b="1" dirty="0">
              <a:solidFill>
                <a:srgbClr val="000066"/>
              </a:solidFill>
              <a:ea typeface="幼圆" pitchFamily="49" charset="-122"/>
              <a:cs typeface="Times New Roman" panose="02020603050405020304" pitchFamily="18" charset="0"/>
              <a:sym typeface="Symbol" pitchFamily="18" charset="2"/>
            </a:endParaRPr>
          </a:p>
          <a:p>
            <a:pPr marL="365125" indent="-365125" algn="just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从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作直线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，其横坐标为直线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Wingdings 2" pitchFamily="18" charset="2"/>
              </a:rPr>
              <a:t>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1.15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倍</a:t>
            </a:r>
          </a:p>
          <a:p>
            <a:pPr marL="365125" indent="-365125" algn="just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70000"/>
              <a:buFont typeface="Wingdings" pitchFamily="2" charset="2"/>
              <a:buChar char="u"/>
            </a:pP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直线</a:t>
            </a:r>
            <a:r>
              <a: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S</a:t>
            </a:r>
            <a:r>
              <a:rPr kumimoji="1" lang="en-US" altLang="zh-CN" sz="2400" b="1" baseline="-25000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0</a:t>
            </a:r>
            <a:r>
              <a:rPr kumimoji="1" lang="en-US" altLang="zh-CN" sz="2400" b="1" dirty="0">
                <a:solidFill>
                  <a:srgbClr val="000066"/>
                </a:solidFill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与试验曲线之交点</a:t>
            </a: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所对应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的 </a:t>
            </a:r>
            <a:r>
              <a:rPr kumimoji="1" lang="en-US" altLang="zh-CN" sz="2400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 </a:t>
            </a:r>
            <a:r>
              <a:rPr kumimoji="1" lang="zh-CN" altLang="en-US" sz="2400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值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为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t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90</a:t>
            </a:r>
          </a:p>
        </p:txBody>
      </p:sp>
      <p:grpSp>
        <p:nvGrpSpPr>
          <p:cNvPr id="1589270" name="Group 22"/>
          <p:cNvGrpSpPr>
            <a:grpSpLocks/>
          </p:cNvGrpSpPr>
          <p:nvPr/>
        </p:nvGrpSpPr>
        <p:grpSpPr bwMode="auto">
          <a:xfrm>
            <a:off x="874713" y="1089025"/>
            <a:ext cx="1727200" cy="457200"/>
            <a:chOff x="571" y="1190"/>
            <a:chExt cx="1088" cy="288"/>
          </a:xfrm>
        </p:grpSpPr>
        <p:sp>
          <p:nvSpPr>
            <p:cNvPr id="1589271" name="Line 23"/>
            <p:cNvSpPr>
              <a:spLocks noChangeShapeType="1"/>
            </p:cNvSpPr>
            <p:nvPr/>
          </p:nvSpPr>
          <p:spPr bwMode="auto">
            <a:xfrm>
              <a:off x="571" y="1467"/>
              <a:ext cx="10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9272" name="Text Box 24"/>
            <p:cNvSpPr txBox="1">
              <a:spLocks noChangeArrowheads="1"/>
            </p:cNvSpPr>
            <p:nvPr/>
          </p:nvSpPr>
          <p:spPr bwMode="auto">
            <a:xfrm>
              <a:off x="1043" y="1190"/>
              <a:ext cx="3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 err="1">
                  <a:solidFill>
                    <a:srgbClr val="000066"/>
                  </a:solidFill>
                </a:rPr>
                <a:t>dS</a:t>
              </a:r>
              <a:endParaRPr kumimoji="1" lang="en-US" altLang="zh-CN" sz="2400" b="1" i="1" dirty="0">
                <a:solidFill>
                  <a:srgbClr val="000066"/>
                </a:solidFill>
              </a:endParaRPr>
            </a:p>
          </p:txBody>
        </p:sp>
        <p:sp>
          <p:nvSpPr>
            <p:cNvPr id="1589273" name="Line 25"/>
            <p:cNvSpPr>
              <a:spLocks noChangeShapeType="1"/>
            </p:cNvSpPr>
            <p:nvPr/>
          </p:nvSpPr>
          <p:spPr bwMode="auto">
            <a:xfrm>
              <a:off x="1050" y="1219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58927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626419"/>
              </p:ext>
            </p:extLst>
          </p:nvPr>
        </p:nvGraphicFramePr>
        <p:xfrm>
          <a:off x="6088063" y="5022850"/>
          <a:ext cx="2082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9490" name="Equation" r:id="rId7" imgW="1041120" imgH="228600" progId="Equation.DSMT4">
                  <p:embed/>
                </p:oleObj>
              </mc:Choice>
              <mc:Fallback>
                <p:oleObj name="Equation" r:id="rId7" imgW="1041120" imgH="228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063" y="5022850"/>
                        <a:ext cx="2082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9275" name="AutoShape 27"/>
          <p:cNvSpPr>
            <a:spLocks noChangeArrowheads="1"/>
          </p:cNvSpPr>
          <p:nvPr/>
        </p:nvSpPr>
        <p:spPr bwMode="auto">
          <a:xfrm>
            <a:off x="5318125" y="5008563"/>
            <a:ext cx="542925" cy="457200"/>
          </a:xfrm>
          <a:prstGeom prst="homePlate">
            <a:avLst>
              <a:gd name="adj" fmla="val 29688"/>
            </a:avLst>
          </a:prstGeom>
          <a:solidFill>
            <a:schemeClr val="accent2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1589276" name="Group 28"/>
          <p:cNvGrpSpPr>
            <a:grpSpLocks/>
          </p:cNvGrpSpPr>
          <p:nvPr/>
        </p:nvGrpSpPr>
        <p:grpSpPr bwMode="auto">
          <a:xfrm>
            <a:off x="401638" y="1257300"/>
            <a:ext cx="2513012" cy="3468688"/>
            <a:chOff x="273" y="1296"/>
            <a:chExt cx="1583" cy="2185"/>
          </a:xfrm>
        </p:grpSpPr>
        <p:grpSp>
          <p:nvGrpSpPr>
            <p:cNvPr id="1589277" name="Group 29"/>
            <p:cNvGrpSpPr>
              <a:grpSpLocks/>
            </p:cNvGrpSpPr>
            <p:nvPr/>
          </p:nvGrpSpPr>
          <p:grpSpPr bwMode="auto">
            <a:xfrm>
              <a:off x="273" y="1296"/>
              <a:ext cx="1583" cy="2185"/>
              <a:chOff x="273" y="1296"/>
              <a:chExt cx="1583" cy="2185"/>
            </a:xfrm>
          </p:grpSpPr>
          <p:sp>
            <p:nvSpPr>
              <p:cNvPr id="1589278" name="Line 30"/>
              <p:cNvSpPr>
                <a:spLocks noChangeShapeType="1"/>
              </p:cNvSpPr>
              <p:nvPr/>
            </p:nvSpPr>
            <p:spPr bwMode="auto">
              <a:xfrm flipH="1" flipV="1">
                <a:off x="592" y="1473"/>
                <a:ext cx="1264" cy="2008"/>
              </a:xfrm>
              <a:prstGeom prst="line">
                <a:avLst/>
              </a:prstGeom>
              <a:noFill/>
              <a:ln w="28575">
                <a:solidFill>
                  <a:srgbClr val="6600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89279" name="Text Box 31"/>
              <p:cNvSpPr txBox="1">
                <a:spLocks noChangeArrowheads="1"/>
              </p:cNvSpPr>
              <p:nvPr/>
            </p:nvSpPr>
            <p:spPr bwMode="auto">
              <a:xfrm>
                <a:off x="273" y="1296"/>
                <a:ext cx="30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en-US" altLang="zh-CN" sz="2400" b="1" i="1" dirty="0">
                    <a:solidFill>
                      <a:srgbClr val="000066"/>
                    </a:solidFill>
                  </a:rPr>
                  <a:t>S</a:t>
                </a:r>
                <a:r>
                  <a:rPr kumimoji="1" lang="en-US" altLang="zh-CN" sz="2400" b="1" baseline="-25000" dirty="0">
                    <a:solidFill>
                      <a:srgbClr val="000066"/>
                    </a:solidFill>
                  </a:rPr>
                  <a:t>0</a:t>
                </a:r>
                <a:endParaRPr kumimoji="1" lang="en-US" altLang="zh-CN" sz="2400" b="1" dirty="0">
                  <a:solidFill>
                    <a:srgbClr val="000066"/>
                  </a:solidFill>
                </a:endParaRPr>
              </a:p>
            </p:txBody>
          </p:sp>
        </p:grpSp>
        <p:sp>
          <p:nvSpPr>
            <p:cNvPr id="1589280" name="Text Box 32"/>
            <p:cNvSpPr txBox="1">
              <a:spLocks noChangeArrowheads="1"/>
            </p:cNvSpPr>
            <p:nvPr/>
          </p:nvSpPr>
          <p:spPr bwMode="auto">
            <a:xfrm>
              <a:off x="970" y="2919"/>
              <a:ext cx="373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600" b="1">
                  <a:solidFill>
                    <a:srgbClr val="000066"/>
                  </a:solidFill>
                  <a:ea typeface="幼圆" pitchFamily="49" charset="-122"/>
                  <a:sym typeface="Wingdings" pitchFamily="2" charset="2"/>
                </a:rPr>
                <a:t></a:t>
              </a:r>
            </a:p>
          </p:txBody>
        </p:sp>
        <p:sp>
          <p:nvSpPr>
            <p:cNvPr id="1589281" name="Line 33"/>
            <p:cNvSpPr>
              <a:spLocks noChangeShapeType="1"/>
            </p:cNvSpPr>
            <p:nvPr/>
          </p:nvSpPr>
          <p:spPr bwMode="auto">
            <a:xfrm flipH="1">
              <a:off x="1362" y="3005"/>
              <a:ext cx="173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89283" name="Text Box 35"/>
          <p:cNvSpPr txBox="1">
            <a:spLocks noChangeArrowheads="1"/>
          </p:cNvSpPr>
          <p:nvPr/>
        </p:nvSpPr>
        <p:spPr bwMode="auto">
          <a:xfrm>
            <a:off x="2897188" y="5775325"/>
            <a:ext cx="3748087" cy="80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1" lang="zh-CN" altLang="en-US" sz="4000" b="1">
                <a:solidFill>
                  <a:srgbClr val="000066"/>
                </a:solidFill>
                <a:latin typeface="Arial Black" pitchFamily="34" charset="0"/>
                <a:ea typeface="黑体" pitchFamily="2" charset="-122"/>
                <a:sym typeface="Symbol" pitchFamily="18" charset="2"/>
              </a:rPr>
              <a:t>时间平方根法</a:t>
            </a:r>
            <a:endParaRPr lang="en-US" altLang="zh-CN" sz="2400" b="1">
              <a:solidFill>
                <a:srgbClr val="000066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固结系数确定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34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125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158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58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89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58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89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158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1000"/>
                                        <p:tgtEl>
                                          <p:spTgt spid="158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89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1589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89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589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158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158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158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9259" grpId="0" animBg="1"/>
      <p:bldP spid="1589269" grpId="0" build="p" autoUpdateAnimBg="0"/>
      <p:bldP spid="1589275" grpId="0" animBg="1"/>
      <p:bldP spid="1589283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97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423762"/>
              </p:ext>
            </p:extLst>
          </p:nvPr>
        </p:nvGraphicFramePr>
        <p:xfrm>
          <a:off x="4883150" y="2039938"/>
          <a:ext cx="292032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9813" name="Equation" r:id="rId3" imgW="1460160" imgH="444240" progId="Equation.DSMT4">
                  <p:embed/>
                </p:oleObj>
              </mc:Choice>
              <mc:Fallback>
                <p:oleObj name="Equation" r:id="rId3" imgW="146016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2039938"/>
                        <a:ext cx="2920320" cy="888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9733" name="Text Box 5"/>
          <p:cNvSpPr txBox="1">
            <a:spLocks noChangeArrowheads="1"/>
          </p:cNvSpPr>
          <p:nvPr/>
        </p:nvSpPr>
        <p:spPr bwMode="auto">
          <a:xfrm>
            <a:off x="2789238" y="2238375"/>
            <a:ext cx="20399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本章达西定律</a:t>
            </a:r>
            <a:r>
              <a:rPr kumimoji="1" lang="en-US" altLang="zh-CN" sz="20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:</a:t>
            </a:r>
          </a:p>
        </p:txBody>
      </p:sp>
      <p:sp>
        <p:nvSpPr>
          <p:cNvPr id="1609737" name="AutoShape 9"/>
          <p:cNvSpPr>
            <a:spLocks noChangeArrowheads="1"/>
          </p:cNvSpPr>
          <p:nvPr/>
        </p:nvSpPr>
        <p:spPr bwMode="auto">
          <a:xfrm>
            <a:off x="965200" y="1636713"/>
            <a:ext cx="371475" cy="849312"/>
          </a:xfrm>
          <a:prstGeom prst="cube">
            <a:avLst>
              <a:gd name="adj" fmla="val 25000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9738" name="Freeform 10"/>
          <p:cNvSpPr>
            <a:spLocks/>
          </p:cNvSpPr>
          <p:nvPr/>
        </p:nvSpPr>
        <p:spPr bwMode="auto">
          <a:xfrm flipH="1">
            <a:off x="458788" y="969963"/>
            <a:ext cx="1423987" cy="950912"/>
          </a:xfrm>
          <a:custGeom>
            <a:avLst/>
            <a:gdLst>
              <a:gd name="T0" fmla="*/ 130 w 783"/>
              <a:gd name="T1" fmla="*/ 133 h 551"/>
              <a:gd name="T2" fmla="*/ 293 w 783"/>
              <a:gd name="T3" fmla="*/ 108 h 551"/>
              <a:gd name="T4" fmla="*/ 520 w 783"/>
              <a:gd name="T5" fmla="*/ 56 h 551"/>
              <a:gd name="T6" fmla="*/ 686 w 783"/>
              <a:gd name="T7" fmla="*/ 12 h 551"/>
              <a:gd name="T8" fmla="*/ 763 w 783"/>
              <a:gd name="T9" fmla="*/ 130 h 551"/>
              <a:gd name="T10" fmla="*/ 779 w 783"/>
              <a:gd name="T11" fmla="*/ 338 h 551"/>
              <a:gd name="T12" fmla="*/ 738 w 783"/>
              <a:gd name="T13" fmla="*/ 504 h 551"/>
              <a:gd name="T14" fmla="*/ 507 w 783"/>
              <a:gd name="T15" fmla="*/ 546 h 551"/>
              <a:gd name="T16" fmla="*/ 238 w 783"/>
              <a:gd name="T17" fmla="*/ 533 h 551"/>
              <a:gd name="T18" fmla="*/ 37 w 783"/>
              <a:gd name="T19" fmla="*/ 469 h 551"/>
              <a:gd name="T20" fmla="*/ 14 w 783"/>
              <a:gd name="T21" fmla="*/ 296 h 551"/>
              <a:gd name="T22" fmla="*/ 46 w 783"/>
              <a:gd name="T23" fmla="*/ 178 h 551"/>
              <a:gd name="T24" fmla="*/ 130 w 783"/>
              <a:gd name="T25" fmla="*/ 133 h 5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83" h="551">
                <a:moveTo>
                  <a:pt x="130" y="133"/>
                </a:moveTo>
                <a:cubicBezTo>
                  <a:pt x="171" y="121"/>
                  <a:pt x="228" y="121"/>
                  <a:pt x="293" y="108"/>
                </a:cubicBezTo>
                <a:cubicBezTo>
                  <a:pt x="358" y="95"/>
                  <a:pt x="455" y="72"/>
                  <a:pt x="520" y="56"/>
                </a:cubicBezTo>
                <a:cubicBezTo>
                  <a:pt x="585" y="40"/>
                  <a:pt x="646" y="0"/>
                  <a:pt x="686" y="12"/>
                </a:cubicBezTo>
                <a:cubicBezTo>
                  <a:pt x="726" y="24"/>
                  <a:pt x="748" y="76"/>
                  <a:pt x="763" y="130"/>
                </a:cubicBezTo>
                <a:cubicBezTo>
                  <a:pt x="778" y="184"/>
                  <a:pt x="783" y="276"/>
                  <a:pt x="779" y="338"/>
                </a:cubicBezTo>
                <a:cubicBezTo>
                  <a:pt x="775" y="400"/>
                  <a:pt x="783" y="469"/>
                  <a:pt x="738" y="504"/>
                </a:cubicBezTo>
                <a:cubicBezTo>
                  <a:pt x="693" y="539"/>
                  <a:pt x="590" y="541"/>
                  <a:pt x="507" y="546"/>
                </a:cubicBezTo>
                <a:cubicBezTo>
                  <a:pt x="424" y="551"/>
                  <a:pt x="316" y="546"/>
                  <a:pt x="238" y="533"/>
                </a:cubicBezTo>
                <a:cubicBezTo>
                  <a:pt x="160" y="520"/>
                  <a:pt x="74" y="508"/>
                  <a:pt x="37" y="469"/>
                </a:cubicBezTo>
                <a:cubicBezTo>
                  <a:pt x="0" y="430"/>
                  <a:pt x="13" y="344"/>
                  <a:pt x="14" y="296"/>
                </a:cubicBezTo>
                <a:cubicBezTo>
                  <a:pt x="15" y="248"/>
                  <a:pt x="27" y="205"/>
                  <a:pt x="46" y="178"/>
                </a:cubicBezTo>
                <a:cubicBezTo>
                  <a:pt x="65" y="151"/>
                  <a:pt x="89" y="145"/>
                  <a:pt x="130" y="133"/>
                </a:cubicBezTo>
                <a:close/>
              </a:path>
            </a:pathLst>
          </a:custGeom>
          <a:solidFill>
            <a:srgbClr val="DBC9FF"/>
          </a:solidFill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09739" name="WordArt 11"/>
          <p:cNvSpPr>
            <a:spLocks noChangeArrowheads="1" noChangeShapeType="1" noTextEdit="1"/>
          </p:cNvSpPr>
          <p:nvPr/>
        </p:nvSpPr>
        <p:spPr bwMode="auto">
          <a:xfrm>
            <a:off x="603250" y="990600"/>
            <a:ext cx="1065213" cy="822325"/>
          </a:xfrm>
          <a:prstGeom prst="rect">
            <a:avLst/>
          </a:prstGeom>
        </p:spPr>
        <p:txBody>
          <a:bodyPr wrap="none" fromWordArt="1">
            <a:prstTxWarp prst="textCurveDown">
              <a:avLst>
                <a:gd name="adj" fmla="val 43477"/>
              </a:avLst>
            </a:prstTxWarp>
          </a:bodyPr>
          <a:lstStyle/>
          <a:p>
            <a:pPr algn="ctr"/>
            <a:r>
              <a:rPr lang="zh-CN" altLang="en-US" sz="3600" kern="1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45791" dir="2021404" algn="ctr" rotWithShape="0">
                    <a:srgbClr val="808080">
                      <a:alpha val="80000"/>
                    </a:srgbClr>
                  </a:outerShdw>
                </a:effectLst>
                <a:latin typeface="华文新魏"/>
                <a:ea typeface="华文新魏"/>
              </a:rPr>
              <a:t>提示</a:t>
            </a:r>
          </a:p>
        </p:txBody>
      </p:sp>
      <p:sp>
        <p:nvSpPr>
          <p:cNvPr id="1609740" name="Rectangle 12"/>
          <p:cNvSpPr>
            <a:spLocks noChangeArrowheads="1"/>
          </p:cNvSpPr>
          <p:nvPr/>
        </p:nvSpPr>
        <p:spPr bwMode="auto">
          <a:xfrm>
            <a:off x="2305050" y="1390650"/>
            <a:ext cx="6457950" cy="500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L="365125" indent="-365125" algn="just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70000"/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1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）本章的“</a:t>
            </a:r>
            <a:r>
              <a:rPr kumimoji="1" lang="en-US" altLang="zh-CN" sz="2400" b="1" i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u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” -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超静孔压，总孔压的一部分</a:t>
            </a:r>
          </a:p>
        </p:txBody>
      </p:sp>
      <p:sp>
        <p:nvSpPr>
          <p:cNvPr id="1609742" name="Text Box 14"/>
          <p:cNvSpPr txBox="1">
            <a:spLocks noChangeArrowheads="1"/>
          </p:cNvSpPr>
          <p:nvPr/>
        </p:nvSpPr>
        <p:spPr bwMode="auto">
          <a:xfrm>
            <a:off x="4324350" y="3040063"/>
            <a:ext cx="3644244" cy="1054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indent="35877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kumimoji="0" lang="en-US" altLang="zh-CN" b="1" i="1" dirty="0"/>
              <a:t>h</a:t>
            </a:r>
            <a:r>
              <a:rPr kumimoji="0" lang="zh-CN" altLang="en-US" b="1" baseline="-25000" dirty="0" smtClean="0"/>
              <a:t>总</a:t>
            </a:r>
            <a:r>
              <a:rPr kumimoji="0" lang="zh-CN" altLang="en-US" b="1" i="1" baseline="-25000" dirty="0" smtClean="0"/>
              <a:t> </a:t>
            </a:r>
            <a:r>
              <a:rPr kumimoji="0" lang="en-US" altLang="zh-CN" b="1" dirty="0" smtClean="0"/>
              <a:t>= </a:t>
            </a:r>
            <a:r>
              <a:rPr kumimoji="0" lang="en-US" altLang="zh-CN" b="1" i="1" dirty="0" smtClean="0"/>
              <a:t>h</a:t>
            </a:r>
            <a:r>
              <a:rPr kumimoji="0" lang="zh-CN" altLang="en-US" b="1" baseline="-25000" dirty="0" smtClean="0"/>
              <a:t>静</a:t>
            </a:r>
            <a:r>
              <a:rPr kumimoji="0" lang="zh-CN" altLang="en-US" b="1" i="1" baseline="-25000" dirty="0" smtClean="0"/>
              <a:t> </a:t>
            </a:r>
            <a:r>
              <a:rPr kumimoji="0" lang="en-US" altLang="zh-CN" b="1" dirty="0" smtClean="0"/>
              <a:t>+ </a:t>
            </a:r>
            <a:r>
              <a:rPr kumimoji="0" lang="en-US" altLang="zh-CN" b="1" i="1" dirty="0" smtClean="0"/>
              <a:t>h</a:t>
            </a:r>
            <a:r>
              <a:rPr kumimoji="0" lang="zh-CN" altLang="en-US" b="1" baseline="-25000" dirty="0"/>
              <a:t>超</a:t>
            </a:r>
            <a:r>
              <a:rPr kumimoji="0" lang="zh-CN" altLang="en-US" b="1" baseline="-25000" dirty="0" smtClean="0"/>
              <a:t>静</a:t>
            </a:r>
            <a:endParaRPr kumimoji="0" lang="en-US" altLang="zh-CN" b="1" baseline="-25000" dirty="0" smtClean="0"/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kumimoji="0" lang="en-US" altLang="zh-CN" b="1" i="1" baseline="-25000" dirty="0"/>
              <a:t> </a:t>
            </a:r>
            <a:r>
              <a:rPr kumimoji="0" lang="en-US" altLang="zh-CN" b="1" i="1" baseline="-25000" dirty="0" smtClean="0"/>
              <a:t>       </a:t>
            </a:r>
            <a:r>
              <a:rPr kumimoji="0" lang="en-US" altLang="zh-CN" b="1" dirty="0" smtClean="0"/>
              <a:t>= z + </a:t>
            </a:r>
            <a:r>
              <a:rPr kumimoji="0" lang="en-US" altLang="zh-CN" b="1" i="1" dirty="0" smtClean="0"/>
              <a:t>u</a:t>
            </a:r>
            <a:r>
              <a:rPr kumimoji="0" lang="zh-CN" altLang="en-US" b="1" baseline="-25000" dirty="0"/>
              <a:t>静</a:t>
            </a:r>
            <a:r>
              <a:rPr kumimoji="0" lang="en-US" altLang="zh-CN" b="1" dirty="0"/>
              <a:t>/</a:t>
            </a:r>
            <a:r>
              <a:rPr kumimoji="0" lang="en-US" altLang="zh-CN" b="1" i="1" dirty="0">
                <a:sym typeface="Symbol" pitchFamily="18" charset="2"/>
              </a:rPr>
              <a:t></a:t>
            </a:r>
            <a:r>
              <a:rPr kumimoji="0" lang="en-US" altLang="zh-CN" b="1" baseline="-25000" dirty="0" smtClean="0">
                <a:sym typeface="Symbol" pitchFamily="18" charset="2"/>
              </a:rPr>
              <a:t>w</a:t>
            </a:r>
            <a:r>
              <a:rPr kumimoji="0" lang="en-US" altLang="zh-CN" b="1" i="1" baseline="-25000" dirty="0" smtClean="0">
                <a:sym typeface="Symbol" pitchFamily="18" charset="2"/>
              </a:rPr>
              <a:t> </a:t>
            </a:r>
            <a:r>
              <a:rPr kumimoji="0" lang="en-US" altLang="zh-CN" b="1" dirty="0" smtClean="0"/>
              <a:t>+ </a:t>
            </a:r>
            <a:r>
              <a:rPr kumimoji="0" lang="en-US" altLang="zh-CN" b="1" i="1" dirty="0" smtClean="0">
                <a:solidFill>
                  <a:srgbClr val="A50021"/>
                </a:solidFill>
              </a:rPr>
              <a:t>u</a:t>
            </a:r>
            <a:r>
              <a:rPr kumimoji="0" lang="zh-CN" altLang="en-US" b="1" baseline="-25000" dirty="0">
                <a:solidFill>
                  <a:srgbClr val="A50021"/>
                </a:solidFill>
              </a:rPr>
              <a:t>超静</a:t>
            </a:r>
            <a:r>
              <a:rPr kumimoji="0" lang="en-US" altLang="zh-CN" b="1" dirty="0">
                <a:solidFill>
                  <a:srgbClr val="A50021"/>
                </a:solidFill>
              </a:rPr>
              <a:t>/</a:t>
            </a:r>
            <a:r>
              <a:rPr kumimoji="0" lang="en-US" altLang="zh-CN" b="1" i="1" dirty="0">
                <a:solidFill>
                  <a:srgbClr val="A50021"/>
                </a:solidFill>
                <a:sym typeface="Symbol" pitchFamily="18" charset="2"/>
              </a:rPr>
              <a:t></a:t>
            </a:r>
            <a:r>
              <a:rPr kumimoji="0" lang="en-US" altLang="zh-CN" b="1" baseline="-25000" dirty="0">
                <a:solidFill>
                  <a:srgbClr val="A50021"/>
                </a:solidFill>
                <a:sym typeface="Symbol" pitchFamily="18" charset="2"/>
              </a:rPr>
              <a:t>w</a:t>
            </a:r>
          </a:p>
        </p:txBody>
      </p:sp>
      <p:sp>
        <p:nvSpPr>
          <p:cNvPr id="1609743" name="Text Box 15"/>
          <p:cNvSpPr txBox="1">
            <a:spLocks noChangeArrowheads="1"/>
          </p:cNvSpPr>
          <p:nvPr/>
        </p:nvSpPr>
        <p:spPr bwMode="auto">
          <a:xfrm>
            <a:off x="2867025" y="3048000"/>
            <a:ext cx="172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实际上应有</a:t>
            </a:r>
            <a:r>
              <a:rPr kumimoji="1" lang="en-US" altLang="zh-CN" sz="2000" b="1">
                <a:solidFill>
                  <a:srgbClr val="A50021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:</a:t>
            </a:r>
          </a:p>
        </p:txBody>
      </p:sp>
      <p:sp>
        <p:nvSpPr>
          <p:cNvPr id="1609744" name="Rectangle 16"/>
          <p:cNvSpPr>
            <a:spLocks noChangeArrowheads="1"/>
          </p:cNvSpPr>
          <p:nvPr/>
        </p:nvSpPr>
        <p:spPr bwMode="auto">
          <a:xfrm>
            <a:off x="2482850" y="4260850"/>
            <a:ext cx="5986463" cy="907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365125" indent="-365125" algn="just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rgbClr val="A50021"/>
              </a:buClr>
              <a:buSzPct val="70000"/>
              <a:buFont typeface="Wingdings" pitchFamily="2" charset="2"/>
              <a:buNone/>
            </a:pPr>
            <a:r>
              <a:rPr kumimoji="1" lang="en-US" altLang="zh-CN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2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）本章的“</a:t>
            </a:r>
            <a:r>
              <a:rPr kumimoji="1" lang="zh-CN" altLang="en-US" sz="2400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kumimoji="1" lang="en-US" altLang="zh-CN" sz="2400" b="1" baseline="-25000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z</a:t>
            </a:r>
            <a:r>
              <a:rPr kumimoji="1" lang="en-US" altLang="zh-CN" sz="2400" b="1" dirty="0" smtClean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” -</a:t>
            </a:r>
            <a:r>
              <a:rPr kumimoji="1" lang="zh-CN" altLang="en-US" sz="2400" b="1" dirty="0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附加有效应力，总有效应力的一部分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-9525" y="0"/>
            <a:ext cx="5812796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§4.5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饱和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</a:rPr>
              <a:t>土体的渗流固结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理论 </a:t>
            </a: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–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固结系数确定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3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126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9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0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0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0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60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09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9733" grpId="0"/>
      <p:bldP spid="1609740" grpId="0" build="p" autoUpdateAnimBg="0"/>
      <p:bldP spid="1609742" grpId="0"/>
      <p:bldP spid="1609743" grpId="0"/>
      <p:bldP spid="1609744" grpId="0" build="p" autoUpdateAnimBg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625" name="Text Box 97"/>
          <p:cNvSpPr txBox="1">
            <a:spLocks noChangeArrowheads="1"/>
          </p:cNvSpPr>
          <p:nvPr/>
        </p:nvSpPr>
        <p:spPr bwMode="auto">
          <a:xfrm>
            <a:off x="1671638" y="2233613"/>
            <a:ext cx="6486525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6096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0668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5240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9812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438400" indent="-6096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8956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3528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8100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267200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§4.1  </a:t>
            </a: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概述 </a:t>
            </a:r>
            <a:r>
              <a:rPr lang="zh-CN" altLang="en-US" sz="3200" b="1">
                <a:solidFill>
                  <a:schemeClr val="tx2"/>
                </a:solidFill>
                <a:latin typeface="幼圆" pitchFamily="49" charset="-122"/>
                <a:ea typeface="幼圆" pitchFamily="49" charset="-122"/>
                <a:sym typeface="Symbol" pitchFamily="18" charset="2"/>
              </a:rPr>
              <a:t></a:t>
            </a: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§4.2  </a:t>
            </a: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土的压缩性测试方法 </a:t>
            </a:r>
            <a:r>
              <a:rPr lang="zh-CN" altLang="en-US" sz="3200" b="1">
                <a:solidFill>
                  <a:schemeClr val="tx2"/>
                </a:solidFill>
                <a:ea typeface="幼圆" pitchFamily="49" charset="-122"/>
                <a:sym typeface="Symbol" pitchFamily="18" charset="2"/>
              </a:rPr>
              <a:t></a:t>
            </a:r>
            <a:endParaRPr lang="zh-CN" altLang="en-US" sz="3200" b="1">
              <a:solidFill>
                <a:schemeClr val="tx2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§4.3  </a:t>
            </a: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一维压缩性及其指标 </a:t>
            </a:r>
            <a:r>
              <a:rPr lang="zh-CN" altLang="en-US" sz="3200" b="1">
                <a:solidFill>
                  <a:schemeClr val="tx2"/>
                </a:solidFill>
                <a:ea typeface="幼圆" pitchFamily="49" charset="-122"/>
                <a:sym typeface="Symbol" pitchFamily="18" charset="2"/>
              </a:rPr>
              <a:t></a:t>
            </a:r>
            <a:endParaRPr lang="zh-CN" altLang="en-US" sz="3200" b="1">
              <a:solidFill>
                <a:schemeClr val="tx2"/>
              </a:solidFill>
              <a:ea typeface="幼圆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§4.4  </a:t>
            </a: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地基的最终沉降量计算 </a:t>
            </a:r>
            <a:r>
              <a:rPr lang="zh-CN" altLang="en-US" sz="3200" b="1">
                <a:solidFill>
                  <a:schemeClr val="tx2"/>
                </a:solidFill>
                <a:ea typeface="幼圆" pitchFamily="49" charset="-122"/>
                <a:sym typeface="Symbol" pitchFamily="18" charset="2"/>
              </a:rPr>
              <a:t></a:t>
            </a:r>
            <a:endParaRPr lang="zh-CN" altLang="en-US" sz="3200" b="1">
              <a:solidFill>
                <a:schemeClr val="tx2"/>
              </a:solidFill>
              <a:latin typeface="幼圆" pitchFamily="49" charset="-122"/>
              <a:ea typeface="幼圆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§4.5  </a:t>
            </a:r>
            <a:r>
              <a:rPr lang="zh-CN" altLang="en-US" sz="3200" b="1">
                <a:solidFill>
                  <a:srgbClr val="000066"/>
                </a:solidFill>
                <a:latin typeface="幼圆" pitchFamily="49" charset="-122"/>
                <a:ea typeface="幼圆" pitchFamily="49" charset="-122"/>
              </a:rPr>
              <a:t>饱和土体的渗流固结理论 </a:t>
            </a:r>
            <a:r>
              <a:rPr lang="zh-CN" altLang="en-US" sz="2800" b="1">
                <a:solidFill>
                  <a:schemeClr val="tx2"/>
                </a:solidFill>
                <a:ea typeface="幼圆" pitchFamily="49" charset="-122"/>
                <a:sym typeface="Symbol" pitchFamily="18" charset="2"/>
              </a:rPr>
              <a:t></a:t>
            </a:r>
          </a:p>
        </p:txBody>
      </p:sp>
      <p:sp>
        <p:nvSpPr>
          <p:cNvPr id="1430626" name="Text Box 98"/>
          <p:cNvSpPr txBox="1">
            <a:spLocks noChangeArrowheads="1"/>
          </p:cNvSpPr>
          <p:nvPr/>
        </p:nvSpPr>
        <p:spPr bwMode="auto">
          <a:xfrm>
            <a:off x="858838" y="1030288"/>
            <a:ext cx="77771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252538" indent="-12525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1431925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611313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7907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9700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4272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8844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3416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798888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第四章：</a:t>
            </a:r>
            <a:r>
              <a:rPr kumimoji="0" lang="zh-CN" altLang="en-US" sz="36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土的压缩性与地基沉降计算</a:t>
            </a:r>
            <a:endParaRPr kumimoji="0" lang="en-US" altLang="zh-CN" sz="3600" b="1">
              <a:solidFill>
                <a:srgbClr val="000066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30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30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30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30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430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430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430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430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6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4306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4306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819" name="Text Box 147"/>
          <p:cNvSpPr txBox="1">
            <a:spLocks noChangeArrowheads="1"/>
          </p:cNvSpPr>
          <p:nvPr/>
        </p:nvSpPr>
        <p:spPr bwMode="auto">
          <a:xfrm>
            <a:off x="3276600" y="5953125"/>
            <a:ext cx="2552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66"/>
                </a:solidFill>
                <a:latin typeface="黑体" pitchFamily="2" charset="-122"/>
                <a:ea typeface="黑体" pitchFamily="2" charset="-122"/>
                <a:sym typeface="Symbol" pitchFamily="18" charset="2"/>
              </a:rPr>
              <a:t>小    结</a:t>
            </a:r>
          </a:p>
        </p:txBody>
      </p:sp>
      <p:sp>
        <p:nvSpPr>
          <p:cNvPr id="1436821" name="Text Box 149"/>
          <p:cNvSpPr txBox="1">
            <a:spLocks noChangeArrowheads="1"/>
          </p:cNvSpPr>
          <p:nvPr/>
        </p:nvSpPr>
        <p:spPr bwMode="auto">
          <a:xfrm>
            <a:off x="800100" y="896938"/>
            <a:ext cx="3184525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33400" indent="-53340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1278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sz="2600" b="1">
                <a:solidFill>
                  <a:srgbClr val="000066"/>
                </a:solidFill>
                <a:ea typeface="幼圆" pitchFamily="49" charset="-122"/>
              </a:rPr>
              <a:t>土的压缩特性测试方法</a:t>
            </a:r>
          </a:p>
          <a:p>
            <a:pPr>
              <a:lnSpc>
                <a:spcPct val="10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endParaRPr kumimoji="0" lang="zh-CN" altLang="en-US" sz="2600" b="1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0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sz="2600" b="1">
                <a:solidFill>
                  <a:srgbClr val="000066"/>
                </a:solidFill>
                <a:ea typeface="幼圆" pitchFamily="49" charset="-122"/>
              </a:rPr>
              <a:t>一维压缩性及其指标</a:t>
            </a:r>
          </a:p>
          <a:p>
            <a:pPr>
              <a:lnSpc>
                <a:spcPct val="12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endParaRPr kumimoji="0" lang="zh-CN" altLang="en-US" sz="2600" b="1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0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kumimoji="0" lang="zh-CN" altLang="en-US" sz="2600" b="1">
                <a:solidFill>
                  <a:srgbClr val="000066"/>
                </a:solidFill>
                <a:ea typeface="幼圆" pitchFamily="49" charset="-122"/>
              </a:rPr>
              <a:t>地基的最终沉降量计算</a:t>
            </a:r>
            <a:endParaRPr lang="zh-CN" altLang="en-US" sz="2600" b="1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0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endParaRPr lang="zh-CN" altLang="en-US" sz="2600" b="1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00000"/>
              </a:lnSpc>
              <a:buClr>
                <a:srgbClr val="A50021"/>
              </a:buClr>
              <a:buSzPct val="130000"/>
              <a:buFont typeface="Wingdings" pitchFamily="2" charset="2"/>
              <a:buChar char="F"/>
            </a:pPr>
            <a:r>
              <a:rPr lang="zh-CN" altLang="en-US" sz="2600" b="1">
                <a:solidFill>
                  <a:srgbClr val="000066"/>
                </a:solidFill>
                <a:ea typeface="幼圆" pitchFamily="49" charset="-122"/>
              </a:rPr>
              <a:t>饱和土体的渗流固结理论</a:t>
            </a:r>
          </a:p>
        </p:txBody>
      </p:sp>
      <p:sp>
        <p:nvSpPr>
          <p:cNvPr id="1436822" name="Text Box 150"/>
          <p:cNvSpPr txBox="1">
            <a:spLocks noChangeArrowheads="1"/>
          </p:cNvSpPr>
          <p:nvPr/>
        </p:nvSpPr>
        <p:spPr bwMode="auto">
          <a:xfrm>
            <a:off x="4357688" y="592138"/>
            <a:ext cx="290988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侧限压缩试验</a:t>
            </a:r>
          </a:p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三轴压缩试验</a:t>
            </a:r>
          </a:p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土的应力应变关系</a:t>
            </a:r>
          </a:p>
        </p:txBody>
      </p:sp>
      <p:sp>
        <p:nvSpPr>
          <p:cNvPr id="1436823" name="Text Box 151"/>
          <p:cNvSpPr txBox="1">
            <a:spLocks noChangeArrowheads="1"/>
          </p:cNvSpPr>
          <p:nvPr/>
        </p:nvSpPr>
        <p:spPr bwMode="auto">
          <a:xfrm>
            <a:off x="4373563" y="1879600"/>
            <a:ext cx="417486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 </a:t>
            </a:r>
            <a:r>
              <a:rPr lang="en-US" altLang="zh-CN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- p</a:t>
            </a:r>
            <a:r>
              <a:rPr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、</a:t>
            </a:r>
            <a:r>
              <a:rPr lang="en-US" altLang="zh-CN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 - p</a:t>
            </a:r>
            <a:r>
              <a:rPr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、</a:t>
            </a:r>
            <a:r>
              <a:rPr lang="en-US" altLang="zh-CN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e - </a:t>
            </a:r>
            <a:r>
              <a:rPr lang="en-US" altLang="zh-CN" b="1" dirty="0" err="1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lg</a:t>
            </a:r>
            <a:r>
              <a:rPr lang="en-US" altLang="zh-CN" b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b="1" i="1" dirty="0" smtClean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p</a:t>
            </a:r>
            <a:r>
              <a:rPr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曲线</a:t>
            </a:r>
          </a:p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先期固结压力</a:t>
            </a:r>
          </a:p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b="1" i="1" dirty="0">
                <a:solidFill>
                  <a:srgbClr val="000066"/>
                </a:solidFill>
                <a:ea typeface="幼圆" pitchFamily="49" charset="-122"/>
                <a:cs typeface="Times New Roman" panose="02020603050405020304" pitchFamily="18" charset="0"/>
                <a:sym typeface="Symbol" pitchFamily="18" charset="2"/>
              </a:rPr>
              <a:t>原位压缩曲线及再压缩曲线</a:t>
            </a:r>
          </a:p>
        </p:txBody>
      </p:sp>
      <p:sp>
        <p:nvSpPr>
          <p:cNvPr id="1436824" name="Text Box 152"/>
          <p:cNvSpPr txBox="1">
            <a:spLocks noChangeArrowheads="1"/>
          </p:cNvSpPr>
          <p:nvPr/>
        </p:nvSpPr>
        <p:spPr bwMode="auto">
          <a:xfrm>
            <a:off x="4351338" y="3240088"/>
            <a:ext cx="413543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单一土层一维压缩问题</a:t>
            </a:r>
          </a:p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地基最终沉降量分层总和法</a:t>
            </a:r>
          </a:p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地基沉降计算的若干问题</a:t>
            </a:r>
          </a:p>
        </p:txBody>
      </p:sp>
      <p:sp>
        <p:nvSpPr>
          <p:cNvPr id="1436825" name="Text Box 153"/>
          <p:cNvSpPr txBox="1">
            <a:spLocks noChangeArrowheads="1"/>
          </p:cNvSpPr>
          <p:nvPr/>
        </p:nvSpPr>
        <p:spPr bwMode="auto">
          <a:xfrm>
            <a:off x="4381500" y="4524375"/>
            <a:ext cx="290988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74638" indent="-274638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一维渗流固结理论</a:t>
            </a:r>
          </a:p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固结度的计算</a:t>
            </a:r>
            <a:endParaRPr lang="zh-CN" altLang="en-US" b="1">
              <a:solidFill>
                <a:srgbClr val="000066"/>
              </a:solidFill>
              <a:ea typeface="幼圆" pitchFamily="49" charset="-122"/>
            </a:endParaRPr>
          </a:p>
          <a:p>
            <a:pPr>
              <a:lnSpc>
                <a:spcPct val="100000"/>
              </a:lnSpc>
              <a:buClr>
                <a:srgbClr val="A50021"/>
              </a:buClr>
              <a:buFontTx/>
              <a:buChar char="•"/>
            </a:pPr>
            <a:r>
              <a:rPr lang="zh-CN" altLang="en-US" b="1">
                <a:solidFill>
                  <a:srgbClr val="000066"/>
                </a:solidFill>
                <a:ea typeface="幼圆" pitchFamily="49" charset="-122"/>
                <a:sym typeface="Symbol" pitchFamily="18" charset="2"/>
              </a:rPr>
              <a:t>固结系数的测定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-9525" y="0"/>
            <a:ext cx="4510504" cy="366713"/>
          </a:xfrm>
          <a:prstGeom prst="rect">
            <a:avLst/>
          </a:prstGeom>
          <a:solidFill>
            <a:srgbClr val="FFCC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fontAlgn="ctr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900" spc="-140" dirty="0" smtClean="0">
                <a:solidFill>
                  <a:srgbClr val="C00000"/>
                </a:solidFill>
                <a:latin typeface="宋体" pitchFamily="2" charset="-122"/>
              </a:rPr>
              <a:t>§4  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土</a:t>
            </a:r>
            <a:r>
              <a:rPr lang="zh-CN" altLang="en-US" sz="2000" b="1" kern="900" spc="-140" dirty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的压缩性与地基沉降</a:t>
            </a:r>
            <a:r>
              <a:rPr lang="zh-CN" altLang="en-US" sz="2000" b="1" kern="900" spc="-140" dirty="0" smtClean="0">
                <a:solidFill>
                  <a:srgbClr val="C00000"/>
                </a:solidFill>
                <a:latin typeface="宋体" pitchFamily="2" charset="-122"/>
                <a:sym typeface="Symbol" pitchFamily="18" charset="2"/>
              </a:rPr>
              <a:t>计算</a:t>
            </a:r>
            <a:endParaRPr lang="zh-CN" altLang="en-US" sz="2000" b="1" kern="900" spc="-140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2" name="灯片编号占位符 1"/>
          <p:cNvSpPr txBox="1">
            <a:spLocks/>
          </p:cNvSpPr>
          <p:nvPr/>
        </p:nvSpPr>
        <p:spPr>
          <a:xfrm>
            <a:off x="6546643" y="6365228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1pPr>
            <a:lvl2pPr marL="4572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2pPr>
            <a:lvl3pPr marL="9144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3pPr>
            <a:lvl4pPr marL="13716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4pPr>
            <a:lvl5pPr marL="1828800" algn="l" rtl="0" fontAlgn="base">
              <a:lnSpc>
                <a:spcPct val="115000"/>
              </a:lnSpc>
              <a:spcBef>
                <a:spcPct val="15000"/>
              </a:spcBef>
              <a:spcAft>
                <a:spcPct val="1500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Times New Roman" pitchFamily="18" charset="0"/>
                <a:ea typeface="宋体" charset="-122"/>
                <a:cs typeface="+mn-cs"/>
              </a:defRPr>
            </a:lvl9pPr>
          </a:lstStyle>
          <a:p>
            <a:pPr algn="r"/>
            <a:fld id="{21B3B741-5216-414E-B74B-795A24EA3A0B}" type="slidenum">
              <a:rPr lang="zh-CN" altLang="en-US" smtClean="0">
                <a:solidFill>
                  <a:srgbClr val="C00000"/>
                </a:solidFill>
              </a:rPr>
              <a:pPr algn="r"/>
              <a:t>128</a:t>
            </a:fld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436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436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4368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4368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6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6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6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6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36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6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6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6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6821" grpId="0" build="p"/>
      <p:bldP spid="1436822" grpId="0"/>
      <p:bldP spid="1436823" grpId="0"/>
      <p:bldP spid="1436824" grpId="0"/>
      <p:bldP spid="1436825" grpId="0"/>
    </p:bldLst>
  </p:timing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华文新魏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9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0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clipse">
  <a:themeElements>
    <a:clrScheme name="Eclipse 14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FFFF99"/>
      </a:accent1>
      <a:accent2>
        <a:srgbClr val="FF9933"/>
      </a:accent2>
      <a:accent3>
        <a:srgbClr val="FFFFFF"/>
      </a:accent3>
      <a:accent4>
        <a:srgbClr val="000000"/>
      </a:accent4>
      <a:accent5>
        <a:srgbClr val="FFFFCA"/>
      </a:accent5>
      <a:accent6>
        <a:srgbClr val="E78A2D"/>
      </a:accent6>
      <a:hlink>
        <a:srgbClr val="0000FF"/>
      </a:hlink>
      <a:folHlink>
        <a:srgbClr val="FF0000"/>
      </a:folHlink>
    </a:clrScheme>
    <a:fontScheme name="Eclipse">
      <a:majorFont>
        <a:latin typeface="Arial"/>
        <a:ea typeface="华文新魏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358775" algn="l" defTabSz="914400" rtl="0" eaLnBrk="1" fontAlgn="base" latinLnBrk="0" hangingPunct="1">
          <a:lnSpc>
            <a:spcPct val="115000"/>
          </a:lnSpc>
          <a:spcBef>
            <a:spcPct val="15000"/>
          </a:spcBef>
          <a:spcAft>
            <a:spcPct val="1500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00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2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8AB9B9"/>
        </a:accent6>
        <a:hlink>
          <a:srgbClr val="FF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3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B8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14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FFFF99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E78A2D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33397</TotalTime>
  <Words>8432</Words>
  <Application>Microsoft Office PowerPoint</Application>
  <PresentationFormat>全屏显示(4:3)</PresentationFormat>
  <Paragraphs>1949</Paragraphs>
  <Slides>128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128</vt:i4>
      </vt:variant>
    </vt:vector>
  </HeadingPairs>
  <TitlesOfParts>
    <vt:vector size="147" baseType="lpstr">
      <vt:lpstr>黑体</vt:lpstr>
      <vt:lpstr>华文新魏</vt:lpstr>
      <vt:lpstr>隶书</vt:lpstr>
      <vt:lpstr>宋体</vt:lpstr>
      <vt:lpstr>幼圆</vt:lpstr>
      <vt:lpstr>Arial</vt:lpstr>
      <vt:lpstr>Arial Black</vt:lpstr>
      <vt:lpstr>Symbol</vt:lpstr>
      <vt:lpstr>Tahoma</vt:lpstr>
      <vt:lpstr>Times New Roman</vt:lpstr>
      <vt:lpstr>Verdana</vt:lpstr>
      <vt:lpstr>Wingdings</vt:lpstr>
      <vt:lpstr>Wingdings 2</vt:lpstr>
      <vt:lpstr>吉祥如意</vt:lpstr>
      <vt:lpstr>Eclipse</vt:lpstr>
      <vt:lpstr>公式</vt:lpstr>
      <vt:lpstr>Microsoft 公式 3.0</vt:lpstr>
      <vt:lpstr>MathType 6.0 Equation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zhang0</dc:creator>
  <cp:lastModifiedBy>Windows 用户</cp:lastModifiedBy>
  <cp:revision>2471</cp:revision>
  <dcterms:created xsi:type="dcterms:W3CDTF">1601-01-01T00:00:00Z</dcterms:created>
  <dcterms:modified xsi:type="dcterms:W3CDTF">2020-10-15T14:17:30Z</dcterms:modified>
</cp:coreProperties>
</file>