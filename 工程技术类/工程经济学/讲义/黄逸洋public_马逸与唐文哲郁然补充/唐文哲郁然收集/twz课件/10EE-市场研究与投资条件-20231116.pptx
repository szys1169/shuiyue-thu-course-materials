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726" r:id="rId3"/>
    <p:sldId id="648" r:id="rId4"/>
    <p:sldId id="649" r:id="rId5"/>
    <p:sldId id="650" r:id="rId6"/>
    <p:sldId id="651" r:id="rId7"/>
    <p:sldId id="685" r:id="rId8"/>
    <p:sldId id="653" r:id="rId9"/>
    <p:sldId id="727" r:id="rId10"/>
    <p:sldId id="654" r:id="rId11"/>
    <p:sldId id="655" r:id="rId12"/>
    <p:sldId id="730" r:id="rId13"/>
    <p:sldId id="657" r:id="rId14"/>
    <p:sldId id="658" r:id="rId15"/>
    <p:sldId id="659" r:id="rId16"/>
    <p:sldId id="660" r:id="rId17"/>
    <p:sldId id="661" r:id="rId18"/>
    <p:sldId id="662" r:id="rId19"/>
    <p:sldId id="663" r:id="rId20"/>
    <p:sldId id="664" r:id="rId21"/>
    <p:sldId id="665" r:id="rId22"/>
    <p:sldId id="666" r:id="rId23"/>
    <p:sldId id="667" r:id="rId24"/>
    <p:sldId id="668" r:id="rId25"/>
    <p:sldId id="669" r:id="rId26"/>
    <p:sldId id="670" r:id="rId27"/>
    <p:sldId id="671" r:id="rId28"/>
    <p:sldId id="672" r:id="rId29"/>
    <p:sldId id="673" r:id="rId30"/>
    <p:sldId id="674" r:id="rId31"/>
    <p:sldId id="675" r:id="rId32"/>
    <p:sldId id="678" r:id="rId33"/>
    <p:sldId id="677" r:id="rId34"/>
    <p:sldId id="680" r:id="rId35"/>
    <p:sldId id="682" r:id="rId36"/>
    <p:sldId id="683" r:id="rId37"/>
    <p:sldId id="681" r:id="rId38"/>
    <p:sldId id="684" r:id="rId39"/>
    <p:sldId id="686" r:id="rId40"/>
    <p:sldId id="687" r:id="rId41"/>
    <p:sldId id="688" r:id="rId42"/>
    <p:sldId id="689" r:id="rId43"/>
    <p:sldId id="690" r:id="rId44"/>
    <p:sldId id="691" r:id="rId45"/>
    <p:sldId id="692" r:id="rId46"/>
    <p:sldId id="693" r:id="rId47"/>
    <p:sldId id="694" r:id="rId48"/>
    <p:sldId id="695" r:id="rId49"/>
    <p:sldId id="697" r:id="rId50"/>
    <p:sldId id="696" r:id="rId51"/>
    <p:sldId id="698" r:id="rId52"/>
    <p:sldId id="729" r:id="rId53"/>
    <p:sldId id="646" r:id="rId54"/>
  </p:sldIdLst>
  <p:sldSz cx="9144000" cy="6858000" type="screen4x3"/>
  <p:notesSz cx="6858000" cy="9144000"/>
  <p:custDataLst>
    <p:tags r:id="rId59"/>
  </p:custDataLst>
  <p:defaultTextStyle>
    <a:defPPr>
      <a:defRPr lang="en-AU"/>
    </a:defPPr>
    <a:lvl1pPr algn="l" rtl="0" eaLnBrk="0" fontAlgn="base" hangingPunct="0">
      <a:spcBef>
        <a:spcPct val="0"/>
      </a:spcBef>
      <a:spcAft>
        <a:spcPct val="0"/>
      </a:spcAft>
      <a:defRPr sz="4400" kern="1200">
        <a:solidFill>
          <a:srgbClr val="CC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4400" kern="1200">
        <a:solidFill>
          <a:srgbClr val="CC0000"/>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4400" kern="1200">
        <a:solidFill>
          <a:srgbClr val="CC0000"/>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4400" kern="1200">
        <a:solidFill>
          <a:srgbClr val="CC0000"/>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4400" kern="1200">
        <a:solidFill>
          <a:srgbClr val="CC0000"/>
        </a:solidFill>
        <a:latin typeface="Arial" panose="020B0604020202020204" pitchFamily="34" charset="0"/>
        <a:ea typeface="宋体" panose="02010600030101010101" pitchFamily="2" charset="-122"/>
        <a:cs typeface="+mn-cs"/>
      </a:defRPr>
    </a:lvl5pPr>
    <a:lvl6pPr marL="2286000" algn="l" defTabSz="914400" rtl="0" eaLnBrk="1" latinLnBrk="0" hangingPunct="1">
      <a:defRPr sz="4400" kern="1200">
        <a:solidFill>
          <a:srgbClr val="CC0000"/>
        </a:solidFill>
        <a:latin typeface="Arial" panose="020B0604020202020204" pitchFamily="34" charset="0"/>
        <a:ea typeface="宋体" panose="02010600030101010101" pitchFamily="2" charset="-122"/>
        <a:cs typeface="+mn-cs"/>
      </a:defRPr>
    </a:lvl6pPr>
    <a:lvl7pPr marL="2743200" algn="l" defTabSz="914400" rtl="0" eaLnBrk="1" latinLnBrk="0" hangingPunct="1">
      <a:defRPr sz="4400" kern="1200">
        <a:solidFill>
          <a:srgbClr val="CC0000"/>
        </a:solidFill>
        <a:latin typeface="Arial" panose="020B0604020202020204" pitchFamily="34" charset="0"/>
        <a:ea typeface="宋体" panose="02010600030101010101" pitchFamily="2" charset="-122"/>
        <a:cs typeface="+mn-cs"/>
      </a:defRPr>
    </a:lvl7pPr>
    <a:lvl8pPr marL="3200400" algn="l" defTabSz="914400" rtl="0" eaLnBrk="1" latinLnBrk="0" hangingPunct="1">
      <a:defRPr sz="4400" kern="1200">
        <a:solidFill>
          <a:srgbClr val="CC0000"/>
        </a:solidFill>
        <a:latin typeface="Arial" panose="020B0604020202020204" pitchFamily="34" charset="0"/>
        <a:ea typeface="宋体" panose="02010600030101010101" pitchFamily="2" charset="-122"/>
        <a:cs typeface="+mn-cs"/>
      </a:defRPr>
    </a:lvl8pPr>
    <a:lvl9pPr marL="3657600" algn="l" defTabSz="914400" rtl="0" eaLnBrk="1" latinLnBrk="0" hangingPunct="1">
      <a:defRPr sz="4400" kern="1200">
        <a:solidFill>
          <a:srgbClr val="CC0000"/>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48" userDrawn="1">
          <p15:clr>
            <a:srgbClr val="A4A3A4"/>
          </p15:clr>
        </p15:guide>
        <p15:guide id="2" pos="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FFFF6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7" autoAdjust="0"/>
    <p:restoredTop sz="94660"/>
  </p:normalViewPr>
  <p:slideViewPr>
    <p:cSldViewPr showGuides="1">
      <p:cViewPr varScale="1">
        <p:scale>
          <a:sx n="115" d="100"/>
          <a:sy n="115" d="100"/>
        </p:scale>
        <p:origin x="1500" y="102"/>
      </p:cViewPr>
      <p:guideLst>
        <p:guide orient="horz" pos="48"/>
        <p:guide/>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9" d="100"/>
          <a:sy n="49" d="100"/>
        </p:scale>
        <p:origin x="-180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9" Type="http://schemas.openxmlformats.org/officeDocument/2006/relationships/tags" Target="tags/tag1.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notesMaster" Target="notesMasters/notesMaster1.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14.wmf"/><Relationship Id="rId4" Type="http://schemas.openxmlformats.org/officeDocument/2006/relationships/image" Target="../media/image13.wmf"/><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lgn="l" eaLnBrk="0" hangingPunct="0">
              <a:defRPr sz="1200">
                <a:solidFill>
                  <a:schemeClr val="tx1"/>
                </a:solidFill>
                <a:latin typeface="Times New Roman" panose="02020603050405020304" pitchFamily="18" charset="0"/>
              </a:defRPr>
            </a:lvl1pPr>
          </a:lstStyle>
          <a:p>
            <a:pPr>
              <a:defRPr/>
            </a:pPr>
            <a:endParaRPr lang="zh-CN" altLang="en-AU"/>
          </a:p>
        </p:txBody>
      </p:sp>
      <p:sp>
        <p:nvSpPr>
          <p:cNvPr id="29699" name="Rectangle 3"/>
          <p:cNvSpPr>
            <a:spLocks noGrp="1" noChangeArrowheads="1"/>
          </p:cNvSpPr>
          <p:nvPr>
            <p:ph type="dt"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lgn="r" eaLnBrk="0" hangingPunct="0">
              <a:defRPr sz="1200">
                <a:solidFill>
                  <a:schemeClr val="tx1"/>
                </a:solidFill>
                <a:latin typeface="Times New Roman" panose="02020603050405020304" pitchFamily="18" charset="0"/>
              </a:defRPr>
            </a:lvl1pPr>
          </a:lstStyle>
          <a:p>
            <a:pPr>
              <a:defRPr/>
            </a:pPr>
            <a:endParaRPr lang="en-AU"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9701" name="Rectangle 5"/>
          <p:cNvSpPr>
            <a:spLocks noGrp="1" noChangeArrowheads="1"/>
          </p:cNvSpPr>
          <p:nvPr>
            <p:ph type="body" sz="quarter" idx="3"/>
          </p:nvPr>
        </p:nvSpPr>
        <p:spPr bwMode="auto">
          <a:xfrm>
            <a:off x="914400" y="4343400"/>
            <a:ext cx="5029200" cy="41148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p>
            <a:pPr lvl="0"/>
            <a:r>
              <a:rPr lang="en-AU" altLang="zh-CN" noProof="0" smtClean="0"/>
              <a:t>Click to edit Master text styles</a:t>
            </a:r>
            <a:endParaRPr lang="en-AU" altLang="zh-CN" noProof="0" smtClean="0"/>
          </a:p>
          <a:p>
            <a:pPr lvl="1"/>
            <a:r>
              <a:rPr lang="en-AU" altLang="zh-CN" noProof="0" smtClean="0"/>
              <a:t>Second level</a:t>
            </a:r>
            <a:endParaRPr lang="en-AU" altLang="zh-CN" noProof="0" smtClean="0"/>
          </a:p>
          <a:p>
            <a:pPr lvl="2"/>
            <a:r>
              <a:rPr lang="en-AU" altLang="zh-CN" noProof="0" smtClean="0"/>
              <a:t>Third level</a:t>
            </a:r>
            <a:endParaRPr lang="en-AU" altLang="zh-CN" noProof="0" smtClean="0"/>
          </a:p>
          <a:p>
            <a:pPr lvl="3"/>
            <a:r>
              <a:rPr lang="en-AU" altLang="zh-CN" noProof="0" smtClean="0"/>
              <a:t>Fourth level</a:t>
            </a:r>
            <a:endParaRPr lang="en-AU" altLang="zh-CN" noProof="0" smtClean="0"/>
          </a:p>
          <a:p>
            <a:pPr lvl="4"/>
            <a:r>
              <a:rPr lang="en-AU" altLang="zh-CN" noProof="0" smtClean="0"/>
              <a:t>Fifth level</a:t>
            </a:r>
            <a:endParaRPr lang="en-AU" altLang="zh-CN" noProof="0" smtClean="0"/>
          </a:p>
        </p:txBody>
      </p:sp>
      <p:sp>
        <p:nvSpPr>
          <p:cNvPr id="29702" name="Rectangle 6"/>
          <p:cNvSpPr>
            <a:spLocks noGrp="1" noChangeArrowheads="1"/>
          </p:cNvSpPr>
          <p:nvPr>
            <p:ph type="ftr" sz="quarter" idx="4"/>
          </p:nvPr>
        </p:nvSpPr>
        <p:spPr bwMode="auto">
          <a:xfrm>
            <a:off x="0" y="86868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lstStyle>
            <a:lvl1pPr algn="l" eaLnBrk="0" hangingPunct="0">
              <a:defRPr sz="1200">
                <a:solidFill>
                  <a:schemeClr val="tx1"/>
                </a:solidFill>
                <a:latin typeface="Times New Roman" panose="02020603050405020304" pitchFamily="18" charset="0"/>
              </a:defRPr>
            </a:lvl1pPr>
          </a:lstStyle>
          <a:p>
            <a:pPr>
              <a:defRPr/>
            </a:pPr>
            <a:endParaRPr lang="en-AU" altLang="zh-CN"/>
          </a:p>
        </p:txBody>
      </p:sp>
      <p:sp>
        <p:nvSpPr>
          <p:cNvPr id="29703" name="Rectangle 7"/>
          <p:cNvSpPr>
            <a:spLocks noGrp="1" noChangeArrowheads="1"/>
          </p:cNvSpPr>
          <p:nvPr>
            <p:ph type="sldNum" sz="quarter" idx="5"/>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lstStyle>
            <a:lvl1pPr algn="r" eaLnBrk="0" hangingPunct="0">
              <a:defRPr sz="1200">
                <a:solidFill>
                  <a:schemeClr val="tx1"/>
                </a:solidFill>
                <a:latin typeface="Times New Roman" panose="02020603050405020304" pitchFamily="18" charset="0"/>
              </a:defRPr>
            </a:lvl1pPr>
          </a:lstStyle>
          <a:p>
            <a:pPr>
              <a:defRPr/>
            </a:pPr>
            <a:fld id="{474AAFDD-38BF-4891-AE38-03CA7F9CE90D}" type="slidenum">
              <a:rPr lang="zh-CN" altLang="en-AU"/>
            </a:fld>
            <a:endParaRPr lang="en-AU"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50530" name="Rectangle 2"/>
          <p:cNvSpPr>
            <a:spLocks noGrp="1" noRot="1" noChangeArrowheads="1"/>
          </p:cNvSpPr>
          <p:nvPr>
            <p:ph type="ctrTitle"/>
          </p:nvPr>
        </p:nvSpPr>
        <p:spPr>
          <a:xfrm>
            <a:off x="3962400" y="1066800"/>
            <a:ext cx="4648200" cy="1981200"/>
          </a:xfrm>
        </p:spPr>
        <p:txBody>
          <a:bodyPr/>
          <a:lstStyle>
            <a:lvl1pPr>
              <a:defRPr/>
            </a:lvl1pPr>
          </a:lstStyle>
          <a:p>
            <a:r>
              <a:rPr lang="zh-CN" altLang="en-US"/>
              <a:t>单击此处编辑母版标题样式</a:t>
            </a:r>
            <a:endParaRPr lang="zh-CN" altLang="en-US"/>
          </a:p>
        </p:txBody>
      </p:sp>
      <p:sp>
        <p:nvSpPr>
          <p:cNvPr id="150531" name="Rectangle 3"/>
          <p:cNvSpPr>
            <a:spLocks noGrp="1" noRot="1" noChangeArrowheads="1"/>
          </p:cNvSpPr>
          <p:nvPr>
            <p:ph type="subTitle" idx="1"/>
          </p:nvPr>
        </p:nvSpPr>
        <p:spPr>
          <a:xfrm>
            <a:off x="3962400" y="3657600"/>
            <a:ext cx="4572000" cy="16764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a:xfrm>
            <a:off x="301625" y="6076950"/>
            <a:ext cx="2289175" cy="476250"/>
          </a:xfrm>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3124200" y="6076950"/>
            <a:ext cx="2895600" cy="476250"/>
          </a:xfrm>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6553200" y="6076950"/>
            <a:ext cx="2289175" cy="476250"/>
          </a:xfrm>
        </p:spPr>
        <p:txBody>
          <a:bodyPr/>
          <a:lstStyle>
            <a:lvl1pPr>
              <a:defRPr/>
            </a:lvl1pPr>
          </a:lstStyle>
          <a:p>
            <a:pPr>
              <a:defRPr/>
            </a:pPr>
            <a:fld id="{6EA63C68-4E98-4ACC-811F-070AA9F8C5C2}" type="slidenum">
              <a:rPr lang="zh-CN" altLang="en-US"/>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C266CB98-22FB-459C-A361-202F4DE501C0}" type="slidenum">
              <a:rPr lang="zh-CN" altLang="en-US"/>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8D7C8C34-A463-43E9-A5C0-D6E16F31B767}" type="slidenum">
              <a:rPr lang="zh-CN" altLang="en-US"/>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4800" y="1981200"/>
            <a:ext cx="4194175"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1375" y="1981200"/>
            <a:ext cx="4194175"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7D4F1331-ACC0-41F6-8624-47C5900F9D50}" type="slidenum">
              <a:rPr lang="zh-CN" altLang="en-US"/>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DFB1EAE2-EEF4-4265-89D0-BB5C58127C02}" type="slidenum">
              <a:rPr lang="zh-CN" altLang="en-US"/>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0F8F0037-5F6A-471B-A8CE-76AFAAB8B7B8}" type="slidenum">
              <a:rPr lang="zh-CN" altLang="en-US"/>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B67F7D7D-82C1-4C5D-B55B-B9AEB3579DB1}" type="slidenum">
              <a:rPr lang="zh-CN" altLang="en-US"/>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93A6494B-9612-4C6D-BA85-FF730C118720}" type="slidenum">
              <a:rPr lang="zh-CN" altLang="en-US"/>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B2CE82E2-738F-41BE-93AA-687ED4ACCDC8}" type="slidenum">
              <a:rPr lang="zh-CN" altLang="en-US"/>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E0A2B06A-47B1-43F1-9144-07FD9B3559EB}" type="slidenum">
              <a:rPr lang="zh-CN" altLang="en-US"/>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10363" y="685800"/>
            <a:ext cx="2135187" cy="5181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685800"/>
            <a:ext cx="6256338" cy="51816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6D014BDC-EE64-4A2D-BF81-15D4C0368AE6}" type="slidenum">
              <a:rPr lang="zh-CN" altLang="en-US"/>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Rot="1" noChangeArrowheads="1"/>
          </p:cNvSpPr>
          <p:nvPr>
            <p:ph type="title"/>
          </p:nvPr>
        </p:nvSpPr>
        <p:spPr bwMode="auto">
          <a:xfrm>
            <a:off x="301625" y="6858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27" name="Rectangle 3"/>
          <p:cNvSpPr>
            <a:spLocks noGrp="1" noRot="1" noChangeArrowheads="1"/>
          </p:cNvSpPr>
          <p:nvPr>
            <p:ph type="body" idx="1"/>
          </p:nvPr>
        </p:nvSpPr>
        <p:spPr bwMode="auto">
          <a:xfrm>
            <a:off x="304800" y="1981200"/>
            <a:ext cx="854075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49508" name="Rectangle 4"/>
          <p:cNvSpPr>
            <a:spLocks noGrp="1" noChangeArrowheads="1"/>
          </p:cNvSpPr>
          <p:nvPr>
            <p:ph type="dt" sz="half" idx="2"/>
          </p:nvPr>
        </p:nvSpPr>
        <p:spPr bwMode="auto">
          <a:xfrm>
            <a:off x="301625" y="6019800"/>
            <a:ext cx="2289175" cy="47625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400">
                <a:solidFill>
                  <a:schemeClr val="tx1"/>
                </a:solidFill>
              </a:defRPr>
            </a:lvl1pPr>
          </a:lstStyle>
          <a:p>
            <a:pPr>
              <a:defRPr/>
            </a:pPr>
            <a:endParaRPr lang="en-US" altLang="zh-CN"/>
          </a:p>
        </p:txBody>
      </p:sp>
      <p:sp>
        <p:nvSpPr>
          <p:cNvPr id="149509" name="Rectangle 5"/>
          <p:cNvSpPr>
            <a:spLocks noGrp="1" noChangeArrowheads="1"/>
          </p:cNvSpPr>
          <p:nvPr>
            <p:ph type="ftr" sz="quarter" idx="3"/>
          </p:nvPr>
        </p:nvSpPr>
        <p:spPr bwMode="auto">
          <a:xfrm>
            <a:off x="3124200" y="6019800"/>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solidFill>
                  <a:schemeClr val="tx1"/>
                </a:solidFill>
              </a:defRPr>
            </a:lvl1pPr>
          </a:lstStyle>
          <a:p>
            <a:pPr>
              <a:defRPr/>
            </a:pPr>
            <a:endParaRPr lang="en-US" altLang="zh-CN"/>
          </a:p>
        </p:txBody>
      </p:sp>
      <p:sp>
        <p:nvSpPr>
          <p:cNvPr id="149510" name="Rectangle 6"/>
          <p:cNvSpPr>
            <a:spLocks noGrp="1" noChangeArrowheads="1"/>
          </p:cNvSpPr>
          <p:nvPr>
            <p:ph type="sldNum" sz="quarter" idx="4"/>
          </p:nvPr>
        </p:nvSpPr>
        <p:spPr bwMode="auto">
          <a:xfrm>
            <a:off x="6553200" y="6019800"/>
            <a:ext cx="2289175"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solidFill>
                  <a:schemeClr val="tx1"/>
                </a:solidFill>
              </a:defRPr>
            </a:lvl1pPr>
          </a:lstStyle>
          <a:p>
            <a:pPr>
              <a:defRPr/>
            </a:pPr>
            <a:fld id="{4967F1AD-6C12-4F49-B468-605B425C7EAF}"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e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2.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7.bin"/><Relationship Id="rId8" Type="http://schemas.openxmlformats.org/officeDocument/2006/relationships/image" Target="../media/image13.wmf"/><Relationship Id="rId7" Type="http://schemas.openxmlformats.org/officeDocument/2006/relationships/oleObject" Target="../embeddings/oleObject6.bin"/><Relationship Id="rId6" Type="http://schemas.openxmlformats.org/officeDocument/2006/relationships/image" Target="../media/image12.wmf"/><Relationship Id="rId5" Type="http://schemas.openxmlformats.org/officeDocument/2006/relationships/oleObject" Target="../embeddings/oleObject5.bin"/><Relationship Id="rId4" Type="http://schemas.openxmlformats.org/officeDocument/2006/relationships/image" Target="../media/image11.wmf"/><Relationship Id="rId3" Type="http://schemas.openxmlformats.org/officeDocument/2006/relationships/oleObject" Target="../embeddings/oleObject4.bin"/><Relationship Id="rId2" Type="http://schemas.openxmlformats.org/officeDocument/2006/relationships/image" Target="../media/image10.wmf"/><Relationship Id="rId12" Type="http://schemas.openxmlformats.org/officeDocument/2006/relationships/vmlDrawing" Target="../drawings/vmlDrawing3.vml"/><Relationship Id="rId11" Type="http://schemas.openxmlformats.org/officeDocument/2006/relationships/slideLayout" Target="../slideLayouts/slideLayout2.xml"/><Relationship Id="rId10" Type="http://schemas.openxmlformats.org/officeDocument/2006/relationships/image" Target="../media/image14.wmf"/><Relationship Id="rId1" Type="http://schemas.openxmlformats.org/officeDocument/2006/relationships/oleObject" Target="../embeddings/oleObject3.bin"/></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5.wmf"/><Relationship Id="rId1" Type="http://schemas.openxmlformats.org/officeDocument/2006/relationships/oleObject" Target="../embeddings/oleObject8.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9.emf"/><Relationship Id="rId1" Type="http://schemas.openxmlformats.org/officeDocument/2006/relationships/oleObject" Target="../embeddings/oleObject9.bin"/></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C983F19-C902-4FFE-A714-03D6C2FFA09F}" type="slidenum">
              <a:rPr lang="zh-CN" altLang="en-US" sz="1400" smtClean="0"/>
            </a:fld>
            <a:endParaRPr lang="en-US" altLang="zh-CN" sz="1400" smtClean="0"/>
          </a:p>
        </p:txBody>
      </p:sp>
      <p:sp>
        <p:nvSpPr>
          <p:cNvPr id="4099" name="Text Box 4"/>
          <p:cNvSpPr txBox="1">
            <a:spLocks noChangeArrowheads="1"/>
          </p:cNvSpPr>
          <p:nvPr/>
        </p:nvSpPr>
        <p:spPr bwMode="auto">
          <a:xfrm>
            <a:off x="0" y="654050"/>
            <a:ext cx="914400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AU" altLang="zh-CN" sz="6600" b="1">
                <a:latin typeface="Times New Roman" panose="02020603050405020304" pitchFamily="18" charset="0"/>
              </a:rPr>
              <a:t> </a:t>
            </a:r>
            <a:r>
              <a:rPr lang="zh-CN" altLang="en-AU" sz="6600" b="1">
                <a:latin typeface="Times New Roman" panose="02020603050405020304" pitchFamily="18" charset="0"/>
              </a:rPr>
              <a:t>工程经济学</a:t>
            </a:r>
            <a:endParaRPr lang="zh-CN" altLang="en-AU" sz="6600" b="1">
              <a:latin typeface="Times New Roman" panose="02020603050405020304" pitchFamily="18" charset="0"/>
            </a:endParaRPr>
          </a:p>
        </p:txBody>
      </p:sp>
      <p:sp>
        <p:nvSpPr>
          <p:cNvPr id="4100" name="Text Box 5"/>
          <p:cNvSpPr txBox="1">
            <a:spLocks noChangeArrowheads="1"/>
          </p:cNvSpPr>
          <p:nvPr/>
        </p:nvSpPr>
        <p:spPr bwMode="auto">
          <a:xfrm>
            <a:off x="1562100" y="2519363"/>
            <a:ext cx="5894388"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zh-CN" altLang="en-US" sz="3600" b="1">
                <a:solidFill>
                  <a:schemeClr val="tx2"/>
                </a:solidFill>
              </a:rPr>
              <a:t>工程项目可行性研究</a:t>
            </a:r>
            <a:r>
              <a:rPr kumimoji="1" lang="en-US" altLang="zh-CN" sz="3600" b="1">
                <a:solidFill>
                  <a:schemeClr val="tx2"/>
                </a:solidFill>
              </a:rPr>
              <a:t>:</a:t>
            </a:r>
            <a:endParaRPr kumimoji="1" lang="en-US" altLang="zh-CN" sz="3600" b="1">
              <a:solidFill>
                <a:schemeClr val="tx2"/>
              </a:solidFill>
            </a:endParaRPr>
          </a:p>
          <a:p>
            <a:pPr algn="ctr">
              <a:spcBef>
                <a:spcPct val="0"/>
              </a:spcBef>
              <a:buClrTx/>
              <a:buSzTx/>
              <a:buFontTx/>
              <a:buNone/>
            </a:pPr>
            <a:r>
              <a:rPr kumimoji="1" lang="zh-CN" altLang="en-AU" b="1">
                <a:solidFill>
                  <a:srgbClr val="CC0000"/>
                </a:solidFill>
              </a:rPr>
              <a:t>市场研究</a:t>
            </a:r>
            <a:r>
              <a:rPr lang="zh-CN" altLang="en-US">
                <a:solidFill>
                  <a:srgbClr val="CC0000"/>
                </a:solidFill>
              </a:rPr>
              <a:t>、</a:t>
            </a:r>
            <a:r>
              <a:rPr lang="zh-CN" altLang="en-US" b="1">
                <a:solidFill>
                  <a:srgbClr val="CC0000"/>
                </a:solidFill>
              </a:rPr>
              <a:t>投资条件与项目选址</a:t>
            </a:r>
            <a:endParaRPr lang="zh-CN" altLang="en-AU" b="1">
              <a:solidFill>
                <a:srgbClr val="CC0000"/>
              </a:solidFill>
            </a:endParaRPr>
          </a:p>
        </p:txBody>
      </p:sp>
      <p:sp>
        <p:nvSpPr>
          <p:cNvPr id="4101" name="Text Box 6"/>
          <p:cNvSpPr txBox="1">
            <a:spLocks noChangeArrowheads="1"/>
          </p:cNvSpPr>
          <p:nvPr/>
        </p:nvSpPr>
        <p:spPr bwMode="auto">
          <a:xfrm>
            <a:off x="3770313" y="3505200"/>
            <a:ext cx="565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AU" sz="2400">
                <a:latin typeface="Times New Roman" panose="02020603050405020304" pitchFamily="18" charset="0"/>
              </a:rPr>
              <a:t>     </a:t>
            </a:r>
            <a:endParaRPr lang="en-AU" altLang="zh-CN" sz="2400">
              <a:latin typeface="Times New Roman" panose="02020603050405020304" pitchFamily="18" charset="0"/>
            </a:endParaRPr>
          </a:p>
        </p:txBody>
      </p:sp>
      <p:sp>
        <p:nvSpPr>
          <p:cNvPr id="4102" name="Rectangle 4"/>
          <p:cNvSpPr>
            <a:spLocks noChangeArrowheads="1"/>
          </p:cNvSpPr>
          <p:nvPr/>
        </p:nvSpPr>
        <p:spPr bwMode="auto">
          <a:xfrm>
            <a:off x="539750" y="3770313"/>
            <a:ext cx="8064500"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3600" b="1" dirty="0">
                <a:latin typeface="Garamond" panose="02020404030301010803" pitchFamily="18" charset="0"/>
              </a:rPr>
              <a:t>唐文哲  教授</a:t>
            </a:r>
            <a:endParaRPr lang="zh-CN" altLang="en-US" sz="3600" b="1" dirty="0">
              <a:latin typeface="Garamond" panose="02020404030301010803" pitchFamily="18" charset="0"/>
            </a:endParaRPr>
          </a:p>
          <a:p>
            <a:pPr algn="ctr" eaLnBrk="1" hangingPunct="1">
              <a:spcBef>
                <a:spcPct val="0"/>
              </a:spcBef>
              <a:buClrTx/>
              <a:buSzTx/>
              <a:buFontTx/>
              <a:buNone/>
            </a:pPr>
            <a:r>
              <a:rPr lang="zh-CN" altLang="en-US" sz="3600" b="1" dirty="0">
                <a:latin typeface="Garamond" panose="02020404030301010803" pitchFamily="18" charset="0"/>
              </a:rPr>
              <a:t>清华大学土木水利学院</a:t>
            </a:r>
            <a:endParaRPr lang="en-US" altLang="zh-CN" sz="3600" b="1" dirty="0">
              <a:latin typeface="Garamond" panose="02020404030301010803" pitchFamily="18" charset="0"/>
            </a:endParaRPr>
          </a:p>
          <a:p>
            <a:pPr algn="ctr" eaLnBrk="1" hangingPunct="1">
              <a:spcBef>
                <a:spcPct val="0"/>
              </a:spcBef>
              <a:buClrTx/>
              <a:buSzTx/>
              <a:buFontTx/>
              <a:buNone/>
            </a:pPr>
            <a:r>
              <a:rPr lang="en-US" altLang="zh-CN" sz="3600" b="1" dirty="0" smtClean="0">
                <a:latin typeface="Garamond" panose="02020404030301010803" pitchFamily="18" charset="0"/>
              </a:rPr>
              <a:t>2023</a:t>
            </a:r>
            <a:r>
              <a:rPr lang="zh-CN" altLang="en-US" sz="3600" b="1" dirty="0" smtClean="0">
                <a:latin typeface="Garamond" panose="02020404030301010803" pitchFamily="18" charset="0"/>
              </a:rPr>
              <a:t>年</a:t>
            </a:r>
            <a:r>
              <a:rPr lang="en-US" altLang="zh-CN" sz="3600" b="1" dirty="0" smtClean="0">
                <a:latin typeface="Garamond" panose="02020404030301010803" pitchFamily="18" charset="0"/>
              </a:rPr>
              <a:t>11</a:t>
            </a:r>
            <a:r>
              <a:rPr lang="zh-CN" altLang="en-US" sz="3600" b="1" dirty="0" smtClean="0">
                <a:latin typeface="Garamond" panose="02020404030301010803" pitchFamily="18" charset="0"/>
              </a:rPr>
              <a:t>月</a:t>
            </a:r>
            <a:r>
              <a:rPr lang="en-US" altLang="zh-CN" sz="3600" b="1" dirty="0" smtClean="0">
                <a:latin typeface="Garamond" panose="02020404030301010803" pitchFamily="18" charset="0"/>
              </a:rPr>
              <a:t>16</a:t>
            </a:r>
            <a:r>
              <a:rPr lang="zh-CN" altLang="en-US" sz="3600" b="1" smtClean="0">
                <a:latin typeface="Garamond" panose="02020404030301010803" pitchFamily="18" charset="0"/>
              </a:rPr>
              <a:t>日</a:t>
            </a:r>
            <a:endParaRPr lang="zh-CN" altLang="en-US" sz="3600" b="1" dirty="0">
              <a:latin typeface="Garamond" panose="02020404030301010803" pitchFamily="18" charset="0"/>
            </a:endParaRPr>
          </a:p>
          <a:p>
            <a:pPr eaLnBrk="1" hangingPunct="1">
              <a:spcBef>
                <a:spcPct val="50000"/>
              </a:spcBef>
              <a:buClrTx/>
              <a:buSzTx/>
              <a:buFontTx/>
              <a:buNone/>
            </a:pPr>
            <a:endParaRPr lang="zh-CN" altLang="en-US" sz="36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0505F2D-3110-414F-AFA4-75C218E9ABC1}" type="slidenum">
              <a:rPr lang="zh-CN" altLang="en-US" sz="1400" smtClean="0"/>
            </a:fld>
            <a:endParaRPr lang="en-US" altLang="zh-CN" sz="1400" smtClean="0"/>
          </a:p>
        </p:txBody>
      </p:sp>
      <p:sp>
        <p:nvSpPr>
          <p:cNvPr id="493575" name="Rectangle 7"/>
          <p:cNvSpPr>
            <a:spLocks noGrp="1" noChangeArrowheads="1"/>
          </p:cNvSpPr>
          <p:nvPr>
            <p:ph type="body" idx="1"/>
          </p:nvPr>
        </p:nvSpPr>
        <p:spPr>
          <a:xfrm>
            <a:off x="0" y="260350"/>
            <a:ext cx="9144000" cy="5880100"/>
          </a:xfrm>
          <a:solidFill>
            <a:schemeClr val="accent1"/>
          </a:solidFill>
        </p:spPr>
        <p:txBody>
          <a:bodyPr/>
          <a:lstStyle/>
          <a:p>
            <a:pPr eaLnBrk="1" hangingPunct="1">
              <a:buFont typeface="Wingdings" panose="05000000000000000000" pitchFamily="2" charset="2"/>
              <a:buNone/>
            </a:pPr>
            <a:r>
              <a:rPr lang="zh-CN" altLang="en-US" sz="2800" b="1" smtClean="0">
                <a:solidFill>
                  <a:srgbClr val="CC0000"/>
                </a:solidFill>
              </a:rPr>
              <a:t>什么是可行性研究</a:t>
            </a:r>
            <a:r>
              <a:rPr lang="en-US" altLang="zh-CN" sz="2800" b="1" smtClean="0">
                <a:solidFill>
                  <a:srgbClr val="CC0000"/>
                </a:solidFill>
              </a:rPr>
              <a:t>(Feasibility Study)</a:t>
            </a:r>
            <a:r>
              <a:rPr lang="zh-CN" altLang="en-US" sz="2800" b="1" smtClean="0">
                <a:solidFill>
                  <a:srgbClr val="CC0000"/>
                </a:solidFill>
              </a:rPr>
              <a:t>？</a:t>
            </a:r>
            <a:endParaRPr lang="zh-CN" altLang="en-US" sz="2800" b="1" smtClean="0">
              <a:solidFill>
                <a:srgbClr val="CC0000"/>
              </a:solidFill>
            </a:endParaRPr>
          </a:p>
          <a:p>
            <a:pPr eaLnBrk="1" hangingPunct="1"/>
            <a:r>
              <a:rPr lang="zh-CN" altLang="en-US" sz="2800" smtClean="0"/>
              <a:t>这个项目是否可行？</a:t>
            </a:r>
            <a:endParaRPr lang="zh-CN" altLang="en-US" sz="2800" smtClean="0"/>
          </a:p>
          <a:p>
            <a:pPr lvl="1" eaLnBrk="1" hangingPunct="1"/>
            <a:r>
              <a:rPr lang="zh-CN" altLang="en-US" sz="2400" smtClean="0"/>
              <a:t>运用多种科学手段（包括工程学、经济学、社会学等），对一项工程项目的必要性、可行性、合理性进行技术经济论证的综合科学</a:t>
            </a:r>
            <a:endParaRPr lang="zh-CN" altLang="en-US" sz="2400" smtClean="0"/>
          </a:p>
          <a:p>
            <a:pPr lvl="2" eaLnBrk="1" hangingPunct="1"/>
            <a:r>
              <a:rPr lang="zh-CN" altLang="en-US" sz="2000" smtClean="0"/>
              <a:t>技术上是否先进、实用和可靠；经济上是否合理；财务上是否盈利</a:t>
            </a:r>
            <a:endParaRPr lang="zh-CN" altLang="en-US" sz="2000" smtClean="0"/>
          </a:p>
          <a:p>
            <a:pPr lvl="1" eaLnBrk="1" hangingPunct="1"/>
            <a:r>
              <a:rPr lang="zh-CN" altLang="en-US" sz="2400" smtClean="0"/>
              <a:t>为投资决策、银行贷款、签订合同、申请各类建设许可、引进国外技术、工程设计、工程项目后评价等提供依据和基础资料</a:t>
            </a:r>
            <a:endParaRPr lang="zh-CN" altLang="en-US" sz="2400" smtClean="0"/>
          </a:p>
          <a:p>
            <a:pPr lvl="1" eaLnBrk="1" hangingPunct="1"/>
            <a:r>
              <a:rPr lang="zh-CN" altLang="en-US" sz="2400" smtClean="0"/>
              <a:t>是</a:t>
            </a:r>
            <a:r>
              <a:rPr lang="zh-CN" altLang="en-US" sz="2400" u="sng" smtClean="0"/>
              <a:t>工程经济学</a:t>
            </a:r>
            <a:r>
              <a:rPr lang="zh-CN" altLang="en-US" sz="2400" smtClean="0"/>
              <a:t>在工程项目</a:t>
            </a:r>
            <a:r>
              <a:rPr lang="zh-CN" altLang="en-US" sz="2400" u="sng" smtClean="0"/>
              <a:t>前期</a:t>
            </a:r>
            <a:r>
              <a:rPr lang="zh-CN" altLang="en-US" sz="2400" smtClean="0"/>
              <a:t>的重要应用</a:t>
            </a:r>
            <a:endParaRPr lang="zh-CN" altLang="en-US" sz="2400" smtClean="0"/>
          </a:p>
          <a:p>
            <a:pPr lvl="1" eaLnBrk="1" hangingPunct="1"/>
            <a:r>
              <a:rPr lang="en-US" altLang="zh-CN" sz="2400" smtClean="0"/>
              <a:t>20</a:t>
            </a:r>
            <a:r>
              <a:rPr lang="zh-CN" altLang="en-US" sz="2400" smtClean="0"/>
              <a:t>世纪</a:t>
            </a:r>
            <a:r>
              <a:rPr lang="en-US" altLang="zh-CN" sz="2400" smtClean="0"/>
              <a:t>30</a:t>
            </a:r>
            <a:r>
              <a:rPr lang="zh-CN" altLang="en-US" sz="2400" smtClean="0"/>
              <a:t>年代</a:t>
            </a:r>
            <a:r>
              <a:rPr lang="en-US" altLang="zh-CN" sz="2400" smtClean="0"/>
              <a:t>,</a:t>
            </a:r>
            <a:r>
              <a:rPr lang="zh-CN" altLang="en-US" sz="2400" smtClean="0"/>
              <a:t>美国对田纳西流域开发进行了可行性研究</a:t>
            </a:r>
            <a:r>
              <a:rPr lang="en-US" altLang="zh-CN" sz="2400" smtClean="0"/>
              <a:t>,</a:t>
            </a:r>
            <a:r>
              <a:rPr lang="zh-CN" altLang="en-US" sz="2400" smtClean="0"/>
              <a:t>成效显著</a:t>
            </a:r>
            <a:r>
              <a:rPr lang="en-US" altLang="zh-CN" sz="2400" smtClean="0"/>
              <a:t>.</a:t>
            </a:r>
            <a:endParaRPr lang="en-US" altLang="zh-CN" sz="2400" smtClean="0"/>
          </a:p>
          <a:p>
            <a:pPr lvl="1" eaLnBrk="1" hangingPunct="1"/>
            <a:r>
              <a:rPr lang="zh-CN" altLang="en-US" sz="2400" smtClean="0"/>
              <a:t>我国</a:t>
            </a:r>
            <a:r>
              <a:rPr lang="en-US" altLang="zh-CN" sz="2400" smtClean="0"/>
              <a:t>20</a:t>
            </a:r>
            <a:r>
              <a:rPr lang="zh-CN" altLang="en-US" sz="2400" smtClean="0"/>
              <a:t>世纪</a:t>
            </a:r>
            <a:r>
              <a:rPr lang="en-US" altLang="zh-CN" sz="2400" smtClean="0"/>
              <a:t>70</a:t>
            </a:r>
            <a:r>
              <a:rPr lang="zh-CN" altLang="en-US" sz="2400" smtClean="0"/>
              <a:t>年代引入</a:t>
            </a:r>
            <a:r>
              <a:rPr lang="en-US" altLang="zh-CN" sz="2400" smtClean="0"/>
              <a:t>,80</a:t>
            </a:r>
            <a:r>
              <a:rPr lang="zh-CN" altLang="en-US" sz="2400" smtClean="0"/>
              <a:t>年代纳入项目论证基本程序</a:t>
            </a:r>
            <a:r>
              <a:rPr lang="en-US" altLang="zh-CN" sz="2400" smtClean="0"/>
              <a:t>.</a:t>
            </a:r>
            <a:endParaRPr lang="en-US" altLang="zh-CN" sz="24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3575">
                                            <p:txEl>
                                              <p:pRg st="1" end="1"/>
                                            </p:txEl>
                                          </p:spTgt>
                                        </p:tgtEl>
                                        <p:attrNameLst>
                                          <p:attrName>style.visibility</p:attrName>
                                        </p:attrNameLst>
                                      </p:cBhvr>
                                      <p:to>
                                        <p:strVal val="visible"/>
                                      </p:to>
                                    </p:set>
                                    <p:animEffect transition="in" filter="blinds(horizontal)">
                                      <p:cBhvr>
                                        <p:cTn id="7" dur="500"/>
                                        <p:tgtEl>
                                          <p:spTgt spid="49357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93575">
                                            <p:txEl>
                                              <p:pRg st="2" end="2"/>
                                            </p:txEl>
                                          </p:spTgt>
                                        </p:tgtEl>
                                        <p:attrNameLst>
                                          <p:attrName>style.visibility</p:attrName>
                                        </p:attrNameLst>
                                      </p:cBhvr>
                                      <p:to>
                                        <p:strVal val="visible"/>
                                      </p:to>
                                    </p:set>
                                    <p:animEffect transition="in" filter="blinds(horizontal)">
                                      <p:cBhvr>
                                        <p:cTn id="12" dur="500"/>
                                        <p:tgtEl>
                                          <p:spTgt spid="493575">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93575">
                                            <p:txEl>
                                              <p:pRg st="3" end="3"/>
                                            </p:txEl>
                                          </p:spTgt>
                                        </p:tgtEl>
                                        <p:attrNameLst>
                                          <p:attrName>style.visibility</p:attrName>
                                        </p:attrNameLst>
                                      </p:cBhvr>
                                      <p:to>
                                        <p:strVal val="visible"/>
                                      </p:to>
                                    </p:set>
                                    <p:animEffect transition="in" filter="blinds(horizontal)">
                                      <p:cBhvr>
                                        <p:cTn id="15" dur="500"/>
                                        <p:tgtEl>
                                          <p:spTgt spid="493575">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93575">
                                            <p:txEl>
                                              <p:pRg st="4" end="4"/>
                                            </p:txEl>
                                          </p:spTgt>
                                        </p:tgtEl>
                                        <p:attrNameLst>
                                          <p:attrName>style.visibility</p:attrName>
                                        </p:attrNameLst>
                                      </p:cBhvr>
                                      <p:to>
                                        <p:strVal val="visible"/>
                                      </p:to>
                                    </p:set>
                                    <p:animEffect transition="in" filter="blinds(horizontal)">
                                      <p:cBhvr>
                                        <p:cTn id="18" dur="500"/>
                                        <p:tgtEl>
                                          <p:spTgt spid="493575">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493575">
                                            <p:txEl>
                                              <p:pRg st="5" end="5"/>
                                            </p:txEl>
                                          </p:spTgt>
                                        </p:tgtEl>
                                        <p:attrNameLst>
                                          <p:attrName>style.visibility</p:attrName>
                                        </p:attrNameLst>
                                      </p:cBhvr>
                                      <p:to>
                                        <p:strVal val="visible"/>
                                      </p:to>
                                    </p:set>
                                    <p:animEffect transition="in" filter="blinds(horizontal)">
                                      <p:cBhvr>
                                        <p:cTn id="21" dur="500"/>
                                        <p:tgtEl>
                                          <p:spTgt spid="493575">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93575">
                                            <p:txEl>
                                              <p:pRg st="6" end="6"/>
                                            </p:txEl>
                                          </p:spTgt>
                                        </p:tgtEl>
                                        <p:attrNameLst>
                                          <p:attrName>style.visibility</p:attrName>
                                        </p:attrNameLst>
                                      </p:cBhvr>
                                      <p:to>
                                        <p:strVal val="visible"/>
                                      </p:to>
                                    </p:set>
                                    <p:animEffect transition="in" filter="blinds(horizontal)">
                                      <p:cBhvr>
                                        <p:cTn id="24" dur="500"/>
                                        <p:tgtEl>
                                          <p:spTgt spid="493575">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493575">
                                            <p:txEl>
                                              <p:pRg st="7" end="7"/>
                                            </p:txEl>
                                          </p:spTgt>
                                        </p:tgtEl>
                                        <p:attrNameLst>
                                          <p:attrName>style.visibility</p:attrName>
                                        </p:attrNameLst>
                                      </p:cBhvr>
                                      <p:to>
                                        <p:strVal val="visible"/>
                                      </p:to>
                                    </p:set>
                                    <p:animEffect transition="in" filter="blinds(horizontal)">
                                      <p:cBhvr>
                                        <p:cTn id="27" dur="500"/>
                                        <p:tgtEl>
                                          <p:spTgt spid="49357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D5B5B3E-1B75-4E6C-B1FE-DEB7DC5776DC}" type="slidenum">
              <a:rPr lang="zh-CN" altLang="en-US" sz="1400" smtClean="0"/>
            </a:fld>
            <a:endParaRPr lang="en-US" altLang="zh-CN" sz="1400" smtClean="0"/>
          </a:p>
        </p:txBody>
      </p:sp>
      <p:sp>
        <p:nvSpPr>
          <p:cNvPr id="6147" name="Rectangle 4"/>
          <p:cNvSpPr>
            <a:spLocks noGrp="1" noChangeArrowheads="1"/>
          </p:cNvSpPr>
          <p:nvPr>
            <p:ph type="title"/>
          </p:nvPr>
        </p:nvSpPr>
        <p:spPr>
          <a:xfrm>
            <a:off x="0" y="0"/>
            <a:ext cx="8178800" cy="609600"/>
          </a:xfrm>
          <a:solidFill>
            <a:srgbClr val="99CCFF"/>
          </a:solidFill>
        </p:spPr>
        <p:txBody>
          <a:bodyPr/>
          <a:lstStyle/>
          <a:p>
            <a:pPr eaLnBrk="1" hangingPunct="1"/>
            <a:r>
              <a:rPr lang="zh-CN" altLang="en-US" smtClean="0">
                <a:solidFill>
                  <a:srgbClr val="CC0000"/>
                </a:solidFill>
              </a:rPr>
              <a:t>一些可行性研究的例子</a:t>
            </a:r>
            <a:endParaRPr lang="zh-CN" altLang="en-US" smtClean="0">
              <a:solidFill>
                <a:srgbClr val="CC0000"/>
              </a:solidFill>
            </a:endParaRPr>
          </a:p>
        </p:txBody>
      </p:sp>
      <p:sp>
        <p:nvSpPr>
          <p:cNvPr id="6148" name="Rectangle 5"/>
          <p:cNvSpPr>
            <a:spLocks noGrp="1" noChangeArrowheads="1"/>
          </p:cNvSpPr>
          <p:nvPr>
            <p:ph type="body" idx="1"/>
          </p:nvPr>
        </p:nvSpPr>
        <p:spPr>
          <a:xfrm>
            <a:off x="0" y="977900"/>
            <a:ext cx="9144000" cy="5880100"/>
          </a:xfrm>
          <a:solidFill>
            <a:schemeClr val="accent1"/>
          </a:solidFill>
        </p:spPr>
        <p:txBody>
          <a:bodyPr/>
          <a:lstStyle/>
          <a:p>
            <a:pPr eaLnBrk="1" hangingPunct="1"/>
            <a:r>
              <a:rPr lang="zh-CN" altLang="en-US" sz="2800" smtClean="0"/>
              <a:t>“上海迪斯尼项目可行性研究”</a:t>
            </a:r>
            <a:endParaRPr lang="zh-CN" altLang="en-US" sz="2800" smtClean="0"/>
          </a:p>
          <a:p>
            <a:pPr eaLnBrk="1" hangingPunct="1"/>
            <a:r>
              <a:rPr lang="zh-CN" altLang="en-US" sz="2800" smtClean="0"/>
              <a:t>“</a:t>
            </a:r>
            <a:r>
              <a:rPr lang="en-US" altLang="zh-CN" sz="2800" smtClean="0"/>
              <a:t>XX</a:t>
            </a:r>
            <a:r>
              <a:rPr lang="zh-CN" altLang="en-US" sz="2800" smtClean="0"/>
              <a:t>高速公路建设可行性研究”</a:t>
            </a:r>
            <a:endParaRPr lang="zh-CN" altLang="en-US" sz="2800" smtClean="0"/>
          </a:p>
          <a:p>
            <a:pPr eaLnBrk="1" hangingPunct="1"/>
            <a:r>
              <a:rPr lang="en-US" altLang="zh-CN" sz="2800" smtClean="0"/>
              <a:t>“XX</a:t>
            </a:r>
            <a:r>
              <a:rPr lang="zh-CN" altLang="en-US" sz="2800" smtClean="0"/>
              <a:t>化工有限责任公司年加工</a:t>
            </a:r>
            <a:r>
              <a:rPr lang="en-US" altLang="zh-CN" sz="2800" smtClean="0"/>
              <a:t>6</a:t>
            </a:r>
            <a:r>
              <a:rPr lang="zh-CN" altLang="en-US" sz="2800" smtClean="0"/>
              <a:t>万吨煤焦油项目可行性研究”</a:t>
            </a:r>
            <a:endParaRPr lang="zh-CN" altLang="en-US" sz="2800" smtClean="0"/>
          </a:p>
          <a:p>
            <a:pPr eaLnBrk="1" hangingPunct="1"/>
            <a:r>
              <a:rPr lang="zh-CN" altLang="en-US" sz="2800" smtClean="0"/>
              <a:t>“</a:t>
            </a:r>
            <a:r>
              <a:rPr lang="en-US" altLang="zh-CN" sz="2800" smtClean="0"/>
              <a:t>XX</a:t>
            </a:r>
            <a:r>
              <a:rPr lang="zh-CN" altLang="en-US" sz="2800" smtClean="0"/>
              <a:t>县红鲤鱼产业化经营项目可行性研究”</a:t>
            </a:r>
            <a:endParaRPr lang="zh-CN" altLang="en-US" sz="2800" smtClean="0"/>
          </a:p>
          <a:p>
            <a:pPr eaLnBrk="1" hangingPunct="1"/>
            <a:r>
              <a:rPr lang="zh-CN" altLang="en-US" sz="2800" smtClean="0"/>
              <a:t>“</a:t>
            </a:r>
            <a:r>
              <a:rPr lang="en-US" altLang="zh-CN" sz="2800" smtClean="0"/>
              <a:t>XX</a:t>
            </a:r>
            <a:r>
              <a:rPr lang="zh-CN" altLang="en-US" sz="2800" smtClean="0"/>
              <a:t>自来水厂工程可行性研究”</a:t>
            </a:r>
            <a:endParaRPr lang="zh-CN" altLang="en-US" sz="2800" smtClean="0"/>
          </a:p>
          <a:p>
            <a:pPr eaLnBrk="1" hangingPunct="1"/>
            <a:r>
              <a:rPr lang="en-US" altLang="zh-CN" sz="2800" smtClean="0"/>
              <a:t>“</a:t>
            </a:r>
            <a:r>
              <a:rPr lang="zh-CN" altLang="en-US" sz="2800" smtClean="0"/>
              <a:t>中国教育和科研计算机网</a:t>
            </a:r>
            <a:r>
              <a:rPr lang="en-US" altLang="zh-CN" sz="2800" smtClean="0"/>
              <a:t>CERNET</a:t>
            </a:r>
            <a:r>
              <a:rPr lang="zh-CN" altLang="en-US" sz="2800" smtClean="0"/>
              <a:t>示范工程可行性研究”</a:t>
            </a:r>
            <a:endParaRPr lang="zh-CN" altLang="en-US" sz="2800" smtClean="0"/>
          </a:p>
          <a:p>
            <a:pPr eaLnBrk="1" hangingPunct="1"/>
            <a:r>
              <a:rPr lang="zh-CN" altLang="en-US" sz="2800" smtClean="0"/>
              <a:t>“</a:t>
            </a:r>
            <a:r>
              <a:rPr lang="en-US" altLang="zh-CN" sz="2800" smtClean="0"/>
              <a:t>XX</a:t>
            </a:r>
            <a:r>
              <a:rPr lang="zh-CN" altLang="en-US" sz="2800" smtClean="0"/>
              <a:t>房地产开发项目可行性研究”</a:t>
            </a:r>
            <a:endParaRPr lang="zh-CN" altLang="en-US" sz="2800" smtClean="0"/>
          </a:p>
          <a:p>
            <a:pPr eaLnBrk="1" hangingPunct="1"/>
            <a:r>
              <a:rPr lang="en-US" altLang="zh-CN" sz="2800" smtClean="0"/>
              <a:t>“ </a:t>
            </a:r>
            <a:r>
              <a:rPr lang="zh-CN" altLang="en-US" sz="2800" smtClean="0"/>
              <a:t>白鹤滩水电站可行性研究”</a:t>
            </a:r>
            <a:endParaRPr lang="zh-CN" altLang="en-US" sz="2800" smtClean="0"/>
          </a:p>
          <a:p>
            <a:pPr eaLnBrk="1" hangingPunct="1"/>
            <a:r>
              <a:rPr lang="zh-CN" altLang="en-US" sz="2800" smtClean="0"/>
              <a:t>“清华大学建设世界一流大学可行性研究”</a:t>
            </a:r>
            <a:endParaRPr lang="zh-CN" altLang="en-US" sz="2800" smtClean="0"/>
          </a:p>
          <a:p>
            <a:pPr eaLnBrk="1" hangingPunct="1"/>
            <a:endParaRPr lang="zh-CN" altLang="en-US" sz="2800" smtClean="0"/>
          </a:p>
          <a:p>
            <a:pPr lvl="1" eaLnBrk="1" hangingPunct="1"/>
            <a:endParaRPr lang="zh-CN" altLang="en-US"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44AE5E6-69A6-41EE-BE17-8C2B0D159909}" type="slidenum">
              <a:rPr lang="zh-CN" altLang="en-US" sz="1400" smtClean="0"/>
            </a:fld>
            <a:endParaRPr lang="en-US" altLang="zh-CN" sz="1400" smtClean="0"/>
          </a:p>
        </p:txBody>
      </p:sp>
      <p:sp>
        <p:nvSpPr>
          <p:cNvPr id="7171" name="Rectangle 4"/>
          <p:cNvSpPr>
            <a:spLocks noGrp="1" noChangeArrowheads="1"/>
          </p:cNvSpPr>
          <p:nvPr>
            <p:ph type="title"/>
          </p:nvPr>
        </p:nvSpPr>
        <p:spPr>
          <a:xfrm>
            <a:off x="0" y="12700"/>
            <a:ext cx="9144000" cy="609600"/>
          </a:xfrm>
          <a:solidFill>
            <a:srgbClr val="99CCFF"/>
          </a:solidFill>
        </p:spPr>
        <p:txBody>
          <a:bodyPr/>
          <a:lstStyle/>
          <a:p>
            <a:pPr eaLnBrk="1" hangingPunct="1"/>
            <a:r>
              <a:rPr lang="zh-CN" altLang="en-US" sz="3600" b="1" smtClean="0">
                <a:solidFill>
                  <a:srgbClr val="CC0000"/>
                </a:solidFill>
              </a:rPr>
              <a:t>项目投资决策和建设过程中的可行性研究</a:t>
            </a:r>
            <a:endParaRPr lang="en-US" altLang="zh-CN" sz="3600" b="1" smtClean="0">
              <a:solidFill>
                <a:srgbClr val="CC0000"/>
              </a:solidFill>
            </a:endParaRPr>
          </a:p>
        </p:txBody>
      </p:sp>
      <p:sp>
        <p:nvSpPr>
          <p:cNvPr id="7172" name="Rectangle 5"/>
          <p:cNvSpPr>
            <a:spLocks noGrp="1" noChangeArrowheads="1"/>
          </p:cNvSpPr>
          <p:nvPr>
            <p:ph type="body" idx="1"/>
          </p:nvPr>
        </p:nvSpPr>
        <p:spPr>
          <a:xfrm>
            <a:off x="0" y="977900"/>
            <a:ext cx="9144000" cy="5880100"/>
          </a:xfrm>
          <a:solidFill>
            <a:schemeClr val="accent1"/>
          </a:solidFill>
        </p:spPr>
        <p:txBody>
          <a:bodyPr/>
          <a:lstStyle/>
          <a:p>
            <a:pPr eaLnBrk="1" hangingPunct="1"/>
            <a:r>
              <a:rPr lang="zh-CN" altLang="en-US" smtClean="0"/>
              <a:t>可行性研究处于什么位置？</a:t>
            </a:r>
            <a:endParaRPr lang="zh-CN" altLang="en-US" smtClean="0"/>
          </a:p>
        </p:txBody>
      </p:sp>
      <p:sp>
        <p:nvSpPr>
          <p:cNvPr id="7173" name="Text Box 6"/>
          <p:cNvSpPr txBox="1">
            <a:spLocks noChangeArrowheads="1"/>
          </p:cNvSpPr>
          <p:nvPr/>
        </p:nvSpPr>
        <p:spPr bwMode="auto">
          <a:xfrm>
            <a:off x="282575" y="2968625"/>
            <a:ext cx="403225" cy="14414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机会研究</a:t>
            </a:r>
            <a:endParaRPr lang="zh-CN" altLang="en-US" sz="2200" b="1">
              <a:solidFill>
                <a:srgbClr val="000000"/>
              </a:solidFill>
              <a:latin typeface="仿宋_GB2312"/>
              <a:ea typeface="仿宋_GB2312"/>
              <a:cs typeface="仿宋_GB2312"/>
            </a:endParaRPr>
          </a:p>
        </p:txBody>
      </p:sp>
      <p:sp>
        <p:nvSpPr>
          <p:cNvPr id="496647" name="Text Box 7"/>
          <p:cNvSpPr txBox="1">
            <a:spLocks noChangeArrowheads="1"/>
          </p:cNvSpPr>
          <p:nvPr/>
        </p:nvSpPr>
        <p:spPr bwMode="auto">
          <a:xfrm>
            <a:off x="1031875" y="2330450"/>
            <a:ext cx="403225" cy="244633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FF"/>
                </a:solidFill>
                <a:latin typeface="仿宋_GB2312"/>
                <a:ea typeface="仿宋_GB2312"/>
                <a:cs typeface="仿宋_GB2312"/>
              </a:rPr>
              <a:t>初步可行性研究</a:t>
            </a:r>
            <a:endParaRPr lang="zh-CN" altLang="en-US" sz="2200" b="1">
              <a:solidFill>
                <a:srgbClr val="0000FF"/>
              </a:solidFill>
              <a:latin typeface="仿宋_GB2312"/>
              <a:ea typeface="仿宋_GB2312"/>
              <a:cs typeface="仿宋_GB2312"/>
            </a:endParaRPr>
          </a:p>
        </p:txBody>
      </p:sp>
      <p:sp>
        <p:nvSpPr>
          <p:cNvPr id="496648" name="Text Box 8"/>
          <p:cNvSpPr txBox="1">
            <a:spLocks noChangeArrowheads="1"/>
          </p:cNvSpPr>
          <p:nvPr/>
        </p:nvSpPr>
        <p:spPr bwMode="auto">
          <a:xfrm>
            <a:off x="1806575" y="2665413"/>
            <a:ext cx="403225" cy="17764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项目建议书</a:t>
            </a:r>
            <a:endParaRPr lang="zh-CN" altLang="en-US" sz="2200" b="1">
              <a:solidFill>
                <a:srgbClr val="000000"/>
              </a:solidFill>
              <a:latin typeface="仿宋_GB2312"/>
              <a:ea typeface="仿宋_GB2312"/>
              <a:cs typeface="仿宋_GB2312"/>
            </a:endParaRPr>
          </a:p>
        </p:txBody>
      </p:sp>
      <p:sp>
        <p:nvSpPr>
          <p:cNvPr id="496649" name="Text Box 9"/>
          <p:cNvSpPr txBox="1">
            <a:spLocks noChangeArrowheads="1"/>
          </p:cNvSpPr>
          <p:nvPr/>
        </p:nvSpPr>
        <p:spPr bwMode="auto">
          <a:xfrm>
            <a:off x="2530475" y="2665413"/>
            <a:ext cx="403225" cy="17764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FF0000"/>
                </a:solidFill>
                <a:latin typeface="仿宋_GB2312"/>
                <a:ea typeface="仿宋_GB2312"/>
                <a:cs typeface="仿宋_GB2312"/>
              </a:rPr>
              <a:t>可行性研究</a:t>
            </a:r>
            <a:endParaRPr lang="zh-CN" altLang="en-US" sz="2200" b="1">
              <a:solidFill>
                <a:srgbClr val="FF0000"/>
              </a:solidFill>
              <a:latin typeface="仿宋_GB2312"/>
              <a:ea typeface="仿宋_GB2312"/>
              <a:cs typeface="仿宋_GB2312"/>
            </a:endParaRPr>
          </a:p>
        </p:txBody>
      </p:sp>
      <p:sp>
        <p:nvSpPr>
          <p:cNvPr id="496650" name="Text Box 10"/>
          <p:cNvSpPr txBox="1">
            <a:spLocks noChangeArrowheads="1"/>
          </p:cNvSpPr>
          <p:nvPr/>
        </p:nvSpPr>
        <p:spPr bwMode="auto">
          <a:xfrm>
            <a:off x="3216275" y="2832100"/>
            <a:ext cx="403225" cy="14414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项目评估</a:t>
            </a:r>
            <a:endParaRPr lang="zh-CN" altLang="en-US" sz="2200" b="1">
              <a:solidFill>
                <a:srgbClr val="000000"/>
              </a:solidFill>
              <a:latin typeface="仿宋_GB2312"/>
              <a:ea typeface="仿宋_GB2312"/>
              <a:cs typeface="仿宋_GB2312"/>
            </a:endParaRPr>
          </a:p>
        </p:txBody>
      </p:sp>
      <p:sp>
        <p:nvSpPr>
          <p:cNvPr id="496651" name="Text Box 11"/>
          <p:cNvSpPr txBox="1">
            <a:spLocks noChangeArrowheads="1"/>
          </p:cNvSpPr>
          <p:nvPr/>
        </p:nvSpPr>
        <p:spPr bwMode="auto">
          <a:xfrm>
            <a:off x="3863975" y="2832100"/>
            <a:ext cx="403225" cy="14414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投资决策</a:t>
            </a:r>
            <a:endParaRPr lang="zh-CN" altLang="en-US" sz="2200" b="1">
              <a:solidFill>
                <a:srgbClr val="000000"/>
              </a:solidFill>
              <a:latin typeface="仿宋_GB2312"/>
              <a:ea typeface="仿宋_GB2312"/>
              <a:cs typeface="仿宋_GB2312"/>
            </a:endParaRPr>
          </a:p>
        </p:txBody>
      </p:sp>
      <p:sp>
        <p:nvSpPr>
          <p:cNvPr id="496652" name="Text Box 12"/>
          <p:cNvSpPr txBox="1">
            <a:spLocks noChangeArrowheads="1"/>
          </p:cNvSpPr>
          <p:nvPr/>
        </p:nvSpPr>
        <p:spPr bwMode="auto">
          <a:xfrm>
            <a:off x="4511675" y="2832100"/>
            <a:ext cx="403225" cy="14414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谈判签约</a:t>
            </a:r>
            <a:endParaRPr lang="zh-CN" altLang="en-US" sz="2200" b="1">
              <a:solidFill>
                <a:srgbClr val="000000"/>
              </a:solidFill>
              <a:latin typeface="仿宋_GB2312"/>
              <a:ea typeface="仿宋_GB2312"/>
              <a:cs typeface="仿宋_GB2312"/>
            </a:endParaRPr>
          </a:p>
        </p:txBody>
      </p:sp>
      <p:sp>
        <p:nvSpPr>
          <p:cNvPr id="496653" name="Text Box 13"/>
          <p:cNvSpPr txBox="1">
            <a:spLocks noChangeArrowheads="1"/>
          </p:cNvSpPr>
          <p:nvPr/>
        </p:nvSpPr>
        <p:spPr bwMode="auto">
          <a:xfrm>
            <a:off x="5133975" y="2832100"/>
            <a:ext cx="403225" cy="14414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工程设计</a:t>
            </a:r>
            <a:endParaRPr lang="zh-CN" altLang="en-US" sz="2200" b="1">
              <a:solidFill>
                <a:srgbClr val="000000"/>
              </a:solidFill>
              <a:latin typeface="仿宋_GB2312"/>
              <a:ea typeface="仿宋_GB2312"/>
              <a:cs typeface="仿宋_GB2312"/>
            </a:endParaRPr>
          </a:p>
        </p:txBody>
      </p:sp>
      <p:sp>
        <p:nvSpPr>
          <p:cNvPr id="496654" name="Text Box 14"/>
          <p:cNvSpPr txBox="1">
            <a:spLocks noChangeArrowheads="1"/>
          </p:cNvSpPr>
          <p:nvPr/>
        </p:nvSpPr>
        <p:spPr bwMode="auto">
          <a:xfrm>
            <a:off x="5791200" y="2819400"/>
            <a:ext cx="403225" cy="14414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施工安装</a:t>
            </a:r>
            <a:endParaRPr lang="zh-CN" altLang="en-US" sz="2200" b="1">
              <a:solidFill>
                <a:srgbClr val="000000"/>
              </a:solidFill>
              <a:latin typeface="仿宋_GB2312"/>
              <a:ea typeface="仿宋_GB2312"/>
              <a:cs typeface="仿宋_GB2312"/>
            </a:endParaRPr>
          </a:p>
        </p:txBody>
      </p:sp>
      <p:sp>
        <p:nvSpPr>
          <p:cNvPr id="496655" name="Text Box 15"/>
          <p:cNvSpPr txBox="1">
            <a:spLocks noChangeArrowheads="1"/>
          </p:cNvSpPr>
          <p:nvPr/>
        </p:nvSpPr>
        <p:spPr bwMode="auto">
          <a:xfrm>
            <a:off x="6378575" y="2986088"/>
            <a:ext cx="403225" cy="11064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试运转</a:t>
            </a:r>
            <a:endParaRPr lang="zh-CN" altLang="en-US" sz="2200" b="1">
              <a:solidFill>
                <a:srgbClr val="000000"/>
              </a:solidFill>
              <a:latin typeface="仿宋_GB2312"/>
              <a:ea typeface="仿宋_GB2312"/>
              <a:cs typeface="仿宋_GB2312"/>
            </a:endParaRPr>
          </a:p>
        </p:txBody>
      </p:sp>
      <p:sp>
        <p:nvSpPr>
          <p:cNvPr id="496656" name="Text Box 16"/>
          <p:cNvSpPr txBox="1">
            <a:spLocks noChangeArrowheads="1"/>
          </p:cNvSpPr>
          <p:nvPr/>
        </p:nvSpPr>
        <p:spPr bwMode="auto">
          <a:xfrm>
            <a:off x="7008813" y="2819400"/>
            <a:ext cx="403225" cy="14414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竣工验收</a:t>
            </a:r>
            <a:endParaRPr lang="zh-CN" altLang="en-US" sz="2200" b="1">
              <a:solidFill>
                <a:srgbClr val="000000"/>
              </a:solidFill>
              <a:latin typeface="仿宋_GB2312"/>
              <a:ea typeface="仿宋_GB2312"/>
              <a:cs typeface="仿宋_GB2312"/>
            </a:endParaRPr>
          </a:p>
        </p:txBody>
      </p:sp>
      <p:sp>
        <p:nvSpPr>
          <p:cNvPr id="496657" name="Text Box 17"/>
          <p:cNvSpPr txBox="1">
            <a:spLocks noChangeArrowheads="1"/>
          </p:cNvSpPr>
          <p:nvPr/>
        </p:nvSpPr>
        <p:spPr bwMode="auto">
          <a:xfrm>
            <a:off x="7673975" y="3152775"/>
            <a:ext cx="403225" cy="77152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投产</a:t>
            </a:r>
            <a:endParaRPr lang="zh-CN" altLang="en-US" sz="2200" b="1">
              <a:solidFill>
                <a:srgbClr val="000000"/>
              </a:solidFill>
              <a:latin typeface="仿宋_GB2312"/>
              <a:ea typeface="仿宋_GB2312"/>
              <a:cs typeface="仿宋_GB2312"/>
            </a:endParaRPr>
          </a:p>
        </p:txBody>
      </p:sp>
      <p:sp>
        <p:nvSpPr>
          <p:cNvPr id="496658" name="Text Box 18"/>
          <p:cNvSpPr txBox="1">
            <a:spLocks noChangeArrowheads="1"/>
          </p:cNvSpPr>
          <p:nvPr/>
        </p:nvSpPr>
        <p:spPr bwMode="auto">
          <a:xfrm>
            <a:off x="8361363" y="2652713"/>
            <a:ext cx="403225" cy="177641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200" b="1">
                <a:solidFill>
                  <a:srgbClr val="000000"/>
                </a:solidFill>
                <a:latin typeface="仿宋_GB2312"/>
                <a:ea typeface="仿宋_GB2312"/>
                <a:cs typeface="仿宋_GB2312"/>
              </a:rPr>
              <a:t>项目后评价</a:t>
            </a:r>
            <a:endParaRPr lang="zh-CN" altLang="en-US" sz="2200" b="1">
              <a:solidFill>
                <a:srgbClr val="000000"/>
              </a:solidFill>
              <a:latin typeface="仿宋_GB2312"/>
              <a:ea typeface="仿宋_GB2312"/>
              <a:cs typeface="仿宋_GB2312"/>
            </a:endParaRPr>
          </a:p>
        </p:txBody>
      </p:sp>
      <p:sp>
        <p:nvSpPr>
          <p:cNvPr id="496659" name="Line 19"/>
          <p:cNvSpPr>
            <a:spLocks noChangeShapeType="1"/>
          </p:cNvSpPr>
          <p:nvPr/>
        </p:nvSpPr>
        <p:spPr bwMode="auto">
          <a:xfrm>
            <a:off x="685800" y="3492500"/>
            <a:ext cx="34607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0" name="Line 20"/>
          <p:cNvSpPr>
            <a:spLocks noChangeShapeType="1"/>
          </p:cNvSpPr>
          <p:nvPr/>
        </p:nvSpPr>
        <p:spPr bwMode="auto">
          <a:xfrm>
            <a:off x="1435100" y="3492500"/>
            <a:ext cx="34607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1" name="Line 21"/>
          <p:cNvSpPr>
            <a:spLocks noChangeShapeType="1"/>
          </p:cNvSpPr>
          <p:nvPr/>
        </p:nvSpPr>
        <p:spPr bwMode="auto">
          <a:xfrm>
            <a:off x="2209800" y="3505200"/>
            <a:ext cx="34607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2" name="Line 22"/>
          <p:cNvSpPr>
            <a:spLocks noChangeShapeType="1"/>
          </p:cNvSpPr>
          <p:nvPr/>
        </p:nvSpPr>
        <p:spPr bwMode="auto">
          <a:xfrm>
            <a:off x="2933700" y="3505200"/>
            <a:ext cx="28257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3" name="Line 23"/>
          <p:cNvSpPr>
            <a:spLocks noChangeShapeType="1"/>
          </p:cNvSpPr>
          <p:nvPr/>
        </p:nvSpPr>
        <p:spPr bwMode="auto">
          <a:xfrm>
            <a:off x="3619500" y="3530600"/>
            <a:ext cx="24447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4" name="Line 24"/>
          <p:cNvSpPr>
            <a:spLocks noChangeShapeType="1"/>
          </p:cNvSpPr>
          <p:nvPr/>
        </p:nvSpPr>
        <p:spPr bwMode="auto">
          <a:xfrm>
            <a:off x="4267200" y="3530600"/>
            <a:ext cx="24447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5" name="Line 25"/>
          <p:cNvSpPr>
            <a:spLocks noChangeShapeType="1"/>
          </p:cNvSpPr>
          <p:nvPr/>
        </p:nvSpPr>
        <p:spPr bwMode="auto">
          <a:xfrm>
            <a:off x="4914900" y="3530600"/>
            <a:ext cx="21907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6" name="Line 26"/>
          <p:cNvSpPr>
            <a:spLocks noChangeShapeType="1"/>
          </p:cNvSpPr>
          <p:nvPr/>
        </p:nvSpPr>
        <p:spPr bwMode="auto">
          <a:xfrm>
            <a:off x="5537200" y="3530600"/>
            <a:ext cx="2540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7" name="Line 27"/>
          <p:cNvSpPr>
            <a:spLocks noChangeShapeType="1"/>
          </p:cNvSpPr>
          <p:nvPr/>
        </p:nvSpPr>
        <p:spPr bwMode="auto">
          <a:xfrm>
            <a:off x="6194425" y="3530600"/>
            <a:ext cx="18415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8" name="Line 28"/>
          <p:cNvSpPr>
            <a:spLocks noChangeShapeType="1"/>
          </p:cNvSpPr>
          <p:nvPr/>
        </p:nvSpPr>
        <p:spPr bwMode="auto">
          <a:xfrm>
            <a:off x="6805613" y="3530600"/>
            <a:ext cx="2032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69" name="Line 29"/>
          <p:cNvSpPr>
            <a:spLocks noChangeShapeType="1"/>
          </p:cNvSpPr>
          <p:nvPr/>
        </p:nvSpPr>
        <p:spPr bwMode="auto">
          <a:xfrm>
            <a:off x="7432675" y="3530600"/>
            <a:ext cx="2413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70" name="Line 30"/>
          <p:cNvSpPr>
            <a:spLocks noChangeShapeType="1"/>
          </p:cNvSpPr>
          <p:nvPr/>
        </p:nvSpPr>
        <p:spPr bwMode="auto">
          <a:xfrm>
            <a:off x="8077200" y="3530600"/>
            <a:ext cx="284163"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71" name="Line 31"/>
          <p:cNvSpPr>
            <a:spLocks noChangeShapeType="1"/>
          </p:cNvSpPr>
          <p:nvPr/>
        </p:nvSpPr>
        <p:spPr bwMode="auto">
          <a:xfrm>
            <a:off x="1231900" y="4776788"/>
            <a:ext cx="203200" cy="773112"/>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72" name="Text Box 32"/>
          <p:cNvSpPr txBox="1">
            <a:spLocks noChangeArrowheads="1"/>
          </p:cNvSpPr>
          <p:nvPr/>
        </p:nvSpPr>
        <p:spPr bwMode="auto">
          <a:xfrm>
            <a:off x="1031875" y="5549900"/>
            <a:ext cx="16859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200" b="1">
                <a:solidFill>
                  <a:srgbClr val="0000FF"/>
                </a:solidFill>
                <a:latin typeface="仿宋_GB2312"/>
                <a:ea typeface="仿宋_GB2312"/>
                <a:cs typeface="仿宋_GB2312"/>
              </a:rPr>
              <a:t>也叫</a:t>
            </a:r>
            <a:r>
              <a:rPr lang="zh-CN" altLang="en-US" sz="2200" b="1">
                <a:solidFill>
                  <a:srgbClr val="0000FF"/>
                </a:solidFill>
                <a:ea typeface="仿宋_GB2312"/>
                <a:cs typeface="仿宋_GB2312"/>
              </a:rPr>
              <a:t>“</a:t>
            </a:r>
            <a:r>
              <a:rPr lang="zh-CN" altLang="en-US" sz="2200" b="1">
                <a:solidFill>
                  <a:srgbClr val="0000FF"/>
                </a:solidFill>
                <a:latin typeface="仿宋_GB2312"/>
                <a:ea typeface="仿宋_GB2312"/>
                <a:cs typeface="仿宋_GB2312"/>
              </a:rPr>
              <a:t>投资机会研究</a:t>
            </a:r>
            <a:r>
              <a:rPr lang="zh-CN" altLang="en-US" sz="2200" b="1">
                <a:solidFill>
                  <a:srgbClr val="0000FF"/>
                </a:solidFill>
                <a:ea typeface="仿宋_GB2312"/>
                <a:cs typeface="仿宋_GB2312"/>
              </a:rPr>
              <a:t>”</a:t>
            </a:r>
            <a:endParaRPr lang="zh-CN" altLang="en-US" sz="2200" b="1">
              <a:solidFill>
                <a:srgbClr val="0000FF"/>
              </a:solidFill>
              <a:latin typeface="仿宋_GB2312"/>
              <a:ea typeface="仿宋_GB2312"/>
              <a:cs typeface="仿宋_GB2312"/>
            </a:endParaRPr>
          </a:p>
        </p:txBody>
      </p:sp>
      <p:sp>
        <p:nvSpPr>
          <p:cNvPr id="496673" name="Line 33"/>
          <p:cNvSpPr>
            <a:spLocks noChangeShapeType="1"/>
          </p:cNvSpPr>
          <p:nvPr/>
        </p:nvSpPr>
        <p:spPr bwMode="auto">
          <a:xfrm>
            <a:off x="2717800" y="4441825"/>
            <a:ext cx="498475" cy="676275"/>
          </a:xfrm>
          <a:prstGeom prst="line">
            <a:avLst/>
          </a:prstGeom>
          <a:noFill/>
          <a:ln w="9525">
            <a:solidFill>
              <a:srgbClr val="9933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6674" name="Text Box 34"/>
          <p:cNvSpPr txBox="1">
            <a:spLocks noChangeArrowheads="1"/>
          </p:cNvSpPr>
          <p:nvPr/>
        </p:nvSpPr>
        <p:spPr bwMode="auto">
          <a:xfrm>
            <a:off x="3216275" y="5118100"/>
            <a:ext cx="2574925"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200" b="1">
                <a:solidFill>
                  <a:srgbClr val="FF0000"/>
                </a:solidFill>
                <a:latin typeface="仿宋_GB2312"/>
                <a:ea typeface="仿宋_GB2312"/>
                <a:cs typeface="仿宋_GB2312"/>
              </a:rPr>
              <a:t>可能分为</a:t>
            </a:r>
            <a:r>
              <a:rPr lang="zh-CN" altLang="en-US" sz="2200" b="1">
                <a:solidFill>
                  <a:srgbClr val="FF0000"/>
                </a:solidFill>
                <a:ea typeface="仿宋_GB2312"/>
                <a:cs typeface="仿宋_GB2312"/>
              </a:rPr>
              <a:t>“</a:t>
            </a:r>
            <a:r>
              <a:rPr lang="zh-CN" altLang="en-US" sz="2200" b="1">
                <a:solidFill>
                  <a:srgbClr val="FF0000"/>
                </a:solidFill>
                <a:latin typeface="仿宋_GB2312"/>
                <a:ea typeface="仿宋_GB2312"/>
                <a:cs typeface="仿宋_GB2312"/>
              </a:rPr>
              <a:t>初步可行性研究</a:t>
            </a:r>
            <a:r>
              <a:rPr lang="zh-CN" altLang="en-US" sz="2200" b="1">
                <a:solidFill>
                  <a:srgbClr val="FF0000"/>
                </a:solidFill>
                <a:ea typeface="仿宋_GB2312"/>
                <a:cs typeface="仿宋_GB2312"/>
              </a:rPr>
              <a:t>”</a:t>
            </a:r>
            <a:r>
              <a:rPr lang="zh-CN" altLang="en-US" sz="2200" b="1">
                <a:solidFill>
                  <a:srgbClr val="FF0000"/>
                </a:solidFill>
                <a:latin typeface="仿宋_GB2312"/>
                <a:ea typeface="仿宋_GB2312"/>
                <a:cs typeface="仿宋_GB2312"/>
              </a:rPr>
              <a:t>、</a:t>
            </a:r>
            <a:r>
              <a:rPr lang="zh-CN" altLang="en-US" sz="2200" b="1">
                <a:solidFill>
                  <a:srgbClr val="FF0000"/>
                </a:solidFill>
                <a:ea typeface="仿宋_GB2312"/>
                <a:cs typeface="仿宋_GB2312"/>
              </a:rPr>
              <a:t>“</a:t>
            </a:r>
            <a:r>
              <a:rPr lang="zh-CN" altLang="en-US" sz="2200" b="1">
                <a:solidFill>
                  <a:srgbClr val="FF0000"/>
                </a:solidFill>
                <a:latin typeface="仿宋_GB2312"/>
                <a:ea typeface="仿宋_GB2312"/>
                <a:cs typeface="仿宋_GB2312"/>
              </a:rPr>
              <a:t>详细可行性研究</a:t>
            </a:r>
            <a:r>
              <a:rPr lang="zh-CN" altLang="en-US" sz="2200" b="1">
                <a:solidFill>
                  <a:srgbClr val="FF0000"/>
                </a:solidFill>
                <a:ea typeface="仿宋_GB2312"/>
                <a:cs typeface="仿宋_GB2312"/>
              </a:rPr>
              <a:t>”</a:t>
            </a:r>
            <a:r>
              <a:rPr lang="zh-CN" altLang="en-US" sz="2200" b="1">
                <a:solidFill>
                  <a:srgbClr val="FF0000"/>
                </a:solidFill>
                <a:latin typeface="仿宋_GB2312"/>
                <a:ea typeface="仿宋_GB2312"/>
                <a:cs typeface="仿宋_GB2312"/>
              </a:rPr>
              <a:t>等类别</a:t>
            </a:r>
            <a:endParaRPr lang="zh-CN" altLang="en-US" sz="2200" b="1">
              <a:solidFill>
                <a:srgbClr val="FF0000"/>
              </a:solidFill>
              <a:latin typeface="仿宋_GB2312"/>
              <a:ea typeface="仿宋_GB2312"/>
              <a:cs typeface="仿宋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6659"/>
                                        </p:tgtEl>
                                        <p:attrNameLst>
                                          <p:attrName>style.visibility</p:attrName>
                                        </p:attrNameLst>
                                      </p:cBhvr>
                                      <p:to>
                                        <p:strVal val="visible"/>
                                      </p:to>
                                    </p:set>
                                    <p:animEffect transition="in" filter="blinds(horizontal)">
                                      <p:cBhvr>
                                        <p:cTn id="7" dur="500"/>
                                        <p:tgtEl>
                                          <p:spTgt spid="49665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96647"/>
                                        </p:tgtEl>
                                        <p:attrNameLst>
                                          <p:attrName>style.visibility</p:attrName>
                                        </p:attrNameLst>
                                      </p:cBhvr>
                                      <p:to>
                                        <p:strVal val="visible"/>
                                      </p:to>
                                    </p:set>
                                    <p:animEffect transition="in" filter="blinds(horizontal)">
                                      <p:cBhvr>
                                        <p:cTn id="10" dur="500"/>
                                        <p:tgtEl>
                                          <p:spTgt spid="496647"/>
                                        </p:tgtEl>
                                      </p:cBhvr>
                                    </p:animEffect>
                                  </p:childTnLst>
                                </p:cTn>
                              </p:par>
                              <p:par>
                                <p:cTn id="11" presetID="3" presetClass="entr" presetSubtype="10" fill="hold" nodeType="withEffect">
                                  <p:stCondLst>
                                    <p:cond delay="0"/>
                                  </p:stCondLst>
                                  <p:childTnLst>
                                    <p:set>
                                      <p:cBhvr>
                                        <p:cTn id="12" dur="1" fill="hold">
                                          <p:stCondLst>
                                            <p:cond delay="0"/>
                                          </p:stCondLst>
                                        </p:cTn>
                                        <p:tgtEl>
                                          <p:spTgt spid="496671"/>
                                        </p:tgtEl>
                                        <p:attrNameLst>
                                          <p:attrName>style.visibility</p:attrName>
                                        </p:attrNameLst>
                                      </p:cBhvr>
                                      <p:to>
                                        <p:strVal val="visible"/>
                                      </p:to>
                                    </p:set>
                                    <p:animEffect transition="in" filter="blinds(horizontal)">
                                      <p:cBhvr>
                                        <p:cTn id="13" dur="500"/>
                                        <p:tgtEl>
                                          <p:spTgt spid="496671"/>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96672"/>
                                        </p:tgtEl>
                                        <p:attrNameLst>
                                          <p:attrName>style.visibility</p:attrName>
                                        </p:attrNameLst>
                                      </p:cBhvr>
                                      <p:to>
                                        <p:strVal val="visible"/>
                                      </p:to>
                                    </p:set>
                                    <p:animEffect transition="in" filter="blinds(horizontal)">
                                      <p:cBhvr>
                                        <p:cTn id="16" dur="500"/>
                                        <p:tgtEl>
                                          <p:spTgt spid="496672"/>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496660"/>
                                        </p:tgtEl>
                                        <p:attrNameLst>
                                          <p:attrName>style.visibility</p:attrName>
                                        </p:attrNameLst>
                                      </p:cBhvr>
                                      <p:to>
                                        <p:strVal val="visible"/>
                                      </p:to>
                                    </p:set>
                                    <p:animEffect transition="in" filter="blinds(horizontal)">
                                      <p:cBhvr>
                                        <p:cTn id="21" dur="500"/>
                                        <p:tgtEl>
                                          <p:spTgt spid="496660"/>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496648"/>
                                        </p:tgtEl>
                                        <p:attrNameLst>
                                          <p:attrName>style.visibility</p:attrName>
                                        </p:attrNameLst>
                                      </p:cBhvr>
                                      <p:to>
                                        <p:strVal val="visible"/>
                                      </p:to>
                                    </p:set>
                                    <p:animEffect transition="in" filter="blinds(horizontal)">
                                      <p:cBhvr>
                                        <p:cTn id="24" dur="500"/>
                                        <p:tgtEl>
                                          <p:spTgt spid="496648"/>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496661"/>
                                        </p:tgtEl>
                                        <p:attrNameLst>
                                          <p:attrName>style.visibility</p:attrName>
                                        </p:attrNameLst>
                                      </p:cBhvr>
                                      <p:to>
                                        <p:strVal val="visible"/>
                                      </p:to>
                                    </p:set>
                                    <p:animEffect transition="in" filter="blinds(horizontal)">
                                      <p:cBhvr>
                                        <p:cTn id="29" dur="500"/>
                                        <p:tgtEl>
                                          <p:spTgt spid="496661"/>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496649"/>
                                        </p:tgtEl>
                                        <p:attrNameLst>
                                          <p:attrName>style.visibility</p:attrName>
                                        </p:attrNameLst>
                                      </p:cBhvr>
                                      <p:to>
                                        <p:strVal val="visible"/>
                                      </p:to>
                                    </p:set>
                                    <p:animEffect transition="in" filter="blinds(horizontal)">
                                      <p:cBhvr>
                                        <p:cTn id="32" dur="500"/>
                                        <p:tgtEl>
                                          <p:spTgt spid="496649"/>
                                        </p:tgtEl>
                                      </p:cBhvr>
                                    </p:animEffect>
                                  </p:childTnLst>
                                </p:cTn>
                              </p:par>
                              <p:par>
                                <p:cTn id="33" presetID="3" presetClass="entr" presetSubtype="10" fill="hold" nodeType="withEffect">
                                  <p:stCondLst>
                                    <p:cond delay="0"/>
                                  </p:stCondLst>
                                  <p:childTnLst>
                                    <p:set>
                                      <p:cBhvr>
                                        <p:cTn id="34" dur="1" fill="hold">
                                          <p:stCondLst>
                                            <p:cond delay="0"/>
                                          </p:stCondLst>
                                        </p:cTn>
                                        <p:tgtEl>
                                          <p:spTgt spid="496673"/>
                                        </p:tgtEl>
                                        <p:attrNameLst>
                                          <p:attrName>style.visibility</p:attrName>
                                        </p:attrNameLst>
                                      </p:cBhvr>
                                      <p:to>
                                        <p:strVal val="visible"/>
                                      </p:to>
                                    </p:set>
                                    <p:animEffect transition="in" filter="blinds(horizontal)">
                                      <p:cBhvr>
                                        <p:cTn id="35" dur="500"/>
                                        <p:tgtEl>
                                          <p:spTgt spid="496673"/>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496674"/>
                                        </p:tgtEl>
                                        <p:attrNameLst>
                                          <p:attrName>style.visibility</p:attrName>
                                        </p:attrNameLst>
                                      </p:cBhvr>
                                      <p:to>
                                        <p:strVal val="visible"/>
                                      </p:to>
                                    </p:set>
                                    <p:animEffect transition="in" filter="blinds(horizontal)">
                                      <p:cBhvr>
                                        <p:cTn id="38" dur="500"/>
                                        <p:tgtEl>
                                          <p:spTgt spid="496674"/>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496662"/>
                                        </p:tgtEl>
                                        <p:attrNameLst>
                                          <p:attrName>style.visibility</p:attrName>
                                        </p:attrNameLst>
                                      </p:cBhvr>
                                      <p:to>
                                        <p:strVal val="visible"/>
                                      </p:to>
                                    </p:set>
                                    <p:animEffect transition="in" filter="blinds(horizontal)">
                                      <p:cBhvr>
                                        <p:cTn id="43" dur="500"/>
                                        <p:tgtEl>
                                          <p:spTgt spid="496662"/>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496650"/>
                                        </p:tgtEl>
                                        <p:attrNameLst>
                                          <p:attrName>style.visibility</p:attrName>
                                        </p:attrNameLst>
                                      </p:cBhvr>
                                      <p:to>
                                        <p:strVal val="visible"/>
                                      </p:to>
                                    </p:set>
                                    <p:animEffect transition="in" filter="blinds(horizontal)">
                                      <p:cBhvr>
                                        <p:cTn id="46" dur="500"/>
                                        <p:tgtEl>
                                          <p:spTgt spid="496650"/>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496651"/>
                                        </p:tgtEl>
                                        <p:attrNameLst>
                                          <p:attrName>style.visibility</p:attrName>
                                        </p:attrNameLst>
                                      </p:cBhvr>
                                      <p:to>
                                        <p:strVal val="visible"/>
                                      </p:to>
                                    </p:set>
                                    <p:animEffect transition="in" filter="blinds(horizontal)">
                                      <p:cBhvr>
                                        <p:cTn id="49" dur="500"/>
                                        <p:tgtEl>
                                          <p:spTgt spid="496651"/>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496652"/>
                                        </p:tgtEl>
                                        <p:attrNameLst>
                                          <p:attrName>style.visibility</p:attrName>
                                        </p:attrNameLst>
                                      </p:cBhvr>
                                      <p:to>
                                        <p:strVal val="visible"/>
                                      </p:to>
                                    </p:set>
                                    <p:animEffect transition="in" filter="blinds(horizontal)">
                                      <p:cBhvr>
                                        <p:cTn id="52" dur="500"/>
                                        <p:tgtEl>
                                          <p:spTgt spid="496652"/>
                                        </p:tgtEl>
                                      </p:cBhvr>
                                    </p:animEffect>
                                  </p:childTnLst>
                                </p:cTn>
                              </p:par>
                              <p:par>
                                <p:cTn id="53" presetID="3" presetClass="entr" presetSubtype="10" fill="hold" nodeType="withEffect">
                                  <p:stCondLst>
                                    <p:cond delay="0"/>
                                  </p:stCondLst>
                                  <p:childTnLst>
                                    <p:set>
                                      <p:cBhvr>
                                        <p:cTn id="54" dur="1" fill="hold">
                                          <p:stCondLst>
                                            <p:cond delay="0"/>
                                          </p:stCondLst>
                                        </p:cTn>
                                        <p:tgtEl>
                                          <p:spTgt spid="496664"/>
                                        </p:tgtEl>
                                        <p:attrNameLst>
                                          <p:attrName>style.visibility</p:attrName>
                                        </p:attrNameLst>
                                      </p:cBhvr>
                                      <p:to>
                                        <p:strVal val="visible"/>
                                      </p:to>
                                    </p:set>
                                    <p:animEffect transition="in" filter="blinds(horizontal)">
                                      <p:cBhvr>
                                        <p:cTn id="55" dur="500"/>
                                        <p:tgtEl>
                                          <p:spTgt spid="496664"/>
                                        </p:tgtEl>
                                      </p:cBhvr>
                                    </p:animEffect>
                                  </p:childTnLst>
                                </p:cTn>
                              </p:par>
                              <p:par>
                                <p:cTn id="56" presetID="3" presetClass="entr" presetSubtype="10" fill="hold" nodeType="withEffect">
                                  <p:stCondLst>
                                    <p:cond delay="0"/>
                                  </p:stCondLst>
                                  <p:childTnLst>
                                    <p:set>
                                      <p:cBhvr>
                                        <p:cTn id="57" dur="1" fill="hold">
                                          <p:stCondLst>
                                            <p:cond delay="0"/>
                                          </p:stCondLst>
                                        </p:cTn>
                                        <p:tgtEl>
                                          <p:spTgt spid="496663"/>
                                        </p:tgtEl>
                                        <p:attrNameLst>
                                          <p:attrName>style.visibility</p:attrName>
                                        </p:attrNameLst>
                                      </p:cBhvr>
                                      <p:to>
                                        <p:strVal val="visible"/>
                                      </p:to>
                                    </p:set>
                                    <p:animEffect transition="in" filter="blinds(horizontal)">
                                      <p:cBhvr>
                                        <p:cTn id="58" dur="500"/>
                                        <p:tgtEl>
                                          <p:spTgt spid="496663"/>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496665"/>
                                        </p:tgtEl>
                                        <p:attrNameLst>
                                          <p:attrName>style.visibility</p:attrName>
                                        </p:attrNameLst>
                                      </p:cBhvr>
                                      <p:to>
                                        <p:strVal val="visible"/>
                                      </p:to>
                                    </p:set>
                                    <p:animEffect transition="in" filter="blinds(horizontal)">
                                      <p:cBhvr>
                                        <p:cTn id="63" dur="500"/>
                                        <p:tgtEl>
                                          <p:spTgt spid="496665"/>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496653"/>
                                        </p:tgtEl>
                                        <p:attrNameLst>
                                          <p:attrName>style.visibility</p:attrName>
                                        </p:attrNameLst>
                                      </p:cBhvr>
                                      <p:to>
                                        <p:strVal val="visible"/>
                                      </p:to>
                                    </p:set>
                                    <p:animEffect transition="in" filter="blinds(horizontal)">
                                      <p:cBhvr>
                                        <p:cTn id="66" dur="500"/>
                                        <p:tgtEl>
                                          <p:spTgt spid="496653"/>
                                        </p:tgtEl>
                                      </p:cBhvr>
                                    </p:animEffect>
                                  </p:childTnLst>
                                </p:cTn>
                              </p:par>
                              <p:par>
                                <p:cTn id="67" presetID="3" presetClass="entr" presetSubtype="10" fill="hold" nodeType="withEffect">
                                  <p:stCondLst>
                                    <p:cond delay="0"/>
                                  </p:stCondLst>
                                  <p:childTnLst>
                                    <p:set>
                                      <p:cBhvr>
                                        <p:cTn id="68" dur="1" fill="hold">
                                          <p:stCondLst>
                                            <p:cond delay="0"/>
                                          </p:stCondLst>
                                        </p:cTn>
                                        <p:tgtEl>
                                          <p:spTgt spid="496666"/>
                                        </p:tgtEl>
                                        <p:attrNameLst>
                                          <p:attrName>style.visibility</p:attrName>
                                        </p:attrNameLst>
                                      </p:cBhvr>
                                      <p:to>
                                        <p:strVal val="visible"/>
                                      </p:to>
                                    </p:set>
                                    <p:animEffect transition="in" filter="blinds(horizontal)">
                                      <p:cBhvr>
                                        <p:cTn id="69" dur="500"/>
                                        <p:tgtEl>
                                          <p:spTgt spid="496666"/>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496654"/>
                                        </p:tgtEl>
                                        <p:attrNameLst>
                                          <p:attrName>style.visibility</p:attrName>
                                        </p:attrNameLst>
                                      </p:cBhvr>
                                      <p:to>
                                        <p:strVal val="visible"/>
                                      </p:to>
                                    </p:set>
                                    <p:animEffect transition="in" filter="blinds(horizontal)">
                                      <p:cBhvr>
                                        <p:cTn id="72" dur="500"/>
                                        <p:tgtEl>
                                          <p:spTgt spid="496654"/>
                                        </p:tgtEl>
                                      </p:cBhvr>
                                    </p:animEffect>
                                  </p:childTnLst>
                                </p:cTn>
                              </p:par>
                              <p:par>
                                <p:cTn id="73" presetID="3" presetClass="entr" presetSubtype="10" fill="hold" nodeType="withEffect">
                                  <p:stCondLst>
                                    <p:cond delay="0"/>
                                  </p:stCondLst>
                                  <p:childTnLst>
                                    <p:set>
                                      <p:cBhvr>
                                        <p:cTn id="74" dur="1" fill="hold">
                                          <p:stCondLst>
                                            <p:cond delay="0"/>
                                          </p:stCondLst>
                                        </p:cTn>
                                        <p:tgtEl>
                                          <p:spTgt spid="496667"/>
                                        </p:tgtEl>
                                        <p:attrNameLst>
                                          <p:attrName>style.visibility</p:attrName>
                                        </p:attrNameLst>
                                      </p:cBhvr>
                                      <p:to>
                                        <p:strVal val="visible"/>
                                      </p:to>
                                    </p:set>
                                    <p:animEffect transition="in" filter="blinds(horizontal)">
                                      <p:cBhvr>
                                        <p:cTn id="75" dur="500"/>
                                        <p:tgtEl>
                                          <p:spTgt spid="496667"/>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496655"/>
                                        </p:tgtEl>
                                        <p:attrNameLst>
                                          <p:attrName>style.visibility</p:attrName>
                                        </p:attrNameLst>
                                      </p:cBhvr>
                                      <p:to>
                                        <p:strVal val="visible"/>
                                      </p:to>
                                    </p:set>
                                    <p:animEffect transition="in" filter="blinds(horizontal)">
                                      <p:cBhvr>
                                        <p:cTn id="78" dur="500"/>
                                        <p:tgtEl>
                                          <p:spTgt spid="496655"/>
                                        </p:tgtEl>
                                      </p:cBhvr>
                                    </p:animEffect>
                                  </p:childTnLst>
                                </p:cTn>
                              </p:par>
                              <p:par>
                                <p:cTn id="79" presetID="3" presetClass="entr" presetSubtype="10" fill="hold" nodeType="withEffect">
                                  <p:stCondLst>
                                    <p:cond delay="0"/>
                                  </p:stCondLst>
                                  <p:childTnLst>
                                    <p:set>
                                      <p:cBhvr>
                                        <p:cTn id="80" dur="1" fill="hold">
                                          <p:stCondLst>
                                            <p:cond delay="0"/>
                                          </p:stCondLst>
                                        </p:cTn>
                                        <p:tgtEl>
                                          <p:spTgt spid="496668"/>
                                        </p:tgtEl>
                                        <p:attrNameLst>
                                          <p:attrName>style.visibility</p:attrName>
                                        </p:attrNameLst>
                                      </p:cBhvr>
                                      <p:to>
                                        <p:strVal val="visible"/>
                                      </p:to>
                                    </p:set>
                                    <p:animEffect transition="in" filter="blinds(horizontal)">
                                      <p:cBhvr>
                                        <p:cTn id="81" dur="500"/>
                                        <p:tgtEl>
                                          <p:spTgt spid="496668"/>
                                        </p:tgtEl>
                                      </p:cBhvr>
                                    </p:animEffect>
                                  </p:childTnLst>
                                </p:cTn>
                              </p:par>
                              <p:par>
                                <p:cTn id="82" presetID="3" presetClass="entr" presetSubtype="10" fill="hold" grpId="0" nodeType="withEffect">
                                  <p:stCondLst>
                                    <p:cond delay="0"/>
                                  </p:stCondLst>
                                  <p:childTnLst>
                                    <p:set>
                                      <p:cBhvr>
                                        <p:cTn id="83" dur="1" fill="hold">
                                          <p:stCondLst>
                                            <p:cond delay="0"/>
                                          </p:stCondLst>
                                        </p:cTn>
                                        <p:tgtEl>
                                          <p:spTgt spid="496656"/>
                                        </p:tgtEl>
                                        <p:attrNameLst>
                                          <p:attrName>style.visibility</p:attrName>
                                        </p:attrNameLst>
                                      </p:cBhvr>
                                      <p:to>
                                        <p:strVal val="visible"/>
                                      </p:to>
                                    </p:set>
                                    <p:animEffect transition="in" filter="blinds(horizontal)">
                                      <p:cBhvr>
                                        <p:cTn id="84" dur="500"/>
                                        <p:tgtEl>
                                          <p:spTgt spid="496656"/>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nodeType="clickEffect">
                                  <p:stCondLst>
                                    <p:cond delay="0"/>
                                  </p:stCondLst>
                                  <p:childTnLst>
                                    <p:set>
                                      <p:cBhvr>
                                        <p:cTn id="88" dur="1" fill="hold">
                                          <p:stCondLst>
                                            <p:cond delay="0"/>
                                          </p:stCondLst>
                                        </p:cTn>
                                        <p:tgtEl>
                                          <p:spTgt spid="496669"/>
                                        </p:tgtEl>
                                        <p:attrNameLst>
                                          <p:attrName>style.visibility</p:attrName>
                                        </p:attrNameLst>
                                      </p:cBhvr>
                                      <p:to>
                                        <p:strVal val="visible"/>
                                      </p:to>
                                    </p:set>
                                    <p:animEffect transition="in" filter="blinds(horizontal)">
                                      <p:cBhvr>
                                        <p:cTn id="89" dur="500"/>
                                        <p:tgtEl>
                                          <p:spTgt spid="496669"/>
                                        </p:tgtEl>
                                      </p:cBhvr>
                                    </p:animEffect>
                                  </p:childTnLst>
                                </p:cTn>
                              </p:par>
                              <p:par>
                                <p:cTn id="90" presetID="3" presetClass="entr" presetSubtype="10" fill="hold" grpId="0" nodeType="withEffect">
                                  <p:stCondLst>
                                    <p:cond delay="0"/>
                                  </p:stCondLst>
                                  <p:childTnLst>
                                    <p:set>
                                      <p:cBhvr>
                                        <p:cTn id="91" dur="1" fill="hold">
                                          <p:stCondLst>
                                            <p:cond delay="0"/>
                                          </p:stCondLst>
                                        </p:cTn>
                                        <p:tgtEl>
                                          <p:spTgt spid="496657"/>
                                        </p:tgtEl>
                                        <p:attrNameLst>
                                          <p:attrName>style.visibility</p:attrName>
                                        </p:attrNameLst>
                                      </p:cBhvr>
                                      <p:to>
                                        <p:strVal val="visible"/>
                                      </p:to>
                                    </p:set>
                                    <p:animEffect transition="in" filter="blinds(horizontal)">
                                      <p:cBhvr>
                                        <p:cTn id="92" dur="500"/>
                                        <p:tgtEl>
                                          <p:spTgt spid="496657"/>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496670"/>
                                        </p:tgtEl>
                                        <p:attrNameLst>
                                          <p:attrName>style.visibility</p:attrName>
                                        </p:attrNameLst>
                                      </p:cBhvr>
                                      <p:to>
                                        <p:strVal val="visible"/>
                                      </p:to>
                                    </p:set>
                                    <p:animEffect transition="in" filter="blinds(horizontal)">
                                      <p:cBhvr>
                                        <p:cTn id="97" dur="500"/>
                                        <p:tgtEl>
                                          <p:spTgt spid="496670"/>
                                        </p:tgtEl>
                                      </p:cBhvr>
                                    </p:animEffect>
                                  </p:childTnLst>
                                </p:cTn>
                              </p:par>
                              <p:par>
                                <p:cTn id="98" presetID="3" presetClass="entr" presetSubtype="10" fill="hold" grpId="0" nodeType="withEffect">
                                  <p:stCondLst>
                                    <p:cond delay="0"/>
                                  </p:stCondLst>
                                  <p:childTnLst>
                                    <p:set>
                                      <p:cBhvr>
                                        <p:cTn id="99" dur="1" fill="hold">
                                          <p:stCondLst>
                                            <p:cond delay="0"/>
                                          </p:stCondLst>
                                        </p:cTn>
                                        <p:tgtEl>
                                          <p:spTgt spid="496658"/>
                                        </p:tgtEl>
                                        <p:attrNameLst>
                                          <p:attrName>style.visibility</p:attrName>
                                        </p:attrNameLst>
                                      </p:cBhvr>
                                      <p:to>
                                        <p:strVal val="visible"/>
                                      </p:to>
                                    </p:set>
                                    <p:animEffect transition="in" filter="blinds(horizontal)">
                                      <p:cBhvr>
                                        <p:cTn id="100" dur="500"/>
                                        <p:tgtEl>
                                          <p:spTgt spid="496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7" grpId="0" animBg="1"/>
      <p:bldP spid="496648" grpId="0" animBg="1"/>
      <p:bldP spid="496649" grpId="0" animBg="1"/>
      <p:bldP spid="496650" grpId="0" animBg="1"/>
      <p:bldP spid="496651" grpId="0" animBg="1"/>
      <p:bldP spid="496652" grpId="0" animBg="1"/>
      <p:bldP spid="496653" grpId="0" animBg="1"/>
      <p:bldP spid="496654" grpId="0" animBg="1"/>
      <p:bldP spid="496655" grpId="0" animBg="1"/>
      <p:bldP spid="496656" grpId="0" animBg="1"/>
      <p:bldP spid="496657" grpId="0" animBg="1"/>
      <p:bldP spid="496658" grpId="0" animBg="1"/>
      <p:bldP spid="496672" grpId="0"/>
      <p:bldP spid="49667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590843B-0D67-4FEC-ADD3-683B4CC0BD57}" type="slidenum">
              <a:rPr lang="zh-CN" altLang="en-US" sz="1400" smtClean="0"/>
            </a:fld>
            <a:endParaRPr lang="en-US" altLang="zh-CN" sz="1400" smtClean="0"/>
          </a:p>
        </p:txBody>
      </p:sp>
      <p:sp>
        <p:nvSpPr>
          <p:cNvPr id="8195" name="Rectangle 4"/>
          <p:cNvSpPr>
            <a:spLocks noGrp="1" noChangeArrowheads="1"/>
          </p:cNvSpPr>
          <p:nvPr>
            <p:ph type="title"/>
          </p:nvPr>
        </p:nvSpPr>
        <p:spPr>
          <a:xfrm>
            <a:off x="0" y="12700"/>
            <a:ext cx="8178800" cy="609600"/>
          </a:xfrm>
          <a:solidFill>
            <a:srgbClr val="99CCFF"/>
          </a:solidFill>
        </p:spPr>
        <p:txBody>
          <a:bodyPr/>
          <a:lstStyle/>
          <a:p>
            <a:pPr algn="l" eaLnBrk="1" hangingPunct="1"/>
            <a:r>
              <a:rPr lang="zh-CN" altLang="en-US" smtClean="0">
                <a:solidFill>
                  <a:schemeClr val="hlink"/>
                </a:solidFill>
              </a:rPr>
              <a:t>可行性研究的作用重大</a:t>
            </a:r>
            <a:endParaRPr lang="zh-CN" altLang="en-US" smtClean="0">
              <a:solidFill>
                <a:schemeClr val="hlink"/>
              </a:solidFill>
            </a:endParaRPr>
          </a:p>
        </p:txBody>
      </p:sp>
      <p:sp>
        <p:nvSpPr>
          <p:cNvPr id="8196" name="Rectangle 5"/>
          <p:cNvSpPr>
            <a:spLocks noGrp="1" noChangeArrowheads="1"/>
          </p:cNvSpPr>
          <p:nvPr>
            <p:ph type="body" idx="1"/>
          </p:nvPr>
        </p:nvSpPr>
        <p:spPr>
          <a:xfrm>
            <a:off x="0" y="977900"/>
            <a:ext cx="9144000" cy="5880100"/>
          </a:xfrm>
          <a:solidFill>
            <a:srgbClr val="99CCFF"/>
          </a:solidFill>
        </p:spPr>
        <p:txBody>
          <a:bodyPr/>
          <a:lstStyle/>
          <a:p>
            <a:pPr eaLnBrk="1" hangingPunct="1"/>
            <a:endParaRPr lang="zh-CN" altLang="en-US" smtClean="0"/>
          </a:p>
        </p:txBody>
      </p:sp>
      <p:grpSp>
        <p:nvGrpSpPr>
          <p:cNvPr id="8197" name="Group 6"/>
          <p:cNvGrpSpPr/>
          <p:nvPr/>
        </p:nvGrpSpPr>
        <p:grpSpPr bwMode="auto">
          <a:xfrm>
            <a:off x="1331913" y="1341438"/>
            <a:ext cx="6548437" cy="4102100"/>
            <a:chOff x="624" y="1120"/>
            <a:chExt cx="5104" cy="3137"/>
          </a:xfrm>
        </p:grpSpPr>
        <p:sp>
          <p:nvSpPr>
            <p:cNvPr id="8199" name="Text Box 7"/>
            <p:cNvSpPr txBox="1">
              <a:spLocks noChangeArrowheads="1"/>
            </p:cNvSpPr>
            <p:nvPr/>
          </p:nvSpPr>
          <p:spPr bwMode="auto">
            <a:xfrm>
              <a:off x="5208" y="3720"/>
              <a:ext cx="520" cy="53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000" b="1">
                  <a:solidFill>
                    <a:srgbClr val="000000"/>
                  </a:solidFill>
                  <a:latin typeface="楷体_GB2312"/>
                  <a:ea typeface="楷体_GB2312"/>
                  <a:cs typeface="楷体_GB2312"/>
                </a:rPr>
                <a:t>时间</a:t>
              </a:r>
              <a:endParaRPr lang="zh-CN" altLang="en-US" sz="2000" b="1">
                <a:solidFill>
                  <a:srgbClr val="000000"/>
                </a:solidFill>
                <a:latin typeface="楷体_GB2312"/>
                <a:ea typeface="楷体_GB2312"/>
                <a:cs typeface="楷体_GB2312"/>
              </a:endParaRPr>
            </a:p>
          </p:txBody>
        </p:sp>
        <p:grpSp>
          <p:nvGrpSpPr>
            <p:cNvPr id="8200" name="Group 8"/>
            <p:cNvGrpSpPr/>
            <p:nvPr/>
          </p:nvGrpSpPr>
          <p:grpSpPr bwMode="auto">
            <a:xfrm>
              <a:off x="624" y="1120"/>
              <a:ext cx="4832" cy="3080"/>
              <a:chOff x="624" y="1120"/>
              <a:chExt cx="4832" cy="3080"/>
            </a:xfrm>
          </p:grpSpPr>
          <p:sp>
            <p:nvSpPr>
              <p:cNvPr id="8201" name="Line 9"/>
              <p:cNvSpPr>
                <a:spLocks noChangeShapeType="1"/>
              </p:cNvSpPr>
              <p:nvPr/>
            </p:nvSpPr>
            <p:spPr bwMode="auto">
              <a:xfrm>
                <a:off x="632" y="3896"/>
                <a:ext cx="4568"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2" name="Line 10"/>
              <p:cNvSpPr>
                <a:spLocks noChangeShapeType="1"/>
              </p:cNvSpPr>
              <p:nvPr/>
            </p:nvSpPr>
            <p:spPr bwMode="auto">
              <a:xfrm flipV="1">
                <a:off x="632" y="1120"/>
                <a:ext cx="0" cy="277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3" name="Freeform 11"/>
              <p:cNvSpPr/>
              <p:nvPr/>
            </p:nvSpPr>
            <p:spPr bwMode="auto">
              <a:xfrm>
                <a:off x="624" y="1432"/>
                <a:ext cx="3672" cy="2464"/>
              </a:xfrm>
              <a:custGeom>
                <a:avLst/>
                <a:gdLst>
                  <a:gd name="T0" fmla="*/ 0 w 3672"/>
                  <a:gd name="T1" fmla="*/ 2464 h 2464"/>
                  <a:gd name="T2" fmla="*/ 1184 w 3672"/>
                  <a:gd name="T3" fmla="*/ 1864 h 2464"/>
                  <a:gd name="T4" fmla="*/ 2304 w 3672"/>
                  <a:gd name="T5" fmla="*/ 352 h 2464"/>
                  <a:gd name="T6" fmla="*/ 3672 w 3672"/>
                  <a:gd name="T7" fmla="*/ 0 h 2464"/>
                  <a:gd name="T8" fmla="*/ 0 60000 65536"/>
                  <a:gd name="T9" fmla="*/ 0 60000 65536"/>
                  <a:gd name="T10" fmla="*/ 0 60000 65536"/>
                  <a:gd name="T11" fmla="*/ 0 60000 65536"/>
                  <a:gd name="T12" fmla="*/ 0 w 3672"/>
                  <a:gd name="T13" fmla="*/ 0 h 2464"/>
                  <a:gd name="T14" fmla="*/ 3672 w 3672"/>
                  <a:gd name="T15" fmla="*/ 2464 h 2464"/>
                </a:gdLst>
                <a:ahLst/>
                <a:cxnLst>
                  <a:cxn ang="T8">
                    <a:pos x="T0" y="T1"/>
                  </a:cxn>
                  <a:cxn ang="T9">
                    <a:pos x="T2" y="T3"/>
                  </a:cxn>
                  <a:cxn ang="T10">
                    <a:pos x="T4" y="T5"/>
                  </a:cxn>
                  <a:cxn ang="T11">
                    <a:pos x="T6" y="T7"/>
                  </a:cxn>
                </a:cxnLst>
                <a:rect l="T12" t="T13" r="T14" b="T15"/>
                <a:pathLst>
                  <a:path w="3672" h="2464">
                    <a:moveTo>
                      <a:pt x="0" y="2464"/>
                    </a:moveTo>
                    <a:cubicBezTo>
                      <a:pt x="400" y="2340"/>
                      <a:pt x="800" y="2216"/>
                      <a:pt x="1184" y="1864"/>
                    </a:cubicBezTo>
                    <a:cubicBezTo>
                      <a:pt x="1568" y="1512"/>
                      <a:pt x="1889" y="663"/>
                      <a:pt x="2304" y="352"/>
                    </a:cubicBezTo>
                    <a:cubicBezTo>
                      <a:pt x="2719" y="41"/>
                      <a:pt x="3195" y="20"/>
                      <a:pt x="3672" y="0"/>
                    </a:cubicBezTo>
                  </a:path>
                </a:pathLst>
              </a:custGeom>
              <a:solidFill>
                <a:srgbClr val="99CCFF"/>
              </a:solidFill>
              <a:ln w="25400">
                <a:solidFill>
                  <a:srgbClr val="000000"/>
                </a:solidFill>
                <a:round/>
              </a:ln>
            </p:spPr>
            <p:txBody>
              <a:bodyPr/>
              <a:lstStyle/>
              <a:p>
                <a:endParaRPr lang="zh-CN" altLang="en-US"/>
              </a:p>
            </p:txBody>
          </p:sp>
          <p:sp>
            <p:nvSpPr>
              <p:cNvPr id="8204" name="Freeform 12"/>
              <p:cNvSpPr/>
              <p:nvPr/>
            </p:nvSpPr>
            <p:spPr bwMode="auto">
              <a:xfrm>
                <a:off x="632" y="1336"/>
                <a:ext cx="3896" cy="2448"/>
              </a:xfrm>
              <a:custGeom>
                <a:avLst/>
                <a:gdLst>
                  <a:gd name="T0" fmla="*/ 0 w 3896"/>
                  <a:gd name="T1" fmla="*/ 0 h 2448"/>
                  <a:gd name="T2" fmla="*/ 888 w 3896"/>
                  <a:gd name="T3" fmla="*/ 456 h 2448"/>
                  <a:gd name="T4" fmla="*/ 1960 w 3896"/>
                  <a:gd name="T5" fmla="*/ 1992 h 2448"/>
                  <a:gd name="T6" fmla="*/ 3896 w 3896"/>
                  <a:gd name="T7" fmla="*/ 2448 h 2448"/>
                  <a:gd name="T8" fmla="*/ 0 60000 65536"/>
                  <a:gd name="T9" fmla="*/ 0 60000 65536"/>
                  <a:gd name="T10" fmla="*/ 0 60000 65536"/>
                  <a:gd name="T11" fmla="*/ 0 60000 65536"/>
                  <a:gd name="T12" fmla="*/ 0 w 3896"/>
                  <a:gd name="T13" fmla="*/ 0 h 2448"/>
                  <a:gd name="T14" fmla="*/ 3896 w 3896"/>
                  <a:gd name="T15" fmla="*/ 2448 h 2448"/>
                </a:gdLst>
                <a:ahLst/>
                <a:cxnLst>
                  <a:cxn ang="T8">
                    <a:pos x="T0" y="T1"/>
                  </a:cxn>
                  <a:cxn ang="T9">
                    <a:pos x="T2" y="T3"/>
                  </a:cxn>
                  <a:cxn ang="T10">
                    <a:pos x="T4" y="T5"/>
                  </a:cxn>
                  <a:cxn ang="T11">
                    <a:pos x="T6" y="T7"/>
                  </a:cxn>
                </a:cxnLst>
                <a:rect l="T12" t="T13" r="T14" b="T15"/>
                <a:pathLst>
                  <a:path w="3896" h="2448">
                    <a:moveTo>
                      <a:pt x="0" y="0"/>
                    </a:moveTo>
                    <a:cubicBezTo>
                      <a:pt x="280" y="62"/>
                      <a:pt x="561" y="124"/>
                      <a:pt x="888" y="456"/>
                    </a:cubicBezTo>
                    <a:cubicBezTo>
                      <a:pt x="1215" y="788"/>
                      <a:pt x="1459" y="1660"/>
                      <a:pt x="1960" y="1992"/>
                    </a:cubicBezTo>
                    <a:cubicBezTo>
                      <a:pt x="2461" y="2324"/>
                      <a:pt x="3178" y="2386"/>
                      <a:pt x="3896" y="2448"/>
                    </a:cubicBezTo>
                  </a:path>
                </a:pathLst>
              </a:custGeom>
              <a:solidFill>
                <a:srgbClr val="99CCFF"/>
              </a:solidFill>
              <a:ln w="25400">
                <a:solidFill>
                  <a:srgbClr val="800000"/>
                </a:solidFill>
                <a:round/>
              </a:ln>
            </p:spPr>
            <p:txBody>
              <a:bodyPr/>
              <a:lstStyle/>
              <a:p>
                <a:endParaRPr lang="zh-CN" altLang="en-US"/>
              </a:p>
            </p:txBody>
          </p:sp>
          <p:sp>
            <p:nvSpPr>
              <p:cNvPr id="8205" name="Text Box 13"/>
              <p:cNvSpPr txBox="1">
                <a:spLocks noChangeArrowheads="1"/>
              </p:cNvSpPr>
              <p:nvPr/>
            </p:nvSpPr>
            <p:spPr bwMode="auto">
              <a:xfrm>
                <a:off x="4376" y="1320"/>
                <a:ext cx="1024" cy="30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000" b="1">
                    <a:solidFill>
                      <a:srgbClr val="000000"/>
                    </a:solidFill>
                    <a:latin typeface="楷体_GB2312"/>
                    <a:ea typeface="楷体_GB2312"/>
                    <a:cs typeface="楷体_GB2312"/>
                  </a:rPr>
                  <a:t>累计成本</a:t>
                </a:r>
                <a:endParaRPr lang="zh-CN" altLang="en-US" sz="2000" b="1">
                  <a:solidFill>
                    <a:srgbClr val="000000"/>
                  </a:solidFill>
                  <a:latin typeface="楷体_GB2312"/>
                  <a:ea typeface="楷体_GB2312"/>
                  <a:cs typeface="楷体_GB2312"/>
                </a:endParaRPr>
              </a:p>
            </p:txBody>
          </p:sp>
          <p:sp>
            <p:nvSpPr>
              <p:cNvPr id="8206" name="Text Box 14"/>
              <p:cNvSpPr txBox="1">
                <a:spLocks noChangeArrowheads="1"/>
              </p:cNvSpPr>
              <p:nvPr/>
            </p:nvSpPr>
            <p:spPr bwMode="auto">
              <a:xfrm>
                <a:off x="4431" y="3208"/>
                <a:ext cx="1025" cy="53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000" b="1">
                    <a:solidFill>
                      <a:srgbClr val="800000"/>
                    </a:solidFill>
                    <a:latin typeface="楷体_GB2312"/>
                    <a:ea typeface="楷体_GB2312"/>
                    <a:cs typeface="楷体_GB2312"/>
                  </a:rPr>
                  <a:t>降低风险的可能性</a:t>
                </a:r>
                <a:endParaRPr lang="zh-CN" altLang="en-US" sz="2000" b="1">
                  <a:solidFill>
                    <a:srgbClr val="800000"/>
                  </a:solidFill>
                  <a:latin typeface="楷体_GB2312"/>
                  <a:ea typeface="楷体_GB2312"/>
                  <a:cs typeface="楷体_GB2312"/>
                </a:endParaRPr>
              </a:p>
            </p:txBody>
          </p:sp>
          <p:sp>
            <p:nvSpPr>
              <p:cNvPr id="8207" name="Line 15"/>
              <p:cNvSpPr>
                <a:spLocks noChangeShapeType="1"/>
              </p:cNvSpPr>
              <p:nvPr/>
            </p:nvSpPr>
            <p:spPr bwMode="auto">
              <a:xfrm>
                <a:off x="880" y="1120"/>
                <a:ext cx="0" cy="2776"/>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8208" name="Text Box 16"/>
              <p:cNvSpPr txBox="1">
                <a:spLocks noChangeArrowheads="1"/>
              </p:cNvSpPr>
              <p:nvPr/>
            </p:nvSpPr>
            <p:spPr bwMode="auto">
              <a:xfrm>
                <a:off x="631" y="3896"/>
                <a:ext cx="1362" cy="30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000" b="1">
                    <a:solidFill>
                      <a:srgbClr val="000000"/>
                    </a:solidFill>
                    <a:latin typeface="楷体_GB2312"/>
                    <a:ea typeface="楷体_GB2312"/>
                    <a:cs typeface="楷体_GB2312"/>
                  </a:rPr>
                  <a:t>可行性研究</a:t>
                </a:r>
                <a:endParaRPr lang="zh-CN" altLang="en-US" sz="2000" b="1">
                  <a:solidFill>
                    <a:srgbClr val="000000"/>
                  </a:solidFill>
                  <a:latin typeface="楷体_GB2312"/>
                  <a:ea typeface="楷体_GB2312"/>
                  <a:cs typeface="楷体_GB2312"/>
                </a:endParaRPr>
              </a:p>
            </p:txBody>
          </p:sp>
        </p:grpSp>
      </p:grpSp>
      <p:sp>
        <p:nvSpPr>
          <p:cNvPr id="8198" name="Text Box 17"/>
          <p:cNvSpPr txBox="1">
            <a:spLocks noChangeArrowheads="1"/>
          </p:cNvSpPr>
          <p:nvPr/>
        </p:nvSpPr>
        <p:spPr bwMode="auto">
          <a:xfrm>
            <a:off x="546100" y="5676900"/>
            <a:ext cx="7915275" cy="1004888"/>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400" b="1">
                <a:solidFill>
                  <a:srgbClr val="800000"/>
                </a:solidFill>
                <a:latin typeface="楷体_GB2312"/>
                <a:ea typeface="楷体_GB2312"/>
                <a:cs typeface="楷体_GB2312"/>
              </a:rPr>
              <a:t>据专家测算，在项目前期可以控制</a:t>
            </a:r>
            <a:r>
              <a:rPr lang="en-US" altLang="zh-CN" sz="2400" b="1">
                <a:solidFill>
                  <a:srgbClr val="800000"/>
                </a:solidFill>
                <a:latin typeface="楷体_GB2312"/>
                <a:ea typeface="楷体_GB2312"/>
                <a:cs typeface="楷体_GB2312"/>
              </a:rPr>
              <a:t>70%</a:t>
            </a:r>
            <a:r>
              <a:rPr lang="zh-CN" altLang="en-US" sz="2400" b="1">
                <a:solidFill>
                  <a:srgbClr val="800000"/>
                </a:solidFill>
                <a:latin typeface="楷体_GB2312"/>
                <a:ea typeface="楷体_GB2312"/>
                <a:cs typeface="楷体_GB2312"/>
              </a:rPr>
              <a:t>～</a:t>
            </a:r>
            <a:r>
              <a:rPr lang="en-US" altLang="zh-CN" sz="2400" b="1">
                <a:solidFill>
                  <a:srgbClr val="800000"/>
                </a:solidFill>
                <a:latin typeface="楷体_GB2312"/>
                <a:ea typeface="楷体_GB2312"/>
                <a:cs typeface="楷体_GB2312"/>
              </a:rPr>
              <a:t>85%</a:t>
            </a:r>
            <a:r>
              <a:rPr lang="zh-CN" altLang="en-US" sz="2400" b="1">
                <a:solidFill>
                  <a:srgbClr val="800000"/>
                </a:solidFill>
                <a:latin typeface="楷体_GB2312"/>
                <a:ea typeface="楷体_GB2312"/>
                <a:cs typeface="楷体_GB2312"/>
              </a:rPr>
              <a:t>的工程投资</a:t>
            </a:r>
            <a:endParaRPr lang="zh-CN" altLang="en-US" sz="2400" b="1">
              <a:solidFill>
                <a:srgbClr val="800000"/>
              </a:solidFill>
              <a:latin typeface="楷体_GB2312"/>
              <a:ea typeface="楷体_GB2312"/>
              <a:cs typeface="楷体_GB2312"/>
            </a:endParaRPr>
          </a:p>
          <a:p>
            <a:pPr>
              <a:spcBef>
                <a:spcPct val="50000"/>
              </a:spcBef>
              <a:buClrTx/>
              <a:buSzTx/>
              <a:buFontTx/>
              <a:buNone/>
            </a:pPr>
            <a:r>
              <a:rPr lang="zh-CN" altLang="en-US" sz="2400" b="1">
                <a:solidFill>
                  <a:srgbClr val="800000"/>
                </a:solidFill>
                <a:latin typeface="楷体_GB2312"/>
                <a:ea typeface="楷体_GB2312"/>
                <a:cs typeface="楷体_GB2312"/>
              </a:rPr>
              <a:t>后面的施工、材料、劳务只能控制</a:t>
            </a:r>
            <a:r>
              <a:rPr lang="en-US" altLang="zh-CN" sz="2400" b="1">
                <a:solidFill>
                  <a:srgbClr val="800000"/>
                </a:solidFill>
                <a:latin typeface="楷体_GB2312"/>
                <a:ea typeface="楷体_GB2312"/>
                <a:cs typeface="楷体_GB2312"/>
              </a:rPr>
              <a:t>15%</a:t>
            </a:r>
            <a:r>
              <a:rPr lang="zh-CN" altLang="en-US" sz="2400" b="1">
                <a:solidFill>
                  <a:srgbClr val="800000"/>
                </a:solidFill>
                <a:latin typeface="楷体_GB2312"/>
                <a:ea typeface="楷体_GB2312"/>
                <a:cs typeface="楷体_GB2312"/>
              </a:rPr>
              <a:t>～</a:t>
            </a:r>
            <a:r>
              <a:rPr lang="en-US" altLang="zh-CN" sz="2400" b="1">
                <a:solidFill>
                  <a:srgbClr val="800000"/>
                </a:solidFill>
                <a:latin typeface="楷体_GB2312"/>
                <a:ea typeface="楷体_GB2312"/>
                <a:cs typeface="楷体_GB2312"/>
              </a:rPr>
              <a:t>35%</a:t>
            </a:r>
            <a:r>
              <a:rPr lang="zh-CN" altLang="en-US" sz="2400" b="1">
                <a:solidFill>
                  <a:srgbClr val="800000"/>
                </a:solidFill>
                <a:latin typeface="楷体_GB2312"/>
                <a:ea typeface="楷体_GB2312"/>
                <a:cs typeface="楷体_GB2312"/>
              </a:rPr>
              <a:t>的工程投资</a:t>
            </a:r>
            <a:endParaRPr lang="zh-CN" altLang="en-US" sz="2400" b="1">
              <a:solidFill>
                <a:srgbClr val="800000"/>
              </a:solidFill>
              <a:latin typeface="楷体_GB2312"/>
              <a:ea typeface="楷体_GB2312"/>
              <a:cs typeface="楷体_GB231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E001CDB-3576-442F-90AD-935070647107}" type="slidenum">
              <a:rPr lang="zh-CN" altLang="en-US" sz="1400" smtClean="0"/>
            </a:fld>
            <a:endParaRPr lang="en-US" altLang="zh-CN" sz="1400" smtClean="0"/>
          </a:p>
        </p:txBody>
      </p:sp>
      <p:sp>
        <p:nvSpPr>
          <p:cNvPr id="9219" name="Rectangle 2"/>
          <p:cNvSpPr>
            <a:spLocks noGrp="1" noRot="1" noChangeArrowheads="1"/>
          </p:cNvSpPr>
          <p:nvPr>
            <p:ph type="title"/>
          </p:nvPr>
        </p:nvSpPr>
        <p:spPr/>
        <p:txBody>
          <a:bodyPr/>
          <a:lstStyle/>
          <a:p>
            <a:pPr eaLnBrk="1" hangingPunct="1"/>
            <a:r>
              <a:rPr lang="zh-CN" altLang="en-US" smtClean="0"/>
              <a:t>可行性研究报告的内容</a:t>
            </a:r>
            <a:endParaRPr lang="zh-CN" altLang="en-US" smtClean="0"/>
          </a:p>
        </p:txBody>
      </p:sp>
      <p:sp>
        <p:nvSpPr>
          <p:cNvPr id="9220" name="Rectangle 3"/>
          <p:cNvSpPr>
            <a:spLocks noGrp="1" noRot="1" noChangeArrowheads="1"/>
          </p:cNvSpPr>
          <p:nvPr>
            <p:ph type="body" idx="1"/>
          </p:nvPr>
        </p:nvSpPr>
        <p:spPr/>
        <p:txBody>
          <a:bodyPr/>
          <a:lstStyle/>
          <a:p>
            <a:pPr algn="just" eaLnBrk="1" hangingPunct="1">
              <a:lnSpc>
                <a:spcPct val="80000"/>
              </a:lnSpc>
            </a:pPr>
            <a:r>
              <a:rPr lang="zh-CN" altLang="en-US" sz="2800" b="1" smtClean="0">
                <a:latin typeface="宋体" panose="02010600030101010101" pitchFamily="2" charset="-122"/>
              </a:rPr>
              <a:t>总论</a:t>
            </a:r>
            <a:endParaRPr lang="zh-CN" altLang="en-US" sz="2800" b="1" smtClean="0">
              <a:latin typeface="宋体" panose="02010600030101010101" pitchFamily="2" charset="-122"/>
            </a:endParaRPr>
          </a:p>
          <a:p>
            <a:pPr algn="just" eaLnBrk="1" hangingPunct="1">
              <a:lnSpc>
                <a:spcPct val="80000"/>
              </a:lnSpc>
            </a:pPr>
            <a:r>
              <a:rPr lang="zh-CN" altLang="en-US" sz="2800" b="1" smtClean="0">
                <a:solidFill>
                  <a:srgbClr val="CC0000"/>
                </a:solidFill>
                <a:latin typeface="宋体" panose="02010600030101010101" pitchFamily="2" charset="-122"/>
              </a:rPr>
              <a:t>市场研究</a:t>
            </a:r>
            <a:endParaRPr lang="zh-CN" altLang="en-US" sz="2800" b="1" smtClean="0">
              <a:solidFill>
                <a:srgbClr val="CC0000"/>
              </a:solidFill>
              <a:latin typeface="宋体" panose="02010600030101010101" pitchFamily="2" charset="-122"/>
            </a:endParaRPr>
          </a:p>
          <a:p>
            <a:pPr algn="just" eaLnBrk="1" hangingPunct="1">
              <a:lnSpc>
                <a:spcPct val="80000"/>
              </a:lnSpc>
            </a:pPr>
            <a:r>
              <a:rPr lang="zh-CN" altLang="en-US" sz="2800" b="1" smtClean="0">
                <a:solidFill>
                  <a:srgbClr val="CC0000"/>
                </a:solidFill>
                <a:latin typeface="宋体" panose="02010600030101010101" pitchFamily="2" charset="-122"/>
              </a:rPr>
              <a:t>投资条件与项目选址</a:t>
            </a:r>
            <a:endParaRPr lang="zh-CN" altLang="en-US" sz="2800" b="1" smtClean="0">
              <a:solidFill>
                <a:srgbClr val="CC0000"/>
              </a:solidFill>
              <a:latin typeface="宋体" panose="02010600030101010101" pitchFamily="2" charset="-122"/>
            </a:endParaRPr>
          </a:p>
          <a:p>
            <a:pPr algn="just" eaLnBrk="1" hangingPunct="1">
              <a:lnSpc>
                <a:spcPct val="80000"/>
              </a:lnSpc>
            </a:pPr>
            <a:r>
              <a:rPr lang="zh-CN" altLang="en-US" sz="2800" b="1" smtClean="0">
                <a:latin typeface="宋体" panose="02010600030101010101" pitchFamily="2" charset="-122"/>
              </a:rPr>
              <a:t>技术方案</a:t>
            </a:r>
            <a:endParaRPr lang="zh-CN" altLang="en-US" sz="2800" b="1" smtClean="0">
              <a:latin typeface="宋体" panose="02010600030101010101" pitchFamily="2" charset="-122"/>
            </a:endParaRPr>
          </a:p>
          <a:p>
            <a:pPr algn="just" eaLnBrk="1" hangingPunct="1">
              <a:lnSpc>
                <a:spcPct val="80000"/>
              </a:lnSpc>
            </a:pPr>
            <a:r>
              <a:rPr lang="zh-CN" altLang="en-US" sz="2800" b="1" smtClean="0">
                <a:latin typeface="宋体" panose="02010600030101010101" pitchFamily="2" charset="-122"/>
              </a:rPr>
              <a:t>环境影响</a:t>
            </a:r>
            <a:endParaRPr lang="zh-CN" altLang="en-US" sz="2800" b="1" smtClean="0">
              <a:latin typeface="宋体" panose="02010600030101010101" pitchFamily="2" charset="-122"/>
            </a:endParaRPr>
          </a:p>
          <a:p>
            <a:pPr algn="just" eaLnBrk="1" hangingPunct="1">
              <a:lnSpc>
                <a:spcPct val="80000"/>
              </a:lnSpc>
            </a:pPr>
            <a:r>
              <a:rPr lang="zh-CN" altLang="en-US" sz="2800" b="1" smtClean="0">
                <a:latin typeface="宋体" panose="02010600030101010101" pitchFamily="2" charset="-122"/>
              </a:rPr>
              <a:t>项目组织</a:t>
            </a:r>
            <a:r>
              <a:rPr lang="zh-CN" altLang="en-US" sz="2800" smtClean="0"/>
              <a:t>、</a:t>
            </a:r>
            <a:r>
              <a:rPr lang="zh-CN" altLang="en-US" sz="2800" b="1" smtClean="0">
                <a:latin typeface="宋体" panose="02010600030101010101" pitchFamily="2" charset="-122"/>
              </a:rPr>
              <a:t>实施与进度安排</a:t>
            </a:r>
            <a:endParaRPr lang="zh-CN" altLang="en-US" sz="2800" b="1" smtClean="0">
              <a:latin typeface="宋体" panose="02010600030101010101" pitchFamily="2" charset="-122"/>
            </a:endParaRPr>
          </a:p>
          <a:p>
            <a:pPr algn="just" eaLnBrk="1" hangingPunct="1">
              <a:lnSpc>
                <a:spcPct val="80000"/>
              </a:lnSpc>
            </a:pPr>
            <a:r>
              <a:rPr lang="zh-CN" altLang="en-US" sz="2800" b="1" smtClean="0">
                <a:latin typeface="宋体" panose="02010600030101010101" pitchFamily="2" charset="-122"/>
              </a:rPr>
              <a:t>财务分析</a:t>
            </a:r>
            <a:endParaRPr lang="zh-CN" altLang="en-US" sz="2800" smtClean="0">
              <a:latin typeface="宋体" panose="02010600030101010101" pitchFamily="2" charset="-122"/>
            </a:endParaRPr>
          </a:p>
          <a:p>
            <a:pPr algn="just" eaLnBrk="1" hangingPunct="1">
              <a:lnSpc>
                <a:spcPct val="80000"/>
              </a:lnSpc>
            </a:pPr>
            <a:r>
              <a:rPr lang="zh-CN" altLang="en-US" sz="2800" b="1" smtClean="0">
                <a:latin typeface="宋体" panose="02010600030101010101" pitchFamily="2" charset="-122"/>
              </a:rPr>
              <a:t>国民经济与社会效益分析</a:t>
            </a:r>
            <a:endParaRPr lang="zh-CN" altLang="en-US" sz="2800" b="1" smtClean="0">
              <a:latin typeface="宋体" panose="02010600030101010101" pitchFamily="2" charset="-122"/>
            </a:endParaRPr>
          </a:p>
          <a:p>
            <a:pPr algn="just" eaLnBrk="1" hangingPunct="1">
              <a:lnSpc>
                <a:spcPct val="80000"/>
              </a:lnSpc>
            </a:pPr>
            <a:r>
              <a:rPr lang="zh-CN" altLang="en-US" sz="2800" b="1" smtClean="0">
                <a:latin typeface="宋体" panose="02010600030101010101" pitchFamily="2" charset="-122"/>
              </a:rPr>
              <a:t>结论与建议</a:t>
            </a:r>
            <a:endParaRPr lang="zh-CN" altLang="en-US" sz="3600" b="1" smtClean="0">
              <a:latin typeface="宋体" panose="02010600030101010101" pitchFamily="2" charset="-122"/>
            </a:endParaRPr>
          </a:p>
          <a:p>
            <a:pPr eaLnBrk="1" hangingPunct="1">
              <a:lnSpc>
                <a:spcPct val="80000"/>
              </a:lnSpc>
            </a:pPr>
            <a:endParaRPr lang="zh-CN" altLang="en-US" sz="280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29AB9A6-C311-4F49-AE87-637DED26D3A5}" type="slidenum">
              <a:rPr lang="zh-CN" altLang="en-US" sz="1400" smtClean="0"/>
            </a:fld>
            <a:endParaRPr lang="en-US" altLang="zh-CN" sz="1400" smtClean="0"/>
          </a:p>
        </p:txBody>
      </p:sp>
      <p:sp>
        <p:nvSpPr>
          <p:cNvPr id="10243" name="Rectangle 4"/>
          <p:cNvSpPr>
            <a:spLocks noGrp="1" noChangeArrowheads="1"/>
          </p:cNvSpPr>
          <p:nvPr>
            <p:ph type="title"/>
          </p:nvPr>
        </p:nvSpPr>
        <p:spPr>
          <a:xfrm>
            <a:off x="0" y="63500"/>
            <a:ext cx="9144000" cy="571500"/>
          </a:xfrm>
          <a:solidFill>
            <a:srgbClr val="99CCFF"/>
          </a:solidFill>
        </p:spPr>
        <p:txBody>
          <a:bodyPr/>
          <a:lstStyle/>
          <a:p>
            <a:pPr eaLnBrk="1" hangingPunct="1"/>
            <a:r>
              <a:rPr lang="zh-CN" altLang="en-US" sz="3600" smtClean="0">
                <a:solidFill>
                  <a:srgbClr val="CC0000"/>
                </a:solidFill>
              </a:rPr>
              <a:t>例</a:t>
            </a:r>
            <a:r>
              <a:rPr lang="en-US" altLang="zh-CN" sz="3600" smtClean="0">
                <a:solidFill>
                  <a:srgbClr val="CC0000"/>
                </a:solidFill>
              </a:rPr>
              <a:t>:</a:t>
            </a:r>
            <a:r>
              <a:rPr lang="zh-CN" altLang="en-US" sz="3600" smtClean="0">
                <a:solidFill>
                  <a:srgbClr val="CC0000"/>
                </a:solidFill>
              </a:rPr>
              <a:t>方庄某房地产开发项目可行性研究报告</a:t>
            </a:r>
            <a:endParaRPr lang="en-US" altLang="zh-CN" sz="3600" smtClean="0">
              <a:solidFill>
                <a:srgbClr val="CC0000"/>
              </a:solidFill>
            </a:endParaRPr>
          </a:p>
        </p:txBody>
      </p:sp>
      <p:graphicFrame>
        <p:nvGraphicFramePr>
          <p:cNvPr id="10244" name="Object 5"/>
          <p:cNvGraphicFramePr>
            <a:graphicFrameLocks noGrp="1" noChangeAspect="1"/>
          </p:cNvGraphicFramePr>
          <p:nvPr>
            <p:ph type="body" idx="1"/>
          </p:nvPr>
        </p:nvGraphicFramePr>
        <p:xfrm>
          <a:off x="1547813" y="1125538"/>
          <a:ext cx="5729287" cy="4972050"/>
        </p:xfrm>
        <a:graphic>
          <a:graphicData uri="http://schemas.openxmlformats.org/presentationml/2006/ole">
            <mc:AlternateContent xmlns:mc="http://schemas.openxmlformats.org/markup-compatibility/2006">
              <mc:Choice xmlns:v="urn:schemas-microsoft-com:vml" Requires="v">
                <p:oleObj spid="_x0000_s10248" name="工作表" r:id="rId1" imgW="4495800" imgH="3823335" progId="Excel.Sheet.8">
                  <p:embed/>
                </p:oleObj>
              </mc:Choice>
              <mc:Fallback>
                <p:oleObj name="工作表" r:id="rId1" imgW="4495800" imgH="3823335" progId="Excel.Sheet.8">
                  <p:embed/>
                  <p:pic>
                    <p:nvPicPr>
                      <p:cNvPr id="0" name="Object 5"/>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1125538"/>
                        <a:ext cx="5729287" cy="4972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4197F2F-7A8B-421E-88C5-E65E1DC24F0D}" type="slidenum">
              <a:rPr lang="zh-CN" altLang="en-US" sz="1400" smtClean="0"/>
            </a:fld>
            <a:endParaRPr lang="en-US" altLang="zh-CN" sz="1400" smtClean="0"/>
          </a:p>
        </p:txBody>
      </p:sp>
      <p:sp>
        <p:nvSpPr>
          <p:cNvPr id="11267" name="Rectangle 2"/>
          <p:cNvSpPr>
            <a:spLocks noGrp="1" noRot="1" noChangeArrowheads="1"/>
          </p:cNvSpPr>
          <p:nvPr>
            <p:ph type="title"/>
          </p:nvPr>
        </p:nvSpPr>
        <p:spPr>
          <a:xfrm>
            <a:off x="323850" y="0"/>
            <a:ext cx="8540750" cy="1143000"/>
          </a:xfrm>
        </p:spPr>
        <p:txBody>
          <a:bodyPr/>
          <a:lstStyle/>
          <a:p>
            <a:pPr eaLnBrk="1" hangingPunct="1"/>
            <a:r>
              <a:rPr lang="zh-CN" altLang="en-US" smtClean="0"/>
              <a:t>某电站可行性研究报告</a:t>
            </a:r>
            <a:endParaRPr lang="zh-CN" altLang="en-US" smtClean="0"/>
          </a:p>
        </p:txBody>
      </p:sp>
      <p:sp>
        <p:nvSpPr>
          <p:cNvPr id="11268" name="Rectangle 3"/>
          <p:cNvSpPr>
            <a:spLocks noGrp="1" noRot="1" noChangeArrowheads="1"/>
          </p:cNvSpPr>
          <p:nvPr>
            <p:ph type="body" idx="1"/>
          </p:nvPr>
        </p:nvSpPr>
        <p:spPr>
          <a:xfrm>
            <a:off x="2627313" y="1052513"/>
            <a:ext cx="8540750" cy="4876800"/>
          </a:xfrm>
        </p:spPr>
        <p:txBody>
          <a:bodyPr/>
          <a:lstStyle/>
          <a:p>
            <a:pPr eaLnBrk="1" hangingPunct="1">
              <a:lnSpc>
                <a:spcPct val="90000"/>
              </a:lnSpc>
              <a:buFont typeface="Wingdings" panose="05000000000000000000" pitchFamily="2" charset="2"/>
              <a:buNone/>
            </a:pPr>
            <a:r>
              <a:rPr lang="en-US" altLang="zh-CN" sz="2800" b="1" smtClean="0"/>
              <a:t>1 </a:t>
            </a:r>
            <a:r>
              <a:rPr lang="zh-CN" altLang="en-US" sz="2800" b="1" smtClean="0"/>
              <a:t>总论</a:t>
            </a:r>
            <a:endParaRPr lang="zh-CN" altLang="en-US" sz="2800" b="1" smtClean="0"/>
          </a:p>
          <a:p>
            <a:pPr eaLnBrk="1" hangingPunct="1">
              <a:lnSpc>
                <a:spcPct val="90000"/>
              </a:lnSpc>
              <a:buFont typeface="Wingdings" panose="05000000000000000000" pitchFamily="2" charset="2"/>
              <a:buNone/>
            </a:pPr>
            <a:r>
              <a:rPr lang="en-US" altLang="zh-CN" sz="2800" b="1" smtClean="0"/>
              <a:t>2 </a:t>
            </a:r>
            <a:r>
              <a:rPr lang="zh-CN" altLang="en-US" sz="2800" b="1" smtClean="0"/>
              <a:t>工程规模</a:t>
            </a:r>
            <a:endParaRPr lang="zh-CN" altLang="en-US" sz="2800" b="1" smtClean="0"/>
          </a:p>
          <a:p>
            <a:pPr eaLnBrk="1" hangingPunct="1">
              <a:lnSpc>
                <a:spcPct val="90000"/>
              </a:lnSpc>
              <a:buFont typeface="Wingdings" panose="05000000000000000000" pitchFamily="2" charset="2"/>
              <a:buNone/>
            </a:pPr>
            <a:r>
              <a:rPr lang="en-US" altLang="zh-CN" sz="2800" b="1" smtClean="0"/>
              <a:t>3</a:t>
            </a:r>
            <a:r>
              <a:rPr lang="zh-CN" altLang="en-US" sz="2800" b="1" smtClean="0"/>
              <a:t>主要技术方案选择</a:t>
            </a:r>
            <a:endParaRPr lang="zh-CN" altLang="en-US" sz="2800" b="1" smtClean="0"/>
          </a:p>
          <a:p>
            <a:pPr eaLnBrk="1" hangingPunct="1">
              <a:lnSpc>
                <a:spcPct val="90000"/>
              </a:lnSpc>
              <a:buFont typeface="Wingdings" panose="05000000000000000000" pitchFamily="2" charset="2"/>
              <a:buNone/>
            </a:pPr>
            <a:r>
              <a:rPr lang="en-US" altLang="zh-CN" sz="2800" smtClean="0"/>
              <a:t>3.1 </a:t>
            </a:r>
            <a:r>
              <a:rPr lang="zh-CN" altLang="en-US" sz="2800" smtClean="0"/>
              <a:t>坝址选择</a:t>
            </a:r>
            <a:endParaRPr lang="zh-CN" altLang="en-US" sz="2800" smtClean="0"/>
          </a:p>
          <a:p>
            <a:pPr eaLnBrk="1" hangingPunct="1">
              <a:lnSpc>
                <a:spcPct val="90000"/>
              </a:lnSpc>
              <a:buFont typeface="Wingdings" panose="05000000000000000000" pitchFamily="2" charset="2"/>
              <a:buNone/>
            </a:pPr>
            <a:r>
              <a:rPr lang="en-US" altLang="zh-CN" sz="2800" smtClean="0"/>
              <a:t>3.2 </a:t>
            </a:r>
            <a:r>
              <a:rPr lang="zh-CN" altLang="en-US" sz="2800" smtClean="0"/>
              <a:t>坝型选择</a:t>
            </a:r>
            <a:endParaRPr lang="zh-CN" altLang="en-US" sz="2800" smtClean="0"/>
          </a:p>
          <a:p>
            <a:pPr eaLnBrk="1" hangingPunct="1">
              <a:lnSpc>
                <a:spcPct val="90000"/>
              </a:lnSpc>
              <a:buFont typeface="Wingdings" panose="05000000000000000000" pitchFamily="2" charset="2"/>
              <a:buNone/>
            </a:pPr>
            <a:r>
              <a:rPr lang="en-US" altLang="zh-CN" sz="2800" smtClean="0"/>
              <a:t>3.3 </a:t>
            </a:r>
            <a:r>
              <a:rPr lang="zh-CN" altLang="en-US" sz="2800" smtClean="0"/>
              <a:t>主要建筑物</a:t>
            </a:r>
            <a:endParaRPr lang="zh-CN" altLang="en-US" sz="2800" smtClean="0"/>
          </a:p>
          <a:p>
            <a:pPr eaLnBrk="1" hangingPunct="1">
              <a:lnSpc>
                <a:spcPct val="90000"/>
              </a:lnSpc>
              <a:buFont typeface="Wingdings" panose="05000000000000000000" pitchFamily="2" charset="2"/>
              <a:buNone/>
            </a:pPr>
            <a:r>
              <a:rPr lang="en-US" altLang="zh-CN" sz="2800" b="1" smtClean="0"/>
              <a:t>4 </a:t>
            </a:r>
            <a:r>
              <a:rPr lang="zh-CN" altLang="en-US" sz="2800" b="1" smtClean="0"/>
              <a:t>施工及环境保护</a:t>
            </a:r>
            <a:endParaRPr lang="zh-CN" altLang="en-US" sz="2800" b="1" smtClean="0"/>
          </a:p>
          <a:p>
            <a:pPr eaLnBrk="1" hangingPunct="1">
              <a:lnSpc>
                <a:spcPct val="90000"/>
              </a:lnSpc>
              <a:buFont typeface="Wingdings" panose="05000000000000000000" pitchFamily="2" charset="2"/>
              <a:buNone/>
            </a:pPr>
            <a:r>
              <a:rPr lang="en-US" altLang="zh-CN" sz="2800" b="1" smtClean="0"/>
              <a:t>5 </a:t>
            </a:r>
            <a:r>
              <a:rPr lang="zh-CN" altLang="en-US" sz="2800" b="1" smtClean="0"/>
              <a:t>投资估算及资金筹措</a:t>
            </a:r>
            <a:endParaRPr lang="zh-CN" altLang="en-US" sz="2800" b="1" smtClean="0"/>
          </a:p>
          <a:p>
            <a:pPr eaLnBrk="1" hangingPunct="1">
              <a:lnSpc>
                <a:spcPct val="90000"/>
              </a:lnSpc>
              <a:buFont typeface="Wingdings" panose="05000000000000000000" pitchFamily="2" charset="2"/>
              <a:buNone/>
            </a:pPr>
            <a:r>
              <a:rPr lang="en-US" altLang="zh-CN" sz="2800" b="1" smtClean="0"/>
              <a:t>6 </a:t>
            </a:r>
            <a:r>
              <a:rPr lang="zh-CN" altLang="en-US" sz="2800" b="1" smtClean="0"/>
              <a:t>技术经济综合评价</a:t>
            </a:r>
            <a:endParaRPr lang="zh-CN" altLang="en-US" sz="2800" b="1" smtClean="0"/>
          </a:p>
          <a:p>
            <a:pPr eaLnBrk="1" hangingPunct="1">
              <a:lnSpc>
                <a:spcPct val="90000"/>
              </a:lnSpc>
              <a:buFont typeface="Wingdings" panose="05000000000000000000" pitchFamily="2" charset="2"/>
              <a:buNone/>
            </a:pPr>
            <a:r>
              <a:rPr lang="en-US" altLang="zh-CN" sz="2800" smtClean="0"/>
              <a:t>6.1 </a:t>
            </a:r>
            <a:r>
              <a:rPr lang="zh-CN" altLang="en-US" sz="2800" smtClean="0"/>
              <a:t>财务评价</a:t>
            </a:r>
            <a:endParaRPr lang="zh-CN" altLang="en-US" sz="2800" smtClean="0"/>
          </a:p>
          <a:p>
            <a:pPr eaLnBrk="1" hangingPunct="1">
              <a:lnSpc>
                <a:spcPct val="90000"/>
              </a:lnSpc>
              <a:buFont typeface="Wingdings" panose="05000000000000000000" pitchFamily="2" charset="2"/>
              <a:buNone/>
            </a:pPr>
            <a:r>
              <a:rPr lang="en-US" altLang="zh-CN" sz="2800" smtClean="0"/>
              <a:t>6.2 </a:t>
            </a:r>
            <a:r>
              <a:rPr lang="zh-CN" altLang="en-US" sz="2800" smtClean="0"/>
              <a:t>国民经济评价</a:t>
            </a:r>
            <a:endParaRPr lang="zh-CN" altLang="en-US" sz="2800" smtClean="0"/>
          </a:p>
          <a:p>
            <a:pPr eaLnBrk="1" hangingPunct="1">
              <a:lnSpc>
                <a:spcPct val="90000"/>
              </a:lnSpc>
              <a:buFont typeface="Wingdings" panose="05000000000000000000" pitchFamily="2" charset="2"/>
              <a:buNone/>
            </a:pPr>
            <a:r>
              <a:rPr lang="en-US" altLang="zh-CN" sz="2800" smtClean="0"/>
              <a:t>6.3 </a:t>
            </a:r>
            <a:r>
              <a:rPr lang="zh-CN" altLang="en-US" sz="2800" smtClean="0"/>
              <a:t>综合评价 </a:t>
            </a:r>
            <a:endParaRPr lang="zh-CN" altLang="en-US" sz="280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D41A069-D3D2-40EE-A365-3006937FF569}" type="slidenum">
              <a:rPr lang="zh-CN" altLang="en-US" sz="1400" smtClean="0"/>
            </a:fld>
            <a:endParaRPr lang="en-US" altLang="zh-CN" sz="1400" smtClean="0"/>
          </a:p>
        </p:txBody>
      </p:sp>
      <p:sp>
        <p:nvSpPr>
          <p:cNvPr id="12291" name="Rectangle 4"/>
          <p:cNvSpPr>
            <a:spLocks noGrp="1" noChangeArrowheads="1"/>
          </p:cNvSpPr>
          <p:nvPr>
            <p:ph type="title"/>
          </p:nvPr>
        </p:nvSpPr>
        <p:spPr>
          <a:xfrm>
            <a:off x="0" y="12700"/>
            <a:ext cx="8178800" cy="609600"/>
          </a:xfrm>
          <a:solidFill>
            <a:srgbClr val="99CCFF"/>
          </a:solidFill>
        </p:spPr>
        <p:txBody>
          <a:bodyPr/>
          <a:lstStyle/>
          <a:p>
            <a:pPr algn="l" eaLnBrk="1" hangingPunct="1"/>
            <a:r>
              <a:rPr lang="zh-CN" altLang="en-US" smtClean="0"/>
              <a:t>可行性研究的三条腿</a:t>
            </a:r>
            <a:endParaRPr lang="zh-CN" altLang="en-US" smtClean="0"/>
          </a:p>
        </p:txBody>
      </p:sp>
      <p:sp>
        <p:nvSpPr>
          <p:cNvPr id="12292" name="Rectangle 5"/>
          <p:cNvSpPr>
            <a:spLocks noGrp="1" noChangeArrowheads="1"/>
          </p:cNvSpPr>
          <p:nvPr>
            <p:ph type="body" idx="1"/>
          </p:nvPr>
        </p:nvSpPr>
        <p:spPr>
          <a:xfrm>
            <a:off x="0" y="977900"/>
            <a:ext cx="9144000" cy="5880100"/>
          </a:xfrm>
          <a:solidFill>
            <a:srgbClr val="99CCFF"/>
          </a:solidFill>
        </p:spPr>
        <p:txBody>
          <a:bodyPr/>
          <a:lstStyle/>
          <a:p>
            <a:pPr eaLnBrk="1" hangingPunct="1">
              <a:buFont typeface="Wingdings" panose="05000000000000000000" pitchFamily="2" charset="2"/>
              <a:buNone/>
            </a:pPr>
            <a:endParaRPr lang="zh-CN" altLang="en-US" smtClean="0"/>
          </a:p>
        </p:txBody>
      </p:sp>
      <p:sp>
        <p:nvSpPr>
          <p:cNvPr id="12293" name="Text Box 6"/>
          <p:cNvSpPr txBox="1">
            <a:spLocks noChangeArrowheads="1"/>
          </p:cNvSpPr>
          <p:nvPr/>
        </p:nvSpPr>
        <p:spPr bwMode="auto">
          <a:xfrm>
            <a:off x="3228975" y="2095500"/>
            <a:ext cx="2879725" cy="588963"/>
          </a:xfrm>
          <a:prstGeom prst="rect">
            <a:avLst/>
          </a:prstGeom>
          <a:solidFill>
            <a:srgbClr val="99CCFF"/>
          </a:solidFill>
          <a:ln w="9525">
            <a:solidFill>
              <a:srgbClr val="000000"/>
            </a:solidFill>
            <a:miter lim="800000"/>
          </a:ln>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b="1">
                <a:solidFill>
                  <a:srgbClr val="000000"/>
                </a:solidFill>
                <a:latin typeface="楷体_GB2312"/>
                <a:ea typeface="楷体_GB2312"/>
                <a:cs typeface="楷体_GB2312"/>
              </a:rPr>
              <a:t>可行性研究</a:t>
            </a:r>
            <a:endParaRPr lang="zh-CN" altLang="en-US" b="1">
              <a:solidFill>
                <a:srgbClr val="000000"/>
              </a:solidFill>
              <a:latin typeface="楷体_GB2312"/>
              <a:ea typeface="楷体_GB2312"/>
              <a:cs typeface="楷体_GB2312"/>
            </a:endParaRPr>
          </a:p>
        </p:txBody>
      </p:sp>
      <p:sp>
        <p:nvSpPr>
          <p:cNvPr id="500743" name="Text Box 7"/>
          <p:cNvSpPr txBox="1">
            <a:spLocks noChangeArrowheads="1"/>
          </p:cNvSpPr>
          <p:nvPr/>
        </p:nvSpPr>
        <p:spPr bwMode="auto">
          <a:xfrm>
            <a:off x="790575" y="3911600"/>
            <a:ext cx="2155825" cy="528638"/>
          </a:xfrm>
          <a:prstGeom prst="rect">
            <a:avLst/>
          </a:prstGeom>
          <a:solidFill>
            <a:srgbClr val="99CCFF"/>
          </a:solidFill>
          <a:ln w="9525">
            <a:solidFill>
              <a:srgbClr val="000000"/>
            </a:solidFill>
            <a:miter lim="800000"/>
          </a:ln>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800" b="1">
                <a:solidFill>
                  <a:srgbClr val="FF0000"/>
                </a:solidFill>
                <a:latin typeface="楷体_GB2312"/>
                <a:ea typeface="楷体_GB2312"/>
                <a:cs typeface="楷体_GB2312"/>
              </a:rPr>
              <a:t>市场研究</a:t>
            </a:r>
            <a:endParaRPr lang="en-US" altLang="zh-CN" sz="2800" b="1">
              <a:solidFill>
                <a:srgbClr val="FF0000"/>
              </a:solidFill>
              <a:latin typeface="楷体_GB2312"/>
              <a:ea typeface="楷体_GB2312"/>
              <a:cs typeface="楷体_GB2312"/>
            </a:endParaRPr>
          </a:p>
        </p:txBody>
      </p:sp>
      <p:sp>
        <p:nvSpPr>
          <p:cNvPr id="500744" name="Text Box 8"/>
          <p:cNvSpPr txBox="1">
            <a:spLocks noChangeArrowheads="1"/>
          </p:cNvSpPr>
          <p:nvPr/>
        </p:nvSpPr>
        <p:spPr bwMode="auto">
          <a:xfrm>
            <a:off x="3479800" y="3911600"/>
            <a:ext cx="2155825" cy="528638"/>
          </a:xfrm>
          <a:prstGeom prst="rect">
            <a:avLst/>
          </a:prstGeom>
          <a:solidFill>
            <a:srgbClr val="99CCFF"/>
          </a:solidFill>
          <a:ln w="9525">
            <a:solidFill>
              <a:srgbClr val="000000"/>
            </a:solidFill>
            <a:miter lim="800000"/>
          </a:ln>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800" b="1">
                <a:solidFill>
                  <a:srgbClr val="000000"/>
                </a:solidFill>
                <a:latin typeface="楷体_GB2312"/>
                <a:ea typeface="楷体_GB2312"/>
                <a:cs typeface="楷体_GB2312"/>
              </a:rPr>
              <a:t>技术研究</a:t>
            </a:r>
            <a:endParaRPr lang="zh-CN" altLang="en-US" sz="2800" b="1">
              <a:solidFill>
                <a:srgbClr val="000000"/>
              </a:solidFill>
              <a:latin typeface="楷体_GB2312"/>
              <a:ea typeface="楷体_GB2312"/>
              <a:cs typeface="楷体_GB2312"/>
            </a:endParaRPr>
          </a:p>
        </p:txBody>
      </p:sp>
      <p:sp>
        <p:nvSpPr>
          <p:cNvPr id="500745" name="Text Box 9"/>
          <p:cNvSpPr txBox="1">
            <a:spLocks noChangeArrowheads="1"/>
          </p:cNvSpPr>
          <p:nvPr/>
        </p:nvSpPr>
        <p:spPr bwMode="auto">
          <a:xfrm>
            <a:off x="6302375" y="3911600"/>
            <a:ext cx="2155825" cy="528638"/>
          </a:xfrm>
          <a:prstGeom prst="rect">
            <a:avLst/>
          </a:prstGeom>
          <a:solidFill>
            <a:srgbClr val="99CCFF"/>
          </a:solidFill>
          <a:ln w="9525">
            <a:solidFill>
              <a:srgbClr val="000000"/>
            </a:solidFill>
            <a:miter lim="800000"/>
          </a:ln>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800" b="1">
                <a:solidFill>
                  <a:srgbClr val="000000"/>
                </a:solidFill>
                <a:latin typeface="楷体_GB2312"/>
                <a:ea typeface="楷体_GB2312"/>
                <a:cs typeface="楷体_GB2312"/>
              </a:rPr>
              <a:t>经济评价</a:t>
            </a:r>
            <a:endParaRPr lang="zh-CN" altLang="en-US" sz="2800" b="1">
              <a:solidFill>
                <a:srgbClr val="000000"/>
              </a:solidFill>
              <a:latin typeface="楷体_GB2312"/>
              <a:ea typeface="楷体_GB2312"/>
              <a:cs typeface="楷体_GB2312"/>
            </a:endParaRPr>
          </a:p>
        </p:txBody>
      </p:sp>
      <p:sp>
        <p:nvSpPr>
          <p:cNvPr id="500746" name="Line 10"/>
          <p:cNvSpPr>
            <a:spLocks noChangeShapeType="1"/>
          </p:cNvSpPr>
          <p:nvPr/>
        </p:nvSpPr>
        <p:spPr bwMode="auto">
          <a:xfrm>
            <a:off x="1866900" y="3289300"/>
            <a:ext cx="55118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0747" name="Line 11"/>
          <p:cNvSpPr>
            <a:spLocks noChangeShapeType="1"/>
          </p:cNvSpPr>
          <p:nvPr/>
        </p:nvSpPr>
        <p:spPr bwMode="auto">
          <a:xfrm flipV="1">
            <a:off x="1866900" y="3289300"/>
            <a:ext cx="0" cy="622300"/>
          </a:xfrm>
          <a:prstGeom prst="line">
            <a:avLst/>
          </a:prstGeom>
          <a:noFill/>
          <a:ln w="952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00748" name="Line 12"/>
          <p:cNvSpPr>
            <a:spLocks noChangeShapeType="1"/>
          </p:cNvSpPr>
          <p:nvPr/>
        </p:nvSpPr>
        <p:spPr bwMode="auto">
          <a:xfrm flipV="1">
            <a:off x="4521200" y="3289300"/>
            <a:ext cx="0" cy="622300"/>
          </a:xfrm>
          <a:prstGeom prst="line">
            <a:avLst/>
          </a:prstGeom>
          <a:noFill/>
          <a:ln w="952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00749" name="Line 13"/>
          <p:cNvSpPr>
            <a:spLocks noChangeShapeType="1"/>
          </p:cNvSpPr>
          <p:nvPr/>
        </p:nvSpPr>
        <p:spPr bwMode="auto">
          <a:xfrm flipV="1">
            <a:off x="7378700" y="3289300"/>
            <a:ext cx="0" cy="622300"/>
          </a:xfrm>
          <a:prstGeom prst="line">
            <a:avLst/>
          </a:prstGeom>
          <a:noFill/>
          <a:ln w="952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00750" name="AutoShape 14"/>
          <p:cNvSpPr>
            <a:spLocks noChangeArrowheads="1"/>
          </p:cNvSpPr>
          <p:nvPr/>
        </p:nvSpPr>
        <p:spPr bwMode="auto">
          <a:xfrm>
            <a:off x="4432300" y="2684463"/>
            <a:ext cx="177800" cy="604837"/>
          </a:xfrm>
          <a:prstGeom prst="upArrow">
            <a:avLst>
              <a:gd name="adj1" fmla="val 50000"/>
              <a:gd name="adj2" fmla="val 85045"/>
            </a:avLst>
          </a:prstGeom>
          <a:solidFill>
            <a:srgbClr val="99CCFF"/>
          </a:solidFill>
          <a:ln w="9525">
            <a:solidFill>
              <a:schemeClr val="tx1"/>
            </a:solidFill>
            <a:miter lim="800000"/>
          </a:ln>
        </p:spPr>
        <p:txBody>
          <a:bodyPr vert="eaVert"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0750"/>
                                        </p:tgtEl>
                                        <p:attrNameLst>
                                          <p:attrName>style.visibility</p:attrName>
                                        </p:attrNameLst>
                                      </p:cBhvr>
                                      <p:to>
                                        <p:strVal val="visible"/>
                                      </p:to>
                                    </p:set>
                                    <p:anim calcmode="lin" valueType="num">
                                      <p:cBhvr additive="base">
                                        <p:cTn id="7" dur="500" fill="hold"/>
                                        <p:tgtEl>
                                          <p:spTgt spid="500750"/>
                                        </p:tgtEl>
                                        <p:attrNameLst>
                                          <p:attrName>ppt_x</p:attrName>
                                        </p:attrNameLst>
                                      </p:cBhvr>
                                      <p:tavLst>
                                        <p:tav tm="0">
                                          <p:val>
                                            <p:strVal val="#ppt_x"/>
                                          </p:val>
                                        </p:tav>
                                        <p:tav tm="100000">
                                          <p:val>
                                            <p:strVal val="#ppt_x"/>
                                          </p:val>
                                        </p:tav>
                                      </p:tavLst>
                                    </p:anim>
                                    <p:anim calcmode="lin" valueType="num">
                                      <p:cBhvr additive="base">
                                        <p:cTn id="8" dur="500" fill="hold"/>
                                        <p:tgtEl>
                                          <p:spTgt spid="50075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00746"/>
                                        </p:tgtEl>
                                        <p:attrNameLst>
                                          <p:attrName>style.visibility</p:attrName>
                                        </p:attrNameLst>
                                      </p:cBhvr>
                                      <p:to>
                                        <p:strVal val="visible"/>
                                      </p:to>
                                    </p:set>
                                    <p:anim calcmode="lin" valueType="num">
                                      <p:cBhvr additive="base">
                                        <p:cTn id="11" dur="500" fill="hold"/>
                                        <p:tgtEl>
                                          <p:spTgt spid="500746"/>
                                        </p:tgtEl>
                                        <p:attrNameLst>
                                          <p:attrName>ppt_x</p:attrName>
                                        </p:attrNameLst>
                                      </p:cBhvr>
                                      <p:tavLst>
                                        <p:tav tm="0">
                                          <p:val>
                                            <p:strVal val="#ppt_x"/>
                                          </p:val>
                                        </p:tav>
                                        <p:tav tm="100000">
                                          <p:val>
                                            <p:strVal val="#ppt_x"/>
                                          </p:val>
                                        </p:tav>
                                      </p:tavLst>
                                    </p:anim>
                                    <p:anim calcmode="lin" valueType="num">
                                      <p:cBhvr additive="base">
                                        <p:cTn id="12" dur="500" fill="hold"/>
                                        <p:tgtEl>
                                          <p:spTgt spid="50074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00747"/>
                                        </p:tgtEl>
                                        <p:attrNameLst>
                                          <p:attrName>style.visibility</p:attrName>
                                        </p:attrNameLst>
                                      </p:cBhvr>
                                      <p:to>
                                        <p:strVal val="visible"/>
                                      </p:to>
                                    </p:set>
                                    <p:anim calcmode="lin" valueType="num">
                                      <p:cBhvr additive="base">
                                        <p:cTn id="15" dur="500" fill="hold"/>
                                        <p:tgtEl>
                                          <p:spTgt spid="500747"/>
                                        </p:tgtEl>
                                        <p:attrNameLst>
                                          <p:attrName>ppt_x</p:attrName>
                                        </p:attrNameLst>
                                      </p:cBhvr>
                                      <p:tavLst>
                                        <p:tav tm="0">
                                          <p:val>
                                            <p:strVal val="#ppt_x"/>
                                          </p:val>
                                        </p:tav>
                                        <p:tav tm="100000">
                                          <p:val>
                                            <p:strVal val="#ppt_x"/>
                                          </p:val>
                                        </p:tav>
                                      </p:tavLst>
                                    </p:anim>
                                    <p:anim calcmode="lin" valueType="num">
                                      <p:cBhvr additive="base">
                                        <p:cTn id="16" dur="500" fill="hold"/>
                                        <p:tgtEl>
                                          <p:spTgt spid="50074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00743"/>
                                        </p:tgtEl>
                                        <p:attrNameLst>
                                          <p:attrName>style.visibility</p:attrName>
                                        </p:attrNameLst>
                                      </p:cBhvr>
                                      <p:to>
                                        <p:strVal val="visible"/>
                                      </p:to>
                                    </p:set>
                                    <p:anim calcmode="lin" valueType="num">
                                      <p:cBhvr additive="base">
                                        <p:cTn id="19" dur="500" fill="hold"/>
                                        <p:tgtEl>
                                          <p:spTgt spid="500743"/>
                                        </p:tgtEl>
                                        <p:attrNameLst>
                                          <p:attrName>ppt_x</p:attrName>
                                        </p:attrNameLst>
                                      </p:cBhvr>
                                      <p:tavLst>
                                        <p:tav tm="0">
                                          <p:val>
                                            <p:strVal val="#ppt_x"/>
                                          </p:val>
                                        </p:tav>
                                        <p:tav tm="100000">
                                          <p:val>
                                            <p:strVal val="#ppt_x"/>
                                          </p:val>
                                        </p:tav>
                                      </p:tavLst>
                                    </p:anim>
                                    <p:anim calcmode="lin" valueType="num">
                                      <p:cBhvr additive="base">
                                        <p:cTn id="20" dur="500" fill="hold"/>
                                        <p:tgtEl>
                                          <p:spTgt spid="50074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00748"/>
                                        </p:tgtEl>
                                        <p:attrNameLst>
                                          <p:attrName>style.visibility</p:attrName>
                                        </p:attrNameLst>
                                      </p:cBhvr>
                                      <p:to>
                                        <p:strVal val="visible"/>
                                      </p:to>
                                    </p:set>
                                    <p:anim calcmode="lin" valueType="num">
                                      <p:cBhvr additive="base">
                                        <p:cTn id="25" dur="500" fill="hold"/>
                                        <p:tgtEl>
                                          <p:spTgt spid="500748"/>
                                        </p:tgtEl>
                                        <p:attrNameLst>
                                          <p:attrName>ppt_x</p:attrName>
                                        </p:attrNameLst>
                                      </p:cBhvr>
                                      <p:tavLst>
                                        <p:tav tm="0">
                                          <p:val>
                                            <p:strVal val="#ppt_x"/>
                                          </p:val>
                                        </p:tav>
                                        <p:tav tm="100000">
                                          <p:val>
                                            <p:strVal val="#ppt_x"/>
                                          </p:val>
                                        </p:tav>
                                      </p:tavLst>
                                    </p:anim>
                                    <p:anim calcmode="lin" valueType="num">
                                      <p:cBhvr additive="base">
                                        <p:cTn id="26" dur="500" fill="hold"/>
                                        <p:tgtEl>
                                          <p:spTgt spid="50074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00744"/>
                                        </p:tgtEl>
                                        <p:attrNameLst>
                                          <p:attrName>style.visibility</p:attrName>
                                        </p:attrNameLst>
                                      </p:cBhvr>
                                      <p:to>
                                        <p:strVal val="visible"/>
                                      </p:to>
                                    </p:set>
                                    <p:anim calcmode="lin" valueType="num">
                                      <p:cBhvr additive="base">
                                        <p:cTn id="29" dur="500" fill="hold"/>
                                        <p:tgtEl>
                                          <p:spTgt spid="500744"/>
                                        </p:tgtEl>
                                        <p:attrNameLst>
                                          <p:attrName>ppt_x</p:attrName>
                                        </p:attrNameLst>
                                      </p:cBhvr>
                                      <p:tavLst>
                                        <p:tav tm="0">
                                          <p:val>
                                            <p:strVal val="#ppt_x"/>
                                          </p:val>
                                        </p:tav>
                                        <p:tav tm="100000">
                                          <p:val>
                                            <p:strVal val="#ppt_x"/>
                                          </p:val>
                                        </p:tav>
                                      </p:tavLst>
                                    </p:anim>
                                    <p:anim calcmode="lin" valueType="num">
                                      <p:cBhvr additive="base">
                                        <p:cTn id="30" dur="500" fill="hold"/>
                                        <p:tgtEl>
                                          <p:spTgt spid="50074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00749"/>
                                        </p:tgtEl>
                                        <p:attrNameLst>
                                          <p:attrName>style.visibility</p:attrName>
                                        </p:attrNameLst>
                                      </p:cBhvr>
                                      <p:to>
                                        <p:strVal val="visible"/>
                                      </p:to>
                                    </p:set>
                                    <p:anim calcmode="lin" valueType="num">
                                      <p:cBhvr additive="base">
                                        <p:cTn id="35" dur="500" fill="hold"/>
                                        <p:tgtEl>
                                          <p:spTgt spid="500749"/>
                                        </p:tgtEl>
                                        <p:attrNameLst>
                                          <p:attrName>ppt_x</p:attrName>
                                        </p:attrNameLst>
                                      </p:cBhvr>
                                      <p:tavLst>
                                        <p:tav tm="0">
                                          <p:val>
                                            <p:strVal val="#ppt_x"/>
                                          </p:val>
                                        </p:tav>
                                        <p:tav tm="100000">
                                          <p:val>
                                            <p:strVal val="#ppt_x"/>
                                          </p:val>
                                        </p:tav>
                                      </p:tavLst>
                                    </p:anim>
                                    <p:anim calcmode="lin" valueType="num">
                                      <p:cBhvr additive="base">
                                        <p:cTn id="36" dur="500" fill="hold"/>
                                        <p:tgtEl>
                                          <p:spTgt spid="50074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00745"/>
                                        </p:tgtEl>
                                        <p:attrNameLst>
                                          <p:attrName>style.visibility</p:attrName>
                                        </p:attrNameLst>
                                      </p:cBhvr>
                                      <p:to>
                                        <p:strVal val="visible"/>
                                      </p:to>
                                    </p:set>
                                    <p:anim calcmode="lin" valueType="num">
                                      <p:cBhvr additive="base">
                                        <p:cTn id="39" dur="500" fill="hold"/>
                                        <p:tgtEl>
                                          <p:spTgt spid="500745"/>
                                        </p:tgtEl>
                                        <p:attrNameLst>
                                          <p:attrName>ppt_x</p:attrName>
                                        </p:attrNameLst>
                                      </p:cBhvr>
                                      <p:tavLst>
                                        <p:tav tm="0">
                                          <p:val>
                                            <p:strVal val="#ppt_x"/>
                                          </p:val>
                                        </p:tav>
                                        <p:tav tm="100000">
                                          <p:val>
                                            <p:strVal val="#ppt_x"/>
                                          </p:val>
                                        </p:tav>
                                      </p:tavLst>
                                    </p:anim>
                                    <p:anim calcmode="lin" valueType="num">
                                      <p:cBhvr additive="base">
                                        <p:cTn id="40" dur="500" fill="hold"/>
                                        <p:tgtEl>
                                          <p:spTgt spid="5007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43" grpId="0" animBg="1"/>
      <p:bldP spid="500744" grpId="0" animBg="1"/>
      <p:bldP spid="500745" grpId="0" animBg="1"/>
      <p:bldP spid="50075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C7080FB-A58B-414B-A34B-3E5F1226A6A5}" type="slidenum">
              <a:rPr lang="zh-CN" altLang="en-US" sz="1400" smtClean="0"/>
            </a:fld>
            <a:endParaRPr lang="en-US" altLang="zh-CN" sz="1400" smtClean="0"/>
          </a:p>
        </p:txBody>
      </p:sp>
      <p:sp>
        <p:nvSpPr>
          <p:cNvPr id="13315" name="Rectangle 4"/>
          <p:cNvSpPr>
            <a:spLocks noGrp="1" noChangeArrowheads="1"/>
          </p:cNvSpPr>
          <p:nvPr>
            <p:ph type="title"/>
          </p:nvPr>
        </p:nvSpPr>
        <p:spPr>
          <a:xfrm>
            <a:off x="0" y="38100"/>
            <a:ext cx="9144000" cy="609600"/>
          </a:xfrm>
          <a:solidFill>
            <a:srgbClr val="99CCFF"/>
          </a:solidFill>
        </p:spPr>
        <p:txBody>
          <a:bodyPr/>
          <a:lstStyle/>
          <a:p>
            <a:pPr algn="l" eaLnBrk="1" hangingPunct="1"/>
            <a:r>
              <a:rPr lang="zh-CN" altLang="en-US" sz="3600" b="1" smtClean="0">
                <a:solidFill>
                  <a:schemeClr val="hlink"/>
                </a:solidFill>
              </a:rPr>
              <a:t>市场研究</a:t>
            </a:r>
            <a:r>
              <a:rPr lang="en-US" altLang="zh-CN" sz="3600" b="1" smtClean="0">
                <a:solidFill>
                  <a:schemeClr val="hlink"/>
                </a:solidFill>
              </a:rPr>
              <a:t>: </a:t>
            </a:r>
            <a:r>
              <a:rPr lang="zh-CN" altLang="en-US" sz="3600" b="1" smtClean="0">
                <a:solidFill>
                  <a:schemeClr val="hlink"/>
                </a:solidFill>
              </a:rPr>
              <a:t>调查与预测</a:t>
            </a:r>
            <a:r>
              <a:rPr lang="en-US" altLang="zh-CN" sz="3600" b="1" smtClean="0">
                <a:solidFill>
                  <a:schemeClr val="hlink"/>
                </a:solidFill>
              </a:rPr>
              <a:t>, </a:t>
            </a:r>
            <a:r>
              <a:rPr lang="zh-CN" altLang="en-US" sz="3600" b="1" smtClean="0">
                <a:solidFill>
                  <a:schemeClr val="hlink"/>
                </a:solidFill>
              </a:rPr>
              <a:t>壁垒分析</a:t>
            </a:r>
            <a:r>
              <a:rPr lang="en-US" altLang="zh-CN" sz="3600" b="1" smtClean="0">
                <a:solidFill>
                  <a:schemeClr val="hlink"/>
                </a:solidFill>
              </a:rPr>
              <a:t>, </a:t>
            </a:r>
            <a:r>
              <a:rPr lang="zh-CN" altLang="en-US" sz="3600" b="1" smtClean="0">
                <a:solidFill>
                  <a:schemeClr val="hlink"/>
                </a:solidFill>
              </a:rPr>
              <a:t>项目规模</a:t>
            </a:r>
            <a:endParaRPr lang="zh-CN" altLang="en-US" sz="3600" b="1" smtClean="0">
              <a:solidFill>
                <a:schemeClr val="hlink"/>
              </a:solidFill>
            </a:endParaRPr>
          </a:p>
        </p:txBody>
      </p:sp>
      <p:sp>
        <p:nvSpPr>
          <p:cNvPr id="501765" name="Rectangle 5"/>
          <p:cNvSpPr>
            <a:spLocks noGrp="1" noChangeArrowheads="1"/>
          </p:cNvSpPr>
          <p:nvPr>
            <p:ph type="body" idx="1"/>
          </p:nvPr>
        </p:nvSpPr>
        <p:spPr>
          <a:xfrm>
            <a:off x="0" y="977900"/>
            <a:ext cx="9144000" cy="5880100"/>
          </a:xfrm>
          <a:solidFill>
            <a:srgbClr val="99CCFF"/>
          </a:solidFill>
        </p:spPr>
        <p:txBody>
          <a:bodyPr/>
          <a:lstStyle/>
          <a:p>
            <a:pPr eaLnBrk="1" hangingPunct="1"/>
            <a:r>
              <a:rPr lang="zh-CN" altLang="en-US" smtClean="0"/>
              <a:t>要回答的问题</a:t>
            </a:r>
            <a:endParaRPr lang="zh-CN" altLang="en-US" smtClean="0"/>
          </a:p>
          <a:p>
            <a:pPr lvl="1" eaLnBrk="1" hangingPunct="1"/>
            <a:r>
              <a:rPr lang="zh-CN" altLang="en-US" smtClean="0"/>
              <a:t>市场在哪里（蛋糕在哪里）？</a:t>
            </a:r>
            <a:endParaRPr lang="zh-CN" altLang="en-US" smtClean="0"/>
          </a:p>
          <a:p>
            <a:pPr lvl="1" eaLnBrk="1" hangingPunct="1"/>
            <a:r>
              <a:rPr lang="zh-CN" altLang="en-US" smtClean="0"/>
              <a:t>我能够在蛋糕里吃到哪一块？</a:t>
            </a:r>
            <a:endParaRPr lang="zh-CN" altLang="en-US" smtClean="0"/>
          </a:p>
          <a:p>
            <a:pPr lvl="1" eaLnBrk="1" hangingPunct="1"/>
            <a:endParaRPr lang="zh-CN" altLang="en-US" smtClean="0"/>
          </a:p>
          <a:p>
            <a:pPr eaLnBrk="1" hangingPunct="1"/>
            <a:endParaRPr lang="zh-CN" altLang="en-US" smtClean="0"/>
          </a:p>
        </p:txBody>
      </p:sp>
      <p:pic>
        <p:nvPicPr>
          <p:cNvPr id="13317" name="Picture 6" descr="share of online search"/>
          <p:cNvPicPr preferRelativeResize="0">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9388" y="2679700"/>
            <a:ext cx="5715000" cy="41783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3318" name="Text Box 7"/>
          <p:cNvSpPr txBox="1">
            <a:spLocks noChangeArrowheads="1"/>
          </p:cNvSpPr>
          <p:nvPr/>
        </p:nvSpPr>
        <p:spPr bwMode="auto">
          <a:xfrm>
            <a:off x="6015038" y="2632075"/>
            <a:ext cx="2735262" cy="192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a:solidFill>
                  <a:srgbClr val="CC0000"/>
                </a:solidFill>
              </a:rPr>
              <a:t>2010</a:t>
            </a:r>
            <a:r>
              <a:rPr lang="zh-CN" altLang="en-US" sz="3600">
                <a:solidFill>
                  <a:srgbClr val="CC0000"/>
                </a:solidFill>
              </a:rPr>
              <a:t>年</a:t>
            </a:r>
            <a:r>
              <a:rPr lang="en-US" altLang="zh-CN" sz="3600">
                <a:solidFill>
                  <a:srgbClr val="CC0000"/>
                </a:solidFill>
              </a:rPr>
              <a:t>11</a:t>
            </a:r>
            <a:r>
              <a:rPr lang="zh-CN" altLang="en-US" sz="3600">
                <a:solidFill>
                  <a:srgbClr val="CC0000"/>
                </a:solidFill>
              </a:rPr>
              <a:t>月</a:t>
            </a:r>
            <a:r>
              <a:rPr lang="zh-CN" altLang="en-US" sz="2400">
                <a:solidFill>
                  <a:srgbClr val="CC0000"/>
                </a:solidFill>
              </a:rPr>
              <a:t> </a:t>
            </a:r>
            <a:endParaRPr lang="zh-CN" altLang="en-US" sz="2400">
              <a:solidFill>
                <a:srgbClr val="CC0000"/>
              </a:solidFill>
            </a:endParaRPr>
          </a:p>
          <a:p>
            <a:pPr eaLnBrk="1" hangingPunct="1">
              <a:spcBef>
                <a:spcPct val="0"/>
              </a:spcBef>
              <a:buClrTx/>
              <a:buSzTx/>
              <a:buFontTx/>
              <a:buNone/>
            </a:pPr>
            <a:r>
              <a:rPr lang="en-US" altLang="zh-CN" sz="2800" b="1"/>
              <a:t>Google: 66.3% </a:t>
            </a:r>
            <a:endParaRPr lang="en-US" altLang="zh-CN" sz="2800" b="1"/>
          </a:p>
          <a:p>
            <a:pPr eaLnBrk="1" hangingPunct="1">
              <a:spcBef>
                <a:spcPct val="0"/>
              </a:spcBef>
              <a:buClrTx/>
              <a:buSzTx/>
              <a:buFontTx/>
              <a:buNone/>
            </a:pPr>
            <a:r>
              <a:rPr lang="en-US" altLang="zh-CN" sz="2800" b="1"/>
              <a:t>Yahoo:  16.5%</a:t>
            </a:r>
            <a:endParaRPr lang="en-US" altLang="zh-CN" sz="2800" b="1"/>
          </a:p>
          <a:p>
            <a:pPr eaLnBrk="1" hangingPunct="1">
              <a:spcBef>
                <a:spcPct val="0"/>
              </a:spcBef>
              <a:buClrTx/>
              <a:buSzTx/>
              <a:buFontTx/>
              <a:buNone/>
            </a:pPr>
            <a:r>
              <a:rPr lang="en-US" altLang="zh-CN" sz="2800" b="1"/>
              <a:t>Bing:      11.5%</a:t>
            </a:r>
            <a:endParaRPr lang="en-US" altLang="zh-CN"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01765">
                                            <p:txEl>
                                              <p:pRg st="1" end="1"/>
                                            </p:txEl>
                                          </p:spTgt>
                                        </p:tgtEl>
                                        <p:attrNameLst>
                                          <p:attrName>style.visibility</p:attrName>
                                        </p:attrNameLst>
                                      </p:cBhvr>
                                      <p:to>
                                        <p:strVal val="visible"/>
                                      </p:to>
                                    </p:set>
                                    <p:animEffect transition="in" filter="blinds(horizontal)">
                                      <p:cBhvr>
                                        <p:cTn id="7" dur="500"/>
                                        <p:tgtEl>
                                          <p:spTgt spid="50176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01765">
                                            <p:txEl>
                                              <p:pRg st="2" end="2"/>
                                            </p:txEl>
                                          </p:spTgt>
                                        </p:tgtEl>
                                        <p:attrNameLst>
                                          <p:attrName>style.visibility</p:attrName>
                                        </p:attrNameLst>
                                      </p:cBhvr>
                                      <p:to>
                                        <p:strVal val="visible"/>
                                      </p:to>
                                    </p:set>
                                    <p:animEffect transition="in" filter="blinds(horizontal)">
                                      <p:cBhvr>
                                        <p:cTn id="12" dur="500"/>
                                        <p:tgtEl>
                                          <p:spTgt spid="50176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938111F-AFCD-4BBD-9237-91C5C79816A3}" type="slidenum">
              <a:rPr lang="zh-CN" altLang="en-US" sz="1400" smtClean="0"/>
            </a:fld>
            <a:endParaRPr lang="en-US" altLang="zh-CN" sz="1400" smtClean="0"/>
          </a:p>
        </p:txBody>
      </p:sp>
      <p:sp>
        <p:nvSpPr>
          <p:cNvPr id="14339" name="Rectangle 4"/>
          <p:cNvSpPr>
            <a:spLocks noGrp="1" noChangeArrowheads="1"/>
          </p:cNvSpPr>
          <p:nvPr>
            <p:ph type="title"/>
          </p:nvPr>
        </p:nvSpPr>
        <p:spPr>
          <a:xfrm>
            <a:off x="0" y="38100"/>
            <a:ext cx="9144000" cy="609600"/>
          </a:xfrm>
          <a:solidFill>
            <a:srgbClr val="99CCFF"/>
          </a:solidFill>
        </p:spPr>
        <p:txBody>
          <a:bodyPr/>
          <a:lstStyle/>
          <a:p>
            <a:pPr algn="l" eaLnBrk="1" hangingPunct="1"/>
            <a:r>
              <a:rPr lang="zh-CN" altLang="en-US" sz="3600" b="1" smtClean="0">
                <a:solidFill>
                  <a:schemeClr val="hlink"/>
                </a:solidFill>
              </a:rPr>
              <a:t>市场研究</a:t>
            </a:r>
            <a:r>
              <a:rPr lang="en-US" altLang="zh-CN" sz="3600" b="1" smtClean="0">
                <a:solidFill>
                  <a:schemeClr val="hlink"/>
                </a:solidFill>
              </a:rPr>
              <a:t>: </a:t>
            </a:r>
            <a:r>
              <a:rPr lang="zh-CN" altLang="en-US" sz="3600" b="1" smtClean="0">
                <a:solidFill>
                  <a:schemeClr val="hlink"/>
                </a:solidFill>
              </a:rPr>
              <a:t>调查与预测</a:t>
            </a:r>
            <a:r>
              <a:rPr lang="en-US" altLang="zh-CN" sz="3600" b="1" smtClean="0">
                <a:solidFill>
                  <a:schemeClr val="hlink"/>
                </a:solidFill>
              </a:rPr>
              <a:t>, </a:t>
            </a:r>
            <a:r>
              <a:rPr lang="zh-CN" altLang="en-US" sz="3600" b="1" smtClean="0">
                <a:solidFill>
                  <a:schemeClr val="hlink"/>
                </a:solidFill>
              </a:rPr>
              <a:t>壁垒分析</a:t>
            </a:r>
            <a:r>
              <a:rPr lang="en-US" altLang="zh-CN" sz="3600" b="1" smtClean="0">
                <a:solidFill>
                  <a:schemeClr val="hlink"/>
                </a:solidFill>
              </a:rPr>
              <a:t>, </a:t>
            </a:r>
            <a:r>
              <a:rPr lang="zh-CN" altLang="en-US" sz="3600" b="1" smtClean="0">
                <a:solidFill>
                  <a:schemeClr val="hlink"/>
                </a:solidFill>
              </a:rPr>
              <a:t>项目规模</a:t>
            </a:r>
            <a:endParaRPr lang="zh-CN" altLang="en-US" sz="3600" b="1" smtClean="0">
              <a:solidFill>
                <a:schemeClr val="hlink"/>
              </a:solidFill>
            </a:endParaRPr>
          </a:p>
        </p:txBody>
      </p:sp>
      <p:sp>
        <p:nvSpPr>
          <p:cNvPr id="501765" name="Rectangle 5"/>
          <p:cNvSpPr>
            <a:spLocks noGrp="1" noChangeArrowheads="1"/>
          </p:cNvSpPr>
          <p:nvPr>
            <p:ph type="body" idx="1"/>
          </p:nvPr>
        </p:nvSpPr>
        <p:spPr>
          <a:xfrm>
            <a:off x="0" y="977900"/>
            <a:ext cx="9144000" cy="5880100"/>
          </a:xfrm>
          <a:solidFill>
            <a:srgbClr val="99CCFF"/>
          </a:solidFill>
        </p:spPr>
        <p:txBody>
          <a:bodyPr/>
          <a:lstStyle/>
          <a:p>
            <a:pPr eaLnBrk="1" hangingPunct="1"/>
            <a:endParaRPr lang="zh-CN" altLang="en-US" smtClean="0"/>
          </a:p>
          <a:p>
            <a:pPr lvl="1" eaLnBrk="1" hangingPunct="1"/>
            <a:endParaRPr lang="zh-CN" altLang="en-US" smtClean="0"/>
          </a:p>
          <a:p>
            <a:pPr eaLnBrk="1" hangingPunct="1"/>
            <a:endParaRPr lang="zh-CN" altLang="en-US" smtClean="0"/>
          </a:p>
        </p:txBody>
      </p:sp>
      <p:sp>
        <p:nvSpPr>
          <p:cNvPr id="14341" name="Text Box 7"/>
          <p:cNvSpPr txBox="1">
            <a:spLocks noChangeArrowheads="1"/>
          </p:cNvSpPr>
          <p:nvPr/>
        </p:nvSpPr>
        <p:spPr bwMode="auto">
          <a:xfrm>
            <a:off x="811213" y="1196975"/>
            <a:ext cx="3856037"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a:solidFill>
                  <a:srgbClr val="CC0000"/>
                </a:solidFill>
              </a:rPr>
              <a:t>2018</a:t>
            </a:r>
            <a:r>
              <a:rPr lang="zh-CN" altLang="en-US">
                <a:solidFill>
                  <a:srgbClr val="CC0000"/>
                </a:solidFill>
              </a:rPr>
              <a:t>年</a:t>
            </a:r>
            <a:r>
              <a:rPr lang="en-US" altLang="zh-CN">
                <a:solidFill>
                  <a:srgbClr val="CC0000"/>
                </a:solidFill>
              </a:rPr>
              <a:t>1</a:t>
            </a:r>
            <a:r>
              <a:rPr lang="zh-CN" altLang="en-US">
                <a:solidFill>
                  <a:srgbClr val="CC0000"/>
                </a:solidFill>
              </a:rPr>
              <a:t>月（全球）</a:t>
            </a:r>
            <a:r>
              <a:rPr lang="zh-CN" altLang="en-US" sz="2000">
                <a:solidFill>
                  <a:srgbClr val="CC0000"/>
                </a:solidFill>
              </a:rPr>
              <a:t> </a:t>
            </a:r>
            <a:endParaRPr lang="zh-CN" altLang="en-US" sz="2000">
              <a:solidFill>
                <a:srgbClr val="CC0000"/>
              </a:solidFill>
            </a:endParaRPr>
          </a:p>
          <a:p>
            <a:pPr eaLnBrk="1" hangingPunct="1">
              <a:spcBef>
                <a:spcPct val="0"/>
              </a:spcBef>
              <a:buClrTx/>
              <a:buSzTx/>
              <a:buFontTx/>
              <a:buNone/>
            </a:pPr>
            <a:r>
              <a:rPr lang="en-US" altLang="zh-CN" sz="2400" b="1"/>
              <a:t>Google: 91.6% </a:t>
            </a:r>
            <a:endParaRPr lang="en-US" altLang="zh-CN" sz="2400" b="1"/>
          </a:p>
          <a:p>
            <a:pPr eaLnBrk="1" hangingPunct="1">
              <a:spcBef>
                <a:spcPct val="0"/>
              </a:spcBef>
              <a:buClrTx/>
              <a:buSzTx/>
              <a:buFontTx/>
              <a:buNone/>
            </a:pPr>
            <a:r>
              <a:rPr lang="en-US" altLang="zh-CN" sz="2400" b="1"/>
              <a:t>Bing: 2.74%</a:t>
            </a:r>
            <a:endParaRPr lang="en-US" altLang="zh-CN" sz="2400" b="1"/>
          </a:p>
          <a:p>
            <a:pPr eaLnBrk="1" hangingPunct="1">
              <a:spcBef>
                <a:spcPct val="0"/>
              </a:spcBef>
              <a:buClrTx/>
              <a:buSzTx/>
              <a:buFontTx/>
              <a:buNone/>
            </a:pPr>
            <a:r>
              <a:rPr lang="zh-CN" altLang="en-US" sz="2400" b="1"/>
              <a:t>百度</a:t>
            </a:r>
            <a:r>
              <a:rPr lang="en-US" altLang="zh-CN" sz="2400" b="1"/>
              <a:t>:1.91%</a:t>
            </a:r>
            <a:endParaRPr lang="en-US" altLang="zh-CN" sz="2400" b="1"/>
          </a:p>
        </p:txBody>
      </p:sp>
      <p:pic>
        <p:nvPicPr>
          <p:cNvPr id="14342" name="图片 1"/>
          <p:cNvPicPr>
            <a:picLocks noChangeAspect="1"/>
          </p:cNvPicPr>
          <p:nvPr/>
        </p:nvPicPr>
        <p:blipFill>
          <a:blip r:embed="rId1">
            <a:extLst>
              <a:ext uri="{28A0092B-C50C-407E-A947-70E740481C1C}">
                <a14:useLocalDpi xmlns:a14="http://schemas.microsoft.com/office/drawing/2010/main" val="0"/>
              </a:ext>
            </a:extLst>
          </a:blip>
          <a:srcRect l="3156" r="17964" b="3008"/>
          <a:stretch>
            <a:fillRect/>
          </a:stretch>
        </p:blipFill>
        <p:spPr bwMode="auto">
          <a:xfrm>
            <a:off x="4872038" y="3243263"/>
            <a:ext cx="3600450" cy="293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3" name="图片 2"/>
          <p:cNvPicPr>
            <a:picLocks noChangeAspect="1"/>
          </p:cNvPicPr>
          <p:nvPr/>
        </p:nvPicPr>
        <p:blipFill>
          <a:blip r:embed="rId2">
            <a:extLst>
              <a:ext uri="{28A0092B-C50C-407E-A947-70E740481C1C}">
                <a14:useLocalDpi xmlns:a14="http://schemas.microsoft.com/office/drawing/2010/main" val="0"/>
              </a:ext>
            </a:extLst>
          </a:blip>
          <a:srcRect l="10515" r="18298"/>
          <a:stretch>
            <a:fillRect/>
          </a:stretch>
        </p:blipFill>
        <p:spPr bwMode="auto">
          <a:xfrm>
            <a:off x="639763" y="3243263"/>
            <a:ext cx="3600450" cy="293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4" name="Text Box 7"/>
          <p:cNvSpPr txBox="1">
            <a:spLocks noChangeArrowheads="1"/>
          </p:cNvSpPr>
          <p:nvPr/>
        </p:nvSpPr>
        <p:spPr bwMode="auto">
          <a:xfrm>
            <a:off x="4745038" y="1196975"/>
            <a:ext cx="3854450"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a:solidFill>
                  <a:srgbClr val="CC0000"/>
                </a:solidFill>
              </a:rPr>
              <a:t>2018</a:t>
            </a:r>
            <a:r>
              <a:rPr lang="zh-CN" altLang="en-US">
                <a:solidFill>
                  <a:srgbClr val="CC0000"/>
                </a:solidFill>
              </a:rPr>
              <a:t>年</a:t>
            </a:r>
            <a:r>
              <a:rPr lang="en-US" altLang="zh-CN">
                <a:solidFill>
                  <a:srgbClr val="CC0000"/>
                </a:solidFill>
              </a:rPr>
              <a:t>1</a:t>
            </a:r>
            <a:r>
              <a:rPr lang="zh-CN" altLang="en-US">
                <a:solidFill>
                  <a:srgbClr val="CC0000"/>
                </a:solidFill>
              </a:rPr>
              <a:t>月（中国）</a:t>
            </a:r>
            <a:r>
              <a:rPr lang="zh-CN" altLang="en-US" sz="2000">
                <a:solidFill>
                  <a:srgbClr val="CC0000"/>
                </a:solidFill>
              </a:rPr>
              <a:t> </a:t>
            </a:r>
            <a:endParaRPr lang="zh-CN" altLang="en-US" sz="2000">
              <a:solidFill>
                <a:srgbClr val="CC0000"/>
              </a:solidFill>
            </a:endParaRPr>
          </a:p>
          <a:p>
            <a:pPr eaLnBrk="1" hangingPunct="1">
              <a:spcBef>
                <a:spcPct val="0"/>
              </a:spcBef>
              <a:buClrTx/>
              <a:buSzTx/>
              <a:buFontTx/>
              <a:buNone/>
            </a:pPr>
            <a:r>
              <a:rPr lang="zh-CN" altLang="en-US" sz="2400" b="1"/>
              <a:t>百度</a:t>
            </a:r>
            <a:r>
              <a:rPr lang="en-US" altLang="zh-CN" sz="2400" b="1"/>
              <a:t>: 69.74% </a:t>
            </a:r>
            <a:endParaRPr lang="en-US" altLang="zh-CN" sz="2400" b="1"/>
          </a:p>
          <a:p>
            <a:pPr eaLnBrk="1" hangingPunct="1">
              <a:spcBef>
                <a:spcPct val="0"/>
              </a:spcBef>
              <a:buClrTx/>
              <a:buSzTx/>
              <a:buFontTx/>
              <a:buNone/>
            </a:pPr>
            <a:r>
              <a:rPr lang="en-US" altLang="zh-CN" sz="2400" b="1"/>
              <a:t>360</a:t>
            </a:r>
            <a:r>
              <a:rPr lang="zh-CN" altLang="en-US" sz="2400" b="1"/>
              <a:t>搜索</a:t>
            </a:r>
            <a:r>
              <a:rPr lang="en-US" altLang="zh-CN" sz="2400" b="1"/>
              <a:t>: 15.76%</a:t>
            </a:r>
            <a:endParaRPr lang="en-US" altLang="zh-CN" sz="2400" b="1"/>
          </a:p>
          <a:p>
            <a:pPr eaLnBrk="1" hangingPunct="1">
              <a:spcBef>
                <a:spcPct val="0"/>
              </a:spcBef>
              <a:buClrTx/>
              <a:buSzTx/>
              <a:buFontTx/>
              <a:buNone/>
            </a:pPr>
            <a:r>
              <a:rPr lang="zh-CN" altLang="en-US" sz="2400" b="1"/>
              <a:t>神马搜索</a:t>
            </a:r>
            <a:r>
              <a:rPr lang="en-US" altLang="zh-CN" sz="2400" b="1"/>
              <a:t>:7.51%</a:t>
            </a:r>
            <a:endParaRPr lang="en-US" altLang="zh-CN"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nodePh="1">
                                  <p:stCondLst>
                                    <p:cond delay="0"/>
                                  </p:stCondLst>
                                  <p:endCondLst>
                                    <p:cond evt="begin" delay="0">
                                      <p:tn val="5"/>
                                    </p:cond>
                                  </p:endCondLst>
                                  <p:childTnLst>
                                    <p:set>
                                      <p:cBhvr>
                                        <p:cTn id="6" dur="1" fill="hold">
                                          <p:stCondLst>
                                            <p:cond delay="0"/>
                                          </p:stCondLst>
                                        </p:cTn>
                                        <p:tgtEl>
                                          <p:spTgt spid="501765">
                                            <p:txEl>
                                              <p:pRg st="0" end="0"/>
                                            </p:txEl>
                                          </p:spTgt>
                                        </p:tgtEl>
                                        <p:attrNameLst>
                                          <p:attrName>style.visibility</p:attrName>
                                        </p:attrNameLst>
                                      </p:cBhvr>
                                      <p:to>
                                        <p:strVal val="visible"/>
                                      </p:to>
                                    </p:set>
                                    <p:animEffect transition="in" filter="blinds(horizontal)">
                                      <p:cBhvr>
                                        <p:cTn id="7" dur="500"/>
                                        <p:tgtEl>
                                          <p:spTgt spid="50176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97CDB7F-5A15-4D7B-82C8-F77439CEEC23}" type="slidenum">
              <a:rPr lang="zh-CN" altLang="en-US" sz="1400" smtClean="0"/>
            </a:fld>
            <a:endParaRPr lang="en-US" altLang="zh-CN" sz="1400" smtClean="0"/>
          </a:p>
        </p:txBody>
      </p:sp>
      <p:sp>
        <p:nvSpPr>
          <p:cNvPr id="15363" name="Rectangle 4"/>
          <p:cNvSpPr>
            <a:spLocks noGrp="1" noChangeArrowheads="1"/>
          </p:cNvSpPr>
          <p:nvPr>
            <p:ph type="title"/>
          </p:nvPr>
        </p:nvSpPr>
        <p:spPr>
          <a:xfrm>
            <a:off x="0" y="12700"/>
            <a:ext cx="8178800" cy="609600"/>
          </a:xfrm>
          <a:solidFill>
            <a:srgbClr val="99CCFF"/>
          </a:solidFill>
        </p:spPr>
        <p:txBody>
          <a:bodyPr/>
          <a:lstStyle/>
          <a:p>
            <a:pPr algn="l" eaLnBrk="1" hangingPunct="1"/>
            <a:r>
              <a:rPr lang="zh-CN" altLang="en-US" smtClean="0">
                <a:solidFill>
                  <a:schemeClr val="hlink"/>
                </a:solidFill>
              </a:rPr>
              <a:t>市场调查的内容</a:t>
            </a:r>
            <a:endParaRPr lang="zh-CN" altLang="en-US" smtClean="0">
              <a:solidFill>
                <a:schemeClr val="hlink"/>
              </a:solidFill>
            </a:endParaRPr>
          </a:p>
        </p:txBody>
      </p:sp>
      <p:sp>
        <p:nvSpPr>
          <p:cNvPr id="503813" name="Rectangle 5"/>
          <p:cNvSpPr>
            <a:spLocks noGrp="1" noChangeArrowheads="1"/>
          </p:cNvSpPr>
          <p:nvPr>
            <p:ph type="body" idx="1"/>
          </p:nvPr>
        </p:nvSpPr>
        <p:spPr>
          <a:xfrm>
            <a:off x="0" y="977900"/>
            <a:ext cx="9144000" cy="5880100"/>
          </a:xfrm>
          <a:solidFill>
            <a:srgbClr val="99CCFF"/>
          </a:solidFill>
        </p:spPr>
        <p:txBody>
          <a:bodyPr/>
          <a:lstStyle/>
          <a:p>
            <a:pPr eaLnBrk="1" hangingPunct="1"/>
            <a:r>
              <a:rPr lang="zh-CN" altLang="en-US" smtClean="0"/>
              <a:t>怎样回答</a:t>
            </a:r>
            <a:endParaRPr lang="zh-CN" altLang="en-US" smtClean="0"/>
          </a:p>
          <a:p>
            <a:pPr lvl="1" eaLnBrk="1" hangingPunct="1"/>
            <a:r>
              <a:rPr lang="en-US" altLang="zh-CN" smtClean="0"/>
              <a:t>(1)</a:t>
            </a:r>
            <a:r>
              <a:rPr lang="zh-CN" altLang="en-US" smtClean="0"/>
              <a:t>市场定位：潜在买主所在的市场（找到蛋糕）</a:t>
            </a:r>
            <a:endParaRPr lang="zh-CN" altLang="en-US" smtClean="0"/>
          </a:p>
          <a:p>
            <a:pPr lvl="1" eaLnBrk="1" hangingPunct="1"/>
            <a:r>
              <a:rPr lang="en-US" altLang="zh-CN" smtClean="0"/>
              <a:t>(2)</a:t>
            </a:r>
            <a:r>
              <a:rPr lang="zh-CN" altLang="en-US" smtClean="0"/>
              <a:t>需求分析：蛋糕有多大</a:t>
            </a:r>
            <a:endParaRPr lang="zh-CN" altLang="en-US" smtClean="0"/>
          </a:p>
          <a:p>
            <a:pPr lvl="1" eaLnBrk="1" hangingPunct="1"/>
            <a:r>
              <a:rPr lang="en-US" altLang="zh-CN" smtClean="0"/>
              <a:t>(3)</a:t>
            </a:r>
            <a:r>
              <a:rPr lang="zh-CN" altLang="en-US" smtClean="0"/>
              <a:t>供给分析：有多少个人在抢蛋糕</a:t>
            </a:r>
            <a:endParaRPr lang="zh-CN" altLang="en-US" smtClean="0"/>
          </a:p>
          <a:p>
            <a:pPr lvl="1" eaLnBrk="1" hangingPunct="1"/>
            <a:r>
              <a:rPr lang="en-US" altLang="zh-CN" smtClean="0"/>
              <a:t>(4)</a:t>
            </a:r>
            <a:r>
              <a:rPr lang="zh-CN" altLang="en-US" smtClean="0"/>
              <a:t>本产品的市场潜力分析：我能够在蛋糕里吃到哪一块</a:t>
            </a:r>
            <a:endParaRPr lang="zh-CN" altLang="en-US" smtClean="0"/>
          </a:p>
          <a:p>
            <a:pPr lvl="1" eaLnBrk="1" hangingPunct="1"/>
            <a:r>
              <a:rPr lang="en-US" altLang="zh-CN" smtClean="0"/>
              <a:t>(5)</a:t>
            </a:r>
            <a:r>
              <a:rPr lang="zh-CN" altLang="en-US" smtClean="0"/>
              <a:t>本产品的价格和销售速度分析：具体怎么吃蛋糕</a:t>
            </a:r>
            <a:endParaRPr lang="zh-CN" alt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3813">
                                            <p:txEl>
                                              <p:pRg st="1" end="1"/>
                                            </p:txEl>
                                          </p:spTgt>
                                        </p:tgtEl>
                                        <p:attrNameLst>
                                          <p:attrName>style.visibility</p:attrName>
                                        </p:attrNameLst>
                                      </p:cBhvr>
                                      <p:to>
                                        <p:strVal val="visible"/>
                                      </p:to>
                                    </p:set>
                                    <p:anim calcmode="lin" valueType="num">
                                      <p:cBhvr additive="base">
                                        <p:cTn id="7" dur="500" fill="hold"/>
                                        <p:tgtEl>
                                          <p:spTgt spid="50381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38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03813">
                                            <p:txEl>
                                              <p:pRg st="2" end="2"/>
                                            </p:txEl>
                                          </p:spTgt>
                                        </p:tgtEl>
                                        <p:attrNameLst>
                                          <p:attrName>style.visibility</p:attrName>
                                        </p:attrNameLst>
                                      </p:cBhvr>
                                      <p:to>
                                        <p:strVal val="visible"/>
                                      </p:to>
                                    </p:set>
                                    <p:anim calcmode="lin" valueType="num">
                                      <p:cBhvr additive="base">
                                        <p:cTn id="13" dur="500" fill="hold"/>
                                        <p:tgtEl>
                                          <p:spTgt spid="50381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038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03813">
                                            <p:txEl>
                                              <p:pRg st="3" end="3"/>
                                            </p:txEl>
                                          </p:spTgt>
                                        </p:tgtEl>
                                        <p:attrNameLst>
                                          <p:attrName>style.visibility</p:attrName>
                                        </p:attrNameLst>
                                      </p:cBhvr>
                                      <p:to>
                                        <p:strVal val="visible"/>
                                      </p:to>
                                    </p:set>
                                    <p:anim calcmode="lin" valueType="num">
                                      <p:cBhvr additive="base">
                                        <p:cTn id="19" dur="500" fill="hold"/>
                                        <p:tgtEl>
                                          <p:spTgt spid="50381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0381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03813">
                                            <p:txEl>
                                              <p:pRg st="4" end="4"/>
                                            </p:txEl>
                                          </p:spTgt>
                                        </p:tgtEl>
                                        <p:attrNameLst>
                                          <p:attrName>style.visibility</p:attrName>
                                        </p:attrNameLst>
                                      </p:cBhvr>
                                      <p:to>
                                        <p:strVal val="visible"/>
                                      </p:to>
                                    </p:set>
                                    <p:anim calcmode="lin" valueType="num">
                                      <p:cBhvr additive="base">
                                        <p:cTn id="25" dur="500" fill="hold"/>
                                        <p:tgtEl>
                                          <p:spTgt spid="50381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0381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03813">
                                            <p:txEl>
                                              <p:pRg st="5" end="5"/>
                                            </p:txEl>
                                          </p:spTgt>
                                        </p:tgtEl>
                                        <p:attrNameLst>
                                          <p:attrName>style.visibility</p:attrName>
                                        </p:attrNameLst>
                                      </p:cBhvr>
                                      <p:to>
                                        <p:strVal val="visible"/>
                                      </p:to>
                                    </p:set>
                                    <p:anim calcmode="lin" valueType="num">
                                      <p:cBhvr additive="base">
                                        <p:cTn id="31" dur="500" fill="hold"/>
                                        <p:tgtEl>
                                          <p:spTgt spid="50381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0381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2856857-2904-4B8E-B66C-969C573DBE6C}" type="slidenum">
              <a:rPr lang="zh-CN" altLang="en-US" sz="1400" smtClean="0"/>
            </a:fld>
            <a:endParaRPr lang="en-US" altLang="zh-CN" sz="1400" smtClean="0"/>
          </a:p>
        </p:txBody>
      </p:sp>
      <p:sp>
        <p:nvSpPr>
          <p:cNvPr id="16387" name="Rectangle 4"/>
          <p:cNvSpPr>
            <a:spLocks noGrp="1" noChangeArrowheads="1"/>
          </p:cNvSpPr>
          <p:nvPr>
            <p:ph type="title"/>
          </p:nvPr>
        </p:nvSpPr>
        <p:spPr>
          <a:xfrm>
            <a:off x="0" y="12700"/>
            <a:ext cx="9144000" cy="609600"/>
          </a:xfrm>
          <a:solidFill>
            <a:srgbClr val="99CCFF"/>
          </a:solidFill>
        </p:spPr>
        <p:txBody>
          <a:bodyPr/>
          <a:lstStyle/>
          <a:p>
            <a:pPr algn="l" eaLnBrk="1" hangingPunct="1"/>
            <a:r>
              <a:rPr lang="zh-CN" altLang="en-US" sz="3600" b="1" smtClean="0">
                <a:solidFill>
                  <a:srgbClr val="CC0000"/>
                </a:solidFill>
              </a:rPr>
              <a:t>案例：房地产开发项目的市场研究</a:t>
            </a:r>
            <a:endParaRPr lang="zh-CN" altLang="en-US" sz="3600" b="1" smtClean="0">
              <a:solidFill>
                <a:srgbClr val="CC0000"/>
              </a:solidFill>
            </a:endParaRPr>
          </a:p>
        </p:txBody>
      </p:sp>
      <p:sp>
        <p:nvSpPr>
          <p:cNvPr id="16388" name="Rectangle 5"/>
          <p:cNvSpPr>
            <a:spLocks noGrp="1" noChangeArrowheads="1"/>
          </p:cNvSpPr>
          <p:nvPr>
            <p:ph type="body" idx="1"/>
          </p:nvPr>
        </p:nvSpPr>
        <p:spPr>
          <a:xfrm>
            <a:off x="0" y="977900"/>
            <a:ext cx="9144000" cy="5880100"/>
          </a:xfrm>
          <a:solidFill>
            <a:schemeClr val="accent1"/>
          </a:solidFill>
        </p:spPr>
        <p:txBody>
          <a:bodyPr/>
          <a:lstStyle/>
          <a:p>
            <a:pPr eaLnBrk="1" hangingPunct="1"/>
            <a:r>
              <a:rPr lang="zh-CN" altLang="en-US" smtClean="0"/>
              <a:t>房地产开发的市场研究要回答：</a:t>
            </a:r>
            <a:endParaRPr lang="zh-CN" altLang="en-US" smtClean="0"/>
          </a:p>
          <a:p>
            <a:pPr lvl="1" eaLnBrk="1" hangingPunct="1"/>
            <a:r>
              <a:rPr lang="zh-CN" altLang="en-US" smtClean="0"/>
              <a:t>拟建房地产项目是否能够卖出去或租出去？</a:t>
            </a:r>
            <a:endParaRPr lang="zh-CN" altLang="en-US" smtClean="0"/>
          </a:p>
          <a:p>
            <a:pPr lvl="1" eaLnBrk="1" hangingPunct="1"/>
            <a:r>
              <a:rPr lang="zh-CN" altLang="en-US" smtClean="0"/>
              <a:t>价格或租金水平能达到多少，市场吸纳速度怎样？</a:t>
            </a:r>
            <a:endParaRPr lang="zh-CN" altLang="en-US" smtClean="0"/>
          </a:p>
          <a:p>
            <a:pPr lvl="1" eaLnBrk="1" hangingPunct="1"/>
            <a:endParaRPr lang="zh-CN" altLang="en-US" smtClean="0"/>
          </a:p>
          <a:p>
            <a:pPr eaLnBrk="1" hangingPunct="1"/>
            <a:endParaRPr lang="zh-CN" altLang="en-US" smtClean="0"/>
          </a:p>
          <a:p>
            <a:pPr eaLnBrk="1" hangingPunct="1"/>
            <a:endParaRPr lang="zh-CN" altLang="en-US" sz="3600" smtClean="0"/>
          </a:p>
        </p:txBody>
      </p:sp>
      <p:pic>
        <p:nvPicPr>
          <p:cNvPr id="16389" name="Picture 6" descr="芳庄"/>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97000" y="2882900"/>
            <a:ext cx="6350000" cy="397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F880D76-0B3D-4DC1-ABFB-DA39D6A022B5}" type="slidenum">
              <a:rPr lang="zh-CN" altLang="en-US" sz="1400" smtClean="0"/>
            </a:fld>
            <a:endParaRPr lang="en-US" altLang="zh-CN" sz="1400" smtClean="0"/>
          </a:p>
        </p:txBody>
      </p:sp>
      <p:sp>
        <p:nvSpPr>
          <p:cNvPr id="17411" name="Rectangle 4"/>
          <p:cNvSpPr>
            <a:spLocks noGrp="1" noChangeArrowheads="1"/>
          </p:cNvSpPr>
          <p:nvPr>
            <p:ph type="title"/>
          </p:nvPr>
        </p:nvSpPr>
        <p:spPr>
          <a:xfrm>
            <a:off x="0" y="12700"/>
            <a:ext cx="8178800" cy="609600"/>
          </a:xfrm>
          <a:solidFill>
            <a:srgbClr val="99CCFF"/>
          </a:solidFill>
        </p:spPr>
        <p:txBody>
          <a:bodyPr/>
          <a:lstStyle/>
          <a:p>
            <a:pPr algn="l" eaLnBrk="1" hangingPunct="1"/>
            <a:r>
              <a:rPr lang="en-US" altLang="zh-CN" smtClean="0">
                <a:solidFill>
                  <a:srgbClr val="CC0000"/>
                </a:solidFill>
              </a:rPr>
              <a:t>(1) </a:t>
            </a:r>
            <a:r>
              <a:rPr lang="zh-CN" altLang="en-US" smtClean="0">
                <a:solidFill>
                  <a:srgbClr val="CC0000"/>
                </a:solidFill>
              </a:rPr>
              <a:t>市场定位</a:t>
            </a:r>
            <a:endParaRPr lang="zh-CN" altLang="en-US" smtClean="0">
              <a:solidFill>
                <a:srgbClr val="CC0000"/>
              </a:solidFill>
            </a:endParaRPr>
          </a:p>
        </p:txBody>
      </p:sp>
      <p:sp>
        <p:nvSpPr>
          <p:cNvPr id="17412" name="Rectangle 5"/>
          <p:cNvSpPr>
            <a:spLocks noGrp="1" noChangeArrowheads="1"/>
          </p:cNvSpPr>
          <p:nvPr>
            <p:ph type="body" idx="1"/>
          </p:nvPr>
        </p:nvSpPr>
        <p:spPr>
          <a:xfrm>
            <a:off x="0" y="977900"/>
            <a:ext cx="9144000" cy="5880100"/>
          </a:xfrm>
          <a:solidFill>
            <a:srgbClr val="99CCFF"/>
          </a:solidFill>
        </p:spPr>
        <p:txBody>
          <a:bodyPr/>
          <a:lstStyle/>
          <a:p>
            <a:pPr eaLnBrk="1" hangingPunct="1"/>
            <a:r>
              <a:rPr lang="zh-CN" altLang="en-US" smtClean="0"/>
              <a:t>产品的目标市场是潜在买主所在的市场</a:t>
            </a:r>
            <a:endParaRPr lang="zh-CN" altLang="en-US" smtClean="0"/>
          </a:p>
          <a:p>
            <a:pPr eaLnBrk="1" hangingPunct="1"/>
            <a:r>
              <a:rPr lang="zh-CN" altLang="en-US" smtClean="0"/>
              <a:t>例子</a:t>
            </a:r>
            <a:endParaRPr lang="zh-CN" altLang="en-US" smtClean="0"/>
          </a:p>
          <a:p>
            <a:pPr lvl="1" eaLnBrk="1" hangingPunct="1"/>
            <a:r>
              <a:rPr lang="zh-CN" altLang="en-US" smtClean="0"/>
              <a:t>清河的华润“橡树湾”项目：清华北大、中关村和中科院附近高学历、从事智力工作的年轻购房群体</a:t>
            </a:r>
            <a:endParaRPr lang="zh-CN" altLang="en-US" smtClean="0"/>
          </a:p>
          <a:p>
            <a:pPr lvl="1" eaLnBrk="1" hangingPunct="1"/>
            <a:r>
              <a:rPr lang="zh-CN" altLang="en-US" smtClean="0"/>
              <a:t>方庄某普通住宅项目：在方庄附近就业和生活的，住房支付能力中等的普通居民</a:t>
            </a:r>
            <a:endParaRPr lang="zh-CN" altLang="en-US" smtClean="0"/>
          </a:p>
          <a:p>
            <a:pPr lvl="1" eaLnBrk="1" hangingPunct="1"/>
            <a:r>
              <a:rPr lang="zh-CN" altLang="en-US" smtClean="0"/>
              <a:t>某</a:t>
            </a:r>
            <a:r>
              <a:rPr lang="en-US" altLang="zh-CN" smtClean="0"/>
              <a:t>Central Business District (CBD) </a:t>
            </a:r>
            <a:r>
              <a:rPr lang="zh-CN" altLang="en-US" smtClean="0"/>
              <a:t>超甲级写字楼：世界</a:t>
            </a:r>
            <a:r>
              <a:rPr lang="en-US" altLang="zh-CN" smtClean="0"/>
              <a:t>500</a:t>
            </a:r>
            <a:r>
              <a:rPr lang="zh-CN" altLang="en-US" smtClean="0"/>
              <a:t>强和类似知名企业在北京的子公司和办事处</a:t>
            </a:r>
            <a:endParaRPr lang="zh-CN" altLang="en-US" smtClean="0"/>
          </a:p>
          <a:p>
            <a:pPr eaLnBrk="1" hangingPunct="1"/>
            <a:endParaRPr lang="zh-CN" altLang="en-US" sz="280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A0DDD30-7F57-47FB-9EAD-35482F4C127F}" type="slidenum">
              <a:rPr lang="zh-CN" altLang="en-US" sz="1400" smtClean="0"/>
            </a:fld>
            <a:endParaRPr lang="en-US" altLang="zh-CN" sz="1400" smtClean="0"/>
          </a:p>
        </p:txBody>
      </p:sp>
      <p:sp>
        <p:nvSpPr>
          <p:cNvPr id="18435" name="Rectangle 4"/>
          <p:cNvSpPr>
            <a:spLocks noGrp="1" noChangeArrowheads="1"/>
          </p:cNvSpPr>
          <p:nvPr>
            <p:ph type="title"/>
          </p:nvPr>
        </p:nvSpPr>
        <p:spPr>
          <a:xfrm>
            <a:off x="0" y="12700"/>
            <a:ext cx="8178800" cy="609600"/>
          </a:xfrm>
          <a:solidFill>
            <a:srgbClr val="99CCFF"/>
          </a:solidFill>
        </p:spPr>
        <p:txBody>
          <a:bodyPr/>
          <a:lstStyle/>
          <a:p>
            <a:pPr algn="l" eaLnBrk="1" hangingPunct="1"/>
            <a:r>
              <a:rPr lang="en-US" altLang="zh-CN" smtClean="0">
                <a:solidFill>
                  <a:srgbClr val="CC0000"/>
                </a:solidFill>
              </a:rPr>
              <a:t>(2) </a:t>
            </a:r>
            <a:r>
              <a:rPr lang="zh-CN" altLang="en-US" smtClean="0">
                <a:solidFill>
                  <a:srgbClr val="CC0000"/>
                </a:solidFill>
              </a:rPr>
              <a:t>需求分析</a:t>
            </a:r>
            <a:endParaRPr lang="zh-CN" altLang="en-US" smtClean="0">
              <a:solidFill>
                <a:srgbClr val="CC0000"/>
              </a:solidFill>
            </a:endParaRPr>
          </a:p>
        </p:txBody>
      </p:sp>
      <p:sp>
        <p:nvSpPr>
          <p:cNvPr id="506885" name="Rectangle 5"/>
          <p:cNvSpPr>
            <a:spLocks noGrp="1" noChangeArrowheads="1"/>
          </p:cNvSpPr>
          <p:nvPr>
            <p:ph type="body" idx="1"/>
          </p:nvPr>
        </p:nvSpPr>
        <p:spPr>
          <a:xfrm>
            <a:off x="0" y="977900"/>
            <a:ext cx="9144000" cy="5880100"/>
          </a:xfrm>
          <a:solidFill>
            <a:srgbClr val="99CCFF"/>
          </a:solidFill>
        </p:spPr>
        <p:txBody>
          <a:bodyPr/>
          <a:lstStyle/>
          <a:p>
            <a:pPr eaLnBrk="1" hangingPunct="1"/>
            <a:r>
              <a:rPr lang="zh-CN" altLang="en-US" sz="2400" b="1" smtClean="0"/>
              <a:t>需求影响因素</a:t>
            </a:r>
            <a:endParaRPr lang="zh-CN" altLang="en-US" sz="2400" b="1" smtClean="0"/>
          </a:p>
          <a:p>
            <a:pPr lvl="1" eaLnBrk="1" hangingPunct="1"/>
            <a:r>
              <a:rPr lang="zh-CN" altLang="en-US" sz="2000" b="1" smtClean="0"/>
              <a:t>国家、城市和周边区域的经济状况都会影响房地产需求，其中周边区域的状况最为重要：</a:t>
            </a:r>
            <a:endParaRPr lang="en-US" altLang="zh-CN" sz="2000" b="1" smtClean="0"/>
          </a:p>
          <a:p>
            <a:pPr lvl="1" eaLnBrk="1" hangingPunct="1"/>
            <a:r>
              <a:rPr lang="zh-CN" altLang="en-US" sz="2000" b="1" smtClean="0"/>
              <a:t>国家：</a:t>
            </a:r>
            <a:r>
              <a:rPr lang="en-US" altLang="zh-CN" sz="2000" b="1" smtClean="0"/>
              <a:t>GDP</a:t>
            </a:r>
            <a:r>
              <a:rPr lang="zh-CN" altLang="en-US" sz="2000" b="1" smtClean="0"/>
              <a:t>、利率、通货膨胀、失业率</a:t>
            </a:r>
            <a:r>
              <a:rPr lang="en-US" altLang="zh-CN" sz="2000" b="1" smtClean="0"/>
              <a:t>……</a:t>
            </a:r>
            <a:endParaRPr lang="en-US" altLang="zh-CN" sz="2000" b="1" smtClean="0"/>
          </a:p>
          <a:p>
            <a:pPr lvl="1" eaLnBrk="1" hangingPunct="1"/>
            <a:r>
              <a:rPr lang="zh-CN" altLang="en-US" sz="2000" b="1" smtClean="0"/>
              <a:t>城市：城市经济、产业结构、人口增长</a:t>
            </a:r>
            <a:endParaRPr lang="zh-CN" altLang="en-US" sz="2000" b="1" smtClean="0"/>
          </a:p>
          <a:p>
            <a:pPr lvl="1" eaLnBrk="1" hangingPunct="1"/>
            <a:r>
              <a:rPr lang="zh-CN" altLang="en-US" sz="2000" b="1" smtClean="0"/>
              <a:t>周边区域：人口结构、经济繁荣程度、收入水平</a:t>
            </a:r>
            <a:r>
              <a:rPr lang="en-US" altLang="zh-CN" sz="2000" b="1" smtClean="0"/>
              <a:t>……</a:t>
            </a:r>
            <a:endParaRPr lang="en-US" altLang="zh-CN" sz="2000" b="1" smtClean="0"/>
          </a:p>
          <a:p>
            <a:pPr lvl="2" eaLnBrk="1" hangingPunct="1"/>
            <a:endParaRPr lang="en-US" altLang="zh-CN" sz="2000" b="1" smtClean="0"/>
          </a:p>
          <a:p>
            <a:pPr eaLnBrk="1" hangingPunct="1"/>
            <a:r>
              <a:rPr lang="zh-CN" altLang="en-US" sz="2400" b="1" smtClean="0"/>
              <a:t>不同物业类型的需求影响因素有差异</a:t>
            </a:r>
            <a:endParaRPr lang="zh-CN" altLang="en-US" sz="2400" b="1" smtClean="0"/>
          </a:p>
          <a:p>
            <a:pPr lvl="1" eaLnBrk="1" hangingPunct="1"/>
            <a:r>
              <a:rPr lang="en-US" altLang="zh-CN" sz="2000" b="1" smtClean="0"/>
              <a:t>1) </a:t>
            </a:r>
            <a:r>
              <a:rPr lang="zh-CN" altLang="en-US" sz="2000" b="1" smtClean="0"/>
              <a:t>住宅</a:t>
            </a:r>
            <a:endParaRPr lang="zh-CN" altLang="en-US" sz="2000" b="1" smtClean="0"/>
          </a:p>
          <a:p>
            <a:pPr lvl="2" eaLnBrk="1" hangingPunct="1"/>
            <a:r>
              <a:rPr lang="zh-CN" altLang="en-US" sz="2000" b="1" smtClean="0"/>
              <a:t>人口增长、家庭构成、年龄和家庭特征、收入及消费偏好</a:t>
            </a:r>
            <a:endParaRPr lang="zh-CN" altLang="en-US" sz="2000" b="1" smtClean="0"/>
          </a:p>
          <a:p>
            <a:pPr lvl="1" eaLnBrk="1" hangingPunct="1"/>
            <a:r>
              <a:rPr lang="en-US" altLang="zh-CN" sz="2000" b="1" smtClean="0"/>
              <a:t>2) </a:t>
            </a:r>
            <a:r>
              <a:rPr lang="zh-CN" altLang="en-US" sz="2000" b="1" smtClean="0"/>
              <a:t>写字楼</a:t>
            </a:r>
            <a:endParaRPr lang="zh-CN" altLang="en-US" sz="2000" b="1" smtClean="0"/>
          </a:p>
          <a:p>
            <a:pPr lvl="2" eaLnBrk="1" hangingPunct="1"/>
            <a:r>
              <a:rPr lang="zh-CN" altLang="en-US" sz="2000" b="1" smtClean="0"/>
              <a:t>银行业、保险业、法律服务业、商业服务业、咨询业的规模</a:t>
            </a:r>
            <a:endParaRPr lang="zh-CN" altLang="en-US" sz="2000" b="1" smtClean="0"/>
          </a:p>
          <a:p>
            <a:pPr lvl="1" eaLnBrk="1" hangingPunct="1"/>
            <a:r>
              <a:rPr lang="en-US" altLang="zh-CN" sz="2000" b="1" smtClean="0"/>
              <a:t>3) </a:t>
            </a:r>
            <a:r>
              <a:rPr lang="zh-CN" altLang="en-US" sz="2000" b="1" smtClean="0"/>
              <a:t>酒店</a:t>
            </a:r>
            <a:endParaRPr lang="zh-CN" altLang="en-US" sz="2000" b="1" smtClean="0"/>
          </a:p>
          <a:p>
            <a:pPr lvl="2" eaLnBrk="1" hangingPunct="1"/>
            <a:r>
              <a:rPr lang="zh-CN" altLang="en-US" sz="2000" b="1" smtClean="0"/>
              <a:t>当地旅游、会议和商务访问的持续性发展</a:t>
            </a:r>
            <a:endParaRPr lang="zh-CN" altLang="en-US" sz="2000" b="1" smtClean="0"/>
          </a:p>
          <a:p>
            <a:pPr lvl="1" eaLnBrk="1" hangingPunct="1"/>
            <a:endParaRPr lang="en-US" altLang="zh-CN" sz="2000" b="1" smtClean="0"/>
          </a:p>
          <a:p>
            <a:pPr lvl="1" eaLnBrk="1" hangingPunct="1"/>
            <a:endParaRPr lang="zh-CN" altLang="en-US" sz="24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06885">
                                            <p:txEl>
                                              <p:pRg st="6" end="6"/>
                                            </p:txEl>
                                          </p:spTgt>
                                        </p:tgtEl>
                                        <p:attrNameLst>
                                          <p:attrName>style.visibility</p:attrName>
                                        </p:attrNameLst>
                                      </p:cBhvr>
                                      <p:to>
                                        <p:strVal val="visible"/>
                                      </p:to>
                                    </p:set>
                                    <p:animEffect transition="in" filter="blinds(horizontal)">
                                      <p:cBhvr>
                                        <p:cTn id="7" dur="500"/>
                                        <p:tgtEl>
                                          <p:spTgt spid="506885">
                                            <p:txEl>
                                              <p:pRg st="6" end="6"/>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06885">
                                            <p:txEl>
                                              <p:pRg st="7" end="7"/>
                                            </p:txEl>
                                          </p:spTgt>
                                        </p:tgtEl>
                                        <p:attrNameLst>
                                          <p:attrName>style.visibility</p:attrName>
                                        </p:attrNameLst>
                                      </p:cBhvr>
                                      <p:to>
                                        <p:strVal val="visible"/>
                                      </p:to>
                                    </p:set>
                                    <p:animEffect transition="in" filter="blinds(horizontal)">
                                      <p:cBhvr>
                                        <p:cTn id="10" dur="500"/>
                                        <p:tgtEl>
                                          <p:spTgt spid="506885">
                                            <p:txEl>
                                              <p:pRg st="7" end="7"/>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06885">
                                            <p:txEl>
                                              <p:pRg st="8" end="8"/>
                                            </p:txEl>
                                          </p:spTgt>
                                        </p:tgtEl>
                                        <p:attrNameLst>
                                          <p:attrName>style.visibility</p:attrName>
                                        </p:attrNameLst>
                                      </p:cBhvr>
                                      <p:to>
                                        <p:strVal val="visible"/>
                                      </p:to>
                                    </p:set>
                                    <p:animEffect transition="in" filter="blinds(horizontal)">
                                      <p:cBhvr>
                                        <p:cTn id="13" dur="500"/>
                                        <p:tgtEl>
                                          <p:spTgt spid="506885">
                                            <p:txEl>
                                              <p:pRg st="8" end="8"/>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06885">
                                            <p:txEl>
                                              <p:pRg st="9" end="9"/>
                                            </p:txEl>
                                          </p:spTgt>
                                        </p:tgtEl>
                                        <p:attrNameLst>
                                          <p:attrName>style.visibility</p:attrName>
                                        </p:attrNameLst>
                                      </p:cBhvr>
                                      <p:to>
                                        <p:strVal val="visible"/>
                                      </p:to>
                                    </p:set>
                                    <p:animEffect transition="in" filter="blinds(horizontal)">
                                      <p:cBhvr>
                                        <p:cTn id="18" dur="500"/>
                                        <p:tgtEl>
                                          <p:spTgt spid="506885">
                                            <p:txEl>
                                              <p:pRg st="9" end="9"/>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506885">
                                            <p:txEl>
                                              <p:pRg st="10" end="10"/>
                                            </p:txEl>
                                          </p:spTgt>
                                        </p:tgtEl>
                                        <p:attrNameLst>
                                          <p:attrName>style.visibility</p:attrName>
                                        </p:attrNameLst>
                                      </p:cBhvr>
                                      <p:to>
                                        <p:strVal val="visible"/>
                                      </p:to>
                                    </p:set>
                                    <p:animEffect transition="in" filter="blinds(horizontal)">
                                      <p:cBhvr>
                                        <p:cTn id="21" dur="500"/>
                                        <p:tgtEl>
                                          <p:spTgt spid="506885">
                                            <p:txEl>
                                              <p:pRg st="10" end="1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506885">
                                            <p:txEl>
                                              <p:pRg st="11" end="11"/>
                                            </p:txEl>
                                          </p:spTgt>
                                        </p:tgtEl>
                                        <p:attrNameLst>
                                          <p:attrName>style.visibility</p:attrName>
                                        </p:attrNameLst>
                                      </p:cBhvr>
                                      <p:to>
                                        <p:strVal val="visible"/>
                                      </p:to>
                                    </p:set>
                                    <p:animEffect transition="in" filter="blinds(horizontal)">
                                      <p:cBhvr>
                                        <p:cTn id="26" dur="500"/>
                                        <p:tgtEl>
                                          <p:spTgt spid="506885">
                                            <p:txEl>
                                              <p:pRg st="11" end="11"/>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506885">
                                            <p:txEl>
                                              <p:pRg st="12" end="12"/>
                                            </p:txEl>
                                          </p:spTgt>
                                        </p:tgtEl>
                                        <p:attrNameLst>
                                          <p:attrName>style.visibility</p:attrName>
                                        </p:attrNameLst>
                                      </p:cBhvr>
                                      <p:to>
                                        <p:strVal val="visible"/>
                                      </p:to>
                                    </p:set>
                                    <p:animEffect transition="in" filter="blinds(horizontal)">
                                      <p:cBhvr>
                                        <p:cTn id="29" dur="500"/>
                                        <p:tgtEl>
                                          <p:spTgt spid="50688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3AE4D70-E9FE-4864-B9E6-FC236A45552E}" type="slidenum">
              <a:rPr lang="zh-CN" altLang="en-US" sz="1400" smtClean="0"/>
            </a:fld>
            <a:endParaRPr lang="en-US" altLang="zh-CN" sz="1400" smtClean="0"/>
          </a:p>
        </p:txBody>
      </p:sp>
      <p:sp>
        <p:nvSpPr>
          <p:cNvPr id="19459" name="Rectangle 4"/>
          <p:cNvSpPr>
            <a:spLocks noGrp="1" noChangeArrowheads="1"/>
          </p:cNvSpPr>
          <p:nvPr>
            <p:ph type="title"/>
          </p:nvPr>
        </p:nvSpPr>
        <p:spPr>
          <a:xfrm>
            <a:off x="0" y="12700"/>
            <a:ext cx="8178800" cy="609600"/>
          </a:xfrm>
          <a:solidFill>
            <a:srgbClr val="99CCFF"/>
          </a:solidFill>
        </p:spPr>
        <p:txBody>
          <a:bodyPr/>
          <a:lstStyle/>
          <a:p>
            <a:pPr algn="l" eaLnBrk="1" hangingPunct="1"/>
            <a:r>
              <a:rPr lang="en-US" altLang="zh-CN" smtClean="0">
                <a:solidFill>
                  <a:srgbClr val="CC0000"/>
                </a:solidFill>
              </a:rPr>
              <a:t>(3) </a:t>
            </a:r>
            <a:r>
              <a:rPr lang="zh-CN" altLang="en-US" smtClean="0">
                <a:solidFill>
                  <a:srgbClr val="CC0000"/>
                </a:solidFill>
              </a:rPr>
              <a:t>供给分析</a:t>
            </a:r>
            <a:endParaRPr lang="zh-CN" altLang="en-US" smtClean="0">
              <a:solidFill>
                <a:srgbClr val="CC0000"/>
              </a:solidFill>
            </a:endParaRPr>
          </a:p>
        </p:txBody>
      </p:sp>
      <p:sp>
        <p:nvSpPr>
          <p:cNvPr id="19460" name="Rectangle 5"/>
          <p:cNvSpPr>
            <a:spLocks noGrp="1" noChangeArrowheads="1"/>
          </p:cNvSpPr>
          <p:nvPr>
            <p:ph type="body" idx="1"/>
          </p:nvPr>
        </p:nvSpPr>
        <p:spPr>
          <a:xfrm>
            <a:off x="0" y="977900"/>
            <a:ext cx="9144000" cy="5880100"/>
          </a:xfrm>
          <a:solidFill>
            <a:srgbClr val="99CCFF"/>
          </a:solidFill>
        </p:spPr>
        <p:txBody>
          <a:bodyPr/>
          <a:lstStyle/>
          <a:p>
            <a:pPr eaLnBrk="1" hangingPunct="1"/>
            <a:r>
              <a:rPr lang="en-US" altLang="zh-CN" smtClean="0"/>
              <a:t>1) </a:t>
            </a:r>
            <a:r>
              <a:rPr lang="zh-CN" altLang="en-US" smtClean="0"/>
              <a:t>宏观市场条件</a:t>
            </a:r>
            <a:endParaRPr lang="zh-CN" altLang="en-US" smtClean="0"/>
          </a:p>
          <a:p>
            <a:pPr lvl="1" eaLnBrk="1" hangingPunct="1"/>
            <a:r>
              <a:rPr lang="zh-CN" altLang="en-US" smtClean="0"/>
              <a:t>目前存量建筑的面积、平均价格</a:t>
            </a:r>
            <a:r>
              <a:rPr lang="en-US" altLang="zh-CN" smtClean="0"/>
              <a:t>/</a:t>
            </a:r>
            <a:r>
              <a:rPr lang="zh-CN" altLang="en-US" smtClean="0"/>
              <a:t>租金、空置率的历史变化趋势和当前情况</a:t>
            </a:r>
            <a:endParaRPr lang="zh-CN" altLang="en-US" smtClean="0"/>
          </a:p>
          <a:p>
            <a:pPr lvl="1" eaLnBrk="1" hangingPunct="1"/>
            <a:endParaRPr lang="zh-CN" altLang="en-US" smtClean="0"/>
          </a:p>
          <a:p>
            <a:pPr eaLnBrk="1" hangingPunct="1"/>
            <a:r>
              <a:rPr lang="en-US" altLang="zh-CN" smtClean="0"/>
              <a:t>2) </a:t>
            </a:r>
            <a:r>
              <a:rPr lang="zh-CN" altLang="en-US" smtClean="0"/>
              <a:t>周边区域的建设活动</a:t>
            </a:r>
            <a:endParaRPr lang="zh-CN" altLang="en-US" smtClean="0"/>
          </a:p>
          <a:p>
            <a:pPr lvl="1" eaLnBrk="1" hangingPunct="1"/>
            <a:r>
              <a:rPr lang="zh-CN" altLang="en-US" smtClean="0"/>
              <a:t>周边正在建设的和正处于融资或动工阶段的开发项目，影响到本项目竣工时的市场供给</a:t>
            </a:r>
            <a:endParaRPr lang="zh-CN" altLang="en-US" smtClean="0"/>
          </a:p>
          <a:p>
            <a:pPr lvl="1" eaLnBrk="1" hangingPunct="1"/>
            <a:endParaRPr lang="zh-CN" altLang="en-US" smtClean="0"/>
          </a:p>
          <a:p>
            <a:pPr eaLnBrk="1" hangingPunct="1"/>
            <a:r>
              <a:rPr lang="en-US" altLang="zh-CN" smtClean="0"/>
              <a:t>3) </a:t>
            </a:r>
            <a:r>
              <a:rPr lang="zh-CN" altLang="en-US" smtClean="0"/>
              <a:t>现有的和潜在的具有竞争力的建筑物特点和表现情况</a:t>
            </a:r>
            <a:endParaRPr lang="zh-CN" altLang="en-US" smtClean="0"/>
          </a:p>
          <a:p>
            <a:pPr lvl="1" eaLnBrk="1" hangingPunct="1"/>
            <a:r>
              <a:rPr lang="zh-CN" altLang="en-US" smtClean="0"/>
              <a:t>与本项目目标客户群类似的竞争对手目前表现</a:t>
            </a:r>
            <a:endParaRPr lang="zh-CN" altLang="en-US" smtClean="0"/>
          </a:p>
          <a:p>
            <a:pPr eaLnBrk="1" hangingPunct="1"/>
            <a:endParaRPr lang="zh-CN" altLang="en-US" sz="240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6ED6206-CA4A-411E-8D21-ACA2308A9FB9}" type="slidenum">
              <a:rPr lang="zh-CN" altLang="en-US" sz="1400" smtClean="0"/>
            </a:fld>
            <a:endParaRPr lang="en-US" altLang="zh-CN" sz="1400" smtClean="0"/>
          </a:p>
        </p:txBody>
      </p:sp>
      <p:sp>
        <p:nvSpPr>
          <p:cNvPr id="20483" name="Rectangle 4"/>
          <p:cNvSpPr>
            <a:spLocks noGrp="1" noChangeArrowheads="1"/>
          </p:cNvSpPr>
          <p:nvPr>
            <p:ph type="title"/>
          </p:nvPr>
        </p:nvSpPr>
        <p:spPr>
          <a:xfrm>
            <a:off x="0" y="260350"/>
            <a:ext cx="9540875" cy="609600"/>
          </a:xfrm>
          <a:solidFill>
            <a:srgbClr val="99CCFF"/>
          </a:solidFill>
        </p:spPr>
        <p:txBody>
          <a:bodyPr/>
          <a:lstStyle/>
          <a:p>
            <a:pPr algn="l" eaLnBrk="1" hangingPunct="1"/>
            <a:r>
              <a:rPr lang="en-US" altLang="zh-CN" sz="3600" b="1" smtClean="0">
                <a:solidFill>
                  <a:srgbClr val="CC0000"/>
                </a:solidFill>
              </a:rPr>
              <a:t>(4) </a:t>
            </a:r>
            <a:r>
              <a:rPr lang="zh-CN" altLang="en-US" sz="3600" b="1" smtClean="0">
                <a:solidFill>
                  <a:srgbClr val="CC0000"/>
                </a:solidFill>
              </a:rPr>
              <a:t>本项目的优劣势评价（类似于</a:t>
            </a:r>
            <a:r>
              <a:rPr lang="en-US" altLang="zh-CN" sz="3600" b="1" smtClean="0">
                <a:solidFill>
                  <a:srgbClr val="CC0000"/>
                </a:solidFill>
              </a:rPr>
              <a:t>SWOT</a:t>
            </a:r>
            <a:r>
              <a:rPr lang="zh-CN" altLang="en-US" sz="3600" b="1" smtClean="0">
                <a:solidFill>
                  <a:srgbClr val="CC0000"/>
                </a:solidFill>
              </a:rPr>
              <a:t>）</a:t>
            </a:r>
            <a:endParaRPr lang="zh-CN" altLang="en-US" sz="3600" b="1" smtClean="0">
              <a:solidFill>
                <a:srgbClr val="CC0000"/>
              </a:solidFill>
            </a:endParaRPr>
          </a:p>
        </p:txBody>
      </p:sp>
      <p:sp>
        <p:nvSpPr>
          <p:cNvPr id="20484" name="Rectangle 5"/>
          <p:cNvSpPr>
            <a:spLocks noGrp="1" noChangeArrowheads="1"/>
          </p:cNvSpPr>
          <p:nvPr>
            <p:ph type="body" idx="1"/>
          </p:nvPr>
        </p:nvSpPr>
        <p:spPr>
          <a:xfrm>
            <a:off x="0" y="977900"/>
            <a:ext cx="9144000" cy="5880100"/>
          </a:xfrm>
          <a:solidFill>
            <a:schemeClr val="accent1"/>
          </a:solidFill>
        </p:spPr>
        <p:txBody>
          <a:bodyPr/>
          <a:lstStyle/>
          <a:p>
            <a:pPr eaLnBrk="1" hangingPunct="1"/>
            <a:r>
              <a:rPr lang="zh-CN" altLang="en-US" smtClean="0"/>
              <a:t>项目优劣势评价</a:t>
            </a:r>
            <a:endParaRPr lang="zh-CN" altLang="en-US" smtClean="0"/>
          </a:p>
          <a:p>
            <a:pPr lvl="1" eaLnBrk="1" hangingPunct="1"/>
            <a:r>
              <a:rPr lang="zh-CN" altLang="en-US" smtClean="0"/>
              <a:t>区位、建造质量、价格租金、建造成本、物业管理、特色声誉、宣传推广</a:t>
            </a:r>
            <a:r>
              <a:rPr lang="en-US" altLang="zh-CN" smtClean="0"/>
              <a:t>……</a:t>
            </a:r>
            <a:endParaRPr lang="en-US" altLang="zh-CN" smtClean="0"/>
          </a:p>
          <a:p>
            <a:pPr eaLnBrk="1" hangingPunct="1"/>
            <a:r>
              <a:rPr lang="zh-CN" altLang="en-US" smtClean="0"/>
              <a:t>与竞争对手相比较</a:t>
            </a:r>
            <a:endParaRPr lang="zh-CN" altLang="en-US" smtClean="0"/>
          </a:p>
          <a:p>
            <a:pPr lvl="1" eaLnBrk="1" hangingPunct="1"/>
            <a:r>
              <a:rPr lang="zh-CN" altLang="en-US" smtClean="0"/>
              <a:t>在上述方面和竞争对手的比较</a:t>
            </a:r>
            <a:endParaRPr lang="zh-CN" altLang="en-US" smtClean="0"/>
          </a:p>
          <a:p>
            <a:pPr lvl="1" eaLnBrk="1" hangingPunct="1"/>
            <a:r>
              <a:rPr lang="zh-CN" altLang="en-US" smtClean="0"/>
              <a:t>我自己的比较优势</a:t>
            </a:r>
            <a:r>
              <a:rPr lang="en-US" altLang="zh-CN" smtClean="0"/>
              <a:t>(Comparative advantage)</a:t>
            </a:r>
            <a:r>
              <a:rPr lang="zh-CN" altLang="en-US" smtClean="0"/>
              <a:t>在哪里？</a:t>
            </a:r>
            <a:endParaRPr lang="zh-CN" altLang="en-US" smtClean="0"/>
          </a:p>
          <a:p>
            <a:pPr eaLnBrk="1" hangingPunct="1"/>
            <a:r>
              <a:rPr lang="zh-CN" altLang="en-US" smtClean="0"/>
              <a:t>我能够抢到多少需求？</a:t>
            </a:r>
            <a:endParaRPr lang="zh-CN" altLang="en-US" smtClean="0"/>
          </a:p>
          <a:p>
            <a:pPr lvl="1" eaLnBrk="1" hangingPunct="1"/>
            <a:endParaRPr lang="zh-CN" altLang="en-US"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71FADC0-2123-4179-8EFB-ECDA2E5499FE}" type="slidenum">
              <a:rPr lang="zh-CN" altLang="en-US" sz="1400" smtClean="0"/>
            </a:fld>
            <a:endParaRPr lang="en-US" altLang="zh-CN" sz="1400" smtClean="0"/>
          </a:p>
        </p:txBody>
      </p:sp>
      <p:sp>
        <p:nvSpPr>
          <p:cNvPr id="21507" name="Rectangle 4"/>
          <p:cNvSpPr>
            <a:spLocks noGrp="1" noChangeArrowheads="1"/>
          </p:cNvSpPr>
          <p:nvPr>
            <p:ph type="title"/>
          </p:nvPr>
        </p:nvSpPr>
        <p:spPr>
          <a:xfrm>
            <a:off x="0" y="12700"/>
            <a:ext cx="8178800" cy="609600"/>
          </a:xfrm>
          <a:solidFill>
            <a:srgbClr val="99CCFF"/>
          </a:solidFill>
        </p:spPr>
        <p:txBody>
          <a:bodyPr/>
          <a:lstStyle/>
          <a:p>
            <a:pPr algn="l" eaLnBrk="1" hangingPunct="1"/>
            <a:r>
              <a:rPr lang="en-US" altLang="zh-CN" smtClean="0">
                <a:solidFill>
                  <a:srgbClr val="CC0000"/>
                </a:solidFill>
              </a:rPr>
              <a:t>(5)</a:t>
            </a:r>
            <a:r>
              <a:rPr lang="zh-CN" altLang="en-US" smtClean="0">
                <a:solidFill>
                  <a:srgbClr val="CC0000"/>
                </a:solidFill>
              </a:rPr>
              <a:t> 本项目的价格和销售速度</a:t>
            </a:r>
            <a:endParaRPr lang="zh-CN" altLang="en-US" smtClean="0">
              <a:solidFill>
                <a:srgbClr val="CC0000"/>
              </a:solidFill>
            </a:endParaRPr>
          </a:p>
        </p:txBody>
      </p:sp>
      <p:sp>
        <p:nvSpPr>
          <p:cNvPr id="21508" name="Rectangle 5"/>
          <p:cNvSpPr>
            <a:spLocks noGrp="1" noChangeArrowheads="1"/>
          </p:cNvSpPr>
          <p:nvPr>
            <p:ph type="body" idx="1"/>
          </p:nvPr>
        </p:nvSpPr>
        <p:spPr>
          <a:xfrm>
            <a:off x="0" y="977900"/>
            <a:ext cx="9144000" cy="5880100"/>
          </a:xfrm>
          <a:solidFill>
            <a:srgbClr val="99CCFF"/>
          </a:solidFill>
        </p:spPr>
        <p:txBody>
          <a:bodyPr/>
          <a:lstStyle/>
          <a:p>
            <a:pPr eaLnBrk="1" hangingPunct="1"/>
            <a:r>
              <a:rPr lang="zh-CN" altLang="en-US" smtClean="0"/>
              <a:t>能够实现的价格</a:t>
            </a:r>
            <a:r>
              <a:rPr lang="en-US" altLang="zh-CN" smtClean="0"/>
              <a:t>/</a:t>
            </a:r>
            <a:r>
              <a:rPr lang="zh-CN" altLang="en-US" smtClean="0"/>
              <a:t>租金和总收入是多少？</a:t>
            </a:r>
            <a:endParaRPr lang="zh-CN" altLang="en-US" smtClean="0"/>
          </a:p>
          <a:p>
            <a:pPr eaLnBrk="1" hangingPunct="1"/>
            <a:r>
              <a:rPr lang="zh-CN" altLang="en-US" smtClean="0"/>
              <a:t>项目预期在多长时间完成销售</a:t>
            </a:r>
            <a:r>
              <a:rPr lang="en-US" altLang="zh-CN" smtClean="0"/>
              <a:t>/</a:t>
            </a:r>
            <a:r>
              <a:rPr lang="zh-CN" altLang="en-US" smtClean="0"/>
              <a:t>租赁？</a:t>
            </a:r>
            <a:endParaRPr lang="zh-CN" altLang="en-US" smtClean="0"/>
          </a:p>
          <a:p>
            <a:pPr eaLnBrk="1" hangingPunct="1"/>
            <a:r>
              <a:rPr lang="zh-CN" altLang="en-US" smtClean="0"/>
              <a:t>每个月的销售计划是什么？</a:t>
            </a:r>
            <a:endParaRPr lang="zh-CN" altLang="en-US" smtClean="0"/>
          </a:p>
          <a:p>
            <a:pPr eaLnBrk="1" hangingPunct="1"/>
            <a:endParaRPr lang="zh-CN" altLang="en-US"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26241FD-5F11-4CCE-829F-E8CDB1420FD8}" type="slidenum">
              <a:rPr lang="zh-CN" altLang="en-US" sz="1400" smtClean="0"/>
            </a:fld>
            <a:endParaRPr lang="en-US" altLang="zh-CN" sz="1400" smtClean="0"/>
          </a:p>
        </p:txBody>
      </p:sp>
      <p:sp>
        <p:nvSpPr>
          <p:cNvPr id="22531" name="Rectangle 4"/>
          <p:cNvSpPr>
            <a:spLocks noGrp="1" noChangeArrowheads="1"/>
          </p:cNvSpPr>
          <p:nvPr>
            <p:ph type="title"/>
          </p:nvPr>
        </p:nvSpPr>
        <p:spPr>
          <a:xfrm>
            <a:off x="0" y="431800"/>
            <a:ext cx="8864600" cy="266700"/>
          </a:xfrm>
          <a:solidFill>
            <a:srgbClr val="99CCFF"/>
          </a:solidFill>
        </p:spPr>
        <p:txBody>
          <a:bodyPr/>
          <a:lstStyle/>
          <a:p>
            <a:pPr algn="l" eaLnBrk="1" hangingPunct="1"/>
            <a:r>
              <a:rPr lang="zh-CN" altLang="en-US" sz="3600" b="1" smtClean="0">
                <a:solidFill>
                  <a:srgbClr val="CC0000"/>
                </a:solidFill>
              </a:rPr>
              <a:t>市场调查</a:t>
            </a:r>
            <a:r>
              <a:rPr lang="en-US" altLang="zh-CN" sz="3600" b="1" smtClean="0">
                <a:solidFill>
                  <a:srgbClr val="CC0000"/>
                </a:solidFill>
              </a:rPr>
              <a:t>(Market Survey)</a:t>
            </a:r>
            <a:br>
              <a:rPr lang="en-US" altLang="zh-CN" sz="3600" b="1" smtClean="0">
                <a:solidFill>
                  <a:srgbClr val="CC0000"/>
                </a:solidFill>
              </a:rPr>
            </a:br>
            <a:endParaRPr lang="zh-CN" altLang="en-US" sz="3600" b="1" smtClean="0">
              <a:solidFill>
                <a:srgbClr val="CC0000"/>
              </a:solidFill>
            </a:endParaRPr>
          </a:p>
        </p:txBody>
      </p:sp>
      <p:sp>
        <p:nvSpPr>
          <p:cNvPr id="22532" name="Rectangle 5"/>
          <p:cNvSpPr>
            <a:spLocks noGrp="1" noChangeArrowheads="1"/>
          </p:cNvSpPr>
          <p:nvPr>
            <p:ph type="body" idx="1"/>
          </p:nvPr>
        </p:nvSpPr>
        <p:spPr>
          <a:xfrm>
            <a:off x="0" y="977900"/>
            <a:ext cx="9144000" cy="5880100"/>
          </a:xfrm>
          <a:solidFill>
            <a:schemeClr val="accent1"/>
          </a:solidFill>
        </p:spPr>
        <p:txBody>
          <a:bodyPr/>
          <a:lstStyle/>
          <a:p>
            <a:pPr eaLnBrk="1" hangingPunct="1"/>
            <a:r>
              <a:rPr lang="zh-CN" altLang="en-US" smtClean="0"/>
              <a:t>运用适当的方法，有目的、系统地搜集整理市场信息资料，分析市场的客观实际情况</a:t>
            </a:r>
            <a:endParaRPr lang="zh-CN" altLang="en-US" smtClean="0"/>
          </a:p>
          <a:p>
            <a:pPr lvl="1" eaLnBrk="1" hangingPunct="1"/>
            <a:r>
              <a:rPr lang="zh-CN" altLang="en-US" smtClean="0"/>
              <a:t>市场调查是市场研究的基础，是工程项目可行性研究的起点</a:t>
            </a:r>
            <a:endParaRPr lang="zh-CN" altLang="en-US" smtClean="0"/>
          </a:p>
          <a:p>
            <a:pPr lvl="1" eaLnBrk="1" hangingPunct="1"/>
            <a:r>
              <a:rPr lang="zh-CN" altLang="en-US" smtClean="0"/>
              <a:t>作为市场研究和可行性研究的“信息输入”</a:t>
            </a:r>
            <a:r>
              <a:rPr lang="en-US" altLang="zh-CN" smtClean="0"/>
              <a:t>(Input)</a:t>
            </a:r>
            <a:r>
              <a:rPr lang="zh-CN" altLang="en-US" smtClean="0"/>
              <a:t>，决定了投资项目是否能够被市场接受，以及盈利情况</a:t>
            </a:r>
            <a:endParaRPr lang="zh-CN" altLang="en-US" smtClean="0"/>
          </a:p>
          <a:p>
            <a:pPr eaLnBrk="1" hangingPunct="1"/>
            <a:endParaRPr lang="zh-CN" altLang="en-US" smtClean="0"/>
          </a:p>
          <a:p>
            <a:pPr eaLnBrk="1" hangingPunct="1"/>
            <a:r>
              <a:rPr lang="zh-CN" altLang="en-US" smtClean="0"/>
              <a:t>供给端调查</a:t>
            </a:r>
            <a:endParaRPr lang="zh-CN" altLang="en-US" smtClean="0"/>
          </a:p>
          <a:p>
            <a:pPr eaLnBrk="1" hangingPunct="1"/>
            <a:r>
              <a:rPr lang="zh-CN" altLang="en-US" smtClean="0"/>
              <a:t>需求端调查</a:t>
            </a:r>
            <a:endParaRPr lang="zh-CN" altLang="en-US" smtClean="0"/>
          </a:p>
          <a:p>
            <a:pPr eaLnBrk="1" hangingPunct="1"/>
            <a:endParaRPr lang="zh-CN" altLang="en-US" sz="280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EE256E9-1EEA-4205-887F-E1DD7F893E4C}" type="slidenum">
              <a:rPr lang="zh-CN" altLang="en-US" sz="1400" smtClean="0"/>
            </a:fld>
            <a:endParaRPr lang="en-US" altLang="zh-CN" sz="1400" smtClean="0"/>
          </a:p>
        </p:txBody>
      </p:sp>
      <p:sp>
        <p:nvSpPr>
          <p:cNvPr id="23555" name="Rectangle 4"/>
          <p:cNvSpPr>
            <a:spLocks noGrp="1" noChangeArrowheads="1"/>
          </p:cNvSpPr>
          <p:nvPr>
            <p:ph type="title"/>
          </p:nvPr>
        </p:nvSpPr>
        <p:spPr>
          <a:xfrm>
            <a:off x="0" y="12700"/>
            <a:ext cx="8178800" cy="609600"/>
          </a:xfrm>
          <a:solidFill>
            <a:srgbClr val="99CCFF"/>
          </a:solidFill>
        </p:spPr>
        <p:txBody>
          <a:bodyPr/>
          <a:lstStyle/>
          <a:p>
            <a:pPr algn="l" eaLnBrk="1" hangingPunct="1"/>
            <a:r>
              <a:rPr lang="zh-CN" altLang="en-US" b="1" smtClean="0">
                <a:solidFill>
                  <a:schemeClr val="hlink"/>
                </a:solidFill>
              </a:rPr>
              <a:t>市场调查的方法</a:t>
            </a:r>
            <a:endParaRPr lang="zh-CN" altLang="en-US" b="1" smtClean="0">
              <a:solidFill>
                <a:schemeClr val="hlink"/>
              </a:solidFill>
            </a:endParaRPr>
          </a:p>
        </p:txBody>
      </p:sp>
      <p:sp>
        <p:nvSpPr>
          <p:cNvPr id="512005" name="Rectangle 5"/>
          <p:cNvSpPr>
            <a:spLocks noGrp="1" noChangeArrowheads="1"/>
          </p:cNvSpPr>
          <p:nvPr>
            <p:ph type="body" idx="1"/>
          </p:nvPr>
        </p:nvSpPr>
        <p:spPr>
          <a:xfrm>
            <a:off x="0" y="977900"/>
            <a:ext cx="9144000" cy="5880100"/>
          </a:xfrm>
          <a:solidFill>
            <a:srgbClr val="99CCFF"/>
          </a:solidFill>
        </p:spPr>
        <p:txBody>
          <a:bodyPr/>
          <a:lstStyle/>
          <a:p>
            <a:pPr eaLnBrk="1" hangingPunct="1"/>
            <a:r>
              <a:rPr lang="en-US" altLang="zh-CN" sz="2000" b="1" smtClean="0"/>
              <a:t>(1) </a:t>
            </a:r>
            <a:r>
              <a:rPr lang="zh-CN" altLang="en-US" sz="2000" b="1" smtClean="0"/>
              <a:t>间接搜集信息法</a:t>
            </a:r>
            <a:r>
              <a:rPr lang="en-US" altLang="zh-CN" sz="2000" b="1" smtClean="0"/>
              <a:t>(</a:t>
            </a:r>
            <a:r>
              <a:rPr lang="zh-CN" altLang="en-US" sz="2000" b="1" smtClean="0"/>
              <a:t>获取间接统计数据和资料</a:t>
            </a:r>
            <a:r>
              <a:rPr lang="en-US" altLang="zh-CN" sz="2000" b="1" smtClean="0"/>
              <a:t>)</a:t>
            </a:r>
            <a:endParaRPr lang="en-US" altLang="zh-CN" sz="2000" b="1" smtClean="0"/>
          </a:p>
          <a:p>
            <a:pPr lvl="1" eaLnBrk="1" hangingPunct="1"/>
            <a:r>
              <a:rPr lang="zh-CN" altLang="en-US" sz="2000" b="1" smtClean="0"/>
              <a:t>获取资料速度快、节省费用</a:t>
            </a:r>
            <a:endParaRPr lang="zh-CN" altLang="en-US" sz="2000" b="1" smtClean="0"/>
          </a:p>
          <a:p>
            <a:pPr lvl="1" eaLnBrk="1" hangingPunct="1"/>
            <a:r>
              <a:rPr lang="zh-CN" altLang="en-US" sz="2000" b="1" smtClean="0"/>
              <a:t>针对性差、深度不够、准确性不高</a:t>
            </a:r>
            <a:endParaRPr lang="zh-CN" altLang="en-US" sz="2000" b="1" smtClean="0"/>
          </a:p>
          <a:p>
            <a:pPr lvl="1" eaLnBrk="1" hangingPunct="1"/>
            <a:r>
              <a:rPr lang="zh-CN" altLang="en-US" sz="2000" b="1" smtClean="0"/>
              <a:t>几个技巧</a:t>
            </a:r>
            <a:endParaRPr lang="zh-CN" altLang="en-US" sz="2000" b="1" smtClean="0"/>
          </a:p>
          <a:p>
            <a:pPr lvl="2" eaLnBrk="1" hangingPunct="1"/>
            <a:r>
              <a:rPr lang="zh-CN" altLang="en-US" sz="2000" b="1" smtClean="0"/>
              <a:t>先易后难，由近至远（时间上），先内部后外部（资源获取方式上）</a:t>
            </a:r>
            <a:endParaRPr lang="zh-CN" altLang="en-US" sz="2000" b="1" smtClean="0"/>
          </a:p>
          <a:p>
            <a:pPr eaLnBrk="1" hangingPunct="1"/>
            <a:r>
              <a:rPr lang="en-US" altLang="zh-CN" sz="2000" b="1" smtClean="0"/>
              <a:t>(2)</a:t>
            </a:r>
            <a:r>
              <a:rPr lang="zh-CN" altLang="en-US" sz="2000" b="1" smtClean="0"/>
              <a:t>直接访问法（抽样调查法）</a:t>
            </a:r>
            <a:endParaRPr lang="zh-CN" altLang="en-US" sz="2000" b="1" smtClean="0"/>
          </a:p>
          <a:p>
            <a:pPr lvl="1" eaLnBrk="1" hangingPunct="1"/>
            <a:r>
              <a:rPr lang="zh-CN" altLang="en-US" sz="2000" b="1" smtClean="0"/>
              <a:t>访谈</a:t>
            </a:r>
            <a:r>
              <a:rPr lang="en-US" altLang="zh-CN" sz="2000" b="1" smtClean="0"/>
              <a:t>(Interview)</a:t>
            </a:r>
            <a:r>
              <a:rPr lang="zh-CN" altLang="en-US" sz="2000" b="1" smtClean="0"/>
              <a:t>、问卷调查</a:t>
            </a:r>
            <a:r>
              <a:rPr lang="en-US" altLang="zh-CN" sz="2000" b="1" smtClean="0"/>
              <a:t>(Questionnaire)</a:t>
            </a:r>
            <a:endParaRPr lang="en-US" altLang="zh-CN" sz="2000" b="1" smtClean="0"/>
          </a:p>
          <a:p>
            <a:pPr lvl="1" eaLnBrk="1" hangingPunct="1"/>
            <a:r>
              <a:rPr lang="zh-CN" altLang="en-US" sz="2000" b="1" smtClean="0"/>
              <a:t>面谈</a:t>
            </a:r>
            <a:r>
              <a:rPr lang="en-US" altLang="zh-CN" sz="2000" b="1" smtClean="0"/>
              <a:t>/</a:t>
            </a:r>
            <a:r>
              <a:rPr lang="zh-CN" altLang="en-US" sz="2000" b="1" smtClean="0"/>
              <a:t>电话</a:t>
            </a:r>
            <a:r>
              <a:rPr lang="en-US" altLang="zh-CN" sz="2000" b="1" smtClean="0"/>
              <a:t>/</a:t>
            </a:r>
            <a:r>
              <a:rPr lang="zh-CN" altLang="en-US" sz="2000" b="1" smtClean="0"/>
              <a:t>邮件</a:t>
            </a:r>
            <a:r>
              <a:rPr lang="en-US" altLang="zh-CN" sz="2000" b="1" smtClean="0"/>
              <a:t>/</a:t>
            </a:r>
            <a:r>
              <a:rPr lang="zh-CN" altLang="en-US" sz="2000" b="1" smtClean="0"/>
              <a:t>网络</a:t>
            </a:r>
            <a:endParaRPr lang="zh-CN" altLang="en-US" sz="2000" b="1" smtClean="0"/>
          </a:p>
          <a:p>
            <a:pPr eaLnBrk="1" hangingPunct="1"/>
            <a:r>
              <a:rPr lang="en-US" altLang="zh-CN" sz="2000" b="1" smtClean="0"/>
              <a:t>(3) </a:t>
            </a:r>
            <a:r>
              <a:rPr lang="zh-CN" altLang="en-US" sz="2000" b="1" smtClean="0"/>
              <a:t>直接观察法</a:t>
            </a:r>
            <a:endParaRPr lang="zh-CN" altLang="en-US" sz="2000" b="1" smtClean="0"/>
          </a:p>
          <a:p>
            <a:pPr lvl="1" eaLnBrk="1" hangingPunct="1"/>
            <a:r>
              <a:rPr lang="zh-CN" altLang="en-US" sz="2000" b="1" smtClean="0"/>
              <a:t>交通量观察</a:t>
            </a:r>
            <a:endParaRPr lang="zh-CN" altLang="en-US" sz="2000" b="1" smtClean="0"/>
          </a:p>
          <a:p>
            <a:pPr lvl="1" eaLnBrk="1" hangingPunct="1"/>
            <a:r>
              <a:rPr lang="zh-CN" altLang="en-US" sz="2000" b="1" smtClean="0"/>
              <a:t>售房量观察</a:t>
            </a:r>
            <a:endParaRPr lang="zh-CN" altLang="en-US" sz="2000" b="1" smtClean="0"/>
          </a:p>
          <a:p>
            <a:pPr lvl="1" eaLnBrk="1" hangingPunct="1"/>
            <a:r>
              <a:rPr lang="zh-CN" altLang="en-US" sz="2000" b="1" smtClean="0"/>
              <a:t>商场观察</a:t>
            </a:r>
            <a:endParaRPr lang="zh-CN" altLang="en-US" sz="2000" b="1" smtClean="0"/>
          </a:p>
          <a:p>
            <a:pPr eaLnBrk="1" hangingPunct="1"/>
            <a:endParaRPr lang="zh-CN" altLang="en-US" sz="2000" b="1"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005">
                                            <p:txEl>
                                              <p:pRg st="5" end="5"/>
                                            </p:txEl>
                                          </p:spTgt>
                                        </p:tgtEl>
                                        <p:attrNameLst>
                                          <p:attrName>style.visibility</p:attrName>
                                        </p:attrNameLst>
                                      </p:cBhvr>
                                      <p:to>
                                        <p:strVal val="visible"/>
                                      </p:to>
                                    </p:set>
                                    <p:anim calcmode="lin" valueType="num">
                                      <p:cBhvr additive="base">
                                        <p:cTn id="7" dur="500" fill="hold"/>
                                        <p:tgtEl>
                                          <p:spTgt spid="512005">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005">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12005">
                                            <p:txEl>
                                              <p:pRg st="6" end="6"/>
                                            </p:txEl>
                                          </p:spTgt>
                                        </p:tgtEl>
                                        <p:attrNameLst>
                                          <p:attrName>style.visibility</p:attrName>
                                        </p:attrNameLst>
                                      </p:cBhvr>
                                      <p:to>
                                        <p:strVal val="visible"/>
                                      </p:to>
                                    </p:set>
                                    <p:anim calcmode="lin" valueType="num">
                                      <p:cBhvr additive="base">
                                        <p:cTn id="11" dur="500" fill="hold"/>
                                        <p:tgtEl>
                                          <p:spTgt spid="512005">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2005">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12005">
                                            <p:txEl>
                                              <p:pRg st="7" end="7"/>
                                            </p:txEl>
                                          </p:spTgt>
                                        </p:tgtEl>
                                        <p:attrNameLst>
                                          <p:attrName>style.visibility</p:attrName>
                                        </p:attrNameLst>
                                      </p:cBhvr>
                                      <p:to>
                                        <p:strVal val="visible"/>
                                      </p:to>
                                    </p:set>
                                    <p:anim calcmode="lin" valueType="num">
                                      <p:cBhvr additive="base">
                                        <p:cTn id="15" dur="500" fill="hold"/>
                                        <p:tgtEl>
                                          <p:spTgt spid="512005">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1200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12005">
                                            <p:txEl>
                                              <p:pRg st="8" end="8"/>
                                            </p:txEl>
                                          </p:spTgt>
                                        </p:tgtEl>
                                        <p:attrNameLst>
                                          <p:attrName>style.visibility</p:attrName>
                                        </p:attrNameLst>
                                      </p:cBhvr>
                                      <p:to>
                                        <p:strVal val="visible"/>
                                      </p:to>
                                    </p:set>
                                    <p:anim calcmode="lin" valueType="num">
                                      <p:cBhvr additive="base">
                                        <p:cTn id="21" dur="500" fill="hold"/>
                                        <p:tgtEl>
                                          <p:spTgt spid="512005">
                                            <p:txEl>
                                              <p:pRg st="8" end="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12005">
                                            <p:txEl>
                                              <p:pRg st="8" end="8"/>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12005">
                                            <p:txEl>
                                              <p:pRg st="9" end="9"/>
                                            </p:txEl>
                                          </p:spTgt>
                                        </p:tgtEl>
                                        <p:attrNameLst>
                                          <p:attrName>style.visibility</p:attrName>
                                        </p:attrNameLst>
                                      </p:cBhvr>
                                      <p:to>
                                        <p:strVal val="visible"/>
                                      </p:to>
                                    </p:set>
                                    <p:anim calcmode="lin" valueType="num">
                                      <p:cBhvr additive="base">
                                        <p:cTn id="25" dur="500" fill="hold"/>
                                        <p:tgtEl>
                                          <p:spTgt spid="512005">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2005">
                                            <p:txEl>
                                              <p:pRg st="9" end="9"/>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12005">
                                            <p:txEl>
                                              <p:pRg st="10" end="10"/>
                                            </p:txEl>
                                          </p:spTgt>
                                        </p:tgtEl>
                                        <p:attrNameLst>
                                          <p:attrName>style.visibility</p:attrName>
                                        </p:attrNameLst>
                                      </p:cBhvr>
                                      <p:to>
                                        <p:strVal val="visible"/>
                                      </p:to>
                                    </p:set>
                                    <p:anim calcmode="lin" valueType="num">
                                      <p:cBhvr additive="base">
                                        <p:cTn id="29" dur="500" fill="hold"/>
                                        <p:tgtEl>
                                          <p:spTgt spid="512005">
                                            <p:txEl>
                                              <p:pRg st="10" end="1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12005">
                                            <p:txEl>
                                              <p:pRg st="10" end="10"/>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12005">
                                            <p:txEl>
                                              <p:pRg st="11" end="11"/>
                                            </p:txEl>
                                          </p:spTgt>
                                        </p:tgtEl>
                                        <p:attrNameLst>
                                          <p:attrName>style.visibility</p:attrName>
                                        </p:attrNameLst>
                                      </p:cBhvr>
                                      <p:to>
                                        <p:strVal val="visible"/>
                                      </p:to>
                                    </p:set>
                                    <p:anim calcmode="lin" valueType="num">
                                      <p:cBhvr additive="base">
                                        <p:cTn id="33" dur="500" fill="hold"/>
                                        <p:tgtEl>
                                          <p:spTgt spid="512005">
                                            <p:txEl>
                                              <p:pRg st="11" end="1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12005">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5D17D3D-8CE2-420A-92AA-DEF2C116608C}" type="slidenum">
              <a:rPr lang="zh-CN" altLang="en-US" sz="1400" smtClean="0"/>
            </a:fld>
            <a:endParaRPr lang="en-US" altLang="zh-CN" sz="1400" smtClean="0"/>
          </a:p>
        </p:txBody>
      </p:sp>
      <p:sp>
        <p:nvSpPr>
          <p:cNvPr id="24579" name="Rectangle 4"/>
          <p:cNvSpPr>
            <a:spLocks noGrp="1" noChangeArrowheads="1"/>
          </p:cNvSpPr>
          <p:nvPr>
            <p:ph type="title"/>
          </p:nvPr>
        </p:nvSpPr>
        <p:spPr>
          <a:xfrm>
            <a:off x="0" y="12700"/>
            <a:ext cx="8178800" cy="609600"/>
          </a:xfrm>
          <a:solidFill>
            <a:srgbClr val="99CCFF"/>
          </a:solidFill>
        </p:spPr>
        <p:txBody>
          <a:bodyPr/>
          <a:lstStyle/>
          <a:p>
            <a:pPr algn="l" eaLnBrk="1" hangingPunct="1"/>
            <a:r>
              <a:rPr lang="zh-CN" altLang="en-US" b="1" smtClean="0">
                <a:solidFill>
                  <a:srgbClr val="CC0000"/>
                </a:solidFill>
              </a:rPr>
              <a:t>抽样调查法</a:t>
            </a:r>
            <a:endParaRPr lang="zh-CN" altLang="en-US" b="1" smtClean="0">
              <a:solidFill>
                <a:srgbClr val="CC0000"/>
              </a:solidFill>
            </a:endParaRPr>
          </a:p>
        </p:txBody>
      </p:sp>
      <p:sp>
        <p:nvSpPr>
          <p:cNvPr id="513029" name="Rectangle 5"/>
          <p:cNvSpPr>
            <a:spLocks noGrp="1" noChangeArrowheads="1"/>
          </p:cNvSpPr>
          <p:nvPr>
            <p:ph type="body" idx="1"/>
          </p:nvPr>
        </p:nvSpPr>
        <p:spPr>
          <a:xfrm>
            <a:off x="0" y="765175"/>
            <a:ext cx="9144000" cy="5880100"/>
          </a:xfrm>
          <a:solidFill>
            <a:schemeClr val="accent1"/>
          </a:solidFill>
        </p:spPr>
        <p:txBody>
          <a:bodyPr/>
          <a:lstStyle/>
          <a:p>
            <a:pPr eaLnBrk="1" hangingPunct="1"/>
            <a:r>
              <a:rPr lang="zh-CN" altLang="en-US" sz="2400" smtClean="0"/>
              <a:t>抽样</a:t>
            </a:r>
            <a:r>
              <a:rPr lang="en-US" altLang="zh-CN" sz="2400" smtClean="0"/>
              <a:t>(sampling)</a:t>
            </a:r>
            <a:endParaRPr lang="en-US" altLang="zh-CN" sz="2400" smtClean="0"/>
          </a:p>
          <a:p>
            <a:pPr lvl="1" eaLnBrk="1" hangingPunct="1"/>
            <a:r>
              <a:rPr lang="zh-CN" altLang="en-US" sz="2400" smtClean="0"/>
              <a:t>选择一小部分人进行研究，并将结论推及到千百万未被研究的人</a:t>
            </a:r>
            <a:endParaRPr lang="zh-CN" altLang="en-US" sz="2400" smtClean="0"/>
          </a:p>
          <a:p>
            <a:pPr lvl="1" eaLnBrk="1" hangingPunct="1"/>
            <a:r>
              <a:rPr lang="zh-CN" altLang="en-US" sz="2400" smtClean="0"/>
              <a:t>抽样必须具有代表性，能够代表所要研究的总体</a:t>
            </a:r>
            <a:endParaRPr lang="zh-CN" altLang="en-US" sz="2400" smtClean="0"/>
          </a:p>
          <a:p>
            <a:pPr eaLnBrk="1" hangingPunct="1"/>
            <a:r>
              <a:rPr lang="zh-CN" altLang="en-US" sz="2400" smtClean="0"/>
              <a:t>抽样的若干术语</a:t>
            </a:r>
            <a:endParaRPr lang="zh-CN" altLang="en-US" sz="2400" smtClean="0"/>
          </a:p>
          <a:p>
            <a:pPr lvl="1" eaLnBrk="1" hangingPunct="1"/>
            <a:r>
              <a:rPr lang="zh-CN" altLang="en-US" sz="2400" smtClean="0"/>
              <a:t>总体</a:t>
            </a:r>
            <a:endParaRPr lang="zh-CN" altLang="en-US" sz="2400" smtClean="0"/>
          </a:p>
          <a:p>
            <a:pPr lvl="2" eaLnBrk="1" hangingPunct="1"/>
            <a:r>
              <a:rPr lang="zh-CN" altLang="en-US" smtClean="0"/>
              <a:t>清华大学本科生（具有学籍、大陆学生）</a:t>
            </a:r>
            <a:endParaRPr lang="zh-CN" altLang="en-US" smtClean="0"/>
          </a:p>
          <a:p>
            <a:pPr lvl="2" eaLnBrk="1" hangingPunct="1"/>
            <a:r>
              <a:rPr lang="zh-CN" altLang="en-US" smtClean="0"/>
              <a:t>北京市常住居民</a:t>
            </a:r>
            <a:endParaRPr lang="zh-CN" altLang="en-US" smtClean="0"/>
          </a:p>
          <a:p>
            <a:pPr lvl="1" eaLnBrk="1" hangingPunct="1"/>
            <a:r>
              <a:rPr lang="zh-CN" altLang="en-US" sz="2400" smtClean="0"/>
              <a:t>个体</a:t>
            </a:r>
            <a:endParaRPr lang="zh-CN" altLang="en-US" sz="2400" smtClean="0"/>
          </a:p>
          <a:p>
            <a:pPr lvl="2" eaLnBrk="1" hangingPunct="1"/>
            <a:r>
              <a:rPr lang="zh-CN" altLang="en-US" smtClean="0"/>
              <a:t>清华大学某一个本科生</a:t>
            </a:r>
            <a:endParaRPr lang="zh-CN" altLang="en-US" smtClean="0"/>
          </a:p>
          <a:p>
            <a:pPr lvl="1" eaLnBrk="1" hangingPunct="1"/>
            <a:r>
              <a:rPr lang="zh-CN" altLang="en-US" sz="2400" smtClean="0"/>
              <a:t>样本</a:t>
            </a:r>
            <a:endParaRPr lang="en-US" altLang="zh-CN" sz="2400" smtClean="0"/>
          </a:p>
          <a:p>
            <a:pPr lvl="2" eaLnBrk="1" hangingPunct="1"/>
            <a:r>
              <a:rPr lang="zh-CN" altLang="en-US" smtClean="0"/>
              <a:t>清华大学本科生</a:t>
            </a:r>
            <a:r>
              <a:rPr lang="en-US" altLang="zh-CN" smtClean="0"/>
              <a:t>1%</a:t>
            </a:r>
            <a:r>
              <a:rPr lang="zh-CN" altLang="en-US" smtClean="0"/>
              <a:t>抽样</a:t>
            </a:r>
            <a:endParaRPr lang="zh-CN" altLang="en-US" smtClean="0"/>
          </a:p>
          <a:p>
            <a:pPr lvl="1" eaLnBrk="1" hangingPunct="1"/>
            <a:r>
              <a:rPr lang="zh-CN" altLang="en-US" sz="2400" smtClean="0"/>
              <a:t>抽样框</a:t>
            </a:r>
            <a:endParaRPr lang="zh-CN" altLang="en-US" sz="2400" smtClean="0"/>
          </a:p>
          <a:p>
            <a:pPr lvl="2" eaLnBrk="1" hangingPunct="1"/>
            <a:r>
              <a:rPr lang="zh-CN" altLang="en-US" smtClean="0"/>
              <a:t>总体要素的列表或准列表，如电话号码簿、员工列表</a:t>
            </a:r>
            <a:r>
              <a:rPr lang="en-US" altLang="zh-CN" smtClean="0"/>
              <a:t>……</a:t>
            </a:r>
            <a:endParaRPr lang="en-US" altLang="zh-CN" smtClean="0"/>
          </a:p>
          <a:p>
            <a:pPr eaLnBrk="1" hangingPunct="1"/>
            <a:endParaRPr lang="zh-CN" alt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3029">
                                            <p:txEl>
                                              <p:pRg st="3" end="3"/>
                                            </p:txEl>
                                          </p:spTgt>
                                        </p:tgtEl>
                                        <p:attrNameLst>
                                          <p:attrName>style.visibility</p:attrName>
                                        </p:attrNameLst>
                                      </p:cBhvr>
                                      <p:to>
                                        <p:strVal val="visible"/>
                                      </p:to>
                                    </p:set>
                                    <p:animEffect transition="in" filter="blinds(horizontal)">
                                      <p:cBhvr>
                                        <p:cTn id="7" dur="500"/>
                                        <p:tgtEl>
                                          <p:spTgt spid="513029">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13029">
                                            <p:txEl>
                                              <p:pRg st="4" end="4"/>
                                            </p:txEl>
                                          </p:spTgt>
                                        </p:tgtEl>
                                        <p:attrNameLst>
                                          <p:attrName>style.visibility</p:attrName>
                                        </p:attrNameLst>
                                      </p:cBhvr>
                                      <p:to>
                                        <p:strVal val="visible"/>
                                      </p:to>
                                    </p:set>
                                    <p:animEffect transition="in" filter="blinds(horizontal)">
                                      <p:cBhvr>
                                        <p:cTn id="10" dur="500"/>
                                        <p:tgtEl>
                                          <p:spTgt spid="513029">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13029">
                                            <p:txEl>
                                              <p:pRg st="5" end="5"/>
                                            </p:txEl>
                                          </p:spTgt>
                                        </p:tgtEl>
                                        <p:attrNameLst>
                                          <p:attrName>style.visibility</p:attrName>
                                        </p:attrNameLst>
                                      </p:cBhvr>
                                      <p:to>
                                        <p:strVal val="visible"/>
                                      </p:to>
                                    </p:set>
                                    <p:animEffect transition="in" filter="blinds(horizontal)">
                                      <p:cBhvr>
                                        <p:cTn id="13" dur="500"/>
                                        <p:tgtEl>
                                          <p:spTgt spid="513029">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13029">
                                            <p:txEl>
                                              <p:pRg st="6" end="6"/>
                                            </p:txEl>
                                          </p:spTgt>
                                        </p:tgtEl>
                                        <p:attrNameLst>
                                          <p:attrName>style.visibility</p:attrName>
                                        </p:attrNameLst>
                                      </p:cBhvr>
                                      <p:to>
                                        <p:strVal val="visible"/>
                                      </p:to>
                                    </p:set>
                                    <p:animEffect transition="in" filter="blinds(horizontal)">
                                      <p:cBhvr>
                                        <p:cTn id="16" dur="500"/>
                                        <p:tgtEl>
                                          <p:spTgt spid="513029">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513029">
                                            <p:txEl>
                                              <p:pRg st="7" end="7"/>
                                            </p:txEl>
                                          </p:spTgt>
                                        </p:tgtEl>
                                        <p:attrNameLst>
                                          <p:attrName>style.visibility</p:attrName>
                                        </p:attrNameLst>
                                      </p:cBhvr>
                                      <p:to>
                                        <p:strVal val="visible"/>
                                      </p:to>
                                    </p:set>
                                    <p:animEffect transition="in" filter="blinds(horizontal)">
                                      <p:cBhvr>
                                        <p:cTn id="21" dur="500"/>
                                        <p:tgtEl>
                                          <p:spTgt spid="513029">
                                            <p:txEl>
                                              <p:pRg st="7" end="7"/>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513029">
                                            <p:txEl>
                                              <p:pRg st="8" end="8"/>
                                            </p:txEl>
                                          </p:spTgt>
                                        </p:tgtEl>
                                        <p:attrNameLst>
                                          <p:attrName>style.visibility</p:attrName>
                                        </p:attrNameLst>
                                      </p:cBhvr>
                                      <p:to>
                                        <p:strVal val="visible"/>
                                      </p:to>
                                    </p:set>
                                    <p:animEffect transition="in" filter="blinds(horizontal)">
                                      <p:cBhvr>
                                        <p:cTn id="24" dur="500"/>
                                        <p:tgtEl>
                                          <p:spTgt spid="513029">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513029">
                                            <p:txEl>
                                              <p:pRg st="9" end="9"/>
                                            </p:txEl>
                                          </p:spTgt>
                                        </p:tgtEl>
                                        <p:attrNameLst>
                                          <p:attrName>style.visibility</p:attrName>
                                        </p:attrNameLst>
                                      </p:cBhvr>
                                      <p:to>
                                        <p:strVal val="visible"/>
                                      </p:to>
                                    </p:set>
                                    <p:animEffect transition="in" filter="blinds(horizontal)">
                                      <p:cBhvr>
                                        <p:cTn id="29" dur="500"/>
                                        <p:tgtEl>
                                          <p:spTgt spid="513029">
                                            <p:txEl>
                                              <p:pRg st="9" end="9"/>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513029">
                                            <p:txEl>
                                              <p:pRg st="10" end="10"/>
                                            </p:txEl>
                                          </p:spTgt>
                                        </p:tgtEl>
                                        <p:attrNameLst>
                                          <p:attrName>style.visibility</p:attrName>
                                        </p:attrNameLst>
                                      </p:cBhvr>
                                      <p:to>
                                        <p:strVal val="visible"/>
                                      </p:to>
                                    </p:set>
                                    <p:animEffect transition="in" filter="blinds(horizontal)">
                                      <p:cBhvr>
                                        <p:cTn id="32" dur="500"/>
                                        <p:tgtEl>
                                          <p:spTgt spid="513029">
                                            <p:txEl>
                                              <p:pRg st="10" end="10"/>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513029">
                                            <p:txEl>
                                              <p:pRg st="11" end="11"/>
                                            </p:txEl>
                                          </p:spTgt>
                                        </p:tgtEl>
                                        <p:attrNameLst>
                                          <p:attrName>style.visibility</p:attrName>
                                        </p:attrNameLst>
                                      </p:cBhvr>
                                      <p:to>
                                        <p:strVal val="visible"/>
                                      </p:to>
                                    </p:set>
                                    <p:animEffect transition="in" filter="blinds(horizontal)">
                                      <p:cBhvr>
                                        <p:cTn id="35" dur="500"/>
                                        <p:tgtEl>
                                          <p:spTgt spid="513029">
                                            <p:txEl>
                                              <p:pRg st="11" end="11"/>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513029">
                                            <p:txEl>
                                              <p:pRg st="12" end="12"/>
                                            </p:txEl>
                                          </p:spTgt>
                                        </p:tgtEl>
                                        <p:attrNameLst>
                                          <p:attrName>style.visibility</p:attrName>
                                        </p:attrNameLst>
                                      </p:cBhvr>
                                      <p:to>
                                        <p:strVal val="visible"/>
                                      </p:to>
                                    </p:set>
                                    <p:animEffect transition="in" filter="blinds(horizontal)">
                                      <p:cBhvr>
                                        <p:cTn id="38" dur="500"/>
                                        <p:tgtEl>
                                          <p:spTgt spid="513029">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7DA013D-CD2C-42D3-8076-72578699948D}" type="slidenum">
              <a:rPr lang="zh-CN" altLang="en-US" sz="1400" smtClean="0"/>
            </a:fld>
            <a:endParaRPr lang="en-US" altLang="zh-CN" sz="1400" smtClean="0"/>
          </a:p>
        </p:txBody>
      </p:sp>
      <p:sp>
        <p:nvSpPr>
          <p:cNvPr id="25603" name="Rectangle 4"/>
          <p:cNvSpPr>
            <a:spLocks noGrp="1" noChangeArrowheads="1"/>
          </p:cNvSpPr>
          <p:nvPr>
            <p:ph type="title"/>
          </p:nvPr>
        </p:nvSpPr>
        <p:spPr>
          <a:xfrm>
            <a:off x="0" y="12700"/>
            <a:ext cx="9144000" cy="609600"/>
          </a:xfrm>
          <a:solidFill>
            <a:srgbClr val="99CCFF"/>
          </a:solidFill>
        </p:spPr>
        <p:txBody>
          <a:bodyPr/>
          <a:lstStyle/>
          <a:p>
            <a:pPr eaLnBrk="1" hangingPunct="1"/>
            <a:r>
              <a:rPr lang="zh-CN" altLang="en-US" sz="3600" smtClean="0">
                <a:solidFill>
                  <a:srgbClr val="CC0000"/>
                </a:solidFill>
              </a:rPr>
              <a:t>例子：清华大学研究生生活状况调研结果</a:t>
            </a:r>
            <a:endParaRPr lang="zh-CN" altLang="en-US" sz="3600" smtClean="0">
              <a:solidFill>
                <a:srgbClr val="CC0000"/>
              </a:solidFill>
            </a:endParaRPr>
          </a:p>
        </p:txBody>
      </p:sp>
      <p:sp>
        <p:nvSpPr>
          <p:cNvPr id="514053" name="Rectangle 5"/>
          <p:cNvSpPr>
            <a:spLocks noGrp="1" noChangeArrowheads="1"/>
          </p:cNvSpPr>
          <p:nvPr>
            <p:ph type="body" idx="1"/>
          </p:nvPr>
        </p:nvSpPr>
        <p:spPr>
          <a:xfrm>
            <a:off x="0" y="977900"/>
            <a:ext cx="9144000" cy="5880100"/>
          </a:xfrm>
          <a:solidFill>
            <a:schemeClr val="accent1"/>
          </a:solidFill>
        </p:spPr>
        <p:txBody>
          <a:bodyPr/>
          <a:lstStyle/>
          <a:p>
            <a:pPr eaLnBrk="1" hangingPunct="1"/>
            <a:r>
              <a:rPr lang="zh-CN" altLang="en-US" smtClean="0"/>
              <a:t>对清华大学研究生进行</a:t>
            </a:r>
            <a:r>
              <a:rPr lang="en-US" altLang="zh-CN" smtClean="0"/>
              <a:t>10%</a:t>
            </a:r>
            <a:r>
              <a:rPr lang="zh-CN" altLang="en-US" smtClean="0"/>
              <a:t>的抽样</a:t>
            </a:r>
            <a:r>
              <a:rPr lang="en-US" altLang="zh-CN" smtClean="0"/>
              <a:t>(1100</a:t>
            </a:r>
            <a:r>
              <a:rPr lang="zh-CN" altLang="en-US" smtClean="0"/>
              <a:t>份</a:t>
            </a:r>
            <a:r>
              <a:rPr lang="en-US" altLang="zh-CN" smtClean="0"/>
              <a:t>)</a:t>
            </a:r>
            <a:endParaRPr lang="en-US" altLang="zh-CN" smtClean="0"/>
          </a:p>
          <a:p>
            <a:pPr eaLnBrk="1" hangingPunct="1"/>
            <a:r>
              <a:rPr lang="zh-CN" altLang="en-US" smtClean="0"/>
              <a:t>从学校获得的收入</a:t>
            </a:r>
            <a:endParaRPr lang="zh-CN" altLang="en-US" smtClean="0"/>
          </a:p>
          <a:p>
            <a:pPr lvl="1" eaLnBrk="1" hangingPunct="1"/>
            <a:r>
              <a:rPr lang="zh-CN" altLang="en-US" smtClean="0"/>
              <a:t>硕士：</a:t>
            </a:r>
            <a:r>
              <a:rPr lang="en-US" altLang="zh-CN" smtClean="0"/>
              <a:t>528.3</a:t>
            </a:r>
            <a:r>
              <a:rPr lang="zh-CN" altLang="en-US" smtClean="0"/>
              <a:t>元</a:t>
            </a:r>
            <a:r>
              <a:rPr lang="en-US" altLang="zh-CN" smtClean="0"/>
              <a:t>/</a:t>
            </a:r>
            <a:r>
              <a:rPr lang="zh-CN" altLang="en-US" smtClean="0"/>
              <a:t>月</a:t>
            </a:r>
            <a:endParaRPr lang="zh-CN" altLang="en-US" smtClean="0"/>
          </a:p>
          <a:p>
            <a:pPr lvl="1" eaLnBrk="1" hangingPunct="1"/>
            <a:r>
              <a:rPr lang="zh-CN" altLang="en-US" smtClean="0"/>
              <a:t>博士：</a:t>
            </a:r>
            <a:r>
              <a:rPr lang="en-US" altLang="zh-CN" smtClean="0"/>
              <a:t>1035.5</a:t>
            </a:r>
            <a:r>
              <a:rPr lang="zh-CN" altLang="en-US" smtClean="0"/>
              <a:t>元</a:t>
            </a:r>
            <a:r>
              <a:rPr lang="en-US" altLang="zh-CN" smtClean="0"/>
              <a:t>/</a:t>
            </a:r>
            <a:r>
              <a:rPr lang="zh-CN" altLang="en-US" smtClean="0"/>
              <a:t>月</a:t>
            </a:r>
            <a:endParaRPr lang="zh-CN" altLang="en-US" smtClean="0"/>
          </a:p>
          <a:p>
            <a:pPr eaLnBrk="1" hangingPunct="1"/>
            <a:r>
              <a:rPr lang="zh-CN" altLang="en-US" smtClean="0"/>
              <a:t>月均支出：</a:t>
            </a:r>
            <a:r>
              <a:rPr lang="en-US" altLang="zh-CN" smtClean="0"/>
              <a:t>1153.6</a:t>
            </a:r>
            <a:r>
              <a:rPr lang="zh-CN" altLang="en-US" smtClean="0"/>
              <a:t>元</a:t>
            </a:r>
            <a:r>
              <a:rPr lang="en-US" altLang="zh-CN" smtClean="0"/>
              <a:t>/</a:t>
            </a:r>
            <a:r>
              <a:rPr lang="zh-CN" altLang="en-US" smtClean="0"/>
              <a:t>月，其中：</a:t>
            </a:r>
            <a:endParaRPr lang="zh-CN" altLang="en-US" smtClean="0"/>
          </a:p>
          <a:p>
            <a:pPr lvl="1" eaLnBrk="1" hangingPunct="1"/>
            <a:r>
              <a:rPr lang="zh-CN" altLang="en-US" smtClean="0"/>
              <a:t>伙食：</a:t>
            </a:r>
            <a:r>
              <a:rPr lang="en-US" altLang="zh-CN" smtClean="0"/>
              <a:t>357</a:t>
            </a:r>
            <a:r>
              <a:rPr lang="zh-CN" altLang="en-US" smtClean="0"/>
              <a:t>元</a:t>
            </a:r>
            <a:r>
              <a:rPr lang="en-US" altLang="zh-CN" smtClean="0"/>
              <a:t>/</a:t>
            </a:r>
            <a:r>
              <a:rPr lang="zh-CN" altLang="en-US" smtClean="0"/>
              <a:t>月</a:t>
            </a:r>
            <a:endParaRPr lang="zh-CN" altLang="en-US" smtClean="0"/>
          </a:p>
          <a:p>
            <a:pPr lvl="1" eaLnBrk="1" hangingPunct="1"/>
            <a:r>
              <a:rPr lang="zh-CN" altLang="en-US" smtClean="0"/>
              <a:t>生活必需品：</a:t>
            </a:r>
            <a:r>
              <a:rPr lang="en-US" altLang="zh-CN" smtClean="0"/>
              <a:t>120.0</a:t>
            </a:r>
            <a:r>
              <a:rPr lang="zh-CN" altLang="en-US" smtClean="0"/>
              <a:t>元</a:t>
            </a:r>
            <a:r>
              <a:rPr lang="en-US" altLang="zh-CN" smtClean="0"/>
              <a:t>/</a:t>
            </a:r>
            <a:r>
              <a:rPr lang="zh-CN" altLang="en-US" smtClean="0"/>
              <a:t>月</a:t>
            </a:r>
            <a:endParaRPr lang="zh-CN" altLang="en-US" smtClean="0"/>
          </a:p>
          <a:p>
            <a:pPr lvl="1" eaLnBrk="1" hangingPunct="1"/>
            <a:r>
              <a:rPr lang="zh-CN" altLang="en-US" smtClean="0"/>
              <a:t>住宿：硕士</a:t>
            </a:r>
            <a:r>
              <a:rPr lang="en-US" altLang="zh-CN" smtClean="0"/>
              <a:t>75</a:t>
            </a:r>
            <a:r>
              <a:rPr lang="zh-CN" altLang="en-US" smtClean="0"/>
              <a:t>元</a:t>
            </a:r>
            <a:r>
              <a:rPr lang="en-US" altLang="zh-CN" smtClean="0"/>
              <a:t>/</a:t>
            </a:r>
            <a:r>
              <a:rPr lang="zh-CN" altLang="en-US" smtClean="0"/>
              <a:t>月，博士</a:t>
            </a:r>
            <a:r>
              <a:rPr lang="en-US" altLang="zh-CN" smtClean="0"/>
              <a:t>120</a:t>
            </a:r>
            <a:r>
              <a:rPr lang="zh-CN" altLang="en-US" smtClean="0"/>
              <a:t>元</a:t>
            </a:r>
            <a:r>
              <a:rPr lang="en-US" altLang="zh-CN" smtClean="0"/>
              <a:t>/</a:t>
            </a:r>
            <a:r>
              <a:rPr lang="zh-CN" altLang="en-US" smtClean="0"/>
              <a:t>月</a:t>
            </a:r>
            <a:endParaRPr lang="zh-CN" altLang="en-US" smtClean="0"/>
          </a:p>
          <a:p>
            <a:pPr lvl="1" eaLnBrk="1" hangingPunct="1"/>
            <a:r>
              <a:rPr lang="zh-CN" altLang="en-US" smtClean="0"/>
              <a:t>书本等学习用品：</a:t>
            </a:r>
            <a:r>
              <a:rPr lang="en-US" altLang="zh-CN" smtClean="0"/>
              <a:t>49.7</a:t>
            </a:r>
            <a:r>
              <a:rPr lang="zh-CN" altLang="en-US" smtClean="0"/>
              <a:t>元</a:t>
            </a:r>
            <a:r>
              <a:rPr lang="en-US" altLang="zh-CN" smtClean="0"/>
              <a:t>/</a:t>
            </a:r>
            <a:r>
              <a:rPr lang="zh-CN" altLang="en-US" smtClean="0"/>
              <a:t>月</a:t>
            </a:r>
            <a:endParaRPr lang="zh-CN" altLang="en-US" smtClean="0"/>
          </a:p>
          <a:p>
            <a:pPr lvl="1" eaLnBrk="1" hangingPunct="1"/>
            <a:r>
              <a:rPr lang="zh-CN" altLang="en-US" smtClean="0"/>
              <a:t>其他支出：手机、交友</a:t>
            </a:r>
            <a:r>
              <a:rPr lang="en-US" altLang="zh-CN" smtClean="0"/>
              <a:t>……</a:t>
            </a:r>
            <a:endParaRPr lang="en-US" altLang="zh-CN" smtClean="0"/>
          </a:p>
          <a:p>
            <a:pPr eaLnBrk="1" hangingPunct="1"/>
            <a:r>
              <a:rPr lang="zh-CN" altLang="en-US" smtClean="0"/>
              <a:t>结论：硕士生入不敷出，博士生基本平衡</a:t>
            </a:r>
            <a:endParaRPr lang="zh-CN" alt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4053">
                                            <p:txEl>
                                              <p:pRg st="4" end="4"/>
                                            </p:txEl>
                                          </p:spTgt>
                                        </p:tgtEl>
                                        <p:attrNameLst>
                                          <p:attrName>style.visibility</p:attrName>
                                        </p:attrNameLst>
                                      </p:cBhvr>
                                      <p:to>
                                        <p:strVal val="visible"/>
                                      </p:to>
                                    </p:set>
                                    <p:anim calcmode="lin" valueType="num">
                                      <p:cBhvr additive="base">
                                        <p:cTn id="7" dur="500" fill="hold"/>
                                        <p:tgtEl>
                                          <p:spTgt spid="51405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405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14053">
                                            <p:txEl>
                                              <p:pRg st="5" end="5"/>
                                            </p:txEl>
                                          </p:spTgt>
                                        </p:tgtEl>
                                        <p:attrNameLst>
                                          <p:attrName>style.visibility</p:attrName>
                                        </p:attrNameLst>
                                      </p:cBhvr>
                                      <p:to>
                                        <p:strVal val="visible"/>
                                      </p:to>
                                    </p:set>
                                    <p:anim calcmode="lin" valueType="num">
                                      <p:cBhvr additive="base">
                                        <p:cTn id="11" dur="500" fill="hold"/>
                                        <p:tgtEl>
                                          <p:spTgt spid="51405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405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14053">
                                            <p:txEl>
                                              <p:pRg st="6" end="6"/>
                                            </p:txEl>
                                          </p:spTgt>
                                        </p:tgtEl>
                                        <p:attrNameLst>
                                          <p:attrName>style.visibility</p:attrName>
                                        </p:attrNameLst>
                                      </p:cBhvr>
                                      <p:to>
                                        <p:strVal val="visible"/>
                                      </p:to>
                                    </p:set>
                                    <p:anim calcmode="lin" valueType="num">
                                      <p:cBhvr additive="base">
                                        <p:cTn id="15" dur="500" fill="hold"/>
                                        <p:tgtEl>
                                          <p:spTgt spid="51405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1405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14053">
                                            <p:txEl>
                                              <p:pRg st="7" end="7"/>
                                            </p:txEl>
                                          </p:spTgt>
                                        </p:tgtEl>
                                        <p:attrNameLst>
                                          <p:attrName>style.visibility</p:attrName>
                                        </p:attrNameLst>
                                      </p:cBhvr>
                                      <p:to>
                                        <p:strVal val="visible"/>
                                      </p:to>
                                    </p:set>
                                    <p:anim calcmode="lin" valueType="num">
                                      <p:cBhvr additive="base">
                                        <p:cTn id="19" dur="500" fill="hold"/>
                                        <p:tgtEl>
                                          <p:spTgt spid="51405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405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14053">
                                            <p:txEl>
                                              <p:pRg st="8" end="8"/>
                                            </p:txEl>
                                          </p:spTgt>
                                        </p:tgtEl>
                                        <p:attrNameLst>
                                          <p:attrName>style.visibility</p:attrName>
                                        </p:attrNameLst>
                                      </p:cBhvr>
                                      <p:to>
                                        <p:strVal val="visible"/>
                                      </p:to>
                                    </p:set>
                                    <p:anim calcmode="lin" valueType="num">
                                      <p:cBhvr additive="base">
                                        <p:cTn id="23" dur="500" fill="hold"/>
                                        <p:tgtEl>
                                          <p:spTgt spid="51405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1405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14053">
                                            <p:txEl>
                                              <p:pRg st="9" end="9"/>
                                            </p:txEl>
                                          </p:spTgt>
                                        </p:tgtEl>
                                        <p:attrNameLst>
                                          <p:attrName>style.visibility</p:attrName>
                                        </p:attrNameLst>
                                      </p:cBhvr>
                                      <p:to>
                                        <p:strVal val="visible"/>
                                      </p:to>
                                    </p:set>
                                    <p:anim calcmode="lin" valueType="num">
                                      <p:cBhvr additive="base">
                                        <p:cTn id="27" dur="500" fill="hold"/>
                                        <p:tgtEl>
                                          <p:spTgt spid="51405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1405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14053">
                                            <p:txEl>
                                              <p:pRg st="10" end="10"/>
                                            </p:txEl>
                                          </p:spTgt>
                                        </p:tgtEl>
                                        <p:attrNameLst>
                                          <p:attrName>style.visibility</p:attrName>
                                        </p:attrNameLst>
                                      </p:cBhvr>
                                      <p:to>
                                        <p:strVal val="visible"/>
                                      </p:to>
                                    </p:set>
                                    <p:anim calcmode="lin" valueType="num">
                                      <p:cBhvr additive="base">
                                        <p:cTn id="33" dur="500" fill="hold"/>
                                        <p:tgtEl>
                                          <p:spTgt spid="514053">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1405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529FA01-B4FB-4E19-8B15-96C3AC2A3281}" type="slidenum">
              <a:rPr lang="zh-CN" altLang="en-US" sz="1400" smtClean="0"/>
            </a:fld>
            <a:endParaRPr lang="en-US" altLang="zh-CN" sz="1400" smtClean="0"/>
          </a:p>
        </p:txBody>
      </p:sp>
      <p:sp>
        <p:nvSpPr>
          <p:cNvPr id="26627" name="Rectangle 4"/>
          <p:cNvSpPr>
            <a:spLocks noGrp="1" noChangeArrowheads="1"/>
          </p:cNvSpPr>
          <p:nvPr>
            <p:ph type="title"/>
          </p:nvPr>
        </p:nvSpPr>
        <p:spPr>
          <a:xfrm>
            <a:off x="0" y="12700"/>
            <a:ext cx="8178800" cy="609600"/>
          </a:xfrm>
          <a:solidFill>
            <a:srgbClr val="99CCFF"/>
          </a:solidFill>
        </p:spPr>
        <p:txBody>
          <a:bodyPr/>
          <a:lstStyle/>
          <a:p>
            <a:pPr eaLnBrk="1" hangingPunct="1"/>
            <a:r>
              <a:rPr lang="zh-CN" altLang="en-US" smtClean="0">
                <a:solidFill>
                  <a:srgbClr val="CC0000"/>
                </a:solidFill>
              </a:rPr>
              <a:t>抽样方法</a:t>
            </a:r>
            <a:r>
              <a:rPr lang="en-US" altLang="zh-CN" smtClean="0">
                <a:solidFill>
                  <a:srgbClr val="CC0000"/>
                </a:solidFill>
              </a:rPr>
              <a:t>1——</a:t>
            </a:r>
            <a:r>
              <a:rPr lang="zh-CN" altLang="en-US" smtClean="0">
                <a:solidFill>
                  <a:srgbClr val="CC0000"/>
                </a:solidFill>
              </a:rPr>
              <a:t>概率抽样</a:t>
            </a:r>
            <a:endParaRPr lang="zh-CN" altLang="en-US" smtClean="0">
              <a:solidFill>
                <a:srgbClr val="CC0000"/>
              </a:solidFill>
            </a:endParaRPr>
          </a:p>
        </p:txBody>
      </p:sp>
      <p:sp>
        <p:nvSpPr>
          <p:cNvPr id="515077" name="Rectangle 5"/>
          <p:cNvSpPr>
            <a:spLocks noGrp="1" noChangeArrowheads="1"/>
          </p:cNvSpPr>
          <p:nvPr>
            <p:ph type="body" idx="1"/>
          </p:nvPr>
        </p:nvSpPr>
        <p:spPr>
          <a:xfrm>
            <a:off x="0" y="977900"/>
            <a:ext cx="9144000" cy="5880100"/>
          </a:xfrm>
          <a:solidFill>
            <a:schemeClr val="accent1"/>
          </a:solidFill>
        </p:spPr>
        <p:txBody>
          <a:bodyPr/>
          <a:lstStyle/>
          <a:p>
            <a:pPr eaLnBrk="1" hangingPunct="1"/>
            <a:r>
              <a:rPr lang="zh-CN" altLang="en-US" smtClean="0"/>
              <a:t>概率抽样：每个个体被抽中的概率相同</a:t>
            </a:r>
            <a:endParaRPr lang="zh-CN" altLang="en-US" smtClean="0"/>
          </a:p>
          <a:p>
            <a:pPr lvl="1" eaLnBrk="1" hangingPunct="1"/>
            <a:r>
              <a:rPr lang="en-US" altLang="zh-CN" b="1" smtClean="0"/>
              <a:t>1. </a:t>
            </a:r>
            <a:r>
              <a:rPr lang="zh-CN" altLang="en-US" b="1" smtClean="0"/>
              <a:t>简单随机抽样</a:t>
            </a:r>
            <a:endParaRPr lang="zh-CN" altLang="en-US" b="1" smtClean="0"/>
          </a:p>
          <a:p>
            <a:pPr lvl="1" eaLnBrk="1" hangingPunct="1"/>
            <a:r>
              <a:rPr lang="en-US" altLang="zh-CN" b="1" smtClean="0"/>
              <a:t>2. </a:t>
            </a:r>
            <a:r>
              <a:rPr lang="zh-CN" altLang="en-US" b="1" smtClean="0"/>
              <a:t>系统抽样</a:t>
            </a:r>
            <a:endParaRPr lang="zh-CN" altLang="en-US" b="1" smtClean="0"/>
          </a:p>
          <a:p>
            <a:pPr lvl="2" eaLnBrk="1" hangingPunct="1"/>
            <a:r>
              <a:rPr lang="zh-CN" altLang="en-US" smtClean="0"/>
              <a:t>系统化地选择完整名单中的每</a:t>
            </a:r>
            <a:r>
              <a:rPr lang="en-US" altLang="zh-CN" smtClean="0"/>
              <a:t>K</a:t>
            </a:r>
            <a:r>
              <a:rPr lang="zh-CN" altLang="en-US" smtClean="0"/>
              <a:t>个要素组成的样本</a:t>
            </a:r>
            <a:endParaRPr lang="zh-CN" altLang="en-US" smtClean="0"/>
          </a:p>
          <a:p>
            <a:pPr lvl="2" eaLnBrk="1" hangingPunct="1"/>
            <a:r>
              <a:rPr lang="zh-CN" altLang="en-US" smtClean="0"/>
              <a:t>以随机的形式选择第一个个体</a:t>
            </a:r>
            <a:endParaRPr lang="zh-CN" altLang="en-US" smtClean="0"/>
          </a:p>
          <a:p>
            <a:pPr lvl="2" eaLnBrk="1" hangingPunct="1"/>
            <a:r>
              <a:rPr lang="zh-CN" altLang="en-US" smtClean="0"/>
              <a:t>抽样间距</a:t>
            </a:r>
            <a:r>
              <a:rPr lang="en-US" altLang="zh-CN" smtClean="0"/>
              <a:t>(K)</a:t>
            </a:r>
            <a:r>
              <a:rPr lang="zh-CN" altLang="en-US" smtClean="0"/>
              <a:t>、抽样比率</a:t>
            </a:r>
            <a:r>
              <a:rPr lang="en-US" altLang="zh-CN" smtClean="0"/>
              <a:t>(1/K)</a:t>
            </a:r>
            <a:endParaRPr lang="en-US" altLang="zh-CN" smtClean="0"/>
          </a:p>
          <a:p>
            <a:pPr lvl="1" eaLnBrk="1" hangingPunct="1"/>
            <a:r>
              <a:rPr lang="en-US" altLang="zh-CN" b="1" smtClean="0"/>
              <a:t>3. </a:t>
            </a:r>
            <a:r>
              <a:rPr lang="zh-CN" altLang="en-US" b="1" smtClean="0"/>
              <a:t>分层抽样</a:t>
            </a:r>
            <a:endParaRPr lang="zh-CN" altLang="en-US" b="1" smtClean="0"/>
          </a:p>
          <a:p>
            <a:pPr lvl="2" eaLnBrk="1" hangingPunct="1"/>
            <a:r>
              <a:rPr lang="zh-CN" altLang="en-US" smtClean="0"/>
              <a:t>保证总体内同质的次级集合能够以同样的概率被抽中</a:t>
            </a:r>
            <a:endParaRPr lang="zh-CN" altLang="en-US" smtClean="0"/>
          </a:p>
          <a:p>
            <a:pPr lvl="3" eaLnBrk="1" hangingPunct="1"/>
            <a:r>
              <a:rPr lang="zh-CN" altLang="en-US" smtClean="0"/>
              <a:t>全国城市人口：省、市、区、街道、居委会</a:t>
            </a:r>
            <a:endParaRPr lang="zh-CN" altLang="en-US" smtClean="0"/>
          </a:p>
          <a:p>
            <a:pPr lvl="3" eaLnBrk="1" hangingPunct="1"/>
            <a:r>
              <a:rPr lang="zh-CN" altLang="en-US" smtClean="0"/>
              <a:t>清华本科生：系、年级、班级、宿舍</a:t>
            </a:r>
            <a:endParaRPr lang="zh-CN" altLang="en-US" smtClean="0"/>
          </a:p>
          <a:p>
            <a:pPr lvl="1" eaLnBrk="1" hangingPunct="1"/>
            <a:r>
              <a:rPr lang="en-US" altLang="zh-CN" b="1" smtClean="0"/>
              <a:t>4. </a:t>
            </a:r>
            <a:r>
              <a:rPr lang="zh-CN" altLang="en-US" b="1" smtClean="0"/>
              <a:t>概率比例抽样</a:t>
            </a:r>
            <a:r>
              <a:rPr lang="en-US" altLang="zh-CN" b="1" smtClean="0"/>
              <a:t>(PPS)</a:t>
            </a:r>
            <a:endParaRPr lang="en-US" altLang="zh-CN" b="1" smtClean="0"/>
          </a:p>
          <a:p>
            <a:pPr lvl="2" eaLnBrk="1" hangingPunct="1"/>
            <a:r>
              <a:rPr lang="zh-CN" altLang="en-US" smtClean="0"/>
              <a:t>每个次级集合被选取的概率与其大小成比例</a:t>
            </a:r>
            <a:endParaRPr lang="zh-CN" altLang="en-US" smtClean="0"/>
          </a:p>
          <a:p>
            <a:pPr eaLnBrk="1" hangingPunct="1"/>
            <a:endParaRPr lang="zh-CN" altLang="en-US" sz="20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5077">
                                            <p:txEl>
                                              <p:pRg st="6" end="6"/>
                                            </p:txEl>
                                          </p:spTgt>
                                        </p:tgtEl>
                                        <p:attrNameLst>
                                          <p:attrName>style.visibility</p:attrName>
                                        </p:attrNameLst>
                                      </p:cBhvr>
                                      <p:to>
                                        <p:strVal val="visible"/>
                                      </p:to>
                                    </p:set>
                                    <p:animEffect transition="in" filter="blinds(horizontal)">
                                      <p:cBhvr>
                                        <p:cTn id="7" dur="500"/>
                                        <p:tgtEl>
                                          <p:spTgt spid="515077">
                                            <p:txEl>
                                              <p:pRg st="6" end="6"/>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15077">
                                            <p:txEl>
                                              <p:pRg st="7" end="7"/>
                                            </p:txEl>
                                          </p:spTgt>
                                        </p:tgtEl>
                                        <p:attrNameLst>
                                          <p:attrName>style.visibility</p:attrName>
                                        </p:attrNameLst>
                                      </p:cBhvr>
                                      <p:to>
                                        <p:strVal val="visible"/>
                                      </p:to>
                                    </p:set>
                                    <p:animEffect transition="in" filter="blinds(horizontal)">
                                      <p:cBhvr>
                                        <p:cTn id="10" dur="500"/>
                                        <p:tgtEl>
                                          <p:spTgt spid="515077">
                                            <p:txEl>
                                              <p:pRg st="7" end="7"/>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15077">
                                            <p:txEl>
                                              <p:pRg st="8" end="8"/>
                                            </p:txEl>
                                          </p:spTgt>
                                        </p:tgtEl>
                                        <p:attrNameLst>
                                          <p:attrName>style.visibility</p:attrName>
                                        </p:attrNameLst>
                                      </p:cBhvr>
                                      <p:to>
                                        <p:strVal val="visible"/>
                                      </p:to>
                                    </p:set>
                                    <p:animEffect transition="in" filter="blinds(horizontal)">
                                      <p:cBhvr>
                                        <p:cTn id="13" dur="500"/>
                                        <p:tgtEl>
                                          <p:spTgt spid="515077">
                                            <p:txEl>
                                              <p:pRg st="8" end="8"/>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15077">
                                            <p:txEl>
                                              <p:pRg st="9" end="9"/>
                                            </p:txEl>
                                          </p:spTgt>
                                        </p:tgtEl>
                                        <p:attrNameLst>
                                          <p:attrName>style.visibility</p:attrName>
                                        </p:attrNameLst>
                                      </p:cBhvr>
                                      <p:to>
                                        <p:strVal val="visible"/>
                                      </p:to>
                                    </p:set>
                                    <p:animEffect transition="in" filter="blinds(horizontal)">
                                      <p:cBhvr>
                                        <p:cTn id="16" dur="500"/>
                                        <p:tgtEl>
                                          <p:spTgt spid="515077">
                                            <p:txEl>
                                              <p:pRg st="9" end="9"/>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515077">
                                            <p:txEl>
                                              <p:pRg st="10" end="10"/>
                                            </p:txEl>
                                          </p:spTgt>
                                        </p:tgtEl>
                                        <p:attrNameLst>
                                          <p:attrName>style.visibility</p:attrName>
                                        </p:attrNameLst>
                                      </p:cBhvr>
                                      <p:to>
                                        <p:strVal val="visible"/>
                                      </p:to>
                                    </p:set>
                                    <p:animEffect transition="in" filter="blinds(horizontal)">
                                      <p:cBhvr>
                                        <p:cTn id="21" dur="500"/>
                                        <p:tgtEl>
                                          <p:spTgt spid="515077">
                                            <p:txEl>
                                              <p:pRg st="10" end="10"/>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515077">
                                            <p:txEl>
                                              <p:pRg st="11" end="11"/>
                                            </p:txEl>
                                          </p:spTgt>
                                        </p:tgtEl>
                                        <p:attrNameLst>
                                          <p:attrName>style.visibility</p:attrName>
                                        </p:attrNameLst>
                                      </p:cBhvr>
                                      <p:to>
                                        <p:strVal val="visible"/>
                                      </p:to>
                                    </p:set>
                                    <p:animEffect transition="in" filter="blinds(horizontal)">
                                      <p:cBhvr>
                                        <p:cTn id="24" dur="500"/>
                                        <p:tgtEl>
                                          <p:spTgt spid="51507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42CF4D6-57D4-4B28-8B6A-113D5A891E10}" type="slidenum">
              <a:rPr lang="zh-CN" altLang="en-US" sz="1400" smtClean="0"/>
            </a:fld>
            <a:endParaRPr lang="en-US" altLang="zh-CN" sz="1400" smtClean="0"/>
          </a:p>
        </p:txBody>
      </p:sp>
      <p:sp>
        <p:nvSpPr>
          <p:cNvPr id="27651" name="Rectangle 4"/>
          <p:cNvSpPr>
            <a:spLocks noGrp="1" noChangeArrowheads="1"/>
          </p:cNvSpPr>
          <p:nvPr>
            <p:ph type="title"/>
          </p:nvPr>
        </p:nvSpPr>
        <p:spPr>
          <a:xfrm>
            <a:off x="0" y="12700"/>
            <a:ext cx="8178800" cy="609600"/>
          </a:xfrm>
          <a:solidFill>
            <a:srgbClr val="99CCFF"/>
          </a:solidFill>
        </p:spPr>
        <p:txBody>
          <a:bodyPr/>
          <a:lstStyle/>
          <a:p>
            <a:pPr eaLnBrk="1" hangingPunct="1"/>
            <a:r>
              <a:rPr lang="zh-CN" altLang="en-US" smtClean="0">
                <a:solidFill>
                  <a:srgbClr val="CC0000"/>
                </a:solidFill>
              </a:rPr>
              <a:t>抽样方法</a:t>
            </a:r>
            <a:r>
              <a:rPr lang="en-US" altLang="zh-CN" smtClean="0">
                <a:solidFill>
                  <a:srgbClr val="CC0000"/>
                </a:solidFill>
              </a:rPr>
              <a:t>2——</a:t>
            </a:r>
            <a:r>
              <a:rPr lang="zh-CN" altLang="en-US" smtClean="0">
                <a:solidFill>
                  <a:srgbClr val="CC0000"/>
                </a:solidFill>
              </a:rPr>
              <a:t>非概率抽样</a:t>
            </a:r>
            <a:endParaRPr lang="zh-CN" altLang="en-US" smtClean="0">
              <a:solidFill>
                <a:srgbClr val="CC0000"/>
              </a:solidFill>
            </a:endParaRPr>
          </a:p>
        </p:txBody>
      </p:sp>
      <p:sp>
        <p:nvSpPr>
          <p:cNvPr id="516101" name="Rectangle 5"/>
          <p:cNvSpPr>
            <a:spLocks noGrp="1" noChangeArrowheads="1"/>
          </p:cNvSpPr>
          <p:nvPr>
            <p:ph type="body" idx="1"/>
          </p:nvPr>
        </p:nvSpPr>
        <p:spPr>
          <a:xfrm>
            <a:off x="0" y="977900"/>
            <a:ext cx="9144000" cy="5880100"/>
          </a:xfrm>
          <a:solidFill>
            <a:srgbClr val="99CCFF"/>
          </a:solidFill>
        </p:spPr>
        <p:txBody>
          <a:bodyPr/>
          <a:lstStyle/>
          <a:p>
            <a:pPr eaLnBrk="1" hangingPunct="1"/>
            <a:r>
              <a:rPr lang="zh-CN" altLang="en-US" smtClean="0"/>
              <a:t>非概率抽样：不能保证每个个体被抽中的概率相同</a:t>
            </a:r>
            <a:endParaRPr lang="zh-CN" altLang="en-US" smtClean="0"/>
          </a:p>
          <a:p>
            <a:pPr lvl="1" eaLnBrk="1" hangingPunct="1"/>
            <a:r>
              <a:rPr lang="en-US" altLang="zh-CN" b="1" smtClean="0"/>
              <a:t>1. </a:t>
            </a:r>
            <a:r>
              <a:rPr lang="zh-CN" altLang="en-US" b="1" smtClean="0"/>
              <a:t>就近抽样（方便抽样）</a:t>
            </a:r>
            <a:endParaRPr lang="en-US" altLang="zh-CN" b="1" smtClean="0"/>
          </a:p>
          <a:p>
            <a:pPr lvl="1" eaLnBrk="1" hangingPunct="1"/>
            <a:r>
              <a:rPr lang="en-US" altLang="zh-CN" b="1" smtClean="0"/>
              <a:t>2. </a:t>
            </a:r>
            <a:r>
              <a:rPr lang="zh-CN" altLang="en-US" b="1" smtClean="0"/>
              <a:t>滚雪球抽样</a:t>
            </a:r>
            <a:endParaRPr lang="zh-CN" altLang="en-US" b="1" smtClean="0"/>
          </a:p>
          <a:p>
            <a:pPr lvl="2" eaLnBrk="1" hangingPunct="1"/>
            <a:r>
              <a:rPr lang="zh-CN" altLang="en-US" smtClean="0"/>
              <a:t>根据既有研究对象的建议找出其他研究对象的积累过程</a:t>
            </a:r>
            <a:endParaRPr lang="zh-CN" altLang="en-US" smtClean="0"/>
          </a:p>
          <a:p>
            <a:pPr lvl="1" eaLnBrk="1" hangingPunct="1"/>
            <a:r>
              <a:rPr lang="en-US" altLang="zh-CN" b="1" smtClean="0"/>
              <a:t>3. </a:t>
            </a:r>
            <a:r>
              <a:rPr lang="zh-CN" altLang="en-US" b="1" smtClean="0"/>
              <a:t>配额抽样</a:t>
            </a:r>
            <a:endParaRPr lang="zh-CN" altLang="en-US" b="1" smtClean="0"/>
          </a:p>
          <a:p>
            <a:pPr lvl="2" eaLnBrk="1" hangingPunct="1"/>
            <a:r>
              <a:rPr lang="zh-CN" altLang="en-US" smtClean="0"/>
              <a:t>强调样本的代表性</a:t>
            </a:r>
            <a:endParaRPr lang="zh-CN" altLang="en-US" smtClean="0"/>
          </a:p>
          <a:p>
            <a:pPr lvl="2" eaLnBrk="1" hangingPunct="1"/>
            <a:r>
              <a:rPr lang="zh-CN" altLang="en-US" smtClean="0"/>
              <a:t>从建立描述目标总体特征的矩阵或表格开始</a:t>
            </a:r>
            <a:endParaRPr lang="zh-CN" altLang="en-US" smtClean="0"/>
          </a:p>
          <a:p>
            <a:pPr lvl="3" eaLnBrk="1" hangingPunct="1"/>
            <a:r>
              <a:rPr lang="zh-CN" altLang="en-US" smtClean="0"/>
              <a:t>例如：性别、年龄、工作单位</a:t>
            </a:r>
            <a:endParaRPr lang="zh-CN" altLang="en-US" smtClean="0"/>
          </a:p>
          <a:p>
            <a:pPr lvl="3" eaLnBrk="1" hangingPunct="1"/>
            <a:r>
              <a:rPr lang="zh-CN" altLang="en-US" smtClean="0"/>
              <a:t>系、年级、性别</a:t>
            </a:r>
            <a:endParaRPr lang="zh-CN" alt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6101">
                                            <p:txEl>
                                              <p:pRg st="2" end="2"/>
                                            </p:txEl>
                                          </p:spTgt>
                                        </p:tgtEl>
                                        <p:attrNameLst>
                                          <p:attrName>style.visibility</p:attrName>
                                        </p:attrNameLst>
                                      </p:cBhvr>
                                      <p:to>
                                        <p:strVal val="visible"/>
                                      </p:to>
                                    </p:set>
                                    <p:anim calcmode="lin" valueType="num">
                                      <p:cBhvr additive="base">
                                        <p:cTn id="7" dur="500" fill="hold"/>
                                        <p:tgtEl>
                                          <p:spTgt spid="51610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6101">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16101">
                                            <p:txEl>
                                              <p:pRg st="3" end="3"/>
                                            </p:txEl>
                                          </p:spTgt>
                                        </p:tgtEl>
                                        <p:attrNameLst>
                                          <p:attrName>style.visibility</p:attrName>
                                        </p:attrNameLst>
                                      </p:cBhvr>
                                      <p:to>
                                        <p:strVal val="visible"/>
                                      </p:to>
                                    </p:set>
                                    <p:anim calcmode="lin" valueType="num">
                                      <p:cBhvr additive="base">
                                        <p:cTn id="11" dur="500" fill="hold"/>
                                        <p:tgtEl>
                                          <p:spTgt spid="516101">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610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16101">
                                            <p:txEl>
                                              <p:pRg st="4" end="4"/>
                                            </p:txEl>
                                          </p:spTgt>
                                        </p:tgtEl>
                                        <p:attrNameLst>
                                          <p:attrName>style.visibility</p:attrName>
                                        </p:attrNameLst>
                                      </p:cBhvr>
                                      <p:to>
                                        <p:strVal val="visible"/>
                                      </p:to>
                                    </p:set>
                                    <p:anim calcmode="lin" valueType="num">
                                      <p:cBhvr additive="base">
                                        <p:cTn id="17" dur="500" fill="hold"/>
                                        <p:tgtEl>
                                          <p:spTgt spid="516101">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16101">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16101">
                                            <p:txEl>
                                              <p:pRg st="5" end="5"/>
                                            </p:txEl>
                                          </p:spTgt>
                                        </p:tgtEl>
                                        <p:attrNameLst>
                                          <p:attrName>style.visibility</p:attrName>
                                        </p:attrNameLst>
                                      </p:cBhvr>
                                      <p:to>
                                        <p:strVal val="visible"/>
                                      </p:to>
                                    </p:set>
                                    <p:anim calcmode="lin" valueType="num">
                                      <p:cBhvr additive="base">
                                        <p:cTn id="21" dur="500" fill="hold"/>
                                        <p:tgtEl>
                                          <p:spTgt spid="516101">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16101">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16101">
                                            <p:txEl>
                                              <p:pRg st="6" end="6"/>
                                            </p:txEl>
                                          </p:spTgt>
                                        </p:tgtEl>
                                        <p:attrNameLst>
                                          <p:attrName>style.visibility</p:attrName>
                                        </p:attrNameLst>
                                      </p:cBhvr>
                                      <p:to>
                                        <p:strVal val="visible"/>
                                      </p:to>
                                    </p:set>
                                    <p:anim calcmode="lin" valueType="num">
                                      <p:cBhvr additive="base">
                                        <p:cTn id="25" dur="500" fill="hold"/>
                                        <p:tgtEl>
                                          <p:spTgt spid="516101">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6101">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16101">
                                            <p:txEl>
                                              <p:pRg st="7" end="7"/>
                                            </p:txEl>
                                          </p:spTgt>
                                        </p:tgtEl>
                                        <p:attrNameLst>
                                          <p:attrName>style.visibility</p:attrName>
                                        </p:attrNameLst>
                                      </p:cBhvr>
                                      <p:to>
                                        <p:strVal val="visible"/>
                                      </p:to>
                                    </p:set>
                                    <p:anim calcmode="lin" valueType="num">
                                      <p:cBhvr additive="base">
                                        <p:cTn id="29" dur="500" fill="hold"/>
                                        <p:tgtEl>
                                          <p:spTgt spid="516101">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16101">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16101">
                                            <p:txEl>
                                              <p:pRg st="8" end="8"/>
                                            </p:txEl>
                                          </p:spTgt>
                                        </p:tgtEl>
                                        <p:attrNameLst>
                                          <p:attrName>style.visibility</p:attrName>
                                        </p:attrNameLst>
                                      </p:cBhvr>
                                      <p:to>
                                        <p:strVal val="visible"/>
                                      </p:to>
                                    </p:set>
                                    <p:anim calcmode="lin" valueType="num">
                                      <p:cBhvr additive="base">
                                        <p:cTn id="33" dur="500" fill="hold"/>
                                        <p:tgtEl>
                                          <p:spTgt spid="516101">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1610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744C4F0-6328-41B7-90AC-65EDA941396E}" type="slidenum">
              <a:rPr lang="zh-CN" altLang="en-US" sz="1400" smtClean="0"/>
            </a:fld>
            <a:endParaRPr lang="en-US" altLang="zh-CN" sz="1400" smtClean="0"/>
          </a:p>
        </p:txBody>
      </p:sp>
      <p:sp>
        <p:nvSpPr>
          <p:cNvPr id="28675" name="Rectangle 4"/>
          <p:cNvSpPr>
            <a:spLocks noGrp="1" noChangeArrowheads="1"/>
          </p:cNvSpPr>
          <p:nvPr>
            <p:ph type="title"/>
          </p:nvPr>
        </p:nvSpPr>
        <p:spPr>
          <a:xfrm>
            <a:off x="0" y="12700"/>
            <a:ext cx="8178800" cy="609600"/>
          </a:xfrm>
          <a:solidFill>
            <a:srgbClr val="99CCFF"/>
          </a:solidFill>
        </p:spPr>
        <p:txBody>
          <a:bodyPr/>
          <a:lstStyle/>
          <a:p>
            <a:pPr eaLnBrk="1" hangingPunct="1"/>
            <a:r>
              <a:rPr lang="zh-CN" altLang="en-US" smtClean="0">
                <a:solidFill>
                  <a:srgbClr val="CC0000"/>
                </a:solidFill>
              </a:rPr>
              <a:t>问卷</a:t>
            </a:r>
            <a:r>
              <a:rPr lang="en-US" altLang="zh-CN" smtClean="0">
                <a:solidFill>
                  <a:srgbClr val="CC0000"/>
                </a:solidFill>
              </a:rPr>
              <a:t>(questionnaire)</a:t>
            </a:r>
            <a:r>
              <a:rPr lang="zh-CN" altLang="en-US" smtClean="0">
                <a:solidFill>
                  <a:srgbClr val="CC0000"/>
                </a:solidFill>
              </a:rPr>
              <a:t>设计技术</a:t>
            </a:r>
            <a:endParaRPr lang="zh-CN" altLang="en-US" smtClean="0">
              <a:solidFill>
                <a:srgbClr val="CC0000"/>
              </a:solidFill>
            </a:endParaRPr>
          </a:p>
        </p:txBody>
      </p:sp>
      <p:sp>
        <p:nvSpPr>
          <p:cNvPr id="517125" name="Rectangle 5"/>
          <p:cNvSpPr>
            <a:spLocks noGrp="1" noChangeArrowheads="1"/>
          </p:cNvSpPr>
          <p:nvPr>
            <p:ph type="body" idx="1"/>
          </p:nvPr>
        </p:nvSpPr>
        <p:spPr>
          <a:xfrm>
            <a:off x="0" y="977900"/>
            <a:ext cx="9144000" cy="5880100"/>
          </a:xfrm>
          <a:solidFill>
            <a:srgbClr val="99CCFF"/>
          </a:solidFill>
        </p:spPr>
        <p:txBody>
          <a:bodyPr/>
          <a:lstStyle/>
          <a:p>
            <a:pPr eaLnBrk="1" hangingPunct="1"/>
            <a:r>
              <a:rPr lang="en-US" altLang="zh-CN" sz="2400" b="1" smtClean="0"/>
              <a:t>(1) </a:t>
            </a:r>
            <a:r>
              <a:rPr lang="zh-CN" altLang="en-US" sz="2400" b="1" smtClean="0"/>
              <a:t>提问的原则</a:t>
            </a:r>
            <a:endParaRPr lang="zh-CN" altLang="en-US" sz="2400" b="1" smtClean="0"/>
          </a:p>
          <a:p>
            <a:pPr lvl="1" eaLnBrk="1" hangingPunct="1"/>
            <a:r>
              <a:rPr lang="en-US" altLang="zh-CN" sz="2400" smtClean="0"/>
              <a:t>(1) </a:t>
            </a:r>
            <a:r>
              <a:rPr lang="zh-CN" altLang="en-US" sz="2400" smtClean="0"/>
              <a:t>选择合适的问题形式</a:t>
            </a:r>
            <a:endParaRPr lang="zh-CN" altLang="en-US" sz="2400" smtClean="0"/>
          </a:p>
          <a:p>
            <a:pPr lvl="2" eaLnBrk="1" hangingPunct="1"/>
            <a:r>
              <a:rPr lang="zh-CN" altLang="en-US" smtClean="0"/>
              <a:t>开放式（深度和定性问题）、封闭式（穷尽所有可能性）</a:t>
            </a:r>
            <a:endParaRPr lang="zh-CN" altLang="en-US" smtClean="0"/>
          </a:p>
          <a:p>
            <a:pPr lvl="1" eaLnBrk="1" hangingPunct="1"/>
            <a:r>
              <a:rPr lang="en-US" altLang="zh-CN" sz="2400" smtClean="0"/>
              <a:t>(2) </a:t>
            </a:r>
            <a:r>
              <a:rPr lang="zh-CN" altLang="en-US" sz="2400" smtClean="0"/>
              <a:t>避免双重性问题</a:t>
            </a:r>
            <a:endParaRPr lang="zh-CN" altLang="en-US" sz="2400" smtClean="0"/>
          </a:p>
          <a:p>
            <a:pPr lvl="1" eaLnBrk="1" hangingPunct="1"/>
            <a:r>
              <a:rPr lang="en-US" altLang="zh-CN" sz="2400" smtClean="0"/>
              <a:t>(3) </a:t>
            </a:r>
            <a:r>
              <a:rPr lang="zh-CN" altLang="en-US" sz="2400" smtClean="0"/>
              <a:t>避免否定性问题</a:t>
            </a:r>
            <a:endParaRPr lang="zh-CN" altLang="en-US" sz="2400" smtClean="0"/>
          </a:p>
          <a:p>
            <a:pPr lvl="1" eaLnBrk="1" hangingPunct="1"/>
            <a:r>
              <a:rPr lang="en-US" altLang="zh-CN" sz="2400" smtClean="0"/>
              <a:t>(4) </a:t>
            </a:r>
            <a:r>
              <a:rPr lang="zh-CN" altLang="en-US" sz="2400" smtClean="0"/>
              <a:t>避免带有倾向性的问题和词语</a:t>
            </a:r>
            <a:endParaRPr lang="zh-CN" altLang="en-US" sz="2400" smtClean="0"/>
          </a:p>
          <a:p>
            <a:pPr eaLnBrk="1" hangingPunct="1"/>
            <a:r>
              <a:rPr lang="en-US" altLang="zh-CN" sz="2400" b="1" smtClean="0"/>
              <a:t>(2) </a:t>
            </a:r>
            <a:r>
              <a:rPr lang="zh-CN" altLang="en-US" sz="2400" b="1" smtClean="0"/>
              <a:t>问卷的建构</a:t>
            </a:r>
            <a:endParaRPr lang="zh-CN" altLang="en-US" sz="2400" b="1" smtClean="0"/>
          </a:p>
          <a:p>
            <a:pPr lvl="1" eaLnBrk="1" hangingPunct="1"/>
            <a:r>
              <a:rPr lang="zh-CN" altLang="en-US" sz="2400" smtClean="0"/>
              <a:t>以最吸引人的问题开始</a:t>
            </a:r>
            <a:endParaRPr lang="zh-CN" altLang="en-US" sz="2400" smtClean="0"/>
          </a:p>
          <a:p>
            <a:pPr lvl="1" eaLnBrk="1" hangingPunct="1"/>
            <a:r>
              <a:rPr lang="zh-CN" altLang="en-US" sz="2400" smtClean="0"/>
              <a:t>把个人问题放在末尾</a:t>
            </a:r>
            <a:endParaRPr lang="zh-CN" altLang="en-US" sz="2400" smtClean="0"/>
          </a:p>
          <a:p>
            <a:pPr lvl="1" eaLnBrk="1" hangingPunct="1"/>
            <a:r>
              <a:rPr lang="zh-CN" altLang="en-US" sz="2400" smtClean="0"/>
              <a:t>问题的格式和回答方式</a:t>
            </a:r>
            <a:endParaRPr lang="zh-CN" altLang="en-US" sz="2400" smtClean="0"/>
          </a:p>
          <a:p>
            <a:pPr eaLnBrk="1" hangingPunct="1"/>
            <a:r>
              <a:rPr lang="en-US" altLang="zh-CN" sz="2400" b="1" smtClean="0"/>
              <a:t>(3) </a:t>
            </a:r>
            <a:r>
              <a:rPr lang="zh-CN" altLang="en-US" sz="2400" b="1" smtClean="0"/>
              <a:t>预调查</a:t>
            </a:r>
            <a:endParaRPr lang="zh-CN" altLang="en-US" sz="2400" b="1" smtClean="0"/>
          </a:p>
          <a:p>
            <a:pPr eaLnBrk="1" hangingPunct="1"/>
            <a:r>
              <a:rPr lang="en-US" altLang="zh-CN" sz="2400" b="1" smtClean="0"/>
              <a:t>(4) </a:t>
            </a:r>
            <a:r>
              <a:rPr lang="zh-CN" altLang="en-US" sz="2400" b="1" smtClean="0"/>
              <a:t>问卷回收率</a:t>
            </a:r>
            <a:endParaRPr lang="zh-CN" altLang="en-US" sz="2400" b="1" smtClean="0"/>
          </a:p>
          <a:p>
            <a:pPr lvl="1" eaLnBrk="1" hangingPunct="1"/>
            <a:r>
              <a:rPr lang="zh-CN" altLang="en-US" sz="2400" smtClean="0"/>
              <a:t>以上就一般而言，</a:t>
            </a:r>
            <a:r>
              <a:rPr lang="en-US" altLang="zh-CN" sz="2400" smtClean="0"/>
              <a:t>50%</a:t>
            </a:r>
            <a:r>
              <a:rPr lang="zh-CN" altLang="en-US" sz="2400" smtClean="0"/>
              <a:t>才是足够的</a:t>
            </a:r>
            <a:endParaRPr lang="zh-CN" altLang="en-US" sz="24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7125">
                                            <p:txEl>
                                              <p:pRg st="6" end="6"/>
                                            </p:txEl>
                                          </p:spTgt>
                                        </p:tgtEl>
                                        <p:attrNameLst>
                                          <p:attrName>style.visibility</p:attrName>
                                        </p:attrNameLst>
                                      </p:cBhvr>
                                      <p:to>
                                        <p:strVal val="visible"/>
                                      </p:to>
                                    </p:set>
                                    <p:animEffect transition="in" filter="blinds(horizontal)">
                                      <p:cBhvr>
                                        <p:cTn id="7" dur="500"/>
                                        <p:tgtEl>
                                          <p:spTgt spid="517125">
                                            <p:txEl>
                                              <p:pRg st="6" end="6"/>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17125">
                                            <p:txEl>
                                              <p:pRg st="7" end="7"/>
                                            </p:txEl>
                                          </p:spTgt>
                                        </p:tgtEl>
                                        <p:attrNameLst>
                                          <p:attrName>style.visibility</p:attrName>
                                        </p:attrNameLst>
                                      </p:cBhvr>
                                      <p:to>
                                        <p:strVal val="visible"/>
                                      </p:to>
                                    </p:set>
                                    <p:animEffect transition="in" filter="blinds(horizontal)">
                                      <p:cBhvr>
                                        <p:cTn id="10" dur="500"/>
                                        <p:tgtEl>
                                          <p:spTgt spid="517125">
                                            <p:txEl>
                                              <p:pRg st="7" end="7"/>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17125">
                                            <p:txEl>
                                              <p:pRg st="8" end="8"/>
                                            </p:txEl>
                                          </p:spTgt>
                                        </p:tgtEl>
                                        <p:attrNameLst>
                                          <p:attrName>style.visibility</p:attrName>
                                        </p:attrNameLst>
                                      </p:cBhvr>
                                      <p:to>
                                        <p:strVal val="visible"/>
                                      </p:to>
                                    </p:set>
                                    <p:animEffect transition="in" filter="blinds(horizontal)">
                                      <p:cBhvr>
                                        <p:cTn id="13" dur="500"/>
                                        <p:tgtEl>
                                          <p:spTgt spid="517125">
                                            <p:txEl>
                                              <p:pRg st="8" end="8"/>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17125">
                                            <p:txEl>
                                              <p:pRg st="9" end="9"/>
                                            </p:txEl>
                                          </p:spTgt>
                                        </p:tgtEl>
                                        <p:attrNameLst>
                                          <p:attrName>style.visibility</p:attrName>
                                        </p:attrNameLst>
                                      </p:cBhvr>
                                      <p:to>
                                        <p:strVal val="visible"/>
                                      </p:to>
                                    </p:set>
                                    <p:animEffect transition="in" filter="blinds(horizontal)">
                                      <p:cBhvr>
                                        <p:cTn id="16" dur="500"/>
                                        <p:tgtEl>
                                          <p:spTgt spid="517125">
                                            <p:txEl>
                                              <p:pRg st="9" end="9"/>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517125">
                                            <p:txEl>
                                              <p:pRg st="10" end="10"/>
                                            </p:txEl>
                                          </p:spTgt>
                                        </p:tgtEl>
                                        <p:attrNameLst>
                                          <p:attrName>style.visibility</p:attrName>
                                        </p:attrNameLst>
                                      </p:cBhvr>
                                      <p:to>
                                        <p:strVal val="visible"/>
                                      </p:to>
                                    </p:set>
                                    <p:animEffect transition="in" filter="blinds(horizontal)">
                                      <p:cBhvr>
                                        <p:cTn id="21" dur="500"/>
                                        <p:tgtEl>
                                          <p:spTgt spid="517125">
                                            <p:txEl>
                                              <p:pRg st="10" end="1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517125">
                                            <p:txEl>
                                              <p:pRg st="11" end="11"/>
                                            </p:txEl>
                                          </p:spTgt>
                                        </p:tgtEl>
                                        <p:attrNameLst>
                                          <p:attrName>style.visibility</p:attrName>
                                        </p:attrNameLst>
                                      </p:cBhvr>
                                      <p:to>
                                        <p:strVal val="visible"/>
                                      </p:to>
                                    </p:set>
                                    <p:animEffect transition="in" filter="blinds(horizontal)">
                                      <p:cBhvr>
                                        <p:cTn id="26" dur="500"/>
                                        <p:tgtEl>
                                          <p:spTgt spid="517125">
                                            <p:txEl>
                                              <p:pRg st="11" end="11"/>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517125">
                                            <p:txEl>
                                              <p:pRg st="12" end="12"/>
                                            </p:txEl>
                                          </p:spTgt>
                                        </p:tgtEl>
                                        <p:attrNameLst>
                                          <p:attrName>style.visibility</p:attrName>
                                        </p:attrNameLst>
                                      </p:cBhvr>
                                      <p:to>
                                        <p:strVal val="visible"/>
                                      </p:to>
                                    </p:set>
                                    <p:animEffect transition="in" filter="blinds(horizontal)">
                                      <p:cBhvr>
                                        <p:cTn id="29" dur="500"/>
                                        <p:tgtEl>
                                          <p:spTgt spid="51712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9EE1735-E95A-49B8-8E2C-EAD27A2C37BE}" type="slidenum">
              <a:rPr lang="zh-CN" altLang="en-US" sz="1400" smtClean="0"/>
            </a:fld>
            <a:endParaRPr lang="en-US" altLang="zh-CN" sz="1400" smtClean="0"/>
          </a:p>
        </p:txBody>
      </p:sp>
      <p:sp>
        <p:nvSpPr>
          <p:cNvPr id="29699" name="Rectangle 4"/>
          <p:cNvSpPr>
            <a:spLocks noGrp="1" noChangeArrowheads="1"/>
          </p:cNvSpPr>
          <p:nvPr>
            <p:ph type="title"/>
          </p:nvPr>
        </p:nvSpPr>
        <p:spPr>
          <a:xfrm>
            <a:off x="0" y="12700"/>
            <a:ext cx="8178800" cy="609600"/>
          </a:xfrm>
          <a:solidFill>
            <a:srgbClr val="99CCFF"/>
          </a:solidFill>
        </p:spPr>
        <p:txBody>
          <a:bodyPr/>
          <a:lstStyle/>
          <a:p>
            <a:pPr algn="l" eaLnBrk="1" hangingPunct="1"/>
            <a:r>
              <a:rPr lang="zh-CN" altLang="en-US" smtClean="0">
                <a:solidFill>
                  <a:srgbClr val="CC0000"/>
                </a:solidFill>
              </a:rPr>
              <a:t>市场预测分析方法</a:t>
            </a:r>
            <a:endParaRPr lang="zh-CN" altLang="en-US" smtClean="0">
              <a:solidFill>
                <a:srgbClr val="CC0000"/>
              </a:solidFill>
            </a:endParaRPr>
          </a:p>
        </p:txBody>
      </p:sp>
      <p:sp>
        <p:nvSpPr>
          <p:cNvPr id="29700" name="Rectangle 5"/>
          <p:cNvSpPr>
            <a:spLocks noGrp="1" noChangeArrowheads="1"/>
          </p:cNvSpPr>
          <p:nvPr>
            <p:ph type="body" idx="1"/>
          </p:nvPr>
        </p:nvSpPr>
        <p:spPr>
          <a:xfrm>
            <a:off x="0" y="977900"/>
            <a:ext cx="9144000" cy="5880100"/>
          </a:xfrm>
          <a:solidFill>
            <a:srgbClr val="99CCFF"/>
          </a:solidFill>
        </p:spPr>
        <p:txBody>
          <a:bodyPr/>
          <a:lstStyle/>
          <a:p>
            <a:pPr eaLnBrk="1" hangingPunct="1"/>
            <a:r>
              <a:rPr lang="zh-CN" altLang="en-US" smtClean="0"/>
              <a:t>市场预测是在市场调查基础上，通过对市场资料的分析研究，运用科学的方法和手段推测市场未来的前景</a:t>
            </a:r>
            <a:endParaRPr lang="zh-CN" altLang="en-US" smtClean="0"/>
          </a:p>
        </p:txBody>
      </p:sp>
      <p:sp>
        <p:nvSpPr>
          <p:cNvPr id="29701" name="Text Box 6"/>
          <p:cNvSpPr txBox="1">
            <a:spLocks noChangeArrowheads="1"/>
          </p:cNvSpPr>
          <p:nvPr/>
        </p:nvSpPr>
        <p:spPr bwMode="auto">
          <a:xfrm>
            <a:off x="395288" y="2924175"/>
            <a:ext cx="519112" cy="2298700"/>
          </a:xfrm>
          <a:prstGeom prst="rect">
            <a:avLst/>
          </a:prstGeom>
          <a:solidFill>
            <a:srgbClr val="99CCFF"/>
          </a:solidFill>
          <a:ln w="9525">
            <a:solidFill>
              <a:srgbClr val="000000"/>
            </a:solidFill>
            <a:miter lim="800000"/>
          </a:ln>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800" b="1">
                <a:solidFill>
                  <a:srgbClr val="000000"/>
                </a:solidFill>
              </a:rPr>
              <a:t>市场预测分析方法</a:t>
            </a:r>
            <a:endParaRPr lang="zh-CN" altLang="en-US" sz="1800" b="1">
              <a:solidFill>
                <a:srgbClr val="000000"/>
              </a:solidFill>
            </a:endParaRPr>
          </a:p>
        </p:txBody>
      </p:sp>
      <p:sp>
        <p:nvSpPr>
          <p:cNvPr id="29702" name="Line 7"/>
          <p:cNvSpPr>
            <a:spLocks noChangeShapeType="1"/>
          </p:cNvSpPr>
          <p:nvPr/>
        </p:nvSpPr>
        <p:spPr bwMode="auto">
          <a:xfrm>
            <a:off x="900113" y="4294188"/>
            <a:ext cx="863600"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29703" name="Line 8"/>
          <p:cNvSpPr>
            <a:spLocks noChangeShapeType="1"/>
          </p:cNvSpPr>
          <p:nvPr/>
        </p:nvSpPr>
        <p:spPr bwMode="auto">
          <a:xfrm>
            <a:off x="1331913" y="2636838"/>
            <a:ext cx="1587" cy="33845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29704" name="Line 9"/>
          <p:cNvSpPr>
            <a:spLocks noChangeShapeType="1"/>
          </p:cNvSpPr>
          <p:nvPr/>
        </p:nvSpPr>
        <p:spPr bwMode="auto">
          <a:xfrm>
            <a:off x="1331913" y="2636838"/>
            <a:ext cx="503237"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29705" name="Line 10"/>
          <p:cNvSpPr>
            <a:spLocks noChangeShapeType="1"/>
          </p:cNvSpPr>
          <p:nvPr/>
        </p:nvSpPr>
        <p:spPr bwMode="auto">
          <a:xfrm>
            <a:off x="1331913" y="6021388"/>
            <a:ext cx="431800"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29706" name="Text Box 11"/>
          <p:cNvSpPr txBox="1">
            <a:spLocks noChangeArrowheads="1"/>
          </p:cNvSpPr>
          <p:nvPr/>
        </p:nvSpPr>
        <p:spPr bwMode="auto">
          <a:xfrm>
            <a:off x="1835150" y="2420938"/>
            <a:ext cx="1368425" cy="376237"/>
          </a:xfrm>
          <a:prstGeom prst="rect">
            <a:avLst/>
          </a:prstGeom>
          <a:solidFill>
            <a:srgbClr val="99CCFF"/>
          </a:solidFill>
          <a:ln w="9525">
            <a:solidFill>
              <a:srgbClr val="000000"/>
            </a:solidFill>
            <a:miter lim="800000"/>
          </a:ln>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800">
                <a:solidFill>
                  <a:srgbClr val="000000"/>
                </a:solidFill>
              </a:rPr>
              <a:t>专家调查法</a:t>
            </a:r>
            <a:endParaRPr lang="zh-CN" altLang="en-US" sz="1800">
              <a:solidFill>
                <a:srgbClr val="000000"/>
              </a:solidFill>
            </a:endParaRPr>
          </a:p>
        </p:txBody>
      </p:sp>
      <p:sp>
        <p:nvSpPr>
          <p:cNvPr id="29707" name="Text Box 12"/>
          <p:cNvSpPr txBox="1">
            <a:spLocks noChangeArrowheads="1"/>
          </p:cNvSpPr>
          <p:nvPr/>
        </p:nvSpPr>
        <p:spPr bwMode="auto">
          <a:xfrm>
            <a:off x="1835150" y="5805488"/>
            <a:ext cx="1368425" cy="376237"/>
          </a:xfrm>
          <a:prstGeom prst="rect">
            <a:avLst/>
          </a:prstGeom>
          <a:solidFill>
            <a:srgbClr val="99CCFF"/>
          </a:solidFill>
          <a:ln w="9525" algn="ctr">
            <a:solidFill>
              <a:srgbClr val="000000"/>
            </a:solidFill>
            <a:miter lim="800000"/>
          </a:ln>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800">
                <a:solidFill>
                  <a:srgbClr val="000000"/>
                </a:solidFill>
              </a:rPr>
              <a:t>因果分析法</a:t>
            </a:r>
            <a:endParaRPr lang="zh-CN" altLang="en-US" sz="1800">
              <a:solidFill>
                <a:srgbClr val="000000"/>
              </a:solidFill>
            </a:endParaRPr>
          </a:p>
        </p:txBody>
      </p:sp>
      <p:sp>
        <p:nvSpPr>
          <p:cNvPr id="29708" name="Line 13"/>
          <p:cNvSpPr>
            <a:spLocks noChangeShapeType="1"/>
          </p:cNvSpPr>
          <p:nvPr/>
        </p:nvSpPr>
        <p:spPr bwMode="auto">
          <a:xfrm>
            <a:off x="3203575" y="2636838"/>
            <a:ext cx="316865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29709" name="Text Box 14"/>
          <p:cNvSpPr txBox="1">
            <a:spLocks noChangeArrowheads="1"/>
          </p:cNvSpPr>
          <p:nvPr/>
        </p:nvSpPr>
        <p:spPr bwMode="auto">
          <a:xfrm>
            <a:off x="6372225" y="2205038"/>
            <a:ext cx="1150938" cy="952500"/>
          </a:xfrm>
          <a:prstGeom prst="rect">
            <a:avLst/>
          </a:prstGeom>
          <a:solidFill>
            <a:srgbClr val="99CCFF"/>
          </a:solidFill>
          <a:ln w="9525">
            <a:solidFill>
              <a:srgbClr val="000000"/>
            </a:solidFill>
            <a:miter lim="800000"/>
          </a:ln>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400">
                <a:solidFill>
                  <a:srgbClr val="000000"/>
                </a:solidFill>
              </a:rPr>
              <a:t>个人判断法</a:t>
            </a:r>
            <a:endParaRPr lang="zh-CN" altLang="en-US" sz="1400">
              <a:solidFill>
                <a:srgbClr val="000000"/>
              </a:solidFill>
            </a:endParaRPr>
          </a:p>
          <a:p>
            <a:pPr eaLnBrk="1" hangingPunct="1">
              <a:spcBef>
                <a:spcPct val="50000"/>
              </a:spcBef>
              <a:buClrTx/>
              <a:buSzTx/>
              <a:buFontTx/>
              <a:buNone/>
            </a:pPr>
            <a:r>
              <a:rPr lang="zh-CN" altLang="en-US" sz="1400">
                <a:solidFill>
                  <a:srgbClr val="000000"/>
                </a:solidFill>
              </a:rPr>
              <a:t>专家会议法</a:t>
            </a:r>
            <a:endParaRPr lang="zh-CN" altLang="en-US" sz="1400">
              <a:solidFill>
                <a:srgbClr val="000000"/>
              </a:solidFill>
            </a:endParaRPr>
          </a:p>
          <a:p>
            <a:pPr eaLnBrk="1" hangingPunct="1">
              <a:spcBef>
                <a:spcPct val="50000"/>
              </a:spcBef>
              <a:buClrTx/>
              <a:buSzTx/>
              <a:buFontTx/>
              <a:buNone/>
            </a:pPr>
            <a:r>
              <a:rPr lang="zh-CN" altLang="en-US" sz="1400" b="1">
                <a:solidFill>
                  <a:srgbClr val="FF0000"/>
                </a:solidFill>
              </a:rPr>
              <a:t>德尔菲法</a:t>
            </a:r>
            <a:endParaRPr lang="zh-CN" altLang="en-US" sz="1400" b="1">
              <a:solidFill>
                <a:srgbClr val="FF0000"/>
              </a:solidFill>
            </a:endParaRPr>
          </a:p>
        </p:txBody>
      </p:sp>
      <p:sp>
        <p:nvSpPr>
          <p:cNvPr id="29710" name="Line 15"/>
          <p:cNvSpPr>
            <a:spLocks noChangeShapeType="1"/>
          </p:cNvSpPr>
          <p:nvPr/>
        </p:nvSpPr>
        <p:spPr bwMode="auto">
          <a:xfrm>
            <a:off x="3635375" y="4294188"/>
            <a:ext cx="288925"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29711" name="Text Box 16"/>
          <p:cNvSpPr txBox="1">
            <a:spLocks noChangeArrowheads="1"/>
          </p:cNvSpPr>
          <p:nvPr/>
        </p:nvSpPr>
        <p:spPr bwMode="auto">
          <a:xfrm>
            <a:off x="4356100" y="3068638"/>
            <a:ext cx="1295400" cy="314325"/>
          </a:xfrm>
          <a:prstGeom prst="rect">
            <a:avLst/>
          </a:prstGeom>
          <a:solidFill>
            <a:srgbClr val="99CCFF"/>
          </a:solidFill>
          <a:ln w="9525">
            <a:solidFill>
              <a:srgbClr val="000000"/>
            </a:solidFill>
            <a:miter lim="800000"/>
          </a:ln>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400">
                <a:solidFill>
                  <a:srgbClr val="000000"/>
                </a:solidFill>
              </a:rPr>
              <a:t>移动平均法</a:t>
            </a:r>
            <a:endParaRPr lang="zh-CN" altLang="en-US" sz="1400">
              <a:solidFill>
                <a:srgbClr val="000000"/>
              </a:solidFill>
            </a:endParaRPr>
          </a:p>
        </p:txBody>
      </p:sp>
      <p:sp>
        <p:nvSpPr>
          <p:cNvPr id="29712" name="Line 17"/>
          <p:cNvSpPr>
            <a:spLocks noChangeShapeType="1"/>
          </p:cNvSpPr>
          <p:nvPr/>
        </p:nvSpPr>
        <p:spPr bwMode="auto">
          <a:xfrm>
            <a:off x="3924300" y="3213100"/>
            <a:ext cx="1588" cy="201612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29713" name="Line 18"/>
          <p:cNvSpPr>
            <a:spLocks noChangeShapeType="1"/>
          </p:cNvSpPr>
          <p:nvPr/>
        </p:nvSpPr>
        <p:spPr bwMode="auto">
          <a:xfrm>
            <a:off x="3924300" y="3213100"/>
            <a:ext cx="431800" cy="15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29714" name="Line 19"/>
          <p:cNvSpPr>
            <a:spLocks noChangeShapeType="1"/>
          </p:cNvSpPr>
          <p:nvPr/>
        </p:nvSpPr>
        <p:spPr bwMode="auto">
          <a:xfrm>
            <a:off x="3924300" y="3644900"/>
            <a:ext cx="431800" cy="15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29715" name="Text Box 20"/>
          <p:cNvSpPr txBox="1">
            <a:spLocks noChangeArrowheads="1"/>
          </p:cNvSpPr>
          <p:nvPr/>
        </p:nvSpPr>
        <p:spPr bwMode="auto">
          <a:xfrm>
            <a:off x="4356100" y="3502025"/>
            <a:ext cx="1295400" cy="314325"/>
          </a:xfrm>
          <a:prstGeom prst="rect">
            <a:avLst/>
          </a:prstGeom>
          <a:solidFill>
            <a:srgbClr val="99CCFF"/>
          </a:solidFill>
          <a:ln w="9525">
            <a:solidFill>
              <a:srgbClr val="000000"/>
            </a:solidFill>
            <a:miter lim="800000"/>
          </a:ln>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400">
                <a:solidFill>
                  <a:srgbClr val="000000"/>
                </a:solidFill>
              </a:rPr>
              <a:t>指数平滑法</a:t>
            </a:r>
            <a:endParaRPr lang="zh-CN" altLang="en-US" sz="1400">
              <a:solidFill>
                <a:srgbClr val="000000"/>
              </a:solidFill>
            </a:endParaRPr>
          </a:p>
        </p:txBody>
      </p:sp>
      <p:sp>
        <p:nvSpPr>
          <p:cNvPr id="29716" name="Line 21"/>
          <p:cNvSpPr>
            <a:spLocks noChangeShapeType="1"/>
          </p:cNvSpPr>
          <p:nvPr/>
        </p:nvSpPr>
        <p:spPr bwMode="auto">
          <a:xfrm>
            <a:off x="3924300" y="4078288"/>
            <a:ext cx="431800"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29717" name="Text Box 22"/>
          <p:cNvSpPr txBox="1">
            <a:spLocks noChangeArrowheads="1"/>
          </p:cNvSpPr>
          <p:nvPr/>
        </p:nvSpPr>
        <p:spPr bwMode="auto">
          <a:xfrm>
            <a:off x="4356100" y="3933825"/>
            <a:ext cx="1511300" cy="314325"/>
          </a:xfrm>
          <a:prstGeom prst="rect">
            <a:avLst/>
          </a:prstGeom>
          <a:solidFill>
            <a:srgbClr val="99CCFF"/>
          </a:solidFill>
          <a:ln w="9525">
            <a:solidFill>
              <a:srgbClr val="000000"/>
            </a:solidFill>
            <a:miter lim="800000"/>
          </a:ln>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400">
                <a:solidFill>
                  <a:srgbClr val="000000"/>
                </a:solidFill>
              </a:rPr>
              <a:t>季节因素分析法</a:t>
            </a:r>
            <a:endParaRPr lang="zh-CN" altLang="en-US" sz="1400">
              <a:solidFill>
                <a:srgbClr val="000000"/>
              </a:solidFill>
            </a:endParaRPr>
          </a:p>
        </p:txBody>
      </p:sp>
      <p:sp>
        <p:nvSpPr>
          <p:cNvPr id="29718" name="Line 23"/>
          <p:cNvSpPr>
            <a:spLocks noChangeShapeType="1"/>
          </p:cNvSpPr>
          <p:nvPr/>
        </p:nvSpPr>
        <p:spPr bwMode="auto">
          <a:xfrm>
            <a:off x="3924300" y="4652963"/>
            <a:ext cx="431800"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29719" name="Text Box 24"/>
          <p:cNvSpPr txBox="1">
            <a:spLocks noChangeArrowheads="1"/>
          </p:cNvSpPr>
          <p:nvPr/>
        </p:nvSpPr>
        <p:spPr bwMode="auto">
          <a:xfrm>
            <a:off x="4356100" y="4483100"/>
            <a:ext cx="1511300" cy="314325"/>
          </a:xfrm>
          <a:prstGeom prst="rect">
            <a:avLst/>
          </a:prstGeom>
          <a:solidFill>
            <a:srgbClr val="99CCFF"/>
          </a:solidFill>
          <a:ln w="9525">
            <a:solidFill>
              <a:srgbClr val="000000"/>
            </a:solidFill>
            <a:miter lim="800000"/>
          </a:ln>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400">
                <a:solidFill>
                  <a:srgbClr val="000000"/>
                </a:solidFill>
              </a:rPr>
              <a:t>趋势曲线拟合法</a:t>
            </a:r>
            <a:endParaRPr lang="zh-CN" altLang="en-US" sz="1400">
              <a:solidFill>
                <a:srgbClr val="000000"/>
              </a:solidFill>
            </a:endParaRPr>
          </a:p>
        </p:txBody>
      </p:sp>
      <p:sp>
        <p:nvSpPr>
          <p:cNvPr id="29720" name="Line 25"/>
          <p:cNvSpPr>
            <a:spLocks noChangeShapeType="1"/>
          </p:cNvSpPr>
          <p:nvPr/>
        </p:nvSpPr>
        <p:spPr bwMode="auto">
          <a:xfrm>
            <a:off x="3924300" y="5229225"/>
            <a:ext cx="431800" cy="15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29721" name="Text Box 26"/>
          <p:cNvSpPr txBox="1">
            <a:spLocks noChangeArrowheads="1"/>
          </p:cNvSpPr>
          <p:nvPr/>
        </p:nvSpPr>
        <p:spPr bwMode="auto">
          <a:xfrm>
            <a:off x="4356100" y="5086350"/>
            <a:ext cx="1368425" cy="314325"/>
          </a:xfrm>
          <a:prstGeom prst="rect">
            <a:avLst/>
          </a:prstGeom>
          <a:solidFill>
            <a:srgbClr val="99CCFF"/>
          </a:solidFill>
          <a:ln w="9525">
            <a:solidFill>
              <a:srgbClr val="000000"/>
            </a:solidFill>
            <a:miter lim="800000"/>
          </a:ln>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400">
                <a:solidFill>
                  <a:srgbClr val="000000"/>
                </a:solidFill>
              </a:rPr>
              <a:t>马尔科夫链法</a:t>
            </a:r>
            <a:endParaRPr lang="zh-CN" altLang="en-US" sz="1400">
              <a:solidFill>
                <a:srgbClr val="000000"/>
              </a:solidFill>
            </a:endParaRPr>
          </a:p>
        </p:txBody>
      </p:sp>
      <p:sp>
        <p:nvSpPr>
          <p:cNvPr id="29722" name="Line 27"/>
          <p:cNvSpPr>
            <a:spLocks noChangeShapeType="1"/>
          </p:cNvSpPr>
          <p:nvPr/>
        </p:nvSpPr>
        <p:spPr bwMode="auto">
          <a:xfrm>
            <a:off x="3203575" y="6021388"/>
            <a:ext cx="431800"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29723" name="Text Box 28"/>
          <p:cNvSpPr txBox="1">
            <a:spLocks noChangeArrowheads="1"/>
          </p:cNvSpPr>
          <p:nvPr/>
        </p:nvSpPr>
        <p:spPr bwMode="auto">
          <a:xfrm>
            <a:off x="3635375" y="5661025"/>
            <a:ext cx="1728788" cy="633413"/>
          </a:xfrm>
          <a:prstGeom prst="rect">
            <a:avLst/>
          </a:prstGeom>
          <a:solidFill>
            <a:srgbClr val="99CCFF"/>
          </a:solidFill>
          <a:ln w="9525">
            <a:solidFill>
              <a:srgbClr val="000000"/>
            </a:solidFill>
            <a:miter lim="800000"/>
          </a:ln>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400" b="1">
                <a:solidFill>
                  <a:srgbClr val="FF0000"/>
                </a:solidFill>
              </a:rPr>
              <a:t>回归分析法</a:t>
            </a:r>
            <a:endParaRPr lang="zh-CN" altLang="en-US" sz="1400" b="1">
              <a:solidFill>
                <a:srgbClr val="FF0000"/>
              </a:solidFill>
            </a:endParaRPr>
          </a:p>
          <a:p>
            <a:pPr eaLnBrk="1" hangingPunct="1">
              <a:spcBef>
                <a:spcPct val="50000"/>
              </a:spcBef>
              <a:buClrTx/>
              <a:buSzTx/>
              <a:buFontTx/>
              <a:buNone/>
            </a:pPr>
            <a:r>
              <a:rPr lang="zh-CN" altLang="en-US" sz="1400">
                <a:solidFill>
                  <a:srgbClr val="000000"/>
                </a:solidFill>
              </a:rPr>
              <a:t>投入产出分析法</a:t>
            </a:r>
            <a:endParaRPr lang="zh-CN" altLang="en-US" sz="1400">
              <a:solidFill>
                <a:srgbClr val="000000"/>
              </a:solidFill>
            </a:endParaRPr>
          </a:p>
        </p:txBody>
      </p:sp>
      <p:sp>
        <p:nvSpPr>
          <p:cNvPr id="29724" name="Line 29"/>
          <p:cNvSpPr>
            <a:spLocks noChangeShapeType="1"/>
          </p:cNvSpPr>
          <p:nvPr/>
        </p:nvSpPr>
        <p:spPr bwMode="auto">
          <a:xfrm>
            <a:off x="5867400" y="4581525"/>
            <a:ext cx="360363" cy="15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29725" name="Text Box 30"/>
          <p:cNvSpPr txBox="1">
            <a:spLocks noChangeArrowheads="1"/>
          </p:cNvSpPr>
          <p:nvPr/>
        </p:nvSpPr>
        <p:spPr bwMode="auto">
          <a:xfrm>
            <a:off x="6227763" y="3429000"/>
            <a:ext cx="1800225" cy="2228850"/>
          </a:xfrm>
          <a:prstGeom prst="rect">
            <a:avLst/>
          </a:prstGeom>
          <a:solidFill>
            <a:srgbClr val="99CCFF"/>
          </a:solidFill>
          <a:ln w="9525">
            <a:solidFill>
              <a:srgbClr val="000000"/>
            </a:solidFill>
            <a:miter lim="800000"/>
          </a:ln>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400">
                <a:solidFill>
                  <a:srgbClr val="000000"/>
                </a:solidFill>
              </a:rPr>
              <a:t>多项式曲线</a:t>
            </a:r>
            <a:endParaRPr lang="zh-CN" altLang="en-US" sz="1400">
              <a:solidFill>
                <a:srgbClr val="000000"/>
              </a:solidFill>
            </a:endParaRPr>
          </a:p>
          <a:p>
            <a:pPr eaLnBrk="1" hangingPunct="1">
              <a:spcBef>
                <a:spcPct val="50000"/>
              </a:spcBef>
              <a:buClrTx/>
              <a:buSzTx/>
              <a:buFontTx/>
              <a:buNone/>
            </a:pPr>
            <a:r>
              <a:rPr lang="zh-CN" altLang="en-US" sz="1400">
                <a:solidFill>
                  <a:srgbClr val="000000"/>
                </a:solidFill>
              </a:rPr>
              <a:t>简单指数曲线</a:t>
            </a:r>
            <a:endParaRPr lang="zh-CN" altLang="en-US" sz="1400">
              <a:solidFill>
                <a:srgbClr val="000000"/>
              </a:solidFill>
            </a:endParaRPr>
          </a:p>
          <a:p>
            <a:pPr eaLnBrk="1" hangingPunct="1">
              <a:spcBef>
                <a:spcPct val="50000"/>
              </a:spcBef>
              <a:buClrTx/>
              <a:buSzTx/>
              <a:buFontTx/>
              <a:buNone/>
            </a:pPr>
            <a:r>
              <a:rPr lang="zh-CN" altLang="en-US" sz="1400">
                <a:solidFill>
                  <a:srgbClr val="000000"/>
                </a:solidFill>
              </a:rPr>
              <a:t>修正指数曲线</a:t>
            </a:r>
            <a:endParaRPr lang="zh-CN" altLang="en-US" sz="1400">
              <a:solidFill>
                <a:srgbClr val="000000"/>
              </a:solidFill>
            </a:endParaRPr>
          </a:p>
          <a:p>
            <a:pPr eaLnBrk="1" hangingPunct="1">
              <a:spcBef>
                <a:spcPct val="50000"/>
              </a:spcBef>
              <a:buClrTx/>
              <a:buSzTx/>
              <a:buFontTx/>
              <a:buNone/>
            </a:pPr>
            <a:r>
              <a:rPr lang="zh-CN" altLang="en-US" sz="1400">
                <a:solidFill>
                  <a:srgbClr val="000000"/>
                </a:solidFill>
              </a:rPr>
              <a:t>双指数曲线</a:t>
            </a:r>
            <a:endParaRPr lang="zh-CN" altLang="en-US" sz="1400">
              <a:solidFill>
                <a:srgbClr val="000000"/>
              </a:solidFill>
            </a:endParaRPr>
          </a:p>
          <a:p>
            <a:pPr eaLnBrk="1" hangingPunct="1">
              <a:spcBef>
                <a:spcPct val="50000"/>
              </a:spcBef>
              <a:buClrTx/>
              <a:buSzTx/>
              <a:buFontTx/>
              <a:buNone/>
            </a:pPr>
            <a:r>
              <a:rPr lang="zh-CN" altLang="en-US" sz="1400">
                <a:solidFill>
                  <a:srgbClr val="000000"/>
                </a:solidFill>
              </a:rPr>
              <a:t>威布尔分布函数曲线</a:t>
            </a:r>
            <a:endParaRPr lang="zh-CN" altLang="en-US" sz="1400">
              <a:solidFill>
                <a:srgbClr val="000000"/>
              </a:solidFill>
            </a:endParaRPr>
          </a:p>
          <a:p>
            <a:pPr eaLnBrk="1" hangingPunct="1">
              <a:spcBef>
                <a:spcPct val="50000"/>
              </a:spcBef>
              <a:buClrTx/>
              <a:buSzTx/>
              <a:buFontTx/>
              <a:buNone/>
            </a:pPr>
            <a:r>
              <a:rPr lang="zh-CN" altLang="en-US" sz="1400">
                <a:solidFill>
                  <a:srgbClr val="000000"/>
                </a:solidFill>
              </a:rPr>
              <a:t>龚泊资曲线</a:t>
            </a:r>
            <a:endParaRPr lang="zh-CN" altLang="en-US" sz="1400">
              <a:solidFill>
                <a:srgbClr val="000000"/>
              </a:solidFill>
            </a:endParaRPr>
          </a:p>
          <a:p>
            <a:pPr eaLnBrk="1" hangingPunct="1">
              <a:spcBef>
                <a:spcPct val="50000"/>
              </a:spcBef>
              <a:buClrTx/>
              <a:buSzTx/>
              <a:buFontTx/>
              <a:buNone/>
            </a:pPr>
            <a:r>
              <a:rPr lang="zh-CN" altLang="en-US" sz="1400">
                <a:solidFill>
                  <a:srgbClr val="000000"/>
                </a:solidFill>
              </a:rPr>
              <a:t>逻辑曲线</a:t>
            </a:r>
            <a:endParaRPr lang="zh-CN" altLang="en-US" sz="1400">
              <a:solidFill>
                <a:srgbClr val="000000"/>
              </a:solidFill>
            </a:endParaRPr>
          </a:p>
        </p:txBody>
      </p:sp>
      <p:sp>
        <p:nvSpPr>
          <p:cNvPr id="29726" name="Text Box 31"/>
          <p:cNvSpPr txBox="1">
            <a:spLocks noChangeArrowheads="1"/>
          </p:cNvSpPr>
          <p:nvPr/>
        </p:nvSpPr>
        <p:spPr bwMode="auto">
          <a:xfrm>
            <a:off x="1763713" y="4078288"/>
            <a:ext cx="1871662" cy="376237"/>
          </a:xfrm>
          <a:prstGeom prst="rect">
            <a:avLst/>
          </a:prstGeom>
          <a:solidFill>
            <a:srgbClr val="99CCFF"/>
          </a:solidFill>
          <a:ln w="9525" algn="ctr">
            <a:solidFill>
              <a:srgbClr val="000000"/>
            </a:solidFill>
            <a:miter lim="800000"/>
          </a:ln>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800">
                <a:solidFill>
                  <a:srgbClr val="000000"/>
                </a:solidFill>
              </a:rPr>
              <a:t>时间序列分析法</a:t>
            </a:r>
            <a:endParaRPr lang="zh-CN" altLang="en-US" sz="1800">
              <a:solidFill>
                <a:srgbClr val="000000"/>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3A91B47-792A-49E1-B572-416674DBC7CF}" type="slidenum">
              <a:rPr lang="zh-CN" altLang="en-US" sz="1400" smtClean="0"/>
            </a:fld>
            <a:endParaRPr lang="en-US" altLang="zh-CN" sz="1400" smtClean="0"/>
          </a:p>
        </p:txBody>
      </p:sp>
      <p:sp>
        <p:nvSpPr>
          <p:cNvPr id="30723" name="Rectangle 2"/>
          <p:cNvSpPr>
            <a:spLocks noGrp="1" noRot="1" noChangeArrowheads="1"/>
          </p:cNvSpPr>
          <p:nvPr>
            <p:ph type="title"/>
          </p:nvPr>
        </p:nvSpPr>
        <p:spPr/>
        <p:txBody>
          <a:bodyPr/>
          <a:lstStyle/>
          <a:p>
            <a:pPr eaLnBrk="1" hangingPunct="1"/>
            <a:r>
              <a:rPr lang="zh-CN" altLang="en-US" smtClean="0"/>
              <a:t> </a:t>
            </a:r>
            <a:endParaRPr lang="zh-CN" altLang="en-US" smtClean="0"/>
          </a:p>
        </p:txBody>
      </p:sp>
      <p:sp>
        <p:nvSpPr>
          <p:cNvPr id="30724" name="Rectangle 5"/>
          <p:cNvSpPr>
            <a:spLocks noChangeArrowheads="1"/>
          </p:cNvSpPr>
          <p:nvPr/>
        </p:nvSpPr>
        <p:spPr bwMode="auto">
          <a:xfrm>
            <a:off x="0" y="12700"/>
            <a:ext cx="8178800" cy="6096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4800">
                <a:solidFill>
                  <a:srgbClr val="CC0000"/>
                </a:solidFill>
              </a:rPr>
              <a:t>德尔菲法（</a:t>
            </a:r>
            <a:r>
              <a:rPr lang="en-US" altLang="zh-CN" sz="4800">
                <a:solidFill>
                  <a:srgbClr val="CC0000"/>
                </a:solidFill>
              </a:rPr>
              <a:t>Delphi</a:t>
            </a:r>
            <a:r>
              <a:rPr lang="zh-CN" altLang="en-US" sz="4800">
                <a:solidFill>
                  <a:srgbClr val="CC0000"/>
                </a:solidFill>
              </a:rPr>
              <a:t>）</a:t>
            </a:r>
            <a:endParaRPr lang="zh-CN" altLang="en-US" sz="4800">
              <a:solidFill>
                <a:srgbClr val="CC0000"/>
              </a:solidFill>
            </a:endParaRPr>
          </a:p>
        </p:txBody>
      </p:sp>
      <p:sp>
        <p:nvSpPr>
          <p:cNvPr id="30725" name="Rectangle 6"/>
          <p:cNvSpPr>
            <a:spLocks noGrp="1" noChangeArrowheads="1"/>
          </p:cNvSpPr>
          <p:nvPr>
            <p:ph type="body" idx="1"/>
          </p:nvPr>
        </p:nvSpPr>
        <p:spPr>
          <a:xfrm>
            <a:off x="0" y="977900"/>
            <a:ext cx="9144000" cy="5880100"/>
          </a:xfrm>
          <a:solidFill>
            <a:schemeClr val="accent1"/>
          </a:solidFill>
        </p:spPr>
        <p:txBody>
          <a:bodyPr/>
          <a:lstStyle/>
          <a:p>
            <a:pPr eaLnBrk="1" hangingPunct="1"/>
            <a:r>
              <a:rPr lang="zh-CN" altLang="en-US" sz="2400" smtClean="0"/>
              <a:t>二战以后发展起来的一种直观预测方法，是专家调查法的一种</a:t>
            </a:r>
            <a:endParaRPr lang="zh-CN" altLang="en-US" sz="2400" smtClean="0"/>
          </a:p>
          <a:p>
            <a:pPr lvl="1" eaLnBrk="1" hangingPunct="1"/>
            <a:r>
              <a:rPr lang="zh-CN" altLang="en-US" sz="2400" smtClean="0"/>
              <a:t>以不记名方式多轮征询专家意见，最终得出预测结果的一种集体经验判断法</a:t>
            </a:r>
            <a:endParaRPr lang="zh-CN" altLang="en-US" sz="2400" smtClean="0"/>
          </a:p>
          <a:p>
            <a:pPr lvl="1" eaLnBrk="1" hangingPunct="1"/>
            <a:r>
              <a:rPr lang="zh-CN" altLang="en-US" sz="2400" smtClean="0"/>
              <a:t>能够克服个人判断法和专家会议法的缺陷</a:t>
            </a:r>
            <a:endParaRPr lang="zh-CN" altLang="en-US" sz="2400" smtClean="0"/>
          </a:p>
          <a:p>
            <a:pPr lvl="1" eaLnBrk="1" hangingPunct="1"/>
            <a:r>
              <a:rPr lang="zh-CN" altLang="en-US" sz="2400" smtClean="0"/>
              <a:t>最早出现在</a:t>
            </a:r>
            <a:r>
              <a:rPr lang="en-US" altLang="zh-CN" sz="2400" smtClean="0"/>
              <a:t>20</a:t>
            </a:r>
            <a:r>
              <a:rPr lang="zh-CN" altLang="en-US" sz="2400" smtClean="0"/>
              <a:t>世纪</a:t>
            </a:r>
            <a:r>
              <a:rPr lang="en-US" altLang="zh-CN" sz="2400" smtClean="0"/>
              <a:t>50</a:t>
            </a:r>
            <a:r>
              <a:rPr lang="zh-CN" altLang="en-US" sz="2400" smtClean="0"/>
              <a:t>年代末期，当时美国为了预测在美国遭受原子弹轰炸后可能出现的结果时首先使用了它</a:t>
            </a:r>
            <a:endParaRPr lang="zh-CN" altLang="en-US" sz="2400" smtClean="0"/>
          </a:p>
          <a:p>
            <a:pPr lvl="1" eaLnBrk="1" hangingPunct="1"/>
            <a:r>
              <a:rPr lang="zh-CN" altLang="en-US" sz="2400" smtClean="0"/>
              <a:t>主要用于对某些长期的、复杂的社会、经济和技术问题进行预测</a:t>
            </a:r>
            <a:endParaRPr lang="zh-CN" altLang="en-US" sz="2400" smtClean="0"/>
          </a:p>
          <a:p>
            <a:pPr lvl="1" eaLnBrk="1" hangingPunct="1"/>
            <a:endParaRPr lang="zh-CN" altLang="en-US" sz="2400" smtClean="0"/>
          </a:p>
          <a:p>
            <a:pPr eaLnBrk="1" hangingPunct="1"/>
            <a:r>
              <a:rPr lang="zh-CN" altLang="en-US" sz="2400" smtClean="0"/>
              <a:t>操作方法和特点	</a:t>
            </a:r>
            <a:endParaRPr lang="zh-CN" altLang="en-US" sz="2400" smtClean="0"/>
          </a:p>
          <a:p>
            <a:pPr lvl="1" eaLnBrk="1" hangingPunct="1"/>
            <a:r>
              <a:rPr lang="zh-CN" altLang="en-US" sz="2400" smtClean="0"/>
              <a:t>主要特点在于匿名性、反馈性和收敛性</a:t>
            </a:r>
            <a:endParaRPr lang="zh-CN" altLang="en-US" sz="2400" smtClean="0"/>
          </a:p>
          <a:p>
            <a:pPr lvl="1" eaLnBrk="1" hangingPunct="1"/>
            <a:r>
              <a:rPr lang="zh-CN" altLang="en-US" sz="2400" smtClean="0"/>
              <a:t>一般选择</a:t>
            </a:r>
            <a:r>
              <a:rPr lang="en-US" altLang="zh-CN" sz="2400" smtClean="0"/>
              <a:t>20~50</a:t>
            </a:r>
            <a:r>
              <a:rPr lang="zh-CN" altLang="en-US" sz="2400" smtClean="0"/>
              <a:t>位专家，一般进行</a:t>
            </a:r>
            <a:r>
              <a:rPr lang="en-US" altLang="zh-CN" sz="2400" smtClean="0"/>
              <a:t>3~4</a:t>
            </a:r>
            <a:r>
              <a:rPr lang="zh-CN" altLang="en-US" sz="2400" smtClean="0"/>
              <a:t>轮</a:t>
            </a:r>
            <a:endParaRPr lang="zh-CN" altLang="en-US" sz="2400" smtClean="0"/>
          </a:p>
          <a:p>
            <a:pPr lvl="1" eaLnBrk="1" hangingPunct="1"/>
            <a:endParaRPr lang="zh-CN" altLang="en-US" sz="2400" smtClean="0"/>
          </a:p>
          <a:p>
            <a:pPr lvl="1" eaLnBrk="1" hangingPunct="1"/>
            <a:endParaRPr lang="en-US" altLang="zh-CN" smtClean="0"/>
          </a:p>
          <a:p>
            <a:pPr eaLnBrk="1" hangingPunct="1"/>
            <a:endParaRPr lang="en-US" altLang="zh-CN" smtClean="0"/>
          </a:p>
          <a:p>
            <a:pPr lvl="1" eaLnBrk="1" hangingPunct="1">
              <a:lnSpc>
                <a:spcPct val="80000"/>
              </a:lnSpc>
            </a:pPr>
            <a:endParaRPr lang="en-US" altLang="zh-CN" sz="240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2B8FB91-340E-4E15-B016-F9D37E1388CE}" type="slidenum">
              <a:rPr lang="zh-CN" altLang="en-US" sz="1400" smtClean="0"/>
            </a:fld>
            <a:endParaRPr lang="en-US" altLang="zh-CN" sz="1400" smtClean="0"/>
          </a:p>
        </p:txBody>
      </p:sp>
      <p:sp>
        <p:nvSpPr>
          <p:cNvPr id="31747" name="Rectangle 4"/>
          <p:cNvSpPr>
            <a:spLocks noGrp="1" noChangeArrowheads="1"/>
          </p:cNvSpPr>
          <p:nvPr>
            <p:ph type="title"/>
          </p:nvPr>
        </p:nvSpPr>
        <p:spPr>
          <a:xfrm>
            <a:off x="0" y="12700"/>
            <a:ext cx="8178800" cy="609600"/>
          </a:xfrm>
          <a:solidFill>
            <a:srgbClr val="99CCFF"/>
          </a:solidFill>
        </p:spPr>
        <p:txBody>
          <a:bodyPr/>
          <a:lstStyle/>
          <a:p>
            <a:pPr algn="l" eaLnBrk="1" hangingPunct="1"/>
            <a:r>
              <a:rPr lang="zh-CN" altLang="en-US" smtClean="0">
                <a:solidFill>
                  <a:srgbClr val="CC0000"/>
                </a:solidFill>
              </a:rPr>
              <a:t>德尔菲法的流程</a:t>
            </a:r>
            <a:endParaRPr lang="zh-CN" altLang="en-US" smtClean="0">
              <a:solidFill>
                <a:srgbClr val="CC0000"/>
              </a:solidFill>
            </a:endParaRPr>
          </a:p>
        </p:txBody>
      </p:sp>
      <p:sp>
        <p:nvSpPr>
          <p:cNvPr id="31748" name="Rectangle 5"/>
          <p:cNvSpPr>
            <a:spLocks noGrp="1" noChangeArrowheads="1"/>
          </p:cNvSpPr>
          <p:nvPr>
            <p:ph type="body" idx="1"/>
          </p:nvPr>
        </p:nvSpPr>
        <p:spPr>
          <a:xfrm>
            <a:off x="0" y="977900"/>
            <a:ext cx="9144000" cy="5880100"/>
          </a:xfrm>
          <a:solidFill>
            <a:srgbClr val="99CCFF"/>
          </a:solidFill>
        </p:spPr>
        <p:txBody>
          <a:bodyPr/>
          <a:lstStyle/>
          <a:p>
            <a:pPr eaLnBrk="1" hangingPunct="1"/>
            <a:endParaRPr lang="zh-CN" altLang="en-US" smtClean="0"/>
          </a:p>
        </p:txBody>
      </p:sp>
      <p:pic>
        <p:nvPicPr>
          <p:cNvPr id="31749" name="Picture 6" descr="德尔菲法应用流程图"/>
          <p:cNvPicPr preferRelativeResize="0">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3775" y="622300"/>
            <a:ext cx="6811963" cy="62865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91CD89D-0D06-4696-A5EF-2F2737BF196F}" type="slidenum">
              <a:rPr lang="zh-CN" altLang="en-US" sz="1400" smtClean="0"/>
            </a:fld>
            <a:endParaRPr lang="en-US" altLang="zh-CN" sz="1400" smtClean="0"/>
          </a:p>
        </p:txBody>
      </p:sp>
      <p:sp>
        <p:nvSpPr>
          <p:cNvPr id="32771" name="Rectangle 4"/>
          <p:cNvSpPr>
            <a:spLocks noGrp="1" noChangeArrowheads="1"/>
          </p:cNvSpPr>
          <p:nvPr>
            <p:ph type="title"/>
          </p:nvPr>
        </p:nvSpPr>
        <p:spPr>
          <a:xfrm>
            <a:off x="0" y="12700"/>
            <a:ext cx="8178800" cy="609600"/>
          </a:xfrm>
          <a:solidFill>
            <a:srgbClr val="99CCFF"/>
          </a:solidFill>
        </p:spPr>
        <p:txBody>
          <a:bodyPr/>
          <a:lstStyle/>
          <a:p>
            <a:pPr algn="l" eaLnBrk="1" hangingPunct="1"/>
            <a:r>
              <a:rPr lang="zh-CN" altLang="en-US" smtClean="0">
                <a:solidFill>
                  <a:srgbClr val="CC0000"/>
                </a:solidFill>
              </a:rPr>
              <a:t>回归分析法</a:t>
            </a:r>
            <a:endParaRPr lang="en-US" altLang="zh-CN" smtClean="0">
              <a:solidFill>
                <a:srgbClr val="CC0000"/>
              </a:solidFill>
            </a:endParaRPr>
          </a:p>
        </p:txBody>
      </p:sp>
      <p:sp>
        <p:nvSpPr>
          <p:cNvPr id="32772" name="Rectangle 5"/>
          <p:cNvSpPr>
            <a:spLocks noGrp="1" noChangeArrowheads="1"/>
          </p:cNvSpPr>
          <p:nvPr>
            <p:ph type="body" sz="half" idx="1"/>
          </p:nvPr>
        </p:nvSpPr>
        <p:spPr>
          <a:xfrm>
            <a:off x="0" y="977900"/>
            <a:ext cx="9144000" cy="5664200"/>
          </a:xfrm>
          <a:solidFill>
            <a:srgbClr val="99CCFF"/>
          </a:solidFill>
        </p:spPr>
        <p:txBody>
          <a:bodyPr/>
          <a:lstStyle/>
          <a:p>
            <a:pPr eaLnBrk="1" hangingPunct="1"/>
            <a:r>
              <a:rPr lang="zh-CN" altLang="en-US" sz="2800" smtClean="0"/>
              <a:t>回归分析预测法，是根据预测变量（因变量、被解释变量）与相关因素（自变量、解释变量）之间存在</a:t>
            </a:r>
            <a:r>
              <a:rPr lang="zh-CN" altLang="en-US" sz="2800" u="sng" smtClean="0"/>
              <a:t>因果关系</a:t>
            </a:r>
            <a:r>
              <a:rPr lang="zh-CN" altLang="en-US" sz="2800" smtClean="0"/>
              <a:t>，借助数理统计中的回归分析原理，确定因果关系，建立回归模型并进行预测的一种定量预测方法。</a:t>
            </a:r>
            <a:endParaRPr lang="zh-CN" altLang="en-US" sz="2800" smtClean="0"/>
          </a:p>
          <a:p>
            <a:pPr eaLnBrk="1" hangingPunct="1"/>
            <a:r>
              <a:rPr lang="zh-CN" altLang="en-US" sz="2800" smtClean="0"/>
              <a:t>根据自变量的个数可分为一元回归模型和多元回归模型；根据模型形式可分为线性回归模型和非线性回归模型。</a:t>
            </a:r>
            <a:endParaRPr lang="zh-CN" altLang="en-US" sz="2800" smtClean="0"/>
          </a:p>
          <a:p>
            <a:pPr eaLnBrk="1" hangingPunct="1"/>
            <a:r>
              <a:rPr lang="zh-CN" altLang="en-US" sz="2800" smtClean="0"/>
              <a:t>一元线性回归模型</a:t>
            </a:r>
            <a:endParaRPr lang="zh-CN" altLang="en-US" sz="2800" smtClean="0"/>
          </a:p>
          <a:p>
            <a:pPr lvl="1" eaLnBrk="1" hangingPunct="1"/>
            <a:endParaRPr lang="zh-CN" altLang="en-US" sz="2200" smtClean="0"/>
          </a:p>
        </p:txBody>
      </p:sp>
      <p:graphicFrame>
        <p:nvGraphicFramePr>
          <p:cNvPr id="32773" name="Object 6"/>
          <p:cNvGraphicFramePr>
            <a:graphicFrameLocks noChangeAspect="1"/>
          </p:cNvGraphicFramePr>
          <p:nvPr/>
        </p:nvGraphicFramePr>
        <p:xfrm>
          <a:off x="2501900" y="4425950"/>
          <a:ext cx="2908300" cy="771525"/>
        </p:xfrm>
        <a:graphic>
          <a:graphicData uri="http://schemas.openxmlformats.org/presentationml/2006/ole">
            <mc:AlternateContent xmlns:mc="http://schemas.openxmlformats.org/markup-compatibility/2006">
              <mc:Choice xmlns:v="urn:schemas-microsoft-com:vml" Requires="v">
                <p:oleObj spid="_x0000_s32787" name="公式" r:id="rId1" imgW="862965" imgH="203200" progId="Equation.3">
                  <p:embed/>
                </p:oleObj>
              </mc:Choice>
              <mc:Fallback>
                <p:oleObj name="公式" r:id="rId1" imgW="862965" imgH="2032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1900" y="4425950"/>
                        <a:ext cx="2908300" cy="77152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4" name="Line 7"/>
          <p:cNvSpPr>
            <a:spLocks noChangeShapeType="1"/>
          </p:cNvSpPr>
          <p:nvPr/>
        </p:nvSpPr>
        <p:spPr bwMode="auto">
          <a:xfrm flipH="1">
            <a:off x="2235200" y="5030788"/>
            <a:ext cx="266700" cy="51752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75" name="Text Box 8"/>
          <p:cNvSpPr txBox="1">
            <a:spLocks noChangeArrowheads="1"/>
          </p:cNvSpPr>
          <p:nvPr/>
        </p:nvSpPr>
        <p:spPr bwMode="auto">
          <a:xfrm>
            <a:off x="1619250" y="5548313"/>
            <a:ext cx="1231900" cy="4572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400" b="1">
                <a:solidFill>
                  <a:srgbClr val="FF0000"/>
                </a:solidFill>
                <a:latin typeface="仿宋_GB2312"/>
                <a:ea typeface="仿宋_GB2312"/>
                <a:cs typeface="仿宋_GB2312"/>
              </a:rPr>
              <a:t>因变量</a:t>
            </a:r>
            <a:endParaRPr lang="zh-CN" altLang="en-US" sz="2400" b="1">
              <a:solidFill>
                <a:srgbClr val="FF0000"/>
              </a:solidFill>
              <a:latin typeface="仿宋_GB2312"/>
              <a:ea typeface="仿宋_GB2312"/>
              <a:cs typeface="仿宋_GB2312"/>
            </a:endParaRPr>
          </a:p>
        </p:txBody>
      </p:sp>
      <p:sp>
        <p:nvSpPr>
          <p:cNvPr id="32776" name="Line 9"/>
          <p:cNvSpPr>
            <a:spLocks noChangeShapeType="1"/>
          </p:cNvSpPr>
          <p:nvPr/>
        </p:nvSpPr>
        <p:spPr bwMode="auto">
          <a:xfrm>
            <a:off x="4483100" y="5064125"/>
            <a:ext cx="254000" cy="43338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77" name="Text Box 10"/>
          <p:cNvSpPr txBox="1">
            <a:spLocks noChangeArrowheads="1"/>
          </p:cNvSpPr>
          <p:nvPr/>
        </p:nvSpPr>
        <p:spPr bwMode="auto">
          <a:xfrm>
            <a:off x="4121150" y="5548313"/>
            <a:ext cx="1231900" cy="4572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400" b="1">
                <a:solidFill>
                  <a:srgbClr val="FF0000"/>
                </a:solidFill>
                <a:latin typeface="仿宋_GB2312"/>
                <a:ea typeface="仿宋_GB2312"/>
                <a:cs typeface="仿宋_GB2312"/>
              </a:rPr>
              <a:t>自变量</a:t>
            </a:r>
            <a:endParaRPr lang="zh-CN" altLang="en-US" sz="2400" b="1">
              <a:solidFill>
                <a:srgbClr val="FF0000"/>
              </a:solidFill>
              <a:latin typeface="仿宋_GB2312"/>
              <a:ea typeface="仿宋_GB2312"/>
              <a:cs typeface="仿宋_GB2312"/>
            </a:endParaRPr>
          </a:p>
        </p:txBody>
      </p:sp>
      <p:sp>
        <p:nvSpPr>
          <p:cNvPr id="32778" name="Line 11"/>
          <p:cNvSpPr>
            <a:spLocks noChangeShapeType="1"/>
          </p:cNvSpPr>
          <p:nvPr/>
        </p:nvSpPr>
        <p:spPr bwMode="auto">
          <a:xfrm flipV="1">
            <a:off x="3492500" y="4173538"/>
            <a:ext cx="0" cy="34607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79" name="Text Box 12"/>
          <p:cNvSpPr txBox="1">
            <a:spLocks noChangeArrowheads="1"/>
          </p:cNvSpPr>
          <p:nvPr/>
        </p:nvSpPr>
        <p:spPr bwMode="auto">
          <a:xfrm>
            <a:off x="3067050" y="3716338"/>
            <a:ext cx="850900" cy="4572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400" b="1">
                <a:solidFill>
                  <a:srgbClr val="FF0000"/>
                </a:solidFill>
                <a:latin typeface="仿宋_GB2312"/>
                <a:ea typeface="仿宋_GB2312"/>
                <a:cs typeface="仿宋_GB2312"/>
              </a:rPr>
              <a:t>截距</a:t>
            </a:r>
            <a:endParaRPr lang="zh-CN" altLang="en-US" sz="2400" b="1">
              <a:solidFill>
                <a:srgbClr val="FF0000"/>
              </a:solidFill>
              <a:latin typeface="仿宋_GB2312"/>
              <a:ea typeface="仿宋_GB2312"/>
              <a:cs typeface="仿宋_GB2312"/>
            </a:endParaRPr>
          </a:p>
        </p:txBody>
      </p:sp>
      <p:sp>
        <p:nvSpPr>
          <p:cNvPr id="32780" name="Line 13"/>
          <p:cNvSpPr>
            <a:spLocks noChangeShapeType="1"/>
          </p:cNvSpPr>
          <p:nvPr/>
        </p:nvSpPr>
        <p:spPr bwMode="auto">
          <a:xfrm flipV="1">
            <a:off x="4311650" y="4173538"/>
            <a:ext cx="171450" cy="34607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81" name="Text Box 14"/>
          <p:cNvSpPr txBox="1">
            <a:spLocks noChangeArrowheads="1"/>
          </p:cNvSpPr>
          <p:nvPr/>
        </p:nvSpPr>
        <p:spPr bwMode="auto">
          <a:xfrm>
            <a:off x="4121150" y="3716338"/>
            <a:ext cx="850900" cy="4572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400" b="1">
                <a:solidFill>
                  <a:srgbClr val="FF0000"/>
                </a:solidFill>
                <a:latin typeface="仿宋_GB2312"/>
                <a:ea typeface="仿宋_GB2312"/>
                <a:cs typeface="仿宋_GB2312"/>
              </a:rPr>
              <a:t>斜率</a:t>
            </a:r>
            <a:endParaRPr lang="zh-CN" altLang="en-US" sz="2400" b="1">
              <a:solidFill>
                <a:srgbClr val="FF0000"/>
              </a:solidFill>
              <a:latin typeface="仿宋_GB2312"/>
              <a:ea typeface="仿宋_GB2312"/>
              <a:cs typeface="仿宋_GB2312"/>
            </a:endParaRPr>
          </a:p>
        </p:txBody>
      </p:sp>
      <p:sp>
        <p:nvSpPr>
          <p:cNvPr id="32782" name="Line 15"/>
          <p:cNvSpPr>
            <a:spLocks noChangeShapeType="1"/>
          </p:cNvSpPr>
          <p:nvPr/>
        </p:nvSpPr>
        <p:spPr bwMode="auto">
          <a:xfrm>
            <a:off x="5353050" y="5030788"/>
            <a:ext cx="406400" cy="43338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83" name="Text Box 16"/>
          <p:cNvSpPr txBox="1">
            <a:spLocks noChangeArrowheads="1"/>
          </p:cNvSpPr>
          <p:nvPr/>
        </p:nvSpPr>
        <p:spPr bwMode="auto">
          <a:xfrm>
            <a:off x="5505450" y="5548313"/>
            <a:ext cx="1917700" cy="4572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400" b="1">
                <a:solidFill>
                  <a:srgbClr val="FF0000"/>
                </a:solidFill>
                <a:latin typeface="仿宋_GB2312"/>
                <a:ea typeface="仿宋_GB2312"/>
                <a:cs typeface="仿宋_GB2312"/>
              </a:rPr>
              <a:t>随机误差项</a:t>
            </a:r>
            <a:endParaRPr lang="zh-CN" altLang="en-US" sz="2400" b="1">
              <a:solidFill>
                <a:srgbClr val="FF0000"/>
              </a:solidFill>
              <a:latin typeface="仿宋_GB2312"/>
              <a:ea typeface="仿宋_GB2312"/>
              <a:cs typeface="仿宋_GB231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2BF53A0-7BB3-41FE-A6DA-64FD50B25253}" type="slidenum">
              <a:rPr lang="zh-CN" altLang="en-US" sz="1400" smtClean="0"/>
            </a:fld>
            <a:endParaRPr lang="en-US" altLang="zh-CN" sz="1400" smtClean="0"/>
          </a:p>
        </p:txBody>
      </p:sp>
      <p:sp>
        <p:nvSpPr>
          <p:cNvPr id="33795" name="Rectangle 24"/>
          <p:cNvSpPr>
            <a:spLocks noGrp="1" noChangeArrowheads="1"/>
          </p:cNvSpPr>
          <p:nvPr>
            <p:ph type="title"/>
          </p:nvPr>
        </p:nvSpPr>
        <p:spPr>
          <a:xfrm>
            <a:off x="0" y="12700"/>
            <a:ext cx="8178800" cy="609600"/>
          </a:xfrm>
          <a:solidFill>
            <a:srgbClr val="99CCFF"/>
          </a:solidFill>
        </p:spPr>
        <p:txBody>
          <a:bodyPr/>
          <a:lstStyle/>
          <a:p>
            <a:pPr algn="l" eaLnBrk="1" hangingPunct="1"/>
            <a:r>
              <a:rPr lang="zh-CN" altLang="en-US" smtClean="0">
                <a:solidFill>
                  <a:srgbClr val="CC0000"/>
                </a:solidFill>
              </a:rPr>
              <a:t>例子</a:t>
            </a:r>
            <a:endParaRPr lang="zh-CN" altLang="en-US" smtClean="0">
              <a:solidFill>
                <a:srgbClr val="CC0000"/>
              </a:solidFill>
            </a:endParaRPr>
          </a:p>
        </p:txBody>
      </p:sp>
      <p:sp>
        <p:nvSpPr>
          <p:cNvPr id="33796" name="Rectangle 25"/>
          <p:cNvSpPr>
            <a:spLocks noGrp="1" noChangeArrowheads="1"/>
          </p:cNvSpPr>
          <p:nvPr>
            <p:ph type="body" sz="half" idx="1"/>
          </p:nvPr>
        </p:nvSpPr>
        <p:spPr>
          <a:xfrm>
            <a:off x="0" y="977900"/>
            <a:ext cx="9144000" cy="5664200"/>
          </a:xfrm>
          <a:solidFill>
            <a:schemeClr val="accent1"/>
          </a:solidFill>
        </p:spPr>
        <p:txBody>
          <a:bodyPr/>
          <a:lstStyle/>
          <a:p>
            <a:pPr eaLnBrk="1" hangingPunct="1"/>
            <a:r>
              <a:rPr lang="zh-CN" altLang="en-US" sz="2800" smtClean="0"/>
              <a:t>例如，通过对若干年整体橱柜销售量</a:t>
            </a:r>
            <a:r>
              <a:rPr lang="en-US" altLang="zh-CN" sz="2800" smtClean="0"/>
              <a:t>(y, </a:t>
            </a:r>
            <a:r>
              <a:rPr lang="zh-CN" altLang="en-US" sz="2800" smtClean="0"/>
              <a:t>万延米</a:t>
            </a:r>
            <a:r>
              <a:rPr lang="en-US" altLang="zh-CN" sz="2800" smtClean="0"/>
              <a:t>)</a:t>
            </a:r>
            <a:r>
              <a:rPr lang="zh-CN" altLang="en-US" sz="2800" smtClean="0"/>
              <a:t>和同期商品房销售量</a:t>
            </a:r>
            <a:r>
              <a:rPr lang="en-US" altLang="zh-CN" sz="2800" smtClean="0"/>
              <a:t>(x, </a:t>
            </a:r>
            <a:r>
              <a:rPr lang="zh-CN" altLang="en-US" sz="2800" smtClean="0"/>
              <a:t>万平方米</a:t>
            </a:r>
            <a:r>
              <a:rPr lang="en-US" altLang="zh-CN" sz="2800" smtClean="0"/>
              <a:t>)</a:t>
            </a:r>
            <a:r>
              <a:rPr lang="zh-CN" altLang="en-US" sz="2800" smtClean="0"/>
              <a:t>，回归得到一元线性方程为：</a:t>
            </a:r>
            <a:endParaRPr lang="zh-CN" altLang="en-US" sz="2800" smtClean="0"/>
          </a:p>
          <a:p>
            <a:pPr eaLnBrk="1" hangingPunct="1"/>
            <a:endParaRPr lang="zh-CN" altLang="en-US" sz="2800" smtClean="0"/>
          </a:p>
          <a:p>
            <a:pPr eaLnBrk="1" hangingPunct="1"/>
            <a:endParaRPr lang="zh-CN" altLang="en-US" sz="2800" smtClean="0"/>
          </a:p>
          <a:p>
            <a:pPr eaLnBrk="1" hangingPunct="1"/>
            <a:endParaRPr lang="zh-CN" altLang="en-US" sz="2800" smtClean="0"/>
          </a:p>
          <a:p>
            <a:pPr eaLnBrk="1" hangingPunct="1"/>
            <a:r>
              <a:rPr lang="zh-CN" altLang="en-US" sz="2800" smtClean="0"/>
              <a:t>根据城建部门的规划，</a:t>
            </a:r>
            <a:r>
              <a:rPr lang="en-US" altLang="zh-CN" sz="2800" smtClean="0"/>
              <a:t>2008</a:t>
            </a:r>
            <a:r>
              <a:rPr lang="zh-CN" altLang="en-US" sz="2800" smtClean="0"/>
              <a:t>年商品房建设量将达到</a:t>
            </a:r>
            <a:r>
              <a:rPr lang="en-US" altLang="zh-CN" sz="2800" smtClean="0"/>
              <a:t>165.6</a:t>
            </a:r>
            <a:r>
              <a:rPr lang="zh-CN" altLang="en-US" sz="2800" smtClean="0"/>
              <a:t>万平方米，试预测该年度整体式橱柜的销售量。</a:t>
            </a:r>
            <a:endParaRPr lang="zh-CN" altLang="en-US" sz="2800" smtClean="0"/>
          </a:p>
          <a:p>
            <a:pPr eaLnBrk="1" hangingPunct="1"/>
            <a:endParaRPr lang="zh-CN" altLang="en-US" sz="2800" smtClean="0"/>
          </a:p>
          <a:p>
            <a:pPr eaLnBrk="1" hangingPunct="1"/>
            <a:endParaRPr lang="zh-CN" altLang="en-US" sz="2800" smtClean="0"/>
          </a:p>
          <a:p>
            <a:pPr eaLnBrk="1" hangingPunct="1"/>
            <a:r>
              <a:rPr lang="zh-CN" altLang="en-US" sz="2800" smtClean="0"/>
              <a:t>在</a:t>
            </a:r>
            <a:r>
              <a:rPr lang="en-US" altLang="zh-CN" sz="2800" smtClean="0"/>
              <a:t>95%</a:t>
            </a:r>
            <a:r>
              <a:rPr lang="zh-CN" altLang="en-US" sz="2800" smtClean="0"/>
              <a:t>的置信度下，该年份的整体式橱柜销售额位于</a:t>
            </a:r>
            <a:endParaRPr lang="zh-CN" altLang="en-US" sz="2800" smtClean="0"/>
          </a:p>
          <a:p>
            <a:pPr eaLnBrk="1" hangingPunct="1"/>
            <a:r>
              <a:rPr lang="en-US" altLang="zh-CN" sz="2800" smtClean="0"/>
              <a:t>                                                       </a:t>
            </a:r>
            <a:r>
              <a:rPr lang="zh-CN" altLang="en-US" sz="2800" smtClean="0"/>
              <a:t>万延米的区间内。</a:t>
            </a:r>
            <a:endParaRPr lang="zh-CN" altLang="en-US" sz="2800" smtClean="0"/>
          </a:p>
        </p:txBody>
      </p:sp>
      <p:graphicFrame>
        <p:nvGraphicFramePr>
          <p:cNvPr id="33797" name="Object 26"/>
          <p:cNvGraphicFramePr>
            <a:graphicFrameLocks noChangeAspect="1"/>
          </p:cNvGraphicFramePr>
          <p:nvPr/>
        </p:nvGraphicFramePr>
        <p:xfrm>
          <a:off x="2971800" y="1811338"/>
          <a:ext cx="3314700" cy="498475"/>
        </p:xfrm>
        <a:graphic>
          <a:graphicData uri="http://schemas.openxmlformats.org/presentationml/2006/ole">
            <mc:AlternateContent xmlns:mc="http://schemas.openxmlformats.org/markup-compatibility/2006">
              <mc:Choice xmlns:v="urn:schemas-microsoft-com:vml" Requires="v">
                <p:oleObj spid="_x0000_s33817" name="公式" r:id="rId1" imgW="1422400" imgH="203200" progId="Equation.3">
                  <p:embed/>
                </p:oleObj>
              </mc:Choice>
              <mc:Fallback>
                <p:oleObj name="公式" r:id="rId1" imgW="1422400" imgH="203200" progId="Equation.3">
                  <p:embed/>
                  <p:pic>
                    <p:nvPicPr>
                      <p:cNvPr id="0" name="Object 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811338"/>
                        <a:ext cx="3314700" cy="49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798" name="Object 27"/>
          <p:cNvGraphicFramePr>
            <a:graphicFrameLocks noChangeAspect="1"/>
          </p:cNvGraphicFramePr>
          <p:nvPr/>
        </p:nvGraphicFramePr>
        <p:xfrm>
          <a:off x="2971800" y="2424113"/>
          <a:ext cx="1657350" cy="533400"/>
        </p:xfrm>
        <a:graphic>
          <a:graphicData uri="http://schemas.openxmlformats.org/presentationml/2006/ole">
            <mc:AlternateContent xmlns:mc="http://schemas.openxmlformats.org/markup-compatibility/2006">
              <mc:Choice xmlns:v="urn:schemas-microsoft-com:vml" Requires="v">
                <p:oleObj spid="_x0000_s33818" name="公式" r:id="rId3" imgW="787400" imgH="241300" progId="Equation.3">
                  <p:embed/>
                </p:oleObj>
              </mc:Choice>
              <mc:Fallback>
                <p:oleObj name="公式" r:id="rId3" imgW="787400" imgH="241300" progId="Equation.3">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2424113"/>
                        <a:ext cx="165735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799" name="Object 28"/>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33819" name="公式" r:id="rId5" imgW="114300" imgH="215900" progId="Equation.3">
                  <p:embed/>
                </p:oleObj>
              </mc:Choice>
              <mc:Fallback>
                <p:oleObj name="公式" r:id="rId5" imgW="114300" imgH="215900" progId="Equation.3">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00" name="Object 29"/>
          <p:cNvGraphicFramePr>
            <a:graphicFrameLocks noChangeAspect="1"/>
          </p:cNvGraphicFramePr>
          <p:nvPr/>
        </p:nvGraphicFramePr>
        <p:xfrm>
          <a:off x="1692275" y="5084763"/>
          <a:ext cx="6030913" cy="488950"/>
        </p:xfrm>
        <a:graphic>
          <a:graphicData uri="http://schemas.openxmlformats.org/presentationml/2006/ole">
            <mc:AlternateContent xmlns:mc="http://schemas.openxmlformats.org/markup-compatibility/2006">
              <mc:Choice xmlns:v="urn:schemas-microsoft-com:vml" Requires="v">
                <p:oleObj spid="_x0000_s33820" name="公式" r:id="rId7" imgW="2819400" imgH="228600" progId="Equation.3">
                  <p:embed/>
                </p:oleObj>
              </mc:Choice>
              <mc:Fallback>
                <p:oleObj name="公式" r:id="rId7" imgW="2819400" imgH="228600" progId="Equation.3">
                  <p:embed/>
                  <p:pic>
                    <p:nvPicPr>
                      <p:cNvPr id="0" name="Object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275" y="5084763"/>
                        <a:ext cx="6030913"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01" name="Object 30"/>
          <p:cNvGraphicFramePr>
            <a:graphicFrameLocks noChangeAspect="1"/>
          </p:cNvGraphicFramePr>
          <p:nvPr/>
        </p:nvGraphicFramePr>
        <p:xfrm>
          <a:off x="1258888" y="6405563"/>
          <a:ext cx="3790950" cy="452437"/>
        </p:xfrm>
        <a:graphic>
          <a:graphicData uri="http://schemas.openxmlformats.org/presentationml/2006/ole">
            <mc:AlternateContent xmlns:mc="http://schemas.openxmlformats.org/markup-compatibility/2006">
              <mc:Choice xmlns:v="urn:schemas-microsoft-com:vml" Requires="v">
                <p:oleObj spid="_x0000_s33821" name="公式" r:id="rId9" imgW="1917700" imgH="228600" progId="Equation.3">
                  <p:embed/>
                </p:oleObj>
              </mc:Choice>
              <mc:Fallback>
                <p:oleObj name="公式" r:id="rId9" imgW="1917700" imgH="228600" progId="Equation.3">
                  <p:embed/>
                  <p:pic>
                    <p:nvPicPr>
                      <p:cNvPr id="0" name="Object 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58888" y="6405563"/>
                        <a:ext cx="3790950" cy="45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7FAF7BA-584A-40C4-A75E-06E9B2153810}" type="slidenum">
              <a:rPr lang="zh-CN" altLang="en-US" sz="1400" smtClean="0"/>
            </a:fld>
            <a:endParaRPr lang="en-US" altLang="zh-CN" sz="1400" smtClean="0"/>
          </a:p>
        </p:txBody>
      </p:sp>
      <p:sp>
        <p:nvSpPr>
          <p:cNvPr id="34819" name="Rectangle 4"/>
          <p:cNvSpPr>
            <a:spLocks noGrp="1" noChangeArrowheads="1"/>
          </p:cNvSpPr>
          <p:nvPr>
            <p:ph type="title"/>
          </p:nvPr>
        </p:nvSpPr>
        <p:spPr>
          <a:xfrm>
            <a:off x="0" y="12700"/>
            <a:ext cx="8178800" cy="609600"/>
          </a:xfrm>
          <a:solidFill>
            <a:srgbClr val="99CCFF"/>
          </a:solidFill>
        </p:spPr>
        <p:txBody>
          <a:bodyPr/>
          <a:lstStyle/>
          <a:p>
            <a:pPr algn="l" eaLnBrk="1" hangingPunct="1"/>
            <a:r>
              <a:rPr lang="zh-CN" altLang="en-US" smtClean="0">
                <a:solidFill>
                  <a:srgbClr val="CC0000"/>
                </a:solidFill>
              </a:rPr>
              <a:t>多元回归模型</a:t>
            </a:r>
            <a:endParaRPr lang="zh-CN" altLang="en-US" smtClean="0">
              <a:solidFill>
                <a:srgbClr val="CC0000"/>
              </a:solidFill>
            </a:endParaRPr>
          </a:p>
        </p:txBody>
      </p:sp>
      <p:sp>
        <p:nvSpPr>
          <p:cNvPr id="525317" name="Rectangle 5"/>
          <p:cNvSpPr>
            <a:spLocks noGrp="1" noChangeArrowheads="1"/>
          </p:cNvSpPr>
          <p:nvPr>
            <p:ph type="body" sz="half" idx="1"/>
          </p:nvPr>
        </p:nvSpPr>
        <p:spPr>
          <a:xfrm>
            <a:off x="0" y="977900"/>
            <a:ext cx="9144000" cy="5664200"/>
          </a:xfrm>
          <a:solidFill>
            <a:srgbClr val="99CCFF"/>
          </a:solidFill>
        </p:spPr>
        <p:txBody>
          <a:bodyPr/>
          <a:lstStyle/>
          <a:p>
            <a:pPr eaLnBrk="1" hangingPunct="1"/>
            <a:endParaRPr lang="zh-CN" altLang="en-US" sz="2800" smtClean="0"/>
          </a:p>
          <a:p>
            <a:pPr eaLnBrk="1" hangingPunct="1"/>
            <a:endParaRPr lang="zh-CN" altLang="en-US" sz="2800" smtClean="0"/>
          </a:p>
          <a:p>
            <a:pPr lvl="1" eaLnBrk="1" hangingPunct="1"/>
            <a:endParaRPr lang="zh-CN" altLang="en-US" sz="2400" smtClean="0"/>
          </a:p>
          <a:p>
            <a:pPr eaLnBrk="1" hangingPunct="1"/>
            <a:r>
              <a:rPr lang="zh-CN" altLang="en-US" sz="2800" smtClean="0"/>
              <a:t>例如：住房需求方程</a:t>
            </a:r>
            <a:endParaRPr lang="zh-CN" altLang="en-US" sz="2800" smtClean="0"/>
          </a:p>
          <a:p>
            <a:pPr lvl="1" eaLnBrk="1" hangingPunct="1"/>
            <a:r>
              <a:rPr lang="en-US" altLang="zh-CN" sz="2400" smtClean="0"/>
              <a:t>   log(D)</a:t>
            </a:r>
            <a:r>
              <a:rPr lang="zh-CN" altLang="en-US" sz="2400" smtClean="0"/>
              <a:t>＝</a:t>
            </a:r>
            <a:r>
              <a:rPr lang="en-US" altLang="zh-CN" sz="2400" smtClean="0"/>
              <a:t>0.31 + 0.67*log(I) – 0.51*log(P)</a:t>
            </a:r>
            <a:endParaRPr lang="en-US" altLang="zh-CN" sz="2400" smtClean="0"/>
          </a:p>
          <a:p>
            <a:pPr lvl="1" eaLnBrk="1" hangingPunct="1"/>
            <a:r>
              <a:rPr lang="zh-CN" altLang="en-US" sz="2400" smtClean="0"/>
              <a:t>         </a:t>
            </a:r>
            <a:r>
              <a:rPr lang="en-US" altLang="zh-CN" sz="2400" smtClean="0"/>
              <a:t>R2=0.62</a:t>
            </a:r>
            <a:endParaRPr lang="en-US" altLang="zh-CN" sz="2400" smtClean="0"/>
          </a:p>
          <a:p>
            <a:pPr lvl="2" eaLnBrk="1" hangingPunct="1"/>
            <a:r>
              <a:rPr lang="en-US" altLang="zh-CN" sz="2000" smtClean="0"/>
              <a:t>D: </a:t>
            </a:r>
            <a:r>
              <a:rPr lang="zh-CN" altLang="en-US" sz="2000" smtClean="0"/>
              <a:t>住房需求量（套，或平方米）</a:t>
            </a:r>
            <a:endParaRPr lang="zh-CN" altLang="en-US" sz="2000" smtClean="0"/>
          </a:p>
          <a:p>
            <a:pPr lvl="2" eaLnBrk="1" hangingPunct="1"/>
            <a:r>
              <a:rPr lang="en-US" altLang="zh-CN" sz="2000" smtClean="0"/>
              <a:t>I: </a:t>
            </a:r>
            <a:r>
              <a:rPr lang="zh-CN" altLang="en-US" sz="2000" smtClean="0"/>
              <a:t>平均年家庭可支配收入（元</a:t>
            </a:r>
            <a:r>
              <a:rPr lang="en-US" altLang="zh-CN" sz="2000" smtClean="0"/>
              <a:t>/</a:t>
            </a:r>
            <a:r>
              <a:rPr lang="zh-CN" altLang="en-US" sz="2000" smtClean="0"/>
              <a:t>年）</a:t>
            </a:r>
            <a:endParaRPr lang="zh-CN" altLang="en-US" sz="2000" smtClean="0"/>
          </a:p>
          <a:p>
            <a:pPr lvl="2" eaLnBrk="1" hangingPunct="1"/>
            <a:r>
              <a:rPr lang="en-US" altLang="zh-CN" sz="2000" smtClean="0"/>
              <a:t>P: </a:t>
            </a:r>
            <a:r>
              <a:rPr lang="zh-CN" altLang="en-US" sz="2000" smtClean="0"/>
              <a:t>平均住房价格（元</a:t>
            </a:r>
            <a:r>
              <a:rPr lang="en-US" altLang="zh-CN" sz="2000" smtClean="0"/>
              <a:t>/</a:t>
            </a:r>
            <a:r>
              <a:rPr lang="zh-CN" altLang="en-US" sz="2000" smtClean="0"/>
              <a:t>套，或元</a:t>
            </a:r>
            <a:r>
              <a:rPr lang="en-US" altLang="zh-CN" sz="2000" smtClean="0"/>
              <a:t>/</a:t>
            </a:r>
            <a:r>
              <a:rPr lang="zh-CN" altLang="en-US" sz="2000" smtClean="0"/>
              <a:t>平方米）</a:t>
            </a:r>
            <a:endParaRPr lang="zh-CN" altLang="en-US" sz="2000" smtClean="0"/>
          </a:p>
          <a:p>
            <a:pPr eaLnBrk="1" hangingPunct="1"/>
            <a:endParaRPr lang="zh-CN" altLang="en-US" sz="2800" smtClean="0"/>
          </a:p>
          <a:p>
            <a:pPr eaLnBrk="1" hangingPunct="1"/>
            <a:r>
              <a:rPr lang="zh-CN" altLang="en-US" sz="2800" smtClean="0"/>
              <a:t>统计软件：</a:t>
            </a:r>
            <a:r>
              <a:rPr lang="el-GR" altLang="zh-CN" sz="2800" smtClean="0"/>
              <a:t>SPSS</a:t>
            </a:r>
            <a:endParaRPr lang="zh-CN" altLang="en-US" sz="2800" smtClean="0"/>
          </a:p>
        </p:txBody>
      </p:sp>
      <p:graphicFrame>
        <p:nvGraphicFramePr>
          <p:cNvPr id="34821" name="Object 6"/>
          <p:cNvGraphicFramePr>
            <a:graphicFrameLocks noChangeAspect="1"/>
          </p:cNvGraphicFramePr>
          <p:nvPr/>
        </p:nvGraphicFramePr>
        <p:xfrm>
          <a:off x="1504950" y="1284288"/>
          <a:ext cx="5251450" cy="623887"/>
        </p:xfrm>
        <a:graphic>
          <a:graphicData uri="http://schemas.openxmlformats.org/presentationml/2006/ole">
            <mc:AlternateContent xmlns:mc="http://schemas.openxmlformats.org/markup-compatibility/2006">
              <mc:Choice xmlns:v="urn:schemas-microsoft-com:vml" Requires="v">
                <p:oleObj spid="_x0000_s34825" name="Equation" r:id="rId1" imgW="2171700" imgH="228600" progId="Equation.DSMT4">
                  <p:embed/>
                </p:oleObj>
              </mc:Choice>
              <mc:Fallback>
                <p:oleObj name="Equation" r:id="rId1" imgW="2171700" imgH="228600" progId="Equation.DSMT4">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4950" y="1284288"/>
                        <a:ext cx="5251450" cy="623887"/>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5317">
                                            <p:txEl>
                                              <p:pRg st="3" end="3"/>
                                            </p:txEl>
                                          </p:spTgt>
                                        </p:tgtEl>
                                        <p:attrNameLst>
                                          <p:attrName>style.visibility</p:attrName>
                                        </p:attrNameLst>
                                      </p:cBhvr>
                                      <p:to>
                                        <p:strVal val="visible"/>
                                      </p:to>
                                    </p:set>
                                    <p:anim calcmode="lin" valueType="num">
                                      <p:cBhvr additive="base">
                                        <p:cTn id="7" dur="500" fill="hold"/>
                                        <p:tgtEl>
                                          <p:spTgt spid="52531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5317">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25317">
                                            <p:txEl>
                                              <p:pRg st="4" end="4"/>
                                            </p:txEl>
                                          </p:spTgt>
                                        </p:tgtEl>
                                        <p:attrNameLst>
                                          <p:attrName>style.visibility</p:attrName>
                                        </p:attrNameLst>
                                      </p:cBhvr>
                                      <p:to>
                                        <p:strVal val="visible"/>
                                      </p:to>
                                    </p:set>
                                    <p:anim calcmode="lin" valueType="num">
                                      <p:cBhvr additive="base">
                                        <p:cTn id="11" dur="500" fill="hold"/>
                                        <p:tgtEl>
                                          <p:spTgt spid="525317">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25317">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25317">
                                            <p:txEl>
                                              <p:pRg st="5" end="5"/>
                                            </p:txEl>
                                          </p:spTgt>
                                        </p:tgtEl>
                                        <p:attrNameLst>
                                          <p:attrName>style.visibility</p:attrName>
                                        </p:attrNameLst>
                                      </p:cBhvr>
                                      <p:to>
                                        <p:strVal val="visible"/>
                                      </p:to>
                                    </p:set>
                                    <p:anim calcmode="lin" valueType="num">
                                      <p:cBhvr additive="base">
                                        <p:cTn id="15" dur="500" fill="hold"/>
                                        <p:tgtEl>
                                          <p:spTgt spid="525317">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25317">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25317">
                                            <p:txEl>
                                              <p:pRg st="6" end="6"/>
                                            </p:txEl>
                                          </p:spTgt>
                                        </p:tgtEl>
                                        <p:attrNameLst>
                                          <p:attrName>style.visibility</p:attrName>
                                        </p:attrNameLst>
                                      </p:cBhvr>
                                      <p:to>
                                        <p:strVal val="visible"/>
                                      </p:to>
                                    </p:set>
                                    <p:anim calcmode="lin" valueType="num">
                                      <p:cBhvr additive="base">
                                        <p:cTn id="19" dur="500" fill="hold"/>
                                        <p:tgtEl>
                                          <p:spTgt spid="525317">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25317">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25317">
                                            <p:txEl>
                                              <p:pRg st="7" end="7"/>
                                            </p:txEl>
                                          </p:spTgt>
                                        </p:tgtEl>
                                        <p:attrNameLst>
                                          <p:attrName>style.visibility</p:attrName>
                                        </p:attrNameLst>
                                      </p:cBhvr>
                                      <p:to>
                                        <p:strVal val="visible"/>
                                      </p:to>
                                    </p:set>
                                    <p:anim calcmode="lin" valueType="num">
                                      <p:cBhvr additive="base">
                                        <p:cTn id="23" dur="500" fill="hold"/>
                                        <p:tgtEl>
                                          <p:spTgt spid="525317">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25317">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25317">
                                            <p:txEl>
                                              <p:pRg st="8" end="8"/>
                                            </p:txEl>
                                          </p:spTgt>
                                        </p:tgtEl>
                                        <p:attrNameLst>
                                          <p:attrName>style.visibility</p:attrName>
                                        </p:attrNameLst>
                                      </p:cBhvr>
                                      <p:to>
                                        <p:strVal val="visible"/>
                                      </p:to>
                                    </p:set>
                                    <p:anim calcmode="lin" valueType="num">
                                      <p:cBhvr additive="base">
                                        <p:cTn id="27" dur="500" fill="hold"/>
                                        <p:tgtEl>
                                          <p:spTgt spid="525317">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2531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25317">
                                            <p:txEl>
                                              <p:pRg st="10" end="10"/>
                                            </p:txEl>
                                          </p:spTgt>
                                        </p:tgtEl>
                                        <p:attrNameLst>
                                          <p:attrName>style.visibility</p:attrName>
                                        </p:attrNameLst>
                                      </p:cBhvr>
                                      <p:to>
                                        <p:strVal val="visible"/>
                                      </p:to>
                                    </p:set>
                                    <p:anim calcmode="lin" valueType="num">
                                      <p:cBhvr additive="base">
                                        <p:cTn id="33" dur="500" fill="hold"/>
                                        <p:tgtEl>
                                          <p:spTgt spid="525317">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25317">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AFFCBCF-AAD2-4173-B946-105261EAE59A}" type="slidenum">
              <a:rPr lang="zh-CN" altLang="en-US" sz="1400" smtClean="0"/>
            </a:fld>
            <a:endParaRPr lang="en-US" altLang="zh-CN" sz="1400" smtClean="0"/>
          </a:p>
        </p:txBody>
      </p:sp>
      <p:sp>
        <p:nvSpPr>
          <p:cNvPr id="35843" name="Line 4"/>
          <p:cNvSpPr>
            <a:spLocks noChangeShapeType="1"/>
          </p:cNvSpPr>
          <p:nvPr/>
        </p:nvSpPr>
        <p:spPr bwMode="auto">
          <a:xfrm flipV="1">
            <a:off x="1354138" y="1852613"/>
            <a:ext cx="0" cy="14478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5844" name="Line 5"/>
          <p:cNvSpPr>
            <a:spLocks noChangeShapeType="1"/>
          </p:cNvSpPr>
          <p:nvPr/>
        </p:nvSpPr>
        <p:spPr bwMode="auto">
          <a:xfrm>
            <a:off x="1354138" y="3300413"/>
            <a:ext cx="175260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5845" name="Line 6"/>
          <p:cNvSpPr>
            <a:spLocks noChangeShapeType="1"/>
          </p:cNvSpPr>
          <p:nvPr/>
        </p:nvSpPr>
        <p:spPr bwMode="auto">
          <a:xfrm flipV="1">
            <a:off x="3944938" y="1852613"/>
            <a:ext cx="0" cy="14478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5846" name="Line 7"/>
          <p:cNvSpPr>
            <a:spLocks noChangeShapeType="1"/>
          </p:cNvSpPr>
          <p:nvPr/>
        </p:nvSpPr>
        <p:spPr bwMode="auto">
          <a:xfrm>
            <a:off x="3944938" y="3300413"/>
            <a:ext cx="190500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5847" name="Line 8"/>
          <p:cNvSpPr>
            <a:spLocks noChangeShapeType="1"/>
          </p:cNvSpPr>
          <p:nvPr/>
        </p:nvSpPr>
        <p:spPr bwMode="auto">
          <a:xfrm flipV="1">
            <a:off x="6688138" y="1852613"/>
            <a:ext cx="0" cy="14478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5848" name="Line 9"/>
          <p:cNvSpPr>
            <a:spLocks noChangeShapeType="1"/>
          </p:cNvSpPr>
          <p:nvPr/>
        </p:nvSpPr>
        <p:spPr bwMode="auto">
          <a:xfrm>
            <a:off x="6688138" y="3300413"/>
            <a:ext cx="167640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5849" name="Line 10"/>
          <p:cNvSpPr>
            <a:spLocks noChangeShapeType="1"/>
          </p:cNvSpPr>
          <p:nvPr/>
        </p:nvSpPr>
        <p:spPr bwMode="auto">
          <a:xfrm flipV="1">
            <a:off x="1277938" y="4062413"/>
            <a:ext cx="0" cy="14478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5850" name="Line 11"/>
          <p:cNvSpPr>
            <a:spLocks noChangeShapeType="1"/>
          </p:cNvSpPr>
          <p:nvPr/>
        </p:nvSpPr>
        <p:spPr bwMode="auto">
          <a:xfrm>
            <a:off x="1277938" y="5510213"/>
            <a:ext cx="190500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5851" name="Line 12"/>
          <p:cNvSpPr>
            <a:spLocks noChangeShapeType="1"/>
          </p:cNvSpPr>
          <p:nvPr/>
        </p:nvSpPr>
        <p:spPr bwMode="auto">
          <a:xfrm flipV="1">
            <a:off x="4021138" y="4062413"/>
            <a:ext cx="0" cy="14478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5852" name="Line 13"/>
          <p:cNvSpPr>
            <a:spLocks noChangeShapeType="1"/>
          </p:cNvSpPr>
          <p:nvPr/>
        </p:nvSpPr>
        <p:spPr bwMode="auto">
          <a:xfrm>
            <a:off x="4021138" y="5510213"/>
            <a:ext cx="182880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5853" name="Line 14"/>
          <p:cNvSpPr>
            <a:spLocks noChangeShapeType="1"/>
          </p:cNvSpPr>
          <p:nvPr/>
        </p:nvSpPr>
        <p:spPr bwMode="auto">
          <a:xfrm flipV="1">
            <a:off x="6688138" y="4062413"/>
            <a:ext cx="0" cy="14478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5854" name="Line 15"/>
          <p:cNvSpPr>
            <a:spLocks noChangeShapeType="1"/>
          </p:cNvSpPr>
          <p:nvPr/>
        </p:nvSpPr>
        <p:spPr bwMode="auto">
          <a:xfrm flipV="1">
            <a:off x="6688138" y="5510213"/>
            <a:ext cx="175260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5855" name="Oval 16"/>
          <p:cNvSpPr>
            <a:spLocks noChangeArrowheads="1"/>
          </p:cNvSpPr>
          <p:nvPr/>
        </p:nvSpPr>
        <p:spPr bwMode="auto">
          <a:xfrm flipV="1">
            <a:off x="1963738" y="26908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56" name="Oval 17"/>
          <p:cNvSpPr>
            <a:spLocks noChangeArrowheads="1"/>
          </p:cNvSpPr>
          <p:nvPr/>
        </p:nvSpPr>
        <p:spPr bwMode="auto">
          <a:xfrm flipH="1">
            <a:off x="2192338" y="24622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57" name="Oval 18"/>
          <p:cNvSpPr>
            <a:spLocks noChangeArrowheads="1"/>
          </p:cNvSpPr>
          <p:nvPr/>
        </p:nvSpPr>
        <p:spPr bwMode="auto">
          <a:xfrm>
            <a:off x="1811338" y="28432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58" name="Oval 19"/>
          <p:cNvSpPr>
            <a:spLocks noChangeArrowheads="1"/>
          </p:cNvSpPr>
          <p:nvPr/>
        </p:nvSpPr>
        <p:spPr bwMode="auto">
          <a:xfrm>
            <a:off x="2420938" y="22336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59" name="Oval 20"/>
          <p:cNvSpPr>
            <a:spLocks noChangeArrowheads="1"/>
          </p:cNvSpPr>
          <p:nvPr/>
        </p:nvSpPr>
        <p:spPr bwMode="auto">
          <a:xfrm flipH="1" flipV="1">
            <a:off x="2573338" y="20812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60" name="Oval 21"/>
          <p:cNvSpPr>
            <a:spLocks noChangeArrowheads="1"/>
          </p:cNvSpPr>
          <p:nvPr/>
        </p:nvSpPr>
        <p:spPr bwMode="auto">
          <a:xfrm>
            <a:off x="4402138" y="27670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61" name="Oval 22"/>
          <p:cNvSpPr>
            <a:spLocks noChangeArrowheads="1"/>
          </p:cNvSpPr>
          <p:nvPr/>
        </p:nvSpPr>
        <p:spPr bwMode="auto">
          <a:xfrm>
            <a:off x="4630738" y="26908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62" name="Oval 23"/>
          <p:cNvSpPr>
            <a:spLocks noChangeArrowheads="1"/>
          </p:cNvSpPr>
          <p:nvPr/>
        </p:nvSpPr>
        <p:spPr bwMode="auto">
          <a:xfrm flipH="1">
            <a:off x="4478338" y="24622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63" name="Oval 24"/>
          <p:cNvSpPr>
            <a:spLocks noChangeArrowheads="1"/>
          </p:cNvSpPr>
          <p:nvPr/>
        </p:nvSpPr>
        <p:spPr bwMode="auto">
          <a:xfrm>
            <a:off x="4706938" y="24622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64" name="Oval 25"/>
          <p:cNvSpPr>
            <a:spLocks noChangeArrowheads="1"/>
          </p:cNvSpPr>
          <p:nvPr/>
        </p:nvSpPr>
        <p:spPr bwMode="auto">
          <a:xfrm>
            <a:off x="4706938" y="21574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65" name="Oval 26"/>
          <p:cNvSpPr>
            <a:spLocks noChangeArrowheads="1"/>
          </p:cNvSpPr>
          <p:nvPr/>
        </p:nvSpPr>
        <p:spPr bwMode="auto">
          <a:xfrm>
            <a:off x="4935538" y="22336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66" name="Oval 27"/>
          <p:cNvSpPr>
            <a:spLocks noChangeArrowheads="1"/>
          </p:cNvSpPr>
          <p:nvPr/>
        </p:nvSpPr>
        <p:spPr bwMode="auto">
          <a:xfrm flipH="1">
            <a:off x="5011738" y="25384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67" name="Oval 28"/>
          <p:cNvSpPr>
            <a:spLocks noChangeArrowheads="1"/>
          </p:cNvSpPr>
          <p:nvPr/>
        </p:nvSpPr>
        <p:spPr bwMode="auto">
          <a:xfrm flipH="1">
            <a:off x="5240338" y="19288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68" name="Oval 29"/>
          <p:cNvSpPr>
            <a:spLocks noChangeArrowheads="1"/>
          </p:cNvSpPr>
          <p:nvPr/>
        </p:nvSpPr>
        <p:spPr bwMode="auto">
          <a:xfrm flipV="1">
            <a:off x="5164138" y="22336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69" name="Oval 30"/>
          <p:cNvSpPr>
            <a:spLocks noChangeArrowheads="1"/>
          </p:cNvSpPr>
          <p:nvPr/>
        </p:nvSpPr>
        <p:spPr bwMode="auto">
          <a:xfrm>
            <a:off x="5011738" y="20050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70" name="Oval 31"/>
          <p:cNvSpPr>
            <a:spLocks noChangeArrowheads="1"/>
          </p:cNvSpPr>
          <p:nvPr/>
        </p:nvSpPr>
        <p:spPr bwMode="auto">
          <a:xfrm flipH="1">
            <a:off x="7831138" y="28432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71" name="Oval 32"/>
          <p:cNvSpPr>
            <a:spLocks noChangeArrowheads="1"/>
          </p:cNvSpPr>
          <p:nvPr/>
        </p:nvSpPr>
        <p:spPr bwMode="auto">
          <a:xfrm flipH="1">
            <a:off x="7602538" y="26146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72" name="Oval 33"/>
          <p:cNvSpPr>
            <a:spLocks noChangeArrowheads="1"/>
          </p:cNvSpPr>
          <p:nvPr/>
        </p:nvSpPr>
        <p:spPr bwMode="auto">
          <a:xfrm>
            <a:off x="7373938" y="24622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73" name="Oval 34"/>
          <p:cNvSpPr>
            <a:spLocks noChangeArrowheads="1"/>
          </p:cNvSpPr>
          <p:nvPr/>
        </p:nvSpPr>
        <p:spPr bwMode="auto">
          <a:xfrm flipH="1">
            <a:off x="7069138" y="21574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74" name="Oval 35"/>
          <p:cNvSpPr>
            <a:spLocks noChangeArrowheads="1"/>
          </p:cNvSpPr>
          <p:nvPr/>
        </p:nvSpPr>
        <p:spPr bwMode="auto">
          <a:xfrm flipV="1">
            <a:off x="7221538" y="23098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75" name="Oval 36"/>
          <p:cNvSpPr>
            <a:spLocks noChangeArrowheads="1"/>
          </p:cNvSpPr>
          <p:nvPr/>
        </p:nvSpPr>
        <p:spPr bwMode="auto">
          <a:xfrm flipH="1">
            <a:off x="1658938" y="43672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76" name="Oval 37"/>
          <p:cNvSpPr>
            <a:spLocks noChangeArrowheads="1"/>
          </p:cNvSpPr>
          <p:nvPr/>
        </p:nvSpPr>
        <p:spPr bwMode="auto">
          <a:xfrm>
            <a:off x="2039938" y="44434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77" name="Oval 38"/>
          <p:cNvSpPr>
            <a:spLocks noChangeArrowheads="1"/>
          </p:cNvSpPr>
          <p:nvPr/>
        </p:nvSpPr>
        <p:spPr bwMode="auto">
          <a:xfrm>
            <a:off x="1811338" y="47482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78" name="Oval 39"/>
          <p:cNvSpPr>
            <a:spLocks noChangeArrowheads="1"/>
          </p:cNvSpPr>
          <p:nvPr/>
        </p:nvSpPr>
        <p:spPr bwMode="auto">
          <a:xfrm>
            <a:off x="2344738" y="47482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79" name="Oval 40"/>
          <p:cNvSpPr>
            <a:spLocks noChangeArrowheads="1"/>
          </p:cNvSpPr>
          <p:nvPr/>
        </p:nvSpPr>
        <p:spPr bwMode="auto">
          <a:xfrm>
            <a:off x="2192338" y="49768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80" name="Oval 41"/>
          <p:cNvSpPr>
            <a:spLocks noChangeArrowheads="1"/>
          </p:cNvSpPr>
          <p:nvPr/>
        </p:nvSpPr>
        <p:spPr bwMode="auto">
          <a:xfrm flipH="1">
            <a:off x="2497138" y="50530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81" name="Oval 42"/>
          <p:cNvSpPr>
            <a:spLocks noChangeArrowheads="1"/>
          </p:cNvSpPr>
          <p:nvPr/>
        </p:nvSpPr>
        <p:spPr bwMode="auto">
          <a:xfrm flipH="1">
            <a:off x="2116138" y="47482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82" name="Oval 43"/>
          <p:cNvSpPr>
            <a:spLocks noChangeArrowheads="1"/>
          </p:cNvSpPr>
          <p:nvPr/>
        </p:nvSpPr>
        <p:spPr bwMode="auto">
          <a:xfrm>
            <a:off x="4478338" y="45958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83" name="Oval 44"/>
          <p:cNvSpPr>
            <a:spLocks noChangeArrowheads="1"/>
          </p:cNvSpPr>
          <p:nvPr/>
        </p:nvSpPr>
        <p:spPr bwMode="auto">
          <a:xfrm flipV="1">
            <a:off x="4783138" y="43672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84" name="Oval 45"/>
          <p:cNvSpPr>
            <a:spLocks noChangeArrowheads="1"/>
          </p:cNvSpPr>
          <p:nvPr/>
        </p:nvSpPr>
        <p:spPr bwMode="auto">
          <a:xfrm>
            <a:off x="5164138" y="44434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85" name="Oval 46"/>
          <p:cNvSpPr>
            <a:spLocks noChangeArrowheads="1"/>
          </p:cNvSpPr>
          <p:nvPr/>
        </p:nvSpPr>
        <p:spPr bwMode="auto">
          <a:xfrm flipH="1">
            <a:off x="4325938" y="49006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86" name="Oval 47"/>
          <p:cNvSpPr>
            <a:spLocks noChangeArrowheads="1"/>
          </p:cNvSpPr>
          <p:nvPr/>
        </p:nvSpPr>
        <p:spPr bwMode="auto">
          <a:xfrm flipH="1">
            <a:off x="5468938" y="45958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87" name="Oval 48"/>
          <p:cNvSpPr>
            <a:spLocks noChangeArrowheads="1"/>
          </p:cNvSpPr>
          <p:nvPr/>
        </p:nvSpPr>
        <p:spPr bwMode="auto">
          <a:xfrm flipH="1">
            <a:off x="7526338" y="42910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88" name="Oval 49"/>
          <p:cNvSpPr>
            <a:spLocks noChangeArrowheads="1"/>
          </p:cNvSpPr>
          <p:nvPr/>
        </p:nvSpPr>
        <p:spPr bwMode="auto">
          <a:xfrm flipH="1">
            <a:off x="7602538" y="49768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89" name="Oval 50"/>
          <p:cNvSpPr>
            <a:spLocks noChangeArrowheads="1"/>
          </p:cNvSpPr>
          <p:nvPr/>
        </p:nvSpPr>
        <p:spPr bwMode="auto">
          <a:xfrm>
            <a:off x="7221538" y="44434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90" name="Oval 51"/>
          <p:cNvSpPr>
            <a:spLocks noChangeArrowheads="1"/>
          </p:cNvSpPr>
          <p:nvPr/>
        </p:nvSpPr>
        <p:spPr bwMode="auto">
          <a:xfrm flipH="1" flipV="1">
            <a:off x="7983538" y="44434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91" name="Oval 52"/>
          <p:cNvSpPr>
            <a:spLocks noChangeArrowheads="1"/>
          </p:cNvSpPr>
          <p:nvPr/>
        </p:nvSpPr>
        <p:spPr bwMode="auto">
          <a:xfrm flipV="1">
            <a:off x="7145338" y="47482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92" name="Oval 53"/>
          <p:cNvSpPr>
            <a:spLocks noChangeArrowheads="1"/>
          </p:cNvSpPr>
          <p:nvPr/>
        </p:nvSpPr>
        <p:spPr bwMode="auto">
          <a:xfrm flipH="1">
            <a:off x="7907338" y="46720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93" name="Oval 54"/>
          <p:cNvSpPr>
            <a:spLocks noChangeArrowheads="1"/>
          </p:cNvSpPr>
          <p:nvPr/>
        </p:nvSpPr>
        <p:spPr bwMode="auto">
          <a:xfrm>
            <a:off x="7602538" y="45958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94" name="Oval 55"/>
          <p:cNvSpPr>
            <a:spLocks noChangeArrowheads="1"/>
          </p:cNvSpPr>
          <p:nvPr/>
        </p:nvSpPr>
        <p:spPr bwMode="auto">
          <a:xfrm flipV="1">
            <a:off x="7297738" y="4900613"/>
            <a:ext cx="76200" cy="762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4400">
              <a:solidFill>
                <a:srgbClr val="CC0000"/>
              </a:solidFill>
            </a:endParaRPr>
          </a:p>
        </p:txBody>
      </p:sp>
      <p:sp>
        <p:nvSpPr>
          <p:cNvPr id="35895" name="Text Box 56"/>
          <p:cNvSpPr txBox="1">
            <a:spLocks noChangeArrowheads="1"/>
          </p:cNvSpPr>
          <p:nvPr/>
        </p:nvSpPr>
        <p:spPr bwMode="auto">
          <a:xfrm>
            <a:off x="896938" y="1624013"/>
            <a:ext cx="533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1800">
                <a:latin typeface="Times New Roman" panose="02020603050405020304" pitchFamily="18" charset="0"/>
              </a:rPr>
              <a:t>特征</a:t>
            </a:r>
            <a:endParaRPr kumimoji="1" lang="zh-CN" altLang="en-US" sz="1800">
              <a:latin typeface="Times New Roman" panose="02020603050405020304" pitchFamily="18" charset="0"/>
            </a:endParaRPr>
          </a:p>
        </p:txBody>
      </p:sp>
      <p:sp>
        <p:nvSpPr>
          <p:cNvPr id="35896" name="Text Box 57"/>
          <p:cNvSpPr txBox="1">
            <a:spLocks noChangeArrowheads="1"/>
          </p:cNvSpPr>
          <p:nvPr/>
        </p:nvSpPr>
        <p:spPr bwMode="auto">
          <a:xfrm>
            <a:off x="3563938" y="1700213"/>
            <a:ext cx="381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1800">
                <a:latin typeface="Times New Roman" panose="02020603050405020304" pitchFamily="18" charset="0"/>
              </a:rPr>
              <a:t>特征</a:t>
            </a:r>
            <a:endParaRPr kumimoji="1" lang="zh-CN" altLang="en-US" sz="1800">
              <a:latin typeface="Times New Roman" panose="02020603050405020304" pitchFamily="18" charset="0"/>
            </a:endParaRPr>
          </a:p>
        </p:txBody>
      </p:sp>
      <p:sp>
        <p:nvSpPr>
          <p:cNvPr id="35897" name="Text Box 58"/>
          <p:cNvSpPr txBox="1">
            <a:spLocks noChangeArrowheads="1"/>
          </p:cNvSpPr>
          <p:nvPr/>
        </p:nvSpPr>
        <p:spPr bwMode="auto">
          <a:xfrm>
            <a:off x="3792538" y="3757613"/>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kumimoji="1" lang="zh-CN" altLang="en-US" sz="2400">
              <a:latin typeface="Times New Roman" panose="02020603050405020304" pitchFamily="18" charset="0"/>
            </a:endParaRPr>
          </a:p>
        </p:txBody>
      </p:sp>
      <p:sp>
        <p:nvSpPr>
          <p:cNvPr id="35898" name="Text Box 59"/>
          <p:cNvSpPr txBox="1">
            <a:spLocks noChangeArrowheads="1"/>
          </p:cNvSpPr>
          <p:nvPr/>
        </p:nvSpPr>
        <p:spPr bwMode="auto">
          <a:xfrm>
            <a:off x="6307138" y="1776413"/>
            <a:ext cx="381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1800">
                <a:latin typeface="Times New Roman" panose="02020603050405020304" pitchFamily="18" charset="0"/>
              </a:rPr>
              <a:t>特征</a:t>
            </a:r>
            <a:endParaRPr kumimoji="1" lang="zh-CN" altLang="en-US" sz="1800">
              <a:latin typeface="Times New Roman" panose="02020603050405020304" pitchFamily="18" charset="0"/>
            </a:endParaRPr>
          </a:p>
        </p:txBody>
      </p:sp>
      <p:sp>
        <p:nvSpPr>
          <p:cNvPr id="35899" name="Text Box 60"/>
          <p:cNvSpPr txBox="1">
            <a:spLocks noChangeArrowheads="1"/>
          </p:cNvSpPr>
          <p:nvPr/>
        </p:nvSpPr>
        <p:spPr bwMode="auto">
          <a:xfrm>
            <a:off x="896938" y="3910013"/>
            <a:ext cx="457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1800">
                <a:latin typeface="Times New Roman" panose="02020603050405020304" pitchFamily="18" charset="0"/>
              </a:rPr>
              <a:t>特征</a:t>
            </a:r>
            <a:endParaRPr kumimoji="1" lang="zh-CN" altLang="en-US" sz="1800">
              <a:latin typeface="Times New Roman" panose="02020603050405020304" pitchFamily="18" charset="0"/>
            </a:endParaRPr>
          </a:p>
        </p:txBody>
      </p:sp>
      <p:sp>
        <p:nvSpPr>
          <p:cNvPr id="35900" name="Text Box 61"/>
          <p:cNvSpPr txBox="1">
            <a:spLocks noChangeArrowheads="1"/>
          </p:cNvSpPr>
          <p:nvPr/>
        </p:nvSpPr>
        <p:spPr bwMode="auto">
          <a:xfrm>
            <a:off x="3640138" y="3910013"/>
            <a:ext cx="381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1800">
                <a:latin typeface="Times New Roman" panose="02020603050405020304" pitchFamily="18" charset="0"/>
              </a:rPr>
              <a:t>特征</a:t>
            </a:r>
            <a:endParaRPr kumimoji="1" lang="zh-CN" altLang="en-US" sz="1800">
              <a:latin typeface="Times New Roman" panose="02020603050405020304" pitchFamily="18" charset="0"/>
            </a:endParaRPr>
          </a:p>
        </p:txBody>
      </p:sp>
      <p:sp>
        <p:nvSpPr>
          <p:cNvPr id="35901" name="Text Box 62"/>
          <p:cNvSpPr txBox="1">
            <a:spLocks noChangeArrowheads="1"/>
          </p:cNvSpPr>
          <p:nvPr/>
        </p:nvSpPr>
        <p:spPr bwMode="auto">
          <a:xfrm>
            <a:off x="6307138" y="3910013"/>
            <a:ext cx="381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1800">
                <a:latin typeface="Times New Roman" panose="02020603050405020304" pitchFamily="18" charset="0"/>
              </a:rPr>
              <a:t>特征</a:t>
            </a:r>
            <a:endParaRPr kumimoji="1" lang="zh-CN" altLang="en-US" sz="1800">
              <a:latin typeface="Times New Roman" panose="02020603050405020304" pitchFamily="18" charset="0"/>
            </a:endParaRPr>
          </a:p>
        </p:txBody>
      </p:sp>
      <p:sp>
        <p:nvSpPr>
          <p:cNvPr id="35902" name="Text Box 63"/>
          <p:cNvSpPr txBox="1">
            <a:spLocks noChangeArrowheads="1"/>
          </p:cNvSpPr>
          <p:nvPr/>
        </p:nvSpPr>
        <p:spPr bwMode="auto">
          <a:xfrm>
            <a:off x="2573338" y="3300413"/>
            <a:ext cx="990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1800">
                <a:latin typeface="Times New Roman" panose="02020603050405020304" pitchFamily="18" charset="0"/>
              </a:rPr>
              <a:t>因素</a:t>
            </a:r>
            <a:endParaRPr kumimoji="1" lang="zh-CN" altLang="en-US" sz="1800">
              <a:latin typeface="Times New Roman" panose="02020603050405020304" pitchFamily="18" charset="0"/>
            </a:endParaRPr>
          </a:p>
        </p:txBody>
      </p:sp>
      <p:sp>
        <p:nvSpPr>
          <p:cNvPr id="35903" name="Text Box 64"/>
          <p:cNvSpPr txBox="1">
            <a:spLocks noChangeArrowheads="1"/>
          </p:cNvSpPr>
          <p:nvPr/>
        </p:nvSpPr>
        <p:spPr bwMode="auto">
          <a:xfrm>
            <a:off x="5240338" y="3300413"/>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1800">
                <a:latin typeface="Times New Roman" panose="02020603050405020304" pitchFamily="18" charset="0"/>
              </a:rPr>
              <a:t>因素</a:t>
            </a:r>
            <a:endParaRPr kumimoji="1" lang="zh-CN" altLang="en-US" sz="1800">
              <a:latin typeface="Times New Roman" panose="02020603050405020304" pitchFamily="18" charset="0"/>
            </a:endParaRPr>
          </a:p>
        </p:txBody>
      </p:sp>
      <p:sp>
        <p:nvSpPr>
          <p:cNvPr id="35904" name="Text Box 65"/>
          <p:cNvSpPr txBox="1">
            <a:spLocks noChangeArrowheads="1"/>
          </p:cNvSpPr>
          <p:nvPr/>
        </p:nvSpPr>
        <p:spPr bwMode="auto">
          <a:xfrm>
            <a:off x="6764338" y="3221038"/>
            <a:ext cx="76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1800">
                <a:latin typeface="Times New Roman" panose="02020603050405020304" pitchFamily="18" charset="0"/>
              </a:rPr>
              <a:t>因素</a:t>
            </a:r>
            <a:endParaRPr kumimoji="1" lang="zh-CN" altLang="en-US" sz="1800">
              <a:latin typeface="Times New Roman" panose="02020603050405020304" pitchFamily="18" charset="0"/>
            </a:endParaRPr>
          </a:p>
        </p:txBody>
      </p:sp>
      <p:sp>
        <p:nvSpPr>
          <p:cNvPr id="35905" name="Text Box 66"/>
          <p:cNvSpPr txBox="1">
            <a:spLocks noChangeArrowheads="1"/>
          </p:cNvSpPr>
          <p:nvPr/>
        </p:nvSpPr>
        <p:spPr bwMode="auto">
          <a:xfrm>
            <a:off x="2573338" y="5510213"/>
            <a:ext cx="914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1800">
                <a:latin typeface="Times New Roman" panose="02020603050405020304" pitchFamily="18" charset="0"/>
              </a:rPr>
              <a:t>因素</a:t>
            </a:r>
            <a:endParaRPr kumimoji="1" lang="zh-CN" altLang="en-US" sz="1800">
              <a:latin typeface="Times New Roman" panose="02020603050405020304" pitchFamily="18" charset="0"/>
            </a:endParaRPr>
          </a:p>
        </p:txBody>
      </p:sp>
      <p:sp>
        <p:nvSpPr>
          <p:cNvPr id="35906" name="Text Box 67"/>
          <p:cNvSpPr txBox="1">
            <a:spLocks noChangeArrowheads="1"/>
          </p:cNvSpPr>
          <p:nvPr/>
        </p:nvSpPr>
        <p:spPr bwMode="auto">
          <a:xfrm>
            <a:off x="5316538" y="5510213"/>
            <a:ext cx="76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1800">
                <a:latin typeface="Times New Roman" panose="02020603050405020304" pitchFamily="18" charset="0"/>
              </a:rPr>
              <a:t>因素</a:t>
            </a:r>
            <a:endParaRPr kumimoji="1" lang="zh-CN" altLang="en-US" sz="1800">
              <a:latin typeface="Times New Roman" panose="02020603050405020304" pitchFamily="18" charset="0"/>
            </a:endParaRPr>
          </a:p>
        </p:txBody>
      </p:sp>
      <p:sp>
        <p:nvSpPr>
          <p:cNvPr id="35907" name="Text Box 68"/>
          <p:cNvSpPr txBox="1">
            <a:spLocks noChangeArrowheads="1"/>
          </p:cNvSpPr>
          <p:nvPr/>
        </p:nvSpPr>
        <p:spPr bwMode="auto">
          <a:xfrm>
            <a:off x="6840538" y="5430838"/>
            <a:ext cx="76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1800">
                <a:latin typeface="Times New Roman" panose="02020603050405020304" pitchFamily="18" charset="0"/>
              </a:rPr>
              <a:t>因素</a:t>
            </a:r>
            <a:endParaRPr kumimoji="1" lang="zh-CN" altLang="en-US" sz="1800">
              <a:latin typeface="Times New Roman" panose="02020603050405020304" pitchFamily="18" charset="0"/>
            </a:endParaRPr>
          </a:p>
        </p:txBody>
      </p:sp>
      <p:sp>
        <p:nvSpPr>
          <p:cNvPr id="35908" name="Text Box 69"/>
          <p:cNvSpPr txBox="1">
            <a:spLocks noChangeArrowheads="1"/>
          </p:cNvSpPr>
          <p:nvPr/>
        </p:nvSpPr>
        <p:spPr bwMode="auto">
          <a:xfrm>
            <a:off x="2967038" y="105886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5909" name="Text Box 70"/>
          <p:cNvSpPr txBox="1">
            <a:spLocks noChangeArrowheads="1"/>
          </p:cNvSpPr>
          <p:nvPr/>
        </p:nvSpPr>
        <p:spPr bwMode="auto">
          <a:xfrm>
            <a:off x="3903663" y="441325"/>
            <a:ext cx="20478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4000"/>
              <a:t>Scatters</a:t>
            </a:r>
            <a:endParaRPr lang="en-US" altLang="zh-CN" sz="400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7666317-655C-4288-8643-F19FD99CF37C}" type="slidenum">
              <a:rPr lang="zh-CN" altLang="en-US" sz="1400" smtClean="0"/>
            </a:fld>
            <a:endParaRPr lang="en-US" altLang="zh-CN" sz="1400" smtClean="0"/>
          </a:p>
        </p:txBody>
      </p:sp>
      <p:sp>
        <p:nvSpPr>
          <p:cNvPr id="36867" name="Rectangle 2"/>
          <p:cNvSpPr>
            <a:spLocks noGrp="1" noRot="1" noChangeArrowheads="1"/>
          </p:cNvSpPr>
          <p:nvPr>
            <p:ph type="title"/>
          </p:nvPr>
        </p:nvSpPr>
        <p:spPr/>
        <p:txBody>
          <a:bodyPr/>
          <a:lstStyle/>
          <a:p>
            <a:pPr eaLnBrk="1" hangingPunct="1"/>
            <a:r>
              <a:rPr lang="zh-CN" altLang="en-US" smtClean="0"/>
              <a:t>市场调查与预测结果</a:t>
            </a:r>
            <a:endParaRPr lang="zh-CN" altLang="en-US" smtClean="0"/>
          </a:p>
        </p:txBody>
      </p:sp>
      <p:sp>
        <p:nvSpPr>
          <p:cNvPr id="36868" name="Rectangle 3"/>
          <p:cNvSpPr>
            <a:spLocks noGrp="1" noRot="1" noChangeArrowheads="1"/>
          </p:cNvSpPr>
          <p:nvPr>
            <p:ph type="body" idx="1"/>
          </p:nvPr>
        </p:nvSpPr>
        <p:spPr/>
        <p:txBody>
          <a:bodyPr/>
          <a:lstStyle/>
          <a:p>
            <a:pPr eaLnBrk="1" hangingPunct="1"/>
            <a:r>
              <a:rPr lang="zh-CN" altLang="en-US" smtClean="0"/>
              <a:t>国内外市场需求预测</a:t>
            </a:r>
            <a:endParaRPr lang="zh-CN" altLang="en-US" smtClean="0"/>
          </a:p>
          <a:p>
            <a:pPr eaLnBrk="1" hangingPunct="1"/>
            <a:r>
              <a:rPr lang="zh-CN" altLang="en-US" smtClean="0"/>
              <a:t>国内外现有的和未来的生产能力</a:t>
            </a:r>
            <a:endParaRPr lang="zh-CN" altLang="en-US" smtClean="0"/>
          </a:p>
          <a:p>
            <a:pPr eaLnBrk="1" hangingPunct="1"/>
            <a:r>
              <a:rPr lang="zh-CN" altLang="en-US" smtClean="0"/>
              <a:t>销售价格预测</a:t>
            </a:r>
            <a:endParaRPr lang="zh-CN" altLang="en-US" smtClean="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1053D1D-9216-4643-B521-ECC653E7E1E6}" type="slidenum">
              <a:rPr lang="zh-CN" altLang="en-US" sz="1400" smtClean="0"/>
            </a:fld>
            <a:endParaRPr lang="en-US" altLang="zh-CN" sz="1400" smtClean="0"/>
          </a:p>
        </p:txBody>
      </p:sp>
      <p:sp>
        <p:nvSpPr>
          <p:cNvPr id="37891" name="Rectangle 4"/>
          <p:cNvSpPr>
            <a:spLocks noGrp="1" noChangeArrowheads="1"/>
          </p:cNvSpPr>
          <p:nvPr>
            <p:ph type="title"/>
          </p:nvPr>
        </p:nvSpPr>
        <p:spPr>
          <a:xfrm>
            <a:off x="685800" y="381000"/>
            <a:ext cx="7772400" cy="609600"/>
          </a:xfrm>
        </p:spPr>
        <p:txBody>
          <a:bodyPr lIns="92075" tIns="46038" rIns="92075" bIns="46038" anchor="b"/>
          <a:lstStyle/>
          <a:p>
            <a:pPr eaLnBrk="1" hangingPunct="1"/>
            <a:r>
              <a:rPr lang="zh-CN" altLang="en-US" b="1" smtClean="0"/>
              <a:t>市场壁垒分析</a:t>
            </a:r>
            <a:endParaRPr lang="zh-CN" altLang="en-US" b="1" smtClean="0"/>
          </a:p>
        </p:txBody>
      </p:sp>
      <p:sp>
        <p:nvSpPr>
          <p:cNvPr id="37892" name="Rectangle 5"/>
          <p:cNvSpPr>
            <a:spLocks noGrp="1" noChangeArrowheads="1"/>
          </p:cNvSpPr>
          <p:nvPr>
            <p:ph type="body" idx="1"/>
          </p:nvPr>
        </p:nvSpPr>
        <p:spPr>
          <a:xfrm>
            <a:off x="381000" y="1295400"/>
            <a:ext cx="8382000" cy="5181600"/>
          </a:xfrm>
        </p:spPr>
        <p:txBody>
          <a:bodyPr lIns="92075" tIns="46038" rIns="92075" bIns="46038"/>
          <a:lstStyle/>
          <a:p>
            <a:pPr eaLnBrk="1" hangingPunct="1"/>
            <a:r>
              <a:rPr lang="zh-CN" altLang="en-US" sz="2400" b="1" smtClean="0"/>
              <a:t>技术壁垒：能否获得所需要的专门技术？</a:t>
            </a:r>
            <a:endParaRPr lang="zh-CN" altLang="en-US" sz="2400" b="1" smtClean="0"/>
          </a:p>
          <a:p>
            <a:pPr eaLnBrk="1" hangingPunct="1"/>
            <a:r>
              <a:rPr lang="zh-CN" altLang="en-US" sz="2400" b="1" smtClean="0"/>
              <a:t>规模壁垒：能否达到一定的经济规模？</a:t>
            </a:r>
            <a:endParaRPr lang="zh-CN" altLang="en-US" sz="2400" b="1" smtClean="0"/>
          </a:p>
          <a:p>
            <a:pPr lvl="1" eaLnBrk="1" hangingPunct="1"/>
            <a:r>
              <a:rPr lang="zh-CN" altLang="en-US" sz="2400" smtClean="0"/>
              <a:t>投资能力</a:t>
            </a:r>
            <a:endParaRPr lang="zh-CN" altLang="en-US" sz="2400" smtClean="0"/>
          </a:p>
          <a:p>
            <a:pPr lvl="1" eaLnBrk="1" hangingPunct="1"/>
            <a:r>
              <a:rPr lang="zh-CN" altLang="en-US" sz="2400" smtClean="0"/>
              <a:t>市场有效需求及可能取得的市场份额</a:t>
            </a:r>
            <a:endParaRPr lang="zh-CN" altLang="en-US" sz="2400" smtClean="0"/>
          </a:p>
          <a:p>
            <a:pPr eaLnBrk="1" hangingPunct="1"/>
            <a:r>
              <a:rPr lang="zh-CN" altLang="en-US" sz="2400" b="1" smtClean="0"/>
              <a:t>政策壁垒：政府对市场有哪些管制政策？</a:t>
            </a:r>
            <a:endParaRPr lang="zh-CN" altLang="en-US" sz="2400" b="1" smtClean="0"/>
          </a:p>
          <a:p>
            <a:pPr lvl="1" eaLnBrk="1" hangingPunct="1"/>
            <a:r>
              <a:rPr lang="zh-CN" altLang="en-US" sz="2400" smtClean="0"/>
              <a:t>投资许可</a:t>
            </a:r>
            <a:endParaRPr lang="zh-CN" altLang="en-US" sz="2400" smtClean="0"/>
          </a:p>
          <a:p>
            <a:pPr lvl="1" eaLnBrk="1" hangingPunct="1"/>
            <a:r>
              <a:rPr lang="zh-CN" altLang="en-US" sz="2400" smtClean="0"/>
              <a:t>生产许可</a:t>
            </a:r>
            <a:endParaRPr lang="zh-CN" altLang="en-US" sz="2400" smtClean="0"/>
          </a:p>
          <a:p>
            <a:pPr eaLnBrk="1" hangingPunct="1"/>
            <a:r>
              <a:rPr lang="zh-CN" altLang="en-US" sz="2400" b="1" smtClean="0">
                <a:solidFill>
                  <a:srgbClr val="CC0000"/>
                </a:solidFill>
              </a:rPr>
              <a:t>能否打破既成的市场格局，取得一定的市场份额？</a:t>
            </a:r>
            <a:endParaRPr lang="zh-CN" altLang="en-US" sz="2400" b="1" smtClean="0">
              <a:solidFill>
                <a:srgbClr val="CC0000"/>
              </a:solidFill>
            </a:endParaRPr>
          </a:p>
          <a:p>
            <a:pPr lvl="1" eaLnBrk="1" hangingPunct="1"/>
            <a:r>
              <a:rPr lang="zh-CN" altLang="en-US" sz="2400" smtClean="0"/>
              <a:t>先入企业的技术与品牌优势</a:t>
            </a:r>
            <a:endParaRPr lang="zh-CN" altLang="en-US" sz="2400" smtClean="0"/>
          </a:p>
          <a:p>
            <a:pPr lvl="1" eaLnBrk="1" hangingPunct="1"/>
            <a:r>
              <a:rPr lang="zh-CN" altLang="en-US" sz="2400" smtClean="0"/>
              <a:t>先入企业的排他性联盟</a:t>
            </a:r>
            <a:endParaRPr lang="zh-CN" altLang="en-US" sz="2400" smtClean="0"/>
          </a:p>
          <a:p>
            <a:pPr lvl="1" eaLnBrk="1" hangingPunct="1"/>
            <a:r>
              <a:rPr lang="zh-CN" altLang="en-US" sz="2400" smtClean="0"/>
              <a:t>用户对后进入者的认可</a:t>
            </a:r>
            <a:endParaRPr lang="zh-CN" altLang="en-US" sz="2400" smtClean="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3760B33-2A35-4D96-90E0-B64EAE17931C}" type="slidenum">
              <a:rPr lang="zh-CN" altLang="en-US" sz="1400" smtClean="0"/>
            </a:fld>
            <a:endParaRPr lang="en-US" altLang="zh-CN" sz="1400" smtClean="0"/>
          </a:p>
        </p:txBody>
      </p:sp>
      <p:sp>
        <p:nvSpPr>
          <p:cNvPr id="38915" name="Rectangle 4"/>
          <p:cNvSpPr>
            <a:spLocks noGrp="1" noChangeArrowheads="1"/>
          </p:cNvSpPr>
          <p:nvPr>
            <p:ph type="title"/>
          </p:nvPr>
        </p:nvSpPr>
        <p:spPr>
          <a:xfrm>
            <a:off x="684213" y="0"/>
            <a:ext cx="7772400" cy="1143000"/>
          </a:xfrm>
        </p:spPr>
        <p:txBody>
          <a:bodyPr lIns="92075" tIns="46038" rIns="92075" bIns="46038" anchor="b"/>
          <a:lstStyle/>
          <a:p>
            <a:pPr algn="l" eaLnBrk="1" hangingPunct="1"/>
            <a:r>
              <a:rPr lang="zh-CN" altLang="en-US" smtClean="0"/>
              <a:t>项目规模的确定</a:t>
            </a:r>
            <a:endParaRPr lang="zh-CN" altLang="en-US" smtClean="0"/>
          </a:p>
        </p:txBody>
      </p:sp>
      <p:sp>
        <p:nvSpPr>
          <p:cNvPr id="38916" name="Rectangle 5"/>
          <p:cNvSpPr>
            <a:spLocks noGrp="1" noChangeArrowheads="1"/>
          </p:cNvSpPr>
          <p:nvPr>
            <p:ph type="body" idx="1"/>
          </p:nvPr>
        </p:nvSpPr>
        <p:spPr>
          <a:xfrm>
            <a:off x="468313" y="1196975"/>
            <a:ext cx="7772400" cy="4114800"/>
          </a:xfrm>
        </p:spPr>
        <p:txBody>
          <a:bodyPr lIns="92075" tIns="46038" rIns="92075" bIns="46038"/>
          <a:lstStyle/>
          <a:p>
            <a:pPr marL="609600" indent="-609600" eaLnBrk="1" hangingPunct="1"/>
            <a:r>
              <a:rPr lang="zh-CN" altLang="en-US" b="1" smtClean="0"/>
              <a:t>确定项目规模应考虑的因素</a:t>
            </a:r>
            <a:endParaRPr lang="zh-CN" altLang="en-US" smtClean="0"/>
          </a:p>
          <a:p>
            <a:pPr marL="990600" lvl="1" indent="-533400" eaLnBrk="1" hangingPunct="1"/>
            <a:r>
              <a:rPr lang="zh-CN" altLang="en-US" smtClean="0"/>
              <a:t>市场和需求</a:t>
            </a:r>
            <a:endParaRPr lang="zh-CN" altLang="en-US" smtClean="0"/>
          </a:p>
          <a:p>
            <a:pPr marL="990600" lvl="1" indent="-533400" eaLnBrk="1" hangingPunct="1"/>
            <a:r>
              <a:rPr lang="zh-CN" altLang="en-US" smtClean="0"/>
              <a:t>投资的限制和资源的利用</a:t>
            </a:r>
            <a:endParaRPr lang="zh-CN" altLang="en-US" smtClean="0"/>
          </a:p>
          <a:p>
            <a:pPr marL="990600" lvl="1" indent="-533400" eaLnBrk="1" hangingPunct="1"/>
            <a:r>
              <a:rPr lang="zh-CN" altLang="en-US" smtClean="0"/>
              <a:t>产品的工艺特点和设备能力</a:t>
            </a:r>
            <a:endParaRPr lang="zh-CN" altLang="en-US" smtClean="0"/>
          </a:p>
          <a:p>
            <a:pPr marL="990600" lvl="1" indent="-533400" eaLnBrk="1" hangingPunct="1"/>
            <a:r>
              <a:rPr lang="zh-CN" altLang="en-US" smtClean="0"/>
              <a:t>与专业化、协作化和联合化的联系</a:t>
            </a:r>
            <a:endParaRPr lang="zh-CN" altLang="en-US" smtClean="0"/>
          </a:p>
          <a:p>
            <a:pPr marL="990600" lvl="1" indent="-533400" eaLnBrk="1" hangingPunct="1"/>
            <a:r>
              <a:rPr lang="zh-CN" altLang="en-US" smtClean="0"/>
              <a:t>提高综合经济效果</a:t>
            </a:r>
            <a:endParaRPr lang="zh-CN" altLang="en-US" smtClean="0"/>
          </a:p>
          <a:p>
            <a:pPr marL="609600" indent="-609600" eaLnBrk="1" hangingPunct="1"/>
            <a:r>
              <a:rPr lang="zh-CN" altLang="en-US" b="1" smtClean="0"/>
              <a:t>项目经济规模 </a:t>
            </a:r>
            <a:endParaRPr lang="zh-CN" altLang="en-US" b="1" smtClean="0"/>
          </a:p>
          <a:p>
            <a:pPr marL="609600" indent="-609600" eaLnBrk="1" hangingPunct="1">
              <a:buFont typeface="Wingdings" panose="05000000000000000000" pitchFamily="2" charset="2"/>
              <a:buAutoNum type="circleNumDbPlain"/>
            </a:pPr>
            <a:r>
              <a:rPr lang="zh-CN" altLang="en-US" smtClean="0"/>
              <a:t>以净利润最大时的产量确定最佳规模</a:t>
            </a:r>
            <a:endParaRPr lang="zh-CN" altLang="en-US" smtClean="0"/>
          </a:p>
          <a:p>
            <a:pPr marL="609600" indent="-609600" eaLnBrk="1" hangingPunct="1">
              <a:buFont typeface="Wingdings" panose="05000000000000000000" pitchFamily="2" charset="2"/>
              <a:buAutoNum type="circleNumDbPlain"/>
            </a:pPr>
            <a:r>
              <a:rPr lang="zh-CN" altLang="en-US" smtClean="0"/>
              <a:t>资金不宽裕时确定最小规模</a:t>
            </a:r>
            <a:endParaRPr lang="zh-CN" altLang="en-US" smtClean="0"/>
          </a:p>
          <a:p>
            <a:pPr marL="609600" indent="-609600" eaLnBrk="1" hangingPunct="1"/>
            <a:endParaRPr lang="zh-CN" altLang="en-US" smtClean="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C036DCA-3984-425D-847F-0A2EC509FE5E}" type="slidenum">
              <a:rPr lang="zh-CN" altLang="en-US" sz="1400" smtClean="0"/>
            </a:fld>
            <a:endParaRPr lang="en-US" altLang="zh-CN" sz="1400" smtClean="0"/>
          </a:p>
        </p:txBody>
      </p:sp>
      <p:sp>
        <p:nvSpPr>
          <p:cNvPr id="39939" name="Rectangle 4"/>
          <p:cNvSpPr>
            <a:spLocks noGrp="1" noChangeArrowheads="1"/>
          </p:cNvSpPr>
          <p:nvPr>
            <p:ph type="title"/>
          </p:nvPr>
        </p:nvSpPr>
        <p:spPr>
          <a:xfrm>
            <a:off x="685800" y="381000"/>
            <a:ext cx="7772400" cy="990600"/>
          </a:xfrm>
        </p:spPr>
        <p:txBody>
          <a:bodyPr lIns="92075" tIns="46038" rIns="92075" bIns="46038" anchor="b"/>
          <a:lstStyle/>
          <a:p>
            <a:pPr eaLnBrk="1" hangingPunct="1"/>
            <a:r>
              <a:rPr lang="zh-CN" altLang="en-US" b="1" smtClean="0"/>
              <a:t>投资条件</a:t>
            </a:r>
            <a:endParaRPr lang="zh-CN" altLang="en-US" b="1" smtClean="0"/>
          </a:p>
        </p:txBody>
      </p:sp>
      <p:sp>
        <p:nvSpPr>
          <p:cNvPr id="39940" name="Rectangle 5"/>
          <p:cNvSpPr>
            <a:spLocks noGrp="1" noChangeArrowheads="1"/>
          </p:cNvSpPr>
          <p:nvPr>
            <p:ph type="body" sz="half" idx="1"/>
          </p:nvPr>
        </p:nvSpPr>
        <p:spPr>
          <a:xfrm>
            <a:off x="684213" y="1412875"/>
            <a:ext cx="3733800" cy="4419600"/>
          </a:xfrm>
        </p:spPr>
        <p:txBody>
          <a:bodyPr lIns="92075" tIns="46038" rIns="92075" bIns="46038"/>
          <a:lstStyle/>
          <a:p>
            <a:pPr eaLnBrk="1" hangingPunct="1"/>
            <a:r>
              <a:rPr lang="zh-CN" altLang="en-US" sz="2800" b="1" smtClean="0"/>
              <a:t>自然条件</a:t>
            </a:r>
            <a:endParaRPr lang="zh-CN" altLang="en-US" sz="2800" b="1" smtClean="0"/>
          </a:p>
          <a:p>
            <a:pPr eaLnBrk="1" hangingPunct="1"/>
            <a:r>
              <a:rPr lang="zh-CN" altLang="en-US" sz="2800" b="1" smtClean="0"/>
              <a:t>基础设施条件</a:t>
            </a:r>
            <a:endParaRPr lang="zh-CN" altLang="en-US" sz="2800" b="1" smtClean="0"/>
          </a:p>
          <a:p>
            <a:pPr eaLnBrk="1" hangingPunct="1"/>
            <a:r>
              <a:rPr lang="zh-CN" altLang="en-US" sz="2800" b="1" smtClean="0"/>
              <a:t>原材料及辅助材料供应</a:t>
            </a:r>
            <a:endParaRPr lang="zh-CN" altLang="en-US" sz="2800" b="1" smtClean="0"/>
          </a:p>
          <a:p>
            <a:pPr eaLnBrk="1" hangingPunct="1"/>
            <a:r>
              <a:rPr lang="zh-CN" altLang="en-US" sz="2800" b="1" smtClean="0"/>
              <a:t>燃料动力供应</a:t>
            </a:r>
            <a:endParaRPr lang="zh-CN" altLang="en-US" sz="2800" b="1" smtClean="0"/>
          </a:p>
          <a:p>
            <a:pPr eaLnBrk="1" hangingPunct="1"/>
            <a:r>
              <a:rPr lang="zh-CN" altLang="en-US" sz="2800" b="1" smtClean="0"/>
              <a:t>人力资源条件</a:t>
            </a:r>
            <a:endParaRPr lang="zh-CN" altLang="en-US" sz="2800" b="1" smtClean="0"/>
          </a:p>
          <a:p>
            <a:pPr eaLnBrk="1" hangingPunct="1"/>
            <a:r>
              <a:rPr lang="zh-CN" altLang="en-US" sz="2800" b="1" smtClean="0"/>
              <a:t>技术支持条件</a:t>
            </a:r>
            <a:endParaRPr lang="zh-CN" altLang="en-US" sz="2800" b="1" smtClean="0"/>
          </a:p>
          <a:p>
            <a:pPr eaLnBrk="1" hangingPunct="1"/>
            <a:r>
              <a:rPr lang="zh-CN" altLang="en-US" sz="2800" b="1" smtClean="0"/>
              <a:t>产业协作条件</a:t>
            </a:r>
            <a:endParaRPr lang="zh-CN" altLang="en-US" sz="2800" b="1" smtClean="0"/>
          </a:p>
          <a:p>
            <a:pPr eaLnBrk="1" hangingPunct="1"/>
            <a:r>
              <a:rPr lang="zh-CN" altLang="en-US" sz="2800" b="1" smtClean="0"/>
              <a:t>社会、经济、人文条件</a:t>
            </a:r>
            <a:endParaRPr lang="zh-CN" altLang="en-US" sz="2800" b="1" smtClean="0"/>
          </a:p>
          <a:p>
            <a:pPr eaLnBrk="1" hangingPunct="1"/>
            <a:r>
              <a:rPr lang="zh-CN" altLang="en-US" sz="2800" b="1" smtClean="0"/>
              <a:t>政策环境</a:t>
            </a:r>
            <a:endParaRPr lang="zh-CN" altLang="en-US" sz="2800" b="1" smtClean="0"/>
          </a:p>
          <a:p>
            <a:pPr algn="just" eaLnBrk="1" hangingPunct="1">
              <a:spcBef>
                <a:spcPct val="0"/>
              </a:spcBef>
            </a:pPr>
            <a:endParaRPr lang="zh-CN" altLang="en-US" sz="2400" smtClean="0">
              <a:latin typeface="宋体" panose="02010600030101010101" pitchFamily="2" charset="-122"/>
            </a:endParaRPr>
          </a:p>
        </p:txBody>
      </p:sp>
      <p:sp>
        <p:nvSpPr>
          <p:cNvPr id="39941" name="Rectangle 6"/>
          <p:cNvSpPr>
            <a:spLocks noChangeArrowheads="1"/>
          </p:cNvSpPr>
          <p:nvPr/>
        </p:nvSpPr>
        <p:spPr bwMode="auto">
          <a:xfrm>
            <a:off x="4572000" y="1484313"/>
            <a:ext cx="38100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30000"/>
              </a:spcBef>
            </a:pPr>
            <a:r>
              <a:rPr lang="zh-CN" altLang="en-US" sz="2800" b="1">
                <a:latin typeface="宋体" panose="02010600030101010101" pitchFamily="2" charset="-122"/>
              </a:rPr>
              <a:t>主要原材料、燃料动力费用估算</a:t>
            </a:r>
            <a:endParaRPr lang="zh-CN" altLang="en-US" sz="2800" b="1">
              <a:latin typeface="宋体" panose="02010600030101010101" pitchFamily="2" charset="-122"/>
            </a:endParaRPr>
          </a:p>
          <a:p>
            <a:pPr eaLnBrk="1" hangingPunct="1">
              <a:spcBef>
                <a:spcPct val="30000"/>
              </a:spcBef>
            </a:pPr>
            <a:r>
              <a:rPr lang="zh-CN" altLang="en-US" sz="2800" b="1">
                <a:latin typeface="宋体" panose="02010600030101010101" pitchFamily="2" charset="-122"/>
              </a:rPr>
              <a:t>土地费用</a:t>
            </a:r>
            <a:endParaRPr lang="zh-CN" altLang="en-US" sz="2800" b="1">
              <a:latin typeface="宋体" panose="02010600030101010101" pitchFamily="2" charset="-122"/>
            </a:endParaRPr>
          </a:p>
          <a:p>
            <a:pPr eaLnBrk="1" hangingPunct="1">
              <a:spcBef>
                <a:spcPct val="30000"/>
              </a:spcBef>
            </a:pPr>
            <a:r>
              <a:rPr lang="zh-CN" altLang="en-US" sz="2800" b="1">
                <a:latin typeface="宋体" panose="02010600030101010101" pitchFamily="2" charset="-122"/>
              </a:rPr>
              <a:t>其它应考虑的因素</a:t>
            </a:r>
            <a:endParaRPr lang="zh-CN" altLang="en-US" sz="2800" b="1">
              <a:latin typeface="宋体" panose="02010600030101010101" pitchFamily="2" charset="-122"/>
            </a:endParaRPr>
          </a:p>
          <a:p>
            <a:pPr lvl="1" eaLnBrk="1" hangingPunct="1">
              <a:spcBef>
                <a:spcPct val="30000"/>
              </a:spcBef>
            </a:pPr>
            <a:r>
              <a:rPr lang="zh-CN" altLang="en-US" b="1">
                <a:latin typeface="宋体" panose="02010600030101010101" pitchFamily="2" charset="-122"/>
              </a:rPr>
              <a:t>与政府的关系</a:t>
            </a:r>
            <a:endParaRPr lang="zh-CN" altLang="en-US" b="1">
              <a:latin typeface="宋体" panose="02010600030101010101" pitchFamily="2" charset="-122"/>
            </a:endParaRPr>
          </a:p>
          <a:p>
            <a:pPr lvl="1" eaLnBrk="1" hangingPunct="1">
              <a:spcBef>
                <a:spcPct val="30000"/>
              </a:spcBef>
            </a:pPr>
            <a:r>
              <a:rPr lang="zh-CN" altLang="en-US" b="1">
                <a:latin typeface="宋体" panose="02010600030101010101" pitchFamily="2" charset="-122"/>
              </a:rPr>
              <a:t>经济体制与市场机制</a:t>
            </a:r>
            <a:endParaRPr lang="zh-CN" altLang="en-US" b="1">
              <a:latin typeface="宋体" panose="02010600030101010101" pitchFamily="2" charset="-122"/>
            </a:endParaRPr>
          </a:p>
          <a:p>
            <a:pPr lvl="1" eaLnBrk="1" hangingPunct="1">
              <a:spcBef>
                <a:spcPct val="30000"/>
              </a:spcBef>
            </a:pPr>
            <a:r>
              <a:rPr lang="zh-CN" altLang="en-US" b="1">
                <a:latin typeface="宋体" panose="02010600030101010101" pitchFamily="2" charset="-122"/>
              </a:rPr>
              <a:t>目标市场</a:t>
            </a:r>
            <a:endParaRPr lang="zh-CN" altLang="en-US" b="1">
              <a:latin typeface="宋体" panose="02010600030101010101" pitchFamily="2" charset="-122"/>
            </a:endParaRPr>
          </a:p>
          <a:p>
            <a:pPr lvl="1" eaLnBrk="1" hangingPunct="1">
              <a:spcBef>
                <a:spcPct val="30000"/>
              </a:spcBef>
            </a:pPr>
            <a:r>
              <a:rPr lang="zh-CN" altLang="en-US" b="1">
                <a:latin typeface="宋体" panose="02010600030101010101" pitchFamily="2" charset="-122"/>
              </a:rPr>
              <a:t>战略布局</a:t>
            </a:r>
            <a:endParaRPr lang="zh-CN" altLang="en-US" b="1">
              <a:latin typeface="宋体" panose="02010600030101010101" pitchFamily="2" charset="-122"/>
            </a:endParaRPr>
          </a:p>
          <a:p>
            <a:pPr eaLnBrk="1" hangingPunct="1">
              <a:spcBef>
                <a:spcPct val="30000"/>
              </a:spcBef>
            </a:pPr>
            <a:r>
              <a:rPr lang="zh-CN" altLang="en-US" sz="2800" b="1">
                <a:latin typeface="宋体" panose="02010600030101010101" pitchFamily="2" charset="-122"/>
              </a:rPr>
              <a:t>各备选方案比较</a:t>
            </a:r>
            <a:endParaRPr lang="zh-CN" altLang="en-US" sz="280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996523F-2BC5-4660-BAA5-171A462A7611}" type="slidenum">
              <a:rPr lang="zh-CN" altLang="en-US" sz="1400" smtClean="0"/>
            </a:fld>
            <a:endParaRPr lang="en-US" altLang="zh-CN" sz="1400" smtClean="0"/>
          </a:p>
        </p:txBody>
      </p:sp>
      <p:sp>
        <p:nvSpPr>
          <p:cNvPr id="40963" name="Rectangle 4"/>
          <p:cNvSpPr>
            <a:spLocks noGrp="1" noChangeArrowheads="1"/>
          </p:cNvSpPr>
          <p:nvPr>
            <p:ph type="title"/>
          </p:nvPr>
        </p:nvSpPr>
        <p:spPr>
          <a:xfrm>
            <a:off x="685800" y="381000"/>
            <a:ext cx="7772400" cy="1143000"/>
          </a:xfrm>
        </p:spPr>
        <p:txBody>
          <a:bodyPr lIns="92075" tIns="46038" rIns="92075" bIns="46038" anchor="b"/>
          <a:lstStyle/>
          <a:p>
            <a:pPr algn="l" eaLnBrk="1" hangingPunct="1"/>
            <a:r>
              <a:rPr lang="zh-CN" altLang="en-US" smtClean="0"/>
              <a:t>项目地址的选择</a:t>
            </a:r>
            <a:endParaRPr lang="zh-CN" altLang="en-US" smtClean="0"/>
          </a:p>
        </p:txBody>
      </p:sp>
      <p:sp>
        <p:nvSpPr>
          <p:cNvPr id="40964" name="Rectangle 5"/>
          <p:cNvSpPr>
            <a:spLocks noGrp="1" noChangeArrowheads="1"/>
          </p:cNvSpPr>
          <p:nvPr>
            <p:ph type="body" idx="1"/>
          </p:nvPr>
        </p:nvSpPr>
        <p:spPr>
          <a:xfrm>
            <a:off x="468313" y="1628775"/>
            <a:ext cx="7772400" cy="4114800"/>
          </a:xfrm>
        </p:spPr>
        <p:txBody>
          <a:bodyPr lIns="92075" tIns="46038" rIns="92075" bIns="46038"/>
          <a:lstStyle/>
          <a:p>
            <a:pPr eaLnBrk="1" hangingPunct="1">
              <a:buFont typeface="Wingdings" panose="05000000000000000000" pitchFamily="2" charset="2"/>
              <a:buNone/>
            </a:pPr>
            <a:r>
              <a:rPr lang="zh-CN" altLang="en-US" smtClean="0"/>
              <a:t>   </a:t>
            </a:r>
            <a:r>
              <a:rPr lang="zh-CN" altLang="en-US" b="1" smtClean="0"/>
              <a:t>资源条件</a:t>
            </a:r>
            <a:r>
              <a:rPr lang="en-US" altLang="zh-CN" smtClean="0"/>
              <a:t>:</a:t>
            </a:r>
            <a:r>
              <a:rPr lang="zh-CN" altLang="en-US" smtClean="0"/>
              <a:t>原材料产地型</a:t>
            </a:r>
            <a:br>
              <a:rPr lang="zh-CN" altLang="en-US" smtClean="0"/>
            </a:br>
            <a:r>
              <a:rPr lang="zh-CN" altLang="en-US" b="1" smtClean="0"/>
              <a:t>能源条件</a:t>
            </a:r>
            <a:r>
              <a:rPr lang="en-US" altLang="zh-CN" smtClean="0"/>
              <a:t>: </a:t>
            </a:r>
            <a:r>
              <a:rPr lang="zh-CN" altLang="en-US" smtClean="0"/>
              <a:t>能源基地型</a:t>
            </a:r>
            <a:br>
              <a:rPr lang="zh-CN" altLang="en-US" smtClean="0"/>
            </a:br>
            <a:r>
              <a:rPr lang="zh-CN" altLang="en-US" b="1" smtClean="0"/>
              <a:t>消费能力</a:t>
            </a:r>
            <a:r>
              <a:rPr lang="en-US" altLang="zh-CN" smtClean="0"/>
              <a:t>: </a:t>
            </a:r>
            <a:r>
              <a:rPr lang="zh-CN" altLang="en-US" smtClean="0"/>
              <a:t>消费市场型</a:t>
            </a:r>
            <a:br>
              <a:rPr lang="zh-CN" altLang="en-US" smtClean="0"/>
            </a:br>
            <a:r>
              <a:rPr lang="zh-CN" altLang="en-US" b="1" smtClean="0"/>
              <a:t>劳动力来源</a:t>
            </a:r>
            <a:r>
              <a:rPr lang="en-US" altLang="zh-CN" smtClean="0"/>
              <a:t>: </a:t>
            </a:r>
            <a:r>
              <a:rPr lang="zh-CN" altLang="en-US" smtClean="0"/>
              <a:t>劳动力聚集区型</a:t>
            </a:r>
            <a:br>
              <a:rPr lang="zh-CN" altLang="en-US" smtClean="0"/>
            </a:br>
            <a:r>
              <a:rPr lang="zh-CN" altLang="en-US" b="1" smtClean="0"/>
              <a:t>技术协作</a:t>
            </a:r>
            <a:r>
              <a:rPr lang="en-US" altLang="zh-CN" smtClean="0"/>
              <a:t>: </a:t>
            </a:r>
            <a:r>
              <a:rPr lang="zh-CN" altLang="en-US" smtClean="0"/>
              <a:t>技术中心型</a:t>
            </a:r>
            <a:endParaRPr lang="zh-CN" altLang="en-US" smtClean="0"/>
          </a:p>
          <a:p>
            <a:pPr eaLnBrk="1" hangingPunct="1">
              <a:buFont typeface="Wingdings" panose="05000000000000000000" pitchFamily="2" charset="2"/>
              <a:buNone/>
            </a:pPr>
            <a:r>
              <a:rPr lang="zh-CN" altLang="en-US" smtClean="0"/>
              <a:t>   </a:t>
            </a:r>
            <a:r>
              <a:rPr lang="zh-CN" altLang="en-US" b="1" smtClean="0"/>
              <a:t>运输条件</a:t>
            </a:r>
            <a:r>
              <a:rPr lang="en-US" altLang="zh-CN" smtClean="0"/>
              <a:t>: </a:t>
            </a:r>
            <a:r>
              <a:rPr lang="zh-CN" altLang="en-US" smtClean="0"/>
              <a:t>集散中心型</a:t>
            </a:r>
            <a:endParaRPr lang="zh-CN" altLang="en-US" smtClean="0"/>
          </a:p>
          <a:p>
            <a:pPr eaLnBrk="1" hangingPunct="1">
              <a:buFont typeface="Wingdings" panose="05000000000000000000" pitchFamily="2" charset="2"/>
              <a:buNone/>
            </a:pPr>
            <a:r>
              <a:rPr lang="zh-CN" altLang="en-US" smtClean="0"/>
              <a:t>   </a:t>
            </a:r>
            <a:r>
              <a:rPr lang="zh-CN" altLang="en-US" b="1" smtClean="0"/>
              <a:t>水源条件</a:t>
            </a:r>
            <a:r>
              <a:rPr lang="en-US" altLang="zh-CN" b="1" smtClean="0"/>
              <a:t>: </a:t>
            </a:r>
            <a:r>
              <a:rPr lang="zh-CN" altLang="en-US" smtClean="0"/>
              <a:t>质</a:t>
            </a:r>
            <a:r>
              <a:rPr lang="en-US" altLang="zh-CN" smtClean="0"/>
              <a:t>,</a:t>
            </a:r>
            <a:r>
              <a:rPr lang="zh-CN" altLang="en-US" smtClean="0"/>
              <a:t>量满足要求</a:t>
            </a:r>
            <a:endParaRPr lang="en-US" altLang="zh-CN" smtClean="0"/>
          </a:p>
          <a:p>
            <a:pPr eaLnBrk="1" hangingPunct="1">
              <a:buFont typeface="Wingdings" panose="05000000000000000000" pitchFamily="2" charset="2"/>
              <a:buNone/>
            </a:pPr>
            <a:r>
              <a:rPr lang="zh-CN" altLang="en-US" smtClean="0"/>
              <a:t>   </a:t>
            </a:r>
            <a:r>
              <a:rPr lang="zh-CN" altLang="en-US" b="1" smtClean="0"/>
              <a:t>社会环境</a:t>
            </a:r>
            <a:r>
              <a:rPr lang="en-US" altLang="zh-CN" b="1" smtClean="0"/>
              <a:t>: </a:t>
            </a:r>
            <a:r>
              <a:rPr lang="zh-CN" altLang="en-US" smtClean="0"/>
              <a:t>防止污染</a:t>
            </a:r>
            <a:r>
              <a:rPr lang="en-US" altLang="zh-CN" smtClean="0"/>
              <a:t>,</a:t>
            </a:r>
            <a:r>
              <a:rPr lang="zh-CN" altLang="en-US" smtClean="0"/>
              <a:t>促进发展</a:t>
            </a:r>
            <a:endParaRPr lang="zh-CN" altLang="en-US" smtClean="0"/>
          </a:p>
          <a:p>
            <a:pPr eaLnBrk="1" hangingPunct="1">
              <a:buFont typeface="Wingdings" panose="05000000000000000000" pitchFamily="2" charset="2"/>
              <a:buNone/>
            </a:pPr>
            <a:endParaRPr lang="zh-CN" altLang="en-US" smtClean="0"/>
          </a:p>
          <a:p>
            <a:pPr eaLnBrk="1" hangingPunct="1"/>
            <a:endParaRPr lang="zh-CN" altLang="en-US" smtClean="0"/>
          </a:p>
          <a:p>
            <a:pPr eaLnBrk="1" hangingPunct="1"/>
            <a:endParaRPr lang="zh-CN" altLang="en-US" smtClean="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3BEECCF-DAE4-4424-8A32-30CD15435E4A}" type="slidenum">
              <a:rPr lang="zh-CN" altLang="en-US" sz="1400" smtClean="0"/>
            </a:fld>
            <a:endParaRPr lang="en-US" altLang="zh-CN" sz="1400" smtClean="0"/>
          </a:p>
        </p:txBody>
      </p:sp>
      <p:pic>
        <p:nvPicPr>
          <p:cNvPr id="41987" name="Picture 4" descr="地理位置"/>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76400" y="2362200"/>
            <a:ext cx="68580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5557" name="Rectangle 5"/>
          <p:cNvSpPr>
            <a:spLocks noGrp="1" noChangeArrowheads="1"/>
          </p:cNvSpPr>
          <p:nvPr>
            <p:ph type="title"/>
          </p:nvPr>
        </p:nvSpPr>
        <p:spPr>
          <a:xfrm>
            <a:off x="1219200" y="304800"/>
            <a:ext cx="7162800" cy="533400"/>
          </a:xfrm>
        </p:spPr>
        <p:txBody>
          <a:bodyPr/>
          <a:lstStyle/>
          <a:p>
            <a:pPr eaLnBrk="1" hangingPunct="1"/>
            <a:r>
              <a:rPr lang="zh-CN" altLang="en-US" sz="3200" b="1" smtClean="0"/>
              <a:t>北京尚枫国际酒店需求分析</a:t>
            </a:r>
            <a:endParaRPr lang="zh-CN" altLang="en-US" sz="3200" b="1" smtClean="0"/>
          </a:p>
        </p:txBody>
      </p:sp>
      <p:sp>
        <p:nvSpPr>
          <p:cNvPr id="535558" name="Rectangle 6"/>
          <p:cNvSpPr>
            <a:spLocks noGrp="1" noChangeArrowheads="1"/>
          </p:cNvSpPr>
          <p:nvPr>
            <p:ph type="body" sz="half" idx="1"/>
          </p:nvPr>
        </p:nvSpPr>
        <p:spPr>
          <a:xfrm>
            <a:off x="1219200" y="838200"/>
            <a:ext cx="7620000" cy="1600200"/>
          </a:xfrm>
        </p:spPr>
        <p:txBody>
          <a:bodyPr/>
          <a:lstStyle/>
          <a:p>
            <a:pPr marL="457200" indent="-457200" eaLnBrk="1" hangingPunct="1"/>
            <a:r>
              <a:rPr lang="zh-CN" altLang="en-US" sz="2800" b="1" smtClean="0">
                <a:solidFill>
                  <a:srgbClr val="CC0000"/>
                </a:solidFill>
              </a:rPr>
              <a:t>项目地块概况</a:t>
            </a:r>
            <a:endParaRPr lang="zh-CN" altLang="en-US" sz="2800" b="1" smtClean="0">
              <a:solidFill>
                <a:srgbClr val="CC0000"/>
              </a:solidFill>
            </a:endParaRPr>
          </a:p>
          <a:p>
            <a:pPr marL="838200" lvl="1" indent="-381000" eaLnBrk="1" hangingPunct="1"/>
            <a:r>
              <a:rPr lang="zh-CN" altLang="en-US" sz="2400" b="1" smtClean="0"/>
              <a:t>本地块位于朝阳区与海淀区的交汇地带。东临北京奥运村，西距中关村科技园核心区约</a:t>
            </a:r>
            <a:r>
              <a:rPr lang="en-US" altLang="zh-CN" sz="2400" b="1" smtClean="0"/>
              <a:t>3</a:t>
            </a:r>
            <a:r>
              <a:rPr lang="zh-CN" altLang="en-US" sz="2400" b="1" smtClean="0"/>
              <a:t>公里，距颐和园、圆明园约</a:t>
            </a:r>
            <a:r>
              <a:rPr lang="en-US" altLang="zh-CN" sz="2400" b="1" smtClean="0"/>
              <a:t>5</a:t>
            </a:r>
            <a:r>
              <a:rPr lang="zh-CN" altLang="en-US" sz="2400" b="1" smtClean="0"/>
              <a:t>公里。</a:t>
            </a:r>
            <a:endParaRPr lang="zh-CN" altLang="en-US" sz="2400" b="1" smtClean="0"/>
          </a:p>
          <a:p>
            <a:pPr marL="838200" lvl="1" indent="-381000" eaLnBrk="1" hangingPunct="1"/>
            <a:r>
              <a:rPr lang="zh-CN" altLang="en-US" sz="2400" b="1" smtClean="0"/>
              <a:t>项目地块处于北四环中路，西有八达岭高速，东有北中轴路，交通便捷。</a:t>
            </a:r>
            <a:endParaRPr lang="zh-CN" altLang="en-US" sz="2400" b="1"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35557"/>
                                        </p:tgtEl>
                                        <p:attrNameLst>
                                          <p:attrName>style.visibility</p:attrName>
                                        </p:attrNameLst>
                                      </p:cBhvr>
                                      <p:to>
                                        <p:strVal val="visible"/>
                                      </p:to>
                                    </p:set>
                                    <p:animEffect transition="in" filter="fade">
                                      <p:cBhvr>
                                        <p:cTn id="7" dur="2000"/>
                                        <p:tgtEl>
                                          <p:spTgt spid="53555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35558"/>
                                        </p:tgtEl>
                                        <p:attrNameLst>
                                          <p:attrName>style.visibility</p:attrName>
                                        </p:attrNameLst>
                                      </p:cBhvr>
                                      <p:to>
                                        <p:strVal val="visible"/>
                                      </p:to>
                                    </p:set>
                                    <p:animEffect transition="in" filter="fade">
                                      <p:cBhvr>
                                        <p:cTn id="10" dur="2000"/>
                                        <p:tgtEl>
                                          <p:spTgt spid="5355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557" grpId="0"/>
      <p:bldP spid="53555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6B9C8F4-017D-4084-BA60-203BAD17DD72}" type="slidenum">
              <a:rPr lang="zh-CN" altLang="en-US" sz="1400" smtClean="0"/>
            </a:fld>
            <a:endParaRPr lang="en-US" altLang="zh-CN" sz="1400" smtClean="0"/>
          </a:p>
        </p:txBody>
      </p:sp>
      <p:sp>
        <p:nvSpPr>
          <p:cNvPr id="43011" name="Rectangle 2"/>
          <p:cNvSpPr>
            <a:spLocks noGrp="1" noRot="1" noChangeArrowheads="1"/>
          </p:cNvSpPr>
          <p:nvPr>
            <p:ph type="title"/>
          </p:nvPr>
        </p:nvSpPr>
        <p:spPr/>
        <p:txBody>
          <a:bodyPr/>
          <a:lstStyle/>
          <a:p>
            <a:pPr eaLnBrk="1" hangingPunct="1"/>
            <a:r>
              <a:rPr lang="zh-CN" altLang="en-US" sz="4000" b="1" smtClean="0"/>
              <a:t>项目地块的规划指标</a:t>
            </a:r>
            <a:endParaRPr lang="zh-CN" altLang="en-US" sz="4000" b="1" smtClean="0"/>
          </a:p>
        </p:txBody>
      </p:sp>
      <p:sp>
        <p:nvSpPr>
          <p:cNvPr id="43012" name="Rectangle 3"/>
          <p:cNvSpPr>
            <a:spLocks noGrp="1" noRot="1" noChangeArrowheads="1"/>
          </p:cNvSpPr>
          <p:nvPr>
            <p:ph type="body" idx="1"/>
          </p:nvPr>
        </p:nvSpPr>
        <p:spPr/>
        <p:txBody>
          <a:bodyPr/>
          <a:lstStyle/>
          <a:p>
            <a:pPr lvl="1" eaLnBrk="1" hangingPunct="1"/>
            <a:r>
              <a:rPr lang="zh-CN" altLang="en-US" sz="2400" b="1" smtClean="0"/>
              <a:t>土地性质：商业用地。</a:t>
            </a:r>
            <a:endParaRPr lang="zh-CN" altLang="en-US" sz="2400" b="1" smtClean="0"/>
          </a:p>
          <a:p>
            <a:pPr lvl="1" eaLnBrk="1" hangingPunct="1"/>
            <a:r>
              <a:rPr lang="zh-CN" altLang="en-US" sz="2400" b="1" smtClean="0"/>
              <a:t>规划土地面积：</a:t>
            </a:r>
            <a:r>
              <a:rPr lang="en-US" altLang="zh-CN" sz="2400" b="1" smtClean="0"/>
              <a:t>~8000㎡</a:t>
            </a:r>
            <a:endParaRPr lang="en-US" altLang="zh-CN" sz="2400" b="1" smtClean="0"/>
          </a:p>
          <a:p>
            <a:pPr lvl="1" eaLnBrk="1" hangingPunct="1"/>
            <a:r>
              <a:rPr lang="zh-CN" altLang="en-US" sz="2400" b="1" smtClean="0"/>
              <a:t>规划总建筑面积：</a:t>
            </a:r>
            <a:r>
              <a:rPr lang="en-US" altLang="zh-CN" sz="2400" b="1" smtClean="0"/>
              <a:t>25000㎡</a:t>
            </a:r>
            <a:r>
              <a:rPr lang="zh-CN" altLang="en-US" sz="2400" b="1" smtClean="0"/>
              <a:t>（方案</a:t>
            </a:r>
            <a:r>
              <a:rPr lang="en-US" altLang="zh-CN" sz="2400" b="1" smtClean="0"/>
              <a:t>1</a:t>
            </a:r>
            <a:r>
              <a:rPr lang="zh-CN" altLang="en-US" sz="2400" b="1" smtClean="0"/>
              <a:t>，含约</a:t>
            </a:r>
            <a:r>
              <a:rPr lang="en-US" altLang="zh-CN" sz="2400" b="1" smtClean="0"/>
              <a:t>5000㎡</a:t>
            </a:r>
            <a:r>
              <a:rPr lang="zh-CN" altLang="en-US" sz="2400" b="1" smtClean="0"/>
              <a:t>地下）</a:t>
            </a:r>
            <a:endParaRPr lang="zh-CN" altLang="en-US" sz="2400" b="1" smtClean="0"/>
          </a:p>
          <a:p>
            <a:pPr lvl="1" eaLnBrk="1" hangingPunct="1">
              <a:buFont typeface="Wingdings" panose="05000000000000000000" pitchFamily="2" charset="2"/>
              <a:buNone/>
            </a:pPr>
            <a:r>
              <a:rPr lang="en-US" altLang="zh-CN" sz="2400" b="1" smtClean="0"/>
              <a:t>			            31000㎡(</a:t>
            </a:r>
            <a:r>
              <a:rPr lang="zh-CN" altLang="en-US" sz="2400" b="1" smtClean="0"/>
              <a:t>方案</a:t>
            </a:r>
            <a:r>
              <a:rPr lang="en-US" altLang="zh-CN" sz="2400" b="1" smtClean="0"/>
              <a:t>2</a:t>
            </a:r>
            <a:r>
              <a:rPr lang="zh-CN" altLang="en-US" sz="2400" b="1" smtClean="0"/>
              <a:t>，含约</a:t>
            </a:r>
            <a:r>
              <a:rPr lang="en-US" altLang="zh-CN" sz="2400" b="1" smtClean="0"/>
              <a:t>5000㎡</a:t>
            </a:r>
            <a:r>
              <a:rPr lang="zh-CN" altLang="en-US" sz="2400" b="1" smtClean="0"/>
              <a:t>地下</a:t>
            </a:r>
            <a:r>
              <a:rPr lang="en-US" altLang="zh-CN" sz="2400" b="1" smtClean="0"/>
              <a:t>)</a:t>
            </a:r>
            <a:endParaRPr lang="en-US" altLang="zh-CN" sz="2400" b="1" smtClean="0"/>
          </a:p>
          <a:p>
            <a:pPr lvl="1" eaLnBrk="1" hangingPunct="1"/>
            <a:r>
              <a:rPr lang="zh-CN" altLang="en-US" sz="2400" b="1" smtClean="0"/>
              <a:t>建筑密度：</a:t>
            </a:r>
            <a:r>
              <a:rPr lang="en-US" altLang="zh-CN" sz="2400" b="1" smtClean="0"/>
              <a:t>0.38</a:t>
            </a:r>
            <a:r>
              <a:rPr lang="zh-CN" altLang="en-US" sz="2400" b="1" smtClean="0"/>
              <a:t>（方案</a:t>
            </a:r>
            <a:r>
              <a:rPr lang="en-US" altLang="zh-CN" sz="2400" b="1" smtClean="0"/>
              <a:t>1</a:t>
            </a:r>
            <a:r>
              <a:rPr lang="zh-CN" altLang="en-US" sz="2400" b="1" smtClean="0"/>
              <a:t>）</a:t>
            </a:r>
            <a:endParaRPr lang="zh-CN" altLang="en-US" sz="2400" b="1" smtClean="0"/>
          </a:p>
          <a:p>
            <a:pPr lvl="1" eaLnBrk="1" hangingPunct="1">
              <a:buFont typeface="Wingdings" panose="05000000000000000000" pitchFamily="2" charset="2"/>
              <a:buNone/>
            </a:pPr>
            <a:r>
              <a:rPr lang="en-US" altLang="zh-CN" sz="2400" b="1" smtClean="0"/>
              <a:t>		               0.45</a:t>
            </a:r>
            <a:r>
              <a:rPr lang="zh-CN" altLang="en-US" sz="2400" b="1" smtClean="0"/>
              <a:t>（方案</a:t>
            </a:r>
            <a:r>
              <a:rPr lang="en-US" altLang="zh-CN" sz="2400" b="1" smtClean="0"/>
              <a:t>2</a:t>
            </a:r>
            <a:r>
              <a:rPr lang="zh-CN" altLang="en-US" sz="2400" b="1" smtClean="0"/>
              <a:t>）</a:t>
            </a:r>
            <a:endParaRPr lang="zh-CN" altLang="en-US" sz="2400" b="1" smtClean="0"/>
          </a:p>
          <a:p>
            <a:pPr lvl="1" eaLnBrk="1" hangingPunct="1"/>
            <a:r>
              <a:rPr lang="zh-CN" altLang="en-US" sz="2400" b="1" smtClean="0"/>
              <a:t>容积率：</a:t>
            </a:r>
            <a:r>
              <a:rPr lang="en-US" altLang="zh-CN" sz="2400" b="1" smtClean="0"/>
              <a:t>2.5</a:t>
            </a:r>
            <a:r>
              <a:rPr lang="zh-CN" altLang="en-US" sz="2400" b="1" smtClean="0"/>
              <a:t>（方案</a:t>
            </a:r>
            <a:r>
              <a:rPr lang="en-US" altLang="zh-CN" sz="2400" b="1" smtClean="0"/>
              <a:t>1</a:t>
            </a:r>
            <a:r>
              <a:rPr lang="zh-CN" altLang="en-US" sz="2400" b="1" smtClean="0"/>
              <a:t>）</a:t>
            </a:r>
            <a:endParaRPr lang="zh-CN" altLang="en-US" sz="2400" b="1" smtClean="0"/>
          </a:p>
          <a:p>
            <a:pPr lvl="1" eaLnBrk="1" hangingPunct="1">
              <a:buFont typeface="Wingdings" panose="05000000000000000000" pitchFamily="2" charset="2"/>
              <a:buNone/>
            </a:pPr>
            <a:r>
              <a:rPr lang="en-US" altLang="zh-CN" sz="2400" b="1" smtClean="0"/>
              <a:t>		            3.25</a:t>
            </a:r>
            <a:r>
              <a:rPr lang="zh-CN" altLang="en-US" sz="2400" b="1" smtClean="0"/>
              <a:t>（方案</a:t>
            </a:r>
            <a:r>
              <a:rPr lang="en-US" altLang="zh-CN" sz="2400" b="1" smtClean="0"/>
              <a:t>2</a:t>
            </a:r>
            <a:r>
              <a:rPr lang="zh-CN" altLang="en-US" sz="2400" b="1" smtClean="0"/>
              <a:t>）</a:t>
            </a:r>
            <a:endParaRPr lang="zh-CN" altLang="en-US" sz="2400" b="1" smtClean="0"/>
          </a:p>
          <a:p>
            <a:pPr eaLnBrk="1" hangingPunct="1"/>
            <a:endParaRPr lang="zh-CN" altLang="en-US" sz="280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24ECA91-86C8-43C7-AA40-F6BD4881DD9A}" type="slidenum">
              <a:rPr lang="zh-CN" altLang="en-US" sz="1400" smtClean="0"/>
            </a:fld>
            <a:endParaRPr lang="en-US" altLang="zh-CN" sz="1400" smtClean="0"/>
          </a:p>
        </p:txBody>
      </p:sp>
      <p:sp>
        <p:nvSpPr>
          <p:cNvPr id="44035" name="Rectangle 4"/>
          <p:cNvSpPr>
            <a:spLocks noGrp="1" noChangeArrowheads="1"/>
          </p:cNvSpPr>
          <p:nvPr>
            <p:ph type="title"/>
          </p:nvPr>
        </p:nvSpPr>
        <p:spPr>
          <a:xfrm>
            <a:off x="1524000" y="304800"/>
            <a:ext cx="6858000" cy="457200"/>
          </a:xfrm>
        </p:spPr>
        <p:txBody>
          <a:bodyPr/>
          <a:lstStyle/>
          <a:p>
            <a:pPr marL="685800" indent="-685800" eaLnBrk="1" hangingPunct="1">
              <a:buSzPct val="95000"/>
            </a:pPr>
            <a:r>
              <a:rPr lang="zh-CN" altLang="en-US" b="1" smtClean="0"/>
              <a:t>地块资源分析</a:t>
            </a:r>
            <a:endParaRPr lang="zh-CN" altLang="en-US" b="1" smtClean="0"/>
          </a:p>
        </p:txBody>
      </p:sp>
      <p:sp>
        <p:nvSpPr>
          <p:cNvPr id="44036" name="Rectangle 5"/>
          <p:cNvSpPr>
            <a:spLocks noGrp="1" noChangeArrowheads="1"/>
          </p:cNvSpPr>
          <p:nvPr>
            <p:ph type="body" idx="1"/>
          </p:nvPr>
        </p:nvSpPr>
        <p:spPr>
          <a:xfrm>
            <a:off x="1219200" y="838200"/>
            <a:ext cx="7620000" cy="5715000"/>
          </a:xfrm>
        </p:spPr>
        <p:txBody>
          <a:bodyPr/>
          <a:lstStyle/>
          <a:p>
            <a:pPr eaLnBrk="1" hangingPunct="1">
              <a:buFont typeface="Wingdings" panose="05000000000000000000" pitchFamily="2" charset="2"/>
              <a:buNone/>
            </a:pPr>
            <a:r>
              <a:rPr lang="zh-CN" altLang="en-US" smtClean="0"/>
              <a:t>	</a:t>
            </a:r>
            <a:r>
              <a:rPr lang="en-US" altLang="zh-CN" smtClean="0"/>
              <a:t>a.</a:t>
            </a:r>
            <a:r>
              <a:rPr lang="zh-CN" altLang="en-US" smtClean="0"/>
              <a:t>旅游资源（奥运旅游＋历史人文旅游）</a:t>
            </a:r>
            <a:endParaRPr lang="zh-CN" altLang="en-US" smtClean="0"/>
          </a:p>
        </p:txBody>
      </p:sp>
      <p:pic>
        <p:nvPicPr>
          <p:cNvPr id="44037" name="Picture 6" descr="旅游资源"/>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00200" y="1385888"/>
            <a:ext cx="7221538" cy="509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38F6BF7-8DD1-400F-92D1-003E564A9204}" type="slidenum">
              <a:rPr lang="zh-CN" altLang="en-US" sz="1400" smtClean="0"/>
            </a:fld>
            <a:endParaRPr lang="en-US" altLang="zh-CN" sz="1400" smtClean="0"/>
          </a:p>
        </p:txBody>
      </p:sp>
      <p:sp>
        <p:nvSpPr>
          <p:cNvPr id="45059" name="Rectangle 4"/>
          <p:cNvSpPr>
            <a:spLocks noChangeArrowheads="1"/>
          </p:cNvSpPr>
          <p:nvPr/>
        </p:nvSpPr>
        <p:spPr bwMode="auto">
          <a:xfrm>
            <a:off x="1447800" y="4724400"/>
            <a:ext cx="74676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buClr>
                <a:srgbClr val="FF3300"/>
              </a:buClr>
              <a:buFont typeface="Wingdings" panose="05000000000000000000" pitchFamily="2" charset="2"/>
              <a:buChar char="Ø"/>
            </a:pPr>
            <a:r>
              <a:rPr lang="en-US" altLang="zh-CN" sz="2000">
                <a:solidFill>
                  <a:srgbClr val="FF3300"/>
                </a:solidFill>
              </a:rPr>
              <a:t>2008</a:t>
            </a:r>
            <a:r>
              <a:rPr lang="zh-CN" altLang="en-US" sz="2000">
                <a:solidFill>
                  <a:srgbClr val="FF3300"/>
                </a:solidFill>
              </a:rPr>
              <a:t>年奥运会将是迄今为止奥运历史上参赛国家和人数最多的一届。</a:t>
            </a:r>
            <a:endParaRPr lang="zh-CN" altLang="en-US" sz="2000">
              <a:solidFill>
                <a:srgbClr val="FF3300"/>
              </a:solidFill>
            </a:endParaRPr>
          </a:p>
          <a:p>
            <a:pPr eaLnBrk="1" hangingPunct="1">
              <a:buClr>
                <a:srgbClr val="FF3300"/>
              </a:buClr>
              <a:buFont typeface="Wingdings" panose="05000000000000000000" pitchFamily="2" charset="2"/>
              <a:buChar char="Ø"/>
            </a:pPr>
            <a:r>
              <a:rPr lang="zh-CN" altLang="en-US" sz="2000">
                <a:solidFill>
                  <a:srgbClr val="FF3300"/>
                </a:solidFill>
              </a:rPr>
              <a:t>奥运期间预计将吸引</a:t>
            </a:r>
            <a:r>
              <a:rPr lang="en-US" altLang="zh-CN" sz="2000">
                <a:solidFill>
                  <a:srgbClr val="FF3300"/>
                </a:solidFill>
              </a:rPr>
              <a:t>170</a:t>
            </a:r>
            <a:r>
              <a:rPr lang="zh-CN" altLang="en-US" sz="2000">
                <a:solidFill>
                  <a:srgbClr val="FF3300"/>
                </a:solidFill>
              </a:rPr>
              <a:t>万国内外游客观光旅游。</a:t>
            </a:r>
            <a:endParaRPr lang="zh-CN" altLang="en-US" sz="2000">
              <a:solidFill>
                <a:srgbClr val="FF3300"/>
              </a:solidFill>
            </a:endParaRPr>
          </a:p>
          <a:p>
            <a:pPr eaLnBrk="1" hangingPunct="1">
              <a:buClr>
                <a:srgbClr val="FF3300"/>
              </a:buClr>
              <a:buFont typeface="Wingdings" panose="05000000000000000000" pitchFamily="2" charset="2"/>
              <a:buChar char="Ø"/>
            </a:pPr>
            <a:r>
              <a:rPr lang="zh-CN" altLang="en-US" sz="2000">
                <a:solidFill>
                  <a:srgbClr val="FF3300"/>
                </a:solidFill>
              </a:rPr>
              <a:t>奥运会后的三年仍然是奥运经济周期，还会持续吸引国内外游客。</a:t>
            </a:r>
            <a:endParaRPr lang="zh-CN" altLang="en-US" sz="2000">
              <a:solidFill>
                <a:srgbClr val="FF3300"/>
              </a:solidFill>
            </a:endParaRPr>
          </a:p>
          <a:p>
            <a:pPr eaLnBrk="1" hangingPunct="1"/>
            <a:endParaRPr lang="zh-CN" altLang="en-US" sz="2800"/>
          </a:p>
        </p:txBody>
      </p:sp>
      <p:graphicFrame>
        <p:nvGraphicFramePr>
          <p:cNvPr id="538670" name="Group 46"/>
          <p:cNvGraphicFramePr>
            <a:graphicFrameLocks noGrp="1"/>
          </p:cNvGraphicFramePr>
          <p:nvPr/>
        </p:nvGraphicFramePr>
        <p:xfrm>
          <a:off x="1258888" y="1196975"/>
          <a:ext cx="7239000" cy="3192463"/>
        </p:xfrm>
        <a:graphic>
          <a:graphicData uri="http://schemas.openxmlformats.org/drawingml/2006/table">
            <a:tbl>
              <a:tblPr/>
              <a:tblGrid>
                <a:gridCol w="1022350"/>
                <a:gridCol w="1585912"/>
                <a:gridCol w="2344738"/>
                <a:gridCol w="2286000"/>
              </a:tblGrid>
              <a:tr h="509689">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年份</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举办城市</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外国游客（万人次）</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参赛人数（人）</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19">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1984</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洛杉矶</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23</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7616</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19">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1988</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汉城</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22</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9581</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19">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1992</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巴塞罗那</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9368</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19">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1996</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亚特兰大</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30</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10361</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19">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2000</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悉尼</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44</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11116</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1179">
                <a:tc gridSpan="4">
                  <a:txBody>
                    <a:bodyPr/>
                    <a:lstStyle>
                      <a:lvl1pPr algn="l"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资料来源：中国旅游报 （</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1992</a:t>
                      </a: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年巴塞罗那奥运会外国游客统计缺失）</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r>
            </a:tbl>
          </a:graphicData>
        </a:graphic>
      </p:graphicFrame>
      <p:sp>
        <p:nvSpPr>
          <p:cNvPr id="45099" name="Rectangle 44"/>
          <p:cNvSpPr>
            <a:spLocks noGrp="1" noChangeArrowheads="1"/>
          </p:cNvSpPr>
          <p:nvPr>
            <p:ph type="title"/>
          </p:nvPr>
        </p:nvSpPr>
        <p:spPr>
          <a:xfrm>
            <a:off x="1187450" y="0"/>
            <a:ext cx="7162800" cy="1219200"/>
          </a:xfrm>
        </p:spPr>
        <p:txBody>
          <a:bodyPr/>
          <a:lstStyle/>
          <a:p>
            <a:pPr eaLnBrk="1" hangingPunct="1"/>
            <a:r>
              <a:rPr lang="zh-CN" altLang="en-US" b="1" smtClean="0"/>
              <a:t>奥运旅游资源</a:t>
            </a:r>
            <a:endParaRPr lang="zh-CN" altLang="en-US" b="1" smtClean="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05F85CF-9648-4B22-83A1-9B97B346F4A5}" type="slidenum">
              <a:rPr lang="zh-CN" altLang="en-US" sz="1400" smtClean="0"/>
            </a:fld>
            <a:endParaRPr lang="en-US" altLang="zh-CN" sz="1400" smtClean="0"/>
          </a:p>
        </p:txBody>
      </p:sp>
      <p:sp>
        <p:nvSpPr>
          <p:cNvPr id="46083" name="Rectangle 4"/>
          <p:cNvSpPr>
            <a:spLocks noGrp="1" noChangeArrowheads="1"/>
          </p:cNvSpPr>
          <p:nvPr>
            <p:ph type="title"/>
          </p:nvPr>
        </p:nvSpPr>
        <p:spPr>
          <a:xfrm>
            <a:off x="1219200" y="381000"/>
            <a:ext cx="7162800" cy="1219200"/>
          </a:xfrm>
        </p:spPr>
        <p:txBody>
          <a:bodyPr/>
          <a:lstStyle/>
          <a:p>
            <a:pPr eaLnBrk="1" hangingPunct="1"/>
            <a:r>
              <a:rPr lang="zh-CN" altLang="en-US" b="1" smtClean="0"/>
              <a:t>历史人文旅游资源</a:t>
            </a:r>
            <a:endParaRPr lang="zh-CN" altLang="en-US" b="1" smtClean="0"/>
          </a:p>
        </p:txBody>
      </p:sp>
      <p:sp>
        <p:nvSpPr>
          <p:cNvPr id="46084" name="Rectangle 5"/>
          <p:cNvSpPr>
            <a:spLocks noChangeArrowheads="1"/>
          </p:cNvSpPr>
          <p:nvPr/>
        </p:nvSpPr>
        <p:spPr bwMode="auto">
          <a:xfrm>
            <a:off x="1331913" y="1557338"/>
            <a:ext cx="75438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buClr>
                <a:schemeClr val="bg2"/>
              </a:buClr>
              <a:buFont typeface="Wingdings" panose="05000000000000000000" pitchFamily="2" charset="2"/>
              <a:buChar char="ü"/>
            </a:pPr>
            <a:r>
              <a:rPr lang="zh-CN" altLang="en-US" sz="2800" b="1"/>
              <a:t>奥运场馆观光旅游</a:t>
            </a:r>
            <a:endParaRPr lang="zh-CN" altLang="en-US" sz="2800" b="1"/>
          </a:p>
          <a:p>
            <a:pPr eaLnBrk="1" hangingPunct="1">
              <a:buClr>
                <a:schemeClr val="bg2"/>
              </a:buClr>
              <a:buFont typeface="Wingdings" panose="05000000000000000000" pitchFamily="2" charset="2"/>
              <a:buChar char="ü"/>
            </a:pPr>
            <a:r>
              <a:rPr lang="zh-CN" altLang="en-US" sz="2800" b="1"/>
              <a:t>周边历史人文景观：</a:t>
            </a:r>
            <a:endParaRPr lang="zh-CN" altLang="en-US" sz="2800" b="1"/>
          </a:p>
          <a:p>
            <a:pPr lvl="1" eaLnBrk="1" hangingPunct="1"/>
            <a:r>
              <a:rPr lang="zh-CN" altLang="en-US" sz="2400" b="1"/>
              <a:t>中华民族园</a:t>
            </a:r>
            <a:endParaRPr lang="zh-CN" altLang="en-US" sz="2400" b="1"/>
          </a:p>
          <a:p>
            <a:pPr lvl="1" eaLnBrk="1" hangingPunct="1"/>
            <a:r>
              <a:rPr lang="zh-CN" altLang="en-US" sz="2400" b="1"/>
              <a:t>中国科技馆</a:t>
            </a:r>
            <a:endParaRPr lang="zh-CN" altLang="en-US" sz="2400" b="1"/>
          </a:p>
          <a:p>
            <a:pPr lvl="1" eaLnBrk="1" hangingPunct="1"/>
            <a:r>
              <a:rPr lang="zh-CN" altLang="en-US" sz="2400" b="1"/>
              <a:t>元大都遗址</a:t>
            </a:r>
            <a:endParaRPr lang="zh-CN" altLang="en-US" sz="2400" b="1"/>
          </a:p>
          <a:p>
            <a:pPr eaLnBrk="1" hangingPunct="1">
              <a:buClr>
                <a:schemeClr val="bg2"/>
              </a:buClr>
              <a:buFont typeface="Wingdings" panose="05000000000000000000" pitchFamily="2" charset="2"/>
              <a:buChar char="ü"/>
            </a:pPr>
            <a:r>
              <a:rPr lang="zh-CN" altLang="en-US" sz="2800" b="1"/>
              <a:t>利用交通优势可覆盖的历史人文景观：</a:t>
            </a:r>
            <a:endParaRPr lang="zh-CN" altLang="en-US" sz="2800" b="1"/>
          </a:p>
          <a:p>
            <a:pPr lvl="1" eaLnBrk="1" hangingPunct="1"/>
            <a:r>
              <a:rPr lang="zh-CN" altLang="en-US" sz="2400" b="1"/>
              <a:t>颐和园和圆明园</a:t>
            </a:r>
            <a:endParaRPr lang="zh-CN" altLang="en-US" sz="2400" b="1"/>
          </a:p>
          <a:p>
            <a:pPr lvl="1" eaLnBrk="1" hangingPunct="1"/>
            <a:r>
              <a:rPr lang="zh-CN" altLang="en-US" sz="2400" b="1"/>
              <a:t>八达岭长城</a:t>
            </a:r>
            <a:endParaRPr lang="zh-CN" altLang="en-US" sz="2400" b="1"/>
          </a:p>
          <a:p>
            <a:pPr lvl="1" eaLnBrk="1" hangingPunct="1"/>
            <a:r>
              <a:rPr lang="zh-CN" altLang="en-US" sz="2400" b="1"/>
              <a:t>故宫及周边</a:t>
            </a:r>
            <a:endParaRPr lang="zh-CN" altLang="en-US" sz="2400" b="1"/>
          </a:p>
        </p:txBody>
      </p:sp>
      <p:sp>
        <p:nvSpPr>
          <p:cNvPr id="46085" name="Rectangle 6"/>
          <p:cNvSpPr>
            <a:spLocks noChangeArrowheads="1"/>
          </p:cNvSpPr>
          <p:nvPr/>
        </p:nvSpPr>
        <p:spPr bwMode="auto">
          <a:xfrm>
            <a:off x="1547813" y="5734050"/>
            <a:ext cx="7010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buClr>
                <a:schemeClr val="tx1"/>
              </a:buClr>
              <a:buFont typeface="Arial" panose="020B0604020202020204" pitchFamily="34" charset="0"/>
              <a:buChar char="☺"/>
            </a:pPr>
            <a:r>
              <a:rPr lang="zh-CN" altLang="en-US">
                <a:solidFill>
                  <a:srgbClr val="F82300"/>
                </a:solidFill>
                <a:ea typeface="华文新魏" panose="02010800040101010101" pitchFamily="2" charset="-122"/>
              </a:rPr>
              <a:t>奥运的核心资源辅以方便的交通可吸引部分特色旅游团</a:t>
            </a:r>
            <a:endParaRPr lang="zh-CN" altLang="en-US">
              <a:solidFill>
                <a:srgbClr val="F82300"/>
              </a:solidFill>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E0424D4-AE3F-4244-B3B0-2DF1B2DE248C}" type="slidenum">
              <a:rPr lang="zh-CN" altLang="en-US" sz="1400" smtClean="0"/>
            </a:fld>
            <a:endParaRPr lang="en-US" altLang="zh-CN" sz="1400" smtClean="0"/>
          </a:p>
        </p:txBody>
      </p:sp>
      <p:pic>
        <p:nvPicPr>
          <p:cNvPr id="47107" name="Picture 4" descr="商务环境"/>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71600" y="1905000"/>
            <a:ext cx="72390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Rectangle 5"/>
          <p:cNvSpPr>
            <a:spLocks noGrp="1" noChangeArrowheads="1"/>
          </p:cNvSpPr>
          <p:nvPr>
            <p:ph type="title"/>
          </p:nvPr>
        </p:nvSpPr>
        <p:spPr>
          <a:xfrm>
            <a:off x="1219200" y="381000"/>
            <a:ext cx="7162800" cy="1143000"/>
          </a:xfrm>
        </p:spPr>
        <p:txBody>
          <a:bodyPr/>
          <a:lstStyle/>
          <a:p>
            <a:pPr eaLnBrk="1" hangingPunct="1"/>
            <a:r>
              <a:rPr lang="zh-CN" altLang="en-US" b="1" smtClean="0"/>
              <a:t>商务接待资源</a:t>
            </a:r>
            <a:endParaRPr lang="zh-CN" altLang="en-US" b="1" smtClean="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E3C5123-BC58-47FE-AB6D-7A0439D528D2}" type="slidenum">
              <a:rPr lang="zh-CN" altLang="en-US" sz="1400" smtClean="0"/>
            </a:fld>
            <a:endParaRPr lang="en-US" altLang="zh-CN" sz="1400" smtClean="0"/>
          </a:p>
        </p:txBody>
      </p:sp>
      <p:sp>
        <p:nvSpPr>
          <p:cNvPr id="48131" name="Rectangle 4"/>
          <p:cNvSpPr>
            <a:spLocks noGrp="1" noChangeArrowheads="1"/>
          </p:cNvSpPr>
          <p:nvPr>
            <p:ph type="title"/>
          </p:nvPr>
        </p:nvSpPr>
        <p:spPr>
          <a:xfrm>
            <a:off x="1219200" y="304800"/>
            <a:ext cx="7162800" cy="533400"/>
          </a:xfrm>
        </p:spPr>
        <p:txBody>
          <a:bodyPr/>
          <a:lstStyle/>
          <a:p>
            <a:pPr eaLnBrk="1" hangingPunct="1"/>
            <a:r>
              <a:rPr lang="zh-CN" altLang="en-US" sz="4000" smtClean="0"/>
              <a:t>商务客流统计</a:t>
            </a:r>
            <a:endParaRPr lang="zh-CN" altLang="en-US" b="1" smtClean="0"/>
          </a:p>
        </p:txBody>
      </p:sp>
      <p:graphicFrame>
        <p:nvGraphicFramePr>
          <p:cNvPr id="48132" name="Object 5"/>
          <p:cNvGraphicFramePr>
            <a:graphicFrameLocks noChangeAspect="1"/>
          </p:cNvGraphicFramePr>
          <p:nvPr/>
        </p:nvGraphicFramePr>
        <p:xfrm>
          <a:off x="1219200" y="1258888"/>
          <a:ext cx="7239000" cy="5143500"/>
        </p:xfrm>
        <a:graphic>
          <a:graphicData uri="http://schemas.openxmlformats.org/presentationml/2006/ole">
            <mc:AlternateContent xmlns:mc="http://schemas.openxmlformats.org/markup-compatibility/2006">
              <mc:Choice xmlns:v="urn:schemas-microsoft-com:vml" Requires="v">
                <p:oleObj spid="_x0000_s48136" name="图表" r:id="rId1" imgW="5946775" imgH="4228465" progId="MSGraph.Chart.8">
                  <p:embed followColorScheme="full"/>
                </p:oleObj>
              </mc:Choice>
              <mc:Fallback>
                <p:oleObj name="图表" r:id="rId1" imgW="5946775" imgH="4228465" progId="MSGraph.Chart.8">
                  <p:embed followColorScheme="full"/>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258888"/>
                        <a:ext cx="723900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7209902-4275-4FAB-B08C-2AB4120C582F}" type="slidenum">
              <a:rPr lang="zh-CN" altLang="en-US" sz="1400" smtClean="0"/>
            </a:fld>
            <a:endParaRPr lang="en-US" altLang="zh-CN" sz="1400" smtClean="0"/>
          </a:p>
        </p:txBody>
      </p:sp>
      <p:sp>
        <p:nvSpPr>
          <p:cNvPr id="49155" name="Rectangle 4"/>
          <p:cNvSpPr>
            <a:spLocks noGrp="1" noChangeArrowheads="1"/>
          </p:cNvSpPr>
          <p:nvPr>
            <p:ph type="title"/>
          </p:nvPr>
        </p:nvSpPr>
        <p:spPr>
          <a:xfrm>
            <a:off x="1219200" y="457200"/>
            <a:ext cx="7162800" cy="1219200"/>
          </a:xfrm>
        </p:spPr>
        <p:txBody>
          <a:bodyPr/>
          <a:lstStyle/>
          <a:p>
            <a:pPr eaLnBrk="1" hangingPunct="1"/>
            <a:r>
              <a:rPr lang="zh-CN" altLang="en-US" sz="4800" b="1" smtClean="0"/>
              <a:t>周边酒店分布情况</a:t>
            </a:r>
            <a:endParaRPr lang="zh-CN" altLang="en-US" sz="4800" b="1" smtClean="0"/>
          </a:p>
        </p:txBody>
      </p:sp>
      <p:pic>
        <p:nvPicPr>
          <p:cNvPr id="49156" name="Picture 5" descr="酒店分布"/>
          <p:cNvPicPr>
            <a:picLocks noGrp="1" noChangeAspect="1" noChangeArrowheads="1"/>
          </p:cNvPicPr>
          <p:nvPr>
            <p:ph type="body" idx="1"/>
          </p:nvPr>
        </p:nvPicPr>
        <p:blipFill>
          <a:blip r:embed="rId1">
            <a:extLst>
              <a:ext uri="{28A0092B-C50C-407E-A947-70E740481C1C}">
                <a14:useLocalDpi xmlns:a14="http://schemas.microsoft.com/office/drawing/2010/main" val="0"/>
              </a:ext>
            </a:extLst>
          </a:blip>
          <a:srcRect/>
          <a:stretch>
            <a:fillRect/>
          </a:stretch>
        </p:blipFill>
        <p:spPr>
          <a:xfrm>
            <a:off x="1371600" y="1752600"/>
            <a:ext cx="7315200" cy="4648200"/>
          </a:xfr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09512AE-239D-47CB-B7C6-675243F1F9B7}" type="slidenum">
              <a:rPr lang="zh-CN" altLang="en-US" sz="1400" smtClean="0"/>
            </a:fld>
            <a:endParaRPr lang="en-US" altLang="zh-CN" sz="1400" smtClean="0"/>
          </a:p>
        </p:txBody>
      </p:sp>
      <p:sp>
        <p:nvSpPr>
          <p:cNvPr id="50179" name="Rectangle 4"/>
          <p:cNvSpPr>
            <a:spLocks noGrp="1" noChangeArrowheads="1"/>
          </p:cNvSpPr>
          <p:nvPr>
            <p:ph type="title"/>
          </p:nvPr>
        </p:nvSpPr>
        <p:spPr>
          <a:xfrm>
            <a:off x="1219200" y="304800"/>
            <a:ext cx="7162800" cy="1066800"/>
          </a:xfrm>
        </p:spPr>
        <p:txBody>
          <a:bodyPr/>
          <a:lstStyle/>
          <a:p>
            <a:pPr eaLnBrk="1" hangingPunct="1"/>
            <a:r>
              <a:rPr lang="zh-CN" altLang="en-US" b="1" smtClean="0"/>
              <a:t>部分酒店运营情况统计分析</a:t>
            </a:r>
            <a:endParaRPr lang="zh-CN" altLang="en-US" b="1" smtClean="0"/>
          </a:p>
        </p:txBody>
      </p:sp>
      <p:graphicFrame>
        <p:nvGraphicFramePr>
          <p:cNvPr id="543788" name="Group 44"/>
          <p:cNvGraphicFramePr>
            <a:graphicFrameLocks noGrp="1"/>
          </p:cNvGraphicFramePr>
          <p:nvPr/>
        </p:nvGraphicFramePr>
        <p:xfrm>
          <a:off x="1187450" y="1412875"/>
          <a:ext cx="7313613" cy="3130551"/>
        </p:xfrm>
        <a:graphic>
          <a:graphicData uri="http://schemas.openxmlformats.org/drawingml/2006/table">
            <a:tbl>
              <a:tblPr/>
              <a:tblGrid>
                <a:gridCol w="1471613"/>
                <a:gridCol w="1150937"/>
                <a:gridCol w="1600200"/>
                <a:gridCol w="1627188"/>
                <a:gridCol w="1463675"/>
              </a:tblGrid>
              <a:tr h="70100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酒店名称</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星级标准</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标准间客房数</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年平均入住率</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标准间价格</a:t>
                      </a: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004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五洲假日酒店</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五星</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328</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67%</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688</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004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名人国际酒店</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五星</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319</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65%</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658</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004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会展中心酒店</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四星</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266</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73%</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528</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9412">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天鸿酒店</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四星</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258</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79%</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518</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0218" name="Rectangle 43"/>
          <p:cNvSpPr>
            <a:spLocks noChangeArrowheads="1"/>
          </p:cNvSpPr>
          <p:nvPr/>
        </p:nvSpPr>
        <p:spPr bwMode="auto">
          <a:xfrm>
            <a:off x="1371600" y="4589463"/>
            <a:ext cx="7315200" cy="168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buClr>
                <a:schemeClr val="tx1"/>
              </a:buClr>
              <a:buFont typeface="Arial" panose="020B0604020202020204" pitchFamily="34" charset="0"/>
              <a:buChar char="♪"/>
            </a:pPr>
            <a:r>
              <a:rPr lang="zh-CN" altLang="en-US" sz="2800">
                <a:solidFill>
                  <a:srgbClr val="FF3300"/>
                </a:solidFill>
                <a:ea typeface="华文新魏" panose="02010800040101010101" pitchFamily="2" charset="-122"/>
              </a:rPr>
              <a:t>五星级酒店略低于国家入住率高限，在正常范围内。</a:t>
            </a:r>
            <a:endParaRPr lang="zh-CN" altLang="en-US" sz="2800">
              <a:solidFill>
                <a:srgbClr val="FF3300"/>
              </a:solidFill>
              <a:ea typeface="华文新魏" panose="02010800040101010101" pitchFamily="2" charset="-122"/>
            </a:endParaRPr>
          </a:p>
          <a:p>
            <a:pPr eaLnBrk="1" hangingPunct="1">
              <a:buClr>
                <a:schemeClr val="tx1"/>
              </a:buClr>
              <a:buFont typeface="Arial" panose="020B0604020202020204" pitchFamily="34" charset="0"/>
              <a:buChar char="♪"/>
            </a:pPr>
            <a:r>
              <a:rPr lang="zh-CN" altLang="en-US" sz="2800">
                <a:solidFill>
                  <a:srgbClr val="FF3300"/>
                </a:solidFill>
                <a:ea typeface="华文新魏" panose="02010800040101010101" pitchFamily="2" charset="-122"/>
              </a:rPr>
              <a:t>四星级酒店入住率高于国家高限，属于超负荷接待。</a:t>
            </a:r>
            <a:endParaRPr lang="zh-CN" altLang="en-US" sz="2800">
              <a:solidFill>
                <a:srgbClr val="FF3300"/>
              </a:solidFill>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14BD0DF-B20F-47CF-AEE2-406537C0F6E1}" type="slidenum">
              <a:rPr lang="zh-CN" altLang="en-US" sz="1400" smtClean="0"/>
            </a:fld>
            <a:endParaRPr lang="en-US" altLang="zh-CN" sz="1400" smtClean="0"/>
          </a:p>
        </p:txBody>
      </p:sp>
      <p:sp>
        <p:nvSpPr>
          <p:cNvPr id="51203" name="Rectangle 4"/>
          <p:cNvSpPr>
            <a:spLocks noGrp="1" noChangeArrowheads="1"/>
          </p:cNvSpPr>
          <p:nvPr>
            <p:ph type="body" idx="1"/>
          </p:nvPr>
        </p:nvSpPr>
        <p:spPr>
          <a:xfrm>
            <a:off x="1476375" y="981075"/>
            <a:ext cx="7315200" cy="3810000"/>
          </a:xfrm>
        </p:spPr>
        <p:txBody>
          <a:bodyPr/>
          <a:lstStyle/>
          <a:p>
            <a:pPr eaLnBrk="1" hangingPunct="1">
              <a:buFont typeface="Wingdings" panose="05000000000000000000" pitchFamily="2" charset="2"/>
              <a:buNone/>
            </a:pPr>
            <a:endParaRPr lang="en-US" altLang="zh-CN" b="1" smtClean="0"/>
          </a:p>
          <a:p>
            <a:pPr lvl="1" eaLnBrk="1" hangingPunct="1"/>
            <a:r>
              <a:rPr lang="zh-CN" altLang="en-US" sz="3200" b="1" smtClean="0"/>
              <a:t>节能和环保成为酒店的特色之一</a:t>
            </a:r>
            <a:endParaRPr lang="zh-CN" altLang="en-US" sz="3200" b="1" smtClean="0"/>
          </a:p>
          <a:p>
            <a:pPr lvl="1" eaLnBrk="1" hangingPunct="1"/>
            <a:r>
              <a:rPr lang="zh-CN" altLang="en-US" sz="3200" b="1" smtClean="0"/>
              <a:t>无障碍设施</a:t>
            </a:r>
            <a:endParaRPr lang="zh-CN" altLang="en-US" sz="3200" b="1" smtClean="0"/>
          </a:p>
          <a:p>
            <a:pPr lvl="1" eaLnBrk="1" hangingPunct="1"/>
            <a:r>
              <a:rPr lang="zh-CN" altLang="en-US" sz="3200" b="1" smtClean="0"/>
              <a:t>充分保障酒店安全、卫生</a:t>
            </a:r>
            <a:endParaRPr lang="zh-CN" altLang="en-US" sz="3200" b="1" smtClean="0"/>
          </a:p>
          <a:p>
            <a:pPr lvl="1" eaLnBrk="1" hangingPunct="1"/>
            <a:r>
              <a:rPr lang="zh-CN" altLang="en-US" sz="3200" b="1" smtClean="0"/>
              <a:t>现代化技术设施</a:t>
            </a:r>
            <a:endParaRPr lang="zh-CN" altLang="en-US" sz="3200" b="1" smtClean="0"/>
          </a:p>
          <a:p>
            <a:pPr lvl="1" eaLnBrk="1" hangingPunct="1"/>
            <a:r>
              <a:rPr lang="zh-CN" altLang="en-US" sz="3200" b="1" smtClean="0"/>
              <a:t>提高饭店舒适度</a:t>
            </a:r>
            <a:endParaRPr lang="zh-CN" altLang="en-US" sz="3200" b="1" smtClean="0"/>
          </a:p>
          <a:p>
            <a:pPr lvl="1" eaLnBrk="1" hangingPunct="1"/>
            <a:r>
              <a:rPr lang="zh-CN" altLang="en-US" sz="3200" b="1" smtClean="0"/>
              <a:t>标识和景观</a:t>
            </a:r>
            <a:endParaRPr lang="zh-CN" altLang="en-US" sz="3200" b="1" smtClean="0"/>
          </a:p>
        </p:txBody>
      </p:sp>
      <p:sp>
        <p:nvSpPr>
          <p:cNvPr id="51204" name="Rectangle 5"/>
          <p:cNvSpPr>
            <a:spLocks noGrp="1" noChangeArrowheads="1"/>
          </p:cNvSpPr>
          <p:nvPr>
            <p:ph type="title"/>
          </p:nvPr>
        </p:nvSpPr>
        <p:spPr>
          <a:xfrm>
            <a:off x="684213" y="692150"/>
            <a:ext cx="8280400" cy="533400"/>
          </a:xfrm>
        </p:spPr>
        <p:txBody>
          <a:bodyPr/>
          <a:lstStyle/>
          <a:p>
            <a:pPr eaLnBrk="1" hangingPunct="1"/>
            <a:r>
              <a:rPr lang="zh-CN" altLang="en-US" sz="3600" b="1" smtClean="0"/>
              <a:t>“绿色”商机 ，尚枫国际酒店绿色设计</a:t>
            </a:r>
            <a:endParaRPr lang="zh-CN" altLang="en-US" sz="5400" b="1" smtClean="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0063E1D-1962-40A5-8041-6B518FA81EA3}" type="slidenum">
              <a:rPr lang="zh-CN" altLang="en-US" sz="1400" smtClean="0"/>
            </a:fld>
            <a:endParaRPr lang="en-US" altLang="zh-CN" sz="1400" smtClean="0"/>
          </a:p>
        </p:txBody>
      </p:sp>
      <p:sp>
        <p:nvSpPr>
          <p:cNvPr id="52227" name="Rectangle 2"/>
          <p:cNvSpPr>
            <a:spLocks noGrp="1" noRot="1" noChangeArrowheads="1"/>
          </p:cNvSpPr>
          <p:nvPr>
            <p:ph type="title"/>
          </p:nvPr>
        </p:nvSpPr>
        <p:spPr/>
        <p:txBody>
          <a:bodyPr/>
          <a:lstStyle/>
          <a:p>
            <a:pPr eaLnBrk="1" hangingPunct="1"/>
            <a:r>
              <a:rPr lang="zh-CN" altLang="en-US" sz="4000" b="1" smtClean="0"/>
              <a:t>综合定位</a:t>
            </a:r>
            <a:br>
              <a:rPr lang="zh-CN" altLang="en-US" sz="4000" smtClean="0">
                <a:solidFill>
                  <a:schemeClr val="bg2"/>
                </a:solidFill>
              </a:rPr>
            </a:br>
            <a:endParaRPr lang="zh-CN" altLang="en-US" sz="4000" smtClean="0">
              <a:solidFill>
                <a:schemeClr val="bg2"/>
              </a:solidFill>
            </a:endParaRPr>
          </a:p>
        </p:txBody>
      </p:sp>
      <p:sp>
        <p:nvSpPr>
          <p:cNvPr id="52228" name="Rectangle 3"/>
          <p:cNvSpPr>
            <a:spLocks noGrp="1" noRot="1" noChangeArrowheads="1"/>
          </p:cNvSpPr>
          <p:nvPr>
            <p:ph type="body" idx="1"/>
          </p:nvPr>
        </p:nvSpPr>
        <p:spPr>
          <a:xfrm>
            <a:off x="323850" y="1700213"/>
            <a:ext cx="8540750" cy="3886200"/>
          </a:xfrm>
        </p:spPr>
        <p:txBody>
          <a:bodyPr/>
          <a:lstStyle/>
          <a:p>
            <a:pPr lvl="1" eaLnBrk="1" hangingPunct="1">
              <a:buClr>
                <a:schemeClr val="bg2"/>
              </a:buClr>
              <a:buFont typeface="Wingdings" panose="05000000000000000000" pitchFamily="2" charset="2"/>
              <a:buChar char="Ø"/>
            </a:pPr>
            <a:r>
              <a:rPr lang="zh-CN" altLang="en-US" sz="3200" smtClean="0"/>
              <a:t>产品定位：高于同档次平均水平的旅游、商务酒店</a:t>
            </a:r>
            <a:endParaRPr lang="en-US" altLang="zh-CN" sz="3200" smtClean="0"/>
          </a:p>
          <a:p>
            <a:pPr lvl="1" eaLnBrk="1" hangingPunct="1">
              <a:buClr>
                <a:schemeClr val="bg2"/>
              </a:buClr>
              <a:buFont typeface="Wingdings" panose="05000000000000000000" pitchFamily="2" charset="2"/>
              <a:buChar char="Ø"/>
            </a:pPr>
            <a:r>
              <a:rPr lang="zh-CN" altLang="en-US" sz="3200" smtClean="0"/>
              <a:t>目标客户定位：时尚高雅环保的高消费层次</a:t>
            </a:r>
            <a:endParaRPr lang="en-US" altLang="zh-CN" sz="3200" smtClean="0"/>
          </a:p>
          <a:p>
            <a:pPr lvl="1" eaLnBrk="1" hangingPunct="1">
              <a:buClr>
                <a:schemeClr val="bg2"/>
              </a:buClr>
              <a:buFont typeface="Wingdings" panose="05000000000000000000" pitchFamily="2" charset="2"/>
              <a:buChar char="Ø"/>
            </a:pPr>
            <a:r>
              <a:rPr lang="zh-CN" altLang="en-US" sz="3200" smtClean="0"/>
              <a:t>产品市场性价比定位：中高档水平</a:t>
            </a:r>
            <a:endParaRPr lang="en-US" altLang="zh-CN" sz="3200" smtClean="0"/>
          </a:p>
          <a:p>
            <a:pPr lvl="1" eaLnBrk="1" hangingPunct="1">
              <a:buClr>
                <a:schemeClr val="bg2"/>
              </a:buClr>
              <a:buFont typeface="Wingdings" panose="05000000000000000000" pitchFamily="2" charset="2"/>
              <a:buChar char="Ø"/>
            </a:pPr>
            <a:r>
              <a:rPr lang="zh-CN" altLang="en-US" sz="3200" smtClean="0"/>
              <a:t>价格定位 ：平均销售价</a:t>
            </a:r>
            <a:r>
              <a:rPr lang="en-US" altLang="zh-CN" sz="3200" smtClean="0"/>
              <a:t>1.5</a:t>
            </a:r>
            <a:r>
              <a:rPr lang="zh-CN" altLang="en-US" sz="3200" smtClean="0"/>
              <a:t>万元人民币每平方米</a:t>
            </a:r>
            <a:endParaRPr lang="en-US" altLang="zh-CN" sz="3200" smtClean="0"/>
          </a:p>
          <a:p>
            <a:pPr eaLnBrk="1" hangingPunct="1"/>
            <a:endParaRPr lang="zh-CN" altLang="en-US" smtClean="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9B94161-039A-4D58-8AC5-637156595644}" type="slidenum">
              <a:rPr lang="zh-CN" altLang="en-US" sz="1400" smtClean="0"/>
            </a:fld>
            <a:endParaRPr lang="en-US" altLang="zh-CN" sz="1400" smtClean="0"/>
          </a:p>
        </p:txBody>
      </p:sp>
      <p:sp>
        <p:nvSpPr>
          <p:cNvPr id="53251" name="Rectangle 2"/>
          <p:cNvSpPr>
            <a:spLocks noGrp="1" noRot="1" noChangeArrowheads="1"/>
          </p:cNvSpPr>
          <p:nvPr>
            <p:ph type="title"/>
          </p:nvPr>
        </p:nvSpPr>
        <p:spPr/>
        <p:txBody>
          <a:bodyPr/>
          <a:lstStyle/>
          <a:p>
            <a:pPr eaLnBrk="1" hangingPunct="1"/>
            <a:r>
              <a:rPr lang="zh-CN" altLang="en-US" b="1" smtClean="0"/>
              <a:t>项目前景预测</a:t>
            </a:r>
            <a:endParaRPr lang="zh-CN" altLang="en-US" b="1" smtClean="0"/>
          </a:p>
        </p:txBody>
      </p:sp>
      <p:sp>
        <p:nvSpPr>
          <p:cNvPr id="53252" name="Rectangle 3"/>
          <p:cNvSpPr>
            <a:spLocks noGrp="1" noRot="1" noChangeArrowheads="1"/>
          </p:cNvSpPr>
          <p:nvPr>
            <p:ph type="body" idx="1"/>
          </p:nvPr>
        </p:nvSpPr>
        <p:spPr/>
        <p:txBody>
          <a:bodyPr/>
          <a:lstStyle/>
          <a:p>
            <a:pPr eaLnBrk="1" hangingPunct="1"/>
            <a:r>
              <a:rPr lang="zh-CN" altLang="en-US" sz="2800" smtClean="0"/>
              <a:t>本项目建设用地东接奥林匹克公园；南临北四环中路；西接八达岭高速路；北靠科学院南里，地块方正规则，视野开阔，景观效果极佳，是建设高档写字楼酒店的理想用地 </a:t>
            </a:r>
            <a:endParaRPr lang="zh-CN" altLang="en-US" sz="2800" smtClean="0"/>
          </a:p>
          <a:p>
            <a:pPr eaLnBrk="1" hangingPunct="1"/>
            <a:r>
              <a:rPr lang="zh-CN" altLang="en-US" sz="2800" smtClean="0"/>
              <a:t>北京作为著名的旅游目的地，始终是国内外旅游者的关注热点，而位于奥林匹克公园附近的的北京尚枫国际酒店，更会为北京旅游房地产业增添新的亮色，可以预测，本项目具有较好的市场前景</a:t>
            </a:r>
            <a:endParaRPr lang="zh-CN" altLang="en-US" sz="2800" smtClean="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1446B0F-C2AF-4534-ACB9-9024135A638A}" type="slidenum">
              <a:rPr lang="zh-CN" altLang="en-US" sz="1400" smtClean="0"/>
            </a:fld>
            <a:endParaRPr lang="en-US" altLang="zh-CN" sz="1400" smtClean="0"/>
          </a:p>
        </p:txBody>
      </p:sp>
      <p:sp>
        <p:nvSpPr>
          <p:cNvPr id="54275" name="Rectangle 2"/>
          <p:cNvSpPr>
            <a:spLocks noGrp="1" noRot="1" noChangeArrowheads="1"/>
          </p:cNvSpPr>
          <p:nvPr>
            <p:ph type="title"/>
          </p:nvPr>
        </p:nvSpPr>
        <p:spPr/>
        <p:txBody>
          <a:bodyPr/>
          <a:lstStyle/>
          <a:p>
            <a:pPr eaLnBrk="1" hangingPunct="1"/>
            <a:r>
              <a:rPr lang="zh-CN" altLang="en-US" sz="4000" b="1" smtClean="0">
                <a:solidFill>
                  <a:srgbClr val="CC0000"/>
                </a:solidFill>
              </a:rPr>
              <a:t>本项目的优劣势评价</a:t>
            </a:r>
            <a:r>
              <a:rPr lang="en-US" altLang="zh-CN" sz="4000" b="1" smtClean="0">
                <a:solidFill>
                  <a:srgbClr val="CC0000"/>
                </a:solidFill>
              </a:rPr>
              <a:t>(SWOT)</a:t>
            </a:r>
            <a:endParaRPr lang="en-US" altLang="zh-CN" sz="4000" b="1" smtClean="0">
              <a:solidFill>
                <a:srgbClr val="CC0000"/>
              </a:solidFill>
            </a:endParaRPr>
          </a:p>
        </p:txBody>
      </p:sp>
      <p:sp>
        <p:nvSpPr>
          <p:cNvPr id="54276" name="Rectangle 3"/>
          <p:cNvSpPr>
            <a:spLocks noGrp="1" noRot="1" noChangeArrowheads="1"/>
          </p:cNvSpPr>
          <p:nvPr>
            <p:ph type="body" idx="1"/>
          </p:nvPr>
        </p:nvSpPr>
        <p:spPr/>
        <p:txBody>
          <a:bodyPr/>
          <a:lstStyle/>
          <a:p>
            <a:pPr marL="609600" indent="-609600" eaLnBrk="1" hangingPunct="1">
              <a:lnSpc>
                <a:spcPct val="80000"/>
              </a:lnSpc>
              <a:buFontTx/>
              <a:buNone/>
            </a:pPr>
            <a:r>
              <a:rPr lang="zh-CN" altLang="en-US" sz="2400" b="1" smtClean="0">
                <a:solidFill>
                  <a:srgbClr val="CC0000"/>
                </a:solidFill>
              </a:rPr>
              <a:t>项目优势：</a:t>
            </a:r>
            <a:endParaRPr lang="zh-CN" altLang="en-US" sz="2400" b="1" smtClean="0">
              <a:solidFill>
                <a:srgbClr val="CC0000"/>
              </a:solidFill>
            </a:endParaRPr>
          </a:p>
          <a:p>
            <a:pPr marL="609600" indent="-609600" eaLnBrk="1" hangingPunct="1">
              <a:lnSpc>
                <a:spcPct val="80000"/>
              </a:lnSpc>
              <a:buFontTx/>
              <a:buNone/>
            </a:pPr>
            <a:r>
              <a:rPr lang="zh-CN" altLang="en-US" sz="2400" smtClean="0"/>
              <a:t>●地块周边丰富的旅游和商务资源。</a:t>
            </a:r>
            <a:endParaRPr lang="zh-CN" altLang="en-US" sz="2400" smtClean="0"/>
          </a:p>
          <a:p>
            <a:pPr marL="609600" indent="-609600" eaLnBrk="1" hangingPunct="1">
              <a:lnSpc>
                <a:spcPct val="80000"/>
              </a:lnSpc>
              <a:buFontTx/>
              <a:buNone/>
            </a:pPr>
            <a:r>
              <a:rPr lang="zh-CN" altLang="en-US" sz="2400" smtClean="0"/>
              <a:t>●具有</a:t>
            </a:r>
            <a:r>
              <a:rPr lang="en-US" altLang="zh-CN" sz="2400" smtClean="0"/>
              <a:t>2008</a:t>
            </a:r>
            <a:r>
              <a:rPr lang="zh-CN" altLang="en-US" sz="2400" smtClean="0"/>
              <a:t>年奥运年的背景。</a:t>
            </a:r>
            <a:endParaRPr lang="zh-CN" altLang="en-US" sz="2400" smtClean="0"/>
          </a:p>
          <a:p>
            <a:pPr marL="609600" indent="-609600" eaLnBrk="1" hangingPunct="1">
              <a:lnSpc>
                <a:spcPct val="80000"/>
              </a:lnSpc>
              <a:buFontTx/>
              <a:buNone/>
            </a:pPr>
            <a:r>
              <a:rPr lang="zh-CN" altLang="en-US" sz="2400" smtClean="0"/>
              <a:t>●项目规模适中，属于短平快项目。</a:t>
            </a:r>
            <a:endParaRPr lang="zh-CN" altLang="en-US" sz="2400" smtClean="0"/>
          </a:p>
          <a:p>
            <a:pPr marL="609600" indent="-609600" eaLnBrk="1" hangingPunct="1">
              <a:lnSpc>
                <a:spcPct val="80000"/>
              </a:lnSpc>
              <a:buFontTx/>
              <a:buNone/>
            </a:pPr>
            <a:r>
              <a:rPr lang="zh-CN" altLang="en-US" sz="2400" b="1" smtClean="0">
                <a:solidFill>
                  <a:srgbClr val="CC0000"/>
                </a:solidFill>
              </a:rPr>
              <a:t>项目机会：</a:t>
            </a:r>
            <a:endParaRPr lang="zh-CN" altLang="en-US" sz="2400" b="1" smtClean="0">
              <a:solidFill>
                <a:srgbClr val="CC0000"/>
              </a:solidFill>
            </a:endParaRPr>
          </a:p>
          <a:p>
            <a:pPr marL="609600" indent="-609600" eaLnBrk="1" hangingPunct="1">
              <a:lnSpc>
                <a:spcPct val="80000"/>
              </a:lnSpc>
              <a:buFontTx/>
              <a:buNone/>
            </a:pPr>
            <a:r>
              <a:rPr lang="zh-CN" altLang="en-US" sz="2400" smtClean="0"/>
              <a:t>●紧邻奥林匹克公园，可借助中华民族园和奥林匹克公园进行市场推广</a:t>
            </a:r>
            <a:endParaRPr lang="zh-CN" altLang="en-US" sz="2400" smtClean="0"/>
          </a:p>
          <a:p>
            <a:pPr marL="609600" indent="-609600" eaLnBrk="1" hangingPunct="1">
              <a:lnSpc>
                <a:spcPct val="80000"/>
              </a:lnSpc>
              <a:buFontTx/>
              <a:buNone/>
            </a:pPr>
            <a:r>
              <a:rPr lang="zh-CN" altLang="en-US" sz="2400" smtClean="0"/>
              <a:t> ●市场对环保型人本化、生态化办公及旅居模式的需求。</a:t>
            </a:r>
            <a:endParaRPr lang="zh-CN" altLang="en-US" sz="2400" smtClean="0"/>
          </a:p>
          <a:p>
            <a:pPr marL="609600" indent="-609600" eaLnBrk="1" hangingPunct="1">
              <a:lnSpc>
                <a:spcPct val="80000"/>
              </a:lnSpc>
              <a:buFontTx/>
              <a:buNone/>
            </a:pPr>
            <a:r>
              <a:rPr lang="zh-CN" altLang="en-US" sz="2400" b="1" smtClean="0">
                <a:solidFill>
                  <a:srgbClr val="CC0000"/>
                </a:solidFill>
              </a:rPr>
              <a:t>项目劣势</a:t>
            </a:r>
            <a:r>
              <a:rPr lang="en-US" altLang="zh-CN" sz="2400" b="1" smtClean="0">
                <a:solidFill>
                  <a:srgbClr val="CC0000"/>
                </a:solidFill>
              </a:rPr>
              <a:t>:</a:t>
            </a:r>
            <a:endParaRPr lang="en-US" altLang="zh-CN" sz="2400" b="1" smtClean="0">
              <a:solidFill>
                <a:srgbClr val="CC0000"/>
              </a:solidFill>
            </a:endParaRPr>
          </a:p>
          <a:p>
            <a:pPr marL="609600" indent="-609600" eaLnBrk="1" hangingPunct="1">
              <a:lnSpc>
                <a:spcPct val="80000"/>
              </a:lnSpc>
              <a:buFontTx/>
              <a:buNone/>
            </a:pPr>
            <a:r>
              <a:rPr lang="zh-CN" altLang="en-US" sz="2400" smtClean="0"/>
              <a:t>●临近奥林匹克公园，该公园内将规划建设酒店、会议、商业等其它配套服务设施，可能会对该项目形成一定冲击。</a:t>
            </a:r>
            <a:endParaRPr lang="zh-CN" altLang="en-US" sz="2400" smtClean="0"/>
          </a:p>
          <a:p>
            <a:pPr marL="609600" indent="-609600" eaLnBrk="1" hangingPunct="1">
              <a:lnSpc>
                <a:spcPct val="80000"/>
              </a:lnSpc>
              <a:buFontTx/>
              <a:buNone/>
            </a:pPr>
            <a:r>
              <a:rPr lang="zh-CN" altLang="en-US" sz="2400" b="1" smtClean="0">
                <a:solidFill>
                  <a:srgbClr val="CC0000"/>
                </a:solidFill>
              </a:rPr>
              <a:t>项目威胁：</a:t>
            </a:r>
            <a:endParaRPr lang="zh-CN" altLang="en-US" sz="2400" b="1" smtClean="0">
              <a:solidFill>
                <a:srgbClr val="CC0000"/>
              </a:solidFill>
            </a:endParaRPr>
          </a:p>
          <a:p>
            <a:pPr marL="609600" indent="-609600" eaLnBrk="1" hangingPunct="1">
              <a:lnSpc>
                <a:spcPct val="80000"/>
              </a:lnSpc>
              <a:buFontTx/>
              <a:buNone/>
            </a:pPr>
            <a:r>
              <a:rPr lang="zh-CN" altLang="en-US" sz="2400" smtClean="0"/>
              <a:t>●拿地。</a:t>
            </a:r>
            <a:endParaRPr lang="zh-CN" altLang="en-US" sz="2400" smtClean="0"/>
          </a:p>
          <a:p>
            <a:pPr marL="609600" indent="-609600" eaLnBrk="1" hangingPunct="1">
              <a:lnSpc>
                <a:spcPct val="80000"/>
              </a:lnSpc>
            </a:pPr>
            <a:endParaRPr lang="zh-CN" altLang="en-US" sz="2400" smtClean="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F0E6582-F3F3-4477-9246-782C697CC205}" type="slidenum">
              <a:rPr lang="zh-CN" altLang="en-US" sz="1400" smtClean="0"/>
            </a:fld>
            <a:endParaRPr lang="en-US" altLang="zh-CN" sz="1400" smtClean="0"/>
          </a:p>
        </p:txBody>
      </p:sp>
      <p:pic>
        <p:nvPicPr>
          <p:cNvPr id="55299" name="Picture 5" descr="37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989138"/>
            <a:ext cx="5148263"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Text Box 6"/>
          <p:cNvSpPr txBox="1">
            <a:spLocks noChangeArrowheads="1"/>
          </p:cNvSpPr>
          <p:nvPr/>
        </p:nvSpPr>
        <p:spPr bwMode="auto">
          <a:xfrm>
            <a:off x="179388" y="404813"/>
            <a:ext cx="485775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4400" b="1">
                <a:solidFill>
                  <a:schemeClr val="tx2"/>
                </a:solidFill>
              </a:rPr>
              <a:t>北京文津国际酒店</a:t>
            </a:r>
            <a:endParaRPr lang="zh-CN" altLang="en-US" sz="4400" b="1">
              <a:solidFill>
                <a:schemeClr val="tx2"/>
              </a:solidFill>
            </a:endParaRPr>
          </a:p>
          <a:p>
            <a:pPr algn="ctr" eaLnBrk="1" hangingPunct="1">
              <a:spcBef>
                <a:spcPct val="0"/>
              </a:spcBef>
              <a:buClrTx/>
              <a:buSzTx/>
              <a:buFontTx/>
              <a:buNone/>
            </a:pPr>
            <a:r>
              <a:rPr lang="en-US" altLang="zh-CN" sz="3600">
                <a:solidFill>
                  <a:srgbClr val="CC0000"/>
                </a:solidFill>
              </a:rPr>
              <a:t>2007</a:t>
            </a:r>
            <a:r>
              <a:rPr lang="zh-CN" altLang="en-US" sz="3600">
                <a:solidFill>
                  <a:srgbClr val="CC0000"/>
                </a:solidFill>
              </a:rPr>
              <a:t>年开业，准四星级</a:t>
            </a:r>
            <a:endParaRPr lang="en-US" altLang="zh-CN" sz="3600">
              <a:solidFill>
                <a:srgbClr val="CC0000"/>
              </a:solidFill>
            </a:endParaRPr>
          </a:p>
          <a:p>
            <a:pPr algn="ctr" eaLnBrk="1" hangingPunct="1">
              <a:spcBef>
                <a:spcPct val="0"/>
              </a:spcBef>
              <a:buClrTx/>
              <a:buSzTx/>
              <a:buFontTx/>
              <a:buNone/>
            </a:pPr>
            <a:endParaRPr lang="zh-CN" altLang="en-US" sz="4400">
              <a:solidFill>
                <a:srgbClr val="CC0000"/>
              </a:solidFill>
            </a:endParaRPr>
          </a:p>
        </p:txBody>
      </p:sp>
      <p:pic>
        <p:nvPicPr>
          <p:cNvPr id="55301" name="Picture 8" descr="北京文津国际酒店"/>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2725" y="620713"/>
            <a:ext cx="3671888" cy="275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2" name="Picture 10" descr="北京文津国际酒店"/>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725" y="3644900"/>
            <a:ext cx="3708400"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90B44BC-97AF-4864-AF5B-0B32F0CE4624}" type="slidenum">
              <a:rPr lang="zh-CN" altLang="en-US" sz="1400" smtClean="0"/>
            </a:fld>
            <a:endParaRPr lang="en-US" altLang="zh-CN" sz="1400" smtClean="0"/>
          </a:p>
        </p:txBody>
      </p:sp>
      <p:sp>
        <p:nvSpPr>
          <p:cNvPr id="56323" name="Rectangle 2"/>
          <p:cNvSpPr>
            <a:spLocks noGrp="1" noRot="1" noChangeArrowheads="1"/>
          </p:cNvSpPr>
          <p:nvPr>
            <p:ph type="title"/>
          </p:nvPr>
        </p:nvSpPr>
        <p:spPr/>
        <p:txBody>
          <a:bodyPr/>
          <a:lstStyle/>
          <a:p>
            <a:pPr eaLnBrk="1" hangingPunct="1"/>
            <a:endParaRPr lang="zh-CN" altLang="en-US" smtClean="0"/>
          </a:p>
        </p:txBody>
      </p:sp>
      <p:sp>
        <p:nvSpPr>
          <p:cNvPr id="56324" name="Rectangle 3"/>
          <p:cNvSpPr>
            <a:spLocks noGrp="1" noRot="1" noChangeArrowheads="1"/>
          </p:cNvSpPr>
          <p:nvPr>
            <p:ph type="body" idx="1"/>
          </p:nvPr>
        </p:nvSpPr>
        <p:spPr/>
        <p:txBody>
          <a:bodyPr/>
          <a:lstStyle/>
          <a:p>
            <a:pPr algn="ctr" eaLnBrk="1" hangingPunct="1">
              <a:buFont typeface="Wingdings" panose="05000000000000000000" pitchFamily="2" charset="2"/>
              <a:buNone/>
            </a:pPr>
            <a:r>
              <a:rPr lang="en-US" altLang="zh-CN" sz="6000" b="1" smtClean="0"/>
              <a:t>Question?</a:t>
            </a:r>
            <a:endParaRPr lang="en-US" altLang="zh-CN" sz="6000" b="1" smtClean="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COMMONDATA" val="eyJoZGlkIjoiOTI0OWQxZGJjNDE2MzIxNDlmMGQ4ZDUyYzcyZTE1MzkifQ=="/>
  <p:tag name="commondata" val="eyJoZGlkIjoiMDUyNTk2M2IyMzU4MzVkNTcwMTc5ZTNjMDhlZjc2NjkifQ=="/>
</p:tagLst>
</file>

<file path=ppt/theme/theme1.xml><?xml version="1.0" encoding="utf-8"?>
<a:theme xmlns:a="http://schemas.openxmlformats.org/drawingml/2006/main" name="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AU" sz="4400" b="0" i="0" u="none" strike="noStrike" cap="none" normalizeH="0" baseline="0" smtClean="0">
            <a:ln>
              <a:noFill/>
            </a:ln>
            <a:solidFill>
              <a:srgbClr val="CC0000"/>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AU" sz="4400" b="0" i="0" u="none" strike="noStrike" cap="none" normalizeH="0" baseline="0" smtClean="0">
            <a:ln>
              <a:noFill/>
            </a:ln>
            <a:solidFill>
              <a:srgbClr val="CC0000"/>
            </a:solidFill>
            <a:effectLst/>
            <a:latin typeface="Arial" panose="020B0604020202020204" pitchFamily="34" charset="0"/>
            <a:ea typeface="宋体" panose="02010600030101010101" pitchFamily="2" charset="-122"/>
          </a:defRPr>
        </a:defPPr>
      </a:lstStyle>
    </a:lnDef>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CDESIGNK</Template>
  <TotalTime>0</TotalTime>
  <Words>6127</Words>
  <Application>WPS 演示</Application>
  <PresentationFormat>全屏显示(4:3)</PresentationFormat>
  <Paragraphs>822</Paragraphs>
  <Slides>52</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9</vt:i4>
      </vt:variant>
      <vt:variant>
        <vt:lpstr>幻灯片标题</vt:lpstr>
      </vt:variant>
      <vt:variant>
        <vt:i4>52</vt:i4>
      </vt:variant>
    </vt:vector>
  </HeadingPairs>
  <TitlesOfParts>
    <vt:vector size="74" baseType="lpstr">
      <vt:lpstr>Arial</vt:lpstr>
      <vt:lpstr>宋体</vt:lpstr>
      <vt:lpstr>Wingdings</vt:lpstr>
      <vt:lpstr>Times New Roman</vt:lpstr>
      <vt:lpstr>Garamond</vt:lpstr>
      <vt:lpstr>仿宋_GB2312</vt:lpstr>
      <vt:lpstr>仿宋</vt:lpstr>
      <vt:lpstr>楷体_GB2312</vt:lpstr>
      <vt:lpstr>新宋体</vt:lpstr>
      <vt:lpstr>微软雅黑</vt:lpstr>
      <vt:lpstr>Arial Unicode MS</vt:lpstr>
      <vt:lpstr>华文新魏</vt:lpstr>
      <vt:lpstr>古瓶荷花</vt:lpstr>
      <vt:lpstr>Excel.Sheet.8</vt:lpstr>
      <vt:lpstr>Equation.3</vt:lpstr>
      <vt:lpstr>Equation.3</vt:lpstr>
      <vt:lpstr>Equation.3</vt:lpstr>
      <vt:lpstr>Equation.3</vt:lpstr>
      <vt:lpstr>Equation.3</vt:lpstr>
      <vt:lpstr>Equation.3</vt:lpstr>
      <vt:lpstr>Equation.DSMT4</vt:lpstr>
      <vt:lpstr>MSGraph.Chart.8</vt:lpstr>
      <vt:lpstr>PowerPoint 演示文稿</vt:lpstr>
      <vt:lpstr>PowerPoint 演示文稿</vt:lpstr>
      <vt:lpstr>一些可行性研究的例子</vt:lpstr>
      <vt:lpstr>项目投资决策和建设过程中的可行性研究</vt:lpstr>
      <vt:lpstr>可行性研究的作用重大</vt:lpstr>
      <vt:lpstr>可行性研究报告的内容</vt:lpstr>
      <vt:lpstr>例:方庄某房地产开发项目可行性研究报告</vt:lpstr>
      <vt:lpstr>某电站可行性研究报告</vt:lpstr>
      <vt:lpstr>可行性研究的三条腿</vt:lpstr>
      <vt:lpstr>市场研究: 调查与预测, 壁垒分析, 项目规模</vt:lpstr>
      <vt:lpstr>市场研究: 调查与预测, 壁垒分析, 项目规模</vt:lpstr>
      <vt:lpstr>市场调查的内容</vt:lpstr>
      <vt:lpstr>案例：房地产开发项目的市场研究</vt:lpstr>
      <vt:lpstr>(1) 市场定位</vt:lpstr>
      <vt:lpstr>(2) 需求分析</vt:lpstr>
      <vt:lpstr>(3) 供给分析</vt:lpstr>
      <vt:lpstr>(4) 本项目的优劣势评价（类似于SWOT）</vt:lpstr>
      <vt:lpstr>(5) 本项目的价格和销售速度</vt:lpstr>
      <vt:lpstr>市场调查(Market Survey) </vt:lpstr>
      <vt:lpstr>市场调查的方法</vt:lpstr>
      <vt:lpstr>抽样调查法</vt:lpstr>
      <vt:lpstr>例子：清华大学研究生生活状况调研结果</vt:lpstr>
      <vt:lpstr>抽样方法1——概率抽样</vt:lpstr>
      <vt:lpstr>抽样方法2——非概率抽样</vt:lpstr>
      <vt:lpstr>问卷(questionnaire)设计技术</vt:lpstr>
      <vt:lpstr>市场预测分析方法</vt:lpstr>
      <vt:lpstr> </vt:lpstr>
      <vt:lpstr>德尔菲法的流程</vt:lpstr>
      <vt:lpstr>回归分析法</vt:lpstr>
      <vt:lpstr>例子</vt:lpstr>
      <vt:lpstr>多元回归模型</vt:lpstr>
      <vt:lpstr>PowerPoint 演示文稿</vt:lpstr>
      <vt:lpstr>市场调查与预测结果</vt:lpstr>
      <vt:lpstr>市场壁垒分析</vt:lpstr>
      <vt:lpstr>项目规模的确定</vt:lpstr>
      <vt:lpstr>投资条件</vt:lpstr>
      <vt:lpstr>项目地址的选择</vt:lpstr>
      <vt:lpstr>北京尚枫国际酒店需求分析</vt:lpstr>
      <vt:lpstr>项目地块的规划指标</vt:lpstr>
      <vt:lpstr>地块资源分析</vt:lpstr>
      <vt:lpstr>奥运旅游资源</vt:lpstr>
      <vt:lpstr>历史人文旅游资源</vt:lpstr>
      <vt:lpstr>商务接待资源</vt:lpstr>
      <vt:lpstr>商务客流统计</vt:lpstr>
      <vt:lpstr>周边酒店分布情况</vt:lpstr>
      <vt:lpstr>部分酒店运营情况统计分析</vt:lpstr>
      <vt:lpstr>“绿色”商机 ，尚枫国际酒店绿色设计</vt:lpstr>
      <vt:lpstr>综合定位 </vt:lpstr>
      <vt:lpstr>项目前景预测</vt:lpstr>
      <vt:lpstr>本项目的优劣势评价(SWOT)</vt:lpstr>
      <vt:lpstr>PowerPoint 演示文稿</vt:lpstr>
      <vt:lpstr>PowerPoint 演示文稿</vt:lpstr>
    </vt:vector>
  </TitlesOfParts>
  <Company>University of Melbourne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Civil &amp; Environmental Engineering</dc:creator>
  <cp:lastModifiedBy>飞光</cp:lastModifiedBy>
  <cp:revision>204</cp:revision>
  <cp:lastPrinted>2004-07-19T02:09:00Z</cp:lastPrinted>
  <dcterms:created xsi:type="dcterms:W3CDTF">2004-07-19T03:56:00Z</dcterms:created>
  <dcterms:modified xsi:type="dcterms:W3CDTF">2023-11-15T14:27:04Z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443B5D9564B841F6BA0B53ABCA1265A3</vt:lpwstr>
  </property>
  <property fmtid="{D5CDD505-2E9C-101B-9397-08002B2CF9AE}" pid="3" name="KSOProductBuildVer">
    <vt:lpwstr>2052-12.1.0.15712</vt:lpwstr>
  </property>
</Properties>
</file>