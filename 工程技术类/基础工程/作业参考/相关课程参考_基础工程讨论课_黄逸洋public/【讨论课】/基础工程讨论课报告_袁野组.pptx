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diagrams/data10.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0"/>
  </p:notesMasterIdLst>
  <p:sldIdLst>
    <p:sldId id="267" r:id="rId2"/>
    <p:sldId id="256" r:id="rId3"/>
    <p:sldId id="257" r:id="rId4"/>
    <p:sldId id="273" r:id="rId5"/>
    <p:sldId id="259" r:id="rId6"/>
    <p:sldId id="270" r:id="rId7"/>
    <p:sldId id="285" r:id="rId8"/>
    <p:sldId id="286" r:id="rId9"/>
    <p:sldId id="287" r:id="rId10"/>
    <p:sldId id="260" r:id="rId11"/>
    <p:sldId id="288" r:id="rId12"/>
    <p:sldId id="289" r:id="rId13"/>
    <p:sldId id="290" r:id="rId14"/>
    <p:sldId id="291" r:id="rId15"/>
    <p:sldId id="292" r:id="rId16"/>
    <p:sldId id="293" r:id="rId17"/>
    <p:sldId id="298" r:id="rId18"/>
    <p:sldId id="29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4" r:id="rId33"/>
    <p:sldId id="335" r:id="rId34"/>
    <p:sldId id="336" r:id="rId35"/>
    <p:sldId id="337" r:id="rId36"/>
    <p:sldId id="338" r:id="rId37"/>
    <p:sldId id="263" r:id="rId38"/>
    <p:sldId id="333" r:id="rId39"/>
  </p:sldIdLst>
  <p:sldSz cx="9144000" cy="6859588"/>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FF66"/>
    <a:srgbClr val="A61A40"/>
    <a:srgbClr val="2C90F4"/>
    <a:srgbClr val="00A324"/>
    <a:srgbClr val="D1FF7D"/>
    <a:srgbClr val="008519"/>
    <a:srgbClr val="5CA518"/>
    <a:srgbClr val="6AAA46"/>
    <a:srgbClr val="BF1B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57" autoAdjust="0"/>
    <p:restoredTop sz="82256" autoAdjust="0"/>
  </p:normalViewPr>
  <p:slideViewPr>
    <p:cSldViewPr showGuides="1">
      <p:cViewPr varScale="1">
        <p:scale>
          <a:sx n="54" d="100"/>
          <a:sy n="54" d="100"/>
        </p:scale>
        <p:origin x="-1764" y="-90"/>
      </p:cViewPr>
      <p:guideLst>
        <p:guide orient="horz" pos="2161"/>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iagrams/_rels/data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9C52BA-EC7F-4EC2-9E4C-ECEB9DF767E1}" type="doc">
      <dgm:prSet loTypeId="urn:microsoft.com/office/officeart/2005/8/layout/hierarchy3" loCatId="relationship" qsTypeId="urn:microsoft.com/office/officeart/2005/8/quickstyle/simple5" qsCatId="simple" csTypeId="urn:microsoft.com/office/officeart/2005/8/colors/accent1_2" csCatId="accent1" phldr="1"/>
      <dgm:spPr/>
      <dgm:t>
        <a:bodyPr/>
        <a:lstStyle/>
        <a:p>
          <a:endParaRPr lang="zh-CN" altLang="en-US"/>
        </a:p>
      </dgm:t>
    </dgm:pt>
    <dgm:pt modelId="{4D7D6BFC-97FA-427A-8534-A8710A07D5EE}">
      <dgm:prSet phldrT="[文本]" custT="1">
        <dgm:style>
          <a:lnRef idx="1">
            <a:schemeClr val="dk1"/>
          </a:lnRef>
          <a:fillRef idx="2">
            <a:schemeClr val="dk1"/>
          </a:fillRef>
          <a:effectRef idx="1">
            <a:schemeClr val="dk1"/>
          </a:effectRef>
          <a:fontRef idx="minor">
            <a:schemeClr val="dk1"/>
          </a:fontRef>
        </dgm:style>
      </dgm:prSet>
      <dgm:spPr/>
      <dgm:t>
        <a:bodyPr/>
        <a:lstStyle/>
        <a:p>
          <a:r>
            <a:rPr lang="zh-CN" altLang="en-US" sz="2400" b="1" dirty="0" smtClean="0"/>
            <a:t>理论上的可行性</a:t>
          </a:r>
          <a:endParaRPr lang="zh-CN" altLang="en-US" sz="2400" b="1" dirty="0"/>
        </a:p>
      </dgm:t>
    </dgm:pt>
    <dgm:pt modelId="{BFA59165-DED9-49EF-A1D1-2999668DAFCD}" type="parTrans" cxnId="{E9E9F27C-B2CD-4B1F-A318-A5D24D8F52F5}">
      <dgm:prSet/>
      <dgm:spPr/>
      <dgm:t>
        <a:bodyPr/>
        <a:lstStyle/>
        <a:p>
          <a:endParaRPr lang="zh-CN" altLang="en-US"/>
        </a:p>
      </dgm:t>
    </dgm:pt>
    <dgm:pt modelId="{09C5FBEB-47B0-40FE-8ABB-037C18AA8F87}" type="sibTrans" cxnId="{E9E9F27C-B2CD-4B1F-A318-A5D24D8F52F5}">
      <dgm:prSet/>
      <dgm:spPr/>
      <dgm:t>
        <a:bodyPr/>
        <a:lstStyle/>
        <a:p>
          <a:endParaRPr lang="zh-CN" altLang="en-US"/>
        </a:p>
      </dgm:t>
    </dgm:pt>
    <dgm:pt modelId="{E96C5BAF-1141-4353-A626-0E61C9C9337E}">
      <dgm:prSet phldrT="[文本]">
        <dgm:style>
          <a:lnRef idx="1">
            <a:schemeClr val="dk1"/>
          </a:lnRef>
          <a:fillRef idx="2">
            <a:schemeClr val="dk1"/>
          </a:fillRef>
          <a:effectRef idx="1">
            <a:schemeClr val="dk1"/>
          </a:effectRef>
          <a:fontRef idx="minor">
            <a:schemeClr val="dk1"/>
          </a:fontRef>
        </dgm:style>
      </dgm:prSet>
      <dgm:spPr/>
      <dgm:t>
        <a:bodyPr/>
        <a:lstStyle/>
        <a:p>
          <a:r>
            <a:rPr lang="zh-CN" altLang="en-US" b="1" dirty="0" smtClean="0">
              <a:effectLst>
                <a:outerShdw blurRad="38100" dist="38100" dir="2700000" algn="tl">
                  <a:srgbClr val="000000">
                    <a:alpha val="43137"/>
                  </a:srgbClr>
                </a:outerShdw>
              </a:effectLst>
            </a:rPr>
            <a:t>围压</a:t>
          </a:r>
          <a:r>
            <a:rPr lang="zh-CN" altLang="en-US" dirty="0" smtClean="0">
              <a:latin typeface="楷体" panose="02010609060101010101" pitchFamily="49" charset="-122"/>
              <a:ea typeface="楷体" panose="02010609060101010101" pitchFamily="49" charset="-122"/>
            </a:rPr>
            <a:t>对承载力的提高有重要影响，地基在侧限条件下的受压，随着埋深的增加，围压增大，地基承载力会提高</a:t>
          </a:r>
          <a:r>
            <a:rPr lang="zh-CN" altLang="en-US" dirty="0" smtClean="0"/>
            <a:t>。</a:t>
          </a:r>
          <a:endParaRPr lang="zh-CN" altLang="en-US" dirty="0"/>
        </a:p>
      </dgm:t>
    </dgm:pt>
    <dgm:pt modelId="{621E1719-85B6-4B75-8A94-FA34C6CE2F25}" type="parTrans" cxnId="{C68E788A-D38C-411E-95EC-6B2CB9A451C6}">
      <dgm:prSet/>
      <dgm:spPr/>
      <dgm:t>
        <a:bodyPr/>
        <a:lstStyle/>
        <a:p>
          <a:endParaRPr lang="zh-CN" altLang="en-US"/>
        </a:p>
      </dgm:t>
    </dgm:pt>
    <dgm:pt modelId="{60474CC2-EAAF-4875-A53E-34530A8E3C2C}" type="sibTrans" cxnId="{C68E788A-D38C-411E-95EC-6B2CB9A451C6}">
      <dgm:prSet/>
      <dgm:spPr/>
      <dgm:t>
        <a:bodyPr/>
        <a:lstStyle/>
        <a:p>
          <a:endParaRPr lang="zh-CN" altLang="en-US"/>
        </a:p>
      </dgm:t>
    </dgm:pt>
    <dgm:pt modelId="{632A2E45-B19F-4B7B-A9CB-BDDCA6D77217}">
      <dgm:prSet phldrT="[文本]">
        <dgm:style>
          <a:lnRef idx="1">
            <a:schemeClr val="dk1"/>
          </a:lnRef>
          <a:fillRef idx="2">
            <a:schemeClr val="dk1"/>
          </a:fillRef>
          <a:effectRef idx="1">
            <a:schemeClr val="dk1"/>
          </a:effectRef>
          <a:fontRef idx="minor">
            <a:schemeClr val="dk1"/>
          </a:fontRef>
        </dgm:style>
      </dgm:prSet>
      <dgm:spPr/>
      <dgm:t>
        <a:bodyPr/>
        <a:lstStyle/>
        <a:p>
          <a:r>
            <a:rPr lang="zh-CN" altLang="en-US" b="1" dirty="0" smtClean="0">
              <a:effectLst>
                <a:outerShdw blurRad="38100" dist="38100" dir="2700000" algn="tl">
                  <a:srgbClr val="000000">
                    <a:alpha val="43137"/>
                  </a:srgbClr>
                </a:outerShdw>
              </a:effectLst>
            </a:rPr>
            <a:t>承载力要求较高</a:t>
          </a:r>
          <a:r>
            <a:rPr lang="zh-CN" altLang="en-US" dirty="0" smtClean="0">
              <a:latin typeface="楷体" panose="02010609060101010101" pitchFamily="49" charset="-122"/>
              <a:ea typeface="楷体" panose="02010609060101010101" pitchFamily="49" charset="-122"/>
            </a:rPr>
            <a:t>的构筑物，不进行深度修正偏于</a:t>
          </a:r>
          <a:r>
            <a:rPr lang="zh-CN" altLang="en-US" b="1" dirty="0" smtClean="0">
              <a:effectLst>
                <a:outerShdw blurRad="38100" dist="38100" dir="2700000" algn="tl">
                  <a:srgbClr val="000000">
                    <a:alpha val="43137"/>
                  </a:srgbClr>
                </a:outerShdw>
              </a:effectLst>
            </a:rPr>
            <a:t>过分保守</a:t>
          </a:r>
          <a:r>
            <a:rPr lang="zh-CN" altLang="en-US" dirty="0" smtClean="0">
              <a:latin typeface="楷体" panose="02010609060101010101" pitchFamily="49" charset="-122"/>
              <a:ea typeface="楷体" panose="02010609060101010101" pitchFamily="49" charset="-122"/>
            </a:rPr>
            <a:t>。且极破碎岩等情况不修正很难处理。</a:t>
          </a:r>
          <a:endParaRPr lang="zh-CN" altLang="en-US" dirty="0">
            <a:latin typeface="楷体" panose="02010609060101010101" pitchFamily="49" charset="-122"/>
            <a:ea typeface="楷体" panose="02010609060101010101" pitchFamily="49" charset="-122"/>
          </a:endParaRPr>
        </a:p>
      </dgm:t>
    </dgm:pt>
    <dgm:pt modelId="{B5B9D9C5-2DB9-463F-9ACA-12091CA5E1E3}" type="parTrans" cxnId="{FA453BE2-72D3-46D9-BF9B-7D9005DAAFCC}">
      <dgm:prSet/>
      <dgm:spPr/>
      <dgm:t>
        <a:bodyPr/>
        <a:lstStyle/>
        <a:p>
          <a:endParaRPr lang="zh-CN" altLang="en-US"/>
        </a:p>
      </dgm:t>
    </dgm:pt>
    <dgm:pt modelId="{97281A4E-861A-484A-8A31-FA347A9DCC50}" type="sibTrans" cxnId="{FA453BE2-72D3-46D9-BF9B-7D9005DAAFCC}">
      <dgm:prSet/>
      <dgm:spPr/>
      <dgm:t>
        <a:bodyPr/>
        <a:lstStyle/>
        <a:p>
          <a:endParaRPr lang="zh-CN" altLang="en-US"/>
        </a:p>
      </dgm:t>
    </dgm:pt>
    <dgm:pt modelId="{B51297DD-524E-4160-A170-407E4681495E}">
      <dgm:prSet phldrT="[文本]" custT="1">
        <dgm:style>
          <a:lnRef idx="1">
            <a:schemeClr val="accent6"/>
          </a:lnRef>
          <a:fillRef idx="2">
            <a:schemeClr val="accent6"/>
          </a:fillRef>
          <a:effectRef idx="1">
            <a:schemeClr val="accent6"/>
          </a:effectRef>
          <a:fontRef idx="minor">
            <a:schemeClr val="dk1"/>
          </a:fontRef>
        </dgm:style>
      </dgm:prSet>
      <dgm:spPr>
        <a:solidFill>
          <a:srgbClr val="FFFF66"/>
        </a:solidFill>
      </dgm:spPr>
      <dgm:t>
        <a:bodyPr/>
        <a:lstStyle/>
        <a:p>
          <a:r>
            <a:rPr lang="zh-CN" altLang="en-US" sz="2400" b="1" dirty="0" smtClean="0"/>
            <a:t>多数规范不修正</a:t>
          </a:r>
          <a:endParaRPr lang="zh-CN" altLang="en-US" sz="2400" b="1" dirty="0"/>
        </a:p>
      </dgm:t>
    </dgm:pt>
    <dgm:pt modelId="{1F635A2E-90C6-4307-AC8E-1C7B72010D5D}" type="parTrans" cxnId="{2CAE808D-1A77-4A5D-96A8-E5285060C6D1}">
      <dgm:prSet/>
      <dgm:spPr/>
      <dgm:t>
        <a:bodyPr/>
        <a:lstStyle/>
        <a:p>
          <a:endParaRPr lang="zh-CN" altLang="en-US"/>
        </a:p>
      </dgm:t>
    </dgm:pt>
    <dgm:pt modelId="{D1B8677F-83B9-433E-BF32-61A93A0BBA0A}" type="sibTrans" cxnId="{2CAE808D-1A77-4A5D-96A8-E5285060C6D1}">
      <dgm:prSet/>
      <dgm:spPr/>
      <dgm:t>
        <a:bodyPr/>
        <a:lstStyle/>
        <a:p>
          <a:endParaRPr lang="zh-CN" altLang="en-US"/>
        </a:p>
      </dgm:t>
    </dgm:pt>
    <dgm:pt modelId="{2EBD0743-FEF6-4E4A-867D-414D2E477D64}">
      <dgm:prSet phldrT="[文本]">
        <dgm:style>
          <a:lnRef idx="1">
            <a:schemeClr val="accent6"/>
          </a:lnRef>
          <a:fillRef idx="2">
            <a:schemeClr val="accent6"/>
          </a:fillRef>
          <a:effectRef idx="1">
            <a:schemeClr val="accent6"/>
          </a:effectRef>
          <a:fontRef idx="minor">
            <a:schemeClr val="dk1"/>
          </a:fontRef>
        </dgm:style>
      </dgm:prSet>
      <dgm:spPr>
        <a:solidFill>
          <a:srgbClr val="FFFF66"/>
        </a:solidFill>
      </dgm:spPr>
      <dgm:t>
        <a:bodyPr/>
        <a:lstStyle/>
        <a:p>
          <a:r>
            <a:rPr lang="zh-CN" altLang="en-US" dirty="0" smtClean="0">
              <a:latin typeface="楷体" panose="02010609060101010101" pitchFamily="49" charset="-122"/>
              <a:ea typeface="楷体" panose="02010609060101010101" pitchFamily="49" charset="-122"/>
            </a:rPr>
            <a:t>岩石地基承载力</a:t>
          </a:r>
          <a:r>
            <a:rPr lang="zh-CN" altLang="en-US" b="1" dirty="0" smtClean="0">
              <a:effectLst>
                <a:outerShdw blurRad="38100" dist="38100" dir="2700000" algn="tl">
                  <a:srgbClr val="000000">
                    <a:alpha val="43137"/>
                  </a:srgbClr>
                </a:outerShdw>
              </a:effectLst>
            </a:rPr>
            <a:t>历来</a:t>
          </a:r>
          <a:r>
            <a:rPr lang="zh-CN" altLang="en-US" dirty="0" smtClean="0">
              <a:latin typeface="楷体" panose="02010609060101010101" pitchFamily="49" charset="-122"/>
              <a:ea typeface="楷体" panose="02010609060101010101" pitchFamily="49" charset="-122"/>
            </a:rPr>
            <a:t>不进行深宽修正，在思想上已形成定式；</a:t>
          </a:r>
          <a:endParaRPr lang="zh-CN" altLang="en-US" dirty="0">
            <a:latin typeface="楷体" panose="02010609060101010101" pitchFamily="49" charset="-122"/>
            <a:ea typeface="楷体" panose="02010609060101010101" pitchFamily="49" charset="-122"/>
          </a:endParaRPr>
        </a:p>
      </dgm:t>
    </dgm:pt>
    <dgm:pt modelId="{12A47E32-2CA5-47F4-B3A4-FE1153EC9AD1}" type="parTrans" cxnId="{A13B513F-EF11-46E2-8098-870EB3AC06A3}">
      <dgm:prSet/>
      <dgm:spPr/>
      <dgm:t>
        <a:bodyPr/>
        <a:lstStyle/>
        <a:p>
          <a:endParaRPr lang="zh-CN" altLang="en-US"/>
        </a:p>
      </dgm:t>
    </dgm:pt>
    <dgm:pt modelId="{7428C2C1-9576-4825-AB40-DC4D8336CE26}" type="sibTrans" cxnId="{A13B513F-EF11-46E2-8098-870EB3AC06A3}">
      <dgm:prSet/>
      <dgm:spPr/>
      <dgm:t>
        <a:bodyPr/>
        <a:lstStyle/>
        <a:p>
          <a:endParaRPr lang="zh-CN" altLang="en-US"/>
        </a:p>
      </dgm:t>
    </dgm:pt>
    <dgm:pt modelId="{C000C4DE-AE31-4A90-8D8C-430C8943B53D}">
      <dgm:prSet phldrT="[文本]">
        <dgm:style>
          <a:lnRef idx="1">
            <a:schemeClr val="accent6"/>
          </a:lnRef>
          <a:fillRef idx="2">
            <a:schemeClr val="accent6"/>
          </a:fillRef>
          <a:effectRef idx="1">
            <a:schemeClr val="accent6"/>
          </a:effectRef>
          <a:fontRef idx="minor">
            <a:schemeClr val="dk1"/>
          </a:fontRef>
        </dgm:style>
      </dgm:prSet>
      <dgm:spPr>
        <a:solidFill>
          <a:srgbClr val="FFFF66"/>
        </a:solidFill>
      </dgm:spPr>
      <dgm:t>
        <a:bodyPr/>
        <a:lstStyle/>
        <a:p>
          <a:r>
            <a:rPr lang="zh-CN" altLang="en-US" b="1" dirty="0" smtClean="0">
              <a:effectLst>
                <a:outerShdw blurRad="38100" dist="38100" dir="2700000" algn="tl">
                  <a:srgbClr val="000000">
                    <a:alpha val="43137"/>
                  </a:srgbClr>
                </a:outerShdw>
              </a:effectLst>
            </a:rPr>
            <a:t>岩石地基承载力较高</a:t>
          </a:r>
          <a:r>
            <a:rPr lang="zh-CN" altLang="en-US" dirty="0" smtClean="0"/>
            <a:t>，</a:t>
          </a:r>
          <a:r>
            <a:rPr lang="zh-CN" altLang="en-US" dirty="0" smtClean="0">
              <a:latin typeface="楷体" panose="02010609060101010101" pitchFamily="49" charset="-122"/>
              <a:ea typeface="楷体" panose="02010609060101010101" pitchFamily="49" charset="-122"/>
            </a:rPr>
            <a:t>一般工程可以满足要求，不必挖掘这个潜力，因而较少下功夫从事这方面的研究。</a:t>
          </a:r>
          <a:endParaRPr lang="zh-CN" altLang="en-US" dirty="0">
            <a:latin typeface="楷体" panose="02010609060101010101" pitchFamily="49" charset="-122"/>
            <a:ea typeface="楷体" panose="02010609060101010101" pitchFamily="49" charset="-122"/>
          </a:endParaRPr>
        </a:p>
      </dgm:t>
    </dgm:pt>
    <dgm:pt modelId="{B9AAEEDF-B294-4902-8975-291BCEDAC30A}" type="parTrans" cxnId="{CD64B75F-BADF-45FD-A065-55CBB9A4A9DF}">
      <dgm:prSet/>
      <dgm:spPr/>
      <dgm:t>
        <a:bodyPr/>
        <a:lstStyle/>
        <a:p>
          <a:endParaRPr lang="zh-CN" altLang="en-US"/>
        </a:p>
      </dgm:t>
    </dgm:pt>
    <dgm:pt modelId="{B7C61784-5AC9-475D-9EF7-9AA433BD7414}" type="sibTrans" cxnId="{CD64B75F-BADF-45FD-A065-55CBB9A4A9DF}">
      <dgm:prSet/>
      <dgm:spPr/>
      <dgm:t>
        <a:bodyPr/>
        <a:lstStyle/>
        <a:p>
          <a:endParaRPr lang="zh-CN" altLang="en-US"/>
        </a:p>
      </dgm:t>
    </dgm:pt>
    <dgm:pt modelId="{CEB25A3F-FB8B-47DD-BC97-E406059BA33A}" type="pres">
      <dgm:prSet presAssocID="{CE9C52BA-EC7F-4EC2-9E4C-ECEB9DF767E1}" presName="diagram" presStyleCnt="0">
        <dgm:presLayoutVars>
          <dgm:chPref val="1"/>
          <dgm:dir/>
          <dgm:animOne val="branch"/>
          <dgm:animLvl val="lvl"/>
          <dgm:resizeHandles/>
        </dgm:presLayoutVars>
      </dgm:prSet>
      <dgm:spPr/>
      <dgm:t>
        <a:bodyPr/>
        <a:lstStyle/>
        <a:p>
          <a:endParaRPr lang="zh-CN" altLang="en-US"/>
        </a:p>
      </dgm:t>
    </dgm:pt>
    <dgm:pt modelId="{835F47AC-AF9E-4A6F-8218-186883E20A40}" type="pres">
      <dgm:prSet presAssocID="{4D7D6BFC-97FA-427A-8534-A8710A07D5EE}" presName="root" presStyleCnt="0"/>
      <dgm:spPr/>
    </dgm:pt>
    <dgm:pt modelId="{635E7CEA-58C5-42DC-8B7A-BFEE68BA0EFE}" type="pres">
      <dgm:prSet presAssocID="{4D7D6BFC-97FA-427A-8534-A8710A07D5EE}" presName="rootComposite" presStyleCnt="0"/>
      <dgm:spPr/>
    </dgm:pt>
    <dgm:pt modelId="{DE7CB3FA-E427-45F3-9DB9-139A809B5FD8}" type="pres">
      <dgm:prSet presAssocID="{4D7D6BFC-97FA-427A-8534-A8710A07D5EE}" presName="rootText" presStyleLbl="node1" presStyleIdx="0" presStyleCnt="2" custScaleY="32490" custLinFactNeighborY="2074"/>
      <dgm:spPr/>
      <dgm:t>
        <a:bodyPr/>
        <a:lstStyle/>
        <a:p>
          <a:endParaRPr lang="zh-CN" altLang="en-US"/>
        </a:p>
      </dgm:t>
    </dgm:pt>
    <dgm:pt modelId="{AB8E4CDE-D898-4D0B-B87C-209800E40A62}" type="pres">
      <dgm:prSet presAssocID="{4D7D6BFC-97FA-427A-8534-A8710A07D5EE}" presName="rootConnector" presStyleLbl="node1" presStyleIdx="0" presStyleCnt="2"/>
      <dgm:spPr/>
      <dgm:t>
        <a:bodyPr/>
        <a:lstStyle/>
        <a:p>
          <a:endParaRPr lang="zh-CN" altLang="en-US"/>
        </a:p>
      </dgm:t>
    </dgm:pt>
    <dgm:pt modelId="{7340869C-EA57-418E-A5FA-A33DF82B0BDA}" type="pres">
      <dgm:prSet presAssocID="{4D7D6BFC-97FA-427A-8534-A8710A07D5EE}" presName="childShape" presStyleCnt="0"/>
      <dgm:spPr/>
    </dgm:pt>
    <dgm:pt modelId="{9C70E572-BB60-4794-AB3A-83093E6110F8}" type="pres">
      <dgm:prSet presAssocID="{621E1719-85B6-4B75-8A94-FA34C6CE2F25}" presName="Name13" presStyleLbl="parChTrans1D2" presStyleIdx="0" presStyleCnt="4"/>
      <dgm:spPr/>
      <dgm:t>
        <a:bodyPr/>
        <a:lstStyle/>
        <a:p>
          <a:endParaRPr lang="zh-CN" altLang="en-US"/>
        </a:p>
      </dgm:t>
    </dgm:pt>
    <dgm:pt modelId="{02E9B5C7-55BF-439A-97F5-2B42C32833E1}" type="pres">
      <dgm:prSet presAssocID="{E96C5BAF-1141-4353-A626-0E61C9C9337E}" presName="childText" presStyleLbl="bgAcc1" presStyleIdx="0" presStyleCnt="4" custScaleX="120812">
        <dgm:presLayoutVars>
          <dgm:bulletEnabled val="1"/>
        </dgm:presLayoutVars>
      </dgm:prSet>
      <dgm:spPr/>
      <dgm:t>
        <a:bodyPr/>
        <a:lstStyle/>
        <a:p>
          <a:endParaRPr lang="zh-CN" altLang="en-US"/>
        </a:p>
      </dgm:t>
    </dgm:pt>
    <dgm:pt modelId="{796058A4-8B25-4003-BF1B-C5D7D159CC31}" type="pres">
      <dgm:prSet presAssocID="{B5B9D9C5-2DB9-463F-9ACA-12091CA5E1E3}" presName="Name13" presStyleLbl="parChTrans1D2" presStyleIdx="1" presStyleCnt="4"/>
      <dgm:spPr/>
      <dgm:t>
        <a:bodyPr/>
        <a:lstStyle/>
        <a:p>
          <a:endParaRPr lang="zh-CN" altLang="en-US"/>
        </a:p>
      </dgm:t>
    </dgm:pt>
    <dgm:pt modelId="{744BFE14-9A9D-4748-BF94-93AB4612A1FE}" type="pres">
      <dgm:prSet presAssocID="{632A2E45-B19F-4B7B-A9CB-BDDCA6D77217}" presName="childText" presStyleLbl="bgAcc1" presStyleIdx="1" presStyleCnt="4" custScaleX="120812">
        <dgm:presLayoutVars>
          <dgm:bulletEnabled val="1"/>
        </dgm:presLayoutVars>
      </dgm:prSet>
      <dgm:spPr/>
      <dgm:t>
        <a:bodyPr/>
        <a:lstStyle/>
        <a:p>
          <a:endParaRPr lang="zh-CN" altLang="en-US"/>
        </a:p>
      </dgm:t>
    </dgm:pt>
    <dgm:pt modelId="{F67B8D6C-B932-4583-A3BB-BCB6EE3BEF42}" type="pres">
      <dgm:prSet presAssocID="{B51297DD-524E-4160-A170-407E4681495E}" presName="root" presStyleCnt="0"/>
      <dgm:spPr/>
    </dgm:pt>
    <dgm:pt modelId="{AFAE639A-5BBF-4273-BF0D-63B7A18FE13A}" type="pres">
      <dgm:prSet presAssocID="{B51297DD-524E-4160-A170-407E4681495E}" presName="rootComposite" presStyleCnt="0"/>
      <dgm:spPr/>
    </dgm:pt>
    <dgm:pt modelId="{5B92D524-9F1F-49F7-B010-E3A913EF3275}" type="pres">
      <dgm:prSet presAssocID="{B51297DD-524E-4160-A170-407E4681495E}" presName="rootText" presStyleLbl="node1" presStyleIdx="1" presStyleCnt="2" custScaleY="32490" custLinFactNeighborY="2074"/>
      <dgm:spPr/>
      <dgm:t>
        <a:bodyPr/>
        <a:lstStyle/>
        <a:p>
          <a:endParaRPr lang="zh-CN" altLang="en-US"/>
        </a:p>
      </dgm:t>
    </dgm:pt>
    <dgm:pt modelId="{7307DF32-1599-42C9-BC94-338F5F815B7E}" type="pres">
      <dgm:prSet presAssocID="{B51297DD-524E-4160-A170-407E4681495E}" presName="rootConnector" presStyleLbl="node1" presStyleIdx="1" presStyleCnt="2"/>
      <dgm:spPr/>
      <dgm:t>
        <a:bodyPr/>
        <a:lstStyle/>
        <a:p>
          <a:endParaRPr lang="zh-CN" altLang="en-US"/>
        </a:p>
      </dgm:t>
    </dgm:pt>
    <dgm:pt modelId="{13CF0466-CF3F-4BFA-A982-53D236BEB24B}" type="pres">
      <dgm:prSet presAssocID="{B51297DD-524E-4160-A170-407E4681495E}" presName="childShape" presStyleCnt="0"/>
      <dgm:spPr/>
    </dgm:pt>
    <dgm:pt modelId="{E642FF11-4FDC-4E56-8FA3-5155D8F5EE87}" type="pres">
      <dgm:prSet presAssocID="{12A47E32-2CA5-47F4-B3A4-FE1153EC9AD1}" presName="Name13" presStyleLbl="parChTrans1D2" presStyleIdx="2" presStyleCnt="4"/>
      <dgm:spPr/>
      <dgm:t>
        <a:bodyPr/>
        <a:lstStyle/>
        <a:p>
          <a:endParaRPr lang="zh-CN" altLang="en-US"/>
        </a:p>
      </dgm:t>
    </dgm:pt>
    <dgm:pt modelId="{26D8EF4C-9F0B-439A-859B-5B720473C8E5}" type="pres">
      <dgm:prSet presAssocID="{2EBD0743-FEF6-4E4A-867D-414D2E477D64}" presName="childText" presStyleLbl="bgAcc1" presStyleIdx="2" presStyleCnt="4" custScaleX="120812">
        <dgm:presLayoutVars>
          <dgm:bulletEnabled val="1"/>
        </dgm:presLayoutVars>
      </dgm:prSet>
      <dgm:spPr/>
      <dgm:t>
        <a:bodyPr/>
        <a:lstStyle/>
        <a:p>
          <a:endParaRPr lang="zh-CN" altLang="en-US"/>
        </a:p>
      </dgm:t>
    </dgm:pt>
    <dgm:pt modelId="{6F1BA977-C215-4F22-A204-8F7DA20932B2}" type="pres">
      <dgm:prSet presAssocID="{B9AAEEDF-B294-4902-8975-291BCEDAC30A}" presName="Name13" presStyleLbl="parChTrans1D2" presStyleIdx="3" presStyleCnt="4"/>
      <dgm:spPr/>
      <dgm:t>
        <a:bodyPr/>
        <a:lstStyle/>
        <a:p>
          <a:endParaRPr lang="zh-CN" altLang="en-US"/>
        </a:p>
      </dgm:t>
    </dgm:pt>
    <dgm:pt modelId="{E4130C5B-ACC1-4E54-B7FA-94211A172F27}" type="pres">
      <dgm:prSet presAssocID="{C000C4DE-AE31-4A90-8D8C-430C8943B53D}" presName="childText" presStyleLbl="bgAcc1" presStyleIdx="3" presStyleCnt="4" custScaleX="120812">
        <dgm:presLayoutVars>
          <dgm:bulletEnabled val="1"/>
        </dgm:presLayoutVars>
      </dgm:prSet>
      <dgm:spPr/>
      <dgm:t>
        <a:bodyPr/>
        <a:lstStyle/>
        <a:p>
          <a:endParaRPr lang="zh-CN" altLang="en-US"/>
        </a:p>
      </dgm:t>
    </dgm:pt>
  </dgm:ptLst>
  <dgm:cxnLst>
    <dgm:cxn modelId="{C68E788A-D38C-411E-95EC-6B2CB9A451C6}" srcId="{4D7D6BFC-97FA-427A-8534-A8710A07D5EE}" destId="{E96C5BAF-1141-4353-A626-0E61C9C9337E}" srcOrd="0" destOrd="0" parTransId="{621E1719-85B6-4B75-8A94-FA34C6CE2F25}" sibTransId="{60474CC2-EAAF-4875-A53E-34530A8E3C2C}"/>
    <dgm:cxn modelId="{E1C2758C-0B1E-4983-86D6-F16ECFE31215}" type="presOf" srcId="{621E1719-85B6-4B75-8A94-FA34C6CE2F25}" destId="{9C70E572-BB60-4794-AB3A-83093E6110F8}" srcOrd="0" destOrd="0" presId="urn:microsoft.com/office/officeart/2005/8/layout/hierarchy3"/>
    <dgm:cxn modelId="{76AFE6EA-4376-43FD-8B6B-D8BC7A33A779}" type="presOf" srcId="{4D7D6BFC-97FA-427A-8534-A8710A07D5EE}" destId="{DE7CB3FA-E427-45F3-9DB9-139A809B5FD8}" srcOrd="0" destOrd="0" presId="urn:microsoft.com/office/officeart/2005/8/layout/hierarchy3"/>
    <dgm:cxn modelId="{BA792CC4-498B-40F7-8B72-E22906BF3120}" type="presOf" srcId="{2EBD0743-FEF6-4E4A-867D-414D2E477D64}" destId="{26D8EF4C-9F0B-439A-859B-5B720473C8E5}" srcOrd="0" destOrd="0" presId="urn:microsoft.com/office/officeart/2005/8/layout/hierarchy3"/>
    <dgm:cxn modelId="{E3199960-2980-4521-9D8F-23371F55D215}" type="presOf" srcId="{B51297DD-524E-4160-A170-407E4681495E}" destId="{5B92D524-9F1F-49F7-B010-E3A913EF3275}" srcOrd="0" destOrd="0" presId="urn:microsoft.com/office/officeart/2005/8/layout/hierarchy3"/>
    <dgm:cxn modelId="{A13B513F-EF11-46E2-8098-870EB3AC06A3}" srcId="{B51297DD-524E-4160-A170-407E4681495E}" destId="{2EBD0743-FEF6-4E4A-867D-414D2E477D64}" srcOrd="0" destOrd="0" parTransId="{12A47E32-2CA5-47F4-B3A4-FE1153EC9AD1}" sibTransId="{7428C2C1-9576-4825-AB40-DC4D8336CE26}"/>
    <dgm:cxn modelId="{A7D24EBD-9D2A-4220-BB54-E760F8D21BDB}" type="presOf" srcId="{CE9C52BA-EC7F-4EC2-9E4C-ECEB9DF767E1}" destId="{CEB25A3F-FB8B-47DD-BC97-E406059BA33A}" srcOrd="0" destOrd="0" presId="urn:microsoft.com/office/officeart/2005/8/layout/hierarchy3"/>
    <dgm:cxn modelId="{2CAE808D-1A77-4A5D-96A8-E5285060C6D1}" srcId="{CE9C52BA-EC7F-4EC2-9E4C-ECEB9DF767E1}" destId="{B51297DD-524E-4160-A170-407E4681495E}" srcOrd="1" destOrd="0" parTransId="{1F635A2E-90C6-4307-AC8E-1C7B72010D5D}" sibTransId="{D1B8677F-83B9-433E-BF32-61A93A0BBA0A}"/>
    <dgm:cxn modelId="{83C1C932-16AA-40BC-A21A-C5646BF8AC7F}" type="presOf" srcId="{632A2E45-B19F-4B7B-A9CB-BDDCA6D77217}" destId="{744BFE14-9A9D-4748-BF94-93AB4612A1FE}" srcOrd="0" destOrd="0" presId="urn:microsoft.com/office/officeart/2005/8/layout/hierarchy3"/>
    <dgm:cxn modelId="{FA453BE2-72D3-46D9-BF9B-7D9005DAAFCC}" srcId="{4D7D6BFC-97FA-427A-8534-A8710A07D5EE}" destId="{632A2E45-B19F-4B7B-A9CB-BDDCA6D77217}" srcOrd="1" destOrd="0" parTransId="{B5B9D9C5-2DB9-463F-9ACA-12091CA5E1E3}" sibTransId="{97281A4E-861A-484A-8A31-FA347A9DCC50}"/>
    <dgm:cxn modelId="{8FC4F58A-63E3-488B-9083-EE6C75D5AB28}" type="presOf" srcId="{E96C5BAF-1141-4353-A626-0E61C9C9337E}" destId="{02E9B5C7-55BF-439A-97F5-2B42C32833E1}" srcOrd="0" destOrd="0" presId="urn:microsoft.com/office/officeart/2005/8/layout/hierarchy3"/>
    <dgm:cxn modelId="{719353CE-7887-4B10-9C93-529B2E7BD6CB}" type="presOf" srcId="{B51297DD-524E-4160-A170-407E4681495E}" destId="{7307DF32-1599-42C9-BC94-338F5F815B7E}" srcOrd="1" destOrd="0" presId="urn:microsoft.com/office/officeart/2005/8/layout/hierarchy3"/>
    <dgm:cxn modelId="{F3EC42D5-5CDF-4646-A9AE-1327674727BF}" type="presOf" srcId="{B9AAEEDF-B294-4902-8975-291BCEDAC30A}" destId="{6F1BA977-C215-4F22-A204-8F7DA20932B2}" srcOrd="0" destOrd="0" presId="urn:microsoft.com/office/officeart/2005/8/layout/hierarchy3"/>
    <dgm:cxn modelId="{37584C09-28FC-4A75-BDC8-7862B1AB0F84}" type="presOf" srcId="{4D7D6BFC-97FA-427A-8534-A8710A07D5EE}" destId="{AB8E4CDE-D898-4D0B-B87C-209800E40A62}" srcOrd="1" destOrd="0" presId="urn:microsoft.com/office/officeart/2005/8/layout/hierarchy3"/>
    <dgm:cxn modelId="{B0852781-EC24-4006-8249-68FB5A9036EC}" type="presOf" srcId="{C000C4DE-AE31-4A90-8D8C-430C8943B53D}" destId="{E4130C5B-ACC1-4E54-B7FA-94211A172F27}" srcOrd="0" destOrd="0" presId="urn:microsoft.com/office/officeart/2005/8/layout/hierarchy3"/>
    <dgm:cxn modelId="{6200BBCD-7D80-4934-A80D-49A37F279F76}" type="presOf" srcId="{12A47E32-2CA5-47F4-B3A4-FE1153EC9AD1}" destId="{E642FF11-4FDC-4E56-8FA3-5155D8F5EE87}" srcOrd="0" destOrd="0" presId="urn:microsoft.com/office/officeart/2005/8/layout/hierarchy3"/>
    <dgm:cxn modelId="{7300AB33-990F-401E-8890-0816BA8342E6}" type="presOf" srcId="{B5B9D9C5-2DB9-463F-9ACA-12091CA5E1E3}" destId="{796058A4-8B25-4003-BF1B-C5D7D159CC31}" srcOrd="0" destOrd="0" presId="urn:microsoft.com/office/officeart/2005/8/layout/hierarchy3"/>
    <dgm:cxn modelId="{CD64B75F-BADF-45FD-A065-55CBB9A4A9DF}" srcId="{B51297DD-524E-4160-A170-407E4681495E}" destId="{C000C4DE-AE31-4A90-8D8C-430C8943B53D}" srcOrd="1" destOrd="0" parTransId="{B9AAEEDF-B294-4902-8975-291BCEDAC30A}" sibTransId="{B7C61784-5AC9-475D-9EF7-9AA433BD7414}"/>
    <dgm:cxn modelId="{E9E9F27C-B2CD-4B1F-A318-A5D24D8F52F5}" srcId="{CE9C52BA-EC7F-4EC2-9E4C-ECEB9DF767E1}" destId="{4D7D6BFC-97FA-427A-8534-A8710A07D5EE}" srcOrd="0" destOrd="0" parTransId="{BFA59165-DED9-49EF-A1D1-2999668DAFCD}" sibTransId="{09C5FBEB-47B0-40FE-8ABB-037C18AA8F87}"/>
    <dgm:cxn modelId="{E2C3AC20-45E9-4ECA-86E7-E407B56DE383}" type="presParOf" srcId="{CEB25A3F-FB8B-47DD-BC97-E406059BA33A}" destId="{835F47AC-AF9E-4A6F-8218-186883E20A40}" srcOrd="0" destOrd="0" presId="urn:microsoft.com/office/officeart/2005/8/layout/hierarchy3"/>
    <dgm:cxn modelId="{71AAC44C-43B5-4535-8732-CE1EE9FF6294}" type="presParOf" srcId="{835F47AC-AF9E-4A6F-8218-186883E20A40}" destId="{635E7CEA-58C5-42DC-8B7A-BFEE68BA0EFE}" srcOrd="0" destOrd="0" presId="urn:microsoft.com/office/officeart/2005/8/layout/hierarchy3"/>
    <dgm:cxn modelId="{EB35316B-3B96-4546-9963-BEE2BC547419}" type="presParOf" srcId="{635E7CEA-58C5-42DC-8B7A-BFEE68BA0EFE}" destId="{DE7CB3FA-E427-45F3-9DB9-139A809B5FD8}" srcOrd="0" destOrd="0" presId="urn:microsoft.com/office/officeart/2005/8/layout/hierarchy3"/>
    <dgm:cxn modelId="{631EE3AF-E0F4-40B4-A3FB-0AD6BCD54D78}" type="presParOf" srcId="{635E7CEA-58C5-42DC-8B7A-BFEE68BA0EFE}" destId="{AB8E4CDE-D898-4D0B-B87C-209800E40A62}" srcOrd="1" destOrd="0" presId="urn:microsoft.com/office/officeart/2005/8/layout/hierarchy3"/>
    <dgm:cxn modelId="{5B3618EA-C41E-45AD-8D15-73AAE396DC31}" type="presParOf" srcId="{835F47AC-AF9E-4A6F-8218-186883E20A40}" destId="{7340869C-EA57-418E-A5FA-A33DF82B0BDA}" srcOrd="1" destOrd="0" presId="urn:microsoft.com/office/officeart/2005/8/layout/hierarchy3"/>
    <dgm:cxn modelId="{4C084A71-ADAC-45D1-AF9F-8C25E4DD6905}" type="presParOf" srcId="{7340869C-EA57-418E-A5FA-A33DF82B0BDA}" destId="{9C70E572-BB60-4794-AB3A-83093E6110F8}" srcOrd="0" destOrd="0" presId="urn:microsoft.com/office/officeart/2005/8/layout/hierarchy3"/>
    <dgm:cxn modelId="{BE126607-73F5-477C-ABA9-ECA06649E1A6}" type="presParOf" srcId="{7340869C-EA57-418E-A5FA-A33DF82B0BDA}" destId="{02E9B5C7-55BF-439A-97F5-2B42C32833E1}" srcOrd="1" destOrd="0" presId="urn:microsoft.com/office/officeart/2005/8/layout/hierarchy3"/>
    <dgm:cxn modelId="{F70DF2FB-F4D8-49BC-8AF7-6F3D15816F79}" type="presParOf" srcId="{7340869C-EA57-418E-A5FA-A33DF82B0BDA}" destId="{796058A4-8B25-4003-BF1B-C5D7D159CC31}" srcOrd="2" destOrd="0" presId="urn:microsoft.com/office/officeart/2005/8/layout/hierarchy3"/>
    <dgm:cxn modelId="{9AEC574F-0B76-497B-8EB9-8EC5302B22D8}" type="presParOf" srcId="{7340869C-EA57-418E-A5FA-A33DF82B0BDA}" destId="{744BFE14-9A9D-4748-BF94-93AB4612A1FE}" srcOrd="3" destOrd="0" presId="urn:microsoft.com/office/officeart/2005/8/layout/hierarchy3"/>
    <dgm:cxn modelId="{32FCC960-3046-405F-B798-D9CD05591485}" type="presParOf" srcId="{CEB25A3F-FB8B-47DD-BC97-E406059BA33A}" destId="{F67B8D6C-B932-4583-A3BB-BCB6EE3BEF42}" srcOrd="1" destOrd="0" presId="urn:microsoft.com/office/officeart/2005/8/layout/hierarchy3"/>
    <dgm:cxn modelId="{CA8F175A-1DB0-44AE-A495-F4FDA9E35DD5}" type="presParOf" srcId="{F67B8D6C-B932-4583-A3BB-BCB6EE3BEF42}" destId="{AFAE639A-5BBF-4273-BF0D-63B7A18FE13A}" srcOrd="0" destOrd="0" presId="urn:microsoft.com/office/officeart/2005/8/layout/hierarchy3"/>
    <dgm:cxn modelId="{1CB5DC3B-9319-4060-BA41-1E71A8C0792F}" type="presParOf" srcId="{AFAE639A-5BBF-4273-BF0D-63B7A18FE13A}" destId="{5B92D524-9F1F-49F7-B010-E3A913EF3275}" srcOrd="0" destOrd="0" presId="urn:microsoft.com/office/officeart/2005/8/layout/hierarchy3"/>
    <dgm:cxn modelId="{29389311-232A-4DEA-B8AF-A6574C9AF662}" type="presParOf" srcId="{AFAE639A-5BBF-4273-BF0D-63B7A18FE13A}" destId="{7307DF32-1599-42C9-BC94-338F5F815B7E}" srcOrd="1" destOrd="0" presId="urn:microsoft.com/office/officeart/2005/8/layout/hierarchy3"/>
    <dgm:cxn modelId="{0A874FE3-5FF3-49A2-A5B9-0BBF006EEE96}" type="presParOf" srcId="{F67B8D6C-B932-4583-A3BB-BCB6EE3BEF42}" destId="{13CF0466-CF3F-4BFA-A982-53D236BEB24B}" srcOrd="1" destOrd="0" presId="urn:microsoft.com/office/officeart/2005/8/layout/hierarchy3"/>
    <dgm:cxn modelId="{FD4AF8F7-EF9B-40E9-9F1B-E820BEB9328A}" type="presParOf" srcId="{13CF0466-CF3F-4BFA-A982-53D236BEB24B}" destId="{E642FF11-4FDC-4E56-8FA3-5155D8F5EE87}" srcOrd="0" destOrd="0" presId="urn:microsoft.com/office/officeart/2005/8/layout/hierarchy3"/>
    <dgm:cxn modelId="{2523C6E9-40AE-438B-8068-3FDF8E92DC1D}" type="presParOf" srcId="{13CF0466-CF3F-4BFA-A982-53D236BEB24B}" destId="{26D8EF4C-9F0B-439A-859B-5B720473C8E5}" srcOrd="1" destOrd="0" presId="urn:microsoft.com/office/officeart/2005/8/layout/hierarchy3"/>
    <dgm:cxn modelId="{2BA69D9C-E577-4864-A1F8-10667B00C8AF}" type="presParOf" srcId="{13CF0466-CF3F-4BFA-A982-53D236BEB24B}" destId="{6F1BA977-C215-4F22-A204-8F7DA20932B2}" srcOrd="2" destOrd="0" presId="urn:microsoft.com/office/officeart/2005/8/layout/hierarchy3"/>
    <dgm:cxn modelId="{5F42E4F6-773F-4B6E-99A8-EA270F6F3A1E}" type="presParOf" srcId="{13CF0466-CF3F-4BFA-A982-53D236BEB24B}" destId="{E4130C5B-ACC1-4E54-B7FA-94211A172F27}"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EC0363-2848-47B3-8DC6-84E01D9FFCAF}"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zh-CN" altLang="en-US"/>
        </a:p>
      </dgm:t>
    </dgm:pt>
    <dgm:pt modelId="{3ACD8D65-C0FE-496A-89FC-E8DF45413CD2}">
      <dgm:prSet phldrT="[文本]">
        <dgm:style>
          <a:lnRef idx="1">
            <a:schemeClr val="accent1"/>
          </a:lnRef>
          <a:fillRef idx="2">
            <a:schemeClr val="accent1"/>
          </a:fillRef>
          <a:effectRef idx="1">
            <a:schemeClr val="accent1"/>
          </a:effectRef>
          <a:fontRef idx="minor">
            <a:schemeClr val="dk1"/>
          </a:fontRef>
        </dgm:style>
      </dgm:prSet>
      <dgm:spPr/>
      <dgm:t>
        <a:bodyPr/>
        <a:lstStyle/>
        <a:p>
          <a:r>
            <a:rPr lang="zh-CN" altLang="en-US" b="1" dirty="0" smtClean="0">
              <a:latin typeface="微软雅黑" pitchFamily="34" charset="-122"/>
              <a:ea typeface="微软雅黑" pitchFamily="34" charset="-122"/>
            </a:rPr>
            <a:t>理论计算的可行性</a:t>
          </a:r>
          <a:endParaRPr lang="zh-CN" altLang="en-US" b="1" dirty="0">
            <a:latin typeface="微软雅黑" pitchFamily="34" charset="-122"/>
            <a:ea typeface="微软雅黑" pitchFamily="34" charset="-122"/>
          </a:endParaRPr>
        </a:p>
      </dgm:t>
    </dgm:pt>
    <dgm:pt modelId="{C5E034B4-F17A-4B15-B361-580B423EABD9}" type="parTrans" cxnId="{CA36C3EF-4751-40C6-9CF4-B7C00580D90A}">
      <dgm:prSet/>
      <dgm:spPr/>
      <dgm:t>
        <a:bodyPr/>
        <a:lstStyle/>
        <a:p>
          <a:endParaRPr lang="zh-CN" altLang="en-US"/>
        </a:p>
      </dgm:t>
    </dgm:pt>
    <dgm:pt modelId="{CD196623-1841-4BFF-A23A-A7A1E8752E5C}" type="sibTrans" cxnId="{CA36C3EF-4751-40C6-9CF4-B7C00580D90A}">
      <dgm:prSet/>
      <dgm:spPr/>
      <dgm:t>
        <a:bodyPr/>
        <a:lstStyle/>
        <a:p>
          <a:endParaRPr lang="zh-CN" altLang="en-US"/>
        </a:p>
      </dgm:t>
    </dgm:pt>
    <dgm:pt modelId="{9B4C5AC3-1699-446E-8409-F0CF455C04BA}">
      <dgm:prSet phldrT="[文本]">
        <dgm:style>
          <a:lnRef idx="1">
            <a:schemeClr val="accent1"/>
          </a:lnRef>
          <a:fillRef idx="2">
            <a:schemeClr val="accent1"/>
          </a:fillRef>
          <a:effectRef idx="1">
            <a:schemeClr val="accent1"/>
          </a:effectRef>
          <a:fontRef idx="minor">
            <a:schemeClr val="dk1"/>
          </a:fontRef>
        </dgm:style>
      </dgm:prSet>
      <dgm:spPr/>
      <dgm:t>
        <a:bodyPr/>
        <a:lstStyle/>
        <a:p>
          <a:r>
            <a:rPr lang="zh-CN" altLang="en-US" dirty="0" smtClean="0">
              <a:latin typeface="微软雅黑" pitchFamily="34" charset="-122"/>
              <a:ea typeface="微软雅黑" pitchFamily="34" charset="-122"/>
            </a:rPr>
            <a:t>力学意义明确，推导严谨</a:t>
          </a:r>
          <a:endParaRPr lang="zh-CN" altLang="en-US" dirty="0">
            <a:latin typeface="微软雅黑" pitchFamily="34" charset="-122"/>
            <a:ea typeface="微软雅黑" pitchFamily="34" charset="-122"/>
          </a:endParaRPr>
        </a:p>
      </dgm:t>
    </dgm:pt>
    <dgm:pt modelId="{2273A12D-33D4-4400-94E5-6513CDC27653}" type="parTrans" cxnId="{258AB389-B127-4257-B218-1894E4B764C3}">
      <dgm:prSet/>
      <dgm:spPr/>
      <dgm:t>
        <a:bodyPr/>
        <a:lstStyle/>
        <a:p>
          <a:endParaRPr lang="zh-CN" altLang="en-US"/>
        </a:p>
      </dgm:t>
    </dgm:pt>
    <dgm:pt modelId="{C8648310-9128-475C-903A-9DD3A9E86CD2}" type="sibTrans" cxnId="{258AB389-B127-4257-B218-1894E4B764C3}">
      <dgm:prSet/>
      <dgm:spPr/>
      <dgm:t>
        <a:bodyPr/>
        <a:lstStyle/>
        <a:p>
          <a:endParaRPr lang="zh-CN" altLang="en-US"/>
        </a:p>
      </dgm:t>
    </dgm:pt>
    <dgm:pt modelId="{2BDEABDF-65B3-4ED1-89AE-7077A978BF97}">
      <dgm:prSet phldrT="[文本]">
        <dgm:style>
          <a:lnRef idx="0">
            <a:schemeClr val="accent1"/>
          </a:lnRef>
          <a:fillRef idx="3">
            <a:schemeClr val="accent1"/>
          </a:fillRef>
          <a:effectRef idx="3">
            <a:schemeClr val="accent1"/>
          </a:effectRef>
          <a:fontRef idx="minor">
            <a:schemeClr val="lt1"/>
          </a:fontRef>
        </dgm:style>
      </dgm:prSet>
      <dgm:spPr>
        <a:solidFill>
          <a:srgbClr val="FFFF66"/>
        </a:solidFill>
      </dgm:spPr>
      <dgm:t>
        <a:bodyPr/>
        <a:lstStyle/>
        <a:p>
          <a:r>
            <a:rPr lang="zh-CN" altLang="en-US" b="1" dirty="0" smtClean="0">
              <a:solidFill>
                <a:sysClr val="windowText" lastClr="000000"/>
              </a:solidFill>
              <a:latin typeface="微软雅黑" pitchFamily="34" charset="-122"/>
              <a:ea typeface="微软雅黑" pitchFamily="34" charset="-122"/>
            </a:rPr>
            <a:t>理论计算的限制</a:t>
          </a:r>
          <a:endParaRPr lang="zh-CN" altLang="en-US" b="1" dirty="0">
            <a:solidFill>
              <a:sysClr val="windowText" lastClr="000000"/>
            </a:solidFill>
            <a:latin typeface="微软雅黑" pitchFamily="34" charset="-122"/>
            <a:ea typeface="微软雅黑" pitchFamily="34" charset="-122"/>
          </a:endParaRPr>
        </a:p>
      </dgm:t>
    </dgm:pt>
    <dgm:pt modelId="{7798B18D-A805-411D-B35D-5C7580F4E286}" type="parTrans" cxnId="{39670C2B-3215-4EA0-B74D-09DE9DF68E89}">
      <dgm:prSet/>
      <dgm:spPr/>
      <dgm:t>
        <a:bodyPr/>
        <a:lstStyle/>
        <a:p>
          <a:endParaRPr lang="zh-CN" altLang="en-US"/>
        </a:p>
      </dgm:t>
    </dgm:pt>
    <dgm:pt modelId="{67E8CF53-51C6-4FCE-A686-BA7620835116}" type="sibTrans" cxnId="{39670C2B-3215-4EA0-B74D-09DE9DF68E89}">
      <dgm:prSet/>
      <dgm:spPr/>
      <dgm:t>
        <a:bodyPr/>
        <a:lstStyle/>
        <a:p>
          <a:endParaRPr lang="zh-CN" altLang="en-US"/>
        </a:p>
      </dgm:t>
    </dgm:pt>
    <dgm:pt modelId="{5A3562C7-273B-488E-BA44-DF30876DA9FA}">
      <dgm:prSet phldrT="[文本]">
        <dgm:style>
          <a:lnRef idx="0">
            <a:schemeClr val="accent1"/>
          </a:lnRef>
          <a:fillRef idx="3">
            <a:schemeClr val="accent1"/>
          </a:fillRef>
          <a:effectRef idx="3">
            <a:schemeClr val="accent1"/>
          </a:effectRef>
          <a:fontRef idx="minor">
            <a:schemeClr val="lt1"/>
          </a:fontRef>
        </dgm:style>
      </dgm:prSet>
      <dgm:spPr>
        <a:solidFill>
          <a:srgbClr val="FFFF66"/>
        </a:solidFill>
      </dgm:spPr>
      <dgm:t>
        <a:bodyPr/>
        <a:lstStyle/>
        <a:p>
          <a:r>
            <a:rPr lang="zh-CN" altLang="en-US" dirty="0" smtClean="0">
              <a:solidFill>
                <a:sysClr val="windowText" lastClr="000000"/>
              </a:solidFill>
              <a:latin typeface="微软雅黑" pitchFamily="34" charset="-122"/>
              <a:ea typeface="微软雅黑" pitchFamily="34" charset="-122"/>
            </a:rPr>
            <a:t>岩石非均质、不连续、各向异性、非线性破坏的特性</a:t>
          </a:r>
          <a:endParaRPr lang="zh-CN" altLang="en-US" dirty="0">
            <a:solidFill>
              <a:sysClr val="windowText" lastClr="000000"/>
            </a:solidFill>
            <a:latin typeface="微软雅黑" pitchFamily="34" charset="-122"/>
            <a:ea typeface="微软雅黑" pitchFamily="34" charset="-122"/>
          </a:endParaRPr>
        </a:p>
      </dgm:t>
    </dgm:pt>
    <dgm:pt modelId="{1A9D1AAE-DB7E-4922-9FD2-03264369604E}" type="parTrans" cxnId="{ACC4C763-77AF-45C5-B2DD-EDC564B395DE}">
      <dgm:prSet/>
      <dgm:spPr/>
      <dgm:t>
        <a:bodyPr/>
        <a:lstStyle/>
        <a:p>
          <a:endParaRPr lang="zh-CN" altLang="en-US"/>
        </a:p>
      </dgm:t>
    </dgm:pt>
    <dgm:pt modelId="{620B4B14-F946-4396-81AE-8E373BC9FFFA}" type="sibTrans" cxnId="{ACC4C763-77AF-45C5-B2DD-EDC564B395DE}">
      <dgm:prSet/>
      <dgm:spPr/>
      <dgm:t>
        <a:bodyPr/>
        <a:lstStyle/>
        <a:p>
          <a:endParaRPr lang="zh-CN" altLang="en-US"/>
        </a:p>
      </dgm:t>
    </dgm:pt>
    <dgm:pt modelId="{CA8C12DD-C62B-4368-9FD4-E139AB3D6778}">
      <dgm:prSet phldrT="[文本]">
        <dgm:style>
          <a:lnRef idx="0">
            <a:schemeClr val="accent1"/>
          </a:lnRef>
          <a:fillRef idx="3">
            <a:schemeClr val="accent1"/>
          </a:fillRef>
          <a:effectRef idx="3">
            <a:schemeClr val="accent1"/>
          </a:effectRef>
          <a:fontRef idx="minor">
            <a:schemeClr val="lt1"/>
          </a:fontRef>
        </dgm:style>
      </dgm:prSet>
      <dgm:spPr>
        <a:solidFill>
          <a:srgbClr val="FFFF66"/>
        </a:solidFill>
      </dgm:spPr>
      <dgm:t>
        <a:bodyPr/>
        <a:lstStyle/>
        <a:p>
          <a:r>
            <a:rPr lang="zh-CN" altLang="en-US" dirty="0" smtClean="0">
              <a:solidFill>
                <a:sysClr val="windowText" lastClr="000000"/>
              </a:solidFill>
              <a:latin typeface="微软雅黑" pitchFamily="34" charset="-122"/>
              <a:ea typeface="微软雅黑" pitchFamily="34" charset="-122"/>
            </a:rPr>
            <a:t>地基结构复杂、破坏模式多样、不确定性很大</a:t>
          </a:r>
          <a:endParaRPr lang="zh-CN" altLang="en-US" dirty="0">
            <a:solidFill>
              <a:sysClr val="windowText" lastClr="000000"/>
            </a:solidFill>
            <a:latin typeface="微软雅黑" pitchFamily="34" charset="-122"/>
            <a:ea typeface="微软雅黑" pitchFamily="34" charset="-122"/>
          </a:endParaRPr>
        </a:p>
      </dgm:t>
    </dgm:pt>
    <dgm:pt modelId="{7C7B8F04-902E-40D8-90D2-4F0965151E73}" type="parTrans" cxnId="{D58B53B4-6BE7-4776-BCC5-1891FCA45864}">
      <dgm:prSet/>
      <dgm:spPr/>
      <dgm:t>
        <a:bodyPr/>
        <a:lstStyle/>
        <a:p>
          <a:endParaRPr lang="zh-CN" altLang="en-US"/>
        </a:p>
      </dgm:t>
    </dgm:pt>
    <dgm:pt modelId="{94CDFE6D-CEC4-412A-A6DD-787F7AA1A2EA}" type="sibTrans" cxnId="{D58B53B4-6BE7-4776-BCC5-1891FCA45864}">
      <dgm:prSet/>
      <dgm:spPr/>
      <dgm:t>
        <a:bodyPr/>
        <a:lstStyle/>
        <a:p>
          <a:endParaRPr lang="zh-CN" altLang="en-US"/>
        </a:p>
      </dgm:t>
    </dgm:pt>
    <dgm:pt modelId="{E889B1E5-3540-45E8-84FE-EDB8B1059D5C}">
      <dgm:prSet>
        <dgm:style>
          <a:lnRef idx="1">
            <a:schemeClr val="accent1"/>
          </a:lnRef>
          <a:fillRef idx="2">
            <a:schemeClr val="accent1"/>
          </a:fillRef>
          <a:effectRef idx="1">
            <a:schemeClr val="accent1"/>
          </a:effectRef>
          <a:fontRef idx="minor">
            <a:schemeClr val="dk1"/>
          </a:fontRef>
        </dgm:style>
      </dgm:prSet>
      <dgm:spPr/>
      <dgm:t>
        <a:bodyPr/>
        <a:lstStyle/>
        <a:p>
          <a:r>
            <a:rPr lang="zh-CN" altLang="en-US" dirty="0" smtClean="0">
              <a:latin typeface="微软雅黑" pitchFamily="34" charset="-122"/>
              <a:ea typeface="微软雅黑" pitchFamily="34" charset="-122"/>
            </a:rPr>
            <a:t>提供计算方法，研究力学机制，指导作用显著。</a:t>
          </a:r>
          <a:endParaRPr lang="zh-CN" altLang="en-US" dirty="0">
            <a:latin typeface="微软雅黑" pitchFamily="34" charset="-122"/>
            <a:ea typeface="微软雅黑" pitchFamily="34" charset="-122"/>
          </a:endParaRPr>
        </a:p>
      </dgm:t>
    </dgm:pt>
    <dgm:pt modelId="{F429DDA6-3DA5-4485-AC54-06E4B46A3A31}" type="parTrans" cxnId="{8FDAFB99-08A5-4830-A879-AD0BDD77DDFE}">
      <dgm:prSet/>
      <dgm:spPr/>
      <dgm:t>
        <a:bodyPr/>
        <a:lstStyle/>
        <a:p>
          <a:endParaRPr lang="zh-CN" altLang="en-US"/>
        </a:p>
      </dgm:t>
    </dgm:pt>
    <dgm:pt modelId="{99C59E8B-2E79-471A-8429-F8BB0FE91E30}" type="sibTrans" cxnId="{8FDAFB99-08A5-4830-A879-AD0BDD77DDFE}">
      <dgm:prSet/>
      <dgm:spPr/>
      <dgm:t>
        <a:bodyPr/>
        <a:lstStyle/>
        <a:p>
          <a:endParaRPr lang="zh-CN" altLang="en-US"/>
        </a:p>
      </dgm:t>
    </dgm:pt>
    <dgm:pt modelId="{4AC41977-FBF0-46BD-AA89-A665BCFBA283}" type="pres">
      <dgm:prSet presAssocID="{87EC0363-2848-47B3-8DC6-84E01D9FFCAF}" presName="Name0" presStyleCnt="0">
        <dgm:presLayoutVars>
          <dgm:dir/>
          <dgm:resizeHandles val="exact"/>
        </dgm:presLayoutVars>
      </dgm:prSet>
      <dgm:spPr/>
      <dgm:t>
        <a:bodyPr/>
        <a:lstStyle/>
        <a:p>
          <a:endParaRPr lang="zh-CN" altLang="en-US"/>
        </a:p>
      </dgm:t>
    </dgm:pt>
    <dgm:pt modelId="{685B9203-A74D-44EF-8D3F-0317394B3386}" type="pres">
      <dgm:prSet presAssocID="{3ACD8D65-C0FE-496A-89FC-E8DF45413CD2}" presName="node" presStyleLbl="node1" presStyleIdx="0" presStyleCnt="2">
        <dgm:presLayoutVars>
          <dgm:bulletEnabled val="1"/>
        </dgm:presLayoutVars>
      </dgm:prSet>
      <dgm:spPr/>
      <dgm:t>
        <a:bodyPr/>
        <a:lstStyle/>
        <a:p>
          <a:endParaRPr lang="zh-CN" altLang="en-US"/>
        </a:p>
      </dgm:t>
    </dgm:pt>
    <dgm:pt modelId="{55639E24-8ADF-4510-BD71-461A9BECEA4B}" type="pres">
      <dgm:prSet presAssocID="{CD196623-1841-4BFF-A23A-A7A1E8752E5C}" presName="sibTrans" presStyleCnt="0"/>
      <dgm:spPr/>
    </dgm:pt>
    <dgm:pt modelId="{D48E3615-9543-43B5-9E29-F975E79D377E}" type="pres">
      <dgm:prSet presAssocID="{2BDEABDF-65B3-4ED1-89AE-7077A978BF97}" presName="node" presStyleLbl="node1" presStyleIdx="1" presStyleCnt="2">
        <dgm:presLayoutVars>
          <dgm:bulletEnabled val="1"/>
        </dgm:presLayoutVars>
      </dgm:prSet>
      <dgm:spPr/>
      <dgm:t>
        <a:bodyPr/>
        <a:lstStyle/>
        <a:p>
          <a:endParaRPr lang="zh-CN" altLang="en-US"/>
        </a:p>
      </dgm:t>
    </dgm:pt>
  </dgm:ptLst>
  <dgm:cxnLst>
    <dgm:cxn modelId="{D570EEF9-79C0-4CBB-9280-477AC8A6AD82}" type="presOf" srcId="{2BDEABDF-65B3-4ED1-89AE-7077A978BF97}" destId="{D48E3615-9543-43B5-9E29-F975E79D377E}" srcOrd="0" destOrd="0" presId="urn:microsoft.com/office/officeart/2005/8/layout/hList6"/>
    <dgm:cxn modelId="{88311FBA-6A0F-4428-87B8-8ECF35E391AE}" type="presOf" srcId="{87EC0363-2848-47B3-8DC6-84E01D9FFCAF}" destId="{4AC41977-FBF0-46BD-AA89-A665BCFBA283}" srcOrd="0" destOrd="0" presId="urn:microsoft.com/office/officeart/2005/8/layout/hList6"/>
    <dgm:cxn modelId="{5135ECBA-FD57-422E-8201-B14A15EE1D6B}" type="presOf" srcId="{CA8C12DD-C62B-4368-9FD4-E139AB3D6778}" destId="{D48E3615-9543-43B5-9E29-F975E79D377E}" srcOrd="0" destOrd="2" presId="urn:microsoft.com/office/officeart/2005/8/layout/hList6"/>
    <dgm:cxn modelId="{258AB389-B127-4257-B218-1894E4B764C3}" srcId="{3ACD8D65-C0FE-496A-89FC-E8DF45413CD2}" destId="{9B4C5AC3-1699-446E-8409-F0CF455C04BA}" srcOrd="0" destOrd="0" parTransId="{2273A12D-33D4-4400-94E5-6513CDC27653}" sibTransId="{C8648310-9128-475C-903A-9DD3A9E86CD2}"/>
    <dgm:cxn modelId="{CA36C3EF-4751-40C6-9CF4-B7C00580D90A}" srcId="{87EC0363-2848-47B3-8DC6-84E01D9FFCAF}" destId="{3ACD8D65-C0FE-496A-89FC-E8DF45413CD2}" srcOrd="0" destOrd="0" parTransId="{C5E034B4-F17A-4B15-B361-580B423EABD9}" sibTransId="{CD196623-1841-4BFF-A23A-A7A1E8752E5C}"/>
    <dgm:cxn modelId="{39670C2B-3215-4EA0-B74D-09DE9DF68E89}" srcId="{87EC0363-2848-47B3-8DC6-84E01D9FFCAF}" destId="{2BDEABDF-65B3-4ED1-89AE-7077A978BF97}" srcOrd="1" destOrd="0" parTransId="{7798B18D-A805-411D-B35D-5C7580F4E286}" sibTransId="{67E8CF53-51C6-4FCE-A686-BA7620835116}"/>
    <dgm:cxn modelId="{8FDAFB99-08A5-4830-A879-AD0BDD77DDFE}" srcId="{3ACD8D65-C0FE-496A-89FC-E8DF45413CD2}" destId="{E889B1E5-3540-45E8-84FE-EDB8B1059D5C}" srcOrd="1" destOrd="0" parTransId="{F429DDA6-3DA5-4485-AC54-06E4B46A3A31}" sibTransId="{99C59E8B-2E79-471A-8429-F8BB0FE91E30}"/>
    <dgm:cxn modelId="{A00F09E3-68FE-4DA4-AAAF-3C9E5745BD8B}" type="presOf" srcId="{9B4C5AC3-1699-446E-8409-F0CF455C04BA}" destId="{685B9203-A74D-44EF-8D3F-0317394B3386}" srcOrd="0" destOrd="1" presId="urn:microsoft.com/office/officeart/2005/8/layout/hList6"/>
    <dgm:cxn modelId="{D58B53B4-6BE7-4776-BCC5-1891FCA45864}" srcId="{2BDEABDF-65B3-4ED1-89AE-7077A978BF97}" destId="{CA8C12DD-C62B-4368-9FD4-E139AB3D6778}" srcOrd="1" destOrd="0" parTransId="{7C7B8F04-902E-40D8-90D2-4F0965151E73}" sibTransId="{94CDFE6D-CEC4-412A-A6DD-787F7AA1A2EA}"/>
    <dgm:cxn modelId="{A929E8A7-00B8-4053-BC35-F834531072DC}" type="presOf" srcId="{3ACD8D65-C0FE-496A-89FC-E8DF45413CD2}" destId="{685B9203-A74D-44EF-8D3F-0317394B3386}" srcOrd="0" destOrd="0" presId="urn:microsoft.com/office/officeart/2005/8/layout/hList6"/>
    <dgm:cxn modelId="{ACC4C763-77AF-45C5-B2DD-EDC564B395DE}" srcId="{2BDEABDF-65B3-4ED1-89AE-7077A978BF97}" destId="{5A3562C7-273B-488E-BA44-DF30876DA9FA}" srcOrd="0" destOrd="0" parTransId="{1A9D1AAE-DB7E-4922-9FD2-03264369604E}" sibTransId="{620B4B14-F946-4396-81AE-8E373BC9FFFA}"/>
    <dgm:cxn modelId="{74642F6D-0631-4523-95E1-ACE442349D65}" type="presOf" srcId="{E889B1E5-3540-45E8-84FE-EDB8B1059D5C}" destId="{685B9203-A74D-44EF-8D3F-0317394B3386}" srcOrd="0" destOrd="2" presId="urn:microsoft.com/office/officeart/2005/8/layout/hList6"/>
    <dgm:cxn modelId="{7464D8E7-A2C1-46EE-B115-24E9AE79312B}" type="presOf" srcId="{5A3562C7-273B-488E-BA44-DF30876DA9FA}" destId="{D48E3615-9543-43B5-9E29-F975E79D377E}" srcOrd="0" destOrd="1" presId="urn:microsoft.com/office/officeart/2005/8/layout/hList6"/>
    <dgm:cxn modelId="{060FF35C-2CF4-4001-9AAB-9795542C6EB5}" type="presParOf" srcId="{4AC41977-FBF0-46BD-AA89-A665BCFBA283}" destId="{685B9203-A74D-44EF-8D3F-0317394B3386}" srcOrd="0" destOrd="0" presId="urn:microsoft.com/office/officeart/2005/8/layout/hList6"/>
    <dgm:cxn modelId="{F6B73F52-0050-4051-A19B-E949A14C05E1}" type="presParOf" srcId="{4AC41977-FBF0-46BD-AA89-A665BCFBA283}" destId="{55639E24-8ADF-4510-BD71-461A9BECEA4B}" srcOrd="1" destOrd="0" presId="urn:microsoft.com/office/officeart/2005/8/layout/hList6"/>
    <dgm:cxn modelId="{764B47E2-4FEC-4857-AAC5-529DE6252414}" type="presParOf" srcId="{4AC41977-FBF0-46BD-AA89-A665BCFBA283}" destId="{D48E3615-9543-43B5-9E29-F975E79D377E}"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AFA7D0-5E38-4829-B78D-434A204BEE11}" type="doc">
      <dgm:prSet loTypeId="urn:microsoft.com/office/officeart/2009/layout/CircleArrowProcess" loCatId="process" qsTypeId="urn:microsoft.com/office/officeart/2005/8/quickstyle/3d3" qsCatId="3D" csTypeId="urn:microsoft.com/office/officeart/2005/8/colors/accent1_2" csCatId="accent1" phldr="1"/>
      <dgm:spPr/>
      <dgm:t>
        <a:bodyPr/>
        <a:lstStyle/>
        <a:p>
          <a:endParaRPr lang="zh-CN" altLang="en-US"/>
        </a:p>
      </dgm:t>
    </dgm:pt>
    <dgm:pt modelId="{4EC37DFE-EBCE-4A92-BFA3-ACFB719CD254}">
      <dgm:prSet phldrT="[文本]" custT="1"/>
      <dgm:spPr/>
      <dgm:t>
        <a:bodyPr/>
        <a:lstStyle/>
        <a:p>
          <a:r>
            <a:rPr lang="en-US" altLang="zh-CN" sz="3200" b="1" dirty="0" smtClean="0">
              <a:solidFill>
                <a:schemeClr val="bg1"/>
              </a:solidFill>
            </a:rPr>
            <a:t>-1974</a:t>
          </a:r>
          <a:endParaRPr lang="zh-CN" altLang="en-US" sz="3200" b="1" dirty="0">
            <a:solidFill>
              <a:schemeClr val="bg1"/>
            </a:solidFill>
          </a:endParaRPr>
        </a:p>
      </dgm:t>
    </dgm:pt>
    <dgm:pt modelId="{CD445352-7B5B-4ABB-9C2A-3D795E76B4A4}" type="parTrans" cxnId="{EFE5AF7E-F542-4133-B19A-58F7CE2ECD8A}">
      <dgm:prSet/>
      <dgm:spPr/>
      <dgm:t>
        <a:bodyPr/>
        <a:lstStyle/>
        <a:p>
          <a:endParaRPr lang="zh-CN" altLang="en-US"/>
        </a:p>
      </dgm:t>
    </dgm:pt>
    <dgm:pt modelId="{8A0242D2-040E-4C6F-A10A-1A951E65008A}" type="sibTrans" cxnId="{EFE5AF7E-F542-4133-B19A-58F7CE2ECD8A}">
      <dgm:prSet/>
      <dgm:spPr/>
      <dgm:t>
        <a:bodyPr/>
        <a:lstStyle/>
        <a:p>
          <a:endParaRPr lang="zh-CN" altLang="en-US"/>
        </a:p>
      </dgm:t>
    </dgm:pt>
    <dgm:pt modelId="{5269A96B-F266-4FA5-BFCF-977621B35C95}">
      <dgm:prSet phldrT="[文本]" custT="1"/>
      <dgm:spPr/>
      <dgm:t>
        <a:bodyPr/>
        <a:lstStyle/>
        <a:p>
          <a:r>
            <a:rPr lang="en-US" altLang="zh-CN" sz="3200" b="1" dirty="0" smtClean="0">
              <a:solidFill>
                <a:schemeClr val="bg1"/>
              </a:solidFill>
            </a:rPr>
            <a:t>1974-2002</a:t>
          </a:r>
          <a:endParaRPr lang="zh-CN" altLang="en-US" sz="3200" b="1" dirty="0">
            <a:solidFill>
              <a:schemeClr val="bg1"/>
            </a:solidFill>
          </a:endParaRPr>
        </a:p>
      </dgm:t>
    </dgm:pt>
    <dgm:pt modelId="{E4833780-1837-4DA3-A015-F0793007FB68}" type="parTrans" cxnId="{33963B1A-A902-4DAE-B2A5-A946EA6A22CA}">
      <dgm:prSet/>
      <dgm:spPr/>
      <dgm:t>
        <a:bodyPr/>
        <a:lstStyle/>
        <a:p>
          <a:endParaRPr lang="zh-CN" altLang="en-US"/>
        </a:p>
      </dgm:t>
    </dgm:pt>
    <dgm:pt modelId="{565D5D20-7E66-47DE-B0FA-5EBBDB855A3B}" type="sibTrans" cxnId="{33963B1A-A902-4DAE-B2A5-A946EA6A22CA}">
      <dgm:prSet/>
      <dgm:spPr/>
      <dgm:t>
        <a:bodyPr/>
        <a:lstStyle/>
        <a:p>
          <a:endParaRPr lang="zh-CN" altLang="en-US"/>
        </a:p>
      </dgm:t>
    </dgm:pt>
    <dgm:pt modelId="{273E1340-9071-491D-AE1D-1050487543DE}">
      <dgm:prSet phldrT="[文本]" custT="1"/>
      <dgm:spPr/>
      <dgm:t>
        <a:bodyPr/>
        <a:lstStyle/>
        <a:p>
          <a:r>
            <a:rPr lang="en-US" altLang="zh-CN" sz="3200" b="1" dirty="0" smtClean="0">
              <a:solidFill>
                <a:schemeClr val="bg1"/>
              </a:solidFill>
            </a:rPr>
            <a:t>2002-</a:t>
          </a:r>
          <a:endParaRPr lang="zh-CN" altLang="en-US" sz="3200" b="1" dirty="0">
            <a:solidFill>
              <a:schemeClr val="bg1"/>
            </a:solidFill>
          </a:endParaRPr>
        </a:p>
      </dgm:t>
    </dgm:pt>
    <dgm:pt modelId="{ED964130-05B7-4503-B383-3DA00531D1A6}" type="parTrans" cxnId="{1DD58F86-3DF6-4660-B108-115E35F82E5B}">
      <dgm:prSet/>
      <dgm:spPr/>
      <dgm:t>
        <a:bodyPr/>
        <a:lstStyle/>
        <a:p>
          <a:endParaRPr lang="zh-CN" altLang="en-US"/>
        </a:p>
      </dgm:t>
    </dgm:pt>
    <dgm:pt modelId="{47033896-564A-4F10-9774-AD7FF6B7C802}" type="sibTrans" cxnId="{1DD58F86-3DF6-4660-B108-115E35F82E5B}">
      <dgm:prSet/>
      <dgm:spPr/>
      <dgm:t>
        <a:bodyPr/>
        <a:lstStyle/>
        <a:p>
          <a:endParaRPr lang="zh-CN" altLang="en-US"/>
        </a:p>
      </dgm:t>
    </dgm:pt>
    <dgm:pt modelId="{FA7C1824-CDA0-4EDE-8D23-71D37CDF567B}" type="pres">
      <dgm:prSet presAssocID="{28AFA7D0-5E38-4829-B78D-434A204BEE11}" presName="Name0" presStyleCnt="0">
        <dgm:presLayoutVars>
          <dgm:chMax val="7"/>
          <dgm:chPref val="7"/>
          <dgm:dir/>
          <dgm:animLvl val="lvl"/>
        </dgm:presLayoutVars>
      </dgm:prSet>
      <dgm:spPr/>
      <dgm:t>
        <a:bodyPr/>
        <a:lstStyle/>
        <a:p>
          <a:endParaRPr lang="zh-CN" altLang="en-US"/>
        </a:p>
      </dgm:t>
    </dgm:pt>
    <dgm:pt modelId="{7430886E-AADB-458B-B61D-359C07804101}" type="pres">
      <dgm:prSet presAssocID="{4EC37DFE-EBCE-4A92-BFA3-ACFB719CD254}" presName="Accent1" presStyleCnt="0"/>
      <dgm:spPr/>
    </dgm:pt>
    <dgm:pt modelId="{80ECD78F-887C-4404-95EE-12B39982B49A}" type="pres">
      <dgm:prSet presAssocID="{4EC37DFE-EBCE-4A92-BFA3-ACFB719CD254}" presName="Accent" presStyleLbl="node1" presStyleIdx="0" presStyleCnt="3"/>
      <dgm:spPr/>
    </dgm:pt>
    <dgm:pt modelId="{4D7C318E-F6C2-44E7-9723-F1145FF94697}" type="pres">
      <dgm:prSet presAssocID="{4EC37DFE-EBCE-4A92-BFA3-ACFB719CD254}" presName="Parent1" presStyleLbl="revTx" presStyleIdx="0" presStyleCnt="3" custScaleX="135912">
        <dgm:presLayoutVars>
          <dgm:chMax val="1"/>
          <dgm:chPref val="1"/>
          <dgm:bulletEnabled val="1"/>
        </dgm:presLayoutVars>
      </dgm:prSet>
      <dgm:spPr/>
      <dgm:t>
        <a:bodyPr/>
        <a:lstStyle/>
        <a:p>
          <a:endParaRPr lang="zh-CN" altLang="en-US"/>
        </a:p>
      </dgm:t>
    </dgm:pt>
    <dgm:pt modelId="{0314C506-E080-4928-A84D-D069B85DA90F}" type="pres">
      <dgm:prSet presAssocID="{5269A96B-F266-4FA5-BFCF-977621B35C95}" presName="Accent2" presStyleCnt="0"/>
      <dgm:spPr/>
    </dgm:pt>
    <dgm:pt modelId="{25218A57-80BB-4019-A137-AB11CB45F046}" type="pres">
      <dgm:prSet presAssocID="{5269A96B-F266-4FA5-BFCF-977621B35C95}" presName="Accent" presStyleLbl="node1" presStyleIdx="1" presStyleCnt="3"/>
      <dgm:spPr/>
    </dgm:pt>
    <dgm:pt modelId="{B9592B33-9DAC-454E-BD62-D6861AE0B208}" type="pres">
      <dgm:prSet presAssocID="{5269A96B-F266-4FA5-BFCF-977621B35C95}" presName="Parent2" presStyleLbl="revTx" presStyleIdx="1" presStyleCnt="3">
        <dgm:presLayoutVars>
          <dgm:chMax val="1"/>
          <dgm:chPref val="1"/>
          <dgm:bulletEnabled val="1"/>
        </dgm:presLayoutVars>
      </dgm:prSet>
      <dgm:spPr/>
      <dgm:t>
        <a:bodyPr/>
        <a:lstStyle/>
        <a:p>
          <a:endParaRPr lang="zh-CN" altLang="en-US"/>
        </a:p>
      </dgm:t>
    </dgm:pt>
    <dgm:pt modelId="{32FCA9EB-2F53-4C0F-A907-9A6565B2D81E}" type="pres">
      <dgm:prSet presAssocID="{273E1340-9071-491D-AE1D-1050487543DE}" presName="Accent3" presStyleCnt="0"/>
      <dgm:spPr/>
    </dgm:pt>
    <dgm:pt modelId="{E1454C0A-5B6C-4FD9-8D50-D64590EE17E5}" type="pres">
      <dgm:prSet presAssocID="{273E1340-9071-491D-AE1D-1050487543DE}" presName="Accent" presStyleLbl="node1" presStyleIdx="2" presStyleCnt="3"/>
      <dgm:spPr/>
    </dgm:pt>
    <dgm:pt modelId="{6CFD5046-93CF-4BCB-901B-001C282A88FB}" type="pres">
      <dgm:prSet presAssocID="{273E1340-9071-491D-AE1D-1050487543DE}" presName="Parent3" presStyleLbl="revTx" presStyleIdx="2" presStyleCnt="3">
        <dgm:presLayoutVars>
          <dgm:chMax val="1"/>
          <dgm:chPref val="1"/>
          <dgm:bulletEnabled val="1"/>
        </dgm:presLayoutVars>
      </dgm:prSet>
      <dgm:spPr/>
      <dgm:t>
        <a:bodyPr/>
        <a:lstStyle/>
        <a:p>
          <a:endParaRPr lang="zh-CN" altLang="en-US"/>
        </a:p>
      </dgm:t>
    </dgm:pt>
  </dgm:ptLst>
  <dgm:cxnLst>
    <dgm:cxn modelId="{3FA37AB2-3EF2-4532-A99F-85FA131DF4BA}" type="presOf" srcId="{28AFA7D0-5E38-4829-B78D-434A204BEE11}" destId="{FA7C1824-CDA0-4EDE-8D23-71D37CDF567B}" srcOrd="0" destOrd="0" presId="urn:microsoft.com/office/officeart/2009/layout/CircleArrowProcess"/>
    <dgm:cxn modelId="{C50D6C31-4C09-4BC1-86CC-B80BA0670072}" type="presOf" srcId="{273E1340-9071-491D-AE1D-1050487543DE}" destId="{6CFD5046-93CF-4BCB-901B-001C282A88FB}" srcOrd="0" destOrd="0" presId="urn:microsoft.com/office/officeart/2009/layout/CircleArrowProcess"/>
    <dgm:cxn modelId="{33963B1A-A902-4DAE-B2A5-A946EA6A22CA}" srcId="{28AFA7D0-5E38-4829-B78D-434A204BEE11}" destId="{5269A96B-F266-4FA5-BFCF-977621B35C95}" srcOrd="1" destOrd="0" parTransId="{E4833780-1837-4DA3-A015-F0793007FB68}" sibTransId="{565D5D20-7E66-47DE-B0FA-5EBBDB855A3B}"/>
    <dgm:cxn modelId="{0329A115-111A-4ACD-A65C-6D490121BB19}" type="presOf" srcId="{4EC37DFE-EBCE-4A92-BFA3-ACFB719CD254}" destId="{4D7C318E-F6C2-44E7-9723-F1145FF94697}" srcOrd="0" destOrd="0" presId="urn:microsoft.com/office/officeart/2009/layout/CircleArrowProcess"/>
    <dgm:cxn modelId="{EFE5AF7E-F542-4133-B19A-58F7CE2ECD8A}" srcId="{28AFA7D0-5E38-4829-B78D-434A204BEE11}" destId="{4EC37DFE-EBCE-4A92-BFA3-ACFB719CD254}" srcOrd="0" destOrd="0" parTransId="{CD445352-7B5B-4ABB-9C2A-3D795E76B4A4}" sibTransId="{8A0242D2-040E-4C6F-A10A-1A951E65008A}"/>
    <dgm:cxn modelId="{1DD58F86-3DF6-4660-B108-115E35F82E5B}" srcId="{28AFA7D0-5E38-4829-B78D-434A204BEE11}" destId="{273E1340-9071-491D-AE1D-1050487543DE}" srcOrd="2" destOrd="0" parTransId="{ED964130-05B7-4503-B383-3DA00531D1A6}" sibTransId="{47033896-564A-4F10-9774-AD7FF6B7C802}"/>
    <dgm:cxn modelId="{5E6D30F1-AC12-403B-85CF-7D24AE0E9994}" type="presOf" srcId="{5269A96B-F266-4FA5-BFCF-977621B35C95}" destId="{B9592B33-9DAC-454E-BD62-D6861AE0B208}" srcOrd="0" destOrd="0" presId="urn:microsoft.com/office/officeart/2009/layout/CircleArrowProcess"/>
    <dgm:cxn modelId="{B5D83236-E4F3-4A8E-BC72-89D9B408B228}" type="presParOf" srcId="{FA7C1824-CDA0-4EDE-8D23-71D37CDF567B}" destId="{7430886E-AADB-458B-B61D-359C07804101}" srcOrd="0" destOrd="0" presId="urn:microsoft.com/office/officeart/2009/layout/CircleArrowProcess"/>
    <dgm:cxn modelId="{983BFCEF-0860-440D-B71F-4182D5D823BE}" type="presParOf" srcId="{7430886E-AADB-458B-B61D-359C07804101}" destId="{80ECD78F-887C-4404-95EE-12B39982B49A}" srcOrd="0" destOrd="0" presId="urn:microsoft.com/office/officeart/2009/layout/CircleArrowProcess"/>
    <dgm:cxn modelId="{3219FC38-149E-4E71-A526-F19020D2D709}" type="presParOf" srcId="{FA7C1824-CDA0-4EDE-8D23-71D37CDF567B}" destId="{4D7C318E-F6C2-44E7-9723-F1145FF94697}" srcOrd="1" destOrd="0" presId="urn:microsoft.com/office/officeart/2009/layout/CircleArrowProcess"/>
    <dgm:cxn modelId="{33867FF3-6C0A-4C7D-ADD3-13F4032BA44E}" type="presParOf" srcId="{FA7C1824-CDA0-4EDE-8D23-71D37CDF567B}" destId="{0314C506-E080-4928-A84D-D069B85DA90F}" srcOrd="2" destOrd="0" presId="urn:microsoft.com/office/officeart/2009/layout/CircleArrowProcess"/>
    <dgm:cxn modelId="{B0C964A9-5F3D-4044-97F4-FF3A35DE7A34}" type="presParOf" srcId="{0314C506-E080-4928-A84D-D069B85DA90F}" destId="{25218A57-80BB-4019-A137-AB11CB45F046}" srcOrd="0" destOrd="0" presId="urn:microsoft.com/office/officeart/2009/layout/CircleArrowProcess"/>
    <dgm:cxn modelId="{492317FD-8AA6-4D3E-B443-9A04604ECEEA}" type="presParOf" srcId="{FA7C1824-CDA0-4EDE-8D23-71D37CDF567B}" destId="{B9592B33-9DAC-454E-BD62-D6861AE0B208}" srcOrd="3" destOrd="0" presId="urn:microsoft.com/office/officeart/2009/layout/CircleArrowProcess"/>
    <dgm:cxn modelId="{28239E37-6B3B-423A-804E-7400F3806C0D}" type="presParOf" srcId="{FA7C1824-CDA0-4EDE-8D23-71D37CDF567B}" destId="{32FCA9EB-2F53-4C0F-A907-9A6565B2D81E}" srcOrd="4" destOrd="0" presId="urn:microsoft.com/office/officeart/2009/layout/CircleArrowProcess"/>
    <dgm:cxn modelId="{9DEE595D-E9F0-4B48-B92E-1271EC0AF7FB}" type="presParOf" srcId="{32FCA9EB-2F53-4C0F-A907-9A6565B2D81E}" destId="{E1454C0A-5B6C-4FD9-8D50-D64590EE17E5}" srcOrd="0" destOrd="0" presId="urn:microsoft.com/office/officeart/2009/layout/CircleArrowProcess"/>
    <dgm:cxn modelId="{2EAA8055-27D1-4BDD-86D8-C6352FFB1F9C}" type="presParOf" srcId="{FA7C1824-CDA0-4EDE-8D23-71D37CDF567B}" destId="{6CFD5046-93CF-4BCB-901B-001C282A88FB}"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8EA402-B3F2-4F5C-B2DF-F5F9078F4095}" type="doc">
      <dgm:prSet loTypeId="urn:microsoft.com/office/officeart/2005/8/layout/process2" loCatId="process" qsTypeId="urn:microsoft.com/office/officeart/2005/8/quickstyle/3d3" qsCatId="3D" csTypeId="urn:microsoft.com/office/officeart/2005/8/colors/colorful5" csCatId="colorful" phldr="1"/>
      <dgm:spPr/>
    </dgm:pt>
    <dgm:pt modelId="{784872B9-26CD-48E0-A8B0-DF45D495C7C0}">
      <dgm:prSet phldrT="[文本]" custT="1"/>
      <dgm:spPr>
        <a:solidFill>
          <a:srgbClr val="FFFF00"/>
        </a:solidFill>
      </dgm:spPr>
      <dgm:t>
        <a:bodyPr/>
        <a:lstStyle/>
        <a:p>
          <a:pPr>
            <a:lnSpc>
              <a:spcPct val="100000"/>
            </a:lnSpc>
          </a:pPr>
          <a:r>
            <a:rPr lang="zh-CN" altLang="en-US" sz="2800" b="1" dirty="0" smtClean="0">
              <a:solidFill>
                <a:schemeClr val="tx1"/>
              </a:solidFill>
              <a:latin typeface="微软雅黑" pitchFamily="34" charset="-122"/>
              <a:ea typeface="微软雅黑" pitchFamily="34" charset="-122"/>
            </a:rPr>
            <a:t>前苏联规定标准压力表</a:t>
          </a:r>
          <a:endParaRPr lang="zh-CN" altLang="en-US" sz="2800" b="1" dirty="0">
            <a:solidFill>
              <a:schemeClr val="tx1"/>
            </a:solidFill>
            <a:latin typeface="微软雅黑" pitchFamily="34" charset="-122"/>
            <a:ea typeface="微软雅黑" pitchFamily="34" charset="-122"/>
          </a:endParaRPr>
        </a:p>
      </dgm:t>
    </dgm:pt>
    <dgm:pt modelId="{CF30AC6D-386D-4816-857E-574FAB44FDD9}" type="parTrans" cxnId="{48AFCBE5-C632-4C68-AF45-21AF74B977E5}">
      <dgm:prSet/>
      <dgm:spPr/>
      <dgm:t>
        <a:bodyPr/>
        <a:lstStyle/>
        <a:p>
          <a:endParaRPr lang="zh-CN" altLang="en-US"/>
        </a:p>
      </dgm:t>
    </dgm:pt>
    <dgm:pt modelId="{BB2269CB-263D-44FE-8DEE-157947CB6F00}" type="sibTrans" cxnId="{48AFCBE5-C632-4C68-AF45-21AF74B977E5}">
      <dgm:prSet/>
      <dgm:spPr/>
      <dgm:t>
        <a:bodyPr/>
        <a:lstStyle/>
        <a:p>
          <a:endParaRPr lang="zh-CN" altLang="en-US"/>
        </a:p>
      </dgm:t>
    </dgm:pt>
    <dgm:pt modelId="{6429A37F-F078-4588-9C8E-95C44301AD12}">
      <dgm:prSet phldrT="[文本]" custT="1"/>
      <dgm:spPr/>
      <dgm:t>
        <a:bodyPr/>
        <a:lstStyle/>
        <a:p>
          <a:pPr>
            <a:lnSpc>
              <a:spcPct val="100000"/>
            </a:lnSpc>
          </a:pPr>
          <a:r>
            <a:rPr lang="en-US" altLang="zh-CN" sz="2400" b="1" dirty="0" smtClean="0">
              <a:solidFill>
                <a:schemeClr val="tx1"/>
              </a:solidFill>
              <a:latin typeface="微软雅黑" pitchFamily="34" charset="-122"/>
              <a:ea typeface="微软雅黑" pitchFamily="34" charset="-122"/>
            </a:rPr>
            <a:t>《</a:t>
          </a:r>
          <a:r>
            <a:rPr lang="zh-CN" altLang="en-US" sz="2400" b="1" dirty="0" smtClean="0">
              <a:solidFill>
                <a:schemeClr val="tx1"/>
              </a:solidFill>
              <a:latin typeface="微软雅黑" pitchFamily="34" charset="-122"/>
              <a:ea typeface="微软雅黑" pitchFamily="34" charset="-122"/>
            </a:rPr>
            <a:t>工业与民用建筑地基基础设计规范</a:t>
          </a:r>
          <a:r>
            <a:rPr lang="en-US" altLang="zh-CN" sz="2400" b="1" dirty="0" smtClean="0">
              <a:solidFill>
                <a:schemeClr val="tx1"/>
              </a:solidFill>
              <a:latin typeface="微软雅黑" pitchFamily="34" charset="-122"/>
              <a:ea typeface="微软雅黑" pitchFamily="34" charset="-122"/>
            </a:rPr>
            <a:t>》</a:t>
          </a:r>
          <a:endParaRPr lang="zh-CN" altLang="en-US" sz="2400" b="1" dirty="0">
            <a:solidFill>
              <a:schemeClr val="tx1"/>
            </a:solidFill>
            <a:latin typeface="微软雅黑" pitchFamily="34" charset="-122"/>
            <a:ea typeface="微软雅黑" pitchFamily="34" charset="-122"/>
          </a:endParaRPr>
        </a:p>
      </dgm:t>
    </dgm:pt>
    <dgm:pt modelId="{97FAFB35-F1ED-4794-9521-E05744F0894A}" type="parTrans" cxnId="{78C1A1F4-573A-4D3B-9EF7-177B4AD110FC}">
      <dgm:prSet/>
      <dgm:spPr/>
      <dgm:t>
        <a:bodyPr/>
        <a:lstStyle/>
        <a:p>
          <a:endParaRPr lang="zh-CN" altLang="en-US"/>
        </a:p>
      </dgm:t>
    </dgm:pt>
    <dgm:pt modelId="{B51BEF6D-A310-4801-9C70-B1895D0634E0}" type="sibTrans" cxnId="{78C1A1F4-573A-4D3B-9EF7-177B4AD110FC}">
      <dgm:prSet/>
      <dgm:spPr/>
      <dgm:t>
        <a:bodyPr/>
        <a:lstStyle/>
        <a:p>
          <a:endParaRPr lang="zh-CN" altLang="en-US"/>
        </a:p>
      </dgm:t>
    </dgm:pt>
    <dgm:pt modelId="{A51E491B-7F65-41D5-9D15-5496DDC7CB67}">
      <dgm:prSet phldrT="[文本]" custT="1"/>
      <dgm:spPr/>
      <dgm:t>
        <a:bodyPr/>
        <a:lstStyle/>
        <a:p>
          <a:pPr>
            <a:lnSpc>
              <a:spcPct val="100000"/>
            </a:lnSpc>
          </a:pPr>
          <a:r>
            <a:rPr lang="zh-CN" altLang="en-US" sz="2800" b="1" dirty="0" smtClean="0">
              <a:solidFill>
                <a:schemeClr val="tx1"/>
              </a:solidFill>
              <a:latin typeface="微软雅黑" pitchFamily="34" charset="-122"/>
              <a:ea typeface="微软雅黑" pitchFamily="34" charset="-122"/>
            </a:rPr>
            <a:t>删去</a:t>
          </a:r>
          <a:endParaRPr lang="zh-CN" altLang="en-US" sz="2800" b="1" dirty="0">
            <a:solidFill>
              <a:schemeClr val="tx1"/>
            </a:solidFill>
            <a:latin typeface="微软雅黑" pitchFamily="34" charset="-122"/>
            <a:ea typeface="微软雅黑" pitchFamily="34" charset="-122"/>
          </a:endParaRPr>
        </a:p>
      </dgm:t>
    </dgm:pt>
    <dgm:pt modelId="{146F1F67-3646-4B9F-8A4A-A3BC0CD0FC6D}" type="parTrans" cxnId="{A4BDBBD8-115E-4114-B1CC-38A499BB81BD}">
      <dgm:prSet/>
      <dgm:spPr/>
      <dgm:t>
        <a:bodyPr/>
        <a:lstStyle/>
        <a:p>
          <a:endParaRPr lang="zh-CN" altLang="en-US"/>
        </a:p>
      </dgm:t>
    </dgm:pt>
    <dgm:pt modelId="{DC953C75-9C60-4370-AA60-8960DE057C9E}" type="sibTrans" cxnId="{A4BDBBD8-115E-4114-B1CC-38A499BB81BD}">
      <dgm:prSet/>
      <dgm:spPr/>
      <dgm:t>
        <a:bodyPr/>
        <a:lstStyle/>
        <a:p>
          <a:endParaRPr lang="zh-CN" altLang="en-US"/>
        </a:p>
      </dgm:t>
    </dgm:pt>
    <dgm:pt modelId="{4DFBB4A2-1B49-40CB-ACAD-A4925D7D9D8E}" type="pres">
      <dgm:prSet presAssocID="{768EA402-B3F2-4F5C-B2DF-F5F9078F4095}" presName="linearFlow" presStyleCnt="0">
        <dgm:presLayoutVars>
          <dgm:resizeHandles val="exact"/>
        </dgm:presLayoutVars>
      </dgm:prSet>
      <dgm:spPr/>
    </dgm:pt>
    <dgm:pt modelId="{987F27D3-7605-4C83-AB97-21EB163503B0}" type="pres">
      <dgm:prSet presAssocID="{784872B9-26CD-48E0-A8B0-DF45D495C7C0}" presName="node" presStyleLbl="node1" presStyleIdx="0" presStyleCnt="3" custScaleX="144533">
        <dgm:presLayoutVars>
          <dgm:bulletEnabled val="1"/>
        </dgm:presLayoutVars>
      </dgm:prSet>
      <dgm:spPr/>
      <dgm:t>
        <a:bodyPr/>
        <a:lstStyle/>
        <a:p>
          <a:endParaRPr lang="zh-CN" altLang="en-US"/>
        </a:p>
      </dgm:t>
    </dgm:pt>
    <dgm:pt modelId="{454A472E-9484-4A5E-BAEB-C14E5CBC34BA}" type="pres">
      <dgm:prSet presAssocID="{BB2269CB-263D-44FE-8DEE-157947CB6F00}" presName="sibTrans" presStyleLbl="sibTrans2D1" presStyleIdx="0" presStyleCnt="2"/>
      <dgm:spPr/>
      <dgm:t>
        <a:bodyPr/>
        <a:lstStyle/>
        <a:p>
          <a:endParaRPr lang="zh-CN" altLang="en-US"/>
        </a:p>
      </dgm:t>
    </dgm:pt>
    <dgm:pt modelId="{56C45A55-837F-4039-8EB5-6CFC3A489329}" type="pres">
      <dgm:prSet presAssocID="{BB2269CB-263D-44FE-8DEE-157947CB6F00}" presName="connectorText" presStyleLbl="sibTrans2D1" presStyleIdx="0" presStyleCnt="2"/>
      <dgm:spPr/>
      <dgm:t>
        <a:bodyPr/>
        <a:lstStyle/>
        <a:p>
          <a:endParaRPr lang="zh-CN" altLang="en-US"/>
        </a:p>
      </dgm:t>
    </dgm:pt>
    <dgm:pt modelId="{3D10AC0A-B31F-4867-9C3A-5F7C1174410C}" type="pres">
      <dgm:prSet presAssocID="{6429A37F-F078-4588-9C8E-95C44301AD12}" presName="node" presStyleLbl="node1" presStyleIdx="1" presStyleCnt="3" custScaleX="145985" custLinFactNeighborX="-447">
        <dgm:presLayoutVars>
          <dgm:bulletEnabled val="1"/>
        </dgm:presLayoutVars>
      </dgm:prSet>
      <dgm:spPr/>
      <dgm:t>
        <a:bodyPr/>
        <a:lstStyle/>
        <a:p>
          <a:endParaRPr lang="zh-CN" altLang="en-US"/>
        </a:p>
      </dgm:t>
    </dgm:pt>
    <dgm:pt modelId="{972DC9D1-9603-4A30-A0F4-9534B73BB37A}" type="pres">
      <dgm:prSet presAssocID="{B51BEF6D-A310-4801-9C70-B1895D0634E0}" presName="sibTrans" presStyleLbl="sibTrans2D1" presStyleIdx="1" presStyleCnt="2"/>
      <dgm:spPr/>
      <dgm:t>
        <a:bodyPr/>
        <a:lstStyle/>
        <a:p>
          <a:endParaRPr lang="zh-CN" altLang="en-US"/>
        </a:p>
      </dgm:t>
    </dgm:pt>
    <dgm:pt modelId="{F10B03B6-5F8D-49F0-886E-5923AA0A5DF3}" type="pres">
      <dgm:prSet presAssocID="{B51BEF6D-A310-4801-9C70-B1895D0634E0}" presName="connectorText" presStyleLbl="sibTrans2D1" presStyleIdx="1" presStyleCnt="2"/>
      <dgm:spPr/>
      <dgm:t>
        <a:bodyPr/>
        <a:lstStyle/>
        <a:p>
          <a:endParaRPr lang="zh-CN" altLang="en-US"/>
        </a:p>
      </dgm:t>
    </dgm:pt>
    <dgm:pt modelId="{28BDB39A-B1DC-4CAC-A275-14B94DB760AB}" type="pres">
      <dgm:prSet presAssocID="{A51E491B-7F65-41D5-9D15-5496DDC7CB67}" presName="node" presStyleLbl="node1" presStyleIdx="2" presStyleCnt="3" custScaleX="145712">
        <dgm:presLayoutVars>
          <dgm:bulletEnabled val="1"/>
        </dgm:presLayoutVars>
      </dgm:prSet>
      <dgm:spPr/>
      <dgm:t>
        <a:bodyPr/>
        <a:lstStyle/>
        <a:p>
          <a:endParaRPr lang="zh-CN" altLang="en-US"/>
        </a:p>
      </dgm:t>
    </dgm:pt>
  </dgm:ptLst>
  <dgm:cxnLst>
    <dgm:cxn modelId="{BE64ABDA-EC39-4BB1-8AAE-39A918C3EB55}" type="presOf" srcId="{B51BEF6D-A310-4801-9C70-B1895D0634E0}" destId="{F10B03B6-5F8D-49F0-886E-5923AA0A5DF3}" srcOrd="1" destOrd="0" presId="urn:microsoft.com/office/officeart/2005/8/layout/process2"/>
    <dgm:cxn modelId="{13ADBA33-F83F-4341-81DE-33A5D27DBE3F}" type="presOf" srcId="{784872B9-26CD-48E0-A8B0-DF45D495C7C0}" destId="{987F27D3-7605-4C83-AB97-21EB163503B0}" srcOrd="0" destOrd="0" presId="urn:microsoft.com/office/officeart/2005/8/layout/process2"/>
    <dgm:cxn modelId="{9EE98D15-93BC-4C42-8967-6383B10EABA9}" type="presOf" srcId="{6429A37F-F078-4588-9C8E-95C44301AD12}" destId="{3D10AC0A-B31F-4867-9C3A-5F7C1174410C}" srcOrd="0" destOrd="0" presId="urn:microsoft.com/office/officeart/2005/8/layout/process2"/>
    <dgm:cxn modelId="{3EBD828C-3443-44A1-B91A-445AEA93441C}" type="presOf" srcId="{B51BEF6D-A310-4801-9C70-B1895D0634E0}" destId="{972DC9D1-9603-4A30-A0F4-9534B73BB37A}" srcOrd="0" destOrd="0" presId="urn:microsoft.com/office/officeart/2005/8/layout/process2"/>
    <dgm:cxn modelId="{A4BDBBD8-115E-4114-B1CC-38A499BB81BD}" srcId="{768EA402-B3F2-4F5C-B2DF-F5F9078F4095}" destId="{A51E491B-7F65-41D5-9D15-5496DDC7CB67}" srcOrd="2" destOrd="0" parTransId="{146F1F67-3646-4B9F-8A4A-A3BC0CD0FC6D}" sibTransId="{DC953C75-9C60-4370-AA60-8960DE057C9E}"/>
    <dgm:cxn modelId="{542010FF-A836-49FC-9E37-3D8CEAFEB3DF}" type="presOf" srcId="{BB2269CB-263D-44FE-8DEE-157947CB6F00}" destId="{56C45A55-837F-4039-8EB5-6CFC3A489329}" srcOrd="1" destOrd="0" presId="urn:microsoft.com/office/officeart/2005/8/layout/process2"/>
    <dgm:cxn modelId="{2A3DD342-45CB-43FD-9461-CC0EEF4322B4}" type="presOf" srcId="{A51E491B-7F65-41D5-9D15-5496DDC7CB67}" destId="{28BDB39A-B1DC-4CAC-A275-14B94DB760AB}" srcOrd="0" destOrd="0" presId="urn:microsoft.com/office/officeart/2005/8/layout/process2"/>
    <dgm:cxn modelId="{7643CDD2-8BE0-4B43-BE9F-499D0FDC809F}" type="presOf" srcId="{768EA402-B3F2-4F5C-B2DF-F5F9078F4095}" destId="{4DFBB4A2-1B49-40CB-ACAD-A4925D7D9D8E}" srcOrd="0" destOrd="0" presId="urn:microsoft.com/office/officeart/2005/8/layout/process2"/>
    <dgm:cxn modelId="{48AFCBE5-C632-4C68-AF45-21AF74B977E5}" srcId="{768EA402-B3F2-4F5C-B2DF-F5F9078F4095}" destId="{784872B9-26CD-48E0-A8B0-DF45D495C7C0}" srcOrd="0" destOrd="0" parTransId="{CF30AC6D-386D-4816-857E-574FAB44FDD9}" sibTransId="{BB2269CB-263D-44FE-8DEE-157947CB6F00}"/>
    <dgm:cxn modelId="{78C1A1F4-573A-4D3B-9EF7-177B4AD110FC}" srcId="{768EA402-B3F2-4F5C-B2DF-F5F9078F4095}" destId="{6429A37F-F078-4588-9C8E-95C44301AD12}" srcOrd="1" destOrd="0" parTransId="{97FAFB35-F1ED-4794-9521-E05744F0894A}" sibTransId="{B51BEF6D-A310-4801-9C70-B1895D0634E0}"/>
    <dgm:cxn modelId="{29CEE152-9CD9-4BB6-BAD5-ADCBF1E2ADDB}" type="presOf" srcId="{BB2269CB-263D-44FE-8DEE-157947CB6F00}" destId="{454A472E-9484-4A5E-BAEB-C14E5CBC34BA}" srcOrd="0" destOrd="0" presId="urn:microsoft.com/office/officeart/2005/8/layout/process2"/>
    <dgm:cxn modelId="{8CD2A439-5C70-4815-AE6A-414A7361618B}" type="presParOf" srcId="{4DFBB4A2-1B49-40CB-ACAD-A4925D7D9D8E}" destId="{987F27D3-7605-4C83-AB97-21EB163503B0}" srcOrd="0" destOrd="0" presId="urn:microsoft.com/office/officeart/2005/8/layout/process2"/>
    <dgm:cxn modelId="{63A0B62F-E8BC-47C6-B482-02895CFB3E32}" type="presParOf" srcId="{4DFBB4A2-1B49-40CB-ACAD-A4925D7D9D8E}" destId="{454A472E-9484-4A5E-BAEB-C14E5CBC34BA}" srcOrd="1" destOrd="0" presId="urn:microsoft.com/office/officeart/2005/8/layout/process2"/>
    <dgm:cxn modelId="{3D0E2BA0-21B3-42E3-8FAF-7BFE30670D22}" type="presParOf" srcId="{454A472E-9484-4A5E-BAEB-C14E5CBC34BA}" destId="{56C45A55-837F-4039-8EB5-6CFC3A489329}" srcOrd="0" destOrd="0" presId="urn:microsoft.com/office/officeart/2005/8/layout/process2"/>
    <dgm:cxn modelId="{F0C38F59-8C9E-4724-9F06-84D6600E51A6}" type="presParOf" srcId="{4DFBB4A2-1B49-40CB-ACAD-A4925D7D9D8E}" destId="{3D10AC0A-B31F-4867-9C3A-5F7C1174410C}" srcOrd="2" destOrd="0" presId="urn:microsoft.com/office/officeart/2005/8/layout/process2"/>
    <dgm:cxn modelId="{E2A303A4-12E2-451E-A77A-3F1C5B7B49F0}" type="presParOf" srcId="{4DFBB4A2-1B49-40CB-ACAD-A4925D7D9D8E}" destId="{972DC9D1-9603-4A30-A0F4-9534B73BB37A}" srcOrd="3" destOrd="0" presId="urn:microsoft.com/office/officeart/2005/8/layout/process2"/>
    <dgm:cxn modelId="{18307682-013F-4B53-8A04-589245676245}" type="presParOf" srcId="{972DC9D1-9603-4A30-A0F4-9534B73BB37A}" destId="{F10B03B6-5F8D-49F0-886E-5923AA0A5DF3}" srcOrd="0" destOrd="0" presId="urn:microsoft.com/office/officeart/2005/8/layout/process2"/>
    <dgm:cxn modelId="{C71FA248-601C-4885-BA5F-42E94D0796E1}" type="presParOf" srcId="{4DFBB4A2-1B49-40CB-ACAD-A4925D7D9D8E}" destId="{28BDB39A-B1DC-4CAC-A275-14B94DB760AB}" srcOrd="4"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019A7E-B1B3-48D3-8DB0-7862103AB839}" type="doc">
      <dgm:prSet loTypeId="urn:microsoft.com/office/officeart/2005/8/layout/equation2" loCatId="relationship" qsTypeId="urn:microsoft.com/office/officeart/2005/8/quickstyle/3d1" qsCatId="3D" csTypeId="urn:microsoft.com/office/officeart/2005/8/colors/accent2_2" csCatId="accent2" phldr="1"/>
      <dgm:spPr/>
    </dgm:pt>
    <dgm:pt modelId="{7E184F79-843D-49B5-9217-4B0984E5F959}">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1800" b="1" dirty="0" smtClean="0">
              <a:solidFill>
                <a:schemeClr val="tx1"/>
              </a:solidFill>
              <a:latin typeface="微软雅黑" pitchFamily="34" charset="-122"/>
              <a:ea typeface="微软雅黑" pitchFamily="34" charset="-122"/>
            </a:rPr>
            <a:t>上部均布柔性荷载</a:t>
          </a:r>
          <a:endParaRPr lang="zh-CN" altLang="en-US" sz="1800" b="1" dirty="0">
            <a:solidFill>
              <a:schemeClr val="tx1"/>
            </a:solidFill>
            <a:latin typeface="微软雅黑" pitchFamily="34" charset="-122"/>
            <a:ea typeface="微软雅黑" pitchFamily="34" charset="-122"/>
          </a:endParaRPr>
        </a:p>
      </dgm:t>
    </dgm:pt>
    <dgm:pt modelId="{E28B0EE5-2A68-4515-BAC5-09C90CF4E07D}" type="parTrans" cxnId="{DF9129E5-88C3-4A6E-9BDF-9AF32CFA3BEA}">
      <dgm:prSet/>
      <dgm:spPr/>
      <dgm:t>
        <a:bodyPr/>
        <a:lstStyle/>
        <a:p>
          <a:endParaRPr lang="zh-CN" altLang="en-US"/>
        </a:p>
      </dgm:t>
    </dgm:pt>
    <dgm:pt modelId="{3FC4394A-086B-4FDA-B33B-54B2C51CB28D}" type="sibTrans" cxnId="{DF9129E5-88C3-4A6E-9BDF-9AF32CFA3BEA}">
      <dgm:prSet/>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gm:spPr>
      <dgm:t>
        <a:bodyPr/>
        <a:lstStyle/>
        <a:p>
          <a:endParaRPr lang="zh-CN" altLang="en-US"/>
        </a:p>
      </dgm:t>
    </dgm:pt>
    <dgm:pt modelId="{CD3A5C3D-9028-4451-B579-4CB2D000C00C}">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2000" b="1" dirty="0" smtClean="0">
              <a:solidFill>
                <a:schemeClr val="tx1"/>
              </a:solidFill>
              <a:latin typeface="微软雅黑" pitchFamily="34" charset="-122"/>
              <a:ea typeface="微软雅黑" pitchFamily="34" charset="-122"/>
            </a:rPr>
            <a:t>两侧均布荷载</a:t>
          </a:r>
          <a:endParaRPr lang="zh-CN" altLang="en-US" sz="2000" b="1" dirty="0">
            <a:solidFill>
              <a:schemeClr val="tx1"/>
            </a:solidFill>
            <a:latin typeface="微软雅黑" pitchFamily="34" charset="-122"/>
            <a:ea typeface="微软雅黑" pitchFamily="34" charset="-122"/>
          </a:endParaRPr>
        </a:p>
      </dgm:t>
    </dgm:pt>
    <dgm:pt modelId="{C0982A02-15F5-4843-810D-1949AD09DD3D}" type="parTrans" cxnId="{814FAC81-B6B3-402E-8F21-2C17B7D3033D}">
      <dgm:prSet/>
      <dgm:spPr/>
      <dgm:t>
        <a:bodyPr/>
        <a:lstStyle/>
        <a:p>
          <a:endParaRPr lang="zh-CN" altLang="en-US"/>
        </a:p>
      </dgm:t>
    </dgm:pt>
    <dgm:pt modelId="{58687F98-6B55-40EB-9FA5-03371D0A2F08}" type="sibTrans" cxnId="{814FAC81-B6B3-402E-8F21-2C17B7D3033D}">
      <dgm:prSet/>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gm:spPr>
      <dgm:t>
        <a:bodyPr/>
        <a:lstStyle/>
        <a:p>
          <a:endParaRPr lang="zh-CN" altLang="en-US"/>
        </a:p>
      </dgm:t>
    </dgm:pt>
    <dgm:pt modelId="{59910067-E2EB-4BFB-9DE4-B77FA36BC446}">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nSpc>
              <a:spcPct val="150000"/>
            </a:lnSpc>
          </a:pPr>
          <a:r>
            <a:rPr lang="zh-CN" altLang="en-US" sz="2400" b="1" dirty="0" smtClean="0">
              <a:solidFill>
                <a:schemeClr val="tx1"/>
              </a:solidFill>
              <a:effectLst>
                <a:outerShdw blurRad="38100" dist="38100" dir="2700000" algn="tl">
                  <a:srgbClr val="000000">
                    <a:alpha val="43137"/>
                  </a:srgbClr>
                </a:outerShdw>
              </a:effectLst>
            </a:rPr>
            <a:t>塑性区开展到宽度</a:t>
          </a:r>
          <a:r>
            <a:rPr lang="en-US" altLang="zh-CN" sz="2400" b="1" dirty="0" smtClean="0">
              <a:solidFill>
                <a:schemeClr val="tx1"/>
              </a:solidFill>
              <a:effectLst>
                <a:outerShdw blurRad="38100" dist="38100" dir="2700000" algn="tl">
                  <a:srgbClr val="000000">
                    <a:alpha val="43137"/>
                  </a:srgbClr>
                </a:outerShdw>
              </a:effectLst>
            </a:rPr>
            <a:t>1/4</a:t>
          </a:r>
          <a:r>
            <a:rPr lang="zh-CN" altLang="en-US" sz="2400" b="1" dirty="0" smtClean="0">
              <a:solidFill>
                <a:schemeClr val="tx1"/>
              </a:solidFill>
              <a:effectLst>
                <a:outerShdw blurRad="38100" dist="38100" dir="2700000" algn="tl">
                  <a:srgbClr val="000000">
                    <a:alpha val="43137"/>
                  </a:srgbClr>
                </a:outerShdw>
              </a:effectLst>
            </a:rPr>
            <a:t>的深度时相应的临界承载力 </a:t>
          </a:r>
          <a:endParaRPr lang="zh-CN" altLang="en-US" sz="2400" b="1" dirty="0">
            <a:solidFill>
              <a:schemeClr val="tx1"/>
            </a:solidFill>
            <a:effectLst>
              <a:outerShdw blurRad="38100" dist="38100" dir="2700000" algn="tl">
                <a:srgbClr val="000000">
                  <a:alpha val="43137"/>
                </a:srgbClr>
              </a:outerShdw>
            </a:effectLst>
          </a:endParaRPr>
        </a:p>
      </dgm:t>
    </dgm:pt>
    <dgm:pt modelId="{EEB351CE-1889-49D6-A8EC-9D5840D0DB86}" type="parTrans" cxnId="{997210EC-D8A7-4D92-B192-D9595BABC4ED}">
      <dgm:prSet/>
      <dgm:spPr/>
      <dgm:t>
        <a:bodyPr/>
        <a:lstStyle/>
        <a:p>
          <a:endParaRPr lang="zh-CN" altLang="en-US"/>
        </a:p>
      </dgm:t>
    </dgm:pt>
    <dgm:pt modelId="{4CE99D76-F702-4628-9D38-FA590E18CFD9}" type="sibTrans" cxnId="{997210EC-D8A7-4D92-B192-D9595BABC4ED}">
      <dgm:prSet/>
      <dgm:spPr/>
      <dgm:t>
        <a:bodyPr/>
        <a:lstStyle/>
        <a:p>
          <a:endParaRPr lang="zh-CN" altLang="en-US"/>
        </a:p>
      </dgm:t>
    </dgm:pt>
    <dgm:pt modelId="{C246CF0C-8148-4D82-AE91-67EDBC74918C}" type="pres">
      <dgm:prSet presAssocID="{F2019A7E-B1B3-48D3-8DB0-7862103AB839}" presName="Name0" presStyleCnt="0">
        <dgm:presLayoutVars>
          <dgm:dir/>
          <dgm:resizeHandles val="exact"/>
        </dgm:presLayoutVars>
      </dgm:prSet>
      <dgm:spPr/>
    </dgm:pt>
    <dgm:pt modelId="{62E48AC1-DD64-4779-94AA-5F261A203B0F}" type="pres">
      <dgm:prSet presAssocID="{F2019A7E-B1B3-48D3-8DB0-7862103AB839}" presName="vNodes" presStyleCnt="0"/>
      <dgm:spPr/>
    </dgm:pt>
    <dgm:pt modelId="{84DF245F-2F4E-41EF-B240-16EF9E4343D5}" type="pres">
      <dgm:prSet presAssocID="{7E184F79-843D-49B5-9217-4B0984E5F959}" presName="node" presStyleLbl="node1" presStyleIdx="0" presStyleCnt="3">
        <dgm:presLayoutVars>
          <dgm:bulletEnabled val="1"/>
        </dgm:presLayoutVars>
      </dgm:prSet>
      <dgm:spPr/>
      <dgm:t>
        <a:bodyPr/>
        <a:lstStyle/>
        <a:p>
          <a:endParaRPr lang="zh-CN" altLang="en-US"/>
        </a:p>
      </dgm:t>
    </dgm:pt>
    <dgm:pt modelId="{0CD38CFC-D961-46A3-9CFB-BBAFF61626B3}" type="pres">
      <dgm:prSet presAssocID="{3FC4394A-086B-4FDA-B33B-54B2C51CB28D}" presName="spacerT" presStyleCnt="0"/>
      <dgm:spPr/>
    </dgm:pt>
    <dgm:pt modelId="{1B96B53B-7CE9-4F02-A046-5D685F685C74}" type="pres">
      <dgm:prSet presAssocID="{3FC4394A-086B-4FDA-B33B-54B2C51CB28D}" presName="sibTrans" presStyleLbl="sibTrans2D1" presStyleIdx="0" presStyleCnt="2"/>
      <dgm:spPr/>
      <dgm:t>
        <a:bodyPr/>
        <a:lstStyle/>
        <a:p>
          <a:endParaRPr lang="zh-CN" altLang="en-US"/>
        </a:p>
      </dgm:t>
    </dgm:pt>
    <dgm:pt modelId="{48670695-49B2-4461-A572-2EEC5811E58D}" type="pres">
      <dgm:prSet presAssocID="{3FC4394A-086B-4FDA-B33B-54B2C51CB28D}" presName="spacerB" presStyleCnt="0"/>
      <dgm:spPr/>
    </dgm:pt>
    <dgm:pt modelId="{BFE3CEB2-F955-4739-AB12-DA9D473118DA}" type="pres">
      <dgm:prSet presAssocID="{CD3A5C3D-9028-4451-B579-4CB2D000C00C}" presName="node" presStyleLbl="node1" presStyleIdx="1" presStyleCnt="3">
        <dgm:presLayoutVars>
          <dgm:bulletEnabled val="1"/>
        </dgm:presLayoutVars>
      </dgm:prSet>
      <dgm:spPr/>
      <dgm:t>
        <a:bodyPr/>
        <a:lstStyle/>
        <a:p>
          <a:endParaRPr lang="zh-CN" altLang="en-US"/>
        </a:p>
      </dgm:t>
    </dgm:pt>
    <dgm:pt modelId="{0A7935BD-96FB-43BD-975C-23414861B6B4}" type="pres">
      <dgm:prSet presAssocID="{F2019A7E-B1B3-48D3-8DB0-7862103AB839}" presName="sibTransLast" presStyleLbl="sibTrans2D1" presStyleIdx="1" presStyleCnt="2" custScaleX="164355" custScaleY="47797"/>
      <dgm:spPr/>
      <dgm:t>
        <a:bodyPr/>
        <a:lstStyle/>
        <a:p>
          <a:endParaRPr lang="zh-CN" altLang="en-US"/>
        </a:p>
      </dgm:t>
    </dgm:pt>
    <dgm:pt modelId="{9D28F535-73D0-43E9-BC33-00F16C3E724B}" type="pres">
      <dgm:prSet presAssocID="{F2019A7E-B1B3-48D3-8DB0-7862103AB839}" presName="connectorText" presStyleLbl="sibTrans2D1" presStyleIdx="1" presStyleCnt="2"/>
      <dgm:spPr/>
      <dgm:t>
        <a:bodyPr/>
        <a:lstStyle/>
        <a:p>
          <a:endParaRPr lang="zh-CN" altLang="en-US"/>
        </a:p>
      </dgm:t>
    </dgm:pt>
    <dgm:pt modelId="{1FA89EBF-00C6-4244-88F6-F3F39A00F828}" type="pres">
      <dgm:prSet presAssocID="{F2019A7E-B1B3-48D3-8DB0-7862103AB839}" presName="lastNode" presStyleLbl="node1" presStyleIdx="2" presStyleCnt="3" custScaleX="115113" custScaleY="107632" custLinFactX="39407" custLinFactNeighborX="100000" custLinFactNeighborY="0">
        <dgm:presLayoutVars>
          <dgm:bulletEnabled val="1"/>
        </dgm:presLayoutVars>
      </dgm:prSet>
      <dgm:spPr/>
      <dgm:t>
        <a:bodyPr/>
        <a:lstStyle/>
        <a:p>
          <a:endParaRPr lang="zh-CN" altLang="en-US"/>
        </a:p>
      </dgm:t>
    </dgm:pt>
  </dgm:ptLst>
  <dgm:cxnLst>
    <dgm:cxn modelId="{997210EC-D8A7-4D92-B192-D9595BABC4ED}" srcId="{F2019A7E-B1B3-48D3-8DB0-7862103AB839}" destId="{59910067-E2EB-4BFB-9DE4-B77FA36BC446}" srcOrd="2" destOrd="0" parTransId="{EEB351CE-1889-49D6-A8EC-9D5840D0DB86}" sibTransId="{4CE99D76-F702-4628-9D38-FA590E18CFD9}"/>
    <dgm:cxn modelId="{FDEDAE0B-D2F1-4161-BBD4-2731F4E34EFE}" type="presOf" srcId="{59910067-E2EB-4BFB-9DE4-B77FA36BC446}" destId="{1FA89EBF-00C6-4244-88F6-F3F39A00F828}" srcOrd="0" destOrd="0" presId="urn:microsoft.com/office/officeart/2005/8/layout/equation2"/>
    <dgm:cxn modelId="{FEA6B2A2-5A26-4B68-94EE-1BF3AF9601B5}" type="presOf" srcId="{3FC4394A-086B-4FDA-B33B-54B2C51CB28D}" destId="{1B96B53B-7CE9-4F02-A046-5D685F685C74}" srcOrd="0" destOrd="0" presId="urn:microsoft.com/office/officeart/2005/8/layout/equation2"/>
    <dgm:cxn modelId="{6770D59F-447A-44E3-89D4-25583A5B1E26}" type="presOf" srcId="{58687F98-6B55-40EB-9FA5-03371D0A2F08}" destId="{9D28F535-73D0-43E9-BC33-00F16C3E724B}" srcOrd="1" destOrd="0" presId="urn:microsoft.com/office/officeart/2005/8/layout/equation2"/>
    <dgm:cxn modelId="{DBFCA480-9ABF-4F9B-BE0C-338707C30C98}" type="presOf" srcId="{F2019A7E-B1B3-48D3-8DB0-7862103AB839}" destId="{C246CF0C-8148-4D82-AE91-67EDBC74918C}" srcOrd="0" destOrd="0" presId="urn:microsoft.com/office/officeart/2005/8/layout/equation2"/>
    <dgm:cxn modelId="{27EE11F3-C4BD-431C-8216-2B37F42278B7}" type="presOf" srcId="{58687F98-6B55-40EB-9FA5-03371D0A2F08}" destId="{0A7935BD-96FB-43BD-975C-23414861B6B4}" srcOrd="0" destOrd="0" presId="urn:microsoft.com/office/officeart/2005/8/layout/equation2"/>
    <dgm:cxn modelId="{DF9129E5-88C3-4A6E-9BDF-9AF32CFA3BEA}" srcId="{F2019A7E-B1B3-48D3-8DB0-7862103AB839}" destId="{7E184F79-843D-49B5-9217-4B0984E5F959}" srcOrd="0" destOrd="0" parTransId="{E28B0EE5-2A68-4515-BAC5-09C90CF4E07D}" sibTransId="{3FC4394A-086B-4FDA-B33B-54B2C51CB28D}"/>
    <dgm:cxn modelId="{814FAC81-B6B3-402E-8F21-2C17B7D3033D}" srcId="{F2019A7E-B1B3-48D3-8DB0-7862103AB839}" destId="{CD3A5C3D-9028-4451-B579-4CB2D000C00C}" srcOrd="1" destOrd="0" parTransId="{C0982A02-15F5-4843-810D-1949AD09DD3D}" sibTransId="{58687F98-6B55-40EB-9FA5-03371D0A2F08}"/>
    <dgm:cxn modelId="{4441B0F1-EC84-4BC0-8BCC-3B4C60C62A10}" type="presOf" srcId="{7E184F79-843D-49B5-9217-4B0984E5F959}" destId="{84DF245F-2F4E-41EF-B240-16EF9E4343D5}" srcOrd="0" destOrd="0" presId="urn:microsoft.com/office/officeart/2005/8/layout/equation2"/>
    <dgm:cxn modelId="{2711CA05-D403-4761-8D55-F8C8C99A78C7}" type="presOf" srcId="{CD3A5C3D-9028-4451-B579-4CB2D000C00C}" destId="{BFE3CEB2-F955-4739-AB12-DA9D473118DA}" srcOrd="0" destOrd="0" presId="urn:microsoft.com/office/officeart/2005/8/layout/equation2"/>
    <dgm:cxn modelId="{1AC37287-8509-43B5-89A2-99BFFCBD170D}" type="presParOf" srcId="{C246CF0C-8148-4D82-AE91-67EDBC74918C}" destId="{62E48AC1-DD64-4779-94AA-5F261A203B0F}" srcOrd="0" destOrd="0" presId="urn:microsoft.com/office/officeart/2005/8/layout/equation2"/>
    <dgm:cxn modelId="{87172463-E9E3-4A22-8A6F-2B426EC19A88}" type="presParOf" srcId="{62E48AC1-DD64-4779-94AA-5F261A203B0F}" destId="{84DF245F-2F4E-41EF-B240-16EF9E4343D5}" srcOrd="0" destOrd="0" presId="urn:microsoft.com/office/officeart/2005/8/layout/equation2"/>
    <dgm:cxn modelId="{9F27F9DD-DE48-4896-8DEB-FEB40AB3CEC1}" type="presParOf" srcId="{62E48AC1-DD64-4779-94AA-5F261A203B0F}" destId="{0CD38CFC-D961-46A3-9CFB-BBAFF61626B3}" srcOrd="1" destOrd="0" presId="urn:microsoft.com/office/officeart/2005/8/layout/equation2"/>
    <dgm:cxn modelId="{D88311B9-DAC5-4F67-893C-68DF7B9E28C2}" type="presParOf" srcId="{62E48AC1-DD64-4779-94AA-5F261A203B0F}" destId="{1B96B53B-7CE9-4F02-A046-5D685F685C74}" srcOrd="2" destOrd="0" presId="urn:microsoft.com/office/officeart/2005/8/layout/equation2"/>
    <dgm:cxn modelId="{12D79459-D86E-4510-8B12-0CD7FF640926}" type="presParOf" srcId="{62E48AC1-DD64-4779-94AA-5F261A203B0F}" destId="{48670695-49B2-4461-A572-2EEC5811E58D}" srcOrd="3" destOrd="0" presId="urn:microsoft.com/office/officeart/2005/8/layout/equation2"/>
    <dgm:cxn modelId="{85AFC829-AB4E-49E1-A453-AD23A2A62F68}" type="presParOf" srcId="{62E48AC1-DD64-4779-94AA-5F261A203B0F}" destId="{BFE3CEB2-F955-4739-AB12-DA9D473118DA}" srcOrd="4" destOrd="0" presId="urn:microsoft.com/office/officeart/2005/8/layout/equation2"/>
    <dgm:cxn modelId="{75F6F705-A8CB-4710-A74D-CAC7F5451D1F}" type="presParOf" srcId="{C246CF0C-8148-4D82-AE91-67EDBC74918C}" destId="{0A7935BD-96FB-43BD-975C-23414861B6B4}" srcOrd="1" destOrd="0" presId="urn:microsoft.com/office/officeart/2005/8/layout/equation2"/>
    <dgm:cxn modelId="{60825F53-1384-4FAC-98BF-D017D0829EEA}" type="presParOf" srcId="{0A7935BD-96FB-43BD-975C-23414861B6B4}" destId="{9D28F535-73D0-43E9-BC33-00F16C3E724B}" srcOrd="0" destOrd="0" presId="urn:microsoft.com/office/officeart/2005/8/layout/equation2"/>
    <dgm:cxn modelId="{2B21AEA4-5229-4011-806C-65DCEE3F2D2D}" type="presParOf" srcId="{C246CF0C-8148-4D82-AE91-67EDBC74918C}" destId="{1FA89EBF-00C6-4244-88F6-F3F39A00F828}" srcOrd="2" destOrd="0" presId="urn:microsoft.com/office/officeart/2005/8/layout/equati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7E2BB64-38A6-4488-BED1-601C1540F260}" type="doc">
      <dgm:prSet loTypeId="urn:microsoft.com/office/officeart/2005/8/layout/equation1" loCatId="relationship" qsTypeId="urn:microsoft.com/office/officeart/2005/8/quickstyle/3d1" qsCatId="3D" csTypeId="urn:microsoft.com/office/officeart/2005/8/colors/accent2_2" csCatId="accent2" phldr="1"/>
      <dgm:spPr/>
    </dgm:pt>
    <dgm:pt modelId="{3174930B-B43E-41FD-96B5-17CA2DAF5674}">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1800" dirty="0" smtClean="0">
              <a:solidFill>
                <a:schemeClr val="tx1"/>
              </a:solidFill>
              <a:effectLst>
                <a:outerShdw blurRad="38100" dist="38100" dir="2700000" algn="tl">
                  <a:srgbClr val="000000">
                    <a:alpha val="43137"/>
                  </a:srgbClr>
                </a:outerShdw>
              </a:effectLst>
            </a:rPr>
            <a:t>附加应力</a:t>
          </a:r>
          <a:endParaRPr lang="zh-CN" altLang="en-US" sz="1800" dirty="0">
            <a:solidFill>
              <a:schemeClr val="tx1"/>
            </a:solidFill>
            <a:effectLst>
              <a:outerShdw blurRad="38100" dist="38100" dir="2700000" algn="tl">
                <a:srgbClr val="000000">
                  <a:alpha val="43137"/>
                </a:srgbClr>
              </a:outerShdw>
            </a:effectLst>
          </a:endParaRPr>
        </a:p>
      </dgm:t>
    </dgm:pt>
    <dgm:pt modelId="{3A5795BE-15F9-4E36-8E48-EA65BE2D7E7D}" type="parTrans" cxnId="{073E2381-C8EA-4E47-8115-69791493CB32}">
      <dgm:prSet/>
      <dgm:spPr/>
      <dgm:t>
        <a:bodyPr/>
        <a:lstStyle/>
        <a:p>
          <a:endParaRPr lang="zh-CN" altLang="en-US"/>
        </a:p>
      </dgm:t>
    </dgm:pt>
    <dgm:pt modelId="{465E8EF7-F646-4E4C-B78F-57E002A3C027}" type="sibTrans" cxnId="{073E2381-C8EA-4E47-8115-69791493CB32}">
      <dgm:prSet/>
      <dgm:spPr>
        <a:solidFill>
          <a:srgbClr val="FFFF66"/>
        </a:solidFill>
        <a:ln>
          <a:noFill/>
        </a:ln>
        <a:effectLst>
          <a:outerShdw blurRad="107950" dist="12700" dir="5400000" algn="ctr">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gm:spPr>
      <dgm:t>
        <a:bodyPr/>
        <a:lstStyle/>
        <a:p>
          <a:endParaRPr lang="zh-CN" altLang="en-US"/>
        </a:p>
      </dgm:t>
    </dgm:pt>
    <dgm:pt modelId="{6BCE5ECF-BE39-4BB3-965F-C960A7D57DA4}">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1800" dirty="0" smtClean="0">
              <a:solidFill>
                <a:schemeClr val="tx1"/>
              </a:solidFill>
              <a:effectLst>
                <a:outerShdw blurRad="38100" dist="38100" dir="2700000" algn="tl">
                  <a:srgbClr val="000000">
                    <a:alpha val="43137"/>
                  </a:srgbClr>
                </a:outerShdw>
              </a:effectLst>
            </a:rPr>
            <a:t>自重应力</a:t>
          </a:r>
          <a:endParaRPr lang="zh-CN" altLang="en-US" sz="1800" dirty="0">
            <a:solidFill>
              <a:schemeClr val="tx1"/>
            </a:solidFill>
            <a:effectLst>
              <a:outerShdw blurRad="38100" dist="38100" dir="2700000" algn="tl">
                <a:srgbClr val="000000">
                  <a:alpha val="43137"/>
                </a:srgbClr>
              </a:outerShdw>
            </a:effectLst>
          </a:endParaRPr>
        </a:p>
      </dgm:t>
    </dgm:pt>
    <dgm:pt modelId="{380BDC69-74BC-44A6-906D-DB4E4820232B}" type="parTrans" cxnId="{64B2DD70-A477-472B-8433-DA27D6EE2577}">
      <dgm:prSet/>
      <dgm:spPr/>
      <dgm:t>
        <a:bodyPr/>
        <a:lstStyle/>
        <a:p>
          <a:endParaRPr lang="zh-CN" altLang="en-US"/>
        </a:p>
      </dgm:t>
    </dgm:pt>
    <dgm:pt modelId="{22F83AAD-B7DC-4729-80BA-B4DBE6FF18B9}" type="sibTrans" cxnId="{64B2DD70-A477-472B-8433-DA27D6EE2577}">
      <dgm:prSet/>
      <dgm:spPr>
        <a:solidFill>
          <a:srgbClr val="FFFF66"/>
        </a:solidFill>
        <a:ln>
          <a:noFill/>
        </a:ln>
        <a:effectLst>
          <a:outerShdw blurRad="107950" dist="12700" dir="5400000" algn="ctr">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gm:spPr>
      <dgm:t>
        <a:bodyPr/>
        <a:lstStyle/>
        <a:p>
          <a:endParaRPr lang="zh-CN" altLang="en-US"/>
        </a:p>
      </dgm:t>
    </dgm:pt>
    <dgm:pt modelId="{FD7D28C6-03AB-4BD4-B9DB-E90F38974E7F}">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1800" dirty="0" smtClean="0">
              <a:solidFill>
                <a:schemeClr val="tx1"/>
              </a:solidFill>
              <a:effectLst>
                <a:outerShdw blurRad="38100" dist="38100" dir="2700000" algn="tl">
                  <a:srgbClr val="000000">
                    <a:alpha val="43137"/>
                  </a:srgbClr>
                </a:outerShdw>
              </a:effectLst>
            </a:rPr>
            <a:t>总应力</a:t>
          </a:r>
          <a:endParaRPr lang="zh-CN" altLang="en-US" sz="1800" dirty="0">
            <a:solidFill>
              <a:schemeClr val="tx1"/>
            </a:solidFill>
            <a:effectLst>
              <a:outerShdw blurRad="38100" dist="38100" dir="2700000" algn="tl">
                <a:srgbClr val="000000">
                  <a:alpha val="43137"/>
                </a:srgbClr>
              </a:outerShdw>
            </a:effectLst>
          </a:endParaRPr>
        </a:p>
      </dgm:t>
    </dgm:pt>
    <dgm:pt modelId="{9A984ABD-50C8-4A8C-A57A-05C5C504A9FF}" type="parTrans" cxnId="{26F8BF6E-BC0D-41FD-A135-31C16878BD31}">
      <dgm:prSet/>
      <dgm:spPr/>
      <dgm:t>
        <a:bodyPr/>
        <a:lstStyle/>
        <a:p>
          <a:endParaRPr lang="zh-CN" altLang="en-US"/>
        </a:p>
      </dgm:t>
    </dgm:pt>
    <dgm:pt modelId="{771DE93B-C54C-4F9C-A9DE-6E560A59991B}" type="sibTrans" cxnId="{26F8BF6E-BC0D-41FD-A135-31C16878BD31}">
      <dgm:prSet/>
      <dgm:spPr/>
      <dgm:t>
        <a:bodyPr/>
        <a:lstStyle/>
        <a:p>
          <a:endParaRPr lang="zh-CN" altLang="en-US"/>
        </a:p>
      </dgm:t>
    </dgm:pt>
    <dgm:pt modelId="{AB041637-6717-401F-A2A2-5E1AF657EB56}" type="pres">
      <dgm:prSet presAssocID="{87E2BB64-38A6-4488-BED1-601C1540F260}" presName="linearFlow" presStyleCnt="0">
        <dgm:presLayoutVars>
          <dgm:dir/>
          <dgm:resizeHandles val="exact"/>
        </dgm:presLayoutVars>
      </dgm:prSet>
      <dgm:spPr/>
    </dgm:pt>
    <dgm:pt modelId="{F20B5629-D026-4087-ACE6-0C32346F9F30}" type="pres">
      <dgm:prSet presAssocID="{3174930B-B43E-41FD-96B5-17CA2DAF5674}" presName="node" presStyleLbl="node1" presStyleIdx="0" presStyleCnt="3">
        <dgm:presLayoutVars>
          <dgm:bulletEnabled val="1"/>
        </dgm:presLayoutVars>
      </dgm:prSet>
      <dgm:spPr/>
      <dgm:t>
        <a:bodyPr/>
        <a:lstStyle/>
        <a:p>
          <a:endParaRPr lang="zh-CN" altLang="en-US"/>
        </a:p>
      </dgm:t>
    </dgm:pt>
    <dgm:pt modelId="{715D4F02-63A5-4010-913F-E1E90570DAC6}" type="pres">
      <dgm:prSet presAssocID="{465E8EF7-F646-4E4C-B78F-57E002A3C027}" presName="spacerL" presStyleCnt="0"/>
      <dgm:spPr/>
    </dgm:pt>
    <dgm:pt modelId="{4A2FFA02-6CC4-4FB0-A751-0417C7F787F1}" type="pres">
      <dgm:prSet presAssocID="{465E8EF7-F646-4E4C-B78F-57E002A3C027}" presName="sibTrans" presStyleLbl="sibTrans2D1" presStyleIdx="0" presStyleCnt="2"/>
      <dgm:spPr/>
      <dgm:t>
        <a:bodyPr/>
        <a:lstStyle/>
        <a:p>
          <a:endParaRPr lang="zh-CN" altLang="en-US"/>
        </a:p>
      </dgm:t>
    </dgm:pt>
    <dgm:pt modelId="{26B83B0A-8A66-48FA-B9CE-38798D5F2556}" type="pres">
      <dgm:prSet presAssocID="{465E8EF7-F646-4E4C-B78F-57E002A3C027}" presName="spacerR" presStyleCnt="0"/>
      <dgm:spPr/>
    </dgm:pt>
    <dgm:pt modelId="{D52636C3-070D-44D6-8BF7-2E257D57C997}" type="pres">
      <dgm:prSet presAssocID="{6BCE5ECF-BE39-4BB3-965F-C960A7D57DA4}" presName="node" presStyleLbl="node1" presStyleIdx="1" presStyleCnt="3">
        <dgm:presLayoutVars>
          <dgm:bulletEnabled val="1"/>
        </dgm:presLayoutVars>
      </dgm:prSet>
      <dgm:spPr/>
      <dgm:t>
        <a:bodyPr/>
        <a:lstStyle/>
        <a:p>
          <a:endParaRPr lang="zh-CN" altLang="en-US"/>
        </a:p>
      </dgm:t>
    </dgm:pt>
    <dgm:pt modelId="{D12656B1-C94F-4C2D-90D0-7370A10E53BC}" type="pres">
      <dgm:prSet presAssocID="{22F83AAD-B7DC-4729-80BA-B4DBE6FF18B9}" presName="spacerL" presStyleCnt="0"/>
      <dgm:spPr/>
    </dgm:pt>
    <dgm:pt modelId="{7425E4C8-AC3E-4B75-AD59-66EA5C2328A5}" type="pres">
      <dgm:prSet presAssocID="{22F83AAD-B7DC-4729-80BA-B4DBE6FF18B9}" presName="sibTrans" presStyleLbl="sibTrans2D1" presStyleIdx="1" presStyleCnt="2" custScaleX="404230"/>
      <dgm:spPr/>
      <dgm:t>
        <a:bodyPr/>
        <a:lstStyle/>
        <a:p>
          <a:endParaRPr lang="zh-CN" altLang="en-US"/>
        </a:p>
      </dgm:t>
    </dgm:pt>
    <dgm:pt modelId="{FF18E40A-6674-4D8F-9F1B-0307DFA84131}" type="pres">
      <dgm:prSet presAssocID="{22F83AAD-B7DC-4729-80BA-B4DBE6FF18B9}" presName="spacerR" presStyleCnt="0"/>
      <dgm:spPr/>
    </dgm:pt>
    <dgm:pt modelId="{F6B47082-5E79-496A-A07D-8229E2A09F32}" type="pres">
      <dgm:prSet presAssocID="{FD7D28C6-03AB-4BD4-B9DB-E90F38974E7F}" presName="node" presStyleLbl="node1" presStyleIdx="2" presStyleCnt="3">
        <dgm:presLayoutVars>
          <dgm:bulletEnabled val="1"/>
        </dgm:presLayoutVars>
      </dgm:prSet>
      <dgm:spPr/>
      <dgm:t>
        <a:bodyPr/>
        <a:lstStyle/>
        <a:p>
          <a:endParaRPr lang="zh-CN" altLang="en-US"/>
        </a:p>
      </dgm:t>
    </dgm:pt>
  </dgm:ptLst>
  <dgm:cxnLst>
    <dgm:cxn modelId="{64B2DD70-A477-472B-8433-DA27D6EE2577}" srcId="{87E2BB64-38A6-4488-BED1-601C1540F260}" destId="{6BCE5ECF-BE39-4BB3-965F-C960A7D57DA4}" srcOrd="1" destOrd="0" parTransId="{380BDC69-74BC-44A6-906D-DB4E4820232B}" sibTransId="{22F83AAD-B7DC-4729-80BA-B4DBE6FF18B9}"/>
    <dgm:cxn modelId="{422B74A5-A57F-43BE-ACF5-FE736A1E3092}" type="presOf" srcId="{6BCE5ECF-BE39-4BB3-965F-C960A7D57DA4}" destId="{D52636C3-070D-44D6-8BF7-2E257D57C997}" srcOrd="0" destOrd="0" presId="urn:microsoft.com/office/officeart/2005/8/layout/equation1"/>
    <dgm:cxn modelId="{565E1002-F6C0-46A0-BCB5-FCE51A3E303F}" type="presOf" srcId="{87E2BB64-38A6-4488-BED1-601C1540F260}" destId="{AB041637-6717-401F-A2A2-5E1AF657EB56}" srcOrd="0" destOrd="0" presId="urn:microsoft.com/office/officeart/2005/8/layout/equation1"/>
    <dgm:cxn modelId="{A991587C-73A0-49E6-9067-64F015B663D0}" type="presOf" srcId="{465E8EF7-F646-4E4C-B78F-57E002A3C027}" destId="{4A2FFA02-6CC4-4FB0-A751-0417C7F787F1}" srcOrd="0" destOrd="0" presId="urn:microsoft.com/office/officeart/2005/8/layout/equation1"/>
    <dgm:cxn modelId="{073E2381-C8EA-4E47-8115-69791493CB32}" srcId="{87E2BB64-38A6-4488-BED1-601C1540F260}" destId="{3174930B-B43E-41FD-96B5-17CA2DAF5674}" srcOrd="0" destOrd="0" parTransId="{3A5795BE-15F9-4E36-8E48-EA65BE2D7E7D}" sibTransId="{465E8EF7-F646-4E4C-B78F-57E002A3C027}"/>
    <dgm:cxn modelId="{108ABA6F-8E68-45DC-BB5B-3516BD140833}" type="presOf" srcId="{3174930B-B43E-41FD-96B5-17CA2DAF5674}" destId="{F20B5629-D026-4087-ACE6-0C32346F9F30}" srcOrd="0" destOrd="0" presId="urn:microsoft.com/office/officeart/2005/8/layout/equation1"/>
    <dgm:cxn modelId="{26F8BF6E-BC0D-41FD-A135-31C16878BD31}" srcId="{87E2BB64-38A6-4488-BED1-601C1540F260}" destId="{FD7D28C6-03AB-4BD4-B9DB-E90F38974E7F}" srcOrd="2" destOrd="0" parTransId="{9A984ABD-50C8-4A8C-A57A-05C5C504A9FF}" sibTransId="{771DE93B-C54C-4F9C-A9DE-6E560A59991B}"/>
    <dgm:cxn modelId="{C1DADBDC-1ABE-4E07-9608-B22ED6F4C0E9}" type="presOf" srcId="{22F83AAD-B7DC-4729-80BA-B4DBE6FF18B9}" destId="{7425E4C8-AC3E-4B75-AD59-66EA5C2328A5}" srcOrd="0" destOrd="0" presId="urn:microsoft.com/office/officeart/2005/8/layout/equation1"/>
    <dgm:cxn modelId="{3695D80C-920E-4AE0-974B-EBA0A2CEE8B5}" type="presOf" srcId="{FD7D28C6-03AB-4BD4-B9DB-E90F38974E7F}" destId="{F6B47082-5E79-496A-A07D-8229E2A09F32}" srcOrd="0" destOrd="0" presId="urn:microsoft.com/office/officeart/2005/8/layout/equation1"/>
    <dgm:cxn modelId="{B384F566-C6BB-46C5-8F0C-56D4579B7D01}" type="presParOf" srcId="{AB041637-6717-401F-A2A2-5E1AF657EB56}" destId="{F20B5629-D026-4087-ACE6-0C32346F9F30}" srcOrd="0" destOrd="0" presId="urn:microsoft.com/office/officeart/2005/8/layout/equation1"/>
    <dgm:cxn modelId="{C7537E5F-0A33-4BF6-A4FA-8AC0167F44E3}" type="presParOf" srcId="{AB041637-6717-401F-A2A2-5E1AF657EB56}" destId="{715D4F02-63A5-4010-913F-E1E90570DAC6}" srcOrd="1" destOrd="0" presId="urn:microsoft.com/office/officeart/2005/8/layout/equation1"/>
    <dgm:cxn modelId="{3D7F0EE4-BCAC-4515-B6F1-9CFC872309CD}" type="presParOf" srcId="{AB041637-6717-401F-A2A2-5E1AF657EB56}" destId="{4A2FFA02-6CC4-4FB0-A751-0417C7F787F1}" srcOrd="2" destOrd="0" presId="urn:microsoft.com/office/officeart/2005/8/layout/equation1"/>
    <dgm:cxn modelId="{230BE1BB-B08C-4B77-8365-6F8481D7482E}" type="presParOf" srcId="{AB041637-6717-401F-A2A2-5E1AF657EB56}" destId="{26B83B0A-8A66-48FA-B9CE-38798D5F2556}" srcOrd="3" destOrd="0" presId="urn:microsoft.com/office/officeart/2005/8/layout/equation1"/>
    <dgm:cxn modelId="{0ED8AAF3-64C0-45EB-83B7-E932964A087E}" type="presParOf" srcId="{AB041637-6717-401F-A2A2-5E1AF657EB56}" destId="{D52636C3-070D-44D6-8BF7-2E257D57C997}" srcOrd="4" destOrd="0" presId="urn:microsoft.com/office/officeart/2005/8/layout/equation1"/>
    <dgm:cxn modelId="{48B6D001-EDF7-45D4-A37D-0C3FBAB58551}" type="presParOf" srcId="{AB041637-6717-401F-A2A2-5E1AF657EB56}" destId="{D12656B1-C94F-4C2D-90D0-7370A10E53BC}" srcOrd="5" destOrd="0" presId="urn:microsoft.com/office/officeart/2005/8/layout/equation1"/>
    <dgm:cxn modelId="{6BEA8ECA-7C50-4620-8342-4DB67E6B26EB}" type="presParOf" srcId="{AB041637-6717-401F-A2A2-5E1AF657EB56}" destId="{7425E4C8-AC3E-4B75-AD59-66EA5C2328A5}" srcOrd="6" destOrd="0" presId="urn:microsoft.com/office/officeart/2005/8/layout/equation1"/>
    <dgm:cxn modelId="{15079693-FB0B-4313-847D-A3C9DE9F7274}" type="presParOf" srcId="{AB041637-6717-401F-A2A2-5E1AF657EB56}" destId="{FF18E40A-6674-4D8F-9F1B-0307DFA84131}" srcOrd="7" destOrd="0" presId="urn:microsoft.com/office/officeart/2005/8/layout/equation1"/>
    <dgm:cxn modelId="{71B92362-057D-4C49-B12C-E25AABAEC9A8}" type="presParOf" srcId="{AB041637-6717-401F-A2A2-5E1AF657EB56}" destId="{F6B47082-5E79-496A-A07D-8229E2A09F32}" srcOrd="8" destOrd="0" presId="urn:microsoft.com/office/officeart/2005/8/layout/equati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7CEC60-1828-4657-AFD1-A679EBB2D451}" type="doc">
      <dgm:prSet loTypeId="urn:microsoft.com/office/officeart/2005/8/layout/list1" loCatId="list" qsTypeId="urn:microsoft.com/office/officeart/2005/8/quickstyle/3d1" qsCatId="3D" csTypeId="urn:microsoft.com/office/officeart/2005/8/colors/accent2_2" csCatId="accent2" phldr="1"/>
      <dgm:spPr/>
      <dgm:t>
        <a:bodyPr/>
        <a:lstStyle/>
        <a:p>
          <a:endParaRPr lang="zh-CN" altLang="en-US"/>
        </a:p>
      </dgm:t>
    </dgm:pt>
    <dgm:pt modelId="{00C0C149-B3C2-4C14-A35F-60FA6815A5C5}">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altLang="zh-CN" sz="3200" b="1" dirty="0" smtClean="0">
              <a:solidFill>
                <a:sysClr val="windowText" lastClr="000000"/>
              </a:solidFill>
            </a:rPr>
            <a:t>4.2 </a:t>
          </a:r>
          <a:r>
            <a:rPr lang="zh-CN" altLang="en-US" sz="3200" b="1" dirty="0" smtClean="0">
              <a:solidFill>
                <a:sysClr val="windowText" lastClr="000000"/>
              </a:solidFill>
            </a:rPr>
            <a:t>地基承载力特征值</a:t>
          </a:r>
          <a:endParaRPr lang="zh-CN" altLang="en-US" sz="3200" b="1" dirty="0">
            <a:solidFill>
              <a:sysClr val="windowText" lastClr="000000"/>
            </a:solidFill>
          </a:endParaRPr>
        </a:p>
      </dgm:t>
    </dgm:pt>
    <dgm:pt modelId="{62F63F58-A441-46B8-AD2F-5C9B3D7E4F5B}" type="parTrans" cxnId="{3E7D9A2A-8E79-4AC6-BA67-2EB11D8EDD61}">
      <dgm:prSet/>
      <dgm:spPr/>
      <dgm:t>
        <a:bodyPr/>
        <a:lstStyle/>
        <a:p>
          <a:endParaRPr lang="zh-CN" altLang="en-US"/>
        </a:p>
      </dgm:t>
    </dgm:pt>
    <dgm:pt modelId="{4EEA996F-3BC9-439C-8971-DD89346B13E1}" type="sibTrans" cxnId="{3E7D9A2A-8E79-4AC6-BA67-2EB11D8EDD61}">
      <dgm:prSet/>
      <dgm:spPr/>
      <dgm:t>
        <a:bodyPr/>
        <a:lstStyle/>
        <a:p>
          <a:endParaRPr lang="zh-CN" altLang="en-US"/>
        </a:p>
      </dgm:t>
    </dgm:pt>
    <dgm:pt modelId="{99135BA3-8A63-4D68-BFA6-D1EF82530226}">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altLang="zh-CN" sz="3200" b="1" dirty="0" smtClean="0">
              <a:solidFill>
                <a:sysClr val="windowText" lastClr="000000"/>
              </a:solidFill>
            </a:rPr>
            <a:t>4.3 </a:t>
          </a:r>
          <a:r>
            <a:rPr lang="zh-CN" altLang="en-US" sz="3200" b="1" dirty="0" smtClean="0">
              <a:solidFill>
                <a:sysClr val="windowText" lastClr="000000"/>
              </a:solidFill>
            </a:rPr>
            <a:t>基础埋深修正</a:t>
          </a:r>
          <a:endParaRPr lang="zh-CN" altLang="en-US" sz="3200" b="1" dirty="0">
            <a:solidFill>
              <a:sysClr val="windowText" lastClr="000000"/>
            </a:solidFill>
          </a:endParaRPr>
        </a:p>
      </dgm:t>
    </dgm:pt>
    <dgm:pt modelId="{B8A72E14-CF1A-408A-89FB-4A484420598F}" type="parTrans" cxnId="{A2C02E01-A9AB-48CF-BE6E-EE30896E1C96}">
      <dgm:prSet/>
      <dgm:spPr/>
      <dgm:t>
        <a:bodyPr/>
        <a:lstStyle/>
        <a:p>
          <a:endParaRPr lang="zh-CN" altLang="en-US"/>
        </a:p>
      </dgm:t>
    </dgm:pt>
    <dgm:pt modelId="{A7C52DE5-B546-4CF9-BB86-BEAB37623BF3}" type="sibTrans" cxnId="{A2C02E01-A9AB-48CF-BE6E-EE30896E1C96}">
      <dgm:prSet/>
      <dgm:spPr/>
      <dgm:t>
        <a:bodyPr/>
        <a:lstStyle/>
        <a:p>
          <a:endParaRPr lang="zh-CN" altLang="en-US"/>
        </a:p>
      </dgm:t>
    </dgm:pt>
    <dgm:pt modelId="{E1F7F39C-EB79-468C-8379-2698B51D7B16}">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altLang="zh-CN" sz="3200" b="1" dirty="0" smtClean="0">
              <a:solidFill>
                <a:sysClr val="windowText" lastClr="000000"/>
              </a:solidFill>
            </a:rPr>
            <a:t>4.4 </a:t>
          </a:r>
          <a:r>
            <a:rPr lang="zh-CN" altLang="en-US" sz="3200" b="1" dirty="0" smtClean="0">
              <a:solidFill>
                <a:sysClr val="windowText" lastClr="000000"/>
              </a:solidFill>
            </a:rPr>
            <a:t>基础宽度修正</a:t>
          </a:r>
          <a:endParaRPr lang="zh-CN" altLang="en-US" sz="3200" b="1" dirty="0">
            <a:solidFill>
              <a:sysClr val="windowText" lastClr="000000"/>
            </a:solidFill>
          </a:endParaRPr>
        </a:p>
      </dgm:t>
    </dgm:pt>
    <dgm:pt modelId="{60363AB8-E3D8-49D4-A76C-8F968AA4C941}" type="parTrans" cxnId="{410F2316-BB75-4A59-9E60-36AF26AB9A34}">
      <dgm:prSet/>
      <dgm:spPr/>
      <dgm:t>
        <a:bodyPr/>
        <a:lstStyle/>
        <a:p>
          <a:endParaRPr lang="zh-CN" altLang="en-US"/>
        </a:p>
      </dgm:t>
    </dgm:pt>
    <dgm:pt modelId="{86631553-E812-414F-8163-756A29E6B948}" type="sibTrans" cxnId="{410F2316-BB75-4A59-9E60-36AF26AB9A34}">
      <dgm:prSet/>
      <dgm:spPr/>
      <dgm:t>
        <a:bodyPr/>
        <a:lstStyle/>
        <a:p>
          <a:endParaRPr lang="zh-CN" altLang="en-US"/>
        </a:p>
      </dgm:t>
    </dgm:pt>
    <dgm:pt modelId="{F8F6565A-9F7B-483E-B40D-FDF11F098CEE}" type="pres">
      <dgm:prSet presAssocID="{367CEC60-1828-4657-AFD1-A679EBB2D451}" presName="linear" presStyleCnt="0">
        <dgm:presLayoutVars>
          <dgm:dir/>
          <dgm:animLvl val="lvl"/>
          <dgm:resizeHandles val="exact"/>
        </dgm:presLayoutVars>
      </dgm:prSet>
      <dgm:spPr/>
      <dgm:t>
        <a:bodyPr/>
        <a:lstStyle/>
        <a:p>
          <a:endParaRPr lang="zh-CN" altLang="en-US"/>
        </a:p>
      </dgm:t>
    </dgm:pt>
    <dgm:pt modelId="{AA99F34A-E0D4-40CE-8584-B71208291517}" type="pres">
      <dgm:prSet presAssocID="{00C0C149-B3C2-4C14-A35F-60FA6815A5C5}" presName="parentLin" presStyleCnt="0"/>
      <dgm:spPr/>
      <dgm:t>
        <a:bodyPr/>
        <a:lstStyle/>
        <a:p>
          <a:endParaRPr lang="zh-CN" altLang="en-US"/>
        </a:p>
      </dgm:t>
    </dgm:pt>
    <dgm:pt modelId="{76DBDEB5-7891-4979-A36E-CB00DE3F9907}" type="pres">
      <dgm:prSet presAssocID="{00C0C149-B3C2-4C14-A35F-60FA6815A5C5}" presName="parentLeftMargin" presStyleLbl="node1" presStyleIdx="0" presStyleCnt="3"/>
      <dgm:spPr/>
      <dgm:t>
        <a:bodyPr/>
        <a:lstStyle/>
        <a:p>
          <a:endParaRPr lang="zh-CN" altLang="en-US"/>
        </a:p>
      </dgm:t>
    </dgm:pt>
    <dgm:pt modelId="{28137E7E-678D-4597-9DDF-2C2708466C97}" type="pres">
      <dgm:prSet presAssocID="{00C0C149-B3C2-4C14-A35F-60FA6815A5C5}" presName="parentText" presStyleLbl="node1" presStyleIdx="0" presStyleCnt="3">
        <dgm:presLayoutVars>
          <dgm:chMax val="0"/>
          <dgm:bulletEnabled val="1"/>
        </dgm:presLayoutVars>
      </dgm:prSet>
      <dgm:spPr/>
      <dgm:t>
        <a:bodyPr/>
        <a:lstStyle/>
        <a:p>
          <a:endParaRPr lang="zh-CN" altLang="en-US"/>
        </a:p>
      </dgm:t>
    </dgm:pt>
    <dgm:pt modelId="{1F88DAFD-CC4D-437A-81FD-720C48C4375C}" type="pres">
      <dgm:prSet presAssocID="{00C0C149-B3C2-4C14-A35F-60FA6815A5C5}" presName="negativeSpace" presStyleCnt="0"/>
      <dgm:spPr/>
      <dgm:t>
        <a:bodyPr/>
        <a:lstStyle/>
        <a:p>
          <a:endParaRPr lang="zh-CN" altLang="en-US"/>
        </a:p>
      </dgm:t>
    </dgm:pt>
    <dgm:pt modelId="{7109FBB9-A34F-4B86-AE2E-8E5565CE6982}" type="pres">
      <dgm:prSet presAssocID="{00C0C149-B3C2-4C14-A35F-60FA6815A5C5}" presName="childText" presStyleLbl="conFgAcc1" presStyleIdx="0" presStyleCnt="3">
        <dgm:presLayoutVars>
          <dgm:bulletEnabled val="1"/>
        </dgm:presLayoutVars>
      </dgm:prSet>
      <dgm:spPr/>
      <dgm:t>
        <a:bodyPr/>
        <a:lstStyle/>
        <a:p>
          <a:endParaRPr lang="zh-CN" altLang="en-US"/>
        </a:p>
      </dgm:t>
    </dgm:pt>
    <dgm:pt modelId="{6FC73015-0B1B-431C-BEB2-31B92D069F09}" type="pres">
      <dgm:prSet presAssocID="{4EEA996F-3BC9-439C-8971-DD89346B13E1}" presName="spaceBetweenRectangles" presStyleCnt="0"/>
      <dgm:spPr/>
      <dgm:t>
        <a:bodyPr/>
        <a:lstStyle/>
        <a:p>
          <a:endParaRPr lang="zh-CN" altLang="en-US"/>
        </a:p>
      </dgm:t>
    </dgm:pt>
    <dgm:pt modelId="{B861B63D-4B70-4A9F-8773-7521F99572AF}" type="pres">
      <dgm:prSet presAssocID="{99135BA3-8A63-4D68-BFA6-D1EF82530226}" presName="parentLin" presStyleCnt="0"/>
      <dgm:spPr/>
      <dgm:t>
        <a:bodyPr/>
        <a:lstStyle/>
        <a:p>
          <a:endParaRPr lang="zh-CN" altLang="en-US"/>
        </a:p>
      </dgm:t>
    </dgm:pt>
    <dgm:pt modelId="{310E36EA-9FAF-423C-9418-68F5EC40D0CB}" type="pres">
      <dgm:prSet presAssocID="{99135BA3-8A63-4D68-BFA6-D1EF82530226}" presName="parentLeftMargin" presStyleLbl="node1" presStyleIdx="0" presStyleCnt="3"/>
      <dgm:spPr/>
      <dgm:t>
        <a:bodyPr/>
        <a:lstStyle/>
        <a:p>
          <a:endParaRPr lang="zh-CN" altLang="en-US"/>
        </a:p>
      </dgm:t>
    </dgm:pt>
    <dgm:pt modelId="{4792C7D3-744C-444F-9073-A23B81FE0DBE}" type="pres">
      <dgm:prSet presAssocID="{99135BA3-8A63-4D68-BFA6-D1EF82530226}" presName="parentText" presStyleLbl="node1" presStyleIdx="1" presStyleCnt="3">
        <dgm:presLayoutVars>
          <dgm:chMax val="0"/>
          <dgm:bulletEnabled val="1"/>
        </dgm:presLayoutVars>
      </dgm:prSet>
      <dgm:spPr/>
      <dgm:t>
        <a:bodyPr/>
        <a:lstStyle/>
        <a:p>
          <a:endParaRPr lang="zh-CN" altLang="en-US"/>
        </a:p>
      </dgm:t>
    </dgm:pt>
    <dgm:pt modelId="{9689DE76-A652-4EB7-8D00-B72A26604BCB}" type="pres">
      <dgm:prSet presAssocID="{99135BA3-8A63-4D68-BFA6-D1EF82530226}" presName="negativeSpace" presStyleCnt="0"/>
      <dgm:spPr/>
      <dgm:t>
        <a:bodyPr/>
        <a:lstStyle/>
        <a:p>
          <a:endParaRPr lang="zh-CN" altLang="en-US"/>
        </a:p>
      </dgm:t>
    </dgm:pt>
    <dgm:pt modelId="{18C34BA9-AF25-441E-9E81-FD35A3821279}" type="pres">
      <dgm:prSet presAssocID="{99135BA3-8A63-4D68-BFA6-D1EF82530226}" presName="childText" presStyleLbl="conFgAcc1" presStyleIdx="1" presStyleCnt="3">
        <dgm:presLayoutVars>
          <dgm:bulletEnabled val="1"/>
        </dgm:presLayoutVars>
      </dgm:prSet>
      <dgm:spPr/>
      <dgm:t>
        <a:bodyPr/>
        <a:lstStyle/>
        <a:p>
          <a:endParaRPr lang="zh-CN" altLang="en-US"/>
        </a:p>
      </dgm:t>
    </dgm:pt>
    <dgm:pt modelId="{79BF0FD5-9B25-4A2E-BA3B-BFEE9E20B345}" type="pres">
      <dgm:prSet presAssocID="{A7C52DE5-B546-4CF9-BB86-BEAB37623BF3}" presName="spaceBetweenRectangles" presStyleCnt="0"/>
      <dgm:spPr/>
      <dgm:t>
        <a:bodyPr/>
        <a:lstStyle/>
        <a:p>
          <a:endParaRPr lang="zh-CN" altLang="en-US"/>
        </a:p>
      </dgm:t>
    </dgm:pt>
    <dgm:pt modelId="{4E219902-3780-4A82-94FB-37BE32B4934F}" type="pres">
      <dgm:prSet presAssocID="{E1F7F39C-EB79-468C-8379-2698B51D7B16}" presName="parentLin" presStyleCnt="0"/>
      <dgm:spPr/>
      <dgm:t>
        <a:bodyPr/>
        <a:lstStyle/>
        <a:p>
          <a:endParaRPr lang="zh-CN" altLang="en-US"/>
        </a:p>
      </dgm:t>
    </dgm:pt>
    <dgm:pt modelId="{97095538-68F3-4683-9151-444B14D00358}" type="pres">
      <dgm:prSet presAssocID="{E1F7F39C-EB79-468C-8379-2698B51D7B16}" presName="parentLeftMargin" presStyleLbl="node1" presStyleIdx="1" presStyleCnt="3"/>
      <dgm:spPr/>
      <dgm:t>
        <a:bodyPr/>
        <a:lstStyle/>
        <a:p>
          <a:endParaRPr lang="zh-CN" altLang="en-US"/>
        </a:p>
      </dgm:t>
    </dgm:pt>
    <dgm:pt modelId="{7A365E95-D7F8-4A08-9A7E-CB8226A96E08}" type="pres">
      <dgm:prSet presAssocID="{E1F7F39C-EB79-468C-8379-2698B51D7B16}" presName="parentText" presStyleLbl="node1" presStyleIdx="2" presStyleCnt="3">
        <dgm:presLayoutVars>
          <dgm:chMax val="0"/>
          <dgm:bulletEnabled val="1"/>
        </dgm:presLayoutVars>
      </dgm:prSet>
      <dgm:spPr/>
      <dgm:t>
        <a:bodyPr/>
        <a:lstStyle/>
        <a:p>
          <a:endParaRPr lang="zh-CN" altLang="en-US"/>
        </a:p>
      </dgm:t>
    </dgm:pt>
    <dgm:pt modelId="{291157EA-17E0-4494-B0F2-2289073CA6E5}" type="pres">
      <dgm:prSet presAssocID="{E1F7F39C-EB79-468C-8379-2698B51D7B16}" presName="negativeSpace" presStyleCnt="0"/>
      <dgm:spPr/>
      <dgm:t>
        <a:bodyPr/>
        <a:lstStyle/>
        <a:p>
          <a:endParaRPr lang="zh-CN" altLang="en-US"/>
        </a:p>
      </dgm:t>
    </dgm:pt>
    <dgm:pt modelId="{073B1388-3975-41BC-A155-EC52DDDF5AFA}" type="pres">
      <dgm:prSet presAssocID="{E1F7F39C-EB79-468C-8379-2698B51D7B16}" presName="childText" presStyleLbl="conFgAcc1" presStyleIdx="2" presStyleCnt="3">
        <dgm:presLayoutVars>
          <dgm:bulletEnabled val="1"/>
        </dgm:presLayoutVars>
      </dgm:prSet>
      <dgm:spPr/>
      <dgm:t>
        <a:bodyPr/>
        <a:lstStyle/>
        <a:p>
          <a:endParaRPr lang="zh-CN" altLang="en-US"/>
        </a:p>
      </dgm:t>
    </dgm:pt>
  </dgm:ptLst>
  <dgm:cxnLst>
    <dgm:cxn modelId="{A60287DC-7C1A-4AB5-AF86-19EB2BD83903}" type="presOf" srcId="{99135BA3-8A63-4D68-BFA6-D1EF82530226}" destId="{310E36EA-9FAF-423C-9418-68F5EC40D0CB}" srcOrd="0" destOrd="0" presId="urn:microsoft.com/office/officeart/2005/8/layout/list1"/>
    <dgm:cxn modelId="{C61BEBD9-8D58-4B15-A358-F7FD1D47CD7A}" type="presOf" srcId="{00C0C149-B3C2-4C14-A35F-60FA6815A5C5}" destId="{28137E7E-678D-4597-9DDF-2C2708466C97}" srcOrd="1" destOrd="0" presId="urn:microsoft.com/office/officeart/2005/8/layout/list1"/>
    <dgm:cxn modelId="{F50A2A33-B494-49E9-8372-0D4C49C74AE5}" type="presOf" srcId="{99135BA3-8A63-4D68-BFA6-D1EF82530226}" destId="{4792C7D3-744C-444F-9073-A23B81FE0DBE}" srcOrd="1" destOrd="0" presId="urn:microsoft.com/office/officeart/2005/8/layout/list1"/>
    <dgm:cxn modelId="{410F2316-BB75-4A59-9E60-36AF26AB9A34}" srcId="{367CEC60-1828-4657-AFD1-A679EBB2D451}" destId="{E1F7F39C-EB79-468C-8379-2698B51D7B16}" srcOrd="2" destOrd="0" parTransId="{60363AB8-E3D8-49D4-A76C-8F968AA4C941}" sibTransId="{86631553-E812-414F-8163-756A29E6B948}"/>
    <dgm:cxn modelId="{A2C02E01-A9AB-48CF-BE6E-EE30896E1C96}" srcId="{367CEC60-1828-4657-AFD1-A679EBB2D451}" destId="{99135BA3-8A63-4D68-BFA6-D1EF82530226}" srcOrd="1" destOrd="0" parTransId="{B8A72E14-CF1A-408A-89FB-4A484420598F}" sibTransId="{A7C52DE5-B546-4CF9-BB86-BEAB37623BF3}"/>
    <dgm:cxn modelId="{9F688A63-70F5-48F9-9F4F-266AA73D89F3}" type="presOf" srcId="{00C0C149-B3C2-4C14-A35F-60FA6815A5C5}" destId="{76DBDEB5-7891-4979-A36E-CB00DE3F9907}" srcOrd="0" destOrd="0" presId="urn:microsoft.com/office/officeart/2005/8/layout/list1"/>
    <dgm:cxn modelId="{DBBDCE6C-CEEE-4896-BD63-6DFEF40A8D26}" type="presOf" srcId="{367CEC60-1828-4657-AFD1-A679EBB2D451}" destId="{F8F6565A-9F7B-483E-B40D-FDF11F098CEE}" srcOrd="0" destOrd="0" presId="urn:microsoft.com/office/officeart/2005/8/layout/list1"/>
    <dgm:cxn modelId="{47ABF1D5-EB5C-48C8-8283-B93FDE0F3E27}" type="presOf" srcId="{E1F7F39C-EB79-468C-8379-2698B51D7B16}" destId="{7A365E95-D7F8-4A08-9A7E-CB8226A96E08}" srcOrd="1" destOrd="0" presId="urn:microsoft.com/office/officeart/2005/8/layout/list1"/>
    <dgm:cxn modelId="{3E7D9A2A-8E79-4AC6-BA67-2EB11D8EDD61}" srcId="{367CEC60-1828-4657-AFD1-A679EBB2D451}" destId="{00C0C149-B3C2-4C14-A35F-60FA6815A5C5}" srcOrd="0" destOrd="0" parTransId="{62F63F58-A441-46B8-AD2F-5C9B3D7E4F5B}" sibTransId="{4EEA996F-3BC9-439C-8971-DD89346B13E1}"/>
    <dgm:cxn modelId="{E5640FEF-914C-4C23-BF31-D0B32283EAC2}" type="presOf" srcId="{E1F7F39C-EB79-468C-8379-2698B51D7B16}" destId="{97095538-68F3-4683-9151-444B14D00358}" srcOrd="0" destOrd="0" presId="urn:microsoft.com/office/officeart/2005/8/layout/list1"/>
    <dgm:cxn modelId="{A3A09AD4-1266-4712-B42A-A6E64897B908}" type="presParOf" srcId="{F8F6565A-9F7B-483E-B40D-FDF11F098CEE}" destId="{AA99F34A-E0D4-40CE-8584-B71208291517}" srcOrd="0" destOrd="0" presId="urn:microsoft.com/office/officeart/2005/8/layout/list1"/>
    <dgm:cxn modelId="{986F83A8-6805-437D-A803-79731DF69B47}" type="presParOf" srcId="{AA99F34A-E0D4-40CE-8584-B71208291517}" destId="{76DBDEB5-7891-4979-A36E-CB00DE3F9907}" srcOrd="0" destOrd="0" presId="urn:microsoft.com/office/officeart/2005/8/layout/list1"/>
    <dgm:cxn modelId="{B3DFDD65-5B68-4719-A347-CC159F9C2EE4}" type="presParOf" srcId="{AA99F34A-E0D4-40CE-8584-B71208291517}" destId="{28137E7E-678D-4597-9DDF-2C2708466C97}" srcOrd="1" destOrd="0" presId="urn:microsoft.com/office/officeart/2005/8/layout/list1"/>
    <dgm:cxn modelId="{5FC1BEC1-222A-4573-B2FC-0B643E3FF284}" type="presParOf" srcId="{F8F6565A-9F7B-483E-B40D-FDF11F098CEE}" destId="{1F88DAFD-CC4D-437A-81FD-720C48C4375C}" srcOrd="1" destOrd="0" presId="urn:microsoft.com/office/officeart/2005/8/layout/list1"/>
    <dgm:cxn modelId="{7F3534CC-D9AC-4AFB-B9E7-077BD6485D8C}" type="presParOf" srcId="{F8F6565A-9F7B-483E-B40D-FDF11F098CEE}" destId="{7109FBB9-A34F-4B86-AE2E-8E5565CE6982}" srcOrd="2" destOrd="0" presId="urn:microsoft.com/office/officeart/2005/8/layout/list1"/>
    <dgm:cxn modelId="{17AB40DB-9E9D-40F5-8B22-8470F599E3DD}" type="presParOf" srcId="{F8F6565A-9F7B-483E-B40D-FDF11F098CEE}" destId="{6FC73015-0B1B-431C-BEB2-31B92D069F09}" srcOrd="3" destOrd="0" presId="urn:microsoft.com/office/officeart/2005/8/layout/list1"/>
    <dgm:cxn modelId="{1500E975-4D13-4E16-94BC-13E456F3A372}" type="presParOf" srcId="{F8F6565A-9F7B-483E-B40D-FDF11F098CEE}" destId="{B861B63D-4B70-4A9F-8773-7521F99572AF}" srcOrd="4" destOrd="0" presId="urn:microsoft.com/office/officeart/2005/8/layout/list1"/>
    <dgm:cxn modelId="{D6EEDF19-CBF7-499F-A848-2166E8599DEC}" type="presParOf" srcId="{B861B63D-4B70-4A9F-8773-7521F99572AF}" destId="{310E36EA-9FAF-423C-9418-68F5EC40D0CB}" srcOrd="0" destOrd="0" presId="urn:microsoft.com/office/officeart/2005/8/layout/list1"/>
    <dgm:cxn modelId="{03E26186-A2E9-4475-AD51-C734675F102C}" type="presParOf" srcId="{B861B63D-4B70-4A9F-8773-7521F99572AF}" destId="{4792C7D3-744C-444F-9073-A23B81FE0DBE}" srcOrd="1" destOrd="0" presId="urn:microsoft.com/office/officeart/2005/8/layout/list1"/>
    <dgm:cxn modelId="{12D2B4B1-CB70-499A-8A5A-F1AA0C5FB6A4}" type="presParOf" srcId="{F8F6565A-9F7B-483E-B40D-FDF11F098CEE}" destId="{9689DE76-A652-4EB7-8D00-B72A26604BCB}" srcOrd="5" destOrd="0" presId="urn:microsoft.com/office/officeart/2005/8/layout/list1"/>
    <dgm:cxn modelId="{A0FDE300-5AB9-4D78-8CC5-7D32A3CEDA0A}" type="presParOf" srcId="{F8F6565A-9F7B-483E-B40D-FDF11F098CEE}" destId="{18C34BA9-AF25-441E-9E81-FD35A3821279}" srcOrd="6" destOrd="0" presId="urn:microsoft.com/office/officeart/2005/8/layout/list1"/>
    <dgm:cxn modelId="{4B6F9E13-7B1F-4DBE-B130-00BB6F579D36}" type="presParOf" srcId="{F8F6565A-9F7B-483E-B40D-FDF11F098CEE}" destId="{79BF0FD5-9B25-4A2E-BA3B-BFEE9E20B345}" srcOrd="7" destOrd="0" presId="urn:microsoft.com/office/officeart/2005/8/layout/list1"/>
    <dgm:cxn modelId="{AE6228F0-6AA1-441B-A7A5-DF2465DD8A12}" type="presParOf" srcId="{F8F6565A-9F7B-483E-B40D-FDF11F098CEE}" destId="{4E219902-3780-4A82-94FB-37BE32B4934F}" srcOrd="8" destOrd="0" presId="urn:microsoft.com/office/officeart/2005/8/layout/list1"/>
    <dgm:cxn modelId="{D4155577-EDB4-4EA1-A4E8-6C53C57C5808}" type="presParOf" srcId="{4E219902-3780-4A82-94FB-37BE32B4934F}" destId="{97095538-68F3-4683-9151-444B14D00358}" srcOrd="0" destOrd="0" presId="urn:microsoft.com/office/officeart/2005/8/layout/list1"/>
    <dgm:cxn modelId="{9B1C9BAC-251A-4E98-9EA9-E859666B4A46}" type="presParOf" srcId="{4E219902-3780-4A82-94FB-37BE32B4934F}" destId="{7A365E95-D7F8-4A08-9A7E-CB8226A96E08}" srcOrd="1" destOrd="0" presId="urn:microsoft.com/office/officeart/2005/8/layout/list1"/>
    <dgm:cxn modelId="{81DDE26E-462F-4C7C-B537-41A667A01067}" type="presParOf" srcId="{F8F6565A-9F7B-483E-B40D-FDF11F098CEE}" destId="{291157EA-17E0-4494-B0F2-2289073CA6E5}" srcOrd="9" destOrd="0" presId="urn:microsoft.com/office/officeart/2005/8/layout/list1"/>
    <dgm:cxn modelId="{139B6188-0E9E-4710-8B4F-5D14E8432A5E}" type="presParOf" srcId="{F8F6565A-9F7B-483E-B40D-FDF11F098CEE}" destId="{073B1388-3975-41BC-A155-EC52DDDF5AFA}" srcOrd="10"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026F677-D88D-4E95-BF99-2A621C3615B8}" type="doc">
      <dgm:prSet loTypeId="urn:microsoft.com/office/officeart/2005/8/layout/list1" loCatId="list" qsTypeId="urn:microsoft.com/office/officeart/2005/8/quickstyle/3d1" qsCatId="3D" csTypeId="urn:microsoft.com/office/officeart/2005/8/colors/accent2_2" csCatId="accent2" phldr="1"/>
      <dgm:spPr/>
      <dgm:t>
        <a:bodyPr/>
        <a:lstStyle/>
        <a:p>
          <a:endParaRPr lang="zh-CN" altLang="en-US"/>
        </a:p>
      </dgm:t>
    </dgm:pt>
    <dgm:pt modelId="{6B79DB2D-7927-4A79-948B-B3355B7EA211}">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2800" b="1" dirty="0" smtClean="0">
              <a:solidFill>
                <a:schemeClr val="tx1"/>
              </a:solidFill>
              <a:latin typeface="微软雅黑" pitchFamily="34" charset="-122"/>
              <a:ea typeface="微软雅黑" pitchFamily="34" charset="-122"/>
            </a:rPr>
            <a:t>影响深度</a:t>
          </a:r>
          <a:endParaRPr lang="zh-CN" altLang="en-US" sz="2800" b="1" dirty="0">
            <a:solidFill>
              <a:schemeClr val="tx1"/>
            </a:solidFill>
            <a:latin typeface="微软雅黑" pitchFamily="34" charset="-122"/>
            <a:ea typeface="微软雅黑" pitchFamily="34" charset="-122"/>
          </a:endParaRPr>
        </a:p>
      </dgm:t>
    </dgm:pt>
    <dgm:pt modelId="{7F4953E2-9C21-42B2-8D00-07A12A3922ED}" type="parTrans" cxnId="{8E1CD54D-A841-4E08-AF98-D7BFF9B8BA43}">
      <dgm:prSet/>
      <dgm:spPr/>
      <dgm:t>
        <a:bodyPr/>
        <a:lstStyle/>
        <a:p>
          <a:endParaRPr lang="zh-CN" altLang="en-US"/>
        </a:p>
      </dgm:t>
    </dgm:pt>
    <dgm:pt modelId="{1561ABDA-43F9-4A39-B15F-2DD8D4BE217D}" type="sibTrans" cxnId="{8E1CD54D-A841-4E08-AF98-D7BFF9B8BA43}">
      <dgm:prSet/>
      <dgm:spPr/>
      <dgm:t>
        <a:bodyPr/>
        <a:lstStyle/>
        <a:p>
          <a:endParaRPr lang="zh-CN" altLang="en-US"/>
        </a:p>
      </dgm:t>
    </dgm:pt>
    <dgm:pt modelId="{9E2E2494-0B51-4EBB-892E-1025484D61AB}">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2800" b="1" dirty="0" smtClean="0">
              <a:solidFill>
                <a:schemeClr val="tx1"/>
              </a:solidFill>
              <a:latin typeface="微软雅黑" pitchFamily="34" charset="-122"/>
              <a:ea typeface="微软雅黑" pitchFamily="34" charset="-122"/>
            </a:rPr>
            <a:t> 地      表</a:t>
          </a:r>
          <a:endParaRPr lang="zh-CN" altLang="en-US" sz="2800" b="1" dirty="0">
            <a:solidFill>
              <a:schemeClr val="tx1"/>
            </a:solidFill>
            <a:latin typeface="微软雅黑" pitchFamily="34" charset="-122"/>
            <a:ea typeface="微软雅黑" pitchFamily="34" charset="-122"/>
          </a:endParaRPr>
        </a:p>
      </dgm:t>
    </dgm:pt>
    <dgm:pt modelId="{5CDBEBEF-0F75-45C4-BCCC-595D01D9911F}" type="parTrans" cxnId="{60D8C2DA-DACB-4575-BBD4-714479FC50F3}">
      <dgm:prSet/>
      <dgm:spPr/>
      <dgm:t>
        <a:bodyPr/>
        <a:lstStyle/>
        <a:p>
          <a:endParaRPr lang="zh-CN" altLang="en-US"/>
        </a:p>
      </dgm:t>
    </dgm:pt>
    <dgm:pt modelId="{3CE54B19-4F4D-448C-9462-3E3B6111F355}" type="sibTrans" cxnId="{60D8C2DA-DACB-4575-BBD4-714479FC50F3}">
      <dgm:prSet/>
      <dgm:spPr/>
      <dgm:t>
        <a:bodyPr/>
        <a:lstStyle/>
        <a:p>
          <a:endParaRPr lang="zh-CN" altLang="en-US"/>
        </a:p>
      </dgm:t>
    </dgm:pt>
    <dgm:pt modelId="{C0885F84-401D-4704-962B-27D415842C68}">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sz="2800" b="1" dirty="0" smtClean="0">
              <a:solidFill>
                <a:schemeClr val="tx1"/>
              </a:solidFill>
              <a:latin typeface="微软雅黑" pitchFamily="34" charset="-122"/>
              <a:ea typeface="微软雅黑" pitchFamily="34" charset="-122"/>
            </a:rPr>
            <a:t>加载速度</a:t>
          </a:r>
          <a:endParaRPr lang="zh-CN" altLang="en-US" sz="2800" b="1" dirty="0">
            <a:solidFill>
              <a:schemeClr val="tx1"/>
            </a:solidFill>
            <a:latin typeface="微软雅黑" pitchFamily="34" charset="-122"/>
            <a:ea typeface="微软雅黑" pitchFamily="34" charset="-122"/>
          </a:endParaRPr>
        </a:p>
      </dgm:t>
    </dgm:pt>
    <dgm:pt modelId="{6EE725DA-1306-43BD-8517-F7250768B4C4}" type="parTrans" cxnId="{F9708BED-D070-4962-A907-DEB5B96BD56B}">
      <dgm:prSet/>
      <dgm:spPr/>
      <dgm:t>
        <a:bodyPr/>
        <a:lstStyle/>
        <a:p>
          <a:endParaRPr lang="zh-CN" altLang="en-US"/>
        </a:p>
      </dgm:t>
    </dgm:pt>
    <dgm:pt modelId="{01B7A033-95CA-4013-A29C-74660DC3F719}" type="sibTrans" cxnId="{F9708BED-D070-4962-A907-DEB5B96BD56B}">
      <dgm:prSet/>
      <dgm:spPr/>
      <dgm:t>
        <a:bodyPr/>
        <a:lstStyle/>
        <a:p>
          <a:endParaRPr lang="zh-CN" altLang="en-US"/>
        </a:p>
      </dgm:t>
    </dgm:pt>
    <dgm:pt modelId="{2611376B-7C90-466A-AA32-5A7955CC9AEB}" type="pres">
      <dgm:prSet presAssocID="{F026F677-D88D-4E95-BF99-2A621C3615B8}" presName="linear" presStyleCnt="0">
        <dgm:presLayoutVars>
          <dgm:dir/>
          <dgm:animLvl val="lvl"/>
          <dgm:resizeHandles val="exact"/>
        </dgm:presLayoutVars>
      </dgm:prSet>
      <dgm:spPr/>
      <dgm:t>
        <a:bodyPr/>
        <a:lstStyle/>
        <a:p>
          <a:endParaRPr lang="zh-CN" altLang="en-US"/>
        </a:p>
      </dgm:t>
    </dgm:pt>
    <dgm:pt modelId="{0A3200EF-9ED5-4416-9720-52DA0D0CA933}" type="pres">
      <dgm:prSet presAssocID="{6B79DB2D-7927-4A79-948B-B3355B7EA211}" presName="parentLin" presStyleCnt="0"/>
      <dgm:spPr/>
    </dgm:pt>
    <dgm:pt modelId="{21C8B5A3-96EC-4179-A6AF-1F7C064B2D2C}" type="pres">
      <dgm:prSet presAssocID="{6B79DB2D-7927-4A79-948B-B3355B7EA211}" presName="parentLeftMargin" presStyleLbl="node1" presStyleIdx="0" presStyleCnt="3"/>
      <dgm:spPr/>
      <dgm:t>
        <a:bodyPr/>
        <a:lstStyle/>
        <a:p>
          <a:endParaRPr lang="zh-CN" altLang="en-US"/>
        </a:p>
      </dgm:t>
    </dgm:pt>
    <dgm:pt modelId="{BD0B1568-84DE-41C6-857A-611E9DC9CBF7}" type="pres">
      <dgm:prSet presAssocID="{6B79DB2D-7927-4A79-948B-B3355B7EA211}" presName="parentText" presStyleLbl="node1" presStyleIdx="0" presStyleCnt="3">
        <dgm:presLayoutVars>
          <dgm:chMax val="0"/>
          <dgm:bulletEnabled val="1"/>
        </dgm:presLayoutVars>
      </dgm:prSet>
      <dgm:spPr/>
      <dgm:t>
        <a:bodyPr/>
        <a:lstStyle/>
        <a:p>
          <a:endParaRPr lang="zh-CN" altLang="en-US"/>
        </a:p>
      </dgm:t>
    </dgm:pt>
    <dgm:pt modelId="{3438BCE7-2C61-4B3A-A2F7-7C8586EAA142}" type="pres">
      <dgm:prSet presAssocID="{6B79DB2D-7927-4A79-948B-B3355B7EA211}" presName="negativeSpace" presStyleCnt="0"/>
      <dgm:spPr/>
    </dgm:pt>
    <dgm:pt modelId="{43EC7F83-6D0A-4BE3-B032-B287FE1E9D8E}" type="pres">
      <dgm:prSet presAssocID="{6B79DB2D-7927-4A79-948B-B3355B7EA211}" presName="childText" presStyleLbl="conFgAcc1" presStyleIdx="0" presStyleCnt="3">
        <dgm:presLayoutVars>
          <dgm:bulletEnabled val="1"/>
        </dgm:presLayoutVars>
      </dgm:prSet>
      <dgm:spPr/>
    </dgm:pt>
    <dgm:pt modelId="{172C9E7C-FE7C-4163-AAC4-E703A131B9E2}" type="pres">
      <dgm:prSet presAssocID="{1561ABDA-43F9-4A39-B15F-2DD8D4BE217D}" presName="spaceBetweenRectangles" presStyleCnt="0"/>
      <dgm:spPr/>
    </dgm:pt>
    <dgm:pt modelId="{F1364345-85A6-43F3-A364-663CB894DA53}" type="pres">
      <dgm:prSet presAssocID="{9E2E2494-0B51-4EBB-892E-1025484D61AB}" presName="parentLin" presStyleCnt="0"/>
      <dgm:spPr/>
    </dgm:pt>
    <dgm:pt modelId="{AD0F07DB-0138-48A0-982B-2C1A55F622FF}" type="pres">
      <dgm:prSet presAssocID="{9E2E2494-0B51-4EBB-892E-1025484D61AB}" presName="parentLeftMargin" presStyleLbl="node1" presStyleIdx="0" presStyleCnt="3"/>
      <dgm:spPr/>
      <dgm:t>
        <a:bodyPr/>
        <a:lstStyle/>
        <a:p>
          <a:endParaRPr lang="zh-CN" altLang="en-US"/>
        </a:p>
      </dgm:t>
    </dgm:pt>
    <dgm:pt modelId="{1222837D-A84E-4255-9F30-E6132DC30437}" type="pres">
      <dgm:prSet presAssocID="{9E2E2494-0B51-4EBB-892E-1025484D61AB}" presName="parentText" presStyleLbl="node1" presStyleIdx="1" presStyleCnt="3">
        <dgm:presLayoutVars>
          <dgm:chMax val="0"/>
          <dgm:bulletEnabled val="1"/>
        </dgm:presLayoutVars>
      </dgm:prSet>
      <dgm:spPr/>
      <dgm:t>
        <a:bodyPr/>
        <a:lstStyle/>
        <a:p>
          <a:endParaRPr lang="zh-CN" altLang="en-US"/>
        </a:p>
      </dgm:t>
    </dgm:pt>
    <dgm:pt modelId="{462A411B-44D0-40F0-8D6A-4A7AC614E2A8}" type="pres">
      <dgm:prSet presAssocID="{9E2E2494-0B51-4EBB-892E-1025484D61AB}" presName="negativeSpace" presStyleCnt="0"/>
      <dgm:spPr/>
    </dgm:pt>
    <dgm:pt modelId="{E381CCBF-D16C-4120-96ED-2C2A5DFCB8D0}" type="pres">
      <dgm:prSet presAssocID="{9E2E2494-0B51-4EBB-892E-1025484D61AB}" presName="childText" presStyleLbl="conFgAcc1" presStyleIdx="1" presStyleCnt="3">
        <dgm:presLayoutVars>
          <dgm:bulletEnabled val="1"/>
        </dgm:presLayoutVars>
      </dgm:prSet>
      <dgm:spPr/>
    </dgm:pt>
    <dgm:pt modelId="{46C44F31-37D6-4CC1-9EC5-0549930F8BD9}" type="pres">
      <dgm:prSet presAssocID="{3CE54B19-4F4D-448C-9462-3E3B6111F355}" presName="spaceBetweenRectangles" presStyleCnt="0"/>
      <dgm:spPr/>
    </dgm:pt>
    <dgm:pt modelId="{F2D1438A-64C7-421B-9113-7B4D0FFA0F86}" type="pres">
      <dgm:prSet presAssocID="{C0885F84-401D-4704-962B-27D415842C68}" presName="parentLin" presStyleCnt="0"/>
      <dgm:spPr/>
    </dgm:pt>
    <dgm:pt modelId="{3F408A82-7232-4A32-BB74-B09DBE7E40B1}" type="pres">
      <dgm:prSet presAssocID="{C0885F84-401D-4704-962B-27D415842C68}" presName="parentLeftMargin" presStyleLbl="node1" presStyleIdx="1" presStyleCnt="3"/>
      <dgm:spPr/>
      <dgm:t>
        <a:bodyPr/>
        <a:lstStyle/>
        <a:p>
          <a:endParaRPr lang="zh-CN" altLang="en-US"/>
        </a:p>
      </dgm:t>
    </dgm:pt>
    <dgm:pt modelId="{E9D43980-899E-44A5-9EBE-057981416487}" type="pres">
      <dgm:prSet presAssocID="{C0885F84-401D-4704-962B-27D415842C68}" presName="parentText" presStyleLbl="node1" presStyleIdx="2" presStyleCnt="3">
        <dgm:presLayoutVars>
          <dgm:chMax val="0"/>
          <dgm:bulletEnabled val="1"/>
        </dgm:presLayoutVars>
      </dgm:prSet>
      <dgm:spPr/>
      <dgm:t>
        <a:bodyPr/>
        <a:lstStyle/>
        <a:p>
          <a:endParaRPr lang="zh-CN" altLang="en-US"/>
        </a:p>
      </dgm:t>
    </dgm:pt>
    <dgm:pt modelId="{D6E136AF-808E-4A0F-B3F7-8104CA44A29F}" type="pres">
      <dgm:prSet presAssocID="{C0885F84-401D-4704-962B-27D415842C68}" presName="negativeSpace" presStyleCnt="0"/>
      <dgm:spPr/>
    </dgm:pt>
    <dgm:pt modelId="{AB1F7694-8E78-4423-8BE4-85CFC817C003}" type="pres">
      <dgm:prSet presAssocID="{C0885F84-401D-4704-962B-27D415842C68}" presName="childText" presStyleLbl="conFgAcc1" presStyleIdx="2" presStyleCnt="3">
        <dgm:presLayoutVars>
          <dgm:bulletEnabled val="1"/>
        </dgm:presLayoutVars>
      </dgm:prSet>
      <dgm:spPr/>
    </dgm:pt>
  </dgm:ptLst>
  <dgm:cxnLst>
    <dgm:cxn modelId="{8E1CD54D-A841-4E08-AF98-D7BFF9B8BA43}" srcId="{F026F677-D88D-4E95-BF99-2A621C3615B8}" destId="{6B79DB2D-7927-4A79-948B-B3355B7EA211}" srcOrd="0" destOrd="0" parTransId="{7F4953E2-9C21-42B2-8D00-07A12A3922ED}" sibTransId="{1561ABDA-43F9-4A39-B15F-2DD8D4BE217D}"/>
    <dgm:cxn modelId="{BAF19D45-03D8-4504-AA53-79EADFFAF5EB}" type="presOf" srcId="{C0885F84-401D-4704-962B-27D415842C68}" destId="{3F408A82-7232-4A32-BB74-B09DBE7E40B1}" srcOrd="0" destOrd="0" presId="urn:microsoft.com/office/officeart/2005/8/layout/list1"/>
    <dgm:cxn modelId="{F9708BED-D070-4962-A907-DEB5B96BD56B}" srcId="{F026F677-D88D-4E95-BF99-2A621C3615B8}" destId="{C0885F84-401D-4704-962B-27D415842C68}" srcOrd="2" destOrd="0" parTransId="{6EE725DA-1306-43BD-8517-F7250768B4C4}" sibTransId="{01B7A033-95CA-4013-A29C-74660DC3F719}"/>
    <dgm:cxn modelId="{60D8C2DA-DACB-4575-BBD4-714479FC50F3}" srcId="{F026F677-D88D-4E95-BF99-2A621C3615B8}" destId="{9E2E2494-0B51-4EBB-892E-1025484D61AB}" srcOrd="1" destOrd="0" parTransId="{5CDBEBEF-0F75-45C4-BCCC-595D01D9911F}" sibTransId="{3CE54B19-4F4D-448C-9462-3E3B6111F355}"/>
    <dgm:cxn modelId="{5FE3027F-6ACE-4EB8-9F0B-A4A5057833F0}" type="presOf" srcId="{F026F677-D88D-4E95-BF99-2A621C3615B8}" destId="{2611376B-7C90-466A-AA32-5A7955CC9AEB}" srcOrd="0" destOrd="0" presId="urn:microsoft.com/office/officeart/2005/8/layout/list1"/>
    <dgm:cxn modelId="{2DE67D0A-F82D-41B7-AF27-1464E95261D4}" type="presOf" srcId="{6B79DB2D-7927-4A79-948B-B3355B7EA211}" destId="{BD0B1568-84DE-41C6-857A-611E9DC9CBF7}" srcOrd="1" destOrd="0" presId="urn:microsoft.com/office/officeart/2005/8/layout/list1"/>
    <dgm:cxn modelId="{4DF711C9-868F-4E4E-99A7-3BF5359869DC}" type="presOf" srcId="{9E2E2494-0B51-4EBB-892E-1025484D61AB}" destId="{AD0F07DB-0138-48A0-982B-2C1A55F622FF}" srcOrd="0" destOrd="0" presId="urn:microsoft.com/office/officeart/2005/8/layout/list1"/>
    <dgm:cxn modelId="{5E02DA5C-1730-45D1-B566-4DF85A85D8BF}" type="presOf" srcId="{9E2E2494-0B51-4EBB-892E-1025484D61AB}" destId="{1222837D-A84E-4255-9F30-E6132DC30437}" srcOrd="1" destOrd="0" presId="urn:microsoft.com/office/officeart/2005/8/layout/list1"/>
    <dgm:cxn modelId="{937BA239-387B-445F-9FD0-E02EF0E1243E}" type="presOf" srcId="{6B79DB2D-7927-4A79-948B-B3355B7EA211}" destId="{21C8B5A3-96EC-4179-A6AF-1F7C064B2D2C}" srcOrd="0" destOrd="0" presId="urn:microsoft.com/office/officeart/2005/8/layout/list1"/>
    <dgm:cxn modelId="{187CA4EE-54AA-470D-9D40-AB9763D9D9D3}" type="presOf" srcId="{C0885F84-401D-4704-962B-27D415842C68}" destId="{E9D43980-899E-44A5-9EBE-057981416487}" srcOrd="1" destOrd="0" presId="urn:microsoft.com/office/officeart/2005/8/layout/list1"/>
    <dgm:cxn modelId="{4D3ECA48-17B1-4F42-AA92-6E36172AAED5}" type="presParOf" srcId="{2611376B-7C90-466A-AA32-5A7955CC9AEB}" destId="{0A3200EF-9ED5-4416-9720-52DA0D0CA933}" srcOrd="0" destOrd="0" presId="urn:microsoft.com/office/officeart/2005/8/layout/list1"/>
    <dgm:cxn modelId="{028A83D5-9755-46C9-BF79-2793B2F2A87A}" type="presParOf" srcId="{0A3200EF-9ED5-4416-9720-52DA0D0CA933}" destId="{21C8B5A3-96EC-4179-A6AF-1F7C064B2D2C}" srcOrd="0" destOrd="0" presId="urn:microsoft.com/office/officeart/2005/8/layout/list1"/>
    <dgm:cxn modelId="{096A66AE-98DA-42CD-9DB5-052D25E8B074}" type="presParOf" srcId="{0A3200EF-9ED5-4416-9720-52DA0D0CA933}" destId="{BD0B1568-84DE-41C6-857A-611E9DC9CBF7}" srcOrd="1" destOrd="0" presId="urn:microsoft.com/office/officeart/2005/8/layout/list1"/>
    <dgm:cxn modelId="{02467178-708B-45AC-A145-556D3D1D16D0}" type="presParOf" srcId="{2611376B-7C90-466A-AA32-5A7955CC9AEB}" destId="{3438BCE7-2C61-4B3A-A2F7-7C8586EAA142}" srcOrd="1" destOrd="0" presId="urn:microsoft.com/office/officeart/2005/8/layout/list1"/>
    <dgm:cxn modelId="{589DF946-7456-4D40-998E-C49E862DEBF8}" type="presParOf" srcId="{2611376B-7C90-466A-AA32-5A7955CC9AEB}" destId="{43EC7F83-6D0A-4BE3-B032-B287FE1E9D8E}" srcOrd="2" destOrd="0" presId="urn:microsoft.com/office/officeart/2005/8/layout/list1"/>
    <dgm:cxn modelId="{3C53314E-6F7C-4519-B538-0FBBE14D2274}" type="presParOf" srcId="{2611376B-7C90-466A-AA32-5A7955CC9AEB}" destId="{172C9E7C-FE7C-4163-AAC4-E703A131B9E2}" srcOrd="3" destOrd="0" presId="urn:microsoft.com/office/officeart/2005/8/layout/list1"/>
    <dgm:cxn modelId="{C76C87D5-2F33-4BD5-A921-E19D08FB43A1}" type="presParOf" srcId="{2611376B-7C90-466A-AA32-5A7955CC9AEB}" destId="{F1364345-85A6-43F3-A364-663CB894DA53}" srcOrd="4" destOrd="0" presId="urn:microsoft.com/office/officeart/2005/8/layout/list1"/>
    <dgm:cxn modelId="{2D1645DC-DBBA-4803-9A3E-03DE275D2D62}" type="presParOf" srcId="{F1364345-85A6-43F3-A364-663CB894DA53}" destId="{AD0F07DB-0138-48A0-982B-2C1A55F622FF}" srcOrd="0" destOrd="0" presId="urn:microsoft.com/office/officeart/2005/8/layout/list1"/>
    <dgm:cxn modelId="{6F6F9402-500D-4A14-A787-C2537F2F19A8}" type="presParOf" srcId="{F1364345-85A6-43F3-A364-663CB894DA53}" destId="{1222837D-A84E-4255-9F30-E6132DC30437}" srcOrd="1" destOrd="0" presId="urn:microsoft.com/office/officeart/2005/8/layout/list1"/>
    <dgm:cxn modelId="{040BA007-D6F7-4349-8916-B8568C759ADC}" type="presParOf" srcId="{2611376B-7C90-466A-AA32-5A7955CC9AEB}" destId="{462A411B-44D0-40F0-8D6A-4A7AC614E2A8}" srcOrd="5" destOrd="0" presId="urn:microsoft.com/office/officeart/2005/8/layout/list1"/>
    <dgm:cxn modelId="{CDAB0170-C6CD-4BD9-9539-0AEF47EA4990}" type="presParOf" srcId="{2611376B-7C90-466A-AA32-5A7955CC9AEB}" destId="{E381CCBF-D16C-4120-96ED-2C2A5DFCB8D0}" srcOrd="6" destOrd="0" presId="urn:microsoft.com/office/officeart/2005/8/layout/list1"/>
    <dgm:cxn modelId="{2692EAFC-DB04-4D3D-B3F7-B73D464CFE5D}" type="presParOf" srcId="{2611376B-7C90-466A-AA32-5A7955CC9AEB}" destId="{46C44F31-37D6-4CC1-9EC5-0549930F8BD9}" srcOrd="7" destOrd="0" presId="urn:microsoft.com/office/officeart/2005/8/layout/list1"/>
    <dgm:cxn modelId="{8B7237D3-4FBE-40B8-9458-A92D4976013E}" type="presParOf" srcId="{2611376B-7C90-466A-AA32-5A7955CC9AEB}" destId="{F2D1438A-64C7-421B-9113-7B4D0FFA0F86}" srcOrd="8" destOrd="0" presId="urn:microsoft.com/office/officeart/2005/8/layout/list1"/>
    <dgm:cxn modelId="{3C984233-155A-4035-B2FA-C62380D4FF63}" type="presParOf" srcId="{F2D1438A-64C7-421B-9113-7B4D0FFA0F86}" destId="{3F408A82-7232-4A32-BB74-B09DBE7E40B1}" srcOrd="0" destOrd="0" presId="urn:microsoft.com/office/officeart/2005/8/layout/list1"/>
    <dgm:cxn modelId="{CE110967-6B34-4959-91C7-64D621A21457}" type="presParOf" srcId="{F2D1438A-64C7-421B-9113-7B4D0FFA0F86}" destId="{E9D43980-899E-44A5-9EBE-057981416487}" srcOrd="1" destOrd="0" presId="urn:microsoft.com/office/officeart/2005/8/layout/list1"/>
    <dgm:cxn modelId="{23D35258-39A1-4359-BC77-FADA1BD6F74C}" type="presParOf" srcId="{2611376B-7C90-466A-AA32-5A7955CC9AEB}" destId="{D6E136AF-808E-4A0F-B3F7-8104CA44A29F}" srcOrd="9" destOrd="0" presId="urn:microsoft.com/office/officeart/2005/8/layout/list1"/>
    <dgm:cxn modelId="{126A96D0-D497-42CD-A10B-197E6DC0D3D1}" type="presParOf" srcId="{2611376B-7C90-466A-AA32-5A7955CC9AEB}" destId="{AB1F7694-8E78-4423-8BE4-85CFC817C003}"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EC3E2E5-D8FC-4B03-9D66-2E94B11CCC9A}" type="doc">
      <dgm:prSet loTypeId="urn:microsoft.com/office/officeart/2005/8/layout/vList5" loCatId="list" qsTypeId="urn:microsoft.com/office/officeart/2005/8/quickstyle/3d1" qsCatId="3D" csTypeId="urn:microsoft.com/office/officeart/2005/8/colors/accent2_2" csCatId="accent2" phldr="1"/>
      <dgm:spPr/>
      <dgm:t>
        <a:bodyPr/>
        <a:lstStyle/>
        <a:p>
          <a:endParaRPr lang="zh-CN" altLang="en-US"/>
        </a:p>
      </dgm:t>
    </dgm:pt>
    <dgm:pt modelId="{94EDB8A8-B6EA-4ABA-9026-BF8DDF8698F6}">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zh-CN" altLang="en-US" sz="2800" b="1" dirty="0" smtClean="0">
              <a:solidFill>
                <a:schemeClr val="tx1"/>
              </a:solidFill>
              <a:latin typeface="微软雅黑" pitchFamily="34" charset="-122"/>
              <a:ea typeface="微软雅黑" pitchFamily="34" charset="-122"/>
            </a:rPr>
            <a:t>临塑压力法</a:t>
          </a:r>
          <a:endParaRPr lang="zh-CN" altLang="en-US" sz="2800" b="1" dirty="0">
            <a:solidFill>
              <a:schemeClr val="tx1"/>
            </a:solidFill>
            <a:latin typeface="微软雅黑" pitchFamily="34" charset="-122"/>
            <a:ea typeface="微软雅黑" pitchFamily="34" charset="-122"/>
          </a:endParaRPr>
        </a:p>
      </dgm:t>
    </dgm:pt>
    <dgm:pt modelId="{262CCFD1-818F-46D1-A364-085D74E2BDB8}" type="parTrans" cxnId="{82252D90-FA00-48D8-9F90-90FA239DCEA3}">
      <dgm:prSet/>
      <dgm:spPr/>
      <dgm:t>
        <a:bodyPr/>
        <a:lstStyle/>
        <a:p>
          <a:pPr algn="ctr"/>
          <a:endParaRPr lang="zh-CN" altLang="en-US"/>
        </a:p>
      </dgm:t>
    </dgm:pt>
    <dgm:pt modelId="{F3348C6E-ED7A-4FF4-AA46-5A9551792D8B}" type="sibTrans" cxnId="{82252D90-FA00-48D8-9F90-90FA239DCEA3}">
      <dgm:prSet/>
      <dgm:spPr/>
      <dgm:t>
        <a:bodyPr/>
        <a:lstStyle/>
        <a:p>
          <a:pPr algn="ctr"/>
          <a:endParaRPr lang="zh-CN" altLang="en-US"/>
        </a:p>
      </dgm:t>
    </dgm:pt>
    <dgm:pt modelId="{4D55A12E-6B2C-4F5B-AD40-D8574A2F4894}">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zh-CN" altLang="en-US" sz="2800" b="1" dirty="0" smtClean="0">
              <a:solidFill>
                <a:schemeClr val="tx1"/>
              </a:solidFill>
              <a:latin typeface="微软雅黑" pitchFamily="34" charset="-122"/>
              <a:ea typeface="微软雅黑" pitchFamily="34" charset="-122"/>
            </a:rPr>
            <a:t>极限压力法</a:t>
          </a:r>
          <a:endParaRPr lang="zh-CN" altLang="en-US" sz="2800" b="1" dirty="0">
            <a:latin typeface="微软雅黑" pitchFamily="34" charset="-122"/>
            <a:ea typeface="微软雅黑" pitchFamily="34" charset="-122"/>
          </a:endParaRPr>
        </a:p>
      </dgm:t>
    </dgm:pt>
    <dgm:pt modelId="{F2A34083-0832-4BCE-BBAD-74892E40F364}" type="parTrans" cxnId="{4958FD79-056F-41B5-8D36-9E49E3CF741C}">
      <dgm:prSet/>
      <dgm:spPr/>
      <dgm:t>
        <a:bodyPr/>
        <a:lstStyle/>
        <a:p>
          <a:pPr algn="ctr"/>
          <a:endParaRPr lang="zh-CN" altLang="en-US"/>
        </a:p>
      </dgm:t>
    </dgm:pt>
    <dgm:pt modelId="{330D8C7B-C38B-47A5-8EAA-475BCBE0227D}" type="sibTrans" cxnId="{4958FD79-056F-41B5-8D36-9E49E3CF741C}">
      <dgm:prSet/>
      <dgm:spPr/>
      <dgm:t>
        <a:bodyPr/>
        <a:lstStyle/>
        <a:p>
          <a:pPr algn="ctr"/>
          <a:endParaRPr lang="zh-CN" altLang="en-US"/>
        </a:p>
      </dgm:t>
    </dgm:pt>
    <mc:AlternateContent xmlns:mc="http://schemas.openxmlformats.org/markup-compatibility/2006" xmlns:a14="http://schemas.microsoft.com/office/drawing/2010/main">
      <mc:Choice Requires="a14">
        <dgm:pt modelId="{AB784ED1-41B2-4869-A8E7-0DC45A22A03B}">
          <dgm:prSet phldrT="[文本]"/>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14:m>
                <m:oMathPara xmlns:m="http://schemas.openxmlformats.org/officeDocument/2006/math">
                  <m:oMathParaPr>
                    <m:jc m:val="centerGroup"/>
                  </m:oMathParaPr>
                  <m:oMath xmlns:m="http://schemas.openxmlformats.org/officeDocument/2006/math">
                    <m:sSub>
                      <m:sSubPr>
                        <m:ctrlPr>
                          <a:rPr lang="zh-CN" altLang="zh-CN" sz="2700" i="1" smtClean="0">
                            <a:solidFill>
                              <a:schemeClr val="tx1"/>
                            </a:solidFill>
                            <a:latin typeface="Cambria Math"/>
                          </a:rPr>
                        </m:ctrlPr>
                      </m:sSubPr>
                      <m:e>
                        <m:r>
                          <a:rPr lang="en-US" altLang="zh-CN" sz="2700" i="1">
                            <a:solidFill>
                              <a:schemeClr val="tx1"/>
                            </a:solidFill>
                            <a:latin typeface="Cambria Math" panose="02040503050406030204" pitchFamily="18" charset="0"/>
                          </a:rPr>
                          <m:t>𝑓</m:t>
                        </m:r>
                      </m:e>
                      <m:sub>
                        <m:r>
                          <a:rPr lang="en-US" altLang="zh-CN" sz="2700" i="1">
                            <a:solidFill>
                              <a:schemeClr val="tx1"/>
                            </a:solidFill>
                            <a:latin typeface="Cambria Math" panose="02040503050406030204" pitchFamily="18" charset="0"/>
                          </a:rPr>
                          <m:t>𝑎𝑘</m:t>
                        </m:r>
                      </m:sub>
                    </m:sSub>
                    <m:r>
                      <a:rPr lang="en-US" altLang="zh-CN" sz="2700" i="1">
                        <a:solidFill>
                          <a:schemeClr val="tx1"/>
                        </a:solidFill>
                        <a:latin typeface="Cambria Math" panose="02040503050406030204" pitchFamily="18" charset="0"/>
                      </a:rPr>
                      <m:t>=</m:t>
                    </m:r>
                    <m:d>
                      <m:dPr>
                        <m:begChr m:val="（"/>
                        <m:endChr m:val="）"/>
                        <m:ctrlPr>
                          <a:rPr lang="zh-CN" altLang="zh-CN" sz="2700" i="1">
                            <a:solidFill>
                              <a:schemeClr val="tx1"/>
                            </a:solidFill>
                            <a:latin typeface="Cambria Math"/>
                          </a:rPr>
                        </m:ctrlPr>
                      </m:dPr>
                      <m:e>
                        <m:sSub>
                          <m:sSubPr>
                            <m:ctrlPr>
                              <a:rPr lang="zh-CN" altLang="zh-CN" sz="2700" i="1">
                                <a:solidFill>
                                  <a:schemeClr val="tx1"/>
                                </a:solidFill>
                                <a:latin typeface="Cambria Math"/>
                              </a:rPr>
                            </m:ctrlPr>
                          </m:sSubPr>
                          <m:e>
                            <m:r>
                              <a:rPr lang="en-US" altLang="zh-CN" sz="2700" i="1">
                                <a:solidFill>
                                  <a:schemeClr val="tx1"/>
                                </a:solidFill>
                                <a:latin typeface="Cambria Math" panose="02040503050406030204" pitchFamily="18" charset="0"/>
                              </a:rPr>
                              <m:t>𝑃</m:t>
                            </m:r>
                          </m:e>
                          <m:sub>
                            <m:r>
                              <a:rPr lang="en-US" altLang="zh-CN" sz="2700" i="1">
                                <a:solidFill>
                                  <a:schemeClr val="tx1"/>
                                </a:solidFill>
                                <a:latin typeface="Cambria Math" panose="02040503050406030204" pitchFamily="18" charset="0"/>
                              </a:rPr>
                              <m:t>𝑙</m:t>
                            </m:r>
                          </m:sub>
                        </m:sSub>
                        <m:r>
                          <a:rPr lang="en-US" altLang="zh-CN" sz="2700" i="1">
                            <a:solidFill>
                              <a:schemeClr val="tx1"/>
                            </a:solidFill>
                            <a:latin typeface="Cambria Math" panose="02040503050406030204" pitchFamily="18" charset="0"/>
                          </a:rPr>
                          <m:t>−</m:t>
                        </m:r>
                        <m:sSub>
                          <m:sSubPr>
                            <m:ctrlPr>
                              <a:rPr lang="zh-CN" altLang="zh-CN" sz="2700" i="1">
                                <a:solidFill>
                                  <a:schemeClr val="tx1"/>
                                </a:solidFill>
                                <a:latin typeface="Cambria Math"/>
                              </a:rPr>
                            </m:ctrlPr>
                          </m:sSubPr>
                          <m:e>
                            <m:r>
                              <a:rPr lang="en-US" altLang="zh-CN" sz="2700" i="1">
                                <a:solidFill>
                                  <a:schemeClr val="tx1"/>
                                </a:solidFill>
                                <a:latin typeface="Cambria Math" panose="02040503050406030204" pitchFamily="18" charset="0"/>
                              </a:rPr>
                              <m:t>𝑃</m:t>
                            </m:r>
                          </m:e>
                          <m:sub>
                            <m:r>
                              <a:rPr lang="en-US" altLang="zh-CN" sz="2700" i="1">
                                <a:solidFill>
                                  <a:schemeClr val="tx1"/>
                                </a:solidFill>
                                <a:latin typeface="Cambria Math" panose="02040503050406030204" pitchFamily="18" charset="0"/>
                              </a:rPr>
                              <m:t>𝑂</m:t>
                            </m:r>
                          </m:sub>
                        </m:sSub>
                      </m:e>
                    </m:d>
                    <m:r>
                      <a:rPr lang="en-US" altLang="zh-CN" sz="2700">
                        <a:solidFill>
                          <a:schemeClr val="tx1"/>
                        </a:solidFill>
                        <a:latin typeface="Cambria Math" panose="02040503050406030204" pitchFamily="18" charset="0"/>
                      </a:rPr>
                      <m:t>/</m:t>
                    </m:r>
                    <m:r>
                      <m:rPr>
                        <m:sty m:val="p"/>
                      </m:rPr>
                      <a:rPr lang="en-US" altLang="zh-CN" sz="2700">
                        <a:solidFill>
                          <a:schemeClr val="tx1"/>
                        </a:solidFill>
                        <a:latin typeface="Cambria Math" panose="02040503050406030204" pitchFamily="18" charset="0"/>
                      </a:rPr>
                      <m:t>F</m:t>
                    </m:r>
                  </m:oMath>
                </m:oMathPara>
              </a14:m>
              <a:endParaRPr lang="zh-CN" altLang="en-US" sz="2700" dirty="0"/>
            </a:p>
          </dgm:t>
        </dgm:pt>
      </mc:Choice>
      <mc:Fallback xmlns="">
        <dgm:pt modelId="{AB784ED1-41B2-4869-A8E7-0DC45A22A03B}">
          <dgm:prSet phldrT="[文本]"/>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en-US" altLang="zh-CN" sz="2700" i="0">
                  <a:solidFill>
                    <a:schemeClr val="tx1"/>
                  </a:solidFill>
                  <a:latin typeface="Cambria Math" panose="02040503050406030204" pitchFamily="18" charset="0"/>
                </a:rPr>
                <a:t>𝑓</a:t>
              </a:r>
              <a:r>
                <a:rPr lang="zh-CN" altLang="zh-CN" sz="2700" i="0" smtClean="0">
                  <a:solidFill>
                    <a:schemeClr val="tx1"/>
                  </a:solidFill>
                  <a:latin typeface="Cambria Math"/>
                </a:rPr>
                <a:t>_</a:t>
              </a:r>
              <a:r>
                <a:rPr lang="en-US" altLang="zh-CN" sz="2700" i="0">
                  <a:solidFill>
                    <a:schemeClr val="tx1"/>
                  </a:solidFill>
                  <a:latin typeface="Cambria Math" panose="02040503050406030204" pitchFamily="18" charset="0"/>
                </a:rPr>
                <a:t>𝑎𝑘=</a:t>
              </a:r>
              <a:r>
                <a:rPr lang="zh-CN" altLang="zh-CN" sz="2700" i="0">
                  <a:solidFill>
                    <a:schemeClr val="tx1"/>
                  </a:solidFill>
                  <a:latin typeface="Cambria Math"/>
                </a:rPr>
                <a:t>（</a:t>
              </a:r>
              <a:r>
                <a:rPr lang="en-US" altLang="zh-CN" sz="2700" i="0">
                  <a:solidFill>
                    <a:schemeClr val="tx1"/>
                  </a:solidFill>
                  <a:latin typeface="Cambria Math" panose="02040503050406030204" pitchFamily="18" charset="0"/>
                </a:rPr>
                <a:t>𝑃</a:t>
              </a:r>
              <a:r>
                <a:rPr lang="zh-CN" altLang="zh-CN" sz="2700" i="0">
                  <a:solidFill>
                    <a:schemeClr val="tx1"/>
                  </a:solidFill>
                  <a:latin typeface="Cambria Math"/>
                </a:rPr>
                <a:t>_</a:t>
              </a:r>
              <a:r>
                <a:rPr lang="en-US" altLang="zh-CN" sz="2700" i="0">
                  <a:solidFill>
                    <a:schemeClr val="tx1"/>
                  </a:solidFill>
                  <a:latin typeface="Cambria Math" panose="02040503050406030204" pitchFamily="18" charset="0"/>
                </a:rPr>
                <a:t>𝑙−𝑃</a:t>
              </a:r>
              <a:r>
                <a:rPr lang="zh-CN" altLang="zh-CN" sz="2700" i="0">
                  <a:solidFill>
                    <a:schemeClr val="tx1"/>
                  </a:solidFill>
                  <a:latin typeface="Cambria Math"/>
                </a:rPr>
                <a:t>_</a:t>
              </a:r>
              <a:r>
                <a:rPr lang="en-US" altLang="zh-CN" sz="2700" i="0">
                  <a:solidFill>
                    <a:schemeClr val="tx1"/>
                  </a:solidFill>
                  <a:latin typeface="Cambria Math" panose="02040503050406030204" pitchFamily="18" charset="0"/>
                </a:rPr>
                <a:t>𝑂</a:t>
              </a:r>
              <a:r>
                <a:rPr lang="en-US" altLang="zh-CN" sz="2700" i="0">
                  <a:solidFill>
                    <a:schemeClr val="tx1"/>
                  </a:solidFill>
                  <a:latin typeface="Cambria Math"/>
                </a:rPr>
                <a:t> ）</a:t>
              </a:r>
              <a:r>
                <a:rPr lang="en-US" altLang="zh-CN" sz="2700" i="0">
                  <a:solidFill>
                    <a:schemeClr val="tx1"/>
                  </a:solidFill>
                  <a:latin typeface="Cambria Math" panose="02040503050406030204" pitchFamily="18" charset="0"/>
                </a:rPr>
                <a:t>/F</a:t>
              </a:r>
              <a:endParaRPr lang="zh-CN" altLang="en-US" sz="2700" dirty="0"/>
            </a:p>
          </dgm:t>
        </dgm:pt>
      </mc:Fallback>
    </mc:AlternateContent>
    <dgm:pt modelId="{2C04C5C3-3178-4C29-BB28-6F32D661FC00}" type="parTrans" cxnId="{C052D5C5-48D2-4AF4-B688-E2ABFF79A52D}">
      <dgm:prSet/>
      <dgm:spPr/>
      <dgm:t>
        <a:bodyPr/>
        <a:lstStyle/>
        <a:p>
          <a:pPr algn="ctr"/>
          <a:endParaRPr lang="zh-CN" altLang="en-US"/>
        </a:p>
      </dgm:t>
    </dgm:pt>
    <dgm:pt modelId="{A06D9469-693A-4C23-881E-7D771A0E15EE}" type="sibTrans" cxnId="{C052D5C5-48D2-4AF4-B688-E2ABFF79A52D}">
      <dgm:prSet/>
      <dgm:spPr/>
      <dgm:t>
        <a:bodyPr/>
        <a:lstStyle/>
        <a:p>
          <a:pPr algn="ctr"/>
          <a:endParaRPr lang="zh-CN" altLang="en-US"/>
        </a:p>
      </dgm:t>
    </dgm:pt>
    <dgm:pt modelId="{475FCEEB-6213-400A-9700-E6B92373169E}">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zh-CN" altLang="en-US" sz="2000" b="1" dirty="0" smtClean="0">
              <a:solidFill>
                <a:schemeClr val="tx1"/>
              </a:solidFill>
              <a:latin typeface="微软雅黑" pitchFamily="34" charset="-122"/>
              <a:ea typeface="微软雅黑" pitchFamily="34" charset="-122"/>
            </a:rPr>
            <a:t>修正临塑压力法</a:t>
          </a:r>
          <a:endParaRPr lang="zh-CN" altLang="en-US" sz="2000" b="1" dirty="0">
            <a:solidFill>
              <a:schemeClr val="tx1"/>
            </a:solidFill>
            <a:latin typeface="微软雅黑" pitchFamily="34" charset="-122"/>
            <a:ea typeface="微软雅黑" pitchFamily="34" charset="-122"/>
          </a:endParaRPr>
        </a:p>
      </dgm:t>
    </dgm:pt>
    <dgm:pt modelId="{6A4771CA-5931-4130-9313-67C7A77D6176}" type="parTrans" cxnId="{90DA4A30-1419-4697-B9ED-88A653874D89}">
      <dgm:prSet/>
      <dgm:spPr/>
      <dgm:t>
        <a:bodyPr/>
        <a:lstStyle/>
        <a:p>
          <a:pPr algn="ctr"/>
          <a:endParaRPr lang="zh-CN" altLang="en-US"/>
        </a:p>
      </dgm:t>
    </dgm:pt>
    <dgm:pt modelId="{1D6FB823-011D-4EC9-BAA4-D97D95CF061D}" type="sibTrans" cxnId="{90DA4A30-1419-4697-B9ED-88A653874D89}">
      <dgm:prSet/>
      <dgm:spPr/>
      <dgm:t>
        <a:bodyPr/>
        <a:lstStyle/>
        <a:p>
          <a:pPr algn="ctr"/>
          <a:endParaRPr lang="zh-CN" altLang="en-US"/>
        </a:p>
      </dgm:t>
    </dgm:pt>
    <mc:AlternateContent xmlns:mc="http://schemas.openxmlformats.org/markup-compatibility/2006" xmlns:a14="http://schemas.microsoft.com/office/drawing/2010/main">
      <mc:Choice Requires="a14">
        <dgm:pt modelId="{812F2A70-3674-4915-BECA-78D86E47601D}">
          <dgm:prSet phldrT="[文本]"/>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14:m>
                <m:oMathPara xmlns:m="http://schemas.openxmlformats.org/officeDocument/2006/math">
                  <m:oMathParaPr>
                    <m:jc m:val="centerGroup"/>
                  </m:oMathParaPr>
                  <m:oMath xmlns:m="http://schemas.openxmlformats.org/officeDocument/2006/math">
                    <m:sSub>
                      <m:sSubPr>
                        <m:ctrlPr>
                          <a:rPr lang="zh-CN" altLang="zh-CN" sz="2600" i="1" smtClean="0">
                            <a:solidFill>
                              <a:schemeClr val="tx1"/>
                            </a:solidFill>
                            <a:latin typeface="Cambria Math"/>
                          </a:rPr>
                        </m:ctrlPr>
                      </m:sSubPr>
                      <m:e>
                        <m:r>
                          <a:rPr lang="en-US" altLang="zh-CN" sz="2600" i="1">
                            <a:solidFill>
                              <a:schemeClr val="tx1"/>
                            </a:solidFill>
                            <a:latin typeface="Cambria Math" panose="02040503050406030204" pitchFamily="18" charset="0"/>
                          </a:rPr>
                          <m:t>𝑓</m:t>
                        </m:r>
                      </m:e>
                      <m:sub>
                        <m:r>
                          <a:rPr lang="en-US" altLang="zh-CN" sz="2600" i="1">
                            <a:solidFill>
                              <a:schemeClr val="tx1"/>
                            </a:solidFill>
                            <a:latin typeface="Cambria Math" panose="02040503050406030204" pitchFamily="18" charset="0"/>
                          </a:rPr>
                          <m:t>𝑎𝑘</m:t>
                        </m:r>
                      </m:sub>
                    </m:sSub>
                    <m:r>
                      <a:rPr lang="en-US" altLang="zh-CN" sz="2600" i="1">
                        <a:solidFill>
                          <a:schemeClr val="tx1"/>
                        </a:solidFill>
                        <a:latin typeface="Cambria Math" panose="02040503050406030204" pitchFamily="18" charset="0"/>
                      </a:rPr>
                      <m:t>=</m:t>
                    </m:r>
                    <m:sSub>
                      <m:sSubPr>
                        <m:ctrlPr>
                          <a:rPr lang="zh-CN" altLang="zh-CN" sz="2600" i="1">
                            <a:solidFill>
                              <a:schemeClr val="tx1"/>
                            </a:solidFill>
                            <a:latin typeface="Cambria Math"/>
                          </a:rPr>
                        </m:ctrlPr>
                      </m:sSubPr>
                      <m:e>
                        <m:r>
                          <m:rPr>
                            <m:sty m:val="p"/>
                          </m:rPr>
                          <a:rPr lang="en-US" altLang="zh-CN" sz="2600">
                            <a:solidFill>
                              <a:schemeClr val="tx1"/>
                            </a:solidFill>
                            <a:latin typeface="Cambria Math" panose="02040503050406030204" pitchFamily="18" charset="0"/>
                          </a:rPr>
                          <m:t>λ</m:t>
                        </m:r>
                        <m:r>
                          <a:rPr lang="zh-CN" altLang="zh-CN" sz="2600">
                            <a:solidFill>
                              <a:schemeClr val="tx1"/>
                            </a:solidFill>
                            <a:latin typeface="Cambria Math" panose="02040503050406030204" pitchFamily="18" charset="0"/>
                          </a:rPr>
                          <m:t>（</m:t>
                        </m:r>
                        <m:r>
                          <a:rPr lang="en-US" altLang="zh-CN" sz="2600" i="1">
                            <a:solidFill>
                              <a:schemeClr val="tx1"/>
                            </a:solidFill>
                            <a:latin typeface="Cambria Math" panose="02040503050406030204" pitchFamily="18" charset="0"/>
                          </a:rPr>
                          <m:t>𝑃</m:t>
                        </m:r>
                      </m:e>
                      <m:sub>
                        <m:r>
                          <a:rPr lang="en-US" altLang="zh-CN" sz="2600" i="1">
                            <a:solidFill>
                              <a:schemeClr val="tx1"/>
                            </a:solidFill>
                            <a:latin typeface="Cambria Math" panose="02040503050406030204" pitchFamily="18" charset="0"/>
                          </a:rPr>
                          <m:t>𝑓</m:t>
                        </m:r>
                      </m:sub>
                    </m:sSub>
                    <m:r>
                      <a:rPr lang="en-US" altLang="zh-CN" sz="2600" i="1">
                        <a:solidFill>
                          <a:schemeClr val="tx1"/>
                        </a:solidFill>
                        <a:latin typeface="Cambria Math" panose="02040503050406030204" pitchFamily="18" charset="0"/>
                      </a:rPr>
                      <m:t>−</m:t>
                    </m:r>
                    <m:sSub>
                      <m:sSubPr>
                        <m:ctrlPr>
                          <a:rPr lang="zh-CN" altLang="zh-CN" sz="2600" i="1">
                            <a:solidFill>
                              <a:schemeClr val="tx1"/>
                            </a:solidFill>
                            <a:latin typeface="Cambria Math"/>
                          </a:rPr>
                        </m:ctrlPr>
                      </m:sSubPr>
                      <m:e>
                        <m:r>
                          <a:rPr lang="en-US" altLang="zh-CN" sz="2600" i="1">
                            <a:solidFill>
                              <a:schemeClr val="tx1"/>
                            </a:solidFill>
                            <a:latin typeface="Cambria Math" panose="02040503050406030204" pitchFamily="18" charset="0"/>
                          </a:rPr>
                          <m:t>𝑃</m:t>
                        </m:r>
                      </m:e>
                      <m:sub>
                        <m:r>
                          <a:rPr lang="en-US" altLang="zh-CN" sz="2600" i="1">
                            <a:solidFill>
                              <a:schemeClr val="tx1"/>
                            </a:solidFill>
                            <a:latin typeface="Cambria Math" panose="02040503050406030204" pitchFamily="18" charset="0"/>
                          </a:rPr>
                          <m:t>𝑂</m:t>
                        </m:r>
                      </m:sub>
                    </m:sSub>
                    <m:r>
                      <a:rPr lang="zh-CN" altLang="zh-CN" sz="2600">
                        <a:solidFill>
                          <a:schemeClr val="tx1"/>
                        </a:solidFill>
                        <a:latin typeface="Cambria Math" panose="02040503050406030204" pitchFamily="18" charset="0"/>
                      </a:rPr>
                      <m:t>）</m:t>
                    </m:r>
                  </m:oMath>
                </m:oMathPara>
              </a14:m>
              <a:endParaRPr lang="zh-CN" altLang="en-US" sz="2600" dirty="0"/>
            </a:p>
          </dgm:t>
        </dgm:pt>
      </mc:Choice>
      <mc:Fallback xmlns="">
        <dgm:pt modelId="{812F2A70-3674-4915-BECA-78D86E47601D}">
          <dgm:prSet phldrT="[文本]"/>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en-US" altLang="zh-CN" sz="2600" i="0">
                  <a:solidFill>
                    <a:schemeClr val="tx1"/>
                  </a:solidFill>
                  <a:latin typeface="Cambria Math" panose="02040503050406030204" pitchFamily="18" charset="0"/>
                </a:rPr>
                <a:t>𝑓</a:t>
              </a:r>
              <a:r>
                <a:rPr lang="zh-CN" altLang="zh-CN" sz="2600" i="0" smtClean="0">
                  <a:solidFill>
                    <a:schemeClr val="tx1"/>
                  </a:solidFill>
                  <a:latin typeface="Cambria Math"/>
                </a:rPr>
                <a:t>_</a:t>
              </a:r>
              <a:r>
                <a:rPr lang="en-US" altLang="zh-CN" sz="2600" i="0">
                  <a:solidFill>
                    <a:schemeClr val="tx1"/>
                  </a:solidFill>
                  <a:latin typeface="Cambria Math" panose="02040503050406030204" pitchFamily="18" charset="0"/>
                </a:rPr>
                <a:t>𝑎𝑘=</a:t>
              </a:r>
              <a:r>
                <a:rPr lang="zh-CN" altLang="zh-CN" sz="2600" i="0">
                  <a:solidFill>
                    <a:schemeClr val="tx1"/>
                  </a:solidFill>
                  <a:latin typeface="Cambria Math"/>
                </a:rPr>
                <a:t>〖</a:t>
              </a:r>
              <a:r>
                <a:rPr lang="en-US" altLang="zh-CN" sz="2600" i="0">
                  <a:solidFill>
                    <a:schemeClr val="tx1"/>
                  </a:solidFill>
                  <a:latin typeface="Cambria Math" panose="02040503050406030204" pitchFamily="18" charset="0"/>
                </a:rPr>
                <a:t>λ</a:t>
              </a:r>
              <a:r>
                <a:rPr lang="zh-CN" altLang="zh-CN" sz="2600" i="0">
                  <a:solidFill>
                    <a:schemeClr val="tx1"/>
                  </a:solidFill>
                  <a:latin typeface="Cambria Math" panose="02040503050406030204" pitchFamily="18" charset="0"/>
                </a:rPr>
                <a:t>（</a:t>
              </a:r>
              <a:r>
                <a:rPr lang="en-US" altLang="zh-CN" sz="2600" i="0">
                  <a:solidFill>
                    <a:schemeClr val="tx1"/>
                  </a:solidFill>
                  <a:latin typeface="Cambria Math" panose="02040503050406030204" pitchFamily="18" charset="0"/>
                </a:rPr>
                <a:t>𝑃</a:t>
              </a:r>
              <a:r>
                <a:rPr lang="zh-CN" altLang="zh-CN" sz="2600" i="0">
                  <a:solidFill>
                    <a:schemeClr val="tx1"/>
                  </a:solidFill>
                  <a:latin typeface="Cambria Math"/>
                </a:rPr>
                <a:t>〗_</a:t>
              </a:r>
              <a:r>
                <a:rPr lang="en-US" altLang="zh-CN" sz="2600" i="0">
                  <a:solidFill>
                    <a:schemeClr val="tx1"/>
                  </a:solidFill>
                  <a:latin typeface="Cambria Math" panose="02040503050406030204" pitchFamily="18" charset="0"/>
                </a:rPr>
                <a:t>𝑓−𝑃</a:t>
              </a:r>
              <a:r>
                <a:rPr lang="zh-CN" altLang="zh-CN" sz="2600" i="0">
                  <a:solidFill>
                    <a:schemeClr val="tx1"/>
                  </a:solidFill>
                  <a:latin typeface="Cambria Math"/>
                </a:rPr>
                <a:t>_</a:t>
              </a:r>
              <a:r>
                <a:rPr lang="en-US" altLang="zh-CN" sz="2600" i="0">
                  <a:solidFill>
                    <a:schemeClr val="tx1"/>
                  </a:solidFill>
                  <a:latin typeface="Cambria Math" panose="02040503050406030204" pitchFamily="18" charset="0"/>
                </a:rPr>
                <a:t>𝑂</a:t>
              </a:r>
              <a:r>
                <a:rPr lang="zh-CN" altLang="zh-CN" sz="2600" i="0">
                  <a:solidFill>
                    <a:schemeClr val="tx1"/>
                  </a:solidFill>
                  <a:latin typeface="Cambria Math" panose="02040503050406030204" pitchFamily="18" charset="0"/>
                </a:rPr>
                <a:t>）</a:t>
              </a:r>
              <a:endParaRPr lang="zh-CN" altLang="en-US" sz="2600" dirty="0"/>
            </a:p>
          </dgm:t>
        </dgm:pt>
      </mc:Fallback>
    </mc:AlternateContent>
    <dgm:pt modelId="{22B1A2D4-DEA1-43B5-BD69-5783434B8198}" type="parTrans" cxnId="{834FD129-9248-4476-942F-362E53BC6FB8}">
      <dgm:prSet/>
      <dgm:spPr/>
      <dgm:t>
        <a:bodyPr/>
        <a:lstStyle/>
        <a:p>
          <a:pPr algn="ctr"/>
          <a:endParaRPr lang="zh-CN" altLang="en-US"/>
        </a:p>
      </dgm:t>
    </dgm:pt>
    <dgm:pt modelId="{700C043D-7EBB-4F73-8AC8-C5092FDA0F05}" type="sibTrans" cxnId="{834FD129-9248-4476-942F-362E53BC6FB8}">
      <dgm:prSet/>
      <dgm:spPr/>
      <dgm:t>
        <a:bodyPr/>
        <a:lstStyle/>
        <a:p>
          <a:pPr algn="ctr"/>
          <a:endParaRPr lang="zh-CN" altLang="en-US"/>
        </a:p>
      </dgm:t>
    </dgm:pt>
    <mc:AlternateContent xmlns:mc="http://schemas.openxmlformats.org/markup-compatibility/2006" xmlns:a14="http://schemas.microsoft.com/office/drawing/2010/main">
      <mc:Choice Requires="a14">
        <dgm:pt modelId="{3E462A27-EBDF-446A-91E7-352C3BC3F33A}">
          <dgm:prSet phldrT="[文本]"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14:m>
                <m:oMathPara xmlns:m="http://schemas.openxmlformats.org/officeDocument/2006/math">
                  <m:oMathParaPr>
                    <m:jc m:val="centerGroup"/>
                  </m:oMathParaPr>
                  <m:oMath xmlns:m="http://schemas.openxmlformats.org/officeDocument/2006/math">
                    <m:sSub>
                      <m:sSubPr>
                        <m:ctrlPr>
                          <a:rPr lang="zh-CN" altLang="zh-CN" sz="2700" i="1" smtClean="0">
                            <a:solidFill>
                              <a:schemeClr val="tx1"/>
                            </a:solidFill>
                            <a:latin typeface="Cambria Math"/>
                          </a:rPr>
                        </m:ctrlPr>
                      </m:sSubPr>
                      <m:e>
                        <m:r>
                          <a:rPr lang="en-US" altLang="zh-CN" sz="2700" i="1">
                            <a:solidFill>
                              <a:schemeClr val="tx1"/>
                            </a:solidFill>
                            <a:latin typeface="Cambria Math" panose="02040503050406030204" pitchFamily="18" charset="0"/>
                          </a:rPr>
                          <m:t>𝑓</m:t>
                        </m:r>
                      </m:e>
                      <m:sub>
                        <m:r>
                          <a:rPr lang="en-US" altLang="zh-CN" sz="2700" i="1">
                            <a:solidFill>
                              <a:schemeClr val="tx1"/>
                            </a:solidFill>
                            <a:latin typeface="Cambria Math" panose="02040503050406030204" pitchFamily="18" charset="0"/>
                          </a:rPr>
                          <m:t>𝑎𝑘</m:t>
                        </m:r>
                      </m:sub>
                    </m:sSub>
                    <m:r>
                      <a:rPr lang="en-US" altLang="zh-CN" sz="2700" i="1">
                        <a:solidFill>
                          <a:schemeClr val="tx1"/>
                        </a:solidFill>
                        <a:latin typeface="Cambria Math" panose="02040503050406030204" pitchFamily="18" charset="0"/>
                      </a:rPr>
                      <m:t>=</m:t>
                    </m:r>
                    <m:sSub>
                      <m:sSubPr>
                        <m:ctrlPr>
                          <a:rPr lang="zh-CN" altLang="zh-CN" sz="2700" i="1">
                            <a:solidFill>
                              <a:schemeClr val="tx1"/>
                            </a:solidFill>
                            <a:latin typeface="Cambria Math"/>
                          </a:rPr>
                        </m:ctrlPr>
                      </m:sSubPr>
                      <m:e>
                        <m:r>
                          <a:rPr lang="en-US" altLang="zh-CN" sz="2700" i="1">
                            <a:solidFill>
                              <a:schemeClr val="tx1"/>
                            </a:solidFill>
                            <a:latin typeface="Cambria Math" panose="02040503050406030204" pitchFamily="18" charset="0"/>
                          </a:rPr>
                          <m:t>𝑃</m:t>
                        </m:r>
                      </m:e>
                      <m:sub>
                        <m:r>
                          <a:rPr lang="en-US" altLang="zh-CN" sz="2700" i="1">
                            <a:solidFill>
                              <a:schemeClr val="tx1"/>
                            </a:solidFill>
                            <a:latin typeface="Cambria Math" panose="02040503050406030204" pitchFamily="18" charset="0"/>
                          </a:rPr>
                          <m:t>𝑓</m:t>
                        </m:r>
                      </m:sub>
                    </m:sSub>
                    <m:r>
                      <a:rPr lang="en-US" altLang="zh-CN" sz="2700" i="1">
                        <a:solidFill>
                          <a:schemeClr val="tx1"/>
                        </a:solidFill>
                        <a:latin typeface="Cambria Math" panose="02040503050406030204" pitchFamily="18" charset="0"/>
                      </a:rPr>
                      <m:t>−</m:t>
                    </m:r>
                    <m:sSub>
                      <m:sSubPr>
                        <m:ctrlPr>
                          <a:rPr lang="zh-CN" altLang="zh-CN" sz="2700" i="1">
                            <a:solidFill>
                              <a:schemeClr val="tx1"/>
                            </a:solidFill>
                            <a:latin typeface="Cambria Math"/>
                          </a:rPr>
                        </m:ctrlPr>
                      </m:sSubPr>
                      <m:e>
                        <m:r>
                          <a:rPr lang="en-US" altLang="zh-CN" sz="2700" i="1">
                            <a:solidFill>
                              <a:schemeClr val="tx1"/>
                            </a:solidFill>
                            <a:latin typeface="Cambria Math" panose="02040503050406030204" pitchFamily="18" charset="0"/>
                          </a:rPr>
                          <m:t>𝑃</m:t>
                        </m:r>
                      </m:e>
                      <m:sub>
                        <m:r>
                          <a:rPr lang="en-US" altLang="zh-CN" sz="2700" i="1">
                            <a:solidFill>
                              <a:schemeClr val="tx1"/>
                            </a:solidFill>
                            <a:latin typeface="Cambria Math" panose="02040503050406030204" pitchFamily="18" charset="0"/>
                          </a:rPr>
                          <m:t>𝑂</m:t>
                        </m:r>
                      </m:sub>
                    </m:sSub>
                  </m:oMath>
                </m:oMathPara>
              </a14:m>
              <a:endParaRPr lang="zh-CN" altLang="en-US" sz="2700" dirty="0"/>
            </a:p>
          </dgm:t>
        </dgm:pt>
      </mc:Choice>
      <mc:Fallback xmlns="">
        <dgm:pt modelId="{3E462A27-EBDF-446A-91E7-352C3BC3F33A}">
          <dgm:prSet phldrT="[文本]"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en-US" altLang="zh-CN" sz="2700" i="0">
                  <a:solidFill>
                    <a:schemeClr val="tx1"/>
                  </a:solidFill>
                  <a:latin typeface="Cambria Math" panose="02040503050406030204" pitchFamily="18" charset="0"/>
                </a:rPr>
                <a:t>𝑓</a:t>
              </a:r>
              <a:r>
                <a:rPr lang="zh-CN" altLang="zh-CN" sz="2700" i="0" smtClean="0">
                  <a:solidFill>
                    <a:schemeClr val="tx1"/>
                  </a:solidFill>
                  <a:latin typeface="Cambria Math"/>
                </a:rPr>
                <a:t>_</a:t>
              </a:r>
              <a:r>
                <a:rPr lang="en-US" altLang="zh-CN" sz="2700" i="0">
                  <a:solidFill>
                    <a:schemeClr val="tx1"/>
                  </a:solidFill>
                  <a:latin typeface="Cambria Math" panose="02040503050406030204" pitchFamily="18" charset="0"/>
                </a:rPr>
                <a:t>𝑎𝑘=𝑃</a:t>
              </a:r>
              <a:r>
                <a:rPr lang="zh-CN" altLang="zh-CN" sz="2700" i="0">
                  <a:solidFill>
                    <a:schemeClr val="tx1"/>
                  </a:solidFill>
                  <a:latin typeface="Cambria Math"/>
                </a:rPr>
                <a:t>_</a:t>
              </a:r>
              <a:r>
                <a:rPr lang="en-US" altLang="zh-CN" sz="2700" i="0">
                  <a:solidFill>
                    <a:schemeClr val="tx1"/>
                  </a:solidFill>
                  <a:latin typeface="Cambria Math" panose="02040503050406030204" pitchFamily="18" charset="0"/>
                </a:rPr>
                <a:t>𝑓−𝑃</a:t>
              </a:r>
              <a:r>
                <a:rPr lang="zh-CN" altLang="zh-CN" sz="2700" i="0">
                  <a:solidFill>
                    <a:schemeClr val="tx1"/>
                  </a:solidFill>
                  <a:latin typeface="Cambria Math"/>
                </a:rPr>
                <a:t>_</a:t>
              </a:r>
              <a:r>
                <a:rPr lang="en-US" altLang="zh-CN" sz="2700" i="0">
                  <a:solidFill>
                    <a:schemeClr val="tx1"/>
                  </a:solidFill>
                  <a:latin typeface="Cambria Math" panose="02040503050406030204" pitchFamily="18" charset="0"/>
                </a:rPr>
                <a:t>𝑂</a:t>
              </a:r>
              <a:endParaRPr lang="zh-CN" altLang="en-US" sz="2700" dirty="0"/>
            </a:p>
          </dgm:t>
        </dgm:pt>
      </mc:Fallback>
    </mc:AlternateContent>
    <dgm:pt modelId="{1D467DEB-692E-486B-A068-925C947BCA1C}" type="sibTrans" cxnId="{3C306367-F3E9-46B5-92A3-CC78FA68DBC8}">
      <dgm:prSet/>
      <dgm:spPr/>
      <dgm:t>
        <a:bodyPr/>
        <a:lstStyle/>
        <a:p>
          <a:pPr algn="ctr"/>
          <a:endParaRPr lang="zh-CN" altLang="en-US"/>
        </a:p>
      </dgm:t>
    </dgm:pt>
    <dgm:pt modelId="{339D127F-3DC9-4379-BD5E-7F3285271915}" type="parTrans" cxnId="{3C306367-F3E9-46B5-92A3-CC78FA68DBC8}">
      <dgm:prSet/>
      <dgm:spPr/>
      <dgm:t>
        <a:bodyPr/>
        <a:lstStyle/>
        <a:p>
          <a:pPr algn="ctr"/>
          <a:endParaRPr lang="zh-CN" altLang="en-US"/>
        </a:p>
      </dgm:t>
    </dgm:pt>
    <dgm:pt modelId="{B418CFC0-4BA1-46C1-887B-136DCFA799FE}">
      <dgm:prSet phldrT="[文本]"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en-US" altLang="zh-CN" sz="2000" dirty="0" smtClean="0">
              <a:solidFill>
                <a:schemeClr val="tx1"/>
              </a:solidFill>
              <a:latin typeface="楷体" panose="02010609060101010101" pitchFamily="49" charset="-122"/>
              <a:ea typeface="楷体" panose="02010609060101010101" pitchFamily="49" charset="-122"/>
            </a:rPr>
            <a:t> </a:t>
          </a:r>
          <a:r>
            <a:rPr lang="en-US" altLang="zh-CN" sz="2000" dirty="0">
              <a:solidFill>
                <a:schemeClr val="tx1"/>
              </a:solidFill>
              <a:latin typeface="楷体" panose="02010609060101010101" pitchFamily="49" charset="-122"/>
              <a:ea typeface="楷体" panose="02010609060101010101" pitchFamily="49" charset="-122"/>
            </a:rPr>
            <a:t>F</a:t>
          </a:r>
          <a:r>
            <a:rPr lang="zh-CN" altLang="zh-CN" sz="2000" dirty="0">
              <a:solidFill>
                <a:schemeClr val="tx1"/>
              </a:solidFill>
              <a:latin typeface="楷体" panose="02010609060101010101" pitchFamily="49" charset="-122"/>
              <a:ea typeface="楷体" panose="02010609060101010101" pitchFamily="49" charset="-122"/>
            </a:rPr>
            <a:t>——安全系数</a:t>
          </a:r>
          <a:endParaRPr lang="zh-CN" altLang="en-US" sz="2000" dirty="0">
            <a:latin typeface="楷体" panose="02010609060101010101" pitchFamily="49" charset="-122"/>
            <a:ea typeface="楷体" panose="02010609060101010101" pitchFamily="49" charset="-122"/>
          </a:endParaRPr>
        </a:p>
      </dgm:t>
    </dgm:pt>
    <dgm:pt modelId="{474D4B87-881D-4098-894F-A5703E9CC449}" type="parTrans" cxnId="{6CB35796-DCCA-4279-AA5C-9A5CC01D50BD}">
      <dgm:prSet/>
      <dgm:spPr/>
      <dgm:t>
        <a:bodyPr/>
        <a:lstStyle/>
        <a:p>
          <a:pPr algn="ctr"/>
          <a:endParaRPr lang="zh-CN" altLang="en-US"/>
        </a:p>
      </dgm:t>
    </dgm:pt>
    <dgm:pt modelId="{AD125352-B0AE-4F2C-B516-66D435EF3788}" type="sibTrans" cxnId="{6CB35796-DCCA-4279-AA5C-9A5CC01D50BD}">
      <dgm:prSet/>
      <dgm:spPr/>
      <dgm:t>
        <a:bodyPr/>
        <a:lstStyle/>
        <a:p>
          <a:pPr algn="ctr"/>
          <a:endParaRPr lang="zh-CN" altLang="en-US"/>
        </a:p>
      </dgm:t>
    </dgm:pt>
    <mc:AlternateContent xmlns:mc="http://schemas.openxmlformats.org/markup-compatibility/2006" xmlns:a14="http://schemas.microsoft.com/office/drawing/2010/main">
      <mc:Choice Requires="a14">
        <dgm:pt modelId="{A25811A8-84DC-4347-A157-804337674E75}">
          <dgm:prSet phldrT="[文本]"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14:m>
                <m:oMath xmlns:m="http://schemas.openxmlformats.org/officeDocument/2006/math">
                  <m:r>
                    <m:rPr>
                      <m:sty m:val="p"/>
                    </m:rPr>
                    <a:rPr lang="en-US" altLang="zh-CN" sz="2000">
                      <a:solidFill>
                        <a:schemeClr val="tx1"/>
                      </a:solidFill>
                      <a:latin typeface="Cambria Math" panose="02040503050406030204" pitchFamily="18" charset="0"/>
                    </a:rPr>
                    <m:t>λ</m:t>
                  </m:r>
                  <m:r>
                    <a:rPr lang="en-US" altLang="zh-CN" sz="2000">
                      <a:solidFill>
                        <a:schemeClr val="tx1"/>
                      </a:solidFill>
                      <a:latin typeface="Cambria Math" panose="02040503050406030204" pitchFamily="18" charset="0"/>
                    </a:rPr>
                    <m:t>——</m:t>
                  </m:r>
                </m:oMath>
              </a14:m>
              <a:r>
                <a:rPr lang="zh-CN" altLang="zh-CN" sz="2000" dirty="0">
                  <a:solidFill>
                    <a:schemeClr val="tx1"/>
                  </a:solidFill>
                  <a:latin typeface="楷体" panose="02010609060101010101" pitchFamily="49" charset="-122"/>
                  <a:ea typeface="楷体" panose="02010609060101010101" pitchFamily="49" charset="-122"/>
                </a:rPr>
                <a:t>修正系数</a:t>
              </a:r>
              <a:endParaRPr lang="zh-CN" altLang="en-US" sz="2000" dirty="0">
                <a:latin typeface="楷体" panose="02010609060101010101" pitchFamily="49" charset="-122"/>
                <a:ea typeface="楷体" panose="02010609060101010101" pitchFamily="49" charset="-122"/>
              </a:endParaRPr>
            </a:p>
          </dgm:t>
        </dgm:pt>
      </mc:Choice>
      <mc:Fallback xmlns="">
        <dgm:pt modelId="{A25811A8-84DC-4347-A157-804337674E75}">
          <dgm:prSet phldrT="[文本]"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en-US" altLang="zh-CN" sz="2000" i="0">
                  <a:solidFill>
                    <a:schemeClr val="tx1"/>
                  </a:solidFill>
                  <a:latin typeface="Cambria Math" panose="02040503050406030204" pitchFamily="18" charset="0"/>
                </a:rPr>
                <a:t>λ——</a:t>
              </a:r>
              <a:r>
                <a:rPr lang="zh-CN" altLang="zh-CN" sz="2000" dirty="0">
                  <a:solidFill>
                    <a:schemeClr val="tx1"/>
                  </a:solidFill>
                  <a:latin typeface="楷体" panose="02010609060101010101" pitchFamily="49" charset="-122"/>
                  <a:ea typeface="楷体" panose="02010609060101010101" pitchFamily="49" charset="-122"/>
                </a:rPr>
                <a:t>修正系数</a:t>
              </a:r>
              <a:endParaRPr lang="zh-CN" altLang="en-US" sz="2000" dirty="0">
                <a:latin typeface="楷体" panose="02010609060101010101" pitchFamily="49" charset="-122"/>
                <a:ea typeface="楷体" panose="02010609060101010101" pitchFamily="49" charset="-122"/>
              </a:endParaRPr>
            </a:p>
          </dgm:t>
        </dgm:pt>
      </mc:Fallback>
    </mc:AlternateContent>
    <dgm:pt modelId="{BB35506D-4D57-4B90-A1E0-A7792E7DD257}" type="parTrans" cxnId="{DA0C23B9-F757-407B-9E83-1017917D1EFB}">
      <dgm:prSet/>
      <dgm:spPr/>
      <dgm:t>
        <a:bodyPr/>
        <a:lstStyle/>
        <a:p>
          <a:pPr algn="ctr"/>
          <a:endParaRPr lang="zh-CN" altLang="en-US"/>
        </a:p>
      </dgm:t>
    </dgm:pt>
    <dgm:pt modelId="{B4A4EC20-AA51-4904-9B83-926894B54333}" type="sibTrans" cxnId="{DA0C23B9-F757-407B-9E83-1017917D1EFB}">
      <dgm:prSet/>
      <dgm:spPr/>
      <dgm:t>
        <a:bodyPr/>
        <a:lstStyle/>
        <a:p>
          <a:pPr algn="ctr"/>
          <a:endParaRPr lang="zh-CN" altLang="en-US"/>
        </a:p>
      </dgm:t>
    </dgm:pt>
    <dgm:pt modelId="{51C7D7CF-BE7E-4377-9F2F-44767D58E201}" type="pres">
      <dgm:prSet presAssocID="{BEC3E2E5-D8FC-4B03-9D66-2E94B11CCC9A}" presName="Name0" presStyleCnt="0">
        <dgm:presLayoutVars>
          <dgm:dir/>
          <dgm:animLvl val="lvl"/>
          <dgm:resizeHandles val="exact"/>
        </dgm:presLayoutVars>
      </dgm:prSet>
      <dgm:spPr/>
      <dgm:t>
        <a:bodyPr/>
        <a:lstStyle/>
        <a:p>
          <a:endParaRPr lang="zh-CN" altLang="en-US"/>
        </a:p>
      </dgm:t>
    </dgm:pt>
    <dgm:pt modelId="{B3733E96-B1B5-4A09-B631-7088D802FD5D}" type="pres">
      <dgm:prSet presAssocID="{94EDB8A8-B6EA-4ABA-9026-BF8DDF8698F6}" presName="linNode" presStyleCnt="0"/>
      <dgm:spPr/>
    </dgm:pt>
    <dgm:pt modelId="{B0E956C1-A10F-4944-B153-18F8AB1EBCF8}" type="pres">
      <dgm:prSet presAssocID="{94EDB8A8-B6EA-4ABA-9026-BF8DDF8698F6}" presName="parentText" presStyleLbl="node1" presStyleIdx="0" presStyleCnt="3" custScaleX="90009" custScaleY="60868" custLinFactNeighborX="-694" custLinFactNeighborY="2634">
        <dgm:presLayoutVars>
          <dgm:chMax val="1"/>
          <dgm:bulletEnabled val="1"/>
        </dgm:presLayoutVars>
      </dgm:prSet>
      <dgm:spPr/>
      <dgm:t>
        <a:bodyPr/>
        <a:lstStyle/>
        <a:p>
          <a:endParaRPr lang="zh-CN" altLang="en-US"/>
        </a:p>
      </dgm:t>
    </dgm:pt>
    <dgm:pt modelId="{58A7A043-B510-4066-A31E-EF39AA9F9C0F}" type="pres">
      <dgm:prSet presAssocID="{94EDB8A8-B6EA-4ABA-9026-BF8DDF8698F6}" presName="descendantText" presStyleLbl="alignAccFollowNode1" presStyleIdx="0" presStyleCnt="3">
        <dgm:presLayoutVars>
          <dgm:bulletEnabled val="1"/>
        </dgm:presLayoutVars>
      </dgm:prSet>
      <dgm:spPr/>
      <dgm:t>
        <a:bodyPr/>
        <a:lstStyle/>
        <a:p>
          <a:endParaRPr lang="zh-CN" altLang="en-US"/>
        </a:p>
      </dgm:t>
    </dgm:pt>
    <dgm:pt modelId="{43C2B8CA-F41D-47CC-8BC3-C7B2F901EC31}" type="pres">
      <dgm:prSet presAssocID="{F3348C6E-ED7A-4FF4-AA46-5A9551792D8B}" presName="sp" presStyleCnt="0"/>
      <dgm:spPr/>
    </dgm:pt>
    <dgm:pt modelId="{646BDB8C-82C8-49C9-9C43-FD3BE3AC0BC2}" type="pres">
      <dgm:prSet presAssocID="{4D55A12E-6B2C-4F5B-AD40-D8574A2F4894}" presName="linNode" presStyleCnt="0"/>
      <dgm:spPr/>
    </dgm:pt>
    <dgm:pt modelId="{956B2847-78C5-4C78-A093-8FF6123C16D5}" type="pres">
      <dgm:prSet presAssocID="{4D55A12E-6B2C-4F5B-AD40-D8574A2F4894}" presName="parentText" presStyleLbl="node1" presStyleIdx="1" presStyleCnt="3" custScaleX="90009" custScaleY="60868" custLinFactNeighborX="-694" custLinFactNeighborY="2634">
        <dgm:presLayoutVars>
          <dgm:chMax val="1"/>
          <dgm:bulletEnabled val="1"/>
        </dgm:presLayoutVars>
      </dgm:prSet>
      <dgm:spPr/>
      <dgm:t>
        <a:bodyPr/>
        <a:lstStyle/>
        <a:p>
          <a:endParaRPr lang="zh-CN" altLang="en-US"/>
        </a:p>
      </dgm:t>
    </dgm:pt>
    <dgm:pt modelId="{B0D942EF-8C05-4117-866D-541DEBF67620}" type="pres">
      <dgm:prSet presAssocID="{4D55A12E-6B2C-4F5B-AD40-D8574A2F4894}" presName="descendantText" presStyleLbl="alignAccFollowNode1" presStyleIdx="1" presStyleCnt="3">
        <dgm:presLayoutVars>
          <dgm:bulletEnabled val="1"/>
        </dgm:presLayoutVars>
      </dgm:prSet>
      <dgm:spPr/>
      <dgm:t>
        <a:bodyPr/>
        <a:lstStyle/>
        <a:p>
          <a:endParaRPr lang="zh-CN" altLang="en-US"/>
        </a:p>
      </dgm:t>
    </dgm:pt>
    <dgm:pt modelId="{132DB8F3-AB1F-4876-BB18-30F389192CA6}" type="pres">
      <dgm:prSet presAssocID="{330D8C7B-C38B-47A5-8EAA-475BCBE0227D}" presName="sp" presStyleCnt="0"/>
      <dgm:spPr/>
    </dgm:pt>
    <dgm:pt modelId="{040B4DA1-21DB-440A-BB9B-9B43C4291029}" type="pres">
      <dgm:prSet presAssocID="{475FCEEB-6213-400A-9700-E6B92373169E}" presName="linNode" presStyleCnt="0"/>
      <dgm:spPr/>
    </dgm:pt>
    <dgm:pt modelId="{601614C2-0474-4E80-849B-A00594A59460}" type="pres">
      <dgm:prSet presAssocID="{475FCEEB-6213-400A-9700-E6B92373169E}" presName="parentText" presStyleLbl="node1" presStyleIdx="2" presStyleCnt="3" custScaleX="90009" custScaleY="60868" custLinFactNeighborX="-694" custLinFactNeighborY="-1206">
        <dgm:presLayoutVars>
          <dgm:chMax val="1"/>
          <dgm:bulletEnabled val="1"/>
        </dgm:presLayoutVars>
      </dgm:prSet>
      <dgm:spPr/>
      <dgm:t>
        <a:bodyPr/>
        <a:lstStyle/>
        <a:p>
          <a:endParaRPr lang="zh-CN" altLang="en-US"/>
        </a:p>
      </dgm:t>
    </dgm:pt>
    <dgm:pt modelId="{F0B3398E-0F80-46CE-90D8-FA183E70254A}" type="pres">
      <dgm:prSet presAssocID="{475FCEEB-6213-400A-9700-E6B92373169E}" presName="descendantText" presStyleLbl="alignAccFollowNode1" presStyleIdx="2" presStyleCnt="3">
        <dgm:presLayoutVars>
          <dgm:bulletEnabled val="1"/>
        </dgm:presLayoutVars>
      </dgm:prSet>
      <dgm:spPr/>
      <dgm:t>
        <a:bodyPr/>
        <a:lstStyle/>
        <a:p>
          <a:endParaRPr lang="zh-CN" altLang="en-US"/>
        </a:p>
      </dgm:t>
    </dgm:pt>
  </dgm:ptLst>
  <dgm:cxnLst>
    <dgm:cxn modelId="{8F405EAD-8559-4DED-9960-03EE39E152F7}" type="presOf" srcId="{B418CFC0-4BA1-46C1-887B-136DCFA799FE}" destId="{B0D942EF-8C05-4117-866D-541DEBF67620}" srcOrd="0" destOrd="1" presId="urn:microsoft.com/office/officeart/2005/8/layout/vList5"/>
    <dgm:cxn modelId="{6CB35796-DCCA-4279-AA5C-9A5CC01D50BD}" srcId="{4D55A12E-6B2C-4F5B-AD40-D8574A2F4894}" destId="{B418CFC0-4BA1-46C1-887B-136DCFA799FE}" srcOrd="1" destOrd="0" parTransId="{474D4B87-881D-4098-894F-A5703E9CC449}" sibTransId="{AD125352-B0AE-4F2C-B516-66D435EF3788}"/>
    <dgm:cxn modelId="{3C306367-F3E9-46B5-92A3-CC78FA68DBC8}" srcId="{94EDB8A8-B6EA-4ABA-9026-BF8DDF8698F6}" destId="{3E462A27-EBDF-446A-91E7-352C3BC3F33A}" srcOrd="0" destOrd="0" parTransId="{339D127F-3DC9-4379-BD5E-7F3285271915}" sibTransId="{1D467DEB-692E-486B-A068-925C947BCA1C}"/>
    <dgm:cxn modelId="{7A5D4C9F-BAF7-4342-8654-43EAC58DE2A0}" type="presOf" srcId="{94EDB8A8-B6EA-4ABA-9026-BF8DDF8698F6}" destId="{B0E956C1-A10F-4944-B153-18F8AB1EBCF8}" srcOrd="0" destOrd="0" presId="urn:microsoft.com/office/officeart/2005/8/layout/vList5"/>
    <dgm:cxn modelId="{90DA4A30-1419-4697-B9ED-88A653874D89}" srcId="{BEC3E2E5-D8FC-4B03-9D66-2E94B11CCC9A}" destId="{475FCEEB-6213-400A-9700-E6B92373169E}" srcOrd="2" destOrd="0" parTransId="{6A4771CA-5931-4130-9313-67C7A77D6176}" sibTransId="{1D6FB823-011D-4EC9-BAA4-D97D95CF061D}"/>
    <dgm:cxn modelId="{834FD129-9248-4476-942F-362E53BC6FB8}" srcId="{475FCEEB-6213-400A-9700-E6B92373169E}" destId="{812F2A70-3674-4915-BECA-78D86E47601D}" srcOrd="0" destOrd="0" parTransId="{22B1A2D4-DEA1-43B5-BD69-5783434B8198}" sibTransId="{700C043D-7EBB-4F73-8AC8-C5092FDA0F05}"/>
    <dgm:cxn modelId="{DA0C23B9-F757-407B-9E83-1017917D1EFB}" srcId="{475FCEEB-6213-400A-9700-E6B92373169E}" destId="{A25811A8-84DC-4347-A157-804337674E75}" srcOrd="1" destOrd="0" parTransId="{BB35506D-4D57-4B90-A1E0-A7792E7DD257}" sibTransId="{B4A4EC20-AA51-4904-9B83-926894B54333}"/>
    <dgm:cxn modelId="{E63E98BC-41F6-44FD-B9E5-E3BEAED3D304}" type="presOf" srcId="{812F2A70-3674-4915-BECA-78D86E47601D}" destId="{F0B3398E-0F80-46CE-90D8-FA183E70254A}" srcOrd="0" destOrd="0" presId="urn:microsoft.com/office/officeart/2005/8/layout/vList5"/>
    <dgm:cxn modelId="{C21A924C-364D-4899-A60B-39E56B1E2C0D}" type="presOf" srcId="{3E462A27-EBDF-446A-91E7-352C3BC3F33A}" destId="{58A7A043-B510-4066-A31E-EF39AA9F9C0F}" srcOrd="0" destOrd="0" presId="urn:microsoft.com/office/officeart/2005/8/layout/vList5"/>
    <dgm:cxn modelId="{2BF48651-3C04-4228-89F5-D7A23B846A13}" type="presOf" srcId="{475FCEEB-6213-400A-9700-E6B92373169E}" destId="{601614C2-0474-4E80-849B-A00594A59460}" srcOrd="0" destOrd="0" presId="urn:microsoft.com/office/officeart/2005/8/layout/vList5"/>
    <dgm:cxn modelId="{82252D90-FA00-48D8-9F90-90FA239DCEA3}" srcId="{BEC3E2E5-D8FC-4B03-9D66-2E94B11CCC9A}" destId="{94EDB8A8-B6EA-4ABA-9026-BF8DDF8698F6}" srcOrd="0" destOrd="0" parTransId="{262CCFD1-818F-46D1-A364-085D74E2BDB8}" sibTransId="{F3348C6E-ED7A-4FF4-AA46-5A9551792D8B}"/>
    <dgm:cxn modelId="{30F1BD7B-AFC2-4EF1-A2F4-ED565E3F2265}" type="presOf" srcId="{4D55A12E-6B2C-4F5B-AD40-D8574A2F4894}" destId="{956B2847-78C5-4C78-A093-8FF6123C16D5}" srcOrd="0" destOrd="0" presId="urn:microsoft.com/office/officeart/2005/8/layout/vList5"/>
    <dgm:cxn modelId="{EBDE22B5-239B-46BC-B6F1-141085C5E728}" type="presOf" srcId="{BEC3E2E5-D8FC-4B03-9D66-2E94B11CCC9A}" destId="{51C7D7CF-BE7E-4377-9F2F-44767D58E201}" srcOrd="0" destOrd="0" presId="urn:microsoft.com/office/officeart/2005/8/layout/vList5"/>
    <dgm:cxn modelId="{C052D5C5-48D2-4AF4-B688-E2ABFF79A52D}" srcId="{4D55A12E-6B2C-4F5B-AD40-D8574A2F4894}" destId="{AB784ED1-41B2-4869-A8E7-0DC45A22A03B}" srcOrd="0" destOrd="0" parTransId="{2C04C5C3-3178-4C29-BB28-6F32D661FC00}" sibTransId="{A06D9469-693A-4C23-881E-7D771A0E15EE}"/>
    <dgm:cxn modelId="{177A2207-C33B-4A7C-8ABF-D44E0635BA2B}" type="presOf" srcId="{A25811A8-84DC-4347-A157-804337674E75}" destId="{F0B3398E-0F80-46CE-90D8-FA183E70254A}" srcOrd="0" destOrd="1" presId="urn:microsoft.com/office/officeart/2005/8/layout/vList5"/>
    <dgm:cxn modelId="{4958FD79-056F-41B5-8D36-9E49E3CF741C}" srcId="{BEC3E2E5-D8FC-4B03-9D66-2E94B11CCC9A}" destId="{4D55A12E-6B2C-4F5B-AD40-D8574A2F4894}" srcOrd="1" destOrd="0" parTransId="{F2A34083-0832-4BCE-BBAD-74892E40F364}" sibTransId="{330D8C7B-C38B-47A5-8EAA-475BCBE0227D}"/>
    <dgm:cxn modelId="{54C265AC-8DE8-41D9-BF87-453F072EAAB9}" type="presOf" srcId="{AB784ED1-41B2-4869-A8E7-0DC45A22A03B}" destId="{B0D942EF-8C05-4117-866D-541DEBF67620}" srcOrd="0" destOrd="0" presId="urn:microsoft.com/office/officeart/2005/8/layout/vList5"/>
    <dgm:cxn modelId="{BB3AB279-DBAE-4047-A3B4-74AB5C988601}" type="presParOf" srcId="{51C7D7CF-BE7E-4377-9F2F-44767D58E201}" destId="{B3733E96-B1B5-4A09-B631-7088D802FD5D}" srcOrd="0" destOrd="0" presId="urn:microsoft.com/office/officeart/2005/8/layout/vList5"/>
    <dgm:cxn modelId="{A08486C2-37D4-4AC5-9C0B-CB074FD57B45}" type="presParOf" srcId="{B3733E96-B1B5-4A09-B631-7088D802FD5D}" destId="{B0E956C1-A10F-4944-B153-18F8AB1EBCF8}" srcOrd="0" destOrd="0" presId="urn:microsoft.com/office/officeart/2005/8/layout/vList5"/>
    <dgm:cxn modelId="{B225FA05-4E8F-4AE8-B4D7-C1F90A7BDCFF}" type="presParOf" srcId="{B3733E96-B1B5-4A09-B631-7088D802FD5D}" destId="{58A7A043-B510-4066-A31E-EF39AA9F9C0F}" srcOrd="1" destOrd="0" presId="urn:microsoft.com/office/officeart/2005/8/layout/vList5"/>
    <dgm:cxn modelId="{F1798053-3661-4827-9D52-8EB44AE5C33B}" type="presParOf" srcId="{51C7D7CF-BE7E-4377-9F2F-44767D58E201}" destId="{43C2B8CA-F41D-47CC-8BC3-C7B2F901EC31}" srcOrd="1" destOrd="0" presId="urn:microsoft.com/office/officeart/2005/8/layout/vList5"/>
    <dgm:cxn modelId="{1EA3F7E3-EB72-4476-8854-4205E2A47AFE}" type="presParOf" srcId="{51C7D7CF-BE7E-4377-9F2F-44767D58E201}" destId="{646BDB8C-82C8-49C9-9C43-FD3BE3AC0BC2}" srcOrd="2" destOrd="0" presId="urn:microsoft.com/office/officeart/2005/8/layout/vList5"/>
    <dgm:cxn modelId="{C3DB985A-DB71-4E76-8891-9DB6EB205221}" type="presParOf" srcId="{646BDB8C-82C8-49C9-9C43-FD3BE3AC0BC2}" destId="{956B2847-78C5-4C78-A093-8FF6123C16D5}" srcOrd="0" destOrd="0" presId="urn:microsoft.com/office/officeart/2005/8/layout/vList5"/>
    <dgm:cxn modelId="{C9EA965B-C86E-4F23-99DB-30E51338651C}" type="presParOf" srcId="{646BDB8C-82C8-49C9-9C43-FD3BE3AC0BC2}" destId="{B0D942EF-8C05-4117-866D-541DEBF67620}" srcOrd="1" destOrd="0" presId="urn:microsoft.com/office/officeart/2005/8/layout/vList5"/>
    <dgm:cxn modelId="{FDAC264F-CBBA-4A33-A8D9-DE989D613E76}" type="presParOf" srcId="{51C7D7CF-BE7E-4377-9F2F-44767D58E201}" destId="{132DB8F3-AB1F-4876-BB18-30F389192CA6}" srcOrd="3" destOrd="0" presId="urn:microsoft.com/office/officeart/2005/8/layout/vList5"/>
    <dgm:cxn modelId="{CABE376C-CB50-4D08-9975-D6F997F629B0}" type="presParOf" srcId="{51C7D7CF-BE7E-4377-9F2F-44767D58E201}" destId="{040B4DA1-21DB-440A-BB9B-9B43C4291029}" srcOrd="4" destOrd="0" presId="urn:microsoft.com/office/officeart/2005/8/layout/vList5"/>
    <dgm:cxn modelId="{11D39E8A-F72D-467A-922B-B458B7F707C9}" type="presParOf" srcId="{040B4DA1-21DB-440A-BB9B-9B43C4291029}" destId="{601614C2-0474-4E80-849B-A00594A59460}" srcOrd="0" destOrd="0" presId="urn:microsoft.com/office/officeart/2005/8/layout/vList5"/>
    <dgm:cxn modelId="{A86464FC-5093-442B-93A5-3F3108FCF663}" type="presParOf" srcId="{040B4DA1-21DB-440A-BB9B-9B43C4291029}" destId="{F0B3398E-0F80-46CE-90D8-FA183E70254A}" srcOrd="1" destOrd="0" presId="urn:microsoft.com/office/officeart/2005/8/layout/vList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EC3E2E5-D8FC-4B03-9D66-2E94B11CCC9A}" type="doc">
      <dgm:prSet loTypeId="urn:microsoft.com/office/officeart/2005/8/layout/vList5" loCatId="list" qsTypeId="urn:microsoft.com/office/officeart/2005/8/quickstyle/3d1" qsCatId="3D" csTypeId="urn:microsoft.com/office/officeart/2005/8/colors/accent2_2" csCatId="accent2" phldr="1"/>
      <dgm:spPr/>
      <dgm:t>
        <a:bodyPr/>
        <a:lstStyle/>
        <a:p>
          <a:endParaRPr lang="zh-CN" altLang="en-US"/>
        </a:p>
      </dgm:t>
    </dgm:pt>
    <dgm:pt modelId="{94EDB8A8-B6EA-4ABA-9026-BF8DDF8698F6}">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zh-CN" altLang="en-US" sz="2800" b="1" dirty="0" smtClean="0">
              <a:solidFill>
                <a:schemeClr val="tx1"/>
              </a:solidFill>
              <a:latin typeface="微软雅黑" pitchFamily="34" charset="-122"/>
              <a:ea typeface="微软雅黑" pitchFamily="34" charset="-122"/>
            </a:rPr>
            <a:t>临塑压力法</a:t>
          </a:r>
          <a:endParaRPr lang="zh-CN" altLang="en-US" sz="2800" b="1" dirty="0">
            <a:solidFill>
              <a:schemeClr val="tx1"/>
            </a:solidFill>
            <a:latin typeface="微软雅黑" pitchFamily="34" charset="-122"/>
            <a:ea typeface="微软雅黑" pitchFamily="34" charset="-122"/>
          </a:endParaRPr>
        </a:p>
      </dgm:t>
    </dgm:pt>
    <dgm:pt modelId="{262CCFD1-818F-46D1-A364-085D74E2BDB8}" type="parTrans" cxnId="{82252D90-FA00-48D8-9F90-90FA239DCEA3}">
      <dgm:prSet/>
      <dgm:spPr/>
      <dgm:t>
        <a:bodyPr/>
        <a:lstStyle/>
        <a:p>
          <a:pPr algn="ctr"/>
          <a:endParaRPr lang="zh-CN" altLang="en-US"/>
        </a:p>
      </dgm:t>
    </dgm:pt>
    <dgm:pt modelId="{F3348C6E-ED7A-4FF4-AA46-5A9551792D8B}" type="sibTrans" cxnId="{82252D90-FA00-48D8-9F90-90FA239DCEA3}">
      <dgm:prSet/>
      <dgm:spPr/>
      <dgm:t>
        <a:bodyPr/>
        <a:lstStyle/>
        <a:p>
          <a:pPr algn="ctr"/>
          <a:endParaRPr lang="zh-CN" altLang="en-US"/>
        </a:p>
      </dgm:t>
    </dgm:pt>
    <dgm:pt modelId="{4D55A12E-6B2C-4F5B-AD40-D8574A2F4894}">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zh-CN" altLang="en-US" sz="2800" b="1" dirty="0" smtClean="0">
              <a:solidFill>
                <a:schemeClr val="tx1"/>
              </a:solidFill>
              <a:latin typeface="微软雅黑" pitchFamily="34" charset="-122"/>
              <a:ea typeface="微软雅黑" pitchFamily="34" charset="-122"/>
            </a:rPr>
            <a:t>极限压力法</a:t>
          </a:r>
          <a:endParaRPr lang="zh-CN" altLang="en-US" sz="2800" b="1" dirty="0">
            <a:latin typeface="微软雅黑" pitchFamily="34" charset="-122"/>
            <a:ea typeface="微软雅黑" pitchFamily="34" charset="-122"/>
          </a:endParaRPr>
        </a:p>
      </dgm:t>
    </dgm:pt>
    <dgm:pt modelId="{F2A34083-0832-4BCE-BBAD-74892E40F364}" type="parTrans" cxnId="{4958FD79-056F-41B5-8D36-9E49E3CF741C}">
      <dgm:prSet/>
      <dgm:spPr/>
      <dgm:t>
        <a:bodyPr/>
        <a:lstStyle/>
        <a:p>
          <a:pPr algn="ctr"/>
          <a:endParaRPr lang="zh-CN" altLang="en-US"/>
        </a:p>
      </dgm:t>
    </dgm:pt>
    <dgm:pt modelId="{330D8C7B-C38B-47A5-8EAA-475BCBE0227D}" type="sibTrans" cxnId="{4958FD79-056F-41B5-8D36-9E49E3CF741C}">
      <dgm:prSet/>
      <dgm:spPr/>
      <dgm:t>
        <a:bodyPr/>
        <a:lstStyle/>
        <a:p>
          <a:pPr algn="ctr"/>
          <a:endParaRPr lang="zh-CN" altLang="en-US"/>
        </a:p>
      </dgm:t>
    </dgm:pt>
    <dgm:pt modelId="{AB784ED1-41B2-4869-A8E7-0DC45A22A03B}">
      <dgm:prSet phldrT="[文本]"/>
      <dgm:spPr>
        <a:blipFill rotWithShape="1">
          <a:blip xmlns:r="http://schemas.openxmlformats.org/officeDocument/2006/relationships" r:embed="rId1"/>
          <a:stretch>
            <a:fillRect/>
          </a:stretch>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a:noFill/>
            </a:rPr>
            <a:t> </a:t>
          </a:r>
        </a:p>
      </dgm:t>
    </dgm:pt>
    <dgm:pt modelId="{2C04C5C3-3178-4C29-BB28-6F32D661FC00}" type="parTrans" cxnId="{C052D5C5-48D2-4AF4-B688-E2ABFF79A52D}">
      <dgm:prSet/>
      <dgm:spPr/>
      <dgm:t>
        <a:bodyPr/>
        <a:lstStyle/>
        <a:p>
          <a:pPr algn="ctr"/>
          <a:endParaRPr lang="zh-CN" altLang="en-US"/>
        </a:p>
      </dgm:t>
    </dgm:pt>
    <dgm:pt modelId="{A06D9469-693A-4C23-881E-7D771A0E15EE}" type="sibTrans" cxnId="{C052D5C5-48D2-4AF4-B688-E2ABFF79A52D}">
      <dgm:prSet/>
      <dgm:spPr/>
      <dgm:t>
        <a:bodyPr/>
        <a:lstStyle/>
        <a:p>
          <a:pPr algn="ctr"/>
          <a:endParaRPr lang="zh-CN" altLang="en-US"/>
        </a:p>
      </dgm:t>
    </dgm:pt>
    <dgm:pt modelId="{475FCEEB-6213-400A-9700-E6B92373169E}">
      <dgm:prSet phldrT="[文本]" custT="1"/>
      <dgm:spPr>
        <a:solidFill>
          <a:srgbClr val="FFFF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pPr algn="ctr"/>
          <a:r>
            <a:rPr lang="zh-CN" altLang="en-US" sz="2000" b="1" dirty="0" smtClean="0">
              <a:solidFill>
                <a:schemeClr val="tx1"/>
              </a:solidFill>
              <a:latin typeface="微软雅黑" pitchFamily="34" charset="-122"/>
              <a:ea typeface="微软雅黑" pitchFamily="34" charset="-122"/>
            </a:rPr>
            <a:t>修正临塑压力法</a:t>
          </a:r>
          <a:endParaRPr lang="zh-CN" altLang="en-US" sz="2000" b="1" dirty="0">
            <a:solidFill>
              <a:schemeClr val="tx1"/>
            </a:solidFill>
            <a:latin typeface="微软雅黑" pitchFamily="34" charset="-122"/>
            <a:ea typeface="微软雅黑" pitchFamily="34" charset="-122"/>
          </a:endParaRPr>
        </a:p>
      </dgm:t>
    </dgm:pt>
    <dgm:pt modelId="{6A4771CA-5931-4130-9313-67C7A77D6176}" type="parTrans" cxnId="{90DA4A30-1419-4697-B9ED-88A653874D89}">
      <dgm:prSet/>
      <dgm:spPr/>
      <dgm:t>
        <a:bodyPr/>
        <a:lstStyle/>
        <a:p>
          <a:pPr algn="ctr"/>
          <a:endParaRPr lang="zh-CN" altLang="en-US"/>
        </a:p>
      </dgm:t>
    </dgm:pt>
    <dgm:pt modelId="{1D6FB823-011D-4EC9-BAA4-D97D95CF061D}" type="sibTrans" cxnId="{90DA4A30-1419-4697-B9ED-88A653874D89}">
      <dgm:prSet/>
      <dgm:spPr/>
      <dgm:t>
        <a:bodyPr/>
        <a:lstStyle/>
        <a:p>
          <a:pPr algn="ctr"/>
          <a:endParaRPr lang="zh-CN" altLang="en-US"/>
        </a:p>
      </dgm:t>
    </dgm:pt>
    <dgm:pt modelId="{812F2A70-3674-4915-BECA-78D86E47601D}">
      <dgm:prSet phldrT="[文本]"/>
      <dgm:spPr>
        <a:blipFill rotWithShape="1">
          <a:blip xmlns:r="http://schemas.openxmlformats.org/officeDocument/2006/relationships" r:embed="rId2"/>
          <a:stretch>
            <a:fillRect/>
          </a:stretch>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a:noFill/>
            </a:rPr>
            <a:t> </a:t>
          </a:r>
        </a:p>
      </dgm:t>
    </dgm:pt>
    <dgm:pt modelId="{22B1A2D4-DEA1-43B5-BD69-5783434B8198}" type="parTrans" cxnId="{834FD129-9248-4476-942F-362E53BC6FB8}">
      <dgm:prSet/>
      <dgm:spPr/>
      <dgm:t>
        <a:bodyPr/>
        <a:lstStyle/>
        <a:p>
          <a:pPr algn="ctr"/>
          <a:endParaRPr lang="zh-CN" altLang="en-US"/>
        </a:p>
      </dgm:t>
    </dgm:pt>
    <dgm:pt modelId="{700C043D-7EBB-4F73-8AC8-C5092FDA0F05}" type="sibTrans" cxnId="{834FD129-9248-4476-942F-362E53BC6FB8}">
      <dgm:prSet/>
      <dgm:spPr/>
      <dgm:t>
        <a:bodyPr/>
        <a:lstStyle/>
        <a:p>
          <a:pPr algn="ctr"/>
          <a:endParaRPr lang="zh-CN" altLang="en-US"/>
        </a:p>
      </dgm:t>
    </dgm:pt>
    <dgm:pt modelId="{3E462A27-EBDF-446A-91E7-352C3BC3F33A}">
      <dgm:prSet phldrT="[文本]" custT="1"/>
      <dgm:spPr>
        <a:blipFill rotWithShape="1">
          <a:blip xmlns:r="http://schemas.openxmlformats.org/officeDocument/2006/relationships" r:embed="rId3"/>
          <a:stretch>
            <a:fillRect/>
          </a:stretch>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a:noFill/>
            </a:rPr>
            <a:t> </a:t>
          </a:r>
        </a:p>
      </dgm:t>
    </dgm:pt>
    <dgm:pt modelId="{1D467DEB-692E-486B-A068-925C947BCA1C}" type="sibTrans" cxnId="{3C306367-F3E9-46B5-92A3-CC78FA68DBC8}">
      <dgm:prSet/>
      <dgm:spPr/>
      <dgm:t>
        <a:bodyPr/>
        <a:lstStyle/>
        <a:p>
          <a:pPr algn="ctr"/>
          <a:endParaRPr lang="zh-CN" altLang="en-US"/>
        </a:p>
      </dgm:t>
    </dgm:pt>
    <dgm:pt modelId="{339D127F-3DC9-4379-BD5E-7F3285271915}" type="parTrans" cxnId="{3C306367-F3E9-46B5-92A3-CC78FA68DBC8}">
      <dgm:prSet/>
      <dgm:spPr/>
      <dgm:t>
        <a:bodyPr/>
        <a:lstStyle/>
        <a:p>
          <a:pPr algn="ctr"/>
          <a:endParaRPr lang="zh-CN" altLang="en-US"/>
        </a:p>
      </dgm:t>
    </dgm:pt>
    <dgm:pt modelId="{B418CFC0-4BA1-46C1-887B-136DCFA799FE}">
      <dgm:prSet phldrT="[文本]"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a:noFill/>
            </a:rPr>
            <a:t> </a:t>
          </a:r>
        </a:p>
      </dgm:t>
    </dgm:pt>
    <dgm:pt modelId="{474D4B87-881D-4098-894F-A5703E9CC449}" type="parTrans" cxnId="{6CB35796-DCCA-4279-AA5C-9A5CC01D50BD}">
      <dgm:prSet/>
      <dgm:spPr/>
      <dgm:t>
        <a:bodyPr/>
        <a:lstStyle/>
        <a:p>
          <a:pPr algn="ctr"/>
          <a:endParaRPr lang="zh-CN" altLang="en-US"/>
        </a:p>
      </dgm:t>
    </dgm:pt>
    <dgm:pt modelId="{AD125352-B0AE-4F2C-B516-66D435EF3788}" type="sibTrans" cxnId="{6CB35796-DCCA-4279-AA5C-9A5CC01D50BD}">
      <dgm:prSet/>
      <dgm:spPr/>
      <dgm:t>
        <a:bodyPr/>
        <a:lstStyle/>
        <a:p>
          <a:pPr algn="ctr"/>
          <a:endParaRPr lang="zh-CN" altLang="en-US"/>
        </a:p>
      </dgm:t>
    </dgm:pt>
    <dgm:pt modelId="{A25811A8-84DC-4347-A157-804337674E75}">
      <dgm:prSet phldrT="[文本]" custT="1"/>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zh-CN" altLang="en-US">
              <a:noFill/>
            </a:rPr>
            <a:t> </a:t>
          </a:r>
        </a:p>
      </dgm:t>
    </dgm:pt>
    <dgm:pt modelId="{BB35506D-4D57-4B90-A1E0-A7792E7DD257}" type="parTrans" cxnId="{DA0C23B9-F757-407B-9E83-1017917D1EFB}">
      <dgm:prSet/>
      <dgm:spPr/>
      <dgm:t>
        <a:bodyPr/>
        <a:lstStyle/>
        <a:p>
          <a:pPr algn="ctr"/>
          <a:endParaRPr lang="zh-CN" altLang="en-US"/>
        </a:p>
      </dgm:t>
    </dgm:pt>
    <dgm:pt modelId="{B4A4EC20-AA51-4904-9B83-926894B54333}" type="sibTrans" cxnId="{DA0C23B9-F757-407B-9E83-1017917D1EFB}">
      <dgm:prSet/>
      <dgm:spPr/>
      <dgm:t>
        <a:bodyPr/>
        <a:lstStyle/>
        <a:p>
          <a:pPr algn="ctr"/>
          <a:endParaRPr lang="zh-CN" altLang="en-US"/>
        </a:p>
      </dgm:t>
    </dgm:pt>
    <dgm:pt modelId="{51C7D7CF-BE7E-4377-9F2F-44767D58E201}" type="pres">
      <dgm:prSet presAssocID="{BEC3E2E5-D8FC-4B03-9D66-2E94B11CCC9A}" presName="Name0" presStyleCnt="0">
        <dgm:presLayoutVars>
          <dgm:dir/>
          <dgm:animLvl val="lvl"/>
          <dgm:resizeHandles val="exact"/>
        </dgm:presLayoutVars>
      </dgm:prSet>
      <dgm:spPr/>
      <dgm:t>
        <a:bodyPr/>
        <a:lstStyle/>
        <a:p>
          <a:endParaRPr lang="zh-CN" altLang="en-US"/>
        </a:p>
      </dgm:t>
    </dgm:pt>
    <dgm:pt modelId="{B3733E96-B1B5-4A09-B631-7088D802FD5D}" type="pres">
      <dgm:prSet presAssocID="{94EDB8A8-B6EA-4ABA-9026-BF8DDF8698F6}" presName="linNode" presStyleCnt="0"/>
      <dgm:spPr/>
    </dgm:pt>
    <dgm:pt modelId="{B0E956C1-A10F-4944-B153-18F8AB1EBCF8}" type="pres">
      <dgm:prSet presAssocID="{94EDB8A8-B6EA-4ABA-9026-BF8DDF8698F6}" presName="parentText" presStyleLbl="node1" presStyleIdx="0" presStyleCnt="3" custScaleX="90009" custScaleY="60868" custLinFactNeighborX="-694" custLinFactNeighborY="2634">
        <dgm:presLayoutVars>
          <dgm:chMax val="1"/>
          <dgm:bulletEnabled val="1"/>
        </dgm:presLayoutVars>
      </dgm:prSet>
      <dgm:spPr/>
      <dgm:t>
        <a:bodyPr/>
        <a:lstStyle/>
        <a:p>
          <a:endParaRPr lang="zh-CN" altLang="en-US"/>
        </a:p>
      </dgm:t>
    </dgm:pt>
    <dgm:pt modelId="{58A7A043-B510-4066-A31E-EF39AA9F9C0F}" type="pres">
      <dgm:prSet presAssocID="{94EDB8A8-B6EA-4ABA-9026-BF8DDF8698F6}" presName="descendantText" presStyleLbl="alignAccFollowNode1" presStyleIdx="0" presStyleCnt="3">
        <dgm:presLayoutVars>
          <dgm:bulletEnabled val="1"/>
        </dgm:presLayoutVars>
      </dgm:prSet>
      <dgm:spPr/>
      <dgm:t>
        <a:bodyPr/>
        <a:lstStyle/>
        <a:p>
          <a:endParaRPr lang="zh-CN" altLang="en-US"/>
        </a:p>
      </dgm:t>
    </dgm:pt>
    <dgm:pt modelId="{43C2B8CA-F41D-47CC-8BC3-C7B2F901EC31}" type="pres">
      <dgm:prSet presAssocID="{F3348C6E-ED7A-4FF4-AA46-5A9551792D8B}" presName="sp" presStyleCnt="0"/>
      <dgm:spPr/>
    </dgm:pt>
    <dgm:pt modelId="{646BDB8C-82C8-49C9-9C43-FD3BE3AC0BC2}" type="pres">
      <dgm:prSet presAssocID="{4D55A12E-6B2C-4F5B-AD40-D8574A2F4894}" presName="linNode" presStyleCnt="0"/>
      <dgm:spPr/>
    </dgm:pt>
    <dgm:pt modelId="{956B2847-78C5-4C78-A093-8FF6123C16D5}" type="pres">
      <dgm:prSet presAssocID="{4D55A12E-6B2C-4F5B-AD40-D8574A2F4894}" presName="parentText" presStyleLbl="node1" presStyleIdx="1" presStyleCnt="3" custScaleX="90009" custScaleY="60868" custLinFactNeighborX="-694" custLinFactNeighborY="2634">
        <dgm:presLayoutVars>
          <dgm:chMax val="1"/>
          <dgm:bulletEnabled val="1"/>
        </dgm:presLayoutVars>
      </dgm:prSet>
      <dgm:spPr/>
      <dgm:t>
        <a:bodyPr/>
        <a:lstStyle/>
        <a:p>
          <a:endParaRPr lang="zh-CN" altLang="en-US"/>
        </a:p>
      </dgm:t>
    </dgm:pt>
    <dgm:pt modelId="{B0D942EF-8C05-4117-866D-541DEBF67620}" type="pres">
      <dgm:prSet presAssocID="{4D55A12E-6B2C-4F5B-AD40-D8574A2F4894}" presName="descendantText" presStyleLbl="alignAccFollowNode1" presStyleIdx="1" presStyleCnt="3">
        <dgm:presLayoutVars>
          <dgm:bulletEnabled val="1"/>
        </dgm:presLayoutVars>
      </dgm:prSet>
      <dgm:spPr/>
      <dgm:t>
        <a:bodyPr/>
        <a:lstStyle/>
        <a:p>
          <a:endParaRPr lang="zh-CN" altLang="en-US"/>
        </a:p>
      </dgm:t>
    </dgm:pt>
    <dgm:pt modelId="{132DB8F3-AB1F-4876-BB18-30F389192CA6}" type="pres">
      <dgm:prSet presAssocID="{330D8C7B-C38B-47A5-8EAA-475BCBE0227D}" presName="sp" presStyleCnt="0"/>
      <dgm:spPr/>
    </dgm:pt>
    <dgm:pt modelId="{040B4DA1-21DB-440A-BB9B-9B43C4291029}" type="pres">
      <dgm:prSet presAssocID="{475FCEEB-6213-400A-9700-E6B92373169E}" presName="linNode" presStyleCnt="0"/>
      <dgm:spPr/>
    </dgm:pt>
    <dgm:pt modelId="{601614C2-0474-4E80-849B-A00594A59460}" type="pres">
      <dgm:prSet presAssocID="{475FCEEB-6213-400A-9700-E6B92373169E}" presName="parentText" presStyleLbl="node1" presStyleIdx="2" presStyleCnt="3" custScaleX="90009" custScaleY="60868" custLinFactNeighborX="-694" custLinFactNeighborY="-1206">
        <dgm:presLayoutVars>
          <dgm:chMax val="1"/>
          <dgm:bulletEnabled val="1"/>
        </dgm:presLayoutVars>
      </dgm:prSet>
      <dgm:spPr/>
      <dgm:t>
        <a:bodyPr/>
        <a:lstStyle/>
        <a:p>
          <a:endParaRPr lang="zh-CN" altLang="en-US"/>
        </a:p>
      </dgm:t>
    </dgm:pt>
    <dgm:pt modelId="{F0B3398E-0F80-46CE-90D8-FA183E70254A}" type="pres">
      <dgm:prSet presAssocID="{475FCEEB-6213-400A-9700-E6B92373169E}" presName="descendantText" presStyleLbl="alignAccFollowNode1" presStyleIdx="2" presStyleCnt="3">
        <dgm:presLayoutVars>
          <dgm:bulletEnabled val="1"/>
        </dgm:presLayoutVars>
      </dgm:prSet>
      <dgm:spPr/>
      <dgm:t>
        <a:bodyPr/>
        <a:lstStyle/>
        <a:p>
          <a:endParaRPr lang="zh-CN" altLang="en-US"/>
        </a:p>
      </dgm:t>
    </dgm:pt>
  </dgm:ptLst>
  <dgm:cxnLst>
    <dgm:cxn modelId="{8F405EAD-8559-4DED-9960-03EE39E152F7}" type="presOf" srcId="{B418CFC0-4BA1-46C1-887B-136DCFA799FE}" destId="{B0D942EF-8C05-4117-866D-541DEBF67620}" srcOrd="0" destOrd="1" presId="urn:microsoft.com/office/officeart/2005/8/layout/vList5"/>
    <dgm:cxn modelId="{6CB35796-DCCA-4279-AA5C-9A5CC01D50BD}" srcId="{4D55A12E-6B2C-4F5B-AD40-D8574A2F4894}" destId="{B418CFC0-4BA1-46C1-887B-136DCFA799FE}" srcOrd="1" destOrd="0" parTransId="{474D4B87-881D-4098-894F-A5703E9CC449}" sibTransId="{AD125352-B0AE-4F2C-B516-66D435EF3788}"/>
    <dgm:cxn modelId="{3C306367-F3E9-46B5-92A3-CC78FA68DBC8}" srcId="{94EDB8A8-B6EA-4ABA-9026-BF8DDF8698F6}" destId="{3E462A27-EBDF-446A-91E7-352C3BC3F33A}" srcOrd="0" destOrd="0" parTransId="{339D127F-3DC9-4379-BD5E-7F3285271915}" sibTransId="{1D467DEB-692E-486B-A068-925C947BCA1C}"/>
    <dgm:cxn modelId="{7A5D4C9F-BAF7-4342-8654-43EAC58DE2A0}" type="presOf" srcId="{94EDB8A8-B6EA-4ABA-9026-BF8DDF8698F6}" destId="{B0E956C1-A10F-4944-B153-18F8AB1EBCF8}" srcOrd="0" destOrd="0" presId="urn:microsoft.com/office/officeart/2005/8/layout/vList5"/>
    <dgm:cxn modelId="{90DA4A30-1419-4697-B9ED-88A653874D89}" srcId="{BEC3E2E5-D8FC-4B03-9D66-2E94B11CCC9A}" destId="{475FCEEB-6213-400A-9700-E6B92373169E}" srcOrd="2" destOrd="0" parTransId="{6A4771CA-5931-4130-9313-67C7A77D6176}" sibTransId="{1D6FB823-011D-4EC9-BAA4-D97D95CF061D}"/>
    <dgm:cxn modelId="{834FD129-9248-4476-942F-362E53BC6FB8}" srcId="{475FCEEB-6213-400A-9700-E6B92373169E}" destId="{812F2A70-3674-4915-BECA-78D86E47601D}" srcOrd="0" destOrd="0" parTransId="{22B1A2D4-DEA1-43B5-BD69-5783434B8198}" sibTransId="{700C043D-7EBB-4F73-8AC8-C5092FDA0F05}"/>
    <dgm:cxn modelId="{DA0C23B9-F757-407B-9E83-1017917D1EFB}" srcId="{475FCEEB-6213-400A-9700-E6B92373169E}" destId="{A25811A8-84DC-4347-A157-804337674E75}" srcOrd="1" destOrd="0" parTransId="{BB35506D-4D57-4B90-A1E0-A7792E7DD257}" sibTransId="{B4A4EC20-AA51-4904-9B83-926894B54333}"/>
    <dgm:cxn modelId="{E63E98BC-41F6-44FD-B9E5-E3BEAED3D304}" type="presOf" srcId="{812F2A70-3674-4915-BECA-78D86E47601D}" destId="{F0B3398E-0F80-46CE-90D8-FA183E70254A}" srcOrd="0" destOrd="0" presId="urn:microsoft.com/office/officeart/2005/8/layout/vList5"/>
    <dgm:cxn modelId="{C21A924C-364D-4899-A60B-39E56B1E2C0D}" type="presOf" srcId="{3E462A27-EBDF-446A-91E7-352C3BC3F33A}" destId="{58A7A043-B510-4066-A31E-EF39AA9F9C0F}" srcOrd="0" destOrd="0" presId="urn:microsoft.com/office/officeart/2005/8/layout/vList5"/>
    <dgm:cxn modelId="{2BF48651-3C04-4228-89F5-D7A23B846A13}" type="presOf" srcId="{475FCEEB-6213-400A-9700-E6B92373169E}" destId="{601614C2-0474-4E80-849B-A00594A59460}" srcOrd="0" destOrd="0" presId="urn:microsoft.com/office/officeart/2005/8/layout/vList5"/>
    <dgm:cxn modelId="{82252D90-FA00-48D8-9F90-90FA239DCEA3}" srcId="{BEC3E2E5-D8FC-4B03-9D66-2E94B11CCC9A}" destId="{94EDB8A8-B6EA-4ABA-9026-BF8DDF8698F6}" srcOrd="0" destOrd="0" parTransId="{262CCFD1-818F-46D1-A364-085D74E2BDB8}" sibTransId="{F3348C6E-ED7A-4FF4-AA46-5A9551792D8B}"/>
    <dgm:cxn modelId="{30F1BD7B-AFC2-4EF1-A2F4-ED565E3F2265}" type="presOf" srcId="{4D55A12E-6B2C-4F5B-AD40-D8574A2F4894}" destId="{956B2847-78C5-4C78-A093-8FF6123C16D5}" srcOrd="0" destOrd="0" presId="urn:microsoft.com/office/officeart/2005/8/layout/vList5"/>
    <dgm:cxn modelId="{EBDE22B5-239B-46BC-B6F1-141085C5E728}" type="presOf" srcId="{BEC3E2E5-D8FC-4B03-9D66-2E94B11CCC9A}" destId="{51C7D7CF-BE7E-4377-9F2F-44767D58E201}" srcOrd="0" destOrd="0" presId="urn:microsoft.com/office/officeart/2005/8/layout/vList5"/>
    <dgm:cxn modelId="{C052D5C5-48D2-4AF4-B688-E2ABFF79A52D}" srcId="{4D55A12E-6B2C-4F5B-AD40-D8574A2F4894}" destId="{AB784ED1-41B2-4869-A8E7-0DC45A22A03B}" srcOrd="0" destOrd="0" parTransId="{2C04C5C3-3178-4C29-BB28-6F32D661FC00}" sibTransId="{A06D9469-693A-4C23-881E-7D771A0E15EE}"/>
    <dgm:cxn modelId="{177A2207-C33B-4A7C-8ABF-D44E0635BA2B}" type="presOf" srcId="{A25811A8-84DC-4347-A157-804337674E75}" destId="{F0B3398E-0F80-46CE-90D8-FA183E70254A}" srcOrd="0" destOrd="1" presId="urn:microsoft.com/office/officeart/2005/8/layout/vList5"/>
    <dgm:cxn modelId="{4958FD79-056F-41B5-8D36-9E49E3CF741C}" srcId="{BEC3E2E5-D8FC-4B03-9D66-2E94B11CCC9A}" destId="{4D55A12E-6B2C-4F5B-AD40-D8574A2F4894}" srcOrd="1" destOrd="0" parTransId="{F2A34083-0832-4BCE-BBAD-74892E40F364}" sibTransId="{330D8C7B-C38B-47A5-8EAA-475BCBE0227D}"/>
    <dgm:cxn modelId="{54C265AC-8DE8-41D9-BF87-453F072EAAB9}" type="presOf" srcId="{AB784ED1-41B2-4869-A8E7-0DC45A22A03B}" destId="{B0D942EF-8C05-4117-866D-541DEBF67620}" srcOrd="0" destOrd="0" presId="urn:microsoft.com/office/officeart/2005/8/layout/vList5"/>
    <dgm:cxn modelId="{BB3AB279-DBAE-4047-A3B4-74AB5C988601}" type="presParOf" srcId="{51C7D7CF-BE7E-4377-9F2F-44767D58E201}" destId="{B3733E96-B1B5-4A09-B631-7088D802FD5D}" srcOrd="0" destOrd="0" presId="urn:microsoft.com/office/officeart/2005/8/layout/vList5"/>
    <dgm:cxn modelId="{A08486C2-37D4-4AC5-9C0B-CB074FD57B45}" type="presParOf" srcId="{B3733E96-B1B5-4A09-B631-7088D802FD5D}" destId="{B0E956C1-A10F-4944-B153-18F8AB1EBCF8}" srcOrd="0" destOrd="0" presId="urn:microsoft.com/office/officeart/2005/8/layout/vList5"/>
    <dgm:cxn modelId="{B225FA05-4E8F-4AE8-B4D7-C1F90A7BDCFF}" type="presParOf" srcId="{B3733E96-B1B5-4A09-B631-7088D802FD5D}" destId="{58A7A043-B510-4066-A31E-EF39AA9F9C0F}" srcOrd="1" destOrd="0" presId="urn:microsoft.com/office/officeart/2005/8/layout/vList5"/>
    <dgm:cxn modelId="{F1798053-3661-4827-9D52-8EB44AE5C33B}" type="presParOf" srcId="{51C7D7CF-BE7E-4377-9F2F-44767D58E201}" destId="{43C2B8CA-F41D-47CC-8BC3-C7B2F901EC31}" srcOrd="1" destOrd="0" presId="urn:microsoft.com/office/officeart/2005/8/layout/vList5"/>
    <dgm:cxn modelId="{1EA3F7E3-EB72-4476-8854-4205E2A47AFE}" type="presParOf" srcId="{51C7D7CF-BE7E-4377-9F2F-44767D58E201}" destId="{646BDB8C-82C8-49C9-9C43-FD3BE3AC0BC2}" srcOrd="2" destOrd="0" presId="urn:microsoft.com/office/officeart/2005/8/layout/vList5"/>
    <dgm:cxn modelId="{C3DB985A-DB71-4E76-8891-9DB6EB205221}" type="presParOf" srcId="{646BDB8C-82C8-49C9-9C43-FD3BE3AC0BC2}" destId="{956B2847-78C5-4C78-A093-8FF6123C16D5}" srcOrd="0" destOrd="0" presId="urn:microsoft.com/office/officeart/2005/8/layout/vList5"/>
    <dgm:cxn modelId="{C9EA965B-C86E-4F23-99DB-30E51338651C}" type="presParOf" srcId="{646BDB8C-82C8-49C9-9C43-FD3BE3AC0BC2}" destId="{B0D942EF-8C05-4117-866D-541DEBF67620}" srcOrd="1" destOrd="0" presId="urn:microsoft.com/office/officeart/2005/8/layout/vList5"/>
    <dgm:cxn modelId="{FDAC264F-CBBA-4A33-A8D9-DE989D613E76}" type="presParOf" srcId="{51C7D7CF-BE7E-4377-9F2F-44767D58E201}" destId="{132DB8F3-AB1F-4876-BB18-30F389192CA6}" srcOrd="3" destOrd="0" presId="urn:microsoft.com/office/officeart/2005/8/layout/vList5"/>
    <dgm:cxn modelId="{CABE376C-CB50-4D08-9975-D6F997F629B0}" type="presParOf" srcId="{51C7D7CF-BE7E-4377-9F2F-44767D58E201}" destId="{040B4DA1-21DB-440A-BB9B-9B43C4291029}" srcOrd="4" destOrd="0" presId="urn:microsoft.com/office/officeart/2005/8/layout/vList5"/>
    <dgm:cxn modelId="{11D39E8A-F72D-467A-922B-B458B7F707C9}" type="presParOf" srcId="{040B4DA1-21DB-440A-BB9B-9B43C4291029}" destId="{601614C2-0474-4E80-849B-A00594A59460}" srcOrd="0" destOrd="0" presId="urn:microsoft.com/office/officeart/2005/8/layout/vList5"/>
    <dgm:cxn modelId="{A86464FC-5093-442B-93A5-3F3108FCF663}" type="presParOf" srcId="{040B4DA1-21DB-440A-BB9B-9B43C4291029}" destId="{F0B3398E-0F80-46CE-90D8-FA183E70254A}" srcOrd="1" destOrd="0" presId="urn:microsoft.com/office/officeart/2005/8/layout/vList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B58D01B-0F93-4815-9E16-44859898CF49}" type="doc">
      <dgm:prSet loTypeId="urn:microsoft.com/office/officeart/2005/8/layout/gear1" loCatId="relationship" qsTypeId="urn:microsoft.com/office/officeart/2005/8/quickstyle/3d1" qsCatId="3D" csTypeId="urn:microsoft.com/office/officeart/2005/8/colors/accent2_2" csCatId="accent2" phldr="1"/>
      <dgm:spPr/>
    </dgm:pt>
    <dgm:pt modelId="{931F7B5C-24A5-4B9B-A6B7-8322ECEC3574}">
      <dgm:prSet phldrT="[文本]" custT="1"/>
      <dgm:spPr>
        <a:solidFill>
          <a:schemeClr val="accent1">
            <a:lumMod val="75000"/>
          </a:schemeClr>
        </a:solidFill>
      </dgm:spPr>
      <dgm:t>
        <a:bodyPr/>
        <a:lstStyle/>
        <a:p>
          <a:r>
            <a:rPr lang="zh-CN" altLang="en-US" sz="2800" b="1" dirty="0" smtClean="0">
              <a:effectLst>
                <a:outerShdw blurRad="38100" dist="38100" dir="2700000" algn="tl">
                  <a:srgbClr val="000000">
                    <a:alpha val="43137"/>
                  </a:srgbClr>
                </a:outerShdw>
              </a:effectLst>
              <a:latin typeface="微软雅黑" pitchFamily="34" charset="-122"/>
              <a:ea typeface="微软雅黑" pitchFamily="34" charset="-122"/>
            </a:rPr>
            <a:t>因 地</a:t>
          </a:r>
          <a:endParaRPr lang="en-US" altLang="zh-CN" sz="2800" b="1" dirty="0" smtClean="0">
            <a:effectLst>
              <a:outerShdw blurRad="38100" dist="38100" dir="2700000" algn="tl">
                <a:srgbClr val="000000">
                  <a:alpha val="43137"/>
                </a:srgbClr>
              </a:outerShdw>
            </a:effectLst>
            <a:latin typeface="微软雅黑" pitchFamily="34" charset="-122"/>
            <a:ea typeface="微软雅黑" pitchFamily="34" charset="-122"/>
          </a:endParaRPr>
        </a:p>
        <a:p>
          <a:r>
            <a:rPr lang="zh-CN" altLang="en-US" sz="2800" b="1" dirty="0" smtClean="0">
              <a:effectLst>
                <a:outerShdw blurRad="38100" dist="38100" dir="2700000" algn="tl">
                  <a:srgbClr val="000000">
                    <a:alpha val="43137"/>
                  </a:srgbClr>
                </a:outerShdw>
              </a:effectLst>
              <a:latin typeface="微软雅黑" pitchFamily="34" charset="-122"/>
              <a:ea typeface="微软雅黑" pitchFamily="34" charset="-122"/>
            </a:rPr>
            <a:t>制 宜</a:t>
          </a:r>
          <a:endParaRPr lang="zh-CN" altLang="en-US" sz="2800" b="1" dirty="0">
            <a:effectLst>
              <a:outerShdw blurRad="38100" dist="38100" dir="2700000" algn="tl">
                <a:srgbClr val="000000">
                  <a:alpha val="43137"/>
                </a:srgbClr>
              </a:outerShdw>
            </a:effectLst>
            <a:latin typeface="微软雅黑" pitchFamily="34" charset="-122"/>
            <a:ea typeface="微软雅黑" pitchFamily="34" charset="-122"/>
          </a:endParaRPr>
        </a:p>
      </dgm:t>
    </dgm:pt>
    <dgm:pt modelId="{5B7B72B7-C44B-4B89-83A0-67FAEA1982AC}" type="parTrans" cxnId="{443C00B6-3240-4E2B-A0F0-6CFE36053F11}">
      <dgm:prSet/>
      <dgm:spPr/>
      <dgm:t>
        <a:bodyPr/>
        <a:lstStyle/>
        <a:p>
          <a:endParaRPr lang="zh-CN" altLang="en-US"/>
        </a:p>
      </dgm:t>
    </dgm:pt>
    <dgm:pt modelId="{9D40B482-C44B-4E14-8661-B391A87E9E09}" type="sibTrans" cxnId="{443C00B6-3240-4E2B-A0F0-6CFE36053F11}">
      <dgm:prSet/>
      <dgm:spPr>
        <a:solidFill>
          <a:srgbClr val="FFFF00"/>
        </a:solidFill>
      </dgm:spPr>
      <dgm:t>
        <a:bodyPr/>
        <a:lstStyle/>
        <a:p>
          <a:endParaRPr lang="zh-CN" altLang="en-US"/>
        </a:p>
      </dgm:t>
    </dgm:pt>
    <dgm:pt modelId="{EC8C33AA-8B62-4806-AA81-6B7823A508F1}">
      <dgm:prSet phldrT="[文本]" custT="1"/>
      <dgm:spPr>
        <a:solidFill>
          <a:schemeClr val="accent1">
            <a:lumMod val="75000"/>
          </a:schemeClr>
        </a:solidFill>
      </dgm:spPr>
      <dgm:t>
        <a:bodyPr/>
        <a:lstStyle/>
        <a:p>
          <a:pPr>
            <a:lnSpc>
              <a:spcPct val="100000"/>
            </a:lnSpc>
          </a:pPr>
          <a:r>
            <a:rPr lang="zh-CN" altLang="en-US" sz="2400" b="1" dirty="0" smtClean="0">
              <a:effectLst>
                <a:outerShdw blurRad="38100" dist="38100" dir="2700000" algn="tl">
                  <a:srgbClr val="000000">
                    <a:alpha val="43137"/>
                  </a:srgbClr>
                </a:outerShdw>
              </a:effectLst>
              <a:latin typeface="微软雅黑" pitchFamily="34" charset="-122"/>
              <a:ea typeface="微软雅黑" pitchFamily="34" charset="-122"/>
            </a:rPr>
            <a:t>尊重规范</a:t>
          </a:r>
          <a:endParaRPr lang="en-US" altLang="zh-CN" sz="2400" b="1" dirty="0" smtClean="0">
            <a:effectLst>
              <a:outerShdw blurRad="38100" dist="38100" dir="2700000" algn="tl">
                <a:srgbClr val="000000">
                  <a:alpha val="43137"/>
                </a:srgbClr>
              </a:outerShdw>
            </a:effectLst>
            <a:latin typeface="微软雅黑" pitchFamily="34" charset="-122"/>
            <a:ea typeface="微软雅黑" pitchFamily="34" charset="-122"/>
          </a:endParaRPr>
        </a:p>
        <a:p>
          <a:pPr>
            <a:lnSpc>
              <a:spcPct val="100000"/>
            </a:lnSpc>
          </a:pPr>
          <a:r>
            <a:rPr lang="zh-CN" altLang="en-US" sz="2400" b="1" dirty="0" smtClean="0">
              <a:effectLst>
                <a:outerShdw blurRad="38100" dist="38100" dir="2700000" algn="tl">
                  <a:srgbClr val="000000">
                    <a:alpha val="43137"/>
                  </a:srgbClr>
                </a:outerShdw>
              </a:effectLst>
              <a:latin typeface="微软雅黑" pitchFamily="34" charset="-122"/>
              <a:ea typeface="微软雅黑" pitchFamily="34" charset="-122"/>
            </a:rPr>
            <a:t>不被束缚</a:t>
          </a:r>
          <a:endParaRPr lang="zh-CN" altLang="en-US" sz="2400" b="1" dirty="0">
            <a:effectLst>
              <a:outerShdw blurRad="38100" dist="38100" dir="2700000" algn="tl">
                <a:srgbClr val="000000">
                  <a:alpha val="43137"/>
                </a:srgbClr>
              </a:outerShdw>
            </a:effectLst>
            <a:latin typeface="微软雅黑" pitchFamily="34" charset="-122"/>
            <a:ea typeface="微软雅黑" pitchFamily="34" charset="-122"/>
          </a:endParaRPr>
        </a:p>
      </dgm:t>
    </dgm:pt>
    <dgm:pt modelId="{B19A2405-8602-4DF6-B15D-7AFB08758669}" type="parTrans" cxnId="{E8C8D9D9-9C0C-429C-80B1-1981F7832CFE}">
      <dgm:prSet/>
      <dgm:spPr/>
      <dgm:t>
        <a:bodyPr/>
        <a:lstStyle/>
        <a:p>
          <a:endParaRPr lang="zh-CN" altLang="en-US"/>
        </a:p>
      </dgm:t>
    </dgm:pt>
    <dgm:pt modelId="{CF41984D-9A73-42C8-AD9E-56B1E19E6E45}" type="sibTrans" cxnId="{E8C8D9D9-9C0C-429C-80B1-1981F7832CFE}">
      <dgm:prSet/>
      <dgm:spPr>
        <a:solidFill>
          <a:srgbClr val="FFFF00"/>
        </a:solidFill>
      </dgm:spPr>
      <dgm:t>
        <a:bodyPr/>
        <a:lstStyle/>
        <a:p>
          <a:endParaRPr lang="zh-CN" altLang="en-US"/>
        </a:p>
      </dgm:t>
    </dgm:pt>
    <dgm:pt modelId="{EDD39537-31BB-481A-9A65-0DA5341D1B7A}">
      <dgm:prSet phldrT="[文本]" custT="1"/>
      <dgm:spPr>
        <a:solidFill>
          <a:schemeClr val="accent1">
            <a:lumMod val="75000"/>
          </a:schemeClr>
        </a:solidFill>
      </dgm:spPr>
      <dgm:t>
        <a:bodyPr/>
        <a:lstStyle/>
        <a:p>
          <a:r>
            <a:rPr lang="zh-CN" altLang="en-US" sz="3600" b="1" dirty="0" smtClean="0">
              <a:effectLst>
                <a:outerShdw blurRad="38100" dist="38100" dir="2700000" algn="tl">
                  <a:srgbClr val="000000">
                    <a:alpha val="43137"/>
                  </a:srgbClr>
                </a:outerShdw>
              </a:effectLst>
              <a:latin typeface="微软雅黑" pitchFamily="34" charset="-122"/>
              <a:ea typeface="微软雅黑" pitchFamily="34" charset="-122"/>
            </a:rPr>
            <a:t>工程师经验</a:t>
          </a:r>
          <a:endParaRPr lang="zh-CN" altLang="en-US" sz="3600" b="1" dirty="0">
            <a:effectLst>
              <a:outerShdw blurRad="38100" dist="38100" dir="2700000" algn="tl">
                <a:srgbClr val="000000">
                  <a:alpha val="43137"/>
                </a:srgbClr>
              </a:outerShdw>
            </a:effectLst>
            <a:latin typeface="微软雅黑" pitchFamily="34" charset="-122"/>
            <a:ea typeface="微软雅黑" pitchFamily="34" charset="-122"/>
          </a:endParaRPr>
        </a:p>
      </dgm:t>
    </dgm:pt>
    <dgm:pt modelId="{3909FBD7-541C-4AFD-B252-EC3817B34F55}" type="sibTrans" cxnId="{FCCA6870-7401-4042-8FD8-BCD7A6BF7558}">
      <dgm:prSet/>
      <dgm:spPr>
        <a:solidFill>
          <a:srgbClr val="FFFF00"/>
        </a:solidFill>
      </dgm:spPr>
      <dgm:t>
        <a:bodyPr/>
        <a:lstStyle/>
        <a:p>
          <a:endParaRPr lang="zh-CN" altLang="en-US"/>
        </a:p>
      </dgm:t>
    </dgm:pt>
    <dgm:pt modelId="{1AE13E2B-E92B-40A6-894E-E99CCBA4DC7A}" type="parTrans" cxnId="{FCCA6870-7401-4042-8FD8-BCD7A6BF7558}">
      <dgm:prSet/>
      <dgm:spPr/>
      <dgm:t>
        <a:bodyPr/>
        <a:lstStyle/>
        <a:p>
          <a:endParaRPr lang="zh-CN" altLang="en-US"/>
        </a:p>
      </dgm:t>
    </dgm:pt>
    <dgm:pt modelId="{1D2D9B21-75A6-4751-AA8C-149FEE3BA741}" type="pres">
      <dgm:prSet presAssocID="{8B58D01B-0F93-4815-9E16-44859898CF49}" presName="composite" presStyleCnt="0">
        <dgm:presLayoutVars>
          <dgm:chMax val="3"/>
          <dgm:animLvl val="lvl"/>
          <dgm:resizeHandles val="exact"/>
        </dgm:presLayoutVars>
      </dgm:prSet>
      <dgm:spPr/>
    </dgm:pt>
    <dgm:pt modelId="{761153BF-495A-4B22-8E2D-8874709E0751}" type="pres">
      <dgm:prSet presAssocID="{EDD39537-31BB-481A-9A65-0DA5341D1B7A}" presName="gear1" presStyleLbl="node1" presStyleIdx="0" presStyleCnt="3" custAng="21060191" custScaleX="103947" custScaleY="98005" custLinFactNeighborX="3141" custLinFactNeighborY="2500">
        <dgm:presLayoutVars>
          <dgm:chMax val="1"/>
          <dgm:bulletEnabled val="1"/>
        </dgm:presLayoutVars>
      </dgm:prSet>
      <dgm:spPr/>
      <dgm:t>
        <a:bodyPr/>
        <a:lstStyle/>
        <a:p>
          <a:endParaRPr lang="zh-CN" altLang="en-US"/>
        </a:p>
      </dgm:t>
    </dgm:pt>
    <dgm:pt modelId="{5187B63D-D800-4E06-95E4-E8DE4659FE2B}" type="pres">
      <dgm:prSet presAssocID="{EDD39537-31BB-481A-9A65-0DA5341D1B7A}" presName="gear1srcNode" presStyleLbl="node1" presStyleIdx="0" presStyleCnt="3"/>
      <dgm:spPr/>
      <dgm:t>
        <a:bodyPr/>
        <a:lstStyle/>
        <a:p>
          <a:endParaRPr lang="zh-CN" altLang="en-US"/>
        </a:p>
      </dgm:t>
    </dgm:pt>
    <dgm:pt modelId="{F7E57B98-C89E-4689-A12D-52A2133A3219}" type="pres">
      <dgm:prSet presAssocID="{EDD39537-31BB-481A-9A65-0DA5341D1B7A}" presName="gear1dstNode" presStyleLbl="node1" presStyleIdx="0" presStyleCnt="3"/>
      <dgm:spPr/>
      <dgm:t>
        <a:bodyPr/>
        <a:lstStyle/>
        <a:p>
          <a:endParaRPr lang="zh-CN" altLang="en-US"/>
        </a:p>
      </dgm:t>
    </dgm:pt>
    <dgm:pt modelId="{A437EC1D-0D7F-49AA-B6C4-12217093FEDE}" type="pres">
      <dgm:prSet presAssocID="{931F7B5C-24A5-4B9B-A6B7-8322ECEC3574}" presName="gear2" presStyleLbl="node1" presStyleIdx="1" presStyleCnt="3" custScaleX="127623" custScaleY="114275" custLinFactNeighborX="-6675" custLinFactNeighborY="6017">
        <dgm:presLayoutVars>
          <dgm:chMax val="1"/>
          <dgm:bulletEnabled val="1"/>
        </dgm:presLayoutVars>
      </dgm:prSet>
      <dgm:spPr/>
      <dgm:t>
        <a:bodyPr/>
        <a:lstStyle/>
        <a:p>
          <a:endParaRPr lang="zh-CN" altLang="en-US"/>
        </a:p>
      </dgm:t>
    </dgm:pt>
    <dgm:pt modelId="{1DFF06BF-321E-41FE-8AF0-3719AB65E1BC}" type="pres">
      <dgm:prSet presAssocID="{931F7B5C-24A5-4B9B-A6B7-8322ECEC3574}" presName="gear2srcNode" presStyleLbl="node1" presStyleIdx="1" presStyleCnt="3"/>
      <dgm:spPr/>
      <dgm:t>
        <a:bodyPr/>
        <a:lstStyle/>
        <a:p>
          <a:endParaRPr lang="zh-CN" altLang="en-US"/>
        </a:p>
      </dgm:t>
    </dgm:pt>
    <dgm:pt modelId="{6F31E13D-AA6A-4040-90C2-9DF711369E6E}" type="pres">
      <dgm:prSet presAssocID="{931F7B5C-24A5-4B9B-A6B7-8322ECEC3574}" presName="gear2dstNode" presStyleLbl="node1" presStyleIdx="1" presStyleCnt="3"/>
      <dgm:spPr/>
      <dgm:t>
        <a:bodyPr/>
        <a:lstStyle/>
        <a:p>
          <a:endParaRPr lang="zh-CN" altLang="en-US"/>
        </a:p>
      </dgm:t>
    </dgm:pt>
    <dgm:pt modelId="{1C181798-BBC5-40A0-BA71-4D94C1899D2F}" type="pres">
      <dgm:prSet presAssocID="{EC8C33AA-8B62-4806-AA81-6B7823A508F1}" presName="gear3" presStyleLbl="node1" presStyleIdx="2" presStyleCnt="3" custScaleX="121845" custScaleY="118168" custLinFactNeighborX="2518" custLinFactNeighborY="-1239"/>
      <dgm:spPr/>
      <dgm:t>
        <a:bodyPr/>
        <a:lstStyle/>
        <a:p>
          <a:endParaRPr lang="zh-CN" altLang="en-US"/>
        </a:p>
      </dgm:t>
    </dgm:pt>
    <dgm:pt modelId="{A449372D-FFBF-4EF5-84C0-943257B238A6}" type="pres">
      <dgm:prSet presAssocID="{EC8C33AA-8B62-4806-AA81-6B7823A508F1}" presName="gear3tx" presStyleLbl="node1" presStyleIdx="2" presStyleCnt="3">
        <dgm:presLayoutVars>
          <dgm:chMax val="1"/>
          <dgm:bulletEnabled val="1"/>
        </dgm:presLayoutVars>
      </dgm:prSet>
      <dgm:spPr/>
      <dgm:t>
        <a:bodyPr/>
        <a:lstStyle/>
        <a:p>
          <a:endParaRPr lang="zh-CN" altLang="en-US"/>
        </a:p>
      </dgm:t>
    </dgm:pt>
    <dgm:pt modelId="{335B6B23-89CD-455B-B2B2-E61BDBA921CB}" type="pres">
      <dgm:prSet presAssocID="{EC8C33AA-8B62-4806-AA81-6B7823A508F1}" presName="gear3srcNode" presStyleLbl="node1" presStyleIdx="2" presStyleCnt="3"/>
      <dgm:spPr/>
      <dgm:t>
        <a:bodyPr/>
        <a:lstStyle/>
        <a:p>
          <a:endParaRPr lang="zh-CN" altLang="en-US"/>
        </a:p>
      </dgm:t>
    </dgm:pt>
    <dgm:pt modelId="{2F7B9E20-6EE0-4A7A-A3DC-488C5CA050D4}" type="pres">
      <dgm:prSet presAssocID="{EC8C33AA-8B62-4806-AA81-6B7823A508F1}" presName="gear3dstNode" presStyleLbl="node1" presStyleIdx="2" presStyleCnt="3"/>
      <dgm:spPr/>
      <dgm:t>
        <a:bodyPr/>
        <a:lstStyle/>
        <a:p>
          <a:endParaRPr lang="zh-CN" altLang="en-US"/>
        </a:p>
      </dgm:t>
    </dgm:pt>
    <dgm:pt modelId="{E700183E-8C88-4021-A587-4EAE76A68F67}" type="pres">
      <dgm:prSet presAssocID="{3909FBD7-541C-4AFD-B252-EC3817B34F55}" presName="connector1" presStyleLbl="sibTrans2D1" presStyleIdx="0" presStyleCnt="3"/>
      <dgm:spPr/>
      <dgm:t>
        <a:bodyPr/>
        <a:lstStyle/>
        <a:p>
          <a:endParaRPr lang="zh-CN" altLang="en-US"/>
        </a:p>
      </dgm:t>
    </dgm:pt>
    <dgm:pt modelId="{7CCE96A4-684C-49AA-93E2-D60CEF66F4CA}" type="pres">
      <dgm:prSet presAssocID="{9D40B482-C44B-4E14-8661-B391A87E9E09}" presName="connector2" presStyleLbl="sibTrans2D1" presStyleIdx="1" presStyleCnt="3" custAng="1096029" custLinFactNeighborX="-14567" custLinFactNeighborY="11739"/>
      <dgm:spPr/>
      <dgm:t>
        <a:bodyPr/>
        <a:lstStyle/>
        <a:p>
          <a:endParaRPr lang="zh-CN" altLang="en-US"/>
        </a:p>
      </dgm:t>
    </dgm:pt>
    <dgm:pt modelId="{152FEB1B-F484-4BF0-940B-D4BA8A19CD20}" type="pres">
      <dgm:prSet presAssocID="{CF41984D-9A73-42C8-AD9E-56B1E19E6E45}" presName="connector3" presStyleLbl="sibTrans2D1" presStyleIdx="2" presStyleCnt="3" custAng="831498" custLinFactNeighborX="-4829" custLinFactNeighborY="5550"/>
      <dgm:spPr/>
      <dgm:t>
        <a:bodyPr/>
        <a:lstStyle/>
        <a:p>
          <a:endParaRPr lang="zh-CN" altLang="en-US"/>
        </a:p>
      </dgm:t>
    </dgm:pt>
  </dgm:ptLst>
  <dgm:cxnLst>
    <dgm:cxn modelId="{A364002C-BBE9-440A-B958-90AEF08AC762}" type="presOf" srcId="{931F7B5C-24A5-4B9B-A6B7-8322ECEC3574}" destId="{6F31E13D-AA6A-4040-90C2-9DF711369E6E}" srcOrd="2" destOrd="0" presId="urn:microsoft.com/office/officeart/2005/8/layout/gear1"/>
    <dgm:cxn modelId="{16CF911B-D3F4-4146-A62E-273681D4CB26}" type="presOf" srcId="{3909FBD7-541C-4AFD-B252-EC3817B34F55}" destId="{E700183E-8C88-4021-A587-4EAE76A68F67}" srcOrd="0" destOrd="0" presId="urn:microsoft.com/office/officeart/2005/8/layout/gear1"/>
    <dgm:cxn modelId="{5B99C451-5E65-43F7-BE88-34F39B476851}" type="presOf" srcId="{EC8C33AA-8B62-4806-AA81-6B7823A508F1}" destId="{1C181798-BBC5-40A0-BA71-4D94C1899D2F}" srcOrd="0" destOrd="0" presId="urn:microsoft.com/office/officeart/2005/8/layout/gear1"/>
    <dgm:cxn modelId="{443C00B6-3240-4E2B-A0F0-6CFE36053F11}" srcId="{8B58D01B-0F93-4815-9E16-44859898CF49}" destId="{931F7B5C-24A5-4B9B-A6B7-8322ECEC3574}" srcOrd="1" destOrd="0" parTransId="{5B7B72B7-C44B-4B89-83A0-67FAEA1982AC}" sibTransId="{9D40B482-C44B-4E14-8661-B391A87E9E09}"/>
    <dgm:cxn modelId="{4E2C057E-1B2A-40E5-AC25-EA9B43DD7C8E}" type="presOf" srcId="{EC8C33AA-8B62-4806-AA81-6B7823A508F1}" destId="{2F7B9E20-6EE0-4A7A-A3DC-488C5CA050D4}" srcOrd="3" destOrd="0" presId="urn:microsoft.com/office/officeart/2005/8/layout/gear1"/>
    <dgm:cxn modelId="{D22D4669-1275-4107-B5F2-977E11C443E0}" type="presOf" srcId="{8B58D01B-0F93-4815-9E16-44859898CF49}" destId="{1D2D9B21-75A6-4751-AA8C-149FEE3BA741}" srcOrd="0" destOrd="0" presId="urn:microsoft.com/office/officeart/2005/8/layout/gear1"/>
    <dgm:cxn modelId="{E658DD8A-435A-4F74-A6D2-C21697BF03AB}" type="presOf" srcId="{EDD39537-31BB-481A-9A65-0DA5341D1B7A}" destId="{F7E57B98-C89E-4689-A12D-52A2133A3219}" srcOrd="2" destOrd="0" presId="urn:microsoft.com/office/officeart/2005/8/layout/gear1"/>
    <dgm:cxn modelId="{2B0F5E0E-AB76-4E2D-A7B9-B4D141C32E1E}" type="presOf" srcId="{931F7B5C-24A5-4B9B-A6B7-8322ECEC3574}" destId="{A437EC1D-0D7F-49AA-B6C4-12217093FEDE}" srcOrd="0" destOrd="0" presId="urn:microsoft.com/office/officeart/2005/8/layout/gear1"/>
    <dgm:cxn modelId="{E8C8D9D9-9C0C-429C-80B1-1981F7832CFE}" srcId="{8B58D01B-0F93-4815-9E16-44859898CF49}" destId="{EC8C33AA-8B62-4806-AA81-6B7823A508F1}" srcOrd="2" destOrd="0" parTransId="{B19A2405-8602-4DF6-B15D-7AFB08758669}" sibTransId="{CF41984D-9A73-42C8-AD9E-56B1E19E6E45}"/>
    <dgm:cxn modelId="{6BCA16F5-ADC4-4E73-BA89-4CF8970C67C6}" type="presOf" srcId="{9D40B482-C44B-4E14-8661-B391A87E9E09}" destId="{7CCE96A4-684C-49AA-93E2-D60CEF66F4CA}" srcOrd="0" destOrd="0" presId="urn:microsoft.com/office/officeart/2005/8/layout/gear1"/>
    <dgm:cxn modelId="{FCCA6870-7401-4042-8FD8-BCD7A6BF7558}" srcId="{8B58D01B-0F93-4815-9E16-44859898CF49}" destId="{EDD39537-31BB-481A-9A65-0DA5341D1B7A}" srcOrd="0" destOrd="0" parTransId="{1AE13E2B-E92B-40A6-894E-E99CCBA4DC7A}" sibTransId="{3909FBD7-541C-4AFD-B252-EC3817B34F55}"/>
    <dgm:cxn modelId="{34389A0E-0031-436F-A6DD-0EC826E9C8E8}" type="presOf" srcId="{EDD39537-31BB-481A-9A65-0DA5341D1B7A}" destId="{761153BF-495A-4B22-8E2D-8874709E0751}" srcOrd="0" destOrd="0" presId="urn:microsoft.com/office/officeart/2005/8/layout/gear1"/>
    <dgm:cxn modelId="{6E4705A3-C230-428A-B216-CBEBD8B730F9}" type="presOf" srcId="{EC8C33AA-8B62-4806-AA81-6B7823A508F1}" destId="{335B6B23-89CD-455B-B2B2-E61BDBA921CB}" srcOrd="2" destOrd="0" presId="urn:microsoft.com/office/officeart/2005/8/layout/gear1"/>
    <dgm:cxn modelId="{1386A161-B3BC-4B29-BA46-E71434E3110F}" type="presOf" srcId="{931F7B5C-24A5-4B9B-A6B7-8322ECEC3574}" destId="{1DFF06BF-321E-41FE-8AF0-3719AB65E1BC}" srcOrd="1" destOrd="0" presId="urn:microsoft.com/office/officeart/2005/8/layout/gear1"/>
    <dgm:cxn modelId="{9ACAA02C-17A7-43A1-AE37-AB1DBB3D8DFD}" type="presOf" srcId="{CF41984D-9A73-42C8-AD9E-56B1E19E6E45}" destId="{152FEB1B-F484-4BF0-940B-D4BA8A19CD20}" srcOrd="0" destOrd="0" presId="urn:microsoft.com/office/officeart/2005/8/layout/gear1"/>
    <dgm:cxn modelId="{769EA1F3-A873-49FE-B9FC-D7B0690F5B13}" type="presOf" srcId="{EC8C33AA-8B62-4806-AA81-6B7823A508F1}" destId="{A449372D-FFBF-4EF5-84C0-943257B238A6}" srcOrd="1" destOrd="0" presId="urn:microsoft.com/office/officeart/2005/8/layout/gear1"/>
    <dgm:cxn modelId="{74413884-2C36-4929-8A33-B24A57837500}" type="presOf" srcId="{EDD39537-31BB-481A-9A65-0DA5341D1B7A}" destId="{5187B63D-D800-4E06-95E4-E8DE4659FE2B}" srcOrd="1" destOrd="0" presId="urn:microsoft.com/office/officeart/2005/8/layout/gear1"/>
    <dgm:cxn modelId="{27C1FA55-5658-45A0-BFD1-32C47C2EBF20}" type="presParOf" srcId="{1D2D9B21-75A6-4751-AA8C-149FEE3BA741}" destId="{761153BF-495A-4B22-8E2D-8874709E0751}" srcOrd="0" destOrd="0" presId="urn:microsoft.com/office/officeart/2005/8/layout/gear1"/>
    <dgm:cxn modelId="{04DCB001-A83B-4C59-8FE2-046B756746C6}" type="presParOf" srcId="{1D2D9B21-75A6-4751-AA8C-149FEE3BA741}" destId="{5187B63D-D800-4E06-95E4-E8DE4659FE2B}" srcOrd="1" destOrd="0" presId="urn:microsoft.com/office/officeart/2005/8/layout/gear1"/>
    <dgm:cxn modelId="{0C61093B-3DD1-4491-A421-A5CF196328FE}" type="presParOf" srcId="{1D2D9B21-75A6-4751-AA8C-149FEE3BA741}" destId="{F7E57B98-C89E-4689-A12D-52A2133A3219}" srcOrd="2" destOrd="0" presId="urn:microsoft.com/office/officeart/2005/8/layout/gear1"/>
    <dgm:cxn modelId="{C28F1E7E-9F75-4202-9DFD-10798BB2EBEA}" type="presParOf" srcId="{1D2D9B21-75A6-4751-AA8C-149FEE3BA741}" destId="{A437EC1D-0D7F-49AA-B6C4-12217093FEDE}" srcOrd="3" destOrd="0" presId="urn:microsoft.com/office/officeart/2005/8/layout/gear1"/>
    <dgm:cxn modelId="{C4AEFF6A-09AE-4B7A-B644-706A2144BD1A}" type="presParOf" srcId="{1D2D9B21-75A6-4751-AA8C-149FEE3BA741}" destId="{1DFF06BF-321E-41FE-8AF0-3719AB65E1BC}" srcOrd="4" destOrd="0" presId="urn:microsoft.com/office/officeart/2005/8/layout/gear1"/>
    <dgm:cxn modelId="{1A446E83-FFC5-4476-BC9E-8A0C364645CA}" type="presParOf" srcId="{1D2D9B21-75A6-4751-AA8C-149FEE3BA741}" destId="{6F31E13D-AA6A-4040-90C2-9DF711369E6E}" srcOrd="5" destOrd="0" presId="urn:microsoft.com/office/officeart/2005/8/layout/gear1"/>
    <dgm:cxn modelId="{395906CF-E5F9-4C8A-A083-15D0F15596C7}" type="presParOf" srcId="{1D2D9B21-75A6-4751-AA8C-149FEE3BA741}" destId="{1C181798-BBC5-40A0-BA71-4D94C1899D2F}" srcOrd="6" destOrd="0" presId="urn:microsoft.com/office/officeart/2005/8/layout/gear1"/>
    <dgm:cxn modelId="{30E4B557-5FC3-4190-AAD3-DEE8A5783C4A}" type="presParOf" srcId="{1D2D9B21-75A6-4751-AA8C-149FEE3BA741}" destId="{A449372D-FFBF-4EF5-84C0-943257B238A6}" srcOrd="7" destOrd="0" presId="urn:microsoft.com/office/officeart/2005/8/layout/gear1"/>
    <dgm:cxn modelId="{7C667FA4-AF54-497E-AD17-6D3325C56588}" type="presParOf" srcId="{1D2D9B21-75A6-4751-AA8C-149FEE3BA741}" destId="{335B6B23-89CD-455B-B2B2-E61BDBA921CB}" srcOrd="8" destOrd="0" presId="urn:microsoft.com/office/officeart/2005/8/layout/gear1"/>
    <dgm:cxn modelId="{D010AA6C-DB5E-436E-9739-A275FC9AA6D8}" type="presParOf" srcId="{1D2D9B21-75A6-4751-AA8C-149FEE3BA741}" destId="{2F7B9E20-6EE0-4A7A-A3DC-488C5CA050D4}" srcOrd="9" destOrd="0" presId="urn:microsoft.com/office/officeart/2005/8/layout/gear1"/>
    <dgm:cxn modelId="{68095EAD-0CEE-4CCF-ABFD-B25066A51ED4}" type="presParOf" srcId="{1D2D9B21-75A6-4751-AA8C-149FEE3BA741}" destId="{E700183E-8C88-4021-A587-4EAE76A68F67}" srcOrd="10" destOrd="0" presId="urn:microsoft.com/office/officeart/2005/8/layout/gear1"/>
    <dgm:cxn modelId="{EC4F9011-55E9-46D5-A4BD-D6C38F0A31A1}" type="presParOf" srcId="{1D2D9B21-75A6-4751-AA8C-149FEE3BA741}" destId="{7CCE96A4-684C-49AA-93E2-D60CEF66F4CA}" srcOrd="11" destOrd="0" presId="urn:microsoft.com/office/officeart/2005/8/layout/gear1"/>
    <dgm:cxn modelId="{DD4106D6-0B77-4D8F-A6D9-E2239F68992B}" type="presParOf" srcId="{1D2D9B21-75A6-4751-AA8C-149FEE3BA741}" destId="{152FEB1B-F484-4BF0-940B-D4BA8A19CD20}" srcOrd="12" destOrd="0" presId="urn:microsoft.com/office/officeart/2005/8/layout/gear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CB3FA-E427-45F3-9DB9-139A809B5FD8}">
      <dsp:nvSpPr>
        <dsp:cNvPr id="0" name=""/>
        <dsp:cNvSpPr/>
      </dsp:nvSpPr>
      <dsp:spPr>
        <a:xfrm>
          <a:off x="2482" y="52975"/>
          <a:ext cx="3424775" cy="556354"/>
        </a:xfrm>
        <a:prstGeom prst="roundRect">
          <a:avLst>
            <a:gd name="adj" fmla="val 10000"/>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45720" tIns="30480" rIns="45720" bIns="30480" numCol="1" spcCol="1270" anchor="ctr" anchorCtr="0">
          <a:noAutofit/>
        </a:bodyPr>
        <a:lstStyle/>
        <a:p>
          <a:pPr lvl="0" algn="ctr" defTabSz="1066800">
            <a:lnSpc>
              <a:spcPct val="90000"/>
            </a:lnSpc>
            <a:spcBef>
              <a:spcPct val="0"/>
            </a:spcBef>
            <a:spcAft>
              <a:spcPct val="35000"/>
            </a:spcAft>
          </a:pPr>
          <a:r>
            <a:rPr lang="zh-CN" altLang="en-US" sz="2400" b="1" kern="1200" dirty="0" smtClean="0"/>
            <a:t>理论上的可行性</a:t>
          </a:r>
          <a:endParaRPr lang="zh-CN" altLang="en-US" sz="2400" b="1" kern="1200" dirty="0"/>
        </a:p>
      </dsp:txBody>
      <dsp:txXfrm>
        <a:off x="18777" y="69270"/>
        <a:ext cx="3392185" cy="523764"/>
      </dsp:txXfrm>
    </dsp:sp>
    <dsp:sp modelId="{9C70E572-BB60-4794-AB3A-83093E6110F8}">
      <dsp:nvSpPr>
        <dsp:cNvPr id="0" name=""/>
        <dsp:cNvSpPr/>
      </dsp:nvSpPr>
      <dsp:spPr>
        <a:xfrm>
          <a:off x="344959" y="609330"/>
          <a:ext cx="342477" cy="1248775"/>
        </a:xfrm>
        <a:custGeom>
          <a:avLst/>
          <a:gdLst/>
          <a:ahLst/>
          <a:cxnLst/>
          <a:rect l="0" t="0" r="0" b="0"/>
          <a:pathLst>
            <a:path>
              <a:moveTo>
                <a:pt x="0" y="0"/>
              </a:moveTo>
              <a:lnTo>
                <a:pt x="0" y="1248775"/>
              </a:lnTo>
              <a:lnTo>
                <a:pt x="342477" y="12487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E9B5C7-55BF-439A-97F5-2B42C32833E1}">
      <dsp:nvSpPr>
        <dsp:cNvPr id="0" name=""/>
        <dsp:cNvSpPr/>
      </dsp:nvSpPr>
      <dsp:spPr>
        <a:xfrm>
          <a:off x="687437" y="1001912"/>
          <a:ext cx="3310031" cy="1712387"/>
        </a:xfrm>
        <a:prstGeom prst="roundRect">
          <a:avLst>
            <a:gd name="adj" fmla="val 10000"/>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effectLst>
                <a:outerShdw blurRad="38100" dist="38100" dir="2700000" algn="tl">
                  <a:srgbClr val="000000">
                    <a:alpha val="43137"/>
                  </a:srgbClr>
                </a:outerShdw>
              </a:effectLst>
            </a:rPr>
            <a:t>围压</a:t>
          </a:r>
          <a:r>
            <a:rPr lang="zh-CN" altLang="en-US" sz="2000" kern="1200" dirty="0" smtClean="0">
              <a:latin typeface="楷体" panose="02010609060101010101" pitchFamily="49" charset="-122"/>
              <a:ea typeface="楷体" panose="02010609060101010101" pitchFamily="49" charset="-122"/>
            </a:rPr>
            <a:t>对承载力的提高有重要影响，地基在侧限条件下的受压，随着埋深的增加，围压增大，地基承载力会提高</a:t>
          </a:r>
          <a:r>
            <a:rPr lang="zh-CN" altLang="en-US" sz="2000" kern="1200" dirty="0" smtClean="0"/>
            <a:t>。</a:t>
          </a:r>
          <a:endParaRPr lang="zh-CN" altLang="en-US" sz="2000" kern="1200" dirty="0"/>
        </a:p>
      </dsp:txBody>
      <dsp:txXfrm>
        <a:off x="737591" y="1052066"/>
        <a:ext cx="3209723" cy="1612079"/>
      </dsp:txXfrm>
    </dsp:sp>
    <dsp:sp modelId="{796058A4-8B25-4003-BF1B-C5D7D159CC31}">
      <dsp:nvSpPr>
        <dsp:cNvPr id="0" name=""/>
        <dsp:cNvSpPr/>
      </dsp:nvSpPr>
      <dsp:spPr>
        <a:xfrm>
          <a:off x="344959" y="609330"/>
          <a:ext cx="342477" cy="3389260"/>
        </a:xfrm>
        <a:custGeom>
          <a:avLst/>
          <a:gdLst/>
          <a:ahLst/>
          <a:cxnLst/>
          <a:rect l="0" t="0" r="0" b="0"/>
          <a:pathLst>
            <a:path>
              <a:moveTo>
                <a:pt x="0" y="0"/>
              </a:moveTo>
              <a:lnTo>
                <a:pt x="0" y="3389260"/>
              </a:lnTo>
              <a:lnTo>
                <a:pt x="342477" y="33892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4BFE14-9A9D-4748-BF94-93AB4612A1FE}">
      <dsp:nvSpPr>
        <dsp:cNvPr id="0" name=""/>
        <dsp:cNvSpPr/>
      </dsp:nvSpPr>
      <dsp:spPr>
        <a:xfrm>
          <a:off x="687437" y="3142396"/>
          <a:ext cx="3310031" cy="1712387"/>
        </a:xfrm>
        <a:prstGeom prst="roundRect">
          <a:avLst>
            <a:gd name="adj" fmla="val 10000"/>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effectLst>
                <a:outerShdw blurRad="38100" dist="38100" dir="2700000" algn="tl">
                  <a:srgbClr val="000000">
                    <a:alpha val="43137"/>
                  </a:srgbClr>
                </a:outerShdw>
              </a:effectLst>
            </a:rPr>
            <a:t>承载力要求较高</a:t>
          </a:r>
          <a:r>
            <a:rPr lang="zh-CN" altLang="en-US" sz="2000" kern="1200" dirty="0" smtClean="0">
              <a:latin typeface="楷体" panose="02010609060101010101" pitchFamily="49" charset="-122"/>
              <a:ea typeface="楷体" panose="02010609060101010101" pitchFamily="49" charset="-122"/>
            </a:rPr>
            <a:t>的构筑物，不进行深度修正偏于</a:t>
          </a:r>
          <a:r>
            <a:rPr lang="zh-CN" altLang="en-US" sz="2000" b="1" kern="1200" dirty="0" smtClean="0">
              <a:effectLst>
                <a:outerShdw blurRad="38100" dist="38100" dir="2700000" algn="tl">
                  <a:srgbClr val="000000">
                    <a:alpha val="43137"/>
                  </a:srgbClr>
                </a:outerShdw>
              </a:effectLst>
            </a:rPr>
            <a:t>过分保守</a:t>
          </a:r>
          <a:r>
            <a:rPr lang="zh-CN" altLang="en-US" sz="2000" kern="1200" dirty="0" smtClean="0">
              <a:latin typeface="楷体" panose="02010609060101010101" pitchFamily="49" charset="-122"/>
              <a:ea typeface="楷体" panose="02010609060101010101" pitchFamily="49" charset="-122"/>
            </a:rPr>
            <a:t>。且极破碎岩等情况不修正很难处理。</a:t>
          </a:r>
          <a:endParaRPr lang="zh-CN" altLang="en-US" sz="2000" kern="1200" dirty="0">
            <a:latin typeface="楷体" panose="02010609060101010101" pitchFamily="49" charset="-122"/>
            <a:ea typeface="楷体" panose="02010609060101010101" pitchFamily="49" charset="-122"/>
          </a:endParaRPr>
        </a:p>
      </dsp:txBody>
      <dsp:txXfrm>
        <a:off x="737591" y="3192550"/>
        <a:ext cx="3209723" cy="1612079"/>
      </dsp:txXfrm>
    </dsp:sp>
    <dsp:sp modelId="{5B92D524-9F1F-49F7-B010-E3A913EF3275}">
      <dsp:nvSpPr>
        <dsp:cNvPr id="0" name=""/>
        <dsp:cNvSpPr/>
      </dsp:nvSpPr>
      <dsp:spPr>
        <a:xfrm>
          <a:off x="4283451" y="52975"/>
          <a:ext cx="3424775" cy="556354"/>
        </a:xfrm>
        <a:prstGeom prst="roundRect">
          <a:avLst>
            <a:gd name="adj" fmla="val 10000"/>
          </a:avLst>
        </a:prstGeom>
        <a:solidFill>
          <a:srgbClr val="FFFF66"/>
        </a:soli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45720" tIns="30480" rIns="45720" bIns="30480" numCol="1" spcCol="1270" anchor="ctr" anchorCtr="0">
          <a:noAutofit/>
        </a:bodyPr>
        <a:lstStyle/>
        <a:p>
          <a:pPr lvl="0" algn="ctr" defTabSz="1066800">
            <a:lnSpc>
              <a:spcPct val="90000"/>
            </a:lnSpc>
            <a:spcBef>
              <a:spcPct val="0"/>
            </a:spcBef>
            <a:spcAft>
              <a:spcPct val="35000"/>
            </a:spcAft>
          </a:pPr>
          <a:r>
            <a:rPr lang="zh-CN" altLang="en-US" sz="2400" b="1" kern="1200" dirty="0" smtClean="0"/>
            <a:t>多数规范不修正</a:t>
          </a:r>
          <a:endParaRPr lang="zh-CN" altLang="en-US" sz="2400" b="1" kern="1200" dirty="0"/>
        </a:p>
      </dsp:txBody>
      <dsp:txXfrm>
        <a:off x="4299746" y="69270"/>
        <a:ext cx="3392185" cy="523764"/>
      </dsp:txXfrm>
    </dsp:sp>
    <dsp:sp modelId="{E642FF11-4FDC-4E56-8FA3-5155D8F5EE87}">
      <dsp:nvSpPr>
        <dsp:cNvPr id="0" name=""/>
        <dsp:cNvSpPr/>
      </dsp:nvSpPr>
      <dsp:spPr>
        <a:xfrm>
          <a:off x="4625928" y="609330"/>
          <a:ext cx="342477" cy="1248775"/>
        </a:xfrm>
        <a:custGeom>
          <a:avLst/>
          <a:gdLst/>
          <a:ahLst/>
          <a:cxnLst/>
          <a:rect l="0" t="0" r="0" b="0"/>
          <a:pathLst>
            <a:path>
              <a:moveTo>
                <a:pt x="0" y="0"/>
              </a:moveTo>
              <a:lnTo>
                <a:pt x="0" y="1248775"/>
              </a:lnTo>
              <a:lnTo>
                <a:pt x="342477" y="12487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D8EF4C-9F0B-439A-859B-5B720473C8E5}">
      <dsp:nvSpPr>
        <dsp:cNvPr id="0" name=""/>
        <dsp:cNvSpPr/>
      </dsp:nvSpPr>
      <dsp:spPr>
        <a:xfrm>
          <a:off x="4968406" y="1001912"/>
          <a:ext cx="3310031" cy="1712387"/>
        </a:xfrm>
        <a:prstGeom prst="roundRect">
          <a:avLst>
            <a:gd name="adj" fmla="val 10000"/>
          </a:avLst>
        </a:prstGeom>
        <a:solidFill>
          <a:srgbClr val="FFFF66"/>
        </a:soli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kern="1200" dirty="0" smtClean="0">
              <a:latin typeface="楷体" panose="02010609060101010101" pitchFamily="49" charset="-122"/>
              <a:ea typeface="楷体" panose="02010609060101010101" pitchFamily="49" charset="-122"/>
            </a:rPr>
            <a:t>岩石地基承载力</a:t>
          </a:r>
          <a:r>
            <a:rPr lang="zh-CN" altLang="en-US" sz="2000" b="1" kern="1200" dirty="0" smtClean="0">
              <a:effectLst>
                <a:outerShdw blurRad="38100" dist="38100" dir="2700000" algn="tl">
                  <a:srgbClr val="000000">
                    <a:alpha val="43137"/>
                  </a:srgbClr>
                </a:outerShdw>
              </a:effectLst>
            </a:rPr>
            <a:t>历来</a:t>
          </a:r>
          <a:r>
            <a:rPr lang="zh-CN" altLang="en-US" sz="2000" kern="1200" dirty="0" smtClean="0">
              <a:latin typeface="楷体" panose="02010609060101010101" pitchFamily="49" charset="-122"/>
              <a:ea typeface="楷体" panose="02010609060101010101" pitchFamily="49" charset="-122"/>
            </a:rPr>
            <a:t>不进行深宽修正，在思想上已形成定式；</a:t>
          </a:r>
          <a:endParaRPr lang="zh-CN" altLang="en-US" sz="2000" kern="1200" dirty="0">
            <a:latin typeface="楷体" panose="02010609060101010101" pitchFamily="49" charset="-122"/>
            <a:ea typeface="楷体" panose="02010609060101010101" pitchFamily="49" charset="-122"/>
          </a:endParaRPr>
        </a:p>
      </dsp:txBody>
      <dsp:txXfrm>
        <a:off x="5018560" y="1052066"/>
        <a:ext cx="3209723" cy="1612079"/>
      </dsp:txXfrm>
    </dsp:sp>
    <dsp:sp modelId="{6F1BA977-C215-4F22-A204-8F7DA20932B2}">
      <dsp:nvSpPr>
        <dsp:cNvPr id="0" name=""/>
        <dsp:cNvSpPr/>
      </dsp:nvSpPr>
      <dsp:spPr>
        <a:xfrm>
          <a:off x="4625928" y="609330"/>
          <a:ext cx="342477" cy="3389260"/>
        </a:xfrm>
        <a:custGeom>
          <a:avLst/>
          <a:gdLst/>
          <a:ahLst/>
          <a:cxnLst/>
          <a:rect l="0" t="0" r="0" b="0"/>
          <a:pathLst>
            <a:path>
              <a:moveTo>
                <a:pt x="0" y="0"/>
              </a:moveTo>
              <a:lnTo>
                <a:pt x="0" y="3389260"/>
              </a:lnTo>
              <a:lnTo>
                <a:pt x="342477" y="33892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130C5B-ACC1-4E54-B7FA-94211A172F27}">
      <dsp:nvSpPr>
        <dsp:cNvPr id="0" name=""/>
        <dsp:cNvSpPr/>
      </dsp:nvSpPr>
      <dsp:spPr>
        <a:xfrm>
          <a:off x="4968406" y="3142396"/>
          <a:ext cx="3310031" cy="1712387"/>
        </a:xfrm>
        <a:prstGeom prst="roundRect">
          <a:avLst>
            <a:gd name="adj" fmla="val 10000"/>
          </a:avLst>
        </a:prstGeom>
        <a:solidFill>
          <a:srgbClr val="FFFF66"/>
        </a:soli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effectLst>
                <a:outerShdw blurRad="38100" dist="38100" dir="2700000" algn="tl">
                  <a:srgbClr val="000000">
                    <a:alpha val="43137"/>
                  </a:srgbClr>
                </a:outerShdw>
              </a:effectLst>
            </a:rPr>
            <a:t>岩石地基承载力较高</a:t>
          </a:r>
          <a:r>
            <a:rPr lang="zh-CN" altLang="en-US" sz="2000" kern="1200" dirty="0" smtClean="0"/>
            <a:t>，</a:t>
          </a:r>
          <a:r>
            <a:rPr lang="zh-CN" altLang="en-US" sz="2000" kern="1200" dirty="0" smtClean="0">
              <a:latin typeface="楷体" panose="02010609060101010101" pitchFamily="49" charset="-122"/>
              <a:ea typeface="楷体" panose="02010609060101010101" pitchFamily="49" charset="-122"/>
            </a:rPr>
            <a:t>一般工程可以满足要求，不必挖掘这个潜力，因而较少下功夫从事这方面的研究。</a:t>
          </a:r>
          <a:endParaRPr lang="zh-CN" altLang="en-US" sz="2000" kern="1200" dirty="0">
            <a:latin typeface="楷体" panose="02010609060101010101" pitchFamily="49" charset="-122"/>
            <a:ea typeface="楷体" panose="02010609060101010101" pitchFamily="49" charset="-122"/>
          </a:endParaRPr>
        </a:p>
      </dsp:txBody>
      <dsp:txXfrm>
        <a:off x="5018560" y="3192550"/>
        <a:ext cx="3209723" cy="16120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5B9203-A74D-44EF-8D3F-0317394B3386}">
      <dsp:nvSpPr>
        <dsp:cNvPr id="0" name=""/>
        <dsp:cNvSpPr/>
      </dsp:nvSpPr>
      <dsp:spPr>
        <a:xfrm rot="16200000">
          <a:off x="-358171" y="362227"/>
          <a:ext cx="4626013" cy="3901557"/>
        </a:xfrm>
        <a:prstGeom prst="flowChartManualOperation">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171450" tIns="0" rIns="171416" bIns="0" numCol="1" spcCol="1270" anchor="t" anchorCtr="0">
          <a:noAutofit/>
        </a:bodyPr>
        <a:lstStyle/>
        <a:p>
          <a:pPr lvl="0" algn="l" defTabSz="1200150">
            <a:lnSpc>
              <a:spcPct val="90000"/>
            </a:lnSpc>
            <a:spcBef>
              <a:spcPct val="0"/>
            </a:spcBef>
            <a:spcAft>
              <a:spcPct val="35000"/>
            </a:spcAft>
          </a:pPr>
          <a:r>
            <a:rPr lang="zh-CN" altLang="en-US" sz="2700" b="1" kern="1200" dirty="0" smtClean="0">
              <a:latin typeface="微软雅黑" pitchFamily="34" charset="-122"/>
              <a:ea typeface="微软雅黑" pitchFamily="34" charset="-122"/>
            </a:rPr>
            <a:t>理论计算的可行性</a:t>
          </a:r>
          <a:endParaRPr lang="zh-CN" altLang="en-US" sz="2700" b="1" kern="1200" dirty="0">
            <a:latin typeface="微软雅黑" pitchFamily="34" charset="-122"/>
            <a:ea typeface="微软雅黑" pitchFamily="34" charset="-122"/>
          </a:endParaRPr>
        </a:p>
        <a:p>
          <a:pPr marL="228600" lvl="1" indent="-228600" algn="l" defTabSz="933450">
            <a:lnSpc>
              <a:spcPct val="90000"/>
            </a:lnSpc>
            <a:spcBef>
              <a:spcPct val="0"/>
            </a:spcBef>
            <a:spcAft>
              <a:spcPct val="15000"/>
            </a:spcAft>
            <a:buChar char="••"/>
          </a:pPr>
          <a:r>
            <a:rPr lang="zh-CN" altLang="en-US" sz="2100" kern="1200" dirty="0" smtClean="0">
              <a:latin typeface="微软雅黑" pitchFamily="34" charset="-122"/>
              <a:ea typeface="微软雅黑" pitchFamily="34" charset="-122"/>
            </a:rPr>
            <a:t>力学意义明确，推导严谨</a:t>
          </a:r>
          <a:endParaRPr lang="zh-CN" altLang="en-US" sz="2100" kern="1200" dirty="0">
            <a:latin typeface="微软雅黑" pitchFamily="34" charset="-122"/>
            <a:ea typeface="微软雅黑" pitchFamily="34" charset="-122"/>
          </a:endParaRPr>
        </a:p>
        <a:p>
          <a:pPr marL="228600" lvl="1" indent="-228600" algn="l" defTabSz="933450">
            <a:lnSpc>
              <a:spcPct val="90000"/>
            </a:lnSpc>
            <a:spcBef>
              <a:spcPct val="0"/>
            </a:spcBef>
            <a:spcAft>
              <a:spcPct val="15000"/>
            </a:spcAft>
            <a:buChar char="••"/>
          </a:pPr>
          <a:r>
            <a:rPr lang="zh-CN" altLang="en-US" sz="2100" kern="1200" dirty="0" smtClean="0">
              <a:latin typeface="微软雅黑" pitchFamily="34" charset="-122"/>
              <a:ea typeface="微软雅黑" pitchFamily="34" charset="-122"/>
            </a:rPr>
            <a:t>提供计算方法，研究力学机制，指导作用显著。</a:t>
          </a:r>
          <a:endParaRPr lang="zh-CN" altLang="en-US" sz="2100" kern="1200" dirty="0">
            <a:latin typeface="微软雅黑" pitchFamily="34" charset="-122"/>
            <a:ea typeface="微软雅黑" pitchFamily="34" charset="-122"/>
          </a:endParaRPr>
        </a:p>
      </dsp:txBody>
      <dsp:txXfrm rot="5400000">
        <a:off x="4057" y="925202"/>
        <a:ext cx="3901557" cy="2775607"/>
      </dsp:txXfrm>
    </dsp:sp>
    <dsp:sp modelId="{D48E3615-9543-43B5-9E29-F975E79D377E}">
      <dsp:nvSpPr>
        <dsp:cNvPr id="0" name=""/>
        <dsp:cNvSpPr/>
      </dsp:nvSpPr>
      <dsp:spPr>
        <a:xfrm rot="16200000">
          <a:off x="3836002" y="362227"/>
          <a:ext cx="4626013" cy="3901557"/>
        </a:xfrm>
        <a:prstGeom prst="flowChartManualOperation">
          <a:avLst/>
        </a:prstGeom>
        <a:solidFill>
          <a:srgbClr val="FFFF66"/>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171450" tIns="0" rIns="171416" bIns="0" numCol="1" spcCol="1270" anchor="t" anchorCtr="0">
          <a:noAutofit/>
        </a:bodyPr>
        <a:lstStyle/>
        <a:p>
          <a:pPr lvl="0" algn="l" defTabSz="1200150">
            <a:lnSpc>
              <a:spcPct val="90000"/>
            </a:lnSpc>
            <a:spcBef>
              <a:spcPct val="0"/>
            </a:spcBef>
            <a:spcAft>
              <a:spcPct val="35000"/>
            </a:spcAft>
          </a:pPr>
          <a:r>
            <a:rPr lang="zh-CN" altLang="en-US" sz="2700" b="1" kern="1200" dirty="0" smtClean="0">
              <a:solidFill>
                <a:sysClr val="windowText" lastClr="000000"/>
              </a:solidFill>
              <a:latin typeface="微软雅黑" pitchFamily="34" charset="-122"/>
              <a:ea typeface="微软雅黑" pitchFamily="34" charset="-122"/>
            </a:rPr>
            <a:t>理论计算的限制</a:t>
          </a:r>
          <a:endParaRPr lang="zh-CN" altLang="en-US" sz="2700" b="1" kern="1200" dirty="0">
            <a:solidFill>
              <a:sysClr val="windowText" lastClr="000000"/>
            </a:solidFill>
            <a:latin typeface="微软雅黑" pitchFamily="34" charset="-122"/>
            <a:ea typeface="微软雅黑" pitchFamily="34" charset="-122"/>
          </a:endParaRPr>
        </a:p>
        <a:p>
          <a:pPr marL="228600" lvl="1" indent="-228600" algn="l" defTabSz="933450">
            <a:lnSpc>
              <a:spcPct val="90000"/>
            </a:lnSpc>
            <a:spcBef>
              <a:spcPct val="0"/>
            </a:spcBef>
            <a:spcAft>
              <a:spcPct val="15000"/>
            </a:spcAft>
            <a:buChar char="••"/>
          </a:pPr>
          <a:r>
            <a:rPr lang="zh-CN" altLang="en-US" sz="2100" kern="1200" dirty="0" smtClean="0">
              <a:solidFill>
                <a:sysClr val="windowText" lastClr="000000"/>
              </a:solidFill>
              <a:latin typeface="微软雅黑" pitchFamily="34" charset="-122"/>
              <a:ea typeface="微软雅黑" pitchFamily="34" charset="-122"/>
            </a:rPr>
            <a:t>岩石非均质、不连续、各向异性、非线性破坏的特性</a:t>
          </a:r>
          <a:endParaRPr lang="zh-CN" altLang="en-US" sz="2100" kern="1200" dirty="0">
            <a:solidFill>
              <a:sysClr val="windowText" lastClr="000000"/>
            </a:solidFill>
            <a:latin typeface="微软雅黑" pitchFamily="34" charset="-122"/>
            <a:ea typeface="微软雅黑" pitchFamily="34" charset="-122"/>
          </a:endParaRPr>
        </a:p>
        <a:p>
          <a:pPr marL="228600" lvl="1" indent="-228600" algn="l" defTabSz="933450">
            <a:lnSpc>
              <a:spcPct val="90000"/>
            </a:lnSpc>
            <a:spcBef>
              <a:spcPct val="0"/>
            </a:spcBef>
            <a:spcAft>
              <a:spcPct val="15000"/>
            </a:spcAft>
            <a:buChar char="••"/>
          </a:pPr>
          <a:r>
            <a:rPr lang="zh-CN" altLang="en-US" sz="2100" kern="1200" dirty="0" smtClean="0">
              <a:solidFill>
                <a:sysClr val="windowText" lastClr="000000"/>
              </a:solidFill>
              <a:latin typeface="微软雅黑" pitchFamily="34" charset="-122"/>
              <a:ea typeface="微软雅黑" pitchFamily="34" charset="-122"/>
            </a:rPr>
            <a:t>地基结构复杂、破坏模式多样、不确定性很大</a:t>
          </a:r>
          <a:endParaRPr lang="zh-CN" altLang="en-US" sz="2100" kern="1200" dirty="0">
            <a:solidFill>
              <a:sysClr val="windowText" lastClr="000000"/>
            </a:solidFill>
            <a:latin typeface="微软雅黑" pitchFamily="34" charset="-122"/>
            <a:ea typeface="微软雅黑" pitchFamily="34" charset="-122"/>
          </a:endParaRPr>
        </a:p>
      </dsp:txBody>
      <dsp:txXfrm rot="5400000">
        <a:off x="4198230" y="925202"/>
        <a:ext cx="3901557" cy="27756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ECD78F-887C-4404-95EE-12B39982B49A}">
      <dsp:nvSpPr>
        <dsp:cNvPr id="0" name=""/>
        <dsp:cNvSpPr/>
      </dsp:nvSpPr>
      <dsp:spPr>
        <a:xfrm>
          <a:off x="1349789" y="425369"/>
          <a:ext cx="2335921" cy="2336276"/>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D7C318E-F6C2-44E7-9723-F1145FF94697}">
      <dsp:nvSpPr>
        <dsp:cNvPr id="0" name=""/>
        <dsp:cNvSpPr/>
      </dsp:nvSpPr>
      <dsp:spPr>
        <a:xfrm>
          <a:off x="1633031" y="1268836"/>
          <a:ext cx="1764173" cy="64885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smtClean="0">
              <a:solidFill>
                <a:schemeClr val="bg1"/>
              </a:solidFill>
            </a:rPr>
            <a:t>-1974</a:t>
          </a:r>
          <a:endParaRPr lang="zh-CN" altLang="en-US" sz="3200" b="1" kern="1200" dirty="0">
            <a:solidFill>
              <a:schemeClr val="bg1"/>
            </a:solidFill>
          </a:endParaRPr>
        </a:p>
      </dsp:txBody>
      <dsp:txXfrm>
        <a:off x="1633031" y="1268836"/>
        <a:ext cx="1764173" cy="648857"/>
      </dsp:txXfrm>
    </dsp:sp>
    <dsp:sp modelId="{25218A57-80BB-4019-A137-AB11CB45F046}">
      <dsp:nvSpPr>
        <dsp:cNvPr id="0" name=""/>
        <dsp:cNvSpPr/>
      </dsp:nvSpPr>
      <dsp:spPr>
        <a:xfrm>
          <a:off x="700995" y="1767733"/>
          <a:ext cx="2335921" cy="2336276"/>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9592B33-9DAC-454E-BD62-D6861AE0B208}">
      <dsp:nvSpPr>
        <dsp:cNvPr id="0" name=""/>
        <dsp:cNvSpPr/>
      </dsp:nvSpPr>
      <dsp:spPr>
        <a:xfrm>
          <a:off x="1219943" y="2618965"/>
          <a:ext cx="1298026" cy="64885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smtClean="0">
              <a:solidFill>
                <a:schemeClr val="bg1"/>
              </a:solidFill>
            </a:rPr>
            <a:t>1974-2002</a:t>
          </a:r>
          <a:endParaRPr lang="zh-CN" altLang="en-US" sz="3200" b="1" kern="1200" dirty="0">
            <a:solidFill>
              <a:schemeClr val="bg1"/>
            </a:solidFill>
          </a:endParaRPr>
        </a:p>
      </dsp:txBody>
      <dsp:txXfrm>
        <a:off x="1219943" y="2618965"/>
        <a:ext cx="1298026" cy="648857"/>
      </dsp:txXfrm>
    </dsp:sp>
    <dsp:sp modelId="{E1454C0A-5B6C-4FD9-8D50-D64590EE17E5}">
      <dsp:nvSpPr>
        <dsp:cNvPr id="0" name=""/>
        <dsp:cNvSpPr/>
      </dsp:nvSpPr>
      <dsp:spPr>
        <a:xfrm>
          <a:off x="1516045" y="3270735"/>
          <a:ext cx="2006918" cy="2007722"/>
        </a:xfrm>
        <a:prstGeom prst="blockArc">
          <a:avLst>
            <a:gd name="adj1" fmla="val 13500000"/>
            <a:gd name="adj2" fmla="val 10800000"/>
            <a:gd name="adj3" fmla="val 1274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CFD5046-93CF-4BCB-901B-001C282A88FB}">
      <dsp:nvSpPr>
        <dsp:cNvPr id="0" name=""/>
        <dsp:cNvSpPr/>
      </dsp:nvSpPr>
      <dsp:spPr>
        <a:xfrm>
          <a:off x="1869175" y="3971036"/>
          <a:ext cx="1298026" cy="64885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b="1" kern="1200" dirty="0" smtClean="0">
              <a:solidFill>
                <a:schemeClr val="bg1"/>
              </a:solidFill>
            </a:rPr>
            <a:t>2002-</a:t>
          </a:r>
          <a:endParaRPr lang="zh-CN" altLang="en-US" sz="3200" b="1" kern="1200" dirty="0">
            <a:solidFill>
              <a:schemeClr val="bg1"/>
            </a:solidFill>
          </a:endParaRPr>
        </a:p>
      </dsp:txBody>
      <dsp:txXfrm>
        <a:off x="1869175" y="3971036"/>
        <a:ext cx="1298026" cy="6488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7F27D3-7605-4C83-AB97-21EB163503B0}">
      <dsp:nvSpPr>
        <dsp:cNvPr id="0" name=""/>
        <dsp:cNvSpPr/>
      </dsp:nvSpPr>
      <dsp:spPr>
        <a:xfrm>
          <a:off x="629410" y="1922"/>
          <a:ext cx="5684112" cy="983185"/>
        </a:xfrm>
        <a:prstGeom prst="roundRect">
          <a:avLst>
            <a:gd name="adj" fmla="val 10000"/>
          </a:avLst>
        </a:prstGeom>
        <a:solidFill>
          <a:srgbClr val="FFFF00"/>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100000"/>
            </a:lnSpc>
            <a:spcBef>
              <a:spcPct val="0"/>
            </a:spcBef>
            <a:spcAft>
              <a:spcPct val="35000"/>
            </a:spcAft>
          </a:pPr>
          <a:r>
            <a:rPr lang="zh-CN" altLang="en-US" sz="2800" b="1" kern="1200" dirty="0" smtClean="0">
              <a:solidFill>
                <a:schemeClr val="tx1"/>
              </a:solidFill>
              <a:latin typeface="微软雅黑" pitchFamily="34" charset="-122"/>
              <a:ea typeface="微软雅黑" pitchFamily="34" charset="-122"/>
            </a:rPr>
            <a:t>前苏联规定标准压力表</a:t>
          </a:r>
          <a:endParaRPr lang="zh-CN" altLang="en-US" sz="2800" b="1" kern="1200" dirty="0">
            <a:solidFill>
              <a:schemeClr val="tx1"/>
            </a:solidFill>
            <a:latin typeface="微软雅黑" pitchFamily="34" charset="-122"/>
            <a:ea typeface="微软雅黑" pitchFamily="34" charset="-122"/>
          </a:endParaRPr>
        </a:p>
      </dsp:txBody>
      <dsp:txXfrm>
        <a:off x="658207" y="30719"/>
        <a:ext cx="5626518" cy="925591"/>
      </dsp:txXfrm>
    </dsp:sp>
    <dsp:sp modelId="{454A472E-9484-4A5E-BAEB-C14E5CBC34BA}">
      <dsp:nvSpPr>
        <dsp:cNvPr id="0" name=""/>
        <dsp:cNvSpPr/>
      </dsp:nvSpPr>
      <dsp:spPr>
        <a:xfrm rot="5440976">
          <a:off x="3278316" y="1009687"/>
          <a:ext cx="368720" cy="442433"/>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rot="-5400000">
        <a:off x="3330606" y="1046547"/>
        <a:ext cx="265459" cy="258104"/>
      </dsp:txXfrm>
    </dsp:sp>
    <dsp:sp modelId="{3D10AC0A-B31F-4867-9C3A-5F7C1174410C}">
      <dsp:nvSpPr>
        <dsp:cNvPr id="0" name=""/>
        <dsp:cNvSpPr/>
      </dsp:nvSpPr>
      <dsp:spPr>
        <a:xfrm>
          <a:off x="583279" y="1476701"/>
          <a:ext cx="5741215" cy="983185"/>
        </a:xfrm>
        <a:prstGeom prst="roundRect">
          <a:avLst>
            <a:gd name="adj" fmla="val 10000"/>
          </a:avLst>
        </a:prstGeom>
        <a:solidFill>
          <a:schemeClr val="accent5">
            <a:hueOff val="-4966938"/>
            <a:satOff val="19906"/>
            <a:lumOff val="4314"/>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100000"/>
            </a:lnSpc>
            <a:spcBef>
              <a:spcPct val="0"/>
            </a:spcBef>
            <a:spcAft>
              <a:spcPct val="35000"/>
            </a:spcAft>
          </a:pPr>
          <a:r>
            <a:rPr lang="en-US" altLang="zh-CN" sz="2400" b="1" kern="1200" dirty="0" smtClean="0">
              <a:solidFill>
                <a:schemeClr val="tx1"/>
              </a:solidFill>
              <a:latin typeface="微软雅黑" pitchFamily="34" charset="-122"/>
              <a:ea typeface="微软雅黑" pitchFamily="34" charset="-122"/>
            </a:rPr>
            <a:t>《</a:t>
          </a:r>
          <a:r>
            <a:rPr lang="zh-CN" altLang="en-US" sz="2400" b="1" kern="1200" dirty="0" smtClean="0">
              <a:solidFill>
                <a:schemeClr val="tx1"/>
              </a:solidFill>
              <a:latin typeface="微软雅黑" pitchFamily="34" charset="-122"/>
              <a:ea typeface="微软雅黑" pitchFamily="34" charset="-122"/>
            </a:rPr>
            <a:t>工业与民用建筑地基基础设计规范</a:t>
          </a:r>
          <a:r>
            <a:rPr lang="en-US" altLang="zh-CN" sz="2400" b="1" kern="1200" dirty="0" smtClean="0">
              <a:solidFill>
                <a:schemeClr val="tx1"/>
              </a:solidFill>
              <a:latin typeface="微软雅黑" pitchFamily="34" charset="-122"/>
              <a:ea typeface="微软雅黑" pitchFamily="34" charset="-122"/>
            </a:rPr>
            <a:t>》</a:t>
          </a:r>
          <a:endParaRPr lang="zh-CN" altLang="en-US" sz="2400" b="1" kern="1200" dirty="0">
            <a:solidFill>
              <a:schemeClr val="tx1"/>
            </a:solidFill>
            <a:latin typeface="微软雅黑" pitchFamily="34" charset="-122"/>
            <a:ea typeface="微软雅黑" pitchFamily="34" charset="-122"/>
          </a:endParaRPr>
        </a:p>
      </dsp:txBody>
      <dsp:txXfrm>
        <a:off x="612076" y="1505498"/>
        <a:ext cx="5683621" cy="925591"/>
      </dsp:txXfrm>
    </dsp:sp>
    <dsp:sp modelId="{972DC9D1-9603-4A30-A0F4-9534B73BB37A}">
      <dsp:nvSpPr>
        <dsp:cNvPr id="0" name=""/>
        <dsp:cNvSpPr/>
      </dsp:nvSpPr>
      <dsp:spPr>
        <a:xfrm rot="5359024">
          <a:off x="3278316" y="2484466"/>
          <a:ext cx="368720" cy="442433"/>
        </a:xfrm>
        <a:prstGeom prst="rightArrow">
          <a:avLst>
            <a:gd name="adj1" fmla="val 60000"/>
            <a:gd name="adj2" fmla="val 50000"/>
          </a:avLst>
        </a:prstGeom>
        <a:solidFill>
          <a:schemeClr val="accent5">
            <a:hueOff val="-9933876"/>
            <a:satOff val="39811"/>
            <a:lumOff val="862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rot="-5400000">
        <a:off x="3329288" y="2521326"/>
        <a:ext cx="265459" cy="258104"/>
      </dsp:txXfrm>
    </dsp:sp>
    <dsp:sp modelId="{28BDB39A-B1DC-4CAC-A275-14B94DB760AB}">
      <dsp:nvSpPr>
        <dsp:cNvPr id="0" name=""/>
        <dsp:cNvSpPr/>
      </dsp:nvSpPr>
      <dsp:spPr>
        <a:xfrm>
          <a:off x="606226" y="2951479"/>
          <a:ext cx="5730479" cy="983185"/>
        </a:xfrm>
        <a:prstGeom prst="roundRect">
          <a:avLst>
            <a:gd name="adj" fmla="val 10000"/>
          </a:avLst>
        </a:prstGeom>
        <a:solidFill>
          <a:schemeClr val="accent5">
            <a:hueOff val="-9933876"/>
            <a:satOff val="39811"/>
            <a:lumOff val="8628"/>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100000"/>
            </a:lnSpc>
            <a:spcBef>
              <a:spcPct val="0"/>
            </a:spcBef>
            <a:spcAft>
              <a:spcPct val="35000"/>
            </a:spcAft>
          </a:pPr>
          <a:r>
            <a:rPr lang="zh-CN" altLang="en-US" sz="2800" b="1" kern="1200" dirty="0" smtClean="0">
              <a:solidFill>
                <a:schemeClr val="tx1"/>
              </a:solidFill>
              <a:latin typeface="微软雅黑" pitchFamily="34" charset="-122"/>
              <a:ea typeface="微软雅黑" pitchFamily="34" charset="-122"/>
            </a:rPr>
            <a:t>删去</a:t>
          </a:r>
          <a:endParaRPr lang="zh-CN" altLang="en-US" sz="2800" b="1" kern="1200" dirty="0">
            <a:solidFill>
              <a:schemeClr val="tx1"/>
            </a:solidFill>
            <a:latin typeface="微软雅黑" pitchFamily="34" charset="-122"/>
            <a:ea typeface="微软雅黑" pitchFamily="34" charset="-122"/>
          </a:endParaRPr>
        </a:p>
      </dsp:txBody>
      <dsp:txXfrm>
        <a:off x="635023" y="2980276"/>
        <a:ext cx="5672885" cy="9255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F245F-2F4E-41EF-B240-16EF9E4343D5}">
      <dsp:nvSpPr>
        <dsp:cNvPr id="0" name=""/>
        <dsp:cNvSpPr/>
      </dsp:nvSpPr>
      <dsp:spPr>
        <a:xfrm>
          <a:off x="1359166" y="105"/>
          <a:ext cx="1481836" cy="1481836"/>
        </a:xfrm>
        <a:prstGeom prst="ellipse">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chemeClr val="tx1"/>
              </a:solidFill>
              <a:latin typeface="微软雅黑" pitchFamily="34" charset="-122"/>
              <a:ea typeface="微软雅黑" pitchFamily="34" charset="-122"/>
            </a:rPr>
            <a:t>上部均布柔性荷载</a:t>
          </a:r>
          <a:endParaRPr lang="zh-CN" altLang="en-US" sz="1800" b="1" kern="1200" dirty="0">
            <a:solidFill>
              <a:schemeClr val="tx1"/>
            </a:solidFill>
            <a:latin typeface="微软雅黑" pitchFamily="34" charset="-122"/>
            <a:ea typeface="微软雅黑" pitchFamily="34" charset="-122"/>
          </a:endParaRPr>
        </a:p>
      </dsp:txBody>
      <dsp:txXfrm>
        <a:off x="1576176" y="217115"/>
        <a:ext cx="1047816" cy="1047816"/>
      </dsp:txXfrm>
    </dsp:sp>
    <dsp:sp modelId="{1B96B53B-7CE9-4F02-A046-5D685F685C74}">
      <dsp:nvSpPr>
        <dsp:cNvPr id="0" name=""/>
        <dsp:cNvSpPr/>
      </dsp:nvSpPr>
      <dsp:spPr>
        <a:xfrm>
          <a:off x="1670352" y="1602267"/>
          <a:ext cx="859465" cy="859465"/>
        </a:xfrm>
        <a:prstGeom prst="mathPlus">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zh-CN" altLang="en-US" sz="1400" kern="1200"/>
        </a:p>
      </dsp:txBody>
      <dsp:txXfrm>
        <a:off x="1784274" y="1930926"/>
        <a:ext cx="631621" cy="202147"/>
      </dsp:txXfrm>
    </dsp:sp>
    <dsp:sp modelId="{BFE3CEB2-F955-4739-AB12-DA9D473118DA}">
      <dsp:nvSpPr>
        <dsp:cNvPr id="0" name=""/>
        <dsp:cNvSpPr/>
      </dsp:nvSpPr>
      <dsp:spPr>
        <a:xfrm>
          <a:off x="1359166" y="2582057"/>
          <a:ext cx="1481836" cy="1481836"/>
        </a:xfrm>
        <a:prstGeom prst="ellipse">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b="1" kern="1200" dirty="0" smtClean="0">
              <a:solidFill>
                <a:schemeClr val="tx1"/>
              </a:solidFill>
              <a:latin typeface="微软雅黑" pitchFamily="34" charset="-122"/>
              <a:ea typeface="微软雅黑" pitchFamily="34" charset="-122"/>
            </a:rPr>
            <a:t>两侧均布荷载</a:t>
          </a:r>
          <a:endParaRPr lang="zh-CN" altLang="en-US" sz="2000" b="1" kern="1200" dirty="0">
            <a:solidFill>
              <a:schemeClr val="tx1"/>
            </a:solidFill>
            <a:latin typeface="微软雅黑" pitchFamily="34" charset="-122"/>
            <a:ea typeface="微软雅黑" pitchFamily="34" charset="-122"/>
          </a:endParaRPr>
        </a:p>
      </dsp:txBody>
      <dsp:txXfrm>
        <a:off x="1576176" y="2799067"/>
        <a:ext cx="1047816" cy="1047816"/>
      </dsp:txXfrm>
    </dsp:sp>
    <dsp:sp modelId="{0A7935BD-96FB-43BD-975C-23414861B6B4}">
      <dsp:nvSpPr>
        <dsp:cNvPr id="0" name=""/>
        <dsp:cNvSpPr/>
      </dsp:nvSpPr>
      <dsp:spPr>
        <a:xfrm>
          <a:off x="3019648" y="1900261"/>
          <a:ext cx="1958425" cy="263477"/>
        </a:xfrm>
        <a:prstGeom prst="rightArrow">
          <a:avLst>
            <a:gd name="adj1" fmla="val 60000"/>
            <a:gd name="adj2" fmla="val 50000"/>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3019648" y="1952956"/>
        <a:ext cx="1879382" cy="158087"/>
      </dsp:txXfrm>
    </dsp:sp>
    <dsp:sp modelId="{1FA89EBF-00C6-4244-88F6-F3F39A00F828}">
      <dsp:nvSpPr>
        <dsp:cNvPr id="0" name=""/>
        <dsp:cNvSpPr/>
      </dsp:nvSpPr>
      <dsp:spPr>
        <a:xfrm>
          <a:off x="5089271" y="437069"/>
          <a:ext cx="3411573" cy="3189861"/>
        </a:xfrm>
        <a:prstGeom prst="ellipse">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150000"/>
            </a:lnSpc>
            <a:spcBef>
              <a:spcPct val="0"/>
            </a:spcBef>
            <a:spcAft>
              <a:spcPct val="35000"/>
            </a:spcAft>
          </a:pPr>
          <a:r>
            <a:rPr lang="zh-CN" altLang="en-US" sz="2400" b="1" kern="1200" dirty="0" smtClean="0">
              <a:solidFill>
                <a:schemeClr val="tx1"/>
              </a:solidFill>
              <a:effectLst>
                <a:outerShdw blurRad="38100" dist="38100" dir="2700000" algn="tl">
                  <a:srgbClr val="000000">
                    <a:alpha val="43137"/>
                  </a:srgbClr>
                </a:outerShdw>
              </a:effectLst>
            </a:rPr>
            <a:t>塑性区开展到宽度</a:t>
          </a:r>
          <a:r>
            <a:rPr lang="en-US" altLang="zh-CN" sz="2400" b="1" kern="1200" dirty="0" smtClean="0">
              <a:solidFill>
                <a:schemeClr val="tx1"/>
              </a:solidFill>
              <a:effectLst>
                <a:outerShdw blurRad="38100" dist="38100" dir="2700000" algn="tl">
                  <a:srgbClr val="000000">
                    <a:alpha val="43137"/>
                  </a:srgbClr>
                </a:outerShdw>
              </a:effectLst>
            </a:rPr>
            <a:t>1/4</a:t>
          </a:r>
          <a:r>
            <a:rPr lang="zh-CN" altLang="en-US" sz="2400" b="1" kern="1200" dirty="0" smtClean="0">
              <a:solidFill>
                <a:schemeClr val="tx1"/>
              </a:solidFill>
              <a:effectLst>
                <a:outerShdw blurRad="38100" dist="38100" dir="2700000" algn="tl">
                  <a:srgbClr val="000000">
                    <a:alpha val="43137"/>
                  </a:srgbClr>
                </a:outerShdw>
              </a:effectLst>
            </a:rPr>
            <a:t>的深度时相应的临界承载力 </a:t>
          </a:r>
          <a:endParaRPr lang="zh-CN" altLang="en-US" sz="2400" b="1" kern="1200" dirty="0">
            <a:solidFill>
              <a:schemeClr val="tx1"/>
            </a:solidFill>
            <a:effectLst>
              <a:outerShdw blurRad="38100" dist="38100" dir="2700000" algn="tl">
                <a:srgbClr val="000000">
                  <a:alpha val="43137"/>
                </a:srgbClr>
              </a:outerShdw>
            </a:effectLst>
          </a:endParaRPr>
        </a:p>
      </dsp:txBody>
      <dsp:txXfrm>
        <a:off x="5588884" y="904213"/>
        <a:ext cx="2412347" cy="225557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0B5629-D026-4087-ACE6-0C32346F9F30}">
      <dsp:nvSpPr>
        <dsp:cNvPr id="0" name=""/>
        <dsp:cNvSpPr/>
      </dsp:nvSpPr>
      <dsp:spPr>
        <a:xfrm>
          <a:off x="1560" y="441786"/>
          <a:ext cx="761195" cy="761195"/>
        </a:xfrm>
        <a:prstGeom prst="ellipse">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solidFill>
                <a:schemeClr val="tx1"/>
              </a:solidFill>
              <a:effectLst>
                <a:outerShdw blurRad="38100" dist="38100" dir="2700000" algn="tl">
                  <a:srgbClr val="000000">
                    <a:alpha val="43137"/>
                  </a:srgbClr>
                </a:outerShdw>
              </a:effectLst>
            </a:rPr>
            <a:t>附加应力</a:t>
          </a:r>
          <a:endParaRPr lang="zh-CN" altLang="en-US" sz="1800" kern="1200" dirty="0">
            <a:solidFill>
              <a:schemeClr val="tx1"/>
            </a:solidFill>
            <a:effectLst>
              <a:outerShdw blurRad="38100" dist="38100" dir="2700000" algn="tl">
                <a:srgbClr val="000000">
                  <a:alpha val="43137"/>
                </a:srgbClr>
              </a:outerShdw>
            </a:effectLst>
          </a:endParaRPr>
        </a:p>
      </dsp:txBody>
      <dsp:txXfrm>
        <a:off x="113034" y="553260"/>
        <a:ext cx="538247" cy="538247"/>
      </dsp:txXfrm>
    </dsp:sp>
    <dsp:sp modelId="{4A2FFA02-6CC4-4FB0-A751-0417C7F787F1}">
      <dsp:nvSpPr>
        <dsp:cNvPr id="0" name=""/>
        <dsp:cNvSpPr/>
      </dsp:nvSpPr>
      <dsp:spPr>
        <a:xfrm>
          <a:off x="824565" y="601637"/>
          <a:ext cx="441493" cy="441493"/>
        </a:xfrm>
        <a:prstGeom prst="mathPlus">
          <a:avLst/>
        </a:prstGeom>
        <a:solidFill>
          <a:srgbClr val="FFFF66"/>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883085" y="770464"/>
        <a:ext cx="324453" cy="103839"/>
      </dsp:txXfrm>
    </dsp:sp>
    <dsp:sp modelId="{D52636C3-070D-44D6-8BF7-2E257D57C997}">
      <dsp:nvSpPr>
        <dsp:cNvPr id="0" name=""/>
        <dsp:cNvSpPr/>
      </dsp:nvSpPr>
      <dsp:spPr>
        <a:xfrm>
          <a:off x="1327868" y="441786"/>
          <a:ext cx="761195" cy="761195"/>
        </a:xfrm>
        <a:prstGeom prst="ellipse">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solidFill>
                <a:schemeClr val="tx1"/>
              </a:solidFill>
              <a:effectLst>
                <a:outerShdw blurRad="38100" dist="38100" dir="2700000" algn="tl">
                  <a:srgbClr val="000000">
                    <a:alpha val="43137"/>
                  </a:srgbClr>
                </a:outerShdw>
              </a:effectLst>
            </a:rPr>
            <a:t>自重应力</a:t>
          </a:r>
          <a:endParaRPr lang="zh-CN" altLang="en-US" sz="1800" kern="1200" dirty="0">
            <a:solidFill>
              <a:schemeClr val="tx1"/>
            </a:solidFill>
            <a:effectLst>
              <a:outerShdw blurRad="38100" dist="38100" dir="2700000" algn="tl">
                <a:srgbClr val="000000">
                  <a:alpha val="43137"/>
                </a:srgbClr>
              </a:outerShdw>
            </a:effectLst>
          </a:endParaRPr>
        </a:p>
      </dsp:txBody>
      <dsp:txXfrm>
        <a:off x="1439342" y="553260"/>
        <a:ext cx="538247" cy="538247"/>
      </dsp:txXfrm>
    </dsp:sp>
    <dsp:sp modelId="{7425E4C8-AC3E-4B75-AD59-66EA5C2328A5}">
      <dsp:nvSpPr>
        <dsp:cNvPr id="0" name=""/>
        <dsp:cNvSpPr/>
      </dsp:nvSpPr>
      <dsp:spPr>
        <a:xfrm>
          <a:off x="2150873" y="601637"/>
          <a:ext cx="1784649" cy="441493"/>
        </a:xfrm>
        <a:prstGeom prst="mathEqual">
          <a:avLst/>
        </a:prstGeom>
        <a:solidFill>
          <a:srgbClr val="FFFF66"/>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z="-80000"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2387428" y="692585"/>
        <a:ext cx="1311539" cy="259597"/>
      </dsp:txXfrm>
    </dsp:sp>
    <dsp:sp modelId="{F6B47082-5E79-496A-A07D-8229E2A09F32}">
      <dsp:nvSpPr>
        <dsp:cNvPr id="0" name=""/>
        <dsp:cNvSpPr/>
      </dsp:nvSpPr>
      <dsp:spPr>
        <a:xfrm>
          <a:off x="3997332" y="441786"/>
          <a:ext cx="761195" cy="761195"/>
        </a:xfrm>
        <a:prstGeom prst="ellipse">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kern="1200" dirty="0" smtClean="0">
              <a:solidFill>
                <a:schemeClr val="tx1"/>
              </a:solidFill>
              <a:effectLst>
                <a:outerShdw blurRad="38100" dist="38100" dir="2700000" algn="tl">
                  <a:srgbClr val="000000">
                    <a:alpha val="43137"/>
                  </a:srgbClr>
                </a:outerShdw>
              </a:effectLst>
            </a:rPr>
            <a:t>总应力</a:t>
          </a:r>
          <a:endParaRPr lang="zh-CN" altLang="en-US" sz="1800" kern="1200" dirty="0">
            <a:solidFill>
              <a:schemeClr val="tx1"/>
            </a:solidFill>
            <a:effectLst>
              <a:outerShdw blurRad="38100" dist="38100" dir="2700000" algn="tl">
                <a:srgbClr val="000000">
                  <a:alpha val="43137"/>
                </a:srgbClr>
              </a:outerShdw>
            </a:effectLst>
          </a:endParaRPr>
        </a:p>
      </dsp:txBody>
      <dsp:txXfrm>
        <a:off x="4108806" y="553260"/>
        <a:ext cx="538247" cy="5382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09FBB9-A34F-4B86-AE2E-8E5565CE6982}">
      <dsp:nvSpPr>
        <dsp:cNvPr id="0" name=""/>
        <dsp:cNvSpPr/>
      </dsp:nvSpPr>
      <dsp:spPr>
        <a:xfrm>
          <a:off x="0" y="417832"/>
          <a:ext cx="7886699" cy="6048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8137E7E-678D-4597-9DDF-2C2708466C97}">
      <dsp:nvSpPr>
        <dsp:cNvPr id="0" name=""/>
        <dsp:cNvSpPr/>
      </dsp:nvSpPr>
      <dsp:spPr>
        <a:xfrm>
          <a:off x="394335" y="63592"/>
          <a:ext cx="5520690" cy="708479"/>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lvl="0" algn="l" defTabSz="1422400">
            <a:lnSpc>
              <a:spcPct val="90000"/>
            </a:lnSpc>
            <a:spcBef>
              <a:spcPct val="0"/>
            </a:spcBef>
            <a:spcAft>
              <a:spcPct val="35000"/>
            </a:spcAft>
          </a:pPr>
          <a:r>
            <a:rPr lang="en-US" altLang="zh-CN" sz="3200" b="1" kern="1200" dirty="0" smtClean="0">
              <a:solidFill>
                <a:sysClr val="windowText" lastClr="000000"/>
              </a:solidFill>
            </a:rPr>
            <a:t>4.2 </a:t>
          </a:r>
          <a:r>
            <a:rPr lang="zh-CN" altLang="en-US" sz="3200" b="1" kern="1200" dirty="0" smtClean="0">
              <a:solidFill>
                <a:sysClr val="windowText" lastClr="000000"/>
              </a:solidFill>
            </a:rPr>
            <a:t>地基承载力特征值</a:t>
          </a:r>
          <a:endParaRPr lang="zh-CN" altLang="en-US" sz="3200" b="1" kern="1200" dirty="0">
            <a:solidFill>
              <a:sysClr val="windowText" lastClr="000000"/>
            </a:solidFill>
          </a:endParaRPr>
        </a:p>
      </dsp:txBody>
      <dsp:txXfrm>
        <a:off x="428920" y="98177"/>
        <a:ext cx="5451520" cy="639309"/>
      </dsp:txXfrm>
    </dsp:sp>
    <dsp:sp modelId="{18C34BA9-AF25-441E-9E81-FD35A3821279}">
      <dsp:nvSpPr>
        <dsp:cNvPr id="0" name=""/>
        <dsp:cNvSpPr/>
      </dsp:nvSpPr>
      <dsp:spPr>
        <a:xfrm>
          <a:off x="0" y="1506472"/>
          <a:ext cx="7886699" cy="6048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4792C7D3-744C-444F-9073-A23B81FE0DBE}">
      <dsp:nvSpPr>
        <dsp:cNvPr id="0" name=""/>
        <dsp:cNvSpPr/>
      </dsp:nvSpPr>
      <dsp:spPr>
        <a:xfrm>
          <a:off x="394335" y="1152232"/>
          <a:ext cx="5520690" cy="708479"/>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lvl="0" algn="l" defTabSz="1422400">
            <a:lnSpc>
              <a:spcPct val="90000"/>
            </a:lnSpc>
            <a:spcBef>
              <a:spcPct val="0"/>
            </a:spcBef>
            <a:spcAft>
              <a:spcPct val="35000"/>
            </a:spcAft>
          </a:pPr>
          <a:r>
            <a:rPr lang="en-US" altLang="zh-CN" sz="3200" b="1" kern="1200" dirty="0" smtClean="0">
              <a:solidFill>
                <a:sysClr val="windowText" lastClr="000000"/>
              </a:solidFill>
            </a:rPr>
            <a:t>4.3 </a:t>
          </a:r>
          <a:r>
            <a:rPr lang="zh-CN" altLang="en-US" sz="3200" b="1" kern="1200" dirty="0" smtClean="0">
              <a:solidFill>
                <a:sysClr val="windowText" lastClr="000000"/>
              </a:solidFill>
            </a:rPr>
            <a:t>基础埋深修正</a:t>
          </a:r>
          <a:endParaRPr lang="zh-CN" altLang="en-US" sz="3200" b="1" kern="1200" dirty="0">
            <a:solidFill>
              <a:sysClr val="windowText" lastClr="000000"/>
            </a:solidFill>
          </a:endParaRPr>
        </a:p>
      </dsp:txBody>
      <dsp:txXfrm>
        <a:off x="428920" y="1186817"/>
        <a:ext cx="5451520" cy="639309"/>
      </dsp:txXfrm>
    </dsp:sp>
    <dsp:sp modelId="{073B1388-3975-41BC-A155-EC52DDDF5AFA}">
      <dsp:nvSpPr>
        <dsp:cNvPr id="0" name=""/>
        <dsp:cNvSpPr/>
      </dsp:nvSpPr>
      <dsp:spPr>
        <a:xfrm>
          <a:off x="0" y="2595112"/>
          <a:ext cx="7886699" cy="6048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7A365E95-D7F8-4A08-9A7E-CB8226A96E08}">
      <dsp:nvSpPr>
        <dsp:cNvPr id="0" name=""/>
        <dsp:cNvSpPr/>
      </dsp:nvSpPr>
      <dsp:spPr>
        <a:xfrm>
          <a:off x="394335" y="2240872"/>
          <a:ext cx="5520690" cy="708479"/>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lvl="0" algn="l" defTabSz="1422400">
            <a:lnSpc>
              <a:spcPct val="90000"/>
            </a:lnSpc>
            <a:spcBef>
              <a:spcPct val="0"/>
            </a:spcBef>
            <a:spcAft>
              <a:spcPct val="35000"/>
            </a:spcAft>
          </a:pPr>
          <a:r>
            <a:rPr lang="en-US" altLang="zh-CN" sz="3200" b="1" kern="1200" dirty="0" smtClean="0">
              <a:solidFill>
                <a:sysClr val="windowText" lastClr="000000"/>
              </a:solidFill>
            </a:rPr>
            <a:t>4.4 </a:t>
          </a:r>
          <a:r>
            <a:rPr lang="zh-CN" altLang="en-US" sz="3200" b="1" kern="1200" dirty="0" smtClean="0">
              <a:solidFill>
                <a:sysClr val="windowText" lastClr="000000"/>
              </a:solidFill>
            </a:rPr>
            <a:t>基础宽度修正</a:t>
          </a:r>
          <a:endParaRPr lang="zh-CN" altLang="en-US" sz="3200" b="1" kern="1200" dirty="0">
            <a:solidFill>
              <a:sysClr val="windowText" lastClr="000000"/>
            </a:solidFill>
          </a:endParaRPr>
        </a:p>
      </dsp:txBody>
      <dsp:txXfrm>
        <a:off x="428920" y="2275457"/>
        <a:ext cx="5451520" cy="63930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EC7F83-6D0A-4BE3-B032-B287FE1E9D8E}">
      <dsp:nvSpPr>
        <dsp:cNvPr id="0" name=""/>
        <dsp:cNvSpPr/>
      </dsp:nvSpPr>
      <dsp:spPr>
        <a:xfrm>
          <a:off x="0" y="464019"/>
          <a:ext cx="6096000" cy="7812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BD0B1568-84DE-41C6-857A-611E9DC9CBF7}">
      <dsp:nvSpPr>
        <dsp:cNvPr id="0" name=""/>
        <dsp:cNvSpPr/>
      </dsp:nvSpPr>
      <dsp:spPr>
        <a:xfrm>
          <a:off x="304800" y="6459"/>
          <a:ext cx="4267200" cy="915120"/>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lvl="0" algn="l" defTabSz="1244600">
            <a:lnSpc>
              <a:spcPct val="90000"/>
            </a:lnSpc>
            <a:spcBef>
              <a:spcPct val="0"/>
            </a:spcBef>
            <a:spcAft>
              <a:spcPct val="35000"/>
            </a:spcAft>
          </a:pPr>
          <a:r>
            <a:rPr lang="zh-CN" altLang="en-US" sz="2800" b="1" kern="1200" dirty="0" smtClean="0">
              <a:solidFill>
                <a:schemeClr val="tx1"/>
              </a:solidFill>
              <a:latin typeface="微软雅黑" pitchFamily="34" charset="-122"/>
              <a:ea typeface="微软雅黑" pitchFamily="34" charset="-122"/>
            </a:rPr>
            <a:t>影响深度</a:t>
          </a:r>
          <a:endParaRPr lang="zh-CN" altLang="en-US" sz="2800" b="1" kern="1200" dirty="0">
            <a:solidFill>
              <a:schemeClr val="tx1"/>
            </a:solidFill>
            <a:latin typeface="微软雅黑" pitchFamily="34" charset="-122"/>
            <a:ea typeface="微软雅黑" pitchFamily="34" charset="-122"/>
          </a:endParaRPr>
        </a:p>
      </dsp:txBody>
      <dsp:txXfrm>
        <a:off x="349472" y="51131"/>
        <a:ext cx="4177856" cy="825776"/>
      </dsp:txXfrm>
    </dsp:sp>
    <dsp:sp modelId="{E381CCBF-D16C-4120-96ED-2C2A5DFCB8D0}">
      <dsp:nvSpPr>
        <dsp:cNvPr id="0" name=""/>
        <dsp:cNvSpPr/>
      </dsp:nvSpPr>
      <dsp:spPr>
        <a:xfrm>
          <a:off x="0" y="1870179"/>
          <a:ext cx="6096000" cy="7812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1222837D-A84E-4255-9F30-E6132DC30437}">
      <dsp:nvSpPr>
        <dsp:cNvPr id="0" name=""/>
        <dsp:cNvSpPr/>
      </dsp:nvSpPr>
      <dsp:spPr>
        <a:xfrm>
          <a:off x="304800" y="1412619"/>
          <a:ext cx="4267200" cy="915120"/>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lvl="0" algn="l" defTabSz="1244600">
            <a:lnSpc>
              <a:spcPct val="90000"/>
            </a:lnSpc>
            <a:spcBef>
              <a:spcPct val="0"/>
            </a:spcBef>
            <a:spcAft>
              <a:spcPct val="35000"/>
            </a:spcAft>
          </a:pPr>
          <a:r>
            <a:rPr lang="zh-CN" altLang="en-US" sz="2800" b="1" kern="1200" dirty="0" smtClean="0">
              <a:solidFill>
                <a:schemeClr val="tx1"/>
              </a:solidFill>
              <a:latin typeface="微软雅黑" pitchFamily="34" charset="-122"/>
              <a:ea typeface="微软雅黑" pitchFamily="34" charset="-122"/>
            </a:rPr>
            <a:t> 地      表</a:t>
          </a:r>
          <a:endParaRPr lang="zh-CN" altLang="en-US" sz="2800" b="1" kern="1200" dirty="0">
            <a:solidFill>
              <a:schemeClr val="tx1"/>
            </a:solidFill>
            <a:latin typeface="微软雅黑" pitchFamily="34" charset="-122"/>
            <a:ea typeface="微软雅黑" pitchFamily="34" charset="-122"/>
          </a:endParaRPr>
        </a:p>
      </dsp:txBody>
      <dsp:txXfrm>
        <a:off x="349472" y="1457291"/>
        <a:ext cx="4177856" cy="825776"/>
      </dsp:txXfrm>
    </dsp:sp>
    <dsp:sp modelId="{AB1F7694-8E78-4423-8BE4-85CFC817C003}">
      <dsp:nvSpPr>
        <dsp:cNvPr id="0" name=""/>
        <dsp:cNvSpPr/>
      </dsp:nvSpPr>
      <dsp:spPr>
        <a:xfrm>
          <a:off x="0" y="3276340"/>
          <a:ext cx="6096000" cy="7812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E9D43980-899E-44A5-9EBE-057981416487}">
      <dsp:nvSpPr>
        <dsp:cNvPr id="0" name=""/>
        <dsp:cNvSpPr/>
      </dsp:nvSpPr>
      <dsp:spPr>
        <a:xfrm>
          <a:off x="304800" y="2818780"/>
          <a:ext cx="4267200" cy="915120"/>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lvl="0" algn="l" defTabSz="1244600">
            <a:lnSpc>
              <a:spcPct val="90000"/>
            </a:lnSpc>
            <a:spcBef>
              <a:spcPct val="0"/>
            </a:spcBef>
            <a:spcAft>
              <a:spcPct val="35000"/>
            </a:spcAft>
          </a:pPr>
          <a:r>
            <a:rPr lang="zh-CN" altLang="en-US" sz="2800" b="1" kern="1200" dirty="0" smtClean="0">
              <a:solidFill>
                <a:schemeClr val="tx1"/>
              </a:solidFill>
              <a:latin typeface="微软雅黑" pitchFamily="34" charset="-122"/>
              <a:ea typeface="微软雅黑" pitchFamily="34" charset="-122"/>
            </a:rPr>
            <a:t>加载速度</a:t>
          </a:r>
          <a:endParaRPr lang="zh-CN" altLang="en-US" sz="2800" b="1" kern="1200" dirty="0">
            <a:solidFill>
              <a:schemeClr val="tx1"/>
            </a:solidFill>
            <a:latin typeface="微软雅黑" pitchFamily="34" charset="-122"/>
            <a:ea typeface="微软雅黑" pitchFamily="34" charset="-122"/>
          </a:endParaRPr>
        </a:p>
      </dsp:txBody>
      <dsp:txXfrm>
        <a:off x="349472" y="2863452"/>
        <a:ext cx="4177856" cy="8257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A7A043-B510-4066-A31E-EF39AA9F9C0F}">
      <dsp:nvSpPr>
        <dsp:cNvPr id="0" name=""/>
        <dsp:cNvSpPr/>
      </dsp:nvSpPr>
      <dsp:spPr>
        <a:xfrm rot="5400000">
          <a:off x="3723620" y="-1463546"/>
          <a:ext cx="1300162" cy="4228248"/>
        </a:xfrm>
        <a:prstGeom prst="round2SameRect">
          <a:avLst/>
        </a:prstGeom>
        <a:solidFill>
          <a:schemeClr val="accent2">
            <a:alpha val="90000"/>
            <a:tint val="40000"/>
            <a:hueOff val="0"/>
            <a:satOff val="0"/>
            <a:lumOff val="0"/>
            <a:alphaOff val="0"/>
          </a:schemeClr>
        </a:soli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ctr" defTabSz="1200150">
            <a:lnSpc>
              <a:spcPct val="90000"/>
            </a:lnSpc>
            <a:spcBef>
              <a:spcPct val="0"/>
            </a:spcBef>
            <a:spcAft>
              <a:spcPct val="15000"/>
            </a:spcAft>
            <a:buChar char="••"/>
          </a:pPr>
          <a14:m xmlns:a14="http://schemas.microsoft.com/office/drawing/2010/main">
            <m:oMath xmlns:m="http://schemas.openxmlformats.org/officeDocument/2006/math">
              <m:sSub>
                <m:sSubPr>
                  <m:ctrlPr>
                    <a:rPr lang="zh-CN" altLang="zh-CN" sz="2700" i="1" kern="1200" smtClean="0">
                      <a:solidFill>
                        <a:schemeClr val="tx1"/>
                      </a:solidFill>
                      <a:latin typeface="Cambria Math"/>
                    </a:rPr>
                  </m:ctrlPr>
                </m:sSubPr>
                <m:e>
                  <m:r>
                    <a:rPr lang="en-US" altLang="zh-CN" sz="2700" i="1" kern="1200">
                      <a:solidFill>
                        <a:schemeClr val="tx1"/>
                      </a:solidFill>
                      <a:latin typeface="Cambria Math" panose="02040503050406030204" pitchFamily="18" charset="0"/>
                    </a:rPr>
                    <m:t>𝑓</m:t>
                  </m:r>
                </m:e>
                <m:sub>
                  <m:r>
                    <a:rPr lang="en-US" altLang="zh-CN" sz="2700" i="1" kern="1200">
                      <a:solidFill>
                        <a:schemeClr val="tx1"/>
                      </a:solidFill>
                      <a:latin typeface="Cambria Math" panose="02040503050406030204" pitchFamily="18" charset="0"/>
                    </a:rPr>
                    <m:t>𝑎𝑘</m:t>
                  </m:r>
                </m:sub>
              </m:sSub>
              <m:r>
                <a:rPr lang="en-US" altLang="zh-CN" sz="2700" i="1" kern="1200">
                  <a:solidFill>
                    <a:schemeClr val="tx1"/>
                  </a:solidFill>
                  <a:latin typeface="Cambria Math" panose="02040503050406030204" pitchFamily="18" charset="0"/>
                </a:rPr>
                <m:t>=</m:t>
              </m:r>
              <m:sSub>
                <m:sSubPr>
                  <m:ctrlPr>
                    <a:rPr lang="zh-CN" altLang="zh-CN" sz="2700" i="1" kern="1200">
                      <a:solidFill>
                        <a:schemeClr val="tx1"/>
                      </a:solidFill>
                      <a:latin typeface="Cambria Math"/>
                    </a:rPr>
                  </m:ctrlPr>
                </m:sSubPr>
                <m:e>
                  <m:r>
                    <a:rPr lang="en-US" altLang="zh-CN" sz="2700" i="1" kern="1200">
                      <a:solidFill>
                        <a:schemeClr val="tx1"/>
                      </a:solidFill>
                      <a:latin typeface="Cambria Math" panose="02040503050406030204" pitchFamily="18" charset="0"/>
                    </a:rPr>
                    <m:t>𝑃</m:t>
                  </m:r>
                </m:e>
                <m:sub>
                  <m:r>
                    <a:rPr lang="en-US" altLang="zh-CN" sz="2700" i="1" kern="1200">
                      <a:solidFill>
                        <a:schemeClr val="tx1"/>
                      </a:solidFill>
                      <a:latin typeface="Cambria Math" panose="02040503050406030204" pitchFamily="18" charset="0"/>
                    </a:rPr>
                    <m:t>𝑓</m:t>
                  </m:r>
                </m:sub>
              </m:sSub>
              <m:r>
                <a:rPr lang="en-US" altLang="zh-CN" sz="2700" i="1" kern="1200">
                  <a:solidFill>
                    <a:schemeClr val="tx1"/>
                  </a:solidFill>
                  <a:latin typeface="Cambria Math" panose="02040503050406030204" pitchFamily="18" charset="0"/>
                </a:rPr>
                <m:t>−</m:t>
              </m:r>
              <m:sSub>
                <m:sSubPr>
                  <m:ctrlPr>
                    <a:rPr lang="zh-CN" altLang="zh-CN" sz="2700" i="1" kern="1200">
                      <a:solidFill>
                        <a:schemeClr val="tx1"/>
                      </a:solidFill>
                      <a:latin typeface="Cambria Math"/>
                    </a:rPr>
                  </m:ctrlPr>
                </m:sSubPr>
                <m:e>
                  <m:r>
                    <a:rPr lang="en-US" altLang="zh-CN" sz="2700" i="1" kern="1200">
                      <a:solidFill>
                        <a:schemeClr val="tx1"/>
                      </a:solidFill>
                      <a:latin typeface="Cambria Math" panose="02040503050406030204" pitchFamily="18" charset="0"/>
                    </a:rPr>
                    <m:t>𝑃</m:t>
                  </m:r>
                </m:e>
                <m:sub>
                  <m:r>
                    <a:rPr lang="en-US" altLang="zh-CN" sz="2700" i="1" kern="1200">
                      <a:solidFill>
                        <a:schemeClr val="tx1"/>
                      </a:solidFill>
                      <a:latin typeface="Cambria Math" panose="02040503050406030204" pitchFamily="18" charset="0"/>
                    </a:rPr>
                    <m:t>𝑂</m:t>
                  </m:r>
                </m:sub>
              </m:sSub>
            </m:oMath>
          </a14:m>
          <a:endParaRPr lang="zh-CN" altLang="en-US" sz="2700" kern="1200" dirty="0"/>
        </a:p>
      </dsp:txBody>
      <dsp:txXfrm rot="-5400000">
        <a:off x="2259578" y="63965"/>
        <a:ext cx="4164779" cy="1173224"/>
      </dsp:txXfrm>
    </dsp:sp>
    <dsp:sp modelId="{B0E956C1-A10F-4944-B153-18F8AB1EBCF8}">
      <dsp:nvSpPr>
        <dsp:cNvPr id="0" name=""/>
        <dsp:cNvSpPr/>
      </dsp:nvSpPr>
      <dsp:spPr>
        <a:xfrm>
          <a:off x="89468" y="198770"/>
          <a:ext cx="2140764" cy="989228"/>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CN" altLang="en-US" sz="2800" b="1" kern="1200" dirty="0" smtClean="0">
              <a:solidFill>
                <a:schemeClr val="tx1"/>
              </a:solidFill>
              <a:latin typeface="微软雅黑" pitchFamily="34" charset="-122"/>
              <a:ea typeface="微软雅黑" pitchFamily="34" charset="-122"/>
            </a:rPr>
            <a:t>临塑压力法</a:t>
          </a:r>
          <a:endParaRPr lang="zh-CN" altLang="en-US" sz="2800" b="1" kern="1200" dirty="0">
            <a:solidFill>
              <a:schemeClr val="tx1"/>
            </a:solidFill>
            <a:latin typeface="微软雅黑" pitchFamily="34" charset="-122"/>
            <a:ea typeface="微软雅黑" pitchFamily="34" charset="-122"/>
          </a:endParaRPr>
        </a:p>
      </dsp:txBody>
      <dsp:txXfrm>
        <a:off x="137758" y="247060"/>
        <a:ext cx="2044184" cy="892648"/>
      </dsp:txXfrm>
    </dsp:sp>
    <dsp:sp modelId="{B0D942EF-8C05-4117-866D-541DEBF67620}">
      <dsp:nvSpPr>
        <dsp:cNvPr id="0" name=""/>
        <dsp:cNvSpPr/>
      </dsp:nvSpPr>
      <dsp:spPr>
        <a:xfrm rot="5400000">
          <a:off x="3723620" y="-82124"/>
          <a:ext cx="1300162" cy="4228248"/>
        </a:xfrm>
        <a:prstGeom prst="round2SameRect">
          <a:avLst/>
        </a:prstGeom>
        <a:solidFill>
          <a:schemeClr val="accent2">
            <a:alpha val="90000"/>
            <a:tint val="40000"/>
            <a:hueOff val="0"/>
            <a:satOff val="0"/>
            <a:lumOff val="0"/>
            <a:alphaOff val="0"/>
          </a:schemeClr>
        </a:soli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ctr" defTabSz="1200150">
            <a:lnSpc>
              <a:spcPct val="90000"/>
            </a:lnSpc>
            <a:spcBef>
              <a:spcPct val="0"/>
            </a:spcBef>
            <a:spcAft>
              <a:spcPct val="15000"/>
            </a:spcAft>
            <a:buChar char="••"/>
          </a:pPr>
          <a14:m xmlns:a14="http://schemas.microsoft.com/office/drawing/2010/main">
            <m:oMath xmlns:m="http://schemas.openxmlformats.org/officeDocument/2006/math">
              <m:sSub>
                <m:sSubPr>
                  <m:ctrlPr>
                    <a:rPr lang="zh-CN" altLang="zh-CN" sz="2700" i="1" kern="1200" smtClean="0">
                      <a:solidFill>
                        <a:schemeClr val="tx1"/>
                      </a:solidFill>
                      <a:latin typeface="Cambria Math"/>
                    </a:rPr>
                  </m:ctrlPr>
                </m:sSubPr>
                <m:e>
                  <m:r>
                    <a:rPr lang="en-US" altLang="zh-CN" sz="2700" i="1" kern="1200">
                      <a:solidFill>
                        <a:schemeClr val="tx1"/>
                      </a:solidFill>
                      <a:latin typeface="Cambria Math" panose="02040503050406030204" pitchFamily="18" charset="0"/>
                    </a:rPr>
                    <m:t>𝑓</m:t>
                  </m:r>
                </m:e>
                <m:sub>
                  <m:r>
                    <a:rPr lang="en-US" altLang="zh-CN" sz="2700" i="1" kern="1200">
                      <a:solidFill>
                        <a:schemeClr val="tx1"/>
                      </a:solidFill>
                      <a:latin typeface="Cambria Math" panose="02040503050406030204" pitchFamily="18" charset="0"/>
                    </a:rPr>
                    <m:t>𝑎𝑘</m:t>
                  </m:r>
                </m:sub>
              </m:sSub>
              <m:r>
                <a:rPr lang="en-US" altLang="zh-CN" sz="2700" i="1" kern="1200">
                  <a:solidFill>
                    <a:schemeClr val="tx1"/>
                  </a:solidFill>
                  <a:latin typeface="Cambria Math" panose="02040503050406030204" pitchFamily="18" charset="0"/>
                </a:rPr>
                <m:t>=</m:t>
              </m:r>
              <m:d>
                <m:dPr>
                  <m:begChr m:val="（"/>
                  <m:endChr m:val="）"/>
                  <m:ctrlPr>
                    <a:rPr lang="zh-CN" altLang="zh-CN" sz="2700" i="1" kern="1200">
                      <a:solidFill>
                        <a:schemeClr val="tx1"/>
                      </a:solidFill>
                      <a:latin typeface="Cambria Math"/>
                    </a:rPr>
                  </m:ctrlPr>
                </m:dPr>
                <m:e>
                  <m:sSub>
                    <m:sSubPr>
                      <m:ctrlPr>
                        <a:rPr lang="zh-CN" altLang="zh-CN" sz="2700" i="1" kern="1200">
                          <a:solidFill>
                            <a:schemeClr val="tx1"/>
                          </a:solidFill>
                          <a:latin typeface="Cambria Math"/>
                        </a:rPr>
                      </m:ctrlPr>
                    </m:sSubPr>
                    <m:e>
                      <m:r>
                        <a:rPr lang="en-US" altLang="zh-CN" sz="2700" i="1" kern="1200">
                          <a:solidFill>
                            <a:schemeClr val="tx1"/>
                          </a:solidFill>
                          <a:latin typeface="Cambria Math" panose="02040503050406030204" pitchFamily="18" charset="0"/>
                        </a:rPr>
                        <m:t>𝑃</m:t>
                      </m:r>
                    </m:e>
                    <m:sub>
                      <m:r>
                        <a:rPr lang="en-US" altLang="zh-CN" sz="2700" i="1" kern="1200">
                          <a:solidFill>
                            <a:schemeClr val="tx1"/>
                          </a:solidFill>
                          <a:latin typeface="Cambria Math" panose="02040503050406030204" pitchFamily="18" charset="0"/>
                        </a:rPr>
                        <m:t>𝑙</m:t>
                      </m:r>
                    </m:sub>
                  </m:sSub>
                  <m:r>
                    <a:rPr lang="en-US" altLang="zh-CN" sz="2700" i="1" kern="1200">
                      <a:solidFill>
                        <a:schemeClr val="tx1"/>
                      </a:solidFill>
                      <a:latin typeface="Cambria Math" panose="02040503050406030204" pitchFamily="18" charset="0"/>
                    </a:rPr>
                    <m:t>−</m:t>
                  </m:r>
                  <m:sSub>
                    <m:sSubPr>
                      <m:ctrlPr>
                        <a:rPr lang="zh-CN" altLang="zh-CN" sz="2700" i="1" kern="1200">
                          <a:solidFill>
                            <a:schemeClr val="tx1"/>
                          </a:solidFill>
                          <a:latin typeface="Cambria Math"/>
                        </a:rPr>
                      </m:ctrlPr>
                    </m:sSubPr>
                    <m:e>
                      <m:r>
                        <a:rPr lang="en-US" altLang="zh-CN" sz="2700" i="1" kern="1200">
                          <a:solidFill>
                            <a:schemeClr val="tx1"/>
                          </a:solidFill>
                          <a:latin typeface="Cambria Math" panose="02040503050406030204" pitchFamily="18" charset="0"/>
                        </a:rPr>
                        <m:t>𝑃</m:t>
                      </m:r>
                    </m:e>
                    <m:sub>
                      <m:r>
                        <a:rPr lang="en-US" altLang="zh-CN" sz="2700" i="1" kern="1200">
                          <a:solidFill>
                            <a:schemeClr val="tx1"/>
                          </a:solidFill>
                          <a:latin typeface="Cambria Math" panose="02040503050406030204" pitchFamily="18" charset="0"/>
                        </a:rPr>
                        <m:t>𝑂</m:t>
                      </m:r>
                    </m:sub>
                  </m:sSub>
                </m:e>
              </m:d>
              <m:r>
                <a:rPr lang="en-US" altLang="zh-CN" sz="2700" kern="1200">
                  <a:solidFill>
                    <a:schemeClr val="tx1"/>
                  </a:solidFill>
                  <a:latin typeface="Cambria Math" panose="02040503050406030204" pitchFamily="18" charset="0"/>
                </a:rPr>
                <m:t>/</m:t>
              </m:r>
              <m:r>
                <m:rPr>
                  <m:sty m:val="p"/>
                </m:rPr>
                <a:rPr lang="en-US" altLang="zh-CN" sz="2700" kern="1200">
                  <a:solidFill>
                    <a:schemeClr val="tx1"/>
                  </a:solidFill>
                  <a:latin typeface="Cambria Math" panose="02040503050406030204" pitchFamily="18" charset="0"/>
                </a:rPr>
                <m:t>F</m:t>
              </m:r>
            </m:oMath>
          </a14:m>
          <a:endParaRPr lang="zh-CN" altLang="en-US" sz="2700" kern="1200" dirty="0"/>
        </a:p>
        <a:p>
          <a:pPr marL="228600" lvl="1" indent="-228600" algn="ctr" defTabSz="889000">
            <a:lnSpc>
              <a:spcPct val="90000"/>
            </a:lnSpc>
            <a:spcBef>
              <a:spcPct val="0"/>
            </a:spcBef>
            <a:spcAft>
              <a:spcPct val="15000"/>
            </a:spcAft>
            <a:buChar char="••"/>
          </a:pPr>
          <a:r>
            <a:rPr lang="en-US" altLang="zh-CN" sz="2000" kern="1200" dirty="0" smtClean="0">
              <a:solidFill>
                <a:schemeClr val="tx1"/>
              </a:solidFill>
              <a:latin typeface="楷体" panose="02010609060101010101" pitchFamily="49" charset="-122"/>
              <a:ea typeface="楷体" panose="02010609060101010101" pitchFamily="49" charset="-122"/>
            </a:rPr>
            <a:t> </a:t>
          </a:r>
          <a:r>
            <a:rPr lang="en-US" altLang="zh-CN" sz="2000" kern="1200" dirty="0">
              <a:solidFill>
                <a:schemeClr val="tx1"/>
              </a:solidFill>
              <a:latin typeface="楷体" panose="02010609060101010101" pitchFamily="49" charset="-122"/>
              <a:ea typeface="楷体" panose="02010609060101010101" pitchFamily="49" charset="-122"/>
            </a:rPr>
            <a:t>F</a:t>
          </a:r>
          <a:r>
            <a:rPr lang="zh-CN" altLang="zh-CN" sz="2000" kern="1200" dirty="0">
              <a:solidFill>
                <a:schemeClr val="tx1"/>
              </a:solidFill>
              <a:latin typeface="楷体" panose="02010609060101010101" pitchFamily="49" charset="-122"/>
              <a:ea typeface="楷体" panose="02010609060101010101" pitchFamily="49" charset="-122"/>
            </a:rPr>
            <a:t>——安全系数</a:t>
          </a:r>
          <a:endParaRPr lang="zh-CN" altLang="en-US" sz="2000" kern="1200" dirty="0">
            <a:latin typeface="楷体" panose="02010609060101010101" pitchFamily="49" charset="-122"/>
            <a:ea typeface="楷体" panose="02010609060101010101" pitchFamily="49" charset="-122"/>
          </a:endParaRPr>
        </a:p>
      </dsp:txBody>
      <dsp:txXfrm rot="-5400000">
        <a:off x="2259578" y="1445387"/>
        <a:ext cx="4164779" cy="1173224"/>
      </dsp:txXfrm>
    </dsp:sp>
    <dsp:sp modelId="{956B2847-78C5-4C78-A093-8FF6123C16D5}">
      <dsp:nvSpPr>
        <dsp:cNvPr id="0" name=""/>
        <dsp:cNvSpPr/>
      </dsp:nvSpPr>
      <dsp:spPr>
        <a:xfrm>
          <a:off x="89468" y="1580193"/>
          <a:ext cx="2140764" cy="989228"/>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CN" altLang="en-US" sz="2800" b="1" kern="1200" dirty="0" smtClean="0">
              <a:solidFill>
                <a:schemeClr val="tx1"/>
              </a:solidFill>
              <a:latin typeface="微软雅黑" pitchFamily="34" charset="-122"/>
              <a:ea typeface="微软雅黑" pitchFamily="34" charset="-122"/>
            </a:rPr>
            <a:t>极限压力法</a:t>
          </a:r>
          <a:endParaRPr lang="zh-CN" altLang="en-US" sz="2800" b="1" kern="1200" dirty="0">
            <a:latin typeface="微软雅黑" pitchFamily="34" charset="-122"/>
            <a:ea typeface="微软雅黑" pitchFamily="34" charset="-122"/>
          </a:endParaRPr>
        </a:p>
      </dsp:txBody>
      <dsp:txXfrm>
        <a:off x="137758" y="1628483"/>
        <a:ext cx="2044184" cy="892648"/>
      </dsp:txXfrm>
    </dsp:sp>
    <dsp:sp modelId="{F0B3398E-0F80-46CE-90D8-FA183E70254A}">
      <dsp:nvSpPr>
        <dsp:cNvPr id="0" name=""/>
        <dsp:cNvSpPr/>
      </dsp:nvSpPr>
      <dsp:spPr>
        <a:xfrm rot="5400000">
          <a:off x="3723620" y="1299298"/>
          <a:ext cx="1300162" cy="4228248"/>
        </a:xfrm>
        <a:prstGeom prst="round2SameRect">
          <a:avLst/>
        </a:prstGeom>
        <a:solidFill>
          <a:schemeClr val="accent2">
            <a:alpha val="90000"/>
            <a:tint val="40000"/>
            <a:hueOff val="0"/>
            <a:satOff val="0"/>
            <a:lumOff val="0"/>
            <a:alphaOff val="0"/>
          </a:schemeClr>
        </a:soli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ctr" defTabSz="1155700">
            <a:lnSpc>
              <a:spcPct val="90000"/>
            </a:lnSpc>
            <a:spcBef>
              <a:spcPct val="0"/>
            </a:spcBef>
            <a:spcAft>
              <a:spcPct val="15000"/>
            </a:spcAft>
            <a:buChar char="••"/>
          </a:pPr>
          <a14:m xmlns:a14="http://schemas.microsoft.com/office/drawing/2010/main">
            <m:oMath xmlns:m="http://schemas.openxmlformats.org/officeDocument/2006/math">
              <m:sSub>
                <m:sSubPr>
                  <m:ctrlPr>
                    <a:rPr lang="zh-CN" altLang="zh-CN" sz="2600" i="1" kern="1200" smtClean="0">
                      <a:solidFill>
                        <a:schemeClr val="tx1"/>
                      </a:solidFill>
                      <a:latin typeface="Cambria Math"/>
                    </a:rPr>
                  </m:ctrlPr>
                </m:sSubPr>
                <m:e>
                  <m:r>
                    <a:rPr lang="en-US" altLang="zh-CN" sz="2600" i="1" kern="1200">
                      <a:solidFill>
                        <a:schemeClr val="tx1"/>
                      </a:solidFill>
                      <a:latin typeface="Cambria Math" panose="02040503050406030204" pitchFamily="18" charset="0"/>
                    </a:rPr>
                    <m:t>𝑓</m:t>
                  </m:r>
                </m:e>
                <m:sub>
                  <m:r>
                    <a:rPr lang="en-US" altLang="zh-CN" sz="2600" i="1" kern="1200">
                      <a:solidFill>
                        <a:schemeClr val="tx1"/>
                      </a:solidFill>
                      <a:latin typeface="Cambria Math" panose="02040503050406030204" pitchFamily="18" charset="0"/>
                    </a:rPr>
                    <m:t>𝑎𝑘</m:t>
                  </m:r>
                </m:sub>
              </m:sSub>
              <m:r>
                <a:rPr lang="en-US" altLang="zh-CN" sz="2600" i="1" kern="1200">
                  <a:solidFill>
                    <a:schemeClr val="tx1"/>
                  </a:solidFill>
                  <a:latin typeface="Cambria Math" panose="02040503050406030204" pitchFamily="18" charset="0"/>
                </a:rPr>
                <m:t>=</m:t>
              </m:r>
              <m:sSub>
                <m:sSubPr>
                  <m:ctrlPr>
                    <a:rPr lang="zh-CN" altLang="zh-CN" sz="2600" i="1" kern="1200">
                      <a:solidFill>
                        <a:schemeClr val="tx1"/>
                      </a:solidFill>
                      <a:latin typeface="Cambria Math"/>
                    </a:rPr>
                  </m:ctrlPr>
                </m:sSubPr>
                <m:e>
                  <m:r>
                    <m:rPr>
                      <m:sty m:val="p"/>
                    </m:rPr>
                    <a:rPr lang="en-US" altLang="zh-CN" sz="2600" kern="1200">
                      <a:solidFill>
                        <a:schemeClr val="tx1"/>
                      </a:solidFill>
                      <a:latin typeface="Cambria Math" panose="02040503050406030204" pitchFamily="18" charset="0"/>
                    </a:rPr>
                    <m:t>λ</m:t>
                  </m:r>
                  <m:r>
                    <a:rPr lang="zh-CN" altLang="zh-CN" sz="2600" kern="1200">
                      <a:solidFill>
                        <a:schemeClr val="tx1"/>
                      </a:solidFill>
                      <a:latin typeface="Cambria Math" panose="02040503050406030204" pitchFamily="18" charset="0"/>
                    </a:rPr>
                    <m:t>（</m:t>
                  </m:r>
                  <m:r>
                    <a:rPr lang="en-US" altLang="zh-CN" sz="2600" i="1" kern="1200">
                      <a:solidFill>
                        <a:schemeClr val="tx1"/>
                      </a:solidFill>
                      <a:latin typeface="Cambria Math" panose="02040503050406030204" pitchFamily="18" charset="0"/>
                    </a:rPr>
                    <m:t>𝑃</m:t>
                  </m:r>
                </m:e>
                <m:sub>
                  <m:r>
                    <a:rPr lang="en-US" altLang="zh-CN" sz="2600" i="1" kern="1200">
                      <a:solidFill>
                        <a:schemeClr val="tx1"/>
                      </a:solidFill>
                      <a:latin typeface="Cambria Math" panose="02040503050406030204" pitchFamily="18" charset="0"/>
                    </a:rPr>
                    <m:t>𝑓</m:t>
                  </m:r>
                </m:sub>
              </m:sSub>
              <m:r>
                <a:rPr lang="en-US" altLang="zh-CN" sz="2600" i="1" kern="1200">
                  <a:solidFill>
                    <a:schemeClr val="tx1"/>
                  </a:solidFill>
                  <a:latin typeface="Cambria Math" panose="02040503050406030204" pitchFamily="18" charset="0"/>
                </a:rPr>
                <m:t>−</m:t>
              </m:r>
              <m:sSub>
                <m:sSubPr>
                  <m:ctrlPr>
                    <a:rPr lang="zh-CN" altLang="zh-CN" sz="2600" i="1" kern="1200">
                      <a:solidFill>
                        <a:schemeClr val="tx1"/>
                      </a:solidFill>
                      <a:latin typeface="Cambria Math"/>
                    </a:rPr>
                  </m:ctrlPr>
                </m:sSubPr>
                <m:e>
                  <m:r>
                    <a:rPr lang="en-US" altLang="zh-CN" sz="2600" i="1" kern="1200">
                      <a:solidFill>
                        <a:schemeClr val="tx1"/>
                      </a:solidFill>
                      <a:latin typeface="Cambria Math" panose="02040503050406030204" pitchFamily="18" charset="0"/>
                    </a:rPr>
                    <m:t>𝑃</m:t>
                  </m:r>
                </m:e>
                <m:sub>
                  <m:r>
                    <a:rPr lang="en-US" altLang="zh-CN" sz="2600" i="1" kern="1200">
                      <a:solidFill>
                        <a:schemeClr val="tx1"/>
                      </a:solidFill>
                      <a:latin typeface="Cambria Math" panose="02040503050406030204" pitchFamily="18" charset="0"/>
                    </a:rPr>
                    <m:t>𝑂</m:t>
                  </m:r>
                </m:sub>
              </m:sSub>
              <m:r>
                <a:rPr lang="zh-CN" altLang="zh-CN" sz="2600" kern="1200">
                  <a:solidFill>
                    <a:schemeClr val="tx1"/>
                  </a:solidFill>
                  <a:latin typeface="Cambria Math" panose="02040503050406030204" pitchFamily="18" charset="0"/>
                </a:rPr>
                <m:t>）</m:t>
              </m:r>
            </m:oMath>
          </a14:m>
          <a:endParaRPr lang="zh-CN" altLang="en-US" sz="2600" kern="1200" dirty="0"/>
        </a:p>
        <a:p>
          <a:pPr marL="228600" lvl="1" indent="-228600" algn="ctr" defTabSz="889000">
            <a:lnSpc>
              <a:spcPct val="90000"/>
            </a:lnSpc>
            <a:spcBef>
              <a:spcPct val="0"/>
            </a:spcBef>
            <a:spcAft>
              <a:spcPct val="15000"/>
            </a:spcAft>
            <a:buChar char="••"/>
          </a:pPr>
          <a14:m xmlns:a14="http://schemas.microsoft.com/office/drawing/2010/main">
            <m:oMath xmlns:m="http://schemas.openxmlformats.org/officeDocument/2006/math">
              <m:r>
                <m:rPr>
                  <m:sty m:val="p"/>
                </m:rPr>
                <a:rPr lang="en-US" altLang="zh-CN" sz="2000" kern="1200">
                  <a:solidFill>
                    <a:schemeClr val="tx1"/>
                  </a:solidFill>
                  <a:latin typeface="Cambria Math" panose="02040503050406030204" pitchFamily="18" charset="0"/>
                </a:rPr>
                <m:t>λ</m:t>
              </m:r>
              <m:r>
                <a:rPr lang="en-US" altLang="zh-CN" sz="2000" kern="1200">
                  <a:solidFill>
                    <a:schemeClr val="tx1"/>
                  </a:solidFill>
                  <a:latin typeface="Cambria Math" panose="02040503050406030204" pitchFamily="18" charset="0"/>
                </a:rPr>
                <m:t>——</m:t>
              </m:r>
            </m:oMath>
          </a14:m>
          <a:r>
            <a:rPr lang="zh-CN" altLang="zh-CN" sz="2000" kern="1200" dirty="0">
              <a:solidFill>
                <a:schemeClr val="tx1"/>
              </a:solidFill>
              <a:latin typeface="楷体" panose="02010609060101010101" pitchFamily="49" charset="-122"/>
              <a:ea typeface="楷体" panose="02010609060101010101" pitchFamily="49" charset="-122"/>
            </a:rPr>
            <a:t>修正系数</a:t>
          </a:r>
          <a:endParaRPr lang="zh-CN" altLang="en-US" sz="2000" kern="1200" dirty="0">
            <a:latin typeface="楷体" panose="02010609060101010101" pitchFamily="49" charset="-122"/>
            <a:ea typeface="楷体" panose="02010609060101010101" pitchFamily="49" charset="-122"/>
          </a:endParaRPr>
        </a:p>
      </dsp:txBody>
      <dsp:txXfrm rot="-5400000">
        <a:off x="2259578" y="2826810"/>
        <a:ext cx="4164779" cy="1173224"/>
      </dsp:txXfrm>
    </dsp:sp>
    <dsp:sp modelId="{601614C2-0474-4E80-849B-A00594A59460}">
      <dsp:nvSpPr>
        <dsp:cNvPr id="0" name=""/>
        <dsp:cNvSpPr/>
      </dsp:nvSpPr>
      <dsp:spPr>
        <a:xfrm>
          <a:off x="89468" y="2899208"/>
          <a:ext cx="2140764" cy="989228"/>
        </a:xfrm>
        <a:prstGeom prst="roundRect">
          <a:avLst/>
        </a:prstGeom>
        <a:solidFill>
          <a:srgbClr val="FFFF00"/>
        </a:solidFill>
        <a:ln>
          <a:noFill/>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zh-CN" altLang="en-US" sz="2000" b="1" kern="1200" dirty="0" smtClean="0">
              <a:solidFill>
                <a:schemeClr val="tx1"/>
              </a:solidFill>
              <a:latin typeface="微软雅黑" pitchFamily="34" charset="-122"/>
              <a:ea typeface="微软雅黑" pitchFamily="34" charset="-122"/>
            </a:rPr>
            <a:t>修正临塑压力法</a:t>
          </a:r>
          <a:endParaRPr lang="zh-CN" altLang="en-US" sz="2000" b="1" kern="1200" dirty="0">
            <a:solidFill>
              <a:schemeClr val="tx1"/>
            </a:solidFill>
            <a:latin typeface="微软雅黑" pitchFamily="34" charset="-122"/>
            <a:ea typeface="微软雅黑" pitchFamily="34" charset="-122"/>
          </a:endParaRPr>
        </a:p>
      </dsp:txBody>
      <dsp:txXfrm>
        <a:off x="137758" y="2947498"/>
        <a:ext cx="2044184" cy="89264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6.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软雅黑" pitchFamily="34" charset="-122"/>
              </a:defRPr>
            </a:lvl1pPr>
          </a:lstStyle>
          <a:p>
            <a:fld id="{72E76251-7BF5-46B9-9751-D0B5DB78B86D}" type="datetimeFigureOut">
              <a:rPr lang="zh-CN" altLang="en-US" smtClean="0"/>
              <a:pPr/>
              <a:t>2013/4/29 Monday</a:t>
            </a:fld>
            <a:endParaRPr lang="zh-CN" altLang="en-US" dirty="0"/>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软雅黑" pitchFamily="34" charset="-122"/>
              </a:defRPr>
            </a:lvl1pPr>
          </a:lstStyle>
          <a:p>
            <a:fld id="{E87DE834-36E7-4627-815F-CB35AFD15D6B}" type="slidenum">
              <a:rPr lang="zh-CN" altLang="en-US" smtClean="0"/>
              <a:pPr/>
              <a:t>‹#›</a:t>
            </a:fld>
            <a:endParaRPr lang="zh-CN" altLang="en-US" dirty="0"/>
          </a:p>
        </p:txBody>
      </p:sp>
    </p:spTree>
    <p:extLst>
      <p:ext uri="{BB962C8B-B14F-4D97-AF65-F5344CB8AC3E}">
        <p14:creationId xmlns:p14="http://schemas.microsoft.com/office/powerpoint/2010/main" val="920075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itchFamily="34" charset="-122"/>
        <a:cs typeface="+mn-cs"/>
      </a:defRPr>
    </a:lvl1pPr>
    <a:lvl2pPr marL="457200" algn="l" defTabSz="914400" rtl="0" eaLnBrk="1" latinLnBrk="0" hangingPunct="1">
      <a:defRPr sz="1200" kern="1200">
        <a:solidFill>
          <a:schemeClr val="tx1"/>
        </a:solidFill>
        <a:latin typeface="+mn-lt"/>
        <a:ea typeface="微软雅黑" pitchFamily="34" charset="-122"/>
        <a:cs typeface="+mn-cs"/>
      </a:defRPr>
    </a:lvl2pPr>
    <a:lvl3pPr marL="914400" algn="l" defTabSz="914400" rtl="0" eaLnBrk="1" latinLnBrk="0" hangingPunct="1">
      <a:defRPr sz="1200" kern="1200">
        <a:solidFill>
          <a:schemeClr val="tx1"/>
        </a:solidFill>
        <a:latin typeface="+mn-lt"/>
        <a:ea typeface="微软雅黑" pitchFamily="34" charset="-122"/>
        <a:cs typeface="+mn-cs"/>
      </a:defRPr>
    </a:lvl3pPr>
    <a:lvl4pPr marL="1371600" algn="l" defTabSz="914400" rtl="0" eaLnBrk="1" latinLnBrk="0" hangingPunct="1">
      <a:defRPr sz="1200" kern="1200">
        <a:solidFill>
          <a:schemeClr val="tx1"/>
        </a:solidFill>
        <a:latin typeface="+mn-lt"/>
        <a:ea typeface="微软雅黑" pitchFamily="34" charset="-122"/>
        <a:cs typeface="+mn-cs"/>
      </a:defRPr>
    </a:lvl4pPr>
    <a:lvl5pPr marL="1828800" algn="l" defTabSz="914400" rtl="0" eaLnBrk="1" latinLnBrk="0" hangingPunct="1">
      <a:defRPr sz="1200" kern="1200">
        <a:solidFill>
          <a:schemeClr val="tx1"/>
        </a:solidFill>
        <a:latin typeface="+mn-lt"/>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1</a:t>
            </a:fld>
            <a:endParaRPr lang="zh-CN" altLang="en-US" dirty="0"/>
          </a:p>
        </p:txBody>
      </p:sp>
    </p:spTree>
    <p:extLst>
      <p:ext uri="{BB962C8B-B14F-4D97-AF65-F5344CB8AC3E}">
        <p14:creationId xmlns:p14="http://schemas.microsoft.com/office/powerpoint/2010/main" val="1677045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要视频啦</a:t>
            </a:r>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5</a:t>
            </a:fld>
            <a:endParaRPr lang="zh-CN" altLang="en-US" dirty="0"/>
          </a:p>
        </p:txBody>
      </p:sp>
    </p:spTree>
    <p:extLst>
      <p:ext uri="{BB962C8B-B14F-4D97-AF65-F5344CB8AC3E}">
        <p14:creationId xmlns:p14="http://schemas.microsoft.com/office/powerpoint/2010/main" val="1388541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当时背景</a:t>
            </a:r>
          </a:p>
          <a:p>
            <a:r>
              <a:rPr lang="en-US" altLang="zh-CN" dirty="0" smtClean="0"/>
              <a:t>89</a:t>
            </a:r>
            <a:r>
              <a:rPr lang="zh-CN" altLang="en-US" dirty="0" smtClean="0"/>
              <a:t>版有承载力表。按硬质岩石、软质岩石及不同风化程度列表。修订时取消承载力表，岩石地基承载力在正文中专列一条。</a:t>
            </a:r>
          </a:p>
          <a:p>
            <a:r>
              <a:rPr lang="zh-CN" altLang="en-US" dirty="0" smtClean="0"/>
              <a:t>岩石工程分类修改：用坚硬程度和完整程度表征岩体工程特性优劣，各分</a:t>
            </a:r>
            <a:r>
              <a:rPr lang="en-US" altLang="zh-CN" dirty="0" smtClean="0"/>
              <a:t>5</a:t>
            </a:r>
            <a:r>
              <a:rPr lang="zh-CN" altLang="en-US" dirty="0" smtClean="0"/>
              <a:t>级。</a:t>
            </a:r>
          </a:p>
          <a:p>
            <a:r>
              <a:rPr lang="zh-CN" altLang="en-US" dirty="0" smtClean="0"/>
              <a:t>按此精神，以饱和单轴抗压强度表征坚硬程度，以折减系数体现完整性。</a:t>
            </a:r>
          </a:p>
          <a:p>
            <a:r>
              <a:rPr lang="zh-CN" altLang="en-US" dirty="0" smtClean="0"/>
              <a:t>缺乏资料，考虑到岩石地基承载力高，容易满足要求，故裕度较大，以确保安全。 </a:t>
            </a:r>
          </a:p>
          <a:p>
            <a:r>
              <a:rPr lang="zh-CN" altLang="en-US" dirty="0" smtClean="0"/>
              <a:t>安全度的讨论</a:t>
            </a:r>
          </a:p>
          <a:p>
            <a:r>
              <a:rPr lang="zh-CN" altLang="en-US" dirty="0" smtClean="0"/>
              <a:t>折减系数通常为经验确定，故一般都为偏保守，存在一定安全度。</a:t>
            </a:r>
          </a:p>
          <a:p>
            <a:r>
              <a:rPr lang="zh-CN" altLang="en-US" dirty="0" smtClean="0"/>
              <a:t>计算采用单轴抗压强度，该值是在侧压力为</a:t>
            </a:r>
            <a:r>
              <a:rPr lang="en-US" altLang="zh-CN" dirty="0" smtClean="0"/>
              <a:t>0</a:t>
            </a:r>
            <a:r>
              <a:rPr lang="zh-CN" altLang="en-US" dirty="0" smtClean="0"/>
              <a:t>的条件下测定的，而实际情况地基是三向应力状态，存在围压，故测定值与实际情况下值相比要偏低，即偏保守。</a:t>
            </a:r>
          </a:p>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6</a:t>
            </a:fld>
            <a:endParaRPr lang="zh-CN" altLang="en-US" dirty="0"/>
          </a:p>
        </p:txBody>
      </p:sp>
    </p:spTree>
    <p:extLst>
      <p:ext uri="{BB962C8B-B14F-4D97-AF65-F5344CB8AC3E}">
        <p14:creationId xmlns:p14="http://schemas.microsoft.com/office/powerpoint/2010/main" val="3499056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7</a:t>
            </a:fld>
            <a:endParaRPr lang="zh-CN" altLang="en-US" dirty="0"/>
          </a:p>
        </p:txBody>
      </p:sp>
    </p:spTree>
    <p:extLst>
      <p:ext uri="{BB962C8B-B14F-4D97-AF65-F5344CB8AC3E}">
        <p14:creationId xmlns:p14="http://schemas.microsoft.com/office/powerpoint/2010/main" val="509247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buFont typeface="Arial" panose="020B0604020202020204" pitchFamily="34" charset="0"/>
              <a:buChar char="•"/>
            </a:pPr>
            <a:r>
              <a:rPr lang="zh-CN" altLang="en-US" sz="1200" dirty="0" smtClean="0"/>
              <a:t>当上部荷超过地基土应力</a:t>
            </a:r>
            <a:r>
              <a:rPr lang="en-US" altLang="zh-CN" sz="1200" dirty="0" smtClean="0"/>
              <a:t>-</a:t>
            </a:r>
            <a:r>
              <a:rPr lang="zh-CN" altLang="en-US" sz="1200" dirty="0" smtClean="0"/>
              <a:t>应变曲线上第一拐点（比例极限）时，基础两侧边缘将出现</a:t>
            </a:r>
            <a:r>
              <a:rPr lang="zh-CN" altLang="en-US" sz="1200" b="1" dirty="0" smtClean="0">
                <a:effectLst>
                  <a:outerShdw blurRad="38100" dist="38100" dir="2700000" algn="tl">
                    <a:srgbClr val="000000">
                      <a:alpha val="43137"/>
                    </a:srgbClr>
                  </a:outerShdw>
                </a:effectLst>
              </a:rPr>
              <a:t>塑性区</a:t>
            </a:r>
            <a:r>
              <a:rPr lang="zh-CN" altLang="en-US" sz="1200" dirty="0" smtClean="0"/>
              <a:t>并不断向深部发展。</a:t>
            </a:r>
            <a:endParaRPr lang="en-US" altLang="zh-CN" sz="1200" dirty="0" smtClean="0"/>
          </a:p>
          <a:p>
            <a:pPr marL="342900" indent="-342900">
              <a:buFont typeface="Arial" panose="020B0604020202020204" pitchFamily="34" charset="0"/>
              <a:buChar char="•"/>
            </a:pPr>
            <a:r>
              <a:rPr lang="zh-CN" altLang="en-US" sz="1200" dirty="0" smtClean="0"/>
              <a:t>如假定上部为均布的</a:t>
            </a:r>
            <a:r>
              <a:rPr lang="zh-CN" altLang="en-US" sz="1200" b="1" dirty="0" smtClean="0">
                <a:effectLst>
                  <a:outerShdw blurRad="38100" dist="38100" dir="2700000" algn="tl">
                    <a:srgbClr val="000000">
                      <a:alpha val="43137"/>
                    </a:srgbClr>
                  </a:outerShdw>
                </a:effectLst>
              </a:rPr>
              <a:t>柔性荷载</a:t>
            </a:r>
            <a:r>
              <a:rPr lang="zh-CN" altLang="en-US" sz="1200" dirty="0" smtClean="0"/>
              <a:t>，两侧埋深上的土重亦按</a:t>
            </a:r>
            <a:r>
              <a:rPr lang="zh-CN" altLang="en-US" sz="1200" b="1" dirty="0" smtClean="0">
                <a:effectLst>
                  <a:outerShdw blurRad="38100" dist="38100" dir="2700000" algn="tl">
                    <a:srgbClr val="000000">
                      <a:alpha val="43137"/>
                    </a:srgbClr>
                  </a:outerShdw>
                </a:effectLst>
              </a:rPr>
              <a:t>均布荷载</a:t>
            </a:r>
            <a:r>
              <a:rPr lang="zh-CN" altLang="en-US" sz="1200" dirty="0" smtClean="0"/>
              <a:t>考虑，根据</a:t>
            </a:r>
            <a:r>
              <a:rPr lang="zh-CN" altLang="en-US" sz="1200" b="1" dirty="0" smtClean="0">
                <a:effectLst>
                  <a:outerShdw blurRad="38100" dist="38100" dir="2700000" algn="tl">
                    <a:srgbClr val="000000">
                      <a:alpha val="43137"/>
                    </a:srgbClr>
                  </a:outerShdw>
                </a:effectLst>
              </a:rPr>
              <a:t>弹性理论</a:t>
            </a:r>
            <a:r>
              <a:rPr lang="zh-CN" altLang="en-US" sz="1200" dirty="0" smtClean="0"/>
              <a:t>中的平面问题计算地集中的附加应力，并按库伦破坏条件，验算各点的剪应力。当等于或大于抗剪强度时，则该点位于塑性区内，如此即可求出对应于塑性区开展到基础底面两侧边缘下相当于基础底面宽度四分之一的深度时，相应的临界承载力 。</a:t>
            </a:r>
          </a:p>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11</a:t>
            </a:fld>
            <a:endParaRPr lang="zh-CN" altLang="en-US" dirty="0"/>
          </a:p>
        </p:txBody>
      </p:sp>
    </p:spTree>
    <p:extLst>
      <p:ext uri="{BB962C8B-B14F-4D97-AF65-F5344CB8AC3E}">
        <p14:creationId xmlns:p14="http://schemas.microsoft.com/office/powerpoint/2010/main" val="2788500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t>规范公式注意</a:t>
            </a:r>
          </a:p>
          <a:p>
            <a:r>
              <a:rPr lang="zh-CN" altLang="zh-CN" sz="1200" dirty="0" smtClean="0"/>
              <a:t>由于比较是在取宽度</a:t>
            </a:r>
            <a:r>
              <a:rPr lang="en-US" altLang="zh-CN" sz="1200" dirty="0" smtClean="0"/>
              <a:t>b=3m</a:t>
            </a:r>
            <a:r>
              <a:rPr lang="zh-CN" altLang="zh-CN" sz="1200" dirty="0" smtClean="0"/>
              <a:t>的条件下进行的，故规定对于砂土，小于</a:t>
            </a:r>
            <a:r>
              <a:rPr lang="en-US" altLang="zh-CN" sz="1200" dirty="0" smtClean="0"/>
              <a:t>3m</a:t>
            </a:r>
            <a:r>
              <a:rPr lang="zh-CN" altLang="zh-CN" sz="1200" dirty="0" smtClean="0"/>
              <a:t>时按</a:t>
            </a:r>
            <a:r>
              <a:rPr lang="en-US" altLang="zh-CN" sz="1200" dirty="0" smtClean="0"/>
              <a:t>3m</a:t>
            </a:r>
            <a:r>
              <a:rPr lang="zh-CN" altLang="zh-CN" sz="1200" dirty="0" smtClean="0"/>
              <a:t>取值。另一方面，当基础宽度增大时，公示的计算值增大很快，对此宜慎重选用，而基础宽度增大，也必须导致沉降量和差异沉降量增大，对上层结构带来不利的影响，为此，有规定了当基础底面宽度大于</a:t>
            </a:r>
            <a:r>
              <a:rPr lang="en-US" altLang="zh-CN" sz="1200" dirty="0" smtClean="0"/>
              <a:t>6m</a:t>
            </a:r>
            <a:r>
              <a:rPr lang="zh-CN" altLang="zh-CN" sz="1200" dirty="0" smtClean="0"/>
              <a:t>时，按</a:t>
            </a:r>
            <a:r>
              <a:rPr lang="en-US" altLang="zh-CN" sz="1200" dirty="0" smtClean="0"/>
              <a:t>6m</a:t>
            </a:r>
            <a:r>
              <a:rPr lang="zh-CN" altLang="zh-CN" sz="1200" dirty="0" smtClean="0"/>
              <a:t>取值。</a:t>
            </a:r>
          </a:p>
          <a:p>
            <a:r>
              <a:rPr lang="zh-CN" altLang="zh-CN" sz="1200" dirty="0" smtClean="0"/>
              <a:t>由于该公式是在条形基础、均布荷载、均质土的条件下推导出的，当受到较大的水平荷载而使合理的偏心距过大时，地基反力分布将很不均匀。根据本规范规定，在偏心荷载下允许基础底面边缘的最大应力</a:t>
            </a:r>
            <a:r>
              <a:rPr lang="en-US" altLang="zh-CN" sz="1200" dirty="0" smtClean="0"/>
              <a:t> </a:t>
            </a:r>
            <a:r>
              <a:rPr lang="zh-CN" altLang="zh-CN" sz="1200" dirty="0" smtClean="0"/>
              <a:t>为平均压力值</a:t>
            </a:r>
            <a:r>
              <a:rPr lang="en-US" altLang="zh-CN" sz="1200" dirty="0" smtClean="0"/>
              <a:t> </a:t>
            </a:r>
            <a:r>
              <a:rPr lang="zh-CN" altLang="zh-CN" sz="1200" dirty="0" smtClean="0"/>
              <a:t>的</a:t>
            </a:r>
            <a:r>
              <a:rPr lang="en-US" altLang="zh-CN" sz="1200" dirty="0" smtClean="0"/>
              <a:t>1.2</a:t>
            </a:r>
            <a:r>
              <a:rPr lang="zh-CN" altLang="zh-CN" sz="1200" dirty="0" smtClean="0"/>
              <a:t>倍，对该公示的应用，相应增加了一个限制条件为：荷载合力的偏心距</a:t>
            </a:r>
            <a:r>
              <a:rPr lang="en-US" altLang="zh-CN" sz="1200" dirty="0" smtClean="0"/>
              <a:t>e</a:t>
            </a:r>
            <a:r>
              <a:rPr lang="zh-CN" altLang="zh-CN" sz="1200" dirty="0" smtClean="0"/>
              <a:t>应小于或等于</a:t>
            </a:r>
            <a:r>
              <a:rPr lang="en-US" altLang="zh-CN" sz="1200" dirty="0" smtClean="0"/>
              <a:t>0.033</a:t>
            </a:r>
            <a:r>
              <a:rPr lang="zh-CN" altLang="zh-CN" sz="1200" dirty="0" smtClean="0"/>
              <a:t>倍基础底面宽度的要求。</a:t>
            </a:r>
          </a:p>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17</a:t>
            </a:fld>
            <a:endParaRPr lang="zh-CN" altLang="en-US" dirty="0"/>
          </a:p>
        </p:txBody>
      </p:sp>
    </p:spTree>
    <p:extLst>
      <p:ext uri="{BB962C8B-B14F-4D97-AF65-F5344CB8AC3E}">
        <p14:creationId xmlns:p14="http://schemas.microsoft.com/office/powerpoint/2010/main" val="1555102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楷体" panose="02010609060101010101" pitchFamily="49" charset="-122"/>
                <a:ea typeface="楷体" panose="02010609060101010101" pitchFamily="49" charset="-122"/>
              </a:rPr>
              <a:t>因之，地下水位上升将试图的承载力大为降低，因此，在计算确定承载力时，必须充分估计地下水位变化的可能与趋势。</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latin typeface="楷体" panose="02010609060101010101" pitchFamily="49" charset="-122"/>
              <a:ea typeface="楷体" panose="02010609060101010101" pitchFamily="49"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楷体" panose="02010609060101010101" pitchFamily="49" charset="-122"/>
                <a:ea typeface="楷体" panose="02010609060101010101" pitchFamily="49" charset="-122"/>
              </a:rPr>
              <a:t>（</a:t>
            </a:r>
            <a:r>
              <a:rPr lang="zh-CN" altLang="zh-CN" dirty="0" smtClean="0">
                <a:latin typeface="楷体" panose="02010609060101010101" pitchFamily="49" charset="-122"/>
                <a:ea typeface="楷体" panose="02010609060101010101" pitchFamily="49" charset="-122"/>
              </a:rPr>
              <a:t>但研究指出在一定值时，承载力系数随基础尺寸的增大而减小，因之</a:t>
            </a:r>
            <a:r>
              <a:rPr lang="zh-CN" altLang="en-US" dirty="0" smtClean="0">
                <a:latin typeface="楷体" panose="02010609060101010101" pitchFamily="49" charset="-122"/>
                <a:ea typeface="楷体" panose="02010609060101010101" pitchFamily="49" charset="-122"/>
              </a:rPr>
              <a:t>，</a:t>
            </a:r>
            <a:r>
              <a:rPr lang="zh-CN" altLang="zh-CN" dirty="0" smtClean="0">
                <a:latin typeface="楷体" panose="02010609060101010101" pitchFamily="49" charset="-122"/>
                <a:ea typeface="楷体" panose="02010609060101010101" pitchFamily="49" charset="-122"/>
              </a:rPr>
              <a:t>在现有的规范公示中，对于宽度的考虑，往往加以限制，甚至不考虑这一项，或者采用较低的值。</a:t>
            </a:r>
            <a:r>
              <a:rPr lang="zh-CN" altLang="en-US" dirty="0" smtClean="0">
                <a:latin typeface="楷体" panose="02010609060101010101" pitchFamily="49" charset="-122"/>
                <a:ea typeface="楷体" panose="02010609060101010101" pitchFamily="49" charset="-122"/>
              </a:rPr>
              <a:t>）</a:t>
            </a:r>
            <a:endParaRPr lang="zh-CN" altLang="zh-CN" dirty="0" smtClean="0">
              <a:latin typeface="楷体" panose="02010609060101010101" pitchFamily="49" charset="-122"/>
              <a:ea typeface="楷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18</a:t>
            </a:fld>
            <a:endParaRPr lang="zh-CN" altLang="en-US" dirty="0"/>
          </a:p>
        </p:txBody>
      </p:sp>
    </p:spTree>
    <p:extLst>
      <p:ext uri="{BB962C8B-B14F-4D97-AF65-F5344CB8AC3E}">
        <p14:creationId xmlns:p14="http://schemas.microsoft.com/office/powerpoint/2010/main" val="1016706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要拍视频吧？</a:t>
            </a:r>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19</a:t>
            </a:fld>
            <a:endParaRPr lang="zh-CN" altLang="en-US" dirty="0"/>
          </a:p>
        </p:txBody>
      </p:sp>
    </p:spTree>
    <p:extLst>
      <p:ext uri="{BB962C8B-B14F-4D97-AF65-F5344CB8AC3E}">
        <p14:creationId xmlns:p14="http://schemas.microsoft.com/office/powerpoint/2010/main" val="4223441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lvl="0"/>
                <a:r>
                  <a:rPr lang="zh-CN" altLang="zh-CN" b="1" dirty="0" smtClean="0"/>
                  <a:t>适用范围：</a:t>
                </a:r>
                <a:r>
                  <a:rPr lang="zh-CN" altLang="zh-CN" dirty="0"/>
                  <a:t>地表浅层地基，特别适用于各种填土、含碎石的土类</a:t>
                </a:r>
              </a:p>
              <a:p>
                <a:pPr lvl="0"/>
                <a:r>
                  <a:rPr lang="zh-CN" altLang="zh-CN" b="1" dirty="0"/>
                  <a:t>注意事项：</a:t>
                </a:r>
                <a:endParaRPr lang="zh-CN" altLang="zh-CN" dirty="0"/>
              </a:p>
              <a:p>
                <a:pPr lvl="0"/>
                <a:r>
                  <a:rPr lang="zh-CN" altLang="zh-CN" dirty="0"/>
                  <a:t>应该保持试验土层的原状结构和天然湿度，宜在拟试压表面用粗砂或中砂找平，厚度不超过</a:t>
                </a:r>
                <a:r>
                  <a:rPr lang="en-US" altLang="zh-CN" dirty="0"/>
                  <a:t>20mm</a:t>
                </a:r>
                <a:endParaRPr lang="zh-CN" altLang="zh-CN" dirty="0"/>
              </a:p>
              <a:p>
                <a:pPr lvl="0"/>
                <a:r>
                  <a:rPr lang="zh-CN" altLang="zh-CN" dirty="0"/>
                  <a:t>承压板面积不应小于</a:t>
                </a:r>
                <a:r>
                  <a:rPr lang="en-US" altLang="zh-CN" dirty="0"/>
                  <a:t>0.25</a:t>
                </a:r>
                <a14:m>
                  <m:oMath xmlns:m="http://schemas.openxmlformats.org/officeDocument/2006/math">
                    <m:sSup>
                      <m:sSupPr>
                        <m:ctrlPr>
                          <a:rPr lang="zh-CN" altLang="zh-CN" i="1">
                            <a:latin typeface="Cambria Math"/>
                          </a:rPr>
                        </m:ctrlPr>
                      </m:sSupPr>
                      <m:e>
                        <m:r>
                          <a:rPr lang="en-US" altLang="zh-CN" i="1">
                            <a:latin typeface="Cambria Math" panose="02040503050406030204" pitchFamily="18" charset="0"/>
                          </a:rPr>
                          <m:t>𝑚</m:t>
                        </m:r>
                      </m:e>
                      <m:sup>
                        <m:r>
                          <a:rPr lang="en-US" altLang="zh-CN" i="1">
                            <a:latin typeface="Cambria Math" panose="02040503050406030204" pitchFamily="18" charset="0"/>
                          </a:rPr>
                          <m:t>2</m:t>
                        </m:r>
                      </m:sup>
                    </m:sSup>
                  </m:oMath>
                </a14:m>
                <a:r>
                  <a:rPr lang="zh-CN" altLang="zh-CN" dirty="0"/>
                  <a:t>，对于软土不应小于</a:t>
                </a:r>
                <a:r>
                  <a:rPr lang="en-US" altLang="zh-CN" dirty="0"/>
                  <a:t>0.5</a:t>
                </a:r>
                <a14:m>
                  <m:oMath xmlns:m="http://schemas.openxmlformats.org/officeDocument/2006/math">
                    <m:sSup>
                      <m:sSupPr>
                        <m:ctrlPr>
                          <a:rPr lang="zh-CN" altLang="zh-CN" i="1">
                            <a:latin typeface="Cambria Math"/>
                          </a:rPr>
                        </m:ctrlPr>
                      </m:sSupPr>
                      <m:e>
                        <m:r>
                          <a:rPr lang="en-US" altLang="zh-CN" i="1">
                            <a:latin typeface="Cambria Math" panose="02040503050406030204" pitchFamily="18" charset="0"/>
                          </a:rPr>
                          <m:t>𝑚</m:t>
                        </m:r>
                      </m:e>
                      <m:sup>
                        <m:r>
                          <a:rPr lang="en-US" altLang="zh-CN" i="1">
                            <a:latin typeface="Cambria Math" panose="02040503050406030204" pitchFamily="18" charset="0"/>
                          </a:rPr>
                          <m:t>2</m:t>
                        </m:r>
                      </m:sup>
                    </m:sSup>
                  </m:oMath>
                </a14:m>
                <a:endParaRPr lang="zh-CN" altLang="zh-CN" dirty="0"/>
              </a:p>
              <a:p>
                <a:pPr lvl="0"/>
                <a:r>
                  <a:rPr lang="zh-CN" altLang="zh-CN" dirty="0"/>
                  <a:t>实验基坑宽度不应小于承压板宽度或直径的三倍。</a:t>
                </a:r>
              </a:p>
              <a:p>
                <a:pPr lvl="0"/>
                <a:r>
                  <a:rPr lang="zh-CN" altLang="zh-CN" dirty="0"/>
                  <a:t>每级加载后，按间隔</a:t>
                </a:r>
                <a:r>
                  <a:rPr lang="en-US" altLang="zh-CN" dirty="0"/>
                  <a:t>10min</a:t>
                </a:r>
                <a:r>
                  <a:rPr lang="zh-CN" altLang="zh-CN" dirty="0"/>
                  <a:t>、</a:t>
                </a:r>
                <a:r>
                  <a:rPr lang="en-US" altLang="zh-CN" dirty="0"/>
                  <a:t>10min</a:t>
                </a:r>
                <a:r>
                  <a:rPr lang="zh-CN" altLang="zh-CN" dirty="0"/>
                  <a:t>、</a:t>
                </a:r>
                <a:r>
                  <a:rPr lang="en-US" altLang="zh-CN" dirty="0"/>
                  <a:t>10min</a:t>
                </a:r>
                <a:r>
                  <a:rPr lang="zh-CN" altLang="zh-CN" dirty="0"/>
                  <a:t>、</a:t>
                </a:r>
                <a:r>
                  <a:rPr lang="en-US" altLang="zh-CN" dirty="0"/>
                  <a:t>15min</a:t>
                </a:r>
                <a:r>
                  <a:rPr lang="zh-CN" altLang="zh-CN" dirty="0"/>
                  <a:t>、</a:t>
                </a:r>
                <a:r>
                  <a:rPr lang="en-US" altLang="zh-CN" dirty="0"/>
                  <a:t>15min</a:t>
                </a:r>
                <a:r>
                  <a:rPr lang="zh-CN" altLang="zh-CN" dirty="0"/>
                  <a:t>，以后每隔半小时测度一次沉降量，当连续两小时内，每小时的沉降量小于</a:t>
                </a:r>
                <a:r>
                  <a:rPr lang="en-US" altLang="zh-CN" dirty="0"/>
                  <a:t>0.1mm</a:t>
                </a:r>
                <a:r>
                  <a:rPr lang="zh-CN" altLang="zh-CN" dirty="0"/>
                  <a:t>时，可加下一级荷载</a:t>
                </a:r>
                <a:r>
                  <a:rPr lang="zh-CN" altLang="zh-CN" dirty="0" smtClean="0"/>
                  <a:t>。</a:t>
                </a:r>
                <a:endParaRPr lang="en-US" altLang="zh-CN" dirty="0" smtClean="0"/>
              </a:p>
              <a:p>
                <a:pPr lvl="0"/>
                <a:r>
                  <a:rPr lang="zh-CN" altLang="zh-CN" dirty="0" smtClean="0"/>
                  <a:t>同</a:t>
                </a:r>
                <a:r>
                  <a:rPr lang="zh-CN" altLang="zh-CN" dirty="0"/>
                  <a:t>一个土层至少做</a:t>
                </a:r>
                <a:r>
                  <a:rPr lang="en-US" altLang="zh-CN" dirty="0"/>
                  <a:t>3</a:t>
                </a:r>
                <a:r>
                  <a:rPr lang="zh-CN" altLang="zh-CN" dirty="0"/>
                  <a:t>个以上的现场荷载试验。当试验实测值的极差不超过平均值的</a:t>
                </a:r>
                <a:r>
                  <a:rPr lang="en-US" altLang="zh-CN" dirty="0"/>
                  <a:t>30%</a:t>
                </a:r>
                <a:r>
                  <a:rPr lang="zh-CN" altLang="zh-CN" dirty="0"/>
                  <a:t>时，取平均值作为承载力的特征值</a:t>
                </a:r>
                <a14:m>
                  <m:oMath xmlns:m="http://schemas.openxmlformats.org/officeDocument/2006/math">
                    <m:sSub>
                      <m:sSubPr>
                        <m:ctrlPr>
                          <a:rPr lang="zh-CN" altLang="zh-CN" i="1">
                            <a:latin typeface="Cambria Math"/>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𝑎𝑘</m:t>
                        </m:r>
                      </m:sub>
                    </m:sSub>
                  </m:oMath>
                </a14:m>
                <a:endParaRPr lang="zh-CN" altLang="zh-CN" dirty="0"/>
              </a:p>
              <a:p>
                <a:endParaRPr lang="zh-CN" altLang="en-US" dirty="0"/>
              </a:p>
              <a:p>
                <a:endParaRPr lang="zh-CN" altLang="en-US" dirty="0"/>
              </a:p>
            </p:txBody>
          </p:sp>
        </mc:Choice>
        <mc:Fallback xmlns="">
          <p:sp>
            <p:nvSpPr>
              <p:cNvPr id="3" name="备注占位符 2"/>
              <p:cNvSpPr>
                <a:spLocks noGrp="1"/>
              </p:cNvSpPr>
              <p:nvPr>
                <p:ph type="body" idx="1"/>
              </p:nvPr>
            </p:nvSpPr>
            <p:spPr/>
            <p:txBody>
              <a:bodyPr/>
              <a:lstStyle/>
              <a:p>
                <a:pPr lvl="0"/>
                <a:r>
                  <a:rPr lang="zh-CN" altLang="zh-CN" b="1" dirty="0" smtClean="0"/>
                  <a:t>适用范围：</a:t>
                </a:r>
                <a:r>
                  <a:rPr lang="zh-CN" altLang="zh-CN" dirty="0"/>
                  <a:t>地表浅层地基，特别适用于各种填土、含碎石的土类</a:t>
                </a:r>
              </a:p>
              <a:p>
                <a:pPr lvl="0"/>
                <a:r>
                  <a:rPr lang="zh-CN" altLang="zh-CN" b="1" dirty="0"/>
                  <a:t>注意事项：</a:t>
                </a:r>
                <a:endParaRPr lang="zh-CN" altLang="zh-CN" dirty="0"/>
              </a:p>
              <a:p>
                <a:pPr lvl="0"/>
                <a:r>
                  <a:rPr lang="zh-CN" altLang="zh-CN" dirty="0"/>
                  <a:t>应该保持试验土层的原状结构和天然湿度，宜在拟试压表面用粗砂或中砂找平，厚度不超过</a:t>
                </a:r>
                <a:r>
                  <a:rPr lang="en-US" altLang="zh-CN" dirty="0"/>
                  <a:t>20mm</a:t>
                </a:r>
                <a:endParaRPr lang="zh-CN" altLang="zh-CN" dirty="0"/>
              </a:p>
              <a:p>
                <a:pPr lvl="0"/>
                <a:r>
                  <a:rPr lang="zh-CN" altLang="zh-CN" dirty="0"/>
                  <a:t>承压板面积不应小于</a:t>
                </a:r>
                <a:r>
                  <a:rPr lang="en-US" altLang="zh-CN" dirty="0"/>
                  <a:t>0.25</a:t>
                </a:r>
                <a:r>
                  <a:rPr lang="en-US" altLang="zh-CN" i="0">
                    <a:latin typeface="Cambria Math" panose="02040503050406030204" pitchFamily="18" charset="0"/>
                  </a:rPr>
                  <a:t>𝑚</a:t>
                </a:r>
                <a:r>
                  <a:rPr lang="zh-CN" altLang="zh-CN" i="0">
                    <a:latin typeface="Cambria Math"/>
                  </a:rPr>
                  <a:t>^</a:t>
                </a:r>
                <a:r>
                  <a:rPr lang="en-US" altLang="zh-CN" i="0">
                    <a:latin typeface="Cambria Math" panose="02040503050406030204" pitchFamily="18" charset="0"/>
                  </a:rPr>
                  <a:t>2</a:t>
                </a:r>
                <a:r>
                  <a:rPr lang="zh-CN" altLang="zh-CN" dirty="0"/>
                  <a:t>，对于软土不应小于</a:t>
                </a:r>
                <a:r>
                  <a:rPr lang="en-US" altLang="zh-CN" dirty="0"/>
                  <a:t>0.5</a:t>
                </a:r>
                <a:r>
                  <a:rPr lang="en-US" altLang="zh-CN" i="0">
                    <a:latin typeface="Cambria Math" panose="02040503050406030204" pitchFamily="18" charset="0"/>
                  </a:rPr>
                  <a:t>𝑚</a:t>
                </a:r>
                <a:r>
                  <a:rPr lang="zh-CN" altLang="zh-CN" i="0">
                    <a:latin typeface="Cambria Math"/>
                  </a:rPr>
                  <a:t>^</a:t>
                </a:r>
                <a:r>
                  <a:rPr lang="en-US" altLang="zh-CN" i="0">
                    <a:latin typeface="Cambria Math" panose="02040503050406030204" pitchFamily="18" charset="0"/>
                  </a:rPr>
                  <a:t>2</a:t>
                </a:r>
                <a:endParaRPr lang="zh-CN" altLang="zh-CN" dirty="0"/>
              </a:p>
              <a:p>
                <a:pPr lvl="0"/>
                <a:r>
                  <a:rPr lang="zh-CN" altLang="zh-CN" dirty="0"/>
                  <a:t>实验基坑宽度不应小于承压板宽度或直径的三倍。</a:t>
                </a:r>
              </a:p>
              <a:p>
                <a:pPr lvl="0"/>
                <a:r>
                  <a:rPr lang="zh-CN" altLang="zh-CN" dirty="0"/>
                  <a:t>每级加载后，按间隔</a:t>
                </a:r>
                <a:r>
                  <a:rPr lang="en-US" altLang="zh-CN" dirty="0"/>
                  <a:t>10min</a:t>
                </a:r>
                <a:r>
                  <a:rPr lang="zh-CN" altLang="zh-CN" dirty="0"/>
                  <a:t>、</a:t>
                </a:r>
                <a:r>
                  <a:rPr lang="en-US" altLang="zh-CN" dirty="0"/>
                  <a:t>10min</a:t>
                </a:r>
                <a:r>
                  <a:rPr lang="zh-CN" altLang="zh-CN" dirty="0"/>
                  <a:t>、</a:t>
                </a:r>
                <a:r>
                  <a:rPr lang="en-US" altLang="zh-CN" dirty="0"/>
                  <a:t>10min</a:t>
                </a:r>
                <a:r>
                  <a:rPr lang="zh-CN" altLang="zh-CN" dirty="0"/>
                  <a:t>、</a:t>
                </a:r>
                <a:r>
                  <a:rPr lang="en-US" altLang="zh-CN" dirty="0"/>
                  <a:t>15min</a:t>
                </a:r>
                <a:r>
                  <a:rPr lang="zh-CN" altLang="zh-CN" dirty="0"/>
                  <a:t>、</a:t>
                </a:r>
                <a:r>
                  <a:rPr lang="en-US" altLang="zh-CN" dirty="0"/>
                  <a:t>15min</a:t>
                </a:r>
                <a:r>
                  <a:rPr lang="zh-CN" altLang="zh-CN" dirty="0"/>
                  <a:t>，以后每隔半小时测度一次沉降量，当连续两小时内，每小时的沉降量小于</a:t>
                </a:r>
                <a:r>
                  <a:rPr lang="en-US" altLang="zh-CN" dirty="0"/>
                  <a:t>0.1mm</a:t>
                </a:r>
                <a:r>
                  <a:rPr lang="zh-CN" altLang="zh-CN" dirty="0"/>
                  <a:t>时，可加下一级荷载</a:t>
                </a:r>
                <a:r>
                  <a:rPr lang="zh-CN" altLang="zh-CN" dirty="0" smtClean="0"/>
                  <a:t>。</a:t>
                </a:r>
                <a:endParaRPr lang="en-US" altLang="zh-CN" dirty="0" smtClean="0"/>
              </a:p>
              <a:p>
                <a:pPr lvl="0"/>
                <a:r>
                  <a:rPr lang="zh-CN" altLang="zh-CN" dirty="0" smtClean="0"/>
                  <a:t>同</a:t>
                </a:r>
                <a:r>
                  <a:rPr lang="zh-CN" altLang="zh-CN" dirty="0"/>
                  <a:t>一个土层至少做</a:t>
                </a:r>
                <a:r>
                  <a:rPr lang="en-US" altLang="zh-CN" dirty="0"/>
                  <a:t>3</a:t>
                </a:r>
                <a:r>
                  <a:rPr lang="zh-CN" altLang="zh-CN" dirty="0"/>
                  <a:t>个以上的现场荷载试验。当试验实测值的极差不超过平均值的</a:t>
                </a:r>
                <a:r>
                  <a:rPr lang="en-US" altLang="zh-CN" dirty="0"/>
                  <a:t>30%</a:t>
                </a:r>
                <a:r>
                  <a:rPr lang="zh-CN" altLang="zh-CN" dirty="0"/>
                  <a:t>时，取平均值作为承载力的特征值</a:t>
                </a:r>
                <a:r>
                  <a:rPr lang="en-US" altLang="zh-CN" i="0">
                    <a:latin typeface="Cambria Math" panose="02040503050406030204" pitchFamily="18" charset="0"/>
                  </a:rPr>
                  <a:t>𝑓</a:t>
                </a:r>
                <a:r>
                  <a:rPr lang="zh-CN" altLang="zh-CN" i="0">
                    <a:latin typeface="Cambria Math"/>
                  </a:rPr>
                  <a:t>_</a:t>
                </a:r>
                <a:r>
                  <a:rPr lang="en-US" altLang="zh-CN" i="0">
                    <a:latin typeface="Cambria Math" panose="02040503050406030204" pitchFamily="18" charset="0"/>
                  </a:rPr>
                  <a:t>𝑎𝑘</a:t>
                </a:r>
                <a:endParaRPr lang="zh-CN" altLang="zh-CN" dirty="0"/>
              </a:p>
              <a:p>
                <a:endParaRPr lang="zh-CN" altLang="en-US" dirty="0"/>
              </a:p>
              <a:p>
                <a:endParaRPr lang="zh-CN" altLang="en-US" dirty="0"/>
              </a:p>
            </p:txBody>
          </p:sp>
        </mc:Fallback>
      </mc:AlternateContent>
      <p:sp>
        <p:nvSpPr>
          <p:cNvPr id="4" name="灯片编号占位符 3"/>
          <p:cNvSpPr>
            <a:spLocks noGrp="1"/>
          </p:cNvSpPr>
          <p:nvPr>
            <p:ph type="sldNum" sz="quarter" idx="10"/>
          </p:nvPr>
        </p:nvSpPr>
        <p:spPr/>
        <p:txBody>
          <a:bodyPr/>
          <a:lstStyle/>
          <a:p>
            <a:fld id="{E87DE834-36E7-4627-815F-CB35AFD15D6B}" type="slidenum">
              <a:rPr lang="zh-CN" altLang="en-US" smtClean="0"/>
              <a:t>24</a:t>
            </a:fld>
            <a:endParaRPr lang="zh-CN" altLang="en-US" dirty="0"/>
          </a:p>
        </p:txBody>
      </p:sp>
    </p:spTree>
    <p:extLst>
      <p:ext uri="{BB962C8B-B14F-4D97-AF65-F5344CB8AC3E}">
        <p14:creationId xmlns:p14="http://schemas.microsoft.com/office/powerpoint/2010/main" val="2946515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平板荷载试验的影响深度范围不超过两倍承压板宽度</a:t>
            </a:r>
            <a:r>
              <a:rPr lang="en-US" altLang="zh-CN" dirty="0" smtClean="0"/>
              <a:t>(</a:t>
            </a:r>
            <a:r>
              <a:rPr lang="zh-CN" altLang="en-US" dirty="0" smtClean="0"/>
              <a:t>或直径</a:t>
            </a:r>
            <a:r>
              <a:rPr lang="en-US" altLang="zh-CN" dirty="0" smtClean="0"/>
              <a:t>)</a:t>
            </a:r>
            <a:r>
              <a:rPr lang="zh-CN" altLang="en-US" dirty="0" smtClean="0"/>
              <a:t>，故只能了解地表浅层地基土的特性；承压板的尺寸比实际基础小，在刚性板边缘产生塑性区的开展，更易造成地基的破坏，使预估的承载力偏低。</a:t>
            </a:r>
          </a:p>
          <a:p>
            <a:endParaRPr lang="zh-CN" altLang="en-US" dirty="0" smtClean="0"/>
          </a:p>
          <a:p>
            <a:r>
              <a:rPr lang="zh-CN" altLang="en-US" dirty="0" smtClean="0"/>
              <a:t>荷载平板试验是在地表进行的，没有埋置深度所存在的超载，也会降低承载力；</a:t>
            </a:r>
          </a:p>
          <a:p>
            <a:endParaRPr lang="zh-CN" altLang="en-US" dirty="0" smtClean="0"/>
          </a:p>
          <a:p>
            <a:r>
              <a:rPr lang="zh-CN" altLang="en-US" dirty="0" smtClean="0"/>
              <a:t>应用时应考虑荷载试验的加载速率较实际工程快得多，对透水性较差的软粘土，其变形状况与实际有较大的差异，由此确定的参数也有很大的差异； </a:t>
            </a:r>
          </a:p>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25</a:t>
            </a:fld>
            <a:endParaRPr lang="zh-CN" altLang="en-US" dirty="0"/>
          </a:p>
        </p:txBody>
      </p:sp>
    </p:spTree>
    <p:extLst>
      <p:ext uri="{BB962C8B-B14F-4D97-AF65-F5344CB8AC3E}">
        <p14:creationId xmlns:p14="http://schemas.microsoft.com/office/powerpoint/2010/main" val="176216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60000"/>
              </a:lnSpc>
              <a:buNone/>
            </a:pPr>
            <a:r>
              <a:rPr lang="zh-CN" altLang="zh-CN" sz="1100" b="1" dirty="0" smtClean="0"/>
              <a:t>适用范围：</a:t>
            </a:r>
            <a:r>
              <a:rPr lang="zh-CN" altLang="zh-CN" dirty="0" smtClean="0"/>
              <a:t>旁压试验适用于粘性土、粉士、砂土、碎石土、残积土、极软岩和软岩等。</a:t>
            </a:r>
          </a:p>
          <a:p>
            <a:pPr marL="0" indent="0">
              <a:lnSpc>
                <a:spcPct val="160000"/>
              </a:lnSpc>
              <a:buNone/>
            </a:pPr>
            <a:r>
              <a:rPr lang="zh-CN" altLang="zh-CN" sz="1100" b="1" dirty="0" smtClean="0"/>
              <a:t>局限性：</a:t>
            </a:r>
            <a:r>
              <a:rPr lang="zh-CN" altLang="zh-CN" dirty="0" smtClean="0"/>
              <a:t>在钻孔过程中，不但使孔壁土体受扰动，同时也改变了孔壁土体的应力状态，这些都会使得实验结果失真，特别是在软土中。</a:t>
            </a:r>
          </a:p>
          <a:p>
            <a:pPr marL="0" indent="0">
              <a:lnSpc>
                <a:spcPct val="160000"/>
              </a:lnSpc>
              <a:buNone/>
            </a:pPr>
            <a:r>
              <a:rPr lang="zh-CN" altLang="zh-CN" sz="1100" b="1" dirty="0" smtClean="0"/>
              <a:t>注意事项：</a:t>
            </a:r>
            <a:endParaRPr lang="zh-CN" altLang="zh-CN" sz="1100" dirty="0" smtClean="0"/>
          </a:p>
          <a:p>
            <a:pPr lvl="0">
              <a:lnSpc>
                <a:spcPct val="160000"/>
              </a:lnSpc>
            </a:pPr>
            <a:r>
              <a:rPr lang="zh-CN" altLang="zh-CN" dirty="0" smtClean="0"/>
              <a:t>钻孔结束后，应将旁压器尽快放入孔中预定深度；</a:t>
            </a:r>
          </a:p>
          <a:p>
            <a:pPr lvl="0">
              <a:lnSpc>
                <a:spcPct val="160000"/>
              </a:lnSpc>
            </a:pPr>
            <a:r>
              <a:rPr lang="zh-CN" altLang="zh-CN" dirty="0" smtClean="0"/>
              <a:t>必须保证旁压器三腔都位于同一土层中，不应该放置在强度差异较大的土层中</a:t>
            </a:r>
          </a:p>
          <a:p>
            <a:pPr lvl="0">
              <a:lnSpc>
                <a:spcPct val="160000"/>
              </a:lnSpc>
            </a:pPr>
            <a:r>
              <a:rPr lang="zh-CN" altLang="zh-CN" dirty="0" smtClean="0"/>
              <a:t>注水时，测管的水位绝对不能超过最高刻度线</a:t>
            </a:r>
          </a:p>
          <a:p>
            <a:pPr lvl="0">
              <a:lnSpc>
                <a:spcPct val="160000"/>
              </a:lnSpc>
            </a:pPr>
            <a:r>
              <a:rPr lang="zh-CN" altLang="zh-CN" dirty="0" smtClean="0"/>
              <a:t>若旁压仪长时间不用，应排尽水箱、管路系统和旁压器的水</a:t>
            </a:r>
          </a:p>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29</a:t>
            </a:fld>
            <a:endParaRPr lang="zh-CN" altLang="en-US" dirty="0"/>
          </a:p>
        </p:txBody>
      </p:sp>
    </p:spTree>
    <p:extLst>
      <p:ext uri="{BB962C8B-B14F-4D97-AF65-F5344CB8AC3E}">
        <p14:creationId xmlns:p14="http://schemas.microsoft.com/office/powerpoint/2010/main" val="632071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smtClean="0"/>
              <a:t> </a:t>
            </a:r>
            <a:r>
              <a:rPr lang="zh-CN" altLang="zh-CN" sz="1200" dirty="0" smtClean="0"/>
              <a:t>早在</a:t>
            </a:r>
            <a:r>
              <a:rPr lang="en-US" altLang="zh-CN" sz="1200" dirty="0" smtClean="0"/>
              <a:t>1924</a:t>
            </a:r>
            <a:r>
              <a:rPr lang="zh-CN" altLang="zh-CN" sz="1200" dirty="0" smtClean="0"/>
              <a:t>年，瑞斯诺（</a:t>
            </a:r>
            <a:r>
              <a:rPr lang="en-US" altLang="zh-CN" sz="1200" dirty="0" smtClean="0"/>
              <a:t>H. </a:t>
            </a:r>
            <a:r>
              <a:rPr lang="en-US" altLang="zh-CN" sz="1200" dirty="0" err="1" smtClean="0"/>
              <a:t>Reissner</a:t>
            </a:r>
            <a:r>
              <a:rPr lang="zh-CN" altLang="zh-CN" sz="1200" dirty="0" smtClean="0"/>
              <a:t>）就已经在普朗特尔（</a:t>
            </a:r>
            <a:r>
              <a:rPr lang="en-US" altLang="zh-CN" sz="1200" dirty="0" smtClean="0"/>
              <a:t>L. </a:t>
            </a:r>
            <a:r>
              <a:rPr lang="en-US" altLang="zh-CN" sz="1200" dirty="0" err="1" smtClean="0"/>
              <a:t>Prandtl</a:t>
            </a:r>
            <a:r>
              <a:rPr lang="zh-CN" altLang="zh-CN" sz="1200" dirty="0" smtClean="0"/>
              <a:t>）的研究基础上，将</a:t>
            </a:r>
            <a:endParaRPr lang="en-US" altLang="zh-CN" sz="1200" dirty="0" smtClean="0"/>
          </a:p>
          <a:p>
            <a:r>
              <a:rPr lang="zh-CN" altLang="zh-CN" sz="1200" dirty="0" smtClean="0"/>
              <a:t>基础埋深范围内的土重作为周边超载（计算图如下），进行地基承载力的理论推导，反映</a:t>
            </a:r>
            <a:endParaRPr lang="en-US" altLang="zh-CN" sz="1200" dirty="0" smtClean="0"/>
          </a:p>
          <a:p>
            <a:r>
              <a:rPr lang="zh-CN" altLang="zh-CN" sz="1200" dirty="0" smtClean="0"/>
              <a:t>出基础埋深对地基承载力的影响</a:t>
            </a:r>
            <a:r>
              <a:rPr lang="zh-CN" altLang="en-US" sz="1200" dirty="0" smtClean="0"/>
              <a:t>。</a:t>
            </a:r>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30</a:t>
            </a:fld>
            <a:endParaRPr lang="zh-CN" altLang="en-US" dirty="0"/>
          </a:p>
        </p:txBody>
      </p:sp>
    </p:spTree>
    <p:extLst>
      <p:ext uri="{BB962C8B-B14F-4D97-AF65-F5344CB8AC3E}">
        <p14:creationId xmlns:p14="http://schemas.microsoft.com/office/powerpoint/2010/main" val="3603078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37</a:t>
            </a:fld>
            <a:endParaRPr lang="zh-CN" altLang="en-US" dirty="0"/>
          </a:p>
        </p:txBody>
      </p:sp>
    </p:spTree>
    <p:extLst>
      <p:ext uri="{BB962C8B-B14F-4D97-AF65-F5344CB8AC3E}">
        <p14:creationId xmlns:p14="http://schemas.microsoft.com/office/powerpoint/2010/main" val="81542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kern="50" dirty="0" smtClean="0">
                <a:latin typeface="Liberation Serif"/>
                <a:cs typeface="Lohit Hindi"/>
              </a:rPr>
              <a:t>采用几种方法确定的地基承载力，得到的数值必然有所出入</a:t>
            </a:r>
            <a:endParaRPr lang="en-US" altLang="zh-CN" kern="50" dirty="0" smtClean="0">
              <a:latin typeface="Liberation Serif"/>
              <a:cs typeface="Lohit Hindi"/>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kern="50" dirty="0" smtClean="0">
                <a:latin typeface="Liberation Serif"/>
                <a:cs typeface="Lohit Hindi"/>
              </a:rPr>
              <a:t>这就是需要工程负责人根据自己的经验判断，从建筑物的重要性，使用时有无特殊要求，场地土质是否均匀，地下水位有无可能升降，集中测定方法的实验条件与可靠程度，邻近相似建筑物的承载力取值与其后的工作情况等等综合分析加以确定。</a:t>
            </a:r>
            <a:endParaRPr lang="en-US" altLang="zh-CN" kern="50" dirty="0" smtClean="0">
              <a:latin typeface="Liberation Serif"/>
              <a:cs typeface="Lohit Hindi"/>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kern="50" dirty="0" smtClean="0">
                <a:latin typeface="Liberation Serif"/>
                <a:cs typeface="Lohit Hindi"/>
              </a:rPr>
              <a:t>在软弱地基上更要考虑不均匀沉降存在的可能性和对建筑物所能造成的影响程度，适当控制承载力取值。</a:t>
            </a:r>
            <a:endParaRPr lang="en-US" altLang="zh-CN" kern="50" dirty="0" smtClean="0">
              <a:latin typeface="Liberation Serif"/>
              <a:cs typeface="Lohit Hindi"/>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kern="50" dirty="0" smtClean="0">
                <a:latin typeface="Liberation Serif"/>
                <a:cs typeface="Lohit Hindi"/>
              </a:rPr>
              <a:t>我国对于地基承载里的取值，是采用允许承载力概念，收到了安全经济的效果。</a:t>
            </a:r>
            <a:endParaRPr lang="en-US" altLang="zh-CN" kern="50" dirty="0" smtClean="0">
              <a:latin typeface="Liberation Serif"/>
              <a:cs typeface="Lohit Hindi"/>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kern="50" dirty="0" smtClean="0">
                <a:latin typeface="Liberation Serif"/>
                <a:cs typeface="Lohit Hindi"/>
              </a:rPr>
              <a:t>当天然地基承载力较弱，不足以满足设计需要时，就可以考虑采用各种地基处理措施，主要的问题在于既要安全又要经济。地基承载力并不是一成不变的，主要在于坚持因地制宜的原则，尊重规范但是又不被规范束缚，再综合考虑结构类型、材料情况、施工条件等因素的基础上，在保证地基稳定安全的前提下，才能够采取经济合理切实可行的措施以达到工程建设的目的。</a:t>
            </a:r>
            <a:endParaRPr lang="zh-CN" altLang="zh-CN" sz="1600" kern="50" dirty="0" smtClean="0">
              <a:effectLst/>
              <a:latin typeface="Liberation Serif"/>
              <a:ea typeface="DejaVu Sans"/>
              <a:cs typeface="Lohit Hindi"/>
            </a:endParaRPr>
          </a:p>
          <a:p>
            <a:endParaRPr lang="zh-CN" altLang="en-US" dirty="0"/>
          </a:p>
        </p:txBody>
      </p:sp>
      <p:sp>
        <p:nvSpPr>
          <p:cNvPr id="4" name="灯片编号占位符 3"/>
          <p:cNvSpPr>
            <a:spLocks noGrp="1"/>
          </p:cNvSpPr>
          <p:nvPr>
            <p:ph type="sldNum" sz="quarter" idx="10"/>
          </p:nvPr>
        </p:nvSpPr>
        <p:spPr/>
        <p:txBody>
          <a:bodyPr/>
          <a:lstStyle/>
          <a:p>
            <a:fld id="{E87DE834-36E7-4627-815F-CB35AFD15D6B}" type="slidenum">
              <a:rPr lang="zh-CN" altLang="en-US" smtClean="0"/>
              <a:t>38</a:t>
            </a:fld>
            <a:endParaRPr lang="zh-CN" altLang="en-US" dirty="0"/>
          </a:p>
        </p:txBody>
      </p:sp>
    </p:spTree>
    <p:extLst>
      <p:ext uri="{BB962C8B-B14F-4D97-AF65-F5344CB8AC3E}">
        <p14:creationId xmlns:p14="http://schemas.microsoft.com/office/powerpoint/2010/main" val="23147992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919"/>
            <a:ext cx="7772400" cy="1470365"/>
          </a:xfrm>
        </p:spPr>
        <p:txBody>
          <a:bodyPr/>
          <a:lstStyle>
            <a:lvl1pPr>
              <a:defRPr>
                <a:ea typeface="微软雅黑" pitchFamily="34"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887100"/>
            <a:ext cx="6400800" cy="1753006"/>
          </a:xfrm>
        </p:spPr>
        <p:txBody>
          <a:bodyPr/>
          <a:lstStyle>
            <a:lvl1pPr marL="0" indent="0" algn="ctr">
              <a:buNone/>
              <a:defRPr>
                <a:solidFill>
                  <a:schemeClr val="tx1">
                    <a:tint val="75000"/>
                  </a:schemeClr>
                </a:solidFill>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p:txBody>
          <a:bodyPr/>
          <a:lstStyle>
            <a:lvl1pPr>
              <a:defRPr>
                <a:ea typeface="微软雅黑" pitchFamily="34" charset="-122"/>
              </a:defRPr>
            </a:lvl1pPr>
          </a:lstStyle>
          <a:p>
            <a:fld id="{30D8F34B-FBA3-40ED-AF60-D17F8E87FCEB}" type="datetime3">
              <a:rPr lang="zh-CN" altLang="en-US" smtClean="0"/>
              <a:pPr/>
              <a:t>2013年4月29日星期一</a:t>
            </a:fld>
            <a:endParaRPr lang="zh-CN" altLang="en-US" dirty="0"/>
          </a:p>
        </p:txBody>
      </p:sp>
      <p:sp>
        <p:nvSpPr>
          <p:cNvPr id="5" name="页脚占位符 4"/>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6" name="灯片编号占位符 5"/>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pic>
        <p:nvPicPr>
          <p:cNvPr id="7" name="Picture 2" descr="C:\Users\Nir\Desktop\未xx题-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5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a:ea typeface="微软雅黑" pitchFamily="34" charset="-122"/>
              </a:defRPr>
            </a:lvl1pPr>
            <a:lvl2pPr>
              <a:defRPr>
                <a:ea typeface="微软雅黑" pitchFamily="34" charset="-122"/>
              </a:defRPr>
            </a:lvl2pPr>
            <a:lvl3pPr>
              <a:defRPr>
                <a:ea typeface="微软雅黑" pitchFamily="34" charset="-122"/>
              </a:defRPr>
            </a:lvl3pPr>
            <a:lvl4pPr>
              <a:defRPr>
                <a:ea typeface="微软雅黑" pitchFamily="34" charset="-122"/>
              </a:defRPr>
            </a:lvl4pPr>
            <a:lvl5pPr>
              <a:defRPr>
                <a:ea typeface="微软雅黑"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ea typeface="微软雅黑" pitchFamily="34" charset="-122"/>
              </a:defRPr>
            </a:lvl1pPr>
          </a:lstStyle>
          <a:p>
            <a:fld id="{18A8C1B2-905D-4186-BB3A-358F7CF0D15A}" type="datetime3">
              <a:rPr lang="zh-CN" altLang="en-US" smtClean="0"/>
              <a:pPr/>
              <a:t>2013年4月29日星期一</a:t>
            </a:fld>
            <a:endParaRPr lang="zh-CN" altLang="en-US" dirty="0"/>
          </a:p>
        </p:txBody>
      </p:sp>
      <p:sp>
        <p:nvSpPr>
          <p:cNvPr id="5" name="页脚占位符 4"/>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6" name="灯片编号占位符 5"/>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7921"/>
            <a:ext cx="7772400" cy="1362390"/>
          </a:xfrm>
        </p:spPr>
        <p:txBody>
          <a:bodyPr anchor="t"/>
          <a:lstStyle>
            <a:lvl1pPr algn="l">
              <a:defRPr sz="4000" b="1" cap="all">
                <a:ea typeface="微软雅黑" pitchFamily="34" charset="-122"/>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22313" y="2907387"/>
            <a:ext cx="7772400" cy="1500534"/>
          </a:xfrm>
        </p:spPr>
        <p:txBody>
          <a:bodyPr anchor="b"/>
          <a:lstStyle>
            <a:lvl1pPr marL="0" indent="0">
              <a:buNone/>
              <a:defRPr sz="2000">
                <a:solidFill>
                  <a:schemeClr val="tx1">
                    <a:tint val="75000"/>
                  </a:schemeClr>
                </a:solidFill>
                <a:ea typeface="微软雅黑"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smtClean="0"/>
              <a:t>单击此处编辑母版文本样式</a:t>
            </a:r>
          </a:p>
        </p:txBody>
      </p:sp>
      <p:sp>
        <p:nvSpPr>
          <p:cNvPr id="4" name="日期占位符 3"/>
          <p:cNvSpPr>
            <a:spLocks noGrp="1"/>
          </p:cNvSpPr>
          <p:nvPr>
            <p:ph type="dt" sz="half" idx="10"/>
          </p:nvPr>
        </p:nvSpPr>
        <p:spPr/>
        <p:txBody>
          <a:bodyPr/>
          <a:lstStyle>
            <a:lvl1pPr>
              <a:defRPr>
                <a:ea typeface="微软雅黑" pitchFamily="34" charset="-122"/>
              </a:defRPr>
            </a:lvl1pPr>
          </a:lstStyle>
          <a:p>
            <a:fld id="{1CE58D26-5DA9-4032-AE6A-F51DB521B6E5}" type="datetime3">
              <a:rPr lang="zh-CN" altLang="en-US" smtClean="0"/>
              <a:pPr/>
              <a:t>2013年4月29日星期一</a:t>
            </a:fld>
            <a:endParaRPr lang="zh-CN" altLang="en-US" dirty="0"/>
          </a:p>
        </p:txBody>
      </p:sp>
      <p:sp>
        <p:nvSpPr>
          <p:cNvPr id="5" name="页脚占位符 4"/>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6" name="灯片编号占位符 5"/>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571"/>
            <a:ext cx="4038600" cy="4527011"/>
          </a:xfrm>
        </p:spPr>
        <p:txBody>
          <a:bodyPr/>
          <a:lstStyle>
            <a:lvl1pPr>
              <a:defRPr sz="2800">
                <a:ea typeface="微软雅黑" pitchFamily="34" charset="-122"/>
              </a:defRPr>
            </a:lvl1pPr>
            <a:lvl2pPr>
              <a:defRPr sz="2400">
                <a:ea typeface="微软雅黑" pitchFamily="34" charset="-122"/>
              </a:defRPr>
            </a:lvl2pPr>
            <a:lvl3pPr>
              <a:defRPr sz="2000">
                <a:ea typeface="微软雅黑" pitchFamily="34" charset="-122"/>
              </a:defRPr>
            </a:lvl3pPr>
            <a:lvl4pPr>
              <a:defRPr sz="1800">
                <a:ea typeface="微软雅黑" pitchFamily="34" charset="-122"/>
              </a:defRPr>
            </a:lvl4pPr>
            <a:lvl5pPr>
              <a:defRPr sz="1800">
                <a:ea typeface="微软雅黑" pitchFamily="34" charset="-122"/>
              </a:defRPr>
            </a:lvl5pPr>
            <a:lvl6pPr>
              <a:defRPr sz="1800"/>
            </a:lvl6pPr>
            <a:lvl7pPr>
              <a:defRPr sz="1800"/>
            </a:lvl7pPr>
            <a:lvl8pPr>
              <a:defRPr sz="1800"/>
            </a:lvl8pPr>
            <a:lvl9pPr>
              <a:defRPr sz="18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内容占位符 3"/>
          <p:cNvSpPr>
            <a:spLocks noGrp="1"/>
          </p:cNvSpPr>
          <p:nvPr>
            <p:ph sz="half" idx="2"/>
          </p:nvPr>
        </p:nvSpPr>
        <p:spPr>
          <a:xfrm>
            <a:off x="4648200" y="1600571"/>
            <a:ext cx="4038600" cy="4527011"/>
          </a:xfrm>
        </p:spPr>
        <p:txBody>
          <a:bodyPr/>
          <a:lstStyle>
            <a:lvl1pPr>
              <a:defRPr sz="2800">
                <a:ea typeface="微软雅黑" pitchFamily="34" charset="-122"/>
              </a:defRPr>
            </a:lvl1pPr>
            <a:lvl2pPr>
              <a:defRPr sz="2400">
                <a:ea typeface="微软雅黑" pitchFamily="34" charset="-122"/>
              </a:defRPr>
            </a:lvl2pPr>
            <a:lvl3pPr>
              <a:defRPr sz="2000">
                <a:ea typeface="微软雅黑" pitchFamily="34" charset="-122"/>
              </a:defRPr>
            </a:lvl3pPr>
            <a:lvl4pPr>
              <a:defRPr sz="1800">
                <a:ea typeface="微软雅黑" pitchFamily="34" charset="-122"/>
              </a:defRPr>
            </a:lvl4pPr>
            <a:lvl5pPr>
              <a:defRPr sz="1800">
                <a:ea typeface="微软雅黑" pitchFamily="34" charset="-122"/>
              </a:defRPr>
            </a:lvl5pPr>
            <a:lvl6pPr>
              <a:defRPr sz="1800"/>
            </a:lvl6pPr>
            <a:lvl7pPr>
              <a:defRPr sz="1800"/>
            </a:lvl7pPr>
            <a:lvl8pPr>
              <a:defRPr sz="1800"/>
            </a:lvl8pPr>
            <a:lvl9pPr>
              <a:defRPr sz="18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日期占位符 4"/>
          <p:cNvSpPr>
            <a:spLocks noGrp="1"/>
          </p:cNvSpPr>
          <p:nvPr>
            <p:ph type="dt" sz="half" idx="10"/>
          </p:nvPr>
        </p:nvSpPr>
        <p:spPr/>
        <p:txBody>
          <a:bodyPr/>
          <a:lstStyle>
            <a:lvl1pPr>
              <a:defRPr>
                <a:ea typeface="微软雅黑" pitchFamily="34" charset="-122"/>
              </a:defRPr>
            </a:lvl1pPr>
          </a:lstStyle>
          <a:p>
            <a:fld id="{EC23D39A-3CE8-421D-AEBC-88975068C07F}" type="datetime3">
              <a:rPr lang="zh-CN" altLang="en-US" smtClean="0"/>
              <a:pPr/>
              <a:t>2013年4月29日星期一</a:t>
            </a:fld>
            <a:endParaRPr lang="zh-CN" altLang="en-US" dirty="0"/>
          </a:p>
        </p:txBody>
      </p:sp>
      <p:sp>
        <p:nvSpPr>
          <p:cNvPr id="6" name="页脚占位符 5"/>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7" name="灯片编号占位符 6"/>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itchFamily="34" charset="-122"/>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535469"/>
            <a:ext cx="4040188" cy="639910"/>
          </a:xfrm>
        </p:spPr>
        <p:txBody>
          <a:bodyPr anchor="b"/>
          <a:lstStyle>
            <a:lvl1pPr marL="0" indent="0">
              <a:buNone/>
              <a:defRPr sz="2400" b="1">
                <a:ea typeface="微软雅黑"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p>
        </p:txBody>
      </p:sp>
      <p:sp>
        <p:nvSpPr>
          <p:cNvPr id="4" name="内容占位符 3"/>
          <p:cNvSpPr>
            <a:spLocks noGrp="1"/>
          </p:cNvSpPr>
          <p:nvPr>
            <p:ph sz="half" idx="2"/>
          </p:nvPr>
        </p:nvSpPr>
        <p:spPr>
          <a:xfrm>
            <a:off x="457200" y="2175379"/>
            <a:ext cx="4040188" cy="3952203"/>
          </a:xfrm>
        </p:spPr>
        <p:txBody>
          <a:bodyPr/>
          <a:lstStyle>
            <a:lvl1pPr>
              <a:defRPr sz="2400">
                <a:ea typeface="微软雅黑" pitchFamily="34" charset="-122"/>
              </a:defRPr>
            </a:lvl1pPr>
            <a:lvl2pPr>
              <a:defRPr sz="2000">
                <a:ea typeface="微软雅黑" pitchFamily="34" charset="-122"/>
              </a:defRPr>
            </a:lvl2pPr>
            <a:lvl3pPr>
              <a:defRPr sz="1800">
                <a:ea typeface="微软雅黑" pitchFamily="34" charset="-122"/>
              </a:defRPr>
            </a:lvl3pPr>
            <a:lvl4pPr>
              <a:defRPr sz="1600">
                <a:ea typeface="微软雅黑" pitchFamily="34" charset="-122"/>
              </a:defRPr>
            </a:lvl4pPr>
            <a:lvl5pPr>
              <a:defRPr sz="1600">
                <a:ea typeface="微软雅黑" pitchFamily="34" charset="-122"/>
              </a:defRPr>
            </a:lvl5pPr>
            <a:lvl6pPr>
              <a:defRPr sz="1600"/>
            </a:lvl6pPr>
            <a:lvl7pPr>
              <a:defRPr sz="1600"/>
            </a:lvl7pPr>
            <a:lvl8pPr>
              <a:defRPr sz="1600"/>
            </a:lvl8pPr>
            <a:lvl9pPr>
              <a:defRPr sz="16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4645026" y="1535469"/>
            <a:ext cx="4041775" cy="639910"/>
          </a:xfrm>
        </p:spPr>
        <p:txBody>
          <a:bodyPr anchor="b"/>
          <a:lstStyle>
            <a:lvl1pPr marL="0" indent="0">
              <a:buNone/>
              <a:defRPr sz="2400" b="1">
                <a:ea typeface="微软雅黑"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p>
        </p:txBody>
      </p:sp>
      <p:sp>
        <p:nvSpPr>
          <p:cNvPr id="6" name="内容占位符 5"/>
          <p:cNvSpPr>
            <a:spLocks noGrp="1"/>
          </p:cNvSpPr>
          <p:nvPr>
            <p:ph sz="quarter" idx="4"/>
          </p:nvPr>
        </p:nvSpPr>
        <p:spPr>
          <a:xfrm>
            <a:off x="4645026" y="2175379"/>
            <a:ext cx="4041775" cy="3952203"/>
          </a:xfrm>
        </p:spPr>
        <p:txBody>
          <a:bodyPr/>
          <a:lstStyle>
            <a:lvl1pPr>
              <a:defRPr sz="2400">
                <a:ea typeface="微软雅黑" pitchFamily="34" charset="-122"/>
              </a:defRPr>
            </a:lvl1pPr>
            <a:lvl2pPr>
              <a:defRPr sz="2000">
                <a:ea typeface="微软雅黑" pitchFamily="34" charset="-122"/>
              </a:defRPr>
            </a:lvl2pPr>
            <a:lvl3pPr>
              <a:defRPr sz="1800">
                <a:ea typeface="微软雅黑" pitchFamily="34" charset="-122"/>
              </a:defRPr>
            </a:lvl3pPr>
            <a:lvl4pPr>
              <a:defRPr sz="1600">
                <a:ea typeface="微软雅黑" pitchFamily="34" charset="-122"/>
              </a:defRPr>
            </a:lvl4pPr>
            <a:lvl5pPr>
              <a:defRPr sz="1600">
                <a:ea typeface="微软雅黑" pitchFamily="34" charset="-122"/>
              </a:defRPr>
            </a:lvl5pPr>
            <a:lvl6pPr>
              <a:defRPr sz="1600"/>
            </a:lvl6pPr>
            <a:lvl7pPr>
              <a:defRPr sz="1600"/>
            </a:lvl7pPr>
            <a:lvl8pPr>
              <a:defRPr sz="1600"/>
            </a:lvl8pPr>
            <a:lvl9pPr>
              <a:defRPr sz="16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7" name="日期占位符 6"/>
          <p:cNvSpPr>
            <a:spLocks noGrp="1"/>
          </p:cNvSpPr>
          <p:nvPr>
            <p:ph type="dt" sz="half" idx="10"/>
          </p:nvPr>
        </p:nvSpPr>
        <p:spPr/>
        <p:txBody>
          <a:bodyPr/>
          <a:lstStyle>
            <a:lvl1pPr>
              <a:defRPr>
                <a:ea typeface="微软雅黑" pitchFamily="34" charset="-122"/>
              </a:defRPr>
            </a:lvl1pPr>
          </a:lstStyle>
          <a:p>
            <a:fld id="{78F718CC-ADEE-4BEF-A808-21AC9024F8C5}" type="datetime3">
              <a:rPr lang="zh-CN" altLang="en-US" smtClean="0"/>
              <a:pPr/>
              <a:t>2013年4月29日星期一</a:t>
            </a:fld>
            <a:endParaRPr lang="zh-CN" altLang="en-US" dirty="0"/>
          </a:p>
        </p:txBody>
      </p:sp>
      <p:sp>
        <p:nvSpPr>
          <p:cNvPr id="8" name="页脚占位符 7"/>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9" name="灯片编号占位符 8"/>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itchFamily="34" charset="-122"/>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lvl1pPr>
              <a:defRPr>
                <a:ea typeface="微软雅黑" pitchFamily="34" charset="-122"/>
              </a:defRPr>
            </a:lvl1pPr>
          </a:lstStyle>
          <a:p>
            <a:fld id="{FAE64600-A3EC-4EF4-A22D-3F0FB3F0E18C}" type="datetime3">
              <a:rPr lang="zh-CN" altLang="en-US" smtClean="0"/>
              <a:pPr/>
              <a:t>2013年4月29日星期一</a:t>
            </a:fld>
            <a:endParaRPr lang="zh-CN" altLang="en-US" dirty="0"/>
          </a:p>
        </p:txBody>
      </p:sp>
      <p:sp>
        <p:nvSpPr>
          <p:cNvPr id="4" name="页脚占位符 3"/>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5" name="灯片编号占位符 4"/>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ea typeface="微软雅黑" pitchFamily="34" charset="-122"/>
              </a:defRPr>
            </a:lvl1pPr>
          </a:lstStyle>
          <a:p>
            <a:fld id="{1BE55D21-CA8C-4ADE-958F-93C981125D7D}" type="datetime3">
              <a:rPr lang="zh-CN" altLang="en-US" smtClean="0"/>
              <a:pPr/>
              <a:t>2013年4月29日星期一</a:t>
            </a:fld>
            <a:endParaRPr lang="zh-CN" altLang="en-US" dirty="0"/>
          </a:p>
        </p:txBody>
      </p:sp>
      <p:sp>
        <p:nvSpPr>
          <p:cNvPr id="3" name="页脚占位符 2"/>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4" name="灯片编号占位符 3"/>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113"/>
            <a:ext cx="3008313" cy="1162319"/>
          </a:xfrm>
        </p:spPr>
        <p:txBody>
          <a:bodyPr anchor="b"/>
          <a:lstStyle>
            <a:lvl1pPr algn="l">
              <a:defRPr sz="2000" b="1">
                <a:ea typeface="微软雅黑"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575050" y="273114"/>
            <a:ext cx="5111750" cy="5854468"/>
          </a:xfrm>
        </p:spPr>
        <p:txBody>
          <a:bodyPr/>
          <a:lstStyle>
            <a:lvl1pPr>
              <a:defRPr sz="3200">
                <a:ea typeface="微软雅黑" pitchFamily="34" charset="-122"/>
              </a:defRPr>
            </a:lvl1pPr>
            <a:lvl2pPr>
              <a:defRPr sz="2800">
                <a:ea typeface="微软雅黑" pitchFamily="34" charset="-122"/>
              </a:defRPr>
            </a:lvl2pPr>
            <a:lvl3pPr>
              <a:defRPr sz="2400">
                <a:ea typeface="微软雅黑" pitchFamily="34" charset="-122"/>
              </a:defRPr>
            </a:lvl3pPr>
            <a:lvl4pPr>
              <a:defRPr sz="2000">
                <a:ea typeface="微软雅黑" pitchFamily="34" charset="-122"/>
              </a:defRPr>
            </a:lvl4pPr>
            <a:lvl5pPr>
              <a:defRPr sz="2000">
                <a:ea typeface="微软雅黑" pitchFamily="34" charset="-122"/>
              </a:defRPr>
            </a:lvl5pPr>
            <a:lvl6pPr>
              <a:defRPr sz="2000"/>
            </a:lvl6pPr>
            <a:lvl7pPr>
              <a:defRPr sz="2000"/>
            </a:lvl7pPr>
            <a:lvl8pPr>
              <a:defRPr sz="2000"/>
            </a:lvl8pPr>
            <a:lvl9pPr>
              <a:defRPr sz="20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文本占位符 3"/>
          <p:cNvSpPr>
            <a:spLocks noGrp="1"/>
          </p:cNvSpPr>
          <p:nvPr>
            <p:ph type="body" sz="half" idx="2"/>
          </p:nvPr>
        </p:nvSpPr>
        <p:spPr>
          <a:xfrm>
            <a:off x="457201" y="1435433"/>
            <a:ext cx="3008313" cy="4692149"/>
          </a:xfrm>
        </p:spPr>
        <p:txBody>
          <a:bodyPr/>
          <a:lstStyle>
            <a:lvl1pPr marL="0" indent="0">
              <a:buNone/>
              <a:defRPr sz="1400">
                <a:ea typeface="微软雅黑"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smtClean="0"/>
              <a:t>单击此处编辑母版文本样式</a:t>
            </a:r>
          </a:p>
        </p:txBody>
      </p:sp>
      <p:sp>
        <p:nvSpPr>
          <p:cNvPr id="5" name="日期占位符 4"/>
          <p:cNvSpPr>
            <a:spLocks noGrp="1"/>
          </p:cNvSpPr>
          <p:nvPr>
            <p:ph type="dt" sz="half" idx="10"/>
          </p:nvPr>
        </p:nvSpPr>
        <p:spPr/>
        <p:txBody>
          <a:bodyPr/>
          <a:lstStyle>
            <a:lvl1pPr>
              <a:defRPr>
                <a:ea typeface="微软雅黑" pitchFamily="34" charset="-122"/>
              </a:defRPr>
            </a:lvl1pPr>
          </a:lstStyle>
          <a:p>
            <a:fld id="{60EE0172-4712-4D75-88A0-8534B4750AA0}" type="datetime3">
              <a:rPr lang="zh-CN" altLang="en-US" smtClean="0"/>
              <a:pPr/>
              <a:t>2013年4月29日星期一</a:t>
            </a:fld>
            <a:endParaRPr lang="zh-CN" altLang="en-US" dirty="0"/>
          </a:p>
        </p:txBody>
      </p:sp>
      <p:sp>
        <p:nvSpPr>
          <p:cNvPr id="6" name="页脚占位符 5"/>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7" name="灯片编号占位符 6"/>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1712"/>
            <a:ext cx="5486400" cy="566869"/>
          </a:xfrm>
        </p:spPr>
        <p:txBody>
          <a:bodyPr anchor="b"/>
          <a:lstStyle>
            <a:lvl1pPr algn="l">
              <a:defRPr sz="2000" b="1">
                <a:ea typeface="微软雅黑" pitchFamily="34" charset="-122"/>
              </a:defRPr>
            </a:lvl1pPr>
          </a:lstStyle>
          <a:p>
            <a:r>
              <a:rPr lang="zh-CN" altLang="en-US" dirty="0" smtClean="0"/>
              <a:t>单击此处编辑母版标题样式</a:t>
            </a:r>
            <a:endParaRPr lang="zh-CN" altLang="en-US" dirty="0"/>
          </a:p>
        </p:txBody>
      </p:sp>
      <p:sp>
        <p:nvSpPr>
          <p:cNvPr id="3" name="图片占位符 2"/>
          <p:cNvSpPr>
            <a:spLocks noGrp="1"/>
          </p:cNvSpPr>
          <p:nvPr>
            <p:ph type="pic" idx="1"/>
          </p:nvPr>
        </p:nvSpPr>
        <p:spPr>
          <a:xfrm>
            <a:off x="1792288" y="612917"/>
            <a:ext cx="5486400" cy="4115753"/>
          </a:xfrm>
        </p:spPr>
        <p:txBody>
          <a:bodyPr/>
          <a:lstStyle>
            <a:lvl1pPr marL="0" indent="0">
              <a:buNone/>
              <a:defRPr sz="3200">
                <a:ea typeface="微软雅黑"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smtClean="0"/>
              <a:t>单击图标添加图片</a:t>
            </a:r>
            <a:endParaRPr lang="zh-CN" altLang="en-US" dirty="0"/>
          </a:p>
        </p:txBody>
      </p:sp>
      <p:sp>
        <p:nvSpPr>
          <p:cNvPr id="4" name="文本占位符 3"/>
          <p:cNvSpPr>
            <a:spLocks noGrp="1"/>
          </p:cNvSpPr>
          <p:nvPr>
            <p:ph type="body" sz="half" idx="2"/>
          </p:nvPr>
        </p:nvSpPr>
        <p:spPr>
          <a:xfrm>
            <a:off x="1792288" y="5368581"/>
            <a:ext cx="5486400" cy="805048"/>
          </a:xfrm>
        </p:spPr>
        <p:txBody>
          <a:bodyPr/>
          <a:lstStyle>
            <a:lvl1pPr marL="0" indent="0">
              <a:buNone/>
              <a:defRPr sz="1400">
                <a:ea typeface="微软雅黑"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smtClean="0"/>
              <a:t>单击此处编辑母版文本样式</a:t>
            </a:r>
          </a:p>
        </p:txBody>
      </p:sp>
      <p:sp>
        <p:nvSpPr>
          <p:cNvPr id="5" name="日期占位符 4"/>
          <p:cNvSpPr>
            <a:spLocks noGrp="1"/>
          </p:cNvSpPr>
          <p:nvPr>
            <p:ph type="dt" sz="half" idx="10"/>
          </p:nvPr>
        </p:nvSpPr>
        <p:spPr/>
        <p:txBody>
          <a:bodyPr/>
          <a:lstStyle>
            <a:lvl1pPr>
              <a:defRPr>
                <a:ea typeface="微软雅黑" pitchFamily="34" charset="-122"/>
              </a:defRPr>
            </a:lvl1pPr>
          </a:lstStyle>
          <a:p>
            <a:fld id="{095107FA-C127-4C4B-96F5-866819D62A40}" type="datetime3">
              <a:rPr lang="zh-CN" altLang="en-US" smtClean="0"/>
              <a:pPr/>
              <a:t>2013年4月29日星期一</a:t>
            </a:fld>
            <a:endParaRPr lang="zh-CN" altLang="en-US" dirty="0"/>
          </a:p>
        </p:txBody>
      </p:sp>
      <p:sp>
        <p:nvSpPr>
          <p:cNvPr id="6" name="页脚占位符 5"/>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7" name="灯片编号占位符 6"/>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a typeface="微软雅黑" pitchFamily="34" charset="-122"/>
              </a:defRPr>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p:txBody>
          <a:bodyPr vert="eaVert"/>
          <a:lstStyle>
            <a:lvl1pPr>
              <a:defRPr>
                <a:ea typeface="微软雅黑" pitchFamily="34" charset="-122"/>
              </a:defRPr>
            </a:lvl1pPr>
            <a:lvl2pPr>
              <a:defRPr>
                <a:ea typeface="微软雅黑" pitchFamily="34" charset="-122"/>
              </a:defRPr>
            </a:lvl2pPr>
            <a:lvl3pPr>
              <a:defRPr>
                <a:ea typeface="微软雅黑" pitchFamily="34" charset="-122"/>
              </a:defRPr>
            </a:lvl3pPr>
            <a:lvl4pPr>
              <a:defRPr>
                <a:ea typeface="微软雅黑" pitchFamily="34" charset="-122"/>
              </a:defRPr>
            </a:lvl4pPr>
            <a:lvl5pPr>
              <a:defRPr>
                <a:ea typeface="微软雅黑"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ea typeface="微软雅黑" pitchFamily="34" charset="-122"/>
              </a:defRPr>
            </a:lvl1pPr>
          </a:lstStyle>
          <a:p>
            <a:fld id="{A4017B99-3B66-4DB1-8309-8283DD334D8B}" type="datetime3">
              <a:rPr lang="zh-CN" altLang="en-US" smtClean="0"/>
              <a:pPr/>
              <a:t>2013年4月29日星期一</a:t>
            </a:fld>
            <a:endParaRPr lang="zh-CN" altLang="en-US" dirty="0"/>
          </a:p>
        </p:txBody>
      </p:sp>
      <p:sp>
        <p:nvSpPr>
          <p:cNvPr id="5" name="页脚占位符 4"/>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6" name="灯片编号占位符 5"/>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702"/>
            <a:ext cx="2057400" cy="5852880"/>
          </a:xfrm>
        </p:spPr>
        <p:txBody>
          <a:bodyPr vert="eaVert"/>
          <a:lstStyle>
            <a:lvl1pPr>
              <a:defRPr>
                <a:ea typeface="微软雅黑" pitchFamily="34" charset="-122"/>
              </a:defRPr>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457200" y="274702"/>
            <a:ext cx="6019800" cy="5852880"/>
          </a:xfrm>
        </p:spPr>
        <p:txBody>
          <a:bodyPr vert="eaVert"/>
          <a:lstStyle>
            <a:lvl1pPr>
              <a:defRPr>
                <a:ea typeface="微软雅黑" pitchFamily="34" charset="-122"/>
              </a:defRPr>
            </a:lvl1pPr>
            <a:lvl2pPr>
              <a:defRPr>
                <a:ea typeface="微软雅黑" pitchFamily="34" charset="-122"/>
              </a:defRPr>
            </a:lvl2pPr>
            <a:lvl3pPr>
              <a:defRPr>
                <a:ea typeface="微软雅黑" pitchFamily="34" charset="-122"/>
              </a:defRPr>
            </a:lvl3pPr>
            <a:lvl4pPr>
              <a:defRPr>
                <a:ea typeface="微软雅黑" pitchFamily="34" charset="-122"/>
              </a:defRPr>
            </a:lvl4pPr>
            <a:lvl5pPr>
              <a:defRPr>
                <a:ea typeface="微软雅黑"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ea typeface="微软雅黑" pitchFamily="34" charset="-122"/>
              </a:defRPr>
            </a:lvl1pPr>
          </a:lstStyle>
          <a:p>
            <a:fld id="{1C36C515-7EF7-427A-B5E7-08B47791867F}" type="datetime3">
              <a:rPr lang="zh-CN" altLang="en-US" smtClean="0"/>
              <a:pPr/>
              <a:t>2013年4月29日星期一</a:t>
            </a:fld>
            <a:endParaRPr lang="zh-CN" altLang="en-US" dirty="0"/>
          </a:p>
        </p:txBody>
      </p:sp>
      <p:sp>
        <p:nvSpPr>
          <p:cNvPr id="5" name="页脚占位符 4"/>
          <p:cNvSpPr>
            <a:spLocks noGrp="1"/>
          </p:cNvSpPr>
          <p:nvPr>
            <p:ph type="ftr" sz="quarter" idx="11"/>
          </p:nvPr>
        </p:nvSpPr>
        <p:spPr/>
        <p:txBody>
          <a:body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6" name="灯片编号占位符 5"/>
          <p:cNvSpPr>
            <a:spLocks noGrp="1"/>
          </p:cNvSpPr>
          <p:nvPr>
            <p:ph type="sldNum" sz="quarter" idx="12"/>
          </p:nvPr>
        </p:nvSpPr>
        <p:spPr/>
        <p:txBody>
          <a:bodyPr/>
          <a:lstStyle>
            <a:lvl1pPr>
              <a:defRPr>
                <a:ea typeface="微软雅黑" pitchFamily="34" charset="-122"/>
              </a:defRPr>
            </a:lvl1pPr>
          </a:lstStyle>
          <a:p>
            <a:fld id="{833901E6-BE0D-4D4C-BD9F-F1A617F9590B}" type="slidenum">
              <a:rPr lang="zh-CN" altLang="en-US"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701"/>
            <a:ext cx="8229600" cy="114326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571"/>
            <a:ext cx="8229600" cy="4527011"/>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7822"/>
            <a:ext cx="2133600" cy="365210"/>
          </a:xfrm>
          <a:prstGeom prst="rect">
            <a:avLst/>
          </a:prstGeom>
        </p:spPr>
        <p:txBody>
          <a:bodyPr vert="horz" lIns="91440" tIns="45720" rIns="91440" bIns="45720" rtlCol="0" anchor="ctr"/>
          <a:lstStyle>
            <a:lvl1pPr algn="l">
              <a:defRPr sz="1200">
                <a:solidFill>
                  <a:schemeClr val="tx1">
                    <a:tint val="75000"/>
                  </a:schemeClr>
                </a:solidFill>
                <a:ea typeface="微软雅黑" pitchFamily="34" charset="-122"/>
              </a:defRPr>
            </a:lvl1pPr>
          </a:lstStyle>
          <a:p>
            <a:fld id="{8E7238FF-89D1-4D2B-9959-71272DE4A747}" type="datetime3">
              <a:rPr lang="zh-CN" altLang="en-US" smtClean="0"/>
              <a:pPr/>
              <a:t>2013年4月29日星期一</a:t>
            </a:fld>
            <a:endParaRPr lang="zh-CN" altLang="en-US" dirty="0"/>
          </a:p>
        </p:txBody>
      </p:sp>
      <p:sp>
        <p:nvSpPr>
          <p:cNvPr id="5" name="页脚占位符 4"/>
          <p:cNvSpPr>
            <a:spLocks noGrp="1"/>
          </p:cNvSpPr>
          <p:nvPr>
            <p:ph type="ftr" sz="quarter" idx="3"/>
          </p:nvPr>
        </p:nvSpPr>
        <p:spPr>
          <a:xfrm>
            <a:off x="3124200" y="6357822"/>
            <a:ext cx="2895600" cy="36521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dirty="0" smtClean="0">
                <a:ea typeface="微软雅黑" pitchFamily="34" charset="-122"/>
              </a:rPr>
              <a:t>2012</a:t>
            </a:r>
            <a:r>
              <a:rPr lang="zh-CN" altLang="en-US" dirty="0" smtClean="0">
                <a:ea typeface="微软雅黑" pitchFamily="34" charset="-122"/>
              </a:rPr>
              <a:t>年</a:t>
            </a:r>
            <a:r>
              <a:rPr lang="en-US" altLang="zh-CN" dirty="0" smtClean="0">
                <a:ea typeface="微软雅黑" pitchFamily="34" charset="-122"/>
              </a:rPr>
              <a:t>12</a:t>
            </a:r>
            <a:r>
              <a:rPr lang="zh-CN" altLang="en-US" dirty="0" smtClean="0">
                <a:ea typeface="微软雅黑" pitchFamily="34" charset="-122"/>
              </a:rPr>
              <a:t>月</a:t>
            </a:r>
            <a:r>
              <a:rPr lang="en-US" altLang="zh-CN" dirty="0" smtClean="0">
                <a:ea typeface="微软雅黑" pitchFamily="34" charset="-122"/>
              </a:rPr>
              <a:t>23</a:t>
            </a:r>
            <a:r>
              <a:rPr lang="zh-CN" altLang="en-US" dirty="0" smtClean="0">
                <a:ea typeface="微软雅黑" pitchFamily="34" charset="-122"/>
              </a:rPr>
              <a:t>日</a:t>
            </a:r>
            <a:endParaRPr lang="zh-CN" altLang="en-US" dirty="0">
              <a:ea typeface="微软雅黑" pitchFamily="34" charset="-122"/>
            </a:endParaRPr>
          </a:p>
        </p:txBody>
      </p:sp>
      <p:sp>
        <p:nvSpPr>
          <p:cNvPr id="6" name="灯片编号占位符 5"/>
          <p:cNvSpPr>
            <a:spLocks noGrp="1"/>
          </p:cNvSpPr>
          <p:nvPr>
            <p:ph type="sldNum" sz="quarter" idx="4"/>
          </p:nvPr>
        </p:nvSpPr>
        <p:spPr>
          <a:xfrm>
            <a:off x="6553200" y="6357822"/>
            <a:ext cx="2133600" cy="365210"/>
          </a:xfrm>
          <a:prstGeom prst="rect">
            <a:avLst/>
          </a:prstGeom>
        </p:spPr>
        <p:txBody>
          <a:bodyPr vert="horz" lIns="91440" tIns="45720" rIns="91440" bIns="45720" rtlCol="0" anchor="ctr"/>
          <a:lstStyle>
            <a:lvl1pPr algn="r">
              <a:defRPr sz="1200">
                <a:solidFill>
                  <a:schemeClr val="tx1">
                    <a:tint val="75000"/>
                  </a:schemeClr>
                </a:solidFill>
                <a:ea typeface="微软雅黑" pitchFamily="34" charset="-122"/>
              </a:defRPr>
            </a:lvl1pPr>
          </a:lstStyle>
          <a:p>
            <a:fld id="{833901E6-BE0D-4D4C-BD9F-F1A617F9590B}"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13"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slide" Target="slide24.xml"/><Relationship Id="rId12" Type="http://schemas.openxmlformats.org/officeDocument/2006/relationships/slide" Target="slide19.xml"/><Relationship Id="rId17" Type="http://schemas.openxmlformats.org/officeDocument/2006/relationships/image" Target="../media/image9.png"/><Relationship Id="rId2" Type="http://schemas.openxmlformats.org/officeDocument/2006/relationships/slide" Target="slide3.xml"/><Relationship Id="rId16"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slide" Target="slide10.xml"/><Relationship Id="rId11" Type="http://schemas.openxmlformats.org/officeDocument/2006/relationships/image" Target="../media/image6.png"/><Relationship Id="rId5" Type="http://schemas.openxmlformats.org/officeDocument/2006/relationships/image" Target="../media/image4.png"/><Relationship Id="rId15" Type="http://schemas.openxmlformats.org/officeDocument/2006/relationships/slide" Target="slide29.xml"/><Relationship Id="rId10" Type="http://schemas.openxmlformats.org/officeDocument/2006/relationships/slide" Target="slide37.xml"/><Relationship Id="rId4" Type="http://schemas.openxmlformats.org/officeDocument/2006/relationships/slide" Target="slide5.xml"/><Relationship Id="rId9" Type="http://schemas.openxmlformats.org/officeDocument/2006/relationships/image" Target="../media/image5.png"/><Relationship Id="rId14" Type="http://schemas.openxmlformats.org/officeDocument/2006/relationships/slide" Target="slide28.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slide" Target="slide2.xml"/><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slide" Target="slide29.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12.emf"/><Relationship Id="rId4" Type="http://schemas.openxmlformats.org/officeDocument/2006/relationships/diagramLayout" Target="../diagrams/layout1.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2.emf"/></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image" Target="../media/image12.emf"/><Relationship Id="rId2"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10.png"/><Relationship Id="rId7" Type="http://schemas.openxmlformats.org/officeDocument/2006/relationships/diagramLayout" Target="../diagrams/layout5.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Data" Target="../diagrams/data5.xml"/><Relationship Id="rId5" Type="http://schemas.openxmlformats.org/officeDocument/2006/relationships/image" Target="../media/image12.emf"/><Relationship Id="rId10" Type="http://schemas.microsoft.com/office/2007/relationships/diagramDrawing" Target="../diagrams/drawing5.xml"/><Relationship Id="rId4" Type="http://schemas.openxmlformats.org/officeDocument/2006/relationships/image" Target="../media/image11.png"/><Relationship Id="rId9" Type="http://schemas.openxmlformats.org/officeDocument/2006/relationships/diagramColors" Target="../diagrams/colors5.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5.emf"/><Relationship Id="rId7" Type="http://schemas.openxmlformats.org/officeDocument/2006/relationships/image" Target="../media/image14.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3.wmf"/><Relationship Id="rId10" Type="http://schemas.openxmlformats.org/officeDocument/2006/relationships/image" Target="../media/image12.emf"/><Relationship Id="rId4" Type="http://schemas.openxmlformats.org/officeDocument/2006/relationships/oleObject" Target="../embeddings/oleObject1.bin"/><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oleObject" Target="../embeddings/oleObject3.bin"/><Relationship Id="rId7" Type="http://schemas.openxmlformats.org/officeDocument/2006/relationships/diagramQuickStyle" Target="../diagrams/quickStyle6.xml"/><Relationship Id="rId12" Type="http://schemas.openxmlformats.org/officeDocument/2006/relationships/image" Target="../media/image12.emf"/><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diagramLayout" Target="../diagrams/layout6.xml"/><Relationship Id="rId11" Type="http://schemas.openxmlformats.org/officeDocument/2006/relationships/image" Target="../media/image11.png"/><Relationship Id="rId5" Type="http://schemas.openxmlformats.org/officeDocument/2006/relationships/diagramData" Target="../diagrams/data6.xml"/><Relationship Id="rId10" Type="http://schemas.openxmlformats.org/officeDocument/2006/relationships/image" Target="../media/image10.png"/><Relationship Id="rId4" Type="http://schemas.openxmlformats.org/officeDocument/2006/relationships/image" Target="../media/image16.wmf"/><Relationship Id="rId9" Type="http://schemas.microsoft.com/office/2007/relationships/diagramDrawing" Target="../diagrams/drawing6.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20.emf"/><Relationship Id="rId7" Type="http://schemas.openxmlformats.org/officeDocument/2006/relationships/image" Target="../media/image18.wmf"/><Relationship Id="rId12" Type="http://schemas.openxmlformats.org/officeDocument/2006/relationships/image" Target="../media/image12.e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11.png"/><Relationship Id="rId5" Type="http://schemas.openxmlformats.org/officeDocument/2006/relationships/image" Target="../media/image17.wmf"/><Relationship Id="rId10" Type="http://schemas.openxmlformats.org/officeDocument/2006/relationships/image" Target="../media/image10.png"/><Relationship Id="rId4" Type="http://schemas.openxmlformats.org/officeDocument/2006/relationships/oleObject" Target="../embeddings/oleObject4.bin"/><Relationship Id="rId9" Type="http://schemas.openxmlformats.org/officeDocument/2006/relationships/image" Target="../media/image19.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12.e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12.emf"/><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slide" Target="slide2.xml"/><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slide" Target="slide3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12.emf"/></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11.png"/><Relationship Id="rId7" Type="http://schemas.openxmlformats.org/officeDocument/2006/relationships/diagramQuickStyle" Target="../diagrams/quickStyle7.xml"/><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12.emf"/><Relationship Id="rId9" Type="http://schemas.microsoft.com/office/2007/relationships/diagramDrawing" Target="../diagrams/drawing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jpg"/><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4.jpg"/></Relationships>
</file>

<file path=ppt/slides/_rels/slide2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10" Type="http://schemas.openxmlformats.org/officeDocument/2006/relationships/image" Target="../media/image12.emf"/><Relationship Id="rId4" Type="http://schemas.openxmlformats.org/officeDocument/2006/relationships/diagramLayout" Target="../diagrams/layout8.xml"/><Relationship Id="rId9"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5.jpg"/><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12.emf"/></Relationships>
</file>

<file path=ppt/slides/_rels/slide29.xml.rels><?xml version="1.0" encoding="UTF-8" standalone="yes"?>
<Relationships xmlns="http://schemas.openxmlformats.org/package/2006/relationships"><Relationship Id="rId8" Type="http://schemas.openxmlformats.org/officeDocument/2006/relationships/diagramQuickStyle" Target="../diagrams/quickStyle9.xml"/><Relationship Id="rId13" Type="http://schemas.openxmlformats.org/officeDocument/2006/relationships/diagramQuickStyle" Target="../diagrams/quickStyle9.xml"/><Relationship Id="rId3" Type="http://schemas.openxmlformats.org/officeDocument/2006/relationships/image" Target="../media/image10.png"/><Relationship Id="rId7" Type="http://schemas.openxmlformats.org/officeDocument/2006/relationships/diagramLayout" Target="../diagrams/layout9.xml"/><Relationship Id="rId12" Type="http://schemas.openxmlformats.org/officeDocument/2006/relationships/diagramLayout" Target="../diagrams/layout9.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Data" Target="../diagrams/data9.xml"/><Relationship Id="rId11" Type="http://schemas.openxmlformats.org/officeDocument/2006/relationships/diagramData" Target="../diagrams/data10.xml"/><Relationship Id="rId5" Type="http://schemas.openxmlformats.org/officeDocument/2006/relationships/image" Target="../media/image12.emf"/><Relationship Id="rId10" Type="http://schemas.microsoft.com/office/2007/relationships/diagramDrawing" Target="../diagrams/drawing9.xml"/><Relationship Id="rId4" Type="http://schemas.openxmlformats.org/officeDocument/2006/relationships/image" Target="../media/image11.png"/><Relationship Id="rId9" Type="http://schemas.openxmlformats.org/officeDocument/2006/relationships/diagramColors" Target="../diagrams/colors9.xml"/><Relationship Id="rId14" Type="http://schemas.openxmlformats.org/officeDocument/2006/relationships/diagramColors" Target="../diagrams/colors9.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8.emf"/><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5.png"/><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9.emf"/><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9.png"/><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0.emf"/><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slide" Target="slide24.xml"/><Relationship Id="rId4" Type="http://schemas.openxmlformats.org/officeDocument/2006/relationships/slide" Target="slide21.xml"/></Relationships>
</file>

<file path=ppt/slides/_rels/slide3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11.xml"/><Relationship Id="rId7" Type="http://schemas.microsoft.com/office/2007/relationships/diagramDrawing" Target="../diagrams/drawing10.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10.xml"/><Relationship Id="rId5" Type="http://schemas.openxmlformats.org/officeDocument/2006/relationships/diagramQuickStyle" Target="../diagrams/quickStyle10.xml"/><Relationship Id="rId10" Type="http://schemas.openxmlformats.org/officeDocument/2006/relationships/image" Target="../media/image12.emf"/><Relationship Id="rId4" Type="http://schemas.openxmlformats.org/officeDocument/2006/relationships/diagramLayout" Target="../diagrams/layout10.xml"/><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4910" y="4179830"/>
            <a:ext cx="1194816" cy="127254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 name="标题 1"/>
          <p:cNvSpPr>
            <a:spLocks noGrp="1"/>
          </p:cNvSpPr>
          <p:nvPr>
            <p:ph type="ctrTitle"/>
          </p:nvPr>
        </p:nvSpPr>
        <p:spPr>
          <a:xfrm>
            <a:off x="717630" y="1410815"/>
            <a:ext cx="8155632" cy="2525789"/>
          </a:xfrm>
        </p:spPr>
        <p:txBody>
          <a:bodyPr>
            <a:normAutofit/>
          </a:bodyPr>
          <a:lstStyle/>
          <a:p>
            <a:pPr algn="l"/>
            <a:r>
              <a:rPr lang="zh-CN" altLang="en-US" sz="4000" b="1" dirty="0" smtClean="0">
                <a:solidFill>
                  <a:srgbClr val="FFFF00"/>
                </a:solidFill>
                <a:latin typeface="微软雅黑" pitchFamily="34" charset="-122"/>
              </a:rPr>
              <a:t>规范中</a:t>
            </a:r>
            <a:r>
              <a:rPr lang="en-US" altLang="zh-CN" sz="5400" b="1" dirty="0" smtClean="0">
                <a:solidFill>
                  <a:srgbClr val="FFFF00"/>
                </a:solidFill>
                <a:latin typeface="微软雅黑" pitchFamily="34" charset="-122"/>
              </a:rPr>
              <a:t/>
            </a:r>
            <a:br>
              <a:rPr lang="en-US" altLang="zh-CN" sz="5400" b="1" dirty="0" smtClean="0">
                <a:solidFill>
                  <a:srgbClr val="FFFF00"/>
                </a:solidFill>
                <a:latin typeface="微软雅黑" pitchFamily="34" charset="-122"/>
              </a:rPr>
            </a:br>
            <a:r>
              <a:rPr lang="en-US" altLang="zh-CN" sz="5400" b="1" dirty="0" smtClean="0">
                <a:solidFill>
                  <a:srgbClr val="FFFF00"/>
                </a:solidFill>
                <a:latin typeface="微软雅黑" pitchFamily="34" charset="-122"/>
              </a:rPr>
              <a:t>   </a:t>
            </a:r>
            <a:r>
              <a:rPr lang="zh-CN" altLang="en-US" sz="5400" b="1" dirty="0" smtClean="0">
                <a:solidFill>
                  <a:schemeClr val="bg1"/>
                </a:solidFill>
                <a:latin typeface="微软雅黑" pitchFamily="34" charset="-122"/>
              </a:rPr>
              <a:t>地基承载力设计值</a:t>
            </a:r>
            <a:r>
              <a:rPr lang="en-US" altLang="zh-CN" sz="5400" b="1" dirty="0" smtClean="0">
                <a:solidFill>
                  <a:schemeClr val="bg1"/>
                </a:solidFill>
                <a:latin typeface="微软雅黑" pitchFamily="34" charset="-122"/>
              </a:rPr>
              <a:t/>
            </a:r>
            <a:br>
              <a:rPr lang="en-US" altLang="zh-CN" sz="5400" b="1" dirty="0" smtClean="0">
                <a:solidFill>
                  <a:schemeClr val="bg1"/>
                </a:solidFill>
                <a:latin typeface="微软雅黑" pitchFamily="34" charset="-122"/>
              </a:rPr>
            </a:br>
            <a:r>
              <a:rPr lang="en-US" altLang="zh-CN" sz="5400" b="1" dirty="0" smtClean="0">
                <a:solidFill>
                  <a:srgbClr val="FFFF00"/>
                </a:solidFill>
                <a:latin typeface="微软雅黑" pitchFamily="34" charset="-122"/>
              </a:rPr>
              <a:t>                           </a:t>
            </a:r>
            <a:r>
              <a:rPr lang="zh-CN" altLang="en-US" sz="4000" b="1" dirty="0" smtClean="0">
                <a:solidFill>
                  <a:srgbClr val="FFFF00"/>
                </a:solidFill>
                <a:latin typeface="微软雅黑" pitchFamily="34" charset="-122"/>
              </a:rPr>
              <a:t>如何来</a:t>
            </a:r>
            <a:endParaRPr lang="zh-CN" altLang="en-US" sz="4000" b="1" dirty="0">
              <a:solidFill>
                <a:srgbClr val="FFFF00"/>
              </a:solidFill>
              <a:latin typeface="微软雅黑" pitchFamily="34" charset="-122"/>
            </a:endParaRPr>
          </a:p>
        </p:txBody>
      </p:sp>
      <p:sp>
        <p:nvSpPr>
          <p:cNvPr id="3" name="副标题 2"/>
          <p:cNvSpPr>
            <a:spLocks noGrp="1"/>
          </p:cNvSpPr>
          <p:nvPr>
            <p:ph type="subTitle" idx="1"/>
          </p:nvPr>
        </p:nvSpPr>
        <p:spPr>
          <a:xfrm>
            <a:off x="2825080" y="4365898"/>
            <a:ext cx="6355432" cy="914612"/>
          </a:xfrm>
        </p:spPr>
        <p:txBody>
          <a:bodyPr>
            <a:noAutofit/>
          </a:bodyPr>
          <a:lstStyle/>
          <a:p>
            <a:r>
              <a:rPr lang="zh-CN" altLang="en-US" b="1" dirty="0" smtClean="0">
                <a:solidFill>
                  <a:srgbClr val="FFFF00"/>
                </a:solidFill>
                <a:latin typeface="楷体" pitchFamily="49" charset="-122"/>
                <a:ea typeface="楷体" pitchFamily="49" charset="-122"/>
              </a:rPr>
              <a:t>工作团队   </a:t>
            </a:r>
            <a:r>
              <a:rPr lang="zh-CN" altLang="en-US" sz="2400" b="1" dirty="0" smtClean="0">
                <a:solidFill>
                  <a:schemeClr val="bg1"/>
                </a:solidFill>
                <a:latin typeface="楷体" pitchFamily="49" charset="-122"/>
                <a:ea typeface="楷体" pitchFamily="49" charset="-122"/>
              </a:rPr>
              <a:t>袁  野  孙启力 倪  炜</a:t>
            </a:r>
            <a:endParaRPr lang="en-US" altLang="zh-CN" sz="2400" b="1" dirty="0" smtClean="0">
              <a:solidFill>
                <a:schemeClr val="bg1"/>
              </a:solidFill>
              <a:latin typeface="楷体" pitchFamily="49" charset="-122"/>
              <a:ea typeface="楷体" pitchFamily="49" charset="-122"/>
            </a:endParaRPr>
          </a:p>
          <a:p>
            <a:r>
              <a:rPr lang="zh-CN" altLang="en-US" sz="2400" b="1" dirty="0" smtClean="0">
                <a:solidFill>
                  <a:schemeClr val="bg1"/>
                </a:solidFill>
                <a:latin typeface="楷体" pitchFamily="49" charset="-122"/>
                <a:ea typeface="楷体" pitchFamily="49" charset="-122"/>
              </a:rPr>
              <a:t>       朱莎莎 </a:t>
            </a:r>
            <a:r>
              <a:rPr lang="en-US" altLang="zh-CN" sz="2400" b="1" dirty="0" smtClean="0">
                <a:solidFill>
                  <a:schemeClr val="bg1"/>
                </a:solidFill>
                <a:latin typeface="楷体" pitchFamily="49" charset="-122"/>
                <a:ea typeface="楷体" pitchFamily="49" charset="-122"/>
              </a:rPr>
              <a:t> </a:t>
            </a:r>
            <a:r>
              <a:rPr lang="zh-CN" altLang="en-US" sz="2400" b="1" dirty="0" smtClean="0">
                <a:solidFill>
                  <a:schemeClr val="bg1"/>
                </a:solidFill>
                <a:latin typeface="楷体" pitchFamily="49" charset="-122"/>
                <a:ea typeface="楷体" pitchFamily="49" charset="-122"/>
              </a:rPr>
              <a:t>章友浩  金德海 张书豪</a:t>
            </a:r>
            <a:endParaRPr lang="zh-CN" altLang="en-US" sz="2400" b="1" dirty="0">
              <a:solidFill>
                <a:schemeClr val="bg1"/>
              </a:solidFill>
              <a:latin typeface="楷体" pitchFamily="49" charset="-122"/>
              <a:ea typeface="楷体" pitchFamily="49" charset="-122"/>
            </a:endParaRPr>
          </a:p>
        </p:txBody>
      </p:sp>
      <p:sp>
        <p:nvSpPr>
          <p:cNvPr id="4" name="文本框 3"/>
          <p:cNvSpPr txBox="1"/>
          <p:nvPr/>
        </p:nvSpPr>
        <p:spPr>
          <a:xfrm rot="552503">
            <a:off x="23084" y="5469293"/>
            <a:ext cx="3990499" cy="771346"/>
          </a:xfrm>
          <a:prstGeom prst="snip2DiagRect">
            <a:avLst>
              <a:gd name="adj1" fmla="val 0"/>
              <a:gd name="adj2" fmla="val 33883"/>
            </a:avLst>
          </a:prstGeom>
          <a:solidFill>
            <a:srgbClr val="FFFF00">
              <a:alpha val="55000"/>
            </a:srgbClr>
          </a:solidFill>
        </p:spPr>
        <p:txBody>
          <a:bodyPr wrap="none" rtlCol="0">
            <a:spAutoFit/>
          </a:bodyPr>
          <a:lstStyle/>
          <a:p>
            <a:r>
              <a:rPr lang="zh-CN" altLang="en-US" sz="3600" dirty="0" smtClean="0">
                <a:solidFill>
                  <a:sysClr val="windowText" lastClr="000000"/>
                </a:solidFill>
                <a:latin typeface="楷体" pitchFamily="49" charset="-122"/>
                <a:ea typeface="楷体" pitchFamily="49" charset="-122"/>
              </a:rPr>
              <a:t>可不是拍脑袋哦</a:t>
            </a:r>
            <a:r>
              <a:rPr lang="en-US" altLang="zh-CN" sz="3600" dirty="0" smtClean="0">
                <a:solidFill>
                  <a:sysClr val="windowText" lastClr="000000"/>
                </a:solidFill>
                <a:latin typeface="楷体" pitchFamily="49" charset="-122"/>
                <a:ea typeface="楷体" pitchFamily="49" charset="-122"/>
              </a:rPr>
              <a:t>~~</a:t>
            </a:r>
            <a:endParaRPr lang="zh-CN" altLang="en-US" sz="3600" dirty="0">
              <a:solidFill>
                <a:sysClr val="windowText" lastClr="000000"/>
              </a:solidFill>
              <a:latin typeface="楷体" pitchFamily="49" charset="-122"/>
              <a:ea typeface="楷体" pitchFamily="49" charset="-122"/>
            </a:endParaRPr>
          </a:p>
        </p:txBody>
      </p:sp>
      <p:sp>
        <p:nvSpPr>
          <p:cNvPr id="9" name="标题 1"/>
          <p:cNvSpPr txBox="1">
            <a:spLocks/>
          </p:cNvSpPr>
          <p:nvPr/>
        </p:nvSpPr>
        <p:spPr>
          <a:xfrm rot="1036343">
            <a:off x="8047892" y="1906190"/>
            <a:ext cx="988604" cy="2808312"/>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9600" b="1" dirty="0">
                <a:solidFill>
                  <a:schemeClr val="bg1"/>
                </a:solidFill>
                <a:latin typeface="微软雅黑" pitchFamily="34" charset="-122"/>
                <a:ea typeface="微软雅黑" pitchFamily="34" charset="-122"/>
              </a:rPr>
              <a:t>?</a:t>
            </a:r>
            <a:endParaRPr lang="zh-CN" altLang="en-US" sz="96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57709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style.rotation</p:attrName>
                                        </p:attrNameLst>
                                      </p:cBhvr>
                                      <p:tavLst>
                                        <p:tav tm="0">
                                          <p:val>
                                            <p:fltVal val="90"/>
                                          </p:val>
                                        </p:tav>
                                        <p:tav tm="100000">
                                          <p:val>
                                            <p:fltVal val="0"/>
                                          </p:val>
                                        </p:tav>
                                      </p:tavLst>
                                    </p:anim>
                                    <p:animEffect transition="in" filter="fade">
                                      <p:cBhvr>
                                        <p:cTn id="16" dur="1000"/>
                                        <p:tgtEl>
                                          <p:spTgt spid="9"/>
                                        </p:tgtEl>
                                      </p:cBhvr>
                                    </p:animEffect>
                                  </p:childTnLst>
                                </p:cTn>
                              </p:par>
                            </p:childTnLst>
                          </p:cTn>
                        </p:par>
                        <p:par>
                          <p:cTn id="17" fill="hold">
                            <p:stCondLst>
                              <p:cond delay="2000"/>
                            </p:stCondLst>
                            <p:childTnLst>
                              <p:par>
                                <p:cTn id="18" presetID="14" presetClass="entr" presetSubtype="10"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randombar(horizontal)">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000" fill="hold"/>
                                        <p:tgtEl>
                                          <p:spTgt spid="6"/>
                                        </p:tgtEl>
                                        <p:attrNameLst>
                                          <p:attrName>ppt_w</p:attrName>
                                        </p:attrNameLst>
                                      </p:cBhvr>
                                      <p:tavLst>
                                        <p:tav tm="0">
                                          <p:val>
                                            <p:fltVal val="0"/>
                                          </p:val>
                                        </p:tav>
                                        <p:tav tm="100000">
                                          <p:val>
                                            <p:strVal val="#ppt_w"/>
                                          </p:val>
                                        </p:tav>
                                      </p:tavLst>
                                    </p:anim>
                                    <p:anim calcmode="lin" valueType="num">
                                      <p:cBhvr>
                                        <p:cTn id="26" dur="1000" fill="hold"/>
                                        <p:tgtEl>
                                          <p:spTgt spid="6"/>
                                        </p:tgtEl>
                                        <p:attrNameLst>
                                          <p:attrName>ppt_h</p:attrName>
                                        </p:attrNameLst>
                                      </p:cBhvr>
                                      <p:tavLst>
                                        <p:tav tm="0">
                                          <p:val>
                                            <p:fltVal val="0"/>
                                          </p:val>
                                        </p:tav>
                                        <p:tav tm="100000">
                                          <p:val>
                                            <p:strVal val="#ppt_h"/>
                                          </p:val>
                                        </p:tav>
                                      </p:tavLst>
                                    </p:anim>
                                    <p:anim calcmode="lin" valueType="num">
                                      <p:cBhvr>
                                        <p:cTn id="27" dur="1000" fill="hold"/>
                                        <p:tgtEl>
                                          <p:spTgt spid="6"/>
                                        </p:tgtEl>
                                        <p:attrNameLst>
                                          <p:attrName>style.rotation</p:attrName>
                                        </p:attrNameLst>
                                      </p:cBhvr>
                                      <p:tavLst>
                                        <p:tav tm="0">
                                          <p:val>
                                            <p:fltVal val="90"/>
                                          </p:val>
                                        </p:tav>
                                        <p:tav tm="100000">
                                          <p:val>
                                            <p:fltVal val="0"/>
                                          </p:val>
                                        </p:tav>
                                      </p:tavLst>
                                    </p:anim>
                                    <p:animEffect transition="in" filter="fade">
                                      <p:cBhvr>
                                        <p:cTn id="28" dur="1000"/>
                                        <p:tgtEl>
                                          <p:spTgt spid="6"/>
                                        </p:tgtEl>
                                      </p:cBhvr>
                                    </p:animEffect>
                                  </p:childTnLst>
                                </p:cTn>
                              </p:par>
                              <p:par>
                                <p:cTn id="29" presetID="53" presetClass="entr" presetSubtype="16" fill="hold" grpId="0" nodeType="withEffect">
                                  <p:stCondLst>
                                    <p:cond delay="250"/>
                                  </p:stCondLst>
                                  <p:childTnLst>
                                    <p:set>
                                      <p:cBhvr>
                                        <p:cTn id="30" dur="1" fill="hold">
                                          <p:stCondLst>
                                            <p:cond delay="0"/>
                                          </p:stCondLst>
                                        </p:cTn>
                                        <p:tgtEl>
                                          <p:spTgt spid="4"/>
                                        </p:tgtEl>
                                        <p:attrNameLst>
                                          <p:attrName>style.visibility</p:attrName>
                                        </p:attrNameLst>
                                      </p:cBhvr>
                                      <p:to>
                                        <p:strVal val="visible"/>
                                      </p:to>
                                    </p:set>
                                    <p:anim calcmode="lin" valueType="num">
                                      <p:cBhvr>
                                        <p:cTn id="31" dur="750" fill="hold"/>
                                        <p:tgtEl>
                                          <p:spTgt spid="4"/>
                                        </p:tgtEl>
                                        <p:attrNameLst>
                                          <p:attrName>ppt_w</p:attrName>
                                        </p:attrNameLst>
                                      </p:cBhvr>
                                      <p:tavLst>
                                        <p:tav tm="0">
                                          <p:val>
                                            <p:fltVal val="0"/>
                                          </p:val>
                                        </p:tav>
                                        <p:tav tm="100000">
                                          <p:val>
                                            <p:strVal val="#ppt_w"/>
                                          </p:val>
                                        </p:tav>
                                      </p:tavLst>
                                    </p:anim>
                                    <p:anim calcmode="lin" valueType="num">
                                      <p:cBhvr>
                                        <p:cTn id="32" dur="750" fill="hold"/>
                                        <p:tgtEl>
                                          <p:spTgt spid="4"/>
                                        </p:tgtEl>
                                        <p:attrNameLst>
                                          <p:attrName>ppt_h</p:attrName>
                                        </p:attrNameLst>
                                      </p:cBhvr>
                                      <p:tavLst>
                                        <p:tav tm="0">
                                          <p:val>
                                            <p:fltVal val="0"/>
                                          </p:val>
                                        </p:tav>
                                        <p:tav tm="100000">
                                          <p:val>
                                            <p:strVal val="#ppt_h"/>
                                          </p:val>
                                        </p:tav>
                                      </p:tavLst>
                                    </p:anim>
                                    <p:animEffect transition="in" filter="fade">
                                      <p:cBhvr>
                                        <p:cTn id="33"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0256" y="164676"/>
            <a:ext cx="1781257" cy="830997"/>
          </a:xfrm>
          <a:prstGeom prst="rect">
            <a:avLst/>
          </a:prstGeom>
          <a:noFill/>
        </p:spPr>
        <p:txBody>
          <a:bodyPr wrap="none" rtlCol="0">
            <a:spAutoFit/>
          </a:bodyPr>
          <a:lstStyle/>
          <a:p>
            <a:r>
              <a:rPr lang="zh-CN" altLang="en-US" sz="4800" dirty="0" smtClean="0">
                <a:solidFill>
                  <a:schemeClr val="bg1"/>
                </a:solidFill>
                <a:latin typeface="微软雅黑" pitchFamily="34" charset="-122"/>
                <a:ea typeface="微软雅黑" pitchFamily="34" charset="-122"/>
              </a:rPr>
              <a:t>目  录</a:t>
            </a:r>
            <a:endParaRPr lang="zh-CN" altLang="en-US" sz="4800" dirty="0">
              <a:solidFill>
                <a:schemeClr val="bg1"/>
              </a:solidFill>
              <a:latin typeface="微软雅黑" pitchFamily="34" charset="-122"/>
              <a:ea typeface="微软雅黑" pitchFamily="34" charset="-122"/>
            </a:endParaRPr>
          </a:p>
        </p:txBody>
      </p:sp>
      <p:grpSp>
        <p:nvGrpSpPr>
          <p:cNvPr id="21" name="组合 20"/>
          <p:cNvGrpSpPr/>
          <p:nvPr/>
        </p:nvGrpSpPr>
        <p:grpSpPr>
          <a:xfrm>
            <a:off x="470257" y="1178433"/>
            <a:ext cx="2654164" cy="1632559"/>
            <a:chOff x="476662" y="843558"/>
            <a:chExt cx="2376264" cy="1224136"/>
          </a:xfrm>
        </p:grpSpPr>
        <p:sp>
          <p:nvSpPr>
            <p:cNvPr id="4" name="矩形 3">
              <a:hlinkClick r:id="rId2" action="ppaction://hlinksldjump"/>
            </p:cNvPr>
            <p:cNvSpPr/>
            <p:nvPr/>
          </p:nvSpPr>
          <p:spPr>
            <a:xfrm>
              <a:off x="476662" y="843558"/>
              <a:ext cx="2376264" cy="1224136"/>
            </a:xfrm>
            <a:prstGeom prst="rect">
              <a:avLst/>
            </a:prstGeom>
            <a:gradFill flip="none" rotWithShape="1">
              <a:gsLst>
                <a:gs pos="0">
                  <a:srgbClr val="008519"/>
                </a:gs>
                <a:gs pos="100000">
                  <a:srgbClr val="00A324"/>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028" name="Picture 4" descr="C:\Users\Nir\Desktop\未标题-1.png">
              <a:hlinkClick r:id="rId2" action="ppaction://hlinksldjump"/>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5696" y="1048670"/>
              <a:ext cx="795338" cy="84137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1925730" y="1163528"/>
              <a:ext cx="486030" cy="300013"/>
            </a:xfrm>
            <a:prstGeom prst="rect">
              <a:avLst/>
            </a:prstGeom>
            <a:noFill/>
          </p:spPr>
          <p:txBody>
            <a:bodyPr wrap="none" rtlCol="0">
              <a:spAutoFit/>
            </a:bodyPr>
            <a:lstStyle/>
            <a:p>
              <a:r>
                <a:rPr lang="en-US" altLang="zh-CN" sz="2000" dirty="0" smtClean="0">
                  <a:solidFill>
                    <a:schemeClr val="bg1"/>
                  </a:solidFill>
                  <a:latin typeface="微软雅黑" pitchFamily="34" charset="-122"/>
                  <a:ea typeface="微软雅黑" pitchFamily="34" charset="-122"/>
                </a:rPr>
                <a:t>01</a:t>
              </a:r>
              <a:endParaRPr lang="zh-CN" altLang="en-US" sz="2000" dirty="0">
                <a:solidFill>
                  <a:schemeClr val="bg1"/>
                </a:solidFill>
                <a:latin typeface="微软雅黑" pitchFamily="34" charset="-122"/>
                <a:ea typeface="微软雅黑" pitchFamily="34" charset="-122"/>
              </a:endParaRPr>
            </a:p>
          </p:txBody>
        </p:sp>
        <p:sp>
          <p:nvSpPr>
            <p:cNvPr id="20" name="TextBox 19">
              <a:hlinkClick r:id="rId2" action="ppaction://hlinksldjump"/>
            </p:cNvPr>
            <p:cNvSpPr txBox="1"/>
            <p:nvPr/>
          </p:nvSpPr>
          <p:spPr>
            <a:xfrm>
              <a:off x="637751" y="1270960"/>
              <a:ext cx="1085487" cy="276935"/>
            </a:xfrm>
            <a:prstGeom prst="rect">
              <a:avLst/>
            </a:prstGeom>
            <a:noFill/>
          </p:spPr>
          <p:txBody>
            <a:bodyPr wrap="none" rtlCol="0">
              <a:spAutoFit/>
            </a:bodyPr>
            <a:lstStyle/>
            <a:p>
              <a:r>
                <a:rPr lang="zh-CN" altLang="en-US" dirty="0" smtClean="0">
                  <a:solidFill>
                    <a:schemeClr val="bg1"/>
                  </a:solidFill>
                  <a:latin typeface="微软雅黑" pitchFamily="34" charset="-122"/>
                  <a:ea typeface="微软雅黑" pitchFamily="34" charset="-122"/>
                </a:rPr>
                <a:t>概念定义</a:t>
              </a:r>
              <a:endParaRPr lang="zh-CN" altLang="en-US" dirty="0">
                <a:solidFill>
                  <a:schemeClr val="bg1"/>
                </a:solidFill>
                <a:latin typeface="微软雅黑" pitchFamily="34" charset="-122"/>
                <a:ea typeface="微软雅黑" pitchFamily="34" charset="-122"/>
              </a:endParaRPr>
            </a:p>
          </p:txBody>
        </p:sp>
      </p:grpSp>
      <p:grpSp>
        <p:nvGrpSpPr>
          <p:cNvPr id="22" name="组合 21"/>
          <p:cNvGrpSpPr/>
          <p:nvPr/>
        </p:nvGrpSpPr>
        <p:grpSpPr>
          <a:xfrm>
            <a:off x="3330279" y="1182912"/>
            <a:ext cx="2191290" cy="1616395"/>
            <a:chOff x="2933318" y="857290"/>
            <a:chExt cx="2129190" cy="1224136"/>
          </a:xfrm>
        </p:grpSpPr>
        <p:sp>
          <p:nvSpPr>
            <p:cNvPr id="6" name="矩形 5">
              <a:hlinkClick r:id="rId4" action="ppaction://hlinksldjump"/>
            </p:cNvPr>
            <p:cNvSpPr/>
            <p:nvPr/>
          </p:nvSpPr>
          <p:spPr>
            <a:xfrm>
              <a:off x="2933318" y="857290"/>
              <a:ext cx="2129190" cy="1224136"/>
            </a:xfrm>
            <a:prstGeom prst="rect">
              <a:avLst/>
            </a:prstGeom>
            <a:gradFill flip="none" rotWithShape="1">
              <a:gsLst>
                <a:gs pos="0">
                  <a:srgbClr val="5232AF"/>
                </a:gs>
                <a:gs pos="100000">
                  <a:srgbClr val="613FB4"/>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029" name="Picture 5" descr="C:\Users\Nir\Desktop\未标题-1.png">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59832" y="1053244"/>
              <a:ext cx="795337" cy="84137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组合 22"/>
          <p:cNvGrpSpPr/>
          <p:nvPr/>
        </p:nvGrpSpPr>
        <p:grpSpPr>
          <a:xfrm>
            <a:off x="2894163" y="3032916"/>
            <a:ext cx="2513797" cy="1632559"/>
            <a:chOff x="2184273" y="2215192"/>
            <a:chExt cx="2376264" cy="1224136"/>
          </a:xfrm>
        </p:grpSpPr>
        <p:sp>
          <p:nvSpPr>
            <p:cNvPr id="12" name="矩形 11">
              <a:hlinkClick r:id="rId6" action="ppaction://hlinksldjump"/>
            </p:cNvPr>
            <p:cNvSpPr/>
            <p:nvPr/>
          </p:nvSpPr>
          <p:spPr>
            <a:xfrm>
              <a:off x="2184273" y="2215192"/>
              <a:ext cx="2376264" cy="1224136"/>
            </a:xfrm>
            <a:prstGeom prst="rect">
              <a:avLst/>
            </a:prstGeom>
            <a:gradFill flip="none" rotWithShape="1">
              <a:gsLst>
                <a:gs pos="0">
                  <a:srgbClr val="A61A40"/>
                </a:gs>
                <a:gs pos="100000">
                  <a:srgbClr val="BF1B4D">
                    <a:alpha val="84706"/>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           </a:t>
              </a:r>
              <a:endParaRPr lang="zh-CN" altLang="en-US" dirty="0">
                <a:ea typeface="微软雅黑" pitchFamily="34" charset="-122"/>
              </a:endParaRPr>
            </a:p>
          </p:txBody>
        </p:sp>
        <p:sp>
          <p:nvSpPr>
            <p:cNvPr id="30" name="TextBox 29"/>
            <p:cNvSpPr txBox="1"/>
            <p:nvPr/>
          </p:nvSpPr>
          <p:spPr>
            <a:xfrm>
              <a:off x="2460464" y="2493752"/>
              <a:ext cx="604318" cy="392324"/>
            </a:xfrm>
            <a:prstGeom prst="rect">
              <a:avLst/>
            </a:prstGeom>
            <a:noFill/>
          </p:spPr>
          <p:txBody>
            <a:bodyPr wrap="none" rtlCol="0">
              <a:spAutoFit/>
            </a:bodyPr>
            <a:lstStyle/>
            <a:p>
              <a:r>
                <a:rPr lang="en-US" altLang="zh-CN" sz="2800" dirty="0">
                  <a:solidFill>
                    <a:schemeClr val="bg1"/>
                  </a:solidFill>
                  <a:latin typeface="微软雅黑" pitchFamily="34" charset="-122"/>
                  <a:ea typeface="微软雅黑" pitchFamily="34" charset="-122"/>
                </a:rPr>
                <a:t>03</a:t>
              </a:r>
            </a:p>
          </p:txBody>
        </p:sp>
        <p:sp>
          <p:nvSpPr>
            <p:cNvPr id="31" name="TextBox 30"/>
            <p:cNvSpPr txBox="1"/>
            <p:nvPr/>
          </p:nvSpPr>
          <p:spPr>
            <a:xfrm>
              <a:off x="2946494" y="2822773"/>
              <a:ext cx="1414987" cy="438480"/>
            </a:xfrm>
            <a:prstGeom prst="rect">
              <a:avLst/>
            </a:prstGeom>
            <a:noFill/>
          </p:spPr>
          <p:txBody>
            <a:bodyPr wrap="none" rtlCol="0">
              <a:spAutoFit/>
            </a:bodyPr>
            <a:lstStyle/>
            <a:p>
              <a:r>
                <a:rPr lang="zh-CN" altLang="en-US" sz="3200" b="1" dirty="0">
                  <a:solidFill>
                    <a:schemeClr val="bg1"/>
                  </a:solidFill>
                  <a:latin typeface="微软雅黑" pitchFamily="34" charset="-122"/>
                  <a:ea typeface="微软雅黑" pitchFamily="34" charset="-122"/>
                </a:rPr>
                <a:t>方法二</a:t>
              </a:r>
            </a:p>
          </p:txBody>
        </p:sp>
      </p:grpSp>
      <p:grpSp>
        <p:nvGrpSpPr>
          <p:cNvPr id="24" name="组合 23"/>
          <p:cNvGrpSpPr/>
          <p:nvPr/>
        </p:nvGrpSpPr>
        <p:grpSpPr>
          <a:xfrm>
            <a:off x="457196" y="3021371"/>
            <a:ext cx="2268420" cy="1632559"/>
            <a:chOff x="467544" y="2180260"/>
            <a:chExt cx="1593294" cy="1224136"/>
          </a:xfrm>
        </p:grpSpPr>
        <p:sp>
          <p:nvSpPr>
            <p:cNvPr id="9" name="矩形 8">
              <a:hlinkClick r:id="rId7" action="ppaction://hlinksldjump"/>
            </p:cNvPr>
            <p:cNvSpPr/>
            <p:nvPr/>
          </p:nvSpPr>
          <p:spPr>
            <a:xfrm>
              <a:off x="467544" y="2180260"/>
              <a:ext cx="1593294" cy="1224136"/>
            </a:xfrm>
            <a:prstGeom prst="rect">
              <a:avLst/>
            </a:prstGeom>
            <a:gradFill flip="none" rotWithShape="1">
              <a:gsLst>
                <a:gs pos="0">
                  <a:srgbClr val="2276EA"/>
                </a:gs>
                <a:gs pos="100000">
                  <a:srgbClr val="2C90F4">
                    <a:alpha val="84706"/>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032" name="Picture 8" descr="C:\Users\Nir\Desktop\未标题-1.png">
              <a:hlinkClick r:id="rId8" action="ppaction://hlinksldjump"/>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27484" y="2377332"/>
              <a:ext cx="592188" cy="626466"/>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58488" y="3004295"/>
              <a:ext cx="142201" cy="276935"/>
            </a:xfrm>
            <a:prstGeom prst="rect">
              <a:avLst/>
            </a:prstGeom>
            <a:noFill/>
          </p:spPr>
          <p:txBody>
            <a:bodyPr wrap="none" rtlCol="0">
              <a:spAutoFit/>
            </a:bodyPr>
            <a:lstStyle/>
            <a:p>
              <a:endParaRPr lang="zh-CN" altLang="en-US" dirty="0">
                <a:solidFill>
                  <a:schemeClr val="bg1"/>
                </a:solidFill>
                <a:latin typeface="微软雅黑" pitchFamily="34" charset="-122"/>
                <a:ea typeface="微软雅黑" pitchFamily="34" charset="-122"/>
              </a:endParaRPr>
            </a:p>
          </p:txBody>
        </p:sp>
      </p:grpSp>
      <p:grpSp>
        <p:nvGrpSpPr>
          <p:cNvPr id="27" name="组合 26"/>
          <p:cNvGrpSpPr/>
          <p:nvPr/>
        </p:nvGrpSpPr>
        <p:grpSpPr>
          <a:xfrm>
            <a:off x="5669705" y="3450676"/>
            <a:ext cx="1998639" cy="2968284"/>
            <a:chOff x="4589502" y="884116"/>
            <a:chExt cx="1595263" cy="2160240"/>
          </a:xfrm>
        </p:grpSpPr>
        <p:sp>
          <p:nvSpPr>
            <p:cNvPr id="8" name="矩形 7">
              <a:hlinkClick r:id="rId10" action="ppaction://hlinksldjump"/>
            </p:cNvPr>
            <p:cNvSpPr/>
            <p:nvPr/>
          </p:nvSpPr>
          <p:spPr>
            <a:xfrm>
              <a:off x="4589502" y="884116"/>
              <a:ext cx="1575792" cy="2160240"/>
            </a:xfrm>
            <a:prstGeom prst="rect">
              <a:avLst/>
            </a:prstGeom>
            <a:gradFill flip="none" rotWithShape="1">
              <a:gsLst>
                <a:gs pos="0">
                  <a:schemeClr val="accent6">
                    <a:lumMod val="75000"/>
                  </a:schemeClr>
                </a:gs>
                <a:gs pos="100000">
                  <a:srgbClr val="FF6600">
                    <a:alpha val="85000"/>
                    <a:lumMod val="97000"/>
                    <a:lumOff val="3000"/>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033" name="Picture 9" descr="C:\Users\Nir\Desktop\未标题-1.png">
              <a:hlinkClick r:id="rId7" action="ppaction://hlinksldjump"/>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727962" y="1025738"/>
              <a:ext cx="795337" cy="841375"/>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p:cNvSpPr txBox="1"/>
            <p:nvPr/>
          </p:nvSpPr>
          <p:spPr>
            <a:xfrm>
              <a:off x="5580112" y="1203598"/>
              <a:ext cx="604653" cy="392324"/>
            </a:xfrm>
            <a:prstGeom prst="rect">
              <a:avLst/>
            </a:prstGeom>
            <a:noFill/>
          </p:spPr>
          <p:txBody>
            <a:bodyPr wrap="none" rtlCol="0">
              <a:spAutoFit/>
            </a:bodyPr>
            <a:lstStyle/>
            <a:p>
              <a:r>
                <a:rPr lang="en-US" altLang="zh-CN" sz="2800" dirty="0" smtClean="0">
                  <a:solidFill>
                    <a:schemeClr val="bg1"/>
                  </a:solidFill>
                  <a:latin typeface="微软雅黑" pitchFamily="34" charset="-122"/>
                  <a:ea typeface="微软雅黑" pitchFamily="34" charset="-122"/>
                </a:rPr>
                <a:t>05</a:t>
              </a:r>
            </a:p>
          </p:txBody>
        </p:sp>
        <p:sp>
          <p:nvSpPr>
            <p:cNvPr id="25" name="矩形 24">
              <a:hlinkClick r:id="rId8" action="ppaction://hlinksldjump"/>
            </p:cNvPr>
            <p:cNvSpPr/>
            <p:nvPr/>
          </p:nvSpPr>
          <p:spPr>
            <a:xfrm>
              <a:off x="4755131" y="1767468"/>
              <a:ext cx="1244534" cy="1179420"/>
            </a:xfrm>
            <a:prstGeom prst="rect">
              <a:avLst/>
            </a:prstGeom>
            <a:noFill/>
            <a:ln w="44450">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grpSp>
      <p:grpSp>
        <p:nvGrpSpPr>
          <p:cNvPr id="28" name="组合 27"/>
          <p:cNvGrpSpPr/>
          <p:nvPr/>
        </p:nvGrpSpPr>
        <p:grpSpPr>
          <a:xfrm>
            <a:off x="5643002" y="1161576"/>
            <a:ext cx="2025342" cy="2112724"/>
            <a:chOff x="4572000" y="3116364"/>
            <a:chExt cx="1593294" cy="1584176"/>
          </a:xfrm>
        </p:grpSpPr>
        <p:sp>
          <p:nvSpPr>
            <p:cNvPr id="13" name="矩形 12">
              <a:hlinkClick r:id="rId12" action="ppaction://hlinksldjump"/>
            </p:cNvPr>
            <p:cNvSpPr/>
            <p:nvPr/>
          </p:nvSpPr>
          <p:spPr>
            <a:xfrm>
              <a:off x="4572000" y="3116364"/>
              <a:ext cx="1593294" cy="1584176"/>
            </a:xfrm>
            <a:prstGeom prst="rect">
              <a:avLst/>
            </a:prstGeom>
            <a:gradFill flip="none" rotWithShape="1">
              <a:gsLst>
                <a:gs pos="0">
                  <a:srgbClr val="2276EA"/>
                </a:gs>
                <a:gs pos="100000">
                  <a:srgbClr val="2C90F4">
                    <a:alpha val="84706"/>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034" name="Picture 10" descr="C:\Users\Nir\Desktop\未标题-1.png">
              <a:hlinkClick r:id="rId10" action="ppaction://hlinksldjump"/>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727961" y="3251612"/>
              <a:ext cx="795338" cy="841375"/>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40"/>
            <p:cNvSpPr txBox="1"/>
            <p:nvPr/>
          </p:nvSpPr>
          <p:spPr>
            <a:xfrm>
              <a:off x="5516376" y="3653285"/>
              <a:ext cx="604653" cy="392324"/>
            </a:xfrm>
            <a:prstGeom prst="rect">
              <a:avLst/>
            </a:prstGeom>
            <a:noFill/>
          </p:spPr>
          <p:txBody>
            <a:bodyPr wrap="none" rtlCol="0">
              <a:spAutoFit/>
            </a:bodyPr>
            <a:lstStyle/>
            <a:p>
              <a:r>
                <a:rPr lang="en-US" altLang="zh-CN" sz="2800" dirty="0" smtClean="0">
                  <a:solidFill>
                    <a:schemeClr val="bg1"/>
                  </a:solidFill>
                  <a:latin typeface="微软雅黑" pitchFamily="34" charset="-122"/>
                  <a:ea typeface="微软雅黑" pitchFamily="34" charset="-122"/>
                </a:rPr>
                <a:t>04</a:t>
              </a:r>
            </a:p>
          </p:txBody>
        </p:sp>
      </p:grpSp>
      <p:sp>
        <p:nvSpPr>
          <p:cNvPr id="14" name="矩形 13">
            <a:hlinkClick r:id="rId14" action="ppaction://hlinksldjump"/>
          </p:cNvPr>
          <p:cNvSpPr/>
          <p:nvPr/>
        </p:nvSpPr>
        <p:spPr>
          <a:xfrm>
            <a:off x="3030266" y="4821246"/>
            <a:ext cx="2360109" cy="1616395"/>
          </a:xfrm>
          <a:prstGeom prst="rect">
            <a:avLst/>
          </a:prstGeom>
          <a:gradFill flip="none" rotWithShape="1">
            <a:gsLst>
              <a:gs pos="0">
                <a:srgbClr val="008519"/>
              </a:gs>
              <a:gs pos="100000">
                <a:srgbClr val="00A324"/>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grpSp>
        <p:nvGrpSpPr>
          <p:cNvPr id="33" name="组合 32"/>
          <p:cNvGrpSpPr/>
          <p:nvPr/>
        </p:nvGrpSpPr>
        <p:grpSpPr>
          <a:xfrm>
            <a:off x="470257" y="4818229"/>
            <a:ext cx="2411974" cy="1600391"/>
            <a:chOff x="1693347" y="3716522"/>
            <a:chExt cx="1593294" cy="1224136"/>
          </a:xfrm>
        </p:grpSpPr>
        <p:sp>
          <p:nvSpPr>
            <p:cNvPr id="10" name="矩形 9">
              <a:hlinkClick r:id="rId4" action="ppaction://hlinksldjump"/>
            </p:cNvPr>
            <p:cNvSpPr/>
            <p:nvPr/>
          </p:nvSpPr>
          <p:spPr>
            <a:xfrm>
              <a:off x="1693347" y="3716522"/>
              <a:ext cx="1593294" cy="1224136"/>
            </a:xfrm>
            <a:prstGeom prst="rect">
              <a:avLst/>
            </a:prstGeom>
            <a:gradFill flip="none" rotWithShape="1">
              <a:gsLst>
                <a:gs pos="0">
                  <a:srgbClr val="A61A40"/>
                </a:gs>
                <a:gs pos="100000">
                  <a:srgbClr val="BF1B4D">
                    <a:alpha val="84706"/>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035" name="Picture 11" descr="C:\Users\Nir\Desktop\未标题-1.png">
              <a:hlinkClick r:id="rId15" action="ppaction://hlinksldjump"/>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811675" y="3801687"/>
              <a:ext cx="795338" cy="841375"/>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灯片编号占位符 1"/>
          <p:cNvSpPr>
            <a:spLocks noGrp="1"/>
          </p:cNvSpPr>
          <p:nvPr>
            <p:ph type="sldNum" sz="quarter" idx="12"/>
          </p:nvPr>
        </p:nvSpPr>
        <p:spPr/>
        <p:txBody>
          <a:bodyPr/>
          <a:lstStyle/>
          <a:p>
            <a:fld id="{833901E6-BE0D-4D4C-BD9F-F1A617F9590B}" type="slidenum">
              <a:rPr lang="zh-CN" altLang="en-US" smtClean="0">
                <a:solidFill>
                  <a:schemeClr val="bg1"/>
                </a:solidFill>
              </a:rPr>
              <a:t>2</a:t>
            </a:fld>
            <a:endParaRPr lang="zh-CN" altLang="en-US" dirty="0">
              <a:solidFill>
                <a:schemeClr val="bg1"/>
              </a:solidFill>
            </a:endParaRPr>
          </a:p>
        </p:txBody>
      </p:sp>
      <p:sp>
        <p:nvSpPr>
          <p:cNvPr id="39" name="TextBox 38"/>
          <p:cNvSpPr txBox="1"/>
          <p:nvPr/>
        </p:nvSpPr>
        <p:spPr>
          <a:xfrm>
            <a:off x="5958070" y="4918832"/>
            <a:ext cx="1404490" cy="954107"/>
          </a:xfrm>
          <a:prstGeom prst="rect">
            <a:avLst/>
          </a:prstGeom>
          <a:noFill/>
        </p:spPr>
        <p:txBody>
          <a:bodyPr wrap="square" rtlCol="0">
            <a:spAutoFit/>
          </a:bodyPr>
          <a:lstStyle/>
          <a:p>
            <a:r>
              <a:rPr lang="zh-CN" altLang="en-US" sz="2800" dirty="0" smtClean="0">
                <a:solidFill>
                  <a:schemeClr val="bg1"/>
                </a:solidFill>
                <a:ea typeface="微软雅黑" pitchFamily="34" charset="-122"/>
              </a:rPr>
              <a:t>协调</a:t>
            </a:r>
            <a:endParaRPr lang="en-US" altLang="zh-CN" sz="2800" dirty="0" smtClean="0">
              <a:solidFill>
                <a:schemeClr val="bg1"/>
              </a:solidFill>
              <a:ea typeface="微软雅黑" pitchFamily="34" charset="-122"/>
            </a:endParaRPr>
          </a:p>
          <a:p>
            <a:r>
              <a:rPr lang="zh-CN" altLang="en-US" sz="2800" dirty="0" smtClean="0">
                <a:solidFill>
                  <a:schemeClr val="bg1"/>
                </a:solidFill>
                <a:ea typeface="微软雅黑" pitchFamily="34" charset="-122"/>
              </a:rPr>
              <a:t>差异</a:t>
            </a:r>
            <a:endParaRPr lang="zh-CN" altLang="en-US" sz="2800" dirty="0">
              <a:solidFill>
                <a:schemeClr val="bg1"/>
              </a:solidFill>
              <a:ea typeface="微软雅黑" pitchFamily="34" charset="-122"/>
            </a:endParaRPr>
          </a:p>
        </p:txBody>
      </p:sp>
      <p:sp>
        <p:nvSpPr>
          <p:cNvPr id="40" name="TextBox 39"/>
          <p:cNvSpPr txBox="1"/>
          <p:nvPr/>
        </p:nvSpPr>
        <p:spPr>
          <a:xfrm>
            <a:off x="5652120" y="2602296"/>
            <a:ext cx="1415838" cy="584775"/>
          </a:xfrm>
          <a:prstGeom prst="rect">
            <a:avLst/>
          </a:prstGeom>
          <a:noFill/>
        </p:spPr>
        <p:txBody>
          <a:bodyPr wrap="square" rtlCol="0">
            <a:spAutoFit/>
          </a:bodyPr>
          <a:lstStyle/>
          <a:p>
            <a:pPr algn="dist"/>
            <a:r>
              <a:rPr lang="zh-CN" altLang="en-US" sz="3200" b="1" dirty="0" smtClean="0">
                <a:solidFill>
                  <a:schemeClr val="bg1"/>
                </a:solidFill>
                <a:latin typeface="微软雅黑" pitchFamily="34" charset="-122"/>
                <a:ea typeface="微软雅黑" pitchFamily="34" charset="-122"/>
              </a:rPr>
              <a:t>方法三</a:t>
            </a:r>
            <a:endParaRPr lang="zh-CN" altLang="en-US" sz="3200" b="1" dirty="0">
              <a:solidFill>
                <a:schemeClr val="bg1"/>
              </a:solidFill>
              <a:latin typeface="微软雅黑" pitchFamily="34" charset="-122"/>
              <a:ea typeface="微软雅黑" pitchFamily="34" charset="-122"/>
            </a:endParaRPr>
          </a:p>
        </p:txBody>
      </p:sp>
      <p:sp>
        <p:nvSpPr>
          <p:cNvPr id="45" name="TextBox 25"/>
          <p:cNvSpPr txBox="1"/>
          <p:nvPr/>
        </p:nvSpPr>
        <p:spPr>
          <a:xfrm>
            <a:off x="1475656" y="5395886"/>
            <a:ext cx="1415772" cy="1015663"/>
          </a:xfrm>
          <a:prstGeom prst="rect">
            <a:avLst/>
          </a:prstGeom>
          <a:noFill/>
        </p:spPr>
        <p:txBody>
          <a:bodyPr wrap="none" rtlCol="0">
            <a:spAutoFit/>
          </a:bodyPr>
          <a:lstStyle/>
          <a:p>
            <a:r>
              <a:rPr lang="en-US" altLang="zh-CN" sz="2000" b="1" dirty="0" smtClean="0">
                <a:solidFill>
                  <a:schemeClr val="bg1"/>
                </a:solidFill>
                <a:latin typeface="微软雅黑" pitchFamily="34" charset="-122"/>
                <a:ea typeface="微软雅黑" pitchFamily="34" charset="-122"/>
              </a:rPr>
              <a:t>     </a:t>
            </a:r>
            <a:r>
              <a:rPr lang="en-US" altLang="zh-CN" sz="2800" dirty="0">
                <a:solidFill>
                  <a:schemeClr val="bg1"/>
                </a:solidFill>
                <a:latin typeface="微软雅黑" pitchFamily="34" charset="-122"/>
                <a:ea typeface="微软雅黑" pitchFamily="34" charset="-122"/>
              </a:rPr>
              <a:t>02</a:t>
            </a:r>
          </a:p>
          <a:p>
            <a:r>
              <a:rPr lang="zh-CN" altLang="en-US" sz="3200" b="1" dirty="0">
                <a:solidFill>
                  <a:schemeClr val="bg1"/>
                </a:solidFill>
                <a:latin typeface="微软雅黑" pitchFamily="34" charset="-122"/>
                <a:ea typeface="微软雅黑" pitchFamily="34" charset="-122"/>
              </a:rPr>
              <a:t>方法一</a:t>
            </a:r>
            <a:endParaRPr lang="en-US" altLang="zh-CN" sz="3200" b="1" dirty="0">
              <a:solidFill>
                <a:schemeClr val="bg1"/>
              </a:solidFill>
              <a:latin typeface="微软雅黑" pitchFamily="34" charset="-122"/>
              <a:ea typeface="微软雅黑" pitchFamily="34" charset="-122"/>
            </a:endParaRPr>
          </a:p>
        </p:txBody>
      </p:sp>
      <p:pic>
        <p:nvPicPr>
          <p:cNvPr id="47" name="Picture 6" descr="C:\Users\Nir\Desktop\未标题-1.png">
            <a:hlinkClick r:id="rId6" action="ppaction://hlinksldjump"/>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3707904" y="5111299"/>
            <a:ext cx="989953" cy="1126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4980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rot="5400000">
            <a:off x="-634929" y="2765323"/>
            <a:ext cx="7912744" cy="523220"/>
          </a:xfrm>
          <a:prstGeom prst="rect">
            <a:avLst/>
          </a:prstGeom>
          <a:noFill/>
        </p:spPr>
        <p:txBody>
          <a:bodyPr wrap="none" rtlCol="0">
            <a:spAutoFit/>
          </a:bodyPr>
          <a:lstStyle/>
          <a:p>
            <a:r>
              <a:rPr lang="en-US" altLang="zh-CN" sz="2800" dirty="0" smtClean="0">
                <a:solidFill>
                  <a:schemeClr val="bg1"/>
                </a:solidFill>
                <a:latin typeface="微软雅黑" pitchFamily="34" charset="-122"/>
                <a:ea typeface="微软雅黑" pitchFamily="34" charset="-122"/>
              </a:rPr>
              <a:t>                                                  What is that</a:t>
            </a:r>
            <a:r>
              <a:rPr lang="zh-CN" altLang="en-US" sz="2800" dirty="0" smtClean="0">
                <a:solidFill>
                  <a:schemeClr val="bg1"/>
                </a:solidFill>
                <a:latin typeface="微软雅黑" pitchFamily="34" charset="-122"/>
                <a:ea typeface="微软雅黑" pitchFamily="34" charset="-122"/>
              </a:rPr>
              <a:t>？</a:t>
            </a:r>
            <a:endParaRPr lang="zh-CN" altLang="en-US" sz="2800" dirty="0">
              <a:solidFill>
                <a:schemeClr val="bg1"/>
              </a:solidFill>
              <a:latin typeface="微软雅黑" pitchFamily="34" charset="-122"/>
              <a:ea typeface="微软雅黑" pitchFamily="34" charset="-122"/>
            </a:endParaRPr>
          </a:p>
        </p:txBody>
      </p:sp>
      <p:sp>
        <p:nvSpPr>
          <p:cNvPr id="45" name="TextBox 44"/>
          <p:cNvSpPr txBox="1"/>
          <p:nvPr/>
        </p:nvSpPr>
        <p:spPr>
          <a:xfrm rot="5400000">
            <a:off x="2990764" y="4228900"/>
            <a:ext cx="3809954" cy="523220"/>
          </a:xfrm>
          <a:prstGeom prst="rect">
            <a:avLst/>
          </a:prstGeom>
          <a:noFill/>
        </p:spPr>
        <p:txBody>
          <a:bodyPr wrap="none" rtlCol="0">
            <a:spAutoFit/>
          </a:bodyPr>
          <a:lstStyle/>
          <a:p>
            <a:r>
              <a:rPr lang="en-US" altLang="zh-CN" sz="2800" dirty="0" smtClean="0">
                <a:solidFill>
                  <a:schemeClr val="bg1"/>
                </a:solidFill>
                <a:latin typeface="微软雅黑" pitchFamily="34" charset="-122"/>
                <a:ea typeface="微软雅黑" pitchFamily="34" charset="-122"/>
              </a:rPr>
              <a:t>How do we define it?</a:t>
            </a:r>
            <a:endParaRPr lang="zh-CN" altLang="en-US" sz="2800" dirty="0">
              <a:solidFill>
                <a:schemeClr val="bg1"/>
              </a:solidFill>
              <a:latin typeface="微软雅黑" pitchFamily="34" charset="-122"/>
              <a:ea typeface="微软雅黑" pitchFamily="34" charset="-122"/>
            </a:endParaRPr>
          </a:p>
        </p:txBody>
      </p:sp>
      <p:sp>
        <p:nvSpPr>
          <p:cNvPr id="3" name="矩形 2">
            <a:hlinkClick r:id="rId2" action="ppaction://hlinksldjump"/>
          </p:cNvPr>
          <p:cNvSpPr/>
          <p:nvPr/>
        </p:nvSpPr>
        <p:spPr>
          <a:xfrm>
            <a:off x="7812362" y="6105008"/>
            <a:ext cx="954381" cy="548807"/>
          </a:xfrm>
          <a:prstGeom prst="rect">
            <a:avLst/>
          </a:prstGeom>
          <a:solidFill>
            <a:srgbClr val="A61A4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home</a:t>
            </a:r>
            <a:endParaRPr lang="zh-CN" altLang="en-US" dirty="0">
              <a:ea typeface="微软雅黑" pitchFamily="34" charset="-122"/>
            </a:endParaRPr>
          </a:p>
        </p:txBody>
      </p:sp>
      <p:sp>
        <p:nvSpPr>
          <p:cNvPr id="5" name="灯片编号占位符 4"/>
          <p:cNvSpPr>
            <a:spLocks noGrp="1"/>
          </p:cNvSpPr>
          <p:nvPr>
            <p:ph type="sldNum" sz="quarter" idx="12"/>
          </p:nvPr>
        </p:nvSpPr>
        <p:spPr/>
        <p:txBody>
          <a:bodyPr/>
          <a:lstStyle/>
          <a:p>
            <a:fld id="{833901E6-BE0D-4D4C-BD9F-F1A617F9590B}" type="slidenum">
              <a:rPr lang="zh-CN" altLang="en-US" smtClean="0">
                <a:solidFill>
                  <a:schemeClr val="bg1"/>
                </a:solidFill>
              </a:rPr>
              <a:t>3</a:t>
            </a:fld>
            <a:endParaRPr lang="zh-CN" altLang="en-US" dirty="0">
              <a:solidFill>
                <a:schemeClr val="bg1"/>
              </a:solidFill>
            </a:endParaRPr>
          </a:p>
        </p:txBody>
      </p:sp>
      <p:grpSp>
        <p:nvGrpSpPr>
          <p:cNvPr id="26" name="组合 25"/>
          <p:cNvGrpSpPr/>
          <p:nvPr/>
        </p:nvGrpSpPr>
        <p:grpSpPr>
          <a:xfrm>
            <a:off x="470257" y="1178433"/>
            <a:ext cx="2654164" cy="1632559"/>
            <a:chOff x="476662" y="843558"/>
            <a:chExt cx="2376264" cy="1224136"/>
          </a:xfrm>
        </p:grpSpPr>
        <p:sp>
          <p:nvSpPr>
            <p:cNvPr id="27" name="矩形 26"/>
            <p:cNvSpPr/>
            <p:nvPr/>
          </p:nvSpPr>
          <p:spPr>
            <a:xfrm>
              <a:off x="476662" y="843558"/>
              <a:ext cx="2376264" cy="1224136"/>
            </a:xfrm>
            <a:prstGeom prst="rect">
              <a:avLst/>
            </a:prstGeom>
            <a:gradFill flip="none" rotWithShape="1">
              <a:gsLst>
                <a:gs pos="0">
                  <a:srgbClr val="008519"/>
                </a:gs>
                <a:gs pos="100000">
                  <a:srgbClr val="00A324"/>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28" name="Picture 4" descr="C:\Users\Nir\Desktop\未标题-1.png">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35696" y="1048670"/>
              <a:ext cx="795338" cy="841375"/>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p:cNvSpPr txBox="1"/>
            <p:nvPr/>
          </p:nvSpPr>
          <p:spPr>
            <a:xfrm>
              <a:off x="1925730" y="1163528"/>
              <a:ext cx="486030" cy="300013"/>
            </a:xfrm>
            <a:prstGeom prst="rect">
              <a:avLst/>
            </a:prstGeom>
            <a:noFill/>
          </p:spPr>
          <p:txBody>
            <a:bodyPr wrap="none" rtlCol="0">
              <a:spAutoFit/>
            </a:bodyPr>
            <a:lstStyle/>
            <a:p>
              <a:r>
                <a:rPr lang="en-US" altLang="zh-CN" sz="2000" dirty="0" smtClean="0">
                  <a:solidFill>
                    <a:schemeClr val="bg1"/>
                  </a:solidFill>
                  <a:latin typeface="微软雅黑" pitchFamily="34" charset="-122"/>
                  <a:ea typeface="微软雅黑" pitchFamily="34" charset="-122"/>
                </a:rPr>
                <a:t>01</a:t>
              </a:r>
              <a:endParaRPr lang="zh-CN" altLang="en-US" sz="2000" dirty="0">
                <a:solidFill>
                  <a:schemeClr val="bg1"/>
                </a:solidFill>
                <a:latin typeface="微软雅黑" pitchFamily="34" charset="-122"/>
                <a:ea typeface="微软雅黑" pitchFamily="34" charset="-122"/>
              </a:endParaRPr>
            </a:p>
          </p:txBody>
        </p:sp>
        <p:sp>
          <p:nvSpPr>
            <p:cNvPr id="30" name="TextBox 29">
              <a:hlinkClick r:id="rId3" action="ppaction://hlinksldjump"/>
            </p:cNvPr>
            <p:cNvSpPr txBox="1"/>
            <p:nvPr/>
          </p:nvSpPr>
          <p:spPr>
            <a:xfrm>
              <a:off x="637751" y="1270960"/>
              <a:ext cx="1085487" cy="276935"/>
            </a:xfrm>
            <a:prstGeom prst="rect">
              <a:avLst/>
            </a:prstGeom>
            <a:noFill/>
          </p:spPr>
          <p:txBody>
            <a:bodyPr wrap="none" rtlCol="0">
              <a:spAutoFit/>
            </a:bodyPr>
            <a:lstStyle/>
            <a:p>
              <a:r>
                <a:rPr lang="zh-CN" altLang="en-US" dirty="0" smtClean="0">
                  <a:solidFill>
                    <a:schemeClr val="bg1"/>
                  </a:solidFill>
                  <a:latin typeface="微软雅黑" pitchFamily="34" charset="-122"/>
                  <a:ea typeface="微软雅黑" pitchFamily="34" charset="-122"/>
                </a:rPr>
                <a:t>概念定义</a:t>
              </a:r>
              <a:endParaRPr lang="zh-CN" altLang="en-US"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4120019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5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8" presetClass="emph" presetSubtype="0" fill="hold" grpId="0" nodeType="afterEffect" p14:presetBounceEnd="74000">
                                      <p:stCondLst>
                                        <p:cond delay="0"/>
                                      </p:stCondLst>
                                      <p:childTnLst>
                                        <p:animRot by="-5400000" p14:bounceEnd="74000">
                                          <p:cBhvr>
                                            <p:cTn id="9" dur="500" fill="hold"/>
                                            <p:tgtEl>
                                              <p:spTgt spid="2"/>
                                            </p:tgtEl>
                                            <p:attrNameLst>
                                              <p:attrName>r</p:attrName>
                                            </p:attrNameLst>
                                          </p:cBhvr>
                                        </p:animRot>
                                      </p:childTnLst>
                                    </p:cTn>
                                  </p:par>
                                </p:childTnLst>
                              </p:cTn>
                            </p:par>
                            <p:par>
                              <p:cTn id="10" fill="hold">
                                <p:stCondLst>
                                  <p:cond delay="1000"/>
                                </p:stCondLst>
                                <p:childTnLst>
                                  <p:par>
                                    <p:cTn id="11" presetID="1" presetClass="entr" presetSubtype="0" fill="hold" grpId="1" nodeType="afterEffect">
                                      <p:stCondLst>
                                        <p:cond delay="500"/>
                                      </p:stCondLst>
                                      <p:childTnLst>
                                        <p:set>
                                          <p:cBhvr>
                                            <p:cTn id="12" dur="1" fill="hold">
                                              <p:stCondLst>
                                                <p:cond delay="0"/>
                                              </p:stCondLst>
                                            </p:cTn>
                                            <p:tgtEl>
                                              <p:spTgt spid="45"/>
                                            </p:tgtEl>
                                            <p:attrNameLst>
                                              <p:attrName>style.visibility</p:attrName>
                                            </p:attrNameLst>
                                          </p:cBhvr>
                                          <p:to>
                                            <p:strVal val="visible"/>
                                          </p:to>
                                        </p:set>
                                      </p:childTnLst>
                                    </p:cTn>
                                  </p:par>
                                </p:childTnLst>
                              </p:cTn>
                            </p:par>
                            <p:par>
                              <p:cTn id="13" fill="hold">
                                <p:stCondLst>
                                  <p:cond delay="1500"/>
                                </p:stCondLst>
                                <p:childTnLst>
                                  <p:par>
                                    <p:cTn id="14" presetID="8" presetClass="emph" presetSubtype="0" fill="hold" grpId="0" nodeType="afterEffect" p14:presetBounceEnd="74000">
                                      <p:stCondLst>
                                        <p:cond delay="0"/>
                                      </p:stCondLst>
                                      <p:childTnLst>
                                        <p:animRot by="-5400000" p14:bounceEnd="74000">
                                          <p:cBhvr>
                                            <p:cTn id="15" dur="500" fill="hold"/>
                                            <p:tgtEl>
                                              <p:spTgt spid="4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5" grpId="0"/>
          <p:bldP spid="45"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5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8" presetClass="emph" presetSubtype="0" fill="hold" grpId="0" nodeType="afterEffect">
                                      <p:stCondLst>
                                        <p:cond delay="0"/>
                                      </p:stCondLst>
                                      <p:childTnLst>
                                        <p:animRot by="-5400000">
                                          <p:cBhvr>
                                            <p:cTn id="9" dur="500" fill="hold"/>
                                            <p:tgtEl>
                                              <p:spTgt spid="2"/>
                                            </p:tgtEl>
                                            <p:attrNameLst>
                                              <p:attrName>r</p:attrName>
                                            </p:attrNameLst>
                                          </p:cBhvr>
                                        </p:animRot>
                                      </p:childTnLst>
                                    </p:cTn>
                                  </p:par>
                                </p:childTnLst>
                              </p:cTn>
                            </p:par>
                            <p:par>
                              <p:cTn id="10" fill="hold">
                                <p:stCondLst>
                                  <p:cond delay="1000"/>
                                </p:stCondLst>
                                <p:childTnLst>
                                  <p:par>
                                    <p:cTn id="11" presetID="1" presetClass="entr" presetSubtype="0" fill="hold" grpId="1" nodeType="afterEffect">
                                      <p:stCondLst>
                                        <p:cond delay="500"/>
                                      </p:stCondLst>
                                      <p:childTnLst>
                                        <p:set>
                                          <p:cBhvr>
                                            <p:cTn id="12" dur="1" fill="hold">
                                              <p:stCondLst>
                                                <p:cond delay="0"/>
                                              </p:stCondLst>
                                            </p:cTn>
                                            <p:tgtEl>
                                              <p:spTgt spid="45"/>
                                            </p:tgtEl>
                                            <p:attrNameLst>
                                              <p:attrName>style.visibility</p:attrName>
                                            </p:attrNameLst>
                                          </p:cBhvr>
                                          <p:to>
                                            <p:strVal val="visible"/>
                                          </p:to>
                                        </p:set>
                                      </p:childTnLst>
                                    </p:cTn>
                                  </p:par>
                                </p:childTnLst>
                              </p:cTn>
                            </p:par>
                            <p:par>
                              <p:cTn id="13" fill="hold">
                                <p:stCondLst>
                                  <p:cond delay="1500"/>
                                </p:stCondLst>
                                <p:childTnLst>
                                  <p:par>
                                    <p:cTn id="14" presetID="8" presetClass="emph" presetSubtype="0" fill="hold" grpId="0" nodeType="afterEffect">
                                      <p:stCondLst>
                                        <p:cond delay="0"/>
                                      </p:stCondLst>
                                      <p:childTnLst>
                                        <p:animRot by="-5400000">
                                          <p:cBhvr>
                                            <p:cTn id="15" dur="500" fill="hold"/>
                                            <p:tgtEl>
                                              <p:spTgt spid="4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5" grpId="0"/>
          <p:bldP spid="45" grpId="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33901E6-BE0D-4D4C-BD9F-F1A617F9590B}" type="slidenum">
              <a:rPr lang="zh-CN" altLang="en-US" smtClean="0">
                <a:solidFill>
                  <a:schemeClr val="bg1"/>
                </a:solidFill>
              </a:rPr>
              <a:t>4</a:t>
            </a:fld>
            <a:endParaRPr lang="zh-CN" altLang="en-US" dirty="0">
              <a:solidFill>
                <a:schemeClr val="bg1"/>
              </a:solidFill>
            </a:endParaRPr>
          </a:p>
        </p:txBody>
      </p:sp>
      <p:sp>
        <p:nvSpPr>
          <p:cNvPr id="2" name="文本框 1"/>
          <p:cNvSpPr txBox="1"/>
          <p:nvPr/>
        </p:nvSpPr>
        <p:spPr>
          <a:xfrm>
            <a:off x="1187624" y="1773610"/>
            <a:ext cx="7416824" cy="2431435"/>
          </a:xfrm>
          <a:prstGeom prst="rect">
            <a:avLst/>
          </a:prstGeom>
          <a:noFill/>
        </p:spPr>
        <p:txBody>
          <a:bodyPr wrap="square" rtlCol="0">
            <a:spAutoFit/>
          </a:bodyPr>
          <a:lstStyle/>
          <a:p>
            <a:r>
              <a:rPr lang="zh-CN" altLang="en-US" sz="3600" b="1" dirty="0" smtClean="0">
                <a:solidFill>
                  <a:schemeClr val="bg1"/>
                </a:solidFill>
                <a:latin typeface="微软雅黑" pitchFamily="34" charset="-122"/>
                <a:ea typeface="微软雅黑" pitchFamily="34" charset="-122"/>
              </a:rPr>
              <a:t>地基承载力</a:t>
            </a:r>
            <a:endParaRPr lang="en-US" altLang="zh-CN" sz="3600" b="1" dirty="0" smtClean="0">
              <a:solidFill>
                <a:schemeClr val="bg1"/>
              </a:solidFill>
              <a:latin typeface="微软雅黑" pitchFamily="34" charset="-122"/>
              <a:ea typeface="微软雅黑" pitchFamily="34" charset="-122"/>
            </a:endParaRPr>
          </a:p>
          <a:p>
            <a:pPr>
              <a:lnSpc>
                <a:spcPct val="150000"/>
              </a:lnSpc>
            </a:pPr>
            <a:r>
              <a:rPr lang="zh-CN" altLang="en-US" sz="3200" dirty="0" smtClean="0">
                <a:solidFill>
                  <a:schemeClr val="bg1"/>
                </a:solidFill>
                <a:latin typeface="Arial Unicode MS" pitchFamily="34" charset="-122"/>
                <a:ea typeface="Arial Unicode MS" pitchFamily="34" charset="-122"/>
                <a:cs typeface="Arial Unicode MS" pitchFamily="34" charset="-122"/>
              </a:rPr>
              <a:t>（</a:t>
            </a:r>
            <a:r>
              <a:rPr lang="en-US" altLang="zh-CN" sz="3200" dirty="0">
                <a:solidFill>
                  <a:schemeClr val="bg1"/>
                </a:solidFill>
                <a:latin typeface="Arial Unicode MS" pitchFamily="34" charset="-122"/>
                <a:ea typeface="Arial Unicode MS" pitchFamily="34" charset="-122"/>
                <a:cs typeface="Arial Unicode MS" pitchFamily="34" charset="-122"/>
              </a:rPr>
              <a:t>subgrade bearing capacity</a:t>
            </a:r>
            <a:r>
              <a:rPr lang="zh-CN" altLang="en-US" sz="3200" dirty="0" smtClean="0">
                <a:solidFill>
                  <a:schemeClr val="bg1"/>
                </a:solidFill>
                <a:latin typeface="Arial Unicode MS" pitchFamily="34" charset="-122"/>
                <a:ea typeface="Arial Unicode MS" pitchFamily="34" charset="-122"/>
                <a:cs typeface="Arial Unicode MS" pitchFamily="34" charset="-122"/>
              </a:rPr>
              <a:t>）</a:t>
            </a:r>
            <a:endParaRPr lang="en-US" altLang="zh-CN" sz="3200" dirty="0" smtClean="0">
              <a:solidFill>
                <a:schemeClr val="bg1"/>
              </a:solidFill>
              <a:latin typeface="Arial Unicode MS" pitchFamily="34" charset="-122"/>
              <a:ea typeface="Arial Unicode MS" pitchFamily="34" charset="-122"/>
              <a:cs typeface="Arial Unicode MS" pitchFamily="34" charset="-122"/>
            </a:endParaRPr>
          </a:p>
          <a:p>
            <a:endParaRPr lang="en-US" altLang="zh-CN" sz="3200" dirty="0" smtClean="0">
              <a:solidFill>
                <a:schemeClr val="bg1"/>
              </a:solidFill>
              <a:latin typeface="微软雅黑" pitchFamily="34" charset="-122"/>
              <a:ea typeface="微软雅黑" pitchFamily="34" charset="-122"/>
            </a:endParaRPr>
          </a:p>
          <a:p>
            <a:r>
              <a:rPr lang="zh-CN" altLang="en-US" sz="3200" dirty="0" smtClean="0">
                <a:solidFill>
                  <a:schemeClr val="bg1"/>
                </a:solidFill>
                <a:latin typeface="微软雅黑" pitchFamily="34" charset="-122"/>
                <a:ea typeface="微软雅黑" pitchFamily="34" charset="-122"/>
              </a:rPr>
              <a:t>               是</a:t>
            </a:r>
            <a:r>
              <a:rPr lang="zh-CN" altLang="en-US" sz="3200" dirty="0">
                <a:solidFill>
                  <a:schemeClr val="bg1"/>
                </a:solidFill>
                <a:latin typeface="微软雅黑" pitchFamily="34" charset="-122"/>
                <a:ea typeface="微软雅黑" pitchFamily="34" charset="-122"/>
              </a:rPr>
              <a:t>指</a:t>
            </a:r>
            <a:r>
              <a:rPr lang="zh-CN" altLang="en-US" sz="3600" b="1" dirty="0">
                <a:solidFill>
                  <a:srgbClr val="FFFF00"/>
                </a:solidFill>
                <a:latin typeface="微软雅黑" pitchFamily="34" charset="-122"/>
                <a:ea typeface="微软雅黑" pitchFamily="34" charset="-122"/>
              </a:rPr>
              <a:t>地基承担荷载</a:t>
            </a:r>
            <a:r>
              <a:rPr lang="zh-CN" altLang="en-US" sz="3200" dirty="0">
                <a:solidFill>
                  <a:schemeClr val="bg1"/>
                </a:solidFill>
                <a:latin typeface="微软雅黑" pitchFamily="34" charset="-122"/>
                <a:ea typeface="微软雅黑" pitchFamily="34" charset="-122"/>
              </a:rPr>
              <a:t>的能力。</a:t>
            </a:r>
          </a:p>
        </p:txBody>
      </p:sp>
      <p:sp>
        <p:nvSpPr>
          <p:cNvPr id="6" name="矩形 5">
            <a:hlinkClick r:id="rId2" action="ppaction://hlinksldjump"/>
          </p:cNvPr>
          <p:cNvSpPr/>
          <p:nvPr/>
        </p:nvSpPr>
        <p:spPr>
          <a:xfrm>
            <a:off x="7812362" y="6105008"/>
            <a:ext cx="954381" cy="548807"/>
          </a:xfrm>
          <a:prstGeom prst="rect">
            <a:avLst/>
          </a:prstGeom>
          <a:solidFill>
            <a:srgbClr val="A61A4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home</a:t>
            </a:r>
            <a:endParaRPr lang="zh-CN" altLang="en-US" dirty="0">
              <a:ea typeface="微软雅黑" pitchFamily="34" charset="-122"/>
            </a:endParaRPr>
          </a:p>
        </p:txBody>
      </p:sp>
      <p:sp>
        <p:nvSpPr>
          <p:cNvPr id="7" name="文本框 6"/>
          <p:cNvSpPr txBox="1"/>
          <p:nvPr/>
        </p:nvSpPr>
        <p:spPr>
          <a:xfrm rot="1130992">
            <a:off x="5136832" y="1508437"/>
            <a:ext cx="3467616" cy="584775"/>
          </a:xfrm>
          <a:prstGeom prst="rect">
            <a:avLst/>
          </a:prstGeom>
          <a:noFill/>
        </p:spPr>
        <p:txBody>
          <a:bodyPr wrap="none" rtlCol="0">
            <a:spAutoFit/>
          </a:bodyPr>
          <a:lstStyle/>
          <a:p>
            <a:r>
              <a:rPr lang="zh-CN" altLang="en-US" sz="3200" b="1" dirty="0" smtClean="0">
                <a:solidFill>
                  <a:schemeClr val="accent5">
                    <a:lumMod val="20000"/>
                    <a:lumOff val="80000"/>
                  </a:schemeClr>
                </a:solidFill>
                <a:latin typeface="楷体" pitchFamily="49" charset="-122"/>
                <a:ea typeface="楷体" pitchFamily="49" charset="-122"/>
              </a:rPr>
              <a:t>其实顾名思义嘛</a:t>
            </a:r>
            <a:r>
              <a:rPr lang="en-US" altLang="zh-CN" sz="3200" b="1" dirty="0" smtClean="0">
                <a:solidFill>
                  <a:schemeClr val="accent5">
                    <a:lumMod val="20000"/>
                    <a:lumOff val="80000"/>
                  </a:schemeClr>
                </a:solidFill>
                <a:latin typeface="楷体" pitchFamily="49" charset="-122"/>
                <a:ea typeface="楷体" pitchFamily="49" charset="-122"/>
              </a:rPr>
              <a:t>~~</a:t>
            </a:r>
          </a:p>
        </p:txBody>
      </p:sp>
    </p:spTree>
    <p:extLst>
      <p:ext uri="{BB962C8B-B14F-4D97-AF65-F5344CB8AC3E}">
        <p14:creationId xmlns:p14="http://schemas.microsoft.com/office/powerpoint/2010/main" val="2803547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hlinkClick r:id="rId3" action="ppaction://hlinksldjump"/>
          </p:cNvPr>
          <p:cNvSpPr/>
          <p:nvPr/>
        </p:nvSpPr>
        <p:spPr>
          <a:xfrm>
            <a:off x="8028384" y="6118716"/>
            <a:ext cx="1003478" cy="548807"/>
          </a:xfrm>
          <a:prstGeom prst="rect">
            <a:avLst/>
          </a:prstGeom>
          <a:solidFill>
            <a:srgbClr val="A61A4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home</a:t>
            </a:r>
            <a:endParaRPr lang="zh-CN" altLang="en-US" dirty="0">
              <a:ea typeface="微软雅黑" pitchFamily="34" charset="-122"/>
            </a:endParaRPr>
          </a:p>
        </p:txBody>
      </p:sp>
      <p:sp>
        <p:nvSpPr>
          <p:cNvPr id="3" name="灯片编号占位符 2"/>
          <p:cNvSpPr>
            <a:spLocks noGrp="1"/>
          </p:cNvSpPr>
          <p:nvPr>
            <p:ph type="sldNum" sz="quarter" idx="12"/>
          </p:nvPr>
        </p:nvSpPr>
        <p:spPr/>
        <p:txBody>
          <a:bodyPr/>
          <a:lstStyle/>
          <a:p>
            <a:fld id="{833901E6-BE0D-4D4C-BD9F-F1A617F9590B}" type="slidenum">
              <a:rPr lang="zh-CN" altLang="en-US" smtClean="0">
                <a:solidFill>
                  <a:schemeClr val="bg1"/>
                </a:solidFill>
              </a:rPr>
              <a:t>5</a:t>
            </a:fld>
            <a:endParaRPr lang="zh-CN" altLang="en-US" dirty="0">
              <a:solidFill>
                <a:schemeClr val="bg1"/>
              </a:solidFill>
            </a:endParaRPr>
          </a:p>
        </p:txBody>
      </p:sp>
      <p:grpSp>
        <p:nvGrpSpPr>
          <p:cNvPr id="4" name="组合 3"/>
          <p:cNvGrpSpPr/>
          <p:nvPr/>
        </p:nvGrpSpPr>
        <p:grpSpPr>
          <a:xfrm>
            <a:off x="899592" y="1413570"/>
            <a:ext cx="2116413" cy="1632559"/>
            <a:chOff x="3275856" y="1197546"/>
            <a:chExt cx="2116413" cy="1632559"/>
          </a:xfrm>
        </p:grpSpPr>
        <p:grpSp>
          <p:nvGrpSpPr>
            <p:cNvPr id="21" name="组合 20"/>
            <p:cNvGrpSpPr/>
            <p:nvPr/>
          </p:nvGrpSpPr>
          <p:grpSpPr>
            <a:xfrm>
              <a:off x="3275856" y="1197546"/>
              <a:ext cx="2116413" cy="1632559"/>
              <a:chOff x="1693347" y="3716522"/>
              <a:chExt cx="1593294" cy="1224136"/>
            </a:xfrm>
          </p:grpSpPr>
          <p:sp>
            <p:nvSpPr>
              <p:cNvPr id="23" name="矩形 22">
                <a:hlinkClick r:id="rId4" action="ppaction://hlinksldjump"/>
              </p:cNvPr>
              <p:cNvSpPr/>
              <p:nvPr/>
            </p:nvSpPr>
            <p:spPr>
              <a:xfrm>
                <a:off x="1693347" y="3716522"/>
                <a:ext cx="1593294" cy="1224136"/>
              </a:xfrm>
              <a:prstGeom prst="rect">
                <a:avLst/>
              </a:prstGeom>
              <a:gradFill flip="none" rotWithShape="1">
                <a:gsLst>
                  <a:gs pos="0">
                    <a:srgbClr val="A61A40"/>
                  </a:gs>
                  <a:gs pos="100000">
                    <a:srgbClr val="BF1B4D">
                      <a:alpha val="84706"/>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24" name="Picture 11" descr="C:\Users\Nir\Desktop\未标题-1.png">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11675" y="3801687"/>
                <a:ext cx="795338" cy="84137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TextBox 25"/>
            <p:cNvSpPr txBox="1"/>
            <p:nvPr/>
          </p:nvSpPr>
          <p:spPr>
            <a:xfrm>
              <a:off x="4334062" y="1755289"/>
              <a:ext cx="954107" cy="707886"/>
            </a:xfrm>
            <a:prstGeom prst="rect">
              <a:avLst/>
            </a:prstGeom>
            <a:noFill/>
          </p:spPr>
          <p:txBody>
            <a:bodyPr wrap="none" rtlCol="0">
              <a:spAutoFit/>
            </a:bodyPr>
            <a:lstStyle/>
            <a:p>
              <a:r>
                <a:rPr lang="en-US" altLang="zh-CN" sz="2000" dirty="0" smtClean="0">
                  <a:solidFill>
                    <a:schemeClr val="bg1"/>
                  </a:solidFill>
                  <a:latin typeface="微软雅黑" pitchFamily="34" charset="-122"/>
                  <a:ea typeface="微软雅黑" pitchFamily="34" charset="-122"/>
                </a:rPr>
                <a:t>     02</a:t>
              </a:r>
            </a:p>
            <a:p>
              <a:r>
                <a:rPr lang="zh-CN" altLang="en-US" sz="2000" dirty="0" smtClean="0">
                  <a:solidFill>
                    <a:schemeClr val="bg1"/>
                  </a:solidFill>
                  <a:latin typeface="微软雅黑" pitchFamily="34" charset="-122"/>
                  <a:ea typeface="微软雅黑" pitchFamily="34" charset="-122"/>
                </a:rPr>
                <a:t>方法一</a:t>
              </a:r>
              <a:endParaRPr lang="en-US" altLang="zh-CN" sz="2000" dirty="0" smtClean="0">
                <a:solidFill>
                  <a:schemeClr val="bg1"/>
                </a:solidFill>
                <a:latin typeface="微软雅黑" pitchFamily="34" charset="-122"/>
                <a:ea typeface="微软雅黑" pitchFamily="34" charset="-122"/>
              </a:endParaRPr>
            </a:p>
          </p:txBody>
        </p:sp>
      </p:grpSp>
      <p:sp>
        <p:nvSpPr>
          <p:cNvPr id="27" name="文本框 26"/>
          <p:cNvSpPr txBox="1"/>
          <p:nvPr/>
        </p:nvSpPr>
        <p:spPr>
          <a:xfrm rot="1260718">
            <a:off x="5247783" y="1397804"/>
            <a:ext cx="3073277" cy="584775"/>
          </a:xfrm>
          <a:prstGeom prst="rect">
            <a:avLst/>
          </a:prstGeom>
          <a:noFill/>
        </p:spPr>
        <p:txBody>
          <a:bodyPr wrap="none" rtlCol="0">
            <a:spAutoFit/>
          </a:bodyPr>
          <a:lstStyle/>
          <a:p>
            <a:r>
              <a:rPr lang="zh-CN" altLang="en-US" sz="3200" b="1" dirty="0">
                <a:solidFill>
                  <a:schemeClr val="accent5">
                    <a:lumMod val="20000"/>
                    <a:lumOff val="80000"/>
                  </a:schemeClr>
                </a:solidFill>
                <a:latin typeface="楷体" pitchFamily="49" charset="-122"/>
                <a:ea typeface="楷体" pitchFamily="49" charset="-122"/>
              </a:rPr>
              <a:t>名字略</a:t>
            </a:r>
            <a:r>
              <a:rPr lang="zh-CN" altLang="en-US" sz="3200" b="1" dirty="0" smtClean="0">
                <a:solidFill>
                  <a:schemeClr val="accent5">
                    <a:lumMod val="20000"/>
                    <a:lumOff val="80000"/>
                  </a:schemeClr>
                </a:solidFill>
                <a:latin typeface="楷体" pitchFamily="49" charset="-122"/>
                <a:ea typeface="楷体" pitchFamily="49" charset="-122"/>
              </a:rPr>
              <a:t>长</a:t>
            </a:r>
            <a:r>
              <a:rPr lang="en-US" altLang="zh-CN" sz="3200" b="1" dirty="0" smtClean="0">
                <a:solidFill>
                  <a:schemeClr val="accent5">
                    <a:lumMod val="20000"/>
                    <a:lumOff val="80000"/>
                  </a:schemeClr>
                </a:solidFill>
                <a:latin typeface="楷体" pitchFamily="49" charset="-122"/>
                <a:ea typeface="楷体" pitchFamily="49" charset="-122"/>
              </a:rPr>
              <a:t>-_-|||</a:t>
            </a:r>
            <a:endParaRPr lang="en-US" altLang="zh-CN" sz="3200" b="1" dirty="0">
              <a:solidFill>
                <a:schemeClr val="accent5">
                  <a:lumMod val="20000"/>
                  <a:lumOff val="80000"/>
                </a:schemeClr>
              </a:solidFill>
              <a:latin typeface="楷体" pitchFamily="49" charset="-122"/>
              <a:ea typeface="楷体" pitchFamily="49" charset="-122"/>
            </a:endParaRPr>
          </a:p>
        </p:txBody>
      </p:sp>
      <p:grpSp>
        <p:nvGrpSpPr>
          <p:cNvPr id="7" name="组合 6"/>
          <p:cNvGrpSpPr/>
          <p:nvPr/>
        </p:nvGrpSpPr>
        <p:grpSpPr>
          <a:xfrm>
            <a:off x="887986" y="3824674"/>
            <a:ext cx="7932486" cy="1477328"/>
            <a:chOff x="2089784" y="4856296"/>
            <a:chExt cx="6399377" cy="1477328"/>
          </a:xfrm>
        </p:grpSpPr>
        <p:grpSp>
          <p:nvGrpSpPr>
            <p:cNvPr id="29" name="组合 28"/>
            <p:cNvGrpSpPr/>
            <p:nvPr/>
          </p:nvGrpSpPr>
          <p:grpSpPr>
            <a:xfrm>
              <a:off x="2089784" y="4892264"/>
              <a:ext cx="6399377" cy="1297345"/>
              <a:chOff x="1106278" y="2236478"/>
              <a:chExt cx="6381570" cy="890816"/>
            </a:xfrm>
          </p:grpSpPr>
          <p:sp>
            <p:nvSpPr>
              <p:cNvPr id="30" name="AutoShape 25"/>
              <p:cNvSpPr>
                <a:spLocks noChangeArrowheads="1"/>
              </p:cNvSpPr>
              <p:nvPr/>
            </p:nvSpPr>
            <p:spPr bwMode="gray">
              <a:xfrm>
                <a:off x="1288943" y="223647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31" name="Group 34"/>
              <p:cNvGrpSpPr>
                <a:grpSpLocks/>
              </p:cNvGrpSpPr>
              <p:nvPr/>
            </p:nvGrpSpPr>
            <p:grpSpPr bwMode="auto">
              <a:xfrm>
                <a:off x="1106278" y="2261737"/>
                <a:ext cx="941351" cy="818451"/>
                <a:chOff x="2954" y="1660"/>
                <a:chExt cx="504" cy="447"/>
              </a:xfrm>
            </p:grpSpPr>
            <p:grpSp>
              <p:nvGrpSpPr>
                <p:cNvPr id="32" name="Group 35"/>
                <p:cNvGrpSpPr>
                  <a:grpSpLocks/>
                </p:cNvGrpSpPr>
                <p:nvPr/>
              </p:nvGrpSpPr>
              <p:grpSpPr bwMode="auto">
                <a:xfrm>
                  <a:off x="2954" y="1660"/>
                  <a:ext cx="504" cy="447"/>
                  <a:chOff x="181" y="2120"/>
                  <a:chExt cx="1155" cy="1019"/>
                </a:xfrm>
              </p:grpSpPr>
              <p:pic>
                <p:nvPicPr>
                  <p:cNvPr id="34" name="Picture 36" descr="light_shadow"/>
                  <p:cNvPicPr>
                    <a:picLocks noChangeAspect="1" noChangeArrowheads="1"/>
                  </p:cNvPicPr>
                  <p:nvPr/>
                </p:nvPicPr>
                <p:blipFill>
                  <a:blip r:embed="rId6"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7" descr="circuler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192" y="2120"/>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6" name="Oval 38"/>
                  <p:cNvSpPr>
                    <a:spLocks noChangeArrowheads="1"/>
                  </p:cNvSpPr>
                  <p:nvPr/>
                </p:nvSpPr>
                <p:spPr bwMode="gray">
                  <a:xfrm>
                    <a:off x="181" y="2120"/>
                    <a:ext cx="115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33" name="Picture 39" descr="Picture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gray">
                <a:xfrm>
                  <a:off x="3021" y="1679"/>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7" name="矩形 36"/>
            <p:cNvSpPr/>
            <p:nvPr/>
          </p:nvSpPr>
          <p:spPr>
            <a:xfrm>
              <a:off x="3110780" y="4856296"/>
              <a:ext cx="5270545" cy="1477328"/>
            </a:xfrm>
            <a:prstGeom prst="rect">
              <a:avLst/>
            </a:prstGeom>
          </p:spPr>
          <p:txBody>
            <a:bodyPr wrap="square">
              <a:spAutoFit/>
            </a:bodyPr>
            <a:lstStyle/>
            <a:p>
              <a:pPr>
                <a:lnSpc>
                  <a:spcPct val="150000"/>
                </a:lnSpc>
              </a:pPr>
              <a:r>
                <a:rPr lang="zh-CN" altLang="en-US" sz="2400" dirty="0">
                  <a:effectLst>
                    <a:outerShdw blurRad="38100" dist="38100" dir="2700000" algn="tl">
                      <a:srgbClr val="000000">
                        <a:alpha val="43137"/>
                      </a:srgbClr>
                    </a:outerShdw>
                  </a:effectLst>
                  <a:ea typeface="微软雅黑" pitchFamily="34" charset="-122"/>
                </a:rPr>
                <a:t>以</a:t>
              </a:r>
              <a:r>
                <a:rPr lang="zh-CN" altLang="en-US" sz="2800" b="1" dirty="0">
                  <a:solidFill>
                    <a:srgbClr val="FFFF00"/>
                  </a:solidFill>
                  <a:effectLst>
                    <a:outerShdw blurRad="38100" dist="38100" dir="2700000" algn="tl">
                      <a:srgbClr val="000000">
                        <a:alpha val="43137"/>
                      </a:srgbClr>
                    </a:outerShdw>
                  </a:effectLst>
                  <a:ea typeface="微软雅黑" pitchFamily="34" charset="-122"/>
                </a:rPr>
                <a:t>荷载试验</a:t>
              </a:r>
              <a:r>
                <a:rPr lang="zh-CN" altLang="en-US" sz="2400" dirty="0">
                  <a:effectLst>
                    <a:outerShdw blurRad="38100" dist="38100" dir="2700000" algn="tl">
                      <a:srgbClr val="000000">
                        <a:alpha val="43137"/>
                      </a:srgbClr>
                    </a:outerShdw>
                  </a:effectLst>
                  <a:ea typeface="微软雅黑" pitchFamily="34" charset="-122"/>
                </a:rPr>
                <a:t>或其他</a:t>
              </a:r>
              <a:r>
                <a:rPr lang="zh-CN" altLang="en-US" sz="2800" b="1" dirty="0">
                  <a:solidFill>
                    <a:srgbClr val="FFFF00"/>
                  </a:solidFill>
                  <a:effectLst>
                    <a:outerShdw blurRad="38100" dist="38100" dir="2700000" algn="tl">
                      <a:srgbClr val="000000">
                        <a:alpha val="43137"/>
                      </a:srgbClr>
                    </a:outerShdw>
                  </a:effectLst>
                  <a:ea typeface="微软雅黑" pitchFamily="34" charset="-122"/>
                </a:rPr>
                <a:t>原位测试</a:t>
              </a:r>
              <a:r>
                <a:rPr lang="zh-CN" altLang="en-US" sz="2400" dirty="0">
                  <a:effectLst>
                    <a:outerShdw blurRad="38100" dist="38100" dir="2700000" algn="tl">
                      <a:srgbClr val="000000">
                        <a:alpha val="43137"/>
                      </a:srgbClr>
                    </a:outerShdw>
                  </a:effectLst>
                  <a:ea typeface="微软雅黑" pitchFamily="34" charset="-122"/>
                </a:rPr>
                <a:t>、</a:t>
              </a:r>
              <a:r>
                <a:rPr lang="zh-CN" altLang="en-US" sz="2800" b="1" dirty="0">
                  <a:solidFill>
                    <a:srgbClr val="FFFF00"/>
                  </a:solidFill>
                  <a:effectLst>
                    <a:outerShdw blurRad="38100" dist="38100" dir="2700000" algn="tl">
                      <a:srgbClr val="000000">
                        <a:alpha val="43137"/>
                      </a:srgbClr>
                    </a:outerShdw>
                  </a:effectLst>
                  <a:ea typeface="微软雅黑" pitchFamily="34" charset="-122"/>
                </a:rPr>
                <a:t>经验值</a:t>
              </a:r>
              <a:r>
                <a:rPr lang="zh-CN" altLang="en-US" sz="2400" dirty="0">
                  <a:effectLst>
                    <a:outerShdw blurRad="38100" dist="38100" dir="2700000" algn="tl">
                      <a:srgbClr val="000000">
                        <a:alpha val="43137"/>
                      </a:srgbClr>
                    </a:outerShdw>
                  </a:effectLst>
                  <a:ea typeface="微软雅黑" pitchFamily="34" charset="-122"/>
                </a:rPr>
                <a:t>等</a:t>
              </a:r>
              <a:r>
                <a:rPr lang="zh-CN" altLang="en-US" sz="2400" dirty="0" smtClean="0">
                  <a:effectLst>
                    <a:outerShdw blurRad="38100" dist="38100" dir="2700000" algn="tl">
                      <a:srgbClr val="000000">
                        <a:alpha val="43137"/>
                      </a:srgbClr>
                    </a:outerShdw>
                  </a:effectLst>
                  <a:ea typeface="微软雅黑" pitchFamily="34" charset="-122"/>
                </a:rPr>
                <a:t>方法   对</a:t>
              </a:r>
              <a:r>
                <a:rPr lang="en-US" altLang="zh-CN" sz="3200" b="1" dirty="0" err="1" smtClean="0">
                  <a:solidFill>
                    <a:srgbClr val="FFFF00"/>
                  </a:solidFill>
                  <a:effectLst>
                    <a:outerShdw blurRad="38100" dist="38100" dir="2700000" algn="tl">
                      <a:srgbClr val="000000">
                        <a:alpha val="43137"/>
                      </a:srgbClr>
                    </a:outerShdw>
                  </a:effectLst>
                  <a:ea typeface="微软雅黑" pitchFamily="34" charset="-122"/>
                </a:rPr>
                <a:t>fak</a:t>
              </a:r>
              <a:r>
                <a:rPr lang="zh-CN" altLang="en-US" sz="2400" dirty="0">
                  <a:effectLst>
                    <a:outerShdw blurRad="38100" dist="38100" dir="2700000" algn="tl">
                      <a:srgbClr val="000000">
                        <a:alpha val="43137"/>
                      </a:srgbClr>
                    </a:outerShdw>
                  </a:effectLst>
                  <a:ea typeface="微软雅黑" pitchFamily="34" charset="-122"/>
                </a:rPr>
                <a:t>值加以深宽修正</a:t>
              </a:r>
            </a:p>
          </p:txBody>
        </p:sp>
      </p:grpSp>
    </p:spTree>
    <p:extLst>
      <p:ext uri="{BB962C8B-B14F-4D97-AF65-F5344CB8AC3E}">
        <p14:creationId xmlns:p14="http://schemas.microsoft.com/office/powerpoint/2010/main" val="351421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75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33901E6-BE0D-4D4C-BD9F-F1A617F9590B}" type="slidenum">
              <a:rPr lang="zh-CN" altLang="en-US" smtClean="0">
                <a:solidFill>
                  <a:schemeClr val="bg1"/>
                </a:solidFill>
              </a:rPr>
              <a:t>6</a:t>
            </a:fld>
            <a:endParaRPr lang="zh-CN" altLang="en-US" dirty="0">
              <a:solidFill>
                <a:schemeClr val="bg1"/>
              </a:solidFill>
            </a:endParaRPr>
          </a:p>
        </p:txBody>
      </p:sp>
      <p:sp>
        <p:nvSpPr>
          <p:cNvPr id="21" name="矩形 20">
            <a:hlinkClick r:id="rId3" action="ppaction://hlinksldjump"/>
          </p:cNvPr>
          <p:cNvSpPr/>
          <p:nvPr/>
        </p:nvSpPr>
        <p:spPr>
          <a:xfrm>
            <a:off x="7812362" y="6105008"/>
            <a:ext cx="954381" cy="548807"/>
          </a:xfrm>
          <a:prstGeom prst="rect">
            <a:avLst/>
          </a:prstGeom>
          <a:solidFill>
            <a:srgbClr val="A61A4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home</a:t>
            </a:r>
            <a:endParaRPr lang="zh-CN" altLang="en-US" dirty="0">
              <a:ea typeface="微软雅黑" pitchFamily="34" charset="-122"/>
            </a:endParaRPr>
          </a:p>
        </p:txBody>
      </p:sp>
      <p:sp>
        <p:nvSpPr>
          <p:cNvPr id="23" name="Rectangle 2"/>
          <p:cNvSpPr txBox="1">
            <a:spLocks noChangeArrowheads="1"/>
          </p:cNvSpPr>
          <p:nvPr/>
        </p:nvSpPr>
        <p:spPr>
          <a:xfrm>
            <a:off x="107504" y="983784"/>
            <a:ext cx="5117360" cy="117391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smtClean="0">
                <a:solidFill>
                  <a:srgbClr val="FFFF00"/>
                </a:solidFill>
                <a:ea typeface="微软雅黑" pitchFamily="34" charset="-122"/>
              </a:rPr>
              <a:t>2.1 </a:t>
            </a:r>
            <a:r>
              <a:rPr lang="zh-CN" altLang="en-US" sz="2800" b="1" dirty="0" smtClean="0">
                <a:solidFill>
                  <a:srgbClr val="FFFF00"/>
                </a:solidFill>
                <a:ea typeface="微软雅黑" pitchFamily="34" charset="-122"/>
              </a:rPr>
              <a:t>单轴抗压强度计算承载力</a:t>
            </a:r>
            <a:endParaRPr lang="en-US" altLang="zh-CN" sz="2800" b="1" dirty="0">
              <a:solidFill>
                <a:srgbClr val="FFFF00"/>
              </a:solidFill>
              <a:ea typeface="微软雅黑" pitchFamily="34" charset="-122"/>
            </a:endParaRPr>
          </a:p>
        </p:txBody>
      </p:sp>
      <p:sp>
        <p:nvSpPr>
          <p:cNvPr id="24" name="Rectangle 3"/>
          <p:cNvSpPr txBox="1">
            <a:spLocks noChangeArrowheads="1"/>
          </p:cNvSpPr>
          <p:nvPr/>
        </p:nvSpPr>
        <p:spPr>
          <a:xfrm>
            <a:off x="251520" y="2153394"/>
            <a:ext cx="9144000" cy="4876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ltLang="zh-CN" sz="3600" i="1" dirty="0" smtClean="0">
                <a:solidFill>
                  <a:schemeClr val="bg1"/>
                </a:solidFill>
                <a:latin typeface="微软雅黑" pitchFamily="34" charset="-122"/>
                <a:ea typeface="微软雅黑" pitchFamily="34" charset="-122"/>
              </a:rPr>
              <a:t>              </a:t>
            </a:r>
            <a:r>
              <a:rPr lang="en-US" altLang="zh-CN" sz="4000" i="1" dirty="0" err="1" smtClean="0">
                <a:solidFill>
                  <a:schemeClr val="bg1"/>
                </a:solidFill>
                <a:latin typeface="微软雅黑" pitchFamily="34" charset="-122"/>
                <a:ea typeface="微软雅黑" pitchFamily="34" charset="-122"/>
              </a:rPr>
              <a:t>f</a:t>
            </a:r>
            <a:r>
              <a:rPr lang="en-US" altLang="zh-CN" sz="4000" baseline="-25000" dirty="0" err="1" smtClean="0">
                <a:solidFill>
                  <a:schemeClr val="bg1"/>
                </a:solidFill>
                <a:latin typeface="微软雅黑" pitchFamily="34" charset="-122"/>
                <a:ea typeface="微软雅黑" pitchFamily="34" charset="-122"/>
              </a:rPr>
              <a:t>ak</a:t>
            </a:r>
            <a:r>
              <a:rPr lang="en-US" altLang="zh-CN" sz="4000" dirty="0" smtClean="0">
                <a:solidFill>
                  <a:schemeClr val="bg1"/>
                </a:solidFill>
                <a:latin typeface="微软雅黑" pitchFamily="34" charset="-122"/>
                <a:ea typeface="微软雅黑" pitchFamily="34" charset="-122"/>
              </a:rPr>
              <a:t> = </a:t>
            </a:r>
            <a:r>
              <a:rPr lang="en-US" altLang="zh-CN" sz="4000" i="1" dirty="0" err="1" smtClean="0">
                <a:solidFill>
                  <a:schemeClr val="bg1"/>
                </a:solidFill>
                <a:latin typeface="微软雅黑" pitchFamily="34" charset="-122"/>
                <a:ea typeface="微软雅黑" pitchFamily="34" charset="-122"/>
              </a:rPr>
              <a:t>ψ</a:t>
            </a:r>
            <a:r>
              <a:rPr lang="en-US" altLang="zh-CN" sz="4000" i="1" baseline="-25000" dirty="0" err="1" smtClean="0">
                <a:solidFill>
                  <a:schemeClr val="bg1"/>
                </a:solidFill>
                <a:latin typeface="微软雅黑" pitchFamily="34" charset="-122"/>
                <a:ea typeface="微软雅黑" pitchFamily="34" charset="-122"/>
              </a:rPr>
              <a:t>r</a:t>
            </a:r>
            <a:r>
              <a:rPr lang="en-US" altLang="zh-CN" sz="4000" i="1" dirty="0" smtClean="0">
                <a:solidFill>
                  <a:schemeClr val="bg1"/>
                </a:solidFill>
                <a:latin typeface="微软雅黑" pitchFamily="34" charset="-122"/>
                <a:ea typeface="微软雅黑" pitchFamily="34" charset="-122"/>
              </a:rPr>
              <a:t> . </a:t>
            </a:r>
            <a:r>
              <a:rPr lang="en-US" altLang="zh-CN" sz="4000" i="1" dirty="0" err="1" smtClean="0">
                <a:solidFill>
                  <a:schemeClr val="bg1"/>
                </a:solidFill>
                <a:latin typeface="微软雅黑" pitchFamily="34" charset="-122"/>
                <a:ea typeface="微软雅黑" pitchFamily="34" charset="-122"/>
              </a:rPr>
              <a:t>f</a:t>
            </a:r>
            <a:r>
              <a:rPr lang="en-US" altLang="zh-CN" sz="4000" i="1" baseline="-25000" dirty="0" err="1" smtClean="0">
                <a:solidFill>
                  <a:schemeClr val="bg1"/>
                </a:solidFill>
                <a:latin typeface="微软雅黑" pitchFamily="34" charset="-122"/>
                <a:ea typeface="微软雅黑" pitchFamily="34" charset="-122"/>
              </a:rPr>
              <a:t>rk</a:t>
            </a:r>
            <a:r>
              <a:rPr lang="en-US" altLang="zh-CN" sz="4000" dirty="0" smtClean="0">
                <a:solidFill>
                  <a:schemeClr val="bg1"/>
                </a:solidFill>
                <a:latin typeface="微软雅黑" pitchFamily="34" charset="-122"/>
                <a:ea typeface="微软雅黑" pitchFamily="34" charset="-122"/>
              </a:rPr>
              <a:t>	</a:t>
            </a:r>
          </a:p>
          <a:p>
            <a:r>
              <a:rPr lang="en-US" altLang="zh-CN" sz="3600" i="1" dirty="0" smtClean="0">
                <a:solidFill>
                  <a:schemeClr val="bg1"/>
                </a:solidFill>
                <a:ea typeface="微软雅黑" pitchFamily="34" charset="-122"/>
              </a:rPr>
              <a:t>	</a:t>
            </a:r>
          </a:p>
          <a:p>
            <a:pPr algn="l"/>
            <a:r>
              <a:rPr lang="en-US" altLang="zh-CN" sz="2800" i="1" dirty="0" smtClean="0">
                <a:solidFill>
                  <a:schemeClr val="tx1"/>
                </a:solidFill>
                <a:latin typeface="微软雅黑" pitchFamily="34" charset="-122"/>
                <a:ea typeface="微软雅黑" pitchFamily="34" charset="-122"/>
              </a:rPr>
              <a:t>      </a:t>
            </a:r>
            <a:r>
              <a:rPr lang="en-US" altLang="zh-CN" sz="2800" i="1" dirty="0" err="1" smtClean="0">
                <a:solidFill>
                  <a:schemeClr val="tx1"/>
                </a:solidFill>
                <a:latin typeface="微软雅黑" pitchFamily="34" charset="-122"/>
                <a:ea typeface="微软雅黑" pitchFamily="34" charset="-122"/>
              </a:rPr>
              <a:t>ψ</a:t>
            </a:r>
            <a:r>
              <a:rPr lang="en-US" altLang="zh-CN" sz="2800" i="1" baseline="-25000" dirty="0" err="1" smtClean="0">
                <a:solidFill>
                  <a:schemeClr val="tx1"/>
                </a:solidFill>
                <a:latin typeface="微软雅黑" pitchFamily="34" charset="-122"/>
                <a:ea typeface="微软雅黑" pitchFamily="34" charset="-122"/>
              </a:rPr>
              <a:t>r</a:t>
            </a:r>
            <a:r>
              <a:rPr lang="en-US" altLang="zh-CN" sz="2800" dirty="0" smtClean="0">
                <a:solidFill>
                  <a:schemeClr val="tx1"/>
                </a:solidFill>
                <a:latin typeface="微软雅黑" pitchFamily="34" charset="-122"/>
                <a:ea typeface="微软雅黑" pitchFamily="34" charset="-122"/>
              </a:rPr>
              <a:t>---</a:t>
            </a:r>
            <a:r>
              <a:rPr lang="zh-CN" altLang="en-US" sz="2400" dirty="0" smtClean="0">
                <a:solidFill>
                  <a:schemeClr val="tx1"/>
                </a:solidFill>
                <a:latin typeface="微软雅黑" pitchFamily="34" charset="-122"/>
                <a:ea typeface="微软雅黑" pitchFamily="34" charset="-122"/>
              </a:rPr>
              <a:t>折减系数，根据岩体完整程度和结构面的间距、</a:t>
            </a:r>
            <a:endParaRPr lang="en-US" altLang="zh-CN" sz="2400" dirty="0" smtClean="0">
              <a:solidFill>
                <a:schemeClr val="tx1"/>
              </a:solidFill>
              <a:latin typeface="微软雅黑" pitchFamily="34" charset="-122"/>
              <a:ea typeface="微软雅黑" pitchFamily="34" charset="-122"/>
            </a:endParaRPr>
          </a:p>
          <a:p>
            <a:pPr algn="l"/>
            <a:r>
              <a:rPr lang="zh-CN" altLang="en-US" sz="2400" dirty="0" smtClean="0">
                <a:solidFill>
                  <a:schemeClr val="tx1"/>
                </a:solidFill>
                <a:latin typeface="微软雅黑" pitchFamily="34" charset="-122"/>
                <a:ea typeface="微软雅黑" pitchFamily="34" charset="-122"/>
              </a:rPr>
              <a:t>              宽度、产状和组合，由地区经验确定。</a:t>
            </a:r>
          </a:p>
          <a:p>
            <a:r>
              <a:rPr lang="zh-CN" altLang="en-US" sz="2800" dirty="0" smtClean="0">
                <a:solidFill>
                  <a:schemeClr val="bg1"/>
                </a:solidFill>
                <a:latin typeface="微软雅黑" pitchFamily="34" charset="-122"/>
                <a:ea typeface="微软雅黑" pitchFamily="34" charset="-122"/>
              </a:rPr>
              <a:t>      </a:t>
            </a:r>
            <a:endParaRPr lang="en-US" altLang="zh-CN" sz="2800" dirty="0">
              <a:solidFill>
                <a:schemeClr val="bg1"/>
              </a:solidFill>
              <a:latin typeface="微软雅黑" pitchFamily="34" charset="-122"/>
              <a:ea typeface="微软雅黑" pitchFamily="34" charset="-122"/>
            </a:endParaRPr>
          </a:p>
          <a:p>
            <a:r>
              <a:rPr lang="en-US" altLang="zh-CN" sz="2800" dirty="0" smtClean="0">
                <a:solidFill>
                  <a:schemeClr val="bg1"/>
                </a:solidFill>
                <a:latin typeface="微软雅黑" pitchFamily="34" charset="-122"/>
                <a:ea typeface="微软雅黑" pitchFamily="34" charset="-122"/>
              </a:rPr>
              <a:t> </a:t>
            </a:r>
            <a:r>
              <a:rPr lang="zh-CN" altLang="en-US" sz="2400" dirty="0" smtClean="0">
                <a:solidFill>
                  <a:schemeClr val="bg1"/>
                </a:solidFill>
                <a:latin typeface="微软雅黑" pitchFamily="34" charset="-122"/>
                <a:ea typeface="微软雅黑" pitchFamily="34" charset="-122"/>
              </a:rPr>
              <a:t>*（</a:t>
            </a:r>
            <a:r>
              <a:rPr lang="zh-CN" altLang="en-US" sz="2400" dirty="0" smtClean="0">
                <a:solidFill>
                  <a:schemeClr val="bg1"/>
                </a:solidFill>
                <a:latin typeface="楷体" panose="02010609060101010101" pitchFamily="49" charset="-122"/>
                <a:ea typeface="楷体" panose="02010609060101010101" pitchFamily="49" charset="-122"/>
              </a:rPr>
              <a:t>无经验时：对完整岩体可取</a:t>
            </a:r>
            <a:r>
              <a:rPr lang="en-US" altLang="zh-CN" sz="2400" dirty="0" smtClean="0">
                <a:solidFill>
                  <a:schemeClr val="bg1"/>
                </a:solidFill>
                <a:latin typeface="楷体" panose="02010609060101010101" pitchFamily="49" charset="-122"/>
                <a:ea typeface="楷体" panose="02010609060101010101" pitchFamily="49" charset="-122"/>
              </a:rPr>
              <a:t>0.5</a:t>
            </a:r>
            <a:r>
              <a:rPr lang="zh-CN" altLang="en-US" sz="2400" dirty="0" smtClean="0">
                <a:solidFill>
                  <a:schemeClr val="bg1"/>
                </a:solidFill>
                <a:latin typeface="楷体" panose="02010609060101010101" pitchFamily="49" charset="-122"/>
                <a:ea typeface="楷体" panose="02010609060101010101" pitchFamily="49" charset="-122"/>
              </a:rPr>
              <a:t>；对较完整岩体可取</a:t>
            </a:r>
            <a:r>
              <a:rPr lang="en-US" altLang="zh-CN" sz="2400" dirty="0" smtClean="0">
                <a:solidFill>
                  <a:schemeClr val="bg1"/>
                </a:solidFill>
                <a:latin typeface="楷体" panose="02010609060101010101" pitchFamily="49" charset="-122"/>
                <a:ea typeface="楷体" panose="02010609060101010101" pitchFamily="49" charset="-122"/>
              </a:rPr>
              <a:t>0.2</a:t>
            </a:r>
            <a:r>
              <a:rPr lang="en-US" altLang="zh-CN" sz="2400" dirty="0">
                <a:solidFill>
                  <a:schemeClr val="bg1"/>
                </a:solidFill>
                <a:latin typeface="楷体" panose="02010609060101010101" pitchFamily="49" charset="-122"/>
                <a:ea typeface="楷体" panose="02010609060101010101" pitchFamily="49" charset="-122"/>
              </a:rPr>
              <a:t>~</a:t>
            </a:r>
            <a:r>
              <a:rPr lang="en-US" altLang="zh-CN" sz="2400" dirty="0" smtClean="0">
                <a:solidFill>
                  <a:schemeClr val="bg1"/>
                </a:solidFill>
                <a:latin typeface="楷体" panose="02010609060101010101" pitchFamily="49" charset="-122"/>
                <a:ea typeface="楷体" panose="02010609060101010101" pitchFamily="49" charset="-122"/>
              </a:rPr>
              <a:t>0.5</a:t>
            </a:r>
            <a:r>
              <a:rPr lang="zh-CN" altLang="en-US" sz="2400" dirty="0" smtClean="0">
                <a:solidFill>
                  <a:schemeClr val="bg1"/>
                </a:solidFill>
                <a:latin typeface="楷体" panose="02010609060101010101" pitchFamily="49" charset="-122"/>
                <a:ea typeface="楷体" panose="02010609060101010101" pitchFamily="49" charset="-122"/>
              </a:rPr>
              <a:t>；对较破碎岩体可取</a:t>
            </a:r>
            <a:r>
              <a:rPr lang="en-US" altLang="zh-CN" sz="2400" dirty="0" smtClean="0">
                <a:solidFill>
                  <a:schemeClr val="bg1"/>
                </a:solidFill>
                <a:latin typeface="楷体" panose="02010609060101010101" pitchFamily="49" charset="-122"/>
                <a:ea typeface="楷体" panose="02010609060101010101" pitchFamily="49" charset="-122"/>
              </a:rPr>
              <a:t>0.1</a:t>
            </a:r>
            <a:r>
              <a:rPr lang="en-US" altLang="zh-CN" sz="2400" dirty="0">
                <a:solidFill>
                  <a:schemeClr val="bg1"/>
                </a:solidFill>
                <a:latin typeface="楷体" panose="02010609060101010101" pitchFamily="49" charset="-122"/>
                <a:ea typeface="楷体" panose="02010609060101010101" pitchFamily="49" charset="-122"/>
              </a:rPr>
              <a:t>~</a:t>
            </a:r>
            <a:r>
              <a:rPr lang="en-US" altLang="zh-CN" sz="2400" dirty="0" smtClean="0">
                <a:solidFill>
                  <a:schemeClr val="bg1"/>
                </a:solidFill>
                <a:latin typeface="楷体" panose="02010609060101010101" pitchFamily="49" charset="-122"/>
                <a:ea typeface="楷体" panose="02010609060101010101" pitchFamily="49" charset="-122"/>
              </a:rPr>
              <a:t>0.2</a:t>
            </a:r>
            <a:r>
              <a:rPr lang="zh-CN" altLang="en-US" sz="2400" dirty="0">
                <a:solidFill>
                  <a:schemeClr val="bg1"/>
                </a:solidFill>
                <a:latin typeface="楷体" panose="02010609060101010101" pitchFamily="49" charset="-122"/>
                <a:ea typeface="楷体" panose="02010609060101010101" pitchFamily="49" charset="-122"/>
              </a:rPr>
              <a:t>。）</a:t>
            </a:r>
          </a:p>
          <a:p>
            <a:endParaRPr lang="en-US" altLang="zh-CN" dirty="0">
              <a:ea typeface="微软雅黑" pitchFamily="34" charset="-122"/>
            </a:endParaRPr>
          </a:p>
        </p:txBody>
      </p:sp>
      <p:grpSp>
        <p:nvGrpSpPr>
          <p:cNvPr id="25" name="组合 24"/>
          <p:cNvGrpSpPr/>
          <p:nvPr/>
        </p:nvGrpSpPr>
        <p:grpSpPr>
          <a:xfrm>
            <a:off x="63653" y="212550"/>
            <a:ext cx="8757051" cy="705146"/>
            <a:chOff x="2101023" y="4636482"/>
            <a:chExt cx="6677207" cy="1332528"/>
          </a:xfrm>
        </p:grpSpPr>
        <p:grpSp>
          <p:nvGrpSpPr>
            <p:cNvPr id="26" name="组合 25"/>
            <p:cNvGrpSpPr/>
            <p:nvPr/>
          </p:nvGrpSpPr>
          <p:grpSpPr>
            <a:xfrm>
              <a:off x="2101023" y="4636482"/>
              <a:ext cx="6280302" cy="1332528"/>
              <a:chOff x="1117485" y="2060848"/>
              <a:chExt cx="6262827" cy="914975"/>
            </a:xfrm>
          </p:grpSpPr>
          <p:sp>
            <p:nvSpPr>
              <p:cNvPr id="28"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9" name="Group 34"/>
              <p:cNvGrpSpPr>
                <a:grpSpLocks/>
              </p:cNvGrpSpPr>
              <p:nvPr/>
            </p:nvGrpSpPr>
            <p:grpSpPr bwMode="auto">
              <a:xfrm>
                <a:off x="1117485" y="2095118"/>
                <a:ext cx="778856" cy="880705"/>
                <a:chOff x="2960" y="1569"/>
                <a:chExt cx="417" cy="481"/>
              </a:xfrm>
            </p:grpSpPr>
            <p:grpSp>
              <p:nvGrpSpPr>
                <p:cNvPr id="30" name="Group 35"/>
                <p:cNvGrpSpPr>
                  <a:grpSpLocks/>
                </p:cNvGrpSpPr>
                <p:nvPr/>
              </p:nvGrpSpPr>
              <p:grpSpPr bwMode="auto">
                <a:xfrm>
                  <a:off x="2960" y="1569"/>
                  <a:ext cx="417" cy="481"/>
                  <a:chOff x="192" y="1917"/>
                  <a:chExt cx="957" cy="1102"/>
                </a:xfrm>
              </p:grpSpPr>
              <p:pic>
                <p:nvPicPr>
                  <p:cNvPr id="32" name="Picture 36" descr="light_shadow"/>
                  <p:cNvPicPr>
                    <a:picLocks noChangeAspect="1" noChangeArrowheads="1"/>
                  </p:cNvPicPr>
                  <p:nvPr/>
                </p:nvPicPr>
                <p:blipFill>
                  <a:blip r:embed="rId4"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7" descr="circuler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192" y="1917"/>
                    <a:ext cx="779" cy="1071"/>
                  </a:xfrm>
                  <a:prstGeom prst="rect">
                    <a:avLst/>
                  </a:prstGeom>
                  <a:noFill/>
                  <a:extLst>
                    <a:ext uri="{909E8E84-426E-40DD-AFC4-6F175D3DCCD1}">
                      <a14:hiddenFill xmlns:a14="http://schemas.microsoft.com/office/drawing/2010/main">
                        <a:solidFill>
                          <a:srgbClr val="FFFFFF"/>
                        </a:solidFill>
                      </a14:hiddenFill>
                    </a:ext>
                  </a:extLst>
                </p:spPr>
              </p:pic>
              <p:sp>
                <p:nvSpPr>
                  <p:cNvPr id="34" name="Oval 38"/>
                  <p:cNvSpPr>
                    <a:spLocks noChangeArrowheads="1"/>
                  </p:cNvSpPr>
                  <p:nvPr/>
                </p:nvSpPr>
                <p:spPr bwMode="gray">
                  <a:xfrm>
                    <a:off x="270" y="1937"/>
                    <a:ext cx="700" cy="988"/>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31" name="Picture 39" descr="Picture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3004" y="1572"/>
                  <a:ext cx="295" cy="129"/>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7" name="矩形 26"/>
            <p:cNvSpPr/>
            <p:nvPr/>
          </p:nvSpPr>
          <p:spPr>
            <a:xfrm>
              <a:off x="2817608" y="4795336"/>
              <a:ext cx="5960622" cy="988739"/>
            </a:xfrm>
            <a:prstGeom prst="rect">
              <a:avLst/>
            </a:prstGeom>
          </p:spPr>
          <p:txBody>
            <a:bodyPr wrap="square">
              <a:spAutoFit/>
            </a:bodyPr>
            <a:lstStyle/>
            <a:p>
              <a:r>
                <a:rPr lang="zh-CN" altLang="en-US" sz="2800" b="1" dirty="0" smtClean="0">
                  <a:ea typeface="微软雅黑" pitchFamily="34" charset="-122"/>
                </a:rPr>
                <a:t>荷载试验</a:t>
              </a:r>
              <a:r>
                <a:rPr lang="zh-CN" altLang="en-US" sz="2800" b="1" dirty="0">
                  <a:ea typeface="微软雅黑" pitchFamily="34" charset="-122"/>
                </a:rPr>
                <a:t>、</a:t>
              </a:r>
              <a:r>
                <a:rPr lang="zh-CN" altLang="en-US" sz="2800" b="1" dirty="0" smtClean="0">
                  <a:ea typeface="微软雅黑" pitchFamily="34" charset="-122"/>
                </a:rPr>
                <a:t>原位测试</a:t>
              </a:r>
              <a:r>
                <a:rPr lang="zh-CN" altLang="en-US" sz="2800" b="1" dirty="0">
                  <a:ea typeface="微软雅黑" pitchFamily="34" charset="-122"/>
                </a:rPr>
                <a:t>、经验值</a:t>
              </a:r>
              <a:r>
                <a:rPr lang="zh-CN" altLang="en-US" sz="2800" b="1" dirty="0" smtClean="0">
                  <a:ea typeface="微软雅黑" pitchFamily="34" charset="-122"/>
                </a:rPr>
                <a:t>等</a:t>
              </a:r>
              <a:endParaRPr lang="zh-CN" altLang="en-US" sz="2800" b="1" dirty="0">
                <a:ea typeface="微软雅黑" pitchFamily="34" charset="-122"/>
              </a:endParaRPr>
            </a:p>
          </p:txBody>
        </p:sp>
      </p:grpSp>
    </p:spTree>
    <p:extLst>
      <p:ext uri="{BB962C8B-B14F-4D97-AF65-F5344CB8AC3E}">
        <p14:creationId xmlns:p14="http://schemas.microsoft.com/office/powerpoint/2010/main" val="2372161953"/>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7</a:t>
            </a:fld>
            <a:endParaRPr lang="zh-CN" altLang="en-US" dirty="0">
              <a:solidFill>
                <a:srgbClr val="A61A40"/>
              </a:solidFill>
            </a:endParaRPr>
          </a:p>
        </p:txBody>
      </p:sp>
      <p:graphicFrame>
        <p:nvGraphicFramePr>
          <p:cNvPr id="6" name="图示 5"/>
          <p:cNvGraphicFramePr/>
          <p:nvPr>
            <p:extLst>
              <p:ext uri="{D42A27DB-BD31-4B8C-83A1-F6EECF244321}">
                <p14:modId xmlns:p14="http://schemas.microsoft.com/office/powerpoint/2010/main" val="1802772589"/>
              </p:ext>
            </p:extLst>
          </p:nvPr>
        </p:nvGraphicFramePr>
        <p:xfrm>
          <a:off x="323528" y="1797909"/>
          <a:ext cx="8280920" cy="48722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2"/>
          <p:cNvSpPr txBox="1">
            <a:spLocks noChangeArrowheads="1"/>
          </p:cNvSpPr>
          <p:nvPr/>
        </p:nvSpPr>
        <p:spPr>
          <a:xfrm>
            <a:off x="569683" y="1221371"/>
            <a:ext cx="9144000" cy="912797"/>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3400" b="1" dirty="0">
                <a:solidFill>
                  <a:srgbClr val="FFFF00"/>
                </a:solidFill>
                <a:ea typeface="微软雅黑" pitchFamily="34" charset="-122"/>
              </a:rPr>
              <a:t>2.2  </a:t>
            </a:r>
            <a:r>
              <a:rPr lang="zh-CN" altLang="en-US" sz="3400" b="1" dirty="0">
                <a:solidFill>
                  <a:srgbClr val="FFFF00"/>
                </a:solidFill>
                <a:ea typeface="微软雅黑" pitchFamily="34" charset="-122"/>
              </a:rPr>
              <a:t>深宽修正</a:t>
            </a:r>
            <a:r>
              <a:rPr lang="en-US" altLang="zh-CN" b="1" dirty="0" smtClean="0">
                <a:ea typeface="微软雅黑" pitchFamily="34" charset="-122"/>
              </a:rPr>
              <a:t/>
            </a:r>
            <a:br>
              <a:rPr lang="en-US" altLang="zh-CN" b="1" dirty="0" smtClean="0">
                <a:ea typeface="微软雅黑" pitchFamily="34" charset="-122"/>
              </a:rPr>
            </a:br>
            <a:endParaRPr lang="zh-CN" altLang="en-US" b="1" dirty="0">
              <a:ea typeface="微软雅黑" pitchFamily="34" charset="-122"/>
            </a:endParaRPr>
          </a:p>
        </p:txBody>
      </p:sp>
      <p:grpSp>
        <p:nvGrpSpPr>
          <p:cNvPr id="18" name="组合 17"/>
          <p:cNvGrpSpPr/>
          <p:nvPr/>
        </p:nvGrpSpPr>
        <p:grpSpPr>
          <a:xfrm>
            <a:off x="63653" y="212550"/>
            <a:ext cx="8757051" cy="705146"/>
            <a:chOff x="2101023" y="4636482"/>
            <a:chExt cx="6677207" cy="1332528"/>
          </a:xfrm>
        </p:grpSpPr>
        <p:grpSp>
          <p:nvGrpSpPr>
            <p:cNvPr id="19" name="组合 18"/>
            <p:cNvGrpSpPr/>
            <p:nvPr/>
          </p:nvGrpSpPr>
          <p:grpSpPr>
            <a:xfrm>
              <a:off x="2101023" y="4636482"/>
              <a:ext cx="6280302" cy="1332528"/>
              <a:chOff x="1117485" y="2060848"/>
              <a:chExt cx="6262827" cy="914975"/>
            </a:xfrm>
          </p:grpSpPr>
          <p:sp>
            <p:nvSpPr>
              <p:cNvPr id="21"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2" name="Group 34"/>
              <p:cNvGrpSpPr>
                <a:grpSpLocks/>
              </p:cNvGrpSpPr>
              <p:nvPr/>
            </p:nvGrpSpPr>
            <p:grpSpPr bwMode="auto">
              <a:xfrm>
                <a:off x="1117485" y="2095118"/>
                <a:ext cx="778856" cy="880705"/>
                <a:chOff x="2960" y="1569"/>
                <a:chExt cx="417" cy="481"/>
              </a:xfrm>
            </p:grpSpPr>
            <p:grpSp>
              <p:nvGrpSpPr>
                <p:cNvPr id="23" name="Group 35"/>
                <p:cNvGrpSpPr>
                  <a:grpSpLocks/>
                </p:cNvGrpSpPr>
                <p:nvPr/>
              </p:nvGrpSpPr>
              <p:grpSpPr bwMode="auto">
                <a:xfrm>
                  <a:off x="2960" y="1569"/>
                  <a:ext cx="417" cy="481"/>
                  <a:chOff x="192" y="1917"/>
                  <a:chExt cx="957" cy="1102"/>
                </a:xfrm>
              </p:grpSpPr>
              <p:pic>
                <p:nvPicPr>
                  <p:cNvPr id="25" name="Picture 36" descr="light_shadow"/>
                  <p:cNvPicPr>
                    <a:picLocks noChangeAspect="1" noChangeArrowheads="1"/>
                  </p:cNvPicPr>
                  <p:nvPr/>
                </p:nvPicPr>
                <p:blipFill>
                  <a:blip r:embed="rId8"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7" descr="circuler_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192" y="1917"/>
                    <a:ext cx="779" cy="1071"/>
                  </a:xfrm>
                  <a:prstGeom prst="rect">
                    <a:avLst/>
                  </a:prstGeom>
                  <a:noFill/>
                  <a:extLst>
                    <a:ext uri="{909E8E84-426E-40DD-AFC4-6F175D3DCCD1}">
                      <a14:hiddenFill xmlns:a14="http://schemas.microsoft.com/office/drawing/2010/main">
                        <a:solidFill>
                          <a:srgbClr val="FFFFFF"/>
                        </a:solidFill>
                      </a14:hiddenFill>
                    </a:ext>
                  </a:extLst>
                </p:spPr>
              </p:pic>
              <p:sp>
                <p:nvSpPr>
                  <p:cNvPr id="27" name="Oval 38"/>
                  <p:cNvSpPr>
                    <a:spLocks noChangeArrowheads="1"/>
                  </p:cNvSpPr>
                  <p:nvPr/>
                </p:nvSpPr>
                <p:spPr bwMode="gray">
                  <a:xfrm>
                    <a:off x="270" y="1937"/>
                    <a:ext cx="700" cy="988"/>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4" name="Picture 39" descr="Picture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3004" y="1572"/>
                  <a:ext cx="295" cy="129"/>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0" name="矩形 19"/>
            <p:cNvSpPr/>
            <p:nvPr/>
          </p:nvSpPr>
          <p:spPr>
            <a:xfrm>
              <a:off x="2817608" y="4795336"/>
              <a:ext cx="5960622" cy="988739"/>
            </a:xfrm>
            <a:prstGeom prst="rect">
              <a:avLst/>
            </a:prstGeom>
          </p:spPr>
          <p:txBody>
            <a:bodyPr wrap="square">
              <a:spAutoFit/>
            </a:bodyPr>
            <a:lstStyle/>
            <a:p>
              <a:r>
                <a:rPr lang="zh-CN" altLang="en-US" sz="2800" b="1" dirty="0" smtClean="0">
                  <a:ea typeface="微软雅黑" pitchFamily="34" charset="-122"/>
                </a:rPr>
                <a:t>荷载试验</a:t>
              </a:r>
              <a:r>
                <a:rPr lang="zh-CN" altLang="en-US" sz="2800" b="1" dirty="0">
                  <a:ea typeface="微软雅黑" pitchFamily="34" charset="-122"/>
                </a:rPr>
                <a:t>、</a:t>
              </a:r>
              <a:r>
                <a:rPr lang="zh-CN" altLang="en-US" sz="2800" b="1" dirty="0" smtClean="0">
                  <a:ea typeface="微软雅黑" pitchFamily="34" charset="-122"/>
                </a:rPr>
                <a:t>原位测试</a:t>
              </a:r>
              <a:r>
                <a:rPr lang="zh-CN" altLang="en-US" sz="2800" b="1" dirty="0">
                  <a:ea typeface="微软雅黑" pitchFamily="34" charset="-122"/>
                </a:rPr>
                <a:t>、经验值</a:t>
              </a:r>
              <a:r>
                <a:rPr lang="zh-CN" altLang="en-US" sz="2800" b="1" dirty="0" smtClean="0">
                  <a:ea typeface="微软雅黑" pitchFamily="34" charset="-122"/>
                </a:rPr>
                <a:t>等</a:t>
              </a:r>
              <a:endParaRPr lang="zh-CN" altLang="en-US" sz="2800" b="1" dirty="0">
                <a:ea typeface="微软雅黑" pitchFamily="34" charset="-122"/>
              </a:endParaRPr>
            </a:p>
          </p:txBody>
        </p:sp>
      </p:grpSp>
    </p:spTree>
    <p:extLst>
      <p:ext uri="{BB962C8B-B14F-4D97-AF65-F5344CB8AC3E}">
        <p14:creationId xmlns:p14="http://schemas.microsoft.com/office/powerpoint/2010/main" val="37100974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8</a:t>
            </a:fld>
            <a:endParaRPr lang="zh-CN" altLang="en-US" dirty="0">
              <a:solidFill>
                <a:srgbClr val="A61A40"/>
              </a:solidFill>
            </a:endParaRPr>
          </a:p>
        </p:txBody>
      </p:sp>
      <p:graphicFrame>
        <p:nvGraphicFramePr>
          <p:cNvPr id="6" name="内容占位符 5"/>
          <p:cNvGraphicFramePr>
            <a:graphicFrameLocks/>
          </p:cNvGraphicFramePr>
          <p:nvPr>
            <p:extLst>
              <p:ext uri="{D42A27DB-BD31-4B8C-83A1-F6EECF244321}">
                <p14:modId xmlns:p14="http://schemas.microsoft.com/office/powerpoint/2010/main" val="138858048"/>
              </p:ext>
            </p:extLst>
          </p:nvPr>
        </p:nvGraphicFramePr>
        <p:xfrm>
          <a:off x="496870" y="1880668"/>
          <a:ext cx="8103844" cy="46260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矩形 6"/>
          <p:cNvSpPr/>
          <p:nvPr/>
        </p:nvSpPr>
        <p:spPr>
          <a:xfrm>
            <a:off x="416894" y="1195895"/>
            <a:ext cx="5929354" cy="523220"/>
          </a:xfrm>
          <a:prstGeom prst="rect">
            <a:avLst/>
          </a:prstGeom>
        </p:spPr>
        <p:txBody>
          <a:bodyPr wrap="square">
            <a:spAutoFit/>
          </a:bodyPr>
          <a:lstStyle/>
          <a:p>
            <a:r>
              <a:rPr lang="en-US" altLang="zh-CN" sz="2800" b="1" dirty="0">
                <a:solidFill>
                  <a:srgbClr val="FFFF00"/>
                </a:solidFill>
                <a:latin typeface="+mj-lt"/>
                <a:ea typeface="微软雅黑" pitchFamily="34" charset="-122"/>
                <a:cs typeface="+mj-cs"/>
              </a:rPr>
              <a:t>2.3 </a:t>
            </a:r>
            <a:r>
              <a:rPr lang="zh-CN" altLang="en-US" sz="2800" b="1" dirty="0">
                <a:solidFill>
                  <a:srgbClr val="FFFF00"/>
                </a:solidFill>
                <a:latin typeface="+mj-lt"/>
                <a:ea typeface="微软雅黑" pitchFamily="34" charset="-122"/>
                <a:cs typeface="+mj-cs"/>
              </a:rPr>
              <a:t>理论计算与经验估计</a:t>
            </a:r>
          </a:p>
        </p:txBody>
      </p:sp>
      <p:grpSp>
        <p:nvGrpSpPr>
          <p:cNvPr id="18" name="组合 17"/>
          <p:cNvGrpSpPr/>
          <p:nvPr/>
        </p:nvGrpSpPr>
        <p:grpSpPr>
          <a:xfrm>
            <a:off x="63653" y="212550"/>
            <a:ext cx="8757051" cy="705146"/>
            <a:chOff x="2101023" y="4636482"/>
            <a:chExt cx="6677207" cy="1332528"/>
          </a:xfrm>
        </p:grpSpPr>
        <p:grpSp>
          <p:nvGrpSpPr>
            <p:cNvPr id="19" name="组合 18"/>
            <p:cNvGrpSpPr/>
            <p:nvPr/>
          </p:nvGrpSpPr>
          <p:grpSpPr>
            <a:xfrm>
              <a:off x="2101023" y="4636482"/>
              <a:ext cx="6280302" cy="1332528"/>
              <a:chOff x="1117485" y="2060848"/>
              <a:chExt cx="6262827" cy="914975"/>
            </a:xfrm>
          </p:grpSpPr>
          <p:sp>
            <p:nvSpPr>
              <p:cNvPr id="21"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2" name="Group 34"/>
              <p:cNvGrpSpPr>
                <a:grpSpLocks/>
              </p:cNvGrpSpPr>
              <p:nvPr/>
            </p:nvGrpSpPr>
            <p:grpSpPr bwMode="auto">
              <a:xfrm>
                <a:off x="1117485" y="2095118"/>
                <a:ext cx="778856" cy="880705"/>
                <a:chOff x="2960" y="1569"/>
                <a:chExt cx="417" cy="481"/>
              </a:xfrm>
            </p:grpSpPr>
            <p:grpSp>
              <p:nvGrpSpPr>
                <p:cNvPr id="23" name="Group 35"/>
                <p:cNvGrpSpPr>
                  <a:grpSpLocks/>
                </p:cNvGrpSpPr>
                <p:nvPr/>
              </p:nvGrpSpPr>
              <p:grpSpPr bwMode="auto">
                <a:xfrm>
                  <a:off x="2960" y="1569"/>
                  <a:ext cx="417" cy="481"/>
                  <a:chOff x="192" y="1917"/>
                  <a:chExt cx="957" cy="1102"/>
                </a:xfrm>
              </p:grpSpPr>
              <p:pic>
                <p:nvPicPr>
                  <p:cNvPr id="25" name="Picture 36" descr="light_shadow"/>
                  <p:cNvPicPr>
                    <a:picLocks noChangeAspect="1" noChangeArrowheads="1"/>
                  </p:cNvPicPr>
                  <p:nvPr/>
                </p:nvPicPr>
                <p:blipFill>
                  <a:blip r:embed="rId7"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7" descr="circuler_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gray">
                  <a:xfrm>
                    <a:off x="192" y="1917"/>
                    <a:ext cx="779" cy="1071"/>
                  </a:xfrm>
                  <a:prstGeom prst="rect">
                    <a:avLst/>
                  </a:prstGeom>
                  <a:noFill/>
                  <a:extLst>
                    <a:ext uri="{909E8E84-426E-40DD-AFC4-6F175D3DCCD1}">
                      <a14:hiddenFill xmlns:a14="http://schemas.microsoft.com/office/drawing/2010/main">
                        <a:solidFill>
                          <a:srgbClr val="FFFFFF"/>
                        </a:solidFill>
                      </a14:hiddenFill>
                    </a:ext>
                  </a:extLst>
                </p:spPr>
              </p:pic>
              <p:sp>
                <p:nvSpPr>
                  <p:cNvPr id="27" name="Oval 38"/>
                  <p:cNvSpPr>
                    <a:spLocks noChangeArrowheads="1"/>
                  </p:cNvSpPr>
                  <p:nvPr/>
                </p:nvSpPr>
                <p:spPr bwMode="gray">
                  <a:xfrm>
                    <a:off x="270" y="1937"/>
                    <a:ext cx="700" cy="988"/>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4" name="Picture 39" descr="Picture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3004" y="1572"/>
                  <a:ext cx="295" cy="129"/>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0" name="矩形 19"/>
            <p:cNvSpPr/>
            <p:nvPr/>
          </p:nvSpPr>
          <p:spPr>
            <a:xfrm>
              <a:off x="2817608" y="4795336"/>
              <a:ext cx="5960622" cy="988739"/>
            </a:xfrm>
            <a:prstGeom prst="rect">
              <a:avLst/>
            </a:prstGeom>
          </p:spPr>
          <p:txBody>
            <a:bodyPr wrap="square">
              <a:spAutoFit/>
            </a:bodyPr>
            <a:lstStyle/>
            <a:p>
              <a:r>
                <a:rPr lang="zh-CN" altLang="en-US" sz="2800" b="1" dirty="0" smtClean="0">
                  <a:ea typeface="微软雅黑" pitchFamily="34" charset="-122"/>
                </a:rPr>
                <a:t>荷载试验</a:t>
              </a:r>
              <a:r>
                <a:rPr lang="zh-CN" altLang="en-US" sz="2800" b="1" dirty="0">
                  <a:ea typeface="微软雅黑" pitchFamily="34" charset="-122"/>
                </a:rPr>
                <a:t>、</a:t>
              </a:r>
              <a:r>
                <a:rPr lang="zh-CN" altLang="en-US" sz="2800" b="1" dirty="0" smtClean="0">
                  <a:ea typeface="微软雅黑" pitchFamily="34" charset="-122"/>
                </a:rPr>
                <a:t>原位测试</a:t>
              </a:r>
              <a:r>
                <a:rPr lang="zh-CN" altLang="en-US" sz="2800" b="1" dirty="0">
                  <a:ea typeface="微软雅黑" pitchFamily="34" charset="-122"/>
                </a:rPr>
                <a:t>、经验值</a:t>
              </a:r>
              <a:r>
                <a:rPr lang="zh-CN" altLang="en-US" sz="2800" b="1" dirty="0" smtClean="0">
                  <a:ea typeface="微软雅黑" pitchFamily="34" charset="-122"/>
                </a:rPr>
                <a:t>等</a:t>
              </a:r>
              <a:endParaRPr lang="zh-CN" altLang="en-US" sz="2800" b="1" dirty="0">
                <a:ea typeface="微软雅黑" pitchFamily="34" charset="-122"/>
              </a:endParaRPr>
            </a:p>
          </p:txBody>
        </p:sp>
      </p:grpSp>
    </p:spTree>
    <p:extLst>
      <p:ext uri="{BB962C8B-B14F-4D97-AF65-F5344CB8AC3E}">
        <p14:creationId xmlns:p14="http://schemas.microsoft.com/office/powerpoint/2010/main" val="38486477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t>9</a:t>
            </a:fld>
            <a:endParaRPr lang="zh-CN" altLang="en-US" dirty="0"/>
          </a:p>
        </p:txBody>
      </p:sp>
      <p:grpSp>
        <p:nvGrpSpPr>
          <p:cNvPr id="6" name="组合 5"/>
          <p:cNvGrpSpPr/>
          <p:nvPr/>
        </p:nvGrpSpPr>
        <p:grpSpPr>
          <a:xfrm>
            <a:off x="-468560" y="765497"/>
            <a:ext cx="10225137" cy="5703828"/>
            <a:chOff x="168005" y="1106214"/>
            <a:chExt cx="8977825" cy="5008048"/>
          </a:xfrm>
        </p:grpSpPr>
        <p:graphicFrame>
          <p:nvGraphicFramePr>
            <p:cNvPr id="7" name="图示 6"/>
            <p:cNvGraphicFramePr/>
            <p:nvPr>
              <p:extLst>
                <p:ext uri="{D42A27DB-BD31-4B8C-83A1-F6EECF244321}">
                  <p14:modId xmlns:p14="http://schemas.microsoft.com/office/powerpoint/2010/main" val="3762989231"/>
                </p:ext>
              </p:extLst>
            </p:nvPr>
          </p:nvGraphicFramePr>
          <p:xfrm>
            <a:off x="168005" y="1106214"/>
            <a:ext cx="3851595" cy="5008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图示 7"/>
            <p:cNvGraphicFramePr/>
            <p:nvPr>
              <p:extLst>
                <p:ext uri="{D42A27DB-BD31-4B8C-83A1-F6EECF244321}">
                  <p14:modId xmlns:p14="http://schemas.microsoft.com/office/powerpoint/2010/main" val="3018506496"/>
                </p:ext>
              </p:extLst>
            </p:nvPr>
          </p:nvGraphicFramePr>
          <p:xfrm>
            <a:off x="3049830" y="2181024"/>
            <a:ext cx="6096000" cy="345638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sp>
        <p:nvSpPr>
          <p:cNvPr id="12" name="标题 1"/>
          <p:cNvSpPr txBox="1">
            <a:spLocks/>
          </p:cNvSpPr>
          <p:nvPr/>
        </p:nvSpPr>
        <p:spPr>
          <a:xfrm>
            <a:off x="397682" y="477467"/>
            <a:ext cx="6694598" cy="86409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smtClean="0">
                <a:solidFill>
                  <a:srgbClr val="FFFF00"/>
                </a:solidFill>
                <a:ea typeface="微软雅黑" pitchFamily="34" charset="-122"/>
              </a:rPr>
              <a:t>2.4</a:t>
            </a:r>
            <a:r>
              <a:rPr lang="zh-CN" altLang="en-US" sz="2800" b="1" dirty="0" smtClean="0">
                <a:solidFill>
                  <a:srgbClr val="FFFF00"/>
                </a:solidFill>
                <a:ea typeface="微软雅黑" pitchFamily="34" charset="-122"/>
              </a:rPr>
              <a:t>工程</a:t>
            </a:r>
            <a:r>
              <a:rPr lang="zh-CN" altLang="en-US" sz="2800" b="1" dirty="0">
                <a:solidFill>
                  <a:srgbClr val="FFFF00"/>
                </a:solidFill>
                <a:ea typeface="微软雅黑" pitchFamily="34" charset="-122"/>
              </a:rPr>
              <a:t>经验法（查表法）起源与发展</a:t>
            </a:r>
          </a:p>
        </p:txBody>
      </p:sp>
    </p:spTree>
    <p:extLst>
      <p:ext uri="{BB962C8B-B14F-4D97-AF65-F5344CB8AC3E}">
        <p14:creationId xmlns:p14="http://schemas.microsoft.com/office/powerpoint/2010/main" val="20845342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a:hlinkClick r:id="rId2" action="ppaction://hlinksldjump"/>
          </p:cNvPr>
          <p:cNvSpPr/>
          <p:nvPr/>
        </p:nvSpPr>
        <p:spPr>
          <a:xfrm>
            <a:off x="8100392" y="6118716"/>
            <a:ext cx="931470" cy="548807"/>
          </a:xfrm>
          <a:prstGeom prst="rect">
            <a:avLst/>
          </a:prstGeom>
          <a:solidFill>
            <a:srgbClr val="A61A4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home</a:t>
            </a:r>
            <a:endParaRPr lang="zh-CN" altLang="en-US" dirty="0">
              <a:ea typeface="微软雅黑" pitchFamily="34" charset="-122"/>
            </a:endParaRPr>
          </a:p>
        </p:txBody>
      </p:sp>
      <p:sp>
        <p:nvSpPr>
          <p:cNvPr id="2" name="TextBox 1"/>
          <p:cNvSpPr txBox="1"/>
          <p:nvPr/>
        </p:nvSpPr>
        <p:spPr>
          <a:xfrm rot="19048010">
            <a:off x="1475191" y="2235439"/>
            <a:ext cx="2031325" cy="461665"/>
          </a:xfrm>
          <a:prstGeom prst="rect">
            <a:avLst/>
          </a:prstGeom>
          <a:noFill/>
        </p:spPr>
        <p:txBody>
          <a:bodyPr wrap="none" rtlCol="0">
            <a:spAutoFit/>
          </a:bodyPr>
          <a:lstStyle/>
          <a:p>
            <a:r>
              <a:rPr lang="zh-CN" altLang="en-US" sz="2400" b="1" dirty="0" smtClean="0">
                <a:solidFill>
                  <a:schemeClr val="bg1"/>
                </a:solidFill>
                <a:latin typeface="微软雅黑" pitchFamily="34" charset="-122"/>
                <a:ea typeface="微软雅黑" pitchFamily="34" charset="-122"/>
              </a:rPr>
              <a:t>被搞晕了</a:t>
            </a:r>
            <a:r>
              <a:rPr lang="zh-CN" altLang="en-US" sz="2400" b="1" dirty="0">
                <a:solidFill>
                  <a:schemeClr val="bg1"/>
                </a:solidFill>
                <a:latin typeface="微软雅黑" pitchFamily="34" charset="-122"/>
                <a:ea typeface="微软雅黑" pitchFamily="34" charset="-122"/>
              </a:rPr>
              <a:t>吗</a:t>
            </a:r>
            <a:r>
              <a:rPr lang="zh-CN" altLang="en-US" sz="2400" b="1" dirty="0" smtClean="0">
                <a:solidFill>
                  <a:schemeClr val="bg1"/>
                </a:solidFill>
                <a:latin typeface="微软雅黑" pitchFamily="34" charset="-122"/>
                <a:ea typeface="微软雅黑" pitchFamily="34" charset="-122"/>
              </a:rPr>
              <a:t>？</a:t>
            </a:r>
            <a:endParaRPr lang="zh-CN" altLang="en-US" sz="2400" b="1" dirty="0">
              <a:solidFill>
                <a:schemeClr val="bg1"/>
              </a:solidFill>
              <a:latin typeface="微软雅黑" pitchFamily="34" charset="-122"/>
              <a:ea typeface="微软雅黑" pitchFamily="34" charset="-122"/>
            </a:endParaRPr>
          </a:p>
        </p:txBody>
      </p:sp>
      <p:sp>
        <p:nvSpPr>
          <p:cNvPr id="47" name="TextBox 46"/>
          <p:cNvSpPr txBox="1"/>
          <p:nvPr/>
        </p:nvSpPr>
        <p:spPr>
          <a:xfrm rot="18879400">
            <a:off x="3199631" y="4420637"/>
            <a:ext cx="2954655" cy="461665"/>
          </a:xfrm>
          <a:prstGeom prst="rect">
            <a:avLst/>
          </a:prstGeom>
          <a:noFill/>
        </p:spPr>
        <p:txBody>
          <a:bodyPr wrap="none" rtlCol="0">
            <a:spAutoFit/>
          </a:bodyPr>
          <a:lstStyle/>
          <a:p>
            <a:r>
              <a:rPr lang="zh-CN" altLang="en-US" sz="2400" b="1" dirty="0" smtClean="0">
                <a:solidFill>
                  <a:schemeClr val="bg1"/>
                </a:solidFill>
                <a:latin typeface="微软雅黑" pitchFamily="34" charset="-122"/>
                <a:ea typeface="微软雅黑" pitchFamily="34" charset="-122"/>
              </a:rPr>
              <a:t>来个更复杂的吧！！</a:t>
            </a:r>
            <a:endParaRPr lang="zh-CN" altLang="en-US" sz="2400" b="1" dirty="0">
              <a:solidFill>
                <a:schemeClr val="bg1"/>
              </a:solidFill>
              <a:latin typeface="微软雅黑" pitchFamily="34" charset="-122"/>
              <a:ea typeface="微软雅黑" pitchFamily="34" charset="-122"/>
            </a:endParaRPr>
          </a:p>
        </p:txBody>
      </p:sp>
      <p:sp>
        <p:nvSpPr>
          <p:cNvPr id="3" name="灯片编号占位符 2"/>
          <p:cNvSpPr>
            <a:spLocks noGrp="1"/>
          </p:cNvSpPr>
          <p:nvPr>
            <p:ph type="sldNum" sz="quarter" idx="12"/>
          </p:nvPr>
        </p:nvSpPr>
        <p:spPr/>
        <p:txBody>
          <a:bodyPr/>
          <a:lstStyle/>
          <a:p>
            <a:fld id="{833901E6-BE0D-4D4C-BD9F-F1A617F9590B}" type="slidenum">
              <a:rPr lang="zh-CN" altLang="en-US" smtClean="0">
                <a:solidFill>
                  <a:schemeClr val="bg1"/>
                </a:solidFill>
              </a:rPr>
              <a:t>10</a:t>
            </a:fld>
            <a:endParaRPr lang="zh-CN" altLang="en-US" dirty="0">
              <a:solidFill>
                <a:schemeClr val="bg1"/>
              </a:solidFill>
            </a:endParaRPr>
          </a:p>
        </p:txBody>
      </p:sp>
      <p:grpSp>
        <p:nvGrpSpPr>
          <p:cNvPr id="4" name="组合 3"/>
          <p:cNvGrpSpPr/>
          <p:nvPr/>
        </p:nvGrpSpPr>
        <p:grpSpPr>
          <a:xfrm>
            <a:off x="510582" y="3436893"/>
            <a:ext cx="2377583" cy="1632559"/>
            <a:chOff x="2548396" y="4132348"/>
            <a:chExt cx="2377583" cy="1632559"/>
          </a:xfrm>
        </p:grpSpPr>
        <p:sp>
          <p:nvSpPr>
            <p:cNvPr id="11" name="矩形 10">
              <a:hlinkClick r:id="rId3" action="ppaction://hlinksldjump"/>
            </p:cNvPr>
            <p:cNvSpPr/>
            <p:nvPr/>
          </p:nvSpPr>
          <p:spPr>
            <a:xfrm>
              <a:off x="2548396" y="4132348"/>
              <a:ext cx="2377583" cy="1632559"/>
            </a:xfrm>
            <a:prstGeom prst="rect">
              <a:avLst/>
            </a:prstGeom>
            <a:gradFill flip="none" rotWithShape="1">
              <a:gsLst>
                <a:gs pos="0">
                  <a:srgbClr val="A61A40"/>
                </a:gs>
                <a:gs pos="100000">
                  <a:srgbClr val="BF1B4D">
                    <a:alpha val="84706"/>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           </a:t>
              </a:r>
              <a:endParaRPr lang="zh-CN" altLang="en-US" dirty="0">
                <a:ea typeface="微软雅黑" pitchFamily="34" charset="-122"/>
              </a:endParaRPr>
            </a:p>
          </p:txBody>
        </p:sp>
        <p:sp>
          <p:nvSpPr>
            <p:cNvPr id="13" name="TextBox 29"/>
            <p:cNvSpPr txBox="1"/>
            <p:nvPr/>
          </p:nvSpPr>
          <p:spPr>
            <a:xfrm>
              <a:off x="4006582" y="4412559"/>
              <a:ext cx="486300" cy="400110"/>
            </a:xfrm>
            <a:prstGeom prst="rect">
              <a:avLst/>
            </a:prstGeom>
            <a:noFill/>
          </p:spPr>
          <p:txBody>
            <a:bodyPr wrap="none" rtlCol="0">
              <a:spAutoFit/>
            </a:bodyPr>
            <a:lstStyle/>
            <a:p>
              <a:r>
                <a:rPr lang="en-US" altLang="zh-CN" sz="2000" dirty="0" smtClean="0">
                  <a:solidFill>
                    <a:schemeClr val="bg1"/>
                  </a:solidFill>
                  <a:latin typeface="微软雅黑" pitchFamily="34" charset="-122"/>
                  <a:ea typeface="微软雅黑" pitchFamily="34" charset="-122"/>
                </a:rPr>
                <a:t>03</a:t>
              </a:r>
            </a:p>
          </p:txBody>
        </p:sp>
        <p:sp>
          <p:nvSpPr>
            <p:cNvPr id="14" name="TextBox 30"/>
            <p:cNvSpPr txBox="1"/>
            <p:nvPr/>
          </p:nvSpPr>
          <p:spPr>
            <a:xfrm>
              <a:off x="3643061" y="5116654"/>
              <a:ext cx="1107996" cy="461665"/>
            </a:xfrm>
            <a:prstGeom prst="rect">
              <a:avLst/>
            </a:prstGeom>
            <a:noFill/>
          </p:spPr>
          <p:txBody>
            <a:bodyPr wrap="none" rtlCol="0">
              <a:spAutoFit/>
            </a:bodyPr>
            <a:lstStyle/>
            <a:p>
              <a:r>
                <a:rPr lang="zh-CN" altLang="en-US" sz="2400" dirty="0" smtClean="0">
                  <a:solidFill>
                    <a:schemeClr val="bg1"/>
                  </a:solidFill>
                  <a:latin typeface="微软雅黑" pitchFamily="34" charset="-122"/>
                  <a:ea typeface="微软雅黑" pitchFamily="34" charset="-122"/>
                </a:rPr>
                <a:t>方法二</a:t>
              </a:r>
              <a:endParaRPr lang="zh-CN" altLang="en-US" sz="2400" dirty="0">
                <a:solidFill>
                  <a:schemeClr val="bg1"/>
                </a:solidFill>
                <a:latin typeface="微软雅黑" pitchFamily="34" charset="-122"/>
                <a:ea typeface="微软雅黑" pitchFamily="34" charset="-122"/>
              </a:endParaRPr>
            </a:p>
          </p:txBody>
        </p:sp>
      </p:grpSp>
      <p:pic>
        <p:nvPicPr>
          <p:cNvPr id="17" name="Picture 6" descr="C:\Users\Nir\Desktop\未标题-1.png">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2800" y="3760771"/>
            <a:ext cx="795780" cy="112209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Users\Nir\Desktop\未标题-1.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2537"/>
          <a:stretch/>
        </p:blipFill>
        <p:spPr bwMode="auto">
          <a:xfrm>
            <a:off x="742800" y="3762465"/>
            <a:ext cx="795338" cy="981414"/>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组合 25"/>
          <p:cNvGrpSpPr/>
          <p:nvPr/>
        </p:nvGrpSpPr>
        <p:grpSpPr>
          <a:xfrm>
            <a:off x="3172960" y="2334323"/>
            <a:ext cx="5616624" cy="798585"/>
            <a:chOff x="185955" y="479575"/>
            <a:chExt cx="5616624" cy="798585"/>
          </a:xfrm>
        </p:grpSpPr>
        <p:grpSp>
          <p:nvGrpSpPr>
            <p:cNvPr id="27" name="组合 26"/>
            <p:cNvGrpSpPr/>
            <p:nvPr/>
          </p:nvGrpSpPr>
          <p:grpSpPr>
            <a:xfrm>
              <a:off x="185955" y="479575"/>
              <a:ext cx="5616624" cy="798585"/>
              <a:chOff x="1115616" y="2060848"/>
              <a:chExt cx="6264696" cy="920468"/>
            </a:xfrm>
          </p:grpSpPr>
          <p:sp>
            <p:nvSpPr>
              <p:cNvPr id="29"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32" name="Group 34"/>
              <p:cNvGrpSpPr>
                <a:grpSpLocks/>
              </p:cNvGrpSpPr>
              <p:nvPr/>
            </p:nvGrpSpPr>
            <p:grpSpPr bwMode="auto">
              <a:xfrm>
                <a:off x="1115616" y="2098780"/>
                <a:ext cx="847963" cy="882536"/>
                <a:chOff x="2959" y="1571"/>
                <a:chExt cx="454" cy="482"/>
              </a:xfrm>
            </p:grpSpPr>
            <p:grpSp>
              <p:nvGrpSpPr>
                <p:cNvPr id="33" name="Group 35"/>
                <p:cNvGrpSpPr>
                  <a:grpSpLocks/>
                </p:cNvGrpSpPr>
                <p:nvPr/>
              </p:nvGrpSpPr>
              <p:grpSpPr bwMode="auto">
                <a:xfrm>
                  <a:off x="2959" y="1571"/>
                  <a:ext cx="454" cy="482"/>
                  <a:chOff x="192" y="1917"/>
                  <a:chExt cx="1042" cy="1102"/>
                </a:xfrm>
              </p:grpSpPr>
              <p:pic>
                <p:nvPicPr>
                  <p:cNvPr id="35" name="Picture 36" descr="light_shadow"/>
                  <p:cNvPicPr>
                    <a:picLocks noChangeAspect="1" noChangeArrowheads="1"/>
                  </p:cNvPicPr>
                  <p:nvPr/>
                </p:nvPicPr>
                <p:blipFill>
                  <a:blip r:embed="rId5"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7" descr="circuler_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7"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34" name="Picture 39" descr="Picture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8"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Tree>
    <p:extLst>
      <p:ext uri="{BB962C8B-B14F-4D97-AF65-F5344CB8AC3E}">
        <p14:creationId xmlns:p14="http://schemas.microsoft.com/office/powerpoint/2010/main" val="347784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par>
                                    <p:cTn id="8" presetID="22" presetClass="entr" presetSubtype="1" fill="hold" grpId="0" nodeType="withEffect">
                                      <p:stCondLst>
                                        <p:cond delay="3500"/>
                                      </p:stCondLst>
                                      <p:childTnLst>
                                        <p:set>
                                          <p:cBhvr>
                                            <p:cTn id="9" dur="1" fill="hold">
                                              <p:stCondLst>
                                                <p:cond delay="0"/>
                                              </p:stCondLst>
                                            </p:cTn>
                                            <p:tgtEl>
                                              <p:spTgt spid="47"/>
                                            </p:tgtEl>
                                            <p:attrNameLst>
                                              <p:attrName>style.visibility</p:attrName>
                                            </p:attrNameLst>
                                          </p:cBhvr>
                                          <p:to>
                                            <p:strVal val="visible"/>
                                          </p:to>
                                        </p:set>
                                        <p:animEffect transition="in" filter="wipe(up)">
                                          <p:cBhvr>
                                            <p:cTn id="10" dur="1000"/>
                                            <p:tgtEl>
                                              <p:spTgt spid="47"/>
                                            </p:tgtEl>
                                          </p:cBhvr>
                                        </p:animEffect>
                                      </p:childTnLst>
                                    </p:cTn>
                                  </p:par>
                                  <p:par>
                                    <p:cTn id="11" presetID="50" presetClass="path" presetSubtype="0" fill="hold" nodeType="withEffect" p14:presetBounceEnd="6000">
                                      <p:stCondLst>
                                        <p:cond delay="0"/>
                                      </p:stCondLst>
                                      <p:childTnLst>
                                        <p:animMotion origin="layout" path="M 0.00174 -0.01505 L 0.20209 -0.35154 C 0.37205 -0.63088 0.6007 -0.41495 0.48073 -0.15066 L 0.25209 0.29437 " pathEditMode="relative" rAng="0" ptsTypes="AAAA" p14:bounceEnd="6000">
                                          <p:cBhvr>
                                            <p:cTn id="12" dur="5000" fill="hold"/>
                                            <p:tgtEl>
                                              <p:spTgt spid="16"/>
                                            </p:tgtEl>
                                            <p:attrNameLst>
                                              <p:attrName>ppt_x</p:attrName>
                                              <p:attrName>ppt_y</p:attrName>
                                            </p:attrNameLst>
                                          </p:cBhvr>
                                          <p:rCtr x="25608" y="-7915"/>
                                        </p:animMotion>
                                      </p:childTnLst>
                                    </p:cTn>
                                  </p:par>
                                  <p:par>
                                    <p:cTn id="13" presetID="8" presetClass="emph" presetSubtype="0" fill="hold" nodeType="withEffect">
                                      <p:stCondLst>
                                        <p:cond delay="1500"/>
                                      </p:stCondLst>
                                      <p:childTnLst>
                                        <p:animRot by="10800000">
                                          <p:cBhvr>
                                            <p:cTn id="14" dur="1500" fill="hold"/>
                                            <p:tgtEl>
                                              <p:spTgt spid="16"/>
                                            </p:tgtEl>
                                            <p:attrNameLst>
                                              <p:attrName>r</p:attrName>
                                            </p:attrNameLst>
                                          </p:cBhvr>
                                        </p:animRot>
                                      </p:childTnLst>
                                    </p:cTn>
                                  </p:par>
                                </p:childTnLst>
                              </p:cTn>
                            </p:par>
                            <p:par>
                              <p:cTn id="15" fill="hold">
                                <p:stCondLst>
                                  <p:cond delay="5000"/>
                                </p:stCondLst>
                                <p:childTnLst>
                                  <p:par>
                                    <p:cTn id="16" presetID="22" presetClass="entr" presetSubtype="8" fill="hold" nodeType="afterEffect">
                                      <p:stCondLst>
                                        <p:cond delay="25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par>
                                    <p:cTn id="8" presetID="22" presetClass="entr" presetSubtype="1" fill="hold" grpId="0" nodeType="withEffect">
                                      <p:stCondLst>
                                        <p:cond delay="3500"/>
                                      </p:stCondLst>
                                      <p:childTnLst>
                                        <p:set>
                                          <p:cBhvr>
                                            <p:cTn id="9" dur="1" fill="hold">
                                              <p:stCondLst>
                                                <p:cond delay="0"/>
                                              </p:stCondLst>
                                            </p:cTn>
                                            <p:tgtEl>
                                              <p:spTgt spid="47"/>
                                            </p:tgtEl>
                                            <p:attrNameLst>
                                              <p:attrName>style.visibility</p:attrName>
                                            </p:attrNameLst>
                                          </p:cBhvr>
                                          <p:to>
                                            <p:strVal val="visible"/>
                                          </p:to>
                                        </p:set>
                                        <p:animEffect transition="in" filter="wipe(up)">
                                          <p:cBhvr>
                                            <p:cTn id="10" dur="1000"/>
                                            <p:tgtEl>
                                              <p:spTgt spid="47"/>
                                            </p:tgtEl>
                                          </p:cBhvr>
                                        </p:animEffect>
                                      </p:childTnLst>
                                    </p:cTn>
                                  </p:par>
                                  <p:par>
                                    <p:cTn id="11" presetID="50" presetClass="path" presetSubtype="0" fill="hold" nodeType="withEffect">
                                      <p:stCondLst>
                                        <p:cond delay="0"/>
                                      </p:stCondLst>
                                      <p:childTnLst>
                                        <p:animMotion origin="layout" path="M 0.00174 -0.01505 L 0.20209 -0.35154 C 0.37205 -0.63088 0.6007 -0.41495 0.48073 -0.15066 L 0.25209 0.29437 " pathEditMode="relative" rAng="0" ptsTypes="AAAA">
                                          <p:cBhvr>
                                            <p:cTn id="12" dur="5000" fill="hold"/>
                                            <p:tgtEl>
                                              <p:spTgt spid="16"/>
                                            </p:tgtEl>
                                            <p:attrNameLst>
                                              <p:attrName>ppt_x</p:attrName>
                                              <p:attrName>ppt_y</p:attrName>
                                            </p:attrNameLst>
                                          </p:cBhvr>
                                          <p:rCtr x="25608" y="-7915"/>
                                        </p:animMotion>
                                      </p:childTnLst>
                                    </p:cTn>
                                  </p:par>
                                  <p:par>
                                    <p:cTn id="13" presetID="8" presetClass="emph" presetSubtype="0" fill="hold" nodeType="withEffect">
                                      <p:stCondLst>
                                        <p:cond delay="1500"/>
                                      </p:stCondLst>
                                      <p:childTnLst>
                                        <p:animRot by="10800000">
                                          <p:cBhvr>
                                            <p:cTn id="14" dur="1500" fill="hold"/>
                                            <p:tgtEl>
                                              <p:spTgt spid="16"/>
                                            </p:tgtEl>
                                            <p:attrNameLst>
                                              <p:attrName>r</p:attrName>
                                            </p:attrNameLst>
                                          </p:cBhvr>
                                        </p:animRot>
                                      </p:childTnLst>
                                    </p:cTn>
                                  </p:par>
                                </p:childTnLst>
                              </p:cTn>
                            </p:par>
                            <p:par>
                              <p:cTn id="15" fill="hold">
                                <p:stCondLst>
                                  <p:cond delay="5000"/>
                                </p:stCondLst>
                                <p:childTnLst>
                                  <p:par>
                                    <p:cTn id="16" presetID="22" presetClass="entr" presetSubtype="8" fill="hold" nodeType="afterEffect">
                                      <p:stCondLst>
                                        <p:cond delay="25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7"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11</a:t>
            </a:fld>
            <a:endParaRPr lang="zh-CN" altLang="en-US" dirty="0">
              <a:solidFill>
                <a:srgbClr val="A61A40"/>
              </a:solidFill>
            </a:endParaRPr>
          </a:p>
        </p:txBody>
      </p:sp>
      <p:grpSp>
        <p:nvGrpSpPr>
          <p:cNvPr id="16" name="组合 15"/>
          <p:cNvGrpSpPr/>
          <p:nvPr/>
        </p:nvGrpSpPr>
        <p:grpSpPr>
          <a:xfrm>
            <a:off x="185955" y="479575"/>
            <a:ext cx="5616624" cy="798585"/>
            <a:chOff x="185955" y="479575"/>
            <a:chExt cx="5616624" cy="798585"/>
          </a:xfrm>
        </p:grpSpPr>
        <p:grpSp>
          <p:nvGrpSpPr>
            <p:cNvPr id="6" name="组合 5"/>
            <p:cNvGrpSpPr/>
            <p:nvPr/>
          </p:nvGrpSpPr>
          <p:grpSpPr>
            <a:xfrm>
              <a:off x="185955" y="479575"/>
              <a:ext cx="5616624" cy="798585"/>
              <a:chOff x="1115616" y="2060848"/>
              <a:chExt cx="6264696" cy="920468"/>
            </a:xfrm>
          </p:grpSpPr>
          <p:sp>
            <p:nvSpPr>
              <p:cNvPr id="7"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8" name="Group 34"/>
              <p:cNvGrpSpPr>
                <a:grpSpLocks/>
              </p:cNvGrpSpPr>
              <p:nvPr/>
            </p:nvGrpSpPr>
            <p:grpSpPr bwMode="auto">
              <a:xfrm>
                <a:off x="1115616" y="2098780"/>
                <a:ext cx="847963" cy="882536"/>
                <a:chOff x="2959" y="1571"/>
                <a:chExt cx="454" cy="482"/>
              </a:xfrm>
            </p:grpSpPr>
            <p:grpSp>
              <p:nvGrpSpPr>
                <p:cNvPr id="9" name="Group 35"/>
                <p:cNvGrpSpPr>
                  <a:grpSpLocks/>
                </p:cNvGrpSpPr>
                <p:nvPr/>
              </p:nvGrpSpPr>
              <p:grpSpPr bwMode="auto">
                <a:xfrm>
                  <a:off x="2959" y="1571"/>
                  <a:ext cx="454" cy="482"/>
                  <a:chOff x="192" y="1917"/>
                  <a:chExt cx="1042" cy="1102"/>
                </a:xfrm>
              </p:grpSpPr>
              <p:pic>
                <p:nvPicPr>
                  <p:cNvPr id="11"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13"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0"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5"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
        <p:nvSpPr>
          <p:cNvPr id="17" name="TextBox 8"/>
          <p:cNvSpPr txBox="1"/>
          <p:nvPr/>
        </p:nvSpPr>
        <p:spPr>
          <a:xfrm>
            <a:off x="719503" y="1811956"/>
            <a:ext cx="4608512" cy="523220"/>
          </a:xfrm>
          <a:prstGeom prst="rect">
            <a:avLst/>
          </a:prstGeom>
          <a:noFill/>
        </p:spPr>
        <p:txBody>
          <a:bodyPr wrap="square" rtlCol="0">
            <a:spAutoFit/>
          </a:bodyPr>
          <a:lstStyle/>
          <a:p>
            <a:r>
              <a:rPr lang="en-US" altLang="zh-CN" sz="2800" b="1" dirty="0">
                <a:solidFill>
                  <a:srgbClr val="FFFF00"/>
                </a:solidFill>
                <a:latin typeface="+mj-lt"/>
                <a:ea typeface="微软雅黑" pitchFamily="34" charset="-122"/>
                <a:cs typeface="+mj-cs"/>
              </a:rPr>
              <a:t>3.1  </a:t>
            </a:r>
            <a:r>
              <a:rPr lang="zh-CN" altLang="en-US" sz="2800" b="1" dirty="0">
                <a:solidFill>
                  <a:srgbClr val="FFFF00"/>
                </a:solidFill>
                <a:latin typeface="+mj-lt"/>
                <a:ea typeface="微软雅黑" pitchFamily="34" charset="-122"/>
                <a:cs typeface="+mj-cs"/>
              </a:rPr>
              <a:t>计算思路</a:t>
            </a:r>
          </a:p>
        </p:txBody>
      </p:sp>
      <p:grpSp>
        <p:nvGrpSpPr>
          <p:cNvPr id="25" name="组合 24"/>
          <p:cNvGrpSpPr/>
          <p:nvPr/>
        </p:nvGrpSpPr>
        <p:grpSpPr>
          <a:xfrm>
            <a:off x="-184429" y="1441059"/>
            <a:ext cx="8500845" cy="5232594"/>
            <a:chOff x="228610" y="1490437"/>
            <a:chExt cx="8500845" cy="5232594"/>
          </a:xfrm>
        </p:grpSpPr>
        <p:grpSp>
          <p:nvGrpSpPr>
            <p:cNvPr id="24" name="组合 23"/>
            <p:cNvGrpSpPr/>
            <p:nvPr/>
          </p:nvGrpSpPr>
          <p:grpSpPr>
            <a:xfrm>
              <a:off x="228610" y="1490437"/>
              <a:ext cx="8500845" cy="5232594"/>
              <a:chOff x="185954" y="1442587"/>
              <a:chExt cx="8500845" cy="5232594"/>
            </a:xfrm>
          </p:grpSpPr>
          <p:graphicFrame>
            <p:nvGraphicFramePr>
              <p:cNvPr id="2" name="图示 1"/>
              <p:cNvGraphicFramePr/>
              <p:nvPr>
                <p:extLst>
                  <p:ext uri="{D42A27DB-BD31-4B8C-83A1-F6EECF244321}">
                    <p14:modId xmlns:p14="http://schemas.microsoft.com/office/powerpoint/2010/main" val="3397320035"/>
                  </p:ext>
                </p:extLst>
              </p:nvPr>
            </p:nvGraphicFramePr>
            <p:xfrm>
              <a:off x="185954" y="2611181"/>
              <a:ext cx="8500845"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文本框 2"/>
              <p:cNvSpPr txBox="1"/>
              <p:nvPr/>
            </p:nvSpPr>
            <p:spPr>
              <a:xfrm>
                <a:off x="3196836" y="3797838"/>
                <a:ext cx="1877012" cy="523220"/>
              </a:xfrm>
              <a:prstGeom prst="rect">
                <a:avLst/>
              </a:prstGeom>
              <a:noFill/>
            </p:spPr>
            <p:txBody>
              <a:bodyPr wrap="square" rtlCol="0">
                <a:spAutoFit/>
              </a:bodyPr>
              <a:lstStyle/>
              <a:p>
                <a:r>
                  <a:rPr lang="zh-CN" altLang="en-US" sz="2800" b="1" dirty="0" smtClean="0">
                    <a:solidFill>
                      <a:schemeClr val="bg1"/>
                    </a:solidFill>
                    <a:latin typeface="楷体" panose="02010609060101010101" pitchFamily="49" charset="-122"/>
                    <a:ea typeface="楷体" panose="02010609060101010101" pitchFamily="49" charset="-122"/>
                  </a:rPr>
                  <a:t>弹性理论</a:t>
                </a:r>
                <a:endParaRPr lang="zh-CN" altLang="en-US" sz="2800" b="1" dirty="0">
                  <a:solidFill>
                    <a:schemeClr val="bg1"/>
                  </a:solidFill>
                  <a:latin typeface="楷体" panose="02010609060101010101" pitchFamily="49" charset="-122"/>
                  <a:ea typeface="楷体" panose="02010609060101010101" pitchFamily="49" charset="-122"/>
                </a:endParaRPr>
              </a:p>
            </p:txBody>
          </p:sp>
          <p:sp>
            <p:nvSpPr>
              <p:cNvPr id="19" name="文本框 18"/>
              <p:cNvSpPr txBox="1"/>
              <p:nvPr/>
            </p:nvSpPr>
            <p:spPr>
              <a:xfrm>
                <a:off x="3287338" y="4928891"/>
                <a:ext cx="2083192"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库伦破坏条件</a:t>
                </a:r>
              </a:p>
            </p:txBody>
          </p:sp>
          <p:sp>
            <p:nvSpPr>
              <p:cNvPr id="14" name="文本框 13"/>
              <p:cNvSpPr txBox="1"/>
              <p:nvPr/>
            </p:nvSpPr>
            <p:spPr>
              <a:xfrm rot="20259892">
                <a:off x="3401486" y="1904823"/>
                <a:ext cx="2142747" cy="461665"/>
              </a:xfrm>
              <a:prstGeom prst="rect">
                <a:avLst/>
              </a:prstGeom>
              <a:noFill/>
            </p:spPr>
            <p:txBody>
              <a:bodyPr wrap="square" rtlCol="0">
                <a:spAutoFit/>
              </a:bodyPr>
              <a:lstStyle/>
              <a:p>
                <a:r>
                  <a:rPr lang="zh-CN" altLang="en-US" sz="2400" b="1" dirty="0">
                    <a:solidFill>
                      <a:schemeClr val="bg1"/>
                    </a:solidFill>
                    <a:latin typeface="楷体" panose="02010609060101010101" pitchFamily="49" charset="-122"/>
                    <a:ea typeface="楷体" panose="02010609060101010101" pitchFamily="49" charset="-122"/>
                  </a:rPr>
                  <a:t>超过比例极限</a:t>
                </a:r>
              </a:p>
            </p:txBody>
          </p:sp>
          <p:sp>
            <p:nvSpPr>
              <p:cNvPr id="20" name="右箭头 19"/>
              <p:cNvSpPr/>
              <p:nvPr/>
            </p:nvSpPr>
            <p:spPr>
              <a:xfrm rot="20198274">
                <a:off x="3609168" y="2743908"/>
                <a:ext cx="1751739" cy="354632"/>
              </a:xfrm>
              <a:prstGeom prst="rightArrow">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a typeface="微软雅黑" pitchFamily="34" charset="-122"/>
                </a:endParaRPr>
              </a:p>
            </p:txBody>
          </p:sp>
          <p:sp>
            <p:nvSpPr>
              <p:cNvPr id="22" name="椭圆 21"/>
              <p:cNvSpPr/>
              <p:nvPr/>
            </p:nvSpPr>
            <p:spPr>
              <a:xfrm>
                <a:off x="5446085" y="1442587"/>
                <a:ext cx="2880674" cy="1481836"/>
              </a:xfrm>
              <a:prstGeom prst="ellipse">
                <a:avLst/>
              </a:prstGeom>
              <a:solidFill>
                <a:srgbClr val="FFC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1"/>
              </a:lnRef>
              <a:fillRef idx="3">
                <a:schemeClr val="accent1"/>
              </a:fillRef>
              <a:effectRef idx="3">
                <a:schemeClr val="accent1"/>
              </a:effectRef>
              <a:fontRef idx="minor">
                <a:schemeClr val="lt1"/>
              </a:fontRef>
            </p:style>
          </p:sp>
        </p:grpSp>
        <p:sp>
          <p:nvSpPr>
            <p:cNvPr id="23" name="椭圆 4"/>
            <p:cNvSpPr/>
            <p:nvPr/>
          </p:nvSpPr>
          <p:spPr>
            <a:xfrm>
              <a:off x="5777127" y="1659597"/>
              <a:ext cx="2458809" cy="1047816"/>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27940" tIns="27940" rIns="27940" bIns="27940" numCol="1" spcCol="1270" anchor="ctr" anchorCtr="0">
              <a:noAutofit/>
            </a:bodyPr>
            <a:lstStyle/>
            <a:p>
              <a:pPr lvl="0" algn="ctr" defTabSz="977900">
                <a:lnSpc>
                  <a:spcPct val="150000"/>
                </a:lnSpc>
                <a:spcBef>
                  <a:spcPct val="0"/>
                </a:spcBef>
                <a:spcAft>
                  <a:spcPct val="35000"/>
                </a:spcAft>
              </a:pPr>
              <a:r>
                <a:rPr lang="zh-CN" altLang="en-US" sz="2000" b="1" dirty="0" smtClean="0">
                  <a:solidFill>
                    <a:schemeClr val="tx1"/>
                  </a:solidFill>
                  <a:ea typeface="微软雅黑" pitchFamily="34" charset="-122"/>
                </a:rPr>
                <a:t>两侧边缘出现塑性区</a:t>
              </a:r>
              <a:endParaRPr lang="en-US" altLang="zh-CN" sz="2000" b="1" dirty="0" smtClean="0">
                <a:solidFill>
                  <a:schemeClr val="tx1"/>
                </a:solidFill>
                <a:ea typeface="微软雅黑" pitchFamily="34" charset="-122"/>
              </a:endParaRPr>
            </a:p>
            <a:p>
              <a:pPr lvl="0" algn="ctr" defTabSz="977900">
                <a:lnSpc>
                  <a:spcPct val="150000"/>
                </a:lnSpc>
                <a:spcBef>
                  <a:spcPct val="0"/>
                </a:spcBef>
                <a:spcAft>
                  <a:spcPct val="35000"/>
                </a:spcAft>
              </a:pPr>
              <a:r>
                <a:rPr lang="zh-CN" altLang="en-US" sz="2000" b="1" dirty="0" smtClean="0">
                  <a:solidFill>
                    <a:schemeClr val="tx1"/>
                  </a:solidFill>
                  <a:ea typeface="微软雅黑" pitchFamily="34" charset="-122"/>
                </a:rPr>
                <a:t>不断</a:t>
              </a:r>
              <a:r>
                <a:rPr lang="zh-CN" altLang="en-US" sz="2000" b="1" dirty="0">
                  <a:solidFill>
                    <a:schemeClr val="tx1"/>
                  </a:solidFill>
                  <a:ea typeface="微软雅黑" pitchFamily="34" charset="-122"/>
                </a:rPr>
                <a:t>向深部发展</a:t>
              </a:r>
              <a:endParaRPr lang="zh-CN" altLang="en-US" sz="2000" b="1" kern="1200" dirty="0">
                <a:solidFill>
                  <a:schemeClr val="tx1"/>
                </a:solidFill>
                <a:ea typeface="微软雅黑" pitchFamily="34" charset="-122"/>
              </a:endParaRPr>
            </a:p>
          </p:txBody>
        </p:sp>
      </p:grpSp>
    </p:spTree>
    <p:extLst>
      <p:ext uri="{BB962C8B-B14F-4D97-AF65-F5344CB8AC3E}">
        <p14:creationId xmlns:p14="http://schemas.microsoft.com/office/powerpoint/2010/main" val="18574565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12</a:t>
            </a:fld>
            <a:endParaRPr lang="zh-CN" altLang="en-US" dirty="0">
              <a:solidFill>
                <a:srgbClr val="A61A40"/>
              </a:solidFill>
            </a:endParaRPr>
          </a:p>
        </p:txBody>
      </p:sp>
      <p:sp>
        <p:nvSpPr>
          <p:cNvPr id="16" name="TextBox 8"/>
          <p:cNvSpPr txBox="1"/>
          <p:nvPr/>
        </p:nvSpPr>
        <p:spPr>
          <a:xfrm>
            <a:off x="884182" y="1802134"/>
            <a:ext cx="4608512" cy="523220"/>
          </a:xfrm>
          <a:prstGeom prst="rect">
            <a:avLst/>
          </a:prstGeom>
          <a:noFill/>
        </p:spPr>
        <p:txBody>
          <a:bodyPr wrap="square" rtlCol="0">
            <a:spAutoFit/>
          </a:bodyPr>
          <a:lstStyle/>
          <a:p>
            <a:r>
              <a:rPr lang="en-US" altLang="zh-CN" sz="2800" b="1" dirty="0">
                <a:solidFill>
                  <a:srgbClr val="FFFF00"/>
                </a:solidFill>
                <a:latin typeface="+mj-lt"/>
                <a:ea typeface="微软雅黑" pitchFamily="34" charset="-122"/>
                <a:cs typeface="+mj-cs"/>
              </a:rPr>
              <a:t>3.2  </a:t>
            </a:r>
            <a:r>
              <a:rPr lang="zh-CN" altLang="en-US" sz="2800" b="1" dirty="0">
                <a:solidFill>
                  <a:srgbClr val="FFFF00"/>
                </a:solidFill>
                <a:latin typeface="+mj-lt"/>
                <a:ea typeface="微软雅黑" pitchFamily="34" charset="-122"/>
                <a:cs typeface="+mj-cs"/>
              </a:rPr>
              <a:t>计算过程</a:t>
            </a:r>
          </a:p>
        </p:txBody>
      </p:sp>
      <p:pic>
        <p:nvPicPr>
          <p:cNvPr id="17" name="Picture 4"/>
          <p:cNvPicPr>
            <a:picLocks noChangeAspect="1" noChangeArrowheads="1"/>
          </p:cNvPicPr>
          <p:nvPr/>
        </p:nvPicPr>
        <p:blipFill rotWithShape="1">
          <a:blip r:embed="rId3">
            <a:lum bright="-60000" contrast="80000"/>
            <a:extLst>
              <a:ext uri="{28A0092B-C50C-407E-A947-70E740481C1C}">
                <a14:useLocalDpi xmlns:a14="http://schemas.microsoft.com/office/drawing/2010/main" val="0"/>
              </a:ext>
            </a:extLst>
          </a:blip>
          <a:srcRect r="7069" b="37094"/>
          <a:stretch/>
        </p:blipFill>
        <p:spPr bwMode="auto">
          <a:xfrm>
            <a:off x="4487813" y="1636818"/>
            <a:ext cx="4130774" cy="281781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graphicFrame>
        <p:nvGraphicFramePr>
          <p:cNvPr id="18" name="对象 17"/>
          <p:cNvGraphicFramePr>
            <a:graphicFrameLocks noChangeAspect="1"/>
          </p:cNvGraphicFramePr>
          <p:nvPr>
            <p:extLst>
              <p:ext uri="{D42A27DB-BD31-4B8C-83A1-F6EECF244321}">
                <p14:modId xmlns:p14="http://schemas.microsoft.com/office/powerpoint/2010/main" val="825121378"/>
              </p:ext>
            </p:extLst>
          </p:nvPr>
        </p:nvGraphicFramePr>
        <p:xfrm>
          <a:off x="2792672" y="4717053"/>
          <a:ext cx="3028069" cy="800973"/>
        </p:xfrm>
        <a:graphic>
          <a:graphicData uri="http://schemas.openxmlformats.org/presentationml/2006/ole">
            <mc:AlternateContent xmlns:mc="http://schemas.openxmlformats.org/markup-compatibility/2006">
              <mc:Choice xmlns:v="urn:schemas-microsoft-com:vml" Requires="v">
                <p:oleObj spid="_x0000_s1068" name="Equation" r:id="rId4" imgW="1473200" imgH="393700" progId="Equation.DSMT4">
                  <p:embed/>
                </p:oleObj>
              </mc:Choice>
              <mc:Fallback>
                <p:oleObj name="Equation" r:id="rId4" imgW="1473200" imgH="3937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2672" y="4717053"/>
                        <a:ext cx="3028069" cy="800973"/>
                      </a:xfrm>
                      <a:prstGeom prst="rect">
                        <a:avLst/>
                      </a:prstGeom>
                      <a:noFill/>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2579140078"/>
              </p:ext>
            </p:extLst>
          </p:nvPr>
        </p:nvGraphicFramePr>
        <p:xfrm>
          <a:off x="2824731" y="5734050"/>
          <a:ext cx="2936521" cy="792088"/>
        </p:xfrm>
        <a:graphic>
          <a:graphicData uri="http://schemas.openxmlformats.org/presentationml/2006/ole">
            <mc:AlternateContent xmlns:mc="http://schemas.openxmlformats.org/markup-compatibility/2006">
              <mc:Choice xmlns:v="urn:schemas-microsoft-com:vml" Requires="v">
                <p:oleObj spid="_x0000_s1069" name="Equation" r:id="rId6" imgW="1447172" imgH="393529" progId="Equation.DSMT4">
                  <p:embed/>
                </p:oleObj>
              </mc:Choice>
              <mc:Fallback>
                <p:oleObj name="Equation" r:id="rId6" imgW="1447172" imgH="393529"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4731" y="5734050"/>
                        <a:ext cx="2936521" cy="792088"/>
                      </a:xfrm>
                      <a:prstGeom prst="rect">
                        <a:avLst/>
                      </a:prstGeom>
                      <a:noFill/>
                      <a:extLst/>
                    </p:spPr>
                  </p:pic>
                </p:oleObj>
              </mc:Fallback>
            </mc:AlternateContent>
          </a:graphicData>
        </a:graphic>
      </p:graphicFrame>
      <p:sp>
        <p:nvSpPr>
          <p:cNvPr id="20" name="矩形 19"/>
          <p:cNvSpPr/>
          <p:nvPr/>
        </p:nvSpPr>
        <p:spPr>
          <a:xfrm>
            <a:off x="561889" y="3213770"/>
            <a:ext cx="3005951" cy="523220"/>
          </a:xfrm>
          <a:prstGeom prst="rect">
            <a:avLst/>
          </a:prstGeom>
        </p:spPr>
        <p:txBody>
          <a:bodyPr wrap="none">
            <a:spAutoFit/>
          </a:bodyPr>
          <a:lstStyle/>
          <a:p>
            <a:r>
              <a:rPr lang="en-US" altLang="zh-CN" sz="2800" b="1" dirty="0">
                <a:solidFill>
                  <a:schemeClr val="bg1"/>
                </a:solidFill>
                <a:ea typeface="微软雅黑" pitchFamily="34" charset="-122"/>
              </a:rPr>
              <a:t>M</a:t>
            </a:r>
            <a:r>
              <a:rPr lang="zh-CN" altLang="zh-CN" sz="2800" b="1" dirty="0">
                <a:solidFill>
                  <a:schemeClr val="bg1"/>
                </a:solidFill>
                <a:ea typeface="微软雅黑" pitchFamily="34" charset="-122"/>
              </a:rPr>
              <a:t>处的附加应力为</a:t>
            </a:r>
          </a:p>
        </p:txBody>
      </p:sp>
      <p:grpSp>
        <p:nvGrpSpPr>
          <p:cNvPr id="21" name="组合 20"/>
          <p:cNvGrpSpPr/>
          <p:nvPr/>
        </p:nvGrpSpPr>
        <p:grpSpPr>
          <a:xfrm>
            <a:off x="185955" y="479575"/>
            <a:ext cx="5616624" cy="798585"/>
            <a:chOff x="185955" y="479575"/>
            <a:chExt cx="5616624" cy="798585"/>
          </a:xfrm>
        </p:grpSpPr>
        <p:grpSp>
          <p:nvGrpSpPr>
            <p:cNvPr id="22" name="组合 21"/>
            <p:cNvGrpSpPr/>
            <p:nvPr/>
          </p:nvGrpSpPr>
          <p:grpSpPr>
            <a:xfrm>
              <a:off x="185955" y="479575"/>
              <a:ext cx="5616624" cy="798585"/>
              <a:chOff x="1115616" y="2060848"/>
              <a:chExt cx="6264696" cy="920468"/>
            </a:xfrm>
          </p:grpSpPr>
          <p:sp>
            <p:nvSpPr>
              <p:cNvPr id="24"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5" name="Group 34"/>
              <p:cNvGrpSpPr>
                <a:grpSpLocks/>
              </p:cNvGrpSpPr>
              <p:nvPr/>
            </p:nvGrpSpPr>
            <p:grpSpPr bwMode="auto">
              <a:xfrm>
                <a:off x="1115616" y="2098780"/>
                <a:ext cx="847963" cy="882536"/>
                <a:chOff x="2959" y="1571"/>
                <a:chExt cx="454" cy="482"/>
              </a:xfrm>
            </p:grpSpPr>
            <p:grpSp>
              <p:nvGrpSpPr>
                <p:cNvPr id="26" name="Group 35"/>
                <p:cNvGrpSpPr>
                  <a:grpSpLocks/>
                </p:cNvGrpSpPr>
                <p:nvPr/>
              </p:nvGrpSpPr>
              <p:grpSpPr bwMode="auto">
                <a:xfrm>
                  <a:off x="2959" y="1571"/>
                  <a:ext cx="454" cy="482"/>
                  <a:chOff x="192" y="1917"/>
                  <a:chExt cx="1042" cy="1102"/>
                </a:xfrm>
              </p:grpSpPr>
              <p:pic>
                <p:nvPicPr>
                  <p:cNvPr id="28" name="Picture 36" descr="light_shadow"/>
                  <p:cNvPicPr>
                    <a:picLocks noChangeAspect="1" noChangeArrowheads="1"/>
                  </p:cNvPicPr>
                  <p:nvPr/>
                </p:nvPicPr>
                <p:blipFill>
                  <a:blip r:embed="rId8"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37" descr="circuler_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0"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7" name="Picture 39" descr="Picture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3"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Tree>
    <p:extLst>
      <p:ext uri="{BB962C8B-B14F-4D97-AF65-F5344CB8AC3E}">
        <p14:creationId xmlns:p14="http://schemas.microsoft.com/office/powerpoint/2010/main" val="15744526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13</a:t>
            </a:fld>
            <a:endParaRPr lang="zh-CN" altLang="en-US" dirty="0">
              <a:solidFill>
                <a:srgbClr val="A61A40"/>
              </a:solidFill>
            </a:endParaRPr>
          </a:p>
        </p:txBody>
      </p:sp>
      <p:sp>
        <p:nvSpPr>
          <p:cNvPr id="6" name="TextBox 8"/>
          <p:cNvSpPr txBox="1"/>
          <p:nvPr/>
        </p:nvSpPr>
        <p:spPr>
          <a:xfrm>
            <a:off x="955551" y="1663663"/>
            <a:ext cx="4608512" cy="523220"/>
          </a:xfrm>
          <a:prstGeom prst="rect">
            <a:avLst/>
          </a:prstGeom>
          <a:noFill/>
        </p:spPr>
        <p:txBody>
          <a:bodyPr wrap="square" rtlCol="0">
            <a:spAutoFit/>
          </a:bodyPr>
          <a:lstStyle/>
          <a:p>
            <a:r>
              <a:rPr lang="en-US" altLang="zh-CN" sz="2800" b="1" dirty="0">
                <a:solidFill>
                  <a:srgbClr val="FFFF00"/>
                </a:solidFill>
                <a:latin typeface="+mj-lt"/>
                <a:ea typeface="微软雅黑" pitchFamily="34" charset="-122"/>
                <a:cs typeface="+mj-cs"/>
              </a:rPr>
              <a:t>3.2  </a:t>
            </a:r>
            <a:r>
              <a:rPr lang="zh-CN" altLang="en-US" sz="2800" b="1" dirty="0">
                <a:solidFill>
                  <a:srgbClr val="FFFF00"/>
                </a:solidFill>
                <a:latin typeface="+mj-lt"/>
                <a:ea typeface="微软雅黑" pitchFamily="34" charset="-122"/>
                <a:cs typeface="+mj-cs"/>
              </a:rPr>
              <a:t>计算过程</a:t>
            </a:r>
          </a:p>
        </p:txBody>
      </p:sp>
      <p:sp>
        <p:nvSpPr>
          <p:cNvPr id="27" name="矩形 26"/>
          <p:cNvSpPr/>
          <p:nvPr/>
        </p:nvSpPr>
        <p:spPr>
          <a:xfrm>
            <a:off x="571184" y="2997746"/>
            <a:ext cx="7889248" cy="1446550"/>
          </a:xfrm>
          <a:prstGeom prst="rect">
            <a:avLst/>
          </a:prstGeom>
        </p:spPr>
        <p:txBody>
          <a:bodyPr wrap="square">
            <a:spAutoFit/>
          </a:bodyPr>
          <a:lstStyle/>
          <a:p>
            <a:pPr algn="ctr"/>
            <a:r>
              <a:rPr lang="zh-CN" altLang="zh-CN" sz="3200" b="1" dirty="0" smtClean="0">
                <a:ea typeface="微软雅黑" pitchFamily="34" charset="-122"/>
              </a:rPr>
              <a:t>假定</a:t>
            </a:r>
            <a:r>
              <a:rPr lang="zh-CN" altLang="zh-CN" sz="3200" b="1" dirty="0">
                <a:ea typeface="微软雅黑" pitchFamily="34" charset="-122"/>
              </a:rPr>
              <a:t>自重应力场如同</a:t>
            </a:r>
            <a:r>
              <a:rPr lang="zh-CN" altLang="zh-CN" sz="4000" b="1" dirty="0">
                <a:solidFill>
                  <a:schemeClr val="bg1"/>
                </a:solidFill>
                <a:effectLst>
                  <a:outerShdw blurRad="38100" dist="38100" dir="2700000" algn="tl">
                    <a:srgbClr val="000000">
                      <a:alpha val="43137"/>
                    </a:srgbClr>
                  </a:outerShdw>
                </a:effectLst>
                <a:ea typeface="微软雅黑" pitchFamily="34" charset="-122"/>
              </a:rPr>
              <a:t>静水</a:t>
            </a:r>
            <a:r>
              <a:rPr lang="zh-CN" altLang="zh-CN" sz="4000" b="1" dirty="0" smtClean="0">
                <a:solidFill>
                  <a:schemeClr val="bg1"/>
                </a:solidFill>
                <a:effectLst>
                  <a:outerShdw blurRad="38100" dist="38100" dir="2700000" algn="tl">
                    <a:srgbClr val="000000">
                      <a:alpha val="43137"/>
                    </a:srgbClr>
                  </a:outerShdw>
                </a:effectLst>
                <a:ea typeface="微软雅黑" pitchFamily="34" charset="-122"/>
              </a:rPr>
              <a:t>应力</a:t>
            </a:r>
            <a:endParaRPr lang="en-US" altLang="zh-CN" sz="4000" b="1" dirty="0" smtClean="0">
              <a:solidFill>
                <a:schemeClr val="bg1"/>
              </a:solidFill>
              <a:effectLst>
                <a:outerShdw blurRad="38100" dist="38100" dir="2700000" algn="tl">
                  <a:srgbClr val="000000">
                    <a:alpha val="43137"/>
                  </a:srgbClr>
                </a:outerShdw>
              </a:effectLst>
              <a:ea typeface="微软雅黑" pitchFamily="34" charset="-122"/>
            </a:endParaRPr>
          </a:p>
          <a:p>
            <a:pPr algn="ctr"/>
            <a:endParaRPr lang="en-US" altLang="zh-CN" sz="2400" b="1" dirty="0" smtClean="0">
              <a:latin typeface="楷体" panose="02010609060101010101" pitchFamily="49" charset="-122"/>
              <a:ea typeface="楷体" panose="02010609060101010101" pitchFamily="49" charset="-122"/>
            </a:endParaRPr>
          </a:p>
          <a:p>
            <a:pPr algn="ctr"/>
            <a:r>
              <a:rPr lang="zh-CN" altLang="en-US" sz="2400" b="1" dirty="0" smtClean="0">
                <a:latin typeface="楷体" panose="02010609060101010101" pitchFamily="49" charset="-122"/>
                <a:ea typeface="楷体" panose="02010609060101010101" pitchFamily="49" charset="-122"/>
              </a:rPr>
              <a:t>（</a:t>
            </a:r>
            <a:r>
              <a:rPr lang="zh-CN" altLang="zh-CN" sz="2400" b="1" dirty="0" smtClean="0">
                <a:latin typeface="楷体" panose="02010609060101010101" pitchFamily="49" charset="-122"/>
                <a:ea typeface="楷体" panose="02010609060101010101" pitchFamily="49" charset="-122"/>
              </a:rPr>
              <a:t>即</a:t>
            </a:r>
            <a:r>
              <a:rPr lang="zh-CN" altLang="zh-CN" sz="2400" b="1" dirty="0">
                <a:latin typeface="楷体" panose="02010609060101010101" pitchFamily="49" charset="-122"/>
                <a:ea typeface="楷体" panose="02010609060101010101" pitchFamily="49" charset="-122"/>
              </a:rPr>
              <a:t>在同一深度处各个方向上的应力均相同且无</a:t>
            </a:r>
            <a:r>
              <a:rPr lang="zh-CN" altLang="zh-CN" sz="2400" b="1" dirty="0" smtClean="0">
                <a:latin typeface="楷体" panose="02010609060101010101" pitchFamily="49" charset="-122"/>
                <a:ea typeface="楷体" panose="02010609060101010101" pitchFamily="49" charset="-122"/>
              </a:rPr>
              <a:t>剪应力</a:t>
            </a:r>
            <a:r>
              <a:rPr lang="zh-CN" altLang="en-US" sz="2400" b="1" dirty="0" smtClean="0">
                <a:latin typeface="楷体" panose="02010609060101010101" pitchFamily="49" charset="-122"/>
                <a:ea typeface="楷体" panose="02010609060101010101" pitchFamily="49" charset="-122"/>
              </a:rPr>
              <a:t>）</a:t>
            </a:r>
            <a:endParaRPr lang="zh-CN" altLang="zh-CN" sz="2400" b="1" dirty="0">
              <a:ea typeface="微软雅黑" pitchFamily="34" charset="-122"/>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3180184285"/>
              </p:ext>
            </p:extLst>
          </p:nvPr>
        </p:nvGraphicFramePr>
        <p:xfrm>
          <a:off x="457200" y="4829334"/>
          <a:ext cx="8229600" cy="832708"/>
        </p:xfrm>
        <a:graphic>
          <a:graphicData uri="http://schemas.openxmlformats.org/presentationml/2006/ole">
            <mc:AlternateContent xmlns:mc="http://schemas.openxmlformats.org/markup-compatibility/2006">
              <mc:Choice xmlns:v="urn:schemas-microsoft-com:vml" Requires="v">
                <p:oleObj spid="_x0000_s2071" name="Equation" r:id="rId3" imgW="4089400" imgH="393700" progId="Equation.DSMT4">
                  <p:embed/>
                </p:oleObj>
              </mc:Choice>
              <mc:Fallback>
                <p:oleObj name="Equation" r:id="rId3" imgW="4089400" imgH="393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829334"/>
                        <a:ext cx="8229600" cy="832708"/>
                      </a:xfrm>
                      <a:prstGeom prst="rect">
                        <a:avLst/>
                      </a:prstGeom>
                      <a:noFill/>
                    </p:spPr>
                  </p:pic>
                </p:oleObj>
              </mc:Fallback>
            </mc:AlternateContent>
          </a:graphicData>
        </a:graphic>
      </p:graphicFrame>
      <p:grpSp>
        <p:nvGrpSpPr>
          <p:cNvPr id="17" name="组合 16"/>
          <p:cNvGrpSpPr/>
          <p:nvPr/>
        </p:nvGrpSpPr>
        <p:grpSpPr>
          <a:xfrm>
            <a:off x="3529686" y="1136952"/>
            <a:ext cx="4760089" cy="1644769"/>
            <a:chOff x="3529686" y="1136952"/>
            <a:chExt cx="4760089" cy="1644769"/>
          </a:xfrm>
        </p:grpSpPr>
        <p:graphicFrame>
          <p:nvGraphicFramePr>
            <p:cNvPr id="2" name="图示 1"/>
            <p:cNvGraphicFramePr/>
            <p:nvPr>
              <p:extLst>
                <p:ext uri="{D42A27DB-BD31-4B8C-83A1-F6EECF244321}">
                  <p14:modId xmlns:p14="http://schemas.microsoft.com/office/powerpoint/2010/main" val="2343167832"/>
                </p:ext>
              </p:extLst>
            </p:nvPr>
          </p:nvGraphicFramePr>
          <p:xfrm>
            <a:off x="3529686" y="1136952"/>
            <a:ext cx="4760089" cy="164476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文本框 2"/>
            <p:cNvSpPr txBox="1"/>
            <p:nvPr/>
          </p:nvSpPr>
          <p:spPr>
            <a:xfrm>
              <a:off x="5998840" y="1478997"/>
              <a:ext cx="1224136" cy="369332"/>
            </a:xfrm>
            <a:prstGeom prst="rect">
              <a:avLst/>
            </a:prstGeom>
            <a:noFill/>
          </p:spPr>
          <p:txBody>
            <a:bodyPr wrap="square" rtlCol="0">
              <a:spAutoFit/>
            </a:bodyPr>
            <a:lstStyle/>
            <a:p>
              <a:r>
                <a:rPr lang="zh-CN" altLang="en-US" dirty="0" smtClean="0">
                  <a:latin typeface="楷体" panose="02010609060101010101" pitchFamily="49" charset="-122"/>
                  <a:ea typeface="楷体" panose="02010609060101010101" pitchFamily="49" charset="-122"/>
                </a:rPr>
                <a:t>矢量运算</a:t>
              </a:r>
              <a:endParaRPr lang="zh-CN" altLang="en-US" dirty="0">
                <a:latin typeface="楷体" panose="02010609060101010101" pitchFamily="49" charset="-122"/>
                <a:ea typeface="楷体" panose="02010609060101010101" pitchFamily="49" charset="-122"/>
              </a:endParaRPr>
            </a:p>
          </p:txBody>
        </p:sp>
      </p:grpSp>
      <p:sp>
        <p:nvSpPr>
          <p:cNvPr id="20" name="文本框 19"/>
          <p:cNvSpPr txBox="1"/>
          <p:nvPr/>
        </p:nvSpPr>
        <p:spPr>
          <a:xfrm>
            <a:off x="5998840" y="2076485"/>
            <a:ext cx="1224136" cy="369332"/>
          </a:xfrm>
          <a:prstGeom prst="rect">
            <a:avLst/>
          </a:prstGeom>
          <a:noFill/>
        </p:spPr>
        <p:txBody>
          <a:bodyPr wrap="square" rtlCol="0">
            <a:spAutoFit/>
          </a:bodyPr>
          <a:lstStyle/>
          <a:p>
            <a:r>
              <a:rPr lang="zh-CN" altLang="en-US" dirty="0" smtClean="0">
                <a:latin typeface="楷体" panose="02010609060101010101" pitchFamily="49" charset="-122"/>
                <a:ea typeface="楷体" panose="02010609060101010101" pitchFamily="49" charset="-122"/>
              </a:rPr>
              <a:t>方向不同</a:t>
            </a:r>
            <a:endParaRPr lang="zh-CN" altLang="en-US" dirty="0">
              <a:latin typeface="楷体" panose="02010609060101010101" pitchFamily="49" charset="-122"/>
              <a:ea typeface="楷体" panose="02010609060101010101" pitchFamily="49" charset="-122"/>
            </a:endParaRPr>
          </a:p>
        </p:txBody>
      </p:sp>
      <p:sp>
        <p:nvSpPr>
          <p:cNvPr id="18" name="上箭头 17"/>
          <p:cNvSpPr/>
          <p:nvPr/>
        </p:nvSpPr>
        <p:spPr>
          <a:xfrm rot="13995398">
            <a:off x="5579092" y="2170810"/>
            <a:ext cx="391979" cy="1001192"/>
          </a:xfrm>
          <a:prstGeom prst="upArrow">
            <a:avLst/>
          </a:prstGeom>
          <a:solidFill>
            <a:srgbClr val="FFFF6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a typeface="微软雅黑" pitchFamily="34" charset="-122"/>
            </a:endParaRPr>
          </a:p>
        </p:txBody>
      </p:sp>
      <p:grpSp>
        <p:nvGrpSpPr>
          <p:cNvPr id="22" name="组合 21"/>
          <p:cNvGrpSpPr/>
          <p:nvPr/>
        </p:nvGrpSpPr>
        <p:grpSpPr>
          <a:xfrm>
            <a:off x="185955" y="479575"/>
            <a:ext cx="5616624" cy="798585"/>
            <a:chOff x="185955" y="479575"/>
            <a:chExt cx="5616624" cy="798585"/>
          </a:xfrm>
        </p:grpSpPr>
        <p:grpSp>
          <p:nvGrpSpPr>
            <p:cNvPr id="23" name="组合 22"/>
            <p:cNvGrpSpPr/>
            <p:nvPr/>
          </p:nvGrpSpPr>
          <p:grpSpPr>
            <a:xfrm>
              <a:off x="185955" y="479575"/>
              <a:ext cx="5616624" cy="798585"/>
              <a:chOff x="1115616" y="2060848"/>
              <a:chExt cx="6264696" cy="920468"/>
            </a:xfrm>
          </p:grpSpPr>
          <p:sp>
            <p:nvSpPr>
              <p:cNvPr id="25"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6" name="Group 34"/>
              <p:cNvGrpSpPr>
                <a:grpSpLocks/>
              </p:cNvGrpSpPr>
              <p:nvPr/>
            </p:nvGrpSpPr>
            <p:grpSpPr bwMode="auto">
              <a:xfrm>
                <a:off x="1115616" y="2098780"/>
                <a:ext cx="847963" cy="882536"/>
                <a:chOff x="2959" y="1571"/>
                <a:chExt cx="454" cy="482"/>
              </a:xfrm>
            </p:grpSpPr>
            <p:grpSp>
              <p:nvGrpSpPr>
                <p:cNvPr id="29" name="Group 35"/>
                <p:cNvGrpSpPr>
                  <a:grpSpLocks/>
                </p:cNvGrpSpPr>
                <p:nvPr/>
              </p:nvGrpSpPr>
              <p:grpSpPr bwMode="auto">
                <a:xfrm>
                  <a:off x="2959" y="1571"/>
                  <a:ext cx="454" cy="482"/>
                  <a:chOff x="192" y="1917"/>
                  <a:chExt cx="1042" cy="1102"/>
                </a:xfrm>
              </p:grpSpPr>
              <p:pic>
                <p:nvPicPr>
                  <p:cNvPr id="31" name="Picture 36" descr="light_shadow"/>
                  <p:cNvPicPr>
                    <a:picLocks noChangeAspect="1" noChangeArrowheads="1"/>
                  </p:cNvPicPr>
                  <p:nvPr/>
                </p:nvPicPr>
                <p:blipFill>
                  <a:blip r:embed="rId10"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7" descr="circuler_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3"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30" name="Picture 39" descr="Picture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4"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Tree>
    <p:extLst>
      <p:ext uri="{BB962C8B-B14F-4D97-AF65-F5344CB8AC3E}">
        <p14:creationId xmlns:p14="http://schemas.microsoft.com/office/powerpoint/2010/main" val="454845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14</a:t>
            </a:fld>
            <a:endParaRPr lang="zh-CN" altLang="en-US" dirty="0">
              <a:solidFill>
                <a:srgbClr val="A61A40"/>
              </a:solidFill>
            </a:endParaRPr>
          </a:p>
        </p:txBody>
      </p:sp>
      <p:pic>
        <p:nvPicPr>
          <p:cNvPr id="6" name="Picture 1"/>
          <p:cNvPicPr>
            <a:picLocks noChangeAspect="1" noChangeArrowheads="1"/>
          </p:cNvPicPr>
          <p:nvPr/>
        </p:nvPicPr>
        <p:blipFill rotWithShape="1">
          <a:blip r:embed="rId3">
            <a:lum bright="-60000" contrast="80000"/>
            <a:extLst>
              <a:ext uri="{28A0092B-C50C-407E-A947-70E740481C1C}">
                <a14:useLocalDpi xmlns:a14="http://schemas.microsoft.com/office/drawing/2010/main" val="0"/>
              </a:ext>
            </a:extLst>
          </a:blip>
          <a:srcRect r="4222" b="18420"/>
          <a:stretch/>
        </p:blipFill>
        <p:spPr bwMode="auto">
          <a:xfrm>
            <a:off x="4572000" y="1643706"/>
            <a:ext cx="4073202" cy="241654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
        <p:nvSpPr>
          <p:cNvPr id="7" name="矩形 6"/>
          <p:cNvSpPr/>
          <p:nvPr/>
        </p:nvSpPr>
        <p:spPr>
          <a:xfrm>
            <a:off x="862470" y="1643706"/>
            <a:ext cx="2246128" cy="523220"/>
          </a:xfrm>
          <a:prstGeom prst="rect">
            <a:avLst/>
          </a:prstGeom>
        </p:spPr>
        <p:txBody>
          <a:bodyPr wrap="none">
            <a:spAutoFit/>
          </a:bodyPr>
          <a:lstStyle/>
          <a:p>
            <a:r>
              <a:rPr lang="en-US" altLang="zh-CN" sz="2800" b="1" dirty="0">
                <a:solidFill>
                  <a:srgbClr val="FFFF00"/>
                </a:solidFill>
                <a:latin typeface="+mj-lt"/>
                <a:ea typeface="微软雅黑" pitchFamily="34" charset="-122"/>
                <a:cs typeface="+mj-cs"/>
              </a:rPr>
              <a:t>3.2  </a:t>
            </a:r>
            <a:r>
              <a:rPr lang="zh-CN" altLang="en-US" sz="2800" b="1" dirty="0">
                <a:solidFill>
                  <a:srgbClr val="FFFF00"/>
                </a:solidFill>
                <a:latin typeface="+mj-lt"/>
                <a:ea typeface="微软雅黑" pitchFamily="34" charset="-122"/>
                <a:cs typeface="+mj-cs"/>
              </a:rPr>
              <a:t>计算过程</a:t>
            </a:r>
          </a:p>
        </p:txBody>
      </p:sp>
      <p:graphicFrame>
        <p:nvGraphicFramePr>
          <p:cNvPr id="8" name="对象 7"/>
          <p:cNvGraphicFramePr>
            <a:graphicFrameLocks noChangeAspect="1"/>
          </p:cNvGraphicFramePr>
          <p:nvPr>
            <p:extLst>
              <p:ext uri="{D42A27DB-BD31-4B8C-83A1-F6EECF244321}">
                <p14:modId xmlns:p14="http://schemas.microsoft.com/office/powerpoint/2010/main" val="3854578309"/>
              </p:ext>
            </p:extLst>
          </p:nvPr>
        </p:nvGraphicFramePr>
        <p:xfrm>
          <a:off x="261309" y="2052840"/>
          <a:ext cx="4201990" cy="1448962"/>
        </p:xfrm>
        <a:graphic>
          <a:graphicData uri="http://schemas.openxmlformats.org/presentationml/2006/ole">
            <mc:AlternateContent xmlns:mc="http://schemas.openxmlformats.org/markup-compatibility/2006">
              <mc:Choice xmlns:v="urn:schemas-microsoft-com:vml" Requires="v">
                <p:oleObj spid="_x0000_s3134" name="Equation" r:id="rId4" imgW="2209800" imgH="762000" progId="Equation.DSMT4">
                  <p:embed/>
                </p:oleObj>
              </mc:Choice>
              <mc:Fallback>
                <p:oleObj name="Equation" r:id="rId4" imgW="2209800" imgH="7620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309" y="2052840"/>
                        <a:ext cx="4201990" cy="1448962"/>
                      </a:xfrm>
                      <a:prstGeom prst="rect">
                        <a:avLst/>
                      </a:prstGeom>
                      <a:noFill/>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88159448"/>
              </p:ext>
            </p:extLst>
          </p:nvPr>
        </p:nvGraphicFramePr>
        <p:xfrm>
          <a:off x="-11687" y="3816318"/>
          <a:ext cx="5106275" cy="909620"/>
        </p:xfrm>
        <a:graphic>
          <a:graphicData uri="http://schemas.openxmlformats.org/presentationml/2006/ole">
            <mc:AlternateContent xmlns:mc="http://schemas.openxmlformats.org/markup-compatibility/2006">
              <mc:Choice xmlns:v="urn:schemas-microsoft-com:vml" Requires="v">
                <p:oleObj spid="_x0000_s3135" name="Equation" r:id="rId6" imgW="2349500" imgH="419100" progId="Equation.DSMT4">
                  <p:embed/>
                </p:oleObj>
              </mc:Choice>
              <mc:Fallback>
                <p:oleObj name="Equation" r:id="rId6" imgW="2349500" imgH="4191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87" y="3816318"/>
                        <a:ext cx="5106275" cy="909620"/>
                      </a:xfrm>
                      <a:prstGeom prst="rect">
                        <a:avLst/>
                      </a:prstGeom>
                      <a:noFill/>
                      <a:extLst/>
                    </p:spPr>
                  </p:pic>
                </p:oleObj>
              </mc:Fallback>
            </mc:AlternateContent>
          </a:graphicData>
        </a:graphic>
      </p:graphicFrame>
      <p:sp>
        <p:nvSpPr>
          <p:cNvPr id="10" name="矩形 9"/>
          <p:cNvSpPr/>
          <p:nvPr/>
        </p:nvSpPr>
        <p:spPr>
          <a:xfrm>
            <a:off x="884182" y="4861243"/>
            <a:ext cx="2698175" cy="523220"/>
          </a:xfrm>
          <a:prstGeom prst="rect">
            <a:avLst/>
          </a:prstGeom>
        </p:spPr>
        <p:txBody>
          <a:bodyPr wrap="none">
            <a:spAutoFit/>
          </a:bodyPr>
          <a:lstStyle/>
          <a:p>
            <a:r>
              <a:rPr lang="zh-CN" altLang="zh-CN" sz="2800" b="1" dirty="0">
                <a:solidFill>
                  <a:schemeClr val="bg1"/>
                </a:solidFill>
                <a:ea typeface="微软雅黑" pitchFamily="34" charset="-122"/>
              </a:rPr>
              <a:t>对上式求</a:t>
            </a:r>
            <a:r>
              <a:rPr lang="zh-CN" altLang="zh-CN" sz="2800" b="1" dirty="0" smtClean="0">
                <a:solidFill>
                  <a:schemeClr val="bg1"/>
                </a:solidFill>
                <a:ea typeface="微软雅黑" pitchFamily="34" charset="-122"/>
              </a:rPr>
              <a:t>极值</a:t>
            </a:r>
            <a:r>
              <a:rPr lang="zh-CN" altLang="en-US" sz="2800" b="1" dirty="0" smtClean="0">
                <a:solidFill>
                  <a:schemeClr val="bg1"/>
                </a:solidFill>
                <a:ea typeface="微软雅黑" pitchFamily="34" charset="-122"/>
              </a:rPr>
              <a:t>：</a:t>
            </a:r>
            <a:endParaRPr lang="zh-CN" altLang="en-US" sz="2800" b="1" dirty="0">
              <a:solidFill>
                <a:schemeClr val="bg1"/>
              </a:solidFill>
              <a:ea typeface="微软雅黑" pitchFamily="34"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744576854"/>
              </p:ext>
            </p:extLst>
          </p:nvPr>
        </p:nvGraphicFramePr>
        <p:xfrm>
          <a:off x="1553573" y="5590034"/>
          <a:ext cx="6036854" cy="1152128"/>
        </p:xfrm>
        <a:graphic>
          <a:graphicData uri="http://schemas.openxmlformats.org/presentationml/2006/ole">
            <mc:AlternateContent xmlns:mc="http://schemas.openxmlformats.org/markup-compatibility/2006">
              <mc:Choice xmlns:v="urn:schemas-microsoft-com:vml" Requires="v">
                <p:oleObj spid="_x0000_s3136" name="Equation" r:id="rId8" imgW="2628900" imgH="419100" progId="Equation.DSMT4">
                  <p:embed/>
                </p:oleObj>
              </mc:Choice>
              <mc:Fallback>
                <p:oleObj name="Equation" r:id="rId8" imgW="2628900" imgH="4191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3573" y="5590034"/>
                        <a:ext cx="6036854" cy="1152128"/>
                      </a:xfrm>
                      <a:prstGeom prst="rect">
                        <a:avLst/>
                      </a:prstGeom>
                      <a:noFill/>
                      <a:extLst/>
                    </p:spPr>
                  </p:pic>
                </p:oleObj>
              </mc:Fallback>
            </mc:AlternateContent>
          </a:graphicData>
        </a:graphic>
      </p:graphicFrame>
      <p:grpSp>
        <p:nvGrpSpPr>
          <p:cNvPr id="22" name="组合 21"/>
          <p:cNvGrpSpPr/>
          <p:nvPr/>
        </p:nvGrpSpPr>
        <p:grpSpPr>
          <a:xfrm>
            <a:off x="185955" y="479575"/>
            <a:ext cx="5616624" cy="798585"/>
            <a:chOff x="185955" y="479575"/>
            <a:chExt cx="5616624" cy="798585"/>
          </a:xfrm>
        </p:grpSpPr>
        <p:grpSp>
          <p:nvGrpSpPr>
            <p:cNvPr id="23" name="组合 22"/>
            <p:cNvGrpSpPr/>
            <p:nvPr/>
          </p:nvGrpSpPr>
          <p:grpSpPr>
            <a:xfrm>
              <a:off x="185955" y="479575"/>
              <a:ext cx="5616624" cy="798585"/>
              <a:chOff x="1115616" y="2060848"/>
              <a:chExt cx="6264696" cy="920468"/>
            </a:xfrm>
          </p:grpSpPr>
          <p:sp>
            <p:nvSpPr>
              <p:cNvPr id="25"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6" name="Group 34"/>
              <p:cNvGrpSpPr>
                <a:grpSpLocks/>
              </p:cNvGrpSpPr>
              <p:nvPr/>
            </p:nvGrpSpPr>
            <p:grpSpPr bwMode="auto">
              <a:xfrm>
                <a:off x="1115616" y="2098780"/>
                <a:ext cx="847963" cy="882536"/>
                <a:chOff x="2959" y="1571"/>
                <a:chExt cx="454" cy="482"/>
              </a:xfrm>
            </p:grpSpPr>
            <p:grpSp>
              <p:nvGrpSpPr>
                <p:cNvPr id="27" name="Group 35"/>
                <p:cNvGrpSpPr>
                  <a:grpSpLocks/>
                </p:cNvGrpSpPr>
                <p:nvPr/>
              </p:nvGrpSpPr>
              <p:grpSpPr bwMode="auto">
                <a:xfrm>
                  <a:off x="2959" y="1571"/>
                  <a:ext cx="454" cy="482"/>
                  <a:chOff x="192" y="1917"/>
                  <a:chExt cx="1042" cy="1102"/>
                </a:xfrm>
              </p:grpSpPr>
              <p:pic>
                <p:nvPicPr>
                  <p:cNvPr id="29" name="Picture 36" descr="light_shadow"/>
                  <p:cNvPicPr>
                    <a:picLocks noChangeAspect="1" noChangeArrowheads="1"/>
                  </p:cNvPicPr>
                  <p:nvPr/>
                </p:nvPicPr>
                <p:blipFill>
                  <a:blip r:embed="rId10"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7" descr="circuler_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8" name="Picture 39" descr="Picture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4"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Tree>
    <p:extLst>
      <p:ext uri="{BB962C8B-B14F-4D97-AF65-F5344CB8AC3E}">
        <p14:creationId xmlns:p14="http://schemas.microsoft.com/office/powerpoint/2010/main" val="11288152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15</a:t>
            </a:fld>
            <a:endParaRPr lang="zh-CN" altLang="en-US" dirty="0">
              <a:solidFill>
                <a:srgbClr val="A61A40"/>
              </a:solidFill>
            </a:endParaRPr>
          </a:p>
        </p:txBody>
      </p:sp>
      <p:sp>
        <p:nvSpPr>
          <p:cNvPr id="16" name="TextBox 8"/>
          <p:cNvSpPr txBox="1"/>
          <p:nvPr/>
        </p:nvSpPr>
        <p:spPr>
          <a:xfrm>
            <a:off x="895124" y="1669770"/>
            <a:ext cx="4608512" cy="523220"/>
          </a:xfrm>
          <a:prstGeom prst="rect">
            <a:avLst/>
          </a:prstGeom>
          <a:noFill/>
        </p:spPr>
        <p:txBody>
          <a:bodyPr wrap="square" rtlCol="0">
            <a:spAutoFit/>
          </a:bodyPr>
          <a:lstStyle/>
          <a:p>
            <a:r>
              <a:rPr lang="en-US" altLang="zh-CN" sz="2800" b="1" dirty="0">
                <a:solidFill>
                  <a:srgbClr val="FFFF00"/>
                </a:solidFill>
                <a:latin typeface="+mj-lt"/>
                <a:ea typeface="微软雅黑" pitchFamily="34" charset="-122"/>
                <a:cs typeface="+mj-cs"/>
              </a:rPr>
              <a:t>3.2  </a:t>
            </a:r>
            <a:r>
              <a:rPr lang="zh-CN" altLang="en-US" sz="2800" b="1" dirty="0">
                <a:solidFill>
                  <a:srgbClr val="FFFF00"/>
                </a:solidFill>
                <a:latin typeface="+mj-lt"/>
                <a:ea typeface="微软雅黑" pitchFamily="34" charset="-122"/>
                <a:cs typeface="+mj-cs"/>
              </a:rPr>
              <a:t>计算过程</a:t>
            </a:r>
          </a:p>
        </p:txBody>
      </p:sp>
      <p:sp>
        <p:nvSpPr>
          <p:cNvPr id="17" name="TextBox 6"/>
          <p:cNvSpPr txBox="1"/>
          <p:nvPr/>
        </p:nvSpPr>
        <p:spPr>
          <a:xfrm>
            <a:off x="261309" y="2603325"/>
            <a:ext cx="8559163" cy="1200329"/>
          </a:xfrm>
          <a:prstGeom prst="rect">
            <a:avLst/>
          </a:prstGeom>
          <a:noFill/>
        </p:spPr>
        <p:txBody>
          <a:bodyPr wrap="square" rtlCol="0">
            <a:spAutoFit/>
          </a:bodyPr>
          <a:lstStyle/>
          <a:p>
            <a:pPr>
              <a:lnSpc>
                <a:spcPct val="150000"/>
              </a:lnSpc>
            </a:pPr>
            <a:r>
              <a:rPr lang="zh-CN" altLang="en-US" sz="2400" dirty="0" smtClean="0">
                <a:ea typeface="微软雅黑" pitchFamily="34" charset="-122"/>
              </a:rPr>
              <a:t>        </a:t>
            </a:r>
            <a:r>
              <a:rPr lang="zh-CN" altLang="zh-CN" sz="2400" dirty="0" smtClean="0">
                <a:ea typeface="微软雅黑" pitchFamily="34" charset="-122"/>
              </a:rPr>
              <a:t>根据</a:t>
            </a:r>
            <a:r>
              <a:rPr lang="zh-CN" altLang="zh-CN" sz="2400" dirty="0">
                <a:ea typeface="微软雅黑" pitchFamily="34" charset="-122"/>
              </a:rPr>
              <a:t>经验再汇总新垂直荷载作用下，地基中可允许的</a:t>
            </a:r>
            <a:r>
              <a:rPr lang="zh-CN" altLang="zh-CN" sz="2400" b="1" dirty="0">
                <a:solidFill>
                  <a:schemeClr val="bg1"/>
                </a:solidFill>
                <a:ea typeface="微软雅黑" pitchFamily="34" charset="-122"/>
              </a:rPr>
              <a:t>塑性区深度</a:t>
            </a:r>
            <a:r>
              <a:rPr lang="en-US" altLang="zh-CN" sz="2400" b="1" dirty="0">
                <a:solidFill>
                  <a:schemeClr val="bg1"/>
                </a:solidFill>
                <a:ea typeface="微软雅黑" pitchFamily="34" charset="-122"/>
              </a:rPr>
              <a:t> b/4</a:t>
            </a:r>
            <a:r>
              <a:rPr lang="zh-CN" altLang="zh-CN" sz="2400" dirty="0">
                <a:ea typeface="微软雅黑" pitchFamily="34" charset="-122"/>
              </a:rPr>
              <a:t>（</a:t>
            </a:r>
            <a:r>
              <a:rPr lang="en-US" altLang="zh-CN" sz="2400" dirty="0">
                <a:ea typeface="微软雅黑" pitchFamily="34" charset="-122"/>
              </a:rPr>
              <a:t>b</a:t>
            </a:r>
            <a:r>
              <a:rPr lang="zh-CN" altLang="zh-CN" sz="2400" dirty="0">
                <a:ea typeface="微软雅黑" pitchFamily="34" charset="-122"/>
              </a:rPr>
              <a:t>为基础深度），带入得到有限塑性区荷载</a:t>
            </a:r>
            <a:endParaRPr lang="zh-CN" altLang="en-US" sz="2400" dirty="0">
              <a:ea typeface="微软雅黑" pitchFamily="34"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820241414"/>
              </p:ext>
            </p:extLst>
          </p:nvPr>
        </p:nvGraphicFramePr>
        <p:xfrm>
          <a:off x="150442" y="4077866"/>
          <a:ext cx="8744383" cy="1189712"/>
        </p:xfrm>
        <a:graphic>
          <a:graphicData uri="http://schemas.openxmlformats.org/presentationml/2006/ole">
            <mc:AlternateContent xmlns:mc="http://schemas.openxmlformats.org/markup-compatibility/2006">
              <mc:Choice xmlns:v="urn:schemas-microsoft-com:vml" Requires="v">
                <p:oleObj spid="_x0000_s4118" name="Equation" r:id="rId3" imgW="5600700" imgH="762000" progId="Equation.DSMT4">
                  <p:embed/>
                </p:oleObj>
              </mc:Choice>
              <mc:Fallback>
                <p:oleObj name="Equation" r:id="rId3" imgW="5600700" imgH="762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42" y="4077866"/>
                        <a:ext cx="8744383" cy="1189712"/>
                      </a:xfrm>
                      <a:prstGeom prst="rect">
                        <a:avLst/>
                      </a:prstGeom>
                      <a:noFill/>
                      <a:extLst/>
                    </p:spPr>
                  </p:pic>
                </p:oleObj>
              </mc:Fallback>
            </mc:AlternateContent>
          </a:graphicData>
        </a:graphic>
      </p:graphicFrame>
      <p:grpSp>
        <p:nvGrpSpPr>
          <p:cNvPr id="19" name="组合 18"/>
          <p:cNvGrpSpPr/>
          <p:nvPr/>
        </p:nvGrpSpPr>
        <p:grpSpPr>
          <a:xfrm>
            <a:off x="185955" y="479575"/>
            <a:ext cx="5616624" cy="798585"/>
            <a:chOff x="185955" y="479575"/>
            <a:chExt cx="5616624" cy="798585"/>
          </a:xfrm>
        </p:grpSpPr>
        <p:grpSp>
          <p:nvGrpSpPr>
            <p:cNvPr id="20" name="组合 19"/>
            <p:cNvGrpSpPr/>
            <p:nvPr/>
          </p:nvGrpSpPr>
          <p:grpSpPr>
            <a:xfrm>
              <a:off x="185955" y="479575"/>
              <a:ext cx="5616624" cy="798585"/>
              <a:chOff x="1115616" y="2060848"/>
              <a:chExt cx="6264696" cy="920468"/>
            </a:xfrm>
          </p:grpSpPr>
          <p:sp>
            <p:nvSpPr>
              <p:cNvPr id="22"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3" name="Group 34"/>
              <p:cNvGrpSpPr>
                <a:grpSpLocks/>
              </p:cNvGrpSpPr>
              <p:nvPr/>
            </p:nvGrpSpPr>
            <p:grpSpPr bwMode="auto">
              <a:xfrm>
                <a:off x="1115616" y="2098780"/>
                <a:ext cx="847963" cy="882536"/>
                <a:chOff x="2959" y="1571"/>
                <a:chExt cx="454" cy="482"/>
              </a:xfrm>
            </p:grpSpPr>
            <p:grpSp>
              <p:nvGrpSpPr>
                <p:cNvPr id="24" name="Group 35"/>
                <p:cNvGrpSpPr>
                  <a:grpSpLocks/>
                </p:cNvGrpSpPr>
                <p:nvPr/>
              </p:nvGrpSpPr>
              <p:grpSpPr bwMode="auto">
                <a:xfrm>
                  <a:off x="2959" y="1571"/>
                  <a:ext cx="454" cy="482"/>
                  <a:chOff x="192" y="1917"/>
                  <a:chExt cx="1042" cy="1102"/>
                </a:xfrm>
              </p:grpSpPr>
              <p:pic>
                <p:nvPicPr>
                  <p:cNvPr id="26" name="Picture 36" descr="light_shadow"/>
                  <p:cNvPicPr>
                    <a:picLocks noChangeAspect="1" noChangeArrowheads="1"/>
                  </p:cNvPicPr>
                  <p:nvPr/>
                </p:nvPicPr>
                <p:blipFill>
                  <a:blip r:embed="rId5"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37" descr="circuler_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28"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5" name="Picture 39" descr="Picture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1"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Tree>
    <p:extLst>
      <p:ext uri="{BB962C8B-B14F-4D97-AF65-F5344CB8AC3E}">
        <p14:creationId xmlns:p14="http://schemas.microsoft.com/office/powerpoint/2010/main" val="3940367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16</a:t>
            </a:fld>
            <a:endParaRPr lang="zh-CN" altLang="en-US" dirty="0">
              <a:solidFill>
                <a:srgbClr val="A61A40"/>
              </a:solidFill>
            </a:endParaRPr>
          </a:p>
        </p:txBody>
      </p:sp>
      <p:sp>
        <p:nvSpPr>
          <p:cNvPr id="16" name="TextBox 8"/>
          <p:cNvSpPr txBox="1"/>
          <p:nvPr/>
        </p:nvSpPr>
        <p:spPr>
          <a:xfrm>
            <a:off x="971396" y="1701602"/>
            <a:ext cx="3456384"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rgbClr val="FFFF00"/>
                </a:solidFill>
                <a:latin typeface="+mj-lt"/>
                <a:ea typeface="微软雅黑" pitchFamily="34" charset="-122"/>
                <a:cs typeface="+mj-cs"/>
              </a:rPr>
              <a:t>3.3 </a:t>
            </a:r>
            <a:r>
              <a:rPr lang="zh-CN" altLang="en-US" sz="2800" b="1" dirty="0">
                <a:solidFill>
                  <a:srgbClr val="FFFF00"/>
                </a:solidFill>
                <a:latin typeface="+mj-lt"/>
                <a:ea typeface="微软雅黑" pitchFamily="34" charset="-122"/>
                <a:cs typeface="+mj-cs"/>
              </a:rPr>
              <a:t>规范公式</a:t>
            </a:r>
          </a:p>
        </p:txBody>
      </p:sp>
      <p:sp>
        <p:nvSpPr>
          <p:cNvPr id="17" name="TextBox 46"/>
          <p:cNvSpPr txBox="1"/>
          <p:nvPr/>
        </p:nvSpPr>
        <p:spPr>
          <a:xfrm rot="21204008">
            <a:off x="3042849" y="5473237"/>
            <a:ext cx="5519460" cy="584775"/>
          </a:xfrm>
          <a:prstGeom prst="rect">
            <a:avLst/>
          </a:prstGeom>
          <a:noFill/>
        </p:spPr>
        <p:txBody>
          <a:bodyPr wrap="none" rtlCol="0">
            <a:spAutoFit/>
          </a:bodyPr>
          <a:lstStyle/>
          <a:p>
            <a:r>
              <a:rPr lang="zh-CN" altLang="en-US" sz="3200" dirty="0" smtClean="0">
                <a:solidFill>
                  <a:schemeClr val="bg1"/>
                </a:solidFill>
                <a:latin typeface="微软雅黑" pitchFamily="34" charset="-122"/>
                <a:ea typeface="微软雅黑" pitchFamily="34" charset="-122"/>
              </a:rPr>
              <a:t>规范总会给我们更实用的算法</a:t>
            </a:r>
            <a:endParaRPr lang="zh-CN" altLang="en-US" sz="3200" dirty="0">
              <a:solidFill>
                <a:schemeClr val="bg1"/>
              </a:solidFill>
              <a:latin typeface="微软雅黑" pitchFamily="34" charset="-122"/>
              <a:ea typeface="微软雅黑" pitchFamily="34" charset="-122"/>
            </a:endParaRPr>
          </a:p>
        </p:txBody>
      </p:sp>
      <p:sp>
        <p:nvSpPr>
          <p:cNvPr id="18" name="TextBox 6"/>
          <p:cNvSpPr txBox="1"/>
          <p:nvPr/>
        </p:nvSpPr>
        <p:spPr>
          <a:xfrm>
            <a:off x="261310" y="2484825"/>
            <a:ext cx="8631170" cy="1754326"/>
          </a:xfrm>
          <a:prstGeom prst="rect">
            <a:avLst/>
          </a:prstGeom>
          <a:noFill/>
        </p:spPr>
        <p:txBody>
          <a:bodyPr wrap="square" rtlCol="0">
            <a:spAutoFit/>
          </a:bodyPr>
          <a:lstStyle/>
          <a:p>
            <a:pPr>
              <a:lnSpc>
                <a:spcPct val="150000"/>
              </a:lnSpc>
            </a:pPr>
            <a:r>
              <a:rPr lang="zh-CN" altLang="en-US" sz="2400" dirty="0" smtClean="0">
                <a:ea typeface="微软雅黑" pitchFamily="34" charset="-122"/>
              </a:rPr>
              <a:t>        </a:t>
            </a:r>
            <a:r>
              <a:rPr lang="zh-CN" altLang="zh-CN" sz="2400" dirty="0" smtClean="0">
                <a:ea typeface="微软雅黑" pitchFamily="34" charset="-122"/>
              </a:rPr>
              <a:t>当</a:t>
            </a:r>
            <a:r>
              <a:rPr lang="zh-CN" altLang="zh-CN" sz="2400" b="1" dirty="0">
                <a:solidFill>
                  <a:schemeClr val="bg1"/>
                </a:solidFill>
                <a:ea typeface="微软雅黑" pitchFamily="34" charset="-122"/>
              </a:rPr>
              <a:t>偏心距</a:t>
            </a:r>
            <a:r>
              <a:rPr lang="en-US" altLang="zh-CN" sz="2400" b="1" dirty="0">
                <a:solidFill>
                  <a:schemeClr val="bg1"/>
                </a:solidFill>
                <a:ea typeface="微软雅黑" pitchFamily="34" charset="-122"/>
              </a:rPr>
              <a:t>e</a:t>
            </a:r>
            <a:r>
              <a:rPr lang="zh-CN" altLang="zh-CN" sz="2400" b="1" dirty="0">
                <a:solidFill>
                  <a:schemeClr val="bg1"/>
                </a:solidFill>
                <a:ea typeface="微软雅黑" pitchFamily="34" charset="-122"/>
              </a:rPr>
              <a:t>小于或等于</a:t>
            </a:r>
            <a:r>
              <a:rPr lang="en-US" altLang="zh-CN" sz="2400" b="1" dirty="0">
                <a:solidFill>
                  <a:schemeClr val="bg1"/>
                </a:solidFill>
                <a:ea typeface="微软雅黑" pitchFamily="34" charset="-122"/>
              </a:rPr>
              <a:t>0.033</a:t>
            </a:r>
            <a:r>
              <a:rPr lang="zh-CN" altLang="zh-CN" sz="2400" b="1" dirty="0">
                <a:solidFill>
                  <a:schemeClr val="bg1"/>
                </a:solidFill>
                <a:ea typeface="微软雅黑" pitchFamily="34" charset="-122"/>
              </a:rPr>
              <a:t>倍基础底面宽度</a:t>
            </a:r>
            <a:r>
              <a:rPr lang="zh-CN" altLang="zh-CN" sz="2400" dirty="0">
                <a:ea typeface="微软雅黑" pitchFamily="34" charset="-122"/>
              </a:rPr>
              <a:t>时，根据土的抗剪强度指标确定地基承载力特征值可按下式计算，并应满足变形要求：</a:t>
            </a:r>
          </a:p>
        </p:txBody>
      </p:sp>
      <p:graphicFrame>
        <p:nvGraphicFramePr>
          <p:cNvPr id="19" name="对象 18"/>
          <p:cNvGraphicFramePr>
            <a:graphicFrameLocks noChangeAspect="1"/>
          </p:cNvGraphicFramePr>
          <p:nvPr>
            <p:extLst>
              <p:ext uri="{D42A27DB-BD31-4B8C-83A1-F6EECF244321}">
                <p14:modId xmlns:p14="http://schemas.microsoft.com/office/powerpoint/2010/main" val="462455898"/>
              </p:ext>
            </p:extLst>
          </p:nvPr>
        </p:nvGraphicFramePr>
        <p:xfrm>
          <a:off x="1547664" y="4365898"/>
          <a:ext cx="6216188" cy="828825"/>
        </p:xfrm>
        <a:graphic>
          <a:graphicData uri="http://schemas.openxmlformats.org/presentationml/2006/ole">
            <mc:AlternateContent xmlns:mc="http://schemas.openxmlformats.org/markup-compatibility/2006">
              <mc:Choice xmlns:v="urn:schemas-microsoft-com:vml" Requires="v">
                <p:oleObj spid="_x0000_s6165" name="Equation" r:id="rId3" imgW="1714320" imgH="228600" progId="Equation.DSMT4">
                  <p:embed/>
                </p:oleObj>
              </mc:Choice>
              <mc:Fallback>
                <p:oleObj name="Equation" r:id="rId3" imgW="1714320" imgH="228600" progId="Equation.DSMT4">
                  <p:embed/>
                  <p:pic>
                    <p:nvPicPr>
                      <p:cNvPr id="0" name=""/>
                      <p:cNvPicPr>
                        <a:picLocks noChangeAspect="1" noChangeArrowheads="1"/>
                      </p:cNvPicPr>
                      <p:nvPr/>
                    </p:nvPicPr>
                    <p:blipFill>
                      <a:blip r:embed="rId4"/>
                      <a:srcRect/>
                      <a:stretch>
                        <a:fillRect/>
                      </a:stretch>
                    </p:blipFill>
                    <p:spPr bwMode="auto">
                      <a:xfrm>
                        <a:off x="1547664" y="4365898"/>
                        <a:ext cx="6216188" cy="828825"/>
                      </a:xfrm>
                      <a:prstGeom prst="rect">
                        <a:avLst/>
                      </a:prstGeom>
                      <a:noFill/>
                    </p:spPr>
                  </p:pic>
                </p:oleObj>
              </mc:Fallback>
            </mc:AlternateContent>
          </a:graphicData>
        </a:graphic>
      </p:graphicFrame>
      <p:grpSp>
        <p:nvGrpSpPr>
          <p:cNvPr id="20" name="组合 19"/>
          <p:cNvGrpSpPr/>
          <p:nvPr/>
        </p:nvGrpSpPr>
        <p:grpSpPr>
          <a:xfrm>
            <a:off x="185955" y="479575"/>
            <a:ext cx="5616624" cy="798585"/>
            <a:chOff x="185955" y="479575"/>
            <a:chExt cx="5616624" cy="798585"/>
          </a:xfrm>
        </p:grpSpPr>
        <p:grpSp>
          <p:nvGrpSpPr>
            <p:cNvPr id="21" name="组合 20"/>
            <p:cNvGrpSpPr/>
            <p:nvPr/>
          </p:nvGrpSpPr>
          <p:grpSpPr>
            <a:xfrm>
              <a:off x="185955" y="479575"/>
              <a:ext cx="5616624" cy="798585"/>
              <a:chOff x="1115616" y="2060848"/>
              <a:chExt cx="6264696" cy="920468"/>
            </a:xfrm>
          </p:grpSpPr>
          <p:sp>
            <p:nvSpPr>
              <p:cNvPr id="23"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4" name="Group 34"/>
              <p:cNvGrpSpPr>
                <a:grpSpLocks/>
              </p:cNvGrpSpPr>
              <p:nvPr/>
            </p:nvGrpSpPr>
            <p:grpSpPr bwMode="auto">
              <a:xfrm>
                <a:off x="1115616" y="2098780"/>
                <a:ext cx="847963" cy="882536"/>
                <a:chOff x="2959" y="1571"/>
                <a:chExt cx="454" cy="482"/>
              </a:xfrm>
            </p:grpSpPr>
            <p:grpSp>
              <p:nvGrpSpPr>
                <p:cNvPr id="25" name="Group 35"/>
                <p:cNvGrpSpPr>
                  <a:grpSpLocks/>
                </p:cNvGrpSpPr>
                <p:nvPr/>
              </p:nvGrpSpPr>
              <p:grpSpPr bwMode="auto">
                <a:xfrm>
                  <a:off x="2959" y="1571"/>
                  <a:ext cx="454" cy="482"/>
                  <a:chOff x="192" y="1917"/>
                  <a:chExt cx="1042" cy="1102"/>
                </a:xfrm>
              </p:grpSpPr>
              <p:pic>
                <p:nvPicPr>
                  <p:cNvPr id="27" name="Picture 36" descr="light_shadow"/>
                  <p:cNvPicPr>
                    <a:picLocks noChangeAspect="1" noChangeArrowheads="1"/>
                  </p:cNvPicPr>
                  <p:nvPr/>
                </p:nvPicPr>
                <p:blipFill>
                  <a:blip r:embed="rId5"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7" descr="circuler_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29"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6" name="Picture 39" descr="Picture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2"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Tree>
    <p:extLst>
      <p:ext uri="{BB962C8B-B14F-4D97-AF65-F5344CB8AC3E}">
        <p14:creationId xmlns:p14="http://schemas.microsoft.com/office/powerpoint/2010/main" val="306147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17</a:t>
            </a:fld>
            <a:endParaRPr lang="zh-CN" altLang="en-US" dirty="0">
              <a:solidFill>
                <a:srgbClr val="A61A40"/>
              </a:solidFill>
            </a:endParaRPr>
          </a:p>
        </p:txBody>
      </p:sp>
      <p:sp>
        <p:nvSpPr>
          <p:cNvPr id="16" name="TextBox 8"/>
          <p:cNvSpPr txBox="1"/>
          <p:nvPr/>
        </p:nvSpPr>
        <p:spPr>
          <a:xfrm>
            <a:off x="755576" y="1610622"/>
            <a:ext cx="3456384" cy="523220"/>
          </a:xfrm>
          <a:prstGeom prst="rect">
            <a:avLst/>
          </a:prstGeom>
          <a:noFill/>
        </p:spPr>
        <p:txBody>
          <a:bodyPr wrap="square" rtlCol="0">
            <a:spAutoFit/>
          </a:bodyPr>
          <a:lstStyle/>
          <a:p>
            <a:r>
              <a:rPr lang="en-US" altLang="zh-CN" sz="2800" b="1" dirty="0">
                <a:solidFill>
                  <a:srgbClr val="FFFF00"/>
                </a:solidFill>
                <a:latin typeface="+mj-lt"/>
                <a:ea typeface="微软雅黑" pitchFamily="34" charset="-122"/>
                <a:cs typeface="+mj-cs"/>
              </a:rPr>
              <a:t>3.4  </a:t>
            </a:r>
            <a:r>
              <a:rPr lang="zh-CN" altLang="en-US" sz="2800" b="1" dirty="0">
                <a:solidFill>
                  <a:srgbClr val="FFFF00"/>
                </a:solidFill>
                <a:latin typeface="+mj-lt"/>
                <a:ea typeface="微软雅黑" pitchFamily="34" charset="-122"/>
                <a:cs typeface="+mj-cs"/>
              </a:rPr>
              <a:t>计算过程不足</a:t>
            </a:r>
          </a:p>
        </p:txBody>
      </p:sp>
      <p:sp>
        <p:nvSpPr>
          <p:cNvPr id="17" name="TextBox 6"/>
          <p:cNvSpPr txBox="1"/>
          <p:nvPr/>
        </p:nvSpPr>
        <p:spPr>
          <a:xfrm>
            <a:off x="571183" y="2277666"/>
            <a:ext cx="8033265" cy="3416320"/>
          </a:xfrm>
          <a:prstGeom prst="rect">
            <a:avLst/>
          </a:prstGeom>
          <a:noFill/>
        </p:spPr>
        <p:txBody>
          <a:bodyPr wrap="square" rtlCol="0">
            <a:spAutoFit/>
          </a:bodyPr>
          <a:lstStyle/>
          <a:p>
            <a:pPr>
              <a:lnSpc>
                <a:spcPct val="150000"/>
              </a:lnSpc>
            </a:pPr>
            <a:r>
              <a:rPr lang="en-US" altLang="zh-CN" sz="2400" dirty="0">
                <a:ea typeface="微软雅黑" pitchFamily="34" charset="-122"/>
              </a:rPr>
              <a:t>1</a:t>
            </a:r>
            <a:r>
              <a:rPr lang="zh-CN" altLang="zh-CN" sz="2400" dirty="0">
                <a:ea typeface="微软雅黑" pitchFamily="34" charset="-122"/>
              </a:rPr>
              <a:t>、假定了土的</a:t>
            </a:r>
            <a:r>
              <a:rPr lang="zh-CN" altLang="zh-CN" sz="2400" b="1" dirty="0">
                <a:solidFill>
                  <a:schemeClr val="bg1"/>
                </a:solidFill>
                <a:ea typeface="微软雅黑" pitchFamily="34" charset="-122"/>
              </a:rPr>
              <a:t>自重应力在各个方向上相等</a:t>
            </a:r>
            <a:r>
              <a:rPr lang="zh-CN" altLang="zh-CN" sz="2400" dirty="0">
                <a:ea typeface="微软雅黑" pitchFamily="34" charset="-122"/>
              </a:rPr>
              <a:t>，实际上是不相等的</a:t>
            </a:r>
            <a:r>
              <a:rPr lang="zh-CN" altLang="zh-CN" sz="2400" dirty="0" smtClean="0">
                <a:ea typeface="微软雅黑" pitchFamily="34" charset="-122"/>
              </a:rPr>
              <a:t>；</a:t>
            </a:r>
            <a:endParaRPr lang="zh-CN" altLang="zh-CN" sz="2400" dirty="0">
              <a:ea typeface="微软雅黑" pitchFamily="34" charset="-122"/>
            </a:endParaRPr>
          </a:p>
          <a:p>
            <a:pPr>
              <a:lnSpc>
                <a:spcPct val="150000"/>
              </a:lnSpc>
            </a:pPr>
            <a:r>
              <a:rPr lang="en-US" altLang="zh-CN" sz="2400" dirty="0">
                <a:ea typeface="微软雅黑" pitchFamily="34" charset="-122"/>
              </a:rPr>
              <a:t>2</a:t>
            </a:r>
            <a:r>
              <a:rPr lang="zh-CN" altLang="zh-CN" sz="2400" dirty="0">
                <a:ea typeface="微软雅黑" pitchFamily="34" charset="-122"/>
              </a:rPr>
              <a:t>、公式是在</a:t>
            </a:r>
            <a:r>
              <a:rPr lang="zh-CN" altLang="zh-CN" sz="2400" b="1" dirty="0">
                <a:solidFill>
                  <a:schemeClr val="bg1"/>
                </a:solidFill>
                <a:ea typeface="微软雅黑" pitchFamily="34" charset="-122"/>
              </a:rPr>
              <a:t>均布条形荷载情况</a:t>
            </a:r>
            <a:r>
              <a:rPr lang="zh-CN" altLang="zh-CN" sz="2400" dirty="0">
                <a:ea typeface="微软雅黑" pitchFamily="34" charset="-122"/>
              </a:rPr>
              <a:t>下推导的，通常对矩形和圆形的基础也采用这个公式</a:t>
            </a:r>
            <a:r>
              <a:rPr lang="zh-CN" altLang="zh-CN" sz="2400" dirty="0" smtClean="0">
                <a:ea typeface="微软雅黑" pitchFamily="34" charset="-122"/>
              </a:rPr>
              <a:t>计算</a:t>
            </a:r>
            <a:r>
              <a:rPr lang="zh-CN" altLang="zh-CN" sz="2400" dirty="0">
                <a:ea typeface="微软雅黑" pitchFamily="34" charset="-122"/>
              </a:rPr>
              <a:t>，结果偏于安全</a:t>
            </a:r>
            <a:r>
              <a:rPr lang="zh-CN" altLang="zh-CN" sz="2400" dirty="0" smtClean="0">
                <a:ea typeface="微软雅黑" pitchFamily="34" charset="-122"/>
              </a:rPr>
              <a:t>；</a:t>
            </a:r>
            <a:endParaRPr lang="zh-CN" altLang="zh-CN" sz="2400" dirty="0">
              <a:ea typeface="微软雅黑" pitchFamily="34" charset="-122"/>
            </a:endParaRPr>
          </a:p>
          <a:p>
            <a:pPr>
              <a:lnSpc>
                <a:spcPct val="150000"/>
              </a:lnSpc>
            </a:pPr>
            <a:r>
              <a:rPr lang="en-US" altLang="zh-CN" sz="2400" dirty="0">
                <a:ea typeface="微软雅黑" pitchFamily="34" charset="-122"/>
              </a:rPr>
              <a:t>3</a:t>
            </a:r>
            <a:r>
              <a:rPr lang="zh-CN" altLang="zh-CN" sz="2400" dirty="0">
                <a:ea typeface="微软雅黑" pitchFamily="34" charset="-122"/>
              </a:rPr>
              <a:t>、在临塑荷载的推导中采用了</a:t>
            </a:r>
            <a:r>
              <a:rPr lang="zh-CN" altLang="zh-CN" sz="2400" b="1" dirty="0">
                <a:solidFill>
                  <a:schemeClr val="bg1"/>
                </a:solidFill>
                <a:ea typeface="微软雅黑" pitchFamily="34" charset="-122"/>
              </a:rPr>
              <a:t>弹性力学的解答</a:t>
            </a:r>
            <a:r>
              <a:rPr lang="zh-CN" altLang="zh-CN" sz="2400" dirty="0">
                <a:ea typeface="微软雅黑" pitchFamily="34" charset="-122"/>
              </a:rPr>
              <a:t>，在塑性变形阶段是严格的；</a:t>
            </a:r>
          </a:p>
        </p:txBody>
      </p:sp>
      <p:grpSp>
        <p:nvGrpSpPr>
          <p:cNvPr id="18" name="组合 17"/>
          <p:cNvGrpSpPr/>
          <p:nvPr/>
        </p:nvGrpSpPr>
        <p:grpSpPr>
          <a:xfrm>
            <a:off x="185955" y="479575"/>
            <a:ext cx="5616624" cy="798585"/>
            <a:chOff x="185955" y="479575"/>
            <a:chExt cx="5616624" cy="798585"/>
          </a:xfrm>
        </p:grpSpPr>
        <p:grpSp>
          <p:nvGrpSpPr>
            <p:cNvPr id="19" name="组合 18"/>
            <p:cNvGrpSpPr/>
            <p:nvPr/>
          </p:nvGrpSpPr>
          <p:grpSpPr>
            <a:xfrm>
              <a:off x="185955" y="479575"/>
              <a:ext cx="5616624" cy="798585"/>
              <a:chOff x="1115616" y="2060848"/>
              <a:chExt cx="6264696" cy="920468"/>
            </a:xfrm>
          </p:grpSpPr>
          <p:sp>
            <p:nvSpPr>
              <p:cNvPr id="21"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2" name="Group 34"/>
              <p:cNvGrpSpPr>
                <a:grpSpLocks/>
              </p:cNvGrpSpPr>
              <p:nvPr/>
            </p:nvGrpSpPr>
            <p:grpSpPr bwMode="auto">
              <a:xfrm>
                <a:off x="1115616" y="2098780"/>
                <a:ext cx="847963" cy="882536"/>
                <a:chOff x="2959" y="1571"/>
                <a:chExt cx="454" cy="482"/>
              </a:xfrm>
            </p:grpSpPr>
            <p:grpSp>
              <p:nvGrpSpPr>
                <p:cNvPr id="23" name="Group 35"/>
                <p:cNvGrpSpPr>
                  <a:grpSpLocks/>
                </p:cNvGrpSpPr>
                <p:nvPr/>
              </p:nvGrpSpPr>
              <p:grpSpPr bwMode="auto">
                <a:xfrm>
                  <a:off x="2959" y="1571"/>
                  <a:ext cx="454" cy="482"/>
                  <a:chOff x="192" y="1917"/>
                  <a:chExt cx="1042" cy="1102"/>
                </a:xfrm>
              </p:grpSpPr>
              <p:pic>
                <p:nvPicPr>
                  <p:cNvPr id="25"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27"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4"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0"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Tree>
    <p:extLst>
      <p:ext uri="{BB962C8B-B14F-4D97-AF65-F5344CB8AC3E}">
        <p14:creationId xmlns:p14="http://schemas.microsoft.com/office/powerpoint/2010/main" val="10371647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18</a:t>
            </a:fld>
            <a:endParaRPr lang="zh-CN" altLang="en-US" dirty="0">
              <a:solidFill>
                <a:srgbClr val="A61A40"/>
              </a:solidFill>
            </a:endParaRPr>
          </a:p>
        </p:txBody>
      </p:sp>
      <p:grpSp>
        <p:nvGrpSpPr>
          <p:cNvPr id="6" name="组合 5"/>
          <p:cNvGrpSpPr/>
          <p:nvPr/>
        </p:nvGrpSpPr>
        <p:grpSpPr>
          <a:xfrm>
            <a:off x="185955" y="479575"/>
            <a:ext cx="5616624" cy="798585"/>
            <a:chOff x="185955" y="479575"/>
            <a:chExt cx="5616624" cy="798585"/>
          </a:xfrm>
        </p:grpSpPr>
        <p:grpSp>
          <p:nvGrpSpPr>
            <p:cNvPr id="7" name="组合 6"/>
            <p:cNvGrpSpPr/>
            <p:nvPr/>
          </p:nvGrpSpPr>
          <p:grpSpPr>
            <a:xfrm>
              <a:off x="185955" y="479575"/>
              <a:ext cx="5616624" cy="798585"/>
              <a:chOff x="1115616" y="2060848"/>
              <a:chExt cx="6264696" cy="920468"/>
            </a:xfrm>
          </p:grpSpPr>
          <p:sp>
            <p:nvSpPr>
              <p:cNvPr id="9"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10" name="Group 34"/>
              <p:cNvGrpSpPr>
                <a:grpSpLocks/>
              </p:cNvGrpSpPr>
              <p:nvPr/>
            </p:nvGrpSpPr>
            <p:grpSpPr bwMode="auto">
              <a:xfrm>
                <a:off x="1115616" y="2098780"/>
                <a:ext cx="847963" cy="882536"/>
                <a:chOff x="2959" y="1571"/>
                <a:chExt cx="454" cy="482"/>
              </a:xfrm>
            </p:grpSpPr>
            <p:grpSp>
              <p:nvGrpSpPr>
                <p:cNvPr id="11" name="Group 35"/>
                <p:cNvGrpSpPr>
                  <a:grpSpLocks/>
                </p:cNvGrpSpPr>
                <p:nvPr/>
              </p:nvGrpSpPr>
              <p:grpSpPr bwMode="auto">
                <a:xfrm>
                  <a:off x="2959" y="1571"/>
                  <a:ext cx="454" cy="482"/>
                  <a:chOff x="192" y="1917"/>
                  <a:chExt cx="1042" cy="1102"/>
                </a:xfrm>
              </p:grpSpPr>
              <p:pic>
                <p:nvPicPr>
                  <p:cNvPr id="13"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15"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2"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8"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smtClean="0">
                  <a:ea typeface="微软雅黑" pitchFamily="34" charset="-122"/>
                </a:rPr>
                <a:t>理论公式计算承载力</a:t>
              </a:r>
              <a:endParaRPr lang="zh-CN" altLang="en-US" sz="3600" b="1" dirty="0">
                <a:ea typeface="微软雅黑" pitchFamily="34" charset="-122"/>
              </a:endParaRPr>
            </a:p>
          </p:txBody>
        </p:sp>
      </p:grpSp>
      <p:sp>
        <p:nvSpPr>
          <p:cNvPr id="16" name="TextBox 8"/>
          <p:cNvSpPr txBox="1"/>
          <p:nvPr/>
        </p:nvSpPr>
        <p:spPr>
          <a:xfrm>
            <a:off x="862470" y="1601756"/>
            <a:ext cx="3456384" cy="523220"/>
          </a:xfrm>
          <a:prstGeom prst="rect">
            <a:avLst/>
          </a:prstGeom>
          <a:noFill/>
        </p:spPr>
        <p:txBody>
          <a:bodyPr wrap="square" rtlCol="0">
            <a:spAutoFit/>
          </a:bodyPr>
          <a:lstStyle/>
          <a:p>
            <a:r>
              <a:rPr lang="en-US" altLang="zh-CN" sz="2800" b="1" dirty="0">
                <a:solidFill>
                  <a:srgbClr val="FFFF00"/>
                </a:solidFill>
                <a:latin typeface="+mj-lt"/>
                <a:ea typeface="微软雅黑" pitchFamily="34" charset="-122"/>
                <a:cs typeface="+mj-cs"/>
              </a:rPr>
              <a:t>3.5  </a:t>
            </a:r>
            <a:r>
              <a:rPr lang="zh-CN" altLang="en-US" sz="2800" b="1" dirty="0">
                <a:solidFill>
                  <a:srgbClr val="FFFF00"/>
                </a:solidFill>
                <a:latin typeface="+mj-lt"/>
                <a:ea typeface="微软雅黑" pitchFamily="34" charset="-122"/>
                <a:cs typeface="+mj-cs"/>
              </a:rPr>
              <a:t>安全问题</a:t>
            </a:r>
          </a:p>
        </p:txBody>
      </p:sp>
      <p:sp>
        <p:nvSpPr>
          <p:cNvPr id="17" name="TextBox 6"/>
          <p:cNvSpPr txBox="1"/>
          <p:nvPr/>
        </p:nvSpPr>
        <p:spPr>
          <a:xfrm>
            <a:off x="576863" y="2124976"/>
            <a:ext cx="7787262" cy="3970318"/>
          </a:xfrm>
          <a:prstGeom prst="rect">
            <a:avLst/>
          </a:prstGeom>
          <a:noFill/>
        </p:spPr>
        <p:txBody>
          <a:bodyPr wrap="square" rtlCol="0">
            <a:spAutoFit/>
          </a:bodyPr>
          <a:lstStyle/>
          <a:p>
            <a:pPr>
              <a:lnSpc>
                <a:spcPct val="150000"/>
              </a:lnSpc>
            </a:pPr>
            <a:r>
              <a:rPr lang="zh-CN" altLang="zh-CN" sz="2400" dirty="0">
                <a:ea typeface="微软雅黑" pitchFamily="34" charset="-122"/>
              </a:rPr>
              <a:t>（</a:t>
            </a:r>
            <a:r>
              <a:rPr lang="en-US" altLang="zh-CN" sz="2400" dirty="0">
                <a:ea typeface="微软雅黑" pitchFamily="34" charset="-122"/>
              </a:rPr>
              <a:t>1</a:t>
            </a:r>
            <a:r>
              <a:rPr lang="zh-CN" altLang="zh-CN" sz="2400" dirty="0" smtClean="0">
                <a:ea typeface="微软雅黑" pitchFamily="34" charset="-122"/>
              </a:rPr>
              <a:t>）</a:t>
            </a:r>
            <a:r>
              <a:rPr lang="zh-CN" altLang="zh-CN" sz="2400" u="sng" dirty="0" smtClean="0">
                <a:effectLst>
                  <a:outerShdw blurRad="38100" dist="38100" dir="2700000" algn="tl">
                    <a:srgbClr val="000000">
                      <a:alpha val="43137"/>
                    </a:srgbClr>
                  </a:outerShdw>
                </a:effectLst>
                <a:ea typeface="微软雅黑" pitchFamily="34" charset="-122"/>
              </a:rPr>
              <a:t>水</a:t>
            </a:r>
            <a:r>
              <a:rPr lang="zh-CN" altLang="zh-CN" sz="2400" u="sng" dirty="0">
                <a:effectLst>
                  <a:outerShdw blurRad="38100" dist="38100" dir="2700000" algn="tl">
                    <a:srgbClr val="000000">
                      <a:alpha val="43137"/>
                    </a:srgbClr>
                  </a:outerShdw>
                </a:effectLst>
                <a:ea typeface="微软雅黑" pitchFamily="34" charset="-122"/>
              </a:rPr>
              <a:t>的浮力</a:t>
            </a:r>
            <a:r>
              <a:rPr lang="zh-CN" altLang="zh-CN" sz="2400" u="sng" dirty="0" smtClean="0">
                <a:effectLst>
                  <a:outerShdw blurRad="38100" dist="38100" dir="2700000" algn="tl">
                    <a:srgbClr val="000000">
                      <a:alpha val="43137"/>
                    </a:srgbClr>
                  </a:outerShdw>
                </a:effectLst>
                <a:ea typeface="微软雅黑" pitchFamily="34" charset="-122"/>
              </a:rPr>
              <a:t>作用</a:t>
            </a:r>
            <a:r>
              <a:rPr lang="zh-CN" altLang="en-US" sz="2400" dirty="0" smtClean="0">
                <a:ea typeface="微软雅黑" pitchFamily="34" charset="-122"/>
              </a:rPr>
              <a:t>：</a:t>
            </a:r>
            <a:endParaRPr lang="en-US" altLang="zh-CN" sz="2400" dirty="0" smtClean="0">
              <a:ea typeface="微软雅黑" pitchFamily="34" charset="-122"/>
            </a:endParaRPr>
          </a:p>
          <a:p>
            <a:pPr marL="342900" indent="-342900">
              <a:lnSpc>
                <a:spcPct val="150000"/>
              </a:lnSpc>
              <a:buFont typeface="Arial" panose="020B0604020202020204" pitchFamily="34" charset="0"/>
              <a:buChar char="•"/>
            </a:pPr>
            <a:r>
              <a:rPr lang="zh-CN" altLang="zh-CN" sz="2400" dirty="0" smtClean="0">
                <a:latin typeface="微软雅黑" pitchFamily="34" charset="-122"/>
                <a:ea typeface="微软雅黑" pitchFamily="34" charset="-122"/>
              </a:rPr>
              <a:t>将</a:t>
            </a:r>
            <a:r>
              <a:rPr lang="zh-CN" altLang="zh-CN" sz="2400" dirty="0">
                <a:latin typeface="微软雅黑" pitchFamily="34" charset="-122"/>
                <a:ea typeface="微软雅黑" pitchFamily="34" charset="-122"/>
              </a:rPr>
              <a:t>使土的有效重量减小而降低土的</a:t>
            </a:r>
            <a:r>
              <a:rPr lang="zh-CN" altLang="zh-CN" sz="2400" dirty="0" smtClean="0">
                <a:latin typeface="微软雅黑" pitchFamily="34" charset="-122"/>
                <a:ea typeface="微软雅黑" pitchFamily="34" charset="-122"/>
              </a:rPr>
              <a:t>承载能力</a:t>
            </a:r>
            <a:r>
              <a:rPr lang="zh-CN" altLang="en-US" sz="2400" dirty="0" smtClean="0">
                <a:latin typeface="微软雅黑" pitchFamily="34" charset="-122"/>
                <a:ea typeface="微软雅黑" pitchFamily="34" charset="-122"/>
              </a:rPr>
              <a:t>。</a:t>
            </a:r>
            <a:endParaRPr lang="en-US" altLang="zh-CN" sz="2400" dirty="0" smtClean="0">
              <a:ea typeface="微软雅黑" pitchFamily="34" charset="-122"/>
            </a:endParaRPr>
          </a:p>
          <a:p>
            <a:pPr>
              <a:lnSpc>
                <a:spcPct val="150000"/>
              </a:lnSpc>
            </a:pPr>
            <a:r>
              <a:rPr lang="zh-CN" altLang="en-US" sz="2400" dirty="0" smtClean="0">
                <a:solidFill>
                  <a:schemeClr val="bg1"/>
                </a:solidFill>
                <a:latin typeface="楷体" panose="02010609060101010101" pitchFamily="49" charset="-122"/>
                <a:ea typeface="楷体" panose="02010609060101010101" pitchFamily="49" charset="-122"/>
              </a:rPr>
              <a:t>（</a:t>
            </a:r>
            <a:r>
              <a:rPr lang="zh-CN" altLang="zh-CN" sz="2400" dirty="0" smtClean="0">
                <a:solidFill>
                  <a:schemeClr val="bg1"/>
                </a:solidFill>
                <a:latin typeface="楷体" panose="02010609060101010101" pitchFamily="49" charset="-122"/>
                <a:ea typeface="楷体" panose="02010609060101010101" pitchFamily="49" charset="-122"/>
              </a:rPr>
              <a:t>当</a:t>
            </a:r>
            <a:r>
              <a:rPr lang="zh-CN" altLang="zh-CN" sz="2400" dirty="0">
                <a:solidFill>
                  <a:schemeClr val="bg1"/>
                </a:solidFill>
                <a:latin typeface="楷体" panose="02010609060101010101" pitchFamily="49" charset="-122"/>
                <a:ea typeface="楷体" panose="02010609060101010101" pitchFamily="49" charset="-122"/>
              </a:rPr>
              <a:t>土在水下时，应采用浮重度，而一般土的浮重度仅为天然湿重度的</a:t>
            </a:r>
            <a:r>
              <a:rPr lang="en-US" altLang="zh-CN" sz="2400" dirty="0">
                <a:solidFill>
                  <a:schemeClr val="bg1"/>
                </a:solidFill>
                <a:latin typeface="楷体" panose="02010609060101010101" pitchFamily="49" charset="-122"/>
                <a:ea typeface="楷体" panose="02010609060101010101" pitchFamily="49" charset="-122"/>
              </a:rPr>
              <a:t>0.5-0.7</a:t>
            </a:r>
            <a:r>
              <a:rPr lang="zh-CN" altLang="zh-CN" sz="2400" dirty="0" smtClean="0">
                <a:solidFill>
                  <a:schemeClr val="bg1"/>
                </a:solidFill>
                <a:latin typeface="楷体" panose="02010609060101010101" pitchFamily="49" charset="-122"/>
                <a:ea typeface="楷体" panose="02010609060101010101" pitchFamily="49" charset="-122"/>
              </a:rPr>
              <a:t>倍</a:t>
            </a:r>
            <a:r>
              <a:rPr lang="zh-CN" altLang="en-US" sz="2400" dirty="0" smtClean="0">
                <a:solidFill>
                  <a:schemeClr val="bg1"/>
                </a:solidFill>
                <a:latin typeface="楷体" panose="02010609060101010101" pitchFamily="49" charset="-122"/>
                <a:ea typeface="楷体" panose="02010609060101010101" pitchFamily="49" charset="-122"/>
              </a:rPr>
              <a:t>。）</a:t>
            </a:r>
            <a:endParaRPr lang="en-US" altLang="zh-CN" sz="2400" dirty="0" smtClean="0">
              <a:solidFill>
                <a:schemeClr val="bg1"/>
              </a:solidFill>
              <a:ea typeface="微软雅黑" pitchFamily="34" charset="-122"/>
            </a:endParaRPr>
          </a:p>
          <a:p>
            <a:pPr>
              <a:lnSpc>
                <a:spcPct val="150000"/>
              </a:lnSpc>
            </a:pPr>
            <a:r>
              <a:rPr lang="zh-CN" altLang="zh-CN" sz="2400" dirty="0" smtClean="0">
                <a:ea typeface="微软雅黑" pitchFamily="34" charset="-122"/>
              </a:rPr>
              <a:t>（</a:t>
            </a:r>
            <a:r>
              <a:rPr lang="en-US" altLang="zh-CN" sz="2400" dirty="0">
                <a:ea typeface="微软雅黑" pitchFamily="34" charset="-122"/>
              </a:rPr>
              <a:t>2</a:t>
            </a:r>
            <a:r>
              <a:rPr lang="zh-CN" altLang="zh-CN" sz="2400" dirty="0" smtClean="0">
                <a:ea typeface="微软雅黑" pitchFamily="34" charset="-122"/>
              </a:rPr>
              <a:t>）</a:t>
            </a:r>
            <a:r>
              <a:rPr lang="zh-CN" altLang="zh-CN" sz="2400" u="sng" dirty="0" smtClean="0">
                <a:effectLst>
                  <a:outerShdw blurRad="38100" dist="38100" dir="2700000" algn="tl">
                    <a:srgbClr val="000000">
                      <a:alpha val="43137"/>
                    </a:srgbClr>
                  </a:outerShdw>
                </a:effectLst>
                <a:ea typeface="微软雅黑" pitchFamily="34" charset="-122"/>
              </a:rPr>
              <a:t>土</a:t>
            </a:r>
            <a:r>
              <a:rPr lang="zh-CN" altLang="zh-CN" sz="2400" u="sng" dirty="0">
                <a:effectLst>
                  <a:outerShdw blurRad="38100" dist="38100" dir="2700000" algn="tl">
                    <a:srgbClr val="000000">
                      <a:alpha val="43137"/>
                    </a:srgbClr>
                  </a:outerShdw>
                </a:effectLst>
                <a:ea typeface="微软雅黑" pitchFamily="34" charset="-122"/>
              </a:rPr>
              <a:t>重引起的</a:t>
            </a:r>
            <a:r>
              <a:rPr lang="zh-CN" altLang="zh-CN" sz="2400" u="sng" dirty="0" smtClean="0">
                <a:effectLst>
                  <a:outerShdw blurRad="38100" dist="38100" dir="2700000" algn="tl">
                    <a:srgbClr val="000000">
                      <a:alpha val="43137"/>
                    </a:srgbClr>
                  </a:outerShdw>
                </a:effectLst>
                <a:ea typeface="微软雅黑" pitchFamily="34" charset="-122"/>
              </a:rPr>
              <a:t>承载力</a:t>
            </a:r>
            <a:r>
              <a:rPr lang="zh-CN" altLang="en-US" sz="2400" dirty="0" smtClean="0">
                <a:ea typeface="微软雅黑" pitchFamily="34" charset="-122"/>
              </a:rPr>
              <a:t>：决定因素</a:t>
            </a:r>
            <a:endParaRPr lang="en-US" altLang="zh-CN" sz="2400" dirty="0" smtClean="0">
              <a:ea typeface="微软雅黑" pitchFamily="34" charset="-122"/>
            </a:endParaRPr>
          </a:p>
          <a:p>
            <a:pPr marL="342900" indent="-342900">
              <a:lnSpc>
                <a:spcPct val="150000"/>
              </a:lnSpc>
              <a:buFont typeface="Arial" panose="020B0604020202020204" pitchFamily="34" charset="0"/>
              <a:buChar char="•"/>
            </a:pPr>
            <a:r>
              <a:rPr lang="zh-CN" altLang="zh-CN" sz="2400" dirty="0" smtClean="0">
                <a:latin typeface="楷体" panose="02010609060101010101" pitchFamily="49" charset="-122"/>
                <a:ea typeface="楷体" panose="02010609060101010101" pitchFamily="49" charset="-122"/>
              </a:rPr>
              <a:t>土</a:t>
            </a:r>
            <a:r>
              <a:rPr lang="zh-CN" altLang="zh-CN" sz="2400" dirty="0">
                <a:latin typeface="楷体" panose="02010609060101010101" pitchFamily="49" charset="-122"/>
                <a:ea typeface="楷体" panose="02010609060101010101" pitchFamily="49" charset="-122"/>
              </a:rPr>
              <a:t>的物理力学</a:t>
            </a:r>
            <a:r>
              <a:rPr lang="zh-CN" altLang="zh-CN" sz="2400" dirty="0" smtClean="0">
                <a:latin typeface="楷体" panose="02010609060101010101" pitchFamily="49" charset="-122"/>
                <a:ea typeface="楷体" panose="02010609060101010101" pitchFamily="49" charset="-122"/>
              </a:rPr>
              <a:t>性质</a:t>
            </a:r>
            <a:endParaRPr lang="en-US" altLang="zh-CN" sz="2400" dirty="0" smtClean="0">
              <a:latin typeface="楷体" panose="02010609060101010101" pitchFamily="49" charset="-122"/>
              <a:ea typeface="楷体" panose="02010609060101010101" pitchFamily="49" charset="-122"/>
            </a:endParaRPr>
          </a:p>
          <a:p>
            <a:pPr marL="342900" indent="-342900">
              <a:lnSpc>
                <a:spcPct val="150000"/>
              </a:lnSpc>
              <a:buFont typeface="Arial" panose="020B0604020202020204" pitchFamily="34" charset="0"/>
              <a:buChar char="•"/>
            </a:pPr>
            <a:r>
              <a:rPr lang="zh-CN" altLang="zh-CN" sz="2400" dirty="0" smtClean="0">
                <a:latin typeface="楷体" panose="02010609060101010101" pitchFamily="49" charset="-122"/>
                <a:ea typeface="楷体" panose="02010609060101010101" pitchFamily="49" charset="-122"/>
              </a:rPr>
              <a:t>基础的</a:t>
            </a:r>
            <a:r>
              <a:rPr lang="zh-CN" altLang="en-US" sz="2400" dirty="0" smtClean="0">
                <a:latin typeface="楷体" panose="02010609060101010101" pitchFamily="49" charset="-122"/>
                <a:ea typeface="楷体" panose="02010609060101010101" pitchFamily="49" charset="-122"/>
              </a:rPr>
              <a:t>大小：随基础增大而增加</a:t>
            </a:r>
            <a:endParaRPr lang="en-US" altLang="zh-CN" sz="2400"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937974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a:hlinkClick r:id="rId3" action="ppaction://hlinksldjump"/>
          </p:cNvPr>
          <p:cNvSpPr/>
          <p:nvPr/>
        </p:nvSpPr>
        <p:spPr>
          <a:xfrm>
            <a:off x="8100392" y="6118716"/>
            <a:ext cx="931470" cy="548807"/>
          </a:xfrm>
          <a:prstGeom prst="rect">
            <a:avLst/>
          </a:prstGeom>
          <a:solidFill>
            <a:srgbClr val="A61A4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home</a:t>
            </a:r>
            <a:endParaRPr lang="zh-CN" altLang="en-US" dirty="0">
              <a:ea typeface="微软雅黑" pitchFamily="34" charset="-122"/>
            </a:endParaRPr>
          </a:p>
        </p:txBody>
      </p:sp>
      <p:sp>
        <p:nvSpPr>
          <p:cNvPr id="2" name="灯片编号占位符 1"/>
          <p:cNvSpPr>
            <a:spLocks noGrp="1"/>
          </p:cNvSpPr>
          <p:nvPr>
            <p:ph type="sldNum" sz="quarter" idx="12"/>
          </p:nvPr>
        </p:nvSpPr>
        <p:spPr/>
        <p:txBody>
          <a:bodyPr/>
          <a:lstStyle/>
          <a:p>
            <a:fld id="{833901E6-BE0D-4D4C-BD9F-F1A617F9590B}" type="slidenum">
              <a:rPr lang="zh-CN" altLang="en-US" smtClean="0">
                <a:solidFill>
                  <a:schemeClr val="bg1"/>
                </a:solidFill>
              </a:rPr>
              <a:t>19</a:t>
            </a:fld>
            <a:endParaRPr lang="zh-CN" altLang="en-US" dirty="0">
              <a:solidFill>
                <a:schemeClr val="bg1"/>
              </a:solidFill>
            </a:endParaRPr>
          </a:p>
        </p:txBody>
      </p:sp>
      <p:grpSp>
        <p:nvGrpSpPr>
          <p:cNvPr id="6" name="组合 5"/>
          <p:cNvGrpSpPr/>
          <p:nvPr/>
        </p:nvGrpSpPr>
        <p:grpSpPr>
          <a:xfrm>
            <a:off x="7057475" y="3085023"/>
            <a:ext cx="1593294" cy="2112724"/>
            <a:chOff x="6745862" y="674238"/>
            <a:chExt cx="1593294" cy="2112724"/>
          </a:xfrm>
        </p:grpSpPr>
        <p:grpSp>
          <p:nvGrpSpPr>
            <p:cNvPr id="14" name="组合 13"/>
            <p:cNvGrpSpPr/>
            <p:nvPr/>
          </p:nvGrpSpPr>
          <p:grpSpPr>
            <a:xfrm>
              <a:off x="6745862" y="674238"/>
              <a:ext cx="1593294" cy="2112724"/>
              <a:chOff x="4572000" y="3116364"/>
              <a:chExt cx="1593294" cy="1584176"/>
            </a:xfrm>
          </p:grpSpPr>
          <p:sp>
            <p:nvSpPr>
              <p:cNvPr id="15" name="矩形 14">
                <a:hlinkClick r:id="rId4" action="ppaction://hlinksldjump"/>
              </p:cNvPr>
              <p:cNvSpPr/>
              <p:nvPr/>
            </p:nvSpPr>
            <p:spPr>
              <a:xfrm>
                <a:off x="4572000" y="3116364"/>
                <a:ext cx="1593294" cy="1584176"/>
              </a:xfrm>
              <a:prstGeom prst="rect">
                <a:avLst/>
              </a:prstGeom>
              <a:gradFill flip="none" rotWithShape="1">
                <a:gsLst>
                  <a:gs pos="0">
                    <a:srgbClr val="2276EA"/>
                  </a:gs>
                  <a:gs pos="100000">
                    <a:srgbClr val="2C90F4">
                      <a:alpha val="84706"/>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6" name="Picture 10" descr="C:\Users\Nir\Desktop\未标题-1.png">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27961" y="3251612"/>
                <a:ext cx="795338" cy="841375"/>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extBox 28"/>
            <p:cNvSpPr txBox="1"/>
            <p:nvPr/>
          </p:nvSpPr>
          <p:spPr>
            <a:xfrm>
              <a:off x="7697161" y="1415656"/>
              <a:ext cx="604653" cy="523220"/>
            </a:xfrm>
            <a:prstGeom prst="rect">
              <a:avLst/>
            </a:prstGeom>
            <a:noFill/>
          </p:spPr>
          <p:txBody>
            <a:bodyPr wrap="none" rtlCol="0">
              <a:spAutoFit/>
            </a:bodyPr>
            <a:lstStyle/>
            <a:p>
              <a:r>
                <a:rPr lang="en-US" altLang="zh-CN" sz="2800" dirty="0" smtClean="0">
                  <a:solidFill>
                    <a:schemeClr val="bg1"/>
                  </a:solidFill>
                  <a:latin typeface="微软雅黑" pitchFamily="34" charset="-122"/>
                  <a:ea typeface="微软雅黑" pitchFamily="34" charset="-122"/>
                </a:rPr>
                <a:t>04</a:t>
              </a:r>
            </a:p>
          </p:txBody>
        </p:sp>
        <p:sp>
          <p:nvSpPr>
            <p:cNvPr id="20" name="TextBox 39"/>
            <p:cNvSpPr txBox="1"/>
            <p:nvPr/>
          </p:nvSpPr>
          <p:spPr>
            <a:xfrm>
              <a:off x="6923318" y="2065445"/>
              <a:ext cx="1415838" cy="369332"/>
            </a:xfrm>
            <a:prstGeom prst="rect">
              <a:avLst/>
            </a:prstGeom>
            <a:noFill/>
          </p:spPr>
          <p:txBody>
            <a:bodyPr wrap="square" rtlCol="0">
              <a:spAutoFit/>
            </a:bodyPr>
            <a:lstStyle/>
            <a:p>
              <a:r>
                <a:rPr lang="zh-CN" altLang="en-US" dirty="0" smtClean="0">
                  <a:solidFill>
                    <a:schemeClr val="bg1"/>
                  </a:solidFill>
                  <a:ea typeface="微软雅黑" pitchFamily="34" charset="-122"/>
                </a:rPr>
                <a:t>方法三</a:t>
              </a:r>
              <a:endParaRPr lang="zh-CN" altLang="en-US" dirty="0">
                <a:solidFill>
                  <a:schemeClr val="bg1"/>
                </a:solidFill>
                <a:ea typeface="微软雅黑" pitchFamily="34" charset="-122"/>
              </a:endParaRPr>
            </a:p>
          </p:txBody>
        </p:sp>
      </p:grpSp>
      <p:grpSp>
        <p:nvGrpSpPr>
          <p:cNvPr id="4" name="组合 3"/>
          <p:cNvGrpSpPr/>
          <p:nvPr/>
        </p:nvGrpSpPr>
        <p:grpSpPr>
          <a:xfrm>
            <a:off x="786131" y="1989634"/>
            <a:ext cx="5616624" cy="798585"/>
            <a:chOff x="460247" y="455317"/>
            <a:chExt cx="5616624" cy="798585"/>
          </a:xfrm>
        </p:grpSpPr>
        <p:grpSp>
          <p:nvGrpSpPr>
            <p:cNvPr id="18" name="组合 17"/>
            <p:cNvGrpSpPr/>
            <p:nvPr/>
          </p:nvGrpSpPr>
          <p:grpSpPr>
            <a:xfrm>
              <a:off x="460247" y="455317"/>
              <a:ext cx="5616624" cy="798585"/>
              <a:chOff x="185955" y="479575"/>
              <a:chExt cx="5616624" cy="798585"/>
            </a:xfrm>
          </p:grpSpPr>
          <p:grpSp>
            <p:nvGrpSpPr>
              <p:cNvPr id="21" name="组合 20"/>
              <p:cNvGrpSpPr/>
              <p:nvPr/>
            </p:nvGrpSpPr>
            <p:grpSpPr>
              <a:xfrm>
                <a:off x="185955" y="479575"/>
                <a:ext cx="5616624" cy="798585"/>
                <a:chOff x="1115616" y="2060848"/>
                <a:chExt cx="6264696" cy="920468"/>
              </a:xfrm>
            </p:grpSpPr>
            <p:sp>
              <p:nvSpPr>
                <p:cNvPr id="23"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4" name="Group 34"/>
                <p:cNvGrpSpPr>
                  <a:grpSpLocks/>
                </p:cNvGrpSpPr>
                <p:nvPr/>
              </p:nvGrpSpPr>
              <p:grpSpPr bwMode="auto">
                <a:xfrm>
                  <a:off x="1115616" y="2098780"/>
                  <a:ext cx="847963" cy="882536"/>
                  <a:chOff x="2959" y="1571"/>
                  <a:chExt cx="454" cy="482"/>
                </a:xfrm>
              </p:grpSpPr>
              <p:grpSp>
                <p:nvGrpSpPr>
                  <p:cNvPr id="25" name="Group 35"/>
                  <p:cNvGrpSpPr>
                    <a:grpSpLocks/>
                  </p:cNvGrpSpPr>
                  <p:nvPr/>
                </p:nvGrpSpPr>
                <p:grpSpPr bwMode="auto">
                  <a:xfrm>
                    <a:off x="2959" y="1571"/>
                    <a:ext cx="454" cy="482"/>
                    <a:chOff x="192" y="1917"/>
                    <a:chExt cx="1042" cy="1102"/>
                  </a:xfrm>
                </p:grpSpPr>
                <p:pic>
                  <p:nvPicPr>
                    <p:cNvPr id="27" name="Picture 36" descr="light_shadow"/>
                    <p:cNvPicPr>
                      <a:picLocks noChangeAspect="1" noChangeArrowheads="1"/>
                    </p:cNvPicPr>
                    <p:nvPr/>
                  </p:nvPicPr>
                  <p:blipFill>
                    <a:blip r:embed="rId6"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7" descr="circuler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29"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6" name="Picture 39" descr="Picture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2"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3" name="矩形 2"/>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22646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20</a:t>
            </a:fld>
            <a:endParaRPr lang="zh-CN" altLang="en-US" dirty="0">
              <a:solidFill>
                <a:srgbClr val="A61A40"/>
              </a:solidFill>
            </a:endParaRPr>
          </a:p>
        </p:txBody>
      </p:sp>
      <p:grpSp>
        <p:nvGrpSpPr>
          <p:cNvPr id="6" name="组合 5"/>
          <p:cNvGrpSpPr/>
          <p:nvPr/>
        </p:nvGrpSpPr>
        <p:grpSpPr>
          <a:xfrm>
            <a:off x="416081" y="455317"/>
            <a:ext cx="5616624" cy="798585"/>
            <a:chOff x="460247" y="455317"/>
            <a:chExt cx="5616624" cy="798585"/>
          </a:xfrm>
        </p:grpSpPr>
        <p:grpSp>
          <p:nvGrpSpPr>
            <p:cNvPr id="7" name="组合 6"/>
            <p:cNvGrpSpPr/>
            <p:nvPr/>
          </p:nvGrpSpPr>
          <p:grpSpPr>
            <a:xfrm>
              <a:off x="460247" y="455317"/>
              <a:ext cx="5616624" cy="798585"/>
              <a:chOff x="185955" y="479575"/>
              <a:chExt cx="5616624" cy="798585"/>
            </a:xfrm>
          </p:grpSpPr>
          <p:grpSp>
            <p:nvGrpSpPr>
              <p:cNvPr id="9" name="组合 8"/>
              <p:cNvGrpSpPr/>
              <p:nvPr/>
            </p:nvGrpSpPr>
            <p:grpSpPr>
              <a:xfrm>
                <a:off x="185955" y="479575"/>
                <a:ext cx="5616624" cy="798585"/>
                <a:chOff x="1115616" y="2060848"/>
                <a:chExt cx="6264696" cy="920468"/>
              </a:xfrm>
            </p:grpSpPr>
            <p:sp>
              <p:nvSpPr>
                <p:cNvPr id="11"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12" name="Group 34"/>
                <p:cNvGrpSpPr>
                  <a:grpSpLocks/>
                </p:cNvGrpSpPr>
                <p:nvPr/>
              </p:nvGrpSpPr>
              <p:grpSpPr bwMode="auto">
                <a:xfrm>
                  <a:off x="1115616" y="2098780"/>
                  <a:ext cx="847963" cy="882536"/>
                  <a:chOff x="2959" y="1571"/>
                  <a:chExt cx="454" cy="482"/>
                </a:xfrm>
              </p:grpSpPr>
              <p:grpSp>
                <p:nvGrpSpPr>
                  <p:cNvPr id="13" name="Group 35"/>
                  <p:cNvGrpSpPr>
                    <a:grpSpLocks/>
                  </p:cNvGrpSpPr>
                  <p:nvPr/>
                </p:nvGrpSpPr>
                <p:grpSpPr bwMode="auto">
                  <a:xfrm>
                    <a:off x="2959" y="1571"/>
                    <a:ext cx="454" cy="482"/>
                    <a:chOff x="192" y="1917"/>
                    <a:chExt cx="1042" cy="1102"/>
                  </a:xfrm>
                </p:grpSpPr>
                <p:pic>
                  <p:nvPicPr>
                    <p:cNvPr id="15" name="Picture 36" descr="light_shadow"/>
                    <p:cNvPicPr>
                      <a:picLocks noChangeAspect="1" noChangeArrowheads="1"/>
                    </p:cNvPicPr>
                    <p:nvPr/>
                  </p:nvPicPr>
                  <p:blipFill>
                    <a:blip r:embed="rId2"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7" descr="circuler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17"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4" name="Picture 39" descr="Picture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8" name="矩形 7"/>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mc:AlternateContent xmlns:mc="http://schemas.openxmlformats.org/markup-compatibility/2006" xmlns:a14="http://schemas.microsoft.com/office/drawing/2010/main">
        <mc:Choice Requires="a14">
          <p:sp>
            <p:nvSpPr>
              <p:cNvPr id="18" name="内容占位符 4"/>
              <p:cNvSpPr txBox="1">
                <a:spLocks/>
              </p:cNvSpPr>
              <p:nvPr/>
            </p:nvSpPr>
            <p:spPr>
              <a:xfrm>
                <a:off x="488310" y="2212652"/>
                <a:ext cx="8404169" cy="3665414"/>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zh-CN" altLang="zh-CN" sz="2400" b="1" dirty="0" smtClean="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《建筑地基基础设计规范》</a:t>
                </a:r>
                <a:r>
                  <a:rPr lang="zh-CN" altLang="zh-CN" sz="2400" dirty="0" smtClean="0">
                    <a:solidFill>
                      <a:schemeClr val="tx1"/>
                    </a:solidFill>
                    <a:latin typeface="楷体" panose="02010609060101010101" pitchFamily="49" charset="-122"/>
                    <a:ea typeface="楷体" panose="02010609060101010101" pitchFamily="49" charset="-122"/>
                  </a:rPr>
                  <a:t>第</a:t>
                </a:r>
                <a:r>
                  <a:rPr lang="en-US" altLang="zh-CN" sz="2400" dirty="0">
                    <a:solidFill>
                      <a:schemeClr val="tx1"/>
                    </a:solidFill>
                    <a:latin typeface="楷体" panose="02010609060101010101" pitchFamily="49" charset="-122"/>
                    <a:ea typeface="楷体" panose="02010609060101010101" pitchFamily="49" charset="-122"/>
                  </a:rPr>
                  <a:t>5.2.4</a:t>
                </a:r>
                <a:r>
                  <a:rPr lang="zh-CN" altLang="zh-CN" sz="2400" dirty="0">
                    <a:solidFill>
                      <a:schemeClr val="tx1"/>
                    </a:solidFill>
                    <a:latin typeface="楷体" panose="02010609060101010101" pitchFamily="49" charset="-122"/>
                    <a:ea typeface="楷体" panose="02010609060101010101" pitchFamily="49" charset="-122"/>
                  </a:rPr>
                  <a:t>条</a:t>
                </a:r>
                <a:r>
                  <a:rPr lang="zh-CN" altLang="zh-CN" sz="2400" b="1" dirty="0">
                    <a:solidFill>
                      <a:schemeClr val="tx1"/>
                    </a:solidFill>
                    <a:latin typeface="楷体" panose="02010609060101010101" pitchFamily="49" charset="-122"/>
                    <a:ea typeface="楷体" panose="02010609060101010101" pitchFamily="49" charset="-122"/>
                  </a:rPr>
                  <a:t>：</a:t>
                </a:r>
                <a:endParaRPr lang="zh-CN" altLang="zh-CN" sz="2400" dirty="0">
                  <a:solidFill>
                    <a:schemeClr val="tx1"/>
                  </a:solidFill>
                  <a:latin typeface="楷体" panose="02010609060101010101" pitchFamily="49" charset="-122"/>
                  <a:ea typeface="楷体" panose="02010609060101010101" pitchFamily="49" charset="-122"/>
                </a:endParaRPr>
              </a:p>
              <a:p>
                <a:pPr algn="l">
                  <a:lnSpc>
                    <a:spcPct val="150000"/>
                  </a:lnSpc>
                </a:pPr>
                <a:r>
                  <a:rPr lang="zh-CN" altLang="en-US" sz="2400" dirty="0" smtClean="0">
                    <a:solidFill>
                      <a:schemeClr val="tx1"/>
                    </a:solidFill>
                    <a:latin typeface="楷体" panose="02010609060101010101" pitchFamily="49" charset="-122"/>
                    <a:ea typeface="楷体" panose="02010609060101010101" pitchFamily="49" charset="-122"/>
                  </a:rPr>
                  <a:t>     </a:t>
                </a:r>
                <a:r>
                  <a:rPr lang="zh-CN" altLang="zh-CN" sz="2800" dirty="0" smtClean="0">
                    <a:solidFill>
                      <a:schemeClr val="tx1"/>
                    </a:solidFill>
                    <a:latin typeface="楷体" panose="02010609060101010101" pitchFamily="49" charset="-122"/>
                    <a:ea typeface="楷体" panose="02010609060101010101" pitchFamily="49" charset="-122"/>
                  </a:rPr>
                  <a:t>当</a:t>
                </a:r>
                <a:r>
                  <a:rPr lang="zh-CN" altLang="zh-CN" sz="2800" dirty="0">
                    <a:solidFill>
                      <a:schemeClr val="tx1"/>
                    </a:solidFill>
                    <a:latin typeface="楷体" panose="02010609060101010101" pitchFamily="49" charset="-122"/>
                    <a:ea typeface="楷体" panose="02010609060101010101" pitchFamily="49" charset="-122"/>
                  </a:rPr>
                  <a:t>地基基础宽度大于</a:t>
                </a:r>
                <a:r>
                  <a:rPr lang="en-US" altLang="zh-CN" sz="2800" dirty="0">
                    <a:solidFill>
                      <a:schemeClr val="tx1"/>
                    </a:solidFill>
                    <a:latin typeface="楷体" panose="02010609060101010101" pitchFamily="49" charset="-122"/>
                    <a:ea typeface="楷体" panose="02010609060101010101" pitchFamily="49" charset="-122"/>
                  </a:rPr>
                  <a:t>3m</a:t>
                </a:r>
                <a:r>
                  <a:rPr lang="zh-CN" altLang="zh-CN" sz="2800" dirty="0">
                    <a:solidFill>
                      <a:schemeClr val="tx1"/>
                    </a:solidFill>
                    <a:latin typeface="楷体" panose="02010609060101010101" pitchFamily="49" charset="-122"/>
                    <a:ea typeface="楷体" panose="02010609060101010101" pitchFamily="49" charset="-122"/>
                  </a:rPr>
                  <a:t>或埋置深度大于</a:t>
                </a:r>
                <a:r>
                  <a:rPr lang="en-US" altLang="zh-CN" sz="2800" dirty="0">
                    <a:solidFill>
                      <a:schemeClr val="tx1"/>
                    </a:solidFill>
                    <a:latin typeface="楷体" panose="02010609060101010101" pitchFamily="49" charset="-122"/>
                    <a:ea typeface="楷体" panose="02010609060101010101" pitchFamily="49" charset="-122"/>
                  </a:rPr>
                  <a:t>0.5m</a:t>
                </a:r>
                <a:r>
                  <a:rPr lang="zh-CN" altLang="zh-CN" sz="2800" dirty="0">
                    <a:solidFill>
                      <a:schemeClr val="tx1"/>
                    </a:solidFill>
                    <a:latin typeface="楷体" panose="02010609060101010101" pitchFamily="49" charset="-122"/>
                    <a:ea typeface="楷体" panose="02010609060101010101" pitchFamily="49" charset="-122"/>
                  </a:rPr>
                  <a:t>时</a:t>
                </a:r>
                <a:r>
                  <a:rPr lang="zh-CN" altLang="zh-CN" sz="2800" dirty="0" smtClean="0">
                    <a:solidFill>
                      <a:schemeClr val="tx1"/>
                    </a:solidFill>
                    <a:latin typeface="楷体" panose="02010609060101010101" pitchFamily="49" charset="-122"/>
                    <a:ea typeface="楷体" panose="02010609060101010101" pitchFamily="49" charset="-122"/>
                  </a:rPr>
                  <a:t>，从荷载</a:t>
                </a:r>
                <a:r>
                  <a:rPr lang="zh-CN" altLang="zh-CN" sz="2800" dirty="0">
                    <a:solidFill>
                      <a:schemeClr val="tx1"/>
                    </a:solidFill>
                    <a:latin typeface="楷体" panose="02010609060101010101" pitchFamily="49" charset="-122"/>
                    <a:ea typeface="楷体" panose="02010609060101010101" pitchFamily="49" charset="-122"/>
                  </a:rPr>
                  <a:t>试验或原位试验测试、经验值等方法确定</a:t>
                </a:r>
                <a:r>
                  <a:rPr lang="zh-CN" altLang="zh-CN" sz="2800" dirty="0" smtClean="0">
                    <a:solidFill>
                      <a:schemeClr val="tx1"/>
                    </a:solidFill>
                    <a:latin typeface="楷体" panose="02010609060101010101" pitchFamily="49" charset="-122"/>
                    <a:ea typeface="楷体" panose="02010609060101010101" pitchFamily="49" charset="-122"/>
                  </a:rPr>
                  <a:t>的地基承载力</a:t>
                </a:r>
                <a:r>
                  <a:rPr lang="zh-CN" altLang="zh-CN" sz="2800" dirty="0">
                    <a:solidFill>
                      <a:schemeClr val="tx1"/>
                    </a:solidFill>
                    <a:latin typeface="楷体" panose="02010609060101010101" pitchFamily="49" charset="-122"/>
                    <a:ea typeface="楷体" panose="02010609060101010101" pitchFamily="49" charset="-122"/>
                  </a:rPr>
                  <a:t>特征值，尚应按下式修正：</a:t>
                </a:r>
              </a:p>
              <a:p>
                <a:endParaRPr lang="en-US" altLang="zh-CN" i="1" dirty="0" smtClean="0">
                  <a:solidFill>
                    <a:schemeClr val="tx1"/>
                  </a:solidFill>
                  <a:ea typeface="微软雅黑" pitchFamily="34" charset="-122"/>
                </a:endParaRPr>
              </a:p>
              <a:p>
                <a:pPr/>
                <a14:m>
                  <m:oMathPara xmlns:m="http://schemas.openxmlformats.org/officeDocument/2006/math">
                    <m:oMathParaPr>
                      <m:jc m:val="centerGroup"/>
                    </m:oMathParaPr>
                    <m:oMath xmlns:m="http://schemas.openxmlformats.org/officeDocument/2006/math">
                      <m:sSub>
                        <m:sSubPr>
                          <m:ctrlPr>
                            <a:rPr lang="zh-CN" altLang="zh-CN" i="1" smtClean="0">
                              <a:solidFill>
                                <a:schemeClr val="tx1"/>
                              </a:solidFill>
                              <a:latin typeface="Cambria Math"/>
                            </a:rPr>
                          </m:ctrlPr>
                        </m:sSubPr>
                        <m:e>
                          <m:r>
                            <a:rPr lang="en-US" altLang="zh-CN" i="1">
                              <a:solidFill>
                                <a:schemeClr val="tx1"/>
                              </a:solidFill>
                              <a:latin typeface="Cambria Math" panose="02040503050406030204" pitchFamily="18" charset="0"/>
                            </a:rPr>
                            <m:t>𝑓</m:t>
                          </m:r>
                        </m:e>
                        <m:sub>
                          <m:r>
                            <a:rPr lang="en-US" altLang="zh-CN" i="1">
                              <a:solidFill>
                                <a:schemeClr val="tx1"/>
                              </a:solidFill>
                              <a:latin typeface="Cambria Math" panose="02040503050406030204" pitchFamily="18" charset="0"/>
                            </a:rPr>
                            <m:t>𝑎</m:t>
                          </m:r>
                        </m:sub>
                      </m:sSub>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a:rPr>
                          </m:ctrlPr>
                        </m:sSubPr>
                        <m:e>
                          <m:r>
                            <a:rPr lang="en-US" altLang="zh-CN" i="1">
                              <a:solidFill>
                                <a:schemeClr val="tx1"/>
                              </a:solidFill>
                              <a:latin typeface="Cambria Math" panose="02040503050406030204" pitchFamily="18" charset="0"/>
                            </a:rPr>
                            <m:t>𝑓</m:t>
                          </m:r>
                        </m:e>
                        <m:sub>
                          <m:r>
                            <a:rPr lang="en-US" altLang="zh-CN" i="1">
                              <a:solidFill>
                                <a:schemeClr val="tx1"/>
                              </a:solidFill>
                              <a:latin typeface="Cambria Math" panose="02040503050406030204" pitchFamily="18" charset="0"/>
                            </a:rPr>
                            <m:t>𝑎𝑘</m:t>
                          </m:r>
                        </m:sub>
                      </m:sSub>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a:rPr>
                          </m:ctrlPr>
                        </m:sSubPr>
                        <m:e>
                          <m:r>
                            <a:rPr lang="en-US" altLang="zh-CN" i="1">
                              <a:solidFill>
                                <a:schemeClr val="tx1"/>
                              </a:solidFill>
                              <a:latin typeface="Cambria Math" panose="02040503050406030204" pitchFamily="18" charset="0"/>
                            </a:rPr>
                            <m:t>𝜂</m:t>
                          </m:r>
                        </m:e>
                        <m:sub>
                          <m:r>
                            <a:rPr lang="en-US" altLang="zh-CN" i="1">
                              <a:solidFill>
                                <a:schemeClr val="tx1"/>
                              </a:solidFill>
                              <a:latin typeface="Cambria Math" panose="02040503050406030204" pitchFamily="18" charset="0"/>
                            </a:rPr>
                            <m:t>𝑏</m:t>
                          </m:r>
                        </m:sub>
                      </m:sSub>
                      <m:r>
                        <a:rPr lang="en-US" altLang="zh-CN" i="1">
                          <a:solidFill>
                            <a:schemeClr val="tx1"/>
                          </a:solidFill>
                          <a:latin typeface="Cambria Math" panose="02040503050406030204" pitchFamily="18" charset="0"/>
                        </a:rPr>
                        <m:t>𝛾</m:t>
                      </m:r>
                      <m:d>
                        <m:dPr>
                          <m:ctrlPr>
                            <a:rPr lang="zh-CN" altLang="zh-CN" i="1">
                              <a:solidFill>
                                <a:schemeClr val="tx1"/>
                              </a:solidFill>
                              <a:latin typeface="Cambria Math"/>
                            </a:rPr>
                          </m:ctrlPr>
                        </m:dPr>
                        <m:e>
                          <m:r>
                            <a:rPr lang="en-US" altLang="zh-CN" i="1">
                              <a:solidFill>
                                <a:schemeClr val="tx1"/>
                              </a:solidFill>
                              <a:latin typeface="Cambria Math" panose="02040503050406030204" pitchFamily="18" charset="0"/>
                            </a:rPr>
                            <m:t>𝑏</m:t>
                          </m:r>
                          <m:r>
                            <a:rPr lang="en-US" altLang="zh-CN" i="1">
                              <a:solidFill>
                                <a:schemeClr val="tx1"/>
                              </a:solidFill>
                              <a:latin typeface="Cambria Math" panose="02040503050406030204" pitchFamily="18" charset="0"/>
                            </a:rPr>
                            <m:t>−3</m:t>
                          </m:r>
                        </m:e>
                      </m:d>
                      <m:r>
                        <a:rPr lang="en-US" altLang="zh-CN" i="1">
                          <a:solidFill>
                            <a:schemeClr val="tx1"/>
                          </a:solidFill>
                          <a:latin typeface="Cambria Math" panose="02040503050406030204" pitchFamily="18" charset="0"/>
                        </a:rPr>
                        <m:t>+</m:t>
                      </m:r>
                      <m:sSub>
                        <m:sSubPr>
                          <m:ctrlPr>
                            <a:rPr lang="zh-CN" altLang="zh-CN" i="1">
                              <a:solidFill>
                                <a:schemeClr val="tx1"/>
                              </a:solidFill>
                              <a:latin typeface="Cambria Math"/>
                            </a:rPr>
                          </m:ctrlPr>
                        </m:sSubPr>
                        <m:e>
                          <m:r>
                            <a:rPr lang="en-US" altLang="zh-CN" i="1">
                              <a:solidFill>
                                <a:schemeClr val="tx1"/>
                              </a:solidFill>
                              <a:latin typeface="Cambria Math" panose="02040503050406030204" pitchFamily="18" charset="0"/>
                            </a:rPr>
                            <m:t>𝜂</m:t>
                          </m:r>
                        </m:e>
                        <m:sub>
                          <m:r>
                            <a:rPr lang="en-US" altLang="zh-CN" i="1">
                              <a:solidFill>
                                <a:schemeClr val="tx1"/>
                              </a:solidFill>
                              <a:latin typeface="Cambria Math" panose="02040503050406030204" pitchFamily="18" charset="0"/>
                            </a:rPr>
                            <m:t>𝑑</m:t>
                          </m:r>
                        </m:sub>
                      </m:sSub>
                      <m:sSub>
                        <m:sSubPr>
                          <m:ctrlPr>
                            <a:rPr lang="zh-CN" altLang="zh-CN" i="1">
                              <a:solidFill>
                                <a:schemeClr val="tx1"/>
                              </a:solidFill>
                              <a:latin typeface="Cambria Math"/>
                            </a:rPr>
                          </m:ctrlPr>
                        </m:sSubPr>
                        <m:e>
                          <m:r>
                            <a:rPr lang="en-US" altLang="zh-CN" i="1">
                              <a:solidFill>
                                <a:schemeClr val="tx1"/>
                              </a:solidFill>
                              <a:latin typeface="Cambria Math" panose="02040503050406030204" pitchFamily="18" charset="0"/>
                            </a:rPr>
                            <m:t>𝛾</m:t>
                          </m:r>
                        </m:e>
                        <m:sub>
                          <m:r>
                            <a:rPr lang="en-US" altLang="zh-CN" i="1">
                              <a:solidFill>
                                <a:schemeClr val="tx1"/>
                              </a:solidFill>
                              <a:latin typeface="Cambria Math" panose="02040503050406030204" pitchFamily="18" charset="0"/>
                            </a:rPr>
                            <m:t>𝑚</m:t>
                          </m:r>
                        </m:sub>
                      </m:sSub>
                      <m:d>
                        <m:dPr>
                          <m:ctrlPr>
                            <a:rPr lang="zh-CN" altLang="zh-CN" i="1">
                              <a:solidFill>
                                <a:schemeClr val="tx1"/>
                              </a:solidFill>
                              <a:latin typeface="Cambria Math"/>
                            </a:rPr>
                          </m:ctrlPr>
                        </m:dPr>
                        <m:e>
                          <m:r>
                            <a:rPr lang="en-US" altLang="zh-CN" i="1">
                              <a:solidFill>
                                <a:schemeClr val="tx1"/>
                              </a:solidFill>
                              <a:latin typeface="Cambria Math" panose="02040503050406030204" pitchFamily="18" charset="0"/>
                            </a:rPr>
                            <m:t>𝑑</m:t>
                          </m:r>
                          <m:r>
                            <a:rPr lang="en-US" altLang="zh-CN" i="1">
                              <a:solidFill>
                                <a:schemeClr val="tx1"/>
                              </a:solidFill>
                              <a:latin typeface="Cambria Math" panose="02040503050406030204" pitchFamily="18" charset="0"/>
                            </a:rPr>
                            <m:t>−0.5</m:t>
                          </m:r>
                        </m:e>
                      </m:d>
                    </m:oMath>
                  </m:oMathPara>
                </a14:m>
                <a:endParaRPr lang="zh-CN" altLang="zh-CN" dirty="0">
                  <a:solidFill>
                    <a:schemeClr val="tx1"/>
                  </a:solidFill>
                  <a:ea typeface="微软雅黑" pitchFamily="34" charset="-122"/>
                </a:endParaRPr>
              </a:p>
              <a:p>
                <a:endParaRPr lang="zh-CN" altLang="en-US" dirty="0">
                  <a:solidFill>
                    <a:schemeClr val="tx1"/>
                  </a:solidFill>
                  <a:ea typeface="微软雅黑" pitchFamily="34" charset="-122"/>
                </a:endParaRPr>
              </a:p>
            </p:txBody>
          </p:sp>
        </mc:Choice>
        <mc:Fallback xmlns="">
          <p:sp>
            <p:nvSpPr>
              <p:cNvPr id="18" name="内容占位符 4"/>
              <p:cNvSpPr txBox="1">
                <a:spLocks noRot="1" noChangeAspect="1" noMove="1" noResize="1" noEditPoints="1" noAdjustHandles="1" noChangeArrowheads="1" noChangeShapeType="1" noTextEdit="1"/>
              </p:cNvSpPr>
              <p:nvPr/>
            </p:nvSpPr>
            <p:spPr>
              <a:xfrm>
                <a:off x="488310" y="2212652"/>
                <a:ext cx="8404169" cy="3665414"/>
              </a:xfrm>
              <a:prstGeom prst="rect">
                <a:avLst/>
              </a:prstGeom>
              <a:blipFill rotWithShape="1">
                <a:blip r:embed="rId5"/>
                <a:stretch>
                  <a:fillRect l="-1450" t="-1830" r="-1595"/>
                </a:stretch>
              </a:blipFill>
            </p:spPr>
            <p:txBody>
              <a:bodyPr/>
              <a:lstStyle/>
              <a:p>
                <a:r>
                  <a:rPr lang="zh-CN" altLang="en-US">
                    <a:noFill/>
                  </a:rPr>
                  <a:t> </a:t>
                </a:r>
              </a:p>
            </p:txBody>
          </p:sp>
        </mc:Fallback>
      </mc:AlternateContent>
      <p:sp>
        <p:nvSpPr>
          <p:cNvPr id="19" name="TextBox 8"/>
          <p:cNvSpPr txBox="1"/>
          <p:nvPr/>
        </p:nvSpPr>
        <p:spPr>
          <a:xfrm>
            <a:off x="862470" y="1601756"/>
            <a:ext cx="3456384" cy="523220"/>
          </a:xfrm>
          <a:prstGeom prst="rect">
            <a:avLst/>
          </a:prstGeom>
          <a:noFill/>
        </p:spPr>
        <p:txBody>
          <a:bodyPr wrap="square" rtlCol="0">
            <a:spAutoFit/>
          </a:bodyPr>
          <a:lstStyle/>
          <a:p>
            <a:r>
              <a:rPr lang="en-US" altLang="zh-CN" sz="2800" b="1" dirty="0">
                <a:solidFill>
                  <a:srgbClr val="FFFF00"/>
                </a:solidFill>
                <a:latin typeface="+mj-lt"/>
                <a:ea typeface="微软雅黑" pitchFamily="34" charset="-122"/>
                <a:cs typeface="+mj-cs"/>
              </a:rPr>
              <a:t>4.0  </a:t>
            </a:r>
            <a:r>
              <a:rPr lang="zh-CN" altLang="en-US" sz="2800" b="1" dirty="0">
                <a:solidFill>
                  <a:srgbClr val="FFFF00"/>
                </a:solidFill>
                <a:latin typeface="+mj-lt"/>
                <a:ea typeface="微软雅黑" pitchFamily="34" charset="-122"/>
                <a:cs typeface="+mj-cs"/>
              </a:rPr>
              <a:t>规范规定</a:t>
            </a:r>
          </a:p>
        </p:txBody>
      </p:sp>
    </p:spTree>
    <p:extLst>
      <p:ext uri="{BB962C8B-B14F-4D97-AF65-F5344CB8AC3E}">
        <p14:creationId xmlns:p14="http://schemas.microsoft.com/office/powerpoint/2010/main" val="38372517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21</a:t>
            </a:fld>
            <a:endParaRPr lang="zh-CN" altLang="en-US" dirty="0">
              <a:solidFill>
                <a:srgbClr val="A61A40"/>
              </a:solidFill>
            </a:endParaRPr>
          </a:p>
        </p:txBody>
      </p:sp>
      <p:grpSp>
        <p:nvGrpSpPr>
          <p:cNvPr id="6" name="组合 5"/>
          <p:cNvGrpSpPr/>
          <p:nvPr/>
        </p:nvGrpSpPr>
        <p:grpSpPr>
          <a:xfrm>
            <a:off x="416081" y="455317"/>
            <a:ext cx="5616624" cy="798585"/>
            <a:chOff x="460247" y="455317"/>
            <a:chExt cx="5616624" cy="798585"/>
          </a:xfrm>
        </p:grpSpPr>
        <p:grpSp>
          <p:nvGrpSpPr>
            <p:cNvPr id="7" name="组合 6"/>
            <p:cNvGrpSpPr/>
            <p:nvPr/>
          </p:nvGrpSpPr>
          <p:grpSpPr>
            <a:xfrm>
              <a:off x="460247" y="455317"/>
              <a:ext cx="5616624" cy="798585"/>
              <a:chOff x="185955" y="479575"/>
              <a:chExt cx="5616624" cy="798585"/>
            </a:xfrm>
          </p:grpSpPr>
          <p:grpSp>
            <p:nvGrpSpPr>
              <p:cNvPr id="9" name="组合 8"/>
              <p:cNvGrpSpPr/>
              <p:nvPr/>
            </p:nvGrpSpPr>
            <p:grpSpPr>
              <a:xfrm>
                <a:off x="185955" y="479575"/>
                <a:ext cx="5616624" cy="798585"/>
                <a:chOff x="1115616" y="2060848"/>
                <a:chExt cx="6264696" cy="920468"/>
              </a:xfrm>
            </p:grpSpPr>
            <p:sp>
              <p:nvSpPr>
                <p:cNvPr id="11"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12" name="Group 34"/>
                <p:cNvGrpSpPr>
                  <a:grpSpLocks/>
                </p:cNvGrpSpPr>
                <p:nvPr/>
              </p:nvGrpSpPr>
              <p:grpSpPr bwMode="auto">
                <a:xfrm>
                  <a:off x="1115616" y="2098780"/>
                  <a:ext cx="847963" cy="882536"/>
                  <a:chOff x="2959" y="1571"/>
                  <a:chExt cx="454" cy="482"/>
                </a:xfrm>
              </p:grpSpPr>
              <p:grpSp>
                <p:nvGrpSpPr>
                  <p:cNvPr id="13" name="Group 35"/>
                  <p:cNvGrpSpPr>
                    <a:grpSpLocks/>
                  </p:cNvGrpSpPr>
                  <p:nvPr/>
                </p:nvGrpSpPr>
                <p:grpSpPr bwMode="auto">
                  <a:xfrm>
                    <a:off x="2959" y="1571"/>
                    <a:ext cx="454" cy="482"/>
                    <a:chOff x="192" y="1917"/>
                    <a:chExt cx="1042" cy="1102"/>
                  </a:xfrm>
                </p:grpSpPr>
                <p:pic>
                  <p:nvPicPr>
                    <p:cNvPr id="15" name="Picture 36" descr="light_shadow"/>
                    <p:cNvPicPr>
                      <a:picLocks noChangeAspect="1" noChangeArrowheads="1"/>
                    </p:cNvPicPr>
                    <p:nvPr/>
                  </p:nvPicPr>
                  <p:blipFill>
                    <a:blip r:embed="rId2"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7" descr="circuler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17"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4" name="Picture 39" descr="Picture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8" name="矩形 7"/>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
        <p:nvSpPr>
          <p:cNvPr id="18" name="标题 1"/>
          <p:cNvSpPr txBox="1">
            <a:spLocks/>
          </p:cNvSpPr>
          <p:nvPr/>
        </p:nvSpPr>
        <p:spPr>
          <a:xfrm>
            <a:off x="739239" y="1353379"/>
            <a:ext cx="1654174" cy="64733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FF00"/>
                </a:solidFill>
                <a:ea typeface="微软雅黑" pitchFamily="34" charset="-122"/>
              </a:rPr>
              <a:t>4.1  </a:t>
            </a:r>
            <a:r>
              <a:rPr lang="zh-CN" altLang="en-US" sz="2800" b="1" dirty="0" smtClean="0">
                <a:solidFill>
                  <a:srgbClr val="FFFF00"/>
                </a:solidFill>
                <a:ea typeface="微软雅黑" pitchFamily="34" charset="-122"/>
              </a:rPr>
              <a:t>要点</a:t>
            </a:r>
            <a:endParaRPr lang="zh-CN" altLang="en-US" sz="2400" dirty="0">
              <a:ea typeface="微软雅黑" pitchFamily="34" charset="-122"/>
            </a:endParaRPr>
          </a:p>
        </p:txBody>
      </p:sp>
      <p:graphicFrame>
        <p:nvGraphicFramePr>
          <p:cNvPr id="22" name="内容占位符 3"/>
          <p:cNvGraphicFramePr>
            <a:graphicFrameLocks/>
          </p:cNvGraphicFramePr>
          <p:nvPr>
            <p:extLst>
              <p:ext uri="{D42A27DB-BD31-4B8C-83A1-F6EECF244321}">
                <p14:modId xmlns:p14="http://schemas.microsoft.com/office/powerpoint/2010/main" val="1199712423"/>
              </p:ext>
            </p:extLst>
          </p:nvPr>
        </p:nvGraphicFramePr>
        <p:xfrm>
          <a:off x="628650" y="2227263"/>
          <a:ext cx="7886700" cy="32635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0271614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t>22</a:t>
            </a:fld>
            <a:endParaRPr lang="zh-CN" altLang="en-US" dirty="0"/>
          </a:p>
        </p:txBody>
      </p:sp>
      <p:grpSp>
        <p:nvGrpSpPr>
          <p:cNvPr id="6" name="组合 5"/>
          <p:cNvGrpSpPr/>
          <p:nvPr/>
        </p:nvGrpSpPr>
        <p:grpSpPr>
          <a:xfrm>
            <a:off x="416081" y="477466"/>
            <a:ext cx="5616624" cy="798585"/>
            <a:chOff x="460247" y="455317"/>
            <a:chExt cx="5616624" cy="798585"/>
          </a:xfrm>
        </p:grpSpPr>
        <p:grpSp>
          <p:nvGrpSpPr>
            <p:cNvPr id="7" name="组合 6"/>
            <p:cNvGrpSpPr/>
            <p:nvPr/>
          </p:nvGrpSpPr>
          <p:grpSpPr>
            <a:xfrm>
              <a:off x="460247" y="455317"/>
              <a:ext cx="5616624" cy="798585"/>
              <a:chOff x="185955" y="479575"/>
              <a:chExt cx="5616624" cy="798585"/>
            </a:xfrm>
          </p:grpSpPr>
          <p:grpSp>
            <p:nvGrpSpPr>
              <p:cNvPr id="9" name="组合 8"/>
              <p:cNvGrpSpPr/>
              <p:nvPr/>
            </p:nvGrpSpPr>
            <p:grpSpPr>
              <a:xfrm>
                <a:off x="185955" y="479575"/>
                <a:ext cx="5616624" cy="798585"/>
                <a:chOff x="1115616" y="2060848"/>
                <a:chExt cx="6264696" cy="920468"/>
              </a:xfrm>
            </p:grpSpPr>
            <p:sp>
              <p:nvSpPr>
                <p:cNvPr id="11"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12" name="Group 34"/>
                <p:cNvGrpSpPr>
                  <a:grpSpLocks/>
                </p:cNvGrpSpPr>
                <p:nvPr/>
              </p:nvGrpSpPr>
              <p:grpSpPr bwMode="auto">
                <a:xfrm>
                  <a:off x="1115616" y="2098780"/>
                  <a:ext cx="847963" cy="882536"/>
                  <a:chOff x="2959" y="1571"/>
                  <a:chExt cx="454" cy="482"/>
                </a:xfrm>
              </p:grpSpPr>
              <p:grpSp>
                <p:nvGrpSpPr>
                  <p:cNvPr id="13" name="Group 35"/>
                  <p:cNvGrpSpPr>
                    <a:grpSpLocks/>
                  </p:cNvGrpSpPr>
                  <p:nvPr/>
                </p:nvGrpSpPr>
                <p:grpSpPr bwMode="auto">
                  <a:xfrm>
                    <a:off x="2959" y="1571"/>
                    <a:ext cx="454" cy="482"/>
                    <a:chOff x="192" y="1917"/>
                    <a:chExt cx="1042" cy="1102"/>
                  </a:xfrm>
                </p:grpSpPr>
                <p:pic>
                  <p:nvPicPr>
                    <p:cNvPr id="15" name="Picture 36" descr="light_shadow"/>
                    <p:cNvPicPr>
                      <a:picLocks noChangeAspect="1" noChangeArrowheads="1"/>
                    </p:cNvPicPr>
                    <p:nvPr/>
                  </p:nvPicPr>
                  <p:blipFill>
                    <a:blip r:embed="rId2"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7" descr="circuler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17"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4" name="Picture 39" descr="Picture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8" name="矩形 7"/>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
        <p:nvSpPr>
          <p:cNvPr id="18" name="标题 1"/>
          <p:cNvSpPr txBox="1">
            <a:spLocks/>
          </p:cNvSpPr>
          <p:nvPr/>
        </p:nvSpPr>
        <p:spPr>
          <a:xfrm>
            <a:off x="739238" y="1353379"/>
            <a:ext cx="3688746" cy="64733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FF00"/>
                </a:solidFill>
                <a:ea typeface="微软雅黑" pitchFamily="34" charset="-122"/>
              </a:rPr>
              <a:t>4.2.1  </a:t>
            </a:r>
            <a:r>
              <a:rPr lang="zh-CN" altLang="en-US" sz="2800" b="1" dirty="0">
                <a:solidFill>
                  <a:srgbClr val="FFFF00"/>
                </a:solidFill>
                <a:ea typeface="微软雅黑" pitchFamily="34" charset="-122"/>
              </a:rPr>
              <a:t>平板荷载试验：</a:t>
            </a:r>
          </a:p>
        </p:txBody>
      </p:sp>
      <p:sp>
        <p:nvSpPr>
          <p:cNvPr id="19" name="文本框 18"/>
          <p:cNvSpPr txBox="1"/>
          <p:nvPr/>
        </p:nvSpPr>
        <p:spPr>
          <a:xfrm>
            <a:off x="801309" y="2122031"/>
            <a:ext cx="7615152" cy="3323987"/>
          </a:xfrm>
          <a:prstGeom prst="rect">
            <a:avLst/>
          </a:prstGeom>
          <a:noFill/>
        </p:spPr>
        <p:txBody>
          <a:bodyPr wrap="square" rtlCol="0">
            <a:spAutoFit/>
          </a:bodyPr>
          <a:lstStyle/>
          <a:p>
            <a:pPr>
              <a:lnSpc>
                <a:spcPct val="150000"/>
              </a:lnSpc>
            </a:pPr>
            <a:r>
              <a:rPr lang="zh-CN" altLang="zh-CN" sz="2800" dirty="0" smtClean="0">
                <a:ea typeface="微软雅黑" pitchFamily="34" charset="-122"/>
              </a:rPr>
              <a:t>平板</a:t>
            </a:r>
            <a:r>
              <a:rPr lang="zh-CN" altLang="zh-CN" sz="2800" dirty="0">
                <a:ea typeface="微软雅黑" pitchFamily="34" charset="-122"/>
              </a:rPr>
              <a:t>荷载试验是一项使用最早、应用最广泛的</a:t>
            </a:r>
            <a:r>
              <a:rPr lang="zh-CN" altLang="zh-CN" sz="2800" b="1" dirty="0">
                <a:solidFill>
                  <a:schemeClr val="bg1"/>
                </a:solidFill>
                <a:effectLst>
                  <a:outerShdw blurRad="38100" dist="38100" dir="2700000" algn="tl">
                    <a:srgbClr val="000000">
                      <a:alpha val="43137"/>
                    </a:srgbClr>
                  </a:outerShdw>
                </a:effectLst>
                <a:ea typeface="微软雅黑" pitchFamily="34" charset="-122"/>
              </a:rPr>
              <a:t>原位试验</a:t>
            </a:r>
            <a:r>
              <a:rPr lang="zh-CN" altLang="zh-CN" sz="2800" b="1" dirty="0" smtClean="0">
                <a:solidFill>
                  <a:schemeClr val="bg1"/>
                </a:solidFill>
                <a:effectLst>
                  <a:outerShdw blurRad="38100" dist="38100" dir="2700000" algn="tl">
                    <a:srgbClr val="000000">
                      <a:alpha val="43137"/>
                    </a:srgbClr>
                  </a:outerShdw>
                </a:effectLst>
                <a:ea typeface="微软雅黑" pitchFamily="34" charset="-122"/>
              </a:rPr>
              <a:t>方法</a:t>
            </a:r>
            <a:endParaRPr lang="en-US" altLang="zh-CN" sz="2800" dirty="0">
              <a:ea typeface="微软雅黑" pitchFamily="34" charset="-122"/>
            </a:endParaRPr>
          </a:p>
          <a:p>
            <a:pPr>
              <a:lnSpc>
                <a:spcPct val="150000"/>
              </a:lnSpc>
            </a:pPr>
            <a:r>
              <a:rPr lang="zh-CN" altLang="zh-CN" sz="2800" dirty="0" smtClean="0">
                <a:ea typeface="微软雅黑" pitchFamily="34" charset="-122"/>
              </a:rPr>
              <a:t>在</a:t>
            </a:r>
            <a:r>
              <a:rPr lang="zh-CN" altLang="zh-CN" sz="2800" dirty="0">
                <a:ea typeface="微软雅黑" pitchFamily="34" charset="-122"/>
              </a:rPr>
              <a:t>一定尺寸的</a:t>
            </a:r>
            <a:r>
              <a:rPr lang="zh-CN" altLang="zh-CN" sz="2800" b="1" dirty="0">
                <a:solidFill>
                  <a:schemeClr val="bg1"/>
                </a:solidFill>
                <a:effectLst>
                  <a:outerShdw blurRad="38100" dist="38100" dir="2700000" algn="tl">
                    <a:srgbClr val="000000">
                      <a:alpha val="43137"/>
                    </a:srgbClr>
                  </a:outerShdw>
                </a:effectLst>
                <a:ea typeface="微软雅黑" pitchFamily="34" charset="-122"/>
              </a:rPr>
              <a:t>刚性承压板</a:t>
            </a:r>
            <a:r>
              <a:rPr lang="zh-CN" altLang="zh-CN" sz="2800" dirty="0">
                <a:solidFill>
                  <a:schemeClr val="bg1"/>
                </a:solidFill>
                <a:ea typeface="微软雅黑" pitchFamily="34" charset="-122"/>
              </a:rPr>
              <a:t>上</a:t>
            </a:r>
            <a:r>
              <a:rPr lang="zh-CN" altLang="zh-CN" sz="2800" b="1" dirty="0">
                <a:solidFill>
                  <a:schemeClr val="bg1"/>
                </a:solidFill>
                <a:effectLst>
                  <a:outerShdw blurRad="38100" dist="38100" dir="2700000" algn="tl">
                    <a:srgbClr val="000000">
                      <a:alpha val="43137"/>
                    </a:srgbClr>
                  </a:outerShdw>
                </a:effectLst>
                <a:ea typeface="微软雅黑" pitchFamily="34" charset="-122"/>
              </a:rPr>
              <a:t>分级</a:t>
            </a:r>
            <a:r>
              <a:rPr lang="zh-CN" altLang="zh-CN" sz="2800" dirty="0">
                <a:solidFill>
                  <a:schemeClr val="bg1"/>
                </a:solidFill>
                <a:ea typeface="微软雅黑" pitchFamily="34" charset="-122"/>
              </a:rPr>
              <a:t>施加荷载</a:t>
            </a:r>
            <a:r>
              <a:rPr lang="zh-CN" altLang="zh-CN" sz="2800" dirty="0">
                <a:ea typeface="微软雅黑" pitchFamily="34" charset="-122"/>
              </a:rPr>
              <a:t>，观测各级荷载作用下天然地基土随压力和变形的原位试验。</a:t>
            </a:r>
            <a:endParaRPr lang="zh-CN" altLang="en-US" sz="2800" dirty="0">
              <a:ea typeface="微软雅黑" pitchFamily="34" charset="-122"/>
            </a:endParaRPr>
          </a:p>
        </p:txBody>
      </p:sp>
    </p:spTree>
    <p:extLst>
      <p:ext uri="{BB962C8B-B14F-4D97-AF65-F5344CB8AC3E}">
        <p14:creationId xmlns:p14="http://schemas.microsoft.com/office/powerpoint/2010/main" val="36188074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23</a:t>
            </a:fld>
            <a:endParaRPr lang="zh-CN" altLang="en-US" dirty="0">
              <a:solidFill>
                <a:srgbClr val="A61A40"/>
              </a:solidFill>
            </a:endParaRPr>
          </a:p>
        </p:txBody>
      </p:sp>
      <p:sp>
        <p:nvSpPr>
          <p:cNvPr id="18" name="Rectangle 2"/>
          <p:cNvSpPr>
            <a:spLocks noChangeArrowheads="1"/>
          </p:cNvSpPr>
          <p:nvPr/>
        </p:nvSpPr>
        <p:spPr bwMode="auto">
          <a:xfrm>
            <a:off x="378072" y="1570691"/>
            <a:ext cx="5172074"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0" defTabSz="685800"/>
            <a:r>
              <a:rPr lang="en-US" altLang="zh-CN" sz="2800" b="1" dirty="0">
                <a:solidFill>
                  <a:srgbClr val="FFFF00"/>
                </a:solidFill>
                <a:latin typeface="+mj-lt"/>
                <a:ea typeface="微软雅黑" pitchFamily="34" charset="-122"/>
                <a:cs typeface="+mj-cs"/>
              </a:rPr>
              <a:t>     4.2.1.1  </a:t>
            </a:r>
            <a:r>
              <a:rPr lang="zh-CN" altLang="en-US" sz="2800" b="1" dirty="0">
                <a:solidFill>
                  <a:srgbClr val="FFFF00"/>
                </a:solidFill>
                <a:latin typeface="+mj-lt"/>
                <a:ea typeface="微软雅黑" pitchFamily="34" charset="-122"/>
                <a:cs typeface="+mj-cs"/>
              </a:rPr>
              <a:t>试验步骤：</a:t>
            </a:r>
          </a:p>
          <a:p>
            <a:pPr indent="200025" defTabSz="685800">
              <a:buFontTx/>
              <a:buChar char="•"/>
            </a:pPr>
            <a:endParaRPr lang="en-US" altLang="zh-CN" b="1" dirty="0" smtClean="0">
              <a:latin typeface="Calibri" panose="020F0502020204030204" pitchFamily="34" charset="0"/>
              <a:ea typeface="微软雅黑" pitchFamily="34" charset="-122"/>
              <a:cs typeface="Times New Roman" panose="02020603050405020304" pitchFamily="18" charset="0"/>
            </a:endParaRPr>
          </a:p>
          <a:p>
            <a:pPr indent="200025" defTabSz="685800">
              <a:buFontTx/>
              <a:buChar char="•"/>
            </a:pPr>
            <a:r>
              <a:rPr lang="zh-CN" altLang="en-US" b="1" dirty="0" smtClean="0">
                <a:solidFill>
                  <a:schemeClr val="bg1"/>
                </a:solidFill>
                <a:latin typeface="Calibri" panose="020F0502020204030204" pitchFamily="34" charset="0"/>
                <a:ea typeface="微软雅黑" pitchFamily="34" charset="-122"/>
                <a:cs typeface="Times New Roman" panose="02020603050405020304" pitchFamily="18" charset="0"/>
              </a:rPr>
              <a:t>测试</a:t>
            </a:r>
            <a:r>
              <a:rPr lang="zh-CN" altLang="en-US" b="1" dirty="0">
                <a:solidFill>
                  <a:schemeClr val="bg1"/>
                </a:solidFill>
                <a:latin typeface="Calibri" panose="020F0502020204030204" pitchFamily="34" charset="0"/>
                <a:ea typeface="微软雅黑" pitchFamily="34" charset="-122"/>
                <a:cs typeface="Times New Roman" panose="02020603050405020304" pitchFamily="18" charset="0"/>
              </a:rPr>
              <a:t>点布置</a:t>
            </a:r>
            <a:r>
              <a:rPr lang="zh-CN" altLang="en-US" b="1" dirty="0" smtClean="0">
                <a:solidFill>
                  <a:schemeClr val="bg1"/>
                </a:solidFill>
                <a:latin typeface="Calibri" panose="020F0502020204030204" pitchFamily="34" charset="0"/>
                <a:ea typeface="微软雅黑" pitchFamily="34" charset="-122"/>
                <a:cs typeface="Times New Roman" panose="02020603050405020304" pitchFamily="18" charset="0"/>
              </a:rPr>
              <a:t>：</a:t>
            </a:r>
            <a:endParaRPr lang="en-US" altLang="zh-CN" b="1" dirty="0" smtClean="0">
              <a:solidFill>
                <a:schemeClr val="bg1"/>
              </a:solidFill>
              <a:latin typeface="Calibri" panose="020F0502020204030204" pitchFamily="34" charset="0"/>
              <a:ea typeface="微软雅黑" pitchFamily="34" charset="-122"/>
              <a:cs typeface="Times New Roman" panose="02020603050405020304" pitchFamily="18" charset="0"/>
            </a:endParaRPr>
          </a:p>
          <a:p>
            <a:pPr indent="0" defTabSz="685800"/>
            <a:r>
              <a:rPr lang="zh-CN" altLang="en-US" dirty="0" smtClean="0">
                <a:latin typeface="Calibri" panose="020F0502020204030204" pitchFamily="34" charset="0"/>
                <a:ea typeface="微软雅黑" pitchFamily="34" charset="-122"/>
                <a:cs typeface="Times New Roman" panose="02020603050405020304" pitchFamily="18" charset="0"/>
              </a:rPr>
              <a:t>在</a:t>
            </a:r>
            <a:r>
              <a:rPr lang="zh-CN" altLang="en-US" dirty="0">
                <a:latin typeface="Calibri" panose="020F0502020204030204" pitchFamily="34" charset="0"/>
                <a:ea typeface="微软雅黑" pitchFamily="34" charset="-122"/>
                <a:cs typeface="Times New Roman" panose="02020603050405020304" pitchFamily="18" charset="0"/>
              </a:rPr>
              <a:t>建筑场地选择适当的地点挖到要求深度</a:t>
            </a:r>
            <a:r>
              <a:rPr lang="zh-CN" altLang="en-US" dirty="0" smtClean="0">
                <a:latin typeface="Calibri" panose="020F0502020204030204" pitchFamily="34" charset="0"/>
                <a:ea typeface="微软雅黑" pitchFamily="34" charset="-122"/>
                <a:cs typeface="Times New Roman" panose="02020603050405020304" pitchFamily="18" charset="0"/>
              </a:rPr>
              <a:t>。</a:t>
            </a:r>
            <a:endParaRPr lang="zh-CN" altLang="en-US" dirty="0">
              <a:ea typeface="微软雅黑" pitchFamily="34" charset="-122"/>
            </a:endParaRPr>
          </a:p>
          <a:p>
            <a:pPr indent="200025" defTabSz="685800">
              <a:buFontTx/>
              <a:buChar char="•"/>
            </a:pPr>
            <a:r>
              <a:rPr lang="zh-CN" altLang="en-US" b="1" dirty="0">
                <a:solidFill>
                  <a:schemeClr val="bg1"/>
                </a:solidFill>
                <a:latin typeface="Calibri" panose="020F0502020204030204" pitchFamily="34" charset="0"/>
                <a:ea typeface="微软雅黑" pitchFamily="34" charset="-122"/>
                <a:cs typeface="Times New Roman" panose="02020603050405020304" pitchFamily="18" charset="0"/>
              </a:rPr>
              <a:t>仪器设备安装</a:t>
            </a:r>
            <a:r>
              <a:rPr lang="zh-CN" altLang="en-US" b="1" dirty="0" smtClean="0">
                <a:solidFill>
                  <a:schemeClr val="bg1"/>
                </a:solidFill>
                <a:latin typeface="Calibri" panose="020F0502020204030204" pitchFamily="34" charset="0"/>
                <a:ea typeface="微软雅黑" pitchFamily="34" charset="-122"/>
                <a:cs typeface="Times New Roman" panose="02020603050405020304" pitchFamily="18" charset="0"/>
              </a:rPr>
              <a:t>：</a:t>
            </a:r>
            <a:endParaRPr lang="en-US" altLang="zh-CN" b="1" dirty="0" smtClean="0">
              <a:solidFill>
                <a:schemeClr val="bg1"/>
              </a:solidFill>
              <a:latin typeface="Calibri" panose="020F0502020204030204" pitchFamily="34" charset="0"/>
              <a:ea typeface="微软雅黑" pitchFamily="34" charset="-122"/>
              <a:cs typeface="Times New Roman" panose="02020603050405020304" pitchFamily="18" charset="0"/>
            </a:endParaRPr>
          </a:p>
          <a:p>
            <a:pPr indent="0" defTabSz="685800"/>
            <a:r>
              <a:rPr lang="zh-CN" altLang="en-US" dirty="0" smtClean="0">
                <a:latin typeface="Calibri" panose="020F0502020204030204" pitchFamily="34" charset="0"/>
                <a:ea typeface="微软雅黑" pitchFamily="34" charset="-122"/>
                <a:cs typeface="Times New Roman" panose="02020603050405020304" pitchFamily="18" charset="0"/>
              </a:rPr>
              <a:t>在</a:t>
            </a:r>
            <a:r>
              <a:rPr lang="zh-CN" altLang="en-US" dirty="0">
                <a:latin typeface="Calibri" panose="020F0502020204030204" pitchFamily="34" charset="0"/>
                <a:ea typeface="微软雅黑" pitchFamily="34" charset="-122"/>
                <a:cs typeface="Times New Roman" panose="02020603050405020304" pitchFamily="18" charset="0"/>
              </a:rPr>
              <a:t>坑底设立右图图中的实验</a:t>
            </a:r>
            <a:r>
              <a:rPr lang="zh-CN" altLang="en-US" dirty="0" smtClean="0">
                <a:latin typeface="Calibri" panose="020F0502020204030204" pitchFamily="34" charset="0"/>
                <a:ea typeface="微软雅黑" pitchFamily="34" charset="-122"/>
                <a:cs typeface="Times New Roman" panose="02020603050405020304" pitchFamily="18" charset="0"/>
              </a:rPr>
              <a:t>装</a:t>
            </a:r>
            <a:endParaRPr lang="zh-CN" altLang="en-US" dirty="0">
              <a:ea typeface="微软雅黑" pitchFamily="34" charset="-122"/>
            </a:endParaRPr>
          </a:p>
          <a:p>
            <a:pPr indent="0">
              <a:buFontTx/>
              <a:buChar char="•"/>
            </a:pPr>
            <a:r>
              <a:rPr lang="zh-CN" altLang="zh-CN" b="1" dirty="0">
                <a:solidFill>
                  <a:schemeClr val="bg1"/>
                </a:solidFill>
                <a:latin typeface="Calibri" panose="020F0502020204030204" pitchFamily="34" charset="0"/>
                <a:ea typeface="微软雅黑" pitchFamily="34" charset="-122"/>
                <a:cs typeface="Times New Roman" panose="02020603050405020304" pitchFamily="18" charset="0"/>
              </a:rPr>
              <a:t>加荷及沉降观测：</a:t>
            </a:r>
            <a:endParaRPr lang="en-US" altLang="zh-CN" b="1" dirty="0">
              <a:solidFill>
                <a:schemeClr val="bg1"/>
              </a:solidFill>
              <a:latin typeface="Calibri" panose="020F0502020204030204" pitchFamily="34" charset="0"/>
              <a:ea typeface="微软雅黑" pitchFamily="34" charset="-122"/>
              <a:cs typeface="Times New Roman" panose="02020603050405020304" pitchFamily="18" charset="0"/>
            </a:endParaRPr>
          </a:p>
          <a:p>
            <a:pPr indent="0"/>
            <a:r>
              <a:rPr lang="zh-CN" altLang="zh-CN" dirty="0">
                <a:latin typeface="Calibri" panose="020F0502020204030204" pitchFamily="34" charset="0"/>
                <a:ea typeface="微软雅黑" pitchFamily="34" charset="-122"/>
                <a:cs typeface="Times New Roman" panose="02020603050405020304" pitchFamily="18" charset="0"/>
              </a:rPr>
              <a:t>对荷载板逐级加载，测量每级载荷</a:t>
            </a:r>
            <a:r>
              <a:rPr lang="en-US" altLang="zh-CN" dirty="0">
                <a:latin typeface="Calibri" panose="020F0502020204030204" pitchFamily="34" charset="0"/>
                <a:ea typeface="微软雅黑" pitchFamily="34" charset="-122"/>
                <a:cs typeface="Times New Roman" panose="02020603050405020304" pitchFamily="18" charset="0"/>
              </a:rPr>
              <a:t>P</a:t>
            </a:r>
            <a:r>
              <a:rPr lang="zh-CN" altLang="en-US" dirty="0">
                <a:latin typeface="Calibri" panose="020F0502020204030204" pitchFamily="34" charset="0"/>
                <a:ea typeface="微软雅黑" pitchFamily="34" charset="-122"/>
                <a:cs typeface="Times New Roman" panose="02020603050405020304" pitchFamily="18" charset="0"/>
              </a:rPr>
              <a:t>相应的载荷板的沉降量</a:t>
            </a:r>
            <a:r>
              <a:rPr lang="en-US" altLang="zh-CN" dirty="0">
                <a:latin typeface="Calibri" panose="020F0502020204030204" pitchFamily="34" charset="0"/>
                <a:ea typeface="微软雅黑" pitchFamily="34" charset="-122"/>
                <a:cs typeface="Times New Roman" panose="02020603050405020304" pitchFamily="18" charset="0"/>
              </a:rPr>
              <a:t>S</a:t>
            </a:r>
            <a:r>
              <a:rPr lang="zh-CN" altLang="en-US" dirty="0">
                <a:latin typeface="Calibri" panose="020F0502020204030204" pitchFamily="34" charset="0"/>
                <a:ea typeface="微软雅黑" pitchFamily="34" charset="-122"/>
                <a:cs typeface="Times New Roman" panose="02020603050405020304" pitchFamily="18" charset="0"/>
              </a:rPr>
              <a:t>并在出现一下情况之一时停止试验。</a:t>
            </a:r>
            <a:endParaRPr lang="zh-CN" altLang="en-US" dirty="0">
              <a:ea typeface="微软雅黑" pitchFamily="34" charset="-122"/>
            </a:endParaRPr>
          </a:p>
          <a:p>
            <a:pPr marL="0" lvl="1" indent="457200">
              <a:buFont typeface="Wingdings" panose="05000000000000000000" pitchFamily="2" charset="2"/>
              <a:buChar char=""/>
            </a:pPr>
            <a:r>
              <a:rPr lang="zh-CN" altLang="en-US" dirty="0">
                <a:latin typeface="Calibri" panose="020F0502020204030204" pitchFamily="34" charset="0"/>
                <a:ea typeface="微软雅黑" pitchFamily="34" charset="-122"/>
                <a:cs typeface="AdobeHeitiStd-Regular"/>
              </a:rPr>
              <a:t>承压板周围的土明显地侧向挤出</a:t>
            </a:r>
            <a:r>
              <a:rPr lang="zh-CN" altLang="en-US" dirty="0">
                <a:latin typeface="Calibri" panose="020F0502020204030204" pitchFamily="34" charset="0"/>
                <a:ea typeface="微软雅黑" pitchFamily="34" charset="-122"/>
                <a:cs typeface="KTJ+ZKWAMF-10"/>
              </a:rPr>
              <a:t>。</a:t>
            </a:r>
            <a:endParaRPr lang="zh-CN" altLang="en-US" dirty="0">
              <a:ea typeface="微软雅黑" pitchFamily="34" charset="-122"/>
            </a:endParaRPr>
          </a:p>
          <a:p>
            <a:pPr marL="0" lvl="1" indent="457200">
              <a:buFont typeface="Wingdings" panose="05000000000000000000" pitchFamily="2" charset="2"/>
              <a:buChar char=""/>
            </a:pPr>
            <a:r>
              <a:rPr lang="zh-CN" altLang="en-US" dirty="0">
                <a:latin typeface="Calibri" panose="020F0502020204030204" pitchFamily="34" charset="0"/>
                <a:ea typeface="微软雅黑" pitchFamily="34" charset="-122"/>
                <a:cs typeface="AdobeHeitiStd-Regular"/>
              </a:rPr>
              <a:t>沉降</a:t>
            </a:r>
            <a:r>
              <a:rPr lang="en-US" altLang="zh-CN" dirty="0">
                <a:latin typeface="Calibri" panose="020F0502020204030204" pitchFamily="34" charset="0"/>
                <a:ea typeface="微软雅黑" pitchFamily="34" charset="-122"/>
                <a:cs typeface="AdobeHeitiStd-Regular"/>
              </a:rPr>
              <a:t>s </a:t>
            </a:r>
            <a:r>
              <a:rPr lang="zh-CN" altLang="en-US" dirty="0">
                <a:latin typeface="Calibri" panose="020F0502020204030204" pitchFamily="34" charset="0"/>
                <a:ea typeface="微软雅黑" pitchFamily="34" charset="-122"/>
                <a:cs typeface="AdobeHeitiStd-Regular"/>
              </a:rPr>
              <a:t>急剧增大，荷载</a:t>
            </a:r>
            <a:r>
              <a:rPr lang="zh-CN" altLang="en-US" dirty="0">
                <a:latin typeface="Calibri" panose="020F0502020204030204" pitchFamily="34" charset="0"/>
                <a:ea typeface="微软雅黑" pitchFamily="34" charset="-122"/>
                <a:cs typeface="KTJ+ZKWAMF-10"/>
              </a:rPr>
              <a:t>～</a:t>
            </a:r>
            <a:r>
              <a:rPr lang="zh-CN" altLang="en-US" dirty="0">
                <a:latin typeface="Calibri" panose="020F0502020204030204" pitchFamily="34" charset="0"/>
                <a:ea typeface="微软雅黑" pitchFamily="34" charset="-122"/>
                <a:cs typeface="AdobeHeitiStd-Regular"/>
              </a:rPr>
              <a:t>沉降（</a:t>
            </a:r>
            <a:r>
              <a:rPr lang="en-US" altLang="zh-CN" dirty="0">
                <a:latin typeface="Calibri" panose="020F0502020204030204" pitchFamily="34" charset="0"/>
                <a:ea typeface="微软雅黑" pitchFamily="34" charset="-122"/>
                <a:cs typeface="AdobeHeitiStd-Regular"/>
              </a:rPr>
              <a:t>p</a:t>
            </a:r>
            <a:r>
              <a:rPr lang="zh-CN" altLang="en-US" dirty="0">
                <a:latin typeface="Calibri" panose="020F0502020204030204" pitchFamily="34" charset="0"/>
                <a:ea typeface="微软雅黑" pitchFamily="34" charset="-122"/>
                <a:cs typeface="KTJ+ZKWAMF-10"/>
              </a:rPr>
              <a:t>～</a:t>
            </a:r>
            <a:r>
              <a:rPr lang="en-US" altLang="zh-CN" dirty="0">
                <a:latin typeface="Calibri" panose="020F0502020204030204" pitchFamily="34" charset="0"/>
                <a:ea typeface="微软雅黑" pitchFamily="34" charset="-122"/>
                <a:cs typeface="KTJ+ZKWAMF-10"/>
              </a:rPr>
              <a:t>s</a:t>
            </a:r>
            <a:r>
              <a:rPr lang="zh-CN" altLang="en-US" dirty="0">
                <a:latin typeface="Calibri" panose="020F0502020204030204" pitchFamily="34" charset="0"/>
                <a:ea typeface="微软雅黑" pitchFamily="34" charset="-122"/>
                <a:cs typeface="AdobeHeitiStd-Regular"/>
              </a:rPr>
              <a:t>曲线出现陡降段</a:t>
            </a:r>
            <a:r>
              <a:rPr lang="zh-CN" altLang="en-US" dirty="0">
                <a:latin typeface="Calibri" panose="020F0502020204030204" pitchFamily="34" charset="0"/>
                <a:ea typeface="微软雅黑" pitchFamily="34" charset="-122"/>
                <a:cs typeface="KTJ+ZKWAMF-10"/>
              </a:rPr>
              <a:t>。</a:t>
            </a:r>
            <a:endParaRPr lang="zh-CN" altLang="en-US" dirty="0">
              <a:ea typeface="微软雅黑" pitchFamily="34" charset="-122"/>
            </a:endParaRPr>
          </a:p>
          <a:p>
            <a:pPr marL="0" lvl="1" indent="457200">
              <a:buFont typeface="Wingdings" panose="05000000000000000000" pitchFamily="2" charset="2"/>
              <a:buChar char=""/>
            </a:pPr>
            <a:r>
              <a:rPr lang="zh-CN" altLang="en-US" dirty="0">
                <a:latin typeface="Calibri" panose="020F0502020204030204" pitchFamily="34" charset="0"/>
                <a:ea typeface="微软雅黑" pitchFamily="34" charset="-122"/>
                <a:cs typeface="AdobeHeitiStd-Regular"/>
              </a:rPr>
              <a:t>在某一级荷载下，</a:t>
            </a:r>
            <a:r>
              <a:rPr lang="en-US" altLang="zh-CN" dirty="0">
                <a:latin typeface="Calibri" panose="020F0502020204030204" pitchFamily="34" charset="0"/>
                <a:ea typeface="微软雅黑" pitchFamily="34" charset="-122"/>
                <a:cs typeface="AdobeHeitiStd-Regular"/>
              </a:rPr>
              <a:t>24 </a:t>
            </a:r>
            <a:r>
              <a:rPr lang="zh-CN" altLang="en-US" dirty="0">
                <a:latin typeface="Calibri" panose="020F0502020204030204" pitchFamily="34" charset="0"/>
                <a:ea typeface="微软雅黑" pitchFamily="34" charset="-122"/>
                <a:cs typeface="AdobeHeitiStd-Regular"/>
              </a:rPr>
              <a:t>小时内沉降速率不能达到稳定</a:t>
            </a:r>
            <a:r>
              <a:rPr lang="zh-CN" altLang="en-US" dirty="0">
                <a:latin typeface="Calibri" panose="020F0502020204030204" pitchFamily="34" charset="0"/>
                <a:ea typeface="微软雅黑" pitchFamily="34" charset="-122"/>
                <a:cs typeface="KTJ+ZKWAMF-10"/>
              </a:rPr>
              <a:t>。</a:t>
            </a:r>
            <a:endParaRPr lang="zh-CN" altLang="en-US" dirty="0">
              <a:ea typeface="微软雅黑" pitchFamily="34" charset="-122"/>
            </a:endParaRPr>
          </a:p>
          <a:p>
            <a:pPr marL="0" lvl="1" indent="457200">
              <a:buFont typeface="Wingdings" panose="05000000000000000000" pitchFamily="2" charset="2"/>
              <a:buChar char=""/>
            </a:pPr>
            <a:r>
              <a:rPr lang="zh-CN" altLang="en-US" dirty="0">
                <a:latin typeface="Calibri" panose="020F0502020204030204" pitchFamily="34" charset="0"/>
                <a:ea typeface="微软雅黑" pitchFamily="34" charset="-122"/>
                <a:cs typeface="AdobeHeitiStd-Regular"/>
              </a:rPr>
              <a:t>沉降量与承压板宽度或直径之比大于或等于</a:t>
            </a:r>
            <a:r>
              <a:rPr lang="en-US" altLang="zh-CN" dirty="0">
                <a:latin typeface="Calibri" panose="020F0502020204030204" pitchFamily="34" charset="0"/>
                <a:ea typeface="微软雅黑" pitchFamily="34" charset="-122"/>
                <a:cs typeface="AdobeHeitiStd-Regular"/>
              </a:rPr>
              <a:t>0.06</a:t>
            </a:r>
            <a:r>
              <a:rPr lang="zh-CN" altLang="en-US" dirty="0">
                <a:latin typeface="Calibri" panose="020F0502020204030204" pitchFamily="34" charset="0"/>
                <a:ea typeface="微软雅黑" pitchFamily="34" charset="-122"/>
                <a:cs typeface="KTJ+ZKWAMF-10"/>
              </a:rPr>
              <a:t>。</a:t>
            </a:r>
            <a:endParaRPr lang="zh-CN" altLang="en-US" dirty="0">
              <a:ea typeface="微软雅黑" pitchFamily="34" charset="-122"/>
            </a:endParaRPr>
          </a:p>
          <a:p>
            <a:pPr indent="200025" defTabSz="685800"/>
            <a:endParaRPr lang="zh-CN" altLang="en-US" sz="1350" dirty="0">
              <a:ea typeface="微软雅黑" pitchFamily="34" charset="-122"/>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0500" y="1287559"/>
            <a:ext cx="3588875" cy="46491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20" name="组合 19"/>
          <p:cNvGrpSpPr/>
          <p:nvPr/>
        </p:nvGrpSpPr>
        <p:grpSpPr>
          <a:xfrm>
            <a:off x="416081" y="455317"/>
            <a:ext cx="5616624" cy="798585"/>
            <a:chOff x="460247" y="455317"/>
            <a:chExt cx="5616624" cy="798585"/>
          </a:xfrm>
        </p:grpSpPr>
        <p:grpSp>
          <p:nvGrpSpPr>
            <p:cNvPr id="21" name="组合 20"/>
            <p:cNvGrpSpPr/>
            <p:nvPr/>
          </p:nvGrpSpPr>
          <p:grpSpPr>
            <a:xfrm>
              <a:off x="460247" y="455317"/>
              <a:ext cx="5616624" cy="798585"/>
              <a:chOff x="185955" y="479575"/>
              <a:chExt cx="5616624" cy="798585"/>
            </a:xfrm>
          </p:grpSpPr>
          <p:grpSp>
            <p:nvGrpSpPr>
              <p:cNvPr id="23" name="组合 22"/>
              <p:cNvGrpSpPr/>
              <p:nvPr/>
            </p:nvGrpSpPr>
            <p:grpSpPr>
              <a:xfrm>
                <a:off x="185955" y="479575"/>
                <a:ext cx="5616624" cy="798585"/>
                <a:chOff x="1115616" y="2060848"/>
                <a:chExt cx="6264696" cy="920468"/>
              </a:xfrm>
            </p:grpSpPr>
            <p:sp>
              <p:nvSpPr>
                <p:cNvPr id="25"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6" name="Group 34"/>
                <p:cNvGrpSpPr>
                  <a:grpSpLocks/>
                </p:cNvGrpSpPr>
                <p:nvPr/>
              </p:nvGrpSpPr>
              <p:grpSpPr bwMode="auto">
                <a:xfrm>
                  <a:off x="1115616" y="2098780"/>
                  <a:ext cx="847963" cy="882536"/>
                  <a:chOff x="2959" y="1571"/>
                  <a:chExt cx="454" cy="482"/>
                </a:xfrm>
              </p:grpSpPr>
              <p:grpSp>
                <p:nvGrpSpPr>
                  <p:cNvPr id="27" name="Group 35"/>
                  <p:cNvGrpSpPr>
                    <a:grpSpLocks/>
                  </p:cNvGrpSpPr>
                  <p:nvPr/>
                </p:nvGrpSpPr>
                <p:grpSpPr bwMode="auto">
                  <a:xfrm>
                    <a:off x="2959" y="1571"/>
                    <a:ext cx="454" cy="482"/>
                    <a:chOff x="192" y="1917"/>
                    <a:chExt cx="1042" cy="1102"/>
                  </a:xfrm>
                </p:grpSpPr>
                <p:pic>
                  <p:nvPicPr>
                    <p:cNvPr id="29"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8"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4"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2" name="矩形 21"/>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30404500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24</a:t>
            </a:fld>
            <a:endParaRPr lang="zh-CN" altLang="en-US" dirty="0">
              <a:solidFill>
                <a:srgbClr val="A61A40"/>
              </a:solidFill>
            </a:endParaRPr>
          </a:p>
        </p:txBody>
      </p:sp>
      <p:sp>
        <p:nvSpPr>
          <p:cNvPr id="18" name="矩形 17"/>
          <p:cNvSpPr/>
          <p:nvPr/>
        </p:nvSpPr>
        <p:spPr>
          <a:xfrm>
            <a:off x="823084" y="1430044"/>
            <a:ext cx="5405100" cy="800219"/>
          </a:xfrm>
          <a:prstGeom prst="rect">
            <a:avLst/>
          </a:prstGeom>
        </p:spPr>
        <p:txBody>
          <a:bodyPr wrap="square">
            <a:spAutoFit/>
          </a:bodyPr>
          <a:lstStyle/>
          <a:p>
            <a:r>
              <a:rPr lang="en-US" altLang="zh-CN" sz="2800" b="1" dirty="0">
                <a:solidFill>
                  <a:srgbClr val="FFFF00"/>
                </a:solidFill>
                <a:latin typeface="+mj-lt"/>
                <a:ea typeface="微软雅黑" pitchFamily="34" charset="-122"/>
                <a:cs typeface="+mj-cs"/>
              </a:rPr>
              <a:t>4.2.1.2  </a:t>
            </a:r>
            <a:r>
              <a:rPr lang="zh-CN" altLang="zh-CN" sz="2800" b="1" dirty="0">
                <a:solidFill>
                  <a:srgbClr val="FFFF00"/>
                </a:solidFill>
                <a:latin typeface="+mj-lt"/>
                <a:ea typeface="微软雅黑" pitchFamily="34" charset="-122"/>
                <a:cs typeface="+mj-cs"/>
              </a:rPr>
              <a:t>结果</a:t>
            </a:r>
            <a:r>
              <a:rPr lang="zh-CN" altLang="en-US" sz="2800" b="1" dirty="0">
                <a:solidFill>
                  <a:srgbClr val="FFFF00"/>
                </a:solidFill>
                <a:latin typeface="+mj-lt"/>
                <a:ea typeface="微软雅黑" pitchFamily="34" charset="-122"/>
                <a:cs typeface="+mj-cs"/>
              </a:rPr>
              <a:t>分析</a:t>
            </a:r>
            <a:r>
              <a:rPr lang="zh-CN" altLang="zh-CN" sz="2800" b="1" dirty="0">
                <a:solidFill>
                  <a:srgbClr val="FFFF00"/>
                </a:solidFill>
                <a:latin typeface="+mj-lt"/>
                <a:ea typeface="微软雅黑" pitchFamily="34" charset="-122"/>
                <a:cs typeface="+mj-cs"/>
              </a:rPr>
              <a:t>地基土的</a:t>
            </a:r>
            <a:r>
              <a:rPr lang="zh-CN" altLang="zh-CN" sz="2800" b="1" dirty="0" smtClean="0">
                <a:solidFill>
                  <a:srgbClr val="FFFF00"/>
                </a:solidFill>
                <a:latin typeface="+mj-lt"/>
                <a:ea typeface="微软雅黑" pitchFamily="34" charset="-122"/>
                <a:cs typeface="+mj-cs"/>
              </a:rPr>
              <a:t>承载力</a:t>
            </a:r>
            <a:r>
              <a:rPr lang="zh-CN" altLang="zh-CN" dirty="0">
                <a:ea typeface="微软雅黑" pitchFamily="34" charset="-122"/>
              </a:rPr>
              <a:t/>
            </a:r>
            <a:br>
              <a:rPr lang="zh-CN" altLang="zh-CN" dirty="0">
                <a:ea typeface="微软雅黑" pitchFamily="34" charset="-122"/>
              </a:rPr>
            </a:br>
            <a:endParaRPr lang="zh-CN" altLang="en-US" dirty="0">
              <a:ea typeface="微软雅黑" pitchFamily="34" charset="-122"/>
            </a:endParaRPr>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683568" y="1732347"/>
                <a:ext cx="4608512" cy="4009192"/>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altLang="zh-CN" sz="1800" b="1" dirty="0" smtClean="0">
                  <a:ea typeface="微软雅黑" pitchFamily="34" charset="-122"/>
                </a:endParaRPr>
              </a:p>
              <a:p>
                <a:pPr algn="l">
                  <a:lnSpc>
                    <a:spcPct val="170000"/>
                  </a:lnSpc>
                </a:pPr>
                <a:r>
                  <a:rPr lang="zh-CN" altLang="zh-CN" sz="2000" dirty="0" smtClean="0">
                    <a:solidFill>
                      <a:schemeClr val="bg1"/>
                    </a:solidFill>
                    <a:ea typeface="微软雅黑" pitchFamily="34" charset="-122"/>
                  </a:rPr>
                  <a:t>利用</a:t>
                </a:r>
                <a:r>
                  <a:rPr lang="en-US" altLang="zh-CN" sz="2400" b="1" dirty="0">
                    <a:solidFill>
                      <a:schemeClr val="bg1"/>
                    </a:solidFill>
                    <a:effectLst>
                      <a:outerShdw blurRad="38100" dist="38100" dir="2700000" algn="tl">
                        <a:srgbClr val="000000">
                          <a:alpha val="43137"/>
                        </a:srgbClr>
                      </a:outerShdw>
                    </a:effectLst>
                    <a:ea typeface="微软雅黑" pitchFamily="34" charset="-122"/>
                  </a:rPr>
                  <a:t>P-S</a:t>
                </a:r>
                <a:r>
                  <a:rPr lang="zh-CN" altLang="zh-CN" sz="2400" b="1" dirty="0">
                    <a:solidFill>
                      <a:schemeClr val="bg1"/>
                    </a:solidFill>
                    <a:effectLst>
                      <a:outerShdw blurRad="38100" dist="38100" dir="2700000" algn="tl">
                        <a:srgbClr val="000000">
                          <a:alpha val="43137"/>
                        </a:srgbClr>
                      </a:outerShdw>
                    </a:effectLst>
                    <a:ea typeface="微软雅黑" pitchFamily="34" charset="-122"/>
                  </a:rPr>
                  <a:t>曲线</a:t>
                </a:r>
                <a:r>
                  <a:rPr lang="zh-CN" altLang="zh-CN" sz="2000" dirty="0">
                    <a:solidFill>
                      <a:schemeClr val="bg1"/>
                    </a:solidFill>
                    <a:ea typeface="微软雅黑" pitchFamily="34" charset="-122"/>
                  </a:rPr>
                  <a:t>的特征按如下标准</a:t>
                </a:r>
                <a:r>
                  <a:rPr lang="zh-CN" altLang="zh-CN" sz="2000" dirty="0" smtClean="0">
                    <a:solidFill>
                      <a:schemeClr val="bg1"/>
                    </a:solidFill>
                    <a:ea typeface="微软雅黑" pitchFamily="34" charset="-122"/>
                  </a:rPr>
                  <a:t>选用</a:t>
                </a:r>
                <a:endParaRPr lang="zh-CN" altLang="zh-CN" sz="2000" dirty="0">
                  <a:solidFill>
                    <a:schemeClr val="bg1"/>
                  </a:solidFill>
                  <a:ea typeface="微软雅黑" pitchFamily="34" charset="-122"/>
                </a:endParaRPr>
              </a:p>
              <a:p>
                <a:pPr marL="285750" indent="-285750" algn="l">
                  <a:lnSpc>
                    <a:spcPct val="170000"/>
                  </a:lnSpc>
                  <a:buFont typeface="Arial" panose="020B0604020202020204" pitchFamily="34" charset="0"/>
                  <a:buChar char="•"/>
                </a:pPr>
                <a:r>
                  <a:rPr lang="zh-CN" altLang="zh-CN" sz="1800" dirty="0">
                    <a:solidFill>
                      <a:schemeClr val="tx1"/>
                    </a:solidFill>
                    <a:ea typeface="微软雅黑" pitchFamily="34" charset="-122"/>
                  </a:rPr>
                  <a:t>曲线有明显直线段，</a:t>
                </a:r>
                <a14:m>
                  <m:oMath xmlns:m="http://schemas.openxmlformats.org/officeDocument/2006/math">
                    <m:sSub>
                      <m:sSubPr>
                        <m:ctrlPr>
                          <a:rPr lang="zh-CN" altLang="zh-CN" sz="1800" i="1">
                            <a:solidFill>
                              <a:schemeClr val="tx1"/>
                            </a:solidFill>
                            <a:latin typeface="Cambria Math"/>
                          </a:rPr>
                        </m:ctrlPr>
                      </m:sSubPr>
                      <m:e>
                        <m:r>
                          <a:rPr lang="en-US" altLang="zh-CN" sz="1800" i="1">
                            <a:solidFill>
                              <a:schemeClr val="tx1"/>
                            </a:solidFill>
                            <a:latin typeface="Cambria Math" panose="02040503050406030204" pitchFamily="18" charset="0"/>
                          </a:rPr>
                          <m:t>𝑃</m:t>
                        </m:r>
                      </m:e>
                      <m:sub>
                        <m:r>
                          <a:rPr lang="en-US" altLang="zh-CN" sz="1800" i="1">
                            <a:solidFill>
                              <a:schemeClr val="tx1"/>
                            </a:solidFill>
                            <a:latin typeface="Cambria Math" panose="02040503050406030204" pitchFamily="18" charset="0"/>
                          </a:rPr>
                          <m:t>𝑐𝑟</m:t>
                        </m:r>
                      </m:sub>
                    </m:sSub>
                  </m:oMath>
                </a14:m>
                <a:r>
                  <a:rPr lang="zh-CN" altLang="zh-CN" sz="1800" dirty="0">
                    <a:solidFill>
                      <a:schemeClr val="tx1"/>
                    </a:solidFill>
                    <a:ea typeface="微软雅黑" pitchFamily="34" charset="-122"/>
                  </a:rPr>
                  <a:t>作为地基承载力；</a:t>
                </a:r>
              </a:p>
              <a:p>
                <a:pPr marL="285750" indent="-285750" algn="l">
                  <a:lnSpc>
                    <a:spcPct val="170000"/>
                  </a:lnSpc>
                  <a:buFont typeface="Arial" panose="020B0604020202020204" pitchFamily="34" charset="0"/>
                  <a:buChar char="•"/>
                </a:pPr>
                <a:r>
                  <a:rPr lang="zh-CN" altLang="zh-CN" sz="1800" dirty="0">
                    <a:solidFill>
                      <a:schemeClr val="tx1"/>
                    </a:solidFill>
                    <a:ea typeface="微软雅黑" pitchFamily="34" charset="-122"/>
                  </a:rPr>
                  <a:t>曲线能够确定极限荷载</a:t>
                </a:r>
                <a14:m>
                  <m:oMath xmlns:m="http://schemas.openxmlformats.org/officeDocument/2006/math">
                    <m:sSub>
                      <m:sSubPr>
                        <m:ctrlPr>
                          <a:rPr lang="zh-CN" altLang="zh-CN" sz="1800" i="1">
                            <a:solidFill>
                              <a:schemeClr val="tx1"/>
                            </a:solidFill>
                            <a:latin typeface="Cambria Math"/>
                          </a:rPr>
                        </m:ctrlPr>
                      </m:sSubPr>
                      <m:e>
                        <m:r>
                          <a:rPr lang="en-US" altLang="zh-CN" sz="1800" i="1">
                            <a:solidFill>
                              <a:schemeClr val="tx1"/>
                            </a:solidFill>
                            <a:latin typeface="Cambria Math" panose="02040503050406030204" pitchFamily="18" charset="0"/>
                          </a:rPr>
                          <m:t>𝑃</m:t>
                        </m:r>
                      </m:e>
                      <m:sub>
                        <m:r>
                          <a:rPr lang="en-US" altLang="zh-CN" sz="1800" i="1">
                            <a:solidFill>
                              <a:schemeClr val="tx1"/>
                            </a:solidFill>
                            <a:latin typeface="Cambria Math" panose="02040503050406030204" pitchFamily="18" charset="0"/>
                          </a:rPr>
                          <m:t>𝑢</m:t>
                        </m:r>
                      </m:sub>
                    </m:sSub>
                  </m:oMath>
                </a14:m>
                <a:r>
                  <a:rPr lang="zh-CN" altLang="zh-CN" sz="1800" dirty="0">
                    <a:solidFill>
                      <a:schemeClr val="tx1"/>
                    </a:solidFill>
                    <a:ea typeface="微软雅黑" pitchFamily="34" charset="-122"/>
                  </a:rPr>
                  <a:t>，且</a:t>
                </a:r>
                <a14:m>
                  <m:oMath xmlns:m="http://schemas.openxmlformats.org/officeDocument/2006/math">
                    <m:sSub>
                      <m:sSubPr>
                        <m:ctrlPr>
                          <a:rPr lang="zh-CN" altLang="zh-CN" sz="1800" i="1">
                            <a:solidFill>
                              <a:schemeClr val="tx1"/>
                            </a:solidFill>
                            <a:latin typeface="Cambria Math"/>
                          </a:rPr>
                        </m:ctrlPr>
                      </m:sSubPr>
                      <m:e>
                        <m:r>
                          <a:rPr lang="en-US" altLang="zh-CN" sz="1800" i="1">
                            <a:solidFill>
                              <a:schemeClr val="tx1"/>
                            </a:solidFill>
                            <a:latin typeface="Cambria Math" panose="02040503050406030204" pitchFamily="18" charset="0"/>
                          </a:rPr>
                          <m:t>𝑃</m:t>
                        </m:r>
                      </m:e>
                      <m:sub>
                        <m:r>
                          <a:rPr lang="en-US" altLang="zh-CN" sz="1800" i="1">
                            <a:solidFill>
                              <a:schemeClr val="tx1"/>
                            </a:solidFill>
                            <a:latin typeface="Cambria Math" panose="02040503050406030204" pitchFamily="18" charset="0"/>
                          </a:rPr>
                          <m:t>𝑢</m:t>
                        </m:r>
                      </m:sub>
                    </m:sSub>
                    <m:r>
                      <a:rPr lang="en-US" altLang="zh-CN" sz="1800" i="1">
                        <a:solidFill>
                          <a:schemeClr val="tx1"/>
                        </a:solidFill>
                        <a:latin typeface="Cambria Math" panose="02040503050406030204" pitchFamily="18" charset="0"/>
                      </a:rPr>
                      <m:t>&lt;2</m:t>
                    </m:r>
                    <m:sSub>
                      <m:sSubPr>
                        <m:ctrlPr>
                          <a:rPr lang="zh-CN" altLang="zh-CN" sz="1800" i="1">
                            <a:solidFill>
                              <a:schemeClr val="tx1"/>
                            </a:solidFill>
                            <a:latin typeface="Cambria Math"/>
                          </a:rPr>
                        </m:ctrlPr>
                      </m:sSubPr>
                      <m:e>
                        <m:r>
                          <a:rPr lang="en-US" altLang="zh-CN" sz="1800" i="1">
                            <a:solidFill>
                              <a:schemeClr val="tx1"/>
                            </a:solidFill>
                            <a:latin typeface="Cambria Math" panose="02040503050406030204" pitchFamily="18" charset="0"/>
                          </a:rPr>
                          <m:t>𝑃</m:t>
                        </m:r>
                      </m:e>
                      <m:sub>
                        <m:r>
                          <a:rPr lang="en-US" altLang="zh-CN" sz="1800" i="1">
                            <a:solidFill>
                              <a:schemeClr val="tx1"/>
                            </a:solidFill>
                            <a:latin typeface="Cambria Math" panose="02040503050406030204" pitchFamily="18" charset="0"/>
                          </a:rPr>
                          <m:t>𝑐𝑟</m:t>
                        </m:r>
                      </m:sub>
                    </m:sSub>
                    <m:r>
                      <a:rPr lang="zh-CN" altLang="en-US" sz="1800" i="1">
                        <a:solidFill>
                          <a:schemeClr val="tx1"/>
                        </a:solidFill>
                        <a:latin typeface="Cambria Math" panose="02040503050406030204" pitchFamily="18" charset="0"/>
                      </a:rPr>
                      <m:t>，</m:t>
                    </m:r>
                  </m:oMath>
                </a14:m>
                <a:r>
                  <a:rPr lang="zh-CN" altLang="zh-CN" sz="1800" dirty="0">
                    <a:solidFill>
                      <a:schemeClr val="tx1"/>
                    </a:solidFill>
                    <a:ea typeface="微软雅黑" pitchFamily="34" charset="-122"/>
                  </a:rPr>
                  <a:t>取</a:t>
                </a:r>
                <a:r>
                  <a:rPr lang="en-US" altLang="zh-CN" sz="1800" dirty="0">
                    <a:solidFill>
                      <a:schemeClr val="tx1"/>
                    </a:solidFill>
                    <a:ea typeface="微软雅黑" pitchFamily="34" charset="-122"/>
                  </a:rPr>
                  <a:t>0.5</a:t>
                </a:r>
                <a14:m>
                  <m:oMath xmlns:m="http://schemas.openxmlformats.org/officeDocument/2006/math">
                    <m:sSub>
                      <m:sSubPr>
                        <m:ctrlPr>
                          <a:rPr lang="zh-CN" altLang="zh-CN" sz="1800" i="1">
                            <a:solidFill>
                              <a:schemeClr val="tx1"/>
                            </a:solidFill>
                            <a:latin typeface="Cambria Math"/>
                          </a:rPr>
                        </m:ctrlPr>
                      </m:sSubPr>
                      <m:e>
                        <m:r>
                          <a:rPr lang="en-US" altLang="zh-CN" sz="1800" i="1">
                            <a:solidFill>
                              <a:schemeClr val="tx1"/>
                            </a:solidFill>
                            <a:latin typeface="Cambria Math" panose="02040503050406030204" pitchFamily="18" charset="0"/>
                          </a:rPr>
                          <m:t>𝑃</m:t>
                        </m:r>
                      </m:e>
                      <m:sub>
                        <m:r>
                          <a:rPr lang="en-US" altLang="zh-CN" sz="1800" i="1">
                            <a:solidFill>
                              <a:schemeClr val="tx1"/>
                            </a:solidFill>
                            <a:latin typeface="Cambria Math" panose="02040503050406030204" pitchFamily="18" charset="0"/>
                          </a:rPr>
                          <m:t>𝑢</m:t>
                        </m:r>
                      </m:sub>
                    </m:sSub>
                  </m:oMath>
                </a14:m>
                <a:r>
                  <a:rPr lang="zh-CN" altLang="zh-CN" sz="1800" dirty="0">
                    <a:solidFill>
                      <a:schemeClr val="tx1"/>
                    </a:solidFill>
                    <a:ea typeface="微软雅黑" pitchFamily="34" charset="-122"/>
                  </a:rPr>
                  <a:t>的一半作为地基承载力；</a:t>
                </a:r>
              </a:p>
              <a:p>
                <a:pPr marL="285750" indent="-285750" algn="l">
                  <a:lnSpc>
                    <a:spcPct val="170000"/>
                  </a:lnSpc>
                  <a:buFont typeface="Arial" panose="020B0604020202020204" pitchFamily="34" charset="0"/>
                  <a:buChar char="•"/>
                </a:pPr>
                <a:r>
                  <a:rPr lang="zh-CN" altLang="zh-CN" sz="1800" dirty="0">
                    <a:solidFill>
                      <a:schemeClr val="tx1"/>
                    </a:solidFill>
                    <a:ea typeface="微软雅黑" pitchFamily="34" charset="-122"/>
                  </a:rPr>
                  <a:t>当无法采用以上两种标准时，若荷载板面积为</a:t>
                </a:r>
                <a:r>
                  <a:rPr lang="en-US" altLang="zh-CN" sz="1800" dirty="0">
                    <a:solidFill>
                      <a:schemeClr val="tx1"/>
                    </a:solidFill>
                    <a:ea typeface="微软雅黑" pitchFamily="34" charset="-122"/>
                  </a:rPr>
                  <a:t>0.25~0.5</a:t>
                </a:r>
                <a14:m>
                  <m:oMath xmlns:m="http://schemas.openxmlformats.org/officeDocument/2006/math">
                    <m:sSup>
                      <m:sSupPr>
                        <m:ctrlPr>
                          <a:rPr lang="zh-CN" altLang="zh-CN" sz="1800" i="1">
                            <a:solidFill>
                              <a:schemeClr val="tx1"/>
                            </a:solidFill>
                            <a:latin typeface="Cambria Math"/>
                          </a:rPr>
                        </m:ctrlPr>
                      </m:sSupPr>
                      <m:e>
                        <m:r>
                          <a:rPr lang="en-US" altLang="zh-CN" sz="1800" i="1">
                            <a:solidFill>
                              <a:schemeClr val="tx1"/>
                            </a:solidFill>
                            <a:latin typeface="Cambria Math" panose="02040503050406030204" pitchFamily="18" charset="0"/>
                          </a:rPr>
                          <m:t>𝑚</m:t>
                        </m:r>
                      </m:e>
                      <m:sup>
                        <m:r>
                          <a:rPr lang="en-US" altLang="zh-CN" sz="1800" i="1">
                            <a:solidFill>
                              <a:schemeClr val="tx1"/>
                            </a:solidFill>
                            <a:latin typeface="Cambria Math" panose="02040503050406030204" pitchFamily="18" charset="0"/>
                          </a:rPr>
                          <m:t>2</m:t>
                        </m:r>
                      </m:sup>
                    </m:sSup>
                  </m:oMath>
                </a14:m>
                <a:r>
                  <a:rPr lang="zh-CN" altLang="zh-CN" sz="1800" dirty="0">
                    <a:solidFill>
                      <a:schemeClr val="tx1"/>
                    </a:solidFill>
                    <a:ea typeface="微软雅黑" pitchFamily="34" charset="-122"/>
                  </a:rPr>
                  <a:t>，取</a:t>
                </a:r>
                <a:r>
                  <a:rPr lang="en-US" altLang="zh-CN" sz="1800" dirty="0">
                    <a:solidFill>
                      <a:schemeClr val="tx1"/>
                    </a:solidFill>
                    <a:ea typeface="微软雅黑" pitchFamily="34" charset="-122"/>
                  </a:rPr>
                  <a:t>s/b=0.01~0.015</a:t>
                </a:r>
                <a:r>
                  <a:rPr lang="zh-CN" altLang="zh-CN" sz="1800" dirty="0">
                    <a:solidFill>
                      <a:schemeClr val="tx1"/>
                    </a:solidFill>
                    <a:ea typeface="微软雅黑" pitchFamily="34" charset="-122"/>
                  </a:rPr>
                  <a:t>所对应的荷载值作为地基承载力。</a:t>
                </a:r>
                <a:endParaRPr lang="en-US" altLang="zh-CN" sz="1800" dirty="0">
                  <a:solidFill>
                    <a:schemeClr val="tx1"/>
                  </a:solidFill>
                  <a:ea typeface="微软雅黑" pitchFamily="34" charset="-122"/>
                </a:endParaRPr>
              </a:p>
              <a:p>
                <a:pPr>
                  <a:lnSpc>
                    <a:spcPct val="170000"/>
                  </a:lnSpc>
                </a:pPr>
                <a:endParaRPr lang="zh-CN" altLang="zh-CN" sz="1800" dirty="0">
                  <a:ea typeface="微软雅黑" pitchFamily="34" charset="-122"/>
                </a:endParaRPr>
              </a:p>
              <a:p>
                <a:endParaRPr lang="zh-CN" altLang="en-US" sz="1800" dirty="0">
                  <a:ea typeface="微软雅黑" pitchFamily="34" charset="-122"/>
                </a:endParaRPr>
              </a:p>
            </p:txBody>
          </p:sp>
        </mc:Choice>
        <mc:Fallback xmlns="">
          <p:sp>
            <p:nvSpPr>
              <p:cNvPr id="19" name="内容占位符 2"/>
              <p:cNvSpPr txBox="1">
                <a:spLocks noRot="1" noChangeAspect="1" noMove="1" noResize="1" noEditPoints="1" noAdjustHandles="1" noChangeArrowheads="1" noChangeShapeType="1" noTextEdit="1"/>
              </p:cNvSpPr>
              <p:nvPr/>
            </p:nvSpPr>
            <p:spPr>
              <a:xfrm>
                <a:off x="683568" y="1732347"/>
                <a:ext cx="4608512" cy="4009192"/>
              </a:xfrm>
              <a:prstGeom prst="rect">
                <a:avLst/>
              </a:prstGeom>
              <a:blipFill rotWithShape="1">
                <a:blip r:embed="rId3"/>
                <a:stretch>
                  <a:fillRect l="-1323" r="-6085" b="-1216"/>
                </a:stretch>
              </a:blipFill>
            </p:spPr>
            <p:txBody>
              <a:bodyPr/>
              <a:lstStyle/>
              <a:p>
                <a:r>
                  <a:rPr lang="zh-CN" altLang="en-US">
                    <a:noFill/>
                  </a:rPr>
                  <a:t> </a:t>
                </a:r>
              </a:p>
            </p:txBody>
          </p:sp>
        </mc:Fallback>
      </mc:AlternateContent>
      <p:pic>
        <p:nvPicPr>
          <p:cNvPr id="20" name="图片 19"/>
          <p:cNvPicPr/>
          <p:nvPr/>
        </p:nvPicPr>
        <p:blipFill>
          <a:blip r:embed="rId4">
            <a:extLst>
              <a:ext uri="{28A0092B-C50C-407E-A947-70E740481C1C}">
                <a14:useLocalDpi xmlns:a14="http://schemas.microsoft.com/office/drawing/2010/main" val="0"/>
              </a:ext>
            </a:extLst>
          </a:blip>
          <a:stretch>
            <a:fillRect/>
          </a:stretch>
        </p:blipFill>
        <p:spPr>
          <a:xfrm>
            <a:off x="5292080" y="2251200"/>
            <a:ext cx="3543300" cy="42433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21" name="组合 20"/>
          <p:cNvGrpSpPr/>
          <p:nvPr/>
        </p:nvGrpSpPr>
        <p:grpSpPr>
          <a:xfrm>
            <a:off x="416081" y="455317"/>
            <a:ext cx="5616624" cy="798585"/>
            <a:chOff x="460247" y="455317"/>
            <a:chExt cx="5616624" cy="798585"/>
          </a:xfrm>
        </p:grpSpPr>
        <p:grpSp>
          <p:nvGrpSpPr>
            <p:cNvPr id="22" name="组合 21"/>
            <p:cNvGrpSpPr/>
            <p:nvPr/>
          </p:nvGrpSpPr>
          <p:grpSpPr>
            <a:xfrm>
              <a:off x="460247" y="455317"/>
              <a:ext cx="5616624" cy="798585"/>
              <a:chOff x="185955" y="479575"/>
              <a:chExt cx="5616624" cy="798585"/>
            </a:xfrm>
          </p:grpSpPr>
          <p:grpSp>
            <p:nvGrpSpPr>
              <p:cNvPr id="24" name="组合 23"/>
              <p:cNvGrpSpPr/>
              <p:nvPr/>
            </p:nvGrpSpPr>
            <p:grpSpPr>
              <a:xfrm>
                <a:off x="185955" y="479575"/>
                <a:ext cx="5616624" cy="798585"/>
                <a:chOff x="1115616" y="2060848"/>
                <a:chExt cx="6264696" cy="920468"/>
              </a:xfrm>
            </p:grpSpPr>
            <p:sp>
              <p:nvSpPr>
                <p:cNvPr id="26"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7" name="Group 34"/>
                <p:cNvGrpSpPr>
                  <a:grpSpLocks/>
                </p:cNvGrpSpPr>
                <p:nvPr/>
              </p:nvGrpSpPr>
              <p:grpSpPr bwMode="auto">
                <a:xfrm>
                  <a:off x="1115616" y="2098780"/>
                  <a:ext cx="847963" cy="882536"/>
                  <a:chOff x="2959" y="1571"/>
                  <a:chExt cx="454" cy="482"/>
                </a:xfrm>
              </p:grpSpPr>
              <p:grpSp>
                <p:nvGrpSpPr>
                  <p:cNvPr id="28" name="Group 35"/>
                  <p:cNvGrpSpPr>
                    <a:grpSpLocks/>
                  </p:cNvGrpSpPr>
                  <p:nvPr/>
                </p:nvGrpSpPr>
                <p:grpSpPr bwMode="auto">
                  <a:xfrm>
                    <a:off x="2959" y="1571"/>
                    <a:ext cx="454" cy="482"/>
                    <a:chOff x="192" y="1917"/>
                    <a:chExt cx="1042" cy="1102"/>
                  </a:xfrm>
                </p:grpSpPr>
                <p:pic>
                  <p:nvPicPr>
                    <p:cNvPr id="30" name="Picture 36" descr="light_shadow"/>
                    <p:cNvPicPr>
                      <a:picLocks noChangeAspect="1" noChangeArrowheads="1"/>
                    </p:cNvPicPr>
                    <p:nvPr/>
                  </p:nvPicPr>
                  <p:blipFill>
                    <a:blip r:embed="rId5"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7" descr="circuler_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2"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9" name="Picture 39" descr="Picture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5"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3" name="矩形 22"/>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19332163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25</a:t>
            </a:fld>
            <a:endParaRPr lang="zh-CN" altLang="en-US" dirty="0">
              <a:solidFill>
                <a:srgbClr val="A61A40"/>
              </a:solidFill>
            </a:endParaRPr>
          </a:p>
        </p:txBody>
      </p:sp>
      <p:sp>
        <p:nvSpPr>
          <p:cNvPr id="30" name="矩形 29"/>
          <p:cNvSpPr/>
          <p:nvPr/>
        </p:nvSpPr>
        <p:spPr>
          <a:xfrm>
            <a:off x="1043608" y="1493798"/>
            <a:ext cx="7632848" cy="523220"/>
          </a:xfrm>
          <a:prstGeom prst="rect">
            <a:avLst/>
          </a:prstGeom>
        </p:spPr>
        <p:txBody>
          <a:bodyPr wrap="square">
            <a:spAutoFit/>
          </a:bodyPr>
          <a:lstStyle/>
          <a:p>
            <a:pPr lvl="0"/>
            <a:r>
              <a:rPr lang="en-US" altLang="zh-CN" sz="2800" b="1" dirty="0">
                <a:solidFill>
                  <a:srgbClr val="FFFF00"/>
                </a:solidFill>
                <a:latin typeface="+mj-lt"/>
                <a:ea typeface="微软雅黑" pitchFamily="34" charset="-122"/>
                <a:cs typeface="+mj-cs"/>
              </a:rPr>
              <a:t>4.2.1.3  </a:t>
            </a:r>
            <a:r>
              <a:rPr lang="zh-CN" altLang="zh-CN" sz="2800" b="1" dirty="0">
                <a:solidFill>
                  <a:srgbClr val="FFFF00"/>
                </a:solidFill>
                <a:latin typeface="+mj-lt"/>
                <a:ea typeface="微软雅黑" pitchFamily="34" charset="-122"/>
                <a:cs typeface="+mj-cs"/>
              </a:rPr>
              <a:t>局限性</a:t>
            </a:r>
            <a:r>
              <a:rPr lang="zh-CN" altLang="en-US" sz="2400" dirty="0" smtClean="0">
                <a:solidFill>
                  <a:schemeClr val="bg1"/>
                </a:solidFill>
                <a:latin typeface="楷体" panose="02010609060101010101" pitchFamily="49" charset="-122"/>
                <a:ea typeface="楷体" panose="02010609060101010101" pitchFamily="49" charset="-122"/>
              </a:rPr>
              <a:t>（</a:t>
            </a:r>
            <a:r>
              <a:rPr lang="zh-CN" altLang="zh-CN" sz="2400" dirty="0" smtClean="0">
                <a:solidFill>
                  <a:schemeClr val="bg1"/>
                </a:solidFill>
                <a:latin typeface="楷体" panose="02010609060101010101" pitchFamily="49" charset="-122"/>
                <a:ea typeface="楷体" panose="02010609060101010101" pitchFamily="49" charset="-122"/>
              </a:rPr>
              <a:t>计算</a:t>
            </a:r>
            <a:r>
              <a:rPr lang="zh-CN" altLang="zh-CN" sz="2400" dirty="0">
                <a:solidFill>
                  <a:schemeClr val="bg1"/>
                </a:solidFill>
                <a:latin typeface="楷体" panose="02010609060101010101" pitchFamily="49" charset="-122"/>
                <a:ea typeface="楷体" panose="02010609060101010101" pitchFamily="49" charset="-122"/>
              </a:rPr>
              <a:t>承载力比实际承载力偏</a:t>
            </a:r>
            <a:r>
              <a:rPr lang="zh-CN" altLang="zh-CN" sz="2400" dirty="0" smtClean="0">
                <a:solidFill>
                  <a:schemeClr val="bg1"/>
                </a:solidFill>
                <a:latin typeface="楷体" panose="02010609060101010101" pitchFamily="49" charset="-122"/>
                <a:ea typeface="楷体" panose="02010609060101010101" pitchFamily="49" charset="-122"/>
              </a:rPr>
              <a:t>低</a:t>
            </a:r>
            <a:r>
              <a:rPr lang="zh-CN" altLang="en-US" sz="2400" dirty="0" smtClean="0">
                <a:solidFill>
                  <a:schemeClr val="bg1"/>
                </a:solidFill>
                <a:latin typeface="楷体" panose="02010609060101010101" pitchFamily="49" charset="-122"/>
                <a:ea typeface="楷体" panose="02010609060101010101" pitchFamily="49" charset="-122"/>
              </a:rPr>
              <a:t>）</a:t>
            </a:r>
            <a:endParaRPr lang="zh-CN" altLang="en-US" sz="2400" dirty="0">
              <a:solidFill>
                <a:schemeClr val="bg1"/>
              </a:solidFill>
              <a:latin typeface="楷体" panose="02010609060101010101" pitchFamily="49" charset="-122"/>
              <a:ea typeface="楷体" panose="02010609060101010101" pitchFamily="49" charset="-122"/>
            </a:endParaRPr>
          </a:p>
        </p:txBody>
      </p:sp>
      <p:graphicFrame>
        <p:nvGraphicFramePr>
          <p:cNvPr id="33" name="图示 32"/>
          <p:cNvGraphicFramePr/>
          <p:nvPr>
            <p:extLst>
              <p:ext uri="{D42A27DB-BD31-4B8C-83A1-F6EECF244321}">
                <p14:modId xmlns:p14="http://schemas.microsoft.com/office/powerpoint/2010/main" val="692503590"/>
              </p:ext>
            </p:extLst>
          </p:nvPr>
        </p:nvGraphicFramePr>
        <p:xfrm>
          <a:off x="1545771" y="2061642"/>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4" name="右箭头 33"/>
          <p:cNvSpPr/>
          <p:nvPr/>
        </p:nvSpPr>
        <p:spPr>
          <a:xfrm>
            <a:off x="3693052" y="2392114"/>
            <a:ext cx="978408" cy="1735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ea typeface="微软雅黑" pitchFamily="34" charset="-122"/>
            </a:endParaRPr>
          </a:p>
        </p:txBody>
      </p:sp>
      <p:sp>
        <p:nvSpPr>
          <p:cNvPr id="35" name="文本框 34"/>
          <p:cNvSpPr txBox="1"/>
          <p:nvPr/>
        </p:nvSpPr>
        <p:spPr>
          <a:xfrm>
            <a:off x="4860032" y="2277666"/>
            <a:ext cx="1080120" cy="523220"/>
          </a:xfrm>
          <a:prstGeom prst="rect">
            <a:avLst/>
          </a:prstGeom>
          <a:noFill/>
        </p:spPr>
        <p:txBody>
          <a:bodyPr wrap="square" rtlCol="0">
            <a:spAutoFit/>
          </a:bodyPr>
          <a:lstStyle/>
          <a:p>
            <a:r>
              <a:rPr lang="zh-CN" altLang="en-US" sz="2800" b="1" dirty="0">
                <a:latin typeface="微软雅黑" pitchFamily="34" charset="-122"/>
                <a:ea typeface="微软雅黑" pitchFamily="34" charset="-122"/>
              </a:rPr>
              <a:t>偏低</a:t>
            </a:r>
          </a:p>
        </p:txBody>
      </p:sp>
      <p:sp>
        <p:nvSpPr>
          <p:cNvPr id="36" name="右箭头 35"/>
          <p:cNvSpPr/>
          <p:nvPr/>
        </p:nvSpPr>
        <p:spPr>
          <a:xfrm>
            <a:off x="3707904" y="3861842"/>
            <a:ext cx="978408" cy="1632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ea typeface="微软雅黑" pitchFamily="34" charset="-122"/>
            </a:endParaRPr>
          </a:p>
        </p:txBody>
      </p:sp>
      <p:sp>
        <p:nvSpPr>
          <p:cNvPr id="37" name="文本框 36"/>
          <p:cNvSpPr txBox="1"/>
          <p:nvPr/>
        </p:nvSpPr>
        <p:spPr>
          <a:xfrm>
            <a:off x="4860032" y="3717826"/>
            <a:ext cx="1080120" cy="523220"/>
          </a:xfrm>
          <a:prstGeom prst="rect">
            <a:avLst/>
          </a:prstGeom>
          <a:noFill/>
        </p:spPr>
        <p:txBody>
          <a:bodyPr wrap="square" rtlCol="0">
            <a:spAutoFit/>
          </a:bodyPr>
          <a:lstStyle/>
          <a:p>
            <a:r>
              <a:rPr lang="zh-CN" altLang="en-US" sz="2800" b="1" dirty="0">
                <a:latin typeface="微软雅黑" pitchFamily="34" charset="-122"/>
                <a:ea typeface="微软雅黑" pitchFamily="34" charset="-122"/>
              </a:rPr>
              <a:t>偏低</a:t>
            </a:r>
          </a:p>
        </p:txBody>
      </p:sp>
      <p:sp>
        <p:nvSpPr>
          <p:cNvPr id="38" name="右箭头 37"/>
          <p:cNvSpPr/>
          <p:nvPr/>
        </p:nvSpPr>
        <p:spPr>
          <a:xfrm>
            <a:off x="3776780" y="5221269"/>
            <a:ext cx="867228" cy="1735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ea typeface="微软雅黑" pitchFamily="34" charset="-122"/>
            </a:endParaRPr>
          </a:p>
        </p:txBody>
      </p:sp>
      <p:sp>
        <p:nvSpPr>
          <p:cNvPr id="39" name="文本框 34"/>
          <p:cNvSpPr txBox="1"/>
          <p:nvPr/>
        </p:nvSpPr>
        <p:spPr>
          <a:xfrm>
            <a:off x="4932040" y="5085978"/>
            <a:ext cx="1080120"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latin typeface="微软雅黑" pitchFamily="34" charset="-122"/>
                <a:ea typeface="微软雅黑" pitchFamily="34" charset="-122"/>
              </a:rPr>
              <a:t>偏低</a:t>
            </a:r>
          </a:p>
        </p:txBody>
      </p:sp>
      <p:grpSp>
        <p:nvGrpSpPr>
          <p:cNvPr id="31" name="组合 30"/>
          <p:cNvGrpSpPr/>
          <p:nvPr/>
        </p:nvGrpSpPr>
        <p:grpSpPr>
          <a:xfrm>
            <a:off x="416081" y="455317"/>
            <a:ext cx="5616624" cy="798585"/>
            <a:chOff x="460247" y="455317"/>
            <a:chExt cx="5616624" cy="798585"/>
          </a:xfrm>
        </p:grpSpPr>
        <p:grpSp>
          <p:nvGrpSpPr>
            <p:cNvPr id="32" name="组合 31"/>
            <p:cNvGrpSpPr/>
            <p:nvPr/>
          </p:nvGrpSpPr>
          <p:grpSpPr>
            <a:xfrm>
              <a:off x="460247" y="455317"/>
              <a:ext cx="5616624" cy="798585"/>
              <a:chOff x="185955" y="479575"/>
              <a:chExt cx="5616624" cy="798585"/>
            </a:xfrm>
          </p:grpSpPr>
          <p:grpSp>
            <p:nvGrpSpPr>
              <p:cNvPr id="41" name="组合 40"/>
              <p:cNvGrpSpPr/>
              <p:nvPr/>
            </p:nvGrpSpPr>
            <p:grpSpPr>
              <a:xfrm>
                <a:off x="185955" y="479575"/>
                <a:ext cx="5616624" cy="798585"/>
                <a:chOff x="1115616" y="2060848"/>
                <a:chExt cx="6264696" cy="920468"/>
              </a:xfrm>
            </p:grpSpPr>
            <p:sp>
              <p:nvSpPr>
                <p:cNvPr id="43"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44" name="Group 34"/>
                <p:cNvGrpSpPr>
                  <a:grpSpLocks/>
                </p:cNvGrpSpPr>
                <p:nvPr/>
              </p:nvGrpSpPr>
              <p:grpSpPr bwMode="auto">
                <a:xfrm>
                  <a:off x="1115616" y="2098780"/>
                  <a:ext cx="847963" cy="882536"/>
                  <a:chOff x="2959" y="1571"/>
                  <a:chExt cx="454" cy="482"/>
                </a:xfrm>
              </p:grpSpPr>
              <p:grpSp>
                <p:nvGrpSpPr>
                  <p:cNvPr id="45" name="Group 35"/>
                  <p:cNvGrpSpPr>
                    <a:grpSpLocks/>
                  </p:cNvGrpSpPr>
                  <p:nvPr/>
                </p:nvGrpSpPr>
                <p:grpSpPr bwMode="auto">
                  <a:xfrm>
                    <a:off x="2959" y="1571"/>
                    <a:ext cx="454" cy="482"/>
                    <a:chOff x="192" y="1917"/>
                    <a:chExt cx="1042" cy="1102"/>
                  </a:xfrm>
                </p:grpSpPr>
                <p:pic>
                  <p:nvPicPr>
                    <p:cNvPr id="47" name="Picture 36" descr="light_shadow"/>
                    <p:cNvPicPr>
                      <a:picLocks noChangeAspect="1" noChangeArrowheads="1"/>
                    </p:cNvPicPr>
                    <p:nvPr/>
                  </p:nvPicPr>
                  <p:blipFill>
                    <a:blip r:embed="rId8"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7" descr="circuler_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49"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46" name="Picture 39" descr="Picture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2"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40" name="矩形 39"/>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3556679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26</a:t>
            </a:fld>
            <a:endParaRPr lang="zh-CN" altLang="en-US" dirty="0">
              <a:solidFill>
                <a:srgbClr val="A61A40"/>
              </a:solidFill>
            </a:endParaRPr>
          </a:p>
        </p:txBody>
      </p:sp>
      <p:sp>
        <p:nvSpPr>
          <p:cNvPr id="18" name="标题 1"/>
          <p:cNvSpPr txBox="1">
            <a:spLocks/>
          </p:cNvSpPr>
          <p:nvPr/>
        </p:nvSpPr>
        <p:spPr>
          <a:xfrm>
            <a:off x="739239" y="1353379"/>
            <a:ext cx="2680634" cy="64733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FF00"/>
                </a:solidFill>
                <a:ea typeface="微软雅黑" pitchFamily="34" charset="-122"/>
              </a:rPr>
              <a:t>4.2.2  </a:t>
            </a:r>
            <a:r>
              <a:rPr lang="zh-CN" altLang="en-US" sz="2800" b="1" dirty="0">
                <a:solidFill>
                  <a:srgbClr val="FFFF00"/>
                </a:solidFill>
                <a:ea typeface="微软雅黑" pitchFamily="34" charset="-122"/>
              </a:rPr>
              <a:t>旁压试验：</a:t>
            </a:r>
          </a:p>
        </p:txBody>
      </p:sp>
      <p:sp>
        <p:nvSpPr>
          <p:cNvPr id="19" name="矩形 18"/>
          <p:cNvSpPr/>
          <p:nvPr/>
        </p:nvSpPr>
        <p:spPr>
          <a:xfrm>
            <a:off x="774644" y="1669658"/>
            <a:ext cx="7715200" cy="3416320"/>
          </a:xfrm>
          <a:prstGeom prst="rect">
            <a:avLst/>
          </a:prstGeom>
        </p:spPr>
        <p:txBody>
          <a:bodyPr wrap="square">
            <a:spAutoFit/>
          </a:bodyPr>
          <a:lstStyle/>
          <a:p>
            <a:pPr lvl="0">
              <a:lnSpc>
                <a:spcPct val="150000"/>
              </a:lnSpc>
            </a:pPr>
            <a:endParaRPr lang="en-US" altLang="zh-CN" sz="2400" b="1" dirty="0" smtClean="0">
              <a:ea typeface="微软雅黑" pitchFamily="34" charset="-122"/>
            </a:endParaRPr>
          </a:p>
          <a:p>
            <a:pPr marL="285750" lvl="0" indent="-285750">
              <a:lnSpc>
                <a:spcPct val="150000"/>
              </a:lnSpc>
              <a:buFont typeface="Arial" panose="020B0604020202020204" pitchFamily="34" charset="0"/>
              <a:buChar char="•"/>
            </a:pPr>
            <a:r>
              <a:rPr lang="zh-CN" altLang="zh-CN" sz="2400" dirty="0" smtClean="0">
                <a:ea typeface="微软雅黑" pitchFamily="34" charset="-122"/>
              </a:rPr>
              <a:t>又</a:t>
            </a:r>
            <a:r>
              <a:rPr lang="zh-CN" altLang="zh-CN" sz="2400" dirty="0">
                <a:ea typeface="微软雅黑" pitchFamily="34" charset="-122"/>
              </a:rPr>
              <a:t>称</a:t>
            </a:r>
            <a:r>
              <a:rPr lang="zh-CN" altLang="zh-CN" sz="2400" b="1" dirty="0">
                <a:solidFill>
                  <a:schemeClr val="bg1"/>
                </a:solidFill>
                <a:ea typeface="微软雅黑" pitchFamily="34" charset="-122"/>
              </a:rPr>
              <a:t>横压试验</a:t>
            </a:r>
            <a:r>
              <a:rPr lang="zh-CN" altLang="zh-CN" sz="2400" dirty="0">
                <a:ea typeface="微软雅黑" pitchFamily="34" charset="-122"/>
              </a:rPr>
              <a:t>，是在钻孔内进行的</a:t>
            </a:r>
            <a:r>
              <a:rPr lang="zh-CN" altLang="zh-CN" sz="2400" b="1" dirty="0">
                <a:solidFill>
                  <a:schemeClr val="bg1"/>
                </a:solidFill>
                <a:ea typeface="微软雅黑" pitchFamily="34" charset="-122"/>
              </a:rPr>
              <a:t>横向载荷</a:t>
            </a:r>
            <a:r>
              <a:rPr lang="zh-CN" altLang="zh-CN" sz="2400" dirty="0">
                <a:ea typeface="微软雅黑" pitchFamily="34" charset="-122"/>
              </a:rPr>
              <a:t>试验</a:t>
            </a:r>
            <a:r>
              <a:rPr lang="zh-CN" altLang="zh-CN" sz="2400" dirty="0" smtClean="0">
                <a:ea typeface="微软雅黑" pitchFamily="34" charset="-122"/>
              </a:rPr>
              <a:t>。</a:t>
            </a:r>
            <a:endParaRPr lang="en-US" altLang="zh-CN" sz="2400" dirty="0" smtClean="0">
              <a:ea typeface="微软雅黑" pitchFamily="34" charset="-122"/>
            </a:endParaRPr>
          </a:p>
          <a:p>
            <a:pPr marL="285750" lvl="0" indent="-285750">
              <a:lnSpc>
                <a:spcPct val="150000"/>
              </a:lnSpc>
              <a:buFont typeface="Arial" panose="020B0604020202020204" pitchFamily="34" charset="0"/>
              <a:buChar char="•"/>
            </a:pPr>
            <a:r>
              <a:rPr lang="zh-CN" altLang="zh-CN" sz="2400" dirty="0" smtClean="0">
                <a:ea typeface="微软雅黑" pitchFamily="34" charset="-122"/>
              </a:rPr>
              <a:t>试验</a:t>
            </a:r>
            <a:r>
              <a:rPr lang="zh-CN" altLang="zh-CN" sz="2400" dirty="0">
                <a:ea typeface="微软雅黑" pitchFamily="34" charset="-122"/>
              </a:rPr>
              <a:t>时将</a:t>
            </a:r>
            <a:r>
              <a:rPr lang="zh-CN" altLang="zh-CN" sz="2400" b="1" dirty="0">
                <a:solidFill>
                  <a:schemeClr val="bg1"/>
                </a:solidFill>
                <a:ea typeface="微软雅黑" pitchFamily="34" charset="-122"/>
              </a:rPr>
              <a:t>圆柱形</a:t>
            </a:r>
            <a:r>
              <a:rPr lang="zh-CN" altLang="zh-CN" sz="2400" dirty="0">
                <a:ea typeface="微软雅黑" pitchFamily="34" charset="-122"/>
              </a:rPr>
              <a:t>旁压器竖直放入土中，通过旁压器在竖直的孔内加压，使旁压膜膨胀，并由旁压膜将压力传给周围的土体（岩体），使土体（岩体）产生</a:t>
            </a:r>
            <a:r>
              <a:rPr lang="zh-CN" altLang="zh-CN" sz="2400" b="1" dirty="0">
                <a:solidFill>
                  <a:schemeClr val="bg1"/>
                </a:solidFill>
                <a:ea typeface="微软雅黑" pitchFamily="34" charset="-122"/>
              </a:rPr>
              <a:t>变形直至破坏。</a:t>
            </a:r>
          </a:p>
        </p:txBody>
      </p:sp>
      <p:grpSp>
        <p:nvGrpSpPr>
          <p:cNvPr id="32" name="组合 31"/>
          <p:cNvGrpSpPr/>
          <p:nvPr/>
        </p:nvGrpSpPr>
        <p:grpSpPr>
          <a:xfrm>
            <a:off x="416081" y="455317"/>
            <a:ext cx="5616624" cy="798585"/>
            <a:chOff x="460247" y="455317"/>
            <a:chExt cx="5616624" cy="798585"/>
          </a:xfrm>
        </p:grpSpPr>
        <p:grpSp>
          <p:nvGrpSpPr>
            <p:cNvPr id="33" name="组合 32"/>
            <p:cNvGrpSpPr/>
            <p:nvPr/>
          </p:nvGrpSpPr>
          <p:grpSpPr>
            <a:xfrm>
              <a:off x="460247" y="455317"/>
              <a:ext cx="5616624" cy="798585"/>
              <a:chOff x="185955" y="479575"/>
              <a:chExt cx="5616624" cy="798585"/>
            </a:xfrm>
          </p:grpSpPr>
          <p:grpSp>
            <p:nvGrpSpPr>
              <p:cNvPr id="35" name="组合 34"/>
              <p:cNvGrpSpPr/>
              <p:nvPr/>
            </p:nvGrpSpPr>
            <p:grpSpPr>
              <a:xfrm>
                <a:off x="185955" y="479575"/>
                <a:ext cx="5616624" cy="798585"/>
                <a:chOff x="1115616" y="2060848"/>
                <a:chExt cx="6264696" cy="920468"/>
              </a:xfrm>
            </p:grpSpPr>
            <p:sp>
              <p:nvSpPr>
                <p:cNvPr id="37"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38" name="Group 34"/>
                <p:cNvGrpSpPr>
                  <a:grpSpLocks/>
                </p:cNvGrpSpPr>
                <p:nvPr/>
              </p:nvGrpSpPr>
              <p:grpSpPr bwMode="auto">
                <a:xfrm>
                  <a:off x="1115616" y="2098780"/>
                  <a:ext cx="847963" cy="882536"/>
                  <a:chOff x="2959" y="1571"/>
                  <a:chExt cx="454" cy="482"/>
                </a:xfrm>
              </p:grpSpPr>
              <p:grpSp>
                <p:nvGrpSpPr>
                  <p:cNvPr id="39" name="Group 35"/>
                  <p:cNvGrpSpPr>
                    <a:grpSpLocks/>
                  </p:cNvGrpSpPr>
                  <p:nvPr/>
                </p:nvGrpSpPr>
                <p:grpSpPr bwMode="auto">
                  <a:xfrm>
                    <a:off x="2959" y="1571"/>
                    <a:ext cx="454" cy="482"/>
                    <a:chOff x="192" y="1917"/>
                    <a:chExt cx="1042" cy="1102"/>
                  </a:xfrm>
                </p:grpSpPr>
                <p:pic>
                  <p:nvPicPr>
                    <p:cNvPr id="41" name="Picture 36" descr="light_shadow"/>
                    <p:cNvPicPr>
                      <a:picLocks noChangeAspect="1" noChangeArrowheads="1"/>
                    </p:cNvPicPr>
                    <p:nvPr/>
                  </p:nvPicPr>
                  <p:blipFill>
                    <a:blip r:embed="rId2"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37" descr="circuler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43"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40" name="Picture 39" descr="Picture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6"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34" name="矩形 33"/>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26856544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27</a:t>
            </a:fld>
            <a:endParaRPr lang="zh-CN" altLang="en-US" dirty="0">
              <a:solidFill>
                <a:srgbClr val="A61A40"/>
              </a:solidFill>
            </a:endParaRPr>
          </a:p>
        </p:txBody>
      </p:sp>
      <p:sp>
        <p:nvSpPr>
          <p:cNvPr id="18" name="标题 1"/>
          <p:cNvSpPr txBox="1">
            <a:spLocks/>
          </p:cNvSpPr>
          <p:nvPr/>
        </p:nvSpPr>
        <p:spPr>
          <a:xfrm>
            <a:off x="739238" y="1336060"/>
            <a:ext cx="3112681" cy="64733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FF00"/>
                </a:solidFill>
                <a:ea typeface="微软雅黑" pitchFamily="34" charset="-122"/>
              </a:rPr>
              <a:t>4.2.2.1  </a:t>
            </a:r>
            <a:r>
              <a:rPr lang="zh-CN" altLang="en-US" sz="2800" b="1" dirty="0">
                <a:solidFill>
                  <a:srgbClr val="FFFF00"/>
                </a:solidFill>
                <a:ea typeface="微软雅黑" pitchFamily="34" charset="-122"/>
              </a:rPr>
              <a:t>试验</a:t>
            </a:r>
            <a:r>
              <a:rPr lang="zh-CN" altLang="en-US" sz="2800" b="1" dirty="0" smtClean="0">
                <a:solidFill>
                  <a:srgbClr val="FFFF00"/>
                </a:solidFill>
                <a:ea typeface="微软雅黑" pitchFamily="34" charset="-122"/>
              </a:rPr>
              <a:t>步骤</a:t>
            </a:r>
            <a:endParaRPr lang="zh-CN" altLang="en-US" sz="2400" dirty="0">
              <a:ea typeface="微软雅黑" pitchFamily="34" charset="-122"/>
            </a:endParaRPr>
          </a:p>
        </p:txBody>
      </p:sp>
      <p:pic>
        <p:nvPicPr>
          <p:cNvPr id="19" name="图片 18"/>
          <p:cNvPicPr/>
          <p:nvPr/>
        </p:nvPicPr>
        <p:blipFill>
          <a:blip r:embed="rId2">
            <a:extLst>
              <a:ext uri="{28A0092B-C50C-407E-A947-70E740481C1C}">
                <a14:useLocalDpi xmlns:a14="http://schemas.microsoft.com/office/drawing/2010/main" val="0"/>
              </a:ext>
            </a:extLst>
          </a:blip>
          <a:stretch>
            <a:fillRect/>
          </a:stretch>
        </p:blipFill>
        <p:spPr>
          <a:xfrm>
            <a:off x="4355976" y="1336060"/>
            <a:ext cx="4643438" cy="49410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0" name="内容占位符 2"/>
          <p:cNvSpPr txBox="1">
            <a:spLocks/>
          </p:cNvSpPr>
          <p:nvPr/>
        </p:nvSpPr>
        <p:spPr>
          <a:xfrm>
            <a:off x="445638" y="2108921"/>
            <a:ext cx="3786188" cy="4286250"/>
          </a:xfrm>
          <a:prstGeom prst="rect">
            <a:avLst/>
          </a:prstGeom>
        </p:spPr>
        <p:txBody>
          <a:bodyPr vert="horz" lIns="91440" tIns="45720" rIns="91440" bIns="45720" rtlCol="0">
            <a:normAutofit fontScale="55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lnSpc>
                <a:spcPct val="170000"/>
              </a:lnSpc>
            </a:pPr>
            <a:r>
              <a:rPr lang="zh-CN" altLang="zh-CN" b="1" dirty="0" smtClean="0">
                <a:solidFill>
                  <a:schemeClr val="bg1"/>
                </a:solidFill>
                <a:ea typeface="微软雅黑" pitchFamily="34" charset="-122"/>
              </a:rPr>
              <a:t>预钻点布置：</a:t>
            </a:r>
            <a:r>
              <a:rPr lang="zh-CN" altLang="zh-CN" dirty="0" smtClean="0">
                <a:solidFill>
                  <a:schemeClr val="tx1"/>
                </a:solidFill>
                <a:ea typeface="微软雅黑" pitchFamily="34" charset="-122"/>
              </a:rPr>
              <a:t>试验前平整试验场地根据土的分类和状态选择适宜的钻头开孔要求孔壁垂直呈完整的圆形尽可能减少孔壁土体扰动</a:t>
            </a:r>
            <a:endParaRPr lang="en-US" altLang="zh-CN" dirty="0" smtClean="0">
              <a:solidFill>
                <a:schemeClr val="tx1"/>
              </a:solidFill>
              <a:ea typeface="微软雅黑" pitchFamily="34" charset="-122"/>
            </a:endParaRPr>
          </a:p>
          <a:p>
            <a:pPr>
              <a:lnSpc>
                <a:spcPct val="170000"/>
              </a:lnSpc>
            </a:pPr>
            <a:endParaRPr lang="zh-CN" altLang="zh-CN" sz="1200" dirty="0" smtClean="0">
              <a:solidFill>
                <a:schemeClr val="tx1"/>
              </a:solidFill>
              <a:ea typeface="微软雅黑" pitchFamily="34" charset="-122"/>
            </a:endParaRPr>
          </a:p>
          <a:p>
            <a:pPr algn="l">
              <a:lnSpc>
                <a:spcPct val="170000"/>
              </a:lnSpc>
            </a:pPr>
            <a:r>
              <a:rPr lang="zh-CN" altLang="zh-CN" b="1" dirty="0" smtClean="0">
                <a:solidFill>
                  <a:schemeClr val="bg1"/>
                </a:solidFill>
                <a:ea typeface="微软雅黑" pitchFamily="34" charset="-122"/>
              </a:rPr>
              <a:t>安装测试装置：</a:t>
            </a:r>
            <a:r>
              <a:rPr lang="zh-CN" altLang="zh-CN" dirty="0" smtClean="0">
                <a:solidFill>
                  <a:schemeClr val="tx1"/>
                </a:solidFill>
                <a:ea typeface="微软雅黑" pitchFamily="34" charset="-122"/>
              </a:rPr>
              <a:t>按如下图进行安装</a:t>
            </a:r>
            <a:endParaRPr lang="en-US" altLang="zh-CN" dirty="0" smtClean="0">
              <a:solidFill>
                <a:schemeClr val="tx1"/>
              </a:solidFill>
              <a:ea typeface="微软雅黑" pitchFamily="34" charset="-122"/>
            </a:endParaRPr>
          </a:p>
          <a:p>
            <a:pPr>
              <a:lnSpc>
                <a:spcPct val="170000"/>
              </a:lnSpc>
            </a:pPr>
            <a:endParaRPr lang="zh-CN" altLang="zh-CN" sz="1050" dirty="0" smtClean="0">
              <a:solidFill>
                <a:schemeClr val="tx1"/>
              </a:solidFill>
              <a:ea typeface="微软雅黑" pitchFamily="34" charset="-122"/>
            </a:endParaRPr>
          </a:p>
          <a:p>
            <a:pPr algn="l">
              <a:lnSpc>
                <a:spcPct val="170000"/>
              </a:lnSpc>
            </a:pPr>
            <a:r>
              <a:rPr lang="zh-CN" altLang="zh-CN" b="1" dirty="0" smtClean="0">
                <a:solidFill>
                  <a:schemeClr val="bg1"/>
                </a:solidFill>
                <a:ea typeface="微软雅黑" pitchFamily="34" charset="-122"/>
              </a:rPr>
              <a:t>注水进行试验</a:t>
            </a:r>
            <a:r>
              <a:rPr lang="zh-CN" altLang="zh-CN" dirty="0" smtClean="0">
                <a:solidFill>
                  <a:schemeClr val="bg1"/>
                </a:solidFill>
                <a:ea typeface="微软雅黑" pitchFamily="34" charset="-122"/>
              </a:rPr>
              <a:t>：</a:t>
            </a:r>
            <a:r>
              <a:rPr lang="zh-CN" altLang="zh-CN" dirty="0" smtClean="0">
                <a:solidFill>
                  <a:schemeClr val="tx1"/>
                </a:solidFill>
                <a:ea typeface="微软雅黑" pitchFamily="34" charset="-122"/>
              </a:rPr>
              <a:t>记录实验数据并绘制</a:t>
            </a:r>
            <a:r>
              <a:rPr lang="en-US" altLang="zh-CN" dirty="0" smtClean="0">
                <a:solidFill>
                  <a:schemeClr val="tx1"/>
                </a:solidFill>
                <a:ea typeface="微软雅黑" pitchFamily="34" charset="-122"/>
              </a:rPr>
              <a:t>P-V</a:t>
            </a:r>
            <a:r>
              <a:rPr lang="zh-CN" altLang="zh-CN" dirty="0" smtClean="0">
                <a:solidFill>
                  <a:schemeClr val="tx1"/>
                </a:solidFill>
                <a:ea typeface="微软雅黑" pitchFamily="34" charset="-122"/>
              </a:rPr>
              <a:t>曲线。并在孔壁土体出现塑性屈服或者扩张体积相当于测量腔的固有体积时，就停止试验</a:t>
            </a:r>
          </a:p>
          <a:p>
            <a:endParaRPr lang="zh-CN" altLang="en-US" dirty="0">
              <a:ea typeface="微软雅黑" pitchFamily="34" charset="-122"/>
            </a:endParaRPr>
          </a:p>
        </p:txBody>
      </p:sp>
      <p:grpSp>
        <p:nvGrpSpPr>
          <p:cNvPr id="21" name="组合 20"/>
          <p:cNvGrpSpPr/>
          <p:nvPr/>
        </p:nvGrpSpPr>
        <p:grpSpPr>
          <a:xfrm>
            <a:off x="416081" y="455317"/>
            <a:ext cx="5616624" cy="798585"/>
            <a:chOff x="460247" y="455317"/>
            <a:chExt cx="5616624" cy="798585"/>
          </a:xfrm>
        </p:grpSpPr>
        <p:grpSp>
          <p:nvGrpSpPr>
            <p:cNvPr id="22" name="组合 21"/>
            <p:cNvGrpSpPr/>
            <p:nvPr/>
          </p:nvGrpSpPr>
          <p:grpSpPr>
            <a:xfrm>
              <a:off x="460247" y="455317"/>
              <a:ext cx="5616624" cy="798585"/>
              <a:chOff x="185955" y="479575"/>
              <a:chExt cx="5616624" cy="798585"/>
            </a:xfrm>
          </p:grpSpPr>
          <p:grpSp>
            <p:nvGrpSpPr>
              <p:cNvPr id="24" name="组合 23"/>
              <p:cNvGrpSpPr/>
              <p:nvPr/>
            </p:nvGrpSpPr>
            <p:grpSpPr>
              <a:xfrm>
                <a:off x="185955" y="479575"/>
                <a:ext cx="5616624" cy="798585"/>
                <a:chOff x="1115616" y="2060848"/>
                <a:chExt cx="6264696" cy="920468"/>
              </a:xfrm>
            </p:grpSpPr>
            <p:sp>
              <p:nvSpPr>
                <p:cNvPr id="26"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7" name="Group 34"/>
                <p:cNvGrpSpPr>
                  <a:grpSpLocks/>
                </p:cNvGrpSpPr>
                <p:nvPr/>
              </p:nvGrpSpPr>
              <p:grpSpPr bwMode="auto">
                <a:xfrm>
                  <a:off x="1115616" y="2098780"/>
                  <a:ext cx="847963" cy="882536"/>
                  <a:chOff x="2959" y="1571"/>
                  <a:chExt cx="454" cy="482"/>
                </a:xfrm>
              </p:grpSpPr>
              <p:grpSp>
                <p:nvGrpSpPr>
                  <p:cNvPr id="28" name="Group 35"/>
                  <p:cNvGrpSpPr>
                    <a:grpSpLocks/>
                  </p:cNvGrpSpPr>
                  <p:nvPr/>
                </p:nvGrpSpPr>
                <p:grpSpPr bwMode="auto">
                  <a:xfrm>
                    <a:off x="2959" y="1571"/>
                    <a:ext cx="454" cy="482"/>
                    <a:chOff x="192" y="1917"/>
                    <a:chExt cx="1042" cy="1102"/>
                  </a:xfrm>
                </p:grpSpPr>
                <p:pic>
                  <p:nvPicPr>
                    <p:cNvPr id="30"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2"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9"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5"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3" name="矩形 22"/>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205130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28</a:t>
            </a:fld>
            <a:endParaRPr lang="zh-CN" altLang="en-US" dirty="0">
              <a:solidFill>
                <a:srgbClr val="A61A40"/>
              </a:solidFill>
            </a:endParaRPr>
          </a:p>
        </p:txBody>
      </p:sp>
      <p:grpSp>
        <p:nvGrpSpPr>
          <p:cNvPr id="6" name="组合 5"/>
          <p:cNvGrpSpPr/>
          <p:nvPr/>
        </p:nvGrpSpPr>
        <p:grpSpPr>
          <a:xfrm>
            <a:off x="457200" y="427804"/>
            <a:ext cx="5616624" cy="798585"/>
            <a:chOff x="460247" y="455317"/>
            <a:chExt cx="5616624" cy="798585"/>
          </a:xfrm>
        </p:grpSpPr>
        <p:grpSp>
          <p:nvGrpSpPr>
            <p:cNvPr id="8" name="组合 7"/>
            <p:cNvGrpSpPr/>
            <p:nvPr/>
          </p:nvGrpSpPr>
          <p:grpSpPr>
            <a:xfrm>
              <a:off x="460247" y="455317"/>
              <a:ext cx="5616624" cy="798585"/>
              <a:chOff x="185955" y="479575"/>
              <a:chExt cx="5616624" cy="798585"/>
            </a:xfrm>
          </p:grpSpPr>
          <p:grpSp>
            <p:nvGrpSpPr>
              <p:cNvPr id="10" name="组合 9"/>
              <p:cNvGrpSpPr/>
              <p:nvPr/>
            </p:nvGrpSpPr>
            <p:grpSpPr>
              <a:xfrm>
                <a:off x="185955" y="479575"/>
                <a:ext cx="5616624" cy="798585"/>
                <a:chOff x="1115616" y="2060848"/>
                <a:chExt cx="6264696" cy="920468"/>
              </a:xfrm>
            </p:grpSpPr>
            <p:sp>
              <p:nvSpPr>
                <p:cNvPr id="12"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13" name="Group 34"/>
                <p:cNvGrpSpPr>
                  <a:grpSpLocks/>
                </p:cNvGrpSpPr>
                <p:nvPr/>
              </p:nvGrpSpPr>
              <p:grpSpPr bwMode="auto">
                <a:xfrm>
                  <a:off x="1115616" y="2098780"/>
                  <a:ext cx="847963" cy="882536"/>
                  <a:chOff x="2959" y="1571"/>
                  <a:chExt cx="454" cy="482"/>
                </a:xfrm>
              </p:grpSpPr>
              <p:grpSp>
                <p:nvGrpSpPr>
                  <p:cNvPr id="14" name="Group 35"/>
                  <p:cNvGrpSpPr>
                    <a:grpSpLocks/>
                  </p:cNvGrpSpPr>
                  <p:nvPr/>
                </p:nvGrpSpPr>
                <p:grpSpPr bwMode="auto">
                  <a:xfrm>
                    <a:off x="2959" y="1571"/>
                    <a:ext cx="454" cy="482"/>
                    <a:chOff x="192" y="1917"/>
                    <a:chExt cx="1042" cy="1102"/>
                  </a:xfrm>
                </p:grpSpPr>
                <p:pic>
                  <p:nvPicPr>
                    <p:cNvPr id="16" name="Picture 36" descr="light_shadow"/>
                    <p:cNvPicPr>
                      <a:picLocks noChangeAspect="1" noChangeArrowheads="1"/>
                    </p:cNvPicPr>
                    <p:nvPr/>
                  </p:nvPicPr>
                  <p:blipFill>
                    <a:blip r:embed="rId2"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7" descr="circuler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18"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5" name="Picture 39" descr="Picture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1"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9" name="矩形 8"/>
            <p:cNvSpPr/>
            <p:nvPr/>
          </p:nvSpPr>
          <p:spPr>
            <a:xfrm>
              <a:off x="1195747" y="591100"/>
              <a:ext cx="4801314"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ea typeface="微软雅黑" pitchFamily="34" charset="-122"/>
                </a:rPr>
                <a:t>现场荷载试验或其他原位测试方法</a:t>
              </a:r>
            </a:p>
          </p:txBody>
        </p:sp>
      </p:grpSp>
      <p:sp>
        <p:nvSpPr>
          <p:cNvPr id="7" name="标题 1"/>
          <p:cNvSpPr txBox="1">
            <a:spLocks/>
          </p:cNvSpPr>
          <p:nvPr/>
        </p:nvSpPr>
        <p:spPr>
          <a:xfrm>
            <a:off x="614370" y="1226389"/>
            <a:ext cx="3237550" cy="647331"/>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pPr>
            <a:r>
              <a:rPr lang="en-US" altLang="zh-CN" sz="2800" b="1" dirty="0">
                <a:solidFill>
                  <a:srgbClr val="FFFF00"/>
                </a:solidFill>
                <a:latin typeface="+mj-lt"/>
                <a:ea typeface="微软雅黑" pitchFamily="34" charset="-122"/>
                <a:cs typeface="+mj-cs"/>
              </a:rPr>
              <a:t>4.2.2.2  </a:t>
            </a:r>
            <a:r>
              <a:rPr lang="zh-CN" altLang="en-US" sz="2800" b="1" dirty="0">
                <a:solidFill>
                  <a:srgbClr val="FFFF00"/>
                </a:solidFill>
                <a:latin typeface="+mj-lt"/>
                <a:ea typeface="微软雅黑" pitchFamily="34" charset="-122"/>
                <a:cs typeface="+mj-cs"/>
              </a:rPr>
              <a:t>结果</a:t>
            </a:r>
            <a:r>
              <a:rPr lang="zh-CN" altLang="en-US" sz="2800" b="1" dirty="0" smtClean="0">
                <a:solidFill>
                  <a:srgbClr val="FFFF00"/>
                </a:solidFill>
                <a:latin typeface="+mj-lt"/>
                <a:ea typeface="微软雅黑" pitchFamily="34" charset="-122"/>
                <a:cs typeface="+mj-cs"/>
              </a:rPr>
              <a:t>分析</a:t>
            </a:r>
            <a:endParaRPr lang="zh-CN" altLang="en-US" sz="2800" b="1" dirty="0">
              <a:solidFill>
                <a:srgbClr val="FFFF00"/>
              </a:solidFill>
              <a:latin typeface="+mj-lt"/>
              <a:ea typeface="微软雅黑" pitchFamily="34" charset="-122"/>
              <a:cs typeface="+mj-cs"/>
            </a:endParaRPr>
          </a:p>
        </p:txBody>
      </p:sp>
      <mc:AlternateContent xmlns:mc="http://schemas.openxmlformats.org/markup-compatibility/2006" xmlns:a14="http://schemas.microsoft.com/office/drawing/2010/main">
        <mc:Choice Requires="a14">
          <p:sp>
            <p:nvSpPr>
              <p:cNvPr id="19" name="内容占位符 2"/>
              <p:cNvSpPr txBox="1">
                <a:spLocks/>
              </p:cNvSpPr>
              <p:nvPr/>
            </p:nvSpPr>
            <p:spPr>
              <a:xfrm>
                <a:off x="314325" y="1983185"/>
                <a:ext cx="3986213" cy="6132909"/>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lnSpc>
                    <a:spcPct val="150000"/>
                  </a:lnSpc>
                </a:pPr>
                <a:r>
                  <a:rPr lang="zh-CN" altLang="zh-CN" sz="2000" b="1" dirty="0" smtClean="0">
                    <a:solidFill>
                      <a:schemeClr val="bg1"/>
                    </a:solidFill>
                    <a:effectLst/>
                    <a:ea typeface="微软雅黑" pitchFamily="34" charset="-122"/>
                  </a:rPr>
                  <a:t>确定三个压力特征值</a:t>
                </a:r>
                <a14:m>
                  <m:oMath xmlns:m="http://schemas.openxmlformats.org/officeDocument/2006/math">
                    <m:sSub>
                      <m:sSubPr>
                        <m:ctrlPr>
                          <a:rPr lang="zh-CN" altLang="zh-CN" sz="2000" b="1" i="1">
                            <a:solidFill>
                              <a:schemeClr val="bg1"/>
                            </a:solidFill>
                            <a:effectLst/>
                            <a:latin typeface="Cambria Math"/>
                          </a:rPr>
                        </m:ctrlPr>
                      </m:sSubPr>
                      <m:e>
                        <m:r>
                          <a:rPr lang="en-US" altLang="zh-CN" sz="2000" b="1" i="1">
                            <a:solidFill>
                              <a:schemeClr val="bg1"/>
                            </a:solidFill>
                            <a:effectLst/>
                            <a:latin typeface="Cambria Math" panose="02040503050406030204" pitchFamily="18" charset="0"/>
                          </a:rPr>
                          <m:t>𝑷</m:t>
                        </m:r>
                      </m:e>
                      <m:sub>
                        <m:r>
                          <a:rPr lang="en-US" altLang="zh-CN" sz="2000" b="1" i="1">
                            <a:solidFill>
                              <a:schemeClr val="bg1"/>
                            </a:solidFill>
                            <a:effectLst/>
                            <a:latin typeface="Cambria Math" panose="02040503050406030204" pitchFamily="18" charset="0"/>
                          </a:rPr>
                          <m:t>𝑶</m:t>
                        </m:r>
                      </m:sub>
                    </m:sSub>
                    <m:r>
                      <a:rPr lang="zh-CN" altLang="zh-CN" sz="2000" b="1">
                        <a:solidFill>
                          <a:schemeClr val="bg1"/>
                        </a:solidFill>
                        <a:effectLst/>
                        <a:latin typeface="Cambria Math" panose="02040503050406030204" pitchFamily="18" charset="0"/>
                      </a:rPr>
                      <m:t>、</m:t>
                    </m:r>
                    <m:sSub>
                      <m:sSubPr>
                        <m:ctrlPr>
                          <a:rPr lang="zh-CN" altLang="zh-CN" sz="2000" b="1" i="1">
                            <a:solidFill>
                              <a:schemeClr val="bg1"/>
                            </a:solidFill>
                            <a:effectLst/>
                            <a:latin typeface="Cambria Math"/>
                          </a:rPr>
                        </m:ctrlPr>
                      </m:sSubPr>
                      <m:e>
                        <m:r>
                          <a:rPr lang="en-US" altLang="zh-CN" sz="2000" b="1" i="1">
                            <a:solidFill>
                              <a:schemeClr val="bg1"/>
                            </a:solidFill>
                            <a:effectLst/>
                            <a:latin typeface="Cambria Math" panose="02040503050406030204" pitchFamily="18" charset="0"/>
                          </a:rPr>
                          <m:t>𝑷</m:t>
                        </m:r>
                      </m:e>
                      <m:sub>
                        <m:r>
                          <a:rPr lang="en-US" altLang="zh-CN" sz="2000" b="1" i="1">
                            <a:solidFill>
                              <a:schemeClr val="bg1"/>
                            </a:solidFill>
                            <a:effectLst/>
                            <a:latin typeface="Cambria Math" panose="02040503050406030204" pitchFamily="18" charset="0"/>
                          </a:rPr>
                          <m:t>𝒇</m:t>
                        </m:r>
                      </m:sub>
                    </m:sSub>
                    <m:r>
                      <a:rPr lang="zh-CN" altLang="zh-CN" sz="2000" b="1">
                        <a:solidFill>
                          <a:schemeClr val="bg1"/>
                        </a:solidFill>
                        <a:effectLst/>
                        <a:latin typeface="Cambria Math" panose="02040503050406030204" pitchFamily="18" charset="0"/>
                      </a:rPr>
                      <m:t>、</m:t>
                    </m:r>
                    <m:sSub>
                      <m:sSubPr>
                        <m:ctrlPr>
                          <a:rPr lang="zh-CN" altLang="zh-CN" sz="2000" b="1" i="1">
                            <a:solidFill>
                              <a:schemeClr val="bg1"/>
                            </a:solidFill>
                            <a:effectLst/>
                            <a:latin typeface="Cambria Math"/>
                          </a:rPr>
                        </m:ctrlPr>
                      </m:sSubPr>
                      <m:e>
                        <m:r>
                          <a:rPr lang="en-US" altLang="zh-CN" sz="2000" b="1" i="1">
                            <a:solidFill>
                              <a:schemeClr val="bg1"/>
                            </a:solidFill>
                            <a:effectLst/>
                            <a:latin typeface="Cambria Math" panose="02040503050406030204" pitchFamily="18" charset="0"/>
                          </a:rPr>
                          <m:t>𝑷</m:t>
                        </m:r>
                      </m:e>
                      <m:sub>
                        <m:r>
                          <a:rPr lang="en-US" altLang="zh-CN" sz="2000" b="1" i="1">
                            <a:solidFill>
                              <a:schemeClr val="bg1"/>
                            </a:solidFill>
                            <a:effectLst/>
                            <a:latin typeface="Cambria Math" panose="02040503050406030204" pitchFamily="18" charset="0"/>
                          </a:rPr>
                          <m:t>𝒍</m:t>
                        </m:r>
                      </m:sub>
                    </m:sSub>
                  </m:oMath>
                </a14:m>
                <a:r>
                  <a:rPr lang="zh-CN" altLang="zh-CN" sz="2000" b="1" dirty="0">
                    <a:solidFill>
                      <a:schemeClr val="bg1"/>
                    </a:solidFill>
                    <a:effectLst/>
                    <a:ea typeface="微软雅黑" pitchFamily="34" charset="-122"/>
                  </a:rPr>
                  <a:t>：</a:t>
                </a:r>
              </a:p>
              <a:p>
                <a:pPr marL="285750" indent="-285750" algn="l">
                  <a:lnSpc>
                    <a:spcPct val="150000"/>
                  </a:lnSpc>
                  <a:buFont typeface="Arial" panose="020B0604020202020204" pitchFamily="34" charset="0"/>
                  <a:buChar char="•"/>
                </a:pP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𝑂</m:t>
                        </m:r>
                        <m:r>
                          <a:rPr lang="zh-CN" altLang="en-US" sz="1600" i="1">
                            <a:solidFill>
                              <a:schemeClr val="tx1"/>
                            </a:solidFill>
                            <a:latin typeface="Cambria Math" panose="02040503050406030204" pitchFamily="18" charset="0"/>
                          </a:rPr>
                          <m:t>：</m:t>
                        </m:r>
                      </m:sub>
                    </m:sSub>
                  </m:oMath>
                </a14:m>
                <a:r>
                  <a:rPr lang="zh-CN" altLang="zh-CN" sz="1600" dirty="0">
                    <a:solidFill>
                      <a:schemeClr val="tx1"/>
                    </a:solidFill>
                    <a:ea typeface="微软雅黑" pitchFamily="34" charset="-122"/>
                  </a:rPr>
                  <a:t>延长旁压曲线直线段延长与纵坐标相交</a:t>
                </a:r>
                <a:r>
                  <a:rPr lang="zh-CN" altLang="en-US" sz="1600" dirty="0">
                    <a:solidFill>
                      <a:schemeClr val="tx1"/>
                    </a:solidFill>
                    <a:ea typeface="微软雅黑" pitchFamily="34" charset="-122"/>
                  </a:rPr>
                  <a:t>于</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𝑉</m:t>
                        </m:r>
                      </m:e>
                      <m:sub>
                        <m:r>
                          <a:rPr lang="en-US" altLang="zh-CN" sz="1600" i="1">
                            <a:solidFill>
                              <a:schemeClr val="tx1"/>
                            </a:solidFill>
                            <a:latin typeface="Cambria Math" panose="02040503050406030204" pitchFamily="18" charset="0"/>
                          </a:rPr>
                          <m:t>𝑂</m:t>
                        </m:r>
                      </m:sub>
                    </m:sSub>
                  </m:oMath>
                </a14:m>
                <a:r>
                  <a:rPr lang="zh-CN" altLang="zh-CN" sz="1600" dirty="0">
                    <a:solidFill>
                      <a:schemeClr val="tx1"/>
                    </a:solidFill>
                    <a:ea typeface="微软雅黑" pitchFamily="34" charset="-122"/>
                  </a:rPr>
                  <a:t>，</a:t>
                </a:r>
                <a:r>
                  <a:rPr lang="zh-CN" altLang="en-US" sz="1600" dirty="0">
                    <a:solidFill>
                      <a:schemeClr val="tx1"/>
                    </a:solidFill>
                    <a:ea typeface="微软雅黑" pitchFamily="34" charset="-122"/>
                  </a:rPr>
                  <a:t>作</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𝑉</m:t>
                        </m:r>
                      </m:e>
                      <m:sub>
                        <m:r>
                          <a:rPr lang="en-US" altLang="zh-CN" sz="1600" i="1">
                            <a:solidFill>
                              <a:schemeClr val="tx1"/>
                            </a:solidFill>
                            <a:latin typeface="Cambria Math" panose="02040503050406030204" pitchFamily="18" charset="0"/>
                          </a:rPr>
                          <m:t>𝑂</m:t>
                        </m:r>
                      </m:sub>
                    </m:sSub>
                  </m:oMath>
                </a14:m>
                <a:r>
                  <a:rPr lang="zh-CN" altLang="zh-CN" sz="1600" dirty="0">
                    <a:solidFill>
                      <a:schemeClr val="tx1"/>
                    </a:solidFill>
                    <a:ea typeface="微软雅黑" pitchFamily="34" charset="-122"/>
                  </a:rPr>
                  <a:t>作与</a:t>
                </a:r>
                <a:r>
                  <a:rPr lang="en-US" altLang="zh-CN" sz="1600" dirty="0">
                    <a:solidFill>
                      <a:schemeClr val="tx1"/>
                    </a:solidFill>
                    <a:ea typeface="微软雅黑" pitchFamily="34" charset="-122"/>
                  </a:rPr>
                  <a:t>P</a:t>
                </a:r>
                <a:r>
                  <a:rPr lang="zh-CN" altLang="zh-CN" sz="1600" dirty="0">
                    <a:solidFill>
                      <a:schemeClr val="tx1"/>
                    </a:solidFill>
                    <a:ea typeface="微软雅黑" pitchFamily="34" charset="-122"/>
                  </a:rPr>
                  <a:t>轴平行线交曲线的点</a:t>
                </a:r>
                <a:r>
                  <a:rPr lang="zh-CN" altLang="en-US" sz="1600" dirty="0">
                    <a:solidFill>
                      <a:schemeClr val="tx1"/>
                    </a:solidFill>
                    <a:ea typeface="微软雅黑" pitchFamily="34" charset="-122"/>
                  </a:rPr>
                  <a:t>，</a:t>
                </a:r>
                <a:r>
                  <a:rPr lang="zh-CN" altLang="zh-CN" sz="1600" dirty="0">
                    <a:solidFill>
                      <a:schemeClr val="tx1"/>
                    </a:solidFill>
                    <a:ea typeface="微软雅黑" pitchFamily="34" charset="-122"/>
                  </a:rPr>
                  <a:t>对应的压力</a:t>
                </a:r>
                <a14:m>
                  <m:oMath xmlns:m="http://schemas.openxmlformats.org/officeDocument/2006/math">
                    <m:r>
                      <a:rPr lang="zh-CN" altLang="en-US" sz="1600" dirty="0">
                        <a:solidFill>
                          <a:schemeClr val="tx1"/>
                        </a:solidFill>
                        <a:latin typeface="Cambria Math" panose="02040503050406030204" pitchFamily="18" charset="0"/>
                      </a:rPr>
                      <m:t>，又</m:t>
                    </m:r>
                    <m:r>
                      <a:rPr lang="zh-CN" altLang="en-US" sz="1600" i="1" dirty="0">
                        <a:solidFill>
                          <a:schemeClr val="tx1"/>
                        </a:solidFill>
                        <a:latin typeface="Cambria Math" panose="02040503050406030204" pitchFamily="18" charset="0"/>
                      </a:rPr>
                      <m:t>称</m:t>
                    </m:r>
                  </m:oMath>
                </a14:m>
                <a:r>
                  <a:rPr lang="zh-CN" altLang="zh-CN" sz="1600" dirty="0">
                    <a:solidFill>
                      <a:schemeClr val="tx1"/>
                    </a:solidFill>
                    <a:ea typeface="微软雅黑" pitchFamily="34" charset="-122"/>
                  </a:rPr>
                  <a:t>为原位水平土</a:t>
                </a:r>
                <a:r>
                  <a:rPr lang="zh-CN" altLang="en-US" sz="1600" dirty="0">
                    <a:solidFill>
                      <a:schemeClr val="tx1"/>
                    </a:solidFill>
                    <a:ea typeface="微软雅黑" pitchFamily="34" charset="-122"/>
                  </a:rPr>
                  <a:t>压力</a:t>
                </a:r>
                <a:r>
                  <a:rPr lang="zh-CN" altLang="zh-CN" sz="1600" dirty="0">
                    <a:solidFill>
                      <a:schemeClr val="tx1"/>
                    </a:solidFill>
                    <a:ea typeface="微软雅黑" pitchFamily="34" charset="-122"/>
                  </a:rPr>
                  <a:t>。</a:t>
                </a:r>
              </a:p>
              <a:p>
                <a:pPr marL="285750" indent="-285750">
                  <a:lnSpc>
                    <a:spcPct val="150000"/>
                  </a:lnSpc>
                  <a:buFont typeface="Arial" panose="020B0604020202020204" pitchFamily="34" charset="0"/>
                  <a:buChar char="•"/>
                </a:pP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𝑓</m:t>
                        </m:r>
                      </m:sub>
                    </m:sSub>
                  </m:oMath>
                </a14:m>
                <a:r>
                  <a:rPr lang="zh-CN" altLang="en-US" sz="1600" dirty="0">
                    <a:solidFill>
                      <a:schemeClr val="tx1"/>
                    </a:solidFill>
                    <a:ea typeface="微软雅黑" pitchFamily="34" charset="-122"/>
                  </a:rPr>
                  <a:t>：</a:t>
                </a:r>
                <a:r>
                  <a:rPr lang="zh-CN" altLang="zh-CN" sz="1600" dirty="0">
                    <a:solidFill>
                      <a:schemeClr val="tx1"/>
                    </a:solidFill>
                    <a:ea typeface="微软雅黑" pitchFamily="34" charset="-122"/>
                  </a:rPr>
                  <a:t>取旁压曲线直线段的终点所对应的压力为</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𝑓</m:t>
                        </m:r>
                      </m:sub>
                    </m:sSub>
                  </m:oMath>
                </a14:m>
                <a:r>
                  <a:rPr lang="zh-CN" altLang="en-US" sz="1600" dirty="0">
                    <a:solidFill>
                      <a:schemeClr val="tx1"/>
                    </a:solidFill>
                    <a:ea typeface="微软雅黑" pitchFamily="34" charset="-122"/>
                  </a:rPr>
                  <a:t>又称为</a:t>
                </a:r>
                <a:r>
                  <a:rPr lang="zh-CN" altLang="zh-CN" sz="1600" dirty="0">
                    <a:solidFill>
                      <a:schemeClr val="tx1"/>
                    </a:solidFill>
                    <a:ea typeface="微软雅黑" pitchFamily="34" charset="-122"/>
                  </a:rPr>
                  <a:t>临塑压力</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𝑓</m:t>
                        </m:r>
                      </m:sub>
                    </m:sSub>
                  </m:oMath>
                </a14:m>
                <a:endParaRPr lang="zh-CN" altLang="zh-CN" sz="1600" dirty="0">
                  <a:solidFill>
                    <a:schemeClr val="tx1"/>
                  </a:solidFill>
                  <a:ea typeface="微软雅黑" pitchFamily="34" charset="-122"/>
                </a:endParaRPr>
              </a:p>
              <a:p>
                <a:pPr marL="285750" indent="-285750" algn="l">
                  <a:lnSpc>
                    <a:spcPct val="150000"/>
                  </a:lnSpc>
                  <a:buFont typeface="Arial" panose="020B0604020202020204" pitchFamily="34" charset="0"/>
                  <a:buChar char="•"/>
                </a:pP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𝑙</m:t>
                        </m:r>
                        <m:r>
                          <a:rPr lang="zh-CN" altLang="en-US" sz="1600" i="1">
                            <a:solidFill>
                              <a:schemeClr val="tx1"/>
                            </a:solidFill>
                            <a:latin typeface="Cambria Math" panose="02040503050406030204" pitchFamily="18" charset="0"/>
                          </a:rPr>
                          <m:t>：</m:t>
                        </m:r>
                      </m:sub>
                    </m:sSub>
                  </m:oMath>
                </a14:m>
                <a:r>
                  <a:rPr lang="zh-CN" altLang="zh-CN" sz="1600" dirty="0">
                    <a:solidFill>
                      <a:schemeClr val="tx1"/>
                    </a:solidFill>
                    <a:latin typeface="微软雅黑" pitchFamily="34" charset="-122"/>
                    <a:ea typeface="微软雅黑" pitchFamily="34" charset="-122"/>
                  </a:rPr>
                  <a:t>曲线趋向于与纵轴平行的渐近线时，其对应的压力</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𝑙</m:t>
                        </m:r>
                      </m:sub>
                    </m:sSub>
                  </m:oMath>
                </a14:m>
                <a:r>
                  <a:rPr lang="zh-CN" altLang="en-US" sz="1600" dirty="0">
                    <a:solidFill>
                      <a:schemeClr val="tx1"/>
                    </a:solidFill>
                    <a:latin typeface="微软雅黑" pitchFamily="34" charset="-122"/>
                    <a:ea typeface="微软雅黑" pitchFamily="34" charset="-122"/>
                  </a:rPr>
                  <a:t>，又称为</a:t>
                </a:r>
                <a:r>
                  <a:rPr lang="zh-CN" altLang="zh-CN" sz="1600" dirty="0">
                    <a:solidFill>
                      <a:schemeClr val="tx1"/>
                    </a:solidFill>
                    <a:latin typeface="微软雅黑" pitchFamily="34" charset="-122"/>
                    <a:ea typeface="微软雅黑" pitchFamily="34" charset="-122"/>
                  </a:rPr>
                  <a:t>为极限压力值</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𝑙</m:t>
                        </m:r>
                      </m:sub>
                    </m:sSub>
                  </m:oMath>
                </a14:m>
                <a:r>
                  <a:rPr lang="zh-CN" altLang="zh-CN" sz="1600" dirty="0">
                    <a:solidFill>
                      <a:schemeClr val="tx1"/>
                    </a:solidFill>
                    <a:latin typeface="微软雅黑" pitchFamily="34" charset="-122"/>
                    <a:ea typeface="微软雅黑" pitchFamily="34" charset="-122"/>
                  </a:rPr>
                  <a:t>。</a:t>
                </a:r>
                <a:r>
                  <a:rPr lang="zh-CN" altLang="en-US" sz="1600" dirty="0">
                    <a:solidFill>
                      <a:schemeClr val="tx1"/>
                    </a:solidFill>
                    <a:latin typeface="微软雅黑" pitchFamily="34" charset="-122"/>
                    <a:ea typeface="微软雅黑" pitchFamily="34" charset="-122"/>
                  </a:rPr>
                  <a:t>当曲线无法判断</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𝑙</m:t>
                        </m:r>
                      </m:sub>
                    </m:sSub>
                    <m:r>
                      <a:rPr lang="zh-CN" altLang="en-US" sz="1600" i="1">
                        <a:solidFill>
                          <a:schemeClr val="tx1"/>
                        </a:solidFill>
                        <a:latin typeface="Cambria Math" panose="02040503050406030204" pitchFamily="18" charset="0"/>
                      </a:rPr>
                      <m:t>，</m:t>
                    </m:r>
                  </m:oMath>
                </a14:m>
                <a:r>
                  <a:rPr lang="zh-CN" altLang="en-US" sz="1600" dirty="0">
                    <a:solidFill>
                      <a:schemeClr val="tx1"/>
                    </a:solidFill>
                    <a:ea typeface="微软雅黑" pitchFamily="34" charset="-122"/>
                  </a:rPr>
                  <a:t>取</a:t>
                </a:r>
                <a:r>
                  <a:rPr lang="zh-CN" altLang="zh-CN" sz="1600" dirty="0">
                    <a:solidFill>
                      <a:schemeClr val="tx1"/>
                    </a:solidFill>
                    <a:ea typeface="微软雅黑" pitchFamily="34" charset="-122"/>
                  </a:rPr>
                  <a:t>对应</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𝑉</m:t>
                        </m:r>
                      </m:e>
                      <m:sub>
                        <m:r>
                          <a:rPr lang="en-US" altLang="zh-CN" sz="1600" i="1">
                            <a:solidFill>
                              <a:schemeClr val="tx1"/>
                            </a:solidFill>
                            <a:latin typeface="Cambria Math" panose="02040503050406030204" pitchFamily="18" charset="0"/>
                          </a:rPr>
                          <m:t>𝑙</m:t>
                        </m:r>
                      </m:sub>
                    </m:sSub>
                  </m:oMath>
                </a14:m>
                <a:r>
                  <a:rPr lang="en-US" altLang="zh-CN" sz="1600" dirty="0">
                    <a:solidFill>
                      <a:schemeClr val="tx1"/>
                    </a:solidFill>
                    <a:ea typeface="微软雅黑" pitchFamily="34" charset="-122"/>
                  </a:rPr>
                  <a:t>=</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𝑉</m:t>
                        </m:r>
                      </m:e>
                      <m:sub>
                        <m:r>
                          <a:rPr lang="en-US" altLang="zh-CN" sz="1600" i="1">
                            <a:solidFill>
                              <a:schemeClr val="tx1"/>
                            </a:solidFill>
                            <a:latin typeface="Cambria Math" panose="02040503050406030204" pitchFamily="18" charset="0"/>
                          </a:rPr>
                          <m:t>𝐶</m:t>
                        </m:r>
                      </m:sub>
                    </m:sSub>
                    <m:r>
                      <a:rPr lang="en-US" altLang="zh-CN" sz="1600" i="1">
                        <a:solidFill>
                          <a:schemeClr val="tx1"/>
                        </a:solidFill>
                        <a:latin typeface="Cambria Math" panose="02040503050406030204" pitchFamily="18" charset="0"/>
                      </a:rPr>
                      <m:t>+</m:t>
                    </m:r>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2</m:t>
                        </m:r>
                        <m:r>
                          <a:rPr lang="en-US" altLang="zh-CN" sz="1600" i="1">
                            <a:solidFill>
                              <a:schemeClr val="tx1"/>
                            </a:solidFill>
                            <a:latin typeface="Cambria Math" panose="02040503050406030204" pitchFamily="18" charset="0"/>
                          </a:rPr>
                          <m:t>𝑉</m:t>
                        </m:r>
                      </m:e>
                      <m:sub>
                        <m:r>
                          <a:rPr lang="en-US" altLang="zh-CN" sz="1600" i="1">
                            <a:solidFill>
                              <a:schemeClr val="tx1"/>
                            </a:solidFill>
                            <a:latin typeface="Cambria Math" panose="02040503050406030204" pitchFamily="18" charset="0"/>
                          </a:rPr>
                          <m:t>𝑂</m:t>
                        </m:r>
                      </m:sub>
                    </m:sSub>
                  </m:oMath>
                </a14:m>
                <a:r>
                  <a:rPr lang="zh-CN" altLang="zh-CN" sz="1600" dirty="0">
                    <a:solidFill>
                      <a:schemeClr val="tx1"/>
                    </a:solidFill>
                    <a:ea typeface="微软雅黑" pitchFamily="34" charset="-122"/>
                  </a:rPr>
                  <a:t>的压力为极限压力</a:t>
                </a:r>
                <a14:m>
                  <m:oMath xmlns:m="http://schemas.openxmlformats.org/officeDocument/2006/math">
                    <m:sSub>
                      <m:sSubPr>
                        <m:ctrlPr>
                          <a:rPr lang="zh-CN" altLang="zh-CN" sz="1600" i="1">
                            <a:solidFill>
                              <a:schemeClr val="tx1"/>
                            </a:solidFill>
                            <a:latin typeface="Cambria Math"/>
                          </a:rPr>
                        </m:ctrlPr>
                      </m:sSubPr>
                      <m:e>
                        <m:r>
                          <a:rPr lang="en-US" altLang="zh-CN" sz="1600" i="1">
                            <a:solidFill>
                              <a:schemeClr val="tx1"/>
                            </a:solidFill>
                            <a:latin typeface="Cambria Math" panose="02040503050406030204" pitchFamily="18" charset="0"/>
                          </a:rPr>
                          <m:t>𝑃</m:t>
                        </m:r>
                      </m:e>
                      <m:sub>
                        <m:r>
                          <a:rPr lang="en-US" altLang="zh-CN" sz="1600" i="1">
                            <a:solidFill>
                              <a:schemeClr val="tx1"/>
                            </a:solidFill>
                            <a:latin typeface="Cambria Math" panose="02040503050406030204" pitchFamily="18" charset="0"/>
                          </a:rPr>
                          <m:t>𝑙</m:t>
                        </m:r>
                      </m:sub>
                    </m:sSub>
                  </m:oMath>
                </a14:m>
                <a:endParaRPr lang="zh-CN" altLang="en-US" sz="1500" dirty="0">
                  <a:ea typeface="微软雅黑" pitchFamily="34" charset="-122"/>
                </a:endParaRPr>
              </a:p>
            </p:txBody>
          </p:sp>
        </mc:Choice>
        <mc:Fallback xmlns="">
          <p:sp>
            <p:nvSpPr>
              <p:cNvPr id="19" name="内容占位符 2"/>
              <p:cNvSpPr txBox="1">
                <a:spLocks noRot="1" noChangeAspect="1" noMove="1" noResize="1" noEditPoints="1" noAdjustHandles="1" noChangeArrowheads="1" noChangeShapeType="1" noTextEdit="1"/>
              </p:cNvSpPr>
              <p:nvPr/>
            </p:nvSpPr>
            <p:spPr>
              <a:xfrm>
                <a:off x="314325" y="1983185"/>
                <a:ext cx="3986213" cy="6132909"/>
              </a:xfrm>
              <a:prstGeom prst="rect">
                <a:avLst/>
              </a:prstGeom>
              <a:blipFill rotWithShape="1">
                <a:blip r:embed="rId5"/>
                <a:stretch>
                  <a:fillRect l="-1685" r="-7963"/>
                </a:stretch>
              </a:blipFill>
            </p:spPr>
            <p:txBody>
              <a:bodyPr/>
              <a:lstStyle/>
              <a:p>
                <a:r>
                  <a:rPr lang="zh-CN" altLang="en-US">
                    <a:noFill/>
                  </a:rPr>
                  <a:t> </a:t>
                </a:r>
              </a:p>
            </p:txBody>
          </p:sp>
        </mc:Fallback>
      </mc:AlternateContent>
      <p:pic>
        <p:nvPicPr>
          <p:cNvPr id="20" name="图片 19"/>
          <p:cNvPicPr/>
          <p:nvPr/>
        </p:nvPicPr>
        <p:blipFill>
          <a:blip r:embed="rId6">
            <a:extLst>
              <a:ext uri="{28A0092B-C50C-407E-A947-70E740481C1C}">
                <a14:useLocalDpi xmlns:a14="http://schemas.microsoft.com/office/drawing/2010/main" val="0"/>
              </a:ext>
            </a:extLst>
          </a:blip>
          <a:stretch>
            <a:fillRect/>
          </a:stretch>
        </p:blipFill>
        <p:spPr>
          <a:xfrm>
            <a:off x="4644008" y="1657274"/>
            <a:ext cx="4320480" cy="36447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12518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29</a:t>
            </a:fld>
            <a:endParaRPr lang="zh-CN" altLang="en-US" dirty="0">
              <a:solidFill>
                <a:srgbClr val="A61A40"/>
              </a:solidFill>
            </a:endParaRPr>
          </a:p>
        </p:txBody>
      </p:sp>
      <p:grpSp>
        <p:nvGrpSpPr>
          <p:cNvPr id="6" name="组合 5"/>
          <p:cNvGrpSpPr/>
          <p:nvPr/>
        </p:nvGrpSpPr>
        <p:grpSpPr>
          <a:xfrm>
            <a:off x="457200" y="427804"/>
            <a:ext cx="5616624" cy="798585"/>
            <a:chOff x="460247" y="455317"/>
            <a:chExt cx="5616624" cy="798585"/>
          </a:xfrm>
        </p:grpSpPr>
        <p:grpSp>
          <p:nvGrpSpPr>
            <p:cNvPr id="7" name="组合 6"/>
            <p:cNvGrpSpPr/>
            <p:nvPr/>
          </p:nvGrpSpPr>
          <p:grpSpPr>
            <a:xfrm>
              <a:off x="460247" y="455317"/>
              <a:ext cx="5616624" cy="798585"/>
              <a:chOff x="185955" y="479575"/>
              <a:chExt cx="5616624" cy="798585"/>
            </a:xfrm>
          </p:grpSpPr>
          <p:grpSp>
            <p:nvGrpSpPr>
              <p:cNvPr id="9" name="组合 8"/>
              <p:cNvGrpSpPr/>
              <p:nvPr/>
            </p:nvGrpSpPr>
            <p:grpSpPr>
              <a:xfrm>
                <a:off x="185955" y="479575"/>
                <a:ext cx="5616624" cy="798585"/>
                <a:chOff x="1115616" y="2060848"/>
                <a:chExt cx="6264696" cy="920468"/>
              </a:xfrm>
            </p:grpSpPr>
            <p:sp>
              <p:nvSpPr>
                <p:cNvPr id="11"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12" name="Group 34"/>
                <p:cNvGrpSpPr>
                  <a:grpSpLocks/>
                </p:cNvGrpSpPr>
                <p:nvPr/>
              </p:nvGrpSpPr>
              <p:grpSpPr bwMode="auto">
                <a:xfrm>
                  <a:off x="1115616" y="2098780"/>
                  <a:ext cx="847963" cy="882536"/>
                  <a:chOff x="2959" y="1571"/>
                  <a:chExt cx="454" cy="482"/>
                </a:xfrm>
              </p:grpSpPr>
              <p:grpSp>
                <p:nvGrpSpPr>
                  <p:cNvPr id="13" name="Group 35"/>
                  <p:cNvGrpSpPr>
                    <a:grpSpLocks/>
                  </p:cNvGrpSpPr>
                  <p:nvPr/>
                </p:nvGrpSpPr>
                <p:grpSpPr bwMode="auto">
                  <a:xfrm>
                    <a:off x="2959" y="1571"/>
                    <a:ext cx="454" cy="482"/>
                    <a:chOff x="192" y="1917"/>
                    <a:chExt cx="1042" cy="1102"/>
                  </a:xfrm>
                </p:grpSpPr>
                <p:pic>
                  <p:nvPicPr>
                    <p:cNvPr id="15"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17"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4"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8" name="矩形 7"/>
            <p:cNvSpPr/>
            <p:nvPr/>
          </p:nvSpPr>
          <p:spPr>
            <a:xfrm>
              <a:off x="1195747" y="591100"/>
              <a:ext cx="4801314"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ea typeface="微软雅黑" pitchFamily="34" charset="-122"/>
                </a:rPr>
                <a:t>现场荷载试验或其他原位测试方法</a:t>
              </a:r>
            </a:p>
          </p:txBody>
        </p:sp>
      </p:grpSp>
      <p:sp>
        <p:nvSpPr>
          <p:cNvPr id="18" name="标题 1"/>
          <p:cNvSpPr txBox="1">
            <a:spLocks/>
          </p:cNvSpPr>
          <p:nvPr/>
        </p:nvSpPr>
        <p:spPr>
          <a:xfrm>
            <a:off x="716466" y="1303717"/>
            <a:ext cx="3063446" cy="647331"/>
          </a:xfrm>
          <a:prstGeom prst="rect">
            <a:avLst/>
          </a:prstGeom>
        </p:spPr>
        <p:txBody>
          <a:bodyPr vert="horz" lIns="91440" tIns="45720" rIns="91440" bIns="4572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pPr>
            <a:r>
              <a:rPr lang="en-US" altLang="zh-CN" sz="2800" b="1" dirty="0">
                <a:solidFill>
                  <a:srgbClr val="FFFF00"/>
                </a:solidFill>
                <a:latin typeface="+mj-lt"/>
                <a:ea typeface="微软雅黑" pitchFamily="34" charset="-122"/>
                <a:cs typeface="+mj-cs"/>
              </a:rPr>
              <a:t>4.2.2.3  </a:t>
            </a:r>
            <a:r>
              <a:rPr lang="zh-CN" altLang="en-US" sz="2800" b="1" dirty="0">
                <a:solidFill>
                  <a:srgbClr val="FFFF00"/>
                </a:solidFill>
                <a:latin typeface="+mj-lt"/>
                <a:ea typeface="微软雅黑" pitchFamily="34" charset="-122"/>
                <a:cs typeface="+mj-cs"/>
              </a:rPr>
              <a:t>结果</a:t>
            </a:r>
            <a:r>
              <a:rPr lang="zh-CN" altLang="en-US" sz="2800" b="1" dirty="0" smtClean="0">
                <a:solidFill>
                  <a:srgbClr val="FFFF00"/>
                </a:solidFill>
                <a:latin typeface="+mj-lt"/>
                <a:ea typeface="微软雅黑" pitchFamily="34" charset="-122"/>
                <a:cs typeface="+mj-cs"/>
              </a:rPr>
              <a:t>分析</a:t>
            </a:r>
            <a:endParaRPr lang="zh-CN" altLang="en-US" sz="2800" b="1" dirty="0">
              <a:solidFill>
                <a:srgbClr val="FFFF00"/>
              </a:solidFill>
              <a:latin typeface="+mj-lt"/>
              <a:ea typeface="微软雅黑" pitchFamily="34" charset="-122"/>
              <a:cs typeface="+mj-cs"/>
            </a:endParaRPr>
          </a:p>
        </p:txBody>
      </p:sp>
      <mc:AlternateContent xmlns:mc="http://schemas.openxmlformats.org/markup-compatibility/2006" xmlns:a14="http://schemas.microsoft.com/office/drawing/2010/main">
        <mc:Choice Requires="a14">
          <p:graphicFrame>
            <p:nvGraphicFramePr>
              <p:cNvPr id="20" name="图示 19"/>
              <p:cNvGraphicFramePr/>
              <p:nvPr>
                <p:extLst>
                  <p:ext uri="{D42A27DB-BD31-4B8C-83A1-F6EECF244321}">
                    <p14:modId xmlns:p14="http://schemas.microsoft.com/office/powerpoint/2010/main" val="4197174979"/>
                  </p:ext>
                </p:extLst>
              </p:nvPr>
            </p:nvGraphicFramePr>
            <p:xfrm>
              <a:off x="1133715" y="1978985"/>
              <a:ext cx="6606638"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mc:Choice>
        <mc:Fallback xmlns="">
          <p:graphicFrame>
            <p:nvGraphicFramePr>
              <p:cNvPr id="20" name="图示 19"/>
              <p:cNvGraphicFramePr/>
              <p:nvPr>
                <p:extLst>
                  <p:ext uri="{D42A27DB-BD31-4B8C-83A1-F6EECF244321}">
                    <p14:modId xmlns:p14="http://schemas.microsoft.com/office/powerpoint/2010/main" val="4197174979"/>
                  </p:ext>
                </p:extLst>
              </p:nvPr>
            </p:nvGraphicFramePr>
            <p:xfrm>
              <a:off x="1133715" y="1978985"/>
              <a:ext cx="6606638" cy="406400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Fallback>
      </mc:AlternateContent>
    </p:spTree>
    <p:extLst>
      <p:ext uri="{BB962C8B-B14F-4D97-AF65-F5344CB8AC3E}">
        <p14:creationId xmlns:p14="http://schemas.microsoft.com/office/powerpoint/2010/main" val="19477206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30</a:t>
            </a:fld>
            <a:endParaRPr lang="zh-CN" altLang="en-US" dirty="0">
              <a:solidFill>
                <a:srgbClr val="A61A40"/>
              </a:solidFill>
            </a:endParaRPr>
          </a:p>
        </p:txBody>
      </p:sp>
      <p:sp>
        <p:nvSpPr>
          <p:cNvPr id="18" name="标题 1"/>
          <p:cNvSpPr txBox="1">
            <a:spLocks/>
          </p:cNvSpPr>
          <p:nvPr/>
        </p:nvSpPr>
        <p:spPr>
          <a:xfrm>
            <a:off x="683568" y="1633356"/>
            <a:ext cx="2952328" cy="716318"/>
          </a:xfrm>
          <a:prstGeom prst="rect">
            <a:avLst/>
          </a:prstGeom>
        </p:spPr>
        <p:txBody>
          <a:bodyPr vert="horz" lIns="91440" tIns="45720" rIns="91440" bIns="45720" rtlCol="0" anchor="ctr">
            <a:normAutofit fontScale="4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5900" b="1" dirty="0">
                <a:solidFill>
                  <a:srgbClr val="FFFF00"/>
                </a:solidFill>
                <a:ea typeface="微软雅黑" pitchFamily="34" charset="-122"/>
              </a:rPr>
              <a:t>4.3 </a:t>
            </a:r>
            <a:r>
              <a:rPr lang="zh-CN" altLang="en-US" sz="5900" b="1" dirty="0">
                <a:solidFill>
                  <a:srgbClr val="FFFF00"/>
                </a:solidFill>
                <a:ea typeface="微软雅黑" pitchFamily="34" charset="-122"/>
              </a:rPr>
              <a:t>基础埋深修正</a:t>
            </a:r>
            <a:r>
              <a:rPr lang="zh-CN" altLang="en-US" dirty="0" smtClean="0">
                <a:ea typeface="微软雅黑" pitchFamily="34" charset="-122"/>
              </a:rPr>
              <a:t/>
            </a:r>
            <a:br>
              <a:rPr lang="zh-CN" altLang="en-US" dirty="0" smtClean="0">
                <a:ea typeface="微软雅黑" pitchFamily="34" charset="-122"/>
              </a:rPr>
            </a:br>
            <a:endParaRPr lang="zh-CN" altLang="en-US" dirty="0">
              <a:ea typeface="微软雅黑" pitchFamily="34" charset="-122"/>
            </a:endParaRPr>
          </a:p>
        </p:txBody>
      </p:sp>
      <p:pic>
        <p:nvPicPr>
          <p:cNvPr id="19" name="内容占位符 6"/>
          <p:cNvPicPr>
            <a:picLocks noGrp="1"/>
          </p:cNvPicPr>
          <p:nvPr/>
        </p:nvPicPr>
        <p:blipFill>
          <a:blip r:embed="rId3"/>
          <a:stretch>
            <a:fillRect/>
          </a:stretch>
        </p:blipFill>
        <p:spPr>
          <a:xfrm>
            <a:off x="1269401" y="2338648"/>
            <a:ext cx="6357938" cy="2514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20" name="组合 19"/>
          <p:cNvGrpSpPr/>
          <p:nvPr/>
        </p:nvGrpSpPr>
        <p:grpSpPr>
          <a:xfrm>
            <a:off x="416081" y="455317"/>
            <a:ext cx="5616624" cy="798585"/>
            <a:chOff x="460247" y="455317"/>
            <a:chExt cx="5616624" cy="798585"/>
          </a:xfrm>
        </p:grpSpPr>
        <p:grpSp>
          <p:nvGrpSpPr>
            <p:cNvPr id="21" name="组合 20"/>
            <p:cNvGrpSpPr/>
            <p:nvPr/>
          </p:nvGrpSpPr>
          <p:grpSpPr>
            <a:xfrm>
              <a:off x="460247" y="455317"/>
              <a:ext cx="5616624" cy="798585"/>
              <a:chOff x="185955" y="479575"/>
              <a:chExt cx="5616624" cy="798585"/>
            </a:xfrm>
          </p:grpSpPr>
          <p:grpSp>
            <p:nvGrpSpPr>
              <p:cNvPr id="23" name="组合 22"/>
              <p:cNvGrpSpPr/>
              <p:nvPr/>
            </p:nvGrpSpPr>
            <p:grpSpPr>
              <a:xfrm>
                <a:off x="185955" y="479575"/>
                <a:ext cx="5616624" cy="798585"/>
                <a:chOff x="1115616" y="2060848"/>
                <a:chExt cx="6264696" cy="920468"/>
              </a:xfrm>
            </p:grpSpPr>
            <p:sp>
              <p:nvSpPr>
                <p:cNvPr id="25"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6" name="Group 34"/>
                <p:cNvGrpSpPr>
                  <a:grpSpLocks/>
                </p:cNvGrpSpPr>
                <p:nvPr/>
              </p:nvGrpSpPr>
              <p:grpSpPr bwMode="auto">
                <a:xfrm>
                  <a:off x="1115616" y="2098780"/>
                  <a:ext cx="847963" cy="882536"/>
                  <a:chOff x="2959" y="1571"/>
                  <a:chExt cx="454" cy="482"/>
                </a:xfrm>
              </p:grpSpPr>
              <p:grpSp>
                <p:nvGrpSpPr>
                  <p:cNvPr id="27" name="Group 35"/>
                  <p:cNvGrpSpPr>
                    <a:grpSpLocks/>
                  </p:cNvGrpSpPr>
                  <p:nvPr/>
                </p:nvGrpSpPr>
                <p:grpSpPr bwMode="auto">
                  <a:xfrm>
                    <a:off x="2959" y="1571"/>
                    <a:ext cx="454" cy="482"/>
                    <a:chOff x="192" y="1917"/>
                    <a:chExt cx="1042" cy="1102"/>
                  </a:xfrm>
                </p:grpSpPr>
                <p:pic>
                  <p:nvPicPr>
                    <p:cNvPr id="29" name="Picture 36" descr="light_shadow"/>
                    <p:cNvPicPr>
                      <a:picLocks noChangeAspect="1" noChangeArrowheads="1"/>
                    </p:cNvPicPr>
                    <p:nvPr/>
                  </p:nvPicPr>
                  <p:blipFill>
                    <a:blip r:embed="rId4"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7" descr="circuler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8" name="Picture 39" descr="Picture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4"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2" name="矩形 21"/>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4010474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31</a:t>
            </a:fld>
            <a:endParaRPr lang="zh-CN" altLang="en-US" dirty="0">
              <a:solidFill>
                <a:srgbClr val="A61A40"/>
              </a:solidFill>
            </a:endParaRPr>
          </a:p>
        </p:txBody>
      </p:sp>
      <p:sp>
        <p:nvSpPr>
          <p:cNvPr id="18" name="标题 1"/>
          <p:cNvSpPr txBox="1">
            <a:spLocks/>
          </p:cNvSpPr>
          <p:nvPr/>
        </p:nvSpPr>
        <p:spPr>
          <a:xfrm>
            <a:off x="811363" y="1609600"/>
            <a:ext cx="3500532" cy="71631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FF00"/>
                </a:solidFill>
                <a:ea typeface="微软雅黑" pitchFamily="34" charset="-122"/>
              </a:rPr>
              <a:t>4.3.1 </a:t>
            </a:r>
            <a:r>
              <a:rPr lang="zh-CN" altLang="en-US" sz="2800" b="1" dirty="0">
                <a:solidFill>
                  <a:srgbClr val="FFFF00"/>
                </a:solidFill>
                <a:ea typeface="微软雅黑" pitchFamily="34" charset="-122"/>
              </a:rPr>
              <a:t>超载有效宽度</a:t>
            </a:r>
          </a:p>
        </p:txBody>
      </p:sp>
      <p:sp>
        <p:nvSpPr>
          <p:cNvPr id="19" name="内容占位符 10"/>
          <p:cNvSpPr txBox="1">
            <a:spLocks/>
          </p:cNvSpPr>
          <p:nvPr/>
        </p:nvSpPr>
        <p:spPr>
          <a:xfrm>
            <a:off x="583634" y="1629594"/>
            <a:ext cx="4060374" cy="427306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Font typeface="Arial" pitchFamily="34" charset="0"/>
              <a:buNone/>
            </a:pPr>
            <a:endParaRPr lang="zh-CN" altLang="zh-CN" sz="2000" dirty="0" smtClean="0">
              <a:solidFill>
                <a:schemeClr val="bg1"/>
              </a:solidFill>
              <a:ea typeface="微软雅黑" pitchFamily="34" charset="-122"/>
            </a:endParaRPr>
          </a:p>
          <a:p>
            <a:pPr marL="0" indent="0">
              <a:lnSpc>
                <a:spcPct val="150000"/>
              </a:lnSpc>
              <a:buNone/>
            </a:pPr>
            <a:r>
              <a:rPr lang="zh-CN" altLang="en-US" sz="2000" dirty="0" smtClean="0">
                <a:solidFill>
                  <a:schemeClr val="bg1"/>
                </a:solidFill>
                <a:ea typeface="微软雅黑" pitchFamily="34" charset="-122"/>
              </a:rPr>
              <a:t>       </a:t>
            </a:r>
            <a:r>
              <a:rPr lang="zh-CN" altLang="zh-CN" sz="2000" dirty="0" smtClean="0">
                <a:solidFill>
                  <a:schemeClr val="bg1"/>
                </a:solidFill>
                <a:ea typeface="微软雅黑" pitchFamily="34" charset="-122"/>
              </a:rPr>
              <a:t>根据《规范》规定，平板荷载法的试验基坑宽度不应小于承压板宽度或直径的三倍 ，而且考虑到试验基坑开挖时对周边的扰动，这样在平板荷载法的试验测试中，虽然存在两侧的地面超载，但是有效的却很少；</a:t>
            </a:r>
            <a:endParaRPr lang="en-US" altLang="zh-CN" sz="2000" dirty="0" smtClean="0">
              <a:solidFill>
                <a:schemeClr val="bg1"/>
              </a:solidFill>
              <a:ea typeface="微软雅黑" pitchFamily="34" charset="-122"/>
            </a:endParaRPr>
          </a:p>
          <a:p>
            <a:pPr marL="0" indent="0">
              <a:lnSpc>
                <a:spcPct val="150000"/>
              </a:lnSpc>
              <a:buNone/>
            </a:pPr>
            <a:r>
              <a:rPr lang="zh-CN" altLang="en-US" sz="2000" dirty="0" smtClean="0">
                <a:solidFill>
                  <a:schemeClr val="bg1"/>
                </a:solidFill>
                <a:ea typeface="微软雅黑" pitchFamily="34" charset="-122"/>
              </a:rPr>
              <a:t>      综上所述，当超载的范围大于</a:t>
            </a:r>
            <a:r>
              <a:rPr lang="en-US" altLang="zh-CN" sz="2000" dirty="0" smtClean="0">
                <a:solidFill>
                  <a:schemeClr val="bg1"/>
                </a:solidFill>
                <a:ea typeface="微软雅黑" pitchFamily="34" charset="-122"/>
              </a:rPr>
              <a:t>2~4B</a:t>
            </a:r>
            <a:r>
              <a:rPr lang="zh-CN" altLang="en-US" sz="2000" dirty="0" smtClean="0">
                <a:solidFill>
                  <a:schemeClr val="bg1"/>
                </a:solidFill>
                <a:ea typeface="微软雅黑" pitchFamily="34" charset="-122"/>
              </a:rPr>
              <a:t>时，对地基承载力特征值进行深度修正时十分必要的。</a:t>
            </a:r>
            <a:endParaRPr lang="zh-CN" altLang="zh-CN" sz="2000" dirty="0" smtClean="0">
              <a:solidFill>
                <a:schemeClr val="bg1"/>
              </a:solidFill>
              <a:ea typeface="微软雅黑" pitchFamily="34" charset="-122"/>
            </a:endParaRPr>
          </a:p>
          <a:p>
            <a:pPr>
              <a:lnSpc>
                <a:spcPct val="150000"/>
              </a:lnSpc>
            </a:pPr>
            <a:endParaRPr lang="zh-CN" altLang="en-US" dirty="0">
              <a:solidFill>
                <a:schemeClr val="bg1"/>
              </a:solidFill>
              <a:ea typeface="微软雅黑" pitchFamily="34" charset="-122"/>
            </a:endParaRPr>
          </a:p>
        </p:txBody>
      </p:sp>
      <p:pic>
        <p:nvPicPr>
          <p:cNvPr id="20" name="图片 19"/>
          <p:cNvPicPr/>
          <p:nvPr/>
        </p:nvPicPr>
        <p:blipFill>
          <a:blip r:embed="rId2">
            <a:extLst>
              <a:ext uri="{28A0092B-C50C-407E-A947-70E740481C1C}">
                <a14:useLocalDpi xmlns:a14="http://schemas.microsoft.com/office/drawing/2010/main" val="0"/>
              </a:ext>
            </a:extLst>
          </a:blip>
          <a:srcRect/>
          <a:stretch>
            <a:fillRect/>
          </a:stretch>
        </p:blipFill>
        <p:spPr bwMode="auto">
          <a:xfrm>
            <a:off x="4678959" y="2325918"/>
            <a:ext cx="3970496" cy="38948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33" name="组合 32"/>
          <p:cNvGrpSpPr/>
          <p:nvPr/>
        </p:nvGrpSpPr>
        <p:grpSpPr>
          <a:xfrm>
            <a:off x="416081" y="455317"/>
            <a:ext cx="5616624" cy="798585"/>
            <a:chOff x="460247" y="455317"/>
            <a:chExt cx="5616624" cy="798585"/>
          </a:xfrm>
        </p:grpSpPr>
        <p:grpSp>
          <p:nvGrpSpPr>
            <p:cNvPr id="34" name="组合 33"/>
            <p:cNvGrpSpPr/>
            <p:nvPr/>
          </p:nvGrpSpPr>
          <p:grpSpPr>
            <a:xfrm>
              <a:off x="460247" y="455317"/>
              <a:ext cx="5616624" cy="798585"/>
              <a:chOff x="185955" y="479575"/>
              <a:chExt cx="5616624" cy="798585"/>
            </a:xfrm>
          </p:grpSpPr>
          <p:grpSp>
            <p:nvGrpSpPr>
              <p:cNvPr id="36" name="组合 35"/>
              <p:cNvGrpSpPr/>
              <p:nvPr/>
            </p:nvGrpSpPr>
            <p:grpSpPr>
              <a:xfrm>
                <a:off x="185955" y="479575"/>
                <a:ext cx="5616624" cy="798585"/>
                <a:chOff x="1115616" y="2060848"/>
                <a:chExt cx="6264696" cy="920468"/>
              </a:xfrm>
            </p:grpSpPr>
            <p:sp>
              <p:nvSpPr>
                <p:cNvPr id="38"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39" name="Group 34"/>
                <p:cNvGrpSpPr>
                  <a:grpSpLocks/>
                </p:cNvGrpSpPr>
                <p:nvPr/>
              </p:nvGrpSpPr>
              <p:grpSpPr bwMode="auto">
                <a:xfrm>
                  <a:off x="1115616" y="2098780"/>
                  <a:ext cx="847963" cy="882536"/>
                  <a:chOff x="2959" y="1571"/>
                  <a:chExt cx="454" cy="482"/>
                </a:xfrm>
              </p:grpSpPr>
              <p:grpSp>
                <p:nvGrpSpPr>
                  <p:cNvPr id="40" name="Group 35"/>
                  <p:cNvGrpSpPr>
                    <a:grpSpLocks/>
                  </p:cNvGrpSpPr>
                  <p:nvPr/>
                </p:nvGrpSpPr>
                <p:grpSpPr bwMode="auto">
                  <a:xfrm>
                    <a:off x="2959" y="1571"/>
                    <a:ext cx="454" cy="482"/>
                    <a:chOff x="192" y="1917"/>
                    <a:chExt cx="1042" cy="1102"/>
                  </a:xfrm>
                </p:grpSpPr>
                <p:pic>
                  <p:nvPicPr>
                    <p:cNvPr id="42"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44"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41"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7"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35" name="矩形 34"/>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8022432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32</a:t>
            </a:fld>
            <a:endParaRPr lang="zh-CN" altLang="en-US" dirty="0">
              <a:solidFill>
                <a:srgbClr val="A61A40"/>
              </a:solidFill>
            </a:endParaRPr>
          </a:p>
        </p:txBody>
      </p:sp>
      <p:sp>
        <p:nvSpPr>
          <p:cNvPr id="18" name="标题 1"/>
          <p:cNvSpPr txBox="1">
            <a:spLocks/>
          </p:cNvSpPr>
          <p:nvPr/>
        </p:nvSpPr>
        <p:spPr>
          <a:xfrm>
            <a:off x="811363" y="1609600"/>
            <a:ext cx="2952328" cy="71631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FF00"/>
                </a:solidFill>
                <a:ea typeface="微软雅黑" pitchFamily="34" charset="-122"/>
              </a:rPr>
              <a:t>4.3.2  </a:t>
            </a:r>
            <a:r>
              <a:rPr lang="zh-CN" altLang="en-US" sz="2800" b="1" dirty="0">
                <a:solidFill>
                  <a:srgbClr val="FFFF00"/>
                </a:solidFill>
                <a:ea typeface="微软雅黑" pitchFamily="34" charset="-122"/>
              </a:rPr>
              <a:t>安全度问题</a:t>
            </a:r>
          </a:p>
        </p:txBody>
      </p:sp>
      <mc:AlternateContent xmlns:mc="http://schemas.openxmlformats.org/markup-compatibility/2006" xmlns:a14="http://schemas.microsoft.com/office/drawing/2010/main">
        <mc:Choice Requires="a14">
          <p:sp>
            <p:nvSpPr>
              <p:cNvPr id="19" name="内容占位符 11"/>
              <p:cNvSpPr txBox="1">
                <a:spLocks/>
              </p:cNvSpPr>
              <p:nvPr/>
            </p:nvSpPr>
            <p:spPr>
              <a:xfrm>
                <a:off x="599895" y="2579632"/>
                <a:ext cx="7886700" cy="32635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lnSpc>
                    <a:spcPct val="150000"/>
                  </a:lnSpc>
                </a:pPr>
                <a:r>
                  <a:rPr lang="en-US" altLang="zh-CN" sz="2000" dirty="0" smtClean="0">
                    <a:solidFill>
                      <a:schemeClr val="bg1"/>
                    </a:solidFill>
                    <a:ea typeface="微软雅黑" pitchFamily="34" charset="-122"/>
                  </a:rPr>
                  <a:t>        </a:t>
                </a:r>
                <a:r>
                  <a:rPr lang="zh-CN" altLang="zh-CN" sz="2000" dirty="0" smtClean="0">
                    <a:solidFill>
                      <a:schemeClr val="bg1"/>
                    </a:solidFill>
                    <a:ea typeface="微软雅黑" pitchFamily="34" charset="-122"/>
                  </a:rPr>
                  <a:t>规范中在考虑超载的有利影响时，并非直接采用基础顶面以上的土层厚度</a:t>
                </a:r>
                <a14:m>
                  <m:oMath xmlns:m="http://schemas.openxmlformats.org/officeDocument/2006/math">
                    <m:r>
                      <a:rPr lang="en-US" altLang="zh-CN" sz="2000" i="1">
                        <a:solidFill>
                          <a:schemeClr val="bg1"/>
                        </a:solidFill>
                        <a:latin typeface="Cambria Math" panose="02040503050406030204" pitchFamily="18" charset="0"/>
                      </a:rPr>
                      <m:t>𝑑</m:t>
                    </m:r>
                  </m:oMath>
                </a14:m>
                <a:r>
                  <a:rPr lang="zh-CN" altLang="zh-CN" sz="2000" dirty="0">
                    <a:solidFill>
                      <a:schemeClr val="bg1"/>
                    </a:solidFill>
                    <a:ea typeface="微软雅黑" pitchFamily="34" charset="-122"/>
                  </a:rPr>
                  <a:t>，而取是</a:t>
                </a:r>
                <a14:m>
                  <m:oMath xmlns:m="http://schemas.openxmlformats.org/officeDocument/2006/math">
                    <m:r>
                      <a:rPr lang="en-US" altLang="zh-CN" sz="2000" i="1">
                        <a:solidFill>
                          <a:schemeClr val="bg1"/>
                        </a:solidFill>
                        <a:latin typeface="Cambria Math" panose="02040503050406030204" pitchFamily="18" charset="0"/>
                      </a:rPr>
                      <m:t>𝑑</m:t>
                    </m:r>
                    <m:r>
                      <a:rPr lang="en-US" altLang="zh-CN" sz="2000" i="1">
                        <a:solidFill>
                          <a:schemeClr val="bg1"/>
                        </a:solidFill>
                        <a:latin typeface="Cambria Math" panose="02040503050406030204" pitchFamily="18" charset="0"/>
                      </a:rPr>
                      <m:t>−0.5</m:t>
                    </m:r>
                  </m:oMath>
                </a14:m>
                <a:r>
                  <a:rPr lang="zh-CN" altLang="zh-CN" sz="2000" dirty="0">
                    <a:solidFill>
                      <a:schemeClr val="bg1"/>
                    </a:solidFill>
                    <a:ea typeface="微软雅黑" pitchFamily="34" charset="-122"/>
                  </a:rPr>
                  <a:t>，这是考虑到地表土层易风化，且容易受到扰动，这样的考虑显然是偏安全的；</a:t>
                </a:r>
              </a:p>
              <a:p>
                <a:pPr algn="l">
                  <a:lnSpc>
                    <a:spcPct val="150000"/>
                  </a:lnSpc>
                </a:pPr>
                <a:r>
                  <a:rPr lang="en-US" altLang="zh-CN" sz="2000" dirty="0" smtClean="0">
                    <a:solidFill>
                      <a:schemeClr val="bg1"/>
                    </a:solidFill>
                    <a:ea typeface="微软雅黑" pitchFamily="34" charset="-122"/>
                  </a:rPr>
                  <a:t>         </a:t>
                </a:r>
                <a:r>
                  <a:rPr lang="zh-CN" altLang="zh-CN" sz="2000" dirty="0" smtClean="0">
                    <a:solidFill>
                      <a:schemeClr val="bg1"/>
                    </a:solidFill>
                    <a:ea typeface="微软雅黑" pitchFamily="34" charset="-122"/>
                  </a:rPr>
                  <a:t>深度</a:t>
                </a:r>
                <a:r>
                  <a:rPr lang="zh-CN" altLang="zh-CN" sz="2000" dirty="0">
                    <a:solidFill>
                      <a:schemeClr val="bg1"/>
                    </a:solidFill>
                    <a:ea typeface="微软雅黑" pitchFamily="34" charset="-122"/>
                  </a:rPr>
                  <a:t>修正系数</a:t>
                </a:r>
                <a14:m>
                  <m:oMath xmlns:m="http://schemas.openxmlformats.org/officeDocument/2006/math">
                    <m:sSub>
                      <m:sSubPr>
                        <m:ctrlPr>
                          <a:rPr lang="zh-CN" altLang="zh-CN" sz="2000" i="1">
                            <a:solidFill>
                              <a:schemeClr val="bg1"/>
                            </a:solidFill>
                            <a:latin typeface="Cambria Math"/>
                          </a:rPr>
                        </m:ctrlPr>
                      </m:sSubPr>
                      <m:e>
                        <m:r>
                          <a:rPr lang="en-US" altLang="zh-CN" sz="2000" i="1">
                            <a:solidFill>
                              <a:schemeClr val="bg1"/>
                            </a:solidFill>
                            <a:latin typeface="Cambria Math" panose="02040503050406030204" pitchFamily="18" charset="0"/>
                          </a:rPr>
                          <m:t>𝜂</m:t>
                        </m:r>
                      </m:e>
                      <m:sub>
                        <m:r>
                          <a:rPr lang="en-US" altLang="zh-CN" sz="2000" i="1">
                            <a:solidFill>
                              <a:schemeClr val="bg1"/>
                            </a:solidFill>
                            <a:latin typeface="Cambria Math" panose="02040503050406030204" pitchFamily="18" charset="0"/>
                          </a:rPr>
                          <m:t>𝑑</m:t>
                        </m:r>
                      </m:sub>
                    </m:sSub>
                  </m:oMath>
                </a14:m>
                <a:r>
                  <a:rPr lang="zh-CN" altLang="zh-CN" sz="2000" dirty="0">
                    <a:solidFill>
                      <a:schemeClr val="bg1"/>
                    </a:solidFill>
                    <a:ea typeface="微软雅黑" pitchFamily="34" charset="-122"/>
                  </a:rPr>
                  <a:t>：从表</a:t>
                </a:r>
                <a:r>
                  <a:rPr lang="en-US" altLang="zh-CN" sz="2000" dirty="0">
                    <a:solidFill>
                      <a:schemeClr val="bg1"/>
                    </a:solidFill>
                    <a:ea typeface="微软雅黑" pitchFamily="34" charset="-122"/>
                  </a:rPr>
                  <a:t>5.2.4</a:t>
                </a:r>
                <a:r>
                  <a:rPr lang="zh-CN" altLang="zh-CN" sz="2000" dirty="0">
                    <a:solidFill>
                      <a:schemeClr val="bg1"/>
                    </a:solidFill>
                    <a:ea typeface="微软雅黑" pitchFamily="34" charset="-122"/>
                  </a:rPr>
                  <a:t>可以看到规范给出的深度修正系数 </a:t>
                </a:r>
                <a14:m>
                  <m:oMath xmlns:m="http://schemas.openxmlformats.org/officeDocument/2006/math">
                    <m:sSub>
                      <m:sSubPr>
                        <m:ctrlPr>
                          <a:rPr lang="zh-CN" altLang="zh-CN" sz="2000" i="1">
                            <a:solidFill>
                              <a:schemeClr val="bg1"/>
                            </a:solidFill>
                            <a:latin typeface="Cambria Math"/>
                          </a:rPr>
                        </m:ctrlPr>
                      </m:sSubPr>
                      <m:e>
                        <m:r>
                          <a:rPr lang="en-US" altLang="zh-CN" sz="2000" i="1">
                            <a:solidFill>
                              <a:schemeClr val="bg1"/>
                            </a:solidFill>
                            <a:latin typeface="Cambria Math" panose="02040503050406030204" pitchFamily="18" charset="0"/>
                          </a:rPr>
                          <m:t>𝜂</m:t>
                        </m:r>
                      </m:e>
                      <m:sub>
                        <m:r>
                          <a:rPr lang="en-US" altLang="zh-CN" sz="2000" i="1">
                            <a:solidFill>
                              <a:schemeClr val="bg1"/>
                            </a:solidFill>
                            <a:latin typeface="Cambria Math" panose="02040503050406030204" pitchFamily="18" charset="0"/>
                          </a:rPr>
                          <m:t>𝑑</m:t>
                        </m:r>
                      </m:sub>
                    </m:sSub>
                  </m:oMath>
                </a14:m>
                <a:r>
                  <a:rPr lang="en-US" altLang="zh-CN" sz="2000" dirty="0">
                    <a:solidFill>
                      <a:schemeClr val="bg1"/>
                    </a:solidFill>
                    <a:ea typeface="微软雅黑" pitchFamily="34" charset="-122"/>
                  </a:rPr>
                  <a:t> </a:t>
                </a:r>
                <a:r>
                  <a:rPr lang="zh-CN" altLang="zh-CN" sz="2000" dirty="0">
                    <a:solidFill>
                      <a:schemeClr val="bg1"/>
                    </a:solidFill>
                    <a:ea typeface="微软雅黑" pitchFamily="34" charset="-122"/>
                  </a:rPr>
                  <a:t>是突变的，例如对于</a:t>
                </a:r>
                <a:r>
                  <a:rPr lang="en-US" altLang="zh-CN" sz="2000" dirty="0">
                    <a:solidFill>
                      <a:schemeClr val="bg1"/>
                    </a:solidFill>
                    <a:ea typeface="微软雅黑" pitchFamily="34" charset="-122"/>
                  </a:rPr>
                  <a:t>e</a:t>
                </a:r>
                <a:r>
                  <a:rPr lang="zh-CN" altLang="zh-CN" sz="2000" dirty="0">
                    <a:solidFill>
                      <a:schemeClr val="bg1"/>
                    </a:solidFill>
                    <a:ea typeface="微软雅黑" pitchFamily="34" charset="-122"/>
                  </a:rPr>
                  <a:t>和</a:t>
                </a:r>
                <a14:m>
                  <m:oMath xmlns:m="http://schemas.openxmlformats.org/officeDocument/2006/math">
                    <m:sSub>
                      <m:sSubPr>
                        <m:ctrlPr>
                          <a:rPr lang="zh-CN" altLang="zh-CN" sz="2000" i="1">
                            <a:solidFill>
                              <a:schemeClr val="bg1"/>
                            </a:solidFill>
                            <a:latin typeface="Cambria Math"/>
                          </a:rPr>
                        </m:ctrlPr>
                      </m:sSubPr>
                      <m:e>
                        <m:r>
                          <a:rPr lang="en-US" altLang="zh-CN" sz="2000" i="1">
                            <a:solidFill>
                              <a:schemeClr val="bg1"/>
                            </a:solidFill>
                            <a:latin typeface="Cambria Math" panose="02040503050406030204" pitchFamily="18" charset="0"/>
                          </a:rPr>
                          <m:t>𝐼</m:t>
                        </m:r>
                      </m:e>
                      <m:sub>
                        <m:r>
                          <a:rPr lang="en-US" altLang="zh-CN" sz="2000" i="1">
                            <a:solidFill>
                              <a:schemeClr val="bg1"/>
                            </a:solidFill>
                            <a:latin typeface="Cambria Math" panose="02040503050406030204" pitchFamily="18" charset="0"/>
                          </a:rPr>
                          <m:t>𝐿</m:t>
                        </m:r>
                      </m:sub>
                    </m:sSub>
                  </m:oMath>
                </a14:m>
                <a:r>
                  <a:rPr lang="zh-CN" altLang="zh-CN" sz="2000" dirty="0">
                    <a:solidFill>
                      <a:schemeClr val="bg1"/>
                    </a:solidFill>
                    <a:ea typeface="微软雅黑" pitchFamily="34" charset="-122"/>
                  </a:rPr>
                  <a:t>均小于</a:t>
                </a:r>
                <a:r>
                  <a:rPr lang="en-US" altLang="zh-CN" sz="2000" dirty="0">
                    <a:solidFill>
                      <a:schemeClr val="bg1"/>
                    </a:solidFill>
                    <a:ea typeface="微软雅黑" pitchFamily="34" charset="-122"/>
                  </a:rPr>
                  <a:t>0.85</a:t>
                </a:r>
                <a:r>
                  <a:rPr lang="zh-CN" altLang="zh-CN" sz="2000" dirty="0">
                    <a:solidFill>
                      <a:schemeClr val="bg1"/>
                    </a:solidFill>
                    <a:ea typeface="微软雅黑" pitchFamily="34" charset="-122"/>
                  </a:rPr>
                  <a:t>的黏性土，</a:t>
                </a:r>
                <a14:m>
                  <m:oMath xmlns:m="http://schemas.openxmlformats.org/officeDocument/2006/math">
                    <m:sSub>
                      <m:sSubPr>
                        <m:ctrlPr>
                          <a:rPr lang="zh-CN" altLang="zh-CN" sz="2000" i="1">
                            <a:solidFill>
                              <a:schemeClr val="bg1"/>
                            </a:solidFill>
                            <a:latin typeface="Cambria Math"/>
                          </a:rPr>
                        </m:ctrlPr>
                      </m:sSubPr>
                      <m:e>
                        <m:r>
                          <a:rPr lang="en-US" altLang="zh-CN" sz="2000" i="1">
                            <a:solidFill>
                              <a:schemeClr val="bg1"/>
                            </a:solidFill>
                            <a:latin typeface="Cambria Math" panose="02040503050406030204" pitchFamily="18" charset="0"/>
                          </a:rPr>
                          <m:t>𝜂</m:t>
                        </m:r>
                      </m:e>
                      <m:sub>
                        <m:r>
                          <a:rPr lang="en-US" altLang="zh-CN" sz="2000" i="1">
                            <a:solidFill>
                              <a:schemeClr val="bg1"/>
                            </a:solidFill>
                            <a:latin typeface="Cambria Math" panose="02040503050406030204" pitchFamily="18" charset="0"/>
                          </a:rPr>
                          <m:t>𝑑</m:t>
                        </m:r>
                      </m:sub>
                    </m:sSub>
                    <m:r>
                      <a:rPr lang="en-US" altLang="zh-CN" sz="2000" i="1">
                        <a:solidFill>
                          <a:schemeClr val="bg1"/>
                        </a:solidFill>
                        <a:latin typeface="Cambria Math" panose="02040503050406030204" pitchFamily="18" charset="0"/>
                      </a:rPr>
                      <m:t>=1.6</m:t>
                    </m:r>
                  </m:oMath>
                </a14:m>
                <a:r>
                  <a:rPr lang="zh-CN" altLang="zh-CN" sz="2000" dirty="0">
                    <a:solidFill>
                      <a:schemeClr val="bg1"/>
                    </a:solidFill>
                    <a:ea typeface="微软雅黑" pitchFamily="34" charset="-122"/>
                  </a:rPr>
                  <a:t>；对于</a:t>
                </a:r>
                <a:r>
                  <a:rPr lang="en-US" altLang="zh-CN" sz="2000" dirty="0">
                    <a:solidFill>
                      <a:schemeClr val="bg1"/>
                    </a:solidFill>
                    <a:ea typeface="微软雅黑" pitchFamily="34" charset="-122"/>
                  </a:rPr>
                  <a:t>e</a:t>
                </a:r>
                <a:r>
                  <a:rPr lang="zh-CN" altLang="zh-CN" sz="2000" dirty="0">
                    <a:solidFill>
                      <a:schemeClr val="bg1"/>
                    </a:solidFill>
                    <a:ea typeface="微软雅黑" pitchFamily="34" charset="-122"/>
                  </a:rPr>
                  <a:t>和</a:t>
                </a:r>
                <a14:m>
                  <m:oMath xmlns:m="http://schemas.openxmlformats.org/officeDocument/2006/math">
                    <m:sSub>
                      <m:sSubPr>
                        <m:ctrlPr>
                          <a:rPr lang="zh-CN" altLang="zh-CN" sz="2000" i="1">
                            <a:solidFill>
                              <a:schemeClr val="bg1"/>
                            </a:solidFill>
                            <a:latin typeface="Cambria Math"/>
                          </a:rPr>
                        </m:ctrlPr>
                      </m:sSubPr>
                      <m:e>
                        <m:r>
                          <a:rPr lang="en-US" altLang="zh-CN" sz="2000" i="1">
                            <a:solidFill>
                              <a:schemeClr val="bg1"/>
                            </a:solidFill>
                            <a:latin typeface="Cambria Math" panose="02040503050406030204" pitchFamily="18" charset="0"/>
                          </a:rPr>
                          <m:t>𝐼</m:t>
                        </m:r>
                      </m:e>
                      <m:sub>
                        <m:r>
                          <a:rPr lang="en-US" altLang="zh-CN" sz="2000" i="1">
                            <a:solidFill>
                              <a:schemeClr val="bg1"/>
                            </a:solidFill>
                            <a:latin typeface="Cambria Math" panose="02040503050406030204" pitchFamily="18" charset="0"/>
                          </a:rPr>
                          <m:t>𝐿</m:t>
                        </m:r>
                      </m:sub>
                    </m:sSub>
                  </m:oMath>
                </a14:m>
                <a:r>
                  <a:rPr lang="zh-CN" altLang="zh-CN" sz="2000" dirty="0">
                    <a:solidFill>
                      <a:schemeClr val="bg1"/>
                    </a:solidFill>
                    <a:ea typeface="微软雅黑" pitchFamily="34" charset="-122"/>
                  </a:rPr>
                  <a:t>均大于</a:t>
                </a:r>
                <a:r>
                  <a:rPr lang="en-US" altLang="zh-CN" sz="2000" dirty="0">
                    <a:solidFill>
                      <a:schemeClr val="bg1"/>
                    </a:solidFill>
                    <a:ea typeface="微软雅黑" pitchFamily="34" charset="-122"/>
                  </a:rPr>
                  <a:t>0.85</a:t>
                </a:r>
                <a:r>
                  <a:rPr lang="zh-CN" altLang="zh-CN" sz="2000" dirty="0">
                    <a:solidFill>
                      <a:schemeClr val="bg1"/>
                    </a:solidFill>
                    <a:ea typeface="微软雅黑" pitchFamily="34" charset="-122"/>
                  </a:rPr>
                  <a:t>的黏性土，则</a:t>
                </a:r>
                <a14:m>
                  <m:oMath xmlns:m="http://schemas.openxmlformats.org/officeDocument/2006/math">
                    <m:sSub>
                      <m:sSubPr>
                        <m:ctrlPr>
                          <a:rPr lang="zh-CN" altLang="zh-CN" sz="2000" i="1">
                            <a:solidFill>
                              <a:schemeClr val="bg1"/>
                            </a:solidFill>
                            <a:latin typeface="Cambria Math"/>
                          </a:rPr>
                        </m:ctrlPr>
                      </m:sSubPr>
                      <m:e>
                        <m:r>
                          <a:rPr lang="en-US" altLang="zh-CN" sz="2000" i="1">
                            <a:solidFill>
                              <a:schemeClr val="bg1"/>
                            </a:solidFill>
                            <a:latin typeface="Cambria Math" panose="02040503050406030204" pitchFamily="18" charset="0"/>
                          </a:rPr>
                          <m:t>𝜂</m:t>
                        </m:r>
                      </m:e>
                      <m:sub>
                        <m:r>
                          <a:rPr lang="en-US" altLang="zh-CN" sz="2000" i="1">
                            <a:solidFill>
                              <a:schemeClr val="bg1"/>
                            </a:solidFill>
                            <a:latin typeface="Cambria Math" panose="02040503050406030204" pitchFamily="18" charset="0"/>
                          </a:rPr>
                          <m:t>𝑑</m:t>
                        </m:r>
                      </m:sub>
                    </m:sSub>
                    <m:r>
                      <a:rPr lang="en-US" altLang="zh-CN" sz="2000" i="1">
                        <a:solidFill>
                          <a:schemeClr val="bg1"/>
                        </a:solidFill>
                        <a:latin typeface="Cambria Math" panose="02040503050406030204" pitchFamily="18" charset="0"/>
                      </a:rPr>
                      <m:t>=1.0</m:t>
                    </m:r>
                  </m:oMath>
                </a14:m>
                <a:r>
                  <a:rPr lang="zh-CN" altLang="zh-CN" sz="2000" dirty="0">
                    <a:solidFill>
                      <a:schemeClr val="bg1"/>
                    </a:solidFill>
                    <a:ea typeface="微软雅黑" pitchFamily="34" charset="-122"/>
                  </a:rPr>
                  <a:t>；这显然是不符合实际，存在误差的；但是由于全国各地的土质不同，其安全度具体如何因地而异；</a:t>
                </a:r>
              </a:p>
              <a:p>
                <a:pPr algn="l">
                  <a:lnSpc>
                    <a:spcPct val="150000"/>
                  </a:lnSpc>
                </a:pPr>
                <a:endParaRPr lang="zh-CN" altLang="en-US" sz="2000" dirty="0">
                  <a:solidFill>
                    <a:schemeClr val="bg1"/>
                  </a:solidFill>
                  <a:ea typeface="微软雅黑" pitchFamily="34" charset="-122"/>
                </a:endParaRPr>
              </a:p>
            </p:txBody>
          </p:sp>
        </mc:Choice>
        <mc:Fallback xmlns="">
          <p:sp>
            <p:nvSpPr>
              <p:cNvPr id="19" name="内容占位符 11"/>
              <p:cNvSpPr txBox="1">
                <a:spLocks noRot="1" noChangeAspect="1" noMove="1" noResize="1" noEditPoints="1" noAdjustHandles="1" noChangeArrowheads="1" noChangeShapeType="1" noTextEdit="1"/>
              </p:cNvSpPr>
              <p:nvPr/>
            </p:nvSpPr>
            <p:spPr>
              <a:xfrm>
                <a:off x="599895" y="2579632"/>
                <a:ext cx="7886700" cy="3263504"/>
              </a:xfrm>
              <a:prstGeom prst="rect">
                <a:avLst/>
              </a:prstGeom>
              <a:blipFill rotWithShape="1">
                <a:blip r:embed="rId2"/>
                <a:stretch>
                  <a:fillRect l="-773" r="-773" b="-4291"/>
                </a:stretch>
              </a:blipFill>
            </p:spPr>
            <p:txBody>
              <a:bodyPr/>
              <a:lstStyle/>
              <a:p>
                <a:r>
                  <a:rPr lang="zh-CN" altLang="en-US">
                    <a:noFill/>
                  </a:rPr>
                  <a:t> </a:t>
                </a:r>
              </a:p>
            </p:txBody>
          </p:sp>
        </mc:Fallback>
      </mc:AlternateContent>
      <p:grpSp>
        <p:nvGrpSpPr>
          <p:cNvPr id="20" name="组合 19"/>
          <p:cNvGrpSpPr/>
          <p:nvPr/>
        </p:nvGrpSpPr>
        <p:grpSpPr>
          <a:xfrm>
            <a:off x="416081" y="455317"/>
            <a:ext cx="5616624" cy="798585"/>
            <a:chOff x="460247" y="455317"/>
            <a:chExt cx="5616624" cy="798585"/>
          </a:xfrm>
        </p:grpSpPr>
        <p:grpSp>
          <p:nvGrpSpPr>
            <p:cNvPr id="21" name="组合 20"/>
            <p:cNvGrpSpPr/>
            <p:nvPr/>
          </p:nvGrpSpPr>
          <p:grpSpPr>
            <a:xfrm>
              <a:off x="460247" y="455317"/>
              <a:ext cx="5616624" cy="798585"/>
              <a:chOff x="185955" y="479575"/>
              <a:chExt cx="5616624" cy="798585"/>
            </a:xfrm>
          </p:grpSpPr>
          <p:grpSp>
            <p:nvGrpSpPr>
              <p:cNvPr id="23" name="组合 22"/>
              <p:cNvGrpSpPr/>
              <p:nvPr/>
            </p:nvGrpSpPr>
            <p:grpSpPr>
              <a:xfrm>
                <a:off x="185955" y="479575"/>
                <a:ext cx="5616624" cy="798585"/>
                <a:chOff x="1115616" y="2060848"/>
                <a:chExt cx="6264696" cy="920468"/>
              </a:xfrm>
            </p:grpSpPr>
            <p:sp>
              <p:nvSpPr>
                <p:cNvPr id="25"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6" name="Group 34"/>
                <p:cNvGrpSpPr>
                  <a:grpSpLocks/>
                </p:cNvGrpSpPr>
                <p:nvPr/>
              </p:nvGrpSpPr>
              <p:grpSpPr bwMode="auto">
                <a:xfrm>
                  <a:off x="1115616" y="2098780"/>
                  <a:ext cx="847963" cy="882536"/>
                  <a:chOff x="2959" y="1571"/>
                  <a:chExt cx="454" cy="482"/>
                </a:xfrm>
              </p:grpSpPr>
              <p:grpSp>
                <p:nvGrpSpPr>
                  <p:cNvPr id="27" name="Group 35"/>
                  <p:cNvGrpSpPr>
                    <a:grpSpLocks/>
                  </p:cNvGrpSpPr>
                  <p:nvPr/>
                </p:nvGrpSpPr>
                <p:grpSpPr bwMode="auto">
                  <a:xfrm>
                    <a:off x="2959" y="1571"/>
                    <a:ext cx="454" cy="482"/>
                    <a:chOff x="192" y="1917"/>
                    <a:chExt cx="1042" cy="1102"/>
                  </a:xfrm>
                </p:grpSpPr>
                <p:pic>
                  <p:nvPicPr>
                    <p:cNvPr id="29"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8"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4"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2" name="矩形 21"/>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377266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33</a:t>
            </a:fld>
            <a:endParaRPr lang="zh-CN" altLang="en-US" dirty="0">
              <a:solidFill>
                <a:srgbClr val="A61A40"/>
              </a:solidFill>
            </a:endParaRPr>
          </a:p>
        </p:txBody>
      </p:sp>
      <p:sp>
        <p:nvSpPr>
          <p:cNvPr id="18" name="标题 1"/>
          <p:cNvSpPr txBox="1">
            <a:spLocks/>
          </p:cNvSpPr>
          <p:nvPr/>
        </p:nvSpPr>
        <p:spPr>
          <a:xfrm>
            <a:off x="829667" y="1502806"/>
            <a:ext cx="2952328" cy="71631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FF00"/>
                </a:solidFill>
                <a:ea typeface="微软雅黑" pitchFamily="34" charset="-122"/>
              </a:rPr>
              <a:t>4.3.3  </a:t>
            </a:r>
            <a:r>
              <a:rPr lang="zh-CN" altLang="en-US" sz="2800" b="1" dirty="0">
                <a:solidFill>
                  <a:srgbClr val="FFFF00"/>
                </a:solidFill>
                <a:ea typeface="微软雅黑" pitchFamily="34" charset="-122"/>
              </a:rPr>
              <a:t>算例对比</a:t>
            </a:r>
          </a:p>
        </p:txBody>
      </p:sp>
      <p:sp>
        <p:nvSpPr>
          <p:cNvPr id="19" name="文本框 18"/>
          <p:cNvSpPr txBox="1"/>
          <p:nvPr/>
        </p:nvSpPr>
        <p:spPr>
          <a:xfrm>
            <a:off x="36512" y="2018958"/>
            <a:ext cx="9144000" cy="1338828"/>
          </a:xfrm>
          <a:prstGeom prst="rect">
            <a:avLst/>
          </a:prstGeom>
          <a:noFill/>
        </p:spPr>
        <p:txBody>
          <a:bodyPr wrap="square" rtlCol="0">
            <a:spAutoFit/>
          </a:bodyPr>
          <a:lstStyle/>
          <a:p>
            <a:pPr>
              <a:lnSpc>
                <a:spcPct val="150000"/>
              </a:lnSpc>
            </a:pPr>
            <a:r>
              <a:rPr lang="zh-CN" altLang="en-US" dirty="0" smtClean="0">
                <a:solidFill>
                  <a:schemeClr val="bg1"/>
                </a:solidFill>
                <a:ea typeface="微软雅黑" pitchFamily="34" charset="-122"/>
              </a:rPr>
              <a:t>        </a:t>
            </a:r>
            <a:r>
              <a:rPr lang="zh-CN" altLang="zh-CN" dirty="0" smtClean="0">
                <a:solidFill>
                  <a:schemeClr val="bg1"/>
                </a:solidFill>
                <a:ea typeface="微软雅黑" pitchFamily="34" charset="-122"/>
              </a:rPr>
              <a:t>在此</a:t>
            </a:r>
            <a:r>
              <a:rPr lang="zh-CN" altLang="zh-CN" dirty="0">
                <a:solidFill>
                  <a:schemeClr val="bg1"/>
                </a:solidFill>
                <a:ea typeface="微软雅黑" pitchFamily="34" charset="-122"/>
              </a:rPr>
              <a:t>以北京市，粘性土地基为例，进行简单的对比分析</a:t>
            </a:r>
            <a:r>
              <a:rPr lang="zh-CN" altLang="en-US" dirty="0">
                <a:solidFill>
                  <a:schemeClr val="bg1"/>
                </a:solidFill>
                <a:ea typeface="微软雅黑" pitchFamily="34" charset="-122"/>
              </a:rPr>
              <a:t>，</a:t>
            </a:r>
            <a:r>
              <a:rPr lang="zh-CN" altLang="zh-CN" dirty="0">
                <a:solidFill>
                  <a:schemeClr val="bg1"/>
                </a:solidFill>
                <a:ea typeface="微软雅黑" pitchFamily="34" charset="-122"/>
              </a:rPr>
              <a:t>由于一般本地规范有着大量的工程经验支持，其值相对较准确，故对比公式采用《北京地区建筑地基基础勘察设计规范》条文说明中推荐的</a:t>
            </a:r>
            <a:r>
              <a:rPr lang="zh-CN" altLang="zh-CN" dirty="0" smtClean="0">
                <a:solidFill>
                  <a:schemeClr val="bg1"/>
                </a:solidFill>
                <a:ea typeface="微软雅黑" pitchFamily="34" charset="-122"/>
              </a:rPr>
              <a:t>公式</a:t>
            </a:r>
            <a:endParaRPr lang="zh-CN" altLang="en-US" dirty="0">
              <a:solidFill>
                <a:schemeClr val="bg1"/>
              </a:solidFill>
              <a:ea typeface="微软雅黑" pitchFamily="34" charset="-122"/>
            </a:endParaRPr>
          </a:p>
        </p:txBody>
      </p:sp>
      <p:pic>
        <p:nvPicPr>
          <p:cNvPr id="20" name="图片 19"/>
          <p:cNvPicPr/>
          <p:nvPr/>
        </p:nvPicPr>
        <p:blipFill>
          <a:blip r:embed="rId2">
            <a:extLst>
              <a:ext uri="{28A0092B-C50C-407E-A947-70E740481C1C}">
                <a14:useLocalDpi xmlns:a14="http://schemas.microsoft.com/office/drawing/2010/main" val="0"/>
              </a:ext>
            </a:extLst>
          </a:blip>
          <a:srcRect/>
          <a:stretch>
            <a:fillRect/>
          </a:stretch>
        </p:blipFill>
        <p:spPr bwMode="auto">
          <a:xfrm>
            <a:off x="457200" y="3573810"/>
            <a:ext cx="3451860" cy="30148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a14="http://schemas.microsoft.com/office/drawing/2010/main">
        <mc:Choice Requires="a14">
          <p:sp>
            <p:nvSpPr>
              <p:cNvPr id="21" name="内容占位符 10"/>
              <p:cNvSpPr txBox="1">
                <a:spLocks/>
              </p:cNvSpPr>
              <p:nvPr/>
            </p:nvSpPr>
            <p:spPr>
              <a:xfrm>
                <a:off x="4355976" y="3145702"/>
                <a:ext cx="4492895" cy="296133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Font typeface="Arial" pitchFamily="34" charset="0"/>
                  <a:buNone/>
                </a:pPr>
                <a:endParaRPr lang="zh-CN" altLang="zh-CN" sz="2000" dirty="0" smtClean="0">
                  <a:solidFill>
                    <a:schemeClr val="bg1"/>
                  </a:solidFill>
                  <a:ea typeface="微软雅黑" pitchFamily="34" charset="-122"/>
                </a:endParaRPr>
              </a:p>
              <a:p>
                <a:pPr marL="0" indent="0">
                  <a:lnSpc>
                    <a:spcPct val="150000"/>
                  </a:lnSpc>
                  <a:buNone/>
                </a:pPr>
                <a:r>
                  <a:rPr lang="zh-CN" altLang="en-US" sz="1800" dirty="0" smtClean="0">
                    <a:solidFill>
                      <a:schemeClr val="bg1"/>
                    </a:solidFill>
                    <a:ea typeface="微软雅黑" pitchFamily="34" charset="-122"/>
                  </a:rPr>
                  <a:t>        </a:t>
                </a:r>
                <a:r>
                  <a:rPr lang="zh-CN" altLang="zh-CN" sz="1800" dirty="0" smtClean="0">
                    <a:solidFill>
                      <a:schemeClr val="bg1"/>
                    </a:solidFill>
                    <a:ea typeface="微软雅黑" pitchFamily="34" charset="-122"/>
                  </a:rPr>
                  <a:t>可以</a:t>
                </a:r>
                <a:r>
                  <a:rPr lang="zh-CN" altLang="zh-CN" sz="1800" dirty="0">
                    <a:solidFill>
                      <a:schemeClr val="bg1"/>
                    </a:solidFill>
                    <a:ea typeface="微软雅黑" pitchFamily="34" charset="-122"/>
                  </a:rPr>
                  <a:t>看到，当</a:t>
                </a:r>
                <a14:m>
                  <m:oMath xmlns:m="http://schemas.openxmlformats.org/officeDocument/2006/math">
                    <m:r>
                      <a:rPr lang="en-US" altLang="zh-CN" sz="1800" i="1">
                        <a:solidFill>
                          <a:schemeClr val="bg1"/>
                        </a:solidFill>
                        <a:latin typeface="Cambria Math" panose="02040503050406030204" pitchFamily="18" charset="0"/>
                      </a:rPr>
                      <m:t>∅&gt;18°</m:t>
                    </m:r>
                  </m:oMath>
                </a14:m>
                <a:r>
                  <a:rPr lang="zh-CN" altLang="zh-CN" sz="1800" dirty="0">
                    <a:solidFill>
                      <a:schemeClr val="bg1"/>
                    </a:solidFill>
                    <a:ea typeface="微软雅黑" pitchFamily="34" charset="-122"/>
                  </a:rPr>
                  <a:t>后，《北京规范》的</a:t>
                </a:r>
                <a14:m>
                  <m:oMath xmlns:m="http://schemas.openxmlformats.org/officeDocument/2006/math">
                    <m:sSub>
                      <m:sSubPr>
                        <m:ctrlPr>
                          <a:rPr lang="zh-CN" altLang="zh-CN" sz="1800" i="1">
                            <a:solidFill>
                              <a:schemeClr val="bg1"/>
                            </a:solidFill>
                            <a:latin typeface="Cambria Math"/>
                          </a:rPr>
                        </m:ctrlPr>
                      </m:sSubPr>
                      <m:e>
                        <m:r>
                          <a:rPr lang="en-US" altLang="zh-CN" sz="1800" i="1">
                            <a:solidFill>
                              <a:schemeClr val="bg1"/>
                            </a:solidFill>
                            <a:latin typeface="Cambria Math" panose="02040503050406030204" pitchFamily="18" charset="0"/>
                          </a:rPr>
                          <m:t>𝜂</m:t>
                        </m:r>
                      </m:e>
                      <m:sub>
                        <m:r>
                          <a:rPr lang="en-US" altLang="zh-CN" sz="1800" i="1">
                            <a:solidFill>
                              <a:schemeClr val="bg1"/>
                            </a:solidFill>
                            <a:latin typeface="Cambria Math" panose="02040503050406030204" pitchFamily="18" charset="0"/>
                          </a:rPr>
                          <m:t>𝑑</m:t>
                        </m:r>
                      </m:sub>
                    </m:sSub>
                  </m:oMath>
                </a14:m>
                <a:r>
                  <a:rPr lang="zh-CN" altLang="zh-CN" sz="1800" dirty="0">
                    <a:solidFill>
                      <a:schemeClr val="bg1"/>
                    </a:solidFill>
                    <a:ea typeface="微软雅黑" pitchFamily="34" charset="-122"/>
                  </a:rPr>
                  <a:t>大于</a:t>
                </a:r>
                <a:r>
                  <a:rPr lang="en-US" altLang="zh-CN" sz="1800" dirty="0">
                    <a:solidFill>
                      <a:schemeClr val="bg1"/>
                    </a:solidFill>
                    <a:ea typeface="微软雅黑" pitchFamily="34" charset="-122"/>
                  </a:rPr>
                  <a:t>1.6</a:t>
                </a:r>
                <a:r>
                  <a:rPr lang="zh-CN" altLang="zh-CN" sz="1800" dirty="0">
                    <a:solidFill>
                      <a:schemeClr val="bg1"/>
                    </a:solidFill>
                    <a:ea typeface="微软雅黑" pitchFamily="34" charset="-122"/>
                  </a:rPr>
                  <a:t>，考虑到绝大多数的黏性土的</a:t>
                </a:r>
                <a14:m>
                  <m:oMath xmlns:m="http://schemas.openxmlformats.org/officeDocument/2006/math">
                    <m:r>
                      <a:rPr lang="en-US" altLang="zh-CN" sz="1800" i="1">
                        <a:solidFill>
                          <a:schemeClr val="bg1"/>
                        </a:solidFill>
                        <a:latin typeface="Cambria Math" panose="02040503050406030204" pitchFamily="18" charset="0"/>
                      </a:rPr>
                      <m:t>∅</m:t>
                    </m:r>
                  </m:oMath>
                </a14:m>
                <a:r>
                  <a:rPr lang="zh-CN" altLang="zh-CN" sz="1800" dirty="0">
                    <a:solidFill>
                      <a:schemeClr val="bg1"/>
                    </a:solidFill>
                    <a:ea typeface="微软雅黑" pitchFamily="34" charset="-122"/>
                  </a:rPr>
                  <a:t>值在</a:t>
                </a:r>
                <a14:m>
                  <m:oMath xmlns:m="http://schemas.openxmlformats.org/officeDocument/2006/math">
                    <m:r>
                      <a:rPr lang="en-US" altLang="zh-CN" sz="1800">
                        <a:solidFill>
                          <a:schemeClr val="bg1"/>
                        </a:solidFill>
                        <a:latin typeface="Cambria Math" panose="02040503050406030204" pitchFamily="18" charset="0"/>
                      </a:rPr>
                      <m:t>10°~20°</m:t>
                    </m:r>
                  </m:oMath>
                </a14:m>
                <a:r>
                  <a:rPr lang="zh-CN" altLang="zh-CN" sz="1800" dirty="0">
                    <a:solidFill>
                      <a:schemeClr val="bg1"/>
                    </a:solidFill>
                    <a:ea typeface="微软雅黑" pitchFamily="34" charset="-122"/>
                  </a:rPr>
                  <a:t>左右，故对于</a:t>
                </a:r>
                <a:r>
                  <a:rPr lang="en-US" altLang="zh-CN" sz="1800" dirty="0">
                    <a:solidFill>
                      <a:schemeClr val="bg1"/>
                    </a:solidFill>
                    <a:ea typeface="微软雅黑" pitchFamily="34" charset="-122"/>
                  </a:rPr>
                  <a:t>e</a:t>
                </a:r>
                <a:r>
                  <a:rPr lang="zh-CN" altLang="zh-CN" sz="1800" dirty="0">
                    <a:solidFill>
                      <a:schemeClr val="bg1"/>
                    </a:solidFill>
                    <a:ea typeface="微软雅黑" pitchFamily="34" charset="-122"/>
                  </a:rPr>
                  <a:t>和</a:t>
                </a:r>
                <a14:m>
                  <m:oMath xmlns:m="http://schemas.openxmlformats.org/officeDocument/2006/math">
                    <m:sSub>
                      <m:sSubPr>
                        <m:ctrlPr>
                          <a:rPr lang="zh-CN" altLang="zh-CN" sz="1800" i="1">
                            <a:solidFill>
                              <a:schemeClr val="bg1"/>
                            </a:solidFill>
                            <a:latin typeface="Cambria Math"/>
                          </a:rPr>
                        </m:ctrlPr>
                      </m:sSubPr>
                      <m:e>
                        <m:r>
                          <a:rPr lang="en-US" altLang="zh-CN" sz="1800" i="1">
                            <a:solidFill>
                              <a:schemeClr val="bg1"/>
                            </a:solidFill>
                            <a:latin typeface="Cambria Math" panose="02040503050406030204" pitchFamily="18" charset="0"/>
                          </a:rPr>
                          <m:t>𝐼</m:t>
                        </m:r>
                      </m:e>
                      <m:sub>
                        <m:r>
                          <a:rPr lang="en-US" altLang="zh-CN" sz="1800" i="1">
                            <a:solidFill>
                              <a:schemeClr val="bg1"/>
                            </a:solidFill>
                            <a:latin typeface="Cambria Math" panose="02040503050406030204" pitchFamily="18" charset="0"/>
                          </a:rPr>
                          <m:t>𝐿</m:t>
                        </m:r>
                      </m:sub>
                    </m:sSub>
                  </m:oMath>
                </a14:m>
                <a:r>
                  <a:rPr lang="zh-CN" altLang="zh-CN" sz="1800" dirty="0">
                    <a:solidFill>
                      <a:schemeClr val="bg1"/>
                    </a:solidFill>
                    <a:ea typeface="微软雅黑" pitchFamily="34" charset="-122"/>
                  </a:rPr>
                  <a:t>均小于</a:t>
                </a:r>
                <a:r>
                  <a:rPr lang="en-US" altLang="zh-CN" sz="1800" dirty="0">
                    <a:solidFill>
                      <a:schemeClr val="bg1"/>
                    </a:solidFill>
                    <a:ea typeface="微软雅黑" pitchFamily="34" charset="-122"/>
                  </a:rPr>
                  <a:t>0.85</a:t>
                </a:r>
                <a:r>
                  <a:rPr lang="zh-CN" altLang="zh-CN" sz="1800" dirty="0">
                    <a:solidFill>
                      <a:schemeClr val="bg1"/>
                    </a:solidFill>
                    <a:ea typeface="微软雅黑" pitchFamily="34" charset="-122"/>
                  </a:rPr>
                  <a:t>的黏性土，《建筑地基基础设计规范》宽度修正系数安全度相对较差；而对于</a:t>
                </a:r>
                <a:r>
                  <a:rPr lang="en-US" altLang="zh-CN" sz="1800" dirty="0">
                    <a:solidFill>
                      <a:schemeClr val="bg1"/>
                    </a:solidFill>
                    <a:ea typeface="微软雅黑" pitchFamily="34" charset="-122"/>
                  </a:rPr>
                  <a:t>e</a:t>
                </a:r>
                <a:r>
                  <a:rPr lang="zh-CN" altLang="zh-CN" sz="1800" dirty="0">
                    <a:solidFill>
                      <a:schemeClr val="bg1"/>
                    </a:solidFill>
                    <a:ea typeface="微软雅黑" pitchFamily="34" charset="-122"/>
                  </a:rPr>
                  <a:t>和</a:t>
                </a:r>
                <a14:m>
                  <m:oMath xmlns:m="http://schemas.openxmlformats.org/officeDocument/2006/math">
                    <m:sSub>
                      <m:sSubPr>
                        <m:ctrlPr>
                          <a:rPr lang="zh-CN" altLang="zh-CN" sz="1800" i="1">
                            <a:solidFill>
                              <a:schemeClr val="bg1"/>
                            </a:solidFill>
                            <a:latin typeface="Cambria Math"/>
                          </a:rPr>
                        </m:ctrlPr>
                      </m:sSubPr>
                      <m:e>
                        <m:r>
                          <a:rPr lang="en-US" altLang="zh-CN" sz="1800" i="1">
                            <a:solidFill>
                              <a:schemeClr val="bg1"/>
                            </a:solidFill>
                            <a:latin typeface="Cambria Math" panose="02040503050406030204" pitchFamily="18" charset="0"/>
                          </a:rPr>
                          <m:t>𝐼</m:t>
                        </m:r>
                      </m:e>
                      <m:sub>
                        <m:r>
                          <a:rPr lang="en-US" altLang="zh-CN" sz="1800" i="1">
                            <a:solidFill>
                              <a:schemeClr val="bg1"/>
                            </a:solidFill>
                            <a:latin typeface="Cambria Math" panose="02040503050406030204" pitchFamily="18" charset="0"/>
                          </a:rPr>
                          <m:t>𝐿</m:t>
                        </m:r>
                      </m:sub>
                    </m:sSub>
                  </m:oMath>
                </a14:m>
                <a:r>
                  <a:rPr lang="zh-CN" altLang="zh-CN" sz="1800" dirty="0">
                    <a:solidFill>
                      <a:schemeClr val="bg1"/>
                    </a:solidFill>
                    <a:ea typeface="微软雅黑" pitchFamily="34" charset="-122"/>
                  </a:rPr>
                  <a:t>均大于</a:t>
                </a:r>
                <a:r>
                  <a:rPr lang="en-US" altLang="zh-CN" sz="1800" dirty="0">
                    <a:solidFill>
                      <a:schemeClr val="bg1"/>
                    </a:solidFill>
                    <a:ea typeface="微软雅黑" pitchFamily="34" charset="-122"/>
                  </a:rPr>
                  <a:t>0.85</a:t>
                </a:r>
                <a:r>
                  <a:rPr lang="zh-CN" altLang="zh-CN" sz="1800" dirty="0">
                    <a:solidFill>
                      <a:schemeClr val="bg1"/>
                    </a:solidFill>
                    <a:ea typeface="微软雅黑" pitchFamily="34" charset="-122"/>
                  </a:rPr>
                  <a:t>的黏性土，其宽度修正系数偏安全。</a:t>
                </a:r>
              </a:p>
              <a:p>
                <a:pPr>
                  <a:lnSpc>
                    <a:spcPct val="150000"/>
                  </a:lnSpc>
                </a:pPr>
                <a:endParaRPr lang="zh-CN" altLang="en-US" dirty="0">
                  <a:solidFill>
                    <a:schemeClr val="bg1"/>
                  </a:solidFill>
                  <a:ea typeface="微软雅黑" pitchFamily="34" charset="-122"/>
                </a:endParaRPr>
              </a:p>
            </p:txBody>
          </p:sp>
        </mc:Choice>
        <mc:Fallback xmlns="">
          <p:sp>
            <p:nvSpPr>
              <p:cNvPr id="21" name="内容占位符 10"/>
              <p:cNvSpPr txBox="1">
                <a:spLocks noRot="1" noChangeAspect="1" noMove="1" noResize="1" noEditPoints="1" noAdjustHandles="1" noChangeArrowheads="1" noChangeShapeType="1" noTextEdit="1"/>
              </p:cNvSpPr>
              <p:nvPr/>
            </p:nvSpPr>
            <p:spPr>
              <a:xfrm>
                <a:off x="4355976" y="3145702"/>
                <a:ext cx="4492895" cy="2961335"/>
              </a:xfrm>
              <a:prstGeom prst="rect">
                <a:avLst/>
              </a:prstGeom>
              <a:blipFill rotWithShape="1">
                <a:blip r:embed="rId3"/>
                <a:stretch>
                  <a:fillRect l="-1221" r="-6106" b="-19342"/>
                </a:stretch>
              </a:blipFill>
            </p:spPr>
            <p:txBody>
              <a:bodyPr/>
              <a:lstStyle/>
              <a:p>
                <a:r>
                  <a:rPr lang="zh-CN" altLang="en-US">
                    <a:noFill/>
                  </a:rPr>
                  <a:t> </a:t>
                </a:r>
              </a:p>
            </p:txBody>
          </p:sp>
        </mc:Fallback>
      </mc:AlternateContent>
      <p:grpSp>
        <p:nvGrpSpPr>
          <p:cNvPr id="22" name="组合 21"/>
          <p:cNvGrpSpPr/>
          <p:nvPr/>
        </p:nvGrpSpPr>
        <p:grpSpPr>
          <a:xfrm>
            <a:off x="416081" y="455317"/>
            <a:ext cx="5616624" cy="798585"/>
            <a:chOff x="460247" y="455317"/>
            <a:chExt cx="5616624" cy="798585"/>
          </a:xfrm>
        </p:grpSpPr>
        <p:grpSp>
          <p:nvGrpSpPr>
            <p:cNvPr id="23" name="组合 22"/>
            <p:cNvGrpSpPr/>
            <p:nvPr/>
          </p:nvGrpSpPr>
          <p:grpSpPr>
            <a:xfrm>
              <a:off x="460247" y="455317"/>
              <a:ext cx="5616624" cy="798585"/>
              <a:chOff x="185955" y="479575"/>
              <a:chExt cx="5616624" cy="798585"/>
            </a:xfrm>
          </p:grpSpPr>
          <p:grpSp>
            <p:nvGrpSpPr>
              <p:cNvPr id="25" name="组合 24"/>
              <p:cNvGrpSpPr/>
              <p:nvPr/>
            </p:nvGrpSpPr>
            <p:grpSpPr>
              <a:xfrm>
                <a:off x="185955" y="479575"/>
                <a:ext cx="5616624" cy="798585"/>
                <a:chOff x="1115616" y="2060848"/>
                <a:chExt cx="6264696" cy="920468"/>
              </a:xfrm>
            </p:grpSpPr>
            <p:sp>
              <p:nvSpPr>
                <p:cNvPr id="27"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8" name="Group 34"/>
                <p:cNvGrpSpPr>
                  <a:grpSpLocks/>
                </p:cNvGrpSpPr>
                <p:nvPr/>
              </p:nvGrpSpPr>
              <p:grpSpPr bwMode="auto">
                <a:xfrm>
                  <a:off x="1115616" y="2098780"/>
                  <a:ext cx="847963" cy="882536"/>
                  <a:chOff x="2959" y="1571"/>
                  <a:chExt cx="454" cy="482"/>
                </a:xfrm>
              </p:grpSpPr>
              <p:grpSp>
                <p:nvGrpSpPr>
                  <p:cNvPr id="29" name="Group 35"/>
                  <p:cNvGrpSpPr>
                    <a:grpSpLocks/>
                  </p:cNvGrpSpPr>
                  <p:nvPr/>
                </p:nvGrpSpPr>
                <p:grpSpPr bwMode="auto">
                  <a:xfrm>
                    <a:off x="2959" y="1571"/>
                    <a:ext cx="454" cy="482"/>
                    <a:chOff x="192" y="1917"/>
                    <a:chExt cx="1042" cy="1102"/>
                  </a:xfrm>
                </p:grpSpPr>
                <p:pic>
                  <p:nvPicPr>
                    <p:cNvPr id="31" name="Picture 36" descr="light_shadow"/>
                    <p:cNvPicPr>
                      <a:picLocks noChangeAspect="1" noChangeArrowheads="1"/>
                    </p:cNvPicPr>
                    <p:nvPr/>
                  </p:nvPicPr>
                  <p:blipFill>
                    <a:blip r:embed="rId4"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7" descr="circuler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3"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30" name="Picture 39" descr="Picture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6"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4" name="矩形 23"/>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13205174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34</a:t>
            </a:fld>
            <a:endParaRPr lang="zh-CN" altLang="en-US" dirty="0">
              <a:solidFill>
                <a:srgbClr val="A61A40"/>
              </a:solidFill>
            </a:endParaRPr>
          </a:p>
        </p:txBody>
      </p:sp>
      <p:sp>
        <p:nvSpPr>
          <p:cNvPr id="18" name="标题 1"/>
          <p:cNvSpPr txBox="1">
            <a:spLocks/>
          </p:cNvSpPr>
          <p:nvPr/>
        </p:nvSpPr>
        <p:spPr>
          <a:xfrm>
            <a:off x="833134" y="1539609"/>
            <a:ext cx="2952328" cy="716318"/>
          </a:xfrm>
          <a:prstGeom prst="rect">
            <a:avLst/>
          </a:prstGeom>
        </p:spPr>
        <p:txBody>
          <a:bodyPr vert="horz" lIns="91440" tIns="45720" rIns="91440" bIns="45720" rtlCol="0" anchor="ctr">
            <a:normAutofit fontScale="4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5900" b="1" dirty="0">
                <a:solidFill>
                  <a:srgbClr val="FFFF00"/>
                </a:solidFill>
                <a:ea typeface="微软雅黑" pitchFamily="34" charset="-122"/>
              </a:rPr>
              <a:t>4.4 </a:t>
            </a:r>
            <a:r>
              <a:rPr lang="zh-CN" altLang="en-US" sz="5900" b="1" dirty="0">
                <a:solidFill>
                  <a:srgbClr val="FFFF00"/>
                </a:solidFill>
                <a:ea typeface="微软雅黑" pitchFamily="34" charset="-122"/>
              </a:rPr>
              <a:t>基础宽度修正</a:t>
            </a:r>
            <a:r>
              <a:rPr lang="zh-CN" altLang="en-US" dirty="0" smtClean="0">
                <a:ea typeface="微软雅黑" pitchFamily="34" charset="-122"/>
              </a:rPr>
              <a:t/>
            </a:r>
            <a:br>
              <a:rPr lang="zh-CN" altLang="en-US" dirty="0" smtClean="0">
                <a:ea typeface="微软雅黑" pitchFamily="34" charset="-122"/>
              </a:rPr>
            </a:br>
            <a:endParaRPr lang="zh-CN" altLang="en-US" dirty="0">
              <a:ea typeface="微软雅黑" pitchFamily="34" charset="-122"/>
            </a:endParaRPr>
          </a:p>
        </p:txBody>
      </p:sp>
      <p:pic>
        <p:nvPicPr>
          <p:cNvPr id="19" name="内容占位符 6"/>
          <p:cNvPicPr>
            <a:picLocks/>
          </p:cNvPicPr>
          <p:nvPr/>
        </p:nvPicPr>
        <p:blipFill>
          <a:blip r:embed="rId2"/>
          <a:stretch>
            <a:fillRect/>
          </a:stretch>
        </p:blipFill>
        <p:spPr>
          <a:xfrm>
            <a:off x="1548274" y="2008372"/>
            <a:ext cx="6047451" cy="22934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a14="http://schemas.microsoft.com/office/drawing/2010/main">
        <mc:Choice Requires="a14">
          <p:sp>
            <p:nvSpPr>
              <p:cNvPr id="20" name="文本框 19"/>
              <p:cNvSpPr txBox="1"/>
              <p:nvPr/>
            </p:nvSpPr>
            <p:spPr>
              <a:xfrm>
                <a:off x="0" y="4336249"/>
                <a:ext cx="9144000" cy="2532232"/>
              </a:xfrm>
              <a:prstGeom prst="rect">
                <a:avLst/>
              </a:prstGeom>
              <a:noFill/>
            </p:spPr>
            <p:txBody>
              <a:bodyPr wrap="square" rtlCol="0">
                <a:spAutoFit/>
              </a:bodyPr>
              <a:lstStyle/>
              <a:p>
                <a:pPr>
                  <a:lnSpc>
                    <a:spcPct val="150000"/>
                  </a:lnSpc>
                </a:pPr>
                <a:r>
                  <a:rPr lang="zh-CN" altLang="zh-CN" dirty="0" smtClean="0">
                    <a:solidFill>
                      <a:schemeClr val="bg1"/>
                    </a:solidFill>
                    <a:ea typeface="微软雅黑" pitchFamily="34" charset="-122"/>
                  </a:rPr>
                  <a:t>土体自重的引入是卡克特的贡献，其在瑞斯诺（</a:t>
                </a:r>
                <a:r>
                  <a:rPr lang="en-US" altLang="zh-CN" dirty="0">
                    <a:solidFill>
                      <a:schemeClr val="bg1"/>
                    </a:solidFill>
                    <a:ea typeface="微软雅黑" pitchFamily="34" charset="-122"/>
                  </a:rPr>
                  <a:t>H. </a:t>
                </a:r>
                <a:r>
                  <a:rPr lang="en-US" altLang="zh-CN" dirty="0" err="1">
                    <a:solidFill>
                      <a:schemeClr val="bg1"/>
                    </a:solidFill>
                    <a:ea typeface="微软雅黑" pitchFamily="34" charset="-122"/>
                  </a:rPr>
                  <a:t>Reissner</a:t>
                </a:r>
                <a:r>
                  <a:rPr lang="zh-CN" altLang="zh-CN" dirty="0">
                    <a:solidFill>
                      <a:schemeClr val="bg1"/>
                    </a:solidFill>
                    <a:ea typeface="微软雅黑" pitchFamily="34" charset="-122"/>
                  </a:rPr>
                  <a:t>）和普朗特尔（</a:t>
                </a:r>
                <a:r>
                  <a:rPr lang="en-US" altLang="zh-CN" dirty="0">
                    <a:solidFill>
                      <a:schemeClr val="bg1"/>
                    </a:solidFill>
                    <a:ea typeface="微软雅黑" pitchFamily="34" charset="-122"/>
                  </a:rPr>
                  <a:t>L. </a:t>
                </a:r>
                <a:r>
                  <a:rPr lang="en-US" altLang="zh-CN" dirty="0" err="1">
                    <a:solidFill>
                      <a:schemeClr val="bg1"/>
                    </a:solidFill>
                    <a:ea typeface="微软雅黑" pitchFamily="34" charset="-122"/>
                  </a:rPr>
                  <a:t>Prandtl</a:t>
                </a:r>
                <a:r>
                  <a:rPr lang="zh-CN" altLang="zh-CN" dirty="0">
                    <a:solidFill>
                      <a:schemeClr val="bg1"/>
                    </a:solidFill>
                    <a:ea typeface="微软雅黑" pitchFamily="34" charset="-122"/>
                  </a:rPr>
                  <a:t>）的基础上</a:t>
                </a:r>
                <a:r>
                  <a:rPr lang="zh-CN" altLang="zh-CN" dirty="0" smtClean="0">
                    <a:solidFill>
                      <a:schemeClr val="bg1"/>
                    </a:solidFill>
                    <a:ea typeface="微软雅黑" pitchFamily="34" charset="-122"/>
                  </a:rPr>
                  <a:t>，考虑</a:t>
                </a:r>
                <a:r>
                  <a:rPr lang="zh-CN" altLang="zh-CN" dirty="0">
                    <a:solidFill>
                      <a:schemeClr val="bg1"/>
                    </a:solidFill>
                    <a:ea typeface="微软雅黑" pitchFamily="34" charset="-122"/>
                  </a:rPr>
                  <a:t>土体自重，给出一般解：</a:t>
                </a:r>
              </a:p>
              <a:p>
                <a:pPr>
                  <a:lnSpc>
                    <a:spcPct val="150000"/>
                  </a:lnSpc>
                </a:pPr>
                <a14:m>
                  <m:oMathPara xmlns:m="http://schemas.openxmlformats.org/officeDocument/2006/math">
                    <m:oMathParaPr>
                      <m:jc m:val="centerGroup"/>
                    </m:oMathParaPr>
                    <m:oMath xmlns:m="http://schemas.openxmlformats.org/officeDocument/2006/math">
                      <m:sSub>
                        <m:sSubPr>
                          <m:ctrlPr>
                            <a:rPr lang="zh-CN" altLang="zh-CN" i="1">
                              <a:solidFill>
                                <a:schemeClr val="bg1"/>
                              </a:solidFill>
                              <a:latin typeface="Cambria Math"/>
                            </a:rPr>
                          </m:ctrlPr>
                        </m:sSubPr>
                        <m:e>
                          <m:r>
                            <a:rPr lang="en-US" altLang="zh-CN" i="1">
                              <a:solidFill>
                                <a:schemeClr val="bg1"/>
                              </a:solidFill>
                              <a:latin typeface="Cambria Math" panose="02040503050406030204" pitchFamily="18" charset="0"/>
                            </a:rPr>
                            <m:t>𝑃</m:t>
                          </m:r>
                        </m:e>
                        <m:sub>
                          <m:r>
                            <a:rPr lang="en-US" altLang="zh-CN" i="1">
                              <a:solidFill>
                                <a:schemeClr val="bg1"/>
                              </a:solidFill>
                              <a:latin typeface="Cambria Math" panose="02040503050406030204" pitchFamily="18" charset="0"/>
                            </a:rPr>
                            <m:t>𝑢</m:t>
                          </m:r>
                        </m:sub>
                      </m:sSub>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𝑐</m:t>
                      </m:r>
                      <m:sSub>
                        <m:sSubPr>
                          <m:ctrlPr>
                            <a:rPr lang="zh-CN" altLang="zh-CN" i="1">
                              <a:solidFill>
                                <a:schemeClr val="bg1"/>
                              </a:solidFill>
                              <a:latin typeface="Cambria Math"/>
                            </a:rPr>
                          </m:ctrlPr>
                        </m:sSubPr>
                        <m:e>
                          <m:r>
                            <a:rPr lang="en-US" altLang="zh-CN" i="1">
                              <a:solidFill>
                                <a:schemeClr val="bg1"/>
                              </a:solidFill>
                              <a:latin typeface="Cambria Math" panose="02040503050406030204" pitchFamily="18" charset="0"/>
                            </a:rPr>
                            <m:t>𝑁</m:t>
                          </m:r>
                        </m:e>
                        <m:sub>
                          <m:r>
                            <a:rPr lang="en-US" altLang="zh-CN" i="1">
                              <a:solidFill>
                                <a:schemeClr val="bg1"/>
                              </a:solidFill>
                              <a:latin typeface="Cambria Math" panose="02040503050406030204" pitchFamily="18" charset="0"/>
                            </a:rPr>
                            <m:t>𝑐</m:t>
                          </m:r>
                        </m:sub>
                      </m:sSub>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𝑞</m:t>
                      </m:r>
                      <m:sSub>
                        <m:sSubPr>
                          <m:ctrlPr>
                            <a:rPr lang="zh-CN" altLang="zh-CN" i="1">
                              <a:solidFill>
                                <a:schemeClr val="bg1"/>
                              </a:solidFill>
                              <a:latin typeface="Cambria Math"/>
                            </a:rPr>
                          </m:ctrlPr>
                        </m:sSubPr>
                        <m:e>
                          <m:r>
                            <a:rPr lang="en-US" altLang="zh-CN" i="1">
                              <a:solidFill>
                                <a:schemeClr val="bg1"/>
                              </a:solidFill>
                              <a:latin typeface="Cambria Math" panose="02040503050406030204" pitchFamily="18" charset="0"/>
                            </a:rPr>
                            <m:t>𝑁</m:t>
                          </m:r>
                        </m:e>
                        <m:sub>
                          <m:r>
                            <a:rPr lang="en-US" altLang="zh-CN" i="1">
                              <a:solidFill>
                                <a:schemeClr val="bg1"/>
                              </a:solidFill>
                              <a:latin typeface="Cambria Math" panose="02040503050406030204" pitchFamily="18" charset="0"/>
                            </a:rPr>
                            <m:t>𝑞</m:t>
                          </m:r>
                        </m:sub>
                      </m:sSub>
                      <m:r>
                        <a:rPr lang="en-US" altLang="zh-CN" i="1">
                          <a:solidFill>
                            <a:schemeClr val="bg1"/>
                          </a:solidFill>
                          <a:latin typeface="Cambria Math" panose="02040503050406030204" pitchFamily="18" charset="0"/>
                        </a:rPr>
                        <m:t>+</m:t>
                      </m:r>
                      <m:f>
                        <m:fPr>
                          <m:ctrlPr>
                            <a:rPr lang="zh-CN" altLang="zh-CN" i="1">
                              <a:solidFill>
                                <a:schemeClr val="bg1"/>
                              </a:solidFill>
                              <a:latin typeface="Cambria Math"/>
                            </a:rPr>
                          </m:ctrlPr>
                        </m:fPr>
                        <m:num>
                          <m:r>
                            <a:rPr lang="en-US" altLang="zh-CN" i="1">
                              <a:solidFill>
                                <a:schemeClr val="bg1"/>
                              </a:solidFill>
                              <a:latin typeface="Cambria Math" panose="02040503050406030204" pitchFamily="18" charset="0"/>
                            </a:rPr>
                            <m:t>1</m:t>
                          </m:r>
                        </m:num>
                        <m:den>
                          <m:r>
                            <a:rPr lang="en-US" altLang="zh-CN" i="1">
                              <a:solidFill>
                                <a:schemeClr val="bg1"/>
                              </a:solidFill>
                              <a:latin typeface="Cambria Math" panose="02040503050406030204" pitchFamily="18" charset="0"/>
                            </a:rPr>
                            <m:t>2</m:t>
                          </m:r>
                        </m:den>
                      </m:f>
                      <m:r>
                        <a:rPr lang="en-US" altLang="zh-CN" i="1">
                          <a:solidFill>
                            <a:schemeClr val="bg1"/>
                          </a:solidFill>
                          <a:latin typeface="Cambria Math" panose="02040503050406030204" pitchFamily="18" charset="0"/>
                        </a:rPr>
                        <m:t>𝛾</m:t>
                      </m:r>
                      <m:r>
                        <a:rPr lang="en-US" altLang="zh-CN" i="1">
                          <a:solidFill>
                            <a:schemeClr val="bg1"/>
                          </a:solidFill>
                          <a:latin typeface="Cambria Math" panose="02040503050406030204" pitchFamily="18" charset="0"/>
                        </a:rPr>
                        <m:t>𝐵</m:t>
                      </m:r>
                      <m:sSub>
                        <m:sSubPr>
                          <m:ctrlPr>
                            <a:rPr lang="zh-CN" altLang="zh-CN" i="1">
                              <a:solidFill>
                                <a:schemeClr val="bg1"/>
                              </a:solidFill>
                              <a:latin typeface="Cambria Math"/>
                            </a:rPr>
                          </m:ctrlPr>
                        </m:sSubPr>
                        <m:e>
                          <m:r>
                            <a:rPr lang="en-US" altLang="zh-CN" i="1">
                              <a:solidFill>
                                <a:schemeClr val="bg1"/>
                              </a:solidFill>
                              <a:latin typeface="Cambria Math" panose="02040503050406030204" pitchFamily="18" charset="0"/>
                            </a:rPr>
                            <m:t>𝑁</m:t>
                          </m:r>
                        </m:e>
                        <m:sub>
                          <m:r>
                            <a:rPr lang="en-US" altLang="zh-CN" i="1">
                              <a:solidFill>
                                <a:schemeClr val="bg1"/>
                              </a:solidFill>
                              <a:latin typeface="Cambria Math" panose="02040503050406030204" pitchFamily="18" charset="0"/>
                            </a:rPr>
                            <m:t>𝛾</m:t>
                          </m:r>
                        </m:sub>
                      </m:sSub>
                    </m:oMath>
                  </m:oMathPara>
                </a14:m>
                <a:endParaRPr lang="zh-CN" altLang="zh-CN" dirty="0">
                  <a:solidFill>
                    <a:schemeClr val="bg1"/>
                  </a:solidFill>
                  <a:ea typeface="微软雅黑" pitchFamily="34" charset="-122"/>
                </a:endParaRPr>
              </a:p>
              <a:p>
                <a:pPr>
                  <a:lnSpc>
                    <a:spcPct val="150000"/>
                  </a:lnSpc>
                </a:pPr>
                <a:r>
                  <a:rPr lang="zh-CN" altLang="zh-CN" dirty="0">
                    <a:solidFill>
                      <a:schemeClr val="bg1"/>
                    </a:solidFill>
                    <a:ea typeface="微软雅黑" pitchFamily="34" charset="-122"/>
                  </a:rPr>
                  <a:t>地基承载力是与基础宽度</a:t>
                </a:r>
                <a:r>
                  <a:rPr lang="en-US" altLang="zh-CN" dirty="0">
                    <a:solidFill>
                      <a:schemeClr val="bg1"/>
                    </a:solidFill>
                    <a:ea typeface="微软雅黑" pitchFamily="34" charset="-122"/>
                  </a:rPr>
                  <a:t>B</a:t>
                </a:r>
                <a:r>
                  <a:rPr lang="zh-CN" altLang="zh-CN" dirty="0">
                    <a:solidFill>
                      <a:schemeClr val="bg1"/>
                    </a:solidFill>
                    <a:ea typeface="微软雅黑" pitchFamily="34" charset="-122"/>
                  </a:rPr>
                  <a:t>有关的，但是一般的平板荷载试验的荷载板面积较小（一般图</a:t>
                </a:r>
                <a:r>
                  <a:rPr lang="zh-CN" altLang="zh-CN" dirty="0" smtClean="0">
                    <a:solidFill>
                      <a:schemeClr val="bg1"/>
                    </a:solidFill>
                    <a:ea typeface="微软雅黑" pitchFamily="34" charset="-122"/>
                  </a:rPr>
                  <a:t>直径</a:t>
                </a:r>
                <a:r>
                  <a:rPr lang="en-US" altLang="zh-CN" dirty="0" smtClean="0">
                    <a:solidFill>
                      <a:schemeClr val="bg1"/>
                    </a:solidFill>
                    <a:ea typeface="微软雅黑" pitchFamily="34" charset="-122"/>
                  </a:rPr>
                  <a:t>600mm</a:t>
                </a:r>
                <a:r>
                  <a:rPr lang="zh-CN" altLang="zh-CN" dirty="0">
                    <a:solidFill>
                      <a:schemeClr val="bg1"/>
                    </a:solidFill>
                    <a:ea typeface="微软雅黑" pitchFamily="34" charset="-122"/>
                  </a:rPr>
                  <a:t>，软土</a:t>
                </a:r>
                <a:r>
                  <a:rPr lang="en-US" altLang="zh-CN" dirty="0">
                    <a:solidFill>
                      <a:schemeClr val="bg1"/>
                    </a:solidFill>
                    <a:ea typeface="微软雅黑" pitchFamily="34" charset="-122"/>
                  </a:rPr>
                  <a:t>800mm</a:t>
                </a:r>
                <a:r>
                  <a:rPr lang="zh-CN" altLang="zh-CN" dirty="0">
                    <a:solidFill>
                      <a:schemeClr val="bg1"/>
                    </a:solidFill>
                    <a:ea typeface="微软雅黑" pitchFamily="34" charset="-122"/>
                  </a:rPr>
                  <a:t>），故基础宽度的修正就成了必须的。</a:t>
                </a:r>
              </a:p>
            </p:txBody>
          </p:sp>
        </mc:Choice>
        <mc:Fallback xmlns="">
          <p:sp>
            <p:nvSpPr>
              <p:cNvPr id="20" name="文本框 19"/>
              <p:cNvSpPr txBox="1">
                <a:spLocks noRot="1" noChangeAspect="1" noMove="1" noResize="1" noEditPoints="1" noAdjustHandles="1" noChangeArrowheads="1" noChangeShapeType="1" noTextEdit="1"/>
              </p:cNvSpPr>
              <p:nvPr/>
            </p:nvSpPr>
            <p:spPr>
              <a:xfrm>
                <a:off x="0" y="4336249"/>
                <a:ext cx="9144000" cy="2532232"/>
              </a:xfrm>
              <a:prstGeom prst="rect">
                <a:avLst/>
              </a:prstGeom>
              <a:blipFill rotWithShape="1">
                <a:blip r:embed="rId3"/>
                <a:stretch>
                  <a:fillRect l="-533" b="-1202"/>
                </a:stretch>
              </a:blipFill>
            </p:spPr>
            <p:txBody>
              <a:bodyPr/>
              <a:lstStyle/>
              <a:p>
                <a:r>
                  <a:rPr lang="zh-CN" altLang="en-US">
                    <a:noFill/>
                  </a:rPr>
                  <a:t> </a:t>
                </a:r>
              </a:p>
            </p:txBody>
          </p:sp>
        </mc:Fallback>
      </mc:AlternateContent>
      <p:grpSp>
        <p:nvGrpSpPr>
          <p:cNvPr id="21" name="组合 20"/>
          <p:cNvGrpSpPr/>
          <p:nvPr/>
        </p:nvGrpSpPr>
        <p:grpSpPr>
          <a:xfrm>
            <a:off x="416081" y="455317"/>
            <a:ext cx="5616624" cy="798585"/>
            <a:chOff x="460247" y="455317"/>
            <a:chExt cx="5616624" cy="798585"/>
          </a:xfrm>
        </p:grpSpPr>
        <p:grpSp>
          <p:nvGrpSpPr>
            <p:cNvPr id="22" name="组合 21"/>
            <p:cNvGrpSpPr/>
            <p:nvPr/>
          </p:nvGrpSpPr>
          <p:grpSpPr>
            <a:xfrm>
              <a:off x="460247" y="455317"/>
              <a:ext cx="5616624" cy="798585"/>
              <a:chOff x="185955" y="479575"/>
              <a:chExt cx="5616624" cy="798585"/>
            </a:xfrm>
          </p:grpSpPr>
          <p:grpSp>
            <p:nvGrpSpPr>
              <p:cNvPr id="24" name="组合 23"/>
              <p:cNvGrpSpPr/>
              <p:nvPr/>
            </p:nvGrpSpPr>
            <p:grpSpPr>
              <a:xfrm>
                <a:off x="185955" y="479575"/>
                <a:ext cx="5616624" cy="798585"/>
                <a:chOff x="1115616" y="2060848"/>
                <a:chExt cx="6264696" cy="920468"/>
              </a:xfrm>
            </p:grpSpPr>
            <p:sp>
              <p:nvSpPr>
                <p:cNvPr id="26"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7" name="Group 34"/>
                <p:cNvGrpSpPr>
                  <a:grpSpLocks/>
                </p:cNvGrpSpPr>
                <p:nvPr/>
              </p:nvGrpSpPr>
              <p:grpSpPr bwMode="auto">
                <a:xfrm>
                  <a:off x="1115616" y="2098780"/>
                  <a:ext cx="847963" cy="882536"/>
                  <a:chOff x="2959" y="1571"/>
                  <a:chExt cx="454" cy="482"/>
                </a:xfrm>
              </p:grpSpPr>
              <p:grpSp>
                <p:nvGrpSpPr>
                  <p:cNvPr id="28" name="Group 35"/>
                  <p:cNvGrpSpPr>
                    <a:grpSpLocks/>
                  </p:cNvGrpSpPr>
                  <p:nvPr/>
                </p:nvGrpSpPr>
                <p:grpSpPr bwMode="auto">
                  <a:xfrm>
                    <a:off x="2959" y="1571"/>
                    <a:ext cx="454" cy="482"/>
                    <a:chOff x="192" y="1917"/>
                    <a:chExt cx="1042" cy="1102"/>
                  </a:xfrm>
                </p:grpSpPr>
                <p:pic>
                  <p:nvPicPr>
                    <p:cNvPr id="30" name="Picture 36" descr="light_shadow"/>
                    <p:cNvPicPr>
                      <a:picLocks noChangeAspect="1" noChangeArrowheads="1"/>
                    </p:cNvPicPr>
                    <p:nvPr/>
                  </p:nvPicPr>
                  <p:blipFill>
                    <a:blip r:embed="rId4"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7" descr="circuler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2"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9" name="Picture 39" descr="Picture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5"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3" name="矩形 22"/>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25202463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6553200" y="6374221"/>
            <a:ext cx="2133600" cy="365210"/>
          </a:xfrm>
        </p:spPr>
        <p:txBody>
          <a:bodyPr/>
          <a:lstStyle/>
          <a:p>
            <a:fld id="{833901E6-BE0D-4D4C-BD9F-F1A617F9590B}" type="slidenum">
              <a:rPr lang="zh-CN" altLang="en-US" smtClean="0">
                <a:solidFill>
                  <a:srgbClr val="A61A40"/>
                </a:solidFill>
              </a:rPr>
              <a:t>35</a:t>
            </a:fld>
            <a:endParaRPr lang="zh-CN" altLang="en-US" dirty="0">
              <a:solidFill>
                <a:srgbClr val="A61A40"/>
              </a:solidFill>
            </a:endParaRPr>
          </a:p>
        </p:txBody>
      </p:sp>
      <p:sp>
        <p:nvSpPr>
          <p:cNvPr id="18" name="标题 1"/>
          <p:cNvSpPr txBox="1">
            <a:spLocks/>
          </p:cNvSpPr>
          <p:nvPr/>
        </p:nvSpPr>
        <p:spPr>
          <a:xfrm>
            <a:off x="683568" y="1633356"/>
            <a:ext cx="2952328" cy="716318"/>
          </a:xfrm>
          <a:prstGeom prst="rect">
            <a:avLst/>
          </a:prstGeom>
        </p:spPr>
        <p:txBody>
          <a:bodyPr vert="horz" lIns="91440" tIns="45720" rIns="91440" bIns="45720" rtlCol="0" anchor="ctr">
            <a:normAutofit fontScale="4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5900" b="1" dirty="0">
                <a:solidFill>
                  <a:srgbClr val="FFFF00"/>
                </a:solidFill>
                <a:ea typeface="微软雅黑" pitchFamily="34" charset="-122"/>
              </a:rPr>
              <a:t>4.4.1 </a:t>
            </a:r>
            <a:r>
              <a:rPr lang="zh-CN" altLang="en-US" sz="5900" b="1" dirty="0">
                <a:solidFill>
                  <a:srgbClr val="FFFF00"/>
                </a:solidFill>
                <a:ea typeface="微软雅黑" pitchFamily="34" charset="-122"/>
              </a:rPr>
              <a:t>安全度问题</a:t>
            </a:r>
            <a:r>
              <a:rPr lang="zh-CN" altLang="en-US" dirty="0" smtClean="0">
                <a:ea typeface="微软雅黑" pitchFamily="34" charset="-122"/>
              </a:rPr>
              <a:t/>
            </a:r>
            <a:br>
              <a:rPr lang="zh-CN" altLang="en-US" dirty="0" smtClean="0">
                <a:ea typeface="微软雅黑" pitchFamily="34" charset="-122"/>
              </a:rPr>
            </a:br>
            <a:endParaRPr lang="zh-CN" altLang="en-US" dirty="0">
              <a:ea typeface="微软雅黑" pitchFamily="34" charset="-122"/>
            </a:endParaRPr>
          </a:p>
        </p:txBody>
      </p:sp>
      <mc:AlternateContent xmlns:mc="http://schemas.openxmlformats.org/markup-compatibility/2006" xmlns:a14="http://schemas.microsoft.com/office/drawing/2010/main">
        <mc:Choice Requires="a14">
          <p:sp>
            <p:nvSpPr>
              <p:cNvPr id="19" name="内容占位符 11"/>
              <p:cNvSpPr txBox="1">
                <a:spLocks/>
              </p:cNvSpPr>
              <p:nvPr/>
            </p:nvSpPr>
            <p:spPr>
              <a:xfrm>
                <a:off x="251520" y="2227263"/>
                <a:ext cx="8640960" cy="4495769"/>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lnSpc>
                    <a:spcPct val="150000"/>
                  </a:lnSpc>
                </a:pPr>
                <a:r>
                  <a:rPr lang="en-US" altLang="zh-CN" sz="2400" dirty="0" smtClean="0">
                    <a:solidFill>
                      <a:schemeClr val="bg1"/>
                    </a:solidFill>
                    <a:ea typeface="微软雅黑" pitchFamily="34" charset="-122"/>
                  </a:rPr>
                  <a:t>    </a:t>
                </a:r>
                <a:r>
                  <a:rPr lang="zh-CN" altLang="en-US" sz="2400" dirty="0" smtClean="0">
                    <a:solidFill>
                      <a:schemeClr val="bg1"/>
                    </a:solidFill>
                    <a:ea typeface="微软雅黑" pitchFamily="34" charset="-122"/>
                  </a:rPr>
                  <a:t>    </a:t>
                </a:r>
                <a:r>
                  <a:rPr lang="zh-CN" altLang="zh-CN" sz="2400" dirty="0" smtClean="0">
                    <a:solidFill>
                      <a:schemeClr val="bg1"/>
                    </a:solidFill>
                    <a:ea typeface="微软雅黑" pitchFamily="34" charset="-122"/>
                  </a:rPr>
                  <a:t>基础宽度的取值：《规范》中规定当基础底面宽度小于</a:t>
                </a:r>
                <a:r>
                  <a:rPr lang="en-US" altLang="zh-CN" sz="2400" dirty="0">
                    <a:solidFill>
                      <a:schemeClr val="bg1"/>
                    </a:solidFill>
                    <a:ea typeface="微软雅黑" pitchFamily="34" charset="-122"/>
                  </a:rPr>
                  <a:t>3m</a:t>
                </a:r>
                <a:r>
                  <a:rPr lang="zh-CN" altLang="zh-CN" sz="2400" dirty="0">
                    <a:solidFill>
                      <a:schemeClr val="bg1"/>
                    </a:solidFill>
                    <a:ea typeface="微软雅黑" pitchFamily="34" charset="-122"/>
                  </a:rPr>
                  <a:t>时按</a:t>
                </a:r>
                <a:r>
                  <a:rPr lang="en-US" altLang="zh-CN" sz="2400" dirty="0">
                    <a:solidFill>
                      <a:schemeClr val="bg1"/>
                    </a:solidFill>
                    <a:ea typeface="微软雅黑" pitchFamily="34" charset="-122"/>
                  </a:rPr>
                  <a:t>3m</a:t>
                </a:r>
                <a:r>
                  <a:rPr lang="zh-CN" altLang="zh-CN" sz="2400" dirty="0">
                    <a:solidFill>
                      <a:schemeClr val="bg1"/>
                    </a:solidFill>
                    <a:ea typeface="微软雅黑" pitchFamily="34" charset="-122"/>
                  </a:rPr>
                  <a:t>取值，大于</a:t>
                </a:r>
                <a:r>
                  <a:rPr lang="en-US" altLang="zh-CN" sz="2400" dirty="0">
                    <a:solidFill>
                      <a:schemeClr val="bg1"/>
                    </a:solidFill>
                    <a:ea typeface="微软雅黑" pitchFamily="34" charset="-122"/>
                  </a:rPr>
                  <a:t>6m</a:t>
                </a:r>
                <a:r>
                  <a:rPr lang="zh-CN" altLang="zh-CN" sz="2400" dirty="0">
                    <a:solidFill>
                      <a:schemeClr val="bg1"/>
                    </a:solidFill>
                    <a:ea typeface="微软雅黑" pitchFamily="34" charset="-122"/>
                  </a:rPr>
                  <a:t>时按</a:t>
                </a:r>
                <a:r>
                  <a:rPr lang="en-US" altLang="zh-CN" sz="2400" dirty="0">
                    <a:solidFill>
                      <a:schemeClr val="bg1"/>
                    </a:solidFill>
                    <a:ea typeface="微软雅黑" pitchFamily="34" charset="-122"/>
                  </a:rPr>
                  <a:t>6m</a:t>
                </a:r>
                <a:r>
                  <a:rPr lang="zh-CN" altLang="zh-CN" sz="2400" dirty="0">
                    <a:solidFill>
                      <a:schemeClr val="bg1"/>
                    </a:solidFill>
                    <a:ea typeface="微软雅黑" pitchFamily="34" charset="-122"/>
                  </a:rPr>
                  <a:t>取值，这样的取值考虑到地基承载力不可能随宽度的变大无限上升，总体而言是偏安全的。</a:t>
                </a:r>
              </a:p>
              <a:p>
                <a:pPr algn="l">
                  <a:lnSpc>
                    <a:spcPct val="150000"/>
                  </a:lnSpc>
                </a:pPr>
                <a:r>
                  <a:rPr lang="en-US" altLang="zh-CN" sz="2400" dirty="0" smtClean="0">
                    <a:solidFill>
                      <a:schemeClr val="bg1"/>
                    </a:solidFill>
                    <a:ea typeface="微软雅黑" pitchFamily="34" charset="-122"/>
                  </a:rPr>
                  <a:t>    </a:t>
                </a:r>
                <a:r>
                  <a:rPr lang="zh-CN" altLang="en-US" sz="2400" dirty="0" smtClean="0">
                    <a:solidFill>
                      <a:schemeClr val="bg1"/>
                    </a:solidFill>
                    <a:ea typeface="微软雅黑" pitchFamily="34" charset="-122"/>
                  </a:rPr>
                  <a:t>    </a:t>
                </a:r>
                <a:r>
                  <a:rPr lang="zh-CN" altLang="zh-CN" sz="2400" dirty="0" smtClean="0">
                    <a:solidFill>
                      <a:schemeClr val="bg1"/>
                    </a:solidFill>
                    <a:ea typeface="微软雅黑" pitchFamily="34" charset="-122"/>
                  </a:rPr>
                  <a:t>宽度</a:t>
                </a:r>
                <a:r>
                  <a:rPr lang="zh-CN" altLang="zh-CN" sz="2400" dirty="0">
                    <a:solidFill>
                      <a:schemeClr val="bg1"/>
                    </a:solidFill>
                    <a:ea typeface="微软雅黑" pitchFamily="34" charset="-122"/>
                  </a:rPr>
                  <a:t>修正系数</a:t>
                </a:r>
                <a14:m>
                  <m:oMath xmlns:m="http://schemas.openxmlformats.org/officeDocument/2006/math">
                    <m:sSub>
                      <m:sSubPr>
                        <m:ctrlPr>
                          <a:rPr lang="zh-CN" altLang="zh-CN" sz="2400" i="1">
                            <a:solidFill>
                              <a:schemeClr val="bg1"/>
                            </a:solidFill>
                            <a:latin typeface="Cambria Math"/>
                          </a:rPr>
                        </m:ctrlPr>
                      </m:sSubPr>
                      <m:e>
                        <m:r>
                          <a:rPr lang="en-US" altLang="zh-CN" sz="2400" i="1">
                            <a:solidFill>
                              <a:schemeClr val="bg1"/>
                            </a:solidFill>
                            <a:latin typeface="Cambria Math" panose="02040503050406030204" pitchFamily="18" charset="0"/>
                          </a:rPr>
                          <m:t>𝜂</m:t>
                        </m:r>
                      </m:e>
                      <m:sub>
                        <m:r>
                          <a:rPr lang="en-US" altLang="zh-CN" sz="2400" i="1">
                            <a:solidFill>
                              <a:schemeClr val="bg1"/>
                            </a:solidFill>
                            <a:latin typeface="Cambria Math" panose="02040503050406030204" pitchFamily="18" charset="0"/>
                          </a:rPr>
                          <m:t>𝑏</m:t>
                        </m:r>
                      </m:sub>
                    </m:sSub>
                  </m:oMath>
                </a14:m>
                <a:r>
                  <a:rPr lang="zh-CN" altLang="zh-CN" sz="2400" dirty="0">
                    <a:solidFill>
                      <a:schemeClr val="bg1"/>
                    </a:solidFill>
                    <a:ea typeface="微软雅黑" pitchFamily="34" charset="-122"/>
                  </a:rPr>
                  <a:t>：同样从表</a:t>
                </a:r>
                <a:r>
                  <a:rPr lang="en-US" altLang="zh-CN" sz="2400" dirty="0">
                    <a:solidFill>
                      <a:schemeClr val="bg1"/>
                    </a:solidFill>
                    <a:ea typeface="微软雅黑" pitchFamily="34" charset="-122"/>
                  </a:rPr>
                  <a:t>5.2.4</a:t>
                </a:r>
                <a:r>
                  <a:rPr lang="zh-CN" altLang="zh-CN" sz="2400" dirty="0">
                    <a:solidFill>
                      <a:schemeClr val="bg1"/>
                    </a:solidFill>
                    <a:ea typeface="微软雅黑" pitchFamily="34" charset="-122"/>
                  </a:rPr>
                  <a:t>可以看到规范给出的宽度修正系数 </a:t>
                </a:r>
                <a14:m>
                  <m:oMath xmlns:m="http://schemas.openxmlformats.org/officeDocument/2006/math">
                    <m:sSub>
                      <m:sSubPr>
                        <m:ctrlPr>
                          <a:rPr lang="zh-CN" altLang="zh-CN" sz="2400" i="1">
                            <a:solidFill>
                              <a:schemeClr val="bg1"/>
                            </a:solidFill>
                            <a:latin typeface="Cambria Math"/>
                          </a:rPr>
                        </m:ctrlPr>
                      </m:sSubPr>
                      <m:e>
                        <m:r>
                          <a:rPr lang="en-US" altLang="zh-CN" sz="2400" i="1">
                            <a:solidFill>
                              <a:schemeClr val="bg1"/>
                            </a:solidFill>
                            <a:latin typeface="Cambria Math" panose="02040503050406030204" pitchFamily="18" charset="0"/>
                          </a:rPr>
                          <m:t>𝜂</m:t>
                        </m:r>
                      </m:e>
                      <m:sub>
                        <m:r>
                          <a:rPr lang="en-US" altLang="zh-CN" sz="2400" i="1">
                            <a:solidFill>
                              <a:schemeClr val="bg1"/>
                            </a:solidFill>
                            <a:latin typeface="Cambria Math" panose="02040503050406030204" pitchFamily="18" charset="0"/>
                          </a:rPr>
                          <m:t>𝑏</m:t>
                        </m:r>
                      </m:sub>
                    </m:sSub>
                  </m:oMath>
                </a14:m>
                <a:r>
                  <a:rPr lang="en-US" altLang="zh-CN" sz="2400" dirty="0">
                    <a:solidFill>
                      <a:schemeClr val="bg1"/>
                    </a:solidFill>
                    <a:ea typeface="微软雅黑" pitchFamily="34" charset="-122"/>
                  </a:rPr>
                  <a:t> </a:t>
                </a:r>
                <a:r>
                  <a:rPr lang="zh-CN" altLang="zh-CN" sz="2400" dirty="0">
                    <a:solidFill>
                      <a:schemeClr val="bg1"/>
                    </a:solidFill>
                    <a:ea typeface="微软雅黑" pitchFamily="34" charset="-122"/>
                  </a:rPr>
                  <a:t>也是突变的，例如对</a:t>
                </a:r>
                <a:r>
                  <a:rPr lang="en-US" altLang="zh-CN" sz="2400" dirty="0">
                    <a:solidFill>
                      <a:schemeClr val="bg1"/>
                    </a:solidFill>
                    <a:ea typeface="微软雅黑" pitchFamily="34" charset="-122"/>
                  </a:rPr>
                  <a:t>e</a:t>
                </a:r>
                <a:r>
                  <a:rPr lang="zh-CN" altLang="zh-CN" sz="2400" dirty="0">
                    <a:solidFill>
                      <a:schemeClr val="bg1"/>
                    </a:solidFill>
                    <a:ea typeface="微软雅黑" pitchFamily="34" charset="-122"/>
                  </a:rPr>
                  <a:t>和</a:t>
                </a:r>
                <a14:m>
                  <m:oMath xmlns:m="http://schemas.openxmlformats.org/officeDocument/2006/math">
                    <m:sSub>
                      <m:sSubPr>
                        <m:ctrlPr>
                          <a:rPr lang="zh-CN" altLang="zh-CN" sz="2400" i="1">
                            <a:solidFill>
                              <a:schemeClr val="bg1"/>
                            </a:solidFill>
                            <a:latin typeface="Cambria Math"/>
                          </a:rPr>
                        </m:ctrlPr>
                      </m:sSubPr>
                      <m:e>
                        <m:r>
                          <a:rPr lang="en-US" altLang="zh-CN" sz="2400" i="1">
                            <a:solidFill>
                              <a:schemeClr val="bg1"/>
                            </a:solidFill>
                            <a:latin typeface="Cambria Math" panose="02040503050406030204" pitchFamily="18" charset="0"/>
                          </a:rPr>
                          <m:t>𝐼</m:t>
                        </m:r>
                      </m:e>
                      <m:sub>
                        <m:r>
                          <a:rPr lang="en-US" altLang="zh-CN" sz="2400" i="1">
                            <a:solidFill>
                              <a:schemeClr val="bg1"/>
                            </a:solidFill>
                            <a:latin typeface="Cambria Math" panose="02040503050406030204" pitchFamily="18" charset="0"/>
                          </a:rPr>
                          <m:t>𝐿</m:t>
                        </m:r>
                      </m:sub>
                    </m:sSub>
                  </m:oMath>
                </a14:m>
                <a:r>
                  <a:rPr lang="zh-CN" altLang="zh-CN" sz="2400" dirty="0">
                    <a:solidFill>
                      <a:schemeClr val="bg1"/>
                    </a:solidFill>
                    <a:ea typeface="微软雅黑" pitchFamily="34" charset="-122"/>
                  </a:rPr>
                  <a:t>均小于</a:t>
                </a:r>
                <a:r>
                  <a:rPr lang="en-US" altLang="zh-CN" sz="2400" dirty="0">
                    <a:solidFill>
                      <a:schemeClr val="bg1"/>
                    </a:solidFill>
                    <a:ea typeface="微软雅黑" pitchFamily="34" charset="-122"/>
                  </a:rPr>
                  <a:t>0.85</a:t>
                </a:r>
                <a:r>
                  <a:rPr lang="zh-CN" altLang="zh-CN" sz="2400" dirty="0">
                    <a:solidFill>
                      <a:schemeClr val="bg1"/>
                    </a:solidFill>
                    <a:ea typeface="微软雅黑" pitchFamily="34" charset="-122"/>
                  </a:rPr>
                  <a:t>的黏性土，</a:t>
                </a:r>
                <a14:m>
                  <m:oMath xmlns:m="http://schemas.openxmlformats.org/officeDocument/2006/math">
                    <m:sSub>
                      <m:sSubPr>
                        <m:ctrlPr>
                          <a:rPr lang="zh-CN" altLang="zh-CN" sz="2400" i="1">
                            <a:solidFill>
                              <a:schemeClr val="bg1"/>
                            </a:solidFill>
                            <a:latin typeface="Cambria Math"/>
                          </a:rPr>
                        </m:ctrlPr>
                      </m:sSubPr>
                      <m:e>
                        <m:r>
                          <a:rPr lang="en-US" altLang="zh-CN" sz="2400" i="1">
                            <a:solidFill>
                              <a:schemeClr val="bg1"/>
                            </a:solidFill>
                            <a:latin typeface="Cambria Math" panose="02040503050406030204" pitchFamily="18" charset="0"/>
                          </a:rPr>
                          <m:t>𝜂</m:t>
                        </m:r>
                      </m:e>
                      <m:sub>
                        <m:r>
                          <a:rPr lang="en-US" altLang="zh-CN" sz="2400" i="1">
                            <a:solidFill>
                              <a:schemeClr val="bg1"/>
                            </a:solidFill>
                            <a:latin typeface="Cambria Math" panose="02040503050406030204" pitchFamily="18" charset="0"/>
                          </a:rPr>
                          <m:t>𝑏</m:t>
                        </m:r>
                      </m:sub>
                    </m:sSub>
                    <m:r>
                      <a:rPr lang="en-US" altLang="zh-CN" sz="2400" i="1">
                        <a:solidFill>
                          <a:schemeClr val="bg1"/>
                        </a:solidFill>
                        <a:latin typeface="Cambria Math" panose="02040503050406030204" pitchFamily="18" charset="0"/>
                      </a:rPr>
                      <m:t>=0.3</m:t>
                    </m:r>
                  </m:oMath>
                </a14:m>
                <a:r>
                  <a:rPr lang="zh-CN" altLang="zh-CN" sz="2400" dirty="0">
                    <a:solidFill>
                      <a:schemeClr val="bg1"/>
                    </a:solidFill>
                    <a:ea typeface="微软雅黑" pitchFamily="34" charset="-122"/>
                  </a:rPr>
                  <a:t>；对于</a:t>
                </a:r>
                <a:r>
                  <a:rPr lang="en-US" altLang="zh-CN" sz="2400" dirty="0">
                    <a:solidFill>
                      <a:schemeClr val="bg1"/>
                    </a:solidFill>
                    <a:ea typeface="微软雅黑" pitchFamily="34" charset="-122"/>
                  </a:rPr>
                  <a:t>e</a:t>
                </a:r>
                <a:r>
                  <a:rPr lang="zh-CN" altLang="zh-CN" sz="2400" dirty="0">
                    <a:solidFill>
                      <a:schemeClr val="bg1"/>
                    </a:solidFill>
                    <a:ea typeface="微软雅黑" pitchFamily="34" charset="-122"/>
                  </a:rPr>
                  <a:t>和</a:t>
                </a:r>
                <a14:m>
                  <m:oMath xmlns:m="http://schemas.openxmlformats.org/officeDocument/2006/math">
                    <m:sSub>
                      <m:sSubPr>
                        <m:ctrlPr>
                          <a:rPr lang="zh-CN" altLang="zh-CN" sz="2400" i="1">
                            <a:solidFill>
                              <a:schemeClr val="bg1"/>
                            </a:solidFill>
                            <a:latin typeface="Cambria Math"/>
                          </a:rPr>
                        </m:ctrlPr>
                      </m:sSubPr>
                      <m:e>
                        <m:r>
                          <a:rPr lang="en-US" altLang="zh-CN" sz="2400" i="1">
                            <a:solidFill>
                              <a:schemeClr val="bg1"/>
                            </a:solidFill>
                            <a:latin typeface="Cambria Math" panose="02040503050406030204" pitchFamily="18" charset="0"/>
                          </a:rPr>
                          <m:t>𝐼</m:t>
                        </m:r>
                      </m:e>
                      <m:sub>
                        <m:r>
                          <a:rPr lang="en-US" altLang="zh-CN" sz="2400" i="1">
                            <a:solidFill>
                              <a:schemeClr val="bg1"/>
                            </a:solidFill>
                            <a:latin typeface="Cambria Math" panose="02040503050406030204" pitchFamily="18" charset="0"/>
                          </a:rPr>
                          <m:t>𝐿</m:t>
                        </m:r>
                      </m:sub>
                    </m:sSub>
                  </m:oMath>
                </a14:m>
                <a:r>
                  <a:rPr lang="zh-CN" altLang="zh-CN" sz="2400" dirty="0">
                    <a:solidFill>
                      <a:schemeClr val="bg1"/>
                    </a:solidFill>
                    <a:ea typeface="微软雅黑" pitchFamily="34" charset="-122"/>
                  </a:rPr>
                  <a:t>均大于</a:t>
                </a:r>
                <a:r>
                  <a:rPr lang="en-US" altLang="zh-CN" sz="2400" dirty="0">
                    <a:solidFill>
                      <a:schemeClr val="bg1"/>
                    </a:solidFill>
                    <a:ea typeface="微软雅黑" pitchFamily="34" charset="-122"/>
                  </a:rPr>
                  <a:t>0.85</a:t>
                </a:r>
                <a:r>
                  <a:rPr lang="zh-CN" altLang="zh-CN" sz="2400" dirty="0">
                    <a:solidFill>
                      <a:schemeClr val="bg1"/>
                    </a:solidFill>
                    <a:ea typeface="微软雅黑" pitchFamily="34" charset="-122"/>
                  </a:rPr>
                  <a:t>的黏性土，则</a:t>
                </a:r>
                <a14:m>
                  <m:oMath xmlns:m="http://schemas.openxmlformats.org/officeDocument/2006/math">
                    <m:sSub>
                      <m:sSubPr>
                        <m:ctrlPr>
                          <a:rPr lang="zh-CN" altLang="zh-CN" sz="2400" i="1">
                            <a:solidFill>
                              <a:schemeClr val="bg1"/>
                            </a:solidFill>
                            <a:latin typeface="Cambria Math"/>
                          </a:rPr>
                        </m:ctrlPr>
                      </m:sSubPr>
                      <m:e>
                        <m:r>
                          <a:rPr lang="en-US" altLang="zh-CN" sz="2400" i="1">
                            <a:solidFill>
                              <a:schemeClr val="bg1"/>
                            </a:solidFill>
                            <a:latin typeface="Cambria Math" panose="02040503050406030204" pitchFamily="18" charset="0"/>
                          </a:rPr>
                          <m:t>𝜂</m:t>
                        </m:r>
                      </m:e>
                      <m:sub>
                        <m:r>
                          <a:rPr lang="en-US" altLang="zh-CN" sz="2400" i="1">
                            <a:solidFill>
                              <a:schemeClr val="bg1"/>
                            </a:solidFill>
                            <a:latin typeface="Cambria Math" panose="02040503050406030204" pitchFamily="18" charset="0"/>
                          </a:rPr>
                          <m:t>𝑑</m:t>
                        </m:r>
                      </m:sub>
                    </m:sSub>
                    <m:r>
                      <a:rPr lang="en-US" altLang="zh-CN" sz="2400" i="1">
                        <a:solidFill>
                          <a:schemeClr val="bg1"/>
                        </a:solidFill>
                        <a:latin typeface="Cambria Math" panose="02040503050406030204" pitchFamily="18" charset="0"/>
                      </a:rPr>
                      <m:t>=0</m:t>
                    </m:r>
                  </m:oMath>
                </a14:m>
                <a:r>
                  <a:rPr lang="zh-CN" altLang="zh-CN" sz="2400" dirty="0">
                    <a:solidFill>
                      <a:schemeClr val="bg1"/>
                    </a:solidFill>
                    <a:ea typeface="微软雅黑" pitchFamily="34" charset="-122"/>
                  </a:rPr>
                  <a:t>；这显然也是不符合实际，存在误差的；同样考虑到各地的土质不同，其安全度具体如何因地而异：</a:t>
                </a:r>
              </a:p>
              <a:p>
                <a:pPr>
                  <a:lnSpc>
                    <a:spcPct val="150000"/>
                  </a:lnSpc>
                </a:pPr>
                <a:endParaRPr lang="zh-CN" altLang="en-US" sz="2400" dirty="0">
                  <a:solidFill>
                    <a:schemeClr val="bg1"/>
                  </a:solidFill>
                  <a:ea typeface="微软雅黑" pitchFamily="34" charset="-122"/>
                </a:endParaRPr>
              </a:p>
            </p:txBody>
          </p:sp>
        </mc:Choice>
        <mc:Fallback xmlns="">
          <p:sp>
            <p:nvSpPr>
              <p:cNvPr id="19" name="内容占位符 11"/>
              <p:cNvSpPr txBox="1">
                <a:spLocks noRot="1" noChangeAspect="1" noMove="1" noResize="1" noEditPoints="1" noAdjustHandles="1" noChangeArrowheads="1" noChangeShapeType="1" noTextEdit="1"/>
              </p:cNvSpPr>
              <p:nvPr/>
            </p:nvSpPr>
            <p:spPr>
              <a:xfrm>
                <a:off x="251520" y="2227263"/>
                <a:ext cx="8640960" cy="4495769"/>
              </a:xfrm>
              <a:prstGeom prst="rect">
                <a:avLst/>
              </a:prstGeom>
              <a:blipFill rotWithShape="1">
                <a:blip r:embed="rId2"/>
                <a:stretch>
                  <a:fillRect l="-1058" r="-564" b="-2981"/>
                </a:stretch>
              </a:blipFill>
            </p:spPr>
            <p:txBody>
              <a:bodyPr/>
              <a:lstStyle/>
              <a:p>
                <a:r>
                  <a:rPr lang="zh-CN" altLang="en-US">
                    <a:noFill/>
                  </a:rPr>
                  <a:t> </a:t>
                </a:r>
              </a:p>
            </p:txBody>
          </p:sp>
        </mc:Fallback>
      </mc:AlternateContent>
      <p:grpSp>
        <p:nvGrpSpPr>
          <p:cNvPr id="20" name="组合 19"/>
          <p:cNvGrpSpPr/>
          <p:nvPr/>
        </p:nvGrpSpPr>
        <p:grpSpPr>
          <a:xfrm>
            <a:off x="416081" y="455317"/>
            <a:ext cx="5616624" cy="798585"/>
            <a:chOff x="460247" y="455317"/>
            <a:chExt cx="5616624" cy="798585"/>
          </a:xfrm>
        </p:grpSpPr>
        <p:grpSp>
          <p:nvGrpSpPr>
            <p:cNvPr id="21" name="组合 20"/>
            <p:cNvGrpSpPr/>
            <p:nvPr/>
          </p:nvGrpSpPr>
          <p:grpSpPr>
            <a:xfrm>
              <a:off x="460247" y="455317"/>
              <a:ext cx="5616624" cy="798585"/>
              <a:chOff x="185955" y="479575"/>
              <a:chExt cx="5616624" cy="798585"/>
            </a:xfrm>
          </p:grpSpPr>
          <p:grpSp>
            <p:nvGrpSpPr>
              <p:cNvPr id="23" name="组合 22"/>
              <p:cNvGrpSpPr/>
              <p:nvPr/>
            </p:nvGrpSpPr>
            <p:grpSpPr>
              <a:xfrm>
                <a:off x="185955" y="479575"/>
                <a:ext cx="5616624" cy="798585"/>
                <a:chOff x="1115616" y="2060848"/>
                <a:chExt cx="6264696" cy="920468"/>
              </a:xfrm>
            </p:grpSpPr>
            <p:sp>
              <p:nvSpPr>
                <p:cNvPr id="25"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26" name="Group 34"/>
                <p:cNvGrpSpPr>
                  <a:grpSpLocks/>
                </p:cNvGrpSpPr>
                <p:nvPr/>
              </p:nvGrpSpPr>
              <p:grpSpPr bwMode="auto">
                <a:xfrm>
                  <a:off x="1115616" y="2098780"/>
                  <a:ext cx="847963" cy="882536"/>
                  <a:chOff x="2959" y="1571"/>
                  <a:chExt cx="454" cy="482"/>
                </a:xfrm>
              </p:grpSpPr>
              <p:grpSp>
                <p:nvGrpSpPr>
                  <p:cNvPr id="27" name="Group 35"/>
                  <p:cNvGrpSpPr>
                    <a:grpSpLocks/>
                  </p:cNvGrpSpPr>
                  <p:nvPr/>
                </p:nvGrpSpPr>
                <p:grpSpPr bwMode="auto">
                  <a:xfrm>
                    <a:off x="2959" y="1571"/>
                    <a:ext cx="454" cy="482"/>
                    <a:chOff x="192" y="1917"/>
                    <a:chExt cx="1042" cy="1102"/>
                  </a:xfrm>
                </p:grpSpPr>
                <p:pic>
                  <p:nvPicPr>
                    <p:cNvPr id="29" name="Picture 36" descr="light_shadow"/>
                    <p:cNvPicPr>
                      <a:picLocks noChangeAspect="1" noChangeArrowheads="1"/>
                    </p:cNvPicPr>
                    <p:nvPr/>
                  </p:nvPicPr>
                  <p:blipFill>
                    <a:blip r:embed="rId3"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7" descr="circuler_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28" name="Picture 39" descr="Picture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4"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22" name="矩形 21"/>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33018500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36</a:t>
            </a:fld>
            <a:endParaRPr lang="zh-CN" altLang="en-US" dirty="0">
              <a:solidFill>
                <a:srgbClr val="A61A40"/>
              </a:solidFill>
            </a:endParaRPr>
          </a:p>
        </p:txBody>
      </p:sp>
      <p:sp>
        <p:nvSpPr>
          <p:cNvPr id="7" name="标题 1"/>
          <p:cNvSpPr txBox="1">
            <a:spLocks/>
          </p:cNvSpPr>
          <p:nvPr/>
        </p:nvSpPr>
        <p:spPr>
          <a:xfrm>
            <a:off x="695995" y="1552110"/>
            <a:ext cx="2952328" cy="716318"/>
          </a:xfrm>
          <a:prstGeom prst="rect">
            <a:avLst/>
          </a:prstGeom>
        </p:spPr>
        <p:txBody>
          <a:bodyPr vert="horz" lIns="91440" tIns="45720" rIns="91440" bIns="4572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2800" b="1" dirty="0">
                <a:solidFill>
                  <a:srgbClr val="FFFF00"/>
                </a:solidFill>
                <a:latin typeface="+mj-lt"/>
                <a:ea typeface="微软雅黑" pitchFamily="34" charset="-122"/>
                <a:cs typeface="+mj-cs"/>
              </a:rPr>
              <a:t>4.4.2  </a:t>
            </a:r>
            <a:r>
              <a:rPr lang="zh-CN" altLang="en-US" sz="2800" b="1" dirty="0">
                <a:solidFill>
                  <a:srgbClr val="FFFF00"/>
                </a:solidFill>
                <a:latin typeface="+mj-lt"/>
                <a:ea typeface="微软雅黑" pitchFamily="34" charset="-122"/>
                <a:cs typeface="+mj-cs"/>
              </a:rPr>
              <a:t>算例对比</a:t>
            </a:r>
          </a:p>
        </p:txBody>
      </p:sp>
      <p:sp>
        <p:nvSpPr>
          <p:cNvPr id="19" name="文本框 18"/>
          <p:cNvSpPr txBox="1"/>
          <p:nvPr/>
        </p:nvSpPr>
        <p:spPr>
          <a:xfrm>
            <a:off x="899592" y="2195923"/>
            <a:ext cx="7480494" cy="923330"/>
          </a:xfrm>
          <a:prstGeom prst="rect">
            <a:avLst/>
          </a:prstGeom>
          <a:noFill/>
        </p:spPr>
        <p:txBody>
          <a:bodyPr wrap="square" rtlCol="0">
            <a:spAutoFit/>
          </a:bodyPr>
          <a:lstStyle/>
          <a:p>
            <a:r>
              <a:rPr lang="zh-CN" altLang="zh-CN" dirty="0">
                <a:ea typeface="微软雅黑" pitchFamily="34" charset="-122"/>
              </a:rPr>
              <a:t>在此以北京市，粘性土地基为例，进行简单的对比分析</a:t>
            </a:r>
            <a:r>
              <a:rPr lang="zh-CN" altLang="en-US" dirty="0">
                <a:ea typeface="微软雅黑" pitchFamily="34" charset="-122"/>
              </a:rPr>
              <a:t>，</a:t>
            </a:r>
            <a:r>
              <a:rPr lang="zh-CN" altLang="zh-CN" dirty="0">
                <a:ea typeface="微软雅黑" pitchFamily="34" charset="-122"/>
              </a:rPr>
              <a:t>对比公式采用方继红《天然地基承载力公式分析研究》一文中根据北京地区地质给出的公式</a:t>
            </a:r>
            <a:r>
              <a:rPr lang="zh-CN" altLang="en-US" dirty="0">
                <a:ea typeface="微软雅黑" pitchFamily="34" charset="-122"/>
              </a:rPr>
              <a:t>：</a:t>
            </a:r>
            <a:endParaRPr lang="zh-CN" altLang="zh-CN" dirty="0">
              <a:ea typeface="微软雅黑" pitchFamily="34" charset="-122"/>
            </a:endParaRPr>
          </a:p>
        </p:txBody>
      </p:sp>
      <p:pic>
        <p:nvPicPr>
          <p:cNvPr id="20" name="图片 19"/>
          <p:cNvPicPr/>
          <p:nvPr/>
        </p:nvPicPr>
        <p:blipFill>
          <a:blip r:embed="rId2">
            <a:extLst>
              <a:ext uri="{28A0092B-C50C-407E-A947-70E740481C1C}">
                <a14:useLocalDpi xmlns:a14="http://schemas.microsoft.com/office/drawing/2010/main" val="0"/>
              </a:ext>
            </a:extLst>
          </a:blip>
          <a:srcRect/>
          <a:stretch>
            <a:fillRect/>
          </a:stretch>
        </p:blipFill>
        <p:spPr bwMode="auto">
          <a:xfrm>
            <a:off x="856377" y="3119254"/>
            <a:ext cx="4081520" cy="29240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a14="http://schemas.microsoft.com/office/drawing/2010/main">
        <mc:Choice Requires="a14">
          <p:sp>
            <p:nvSpPr>
              <p:cNvPr id="21" name="内容占位符 10"/>
              <p:cNvSpPr txBox="1">
                <a:spLocks/>
              </p:cNvSpPr>
              <p:nvPr/>
            </p:nvSpPr>
            <p:spPr>
              <a:xfrm>
                <a:off x="4937897" y="3119253"/>
                <a:ext cx="3442189" cy="296133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zh-CN" altLang="zh-CN" sz="1950" dirty="0" smtClean="0">
                  <a:ea typeface="微软雅黑" pitchFamily="34" charset="-122"/>
                </a:endParaRPr>
              </a:p>
              <a:p>
                <a:r>
                  <a:rPr lang="zh-CN" altLang="zh-CN" sz="1800" dirty="0">
                    <a:ea typeface="微软雅黑" pitchFamily="34" charset="-122"/>
                  </a:rPr>
                  <a:t>可以看到，当</a:t>
                </a:r>
                <a14:m>
                  <m:oMath xmlns:m="http://schemas.openxmlformats.org/officeDocument/2006/math">
                    <m:r>
                      <a:rPr lang="en-US" altLang="zh-CN" sz="1800" i="1">
                        <a:latin typeface="Cambria Math" panose="02040503050406030204" pitchFamily="18" charset="0"/>
                      </a:rPr>
                      <m:t>∅&gt;22°</m:t>
                    </m:r>
                  </m:oMath>
                </a14:m>
                <a:r>
                  <a:rPr lang="zh-CN" altLang="zh-CN" sz="1800" dirty="0">
                    <a:ea typeface="微软雅黑" pitchFamily="34" charset="-122"/>
                  </a:rPr>
                  <a:t>后，《北京规范》的</a:t>
                </a:r>
                <a14:m>
                  <m:oMath xmlns:m="http://schemas.openxmlformats.org/officeDocument/2006/math">
                    <m:sSub>
                      <m:sSubPr>
                        <m:ctrlPr>
                          <a:rPr lang="zh-CN" altLang="zh-CN" sz="1800" i="1">
                            <a:latin typeface="Cambria Math"/>
                          </a:rPr>
                        </m:ctrlPr>
                      </m:sSubPr>
                      <m:e>
                        <m:r>
                          <a:rPr lang="en-US" altLang="zh-CN" sz="1800" i="1">
                            <a:latin typeface="Cambria Math" panose="02040503050406030204" pitchFamily="18" charset="0"/>
                          </a:rPr>
                          <m:t>𝜂</m:t>
                        </m:r>
                      </m:e>
                      <m:sub>
                        <m:r>
                          <a:rPr lang="en-US" altLang="zh-CN" sz="1800" i="1">
                            <a:latin typeface="Cambria Math" panose="02040503050406030204" pitchFamily="18" charset="0"/>
                          </a:rPr>
                          <m:t>𝑑</m:t>
                        </m:r>
                      </m:sub>
                    </m:sSub>
                  </m:oMath>
                </a14:m>
                <a:r>
                  <a:rPr lang="zh-CN" altLang="zh-CN" sz="1800" dirty="0">
                    <a:ea typeface="微软雅黑" pitchFamily="34" charset="-122"/>
                  </a:rPr>
                  <a:t>大于</a:t>
                </a:r>
                <a:r>
                  <a:rPr lang="en-US" altLang="zh-CN" sz="1800" dirty="0">
                    <a:ea typeface="微软雅黑" pitchFamily="34" charset="-122"/>
                  </a:rPr>
                  <a:t>0.3</a:t>
                </a:r>
                <a:r>
                  <a:rPr lang="zh-CN" altLang="zh-CN" sz="1800" dirty="0">
                    <a:ea typeface="微软雅黑" pitchFamily="34" charset="-122"/>
                  </a:rPr>
                  <a:t>。考虑到绝大多数的黏性土的</a:t>
                </a:r>
                <a14:m>
                  <m:oMath xmlns:m="http://schemas.openxmlformats.org/officeDocument/2006/math">
                    <m:r>
                      <a:rPr lang="en-US" altLang="zh-CN" sz="1800" i="1">
                        <a:latin typeface="Cambria Math" panose="02040503050406030204" pitchFamily="18" charset="0"/>
                      </a:rPr>
                      <m:t>∅</m:t>
                    </m:r>
                  </m:oMath>
                </a14:m>
                <a:r>
                  <a:rPr lang="zh-CN" altLang="zh-CN" sz="1800" dirty="0">
                    <a:ea typeface="微软雅黑" pitchFamily="34" charset="-122"/>
                  </a:rPr>
                  <a:t>值在</a:t>
                </a:r>
                <a14:m>
                  <m:oMath xmlns:m="http://schemas.openxmlformats.org/officeDocument/2006/math">
                    <m:r>
                      <a:rPr lang="en-US" altLang="zh-CN" sz="1800">
                        <a:latin typeface="Cambria Math" panose="02040503050406030204" pitchFamily="18" charset="0"/>
                      </a:rPr>
                      <m:t>10°~20°</m:t>
                    </m:r>
                  </m:oMath>
                </a14:m>
                <a:r>
                  <a:rPr lang="zh-CN" altLang="zh-CN" sz="1800" dirty="0">
                    <a:ea typeface="微软雅黑" pitchFamily="34" charset="-122"/>
                  </a:rPr>
                  <a:t>左右，故对于</a:t>
                </a:r>
                <a:r>
                  <a:rPr lang="en-US" altLang="zh-CN" sz="1800" dirty="0">
                    <a:ea typeface="微软雅黑" pitchFamily="34" charset="-122"/>
                  </a:rPr>
                  <a:t>e</a:t>
                </a:r>
                <a:r>
                  <a:rPr lang="zh-CN" altLang="zh-CN" sz="1800" dirty="0">
                    <a:ea typeface="微软雅黑" pitchFamily="34" charset="-122"/>
                  </a:rPr>
                  <a:t>和</a:t>
                </a:r>
                <a14:m>
                  <m:oMath xmlns:m="http://schemas.openxmlformats.org/officeDocument/2006/math">
                    <m:sSub>
                      <m:sSubPr>
                        <m:ctrlPr>
                          <a:rPr lang="zh-CN" altLang="zh-CN" sz="1800" i="1">
                            <a:latin typeface="Cambria Math"/>
                          </a:rPr>
                        </m:ctrlPr>
                      </m:sSubPr>
                      <m:e>
                        <m:r>
                          <a:rPr lang="en-US" altLang="zh-CN" sz="1800" i="1">
                            <a:latin typeface="Cambria Math" panose="02040503050406030204" pitchFamily="18" charset="0"/>
                          </a:rPr>
                          <m:t>𝐼</m:t>
                        </m:r>
                      </m:e>
                      <m:sub>
                        <m:r>
                          <a:rPr lang="en-US" altLang="zh-CN" sz="1800" i="1">
                            <a:latin typeface="Cambria Math" panose="02040503050406030204" pitchFamily="18" charset="0"/>
                          </a:rPr>
                          <m:t>𝐿</m:t>
                        </m:r>
                      </m:sub>
                    </m:sSub>
                  </m:oMath>
                </a14:m>
                <a:r>
                  <a:rPr lang="zh-CN" altLang="zh-CN" sz="1800" dirty="0">
                    <a:ea typeface="微软雅黑" pitchFamily="34" charset="-122"/>
                  </a:rPr>
                  <a:t>均小于</a:t>
                </a:r>
                <a:r>
                  <a:rPr lang="en-US" altLang="zh-CN" sz="1800" dirty="0">
                    <a:ea typeface="微软雅黑" pitchFamily="34" charset="-122"/>
                  </a:rPr>
                  <a:t>0.85</a:t>
                </a:r>
                <a:r>
                  <a:rPr lang="zh-CN" altLang="zh-CN" sz="1800" dirty="0">
                    <a:ea typeface="微软雅黑" pitchFamily="34" charset="-122"/>
                  </a:rPr>
                  <a:t>的黏性土，其宽度修正系数安全度相对较差；而对于</a:t>
                </a:r>
                <a:r>
                  <a:rPr lang="en-US" altLang="zh-CN" sz="1800" dirty="0">
                    <a:ea typeface="微软雅黑" pitchFamily="34" charset="-122"/>
                  </a:rPr>
                  <a:t>e</a:t>
                </a:r>
                <a:r>
                  <a:rPr lang="zh-CN" altLang="zh-CN" sz="1800" dirty="0">
                    <a:ea typeface="微软雅黑" pitchFamily="34" charset="-122"/>
                  </a:rPr>
                  <a:t>和</a:t>
                </a:r>
                <a14:m>
                  <m:oMath xmlns:m="http://schemas.openxmlformats.org/officeDocument/2006/math">
                    <m:sSub>
                      <m:sSubPr>
                        <m:ctrlPr>
                          <a:rPr lang="zh-CN" altLang="zh-CN" sz="1800" i="1">
                            <a:latin typeface="Cambria Math"/>
                          </a:rPr>
                        </m:ctrlPr>
                      </m:sSubPr>
                      <m:e>
                        <m:r>
                          <a:rPr lang="en-US" altLang="zh-CN" sz="1800" i="1">
                            <a:latin typeface="Cambria Math" panose="02040503050406030204" pitchFamily="18" charset="0"/>
                          </a:rPr>
                          <m:t>𝐼</m:t>
                        </m:r>
                      </m:e>
                      <m:sub>
                        <m:r>
                          <a:rPr lang="en-US" altLang="zh-CN" sz="1800" i="1">
                            <a:latin typeface="Cambria Math" panose="02040503050406030204" pitchFamily="18" charset="0"/>
                          </a:rPr>
                          <m:t>𝐿</m:t>
                        </m:r>
                      </m:sub>
                    </m:sSub>
                  </m:oMath>
                </a14:m>
                <a:r>
                  <a:rPr lang="zh-CN" altLang="zh-CN" sz="1800" dirty="0">
                    <a:ea typeface="微软雅黑" pitchFamily="34" charset="-122"/>
                  </a:rPr>
                  <a:t>均大于</a:t>
                </a:r>
                <a:r>
                  <a:rPr lang="en-US" altLang="zh-CN" sz="1800" dirty="0">
                    <a:ea typeface="微软雅黑" pitchFamily="34" charset="-122"/>
                  </a:rPr>
                  <a:t>0.85</a:t>
                </a:r>
                <a:r>
                  <a:rPr lang="zh-CN" altLang="zh-CN" sz="1800" dirty="0">
                    <a:ea typeface="微软雅黑" pitchFamily="34" charset="-122"/>
                  </a:rPr>
                  <a:t>的黏性土，其宽度修正系数偏安全。</a:t>
                </a:r>
              </a:p>
              <a:p>
                <a:endParaRPr lang="zh-CN" altLang="en-US" dirty="0">
                  <a:ea typeface="微软雅黑" pitchFamily="34" charset="-122"/>
                </a:endParaRPr>
              </a:p>
            </p:txBody>
          </p:sp>
        </mc:Choice>
        <mc:Fallback xmlns="">
          <p:sp>
            <p:nvSpPr>
              <p:cNvPr id="21" name="内容占位符 10"/>
              <p:cNvSpPr txBox="1">
                <a:spLocks noRot="1" noChangeAspect="1" noMove="1" noResize="1" noEditPoints="1" noAdjustHandles="1" noChangeArrowheads="1" noChangeShapeType="1" noTextEdit="1"/>
              </p:cNvSpPr>
              <p:nvPr/>
            </p:nvSpPr>
            <p:spPr>
              <a:xfrm>
                <a:off x="4937897" y="3119253"/>
                <a:ext cx="3442189" cy="2961335"/>
              </a:xfrm>
              <a:prstGeom prst="rect">
                <a:avLst/>
              </a:prstGeom>
              <a:blipFill rotWithShape="1">
                <a:blip r:embed="rId3"/>
                <a:stretch>
                  <a:fillRect l="-1062" r="-531" b="-1649"/>
                </a:stretch>
              </a:blipFill>
            </p:spPr>
            <p:txBody>
              <a:bodyPr/>
              <a:lstStyle/>
              <a:p>
                <a:r>
                  <a:rPr lang="zh-CN" altLang="en-US">
                    <a:noFill/>
                  </a:rPr>
                  <a:t> </a:t>
                </a:r>
              </a:p>
            </p:txBody>
          </p:sp>
        </mc:Fallback>
      </mc:AlternateContent>
      <p:grpSp>
        <p:nvGrpSpPr>
          <p:cNvPr id="34" name="组合 33"/>
          <p:cNvGrpSpPr/>
          <p:nvPr/>
        </p:nvGrpSpPr>
        <p:grpSpPr>
          <a:xfrm>
            <a:off x="416081" y="455317"/>
            <a:ext cx="5616624" cy="798585"/>
            <a:chOff x="460247" y="455317"/>
            <a:chExt cx="5616624" cy="798585"/>
          </a:xfrm>
        </p:grpSpPr>
        <p:grpSp>
          <p:nvGrpSpPr>
            <p:cNvPr id="35" name="组合 34"/>
            <p:cNvGrpSpPr/>
            <p:nvPr/>
          </p:nvGrpSpPr>
          <p:grpSpPr>
            <a:xfrm>
              <a:off x="460247" y="455317"/>
              <a:ext cx="5616624" cy="798585"/>
              <a:chOff x="185955" y="479575"/>
              <a:chExt cx="5616624" cy="798585"/>
            </a:xfrm>
          </p:grpSpPr>
          <p:grpSp>
            <p:nvGrpSpPr>
              <p:cNvPr id="37" name="组合 36"/>
              <p:cNvGrpSpPr/>
              <p:nvPr/>
            </p:nvGrpSpPr>
            <p:grpSpPr>
              <a:xfrm>
                <a:off x="185955" y="479575"/>
                <a:ext cx="5616624" cy="798585"/>
                <a:chOff x="1115616" y="2060848"/>
                <a:chExt cx="6264696" cy="920468"/>
              </a:xfrm>
            </p:grpSpPr>
            <p:sp>
              <p:nvSpPr>
                <p:cNvPr id="39"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40" name="Group 34"/>
                <p:cNvGrpSpPr>
                  <a:grpSpLocks/>
                </p:cNvGrpSpPr>
                <p:nvPr/>
              </p:nvGrpSpPr>
              <p:grpSpPr bwMode="auto">
                <a:xfrm>
                  <a:off x="1115616" y="2098780"/>
                  <a:ext cx="847963" cy="882536"/>
                  <a:chOff x="2959" y="1571"/>
                  <a:chExt cx="454" cy="482"/>
                </a:xfrm>
              </p:grpSpPr>
              <p:grpSp>
                <p:nvGrpSpPr>
                  <p:cNvPr id="41" name="Group 35"/>
                  <p:cNvGrpSpPr>
                    <a:grpSpLocks/>
                  </p:cNvGrpSpPr>
                  <p:nvPr/>
                </p:nvGrpSpPr>
                <p:grpSpPr bwMode="auto">
                  <a:xfrm>
                    <a:off x="2959" y="1571"/>
                    <a:ext cx="454" cy="482"/>
                    <a:chOff x="192" y="1917"/>
                    <a:chExt cx="1042" cy="1102"/>
                  </a:xfrm>
                </p:grpSpPr>
                <p:pic>
                  <p:nvPicPr>
                    <p:cNvPr id="43" name="Picture 36" descr="light_shadow"/>
                    <p:cNvPicPr>
                      <a:picLocks noChangeAspect="1" noChangeArrowheads="1"/>
                    </p:cNvPicPr>
                    <p:nvPr/>
                  </p:nvPicPr>
                  <p:blipFill>
                    <a:blip r:embed="rId4"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37" descr="circuler_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45"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42" name="Picture 39" descr="Picture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8"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36" name="矩形 35"/>
            <p:cNvSpPr/>
            <p:nvPr/>
          </p:nvSpPr>
          <p:spPr>
            <a:xfrm>
              <a:off x="1195747" y="591100"/>
              <a:ext cx="4801314" cy="461665"/>
            </a:xfrm>
            <a:prstGeom prst="rect">
              <a:avLst/>
            </a:prstGeom>
          </p:spPr>
          <p:txBody>
            <a:bodyPr wrap="none">
              <a:spAutoFit/>
            </a:bodyPr>
            <a:lstStyle/>
            <a:p>
              <a:r>
                <a:rPr lang="zh-CN" altLang="en-US" sz="2400" b="1" dirty="0">
                  <a:ea typeface="微软雅黑" pitchFamily="34" charset="-122"/>
                </a:rPr>
                <a:t>现场荷载试验或其他原位测试方法</a:t>
              </a:r>
            </a:p>
          </p:txBody>
        </p:sp>
      </p:grpSp>
    </p:spTree>
    <p:extLst>
      <p:ext uri="{BB962C8B-B14F-4D97-AF65-F5344CB8AC3E}">
        <p14:creationId xmlns:p14="http://schemas.microsoft.com/office/powerpoint/2010/main" val="40630806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a:hlinkClick r:id="rId3" action="ppaction://hlinksldjump"/>
          </p:cNvPr>
          <p:cNvSpPr/>
          <p:nvPr/>
        </p:nvSpPr>
        <p:spPr>
          <a:xfrm>
            <a:off x="8100392" y="6118716"/>
            <a:ext cx="931470" cy="548807"/>
          </a:xfrm>
          <a:prstGeom prst="rect">
            <a:avLst/>
          </a:prstGeom>
          <a:solidFill>
            <a:srgbClr val="A61A4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home</a:t>
            </a:r>
            <a:endParaRPr lang="zh-CN" altLang="en-US" dirty="0">
              <a:ea typeface="微软雅黑" pitchFamily="34" charset="-122"/>
            </a:endParaRPr>
          </a:p>
        </p:txBody>
      </p:sp>
      <p:sp>
        <p:nvSpPr>
          <p:cNvPr id="2" name="灯片编号占位符 1"/>
          <p:cNvSpPr>
            <a:spLocks noGrp="1"/>
          </p:cNvSpPr>
          <p:nvPr>
            <p:ph type="sldNum" sz="quarter" idx="12"/>
          </p:nvPr>
        </p:nvSpPr>
        <p:spPr/>
        <p:txBody>
          <a:bodyPr/>
          <a:lstStyle/>
          <a:p>
            <a:fld id="{833901E6-BE0D-4D4C-BD9F-F1A617F9590B}" type="slidenum">
              <a:rPr lang="zh-CN" altLang="en-US" smtClean="0">
                <a:solidFill>
                  <a:schemeClr val="bg1"/>
                </a:solidFill>
              </a:rPr>
              <a:t>37</a:t>
            </a:fld>
            <a:endParaRPr lang="zh-CN" altLang="en-US" dirty="0">
              <a:solidFill>
                <a:schemeClr val="bg1"/>
              </a:solidFill>
            </a:endParaRPr>
          </a:p>
        </p:txBody>
      </p:sp>
      <p:sp>
        <p:nvSpPr>
          <p:cNvPr id="3" name="文本框 2"/>
          <p:cNvSpPr txBox="1"/>
          <p:nvPr/>
        </p:nvSpPr>
        <p:spPr>
          <a:xfrm rot="20493734">
            <a:off x="1485776" y="2024225"/>
            <a:ext cx="4155323" cy="769441"/>
          </a:xfrm>
          <a:prstGeom prst="rect">
            <a:avLst/>
          </a:prstGeom>
          <a:noFill/>
        </p:spPr>
        <p:txBody>
          <a:bodyPr wrap="square" rtlCol="0">
            <a:spAutoFit/>
          </a:bodyPr>
          <a:lstStyle/>
          <a:p>
            <a:r>
              <a:rPr lang="en-US" altLang="zh-CN" sz="4400" dirty="0">
                <a:latin typeface="Adobe Gothic Std B" pitchFamily="34" charset="-128"/>
                <a:ea typeface="Adobe Gothic Std B" pitchFamily="34" charset="-128"/>
              </a:rPr>
              <a:t>reconciliation</a:t>
            </a:r>
            <a:endParaRPr lang="zh-CN" altLang="en-US" sz="4400" dirty="0">
              <a:latin typeface="Adobe Gothic Std B" pitchFamily="34" charset="-128"/>
              <a:ea typeface="微软雅黑" pitchFamily="34" charset="-122"/>
            </a:endParaRPr>
          </a:p>
        </p:txBody>
      </p:sp>
      <p:grpSp>
        <p:nvGrpSpPr>
          <p:cNvPr id="13" name="组合 12"/>
          <p:cNvGrpSpPr/>
          <p:nvPr/>
        </p:nvGrpSpPr>
        <p:grpSpPr>
          <a:xfrm>
            <a:off x="6101753" y="933134"/>
            <a:ext cx="1998639" cy="2968284"/>
            <a:chOff x="4589502" y="884116"/>
            <a:chExt cx="1595263" cy="2160240"/>
          </a:xfrm>
        </p:grpSpPr>
        <p:sp>
          <p:nvSpPr>
            <p:cNvPr id="17" name="矩形 16">
              <a:hlinkClick r:id="rId4" action="ppaction://hlinksldjump"/>
            </p:cNvPr>
            <p:cNvSpPr/>
            <p:nvPr/>
          </p:nvSpPr>
          <p:spPr>
            <a:xfrm>
              <a:off x="4589502" y="884116"/>
              <a:ext cx="1575792" cy="2160240"/>
            </a:xfrm>
            <a:prstGeom prst="rect">
              <a:avLst/>
            </a:prstGeom>
            <a:gradFill flip="none" rotWithShape="1">
              <a:gsLst>
                <a:gs pos="0">
                  <a:schemeClr val="accent6">
                    <a:lumMod val="75000"/>
                  </a:schemeClr>
                </a:gs>
                <a:gs pos="100000">
                  <a:srgbClr val="FF6600">
                    <a:alpha val="85000"/>
                    <a:lumMod val="97000"/>
                    <a:lumOff val="3000"/>
                  </a:srgb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pic>
          <p:nvPicPr>
            <p:cNvPr id="18" name="Picture 9" descr="C:\Users\Nir\Desktop\未标题-1.png">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27962" y="1025738"/>
              <a:ext cx="795337" cy="84137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5580112" y="1203598"/>
              <a:ext cx="604653" cy="392324"/>
            </a:xfrm>
            <a:prstGeom prst="rect">
              <a:avLst/>
            </a:prstGeom>
            <a:noFill/>
          </p:spPr>
          <p:txBody>
            <a:bodyPr wrap="none" rtlCol="0">
              <a:spAutoFit/>
            </a:bodyPr>
            <a:lstStyle/>
            <a:p>
              <a:r>
                <a:rPr lang="en-US" altLang="zh-CN" sz="2800" dirty="0" smtClean="0">
                  <a:solidFill>
                    <a:schemeClr val="bg1"/>
                  </a:solidFill>
                  <a:latin typeface="微软雅黑" pitchFamily="34" charset="-122"/>
                  <a:ea typeface="微软雅黑" pitchFamily="34" charset="-122"/>
                </a:rPr>
                <a:t>05</a:t>
              </a:r>
            </a:p>
          </p:txBody>
        </p:sp>
        <p:sp>
          <p:nvSpPr>
            <p:cNvPr id="20" name="矩形 19">
              <a:hlinkClick r:id="rId4" action="ppaction://hlinksldjump"/>
            </p:cNvPr>
            <p:cNvSpPr/>
            <p:nvPr/>
          </p:nvSpPr>
          <p:spPr>
            <a:xfrm>
              <a:off x="4755131" y="1767468"/>
              <a:ext cx="1244534" cy="1179420"/>
            </a:xfrm>
            <a:prstGeom prst="rect">
              <a:avLst/>
            </a:prstGeom>
            <a:noFill/>
            <a:ln w="44450">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itchFamily="34" charset="-122"/>
              </a:endParaRPr>
            </a:p>
          </p:txBody>
        </p:sp>
      </p:grpSp>
      <p:sp>
        <p:nvSpPr>
          <p:cNvPr id="21" name="TextBox 20"/>
          <p:cNvSpPr txBox="1"/>
          <p:nvPr/>
        </p:nvSpPr>
        <p:spPr>
          <a:xfrm>
            <a:off x="6390118" y="2401290"/>
            <a:ext cx="1404490" cy="1077218"/>
          </a:xfrm>
          <a:prstGeom prst="rect">
            <a:avLst/>
          </a:prstGeom>
          <a:noFill/>
        </p:spPr>
        <p:txBody>
          <a:bodyPr wrap="square" rtlCol="0">
            <a:spAutoFit/>
          </a:bodyPr>
          <a:lstStyle/>
          <a:p>
            <a:r>
              <a:rPr lang="zh-CN" altLang="en-US" sz="3200" b="1" dirty="0" smtClean="0">
                <a:solidFill>
                  <a:schemeClr val="bg1"/>
                </a:solidFill>
                <a:latin typeface="微软雅黑" pitchFamily="34" charset="-122"/>
                <a:ea typeface="微软雅黑" pitchFamily="34" charset="-122"/>
              </a:rPr>
              <a:t>协 调</a:t>
            </a:r>
            <a:endParaRPr lang="en-US" altLang="zh-CN" sz="3200" b="1" dirty="0" smtClean="0">
              <a:solidFill>
                <a:schemeClr val="bg1"/>
              </a:solidFill>
              <a:latin typeface="微软雅黑" pitchFamily="34" charset="-122"/>
              <a:ea typeface="微软雅黑" pitchFamily="34" charset="-122"/>
            </a:endParaRPr>
          </a:p>
          <a:p>
            <a:r>
              <a:rPr lang="zh-CN" altLang="en-US" sz="3200" b="1" dirty="0" smtClean="0">
                <a:solidFill>
                  <a:schemeClr val="bg1"/>
                </a:solidFill>
                <a:latin typeface="微软雅黑" pitchFamily="34" charset="-122"/>
                <a:ea typeface="微软雅黑" pitchFamily="34" charset="-122"/>
              </a:rPr>
              <a:t>差 异</a:t>
            </a:r>
            <a:endParaRPr lang="zh-CN" altLang="en-US" sz="32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8382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3901E6-BE0D-4D4C-BD9F-F1A617F9590B}" type="slidenum">
              <a:rPr lang="zh-CN" altLang="en-US" smtClean="0">
                <a:solidFill>
                  <a:srgbClr val="A61A40"/>
                </a:solidFill>
              </a:rPr>
              <a:t>38</a:t>
            </a:fld>
            <a:endParaRPr lang="zh-CN" altLang="en-US" dirty="0">
              <a:solidFill>
                <a:srgbClr val="A61A40"/>
              </a:solidFill>
            </a:endParaRPr>
          </a:p>
        </p:txBody>
      </p:sp>
      <p:graphicFrame>
        <p:nvGraphicFramePr>
          <p:cNvPr id="7" name="图示 6"/>
          <p:cNvGraphicFramePr/>
          <p:nvPr>
            <p:extLst>
              <p:ext uri="{D42A27DB-BD31-4B8C-83A1-F6EECF244321}">
                <p14:modId xmlns:p14="http://schemas.microsoft.com/office/powerpoint/2010/main" val="1069160014"/>
              </p:ext>
            </p:extLst>
          </p:nvPr>
        </p:nvGraphicFramePr>
        <p:xfrm>
          <a:off x="1133715" y="1226389"/>
          <a:ext cx="6504384" cy="5128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1" name="组合 10"/>
          <p:cNvGrpSpPr/>
          <p:nvPr/>
        </p:nvGrpSpPr>
        <p:grpSpPr>
          <a:xfrm>
            <a:off x="457200" y="427804"/>
            <a:ext cx="5616624" cy="798585"/>
            <a:chOff x="460247" y="455317"/>
            <a:chExt cx="5616624" cy="798585"/>
          </a:xfrm>
        </p:grpSpPr>
        <p:grpSp>
          <p:nvGrpSpPr>
            <p:cNvPr id="12" name="组合 11"/>
            <p:cNvGrpSpPr/>
            <p:nvPr/>
          </p:nvGrpSpPr>
          <p:grpSpPr>
            <a:xfrm>
              <a:off x="460247" y="455317"/>
              <a:ext cx="5616624" cy="798585"/>
              <a:chOff x="185955" y="479575"/>
              <a:chExt cx="5616624" cy="798585"/>
            </a:xfrm>
          </p:grpSpPr>
          <p:grpSp>
            <p:nvGrpSpPr>
              <p:cNvPr id="14" name="组合 13"/>
              <p:cNvGrpSpPr/>
              <p:nvPr/>
            </p:nvGrpSpPr>
            <p:grpSpPr>
              <a:xfrm>
                <a:off x="185955" y="479575"/>
                <a:ext cx="5616624" cy="798585"/>
                <a:chOff x="1115616" y="2060848"/>
                <a:chExt cx="6264696" cy="920468"/>
              </a:xfrm>
            </p:grpSpPr>
            <p:sp>
              <p:nvSpPr>
                <p:cNvPr id="16" name="AutoShape 25"/>
                <p:cNvSpPr>
                  <a:spLocks noChangeArrowheads="1"/>
                </p:cNvSpPr>
                <p:nvPr/>
              </p:nvSpPr>
              <p:spPr bwMode="gray">
                <a:xfrm>
                  <a:off x="1181407" y="2060848"/>
                  <a:ext cx="6198905" cy="890816"/>
                </a:xfrm>
                <a:prstGeom prst="roundRect">
                  <a:avLst>
                    <a:gd name="adj" fmla="val 50000"/>
                  </a:avLst>
                </a:prstGeom>
                <a:solidFill>
                  <a:srgbClr val="34518A">
                    <a:lumMod val="60000"/>
                    <a:lumOff val="40000"/>
                  </a:srgbClr>
                </a:solidFill>
                <a:ln w="28575">
                  <a:solidFill>
                    <a:srgbClr val="EAEAEA"/>
                  </a:solidFill>
                  <a:round/>
                  <a:headEnd/>
                  <a:tailEnd/>
                </a:ln>
                <a:effectLst/>
                <a:extLst>
                  <a:ext uri="{AF507438-7753-43E0-B8FC-AC1667EBCBE1}">
                    <a14:hiddenEffects xmlns:a14="http://schemas.microsoft.com/office/drawing/2010/main">
                      <a:effectLst>
                        <a:outerShdw dist="53882" dir="2700000" algn="ctr" rotWithShape="0">
                          <a:srgbClr val="292929">
                            <a:alpha val="50000"/>
                          </a:srgbClr>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nvGrpSpPr>
                <p:cNvPr id="17" name="Group 34"/>
                <p:cNvGrpSpPr>
                  <a:grpSpLocks/>
                </p:cNvGrpSpPr>
                <p:nvPr/>
              </p:nvGrpSpPr>
              <p:grpSpPr bwMode="auto">
                <a:xfrm>
                  <a:off x="1115616" y="2098780"/>
                  <a:ext cx="847963" cy="882536"/>
                  <a:chOff x="2959" y="1571"/>
                  <a:chExt cx="454" cy="482"/>
                </a:xfrm>
              </p:grpSpPr>
              <p:grpSp>
                <p:nvGrpSpPr>
                  <p:cNvPr id="18" name="Group 35"/>
                  <p:cNvGrpSpPr>
                    <a:grpSpLocks/>
                  </p:cNvGrpSpPr>
                  <p:nvPr/>
                </p:nvGrpSpPr>
                <p:grpSpPr bwMode="auto">
                  <a:xfrm>
                    <a:off x="2959" y="1571"/>
                    <a:ext cx="454" cy="482"/>
                    <a:chOff x="192" y="1917"/>
                    <a:chExt cx="1042" cy="1102"/>
                  </a:xfrm>
                </p:grpSpPr>
                <p:pic>
                  <p:nvPicPr>
                    <p:cNvPr id="20" name="Picture 36" descr="light_shadow"/>
                    <p:cNvPicPr>
                      <a:picLocks noChangeAspect="1" noChangeArrowheads="1"/>
                    </p:cNvPicPr>
                    <p:nvPr/>
                  </p:nvPicPr>
                  <p:blipFill>
                    <a:blip r:embed="rId8" cstate="print">
                      <a:lum bright="-78000" contrast="-78000"/>
                      <a:extLst>
                        <a:ext uri="{28A0092B-C50C-407E-A947-70E740481C1C}">
                          <a14:useLocalDpi xmlns:a14="http://schemas.microsoft.com/office/drawing/2010/main" val="0"/>
                        </a:ext>
                      </a:extLst>
                    </a:blip>
                    <a:srcRect/>
                    <a:stretch>
                      <a:fillRect/>
                    </a:stretch>
                  </p:blipFill>
                  <p:spPr bwMode="gray">
                    <a:xfrm>
                      <a:off x="291" y="2781"/>
                      <a:ext cx="858" cy="23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37" descr="circuler_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gray">
                    <a:xfrm>
                      <a:off x="192" y="1917"/>
                      <a:ext cx="1042" cy="1016"/>
                    </a:xfrm>
                    <a:prstGeom prst="rect">
                      <a:avLst/>
                    </a:prstGeom>
                    <a:noFill/>
                    <a:extLst>
                      <a:ext uri="{909E8E84-426E-40DD-AFC4-6F175D3DCCD1}">
                        <a14:hiddenFill xmlns:a14="http://schemas.microsoft.com/office/drawing/2010/main">
                          <a:solidFill>
                            <a:srgbClr val="FFFFFF"/>
                          </a:solidFill>
                        </a14:hiddenFill>
                      </a:ext>
                    </a:extLst>
                  </p:spPr>
                </p:pic>
                <p:sp>
                  <p:nvSpPr>
                    <p:cNvPr id="22" name="Oval 38"/>
                    <p:cNvSpPr>
                      <a:spLocks noChangeArrowheads="1"/>
                    </p:cNvSpPr>
                    <p:nvPr/>
                  </p:nvSpPr>
                  <p:spPr bwMode="gray">
                    <a:xfrm>
                      <a:off x="192" y="1917"/>
                      <a:ext cx="1035" cy="1019"/>
                    </a:xfrm>
                    <a:prstGeom prst="ellipse">
                      <a:avLst/>
                    </a:prstGeom>
                    <a:solidFill>
                      <a:srgbClr val="A61A4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Garamond" pitchFamily="18" charset="0"/>
                        <a:ea typeface="微软雅黑" pitchFamily="34" charset="-122"/>
                      </a:endParaRPr>
                    </a:p>
                  </p:txBody>
                </p:sp>
              </p:grpSp>
              <p:pic>
                <p:nvPicPr>
                  <p:cNvPr id="19" name="Picture 39" descr="Picture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3004" y="1572"/>
                    <a:ext cx="359" cy="15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5" name="标题 1"/>
              <p:cNvSpPr txBox="1">
                <a:spLocks/>
              </p:cNvSpPr>
              <p:nvPr/>
            </p:nvSpPr>
            <p:spPr>
              <a:xfrm>
                <a:off x="862470" y="519247"/>
                <a:ext cx="4794675" cy="722811"/>
              </a:xfrm>
              <a:prstGeom prst="rect">
                <a:avLst/>
              </a:prstGeom>
            </p:spPr>
            <p:txBody>
              <a:bodyPr vert="horz" lIns="91440" tIns="45720" rIns="91440" bIns="45720" rtlCol="0" anchor="ctr">
                <a:normAutofit fontScale="97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600" dirty="0">
                  <a:ea typeface="微软雅黑" pitchFamily="34" charset="-122"/>
                </a:endParaRPr>
              </a:p>
            </p:txBody>
          </p:sp>
        </p:grpSp>
        <p:sp>
          <p:nvSpPr>
            <p:cNvPr id="13" name="矩形 12"/>
            <p:cNvSpPr/>
            <p:nvPr/>
          </p:nvSpPr>
          <p:spPr>
            <a:xfrm>
              <a:off x="1320615" y="540149"/>
              <a:ext cx="2102304" cy="5847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zh-CN" altLang="en-US" sz="3200" b="1" dirty="0">
                  <a:latin typeface="微软雅黑" pitchFamily="34" charset="-122"/>
                  <a:ea typeface="微软雅黑" pitchFamily="34" charset="-122"/>
                </a:rPr>
                <a:t>协调差异</a:t>
              </a:r>
            </a:p>
          </p:txBody>
        </p:sp>
      </p:grpSp>
      <p:sp>
        <p:nvSpPr>
          <p:cNvPr id="35" name="文本框 4"/>
          <p:cNvSpPr txBox="1"/>
          <p:nvPr/>
        </p:nvSpPr>
        <p:spPr>
          <a:xfrm>
            <a:off x="-9346" y="5274126"/>
            <a:ext cx="9153346" cy="1107996"/>
          </a:xfrm>
          <a:prstGeom prst="rect">
            <a:avLst/>
          </a:prstGeom>
          <a:solidFill>
            <a:srgbClr val="FFFF00">
              <a:alpha val="71000"/>
            </a:srgbClr>
          </a:solidFill>
        </p:spPr>
        <p:txBody>
          <a:bodyPr wrap="square" rtlCol="0">
            <a:spAutoFit/>
          </a:bodyPr>
          <a:lstStyle/>
          <a:p>
            <a:pPr algn="ctr"/>
            <a:r>
              <a:rPr lang="zh-CN" altLang="en-US" sz="6600" b="1" dirty="0" smtClean="0">
                <a:latin typeface="华文新魏" panose="02010800040101010101" pitchFamily="2" charset="-122"/>
                <a:ea typeface="华文新魏" panose="02010800040101010101" pitchFamily="2" charset="-122"/>
              </a:rPr>
              <a:t>谢  谢</a:t>
            </a:r>
            <a:endParaRPr lang="zh-CN" altLang="en-US" sz="32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042396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barn(outVertical)">
                                      <p:cBhvr>
                                        <p:cTn id="1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35"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新建 Microsoft PowerPoint 演示文稿</Template>
  <TotalTime>1108</TotalTime>
  <Words>3776</Words>
  <Application>Microsoft Office PowerPoint</Application>
  <PresentationFormat>自定义</PresentationFormat>
  <Paragraphs>332</Paragraphs>
  <Slides>38</Slides>
  <Notes>14</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40" baseType="lpstr">
      <vt:lpstr>Office 主题</vt:lpstr>
      <vt:lpstr>Equation</vt:lpstr>
      <vt:lpstr>规范中    地基承载力设计值                            如何来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dc:creator>
  <cp:lastModifiedBy>lenovo</cp:lastModifiedBy>
  <cp:revision>109</cp:revision>
  <dcterms:created xsi:type="dcterms:W3CDTF">2012-07-25T13:40:17Z</dcterms:created>
  <dcterms:modified xsi:type="dcterms:W3CDTF">2013-04-29T12:04:07Z</dcterms:modified>
</cp:coreProperties>
</file>