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8" r:id="rId17"/>
    <p:sldId id="273"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31" r:id="rId42"/>
    <p:sldId id="303" r:id="rId43"/>
    <p:sldId id="332"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28" r:id="rId59"/>
    <p:sldId id="329" r:id="rId60"/>
    <p:sldId id="330" r:id="rId61"/>
    <p:sldId id="320" r:id="rId62"/>
    <p:sldId id="321" r:id="rId63"/>
    <p:sldId id="322" r:id="rId64"/>
    <p:sldId id="323" r:id="rId65"/>
    <p:sldId id="324" r:id="rId66"/>
    <p:sldId id="325" r:id="rId67"/>
    <p:sldId id="326" r:id="rId6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4" d="100"/>
          <a:sy n="94" d="100"/>
        </p:scale>
        <p:origin x="1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5" Type="http://schemas.openxmlformats.org/officeDocument/2006/relationships/image" Target="../media/image21.wmf"/><Relationship Id="rId4"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6.wmf"/><Relationship Id="rId5" Type="http://schemas.openxmlformats.org/officeDocument/2006/relationships/image" Target="../media/image32.wmf"/><Relationship Id="rId4"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36.wmf"/><Relationship Id="rId4"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6.wmf"/><Relationship Id="rId4"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26.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5.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26.wmf"/><Relationship Id="rId4" Type="http://schemas.openxmlformats.org/officeDocument/2006/relationships/image" Target="../media/image5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60.wmf"/><Relationship Id="rId1" Type="http://schemas.openxmlformats.org/officeDocument/2006/relationships/image" Target="../media/image59.wmf"/><Relationship Id="rId5" Type="http://schemas.openxmlformats.org/officeDocument/2006/relationships/image" Target="../media/image61.wmf"/><Relationship Id="rId4" Type="http://schemas.openxmlformats.org/officeDocument/2006/relationships/image" Target="../media/image5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1.wmf"/><Relationship Id="rId4" Type="http://schemas.openxmlformats.org/officeDocument/2006/relationships/image" Target="../media/image6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1.wmf"/><Relationship Id="rId1" Type="http://schemas.openxmlformats.org/officeDocument/2006/relationships/image" Target="../media/image67.wmf"/><Relationship Id="rId4" Type="http://schemas.openxmlformats.org/officeDocument/2006/relationships/image" Target="../media/image6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72.wmf"/><Relationship Id="rId1" Type="http://schemas.openxmlformats.org/officeDocument/2006/relationships/image" Target="../media/image71.wmf"/><Relationship Id="rId4" Type="http://schemas.openxmlformats.org/officeDocument/2006/relationships/image" Target="../media/image5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emf"/><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79.wmf"/><Relationship Id="rId4" Type="http://schemas.openxmlformats.org/officeDocument/2006/relationships/image" Target="../media/image8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4" Type="http://schemas.openxmlformats.org/officeDocument/2006/relationships/image" Target="../media/image87.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image" Target="../media/image102.wmf"/><Relationship Id="rId3" Type="http://schemas.openxmlformats.org/officeDocument/2006/relationships/image" Target="../media/image92.wmf"/><Relationship Id="rId7" Type="http://schemas.openxmlformats.org/officeDocument/2006/relationships/image" Target="../media/image96.wmf"/><Relationship Id="rId12" Type="http://schemas.openxmlformats.org/officeDocument/2006/relationships/image" Target="../media/image101.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95.wmf"/><Relationship Id="rId11" Type="http://schemas.openxmlformats.org/officeDocument/2006/relationships/image" Target="../media/image100.wmf"/><Relationship Id="rId5" Type="http://schemas.openxmlformats.org/officeDocument/2006/relationships/image" Target="../media/image94.wmf"/><Relationship Id="rId10" Type="http://schemas.openxmlformats.org/officeDocument/2006/relationships/image" Target="../media/image99.wmf"/><Relationship Id="rId4" Type="http://schemas.openxmlformats.org/officeDocument/2006/relationships/image" Target="../media/image93.wmf"/><Relationship Id="rId9" Type="http://schemas.openxmlformats.org/officeDocument/2006/relationships/image" Target="../media/image98.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image" Target="../media/image105.wmf"/><Relationship Id="rId7" Type="http://schemas.openxmlformats.org/officeDocument/2006/relationships/image" Target="../media/image108.wmf"/><Relationship Id="rId2" Type="http://schemas.openxmlformats.org/officeDocument/2006/relationships/image" Target="../media/image104.wmf"/><Relationship Id="rId1" Type="http://schemas.openxmlformats.org/officeDocument/2006/relationships/image" Target="../media/image103.wmf"/><Relationship Id="rId6" Type="http://schemas.openxmlformats.org/officeDocument/2006/relationships/image" Target="../media/image107.wmf"/><Relationship Id="rId5" Type="http://schemas.openxmlformats.org/officeDocument/2006/relationships/image" Target="../media/image79.wmf"/><Relationship Id="rId4" Type="http://schemas.openxmlformats.org/officeDocument/2006/relationships/image" Target="../media/image106.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5" Type="http://schemas.openxmlformats.org/officeDocument/2006/relationships/image" Target="../media/image114.wmf"/><Relationship Id="rId4" Type="http://schemas.openxmlformats.org/officeDocument/2006/relationships/image" Target="../media/image11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118.wmf"/><Relationship Id="rId5" Type="http://schemas.openxmlformats.org/officeDocument/2006/relationships/image" Target="../media/image120.wmf"/><Relationship Id="rId4" Type="http://schemas.openxmlformats.org/officeDocument/2006/relationships/image" Target="../media/image119.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24.wmf"/><Relationship Id="rId1" Type="http://schemas.openxmlformats.org/officeDocument/2006/relationships/image" Target="../media/image123.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28.wmf"/><Relationship Id="rId7" Type="http://schemas.openxmlformats.org/officeDocument/2006/relationships/image" Target="../media/image131.wmf"/><Relationship Id="rId2" Type="http://schemas.openxmlformats.org/officeDocument/2006/relationships/image" Target="../media/image23.wmf"/><Relationship Id="rId1" Type="http://schemas.openxmlformats.org/officeDocument/2006/relationships/image" Target="../media/image127.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2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 Id="rId5" Type="http://schemas.openxmlformats.org/officeDocument/2006/relationships/image" Target="../media/image136.wmf"/><Relationship Id="rId4" Type="http://schemas.openxmlformats.org/officeDocument/2006/relationships/image" Target="../media/image135.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image" Target="../media/image138.wmf"/><Relationship Id="rId7" Type="http://schemas.openxmlformats.org/officeDocument/2006/relationships/image" Target="../media/image142.wmf"/><Relationship Id="rId2" Type="http://schemas.openxmlformats.org/officeDocument/2006/relationships/image" Target="../media/image129.wmf"/><Relationship Id="rId1" Type="http://schemas.openxmlformats.org/officeDocument/2006/relationships/image" Target="../media/image137.wmf"/><Relationship Id="rId6" Type="http://schemas.openxmlformats.org/officeDocument/2006/relationships/image" Target="../media/image141.wmf"/><Relationship Id="rId5" Type="http://schemas.openxmlformats.org/officeDocument/2006/relationships/image" Target="../media/image140.wmf"/><Relationship Id="rId4" Type="http://schemas.openxmlformats.org/officeDocument/2006/relationships/image" Target="../media/image139.wmf"/><Relationship Id="rId9" Type="http://schemas.openxmlformats.org/officeDocument/2006/relationships/image" Target="../media/image1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1EB4E-4D75-4043-866F-E9C71E271872}" type="datetimeFigureOut">
              <a:rPr lang="zh-CN" altLang="en-US" smtClean="0"/>
              <a:t>2020/10/1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0847F-E15A-4085-BEE6-95E72412EB7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7DB9B36-9036-46EF-9756-67AAA2F9E1D0}" type="slidenum">
              <a:rPr altLang="en-US" smtClean="0"/>
              <a:t>46</a:t>
            </a:fld>
            <a:endParaRPr lang="zh-CN" altLang="en-US" smtClean="0"/>
          </a:p>
        </p:txBody>
      </p:sp>
      <p:sp>
        <p:nvSpPr>
          <p:cNvPr id="634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4A9FC9FB-B2F2-4E56-B005-C44FD2CAC868}" type="slidenum">
              <a:rPr lang="en-US" altLang="zh-CN" sz="1200">
                <a:latin typeface="Times New Roman" panose="02020603050405020304" pitchFamily="18" charset="0"/>
              </a:rPr>
              <a:t>46</a:t>
            </a:fld>
            <a:endParaRPr lang="en-US" altLang="zh-CN" sz="1200">
              <a:latin typeface="Times New Roman" panose="02020603050405020304" pitchFamily="18" charset="0"/>
            </a:endParaRPr>
          </a:p>
        </p:txBody>
      </p:sp>
      <p:sp>
        <p:nvSpPr>
          <p:cNvPr id="63492" name="Rectangle 2"/>
          <p:cNvSpPr>
            <a:spLocks noGrp="1" noRot="1" noChangeAspect="1" noChangeArrowheads="1" noTextEdit="1"/>
          </p:cNvSpPr>
          <p:nvPr>
            <p:ph type="sldImg" idx="4294967295"/>
          </p:nvPr>
        </p:nvSpPr>
        <p:spPr/>
      </p:sp>
      <p:sp>
        <p:nvSpPr>
          <p:cNvPr id="63493" name="Rectangle 3"/>
          <p:cNvSpPr>
            <a:spLocks noGrp="1" noChangeArrowheads="1"/>
          </p:cNvSpPr>
          <p:nvPr>
            <p:ph type="body" idx="4294967295"/>
          </p:nvPr>
        </p:nvSpPr>
        <p:spPr>
          <a:xfrm>
            <a:off x="914400" y="4343400"/>
            <a:ext cx="5029200" cy="4114800"/>
          </a:xfrm>
        </p:spPr>
        <p:txBody>
          <a:bodyPr/>
          <a:lstStyle/>
          <a:p>
            <a:pPr eaLnBrk="1" hangingPunct="1"/>
            <a:r>
              <a:rPr lang="zh-CN" altLang="en-US" smtClean="0"/>
              <a:t>在</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2.wmf"/><Relationship Id="rId2" Type="http://schemas.openxmlformats.org/officeDocument/2006/relationships/tags" Target="../tags/tag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1.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slideLayout" Target="../slideLayouts/slideLayout7.xml"/><Relationship Id="rId7" Type="http://schemas.openxmlformats.org/officeDocument/2006/relationships/image" Target="../media/image14.wmf"/><Relationship Id="rId2" Type="http://schemas.openxmlformats.org/officeDocument/2006/relationships/tags" Target="../tags/tag3.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13.wmf"/><Relationship Id="rId4" Type="http://schemas.openxmlformats.org/officeDocument/2006/relationships/oleObject" Target="../embeddings/oleObject7.bin"/><Relationship Id="rId9" Type="http://schemas.openxmlformats.org/officeDocument/2006/relationships/image" Target="../media/image15.w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vmlDrawing" Target="../drawings/vmlDrawing6.vml"/><Relationship Id="rId5" Type="http://schemas.openxmlformats.org/officeDocument/2006/relationships/image" Target="../media/image16.wmf"/><Relationship Id="rId4"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8.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slideLayout" Target="../slideLayouts/slideLayout2.xml"/><Relationship Id="rId7" Type="http://schemas.openxmlformats.org/officeDocument/2006/relationships/image" Target="../media/image23.wmf"/><Relationship Id="rId2" Type="http://schemas.openxmlformats.org/officeDocument/2006/relationships/tags" Target="../tags/tag5.xml"/><Relationship Id="rId1" Type="http://schemas.openxmlformats.org/officeDocument/2006/relationships/vmlDrawing" Target="../drawings/vmlDrawing8.vml"/><Relationship Id="rId6" Type="http://schemas.openxmlformats.org/officeDocument/2006/relationships/oleObject" Target="../embeddings/oleObject17.bin"/><Relationship Id="rId5" Type="http://schemas.openxmlformats.org/officeDocument/2006/relationships/image" Target="../media/image22.wmf"/><Relationship Id="rId4" Type="http://schemas.openxmlformats.org/officeDocument/2006/relationships/oleObject" Target="../embeddings/oleObject16.bin"/><Relationship Id="rId9" Type="http://schemas.openxmlformats.org/officeDocument/2006/relationships/image" Target="../media/image24.wmf"/></Relationships>
</file>

<file path=ppt/slides/_rels/slide22.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6.wmf"/><Relationship Id="rId5" Type="http://schemas.openxmlformats.org/officeDocument/2006/relationships/oleObject" Target="../embeddings/oleObject20.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32.wmf"/><Relationship Id="rId3" Type="http://schemas.openxmlformats.org/officeDocument/2006/relationships/slideLayout" Target="../slideLayouts/slideLayout7.xml"/><Relationship Id="rId7" Type="http://schemas.openxmlformats.org/officeDocument/2006/relationships/image" Target="../media/image29.wmf"/><Relationship Id="rId12" Type="http://schemas.openxmlformats.org/officeDocument/2006/relationships/oleObject" Target="../embeddings/oleObject27.bin"/><Relationship Id="rId2" Type="http://schemas.openxmlformats.org/officeDocument/2006/relationships/tags" Target="../tags/tag6.xml"/><Relationship Id="rId1" Type="http://schemas.openxmlformats.org/officeDocument/2006/relationships/vmlDrawing" Target="../drawings/vmlDrawing10.vml"/><Relationship Id="rId6" Type="http://schemas.openxmlformats.org/officeDocument/2006/relationships/oleObject" Target="../embeddings/oleObject24.bin"/><Relationship Id="rId11" Type="http://schemas.openxmlformats.org/officeDocument/2006/relationships/image" Target="../media/image31.wmf"/><Relationship Id="rId5" Type="http://schemas.openxmlformats.org/officeDocument/2006/relationships/image" Target="../media/image26.w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30.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slideLayout" Target="../slideLayouts/slideLayout2.xml"/><Relationship Id="rId7" Type="http://schemas.openxmlformats.org/officeDocument/2006/relationships/image" Target="../media/image34.wmf"/><Relationship Id="rId2" Type="http://schemas.openxmlformats.org/officeDocument/2006/relationships/tags" Target="../tags/tag7.xml"/><Relationship Id="rId1" Type="http://schemas.openxmlformats.org/officeDocument/2006/relationships/vmlDrawing" Target="../drawings/vmlDrawing11.vml"/><Relationship Id="rId6" Type="http://schemas.openxmlformats.org/officeDocument/2006/relationships/oleObject" Target="../embeddings/oleObject29.bin"/><Relationship Id="rId5" Type="http://schemas.openxmlformats.org/officeDocument/2006/relationships/image" Target="../media/image33.wmf"/><Relationship Id="rId4" Type="http://schemas.openxmlformats.org/officeDocument/2006/relationships/oleObject" Target="../embeddings/oleObject28.bin"/><Relationship Id="rId9" Type="http://schemas.openxmlformats.org/officeDocument/2006/relationships/image" Target="../media/image35.wmf"/></Relationships>
</file>

<file path=ppt/slides/_rels/slide25.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27.wmf"/><Relationship Id="rId5" Type="http://schemas.openxmlformats.org/officeDocument/2006/relationships/oleObject" Target="../embeddings/oleObject32.bin"/><Relationship Id="rId10" Type="http://schemas.openxmlformats.org/officeDocument/2006/relationships/image" Target="../media/image35.wmf"/><Relationship Id="rId4" Type="http://schemas.openxmlformats.org/officeDocument/2006/relationships/image" Target="../media/image36.wmf"/><Relationship Id="rId9" Type="http://schemas.openxmlformats.org/officeDocument/2006/relationships/oleObject" Target="../embeddings/oleObject34.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36.wmf"/><Relationship Id="rId3" Type="http://schemas.openxmlformats.org/officeDocument/2006/relationships/slideLayout" Target="../slideLayouts/slideLayout7.xml"/><Relationship Id="rId7" Type="http://schemas.openxmlformats.org/officeDocument/2006/relationships/image" Target="../media/image30.wmf"/><Relationship Id="rId12" Type="http://schemas.openxmlformats.org/officeDocument/2006/relationships/oleObject" Target="../embeddings/oleObject39.bin"/><Relationship Id="rId2" Type="http://schemas.openxmlformats.org/officeDocument/2006/relationships/tags" Target="../tags/tag8.xml"/><Relationship Id="rId1" Type="http://schemas.openxmlformats.org/officeDocument/2006/relationships/vmlDrawing" Target="../drawings/vmlDrawing13.vml"/><Relationship Id="rId6" Type="http://schemas.openxmlformats.org/officeDocument/2006/relationships/oleObject" Target="../embeddings/oleObject36.bin"/><Relationship Id="rId11" Type="http://schemas.openxmlformats.org/officeDocument/2006/relationships/image" Target="../media/image38.wmf"/><Relationship Id="rId5" Type="http://schemas.openxmlformats.org/officeDocument/2006/relationships/image" Target="../media/image29.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37.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6.wmf"/><Relationship Id="rId5" Type="http://schemas.openxmlformats.org/officeDocument/2006/relationships/oleObject" Target="../embeddings/oleObject41.bin"/><Relationship Id="rId4" Type="http://schemas.openxmlformats.org/officeDocument/2006/relationships/image" Target="../media/image26.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43.wmf"/><Relationship Id="rId18" Type="http://schemas.openxmlformats.org/officeDocument/2006/relationships/oleObject" Target="../embeddings/oleObject49.bin"/><Relationship Id="rId3" Type="http://schemas.openxmlformats.org/officeDocument/2006/relationships/slideLayout" Target="../slideLayouts/slideLayout7.xml"/><Relationship Id="rId7" Type="http://schemas.openxmlformats.org/officeDocument/2006/relationships/image" Target="../media/image40.wmf"/><Relationship Id="rId12" Type="http://schemas.openxmlformats.org/officeDocument/2006/relationships/oleObject" Target="../embeddings/oleObject46.bin"/><Relationship Id="rId17" Type="http://schemas.openxmlformats.org/officeDocument/2006/relationships/image" Target="../media/image45.wmf"/><Relationship Id="rId2" Type="http://schemas.openxmlformats.org/officeDocument/2006/relationships/tags" Target="../tags/tag10.xml"/><Relationship Id="rId16" Type="http://schemas.openxmlformats.org/officeDocument/2006/relationships/oleObject" Target="../embeddings/oleObject48.bin"/><Relationship Id="rId1" Type="http://schemas.openxmlformats.org/officeDocument/2006/relationships/vmlDrawing" Target="../drawings/vmlDrawing15.vml"/><Relationship Id="rId6" Type="http://schemas.openxmlformats.org/officeDocument/2006/relationships/oleObject" Target="../embeddings/oleObject43.bin"/><Relationship Id="rId11" Type="http://schemas.openxmlformats.org/officeDocument/2006/relationships/image" Target="../media/image42.wmf"/><Relationship Id="rId5" Type="http://schemas.openxmlformats.org/officeDocument/2006/relationships/image" Target="../media/image39.wmf"/><Relationship Id="rId15" Type="http://schemas.openxmlformats.org/officeDocument/2006/relationships/image" Target="../media/image44.wmf"/><Relationship Id="rId10" Type="http://schemas.openxmlformats.org/officeDocument/2006/relationships/oleObject" Target="../embeddings/oleObject45.bin"/><Relationship Id="rId19" Type="http://schemas.openxmlformats.org/officeDocument/2006/relationships/image" Target="../media/image46.wmf"/><Relationship Id="rId4" Type="http://schemas.openxmlformats.org/officeDocument/2006/relationships/oleObject" Target="../embeddings/oleObject42.bin"/><Relationship Id="rId9" Type="http://schemas.openxmlformats.org/officeDocument/2006/relationships/image" Target="../media/image41.wmf"/><Relationship Id="rId14" Type="http://schemas.openxmlformats.org/officeDocument/2006/relationships/oleObject" Target="../embeddings/oleObject47.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8.wmf"/><Relationship Id="rId2" Type="http://schemas.openxmlformats.org/officeDocument/2006/relationships/tags" Target="../tags/tag12.xml"/><Relationship Id="rId1" Type="http://schemas.openxmlformats.org/officeDocument/2006/relationships/vmlDrawing" Target="../drawings/vmlDrawing16.vml"/><Relationship Id="rId6" Type="http://schemas.openxmlformats.org/officeDocument/2006/relationships/oleObject" Target="../embeddings/oleObject51.bin"/><Relationship Id="rId5" Type="http://schemas.openxmlformats.org/officeDocument/2006/relationships/image" Target="../media/image47.wmf"/><Relationship Id="rId4" Type="http://schemas.openxmlformats.org/officeDocument/2006/relationships/oleObject" Target="../embeddings/oleObject50.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49.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1.wmf"/><Relationship Id="rId5" Type="http://schemas.openxmlformats.org/officeDocument/2006/relationships/oleObject" Target="../embeddings/oleObject54.bin"/><Relationship Id="rId4" Type="http://schemas.openxmlformats.org/officeDocument/2006/relationships/image" Target="../media/image50.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slideLayout" Target="../slideLayouts/slideLayout7.xml"/><Relationship Id="rId7" Type="http://schemas.openxmlformats.org/officeDocument/2006/relationships/image" Target="../media/image52.wmf"/><Relationship Id="rId2" Type="http://schemas.openxmlformats.org/officeDocument/2006/relationships/tags" Target="../tags/tag13.xml"/><Relationship Id="rId1" Type="http://schemas.openxmlformats.org/officeDocument/2006/relationships/vmlDrawing" Target="../drawings/vmlDrawing19.vml"/><Relationship Id="rId6" Type="http://schemas.openxmlformats.org/officeDocument/2006/relationships/oleObject" Target="../embeddings/oleObject56.bin"/><Relationship Id="rId11" Type="http://schemas.openxmlformats.org/officeDocument/2006/relationships/image" Target="../media/image54.wmf"/><Relationship Id="rId5" Type="http://schemas.openxmlformats.org/officeDocument/2006/relationships/image" Target="../media/image26.w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53.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57.wmf"/><Relationship Id="rId3" Type="http://schemas.openxmlformats.org/officeDocument/2006/relationships/slideLayout" Target="../slideLayouts/slideLayout7.xml"/><Relationship Id="rId7" Type="http://schemas.openxmlformats.org/officeDocument/2006/relationships/image" Target="../media/image54.wmf"/><Relationship Id="rId12" Type="http://schemas.openxmlformats.org/officeDocument/2006/relationships/oleObject" Target="../embeddings/oleObject63.bin"/><Relationship Id="rId2" Type="http://schemas.openxmlformats.org/officeDocument/2006/relationships/tags" Target="../tags/tag14.xml"/><Relationship Id="rId1" Type="http://schemas.openxmlformats.org/officeDocument/2006/relationships/vmlDrawing" Target="../drawings/vmlDrawing20.vml"/><Relationship Id="rId6" Type="http://schemas.openxmlformats.org/officeDocument/2006/relationships/oleObject" Target="../embeddings/oleObject60.bin"/><Relationship Id="rId11" Type="http://schemas.openxmlformats.org/officeDocument/2006/relationships/image" Target="../media/image56.wmf"/><Relationship Id="rId5" Type="http://schemas.openxmlformats.org/officeDocument/2006/relationships/image" Target="../media/image53.wmf"/><Relationship Id="rId15" Type="http://schemas.openxmlformats.org/officeDocument/2006/relationships/image" Target="../media/image58.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55.wmf"/><Relationship Id="rId14" Type="http://schemas.openxmlformats.org/officeDocument/2006/relationships/oleObject" Target="../embeddings/oleObject64.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8.wmf"/><Relationship Id="rId2" Type="http://schemas.openxmlformats.org/officeDocument/2006/relationships/tags" Target="../tags/tag15.xml"/><Relationship Id="rId1" Type="http://schemas.openxmlformats.org/officeDocument/2006/relationships/vmlDrawing" Target="../drawings/vmlDrawing21.vml"/><Relationship Id="rId6" Type="http://schemas.openxmlformats.org/officeDocument/2006/relationships/oleObject" Target="../embeddings/oleObject66.bin"/><Relationship Id="rId5" Type="http://schemas.openxmlformats.org/officeDocument/2006/relationships/image" Target="../media/image57.wmf"/><Relationship Id="rId4" Type="http://schemas.openxmlformats.org/officeDocument/2006/relationships/oleObject" Target="../embeddings/oleObject65.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61.wmf"/><Relationship Id="rId3" Type="http://schemas.openxmlformats.org/officeDocument/2006/relationships/slideLayout" Target="../slideLayouts/slideLayout7.xml"/><Relationship Id="rId7" Type="http://schemas.openxmlformats.org/officeDocument/2006/relationships/image" Target="../media/image60.wmf"/><Relationship Id="rId12" Type="http://schemas.openxmlformats.org/officeDocument/2006/relationships/oleObject" Target="../embeddings/oleObject71.bin"/><Relationship Id="rId2" Type="http://schemas.openxmlformats.org/officeDocument/2006/relationships/tags" Target="../tags/tag16.xml"/><Relationship Id="rId1" Type="http://schemas.openxmlformats.org/officeDocument/2006/relationships/vmlDrawing" Target="../drawings/vmlDrawing22.vml"/><Relationship Id="rId6" Type="http://schemas.openxmlformats.org/officeDocument/2006/relationships/oleObject" Target="../embeddings/oleObject68.bin"/><Relationship Id="rId11" Type="http://schemas.openxmlformats.org/officeDocument/2006/relationships/image" Target="../media/image54.wmf"/><Relationship Id="rId5" Type="http://schemas.openxmlformats.org/officeDocument/2006/relationships/image" Target="../media/image59.wmf"/><Relationship Id="rId10" Type="http://schemas.openxmlformats.org/officeDocument/2006/relationships/oleObject" Target="../embeddings/oleObject70.bin"/><Relationship Id="rId4" Type="http://schemas.openxmlformats.org/officeDocument/2006/relationships/oleObject" Target="../embeddings/oleObject67.bin"/><Relationship Id="rId9" Type="http://schemas.openxmlformats.org/officeDocument/2006/relationships/image" Target="../media/image53.wmf"/><Relationship Id="rId14" Type="http://schemas.openxmlformats.org/officeDocument/2006/relationships/image" Target="../media/image62.jpe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slideLayout" Target="../slideLayouts/slideLayout7.xml"/><Relationship Id="rId7" Type="http://schemas.openxmlformats.org/officeDocument/2006/relationships/image" Target="../media/image64.wmf"/><Relationship Id="rId12" Type="http://schemas.openxmlformats.org/officeDocument/2006/relationships/image" Target="../media/image66.wmf"/><Relationship Id="rId2" Type="http://schemas.openxmlformats.org/officeDocument/2006/relationships/tags" Target="../tags/tag18.xml"/><Relationship Id="rId1" Type="http://schemas.openxmlformats.org/officeDocument/2006/relationships/vmlDrawing" Target="../drawings/vmlDrawing23.vml"/><Relationship Id="rId6" Type="http://schemas.openxmlformats.org/officeDocument/2006/relationships/oleObject" Target="../embeddings/oleObject73.bin"/><Relationship Id="rId11" Type="http://schemas.openxmlformats.org/officeDocument/2006/relationships/oleObject" Target="../embeddings/oleObject76.bin"/><Relationship Id="rId5" Type="http://schemas.openxmlformats.org/officeDocument/2006/relationships/image" Target="../media/image61.wmf"/><Relationship Id="rId10" Type="http://schemas.openxmlformats.org/officeDocument/2006/relationships/image" Target="../media/image65.wmf"/><Relationship Id="rId4" Type="http://schemas.openxmlformats.org/officeDocument/2006/relationships/oleObject" Target="../embeddings/oleObject72.bin"/><Relationship Id="rId9" Type="http://schemas.openxmlformats.org/officeDocument/2006/relationships/oleObject" Target="../embeddings/oleObject75.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slideLayout" Target="../slideLayouts/slideLayout7.xml"/><Relationship Id="rId7" Type="http://schemas.openxmlformats.org/officeDocument/2006/relationships/image" Target="../media/image61.wmf"/><Relationship Id="rId2" Type="http://schemas.openxmlformats.org/officeDocument/2006/relationships/tags" Target="../tags/tag19.xml"/><Relationship Id="rId1" Type="http://schemas.openxmlformats.org/officeDocument/2006/relationships/vmlDrawing" Target="../drawings/vmlDrawing24.vml"/><Relationship Id="rId6" Type="http://schemas.openxmlformats.org/officeDocument/2006/relationships/oleObject" Target="../embeddings/oleObject78.bin"/><Relationship Id="rId11" Type="http://schemas.openxmlformats.org/officeDocument/2006/relationships/image" Target="../media/image69.wmf"/><Relationship Id="rId5" Type="http://schemas.openxmlformats.org/officeDocument/2006/relationships/image" Target="../media/image67.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68.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notesSlide" Target="../notesSlides/notesSlide1.xml"/><Relationship Id="rId7"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57.wmf"/><Relationship Id="rId5" Type="http://schemas.openxmlformats.org/officeDocument/2006/relationships/oleObject" Target="../embeddings/oleObject81.bin"/><Relationship Id="rId4" Type="http://schemas.openxmlformats.org/officeDocument/2006/relationships/image" Target="../media/image70.jpeg"/></Relationships>
</file>

<file path=ppt/slides/_rels/slide47.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72.wmf"/><Relationship Id="rId5" Type="http://schemas.openxmlformats.org/officeDocument/2006/relationships/oleObject" Target="../embeddings/oleObject84.bin"/><Relationship Id="rId10" Type="http://schemas.openxmlformats.org/officeDocument/2006/relationships/image" Target="../media/image58.wmf"/><Relationship Id="rId4" Type="http://schemas.openxmlformats.org/officeDocument/2006/relationships/image" Target="../media/image71.wmf"/><Relationship Id="rId9" Type="http://schemas.openxmlformats.org/officeDocument/2006/relationships/oleObject" Target="../embeddings/oleObject86.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27.vml"/><Relationship Id="rId5" Type="http://schemas.openxmlformats.org/officeDocument/2006/relationships/image" Target="../media/image74.png"/><Relationship Id="rId4" Type="http://schemas.openxmlformats.org/officeDocument/2006/relationships/image" Target="../media/image73.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79.wmf"/><Relationship Id="rId3" Type="http://schemas.openxmlformats.org/officeDocument/2006/relationships/slideLayout" Target="../slideLayouts/slideLayout7.xml"/><Relationship Id="rId7" Type="http://schemas.openxmlformats.org/officeDocument/2006/relationships/image" Target="../media/image76.wmf"/><Relationship Id="rId12" Type="http://schemas.openxmlformats.org/officeDocument/2006/relationships/oleObject" Target="../embeddings/oleObject92.bin"/><Relationship Id="rId2" Type="http://schemas.openxmlformats.org/officeDocument/2006/relationships/tags" Target="../tags/tag20.xml"/><Relationship Id="rId1" Type="http://schemas.openxmlformats.org/officeDocument/2006/relationships/vmlDrawing" Target="../drawings/vmlDrawing28.vml"/><Relationship Id="rId6" Type="http://schemas.openxmlformats.org/officeDocument/2006/relationships/oleObject" Target="../embeddings/oleObject89.bin"/><Relationship Id="rId11" Type="http://schemas.openxmlformats.org/officeDocument/2006/relationships/image" Target="../media/image78.wmf"/><Relationship Id="rId5" Type="http://schemas.openxmlformats.org/officeDocument/2006/relationships/image" Target="../media/image75.emf"/><Relationship Id="rId15" Type="http://schemas.openxmlformats.org/officeDocument/2006/relationships/image" Target="../media/image80.wmf"/><Relationship Id="rId10" Type="http://schemas.openxmlformats.org/officeDocument/2006/relationships/oleObject" Target="../embeddings/oleObject91.bin"/><Relationship Id="rId4" Type="http://schemas.openxmlformats.org/officeDocument/2006/relationships/oleObject" Target="../embeddings/oleObject88.bin"/><Relationship Id="rId9" Type="http://schemas.openxmlformats.org/officeDocument/2006/relationships/image" Target="../media/image77.wmf"/><Relationship Id="rId14" Type="http://schemas.openxmlformats.org/officeDocument/2006/relationships/oleObject" Target="../embeddings/oleObject93.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slideLayout" Target="../slideLayouts/slideLayout7.xml"/><Relationship Id="rId7" Type="http://schemas.openxmlformats.org/officeDocument/2006/relationships/image" Target="../media/image81.wmf"/><Relationship Id="rId2" Type="http://schemas.openxmlformats.org/officeDocument/2006/relationships/tags" Target="../tags/tag21.xml"/><Relationship Id="rId1" Type="http://schemas.openxmlformats.org/officeDocument/2006/relationships/vmlDrawing" Target="../drawings/vmlDrawing29.vml"/><Relationship Id="rId6" Type="http://schemas.openxmlformats.org/officeDocument/2006/relationships/oleObject" Target="../embeddings/oleObject95.bin"/><Relationship Id="rId11" Type="http://schemas.openxmlformats.org/officeDocument/2006/relationships/image" Target="../media/image83.wmf"/><Relationship Id="rId5" Type="http://schemas.openxmlformats.org/officeDocument/2006/relationships/image" Target="../media/image79.w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82.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00.bin"/><Relationship Id="rId3" Type="http://schemas.openxmlformats.org/officeDocument/2006/relationships/slideLayout" Target="../slideLayouts/slideLayout7.xml"/><Relationship Id="rId7" Type="http://schemas.openxmlformats.org/officeDocument/2006/relationships/image" Target="../media/image85.wmf"/><Relationship Id="rId2" Type="http://schemas.openxmlformats.org/officeDocument/2006/relationships/tags" Target="../tags/tag22.xml"/><Relationship Id="rId1" Type="http://schemas.openxmlformats.org/officeDocument/2006/relationships/vmlDrawing" Target="../drawings/vmlDrawing30.vml"/><Relationship Id="rId6" Type="http://schemas.openxmlformats.org/officeDocument/2006/relationships/oleObject" Target="../embeddings/oleObject99.bin"/><Relationship Id="rId11" Type="http://schemas.openxmlformats.org/officeDocument/2006/relationships/image" Target="../media/image87.wmf"/><Relationship Id="rId5" Type="http://schemas.openxmlformats.org/officeDocument/2006/relationships/image" Target="../media/image84.w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86.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89.wmf"/><Relationship Id="rId5" Type="http://schemas.openxmlformats.org/officeDocument/2006/relationships/oleObject" Target="../embeddings/oleObject103.bin"/><Relationship Id="rId4" Type="http://schemas.openxmlformats.org/officeDocument/2006/relationships/image" Target="../media/image88.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vmlDrawing" Target="../drawings/vmlDrawing32.vml"/><Relationship Id="rId5" Type="http://schemas.openxmlformats.org/officeDocument/2006/relationships/image" Target="../media/image57.wmf"/><Relationship Id="rId4" Type="http://schemas.openxmlformats.org/officeDocument/2006/relationships/oleObject" Target="../embeddings/oleObject104.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94.wmf"/><Relationship Id="rId18" Type="http://schemas.openxmlformats.org/officeDocument/2006/relationships/oleObject" Target="../embeddings/oleObject112.bin"/><Relationship Id="rId26" Type="http://schemas.openxmlformats.org/officeDocument/2006/relationships/oleObject" Target="../embeddings/oleObject116.bin"/><Relationship Id="rId3" Type="http://schemas.openxmlformats.org/officeDocument/2006/relationships/slideLayout" Target="../slideLayouts/slideLayout7.xml"/><Relationship Id="rId21" Type="http://schemas.openxmlformats.org/officeDocument/2006/relationships/image" Target="../media/image98.wmf"/><Relationship Id="rId7" Type="http://schemas.openxmlformats.org/officeDocument/2006/relationships/image" Target="../media/image91.wmf"/><Relationship Id="rId12" Type="http://schemas.openxmlformats.org/officeDocument/2006/relationships/oleObject" Target="../embeddings/oleObject109.bin"/><Relationship Id="rId17" Type="http://schemas.openxmlformats.org/officeDocument/2006/relationships/image" Target="../media/image96.wmf"/><Relationship Id="rId25" Type="http://schemas.openxmlformats.org/officeDocument/2006/relationships/image" Target="../media/image100.wmf"/><Relationship Id="rId2" Type="http://schemas.openxmlformats.org/officeDocument/2006/relationships/tags" Target="../tags/tag24.xml"/><Relationship Id="rId16" Type="http://schemas.openxmlformats.org/officeDocument/2006/relationships/oleObject" Target="../embeddings/oleObject111.bin"/><Relationship Id="rId20" Type="http://schemas.openxmlformats.org/officeDocument/2006/relationships/oleObject" Target="../embeddings/oleObject113.bin"/><Relationship Id="rId29" Type="http://schemas.openxmlformats.org/officeDocument/2006/relationships/image" Target="../media/image102.wmf"/><Relationship Id="rId1" Type="http://schemas.openxmlformats.org/officeDocument/2006/relationships/vmlDrawing" Target="../drawings/vmlDrawing33.vml"/><Relationship Id="rId6" Type="http://schemas.openxmlformats.org/officeDocument/2006/relationships/oleObject" Target="../embeddings/oleObject106.bin"/><Relationship Id="rId11" Type="http://schemas.openxmlformats.org/officeDocument/2006/relationships/image" Target="../media/image93.wmf"/><Relationship Id="rId24" Type="http://schemas.openxmlformats.org/officeDocument/2006/relationships/oleObject" Target="../embeddings/oleObject115.bin"/><Relationship Id="rId5" Type="http://schemas.openxmlformats.org/officeDocument/2006/relationships/image" Target="../media/image90.wmf"/><Relationship Id="rId15" Type="http://schemas.openxmlformats.org/officeDocument/2006/relationships/image" Target="../media/image95.wmf"/><Relationship Id="rId23" Type="http://schemas.openxmlformats.org/officeDocument/2006/relationships/image" Target="../media/image99.wmf"/><Relationship Id="rId28" Type="http://schemas.openxmlformats.org/officeDocument/2006/relationships/oleObject" Target="../embeddings/oleObject117.bin"/><Relationship Id="rId10" Type="http://schemas.openxmlformats.org/officeDocument/2006/relationships/oleObject" Target="../embeddings/oleObject108.bin"/><Relationship Id="rId19" Type="http://schemas.openxmlformats.org/officeDocument/2006/relationships/image" Target="../media/image97.wmf"/><Relationship Id="rId4" Type="http://schemas.openxmlformats.org/officeDocument/2006/relationships/oleObject" Target="../embeddings/oleObject105.bin"/><Relationship Id="rId9" Type="http://schemas.openxmlformats.org/officeDocument/2006/relationships/image" Target="../media/image92.wmf"/><Relationship Id="rId14" Type="http://schemas.openxmlformats.org/officeDocument/2006/relationships/oleObject" Target="../embeddings/oleObject110.bin"/><Relationship Id="rId22" Type="http://schemas.openxmlformats.org/officeDocument/2006/relationships/oleObject" Target="../embeddings/oleObject114.bin"/><Relationship Id="rId27" Type="http://schemas.openxmlformats.org/officeDocument/2006/relationships/image" Target="../media/image101.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image" Target="../media/image79.wmf"/><Relationship Id="rId18" Type="http://schemas.openxmlformats.org/officeDocument/2006/relationships/oleObject" Target="../embeddings/oleObject125.bin"/><Relationship Id="rId3" Type="http://schemas.openxmlformats.org/officeDocument/2006/relationships/slideLayout" Target="../slideLayouts/slideLayout7.xml"/><Relationship Id="rId7" Type="http://schemas.openxmlformats.org/officeDocument/2006/relationships/image" Target="../media/image104.wmf"/><Relationship Id="rId12" Type="http://schemas.openxmlformats.org/officeDocument/2006/relationships/oleObject" Target="../embeddings/oleObject122.bin"/><Relationship Id="rId17" Type="http://schemas.openxmlformats.org/officeDocument/2006/relationships/image" Target="../media/image108.wmf"/><Relationship Id="rId2" Type="http://schemas.openxmlformats.org/officeDocument/2006/relationships/tags" Target="../tags/tag25.xml"/><Relationship Id="rId16" Type="http://schemas.openxmlformats.org/officeDocument/2006/relationships/oleObject" Target="../embeddings/oleObject124.bin"/><Relationship Id="rId1" Type="http://schemas.openxmlformats.org/officeDocument/2006/relationships/vmlDrawing" Target="../drawings/vmlDrawing34.vml"/><Relationship Id="rId6" Type="http://schemas.openxmlformats.org/officeDocument/2006/relationships/oleObject" Target="../embeddings/oleObject119.bin"/><Relationship Id="rId11" Type="http://schemas.openxmlformats.org/officeDocument/2006/relationships/image" Target="../media/image106.wmf"/><Relationship Id="rId5" Type="http://schemas.openxmlformats.org/officeDocument/2006/relationships/image" Target="../media/image103.wmf"/><Relationship Id="rId15" Type="http://schemas.openxmlformats.org/officeDocument/2006/relationships/image" Target="../media/image107.wmf"/><Relationship Id="rId10" Type="http://schemas.openxmlformats.org/officeDocument/2006/relationships/oleObject" Target="../embeddings/oleObject121.bin"/><Relationship Id="rId19" Type="http://schemas.openxmlformats.org/officeDocument/2006/relationships/image" Target="../media/image109.wmf"/><Relationship Id="rId4" Type="http://schemas.openxmlformats.org/officeDocument/2006/relationships/oleObject" Target="../embeddings/oleObject118.bin"/><Relationship Id="rId9" Type="http://schemas.openxmlformats.org/officeDocument/2006/relationships/image" Target="../media/image105.wmf"/><Relationship Id="rId14" Type="http://schemas.openxmlformats.org/officeDocument/2006/relationships/oleObject" Target="../embeddings/oleObject123.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28.bin"/><Relationship Id="rId13" Type="http://schemas.openxmlformats.org/officeDocument/2006/relationships/image" Target="../media/image114.wmf"/><Relationship Id="rId3" Type="http://schemas.openxmlformats.org/officeDocument/2006/relationships/slideLayout" Target="../slideLayouts/slideLayout7.xml"/><Relationship Id="rId7" Type="http://schemas.openxmlformats.org/officeDocument/2006/relationships/image" Target="../media/image111.wmf"/><Relationship Id="rId12" Type="http://schemas.openxmlformats.org/officeDocument/2006/relationships/oleObject" Target="../embeddings/oleObject130.bin"/><Relationship Id="rId2" Type="http://schemas.openxmlformats.org/officeDocument/2006/relationships/tags" Target="../tags/tag26.xml"/><Relationship Id="rId1" Type="http://schemas.openxmlformats.org/officeDocument/2006/relationships/vmlDrawing" Target="../drawings/vmlDrawing35.vml"/><Relationship Id="rId6" Type="http://schemas.openxmlformats.org/officeDocument/2006/relationships/oleObject" Target="../embeddings/oleObject127.bin"/><Relationship Id="rId11" Type="http://schemas.openxmlformats.org/officeDocument/2006/relationships/image" Target="../media/image113.wmf"/><Relationship Id="rId5" Type="http://schemas.openxmlformats.org/officeDocument/2006/relationships/image" Target="../media/image110.wmf"/><Relationship Id="rId10" Type="http://schemas.openxmlformats.org/officeDocument/2006/relationships/oleObject" Target="../embeddings/oleObject129.bin"/><Relationship Id="rId4" Type="http://schemas.openxmlformats.org/officeDocument/2006/relationships/oleObject" Target="../embeddings/oleObject126.bin"/><Relationship Id="rId9" Type="http://schemas.openxmlformats.org/officeDocument/2006/relationships/image" Target="../media/image112.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33.bin"/><Relationship Id="rId3" Type="http://schemas.openxmlformats.org/officeDocument/2006/relationships/slideLayout" Target="../slideLayouts/slideLayout7.xml"/><Relationship Id="rId7" Type="http://schemas.openxmlformats.org/officeDocument/2006/relationships/image" Target="../media/image116.wmf"/><Relationship Id="rId2" Type="http://schemas.openxmlformats.org/officeDocument/2006/relationships/tags" Target="../tags/tag27.xml"/><Relationship Id="rId1" Type="http://schemas.openxmlformats.org/officeDocument/2006/relationships/vmlDrawing" Target="../drawings/vmlDrawing36.vml"/><Relationship Id="rId6" Type="http://schemas.openxmlformats.org/officeDocument/2006/relationships/oleObject" Target="../embeddings/oleObject132.bin"/><Relationship Id="rId5" Type="http://schemas.openxmlformats.org/officeDocument/2006/relationships/image" Target="../media/image115.wmf"/><Relationship Id="rId4" Type="http://schemas.openxmlformats.org/officeDocument/2006/relationships/oleObject" Target="../embeddings/oleObject131.bin"/><Relationship Id="rId9" Type="http://schemas.openxmlformats.org/officeDocument/2006/relationships/image" Target="../media/image117.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20.wmf"/><Relationship Id="rId3" Type="http://schemas.openxmlformats.org/officeDocument/2006/relationships/slideLayout" Target="../slideLayouts/slideLayout7.xml"/><Relationship Id="rId7" Type="http://schemas.openxmlformats.org/officeDocument/2006/relationships/image" Target="../media/image100.wmf"/><Relationship Id="rId12" Type="http://schemas.openxmlformats.org/officeDocument/2006/relationships/oleObject" Target="../embeddings/oleObject138.bin"/><Relationship Id="rId2" Type="http://schemas.openxmlformats.org/officeDocument/2006/relationships/tags" Target="../tags/tag28.xml"/><Relationship Id="rId1" Type="http://schemas.openxmlformats.org/officeDocument/2006/relationships/vmlDrawing" Target="../drawings/vmlDrawing37.vml"/><Relationship Id="rId6" Type="http://schemas.openxmlformats.org/officeDocument/2006/relationships/oleObject" Target="../embeddings/oleObject135.bin"/><Relationship Id="rId11" Type="http://schemas.openxmlformats.org/officeDocument/2006/relationships/image" Target="../media/image119.wmf"/><Relationship Id="rId5" Type="http://schemas.openxmlformats.org/officeDocument/2006/relationships/image" Target="../media/image118.wmf"/><Relationship Id="rId10" Type="http://schemas.openxmlformats.org/officeDocument/2006/relationships/oleObject" Target="../embeddings/oleObject137.bin"/><Relationship Id="rId4" Type="http://schemas.openxmlformats.org/officeDocument/2006/relationships/oleObject" Target="../embeddings/oleObject134.bin"/><Relationship Id="rId9" Type="http://schemas.openxmlformats.org/officeDocument/2006/relationships/image" Target="../media/image101.wmf"/></Relationships>
</file>

<file path=ppt/slides/_rels/slide6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24.wmf"/><Relationship Id="rId2" Type="http://schemas.openxmlformats.org/officeDocument/2006/relationships/tags" Target="../tags/tag30.xml"/><Relationship Id="rId1" Type="http://schemas.openxmlformats.org/officeDocument/2006/relationships/vmlDrawing" Target="../drawings/vmlDrawing38.vml"/><Relationship Id="rId6" Type="http://schemas.openxmlformats.org/officeDocument/2006/relationships/oleObject" Target="../embeddings/oleObject140.bin"/><Relationship Id="rId5" Type="http://schemas.openxmlformats.org/officeDocument/2006/relationships/image" Target="../media/image123.wmf"/><Relationship Id="rId4" Type="http://schemas.openxmlformats.org/officeDocument/2006/relationships/oleObject" Target="../embeddings/oleObject139.bin"/></Relationships>
</file>

<file path=ppt/slides/_rels/slide6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Layout" Target="../slideLayouts/slideLayout7.xml"/><Relationship Id="rId1" Type="http://schemas.openxmlformats.org/officeDocument/2006/relationships/tags" Target="../tags/tag31.xml"/><Relationship Id="rId4" Type="http://schemas.openxmlformats.org/officeDocument/2006/relationships/image" Target="../media/image126.png"/></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29.wmf"/><Relationship Id="rId18" Type="http://schemas.openxmlformats.org/officeDocument/2006/relationships/oleObject" Target="../embeddings/oleObject148.bin"/><Relationship Id="rId3" Type="http://schemas.openxmlformats.org/officeDocument/2006/relationships/slideLayout" Target="../slideLayouts/slideLayout7.xml"/><Relationship Id="rId7" Type="http://schemas.openxmlformats.org/officeDocument/2006/relationships/image" Target="../media/image23.wmf"/><Relationship Id="rId12" Type="http://schemas.openxmlformats.org/officeDocument/2006/relationships/oleObject" Target="../embeddings/oleObject145.bin"/><Relationship Id="rId17" Type="http://schemas.openxmlformats.org/officeDocument/2006/relationships/image" Target="../media/image131.wmf"/><Relationship Id="rId2" Type="http://schemas.openxmlformats.org/officeDocument/2006/relationships/tags" Target="../tags/tag32.xml"/><Relationship Id="rId16" Type="http://schemas.openxmlformats.org/officeDocument/2006/relationships/oleObject" Target="../embeddings/oleObject147.bin"/><Relationship Id="rId1" Type="http://schemas.openxmlformats.org/officeDocument/2006/relationships/vmlDrawing" Target="../drawings/vmlDrawing39.vml"/><Relationship Id="rId6" Type="http://schemas.openxmlformats.org/officeDocument/2006/relationships/oleObject" Target="../embeddings/oleObject142.bin"/><Relationship Id="rId11" Type="http://schemas.openxmlformats.org/officeDocument/2006/relationships/image" Target="../media/image26.wmf"/><Relationship Id="rId5" Type="http://schemas.openxmlformats.org/officeDocument/2006/relationships/image" Target="../media/image127.wmf"/><Relationship Id="rId15" Type="http://schemas.openxmlformats.org/officeDocument/2006/relationships/image" Target="../media/image130.wmf"/><Relationship Id="rId10" Type="http://schemas.openxmlformats.org/officeDocument/2006/relationships/oleObject" Target="../embeddings/oleObject144.bin"/><Relationship Id="rId4" Type="http://schemas.openxmlformats.org/officeDocument/2006/relationships/oleObject" Target="../embeddings/oleObject141.bin"/><Relationship Id="rId9" Type="http://schemas.openxmlformats.org/officeDocument/2006/relationships/image" Target="../media/image128.wmf"/><Relationship Id="rId14" Type="http://schemas.openxmlformats.org/officeDocument/2006/relationships/oleObject" Target="../embeddings/oleObject146.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51.bin"/><Relationship Id="rId13" Type="http://schemas.openxmlformats.org/officeDocument/2006/relationships/image" Target="../media/image136.wmf"/><Relationship Id="rId3" Type="http://schemas.openxmlformats.org/officeDocument/2006/relationships/slideLayout" Target="../slideLayouts/slideLayout7.xml"/><Relationship Id="rId7" Type="http://schemas.openxmlformats.org/officeDocument/2006/relationships/image" Target="../media/image133.wmf"/><Relationship Id="rId12" Type="http://schemas.openxmlformats.org/officeDocument/2006/relationships/oleObject" Target="../embeddings/oleObject153.bin"/><Relationship Id="rId2" Type="http://schemas.openxmlformats.org/officeDocument/2006/relationships/tags" Target="../tags/tag33.xml"/><Relationship Id="rId1" Type="http://schemas.openxmlformats.org/officeDocument/2006/relationships/vmlDrawing" Target="../drawings/vmlDrawing40.vml"/><Relationship Id="rId6" Type="http://schemas.openxmlformats.org/officeDocument/2006/relationships/oleObject" Target="../embeddings/oleObject150.bin"/><Relationship Id="rId11" Type="http://schemas.openxmlformats.org/officeDocument/2006/relationships/image" Target="../media/image135.wmf"/><Relationship Id="rId5" Type="http://schemas.openxmlformats.org/officeDocument/2006/relationships/image" Target="../media/image132.wmf"/><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34.w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image" Target="../media/image140.wmf"/><Relationship Id="rId18" Type="http://schemas.openxmlformats.org/officeDocument/2006/relationships/oleObject" Target="../embeddings/oleObject161.bin"/><Relationship Id="rId3" Type="http://schemas.openxmlformats.org/officeDocument/2006/relationships/slideLayout" Target="../slideLayouts/slideLayout7.xml"/><Relationship Id="rId21" Type="http://schemas.openxmlformats.org/officeDocument/2006/relationships/image" Target="../media/image144.wmf"/><Relationship Id="rId7" Type="http://schemas.openxmlformats.org/officeDocument/2006/relationships/image" Target="../media/image129.wmf"/><Relationship Id="rId12" Type="http://schemas.openxmlformats.org/officeDocument/2006/relationships/oleObject" Target="../embeddings/oleObject158.bin"/><Relationship Id="rId17" Type="http://schemas.openxmlformats.org/officeDocument/2006/relationships/image" Target="../media/image142.wmf"/><Relationship Id="rId2" Type="http://schemas.openxmlformats.org/officeDocument/2006/relationships/tags" Target="../tags/tag34.xml"/><Relationship Id="rId16" Type="http://schemas.openxmlformats.org/officeDocument/2006/relationships/oleObject" Target="../embeddings/oleObject160.bin"/><Relationship Id="rId20" Type="http://schemas.openxmlformats.org/officeDocument/2006/relationships/oleObject" Target="../embeddings/oleObject162.bin"/><Relationship Id="rId1" Type="http://schemas.openxmlformats.org/officeDocument/2006/relationships/vmlDrawing" Target="../drawings/vmlDrawing41.vml"/><Relationship Id="rId6" Type="http://schemas.openxmlformats.org/officeDocument/2006/relationships/oleObject" Target="../embeddings/oleObject155.bin"/><Relationship Id="rId11" Type="http://schemas.openxmlformats.org/officeDocument/2006/relationships/image" Target="../media/image139.wmf"/><Relationship Id="rId5" Type="http://schemas.openxmlformats.org/officeDocument/2006/relationships/image" Target="../media/image137.wmf"/><Relationship Id="rId15" Type="http://schemas.openxmlformats.org/officeDocument/2006/relationships/image" Target="../media/image141.wmf"/><Relationship Id="rId10" Type="http://schemas.openxmlformats.org/officeDocument/2006/relationships/oleObject" Target="../embeddings/oleObject157.bin"/><Relationship Id="rId19" Type="http://schemas.openxmlformats.org/officeDocument/2006/relationships/image" Target="../media/image143.wmf"/><Relationship Id="rId4" Type="http://schemas.openxmlformats.org/officeDocument/2006/relationships/oleObject" Target="../embeddings/oleObject154.bin"/><Relationship Id="rId9" Type="http://schemas.openxmlformats.org/officeDocument/2006/relationships/image" Target="../media/image138.wmf"/><Relationship Id="rId14" Type="http://schemas.openxmlformats.org/officeDocument/2006/relationships/oleObject" Target="../embeddings/oleObject159.bin"/><Relationship Id="rId22" Type="http://schemas.openxmlformats.org/officeDocument/2006/relationships/image" Target="../media/image14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4097"/>
          <p:cNvSpPr>
            <a:spLocks noGrp="1" noChangeArrowheads="1"/>
          </p:cNvSpPr>
          <p:nvPr>
            <p:ph type="ctrTitle"/>
          </p:nvPr>
        </p:nvSpPr>
        <p:spPr>
          <a:xfrm>
            <a:off x="685800" y="2130425"/>
            <a:ext cx="7772400" cy="1470025"/>
          </a:xfrm>
        </p:spPr>
        <p:txBody>
          <a:bodyPr anchor="ctr"/>
          <a:lstStyle/>
          <a:p>
            <a:pPr eaLnBrk="1" hangingPunct="1"/>
            <a:r>
              <a:rPr lang="en-US" altLang="zh-CN" sz="4600" b="1" dirty="0" smtClean="0">
                <a:solidFill>
                  <a:schemeClr val="tx1"/>
                </a:solidFill>
                <a:latin typeface="黑体" panose="02010609060101010101" pitchFamily="49" charset="-122"/>
                <a:ea typeface="黑体" panose="02010609060101010101" pitchFamily="49" charset="-122"/>
              </a:rPr>
              <a:t>04</a:t>
            </a:r>
            <a:r>
              <a:rPr lang="zh-CN" altLang="en-US" sz="4600" b="1" dirty="0" smtClean="0">
                <a:solidFill>
                  <a:schemeClr val="tx1"/>
                </a:solidFill>
                <a:latin typeface="黑体" panose="02010609060101010101" pitchFamily="49" charset="-122"/>
                <a:ea typeface="黑体" panose="02010609060101010101" pitchFamily="49" charset="-122"/>
              </a:rPr>
              <a:t> 理想气体的性质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88068"/>
          <p:cNvSpPr>
            <a:spLocks noChangeArrowheads="1"/>
          </p:cNvSpPr>
          <p:nvPr/>
        </p:nvSpPr>
        <p:spPr bwMode="auto">
          <a:xfrm>
            <a:off x="1403350" y="1989138"/>
            <a:ext cx="6192838"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4000" b="1">
                <a:latin typeface="黑体" panose="02010609060101010101" pitchFamily="49" charset="-122"/>
                <a:ea typeface="黑体" panose="02010609060101010101" pitchFamily="49" charset="-122"/>
              </a:rPr>
              <a:t>§4</a:t>
            </a:r>
            <a:r>
              <a:rPr lang="zh-CN" altLang="en-US" sz="4000" b="1">
                <a:latin typeface="黑体" panose="02010609060101010101" pitchFamily="49" charset="-122"/>
                <a:ea typeface="黑体" panose="02010609060101010101" pitchFamily="49" charset="-122"/>
              </a:rPr>
              <a:t>－</a:t>
            </a:r>
            <a:r>
              <a:rPr lang="en-US" altLang="zh-CN" sz="4000" b="1">
                <a:latin typeface="黑体" panose="02010609060101010101" pitchFamily="49" charset="-122"/>
                <a:ea typeface="黑体" panose="02010609060101010101" pitchFamily="49" charset="-122"/>
              </a:rPr>
              <a:t>1</a:t>
            </a:r>
            <a:r>
              <a:rPr lang="zh-CN" altLang="en-US" sz="4000" b="1">
                <a:latin typeface="黑体" panose="02010609060101010101" pitchFamily="49" charset="-122"/>
                <a:ea typeface="黑体" panose="02010609060101010101" pitchFamily="49" charset="-122"/>
              </a:rPr>
              <a:t>　理想气体的概念及其状态方程式</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占位符 55298"/>
          <p:cNvSpPr>
            <a:spLocks noGrp="1"/>
          </p:cNvSpPr>
          <p:nvPr>
            <p:ph idx="1"/>
          </p:nvPr>
        </p:nvSpPr>
        <p:spPr/>
        <p:txBody>
          <a:bodyPr/>
          <a:lstStyle/>
          <a:p>
            <a:pPr eaLnBrk="1" hangingPunct="1"/>
            <a:r>
              <a:rPr lang="zh-CN" altLang="en-US" sz="3200" b="1" noProof="1" smtClean="0">
                <a:ea typeface="黑体" panose="02010609060101010101" pitchFamily="49" charset="-122"/>
              </a:rPr>
              <a:t>为了实现热功转换，通常需要借助于工质在热能动力装置中的</a:t>
            </a:r>
            <a:r>
              <a:rPr lang="zh-CN" altLang="en-US" sz="3200" b="1" noProof="1" smtClean="0">
                <a:solidFill>
                  <a:srgbClr val="FF0000"/>
                </a:solidFill>
                <a:ea typeface="黑体" panose="02010609060101010101" pitchFamily="49" charset="-122"/>
              </a:rPr>
              <a:t>膨胀</a:t>
            </a:r>
            <a:r>
              <a:rPr lang="zh-CN" altLang="en-US" sz="3200" b="1" noProof="1" smtClean="0">
                <a:ea typeface="黑体" panose="02010609060101010101" pitchFamily="49" charset="-122"/>
              </a:rPr>
              <a:t>及</a:t>
            </a:r>
            <a:r>
              <a:rPr lang="zh-CN" altLang="en-US" sz="3200" b="1" noProof="1" smtClean="0">
                <a:solidFill>
                  <a:srgbClr val="FF0000"/>
                </a:solidFill>
                <a:ea typeface="黑体" panose="02010609060101010101" pitchFamily="49" charset="-122"/>
              </a:rPr>
              <a:t>压缩</a:t>
            </a:r>
            <a:r>
              <a:rPr lang="zh-CN" altLang="en-US" sz="3200" b="1" noProof="1" smtClean="0">
                <a:ea typeface="黑体" panose="02010609060101010101" pitchFamily="49" charset="-122"/>
              </a:rPr>
              <a:t>等过程</a:t>
            </a:r>
            <a:endParaRPr lang="zh-CN" altLang="zh-CN" sz="3200" b="1" noProof="1" smtClean="0">
              <a:ea typeface="黑体" panose="02010609060101010101" pitchFamily="49" charset="-122"/>
            </a:endParaRPr>
          </a:p>
          <a:p>
            <a:pPr eaLnBrk="1" hangingPunct="1"/>
            <a:r>
              <a:rPr lang="zh-CN" altLang="en-US" sz="3200" b="1" noProof="1" smtClean="0">
                <a:ea typeface="黑体" panose="02010609060101010101" pitchFamily="49" charset="-122"/>
              </a:rPr>
              <a:t>故采用的工质应具备显著的体积变化能力</a:t>
            </a:r>
            <a:endParaRPr lang="zh-CN" altLang="zh-CN" sz="3200" b="1" noProof="1" smtClean="0">
              <a:ea typeface="黑体" panose="02010609060101010101" pitchFamily="49" charset="-122"/>
            </a:endParaRPr>
          </a:p>
          <a:p>
            <a:pPr eaLnBrk="1" hangingPunct="1"/>
            <a:r>
              <a:rPr lang="zh-CN" altLang="en-US" sz="3200" b="1" noProof="1" smtClean="0">
                <a:ea typeface="黑体" panose="02010609060101010101" pitchFamily="49" charset="-122"/>
              </a:rPr>
              <a:t>物质的气、液、固三态中，因气态具有这样的特性，热能动力装置中</a:t>
            </a:r>
            <a:r>
              <a:rPr lang="zh-CN" altLang="en-US" sz="3200" b="1" noProof="1" smtClean="0">
                <a:solidFill>
                  <a:srgbClr val="FF0000"/>
                </a:solidFill>
                <a:ea typeface="黑体" panose="02010609060101010101" pitchFamily="49" charset="-122"/>
              </a:rPr>
              <a:t>有很多是采用气态物质作为工质</a:t>
            </a:r>
          </a:p>
          <a:p>
            <a:pPr eaLnBrk="1" hangingPunct="1"/>
            <a:endParaRPr lang="zh-CN" altLang="en-US" b="1" noProof="1" smtClean="0">
              <a:ea typeface="黑体" panose="02010609060101010101" pitchFamily="49" charset="-122"/>
            </a:endParaRPr>
          </a:p>
          <a:p>
            <a:pPr eaLnBrk="1" hangingPunct="1"/>
            <a:endParaRPr lang="zh-CN" altLang="en-US" b="1" noProof="1" smtClean="0">
              <a:ea typeface="黑体" panose="02010609060101010101" pitchFamily="49" charset="-122"/>
            </a:endParaRPr>
          </a:p>
        </p:txBody>
      </p:sp>
      <p:sp>
        <p:nvSpPr>
          <p:cNvPr id="15363" name="Rectangle 2"/>
          <p:cNvSpPr>
            <a:spLocks noGrp="1" noChangeArrowheads="1"/>
          </p:cNvSpPr>
          <p:nvPr>
            <p:ph type="title" idx="4294967295"/>
          </p:nvPr>
        </p:nvSpPr>
        <p:spPr>
          <a:xfrm>
            <a:off x="323850" y="549275"/>
            <a:ext cx="8610600" cy="647700"/>
          </a:xfrm>
        </p:spPr>
        <p:txBody>
          <a:bodyPr anchor="t"/>
          <a:lstStyle/>
          <a:p>
            <a:pPr marL="342900" indent="-342900" algn="l" eaLnBrk="1" hangingPunct="1">
              <a:spcBef>
                <a:spcPct val="20000"/>
              </a:spcBef>
              <a:buClr>
                <a:schemeClr val="accent1"/>
              </a:buClr>
            </a:pPr>
            <a:r>
              <a:rPr lang="zh-CN" altLang="en-US" sz="3600" b="1" smtClean="0">
                <a:solidFill>
                  <a:schemeClr val="tx1"/>
                </a:solidFill>
                <a:ea typeface="黑体" panose="02010609060101010101" pitchFamily="49" charset="-122"/>
              </a:rPr>
              <a:t>一、理想气体和实际气体</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框 6147"/>
          <p:cNvSpPr txBox="1">
            <a:spLocks noChangeArrowheads="1"/>
          </p:cNvSpPr>
          <p:nvPr/>
        </p:nvSpPr>
        <p:spPr bwMode="auto">
          <a:xfrm>
            <a:off x="179388" y="260350"/>
            <a:ext cx="8785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ea typeface="黑体" panose="02010609060101010101" pitchFamily="49" charset="-122"/>
              </a:rPr>
              <a:t>理想气体是一种实际上不存在的</a:t>
            </a:r>
            <a:r>
              <a:rPr lang="zh-CN" altLang="en-US" sz="3200" b="1">
                <a:solidFill>
                  <a:srgbClr val="FF0000"/>
                </a:solidFill>
                <a:ea typeface="黑体" panose="02010609060101010101" pitchFamily="49" charset="-122"/>
              </a:rPr>
              <a:t>假想</a:t>
            </a:r>
            <a:r>
              <a:rPr lang="zh-CN" altLang="en-US" sz="3200" b="1">
                <a:ea typeface="黑体" panose="02010609060101010101" pitchFamily="49" charset="-122"/>
              </a:rPr>
              <a:t>气体</a:t>
            </a:r>
          </a:p>
        </p:txBody>
      </p:sp>
      <p:sp>
        <p:nvSpPr>
          <p:cNvPr id="16387" name="文本框 7172"/>
          <p:cNvSpPr txBox="1">
            <a:spLocks noChangeArrowheads="1"/>
          </p:cNvSpPr>
          <p:nvPr/>
        </p:nvSpPr>
        <p:spPr bwMode="auto">
          <a:xfrm>
            <a:off x="611188" y="1052513"/>
            <a:ext cx="7620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ea typeface="黑体" panose="02010609060101010101" pitchFamily="49" charset="-122"/>
              </a:rPr>
              <a:t>1.</a:t>
            </a:r>
            <a:r>
              <a:rPr lang="zh-CN" altLang="en-US" sz="3200" b="1">
                <a:ea typeface="黑体" panose="02010609060101010101" pitchFamily="49" charset="-122"/>
              </a:rPr>
              <a:t>分子自身不占有空间体积</a:t>
            </a:r>
          </a:p>
        </p:txBody>
      </p:sp>
      <p:sp>
        <p:nvSpPr>
          <p:cNvPr id="16388" name="文本框 7173"/>
          <p:cNvSpPr txBox="1">
            <a:spLocks noChangeArrowheads="1"/>
          </p:cNvSpPr>
          <p:nvPr/>
        </p:nvSpPr>
        <p:spPr bwMode="auto">
          <a:xfrm>
            <a:off x="641350" y="1657350"/>
            <a:ext cx="7620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ea typeface="黑体" panose="02010609060101010101" pitchFamily="49" charset="-122"/>
              </a:rPr>
              <a:t>2.</a:t>
            </a:r>
            <a:r>
              <a:rPr lang="zh-CN" altLang="en-US" sz="3200" b="1" dirty="0">
                <a:ea typeface="黑体" panose="02010609060101010101" pitchFamily="49" charset="-122"/>
              </a:rPr>
              <a:t>分子间没有相互作用力</a:t>
            </a:r>
          </a:p>
        </p:txBody>
      </p:sp>
      <p:sp>
        <p:nvSpPr>
          <p:cNvPr id="16389" name="矩形 7174"/>
          <p:cNvSpPr>
            <a:spLocks noChangeArrowheads="1"/>
          </p:cNvSpPr>
          <p:nvPr/>
        </p:nvSpPr>
        <p:spPr bwMode="auto">
          <a:xfrm>
            <a:off x="611188" y="2592388"/>
            <a:ext cx="79089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在这两点假设条件下，气体分子的运动规律被极大地简化了</a:t>
            </a:r>
          </a:p>
        </p:txBody>
      </p:sp>
      <p:sp>
        <p:nvSpPr>
          <p:cNvPr id="16390" name="矩形 7174"/>
          <p:cNvSpPr>
            <a:spLocks noChangeArrowheads="1"/>
          </p:cNvSpPr>
          <p:nvPr/>
        </p:nvSpPr>
        <p:spPr bwMode="auto">
          <a:xfrm>
            <a:off x="617538" y="3976688"/>
            <a:ext cx="79089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理想气体的热力性质简单，容易利用解析的方法进行分析和计算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151"/>
          <p:cNvSpPr>
            <a:spLocks noChangeArrowheads="1"/>
          </p:cNvSpPr>
          <p:nvPr/>
        </p:nvSpPr>
        <p:spPr bwMode="auto">
          <a:xfrm>
            <a:off x="684213" y="1310829"/>
            <a:ext cx="777557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sz="3200" b="1" dirty="0">
                <a:latin typeface="黑体" panose="02010609060101010101" pitchFamily="49" charset="-122"/>
                <a:ea typeface="黑体" panose="02010609060101010101" pitchFamily="49" charset="-122"/>
              </a:rPr>
              <a:t>实际气体在</a:t>
            </a:r>
            <a:r>
              <a:rPr lang="zh-CN" altLang="en-US" sz="3200" b="1" dirty="0">
                <a:solidFill>
                  <a:srgbClr val="FF0000"/>
                </a:solidFill>
                <a:latin typeface="黑体" panose="02010609060101010101" pitchFamily="49" charset="-122"/>
                <a:ea typeface="黑体" panose="02010609060101010101" pitchFamily="49" charset="-122"/>
              </a:rPr>
              <a:t>低压和高温</a:t>
            </a:r>
            <a:r>
              <a:rPr lang="zh-CN" altLang="en-US" sz="3200" b="1" dirty="0">
                <a:latin typeface="黑体" panose="02010609060101010101" pitchFamily="49" charset="-122"/>
                <a:ea typeface="黑体" panose="02010609060101010101" pitchFamily="49" charset="-122"/>
              </a:rPr>
              <a:t>下，气体的密度小，比体积大，这使得气体分子自身占有的体积相对极</a:t>
            </a:r>
            <a:r>
              <a:rPr lang="zh-CN" altLang="en-US" sz="3200" b="1" dirty="0" smtClean="0">
                <a:latin typeface="黑体" panose="02010609060101010101" pitchFamily="49" charset="-122"/>
                <a:ea typeface="黑体" panose="02010609060101010101" pitchFamily="49" charset="-122"/>
              </a:rPr>
              <a:t>小</a:t>
            </a:r>
            <a:r>
              <a:rPr lang="zh-CN" altLang="en-US" sz="2400" b="1" dirty="0" smtClean="0">
                <a:solidFill>
                  <a:srgbClr val="0070C0"/>
                </a:solidFill>
                <a:latin typeface="黑体" panose="02010609060101010101" pitchFamily="49" charset="-122"/>
                <a:ea typeface="黑体" panose="02010609060101010101" pitchFamily="49" charset="-122"/>
              </a:rPr>
              <a:t>（满足第一条假设）</a:t>
            </a:r>
            <a:r>
              <a:rPr lang="zh-CN" altLang="en-US" sz="3200" b="1" dirty="0" smtClean="0">
                <a:latin typeface="黑体" panose="02010609060101010101" pitchFamily="49" charset="-122"/>
                <a:ea typeface="黑体" panose="02010609060101010101" pitchFamily="49" charset="-122"/>
              </a:rPr>
              <a:t>；</a:t>
            </a:r>
            <a:endParaRPr lang="en-US" altLang="zh-CN" sz="3200" b="1" dirty="0">
              <a:latin typeface="黑体" panose="02010609060101010101" pitchFamily="49" charset="-122"/>
              <a:ea typeface="黑体" panose="02010609060101010101" pitchFamily="49" charset="-122"/>
            </a:endParaRPr>
          </a:p>
          <a:p>
            <a:pPr>
              <a:buFont typeface="Arial" panose="020B0604020202020204" pitchFamily="34" charset="0"/>
              <a:buChar char="•"/>
            </a:pPr>
            <a:r>
              <a:rPr lang="zh-CN" altLang="en-US" sz="3200" b="1" dirty="0">
                <a:latin typeface="黑体" panose="02010609060101010101" pitchFamily="49" charset="-122"/>
                <a:ea typeface="黑体" panose="02010609060101010101" pitchFamily="49" charset="-122"/>
              </a:rPr>
              <a:t>此外，低密度状态下分子间平均距离大，使得分子间的相互作用力很</a:t>
            </a:r>
            <a:r>
              <a:rPr lang="zh-CN" altLang="en-US" sz="3200" b="1" dirty="0" smtClean="0">
                <a:latin typeface="黑体" panose="02010609060101010101" pitchFamily="49" charset="-122"/>
                <a:ea typeface="黑体" panose="02010609060101010101" pitchFamily="49" charset="-122"/>
              </a:rPr>
              <a:t>小</a:t>
            </a:r>
            <a:r>
              <a:rPr lang="zh-CN" altLang="en-US" sz="2400" b="1" dirty="0">
                <a:solidFill>
                  <a:srgbClr val="0070C0"/>
                </a:solidFill>
                <a:latin typeface="黑体" panose="02010609060101010101" pitchFamily="49" charset="-122"/>
                <a:ea typeface="黑体" panose="02010609060101010101" pitchFamily="49" charset="-122"/>
              </a:rPr>
              <a:t>（满足</a:t>
            </a:r>
            <a:r>
              <a:rPr lang="zh-CN" altLang="en-US" sz="2400" b="1" dirty="0" smtClean="0">
                <a:solidFill>
                  <a:srgbClr val="0070C0"/>
                </a:solidFill>
                <a:latin typeface="黑体" panose="02010609060101010101" pitchFamily="49" charset="-122"/>
                <a:ea typeface="黑体" panose="02010609060101010101" pitchFamily="49" charset="-122"/>
              </a:rPr>
              <a:t>第二条</a:t>
            </a:r>
            <a:r>
              <a:rPr lang="zh-CN" altLang="en-US" sz="2400" b="1" dirty="0">
                <a:solidFill>
                  <a:srgbClr val="0070C0"/>
                </a:solidFill>
                <a:latin typeface="黑体" panose="02010609060101010101" pitchFamily="49" charset="-122"/>
                <a:ea typeface="黑体" panose="02010609060101010101" pitchFamily="49" charset="-122"/>
              </a:rPr>
              <a:t>假设）</a:t>
            </a:r>
            <a:endParaRPr lang="en-US" altLang="zh-CN" sz="2400" b="1" dirty="0">
              <a:solidFill>
                <a:srgbClr val="0070C0"/>
              </a:solidFill>
              <a:latin typeface="黑体" panose="02010609060101010101" pitchFamily="49" charset="-122"/>
              <a:ea typeface="黑体" panose="02010609060101010101" pitchFamily="49" charset="-122"/>
            </a:endParaRPr>
          </a:p>
          <a:p>
            <a:pPr eaLnBrk="1" hangingPunct="1">
              <a:buFont typeface="Arial" panose="020B0604020202020204" pitchFamily="34" charset="0"/>
              <a:buChar char="•"/>
            </a:pPr>
            <a:r>
              <a:rPr lang="zh-CN" altLang="en-US" sz="3200" b="1" dirty="0" smtClean="0">
                <a:latin typeface="黑体" panose="02010609060101010101" pitchFamily="49" charset="-122"/>
                <a:ea typeface="黑体" panose="02010609060101010101" pitchFamily="49" charset="-122"/>
              </a:rPr>
              <a:t>这时</a:t>
            </a:r>
            <a:r>
              <a:rPr lang="zh-CN" altLang="en-US" sz="3200" b="1" dirty="0">
                <a:latin typeface="黑体" panose="02010609060101010101" pitchFamily="49" charset="-122"/>
                <a:ea typeface="黑体" panose="02010609060101010101" pitchFamily="49" charset="-122"/>
              </a:rPr>
              <a:t>的实际气体就很接近理想气体</a:t>
            </a:r>
            <a:endParaRPr lang="zh-CN" altLang="en-US" sz="3200" dirty="0">
              <a:latin typeface="楷体_GB2312" pitchFamily="49" charset="-122"/>
              <a:ea typeface="楷体_GB2312" pitchFamily="49" charset="-122"/>
            </a:endParaRPr>
          </a:p>
        </p:txBody>
      </p:sp>
      <p:sp>
        <p:nvSpPr>
          <p:cNvPr id="17411" name="矩形 6151"/>
          <p:cNvSpPr>
            <a:spLocks noChangeArrowheads="1"/>
          </p:cNvSpPr>
          <p:nvPr/>
        </p:nvSpPr>
        <p:spPr bwMode="auto">
          <a:xfrm>
            <a:off x="511175" y="5013325"/>
            <a:ext cx="84248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理想气体是气体压力趋近于零、比体积趋近于无穷大时的极限状态</a:t>
            </a:r>
            <a:endParaRPr lang="zh-CN" altLang="en-US" sz="3200">
              <a:latin typeface="楷体_GB2312" pitchFamily="49" charset="-122"/>
              <a:ea typeface="楷体_GB2312" pitchFamily="49" charset="-122"/>
            </a:endParaRPr>
          </a:p>
        </p:txBody>
      </p:sp>
      <p:sp>
        <p:nvSpPr>
          <p:cNvPr id="17412" name="矩形 6151"/>
          <p:cNvSpPr>
            <a:spLocks noChangeArrowheads="1"/>
          </p:cNvSpPr>
          <p:nvPr/>
        </p:nvSpPr>
        <p:spPr bwMode="auto">
          <a:xfrm>
            <a:off x="511175" y="237849"/>
            <a:ext cx="8424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什么状态下的实际气体可以接近理想气体呢？</a:t>
            </a:r>
            <a:endParaRPr lang="zh-CN" altLang="en-US" sz="3200">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8195"/>
          <p:cNvSpPr>
            <a:spLocks noChangeArrowheads="1"/>
          </p:cNvSpPr>
          <p:nvPr/>
        </p:nvSpPr>
        <p:spPr bwMode="auto">
          <a:xfrm>
            <a:off x="323850" y="765175"/>
            <a:ext cx="8208963"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sz="3200" b="1">
                <a:latin typeface="Times New Roman" panose="02020603050405020304" pitchFamily="18" charset="0"/>
                <a:ea typeface="黑体" panose="02010609060101010101" pitchFamily="49" charset="-122"/>
              </a:rPr>
              <a:t>实际应用中，有许多气体，如常温常压下的氮气、氧气、氢气、氦气、氩气、一氧化碳、二氧化碳及其混合物（如空气、燃气、烟气等）等均可视为理想气体</a:t>
            </a:r>
            <a:endParaRPr lang="en-US" altLang="zh-CN" sz="3200" b="1">
              <a:latin typeface="Times New Roman" panose="02020603050405020304" pitchFamily="18" charset="0"/>
              <a:ea typeface="黑体" panose="02010609060101010101" pitchFamily="49" charset="-122"/>
            </a:endParaRPr>
          </a:p>
          <a:p>
            <a:pPr eaLnBrk="1" hangingPunct="1">
              <a:buFont typeface="Arial" panose="020B0604020202020204" pitchFamily="34" charset="0"/>
              <a:buChar char="•"/>
            </a:pPr>
            <a:r>
              <a:rPr lang="zh-CN" altLang="en-US" sz="3200" b="1">
                <a:latin typeface="Times New Roman" panose="02020603050405020304" pitchFamily="18" charset="0"/>
                <a:ea typeface="黑体" panose="02010609060101010101" pitchFamily="49" charset="-122"/>
              </a:rPr>
              <a:t>在应用理想气体状态方程对这些实际气体进行计算时，误差一般都在工程计算允许的精度范围内（一般在</a:t>
            </a:r>
            <a:r>
              <a:rPr lang="en-US" altLang="zh-CN" sz="3200" b="1">
                <a:latin typeface="Times New Roman" panose="02020603050405020304" pitchFamily="18" charset="0"/>
                <a:ea typeface="黑体" panose="02010609060101010101" pitchFamily="49" charset="-122"/>
              </a:rPr>
              <a:t>1%</a:t>
            </a:r>
            <a:r>
              <a:rPr lang="zh-CN" altLang="en-US" sz="3200" b="1">
                <a:latin typeface="Times New Roman" panose="02020603050405020304" pitchFamily="18" charset="0"/>
                <a:ea typeface="黑体" panose="02010609060101010101" pitchFamily="49" charset="-122"/>
              </a:rPr>
              <a:t>以内）。</a:t>
            </a:r>
          </a:p>
        </p:txBody>
      </p:sp>
      <p:sp>
        <p:nvSpPr>
          <p:cNvPr id="18435" name="矩形 2"/>
          <p:cNvSpPr>
            <a:spLocks noChangeArrowheads="1"/>
          </p:cNvSpPr>
          <p:nvPr/>
        </p:nvSpPr>
        <p:spPr bwMode="auto">
          <a:xfrm>
            <a:off x="755650" y="5084763"/>
            <a:ext cx="78486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Times New Roman" panose="02020603050405020304" pitchFamily="18" charset="0"/>
                <a:ea typeface="黑体" panose="02010609060101010101" pitchFamily="49" charset="-122"/>
              </a:rPr>
              <a:t>可见，理想气体模型的提出具有重要的实际意义。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8195"/>
          <p:cNvSpPr>
            <a:spLocks noChangeArrowheads="1"/>
          </p:cNvSpPr>
          <p:nvPr/>
        </p:nvSpPr>
        <p:spPr bwMode="auto">
          <a:xfrm>
            <a:off x="395288" y="380524"/>
            <a:ext cx="8208962" cy="550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sz="3200" b="1">
                <a:latin typeface="Times New Roman" panose="02020603050405020304" pitchFamily="18" charset="0"/>
                <a:ea typeface="黑体" panose="02010609060101010101" pitchFamily="49" charset="-122"/>
              </a:rPr>
              <a:t>不符合上述两点假设的气态物质称为实际气体</a:t>
            </a:r>
            <a:endParaRPr lang="en-US" altLang="zh-CN" sz="3200" b="1">
              <a:latin typeface="Times New Roman" panose="02020603050405020304" pitchFamily="18" charset="0"/>
              <a:ea typeface="黑体" panose="02010609060101010101" pitchFamily="49" charset="-122"/>
            </a:endParaRPr>
          </a:p>
          <a:p>
            <a:pPr eaLnBrk="1" hangingPunct="1">
              <a:buFont typeface="Arial" panose="020B0604020202020204" pitchFamily="34" charset="0"/>
              <a:buChar char="•"/>
            </a:pPr>
            <a:r>
              <a:rPr lang="zh-CN" altLang="en-US" sz="3200" b="1">
                <a:latin typeface="Times New Roman" panose="02020603050405020304" pitchFamily="18" charset="0"/>
                <a:ea typeface="黑体" panose="02010609060101010101" pitchFamily="49" charset="-122"/>
              </a:rPr>
              <a:t>例如，火力发电厂装置中采用的工质</a:t>
            </a:r>
            <a:r>
              <a:rPr lang="zh-CN" altLang="en-US" sz="3200" b="1">
                <a:solidFill>
                  <a:srgbClr val="FF0000"/>
                </a:solidFill>
                <a:latin typeface="Times New Roman" panose="02020603050405020304" pitchFamily="18" charset="0"/>
                <a:ea typeface="黑体" panose="02010609060101010101" pitchFamily="49" charset="-122"/>
              </a:rPr>
              <a:t>水蒸气、</a:t>
            </a:r>
            <a:r>
              <a:rPr lang="zh-CN" altLang="en-US" sz="3200" b="1">
                <a:latin typeface="Times New Roman" panose="02020603050405020304" pitchFamily="18" charset="0"/>
                <a:ea typeface="黑体" panose="02010609060101010101" pitchFamily="49" charset="-122"/>
              </a:rPr>
              <a:t>制冷装置中采用的工质</a:t>
            </a:r>
            <a:r>
              <a:rPr lang="zh-CN" altLang="en-US" sz="3200" b="1">
                <a:solidFill>
                  <a:srgbClr val="FF0000"/>
                </a:solidFill>
                <a:latin typeface="Times New Roman" panose="02020603050405020304" pitchFamily="18" charset="0"/>
                <a:ea typeface="黑体" panose="02010609060101010101" pitchFamily="49" charset="-122"/>
              </a:rPr>
              <a:t>氟利昂蒸汽、氨蒸气</a:t>
            </a:r>
            <a:r>
              <a:rPr lang="zh-CN" altLang="en-US" sz="3200" b="1">
                <a:latin typeface="Times New Roman" panose="02020603050405020304" pitchFamily="18" charset="0"/>
                <a:ea typeface="黑体" panose="02010609060101010101" pitchFamily="49" charset="-122"/>
              </a:rPr>
              <a:t>等，它们在通常的工作温度和工作压力下离液态不远，密度较大，</a:t>
            </a:r>
            <a:r>
              <a:rPr lang="zh-CN" altLang="en-US" sz="3200" b="1">
                <a:solidFill>
                  <a:srgbClr val="FF0000"/>
                </a:solidFill>
                <a:latin typeface="Times New Roman" panose="02020603050405020304" pitchFamily="18" charset="0"/>
                <a:ea typeface="黑体" panose="02010609060101010101" pitchFamily="49" charset="-122"/>
              </a:rPr>
              <a:t>不能视为理想气体</a:t>
            </a:r>
            <a:endParaRPr lang="en-US" altLang="zh-CN" sz="3200" b="1">
              <a:solidFill>
                <a:srgbClr val="FF0000"/>
              </a:solidFill>
              <a:latin typeface="Times New Roman" panose="02020603050405020304" pitchFamily="18" charset="0"/>
              <a:ea typeface="黑体" panose="02010609060101010101" pitchFamily="49" charset="-122"/>
            </a:endParaRPr>
          </a:p>
          <a:p>
            <a:pPr eaLnBrk="1" hangingPunct="1">
              <a:buFont typeface="Arial" panose="020B0604020202020204" pitchFamily="34" charset="0"/>
              <a:buChar char="•"/>
            </a:pPr>
            <a:r>
              <a:rPr lang="zh-CN" altLang="en-US" sz="3200" b="1">
                <a:solidFill>
                  <a:srgbClr val="FF0000"/>
                </a:solidFill>
                <a:latin typeface="Times New Roman" panose="02020603050405020304" pitchFamily="18" charset="0"/>
                <a:ea typeface="黑体" panose="02010609060101010101" pitchFamily="49" charset="-122"/>
              </a:rPr>
              <a:t>实际气体的状态方程式繁复</a:t>
            </a:r>
            <a:r>
              <a:rPr lang="zh-CN" altLang="en-US" sz="3200" b="1">
                <a:latin typeface="Times New Roman" panose="02020603050405020304" pitchFamily="18" charset="0"/>
                <a:ea typeface="黑体" panose="02010609060101010101" pitchFamily="49" charset="-122"/>
              </a:rPr>
              <a:t>，工程计算一般利用为各种蒸气专门编制的热力性质表和图（第</a:t>
            </a:r>
            <a:r>
              <a:rPr lang="en-US" altLang="zh-CN" sz="3200" b="1">
                <a:latin typeface="Times New Roman" panose="02020603050405020304" pitchFamily="18" charset="0"/>
                <a:ea typeface="黑体" panose="02010609060101010101" pitchFamily="49" charset="-122"/>
              </a:rPr>
              <a:t>9</a:t>
            </a:r>
            <a:r>
              <a:rPr lang="zh-CN" altLang="en-US" sz="3200" b="1">
                <a:latin typeface="Times New Roman" panose="02020603050405020304" pitchFamily="18" charset="0"/>
                <a:ea typeface="黑体" panose="02010609060101010101" pitchFamily="49" charset="-122"/>
              </a:rPr>
              <a:t>章）或一些实际气体的状态方程（第</a:t>
            </a:r>
            <a:r>
              <a:rPr lang="en-US" altLang="zh-CN" sz="3200" b="1">
                <a:latin typeface="Times New Roman" panose="02020603050405020304" pitchFamily="18" charset="0"/>
                <a:ea typeface="黑体" panose="02010609060101010101" pitchFamily="49" charset="-122"/>
              </a:rPr>
              <a:t>15</a:t>
            </a:r>
            <a:r>
              <a:rPr lang="zh-CN" altLang="en-US" sz="3200" b="1">
                <a:latin typeface="Times New Roman" panose="02020603050405020304" pitchFamily="18" charset="0"/>
                <a:ea typeface="黑体" panose="02010609060101010101" pitchFamily="49" charset="-122"/>
              </a:rPr>
              <a:t>章）</a:t>
            </a:r>
            <a:endParaRPr lang="en-US" altLang="zh-CN" sz="3200" b="1">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6149"/>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483" name="Rectangle 2"/>
          <p:cNvSpPr txBox="1">
            <a:spLocks noChangeArrowheads="1"/>
          </p:cNvSpPr>
          <p:nvPr/>
        </p:nvSpPr>
        <p:spPr bwMode="auto">
          <a:xfrm>
            <a:off x="266700" y="178214"/>
            <a:ext cx="8610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FontTx/>
              <a:buNone/>
            </a:pPr>
            <a:r>
              <a:rPr lang="zh-CN" altLang="en-US" sz="3600" b="1" dirty="0">
                <a:ea typeface="黑体" panose="02010609060101010101" pitchFamily="49" charset="-122"/>
              </a:rPr>
              <a:t>二、理想气体的状态方程式</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763" y="1933960"/>
            <a:ext cx="6322271" cy="440720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云形标注 3"/>
          <p:cNvSpPr/>
          <p:nvPr/>
        </p:nvSpPr>
        <p:spPr>
          <a:xfrm>
            <a:off x="2570920" y="874644"/>
            <a:ext cx="3167271" cy="910822"/>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smtClean="0"/>
              <a:t>回忆第</a:t>
            </a:r>
            <a:r>
              <a:rPr lang="en-US" altLang="zh-CN" dirty="0" smtClean="0"/>
              <a:t>1</a:t>
            </a:r>
            <a:r>
              <a:rPr lang="zh-CN" altLang="en-US" dirty="0" smtClean="0"/>
              <a:t>章</a:t>
            </a:r>
            <a:r>
              <a:rPr lang="en-US" altLang="zh-CN" dirty="0" smtClean="0"/>
              <a:t>ppt54</a:t>
            </a:r>
            <a:r>
              <a:rPr lang="zh-CN" altLang="en-US" dirty="0" smtClean="0"/>
              <a:t>页的内容</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8"/>
          <p:cNvSpPr txBox="1">
            <a:spLocks noChangeArrowheads="1"/>
          </p:cNvSpPr>
          <p:nvPr/>
        </p:nvSpPr>
        <p:spPr bwMode="auto">
          <a:xfrm>
            <a:off x="533400" y="3024811"/>
            <a:ext cx="800100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pPr>
            <a:r>
              <a:rPr lang="zh-CN" altLang="en-US" sz="3200" b="1" dirty="0">
                <a:latin typeface="黑体" panose="02010609060101010101" pitchFamily="49" charset="-122"/>
                <a:ea typeface="黑体" panose="02010609060101010101" pitchFamily="49" charset="-122"/>
              </a:rPr>
              <a:t>式中</a:t>
            </a:r>
            <a:r>
              <a:rPr lang="zh-CN" altLang="en-US" sz="3200" i="1" dirty="0">
                <a:latin typeface="Times New Roman" panose="02020603050405020304" pitchFamily="18" charset="0"/>
              </a:rPr>
              <a:t> </a:t>
            </a:r>
            <a:r>
              <a:rPr lang="en-US" altLang="zh-CN" sz="3200" i="1" dirty="0">
                <a:latin typeface="Times New Roman" panose="02020603050405020304" pitchFamily="18" charset="0"/>
              </a:rPr>
              <a:t>n</a:t>
            </a:r>
            <a:r>
              <a:rPr lang="en-US" altLang="zh-CN" sz="3200" dirty="0">
                <a:latin typeface="Times New Roman" panose="02020603050405020304" pitchFamily="18" charset="0"/>
              </a:rPr>
              <a:t> </a:t>
            </a:r>
            <a:r>
              <a:rPr lang="en-US" altLang="zh-CN" sz="3200" b="1" dirty="0" smtClean="0">
                <a:latin typeface="Times New Roman" panose="02020603050405020304" pitchFamily="18" charset="0"/>
              </a:rPr>
              <a:t>——</a:t>
            </a:r>
            <a:r>
              <a:rPr lang="zh-CN" altLang="en-US" sz="3200" b="1" dirty="0" smtClean="0">
                <a:latin typeface="黑体" panose="02010609060101010101" pitchFamily="49" charset="-122"/>
                <a:ea typeface="黑体" panose="02010609060101010101" pitchFamily="49" charset="-122"/>
              </a:rPr>
              <a:t>气体</a:t>
            </a:r>
            <a:r>
              <a:rPr lang="zh-CN" altLang="en-US" sz="3200" b="1" dirty="0">
                <a:latin typeface="黑体" panose="02010609060101010101" pitchFamily="49" charset="-122"/>
                <a:ea typeface="黑体" panose="02010609060101010101" pitchFamily="49" charset="-122"/>
              </a:rPr>
              <a:t>的摩尔数，</a:t>
            </a:r>
            <a:r>
              <a:rPr lang="en-US" altLang="zh-CN" sz="3200" dirty="0" err="1">
                <a:latin typeface="Times New Roman" panose="02020603050405020304" pitchFamily="18" charset="0"/>
              </a:rPr>
              <a:t>mol</a:t>
            </a:r>
            <a:r>
              <a:rPr lang="zh-CN" altLang="en-US" sz="3200" dirty="0">
                <a:latin typeface="Times New Roman" panose="02020603050405020304" pitchFamily="18" charset="0"/>
              </a:rPr>
              <a:t>；         </a:t>
            </a:r>
          </a:p>
        </p:txBody>
      </p:sp>
      <p:sp>
        <p:nvSpPr>
          <p:cNvPr id="21507" name="Text Box 9"/>
          <p:cNvSpPr txBox="1">
            <a:spLocks noChangeArrowheads="1"/>
          </p:cNvSpPr>
          <p:nvPr/>
        </p:nvSpPr>
        <p:spPr bwMode="auto">
          <a:xfrm>
            <a:off x="457200" y="2034211"/>
            <a:ext cx="6119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smtClean="0">
                <a:latin typeface="Times New Roman" panose="02020603050405020304" pitchFamily="18" charset="0"/>
                <a:ea typeface="黑体" panose="02010609060101010101" pitchFamily="49" charset="-122"/>
                <a:cs typeface="Times New Roman" panose="02020603050405020304" pitchFamily="18" charset="0"/>
              </a:rPr>
              <a:t>1</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i="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pV</a:t>
            </a:r>
            <a:r>
              <a:rPr lang="en-US" altLang="zh-CN" sz="3200"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3200" b="1" i="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nRT</a:t>
            </a:r>
            <a:r>
              <a:rPr lang="en-US" altLang="zh-CN" sz="3200" b="1"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21508" name="Text Box 10"/>
          <p:cNvSpPr txBox="1">
            <a:spLocks noChangeArrowheads="1"/>
          </p:cNvSpPr>
          <p:nvPr/>
        </p:nvSpPr>
        <p:spPr bwMode="auto">
          <a:xfrm>
            <a:off x="609600" y="3786811"/>
            <a:ext cx="8001000"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pPr>
            <a:r>
              <a:rPr lang="en-US" altLang="zh-CN" sz="3200" i="1" dirty="0">
                <a:latin typeface="Times New Roman" panose="02020603050405020304" pitchFamily="18" charset="0"/>
              </a:rPr>
              <a:t>R </a:t>
            </a:r>
            <a:r>
              <a:rPr lang="en-US" altLang="zh-CN" sz="3200" b="1" i="1" dirty="0">
                <a:latin typeface="Times New Roman" panose="02020603050405020304" pitchFamily="18" charset="0"/>
              </a:rPr>
              <a:t>—— </a:t>
            </a:r>
            <a:r>
              <a:rPr lang="zh-CN" altLang="en-US" sz="3200" b="1" dirty="0">
                <a:latin typeface="黑体" panose="02010609060101010101" pitchFamily="49" charset="-122"/>
                <a:ea typeface="黑体" panose="02010609060101010101" pitchFamily="49" charset="-122"/>
              </a:rPr>
              <a:t>摩尔气体常数，与气体种类和状态无关，</a:t>
            </a:r>
            <a:r>
              <a:rPr lang="en-US" altLang="zh-CN" sz="3200" dirty="0">
                <a:latin typeface="Times New Roman" panose="02020603050405020304" pitchFamily="18" charset="0"/>
              </a:rPr>
              <a:t>8.3145  J/(</a:t>
            </a:r>
            <a:r>
              <a:rPr lang="en-US" altLang="zh-CN" sz="3200" dirty="0" err="1">
                <a:latin typeface="Times New Roman" panose="02020603050405020304" pitchFamily="18" charset="0"/>
              </a:rPr>
              <a:t>mol·K</a:t>
            </a:r>
            <a:r>
              <a:rPr lang="en-US" altLang="zh-CN" sz="3200" dirty="0">
                <a:latin typeface="Times New Roman" panose="02020603050405020304" pitchFamily="18" charset="0"/>
              </a:rPr>
              <a:t>) </a:t>
            </a:r>
            <a:r>
              <a:rPr lang="en-US" altLang="zh-CN" sz="3200" i="1" dirty="0">
                <a:latin typeface="Times New Roman" panose="02020603050405020304" pitchFamily="18" charset="0"/>
              </a:rPr>
              <a:t>         </a:t>
            </a:r>
          </a:p>
        </p:txBody>
      </p:sp>
      <p:sp>
        <p:nvSpPr>
          <p:cNvPr id="21509" name="Text Box 11"/>
          <p:cNvSpPr txBox="1">
            <a:spLocks noChangeArrowheads="1"/>
          </p:cNvSpPr>
          <p:nvPr/>
        </p:nvSpPr>
        <p:spPr bwMode="auto">
          <a:xfrm>
            <a:off x="685800" y="5082211"/>
            <a:ext cx="8194675"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pPr>
            <a:r>
              <a:rPr lang="en-US" altLang="zh-CN" sz="3200" i="1" dirty="0">
                <a:latin typeface="Times New Roman" panose="02020603050405020304" pitchFamily="18" charset="0"/>
              </a:rPr>
              <a:t>p</a:t>
            </a:r>
            <a:r>
              <a:rPr lang="zh-CN" altLang="en-US" sz="3200" dirty="0">
                <a:latin typeface="Times New Roman" panose="02020603050405020304" pitchFamily="18" charset="0"/>
              </a:rPr>
              <a:t>、</a:t>
            </a:r>
            <a:r>
              <a:rPr lang="en-US" altLang="zh-CN" sz="3200" i="1" dirty="0">
                <a:latin typeface="Times New Roman" panose="02020603050405020304" pitchFamily="18" charset="0"/>
              </a:rPr>
              <a:t>V</a:t>
            </a:r>
            <a:r>
              <a:rPr lang="zh-CN" altLang="en-US" sz="3200" dirty="0">
                <a:latin typeface="Times New Roman" panose="02020603050405020304" pitchFamily="18" charset="0"/>
              </a:rPr>
              <a:t>、</a:t>
            </a:r>
            <a:r>
              <a:rPr lang="en-US" altLang="zh-CN" sz="3200" i="1" dirty="0">
                <a:latin typeface="Times New Roman" panose="02020603050405020304" pitchFamily="18" charset="0"/>
              </a:rPr>
              <a:t>T</a:t>
            </a:r>
            <a:r>
              <a:rPr lang="zh-CN" altLang="en-US" sz="3200" b="1" dirty="0">
                <a:latin typeface="黑体" panose="02010609060101010101" pitchFamily="49" charset="-122"/>
                <a:ea typeface="黑体" panose="02010609060101010101" pitchFamily="49" charset="-122"/>
              </a:rPr>
              <a:t>分别为气体的压力</a:t>
            </a:r>
            <a:r>
              <a:rPr lang="en-US" altLang="zh-CN" sz="3200" dirty="0">
                <a:latin typeface="Times New Roman" panose="02020603050405020304" pitchFamily="18" charset="0"/>
              </a:rPr>
              <a:t>(Pa)</a:t>
            </a:r>
            <a:r>
              <a:rPr lang="zh-CN" altLang="en-US" sz="3200" dirty="0">
                <a:latin typeface="Times New Roman" panose="02020603050405020304" pitchFamily="18" charset="0"/>
              </a:rPr>
              <a:t>、</a:t>
            </a:r>
            <a:r>
              <a:rPr lang="zh-CN" altLang="en-US" sz="3200" b="1" dirty="0">
                <a:latin typeface="黑体" panose="02010609060101010101" pitchFamily="49" charset="-122"/>
                <a:ea typeface="黑体" panose="02010609060101010101" pitchFamily="49" charset="-122"/>
              </a:rPr>
              <a:t>容积</a:t>
            </a:r>
            <a:r>
              <a:rPr lang="en-US" altLang="zh-CN" sz="3200" dirty="0">
                <a:latin typeface="Times New Roman" panose="02020603050405020304" pitchFamily="18" charset="0"/>
              </a:rPr>
              <a:t>(m</a:t>
            </a:r>
            <a:r>
              <a:rPr lang="en-US" altLang="zh-CN" sz="3200" baseline="30000" dirty="0">
                <a:latin typeface="Times New Roman" panose="02020603050405020304" pitchFamily="18" charset="0"/>
              </a:rPr>
              <a:t>3</a:t>
            </a:r>
            <a:r>
              <a:rPr lang="en-US" altLang="zh-CN" sz="3200" dirty="0">
                <a:latin typeface="Times New Roman" panose="02020603050405020304" pitchFamily="18" charset="0"/>
              </a:rPr>
              <a:t>)</a:t>
            </a:r>
            <a:r>
              <a:rPr lang="zh-CN" altLang="en-US" sz="3200" b="1" dirty="0">
                <a:latin typeface="黑体" panose="02010609060101010101" pitchFamily="49" charset="-122"/>
                <a:ea typeface="黑体" panose="02010609060101010101" pitchFamily="49" charset="-122"/>
              </a:rPr>
              <a:t>和温度</a:t>
            </a:r>
            <a:r>
              <a:rPr lang="en-US" altLang="zh-CN" sz="3200" dirty="0">
                <a:latin typeface="Times New Roman" panose="02020603050405020304" pitchFamily="18" charset="0"/>
              </a:rPr>
              <a:t>(K)</a:t>
            </a:r>
          </a:p>
        </p:txBody>
      </p:sp>
      <p:sp>
        <p:nvSpPr>
          <p:cNvPr id="7" name="文本占位符 75778"/>
          <p:cNvSpPr txBox="1">
            <a:spLocks noChangeArrowheads="1"/>
          </p:cNvSpPr>
          <p:nvPr/>
        </p:nvSpPr>
        <p:spPr bwMode="auto">
          <a:xfrm>
            <a:off x="495300" y="482601"/>
            <a:ext cx="8229600" cy="145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3600" b="1" dirty="0">
                <a:latin typeface="黑体" panose="02010609060101010101" pitchFamily="49" charset="-122"/>
                <a:ea typeface="黑体" panose="02010609060101010101" pitchFamily="49" charset="-122"/>
              </a:rPr>
              <a:t>理想气体状态方程有以下几种不同表达形式，可根据具体条件分别使用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468313" y="333375"/>
            <a:ext cx="36576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3200" dirty="0" smtClean="0">
                <a:latin typeface="Times New Roman" panose="02020603050405020304" pitchFamily="18" charset="0"/>
              </a:rPr>
              <a:t>(2)</a:t>
            </a:r>
            <a:r>
              <a:rPr lang="en-US" altLang="zh-CN" sz="3200" i="1" dirty="0" smtClean="0">
                <a:solidFill>
                  <a:srgbClr val="FF0000"/>
                </a:solidFill>
                <a:latin typeface="Times New Roman" panose="02020603050405020304" pitchFamily="18" charset="0"/>
              </a:rPr>
              <a:t> </a:t>
            </a:r>
            <a:r>
              <a:rPr lang="en-US" altLang="zh-CN" sz="3200" b="1" i="1" dirty="0" err="1" smtClean="0">
                <a:solidFill>
                  <a:srgbClr val="FF0000"/>
                </a:solidFill>
                <a:latin typeface="Times New Roman" panose="02020603050405020304" pitchFamily="18" charset="0"/>
              </a:rPr>
              <a:t>pV</a:t>
            </a:r>
            <a:r>
              <a:rPr lang="en-US" altLang="zh-CN" sz="3200" b="1" i="1" dirty="0" smtClean="0">
                <a:solidFill>
                  <a:srgbClr val="FF0000"/>
                </a:solidFill>
                <a:latin typeface="Times New Roman" panose="02020603050405020304" pitchFamily="18" charset="0"/>
              </a:rPr>
              <a:t> </a:t>
            </a:r>
            <a:r>
              <a:rPr lang="en-US" altLang="zh-CN" sz="3200" b="1" i="1" dirty="0">
                <a:solidFill>
                  <a:srgbClr val="FF0000"/>
                </a:solidFill>
                <a:latin typeface="Times New Roman" panose="02020603050405020304" pitchFamily="18" charset="0"/>
              </a:rPr>
              <a:t>= </a:t>
            </a:r>
            <a:r>
              <a:rPr lang="en-US" altLang="zh-CN" sz="3200" b="1" i="1" dirty="0" err="1">
                <a:solidFill>
                  <a:srgbClr val="FF0000"/>
                </a:solidFill>
                <a:latin typeface="Times New Roman" panose="02020603050405020304" pitchFamily="18" charset="0"/>
              </a:rPr>
              <a:t>mR</a:t>
            </a:r>
            <a:r>
              <a:rPr lang="en-US" altLang="zh-CN" sz="3200" b="1" baseline="-25000" dirty="0" err="1">
                <a:solidFill>
                  <a:srgbClr val="FF0000"/>
                </a:solidFill>
                <a:latin typeface="Times New Roman" panose="02020603050405020304" pitchFamily="18" charset="0"/>
              </a:rPr>
              <a:t>g</a:t>
            </a:r>
            <a:r>
              <a:rPr lang="en-US" altLang="zh-CN" sz="3200" b="1" i="1" dirty="0" err="1">
                <a:solidFill>
                  <a:srgbClr val="FF0000"/>
                </a:solidFill>
                <a:latin typeface="Times New Roman" panose="02020603050405020304" pitchFamily="18" charset="0"/>
              </a:rPr>
              <a:t>T</a:t>
            </a:r>
            <a:endParaRPr lang="en-US" altLang="zh-CN" sz="3200" b="1" i="1" dirty="0">
              <a:solidFill>
                <a:srgbClr val="FF0000"/>
              </a:solidFill>
              <a:latin typeface="Times New Roman" panose="02020603050405020304" pitchFamily="18" charset="0"/>
            </a:endParaRPr>
          </a:p>
        </p:txBody>
      </p:sp>
      <p:sp>
        <p:nvSpPr>
          <p:cNvPr id="22531" name="Rectangle 3"/>
          <p:cNvSpPr>
            <a:spLocks noChangeArrowheads="1"/>
          </p:cNvSpPr>
          <p:nvPr/>
        </p:nvSpPr>
        <p:spPr bwMode="auto">
          <a:xfrm>
            <a:off x="395288" y="1110457"/>
            <a:ext cx="821055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pPr>
            <a:r>
              <a:rPr lang="zh-CN" altLang="en-US" sz="3200" b="1" dirty="0">
                <a:latin typeface="黑体" panose="02010609060101010101" pitchFamily="49" charset="-122"/>
                <a:ea typeface="黑体" panose="02010609060101010101" pitchFamily="49" charset="-122"/>
              </a:rPr>
              <a:t>式中</a:t>
            </a:r>
            <a:r>
              <a:rPr lang="zh-CN" altLang="en-US" sz="3200" dirty="0">
                <a:latin typeface="Times New Roman" panose="02020603050405020304" pitchFamily="18" charset="0"/>
              </a:rPr>
              <a:t> </a:t>
            </a:r>
            <a:r>
              <a:rPr lang="en-US" altLang="zh-CN" sz="3200" i="1" dirty="0">
                <a:latin typeface="Times New Roman" panose="02020603050405020304" pitchFamily="18" charset="0"/>
              </a:rPr>
              <a:t>m</a:t>
            </a:r>
            <a:r>
              <a:rPr lang="en-US" altLang="zh-CN" sz="3200" dirty="0">
                <a:latin typeface="Times New Roman" panose="02020603050405020304" pitchFamily="18" charset="0"/>
              </a:rPr>
              <a:t> </a:t>
            </a:r>
            <a:r>
              <a:rPr lang="en-US" altLang="zh-CN" sz="3200" b="1" dirty="0">
                <a:latin typeface="Times New Roman" panose="02020603050405020304" pitchFamily="18" charset="0"/>
              </a:rPr>
              <a:t>—— </a:t>
            </a:r>
            <a:r>
              <a:rPr lang="zh-CN" altLang="en-US" sz="3200" b="1" dirty="0">
                <a:latin typeface="黑体" panose="02010609060101010101" pitchFamily="49" charset="-122"/>
                <a:ea typeface="黑体" panose="02010609060101010101" pitchFamily="49" charset="-122"/>
              </a:rPr>
              <a:t>气体的质量</a:t>
            </a:r>
            <a:r>
              <a:rPr lang="zh-CN" altLang="en-US" sz="3200" dirty="0">
                <a:latin typeface="Times New Roman" panose="02020603050405020304" pitchFamily="18" charset="0"/>
              </a:rPr>
              <a:t>，</a:t>
            </a:r>
            <a:r>
              <a:rPr lang="en-US" altLang="zh-CN" sz="3200" dirty="0">
                <a:latin typeface="Times New Roman" panose="02020603050405020304" pitchFamily="18" charset="0"/>
              </a:rPr>
              <a:t>kg</a:t>
            </a:r>
            <a:r>
              <a:rPr lang="zh-CN" altLang="en-US" sz="3200" dirty="0">
                <a:latin typeface="Times New Roman" panose="02020603050405020304" pitchFamily="18" charset="0"/>
              </a:rPr>
              <a:t>； </a:t>
            </a:r>
          </a:p>
        </p:txBody>
      </p:sp>
      <p:sp>
        <p:nvSpPr>
          <p:cNvPr id="22532" name="Rectangle 4"/>
          <p:cNvSpPr>
            <a:spLocks noChangeArrowheads="1"/>
          </p:cNvSpPr>
          <p:nvPr/>
        </p:nvSpPr>
        <p:spPr bwMode="auto">
          <a:xfrm>
            <a:off x="320675" y="1681135"/>
            <a:ext cx="83597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3200" i="1" dirty="0">
                <a:solidFill>
                  <a:schemeClr val="tx2"/>
                </a:solidFill>
                <a:latin typeface="Times New Roman" panose="02020603050405020304" pitchFamily="18" charset="0"/>
              </a:rPr>
              <a:t>         </a:t>
            </a:r>
            <a:r>
              <a:rPr lang="en-US" altLang="zh-CN" sz="3200" i="1" dirty="0" err="1">
                <a:latin typeface="Times New Roman" panose="02020603050405020304" pitchFamily="18" charset="0"/>
              </a:rPr>
              <a:t>R</a:t>
            </a:r>
            <a:r>
              <a:rPr lang="en-US" altLang="zh-CN" sz="3200" baseline="-25000" dirty="0" err="1">
                <a:latin typeface="Times New Roman" panose="02020603050405020304" pitchFamily="18" charset="0"/>
              </a:rPr>
              <a:t>g</a:t>
            </a:r>
            <a:r>
              <a:rPr lang="en-US" altLang="zh-CN" sz="3200" dirty="0">
                <a:latin typeface="Times New Roman" panose="02020603050405020304" pitchFamily="18" charset="0"/>
              </a:rPr>
              <a:t> </a:t>
            </a:r>
            <a:r>
              <a:rPr lang="en-US" altLang="zh-CN" sz="3200" b="1" dirty="0">
                <a:latin typeface="Times New Roman" panose="02020603050405020304" pitchFamily="18" charset="0"/>
              </a:rPr>
              <a:t>—— </a:t>
            </a:r>
            <a:r>
              <a:rPr lang="zh-CN" altLang="en-US" sz="3200" b="1" dirty="0">
                <a:latin typeface="黑体" panose="02010609060101010101" pitchFamily="49" charset="-122"/>
                <a:ea typeface="黑体" panose="02010609060101010101" pitchFamily="49" charset="-122"/>
              </a:rPr>
              <a:t>气体常数</a:t>
            </a:r>
            <a:r>
              <a:rPr lang="en-US" altLang="zh-CN" sz="3200" dirty="0">
                <a:latin typeface="Times New Roman" panose="02020603050405020304" pitchFamily="18" charset="0"/>
              </a:rPr>
              <a:t>J/(</a:t>
            </a:r>
            <a:r>
              <a:rPr lang="en-US" altLang="zh-CN" sz="3200" dirty="0" err="1">
                <a:latin typeface="Times New Roman" panose="02020603050405020304" pitchFamily="18" charset="0"/>
              </a:rPr>
              <a:t>kg·K</a:t>
            </a:r>
            <a:r>
              <a:rPr lang="en-US" altLang="zh-CN" sz="3200" dirty="0">
                <a:latin typeface="Times New Roman" panose="02020603050405020304" pitchFamily="18" charset="0"/>
              </a:rPr>
              <a:t>)</a:t>
            </a:r>
            <a:r>
              <a:rPr lang="zh-CN" altLang="en-US" sz="3200" dirty="0">
                <a:latin typeface="Times New Roman" panose="02020603050405020304" pitchFamily="18" charset="0"/>
              </a:rPr>
              <a:t>，</a:t>
            </a:r>
            <a:r>
              <a:rPr lang="zh-CN" altLang="en-US" sz="3200" b="1" dirty="0">
                <a:solidFill>
                  <a:srgbClr val="0000FF"/>
                </a:solidFill>
                <a:latin typeface="黑体" panose="02010609060101010101" pitchFamily="49" charset="-122"/>
                <a:ea typeface="黑体" panose="02010609060101010101" pitchFamily="49" charset="-122"/>
                <a:cs typeface="黑体" panose="02010609060101010101" pitchFamily="49" charset="-122"/>
              </a:rPr>
              <a:t>取决于气体		     的种类，但与气体的状态无关</a:t>
            </a:r>
            <a:r>
              <a:rPr lang="zh-CN" altLang="en-US" sz="3200" b="1" dirty="0">
                <a:solidFill>
                  <a:schemeClr val="hlink"/>
                </a:solidFill>
                <a:latin typeface="黑体" panose="02010609060101010101" pitchFamily="49" charset="-122"/>
                <a:ea typeface="黑体" panose="02010609060101010101" pitchFamily="49" charset="-122"/>
                <a:cs typeface="黑体" panose="02010609060101010101" pitchFamily="49" charset="-122"/>
              </a:rPr>
              <a:t> </a:t>
            </a:r>
          </a:p>
        </p:txBody>
      </p:sp>
      <p:graphicFrame>
        <p:nvGraphicFramePr>
          <p:cNvPr id="22534" name="Object 6"/>
          <p:cNvGraphicFramePr>
            <a:graphicFrameLocks noChangeAspect="1"/>
          </p:cNvGraphicFramePr>
          <p:nvPr>
            <p:extLst>
              <p:ext uri="{D42A27DB-BD31-4B8C-83A1-F6EECF244321}">
                <p14:modId xmlns:p14="http://schemas.microsoft.com/office/powerpoint/2010/main" val="4168329014"/>
              </p:ext>
            </p:extLst>
          </p:nvPr>
        </p:nvGraphicFramePr>
        <p:xfrm>
          <a:off x="3507212" y="3033236"/>
          <a:ext cx="1333500" cy="984250"/>
        </p:xfrm>
        <a:graphic>
          <a:graphicData uri="http://schemas.openxmlformats.org/presentationml/2006/ole">
            <mc:AlternateContent xmlns:mc="http://schemas.openxmlformats.org/markup-compatibility/2006">
              <mc:Choice xmlns:v="urn:schemas-microsoft-com:vml" Requires="v">
                <p:oleObj spid="_x0000_s1071" r:id="rId3" imgW="533400" imgH="393700" progId="Equation.3">
                  <p:embed/>
                </p:oleObj>
              </mc:Choice>
              <mc:Fallback>
                <p:oleObj r:id="rId3" imgW="533400" imgH="393700" progId="Equation.3">
                  <p:embed/>
                  <p:pic>
                    <p:nvPicPr>
                      <p:cNvPr id="0" name="Object 6"/>
                      <p:cNvPicPr>
                        <a:picLocks noChangeAspect="1" noChangeArrowheads="1"/>
                      </p:cNvPicPr>
                      <p:nvPr/>
                    </p:nvPicPr>
                    <p:blipFill>
                      <a:blip r:embed="rId4"/>
                      <a:srcRect t="8798"/>
                      <a:stretch>
                        <a:fillRect/>
                      </a:stretch>
                    </p:blipFill>
                    <p:spPr bwMode="auto">
                      <a:xfrm>
                        <a:off x="3507212" y="3033236"/>
                        <a:ext cx="13335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5" name="Rectangle 7"/>
          <p:cNvSpPr>
            <a:spLocks noChangeArrowheads="1"/>
          </p:cNvSpPr>
          <p:nvPr/>
        </p:nvSpPr>
        <p:spPr bwMode="auto">
          <a:xfrm>
            <a:off x="1194523" y="3920807"/>
            <a:ext cx="7292377"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3200" i="1" dirty="0">
                <a:latin typeface="Times New Roman" panose="02020603050405020304" pitchFamily="18" charset="0"/>
              </a:rPr>
              <a:t>M</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气体的摩尔质量</a:t>
            </a:r>
            <a:r>
              <a:rPr lang="zh-CN" altLang="en-US" sz="3200" dirty="0" smtClean="0">
                <a:latin typeface="Times New Roman" panose="02020603050405020304" pitchFamily="18" charset="0"/>
              </a:rPr>
              <a:t>，</a:t>
            </a:r>
            <a:r>
              <a:rPr lang="en-US" altLang="zh-CN" sz="3200" dirty="0">
                <a:latin typeface="Times New Roman" panose="02020603050405020304" pitchFamily="18" charset="0"/>
              </a:rPr>
              <a:t>kg/</a:t>
            </a:r>
            <a:r>
              <a:rPr lang="en-US" altLang="zh-CN" sz="3200" dirty="0" err="1">
                <a:latin typeface="Times New Roman" panose="02020603050405020304" pitchFamily="18" charset="0"/>
              </a:rPr>
              <a:t>mol</a:t>
            </a:r>
            <a:r>
              <a:rPr lang="en-US" altLang="zh-CN" sz="3200" dirty="0">
                <a:latin typeface="Times New Roman" panose="02020603050405020304" pitchFamily="18" charset="0"/>
              </a:rPr>
              <a:t> </a:t>
            </a:r>
          </a:p>
        </p:txBody>
      </p:sp>
      <p:sp>
        <p:nvSpPr>
          <p:cNvPr id="22536" name="Rectangle 8"/>
          <p:cNvSpPr>
            <a:spLocks noChangeArrowheads="1"/>
          </p:cNvSpPr>
          <p:nvPr/>
        </p:nvSpPr>
        <p:spPr bwMode="auto">
          <a:xfrm>
            <a:off x="468313" y="4745143"/>
            <a:ext cx="81534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教材附表</a:t>
            </a:r>
            <a:r>
              <a:rPr lang="en-US" altLang="zh-CN" sz="3200" dirty="0" smtClean="0">
                <a:latin typeface="Times New Roman" panose="02020603050405020304" pitchFamily="18" charset="0"/>
              </a:rPr>
              <a:t>4</a:t>
            </a:r>
            <a:r>
              <a:rPr lang="zh-CN" altLang="en-US" sz="3200" b="1" dirty="0">
                <a:latin typeface="黑体" panose="02010609060101010101" pitchFamily="49" charset="-122"/>
                <a:ea typeface="黑体" panose="02010609060101010101" pitchFamily="49" charset="-122"/>
              </a:rPr>
              <a:t>给出了一些常见气体的气体常数</a:t>
            </a:r>
            <a:r>
              <a:rPr lang="en-US" altLang="zh-CN" sz="3200" i="1" dirty="0" err="1">
                <a:latin typeface="Times New Roman" panose="02020603050405020304" pitchFamily="18" charset="0"/>
              </a:rPr>
              <a:t>R</a:t>
            </a:r>
            <a:r>
              <a:rPr lang="en-US" altLang="zh-CN" sz="3200" baseline="-25000" dirty="0" err="1">
                <a:latin typeface="Times New Roman" panose="02020603050405020304" pitchFamily="18" charset="0"/>
              </a:rPr>
              <a:t>g</a:t>
            </a:r>
            <a:r>
              <a:rPr lang="zh-CN" altLang="en-US" sz="3200" b="1" dirty="0">
                <a:latin typeface="黑体" panose="02010609060101010101" pitchFamily="49" charset="-122"/>
                <a:ea typeface="黑体" panose="02010609060101010101" pitchFamily="49" charset="-122"/>
              </a:rPr>
              <a:t>的值</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5"/>
          <p:cNvSpPr txBox="1">
            <a:spLocks noChangeArrowheads="1"/>
          </p:cNvSpPr>
          <p:nvPr/>
        </p:nvSpPr>
        <p:spPr bwMode="auto">
          <a:xfrm>
            <a:off x="327025" y="620713"/>
            <a:ext cx="45751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en-US" altLang="zh-CN" sz="3200" dirty="0" smtClean="0">
                <a:latin typeface="Times New Roman" panose="02020603050405020304" pitchFamily="18" charset="0"/>
              </a:rPr>
              <a:t>(3)</a:t>
            </a:r>
            <a:r>
              <a:rPr lang="en-US" altLang="zh-CN" sz="3200" dirty="0" smtClean="0">
                <a:solidFill>
                  <a:schemeClr val="tx2"/>
                </a:solidFill>
                <a:latin typeface="Times New Roman" panose="02020603050405020304" pitchFamily="18" charset="0"/>
              </a:rPr>
              <a:t> </a:t>
            </a:r>
            <a:r>
              <a:rPr lang="en-US" altLang="zh-CN" sz="3200" b="1" i="1" dirty="0" err="1">
                <a:solidFill>
                  <a:srgbClr val="FF0000"/>
                </a:solidFill>
                <a:latin typeface="Times New Roman" panose="02020603050405020304" pitchFamily="18" charset="0"/>
              </a:rPr>
              <a:t>pv</a:t>
            </a:r>
            <a:r>
              <a:rPr lang="en-US" altLang="zh-CN" sz="3200" b="1" i="1" dirty="0">
                <a:solidFill>
                  <a:srgbClr val="FF0000"/>
                </a:solidFill>
                <a:latin typeface="Times New Roman" panose="02020603050405020304" pitchFamily="18" charset="0"/>
              </a:rPr>
              <a:t> = </a:t>
            </a:r>
            <a:r>
              <a:rPr lang="en-US" altLang="zh-CN" sz="3200" b="1" i="1" dirty="0" err="1">
                <a:solidFill>
                  <a:srgbClr val="FF0000"/>
                </a:solidFill>
                <a:latin typeface="Times New Roman" panose="02020603050405020304" pitchFamily="18" charset="0"/>
              </a:rPr>
              <a:t>R</a:t>
            </a:r>
            <a:r>
              <a:rPr lang="en-US" altLang="zh-CN" sz="3200" b="1" baseline="-25000" dirty="0" err="1">
                <a:solidFill>
                  <a:srgbClr val="FF0000"/>
                </a:solidFill>
                <a:latin typeface="Times New Roman" panose="02020603050405020304" pitchFamily="18" charset="0"/>
              </a:rPr>
              <a:t>g</a:t>
            </a:r>
            <a:r>
              <a:rPr lang="en-US" altLang="zh-CN" sz="3200" b="1" i="1" dirty="0" err="1">
                <a:solidFill>
                  <a:srgbClr val="FF0000"/>
                </a:solidFill>
                <a:latin typeface="Times New Roman" panose="02020603050405020304" pitchFamily="18" charset="0"/>
              </a:rPr>
              <a:t>T</a:t>
            </a:r>
            <a:endParaRPr lang="en-US" altLang="zh-CN" sz="3200" b="1" i="1" dirty="0">
              <a:solidFill>
                <a:srgbClr val="FF0000"/>
              </a:solidFill>
              <a:latin typeface="Times New Roman" panose="02020603050405020304" pitchFamily="18" charset="0"/>
            </a:endParaRPr>
          </a:p>
        </p:txBody>
      </p:sp>
      <p:sp>
        <p:nvSpPr>
          <p:cNvPr id="23555" name="Rectangle 6"/>
          <p:cNvSpPr>
            <a:spLocks noChangeArrowheads="1"/>
          </p:cNvSpPr>
          <p:nvPr/>
        </p:nvSpPr>
        <p:spPr bwMode="auto">
          <a:xfrm>
            <a:off x="519182" y="2014538"/>
            <a:ext cx="82835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这是对</a:t>
            </a:r>
            <a:r>
              <a:rPr lang="en-US" altLang="zh-CN" sz="3200" dirty="0">
                <a:latin typeface="Times New Roman" panose="02020603050405020304" pitchFamily="18" charset="0"/>
              </a:rPr>
              <a:t>1 kg</a:t>
            </a:r>
            <a:r>
              <a:rPr lang="zh-CN" altLang="en-US" sz="3200" b="1" dirty="0">
                <a:latin typeface="黑体" panose="02010609060101010101" pitchFamily="49" charset="-122"/>
                <a:ea typeface="黑体" panose="02010609060101010101" pitchFamily="49" charset="-122"/>
              </a:rPr>
              <a:t>气体列出的状态方程，是课程中较为常用的形式 </a:t>
            </a:r>
          </a:p>
        </p:txBody>
      </p:sp>
      <p:sp>
        <p:nvSpPr>
          <p:cNvPr id="23556" name="Rectangle 7"/>
          <p:cNvSpPr>
            <a:spLocks noChangeArrowheads="1"/>
          </p:cNvSpPr>
          <p:nvPr/>
        </p:nvSpPr>
        <p:spPr bwMode="auto">
          <a:xfrm>
            <a:off x="1012030" y="1278573"/>
            <a:ext cx="6913563"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3200" i="1" dirty="0">
                <a:latin typeface="Times New Roman" panose="02020603050405020304" pitchFamily="18" charset="0"/>
              </a:rPr>
              <a:t>v</a:t>
            </a:r>
            <a:r>
              <a:rPr lang="en-US" altLang="zh-CN" sz="3200" b="1" i="1" dirty="0">
                <a:latin typeface="Times New Roman" panose="02020603050405020304" pitchFamily="18" charset="0"/>
              </a:rPr>
              <a:t>——</a:t>
            </a:r>
            <a:r>
              <a:rPr lang="zh-CN" altLang="en-US" sz="3200" b="1" dirty="0">
                <a:latin typeface="黑体" panose="02010609060101010101" pitchFamily="49" charset="-122"/>
                <a:ea typeface="黑体" panose="02010609060101010101" pitchFamily="49" charset="-122"/>
              </a:rPr>
              <a:t>气体的比体积</a:t>
            </a:r>
            <a:r>
              <a:rPr lang="zh-CN" altLang="en-US" sz="3200" dirty="0">
                <a:latin typeface="Times New Roman" panose="02020603050405020304" pitchFamily="18" charset="0"/>
              </a:rPr>
              <a:t>，</a:t>
            </a:r>
            <a:r>
              <a:rPr lang="en-US" altLang="zh-CN" sz="3200" dirty="0">
                <a:latin typeface="Times New Roman" panose="02020603050405020304" pitchFamily="18" charset="0"/>
              </a:rPr>
              <a:t>m</a:t>
            </a:r>
            <a:r>
              <a:rPr lang="en-US" altLang="zh-CN" sz="3200" baseline="30000" dirty="0">
                <a:latin typeface="Times New Roman" panose="02020603050405020304" pitchFamily="18" charset="0"/>
              </a:rPr>
              <a:t>3</a:t>
            </a:r>
            <a:r>
              <a:rPr lang="en-US" altLang="zh-CN" sz="3200" dirty="0">
                <a:latin typeface="Times New Roman" panose="02020603050405020304" pitchFamily="18" charset="0"/>
              </a:rPr>
              <a:t>/kg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27025" y="441325"/>
            <a:ext cx="6873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en-US" altLang="zh-CN" sz="3200" dirty="0" smtClean="0">
                <a:latin typeface="Times New Roman" panose="02020603050405020304" pitchFamily="18" charset="0"/>
              </a:rPr>
              <a:t>(4)</a:t>
            </a:r>
            <a:endParaRPr lang="en-US" altLang="zh-CN" sz="3200" i="1" dirty="0">
              <a:latin typeface="Times New Roman" panose="02020603050405020304" pitchFamily="18" charset="0"/>
            </a:endParaRPr>
          </a:p>
        </p:txBody>
      </p:sp>
      <p:graphicFrame>
        <p:nvGraphicFramePr>
          <p:cNvPr id="24579" name="Object 3"/>
          <p:cNvGraphicFramePr>
            <a:graphicFrameLocks noChangeAspect="1"/>
          </p:cNvGraphicFramePr>
          <p:nvPr/>
        </p:nvGraphicFramePr>
        <p:xfrm>
          <a:off x="1009650" y="298450"/>
          <a:ext cx="3201988" cy="1098550"/>
        </p:xfrm>
        <a:graphic>
          <a:graphicData uri="http://schemas.openxmlformats.org/presentationml/2006/ole">
            <mc:AlternateContent xmlns:mc="http://schemas.openxmlformats.org/markup-compatibility/2006">
              <mc:Choice xmlns:v="urn:schemas-microsoft-com:vml" Requires="v">
                <p:oleObj spid="_x0000_s2138" r:id="rId3" imgW="842645" imgH="274955" progId="Equation.DSMT4">
                  <p:embed/>
                </p:oleObj>
              </mc:Choice>
              <mc:Fallback>
                <p:oleObj r:id="rId3" imgW="842645" imgH="27495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650" y="298450"/>
                        <a:ext cx="3201988"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0" name="Rectangle 4"/>
          <p:cNvSpPr>
            <a:spLocks noChangeArrowheads="1"/>
          </p:cNvSpPr>
          <p:nvPr/>
        </p:nvSpPr>
        <p:spPr bwMode="auto">
          <a:xfrm>
            <a:off x="5056326" y="535781"/>
            <a:ext cx="2033587"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微分形式</a:t>
            </a:r>
          </a:p>
        </p:txBody>
      </p:sp>
      <p:sp>
        <p:nvSpPr>
          <p:cNvPr id="24581" name="Rectangle 5"/>
          <p:cNvSpPr>
            <a:spLocks noChangeArrowheads="1"/>
          </p:cNvSpPr>
          <p:nvPr/>
        </p:nvSpPr>
        <p:spPr bwMode="auto">
          <a:xfrm>
            <a:off x="568325" y="1635343"/>
            <a:ext cx="83597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一般用于变质量系统的分析</a:t>
            </a:r>
          </a:p>
        </p:txBody>
      </p:sp>
      <p:graphicFrame>
        <p:nvGraphicFramePr>
          <p:cNvPr id="24582" name="Object 6"/>
          <p:cNvGraphicFramePr>
            <a:graphicFrameLocks noChangeAspect="1"/>
          </p:cNvGraphicFramePr>
          <p:nvPr/>
        </p:nvGraphicFramePr>
        <p:xfrm>
          <a:off x="3200400" y="3419475"/>
          <a:ext cx="2255838" cy="1093788"/>
        </p:xfrm>
        <a:graphic>
          <a:graphicData uri="http://schemas.openxmlformats.org/presentationml/2006/ole">
            <mc:AlternateContent xmlns:mc="http://schemas.openxmlformats.org/markup-compatibility/2006">
              <mc:Choice xmlns:v="urn:schemas-microsoft-com:vml" Requires="v">
                <p:oleObj spid="_x0000_s2139" r:id="rId5" imgW="588645" imgH="274955" progId="Equation.DSMT4">
                  <p:embed/>
                </p:oleObj>
              </mc:Choice>
              <mc:Fallback>
                <p:oleObj r:id="rId5" imgW="588645" imgH="274955"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3419475"/>
                        <a:ext cx="2255838"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3" name="Text Box 7"/>
          <p:cNvSpPr txBox="1">
            <a:spLocks noChangeArrowheads="1"/>
          </p:cNvSpPr>
          <p:nvPr/>
        </p:nvSpPr>
        <p:spPr bwMode="auto">
          <a:xfrm>
            <a:off x="381000" y="2667000"/>
            <a:ext cx="4503738"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当系统质量为定值，有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666750" y="350838"/>
            <a:ext cx="7772400" cy="701675"/>
          </a:xfrm>
        </p:spPr>
        <p:txBody>
          <a:bodyPr>
            <a:spAutoFit/>
          </a:bodyPr>
          <a:lstStyle/>
          <a:p>
            <a:pPr eaLnBrk="1" hangingPunct="1"/>
            <a:r>
              <a:rPr lang="zh-CN" altLang="en-US" sz="4000" b="1" smtClean="0">
                <a:latin typeface="Times New Roman" panose="02020603050405020304" pitchFamily="18" charset="0"/>
                <a:ea typeface="黑体" panose="02010609060101010101" pitchFamily="49" charset="-122"/>
              </a:rPr>
              <a:t>小结</a:t>
            </a:r>
          </a:p>
        </p:txBody>
      </p:sp>
      <p:sp>
        <p:nvSpPr>
          <p:cNvPr id="25603" name="Rectangle 3"/>
          <p:cNvSpPr>
            <a:spLocks noChangeArrowheads="1"/>
          </p:cNvSpPr>
          <p:nvPr/>
        </p:nvSpPr>
        <p:spPr bwMode="auto">
          <a:xfrm>
            <a:off x="498475" y="1906588"/>
            <a:ext cx="9144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lang="zh-CN" altLang="en-US" sz="3200" b="1">
                <a:latin typeface="Times New Roman" panose="02020603050405020304" pitchFamily="18" charset="0"/>
                <a:ea typeface="黑体" panose="02010609060101010101" pitchFamily="49" charset="-122"/>
              </a:rPr>
              <a:t>状态方程</a:t>
            </a:r>
          </a:p>
        </p:txBody>
      </p:sp>
      <p:sp>
        <p:nvSpPr>
          <p:cNvPr id="25604" name="AutoShape 4"/>
          <p:cNvSpPr/>
          <p:nvPr/>
        </p:nvSpPr>
        <p:spPr bwMode="auto">
          <a:xfrm>
            <a:off x="1255713" y="1647825"/>
            <a:ext cx="249237" cy="2552700"/>
          </a:xfrm>
          <a:prstGeom prst="leftBrace">
            <a:avLst>
              <a:gd name="adj1" fmla="val 85256"/>
              <a:gd name="adj2" fmla="val 50000"/>
            </a:avLst>
          </a:prstGeom>
          <a:noFill/>
          <a:ln w="317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3200"/>
          </a:p>
        </p:txBody>
      </p:sp>
      <p:graphicFrame>
        <p:nvGraphicFramePr>
          <p:cNvPr id="25605" name="Object 5"/>
          <p:cNvGraphicFramePr>
            <a:graphicFrameLocks noChangeAspect="1"/>
          </p:cNvGraphicFramePr>
          <p:nvPr/>
        </p:nvGraphicFramePr>
        <p:xfrm>
          <a:off x="2022475" y="3643313"/>
          <a:ext cx="3200400" cy="1096962"/>
        </p:xfrm>
        <a:graphic>
          <a:graphicData uri="http://schemas.openxmlformats.org/presentationml/2006/ole">
            <mc:AlternateContent xmlns:mc="http://schemas.openxmlformats.org/markup-compatibility/2006">
              <mc:Choice xmlns:v="urn:schemas-microsoft-com:vml" Requires="v">
                <p:oleObj spid="_x0000_s3118" r:id="rId3" imgW="842645" imgH="274955" progId="Equation.DSMT4">
                  <p:embed/>
                </p:oleObj>
              </mc:Choice>
              <mc:Fallback>
                <p:oleObj r:id="rId3" imgW="842645" imgH="274955"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475" y="3643313"/>
                        <a:ext cx="32004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6" name="Text Box 6"/>
          <p:cNvSpPr txBox="1">
            <a:spLocks noChangeArrowheads="1"/>
          </p:cNvSpPr>
          <p:nvPr/>
        </p:nvSpPr>
        <p:spPr bwMode="auto">
          <a:xfrm>
            <a:off x="1450975" y="3052763"/>
            <a:ext cx="4160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3200">
                <a:latin typeface="Times New Roman" panose="02020603050405020304" pitchFamily="18" charset="0"/>
              </a:rPr>
              <a:t>⑶ </a:t>
            </a:r>
            <a:r>
              <a:rPr lang="en-US" altLang="zh-CN" sz="3200" i="1">
                <a:latin typeface="Times New Roman" panose="02020603050405020304" pitchFamily="18" charset="0"/>
              </a:rPr>
              <a:t>pv = R</a:t>
            </a:r>
            <a:r>
              <a:rPr lang="en-US" altLang="zh-CN" sz="3200" baseline="-25000">
                <a:latin typeface="Times New Roman" panose="02020603050405020304" pitchFamily="18" charset="0"/>
              </a:rPr>
              <a:t>g</a:t>
            </a:r>
            <a:r>
              <a:rPr lang="en-US" altLang="zh-CN" sz="3200" i="1">
                <a:latin typeface="Times New Roman" panose="02020603050405020304" pitchFamily="18" charset="0"/>
              </a:rPr>
              <a:t>T       </a:t>
            </a:r>
            <a:r>
              <a:rPr lang="en-US" altLang="zh-CN" sz="3200">
                <a:latin typeface="Times New Roman" panose="02020603050405020304" pitchFamily="18" charset="0"/>
              </a:rPr>
              <a:t>(1 kg)</a:t>
            </a:r>
          </a:p>
        </p:txBody>
      </p:sp>
      <p:sp>
        <p:nvSpPr>
          <p:cNvPr id="25607" name="Text Box 7"/>
          <p:cNvSpPr txBox="1">
            <a:spLocks noChangeArrowheads="1"/>
          </p:cNvSpPr>
          <p:nvPr/>
        </p:nvSpPr>
        <p:spPr bwMode="auto">
          <a:xfrm>
            <a:off x="1468438" y="3873500"/>
            <a:ext cx="6873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3200">
                <a:latin typeface="Times New Roman" panose="02020603050405020304" pitchFamily="18" charset="0"/>
              </a:rPr>
              <a:t>⑷</a:t>
            </a:r>
          </a:p>
        </p:txBody>
      </p:sp>
      <p:sp>
        <p:nvSpPr>
          <p:cNvPr id="25608" name="Text Box 8"/>
          <p:cNvSpPr txBox="1">
            <a:spLocks noChangeArrowheads="1"/>
          </p:cNvSpPr>
          <p:nvPr/>
        </p:nvSpPr>
        <p:spPr bwMode="auto">
          <a:xfrm>
            <a:off x="1450975" y="2232025"/>
            <a:ext cx="4160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3200">
                <a:latin typeface="Times New Roman" panose="02020603050405020304" pitchFamily="18" charset="0"/>
              </a:rPr>
              <a:t>⑵ </a:t>
            </a:r>
            <a:r>
              <a:rPr lang="en-US" altLang="zh-CN" sz="3200" i="1">
                <a:latin typeface="Times New Roman" panose="02020603050405020304" pitchFamily="18" charset="0"/>
              </a:rPr>
              <a:t>pV = mR</a:t>
            </a:r>
            <a:r>
              <a:rPr lang="en-US" altLang="zh-CN" sz="3200" baseline="-25000">
                <a:latin typeface="Times New Roman" panose="02020603050405020304" pitchFamily="18" charset="0"/>
              </a:rPr>
              <a:t>g</a:t>
            </a:r>
            <a:r>
              <a:rPr lang="en-US" altLang="zh-CN" sz="3200" i="1">
                <a:latin typeface="Times New Roman" panose="02020603050405020304" pitchFamily="18" charset="0"/>
              </a:rPr>
              <a:t>T  </a:t>
            </a:r>
            <a:r>
              <a:rPr lang="en-US" altLang="zh-CN" sz="3200">
                <a:latin typeface="Times New Roman" panose="02020603050405020304" pitchFamily="18" charset="0"/>
              </a:rPr>
              <a:t>(m kg)</a:t>
            </a:r>
          </a:p>
        </p:txBody>
      </p:sp>
      <p:sp>
        <p:nvSpPr>
          <p:cNvPr id="25609" name="Text Box 9"/>
          <p:cNvSpPr txBox="1">
            <a:spLocks noChangeArrowheads="1"/>
          </p:cNvSpPr>
          <p:nvPr/>
        </p:nvSpPr>
        <p:spPr bwMode="auto">
          <a:xfrm>
            <a:off x="1450975" y="1412875"/>
            <a:ext cx="4019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3200">
                <a:latin typeface="Times New Roman" panose="02020603050405020304" pitchFamily="18" charset="0"/>
              </a:rPr>
              <a:t>⑴ </a:t>
            </a:r>
            <a:r>
              <a:rPr lang="en-US" altLang="zh-CN" sz="3200" i="1">
                <a:latin typeface="Times New Roman" panose="02020603050405020304" pitchFamily="18" charset="0"/>
              </a:rPr>
              <a:t>pV = nRT </a:t>
            </a:r>
            <a:r>
              <a:rPr lang="en-US" altLang="zh-CN" sz="3200">
                <a:latin typeface="Times New Roman" panose="02020603050405020304" pitchFamily="18" charset="0"/>
              </a:rPr>
              <a:t>(n mol)</a:t>
            </a:r>
            <a:r>
              <a:rPr lang="en-US" altLang="zh-CN" sz="3200" i="1">
                <a:latin typeface="Times New Roman" panose="02020603050405020304" pitchFamily="18" charset="0"/>
              </a:rPr>
              <a:t> </a:t>
            </a:r>
          </a:p>
        </p:txBody>
      </p:sp>
      <p:sp>
        <p:nvSpPr>
          <p:cNvPr id="25610" name="Text Box 10"/>
          <p:cNvSpPr txBox="1">
            <a:spLocks noChangeArrowheads="1"/>
          </p:cNvSpPr>
          <p:nvPr/>
        </p:nvSpPr>
        <p:spPr bwMode="auto">
          <a:xfrm>
            <a:off x="5322888" y="3860800"/>
            <a:ext cx="37449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3200" b="1">
                <a:latin typeface="Times New Roman" panose="02020603050405020304" pitchFamily="18" charset="0"/>
                <a:ea typeface="黑体" panose="02010609060101010101" pitchFamily="49" charset="-122"/>
              </a:rPr>
              <a:t>（变质量系统）</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533400" y="457200"/>
            <a:ext cx="53673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FF0000"/>
                </a:solidFill>
                <a:ea typeface="黑体" panose="02010609060101010101" pitchFamily="49" charset="-122"/>
              </a:rPr>
              <a:t>使用状态方程时注意事项：</a:t>
            </a:r>
          </a:p>
        </p:txBody>
      </p:sp>
      <p:sp>
        <p:nvSpPr>
          <p:cNvPr id="26627" name="Text Box 3"/>
          <p:cNvSpPr txBox="1">
            <a:spLocks noChangeArrowheads="1"/>
          </p:cNvSpPr>
          <p:nvPr/>
        </p:nvSpPr>
        <p:spPr bwMode="auto">
          <a:xfrm>
            <a:off x="609600" y="1143000"/>
            <a:ext cx="36147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、绝对压力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Pa</a:t>
            </a:r>
          </a:p>
        </p:txBody>
      </p:sp>
      <p:sp>
        <p:nvSpPr>
          <p:cNvPr id="26628" name="Rectangle 4"/>
          <p:cNvSpPr>
            <a:spLocks noChangeArrowheads="1"/>
          </p:cNvSpPr>
          <p:nvPr/>
        </p:nvSpPr>
        <p:spPr bwMode="auto">
          <a:xfrm>
            <a:off x="609600" y="1828800"/>
            <a:ext cx="42243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、热力学温度 ，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K</a:t>
            </a:r>
          </a:p>
        </p:txBody>
      </p:sp>
      <p:sp>
        <p:nvSpPr>
          <p:cNvPr id="26629" name="Rectangle 5"/>
          <p:cNvSpPr>
            <a:spLocks noChangeArrowheads="1"/>
          </p:cNvSpPr>
          <p:nvPr/>
        </p:nvSpPr>
        <p:spPr bwMode="auto">
          <a:xfrm>
            <a:off x="611188" y="2514600"/>
            <a:ext cx="174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3200" b="1">
                <a:latin typeface="黑体" panose="02010609060101010101" pitchFamily="49" charset="-122"/>
                <a:ea typeface="黑体" panose="02010609060101010101" pitchFamily="49" charset="-122"/>
              </a:rPr>
              <a:t>3</a:t>
            </a:r>
            <a:r>
              <a:rPr lang="zh-CN" altLang="en-US" sz="3200" b="1">
                <a:latin typeface="黑体" panose="02010609060101010101" pitchFamily="49" charset="-122"/>
                <a:ea typeface="黑体" panose="02010609060101010101" pitchFamily="49" charset="-122"/>
              </a:rPr>
              <a:t>、区分</a:t>
            </a:r>
            <a:r>
              <a:rPr lang="en-US" altLang="zh-CN" sz="3200" b="1">
                <a:latin typeface="黑体" panose="02010609060101010101" pitchFamily="49" charset="-122"/>
                <a:ea typeface="黑体" panose="02010609060101010101" pitchFamily="49" charset="-122"/>
              </a:rPr>
              <a:t>:</a:t>
            </a:r>
          </a:p>
        </p:txBody>
      </p:sp>
      <p:sp>
        <p:nvSpPr>
          <p:cNvPr id="26630" name="Rectangle 6"/>
          <p:cNvSpPr>
            <a:spLocks noChangeArrowheads="1"/>
          </p:cNvSpPr>
          <p:nvPr/>
        </p:nvSpPr>
        <p:spPr bwMode="auto">
          <a:xfrm>
            <a:off x="701675" y="3863975"/>
            <a:ext cx="79089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气体常数</a:t>
            </a:r>
            <a:r>
              <a:rPr lang="en-US" altLang="zh-CN" sz="3200" b="1" i="1" dirty="0" err="1">
                <a:latin typeface="Times New Roman" panose="02020603050405020304" pitchFamily="18" charset="0"/>
                <a:ea typeface="黑体" panose="02010609060101010101" pitchFamily="49" charset="-122"/>
                <a:cs typeface="Times New Roman" panose="02020603050405020304" pitchFamily="18" charset="0"/>
              </a:rPr>
              <a:t>R</a:t>
            </a:r>
            <a:r>
              <a:rPr lang="en-US" altLang="zh-CN" sz="3200" b="1" baseline="-25000" dirty="0" err="1">
                <a:latin typeface="Times New Roman" panose="02020603050405020304" pitchFamily="18" charset="0"/>
                <a:ea typeface="黑体" panose="02010609060101010101" pitchFamily="49" charset="-122"/>
                <a:cs typeface="Times New Roman" panose="02020603050405020304" pitchFamily="18" charset="0"/>
              </a:rPr>
              <a:t>g</a:t>
            </a:r>
            <a:r>
              <a:rPr lang="zh-CN" altLang="en-US" sz="3200" b="1" dirty="0">
                <a:latin typeface="黑体" panose="02010609060101010101" pitchFamily="49" charset="-122"/>
                <a:ea typeface="黑体" panose="02010609060101010101" pitchFamily="49" charset="-122"/>
              </a:rPr>
              <a:t>与摩尔气体常数</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R</a:t>
            </a:r>
            <a:r>
              <a:rPr lang="en-US" altLang="zh-CN" sz="3200" b="1" dirty="0">
                <a:latin typeface="Times New Roman" panose="02020603050405020304" pitchFamily="18" charset="0"/>
                <a:ea typeface="黑体" panose="02010609060101010101" pitchFamily="49" charset="-122"/>
              </a:rPr>
              <a:t>——</a:t>
            </a:r>
            <a:endParaRPr lang="en-US" altLang="zh-CN" sz="3200" b="1" dirty="0">
              <a:latin typeface="黑体" panose="02010609060101010101" pitchFamily="49" charset="-122"/>
              <a:ea typeface="黑体" panose="02010609060101010101" pitchFamily="49" charset="-122"/>
            </a:endParaRPr>
          </a:p>
          <a:p>
            <a:pPr algn="just"/>
            <a:r>
              <a:rPr lang="en-US" altLang="zh-CN" sz="3200" b="1" dirty="0">
                <a:latin typeface="黑体" panose="02010609060101010101" pitchFamily="49" charset="-122"/>
                <a:ea typeface="黑体" panose="02010609060101010101" pitchFamily="49" charset="-122"/>
              </a:rPr>
              <a:t>   </a:t>
            </a:r>
            <a:r>
              <a:rPr lang="zh-CN" altLang="en-US" sz="3200" b="1" dirty="0" smtClean="0">
                <a:latin typeface="黑体" panose="02010609060101010101" pitchFamily="49" charset="-122"/>
                <a:ea typeface="黑体" panose="02010609060101010101" pitchFamily="49" charset="-122"/>
              </a:rPr>
              <a:t>单位分别为</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J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err="1">
                <a:latin typeface="Times New Roman" panose="02020603050405020304" pitchFamily="18" charset="0"/>
                <a:ea typeface="黑体" panose="02010609060101010101" pitchFamily="49" charset="-122"/>
                <a:cs typeface="Times New Roman" panose="02020603050405020304" pitchFamily="18" charset="0"/>
              </a:rPr>
              <a:t>kg</a:t>
            </a:r>
            <a:r>
              <a:rPr lang="en-US" altLang="zh-CN" sz="3200" b="1"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b="1" dirty="0" err="1"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K</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J</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err="1">
                <a:latin typeface="Times New Roman" panose="02020603050405020304" pitchFamily="18" charset="0"/>
                <a:ea typeface="黑体" panose="02010609060101010101" pitchFamily="49" charset="-122"/>
                <a:cs typeface="Times New Roman" panose="02020603050405020304" pitchFamily="18" charset="0"/>
              </a:rPr>
              <a:t>mol</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K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26631" name="Rectangle 7"/>
          <p:cNvSpPr>
            <a:spLocks noChangeArrowheads="1"/>
          </p:cNvSpPr>
          <p:nvPr/>
        </p:nvSpPr>
        <p:spPr bwMode="auto">
          <a:xfrm>
            <a:off x="795338" y="3228975"/>
            <a:ext cx="7248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比体积</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v</a:t>
            </a:r>
            <a:r>
              <a:rPr lang="zh-CN" altLang="en-US" sz="3200" b="1" dirty="0">
                <a:latin typeface="黑体" panose="02010609060101010101" pitchFamily="49" charset="-122"/>
                <a:ea typeface="黑体" panose="02010609060101010101" pitchFamily="49" charset="-122"/>
              </a:rPr>
              <a:t>与体积</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3200" b="1" i="1" dirty="0">
                <a:latin typeface="黑体" panose="02010609060101010101" pitchFamily="49" charset="-122"/>
                <a:ea typeface="黑体" panose="02010609060101010101" pitchFamily="49" charset="-122"/>
              </a:rPr>
              <a:t> </a:t>
            </a:r>
            <a:r>
              <a:rPr lang="en-US" altLang="zh-CN" sz="3200" b="1" i="1" dirty="0">
                <a:latin typeface="Times New Roman" panose="02020603050405020304" pitchFamily="18" charset="0"/>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sz="3200" b="1" baseline="30000" dirty="0">
                <a:latin typeface="Times New Roman" panose="02020603050405020304" pitchFamily="18" charset="0"/>
                <a:ea typeface="黑体" panose="02010609060101010101" pitchFamily="49" charset="-122"/>
                <a:cs typeface="Times New Roman" panose="02020603050405020304" pitchFamily="18" charset="0"/>
              </a:rPr>
              <a:t>3</a:t>
            </a:r>
            <a:r>
              <a:rPr lang="en-US" altLang="zh-CN" sz="3200" b="1" dirty="0">
                <a:latin typeface="黑体" panose="02010609060101010101" pitchFamily="49" charset="-122"/>
                <a:ea typeface="黑体" panose="02010609060101010101" pitchFamily="49" charset="-122"/>
              </a:rPr>
              <a:t>/</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kg</a:t>
            </a:r>
            <a:r>
              <a:rPr lang="en-US" altLang="zh-CN" sz="3200" b="1" dirty="0">
                <a:latin typeface="黑体" panose="02010609060101010101" pitchFamily="49" charset="-122"/>
                <a:ea typeface="黑体" panose="02010609060101010101" pitchFamily="49" charset="-122"/>
              </a:rPr>
              <a:t>,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sz="3200" b="1" baseline="30000" dirty="0">
                <a:latin typeface="Times New Roman" panose="02020603050405020304" pitchFamily="18" charset="0"/>
                <a:ea typeface="黑体" panose="02010609060101010101" pitchFamily="49" charset="-122"/>
                <a:cs typeface="Times New Roman" panose="02020603050405020304" pitchFamily="18" charset="0"/>
              </a:rPr>
              <a:t>3</a:t>
            </a:r>
          </a:p>
        </p:txBody>
      </p:sp>
      <p:sp>
        <p:nvSpPr>
          <p:cNvPr id="26632" name="Rectangle 8"/>
          <p:cNvSpPr>
            <a:spLocks noChangeArrowheads="1"/>
          </p:cNvSpPr>
          <p:nvPr/>
        </p:nvSpPr>
        <p:spPr bwMode="auto">
          <a:xfrm>
            <a:off x="576263" y="5029200"/>
            <a:ext cx="8567737"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dirty="0">
                <a:latin typeface="黑体" panose="02010609060101010101" pitchFamily="49" charset="-122"/>
                <a:ea typeface="黑体" panose="02010609060101010101" pitchFamily="49" charset="-122"/>
              </a:rPr>
              <a:t>气体常数</a:t>
            </a:r>
            <a:r>
              <a:rPr lang="en-US" altLang="zh-CN" sz="3200" b="1" i="1" dirty="0" err="1">
                <a:latin typeface="Times New Roman" panose="02020603050405020304" pitchFamily="18" charset="0"/>
                <a:ea typeface="黑体" panose="02010609060101010101" pitchFamily="49" charset="-122"/>
                <a:cs typeface="Times New Roman" panose="02020603050405020304" pitchFamily="18" charset="0"/>
              </a:rPr>
              <a:t>R</a:t>
            </a:r>
            <a:r>
              <a:rPr lang="en-US" altLang="zh-CN" sz="3200" b="1" baseline="-25000" dirty="0" err="1">
                <a:latin typeface="Times New Roman" panose="02020603050405020304" pitchFamily="18" charset="0"/>
                <a:ea typeface="黑体" panose="02010609060101010101" pitchFamily="49" charset="-122"/>
                <a:cs typeface="Times New Roman" panose="02020603050405020304" pitchFamily="18" charset="0"/>
              </a:rPr>
              <a:t>g</a:t>
            </a:r>
            <a:r>
              <a:rPr lang="zh-CN" altLang="en-US" sz="3200" b="1" dirty="0">
                <a:latin typeface="黑体" panose="02010609060101010101" pitchFamily="49" charset="-122"/>
                <a:ea typeface="黑体" panose="02010609060101010101" pitchFamily="49" charset="-122"/>
              </a:rPr>
              <a:t>与气体种类有关，与状态无关；</a:t>
            </a:r>
          </a:p>
          <a:p>
            <a:pPr algn="just" eaLnBrk="1" hangingPunct="1"/>
            <a:r>
              <a:rPr lang="zh-CN" altLang="en-US" sz="3200" b="1" dirty="0">
                <a:latin typeface="黑体" panose="02010609060101010101" pitchFamily="49" charset="-122"/>
                <a:ea typeface="黑体" panose="02010609060101010101" pitchFamily="49" charset="-122"/>
              </a:rPr>
              <a:t>摩尔气体常数</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R</a:t>
            </a:r>
            <a:r>
              <a:rPr lang="zh-CN" altLang="en-US" sz="3200" b="1" dirty="0">
                <a:latin typeface="黑体" panose="02010609060101010101" pitchFamily="49" charset="-122"/>
                <a:ea typeface="黑体" panose="02010609060101010101" pitchFamily="49" charset="-122"/>
              </a:rPr>
              <a:t>为恒量</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8.3145  J/(</a:t>
            </a:r>
            <a:r>
              <a:rPr lang="en-US" altLang="zh-CN" sz="3200" b="1" dirty="0" err="1">
                <a:latin typeface="Times New Roman" panose="02020603050405020304" pitchFamily="18" charset="0"/>
                <a:ea typeface="黑体" panose="02010609060101010101" pitchFamily="49" charset="-122"/>
                <a:cs typeface="Times New Roman" panose="02020603050405020304" pitchFamily="18" charset="0"/>
              </a:rPr>
              <a:t>mol</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K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框 9217"/>
          <p:cNvSpPr txBox="1">
            <a:spLocks noChangeArrowheads="1"/>
          </p:cNvSpPr>
          <p:nvPr/>
        </p:nvSpPr>
        <p:spPr bwMode="auto">
          <a:xfrm>
            <a:off x="1763713" y="620713"/>
            <a:ext cx="5040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Times New Roman" panose="02020603050405020304" pitchFamily="18" charset="0"/>
                <a:ea typeface="黑体" panose="02010609060101010101" pitchFamily="49" charset="-122"/>
              </a:rPr>
              <a:t>教室中有多重的空气？</a:t>
            </a:r>
          </a:p>
        </p:txBody>
      </p:sp>
      <p:pic>
        <p:nvPicPr>
          <p:cNvPr id="27651" name="图片 9218" descr="thinking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04800"/>
            <a:ext cx="143192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图片 9219" descr="2009_5_13_11_10_377_%E5%8D%A1%E9%80%9A%E8%AE%A1%E7%AE%97%E5%99%A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3141663"/>
            <a:ext cx="2808287"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图片 9221" descr="imag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2971800"/>
            <a:ext cx="1522413"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图片 9222" descr="metric thermomet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3352800"/>
            <a:ext cx="11620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图片 9223" descr="11111111111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3213100"/>
            <a:ext cx="1311275"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blinds(horizontal)">
                                      <p:cBhvr>
                                        <p:cTn id="7" dur="500"/>
                                        <p:tgtEl>
                                          <p:spTgt spid="9224"/>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9222"/>
                                        </p:tgtEl>
                                        <p:attrNameLst>
                                          <p:attrName>style.visibility</p:attrName>
                                        </p:attrNameLst>
                                      </p:cBhvr>
                                      <p:to>
                                        <p:strVal val="visible"/>
                                      </p:to>
                                    </p:set>
                                    <p:anim calcmode="lin" valueType="num">
                                      <p:cBhvr>
                                        <p:cTn id="12" dur="500" decel="50000" fill="hold">
                                          <p:stCondLst>
                                            <p:cond delay="0"/>
                                          </p:stCondLst>
                                        </p:cTn>
                                        <p:tgtEl>
                                          <p:spTgt spid="922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922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9222"/>
                                        </p:tgtEl>
                                        <p:attrNameLst>
                                          <p:attrName>ppt_w</p:attrName>
                                        </p:attrNameLst>
                                      </p:cBhvr>
                                      <p:tavLst>
                                        <p:tav tm="0">
                                          <p:val>
                                            <p:strVal val="#ppt_w*.05"/>
                                          </p:val>
                                        </p:tav>
                                        <p:tav tm="100000">
                                          <p:val>
                                            <p:strVal val="#ppt_w"/>
                                          </p:val>
                                        </p:tav>
                                      </p:tavLst>
                                    </p:anim>
                                    <p:anim calcmode="lin" valueType="num">
                                      <p:cBhvr>
                                        <p:cTn id="15" dur="1000" fill="hold"/>
                                        <p:tgtEl>
                                          <p:spTgt spid="922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922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922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922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922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223"/>
                                        </p:tgtEl>
                                        <p:attrNameLst>
                                          <p:attrName>style.visibility</p:attrName>
                                        </p:attrNameLst>
                                      </p:cBhvr>
                                      <p:to>
                                        <p:strVal val="visible"/>
                                      </p:to>
                                    </p:set>
                                    <p:animEffect transition="in" filter="blinds(horizontal)">
                                      <p:cBhvr>
                                        <p:cTn id="24" dur="500"/>
                                        <p:tgtEl>
                                          <p:spTgt spid="9223"/>
                                        </p:tgtEl>
                                      </p:cBhvr>
                                    </p:animEffect>
                                  </p:childTnLst>
                                </p:cTn>
                              </p:par>
                            </p:childTnLst>
                          </p:cTn>
                        </p:par>
                      </p:childTnLst>
                    </p:cTn>
                  </p:par>
                  <p:par>
                    <p:cTn id="25" fill="hold">
                      <p:stCondLst>
                        <p:cond delay="indefinite"/>
                      </p:stCondLst>
                      <p:childTnLst>
                        <p:par>
                          <p:cTn id="26" fill="hold">
                            <p:stCondLst>
                              <p:cond delay="0"/>
                            </p:stCondLst>
                            <p:childTnLst>
                              <p:par>
                                <p:cTn id="27" presetID="25" presetClass="entr" presetSubtype="0" fill="hold" nodeType="clickEffect">
                                  <p:stCondLst>
                                    <p:cond delay="0"/>
                                  </p:stCondLst>
                                  <p:childTnLst>
                                    <p:set>
                                      <p:cBhvr>
                                        <p:cTn id="28" dur="1" fill="hold">
                                          <p:stCondLst>
                                            <p:cond delay="0"/>
                                          </p:stCondLst>
                                        </p:cTn>
                                        <p:tgtEl>
                                          <p:spTgt spid="9220"/>
                                        </p:tgtEl>
                                        <p:attrNameLst>
                                          <p:attrName>style.visibility</p:attrName>
                                        </p:attrNameLst>
                                      </p:cBhvr>
                                      <p:to>
                                        <p:strVal val="visible"/>
                                      </p:to>
                                    </p:set>
                                    <p:anim calcmode="lin" valueType="num">
                                      <p:cBhvr>
                                        <p:cTn id="29" dur="500" decel="50000" fill="hold">
                                          <p:stCondLst>
                                            <p:cond delay="0"/>
                                          </p:stCondLst>
                                        </p:cTn>
                                        <p:tgtEl>
                                          <p:spTgt spid="9220"/>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9220"/>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9220"/>
                                        </p:tgtEl>
                                        <p:attrNameLst>
                                          <p:attrName>ppt_w</p:attrName>
                                        </p:attrNameLst>
                                      </p:cBhvr>
                                      <p:tavLst>
                                        <p:tav tm="0">
                                          <p:val>
                                            <p:strVal val="#ppt_w*.05"/>
                                          </p:val>
                                        </p:tav>
                                        <p:tav tm="100000">
                                          <p:val>
                                            <p:strVal val="#ppt_w"/>
                                          </p:val>
                                        </p:tav>
                                      </p:tavLst>
                                    </p:anim>
                                    <p:anim calcmode="lin" valueType="num">
                                      <p:cBhvr>
                                        <p:cTn id="32" dur="1000" fill="hold"/>
                                        <p:tgtEl>
                                          <p:spTgt spid="9220"/>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9220"/>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9220"/>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9220"/>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539750" y="476250"/>
            <a:ext cx="820896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spcBef>
                <a:spcPct val="50000"/>
              </a:spcBef>
              <a:buFontTx/>
              <a:buNone/>
            </a:pPr>
            <a:r>
              <a:rPr lang="zh-CN" altLang="en-US" b="1" dirty="0" smtClean="0">
                <a:latin typeface="Times New Roman" panose="02020603050405020304" pitchFamily="18" charset="0"/>
                <a:ea typeface="黑体" panose="02010609060101010101" pitchFamily="49" charset="-122"/>
              </a:rPr>
              <a:t>例</a:t>
            </a:r>
            <a:r>
              <a:rPr lang="en-US" altLang="zh-CN" b="1" dirty="0" smtClean="0">
                <a:latin typeface="Times New Roman" panose="02020603050405020304" pitchFamily="18" charset="0"/>
                <a:ea typeface="黑体" panose="02010609060101010101" pitchFamily="49" charset="-122"/>
              </a:rPr>
              <a:t>4-1</a:t>
            </a:r>
            <a:r>
              <a:rPr lang="zh-CN" altLang="en-US" b="1" dirty="0" smtClean="0">
                <a:latin typeface="Times New Roman" panose="02020603050405020304" pitchFamily="18" charset="0"/>
                <a:ea typeface="黑体" panose="02010609060101010101" pitchFamily="49" charset="-122"/>
              </a:rPr>
              <a:t>：一钢瓶的容积为</a:t>
            </a:r>
            <a:r>
              <a:rPr lang="en-US" altLang="zh-CN" b="1" dirty="0" smtClean="0">
                <a:latin typeface="Times New Roman" panose="02020603050405020304" pitchFamily="18" charset="0"/>
                <a:ea typeface="黑体" panose="02010609060101010101" pitchFamily="49" charset="-122"/>
              </a:rPr>
              <a:t>0.03 m</a:t>
            </a:r>
            <a:r>
              <a:rPr lang="en-US" altLang="zh-CN" b="1" baseline="30000" dirty="0" smtClean="0">
                <a:latin typeface="Times New Roman" panose="02020603050405020304" pitchFamily="18" charset="0"/>
                <a:ea typeface="黑体" panose="02010609060101010101" pitchFamily="49" charset="-122"/>
              </a:rPr>
              <a:t>3</a:t>
            </a:r>
            <a:r>
              <a:rPr lang="zh-CN" altLang="en-US" b="1" dirty="0" smtClean="0">
                <a:latin typeface="Times New Roman" panose="02020603050405020304" pitchFamily="18" charset="0"/>
                <a:ea typeface="黑体" panose="02010609060101010101" pitchFamily="49" charset="-122"/>
              </a:rPr>
              <a:t>，其内装有压力为</a:t>
            </a:r>
            <a:r>
              <a:rPr lang="en-US" altLang="zh-CN" b="1" dirty="0" smtClean="0">
                <a:latin typeface="Times New Roman" panose="02020603050405020304" pitchFamily="18" charset="0"/>
                <a:ea typeface="黑体" panose="02010609060101010101" pitchFamily="49" charset="-122"/>
              </a:rPr>
              <a:t>0.7MPa</a:t>
            </a:r>
            <a:r>
              <a:rPr lang="zh-CN" altLang="en-US" b="1" dirty="0" smtClean="0">
                <a:latin typeface="Times New Roman" panose="02020603050405020304" pitchFamily="18" charset="0"/>
                <a:ea typeface="黑体" panose="02010609060101010101" pitchFamily="49" charset="-122"/>
              </a:rPr>
              <a:t>、温度为</a:t>
            </a:r>
            <a:r>
              <a:rPr lang="en-US" altLang="zh-CN" b="1" dirty="0" smtClean="0">
                <a:latin typeface="Times New Roman" panose="02020603050405020304" pitchFamily="18" charset="0"/>
                <a:ea typeface="黑体" panose="02010609060101010101" pitchFamily="49" charset="-122"/>
              </a:rPr>
              <a:t>20℃</a:t>
            </a:r>
            <a:r>
              <a:rPr lang="zh-CN" altLang="en-US" b="1" dirty="0" smtClean="0">
                <a:latin typeface="Times New Roman" panose="02020603050405020304" pitchFamily="18" charset="0"/>
                <a:ea typeface="黑体" panose="02010609060101010101" pitchFamily="49" charset="-122"/>
              </a:rPr>
              <a:t>的氧气。现由于使用，压力降至</a:t>
            </a:r>
            <a:r>
              <a:rPr lang="en-US" altLang="zh-CN" b="1" dirty="0" smtClean="0">
                <a:latin typeface="Times New Roman" panose="02020603050405020304" pitchFamily="18" charset="0"/>
                <a:ea typeface="黑体" panose="02010609060101010101" pitchFamily="49" charset="-122"/>
              </a:rPr>
              <a:t>0.28 MPa</a:t>
            </a:r>
            <a:r>
              <a:rPr lang="zh-CN" altLang="en-US" b="1" dirty="0" smtClean="0">
                <a:latin typeface="Times New Roman" panose="02020603050405020304" pitchFamily="18" charset="0"/>
                <a:ea typeface="黑体" panose="02010609060101010101" pitchFamily="49" charset="-122"/>
              </a:rPr>
              <a:t>，而温度未变。问钢瓶内的氧气被用去了多少？ </a:t>
            </a:r>
          </a:p>
        </p:txBody>
      </p:sp>
      <p:sp>
        <p:nvSpPr>
          <p:cNvPr id="9" name="Text Box 3"/>
          <p:cNvSpPr txBox="1">
            <a:spLocks noChangeArrowheads="1"/>
          </p:cNvSpPr>
          <p:nvPr/>
        </p:nvSpPr>
        <p:spPr bwMode="auto">
          <a:xfrm>
            <a:off x="539750" y="2565400"/>
            <a:ext cx="8370888"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fontAlgn="base">
              <a:spcBef>
                <a:spcPct val="50000"/>
              </a:spcBef>
              <a:spcAft>
                <a:spcPct val="0"/>
              </a:spcAft>
            </a:pPr>
            <a:r>
              <a:rPr lang="zh-CN" altLang="en-US" sz="3200" smtClean="0">
                <a:solidFill>
                  <a:srgbClr val="000000"/>
                </a:solidFill>
                <a:latin typeface="Arial" panose="020B0604020202020204" pitchFamily="34" charset="0"/>
                <a:ea typeface="宋体" panose="02010600030101010101" pitchFamily="2" charset="-122"/>
              </a:rPr>
              <a:t>解：根据题意，钢瓶中氧气使用前后的压力、温度和体积都已知，故可以运用理想气体状态方程式求得所使用的氧气质量。 </a:t>
            </a:r>
          </a:p>
        </p:txBody>
      </p:sp>
      <p:sp>
        <p:nvSpPr>
          <p:cNvPr id="10" name="Text Box 4"/>
          <p:cNvSpPr txBox="1">
            <a:spLocks noChangeArrowheads="1"/>
          </p:cNvSpPr>
          <p:nvPr/>
        </p:nvSpPr>
        <p:spPr bwMode="auto">
          <a:xfrm>
            <a:off x="611188" y="4149725"/>
            <a:ext cx="63373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fontAlgn="base">
              <a:spcBef>
                <a:spcPct val="50000"/>
              </a:spcBef>
              <a:spcAft>
                <a:spcPct val="0"/>
              </a:spcAft>
            </a:pPr>
            <a:r>
              <a:rPr lang="zh-CN" altLang="en-US" sz="3200" dirty="0" smtClean="0">
                <a:solidFill>
                  <a:srgbClr val="000000"/>
                </a:solidFill>
                <a:latin typeface="Arial" panose="020B0604020202020204" pitchFamily="34" charset="0"/>
                <a:ea typeface="宋体" panose="02010600030101010101" pitchFamily="2" charset="-122"/>
              </a:rPr>
              <a:t>氧气处于初态</a:t>
            </a:r>
            <a:r>
              <a:rPr lang="en-US" altLang="zh-CN" sz="32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3200" dirty="0" smtClean="0">
                <a:solidFill>
                  <a:srgbClr val="000000"/>
                </a:solidFill>
                <a:latin typeface="Arial" panose="020B0604020202020204" pitchFamily="34" charset="0"/>
                <a:ea typeface="宋体" panose="02010600030101010101" pitchFamily="2" charset="-122"/>
              </a:rPr>
              <a:t>时的状态方程为： </a:t>
            </a:r>
          </a:p>
        </p:txBody>
      </p:sp>
      <p:graphicFrame>
        <p:nvGraphicFramePr>
          <p:cNvPr id="11" name="Object 5"/>
          <p:cNvGraphicFramePr>
            <a:graphicFrameLocks noChangeAspect="1"/>
          </p:cNvGraphicFramePr>
          <p:nvPr/>
        </p:nvGraphicFramePr>
        <p:xfrm>
          <a:off x="3419475" y="4797425"/>
          <a:ext cx="2057400" cy="601663"/>
        </p:xfrm>
        <a:graphic>
          <a:graphicData uri="http://schemas.openxmlformats.org/presentationml/2006/ole">
            <mc:AlternateContent xmlns:mc="http://schemas.openxmlformats.org/markup-compatibility/2006">
              <mc:Choice xmlns:v="urn:schemas-microsoft-com:vml" Requires="v">
                <p:oleObj spid="_x0000_s51288" r:id="rId4" imgW="850265" imgH="241300" progId="Equation.3">
                  <p:embed/>
                </p:oleObj>
              </mc:Choice>
              <mc:Fallback>
                <p:oleObj r:id="rId4" imgW="850265" imgH="241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4797425"/>
                        <a:ext cx="205740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Text Box 6"/>
          <p:cNvSpPr txBox="1">
            <a:spLocks noChangeArrowheads="1"/>
          </p:cNvSpPr>
          <p:nvPr/>
        </p:nvSpPr>
        <p:spPr bwMode="auto">
          <a:xfrm>
            <a:off x="611188" y="5445125"/>
            <a:ext cx="51863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fontAlgn="base">
              <a:spcBef>
                <a:spcPct val="50000"/>
              </a:spcBef>
              <a:spcAft>
                <a:spcPct val="0"/>
              </a:spcAft>
            </a:pPr>
            <a:r>
              <a:rPr lang="zh-CN" altLang="en-US" sz="3200" smtClean="0">
                <a:solidFill>
                  <a:srgbClr val="000000"/>
                </a:solidFill>
                <a:latin typeface="Arial" panose="020B0604020202020204" pitchFamily="34" charset="0"/>
                <a:ea typeface="宋体" panose="02010600030101010101" pitchFamily="2" charset="-122"/>
              </a:rPr>
              <a:t>故初态</a:t>
            </a:r>
            <a:r>
              <a:rPr lang="en-US" altLang="zh-CN" sz="3200" smtClean="0">
                <a:solidFill>
                  <a:srgbClr val="000000"/>
                </a:solidFill>
                <a:latin typeface="Arial" panose="020B0604020202020204" pitchFamily="34" charset="0"/>
                <a:ea typeface="宋体" panose="02010600030101010101" pitchFamily="2" charset="-122"/>
              </a:rPr>
              <a:t>1</a:t>
            </a:r>
            <a:r>
              <a:rPr lang="zh-CN" altLang="en-US" sz="3200" smtClean="0">
                <a:solidFill>
                  <a:srgbClr val="000000"/>
                </a:solidFill>
                <a:latin typeface="Arial" panose="020B0604020202020204" pitchFamily="34" charset="0"/>
                <a:ea typeface="宋体" panose="02010600030101010101" pitchFamily="2" charset="-122"/>
              </a:rPr>
              <a:t>时的氧气质量为： </a:t>
            </a:r>
          </a:p>
        </p:txBody>
      </p:sp>
      <p:graphicFrame>
        <p:nvGraphicFramePr>
          <p:cNvPr id="13" name="Object 7"/>
          <p:cNvGraphicFramePr>
            <a:graphicFrameLocks noChangeAspect="1"/>
          </p:cNvGraphicFramePr>
          <p:nvPr/>
        </p:nvGraphicFramePr>
        <p:xfrm>
          <a:off x="5724525" y="5300663"/>
          <a:ext cx="1447800" cy="1000125"/>
        </p:xfrm>
        <a:graphic>
          <a:graphicData uri="http://schemas.openxmlformats.org/presentationml/2006/ole">
            <mc:AlternateContent xmlns:mc="http://schemas.openxmlformats.org/markup-compatibility/2006">
              <mc:Choice xmlns:v="urn:schemas-microsoft-com:vml" Requires="v">
                <p:oleObj spid="_x0000_s51289" r:id="rId6" imgW="647700" imgH="444500" progId="Equation.3">
                  <p:embed/>
                </p:oleObj>
              </mc:Choice>
              <mc:Fallback>
                <p:oleObj r:id="rId6" imgW="647700" imgH="4445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4525" y="5300663"/>
                        <a:ext cx="14478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out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Text Box 2"/>
          <p:cNvSpPr txBox="1">
            <a:spLocks noChangeArrowheads="1"/>
          </p:cNvSpPr>
          <p:nvPr/>
        </p:nvSpPr>
        <p:spPr bwMode="auto">
          <a:xfrm>
            <a:off x="539750" y="549275"/>
            <a:ext cx="7999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t>氧气处于终态</a:t>
            </a:r>
            <a:r>
              <a:rPr lang="en-US" altLang="zh-CN" sz="3200" dirty="0">
                <a:latin typeface="Times New Roman" panose="02020603050405020304" pitchFamily="18" charset="0"/>
                <a:cs typeface="Times New Roman" panose="02020603050405020304" pitchFamily="18" charset="0"/>
              </a:rPr>
              <a:t>2</a:t>
            </a:r>
            <a:r>
              <a:rPr lang="zh-CN" altLang="en-US" sz="3200" dirty="0"/>
              <a:t>时的状态方程为： </a:t>
            </a:r>
          </a:p>
        </p:txBody>
      </p:sp>
      <p:graphicFrame>
        <p:nvGraphicFramePr>
          <p:cNvPr id="82949" name="Object 3"/>
          <p:cNvGraphicFramePr>
            <a:graphicFrameLocks noChangeAspect="1"/>
          </p:cNvGraphicFramePr>
          <p:nvPr/>
        </p:nvGraphicFramePr>
        <p:xfrm>
          <a:off x="3059113" y="1341438"/>
          <a:ext cx="2438400" cy="688975"/>
        </p:xfrm>
        <a:graphic>
          <a:graphicData uri="http://schemas.openxmlformats.org/presentationml/2006/ole">
            <mc:AlternateContent xmlns:mc="http://schemas.openxmlformats.org/markup-compatibility/2006">
              <mc:Choice xmlns:v="urn:schemas-microsoft-com:vml" Requires="v">
                <p:oleObj spid="_x0000_s5252" r:id="rId4" imgW="876300" imgH="241300" progId="Equation.3">
                  <p:embed/>
                </p:oleObj>
              </mc:Choice>
              <mc:Fallback>
                <p:oleObj r:id="rId4" imgW="876300" imgH="241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1341438"/>
                        <a:ext cx="24384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7348" name="Text Box 4"/>
          <p:cNvSpPr txBox="1">
            <a:spLocks noChangeArrowheads="1"/>
          </p:cNvSpPr>
          <p:nvPr/>
        </p:nvSpPr>
        <p:spPr bwMode="auto">
          <a:xfrm>
            <a:off x="611188" y="1989138"/>
            <a:ext cx="6770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t>故终态</a:t>
            </a:r>
            <a:r>
              <a:rPr lang="en-US" altLang="zh-CN" sz="3200" dirty="0">
                <a:latin typeface="Times New Roman" panose="02020603050405020304" pitchFamily="18" charset="0"/>
                <a:cs typeface="Times New Roman" panose="02020603050405020304" pitchFamily="18" charset="0"/>
              </a:rPr>
              <a:t>2</a:t>
            </a:r>
            <a:r>
              <a:rPr lang="zh-CN" altLang="en-US" sz="3200" dirty="0"/>
              <a:t>时的氧气质量为： </a:t>
            </a:r>
          </a:p>
        </p:txBody>
      </p:sp>
      <p:graphicFrame>
        <p:nvGraphicFramePr>
          <p:cNvPr id="82951" name="Object 5"/>
          <p:cNvGraphicFramePr>
            <a:graphicFrameLocks noChangeAspect="1"/>
          </p:cNvGraphicFramePr>
          <p:nvPr/>
        </p:nvGraphicFramePr>
        <p:xfrm>
          <a:off x="3203575" y="2492375"/>
          <a:ext cx="1524000" cy="1023938"/>
        </p:xfrm>
        <a:graphic>
          <a:graphicData uri="http://schemas.openxmlformats.org/presentationml/2006/ole">
            <mc:AlternateContent xmlns:mc="http://schemas.openxmlformats.org/markup-compatibility/2006">
              <mc:Choice xmlns:v="urn:schemas-microsoft-com:vml" Requires="v">
                <p:oleObj spid="_x0000_s5253" r:id="rId6" imgW="660400" imgH="444500" progId="Equation.3">
                  <p:embed/>
                </p:oleObj>
              </mc:Choice>
              <mc:Fallback>
                <p:oleObj r:id="rId6" imgW="660400" imgH="4445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575" y="2492375"/>
                        <a:ext cx="15240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7350" name="Text Box 6"/>
          <p:cNvSpPr txBox="1">
            <a:spLocks noChangeArrowheads="1"/>
          </p:cNvSpPr>
          <p:nvPr/>
        </p:nvSpPr>
        <p:spPr bwMode="auto">
          <a:xfrm>
            <a:off x="611188" y="3357563"/>
            <a:ext cx="57610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t>被用去的氧气质量为： </a:t>
            </a:r>
          </a:p>
        </p:txBody>
      </p:sp>
      <p:graphicFrame>
        <p:nvGraphicFramePr>
          <p:cNvPr id="82953" name="Object 7"/>
          <p:cNvGraphicFramePr>
            <a:graphicFrameLocks noChangeAspect="1"/>
          </p:cNvGraphicFramePr>
          <p:nvPr/>
        </p:nvGraphicFramePr>
        <p:xfrm>
          <a:off x="1744663" y="4076700"/>
          <a:ext cx="5153025" cy="2197100"/>
        </p:xfrm>
        <a:graphic>
          <a:graphicData uri="http://schemas.openxmlformats.org/presentationml/2006/ole">
            <mc:AlternateContent xmlns:mc="http://schemas.openxmlformats.org/markup-compatibility/2006">
              <mc:Choice xmlns:v="urn:schemas-microsoft-com:vml" Requires="v">
                <p:oleObj spid="_x0000_s5254" r:id="rId8" imgW="2501900" imgH="1066800" progId="Equation.DSMT4">
                  <p:embed/>
                </p:oleObj>
              </mc:Choice>
              <mc:Fallback>
                <p:oleObj r:id="rId8" imgW="2501900" imgH="10668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4663" y="4076700"/>
                        <a:ext cx="5153025"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transition="in" filter="blinds(horizontal)">
                                      <p:cBhvr>
                                        <p:cTn id="7" dur="500"/>
                                        <p:tgtEl>
                                          <p:spTgt spid="8294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97346"/>
                                        </p:tgtEl>
                                        <p:attrNameLst>
                                          <p:attrName>style.visibility</p:attrName>
                                        </p:attrNameLst>
                                      </p:cBhvr>
                                      <p:to>
                                        <p:strVal val="visible"/>
                                      </p:to>
                                    </p:set>
                                    <p:animEffect transition="in" filter="blinds(horizontal)">
                                      <p:cBhvr>
                                        <p:cTn id="10" dur="500"/>
                                        <p:tgtEl>
                                          <p:spTgt spid="69734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97348"/>
                                        </p:tgtEl>
                                        <p:attrNameLst>
                                          <p:attrName>style.visibility</p:attrName>
                                        </p:attrNameLst>
                                      </p:cBhvr>
                                      <p:to>
                                        <p:strVal val="visible"/>
                                      </p:to>
                                    </p:set>
                                    <p:animEffect transition="in" filter="blinds(horizontal)">
                                      <p:cBhvr>
                                        <p:cTn id="15" dur="500"/>
                                        <p:tgtEl>
                                          <p:spTgt spid="697348"/>
                                        </p:tgtEl>
                                      </p:cBhvr>
                                    </p:animEffect>
                                  </p:childTnLst>
                                </p:cTn>
                              </p:par>
                              <p:par>
                                <p:cTn id="16" presetID="3" presetClass="entr" presetSubtype="10" fill="hold" nodeType="withEffect">
                                  <p:stCondLst>
                                    <p:cond delay="0"/>
                                  </p:stCondLst>
                                  <p:childTnLst>
                                    <p:set>
                                      <p:cBhvr>
                                        <p:cTn id="17" dur="1" fill="hold">
                                          <p:stCondLst>
                                            <p:cond delay="0"/>
                                          </p:stCondLst>
                                        </p:cTn>
                                        <p:tgtEl>
                                          <p:spTgt spid="82951"/>
                                        </p:tgtEl>
                                        <p:attrNameLst>
                                          <p:attrName>style.visibility</p:attrName>
                                        </p:attrNameLst>
                                      </p:cBhvr>
                                      <p:to>
                                        <p:strVal val="visible"/>
                                      </p:to>
                                    </p:set>
                                    <p:animEffect transition="in" filter="blinds(horizontal)">
                                      <p:cBhvr>
                                        <p:cTn id="18" dur="500"/>
                                        <p:tgtEl>
                                          <p:spTgt spid="8295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97350"/>
                                        </p:tgtEl>
                                        <p:attrNameLst>
                                          <p:attrName>style.visibility</p:attrName>
                                        </p:attrNameLst>
                                      </p:cBhvr>
                                      <p:to>
                                        <p:strVal val="visible"/>
                                      </p:to>
                                    </p:set>
                                    <p:animEffect transition="in" filter="blinds(horizontal)">
                                      <p:cBhvr>
                                        <p:cTn id="23" dur="500"/>
                                        <p:tgtEl>
                                          <p:spTgt spid="697350"/>
                                        </p:tgtEl>
                                      </p:cBhvr>
                                    </p:animEffect>
                                  </p:childTnLst>
                                </p:cTn>
                              </p:par>
                              <p:par>
                                <p:cTn id="24" presetID="3" presetClass="entr" presetSubtype="10" fill="hold" nodeType="withEffect">
                                  <p:stCondLst>
                                    <p:cond delay="0"/>
                                  </p:stCondLst>
                                  <p:childTnLst>
                                    <p:set>
                                      <p:cBhvr>
                                        <p:cTn id="25" dur="1" fill="hold">
                                          <p:stCondLst>
                                            <p:cond delay="0"/>
                                          </p:stCondLst>
                                        </p:cTn>
                                        <p:tgtEl>
                                          <p:spTgt spid="82953"/>
                                        </p:tgtEl>
                                        <p:attrNameLst>
                                          <p:attrName>style.visibility</p:attrName>
                                        </p:attrNameLst>
                                      </p:cBhvr>
                                      <p:to>
                                        <p:strVal val="visible"/>
                                      </p:to>
                                    </p:set>
                                    <p:animEffect transition="in" filter="blinds(horizontal)">
                                      <p:cBhvr>
                                        <p:cTn id="26" dur="500"/>
                                        <p:tgtEl>
                                          <p:spTgt spid="82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6" grpId="0"/>
      <p:bldP spid="697348" grpId="0"/>
      <p:bldP spid="69735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2"/>
          <p:cNvSpPr txBox="1">
            <a:spLocks noChangeArrowheads="1"/>
          </p:cNvSpPr>
          <p:nvPr/>
        </p:nvSpPr>
        <p:spPr bwMode="auto">
          <a:xfrm>
            <a:off x="444500" y="305422"/>
            <a:ext cx="8280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spcBef>
                <a:spcPct val="50000"/>
              </a:spcBef>
              <a:buFontTx/>
              <a:buNone/>
            </a:pPr>
            <a:r>
              <a:rPr lang="zh-CN" altLang="en-US" sz="2400" b="1" dirty="0" smtClean="0">
                <a:latin typeface="Times New Roman" panose="02020603050405020304" pitchFamily="18" charset="0"/>
                <a:ea typeface="黑体" panose="02010609060101010101" pitchFamily="49" charset="-122"/>
              </a:rPr>
              <a:t>例</a:t>
            </a:r>
            <a:r>
              <a:rPr lang="en-US" altLang="zh-CN" sz="2400" b="1" dirty="0" smtClean="0">
                <a:latin typeface="Times New Roman" panose="02020603050405020304" pitchFamily="18" charset="0"/>
                <a:ea typeface="黑体" panose="02010609060101010101" pitchFamily="49" charset="-122"/>
              </a:rPr>
              <a:t>4-2</a:t>
            </a:r>
            <a:r>
              <a:rPr lang="zh-CN" altLang="en-US" sz="2400" b="1" dirty="0" smtClean="0">
                <a:latin typeface="Times New Roman" panose="02020603050405020304" pitchFamily="18" charset="0"/>
                <a:ea typeface="黑体" panose="02010609060101010101" pitchFamily="49" charset="-122"/>
              </a:rPr>
              <a:t>：某</a:t>
            </a:r>
            <a:r>
              <a:rPr lang="en-US" altLang="zh-CN" sz="2400" b="1" dirty="0" smtClean="0">
                <a:latin typeface="Times New Roman" panose="02020603050405020304" pitchFamily="18" charset="0"/>
                <a:ea typeface="黑体" panose="02010609060101010101" pitchFamily="49" charset="-122"/>
              </a:rPr>
              <a:t>300MW</a:t>
            </a:r>
            <a:r>
              <a:rPr lang="zh-CN" altLang="en-US" sz="2400" b="1" dirty="0" smtClean="0">
                <a:latin typeface="Times New Roman" panose="02020603050405020304" pitchFamily="18" charset="0"/>
                <a:ea typeface="黑体" panose="02010609060101010101" pitchFamily="49" charset="-122"/>
              </a:rPr>
              <a:t>机组锅炉燃煤所需的空气量在</a:t>
            </a:r>
            <a:r>
              <a:rPr lang="zh-CN" altLang="en-US" sz="2400" b="1" dirty="0" smtClean="0">
                <a:solidFill>
                  <a:srgbClr val="0000FF"/>
                </a:solidFill>
                <a:latin typeface="Times New Roman" panose="02020603050405020304" pitchFamily="18" charset="0"/>
                <a:ea typeface="黑体" panose="02010609060101010101" pitchFamily="49" charset="-122"/>
              </a:rPr>
              <a:t>标准状态下为</a:t>
            </a:r>
            <a:r>
              <a:rPr lang="en-US" altLang="zh-CN" sz="2400" b="1" dirty="0" smtClean="0">
                <a:solidFill>
                  <a:srgbClr val="0000FF"/>
                </a:solidFill>
                <a:latin typeface="Times New Roman" panose="02020603050405020304" pitchFamily="18" charset="0"/>
                <a:ea typeface="黑体" panose="02010609060101010101" pitchFamily="49" charset="-122"/>
              </a:rPr>
              <a:t>120×10</a:t>
            </a:r>
            <a:r>
              <a:rPr lang="en-US" altLang="zh-CN" sz="2400" b="1" baseline="30000" dirty="0" smtClean="0">
                <a:solidFill>
                  <a:srgbClr val="0000FF"/>
                </a:solidFill>
                <a:latin typeface="Times New Roman" panose="02020603050405020304" pitchFamily="18" charset="0"/>
                <a:ea typeface="黑体" panose="02010609060101010101" pitchFamily="49" charset="-122"/>
              </a:rPr>
              <a:t>3</a:t>
            </a:r>
            <a:r>
              <a:rPr lang="en-US" altLang="zh-CN" sz="2400" b="1" dirty="0" smtClean="0">
                <a:solidFill>
                  <a:srgbClr val="0000FF"/>
                </a:solidFill>
                <a:latin typeface="Times New Roman" panose="02020603050405020304" pitchFamily="18" charset="0"/>
                <a:ea typeface="黑体" panose="02010609060101010101" pitchFamily="49" charset="-122"/>
              </a:rPr>
              <a:t>m</a:t>
            </a:r>
            <a:r>
              <a:rPr lang="en-US" altLang="zh-CN" sz="2400" b="1" baseline="30000" dirty="0" smtClean="0">
                <a:solidFill>
                  <a:srgbClr val="0000FF"/>
                </a:solidFill>
                <a:latin typeface="Times New Roman" panose="02020603050405020304" pitchFamily="18" charset="0"/>
                <a:ea typeface="黑体" panose="02010609060101010101" pitchFamily="49" charset="-122"/>
              </a:rPr>
              <a:t>3</a:t>
            </a:r>
            <a:r>
              <a:rPr lang="en-US" altLang="zh-CN" sz="2400" b="1" dirty="0" smtClean="0">
                <a:solidFill>
                  <a:srgbClr val="0000FF"/>
                </a:solidFill>
                <a:latin typeface="Times New Roman" panose="02020603050405020304" pitchFamily="18" charset="0"/>
                <a:ea typeface="黑体" panose="02010609060101010101" pitchFamily="49" charset="-122"/>
              </a:rPr>
              <a:t>/h</a:t>
            </a:r>
            <a:r>
              <a:rPr lang="zh-CN" altLang="en-US" sz="2400" b="1" dirty="0" smtClean="0">
                <a:latin typeface="Times New Roman" panose="02020603050405020304" pitchFamily="18" charset="0"/>
                <a:ea typeface="黑体" panose="02010609060101010101" pitchFamily="49" charset="-122"/>
              </a:rPr>
              <a:t>，送风机实际送入的空气温度为</a:t>
            </a:r>
            <a:r>
              <a:rPr lang="en-US" altLang="zh-CN" sz="2400" b="1" dirty="0" smtClean="0">
                <a:solidFill>
                  <a:srgbClr val="FF0000"/>
                </a:solidFill>
                <a:latin typeface="Times New Roman" panose="02020603050405020304" pitchFamily="18" charset="0"/>
                <a:ea typeface="黑体" panose="02010609060101010101" pitchFamily="49" charset="-122"/>
              </a:rPr>
              <a:t>27℃</a:t>
            </a:r>
            <a:r>
              <a:rPr lang="zh-CN" altLang="en-US" sz="2400" b="1" dirty="0" smtClean="0">
                <a:latin typeface="Times New Roman" panose="02020603050405020304" pitchFamily="18" charset="0"/>
                <a:ea typeface="黑体" panose="02010609060101010101" pitchFamily="49" charset="-122"/>
              </a:rPr>
              <a:t>，出口压力表的读数为</a:t>
            </a:r>
            <a:r>
              <a:rPr lang="en-US" altLang="zh-CN" sz="2400" b="1" dirty="0" smtClean="0">
                <a:solidFill>
                  <a:srgbClr val="FF0000"/>
                </a:solidFill>
                <a:latin typeface="Times New Roman" panose="02020603050405020304" pitchFamily="18" charset="0"/>
                <a:ea typeface="黑体" panose="02010609060101010101" pitchFamily="49" charset="-122"/>
              </a:rPr>
              <a:t>5.4×10</a:t>
            </a:r>
            <a:r>
              <a:rPr lang="en-US" altLang="zh-CN" sz="2400" b="1" baseline="30000" dirty="0" smtClean="0">
                <a:solidFill>
                  <a:srgbClr val="FF0000"/>
                </a:solidFill>
                <a:latin typeface="Times New Roman" panose="02020603050405020304" pitchFamily="18" charset="0"/>
                <a:ea typeface="黑体" panose="02010609060101010101" pitchFamily="49" charset="-122"/>
              </a:rPr>
              <a:t>3</a:t>
            </a:r>
            <a:r>
              <a:rPr lang="en-US" altLang="zh-CN" sz="2400" b="1" dirty="0" smtClean="0">
                <a:solidFill>
                  <a:srgbClr val="FF0000"/>
                </a:solidFill>
                <a:latin typeface="Times New Roman" panose="02020603050405020304" pitchFamily="18" charset="0"/>
                <a:ea typeface="黑体" panose="02010609060101010101" pitchFamily="49" charset="-122"/>
              </a:rPr>
              <a:t>Pa</a:t>
            </a:r>
            <a:r>
              <a:rPr lang="zh-CN" altLang="en-US" sz="2400" b="1" dirty="0" smtClean="0">
                <a:latin typeface="Times New Roman" panose="02020603050405020304" pitchFamily="18" charset="0"/>
                <a:ea typeface="黑体" panose="02010609060101010101" pitchFamily="49" charset="-122"/>
              </a:rPr>
              <a:t>。当地大气压力为</a:t>
            </a:r>
            <a:r>
              <a:rPr lang="en-US" altLang="zh-CN" sz="2400" b="1" dirty="0" smtClean="0">
                <a:solidFill>
                  <a:srgbClr val="FF0000"/>
                </a:solidFill>
                <a:latin typeface="Times New Roman" panose="02020603050405020304" pitchFamily="18" charset="0"/>
                <a:ea typeface="黑体" panose="02010609060101010101" pitchFamily="49" charset="-122"/>
              </a:rPr>
              <a:t>0.1MPa</a:t>
            </a:r>
            <a:r>
              <a:rPr lang="zh-CN" altLang="en-US" sz="2400" b="1" dirty="0" smtClean="0">
                <a:latin typeface="Times New Roman" panose="02020603050405020304" pitchFamily="18" charset="0"/>
                <a:ea typeface="黑体" panose="02010609060101010101" pitchFamily="49" charset="-122"/>
              </a:rPr>
              <a:t>，求送风机的</a:t>
            </a:r>
            <a:r>
              <a:rPr lang="zh-CN" altLang="en-US" sz="2400" b="1" dirty="0" smtClean="0">
                <a:solidFill>
                  <a:srgbClr val="FF0000"/>
                </a:solidFill>
                <a:latin typeface="Times New Roman" panose="02020603050405020304" pitchFamily="18" charset="0"/>
                <a:ea typeface="黑体" panose="02010609060101010101" pitchFamily="49" charset="-122"/>
              </a:rPr>
              <a:t>实际送风量</a:t>
            </a:r>
            <a:r>
              <a:rPr lang="zh-CN" altLang="en-US" sz="2400" b="1" dirty="0" smtClean="0">
                <a:latin typeface="Times New Roman" panose="02020603050405020304" pitchFamily="18" charset="0"/>
                <a:ea typeface="黑体" panose="02010609060101010101" pitchFamily="49" charset="-122"/>
              </a:rPr>
              <a:t>（</a:t>
            </a:r>
            <a:r>
              <a:rPr lang="en-US" altLang="zh-CN" sz="2400" b="1" dirty="0" smtClean="0">
                <a:latin typeface="Times New Roman" panose="02020603050405020304" pitchFamily="18" charset="0"/>
                <a:ea typeface="黑体" panose="02010609060101010101" pitchFamily="49" charset="-122"/>
              </a:rPr>
              <a:t>m</a:t>
            </a:r>
            <a:r>
              <a:rPr lang="en-US" altLang="zh-CN" sz="2400" b="1" baseline="30000" dirty="0" smtClean="0">
                <a:latin typeface="Times New Roman" panose="02020603050405020304" pitchFamily="18" charset="0"/>
                <a:ea typeface="黑体" panose="02010609060101010101" pitchFamily="49" charset="-122"/>
              </a:rPr>
              <a:t>3</a:t>
            </a:r>
            <a:r>
              <a:rPr lang="en-US" altLang="zh-CN" sz="2400" b="1" dirty="0" smtClean="0">
                <a:latin typeface="Times New Roman" panose="02020603050405020304" pitchFamily="18" charset="0"/>
                <a:ea typeface="黑体" panose="02010609060101010101" pitchFamily="49" charset="-122"/>
              </a:rPr>
              <a:t>/h</a:t>
            </a:r>
            <a:r>
              <a:rPr lang="zh-CN" altLang="en-US" sz="2400" b="1" dirty="0" smtClean="0">
                <a:latin typeface="Times New Roman" panose="02020603050405020304" pitchFamily="18" charset="0"/>
                <a:ea typeface="黑体" panose="02010609060101010101" pitchFamily="49" charset="-122"/>
              </a:rPr>
              <a:t>）。 </a:t>
            </a:r>
          </a:p>
        </p:txBody>
      </p:sp>
      <p:sp>
        <p:nvSpPr>
          <p:cNvPr id="8" name="Rectangle 2"/>
          <p:cNvSpPr txBox="1">
            <a:spLocks noChangeArrowheads="1"/>
          </p:cNvSpPr>
          <p:nvPr/>
        </p:nvSpPr>
        <p:spPr bwMode="auto">
          <a:xfrm>
            <a:off x="589996" y="2067238"/>
            <a:ext cx="7931703" cy="4168462"/>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zh-CN" altLang="en-US" sz="2800" b="1" dirty="0" smtClean="0">
                <a:latin typeface="Times New Roman" panose="02020603050405020304" pitchFamily="18" charset="0"/>
                <a:ea typeface="黑体" panose="02010609060101010101" pitchFamily="49" charset="-122"/>
              </a:rPr>
              <a:t>在实际工程中常常涉及标准立方米作为单位的情形，这样就要将</a:t>
            </a:r>
            <a:r>
              <a:rPr lang="zh-CN" altLang="en-US" sz="2800" b="1" dirty="0" smtClean="0">
                <a:solidFill>
                  <a:srgbClr val="FF0000"/>
                </a:solidFill>
                <a:latin typeface="Times New Roman" panose="02020603050405020304" pitchFamily="18" charset="0"/>
                <a:ea typeface="黑体" panose="02010609060101010101" pitchFamily="49" charset="-122"/>
              </a:rPr>
              <a:t>“标准体积”</a:t>
            </a:r>
            <a:r>
              <a:rPr lang="zh-CN" altLang="en-US" sz="2800" b="1" dirty="0" smtClean="0">
                <a:latin typeface="Times New Roman" panose="02020603050405020304" pitchFamily="18" charset="0"/>
                <a:ea typeface="黑体" panose="02010609060101010101" pitchFamily="49" charset="-122"/>
              </a:rPr>
              <a:t>与</a:t>
            </a:r>
            <a:r>
              <a:rPr lang="zh-CN" altLang="en-US" sz="2800" b="1" dirty="0" smtClean="0">
                <a:solidFill>
                  <a:srgbClr val="FF0000"/>
                </a:solidFill>
                <a:latin typeface="Times New Roman" panose="02020603050405020304" pitchFamily="18" charset="0"/>
                <a:ea typeface="黑体" panose="02010609060101010101" pitchFamily="49" charset="-122"/>
              </a:rPr>
              <a:t>“实际体积”</a:t>
            </a:r>
            <a:r>
              <a:rPr lang="zh-CN" altLang="en-US" sz="2800" b="1" dirty="0" smtClean="0">
                <a:latin typeface="Times New Roman" panose="02020603050405020304" pitchFamily="18" charset="0"/>
                <a:ea typeface="黑体" panose="02010609060101010101" pitchFamily="49" charset="-122"/>
              </a:rPr>
              <a:t>进行换算。</a:t>
            </a:r>
          </a:p>
          <a:p>
            <a:pPr>
              <a:buFontTx/>
              <a:buNone/>
            </a:pPr>
            <a:r>
              <a:rPr lang="zh-CN" altLang="en-US" sz="2800" b="1" dirty="0" smtClean="0">
                <a:latin typeface="Times New Roman" panose="02020603050405020304" pitchFamily="18" charset="0"/>
                <a:ea typeface="黑体" panose="02010609060101010101" pitchFamily="49" charset="-122"/>
              </a:rPr>
              <a:t>    </a:t>
            </a:r>
            <a:r>
              <a:rPr lang="zh-CN" altLang="en-US" sz="2800" b="1" dirty="0" smtClean="0">
                <a:solidFill>
                  <a:srgbClr val="0000FF"/>
                </a:solidFill>
                <a:latin typeface="Times New Roman" panose="02020603050405020304" pitchFamily="18" charset="0"/>
                <a:ea typeface="黑体" panose="02010609060101010101" pitchFamily="49" charset="-122"/>
              </a:rPr>
              <a:t>标准状态：</a:t>
            </a:r>
            <a:r>
              <a:rPr lang="en-US" altLang="zh-CN" sz="2800" b="1" dirty="0" smtClean="0">
                <a:solidFill>
                  <a:srgbClr val="0000FF"/>
                </a:solidFill>
                <a:latin typeface="Times New Roman" panose="02020603050405020304" pitchFamily="18" charset="0"/>
                <a:ea typeface="黑体" panose="02010609060101010101" pitchFamily="49" charset="-122"/>
              </a:rPr>
              <a:t>273.15 K</a:t>
            </a:r>
            <a:r>
              <a:rPr lang="zh-CN" altLang="en-US" sz="2800" b="1" dirty="0" smtClean="0">
                <a:solidFill>
                  <a:srgbClr val="0000FF"/>
                </a:solidFill>
                <a:latin typeface="Times New Roman" panose="02020603050405020304" pitchFamily="18" charset="0"/>
                <a:ea typeface="黑体" panose="02010609060101010101" pitchFamily="49" charset="-122"/>
              </a:rPr>
              <a:t>， </a:t>
            </a:r>
            <a:r>
              <a:rPr lang="en-US" altLang="zh-CN" sz="2800" b="1" dirty="0" smtClean="0">
                <a:solidFill>
                  <a:srgbClr val="0000FF"/>
                </a:solidFill>
                <a:latin typeface="Times New Roman" panose="02020603050405020304" pitchFamily="18" charset="0"/>
                <a:ea typeface="黑体" panose="02010609060101010101" pitchFamily="49" charset="-122"/>
              </a:rPr>
              <a:t>0.101325 MPa</a:t>
            </a:r>
          </a:p>
          <a:p>
            <a:r>
              <a:rPr lang="zh-CN" altLang="en-US" sz="2800" b="1" dirty="0" smtClean="0">
                <a:latin typeface="Times New Roman" panose="02020603050405020304" pitchFamily="18" charset="0"/>
                <a:ea typeface="黑体" panose="02010609060101010101" pitchFamily="49" charset="-122"/>
              </a:rPr>
              <a:t>在利用状态方程计算涉及</a:t>
            </a:r>
            <a:r>
              <a:rPr lang="zh-CN" altLang="en-US" sz="2800" b="1" dirty="0" smtClean="0">
                <a:solidFill>
                  <a:srgbClr val="FF0000"/>
                </a:solidFill>
                <a:latin typeface="Times New Roman" panose="02020603050405020304" pitchFamily="18" charset="0"/>
                <a:ea typeface="黑体" panose="02010609060101010101" pitchFamily="49" charset="-122"/>
              </a:rPr>
              <a:t>体积流量</a:t>
            </a:r>
            <a:r>
              <a:rPr lang="zh-CN" altLang="en-US" sz="2800" b="1" dirty="0" smtClean="0">
                <a:latin typeface="Times New Roman" panose="02020603050405020304" pitchFamily="18" charset="0"/>
                <a:ea typeface="黑体" panose="02010609060101010101" pitchFamily="49" charset="-122"/>
              </a:rPr>
              <a:t>和</a:t>
            </a:r>
            <a:r>
              <a:rPr lang="zh-CN" altLang="en-US" sz="2800" b="1" dirty="0" smtClean="0">
                <a:solidFill>
                  <a:srgbClr val="FF0000"/>
                </a:solidFill>
                <a:latin typeface="Times New Roman" panose="02020603050405020304" pitchFamily="18" charset="0"/>
                <a:ea typeface="黑体" panose="02010609060101010101" pitchFamily="49" charset="-122"/>
              </a:rPr>
              <a:t>质量流量</a:t>
            </a:r>
            <a:r>
              <a:rPr lang="zh-CN" altLang="en-US" sz="2800" b="1" dirty="0" smtClean="0">
                <a:latin typeface="Times New Roman" panose="02020603050405020304" pitchFamily="18" charset="0"/>
                <a:ea typeface="黑体" panose="02010609060101010101" pitchFamily="49" charset="-122"/>
              </a:rPr>
              <a:t>的问题时，只需用体积流量</a:t>
            </a:r>
            <a:r>
              <a:rPr lang="en-US" altLang="zh-CN" sz="2800" b="1" i="1" dirty="0" err="1" smtClean="0">
                <a:solidFill>
                  <a:srgbClr val="FF0000"/>
                </a:solidFill>
                <a:latin typeface="Times New Roman" panose="02020603050405020304" pitchFamily="18" charset="0"/>
                <a:ea typeface="黑体" panose="02010609060101010101" pitchFamily="49" charset="-122"/>
              </a:rPr>
              <a:t>q</a:t>
            </a:r>
            <a:r>
              <a:rPr lang="en-US" altLang="zh-CN" sz="2800" b="1" i="1" baseline="-25000" dirty="0" err="1" smtClean="0">
                <a:solidFill>
                  <a:srgbClr val="FF0000"/>
                </a:solidFill>
                <a:latin typeface="Times New Roman" panose="02020603050405020304" pitchFamily="18" charset="0"/>
                <a:ea typeface="黑体" panose="02010609060101010101" pitchFamily="49" charset="-122"/>
              </a:rPr>
              <a:t>V</a:t>
            </a:r>
            <a:r>
              <a:rPr lang="zh-CN" altLang="en-US" sz="2800" b="1" dirty="0" smtClean="0">
                <a:latin typeface="Times New Roman" panose="02020603050405020304" pitchFamily="18" charset="0"/>
                <a:ea typeface="黑体" panose="02010609060101010101" pitchFamily="49" charset="-122"/>
              </a:rPr>
              <a:t>替代体积</a:t>
            </a:r>
            <a:r>
              <a:rPr lang="en-US" altLang="zh-CN" sz="2800" b="1" i="1" dirty="0" smtClean="0">
                <a:solidFill>
                  <a:srgbClr val="F50B0B"/>
                </a:solidFill>
                <a:latin typeface="Times New Roman" panose="02020603050405020304" pitchFamily="18" charset="0"/>
                <a:ea typeface="黑体" panose="02010609060101010101" pitchFamily="49" charset="-122"/>
              </a:rPr>
              <a:t>V</a:t>
            </a:r>
            <a:r>
              <a:rPr lang="zh-CN" altLang="en-US" sz="2800" b="1" dirty="0" smtClean="0">
                <a:latin typeface="Times New Roman" panose="02020603050405020304" pitchFamily="18" charset="0"/>
                <a:ea typeface="黑体" panose="02010609060101010101" pitchFamily="49" charset="-122"/>
              </a:rPr>
              <a:t>，用质量流量</a:t>
            </a:r>
            <a:r>
              <a:rPr lang="en-US" altLang="zh-CN" sz="2800" b="1" i="1" dirty="0" err="1" smtClean="0">
                <a:solidFill>
                  <a:srgbClr val="FF0000"/>
                </a:solidFill>
                <a:latin typeface="Times New Roman" panose="02020603050405020304" pitchFamily="18" charset="0"/>
                <a:ea typeface="黑体" panose="02010609060101010101" pitchFamily="49" charset="-122"/>
              </a:rPr>
              <a:t>q</a:t>
            </a:r>
            <a:r>
              <a:rPr lang="en-US" altLang="zh-CN" sz="2800" b="1" i="1" baseline="-25000" dirty="0" err="1" smtClean="0">
                <a:solidFill>
                  <a:srgbClr val="FF0000"/>
                </a:solidFill>
                <a:latin typeface="Times New Roman" panose="02020603050405020304" pitchFamily="18" charset="0"/>
                <a:ea typeface="黑体" panose="02010609060101010101" pitchFamily="49" charset="-122"/>
              </a:rPr>
              <a:t>m</a:t>
            </a:r>
            <a:r>
              <a:rPr lang="zh-CN" altLang="en-US" sz="2800" b="1" dirty="0" smtClean="0">
                <a:latin typeface="Times New Roman" panose="02020603050405020304" pitchFamily="18" charset="0"/>
                <a:ea typeface="黑体" panose="02010609060101010101" pitchFamily="49" charset="-122"/>
              </a:rPr>
              <a:t>替代</a:t>
            </a:r>
            <a:r>
              <a:rPr lang="en-US" altLang="zh-CN" sz="2800" b="1" i="1" dirty="0" smtClean="0">
                <a:solidFill>
                  <a:srgbClr val="F50B0B"/>
                </a:solidFill>
                <a:latin typeface="Times New Roman" panose="02020603050405020304" pitchFamily="18" charset="0"/>
                <a:ea typeface="黑体" panose="02010609060101010101" pitchFamily="49" charset="-122"/>
              </a:rPr>
              <a:t>m</a:t>
            </a:r>
            <a:r>
              <a:rPr lang="zh-CN" altLang="en-US" sz="2800" b="1" dirty="0" smtClean="0">
                <a:latin typeface="Times New Roman" panose="02020603050405020304" pitchFamily="18" charset="0"/>
                <a:ea typeface="黑体" panose="02010609060101010101" pitchFamily="49" charset="-122"/>
              </a:rPr>
              <a:t>即可，此时状态方程应为</a:t>
            </a:r>
          </a:p>
        </p:txBody>
      </p:sp>
      <p:graphicFrame>
        <p:nvGraphicFramePr>
          <p:cNvPr id="9" name="Object 3"/>
          <p:cNvGraphicFramePr>
            <a:graphicFrameLocks noChangeAspect="1"/>
          </p:cNvGraphicFramePr>
          <p:nvPr/>
        </p:nvGraphicFramePr>
        <p:xfrm>
          <a:off x="2955718" y="5410514"/>
          <a:ext cx="2474912" cy="703262"/>
        </p:xfrm>
        <a:graphic>
          <a:graphicData uri="http://schemas.openxmlformats.org/presentationml/2006/ole">
            <mc:AlternateContent xmlns:mc="http://schemas.openxmlformats.org/markup-compatibility/2006">
              <mc:Choice xmlns:v="urn:schemas-microsoft-com:vml" Requires="v">
                <p:oleObj spid="_x0000_s52265" r:id="rId4" imgW="850265" imgH="241300" progId="Equation.DSMT4">
                  <p:embed/>
                </p:oleObj>
              </mc:Choice>
              <mc:Fallback>
                <p:oleObj r:id="rId4" imgW="850265" imgH="2413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5718" y="5410514"/>
                        <a:ext cx="2474912"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693876" y="4299434"/>
          <a:ext cx="2917825" cy="703262"/>
        </p:xfrm>
        <a:graphic>
          <a:graphicData uri="http://schemas.openxmlformats.org/presentationml/2006/ole">
            <mc:AlternateContent xmlns:mc="http://schemas.openxmlformats.org/markup-compatibility/2006">
              <mc:Choice xmlns:v="urn:schemas-microsoft-com:vml" Requires="v">
                <p:oleObj spid="_x0000_s53411" name="Equation" r:id="rId3" imgW="24079200" imgH="5791200" progId="Equation.DSMT4">
                  <p:embed/>
                </p:oleObj>
              </mc:Choice>
              <mc:Fallback>
                <p:oleObj name="Equation" r:id="rId3" imgW="24079200" imgH="5791200" progId="Equation.DSMT4">
                  <p:embed/>
                  <p:pic>
                    <p:nvPicPr>
                      <p:cNvPr id="0" name="Object 3"/>
                      <p:cNvPicPr>
                        <a:picLocks noChangeAspect="1" noChangeArrowheads="1"/>
                      </p:cNvPicPr>
                      <p:nvPr/>
                    </p:nvPicPr>
                    <p:blipFill>
                      <a:blip r:embed="rId4"/>
                      <a:srcRect/>
                      <a:stretch>
                        <a:fillRect/>
                      </a:stretch>
                    </p:blipFill>
                    <p:spPr bwMode="auto">
                      <a:xfrm>
                        <a:off x="693876" y="4299434"/>
                        <a:ext cx="291782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矩形 4"/>
          <p:cNvSpPr/>
          <p:nvPr/>
        </p:nvSpPr>
        <p:spPr>
          <a:xfrm>
            <a:off x="503583" y="2130312"/>
            <a:ext cx="4147930" cy="954107"/>
          </a:xfrm>
          <a:prstGeom prst="rect">
            <a:avLst/>
          </a:prstGeom>
        </p:spPr>
        <p:txBody>
          <a:bodyPr wrap="square">
            <a:spAutoFit/>
          </a:bodyPr>
          <a:lstStyle/>
          <a:p>
            <a:pPr lvl="0"/>
            <a:r>
              <a:rPr lang="zh-CN" altLang="en-US" sz="2800" b="1" dirty="0">
                <a:solidFill>
                  <a:srgbClr val="0000FF"/>
                </a:solidFill>
                <a:latin typeface="Times New Roman" panose="02020603050405020304" pitchFamily="18" charset="0"/>
                <a:ea typeface="黑体" panose="02010609060101010101" pitchFamily="49" charset="-122"/>
              </a:rPr>
              <a:t>标准状态</a:t>
            </a:r>
            <a:r>
              <a:rPr lang="zh-CN" altLang="en-US" sz="2800" b="1" dirty="0" smtClean="0">
                <a:solidFill>
                  <a:srgbClr val="0000FF"/>
                </a:solidFill>
                <a:latin typeface="Times New Roman" panose="02020603050405020304" pitchFamily="18" charset="0"/>
                <a:ea typeface="黑体" panose="02010609060101010101" pitchFamily="49" charset="-122"/>
              </a:rPr>
              <a:t>：</a:t>
            </a:r>
            <a:r>
              <a:rPr lang="en-US" altLang="zh-CN" sz="2800" b="1" i="1" dirty="0" smtClean="0">
                <a:solidFill>
                  <a:srgbClr val="0000FF"/>
                </a:solidFill>
                <a:latin typeface="Times New Roman" panose="02020603050405020304" pitchFamily="18" charset="0"/>
                <a:ea typeface="黑体" panose="02010609060101010101" pitchFamily="49" charset="-122"/>
              </a:rPr>
              <a:t>T</a:t>
            </a:r>
            <a:r>
              <a:rPr lang="en-US" altLang="zh-CN" sz="2800" b="1" baseline="-25000" dirty="0" smtClean="0">
                <a:solidFill>
                  <a:srgbClr val="0000FF"/>
                </a:solidFill>
                <a:latin typeface="Times New Roman" panose="02020603050405020304" pitchFamily="18" charset="0"/>
                <a:ea typeface="黑体" panose="02010609060101010101" pitchFamily="49" charset="-122"/>
              </a:rPr>
              <a:t>0</a:t>
            </a:r>
            <a:r>
              <a:rPr lang="en-US" altLang="zh-CN" sz="2800" b="1" dirty="0" smtClean="0">
                <a:solidFill>
                  <a:srgbClr val="0000FF"/>
                </a:solidFill>
                <a:latin typeface="Times New Roman" panose="02020603050405020304" pitchFamily="18" charset="0"/>
                <a:ea typeface="黑体" panose="02010609060101010101" pitchFamily="49" charset="-122"/>
              </a:rPr>
              <a:t>=273.15 </a:t>
            </a:r>
            <a:r>
              <a:rPr lang="en-US" altLang="zh-CN" sz="2800" b="1" dirty="0">
                <a:solidFill>
                  <a:srgbClr val="0000FF"/>
                </a:solidFill>
                <a:latin typeface="Times New Roman" panose="02020603050405020304" pitchFamily="18" charset="0"/>
                <a:ea typeface="黑体" panose="02010609060101010101" pitchFamily="49" charset="-122"/>
              </a:rPr>
              <a:t>K</a:t>
            </a:r>
            <a:r>
              <a:rPr lang="zh-CN" altLang="en-US" sz="2800" b="1" dirty="0">
                <a:solidFill>
                  <a:srgbClr val="0000FF"/>
                </a:solidFill>
                <a:latin typeface="Times New Roman" panose="02020603050405020304" pitchFamily="18" charset="0"/>
                <a:ea typeface="黑体" panose="02010609060101010101" pitchFamily="49" charset="-122"/>
              </a:rPr>
              <a:t>， </a:t>
            </a:r>
            <a:r>
              <a:rPr lang="en-US" altLang="zh-CN" sz="2800" b="1" i="1" dirty="0" smtClean="0">
                <a:solidFill>
                  <a:srgbClr val="0000FF"/>
                </a:solidFill>
                <a:latin typeface="Times New Roman" panose="02020603050405020304" pitchFamily="18" charset="0"/>
                <a:ea typeface="黑体" panose="02010609060101010101" pitchFamily="49" charset="-122"/>
              </a:rPr>
              <a:t>p</a:t>
            </a:r>
            <a:r>
              <a:rPr lang="en-US" altLang="zh-CN" sz="2800" b="1" baseline="-25000" dirty="0" smtClean="0">
                <a:solidFill>
                  <a:srgbClr val="0000FF"/>
                </a:solidFill>
                <a:latin typeface="Times New Roman" panose="02020603050405020304" pitchFamily="18" charset="0"/>
                <a:ea typeface="黑体" panose="02010609060101010101" pitchFamily="49" charset="-122"/>
              </a:rPr>
              <a:t>0</a:t>
            </a:r>
            <a:r>
              <a:rPr lang="en-US" altLang="zh-CN" sz="2800" b="1" dirty="0" smtClean="0">
                <a:solidFill>
                  <a:srgbClr val="0000FF"/>
                </a:solidFill>
                <a:latin typeface="Times New Roman" panose="02020603050405020304" pitchFamily="18" charset="0"/>
                <a:ea typeface="黑体" panose="02010609060101010101" pitchFamily="49" charset="-122"/>
              </a:rPr>
              <a:t>=0.101325 </a:t>
            </a:r>
            <a:r>
              <a:rPr lang="en-US" altLang="zh-CN" sz="2800" b="1" dirty="0">
                <a:solidFill>
                  <a:srgbClr val="0000FF"/>
                </a:solidFill>
                <a:latin typeface="Times New Roman" panose="02020603050405020304" pitchFamily="18" charset="0"/>
                <a:ea typeface="黑体" panose="02010609060101010101" pitchFamily="49" charset="-122"/>
              </a:rPr>
              <a:t>MPa</a:t>
            </a:r>
          </a:p>
        </p:txBody>
      </p:sp>
      <p:sp>
        <p:nvSpPr>
          <p:cNvPr id="6" name="矩形 5"/>
          <p:cNvSpPr/>
          <p:nvPr/>
        </p:nvSpPr>
        <p:spPr>
          <a:xfrm>
            <a:off x="444500" y="3292592"/>
            <a:ext cx="4086375" cy="523220"/>
          </a:xfrm>
          <a:prstGeom prst="rect">
            <a:avLst/>
          </a:prstGeom>
        </p:spPr>
        <p:txBody>
          <a:bodyPr wrap="none">
            <a:spAutoFit/>
          </a:bodyPr>
          <a:lstStyle/>
          <a:p>
            <a:r>
              <a:rPr lang="zh-CN" altLang="en-US" sz="2800" b="1" dirty="0" smtClean="0">
                <a:solidFill>
                  <a:srgbClr val="0000FF"/>
                </a:solidFill>
                <a:latin typeface="Times New Roman" panose="02020603050405020304" pitchFamily="18" charset="0"/>
                <a:ea typeface="黑体" panose="02010609060101010101" pitchFamily="49" charset="-122"/>
              </a:rPr>
              <a:t>体积流量：</a:t>
            </a:r>
            <a:r>
              <a:rPr lang="en-US" altLang="zh-CN" sz="2800" b="1" dirty="0" smtClean="0">
                <a:solidFill>
                  <a:srgbClr val="0000FF"/>
                </a:solidFill>
                <a:latin typeface="Times New Roman" panose="02020603050405020304" pitchFamily="18" charset="0"/>
                <a:ea typeface="黑体" panose="02010609060101010101" pitchFamily="49" charset="-122"/>
              </a:rPr>
              <a:t>120×10</a:t>
            </a:r>
            <a:r>
              <a:rPr lang="en-US" altLang="zh-CN" sz="2800" b="1" baseline="30000" dirty="0" smtClean="0">
                <a:solidFill>
                  <a:srgbClr val="0000FF"/>
                </a:solidFill>
                <a:latin typeface="Times New Roman" panose="02020603050405020304" pitchFamily="18" charset="0"/>
                <a:ea typeface="黑体" panose="02010609060101010101" pitchFamily="49" charset="-122"/>
              </a:rPr>
              <a:t>3</a:t>
            </a:r>
            <a:r>
              <a:rPr lang="en-US" altLang="zh-CN" sz="2800" b="1" dirty="0" smtClean="0">
                <a:solidFill>
                  <a:srgbClr val="0000FF"/>
                </a:solidFill>
                <a:latin typeface="Times New Roman" panose="02020603050405020304" pitchFamily="18" charset="0"/>
                <a:ea typeface="黑体" panose="02010609060101010101" pitchFamily="49" charset="-122"/>
              </a:rPr>
              <a:t>m</a:t>
            </a:r>
            <a:r>
              <a:rPr lang="en-US" altLang="zh-CN" sz="2800" b="1" baseline="30000" dirty="0" smtClean="0">
                <a:solidFill>
                  <a:srgbClr val="0000FF"/>
                </a:solidFill>
                <a:latin typeface="Times New Roman" panose="02020603050405020304" pitchFamily="18" charset="0"/>
                <a:ea typeface="黑体" panose="02010609060101010101" pitchFamily="49" charset="-122"/>
              </a:rPr>
              <a:t>3</a:t>
            </a:r>
            <a:r>
              <a:rPr lang="en-US" altLang="zh-CN" sz="2800" b="1" dirty="0" smtClean="0">
                <a:solidFill>
                  <a:srgbClr val="0000FF"/>
                </a:solidFill>
                <a:latin typeface="Times New Roman" panose="02020603050405020304" pitchFamily="18" charset="0"/>
                <a:ea typeface="黑体" panose="02010609060101010101" pitchFamily="49" charset="-122"/>
              </a:rPr>
              <a:t>/h</a:t>
            </a:r>
            <a:endParaRPr lang="zh-CN" altLang="en-US" sz="2800" dirty="0">
              <a:solidFill>
                <a:srgbClr val="0000FF"/>
              </a:solidFill>
            </a:endParaRPr>
          </a:p>
        </p:txBody>
      </p:sp>
      <p:sp>
        <p:nvSpPr>
          <p:cNvPr id="7" name="下箭头 6"/>
          <p:cNvSpPr/>
          <p:nvPr/>
        </p:nvSpPr>
        <p:spPr>
          <a:xfrm>
            <a:off x="1984902" y="5048997"/>
            <a:ext cx="228211" cy="5764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下箭头 7"/>
          <p:cNvSpPr/>
          <p:nvPr/>
        </p:nvSpPr>
        <p:spPr>
          <a:xfrm>
            <a:off x="1984902" y="3815812"/>
            <a:ext cx="228211" cy="617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Object 3"/>
          <p:cNvGraphicFramePr>
            <a:graphicFrameLocks noChangeAspect="1"/>
          </p:cNvGraphicFramePr>
          <p:nvPr/>
        </p:nvGraphicFramePr>
        <p:xfrm>
          <a:off x="1748169" y="5671768"/>
          <a:ext cx="701675" cy="666750"/>
        </p:xfrm>
        <a:graphic>
          <a:graphicData uri="http://schemas.openxmlformats.org/presentationml/2006/ole">
            <mc:AlternateContent xmlns:mc="http://schemas.openxmlformats.org/markup-compatibility/2006">
              <mc:Choice xmlns:v="urn:schemas-microsoft-com:vml" Requires="v">
                <p:oleObj spid="_x0000_s53412" name="Equation" r:id="rId5" imgW="5791200" imgH="5486400" progId="Equation.DSMT4">
                  <p:embed/>
                </p:oleObj>
              </mc:Choice>
              <mc:Fallback>
                <p:oleObj name="Equation" r:id="rId5" imgW="5791200" imgH="5486400" progId="Equation.DSMT4">
                  <p:embed/>
                  <p:pic>
                    <p:nvPicPr>
                      <p:cNvPr id="0" name="Object 3"/>
                      <p:cNvPicPr>
                        <a:picLocks noChangeAspect="1" noChangeArrowheads="1"/>
                      </p:cNvPicPr>
                      <p:nvPr/>
                    </p:nvPicPr>
                    <p:blipFill>
                      <a:blip r:embed="rId6"/>
                      <a:srcRect/>
                      <a:stretch>
                        <a:fillRect/>
                      </a:stretch>
                    </p:blipFill>
                    <p:spPr bwMode="auto">
                      <a:xfrm>
                        <a:off x="1748169" y="5671768"/>
                        <a:ext cx="7016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3"/>
          <p:cNvGraphicFramePr>
            <a:graphicFrameLocks noChangeAspect="1"/>
          </p:cNvGraphicFramePr>
          <p:nvPr/>
        </p:nvGraphicFramePr>
        <p:xfrm>
          <a:off x="5332413" y="4298950"/>
          <a:ext cx="2438400" cy="703263"/>
        </p:xfrm>
        <a:graphic>
          <a:graphicData uri="http://schemas.openxmlformats.org/presentationml/2006/ole">
            <mc:AlternateContent xmlns:mc="http://schemas.openxmlformats.org/markup-compatibility/2006">
              <mc:Choice xmlns:v="urn:schemas-microsoft-com:vml" Requires="v">
                <p:oleObj spid="_x0000_s53413" name="Equation" r:id="rId7" imgW="20116800" imgH="5791200" progId="Equation.DSMT4">
                  <p:embed/>
                </p:oleObj>
              </mc:Choice>
              <mc:Fallback>
                <p:oleObj name="Equation" r:id="rId7" imgW="20116800" imgH="5791200" progId="Equation.DSMT4">
                  <p:embed/>
                  <p:pic>
                    <p:nvPicPr>
                      <p:cNvPr id="0" name="Object 3"/>
                      <p:cNvPicPr>
                        <a:picLocks noChangeAspect="1" noChangeArrowheads="1"/>
                      </p:cNvPicPr>
                      <p:nvPr/>
                    </p:nvPicPr>
                    <p:blipFill>
                      <a:blip r:embed="rId8"/>
                      <a:srcRect/>
                      <a:stretch>
                        <a:fillRect/>
                      </a:stretch>
                    </p:blipFill>
                    <p:spPr bwMode="auto">
                      <a:xfrm>
                        <a:off x="5332413" y="4298950"/>
                        <a:ext cx="24384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矩形 10"/>
          <p:cNvSpPr/>
          <p:nvPr/>
        </p:nvSpPr>
        <p:spPr>
          <a:xfrm>
            <a:off x="4902727" y="2130312"/>
            <a:ext cx="4147930" cy="954107"/>
          </a:xfrm>
          <a:prstGeom prst="rect">
            <a:avLst/>
          </a:prstGeom>
        </p:spPr>
        <p:txBody>
          <a:bodyPr wrap="square">
            <a:spAutoFit/>
          </a:bodyPr>
          <a:lstStyle/>
          <a:p>
            <a:pPr lvl="0"/>
            <a:r>
              <a:rPr lang="zh-CN" altLang="en-US" sz="2800" b="1" dirty="0" smtClean="0">
                <a:solidFill>
                  <a:srgbClr val="FF0000"/>
                </a:solidFill>
                <a:latin typeface="Times New Roman" panose="02020603050405020304" pitchFamily="18" charset="0"/>
                <a:ea typeface="黑体" panose="02010609060101010101" pitchFamily="49" charset="-122"/>
              </a:rPr>
              <a:t>实际状态：</a:t>
            </a:r>
            <a:r>
              <a:rPr lang="en-US" altLang="zh-CN" sz="2800" b="1" i="1" dirty="0" smtClean="0">
                <a:solidFill>
                  <a:srgbClr val="FF0000"/>
                </a:solidFill>
                <a:latin typeface="Times New Roman" panose="02020603050405020304" pitchFamily="18" charset="0"/>
                <a:ea typeface="黑体" panose="02010609060101010101" pitchFamily="49" charset="-122"/>
              </a:rPr>
              <a:t>t</a:t>
            </a:r>
            <a:r>
              <a:rPr lang="en-US" altLang="zh-CN" sz="2800" b="1" dirty="0" smtClean="0">
                <a:solidFill>
                  <a:srgbClr val="FF0000"/>
                </a:solidFill>
                <a:latin typeface="Times New Roman" panose="02020603050405020304" pitchFamily="18" charset="0"/>
                <a:ea typeface="黑体" panose="02010609060101010101" pitchFamily="49" charset="-122"/>
              </a:rPr>
              <a:t>=27</a:t>
            </a:r>
            <a:r>
              <a:rPr lang="zh-CN" altLang="en-US" sz="2800" b="1" dirty="0">
                <a:solidFill>
                  <a:srgbClr val="FF0000"/>
                </a:solidFill>
                <a:latin typeface="Times New Roman" panose="02020603050405020304" pitchFamily="18" charset="0"/>
                <a:ea typeface="黑体" panose="02010609060101010101" pitchFamily="49" charset="-122"/>
              </a:rPr>
              <a:t>℃</a:t>
            </a:r>
            <a:r>
              <a:rPr lang="zh-CN" altLang="en-US" sz="2800" b="1" dirty="0" smtClean="0">
                <a:solidFill>
                  <a:srgbClr val="FF0000"/>
                </a:solidFill>
                <a:latin typeface="Times New Roman" panose="02020603050405020304" pitchFamily="18" charset="0"/>
                <a:ea typeface="黑体" panose="02010609060101010101" pitchFamily="49" charset="-122"/>
              </a:rPr>
              <a:t>， </a:t>
            </a:r>
            <a:r>
              <a:rPr lang="en-US" altLang="zh-CN" sz="2800" b="1" i="1" dirty="0" err="1" smtClean="0">
                <a:solidFill>
                  <a:srgbClr val="FF0000"/>
                </a:solidFill>
                <a:latin typeface="Times New Roman" panose="02020603050405020304" pitchFamily="18" charset="0"/>
                <a:ea typeface="黑体" panose="02010609060101010101" pitchFamily="49" charset="-122"/>
              </a:rPr>
              <a:t>p</a:t>
            </a:r>
            <a:r>
              <a:rPr lang="en-US" altLang="zh-CN" sz="2800" b="1" baseline="-25000" dirty="0" err="1" smtClean="0">
                <a:solidFill>
                  <a:srgbClr val="FF0000"/>
                </a:solidFill>
                <a:latin typeface="Times New Roman" panose="02020603050405020304" pitchFamily="18" charset="0"/>
                <a:ea typeface="黑体" panose="02010609060101010101" pitchFamily="49" charset="-122"/>
              </a:rPr>
              <a:t>g</a:t>
            </a:r>
            <a:r>
              <a:rPr lang="en-US" altLang="zh-CN" sz="2800" b="1" dirty="0" smtClean="0">
                <a:solidFill>
                  <a:srgbClr val="FF0000"/>
                </a:solidFill>
                <a:latin typeface="Times New Roman" panose="02020603050405020304" pitchFamily="18" charset="0"/>
                <a:ea typeface="黑体" panose="02010609060101010101" pitchFamily="49" charset="-122"/>
              </a:rPr>
              <a:t>=5.4 </a:t>
            </a:r>
            <a:r>
              <a:rPr lang="en-US" altLang="zh-CN" sz="2800" b="1" dirty="0">
                <a:solidFill>
                  <a:srgbClr val="FF0000"/>
                </a:solidFill>
                <a:latin typeface="Times New Roman" panose="02020603050405020304" pitchFamily="18" charset="0"/>
                <a:ea typeface="黑体" panose="02010609060101010101" pitchFamily="49" charset="-122"/>
              </a:rPr>
              <a:t>×10</a:t>
            </a:r>
            <a:r>
              <a:rPr lang="en-US" altLang="zh-CN" sz="2800" b="1" baseline="30000" dirty="0">
                <a:solidFill>
                  <a:srgbClr val="FF0000"/>
                </a:solidFill>
                <a:latin typeface="Times New Roman" panose="02020603050405020304" pitchFamily="18" charset="0"/>
                <a:ea typeface="黑体" panose="02010609060101010101" pitchFamily="49" charset="-122"/>
              </a:rPr>
              <a:t>3</a:t>
            </a:r>
            <a:r>
              <a:rPr lang="en-US" altLang="zh-CN" sz="2800" b="1" dirty="0">
                <a:solidFill>
                  <a:srgbClr val="FF0000"/>
                </a:solidFill>
                <a:latin typeface="Times New Roman" panose="02020603050405020304" pitchFamily="18" charset="0"/>
                <a:ea typeface="黑体" panose="02010609060101010101" pitchFamily="49" charset="-122"/>
              </a:rPr>
              <a:t>Pa</a:t>
            </a:r>
          </a:p>
        </p:txBody>
      </p:sp>
      <p:sp>
        <p:nvSpPr>
          <p:cNvPr id="12" name="矩形 11"/>
          <p:cNvSpPr/>
          <p:nvPr/>
        </p:nvSpPr>
        <p:spPr>
          <a:xfrm>
            <a:off x="4843644" y="3292592"/>
            <a:ext cx="2348720" cy="523220"/>
          </a:xfrm>
          <a:prstGeom prst="rect">
            <a:avLst/>
          </a:prstGeom>
        </p:spPr>
        <p:txBody>
          <a:bodyPr wrap="none">
            <a:spAutoFit/>
          </a:bodyPr>
          <a:lstStyle/>
          <a:p>
            <a:r>
              <a:rPr lang="zh-CN" altLang="en-US" sz="2800" b="1" dirty="0" smtClean="0">
                <a:solidFill>
                  <a:srgbClr val="FF0000"/>
                </a:solidFill>
                <a:latin typeface="Times New Roman" panose="02020603050405020304" pitchFamily="18" charset="0"/>
                <a:ea typeface="黑体" panose="02010609060101010101" pitchFamily="49" charset="-122"/>
              </a:rPr>
              <a:t>体积流量：？</a:t>
            </a:r>
            <a:endParaRPr lang="zh-CN" altLang="en-US" sz="2800" dirty="0">
              <a:solidFill>
                <a:srgbClr val="FF0000"/>
              </a:solidFill>
            </a:endParaRPr>
          </a:p>
        </p:txBody>
      </p:sp>
      <p:graphicFrame>
        <p:nvGraphicFramePr>
          <p:cNvPr id="15" name="Object 3"/>
          <p:cNvGraphicFramePr>
            <a:graphicFrameLocks noChangeAspect="1"/>
          </p:cNvGraphicFramePr>
          <p:nvPr/>
        </p:nvGraphicFramePr>
        <p:xfrm>
          <a:off x="6219825" y="5672138"/>
          <a:ext cx="554038" cy="666750"/>
        </p:xfrm>
        <a:graphic>
          <a:graphicData uri="http://schemas.openxmlformats.org/presentationml/2006/ole">
            <mc:AlternateContent xmlns:mc="http://schemas.openxmlformats.org/markup-compatibility/2006">
              <mc:Choice xmlns:v="urn:schemas-microsoft-com:vml" Requires="v">
                <p:oleObj spid="_x0000_s53414" name="Equation" r:id="rId9" imgW="4572000" imgH="5486400" progId="Equation.DSMT4">
                  <p:embed/>
                </p:oleObj>
              </mc:Choice>
              <mc:Fallback>
                <p:oleObj name="Equation" r:id="rId9" imgW="4572000" imgH="5486400" progId="Equation.DSMT4">
                  <p:embed/>
                  <p:pic>
                    <p:nvPicPr>
                      <p:cNvPr id="0" name="Object 3"/>
                      <p:cNvPicPr>
                        <a:picLocks noChangeAspect="1" noChangeArrowheads="1"/>
                      </p:cNvPicPr>
                      <p:nvPr/>
                    </p:nvPicPr>
                    <p:blipFill>
                      <a:blip r:embed="rId10"/>
                      <a:srcRect/>
                      <a:stretch>
                        <a:fillRect/>
                      </a:stretch>
                    </p:blipFill>
                    <p:spPr bwMode="auto">
                      <a:xfrm>
                        <a:off x="6219825" y="5672138"/>
                        <a:ext cx="55403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矩形 15"/>
          <p:cNvSpPr/>
          <p:nvPr/>
        </p:nvSpPr>
        <p:spPr>
          <a:xfrm>
            <a:off x="3868140" y="5499327"/>
            <a:ext cx="667170" cy="1107996"/>
          </a:xfrm>
          <a:prstGeom prst="rect">
            <a:avLst/>
          </a:prstGeom>
        </p:spPr>
        <p:txBody>
          <a:bodyPr wrap="none">
            <a:spAutoFit/>
          </a:bodyPr>
          <a:lstStyle/>
          <a:p>
            <a:r>
              <a:rPr lang="en-US" altLang="zh-CN" sz="6600" b="1" dirty="0">
                <a:solidFill>
                  <a:srgbClr val="FF0000"/>
                </a:solidFill>
                <a:latin typeface="Times New Roman" panose="02020603050405020304" pitchFamily="18" charset="0"/>
                <a:ea typeface="黑体" panose="02010609060101010101" pitchFamily="49" charset="-122"/>
              </a:rPr>
              <a:t>=</a:t>
            </a:r>
            <a:endParaRPr lang="zh-CN" altLang="en-US" sz="6600" dirty="0">
              <a:solidFill>
                <a:srgbClr val="FF0000"/>
              </a:solidFill>
            </a:endParaRPr>
          </a:p>
        </p:txBody>
      </p:sp>
      <p:sp>
        <p:nvSpPr>
          <p:cNvPr id="18" name="上箭头 17"/>
          <p:cNvSpPr/>
          <p:nvPr/>
        </p:nvSpPr>
        <p:spPr>
          <a:xfrm>
            <a:off x="6341165" y="3815812"/>
            <a:ext cx="210448" cy="576470"/>
          </a:xfrm>
          <a:prstGeom prst="upArrow">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上箭头 20"/>
          <p:cNvSpPr/>
          <p:nvPr/>
        </p:nvSpPr>
        <p:spPr>
          <a:xfrm>
            <a:off x="6341165" y="5030343"/>
            <a:ext cx="210448" cy="576470"/>
          </a:xfrm>
          <a:prstGeom prst="upArrow">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ctangle 2"/>
          <p:cNvSpPr txBox="1">
            <a:spLocks noChangeArrowheads="1"/>
          </p:cNvSpPr>
          <p:nvPr/>
        </p:nvSpPr>
        <p:spPr bwMode="auto">
          <a:xfrm>
            <a:off x="444500" y="305422"/>
            <a:ext cx="8280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spcBef>
                <a:spcPct val="50000"/>
              </a:spcBef>
              <a:buFontTx/>
              <a:buNone/>
            </a:pPr>
            <a:r>
              <a:rPr lang="zh-CN" altLang="en-US" sz="2400" b="1" dirty="0" smtClean="0">
                <a:latin typeface="Times New Roman" panose="02020603050405020304" pitchFamily="18" charset="0"/>
                <a:ea typeface="黑体" panose="02010609060101010101" pitchFamily="49" charset="-122"/>
              </a:rPr>
              <a:t>例</a:t>
            </a:r>
            <a:r>
              <a:rPr lang="en-US" altLang="zh-CN" sz="2400" b="1" dirty="0" smtClean="0">
                <a:latin typeface="Times New Roman" panose="02020603050405020304" pitchFamily="18" charset="0"/>
                <a:ea typeface="黑体" panose="02010609060101010101" pitchFamily="49" charset="-122"/>
              </a:rPr>
              <a:t>4-2</a:t>
            </a:r>
            <a:r>
              <a:rPr lang="zh-CN" altLang="en-US" sz="2400" b="1" dirty="0" smtClean="0">
                <a:latin typeface="Times New Roman" panose="02020603050405020304" pitchFamily="18" charset="0"/>
                <a:ea typeface="黑体" panose="02010609060101010101" pitchFamily="49" charset="-122"/>
              </a:rPr>
              <a:t>：某</a:t>
            </a:r>
            <a:r>
              <a:rPr lang="en-US" altLang="zh-CN" sz="2400" b="1" dirty="0" smtClean="0">
                <a:latin typeface="Times New Roman" panose="02020603050405020304" pitchFamily="18" charset="0"/>
                <a:ea typeface="黑体" panose="02010609060101010101" pitchFamily="49" charset="-122"/>
              </a:rPr>
              <a:t>300MW</a:t>
            </a:r>
            <a:r>
              <a:rPr lang="zh-CN" altLang="en-US" sz="2400" b="1" dirty="0" smtClean="0">
                <a:latin typeface="Times New Roman" panose="02020603050405020304" pitchFamily="18" charset="0"/>
                <a:ea typeface="黑体" panose="02010609060101010101" pitchFamily="49" charset="-122"/>
              </a:rPr>
              <a:t>机组锅炉燃煤所需的空气量在</a:t>
            </a:r>
            <a:r>
              <a:rPr lang="zh-CN" altLang="en-US" sz="2400" b="1" dirty="0" smtClean="0">
                <a:solidFill>
                  <a:srgbClr val="0000FF"/>
                </a:solidFill>
                <a:latin typeface="Times New Roman" panose="02020603050405020304" pitchFamily="18" charset="0"/>
                <a:ea typeface="黑体" panose="02010609060101010101" pitchFamily="49" charset="-122"/>
              </a:rPr>
              <a:t>标准状态下为</a:t>
            </a:r>
            <a:r>
              <a:rPr lang="en-US" altLang="zh-CN" sz="2400" b="1" dirty="0" smtClean="0">
                <a:solidFill>
                  <a:srgbClr val="0000FF"/>
                </a:solidFill>
                <a:latin typeface="Times New Roman" panose="02020603050405020304" pitchFamily="18" charset="0"/>
                <a:ea typeface="黑体" panose="02010609060101010101" pitchFamily="49" charset="-122"/>
              </a:rPr>
              <a:t>120×10</a:t>
            </a:r>
            <a:r>
              <a:rPr lang="en-US" altLang="zh-CN" sz="2400" b="1" baseline="30000" dirty="0" smtClean="0">
                <a:solidFill>
                  <a:srgbClr val="0000FF"/>
                </a:solidFill>
                <a:latin typeface="Times New Roman" panose="02020603050405020304" pitchFamily="18" charset="0"/>
                <a:ea typeface="黑体" panose="02010609060101010101" pitchFamily="49" charset="-122"/>
              </a:rPr>
              <a:t>3</a:t>
            </a:r>
            <a:r>
              <a:rPr lang="en-US" altLang="zh-CN" sz="2400" b="1" dirty="0" smtClean="0">
                <a:solidFill>
                  <a:srgbClr val="0000FF"/>
                </a:solidFill>
                <a:latin typeface="Times New Roman" panose="02020603050405020304" pitchFamily="18" charset="0"/>
                <a:ea typeface="黑体" panose="02010609060101010101" pitchFamily="49" charset="-122"/>
              </a:rPr>
              <a:t>m</a:t>
            </a:r>
            <a:r>
              <a:rPr lang="en-US" altLang="zh-CN" sz="2400" b="1" baseline="30000" dirty="0" smtClean="0">
                <a:solidFill>
                  <a:srgbClr val="0000FF"/>
                </a:solidFill>
                <a:latin typeface="Times New Roman" panose="02020603050405020304" pitchFamily="18" charset="0"/>
                <a:ea typeface="黑体" panose="02010609060101010101" pitchFamily="49" charset="-122"/>
              </a:rPr>
              <a:t>3</a:t>
            </a:r>
            <a:r>
              <a:rPr lang="en-US" altLang="zh-CN" sz="2400" b="1" dirty="0" smtClean="0">
                <a:solidFill>
                  <a:srgbClr val="0000FF"/>
                </a:solidFill>
                <a:latin typeface="Times New Roman" panose="02020603050405020304" pitchFamily="18" charset="0"/>
                <a:ea typeface="黑体" panose="02010609060101010101" pitchFamily="49" charset="-122"/>
              </a:rPr>
              <a:t>/h</a:t>
            </a:r>
            <a:r>
              <a:rPr lang="zh-CN" altLang="en-US" sz="2400" b="1" dirty="0" smtClean="0">
                <a:latin typeface="Times New Roman" panose="02020603050405020304" pitchFamily="18" charset="0"/>
                <a:ea typeface="黑体" panose="02010609060101010101" pitchFamily="49" charset="-122"/>
              </a:rPr>
              <a:t>，送风机实际送入的空气温度为</a:t>
            </a:r>
            <a:r>
              <a:rPr lang="en-US" altLang="zh-CN" sz="2400" b="1" dirty="0" smtClean="0">
                <a:solidFill>
                  <a:srgbClr val="FF0000"/>
                </a:solidFill>
                <a:latin typeface="Times New Roman" panose="02020603050405020304" pitchFamily="18" charset="0"/>
                <a:ea typeface="黑体" panose="02010609060101010101" pitchFamily="49" charset="-122"/>
              </a:rPr>
              <a:t>27℃</a:t>
            </a:r>
            <a:r>
              <a:rPr lang="zh-CN" altLang="en-US" sz="2400" b="1" dirty="0" smtClean="0">
                <a:latin typeface="Times New Roman" panose="02020603050405020304" pitchFamily="18" charset="0"/>
                <a:ea typeface="黑体" panose="02010609060101010101" pitchFamily="49" charset="-122"/>
              </a:rPr>
              <a:t>，出口压力表的读数为</a:t>
            </a:r>
            <a:r>
              <a:rPr lang="en-US" altLang="zh-CN" sz="2400" b="1" dirty="0" smtClean="0">
                <a:solidFill>
                  <a:srgbClr val="FF0000"/>
                </a:solidFill>
                <a:latin typeface="Times New Roman" panose="02020603050405020304" pitchFamily="18" charset="0"/>
                <a:ea typeface="黑体" panose="02010609060101010101" pitchFamily="49" charset="-122"/>
              </a:rPr>
              <a:t>5.4×10</a:t>
            </a:r>
            <a:r>
              <a:rPr lang="en-US" altLang="zh-CN" sz="2400" b="1" baseline="30000" dirty="0" smtClean="0">
                <a:solidFill>
                  <a:srgbClr val="FF0000"/>
                </a:solidFill>
                <a:latin typeface="Times New Roman" panose="02020603050405020304" pitchFamily="18" charset="0"/>
                <a:ea typeface="黑体" panose="02010609060101010101" pitchFamily="49" charset="-122"/>
              </a:rPr>
              <a:t>3</a:t>
            </a:r>
            <a:r>
              <a:rPr lang="en-US" altLang="zh-CN" sz="2400" b="1" dirty="0" smtClean="0">
                <a:solidFill>
                  <a:srgbClr val="FF0000"/>
                </a:solidFill>
                <a:latin typeface="Times New Roman" panose="02020603050405020304" pitchFamily="18" charset="0"/>
                <a:ea typeface="黑体" panose="02010609060101010101" pitchFamily="49" charset="-122"/>
              </a:rPr>
              <a:t>Pa</a:t>
            </a:r>
            <a:r>
              <a:rPr lang="zh-CN" altLang="en-US" sz="2400" b="1" dirty="0" smtClean="0">
                <a:latin typeface="Times New Roman" panose="02020603050405020304" pitchFamily="18" charset="0"/>
                <a:ea typeface="黑体" panose="02010609060101010101" pitchFamily="49" charset="-122"/>
              </a:rPr>
              <a:t>。当地大气压力为</a:t>
            </a:r>
            <a:r>
              <a:rPr lang="en-US" altLang="zh-CN" sz="2400" b="1" dirty="0" smtClean="0">
                <a:solidFill>
                  <a:srgbClr val="FF0000"/>
                </a:solidFill>
                <a:latin typeface="Times New Roman" panose="02020603050405020304" pitchFamily="18" charset="0"/>
                <a:ea typeface="黑体" panose="02010609060101010101" pitchFamily="49" charset="-122"/>
              </a:rPr>
              <a:t>0.1MPa</a:t>
            </a:r>
            <a:r>
              <a:rPr lang="zh-CN" altLang="en-US" sz="2400" b="1" dirty="0" smtClean="0">
                <a:latin typeface="Times New Roman" panose="02020603050405020304" pitchFamily="18" charset="0"/>
                <a:ea typeface="黑体" panose="02010609060101010101" pitchFamily="49" charset="-122"/>
              </a:rPr>
              <a:t>，求送风机的</a:t>
            </a:r>
            <a:r>
              <a:rPr lang="zh-CN" altLang="en-US" sz="2400" b="1" dirty="0" smtClean="0">
                <a:solidFill>
                  <a:srgbClr val="FF0000"/>
                </a:solidFill>
                <a:latin typeface="Times New Roman" panose="02020603050405020304" pitchFamily="18" charset="0"/>
                <a:ea typeface="黑体" panose="02010609060101010101" pitchFamily="49" charset="-122"/>
              </a:rPr>
              <a:t>实际送风量</a:t>
            </a:r>
            <a:r>
              <a:rPr lang="zh-CN" altLang="en-US" sz="2400" b="1" dirty="0" smtClean="0">
                <a:latin typeface="Times New Roman" panose="02020603050405020304" pitchFamily="18" charset="0"/>
                <a:ea typeface="黑体" panose="02010609060101010101" pitchFamily="49" charset="-122"/>
              </a:rPr>
              <a:t>（</a:t>
            </a:r>
            <a:r>
              <a:rPr lang="en-US" altLang="zh-CN" sz="2400" b="1" dirty="0" smtClean="0">
                <a:latin typeface="Times New Roman" panose="02020603050405020304" pitchFamily="18" charset="0"/>
                <a:ea typeface="黑体" panose="02010609060101010101" pitchFamily="49" charset="-122"/>
              </a:rPr>
              <a:t>m</a:t>
            </a:r>
            <a:r>
              <a:rPr lang="en-US" altLang="zh-CN" sz="2400" b="1" baseline="30000" dirty="0" smtClean="0">
                <a:latin typeface="Times New Roman" panose="02020603050405020304" pitchFamily="18" charset="0"/>
                <a:ea typeface="黑体" panose="02010609060101010101" pitchFamily="49" charset="-122"/>
              </a:rPr>
              <a:t>3</a:t>
            </a:r>
            <a:r>
              <a:rPr lang="en-US" altLang="zh-CN" sz="2400" b="1" dirty="0" smtClean="0">
                <a:latin typeface="Times New Roman" panose="02020603050405020304" pitchFamily="18" charset="0"/>
                <a:ea typeface="黑体" panose="02010609060101010101" pitchFamily="49" charset="-122"/>
              </a:rPr>
              <a:t>/h</a:t>
            </a:r>
            <a:r>
              <a:rPr lang="zh-CN" altLang="en-US" sz="2400" b="1" dirty="0" smtClean="0">
                <a:latin typeface="Times New Roman" panose="02020603050405020304" pitchFamily="18" charset="0"/>
                <a:ea typeface="黑体" panose="02010609060101010101" pitchFamily="49" charset="-122"/>
              </a:rPr>
              <a:t>）。 </a:t>
            </a:r>
          </a:p>
        </p:txBody>
      </p:sp>
      <p:graphicFrame>
        <p:nvGraphicFramePr>
          <p:cNvPr id="27" name="对象 26"/>
          <p:cNvGraphicFramePr>
            <a:graphicFrameLocks noChangeAspect="1"/>
          </p:cNvGraphicFramePr>
          <p:nvPr/>
        </p:nvGraphicFramePr>
        <p:xfrm>
          <a:off x="4651513" y="1485681"/>
          <a:ext cx="2162175" cy="360363"/>
        </p:xfrm>
        <a:graphic>
          <a:graphicData uri="http://schemas.openxmlformats.org/presentationml/2006/ole">
            <mc:AlternateContent xmlns:mc="http://schemas.openxmlformats.org/markup-compatibility/2006">
              <mc:Choice xmlns:v="urn:schemas-microsoft-com:vml" Requires="v">
                <p:oleObj spid="_x0000_s53415" name="Equation" r:id="rId11" imgW="32918400" imgH="5486400" progId="Equation.DSMT4">
                  <p:embed/>
                </p:oleObj>
              </mc:Choice>
              <mc:Fallback>
                <p:oleObj name="Equation" r:id="rId11" imgW="32918400" imgH="5486400" progId="Equation.DSMT4">
                  <p:embed/>
                  <p:pic>
                    <p:nvPicPr>
                      <p:cNvPr id="0" name="图片 53380"/>
                      <p:cNvPicPr/>
                      <p:nvPr/>
                    </p:nvPicPr>
                    <p:blipFill>
                      <a:blip r:embed="rId12"/>
                      <a:stretch>
                        <a:fillRect/>
                      </a:stretch>
                    </p:blipFill>
                    <p:spPr>
                      <a:xfrm>
                        <a:off x="4651513" y="1485681"/>
                        <a:ext cx="2162175" cy="360363"/>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0241"/>
          <p:cNvSpPr>
            <a:spLocks noGrp="1" noChangeArrowheads="1"/>
          </p:cNvSpPr>
          <p:nvPr>
            <p:ph type="ctrTitle"/>
          </p:nvPr>
        </p:nvSpPr>
        <p:spPr>
          <a:xfrm>
            <a:off x="1331913" y="1700213"/>
            <a:ext cx="6192837" cy="957262"/>
          </a:xfrm>
        </p:spPr>
        <p:txBody>
          <a:bodyPr/>
          <a:lstStyle/>
          <a:p>
            <a:pPr eaLnBrk="1" hangingPunct="1"/>
            <a:r>
              <a:rPr lang="en-US" altLang="zh-CN" sz="4400" b="1" smtClean="0">
                <a:solidFill>
                  <a:schemeClr val="tx1"/>
                </a:solidFill>
                <a:latin typeface="黑体" panose="02010609060101010101" pitchFamily="49" charset="-122"/>
                <a:ea typeface="黑体" panose="02010609060101010101" pitchFamily="49" charset="-122"/>
              </a:rPr>
              <a:t>§4</a:t>
            </a:r>
            <a:r>
              <a:rPr lang="zh-CN" altLang="en-US" sz="4400" b="1" smtClean="0">
                <a:solidFill>
                  <a:schemeClr val="tx1"/>
                </a:solidFill>
                <a:latin typeface="黑体" panose="02010609060101010101" pitchFamily="49" charset="-122"/>
                <a:ea typeface="黑体" panose="02010609060101010101" pitchFamily="49" charset="-122"/>
              </a:rPr>
              <a:t>－</a:t>
            </a:r>
            <a:r>
              <a:rPr lang="en-US" altLang="zh-CN" sz="4400" b="1" smtClean="0">
                <a:solidFill>
                  <a:schemeClr val="tx1"/>
                </a:solidFill>
                <a:latin typeface="黑体" panose="02010609060101010101" pitchFamily="49" charset="-122"/>
                <a:ea typeface="黑体" panose="02010609060101010101" pitchFamily="49" charset="-122"/>
              </a:rPr>
              <a:t>2</a:t>
            </a:r>
            <a:r>
              <a:rPr lang="zh-CN" altLang="en-US" sz="4400" b="1" smtClean="0">
                <a:solidFill>
                  <a:schemeClr val="tx1"/>
                </a:solidFill>
                <a:latin typeface="黑体" panose="02010609060101010101" pitchFamily="49" charset="-122"/>
                <a:ea typeface="黑体" panose="02010609060101010101" pitchFamily="49" charset="-122"/>
              </a:rPr>
              <a:t>　比热容的定义</a:t>
            </a:r>
          </a:p>
        </p:txBody>
      </p:sp>
      <p:sp>
        <p:nvSpPr>
          <p:cNvPr id="33795" name="矩形 10243"/>
          <p:cNvSpPr>
            <a:spLocks noChangeArrowheads="1"/>
          </p:cNvSpPr>
          <p:nvPr/>
        </p:nvSpPr>
        <p:spPr bwMode="auto">
          <a:xfrm>
            <a:off x="900113" y="4005263"/>
            <a:ext cx="71294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注意：本小节所讲内容</a:t>
            </a:r>
            <a:r>
              <a:rPr lang="zh-CN" altLang="en-US" sz="3200" b="1">
                <a:solidFill>
                  <a:srgbClr val="FF0000"/>
                </a:solidFill>
                <a:latin typeface="黑体" panose="02010609060101010101" pitchFamily="49" charset="-122"/>
                <a:ea typeface="黑体" panose="02010609060101010101" pitchFamily="49" charset="-122"/>
              </a:rPr>
              <a:t>不限于</a:t>
            </a:r>
            <a:r>
              <a:rPr lang="zh-CN" altLang="en-US" sz="3200" b="1">
                <a:latin typeface="黑体" panose="02010609060101010101" pitchFamily="49" charset="-122"/>
                <a:ea typeface="黑体" panose="02010609060101010101" pitchFamily="49" charset="-122"/>
              </a:rPr>
              <a:t>理想气体，对于实际气体、固体、液体均适用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56321"/>
          <p:cNvSpPr>
            <a:spLocks noGrp="1" noChangeArrowheads="1"/>
          </p:cNvSpPr>
          <p:nvPr>
            <p:ph type="title"/>
          </p:nvPr>
        </p:nvSpPr>
        <p:spPr>
          <a:xfrm>
            <a:off x="457200" y="44450"/>
            <a:ext cx="8229600" cy="1143000"/>
          </a:xfrm>
        </p:spPr>
        <p:txBody>
          <a:bodyPr/>
          <a:lstStyle/>
          <a:p>
            <a:pPr algn="l" eaLnBrk="1" hangingPunct="1"/>
            <a:r>
              <a:rPr lang="zh-CN" altLang="en-US" smtClean="0">
                <a:ea typeface="黑体" panose="02010609060101010101" pitchFamily="49" charset="-122"/>
              </a:rPr>
              <a:t>一</a:t>
            </a:r>
            <a:r>
              <a:rPr lang="zh-CN" altLang="en-US" b="1" smtClean="0">
                <a:ea typeface="黑体" panose="02010609060101010101" pitchFamily="49" charset="-122"/>
              </a:rPr>
              <a:t>、比定容热容</a:t>
            </a:r>
          </a:p>
        </p:txBody>
      </p:sp>
      <p:sp>
        <p:nvSpPr>
          <p:cNvPr id="34819" name="文本占位符 56322"/>
          <p:cNvSpPr>
            <a:spLocks noGrp="1" noChangeArrowheads="1"/>
          </p:cNvSpPr>
          <p:nvPr>
            <p:ph idx="1"/>
          </p:nvPr>
        </p:nvSpPr>
        <p:spPr>
          <a:xfrm>
            <a:off x="457200" y="1196975"/>
            <a:ext cx="8229600" cy="1108075"/>
          </a:xfrm>
        </p:spPr>
        <p:txBody>
          <a:bodyPr>
            <a:normAutofit/>
          </a:bodyPr>
          <a:lstStyle/>
          <a:p>
            <a:pPr marL="0" indent="0" eaLnBrk="1" hangingPunct="1">
              <a:buNone/>
            </a:pPr>
            <a:r>
              <a:rPr lang="zh-CN" altLang="en-US" sz="3200" b="1" dirty="0" smtClean="0">
                <a:latin typeface="黑体" panose="02010609060101010101" pitchFamily="49" charset="-122"/>
                <a:ea typeface="黑体" panose="02010609060101010101" pitchFamily="49" charset="-122"/>
              </a:rPr>
              <a:t>简单可压缩系统的内部强度状态参数可以由两个内部独立强度状态参数确定 </a:t>
            </a:r>
          </a:p>
        </p:txBody>
      </p:sp>
      <p:graphicFrame>
        <p:nvGraphicFramePr>
          <p:cNvPr id="56324" name="对象 56323"/>
          <p:cNvGraphicFramePr/>
          <p:nvPr/>
        </p:nvGraphicFramePr>
        <p:xfrm>
          <a:off x="3203575" y="2492375"/>
          <a:ext cx="1908175" cy="687388"/>
        </p:xfrm>
        <a:graphic>
          <a:graphicData uri="http://schemas.openxmlformats.org/presentationml/2006/ole">
            <mc:AlternateContent xmlns:mc="http://schemas.openxmlformats.org/markup-compatibility/2006">
              <mc:Choice xmlns:v="urn:schemas-microsoft-com:vml" Requires="v">
                <p:oleObj spid="_x0000_s54359" r:id="rId4" imgW="711200" imgH="254000" progId="Equation.DSMT4">
                  <p:embed/>
                </p:oleObj>
              </mc:Choice>
              <mc:Fallback>
                <p:oleObj r:id="rId4" imgW="711200" imgH="254000" progId="Equation.DSMT4">
                  <p:embed/>
                  <p:pic>
                    <p:nvPicPr>
                      <p:cNvPr id="0" name="对象 5632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2492375"/>
                        <a:ext cx="1908175"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6" name="对象 56325"/>
          <p:cNvGraphicFramePr/>
          <p:nvPr/>
        </p:nvGraphicFramePr>
        <p:xfrm>
          <a:off x="2268538" y="3284538"/>
          <a:ext cx="4211637" cy="1130300"/>
        </p:xfrm>
        <a:graphic>
          <a:graphicData uri="http://schemas.openxmlformats.org/presentationml/2006/ole">
            <mc:AlternateContent xmlns:mc="http://schemas.openxmlformats.org/markup-compatibility/2006">
              <mc:Choice xmlns:v="urn:schemas-microsoft-com:vml" Requires="v">
                <p:oleObj spid="_x0000_s54360" r:id="rId6" imgW="1663700" imgH="444500" progId="Equation.DSMT4">
                  <p:embed/>
                </p:oleObj>
              </mc:Choice>
              <mc:Fallback>
                <p:oleObj r:id="rId6" imgW="1663700" imgH="444500" progId="Equation.DSMT4">
                  <p:embed/>
                  <p:pic>
                    <p:nvPicPr>
                      <p:cNvPr id="0" name="对象 5632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3284538"/>
                        <a:ext cx="4211637"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31" name="对象 56330"/>
          <p:cNvGraphicFramePr/>
          <p:nvPr/>
        </p:nvGraphicFramePr>
        <p:xfrm>
          <a:off x="3203575" y="5516563"/>
          <a:ext cx="2339975" cy="1089025"/>
        </p:xfrm>
        <a:graphic>
          <a:graphicData uri="http://schemas.openxmlformats.org/presentationml/2006/ole">
            <mc:AlternateContent xmlns:mc="http://schemas.openxmlformats.org/markup-compatibility/2006">
              <mc:Choice xmlns:v="urn:schemas-microsoft-com:vml" Requires="v">
                <p:oleObj spid="_x0000_s54361" name="Equation" r:id="rId8" imgW="23164800" imgH="10668000" progId="Equation.DSMT4">
                  <p:embed/>
                </p:oleObj>
              </mc:Choice>
              <mc:Fallback>
                <p:oleObj name="Equation" r:id="rId8" imgW="23164800" imgH="10668000" progId="Equation.DSMT4">
                  <p:embed/>
                  <p:pic>
                    <p:nvPicPr>
                      <p:cNvPr id="0" name="对象 56330"/>
                      <p:cNvPicPr>
                        <a:picLocks noChangeArrowheads="1"/>
                      </p:cNvPicPr>
                      <p:nvPr/>
                    </p:nvPicPr>
                    <p:blipFill>
                      <a:blip r:embed="rId9"/>
                      <a:srcRect/>
                      <a:stretch>
                        <a:fillRect/>
                      </a:stretch>
                    </p:blipFill>
                    <p:spPr bwMode="auto">
                      <a:xfrm>
                        <a:off x="3203575" y="5516563"/>
                        <a:ext cx="233997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6335" name="组合 56334"/>
          <p:cNvGrpSpPr/>
          <p:nvPr/>
        </p:nvGrpSpPr>
        <p:grpSpPr bwMode="auto">
          <a:xfrm>
            <a:off x="2324100" y="4437063"/>
            <a:ext cx="2968625" cy="1008062"/>
            <a:chOff x="1464" y="2795"/>
            <a:chExt cx="1870" cy="635"/>
          </a:xfrm>
        </p:grpSpPr>
        <p:sp>
          <p:nvSpPr>
            <p:cNvPr id="34824" name="矩形 56328"/>
            <p:cNvSpPr>
              <a:spLocks noChangeArrowheads="1"/>
            </p:cNvSpPr>
            <p:nvPr/>
          </p:nvSpPr>
          <p:spPr bwMode="auto">
            <a:xfrm>
              <a:off x="1464" y="2886"/>
              <a:ext cx="187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定容过程</a:t>
              </a:r>
            </a:p>
          </p:txBody>
        </p:sp>
        <p:sp>
          <p:nvSpPr>
            <p:cNvPr id="34825" name="下箭头 56333"/>
            <p:cNvSpPr>
              <a:spLocks noChangeArrowheads="1"/>
            </p:cNvSpPr>
            <p:nvPr/>
          </p:nvSpPr>
          <p:spPr bwMode="auto">
            <a:xfrm>
              <a:off x="2744" y="2795"/>
              <a:ext cx="272" cy="635"/>
            </a:xfrm>
            <a:prstGeom prst="downArrow">
              <a:avLst>
                <a:gd name="adj1" fmla="val 50000"/>
                <a:gd name="adj2" fmla="val 58342"/>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blinds(horizontal)">
                                      <p:cBhvr>
                                        <p:cTn id="7" dur="500"/>
                                        <p:tgtEl>
                                          <p:spTgt spid="563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326"/>
                                        </p:tgtEl>
                                        <p:attrNameLst>
                                          <p:attrName>style.visibility</p:attrName>
                                        </p:attrNameLst>
                                      </p:cBhvr>
                                      <p:to>
                                        <p:strVal val="visible"/>
                                      </p:to>
                                    </p:set>
                                    <p:animEffect transition="in" filter="blinds(horizontal)">
                                      <p:cBhvr>
                                        <p:cTn id="12" dur="500"/>
                                        <p:tgtEl>
                                          <p:spTgt spid="563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6335"/>
                                        </p:tgtEl>
                                        <p:attrNameLst>
                                          <p:attrName>style.visibility</p:attrName>
                                        </p:attrNameLst>
                                      </p:cBhvr>
                                      <p:to>
                                        <p:strVal val="visible"/>
                                      </p:to>
                                    </p:set>
                                    <p:animEffect transition="in" filter="wipe(up)">
                                      <p:cBhvr>
                                        <p:cTn id="17" dur="500"/>
                                        <p:tgtEl>
                                          <p:spTgt spid="563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331"/>
                                        </p:tgtEl>
                                        <p:attrNameLst>
                                          <p:attrName>style.visibility</p:attrName>
                                        </p:attrNameLst>
                                      </p:cBhvr>
                                      <p:to>
                                        <p:strVal val="visible"/>
                                      </p:to>
                                    </p:set>
                                    <p:animEffect transition="in" filter="blinds(horizontal)">
                                      <p:cBhvr>
                                        <p:cTn id="22" dur="500"/>
                                        <p:tgtEl>
                                          <p:spTgt spid="56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对象 57347"/>
          <p:cNvGraphicFramePr/>
          <p:nvPr/>
        </p:nvGraphicFramePr>
        <p:xfrm>
          <a:off x="3203575" y="260350"/>
          <a:ext cx="2339975" cy="1089025"/>
        </p:xfrm>
        <a:graphic>
          <a:graphicData uri="http://schemas.openxmlformats.org/presentationml/2006/ole">
            <mc:AlternateContent xmlns:mc="http://schemas.openxmlformats.org/markup-compatibility/2006">
              <mc:Choice xmlns:v="urn:schemas-microsoft-com:vml" Requires="v">
                <p:oleObj spid="_x0000_s55410" name="Equation" r:id="rId3" imgW="23164800" imgH="10668000" progId="Equation.DSMT4">
                  <p:embed/>
                </p:oleObj>
              </mc:Choice>
              <mc:Fallback>
                <p:oleObj name="Equation" r:id="rId3" imgW="23164800" imgH="10668000" progId="Equation.DSMT4">
                  <p:embed/>
                  <p:pic>
                    <p:nvPicPr>
                      <p:cNvPr id="0" name="对象 57347"/>
                      <p:cNvPicPr>
                        <a:picLocks noChangeArrowheads="1"/>
                      </p:cNvPicPr>
                      <p:nvPr/>
                    </p:nvPicPr>
                    <p:blipFill>
                      <a:blip r:embed="rId4"/>
                      <a:srcRect/>
                      <a:stretch>
                        <a:fillRect/>
                      </a:stretch>
                    </p:blipFill>
                    <p:spPr bwMode="auto">
                      <a:xfrm>
                        <a:off x="3203575" y="260350"/>
                        <a:ext cx="233997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3" name="矩形 57348"/>
          <p:cNvSpPr>
            <a:spLocks noChangeArrowheads="1"/>
          </p:cNvSpPr>
          <p:nvPr/>
        </p:nvSpPr>
        <p:spPr bwMode="auto">
          <a:xfrm>
            <a:off x="611188" y="1443038"/>
            <a:ext cx="80645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物质的比热力学能对温度的偏微商具有重要的意义，将其定义为物质的</a:t>
            </a:r>
            <a:r>
              <a:rPr lang="zh-CN" altLang="en-US" sz="3200" b="1">
                <a:solidFill>
                  <a:srgbClr val="FF0000"/>
                </a:solidFill>
                <a:latin typeface="黑体" panose="02010609060101010101" pitchFamily="49" charset="-122"/>
                <a:ea typeface="黑体" panose="02010609060101010101" pitchFamily="49" charset="-122"/>
              </a:rPr>
              <a:t>比定容热容</a:t>
            </a:r>
            <a:r>
              <a:rPr lang="zh-CN" altLang="en-US" sz="3200" b="1">
                <a:latin typeface="黑体" panose="02010609060101010101" pitchFamily="49" charset="-122"/>
                <a:ea typeface="黑体" panose="02010609060101010101" pitchFamily="49" charset="-122"/>
              </a:rPr>
              <a:t>，用符号</a:t>
            </a:r>
            <a:r>
              <a:rPr lang="en-US" altLang="zh-CN" sz="3200" b="1" i="1">
                <a:latin typeface="Times New Roman" panose="02020603050405020304" pitchFamily="18" charset="0"/>
                <a:ea typeface="黑体" panose="02010609060101010101" pitchFamily="49" charset="-122"/>
              </a:rPr>
              <a:t>c</a:t>
            </a:r>
            <a:r>
              <a:rPr lang="en-US" altLang="zh-CN" sz="3200" b="1" i="1" baseline="-25000">
                <a:latin typeface="Times New Roman" panose="02020603050405020304" pitchFamily="18" charset="0"/>
                <a:ea typeface="黑体" panose="02010609060101010101" pitchFamily="49" charset="-122"/>
              </a:rPr>
              <a:t>V</a:t>
            </a:r>
            <a:r>
              <a:rPr lang="zh-CN" altLang="en-US" sz="3200" b="1">
                <a:latin typeface="黑体" panose="02010609060101010101" pitchFamily="49" charset="-122"/>
                <a:ea typeface="黑体" panose="02010609060101010101" pitchFamily="49" charset="-122"/>
              </a:rPr>
              <a:t>表示 </a:t>
            </a:r>
          </a:p>
        </p:txBody>
      </p:sp>
      <p:sp>
        <p:nvSpPr>
          <p:cNvPr id="35844" name="矩形 57350"/>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45" name="对象 57349"/>
          <p:cNvGraphicFramePr/>
          <p:nvPr/>
        </p:nvGraphicFramePr>
        <p:xfrm>
          <a:off x="3276600" y="3187700"/>
          <a:ext cx="1692275" cy="1033463"/>
        </p:xfrm>
        <a:graphic>
          <a:graphicData uri="http://schemas.openxmlformats.org/presentationml/2006/ole">
            <mc:AlternateContent xmlns:mc="http://schemas.openxmlformats.org/markup-compatibility/2006">
              <mc:Choice xmlns:v="urn:schemas-microsoft-com:vml" Requires="v">
                <p:oleObj spid="_x0000_s55411" r:id="rId5" imgW="735965" imgH="444500" progId="Equation.DSMT4">
                  <p:embed/>
                </p:oleObj>
              </mc:Choice>
              <mc:Fallback>
                <p:oleObj r:id="rId5" imgW="735965" imgH="444500" progId="Equation.DSMT4">
                  <p:embed/>
                  <p:pic>
                    <p:nvPicPr>
                      <p:cNvPr id="0" name="对象 5734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3187700"/>
                        <a:ext cx="1692275"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6" name="矩形 5735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47" name="对象 57353"/>
          <p:cNvGraphicFramePr/>
          <p:nvPr/>
        </p:nvGraphicFramePr>
        <p:xfrm>
          <a:off x="2592388" y="4933950"/>
          <a:ext cx="1763712" cy="569913"/>
        </p:xfrm>
        <a:graphic>
          <a:graphicData uri="http://schemas.openxmlformats.org/presentationml/2006/ole">
            <mc:AlternateContent xmlns:mc="http://schemas.openxmlformats.org/markup-compatibility/2006">
              <mc:Choice xmlns:v="urn:schemas-microsoft-com:vml" Requires="v">
                <p:oleObj spid="_x0000_s55412" r:id="rId7" imgW="622300" imgH="203200" progId="Equation.DSMT4">
                  <p:embed/>
                </p:oleObj>
              </mc:Choice>
              <mc:Fallback>
                <p:oleObj r:id="rId7" imgW="622300" imgH="203200" progId="Equation.DSMT4">
                  <p:embed/>
                  <p:pic>
                    <p:nvPicPr>
                      <p:cNvPr id="0" name="对象 5735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2388" y="4933950"/>
                        <a:ext cx="1763712"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8" name="矩形 5735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49" name="对象 57355"/>
          <p:cNvGraphicFramePr/>
          <p:nvPr/>
        </p:nvGraphicFramePr>
        <p:xfrm>
          <a:off x="5400675" y="4845050"/>
          <a:ext cx="1979613" cy="671513"/>
        </p:xfrm>
        <a:graphic>
          <a:graphicData uri="http://schemas.openxmlformats.org/presentationml/2006/ole">
            <mc:AlternateContent xmlns:mc="http://schemas.openxmlformats.org/markup-compatibility/2006">
              <mc:Choice xmlns:v="urn:schemas-microsoft-com:vml" Requires="v">
                <p:oleObj spid="_x0000_s55413" r:id="rId9" imgW="673100" imgH="228600" progId="Equation.DSMT4">
                  <p:embed/>
                </p:oleObj>
              </mc:Choice>
              <mc:Fallback>
                <p:oleObj r:id="rId9" imgW="673100" imgH="228600" progId="Equation.DSMT4">
                  <p:embed/>
                  <p:pic>
                    <p:nvPicPr>
                      <p:cNvPr id="0" name="对象 5735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00675" y="4845050"/>
                        <a:ext cx="1979613"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0" name="矩形 57358"/>
          <p:cNvSpPr>
            <a:spLocks noChangeArrowheads="1"/>
          </p:cNvSpPr>
          <p:nvPr/>
        </p:nvSpPr>
        <p:spPr bwMode="auto">
          <a:xfrm>
            <a:off x="4643438" y="4862513"/>
            <a:ext cx="5921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或</a:t>
            </a:r>
          </a:p>
        </p:txBody>
      </p:sp>
      <p:sp>
        <p:nvSpPr>
          <p:cNvPr id="35851" name="矩形 57359"/>
          <p:cNvSpPr>
            <a:spLocks noChangeArrowheads="1"/>
          </p:cNvSpPr>
          <p:nvPr/>
        </p:nvSpPr>
        <p:spPr bwMode="auto">
          <a:xfrm>
            <a:off x="1042988" y="4868863"/>
            <a:ext cx="14081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单位：</a:t>
            </a:r>
          </a:p>
        </p:txBody>
      </p:sp>
      <p:sp>
        <p:nvSpPr>
          <p:cNvPr id="35852" name="矩形 57360"/>
          <p:cNvSpPr>
            <a:spLocks noChangeArrowheads="1"/>
          </p:cNvSpPr>
          <p:nvPr/>
        </p:nvSpPr>
        <p:spPr bwMode="auto">
          <a:xfrm>
            <a:off x="2916238" y="2997200"/>
            <a:ext cx="2592387" cy="13684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3" name="直接连接符 57361"/>
          <p:cNvSpPr>
            <a:spLocks noChangeShapeType="1"/>
          </p:cNvSpPr>
          <p:nvPr/>
        </p:nvSpPr>
        <p:spPr bwMode="auto">
          <a:xfrm>
            <a:off x="3851275" y="1341438"/>
            <a:ext cx="1296988"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7" name="对象 58372"/>
          <p:cNvGraphicFramePr/>
          <p:nvPr/>
        </p:nvGraphicFramePr>
        <p:xfrm>
          <a:off x="1836738" y="960853"/>
          <a:ext cx="1692275" cy="1033462"/>
        </p:xfrm>
        <a:graphic>
          <a:graphicData uri="http://schemas.openxmlformats.org/presentationml/2006/ole">
            <mc:AlternateContent xmlns:mc="http://schemas.openxmlformats.org/markup-compatibility/2006">
              <mc:Choice xmlns:v="urn:schemas-microsoft-com:vml" Requires="v">
                <p:oleObj spid="_x0000_s56456" r:id="rId4" imgW="735965" imgH="444500" progId="Equation.DSMT4">
                  <p:embed/>
                </p:oleObj>
              </mc:Choice>
              <mc:Fallback>
                <p:oleObj r:id="rId4" imgW="735965" imgH="444500" progId="Equation.DSMT4">
                  <p:embed/>
                  <p:pic>
                    <p:nvPicPr>
                      <p:cNvPr id="0" name="对象 5837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6738" y="960853"/>
                        <a:ext cx="1692275"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8" name="矩形 58373"/>
          <p:cNvSpPr>
            <a:spLocks noChangeArrowheads="1"/>
          </p:cNvSpPr>
          <p:nvPr/>
        </p:nvSpPr>
        <p:spPr bwMode="auto">
          <a:xfrm>
            <a:off x="0" y="326272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69" name="矩形 58375"/>
          <p:cNvSpPr>
            <a:spLocks noChangeArrowheads="1"/>
          </p:cNvSpPr>
          <p:nvPr/>
        </p:nvSpPr>
        <p:spPr bwMode="auto">
          <a:xfrm>
            <a:off x="0" y="324844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0" name="矩形 58379"/>
          <p:cNvSpPr>
            <a:spLocks noChangeArrowheads="1"/>
          </p:cNvSpPr>
          <p:nvPr/>
        </p:nvSpPr>
        <p:spPr bwMode="auto">
          <a:xfrm>
            <a:off x="1476375" y="770353"/>
            <a:ext cx="2592388" cy="13684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81" name="矩形 58380"/>
          <p:cNvSpPr>
            <a:spLocks noChangeArrowheads="1"/>
          </p:cNvSpPr>
          <p:nvPr/>
        </p:nvSpPr>
        <p:spPr bwMode="auto">
          <a:xfrm>
            <a:off x="390185" y="2332384"/>
            <a:ext cx="85379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黑体" panose="02010609060101010101" pitchFamily="49" charset="-122"/>
                <a:ea typeface="黑体" panose="02010609060101010101" pitchFamily="49" charset="-122"/>
              </a:rPr>
              <a:t>对于</a:t>
            </a:r>
            <a:r>
              <a:rPr lang="zh-CN" altLang="en-US" sz="3200" b="1" dirty="0">
                <a:ea typeface="黑体" panose="02010609060101010101" pitchFamily="49" charset="-122"/>
              </a:rPr>
              <a:t>不</a:t>
            </a:r>
            <a:r>
              <a:rPr lang="zh-CN" altLang="en-US" sz="3200" b="1" dirty="0" smtClean="0">
                <a:ea typeface="黑体" panose="02010609060101010101" pitchFamily="49" charset="-122"/>
              </a:rPr>
              <a:t>考虑宏观动能和重力势能</a:t>
            </a:r>
            <a:r>
              <a:rPr lang="zh-CN" altLang="en-US" sz="3200" b="1" dirty="0">
                <a:ea typeface="黑体" panose="02010609060101010101" pitchFamily="49" charset="-122"/>
              </a:rPr>
              <a:t>变化的闭口</a:t>
            </a:r>
            <a:r>
              <a:rPr lang="zh-CN" altLang="en-US" sz="3200" b="1" dirty="0" smtClean="0">
                <a:ea typeface="黑体" panose="02010609060101010101" pitchFamily="49" charset="-122"/>
              </a:rPr>
              <a:t>系</a:t>
            </a:r>
            <a:r>
              <a:rPr lang="zh-CN" altLang="en-US" sz="3200" dirty="0" smtClean="0"/>
              <a:t> </a:t>
            </a:r>
            <a:endParaRPr lang="zh-CN" altLang="en-US" sz="3200" dirty="0"/>
          </a:p>
        </p:txBody>
      </p:sp>
      <p:graphicFrame>
        <p:nvGraphicFramePr>
          <p:cNvPr id="58383" name="对象 58382"/>
          <p:cNvGraphicFramePr/>
          <p:nvPr/>
        </p:nvGraphicFramePr>
        <p:xfrm>
          <a:off x="2051050" y="3002378"/>
          <a:ext cx="2411413" cy="595312"/>
        </p:xfrm>
        <a:graphic>
          <a:graphicData uri="http://schemas.openxmlformats.org/presentationml/2006/ole">
            <mc:AlternateContent xmlns:mc="http://schemas.openxmlformats.org/markup-compatibility/2006">
              <mc:Choice xmlns:v="urn:schemas-microsoft-com:vml" Requires="v">
                <p:oleObj spid="_x0000_s56457" r:id="rId6" imgW="812165" imgH="203200" progId="Equation.DSMT4">
                  <p:embed/>
                </p:oleObj>
              </mc:Choice>
              <mc:Fallback>
                <p:oleObj r:id="rId6" imgW="812165" imgH="203200" progId="Equation.DSMT4">
                  <p:embed/>
                  <p:pic>
                    <p:nvPicPr>
                      <p:cNvPr id="0" name="对象 5838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3002378"/>
                        <a:ext cx="2411413"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85" name="对象 58384"/>
          <p:cNvGraphicFramePr/>
          <p:nvPr/>
        </p:nvGraphicFramePr>
        <p:xfrm>
          <a:off x="2051050" y="4226340"/>
          <a:ext cx="2520950" cy="569913"/>
        </p:xfrm>
        <a:graphic>
          <a:graphicData uri="http://schemas.openxmlformats.org/presentationml/2006/ole">
            <mc:AlternateContent xmlns:mc="http://schemas.openxmlformats.org/markup-compatibility/2006">
              <mc:Choice xmlns:v="urn:schemas-microsoft-com:vml" Requires="v">
                <p:oleObj spid="_x0000_s56458" r:id="rId8" imgW="888365" imgH="203200" progId="Equation.DSMT4">
                  <p:embed/>
                </p:oleObj>
              </mc:Choice>
              <mc:Fallback>
                <p:oleObj r:id="rId8" imgW="888365" imgH="203200" progId="Equation.DSMT4">
                  <p:embed/>
                  <p:pic>
                    <p:nvPicPr>
                      <p:cNvPr id="0" name="对象 5838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4226340"/>
                        <a:ext cx="252095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87" name="矩形 58386"/>
          <p:cNvSpPr>
            <a:spLocks noChangeArrowheads="1"/>
          </p:cNvSpPr>
          <p:nvPr/>
        </p:nvSpPr>
        <p:spPr bwMode="auto">
          <a:xfrm>
            <a:off x="1116013" y="3507203"/>
            <a:ext cx="2879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可逆过程</a:t>
            </a:r>
          </a:p>
        </p:txBody>
      </p:sp>
      <p:sp>
        <p:nvSpPr>
          <p:cNvPr id="58388" name="下箭头 58387"/>
          <p:cNvSpPr>
            <a:spLocks noChangeArrowheads="1"/>
          </p:cNvSpPr>
          <p:nvPr/>
        </p:nvSpPr>
        <p:spPr bwMode="auto">
          <a:xfrm>
            <a:off x="3148013" y="3578640"/>
            <a:ext cx="431800" cy="649288"/>
          </a:xfrm>
          <a:prstGeom prst="downArrow">
            <a:avLst>
              <a:gd name="adj1" fmla="val 50000"/>
              <a:gd name="adj2" fmla="val 37578"/>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90" name="矩形 58389"/>
          <p:cNvSpPr>
            <a:spLocks noChangeArrowheads="1"/>
          </p:cNvSpPr>
          <p:nvPr/>
        </p:nvSpPr>
        <p:spPr bwMode="auto">
          <a:xfrm>
            <a:off x="1116013" y="4870865"/>
            <a:ext cx="28082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定容过程</a:t>
            </a:r>
          </a:p>
        </p:txBody>
      </p:sp>
      <p:sp>
        <p:nvSpPr>
          <p:cNvPr id="58392" name="下箭头 58391"/>
          <p:cNvSpPr>
            <a:spLocks noChangeArrowheads="1"/>
          </p:cNvSpPr>
          <p:nvPr/>
        </p:nvSpPr>
        <p:spPr bwMode="auto">
          <a:xfrm>
            <a:off x="3132138" y="4945478"/>
            <a:ext cx="431800" cy="649287"/>
          </a:xfrm>
          <a:prstGeom prst="downArrow">
            <a:avLst>
              <a:gd name="adj1" fmla="val 50000"/>
              <a:gd name="adj2" fmla="val 37578"/>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8393" name="对象 58392"/>
          <p:cNvGraphicFramePr/>
          <p:nvPr/>
        </p:nvGraphicFramePr>
        <p:xfrm>
          <a:off x="2555875" y="5672553"/>
          <a:ext cx="1439863" cy="569912"/>
        </p:xfrm>
        <a:graphic>
          <a:graphicData uri="http://schemas.openxmlformats.org/presentationml/2006/ole">
            <mc:AlternateContent xmlns:mc="http://schemas.openxmlformats.org/markup-compatibility/2006">
              <mc:Choice xmlns:v="urn:schemas-microsoft-com:vml" Requires="v">
                <p:oleObj spid="_x0000_s56459" r:id="rId10" imgW="507365" imgH="203200" progId="Equation.DSMT4">
                  <p:embed/>
                </p:oleObj>
              </mc:Choice>
              <mc:Fallback>
                <p:oleObj r:id="rId10" imgW="507365" imgH="203200" progId="Equation.DSMT4">
                  <p:embed/>
                  <p:pic>
                    <p:nvPicPr>
                      <p:cNvPr id="0" name="对象 5839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875" y="5672553"/>
                        <a:ext cx="143986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97" name="直接连接符 58396"/>
          <p:cNvSpPr>
            <a:spLocks noChangeShapeType="1"/>
          </p:cNvSpPr>
          <p:nvPr/>
        </p:nvSpPr>
        <p:spPr bwMode="auto">
          <a:xfrm>
            <a:off x="4067175" y="5883690"/>
            <a:ext cx="720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99" name="直接连接符 58398"/>
          <p:cNvSpPr>
            <a:spLocks noChangeShapeType="1"/>
          </p:cNvSpPr>
          <p:nvPr/>
        </p:nvSpPr>
        <p:spPr bwMode="auto">
          <a:xfrm flipV="1">
            <a:off x="4787900" y="1491078"/>
            <a:ext cx="0" cy="43926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00" name="直接连接符 58399"/>
          <p:cNvSpPr>
            <a:spLocks noChangeShapeType="1"/>
          </p:cNvSpPr>
          <p:nvPr/>
        </p:nvSpPr>
        <p:spPr bwMode="auto">
          <a:xfrm flipH="1">
            <a:off x="4140200" y="1491078"/>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01" name="右箭头 58400"/>
          <p:cNvSpPr>
            <a:spLocks noChangeArrowheads="1"/>
          </p:cNvSpPr>
          <p:nvPr/>
        </p:nvSpPr>
        <p:spPr bwMode="auto">
          <a:xfrm>
            <a:off x="5003800" y="1346615"/>
            <a:ext cx="719138" cy="288925"/>
          </a:xfrm>
          <a:prstGeom prst="rightArrow">
            <a:avLst>
              <a:gd name="adj1" fmla="val 50000"/>
              <a:gd name="adj2" fmla="val 62202"/>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8402" name="对象 58401"/>
          <p:cNvGraphicFramePr/>
          <p:nvPr/>
        </p:nvGraphicFramePr>
        <p:xfrm>
          <a:off x="5940425" y="960853"/>
          <a:ext cx="1692275" cy="1033462"/>
        </p:xfrm>
        <a:graphic>
          <a:graphicData uri="http://schemas.openxmlformats.org/presentationml/2006/ole">
            <mc:AlternateContent xmlns:mc="http://schemas.openxmlformats.org/markup-compatibility/2006">
              <mc:Choice xmlns:v="urn:schemas-microsoft-com:vml" Requires="v">
                <p:oleObj spid="_x0000_s56460" r:id="rId12" imgW="735965" imgH="444500" progId="Equation.DSMT4">
                  <p:embed/>
                </p:oleObj>
              </mc:Choice>
              <mc:Fallback>
                <p:oleObj r:id="rId12" imgW="735965" imgH="444500" progId="Equation.DSMT4">
                  <p:embed/>
                  <p:pic>
                    <p:nvPicPr>
                      <p:cNvPr id="0" name="对象 5840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0425" y="960853"/>
                        <a:ext cx="1692275"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404" name="矩形 58403"/>
          <p:cNvSpPr>
            <a:spLocks noChangeArrowheads="1"/>
          </p:cNvSpPr>
          <p:nvPr/>
        </p:nvSpPr>
        <p:spPr bwMode="auto">
          <a:xfrm>
            <a:off x="5221288" y="3156365"/>
            <a:ext cx="33115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比定容热容也可定义为：在可逆定容过程中，单位质量的物质温度升高</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 K</a:t>
            </a:r>
            <a:r>
              <a:rPr lang="zh-CN" altLang="en-US" sz="2800" b="1" dirty="0">
                <a:latin typeface="黑体" panose="02010609060101010101" pitchFamily="49" charset="-122"/>
                <a:ea typeface="黑体" panose="02010609060101010101" pitchFamily="49" charset="-122"/>
              </a:rPr>
              <a:t>（或</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黑体" panose="02010609060101010101" pitchFamily="49" charset="-122"/>
                <a:ea typeface="黑体" panose="02010609060101010101" pitchFamily="49" charset="-122"/>
              </a:rPr>
              <a:t>）从外界吸收的</a:t>
            </a:r>
            <a:r>
              <a:rPr lang="zh-CN" altLang="en-US" sz="2800" b="1" dirty="0">
                <a:solidFill>
                  <a:srgbClr val="FF0000"/>
                </a:solidFill>
                <a:latin typeface="黑体" panose="02010609060101010101" pitchFamily="49" charset="-122"/>
                <a:ea typeface="黑体" panose="02010609060101010101" pitchFamily="49" charset="-122"/>
              </a:rPr>
              <a:t>热量</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81"/>
                                        </p:tgtEl>
                                        <p:attrNameLst>
                                          <p:attrName>style.visibility</p:attrName>
                                        </p:attrNameLst>
                                      </p:cBhvr>
                                      <p:to>
                                        <p:strVal val="visible"/>
                                      </p:to>
                                    </p:set>
                                    <p:animEffect transition="in" filter="blinds(horizontal)">
                                      <p:cBhvr>
                                        <p:cTn id="7" dur="500"/>
                                        <p:tgtEl>
                                          <p:spTgt spid="583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8383"/>
                                        </p:tgtEl>
                                        <p:attrNameLst>
                                          <p:attrName>style.visibility</p:attrName>
                                        </p:attrNameLst>
                                      </p:cBhvr>
                                      <p:to>
                                        <p:strVal val="visible"/>
                                      </p:to>
                                    </p:set>
                                    <p:animEffect transition="in" filter="blinds(horizontal)">
                                      <p:cBhvr>
                                        <p:cTn id="12" dur="500"/>
                                        <p:tgtEl>
                                          <p:spTgt spid="583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8387"/>
                                        </p:tgtEl>
                                        <p:attrNameLst>
                                          <p:attrName>style.visibility</p:attrName>
                                        </p:attrNameLst>
                                      </p:cBhvr>
                                      <p:to>
                                        <p:strVal val="visible"/>
                                      </p:to>
                                    </p:set>
                                    <p:animEffect transition="in" filter="blinds(horizontal)">
                                      <p:cBhvr>
                                        <p:cTn id="17" dur="500"/>
                                        <p:tgtEl>
                                          <p:spTgt spid="583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8388"/>
                                        </p:tgtEl>
                                        <p:attrNameLst>
                                          <p:attrName>style.visibility</p:attrName>
                                        </p:attrNameLst>
                                      </p:cBhvr>
                                      <p:to>
                                        <p:strVal val="visible"/>
                                      </p:to>
                                    </p:set>
                                    <p:animEffect transition="in" filter="wipe(up)">
                                      <p:cBhvr>
                                        <p:cTn id="22" dur="500"/>
                                        <p:tgtEl>
                                          <p:spTgt spid="5838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8385"/>
                                        </p:tgtEl>
                                        <p:attrNameLst>
                                          <p:attrName>style.visibility</p:attrName>
                                        </p:attrNameLst>
                                      </p:cBhvr>
                                      <p:to>
                                        <p:strVal val="visible"/>
                                      </p:to>
                                    </p:set>
                                    <p:animEffect transition="in" filter="blinds(horizontal)">
                                      <p:cBhvr>
                                        <p:cTn id="27" dur="500"/>
                                        <p:tgtEl>
                                          <p:spTgt spid="5838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8390"/>
                                        </p:tgtEl>
                                        <p:attrNameLst>
                                          <p:attrName>style.visibility</p:attrName>
                                        </p:attrNameLst>
                                      </p:cBhvr>
                                      <p:to>
                                        <p:strVal val="visible"/>
                                      </p:to>
                                    </p:set>
                                    <p:animEffect transition="in" filter="blinds(horizontal)">
                                      <p:cBhvr>
                                        <p:cTn id="32" dur="500"/>
                                        <p:tgtEl>
                                          <p:spTgt spid="5839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8392"/>
                                        </p:tgtEl>
                                        <p:attrNameLst>
                                          <p:attrName>style.visibility</p:attrName>
                                        </p:attrNameLst>
                                      </p:cBhvr>
                                      <p:to>
                                        <p:strVal val="visible"/>
                                      </p:to>
                                    </p:set>
                                    <p:animEffect transition="in" filter="wipe(up)">
                                      <p:cBhvr>
                                        <p:cTn id="37" dur="500"/>
                                        <p:tgtEl>
                                          <p:spTgt spid="5839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8393"/>
                                        </p:tgtEl>
                                        <p:attrNameLst>
                                          <p:attrName>style.visibility</p:attrName>
                                        </p:attrNameLst>
                                      </p:cBhvr>
                                      <p:to>
                                        <p:strVal val="visible"/>
                                      </p:to>
                                    </p:set>
                                    <p:animEffect transition="in" filter="blinds(horizontal)">
                                      <p:cBhvr>
                                        <p:cTn id="42" dur="500"/>
                                        <p:tgtEl>
                                          <p:spTgt spid="5839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8397"/>
                                        </p:tgtEl>
                                        <p:attrNameLst>
                                          <p:attrName>style.visibility</p:attrName>
                                        </p:attrNameLst>
                                      </p:cBhvr>
                                      <p:to>
                                        <p:strVal val="visible"/>
                                      </p:to>
                                    </p:set>
                                    <p:animEffect transition="in" filter="wipe(left)">
                                      <p:cBhvr>
                                        <p:cTn id="47" dur="500"/>
                                        <p:tgtEl>
                                          <p:spTgt spid="5839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8399"/>
                                        </p:tgtEl>
                                        <p:attrNameLst>
                                          <p:attrName>style.visibility</p:attrName>
                                        </p:attrNameLst>
                                      </p:cBhvr>
                                      <p:to>
                                        <p:strVal val="visible"/>
                                      </p:to>
                                    </p:set>
                                    <p:animEffect transition="in" filter="wipe(down)">
                                      <p:cBhvr>
                                        <p:cTn id="52" dur="500"/>
                                        <p:tgtEl>
                                          <p:spTgt spid="5839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58400"/>
                                        </p:tgtEl>
                                        <p:attrNameLst>
                                          <p:attrName>style.visibility</p:attrName>
                                        </p:attrNameLst>
                                      </p:cBhvr>
                                      <p:to>
                                        <p:strVal val="visible"/>
                                      </p:to>
                                    </p:set>
                                    <p:animEffect transition="in" filter="wipe(right)">
                                      <p:cBhvr>
                                        <p:cTn id="57" dur="500"/>
                                        <p:tgtEl>
                                          <p:spTgt spid="5840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8401"/>
                                        </p:tgtEl>
                                        <p:attrNameLst>
                                          <p:attrName>style.visibility</p:attrName>
                                        </p:attrNameLst>
                                      </p:cBhvr>
                                      <p:to>
                                        <p:strVal val="visible"/>
                                      </p:to>
                                    </p:set>
                                    <p:animEffect transition="in" filter="wipe(left)">
                                      <p:cBhvr>
                                        <p:cTn id="62" dur="500"/>
                                        <p:tgtEl>
                                          <p:spTgt spid="58401"/>
                                        </p:tgtEl>
                                      </p:cBhvr>
                                    </p:animEffect>
                                  </p:childTnLst>
                                </p:cTn>
                              </p:par>
                              <p:par>
                                <p:cTn id="63" presetID="22" presetClass="entr" presetSubtype="8" fill="hold" nodeType="withEffect">
                                  <p:stCondLst>
                                    <p:cond delay="0"/>
                                  </p:stCondLst>
                                  <p:childTnLst>
                                    <p:set>
                                      <p:cBhvr>
                                        <p:cTn id="64" dur="1" fill="hold">
                                          <p:stCondLst>
                                            <p:cond delay="0"/>
                                          </p:stCondLst>
                                        </p:cTn>
                                        <p:tgtEl>
                                          <p:spTgt spid="58402"/>
                                        </p:tgtEl>
                                        <p:attrNameLst>
                                          <p:attrName>style.visibility</p:attrName>
                                        </p:attrNameLst>
                                      </p:cBhvr>
                                      <p:to>
                                        <p:strVal val="visible"/>
                                      </p:to>
                                    </p:set>
                                    <p:animEffect transition="in" filter="wipe(left)">
                                      <p:cBhvr>
                                        <p:cTn id="65" dur="500"/>
                                        <p:tgtEl>
                                          <p:spTgt spid="58402"/>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58404"/>
                                        </p:tgtEl>
                                        <p:attrNameLst>
                                          <p:attrName>style.visibility</p:attrName>
                                        </p:attrNameLst>
                                      </p:cBhvr>
                                      <p:to>
                                        <p:strVal val="visible"/>
                                      </p:to>
                                    </p:set>
                                    <p:animEffect transition="in" filter="blinds(horizontal)">
                                      <p:cBhvr>
                                        <p:cTn id="70" dur="500"/>
                                        <p:tgtEl>
                                          <p:spTgt spid="58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81" grpId="0"/>
      <p:bldP spid="58387" grpId="0"/>
      <p:bldP spid="58390" grpId="0"/>
      <p:bldP spid="5840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59393"/>
          <p:cNvSpPr>
            <a:spLocks noGrp="1" noChangeArrowheads="1"/>
          </p:cNvSpPr>
          <p:nvPr>
            <p:ph type="title"/>
          </p:nvPr>
        </p:nvSpPr>
        <p:spPr>
          <a:xfrm>
            <a:off x="457200" y="44450"/>
            <a:ext cx="8229600" cy="1143000"/>
          </a:xfrm>
        </p:spPr>
        <p:txBody>
          <a:bodyPr/>
          <a:lstStyle/>
          <a:p>
            <a:pPr algn="l" eaLnBrk="1" hangingPunct="1"/>
            <a:r>
              <a:rPr lang="zh-CN" altLang="en-US" smtClean="0">
                <a:ea typeface="黑体" panose="02010609060101010101" pitchFamily="49" charset="-122"/>
              </a:rPr>
              <a:t>二</a:t>
            </a:r>
            <a:r>
              <a:rPr lang="zh-CN" altLang="en-US" b="1" smtClean="0">
                <a:ea typeface="黑体" panose="02010609060101010101" pitchFamily="49" charset="-122"/>
              </a:rPr>
              <a:t>、比定压热容</a:t>
            </a:r>
          </a:p>
        </p:txBody>
      </p:sp>
      <p:sp>
        <p:nvSpPr>
          <p:cNvPr id="37891" name="文本占位符 59394"/>
          <p:cNvSpPr>
            <a:spLocks noGrp="1" noChangeArrowheads="1"/>
          </p:cNvSpPr>
          <p:nvPr>
            <p:ph idx="1"/>
          </p:nvPr>
        </p:nvSpPr>
        <p:spPr>
          <a:xfrm>
            <a:off x="457200" y="1196975"/>
            <a:ext cx="8229600" cy="1108075"/>
          </a:xfrm>
        </p:spPr>
        <p:txBody>
          <a:bodyPr>
            <a:normAutofit/>
          </a:bodyPr>
          <a:lstStyle/>
          <a:p>
            <a:pPr marL="0" indent="0" eaLnBrk="1" hangingPunct="1">
              <a:buNone/>
            </a:pPr>
            <a:r>
              <a:rPr lang="zh-CN" altLang="en-US" sz="3200" b="1" dirty="0" smtClean="0">
                <a:latin typeface="黑体" panose="02010609060101010101" pitchFamily="49" charset="-122"/>
                <a:ea typeface="黑体" panose="02010609060101010101" pitchFamily="49" charset="-122"/>
              </a:rPr>
              <a:t>简单可压缩系统的内部强度状态参数可以由两个内部独立强度状态参数确定 </a:t>
            </a:r>
          </a:p>
        </p:txBody>
      </p:sp>
      <p:graphicFrame>
        <p:nvGraphicFramePr>
          <p:cNvPr id="59396" name="对象 59395"/>
          <p:cNvGraphicFramePr/>
          <p:nvPr/>
        </p:nvGraphicFramePr>
        <p:xfrm>
          <a:off x="3170238" y="2492375"/>
          <a:ext cx="1976437" cy="687388"/>
        </p:xfrm>
        <a:graphic>
          <a:graphicData uri="http://schemas.openxmlformats.org/presentationml/2006/ole">
            <mc:AlternateContent xmlns:mc="http://schemas.openxmlformats.org/markup-compatibility/2006">
              <mc:Choice xmlns:v="urn:schemas-microsoft-com:vml" Requires="v">
                <p:oleObj spid="_x0000_s57425" r:id="rId4" imgW="735965" imgH="254000" progId="Equation.DSMT4">
                  <p:embed/>
                </p:oleObj>
              </mc:Choice>
              <mc:Fallback>
                <p:oleObj r:id="rId4" imgW="735965" imgH="254000" progId="Equation.DSMT4">
                  <p:embed/>
                  <p:pic>
                    <p:nvPicPr>
                      <p:cNvPr id="0" name="对象 5939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0238" y="2492375"/>
                        <a:ext cx="1976437"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3" name="矩形 59396"/>
          <p:cNvSpPr>
            <a:spLocks noChangeArrowheads="1"/>
          </p:cNvSpPr>
          <p:nvPr/>
        </p:nvSpPr>
        <p:spPr bwMode="auto">
          <a:xfrm>
            <a:off x="0" y="2916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59407" name="组合 59406"/>
          <p:cNvGrpSpPr/>
          <p:nvPr/>
        </p:nvGrpSpPr>
        <p:grpSpPr bwMode="auto">
          <a:xfrm>
            <a:off x="2324100" y="4437063"/>
            <a:ext cx="2463800" cy="1008062"/>
            <a:chOff x="1464" y="2795"/>
            <a:chExt cx="1552" cy="635"/>
          </a:xfrm>
        </p:grpSpPr>
        <p:sp>
          <p:nvSpPr>
            <p:cNvPr id="37898" name="矩形 59398"/>
            <p:cNvSpPr>
              <a:spLocks noChangeArrowheads="1"/>
            </p:cNvSpPr>
            <p:nvPr/>
          </p:nvSpPr>
          <p:spPr bwMode="auto">
            <a:xfrm>
              <a:off x="1464" y="2886"/>
              <a:ext cx="11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定压过程</a:t>
              </a:r>
            </a:p>
          </p:txBody>
        </p:sp>
        <p:sp>
          <p:nvSpPr>
            <p:cNvPr id="37899" name="下箭头 59400"/>
            <p:cNvSpPr>
              <a:spLocks noChangeArrowheads="1"/>
            </p:cNvSpPr>
            <p:nvPr/>
          </p:nvSpPr>
          <p:spPr bwMode="auto">
            <a:xfrm>
              <a:off x="2744" y="2795"/>
              <a:ext cx="272" cy="635"/>
            </a:xfrm>
            <a:prstGeom prst="downArrow">
              <a:avLst>
                <a:gd name="adj1" fmla="val 50000"/>
                <a:gd name="adj2" fmla="val 58342"/>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37895" name="矩形 59402"/>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9402" name="对象 59401"/>
          <p:cNvGraphicFramePr/>
          <p:nvPr/>
        </p:nvGraphicFramePr>
        <p:xfrm>
          <a:off x="1800225" y="3141663"/>
          <a:ext cx="4572000" cy="1265237"/>
        </p:xfrm>
        <a:graphic>
          <a:graphicData uri="http://schemas.openxmlformats.org/presentationml/2006/ole">
            <mc:AlternateContent xmlns:mc="http://schemas.openxmlformats.org/markup-compatibility/2006">
              <mc:Choice xmlns:v="urn:schemas-microsoft-com:vml" Requires="v">
                <p:oleObj spid="_x0000_s57426" r:id="rId6" imgW="1689100" imgH="469900" progId="Equation.DSMT4">
                  <p:embed/>
                </p:oleObj>
              </mc:Choice>
              <mc:Fallback>
                <p:oleObj r:id="rId6" imgW="1689100" imgH="469900" progId="Equation.DSMT4">
                  <p:embed/>
                  <p:pic>
                    <p:nvPicPr>
                      <p:cNvPr id="0" name="对象 5940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0225" y="3141663"/>
                        <a:ext cx="4572000"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406" name="对象 59405"/>
          <p:cNvGraphicFramePr/>
          <p:nvPr/>
        </p:nvGraphicFramePr>
        <p:xfrm>
          <a:off x="3203575" y="5511800"/>
          <a:ext cx="2647950" cy="1230313"/>
        </p:xfrm>
        <a:graphic>
          <a:graphicData uri="http://schemas.openxmlformats.org/presentationml/2006/ole">
            <mc:AlternateContent xmlns:mc="http://schemas.openxmlformats.org/markup-compatibility/2006">
              <mc:Choice xmlns:v="urn:schemas-microsoft-com:vml" Requires="v">
                <p:oleObj spid="_x0000_s57427" r:id="rId8" imgW="977900" imgH="457200" progId="Equation.DSMT4">
                  <p:embed/>
                </p:oleObj>
              </mc:Choice>
              <mc:Fallback>
                <p:oleObj r:id="rId8" imgW="977900" imgH="457200" progId="Equation.DSMT4">
                  <p:embed/>
                  <p:pic>
                    <p:nvPicPr>
                      <p:cNvPr id="0" name="对象 5940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575" y="5511800"/>
                        <a:ext cx="264795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linds(horizontal)">
                                      <p:cBhvr>
                                        <p:cTn id="7" dur="500"/>
                                        <p:tgtEl>
                                          <p:spTgt spid="593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9402"/>
                                        </p:tgtEl>
                                        <p:attrNameLst>
                                          <p:attrName>style.visibility</p:attrName>
                                        </p:attrNameLst>
                                      </p:cBhvr>
                                      <p:to>
                                        <p:strVal val="visible"/>
                                      </p:to>
                                    </p:set>
                                    <p:animEffect transition="in" filter="blinds(horizontal)">
                                      <p:cBhvr>
                                        <p:cTn id="12" dur="500"/>
                                        <p:tgtEl>
                                          <p:spTgt spid="594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9407"/>
                                        </p:tgtEl>
                                        <p:attrNameLst>
                                          <p:attrName>style.visibility</p:attrName>
                                        </p:attrNameLst>
                                      </p:cBhvr>
                                      <p:to>
                                        <p:strVal val="visible"/>
                                      </p:to>
                                    </p:set>
                                    <p:animEffect transition="in" filter="wipe(up)">
                                      <p:cBhvr>
                                        <p:cTn id="17" dur="500"/>
                                        <p:tgtEl>
                                          <p:spTgt spid="5940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9406"/>
                                        </p:tgtEl>
                                        <p:attrNameLst>
                                          <p:attrName>style.visibility</p:attrName>
                                        </p:attrNameLst>
                                      </p:cBhvr>
                                      <p:to>
                                        <p:strVal val="visible"/>
                                      </p:to>
                                    </p:set>
                                    <p:animEffect transition="in" filter="blinds(horizontal)">
                                      <p:cBhvr>
                                        <p:cTn id="22" dur="500"/>
                                        <p:tgtEl>
                                          <p:spTgt spid="59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60418"/>
          <p:cNvSpPr>
            <a:spLocks noChangeArrowheads="1"/>
          </p:cNvSpPr>
          <p:nvPr/>
        </p:nvSpPr>
        <p:spPr bwMode="auto">
          <a:xfrm>
            <a:off x="611188" y="1443038"/>
            <a:ext cx="80645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物质的比焓对温度的偏微商具有重要的意义，将其定义为物质的</a:t>
            </a:r>
            <a:r>
              <a:rPr lang="zh-CN" altLang="en-US" sz="3200" b="1">
                <a:solidFill>
                  <a:srgbClr val="FF0000"/>
                </a:solidFill>
                <a:latin typeface="黑体" panose="02010609060101010101" pitchFamily="49" charset="-122"/>
                <a:ea typeface="黑体" panose="02010609060101010101" pitchFamily="49" charset="-122"/>
              </a:rPr>
              <a:t>比定压热容</a:t>
            </a:r>
            <a:r>
              <a:rPr lang="zh-CN" altLang="en-US" sz="3200" b="1">
                <a:latin typeface="黑体" panose="02010609060101010101" pitchFamily="49" charset="-122"/>
                <a:ea typeface="黑体" panose="02010609060101010101" pitchFamily="49" charset="-122"/>
              </a:rPr>
              <a:t>，用符号</a:t>
            </a:r>
            <a:r>
              <a:rPr lang="en-US" altLang="zh-CN" sz="3200" b="1" i="1">
                <a:latin typeface="Times New Roman" panose="02020603050405020304" pitchFamily="18" charset="0"/>
                <a:ea typeface="黑体" panose="02010609060101010101" pitchFamily="49" charset="-122"/>
              </a:rPr>
              <a:t>c</a:t>
            </a:r>
            <a:r>
              <a:rPr lang="en-US" altLang="zh-CN" sz="3200" b="1" i="1" baseline="-25000">
                <a:latin typeface="Times New Roman" panose="02020603050405020304" pitchFamily="18" charset="0"/>
                <a:ea typeface="黑体" panose="02010609060101010101" pitchFamily="49" charset="-122"/>
              </a:rPr>
              <a:t>p</a:t>
            </a:r>
            <a:r>
              <a:rPr lang="zh-CN" altLang="en-US" sz="3200" b="1">
                <a:latin typeface="黑体" panose="02010609060101010101" pitchFamily="49" charset="-122"/>
                <a:ea typeface="黑体" panose="02010609060101010101" pitchFamily="49" charset="-122"/>
              </a:rPr>
              <a:t>表示 </a:t>
            </a:r>
          </a:p>
        </p:txBody>
      </p:sp>
      <p:sp>
        <p:nvSpPr>
          <p:cNvPr id="38915" name="矩形 60419"/>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16" name="对象 60420"/>
          <p:cNvGraphicFramePr>
            <a:graphicFrameLocks noChangeAspect="1"/>
          </p:cNvGraphicFramePr>
          <p:nvPr/>
        </p:nvGraphicFramePr>
        <p:xfrm>
          <a:off x="3262313" y="3173413"/>
          <a:ext cx="1720850" cy="1063625"/>
        </p:xfrm>
        <a:graphic>
          <a:graphicData uri="http://schemas.openxmlformats.org/presentationml/2006/ole">
            <mc:AlternateContent xmlns:mc="http://schemas.openxmlformats.org/markup-compatibility/2006">
              <mc:Choice xmlns:v="urn:schemas-microsoft-com:vml" Requires="v">
                <p:oleObj spid="_x0000_s58478" r:id="rId3" imgW="749300" imgH="457200" progId="Equation.DSMT4">
                  <p:embed/>
                </p:oleObj>
              </mc:Choice>
              <mc:Fallback>
                <p:oleObj r:id="rId3" imgW="749300" imgH="457200" progId="Equation.DSMT4">
                  <p:embed/>
                  <p:pic>
                    <p:nvPicPr>
                      <p:cNvPr id="0" name="对象 6042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2313" y="3173413"/>
                        <a:ext cx="172085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7" name="矩形 60421"/>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18" name="对象 60422"/>
          <p:cNvGraphicFramePr/>
          <p:nvPr/>
        </p:nvGraphicFramePr>
        <p:xfrm>
          <a:off x="2592388" y="4933950"/>
          <a:ext cx="1763712" cy="569913"/>
        </p:xfrm>
        <a:graphic>
          <a:graphicData uri="http://schemas.openxmlformats.org/presentationml/2006/ole">
            <mc:AlternateContent xmlns:mc="http://schemas.openxmlformats.org/markup-compatibility/2006">
              <mc:Choice xmlns:v="urn:schemas-microsoft-com:vml" Requires="v">
                <p:oleObj spid="_x0000_s58479" r:id="rId5" imgW="622300" imgH="203200" progId="Equation.DSMT4">
                  <p:embed/>
                </p:oleObj>
              </mc:Choice>
              <mc:Fallback>
                <p:oleObj r:id="rId5" imgW="622300" imgH="203200" progId="Equation.DSMT4">
                  <p:embed/>
                  <p:pic>
                    <p:nvPicPr>
                      <p:cNvPr id="0" name="对象 6042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2388" y="4933950"/>
                        <a:ext cx="1763712"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9" name="矩形 6042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20" name="对象 60424"/>
          <p:cNvGraphicFramePr/>
          <p:nvPr/>
        </p:nvGraphicFramePr>
        <p:xfrm>
          <a:off x="5400675" y="4845050"/>
          <a:ext cx="1979613" cy="671513"/>
        </p:xfrm>
        <a:graphic>
          <a:graphicData uri="http://schemas.openxmlformats.org/presentationml/2006/ole">
            <mc:AlternateContent xmlns:mc="http://schemas.openxmlformats.org/markup-compatibility/2006">
              <mc:Choice xmlns:v="urn:schemas-microsoft-com:vml" Requires="v">
                <p:oleObj spid="_x0000_s58480" r:id="rId7" imgW="673100" imgH="228600" progId="Equation.DSMT4">
                  <p:embed/>
                </p:oleObj>
              </mc:Choice>
              <mc:Fallback>
                <p:oleObj r:id="rId7" imgW="673100" imgH="228600" progId="Equation.DSMT4">
                  <p:embed/>
                  <p:pic>
                    <p:nvPicPr>
                      <p:cNvPr id="0" name="对象 6042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00675" y="4845050"/>
                        <a:ext cx="1979613"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1" name="矩形 60425"/>
          <p:cNvSpPr>
            <a:spLocks noChangeArrowheads="1"/>
          </p:cNvSpPr>
          <p:nvPr/>
        </p:nvSpPr>
        <p:spPr bwMode="auto">
          <a:xfrm>
            <a:off x="4643438" y="4862513"/>
            <a:ext cx="5921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或</a:t>
            </a:r>
          </a:p>
        </p:txBody>
      </p:sp>
      <p:sp>
        <p:nvSpPr>
          <p:cNvPr id="38922" name="矩形 60426"/>
          <p:cNvSpPr>
            <a:spLocks noChangeArrowheads="1"/>
          </p:cNvSpPr>
          <p:nvPr/>
        </p:nvSpPr>
        <p:spPr bwMode="auto">
          <a:xfrm>
            <a:off x="1042988" y="4868863"/>
            <a:ext cx="14081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单位：</a:t>
            </a:r>
          </a:p>
        </p:txBody>
      </p:sp>
      <p:sp>
        <p:nvSpPr>
          <p:cNvPr id="38923" name="矩形 60427"/>
          <p:cNvSpPr>
            <a:spLocks noChangeArrowheads="1"/>
          </p:cNvSpPr>
          <p:nvPr/>
        </p:nvSpPr>
        <p:spPr bwMode="auto">
          <a:xfrm>
            <a:off x="2916238" y="2997200"/>
            <a:ext cx="2592387" cy="13684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24" name="对象 60428"/>
          <p:cNvGraphicFramePr/>
          <p:nvPr/>
        </p:nvGraphicFramePr>
        <p:xfrm>
          <a:off x="3203575" y="188913"/>
          <a:ext cx="2647950" cy="1230312"/>
        </p:xfrm>
        <a:graphic>
          <a:graphicData uri="http://schemas.openxmlformats.org/presentationml/2006/ole">
            <mc:AlternateContent xmlns:mc="http://schemas.openxmlformats.org/markup-compatibility/2006">
              <mc:Choice xmlns:v="urn:schemas-microsoft-com:vml" Requires="v">
                <p:oleObj spid="_x0000_s58481" r:id="rId9" imgW="977900" imgH="457200" progId="Equation.DSMT4">
                  <p:embed/>
                </p:oleObj>
              </mc:Choice>
              <mc:Fallback>
                <p:oleObj r:id="rId9" imgW="977900" imgH="457200" progId="Equation.DSMT4">
                  <p:embed/>
                  <p:pic>
                    <p:nvPicPr>
                      <p:cNvPr id="0" name="对象 6042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188913"/>
                        <a:ext cx="26479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5" name="直接连接符 60429"/>
          <p:cNvSpPr>
            <a:spLocks noChangeShapeType="1"/>
          </p:cNvSpPr>
          <p:nvPr/>
        </p:nvSpPr>
        <p:spPr bwMode="auto">
          <a:xfrm>
            <a:off x="3922713" y="1412875"/>
            <a:ext cx="1296987"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矩形 61444"/>
          <p:cNvSpPr>
            <a:spLocks noChangeArrowheads="1"/>
          </p:cNvSpPr>
          <p:nvPr/>
        </p:nvSpPr>
        <p:spPr bwMode="auto">
          <a:xfrm>
            <a:off x="0" y="309707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940" name="矩形 61445"/>
          <p:cNvSpPr>
            <a:spLocks noChangeArrowheads="1"/>
          </p:cNvSpPr>
          <p:nvPr/>
        </p:nvSpPr>
        <p:spPr bwMode="auto">
          <a:xfrm>
            <a:off x="0" y="308279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941" name="矩形 61446"/>
          <p:cNvSpPr>
            <a:spLocks noChangeArrowheads="1"/>
          </p:cNvSpPr>
          <p:nvPr/>
        </p:nvSpPr>
        <p:spPr bwMode="auto">
          <a:xfrm>
            <a:off x="1476375" y="604703"/>
            <a:ext cx="2592388" cy="13684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48" name="矩形 61447"/>
          <p:cNvSpPr>
            <a:spLocks noChangeArrowheads="1"/>
          </p:cNvSpPr>
          <p:nvPr/>
        </p:nvSpPr>
        <p:spPr bwMode="auto">
          <a:xfrm>
            <a:off x="364711" y="2155403"/>
            <a:ext cx="85379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黑体" panose="02010609060101010101" pitchFamily="49" charset="-122"/>
                <a:ea typeface="黑体" panose="02010609060101010101" pitchFamily="49" charset="-122"/>
              </a:rPr>
              <a:t>对于</a:t>
            </a:r>
            <a:r>
              <a:rPr lang="zh-CN" altLang="en-US" sz="3200" b="1" dirty="0">
                <a:ea typeface="黑体" panose="02010609060101010101" pitchFamily="49" charset="-122"/>
              </a:rPr>
              <a:t>不</a:t>
            </a:r>
            <a:r>
              <a:rPr lang="zh-CN" altLang="en-US" sz="3200" b="1" dirty="0" smtClean="0">
                <a:ea typeface="黑体" panose="02010609060101010101" pitchFamily="49" charset="-122"/>
              </a:rPr>
              <a:t>考虑宏观动能和重力势能</a:t>
            </a:r>
            <a:r>
              <a:rPr lang="zh-CN" altLang="en-US" sz="3200" b="1" dirty="0">
                <a:ea typeface="黑体" panose="02010609060101010101" pitchFamily="49" charset="-122"/>
              </a:rPr>
              <a:t>变化的闭口</a:t>
            </a:r>
            <a:r>
              <a:rPr lang="zh-CN" altLang="en-US" sz="3200" b="1" dirty="0" smtClean="0">
                <a:ea typeface="黑体" panose="02010609060101010101" pitchFamily="49" charset="-122"/>
              </a:rPr>
              <a:t>系</a:t>
            </a:r>
            <a:r>
              <a:rPr lang="zh-CN" altLang="en-US" sz="3200" dirty="0" smtClean="0"/>
              <a:t> </a:t>
            </a:r>
            <a:endParaRPr lang="zh-CN" altLang="en-US" sz="3200" dirty="0"/>
          </a:p>
        </p:txBody>
      </p:sp>
      <p:sp>
        <p:nvSpPr>
          <p:cNvPr id="39943" name="矩形 61448"/>
          <p:cNvSpPr>
            <a:spLocks noChangeArrowheads="1"/>
          </p:cNvSpPr>
          <p:nvPr/>
        </p:nvSpPr>
        <p:spPr bwMode="auto">
          <a:xfrm>
            <a:off x="0" y="309707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1450" name="对象 61449"/>
          <p:cNvGraphicFramePr/>
          <p:nvPr/>
        </p:nvGraphicFramePr>
        <p:xfrm>
          <a:off x="1763713" y="2692265"/>
          <a:ext cx="2411412" cy="595313"/>
        </p:xfrm>
        <a:graphic>
          <a:graphicData uri="http://schemas.openxmlformats.org/presentationml/2006/ole">
            <mc:AlternateContent xmlns:mc="http://schemas.openxmlformats.org/markup-compatibility/2006">
              <mc:Choice xmlns:v="urn:schemas-microsoft-com:vml" Requires="v">
                <p:oleObj spid="_x0000_s59528" r:id="rId4" imgW="812165" imgH="203200" progId="Equation.DSMT4">
                  <p:embed/>
                </p:oleObj>
              </mc:Choice>
              <mc:Fallback>
                <p:oleObj r:id="rId4" imgW="812165" imgH="203200" progId="Equation.DSMT4">
                  <p:embed/>
                  <p:pic>
                    <p:nvPicPr>
                      <p:cNvPr id="0" name="对象 6144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2692265"/>
                        <a:ext cx="241141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51" name="对象 61450"/>
          <p:cNvGraphicFramePr/>
          <p:nvPr/>
        </p:nvGraphicFramePr>
        <p:xfrm>
          <a:off x="2051050" y="4060690"/>
          <a:ext cx="2520950" cy="569913"/>
        </p:xfrm>
        <a:graphic>
          <a:graphicData uri="http://schemas.openxmlformats.org/presentationml/2006/ole">
            <mc:AlternateContent xmlns:mc="http://schemas.openxmlformats.org/markup-compatibility/2006">
              <mc:Choice xmlns:v="urn:schemas-microsoft-com:vml" Requires="v">
                <p:oleObj spid="_x0000_s59529" r:id="rId6" imgW="888365" imgH="203200" progId="Equation.DSMT4">
                  <p:embed/>
                </p:oleObj>
              </mc:Choice>
              <mc:Fallback>
                <p:oleObj r:id="rId6" imgW="888365" imgH="203200" progId="Equation.DSMT4">
                  <p:embed/>
                  <p:pic>
                    <p:nvPicPr>
                      <p:cNvPr id="0" name="对象 6145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4060690"/>
                        <a:ext cx="252095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52" name="矩形 61451"/>
          <p:cNvSpPr>
            <a:spLocks noChangeArrowheads="1"/>
          </p:cNvSpPr>
          <p:nvPr/>
        </p:nvSpPr>
        <p:spPr bwMode="auto">
          <a:xfrm>
            <a:off x="1116013" y="3341553"/>
            <a:ext cx="1816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可逆过程</a:t>
            </a:r>
          </a:p>
        </p:txBody>
      </p:sp>
      <p:sp>
        <p:nvSpPr>
          <p:cNvPr id="61453" name="下箭头 61452"/>
          <p:cNvSpPr>
            <a:spLocks noChangeArrowheads="1"/>
          </p:cNvSpPr>
          <p:nvPr/>
        </p:nvSpPr>
        <p:spPr bwMode="auto">
          <a:xfrm>
            <a:off x="3148013" y="3412990"/>
            <a:ext cx="431800" cy="649288"/>
          </a:xfrm>
          <a:prstGeom prst="downArrow">
            <a:avLst>
              <a:gd name="adj1" fmla="val 50000"/>
              <a:gd name="adj2" fmla="val 37578"/>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54" name="矩形 61453"/>
          <p:cNvSpPr>
            <a:spLocks noChangeArrowheads="1"/>
          </p:cNvSpPr>
          <p:nvPr/>
        </p:nvSpPr>
        <p:spPr bwMode="auto">
          <a:xfrm>
            <a:off x="1116013" y="4705215"/>
            <a:ext cx="1816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定压过程</a:t>
            </a:r>
          </a:p>
        </p:txBody>
      </p:sp>
      <p:sp>
        <p:nvSpPr>
          <p:cNvPr id="61455" name="下箭头 61454"/>
          <p:cNvSpPr>
            <a:spLocks noChangeArrowheads="1"/>
          </p:cNvSpPr>
          <p:nvPr/>
        </p:nvSpPr>
        <p:spPr bwMode="auto">
          <a:xfrm>
            <a:off x="3132138" y="4779828"/>
            <a:ext cx="431800" cy="649287"/>
          </a:xfrm>
          <a:prstGeom prst="downArrow">
            <a:avLst>
              <a:gd name="adj1" fmla="val 50000"/>
              <a:gd name="adj2" fmla="val 37578"/>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1456" name="对象 61455"/>
          <p:cNvGraphicFramePr>
            <a:graphicFrameLocks noChangeAspect="1"/>
          </p:cNvGraphicFramePr>
          <p:nvPr/>
        </p:nvGraphicFramePr>
        <p:xfrm>
          <a:off x="212725" y="5580063"/>
          <a:ext cx="6601277" cy="705564"/>
        </p:xfrm>
        <a:graphic>
          <a:graphicData uri="http://schemas.openxmlformats.org/presentationml/2006/ole">
            <mc:AlternateContent xmlns:mc="http://schemas.openxmlformats.org/markup-compatibility/2006">
              <mc:Choice xmlns:v="urn:schemas-microsoft-com:vml" Requires="v">
                <p:oleObj spid="_x0000_s59530" name="Equation" r:id="rId8" imgW="56997600" imgH="6096000" progId="Equation.DSMT4">
                  <p:embed/>
                </p:oleObj>
              </mc:Choice>
              <mc:Fallback>
                <p:oleObj name="Equation" r:id="rId8" imgW="56997600" imgH="6096000" progId="Equation.DSMT4">
                  <p:embed/>
                  <p:pic>
                    <p:nvPicPr>
                      <p:cNvPr id="0" name="对象 61455"/>
                      <p:cNvPicPr>
                        <a:picLocks noChangeArrowheads="1"/>
                      </p:cNvPicPr>
                      <p:nvPr/>
                    </p:nvPicPr>
                    <p:blipFill>
                      <a:blip r:embed="rId9"/>
                      <a:srcRect/>
                      <a:stretch>
                        <a:fillRect/>
                      </a:stretch>
                    </p:blipFill>
                    <p:spPr bwMode="auto">
                      <a:xfrm>
                        <a:off x="212725" y="5580063"/>
                        <a:ext cx="6601277" cy="705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60" name="右箭头 61459"/>
          <p:cNvSpPr>
            <a:spLocks noChangeArrowheads="1"/>
          </p:cNvSpPr>
          <p:nvPr/>
        </p:nvSpPr>
        <p:spPr bwMode="auto">
          <a:xfrm>
            <a:off x="5003800" y="1180965"/>
            <a:ext cx="719138" cy="288925"/>
          </a:xfrm>
          <a:prstGeom prst="rightArrow">
            <a:avLst>
              <a:gd name="adj1" fmla="val 50000"/>
              <a:gd name="adj2" fmla="val 62202"/>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1461" name="对象 61460"/>
          <p:cNvGraphicFramePr/>
          <p:nvPr/>
        </p:nvGraphicFramePr>
        <p:xfrm>
          <a:off x="5926138" y="780915"/>
          <a:ext cx="1720850" cy="1063625"/>
        </p:xfrm>
        <a:graphic>
          <a:graphicData uri="http://schemas.openxmlformats.org/presentationml/2006/ole">
            <mc:AlternateContent xmlns:mc="http://schemas.openxmlformats.org/markup-compatibility/2006">
              <mc:Choice xmlns:v="urn:schemas-microsoft-com:vml" Requires="v">
                <p:oleObj spid="_x0000_s59531" r:id="rId10" imgW="749300" imgH="457200" progId="Equation.DSMT4">
                  <p:embed/>
                </p:oleObj>
              </mc:Choice>
              <mc:Fallback>
                <p:oleObj r:id="rId10" imgW="749300" imgH="457200" progId="Equation.DSMT4">
                  <p:embed/>
                  <p:pic>
                    <p:nvPicPr>
                      <p:cNvPr id="0" name="对象 6146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26138" y="780915"/>
                        <a:ext cx="172085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62" name="矩形 61461"/>
          <p:cNvSpPr>
            <a:spLocks noChangeArrowheads="1"/>
          </p:cNvSpPr>
          <p:nvPr/>
        </p:nvSpPr>
        <p:spPr bwMode="auto">
          <a:xfrm>
            <a:off x="5221288" y="2836728"/>
            <a:ext cx="33115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比定压热容也可定义为：在可逆定压过程中，单位质量的物质温度升高</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 K</a:t>
            </a:r>
            <a:r>
              <a:rPr lang="zh-CN" altLang="en-US" sz="2800" b="1" dirty="0">
                <a:latin typeface="黑体" panose="02010609060101010101" pitchFamily="49" charset="-122"/>
                <a:ea typeface="黑体" panose="02010609060101010101" pitchFamily="49" charset="-122"/>
              </a:rPr>
              <a:t>（或</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黑体" panose="02010609060101010101" pitchFamily="49" charset="-122"/>
                <a:ea typeface="黑体" panose="02010609060101010101" pitchFamily="49" charset="-122"/>
              </a:rPr>
              <a:t>）从外界吸收的</a:t>
            </a:r>
            <a:r>
              <a:rPr lang="zh-CN" altLang="en-US" sz="2800" b="1" dirty="0">
                <a:solidFill>
                  <a:srgbClr val="FF0000"/>
                </a:solidFill>
                <a:latin typeface="黑体" panose="02010609060101010101" pitchFamily="49" charset="-122"/>
                <a:ea typeface="黑体" panose="02010609060101010101" pitchFamily="49" charset="-122"/>
              </a:rPr>
              <a:t>热量</a:t>
            </a:r>
          </a:p>
        </p:txBody>
      </p:sp>
      <p:graphicFrame>
        <p:nvGraphicFramePr>
          <p:cNvPr id="39954" name="对象 61462"/>
          <p:cNvGraphicFramePr/>
          <p:nvPr/>
        </p:nvGraphicFramePr>
        <p:xfrm>
          <a:off x="1835150" y="765040"/>
          <a:ext cx="1720850" cy="1063625"/>
        </p:xfrm>
        <a:graphic>
          <a:graphicData uri="http://schemas.openxmlformats.org/presentationml/2006/ole">
            <mc:AlternateContent xmlns:mc="http://schemas.openxmlformats.org/markup-compatibility/2006">
              <mc:Choice xmlns:v="urn:schemas-microsoft-com:vml" Requires="v">
                <p:oleObj spid="_x0000_s59532" r:id="rId12" imgW="749300" imgH="457200" progId="Equation.DSMT4">
                  <p:embed/>
                </p:oleObj>
              </mc:Choice>
              <mc:Fallback>
                <p:oleObj r:id="rId12" imgW="749300" imgH="457200" progId="Equation.DSMT4">
                  <p:embed/>
                  <p:pic>
                    <p:nvPicPr>
                      <p:cNvPr id="0" name="对象 6146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5150" y="765040"/>
                        <a:ext cx="172085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66" name="直接连接符 61465"/>
          <p:cNvSpPr>
            <a:spLocks noChangeShapeType="1"/>
          </p:cNvSpPr>
          <p:nvPr/>
        </p:nvSpPr>
        <p:spPr bwMode="auto">
          <a:xfrm flipV="1">
            <a:off x="7019925" y="5933940"/>
            <a:ext cx="16573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7" name="直接连接符 61466"/>
          <p:cNvSpPr>
            <a:spLocks noChangeShapeType="1"/>
          </p:cNvSpPr>
          <p:nvPr/>
        </p:nvSpPr>
        <p:spPr bwMode="auto">
          <a:xfrm flipH="1" flipV="1">
            <a:off x="8675688" y="749165"/>
            <a:ext cx="0" cy="51847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8" name="直接连接符 61467"/>
          <p:cNvSpPr>
            <a:spLocks noChangeShapeType="1"/>
          </p:cNvSpPr>
          <p:nvPr/>
        </p:nvSpPr>
        <p:spPr bwMode="auto">
          <a:xfrm flipH="1" flipV="1">
            <a:off x="4427538" y="749165"/>
            <a:ext cx="42481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48"/>
                                        </p:tgtEl>
                                        <p:attrNameLst>
                                          <p:attrName>style.visibility</p:attrName>
                                        </p:attrNameLst>
                                      </p:cBhvr>
                                      <p:to>
                                        <p:strVal val="visible"/>
                                      </p:to>
                                    </p:set>
                                    <p:animEffect transition="in" filter="blinds(horizontal)">
                                      <p:cBhvr>
                                        <p:cTn id="7" dur="500"/>
                                        <p:tgtEl>
                                          <p:spTgt spid="614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50"/>
                                        </p:tgtEl>
                                        <p:attrNameLst>
                                          <p:attrName>style.visibility</p:attrName>
                                        </p:attrNameLst>
                                      </p:cBhvr>
                                      <p:to>
                                        <p:strVal val="visible"/>
                                      </p:to>
                                    </p:set>
                                    <p:animEffect transition="in" filter="blinds(horizontal)">
                                      <p:cBhvr>
                                        <p:cTn id="12" dur="500"/>
                                        <p:tgtEl>
                                          <p:spTgt spid="614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52"/>
                                        </p:tgtEl>
                                        <p:attrNameLst>
                                          <p:attrName>style.visibility</p:attrName>
                                        </p:attrNameLst>
                                      </p:cBhvr>
                                      <p:to>
                                        <p:strVal val="visible"/>
                                      </p:to>
                                    </p:set>
                                    <p:animEffect transition="in" filter="blinds(horizontal)">
                                      <p:cBhvr>
                                        <p:cTn id="17" dur="500"/>
                                        <p:tgtEl>
                                          <p:spTgt spid="614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1453"/>
                                        </p:tgtEl>
                                        <p:attrNameLst>
                                          <p:attrName>style.visibility</p:attrName>
                                        </p:attrNameLst>
                                      </p:cBhvr>
                                      <p:to>
                                        <p:strVal val="visible"/>
                                      </p:to>
                                    </p:set>
                                    <p:animEffect transition="in" filter="wipe(up)">
                                      <p:cBhvr>
                                        <p:cTn id="22" dur="500"/>
                                        <p:tgtEl>
                                          <p:spTgt spid="6145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51"/>
                                        </p:tgtEl>
                                        <p:attrNameLst>
                                          <p:attrName>style.visibility</p:attrName>
                                        </p:attrNameLst>
                                      </p:cBhvr>
                                      <p:to>
                                        <p:strVal val="visible"/>
                                      </p:to>
                                    </p:set>
                                    <p:animEffect transition="in" filter="blinds(horizontal)">
                                      <p:cBhvr>
                                        <p:cTn id="27" dur="500"/>
                                        <p:tgtEl>
                                          <p:spTgt spid="6145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54"/>
                                        </p:tgtEl>
                                        <p:attrNameLst>
                                          <p:attrName>style.visibility</p:attrName>
                                        </p:attrNameLst>
                                      </p:cBhvr>
                                      <p:to>
                                        <p:strVal val="visible"/>
                                      </p:to>
                                    </p:set>
                                    <p:animEffect transition="in" filter="blinds(horizontal)">
                                      <p:cBhvr>
                                        <p:cTn id="32" dur="500"/>
                                        <p:tgtEl>
                                          <p:spTgt spid="614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61455"/>
                                        </p:tgtEl>
                                        <p:attrNameLst>
                                          <p:attrName>style.visibility</p:attrName>
                                        </p:attrNameLst>
                                      </p:cBhvr>
                                      <p:to>
                                        <p:strVal val="visible"/>
                                      </p:to>
                                    </p:set>
                                    <p:animEffect transition="in" filter="wipe(up)">
                                      <p:cBhvr>
                                        <p:cTn id="37" dur="500"/>
                                        <p:tgtEl>
                                          <p:spTgt spid="6145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1456"/>
                                        </p:tgtEl>
                                        <p:attrNameLst>
                                          <p:attrName>style.visibility</p:attrName>
                                        </p:attrNameLst>
                                      </p:cBhvr>
                                      <p:to>
                                        <p:strVal val="visible"/>
                                      </p:to>
                                    </p:set>
                                    <p:animEffect transition="in" filter="blinds(horizontal)">
                                      <p:cBhvr>
                                        <p:cTn id="42" dur="500"/>
                                        <p:tgtEl>
                                          <p:spTgt spid="6145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1466"/>
                                        </p:tgtEl>
                                        <p:attrNameLst>
                                          <p:attrName>style.visibility</p:attrName>
                                        </p:attrNameLst>
                                      </p:cBhvr>
                                      <p:to>
                                        <p:strVal val="visible"/>
                                      </p:to>
                                    </p:set>
                                    <p:animEffect transition="in" filter="wipe(left)">
                                      <p:cBhvr>
                                        <p:cTn id="47" dur="500"/>
                                        <p:tgtEl>
                                          <p:spTgt spid="614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61467"/>
                                        </p:tgtEl>
                                        <p:attrNameLst>
                                          <p:attrName>style.visibility</p:attrName>
                                        </p:attrNameLst>
                                      </p:cBhvr>
                                      <p:to>
                                        <p:strVal val="visible"/>
                                      </p:to>
                                    </p:set>
                                    <p:animEffect transition="in" filter="wipe(down)">
                                      <p:cBhvr>
                                        <p:cTn id="52" dur="500"/>
                                        <p:tgtEl>
                                          <p:spTgt spid="614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61468"/>
                                        </p:tgtEl>
                                        <p:attrNameLst>
                                          <p:attrName>style.visibility</p:attrName>
                                        </p:attrNameLst>
                                      </p:cBhvr>
                                      <p:to>
                                        <p:strVal val="visible"/>
                                      </p:to>
                                    </p:set>
                                    <p:animEffect transition="in" filter="wipe(right)">
                                      <p:cBhvr>
                                        <p:cTn id="57" dur="500"/>
                                        <p:tgtEl>
                                          <p:spTgt spid="6146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1460"/>
                                        </p:tgtEl>
                                        <p:attrNameLst>
                                          <p:attrName>style.visibility</p:attrName>
                                        </p:attrNameLst>
                                      </p:cBhvr>
                                      <p:to>
                                        <p:strVal val="visible"/>
                                      </p:to>
                                    </p:set>
                                    <p:animEffect transition="in" filter="wipe(left)">
                                      <p:cBhvr>
                                        <p:cTn id="62" dur="500"/>
                                        <p:tgtEl>
                                          <p:spTgt spid="61460"/>
                                        </p:tgtEl>
                                      </p:cBhvr>
                                    </p:animEffect>
                                  </p:childTnLst>
                                </p:cTn>
                              </p:par>
                              <p:par>
                                <p:cTn id="63" presetID="22" presetClass="entr" presetSubtype="8" fill="hold" nodeType="withEffect">
                                  <p:stCondLst>
                                    <p:cond delay="0"/>
                                  </p:stCondLst>
                                  <p:childTnLst>
                                    <p:set>
                                      <p:cBhvr>
                                        <p:cTn id="64" dur="1" fill="hold">
                                          <p:stCondLst>
                                            <p:cond delay="0"/>
                                          </p:stCondLst>
                                        </p:cTn>
                                        <p:tgtEl>
                                          <p:spTgt spid="61461"/>
                                        </p:tgtEl>
                                        <p:attrNameLst>
                                          <p:attrName>style.visibility</p:attrName>
                                        </p:attrNameLst>
                                      </p:cBhvr>
                                      <p:to>
                                        <p:strVal val="visible"/>
                                      </p:to>
                                    </p:set>
                                    <p:animEffect transition="in" filter="wipe(left)">
                                      <p:cBhvr>
                                        <p:cTn id="65" dur="500"/>
                                        <p:tgtEl>
                                          <p:spTgt spid="61461"/>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61462"/>
                                        </p:tgtEl>
                                        <p:attrNameLst>
                                          <p:attrName>style.visibility</p:attrName>
                                        </p:attrNameLst>
                                      </p:cBhvr>
                                      <p:to>
                                        <p:strVal val="visible"/>
                                      </p:to>
                                    </p:set>
                                    <p:animEffect transition="in" filter="blinds(horizontal)">
                                      <p:cBhvr>
                                        <p:cTn id="70" dur="500"/>
                                        <p:tgtEl>
                                          <p:spTgt spid="61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8" grpId="0"/>
      <p:bldP spid="61452" grpId="0"/>
      <p:bldP spid="61454" grpId="0"/>
      <p:bldP spid="6146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66561"/>
          <p:cNvSpPr>
            <a:spLocks noChangeArrowheads="1"/>
          </p:cNvSpPr>
          <p:nvPr/>
        </p:nvSpPr>
        <p:spPr bwMode="auto">
          <a:xfrm>
            <a:off x="1187450" y="434975"/>
            <a:ext cx="70850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dirty="0">
                <a:latin typeface="Times New Roman" panose="02020603050405020304" pitchFamily="18" charset="0"/>
                <a:ea typeface="黑体" panose="02010609060101010101" pitchFamily="49" charset="-122"/>
              </a:rPr>
              <a:t>关于</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V</a:t>
            </a:r>
            <a:r>
              <a:rPr lang="en-US" altLang="zh-CN" sz="4400" b="1" i="1" baseline="-25000" dirty="0">
                <a:solidFill>
                  <a:srgbClr val="FF0000"/>
                </a:solidFill>
                <a:latin typeface="Times New Roman" panose="02020603050405020304" pitchFamily="18" charset="0"/>
                <a:ea typeface="黑体" panose="02010609060101010101" pitchFamily="49" charset="-122"/>
              </a:rPr>
              <a:t> </a:t>
            </a:r>
            <a:r>
              <a:rPr lang="zh-CN" altLang="en-US" sz="4400" b="1" dirty="0">
                <a:latin typeface="Times New Roman" panose="02020603050405020304" pitchFamily="18" charset="0"/>
                <a:ea typeface="黑体" panose="02010609060101010101" pitchFamily="49" charset="-122"/>
              </a:rPr>
              <a:t>和</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p</a:t>
            </a:r>
            <a:r>
              <a:rPr lang="zh-CN" altLang="en-US" sz="4400" b="1" dirty="0">
                <a:latin typeface="Times New Roman" panose="02020603050405020304" pitchFamily="18" charset="0"/>
                <a:ea typeface="黑体" panose="02010609060101010101" pitchFamily="49" charset="-122"/>
              </a:rPr>
              <a:t>的几点说明（</a:t>
            </a:r>
            <a:r>
              <a:rPr lang="en-US" altLang="zh-CN" sz="4400" b="1" dirty="0">
                <a:latin typeface="Times New Roman" panose="02020603050405020304" pitchFamily="18" charset="0"/>
                <a:ea typeface="黑体" panose="02010609060101010101" pitchFamily="49" charset="-122"/>
              </a:rPr>
              <a:t>1</a:t>
            </a:r>
            <a:r>
              <a:rPr lang="zh-CN" altLang="en-US" sz="4400" b="1" dirty="0">
                <a:latin typeface="Times New Roman" panose="02020603050405020304" pitchFamily="18" charset="0"/>
                <a:ea typeface="黑体" panose="02010609060101010101" pitchFamily="49" charset="-122"/>
              </a:rPr>
              <a:t>）</a:t>
            </a:r>
          </a:p>
        </p:txBody>
      </p:sp>
      <p:graphicFrame>
        <p:nvGraphicFramePr>
          <p:cNvPr id="40963" name="对象 66570"/>
          <p:cNvGraphicFramePr/>
          <p:nvPr/>
        </p:nvGraphicFramePr>
        <p:xfrm>
          <a:off x="1619250" y="1890713"/>
          <a:ext cx="1692275" cy="1033462"/>
        </p:xfrm>
        <a:graphic>
          <a:graphicData uri="http://schemas.openxmlformats.org/presentationml/2006/ole">
            <mc:AlternateContent xmlns:mc="http://schemas.openxmlformats.org/markup-compatibility/2006">
              <mc:Choice xmlns:v="urn:schemas-microsoft-com:vml" Requires="v">
                <p:oleObj spid="_x0000_s60472" r:id="rId3" imgW="735965" imgH="444500" progId="Equation.DSMT4">
                  <p:embed/>
                </p:oleObj>
              </mc:Choice>
              <mc:Fallback>
                <p:oleObj r:id="rId3" imgW="735965" imgH="444500" progId="Equation.DSMT4">
                  <p:embed/>
                  <p:pic>
                    <p:nvPicPr>
                      <p:cNvPr id="0" name="对象 6657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890713"/>
                        <a:ext cx="1692275"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4" name="矩形 66571"/>
          <p:cNvSpPr>
            <a:spLocks noChangeArrowheads="1"/>
          </p:cNvSpPr>
          <p:nvPr/>
        </p:nvSpPr>
        <p:spPr bwMode="auto">
          <a:xfrm>
            <a:off x="1258888" y="1700213"/>
            <a:ext cx="2592387" cy="13684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65" name="对象 66572"/>
          <p:cNvGraphicFramePr/>
          <p:nvPr/>
        </p:nvGraphicFramePr>
        <p:xfrm>
          <a:off x="5421313" y="1876425"/>
          <a:ext cx="1720850" cy="1063625"/>
        </p:xfrm>
        <a:graphic>
          <a:graphicData uri="http://schemas.openxmlformats.org/presentationml/2006/ole">
            <mc:AlternateContent xmlns:mc="http://schemas.openxmlformats.org/markup-compatibility/2006">
              <mc:Choice xmlns:v="urn:schemas-microsoft-com:vml" Requires="v">
                <p:oleObj spid="_x0000_s60473" r:id="rId5" imgW="749300" imgH="457200" progId="Equation.DSMT4">
                  <p:embed/>
                </p:oleObj>
              </mc:Choice>
              <mc:Fallback>
                <p:oleObj r:id="rId5" imgW="749300" imgH="457200" progId="Equation.DSMT4">
                  <p:embed/>
                  <p:pic>
                    <p:nvPicPr>
                      <p:cNvPr id="0" name="对象 6657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1313" y="1876425"/>
                        <a:ext cx="172085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6" name="矩形 66573"/>
          <p:cNvSpPr>
            <a:spLocks noChangeArrowheads="1"/>
          </p:cNvSpPr>
          <p:nvPr/>
        </p:nvSpPr>
        <p:spPr bwMode="auto">
          <a:xfrm>
            <a:off x="5075238" y="1700213"/>
            <a:ext cx="2592387" cy="13684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67" name="矩形 66574"/>
          <p:cNvSpPr>
            <a:spLocks noChangeArrowheads="1"/>
          </p:cNvSpPr>
          <p:nvPr/>
        </p:nvSpPr>
        <p:spPr bwMode="auto">
          <a:xfrm>
            <a:off x="284163" y="4149725"/>
            <a:ext cx="8609012"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latin typeface="黑体" panose="02010609060101010101" pitchFamily="49" charset="-122"/>
                <a:ea typeface="黑体" panose="02010609060101010101" pitchFamily="49" charset="-122"/>
              </a:rPr>
              <a:t>    以上两式是通过简单可压缩系统的状态参数性质和数学关系式得到的，</a:t>
            </a:r>
            <a:r>
              <a:rPr lang="zh-CN" altLang="en-US" sz="3600" b="1" dirty="0">
                <a:solidFill>
                  <a:srgbClr val="FF0000"/>
                </a:solidFill>
                <a:latin typeface="黑体" panose="02010609060101010101" pitchFamily="49" charset="-122"/>
                <a:ea typeface="黑体" panose="02010609060101010101" pitchFamily="49" charset="-122"/>
              </a:rPr>
              <a:t>适用于任何简单可压缩系统的任何过程</a:t>
            </a:r>
            <a:r>
              <a:rPr lang="zh-CN" altLang="en-US" sz="3600" b="1" dirty="0">
                <a:latin typeface="黑体" panose="02010609060101010101" pitchFamily="49" charset="-122"/>
                <a:ea typeface="黑体" panose="02010609060101010101" pitchFamily="49"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64514"/>
          <p:cNvSpPr>
            <a:spLocks noChangeArrowheads="1"/>
          </p:cNvSpPr>
          <p:nvPr/>
        </p:nvSpPr>
        <p:spPr bwMode="auto">
          <a:xfrm>
            <a:off x="515938" y="1454521"/>
            <a:ext cx="820896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71500" indent="-571500">
              <a:buFont typeface="Arial" panose="020B0604020202020204" pitchFamily="34" charset="0"/>
              <a:buChar char="•"/>
            </a:pP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V</a:t>
            </a:r>
            <a:r>
              <a:rPr lang="en-US" altLang="zh-CN" sz="3600" b="1"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600" b="1" i="1" dirty="0" err="1" smtClean="0">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smtClean="0">
                <a:latin typeface="Times New Roman" panose="02020603050405020304" pitchFamily="18" charset="0"/>
                <a:ea typeface="黑体" panose="02010609060101010101" pitchFamily="49" charset="-122"/>
                <a:cs typeface="Times New Roman" panose="02020603050405020304" pitchFamily="18" charset="0"/>
              </a:rPr>
              <a:t>p</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的数值与物质的种类有关</a:t>
            </a:r>
            <a:endParaRPr lang="en-US" altLang="zh-CN" sz="36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571500" indent="-571500">
              <a:buFont typeface="Arial" panose="020B0604020202020204" pitchFamily="34" charset="0"/>
              <a:buChar char="•"/>
            </a:pP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对于同一种物质，</a:t>
            </a:r>
            <a:r>
              <a:rPr lang="en-US" altLang="zh-CN" sz="3600" b="1" i="1" dirty="0" err="1" smtClean="0">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smtClean="0">
                <a:latin typeface="Times New Roman" panose="02020603050405020304" pitchFamily="18" charset="0"/>
                <a:ea typeface="黑体" panose="02010609060101010101" pitchFamily="49" charset="-122"/>
                <a:cs typeface="Times New Roman" panose="02020603050405020304" pitchFamily="18" charset="0"/>
              </a:rPr>
              <a:t>V</a:t>
            </a:r>
            <a:r>
              <a:rPr lang="en-US" altLang="zh-CN" sz="3600" b="1" i="1" baseline="-25000"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600" b="1" i="1" dirty="0" err="1" smtClean="0">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smtClean="0">
                <a:latin typeface="Times New Roman" panose="02020603050405020304" pitchFamily="18" charset="0"/>
                <a:ea typeface="黑体" panose="02010609060101010101" pitchFamily="49" charset="-122"/>
                <a:cs typeface="Times New Roman" panose="02020603050405020304" pitchFamily="18" charset="0"/>
              </a:rPr>
              <a:t>p</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还与物质所处的状态有关，在不同的状态下，物质的</a:t>
            </a: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V</a:t>
            </a:r>
            <a:r>
              <a:rPr lang="en-US" altLang="zh-CN" sz="3600" b="1"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或</a:t>
            </a: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p</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是</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不一样</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的</a:t>
            </a:r>
          </a:p>
        </p:txBody>
      </p:sp>
      <p:sp>
        <p:nvSpPr>
          <p:cNvPr id="41989" name="矩形 64517"/>
          <p:cNvSpPr>
            <a:spLocks noChangeArrowheads="1"/>
          </p:cNvSpPr>
          <p:nvPr/>
        </p:nvSpPr>
        <p:spPr bwMode="auto">
          <a:xfrm>
            <a:off x="0" y="2686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990" name="矩形 64522"/>
          <p:cNvSpPr>
            <a:spLocks noChangeArrowheads="1"/>
          </p:cNvSpPr>
          <p:nvPr/>
        </p:nvSpPr>
        <p:spPr bwMode="auto">
          <a:xfrm>
            <a:off x="1167572" y="371579"/>
            <a:ext cx="80645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dirty="0">
                <a:latin typeface="Times New Roman" panose="02020603050405020304" pitchFamily="18" charset="0"/>
                <a:ea typeface="黑体" panose="02010609060101010101" pitchFamily="49" charset="-122"/>
              </a:rPr>
              <a:t>关于</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V</a:t>
            </a:r>
            <a:r>
              <a:rPr lang="en-US" altLang="zh-CN" sz="4400" b="1" i="1" baseline="-25000" dirty="0">
                <a:solidFill>
                  <a:srgbClr val="FF0000"/>
                </a:solidFill>
                <a:latin typeface="Times New Roman" panose="02020603050405020304" pitchFamily="18" charset="0"/>
                <a:ea typeface="黑体" panose="02010609060101010101" pitchFamily="49" charset="-122"/>
              </a:rPr>
              <a:t> </a:t>
            </a:r>
            <a:r>
              <a:rPr lang="zh-CN" altLang="en-US" sz="4400" b="1" dirty="0">
                <a:latin typeface="Times New Roman" panose="02020603050405020304" pitchFamily="18" charset="0"/>
                <a:ea typeface="黑体" panose="02010609060101010101" pitchFamily="49" charset="-122"/>
              </a:rPr>
              <a:t>和</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p</a:t>
            </a:r>
            <a:r>
              <a:rPr lang="zh-CN" altLang="en-US" sz="4400" b="1" dirty="0">
                <a:latin typeface="Times New Roman" panose="02020603050405020304" pitchFamily="18" charset="0"/>
                <a:ea typeface="黑体" panose="02010609060101010101" pitchFamily="49" charset="-122"/>
              </a:rPr>
              <a:t>的几点说明（</a:t>
            </a:r>
            <a:r>
              <a:rPr lang="en-US" altLang="zh-CN" sz="4400" b="1" dirty="0">
                <a:latin typeface="Times New Roman" panose="02020603050405020304" pitchFamily="18" charset="0"/>
                <a:ea typeface="黑体" panose="02010609060101010101" pitchFamily="49" charset="-122"/>
              </a:rPr>
              <a:t>2</a:t>
            </a:r>
            <a:r>
              <a:rPr lang="zh-CN" altLang="en-US" sz="4400" b="1" dirty="0">
                <a:latin typeface="Times New Roman" panose="02020603050405020304" pitchFamily="18" charset="0"/>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64514"/>
          <p:cNvSpPr>
            <a:spLocks noChangeArrowheads="1"/>
          </p:cNvSpPr>
          <p:nvPr/>
        </p:nvSpPr>
        <p:spPr bwMode="auto">
          <a:xfrm>
            <a:off x="528462" y="1825344"/>
            <a:ext cx="82089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2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200" b="1" i="1" baseline="-25000" dirty="0" err="1">
                <a:latin typeface="Times New Roman" panose="02020603050405020304" pitchFamily="18" charset="0"/>
                <a:ea typeface="黑体" panose="02010609060101010101" pitchFamily="49" charset="-122"/>
                <a:cs typeface="Times New Roman" panose="02020603050405020304" pitchFamily="18" charset="0"/>
              </a:rPr>
              <a:t>V</a:t>
            </a:r>
            <a:r>
              <a:rPr lang="en-US" altLang="zh-CN" sz="3200" b="1"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dirty="0" err="1" smtClean="0">
                <a:latin typeface="Times New Roman" panose="02020603050405020304" pitchFamily="18" charset="0"/>
                <a:ea typeface="黑体" panose="02010609060101010101" pitchFamily="49" charset="-122"/>
                <a:cs typeface="Times New Roman" panose="02020603050405020304" pitchFamily="18" charset="0"/>
              </a:rPr>
              <a:t>c</a:t>
            </a:r>
            <a:r>
              <a:rPr lang="en-US" altLang="zh-CN" sz="3200" b="1" i="1" baseline="-25000" dirty="0" err="1" smtClean="0">
                <a:latin typeface="Times New Roman" panose="02020603050405020304" pitchFamily="18" charset="0"/>
                <a:ea typeface="黑体" panose="02010609060101010101" pitchFamily="49" charset="-122"/>
                <a:cs typeface="Times New Roman" panose="02020603050405020304" pitchFamily="18" charset="0"/>
              </a:rPr>
              <a:t>p</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是</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系统的强度状态参数</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，可表示为</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1989" name="矩形 64517"/>
          <p:cNvSpPr>
            <a:spLocks noChangeArrowheads="1"/>
          </p:cNvSpPr>
          <p:nvPr/>
        </p:nvSpPr>
        <p:spPr bwMode="auto">
          <a:xfrm>
            <a:off x="0" y="2686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990" name="矩形 64522"/>
          <p:cNvSpPr>
            <a:spLocks noChangeArrowheads="1"/>
          </p:cNvSpPr>
          <p:nvPr/>
        </p:nvSpPr>
        <p:spPr bwMode="auto">
          <a:xfrm>
            <a:off x="1167572" y="371579"/>
            <a:ext cx="80645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dirty="0">
                <a:latin typeface="Times New Roman" panose="02020603050405020304" pitchFamily="18" charset="0"/>
                <a:ea typeface="黑体" panose="02010609060101010101" pitchFamily="49" charset="-122"/>
              </a:rPr>
              <a:t>关于</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V</a:t>
            </a:r>
            <a:r>
              <a:rPr lang="en-US" altLang="zh-CN" sz="4400" b="1" i="1" baseline="-25000" dirty="0">
                <a:solidFill>
                  <a:srgbClr val="FF0000"/>
                </a:solidFill>
                <a:latin typeface="Times New Roman" panose="02020603050405020304" pitchFamily="18" charset="0"/>
                <a:ea typeface="黑体" panose="02010609060101010101" pitchFamily="49" charset="-122"/>
              </a:rPr>
              <a:t> </a:t>
            </a:r>
            <a:r>
              <a:rPr lang="zh-CN" altLang="en-US" sz="4400" b="1" dirty="0">
                <a:latin typeface="Times New Roman" panose="02020603050405020304" pitchFamily="18" charset="0"/>
                <a:ea typeface="黑体" panose="02010609060101010101" pitchFamily="49" charset="-122"/>
              </a:rPr>
              <a:t>和</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p</a:t>
            </a:r>
            <a:r>
              <a:rPr lang="zh-CN" altLang="en-US" sz="4400" b="1" dirty="0">
                <a:latin typeface="Times New Roman" panose="02020603050405020304" pitchFamily="18" charset="0"/>
                <a:ea typeface="黑体" panose="02010609060101010101" pitchFamily="49" charset="-122"/>
              </a:rPr>
              <a:t>的几点说明</a:t>
            </a:r>
            <a:r>
              <a:rPr lang="zh-CN" altLang="en-US" sz="4400" b="1" dirty="0" smtClean="0">
                <a:latin typeface="Times New Roman" panose="02020603050405020304" pitchFamily="18" charset="0"/>
                <a:ea typeface="黑体" panose="02010609060101010101" pitchFamily="49" charset="-122"/>
              </a:rPr>
              <a:t>（</a:t>
            </a:r>
            <a:r>
              <a:rPr lang="en-US" altLang="zh-CN" sz="4400" b="1" dirty="0" smtClean="0">
                <a:latin typeface="Times New Roman" panose="02020603050405020304" pitchFamily="18" charset="0"/>
                <a:ea typeface="黑体" panose="02010609060101010101" pitchFamily="49" charset="-122"/>
              </a:rPr>
              <a:t>3</a:t>
            </a:r>
            <a:r>
              <a:rPr lang="zh-CN" altLang="en-US" sz="4400" b="1" dirty="0" smtClean="0">
                <a:latin typeface="Times New Roman" panose="02020603050405020304" pitchFamily="18" charset="0"/>
                <a:ea typeface="黑体" panose="02010609060101010101" pitchFamily="49" charset="-122"/>
              </a:rPr>
              <a:t>）</a:t>
            </a:r>
            <a:endParaRPr lang="zh-CN" altLang="en-US" sz="4400" b="1" dirty="0">
              <a:latin typeface="Times New Roman" panose="02020603050405020304" pitchFamily="18" charset="0"/>
              <a:ea typeface="黑体" panose="02010609060101010101" pitchFamily="49" charset="-122"/>
            </a:endParaRPr>
          </a:p>
        </p:txBody>
      </p:sp>
      <p:sp>
        <p:nvSpPr>
          <p:cNvPr id="13" name="矩形 12"/>
          <p:cNvSpPr>
            <a:spLocks noChangeArrowheads="1"/>
          </p:cNvSpPr>
          <p:nvPr/>
        </p:nvSpPr>
        <p:spPr bwMode="auto">
          <a:xfrm>
            <a:off x="1393753" y="2930532"/>
            <a:ext cx="25923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600" i="1" dirty="0" err="1" smtClean="0">
                <a:latin typeface="Times New Roman" panose="02020603050405020304" pitchFamily="18" charset="0"/>
                <a:ea typeface="黑体" panose="02010609060101010101" pitchFamily="49" charset="-122"/>
              </a:rPr>
              <a:t>c</a:t>
            </a:r>
            <a:r>
              <a:rPr lang="en-US" altLang="zh-CN" sz="3600" i="1" baseline="-25000" dirty="0" err="1" smtClean="0">
                <a:latin typeface="Times New Roman" panose="02020603050405020304" pitchFamily="18" charset="0"/>
                <a:ea typeface="黑体" panose="02010609060101010101" pitchFamily="49" charset="-122"/>
              </a:rPr>
              <a:t>V</a:t>
            </a:r>
            <a:r>
              <a:rPr lang="en-US" altLang="zh-CN" sz="3600" i="1" baseline="-25000" dirty="0" smtClean="0">
                <a:latin typeface="Times New Roman" panose="02020603050405020304" pitchFamily="18" charset="0"/>
                <a:ea typeface="黑体" panose="02010609060101010101" pitchFamily="49" charset="-122"/>
              </a:rPr>
              <a:t> </a:t>
            </a:r>
            <a:r>
              <a:rPr lang="en-US" altLang="zh-CN" sz="3600" i="1" dirty="0">
                <a:latin typeface="Times New Roman" panose="02020603050405020304" pitchFamily="18" charset="0"/>
                <a:ea typeface="黑体" panose="02010609060101010101" pitchFamily="49" charset="-122"/>
              </a:rPr>
              <a:t>=</a:t>
            </a:r>
            <a:r>
              <a:rPr lang="en-US" altLang="zh-CN" sz="3600" i="1" dirty="0" err="1">
                <a:latin typeface="Times New Roman" panose="02020603050405020304" pitchFamily="18" charset="0"/>
                <a:ea typeface="黑体" panose="02010609060101010101" pitchFamily="49" charset="-122"/>
              </a:rPr>
              <a:t>c</a:t>
            </a:r>
            <a:r>
              <a:rPr lang="en-US" altLang="zh-CN" sz="3600" i="1" baseline="-25000" dirty="0" err="1" smtClean="0">
                <a:latin typeface="Times New Roman" panose="02020603050405020304" pitchFamily="18" charset="0"/>
                <a:ea typeface="黑体" panose="02010609060101010101" pitchFamily="49" charset="-122"/>
              </a:rPr>
              <a:t>V</a:t>
            </a:r>
            <a:r>
              <a:rPr lang="en-US" altLang="zh-CN" sz="3600" i="1" baseline="-25000" dirty="0" smtClean="0">
                <a:latin typeface="Times New Roman" panose="02020603050405020304" pitchFamily="18" charset="0"/>
                <a:ea typeface="黑体" panose="02010609060101010101" pitchFamily="49" charset="-122"/>
              </a:rPr>
              <a:t> </a:t>
            </a:r>
            <a:r>
              <a:rPr lang="en-US" altLang="zh-CN" sz="3600" dirty="0">
                <a:latin typeface="Times New Roman" panose="02020603050405020304" pitchFamily="18" charset="0"/>
                <a:ea typeface="黑体" panose="02010609060101010101" pitchFamily="49" charset="-122"/>
              </a:rPr>
              <a:t>(</a:t>
            </a:r>
            <a:r>
              <a:rPr lang="en-US" altLang="zh-CN" sz="3600" i="1" dirty="0">
                <a:latin typeface="Times New Roman" panose="02020603050405020304" pitchFamily="18" charset="0"/>
                <a:ea typeface="黑体" panose="02010609060101010101" pitchFamily="49" charset="-122"/>
              </a:rPr>
              <a:t>T, </a:t>
            </a:r>
            <a:r>
              <a:rPr lang="en-US" altLang="zh-CN" sz="3600" i="1" dirty="0" smtClean="0">
                <a:latin typeface="Times New Roman" panose="02020603050405020304" pitchFamily="18" charset="0"/>
                <a:ea typeface="黑体" panose="02010609060101010101" pitchFamily="49" charset="-122"/>
              </a:rPr>
              <a:t>v</a:t>
            </a:r>
            <a:r>
              <a:rPr lang="en-US" altLang="zh-CN" sz="3600" dirty="0" smtClean="0">
                <a:latin typeface="Times New Roman" panose="02020603050405020304" pitchFamily="18" charset="0"/>
                <a:ea typeface="黑体" panose="02010609060101010101" pitchFamily="49" charset="-122"/>
              </a:rPr>
              <a:t>)</a:t>
            </a:r>
            <a:endParaRPr lang="zh-CN" altLang="en-US" sz="3600" dirty="0">
              <a:latin typeface="Times New Roman" panose="02020603050405020304" pitchFamily="18" charset="0"/>
              <a:ea typeface="黑体" panose="02010609060101010101" pitchFamily="49" charset="-122"/>
            </a:endParaRPr>
          </a:p>
        </p:txBody>
      </p:sp>
      <p:sp>
        <p:nvSpPr>
          <p:cNvPr id="14" name="矩形 13"/>
          <p:cNvSpPr>
            <a:spLocks noChangeArrowheads="1"/>
          </p:cNvSpPr>
          <p:nvPr/>
        </p:nvSpPr>
        <p:spPr bwMode="auto">
          <a:xfrm>
            <a:off x="4632943" y="2930532"/>
            <a:ext cx="25923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600" i="1" dirty="0" err="1">
                <a:latin typeface="Times New Roman" panose="02020603050405020304" pitchFamily="18" charset="0"/>
                <a:ea typeface="黑体" panose="02010609060101010101" pitchFamily="49" charset="-122"/>
              </a:rPr>
              <a:t>c</a:t>
            </a:r>
            <a:r>
              <a:rPr lang="en-US" altLang="zh-CN" sz="3600" i="1" baseline="-25000" dirty="0" err="1">
                <a:latin typeface="Times New Roman" panose="02020603050405020304" pitchFamily="18" charset="0"/>
                <a:ea typeface="黑体" panose="02010609060101010101" pitchFamily="49" charset="-122"/>
              </a:rPr>
              <a:t>p</a:t>
            </a:r>
            <a:r>
              <a:rPr lang="en-US" altLang="zh-CN" sz="3600" i="1" baseline="-25000" dirty="0" smtClean="0">
                <a:latin typeface="Times New Roman" panose="02020603050405020304" pitchFamily="18" charset="0"/>
                <a:ea typeface="黑体" panose="02010609060101010101" pitchFamily="49" charset="-122"/>
              </a:rPr>
              <a:t> </a:t>
            </a:r>
            <a:r>
              <a:rPr lang="en-US" altLang="zh-CN" sz="3600" i="1" dirty="0">
                <a:latin typeface="Times New Roman" panose="02020603050405020304" pitchFamily="18" charset="0"/>
                <a:ea typeface="黑体" panose="02010609060101010101" pitchFamily="49" charset="-122"/>
              </a:rPr>
              <a:t>= </a:t>
            </a:r>
            <a:r>
              <a:rPr lang="en-US" altLang="zh-CN" sz="3600" i="1" dirty="0" err="1">
                <a:latin typeface="Times New Roman" panose="02020603050405020304" pitchFamily="18" charset="0"/>
                <a:ea typeface="黑体" panose="02010609060101010101" pitchFamily="49" charset="-122"/>
              </a:rPr>
              <a:t>c</a:t>
            </a:r>
            <a:r>
              <a:rPr lang="en-US" altLang="zh-CN" sz="3600" i="1" baseline="-25000" dirty="0" err="1" smtClean="0">
                <a:latin typeface="Times New Roman" panose="02020603050405020304" pitchFamily="18" charset="0"/>
                <a:ea typeface="黑体" panose="02010609060101010101" pitchFamily="49" charset="-122"/>
              </a:rPr>
              <a:t>p</a:t>
            </a:r>
            <a:r>
              <a:rPr lang="en-US" altLang="zh-CN" sz="3600" i="1" baseline="-25000" dirty="0" smtClean="0">
                <a:latin typeface="Times New Roman" panose="02020603050405020304" pitchFamily="18" charset="0"/>
                <a:ea typeface="黑体" panose="02010609060101010101" pitchFamily="49" charset="-122"/>
              </a:rPr>
              <a:t> </a:t>
            </a:r>
            <a:r>
              <a:rPr lang="en-US" altLang="zh-CN" sz="3600" dirty="0">
                <a:latin typeface="Times New Roman" panose="02020603050405020304" pitchFamily="18" charset="0"/>
                <a:ea typeface="黑体" panose="02010609060101010101" pitchFamily="49" charset="-122"/>
              </a:rPr>
              <a:t>(</a:t>
            </a:r>
            <a:r>
              <a:rPr lang="en-US" altLang="zh-CN" sz="3600" i="1" dirty="0">
                <a:latin typeface="Times New Roman" panose="02020603050405020304" pitchFamily="18" charset="0"/>
                <a:ea typeface="黑体" panose="02010609060101010101" pitchFamily="49" charset="-122"/>
              </a:rPr>
              <a:t>T, p</a:t>
            </a:r>
            <a:r>
              <a:rPr lang="en-US" altLang="zh-CN" sz="3600" dirty="0">
                <a:latin typeface="Times New Roman" panose="02020603050405020304" pitchFamily="18" charset="0"/>
                <a:ea typeface="黑体" panose="02010609060101010101"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65537"/>
          <p:cNvSpPr>
            <a:spLocks noChangeArrowheads="1"/>
          </p:cNvSpPr>
          <p:nvPr/>
        </p:nvSpPr>
        <p:spPr bwMode="auto">
          <a:xfrm>
            <a:off x="539750" y="1541463"/>
            <a:ext cx="20161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常用单位</a:t>
            </a:r>
            <a:r>
              <a:rPr lang="en-US" altLang="zh-CN" sz="3200" b="1">
                <a:latin typeface="黑体" panose="02010609060101010101" pitchFamily="49" charset="-122"/>
                <a:ea typeface="黑体" panose="02010609060101010101" pitchFamily="49" charset="-122"/>
              </a:rPr>
              <a:t>: </a:t>
            </a:r>
          </a:p>
        </p:txBody>
      </p:sp>
      <p:sp>
        <p:nvSpPr>
          <p:cNvPr id="43011" name="矩形 65538"/>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3012" name="对象 65539"/>
          <p:cNvGraphicFramePr/>
          <p:nvPr/>
        </p:nvGraphicFramePr>
        <p:xfrm>
          <a:off x="2879725" y="1196975"/>
          <a:ext cx="1763713" cy="631825"/>
        </p:xfrm>
        <a:graphic>
          <a:graphicData uri="http://schemas.openxmlformats.org/presentationml/2006/ole">
            <mc:AlternateContent xmlns:mc="http://schemas.openxmlformats.org/markup-compatibility/2006">
              <mc:Choice xmlns:v="urn:schemas-microsoft-com:vml" Requires="v">
                <p:oleObj spid="_x0000_s61646" r:id="rId4" imgW="774065" imgH="279400" progId="Equation.DSMT4">
                  <p:embed/>
                </p:oleObj>
              </mc:Choice>
              <mc:Fallback>
                <p:oleObj r:id="rId4" imgW="774065" imgH="279400" progId="Equation.DSMT4">
                  <p:embed/>
                  <p:pic>
                    <p:nvPicPr>
                      <p:cNvPr id="0" name="对象 6553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9725" y="1196975"/>
                        <a:ext cx="17637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3" name="矩形 6554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3014" name="对象 65541"/>
          <p:cNvGraphicFramePr/>
          <p:nvPr/>
        </p:nvGraphicFramePr>
        <p:xfrm>
          <a:off x="5761038" y="1196975"/>
          <a:ext cx="1619250" cy="568325"/>
        </p:xfrm>
        <a:graphic>
          <a:graphicData uri="http://schemas.openxmlformats.org/presentationml/2006/ole">
            <mc:AlternateContent xmlns:mc="http://schemas.openxmlformats.org/markup-compatibility/2006">
              <mc:Choice xmlns:v="urn:schemas-microsoft-com:vml" Requires="v">
                <p:oleObj spid="_x0000_s61647" r:id="rId6" imgW="735965" imgH="254000" progId="Equation.DSMT4">
                  <p:embed/>
                </p:oleObj>
              </mc:Choice>
              <mc:Fallback>
                <p:oleObj r:id="rId6" imgW="735965" imgH="254000" progId="Equation.DSMT4">
                  <p:embed/>
                  <p:pic>
                    <p:nvPicPr>
                      <p:cNvPr id="0" name="对象 6554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1038" y="1196975"/>
                        <a:ext cx="16192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3" name="矩形 65542"/>
          <p:cNvSpPr>
            <a:spLocks noChangeArrowheads="1"/>
          </p:cNvSpPr>
          <p:nvPr/>
        </p:nvSpPr>
        <p:spPr bwMode="auto">
          <a:xfrm>
            <a:off x="539750" y="2565400"/>
            <a:ext cx="8353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Times New Roman" panose="02020603050405020304" pitchFamily="18" charset="0"/>
                <a:ea typeface="黑体" panose="02010609060101010101" pitchFamily="49" charset="-122"/>
              </a:rPr>
              <a:t>在</a:t>
            </a:r>
            <a:r>
              <a:rPr lang="zh-CN" altLang="en-US" sz="2800" b="1" dirty="0" smtClean="0">
                <a:latin typeface="Times New Roman" panose="02020603050405020304" pitchFamily="18" charset="0"/>
                <a:ea typeface="黑体" panose="02010609060101010101" pitchFamily="49" charset="-122"/>
              </a:rPr>
              <a:t>热力计算</a:t>
            </a:r>
            <a:r>
              <a:rPr lang="zh-CN" altLang="en-US" sz="2800" b="1" dirty="0">
                <a:latin typeface="Times New Roman" panose="02020603050405020304" pitchFamily="18" charset="0"/>
                <a:ea typeface="黑体" panose="02010609060101010101" pitchFamily="49" charset="-122"/>
              </a:rPr>
              <a:t>中，尤其在有化学反应或相变反应时，用</a:t>
            </a:r>
            <a:r>
              <a:rPr lang="zh-CN" altLang="en-US" sz="2800" b="1" dirty="0">
                <a:solidFill>
                  <a:srgbClr val="FF0000"/>
                </a:solidFill>
                <a:latin typeface="Times New Roman" panose="02020603050405020304" pitchFamily="18" charset="0"/>
                <a:ea typeface="黑体" panose="02010609060101010101" pitchFamily="49" charset="-122"/>
              </a:rPr>
              <a:t>摩尔热容</a:t>
            </a:r>
            <a:r>
              <a:rPr lang="zh-CN" altLang="en-US" sz="2800" b="1" dirty="0">
                <a:latin typeface="Times New Roman" panose="02020603050405020304" pitchFamily="18" charset="0"/>
                <a:ea typeface="黑体" panose="02010609060101010101" pitchFamily="49" charset="-122"/>
              </a:rPr>
              <a:t>更为方便，它表示</a:t>
            </a:r>
            <a:r>
              <a:rPr lang="en-US" altLang="zh-CN" sz="2800" b="1" dirty="0">
                <a:latin typeface="Times New Roman" panose="02020603050405020304" pitchFamily="18" charset="0"/>
                <a:ea typeface="黑体" panose="02010609060101010101" pitchFamily="49" charset="-122"/>
              </a:rPr>
              <a:t>1mol</a:t>
            </a:r>
            <a:r>
              <a:rPr lang="zh-CN" altLang="en-US" sz="2800" b="1" dirty="0">
                <a:latin typeface="Times New Roman" panose="02020603050405020304" pitchFamily="18" charset="0"/>
                <a:ea typeface="黑体" panose="02010609060101010101" pitchFamily="49" charset="-122"/>
              </a:rPr>
              <a:t>物质的热容</a:t>
            </a:r>
          </a:p>
        </p:txBody>
      </p:sp>
      <p:sp>
        <p:nvSpPr>
          <p:cNvPr id="43016" name="矩形 65543"/>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5545" name="对象 65544"/>
          <p:cNvGraphicFramePr/>
          <p:nvPr/>
        </p:nvGraphicFramePr>
        <p:xfrm>
          <a:off x="1692275" y="3789363"/>
          <a:ext cx="1873250" cy="596900"/>
        </p:xfrm>
        <a:graphic>
          <a:graphicData uri="http://schemas.openxmlformats.org/presentationml/2006/ole">
            <mc:AlternateContent xmlns:mc="http://schemas.openxmlformats.org/markup-compatibility/2006">
              <mc:Choice xmlns:v="urn:schemas-microsoft-com:vml" Requires="v">
                <p:oleObj spid="_x0000_s61648" r:id="rId8" imgW="862965" imgH="279400" progId="Equation.DSMT4">
                  <p:embed/>
                </p:oleObj>
              </mc:Choice>
              <mc:Fallback>
                <p:oleObj r:id="rId8" imgW="862965" imgH="279400" progId="Equation.DSMT4">
                  <p:embed/>
                  <p:pic>
                    <p:nvPicPr>
                      <p:cNvPr id="0" name="对象 6554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3789363"/>
                        <a:ext cx="187325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8" name="矩形 6554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5547" name="对象 65546"/>
          <p:cNvGraphicFramePr/>
          <p:nvPr/>
        </p:nvGraphicFramePr>
        <p:xfrm>
          <a:off x="4716463" y="3789363"/>
          <a:ext cx="1728787" cy="536575"/>
        </p:xfrm>
        <a:graphic>
          <a:graphicData uri="http://schemas.openxmlformats.org/presentationml/2006/ole">
            <mc:AlternateContent xmlns:mc="http://schemas.openxmlformats.org/markup-compatibility/2006">
              <mc:Choice xmlns:v="urn:schemas-microsoft-com:vml" Requires="v">
                <p:oleObj spid="_x0000_s61649" r:id="rId10" imgW="825500" imgH="254000" progId="Equation.DSMT4">
                  <p:embed/>
                </p:oleObj>
              </mc:Choice>
              <mc:Fallback>
                <p:oleObj r:id="rId10" imgW="825500" imgH="254000" progId="Equation.DSMT4">
                  <p:embed/>
                  <p:pic>
                    <p:nvPicPr>
                      <p:cNvPr id="0" name="对象 6554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16463" y="3789363"/>
                        <a:ext cx="172878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0" name="矩形 65547"/>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21" name="矩形 6554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23" name="矩形 6555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5552" name="对象 65551"/>
          <p:cNvGraphicFramePr/>
          <p:nvPr/>
        </p:nvGraphicFramePr>
        <p:xfrm>
          <a:off x="1979613" y="5445125"/>
          <a:ext cx="1584325" cy="514350"/>
        </p:xfrm>
        <a:graphic>
          <a:graphicData uri="http://schemas.openxmlformats.org/presentationml/2006/ole">
            <mc:AlternateContent xmlns:mc="http://schemas.openxmlformats.org/markup-compatibility/2006">
              <mc:Choice xmlns:v="urn:schemas-microsoft-com:vml" Requires="v">
                <p:oleObj spid="_x0000_s61650" r:id="rId12" imgW="736600" imgH="241300" progId="Equation.DSMT4">
                  <p:embed/>
                </p:oleObj>
              </mc:Choice>
              <mc:Fallback>
                <p:oleObj r:id="rId12" imgW="736600" imgH="241300" progId="Equation.DSMT4">
                  <p:embed/>
                  <p:pic>
                    <p:nvPicPr>
                      <p:cNvPr id="0" name="对象 6555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9613" y="5445125"/>
                        <a:ext cx="158432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53" name="矩形 65552"/>
          <p:cNvSpPr>
            <a:spLocks noChangeArrowheads="1"/>
          </p:cNvSpPr>
          <p:nvPr/>
        </p:nvSpPr>
        <p:spPr bwMode="auto">
          <a:xfrm>
            <a:off x="4067175" y="4652963"/>
            <a:ext cx="2506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摩尔定容热容 </a:t>
            </a:r>
          </a:p>
        </p:txBody>
      </p:sp>
      <p:sp>
        <p:nvSpPr>
          <p:cNvPr id="65554" name="矩形 65553"/>
          <p:cNvSpPr>
            <a:spLocks noChangeArrowheads="1"/>
          </p:cNvSpPr>
          <p:nvPr/>
        </p:nvSpPr>
        <p:spPr bwMode="auto">
          <a:xfrm>
            <a:off x="4092575" y="5373688"/>
            <a:ext cx="2506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摩尔定压热容 </a:t>
            </a:r>
          </a:p>
        </p:txBody>
      </p:sp>
      <p:sp>
        <p:nvSpPr>
          <p:cNvPr id="65555" name="矩形 65554"/>
          <p:cNvSpPr>
            <a:spLocks noChangeArrowheads="1"/>
          </p:cNvSpPr>
          <p:nvPr/>
        </p:nvSpPr>
        <p:spPr bwMode="auto">
          <a:xfrm>
            <a:off x="3059113" y="6092825"/>
            <a:ext cx="183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ea typeface="楷体_GB2312" pitchFamily="49" charset="-122"/>
              </a:rPr>
              <a:t>M</a:t>
            </a:r>
            <a:r>
              <a:rPr lang="en-US" altLang="zh-CN" sz="2400" b="1">
                <a:latin typeface="黑体" panose="02010609060101010101" pitchFamily="49" charset="-122"/>
                <a:ea typeface="黑体" panose="02010609060101010101" pitchFamily="49" charset="-122"/>
              </a:rPr>
              <a:t>:</a:t>
            </a:r>
            <a:r>
              <a:rPr lang="zh-CN" altLang="en-US" sz="2400" b="1">
                <a:latin typeface="黑体" panose="02010609060101010101" pitchFamily="49" charset="-122"/>
                <a:ea typeface="黑体" panose="02010609060101010101" pitchFamily="49" charset="-122"/>
              </a:rPr>
              <a:t>摩尔质量</a:t>
            </a:r>
          </a:p>
        </p:txBody>
      </p:sp>
      <p:graphicFrame>
        <p:nvGraphicFramePr>
          <p:cNvPr id="43028" name="对象 65555"/>
          <p:cNvGraphicFramePr/>
          <p:nvPr/>
        </p:nvGraphicFramePr>
        <p:xfrm>
          <a:off x="3038475" y="1773238"/>
          <a:ext cx="1590675" cy="631825"/>
        </p:xfrm>
        <a:graphic>
          <a:graphicData uri="http://schemas.openxmlformats.org/presentationml/2006/ole">
            <mc:AlternateContent xmlns:mc="http://schemas.openxmlformats.org/markup-compatibility/2006">
              <mc:Choice xmlns:v="urn:schemas-microsoft-com:vml" Requires="v">
                <p:oleObj spid="_x0000_s61651" r:id="rId14" imgW="698500" imgH="279400" progId="Equation.DSMT4">
                  <p:embed/>
                </p:oleObj>
              </mc:Choice>
              <mc:Fallback>
                <p:oleObj r:id="rId14" imgW="698500" imgH="279400" progId="Equation.DSMT4">
                  <p:embed/>
                  <p:pic>
                    <p:nvPicPr>
                      <p:cNvPr id="0" name="对象 6555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38475" y="1773238"/>
                        <a:ext cx="15906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29" name="对象 65556"/>
          <p:cNvGraphicFramePr/>
          <p:nvPr/>
        </p:nvGraphicFramePr>
        <p:xfrm>
          <a:off x="5916613" y="1773238"/>
          <a:ext cx="1452562" cy="568325"/>
        </p:xfrm>
        <a:graphic>
          <a:graphicData uri="http://schemas.openxmlformats.org/presentationml/2006/ole">
            <mc:AlternateContent xmlns:mc="http://schemas.openxmlformats.org/markup-compatibility/2006">
              <mc:Choice xmlns:v="urn:schemas-microsoft-com:vml" Requires="v">
                <p:oleObj spid="_x0000_s61652" r:id="rId16" imgW="659765" imgH="254000" progId="Equation.DSMT4">
                  <p:embed/>
                </p:oleObj>
              </mc:Choice>
              <mc:Fallback>
                <p:oleObj r:id="rId16" imgW="659765" imgH="254000" progId="Equation.DSMT4">
                  <p:embed/>
                  <p:pic>
                    <p:nvPicPr>
                      <p:cNvPr id="0" name="对象 6555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16613" y="1773238"/>
                        <a:ext cx="1452562"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30" name="矩形 65557"/>
          <p:cNvSpPr>
            <a:spLocks noChangeArrowheads="1"/>
          </p:cNvSpPr>
          <p:nvPr/>
        </p:nvSpPr>
        <p:spPr bwMode="auto">
          <a:xfrm>
            <a:off x="1187450" y="188913"/>
            <a:ext cx="90011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dirty="0">
                <a:latin typeface="Times New Roman" panose="02020603050405020304" pitchFamily="18" charset="0"/>
                <a:ea typeface="黑体" panose="02010609060101010101" pitchFamily="49" charset="-122"/>
              </a:rPr>
              <a:t>关于</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V</a:t>
            </a:r>
            <a:r>
              <a:rPr lang="en-US" altLang="zh-CN" sz="4400" b="1" i="1" baseline="-25000" dirty="0">
                <a:solidFill>
                  <a:srgbClr val="FF0000"/>
                </a:solidFill>
                <a:latin typeface="Times New Roman" panose="02020603050405020304" pitchFamily="18" charset="0"/>
                <a:ea typeface="黑体" panose="02010609060101010101" pitchFamily="49" charset="-122"/>
              </a:rPr>
              <a:t> </a:t>
            </a:r>
            <a:r>
              <a:rPr lang="zh-CN" altLang="en-US" sz="4400" b="1" dirty="0">
                <a:latin typeface="Times New Roman" panose="02020603050405020304" pitchFamily="18" charset="0"/>
                <a:ea typeface="黑体" panose="02010609060101010101" pitchFamily="49" charset="-122"/>
              </a:rPr>
              <a:t>和</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p</a:t>
            </a:r>
            <a:r>
              <a:rPr lang="zh-CN" altLang="en-US" sz="4400" b="1" dirty="0">
                <a:latin typeface="Times New Roman" panose="02020603050405020304" pitchFamily="18" charset="0"/>
                <a:ea typeface="黑体" panose="02010609060101010101" pitchFamily="49" charset="-122"/>
              </a:rPr>
              <a:t>的几点说明</a:t>
            </a:r>
            <a:r>
              <a:rPr lang="zh-CN" altLang="en-US" sz="4400" b="1" dirty="0" smtClean="0">
                <a:latin typeface="Times New Roman" panose="02020603050405020304" pitchFamily="18" charset="0"/>
                <a:ea typeface="黑体" panose="02010609060101010101" pitchFamily="49" charset="-122"/>
              </a:rPr>
              <a:t>（</a:t>
            </a:r>
            <a:r>
              <a:rPr lang="en-US" altLang="zh-CN" sz="4400" b="1" dirty="0" smtClean="0">
                <a:latin typeface="Times New Roman" panose="02020603050405020304" pitchFamily="18" charset="0"/>
                <a:ea typeface="黑体" panose="02010609060101010101" pitchFamily="49" charset="-122"/>
              </a:rPr>
              <a:t>4</a:t>
            </a:r>
            <a:r>
              <a:rPr lang="zh-CN" altLang="en-US" sz="4400" b="1" dirty="0" smtClean="0">
                <a:latin typeface="Times New Roman" panose="02020603050405020304" pitchFamily="18" charset="0"/>
                <a:ea typeface="黑体" panose="02010609060101010101" pitchFamily="49" charset="-122"/>
              </a:rPr>
              <a:t>）</a:t>
            </a:r>
            <a:endParaRPr lang="zh-CN" altLang="en-US" sz="4400" b="1" dirty="0">
              <a:latin typeface="Times New Roman" panose="02020603050405020304" pitchFamily="18" charset="0"/>
              <a:ea typeface="黑体" panose="02010609060101010101" pitchFamily="49" charset="-122"/>
            </a:endParaRPr>
          </a:p>
        </p:txBody>
      </p:sp>
      <p:graphicFrame>
        <p:nvGraphicFramePr>
          <p:cNvPr id="23" name="对象 22"/>
          <p:cNvGraphicFramePr>
            <a:graphicFrameLocks noChangeAspect="1"/>
          </p:cNvGraphicFramePr>
          <p:nvPr/>
        </p:nvGraphicFramePr>
        <p:xfrm>
          <a:off x="1979613" y="4702175"/>
          <a:ext cx="1594656" cy="513969"/>
        </p:xfrm>
        <a:graphic>
          <a:graphicData uri="http://schemas.openxmlformats.org/presentationml/2006/ole">
            <mc:AlternateContent xmlns:mc="http://schemas.openxmlformats.org/markup-compatibility/2006">
              <mc:Choice xmlns:v="urn:schemas-microsoft-com:vml" Requires="v">
                <p:oleObj spid="_x0000_s61653" r:id="rId18" imgW="748665" imgH="241300" progId="Equation.DSMT4">
                  <p:embed/>
                </p:oleObj>
              </mc:Choice>
              <mc:Fallback>
                <p:oleObj r:id="rId18" imgW="748665" imgH="241300" progId="Equation.DSMT4">
                  <p:embed/>
                  <p:pic>
                    <p:nvPicPr>
                      <p:cNvPr id="0" name="对象 6554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79613" y="4702175"/>
                        <a:ext cx="1594656" cy="51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43"/>
                                        </p:tgtEl>
                                        <p:attrNameLst>
                                          <p:attrName>style.visibility</p:attrName>
                                        </p:attrNameLst>
                                      </p:cBhvr>
                                      <p:to>
                                        <p:strVal val="visible"/>
                                      </p:to>
                                    </p:set>
                                    <p:animEffect transition="in" filter="blinds(horizontal)">
                                      <p:cBhvr>
                                        <p:cTn id="7" dur="500"/>
                                        <p:tgtEl>
                                          <p:spTgt spid="65543"/>
                                        </p:tgtEl>
                                      </p:cBhvr>
                                    </p:animEffect>
                                  </p:childTnLst>
                                </p:cTn>
                              </p:par>
                              <p:par>
                                <p:cTn id="8" presetID="3" presetClass="entr" presetSubtype="10" fill="hold" nodeType="withEffect">
                                  <p:stCondLst>
                                    <p:cond delay="0"/>
                                  </p:stCondLst>
                                  <p:childTnLst>
                                    <p:set>
                                      <p:cBhvr>
                                        <p:cTn id="9" dur="1" fill="hold">
                                          <p:stCondLst>
                                            <p:cond delay="0"/>
                                          </p:stCondLst>
                                        </p:cTn>
                                        <p:tgtEl>
                                          <p:spTgt spid="65545"/>
                                        </p:tgtEl>
                                        <p:attrNameLst>
                                          <p:attrName>style.visibility</p:attrName>
                                        </p:attrNameLst>
                                      </p:cBhvr>
                                      <p:to>
                                        <p:strVal val="visible"/>
                                      </p:to>
                                    </p:set>
                                    <p:animEffect transition="in" filter="blinds(horizontal)">
                                      <p:cBhvr>
                                        <p:cTn id="10" dur="500"/>
                                        <p:tgtEl>
                                          <p:spTgt spid="65545"/>
                                        </p:tgtEl>
                                      </p:cBhvr>
                                    </p:animEffect>
                                  </p:childTnLst>
                                </p:cTn>
                              </p:par>
                              <p:par>
                                <p:cTn id="11" presetID="3" presetClass="entr" presetSubtype="10" fill="hold" nodeType="withEffect">
                                  <p:stCondLst>
                                    <p:cond delay="0"/>
                                  </p:stCondLst>
                                  <p:childTnLst>
                                    <p:set>
                                      <p:cBhvr>
                                        <p:cTn id="12" dur="1" fill="hold">
                                          <p:stCondLst>
                                            <p:cond delay="0"/>
                                          </p:stCondLst>
                                        </p:cTn>
                                        <p:tgtEl>
                                          <p:spTgt spid="65547"/>
                                        </p:tgtEl>
                                        <p:attrNameLst>
                                          <p:attrName>style.visibility</p:attrName>
                                        </p:attrNameLst>
                                      </p:cBhvr>
                                      <p:to>
                                        <p:strVal val="visible"/>
                                      </p:to>
                                    </p:set>
                                    <p:animEffect transition="in" filter="blinds(horizontal)">
                                      <p:cBhvr>
                                        <p:cTn id="13" dur="500"/>
                                        <p:tgtEl>
                                          <p:spTgt spid="65547"/>
                                        </p:tgtEl>
                                      </p:cBhvr>
                                    </p:animEffect>
                                  </p:childTnLst>
                                </p:cTn>
                              </p:par>
                              <p:par>
                                <p:cTn id="14" presetID="3" presetClass="entr" presetSubtype="10" fill="hold" nodeType="withEffect">
                                  <p:stCondLst>
                                    <p:cond delay="0"/>
                                  </p:stCondLst>
                                  <p:childTnLst>
                                    <p:set>
                                      <p:cBhvr>
                                        <p:cTn id="15" dur="1" fill="hold">
                                          <p:stCondLst>
                                            <p:cond delay="0"/>
                                          </p:stCondLst>
                                        </p:cTn>
                                        <p:tgtEl>
                                          <p:spTgt spid="65552"/>
                                        </p:tgtEl>
                                        <p:attrNameLst>
                                          <p:attrName>style.visibility</p:attrName>
                                        </p:attrNameLst>
                                      </p:cBhvr>
                                      <p:to>
                                        <p:strVal val="visible"/>
                                      </p:to>
                                    </p:set>
                                    <p:animEffect transition="in" filter="blinds(horizontal)">
                                      <p:cBhvr>
                                        <p:cTn id="16" dur="500"/>
                                        <p:tgtEl>
                                          <p:spTgt spid="6555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5553"/>
                                        </p:tgtEl>
                                        <p:attrNameLst>
                                          <p:attrName>style.visibility</p:attrName>
                                        </p:attrNameLst>
                                      </p:cBhvr>
                                      <p:to>
                                        <p:strVal val="visible"/>
                                      </p:to>
                                    </p:set>
                                    <p:animEffect transition="in" filter="blinds(horizontal)">
                                      <p:cBhvr>
                                        <p:cTn id="19" dur="500"/>
                                        <p:tgtEl>
                                          <p:spTgt spid="6555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5554"/>
                                        </p:tgtEl>
                                        <p:attrNameLst>
                                          <p:attrName>style.visibility</p:attrName>
                                        </p:attrNameLst>
                                      </p:cBhvr>
                                      <p:to>
                                        <p:strVal val="visible"/>
                                      </p:to>
                                    </p:set>
                                    <p:animEffect transition="in" filter="blinds(horizontal)">
                                      <p:cBhvr>
                                        <p:cTn id="22" dur="500"/>
                                        <p:tgtEl>
                                          <p:spTgt spid="6555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5555"/>
                                        </p:tgtEl>
                                        <p:attrNameLst>
                                          <p:attrName>style.visibility</p:attrName>
                                        </p:attrNameLst>
                                      </p:cBhvr>
                                      <p:to>
                                        <p:strVal val="visible"/>
                                      </p:to>
                                    </p:set>
                                    <p:animEffect transition="in" filter="blinds(horizontal)">
                                      <p:cBhvr>
                                        <p:cTn id="25" dur="500"/>
                                        <p:tgtEl>
                                          <p:spTgt spid="65555"/>
                                        </p:tgtEl>
                                      </p:cBhvr>
                                    </p:animEffect>
                                  </p:childTnLst>
                                </p:cTn>
                              </p:par>
                              <p:par>
                                <p:cTn id="26" presetID="3" presetClass="entr" presetSubtype="1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linds(horizontal)">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3" grpId="0"/>
      <p:bldP spid="65553" grpId="0"/>
      <p:bldP spid="65554" grpId="0"/>
      <p:bldP spid="6555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07523"/>
          <p:cNvSpPr>
            <a:spLocks noChangeArrowheads="1"/>
          </p:cNvSpPr>
          <p:nvPr/>
        </p:nvSpPr>
        <p:spPr bwMode="auto">
          <a:xfrm>
            <a:off x="310597" y="1655710"/>
            <a:ext cx="8424863"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smtClean="0">
                <a:latin typeface="Times New Roman" panose="02020603050405020304" pitchFamily="18" charset="0"/>
                <a:ea typeface="黑体" panose="02010609060101010101" pitchFamily="49" charset="-122"/>
              </a:rPr>
              <a:t>在热力学中，也有“热容”</a:t>
            </a:r>
            <a:r>
              <a:rPr lang="zh-CN" altLang="en-US" sz="3200" b="1" dirty="0">
                <a:latin typeface="Times New Roman" panose="02020603050405020304" pitchFamily="18" charset="0"/>
                <a:ea typeface="黑体" panose="02010609060101010101" pitchFamily="49" charset="-122"/>
              </a:rPr>
              <a:t>和</a:t>
            </a:r>
            <a:r>
              <a:rPr lang="zh-CN" altLang="en-US" sz="3200" b="1" dirty="0" smtClean="0">
                <a:latin typeface="Times New Roman" panose="02020603050405020304" pitchFamily="18" charset="0"/>
                <a:ea typeface="黑体" panose="02010609060101010101" pitchFamily="49" charset="-122"/>
              </a:rPr>
              <a:t>“比热容”概念</a:t>
            </a:r>
            <a:endParaRPr lang="zh-CN" altLang="en-US" sz="3200" b="1" dirty="0">
              <a:latin typeface="Times New Roman" panose="02020603050405020304" pitchFamily="18" charset="0"/>
              <a:ea typeface="黑体" panose="02010609060101010101" pitchFamily="49" charset="-122"/>
            </a:endParaRPr>
          </a:p>
          <a:p>
            <a:pPr marL="457200" indent="-457200" eaLnBrk="1" hangingPunct="1">
              <a:spcBef>
                <a:spcPct val="50000"/>
              </a:spcBef>
              <a:buFont typeface="Arial" panose="020B0604020202020204" pitchFamily="34" charset="0"/>
              <a:buChar char="•"/>
            </a:pPr>
            <a:r>
              <a:rPr lang="zh-CN" altLang="en-US" sz="3200" b="1" dirty="0">
                <a:latin typeface="Times New Roman" panose="02020603050405020304" pitchFamily="18" charset="0"/>
                <a:ea typeface="黑体" panose="02010609060101010101" pitchFamily="49" charset="-122"/>
              </a:rPr>
              <a:t>物质在可逆过程中温度升高</a:t>
            </a:r>
            <a:r>
              <a:rPr lang="en-US" altLang="zh-CN" sz="3200" b="1" dirty="0">
                <a:latin typeface="Times New Roman" panose="02020603050405020304" pitchFamily="18" charset="0"/>
                <a:ea typeface="黑体" panose="02010609060101010101" pitchFamily="49" charset="-122"/>
              </a:rPr>
              <a:t>1 K</a:t>
            </a:r>
            <a:r>
              <a:rPr lang="zh-CN" altLang="en-US" sz="3200" b="1" dirty="0">
                <a:latin typeface="Times New Roman" panose="02020603050405020304" pitchFamily="18" charset="0"/>
                <a:ea typeface="黑体" panose="02010609060101010101" pitchFamily="49" charset="-122"/>
              </a:rPr>
              <a:t>（或</a:t>
            </a:r>
            <a:r>
              <a:rPr lang="en-US" altLang="zh-CN" sz="3200" b="1" dirty="0">
                <a:latin typeface="Times New Roman" panose="02020603050405020304" pitchFamily="18" charset="0"/>
                <a:ea typeface="黑体" panose="02010609060101010101" pitchFamily="49" charset="-122"/>
              </a:rPr>
              <a:t>1℃</a:t>
            </a:r>
            <a:r>
              <a:rPr lang="zh-CN" altLang="en-US" sz="3200" b="1" dirty="0">
                <a:latin typeface="Times New Roman" panose="02020603050405020304" pitchFamily="18" charset="0"/>
                <a:ea typeface="黑体" panose="02010609060101010101" pitchFamily="49" charset="-122"/>
              </a:rPr>
              <a:t>）所吸收的热量称为</a:t>
            </a:r>
            <a:r>
              <a:rPr lang="zh-CN" altLang="en-US" sz="3200" b="1" dirty="0">
                <a:solidFill>
                  <a:srgbClr val="FF0000"/>
                </a:solidFill>
                <a:latin typeface="Times New Roman" panose="02020603050405020304" pitchFamily="18" charset="0"/>
                <a:ea typeface="黑体" panose="02010609060101010101" pitchFamily="49" charset="-122"/>
              </a:rPr>
              <a:t>热容</a:t>
            </a:r>
            <a:r>
              <a:rPr lang="zh-CN" altLang="en-US" sz="3200" b="1" dirty="0">
                <a:latin typeface="Times New Roman" panose="02020603050405020304" pitchFamily="18" charset="0"/>
                <a:ea typeface="黑体" panose="02010609060101010101" pitchFamily="49" charset="-122"/>
              </a:rPr>
              <a:t>，单位为</a:t>
            </a:r>
            <a:r>
              <a:rPr lang="en-US" altLang="zh-CN" sz="3200" b="1" dirty="0">
                <a:latin typeface="Times New Roman" panose="02020603050405020304" pitchFamily="18" charset="0"/>
                <a:ea typeface="黑体" panose="02010609060101010101" pitchFamily="49" charset="-122"/>
              </a:rPr>
              <a:t>J/K</a:t>
            </a:r>
            <a:r>
              <a:rPr lang="zh-CN" altLang="en-US" sz="3200" b="1" dirty="0">
                <a:latin typeface="Times New Roman" panose="02020603050405020304" pitchFamily="18" charset="0"/>
                <a:ea typeface="黑体" panose="02010609060101010101" pitchFamily="49" charset="-122"/>
              </a:rPr>
              <a:t>，符号为</a:t>
            </a:r>
            <a:r>
              <a:rPr lang="en-US" altLang="zh-CN" sz="3200" b="1" i="1" dirty="0">
                <a:latin typeface="Times New Roman" panose="02020603050405020304" pitchFamily="18" charset="0"/>
                <a:ea typeface="黑体" panose="02010609060101010101" pitchFamily="49" charset="-122"/>
              </a:rPr>
              <a:t>C</a:t>
            </a:r>
            <a:r>
              <a:rPr lang="zh-CN" altLang="en-US" sz="3200" b="1" dirty="0">
                <a:latin typeface="Times New Roman" panose="02020603050405020304" pitchFamily="18" charset="0"/>
                <a:ea typeface="黑体" panose="02010609060101010101" pitchFamily="49" charset="-122"/>
              </a:rPr>
              <a:t>；</a:t>
            </a:r>
          </a:p>
          <a:p>
            <a:pPr marL="457200" indent="-457200">
              <a:spcBef>
                <a:spcPct val="50000"/>
              </a:spcBef>
              <a:buFont typeface="Arial" panose="020B0604020202020204" pitchFamily="34" charset="0"/>
              <a:buChar char="•"/>
            </a:pPr>
            <a:r>
              <a:rPr lang="zh-CN" altLang="en-US" sz="3200" b="1" dirty="0">
                <a:latin typeface="Times New Roman" panose="02020603050405020304" pitchFamily="18" charset="0"/>
                <a:ea typeface="黑体" panose="02010609060101010101" pitchFamily="49" charset="-122"/>
              </a:rPr>
              <a:t>单位质量的物质在可逆过程中温度升高</a:t>
            </a:r>
            <a:r>
              <a:rPr lang="en-US" altLang="zh-CN" sz="3200" b="1" dirty="0">
                <a:latin typeface="Times New Roman" panose="02020603050405020304" pitchFamily="18" charset="0"/>
                <a:ea typeface="黑体" panose="02010609060101010101" pitchFamily="49" charset="-122"/>
              </a:rPr>
              <a:t>1 K</a:t>
            </a:r>
            <a:r>
              <a:rPr lang="zh-CN" altLang="en-US" sz="3200" b="1" dirty="0">
                <a:latin typeface="Times New Roman" panose="02020603050405020304" pitchFamily="18" charset="0"/>
                <a:ea typeface="黑体" panose="02010609060101010101" pitchFamily="49" charset="-122"/>
              </a:rPr>
              <a:t>（或</a:t>
            </a:r>
            <a:r>
              <a:rPr lang="en-US" altLang="zh-CN" sz="3200" b="1" dirty="0">
                <a:latin typeface="Times New Roman" panose="02020603050405020304" pitchFamily="18" charset="0"/>
                <a:ea typeface="黑体" panose="02010609060101010101" pitchFamily="49" charset="-122"/>
              </a:rPr>
              <a:t>1℃</a:t>
            </a:r>
            <a:r>
              <a:rPr lang="zh-CN" altLang="en-US" sz="3200" b="1" dirty="0">
                <a:latin typeface="Times New Roman" panose="02020603050405020304" pitchFamily="18" charset="0"/>
                <a:ea typeface="黑体" panose="02010609060101010101" pitchFamily="49" charset="-122"/>
              </a:rPr>
              <a:t>）所吸收的热量称为</a:t>
            </a:r>
            <a:r>
              <a:rPr lang="zh-CN" altLang="en-US" sz="3200" b="1" dirty="0">
                <a:solidFill>
                  <a:srgbClr val="FF0000"/>
                </a:solidFill>
                <a:latin typeface="Times New Roman" panose="02020603050405020304" pitchFamily="18" charset="0"/>
                <a:ea typeface="黑体" panose="02010609060101010101" pitchFamily="49" charset="-122"/>
              </a:rPr>
              <a:t>比热容</a:t>
            </a:r>
            <a:r>
              <a:rPr lang="en-US" altLang="zh-CN" sz="3200" b="1" dirty="0">
                <a:solidFill>
                  <a:srgbClr val="FF0000"/>
                </a:solidFill>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单位为 </a:t>
            </a:r>
            <a:r>
              <a:rPr lang="en-US" altLang="zh-CN" sz="3200" b="1" dirty="0">
                <a:latin typeface="Times New Roman" panose="02020603050405020304" pitchFamily="18" charset="0"/>
                <a:ea typeface="黑体" panose="02010609060101010101" pitchFamily="49" charset="-122"/>
              </a:rPr>
              <a:t>J</a:t>
            </a:r>
            <a:r>
              <a:rPr lang="en-US" altLang="zh-CN" sz="3200" b="1" dirty="0" smtClean="0">
                <a:latin typeface="Times New Roman" panose="02020603050405020304" pitchFamily="18" charset="0"/>
                <a:ea typeface="黑体" panose="02010609060101010101" pitchFamily="49" charset="-122"/>
              </a:rPr>
              <a:t>/(</a:t>
            </a:r>
            <a:r>
              <a:rPr lang="en-US" altLang="zh-CN" sz="3200" b="1" dirty="0" err="1" smtClean="0">
                <a:latin typeface="Times New Roman" panose="02020603050405020304" pitchFamily="18" charset="0"/>
                <a:ea typeface="黑体" panose="02010609060101010101" pitchFamily="49" charset="-122"/>
              </a:rPr>
              <a:t>kg·K</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符号为</a:t>
            </a:r>
            <a:r>
              <a:rPr lang="en-US" altLang="zh-CN" sz="3200" b="1" i="1" dirty="0">
                <a:latin typeface="Times New Roman" panose="02020603050405020304" pitchFamily="18" charset="0"/>
                <a:ea typeface="黑体" panose="02010609060101010101" pitchFamily="49" charset="-122"/>
              </a:rPr>
              <a:t>c</a:t>
            </a:r>
            <a:r>
              <a:rPr lang="en-US" altLang="zh-CN" sz="3200" b="1" dirty="0">
                <a:latin typeface="Times New Roman" panose="02020603050405020304" pitchFamily="18" charset="0"/>
                <a:ea typeface="黑体" panose="02010609060101010101" pitchFamily="49" charset="-122"/>
              </a:rPr>
              <a:t>  </a:t>
            </a:r>
          </a:p>
        </p:txBody>
      </p:sp>
      <p:sp>
        <p:nvSpPr>
          <p:cNvPr id="47107" name="矩形 107524"/>
          <p:cNvSpPr>
            <a:spLocks noChangeArrowheads="1"/>
          </p:cNvSpPr>
          <p:nvPr/>
        </p:nvSpPr>
        <p:spPr bwMode="auto">
          <a:xfrm>
            <a:off x="827088" y="549275"/>
            <a:ext cx="914558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dirty="0">
                <a:latin typeface="Times New Roman" panose="02020603050405020304" pitchFamily="18" charset="0"/>
                <a:ea typeface="黑体" panose="02010609060101010101" pitchFamily="49" charset="-122"/>
              </a:rPr>
              <a:t>关于</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V</a:t>
            </a:r>
            <a:r>
              <a:rPr lang="en-US" altLang="zh-CN" sz="4400" b="1" i="1" baseline="-25000" dirty="0">
                <a:solidFill>
                  <a:srgbClr val="FF0000"/>
                </a:solidFill>
                <a:latin typeface="Times New Roman" panose="02020603050405020304" pitchFamily="18" charset="0"/>
                <a:ea typeface="黑体" panose="02010609060101010101" pitchFamily="49" charset="-122"/>
              </a:rPr>
              <a:t> </a:t>
            </a:r>
            <a:r>
              <a:rPr lang="zh-CN" altLang="en-US" sz="4400" b="1" dirty="0">
                <a:latin typeface="Times New Roman" panose="02020603050405020304" pitchFamily="18" charset="0"/>
                <a:ea typeface="黑体" panose="02010609060101010101" pitchFamily="49" charset="-122"/>
              </a:rPr>
              <a:t>和</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p</a:t>
            </a:r>
            <a:r>
              <a:rPr lang="zh-CN" altLang="en-US" sz="4400" b="1" dirty="0">
                <a:latin typeface="Times New Roman" panose="02020603050405020304" pitchFamily="18" charset="0"/>
                <a:ea typeface="黑体" panose="02010609060101010101" pitchFamily="49" charset="-122"/>
              </a:rPr>
              <a:t>的几点说明</a:t>
            </a:r>
            <a:r>
              <a:rPr lang="zh-CN" altLang="en-US" sz="4400" b="1" dirty="0" smtClean="0">
                <a:latin typeface="Times New Roman" panose="02020603050405020304" pitchFamily="18" charset="0"/>
                <a:ea typeface="黑体" panose="02010609060101010101" pitchFamily="49" charset="-122"/>
              </a:rPr>
              <a:t>（</a:t>
            </a:r>
            <a:r>
              <a:rPr lang="en-US" altLang="zh-CN" sz="4400" b="1" dirty="0" smtClean="0">
                <a:latin typeface="Times New Roman" panose="02020603050405020304" pitchFamily="18" charset="0"/>
                <a:ea typeface="黑体" panose="02010609060101010101" pitchFamily="49" charset="-122"/>
              </a:rPr>
              <a:t>5</a:t>
            </a:r>
            <a:r>
              <a:rPr lang="zh-CN" altLang="en-US" sz="4400" b="1" dirty="0" smtClean="0">
                <a:latin typeface="Times New Roman" panose="02020603050405020304" pitchFamily="18" charset="0"/>
                <a:ea typeface="黑体" panose="02010609060101010101" pitchFamily="49" charset="-122"/>
              </a:rPr>
              <a:t>）</a:t>
            </a:r>
            <a:endParaRPr lang="zh-CN" altLang="en-US" sz="4400" b="1" dirty="0">
              <a:latin typeface="Times New Roman" panose="02020603050405020304" pitchFamily="18" charset="0"/>
              <a:ea typeface="黑体" panose="02010609060101010101" pitchFamily="49" charset="-122"/>
            </a:endParaRPr>
          </a:p>
          <a:p>
            <a:pPr eaLnBrk="1" hangingPunct="1"/>
            <a:endParaRPr lang="zh-CN" altLang="en-US" sz="4400" b="1" dirty="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06503"/>
          <p:cNvSpPr>
            <a:spLocks noChangeArrowheads="1"/>
          </p:cNvSpPr>
          <p:nvPr/>
        </p:nvSpPr>
        <p:spPr bwMode="auto">
          <a:xfrm>
            <a:off x="468313" y="549275"/>
            <a:ext cx="914558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dirty="0">
                <a:latin typeface="Times New Roman" panose="02020603050405020304" pitchFamily="18" charset="0"/>
                <a:ea typeface="黑体" panose="02010609060101010101" pitchFamily="49" charset="-122"/>
              </a:rPr>
              <a:t>关于</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V</a:t>
            </a:r>
            <a:r>
              <a:rPr lang="en-US" altLang="zh-CN" sz="4400" b="1" i="1" baseline="-25000" dirty="0">
                <a:solidFill>
                  <a:srgbClr val="FF0000"/>
                </a:solidFill>
                <a:latin typeface="Times New Roman" panose="02020603050405020304" pitchFamily="18" charset="0"/>
                <a:ea typeface="黑体" panose="02010609060101010101" pitchFamily="49" charset="-122"/>
              </a:rPr>
              <a:t> </a:t>
            </a:r>
            <a:r>
              <a:rPr lang="zh-CN" altLang="en-US" sz="4400" b="1" dirty="0">
                <a:latin typeface="Times New Roman" panose="02020603050405020304" pitchFamily="18" charset="0"/>
                <a:ea typeface="黑体" panose="02010609060101010101" pitchFamily="49" charset="-122"/>
              </a:rPr>
              <a:t>和</a:t>
            </a:r>
            <a:r>
              <a:rPr lang="en-US" altLang="zh-CN" sz="4400" b="1" i="1" dirty="0" err="1">
                <a:latin typeface="Times New Roman" panose="02020603050405020304" pitchFamily="18" charset="0"/>
                <a:ea typeface="黑体" panose="02010609060101010101" pitchFamily="49" charset="-122"/>
              </a:rPr>
              <a:t>c</a:t>
            </a:r>
            <a:r>
              <a:rPr lang="en-US" altLang="zh-CN" sz="4400" b="1" i="1" baseline="-25000" dirty="0" err="1">
                <a:latin typeface="Times New Roman" panose="02020603050405020304" pitchFamily="18" charset="0"/>
                <a:ea typeface="黑体" panose="02010609060101010101" pitchFamily="49" charset="-122"/>
              </a:rPr>
              <a:t>p</a:t>
            </a:r>
            <a:r>
              <a:rPr lang="zh-CN" altLang="en-US" sz="4400" b="1" dirty="0">
                <a:latin typeface="Times New Roman" panose="02020603050405020304" pitchFamily="18" charset="0"/>
                <a:ea typeface="黑体" panose="02010609060101010101" pitchFamily="49" charset="-122"/>
              </a:rPr>
              <a:t>的几点说明</a:t>
            </a:r>
            <a:r>
              <a:rPr lang="zh-CN" altLang="en-US" sz="4400" b="1" dirty="0" smtClean="0">
                <a:latin typeface="Times New Roman" panose="02020603050405020304" pitchFamily="18" charset="0"/>
                <a:ea typeface="黑体" panose="02010609060101010101" pitchFamily="49" charset="-122"/>
              </a:rPr>
              <a:t>（</a:t>
            </a:r>
            <a:r>
              <a:rPr lang="en-US" altLang="zh-CN" sz="4400" b="1" dirty="0" smtClean="0">
                <a:latin typeface="Times New Roman" panose="02020603050405020304" pitchFamily="18" charset="0"/>
                <a:ea typeface="黑体" panose="02010609060101010101" pitchFamily="49" charset="-122"/>
              </a:rPr>
              <a:t>5</a:t>
            </a:r>
            <a:r>
              <a:rPr lang="zh-CN" altLang="en-US" sz="4400" b="1" dirty="0" smtClean="0">
                <a:latin typeface="Times New Roman" panose="02020603050405020304" pitchFamily="18" charset="0"/>
                <a:ea typeface="黑体" panose="02010609060101010101" pitchFamily="49" charset="-122"/>
              </a:rPr>
              <a:t>）</a:t>
            </a:r>
            <a:r>
              <a:rPr lang="zh-CN" altLang="en-US" sz="4400" b="1" dirty="0">
                <a:latin typeface="Times New Roman" panose="02020603050405020304" pitchFamily="18" charset="0"/>
                <a:ea typeface="黑体" panose="02010609060101010101" pitchFamily="49" charset="-122"/>
              </a:rPr>
              <a:t>续</a:t>
            </a:r>
            <a:endParaRPr lang="en-US" altLang="zh-CN" sz="4400" b="1" dirty="0">
              <a:latin typeface="Times New Roman" panose="02020603050405020304" pitchFamily="18" charset="0"/>
              <a:ea typeface="黑体" panose="02010609060101010101" pitchFamily="49" charset="-122"/>
            </a:endParaRPr>
          </a:p>
          <a:p>
            <a:pPr eaLnBrk="1" hangingPunct="1"/>
            <a:endParaRPr lang="zh-CN" altLang="en-US" sz="4400" b="1" dirty="0">
              <a:latin typeface="Times New Roman" panose="02020603050405020304" pitchFamily="18" charset="0"/>
              <a:ea typeface="黑体" panose="02010609060101010101" pitchFamily="49" charset="-122"/>
            </a:endParaRPr>
          </a:p>
        </p:txBody>
      </p:sp>
      <p:sp>
        <p:nvSpPr>
          <p:cNvPr id="48131" name="文本框 2"/>
          <p:cNvSpPr txBox="1">
            <a:spLocks noChangeArrowheads="1"/>
          </p:cNvSpPr>
          <p:nvPr/>
        </p:nvSpPr>
        <p:spPr bwMode="auto">
          <a:xfrm>
            <a:off x="524345" y="1659285"/>
            <a:ext cx="82057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smtClean="0">
                <a:latin typeface="黑体" panose="02010609060101010101" pitchFamily="49" charset="-122"/>
                <a:ea typeface="黑体" panose="02010609060101010101" pitchFamily="49" charset="-122"/>
                <a:sym typeface="宋体" panose="02010600030101010101" pitchFamily="2" charset="-122"/>
              </a:rPr>
              <a:t>热容（或比热容）与</a:t>
            </a:r>
            <a:r>
              <a:rPr lang="zh-CN" altLang="en-US" sz="3200" b="1" dirty="0">
                <a:latin typeface="黑体" panose="02010609060101010101" pitchFamily="49" charset="-122"/>
                <a:ea typeface="黑体" panose="02010609060101010101" pitchFamily="49" charset="-122"/>
                <a:sym typeface="宋体" panose="02010600030101010101" pitchFamily="2" charset="-122"/>
              </a:rPr>
              <a:t>过程的特性有关，不同的热力过程，热容或比热容往往是不同的</a:t>
            </a:r>
            <a:r>
              <a:rPr lang="zh-CN" altLang="en-US" sz="3200" b="1" dirty="0" smtClean="0">
                <a:latin typeface="黑体" panose="02010609060101010101" pitchFamily="49" charset="-122"/>
                <a:ea typeface="黑体" panose="02010609060101010101" pitchFamily="49" charset="-122"/>
                <a:sym typeface="宋体" panose="02010600030101010101" pitchFamily="2" charset="-122"/>
              </a:rPr>
              <a:t>。</a:t>
            </a:r>
            <a:endParaRPr lang="en-US" altLang="zh-CN" sz="3200" b="1" dirty="0" smtClean="0">
              <a:latin typeface="黑体" panose="02010609060101010101" pitchFamily="49" charset="-122"/>
              <a:ea typeface="黑体" panose="02010609060101010101" pitchFamily="49" charset="-122"/>
              <a:sym typeface="宋体" panose="02010600030101010101" pitchFamily="2" charset="-122"/>
            </a:endParaRPr>
          </a:p>
          <a:p>
            <a:pPr eaLnBrk="1" hangingPunct="1"/>
            <a:endParaRPr lang="en-US" altLang="zh-CN" sz="3200" b="1" dirty="0">
              <a:latin typeface="黑体" panose="02010609060101010101" pitchFamily="49" charset="-122"/>
              <a:ea typeface="黑体" panose="02010609060101010101" pitchFamily="49" charset="-122"/>
              <a:sym typeface="宋体" panose="02010600030101010101" pitchFamily="2" charset="-122"/>
            </a:endParaRPr>
          </a:p>
        </p:txBody>
      </p:sp>
      <p:sp>
        <p:nvSpPr>
          <p:cNvPr id="9" name="矩形 8"/>
          <p:cNvSpPr/>
          <p:nvPr/>
        </p:nvSpPr>
        <p:spPr>
          <a:xfrm>
            <a:off x="4361823" y="3399166"/>
            <a:ext cx="367408" cy="584775"/>
          </a:xfrm>
          <a:prstGeom prst="rect">
            <a:avLst/>
          </a:prstGeom>
        </p:spPr>
        <p:txBody>
          <a:bodyPr wrap="none">
            <a:spAutoFit/>
          </a:bodyPr>
          <a:lstStyle/>
          <a:p>
            <a:r>
              <a:rPr lang="en-US" altLang="zh-CN" sz="3200" b="1" i="1" dirty="0" smtClean="0">
                <a:solidFill>
                  <a:prstClr val="black"/>
                </a:solidFill>
                <a:latin typeface="Times New Roman" panose="02020603050405020304" pitchFamily="18" charset="0"/>
                <a:ea typeface="黑体" panose="02010609060101010101" pitchFamily="49" charset="-122"/>
                <a:sym typeface="宋体" panose="02010600030101010101" pitchFamily="2" charset="-122"/>
              </a:rPr>
              <a:t>c</a:t>
            </a:r>
            <a:endParaRPr lang="zh-CN" altLang="en-US" dirty="0"/>
          </a:p>
        </p:txBody>
      </p:sp>
      <p:sp>
        <p:nvSpPr>
          <p:cNvPr id="11" name="矩形 10"/>
          <p:cNvSpPr/>
          <p:nvPr/>
        </p:nvSpPr>
        <p:spPr>
          <a:xfrm>
            <a:off x="2952964" y="4699576"/>
            <a:ext cx="614142" cy="584775"/>
          </a:xfrm>
          <a:prstGeom prst="rect">
            <a:avLst/>
          </a:prstGeom>
        </p:spPr>
        <p:txBody>
          <a:bodyPr wrap="none">
            <a:spAutoFit/>
          </a:bodyPr>
          <a:lstStyle/>
          <a:p>
            <a:r>
              <a:rPr lang="en-US" altLang="zh-CN" sz="3200" b="1" i="1" dirty="0" err="1">
                <a:solidFill>
                  <a:prstClr val="black"/>
                </a:solidFill>
                <a:latin typeface="Times New Roman" panose="02020603050405020304" pitchFamily="18" charset="0"/>
                <a:ea typeface="黑体" panose="02010609060101010101" pitchFamily="49" charset="-122"/>
                <a:sym typeface="宋体" panose="02010600030101010101" pitchFamily="2" charset="-122"/>
              </a:rPr>
              <a:t>c</a:t>
            </a:r>
            <a:r>
              <a:rPr lang="en-US" altLang="zh-CN" sz="3200" b="1" i="1" baseline="-25000" dirty="0" err="1">
                <a:solidFill>
                  <a:prstClr val="black"/>
                </a:solidFill>
                <a:latin typeface="Times New Roman" panose="02020603050405020304" pitchFamily="18" charset="0"/>
                <a:ea typeface="黑体" panose="02010609060101010101" pitchFamily="49" charset="-122"/>
                <a:sym typeface="宋体" panose="02010600030101010101" pitchFamily="2" charset="-122"/>
              </a:rPr>
              <a:t>V</a:t>
            </a:r>
            <a:r>
              <a:rPr lang="en-US" altLang="zh-CN" sz="3200" b="1" i="1" baseline="-25000" dirty="0">
                <a:solidFill>
                  <a:srgbClr val="FF0000"/>
                </a:solidFill>
                <a:latin typeface="Times New Roman" panose="02020603050405020304" pitchFamily="18" charset="0"/>
                <a:ea typeface="黑体" panose="02010609060101010101" pitchFamily="49" charset="-122"/>
                <a:sym typeface="宋体" panose="02010600030101010101" pitchFamily="2" charset="-122"/>
              </a:rPr>
              <a:t> </a:t>
            </a:r>
            <a:endParaRPr lang="zh-CN" altLang="en-US" dirty="0"/>
          </a:p>
        </p:txBody>
      </p:sp>
      <p:sp>
        <p:nvSpPr>
          <p:cNvPr id="13" name="矩形 12"/>
          <p:cNvSpPr/>
          <p:nvPr/>
        </p:nvSpPr>
        <p:spPr>
          <a:xfrm>
            <a:off x="5512864" y="4727593"/>
            <a:ext cx="503664" cy="584775"/>
          </a:xfrm>
          <a:prstGeom prst="rect">
            <a:avLst/>
          </a:prstGeom>
        </p:spPr>
        <p:txBody>
          <a:bodyPr wrap="none">
            <a:spAutoFit/>
          </a:bodyPr>
          <a:lstStyle/>
          <a:p>
            <a:pPr lvl="0"/>
            <a:r>
              <a:rPr lang="en-US" altLang="zh-CN" sz="3200" b="1" i="1" dirty="0" err="1">
                <a:solidFill>
                  <a:prstClr val="black"/>
                </a:solidFill>
                <a:latin typeface="Times New Roman" panose="02020603050405020304" pitchFamily="18" charset="0"/>
                <a:ea typeface="黑体" panose="02010609060101010101" pitchFamily="49" charset="-122"/>
                <a:sym typeface="宋体" panose="02010600030101010101" pitchFamily="2" charset="-122"/>
              </a:rPr>
              <a:t>c</a:t>
            </a:r>
            <a:r>
              <a:rPr lang="en-US" altLang="zh-CN" sz="3200" b="1" i="1" baseline="-25000" dirty="0" err="1">
                <a:solidFill>
                  <a:prstClr val="black"/>
                </a:solidFill>
                <a:latin typeface="Times New Roman" panose="02020603050405020304" pitchFamily="18" charset="0"/>
                <a:ea typeface="黑体" panose="02010609060101010101" pitchFamily="49" charset="-122"/>
                <a:sym typeface="宋体" panose="02010600030101010101" pitchFamily="2" charset="-122"/>
              </a:rPr>
              <a:t>p</a:t>
            </a:r>
            <a:endParaRPr lang="zh-CN" altLang="en-US" sz="3200" dirty="0">
              <a:solidFill>
                <a:prstClr val="black"/>
              </a:solidFill>
            </a:endParaRPr>
          </a:p>
        </p:txBody>
      </p:sp>
      <p:grpSp>
        <p:nvGrpSpPr>
          <p:cNvPr id="25" name="组合 24"/>
          <p:cNvGrpSpPr/>
          <p:nvPr/>
        </p:nvGrpSpPr>
        <p:grpSpPr>
          <a:xfrm>
            <a:off x="2952964" y="3781289"/>
            <a:ext cx="1499798" cy="918287"/>
            <a:chOff x="2952964" y="3781289"/>
            <a:chExt cx="1499798" cy="918287"/>
          </a:xfrm>
        </p:grpSpPr>
        <p:cxnSp>
          <p:nvCxnSpPr>
            <p:cNvPr id="15" name="直接箭头连接符 14"/>
            <p:cNvCxnSpPr/>
            <p:nvPr/>
          </p:nvCxnSpPr>
          <p:spPr>
            <a:xfrm flipH="1">
              <a:off x="3260035" y="3964203"/>
              <a:ext cx="1192727" cy="735373"/>
            </a:xfrm>
            <a:prstGeom prst="straightConnector1">
              <a:avLst/>
            </a:prstGeom>
            <a:ln w="38100">
              <a:solidFill>
                <a:srgbClr val="FF0000"/>
              </a:solidFill>
              <a:tailEnd type="triangle"/>
            </a:ln>
          </p:spPr>
          <p:style>
            <a:lnRef idx="3">
              <a:schemeClr val="accent5"/>
            </a:lnRef>
            <a:fillRef idx="0">
              <a:schemeClr val="accent5"/>
            </a:fillRef>
            <a:effectRef idx="2">
              <a:schemeClr val="accent5"/>
            </a:effectRef>
            <a:fontRef idx="minor">
              <a:schemeClr val="tx1"/>
            </a:fontRef>
          </p:style>
        </p:cxnSp>
        <p:sp>
          <p:nvSpPr>
            <p:cNvPr id="20" name="矩形 19"/>
            <p:cNvSpPr/>
            <p:nvPr/>
          </p:nvSpPr>
          <p:spPr>
            <a:xfrm rot="19695768">
              <a:off x="2952964" y="3781289"/>
              <a:ext cx="1008609" cy="584775"/>
            </a:xfrm>
            <a:prstGeom prst="rect">
              <a:avLst/>
            </a:prstGeom>
          </p:spPr>
          <p:txBody>
            <a:bodyPr wrap="none">
              <a:spAutoFit/>
            </a:bodyPr>
            <a:lstStyle/>
            <a:p>
              <a:r>
                <a:rPr lang="zh-CN" altLang="en-US" sz="3200" b="1" dirty="0" smtClean="0">
                  <a:solidFill>
                    <a:prstClr val="black"/>
                  </a:solidFill>
                  <a:latin typeface="黑体" panose="02010609060101010101" pitchFamily="49" charset="-122"/>
                  <a:ea typeface="黑体" panose="02010609060101010101" pitchFamily="49" charset="-122"/>
                  <a:sym typeface="宋体" panose="02010600030101010101" pitchFamily="2" charset="-122"/>
                </a:rPr>
                <a:t>定容</a:t>
              </a:r>
              <a:endParaRPr lang="zh-CN" altLang="en-US" dirty="0"/>
            </a:p>
          </p:txBody>
        </p:sp>
      </p:grpSp>
      <p:grpSp>
        <p:nvGrpSpPr>
          <p:cNvPr id="26" name="组合 25"/>
          <p:cNvGrpSpPr/>
          <p:nvPr/>
        </p:nvGrpSpPr>
        <p:grpSpPr>
          <a:xfrm>
            <a:off x="4678050" y="3781288"/>
            <a:ext cx="1362806" cy="918288"/>
            <a:chOff x="4678050" y="3781288"/>
            <a:chExt cx="1362806" cy="918288"/>
          </a:xfrm>
        </p:grpSpPr>
        <p:cxnSp>
          <p:nvCxnSpPr>
            <p:cNvPr id="18" name="直接箭头连接符 17"/>
            <p:cNvCxnSpPr/>
            <p:nvPr/>
          </p:nvCxnSpPr>
          <p:spPr>
            <a:xfrm>
              <a:off x="4678050" y="3964203"/>
              <a:ext cx="1086646" cy="735373"/>
            </a:xfrm>
            <a:prstGeom prst="straightConnector1">
              <a:avLst/>
            </a:prstGeom>
            <a:ln w="38100">
              <a:solidFill>
                <a:srgbClr val="0070C0"/>
              </a:solidFill>
              <a:tailEnd type="triangle"/>
            </a:ln>
          </p:spPr>
          <p:style>
            <a:lnRef idx="3">
              <a:schemeClr val="accent5"/>
            </a:lnRef>
            <a:fillRef idx="0">
              <a:schemeClr val="accent5"/>
            </a:fillRef>
            <a:effectRef idx="2">
              <a:schemeClr val="accent5"/>
            </a:effectRef>
            <a:fontRef idx="minor">
              <a:schemeClr val="tx1"/>
            </a:fontRef>
          </p:style>
        </p:cxnSp>
        <p:sp>
          <p:nvSpPr>
            <p:cNvPr id="22" name="矩形 21"/>
            <p:cNvSpPr/>
            <p:nvPr/>
          </p:nvSpPr>
          <p:spPr>
            <a:xfrm rot="2231654">
              <a:off x="5032247" y="3781288"/>
              <a:ext cx="1008609" cy="584775"/>
            </a:xfrm>
            <a:prstGeom prst="rect">
              <a:avLst/>
            </a:prstGeom>
          </p:spPr>
          <p:txBody>
            <a:bodyPr wrap="none">
              <a:spAutoFit/>
            </a:bodyPr>
            <a:lstStyle/>
            <a:p>
              <a:r>
                <a:rPr lang="zh-CN" altLang="en-US" sz="3200" b="1" dirty="0" smtClean="0">
                  <a:solidFill>
                    <a:prstClr val="black"/>
                  </a:solidFill>
                  <a:latin typeface="黑体" panose="02010609060101010101" pitchFamily="49" charset="-122"/>
                  <a:ea typeface="黑体" panose="02010609060101010101" pitchFamily="49" charset="-122"/>
                  <a:sym typeface="宋体" panose="02010600030101010101" pitchFamily="2" charset="-122"/>
                </a:rPr>
                <a:t>定压</a:t>
              </a:r>
              <a:endParaRPr lang="zh-CN" altLang="en-US" dirty="0"/>
            </a:p>
          </p:txBody>
        </p:sp>
      </p:grpSp>
      <p:sp>
        <p:nvSpPr>
          <p:cNvPr id="24" name="矩形 23"/>
          <p:cNvSpPr/>
          <p:nvPr/>
        </p:nvSpPr>
        <p:spPr>
          <a:xfrm>
            <a:off x="715680" y="3194506"/>
            <a:ext cx="1420582" cy="584775"/>
          </a:xfrm>
          <a:prstGeom prst="rect">
            <a:avLst/>
          </a:prstGeom>
        </p:spPr>
        <p:txBody>
          <a:bodyPr wrap="none">
            <a:spAutoFit/>
          </a:bodyPr>
          <a:lstStyle/>
          <a:p>
            <a:pPr lvl="0"/>
            <a:r>
              <a:rPr lang="zh-CN" altLang="en-US" sz="3200" b="1" dirty="0">
                <a:solidFill>
                  <a:prstClr val="black"/>
                </a:solidFill>
                <a:latin typeface="黑体" panose="02010609060101010101" pitchFamily="49" charset="-122"/>
                <a:ea typeface="黑体" panose="02010609060101010101" pitchFamily="49" charset="-122"/>
                <a:sym typeface="宋体" panose="02010600030101010101" pitchFamily="2" charset="-122"/>
              </a:rPr>
              <a:t>例如：</a:t>
            </a:r>
            <a:endParaRPr lang="en-US" altLang="zh-CN" sz="3200" b="1" dirty="0">
              <a:solidFill>
                <a:prstClr val="black"/>
              </a:solidFill>
              <a:latin typeface="黑体" panose="02010609060101010101" pitchFamily="49" charset="-122"/>
              <a:ea typeface="黑体" panose="02010609060101010101" pitchFamily="49" charset="-122"/>
              <a:sym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up)">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up)">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22529"/>
          <p:cNvSpPr>
            <a:spLocks noGrp="1" noChangeArrowheads="1"/>
          </p:cNvSpPr>
          <p:nvPr>
            <p:ph type="ctrTitle"/>
          </p:nvPr>
        </p:nvSpPr>
        <p:spPr>
          <a:xfrm>
            <a:off x="323850" y="1916113"/>
            <a:ext cx="8280400" cy="1460500"/>
          </a:xfrm>
        </p:spPr>
        <p:txBody>
          <a:bodyPr/>
          <a:lstStyle/>
          <a:p>
            <a:pPr eaLnBrk="1" hangingPunct="1"/>
            <a:r>
              <a:rPr lang="en-US" altLang="zh-CN" sz="4400" b="1" smtClean="0">
                <a:solidFill>
                  <a:schemeClr val="tx1"/>
                </a:solidFill>
                <a:latin typeface="黑体" panose="02010609060101010101" pitchFamily="49" charset="-122"/>
                <a:ea typeface="黑体" panose="02010609060101010101" pitchFamily="49" charset="-122"/>
              </a:rPr>
              <a:t>§4</a:t>
            </a:r>
            <a:r>
              <a:rPr lang="zh-CN" altLang="en-US" sz="4400" b="1" smtClean="0">
                <a:solidFill>
                  <a:schemeClr val="tx1"/>
                </a:solidFill>
                <a:latin typeface="黑体" panose="02010609060101010101" pitchFamily="49" charset="-122"/>
                <a:ea typeface="黑体" panose="02010609060101010101" pitchFamily="49" charset="-122"/>
              </a:rPr>
              <a:t>－</a:t>
            </a:r>
            <a:r>
              <a:rPr lang="en-US" altLang="zh-CN" sz="4400" b="1" smtClean="0">
                <a:solidFill>
                  <a:schemeClr val="tx1"/>
                </a:solidFill>
                <a:latin typeface="黑体" panose="02010609060101010101" pitchFamily="49" charset="-122"/>
                <a:ea typeface="黑体" panose="02010609060101010101" pitchFamily="49" charset="-122"/>
              </a:rPr>
              <a:t>3</a:t>
            </a:r>
            <a:r>
              <a:rPr lang="zh-CN" altLang="en-US" sz="4400" b="1" smtClean="0">
                <a:solidFill>
                  <a:schemeClr val="tx1"/>
                </a:solidFill>
                <a:latin typeface="黑体" panose="02010609060101010101" pitchFamily="49" charset="-122"/>
                <a:ea typeface="黑体" panose="02010609060101010101" pitchFamily="49" charset="-122"/>
              </a:rPr>
              <a:t>　理想气体的热力学能、焓和比热容</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文本框 23555"/>
          <p:cNvSpPr txBox="1">
            <a:spLocks noChangeArrowheads="1"/>
          </p:cNvSpPr>
          <p:nvPr/>
        </p:nvSpPr>
        <p:spPr bwMode="auto">
          <a:xfrm>
            <a:off x="381000" y="304800"/>
            <a:ext cx="8294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3200" b="1">
                <a:latin typeface="黑体" panose="02010609060101010101" pitchFamily="49" charset="-122"/>
                <a:ea typeface="黑体" panose="02010609060101010101" pitchFamily="49" charset="-122"/>
              </a:rPr>
              <a:t>一、理想气体热力学能、焓和比热容的性质</a:t>
            </a:r>
            <a:r>
              <a:rPr lang="zh-CN" altLang="en-US" sz="2800" b="1">
                <a:latin typeface="黑体" panose="02010609060101010101" pitchFamily="49" charset="-122"/>
                <a:ea typeface="黑体" panose="02010609060101010101" pitchFamily="49" charset="-122"/>
              </a:rPr>
              <a:t> </a:t>
            </a:r>
          </a:p>
        </p:txBody>
      </p:sp>
      <p:sp>
        <p:nvSpPr>
          <p:cNvPr id="50179" name="矩形 23556"/>
          <p:cNvSpPr>
            <a:spLocks noChangeArrowheads="1"/>
          </p:cNvSpPr>
          <p:nvPr/>
        </p:nvSpPr>
        <p:spPr bwMode="auto">
          <a:xfrm>
            <a:off x="611188" y="1062038"/>
            <a:ext cx="79200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简单可压缩系统的比热力学能需要由两个独立的内部强度状态参数来确定 </a:t>
            </a:r>
          </a:p>
        </p:txBody>
      </p:sp>
      <p:sp>
        <p:nvSpPr>
          <p:cNvPr id="23558" name="矩形 23557"/>
          <p:cNvSpPr>
            <a:spLocks noChangeArrowheads="1"/>
          </p:cNvSpPr>
          <p:nvPr/>
        </p:nvSpPr>
        <p:spPr bwMode="auto">
          <a:xfrm>
            <a:off x="611188" y="3068638"/>
            <a:ext cx="792003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latin typeface="黑体" panose="02010609060101010101" pitchFamily="49" charset="-122"/>
                <a:ea typeface="黑体" panose="02010609060101010101" pitchFamily="49" charset="-122"/>
              </a:rPr>
              <a:t>1843</a:t>
            </a:r>
            <a:r>
              <a:rPr lang="zh-CN" altLang="en-US" sz="3200" b="1" dirty="0">
                <a:latin typeface="黑体" panose="02010609060101010101" pitchFamily="49" charset="-122"/>
                <a:ea typeface="黑体" panose="02010609060101010101" pitchFamily="49" charset="-122"/>
              </a:rPr>
              <a:t>年，焦耳实验发现质量一定的</a:t>
            </a:r>
            <a:r>
              <a:rPr lang="zh-CN" altLang="en-US" sz="3200" b="1" dirty="0">
                <a:solidFill>
                  <a:srgbClr val="FF0000"/>
                </a:solidFill>
                <a:latin typeface="黑体" panose="02010609060101010101" pitchFamily="49" charset="-122"/>
                <a:ea typeface="黑体" panose="02010609060101010101" pitchFamily="49" charset="-122"/>
              </a:rPr>
              <a:t>理想气体的热力学能仅为温度的函数</a:t>
            </a:r>
            <a:r>
              <a:rPr lang="zh-CN" altLang="en-US" dirty="0">
                <a:solidFill>
                  <a:srgbClr val="FF0000"/>
                </a:solidFill>
              </a:rPr>
              <a:t> </a:t>
            </a:r>
          </a:p>
        </p:txBody>
      </p:sp>
      <p:graphicFrame>
        <p:nvGraphicFramePr>
          <p:cNvPr id="23559" name="对象 23558"/>
          <p:cNvGraphicFramePr/>
          <p:nvPr/>
        </p:nvGraphicFramePr>
        <p:xfrm>
          <a:off x="3348038" y="4149725"/>
          <a:ext cx="1873250" cy="828675"/>
        </p:xfrm>
        <a:graphic>
          <a:graphicData uri="http://schemas.openxmlformats.org/presentationml/2006/ole">
            <mc:AlternateContent xmlns:mc="http://schemas.openxmlformats.org/markup-compatibility/2006">
              <mc:Choice xmlns:v="urn:schemas-microsoft-com:vml" Requires="v">
                <p:oleObj spid="_x0000_s62518" r:id="rId4" imgW="584200" imgH="254000" progId="Equation.DSMT4">
                  <p:embed/>
                </p:oleObj>
              </mc:Choice>
              <mc:Fallback>
                <p:oleObj r:id="rId4" imgW="584200" imgH="254000" progId="Equation.DSMT4">
                  <p:embed/>
                  <p:pic>
                    <p:nvPicPr>
                      <p:cNvPr id="0" name="对象 2355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4149725"/>
                        <a:ext cx="187325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0182" name="对象 23560"/>
          <p:cNvGraphicFramePr/>
          <p:nvPr/>
        </p:nvGraphicFramePr>
        <p:xfrm>
          <a:off x="3059113" y="2133600"/>
          <a:ext cx="2305050" cy="809625"/>
        </p:xfrm>
        <a:graphic>
          <a:graphicData uri="http://schemas.openxmlformats.org/presentationml/2006/ole">
            <mc:AlternateContent xmlns:mc="http://schemas.openxmlformats.org/markup-compatibility/2006">
              <mc:Choice xmlns:v="urn:schemas-microsoft-com:vml" Requires="v">
                <p:oleObj spid="_x0000_s62519" r:id="rId6" imgW="735965" imgH="254000" progId="Equation.DSMT4">
                  <p:embed/>
                </p:oleObj>
              </mc:Choice>
              <mc:Fallback>
                <p:oleObj r:id="rId6" imgW="735965" imgH="254000" progId="Equation.DSMT4">
                  <p:embed/>
                  <p:pic>
                    <p:nvPicPr>
                      <p:cNvPr id="0" name="对象 2356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113" y="2133600"/>
                        <a:ext cx="2305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8"/>
                                        </p:tgtEl>
                                        <p:attrNameLst>
                                          <p:attrName>style.visibility</p:attrName>
                                        </p:attrNameLst>
                                      </p:cBhvr>
                                      <p:to>
                                        <p:strVal val="visible"/>
                                      </p:to>
                                    </p:set>
                                    <p:animEffect transition="in" filter="blinds(horizontal)">
                                      <p:cBhvr>
                                        <p:cTn id="7" dur="500"/>
                                        <p:tgtEl>
                                          <p:spTgt spid="235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59"/>
                                        </p:tgtEl>
                                        <p:attrNameLst>
                                          <p:attrName>style.visibility</p:attrName>
                                        </p:attrNameLst>
                                      </p:cBhvr>
                                      <p:to>
                                        <p:strVal val="visible"/>
                                      </p:to>
                                    </p:set>
                                    <p:animEffect transition="in" filter="blinds(horizontal)">
                                      <p:cBhvr>
                                        <p:cTn id="12"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395288" y="476250"/>
            <a:ext cx="8567737" cy="762000"/>
          </a:xfrm>
        </p:spPr>
        <p:txBody>
          <a:bodyPr lIns="92075" tIns="46038" rIns="92075" bIns="46038"/>
          <a:lstStyle/>
          <a:p>
            <a:pPr eaLnBrk="1" hangingPunct="1"/>
            <a:r>
              <a:rPr lang="zh-CN" altLang="en-US" sz="3600" b="1" dirty="0" smtClean="0">
                <a:latin typeface="黑体" panose="02010609060101010101" pitchFamily="49" charset="-122"/>
                <a:ea typeface="黑体" panose="02010609060101010101" pitchFamily="49" charset="-122"/>
              </a:rPr>
              <a:t>理想气体热力学能的物理解释</a:t>
            </a:r>
          </a:p>
        </p:txBody>
      </p:sp>
      <p:sp>
        <p:nvSpPr>
          <p:cNvPr id="53251" name="Text Box 3"/>
          <p:cNvSpPr txBox="1">
            <a:spLocks noChangeArrowheads="1"/>
          </p:cNvSpPr>
          <p:nvPr/>
        </p:nvSpPr>
        <p:spPr bwMode="auto">
          <a:xfrm>
            <a:off x="762000" y="2170113"/>
            <a:ext cx="6178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热力学能＝</a:t>
            </a:r>
            <a:r>
              <a:rPr lang="zh-CN" altLang="en-US" sz="3200" b="1" dirty="0">
                <a:solidFill>
                  <a:srgbClr val="FF3300"/>
                </a:solidFill>
                <a:latin typeface="黑体" panose="02010609060101010101" pitchFamily="49" charset="-122"/>
                <a:ea typeface="黑体" panose="02010609060101010101" pitchFamily="49" charset="-122"/>
              </a:rPr>
              <a:t>内动能</a:t>
            </a:r>
            <a:r>
              <a:rPr lang="zh-CN" altLang="en-US" sz="3200" b="1" dirty="0">
                <a:latin typeface="黑体" panose="02010609060101010101" pitchFamily="49" charset="-122"/>
                <a:ea typeface="黑体" panose="02010609060101010101" pitchFamily="49" charset="-122"/>
              </a:rPr>
              <a:t>＋</a:t>
            </a:r>
            <a:r>
              <a:rPr lang="zh-CN" altLang="en-US" sz="3200" b="1" dirty="0">
                <a:solidFill>
                  <a:schemeClr val="accent1">
                    <a:lumMod val="75000"/>
                  </a:schemeClr>
                </a:solidFill>
                <a:latin typeface="黑体" panose="02010609060101010101" pitchFamily="49" charset="-122"/>
                <a:ea typeface="黑体" panose="02010609060101010101" pitchFamily="49" charset="-122"/>
              </a:rPr>
              <a:t>内位能</a:t>
            </a:r>
          </a:p>
        </p:txBody>
      </p:sp>
      <p:sp>
        <p:nvSpPr>
          <p:cNvPr id="53252" name="AutoShape 4"/>
          <p:cNvSpPr>
            <a:spLocks noChangeArrowheads="1"/>
          </p:cNvSpPr>
          <p:nvPr/>
        </p:nvSpPr>
        <p:spPr bwMode="auto">
          <a:xfrm>
            <a:off x="3581400" y="2855913"/>
            <a:ext cx="147638" cy="457200"/>
          </a:xfrm>
          <a:prstGeom prst="downArrow">
            <a:avLst>
              <a:gd name="adj1" fmla="val 50000"/>
              <a:gd name="adj2" fmla="val 77390"/>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3200"/>
          </a:p>
        </p:txBody>
      </p:sp>
      <p:sp>
        <p:nvSpPr>
          <p:cNvPr id="53253" name="AutoShape 5"/>
          <p:cNvSpPr>
            <a:spLocks noChangeArrowheads="1"/>
          </p:cNvSpPr>
          <p:nvPr/>
        </p:nvSpPr>
        <p:spPr bwMode="auto">
          <a:xfrm>
            <a:off x="5183981" y="2824163"/>
            <a:ext cx="147638" cy="417512"/>
          </a:xfrm>
          <a:prstGeom prst="downArrow">
            <a:avLst>
              <a:gd name="adj1" fmla="val 50000"/>
              <a:gd name="adj2" fmla="val 70672"/>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3200"/>
          </a:p>
        </p:txBody>
      </p:sp>
      <p:sp>
        <p:nvSpPr>
          <p:cNvPr id="53254" name="Text Box 6"/>
          <p:cNvSpPr txBox="1">
            <a:spLocks noChangeArrowheads="1"/>
          </p:cNvSpPr>
          <p:nvPr/>
        </p:nvSpPr>
        <p:spPr bwMode="auto">
          <a:xfrm>
            <a:off x="4874419" y="3360738"/>
            <a:ext cx="914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b="1" i="1" dirty="0">
                <a:solidFill>
                  <a:srgbClr val="0000FF"/>
                </a:solidFill>
                <a:latin typeface="Times New Roman" panose="02020603050405020304" pitchFamily="18" charset="0"/>
              </a:rPr>
              <a:t>T, v</a:t>
            </a:r>
          </a:p>
        </p:txBody>
      </p:sp>
      <p:sp>
        <p:nvSpPr>
          <p:cNvPr id="53255" name="Text Box 7"/>
          <p:cNvSpPr txBox="1">
            <a:spLocks noChangeArrowheads="1"/>
          </p:cNvSpPr>
          <p:nvPr/>
        </p:nvSpPr>
        <p:spPr bwMode="auto">
          <a:xfrm>
            <a:off x="762000" y="4151313"/>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理想气体无分子间作用力，热力学能只决定于</a:t>
            </a:r>
            <a:r>
              <a:rPr lang="zh-CN" altLang="en-US" sz="3200" b="1" dirty="0">
                <a:solidFill>
                  <a:srgbClr val="FF3300"/>
                </a:solidFill>
                <a:latin typeface="黑体" panose="02010609060101010101" pitchFamily="49" charset="-122"/>
                <a:ea typeface="黑体" panose="02010609060101010101" pitchFamily="49" charset="-122"/>
              </a:rPr>
              <a:t>内动能</a:t>
            </a:r>
          </a:p>
        </p:txBody>
      </p:sp>
      <p:sp>
        <p:nvSpPr>
          <p:cNvPr id="53257" name="Rectangle 10"/>
          <p:cNvSpPr>
            <a:spLocks noChangeArrowheads="1"/>
          </p:cNvSpPr>
          <p:nvPr/>
        </p:nvSpPr>
        <p:spPr bwMode="auto">
          <a:xfrm>
            <a:off x="3425825" y="3414713"/>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lang="en-US" altLang="zh-CN" sz="3600" b="1" i="1">
                <a:solidFill>
                  <a:srgbClr val="0000FF"/>
                </a:solidFill>
                <a:latin typeface="Times New Roman" panose="02020603050405020304" pitchFamily="18" charset="0"/>
              </a:rPr>
              <a:t>T</a:t>
            </a:r>
          </a:p>
        </p:txBody>
      </p:sp>
      <p:graphicFrame>
        <p:nvGraphicFramePr>
          <p:cNvPr id="10" name="Object 9"/>
          <p:cNvGraphicFramePr>
            <a:graphicFrameLocks noChangeAspect="1"/>
          </p:cNvGraphicFramePr>
          <p:nvPr/>
        </p:nvGraphicFramePr>
        <p:xfrm>
          <a:off x="3401702" y="5457826"/>
          <a:ext cx="1676160" cy="609120"/>
        </p:xfrm>
        <a:graphic>
          <a:graphicData uri="http://schemas.openxmlformats.org/presentationml/2006/ole">
            <mc:AlternateContent xmlns:mc="http://schemas.openxmlformats.org/markup-compatibility/2006">
              <mc:Choice xmlns:v="urn:schemas-microsoft-com:vml" Requires="v">
                <p:oleObj spid="_x0000_s63519" name="Equation" r:id="rId3" imgW="13411200" imgH="4876800" progId="Equation.DSMT4">
                  <p:embed/>
                </p:oleObj>
              </mc:Choice>
              <mc:Fallback>
                <p:oleObj name="Equation" r:id="rId3" imgW="13411200" imgH="4876800" progId="Equation.DSMT4">
                  <p:embed/>
                  <p:pic>
                    <p:nvPicPr>
                      <p:cNvPr id="0" name="Object 9"/>
                      <p:cNvPicPr>
                        <a:picLocks noChangeAspect="1" noChangeArrowheads="1"/>
                      </p:cNvPicPr>
                      <p:nvPr/>
                    </p:nvPicPr>
                    <p:blipFill>
                      <a:blip r:embed="rId4"/>
                      <a:srcRect/>
                      <a:stretch>
                        <a:fillRect/>
                      </a:stretch>
                    </p:blipFill>
                    <p:spPr bwMode="auto">
                      <a:xfrm>
                        <a:off x="3401702" y="5457826"/>
                        <a:ext cx="1676160" cy="60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8" name="对象 25603"/>
          <p:cNvGraphicFramePr>
            <a:graphicFrameLocks noChangeAspect="1"/>
          </p:cNvGraphicFramePr>
          <p:nvPr/>
        </p:nvGraphicFramePr>
        <p:xfrm>
          <a:off x="1331913" y="333376"/>
          <a:ext cx="5744520" cy="1056699"/>
        </p:xfrm>
        <a:graphic>
          <a:graphicData uri="http://schemas.openxmlformats.org/presentationml/2006/ole">
            <mc:AlternateContent xmlns:mc="http://schemas.openxmlformats.org/markup-compatibility/2006">
              <mc:Choice xmlns:v="urn:schemas-microsoft-com:vml" Requires="v">
                <p:oleObj spid="_x0000_s64568" r:id="rId3" imgW="850900" imgH="156845" progId="Equation.3">
                  <p:embed/>
                </p:oleObj>
              </mc:Choice>
              <mc:Fallback>
                <p:oleObj r:id="rId3" imgW="850900" imgH="156845" progId="Equation.3">
                  <p:embed/>
                  <p:pic>
                    <p:nvPicPr>
                      <p:cNvPr id="0" name="对象 2560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333376"/>
                        <a:ext cx="5744520" cy="105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299" name="对象 25604"/>
          <p:cNvGraphicFramePr>
            <a:graphicFrameLocks noChangeAspect="1"/>
          </p:cNvGraphicFramePr>
          <p:nvPr/>
        </p:nvGraphicFramePr>
        <p:xfrm>
          <a:off x="1993763" y="2744943"/>
          <a:ext cx="2335788" cy="1015560"/>
        </p:xfrm>
        <a:graphic>
          <a:graphicData uri="http://schemas.openxmlformats.org/presentationml/2006/ole">
            <mc:AlternateContent xmlns:mc="http://schemas.openxmlformats.org/markup-compatibility/2006">
              <mc:Choice xmlns:v="urn:schemas-microsoft-com:vml" Requires="v">
                <p:oleObj spid="_x0000_s64569" r:id="rId5" imgW="584200" imgH="254000" progId="Equation.DSMT4">
                  <p:embed/>
                </p:oleObj>
              </mc:Choice>
              <mc:Fallback>
                <p:oleObj r:id="rId5" imgW="584200" imgH="254000" progId="Equation.DSMT4">
                  <p:embed/>
                  <p:pic>
                    <p:nvPicPr>
                      <p:cNvPr id="0" name="对象 2560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3763" y="2744943"/>
                        <a:ext cx="2335788" cy="1015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1" name="矩形 25608"/>
          <p:cNvSpPr>
            <a:spLocks noChangeArrowheads="1"/>
          </p:cNvSpPr>
          <p:nvPr/>
        </p:nvSpPr>
        <p:spPr bwMode="auto">
          <a:xfrm>
            <a:off x="5542480" y="1856800"/>
            <a:ext cx="1098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dirty="0">
                <a:latin typeface="黑体" panose="02010609060101010101" pitchFamily="49" charset="-122"/>
                <a:ea typeface="黑体" panose="02010609060101010101" pitchFamily="49" charset="-122"/>
              </a:rPr>
              <a:t>常数</a:t>
            </a:r>
          </a:p>
        </p:txBody>
      </p:sp>
      <p:sp>
        <p:nvSpPr>
          <p:cNvPr id="55302" name="矩形 25621"/>
          <p:cNvSpPr>
            <a:spLocks noChangeArrowheads="1"/>
          </p:cNvSpPr>
          <p:nvPr/>
        </p:nvSpPr>
        <p:spPr bwMode="auto">
          <a:xfrm>
            <a:off x="1042988" y="4195317"/>
            <a:ext cx="71304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dirty="0">
                <a:latin typeface="黑体" panose="02010609060101010101" pitchFamily="49" charset="-122"/>
                <a:ea typeface="黑体" panose="02010609060101010101" pitchFamily="49" charset="-122"/>
              </a:rPr>
              <a:t>理想气体</a:t>
            </a:r>
            <a:r>
              <a:rPr lang="zh-CN" altLang="en-US" sz="4000" b="1" dirty="0" smtClean="0">
                <a:latin typeface="黑体" panose="02010609060101010101" pitchFamily="49" charset="-122"/>
                <a:ea typeface="黑体" panose="02010609060101010101" pitchFamily="49" charset="-122"/>
              </a:rPr>
              <a:t>的</a:t>
            </a:r>
            <a:r>
              <a:rPr lang="zh-CN" altLang="en-US" sz="4000" b="1" dirty="0" smtClean="0">
                <a:latin typeface="Times New Roman" panose="02020603050405020304" pitchFamily="18" charset="0"/>
                <a:ea typeface="黑体" panose="02010609060101010101" pitchFamily="49" charset="-122"/>
                <a:cs typeface="Times New Roman" panose="02020603050405020304" pitchFamily="18" charset="0"/>
              </a:rPr>
              <a:t>焓</a:t>
            </a:r>
            <a:r>
              <a:rPr lang="zh-CN" altLang="en-US" sz="4000" b="1" dirty="0" smtClean="0">
                <a:solidFill>
                  <a:srgbClr val="FF0000"/>
                </a:solidFill>
                <a:latin typeface="黑体" panose="02010609060101010101" pitchFamily="49" charset="-122"/>
                <a:ea typeface="黑体" panose="02010609060101010101" pitchFamily="49" charset="-122"/>
              </a:rPr>
              <a:t>也</a:t>
            </a:r>
            <a:r>
              <a:rPr lang="zh-CN" altLang="en-US" sz="4000" b="1" dirty="0">
                <a:solidFill>
                  <a:srgbClr val="FF0000"/>
                </a:solidFill>
                <a:latin typeface="黑体" panose="02010609060101010101" pitchFamily="49" charset="-122"/>
                <a:ea typeface="黑体" panose="02010609060101010101" pitchFamily="49" charset="-122"/>
              </a:rPr>
              <a:t>是温度的函数</a:t>
            </a:r>
            <a:r>
              <a:rPr lang="zh-CN" altLang="en-US" sz="4000" dirty="0">
                <a:latin typeface="黑体" panose="02010609060101010101" pitchFamily="49" charset="-122"/>
                <a:ea typeface="黑体" panose="02010609060101010101" pitchFamily="49" charset="-122"/>
              </a:rPr>
              <a:t> </a:t>
            </a:r>
          </a:p>
        </p:txBody>
      </p:sp>
      <p:sp>
        <p:nvSpPr>
          <p:cNvPr id="8" name="AutoShape 5"/>
          <p:cNvSpPr>
            <a:spLocks noChangeArrowheads="1"/>
          </p:cNvSpPr>
          <p:nvPr/>
        </p:nvSpPr>
        <p:spPr bwMode="auto">
          <a:xfrm flipV="1">
            <a:off x="6091755" y="1314979"/>
            <a:ext cx="176523" cy="541821"/>
          </a:xfrm>
          <a:prstGeom prst="downArrow">
            <a:avLst>
              <a:gd name="adj1" fmla="val 50000"/>
              <a:gd name="adj2" fmla="val 70672"/>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3200"/>
          </a:p>
        </p:txBody>
      </p:sp>
      <p:sp>
        <p:nvSpPr>
          <p:cNvPr id="9" name="AutoShape 5"/>
          <p:cNvSpPr>
            <a:spLocks noChangeArrowheads="1"/>
          </p:cNvSpPr>
          <p:nvPr/>
        </p:nvSpPr>
        <p:spPr bwMode="auto">
          <a:xfrm rot="16200000">
            <a:off x="1358120" y="2894619"/>
            <a:ext cx="331532" cy="716778"/>
          </a:xfrm>
          <a:prstGeom prst="downArrow">
            <a:avLst>
              <a:gd name="adj1" fmla="val 50000"/>
              <a:gd name="adj2" fmla="val 70672"/>
            </a:avLst>
          </a:prstGeom>
          <a:solidFill>
            <a:schemeClr val="accent1"/>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32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对象 110595"/>
          <p:cNvGraphicFramePr/>
          <p:nvPr/>
        </p:nvGraphicFramePr>
        <p:xfrm>
          <a:off x="395288" y="646113"/>
          <a:ext cx="1944687" cy="1187450"/>
        </p:xfrm>
        <a:graphic>
          <a:graphicData uri="http://schemas.openxmlformats.org/presentationml/2006/ole">
            <mc:AlternateContent xmlns:mc="http://schemas.openxmlformats.org/markup-compatibility/2006">
              <mc:Choice xmlns:v="urn:schemas-microsoft-com:vml" Requires="v">
                <p:oleObj spid="_x0000_s65638" r:id="rId4" imgW="735965" imgH="444500" progId="Equation.DSMT4">
                  <p:embed/>
                </p:oleObj>
              </mc:Choice>
              <mc:Fallback>
                <p:oleObj r:id="rId4" imgW="735965" imgH="444500" progId="Equation.DSMT4">
                  <p:embed/>
                  <p:pic>
                    <p:nvPicPr>
                      <p:cNvPr id="0" name="对象 11059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646113"/>
                        <a:ext cx="194468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3" name="对象 110596"/>
          <p:cNvGraphicFramePr/>
          <p:nvPr/>
        </p:nvGraphicFramePr>
        <p:xfrm>
          <a:off x="395288" y="1852613"/>
          <a:ext cx="1971675" cy="1216025"/>
        </p:xfrm>
        <a:graphic>
          <a:graphicData uri="http://schemas.openxmlformats.org/presentationml/2006/ole">
            <mc:AlternateContent xmlns:mc="http://schemas.openxmlformats.org/markup-compatibility/2006">
              <mc:Choice xmlns:v="urn:schemas-microsoft-com:vml" Requires="v">
                <p:oleObj spid="_x0000_s65639" r:id="rId6" imgW="749300" imgH="457200" progId="Equation.DSMT4">
                  <p:embed/>
                </p:oleObj>
              </mc:Choice>
              <mc:Fallback>
                <p:oleObj r:id="rId6" imgW="749300" imgH="457200" progId="Equation.DSMT4">
                  <p:embed/>
                  <p:pic>
                    <p:nvPicPr>
                      <p:cNvPr id="0" name="对象 11059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1852613"/>
                        <a:ext cx="197167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4" name="右大括号 110597"/>
          <p:cNvSpPr/>
          <p:nvPr/>
        </p:nvSpPr>
        <p:spPr bwMode="auto">
          <a:xfrm>
            <a:off x="2555875" y="981075"/>
            <a:ext cx="360363" cy="1800225"/>
          </a:xfrm>
          <a:prstGeom prst="rightBrace">
            <a:avLst>
              <a:gd name="adj1" fmla="val 4158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6325" name="矩形 110598"/>
          <p:cNvSpPr>
            <a:spLocks noChangeArrowheads="1"/>
          </p:cNvSpPr>
          <p:nvPr/>
        </p:nvSpPr>
        <p:spPr bwMode="auto">
          <a:xfrm>
            <a:off x="2987675" y="1179513"/>
            <a:ext cx="2951163"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用全微分来代替偏微分，去掉下标</a:t>
            </a:r>
            <a:r>
              <a:rPr lang="zh-CN" altLang="en-US" sz="2400">
                <a:latin typeface="楷体_GB2312" pitchFamily="49" charset="-122"/>
                <a:ea typeface="楷体_GB2312" pitchFamily="49" charset="-122"/>
              </a:rPr>
              <a:t> </a:t>
            </a:r>
          </a:p>
        </p:txBody>
      </p:sp>
      <p:graphicFrame>
        <p:nvGraphicFramePr>
          <p:cNvPr id="56326" name="对象 110599"/>
          <p:cNvGraphicFramePr/>
          <p:nvPr/>
        </p:nvGraphicFramePr>
        <p:xfrm>
          <a:off x="6375400" y="525463"/>
          <a:ext cx="1511300" cy="1087437"/>
        </p:xfrm>
        <a:graphic>
          <a:graphicData uri="http://schemas.openxmlformats.org/presentationml/2006/ole">
            <mc:AlternateContent xmlns:mc="http://schemas.openxmlformats.org/markup-compatibility/2006">
              <mc:Choice xmlns:v="urn:schemas-microsoft-com:vml" Requires="v">
                <p:oleObj spid="_x0000_s65640" r:id="rId8" imgW="546100" imgH="393700" progId="Equation.DSMT4">
                  <p:embed/>
                </p:oleObj>
              </mc:Choice>
              <mc:Fallback>
                <p:oleObj r:id="rId8" imgW="546100" imgH="393700" progId="Equation.DSMT4">
                  <p:embed/>
                  <p:pic>
                    <p:nvPicPr>
                      <p:cNvPr id="0" name="对象 11059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5400" y="525463"/>
                        <a:ext cx="15113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7" name="对象 110600"/>
          <p:cNvGraphicFramePr/>
          <p:nvPr/>
        </p:nvGraphicFramePr>
        <p:xfrm>
          <a:off x="6373813" y="1808163"/>
          <a:ext cx="1654175" cy="1189037"/>
        </p:xfrm>
        <a:graphic>
          <a:graphicData uri="http://schemas.openxmlformats.org/presentationml/2006/ole">
            <mc:AlternateContent xmlns:mc="http://schemas.openxmlformats.org/markup-compatibility/2006">
              <mc:Choice xmlns:v="urn:schemas-microsoft-com:vml" Requires="v">
                <p:oleObj spid="_x0000_s65641" r:id="rId10" imgW="546100" imgH="393700" progId="Equation.DSMT4">
                  <p:embed/>
                </p:oleObj>
              </mc:Choice>
              <mc:Fallback>
                <p:oleObj r:id="rId10" imgW="546100" imgH="393700" progId="Equation.DSMT4">
                  <p:embed/>
                  <p:pic>
                    <p:nvPicPr>
                      <p:cNvPr id="0" name="对象 11060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73813" y="1808163"/>
                        <a:ext cx="16541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8" name="左大括号 110601"/>
          <p:cNvSpPr/>
          <p:nvPr/>
        </p:nvSpPr>
        <p:spPr bwMode="auto">
          <a:xfrm>
            <a:off x="5724525" y="1196975"/>
            <a:ext cx="503238" cy="1512888"/>
          </a:xfrm>
          <a:prstGeom prst="leftBrace">
            <a:avLst>
              <a:gd name="adj1" fmla="val 2502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0603" name="矩形 110602"/>
          <p:cNvSpPr>
            <a:spLocks noChangeArrowheads="1"/>
          </p:cNvSpPr>
          <p:nvPr/>
        </p:nvSpPr>
        <p:spPr bwMode="auto">
          <a:xfrm>
            <a:off x="395288" y="3390036"/>
            <a:ext cx="836041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dirty="0">
                <a:latin typeface="黑体" panose="02010609060101010101" pitchFamily="49" charset="-122"/>
                <a:ea typeface="黑体" panose="02010609060101010101" pitchFamily="49" charset="-122"/>
              </a:rPr>
              <a:t>理想气体的</a:t>
            </a: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V</a:t>
            </a:r>
            <a:r>
              <a:rPr lang="en-US" altLang="zh-CN" sz="3600" b="1"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p</a:t>
            </a:r>
            <a:r>
              <a:rPr lang="zh-CN" altLang="en-US" sz="3600" b="1" dirty="0">
                <a:solidFill>
                  <a:srgbClr val="FF0000"/>
                </a:solidFill>
                <a:latin typeface="黑体" panose="02010609060101010101" pitchFamily="49" charset="-122"/>
                <a:ea typeface="黑体" panose="02010609060101010101" pitchFamily="49" charset="-122"/>
              </a:rPr>
              <a:t>也都只是温度的</a:t>
            </a:r>
            <a:r>
              <a:rPr lang="zh-CN" altLang="en-US" sz="3600" b="1" dirty="0" smtClean="0">
                <a:solidFill>
                  <a:srgbClr val="FF0000"/>
                </a:solidFill>
                <a:latin typeface="黑体" panose="02010609060101010101" pitchFamily="49" charset="-122"/>
                <a:ea typeface="黑体" panose="02010609060101010101" pitchFamily="49" charset="-122"/>
              </a:rPr>
              <a:t>函数</a:t>
            </a:r>
            <a:endParaRPr lang="zh-CN" altLang="en-US" sz="3600" b="1" dirty="0">
              <a:latin typeface="黑体" panose="02010609060101010101" pitchFamily="49" charset="-122"/>
              <a:ea typeface="黑体" panose="02010609060101010101" pitchFamily="49" charset="-122"/>
            </a:endParaRP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0603"/>
                                        </p:tgtEl>
                                        <p:attrNameLst>
                                          <p:attrName>style.visibility</p:attrName>
                                        </p:attrNameLst>
                                      </p:cBhvr>
                                      <p:to>
                                        <p:strVal val="visible"/>
                                      </p:to>
                                    </p:set>
                                    <p:animEffect transition="in" filter="blinds(horizontal)">
                                      <p:cBhvr>
                                        <p:cTn id="7" dur="500"/>
                                        <p:tgtEl>
                                          <p:spTgt spid="110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0800" y="873157"/>
            <a:ext cx="8064605" cy="2308324"/>
          </a:xfrm>
          <a:prstGeom prst="rect">
            <a:avLst/>
          </a:prstGeom>
        </p:spPr>
        <p:txBody>
          <a:bodyPr wrap="square">
            <a:spAutoFit/>
          </a:bodyPr>
          <a:lstStyle/>
          <a:p>
            <a:r>
              <a:rPr lang="zh-CN" altLang="en-US" sz="3600" b="1" dirty="0" smtClean="0">
                <a:solidFill>
                  <a:prstClr val="black"/>
                </a:solidFill>
                <a:latin typeface="黑体" panose="02010609060101010101" pitchFamily="49" charset="-122"/>
                <a:ea typeface="黑体" panose="02010609060101010101" pitchFamily="49" charset="-122"/>
              </a:rPr>
              <a:t>小结：理想气体</a:t>
            </a:r>
            <a:r>
              <a:rPr lang="zh-CN" altLang="en-US" sz="3600" b="1" dirty="0" smtClean="0">
                <a:latin typeface="黑体" panose="02010609060101010101" pitchFamily="49" charset="-122"/>
                <a:ea typeface="黑体" panose="02010609060101010101" pitchFamily="49" charset="-122"/>
              </a:rPr>
              <a:t>的</a:t>
            </a:r>
            <a:r>
              <a:rPr lang="en-US" altLang="zh-CN" sz="3600" b="1" i="1" dirty="0">
                <a:latin typeface="Times New Roman" panose="02020603050405020304" pitchFamily="18" charset="0"/>
                <a:ea typeface="黑体" panose="02010609060101010101" pitchFamily="49" charset="-122"/>
                <a:cs typeface="Times New Roman" panose="02020603050405020304" pitchFamily="18" charset="0"/>
              </a:rPr>
              <a:t>u</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600" b="1" i="1"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V</a:t>
            </a:r>
            <a:r>
              <a:rPr lang="en-US" altLang="zh-CN" sz="3600" b="1"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6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6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latin typeface="Times New Roman" panose="02020603050405020304" pitchFamily="18" charset="0"/>
                <a:ea typeface="黑体" panose="02010609060101010101" pitchFamily="49" charset="-122"/>
                <a:cs typeface="Times New Roman" panose="02020603050405020304" pitchFamily="18" charset="0"/>
              </a:rPr>
              <a:t>p</a:t>
            </a:r>
            <a:r>
              <a:rPr lang="zh-CN" altLang="en-US" sz="3600" b="1" dirty="0" smtClean="0">
                <a:latin typeface="黑体" panose="02010609060101010101" pitchFamily="49" charset="-122"/>
                <a:ea typeface="黑体" panose="02010609060101010101" pitchFamily="49" charset="-122"/>
              </a:rPr>
              <a:t>都</a:t>
            </a:r>
            <a:r>
              <a:rPr lang="zh-CN" altLang="en-US" sz="3600" b="1" dirty="0" smtClean="0">
                <a:solidFill>
                  <a:srgbClr val="FF0000"/>
                </a:solidFill>
                <a:latin typeface="黑体" panose="02010609060101010101" pitchFamily="49" charset="-122"/>
                <a:ea typeface="黑体" panose="02010609060101010101" pitchFamily="49" charset="-122"/>
              </a:rPr>
              <a:t>只是温度的函数，</a:t>
            </a:r>
            <a:r>
              <a:rPr lang="zh-CN" altLang="en-US" sz="3600" b="1" dirty="0" smtClean="0">
                <a:solidFill>
                  <a:prstClr val="black"/>
                </a:solidFill>
                <a:latin typeface="黑体" panose="02010609060101010101" pitchFamily="49" charset="-122"/>
                <a:ea typeface="黑体" panose="02010609060101010101" pitchFamily="49" charset="-122"/>
              </a:rPr>
              <a:t>当</a:t>
            </a:r>
            <a:r>
              <a:rPr lang="zh-CN" altLang="en-US" sz="3600" b="1" dirty="0">
                <a:solidFill>
                  <a:prstClr val="black"/>
                </a:solidFill>
                <a:latin typeface="黑体" panose="02010609060101010101" pitchFamily="49" charset="-122"/>
                <a:ea typeface="黑体" panose="02010609060101010101" pitchFamily="49" charset="-122"/>
              </a:rPr>
              <a:t>温度一定时，理想气体的</a:t>
            </a:r>
            <a:r>
              <a:rPr lang="en-US" altLang="zh-CN" sz="36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u</a:t>
            </a:r>
            <a:r>
              <a:rPr lang="zh-CN" altLang="en-US" sz="36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36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h</a:t>
            </a:r>
            <a:r>
              <a:rPr lang="zh-CN" altLang="en-US" sz="36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3600" b="1" i="1"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V</a:t>
            </a:r>
            <a:r>
              <a:rPr lang="en-US" altLang="zh-CN" sz="3600" b="1"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6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3600" b="1" i="1"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c</a:t>
            </a:r>
            <a:r>
              <a:rPr lang="en-US" altLang="zh-CN" sz="3600" b="1" i="1" baseline="-250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en-US" sz="3600" b="1" dirty="0">
                <a:latin typeface="黑体" panose="02010609060101010101" pitchFamily="49" charset="-122"/>
                <a:ea typeface="黑体" panose="02010609060101010101" pitchFamily="49" charset="-122"/>
              </a:rPr>
              <a:t>都是定</a:t>
            </a:r>
            <a:r>
              <a:rPr lang="zh-CN" altLang="en-US" sz="3600" b="1" dirty="0" smtClean="0">
                <a:latin typeface="黑体" panose="02010609060101010101" pitchFamily="49" charset="-122"/>
                <a:ea typeface="黑体" panose="02010609060101010101" pitchFamily="49" charset="-122"/>
              </a:rPr>
              <a:t>值，而不随体积、压力等参数的变化而变化</a:t>
            </a:r>
            <a:r>
              <a:rPr lang="zh-CN" altLang="en-US" sz="3600" b="1" dirty="0" smtClean="0">
                <a:solidFill>
                  <a:prstClr val="black"/>
                </a:solidFill>
                <a:latin typeface="黑体" panose="02010609060101010101" pitchFamily="49" charset="-122"/>
                <a:ea typeface="黑体" panose="02010609060101010101" pitchFamily="49" charset="-122"/>
              </a:rPr>
              <a:t> </a:t>
            </a:r>
            <a:endParaRPr lang="zh-CN" altLang="en-US" sz="3600" b="1" dirty="0">
              <a:solidFill>
                <a:prstClr val="black"/>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对象 26627"/>
          <p:cNvGraphicFramePr/>
          <p:nvPr/>
        </p:nvGraphicFramePr>
        <p:xfrm>
          <a:off x="395288" y="387350"/>
          <a:ext cx="1404937" cy="1009650"/>
        </p:xfrm>
        <a:graphic>
          <a:graphicData uri="http://schemas.openxmlformats.org/presentationml/2006/ole">
            <mc:AlternateContent xmlns:mc="http://schemas.openxmlformats.org/markup-compatibility/2006">
              <mc:Choice xmlns:v="urn:schemas-microsoft-com:vml" Requires="v">
                <p:oleObj spid="_x0000_s66710" r:id="rId4" imgW="546100" imgH="393700" progId="Equation.DSMT4">
                  <p:embed/>
                </p:oleObj>
              </mc:Choice>
              <mc:Fallback>
                <p:oleObj r:id="rId4" imgW="546100" imgH="393700" progId="Equation.DSMT4">
                  <p:embed/>
                  <p:pic>
                    <p:nvPicPr>
                      <p:cNvPr id="0" name="对象 2662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387350"/>
                        <a:ext cx="1404937"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347" name="对象 26628"/>
          <p:cNvGraphicFramePr/>
          <p:nvPr/>
        </p:nvGraphicFramePr>
        <p:xfrm>
          <a:off x="395288" y="1771650"/>
          <a:ext cx="1404937" cy="1009650"/>
        </p:xfrm>
        <a:graphic>
          <a:graphicData uri="http://schemas.openxmlformats.org/presentationml/2006/ole">
            <mc:AlternateContent xmlns:mc="http://schemas.openxmlformats.org/markup-compatibility/2006">
              <mc:Choice xmlns:v="urn:schemas-microsoft-com:vml" Requires="v">
                <p:oleObj spid="_x0000_s66711" r:id="rId6" imgW="546100" imgH="393700" progId="Equation.DSMT4">
                  <p:embed/>
                </p:oleObj>
              </mc:Choice>
              <mc:Fallback>
                <p:oleObj r:id="rId6" imgW="546100" imgH="393700" progId="Equation.DSMT4">
                  <p:embed/>
                  <p:pic>
                    <p:nvPicPr>
                      <p:cNvPr id="0" name="对象 2662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1771650"/>
                        <a:ext cx="1404937"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8" name="右箭头 26632"/>
          <p:cNvSpPr>
            <a:spLocks noChangeArrowheads="1"/>
          </p:cNvSpPr>
          <p:nvPr/>
        </p:nvSpPr>
        <p:spPr bwMode="auto">
          <a:xfrm>
            <a:off x="1908175" y="836613"/>
            <a:ext cx="647700" cy="142875"/>
          </a:xfrm>
          <a:prstGeom prst="rightArrow">
            <a:avLst>
              <a:gd name="adj1" fmla="val 50000"/>
              <a:gd name="adj2" fmla="val 113291"/>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49" name="右箭头 26633"/>
          <p:cNvSpPr>
            <a:spLocks noChangeArrowheads="1"/>
          </p:cNvSpPr>
          <p:nvPr/>
        </p:nvSpPr>
        <p:spPr bwMode="auto">
          <a:xfrm>
            <a:off x="1835150" y="2205038"/>
            <a:ext cx="647700" cy="142875"/>
          </a:xfrm>
          <a:prstGeom prst="rightArrow">
            <a:avLst>
              <a:gd name="adj1" fmla="val 50000"/>
              <a:gd name="adj2" fmla="val 113291"/>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50" name="矩形 26635"/>
          <p:cNvSpPr>
            <a:spLocks noChangeArrowheads="1"/>
          </p:cNvSpPr>
          <p:nvPr/>
        </p:nvSpPr>
        <p:spPr bwMode="auto">
          <a:xfrm>
            <a:off x="-144463" y="35306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7351" name="对象 26634"/>
          <p:cNvGraphicFramePr/>
          <p:nvPr/>
        </p:nvGraphicFramePr>
        <p:xfrm>
          <a:off x="2627313" y="652463"/>
          <a:ext cx="1728787" cy="600075"/>
        </p:xfrm>
        <a:graphic>
          <a:graphicData uri="http://schemas.openxmlformats.org/presentationml/2006/ole">
            <mc:AlternateContent xmlns:mc="http://schemas.openxmlformats.org/markup-compatibility/2006">
              <mc:Choice xmlns:v="urn:schemas-microsoft-com:vml" Requires="v">
                <p:oleObj spid="_x0000_s66712" r:id="rId8" imgW="660400" imgH="228600" progId="Equation.DSMT4">
                  <p:embed/>
                </p:oleObj>
              </mc:Choice>
              <mc:Fallback>
                <p:oleObj r:id="rId8" imgW="660400" imgH="228600" progId="Equation.DSMT4">
                  <p:embed/>
                  <p:pic>
                    <p:nvPicPr>
                      <p:cNvPr id="0" name="对象 2663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652463"/>
                        <a:ext cx="17287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352" name="对象 26636"/>
          <p:cNvGraphicFramePr/>
          <p:nvPr/>
        </p:nvGraphicFramePr>
        <p:xfrm>
          <a:off x="2555875" y="1989138"/>
          <a:ext cx="1657350" cy="601662"/>
        </p:xfrm>
        <a:graphic>
          <a:graphicData uri="http://schemas.openxmlformats.org/presentationml/2006/ole">
            <mc:AlternateContent xmlns:mc="http://schemas.openxmlformats.org/markup-compatibility/2006">
              <mc:Choice xmlns:v="urn:schemas-microsoft-com:vml" Requires="v">
                <p:oleObj spid="_x0000_s66713" r:id="rId10" imgW="660400" imgH="241300" progId="Equation.DSMT4">
                  <p:embed/>
                </p:oleObj>
              </mc:Choice>
              <mc:Fallback>
                <p:oleObj r:id="rId10" imgW="660400" imgH="241300" progId="Equation.DSMT4">
                  <p:embed/>
                  <p:pic>
                    <p:nvPicPr>
                      <p:cNvPr id="0" name="对象 2663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875" y="1989138"/>
                        <a:ext cx="165735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353" name="对象 26638"/>
          <p:cNvGraphicFramePr/>
          <p:nvPr/>
        </p:nvGraphicFramePr>
        <p:xfrm>
          <a:off x="5148263" y="620713"/>
          <a:ext cx="3636962" cy="742950"/>
        </p:xfrm>
        <a:graphic>
          <a:graphicData uri="http://schemas.openxmlformats.org/presentationml/2006/ole">
            <mc:AlternateContent xmlns:mc="http://schemas.openxmlformats.org/markup-compatibility/2006">
              <mc:Choice xmlns:v="urn:schemas-microsoft-com:vml" Requires="v">
                <p:oleObj spid="_x0000_s66714" r:id="rId12" imgW="1625600" imgH="330200" progId="Equation.DSMT4">
                  <p:embed/>
                </p:oleObj>
              </mc:Choice>
              <mc:Fallback>
                <p:oleObj r:id="rId12" imgW="1625600" imgH="330200" progId="Equation.DSMT4">
                  <p:embed/>
                  <p:pic>
                    <p:nvPicPr>
                      <p:cNvPr id="0" name="对象 2663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48263" y="620713"/>
                        <a:ext cx="363696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4" name="右箭头 26640"/>
          <p:cNvSpPr>
            <a:spLocks noChangeArrowheads="1"/>
          </p:cNvSpPr>
          <p:nvPr/>
        </p:nvSpPr>
        <p:spPr bwMode="auto">
          <a:xfrm>
            <a:off x="4427538" y="908050"/>
            <a:ext cx="647700" cy="142875"/>
          </a:xfrm>
          <a:prstGeom prst="rightArrow">
            <a:avLst>
              <a:gd name="adj1" fmla="val 50000"/>
              <a:gd name="adj2" fmla="val 113291"/>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55" name="右箭头 26641"/>
          <p:cNvSpPr>
            <a:spLocks noChangeArrowheads="1"/>
          </p:cNvSpPr>
          <p:nvPr/>
        </p:nvSpPr>
        <p:spPr bwMode="auto">
          <a:xfrm>
            <a:off x="4211638" y="2205038"/>
            <a:ext cx="647700" cy="142875"/>
          </a:xfrm>
          <a:prstGeom prst="rightArrow">
            <a:avLst>
              <a:gd name="adj1" fmla="val 50000"/>
              <a:gd name="adj2" fmla="val 113291"/>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7356" name="对象 26642"/>
          <p:cNvGraphicFramePr/>
          <p:nvPr/>
        </p:nvGraphicFramePr>
        <p:xfrm>
          <a:off x="4932363" y="1844675"/>
          <a:ext cx="3816350" cy="788988"/>
        </p:xfrm>
        <a:graphic>
          <a:graphicData uri="http://schemas.openxmlformats.org/presentationml/2006/ole">
            <mc:AlternateContent xmlns:mc="http://schemas.openxmlformats.org/markup-compatibility/2006">
              <mc:Choice xmlns:v="urn:schemas-microsoft-com:vml" Requires="v">
                <p:oleObj spid="_x0000_s66715" r:id="rId14" imgW="1612900" imgH="330200" progId="Equation.DSMT4">
                  <p:embed/>
                </p:oleObj>
              </mc:Choice>
              <mc:Fallback>
                <p:oleObj r:id="rId14" imgW="1612900" imgH="330200" progId="Equation.DSMT4">
                  <p:embed/>
                  <p:pic>
                    <p:nvPicPr>
                      <p:cNvPr id="0" name="对象 2664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32363" y="1844675"/>
                        <a:ext cx="381635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47" name="矩形 26646"/>
          <p:cNvSpPr>
            <a:spLocks noChangeArrowheads="1"/>
          </p:cNvSpPr>
          <p:nvPr/>
        </p:nvSpPr>
        <p:spPr bwMode="auto">
          <a:xfrm>
            <a:off x="503237" y="3093140"/>
            <a:ext cx="78486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buFont typeface="Arial" panose="020B0604020202020204" pitchFamily="34" charset="0"/>
              <a:buChar char="•"/>
            </a:pPr>
            <a:r>
              <a:rPr lang="zh-CN" altLang="en-US" sz="3200" b="1" dirty="0" smtClean="0">
                <a:latin typeface="Times New Roman" panose="02020603050405020304" pitchFamily="18" charset="0"/>
                <a:ea typeface="黑体" panose="02010609060101010101" pitchFamily="49" charset="-122"/>
              </a:rPr>
              <a:t>以上两式中，</a:t>
            </a:r>
            <a:r>
              <a:rPr lang="en-US" altLang="zh-CN" sz="3200" b="1" i="1" dirty="0" err="1" smtClean="0">
                <a:latin typeface="Times New Roman" panose="02020603050405020304" pitchFamily="18" charset="0"/>
                <a:ea typeface="黑体" panose="02010609060101010101" pitchFamily="49" charset="-122"/>
              </a:rPr>
              <a:t>c</a:t>
            </a:r>
            <a:r>
              <a:rPr lang="en-US" altLang="zh-CN" sz="3200" b="1" i="1" baseline="-25000" dirty="0" err="1" smtClean="0">
                <a:latin typeface="Times New Roman" panose="02020603050405020304" pitchFamily="18" charset="0"/>
                <a:ea typeface="黑体" panose="02010609060101010101" pitchFamily="49" charset="-122"/>
              </a:rPr>
              <a:t>V</a:t>
            </a:r>
            <a:r>
              <a:rPr lang="en-US" altLang="zh-CN"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T</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和</a:t>
            </a:r>
            <a:r>
              <a:rPr lang="en-US" altLang="zh-CN" sz="3200" b="1" i="1" dirty="0">
                <a:latin typeface="Times New Roman" panose="02020603050405020304" pitchFamily="18" charset="0"/>
                <a:ea typeface="黑体" panose="02010609060101010101" pitchFamily="49" charset="-122"/>
              </a:rPr>
              <a:t> </a:t>
            </a:r>
            <a:r>
              <a:rPr lang="en-US" altLang="zh-CN" sz="3200" b="1" i="1" dirty="0" err="1">
                <a:latin typeface="Times New Roman" panose="02020603050405020304" pitchFamily="18" charset="0"/>
                <a:ea typeface="黑体" panose="02010609060101010101" pitchFamily="49" charset="-122"/>
              </a:rPr>
              <a:t>c</a:t>
            </a:r>
            <a:r>
              <a:rPr lang="en-US" altLang="zh-CN" sz="3200" b="1" i="1" baseline="-25000" dirty="0" err="1">
                <a:latin typeface="Times New Roman" panose="02020603050405020304" pitchFamily="18" charset="0"/>
                <a:ea typeface="黑体" panose="02010609060101010101" pitchFamily="49" charset="-122"/>
              </a:rPr>
              <a:t>p</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T</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 </a:t>
            </a:r>
            <a:r>
              <a:rPr lang="zh-CN" altLang="en-US" sz="3200" b="1" dirty="0" smtClean="0">
                <a:latin typeface="Times New Roman" panose="02020603050405020304" pitchFamily="18" charset="0"/>
                <a:ea typeface="黑体" panose="02010609060101010101" pitchFamily="49" charset="-122"/>
              </a:rPr>
              <a:t>表示</a:t>
            </a:r>
            <a:r>
              <a:rPr lang="en-US" altLang="zh-CN" sz="3200" b="1" i="1" dirty="0" err="1" smtClean="0">
                <a:latin typeface="Times New Roman" panose="02020603050405020304" pitchFamily="18" charset="0"/>
                <a:ea typeface="黑体" panose="02010609060101010101" pitchFamily="49" charset="-122"/>
              </a:rPr>
              <a:t>c</a:t>
            </a:r>
            <a:r>
              <a:rPr lang="en-US" altLang="zh-CN" sz="3200" b="1" i="1" baseline="-25000" dirty="0" err="1" smtClean="0">
                <a:latin typeface="Times New Roman" panose="02020603050405020304" pitchFamily="18" charset="0"/>
                <a:ea typeface="黑体" panose="02010609060101010101" pitchFamily="49" charset="-122"/>
              </a:rPr>
              <a:t>V</a:t>
            </a:r>
            <a:r>
              <a:rPr lang="zh-CN" altLang="en-US" sz="3200" b="1" dirty="0" smtClean="0">
                <a:latin typeface="Times New Roman" panose="02020603050405020304" pitchFamily="18" charset="0"/>
                <a:ea typeface="黑体" panose="02010609060101010101" pitchFamily="49" charset="-122"/>
              </a:rPr>
              <a:t>和</a:t>
            </a:r>
            <a:r>
              <a:rPr lang="en-US" altLang="zh-CN" sz="3200" b="1" i="1" dirty="0" smtClean="0">
                <a:latin typeface="Times New Roman" panose="02020603050405020304" pitchFamily="18" charset="0"/>
                <a:ea typeface="黑体" panose="02010609060101010101" pitchFamily="49" charset="-122"/>
              </a:rPr>
              <a:t> </a:t>
            </a:r>
            <a:r>
              <a:rPr lang="en-US" altLang="zh-CN" sz="3200" b="1" i="1" dirty="0" err="1" smtClean="0">
                <a:latin typeface="Times New Roman" panose="02020603050405020304" pitchFamily="18" charset="0"/>
                <a:ea typeface="黑体" panose="02010609060101010101" pitchFamily="49" charset="-122"/>
              </a:rPr>
              <a:t>c</a:t>
            </a:r>
            <a:r>
              <a:rPr lang="en-US" altLang="zh-CN" sz="3200" b="1" i="1" baseline="-25000" dirty="0" err="1" smtClean="0">
                <a:latin typeface="Times New Roman" panose="02020603050405020304" pitchFamily="18" charset="0"/>
                <a:ea typeface="黑体" panose="02010609060101010101" pitchFamily="49" charset="-122"/>
              </a:rPr>
              <a:t>p</a:t>
            </a:r>
            <a:r>
              <a:rPr lang="zh-CN" altLang="en-US" sz="3200" b="1" dirty="0" smtClean="0">
                <a:latin typeface="Times New Roman" panose="02020603050405020304" pitchFamily="18" charset="0"/>
                <a:ea typeface="黑体" panose="02010609060101010101" pitchFamily="49" charset="-122"/>
              </a:rPr>
              <a:t>是温度的函数</a:t>
            </a:r>
            <a:endParaRPr lang="en-US" altLang="zh-CN" sz="3200" b="1" dirty="0" smtClean="0">
              <a:latin typeface="Times New Roman" panose="02020603050405020304" pitchFamily="18" charset="0"/>
              <a:ea typeface="黑体" panose="02010609060101010101" pitchFamily="49" charset="-122"/>
            </a:endParaRPr>
          </a:p>
          <a:p>
            <a:pPr marL="457200" indent="-457200">
              <a:buFont typeface="Arial" panose="020B0604020202020204" pitchFamily="34" charset="0"/>
              <a:buChar char="•"/>
            </a:pPr>
            <a:r>
              <a:rPr lang="zh-CN" altLang="en-US" sz="3200" b="1" dirty="0" smtClean="0">
                <a:latin typeface="Times New Roman" panose="02020603050405020304" pitchFamily="18" charset="0"/>
                <a:ea typeface="黑体" panose="02010609060101010101" pitchFamily="49" charset="-122"/>
              </a:rPr>
              <a:t>为了得到具体的积分结果，需要知道</a:t>
            </a:r>
            <a:r>
              <a:rPr lang="en-US" altLang="zh-CN" sz="3200" b="1" i="1" dirty="0" err="1">
                <a:latin typeface="Times New Roman" panose="02020603050405020304" pitchFamily="18" charset="0"/>
                <a:ea typeface="黑体" panose="02010609060101010101" pitchFamily="49" charset="-122"/>
              </a:rPr>
              <a:t>c</a:t>
            </a:r>
            <a:r>
              <a:rPr lang="en-US" altLang="zh-CN" sz="3200" b="1" i="1" baseline="-25000" dirty="0" err="1">
                <a:latin typeface="Times New Roman" panose="02020603050405020304" pitchFamily="18" charset="0"/>
                <a:ea typeface="黑体" panose="02010609060101010101" pitchFamily="49" charset="-122"/>
              </a:rPr>
              <a:t>V</a:t>
            </a:r>
            <a:r>
              <a:rPr lang="en-US" altLang="zh-CN" sz="3200" b="1" dirty="0">
                <a:latin typeface="Times New Roman" panose="02020603050405020304" pitchFamily="18" charset="0"/>
                <a:ea typeface="黑体" panose="02010609060101010101" pitchFamily="49" charset="-122"/>
              </a:rPr>
              <a:t>(</a:t>
            </a:r>
            <a:r>
              <a:rPr lang="en-US" altLang="zh-CN" sz="3200" b="1" i="1" dirty="0">
                <a:latin typeface="Times New Roman" panose="02020603050405020304" pitchFamily="18" charset="0"/>
                <a:ea typeface="黑体" panose="02010609060101010101" pitchFamily="49" charset="-122"/>
              </a:rPr>
              <a:t>T</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和</a:t>
            </a:r>
            <a:r>
              <a:rPr lang="en-US" altLang="zh-CN" sz="3200" b="1" i="1" dirty="0">
                <a:latin typeface="Times New Roman" panose="02020603050405020304" pitchFamily="18" charset="0"/>
                <a:ea typeface="黑体" panose="02010609060101010101" pitchFamily="49" charset="-122"/>
              </a:rPr>
              <a:t> </a:t>
            </a:r>
            <a:r>
              <a:rPr lang="en-US" altLang="zh-CN" sz="3200" b="1" i="1" dirty="0" err="1" smtClean="0">
                <a:latin typeface="Times New Roman" panose="02020603050405020304" pitchFamily="18" charset="0"/>
                <a:ea typeface="黑体" panose="02010609060101010101" pitchFamily="49" charset="-122"/>
              </a:rPr>
              <a:t>c</a:t>
            </a:r>
            <a:r>
              <a:rPr lang="en-US" altLang="zh-CN" sz="3200" b="1" i="1" baseline="-25000" dirty="0" err="1" smtClean="0">
                <a:latin typeface="Times New Roman" panose="02020603050405020304" pitchFamily="18" charset="0"/>
                <a:ea typeface="黑体" panose="02010609060101010101" pitchFamily="49" charset="-122"/>
              </a:rPr>
              <a:t>p</a:t>
            </a:r>
            <a:r>
              <a:rPr lang="en-US" altLang="zh-CN"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T</a:t>
            </a:r>
            <a:r>
              <a:rPr lang="en-US" altLang="zh-CN" sz="3200" b="1" dirty="0" smtClean="0">
                <a:latin typeface="Times New Roman" panose="02020603050405020304" pitchFamily="18" charset="0"/>
                <a:ea typeface="黑体" panose="02010609060101010101" pitchFamily="49" charset="-122"/>
              </a:rPr>
              <a:t>)</a:t>
            </a:r>
            <a:r>
              <a:rPr lang="zh-CN" altLang="en-US" sz="3200" b="1" dirty="0" smtClean="0">
                <a:latin typeface="Times New Roman" panose="02020603050405020304" pitchFamily="18" charset="0"/>
                <a:ea typeface="黑体" panose="02010609060101010101" pitchFamily="49" charset="-122"/>
              </a:rPr>
              <a:t>的具体关系式</a:t>
            </a:r>
            <a:endParaRPr lang="zh-CN" altLang="en-US" sz="3200" b="1" dirty="0">
              <a:latin typeface="Times New Roman" panose="02020603050405020304" pitchFamily="18" charset="0"/>
              <a:ea typeface="黑体" panose="02010609060101010101" pitchFamily="49" charset="-122"/>
            </a:endParaRP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47"/>
                                        </p:tgtEl>
                                        <p:attrNameLst>
                                          <p:attrName>style.visibility</p:attrName>
                                        </p:attrNameLst>
                                      </p:cBhvr>
                                      <p:to>
                                        <p:strVal val="visible"/>
                                      </p:to>
                                    </p:set>
                                    <p:animEffect transition="in" filter="blinds(horizontal)">
                                      <p:cBhvr>
                                        <p:cTn id="7" dur="500"/>
                                        <p:tgtEl>
                                          <p:spTgt spid="26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6638"/>
          <p:cNvGraphicFramePr/>
          <p:nvPr/>
        </p:nvGraphicFramePr>
        <p:xfrm>
          <a:off x="2228920" y="368923"/>
          <a:ext cx="3636962" cy="742950"/>
        </p:xfrm>
        <a:graphic>
          <a:graphicData uri="http://schemas.openxmlformats.org/presentationml/2006/ole">
            <mc:AlternateContent xmlns:mc="http://schemas.openxmlformats.org/markup-compatibility/2006">
              <mc:Choice xmlns:v="urn:schemas-microsoft-com:vml" Requires="v">
                <p:oleObj spid="_x0000_s67638" r:id="rId4" imgW="1625600" imgH="330200" progId="Equation.DSMT4">
                  <p:embed/>
                </p:oleObj>
              </mc:Choice>
              <mc:Fallback>
                <p:oleObj r:id="rId4" imgW="1625600" imgH="330200" progId="Equation.DSMT4">
                  <p:embed/>
                  <p:pic>
                    <p:nvPicPr>
                      <p:cNvPr id="0" name="对象 2663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920" y="368923"/>
                        <a:ext cx="363696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对象 26642"/>
          <p:cNvGraphicFramePr/>
          <p:nvPr/>
        </p:nvGraphicFramePr>
        <p:xfrm>
          <a:off x="2228920" y="1284388"/>
          <a:ext cx="3816350" cy="788988"/>
        </p:xfrm>
        <a:graphic>
          <a:graphicData uri="http://schemas.openxmlformats.org/presentationml/2006/ole">
            <mc:AlternateContent xmlns:mc="http://schemas.openxmlformats.org/markup-compatibility/2006">
              <mc:Choice xmlns:v="urn:schemas-microsoft-com:vml" Requires="v">
                <p:oleObj spid="_x0000_s67639" r:id="rId6" imgW="1612900" imgH="330200" progId="Equation.DSMT4">
                  <p:embed/>
                </p:oleObj>
              </mc:Choice>
              <mc:Fallback>
                <p:oleObj r:id="rId6" imgW="1612900" imgH="330200" progId="Equation.DSMT4">
                  <p:embed/>
                  <p:pic>
                    <p:nvPicPr>
                      <p:cNvPr id="0" name="对象 2664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8920" y="1284388"/>
                        <a:ext cx="381635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矩形 3"/>
          <p:cNvSpPr>
            <a:spLocks noChangeArrowheads="1"/>
          </p:cNvSpPr>
          <p:nvPr/>
        </p:nvSpPr>
        <p:spPr bwMode="auto">
          <a:xfrm>
            <a:off x="503237" y="2362159"/>
            <a:ext cx="78486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buFont typeface="Arial" panose="020B0604020202020204" pitchFamily="34" charset="0"/>
              <a:buChar char="•"/>
            </a:pPr>
            <a:r>
              <a:rPr lang="zh-CN" altLang="en-US" sz="3200" b="1" dirty="0" smtClean="0">
                <a:solidFill>
                  <a:srgbClr val="FF0000"/>
                </a:solidFill>
                <a:latin typeface="Times New Roman" panose="02020603050405020304" pitchFamily="18" charset="0"/>
                <a:ea typeface="黑体" panose="02010609060101010101" pitchFamily="49" charset="-122"/>
              </a:rPr>
              <a:t>理想气体</a:t>
            </a:r>
            <a:r>
              <a:rPr lang="zh-CN" altLang="en-US" sz="3200" b="1" dirty="0" smtClean="0">
                <a:latin typeface="Times New Roman" panose="02020603050405020304" pitchFamily="18" charset="0"/>
                <a:ea typeface="黑体" panose="02010609060101010101" pitchFamily="49" charset="-122"/>
              </a:rPr>
              <a:t>：无论经过何种过程，热力学能和焓的变化都可以由这两个公式确定</a:t>
            </a:r>
            <a:endParaRPr lang="en-US" altLang="zh-CN" sz="3200" b="1" dirty="0" smtClean="0">
              <a:latin typeface="Times New Roman" panose="02020603050405020304" pitchFamily="18" charset="0"/>
              <a:ea typeface="黑体" panose="02010609060101010101" pitchFamily="49" charset="-122"/>
            </a:endParaRPr>
          </a:p>
          <a:p>
            <a:pPr marL="457200" indent="-457200">
              <a:buFont typeface="Arial" panose="020B0604020202020204" pitchFamily="34" charset="0"/>
              <a:buChar char="•"/>
            </a:pPr>
            <a:r>
              <a:rPr lang="zh-CN" altLang="en-US" sz="3200" b="1" dirty="0">
                <a:solidFill>
                  <a:srgbClr val="0070C0"/>
                </a:solidFill>
                <a:latin typeface="Times New Roman" panose="02020603050405020304" pitchFamily="18" charset="0"/>
                <a:ea typeface="黑体" panose="02010609060101010101" pitchFamily="49" charset="-122"/>
              </a:rPr>
              <a:t>非</a:t>
            </a:r>
            <a:r>
              <a:rPr lang="zh-CN" altLang="en-US" sz="3200" b="1" dirty="0" smtClean="0">
                <a:solidFill>
                  <a:srgbClr val="0070C0"/>
                </a:solidFill>
                <a:latin typeface="Times New Roman" panose="02020603050405020304" pitchFamily="18" charset="0"/>
                <a:ea typeface="黑体" panose="02010609060101010101" pitchFamily="49" charset="-122"/>
              </a:rPr>
              <a:t>理想气体</a:t>
            </a:r>
            <a:r>
              <a:rPr lang="zh-CN" altLang="en-US" sz="3200" b="1" dirty="0" smtClean="0">
                <a:latin typeface="Times New Roman" panose="02020603050405020304" pitchFamily="18" charset="0"/>
                <a:ea typeface="黑体" panose="02010609060101010101" pitchFamily="49" charset="-122"/>
              </a:rPr>
              <a:t>：如果过程是定容的，则其热力学能变化就可以按第一个公式确定；如果过程是定压的，则其焓的变化就可以按第二个公式确定</a:t>
            </a:r>
            <a:endParaRPr lang="zh-CN" altLang="en-US" sz="3200" b="1" dirty="0">
              <a:latin typeface="Times New Roman" panose="02020603050405020304" pitchFamily="18" charset="0"/>
              <a:ea typeface="黑体" panose="02010609060101010101" pitchFamily="49" charset="-122"/>
            </a:endParaRP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框 27651"/>
          <p:cNvSpPr txBox="1">
            <a:spLocks noChangeArrowheads="1"/>
          </p:cNvSpPr>
          <p:nvPr/>
        </p:nvSpPr>
        <p:spPr bwMode="auto">
          <a:xfrm>
            <a:off x="381000" y="304800"/>
            <a:ext cx="8294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3200" b="1">
                <a:latin typeface="黑体" panose="02010609060101010101" pitchFamily="49" charset="-122"/>
                <a:ea typeface="黑体" panose="02010609060101010101" pitchFamily="49" charset="-122"/>
              </a:rPr>
              <a:t>二、理想气体的比热容关系式 </a:t>
            </a:r>
          </a:p>
        </p:txBody>
      </p:sp>
      <p:graphicFrame>
        <p:nvGraphicFramePr>
          <p:cNvPr id="58371" name="对象 27652"/>
          <p:cNvGraphicFramePr/>
          <p:nvPr/>
        </p:nvGraphicFramePr>
        <p:xfrm>
          <a:off x="3132138" y="1341438"/>
          <a:ext cx="1692275" cy="549275"/>
        </p:xfrm>
        <a:graphic>
          <a:graphicData uri="http://schemas.openxmlformats.org/presentationml/2006/ole">
            <mc:AlternateContent xmlns:mc="http://schemas.openxmlformats.org/markup-compatibility/2006">
              <mc:Choice xmlns:v="urn:schemas-microsoft-com:vml" Requires="v">
                <p:oleObj spid="_x0000_s93203" r:id="rId4" imgW="736600" imgH="241300" progId="Equation.DSMT4">
                  <p:embed/>
                </p:oleObj>
              </mc:Choice>
              <mc:Fallback>
                <p:oleObj r:id="rId4" imgW="736600" imgH="241300" progId="Equation.DSMT4">
                  <p:embed/>
                  <p:pic>
                    <p:nvPicPr>
                      <p:cNvPr id="0" name="对象 2765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1341438"/>
                        <a:ext cx="16922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55" name="对象 27654"/>
          <p:cNvGraphicFramePr/>
          <p:nvPr/>
        </p:nvGraphicFramePr>
        <p:xfrm>
          <a:off x="3132138" y="2133600"/>
          <a:ext cx="1619250" cy="722313"/>
        </p:xfrm>
        <a:graphic>
          <a:graphicData uri="http://schemas.openxmlformats.org/presentationml/2006/ole">
            <mc:AlternateContent xmlns:mc="http://schemas.openxmlformats.org/markup-compatibility/2006">
              <mc:Choice xmlns:v="urn:schemas-microsoft-com:vml" Requires="v">
                <p:oleObj spid="_x0000_s93204" r:id="rId6" imgW="875665" imgH="393700" progId="Equation.DSMT4">
                  <p:embed/>
                </p:oleObj>
              </mc:Choice>
              <mc:Fallback>
                <p:oleObj r:id="rId6" imgW="875665" imgH="393700" progId="Equation.DSMT4">
                  <p:embed/>
                  <p:pic>
                    <p:nvPicPr>
                      <p:cNvPr id="0" name="对象 2765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2133600"/>
                        <a:ext cx="1619250"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7671" name="组合 27670"/>
          <p:cNvGrpSpPr/>
          <p:nvPr/>
        </p:nvGrpSpPr>
        <p:grpSpPr bwMode="auto">
          <a:xfrm>
            <a:off x="5508625" y="1268413"/>
            <a:ext cx="1368425" cy="1800225"/>
            <a:chOff x="3470" y="799"/>
            <a:chExt cx="862" cy="1134"/>
          </a:xfrm>
        </p:grpSpPr>
        <p:graphicFrame>
          <p:nvGraphicFramePr>
            <p:cNvPr id="58385" name="对象 27656"/>
            <p:cNvGraphicFramePr/>
            <p:nvPr/>
          </p:nvGraphicFramePr>
          <p:xfrm>
            <a:off x="3561" y="844"/>
            <a:ext cx="680" cy="489"/>
          </p:xfrm>
          <a:graphic>
            <a:graphicData uri="http://schemas.openxmlformats.org/presentationml/2006/ole">
              <mc:AlternateContent xmlns:mc="http://schemas.openxmlformats.org/markup-compatibility/2006">
                <mc:Choice xmlns:v="urn:schemas-microsoft-com:vml" Requires="v">
                  <p:oleObj spid="_x0000_s93205" r:id="rId8" imgW="546100" imgH="393700" progId="Equation.DSMT4">
                    <p:embed/>
                  </p:oleObj>
                </mc:Choice>
                <mc:Fallback>
                  <p:oleObj r:id="rId8" imgW="546100" imgH="393700" progId="Equation.DSMT4">
                    <p:embed/>
                    <p:pic>
                      <p:nvPicPr>
                        <p:cNvPr id="0" name="对象 2765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1" y="844"/>
                          <a:ext cx="68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86" name="对象 27657"/>
            <p:cNvGraphicFramePr/>
            <p:nvPr/>
          </p:nvGraphicFramePr>
          <p:xfrm>
            <a:off x="3560" y="1388"/>
            <a:ext cx="680" cy="489"/>
          </p:xfrm>
          <a:graphic>
            <a:graphicData uri="http://schemas.openxmlformats.org/presentationml/2006/ole">
              <mc:AlternateContent xmlns:mc="http://schemas.openxmlformats.org/markup-compatibility/2006">
                <mc:Choice xmlns:v="urn:schemas-microsoft-com:vml" Requires="v">
                  <p:oleObj spid="_x0000_s93206" r:id="rId10" imgW="546100" imgH="393700" progId="Equation.DSMT4">
                    <p:embed/>
                  </p:oleObj>
                </mc:Choice>
                <mc:Fallback>
                  <p:oleObj r:id="rId10" imgW="546100" imgH="393700" progId="Equation.DSMT4">
                    <p:embed/>
                    <p:pic>
                      <p:nvPicPr>
                        <p:cNvPr id="0" name="对象 2765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0" y="1388"/>
                          <a:ext cx="68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87" name="矩形 27658"/>
            <p:cNvSpPr>
              <a:spLocks noChangeArrowheads="1"/>
            </p:cNvSpPr>
            <p:nvPr/>
          </p:nvSpPr>
          <p:spPr bwMode="auto">
            <a:xfrm>
              <a:off x="3470" y="799"/>
              <a:ext cx="862" cy="1134"/>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7660" name="直接连接符 27659"/>
          <p:cNvSpPr>
            <a:spLocks noChangeShapeType="1"/>
          </p:cNvSpPr>
          <p:nvPr/>
        </p:nvSpPr>
        <p:spPr bwMode="auto">
          <a:xfrm flipH="1">
            <a:off x="5003800" y="2133600"/>
            <a:ext cx="506413" cy="358775"/>
          </a:xfrm>
          <a:prstGeom prst="line">
            <a:avLst/>
          </a:prstGeom>
          <a:noFill/>
          <a:ln w="63500">
            <a:solidFill>
              <a:srgbClr val="00808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661" name="对象 27660"/>
          <p:cNvGraphicFramePr/>
          <p:nvPr/>
        </p:nvGraphicFramePr>
        <p:xfrm>
          <a:off x="3059113" y="3141663"/>
          <a:ext cx="1692275" cy="534987"/>
        </p:xfrm>
        <a:graphic>
          <a:graphicData uri="http://schemas.openxmlformats.org/presentationml/2006/ole">
            <mc:AlternateContent xmlns:mc="http://schemas.openxmlformats.org/markup-compatibility/2006">
              <mc:Choice xmlns:v="urn:schemas-microsoft-com:vml" Requires="v">
                <p:oleObj spid="_x0000_s93207" r:id="rId12" imgW="748665" imgH="241300" progId="Equation.DSMT4">
                  <p:embed/>
                </p:oleObj>
              </mc:Choice>
              <mc:Fallback>
                <p:oleObj r:id="rId12" imgW="748665" imgH="241300" progId="Equation.DSMT4">
                  <p:embed/>
                  <p:pic>
                    <p:nvPicPr>
                      <p:cNvPr id="0" name="对象 2766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59113" y="3141663"/>
                        <a:ext cx="16922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63" name="矩形 27662"/>
          <p:cNvSpPr>
            <a:spLocks noChangeArrowheads="1"/>
          </p:cNvSpPr>
          <p:nvPr/>
        </p:nvSpPr>
        <p:spPr bwMode="auto">
          <a:xfrm>
            <a:off x="2544073" y="3756026"/>
            <a:ext cx="3370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latin typeface="Times New Roman" panose="02020603050405020304" pitchFamily="18" charset="0"/>
                <a:ea typeface="黑体" panose="02010609060101010101" pitchFamily="49" charset="-122"/>
                <a:cs typeface="Times New Roman" panose="02020603050405020304" pitchFamily="18" charset="0"/>
              </a:rPr>
              <a:t>迈耶公式（</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Mayer’s Formula</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 </a:t>
            </a:r>
          </a:p>
        </p:txBody>
      </p:sp>
      <p:grpSp>
        <p:nvGrpSpPr>
          <p:cNvPr id="27665" name="组合 27664"/>
          <p:cNvGrpSpPr/>
          <p:nvPr/>
        </p:nvGrpSpPr>
        <p:grpSpPr bwMode="auto">
          <a:xfrm>
            <a:off x="611188" y="1268413"/>
            <a:ext cx="1722438" cy="2703513"/>
            <a:chOff x="480" y="960"/>
            <a:chExt cx="1085" cy="1703"/>
          </a:xfrm>
        </p:grpSpPr>
        <p:pic>
          <p:nvPicPr>
            <p:cNvPr id="58383" name="图片 27665" descr="Julius Robert Maye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 y="960"/>
              <a:ext cx="1064"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4" name="文本框 27666"/>
            <p:cNvSpPr txBox="1">
              <a:spLocks noChangeArrowheads="1"/>
            </p:cNvSpPr>
            <p:nvPr/>
          </p:nvSpPr>
          <p:spPr bwMode="auto">
            <a:xfrm>
              <a:off x="528" y="2256"/>
              <a:ext cx="103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cs typeface="Times New Roman" panose="02020603050405020304" pitchFamily="18" charset="0"/>
                </a:rPr>
                <a:t>Julius Mayer</a:t>
              </a:r>
            </a:p>
            <a:p>
              <a:pPr eaLnBrk="1" hangingPunct="1"/>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1814-1878</a:t>
              </a:r>
              <a:r>
                <a:rPr lang="zh-CN" altLang="en-US" dirty="0">
                  <a:latin typeface="Times New Roman" panose="02020603050405020304" pitchFamily="18" charset="0"/>
                  <a:cs typeface="Times New Roman" panose="02020603050405020304" pitchFamily="18" charset="0"/>
                </a:rPr>
                <a:t>）</a:t>
              </a:r>
            </a:p>
          </p:txBody>
        </p:sp>
      </p:grpSp>
      <p:sp>
        <p:nvSpPr>
          <p:cNvPr id="27669" name="文本框 27668"/>
          <p:cNvSpPr txBox="1">
            <a:spLocks noChangeArrowheads="1"/>
          </p:cNvSpPr>
          <p:nvPr/>
        </p:nvSpPr>
        <p:spPr bwMode="auto">
          <a:xfrm>
            <a:off x="609600" y="4495800"/>
            <a:ext cx="83091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1</a:t>
            </a:r>
            <a:r>
              <a:rPr lang="zh-CN" altLang="en-US" sz="2400" b="1" dirty="0" smtClean="0">
                <a:latin typeface="Times New Roman" panose="02020603050405020304" pitchFamily="18" charset="0"/>
              </a:rPr>
              <a:t>、</a:t>
            </a:r>
            <a:r>
              <a:rPr lang="zh-CN" altLang="en-US" sz="2400" b="1" dirty="0" smtClean="0">
                <a:latin typeface="黑体" panose="02010609060101010101" pitchFamily="49" charset="-122"/>
                <a:ea typeface="黑体" panose="02010609060101010101" pitchFamily="49" charset="-122"/>
              </a:rPr>
              <a:t>理想气体</a:t>
            </a:r>
            <a:r>
              <a:rPr lang="zh-CN" altLang="en-US" sz="2400" b="1" dirty="0">
                <a:latin typeface="黑体" panose="02010609060101010101" pitchFamily="49" charset="-122"/>
                <a:ea typeface="黑体" panose="02010609060101010101" pitchFamily="49" charset="-122"/>
              </a:rPr>
              <a:t>的</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p</a:t>
            </a:r>
            <a:r>
              <a:rPr lang="zh-CN" altLang="en-US" sz="2400" b="1" dirty="0">
                <a:latin typeface="黑体" panose="02010609060101010101" pitchFamily="49" charset="-122"/>
                <a:ea typeface="黑体" panose="02010609060101010101" pitchFamily="49" charset="-122"/>
              </a:rPr>
              <a:t>与</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V</a:t>
            </a:r>
            <a:r>
              <a:rPr lang="zh-CN" altLang="en-US" sz="2400" b="1" dirty="0">
                <a:latin typeface="黑体" panose="02010609060101010101" pitchFamily="49" charset="-122"/>
                <a:ea typeface="黑体" panose="02010609060101010101" pitchFamily="49" charset="-122"/>
              </a:rPr>
              <a:t>均为温度</a:t>
            </a:r>
            <a:r>
              <a:rPr lang="zh-CN" altLang="en-US" sz="2400" b="1" dirty="0" smtClean="0">
                <a:latin typeface="黑体" panose="02010609060101010101" pitchFamily="49" charset="-122"/>
                <a:ea typeface="黑体" panose="02010609060101010101" pitchFamily="49" charset="-122"/>
              </a:rPr>
              <a:t>函数，但</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p</a:t>
            </a:r>
            <a:r>
              <a:rPr lang="en-US" altLang="zh-CN" sz="2400" b="1" i="1" dirty="0">
                <a:latin typeface="Times New Roman" panose="02020603050405020304" pitchFamily="18" charset="0"/>
              </a:rPr>
              <a:t>–</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V</a:t>
            </a:r>
            <a:r>
              <a:rPr lang="zh-CN" altLang="en-US" sz="2400" b="1" dirty="0">
                <a:latin typeface="黑体" panose="02010609060101010101" pitchFamily="49" charset="-122"/>
                <a:ea typeface="黑体" panose="02010609060101010101" pitchFamily="49" charset="-122"/>
              </a:rPr>
              <a:t>恒为常数：</a:t>
            </a:r>
            <a:r>
              <a:rPr lang="en-US" altLang="zh-CN" sz="2400" b="1" i="1" dirty="0" err="1">
                <a:latin typeface="Times New Roman" panose="02020603050405020304" pitchFamily="18" charset="0"/>
              </a:rPr>
              <a:t>R</a:t>
            </a:r>
            <a:r>
              <a:rPr lang="en-US" altLang="zh-CN" sz="2400" b="1" baseline="-25000" dirty="0" err="1">
                <a:latin typeface="Times New Roman" panose="02020603050405020304" pitchFamily="18" charset="0"/>
              </a:rPr>
              <a:t>g</a:t>
            </a:r>
            <a:endParaRPr lang="en-US" altLang="zh-CN" sz="2400" b="1" dirty="0">
              <a:latin typeface="Times New Roman" panose="02020603050405020304" pitchFamily="18" charset="0"/>
            </a:endParaRPr>
          </a:p>
        </p:txBody>
      </p:sp>
      <p:sp>
        <p:nvSpPr>
          <p:cNvPr id="27670" name="文本框 27669"/>
          <p:cNvSpPr txBox="1">
            <a:spLocks noChangeArrowheads="1"/>
          </p:cNvSpPr>
          <p:nvPr/>
        </p:nvSpPr>
        <p:spPr bwMode="auto">
          <a:xfrm>
            <a:off x="609600" y="5181600"/>
            <a:ext cx="4325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2</a:t>
            </a:r>
            <a:r>
              <a:rPr lang="zh-CN" altLang="en-US" sz="2400" b="1" dirty="0" smtClean="0">
                <a:latin typeface="Times New Roman" panose="02020603050405020304" pitchFamily="18" charset="0"/>
              </a:rPr>
              <a:t>、</a:t>
            </a:r>
            <a:r>
              <a:rPr lang="zh-CN" altLang="en-US" sz="2400" b="1" dirty="0">
                <a:latin typeface="黑体" panose="02010609060101010101" pitchFamily="49" charset="-122"/>
                <a:ea typeface="黑体" panose="02010609060101010101" pitchFamily="49" charset="-122"/>
              </a:rPr>
              <a:t>理想气体的</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p</a:t>
            </a:r>
            <a:r>
              <a:rPr lang="zh-CN" altLang="en-US" sz="2400" b="1" dirty="0">
                <a:latin typeface="黑体" panose="02010609060101010101" pitchFamily="49" charset="-122"/>
                <a:ea typeface="黑体" panose="02010609060101010101" pitchFamily="49" charset="-122"/>
              </a:rPr>
              <a:t>恒大于</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V</a:t>
            </a:r>
            <a:endParaRPr lang="en-US" altLang="zh-CN" sz="2400" b="1" i="1" dirty="0">
              <a:latin typeface="Times New Roman" panose="02020603050405020304" pitchFamily="18" charset="0"/>
            </a:endParaRPr>
          </a:p>
        </p:txBody>
      </p:sp>
      <p:grpSp>
        <p:nvGrpSpPr>
          <p:cNvPr id="27674" name="组合 27673"/>
          <p:cNvGrpSpPr/>
          <p:nvPr/>
        </p:nvGrpSpPr>
        <p:grpSpPr bwMode="auto">
          <a:xfrm>
            <a:off x="1403350" y="5661025"/>
            <a:ext cx="5340350" cy="879475"/>
            <a:chOff x="884" y="3566"/>
            <a:chExt cx="3364" cy="554"/>
          </a:xfrm>
        </p:grpSpPr>
        <p:sp>
          <p:nvSpPr>
            <p:cNvPr id="58381" name="矩形 27671"/>
            <p:cNvSpPr>
              <a:spLocks noChangeArrowheads="1"/>
            </p:cNvSpPr>
            <p:nvPr/>
          </p:nvSpPr>
          <p:spPr bwMode="auto">
            <a:xfrm>
              <a:off x="884" y="3793"/>
              <a:ext cx="33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黑体" panose="02010609060101010101" pitchFamily="49" charset="-122"/>
                  <a:ea typeface="黑体" panose="02010609060101010101" pitchFamily="49" charset="-122"/>
                </a:rPr>
                <a:t>如何从能量守恒的观点来解释？ </a:t>
              </a:r>
            </a:p>
          </p:txBody>
        </p:sp>
        <p:sp>
          <p:nvSpPr>
            <p:cNvPr id="58382" name="直接连接符 27672"/>
            <p:cNvSpPr>
              <a:spLocks noChangeShapeType="1"/>
            </p:cNvSpPr>
            <p:nvPr/>
          </p:nvSpPr>
          <p:spPr bwMode="auto">
            <a:xfrm>
              <a:off x="2245" y="3566"/>
              <a:ext cx="317" cy="226"/>
            </a:xfrm>
            <a:prstGeom prst="line">
              <a:avLst/>
            </a:prstGeom>
            <a:noFill/>
            <a:ln w="63500">
              <a:solidFill>
                <a:srgbClr val="00808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blinds(horizontal)">
                                      <p:cBhvr>
                                        <p:cTn id="7" dur="500"/>
                                        <p:tgtEl>
                                          <p:spTgt spid="276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71"/>
                                        </p:tgtEl>
                                        <p:attrNameLst>
                                          <p:attrName>style.visibility</p:attrName>
                                        </p:attrNameLst>
                                      </p:cBhvr>
                                      <p:to>
                                        <p:strVal val="visible"/>
                                      </p:to>
                                    </p:set>
                                    <p:animEffect transition="in" filter="blinds(horizontal)">
                                      <p:cBhvr>
                                        <p:cTn id="12" dur="500"/>
                                        <p:tgtEl>
                                          <p:spTgt spid="276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7660"/>
                                        </p:tgtEl>
                                        <p:attrNameLst>
                                          <p:attrName>style.visibility</p:attrName>
                                        </p:attrNameLst>
                                      </p:cBhvr>
                                      <p:to>
                                        <p:strVal val="visible"/>
                                      </p:to>
                                    </p:set>
                                    <p:animEffect transition="in" filter="wipe(right)">
                                      <p:cBhvr>
                                        <p:cTn id="17" dur="500"/>
                                        <p:tgtEl>
                                          <p:spTgt spid="2766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661"/>
                                        </p:tgtEl>
                                        <p:attrNameLst>
                                          <p:attrName>style.visibility</p:attrName>
                                        </p:attrNameLst>
                                      </p:cBhvr>
                                      <p:to>
                                        <p:strVal val="visible"/>
                                      </p:to>
                                    </p:set>
                                    <p:animEffect transition="in" filter="blinds(horizontal)">
                                      <p:cBhvr>
                                        <p:cTn id="22" dur="500"/>
                                        <p:tgtEl>
                                          <p:spTgt spid="2766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663"/>
                                        </p:tgtEl>
                                        <p:attrNameLst>
                                          <p:attrName>style.visibility</p:attrName>
                                        </p:attrNameLst>
                                      </p:cBhvr>
                                      <p:to>
                                        <p:strVal val="visible"/>
                                      </p:to>
                                    </p:set>
                                    <p:animEffect transition="in" filter="blinds(horizontal)">
                                      <p:cBhvr>
                                        <p:cTn id="27" dur="500"/>
                                        <p:tgtEl>
                                          <p:spTgt spid="2766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665"/>
                                        </p:tgtEl>
                                        <p:attrNameLst>
                                          <p:attrName>style.visibility</p:attrName>
                                        </p:attrNameLst>
                                      </p:cBhvr>
                                      <p:to>
                                        <p:strVal val="visible"/>
                                      </p:to>
                                    </p:set>
                                    <p:animEffect transition="in" filter="blinds(horizontal)">
                                      <p:cBhvr>
                                        <p:cTn id="32" dur="500"/>
                                        <p:tgtEl>
                                          <p:spTgt spid="2766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669"/>
                                        </p:tgtEl>
                                        <p:attrNameLst>
                                          <p:attrName>style.visibility</p:attrName>
                                        </p:attrNameLst>
                                      </p:cBhvr>
                                      <p:to>
                                        <p:strVal val="visible"/>
                                      </p:to>
                                    </p:set>
                                    <p:animEffect transition="in" filter="blinds(horizontal)">
                                      <p:cBhvr>
                                        <p:cTn id="37" dur="500"/>
                                        <p:tgtEl>
                                          <p:spTgt spid="2766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670"/>
                                        </p:tgtEl>
                                        <p:attrNameLst>
                                          <p:attrName>style.visibility</p:attrName>
                                        </p:attrNameLst>
                                      </p:cBhvr>
                                      <p:to>
                                        <p:strVal val="visible"/>
                                      </p:to>
                                    </p:set>
                                    <p:animEffect transition="in" filter="blinds(horizontal)">
                                      <p:cBhvr>
                                        <p:cTn id="42" dur="500"/>
                                        <p:tgtEl>
                                          <p:spTgt spid="2767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7674"/>
                                        </p:tgtEl>
                                        <p:attrNameLst>
                                          <p:attrName>style.visibility</p:attrName>
                                        </p:attrNameLst>
                                      </p:cBhvr>
                                      <p:to>
                                        <p:strVal val="visible"/>
                                      </p:to>
                                    </p:set>
                                    <p:animEffect transition="in" filter="wipe(up)">
                                      <p:cBhvr>
                                        <p:cTn id="47" dur="500"/>
                                        <p:tgtEl>
                                          <p:spTgt spid="27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3" grpId="0"/>
      <p:bldP spid="27669" grpId="0"/>
      <p:bldP spid="2767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1" name="矩形 28680"/>
          <p:cNvSpPr>
            <a:spLocks noChangeArrowheads="1"/>
          </p:cNvSpPr>
          <p:nvPr/>
        </p:nvSpPr>
        <p:spPr bwMode="auto">
          <a:xfrm>
            <a:off x="395288" y="3716338"/>
            <a:ext cx="85328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定容加热时，吸收的热量</a:t>
            </a:r>
            <a:r>
              <a:rPr lang="zh-CN" altLang="en-US" sz="2800" b="1">
                <a:solidFill>
                  <a:srgbClr val="FF0000"/>
                </a:solidFill>
                <a:latin typeface="黑体" panose="02010609060101010101" pitchFamily="49" charset="-122"/>
                <a:ea typeface="黑体" panose="02010609060101010101" pitchFamily="49" charset="-122"/>
              </a:rPr>
              <a:t>全部</a:t>
            </a:r>
            <a:r>
              <a:rPr lang="zh-CN" altLang="en-US" sz="2800" b="1">
                <a:latin typeface="黑体" panose="02010609060101010101" pitchFamily="49" charset="-122"/>
                <a:ea typeface="黑体" panose="02010609060101010101" pitchFamily="49" charset="-122"/>
              </a:rPr>
              <a:t>用于使气体温度升高；</a:t>
            </a:r>
          </a:p>
        </p:txBody>
      </p:sp>
      <p:sp>
        <p:nvSpPr>
          <p:cNvPr id="28682" name="矩形 28681"/>
          <p:cNvSpPr>
            <a:spLocks noChangeArrowheads="1"/>
          </p:cNvSpPr>
          <p:nvPr/>
        </p:nvSpPr>
        <p:spPr bwMode="auto">
          <a:xfrm>
            <a:off x="392209" y="4515273"/>
            <a:ext cx="8064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定压加热时，吸收的热量中有</a:t>
            </a:r>
            <a:r>
              <a:rPr lang="zh-CN" altLang="en-US" sz="2800" b="1" dirty="0">
                <a:solidFill>
                  <a:srgbClr val="FF0000"/>
                </a:solidFill>
                <a:latin typeface="黑体" panose="02010609060101010101" pitchFamily="49" charset="-122"/>
                <a:ea typeface="黑体" panose="02010609060101010101" pitchFamily="49" charset="-122"/>
              </a:rPr>
              <a:t>一部分</a:t>
            </a:r>
            <a:r>
              <a:rPr lang="zh-CN" altLang="en-US" sz="2800" b="1" dirty="0">
                <a:latin typeface="黑体" panose="02010609060101010101" pitchFamily="49" charset="-122"/>
                <a:ea typeface="黑体" panose="02010609060101010101" pitchFamily="49" charset="-122"/>
              </a:rPr>
              <a:t>用于转换为膨胀功，</a:t>
            </a:r>
            <a:r>
              <a:rPr lang="zh-CN" altLang="en-US" sz="2800" b="1" dirty="0">
                <a:solidFill>
                  <a:srgbClr val="FF0000"/>
                </a:solidFill>
                <a:latin typeface="黑体" panose="02010609060101010101" pitchFamily="49" charset="-122"/>
                <a:ea typeface="黑体" panose="02010609060101010101" pitchFamily="49" charset="-122"/>
              </a:rPr>
              <a:t>其余部分</a:t>
            </a:r>
            <a:r>
              <a:rPr lang="zh-CN" altLang="en-US" sz="2800" b="1" dirty="0">
                <a:latin typeface="黑体" panose="02010609060101010101" pitchFamily="49" charset="-122"/>
                <a:ea typeface="黑体" panose="02010609060101010101" pitchFamily="49" charset="-122"/>
              </a:rPr>
              <a:t>才被用于使气体温度升高，因此升高同样的温度，定压加热所需要的热量更多。 </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825" y="333375"/>
            <a:ext cx="3743268" cy="319458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81"/>
                                        </p:tgtEl>
                                        <p:attrNameLst>
                                          <p:attrName>style.visibility</p:attrName>
                                        </p:attrNameLst>
                                      </p:cBhvr>
                                      <p:to>
                                        <p:strVal val="visible"/>
                                      </p:to>
                                    </p:set>
                                    <p:animEffect transition="in" filter="blinds(horizontal)">
                                      <p:cBhvr>
                                        <p:cTn id="7" dur="500"/>
                                        <p:tgtEl>
                                          <p:spTgt spid="286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82"/>
                                        </p:tgtEl>
                                        <p:attrNameLst>
                                          <p:attrName>style.visibility</p:attrName>
                                        </p:attrNameLst>
                                      </p:cBhvr>
                                      <p:to>
                                        <p:strVal val="visible"/>
                                      </p:to>
                                    </p:set>
                                    <p:animEffect transition="in" filter="blinds(horizontal)">
                                      <p:cBhvr>
                                        <p:cTn id="12" dur="500"/>
                                        <p:tgtEl>
                                          <p:spTgt spid="28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1" grpId="0"/>
      <p:bldP spid="2868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文本框 29699"/>
          <p:cNvSpPr txBox="1">
            <a:spLocks noChangeArrowheads="1"/>
          </p:cNvSpPr>
          <p:nvPr/>
        </p:nvSpPr>
        <p:spPr bwMode="auto">
          <a:xfrm>
            <a:off x="395288" y="1027113"/>
            <a:ext cx="906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3</a:t>
            </a:r>
            <a:r>
              <a:rPr lang="zh-CN" altLang="en-US" sz="2400" b="1" dirty="0" smtClean="0">
                <a:latin typeface="Times New Roman" panose="02020603050405020304" pitchFamily="18" charset="0"/>
              </a:rPr>
              <a:t>、</a:t>
            </a:r>
            <a:r>
              <a:rPr lang="en-US" altLang="zh-CN" sz="2400" b="1" i="1" dirty="0" err="1" smtClean="0">
                <a:latin typeface="Times New Roman" panose="02020603050405020304" pitchFamily="18" charset="0"/>
              </a:rPr>
              <a:t>c</a:t>
            </a:r>
            <a:r>
              <a:rPr lang="en-US" altLang="zh-CN" sz="2400" b="1" i="1" baseline="-25000" dirty="0" err="1" smtClean="0">
                <a:latin typeface="Times New Roman" panose="02020603050405020304" pitchFamily="18" charset="0"/>
              </a:rPr>
              <a:t>V</a:t>
            </a:r>
            <a:r>
              <a:rPr lang="zh-CN" altLang="en-US" sz="2400" b="1" dirty="0">
                <a:latin typeface="黑体" panose="02010609060101010101" pitchFamily="49" charset="-122"/>
                <a:ea typeface="黑体" panose="02010609060101010101" pitchFamily="49" charset="-122"/>
              </a:rPr>
              <a:t>不容易测准，通常实验测定</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p</a:t>
            </a:r>
            <a:r>
              <a:rPr lang="zh-CN" altLang="en-US" sz="2400" b="1" dirty="0">
                <a:latin typeface="黑体" panose="02010609060101010101" pitchFamily="49" charset="-122"/>
                <a:ea typeface="黑体" panose="02010609060101010101" pitchFamily="49" charset="-122"/>
              </a:rPr>
              <a:t>，再根据迈耶公式确定</a:t>
            </a:r>
            <a:r>
              <a:rPr lang="en-US" altLang="zh-CN" sz="2400" b="1" i="1" dirty="0" err="1">
                <a:latin typeface="Times New Roman" panose="02020603050405020304" pitchFamily="18" charset="0"/>
              </a:rPr>
              <a:t>c</a:t>
            </a:r>
            <a:r>
              <a:rPr lang="en-US" altLang="zh-CN" sz="2400" b="1" i="1" baseline="-25000" dirty="0" err="1">
                <a:latin typeface="Times New Roman" panose="02020603050405020304" pitchFamily="18" charset="0"/>
              </a:rPr>
              <a:t>V</a:t>
            </a:r>
            <a:endParaRPr lang="en-US" altLang="zh-CN" sz="2400" b="1" i="1" baseline="-25000" dirty="0">
              <a:latin typeface="Times New Roman" panose="02020603050405020304" pitchFamily="18" charset="0"/>
            </a:endParaRPr>
          </a:p>
        </p:txBody>
      </p:sp>
      <p:graphicFrame>
        <p:nvGraphicFramePr>
          <p:cNvPr id="60419" name="对象 29700"/>
          <p:cNvGraphicFramePr/>
          <p:nvPr/>
        </p:nvGraphicFramePr>
        <p:xfrm>
          <a:off x="3563938" y="373063"/>
          <a:ext cx="1692275" cy="534987"/>
        </p:xfrm>
        <a:graphic>
          <a:graphicData uri="http://schemas.openxmlformats.org/presentationml/2006/ole">
            <mc:AlternateContent xmlns:mc="http://schemas.openxmlformats.org/markup-compatibility/2006">
              <mc:Choice xmlns:v="urn:schemas-microsoft-com:vml" Requires="v">
                <p:oleObj spid="_x0000_s94227" r:id="rId4" imgW="748665" imgH="241300" progId="Equation.DSMT4">
                  <p:embed/>
                </p:oleObj>
              </mc:Choice>
              <mc:Fallback>
                <p:oleObj r:id="rId4" imgW="748665" imgH="241300" progId="Equation.DSMT4">
                  <p:embed/>
                  <p:pic>
                    <p:nvPicPr>
                      <p:cNvPr id="0" name="对象 2970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373063"/>
                        <a:ext cx="16922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02" name="文本框 29701"/>
          <p:cNvSpPr txBox="1">
            <a:spLocks noChangeArrowheads="1"/>
          </p:cNvSpPr>
          <p:nvPr/>
        </p:nvSpPr>
        <p:spPr bwMode="auto">
          <a:xfrm>
            <a:off x="434604" y="2464594"/>
            <a:ext cx="5472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4</a:t>
            </a:r>
            <a:r>
              <a:rPr lang="zh-CN" altLang="en-US" sz="2400" b="1" dirty="0">
                <a:latin typeface="Times New Roman" panose="02020603050405020304" pitchFamily="18" charset="0"/>
              </a:rPr>
              <a:t>、</a:t>
            </a:r>
            <a:endParaRPr lang="en-US" altLang="zh-CN" sz="2400" b="1" i="1" baseline="-25000" dirty="0">
              <a:latin typeface="Times New Roman" panose="02020603050405020304" pitchFamily="18" charset="0"/>
            </a:endParaRPr>
          </a:p>
        </p:txBody>
      </p:sp>
      <p:sp>
        <p:nvSpPr>
          <p:cNvPr id="60421" name="矩形 29703"/>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03" name="对象 29702"/>
          <p:cNvGraphicFramePr/>
          <p:nvPr/>
        </p:nvGraphicFramePr>
        <p:xfrm>
          <a:off x="1106172" y="3284538"/>
          <a:ext cx="2160588" cy="504825"/>
        </p:xfrm>
        <a:graphic>
          <a:graphicData uri="http://schemas.openxmlformats.org/presentationml/2006/ole">
            <mc:AlternateContent xmlns:mc="http://schemas.openxmlformats.org/markup-compatibility/2006">
              <mc:Choice xmlns:v="urn:schemas-microsoft-com:vml" Requires="v">
                <p:oleObj spid="_x0000_s94228" r:id="rId6" imgW="1016000" imgH="241300" progId="Equation.DSMT4">
                  <p:embed/>
                </p:oleObj>
              </mc:Choice>
              <mc:Fallback>
                <p:oleObj r:id="rId6" imgW="1016000" imgH="241300" progId="Equation.DSMT4">
                  <p:embed/>
                  <p:pic>
                    <p:nvPicPr>
                      <p:cNvPr id="0" name="对象 2970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6172" y="3284538"/>
                        <a:ext cx="21605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05" name="对象 29704"/>
          <p:cNvGraphicFramePr/>
          <p:nvPr/>
        </p:nvGraphicFramePr>
        <p:xfrm>
          <a:off x="1322072" y="1989138"/>
          <a:ext cx="1692275" cy="534987"/>
        </p:xfrm>
        <a:graphic>
          <a:graphicData uri="http://schemas.openxmlformats.org/presentationml/2006/ole">
            <mc:AlternateContent xmlns:mc="http://schemas.openxmlformats.org/markup-compatibility/2006">
              <mc:Choice xmlns:v="urn:schemas-microsoft-com:vml" Requires="v">
                <p:oleObj spid="_x0000_s94229" r:id="rId8" imgW="748665" imgH="241300" progId="Equation.DSMT4">
                  <p:embed/>
                </p:oleObj>
              </mc:Choice>
              <mc:Fallback>
                <p:oleObj r:id="rId8" imgW="748665" imgH="241300" progId="Equation.DSMT4">
                  <p:embed/>
                  <p:pic>
                    <p:nvPicPr>
                      <p:cNvPr id="0" name="对象 2970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2072" y="1989138"/>
                        <a:ext cx="16922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06" name="下箭头 29705"/>
          <p:cNvSpPr>
            <a:spLocks noChangeArrowheads="1"/>
          </p:cNvSpPr>
          <p:nvPr/>
        </p:nvSpPr>
        <p:spPr bwMode="auto">
          <a:xfrm>
            <a:off x="2114235" y="2565400"/>
            <a:ext cx="144462" cy="647700"/>
          </a:xfrm>
          <a:prstGeom prst="downArrow">
            <a:avLst>
              <a:gd name="adj1" fmla="val 50000"/>
              <a:gd name="adj2" fmla="val 112047"/>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7" name="矩形 29706"/>
          <p:cNvSpPr>
            <a:spLocks noChangeArrowheads="1"/>
          </p:cNvSpPr>
          <p:nvPr/>
        </p:nvSpPr>
        <p:spPr bwMode="auto">
          <a:xfrm>
            <a:off x="2187260" y="2636838"/>
            <a:ext cx="2293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黑体" panose="02010609060101010101" pitchFamily="49" charset="-122"/>
                <a:ea typeface="黑体" panose="02010609060101010101" pitchFamily="49" charset="-122"/>
              </a:rPr>
              <a:t>乘以摩尔质量</a:t>
            </a:r>
            <a:r>
              <a:rPr lang="en-US" altLang="zh-CN" sz="2400" b="1" i="1" dirty="0">
                <a:latin typeface="Times New Roman" panose="02020603050405020304" pitchFamily="18" charset="0"/>
                <a:ea typeface="楷体_GB2312" pitchFamily="49" charset="-122"/>
              </a:rPr>
              <a:t>M</a:t>
            </a:r>
          </a:p>
        </p:txBody>
      </p:sp>
      <p:sp>
        <p:nvSpPr>
          <p:cNvPr id="60426" name="矩形 2970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08" name="对象 29707"/>
          <p:cNvGraphicFramePr/>
          <p:nvPr/>
        </p:nvGraphicFramePr>
        <p:xfrm>
          <a:off x="1107760" y="3963988"/>
          <a:ext cx="2519362" cy="473075"/>
        </p:xfrm>
        <a:graphic>
          <a:graphicData uri="http://schemas.openxmlformats.org/presentationml/2006/ole">
            <mc:AlternateContent xmlns:mc="http://schemas.openxmlformats.org/markup-compatibility/2006">
              <mc:Choice xmlns:v="urn:schemas-microsoft-com:vml" Requires="v">
                <p:oleObj spid="_x0000_s94230" r:id="rId9" imgW="1371600" imgH="254000" progId="Equation.DSMT4">
                  <p:embed/>
                </p:oleObj>
              </mc:Choice>
              <mc:Fallback>
                <p:oleObj r:id="rId9" imgW="1371600" imgH="254000" progId="Equation.DSMT4">
                  <p:embed/>
                  <p:pic>
                    <p:nvPicPr>
                      <p:cNvPr id="0" name="对象 2970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7760" y="3963988"/>
                        <a:ext cx="251936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10" name="矩形 29709"/>
          <p:cNvSpPr>
            <a:spLocks noChangeArrowheads="1"/>
          </p:cNvSpPr>
          <p:nvPr/>
        </p:nvSpPr>
        <p:spPr bwMode="auto">
          <a:xfrm>
            <a:off x="968586" y="1989138"/>
            <a:ext cx="3738035" cy="2519362"/>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11" name="对象 29710"/>
          <p:cNvGraphicFramePr/>
          <p:nvPr/>
        </p:nvGraphicFramePr>
        <p:xfrm>
          <a:off x="2252663" y="5229225"/>
          <a:ext cx="2551112" cy="1109663"/>
        </p:xfrm>
        <a:graphic>
          <a:graphicData uri="http://schemas.openxmlformats.org/presentationml/2006/ole">
            <mc:AlternateContent xmlns:mc="http://schemas.openxmlformats.org/markup-compatibility/2006">
              <mc:Choice xmlns:v="urn:schemas-microsoft-com:vml" Requires="v">
                <p:oleObj spid="_x0000_s94231" r:id="rId11" imgW="1116965" imgH="482600" progId="Equation.DSMT4">
                  <p:embed/>
                </p:oleObj>
              </mc:Choice>
              <mc:Fallback>
                <p:oleObj r:id="rId11" imgW="1116965" imgH="482600" progId="Equation.DSMT4">
                  <p:embed/>
                  <p:pic>
                    <p:nvPicPr>
                      <p:cNvPr id="0" name="对象 2971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52663" y="5229225"/>
                        <a:ext cx="2551112"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13" name="文本框 29712"/>
          <p:cNvSpPr txBox="1">
            <a:spLocks noChangeArrowheads="1"/>
          </p:cNvSpPr>
          <p:nvPr/>
        </p:nvSpPr>
        <p:spPr bwMode="auto">
          <a:xfrm>
            <a:off x="468313" y="5013325"/>
            <a:ext cx="5472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5</a:t>
            </a:r>
            <a:r>
              <a:rPr lang="zh-CN" altLang="en-US" sz="2400" b="1" dirty="0">
                <a:latin typeface="Times New Roman" panose="02020603050405020304" pitchFamily="18" charset="0"/>
              </a:rPr>
              <a:t>、</a:t>
            </a:r>
            <a:r>
              <a:rPr lang="zh-CN" altLang="en-US" sz="2400" b="1" dirty="0">
                <a:latin typeface="黑体" panose="02010609060101010101" pitchFamily="49" charset="-122"/>
                <a:ea typeface="黑体" panose="02010609060101010101" pitchFamily="49" charset="-122"/>
              </a:rPr>
              <a:t>比热容比</a:t>
            </a:r>
            <a:endParaRPr lang="en-US" altLang="zh-CN" sz="2400" b="1" dirty="0">
              <a:latin typeface="黑体" panose="02010609060101010101" pitchFamily="49" charset="-122"/>
              <a:ea typeface="黑体" panose="02010609060101010101" pitchFamily="49" charset="-122"/>
            </a:endParaRPr>
          </a:p>
        </p:txBody>
      </p:sp>
      <p:sp>
        <p:nvSpPr>
          <p:cNvPr id="29714" name="矩形 29713"/>
          <p:cNvSpPr>
            <a:spLocks noChangeArrowheads="1"/>
          </p:cNvSpPr>
          <p:nvPr/>
        </p:nvSpPr>
        <p:spPr bwMode="auto">
          <a:xfrm>
            <a:off x="5148263" y="4483567"/>
            <a:ext cx="36718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比热容比是温度的单值函数</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，但随温度变化的幅度很小：对于单原子气体，恒</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1.67</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；对于多原子分子，室温附近约为</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1.4</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0433" name="矩形 29714"/>
          <p:cNvSpPr>
            <a:spLocks noChangeArrowheads="1"/>
          </p:cNvSpPr>
          <p:nvPr/>
        </p:nvSpPr>
        <p:spPr bwMode="auto">
          <a:xfrm>
            <a:off x="3419475" y="260350"/>
            <a:ext cx="1944688" cy="64770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blinds(horizontal)">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blinds(horizontal)">
                                      <p:cBhvr>
                                        <p:cTn id="12" dur="500"/>
                                        <p:tgtEl>
                                          <p:spTgt spid="29703"/>
                                        </p:tgtEl>
                                      </p:cBhvr>
                                    </p:animEffect>
                                  </p:childTnLst>
                                </p:cTn>
                              </p:par>
                              <p:par>
                                <p:cTn id="13" presetID="3" presetClass="entr" presetSubtype="10" fill="hold" nodeType="withEffect">
                                  <p:stCondLst>
                                    <p:cond delay="0"/>
                                  </p:stCondLst>
                                  <p:childTnLst>
                                    <p:set>
                                      <p:cBhvr>
                                        <p:cTn id="14" dur="1" fill="hold">
                                          <p:stCondLst>
                                            <p:cond delay="0"/>
                                          </p:stCondLst>
                                        </p:cTn>
                                        <p:tgtEl>
                                          <p:spTgt spid="29705"/>
                                        </p:tgtEl>
                                        <p:attrNameLst>
                                          <p:attrName>style.visibility</p:attrName>
                                        </p:attrNameLst>
                                      </p:cBhvr>
                                      <p:to>
                                        <p:strVal val="visible"/>
                                      </p:to>
                                    </p:set>
                                    <p:animEffect transition="in" filter="blinds(horizontal)">
                                      <p:cBhvr>
                                        <p:cTn id="15" dur="500"/>
                                        <p:tgtEl>
                                          <p:spTgt spid="29705"/>
                                        </p:tgtEl>
                                      </p:cBhvr>
                                    </p:animEffect>
                                  </p:childTnLst>
                                </p:cTn>
                              </p:par>
                              <p:par>
                                <p:cTn id="16" presetID="3" presetClass="entr" presetSubtype="10" fill="hold" nodeType="withEffect">
                                  <p:stCondLst>
                                    <p:cond delay="0"/>
                                  </p:stCondLst>
                                  <p:childTnLst>
                                    <p:set>
                                      <p:cBhvr>
                                        <p:cTn id="17" dur="1" fill="hold">
                                          <p:stCondLst>
                                            <p:cond delay="0"/>
                                          </p:stCondLst>
                                        </p:cTn>
                                        <p:tgtEl>
                                          <p:spTgt spid="29706"/>
                                        </p:tgtEl>
                                        <p:attrNameLst>
                                          <p:attrName>style.visibility</p:attrName>
                                        </p:attrNameLst>
                                      </p:cBhvr>
                                      <p:to>
                                        <p:strVal val="visible"/>
                                      </p:to>
                                    </p:set>
                                    <p:animEffect transition="in" filter="blinds(horizontal)">
                                      <p:cBhvr>
                                        <p:cTn id="18" dur="500"/>
                                        <p:tgtEl>
                                          <p:spTgt spid="2970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9707"/>
                                        </p:tgtEl>
                                        <p:attrNameLst>
                                          <p:attrName>style.visibility</p:attrName>
                                        </p:attrNameLst>
                                      </p:cBhvr>
                                      <p:to>
                                        <p:strVal val="visible"/>
                                      </p:to>
                                    </p:set>
                                    <p:animEffect transition="in" filter="blinds(horizontal)">
                                      <p:cBhvr>
                                        <p:cTn id="21" dur="500"/>
                                        <p:tgtEl>
                                          <p:spTgt spid="29707"/>
                                        </p:tgtEl>
                                      </p:cBhvr>
                                    </p:animEffect>
                                  </p:childTnLst>
                                </p:cTn>
                              </p:par>
                              <p:par>
                                <p:cTn id="22" presetID="3" presetClass="entr" presetSubtype="10" fill="hold" nodeType="withEffect">
                                  <p:stCondLst>
                                    <p:cond delay="0"/>
                                  </p:stCondLst>
                                  <p:childTnLst>
                                    <p:set>
                                      <p:cBhvr>
                                        <p:cTn id="23" dur="1" fill="hold">
                                          <p:stCondLst>
                                            <p:cond delay="0"/>
                                          </p:stCondLst>
                                        </p:cTn>
                                        <p:tgtEl>
                                          <p:spTgt spid="29708"/>
                                        </p:tgtEl>
                                        <p:attrNameLst>
                                          <p:attrName>style.visibility</p:attrName>
                                        </p:attrNameLst>
                                      </p:cBhvr>
                                      <p:to>
                                        <p:strVal val="visible"/>
                                      </p:to>
                                    </p:set>
                                    <p:animEffect transition="in" filter="blinds(horizontal)">
                                      <p:cBhvr>
                                        <p:cTn id="24" dur="500"/>
                                        <p:tgtEl>
                                          <p:spTgt spid="29708"/>
                                        </p:tgtEl>
                                      </p:cBhvr>
                                    </p:animEffect>
                                  </p:childTnLst>
                                </p:cTn>
                              </p:par>
                              <p:par>
                                <p:cTn id="25" presetID="3" presetClass="entr" presetSubtype="10" fill="hold" nodeType="withEffect">
                                  <p:stCondLst>
                                    <p:cond delay="0"/>
                                  </p:stCondLst>
                                  <p:childTnLst>
                                    <p:set>
                                      <p:cBhvr>
                                        <p:cTn id="26" dur="1" fill="hold">
                                          <p:stCondLst>
                                            <p:cond delay="0"/>
                                          </p:stCondLst>
                                        </p:cTn>
                                        <p:tgtEl>
                                          <p:spTgt spid="29710"/>
                                        </p:tgtEl>
                                        <p:attrNameLst>
                                          <p:attrName>style.visibility</p:attrName>
                                        </p:attrNameLst>
                                      </p:cBhvr>
                                      <p:to>
                                        <p:strVal val="visible"/>
                                      </p:to>
                                    </p:set>
                                    <p:animEffect transition="in" filter="blinds(horizontal)">
                                      <p:cBhvr>
                                        <p:cTn id="27" dur="500"/>
                                        <p:tgtEl>
                                          <p:spTgt spid="2971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9702"/>
                                        </p:tgtEl>
                                        <p:attrNameLst>
                                          <p:attrName>style.visibility</p:attrName>
                                        </p:attrNameLst>
                                      </p:cBhvr>
                                      <p:to>
                                        <p:strVal val="visible"/>
                                      </p:to>
                                    </p:set>
                                    <p:animEffect transition="in" filter="blinds(horizontal)">
                                      <p:cBhvr>
                                        <p:cTn id="30" dur="500"/>
                                        <p:tgtEl>
                                          <p:spTgt spid="2970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9713"/>
                                        </p:tgtEl>
                                        <p:attrNameLst>
                                          <p:attrName>style.visibility</p:attrName>
                                        </p:attrNameLst>
                                      </p:cBhvr>
                                      <p:to>
                                        <p:strVal val="visible"/>
                                      </p:to>
                                    </p:set>
                                    <p:animEffect transition="in" filter="blinds(horizontal)">
                                      <p:cBhvr>
                                        <p:cTn id="35" dur="500"/>
                                        <p:tgtEl>
                                          <p:spTgt spid="29713"/>
                                        </p:tgtEl>
                                      </p:cBhvr>
                                    </p:animEffect>
                                  </p:childTnLst>
                                </p:cTn>
                              </p:par>
                              <p:par>
                                <p:cTn id="36" presetID="3" presetClass="entr" presetSubtype="10" fill="hold" nodeType="withEffect">
                                  <p:stCondLst>
                                    <p:cond delay="0"/>
                                  </p:stCondLst>
                                  <p:childTnLst>
                                    <p:set>
                                      <p:cBhvr>
                                        <p:cTn id="37" dur="1" fill="hold">
                                          <p:stCondLst>
                                            <p:cond delay="0"/>
                                          </p:stCondLst>
                                        </p:cTn>
                                        <p:tgtEl>
                                          <p:spTgt spid="29711"/>
                                        </p:tgtEl>
                                        <p:attrNameLst>
                                          <p:attrName>style.visibility</p:attrName>
                                        </p:attrNameLst>
                                      </p:cBhvr>
                                      <p:to>
                                        <p:strVal val="visible"/>
                                      </p:to>
                                    </p:set>
                                    <p:animEffect transition="in" filter="blinds(horizontal)">
                                      <p:cBhvr>
                                        <p:cTn id="38" dur="500"/>
                                        <p:tgtEl>
                                          <p:spTgt spid="29711"/>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9714"/>
                                        </p:tgtEl>
                                        <p:attrNameLst>
                                          <p:attrName>style.visibility</p:attrName>
                                        </p:attrNameLst>
                                      </p:cBhvr>
                                      <p:to>
                                        <p:strVal val="visible"/>
                                      </p:to>
                                    </p:set>
                                    <p:animEffect transition="in" filter="blinds(horizontal)">
                                      <p:cBhvr>
                                        <p:cTn id="41" dur="500"/>
                                        <p:tgtEl>
                                          <p:spTgt spid="29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2" grpId="0"/>
      <p:bldP spid="29707" grpId="0"/>
      <p:bldP spid="29713" grpId="0"/>
      <p:bldP spid="297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2033107" y="1003506"/>
          <a:ext cx="1014413" cy="1050925"/>
        </p:xfrm>
        <a:graphic>
          <a:graphicData uri="http://schemas.openxmlformats.org/presentationml/2006/ole">
            <mc:AlternateContent xmlns:mc="http://schemas.openxmlformats.org/markup-compatibility/2006">
              <mc:Choice xmlns:v="urn:schemas-microsoft-com:vml" Requires="v">
                <p:oleObj spid="_x0000_s71786" name="Equation" r:id="rId4" imgW="10668000" imgH="10972800" progId="Equation.DSMT4">
                  <p:embed/>
                </p:oleObj>
              </mc:Choice>
              <mc:Fallback>
                <p:oleObj name="Equation" r:id="rId4" imgW="10668000" imgH="10972800" progId="Equation.DSMT4">
                  <p:embed/>
                  <p:pic>
                    <p:nvPicPr>
                      <p:cNvPr id="0" name="对象 1"/>
                      <p:cNvPicPr>
                        <a:picLocks noChangeArrowheads="1"/>
                      </p:cNvPicPr>
                      <p:nvPr/>
                    </p:nvPicPr>
                    <p:blipFill>
                      <a:blip r:embed="rId5"/>
                      <a:srcRect/>
                      <a:stretch>
                        <a:fillRect/>
                      </a:stretch>
                    </p:blipFill>
                    <p:spPr bwMode="auto">
                      <a:xfrm>
                        <a:off x="2033107" y="1003506"/>
                        <a:ext cx="101441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对象 29700"/>
          <p:cNvGraphicFramePr/>
          <p:nvPr/>
        </p:nvGraphicFramePr>
        <p:xfrm>
          <a:off x="1794774" y="2427148"/>
          <a:ext cx="1692275" cy="534987"/>
        </p:xfrm>
        <a:graphic>
          <a:graphicData uri="http://schemas.openxmlformats.org/presentationml/2006/ole">
            <mc:AlternateContent xmlns:mc="http://schemas.openxmlformats.org/markup-compatibility/2006">
              <mc:Choice xmlns:v="urn:schemas-microsoft-com:vml" Requires="v">
                <p:oleObj spid="_x0000_s71787" r:id="rId6" imgW="748665" imgH="241300" progId="Equation.DSMT4">
                  <p:embed/>
                </p:oleObj>
              </mc:Choice>
              <mc:Fallback>
                <p:oleObj r:id="rId6" imgW="748665" imgH="241300" progId="Equation.DSMT4">
                  <p:embed/>
                  <p:pic>
                    <p:nvPicPr>
                      <p:cNvPr id="0" name="对象 2970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4774" y="2427148"/>
                        <a:ext cx="16922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右大括号 3"/>
          <p:cNvSpPr/>
          <p:nvPr/>
        </p:nvSpPr>
        <p:spPr>
          <a:xfrm>
            <a:off x="3690733" y="1302370"/>
            <a:ext cx="278296" cy="15041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6" name="对象 5"/>
          <p:cNvGraphicFramePr>
            <a:graphicFrameLocks noChangeAspect="1"/>
          </p:cNvGraphicFramePr>
          <p:nvPr/>
        </p:nvGraphicFramePr>
        <p:xfrm>
          <a:off x="4923186" y="940903"/>
          <a:ext cx="1904698" cy="1013791"/>
        </p:xfrm>
        <a:graphic>
          <a:graphicData uri="http://schemas.openxmlformats.org/presentationml/2006/ole">
            <mc:AlternateContent xmlns:mc="http://schemas.openxmlformats.org/markup-compatibility/2006">
              <mc:Choice xmlns:v="urn:schemas-microsoft-com:vml" Requires="v">
                <p:oleObj spid="_x0000_s71788" name="Equation" r:id="rId8" imgW="787400" imgH="419100" progId="Equation.DSMT4">
                  <p:embed/>
                </p:oleObj>
              </mc:Choice>
              <mc:Fallback>
                <p:oleObj name="Equation" r:id="rId8" imgW="787400" imgH="419100" progId="Equation.DSMT4">
                  <p:embed/>
                  <p:pic>
                    <p:nvPicPr>
                      <p:cNvPr id="0"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3186" y="940903"/>
                        <a:ext cx="1904698" cy="1013791"/>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4923186" y="2100743"/>
          <a:ext cx="1992750" cy="1060657"/>
        </p:xfrm>
        <a:graphic>
          <a:graphicData uri="http://schemas.openxmlformats.org/presentationml/2006/ole">
            <mc:AlternateContent xmlns:mc="http://schemas.openxmlformats.org/markup-compatibility/2006">
              <mc:Choice xmlns:v="urn:schemas-microsoft-com:vml" Requires="v">
                <p:oleObj spid="_x0000_s71789" name="Equation" r:id="rId10" imgW="787400" imgH="419100" progId="Equation.DSMT4">
                  <p:embed/>
                </p:oleObj>
              </mc:Choice>
              <mc:Fallback>
                <p:oleObj name="Equation" r:id="rId10" imgW="787400" imgH="419100" progId="Equation.DSMT4">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23186" y="2100743"/>
                        <a:ext cx="1992750" cy="1060657"/>
                      </a:xfrm>
                      <a:prstGeom prst="rect">
                        <a:avLst/>
                      </a:prstGeom>
                      <a:noFill/>
                    </p:spPr>
                  </p:pic>
                </p:oleObj>
              </mc:Fallback>
            </mc:AlternateContent>
          </a:graphicData>
        </a:graphic>
      </p:graphicFrame>
      <p:sp>
        <p:nvSpPr>
          <p:cNvPr id="9" name="右箭头 8"/>
          <p:cNvSpPr/>
          <p:nvPr/>
        </p:nvSpPr>
        <p:spPr>
          <a:xfrm>
            <a:off x="4108177" y="1954694"/>
            <a:ext cx="675861" cy="2517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a:spLocks noChangeArrowheads="1"/>
          </p:cNvSpPr>
          <p:nvPr/>
        </p:nvSpPr>
        <p:spPr bwMode="auto">
          <a:xfrm>
            <a:off x="708992" y="4250635"/>
            <a:ext cx="7864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smtClean="0">
                <a:latin typeface="黑体" panose="02010609060101010101" pitchFamily="49" charset="-122"/>
                <a:ea typeface="黑体" panose="02010609060101010101" pitchFamily="49" charset="-122"/>
              </a:rPr>
              <a:t>强调：</a:t>
            </a:r>
            <a:r>
              <a:rPr lang="en-US" altLang="zh-CN" sz="2400" b="1" i="1" dirty="0">
                <a:latin typeface="Times New Roman" panose="02020603050405020304" pitchFamily="18" charset="0"/>
              </a:rPr>
              <a:t> </a:t>
            </a:r>
            <a:r>
              <a:rPr lang="en-US" altLang="zh-CN" sz="2400" b="1" i="1" dirty="0" err="1" smtClean="0">
                <a:latin typeface="Times New Roman" panose="02020603050405020304" pitchFamily="18" charset="0"/>
              </a:rPr>
              <a:t>c</a:t>
            </a:r>
            <a:r>
              <a:rPr lang="en-US" altLang="zh-CN" sz="2400" b="1" i="1" baseline="-25000" dirty="0" err="1" smtClean="0">
                <a:latin typeface="Times New Roman" panose="02020603050405020304" pitchFamily="18" charset="0"/>
              </a:rPr>
              <a:t>p</a:t>
            </a:r>
            <a:r>
              <a:rPr lang="en-US" altLang="zh-CN" sz="2400" b="1" dirty="0" err="1" smtClean="0">
                <a:latin typeface="Times New Roman" panose="02020603050405020304" pitchFamily="18" charset="0"/>
                <a:ea typeface="楷体_GB2312" pitchFamily="49" charset="-122"/>
              </a:rPr>
              <a:t>-</a:t>
            </a:r>
            <a:r>
              <a:rPr lang="en-US" altLang="zh-CN" sz="2400" b="1" i="1" dirty="0" err="1" smtClean="0">
                <a:latin typeface="Times New Roman" panose="02020603050405020304" pitchFamily="18" charset="0"/>
              </a:rPr>
              <a:t>c</a:t>
            </a:r>
            <a:r>
              <a:rPr lang="en-US" altLang="zh-CN" sz="2400" b="1" i="1" baseline="-25000" dirty="0" err="1" smtClean="0">
                <a:latin typeface="Times New Roman" panose="02020603050405020304" pitchFamily="18" charset="0"/>
              </a:rPr>
              <a:t>V</a:t>
            </a:r>
            <a:r>
              <a:rPr lang="zh-CN" altLang="en-US" sz="2400" b="1" dirty="0">
                <a:latin typeface="黑体" panose="02010609060101010101" pitchFamily="49" charset="-122"/>
                <a:ea typeface="黑体" panose="02010609060101010101" pitchFamily="49" charset="-122"/>
              </a:rPr>
              <a:t>是常数，</a:t>
            </a:r>
            <a:r>
              <a:rPr lang="en-US" altLang="zh-CN" sz="2400" b="1" dirty="0">
                <a:latin typeface="黑体" panose="02010609060101010101" pitchFamily="49" charset="-122"/>
                <a:ea typeface="黑体" panose="02010609060101010101" pitchFamily="49" charset="-122"/>
              </a:rPr>
              <a:t> </a:t>
            </a:r>
            <a:r>
              <a:rPr lang="en-US" altLang="zh-CN" sz="2400" b="1" i="1" dirty="0" err="1" smtClean="0">
                <a:latin typeface="Times New Roman" panose="02020603050405020304" pitchFamily="18" charset="0"/>
              </a:rPr>
              <a:t>c</a:t>
            </a:r>
            <a:r>
              <a:rPr lang="en-US" altLang="zh-CN" sz="2400" b="1" i="1" baseline="-25000" dirty="0" err="1" smtClean="0">
                <a:latin typeface="Times New Roman" panose="02020603050405020304" pitchFamily="18" charset="0"/>
              </a:rPr>
              <a:t>p</a:t>
            </a:r>
            <a:r>
              <a:rPr lang="en-US" altLang="zh-CN" sz="2400" b="1" dirty="0" smtClean="0">
                <a:latin typeface="Times New Roman" panose="02020603050405020304" pitchFamily="18" charset="0"/>
                <a:ea typeface="楷体_GB2312" pitchFamily="49" charset="-122"/>
              </a:rPr>
              <a:t>/</a:t>
            </a:r>
            <a:r>
              <a:rPr lang="en-US" altLang="zh-CN" sz="2400" b="1" i="1" dirty="0" err="1" smtClean="0">
                <a:latin typeface="Times New Roman" panose="02020603050405020304" pitchFamily="18" charset="0"/>
              </a:rPr>
              <a:t>c</a:t>
            </a:r>
            <a:r>
              <a:rPr lang="en-US" altLang="zh-CN" sz="2400" b="1" i="1" baseline="-25000" dirty="0" err="1" smtClean="0">
                <a:latin typeface="Times New Roman" panose="02020603050405020304" pitchFamily="18" charset="0"/>
              </a:rPr>
              <a:t>V</a:t>
            </a:r>
            <a:r>
              <a:rPr lang="zh-CN" altLang="en-US" sz="2400" b="1" dirty="0">
                <a:latin typeface="黑体" panose="02010609060101010101" pitchFamily="49" charset="-122"/>
                <a:ea typeface="黑体" panose="02010609060101010101" pitchFamily="49" charset="-122"/>
              </a:rPr>
              <a:t>不是常数，是温度的函数！</a:t>
            </a:r>
            <a:endParaRPr lang="en-US" altLang="zh-CN" sz="2400" b="1" dirty="0">
              <a:latin typeface="黑体" panose="02010609060101010101" pitchFamily="49" charset="-122"/>
              <a:ea typeface="黑体" panose="02010609060101010101" pitchFamily="49" charset="-122"/>
            </a:endParaRP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文本框 111619"/>
          <p:cNvSpPr txBox="1">
            <a:spLocks noChangeArrowheads="1"/>
          </p:cNvSpPr>
          <p:nvPr/>
        </p:nvSpPr>
        <p:spPr bwMode="auto">
          <a:xfrm>
            <a:off x="179388" y="2492375"/>
            <a:ext cx="876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3200" b="1">
                <a:latin typeface="黑体" panose="02010609060101010101" pitchFamily="49" charset="-122"/>
                <a:ea typeface="黑体" panose="02010609060101010101" pitchFamily="49" charset="-122"/>
              </a:rPr>
              <a:t>三、理想气体的比热容、</a:t>
            </a:r>
            <a:r>
              <a:rPr lang="el-GR" altLang="zh-CN" sz="3200" b="1">
                <a:latin typeface="Times New Roman" panose="02020603050405020304" pitchFamily="18" charset="0"/>
                <a:ea typeface="黑体" panose="02010609060101010101" pitchFamily="49" charset="-122"/>
              </a:rPr>
              <a:t>Δ</a:t>
            </a:r>
            <a:r>
              <a:rPr lang="en-US" altLang="zh-CN" sz="3200" b="1" i="1">
                <a:latin typeface="Times New Roman" panose="02020603050405020304" pitchFamily="18" charset="0"/>
                <a:ea typeface="黑体" panose="02010609060101010101" pitchFamily="49" charset="-122"/>
              </a:rPr>
              <a:t>u</a:t>
            </a:r>
            <a:r>
              <a:rPr lang="zh-CN" altLang="en-US" sz="3200" b="1">
                <a:latin typeface="Times New Roman" panose="02020603050405020304" pitchFamily="18" charset="0"/>
                <a:ea typeface="黑体" panose="02010609060101010101" pitchFamily="49" charset="-122"/>
              </a:rPr>
              <a:t>和</a:t>
            </a:r>
            <a:r>
              <a:rPr lang="el-GR" altLang="zh-CN" sz="3200" b="1">
                <a:latin typeface="Times New Roman" panose="02020603050405020304" pitchFamily="18" charset="0"/>
                <a:ea typeface="黑体" panose="02010609060101010101" pitchFamily="49" charset="-122"/>
              </a:rPr>
              <a:t>Δ</a:t>
            </a:r>
            <a:r>
              <a:rPr lang="en-US" altLang="zh-CN" sz="3200" b="1" i="1">
                <a:latin typeface="Times New Roman" panose="02020603050405020304" pitchFamily="18" charset="0"/>
                <a:ea typeface="黑体" panose="02010609060101010101" pitchFamily="49" charset="-122"/>
              </a:rPr>
              <a:t>h</a:t>
            </a:r>
            <a:r>
              <a:rPr lang="zh-CN" altLang="en-US" sz="3200" b="1">
                <a:latin typeface="黑体" panose="02010609060101010101" pitchFamily="49" charset="-122"/>
                <a:ea typeface="黑体" panose="02010609060101010101" pitchFamily="49" charset="-122"/>
              </a:rPr>
              <a:t>的计算方法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1"/>
          <p:cNvSpPr txBox="1">
            <a:spLocks noGrp="1" noChangeArrowheads="1"/>
          </p:cNvSpPr>
          <p:nvPr/>
        </p:nvSpPr>
        <p:spPr bwMode="auto">
          <a:xfrm>
            <a:off x="604947" y="61722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A0B37DF-B40F-4755-A568-32E9574991D3}" type="datetime1">
              <a:rPr lang="zh-CN" altLang="en-US" sz="1600">
                <a:latin typeface="楷体_GB2312" pitchFamily="49" charset="-122"/>
                <a:ea typeface="楷体_GB2312" pitchFamily="49" charset="-122"/>
              </a:rPr>
              <a:t>2020/10/1</a:t>
            </a:fld>
            <a:endParaRPr lang="zh-CN" altLang="en-US" sz="1600">
              <a:latin typeface="楷体_GB2312" pitchFamily="49" charset="-122"/>
              <a:ea typeface="楷体_GB2312" pitchFamily="49" charset="-122"/>
            </a:endParaRPr>
          </a:p>
        </p:txBody>
      </p:sp>
      <p:pic>
        <p:nvPicPr>
          <p:cNvPr id="62468" name="Picture 3" descr="030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547" y="609600"/>
            <a:ext cx="4303713" cy="5943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2469" name="Line 6"/>
          <p:cNvSpPr>
            <a:spLocks noChangeShapeType="1"/>
          </p:cNvSpPr>
          <p:nvPr/>
        </p:nvSpPr>
        <p:spPr bwMode="auto">
          <a:xfrm flipV="1">
            <a:off x="1290747" y="2057400"/>
            <a:ext cx="609600" cy="1600200"/>
          </a:xfrm>
          <a:prstGeom prst="line">
            <a:avLst/>
          </a:prstGeom>
          <a:noFill/>
          <a:ln w="28575" cap="sq">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2470" name="Line 9"/>
          <p:cNvSpPr>
            <a:spLocks noChangeShapeType="1"/>
          </p:cNvSpPr>
          <p:nvPr/>
        </p:nvSpPr>
        <p:spPr bwMode="auto">
          <a:xfrm flipV="1">
            <a:off x="1519347" y="762000"/>
            <a:ext cx="2514600" cy="1828800"/>
          </a:xfrm>
          <a:prstGeom prst="line">
            <a:avLst/>
          </a:prstGeom>
          <a:noFill/>
          <a:ln w="381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62471" name="矩形 102413"/>
          <p:cNvSpPr>
            <a:spLocks noChangeArrowheads="1"/>
          </p:cNvSpPr>
          <p:nvPr/>
        </p:nvSpPr>
        <p:spPr bwMode="auto">
          <a:xfrm>
            <a:off x="415721" y="86380"/>
            <a:ext cx="47848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比热容随温度的变化情况</a:t>
            </a:r>
          </a:p>
        </p:txBody>
      </p:sp>
      <p:graphicFrame>
        <p:nvGraphicFramePr>
          <p:cNvPr id="9" name="对象 26638"/>
          <p:cNvGraphicFramePr/>
          <p:nvPr/>
        </p:nvGraphicFramePr>
        <p:xfrm>
          <a:off x="5051633" y="762000"/>
          <a:ext cx="3636962" cy="742950"/>
        </p:xfrm>
        <a:graphic>
          <a:graphicData uri="http://schemas.openxmlformats.org/presentationml/2006/ole">
            <mc:AlternateContent xmlns:mc="http://schemas.openxmlformats.org/markup-compatibility/2006">
              <mc:Choice xmlns:v="urn:schemas-microsoft-com:vml" Requires="v">
                <p:oleObj spid="_x0000_s72758" r:id="rId5" imgW="1625600" imgH="330200" progId="Equation.DSMT4">
                  <p:embed/>
                </p:oleObj>
              </mc:Choice>
              <mc:Fallback>
                <p:oleObj r:id="rId5" imgW="1625600" imgH="330200" progId="Equation.DSMT4">
                  <p:embed/>
                  <p:pic>
                    <p:nvPicPr>
                      <p:cNvPr id="0" name="对象 2663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1633" y="762000"/>
                        <a:ext cx="363696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对象 26642"/>
          <p:cNvGraphicFramePr/>
          <p:nvPr/>
        </p:nvGraphicFramePr>
        <p:xfrm>
          <a:off x="5051633" y="1677465"/>
          <a:ext cx="3816350" cy="788988"/>
        </p:xfrm>
        <a:graphic>
          <a:graphicData uri="http://schemas.openxmlformats.org/presentationml/2006/ole">
            <mc:AlternateContent xmlns:mc="http://schemas.openxmlformats.org/markup-compatibility/2006">
              <mc:Choice xmlns:v="urn:schemas-microsoft-com:vml" Requires="v">
                <p:oleObj spid="_x0000_s72759" r:id="rId7" imgW="1612900" imgH="330200" progId="Equation.DSMT4">
                  <p:embed/>
                </p:oleObj>
              </mc:Choice>
              <mc:Fallback>
                <p:oleObj r:id="rId7" imgW="1612900" imgH="330200" progId="Equation.DSMT4">
                  <p:embed/>
                  <p:pic>
                    <p:nvPicPr>
                      <p:cNvPr id="0" name="对象 2664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1633" y="1677465"/>
                        <a:ext cx="381635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30724"/>
          <p:cNvSpPr>
            <a:spLocks noChangeArrowheads="1"/>
          </p:cNvSpPr>
          <p:nvPr/>
        </p:nvSpPr>
        <p:spPr bwMode="auto">
          <a:xfrm>
            <a:off x="755650" y="1484313"/>
            <a:ext cx="77041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楷体_GB2312" pitchFamily="49" charset="-122"/>
                <a:ea typeface="楷体_GB2312" pitchFamily="49" charset="-122"/>
              </a:rPr>
              <a:t>理想气体的比热容为温度的单值函数，它与温度的关系用实验的方法进行测量，通常可将测量得到的数据整理为多项式形式</a:t>
            </a:r>
          </a:p>
        </p:txBody>
      </p:sp>
      <p:sp>
        <p:nvSpPr>
          <p:cNvPr id="64515" name="矩形 30725"/>
          <p:cNvSpPr>
            <a:spLocks noChangeArrowheads="1"/>
          </p:cNvSpPr>
          <p:nvPr/>
        </p:nvSpPr>
        <p:spPr bwMode="auto">
          <a:xfrm>
            <a:off x="827088" y="692150"/>
            <a:ext cx="5616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a:solidFill>
                  <a:srgbClr val="0000FF"/>
                </a:solidFill>
                <a:latin typeface="楷体_GB2312" pitchFamily="49" charset="-122"/>
                <a:ea typeface="楷体_GB2312" pitchFamily="49" charset="-122"/>
              </a:rPr>
              <a:t>1</a:t>
            </a:r>
            <a:r>
              <a:rPr lang="zh-CN" altLang="en-US" sz="2800" b="1">
                <a:solidFill>
                  <a:srgbClr val="0000FF"/>
                </a:solidFill>
                <a:latin typeface="楷体_GB2312" pitchFamily="49" charset="-122"/>
                <a:ea typeface="楷体_GB2312" pitchFamily="49" charset="-122"/>
              </a:rPr>
              <a:t>、真实比热容</a:t>
            </a:r>
          </a:p>
        </p:txBody>
      </p:sp>
      <p:sp>
        <p:nvSpPr>
          <p:cNvPr id="64516" name="矩形 30727"/>
          <p:cNvSpPr>
            <a:spLocks noChangeArrowheads="1"/>
          </p:cNvSpPr>
          <p:nvPr/>
        </p:nvSpPr>
        <p:spPr bwMode="auto">
          <a:xfrm>
            <a:off x="0" y="2795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4517" name="对象 30726"/>
          <p:cNvGraphicFramePr/>
          <p:nvPr/>
        </p:nvGraphicFramePr>
        <p:xfrm>
          <a:off x="2411413" y="2779713"/>
          <a:ext cx="4033837" cy="552450"/>
        </p:xfrm>
        <a:graphic>
          <a:graphicData uri="http://schemas.openxmlformats.org/presentationml/2006/ole">
            <mc:AlternateContent xmlns:mc="http://schemas.openxmlformats.org/markup-compatibility/2006">
              <mc:Choice xmlns:v="urn:schemas-microsoft-com:vml" Requires="v">
                <p:oleObj spid="_x0000_s73830" r:id="rId3" imgW="1879600" imgH="254000" progId="Equation.DSMT4">
                  <p:embed/>
                </p:oleObj>
              </mc:Choice>
              <mc:Fallback>
                <p:oleObj r:id="rId3" imgW="1879600" imgH="254000" progId="Equation.DSMT4">
                  <p:embed/>
                  <p:pic>
                    <p:nvPicPr>
                      <p:cNvPr id="0" name="对象 307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779713"/>
                        <a:ext cx="403383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4518" name="矩形 30729"/>
          <p:cNvSpPr>
            <a:spLocks noChangeArrowheads="1"/>
          </p:cNvSpPr>
          <p:nvPr/>
        </p:nvSpPr>
        <p:spPr bwMode="auto">
          <a:xfrm>
            <a:off x="0" y="2786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4519" name="对象 30728"/>
          <p:cNvGraphicFramePr/>
          <p:nvPr/>
        </p:nvGraphicFramePr>
        <p:xfrm>
          <a:off x="1835150" y="3355975"/>
          <a:ext cx="5761038" cy="555625"/>
        </p:xfrm>
        <a:graphic>
          <a:graphicData uri="http://schemas.openxmlformats.org/presentationml/2006/ole">
            <mc:AlternateContent xmlns:mc="http://schemas.openxmlformats.org/markup-compatibility/2006">
              <mc:Choice xmlns:v="urn:schemas-microsoft-com:vml" Requires="v">
                <p:oleObj spid="_x0000_s73831" r:id="rId5" imgW="2870200" imgH="279400" progId="Equation.DSMT4">
                  <p:embed/>
                </p:oleObj>
              </mc:Choice>
              <mc:Fallback>
                <p:oleObj r:id="rId5" imgW="2870200" imgH="279400" progId="Equation.DSMT4">
                  <p:embed/>
                  <p:pic>
                    <p:nvPicPr>
                      <p:cNvPr id="0" name="对象 307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3355975"/>
                        <a:ext cx="576103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20" name="对象 30730"/>
          <p:cNvGraphicFramePr/>
          <p:nvPr/>
        </p:nvGraphicFramePr>
        <p:xfrm>
          <a:off x="1835150" y="3932238"/>
          <a:ext cx="3311525" cy="677862"/>
        </p:xfrm>
        <a:graphic>
          <a:graphicData uri="http://schemas.openxmlformats.org/presentationml/2006/ole">
            <mc:AlternateContent xmlns:mc="http://schemas.openxmlformats.org/markup-compatibility/2006">
              <mc:Choice xmlns:v="urn:schemas-microsoft-com:vml" Requires="v">
                <p:oleObj spid="_x0000_s73832" r:id="rId7" imgW="1625600" imgH="330200" progId="Equation.DSMT4">
                  <p:embed/>
                </p:oleObj>
              </mc:Choice>
              <mc:Fallback>
                <p:oleObj r:id="rId7" imgW="1625600" imgH="330200" progId="Equation.DSMT4">
                  <p:embed/>
                  <p:pic>
                    <p:nvPicPr>
                      <p:cNvPr id="0" name="对象 307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150" y="3932238"/>
                        <a:ext cx="331152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21" name="对象 30732"/>
          <p:cNvGraphicFramePr/>
          <p:nvPr/>
        </p:nvGraphicFramePr>
        <p:xfrm>
          <a:off x="1835150" y="4652963"/>
          <a:ext cx="2952750" cy="611187"/>
        </p:xfrm>
        <a:graphic>
          <a:graphicData uri="http://schemas.openxmlformats.org/presentationml/2006/ole">
            <mc:AlternateContent xmlns:mc="http://schemas.openxmlformats.org/markup-compatibility/2006">
              <mc:Choice xmlns:v="urn:schemas-microsoft-com:vml" Requires="v">
                <p:oleObj spid="_x0000_s73833" r:id="rId9" imgW="1612900" imgH="330200" progId="Equation.DSMT4">
                  <p:embed/>
                </p:oleObj>
              </mc:Choice>
              <mc:Fallback>
                <p:oleObj r:id="rId9" imgW="1612900" imgH="330200" progId="Equation.DSMT4">
                  <p:embed/>
                  <p:pic>
                    <p:nvPicPr>
                      <p:cNvPr id="0" name="对象 3073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652963"/>
                        <a:ext cx="2952750"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4522" name="矩形 30735"/>
          <p:cNvSpPr>
            <a:spLocks noChangeArrowheads="1"/>
          </p:cNvSpPr>
          <p:nvPr/>
        </p:nvSpPr>
        <p:spPr bwMode="auto">
          <a:xfrm>
            <a:off x="2771775" y="5445125"/>
            <a:ext cx="4537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49" charset="-122"/>
                <a:ea typeface="楷体_GB2312" pitchFamily="49" charset="-122"/>
              </a:rPr>
              <a:t>准确，但积分麻烦</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32771"/>
          <p:cNvSpPr>
            <a:spLocks noChangeArrowheads="1"/>
          </p:cNvSpPr>
          <p:nvPr/>
        </p:nvSpPr>
        <p:spPr bwMode="auto">
          <a:xfrm>
            <a:off x="611188" y="388938"/>
            <a:ext cx="3600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a:solidFill>
                  <a:srgbClr val="0000FF"/>
                </a:solidFill>
                <a:latin typeface="楷体_GB2312" pitchFamily="49" charset="-122"/>
                <a:ea typeface="楷体_GB2312" pitchFamily="49" charset="-122"/>
              </a:rPr>
              <a:t>2</a:t>
            </a:r>
            <a:r>
              <a:rPr lang="zh-CN" altLang="en-US" sz="2800" b="1">
                <a:solidFill>
                  <a:srgbClr val="0000FF"/>
                </a:solidFill>
                <a:latin typeface="楷体_GB2312" pitchFamily="49" charset="-122"/>
                <a:ea typeface="楷体_GB2312" pitchFamily="49" charset="-122"/>
              </a:rPr>
              <a:t>、平均比热容表</a:t>
            </a:r>
          </a:p>
        </p:txBody>
      </p:sp>
      <p:sp>
        <p:nvSpPr>
          <p:cNvPr id="65539" name="矩形 32772"/>
          <p:cNvSpPr>
            <a:spLocks noChangeArrowheads="1"/>
          </p:cNvSpPr>
          <p:nvPr/>
        </p:nvSpPr>
        <p:spPr bwMode="auto">
          <a:xfrm>
            <a:off x="3708400" y="388938"/>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49" charset="-122"/>
                <a:ea typeface="楷体_GB2312" pitchFamily="49" charset="-122"/>
              </a:rPr>
              <a:t>既准确又简单</a:t>
            </a:r>
          </a:p>
        </p:txBody>
      </p:sp>
      <p:sp>
        <p:nvSpPr>
          <p:cNvPr id="65542" name="矩形 32783"/>
          <p:cNvSpPr>
            <a:spLocks noChangeArrowheads="1"/>
          </p:cNvSpPr>
          <p:nvPr/>
        </p:nvSpPr>
        <p:spPr bwMode="auto">
          <a:xfrm>
            <a:off x="3717925" y="3105150"/>
            <a:ext cx="2476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a:t> </a:t>
            </a:r>
            <a:r>
              <a:rPr lang="zh-CN" altLang="en-US" sz="600"/>
              <a:t> </a:t>
            </a:r>
            <a:endParaRPr lang="zh-CN" altLang="en-US"/>
          </a:p>
        </p:txBody>
      </p:sp>
      <p:graphicFrame>
        <p:nvGraphicFramePr>
          <p:cNvPr id="65543" name="对象 32784"/>
          <p:cNvGraphicFramePr/>
          <p:nvPr/>
        </p:nvGraphicFramePr>
        <p:xfrm>
          <a:off x="4140200" y="4581525"/>
          <a:ext cx="4194175" cy="1263650"/>
        </p:xfrm>
        <a:graphic>
          <a:graphicData uri="http://schemas.openxmlformats.org/presentationml/2006/ole">
            <mc:AlternateContent xmlns:mc="http://schemas.openxmlformats.org/markup-compatibility/2006">
              <mc:Choice xmlns:v="urn:schemas-microsoft-com:vml" Requires="v">
                <p:oleObj spid="_x0000_s74800" r:id="rId3" imgW="1891665" imgH="571500" progId="Equation.DSMT4">
                  <p:embed/>
                </p:oleObj>
              </mc:Choice>
              <mc:Fallback>
                <p:oleObj r:id="rId3" imgW="1891665" imgH="571500" progId="Equation.DSMT4">
                  <p:embed/>
                  <p:pic>
                    <p:nvPicPr>
                      <p:cNvPr id="0" name="对象 3278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200" y="4581525"/>
                        <a:ext cx="4194175" cy="12636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4" name="矩形 32786"/>
          <p:cNvSpPr>
            <a:spLocks noChangeArrowheads="1"/>
          </p:cNvSpPr>
          <p:nvPr/>
        </p:nvSpPr>
        <p:spPr bwMode="auto">
          <a:xfrm>
            <a:off x="3415367" y="1410906"/>
            <a:ext cx="52022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Arial" panose="020B0604020202020204" pitchFamily="34" charset="0"/>
              <a:buChar char="•"/>
            </a:pPr>
            <a:r>
              <a:rPr lang="zh-CN" altLang="en-US" sz="2800" b="1" dirty="0">
                <a:latin typeface="Times New Roman" panose="02020603050405020304" pitchFamily="18" charset="0"/>
                <a:ea typeface="楷体_GB2312" pitchFamily="49" charset="-122"/>
              </a:rPr>
              <a:t>平均比定压热容表示</a:t>
            </a:r>
            <a:r>
              <a:rPr lang="en-US" altLang="zh-CN" sz="2800" b="1" i="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1</a:t>
            </a:r>
            <a:r>
              <a:rPr lang="zh-CN" altLang="en-US" sz="2800" b="1" dirty="0">
                <a:latin typeface="Times New Roman" panose="02020603050405020304" pitchFamily="18" charset="0"/>
                <a:ea typeface="楷体_GB2312" pitchFamily="49" charset="-122"/>
              </a:rPr>
              <a:t>到</a:t>
            </a:r>
            <a:r>
              <a:rPr lang="en-US" altLang="zh-CN" sz="2800" b="1" i="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2</a:t>
            </a:r>
            <a:r>
              <a:rPr lang="zh-CN" altLang="en-US" sz="2800" b="1" dirty="0">
                <a:latin typeface="Times New Roman" panose="02020603050405020304" pitchFamily="18" charset="0"/>
                <a:ea typeface="楷体_GB2312" pitchFamily="49" charset="-122"/>
              </a:rPr>
              <a:t>温度间隔内</a:t>
            </a:r>
            <a:r>
              <a:rPr lang="en-US" altLang="zh-CN" sz="2800" b="1" i="1" dirty="0" err="1">
                <a:latin typeface="Times New Roman" panose="02020603050405020304" pitchFamily="18" charset="0"/>
                <a:ea typeface="楷体_GB2312" pitchFamily="49" charset="-122"/>
              </a:rPr>
              <a:t>c</a:t>
            </a:r>
            <a:r>
              <a:rPr lang="en-US" altLang="zh-CN" sz="2800" b="1" i="1" baseline="-25000" dirty="0" err="1">
                <a:latin typeface="Times New Roman" panose="02020603050405020304" pitchFamily="18" charset="0"/>
                <a:ea typeface="楷体_GB2312" pitchFamily="49" charset="-122"/>
              </a:rPr>
              <a:t>p</a:t>
            </a:r>
            <a:r>
              <a:rPr lang="zh-CN" altLang="en-US" sz="2800" b="1" dirty="0">
                <a:latin typeface="Times New Roman" panose="02020603050405020304" pitchFamily="18" charset="0"/>
                <a:ea typeface="楷体_GB2312" pitchFamily="49" charset="-122"/>
              </a:rPr>
              <a:t>的积分</a:t>
            </a:r>
            <a:r>
              <a:rPr lang="zh-CN" altLang="en-US" sz="2800" b="1" dirty="0" smtClean="0">
                <a:latin typeface="Times New Roman" panose="02020603050405020304" pitchFamily="18" charset="0"/>
                <a:ea typeface="楷体_GB2312" pitchFamily="49" charset="-122"/>
              </a:rPr>
              <a:t>平均值</a:t>
            </a:r>
            <a:endParaRPr lang="zh-CN" altLang="en-US" sz="2800" b="1" dirty="0">
              <a:latin typeface="Times New Roman" panose="02020603050405020304" pitchFamily="18" charset="0"/>
              <a:ea typeface="楷体_GB2312" pitchFamily="49" charset="-122"/>
            </a:endParaRPr>
          </a:p>
        </p:txBody>
      </p:sp>
      <p:sp>
        <p:nvSpPr>
          <p:cNvPr id="12" name="矩形 32780"/>
          <p:cNvSpPr>
            <a:spLocks noChangeArrowheads="1"/>
          </p:cNvSpPr>
          <p:nvPr/>
        </p:nvSpPr>
        <p:spPr bwMode="auto">
          <a:xfrm>
            <a:off x="3415367" y="2565068"/>
            <a:ext cx="532765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Arial" panose="020B0604020202020204" pitchFamily="34" charset="0"/>
              <a:buChar char="•"/>
            </a:pPr>
            <a:r>
              <a:rPr lang="zh-CN" altLang="en-US" sz="2800" b="1" dirty="0">
                <a:latin typeface="Times New Roman" panose="02020603050405020304" pitchFamily="18" charset="0"/>
                <a:ea typeface="楷体_GB2312" pitchFamily="49" charset="-122"/>
              </a:rPr>
              <a:t>它等于可逆定压条件下</a:t>
            </a:r>
            <a:r>
              <a:rPr lang="en-US" altLang="zh-CN" sz="2800" b="1" dirty="0">
                <a:latin typeface="Times New Roman" panose="02020603050405020304" pitchFamily="18" charset="0"/>
                <a:ea typeface="楷体_GB2312" pitchFamily="49" charset="-122"/>
              </a:rPr>
              <a:t>1 kg</a:t>
            </a:r>
            <a:r>
              <a:rPr lang="zh-CN" altLang="en-US" sz="2800" b="1" dirty="0">
                <a:latin typeface="Times New Roman" panose="02020603050405020304" pitchFamily="18" charset="0"/>
                <a:ea typeface="楷体_GB2312" pitchFamily="49" charset="-122"/>
              </a:rPr>
              <a:t>理想气体的温度从</a:t>
            </a:r>
            <a:r>
              <a:rPr lang="en-US" altLang="zh-CN" sz="2800" b="1" i="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1</a:t>
            </a:r>
            <a:r>
              <a:rPr lang="zh-CN" altLang="en-US" sz="2800" b="1" dirty="0">
                <a:latin typeface="Times New Roman" panose="02020603050405020304" pitchFamily="18" charset="0"/>
                <a:ea typeface="楷体_GB2312" pitchFamily="49" charset="-122"/>
              </a:rPr>
              <a:t>升高到</a:t>
            </a:r>
            <a:r>
              <a:rPr lang="en-US" altLang="zh-CN" sz="2800" b="1" i="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2</a:t>
            </a:r>
            <a:r>
              <a:rPr lang="zh-CN" altLang="en-US" sz="2800" b="1" dirty="0">
                <a:latin typeface="Times New Roman" panose="02020603050405020304" pitchFamily="18" charset="0"/>
                <a:ea typeface="楷体_GB2312" pitchFamily="49" charset="-122"/>
              </a:rPr>
              <a:t>所需要的热量除以温差</a:t>
            </a:r>
            <a:r>
              <a:rPr lang="en-US" altLang="zh-CN" sz="2800" b="1" i="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2</a:t>
            </a:r>
            <a:r>
              <a:rPr lang="en-US" altLang="zh-CN" sz="2800" b="1" dirty="0">
                <a:latin typeface="Times New Roman" panose="02020603050405020304" pitchFamily="18" charset="0"/>
                <a:ea typeface="楷体_GB2312" pitchFamily="49" charset="-122"/>
              </a:rPr>
              <a:t>-</a:t>
            </a:r>
            <a:r>
              <a:rPr lang="en-US" altLang="zh-CN" sz="2800" b="1" i="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1</a:t>
            </a:r>
          </a:p>
        </p:txBody>
      </p:sp>
      <p:sp>
        <p:nvSpPr>
          <p:cNvPr id="65541" name="矩形 32780"/>
          <p:cNvSpPr>
            <a:spLocks noChangeArrowheads="1"/>
          </p:cNvSpPr>
          <p:nvPr/>
        </p:nvSpPr>
        <p:spPr bwMode="auto">
          <a:xfrm>
            <a:off x="570740" y="6228427"/>
            <a:ext cx="629436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smtClean="0">
                <a:latin typeface="Times New Roman" panose="02020603050405020304" pitchFamily="18" charset="0"/>
                <a:ea typeface="楷体_GB2312" pitchFamily="49" charset="-122"/>
              </a:rPr>
              <a:t>关于</a:t>
            </a:r>
            <a:r>
              <a:rPr lang="zh-CN" altLang="en-US" sz="2000" b="1" dirty="0" smtClean="0">
                <a:latin typeface="微软雅黑" panose="020B0503020204020204" charset="-122"/>
                <a:ea typeface="微软雅黑" panose="020B0503020204020204" charset="-122"/>
              </a:rPr>
              <a:t>⊿</a:t>
            </a:r>
            <a:r>
              <a:rPr lang="en-US" altLang="zh-CN" sz="2000" b="1" i="1" dirty="0" smtClean="0">
                <a:latin typeface="Times New Roman" panose="02020603050405020304" pitchFamily="18" charset="0"/>
                <a:ea typeface="楷体_GB2312" pitchFamily="49" charset="-122"/>
              </a:rPr>
              <a:t>h</a:t>
            </a:r>
            <a:r>
              <a:rPr lang="en-US" altLang="zh-CN" sz="2000" b="1" baseline="-25000" dirty="0" smtClean="0">
                <a:latin typeface="Times New Roman" panose="02020603050405020304" pitchFamily="18" charset="0"/>
                <a:ea typeface="楷体_GB2312" pitchFamily="49" charset="-122"/>
              </a:rPr>
              <a:t>1-2</a:t>
            </a:r>
            <a:r>
              <a:rPr lang="zh-CN" altLang="en-US" sz="2000" b="1" dirty="0" smtClean="0">
                <a:latin typeface="Times New Roman" panose="02020603050405020304" pitchFamily="18" charset="0"/>
                <a:ea typeface="楷体_GB2312" pitchFamily="49" charset="-122"/>
              </a:rPr>
              <a:t>为什么等于</a:t>
            </a:r>
            <a:r>
              <a:rPr lang="en-US" altLang="zh-CN" sz="2000" b="1" i="1" dirty="0" smtClean="0">
                <a:latin typeface="Times New Roman" panose="02020603050405020304" pitchFamily="18" charset="0"/>
                <a:ea typeface="楷体_GB2312" pitchFamily="49" charset="-122"/>
              </a:rPr>
              <a:t>q</a:t>
            </a:r>
            <a:r>
              <a:rPr lang="en-US" altLang="zh-CN" sz="2000" b="1" baseline="-25000" dirty="0" smtClean="0">
                <a:latin typeface="Times New Roman" panose="02020603050405020304" pitchFamily="18" charset="0"/>
                <a:ea typeface="楷体_GB2312" pitchFamily="49" charset="-122"/>
              </a:rPr>
              <a:t>1-2</a:t>
            </a:r>
            <a:r>
              <a:rPr lang="zh-CN" altLang="en-US" sz="2000" b="1" dirty="0" smtClean="0">
                <a:latin typeface="Times New Roman" panose="02020603050405020304" pitchFamily="18" charset="0"/>
                <a:ea typeface="楷体_GB2312" pitchFamily="49" charset="-122"/>
              </a:rPr>
              <a:t>，请见</a:t>
            </a:r>
            <a:r>
              <a:rPr lang="zh-CN" altLang="en-US" sz="2000" b="1" dirty="0">
                <a:latin typeface="Times New Roman" panose="02020603050405020304" pitchFamily="18" charset="0"/>
                <a:ea typeface="楷体_GB2312" pitchFamily="49" charset="-122"/>
              </a:rPr>
              <a:t>本</a:t>
            </a:r>
            <a:r>
              <a:rPr lang="zh-CN" altLang="en-US" sz="2000" b="1" dirty="0" smtClean="0">
                <a:latin typeface="Times New Roman" panose="02020603050405020304" pitchFamily="18" charset="0"/>
                <a:ea typeface="楷体_GB2312" pitchFamily="49" charset="-122"/>
              </a:rPr>
              <a:t>章</a:t>
            </a:r>
            <a:r>
              <a:rPr lang="en-US" altLang="zh-CN" sz="2000" b="1" dirty="0" err="1" smtClean="0">
                <a:latin typeface="Times New Roman" panose="02020603050405020304" pitchFamily="18" charset="0"/>
                <a:ea typeface="楷体_GB2312" pitchFamily="49" charset="-122"/>
              </a:rPr>
              <a:t>ppt</a:t>
            </a:r>
            <a:r>
              <a:rPr lang="zh-CN" altLang="en-US" sz="2000" b="1" dirty="0" smtClean="0">
                <a:latin typeface="Times New Roman" panose="02020603050405020304" pitchFamily="18" charset="0"/>
                <a:ea typeface="楷体_GB2312" pitchFamily="49" charset="-122"/>
              </a:rPr>
              <a:t>第</a:t>
            </a:r>
            <a:r>
              <a:rPr lang="en-US" altLang="zh-CN" sz="2000" b="1" dirty="0" smtClean="0">
                <a:latin typeface="Times New Roman" panose="02020603050405020304" pitchFamily="18" charset="0"/>
                <a:ea typeface="楷体_GB2312" pitchFamily="49" charset="-122"/>
              </a:rPr>
              <a:t>26</a:t>
            </a:r>
            <a:r>
              <a:rPr lang="zh-CN" altLang="en-US" sz="2000" b="1" dirty="0" smtClean="0">
                <a:latin typeface="Times New Roman" panose="02020603050405020304" pitchFamily="18" charset="0"/>
                <a:ea typeface="楷体_GB2312" pitchFamily="49" charset="-122"/>
              </a:rPr>
              <a:t>页</a:t>
            </a:r>
            <a:endParaRPr lang="en-US" altLang="zh-CN" sz="2000" b="1" baseline="-25000" dirty="0">
              <a:latin typeface="Times New Roman" panose="02020603050405020304" pitchFamily="18" charset="0"/>
              <a:ea typeface="楷体_GB2312" pitchFamily="49" charset="-122"/>
            </a:endParaRPr>
          </a:p>
        </p:txBody>
      </p:sp>
      <p:cxnSp>
        <p:nvCxnSpPr>
          <p:cNvPr id="6" name="肘形连接符 5"/>
          <p:cNvCxnSpPr/>
          <p:nvPr/>
        </p:nvCxnSpPr>
        <p:spPr>
          <a:xfrm rot="10800000" flipV="1">
            <a:off x="6016487" y="5049077"/>
            <a:ext cx="2024822" cy="1378739"/>
          </a:xfrm>
          <a:prstGeom prst="bentConnector3">
            <a:avLst>
              <a:gd name="adj1" fmla="val -30502"/>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90" y="1367639"/>
            <a:ext cx="3670110" cy="34750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33795"/>
          <p:cNvSpPr>
            <a:spLocks noChangeArrowheads="1"/>
          </p:cNvSpPr>
          <p:nvPr/>
        </p:nvSpPr>
        <p:spPr bwMode="auto">
          <a:xfrm>
            <a:off x="3348038" y="333375"/>
            <a:ext cx="4392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ea typeface="楷体_GB2312" pitchFamily="49" charset="-122"/>
              </a:rPr>
              <a:t>若以</a:t>
            </a:r>
            <a:r>
              <a:rPr lang="en-US" altLang="zh-CN" sz="2400" b="1">
                <a:latin typeface="Times New Roman" panose="02020603050405020304" pitchFamily="18" charset="0"/>
                <a:ea typeface="楷体_GB2312" pitchFamily="49" charset="-122"/>
              </a:rPr>
              <a:t>0℃</a:t>
            </a:r>
            <a:r>
              <a:rPr lang="zh-CN" altLang="en-US" sz="2400" b="1">
                <a:latin typeface="Times New Roman" panose="02020603050405020304" pitchFamily="18" charset="0"/>
                <a:ea typeface="楷体_GB2312" pitchFamily="49" charset="-122"/>
              </a:rPr>
              <a:t>为起点：</a:t>
            </a:r>
            <a:endParaRPr lang="en-US" altLang="zh-CN" sz="2400" b="1" baseline="-25000">
              <a:latin typeface="Times New Roman" panose="02020603050405020304" pitchFamily="18" charset="0"/>
              <a:ea typeface="楷体_GB2312" pitchFamily="49" charset="-122"/>
            </a:endParaRPr>
          </a:p>
        </p:txBody>
      </p:sp>
      <p:graphicFrame>
        <p:nvGraphicFramePr>
          <p:cNvPr id="66563" name="对象 33796"/>
          <p:cNvGraphicFramePr/>
          <p:nvPr/>
        </p:nvGraphicFramePr>
        <p:xfrm>
          <a:off x="36513" y="2636838"/>
          <a:ext cx="3671887" cy="3475037"/>
        </p:xfrm>
        <a:graphic>
          <a:graphicData uri="http://schemas.openxmlformats.org/presentationml/2006/ole">
            <mc:AlternateContent xmlns:mc="http://schemas.openxmlformats.org/markup-compatibility/2006">
              <mc:Choice xmlns:v="urn:schemas-microsoft-com:vml" Requires="v">
                <p:oleObj spid="_x0000_s75926" r:id="rId4" imgW="2466975" imgH="2338070" progId="Visio.Drawing.11">
                  <p:embed/>
                </p:oleObj>
              </mc:Choice>
              <mc:Fallback>
                <p:oleObj r:id="rId4" imgW="2466975" imgH="2338070" progId="Visio.Drawing.11">
                  <p:embed/>
                  <p:pic>
                    <p:nvPicPr>
                      <p:cNvPr id="0" name="对象 3379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3" y="2636838"/>
                        <a:ext cx="3671887"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6564" name="矩形 33799"/>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6565" name="对象 33798"/>
          <p:cNvGraphicFramePr/>
          <p:nvPr/>
        </p:nvGraphicFramePr>
        <p:xfrm>
          <a:off x="971550" y="908050"/>
          <a:ext cx="1968500" cy="1246188"/>
        </p:xfrm>
        <a:graphic>
          <a:graphicData uri="http://schemas.openxmlformats.org/presentationml/2006/ole">
            <mc:AlternateContent xmlns:mc="http://schemas.openxmlformats.org/markup-compatibility/2006">
              <mc:Choice xmlns:v="urn:schemas-microsoft-com:vml" Requires="v">
                <p:oleObj spid="_x0000_s75927" r:id="rId6" imgW="901065" imgH="571500" progId="Equation.DSMT4">
                  <p:embed/>
                </p:oleObj>
              </mc:Choice>
              <mc:Fallback>
                <p:oleObj r:id="rId6" imgW="901065" imgH="571500" progId="Equation.DSMT4">
                  <p:embed/>
                  <p:pic>
                    <p:nvPicPr>
                      <p:cNvPr id="0" name="对象 3379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908050"/>
                        <a:ext cx="1968500"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6566" name="矩形 33801"/>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6567" name="对象 33800"/>
          <p:cNvGraphicFramePr/>
          <p:nvPr/>
        </p:nvGraphicFramePr>
        <p:xfrm>
          <a:off x="3348038" y="3068638"/>
          <a:ext cx="3644900" cy="895350"/>
        </p:xfrm>
        <a:graphic>
          <a:graphicData uri="http://schemas.openxmlformats.org/presentationml/2006/ole">
            <mc:AlternateContent xmlns:mc="http://schemas.openxmlformats.org/markup-compatibility/2006">
              <mc:Choice xmlns:v="urn:schemas-microsoft-com:vml" Requires="v">
                <p:oleObj spid="_x0000_s75928" r:id="rId8" imgW="2208530" imgH="546100" progId="Equation.DSMT4">
                  <p:embed/>
                </p:oleObj>
              </mc:Choice>
              <mc:Fallback>
                <p:oleObj r:id="rId8" imgW="2208530" imgH="546100" progId="Equation.DSMT4">
                  <p:embed/>
                  <p:pic>
                    <p:nvPicPr>
                      <p:cNvPr id="0" name="对象 3380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48038" y="3068638"/>
                        <a:ext cx="36449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6568" name="矩形 33803"/>
          <p:cNvSpPr>
            <a:spLocks noChangeArrowheads="1"/>
          </p:cNvSpPr>
          <p:nvPr/>
        </p:nvSpPr>
        <p:spPr bwMode="auto">
          <a:xfrm>
            <a:off x="3779838" y="2492375"/>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楷体_GB2312" pitchFamily="49" charset="-122"/>
                <a:ea typeface="楷体_GB2312" pitchFamily="49" charset="-122"/>
              </a:rPr>
              <a:t>根据平均比热容的定义，有</a:t>
            </a:r>
          </a:p>
        </p:txBody>
      </p:sp>
      <p:sp>
        <p:nvSpPr>
          <p:cNvPr id="66569" name="矩形 33805"/>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6570" name="对象 33804"/>
          <p:cNvGraphicFramePr/>
          <p:nvPr/>
        </p:nvGraphicFramePr>
        <p:xfrm>
          <a:off x="3348038" y="4005263"/>
          <a:ext cx="3646487" cy="922337"/>
        </p:xfrm>
        <a:graphic>
          <a:graphicData uri="http://schemas.openxmlformats.org/presentationml/2006/ole">
            <mc:AlternateContent xmlns:mc="http://schemas.openxmlformats.org/markup-compatibility/2006">
              <mc:Choice xmlns:v="urn:schemas-microsoft-com:vml" Requires="v">
                <p:oleObj spid="_x0000_s75929" r:id="rId10" imgW="2145665" imgH="546100" progId="Equation.DSMT4">
                  <p:embed/>
                </p:oleObj>
              </mc:Choice>
              <mc:Fallback>
                <p:oleObj r:id="rId10" imgW="2145665" imgH="546100" progId="Equation.DSMT4">
                  <p:embed/>
                  <p:pic>
                    <p:nvPicPr>
                      <p:cNvPr id="0" name="对象 3380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8038" y="4005263"/>
                        <a:ext cx="3646487"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08" name="矩形 33807"/>
          <p:cNvSpPr>
            <a:spLocks noChangeArrowheads="1"/>
          </p:cNvSpPr>
          <p:nvPr/>
        </p:nvSpPr>
        <p:spPr bwMode="auto">
          <a:xfrm>
            <a:off x="5219700" y="3213100"/>
            <a:ext cx="1871663" cy="1728788"/>
          </a:xfrm>
          <a:prstGeom prst="rect">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6572" name="矩形 33810"/>
          <p:cNvSpPr>
            <a:spLocks noChangeArrowheads="1"/>
          </p:cNvSpPr>
          <p:nvPr/>
        </p:nvSpPr>
        <p:spPr bwMode="auto">
          <a:xfrm>
            <a:off x="0" y="3162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3810" name="对象 33809"/>
          <p:cNvGraphicFramePr/>
          <p:nvPr/>
        </p:nvGraphicFramePr>
        <p:xfrm>
          <a:off x="4356100" y="5373688"/>
          <a:ext cx="3097213" cy="1163637"/>
        </p:xfrm>
        <a:graphic>
          <a:graphicData uri="http://schemas.openxmlformats.org/presentationml/2006/ole">
            <mc:AlternateContent xmlns:mc="http://schemas.openxmlformats.org/markup-compatibility/2006">
              <mc:Choice xmlns:v="urn:schemas-microsoft-com:vml" Requires="v">
                <p:oleObj spid="_x0000_s75930" r:id="rId12" imgW="1422400" imgH="533400" progId="Equation.DSMT4">
                  <p:embed/>
                </p:oleObj>
              </mc:Choice>
              <mc:Fallback>
                <p:oleObj r:id="rId12" imgW="1422400" imgH="533400" progId="Equation.DSMT4">
                  <p:embed/>
                  <p:pic>
                    <p:nvPicPr>
                      <p:cNvPr id="0" name="对象 3380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56100" y="5373688"/>
                        <a:ext cx="3097213"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12" name="椭圆 33811"/>
          <p:cNvSpPr>
            <a:spLocks noChangeArrowheads="1"/>
          </p:cNvSpPr>
          <p:nvPr/>
        </p:nvSpPr>
        <p:spPr bwMode="auto">
          <a:xfrm>
            <a:off x="5148263" y="5373688"/>
            <a:ext cx="792162" cy="719137"/>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13" name="椭圆 33812"/>
          <p:cNvSpPr>
            <a:spLocks noChangeArrowheads="1"/>
          </p:cNvSpPr>
          <p:nvPr/>
        </p:nvSpPr>
        <p:spPr bwMode="auto">
          <a:xfrm>
            <a:off x="6372225" y="5373688"/>
            <a:ext cx="792163" cy="719137"/>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15" name="矩形 33814"/>
          <p:cNvSpPr>
            <a:spLocks noChangeArrowheads="1"/>
          </p:cNvSpPr>
          <p:nvPr/>
        </p:nvSpPr>
        <p:spPr bwMode="auto">
          <a:xfrm>
            <a:off x="7596188" y="5445125"/>
            <a:ext cx="208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latin typeface="楷体_GB2312" pitchFamily="49" charset="-122"/>
                <a:ea typeface="楷体_GB2312" pitchFamily="49" charset="-122"/>
              </a:rPr>
              <a:t>查表获得</a:t>
            </a:r>
          </a:p>
        </p:txBody>
      </p:sp>
      <p:graphicFrame>
        <p:nvGraphicFramePr>
          <p:cNvPr id="66577" name="对象 33815"/>
          <p:cNvGraphicFramePr/>
          <p:nvPr/>
        </p:nvGraphicFramePr>
        <p:xfrm>
          <a:off x="3132138" y="981075"/>
          <a:ext cx="2447925" cy="1157288"/>
        </p:xfrm>
        <a:graphic>
          <a:graphicData uri="http://schemas.openxmlformats.org/presentationml/2006/ole">
            <mc:AlternateContent xmlns:mc="http://schemas.openxmlformats.org/markup-compatibility/2006">
              <mc:Choice xmlns:v="urn:schemas-microsoft-com:vml" Requires="v">
                <p:oleObj spid="_x0000_s75931" r:id="rId14" imgW="1155065" imgH="546100" progId="Equation.DSMT4">
                  <p:embed/>
                </p:oleObj>
              </mc:Choice>
              <mc:Fallback>
                <p:oleObj r:id="rId14" imgW="1155065" imgH="546100" progId="Equation.DSMT4">
                  <p:embed/>
                  <p:pic>
                    <p:nvPicPr>
                      <p:cNvPr id="0" name="对象 3381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32138" y="981075"/>
                        <a:ext cx="244792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17" name="直接连接符 33816"/>
          <p:cNvSpPr>
            <a:spLocks noChangeShapeType="1"/>
          </p:cNvSpPr>
          <p:nvPr/>
        </p:nvSpPr>
        <p:spPr bwMode="auto">
          <a:xfrm>
            <a:off x="7092950" y="4076700"/>
            <a:ext cx="1150938" cy="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18" name="直接连接符 33817"/>
          <p:cNvSpPr>
            <a:spLocks noChangeShapeType="1"/>
          </p:cNvSpPr>
          <p:nvPr/>
        </p:nvSpPr>
        <p:spPr bwMode="auto">
          <a:xfrm flipV="1">
            <a:off x="8243888" y="1341438"/>
            <a:ext cx="0" cy="2735262"/>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19" name="直接连接符 33818"/>
          <p:cNvSpPr>
            <a:spLocks noChangeShapeType="1"/>
          </p:cNvSpPr>
          <p:nvPr/>
        </p:nvSpPr>
        <p:spPr bwMode="auto">
          <a:xfrm flipH="1">
            <a:off x="5795963" y="1341438"/>
            <a:ext cx="2447925" cy="0"/>
          </a:xfrm>
          <a:prstGeom prst="line">
            <a:avLst/>
          </a:prstGeom>
          <a:noFill/>
          <a:ln w="25400">
            <a:solidFill>
              <a:schemeClr val="hlink"/>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808"/>
                                        </p:tgtEl>
                                        <p:attrNameLst>
                                          <p:attrName>style.visibility</p:attrName>
                                        </p:attrNameLst>
                                      </p:cBhvr>
                                      <p:to>
                                        <p:strVal val="visible"/>
                                      </p:to>
                                    </p:set>
                                    <p:animEffect transition="in" filter="blinds(horizontal)">
                                      <p:cBhvr>
                                        <p:cTn id="7" dur="500"/>
                                        <p:tgtEl>
                                          <p:spTgt spid="338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817"/>
                                        </p:tgtEl>
                                        <p:attrNameLst>
                                          <p:attrName>style.visibility</p:attrName>
                                        </p:attrNameLst>
                                      </p:cBhvr>
                                      <p:to>
                                        <p:strVal val="visible"/>
                                      </p:to>
                                    </p:set>
                                    <p:animEffect transition="in" filter="wipe(left)">
                                      <p:cBhvr>
                                        <p:cTn id="12" dur="500"/>
                                        <p:tgtEl>
                                          <p:spTgt spid="338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818"/>
                                        </p:tgtEl>
                                        <p:attrNameLst>
                                          <p:attrName>style.visibility</p:attrName>
                                        </p:attrNameLst>
                                      </p:cBhvr>
                                      <p:to>
                                        <p:strVal val="visible"/>
                                      </p:to>
                                    </p:set>
                                    <p:animEffect transition="in" filter="wipe(down)">
                                      <p:cBhvr>
                                        <p:cTn id="17" dur="500"/>
                                        <p:tgtEl>
                                          <p:spTgt spid="338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3819"/>
                                        </p:tgtEl>
                                        <p:attrNameLst>
                                          <p:attrName>style.visibility</p:attrName>
                                        </p:attrNameLst>
                                      </p:cBhvr>
                                      <p:to>
                                        <p:strVal val="visible"/>
                                      </p:to>
                                    </p:set>
                                    <p:animEffect transition="in" filter="wipe(right)">
                                      <p:cBhvr>
                                        <p:cTn id="22" dur="500"/>
                                        <p:tgtEl>
                                          <p:spTgt spid="338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3810"/>
                                        </p:tgtEl>
                                        <p:attrNameLst>
                                          <p:attrName>style.visibility</p:attrName>
                                        </p:attrNameLst>
                                      </p:cBhvr>
                                      <p:to>
                                        <p:strVal val="visible"/>
                                      </p:to>
                                    </p:set>
                                    <p:animEffect transition="in" filter="blinds(horizontal)">
                                      <p:cBhvr>
                                        <p:cTn id="27" dur="500"/>
                                        <p:tgtEl>
                                          <p:spTgt spid="338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812"/>
                                        </p:tgtEl>
                                        <p:attrNameLst>
                                          <p:attrName>style.visibility</p:attrName>
                                        </p:attrNameLst>
                                      </p:cBhvr>
                                      <p:to>
                                        <p:strVal val="visible"/>
                                      </p:to>
                                    </p:set>
                                    <p:animEffect transition="in" filter="blinds(horizontal)">
                                      <p:cBhvr>
                                        <p:cTn id="32" dur="500"/>
                                        <p:tgtEl>
                                          <p:spTgt spid="33812"/>
                                        </p:tgtEl>
                                      </p:cBhvr>
                                    </p:animEffect>
                                  </p:childTnLst>
                                </p:cTn>
                              </p:par>
                              <p:par>
                                <p:cTn id="33" presetID="3" presetClass="entr" presetSubtype="10" fill="hold" nodeType="withEffect">
                                  <p:stCondLst>
                                    <p:cond delay="0"/>
                                  </p:stCondLst>
                                  <p:childTnLst>
                                    <p:set>
                                      <p:cBhvr>
                                        <p:cTn id="34" dur="1" fill="hold">
                                          <p:stCondLst>
                                            <p:cond delay="0"/>
                                          </p:stCondLst>
                                        </p:cTn>
                                        <p:tgtEl>
                                          <p:spTgt spid="33813"/>
                                        </p:tgtEl>
                                        <p:attrNameLst>
                                          <p:attrName>style.visibility</p:attrName>
                                        </p:attrNameLst>
                                      </p:cBhvr>
                                      <p:to>
                                        <p:strVal val="visible"/>
                                      </p:to>
                                    </p:set>
                                    <p:animEffect transition="in" filter="blinds(horizontal)">
                                      <p:cBhvr>
                                        <p:cTn id="35" dur="500"/>
                                        <p:tgtEl>
                                          <p:spTgt spid="3381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3815"/>
                                        </p:tgtEl>
                                        <p:attrNameLst>
                                          <p:attrName>style.visibility</p:attrName>
                                        </p:attrNameLst>
                                      </p:cBhvr>
                                      <p:to>
                                        <p:strVal val="visible"/>
                                      </p:to>
                                    </p:set>
                                    <p:animEffect transition="in" filter="blinds(horizontal)">
                                      <p:cBhvr>
                                        <p:cTn id="38" dur="500"/>
                                        <p:tgtEl>
                                          <p:spTgt spid="33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对象 34819"/>
          <p:cNvGraphicFramePr/>
          <p:nvPr/>
        </p:nvGraphicFramePr>
        <p:xfrm>
          <a:off x="395288" y="882650"/>
          <a:ext cx="3673475" cy="1379538"/>
        </p:xfrm>
        <a:graphic>
          <a:graphicData uri="http://schemas.openxmlformats.org/presentationml/2006/ole">
            <mc:AlternateContent xmlns:mc="http://schemas.openxmlformats.org/markup-compatibility/2006">
              <mc:Choice xmlns:v="urn:schemas-microsoft-com:vml" Requires="v">
                <p:oleObj spid="_x0000_s76910" r:id="rId4" imgW="1422400" imgH="533400" progId="Equation.DSMT4">
                  <p:embed/>
                </p:oleObj>
              </mc:Choice>
              <mc:Fallback>
                <p:oleObj r:id="rId4" imgW="1422400" imgH="533400" progId="Equation.DSMT4">
                  <p:embed/>
                  <p:pic>
                    <p:nvPicPr>
                      <p:cNvPr id="0" name="对象 3481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882650"/>
                        <a:ext cx="3673475"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87" name="椭圆 34820"/>
          <p:cNvSpPr>
            <a:spLocks noChangeArrowheads="1"/>
          </p:cNvSpPr>
          <p:nvPr/>
        </p:nvSpPr>
        <p:spPr bwMode="auto">
          <a:xfrm>
            <a:off x="1476375" y="836613"/>
            <a:ext cx="863600" cy="8636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7588" name="椭圆 34821"/>
          <p:cNvSpPr>
            <a:spLocks noChangeArrowheads="1"/>
          </p:cNvSpPr>
          <p:nvPr/>
        </p:nvSpPr>
        <p:spPr bwMode="auto">
          <a:xfrm>
            <a:off x="2916238" y="908050"/>
            <a:ext cx="792162" cy="792163"/>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7589" name="矩形 34822"/>
          <p:cNvSpPr>
            <a:spLocks noChangeArrowheads="1"/>
          </p:cNvSpPr>
          <p:nvPr/>
        </p:nvSpPr>
        <p:spPr bwMode="auto">
          <a:xfrm>
            <a:off x="4356100" y="1052513"/>
            <a:ext cx="2232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49" charset="-122"/>
                <a:ea typeface="楷体_GB2312" pitchFamily="49" charset="-122"/>
              </a:rPr>
              <a:t>查表获得</a:t>
            </a:r>
          </a:p>
        </p:txBody>
      </p:sp>
      <p:sp>
        <p:nvSpPr>
          <p:cNvPr id="67590" name="矩形 34824"/>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24" name="对象 34823"/>
          <p:cNvGraphicFramePr/>
          <p:nvPr/>
        </p:nvGraphicFramePr>
        <p:xfrm>
          <a:off x="611188" y="2420938"/>
          <a:ext cx="3024187" cy="1028700"/>
        </p:xfrm>
        <a:graphic>
          <a:graphicData uri="http://schemas.openxmlformats.org/presentationml/2006/ole">
            <mc:AlternateContent xmlns:mc="http://schemas.openxmlformats.org/markup-compatibility/2006">
              <mc:Choice xmlns:v="urn:schemas-microsoft-com:vml" Requires="v">
                <p:oleObj spid="_x0000_s76911" name="Equation" r:id="rId6" imgW="23469600" imgH="7924800" progId="Equation.DSMT4">
                  <p:embed/>
                </p:oleObj>
              </mc:Choice>
              <mc:Fallback>
                <p:oleObj name="Equation" r:id="rId6" imgW="23469600" imgH="7924800" progId="Equation.DSMT4">
                  <p:embed/>
                  <p:pic>
                    <p:nvPicPr>
                      <p:cNvPr id="0" name="对象 34823"/>
                      <p:cNvPicPr>
                        <a:picLocks noChangeArrowheads="1"/>
                      </p:cNvPicPr>
                      <p:nvPr/>
                    </p:nvPicPr>
                    <p:blipFill>
                      <a:blip r:embed="rId7"/>
                      <a:srcRect/>
                      <a:stretch>
                        <a:fillRect/>
                      </a:stretch>
                    </p:blipFill>
                    <p:spPr bwMode="auto">
                      <a:xfrm>
                        <a:off x="611188" y="2420938"/>
                        <a:ext cx="3024187"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2" name="矩形 34826"/>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26" name="对象 34825"/>
          <p:cNvGraphicFramePr/>
          <p:nvPr/>
        </p:nvGraphicFramePr>
        <p:xfrm>
          <a:off x="395288" y="3933825"/>
          <a:ext cx="3889375" cy="1020763"/>
        </p:xfrm>
        <a:graphic>
          <a:graphicData uri="http://schemas.openxmlformats.org/presentationml/2006/ole">
            <mc:AlternateContent xmlns:mc="http://schemas.openxmlformats.org/markup-compatibility/2006">
              <mc:Choice xmlns:v="urn:schemas-microsoft-com:vml" Requires="v">
                <p:oleObj spid="_x0000_s76912" r:id="rId8" imgW="1269365" imgH="330200" progId="Equation.DSMT4">
                  <p:embed/>
                </p:oleObj>
              </mc:Choice>
              <mc:Fallback>
                <p:oleObj r:id="rId8" imgW="1269365" imgH="330200" progId="Equation.DSMT4">
                  <p:embed/>
                  <p:pic>
                    <p:nvPicPr>
                      <p:cNvPr id="0" name="对象 348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3933825"/>
                        <a:ext cx="3889375"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4" name="矩形 34828"/>
          <p:cNvSpPr>
            <a:spLocks noChangeArrowheads="1"/>
          </p:cNvSpPr>
          <p:nvPr/>
        </p:nvSpPr>
        <p:spPr bwMode="auto">
          <a:xfrm>
            <a:off x="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28" name="对象 34827"/>
          <p:cNvGraphicFramePr/>
          <p:nvPr/>
        </p:nvGraphicFramePr>
        <p:xfrm>
          <a:off x="468313" y="5229225"/>
          <a:ext cx="4248150" cy="1008063"/>
        </p:xfrm>
        <a:graphic>
          <a:graphicData uri="http://schemas.openxmlformats.org/presentationml/2006/ole">
            <mc:AlternateContent xmlns:mc="http://schemas.openxmlformats.org/markup-compatibility/2006">
              <mc:Choice xmlns:v="urn:schemas-microsoft-com:vml" Requires="v">
                <p:oleObj spid="_x0000_s76913" r:id="rId10" imgW="1281430" imgH="304800" progId="Equation.DSMT4">
                  <p:embed/>
                </p:oleObj>
              </mc:Choice>
              <mc:Fallback>
                <p:oleObj r:id="rId10" imgW="1281430" imgH="304800" progId="Equation.DSMT4">
                  <p:embed/>
                  <p:pic>
                    <p:nvPicPr>
                      <p:cNvPr id="0" name="对象 3482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8313" y="5229225"/>
                        <a:ext cx="424815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31" name="矩形 34830"/>
          <p:cNvSpPr>
            <a:spLocks noChangeArrowheads="1"/>
          </p:cNvSpPr>
          <p:nvPr/>
        </p:nvSpPr>
        <p:spPr bwMode="auto">
          <a:xfrm>
            <a:off x="4211638" y="2461865"/>
            <a:ext cx="450056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ea typeface="楷体_GB2312" pitchFamily="49" charset="-122"/>
              </a:rPr>
              <a:t>表中一般只给出平均比定压热容的数据，利用迈耶公式求平均比定容热容</a:t>
            </a:r>
            <a:r>
              <a:rPr lang="zh-CN" altLang="en-US" sz="2800" b="1" dirty="0"/>
              <a:t> </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24"/>
                                        </p:tgtEl>
                                        <p:attrNameLst>
                                          <p:attrName>style.visibility</p:attrName>
                                        </p:attrNameLst>
                                      </p:cBhvr>
                                      <p:to>
                                        <p:strVal val="visible"/>
                                      </p:to>
                                    </p:set>
                                    <p:animEffect transition="in" filter="blinds(horizontal)">
                                      <p:cBhvr>
                                        <p:cTn id="7" dur="500"/>
                                        <p:tgtEl>
                                          <p:spTgt spid="3482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4831"/>
                                        </p:tgtEl>
                                        <p:attrNameLst>
                                          <p:attrName>style.visibility</p:attrName>
                                        </p:attrNameLst>
                                      </p:cBhvr>
                                      <p:to>
                                        <p:strVal val="visible"/>
                                      </p:to>
                                    </p:set>
                                    <p:animEffect transition="in" filter="blinds(horizontal)">
                                      <p:cBhvr>
                                        <p:cTn id="10" dur="500"/>
                                        <p:tgtEl>
                                          <p:spTgt spid="3483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4826"/>
                                        </p:tgtEl>
                                        <p:attrNameLst>
                                          <p:attrName>style.visibility</p:attrName>
                                        </p:attrNameLst>
                                      </p:cBhvr>
                                      <p:to>
                                        <p:strVal val="visible"/>
                                      </p:to>
                                    </p:set>
                                    <p:animEffect transition="in" filter="blinds(horizontal)">
                                      <p:cBhvr>
                                        <p:cTn id="15" dur="500"/>
                                        <p:tgtEl>
                                          <p:spTgt spid="3482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4828"/>
                                        </p:tgtEl>
                                        <p:attrNameLst>
                                          <p:attrName>style.visibility</p:attrName>
                                        </p:attrNameLst>
                                      </p:cBhvr>
                                      <p:to>
                                        <p:strVal val="visible"/>
                                      </p:to>
                                    </p:set>
                                    <p:animEffect transition="in" filter="blinds(horizontal)">
                                      <p:cBhvr>
                                        <p:cTn id="20" dur="500"/>
                                        <p:tgtEl>
                                          <p:spTgt spid="34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35843"/>
          <p:cNvSpPr>
            <a:spLocks noChangeArrowheads="1"/>
          </p:cNvSpPr>
          <p:nvPr/>
        </p:nvSpPr>
        <p:spPr bwMode="auto">
          <a:xfrm>
            <a:off x="611188" y="476250"/>
            <a:ext cx="5761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a:solidFill>
                  <a:srgbClr val="0000FF"/>
                </a:solidFill>
                <a:latin typeface="楷体_GB2312" pitchFamily="49" charset="-122"/>
                <a:ea typeface="楷体_GB2312" pitchFamily="49" charset="-122"/>
              </a:rPr>
              <a:t>3</a:t>
            </a:r>
            <a:r>
              <a:rPr lang="zh-CN" altLang="en-US" sz="2800" b="1">
                <a:solidFill>
                  <a:srgbClr val="0000FF"/>
                </a:solidFill>
                <a:latin typeface="楷体_GB2312" pitchFamily="49" charset="-122"/>
                <a:ea typeface="楷体_GB2312" pitchFamily="49" charset="-122"/>
              </a:rPr>
              <a:t>、平均比热容的直线关系式</a:t>
            </a:r>
          </a:p>
        </p:txBody>
      </p:sp>
      <p:sp>
        <p:nvSpPr>
          <p:cNvPr id="68611" name="矩形 35845"/>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8612" name="对象 35844"/>
          <p:cNvGraphicFramePr/>
          <p:nvPr/>
        </p:nvGraphicFramePr>
        <p:xfrm>
          <a:off x="1692275" y="2205038"/>
          <a:ext cx="4392613" cy="909637"/>
        </p:xfrm>
        <a:graphic>
          <a:graphicData uri="http://schemas.openxmlformats.org/presentationml/2006/ole">
            <mc:AlternateContent xmlns:mc="http://schemas.openxmlformats.org/markup-compatibility/2006">
              <mc:Choice xmlns:v="urn:schemas-microsoft-com:vml" Requires="v">
                <p:oleObj spid="_x0000_s77930" r:id="rId4" imgW="1612900" imgH="330200" progId="Equation.DSMT4">
                  <p:embed/>
                </p:oleObj>
              </mc:Choice>
              <mc:Fallback>
                <p:oleObj r:id="rId4" imgW="1612900" imgH="330200" progId="Equation.DSMT4">
                  <p:embed/>
                  <p:pic>
                    <p:nvPicPr>
                      <p:cNvPr id="0" name="对象 3584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205038"/>
                        <a:ext cx="4392613"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3" name="矩形 35846"/>
          <p:cNvSpPr>
            <a:spLocks noChangeArrowheads="1"/>
          </p:cNvSpPr>
          <p:nvPr/>
        </p:nvSpPr>
        <p:spPr bwMode="auto">
          <a:xfrm>
            <a:off x="900113" y="1412875"/>
            <a:ext cx="7394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ea typeface="楷体_GB2312" pitchFamily="49" charset="-122"/>
              </a:rPr>
              <a:t>例如，氧气的平均比定压热容的直线关系式为</a:t>
            </a:r>
            <a:r>
              <a:rPr lang="zh-CN" altLang="en-US" sz="2800" b="1"/>
              <a:t> </a:t>
            </a:r>
          </a:p>
        </p:txBody>
      </p:sp>
      <p:sp>
        <p:nvSpPr>
          <p:cNvPr id="68614" name="矩形 35847"/>
          <p:cNvSpPr>
            <a:spLocks noChangeArrowheads="1"/>
          </p:cNvSpPr>
          <p:nvPr/>
        </p:nvSpPr>
        <p:spPr bwMode="auto">
          <a:xfrm>
            <a:off x="1116013" y="3500438"/>
            <a:ext cx="71294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ea typeface="楷体_GB2312" pitchFamily="49" charset="-122"/>
              </a:rPr>
              <a:t>若需要知道氧气从温度</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1</a:t>
            </a:r>
            <a:r>
              <a:rPr lang="zh-CN" altLang="en-US" sz="2400" b="1">
                <a:latin typeface="Times New Roman" panose="02020603050405020304" pitchFamily="18" charset="0"/>
                <a:ea typeface="楷体_GB2312" pitchFamily="49" charset="-122"/>
              </a:rPr>
              <a:t>升高到</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2</a:t>
            </a:r>
            <a:r>
              <a:rPr lang="zh-CN" altLang="en-US" sz="2400" b="1">
                <a:latin typeface="Times New Roman" panose="02020603050405020304" pitchFamily="18" charset="0"/>
                <a:ea typeface="楷体_GB2312" pitchFamily="49" charset="-122"/>
              </a:rPr>
              <a:t>的平均比定压热容，只需要将</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1</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baseline="-25000">
                <a:latin typeface="Times New Roman" panose="02020603050405020304" pitchFamily="18" charset="0"/>
                <a:ea typeface="楷体_GB2312" pitchFamily="49" charset="-122"/>
              </a:rPr>
              <a:t>2</a:t>
            </a:r>
            <a:r>
              <a:rPr lang="zh-CN" altLang="en-US" sz="2400" b="1">
                <a:latin typeface="Times New Roman" panose="02020603050405020304" pitchFamily="18" charset="0"/>
                <a:ea typeface="楷体_GB2312" pitchFamily="49" charset="-122"/>
              </a:rPr>
              <a:t>的数值代入上式即可</a:t>
            </a:r>
          </a:p>
        </p:txBody>
      </p:sp>
      <p:graphicFrame>
        <p:nvGraphicFramePr>
          <p:cNvPr id="35849" name="对象 35848"/>
          <p:cNvGraphicFramePr/>
          <p:nvPr/>
        </p:nvGraphicFramePr>
        <p:xfrm>
          <a:off x="2787650" y="4437063"/>
          <a:ext cx="2847975" cy="747712"/>
        </p:xfrm>
        <a:graphic>
          <a:graphicData uri="http://schemas.openxmlformats.org/presentationml/2006/ole">
            <mc:AlternateContent xmlns:mc="http://schemas.openxmlformats.org/markup-compatibility/2006">
              <mc:Choice xmlns:v="urn:schemas-microsoft-com:vml" Requires="v">
                <p:oleObj spid="_x0000_s77931" r:id="rId6" imgW="1269365" imgH="330200" progId="Equation.DSMT4">
                  <p:embed/>
                </p:oleObj>
              </mc:Choice>
              <mc:Fallback>
                <p:oleObj r:id="rId6" imgW="1269365" imgH="330200" progId="Equation.DSMT4">
                  <p:embed/>
                  <p:pic>
                    <p:nvPicPr>
                      <p:cNvPr id="0" name="对象 3584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7650" y="4437063"/>
                        <a:ext cx="28479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0" name="对象 35849"/>
          <p:cNvGraphicFramePr/>
          <p:nvPr/>
        </p:nvGraphicFramePr>
        <p:xfrm>
          <a:off x="1547813" y="5373688"/>
          <a:ext cx="2124075" cy="722312"/>
        </p:xfrm>
        <a:graphic>
          <a:graphicData uri="http://schemas.openxmlformats.org/presentationml/2006/ole">
            <mc:AlternateContent xmlns:mc="http://schemas.openxmlformats.org/markup-compatibility/2006">
              <mc:Choice xmlns:v="urn:schemas-microsoft-com:vml" Requires="v">
                <p:oleObj spid="_x0000_s77932" r:id="rId8" imgW="977900" imgH="330200" progId="Equation.DSMT4">
                  <p:embed/>
                </p:oleObj>
              </mc:Choice>
              <mc:Fallback>
                <p:oleObj r:id="rId8" imgW="977900" imgH="330200" progId="Equation.DSMT4">
                  <p:embed/>
                  <p:pic>
                    <p:nvPicPr>
                      <p:cNvPr id="0" name="对象 3584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5373688"/>
                        <a:ext cx="2124075"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1" name="对象 35850"/>
          <p:cNvGraphicFramePr/>
          <p:nvPr/>
        </p:nvGraphicFramePr>
        <p:xfrm>
          <a:off x="4429125" y="5373688"/>
          <a:ext cx="2841625" cy="674687"/>
        </p:xfrm>
        <a:graphic>
          <a:graphicData uri="http://schemas.openxmlformats.org/presentationml/2006/ole">
            <mc:AlternateContent xmlns:mc="http://schemas.openxmlformats.org/markup-compatibility/2006">
              <mc:Choice xmlns:v="urn:schemas-microsoft-com:vml" Requires="v">
                <p:oleObj spid="_x0000_s77933" r:id="rId10" imgW="1281430" imgH="304800" progId="Equation.DSMT4">
                  <p:embed/>
                </p:oleObj>
              </mc:Choice>
              <mc:Fallback>
                <p:oleObj r:id="rId10" imgW="1281430" imgH="304800" progId="Equation.DSMT4">
                  <p:embed/>
                  <p:pic>
                    <p:nvPicPr>
                      <p:cNvPr id="0" name="对象 3585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9125" y="5373688"/>
                        <a:ext cx="284162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2" name="椭圆 35851"/>
          <p:cNvSpPr>
            <a:spLocks noChangeArrowheads="1"/>
          </p:cNvSpPr>
          <p:nvPr/>
        </p:nvSpPr>
        <p:spPr bwMode="auto">
          <a:xfrm>
            <a:off x="2358887" y="3863009"/>
            <a:ext cx="695739" cy="608911"/>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3" name="直接连接符 35852"/>
          <p:cNvSpPr>
            <a:spLocks noChangeShapeType="1"/>
          </p:cNvSpPr>
          <p:nvPr/>
        </p:nvSpPr>
        <p:spPr bwMode="auto">
          <a:xfrm flipV="1">
            <a:off x="3103563" y="2852738"/>
            <a:ext cx="2763837" cy="125571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52"/>
                                        </p:tgtEl>
                                        <p:attrNameLst>
                                          <p:attrName>style.visibility</p:attrName>
                                        </p:attrNameLst>
                                      </p:cBhvr>
                                      <p:to>
                                        <p:strVal val="visible"/>
                                      </p:to>
                                    </p:set>
                                    <p:animEffect transition="in" filter="blinds(horizontal)">
                                      <p:cBhvr>
                                        <p:cTn id="7" dur="500"/>
                                        <p:tgtEl>
                                          <p:spTgt spid="358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5853"/>
                                        </p:tgtEl>
                                        <p:attrNameLst>
                                          <p:attrName>style.visibility</p:attrName>
                                        </p:attrNameLst>
                                      </p:cBhvr>
                                      <p:to>
                                        <p:strVal val="visible"/>
                                      </p:to>
                                    </p:set>
                                    <p:animEffect transition="in" filter="wipe(down)">
                                      <p:cBhvr>
                                        <p:cTn id="12" dur="500"/>
                                        <p:tgtEl>
                                          <p:spTgt spid="358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849"/>
                                        </p:tgtEl>
                                        <p:attrNameLst>
                                          <p:attrName>style.visibility</p:attrName>
                                        </p:attrNameLst>
                                      </p:cBhvr>
                                      <p:to>
                                        <p:strVal val="visible"/>
                                      </p:to>
                                    </p:set>
                                    <p:animEffect transition="in" filter="blinds(horizontal)">
                                      <p:cBhvr>
                                        <p:cTn id="17" dur="500"/>
                                        <p:tgtEl>
                                          <p:spTgt spid="3584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850"/>
                                        </p:tgtEl>
                                        <p:attrNameLst>
                                          <p:attrName>style.visibility</p:attrName>
                                        </p:attrNameLst>
                                      </p:cBhvr>
                                      <p:to>
                                        <p:strVal val="visible"/>
                                      </p:to>
                                    </p:set>
                                    <p:animEffect transition="in" filter="blinds(horizontal)">
                                      <p:cBhvr>
                                        <p:cTn id="22" dur="500"/>
                                        <p:tgtEl>
                                          <p:spTgt spid="3585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851"/>
                                        </p:tgtEl>
                                        <p:attrNameLst>
                                          <p:attrName>style.visibility</p:attrName>
                                        </p:attrNameLst>
                                      </p:cBhvr>
                                      <p:to>
                                        <p:strVal val="visible"/>
                                      </p:to>
                                    </p:set>
                                    <p:animEffect transition="in" filter="blinds(horizontal)">
                                      <p:cBhvr>
                                        <p:cTn id="27"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36865"/>
          <p:cNvSpPr>
            <a:spLocks noChangeArrowheads="1"/>
          </p:cNvSpPr>
          <p:nvPr/>
        </p:nvSpPr>
        <p:spPr bwMode="auto">
          <a:xfrm>
            <a:off x="611188" y="476250"/>
            <a:ext cx="4032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a:solidFill>
                  <a:srgbClr val="0000FF"/>
                </a:solidFill>
                <a:latin typeface="楷体_GB2312" pitchFamily="49" charset="-122"/>
                <a:ea typeface="楷体_GB2312" pitchFamily="49" charset="-122"/>
              </a:rPr>
              <a:t>4</a:t>
            </a:r>
            <a:r>
              <a:rPr lang="zh-CN" altLang="en-US" sz="2800" b="1">
                <a:solidFill>
                  <a:srgbClr val="0000FF"/>
                </a:solidFill>
                <a:latin typeface="楷体_GB2312" pitchFamily="49" charset="-122"/>
                <a:ea typeface="楷体_GB2312" pitchFamily="49" charset="-122"/>
              </a:rPr>
              <a:t>、定值比热容</a:t>
            </a:r>
          </a:p>
        </p:txBody>
      </p:sp>
      <p:sp>
        <p:nvSpPr>
          <p:cNvPr id="69635" name="矩形 36866"/>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36" name="文本框 36873"/>
          <p:cNvSpPr txBox="1">
            <a:spLocks noChangeArrowheads="1"/>
          </p:cNvSpPr>
          <p:nvPr/>
        </p:nvSpPr>
        <p:spPr bwMode="auto">
          <a:xfrm>
            <a:off x="685800" y="1052513"/>
            <a:ext cx="7848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latin typeface="Times New Roman" panose="02020603050405020304" pitchFamily="18" charset="0"/>
              </a:rPr>
              <a:t>　　</a:t>
            </a:r>
            <a:r>
              <a:rPr lang="zh-CN" altLang="en-US" sz="2800" b="1" dirty="0">
                <a:latin typeface="Times New Roman" panose="02020603050405020304" pitchFamily="18" charset="0"/>
              </a:rPr>
              <a:t>工程上</a:t>
            </a:r>
            <a:r>
              <a:rPr lang="zh-CN" altLang="en-US" sz="2800" b="1" dirty="0" smtClean="0">
                <a:latin typeface="Times New Roman" panose="02020603050405020304" pitchFamily="18" charset="0"/>
              </a:rPr>
              <a:t>，当气体的</a:t>
            </a:r>
            <a:r>
              <a:rPr lang="zh-CN" altLang="en-US" sz="2800" b="1" dirty="0" smtClean="0">
                <a:solidFill>
                  <a:srgbClr val="FF0000"/>
                </a:solidFill>
                <a:latin typeface="Times New Roman" panose="02020603050405020304" pitchFamily="18" charset="0"/>
              </a:rPr>
              <a:t>温度</a:t>
            </a:r>
            <a:r>
              <a:rPr lang="zh-CN" altLang="en-US" sz="2800" b="1" dirty="0">
                <a:solidFill>
                  <a:srgbClr val="FF0000"/>
                </a:solidFill>
                <a:latin typeface="Times New Roman" panose="02020603050405020304" pitchFamily="18" charset="0"/>
              </a:rPr>
              <a:t>变化范围不大</a:t>
            </a:r>
            <a:r>
              <a:rPr lang="zh-CN" altLang="en-US" sz="2800" b="1" dirty="0">
                <a:latin typeface="Times New Roman" panose="02020603050405020304" pitchFamily="18" charset="0"/>
              </a:rPr>
              <a:t>或者计算</a:t>
            </a:r>
            <a:r>
              <a:rPr lang="zh-CN" altLang="en-US" sz="2800" b="1" dirty="0">
                <a:solidFill>
                  <a:srgbClr val="FF0000"/>
                </a:solidFill>
                <a:latin typeface="Times New Roman" panose="02020603050405020304" pitchFamily="18" charset="0"/>
              </a:rPr>
              <a:t>精确度要求不太高</a:t>
            </a:r>
            <a:r>
              <a:rPr lang="zh-CN" altLang="en-US" sz="2800" b="1" dirty="0">
                <a:latin typeface="Times New Roman" panose="02020603050405020304" pitchFamily="18" charset="0"/>
              </a:rPr>
              <a:t>时，将比热容视为定值。</a:t>
            </a:r>
          </a:p>
        </p:txBody>
      </p:sp>
      <p:sp>
        <p:nvSpPr>
          <p:cNvPr id="69637" name="矩形 3687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38" name="对象 36874"/>
          <p:cNvGraphicFramePr/>
          <p:nvPr/>
        </p:nvGraphicFramePr>
        <p:xfrm>
          <a:off x="2843213" y="2781300"/>
          <a:ext cx="3095625" cy="679450"/>
        </p:xfrm>
        <a:graphic>
          <a:graphicData uri="http://schemas.openxmlformats.org/presentationml/2006/ole">
            <mc:AlternateContent xmlns:mc="http://schemas.openxmlformats.org/markup-compatibility/2006">
              <mc:Choice xmlns:v="urn:schemas-microsoft-com:vml" Requires="v">
                <p:oleObj spid="_x0000_s78902" name="Equation" r:id="rId3" imgW="1167765" imgH="254000" progId="Equation.DSMT4">
                  <p:embed/>
                </p:oleObj>
              </mc:Choice>
              <mc:Fallback>
                <p:oleObj name="Equation" r:id="rId3" imgW="1167765" imgH="254000" progId="Equation.DSMT4">
                  <p:embed/>
                  <p:pic>
                    <p:nvPicPr>
                      <p:cNvPr id="0" name="对象 3687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781300"/>
                        <a:ext cx="3095625"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39" name="矩形 3687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40" name="对象 36876"/>
          <p:cNvGraphicFramePr/>
          <p:nvPr/>
        </p:nvGraphicFramePr>
        <p:xfrm>
          <a:off x="2843213" y="3789363"/>
          <a:ext cx="3168650" cy="708025"/>
        </p:xfrm>
        <a:graphic>
          <a:graphicData uri="http://schemas.openxmlformats.org/presentationml/2006/ole">
            <mc:AlternateContent xmlns:mc="http://schemas.openxmlformats.org/markup-compatibility/2006">
              <mc:Choice xmlns:v="urn:schemas-microsoft-com:vml" Requires="v">
                <p:oleObj spid="_x0000_s78903" r:id="rId5" imgW="1155700" imgH="254000" progId="Equation.DSMT4">
                  <p:embed/>
                </p:oleObj>
              </mc:Choice>
              <mc:Fallback>
                <p:oleObj r:id="rId5" imgW="1155700" imgH="254000" progId="Equation.DSMT4">
                  <p:embed/>
                  <p:pic>
                    <p:nvPicPr>
                      <p:cNvPr id="0" name="对象 3687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3789363"/>
                        <a:ext cx="3168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8237" y="511347"/>
            <a:ext cx="7466806" cy="523220"/>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buClr>
                <a:schemeClr val="folHlink"/>
              </a:buClr>
              <a:buFont typeface="Wingdings" panose="05000000000000000000" pitchFamily="2" charset="2"/>
            </a:pPr>
            <a:r>
              <a:rPr lang="en-US" altLang="zh-CN" sz="2800" b="1" dirty="0">
                <a:solidFill>
                  <a:srgbClr val="0000FF"/>
                </a:solidFill>
                <a:latin typeface="楷体_GB2312" pitchFamily="49" charset="-122"/>
                <a:ea typeface="楷体_GB2312" pitchFamily="49" charset="-122"/>
              </a:rPr>
              <a:t>5</a:t>
            </a:r>
            <a:r>
              <a:rPr lang="zh-CN" altLang="en-US" sz="2800" b="1" dirty="0">
                <a:solidFill>
                  <a:srgbClr val="0000FF"/>
                </a:solidFill>
                <a:latin typeface="楷体_GB2312" pitchFamily="49" charset="-122"/>
                <a:ea typeface="楷体_GB2312" pitchFamily="49" charset="-122"/>
              </a:rPr>
              <a:t>、气体热力性质</a:t>
            </a:r>
            <a:r>
              <a:rPr lang="zh-CN" altLang="en-US" sz="2800" b="1" dirty="0" smtClean="0">
                <a:solidFill>
                  <a:srgbClr val="0000FF"/>
                </a:solidFill>
                <a:latin typeface="楷体_GB2312" pitchFamily="49" charset="-122"/>
                <a:ea typeface="楷体_GB2312" pitchFamily="49" charset="-122"/>
              </a:rPr>
              <a:t>表</a:t>
            </a:r>
            <a:r>
              <a:rPr lang="zh-CN" altLang="en-US" sz="2800" b="1" dirty="0" smtClean="0">
                <a:latin typeface="楷体_GB2312" pitchFamily="49" charset="-122"/>
                <a:ea typeface="楷体_GB2312" pitchFamily="49" charset="-122"/>
              </a:rPr>
              <a:t>（用于计算</a:t>
            </a:r>
            <a:r>
              <a:rPr lang="zh-CN" altLang="en-US" sz="2800" b="1" dirty="0">
                <a:latin typeface="Times New Roman" panose="02020603050405020304" pitchFamily="18" charset="0"/>
                <a:ea typeface="宋体" panose="02010600030101010101" pitchFamily="2" charset="-122"/>
              </a:rPr>
              <a:t>⊿</a:t>
            </a:r>
            <a:r>
              <a:rPr lang="en-US" altLang="zh-CN" sz="2800" b="1" i="1" dirty="0" smtClean="0">
                <a:latin typeface="Times New Roman" panose="02020603050405020304" pitchFamily="18" charset="0"/>
                <a:ea typeface="宋体" panose="02010600030101010101" pitchFamily="2" charset="-122"/>
              </a:rPr>
              <a:t>u</a:t>
            </a:r>
            <a:r>
              <a:rPr lang="zh-CN" altLang="en-US" sz="2800" b="1" dirty="0" smtClean="0">
                <a:latin typeface="Times New Roman" panose="02020603050405020304" pitchFamily="18" charset="0"/>
                <a:ea typeface="宋体" panose="02010600030101010101" pitchFamily="2" charset="-122"/>
              </a:rPr>
              <a:t>和⊿</a:t>
            </a:r>
            <a:r>
              <a:rPr lang="en-US" altLang="zh-CN" sz="2800" b="1" i="1" dirty="0">
                <a:latin typeface="Times New Roman" panose="02020603050405020304" pitchFamily="18" charset="0"/>
                <a:ea typeface="宋体" panose="02010600030101010101" pitchFamily="2" charset="-122"/>
              </a:rPr>
              <a:t>h </a:t>
            </a:r>
            <a:r>
              <a:rPr lang="zh-CN" altLang="en-US" sz="2800" b="1" dirty="0" smtClean="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
        <p:nvSpPr>
          <p:cNvPr id="3" name="文本框 36873"/>
          <p:cNvSpPr txBox="1"/>
          <p:nvPr/>
        </p:nvSpPr>
        <p:spPr>
          <a:xfrm>
            <a:off x="418237" y="1238709"/>
            <a:ext cx="7848600" cy="4185761"/>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457200" indent="-457200">
              <a:spcBef>
                <a:spcPct val="50000"/>
              </a:spcBef>
              <a:buFont typeface="Arial" panose="020B0604020202020204" pitchFamily="34" charset="0"/>
              <a:buChar char="•"/>
            </a:pPr>
            <a:r>
              <a:rPr lang="zh-CN" altLang="en-US" sz="2800" b="1" dirty="0" smtClean="0">
                <a:latin typeface="Times New Roman" panose="02020603050405020304" pitchFamily="18" charset="0"/>
                <a:ea typeface="宋体" panose="02010600030101010101" pitchFamily="2" charset="-122"/>
              </a:rPr>
              <a:t>为了</a:t>
            </a:r>
            <a:r>
              <a:rPr lang="zh-CN" altLang="en-US" sz="2800" b="1" dirty="0">
                <a:latin typeface="Times New Roman" panose="02020603050405020304" pitchFamily="18" charset="0"/>
                <a:ea typeface="宋体" panose="02010600030101010101" pitchFamily="2" charset="-122"/>
              </a:rPr>
              <a:t>省去积分的麻烦以便于工程使用，人们将一些常用气体的</a:t>
            </a:r>
            <a:r>
              <a:rPr lang="en-US" altLang="zh-CN" sz="2800" b="1" i="1" dirty="0">
                <a:latin typeface="Times New Roman" panose="02020603050405020304" pitchFamily="18" charset="0"/>
                <a:ea typeface="宋体" panose="02010600030101010101" pitchFamily="2" charset="-122"/>
              </a:rPr>
              <a:t>u</a:t>
            </a:r>
            <a:r>
              <a:rPr lang="zh-CN" altLang="en-US" sz="2800" b="1" dirty="0">
                <a:latin typeface="Times New Roman" panose="02020603050405020304" pitchFamily="18" charset="0"/>
                <a:ea typeface="宋体" panose="02010600030101010101" pitchFamily="2" charset="-122"/>
              </a:rPr>
              <a:t>和</a:t>
            </a:r>
            <a:r>
              <a:rPr lang="en-US" altLang="zh-CN" sz="2800" b="1" i="1" dirty="0">
                <a:latin typeface="Times New Roman" panose="02020603050405020304" pitchFamily="18" charset="0"/>
                <a:ea typeface="宋体" panose="02010600030101010101" pitchFamily="2" charset="-122"/>
              </a:rPr>
              <a:t>h</a:t>
            </a:r>
            <a:r>
              <a:rPr lang="zh-CN" altLang="en-US" sz="2800" b="1" dirty="0">
                <a:latin typeface="Times New Roman" panose="02020603050405020304" pitchFamily="18" charset="0"/>
                <a:ea typeface="宋体" panose="02010600030101010101" pitchFamily="2" charset="-122"/>
              </a:rPr>
              <a:t>的值编制成表以供查</a:t>
            </a:r>
            <a:r>
              <a:rPr lang="zh-CN" altLang="en-US" sz="2800" b="1" dirty="0" smtClean="0">
                <a:latin typeface="Times New Roman" panose="02020603050405020304" pitchFamily="18" charset="0"/>
                <a:ea typeface="宋体" panose="02010600030101010101" pitchFamily="2" charset="-122"/>
              </a:rPr>
              <a:t>取</a:t>
            </a:r>
            <a:endParaRPr lang="en-US" altLang="zh-CN" sz="2800" b="1" dirty="0" smtClean="0">
              <a:latin typeface="Times New Roman" panose="02020603050405020304" pitchFamily="18" charset="0"/>
              <a:ea typeface="宋体" panose="02010600030101010101" pitchFamily="2" charset="-122"/>
            </a:endParaRPr>
          </a:p>
          <a:p>
            <a:pPr marL="457200" indent="-457200">
              <a:spcBef>
                <a:spcPct val="50000"/>
              </a:spcBef>
              <a:buFont typeface="Arial" panose="020B0604020202020204" pitchFamily="34" charset="0"/>
              <a:buChar char="•"/>
            </a:pPr>
            <a:r>
              <a:rPr lang="zh-CN" altLang="en-US" sz="2800" b="1" dirty="0">
                <a:latin typeface="Times New Roman" panose="02020603050405020304" pitchFamily="18" charset="0"/>
                <a:ea typeface="宋体" panose="02010600030101010101" pitchFamily="2" charset="-122"/>
              </a:rPr>
              <a:t>我们在使用这些表时，可直接从表中查取理想气体在初、终态时的</a:t>
            </a: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和</a:t>
            </a:r>
            <a:r>
              <a:rPr lang="en-US" altLang="zh-CN" sz="2800" b="1" i="1" dirty="0">
                <a:latin typeface="Times New Roman" panose="02020603050405020304" pitchFamily="18" charset="0"/>
                <a:ea typeface="宋体" panose="02010600030101010101" pitchFamily="2" charset="-122"/>
              </a:rPr>
              <a:t>u</a:t>
            </a:r>
            <a:r>
              <a:rPr lang="en-US" altLang="zh-CN" sz="2800" b="1" baseline="-25000"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或</a:t>
            </a:r>
            <a:r>
              <a:rPr lang="en-US" altLang="zh-CN" sz="2800" b="1" i="1" dirty="0">
                <a:latin typeface="Times New Roman" panose="02020603050405020304" pitchFamily="18" charset="0"/>
                <a:ea typeface="宋体" panose="02010600030101010101" pitchFamily="2" charset="-122"/>
              </a:rPr>
              <a:t>h</a:t>
            </a:r>
            <a:r>
              <a:rPr lang="en-US" altLang="zh-CN" sz="2800" b="1" baseline="-25000"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和</a:t>
            </a:r>
            <a:r>
              <a:rPr lang="en-US" altLang="zh-CN" sz="2800" b="1" i="1" dirty="0">
                <a:latin typeface="Times New Roman" panose="02020603050405020304" pitchFamily="18" charset="0"/>
                <a:ea typeface="宋体" panose="02010600030101010101" pitchFamily="2" charset="-122"/>
              </a:rPr>
              <a:t>h</a:t>
            </a:r>
            <a:r>
              <a:rPr lang="en-US" altLang="zh-CN" sz="2800" b="1" baseline="-25000"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，然后两者相减得到⊿</a:t>
            </a:r>
            <a:r>
              <a:rPr lang="en-US" altLang="zh-CN" sz="2800" b="1" i="1" dirty="0">
                <a:latin typeface="Times New Roman" panose="02020603050405020304" pitchFamily="18" charset="0"/>
                <a:ea typeface="宋体" panose="02010600030101010101" pitchFamily="2" charset="-122"/>
              </a:rPr>
              <a:t>u</a:t>
            </a:r>
            <a:r>
              <a:rPr lang="zh-CN" altLang="en-US" sz="2800" b="1" dirty="0">
                <a:latin typeface="Times New Roman" panose="02020603050405020304" pitchFamily="18" charset="0"/>
                <a:ea typeface="宋体" panose="02010600030101010101" pitchFamily="2" charset="-122"/>
              </a:rPr>
              <a:t>或⊿</a:t>
            </a:r>
            <a:r>
              <a:rPr lang="en-US" altLang="zh-CN" sz="2800" b="1" i="1" dirty="0" smtClean="0">
                <a:latin typeface="Times New Roman" panose="02020603050405020304" pitchFamily="18" charset="0"/>
                <a:ea typeface="宋体" panose="02010600030101010101" pitchFamily="2" charset="-122"/>
              </a:rPr>
              <a:t>h</a:t>
            </a:r>
          </a:p>
          <a:p>
            <a:pPr marL="457200" indent="-457200">
              <a:spcBef>
                <a:spcPct val="50000"/>
              </a:spcBef>
              <a:buFont typeface="Arial" panose="020B0604020202020204" pitchFamily="34" charset="0"/>
              <a:buChar char="•"/>
            </a:pPr>
            <a:r>
              <a:rPr lang="zh-CN" altLang="en-US" sz="2800" b="1" dirty="0">
                <a:latin typeface="Times New Roman" panose="02020603050405020304" pitchFamily="18" charset="0"/>
                <a:ea typeface="宋体" panose="02010600030101010101" pitchFamily="2" charset="-122"/>
              </a:rPr>
              <a:t>这些表都是根据比热容的精确数值编制而成的，表中数值十分</a:t>
            </a:r>
            <a:r>
              <a:rPr lang="zh-CN" altLang="en-US" sz="2800" b="1" dirty="0" smtClean="0">
                <a:latin typeface="Times New Roman" panose="02020603050405020304" pitchFamily="18" charset="0"/>
                <a:ea typeface="宋体" panose="02010600030101010101" pitchFamily="2" charset="-122"/>
              </a:rPr>
              <a:t>准确</a:t>
            </a:r>
            <a:endParaRPr lang="zh-CN" altLang="en-US" sz="2800" b="1" dirty="0">
              <a:latin typeface="Times New Roman" panose="02020603050405020304" pitchFamily="18" charset="0"/>
              <a:ea typeface="宋体" panose="02010600030101010101" pitchFamily="2" charset="-122"/>
            </a:endParaRPr>
          </a:p>
          <a:p>
            <a:pPr marL="457200" indent="-457200">
              <a:spcBef>
                <a:spcPct val="50000"/>
              </a:spcBef>
              <a:buFont typeface="Arial" panose="020B0604020202020204" pitchFamily="34" charset="0"/>
              <a:buChar char="•"/>
            </a:pPr>
            <a:endParaRPr lang="zh-CN" altLang="en-US" sz="2800" b="1" dirty="0">
              <a:latin typeface="Times New Roman" panose="02020603050405020304" pitchFamily="18" charset="0"/>
              <a:ea typeface="宋体" panose="02010600030101010101" pitchFamily="2" charset="-122"/>
            </a:endParaRPr>
          </a:p>
        </p:txBody>
      </p:sp>
      <p:sp>
        <p:nvSpPr>
          <p:cNvPr id="17" name="矩形 16"/>
          <p:cNvSpPr/>
          <p:nvPr/>
        </p:nvSpPr>
        <p:spPr>
          <a:xfrm>
            <a:off x="1253123" y="5162860"/>
            <a:ext cx="6896963" cy="523220"/>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buClr>
                <a:schemeClr val="folHlink"/>
              </a:buClr>
              <a:buFont typeface="Wingdings" panose="05000000000000000000" pitchFamily="2" charset="2"/>
            </a:pPr>
            <a:r>
              <a:rPr lang="zh-CN" altLang="en-US" sz="2800" b="1" dirty="0" smtClean="0">
                <a:solidFill>
                  <a:srgbClr val="0000FF"/>
                </a:solidFill>
                <a:latin typeface="楷体_GB2312" pitchFamily="49" charset="-122"/>
                <a:ea typeface="楷体_GB2312" pitchFamily="49" charset="-122"/>
              </a:rPr>
              <a:t>需注意：不同基准点的表不能混用！</a:t>
            </a:r>
            <a:endParaRPr lang="zh-CN" altLang="en-US" sz="2800" b="1" dirty="0">
              <a:solidFill>
                <a:srgbClr val="0000FF"/>
              </a:solidFill>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框 38915"/>
          <p:cNvSpPr txBox="1">
            <a:spLocks noChangeArrowheads="1"/>
          </p:cNvSpPr>
          <p:nvPr/>
        </p:nvSpPr>
        <p:spPr bwMode="auto">
          <a:xfrm>
            <a:off x="684213" y="476250"/>
            <a:ext cx="4467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smtClean="0">
                <a:latin typeface="Times New Roman" panose="02020603050405020304" pitchFamily="18" charset="0"/>
                <a:ea typeface="黑体" panose="02010609060101010101" pitchFamily="49" charset="-122"/>
              </a:rPr>
              <a:t>例题：</a:t>
            </a:r>
            <a:r>
              <a:rPr lang="zh-CN" altLang="en-US" sz="3200" b="1" dirty="0">
                <a:latin typeface="Times New Roman" panose="02020603050405020304" pitchFamily="18" charset="0"/>
                <a:ea typeface="黑体" panose="02010609060101010101" pitchFamily="49" charset="-122"/>
              </a:rPr>
              <a:t>理想气体的计算</a:t>
            </a:r>
          </a:p>
        </p:txBody>
      </p:sp>
      <p:sp>
        <p:nvSpPr>
          <p:cNvPr id="78851" name="矩形 38918"/>
          <p:cNvSpPr>
            <a:spLocks noChangeArrowheads="1"/>
          </p:cNvSpPr>
          <p:nvPr/>
        </p:nvSpPr>
        <p:spPr bwMode="auto">
          <a:xfrm>
            <a:off x="755650" y="1255664"/>
            <a:ext cx="75612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楷体_GB2312" pitchFamily="49" charset="-122"/>
                <a:ea typeface="楷体_GB2312" pitchFamily="49" charset="-122"/>
              </a:rPr>
              <a:t>温度为</a:t>
            </a:r>
            <a:r>
              <a:rPr lang="en-US" altLang="zh-CN" sz="2400" b="1" dirty="0">
                <a:solidFill>
                  <a:srgbClr val="FF0000"/>
                </a:solidFill>
                <a:latin typeface="Times New Roman" panose="02020603050405020304" pitchFamily="18" charset="0"/>
                <a:ea typeface="楷体_GB2312" pitchFamily="49" charset="-122"/>
                <a:cs typeface="Times New Roman" panose="02020603050405020304" pitchFamily="18" charset="0"/>
              </a:rPr>
              <a:t>150℃</a:t>
            </a:r>
            <a:r>
              <a:rPr lang="zh-CN" altLang="en-US" sz="2400" b="1" dirty="0">
                <a:latin typeface="Times New Roman" panose="02020603050405020304" pitchFamily="18" charset="0"/>
                <a:ea typeface="楷体_GB2312" pitchFamily="49" charset="-122"/>
                <a:cs typeface="Times New Roman" panose="02020603050405020304" pitchFamily="18" charset="0"/>
              </a:rPr>
              <a:t>，压力为</a:t>
            </a:r>
            <a:r>
              <a:rPr lang="en-US" altLang="zh-CN" sz="2400" b="1" dirty="0">
                <a:latin typeface="Times New Roman" panose="02020603050405020304" pitchFamily="18" charset="0"/>
                <a:ea typeface="楷体_GB2312" pitchFamily="49" charset="-122"/>
                <a:cs typeface="Times New Roman" panose="02020603050405020304" pitchFamily="18" charset="0"/>
              </a:rPr>
              <a:t>200kPa</a:t>
            </a:r>
            <a:r>
              <a:rPr lang="zh-CN" altLang="en-US" sz="2400" b="1" dirty="0">
                <a:latin typeface="Times New Roman" panose="02020603050405020304" pitchFamily="18" charset="0"/>
                <a:ea typeface="楷体_GB2312" pitchFamily="49" charset="-122"/>
                <a:cs typeface="Times New Roman" panose="02020603050405020304" pitchFamily="18" charset="0"/>
              </a:rPr>
              <a:t>的空气在</a:t>
            </a:r>
            <a:r>
              <a:rPr lang="zh-CN" altLang="en-US" sz="2400" b="1" dirty="0">
                <a:solidFill>
                  <a:srgbClr val="FF0000"/>
                </a:solidFill>
                <a:latin typeface="Times New Roman" panose="02020603050405020304" pitchFamily="18" charset="0"/>
                <a:ea typeface="楷体_GB2312" pitchFamily="49" charset="-122"/>
                <a:cs typeface="Times New Roman" panose="02020603050405020304" pitchFamily="18" charset="0"/>
              </a:rPr>
              <a:t>定压条件</a:t>
            </a:r>
            <a:r>
              <a:rPr lang="zh-CN" altLang="en-US" sz="2400" b="1" dirty="0">
                <a:latin typeface="Times New Roman" panose="02020603050405020304" pitchFamily="18" charset="0"/>
                <a:ea typeface="楷体_GB2312" pitchFamily="49" charset="-122"/>
                <a:cs typeface="Times New Roman" panose="02020603050405020304" pitchFamily="18" charset="0"/>
              </a:rPr>
              <a:t>下加热至</a:t>
            </a:r>
            <a:r>
              <a:rPr lang="en-US" altLang="zh-CN" sz="2400" b="1" dirty="0">
                <a:solidFill>
                  <a:srgbClr val="FF0000"/>
                </a:solidFill>
                <a:latin typeface="Times New Roman" panose="02020603050405020304" pitchFamily="18" charset="0"/>
                <a:ea typeface="楷体_GB2312" pitchFamily="49" charset="-122"/>
                <a:cs typeface="Times New Roman" panose="02020603050405020304" pitchFamily="18" charset="0"/>
              </a:rPr>
              <a:t>350 ℃</a:t>
            </a:r>
            <a:r>
              <a:rPr lang="zh-CN" altLang="en-US" sz="2400" b="1" dirty="0">
                <a:latin typeface="Times New Roman" panose="02020603050405020304" pitchFamily="18" charset="0"/>
                <a:ea typeface="楷体_GB2312" pitchFamily="49" charset="-122"/>
                <a:cs typeface="Times New Roman" panose="02020603050405020304" pitchFamily="18" charset="0"/>
              </a:rPr>
              <a:t>，求单位质量的空气</a:t>
            </a:r>
            <a:r>
              <a:rPr lang="zh-CN" altLang="en-US" sz="2400" b="1" dirty="0">
                <a:solidFill>
                  <a:srgbClr val="0000FF"/>
                </a:solidFill>
                <a:latin typeface="Times New Roman" panose="02020603050405020304" pitchFamily="18" charset="0"/>
                <a:ea typeface="楷体_GB2312" pitchFamily="49" charset="-122"/>
                <a:cs typeface="Times New Roman" panose="02020603050405020304" pitchFamily="18" charset="0"/>
              </a:rPr>
              <a:t>热力学能</a:t>
            </a:r>
            <a:r>
              <a:rPr lang="zh-CN" altLang="en-US" sz="2400" b="1" dirty="0">
                <a:latin typeface="Times New Roman" panose="02020603050405020304" pitchFamily="18" charset="0"/>
                <a:ea typeface="楷体_GB2312" pitchFamily="49" charset="-122"/>
                <a:cs typeface="Times New Roman" panose="02020603050405020304" pitchFamily="18" charset="0"/>
              </a:rPr>
              <a:t>的变化。</a:t>
            </a:r>
          </a:p>
          <a:p>
            <a:pPr eaLnBrk="1" hangingPunct="1"/>
            <a:r>
              <a:rPr lang="zh-CN" altLang="en-US" sz="2400" b="1" dirty="0">
                <a:latin typeface="Times New Roman" panose="02020603050405020304" pitchFamily="18" charset="0"/>
                <a:ea typeface="楷体_GB2312" pitchFamily="49" charset="-122"/>
                <a:cs typeface="Times New Roman" panose="02020603050405020304" pitchFamily="18" charset="0"/>
              </a:rPr>
              <a:t>（</a:t>
            </a:r>
            <a:r>
              <a:rPr lang="en-US" altLang="zh-CN" sz="2400" b="1" dirty="0">
                <a:latin typeface="Times New Roman" panose="02020603050405020304" pitchFamily="18" charset="0"/>
                <a:ea typeface="楷体_GB2312" pitchFamily="49" charset="-122"/>
                <a:cs typeface="Times New Roman" panose="02020603050405020304" pitchFamily="18" charset="0"/>
              </a:rPr>
              <a:t>1</a:t>
            </a:r>
            <a:r>
              <a:rPr lang="zh-CN" altLang="en-US" sz="2400" b="1" dirty="0">
                <a:latin typeface="Times New Roman" panose="02020603050405020304" pitchFamily="18" charset="0"/>
                <a:ea typeface="楷体_GB2312" pitchFamily="49" charset="-122"/>
                <a:cs typeface="Times New Roman" panose="02020603050405020304" pitchFamily="18" charset="0"/>
              </a:rPr>
              <a:t>）采用真实比热容计算；</a:t>
            </a: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）采用平均比热容表计算；</a:t>
            </a: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）采用平均比热容的直线关系式计算；</a:t>
            </a: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）采用定值比热容计算。</a:t>
            </a:r>
            <a:r>
              <a:rPr lang="zh-CN" altLang="en-US" b="1" dirty="0">
                <a:ea typeface="楷体_GB2312" pitchFamily="49" charset="-122"/>
              </a:rPr>
              <a:t> </a:t>
            </a:r>
          </a:p>
        </p:txBody>
      </p:sp>
      <p:sp>
        <p:nvSpPr>
          <p:cNvPr id="38923" name="矩形 38922"/>
          <p:cNvSpPr>
            <a:spLocks noChangeArrowheads="1"/>
          </p:cNvSpPr>
          <p:nvPr/>
        </p:nvSpPr>
        <p:spPr bwMode="auto">
          <a:xfrm>
            <a:off x="827088" y="3860800"/>
            <a:ext cx="7416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楷体_GB2312" pitchFamily="49" charset="-122"/>
                <a:ea typeface="楷体_GB2312" pitchFamily="49" charset="-122"/>
              </a:rPr>
              <a:t>解：根据题中描述的空气压力和温度范围（低压和高温），空气可视为</a:t>
            </a:r>
            <a:r>
              <a:rPr lang="zh-CN" altLang="en-US" sz="2400" b="1">
                <a:solidFill>
                  <a:srgbClr val="FF0000"/>
                </a:solidFill>
                <a:latin typeface="楷体_GB2312" pitchFamily="49" charset="-122"/>
                <a:ea typeface="楷体_GB2312" pitchFamily="49" charset="-122"/>
              </a:rPr>
              <a:t>理想气体</a:t>
            </a:r>
            <a:r>
              <a:rPr lang="zh-CN" altLang="en-US" sz="2400" b="1">
                <a:latin typeface="楷体_GB2312" pitchFamily="49" charset="-122"/>
                <a:ea typeface="楷体_GB2312" pitchFamily="49" charset="-122"/>
              </a:rPr>
              <a:t> </a:t>
            </a:r>
          </a:p>
        </p:txBody>
      </p:sp>
      <p:sp>
        <p:nvSpPr>
          <p:cNvPr id="38924" name="矩形 38923"/>
          <p:cNvSpPr>
            <a:spLocks noChangeArrowheads="1"/>
          </p:cNvSpPr>
          <p:nvPr/>
        </p:nvSpPr>
        <p:spPr bwMode="auto">
          <a:xfrm>
            <a:off x="900113" y="4941888"/>
            <a:ext cx="7632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楷体_GB2312" pitchFamily="49" charset="-122"/>
                <a:ea typeface="楷体_GB2312" pitchFamily="49" charset="-122"/>
              </a:rPr>
              <a:t>无论气体进行何种热力过程，其热力学能的变化</a:t>
            </a:r>
            <a:r>
              <a:rPr lang="zh-CN" altLang="en-US" sz="2400" b="1">
                <a:solidFill>
                  <a:srgbClr val="FF0000"/>
                </a:solidFill>
                <a:latin typeface="楷体_GB2312" pitchFamily="49" charset="-122"/>
                <a:ea typeface="楷体_GB2312" pitchFamily="49" charset="-122"/>
              </a:rPr>
              <a:t>均可由下式计算</a:t>
            </a:r>
            <a:r>
              <a:rPr lang="zh-CN" altLang="en-US" sz="2400" b="1">
                <a:latin typeface="楷体_GB2312" pitchFamily="49" charset="-122"/>
                <a:ea typeface="楷体_GB2312" pitchFamily="49" charset="-122"/>
              </a:rPr>
              <a:t>：</a:t>
            </a:r>
            <a:r>
              <a:rPr lang="zh-CN" altLang="en-US">
                <a:ea typeface="楷体_GB2312" pitchFamily="49" charset="-122"/>
              </a:rPr>
              <a:t> </a:t>
            </a:r>
          </a:p>
        </p:txBody>
      </p:sp>
      <p:sp>
        <p:nvSpPr>
          <p:cNvPr id="78854" name="矩形 38925"/>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25" name="对象 38924"/>
          <p:cNvGraphicFramePr/>
          <p:nvPr/>
        </p:nvGraphicFramePr>
        <p:xfrm>
          <a:off x="1258888" y="5876925"/>
          <a:ext cx="3025775" cy="619125"/>
        </p:xfrm>
        <a:graphic>
          <a:graphicData uri="http://schemas.openxmlformats.org/presentationml/2006/ole">
            <mc:AlternateContent xmlns:mc="http://schemas.openxmlformats.org/markup-compatibility/2006">
              <mc:Choice xmlns:v="urn:schemas-microsoft-com:vml" Requires="v">
                <p:oleObj spid="_x0000_s79903" r:id="rId4" imgW="1625600" imgH="330200" progId="Equation.DSMT4">
                  <p:embed/>
                </p:oleObj>
              </mc:Choice>
              <mc:Fallback>
                <p:oleObj r:id="rId4" imgW="1625600" imgH="330200" progId="Equation.DSMT4">
                  <p:embed/>
                  <p:pic>
                    <p:nvPicPr>
                      <p:cNvPr id="0" name="对象 3892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5876925"/>
                        <a:ext cx="30257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8" name="矩形 38927"/>
          <p:cNvSpPr>
            <a:spLocks noChangeArrowheads="1"/>
          </p:cNvSpPr>
          <p:nvPr/>
        </p:nvSpPr>
        <p:spPr bwMode="auto">
          <a:xfrm>
            <a:off x="4859338" y="5949950"/>
            <a:ext cx="4033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楷体_GB2312" pitchFamily="49" charset="-122"/>
                <a:ea typeface="楷体_GB2312" pitchFamily="49" charset="-122"/>
              </a:rPr>
              <a:t>不同</a:t>
            </a:r>
            <a:r>
              <a:rPr lang="en-US" altLang="zh-CN" sz="2400" b="1" i="1">
                <a:latin typeface="楷体_GB2312" pitchFamily="49" charset="-122"/>
                <a:ea typeface="楷体_GB2312" pitchFamily="49" charset="-122"/>
              </a:rPr>
              <a:t>c</a:t>
            </a:r>
            <a:r>
              <a:rPr lang="en-US" altLang="zh-CN" sz="2400" b="1" i="1" baseline="-25000">
                <a:latin typeface="楷体_GB2312" pitchFamily="49" charset="-122"/>
                <a:ea typeface="楷体_GB2312" pitchFamily="49" charset="-122"/>
              </a:rPr>
              <a:t>v</a:t>
            </a:r>
            <a:r>
              <a:rPr lang="zh-CN" altLang="en-US" sz="2400" b="1">
                <a:latin typeface="楷体_GB2312" pitchFamily="49" charset="-122"/>
                <a:ea typeface="楷体_GB2312" pitchFamily="49" charset="-122"/>
              </a:rPr>
              <a:t>表达式，结果不同</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23"/>
                                        </p:tgtEl>
                                        <p:attrNameLst>
                                          <p:attrName>style.visibility</p:attrName>
                                        </p:attrNameLst>
                                      </p:cBhvr>
                                      <p:to>
                                        <p:strVal val="visible"/>
                                      </p:to>
                                    </p:set>
                                    <p:animEffect transition="in" filter="blinds(horizontal)">
                                      <p:cBhvr>
                                        <p:cTn id="7" dur="500"/>
                                        <p:tgtEl>
                                          <p:spTgt spid="389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924"/>
                                        </p:tgtEl>
                                        <p:attrNameLst>
                                          <p:attrName>style.visibility</p:attrName>
                                        </p:attrNameLst>
                                      </p:cBhvr>
                                      <p:to>
                                        <p:strVal val="visible"/>
                                      </p:to>
                                    </p:set>
                                    <p:animEffect transition="in" filter="blinds(horizontal)">
                                      <p:cBhvr>
                                        <p:cTn id="12" dur="500"/>
                                        <p:tgtEl>
                                          <p:spTgt spid="38924"/>
                                        </p:tgtEl>
                                      </p:cBhvr>
                                    </p:animEffect>
                                  </p:childTnLst>
                                </p:cTn>
                              </p:par>
                              <p:par>
                                <p:cTn id="13" presetID="3" presetClass="entr" presetSubtype="10" fill="hold" nodeType="withEffect">
                                  <p:stCondLst>
                                    <p:cond delay="0"/>
                                  </p:stCondLst>
                                  <p:childTnLst>
                                    <p:set>
                                      <p:cBhvr>
                                        <p:cTn id="14" dur="1" fill="hold">
                                          <p:stCondLst>
                                            <p:cond delay="0"/>
                                          </p:stCondLst>
                                        </p:cTn>
                                        <p:tgtEl>
                                          <p:spTgt spid="38925"/>
                                        </p:tgtEl>
                                        <p:attrNameLst>
                                          <p:attrName>style.visibility</p:attrName>
                                        </p:attrNameLst>
                                      </p:cBhvr>
                                      <p:to>
                                        <p:strVal val="visible"/>
                                      </p:to>
                                    </p:set>
                                    <p:animEffect transition="in" filter="blinds(horizontal)">
                                      <p:cBhvr>
                                        <p:cTn id="15" dur="500"/>
                                        <p:tgtEl>
                                          <p:spTgt spid="3892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8928"/>
                                        </p:tgtEl>
                                        <p:attrNameLst>
                                          <p:attrName>style.visibility</p:attrName>
                                        </p:attrNameLst>
                                      </p:cBhvr>
                                      <p:to>
                                        <p:strVal val="visible"/>
                                      </p:to>
                                    </p:set>
                                    <p:animEffect transition="in" filter="blinds(horizontal)">
                                      <p:cBhvr>
                                        <p:cTn id="20" dur="500"/>
                                        <p:tgtEl>
                                          <p:spTgt spid="38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3" grpId="0"/>
      <p:bldP spid="38924" grpId="0"/>
      <p:bldP spid="3892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3994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940" name="对象 39939"/>
          <p:cNvGraphicFramePr/>
          <p:nvPr/>
        </p:nvGraphicFramePr>
        <p:xfrm>
          <a:off x="755650" y="4654550"/>
          <a:ext cx="6335713" cy="769938"/>
        </p:xfrm>
        <a:graphic>
          <a:graphicData uri="http://schemas.openxmlformats.org/presentationml/2006/ole">
            <mc:AlternateContent xmlns:mc="http://schemas.openxmlformats.org/markup-compatibility/2006">
              <mc:Choice xmlns:v="urn:schemas-microsoft-com:vml" Requires="v">
                <p:oleObj spid="_x0000_s81227" r:id="rId4" imgW="3759200" imgH="457200" progId="Equation.DSMT4">
                  <p:embed/>
                </p:oleObj>
              </mc:Choice>
              <mc:Fallback>
                <p:oleObj r:id="rId4" imgW="3759200" imgH="457200" progId="Equation.DSMT4">
                  <p:embed/>
                  <p:pic>
                    <p:nvPicPr>
                      <p:cNvPr id="0" name="对象 3993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4654550"/>
                        <a:ext cx="63357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76" name="矩形 39941"/>
          <p:cNvSpPr>
            <a:spLocks noChangeArrowheads="1"/>
          </p:cNvSpPr>
          <p:nvPr/>
        </p:nvSpPr>
        <p:spPr bwMode="auto">
          <a:xfrm>
            <a:off x="755650" y="333375"/>
            <a:ext cx="2506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dirty="0">
                <a:latin typeface="Times New Roman" panose="02020603050405020304" pitchFamily="18" charset="0"/>
                <a:ea typeface="楷体_GB2312" pitchFamily="49" charset="-122"/>
                <a:cs typeface="Times New Roman" panose="02020603050405020304" pitchFamily="18" charset="0"/>
              </a:rPr>
              <a:t>1</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楷体_GB2312" pitchFamily="49" charset="-122"/>
                <a:ea typeface="楷体_GB2312" pitchFamily="49" charset="-122"/>
              </a:rPr>
              <a:t>真实比热容</a:t>
            </a:r>
          </a:p>
        </p:txBody>
      </p:sp>
      <p:sp>
        <p:nvSpPr>
          <p:cNvPr id="79877" name="矩形 3994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943" name="对象 39942"/>
          <p:cNvGraphicFramePr/>
          <p:nvPr/>
        </p:nvGraphicFramePr>
        <p:xfrm>
          <a:off x="827088" y="1270000"/>
          <a:ext cx="3816350" cy="547688"/>
        </p:xfrm>
        <a:graphic>
          <a:graphicData uri="http://schemas.openxmlformats.org/presentationml/2006/ole">
            <mc:AlternateContent xmlns:mc="http://schemas.openxmlformats.org/markup-compatibility/2006">
              <mc:Choice xmlns:v="urn:schemas-microsoft-com:vml" Requires="v">
                <p:oleObj spid="_x0000_s81228" r:id="rId6" imgW="1790700" imgH="254000" progId="Equation.DSMT4">
                  <p:embed/>
                </p:oleObj>
              </mc:Choice>
              <mc:Fallback>
                <p:oleObj r:id="rId6" imgW="1790700" imgH="254000" progId="Equation.DSMT4">
                  <p:embed/>
                  <p:pic>
                    <p:nvPicPr>
                      <p:cNvPr id="0" name="对象 3994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1270000"/>
                        <a:ext cx="381635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79" name="矩形 39945"/>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945" name="对象 39944"/>
          <p:cNvGraphicFramePr/>
          <p:nvPr/>
        </p:nvGraphicFramePr>
        <p:xfrm>
          <a:off x="539750" y="2133600"/>
          <a:ext cx="4897438" cy="866775"/>
        </p:xfrm>
        <a:graphic>
          <a:graphicData uri="http://schemas.openxmlformats.org/presentationml/2006/ole">
            <mc:AlternateContent xmlns:mc="http://schemas.openxmlformats.org/markup-compatibility/2006">
              <mc:Choice xmlns:v="urn:schemas-microsoft-com:vml" Requires="v">
                <p:oleObj spid="_x0000_s81229" r:id="rId8" imgW="2374900" imgH="419100" progId="Equation.DSMT4">
                  <p:embed/>
                </p:oleObj>
              </mc:Choice>
              <mc:Fallback>
                <p:oleObj r:id="rId8" imgW="2374900" imgH="419100" progId="Equation.DSMT4">
                  <p:embed/>
                  <p:pic>
                    <p:nvPicPr>
                      <p:cNvPr id="0" name="对象 3994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2133600"/>
                        <a:ext cx="489743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7" name="对象 39946"/>
          <p:cNvGraphicFramePr/>
          <p:nvPr/>
        </p:nvGraphicFramePr>
        <p:xfrm>
          <a:off x="250825" y="3357563"/>
          <a:ext cx="6192838" cy="901700"/>
        </p:xfrm>
        <a:graphic>
          <a:graphicData uri="http://schemas.openxmlformats.org/presentationml/2006/ole">
            <mc:AlternateContent xmlns:mc="http://schemas.openxmlformats.org/markup-compatibility/2006">
              <mc:Choice xmlns:v="urn:schemas-microsoft-com:vml" Requires="v">
                <p:oleObj spid="_x0000_s81230" r:id="rId10" imgW="2946400" imgH="431800" progId="Equation.DSMT4">
                  <p:embed/>
                </p:oleObj>
              </mc:Choice>
              <mc:Fallback>
                <p:oleObj r:id="rId10" imgW="2946400" imgH="431800" progId="Equation.DSMT4">
                  <p:embed/>
                  <p:pic>
                    <p:nvPicPr>
                      <p:cNvPr id="0" name="对象 3994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0825" y="3357563"/>
                        <a:ext cx="6192838"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82" name="矩形 3994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3" name="矩形 39953"/>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4" name="矩形 3995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5" name="矩形 39957"/>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9972" name="组合 39971"/>
          <p:cNvGrpSpPr/>
          <p:nvPr/>
        </p:nvGrpSpPr>
        <p:grpSpPr bwMode="auto">
          <a:xfrm>
            <a:off x="6372225" y="333375"/>
            <a:ext cx="1871663" cy="1728788"/>
            <a:chOff x="4014" y="210"/>
            <a:chExt cx="1179" cy="1089"/>
          </a:xfrm>
        </p:grpSpPr>
        <p:graphicFrame>
          <p:nvGraphicFramePr>
            <p:cNvPr id="79899" name="对象 39948"/>
            <p:cNvGraphicFramePr/>
            <p:nvPr/>
          </p:nvGraphicFramePr>
          <p:xfrm>
            <a:off x="4105" y="226"/>
            <a:ext cx="680" cy="236"/>
          </p:xfrm>
          <a:graphic>
            <a:graphicData uri="http://schemas.openxmlformats.org/presentationml/2006/ole">
              <mc:AlternateContent xmlns:mc="http://schemas.openxmlformats.org/markup-compatibility/2006">
                <mc:Choice xmlns:v="urn:schemas-microsoft-com:vml" Requires="v">
                  <p:oleObj spid="_x0000_s81231" r:id="rId12" imgW="660400" imgH="228600" progId="Equation.DSMT4">
                    <p:embed/>
                  </p:oleObj>
                </mc:Choice>
                <mc:Fallback>
                  <p:oleObj r:id="rId12" imgW="660400" imgH="228600" progId="Equation.DSMT4">
                    <p:embed/>
                    <p:pic>
                      <p:nvPicPr>
                        <p:cNvPr id="0" name="对象 3994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05" y="226"/>
                          <a:ext cx="680"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900" name="对象 39952"/>
            <p:cNvGraphicFramePr/>
            <p:nvPr/>
          </p:nvGraphicFramePr>
          <p:xfrm>
            <a:off x="4059" y="482"/>
            <a:ext cx="1089" cy="237"/>
          </p:xfrm>
          <a:graphic>
            <a:graphicData uri="http://schemas.openxmlformats.org/presentationml/2006/ole">
              <mc:AlternateContent xmlns:mc="http://schemas.openxmlformats.org/markup-compatibility/2006">
                <mc:Choice xmlns:v="urn:schemas-microsoft-com:vml" Requires="v">
                  <p:oleObj spid="_x0000_s81232" r:id="rId14" imgW="1091565" imgH="241300" progId="Equation.DSMT4">
                    <p:embed/>
                  </p:oleObj>
                </mc:Choice>
                <mc:Fallback>
                  <p:oleObj r:id="rId14" imgW="1091565" imgH="241300" progId="Equation.DSMT4">
                    <p:embed/>
                    <p:pic>
                      <p:nvPicPr>
                        <p:cNvPr id="0" name="对象 3995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59" y="482"/>
                          <a:ext cx="1089"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901" name="对象 39954"/>
            <p:cNvGraphicFramePr/>
            <p:nvPr/>
          </p:nvGraphicFramePr>
          <p:xfrm>
            <a:off x="4059" y="755"/>
            <a:ext cx="1111" cy="239"/>
          </p:xfrm>
          <a:graphic>
            <a:graphicData uri="http://schemas.openxmlformats.org/presentationml/2006/ole">
              <mc:AlternateContent xmlns:mc="http://schemas.openxmlformats.org/markup-compatibility/2006">
                <mc:Choice xmlns:v="urn:schemas-microsoft-com:vml" Requires="v">
                  <p:oleObj spid="_x0000_s81233" r:id="rId16" imgW="1104900" imgH="241300" progId="Equation.DSMT4">
                    <p:embed/>
                  </p:oleObj>
                </mc:Choice>
                <mc:Fallback>
                  <p:oleObj r:id="rId16" imgW="1104900" imgH="241300" progId="Equation.DSMT4">
                    <p:embed/>
                    <p:pic>
                      <p:nvPicPr>
                        <p:cNvPr id="0" name="对象 3995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59" y="755"/>
                          <a:ext cx="1111"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902" name="对象 39956"/>
            <p:cNvGraphicFramePr/>
            <p:nvPr/>
          </p:nvGraphicFramePr>
          <p:xfrm>
            <a:off x="4059" y="1027"/>
            <a:ext cx="1066" cy="230"/>
          </p:xfrm>
          <a:graphic>
            <a:graphicData uri="http://schemas.openxmlformats.org/presentationml/2006/ole">
              <mc:AlternateContent xmlns:mc="http://schemas.openxmlformats.org/markup-compatibility/2006">
                <mc:Choice xmlns:v="urn:schemas-microsoft-com:vml" Requires="v">
                  <p:oleObj spid="_x0000_s81234" r:id="rId18" imgW="1104900" imgH="241300" progId="Equation.DSMT4">
                    <p:embed/>
                  </p:oleObj>
                </mc:Choice>
                <mc:Fallback>
                  <p:oleObj r:id="rId18" imgW="1104900" imgH="241300" progId="Equation.DSMT4">
                    <p:embed/>
                    <p:pic>
                      <p:nvPicPr>
                        <p:cNvPr id="0" name="对象 3995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59" y="1027"/>
                          <a:ext cx="106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903" name="矩形 39958"/>
            <p:cNvSpPr>
              <a:spLocks noChangeArrowheads="1"/>
            </p:cNvSpPr>
            <p:nvPr/>
          </p:nvSpPr>
          <p:spPr bwMode="auto">
            <a:xfrm>
              <a:off x="4014" y="210"/>
              <a:ext cx="1179" cy="1089"/>
            </a:xfrm>
            <a:prstGeom prst="rect">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79887" name="矩形 3996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960" name="对象 39959"/>
          <p:cNvGraphicFramePr/>
          <p:nvPr/>
        </p:nvGraphicFramePr>
        <p:xfrm>
          <a:off x="5940425" y="2493963"/>
          <a:ext cx="2374900" cy="357187"/>
        </p:xfrm>
        <a:graphic>
          <a:graphicData uri="http://schemas.openxmlformats.org/presentationml/2006/ole">
            <mc:AlternateContent xmlns:mc="http://schemas.openxmlformats.org/markup-compatibility/2006">
              <mc:Choice xmlns:v="urn:schemas-microsoft-com:vml" Requires="v">
                <p:oleObj spid="_x0000_s81235" r:id="rId20" imgW="1524000" imgH="228600" progId="Equation.DSMT4">
                  <p:embed/>
                </p:oleObj>
              </mc:Choice>
              <mc:Fallback>
                <p:oleObj r:id="rId20" imgW="1524000" imgH="228600" progId="Equation.DSMT4">
                  <p:embed/>
                  <p:pic>
                    <p:nvPicPr>
                      <p:cNvPr id="0" name="对象 39959"/>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40425" y="2493963"/>
                        <a:ext cx="2374900" cy="357187"/>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89" name="矩形 3996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963" name="对象 39962"/>
          <p:cNvGraphicFramePr/>
          <p:nvPr/>
        </p:nvGraphicFramePr>
        <p:xfrm>
          <a:off x="6659563" y="3573463"/>
          <a:ext cx="2124075" cy="438150"/>
        </p:xfrm>
        <a:graphic>
          <a:graphicData uri="http://schemas.openxmlformats.org/presentationml/2006/ole">
            <mc:AlternateContent xmlns:mc="http://schemas.openxmlformats.org/markup-compatibility/2006">
              <mc:Choice xmlns:v="urn:schemas-microsoft-com:vml" Requires="v">
                <p:oleObj spid="_x0000_s81236" r:id="rId22" imgW="1244600" imgH="254000" progId="Equation.DSMT4">
                  <p:embed/>
                </p:oleObj>
              </mc:Choice>
              <mc:Fallback>
                <p:oleObj r:id="rId22" imgW="1244600" imgH="254000" progId="Equation.DSMT4">
                  <p:embed/>
                  <p:pic>
                    <p:nvPicPr>
                      <p:cNvPr id="0" name="对象 3996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659563" y="3573463"/>
                        <a:ext cx="2124075" cy="43815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91" name="矩形 3996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92" name="矩形 3996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9973" name="组合 39972"/>
          <p:cNvGrpSpPr/>
          <p:nvPr/>
        </p:nvGrpSpPr>
        <p:grpSpPr bwMode="auto">
          <a:xfrm>
            <a:off x="755650" y="5446713"/>
            <a:ext cx="2159000" cy="935037"/>
            <a:chOff x="476" y="3431"/>
            <a:chExt cx="1360" cy="589"/>
          </a:xfrm>
        </p:grpSpPr>
        <p:graphicFrame>
          <p:nvGraphicFramePr>
            <p:cNvPr id="79896" name="对象 39964"/>
            <p:cNvGraphicFramePr/>
            <p:nvPr/>
          </p:nvGraphicFramePr>
          <p:xfrm>
            <a:off x="566" y="3476"/>
            <a:ext cx="1134" cy="202"/>
          </p:xfrm>
          <a:graphic>
            <a:graphicData uri="http://schemas.openxmlformats.org/presentationml/2006/ole">
              <mc:AlternateContent xmlns:mc="http://schemas.openxmlformats.org/markup-compatibility/2006">
                <mc:Choice xmlns:v="urn:schemas-microsoft-com:vml" Requires="v">
                  <p:oleObj spid="_x0000_s81237" r:id="rId24" imgW="1282700" imgH="228600" progId="Equation.DSMT4">
                    <p:embed/>
                  </p:oleObj>
                </mc:Choice>
                <mc:Fallback>
                  <p:oleObj r:id="rId24" imgW="1282700" imgH="228600" progId="Equation.DSMT4">
                    <p:embed/>
                    <p:pic>
                      <p:nvPicPr>
                        <p:cNvPr id="0" name="对象 3996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66" y="3476"/>
                          <a:ext cx="113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897" name="对象 39966"/>
            <p:cNvGraphicFramePr/>
            <p:nvPr/>
          </p:nvGraphicFramePr>
          <p:xfrm>
            <a:off x="521" y="3748"/>
            <a:ext cx="1270" cy="222"/>
          </p:xfrm>
          <a:graphic>
            <a:graphicData uri="http://schemas.openxmlformats.org/presentationml/2006/ole">
              <mc:AlternateContent xmlns:mc="http://schemas.openxmlformats.org/markup-compatibility/2006">
                <mc:Choice xmlns:v="urn:schemas-microsoft-com:vml" Requires="v">
                  <p:oleObj spid="_x0000_s81238" r:id="rId26" imgW="1308100" imgH="228600" progId="Equation.DSMT4">
                    <p:embed/>
                  </p:oleObj>
                </mc:Choice>
                <mc:Fallback>
                  <p:oleObj r:id="rId26" imgW="1308100" imgH="228600" progId="Equation.DSMT4">
                    <p:embed/>
                    <p:pic>
                      <p:nvPicPr>
                        <p:cNvPr id="0" name="对象 3996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21" y="3748"/>
                          <a:ext cx="1270"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98" name="矩形 39968"/>
            <p:cNvSpPr>
              <a:spLocks noChangeArrowheads="1"/>
            </p:cNvSpPr>
            <p:nvPr/>
          </p:nvSpPr>
          <p:spPr bwMode="auto">
            <a:xfrm>
              <a:off x="476" y="3431"/>
              <a:ext cx="1360" cy="589"/>
            </a:xfrm>
            <a:prstGeom prst="rect">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79894" name="矩形 39970"/>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970" name="对象 39969"/>
          <p:cNvGraphicFramePr/>
          <p:nvPr/>
        </p:nvGraphicFramePr>
        <p:xfrm>
          <a:off x="4643438" y="5807075"/>
          <a:ext cx="2087562" cy="392113"/>
        </p:xfrm>
        <a:graphic>
          <a:graphicData uri="http://schemas.openxmlformats.org/presentationml/2006/ole">
            <mc:AlternateContent xmlns:mc="http://schemas.openxmlformats.org/markup-compatibility/2006">
              <mc:Choice xmlns:v="urn:schemas-microsoft-com:vml" Requires="v">
                <p:oleObj spid="_x0000_s81239" r:id="rId28" imgW="1066165" imgH="203200" progId="Equation.DSMT4">
                  <p:embed/>
                </p:oleObj>
              </mc:Choice>
              <mc:Fallback>
                <p:oleObj r:id="rId28" imgW="1066165" imgH="203200" progId="Equation.DSMT4">
                  <p:embed/>
                  <p:pic>
                    <p:nvPicPr>
                      <p:cNvPr id="0" name="对象 39969"/>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643438" y="5807075"/>
                        <a:ext cx="2087562" cy="392113"/>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43"/>
                                        </p:tgtEl>
                                        <p:attrNameLst>
                                          <p:attrName>style.visibility</p:attrName>
                                        </p:attrNameLst>
                                      </p:cBhvr>
                                      <p:to>
                                        <p:strVal val="visible"/>
                                      </p:to>
                                    </p:set>
                                    <p:animEffect transition="in" filter="blinds(horizontal)">
                                      <p:cBhvr>
                                        <p:cTn id="7" dur="500"/>
                                        <p:tgtEl>
                                          <p:spTgt spid="399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997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9945"/>
                                        </p:tgtEl>
                                        <p:attrNameLst>
                                          <p:attrName>style.visibility</p:attrName>
                                        </p:attrNameLst>
                                      </p:cBhvr>
                                      <p:to>
                                        <p:strVal val="visible"/>
                                      </p:to>
                                    </p:set>
                                    <p:animEffect transition="in" filter="blinds(horizontal)">
                                      <p:cBhvr>
                                        <p:cTn id="16" dur="500"/>
                                        <p:tgtEl>
                                          <p:spTgt spid="3994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9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9947"/>
                                        </p:tgtEl>
                                        <p:attrNameLst>
                                          <p:attrName>style.visibility</p:attrName>
                                        </p:attrNameLst>
                                      </p:cBhvr>
                                      <p:to>
                                        <p:strVal val="visible"/>
                                      </p:to>
                                    </p:set>
                                    <p:animEffect transition="in" filter="blinds(horizontal)">
                                      <p:cBhvr>
                                        <p:cTn id="25" dur="500"/>
                                        <p:tgtEl>
                                          <p:spTgt spid="3994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996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9940"/>
                                        </p:tgtEl>
                                        <p:attrNameLst>
                                          <p:attrName>style.visibility</p:attrName>
                                        </p:attrNameLst>
                                      </p:cBhvr>
                                      <p:to>
                                        <p:strVal val="visible"/>
                                      </p:to>
                                    </p:set>
                                    <p:animEffect transition="in" filter="blinds(horizontal)">
                                      <p:cBhvr>
                                        <p:cTn id="34" dur="500"/>
                                        <p:tgtEl>
                                          <p:spTgt spid="39940"/>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9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40963"/>
          <p:cNvSpPr>
            <a:spLocks noChangeArrowheads="1"/>
          </p:cNvSpPr>
          <p:nvPr/>
        </p:nvSpPr>
        <p:spPr bwMode="auto">
          <a:xfrm>
            <a:off x="539750" y="115888"/>
            <a:ext cx="2863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dirty="0">
                <a:latin typeface="Times New Roman" panose="02020603050405020304" pitchFamily="18" charset="0"/>
                <a:ea typeface="楷体_GB2312" pitchFamily="49" charset="-122"/>
                <a:cs typeface="Times New Roman" panose="02020603050405020304" pitchFamily="18" charset="0"/>
              </a:rPr>
              <a:t>2</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楷体_GB2312" pitchFamily="49" charset="-122"/>
                <a:ea typeface="楷体_GB2312" pitchFamily="49" charset="-122"/>
              </a:rPr>
              <a:t>平均比热容表</a:t>
            </a:r>
          </a:p>
        </p:txBody>
      </p:sp>
      <p:sp>
        <p:nvSpPr>
          <p:cNvPr id="80899" name="矩形 40965"/>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65" name="对象 40964"/>
          <p:cNvGraphicFramePr/>
          <p:nvPr/>
        </p:nvGraphicFramePr>
        <p:xfrm>
          <a:off x="1187450" y="2276475"/>
          <a:ext cx="7129463" cy="766763"/>
        </p:xfrm>
        <a:graphic>
          <a:graphicData uri="http://schemas.openxmlformats.org/presentationml/2006/ole">
            <mc:AlternateContent xmlns:mc="http://schemas.openxmlformats.org/markup-compatibility/2006">
              <mc:Choice xmlns:v="urn:schemas-microsoft-com:vml" Requires="v">
                <p:oleObj spid="_x0000_s82126" r:id="rId4" imgW="4699000" imgH="508000" progId="Equation.DSMT4">
                  <p:embed/>
                </p:oleObj>
              </mc:Choice>
              <mc:Fallback>
                <p:oleObj r:id="rId4" imgW="4699000" imgH="508000" progId="Equation.DSMT4">
                  <p:embed/>
                  <p:pic>
                    <p:nvPicPr>
                      <p:cNvPr id="0" name="对象 4096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276475"/>
                        <a:ext cx="7129463"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1" name="矩形 40967"/>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67" name="对象 40966"/>
          <p:cNvGraphicFramePr/>
          <p:nvPr/>
        </p:nvGraphicFramePr>
        <p:xfrm>
          <a:off x="5507038" y="2919413"/>
          <a:ext cx="2590800" cy="530225"/>
        </p:xfrm>
        <a:graphic>
          <a:graphicData uri="http://schemas.openxmlformats.org/presentationml/2006/ole">
            <mc:AlternateContent xmlns:mc="http://schemas.openxmlformats.org/markup-compatibility/2006">
              <mc:Choice xmlns:v="urn:schemas-microsoft-com:vml" Requires="v">
                <p:oleObj spid="_x0000_s82127" r:id="rId6" imgW="1676400" imgH="342900" progId="Equation.DSMT4">
                  <p:embed/>
                </p:oleObj>
              </mc:Choice>
              <mc:Fallback>
                <p:oleObj r:id="rId6" imgW="1676400" imgH="342900" progId="Equation.DSMT4">
                  <p:embed/>
                  <p:pic>
                    <p:nvPicPr>
                      <p:cNvPr id="0" name="对象 4096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7038" y="2919413"/>
                        <a:ext cx="25908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3" name="矩形 40969"/>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69" name="对象 40968"/>
          <p:cNvGraphicFramePr/>
          <p:nvPr/>
        </p:nvGraphicFramePr>
        <p:xfrm>
          <a:off x="1187450" y="3567113"/>
          <a:ext cx="7488238" cy="788987"/>
        </p:xfrm>
        <a:graphic>
          <a:graphicData uri="http://schemas.openxmlformats.org/presentationml/2006/ole">
            <mc:AlternateContent xmlns:mc="http://schemas.openxmlformats.org/markup-compatibility/2006">
              <mc:Choice xmlns:v="urn:schemas-microsoft-com:vml" Requires="v">
                <p:oleObj spid="_x0000_s82128" r:id="rId8" imgW="4787900" imgH="508000" progId="Equation.DSMT4">
                  <p:embed/>
                </p:oleObj>
              </mc:Choice>
              <mc:Fallback>
                <p:oleObj r:id="rId8" imgW="4787900" imgH="508000" progId="Equation.DSMT4">
                  <p:embed/>
                  <p:pic>
                    <p:nvPicPr>
                      <p:cNvPr id="0" name="对象 4096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3567113"/>
                        <a:ext cx="7488238"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5" name="矩形 40971"/>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71" name="对象 40970"/>
          <p:cNvGraphicFramePr/>
          <p:nvPr/>
        </p:nvGraphicFramePr>
        <p:xfrm>
          <a:off x="5435600" y="4216400"/>
          <a:ext cx="2808288" cy="547688"/>
        </p:xfrm>
        <a:graphic>
          <a:graphicData uri="http://schemas.openxmlformats.org/presentationml/2006/ole">
            <mc:AlternateContent xmlns:mc="http://schemas.openxmlformats.org/markup-compatibility/2006">
              <mc:Choice xmlns:v="urn:schemas-microsoft-com:vml" Requires="v">
                <p:oleObj spid="_x0000_s82129" r:id="rId10" imgW="1752600" imgH="342900" progId="Equation.DSMT4">
                  <p:embed/>
                </p:oleObj>
              </mc:Choice>
              <mc:Fallback>
                <p:oleObj r:id="rId10" imgW="1752600" imgH="342900" progId="Equation.DSMT4">
                  <p:embed/>
                  <p:pic>
                    <p:nvPicPr>
                      <p:cNvPr id="0" name="对象 4097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5600" y="4216400"/>
                        <a:ext cx="2808288"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7" name="对象 40972"/>
          <p:cNvGraphicFramePr/>
          <p:nvPr/>
        </p:nvGraphicFramePr>
        <p:xfrm>
          <a:off x="1619250" y="1125538"/>
          <a:ext cx="2808288" cy="1055687"/>
        </p:xfrm>
        <a:graphic>
          <a:graphicData uri="http://schemas.openxmlformats.org/presentationml/2006/ole">
            <mc:AlternateContent xmlns:mc="http://schemas.openxmlformats.org/markup-compatibility/2006">
              <mc:Choice xmlns:v="urn:schemas-microsoft-com:vml" Requires="v">
                <p:oleObj spid="_x0000_s82130" r:id="rId12" imgW="1422400" imgH="533400" progId="Equation.DSMT4">
                  <p:embed/>
                </p:oleObj>
              </mc:Choice>
              <mc:Fallback>
                <p:oleObj r:id="rId12" imgW="1422400" imgH="533400" progId="Equation.DSMT4">
                  <p:embed/>
                  <p:pic>
                    <p:nvPicPr>
                      <p:cNvPr id="0" name="对象 4097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9250" y="1125538"/>
                        <a:ext cx="2808288"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8" name="椭圆 40973"/>
          <p:cNvSpPr>
            <a:spLocks noChangeArrowheads="1"/>
          </p:cNvSpPr>
          <p:nvPr/>
        </p:nvSpPr>
        <p:spPr bwMode="auto">
          <a:xfrm>
            <a:off x="2411413" y="1125538"/>
            <a:ext cx="647700" cy="581025"/>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0909" name="椭圆 40974"/>
          <p:cNvSpPr>
            <a:spLocks noChangeArrowheads="1"/>
          </p:cNvSpPr>
          <p:nvPr/>
        </p:nvSpPr>
        <p:spPr bwMode="auto">
          <a:xfrm>
            <a:off x="3492500" y="1130300"/>
            <a:ext cx="719138" cy="579438"/>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0910" name="矩形 40975"/>
          <p:cNvSpPr>
            <a:spLocks noChangeArrowheads="1"/>
          </p:cNvSpPr>
          <p:nvPr/>
        </p:nvSpPr>
        <p:spPr bwMode="auto">
          <a:xfrm>
            <a:off x="935038" y="765175"/>
            <a:ext cx="4141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latin typeface="楷体_GB2312" pitchFamily="49" charset="-122"/>
                <a:ea typeface="楷体_GB2312" pitchFamily="49" charset="-122"/>
              </a:rPr>
              <a:t>查表获得</a:t>
            </a:r>
          </a:p>
        </p:txBody>
      </p:sp>
      <p:sp>
        <p:nvSpPr>
          <p:cNvPr id="80911" name="矩形 40977"/>
          <p:cNvSpPr>
            <a:spLocks noChangeArrowheads="1"/>
          </p:cNvSpPr>
          <p:nvPr/>
        </p:nvSpPr>
        <p:spPr bwMode="auto">
          <a:xfrm>
            <a:off x="0" y="3167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77" name="对象 40976"/>
          <p:cNvGraphicFramePr/>
          <p:nvPr/>
        </p:nvGraphicFramePr>
        <p:xfrm>
          <a:off x="900113" y="4581525"/>
          <a:ext cx="5976937" cy="858838"/>
        </p:xfrm>
        <a:graphic>
          <a:graphicData uri="http://schemas.openxmlformats.org/presentationml/2006/ole">
            <mc:AlternateContent xmlns:mc="http://schemas.openxmlformats.org/markup-compatibility/2006">
              <mc:Choice xmlns:v="urn:schemas-microsoft-com:vml" Requires="v">
                <p:oleObj spid="_x0000_s82131" r:id="rId14" imgW="3644900" imgH="520700" progId="Equation.DSMT4">
                  <p:embed/>
                </p:oleObj>
              </mc:Choice>
              <mc:Fallback>
                <p:oleObj r:id="rId14" imgW="3644900" imgH="520700" progId="Equation.DSMT4">
                  <p:embed/>
                  <p:pic>
                    <p:nvPicPr>
                      <p:cNvPr id="0" name="对象 4097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0113" y="4581525"/>
                        <a:ext cx="5976937"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79" name="椭圆 40978"/>
          <p:cNvSpPr>
            <a:spLocks noChangeArrowheads="1"/>
          </p:cNvSpPr>
          <p:nvPr/>
        </p:nvSpPr>
        <p:spPr bwMode="auto">
          <a:xfrm>
            <a:off x="6299200" y="2847975"/>
            <a:ext cx="2160588" cy="719138"/>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80" name="椭圆 40979"/>
          <p:cNvSpPr>
            <a:spLocks noChangeArrowheads="1"/>
          </p:cNvSpPr>
          <p:nvPr/>
        </p:nvSpPr>
        <p:spPr bwMode="auto">
          <a:xfrm>
            <a:off x="6227763" y="4143375"/>
            <a:ext cx="2160587" cy="719138"/>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81" name="对象 40980"/>
          <p:cNvGraphicFramePr/>
          <p:nvPr/>
        </p:nvGraphicFramePr>
        <p:xfrm>
          <a:off x="107950" y="5734050"/>
          <a:ext cx="4319588" cy="546100"/>
        </p:xfrm>
        <a:graphic>
          <a:graphicData uri="http://schemas.openxmlformats.org/presentationml/2006/ole">
            <mc:AlternateContent xmlns:mc="http://schemas.openxmlformats.org/markup-compatibility/2006">
              <mc:Choice xmlns:v="urn:schemas-microsoft-com:vml" Requires="v">
                <p:oleObj spid="_x0000_s82132" r:id="rId16" imgW="2794000" imgH="355600" progId="Equation.DSMT4">
                  <p:embed/>
                </p:oleObj>
              </mc:Choice>
              <mc:Fallback>
                <p:oleObj r:id="rId16" imgW="2794000" imgH="355600" progId="Equation.DSMT4">
                  <p:embed/>
                  <p:pic>
                    <p:nvPicPr>
                      <p:cNvPr id="0" name="对象 4098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950" y="5734050"/>
                        <a:ext cx="431958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16" name="矩形 40983"/>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0983" name="对象 40982"/>
          <p:cNvGraphicFramePr/>
          <p:nvPr/>
        </p:nvGraphicFramePr>
        <p:xfrm>
          <a:off x="4643438" y="5734050"/>
          <a:ext cx="4391025" cy="490538"/>
        </p:xfrm>
        <a:graphic>
          <a:graphicData uri="http://schemas.openxmlformats.org/presentationml/2006/ole">
            <mc:AlternateContent xmlns:mc="http://schemas.openxmlformats.org/markup-compatibility/2006">
              <mc:Choice xmlns:v="urn:schemas-microsoft-com:vml" Requires="v">
                <p:oleObj spid="_x0000_s82133" r:id="rId18" imgW="2984500" imgH="330200" progId="Equation.DSMT4">
                  <p:embed/>
                </p:oleObj>
              </mc:Choice>
              <mc:Fallback>
                <p:oleObj r:id="rId18" imgW="2984500" imgH="330200" progId="Equation.DSMT4">
                  <p:embed/>
                  <p:pic>
                    <p:nvPicPr>
                      <p:cNvPr id="0" name="对象 4098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3438" y="5734050"/>
                        <a:ext cx="4391025" cy="490538"/>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85" name="矩形 40984"/>
          <p:cNvSpPr>
            <a:spLocks noChangeArrowheads="1"/>
          </p:cNvSpPr>
          <p:nvPr/>
        </p:nvSpPr>
        <p:spPr bwMode="auto">
          <a:xfrm>
            <a:off x="6659563" y="1916113"/>
            <a:ext cx="2484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latin typeface="楷体_GB2312" pitchFamily="49" charset="-122"/>
                <a:ea typeface="楷体_GB2312" pitchFamily="49" charset="-122"/>
              </a:rPr>
              <a:t>线性插值</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blinds(horizontal)">
                                      <p:cBhvr>
                                        <p:cTn id="7" dur="500"/>
                                        <p:tgtEl>
                                          <p:spTgt spid="4096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985"/>
                                        </p:tgtEl>
                                        <p:attrNameLst>
                                          <p:attrName>style.visibility</p:attrName>
                                        </p:attrNameLst>
                                      </p:cBhvr>
                                      <p:to>
                                        <p:strVal val="visible"/>
                                      </p:to>
                                    </p:set>
                                    <p:animEffect transition="in" filter="blinds(horizontal)">
                                      <p:cBhvr>
                                        <p:cTn id="12" dur="500"/>
                                        <p:tgtEl>
                                          <p:spTgt spid="4098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67"/>
                                        </p:tgtEl>
                                        <p:attrNameLst>
                                          <p:attrName>style.visibility</p:attrName>
                                        </p:attrNameLst>
                                      </p:cBhvr>
                                      <p:to>
                                        <p:strVal val="visible"/>
                                      </p:to>
                                    </p:set>
                                    <p:animEffect transition="in" filter="blinds(horizontal)">
                                      <p:cBhvr>
                                        <p:cTn id="17" dur="500"/>
                                        <p:tgtEl>
                                          <p:spTgt spid="4096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097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0969"/>
                                        </p:tgtEl>
                                        <p:attrNameLst>
                                          <p:attrName>style.visibility</p:attrName>
                                        </p:attrNameLst>
                                      </p:cBhvr>
                                      <p:to>
                                        <p:strVal val="visible"/>
                                      </p:to>
                                    </p:set>
                                    <p:animEffect transition="in" filter="blinds(horizontal)">
                                      <p:cBhvr>
                                        <p:cTn id="26" dur="500"/>
                                        <p:tgtEl>
                                          <p:spTgt spid="40969"/>
                                        </p:tgtEl>
                                      </p:cBhvr>
                                    </p:animEffect>
                                  </p:childTnLst>
                                </p:cTn>
                              </p:par>
                              <p:par>
                                <p:cTn id="27" presetID="3" presetClass="entr" presetSubtype="10" fill="hold" nodeType="withEffect">
                                  <p:stCondLst>
                                    <p:cond delay="0"/>
                                  </p:stCondLst>
                                  <p:childTnLst>
                                    <p:set>
                                      <p:cBhvr>
                                        <p:cTn id="28" dur="1" fill="hold">
                                          <p:stCondLst>
                                            <p:cond delay="0"/>
                                          </p:stCondLst>
                                        </p:cTn>
                                        <p:tgtEl>
                                          <p:spTgt spid="40971"/>
                                        </p:tgtEl>
                                        <p:attrNameLst>
                                          <p:attrName>style.visibility</p:attrName>
                                        </p:attrNameLst>
                                      </p:cBhvr>
                                      <p:to>
                                        <p:strVal val="visible"/>
                                      </p:to>
                                    </p:set>
                                    <p:animEffect transition="in" filter="blinds(horizontal)">
                                      <p:cBhvr>
                                        <p:cTn id="29" dur="500"/>
                                        <p:tgtEl>
                                          <p:spTgt spid="4097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098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0977"/>
                                        </p:tgtEl>
                                        <p:attrNameLst>
                                          <p:attrName>style.visibility</p:attrName>
                                        </p:attrNameLst>
                                      </p:cBhvr>
                                      <p:to>
                                        <p:strVal val="visible"/>
                                      </p:to>
                                    </p:set>
                                    <p:animEffect transition="in" filter="blinds(horizontal)">
                                      <p:cBhvr>
                                        <p:cTn id="38" dur="500"/>
                                        <p:tgtEl>
                                          <p:spTgt spid="4097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0981"/>
                                        </p:tgtEl>
                                        <p:attrNameLst>
                                          <p:attrName>style.visibility</p:attrName>
                                        </p:attrNameLst>
                                      </p:cBhvr>
                                      <p:to>
                                        <p:strVal val="visible"/>
                                      </p:to>
                                    </p:set>
                                    <p:animEffect transition="in" filter="blinds(horizontal)">
                                      <p:cBhvr>
                                        <p:cTn id="43" dur="500"/>
                                        <p:tgtEl>
                                          <p:spTgt spid="4098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0983"/>
                                        </p:tgtEl>
                                        <p:attrNameLst>
                                          <p:attrName>style.visibility</p:attrName>
                                        </p:attrNameLst>
                                      </p:cBhvr>
                                      <p:to>
                                        <p:strVal val="visible"/>
                                      </p:to>
                                    </p:set>
                                    <p:animEffect transition="in" filter="blinds(horizontal)">
                                      <p:cBhvr>
                                        <p:cTn id="48" dur="500"/>
                                        <p:tgtEl>
                                          <p:spTgt spid="40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41987"/>
          <p:cNvSpPr>
            <a:spLocks noChangeArrowheads="1"/>
          </p:cNvSpPr>
          <p:nvPr/>
        </p:nvSpPr>
        <p:spPr bwMode="auto">
          <a:xfrm>
            <a:off x="611188" y="476250"/>
            <a:ext cx="7705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dirty="0">
                <a:latin typeface="Times New Roman" panose="02020603050405020304" pitchFamily="18" charset="0"/>
                <a:ea typeface="楷体_GB2312" pitchFamily="49" charset="-122"/>
                <a:cs typeface="Times New Roman" panose="02020603050405020304" pitchFamily="18" charset="0"/>
              </a:rPr>
              <a:t>3</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楷体_GB2312" pitchFamily="49" charset="-122"/>
                <a:ea typeface="楷体_GB2312" pitchFamily="49" charset="-122"/>
              </a:rPr>
              <a:t>平均比热容的直线关系式</a:t>
            </a:r>
          </a:p>
        </p:txBody>
      </p:sp>
      <p:sp>
        <p:nvSpPr>
          <p:cNvPr id="81923" name="矩形 41989"/>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1924" name="对象 41988"/>
          <p:cNvGraphicFramePr/>
          <p:nvPr/>
        </p:nvGraphicFramePr>
        <p:xfrm>
          <a:off x="2339975" y="1412875"/>
          <a:ext cx="3240088" cy="671513"/>
        </p:xfrm>
        <a:graphic>
          <a:graphicData uri="http://schemas.openxmlformats.org/presentationml/2006/ole">
            <mc:AlternateContent xmlns:mc="http://schemas.openxmlformats.org/markup-compatibility/2006">
              <mc:Choice xmlns:v="urn:schemas-microsoft-com:vml" Requires="v">
                <p:oleObj spid="_x0000_s83075" r:id="rId4" imgW="1612900" imgH="330200" progId="Equation.DSMT4">
                  <p:embed/>
                </p:oleObj>
              </mc:Choice>
              <mc:Fallback>
                <p:oleObj r:id="rId4" imgW="1612900" imgH="330200" progId="Equation.DSMT4">
                  <p:embed/>
                  <p:pic>
                    <p:nvPicPr>
                      <p:cNvPr id="0" name="对象 4198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1412875"/>
                        <a:ext cx="32400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25" name="矩形 41991"/>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2000" name="组合 41999"/>
          <p:cNvGrpSpPr/>
          <p:nvPr/>
        </p:nvGrpSpPr>
        <p:grpSpPr bwMode="auto">
          <a:xfrm>
            <a:off x="4716463" y="1916113"/>
            <a:ext cx="1728787" cy="812800"/>
            <a:chOff x="2971" y="1207"/>
            <a:chExt cx="1089" cy="512"/>
          </a:xfrm>
        </p:grpSpPr>
        <p:graphicFrame>
          <p:nvGraphicFramePr>
            <p:cNvPr id="81933" name="对象 41990"/>
            <p:cNvGraphicFramePr/>
            <p:nvPr/>
          </p:nvGraphicFramePr>
          <p:xfrm>
            <a:off x="2971" y="1434"/>
            <a:ext cx="1089" cy="285"/>
          </p:xfrm>
          <a:graphic>
            <a:graphicData uri="http://schemas.openxmlformats.org/presentationml/2006/ole">
              <mc:AlternateContent xmlns:mc="http://schemas.openxmlformats.org/markup-compatibility/2006">
                <mc:Choice xmlns:v="urn:schemas-microsoft-com:vml" Requires="v">
                  <p:oleObj spid="_x0000_s83076" r:id="rId6" imgW="926465" imgH="241300" progId="Equation.DSMT4">
                    <p:embed/>
                  </p:oleObj>
                </mc:Choice>
                <mc:Fallback>
                  <p:oleObj r:id="rId6" imgW="926465" imgH="241300" progId="Equation.DSMT4">
                    <p:embed/>
                    <p:pic>
                      <p:nvPicPr>
                        <p:cNvPr id="0" name="对象 4199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 y="1434"/>
                          <a:ext cx="108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34" name="直接连接符 41992"/>
            <p:cNvSpPr>
              <a:spLocks noChangeShapeType="1"/>
            </p:cNvSpPr>
            <p:nvPr/>
          </p:nvSpPr>
          <p:spPr bwMode="auto">
            <a:xfrm flipV="1">
              <a:off x="3198" y="1207"/>
              <a:ext cx="226" cy="31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1927" name="矩形 41994"/>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1994" name="对象 41993"/>
          <p:cNvGraphicFramePr/>
          <p:nvPr/>
        </p:nvGraphicFramePr>
        <p:xfrm>
          <a:off x="1692275" y="3213100"/>
          <a:ext cx="5832475" cy="620713"/>
        </p:xfrm>
        <a:graphic>
          <a:graphicData uri="http://schemas.openxmlformats.org/presentationml/2006/ole">
            <mc:AlternateContent xmlns:mc="http://schemas.openxmlformats.org/markup-compatibility/2006">
              <mc:Choice xmlns:v="urn:schemas-microsoft-com:vml" Requires="v">
                <p:oleObj spid="_x0000_s83077" r:id="rId8" imgW="3314700" imgH="355600" progId="Equation.DSMT4">
                  <p:embed/>
                </p:oleObj>
              </mc:Choice>
              <mc:Fallback>
                <p:oleObj r:id="rId8" imgW="3314700" imgH="355600" progId="Equation.DSMT4">
                  <p:embed/>
                  <p:pic>
                    <p:nvPicPr>
                      <p:cNvPr id="0" name="对象 4199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3213100"/>
                        <a:ext cx="5832475"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29" name="矩形 41996"/>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1996" name="对象 41995"/>
          <p:cNvGraphicFramePr/>
          <p:nvPr/>
        </p:nvGraphicFramePr>
        <p:xfrm>
          <a:off x="1692275" y="4149725"/>
          <a:ext cx="4967288" cy="663575"/>
        </p:xfrm>
        <a:graphic>
          <a:graphicData uri="http://schemas.openxmlformats.org/presentationml/2006/ole">
            <mc:AlternateContent xmlns:mc="http://schemas.openxmlformats.org/markup-compatibility/2006">
              <mc:Choice xmlns:v="urn:schemas-microsoft-com:vml" Requires="v">
                <p:oleObj spid="_x0000_s83078" r:id="rId10" imgW="2641600" imgH="355600" progId="Equation.DSMT4">
                  <p:embed/>
                </p:oleObj>
              </mc:Choice>
              <mc:Fallback>
                <p:oleObj r:id="rId10" imgW="2641600" imgH="355600" progId="Equation.DSMT4">
                  <p:embed/>
                  <p:pic>
                    <p:nvPicPr>
                      <p:cNvPr id="0" name="对象 4199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4149725"/>
                        <a:ext cx="4967288"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31" name="矩形 41998"/>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1998" name="对象 41997"/>
          <p:cNvGraphicFramePr/>
          <p:nvPr/>
        </p:nvGraphicFramePr>
        <p:xfrm>
          <a:off x="1619250" y="5157788"/>
          <a:ext cx="5545138" cy="635000"/>
        </p:xfrm>
        <a:graphic>
          <a:graphicData uri="http://schemas.openxmlformats.org/presentationml/2006/ole">
            <mc:AlternateContent xmlns:mc="http://schemas.openxmlformats.org/markup-compatibility/2006">
              <mc:Choice xmlns:v="urn:schemas-microsoft-com:vml" Requires="v">
                <p:oleObj spid="_x0000_s83079" r:id="rId12" imgW="2908300" imgH="330200" progId="Equation.DSMT4">
                  <p:embed/>
                </p:oleObj>
              </mc:Choice>
              <mc:Fallback>
                <p:oleObj r:id="rId12" imgW="2908300" imgH="330200" progId="Equation.DSMT4">
                  <p:embed/>
                  <p:pic>
                    <p:nvPicPr>
                      <p:cNvPr id="0" name="对象 4199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9250" y="5157788"/>
                        <a:ext cx="5545138" cy="63500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2000"/>
                                        </p:tgtEl>
                                        <p:attrNameLst>
                                          <p:attrName>style.visibility</p:attrName>
                                        </p:attrNameLst>
                                      </p:cBhvr>
                                      <p:to>
                                        <p:strVal val="visible"/>
                                      </p:to>
                                    </p:set>
                                    <p:animEffect transition="in" filter="wipe(down)">
                                      <p:cBhvr>
                                        <p:cTn id="7" dur="500"/>
                                        <p:tgtEl>
                                          <p:spTgt spid="420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94"/>
                                        </p:tgtEl>
                                        <p:attrNameLst>
                                          <p:attrName>style.visibility</p:attrName>
                                        </p:attrNameLst>
                                      </p:cBhvr>
                                      <p:to>
                                        <p:strVal val="visible"/>
                                      </p:to>
                                    </p:set>
                                    <p:animEffect transition="in" filter="blinds(horizontal)">
                                      <p:cBhvr>
                                        <p:cTn id="12" dur="500"/>
                                        <p:tgtEl>
                                          <p:spTgt spid="419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96"/>
                                        </p:tgtEl>
                                        <p:attrNameLst>
                                          <p:attrName>style.visibility</p:attrName>
                                        </p:attrNameLst>
                                      </p:cBhvr>
                                      <p:to>
                                        <p:strVal val="visible"/>
                                      </p:to>
                                    </p:set>
                                    <p:animEffect transition="in" filter="blinds(horizontal)">
                                      <p:cBhvr>
                                        <p:cTn id="17" dur="500"/>
                                        <p:tgtEl>
                                          <p:spTgt spid="419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998"/>
                                        </p:tgtEl>
                                        <p:attrNameLst>
                                          <p:attrName>style.visibility</p:attrName>
                                        </p:attrNameLst>
                                      </p:cBhvr>
                                      <p:to>
                                        <p:strVal val="visible"/>
                                      </p:to>
                                    </p:set>
                                    <p:animEffect transition="in" filter="blinds(horizontal)">
                                      <p:cBhvr>
                                        <p:cTn id="22" dur="500"/>
                                        <p:tgtEl>
                                          <p:spTgt spid="41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43011"/>
          <p:cNvSpPr>
            <a:spLocks noChangeArrowheads="1"/>
          </p:cNvSpPr>
          <p:nvPr/>
        </p:nvSpPr>
        <p:spPr bwMode="auto">
          <a:xfrm>
            <a:off x="578058" y="571776"/>
            <a:ext cx="25066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zh-CN" sz="2800" b="1" dirty="0">
                <a:latin typeface="Times New Roman" panose="02020603050405020304" pitchFamily="18" charset="0"/>
                <a:ea typeface="楷体_GB2312" pitchFamily="49" charset="-122"/>
                <a:cs typeface="Times New Roman" panose="02020603050405020304" pitchFamily="18" charset="0"/>
              </a:rPr>
              <a:t>4</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楷体_GB2312" pitchFamily="49" charset="-122"/>
                <a:ea typeface="楷体_GB2312" pitchFamily="49" charset="-122"/>
              </a:rPr>
              <a:t>定值比热容</a:t>
            </a:r>
          </a:p>
        </p:txBody>
      </p:sp>
      <p:sp>
        <p:nvSpPr>
          <p:cNvPr id="82947" name="矩形 4301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2948" name="对象 43012"/>
          <p:cNvGraphicFramePr/>
          <p:nvPr/>
        </p:nvGraphicFramePr>
        <p:xfrm>
          <a:off x="2546212" y="3300413"/>
          <a:ext cx="3024188" cy="571500"/>
        </p:xfrm>
        <a:graphic>
          <a:graphicData uri="http://schemas.openxmlformats.org/presentationml/2006/ole">
            <mc:AlternateContent xmlns:mc="http://schemas.openxmlformats.org/markup-compatibility/2006">
              <mc:Choice xmlns:v="urn:schemas-microsoft-com:vml" Requires="v">
                <p:oleObj spid="_x0000_s91208" name="Equation" r:id="rId4" imgW="32613600" imgH="6096000" progId="Equation.DSMT4">
                  <p:embed/>
                </p:oleObj>
              </mc:Choice>
              <mc:Fallback>
                <p:oleObj name="Equation" r:id="rId4" imgW="32613600" imgH="6096000" progId="Equation.DSMT4">
                  <p:embed/>
                  <p:pic>
                    <p:nvPicPr>
                      <p:cNvPr id="0" name="对象 43012"/>
                      <p:cNvPicPr>
                        <a:picLocks noChangeArrowheads="1"/>
                      </p:cNvPicPr>
                      <p:nvPr/>
                    </p:nvPicPr>
                    <p:blipFill>
                      <a:blip r:embed="rId5"/>
                      <a:srcRect/>
                      <a:stretch>
                        <a:fillRect/>
                      </a:stretch>
                    </p:blipFill>
                    <p:spPr bwMode="auto">
                      <a:xfrm>
                        <a:off x="2546212" y="3300413"/>
                        <a:ext cx="30241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49" name="矩形 4301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2950" name="对象 43014"/>
          <p:cNvGraphicFramePr>
            <a:graphicFrameLocks noChangeAspect="1"/>
          </p:cNvGraphicFramePr>
          <p:nvPr/>
        </p:nvGraphicFramePr>
        <p:xfrm>
          <a:off x="2496012" y="4124843"/>
          <a:ext cx="4485780" cy="571050"/>
        </p:xfrm>
        <a:graphic>
          <a:graphicData uri="http://schemas.openxmlformats.org/presentationml/2006/ole">
            <mc:AlternateContent xmlns:mc="http://schemas.openxmlformats.org/markup-compatibility/2006">
              <mc:Choice xmlns:v="urn:schemas-microsoft-com:vml" Requires="v">
                <p:oleObj spid="_x0000_s91209" name="Equation" r:id="rId6" imgW="47853600" imgH="6096000" progId="Equation.DSMT4">
                  <p:embed/>
                </p:oleObj>
              </mc:Choice>
              <mc:Fallback>
                <p:oleObj name="Equation" r:id="rId6" imgW="47853600" imgH="6096000" progId="Equation.DSMT4">
                  <p:embed/>
                  <p:pic>
                    <p:nvPicPr>
                      <p:cNvPr id="0" name="对象 43014"/>
                      <p:cNvPicPr>
                        <a:picLocks noChangeArrowheads="1"/>
                      </p:cNvPicPr>
                      <p:nvPr/>
                    </p:nvPicPr>
                    <p:blipFill>
                      <a:blip r:embed="rId7"/>
                      <a:srcRect/>
                      <a:stretch>
                        <a:fillRect/>
                      </a:stretch>
                    </p:blipFill>
                    <p:spPr bwMode="auto">
                      <a:xfrm>
                        <a:off x="2496012" y="4124843"/>
                        <a:ext cx="4485780" cy="57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52" name="对象 43016"/>
          <p:cNvGraphicFramePr>
            <a:graphicFrameLocks noChangeAspect="1"/>
          </p:cNvGraphicFramePr>
          <p:nvPr/>
        </p:nvGraphicFramePr>
        <p:xfrm>
          <a:off x="2546212" y="5127694"/>
          <a:ext cx="4199850" cy="571050"/>
        </p:xfrm>
        <a:graphic>
          <a:graphicData uri="http://schemas.openxmlformats.org/presentationml/2006/ole">
            <mc:AlternateContent xmlns:mc="http://schemas.openxmlformats.org/markup-compatibility/2006">
              <mc:Choice xmlns:v="urn:schemas-microsoft-com:vml" Requires="v">
                <p:oleObj spid="_x0000_s91210" name="Equation" r:id="rId8" imgW="44805600" imgH="6096000" progId="Equation.DSMT4">
                  <p:embed/>
                </p:oleObj>
              </mc:Choice>
              <mc:Fallback>
                <p:oleObj name="Equation" r:id="rId8" imgW="44805600" imgH="6096000" progId="Equation.DSMT4">
                  <p:embed/>
                  <p:pic>
                    <p:nvPicPr>
                      <p:cNvPr id="0" name="对象 43016"/>
                      <p:cNvPicPr>
                        <a:picLocks noChangeArrowheads="1"/>
                      </p:cNvPicPr>
                      <p:nvPr/>
                    </p:nvPicPr>
                    <p:blipFill>
                      <a:blip r:embed="rId9"/>
                      <a:srcRect/>
                      <a:stretch>
                        <a:fillRect/>
                      </a:stretch>
                    </p:blipFill>
                    <p:spPr bwMode="auto">
                      <a:xfrm>
                        <a:off x="2546212" y="5127694"/>
                        <a:ext cx="4199850" cy="57105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1071561" y="1484531"/>
            <a:ext cx="7350196" cy="1384995"/>
          </a:xfrm>
          <a:prstGeom prst="rect">
            <a:avLst/>
          </a:prstGeom>
        </p:spPr>
        <p:txBody>
          <a:bodyPr wrap="square">
            <a:spAutoFit/>
          </a:bodyPr>
          <a:lstStyle/>
          <a:p>
            <a:r>
              <a:rPr lang="zh-CN" altLang="zh-CN" sz="2800" b="1" dirty="0">
                <a:latin typeface="楷体_GB2312" pitchFamily="49" charset="-122"/>
                <a:ea typeface="楷体_GB2312" pitchFamily="49" charset="-122"/>
              </a:rPr>
              <a:t>根据题意，空气在此热力过程中的温度范围为</a:t>
            </a:r>
            <a:r>
              <a:rPr lang="en-US" altLang="zh-CN" sz="2800" b="1" dirty="0">
                <a:latin typeface="Times New Roman" panose="02020603050405020304" pitchFamily="18" charset="0"/>
                <a:ea typeface="楷体_GB2312" pitchFamily="49" charset="-122"/>
                <a:cs typeface="Times New Roman" panose="02020603050405020304" pitchFamily="18" charset="0"/>
              </a:rPr>
              <a:t>150</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en-US" altLang="zh-CN" sz="2800" b="1" dirty="0">
                <a:latin typeface="Times New Roman" panose="02020603050405020304" pitchFamily="18" charset="0"/>
                <a:ea typeface="楷体_GB2312" pitchFamily="49" charset="-122"/>
                <a:cs typeface="Times New Roman" panose="02020603050405020304" pitchFamily="18" charset="0"/>
              </a:rPr>
              <a:t>~350</a:t>
            </a:r>
            <a:r>
              <a:rPr lang="zh-CN" altLang="en-US" sz="2800" b="1" dirty="0">
                <a:latin typeface="Times New Roman" panose="02020603050405020304" pitchFamily="18" charset="0"/>
                <a:ea typeface="楷体_GB2312" pitchFamily="49" charset="-122"/>
                <a:cs typeface="Times New Roman" panose="02020603050405020304" pitchFamily="18" charset="0"/>
              </a:rPr>
              <a:t>℃，取平均值为</a:t>
            </a:r>
            <a:r>
              <a:rPr lang="en-US" altLang="zh-CN" sz="2800" b="1" dirty="0">
                <a:latin typeface="Times New Roman" panose="02020603050405020304" pitchFamily="18" charset="0"/>
                <a:ea typeface="楷体_GB2312" pitchFamily="49" charset="-122"/>
                <a:cs typeface="Times New Roman" panose="02020603050405020304" pitchFamily="18" charset="0"/>
              </a:rPr>
              <a:t>250</a:t>
            </a:r>
            <a:r>
              <a:rPr lang="zh-CN" altLang="en-US" sz="2800" b="1" dirty="0">
                <a:latin typeface="Times New Roman" panose="02020603050405020304" pitchFamily="18" charset="0"/>
                <a:ea typeface="楷体_GB2312" pitchFamily="49" charset="-122"/>
                <a:cs typeface="Times New Roman" panose="02020603050405020304" pitchFamily="18" charset="0"/>
              </a:rPr>
              <a:t>℃，查附表或手册得到空气在</a:t>
            </a:r>
            <a:r>
              <a:rPr lang="en-US" altLang="zh-CN" sz="2800" b="1" dirty="0">
                <a:latin typeface="Times New Roman" panose="02020603050405020304" pitchFamily="18" charset="0"/>
                <a:ea typeface="楷体_GB2312" pitchFamily="49" charset="-122"/>
                <a:cs typeface="Times New Roman" panose="02020603050405020304" pitchFamily="18" charset="0"/>
              </a:rPr>
              <a:t>250</a:t>
            </a:r>
            <a:r>
              <a:rPr lang="zh-CN" altLang="en-US" sz="2800" b="1" dirty="0">
                <a:latin typeface="Times New Roman" panose="02020603050405020304" pitchFamily="18" charset="0"/>
                <a:ea typeface="楷体_GB2312" pitchFamily="49" charset="-122"/>
                <a:cs typeface="Times New Roman" panose="02020603050405020304" pitchFamily="18" charset="0"/>
              </a:rPr>
              <a:t>℃时的定值比定</a:t>
            </a:r>
            <a:r>
              <a:rPr lang="zh-CN" altLang="en-US" sz="2800" b="1" dirty="0">
                <a:latin typeface="楷体_GB2312" pitchFamily="49" charset="-122"/>
                <a:ea typeface="楷体_GB2312" pitchFamily="49" charset="-122"/>
              </a:rPr>
              <a:t>压热容为</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3011"/>
          <p:cNvSpPr>
            <a:spLocks noChangeArrowheads="1"/>
          </p:cNvSpPr>
          <p:nvPr/>
        </p:nvSpPr>
        <p:spPr bwMode="auto">
          <a:xfrm>
            <a:off x="558180" y="518767"/>
            <a:ext cx="86629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folHlink"/>
              </a:buClr>
            </a:pPr>
            <a:r>
              <a:rPr lang="en-US" altLang="zh-CN" sz="2800" b="1" dirty="0">
                <a:latin typeface="Times New Roman" panose="02020603050405020304" pitchFamily="18" charset="0"/>
                <a:ea typeface="楷体_GB2312" pitchFamily="49" charset="-122"/>
                <a:cs typeface="Times New Roman" panose="02020603050405020304" pitchFamily="18" charset="0"/>
              </a:rPr>
              <a:t>5</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zh-CN" altLang="zh-CN" sz="2800" b="1" dirty="0">
                <a:latin typeface="楷体_GB2312" pitchFamily="49" charset="-122"/>
                <a:ea typeface="楷体_GB2312" pitchFamily="49" charset="-122"/>
              </a:rPr>
              <a:t>按气体热力性质表</a:t>
            </a:r>
            <a:r>
              <a:rPr lang="zh-CN" altLang="zh-CN" sz="2800" b="1" dirty="0" smtClean="0">
                <a:latin typeface="楷体_GB2312" pitchFamily="49" charset="-122"/>
                <a:ea typeface="楷体_GB2312" pitchFamily="49" charset="-122"/>
              </a:rPr>
              <a:t>计算</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题目没要求，这里为补充</a:t>
            </a:r>
            <a:r>
              <a:rPr lang="en-US" altLang="zh-CN" sz="2800" b="1" dirty="0" smtClean="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graphicFrame>
        <p:nvGraphicFramePr>
          <p:cNvPr id="5" name="对象 43016"/>
          <p:cNvGraphicFramePr>
            <a:graphicFrameLocks noChangeAspect="1"/>
          </p:cNvGraphicFramePr>
          <p:nvPr/>
        </p:nvGraphicFramePr>
        <p:xfrm>
          <a:off x="2478290" y="5590459"/>
          <a:ext cx="3343745" cy="452628"/>
        </p:xfrm>
        <a:graphic>
          <a:graphicData uri="http://schemas.openxmlformats.org/presentationml/2006/ole">
            <mc:AlternateContent xmlns:mc="http://schemas.openxmlformats.org/markup-compatibility/2006">
              <mc:Choice xmlns:v="urn:schemas-microsoft-com:vml" Requires="v">
                <p:oleObj spid="_x0000_s92276" name="Equation" r:id="rId4" imgW="40538400" imgH="5486400" progId="Equation.DSMT4">
                  <p:embed/>
                </p:oleObj>
              </mc:Choice>
              <mc:Fallback>
                <p:oleObj name="Equation" r:id="rId4" imgW="40538400" imgH="5486400" progId="Equation.DSMT4">
                  <p:embed/>
                  <p:pic>
                    <p:nvPicPr>
                      <p:cNvPr id="0" name="对象 43016"/>
                      <p:cNvPicPr>
                        <a:picLocks noChangeArrowheads="1"/>
                      </p:cNvPicPr>
                      <p:nvPr/>
                    </p:nvPicPr>
                    <p:blipFill>
                      <a:blip r:embed="rId5"/>
                      <a:srcRect/>
                      <a:stretch>
                        <a:fillRect/>
                      </a:stretch>
                    </p:blipFill>
                    <p:spPr bwMode="auto">
                      <a:xfrm>
                        <a:off x="2478290" y="5590459"/>
                        <a:ext cx="3343745" cy="452628"/>
                      </a:xfrm>
                      <a:prstGeom prst="rect">
                        <a:avLst/>
                      </a:prstGeom>
                      <a:noFill/>
                      <a:ln w="25400">
                        <a:solidFill>
                          <a:schemeClr val="hlink"/>
                        </a:solidFill>
                        <a:miter lim="800000"/>
                        <a:headEnd/>
                        <a:tailEnd/>
                      </a:ln>
                    </p:spPr>
                  </p:pic>
                </p:oleObj>
              </mc:Fallback>
            </mc:AlternateContent>
          </a:graphicData>
        </a:graphic>
      </p:graphicFrame>
      <p:sp>
        <p:nvSpPr>
          <p:cNvPr id="6" name="矩形 43011"/>
          <p:cNvSpPr>
            <a:spLocks noChangeArrowheads="1"/>
          </p:cNvSpPr>
          <p:nvPr/>
        </p:nvSpPr>
        <p:spPr bwMode="auto">
          <a:xfrm>
            <a:off x="809972" y="1467194"/>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folHlink"/>
              </a:buClr>
            </a:pPr>
            <a:r>
              <a:rPr lang="zh-CN" altLang="en-US" sz="2800" b="1" dirty="0" smtClean="0">
                <a:latin typeface="楷体_GB2312" pitchFamily="49" charset="-122"/>
                <a:ea typeface="楷体_GB2312" pitchFamily="49" charset="-122"/>
              </a:rPr>
              <a:t>已知</a:t>
            </a:r>
            <a:endParaRPr lang="zh-CN" altLang="en-US" sz="2800" b="1" dirty="0">
              <a:latin typeface="楷体_GB2312" pitchFamily="49" charset="-122"/>
              <a:ea typeface="楷体_GB2312" pitchFamily="49" charset="-122"/>
            </a:endParaRPr>
          </a:p>
        </p:txBody>
      </p:sp>
      <p:grpSp>
        <p:nvGrpSpPr>
          <p:cNvPr id="7" name="组合 6"/>
          <p:cNvGrpSpPr/>
          <p:nvPr/>
        </p:nvGrpSpPr>
        <p:grpSpPr bwMode="auto">
          <a:xfrm>
            <a:off x="1833184" y="1336864"/>
            <a:ext cx="2159000" cy="935037"/>
            <a:chOff x="476" y="3431"/>
            <a:chExt cx="1360" cy="589"/>
          </a:xfrm>
        </p:grpSpPr>
        <p:graphicFrame>
          <p:nvGraphicFramePr>
            <p:cNvPr id="8" name="对象 39964"/>
            <p:cNvGraphicFramePr>
              <a:graphicFrameLocks noChangeAspect="1"/>
            </p:cNvGraphicFramePr>
            <p:nvPr/>
          </p:nvGraphicFramePr>
          <p:xfrm>
            <a:off x="547" y="3484"/>
            <a:ext cx="1244" cy="222"/>
          </p:xfrm>
          <a:graphic>
            <a:graphicData uri="http://schemas.openxmlformats.org/presentationml/2006/ole">
              <mc:AlternateContent xmlns:mc="http://schemas.openxmlformats.org/markup-compatibility/2006">
                <mc:Choice xmlns:v="urn:schemas-microsoft-com:vml" Requires="v">
                  <p:oleObj spid="_x0000_s92277" r:id="rId6" imgW="1282700" imgH="228600" progId="Equation.DSMT4">
                    <p:embed/>
                  </p:oleObj>
                </mc:Choice>
                <mc:Fallback>
                  <p:oleObj r:id="rId6" imgW="1282700" imgH="228600" progId="Equation.DSMT4">
                    <p:embed/>
                    <p:pic>
                      <p:nvPicPr>
                        <p:cNvPr id="0" name="对象 3996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7" y="3484"/>
                          <a:ext cx="1244" cy="222"/>
                        </a:xfrm>
                        <a:prstGeom prst="rect">
                          <a:avLst/>
                        </a:prstGeom>
                        <a:noFill/>
                        <a:ln>
                          <a:noFill/>
                        </a:ln>
                      </p:spPr>
                    </p:pic>
                  </p:oleObj>
                </mc:Fallback>
              </mc:AlternateContent>
            </a:graphicData>
          </a:graphic>
        </p:graphicFrame>
        <p:graphicFrame>
          <p:nvGraphicFramePr>
            <p:cNvPr id="9" name="对象 39966"/>
            <p:cNvGraphicFramePr/>
            <p:nvPr/>
          </p:nvGraphicFramePr>
          <p:xfrm>
            <a:off x="521" y="3748"/>
            <a:ext cx="1270" cy="222"/>
          </p:xfrm>
          <a:graphic>
            <a:graphicData uri="http://schemas.openxmlformats.org/presentationml/2006/ole">
              <mc:AlternateContent xmlns:mc="http://schemas.openxmlformats.org/markup-compatibility/2006">
                <mc:Choice xmlns:v="urn:schemas-microsoft-com:vml" Requires="v">
                  <p:oleObj spid="_x0000_s92278" r:id="rId8" imgW="1308100" imgH="228600" progId="Equation.DSMT4">
                    <p:embed/>
                  </p:oleObj>
                </mc:Choice>
                <mc:Fallback>
                  <p:oleObj r:id="rId8" imgW="1308100" imgH="228600" progId="Equation.DSMT4">
                    <p:embed/>
                    <p:pic>
                      <p:nvPicPr>
                        <p:cNvPr id="0" name="对象 3996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 y="3748"/>
                          <a:ext cx="1270"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矩形 39968"/>
            <p:cNvSpPr>
              <a:spLocks noChangeArrowheads="1"/>
            </p:cNvSpPr>
            <p:nvPr/>
          </p:nvSpPr>
          <p:spPr bwMode="auto">
            <a:xfrm>
              <a:off x="476" y="3431"/>
              <a:ext cx="1360" cy="589"/>
            </a:xfrm>
            <a:prstGeom prst="rect">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aphicFrame>
        <p:nvGraphicFramePr>
          <p:cNvPr id="12" name="对象 11"/>
          <p:cNvGraphicFramePr>
            <a:graphicFrameLocks noChangeAspect="1"/>
          </p:cNvGraphicFramePr>
          <p:nvPr/>
        </p:nvGraphicFramePr>
        <p:xfrm>
          <a:off x="457202" y="2602998"/>
          <a:ext cx="8260559" cy="945486"/>
        </p:xfrm>
        <a:graphic>
          <a:graphicData uri="http://schemas.openxmlformats.org/presentationml/2006/ole">
            <mc:AlternateContent xmlns:mc="http://schemas.openxmlformats.org/markup-compatibility/2006">
              <mc:Choice xmlns:v="urn:schemas-microsoft-com:vml" Requires="v">
                <p:oleObj spid="_x0000_s92279" name="Equation" r:id="rId10" imgW="4214495" imgH="482600" progId="Equation.DSMT4">
                  <p:embed/>
                </p:oleObj>
              </mc:Choice>
              <mc:Fallback>
                <p:oleObj name="Equation" r:id="rId10" imgW="4214495" imgH="482600" progId="Equation.DSMT4">
                  <p:embed/>
                  <p:pic>
                    <p:nvPicPr>
                      <p:cNvPr id="0" name="对象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2" y="2602998"/>
                        <a:ext cx="8260559" cy="945486"/>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392139" y="4108324"/>
          <a:ext cx="8346895" cy="946812"/>
        </p:xfrm>
        <a:graphic>
          <a:graphicData uri="http://schemas.openxmlformats.org/presentationml/2006/ole">
            <mc:AlternateContent xmlns:mc="http://schemas.openxmlformats.org/markup-compatibility/2006">
              <mc:Choice xmlns:v="urn:schemas-microsoft-com:vml" Requires="v">
                <p:oleObj spid="_x0000_s92280" name="Equation" r:id="rId12" imgW="4252595" imgH="482600" progId="Equation.DSMT4">
                  <p:embed/>
                </p:oleObj>
              </mc:Choice>
              <mc:Fallback>
                <p:oleObj name="Equation" r:id="rId12" imgW="4252595" imgH="482600" progId="Equation.DSMT4">
                  <p:embed/>
                  <p:pic>
                    <p:nvPicPr>
                      <p:cNvPr id="0" name="对象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2139" y="4108324"/>
                        <a:ext cx="8346895" cy="946812"/>
                      </a:xfrm>
                      <a:prstGeom prst="rect">
                        <a:avLst/>
                      </a:prstGeom>
                      <a:noFill/>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5263"/>
            <a:ext cx="9144000" cy="3869317"/>
          </a:xfrm>
          <a:prstGeom prst="rect">
            <a:avLst/>
          </a:prstGeom>
        </p:spPr>
      </p:pic>
      <p:sp>
        <p:nvSpPr>
          <p:cNvPr id="3" name="矩形 43011"/>
          <p:cNvSpPr>
            <a:spLocks noChangeArrowheads="1"/>
          </p:cNvSpPr>
          <p:nvPr/>
        </p:nvSpPr>
        <p:spPr bwMode="auto">
          <a:xfrm>
            <a:off x="582770" y="4348940"/>
            <a:ext cx="785680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buFont typeface="Arial" panose="020B0604020202020204" pitchFamily="34" charset="0"/>
              <a:buChar char="•"/>
            </a:pPr>
            <a:r>
              <a:rPr lang="zh-CN" altLang="zh-CN" sz="2800" b="1" dirty="0">
                <a:latin typeface="楷体_GB2312" pitchFamily="49" charset="-122"/>
                <a:ea typeface="楷体_GB2312" pitchFamily="49" charset="-122"/>
              </a:rPr>
              <a:t>在工程计算中，具体选用哪一种方法，取决于所要求的</a:t>
            </a:r>
            <a:r>
              <a:rPr lang="zh-CN" altLang="zh-CN" sz="2800" b="1" dirty="0" smtClean="0">
                <a:latin typeface="楷体_GB2312" pitchFamily="49" charset="-122"/>
                <a:ea typeface="楷体_GB2312" pitchFamily="49" charset="-122"/>
              </a:rPr>
              <a:t>精度</a:t>
            </a:r>
            <a:endParaRPr lang="en-US" altLang="zh-CN" sz="2800" b="1" dirty="0" smtClean="0">
              <a:latin typeface="楷体_GB2312" pitchFamily="49" charset="-122"/>
              <a:ea typeface="楷体_GB2312" pitchFamily="49" charset="-122"/>
            </a:endParaRPr>
          </a:p>
          <a:p>
            <a:pPr marL="457200" indent="-457200">
              <a:buFont typeface="Arial" panose="020B0604020202020204" pitchFamily="34" charset="0"/>
              <a:buChar char="•"/>
            </a:pPr>
            <a:r>
              <a:rPr lang="zh-CN" altLang="en-US" sz="2800" b="1" dirty="0" smtClean="0">
                <a:latin typeface="楷体_GB2312" pitchFamily="49" charset="-122"/>
                <a:ea typeface="楷体_GB2312" pitchFamily="49" charset="-122"/>
              </a:rPr>
              <a:t>本题的温度范围变化不大，仅为</a:t>
            </a:r>
            <a:r>
              <a:rPr lang="en-US" altLang="zh-CN" sz="2800" b="1" dirty="0">
                <a:latin typeface="Times New Roman" panose="02020603050405020304" pitchFamily="18" charset="0"/>
                <a:ea typeface="楷体_GB2312" pitchFamily="49" charset="-122"/>
                <a:cs typeface="Times New Roman" panose="02020603050405020304" pitchFamily="18" charset="0"/>
              </a:rPr>
              <a:t>200</a:t>
            </a:r>
            <a:r>
              <a:rPr lang="zh-CN" altLang="en-US"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smtClean="0">
                <a:latin typeface="楷体_GB2312" pitchFamily="49" charset="-122"/>
                <a:ea typeface="楷体_GB2312" pitchFamily="49" charset="-122"/>
              </a:rPr>
              <a:t>，故几种方法得到的结果差别也不太大</a:t>
            </a:r>
            <a:endParaRPr lang="zh-CN" altLang="en-US" sz="2800" b="1" dirty="0">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45057"/>
          <p:cNvSpPr>
            <a:spLocks noGrp="1" noChangeArrowheads="1"/>
          </p:cNvSpPr>
          <p:nvPr>
            <p:ph type="ctrTitle"/>
          </p:nvPr>
        </p:nvSpPr>
        <p:spPr>
          <a:xfrm>
            <a:off x="1403350" y="1196975"/>
            <a:ext cx="6192838" cy="1604963"/>
          </a:xfrm>
        </p:spPr>
        <p:txBody>
          <a:bodyPr/>
          <a:lstStyle/>
          <a:p>
            <a:pPr eaLnBrk="1" hangingPunct="1"/>
            <a:r>
              <a:rPr lang="zh-CN" altLang="en-US" sz="4400" b="1" smtClean="0">
                <a:solidFill>
                  <a:schemeClr val="tx1"/>
                </a:solidFill>
                <a:latin typeface="黑体" panose="02010609060101010101" pitchFamily="49" charset="-122"/>
                <a:ea typeface="黑体" panose="02010609060101010101" pitchFamily="49" charset="-122"/>
              </a:rPr>
              <a:t>补充：固体和液体的热力学能、焓和比热容</a:t>
            </a:r>
            <a:r>
              <a:rPr lang="zh-CN" altLang="en-US" sz="4800" smtClean="0">
                <a:ea typeface="黑体" panose="02010609060101010101" pitchFamily="49" charset="-122"/>
              </a:rPr>
              <a:t> </a:t>
            </a:r>
          </a:p>
        </p:txBody>
      </p:sp>
      <p:sp>
        <p:nvSpPr>
          <p:cNvPr id="45059" name="矩形 45058"/>
          <p:cNvSpPr>
            <a:spLocks noChangeArrowheads="1"/>
          </p:cNvSpPr>
          <p:nvPr/>
        </p:nvSpPr>
        <p:spPr bwMode="auto">
          <a:xfrm>
            <a:off x="1187450" y="3141663"/>
            <a:ext cx="6985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ea typeface="楷体_GB2312" pitchFamily="49" charset="-122"/>
              </a:rPr>
              <a:t>虽然热力循环中的工质多为气体，但在一些热力计算中也可能会涉及到固体和液体。</a:t>
            </a:r>
          </a:p>
        </p:txBody>
      </p:sp>
      <p:sp>
        <p:nvSpPr>
          <p:cNvPr id="83972" name="矩形 45060"/>
          <p:cNvSpPr>
            <a:spLocks noChangeArrowheads="1"/>
          </p:cNvSpPr>
          <p:nvPr/>
        </p:nvSpPr>
        <p:spPr bwMode="auto">
          <a:xfrm>
            <a:off x="0" y="2647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7446" y="4303713"/>
            <a:ext cx="1944793" cy="1944793"/>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blinds(horizontal)">
                                      <p:cBhvr>
                                        <p:cTn id="7" dur="500"/>
                                        <p:tgtEl>
                                          <p:spTgt spid="4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文本框 44035"/>
          <p:cNvSpPr txBox="1">
            <a:spLocks noChangeArrowheads="1"/>
          </p:cNvSpPr>
          <p:nvPr/>
        </p:nvSpPr>
        <p:spPr bwMode="auto">
          <a:xfrm>
            <a:off x="381000" y="304800"/>
            <a:ext cx="829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b="1">
                <a:latin typeface="黑体" panose="02010609060101010101" pitchFamily="49" charset="-122"/>
                <a:ea typeface="黑体" panose="02010609060101010101" pitchFamily="49" charset="-122"/>
              </a:rPr>
              <a:t>一、不可压缩物质</a:t>
            </a:r>
          </a:p>
        </p:txBody>
      </p:sp>
      <p:sp>
        <p:nvSpPr>
          <p:cNvPr id="84995" name="矩形 44036"/>
          <p:cNvSpPr>
            <a:spLocks noChangeArrowheads="1"/>
          </p:cNvSpPr>
          <p:nvPr/>
        </p:nvSpPr>
        <p:spPr bwMode="auto">
          <a:xfrm>
            <a:off x="823913" y="908050"/>
            <a:ext cx="6988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楷体_GB2312" pitchFamily="49" charset="-122"/>
              </a:rPr>
              <a:t>比体积（或密度）不变的物质称为不可压缩物质。</a:t>
            </a:r>
            <a:r>
              <a:rPr lang="zh-CN" altLang="en-US"/>
              <a:t> </a:t>
            </a:r>
          </a:p>
        </p:txBody>
      </p:sp>
      <p:sp>
        <p:nvSpPr>
          <p:cNvPr id="44038" name="矩形 44037"/>
          <p:cNvSpPr>
            <a:spLocks noChangeArrowheads="1"/>
          </p:cNvSpPr>
          <p:nvPr/>
        </p:nvSpPr>
        <p:spPr bwMode="auto">
          <a:xfrm>
            <a:off x="755650" y="1484313"/>
            <a:ext cx="7561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楷体_GB2312" pitchFamily="49" charset="-122"/>
              </a:rPr>
              <a:t>在常见热力过程中，</a:t>
            </a:r>
            <a:r>
              <a:rPr lang="zh-CN" altLang="en-US" sz="2400" b="1">
                <a:solidFill>
                  <a:srgbClr val="FF0000"/>
                </a:solidFill>
                <a:ea typeface="楷体_GB2312" pitchFamily="49" charset="-122"/>
              </a:rPr>
              <a:t>固体和液体的比体积变化非常小</a:t>
            </a:r>
            <a:r>
              <a:rPr lang="zh-CN" altLang="en-US" sz="2400" b="1">
                <a:ea typeface="楷体_GB2312" pitchFamily="49" charset="-122"/>
              </a:rPr>
              <a:t>，因此它们可近似视为不可压缩物质</a:t>
            </a:r>
            <a:r>
              <a:rPr lang="zh-CN" altLang="en-US"/>
              <a:t> </a:t>
            </a:r>
          </a:p>
        </p:txBody>
      </p:sp>
      <p:sp>
        <p:nvSpPr>
          <p:cNvPr id="44039" name="矩形 44038"/>
          <p:cNvSpPr>
            <a:spLocks noChangeArrowheads="1"/>
          </p:cNvSpPr>
          <p:nvPr/>
        </p:nvSpPr>
        <p:spPr bwMode="auto">
          <a:xfrm>
            <a:off x="755650" y="2495550"/>
            <a:ext cx="4557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ea typeface="楷体_GB2312" pitchFamily="49" charset="-122"/>
              </a:rPr>
              <a:t>固体和液体的状态方程可表示为 </a:t>
            </a:r>
          </a:p>
        </p:txBody>
      </p:sp>
      <p:graphicFrame>
        <p:nvGraphicFramePr>
          <p:cNvPr id="44040" name="对象 44039"/>
          <p:cNvGraphicFramePr/>
          <p:nvPr/>
        </p:nvGraphicFramePr>
        <p:xfrm>
          <a:off x="1403350" y="3141663"/>
          <a:ext cx="1223963" cy="450850"/>
        </p:xfrm>
        <a:graphic>
          <a:graphicData uri="http://schemas.openxmlformats.org/presentationml/2006/ole">
            <mc:AlternateContent xmlns:mc="http://schemas.openxmlformats.org/markup-compatibility/2006">
              <mc:Choice xmlns:v="urn:schemas-microsoft-com:vml" Requires="v">
                <p:oleObj spid="_x0000_s86070" r:id="rId4" imgW="570865" imgH="203200" progId="Equation.DSMT4">
                  <p:embed/>
                </p:oleObj>
              </mc:Choice>
              <mc:Fallback>
                <p:oleObj r:id="rId4" imgW="570865" imgH="203200" progId="Equation.DSMT4">
                  <p:embed/>
                  <p:pic>
                    <p:nvPicPr>
                      <p:cNvPr id="0" name="对象 4403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141663"/>
                        <a:ext cx="12239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42" name="对象 44041"/>
          <p:cNvGraphicFramePr/>
          <p:nvPr/>
        </p:nvGraphicFramePr>
        <p:xfrm>
          <a:off x="3708400" y="3141663"/>
          <a:ext cx="1296988" cy="485775"/>
        </p:xfrm>
        <a:graphic>
          <a:graphicData uri="http://schemas.openxmlformats.org/presentationml/2006/ole">
            <mc:AlternateContent xmlns:mc="http://schemas.openxmlformats.org/markup-compatibility/2006">
              <mc:Choice xmlns:v="urn:schemas-microsoft-com:vml" Requires="v">
                <p:oleObj spid="_x0000_s86071" r:id="rId6" imgW="596265" imgH="215900" progId="Equation.DSMT4">
                  <p:embed/>
                </p:oleObj>
              </mc:Choice>
              <mc:Fallback>
                <p:oleObj r:id="rId6" imgW="596265" imgH="215900" progId="Equation.DSMT4">
                  <p:embed/>
                  <p:pic>
                    <p:nvPicPr>
                      <p:cNvPr id="0" name="对象 4404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3141663"/>
                        <a:ext cx="129698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4" name="矩形 44043"/>
          <p:cNvSpPr>
            <a:spLocks noChangeArrowheads="1"/>
          </p:cNvSpPr>
          <p:nvPr/>
        </p:nvSpPr>
        <p:spPr bwMode="auto">
          <a:xfrm>
            <a:off x="2916238" y="3141663"/>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楷体_GB2312" pitchFamily="49" charset="-122"/>
              </a:rPr>
              <a:t>或</a:t>
            </a:r>
          </a:p>
        </p:txBody>
      </p:sp>
      <p:sp>
        <p:nvSpPr>
          <p:cNvPr id="44048" name="椭圆 44047"/>
          <p:cNvSpPr>
            <a:spLocks noChangeArrowheads="1"/>
          </p:cNvSpPr>
          <p:nvPr/>
        </p:nvSpPr>
        <p:spPr bwMode="auto">
          <a:xfrm>
            <a:off x="755650" y="1484313"/>
            <a:ext cx="2592388" cy="504825"/>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blinds(horizontal)">
                                      <p:cBhvr>
                                        <p:cTn id="7" dur="500"/>
                                        <p:tgtEl>
                                          <p:spTgt spid="440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039"/>
                                        </p:tgtEl>
                                        <p:attrNameLst>
                                          <p:attrName>style.visibility</p:attrName>
                                        </p:attrNameLst>
                                      </p:cBhvr>
                                      <p:to>
                                        <p:strVal val="visible"/>
                                      </p:to>
                                    </p:set>
                                    <p:animEffect transition="in" filter="blinds(horizontal)">
                                      <p:cBhvr>
                                        <p:cTn id="12" dur="500"/>
                                        <p:tgtEl>
                                          <p:spTgt spid="44039"/>
                                        </p:tgtEl>
                                      </p:cBhvr>
                                    </p:animEffect>
                                  </p:childTnLst>
                                </p:cTn>
                              </p:par>
                              <p:par>
                                <p:cTn id="13" presetID="3" presetClass="entr" presetSubtype="10" fill="hold" nodeType="withEffect">
                                  <p:stCondLst>
                                    <p:cond delay="0"/>
                                  </p:stCondLst>
                                  <p:childTnLst>
                                    <p:set>
                                      <p:cBhvr>
                                        <p:cTn id="14" dur="1" fill="hold">
                                          <p:stCondLst>
                                            <p:cond delay="0"/>
                                          </p:stCondLst>
                                        </p:cTn>
                                        <p:tgtEl>
                                          <p:spTgt spid="44040"/>
                                        </p:tgtEl>
                                        <p:attrNameLst>
                                          <p:attrName>style.visibility</p:attrName>
                                        </p:attrNameLst>
                                      </p:cBhvr>
                                      <p:to>
                                        <p:strVal val="visible"/>
                                      </p:to>
                                    </p:set>
                                    <p:animEffect transition="in" filter="blinds(horizontal)">
                                      <p:cBhvr>
                                        <p:cTn id="15" dur="500"/>
                                        <p:tgtEl>
                                          <p:spTgt spid="4404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4044"/>
                                        </p:tgtEl>
                                        <p:attrNameLst>
                                          <p:attrName>style.visibility</p:attrName>
                                        </p:attrNameLst>
                                      </p:cBhvr>
                                      <p:to>
                                        <p:strVal val="visible"/>
                                      </p:to>
                                    </p:set>
                                    <p:animEffect transition="in" filter="blinds(horizontal)">
                                      <p:cBhvr>
                                        <p:cTn id="18" dur="500"/>
                                        <p:tgtEl>
                                          <p:spTgt spid="44044"/>
                                        </p:tgtEl>
                                      </p:cBhvr>
                                    </p:animEffect>
                                  </p:childTnLst>
                                </p:cTn>
                              </p:par>
                              <p:par>
                                <p:cTn id="19" presetID="3" presetClass="entr" presetSubtype="10" fill="hold" nodeType="withEffect">
                                  <p:stCondLst>
                                    <p:cond delay="0"/>
                                  </p:stCondLst>
                                  <p:childTnLst>
                                    <p:set>
                                      <p:cBhvr>
                                        <p:cTn id="20" dur="1" fill="hold">
                                          <p:stCondLst>
                                            <p:cond delay="0"/>
                                          </p:stCondLst>
                                        </p:cTn>
                                        <p:tgtEl>
                                          <p:spTgt spid="44042"/>
                                        </p:tgtEl>
                                        <p:attrNameLst>
                                          <p:attrName>style.visibility</p:attrName>
                                        </p:attrNameLst>
                                      </p:cBhvr>
                                      <p:to>
                                        <p:strVal val="visible"/>
                                      </p:to>
                                    </p:set>
                                    <p:animEffect transition="in" filter="blinds(horizontal)">
                                      <p:cBhvr>
                                        <p:cTn id="21" dur="500"/>
                                        <p:tgtEl>
                                          <p:spTgt spid="4404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4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P spid="44039" grpId="0"/>
      <p:bldP spid="4404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3" name="图片 48132" descr="fm_fsj_im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481138"/>
            <a:ext cx="45243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矩形 48133"/>
          <p:cNvSpPr>
            <a:spLocks noChangeArrowheads="1"/>
          </p:cNvSpPr>
          <p:nvPr/>
        </p:nvSpPr>
        <p:spPr bwMode="auto">
          <a:xfrm>
            <a:off x="468313" y="4214813"/>
            <a:ext cx="482441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楷体_GB2312" pitchFamily="49" charset="-122"/>
              </a:rPr>
              <a:t>固体的热应力：</a:t>
            </a:r>
          </a:p>
          <a:p>
            <a:pPr eaLnBrk="1" hangingPunct="1"/>
            <a:r>
              <a:rPr lang="zh-CN" altLang="en-US" sz="2400" b="1">
                <a:ea typeface="楷体_GB2312" pitchFamily="49" charset="-122"/>
              </a:rPr>
              <a:t>热应力的产生就是由固体的体积变化而引起</a:t>
            </a:r>
            <a:r>
              <a:rPr lang="zh-CN" altLang="en-US" sz="2400"/>
              <a:t> </a:t>
            </a:r>
          </a:p>
        </p:txBody>
      </p:sp>
      <p:sp>
        <p:nvSpPr>
          <p:cNvPr id="86020" name="矩形 48135"/>
          <p:cNvSpPr>
            <a:spLocks noChangeArrowheads="1"/>
          </p:cNvSpPr>
          <p:nvPr/>
        </p:nvSpPr>
        <p:spPr bwMode="auto">
          <a:xfrm>
            <a:off x="755650" y="260350"/>
            <a:ext cx="66960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ea typeface="楷体_GB2312" pitchFamily="49" charset="-122"/>
              </a:rPr>
              <a:t>有时，固体或液体的体积变化不可忽略，</a:t>
            </a:r>
          </a:p>
          <a:p>
            <a:pPr eaLnBrk="1" hangingPunct="1"/>
            <a:r>
              <a:rPr lang="zh-CN" altLang="en-US" sz="2800" b="1">
                <a:ea typeface="楷体_GB2312" pitchFamily="49" charset="-122"/>
              </a:rPr>
              <a:t>它们不能作为不可压缩物质来处理</a:t>
            </a:r>
          </a:p>
        </p:txBody>
      </p:sp>
      <p:sp>
        <p:nvSpPr>
          <p:cNvPr id="86021" name="矩形 48137"/>
          <p:cNvSpPr>
            <a:spLocks noChangeArrowheads="1"/>
          </p:cNvSpPr>
          <p:nvPr/>
        </p:nvSpPr>
        <p:spPr bwMode="auto">
          <a:xfrm>
            <a:off x="0" y="2328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39" name="矩形 48138"/>
          <p:cNvSpPr>
            <a:spLocks noChangeArrowheads="1"/>
          </p:cNvSpPr>
          <p:nvPr/>
        </p:nvSpPr>
        <p:spPr bwMode="auto">
          <a:xfrm>
            <a:off x="5651500" y="4005263"/>
            <a:ext cx="30972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楷体_GB2312" pitchFamily="49" charset="-122"/>
              </a:rPr>
              <a:t>玻璃管温度计：</a:t>
            </a:r>
          </a:p>
          <a:p>
            <a:pPr eaLnBrk="1" hangingPunct="1"/>
            <a:r>
              <a:rPr lang="zh-CN" altLang="en-US" sz="2400" b="1">
                <a:ea typeface="楷体_GB2312" pitchFamily="49" charset="-122"/>
              </a:rPr>
              <a:t>液体的体积变化反映被测系统的温度值 </a:t>
            </a:r>
          </a:p>
        </p:txBody>
      </p:sp>
      <p:sp>
        <p:nvSpPr>
          <p:cNvPr id="48141" name="矩形 48140"/>
          <p:cNvSpPr>
            <a:spLocks noChangeArrowheads="1"/>
          </p:cNvSpPr>
          <p:nvPr/>
        </p:nvSpPr>
        <p:spPr bwMode="auto">
          <a:xfrm>
            <a:off x="611188" y="5734050"/>
            <a:ext cx="828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本课程</a:t>
            </a:r>
            <a:r>
              <a:rPr lang="zh-CN" altLang="en-US" sz="3200" b="1">
                <a:solidFill>
                  <a:srgbClr val="FF0000"/>
                </a:solidFill>
                <a:latin typeface="黑体" panose="02010609060101010101" pitchFamily="49" charset="-122"/>
                <a:ea typeface="黑体" panose="02010609060101010101" pitchFamily="49" charset="-122"/>
              </a:rPr>
              <a:t>仅涉及固、液体积变化可忽略</a:t>
            </a:r>
            <a:r>
              <a:rPr lang="zh-CN" altLang="en-US" sz="3200" b="1">
                <a:latin typeface="黑体" panose="02010609060101010101" pitchFamily="49" charset="-122"/>
                <a:ea typeface="黑体" panose="02010609060101010101" pitchFamily="49" charset="-122"/>
              </a:rPr>
              <a:t>的情况</a:t>
            </a: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2279" y="1638522"/>
            <a:ext cx="695004" cy="220084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33"/>
                                        </p:tgtEl>
                                        <p:attrNameLst>
                                          <p:attrName>style.visibility</p:attrName>
                                        </p:attrNameLst>
                                      </p:cBhvr>
                                      <p:to>
                                        <p:strVal val="visible"/>
                                      </p:to>
                                    </p:set>
                                    <p:animEffect transition="in" filter="blinds(horizontal)">
                                      <p:cBhvr>
                                        <p:cTn id="7" dur="500"/>
                                        <p:tgtEl>
                                          <p:spTgt spid="4813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8134"/>
                                        </p:tgtEl>
                                        <p:attrNameLst>
                                          <p:attrName>style.visibility</p:attrName>
                                        </p:attrNameLst>
                                      </p:cBhvr>
                                      <p:to>
                                        <p:strVal val="visible"/>
                                      </p:to>
                                    </p:set>
                                    <p:animEffect transition="in" filter="blinds(horizontal)">
                                      <p:cBhvr>
                                        <p:cTn id="10" dur="500"/>
                                        <p:tgtEl>
                                          <p:spTgt spid="4813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8139"/>
                                        </p:tgtEl>
                                        <p:attrNameLst>
                                          <p:attrName>style.visibility</p:attrName>
                                        </p:attrNameLst>
                                      </p:cBhvr>
                                      <p:to>
                                        <p:strVal val="visible"/>
                                      </p:to>
                                    </p:set>
                                    <p:animEffect transition="in" filter="blinds(horizontal)">
                                      <p:cBhvr>
                                        <p:cTn id="13" dur="500"/>
                                        <p:tgtEl>
                                          <p:spTgt spid="4813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8141"/>
                                        </p:tgtEl>
                                        <p:attrNameLst>
                                          <p:attrName>style.visibility</p:attrName>
                                        </p:attrNameLst>
                                      </p:cBhvr>
                                      <p:to>
                                        <p:strVal val="visible"/>
                                      </p:to>
                                    </p:set>
                                    <p:animEffect transition="in" filter="blinds(horizontal)">
                                      <p:cBhvr>
                                        <p:cTn id="18" dur="500"/>
                                        <p:tgtEl>
                                          <p:spTgt spid="4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P spid="48139" grpId="0"/>
      <p:bldP spid="4814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文本框 46083"/>
          <p:cNvSpPr txBox="1">
            <a:spLocks noChangeArrowheads="1"/>
          </p:cNvSpPr>
          <p:nvPr/>
        </p:nvSpPr>
        <p:spPr bwMode="auto">
          <a:xfrm>
            <a:off x="179388" y="188913"/>
            <a:ext cx="8294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3200" b="1">
                <a:latin typeface="黑体" panose="02010609060101010101" pitchFamily="49" charset="-122"/>
                <a:ea typeface="黑体" panose="02010609060101010101" pitchFamily="49" charset="-122"/>
              </a:rPr>
              <a:t>二、固体和液体比热力学能的变化</a:t>
            </a:r>
          </a:p>
        </p:txBody>
      </p:sp>
      <p:sp>
        <p:nvSpPr>
          <p:cNvPr id="87043" name="矩形 46084"/>
          <p:cNvSpPr>
            <a:spLocks noChangeArrowheads="1"/>
          </p:cNvSpPr>
          <p:nvPr/>
        </p:nvSpPr>
        <p:spPr bwMode="auto">
          <a:xfrm>
            <a:off x="179388" y="908050"/>
            <a:ext cx="8990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b="1">
                <a:latin typeface="黑体" panose="02010609060101010101" pitchFamily="49" charset="-122"/>
                <a:ea typeface="黑体" panose="02010609060101010101" pitchFamily="49" charset="-122"/>
              </a:rPr>
              <a:t>简单可压缩物质的热力学能可以表示为温度和比体积的函数</a:t>
            </a:r>
            <a:r>
              <a:rPr lang="zh-CN" altLang="en-US" sz="2800" b="1">
                <a:latin typeface="黑体" panose="02010609060101010101" pitchFamily="49" charset="-122"/>
                <a:ea typeface="黑体" panose="02010609060101010101" pitchFamily="49" charset="-122"/>
              </a:rPr>
              <a:t> </a:t>
            </a:r>
          </a:p>
        </p:txBody>
      </p:sp>
      <p:sp>
        <p:nvSpPr>
          <p:cNvPr id="87044" name="矩形 4608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7045" name="对象 46085"/>
          <p:cNvGraphicFramePr/>
          <p:nvPr/>
        </p:nvGraphicFramePr>
        <p:xfrm>
          <a:off x="1331913" y="1700213"/>
          <a:ext cx="2160587" cy="779462"/>
        </p:xfrm>
        <a:graphic>
          <a:graphicData uri="http://schemas.openxmlformats.org/presentationml/2006/ole">
            <mc:AlternateContent xmlns:mc="http://schemas.openxmlformats.org/markup-compatibility/2006">
              <mc:Choice xmlns:v="urn:schemas-microsoft-com:vml" Requires="v">
                <p:oleObj spid="_x0000_s88270" r:id="rId4" imgW="711200" imgH="254000" progId="Equation.DSMT4">
                  <p:embed/>
                </p:oleObj>
              </mc:Choice>
              <mc:Fallback>
                <p:oleObj r:id="rId4" imgW="711200" imgH="254000" progId="Equation.DSMT4">
                  <p:embed/>
                  <p:pic>
                    <p:nvPicPr>
                      <p:cNvPr id="0" name="对象 4608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1700213"/>
                        <a:ext cx="216058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6" name="矩形 46087"/>
          <p:cNvSpPr>
            <a:spLocks noChangeArrowheads="1"/>
          </p:cNvSpPr>
          <p:nvPr/>
        </p:nvSpPr>
        <p:spPr bwMode="auto">
          <a:xfrm>
            <a:off x="0" y="3557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7047" name="矩形 46089"/>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89" name="对象 46088"/>
          <p:cNvGraphicFramePr/>
          <p:nvPr/>
        </p:nvGraphicFramePr>
        <p:xfrm>
          <a:off x="323850" y="2549525"/>
          <a:ext cx="4321175" cy="1160463"/>
        </p:xfrm>
        <a:graphic>
          <a:graphicData uri="http://schemas.openxmlformats.org/presentationml/2006/ole">
            <mc:AlternateContent xmlns:mc="http://schemas.openxmlformats.org/markup-compatibility/2006">
              <mc:Choice xmlns:v="urn:schemas-microsoft-com:vml" Requires="v">
                <p:oleObj spid="_x0000_s88271" r:id="rId6" imgW="1663700" imgH="444500" progId="Equation.DSMT4">
                  <p:embed/>
                </p:oleObj>
              </mc:Choice>
              <mc:Fallback>
                <p:oleObj r:id="rId6" imgW="1663700" imgH="444500" progId="Equation.DSMT4">
                  <p:embed/>
                  <p:pic>
                    <p:nvPicPr>
                      <p:cNvPr id="0" name="对象 4608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50" y="2549525"/>
                        <a:ext cx="432117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91" name="对象 46090"/>
          <p:cNvGraphicFramePr/>
          <p:nvPr/>
        </p:nvGraphicFramePr>
        <p:xfrm>
          <a:off x="1763713" y="4230688"/>
          <a:ext cx="1944687" cy="904875"/>
        </p:xfrm>
        <a:graphic>
          <a:graphicData uri="http://schemas.openxmlformats.org/presentationml/2006/ole">
            <mc:AlternateContent xmlns:mc="http://schemas.openxmlformats.org/markup-compatibility/2006">
              <mc:Choice xmlns:v="urn:schemas-microsoft-com:vml" Requires="v">
                <p:oleObj spid="_x0000_s88272" name="Equation" r:id="rId8" imgW="23164800" imgH="10668000" progId="Equation.DSMT4">
                  <p:embed/>
                </p:oleObj>
              </mc:Choice>
              <mc:Fallback>
                <p:oleObj name="Equation" r:id="rId8" imgW="23164800" imgH="10668000" progId="Equation.DSMT4">
                  <p:embed/>
                  <p:pic>
                    <p:nvPicPr>
                      <p:cNvPr id="0" name="对象 46090"/>
                      <p:cNvPicPr>
                        <a:picLocks noChangeArrowheads="1"/>
                      </p:cNvPicPr>
                      <p:nvPr/>
                    </p:nvPicPr>
                    <p:blipFill>
                      <a:blip r:embed="rId9"/>
                      <a:srcRect/>
                      <a:stretch>
                        <a:fillRect/>
                      </a:stretch>
                    </p:blipFill>
                    <p:spPr bwMode="auto">
                      <a:xfrm>
                        <a:off x="1763713" y="4230688"/>
                        <a:ext cx="194468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6116" name="组合 46115"/>
          <p:cNvGrpSpPr/>
          <p:nvPr/>
        </p:nvGrpSpPr>
        <p:grpSpPr bwMode="auto">
          <a:xfrm>
            <a:off x="2484438" y="3716338"/>
            <a:ext cx="2447925" cy="504825"/>
            <a:chOff x="1565" y="2341"/>
            <a:chExt cx="1542" cy="318"/>
          </a:xfrm>
        </p:grpSpPr>
        <p:sp>
          <p:nvSpPr>
            <p:cNvPr id="87067" name="下箭头 46092"/>
            <p:cNvSpPr>
              <a:spLocks noChangeArrowheads="1"/>
            </p:cNvSpPr>
            <p:nvPr/>
          </p:nvSpPr>
          <p:spPr bwMode="auto">
            <a:xfrm>
              <a:off x="1565" y="2341"/>
              <a:ext cx="91" cy="318"/>
            </a:xfrm>
            <a:prstGeom prst="downArrow">
              <a:avLst>
                <a:gd name="adj1" fmla="val 50000"/>
                <a:gd name="adj2" fmla="val 87330"/>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7068" name="矩形 46093"/>
            <p:cNvSpPr>
              <a:spLocks noChangeArrowheads="1"/>
            </p:cNvSpPr>
            <p:nvPr/>
          </p:nvSpPr>
          <p:spPr bwMode="auto">
            <a:xfrm>
              <a:off x="1747" y="2386"/>
              <a:ext cx="13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不可压缩（</a:t>
              </a:r>
              <a:r>
                <a:rPr lang="en-US" altLang="zh-CN" b="1" dirty="0">
                  <a:solidFill>
                    <a:srgbClr val="FF0000"/>
                  </a:solidFill>
                  <a:latin typeface="Times New Roman" panose="02020603050405020304" pitchFamily="18" charset="0"/>
                  <a:cs typeface="Times New Roman" panose="02020603050405020304" pitchFamily="18" charset="0"/>
                </a:rPr>
                <a:t>d</a:t>
              </a:r>
              <a:r>
                <a:rPr lang="en-US" altLang="zh-CN" b="1" i="1" dirty="0">
                  <a:solidFill>
                    <a:srgbClr val="FF0000"/>
                  </a:solidFill>
                  <a:latin typeface="Times New Roman" panose="02020603050405020304" pitchFamily="18" charset="0"/>
                  <a:cs typeface="Times New Roman" panose="02020603050405020304" pitchFamily="18" charset="0"/>
                </a:rPr>
                <a:t>v</a:t>
              </a:r>
              <a:r>
                <a:rPr lang="en-US" altLang="zh-CN" b="1" dirty="0">
                  <a:solidFill>
                    <a:srgbClr val="FF0000"/>
                  </a:solidFill>
                  <a:latin typeface="Times New Roman" panose="02020603050405020304" pitchFamily="18" charset="0"/>
                  <a:cs typeface="Times New Roman" panose="02020603050405020304" pitchFamily="18" charset="0"/>
                </a:rPr>
                <a:t>=0</a:t>
              </a:r>
              <a:r>
                <a:rPr lang="zh-CN" altLang="en-US" b="1" dirty="0">
                  <a:solidFill>
                    <a:srgbClr val="FF0000"/>
                  </a:solidFill>
                </a:rPr>
                <a:t>）</a:t>
              </a:r>
            </a:p>
          </p:txBody>
        </p:sp>
      </p:grpSp>
      <p:sp>
        <p:nvSpPr>
          <p:cNvPr id="87051" name="矩形 46095"/>
          <p:cNvSpPr>
            <a:spLocks noChangeArrowheads="1"/>
          </p:cNvSpPr>
          <p:nvPr/>
        </p:nvSpPr>
        <p:spPr bwMode="auto">
          <a:xfrm>
            <a:off x="-1439863" y="3278188"/>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95" name="对象 46094"/>
          <p:cNvGraphicFramePr/>
          <p:nvPr/>
        </p:nvGraphicFramePr>
        <p:xfrm>
          <a:off x="1403350" y="5086350"/>
          <a:ext cx="1223963" cy="747713"/>
        </p:xfrm>
        <a:graphic>
          <a:graphicData uri="http://schemas.openxmlformats.org/presentationml/2006/ole">
            <mc:AlternateContent xmlns:mc="http://schemas.openxmlformats.org/markup-compatibility/2006">
              <mc:Choice xmlns:v="urn:schemas-microsoft-com:vml" Requires="v">
                <p:oleObj spid="_x0000_s88273" r:id="rId10" imgW="735965" imgH="444500" progId="Equation.DSMT4">
                  <p:embed/>
                </p:oleObj>
              </mc:Choice>
              <mc:Fallback>
                <p:oleObj r:id="rId10" imgW="735965" imgH="444500" progId="Equation.DSMT4">
                  <p:embed/>
                  <p:pic>
                    <p:nvPicPr>
                      <p:cNvPr id="0" name="对象 4609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03350" y="5086350"/>
                        <a:ext cx="1223963"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97" name="下箭头 46096"/>
          <p:cNvSpPr>
            <a:spLocks noChangeArrowheads="1"/>
          </p:cNvSpPr>
          <p:nvPr/>
        </p:nvSpPr>
        <p:spPr bwMode="auto">
          <a:xfrm>
            <a:off x="2771775" y="5230813"/>
            <a:ext cx="144463" cy="504825"/>
          </a:xfrm>
          <a:prstGeom prst="downArrow">
            <a:avLst>
              <a:gd name="adj1" fmla="val 50000"/>
              <a:gd name="adj2" fmla="val 87330"/>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6098" name="矩形 46097"/>
          <p:cNvSpPr>
            <a:spLocks noChangeArrowheads="1"/>
          </p:cNvSpPr>
          <p:nvPr/>
        </p:nvSpPr>
        <p:spPr bwMode="auto">
          <a:xfrm>
            <a:off x="107950" y="5294313"/>
            <a:ext cx="1316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dirty="0" err="1" smtClean="0">
                <a:solidFill>
                  <a:srgbClr val="FF0000"/>
                </a:solidFill>
                <a:latin typeface="Times New Roman" panose="02020603050405020304" pitchFamily="18" charset="0"/>
                <a:cs typeface="Times New Roman" panose="02020603050405020304" pitchFamily="18" charset="0"/>
              </a:rPr>
              <a:t>c</a:t>
            </a:r>
            <a:r>
              <a:rPr lang="en-US" altLang="zh-CN" b="1" i="1" baseline="-25000" dirty="0" err="1" smtClean="0">
                <a:solidFill>
                  <a:srgbClr val="FF0000"/>
                </a:solidFill>
                <a:latin typeface="Times New Roman" panose="02020603050405020304" pitchFamily="18" charset="0"/>
                <a:cs typeface="Times New Roman" panose="02020603050405020304" pitchFamily="18" charset="0"/>
              </a:rPr>
              <a:t>V</a:t>
            </a:r>
            <a:r>
              <a:rPr lang="zh-CN" altLang="en-US" b="1" dirty="0" smtClean="0">
                <a:solidFill>
                  <a:srgbClr val="FF0000"/>
                </a:solidFill>
              </a:rPr>
              <a:t>的</a:t>
            </a:r>
            <a:r>
              <a:rPr lang="zh-CN" altLang="en-US" b="1" dirty="0">
                <a:solidFill>
                  <a:srgbClr val="FF0000"/>
                </a:solidFill>
              </a:rPr>
              <a:t>定义式</a:t>
            </a:r>
          </a:p>
        </p:txBody>
      </p:sp>
      <p:graphicFrame>
        <p:nvGraphicFramePr>
          <p:cNvPr id="46099" name="对象 46098"/>
          <p:cNvGraphicFramePr/>
          <p:nvPr/>
        </p:nvGraphicFramePr>
        <p:xfrm>
          <a:off x="1908175" y="6021388"/>
          <a:ext cx="1657350" cy="576262"/>
        </p:xfrm>
        <a:graphic>
          <a:graphicData uri="http://schemas.openxmlformats.org/presentationml/2006/ole">
            <mc:AlternateContent xmlns:mc="http://schemas.openxmlformats.org/markup-compatibility/2006">
              <mc:Choice xmlns:v="urn:schemas-microsoft-com:vml" Requires="v">
                <p:oleObj spid="_x0000_s88274" r:id="rId12" imgW="660400" imgH="228600" progId="Equation.DSMT4">
                  <p:embed/>
                </p:oleObj>
              </mc:Choice>
              <mc:Fallback>
                <p:oleObj r:id="rId12" imgW="660400" imgH="228600" progId="Equation.DSMT4">
                  <p:embed/>
                  <p:pic>
                    <p:nvPicPr>
                      <p:cNvPr id="0" name="对象 4609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8175" y="6021388"/>
                        <a:ext cx="16573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01" name="矩形 46100"/>
          <p:cNvSpPr>
            <a:spLocks noChangeArrowheads="1"/>
          </p:cNvSpPr>
          <p:nvPr/>
        </p:nvSpPr>
        <p:spPr bwMode="auto">
          <a:xfrm>
            <a:off x="5364163" y="3280202"/>
            <a:ext cx="36718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ea typeface="楷体_GB2312" pitchFamily="49" charset="-122"/>
              </a:rPr>
              <a:t>不可压缩物质的</a:t>
            </a:r>
            <a:r>
              <a:rPr lang="en-US" altLang="zh-CN" sz="2400" b="1" i="1" dirty="0">
                <a:latin typeface="Times New Roman" panose="02020603050405020304" pitchFamily="18" charset="0"/>
                <a:ea typeface="楷体_GB2312" pitchFamily="49" charset="-122"/>
                <a:cs typeface="Times New Roman" panose="02020603050405020304" pitchFamily="18" charset="0"/>
              </a:rPr>
              <a:t>u</a:t>
            </a:r>
            <a:r>
              <a:rPr lang="zh-CN" altLang="en-US" sz="2400" b="1" dirty="0">
                <a:ea typeface="楷体_GB2312" pitchFamily="49" charset="-122"/>
              </a:rPr>
              <a:t>也仅为温度的函数</a:t>
            </a:r>
            <a:r>
              <a:rPr lang="zh-CN" altLang="en-US" dirty="0"/>
              <a:t> </a:t>
            </a:r>
          </a:p>
        </p:txBody>
      </p:sp>
      <p:sp>
        <p:nvSpPr>
          <p:cNvPr id="46104" name="下箭头 46103"/>
          <p:cNvSpPr>
            <a:spLocks noChangeArrowheads="1"/>
          </p:cNvSpPr>
          <p:nvPr/>
        </p:nvSpPr>
        <p:spPr bwMode="auto">
          <a:xfrm>
            <a:off x="6300788" y="2420938"/>
            <a:ext cx="142875" cy="720725"/>
          </a:xfrm>
          <a:prstGeom prst="downArrow">
            <a:avLst>
              <a:gd name="adj1" fmla="val 50000"/>
              <a:gd name="adj2" fmla="val 126064"/>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6105" name="矩形 46104"/>
          <p:cNvSpPr>
            <a:spLocks noChangeArrowheads="1"/>
          </p:cNvSpPr>
          <p:nvPr/>
        </p:nvSpPr>
        <p:spPr bwMode="auto">
          <a:xfrm>
            <a:off x="6443663" y="2276475"/>
            <a:ext cx="2519362"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solidFill>
                  <a:srgbClr val="FF0000"/>
                </a:solidFill>
              </a:rPr>
              <a:t>根据热力学一般关系式，不可压缩</a:t>
            </a:r>
            <a:r>
              <a:rPr lang="zh-CN" altLang="en-US" b="1" dirty="0" smtClean="0">
                <a:solidFill>
                  <a:srgbClr val="FF0000"/>
                </a:solidFill>
              </a:rPr>
              <a:t>物质</a:t>
            </a:r>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i="1" baseline="-25000" dirty="0" err="1">
                <a:solidFill>
                  <a:srgbClr val="FF0000"/>
                </a:solidFill>
                <a:latin typeface="Times New Roman" panose="02020603050405020304" pitchFamily="18" charset="0"/>
                <a:cs typeface="Times New Roman" panose="02020603050405020304" pitchFamily="18" charset="0"/>
              </a:rPr>
              <a:t>V</a:t>
            </a:r>
            <a:r>
              <a:rPr lang="zh-CN" altLang="en-US" b="1" dirty="0" smtClean="0">
                <a:solidFill>
                  <a:srgbClr val="FF0000"/>
                </a:solidFill>
              </a:rPr>
              <a:t>仅</a:t>
            </a:r>
            <a:r>
              <a:rPr lang="zh-CN" altLang="en-US" b="1" dirty="0">
                <a:solidFill>
                  <a:srgbClr val="FF0000"/>
                </a:solidFill>
              </a:rPr>
              <a:t>为温度的函数</a:t>
            </a:r>
          </a:p>
        </p:txBody>
      </p:sp>
      <p:graphicFrame>
        <p:nvGraphicFramePr>
          <p:cNvPr id="46106" name="对象 46105"/>
          <p:cNvGraphicFramePr/>
          <p:nvPr/>
        </p:nvGraphicFramePr>
        <p:xfrm>
          <a:off x="5305425" y="4437063"/>
          <a:ext cx="2998788" cy="614362"/>
        </p:xfrm>
        <a:graphic>
          <a:graphicData uri="http://schemas.openxmlformats.org/presentationml/2006/ole">
            <mc:AlternateContent xmlns:mc="http://schemas.openxmlformats.org/markup-compatibility/2006">
              <mc:Choice xmlns:v="urn:schemas-microsoft-com:vml" Requires="v">
                <p:oleObj spid="_x0000_s88275" r:id="rId14" imgW="1625600" imgH="330200" progId="Equation.DSMT4">
                  <p:embed/>
                </p:oleObj>
              </mc:Choice>
              <mc:Fallback>
                <p:oleObj r:id="rId14" imgW="1625600" imgH="330200" progId="Equation.DSMT4">
                  <p:embed/>
                  <p:pic>
                    <p:nvPicPr>
                      <p:cNvPr id="0" name="对象 4610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05425" y="4437063"/>
                        <a:ext cx="2998788"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08" name="下箭头 46107"/>
          <p:cNvSpPr>
            <a:spLocks noChangeArrowheads="1"/>
          </p:cNvSpPr>
          <p:nvPr/>
        </p:nvSpPr>
        <p:spPr bwMode="auto">
          <a:xfrm>
            <a:off x="6156325" y="4149725"/>
            <a:ext cx="144463" cy="504825"/>
          </a:xfrm>
          <a:prstGeom prst="downArrow">
            <a:avLst>
              <a:gd name="adj1" fmla="val 50000"/>
              <a:gd name="adj2" fmla="val 87330"/>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109" name="对象 46108"/>
          <p:cNvGraphicFramePr/>
          <p:nvPr/>
        </p:nvGraphicFramePr>
        <p:xfrm>
          <a:off x="5511800" y="5445125"/>
          <a:ext cx="2008188" cy="455613"/>
        </p:xfrm>
        <a:graphic>
          <a:graphicData uri="http://schemas.openxmlformats.org/presentationml/2006/ole">
            <mc:AlternateContent xmlns:mc="http://schemas.openxmlformats.org/markup-compatibility/2006">
              <mc:Choice xmlns:v="urn:schemas-microsoft-com:vml" Requires="v">
                <p:oleObj spid="_x0000_s88276" r:id="rId16" imgW="1130300" imgH="254000" progId="Equation.DSMT4">
                  <p:embed/>
                </p:oleObj>
              </mc:Choice>
              <mc:Fallback>
                <p:oleObj r:id="rId16" imgW="1130300" imgH="254000" progId="Equation.DSMT4">
                  <p:embed/>
                  <p:pic>
                    <p:nvPicPr>
                      <p:cNvPr id="0" name="对象 46108"/>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11800" y="5445125"/>
                        <a:ext cx="20081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11" name="下箭头 46110"/>
          <p:cNvSpPr>
            <a:spLocks noChangeArrowheads="1"/>
          </p:cNvSpPr>
          <p:nvPr/>
        </p:nvSpPr>
        <p:spPr bwMode="auto">
          <a:xfrm>
            <a:off x="6084888" y="5013325"/>
            <a:ext cx="144462" cy="504825"/>
          </a:xfrm>
          <a:prstGeom prst="downArrow">
            <a:avLst>
              <a:gd name="adj1" fmla="val 50000"/>
              <a:gd name="adj2" fmla="val 87331"/>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6112" name="矩形 46111"/>
          <p:cNvSpPr>
            <a:spLocks noChangeArrowheads="1"/>
          </p:cNvSpPr>
          <p:nvPr/>
        </p:nvSpPr>
        <p:spPr bwMode="auto">
          <a:xfrm>
            <a:off x="6227763" y="5084763"/>
            <a:ext cx="2160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温度变化不大</a:t>
            </a:r>
          </a:p>
        </p:txBody>
      </p:sp>
      <p:sp>
        <p:nvSpPr>
          <p:cNvPr id="46113" name="矩形 46112"/>
          <p:cNvSpPr>
            <a:spLocks noChangeArrowheads="1"/>
          </p:cNvSpPr>
          <p:nvPr/>
        </p:nvSpPr>
        <p:spPr bwMode="auto">
          <a:xfrm>
            <a:off x="5435600" y="6021388"/>
            <a:ext cx="30972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i="1" baseline="-25000" dirty="0" err="1">
                <a:solidFill>
                  <a:srgbClr val="FF0000"/>
                </a:solidFill>
                <a:latin typeface="Times New Roman" panose="02020603050405020304" pitchFamily="18" charset="0"/>
                <a:cs typeface="Times New Roman" panose="02020603050405020304" pitchFamily="18" charset="0"/>
              </a:rPr>
              <a:t>V</a:t>
            </a:r>
            <a:r>
              <a:rPr lang="en-US" altLang="zh-CN" b="1" baseline="-25000" dirty="0" err="1">
                <a:solidFill>
                  <a:srgbClr val="FF0000"/>
                </a:solidFill>
                <a:latin typeface="Times New Roman" panose="02020603050405020304" pitchFamily="18" charset="0"/>
                <a:cs typeface="Times New Roman" panose="02020603050405020304" pitchFamily="18" charset="0"/>
              </a:rPr>
              <a:t>,av</a:t>
            </a:r>
            <a:r>
              <a:rPr lang="en-US" altLang="zh-CN" b="1" dirty="0">
                <a:solidFill>
                  <a:srgbClr val="FF0000"/>
                </a:solidFill>
              </a:rPr>
              <a:t>:</a:t>
            </a:r>
            <a:r>
              <a:rPr lang="zh-CN" altLang="en-US" b="1" dirty="0" smtClean="0">
                <a:solidFill>
                  <a:srgbClr val="FF0000"/>
                </a:solidFill>
              </a:rPr>
              <a:t>平均比定容热容</a:t>
            </a:r>
            <a:endParaRPr lang="zh-CN" altLang="en-US" b="1" dirty="0">
              <a:solidFill>
                <a:srgbClr val="FF0000"/>
              </a:solidFill>
            </a:endParaRPr>
          </a:p>
        </p:txBody>
      </p:sp>
      <p:sp>
        <p:nvSpPr>
          <p:cNvPr id="46117" name="直接连接符 46116"/>
          <p:cNvSpPr>
            <a:spLocks noChangeShapeType="1"/>
          </p:cNvSpPr>
          <p:nvPr/>
        </p:nvSpPr>
        <p:spPr bwMode="auto">
          <a:xfrm>
            <a:off x="4787900" y="1628775"/>
            <a:ext cx="0" cy="48958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6118" name="对象 46117"/>
          <p:cNvGraphicFramePr/>
          <p:nvPr/>
        </p:nvGraphicFramePr>
        <p:xfrm>
          <a:off x="5651500" y="1700213"/>
          <a:ext cx="1657350" cy="576262"/>
        </p:xfrm>
        <a:graphic>
          <a:graphicData uri="http://schemas.openxmlformats.org/presentationml/2006/ole">
            <mc:AlternateContent xmlns:mc="http://schemas.openxmlformats.org/markup-compatibility/2006">
              <mc:Choice xmlns:v="urn:schemas-microsoft-com:vml" Requires="v">
                <p:oleObj spid="_x0000_s88277" r:id="rId18" imgW="660400" imgH="228600" progId="Equation.DSMT4">
                  <p:embed/>
                </p:oleObj>
              </mc:Choice>
              <mc:Fallback>
                <p:oleObj r:id="rId18" imgW="660400" imgH="228600" progId="Equation.DSMT4">
                  <p:embed/>
                  <p:pic>
                    <p:nvPicPr>
                      <p:cNvPr id="0" name="对象 461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51500" y="1700213"/>
                        <a:ext cx="16573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9"/>
                                        </p:tgtEl>
                                        <p:attrNameLst>
                                          <p:attrName>style.visibility</p:attrName>
                                        </p:attrNameLst>
                                      </p:cBhvr>
                                      <p:to>
                                        <p:strVal val="visible"/>
                                      </p:to>
                                    </p:set>
                                    <p:animEffect transition="in" filter="blinds(horizontal)">
                                      <p:cBhvr>
                                        <p:cTn id="7" dur="500"/>
                                        <p:tgtEl>
                                          <p:spTgt spid="460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6116"/>
                                        </p:tgtEl>
                                        <p:attrNameLst>
                                          <p:attrName>style.visibility</p:attrName>
                                        </p:attrNameLst>
                                      </p:cBhvr>
                                      <p:to>
                                        <p:strVal val="visible"/>
                                      </p:to>
                                    </p:set>
                                    <p:animEffect transition="in" filter="wipe(up)">
                                      <p:cBhvr>
                                        <p:cTn id="12" dur="500"/>
                                        <p:tgtEl>
                                          <p:spTgt spid="461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091"/>
                                        </p:tgtEl>
                                        <p:attrNameLst>
                                          <p:attrName>style.visibility</p:attrName>
                                        </p:attrNameLst>
                                      </p:cBhvr>
                                      <p:to>
                                        <p:strVal val="visible"/>
                                      </p:to>
                                    </p:set>
                                    <p:animEffect transition="in" filter="blinds(horizontal)">
                                      <p:cBhvr>
                                        <p:cTn id="17" dur="500"/>
                                        <p:tgtEl>
                                          <p:spTgt spid="4609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6098"/>
                                        </p:tgtEl>
                                        <p:attrNameLst>
                                          <p:attrName>style.visibility</p:attrName>
                                        </p:attrNameLst>
                                      </p:cBhvr>
                                      <p:to>
                                        <p:strVal val="visible"/>
                                      </p:to>
                                    </p:set>
                                    <p:animEffect transition="in" filter="blinds(horizontal)">
                                      <p:cBhvr>
                                        <p:cTn id="22" dur="500"/>
                                        <p:tgtEl>
                                          <p:spTgt spid="46098"/>
                                        </p:tgtEl>
                                      </p:cBhvr>
                                    </p:animEffect>
                                  </p:childTnLst>
                                </p:cTn>
                              </p:par>
                              <p:par>
                                <p:cTn id="23" presetID="3" presetClass="entr" presetSubtype="10" fill="hold" nodeType="withEffect">
                                  <p:stCondLst>
                                    <p:cond delay="0"/>
                                  </p:stCondLst>
                                  <p:childTnLst>
                                    <p:set>
                                      <p:cBhvr>
                                        <p:cTn id="24" dur="1" fill="hold">
                                          <p:stCondLst>
                                            <p:cond delay="0"/>
                                          </p:stCondLst>
                                        </p:cTn>
                                        <p:tgtEl>
                                          <p:spTgt spid="46095"/>
                                        </p:tgtEl>
                                        <p:attrNameLst>
                                          <p:attrName>style.visibility</p:attrName>
                                        </p:attrNameLst>
                                      </p:cBhvr>
                                      <p:to>
                                        <p:strVal val="visible"/>
                                      </p:to>
                                    </p:set>
                                    <p:animEffect transition="in" filter="blinds(horizontal)">
                                      <p:cBhvr>
                                        <p:cTn id="25" dur="500"/>
                                        <p:tgtEl>
                                          <p:spTgt spid="4609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6097"/>
                                        </p:tgtEl>
                                        <p:attrNameLst>
                                          <p:attrName>style.visibility</p:attrName>
                                        </p:attrNameLst>
                                      </p:cBhvr>
                                      <p:to>
                                        <p:strVal val="visible"/>
                                      </p:to>
                                    </p:set>
                                    <p:animEffect transition="in" filter="wipe(up)">
                                      <p:cBhvr>
                                        <p:cTn id="30" dur="500"/>
                                        <p:tgtEl>
                                          <p:spTgt spid="46097"/>
                                        </p:tgtEl>
                                      </p:cBhvr>
                                    </p:animEffect>
                                  </p:childTnLst>
                                </p:cTn>
                              </p:par>
                              <p:par>
                                <p:cTn id="31" presetID="22" presetClass="entr" presetSubtype="1" fill="hold" nodeType="withEffect">
                                  <p:stCondLst>
                                    <p:cond delay="0"/>
                                  </p:stCondLst>
                                  <p:childTnLst>
                                    <p:set>
                                      <p:cBhvr>
                                        <p:cTn id="32" dur="1" fill="hold">
                                          <p:stCondLst>
                                            <p:cond delay="0"/>
                                          </p:stCondLst>
                                        </p:cTn>
                                        <p:tgtEl>
                                          <p:spTgt spid="46099"/>
                                        </p:tgtEl>
                                        <p:attrNameLst>
                                          <p:attrName>style.visibility</p:attrName>
                                        </p:attrNameLst>
                                      </p:cBhvr>
                                      <p:to>
                                        <p:strVal val="visible"/>
                                      </p:to>
                                    </p:set>
                                    <p:animEffect transition="in" filter="wipe(up)">
                                      <p:cBhvr>
                                        <p:cTn id="33" dur="500"/>
                                        <p:tgtEl>
                                          <p:spTgt spid="4609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6117"/>
                                        </p:tgtEl>
                                        <p:attrNameLst>
                                          <p:attrName>style.visibility</p:attrName>
                                        </p:attrNameLst>
                                      </p:cBhvr>
                                      <p:to>
                                        <p:strVal val="visible"/>
                                      </p:to>
                                    </p:set>
                                    <p:animEffect transition="in" filter="wipe(up)">
                                      <p:cBhvr>
                                        <p:cTn id="38" dur="500"/>
                                        <p:tgtEl>
                                          <p:spTgt spid="461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6118"/>
                                        </p:tgtEl>
                                        <p:attrNameLst>
                                          <p:attrName>style.visibility</p:attrName>
                                        </p:attrNameLst>
                                      </p:cBhvr>
                                      <p:to>
                                        <p:strVal val="visible"/>
                                      </p:to>
                                    </p:set>
                                    <p:animEffect transition="in" filter="wipe(up)">
                                      <p:cBhvr>
                                        <p:cTn id="43" dur="500"/>
                                        <p:tgtEl>
                                          <p:spTgt spid="461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46105"/>
                                        </p:tgtEl>
                                        <p:attrNameLst>
                                          <p:attrName>style.visibility</p:attrName>
                                        </p:attrNameLst>
                                      </p:cBhvr>
                                      <p:to>
                                        <p:strVal val="visible"/>
                                      </p:to>
                                    </p:set>
                                    <p:animEffect transition="in" filter="wipe(up)">
                                      <p:cBhvr>
                                        <p:cTn id="48" dur="500"/>
                                        <p:tgtEl>
                                          <p:spTgt spid="46105"/>
                                        </p:tgtEl>
                                      </p:cBhvr>
                                    </p:animEffect>
                                  </p:childTnLst>
                                </p:cTn>
                              </p:par>
                              <p:par>
                                <p:cTn id="49" presetID="22" presetClass="entr" presetSubtype="1" fill="hold" nodeType="withEffect">
                                  <p:stCondLst>
                                    <p:cond delay="0"/>
                                  </p:stCondLst>
                                  <p:childTnLst>
                                    <p:set>
                                      <p:cBhvr>
                                        <p:cTn id="50" dur="1" fill="hold">
                                          <p:stCondLst>
                                            <p:cond delay="0"/>
                                          </p:stCondLst>
                                        </p:cTn>
                                        <p:tgtEl>
                                          <p:spTgt spid="46104"/>
                                        </p:tgtEl>
                                        <p:attrNameLst>
                                          <p:attrName>style.visibility</p:attrName>
                                        </p:attrNameLst>
                                      </p:cBhvr>
                                      <p:to>
                                        <p:strVal val="visible"/>
                                      </p:to>
                                    </p:set>
                                    <p:animEffect transition="in" filter="wipe(up)">
                                      <p:cBhvr>
                                        <p:cTn id="51" dur="500"/>
                                        <p:tgtEl>
                                          <p:spTgt spid="46104"/>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46101"/>
                                        </p:tgtEl>
                                        <p:attrNameLst>
                                          <p:attrName>style.visibility</p:attrName>
                                        </p:attrNameLst>
                                      </p:cBhvr>
                                      <p:to>
                                        <p:strVal val="visible"/>
                                      </p:to>
                                    </p:set>
                                    <p:animEffect transition="in" filter="blinds(horizontal)">
                                      <p:cBhvr>
                                        <p:cTn id="56" dur="500"/>
                                        <p:tgtEl>
                                          <p:spTgt spid="4610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46106"/>
                                        </p:tgtEl>
                                        <p:attrNameLst>
                                          <p:attrName>style.visibility</p:attrName>
                                        </p:attrNameLst>
                                      </p:cBhvr>
                                      <p:to>
                                        <p:strVal val="visible"/>
                                      </p:to>
                                    </p:set>
                                    <p:animEffect transition="in" filter="wipe(up)">
                                      <p:cBhvr>
                                        <p:cTn id="61" dur="500"/>
                                        <p:tgtEl>
                                          <p:spTgt spid="46106"/>
                                        </p:tgtEl>
                                      </p:cBhvr>
                                    </p:animEffect>
                                  </p:childTnLst>
                                </p:cTn>
                              </p:par>
                              <p:par>
                                <p:cTn id="62" presetID="22" presetClass="entr" presetSubtype="1" fill="hold" nodeType="withEffect">
                                  <p:stCondLst>
                                    <p:cond delay="0"/>
                                  </p:stCondLst>
                                  <p:childTnLst>
                                    <p:set>
                                      <p:cBhvr>
                                        <p:cTn id="63" dur="1" fill="hold">
                                          <p:stCondLst>
                                            <p:cond delay="0"/>
                                          </p:stCondLst>
                                        </p:cTn>
                                        <p:tgtEl>
                                          <p:spTgt spid="46108"/>
                                        </p:tgtEl>
                                        <p:attrNameLst>
                                          <p:attrName>style.visibility</p:attrName>
                                        </p:attrNameLst>
                                      </p:cBhvr>
                                      <p:to>
                                        <p:strVal val="visible"/>
                                      </p:to>
                                    </p:set>
                                    <p:animEffect transition="in" filter="wipe(up)">
                                      <p:cBhvr>
                                        <p:cTn id="64" dur="500"/>
                                        <p:tgtEl>
                                          <p:spTgt spid="4610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46109"/>
                                        </p:tgtEl>
                                        <p:attrNameLst>
                                          <p:attrName>style.visibility</p:attrName>
                                        </p:attrNameLst>
                                      </p:cBhvr>
                                      <p:to>
                                        <p:strVal val="visible"/>
                                      </p:to>
                                    </p:set>
                                    <p:animEffect transition="in" filter="wipe(up)">
                                      <p:cBhvr>
                                        <p:cTn id="69" dur="500"/>
                                        <p:tgtEl>
                                          <p:spTgt spid="46109"/>
                                        </p:tgtEl>
                                      </p:cBhvr>
                                    </p:animEffect>
                                  </p:childTnLst>
                                </p:cTn>
                              </p:par>
                              <p:par>
                                <p:cTn id="70" presetID="22" presetClass="entr" presetSubtype="1" fill="hold" nodeType="withEffect">
                                  <p:stCondLst>
                                    <p:cond delay="0"/>
                                  </p:stCondLst>
                                  <p:childTnLst>
                                    <p:set>
                                      <p:cBhvr>
                                        <p:cTn id="71" dur="1" fill="hold">
                                          <p:stCondLst>
                                            <p:cond delay="0"/>
                                          </p:stCondLst>
                                        </p:cTn>
                                        <p:tgtEl>
                                          <p:spTgt spid="46111"/>
                                        </p:tgtEl>
                                        <p:attrNameLst>
                                          <p:attrName>style.visibility</p:attrName>
                                        </p:attrNameLst>
                                      </p:cBhvr>
                                      <p:to>
                                        <p:strVal val="visible"/>
                                      </p:to>
                                    </p:set>
                                    <p:animEffect transition="in" filter="wipe(up)">
                                      <p:cBhvr>
                                        <p:cTn id="72" dur="500"/>
                                        <p:tgtEl>
                                          <p:spTgt spid="46111"/>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46112"/>
                                        </p:tgtEl>
                                        <p:attrNameLst>
                                          <p:attrName>style.visibility</p:attrName>
                                        </p:attrNameLst>
                                      </p:cBhvr>
                                      <p:to>
                                        <p:strVal val="visible"/>
                                      </p:to>
                                    </p:set>
                                    <p:animEffect transition="in" filter="wipe(up)">
                                      <p:cBhvr>
                                        <p:cTn id="75" dur="500"/>
                                        <p:tgtEl>
                                          <p:spTgt spid="46112"/>
                                        </p:tgtEl>
                                      </p:cBhvr>
                                    </p:animEffect>
                                  </p:childTnLst>
                                </p:cTn>
                              </p:par>
                              <p:par>
                                <p:cTn id="76" presetID="22" presetClass="entr" presetSubtype="1" fill="hold" grpId="0" nodeType="withEffect">
                                  <p:stCondLst>
                                    <p:cond delay="0"/>
                                  </p:stCondLst>
                                  <p:childTnLst>
                                    <p:set>
                                      <p:cBhvr>
                                        <p:cTn id="77" dur="1" fill="hold">
                                          <p:stCondLst>
                                            <p:cond delay="0"/>
                                          </p:stCondLst>
                                        </p:cTn>
                                        <p:tgtEl>
                                          <p:spTgt spid="46113"/>
                                        </p:tgtEl>
                                        <p:attrNameLst>
                                          <p:attrName>style.visibility</p:attrName>
                                        </p:attrNameLst>
                                      </p:cBhvr>
                                      <p:to>
                                        <p:strVal val="visible"/>
                                      </p:to>
                                    </p:set>
                                    <p:animEffect transition="in" filter="wipe(up)">
                                      <p:cBhvr>
                                        <p:cTn id="78" dur="500"/>
                                        <p:tgtEl>
                                          <p:spTgt spid="46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8" grpId="0"/>
      <p:bldP spid="46101" grpId="0"/>
      <p:bldP spid="46105" grpId="0"/>
      <p:bldP spid="46112" grpId="0"/>
      <p:bldP spid="4611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文本框 47109"/>
          <p:cNvSpPr txBox="1">
            <a:spLocks noChangeArrowheads="1"/>
          </p:cNvSpPr>
          <p:nvPr/>
        </p:nvSpPr>
        <p:spPr bwMode="auto">
          <a:xfrm>
            <a:off x="381000" y="304800"/>
            <a:ext cx="829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b="1">
                <a:latin typeface="黑体" panose="02010609060101010101" pitchFamily="49" charset="-122"/>
                <a:ea typeface="黑体" panose="02010609060101010101" pitchFamily="49" charset="-122"/>
              </a:rPr>
              <a:t>三、固体和液体比焓的变化</a:t>
            </a:r>
          </a:p>
        </p:txBody>
      </p:sp>
      <p:graphicFrame>
        <p:nvGraphicFramePr>
          <p:cNvPr id="88067" name="对象 47110"/>
          <p:cNvGraphicFramePr/>
          <p:nvPr/>
        </p:nvGraphicFramePr>
        <p:xfrm>
          <a:off x="2093913" y="1495425"/>
          <a:ext cx="2713037" cy="1273175"/>
        </p:xfrm>
        <a:graphic>
          <a:graphicData uri="http://schemas.openxmlformats.org/presentationml/2006/ole">
            <mc:AlternateContent xmlns:mc="http://schemas.openxmlformats.org/markup-compatibility/2006">
              <mc:Choice xmlns:v="urn:schemas-microsoft-com:vml" Requires="v">
                <p:oleObj spid="_x0000_s89214" r:id="rId4" imgW="1523365" imgH="711200" progId="Equation.DSMT4">
                  <p:embed/>
                </p:oleObj>
              </mc:Choice>
              <mc:Fallback>
                <p:oleObj r:id="rId4" imgW="1523365" imgH="711200" progId="Equation.DSMT4">
                  <p:embed/>
                  <p:pic>
                    <p:nvPicPr>
                      <p:cNvPr id="0" name="对象 471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3913" y="1495425"/>
                        <a:ext cx="2713037"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13" name="对象 47112"/>
          <p:cNvGraphicFramePr/>
          <p:nvPr/>
        </p:nvGraphicFramePr>
        <p:xfrm>
          <a:off x="911225" y="3355975"/>
          <a:ext cx="2998788" cy="614363"/>
        </p:xfrm>
        <a:graphic>
          <a:graphicData uri="http://schemas.openxmlformats.org/presentationml/2006/ole">
            <mc:AlternateContent xmlns:mc="http://schemas.openxmlformats.org/markup-compatibility/2006">
              <mc:Choice xmlns:v="urn:schemas-microsoft-com:vml" Requires="v">
                <p:oleObj spid="_x0000_s89215" r:id="rId6" imgW="1625600" imgH="330200" progId="Equation.DSMT4">
                  <p:embed/>
                </p:oleObj>
              </mc:Choice>
              <mc:Fallback>
                <p:oleObj r:id="rId6" imgW="1625600" imgH="330200" progId="Equation.DSMT4">
                  <p:embed/>
                  <p:pic>
                    <p:nvPicPr>
                      <p:cNvPr id="0" name="对象 471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1225" y="3355975"/>
                        <a:ext cx="29987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4" name="直接连接符 47113"/>
          <p:cNvSpPr>
            <a:spLocks noChangeShapeType="1"/>
          </p:cNvSpPr>
          <p:nvPr/>
        </p:nvSpPr>
        <p:spPr bwMode="auto">
          <a:xfrm flipV="1">
            <a:off x="2339975" y="2781300"/>
            <a:ext cx="576263" cy="7191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7115" name="对象 47114"/>
          <p:cNvGraphicFramePr/>
          <p:nvPr/>
        </p:nvGraphicFramePr>
        <p:xfrm>
          <a:off x="4725988" y="2279650"/>
          <a:ext cx="2865437" cy="573088"/>
        </p:xfrm>
        <a:graphic>
          <a:graphicData uri="http://schemas.openxmlformats.org/presentationml/2006/ole">
            <mc:AlternateContent xmlns:mc="http://schemas.openxmlformats.org/markup-compatibility/2006">
              <mc:Choice xmlns:v="urn:schemas-microsoft-com:vml" Requires="v">
                <p:oleObj spid="_x0000_s89216" r:id="rId8" imgW="1651000" imgH="330200" progId="Equation.DSMT4">
                  <p:embed/>
                </p:oleObj>
              </mc:Choice>
              <mc:Fallback>
                <p:oleObj r:id="rId8" imgW="1651000" imgH="330200" progId="Equation.DSMT4">
                  <p:embed/>
                  <p:pic>
                    <p:nvPicPr>
                      <p:cNvPr id="0" name="对象 4711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5988" y="2279650"/>
                        <a:ext cx="28654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71" name="矩形 47116"/>
          <p:cNvSpPr>
            <a:spLocks noChangeArrowheads="1"/>
          </p:cNvSpPr>
          <p:nvPr/>
        </p:nvSpPr>
        <p:spPr bwMode="auto">
          <a:xfrm>
            <a:off x="0" y="3305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7116" name="对象 47115"/>
          <p:cNvGraphicFramePr/>
          <p:nvPr/>
        </p:nvGraphicFramePr>
        <p:xfrm>
          <a:off x="4424363" y="3787775"/>
          <a:ext cx="3248025" cy="433388"/>
        </p:xfrm>
        <a:graphic>
          <a:graphicData uri="http://schemas.openxmlformats.org/presentationml/2006/ole">
            <mc:AlternateContent xmlns:mc="http://schemas.openxmlformats.org/markup-compatibility/2006">
              <mc:Choice xmlns:v="urn:schemas-microsoft-com:vml" Requires="v">
                <p:oleObj spid="_x0000_s89217" r:id="rId10" imgW="1905000" imgH="254000" progId="Equation.DSMT4">
                  <p:embed/>
                </p:oleObj>
              </mc:Choice>
              <mc:Fallback>
                <p:oleObj r:id="rId10" imgW="1905000" imgH="254000" progId="Equation.DSMT4">
                  <p:embed/>
                  <p:pic>
                    <p:nvPicPr>
                      <p:cNvPr id="0" name="对象 471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4363" y="3787775"/>
                        <a:ext cx="32480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9" name="下箭头 47118"/>
          <p:cNvSpPr>
            <a:spLocks noChangeArrowheads="1"/>
          </p:cNvSpPr>
          <p:nvPr/>
        </p:nvSpPr>
        <p:spPr bwMode="auto">
          <a:xfrm>
            <a:off x="5221288" y="3062288"/>
            <a:ext cx="144462" cy="504825"/>
          </a:xfrm>
          <a:prstGeom prst="downArrow">
            <a:avLst>
              <a:gd name="adj1" fmla="val 50000"/>
              <a:gd name="adj2" fmla="val 87331"/>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7120" name="矩形 47119"/>
          <p:cNvSpPr>
            <a:spLocks noChangeArrowheads="1"/>
          </p:cNvSpPr>
          <p:nvPr/>
        </p:nvSpPr>
        <p:spPr bwMode="auto">
          <a:xfrm>
            <a:off x="5364163" y="3133725"/>
            <a:ext cx="2160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温度变化不大</a:t>
            </a:r>
          </a:p>
        </p:txBody>
      </p:sp>
      <p:sp>
        <p:nvSpPr>
          <p:cNvPr id="47121" name="矩形 47120"/>
          <p:cNvSpPr>
            <a:spLocks noChangeArrowheads="1"/>
          </p:cNvSpPr>
          <p:nvPr/>
        </p:nvSpPr>
        <p:spPr bwMode="auto">
          <a:xfrm>
            <a:off x="4427538" y="4357688"/>
            <a:ext cx="3097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i="1" baseline="-25000" dirty="0" err="1">
                <a:solidFill>
                  <a:srgbClr val="FF0000"/>
                </a:solidFill>
                <a:latin typeface="Times New Roman" panose="02020603050405020304" pitchFamily="18" charset="0"/>
                <a:cs typeface="Times New Roman" panose="02020603050405020304" pitchFamily="18" charset="0"/>
              </a:rPr>
              <a:t>V</a:t>
            </a:r>
            <a:r>
              <a:rPr lang="en-US" altLang="zh-CN" b="1" baseline="-25000" dirty="0" err="1">
                <a:solidFill>
                  <a:srgbClr val="FF0000"/>
                </a:solidFill>
                <a:latin typeface="Times New Roman" panose="02020603050405020304" pitchFamily="18" charset="0"/>
                <a:cs typeface="Times New Roman" panose="02020603050405020304" pitchFamily="18" charset="0"/>
              </a:rPr>
              <a:t>,av</a:t>
            </a:r>
            <a:r>
              <a:rPr lang="en-US" altLang="zh-CN" b="1" baseline="-25000" dirty="0">
                <a:solidFill>
                  <a:srgbClr val="FF0000"/>
                </a:solidFill>
                <a:latin typeface="Times New Roman" panose="02020603050405020304" pitchFamily="18" charset="0"/>
                <a:cs typeface="Times New Roman" panose="02020603050405020304" pitchFamily="18" charset="0"/>
              </a:rPr>
              <a:t> </a:t>
            </a:r>
            <a:r>
              <a:rPr lang="zh-CN" altLang="en-US" b="1" dirty="0" smtClean="0">
                <a:solidFill>
                  <a:srgbClr val="FF0000"/>
                </a:solidFill>
              </a:rPr>
              <a:t>：平均比定容热容</a:t>
            </a:r>
            <a:endParaRPr lang="zh-CN" altLang="en-US" b="1" dirty="0">
              <a:solidFill>
                <a:srgbClr val="FF0000"/>
              </a:solidFill>
            </a:endParaRPr>
          </a:p>
        </p:txBody>
      </p:sp>
      <p:sp>
        <p:nvSpPr>
          <p:cNvPr id="47122" name="矩形 47121"/>
          <p:cNvSpPr>
            <a:spLocks noChangeArrowheads="1"/>
          </p:cNvSpPr>
          <p:nvPr/>
        </p:nvSpPr>
        <p:spPr bwMode="auto">
          <a:xfrm>
            <a:off x="752337" y="5054841"/>
            <a:ext cx="648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黑体" panose="02010609060101010101" pitchFamily="49" charset="-122"/>
                <a:ea typeface="黑体" panose="02010609060101010101" pitchFamily="49" charset="-122"/>
              </a:rPr>
              <a:t>不可压缩物质的焓为</a:t>
            </a:r>
            <a:r>
              <a:rPr lang="zh-CN" altLang="en-US" sz="2400" b="1" dirty="0">
                <a:solidFill>
                  <a:srgbClr val="FF0000"/>
                </a:solidFill>
                <a:latin typeface="黑体" panose="02010609060101010101" pitchFamily="49" charset="-122"/>
                <a:ea typeface="黑体" panose="02010609060101010101" pitchFamily="49" charset="-122"/>
              </a:rPr>
              <a:t>温度和压力</a:t>
            </a:r>
            <a:r>
              <a:rPr lang="zh-CN" altLang="en-US" sz="2400" b="1" dirty="0">
                <a:latin typeface="黑体" panose="02010609060101010101" pitchFamily="49" charset="-122"/>
                <a:ea typeface="黑体" panose="02010609060101010101" pitchFamily="49" charset="-122"/>
              </a:rPr>
              <a:t>的函数</a:t>
            </a:r>
            <a:r>
              <a:rPr lang="zh-CN" altLang="en-US" b="1" dirty="0">
                <a:latin typeface="黑体" panose="02010609060101010101" pitchFamily="49" charset="-122"/>
                <a:ea typeface="黑体" panose="02010609060101010101" pitchFamily="49" charset="-122"/>
              </a:rPr>
              <a:t> </a:t>
            </a:r>
          </a:p>
        </p:txBody>
      </p:sp>
      <p:graphicFrame>
        <p:nvGraphicFramePr>
          <p:cNvPr id="47123" name="对象 47122"/>
          <p:cNvGraphicFramePr/>
          <p:nvPr/>
        </p:nvGraphicFramePr>
        <p:xfrm>
          <a:off x="6269038" y="5126278"/>
          <a:ext cx="1255712" cy="433388"/>
        </p:xfrm>
        <a:graphic>
          <a:graphicData uri="http://schemas.openxmlformats.org/presentationml/2006/ole">
            <mc:AlternateContent xmlns:mc="http://schemas.openxmlformats.org/markup-compatibility/2006">
              <mc:Choice xmlns:v="urn:schemas-microsoft-com:vml" Requires="v">
                <p:oleObj spid="_x0000_s89218" r:id="rId12" imgW="735965" imgH="254000" progId="Equation.DSMT4">
                  <p:embed/>
                </p:oleObj>
              </mc:Choice>
              <mc:Fallback>
                <p:oleObj r:id="rId12" imgW="735965" imgH="254000" progId="Equation.DSMT4">
                  <p:embed/>
                  <p:pic>
                    <p:nvPicPr>
                      <p:cNvPr id="0" name="对象 4712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69038" y="5126278"/>
                        <a:ext cx="12557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wipe(down)">
                                      <p:cBhvr>
                                        <p:cTn id="7" dur="500"/>
                                        <p:tgtEl>
                                          <p:spTgt spid="47113"/>
                                        </p:tgtEl>
                                      </p:cBhvr>
                                    </p:animEffect>
                                  </p:childTnLst>
                                </p:cTn>
                              </p:par>
                              <p:par>
                                <p:cTn id="8" presetID="22" presetClass="entr" presetSubtype="4" fill="hold" nodeType="withEffect">
                                  <p:stCondLst>
                                    <p:cond delay="0"/>
                                  </p:stCondLst>
                                  <p:childTnLst>
                                    <p:set>
                                      <p:cBhvr>
                                        <p:cTn id="9" dur="1" fill="hold">
                                          <p:stCondLst>
                                            <p:cond delay="0"/>
                                          </p:stCondLst>
                                        </p:cTn>
                                        <p:tgtEl>
                                          <p:spTgt spid="47114"/>
                                        </p:tgtEl>
                                        <p:attrNameLst>
                                          <p:attrName>style.visibility</p:attrName>
                                        </p:attrNameLst>
                                      </p:cBhvr>
                                      <p:to>
                                        <p:strVal val="visible"/>
                                      </p:to>
                                    </p:set>
                                    <p:animEffect transition="in" filter="wipe(down)">
                                      <p:cBhvr>
                                        <p:cTn id="10" dur="500"/>
                                        <p:tgtEl>
                                          <p:spTgt spid="471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7115"/>
                                        </p:tgtEl>
                                        <p:attrNameLst>
                                          <p:attrName>style.visibility</p:attrName>
                                        </p:attrNameLst>
                                      </p:cBhvr>
                                      <p:to>
                                        <p:strVal val="visible"/>
                                      </p:to>
                                    </p:set>
                                    <p:animEffect transition="in" filter="wipe(left)">
                                      <p:cBhvr>
                                        <p:cTn id="15" dur="500"/>
                                        <p:tgtEl>
                                          <p:spTgt spid="471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47119"/>
                                        </p:tgtEl>
                                        <p:attrNameLst>
                                          <p:attrName>style.visibility</p:attrName>
                                        </p:attrNameLst>
                                      </p:cBhvr>
                                      <p:to>
                                        <p:strVal val="visible"/>
                                      </p:to>
                                    </p:set>
                                    <p:animEffect transition="in" filter="wipe(up)">
                                      <p:cBhvr>
                                        <p:cTn id="20" dur="500"/>
                                        <p:tgtEl>
                                          <p:spTgt spid="47119"/>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7120"/>
                                        </p:tgtEl>
                                        <p:attrNameLst>
                                          <p:attrName>style.visibility</p:attrName>
                                        </p:attrNameLst>
                                      </p:cBhvr>
                                      <p:to>
                                        <p:strVal val="visible"/>
                                      </p:to>
                                    </p:set>
                                    <p:animEffect transition="in" filter="wipe(up)">
                                      <p:cBhvr>
                                        <p:cTn id="23" dur="500"/>
                                        <p:tgtEl>
                                          <p:spTgt spid="47120"/>
                                        </p:tgtEl>
                                      </p:cBhvr>
                                    </p:animEffect>
                                  </p:childTnLst>
                                </p:cTn>
                              </p:par>
                              <p:par>
                                <p:cTn id="24" presetID="22" presetClass="entr" presetSubtype="1" fill="hold" nodeType="withEffect">
                                  <p:stCondLst>
                                    <p:cond delay="0"/>
                                  </p:stCondLst>
                                  <p:childTnLst>
                                    <p:set>
                                      <p:cBhvr>
                                        <p:cTn id="25" dur="1" fill="hold">
                                          <p:stCondLst>
                                            <p:cond delay="0"/>
                                          </p:stCondLst>
                                        </p:cTn>
                                        <p:tgtEl>
                                          <p:spTgt spid="47116"/>
                                        </p:tgtEl>
                                        <p:attrNameLst>
                                          <p:attrName>style.visibility</p:attrName>
                                        </p:attrNameLst>
                                      </p:cBhvr>
                                      <p:to>
                                        <p:strVal val="visible"/>
                                      </p:to>
                                    </p:set>
                                    <p:animEffect transition="in" filter="wipe(up)">
                                      <p:cBhvr>
                                        <p:cTn id="26" dur="500"/>
                                        <p:tgtEl>
                                          <p:spTgt spid="4711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47121"/>
                                        </p:tgtEl>
                                        <p:attrNameLst>
                                          <p:attrName>style.visibility</p:attrName>
                                        </p:attrNameLst>
                                      </p:cBhvr>
                                      <p:to>
                                        <p:strVal val="visible"/>
                                      </p:to>
                                    </p:set>
                                    <p:animEffect transition="in" filter="wipe(up)">
                                      <p:cBhvr>
                                        <p:cTn id="29" dur="500"/>
                                        <p:tgtEl>
                                          <p:spTgt spid="47121"/>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47122"/>
                                        </p:tgtEl>
                                        <p:attrNameLst>
                                          <p:attrName>style.visibility</p:attrName>
                                        </p:attrNameLst>
                                      </p:cBhvr>
                                      <p:to>
                                        <p:strVal val="visible"/>
                                      </p:to>
                                    </p:set>
                                    <p:animEffect transition="in" filter="blinds(horizontal)">
                                      <p:cBhvr>
                                        <p:cTn id="34" dur="500"/>
                                        <p:tgtEl>
                                          <p:spTgt spid="47122"/>
                                        </p:tgtEl>
                                      </p:cBhvr>
                                    </p:animEffect>
                                  </p:childTnLst>
                                </p:cTn>
                              </p:par>
                              <p:par>
                                <p:cTn id="35" presetID="22" presetClass="entr" presetSubtype="1" fill="hold" nodeType="withEffect">
                                  <p:stCondLst>
                                    <p:cond delay="0"/>
                                  </p:stCondLst>
                                  <p:childTnLst>
                                    <p:set>
                                      <p:cBhvr>
                                        <p:cTn id="36" dur="1" fill="hold">
                                          <p:stCondLst>
                                            <p:cond delay="0"/>
                                          </p:stCondLst>
                                        </p:cTn>
                                        <p:tgtEl>
                                          <p:spTgt spid="47123"/>
                                        </p:tgtEl>
                                        <p:attrNameLst>
                                          <p:attrName>style.visibility</p:attrName>
                                        </p:attrNameLst>
                                      </p:cBhvr>
                                      <p:to>
                                        <p:strVal val="visible"/>
                                      </p:to>
                                    </p:set>
                                    <p:animEffect transition="in" filter="wipe(up)">
                                      <p:cBhvr>
                                        <p:cTn id="37" dur="500"/>
                                        <p:tgtEl>
                                          <p:spTgt spid="47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20" grpId="0"/>
      <p:bldP spid="47121" grpId="0"/>
      <p:bldP spid="4712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文本框 49155"/>
          <p:cNvSpPr txBox="1">
            <a:spLocks noChangeArrowheads="1"/>
          </p:cNvSpPr>
          <p:nvPr/>
        </p:nvSpPr>
        <p:spPr bwMode="auto">
          <a:xfrm>
            <a:off x="381000" y="115888"/>
            <a:ext cx="829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b="1">
                <a:latin typeface="黑体" panose="02010609060101010101" pitchFamily="49" charset="-122"/>
                <a:ea typeface="黑体" panose="02010609060101010101" pitchFamily="49" charset="-122"/>
              </a:rPr>
              <a:t>四、固体和液体的比热容</a:t>
            </a:r>
          </a:p>
        </p:txBody>
      </p:sp>
      <p:sp>
        <p:nvSpPr>
          <p:cNvPr id="89091" name="矩形 49160"/>
          <p:cNvSpPr>
            <a:spLocks noChangeArrowheads="1"/>
          </p:cNvSpPr>
          <p:nvPr/>
        </p:nvSpPr>
        <p:spPr bwMode="auto">
          <a:xfrm>
            <a:off x="-71438" y="15716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9160" name="对象 49159"/>
          <p:cNvGraphicFramePr/>
          <p:nvPr/>
        </p:nvGraphicFramePr>
        <p:xfrm>
          <a:off x="1981200" y="908050"/>
          <a:ext cx="1943100" cy="485775"/>
        </p:xfrm>
        <a:graphic>
          <a:graphicData uri="http://schemas.openxmlformats.org/presentationml/2006/ole">
            <mc:AlternateContent xmlns:mc="http://schemas.openxmlformats.org/markup-compatibility/2006">
              <mc:Choice xmlns:v="urn:schemas-microsoft-com:vml" Requires="v">
                <p:oleObj spid="_x0000_s90360" r:id="rId4" imgW="1028065" imgH="254000" progId="Equation.DSMT4">
                  <p:embed/>
                </p:oleObj>
              </mc:Choice>
              <mc:Fallback>
                <p:oleObj r:id="rId4" imgW="1028065" imgH="254000" progId="Equation.DSMT4">
                  <p:embed/>
                  <p:pic>
                    <p:nvPicPr>
                      <p:cNvPr id="0" name="对象 4915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908050"/>
                        <a:ext cx="19431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9093" name="矩形 49163"/>
          <p:cNvSpPr>
            <a:spLocks noChangeArrowheads="1"/>
          </p:cNvSpPr>
          <p:nvPr/>
        </p:nvSpPr>
        <p:spPr bwMode="auto">
          <a:xfrm>
            <a:off x="-71438" y="158591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9163" name="对象 49162"/>
          <p:cNvGraphicFramePr/>
          <p:nvPr/>
        </p:nvGraphicFramePr>
        <p:xfrm>
          <a:off x="1981200" y="1557338"/>
          <a:ext cx="1295400" cy="449262"/>
        </p:xfrm>
        <a:graphic>
          <a:graphicData uri="http://schemas.openxmlformats.org/presentationml/2006/ole">
            <mc:AlternateContent xmlns:mc="http://schemas.openxmlformats.org/markup-compatibility/2006">
              <mc:Choice xmlns:v="urn:schemas-microsoft-com:vml" Requires="v">
                <p:oleObj spid="_x0000_s90361" r:id="rId6" imgW="660400" imgH="228600" progId="Equation.DSMT4">
                  <p:embed/>
                </p:oleObj>
              </mc:Choice>
              <mc:Fallback>
                <p:oleObj r:id="rId6" imgW="660400" imgH="228600" progId="Equation.DSMT4">
                  <p:embed/>
                  <p:pic>
                    <p:nvPicPr>
                      <p:cNvPr id="0" name="对象 4916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1557338"/>
                        <a:ext cx="12954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65" name="对象 49164"/>
          <p:cNvGraphicFramePr>
            <a:graphicFrameLocks noChangeAspect="1"/>
          </p:cNvGraphicFramePr>
          <p:nvPr/>
        </p:nvGraphicFramePr>
        <p:xfrm>
          <a:off x="2052638" y="2205038"/>
          <a:ext cx="825627" cy="350266"/>
        </p:xfrm>
        <a:graphic>
          <a:graphicData uri="http://schemas.openxmlformats.org/presentationml/2006/ole">
            <mc:AlternateContent xmlns:mc="http://schemas.openxmlformats.org/markup-compatibility/2006">
              <mc:Choice xmlns:v="urn:schemas-microsoft-com:vml" Requires="v">
                <p:oleObj spid="_x0000_s90362" r:id="rId8" imgW="419100" imgH="177800" progId="Equation.DSMT4">
                  <p:embed/>
                </p:oleObj>
              </mc:Choice>
              <mc:Fallback>
                <p:oleObj r:id="rId8" imgW="419100" imgH="177800" progId="Equation.DSMT4">
                  <p:embed/>
                  <p:pic>
                    <p:nvPicPr>
                      <p:cNvPr id="0" name="对象 4916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2638" y="2205038"/>
                        <a:ext cx="825627" cy="350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67" name="右大括号 49166"/>
          <p:cNvSpPr/>
          <p:nvPr/>
        </p:nvSpPr>
        <p:spPr bwMode="auto">
          <a:xfrm>
            <a:off x="3997325" y="1052513"/>
            <a:ext cx="142875" cy="1368425"/>
          </a:xfrm>
          <a:prstGeom prst="rightBrace">
            <a:avLst>
              <a:gd name="adj1" fmla="val 7972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7" name="矩形 49168"/>
          <p:cNvSpPr>
            <a:spLocks noChangeArrowheads="1"/>
          </p:cNvSpPr>
          <p:nvPr/>
        </p:nvSpPr>
        <p:spPr bwMode="auto">
          <a:xfrm>
            <a:off x="-71438" y="158591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9168" name="对象 49167"/>
          <p:cNvGraphicFramePr/>
          <p:nvPr/>
        </p:nvGraphicFramePr>
        <p:xfrm>
          <a:off x="4284663" y="1484313"/>
          <a:ext cx="2160587" cy="484187"/>
        </p:xfrm>
        <a:graphic>
          <a:graphicData uri="http://schemas.openxmlformats.org/presentationml/2006/ole">
            <mc:AlternateContent xmlns:mc="http://schemas.openxmlformats.org/markup-compatibility/2006">
              <mc:Choice xmlns:v="urn:schemas-microsoft-com:vml" Requires="v">
                <p:oleObj spid="_x0000_s90363" r:id="rId10" imgW="1016000" imgH="228600" progId="Equation.DSMT4">
                  <p:embed/>
                </p:oleObj>
              </mc:Choice>
              <mc:Fallback>
                <p:oleObj r:id="rId10" imgW="1016000" imgH="228600" progId="Equation.DSMT4">
                  <p:embed/>
                  <p:pic>
                    <p:nvPicPr>
                      <p:cNvPr id="0" name="对象 4916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4663" y="1484313"/>
                        <a:ext cx="216058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70" name="对象 49169"/>
          <p:cNvGraphicFramePr/>
          <p:nvPr/>
        </p:nvGraphicFramePr>
        <p:xfrm>
          <a:off x="755650" y="2924175"/>
          <a:ext cx="3024188" cy="836613"/>
        </p:xfrm>
        <a:graphic>
          <a:graphicData uri="http://schemas.openxmlformats.org/presentationml/2006/ole">
            <mc:AlternateContent xmlns:mc="http://schemas.openxmlformats.org/markup-compatibility/2006">
              <mc:Choice xmlns:v="urn:schemas-microsoft-com:vml" Requires="v">
                <p:oleObj spid="_x0000_s90364" r:id="rId12" imgW="1689100" imgH="469900" progId="Equation.DSMT4">
                  <p:embed/>
                </p:oleObj>
              </mc:Choice>
              <mc:Fallback>
                <p:oleObj r:id="rId12" imgW="1689100" imgH="469900" progId="Equation.DSMT4">
                  <p:embed/>
                  <p:pic>
                    <p:nvPicPr>
                      <p:cNvPr id="0" name="对象 4916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5650" y="2924175"/>
                        <a:ext cx="3024188"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72" name="对象 49171"/>
          <p:cNvGraphicFramePr/>
          <p:nvPr/>
        </p:nvGraphicFramePr>
        <p:xfrm>
          <a:off x="957263" y="3787775"/>
          <a:ext cx="1296987" cy="787400"/>
        </p:xfrm>
        <a:graphic>
          <a:graphicData uri="http://schemas.openxmlformats.org/presentationml/2006/ole">
            <mc:AlternateContent xmlns:mc="http://schemas.openxmlformats.org/markup-compatibility/2006">
              <mc:Choice xmlns:v="urn:schemas-microsoft-com:vml" Requires="v">
                <p:oleObj spid="_x0000_s90365" r:id="rId14" imgW="749300" imgH="457200" progId="Equation.DSMT4">
                  <p:embed/>
                </p:oleObj>
              </mc:Choice>
              <mc:Fallback>
                <p:oleObj r:id="rId14" imgW="749300" imgH="457200" progId="Equation.DSMT4">
                  <p:embed/>
                  <p:pic>
                    <p:nvPicPr>
                      <p:cNvPr id="0" name="对象 4917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57263" y="3787775"/>
                        <a:ext cx="1296987"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74" name="矩形 49173"/>
          <p:cNvSpPr>
            <a:spLocks noChangeArrowheads="1"/>
          </p:cNvSpPr>
          <p:nvPr/>
        </p:nvSpPr>
        <p:spPr bwMode="auto">
          <a:xfrm>
            <a:off x="2397125" y="4017963"/>
            <a:ext cx="129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dirty="0" err="1" smtClean="0">
                <a:solidFill>
                  <a:srgbClr val="FF0000"/>
                </a:solidFill>
                <a:latin typeface="Times New Roman" panose="02020603050405020304" pitchFamily="18" charset="0"/>
                <a:cs typeface="Times New Roman" panose="02020603050405020304" pitchFamily="18" charset="0"/>
              </a:rPr>
              <a:t>c</a:t>
            </a:r>
            <a:r>
              <a:rPr lang="en-US" altLang="zh-CN" b="1" i="1" baseline="-25000" dirty="0" err="1" smtClean="0">
                <a:solidFill>
                  <a:srgbClr val="FF0000"/>
                </a:solidFill>
                <a:latin typeface="Times New Roman" panose="02020603050405020304" pitchFamily="18" charset="0"/>
                <a:cs typeface="Times New Roman" panose="02020603050405020304" pitchFamily="18" charset="0"/>
              </a:rPr>
              <a:t>p</a:t>
            </a:r>
            <a:r>
              <a:rPr lang="zh-CN" altLang="en-US" b="1" dirty="0" smtClean="0">
                <a:solidFill>
                  <a:srgbClr val="FF0000"/>
                </a:solidFill>
              </a:rPr>
              <a:t>的定义</a:t>
            </a:r>
            <a:r>
              <a:rPr lang="zh-CN" altLang="en-US" b="1" dirty="0">
                <a:solidFill>
                  <a:srgbClr val="FF0000"/>
                </a:solidFill>
              </a:rPr>
              <a:t>式</a:t>
            </a:r>
          </a:p>
        </p:txBody>
      </p:sp>
      <p:graphicFrame>
        <p:nvGraphicFramePr>
          <p:cNvPr id="49175" name="对象 49174"/>
          <p:cNvGraphicFramePr/>
          <p:nvPr/>
        </p:nvGraphicFramePr>
        <p:xfrm>
          <a:off x="4140200" y="3355975"/>
          <a:ext cx="2339975" cy="796925"/>
        </p:xfrm>
        <a:graphic>
          <a:graphicData uri="http://schemas.openxmlformats.org/presentationml/2006/ole">
            <mc:AlternateContent xmlns:mc="http://schemas.openxmlformats.org/markup-compatibility/2006">
              <mc:Choice xmlns:v="urn:schemas-microsoft-com:vml" Requires="v">
                <p:oleObj spid="_x0000_s90366" r:id="rId16" imgW="1371600" imgH="469900" progId="Equation.DSMT4">
                  <p:embed/>
                </p:oleObj>
              </mc:Choice>
              <mc:Fallback>
                <p:oleObj r:id="rId16" imgW="1371600" imgH="469900" progId="Equation.DSMT4">
                  <p:embed/>
                  <p:pic>
                    <p:nvPicPr>
                      <p:cNvPr id="0" name="对象 4917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0200" y="3355975"/>
                        <a:ext cx="233997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77" name="右大括号 49176"/>
          <p:cNvSpPr/>
          <p:nvPr/>
        </p:nvSpPr>
        <p:spPr bwMode="auto">
          <a:xfrm>
            <a:off x="3779838" y="3213100"/>
            <a:ext cx="215900" cy="1069975"/>
          </a:xfrm>
          <a:prstGeom prst="rightBrace">
            <a:avLst>
              <a:gd name="adj1" fmla="val 4125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78" name="直接连接符 49177"/>
          <p:cNvSpPr>
            <a:spLocks noChangeShapeType="1"/>
          </p:cNvSpPr>
          <p:nvPr/>
        </p:nvSpPr>
        <p:spPr bwMode="auto">
          <a:xfrm>
            <a:off x="4932363" y="1916113"/>
            <a:ext cx="647700"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9" name="直接连接符 49178"/>
          <p:cNvSpPr>
            <a:spLocks noChangeShapeType="1"/>
          </p:cNvSpPr>
          <p:nvPr/>
        </p:nvSpPr>
        <p:spPr bwMode="auto">
          <a:xfrm>
            <a:off x="4572000" y="4003675"/>
            <a:ext cx="647700"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180" name="对象 49179"/>
          <p:cNvGraphicFramePr/>
          <p:nvPr/>
        </p:nvGraphicFramePr>
        <p:xfrm>
          <a:off x="6948488" y="1987550"/>
          <a:ext cx="1008062" cy="514350"/>
        </p:xfrm>
        <a:graphic>
          <a:graphicData uri="http://schemas.openxmlformats.org/presentationml/2006/ole">
            <mc:AlternateContent xmlns:mc="http://schemas.openxmlformats.org/markup-compatibility/2006">
              <mc:Choice xmlns:v="urn:schemas-microsoft-com:vml" Requires="v">
                <p:oleObj spid="_x0000_s90367" r:id="rId18" imgW="469900" imgH="241300" progId="Equation.DSMT4">
                  <p:embed/>
                </p:oleObj>
              </mc:Choice>
              <mc:Fallback>
                <p:oleObj r:id="rId18" imgW="469900" imgH="241300" progId="Equation.DSMT4">
                  <p:embed/>
                  <p:pic>
                    <p:nvPicPr>
                      <p:cNvPr id="0" name="对象 4917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48488" y="1987550"/>
                        <a:ext cx="100806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82" name="对象 49181"/>
          <p:cNvGraphicFramePr/>
          <p:nvPr/>
        </p:nvGraphicFramePr>
        <p:xfrm>
          <a:off x="6804025" y="2574925"/>
          <a:ext cx="1511300" cy="517525"/>
        </p:xfrm>
        <a:graphic>
          <a:graphicData uri="http://schemas.openxmlformats.org/presentationml/2006/ole">
            <mc:AlternateContent xmlns:mc="http://schemas.openxmlformats.org/markup-compatibility/2006">
              <mc:Choice xmlns:v="urn:schemas-microsoft-com:vml" Requires="v">
                <p:oleObj spid="_x0000_s90368" r:id="rId20" imgW="698500" imgH="241300" progId="Equation.DSMT4">
                  <p:embed/>
                </p:oleObj>
              </mc:Choice>
              <mc:Fallback>
                <p:oleObj r:id="rId20" imgW="698500" imgH="241300" progId="Equation.DSMT4">
                  <p:embed/>
                  <p:pic>
                    <p:nvPicPr>
                      <p:cNvPr id="0" name="对象 4918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04025" y="2574925"/>
                        <a:ext cx="15113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84" name="任意多边形 49183"/>
          <p:cNvSpPr>
            <a:spLocks noChangeArrowheads="1"/>
          </p:cNvSpPr>
          <p:nvPr/>
        </p:nvSpPr>
        <p:spPr bwMode="auto">
          <a:xfrm>
            <a:off x="5286375" y="2085975"/>
            <a:ext cx="1593850" cy="249238"/>
          </a:xfrm>
          <a:custGeom>
            <a:avLst/>
            <a:gdLst>
              <a:gd name="T0" fmla="*/ 0 w 1004"/>
              <a:gd name="T1" fmla="*/ 0 h 157"/>
              <a:gd name="T2" fmla="*/ 30163 w 1004"/>
              <a:gd name="T3" fmla="*/ 68263 h 157"/>
              <a:gd name="T4" fmla="*/ 227013 w 1004"/>
              <a:gd name="T5" fmla="*/ 166688 h 157"/>
              <a:gd name="T6" fmla="*/ 757238 w 1004"/>
              <a:gd name="T7" fmla="*/ 227013 h 157"/>
              <a:gd name="T8" fmla="*/ 1012825 w 1004"/>
              <a:gd name="T9" fmla="*/ 215900 h 157"/>
              <a:gd name="T10" fmla="*/ 1082675 w 1004"/>
              <a:gd name="T11" fmla="*/ 187325 h 157"/>
              <a:gd name="T12" fmla="*/ 1268413 w 1004"/>
              <a:gd name="T13" fmla="*/ 128588 h 157"/>
              <a:gd name="T14" fmla="*/ 1593850 w 1004"/>
              <a:gd name="T15" fmla="*/ 98425 h 1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4" h="157">
                <a:moveTo>
                  <a:pt x="0" y="0"/>
                </a:moveTo>
                <a:cubicBezTo>
                  <a:pt x="7" y="14"/>
                  <a:pt x="11" y="29"/>
                  <a:pt x="19" y="43"/>
                </a:cubicBezTo>
                <a:cubicBezTo>
                  <a:pt x="43" y="84"/>
                  <a:pt x="102" y="99"/>
                  <a:pt x="143" y="105"/>
                </a:cubicBezTo>
                <a:cubicBezTo>
                  <a:pt x="243" y="157"/>
                  <a:pt x="368" y="137"/>
                  <a:pt x="477" y="143"/>
                </a:cubicBezTo>
                <a:cubicBezTo>
                  <a:pt x="531" y="141"/>
                  <a:pt x="584" y="140"/>
                  <a:pt x="638" y="136"/>
                </a:cubicBezTo>
                <a:cubicBezTo>
                  <a:pt x="674" y="133"/>
                  <a:pt x="653" y="130"/>
                  <a:pt x="682" y="118"/>
                </a:cubicBezTo>
                <a:cubicBezTo>
                  <a:pt x="717" y="104"/>
                  <a:pt x="762" y="90"/>
                  <a:pt x="799" y="81"/>
                </a:cubicBezTo>
                <a:cubicBezTo>
                  <a:pt x="878" y="61"/>
                  <a:pt x="915" y="62"/>
                  <a:pt x="1004" y="62"/>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85" name="任意多边形 49184"/>
          <p:cNvSpPr>
            <a:spLocks noChangeArrowheads="1"/>
          </p:cNvSpPr>
          <p:nvPr/>
        </p:nvSpPr>
        <p:spPr bwMode="auto">
          <a:xfrm>
            <a:off x="4943475" y="2233613"/>
            <a:ext cx="1916113" cy="1277937"/>
          </a:xfrm>
          <a:custGeom>
            <a:avLst/>
            <a:gdLst>
              <a:gd name="T0" fmla="*/ 0 w 1207"/>
              <a:gd name="T1" fmla="*/ 1277937 h 805"/>
              <a:gd name="T2" fmla="*/ 58738 w 1207"/>
              <a:gd name="T3" fmla="*/ 1150937 h 805"/>
              <a:gd name="T4" fmla="*/ 246063 w 1207"/>
              <a:gd name="T5" fmla="*/ 923925 h 805"/>
              <a:gd name="T6" fmla="*/ 333375 w 1207"/>
              <a:gd name="T7" fmla="*/ 825500 h 805"/>
              <a:gd name="T8" fmla="*/ 1179513 w 1207"/>
              <a:gd name="T9" fmla="*/ 471487 h 805"/>
              <a:gd name="T10" fmla="*/ 1484313 w 1207"/>
              <a:gd name="T11" fmla="*/ 334962 h 805"/>
              <a:gd name="T12" fmla="*/ 1622425 w 1207"/>
              <a:gd name="T13" fmla="*/ 274637 h 805"/>
              <a:gd name="T14" fmla="*/ 1770063 w 1207"/>
              <a:gd name="T15" fmla="*/ 157162 h 805"/>
              <a:gd name="T16" fmla="*/ 1798638 w 1207"/>
              <a:gd name="T17" fmla="*/ 107950 h 805"/>
              <a:gd name="T18" fmla="*/ 1808163 w 1207"/>
              <a:gd name="T19" fmla="*/ 19050 h 805"/>
              <a:gd name="T20" fmla="*/ 1916113 w 1207"/>
              <a:gd name="T21" fmla="*/ 0 h 8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07" h="805">
                <a:moveTo>
                  <a:pt x="0" y="805"/>
                </a:moveTo>
                <a:cubicBezTo>
                  <a:pt x="8" y="773"/>
                  <a:pt x="16" y="751"/>
                  <a:pt x="37" y="725"/>
                </a:cubicBezTo>
                <a:cubicBezTo>
                  <a:pt x="60" y="667"/>
                  <a:pt x="109" y="624"/>
                  <a:pt x="155" y="582"/>
                </a:cubicBezTo>
                <a:cubicBezTo>
                  <a:pt x="176" y="563"/>
                  <a:pt x="188" y="537"/>
                  <a:pt x="210" y="520"/>
                </a:cubicBezTo>
                <a:cubicBezTo>
                  <a:pt x="350" y="410"/>
                  <a:pt x="569" y="337"/>
                  <a:pt x="743" y="297"/>
                </a:cubicBezTo>
                <a:cubicBezTo>
                  <a:pt x="810" y="260"/>
                  <a:pt x="864" y="239"/>
                  <a:pt x="935" y="211"/>
                </a:cubicBezTo>
                <a:cubicBezTo>
                  <a:pt x="959" y="186"/>
                  <a:pt x="991" y="185"/>
                  <a:pt x="1022" y="173"/>
                </a:cubicBezTo>
                <a:cubicBezTo>
                  <a:pt x="1061" y="158"/>
                  <a:pt x="1085" y="127"/>
                  <a:pt x="1115" y="99"/>
                </a:cubicBezTo>
                <a:cubicBezTo>
                  <a:pt x="1119" y="88"/>
                  <a:pt x="1130" y="80"/>
                  <a:pt x="1133" y="68"/>
                </a:cubicBezTo>
                <a:cubicBezTo>
                  <a:pt x="1138" y="50"/>
                  <a:pt x="1132" y="29"/>
                  <a:pt x="1139" y="12"/>
                </a:cubicBezTo>
                <a:cubicBezTo>
                  <a:pt x="1144" y="0"/>
                  <a:pt x="1201" y="0"/>
                  <a:pt x="1207" y="0"/>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88" name="矩形 49187"/>
          <p:cNvSpPr>
            <a:spLocks noChangeArrowheads="1"/>
          </p:cNvSpPr>
          <p:nvPr/>
        </p:nvSpPr>
        <p:spPr bwMode="auto">
          <a:xfrm>
            <a:off x="827088" y="4937552"/>
            <a:ext cx="4752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黑体" panose="02010609060101010101" pitchFamily="49" charset="-122"/>
                <a:ea typeface="黑体" panose="02010609060101010101" pitchFamily="49" charset="-122"/>
              </a:rPr>
              <a:t>不可压缩物质的比定压热容和比定容热容是</a:t>
            </a:r>
            <a:r>
              <a:rPr lang="zh-CN" altLang="en-US" sz="2400" b="1" dirty="0">
                <a:solidFill>
                  <a:srgbClr val="FF0000"/>
                </a:solidFill>
                <a:latin typeface="黑体" panose="02010609060101010101" pitchFamily="49" charset="-122"/>
                <a:ea typeface="黑体" panose="02010609060101010101" pitchFamily="49" charset="-122"/>
              </a:rPr>
              <a:t>相等</a:t>
            </a:r>
            <a:r>
              <a:rPr lang="zh-CN" altLang="en-US" sz="2400" b="1" dirty="0">
                <a:latin typeface="黑体" panose="02010609060101010101" pitchFamily="49" charset="-122"/>
                <a:ea typeface="黑体" panose="02010609060101010101" pitchFamily="49" charset="-122"/>
              </a:rPr>
              <a:t>的。</a:t>
            </a:r>
          </a:p>
        </p:txBody>
      </p:sp>
      <p:pic>
        <p:nvPicPr>
          <p:cNvPr id="2" name="图片 1"/>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011505" y="4152900"/>
            <a:ext cx="2664183" cy="2517866"/>
          </a:xfrm>
          <a:prstGeom prst="rect">
            <a:avLst/>
          </a:prstGeom>
        </p:spPr>
      </p:pic>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60"/>
                                        </p:tgtEl>
                                        <p:attrNameLst>
                                          <p:attrName>style.visibility</p:attrName>
                                        </p:attrNameLst>
                                      </p:cBhvr>
                                      <p:to>
                                        <p:strVal val="visible"/>
                                      </p:to>
                                    </p:set>
                                    <p:animEffect transition="in" filter="blinds(horizontal)">
                                      <p:cBhvr>
                                        <p:cTn id="7" dur="500"/>
                                        <p:tgtEl>
                                          <p:spTgt spid="491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163"/>
                                        </p:tgtEl>
                                        <p:attrNameLst>
                                          <p:attrName>style.visibility</p:attrName>
                                        </p:attrNameLst>
                                      </p:cBhvr>
                                      <p:to>
                                        <p:strVal val="visible"/>
                                      </p:to>
                                    </p:set>
                                    <p:animEffect transition="in" filter="blinds(horizontal)">
                                      <p:cBhvr>
                                        <p:cTn id="12" dur="500"/>
                                        <p:tgtEl>
                                          <p:spTgt spid="491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9165"/>
                                        </p:tgtEl>
                                        <p:attrNameLst>
                                          <p:attrName>style.visibility</p:attrName>
                                        </p:attrNameLst>
                                      </p:cBhvr>
                                      <p:to>
                                        <p:strVal val="visible"/>
                                      </p:to>
                                    </p:set>
                                    <p:animEffect transition="in" filter="blinds(horizontal)">
                                      <p:cBhvr>
                                        <p:cTn id="17" dur="500"/>
                                        <p:tgtEl>
                                          <p:spTgt spid="491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167"/>
                                        </p:tgtEl>
                                        <p:attrNameLst>
                                          <p:attrName>style.visibility</p:attrName>
                                        </p:attrNameLst>
                                      </p:cBhvr>
                                      <p:to>
                                        <p:strVal val="visible"/>
                                      </p:to>
                                    </p:set>
                                    <p:animEffect transition="in" filter="wipe(left)">
                                      <p:cBhvr>
                                        <p:cTn id="22" dur="500"/>
                                        <p:tgtEl>
                                          <p:spTgt spid="4916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168"/>
                                        </p:tgtEl>
                                        <p:attrNameLst>
                                          <p:attrName>style.visibility</p:attrName>
                                        </p:attrNameLst>
                                      </p:cBhvr>
                                      <p:to>
                                        <p:strVal val="visible"/>
                                      </p:to>
                                    </p:set>
                                    <p:animEffect transition="in" filter="blinds(horizontal)">
                                      <p:cBhvr>
                                        <p:cTn id="27" dur="500"/>
                                        <p:tgtEl>
                                          <p:spTgt spid="4916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9170"/>
                                        </p:tgtEl>
                                        <p:attrNameLst>
                                          <p:attrName>style.visibility</p:attrName>
                                        </p:attrNameLst>
                                      </p:cBhvr>
                                      <p:to>
                                        <p:strVal val="visible"/>
                                      </p:to>
                                    </p:set>
                                    <p:animEffect transition="in" filter="blinds(horizontal)">
                                      <p:cBhvr>
                                        <p:cTn id="32" dur="500"/>
                                        <p:tgtEl>
                                          <p:spTgt spid="4917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9172"/>
                                        </p:tgtEl>
                                        <p:attrNameLst>
                                          <p:attrName>style.visibility</p:attrName>
                                        </p:attrNameLst>
                                      </p:cBhvr>
                                      <p:to>
                                        <p:strVal val="visible"/>
                                      </p:to>
                                    </p:set>
                                    <p:animEffect transition="in" filter="blinds(horizontal)">
                                      <p:cBhvr>
                                        <p:cTn id="37" dur="500"/>
                                        <p:tgtEl>
                                          <p:spTgt spid="4917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49174"/>
                                        </p:tgtEl>
                                        <p:attrNameLst>
                                          <p:attrName>style.visibility</p:attrName>
                                        </p:attrNameLst>
                                      </p:cBhvr>
                                      <p:to>
                                        <p:strVal val="visible"/>
                                      </p:to>
                                    </p:set>
                                    <p:animEffect transition="in" filter="blinds(horizontal)">
                                      <p:cBhvr>
                                        <p:cTn id="40" dur="500"/>
                                        <p:tgtEl>
                                          <p:spTgt spid="4917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9177"/>
                                        </p:tgtEl>
                                        <p:attrNameLst>
                                          <p:attrName>style.visibility</p:attrName>
                                        </p:attrNameLst>
                                      </p:cBhvr>
                                      <p:to>
                                        <p:strVal val="visible"/>
                                      </p:to>
                                    </p:set>
                                    <p:animEffect transition="in" filter="wipe(left)">
                                      <p:cBhvr>
                                        <p:cTn id="45" dur="500"/>
                                        <p:tgtEl>
                                          <p:spTgt spid="4917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49175"/>
                                        </p:tgtEl>
                                        <p:attrNameLst>
                                          <p:attrName>style.visibility</p:attrName>
                                        </p:attrNameLst>
                                      </p:cBhvr>
                                      <p:to>
                                        <p:strVal val="visible"/>
                                      </p:to>
                                    </p:set>
                                    <p:animEffect transition="in" filter="blinds(horizontal)">
                                      <p:cBhvr>
                                        <p:cTn id="50" dur="500"/>
                                        <p:tgtEl>
                                          <p:spTgt spid="4917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9178"/>
                                        </p:tgtEl>
                                        <p:attrNameLst>
                                          <p:attrName>style.visibility</p:attrName>
                                        </p:attrNameLst>
                                      </p:cBhvr>
                                      <p:to>
                                        <p:strVal val="visible"/>
                                      </p:to>
                                    </p:set>
                                    <p:animEffect transition="in" filter="wipe(left)">
                                      <p:cBhvr>
                                        <p:cTn id="55" dur="500"/>
                                        <p:tgtEl>
                                          <p:spTgt spid="49178"/>
                                        </p:tgtEl>
                                      </p:cBhvr>
                                    </p:animEffect>
                                  </p:childTnLst>
                                </p:cTn>
                              </p:par>
                              <p:par>
                                <p:cTn id="56" presetID="22" presetClass="entr" presetSubtype="8" fill="hold" nodeType="withEffect">
                                  <p:stCondLst>
                                    <p:cond delay="0"/>
                                  </p:stCondLst>
                                  <p:childTnLst>
                                    <p:set>
                                      <p:cBhvr>
                                        <p:cTn id="57" dur="1" fill="hold">
                                          <p:stCondLst>
                                            <p:cond delay="0"/>
                                          </p:stCondLst>
                                        </p:cTn>
                                        <p:tgtEl>
                                          <p:spTgt spid="49179"/>
                                        </p:tgtEl>
                                        <p:attrNameLst>
                                          <p:attrName>style.visibility</p:attrName>
                                        </p:attrNameLst>
                                      </p:cBhvr>
                                      <p:to>
                                        <p:strVal val="visible"/>
                                      </p:to>
                                    </p:set>
                                    <p:animEffect transition="in" filter="wipe(left)">
                                      <p:cBhvr>
                                        <p:cTn id="58" dur="500"/>
                                        <p:tgtEl>
                                          <p:spTgt spid="4917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49184"/>
                                        </p:tgtEl>
                                        <p:attrNameLst>
                                          <p:attrName>style.visibility</p:attrName>
                                        </p:attrNameLst>
                                      </p:cBhvr>
                                      <p:to>
                                        <p:strVal val="visible"/>
                                      </p:to>
                                    </p:set>
                                    <p:animEffect transition="in" filter="wipe(left)">
                                      <p:cBhvr>
                                        <p:cTn id="63" dur="500"/>
                                        <p:tgtEl>
                                          <p:spTgt spid="49184"/>
                                        </p:tgtEl>
                                      </p:cBhvr>
                                    </p:animEffect>
                                  </p:childTnLst>
                                </p:cTn>
                              </p:par>
                              <p:par>
                                <p:cTn id="64" presetID="22" presetClass="entr" presetSubtype="8" fill="hold" nodeType="withEffect">
                                  <p:stCondLst>
                                    <p:cond delay="0"/>
                                  </p:stCondLst>
                                  <p:childTnLst>
                                    <p:set>
                                      <p:cBhvr>
                                        <p:cTn id="65" dur="1" fill="hold">
                                          <p:stCondLst>
                                            <p:cond delay="0"/>
                                          </p:stCondLst>
                                        </p:cTn>
                                        <p:tgtEl>
                                          <p:spTgt spid="49185"/>
                                        </p:tgtEl>
                                        <p:attrNameLst>
                                          <p:attrName>style.visibility</p:attrName>
                                        </p:attrNameLst>
                                      </p:cBhvr>
                                      <p:to>
                                        <p:strVal val="visible"/>
                                      </p:to>
                                    </p:set>
                                    <p:animEffect transition="in" filter="wipe(left)">
                                      <p:cBhvr>
                                        <p:cTn id="66" dur="500"/>
                                        <p:tgtEl>
                                          <p:spTgt spid="49185"/>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49180"/>
                                        </p:tgtEl>
                                        <p:attrNameLst>
                                          <p:attrName>style.visibility</p:attrName>
                                        </p:attrNameLst>
                                      </p:cBhvr>
                                      <p:to>
                                        <p:strVal val="visible"/>
                                      </p:to>
                                    </p:set>
                                    <p:animEffect transition="in" filter="blinds(horizontal)">
                                      <p:cBhvr>
                                        <p:cTn id="71" dur="500"/>
                                        <p:tgtEl>
                                          <p:spTgt spid="49180"/>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49188"/>
                                        </p:tgtEl>
                                        <p:attrNameLst>
                                          <p:attrName>style.visibility</p:attrName>
                                        </p:attrNameLst>
                                      </p:cBhvr>
                                      <p:to>
                                        <p:strVal val="visible"/>
                                      </p:to>
                                    </p:set>
                                    <p:animEffect transition="in" filter="blinds(horizontal)">
                                      <p:cBhvr>
                                        <p:cTn id="76" dur="500"/>
                                        <p:tgtEl>
                                          <p:spTgt spid="49188"/>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49182"/>
                                        </p:tgtEl>
                                        <p:attrNameLst>
                                          <p:attrName>style.visibility</p:attrName>
                                        </p:attrNameLst>
                                      </p:cBhvr>
                                      <p:to>
                                        <p:strVal val="visible"/>
                                      </p:to>
                                    </p:set>
                                    <p:animEffect transition="in" filter="blinds(horizontal)">
                                      <p:cBhvr>
                                        <p:cTn id="81" dur="500"/>
                                        <p:tgtEl>
                                          <p:spTgt spid="49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74" grpId="0"/>
      <p:bldP spid="4918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94209"/>
          <p:cNvSpPr>
            <a:spLocks noGrp="1" noChangeArrowheads="1"/>
          </p:cNvSpPr>
          <p:nvPr>
            <p:ph type="title"/>
          </p:nvPr>
        </p:nvSpPr>
        <p:spPr>
          <a:xfrm>
            <a:off x="499428" y="919798"/>
            <a:ext cx="8229600" cy="1143000"/>
          </a:xfrm>
        </p:spPr>
        <p:txBody>
          <a:bodyPr/>
          <a:lstStyle/>
          <a:p>
            <a:pPr eaLnBrk="1" hangingPunct="1"/>
            <a:r>
              <a:rPr lang="zh-CN" altLang="en-US" sz="3200" b="1" dirty="0" smtClean="0">
                <a:latin typeface="黑体" panose="02010609060101010101" pitchFamily="49" charset="-122"/>
                <a:ea typeface="黑体" panose="02010609060101010101" pitchFamily="49" charset="-122"/>
                <a:sym typeface="+mn-ea"/>
              </a:rPr>
              <a:t>与液体的热力学能、焓和比热容有关的计算题见本章习题</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sym typeface="+mn-ea"/>
              </a:rPr>
              <a:t>4-13~4-15</a:t>
            </a:r>
            <a:endParaRPr lang="zh-CN" altLang="en-US" sz="3200" b="1" dirty="0" smtClean="0">
              <a:latin typeface="黑体" panose="02010609060101010101" pitchFamily="49" charset="-122"/>
              <a:ea typeface="黑体" panose="02010609060101010101" pitchFamily="49" charset="-122"/>
              <a:cs typeface="Times New Roman" panose="02020603050405020304" pitchFamily="18" charset="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7.5|4.9|8.1|4.7"/>
</p:tagLst>
</file>

<file path=ppt/tags/tag2.xml><?xml version="1.0" encoding="utf-8"?>
<p:tagLst xmlns:a="http://schemas.openxmlformats.org/drawingml/2006/main" xmlns:r="http://schemas.openxmlformats.org/officeDocument/2006/relationships" xmlns:p="http://schemas.openxmlformats.org/presentationml/2006/main">
  <p:tag name="TIMING" val="|31.4|15.7|4.8|3.8|3.2"/>
</p:tagLst>
</file>

<file path=ppt/tags/tag3.xml><?xml version="1.0" encoding="utf-8"?>
<p:tagLst xmlns:a="http://schemas.openxmlformats.org/drawingml/2006/main" xmlns:r="http://schemas.openxmlformats.org/officeDocument/2006/relationships" xmlns:p="http://schemas.openxmlformats.org/presentationml/2006/main">
  <p:tag name="TIMING" val="|0.9|6.5|5.5"/>
</p:tagLst>
</file>

<file path=ppt/tags/tag4.xml><?xml version="1.0" encoding="utf-8"?>
<p:tagLst xmlns:a="http://schemas.openxmlformats.org/drawingml/2006/main" xmlns:r="http://schemas.openxmlformats.org/officeDocument/2006/relationships" xmlns:p="http://schemas.openxmlformats.org/presentationml/2006/main">
  <p:tag name="TIMING" val="|79.9|1.3|34.3|0.9"/>
</p:tagLst>
</file>

<file path=ppt/tags/tag5.xml><?xml version="1.0" encoding="utf-8"?>
<p:tagLst xmlns:a="http://schemas.openxmlformats.org/drawingml/2006/main" xmlns:r="http://schemas.openxmlformats.org/officeDocument/2006/relationships" xmlns:p="http://schemas.openxmlformats.org/presentationml/2006/main">
  <p:tag name="TIMING" val="|21.6|12.8|21.8|10.4"/>
</p:tagLst>
</file>

<file path=ppt/tags/tag6.xml><?xml version="1.0" encoding="utf-8"?>
<p:tagLst xmlns:a="http://schemas.openxmlformats.org/drawingml/2006/main" xmlns:r="http://schemas.openxmlformats.org/officeDocument/2006/relationships" xmlns:p="http://schemas.openxmlformats.org/presentationml/2006/main">
  <p:tag name="TIMING" val="|7.7|6.8|10.1|2.8|0.7|27.8|3.2|0.9|8|0.7|1.9|4.1|10.1"/>
</p:tagLst>
</file>

<file path=ppt/tags/tag7.xml><?xml version="1.0" encoding="utf-8"?>
<p:tagLst xmlns:a="http://schemas.openxmlformats.org/drawingml/2006/main" xmlns:r="http://schemas.openxmlformats.org/officeDocument/2006/relationships" xmlns:p="http://schemas.openxmlformats.org/presentationml/2006/main">
  <p:tag name="TIMING" val="|17.1|26.2|6|8.6"/>
</p:tagLst>
</file>

<file path=ppt/tags/tag8.xml><?xml version="1.0" encoding="utf-8"?>
<p:tagLst xmlns:a="http://schemas.openxmlformats.org/drawingml/2006/main" xmlns:r="http://schemas.openxmlformats.org/officeDocument/2006/relationships" xmlns:p="http://schemas.openxmlformats.org/presentationml/2006/main">
  <p:tag name="TIMING" val="|6.7|6.8|0.9|0.6|1.2|4|0.6|0.5|37.6|0.6|1.3|3.2|9.5"/>
</p:tagLst>
</file>

<file path=ppt/tags/tag9.xml><?xml version="1.0" encoding="utf-8"?>
<p:tagLst xmlns:a="http://schemas.openxmlformats.org/drawingml/2006/main" xmlns:r="http://schemas.openxmlformats.org/officeDocument/2006/relationships" xmlns:p="http://schemas.openxmlformats.org/presentationml/2006/main">
  <p:tag name="TIMING" val="|11.1"/>
</p:tagLst>
</file>

<file path=ppt/tags/tag10.xml><?xml version="1.0" encoding="utf-8"?>
<p:tagLst xmlns:a="http://schemas.openxmlformats.org/drawingml/2006/main" xmlns:r="http://schemas.openxmlformats.org/officeDocument/2006/relationships" xmlns:p="http://schemas.openxmlformats.org/presentationml/2006/main">
  <p:tag name="TIMING" val="|30.8"/>
</p:tagLst>
</file>

<file path=ppt/tags/tag11.xml><?xml version="1.0" encoding="utf-8"?>
<p:tagLst xmlns:a="http://schemas.openxmlformats.org/drawingml/2006/main" xmlns:r="http://schemas.openxmlformats.org/officeDocument/2006/relationships" xmlns:p="http://schemas.openxmlformats.org/presentationml/2006/main">
  <p:tag name="TIMING" val="|35.1|1.1|3.5|3.5|2.6|1.9"/>
</p:tagLst>
</file>

<file path=ppt/tags/tag12.xml><?xml version="1.0" encoding="utf-8"?>
<p:tagLst xmlns:a="http://schemas.openxmlformats.org/drawingml/2006/main" xmlns:r="http://schemas.openxmlformats.org/officeDocument/2006/relationships" xmlns:p="http://schemas.openxmlformats.org/presentationml/2006/main">
  <p:tag name="TIMING" val="|23|12.5"/>
</p:tagLst>
</file>

<file path=ppt/tags/tag13.xml><?xml version="1.0" encoding="utf-8"?>
<p:tagLst xmlns:a="http://schemas.openxmlformats.org/drawingml/2006/main" xmlns:r="http://schemas.openxmlformats.org/officeDocument/2006/relationships" xmlns:p="http://schemas.openxmlformats.org/presentationml/2006/main">
  <p:tag name="TIMING" val="|100.6"/>
</p:tagLst>
</file>

<file path=ppt/tags/tag14.xml><?xml version="1.0" encoding="utf-8"?>
<p:tagLst xmlns:a="http://schemas.openxmlformats.org/drawingml/2006/main" xmlns:r="http://schemas.openxmlformats.org/officeDocument/2006/relationships" xmlns:p="http://schemas.openxmlformats.org/presentationml/2006/main">
  <p:tag name="TIMING" val="|62.4"/>
</p:tagLst>
</file>

<file path=ppt/tags/tag15.xml><?xml version="1.0" encoding="utf-8"?>
<p:tagLst xmlns:a="http://schemas.openxmlformats.org/drawingml/2006/main" xmlns:r="http://schemas.openxmlformats.org/officeDocument/2006/relationships" xmlns:p="http://schemas.openxmlformats.org/presentationml/2006/main">
  <p:tag name="TIMING" val="|11|75.6"/>
</p:tagLst>
</file>

<file path=ppt/tags/tag16.xml><?xml version="1.0" encoding="utf-8"?>
<p:tagLst xmlns:a="http://schemas.openxmlformats.org/drawingml/2006/main" xmlns:r="http://schemas.openxmlformats.org/officeDocument/2006/relationships" xmlns:p="http://schemas.openxmlformats.org/presentationml/2006/main">
  <p:tag name="TIMING" val="|36.4|21.2|23.8|0.6|14.1|2.9|21.2|57.8|13.3"/>
</p:tagLst>
</file>

<file path=ppt/tags/tag17.xml><?xml version="1.0" encoding="utf-8"?>
<p:tagLst xmlns:a="http://schemas.openxmlformats.org/drawingml/2006/main" xmlns:r="http://schemas.openxmlformats.org/officeDocument/2006/relationships" xmlns:p="http://schemas.openxmlformats.org/presentationml/2006/main">
  <p:tag name="TIMING" val="|92|12.4"/>
</p:tagLst>
</file>

<file path=ppt/tags/tag18.xml><?xml version="1.0" encoding="utf-8"?>
<p:tagLst xmlns:a="http://schemas.openxmlformats.org/drawingml/2006/main" xmlns:r="http://schemas.openxmlformats.org/officeDocument/2006/relationships" xmlns:p="http://schemas.openxmlformats.org/presentationml/2006/main">
  <p:tag name="TIMING" val="|7.5|27|27.9"/>
</p:tagLst>
</file>

<file path=ppt/tags/tag19.xml><?xml version="1.0" encoding="utf-8"?>
<p:tagLst xmlns:a="http://schemas.openxmlformats.org/drawingml/2006/main" xmlns:r="http://schemas.openxmlformats.org/officeDocument/2006/relationships" xmlns:p="http://schemas.openxmlformats.org/presentationml/2006/main">
  <p:tag name="TIMING" val="|17.3"/>
</p:tagLst>
</file>

<file path=ppt/tags/tag20.xml><?xml version="1.0" encoding="utf-8"?>
<p:tagLst xmlns:a="http://schemas.openxmlformats.org/drawingml/2006/main" xmlns:r="http://schemas.openxmlformats.org/officeDocument/2006/relationships" xmlns:p="http://schemas.openxmlformats.org/presentationml/2006/main">
  <p:tag name="TIMING" val="|86|0.8|0.6|0.8|4.8|17.3"/>
</p:tagLst>
</file>

<file path=ppt/tags/tag21.xml><?xml version="1.0" encoding="utf-8"?>
<p:tagLst xmlns:a="http://schemas.openxmlformats.org/drawingml/2006/main" xmlns:r="http://schemas.openxmlformats.org/officeDocument/2006/relationships" xmlns:p="http://schemas.openxmlformats.org/presentationml/2006/main">
  <p:tag name="TIMING" val="|1.2|11.7|8.8"/>
</p:tagLst>
</file>

<file path=ppt/tags/tag22.xml><?xml version="1.0" encoding="utf-8"?>
<p:tagLst xmlns:a="http://schemas.openxmlformats.org/drawingml/2006/main" xmlns:r="http://schemas.openxmlformats.org/officeDocument/2006/relationships" xmlns:p="http://schemas.openxmlformats.org/presentationml/2006/main">
  <p:tag name="TIMING" val="|61|0.7|7.3|5.4|1.5"/>
</p:tagLst>
</file>

<file path=ppt/tags/tag23.xml><?xml version="1.0" encoding="utf-8"?>
<p:tagLst xmlns:a="http://schemas.openxmlformats.org/drawingml/2006/main" xmlns:r="http://schemas.openxmlformats.org/officeDocument/2006/relationships" xmlns:p="http://schemas.openxmlformats.org/presentationml/2006/main">
  <p:tag name="TIMING" val="|37.9|14.6|50.4"/>
</p:tagLst>
</file>

<file path=ppt/tags/tag24.xml><?xml version="1.0" encoding="utf-8"?>
<p:tagLst xmlns:a="http://schemas.openxmlformats.org/drawingml/2006/main" xmlns:r="http://schemas.openxmlformats.org/officeDocument/2006/relationships" xmlns:p="http://schemas.openxmlformats.org/presentationml/2006/main">
  <p:tag name="TIMING" val="|3.5|1.4|9.7|6.6|0.8|4.7|0.8|11.4|0.8"/>
</p:tagLst>
</file>

<file path=ppt/tags/tag25.xml><?xml version="1.0" encoding="utf-8"?>
<p:tagLst xmlns:a="http://schemas.openxmlformats.org/drawingml/2006/main" xmlns:r="http://schemas.openxmlformats.org/officeDocument/2006/relationships" xmlns:p="http://schemas.openxmlformats.org/presentationml/2006/main">
  <p:tag name="TIMING" val="|10.8|38.4|3.4|6.6|0.6|19.2|0.6|9.4|3.2"/>
</p:tagLst>
</file>

<file path=ppt/tags/tag26.xml><?xml version="1.0" encoding="utf-8"?>
<p:tagLst xmlns:a="http://schemas.openxmlformats.org/drawingml/2006/main" xmlns:r="http://schemas.openxmlformats.org/officeDocument/2006/relationships" xmlns:p="http://schemas.openxmlformats.org/presentationml/2006/main">
  <p:tag name="TIMING" val="|12.4|14.5|3.1|3.7"/>
</p:tagLst>
</file>

<file path=ppt/tags/tag27.xml><?xml version="1.0" encoding="utf-8"?>
<p:tagLst xmlns:a="http://schemas.openxmlformats.org/drawingml/2006/main" xmlns:r="http://schemas.openxmlformats.org/officeDocument/2006/relationships" xmlns:p="http://schemas.openxmlformats.org/presentationml/2006/main">
  <p:tag name="TIMING" val="|24.6"/>
</p:tagLst>
</file>

<file path=ppt/tags/tag28.xml><?xml version="1.0" encoding="utf-8"?>
<p:tagLst xmlns:a="http://schemas.openxmlformats.org/drawingml/2006/main" xmlns:r="http://schemas.openxmlformats.org/officeDocument/2006/relationships" xmlns:p="http://schemas.openxmlformats.org/presentationml/2006/main">
  <p:tag name="TIMING" val="|14.5"/>
</p:tagLst>
</file>

<file path=ppt/tags/tag29.xml><?xml version="1.0" encoding="utf-8"?>
<p:tagLst xmlns:a="http://schemas.openxmlformats.org/drawingml/2006/main" xmlns:r="http://schemas.openxmlformats.org/officeDocument/2006/relationships" xmlns:p="http://schemas.openxmlformats.org/presentationml/2006/main">
  <p:tag name="TIMING" val="|16.7|9.8"/>
</p:tagLst>
</file>

<file path=ppt/tags/tag30.xml><?xml version="1.0" encoding="utf-8"?>
<p:tagLst xmlns:a="http://schemas.openxmlformats.org/drawingml/2006/main" xmlns:r="http://schemas.openxmlformats.org/officeDocument/2006/relationships" xmlns:p="http://schemas.openxmlformats.org/presentationml/2006/main">
  <p:tag name="TIMING" val="|14.1|25.5|13.6"/>
</p:tagLst>
</file>

<file path=ppt/tags/tag31.xml><?xml version="1.0" encoding="utf-8"?>
<p:tagLst xmlns:a="http://schemas.openxmlformats.org/drawingml/2006/main" xmlns:r="http://schemas.openxmlformats.org/officeDocument/2006/relationships" xmlns:p="http://schemas.openxmlformats.org/presentationml/2006/main">
  <p:tag name="TIMING" val="|8.7|7.9|17.1"/>
</p:tagLst>
</file>

<file path=ppt/tags/tag32.xml><?xml version="1.0" encoding="utf-8"?>
<p:tagLst xmlns:a="http://schemas.openxmlformats.org/drawingml/2006/main" xmlns:r="http://schemas.openxmlformats.org/officeDocument/2006/relationships" xmlns:p="http://schemas.openxmlformats.org/presentationml/2006/main">
  <p:tag name="TIMING" val="|18.3|13.9|0.5|8.4|16.5|4.3|0.8|2.8|39.7|3.9|8.4"/>
</p:tagLst>
</file>

<file path=ppt/tags/tag33.xml><?xml version="1.0" encoding="utf-8"?>
<p:tagLst xmlns:a="http://schemas.openxmlformats.org/drawingml/2006/main" xmlns:r="http://schemas.openxmlformats.org/officeDocument/2006/relationships" xmlns:p="http://schemas.openxmlformats.org/presentationml/2006/main">
  <p:tag name="TIMING" val="|49.2|11.3|11.1|25.8"/>
</p:tagLst>
</file>

<file path=ppt/tags/tag34.xml><?xml version="1.0" encoding="utf-8"?>
<p:tagLst xmlns:a="http://schemas.openxmlformats.org/drawingml/2006/main" xmlns:r="http://schemas.openxmlformats.org/officeDocument/2006/relationships" xmlns:p="http://schemas.openxmlformats.org/presentationml/2006/main">
  <p:tag name="TIMING" val="|4.4|9.3|8.7|8|0.7|7.4|11.9|13.6|4.2|10.3|0.9|1.2|4.1|7.6|46.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2848</Words>
  <Application>Microsoft Office PowerPoint</Application>
  <PresentationFormat>全屏显示(4:3)</PresentationFormat>
  <Paragraphs>237</Paragraphs>
  <Slides>67</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67</vt:i4>
      </vt:variant>
    </vt:vector>
  </HeadingPairs>
  <TitlesOfParts>
    <vt:vector size="82" baseType="lpstr">
      <vt:lpstr>等线</vt:lpstr>
      <vt:lpstr>黑体</vt:lpstr>
      <vt:lpstr>楷体_GB2312</vt:lpstr>
      <vt:lpstr>宋体</vt:lpstr>
      <vt:lpstr>微软雅黑</vt:lpstr>
      <vt:lpstr>Arial</vt:lpstr>
      <vt:lpstr>Calibri</vt:lpstr>
      <vt:lpstr>Symbol</vt:lpstr>
      <vt:lpstr>Times New Roman</vt:lpstr>
      <vt:lpstr>Wingdings</vt:lpstr>
      <vt:lpstr>Office 主题</vt:lpstr>
      <vt:lpstr>Microsoft 公式 3.0</vt:lpstr>
      <vt:lpstr>MathType 5.0 Equation</vt:lpstr>
      <vt:lpstr>Equation</vt:lpstr>
      <vt:lpstr>Microsoft Visio 绘图</vt:lpstr>
      <vt:lpstr>04 理想气体的性质</vt:lpstr>
      <vt:lpstr>PowerPoint 演示文稿</vt:lpstr>
      <vt:lpstr>一、理想气体和实际气体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PowerPoint 演示文稿</vt:lpstr>
      <vt:lpstr>PowerPoint 演示文稿</vt:lpstr>
      <vt:lpstr>PowerPoint 演示文稿</vt:lpstr>
      <vt:lpstr>PowerPoint 演示文稿</vt:lpstr>
      <vt:lpstr>PowerPoint 演示文稿</vt:lpstr>
      <vt:lpstr>§4－2　比热容的定义</vt:lpstr>
      <vt:lpstr>一、比定容热容</vt:lpstr>
      <vt:lpstr>PowerPoint 演示文稿</vt:lpstr>
      <vt:lpstr>PowerPoint 演示文稿</vt:lpstr>
      <vt:lpstr>二、比定压热容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　理想气体的热力学能、焓和比热容</vt:lpstr>
      <vt:lpstr>PowerPoint 演示文稿</vt:lpstr>
      <vt:lpstr>理想气体热力学能的物理解释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补充：固体和液体的热力学能、焓和比热容 </vt:lpstr>
      <vt:lpstr>PowerPoint 演示文稿</vt:lpstr>
      <vt:lpstr>PowerPoint 演示文稿</vt:lpstr>
      <vt:lpstr>PowerPoint 演示文稿</vt:lpstr>
      <vt:lpstr>PowerPoint 演示文稿</vt:lpstr>
      <vt:lpstr>PowerPoint 演示文稿</vt:lpstr>
      <vt:lpstr>与液体的热力学能、焓和比热容有关的计算题见本章习题4-13~4-15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第4讲 理想气体的性质</dc:title>
  <dc:creator>jing wu</dc:creator>
  <cp:lastModifiedBy>jingwu</cp:lastModifiedBy>
  <cp:revision>51</cp:revision>
  <dcterms:created xsi:type="dcterms:W3CDTF">2020-03-12T13:38:00Z</dcterms:created>
  <dcterms:modified xsi:type="dcterms:W3CDTF">2020-10-01T09:51:30Z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