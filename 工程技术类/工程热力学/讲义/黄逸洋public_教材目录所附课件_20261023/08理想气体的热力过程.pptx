
<file path=[Content_Types].xml><?xml version="1.0" encoding="utf-8"?>
<Types xmlns="http://schemas.openxmlformats.org/package/2006/content-types">
  <Default Extension="jpeg" ContentType="image/jpeg"/>
  <Default Extension="vml" ContentType="application/vnd.openxmlformats-officedocument.vmlDrawing"/>
  <Default Extension="bin" ContentType="application/vnd.openxmlformats-officedocument.oleObject"/>
  <Default Extension="wmf" ContentType="image/x-wmf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8"/>
  </p:notesMasterIdLst>
  <p:handoutMasterIdLst>
    <p:handoutMasterId r:id="rId59"/>
  </p:handoutMasterIdLst>
  <p:sldIdLst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8" r:id="rId12"/>
    <p:sldId id="269" r:id="rId13"/>
    <p:sldId id="270" r:id="rId14"/>
    <p:sldId id="316" r:id="rId15"/>
    <p:sldId id="272" r:id="rId16"/>
    <p:sldId id="275" r:id="rId17"/>
    <p:sldId id="314" r:id="rId18"/>
    <p:sldId id="315" r:id="rId19"/>
    <p:sldId id="273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88" r:id="rId32"/>
    <p:sldId id="289" r:id="rId33"/>
    <p:sldId id="290" r:id="rId34"/>
    <p:sldId id="291" r:id="rId35"/>
    <p:sldId id="292" r:id="rId36"/>
    <p:sldId id="293" r:id="rId37"/>
    <p:sldId id="294" r:id="rId38"/>
    <p:sldId id="295" r:id="rId39"/>
    <p:sldId id="296" r:id="rId40"/>
    <p:sldId id="297" r:id="rId41"/>
    <p:sldId id="298" r:id="rId42"/>
    <p:sldId id="299" r:id="rId43"/>
    <p:sldId id="300" r:id="rId44"/>
    <p:sldId id="301" r:id="rId45"/>
    <p:sldId id="302" r:id="rId46"/>
    <p:sldId id="303" r:id="rId47"/>
    <p:sldId id="304" r:id="rId48"/>
    <p:sldId id="305" r:id="rId49"/>
    <p:sldId id="306" r:id="rId50"/>
    <p:sldId id="307" r:id="rId51"/>
    <p:sldId id="308" r:id="rId52"/>
    <p:sldId id="309" r:id="rId53"/>
    <p:sldId id="310" r:id="rId54"/>
    <p:sldId id="311" r:id="rId55"/>
    <p:sldId id="312" r:id="rId56"/>
    <p:sldId id="313" r:id="rId57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96" d="100"/>
          <a:sy n="96" d="100"/>
        </p:scale>
        <p:origin x="80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2" Type="http://schemas.openxmlformats.org/officeDocument/2006/relationships/tableStyles" Target="tableStyles.xml"/><Relationship Id="rId61" Type="http://schemas.openxmlformats.org/officeDocument/2006/relationships/viewProps" Target="viewProps.xml"/><Relationship Id="rId60" Type="http://schemas.openxmlformats.org/officeDocument/2006/relationships/presProps" Target="presProps.xml"/><Relationship Id="rId6" Type="http://schemas.openxmlformats.org/officeDocument/2006/relationships/slide" Target="slides/slide4.xml"/><Relationship Id="rId59" Type="http://schemas.openxmlformats.org/officeDocument/2006/relationships/handoutMaster" Target="handoutMasters/handoutMaster1.xml"/><Relationship Id="rId58" Type="http://schemas.openxmlformats.org/officeDocument/2006/relationships/notesMaster" Target="notesMasters/notesMaster1.xml"/><Relationship Id="rId57" Type="http://schemas.openxmlformats.org/officeDocument/2006/relationships/slide" Target="slides/slide55.xml"/><Relationship Id="rId56" Type="http://schemas.openxmlformats.org/officeDocument/2006/relationships/slide" Target="slides/slide54.xml"/><Relationship Id="rId55" Type="http://schemas.openxmlformats.org/officeDocument/2006/relationships/slide" Target="slides/slide53.xml"/><Relationship Id="rId54" Type="http://schemas.openxmlformats.org/officeDocument/2006/relationships/slide" Target="slides/slide52.xml"/><Relationship Id="rId53" Type="http://schemas.openxmlformats.org/officeDocument/2006/relationships/slide" Target="slides/slide51.xml"/><Relationship Id="rId52" Type="http://schemas.openxmlformats.org/officeDocument/2006/relationships/slide" Target="slides/slide50.xml"/><Relationship Id="rId51" Type="http://schemas.openxmlformats.org/officeDocument/2006/relationships/slide" Target="slides/slide49.xml"/><Relationship Id="rId50" Type="http://schemas.openxmlformats.org/officeDocument/2006/relationships/slide" Target="slides/slide48.xml"/><Relationship Id="rId5" Type="http://schemas.openxmlformats.org/officeDocument/2006/relationships/slide" Target="slides/slide3.xml"/><Relationship Id="rId49" Type="http://schemas.openxmlformats.org/officeDocument/2006/relationships/slide" Target="slides/slide47.xml"/><Relationship Id="rId48" Type="http://schemas.openxmlformats.org/officeDocument/2006/relationships/slide" Target="slides/slide46.xml"/><Relationship Id="rId47" Type="http://schemas.openxmlformats.org/officeDocument/2006/relationships/slide" Target="slides/slide45.xml"/><Relationship Id="rId46" Type="http://schemas.openxmlformats.org/officeDocument/2006/relationships/slide" Target="slides/slide44.xml"/><Relationship Id="rId45" Type="http://schemas.openxmlformats.org/officeDocument/2006/relationships/slide" Target="slides/slide43.xml"/><Relationship Id="rId44" Type="http://schemas.openxmlformats.org/officeDocument/2006/relationships/slide" Target="slides/slide42.xml"/><Relationship Id="rId43" Type="http://schemas.openxmlformats.org/officeDocument/2006/relationships/slide" Target="slides/slide41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5" Type="http://schemas.openxmlformats.org/officeDocument/2006/relationships/image" Target="../media/image5.wmf"/><Relationship Id="rId4" Type="http://schemas.openxmlformats.org/officeDocument/2006/relationships/image" Target="../media/image4.wmf"/><Relationship Id="rId3" Type="http://schemas.openxmlformats.org/officeDocument/2006/relationships/image" Target="../media/image3.wmf"/><Relationship Id="rId2" Type="http://schemas.openxmlformats.org/officeDocument/2006/relationships/image" Target="../media/image2.wmf"/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5" Type="http://schemas.openxmlformats.org/officeDocument/2006/relationships/image" Target="../media/image10.wmf"/><Relationship Id="rId4" Type="http://schemas.openxmlformats.org/officeDocument/2006/relationships/image" Target="../media/image9.wmf"/><Relationship Id="rId3" Type="http://schemas.openxmlformats.org/officeDocument/2006/relationships/image" Target="../media/image8.wmf"/><Relationship Id="rId2" Type="http://schemas.openxmlformats.org/officeDocument/2006/relationships/image" Target="../media/image7.wmf"/><Relationship Id="rId1" Type="http://schemas.openxmlformats.org/officeDocument/2006/relationships/image" Target="../media/image6.wmf"/></Relationships>
</file>

<file path=ppt/drawings/_rels/vmlDrawing3.vml.rels><?xml version="1.0" encoding="UTF-8" standalone="yes"?>
<Relationships xmlns="http://schemas.openxmlformats.org/package/2006/relationships"><Relationship Id="rId7" Type="http://schemas.openxmlformats.org/officeDocument/2006/relationships/image" Target="../media/image18.wmf"/><Relationship Id="rId6" Type="http://schemas.openxmlformats.org/officeDocument/2006/relationships/image" Target="../media/image17.wmf"/><Relationship Id="rId5" Type="http://schemas.openxmlformats.org/officeDocument/2006/relationships/image" Target="../media/image16.wmf"/><Relationship Id="rId4" Type="http://schemas.openxmlformats.org/officeDocument/2006/relationships/image" Target="../media/image15.wmf"/><Relationship Id="rId3" Type="http://schemas.openxmlformats.org/officeDocument/2006/relationships/image" Target="../media/image14.wmf"/><Relationship Id="rId2" Type="http://schemas.openxmlformats.org/officeDocument/2006/relationships/image" Target="../media/image13.wmf"/><Relationship Id="rId1" Type="http://schemas.openxmlformats.org/officeDocument/2006/relationships/image" Target="../media/image12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w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22.wmf"/><Relationship Id="rId1" Type="http://schemas.openxmlformats.org/officeDocument/2006/relationships/image" Target="../media/image21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6.wmf"/><Relationship Id="rId2" Type="http://schemas.openxmlformats.org/officeDocument/2006/relationships/image" Target="../media/image23.wmf"/><Relationship Id="rId1" Type="http://schemas.openxmlformats.org/officeDocument/2006/relationships/image" Target="../media/image18.wmf"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24.wmf"/><Relationship Id="rId1" Type="http://schemas.openxmlformats.org/officeDocument/2006/relationships/image" Target="../media/image21.wmf"/></Relationships>
</file>

<file path=ppt/drawings/_rels/vmlDrawing9.vml.rels><?xml version="1.0" encoding="UTF-8" standalone="yes"?>
<Relationships xmlns="http://schemas.openxmlformats.org/package/2006/relationships"><Relationship Id="rId4" Type="http://schemas.openxmlformats.org/officeDocument/2006/relationships/image" Target="../media/image27.wmf"/><Relationship Id="rId3" Type="http://schemas.openxmlformats.org/officeDocument/2006/relationships/image" Target="../media/image21.wmf"/><Relationship Id="rId2" Type="http://schemas.openxmlformats.org/officeDocument/2006/relationships/image" Target="../media/image26.wmf"/><Relationship Id="rId1" Type="http://schemas.openxmlformats.org/officeDocument/2006/relationships/image" Target="../media/image25.wmf"/></Relationships>
</file>

<file path=ppt/drawings/_rels/vmlDrawing10.vml.rels><?xml version="1.0" encoding="UTF-8" standalone="yes"?>
<Relationships xmlns="http://schemas.openxmlformats.org/package/2006/relationships"><Relationship Id="rId2" Type="http://schemas.openxmlformats.org/officeDocument/2006/relationships/image" Target="../media/image29.wmf"/><Relationship Id="rId1" Type="http://schemas.openxmlformats.org/officeDocument/2006/relationships/image" Target="../media/image28.e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0.e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2.w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5.e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37.e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38.e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43.emf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45.emf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46.emf"/></Relationships>
</file>

<file path=ppt/drawings/_rels/vmlDrawing19.vml.rels><?xml version="1.0" encoding="UTF-8" standalone="yes"?>
<Relationships xmlns="http://schemas.openxmlformats.org/package/2006/relationships"><Relationship Id="rId1" Type="http://schemas.openxmlformats.org/officeDocument/2006/relationships/image" Target="../media/image62.wmf"/></Relationships>
</file>

<file path=ppt/drawings/_rels/vmlDrawing20.vml.rels><?xml version="1.0" encoding="UTF-8" standalone="yes"?>
<Relationships xmlns="http://schemas.openxmlformats.org/package/2006/relationships"><Relationship Id="rId2" Type="http://schemas.openxmlformats.org/officeDocument/2006/relationships/image" Target="../media/image65.emf"/><Relationship Id="rId1" Type="http://schemas.openxmlformats.org/officeDocument/2006/relationships/image" Target="../media/image64.emf"/></Relationships>
</file>

<file path=ppt/drawings/_rels/vmlDrawing21.vml.rels><?xml version="1.0" encoding="UTF-8" standalone="yes"?>
<Relationships xmlns="http://schemas.openxmlformats.org/package/2006/relationships"><Relationship Id="rId2" Type="http://schemas.openxmlformats.org/officeDocument/2006/relationships/image" Target="../media/image67.wmf"/><Relationship Id="rId1" Type="http://schemas.openxmlformats.org/officeDocument/2006/relationships/image" Target="../media/image66.emf"/></Relationships>
</file>

<file path=ppt/drawings/_rels/vmlDrawing22.vml.rels><?xml version="1.0" encoding="UTF-8" standalone="yes"?>
<Relationships xmlns="http://schemas.openxmlformats.org/package/2006/relationships"><Relationship Id="rId2" Type="http://schemas.openxmlformats.org/officeDocument/2006/relationships/image" Target="../media/image69.emf"/><Relationship Id="rId1" Type="http://schemas.openxmlformats.org/officeDocument/2006/relationships/image" Target="../media/image68.emf"/></Relationships>
</file>

<file path=ppt/drawings/_rels/vmlDrawing23.vml.rels><?xml version="1.0" encoding="UTF-8" standalone="yes"?>
<Relationships xmlns="http://schemas.openxmlformats.org/package/2006/relationships"><Relationship Id="rId2" Type="http://schemas.openxmlformats.org/officeDocument/2006/relationships/image" Target="../media/image71.wmf"/><Relationship Id="rId1" Type="http://schemas.openxmlformats.org/officeDocument/2006/relationships/image" Target="../media/image70.wmf"/></Relationships>
</file>

<file path=ppt/drawings/_rels/vmlDrawing24.vml.rels><?xml version="1.0" encoding="UTF-8" standalone="yes"?>
<Relationships xmlns="http://schemas.openxmlformats.org/package/2006/relationships"><Relationship Id="rId3" Type="http://schemas.openxmlformats.org/officeDocument/2006/relationships/image" Target="../media/image74.wmf"/><Relationship Id="rId2" Type="http://schemas.openxmlformats.org/officeDocument/2006/relationships/image" Target="../media/image73.wmf"/><Relationship Id="rId1" Type="http://schemas.openxmlformats.org/officeDocument/2006/relationships/image" Target="../media/image72.wmf"/></Relationships>
</file>

<file path=ppt/drawings/_rels/vmlDrawing25.vml.rels><?xml version="1.0" encoding="UTF-8" standalone="yes"?>
<Relationships xmlns="http://schemas.openxmlformats.org/package/2006/relationships"><Relationship Id="rId6" Type="http://schemas.openxmlformats.org/officeDocument/2006/relationships/image" Target="../media/image80.wmf"/><Relationship Id="rId5" Type="http://schemas.openxmlformats.org/officeDocument/2006/relationships/image" Target="../media/image79.wmf"/><Relationship Id="rId4" Type="http://schemas.openxmlformats.org/officeDocument/2006/relationships/image" Target="../media/image78.wmf"/><Relationship Id="rId3" Type="http://schemas.openxmlformats.org/officeDocument/2006/relationships/image" Target="../media/image77.wmf"/><Relationship Id="rId2" Type="http://schemas.openxmlformats.org/officeDocument/2006/relationships/image" Target="../media/image76.wmf"/><Relationship Id="rId1" Type="http://schemas.openxmlformats.org/officeDocument/2006/relationships/image" Target="../media/image75.wmf"/></Relationships>
</file>

<file path=ppt/drawings/_rels/vmlDrawing26.vml.rels><?xml version="1.0" encoding="UTF-8" standalone="yes"?>
<Relationships xmlns="http://schemas.openxmlformats.org/package/2006/relationships"><Relationship Id="rId5" Type="http://schemas.openxmlformats.org/officeDocument/2006/relationships/image" Target="../media/image85.wmf"/><Relationship Id="rId4" Type="http://schemas.openxmlformats.org/officeDocument/2006/relationships/image" Target="../media/image84.wmf"/><Relationship Id="rId3" Type="http://schemas.openxmlformats.org/officeDocument/2006/relationships/image" Target="../media/image83.wmf"/><Relationship Id="rId2" Type="http://schemas.openxmlformats.org/officeDocument/2006/relationships/image" Target="../media/image82.wmf"/><Relationship Id="rId1" Type="http://schemas.openxmlformats.org/officeDocument/2006/relationships/image" Target="../media/image81.wmf"/></Relationships>
</file>

<file path=ppt/drawings/_rels/vmlDrawing27.vml.rels><?xml version="1.0" encoding="UTF-8" standalone="yes"?>
<Relationships xmlns="http://schemas.openxmlformats.org/package/2006/relationships"><Relationship Id="rId1" Type="http://schemas.openxmlformats.org/officeDocument/2006/relationships/image" Target="../media/image89.wmf"/></Relationships>
</file>

<file path=ppt/drawings/_rels/vmlDrawing28.vml.rels><?xml version="1.0" encoding="UTF-8" standalone="yes"?>
<Relationships xmlns="http://schemas.openxmlformats.org/package/2006/relationships"><Relationship Id="rId1" Type="http://schemas.openxmlformats.org/officeDocument/2006/relationships/image" Target="../media/image91.wmf"/></Relationships>
</file>

<file path=ppt/drawings/_rels/vmlDrawing29.vml.rels><?xml version="1.0" encoding="UTF-8" standalone="yes"?>
<Relationships xmlns="http://schemas.openxmlformats.org/package/2006/relationships"><Relationship Id="rId1" Type="http://schemas.openxmlformats.org/officeDocument/2006/relationships/image" Target="../media/image93.wmf"/></Relationships>
</file>

<file path=ppt/drawings/_rels/vmlDrawing30.vml.rels><?xml version="1.0" encoding="UTF-8" standalone="yes"?>
<Relationships xmlns="http://schemas.openxmlformats.org/package/2006/relationships"><Relationship Id="rId1" Type="http://schemas.openxmlformats.org/officeDocument/2006/relationships/image" Target="../media/image95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 hasCustomPrompt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2A6583F9-F0F5-4FE5-B730-FDE25640C950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5.bin"/><Relationship Id="rId8" Type="http://schemas.openxmlformats.org/officeDocument/2006/relationships/image" Target="../media/image4.wmf"/><Relationship Id="rId7" Type="http://schemas.openxmlformats.org/officeDocument/2006/relationships/oleObject" Target="../embeddings/oleObject4.bin"/><Relationship Id="rId6" Type="http://schemas.openxmlformats.org/officeDocument/2006/relationships/image" Target="../media/image3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2.wmf"/><Relationship Id="rId3" Type="http://schemas.openxmlformats.org/officeDocument/2006/relationships/oleObject" Target="../embeddings/oleObject2.bin"/><Relationship Id="rId2" Type="http://schemas.openxmlformats.org/officeDocument/2006/relationships/image" Target="../media/image1.wmf"/><Relationship Id="rId15" Type="http://schemas.openxmlformats.org/officeDocument/2006/relationships/vmlDrawing" Target="../drawings/vmlDrawing1.vml"/><Relationship Id="rId14" Type="http://schemas.openxmlformats.org/officeDocument/2006/relationships/slideLayout" Target="../slideLayouts/slideLayout2.xml"/><Relationship Id="rId13" Type="http://schemas.openxmlformats.org/officeDocument/2006/relationships/tags" Target="../tags/tag2.xml"/><Relationship Id="rId12" Type="http://schemas.openxmlformats.org/officeDocument/2006/relationships/oleObject" Target="../embeddings/oleObject7.bin"/><Relationship Id="rId11" Type="http://schemas.openxmlformats.org/officeDocument/2006/relationships/oleObject" Target="../embeddings/oleObject6.bin"/><Relationship Id="rId10" Type="http://schemas.openxmlformats.org/officeDocument/2006/relationships/image" Target="../media/image5.wmf"/><Relationship Id="rId1" Type="http://schemas.openxmlformats.org/officeDocument/2006/relationships/oleObject" Target="../embeddings/oleObject1.bin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2.bin"/><Relationship Id="rId8" Type="http://schemas.openxmlformats.org/officeDocument/2006/relationships/image" Target="../media/image9.wmf"/><Relationship Id="rId7" Type="http://schemas.openxmlformats.org/officeDocument/2006/relationships/oleObject" Target="../embeddings/oleObject11.bin"/><Relationship Id="rId6" Type="http://schemas.openxmlformats.org/officeDocument/2006/relationships/image" Target="../media/image8.wmf"/><Relationship Id="rId5" Type="http://schemas.openxmlformats.org/officeDocument/2006/relationships/oleObject" Target="../embeddings/oleObject10.bin"/><Relationship Id="rId4" Type="http://schemas.openxmlformats.org/officeDocument/2006/relationships/image" Target="../media/image7.wmf"/><Relationship Id="rId3" Type="http://schemas.openxmlformats.org/officeDocument/2006/relationships/oleObject" Target="../embeddings/oleObject9.bin"/><Relationship Id="rId2" Type="http://schemas.openxmlformats.org/officeDocument/2006/relationships/image" Target="../media/image6.wmf"/><Relationship Id="rId12" Type="http://schemas.openxmlformats.org/officeDocument/2006/relationships/vmlDrawing" Target="../drawings/vmlDrawing2.vml"/><Relationship Id="rId11" Type="http://schemas.openxmlformats.org/officeDocument/2006/relationships/slideLayout" Target="../slideLayouts/slideLayout2.xml"/><Relationship Id="rId10" Type="http://schemas.openxmlformats.org/officeDocument/2006/relationships/image" Target="../media/image10.wmf"/><Relationship Id="rId1" Type="http://schemas.openxmlformats.org/officeDocument/2006/relationships/oleObject" Target="../embeddings/oleObject8.bin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7.bin"/><Relationship Id="rId8" Type="http://schemas.openxmlformats.org/officeDocument/2006/relationships/image" Target="../media/image15.wmf"/><Relationship Id="rId7" Type="http://schemas.openxmlformats.org/officeDocument/2006/relationships/oleObject" Target="../embeddings/oleObject16.bin"/><Relationship Id="rId6" Type="http://schemas.openxmlformats.org/officeDocument/2006/relationships/image" Target="../media/image14.wmf"/><Relationship Id="rId5" Type="http://schemas.openxmlformats.org/officeDocument/2006/relationships/oleObject" Target="../embeddings/oleObject15.bin"/><Relationship Id="rId4" Type="http://schemas.openxmlformats.org/officeDocument/2006/relationships/image" Target="../media/image13.wmf"/><Relationship Id="rId3" Type="http://schemas.openxmlformats.org/officeDocument/2006/relationships/oleObject" Target="../embeddings/oleObject14.bin"/><Relationship Id="rId2" Type="http://schemas.openxmlformats.org/officeDocument/2006/relationships/image" Target="../media/image12.wmf"/><Relationship Id="rId17" Type="http://schemas.openxmlformats.org/officeDocument/2006/relationships/vmlDrawing" Target="../drawings/vmlDrawing3.vml"/><Relationship Id="rId16" Type="http://schemas.openxmlformats.org/officeDocument/2006/relationships/slideLayout" Target="../slideLayouts/slideLayout7.xml"/><Relationship Id="rId15" Type="http://schemas.openxmlformats.org/officeDocument/2006/relationships/tags" Target="../tags/tag4.xml"/><Relationship Id="rId14" Type="http://schemas.openxmlformats.org/officeDocument/2006/relationships/image" Target="../media/image18.wmf"/><Relationship Id="rId13" Type="http://schemas.openxmlformats.org/officeDocument/2006/relationships/oleObject" Target="../embeddings/oleObject19.bin"/><Relationship Id="rId12" Type="http://schemas.openxmlformats.org/officeDocument/2006/relationships/image" Target="../media/image17.wmf"/><Relationship Id="rId11" Type="http://schemas.openxmlformats.org/officeDocument/2006/relationships/oleObject" Target="../embeddings/oleObject18.bin"/><Relationship Id="rId10" Type="http://schemas.openxmlformats.org/officeDocument/2006/relationships/image" Target="../media/image16.wmf"/><Relationship Id="rId1" Type="http://schemas.openxmlformats.org/officeDocument/2006/relationships/oleObject" Target="../embeddings/oleObject13.bin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4.v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9.png"/><Relationship Id="rId2" Type="http://schemas.openxmlformats.org/officeDocument/2006/relationships/image" Target="../media/image18.wmf"/><Relationship Id="rId1" Type="http://schemas.openxmlformats.org/officeDocument/2006/relationships/oleObject" Target="../embeddings/oleObject20.bin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5.v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20.png"/><Relationship Id="rId2" Type="http://schemas.openxmlformats.org/officeDocument/2006/relationships/image" Target="../media/image16.wmf"/><Relationship Id="rId1" Type="http://schemas.openxmlformats.org/officeDocument/2006/relationships/oleObject" Target="../embeddings/oleObject21.bin"/></Relationships>
</file>

<file path=ppt/slides/_rels/slide13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6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2.wmf"/><Relationship Id="rId3" Type="http://schemas.openxmlformats.org/officeDocument/2006/relationships/oleObject" Target="../embeddings/oleObject23.bin"/><Relationship Id="rId2" Type="http://schemas.openxmlformats.org/officeDocument/2006/relationships/image" Target="../media/image21.wmf"/><Relationship Id="rId1" Type="http://schemas.openxmlformats.org/officeDocument/2006/relationships/oleObject" Target="../embeddings/oleObject22.bin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7.v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16.wmf"/><Relationship Id="rId5" Type="http://schemas.openxmlformats.org/officeDocument/2006/relationships/oleObject" Target="../embeddings/oleObject26.bin"/><Relationship Id="rId4" Type="http://schemas.openxmlformats.org/officeDocument/2006/relationships/image" Target="../media/image23.wmf"/><Relationship Id="rId3" Type="http://schemas.openxmlformats.org/officeDocument/2006/relationships/oleObject" Target="../embeddings/oleObject25.bin"/><Relationship Id="rId2" Type="http://schemas.openxmlformats.org/officeDocument/2006/relationships/image" Target="../media/image18.wmf"/><Relationship Id="rId1" Type="http://schemas.openxmlformats.org/officeDocument/2006/relationships/oleObject" Target="../embeddings/oleObject24.bin"/></Relationships>
</file>

<file path=ppt/slides/_rels/slide16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8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4.wmf"/><Relationship Id="rId3" Type="http://schemas.openxmlformats.org/officeDocument/2006/relationships/oleObject" Target="../embeddings/oleObject28.bin"/><Relationship Id="rId2" Type="http://schemas.openxmlformats.org/officeDocument/2006/relationships/image" Target="../media/image21.wmf"/><Relationship Id="rId1" Type="http://schemas.openxmlformats.org/officeDocument/2006/relationships/oleObject" Target="../embeddings/oleObject27.bin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27.wmf"/><Relationship Id="rId7" Type="http://schemas.openxmlformats.org/officeDocument/2006/relationships/oleObject" Target="../embeddings/oleObject32.bin"/><Relationship Id="rId6" Type="http://schemas.openxmlformats.org/officeDocument/2006/relationships/image" Target="../media/image21.wmf"/><Relationship Id="rId5" Type="http://schemas.openxmlformats.org/officeDocument/2006/relationships/oleObject" Target="../embeddings/oleObject31.bin"/><Relationship Id="rId4" Type="http://schemas.openxmlformats.org/officeDocument/2006/relationships/image" Target="../media/image26.wmf"/><Relationship Id="rId3" Type="http://schemas.openxmlformats.org/officeDocument/2006/relationships/oleObject" Target="../embeddings/oleObject30.bin"/><Relationship Id="rId2" Type="http://schemas.openxmlformats.org/officeDocument/2006/relationships/image" Target="../media/image25.wmf"/><Relationship Id="rId10" Type="http://schemas.openxmlformats.org/officeDocument/2006/relationships/vmlDrawing" Target="../drawings/vmlDrawing9.vml"/><Relationship Id="rId1" Type="http://schemas.openxmlformats.org/officeDocument/2006/relationships/oleObject" Target="../embeddings/oleObject29.bin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0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9.wmf"/><Relationship Id="rId3" Type="http://schemas.openxmlformats.org/officeDocument/2006/relationships/oleObject" Target="../embeddings/oleObject34.bin"/><Relationship Id="rId2" Type="http://schemas.openxmlformats.org/officeDocument/2006/relationships/image" Target="../media/image28.emf"/><Relationship Id="rId1" Type="http://schemas.openxmlformats.org/officeDocument/2006/relationships/oleObject" Target="../embeddings/oleObject33.bin"/></Relationships>
</file>

<file path=ppt/slides/_rels/slide21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1.vml"/><Relationship Id="rId5" Type="http://schemas.openxmlformats.org/officeDocument/2006/relationships/slideLayout" Target="../slideLayouts/slideLayout7.xml"/><Relationship Id="rId4" Type="http://schemas.openxmlformats.org/officeDocument/2006/relationships/tags" Target="../tags/tag5.xml"/><Relationship Id="rId3" Type="http://schemas.openxmlformats.org/officeDocument/2006/relationships/image" Target="../media/image31.png"/><Relationship Id="rId2" Type="http://schemas.openxmlformats.org/officeDocument/2006/relationships/image" Target="../media/image30.emf"/><Relationship Id="rId1" Type="http://schemas.openxmlformats.org/officeDocument/2006/relationships/oleObject" Target="../embeddings/oleObject35.bin"/></Relationships>
</file>

<file path=ppt/slides/_rels/slide22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2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34.png"/><Relationship Id="rId3" Type="http://schemas.openxmlformats.org/officeDocument/2006/relationships/image" Target="../media/image33.png"/><Relationship Id="rId2" Type="http://schemas.openxmlformats.org/officeDocument/2006/relationships/image" Target="../media/image32.wmf"/><Relationship Id="rId1" Type="http://schemas.openxmlformats.org/officeDocument/2006/relationships/oleObject" Target="../embeddings/oleObject36.bin"/></Relationships>
</file>

<file path=ppt/slides/_rels/slide23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3.vml"/><Relationship Id="rId5" Type="http://schemas.openxmlformats.org/officeDocument/2006/relationships/slideLayout" Target="../slideLayouts/slideLayout7.xml"/><Relationship Id="rId4" Type="http://schemas.openxmlformats.org/officeDocument/2006/relationships/tags" Target="../tags/tag6.xml"/><Relationship Id="rId3" Type="http://schemas.openxmlformats.org/officeDocument/2006/relationships/image" Target="../media/image36.png"/><Relationship Id="rId2" Type="http://schemas.openxmlformats.org/officeDocument/2006/relationships/image" Target="../media/image35.emf"/><Relationship Id="rId1" Type="http://schemas.openxmlformats.org/officeDocument/2006/relationships/oleObject" Target="../embeddings/oleObject37.bin"/></Relationships>
</file>

<file path=ppt/slides/_rels/slide24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14.v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7.xml"/><Relationship Id="rId2" Type="http://schemas.openxmlformats.org/officeDocument/2006/relationships/image" Target="../media/image37.emf"/><Relationship Id="rId1" Type="http://schemas.openxmlformats.org/officeDocument/2006/relationships/oleObject" Target="../embeddings/oleObject38.bin"/></Relationships>
</file>

<file path=ppt/slides/_rels/slide25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15.v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9.png"/><Relationship Id="rId2" Type="http://schemas.openxmlformats.org/officeDocument/2006/relationships/image" Target="../media/image38.emf"/><Relationship Id="rId1" Type="http://schemas.openxmlformats.org/officeDocument/2006/relationships/oleObject" Target="../embeddings/oleObject39.bin"/></Relationships>
</file>

<file path=ppt/slides/_rels/slide2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42.wmf"/><Relationship Id="rId2" Type="http://schemas.openxmlformats.org/officeDocument/2006/relationships/image" Target="../media/image41.wmf"/><Relationship Id="rId1" Type="http://schemas.openxmlformats.org/officeDocument/2006/relationships/image" Target="../media/image40.png"/></Relationships>
</file>

<file path=ppt/slides/_rels/slide27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16.v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44.png"/><Relationship Id="rId2" Type="http://schemas.openxmlformats.org/officeDocument/2006/relationships/image" Target="../media/image43.emf"/><Relationship Id="rId1" Type="http://schemas.openxmlformats.org/officeDocument/2006/relationships/oleObject" Target="../embeddings/oleObject40.bin"/></Relationships>
</file>

<file path=ppt/slides/_rels/slide28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7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5.emf"/><Relationship Id="rId1" Type="http://schemas.openxmlformats.org/officeDocument/2006/relationships/oleObject" Target="../embeddings/oleObject41.bin"/></Relationships>
</file>

<file path=ppt/slides/_rels/slide29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18.v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47.png"/><Relationship Id="rId2" Type="http://schemas.openxmlformats.org/officeDocument/2006/relationships/image" Target="../media/image46.emf"/><Relationship Id="rId1" Type="http://schemas.openxmlformats.org/officeDocument/2006/relationships/oleObject" Target="../embeddings/oleObject42.bin"/></Relationships>
</file>

<file path=ppt/slides/_rels/slide3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50.wmf"/><Relationship Id="rId2" Type="http://schemas.openxmlformats.org/officeDocument/2006/relationships/image" Target="../media/image49.wmf"/><Relationship Id="rId1" Type="http://schemas.openxmlformats.org/officeDocument/2006/relationships/image" Target="../media/image48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1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2.png"/></Relationships>
</file>

<file path=ppt/slides/_rels/slide3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55.wmf"/><Relationship Id="rId2" Type="http://schemas.openxmlformats.org/officeDocument/2006/relationships/image" Target="../media/image54.wmf"/><Relationship Id="rId1" Type="http://schemas.openxmlformats.org/officeDocument/2006/relationships/image" Target="../media/image53.wmf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6.png"/></Relationships>
</file>

<file path=ppt/slides/_rels/slide3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59.png"/><Relationship Id="rId2" Type="http://schemas.openxmlformats.org/officeDocument/2006/relationships/image" Target="../media/image58.wmf"/><Relationship Id="rId1" Type="http://schemas.openxmlformats.org/officeDocument/2006/relationships/image" Target="../media/image57.wmf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0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1.wmf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9.v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62.wmf"/><Relationship Id="rId1" Type="http://schemas.openxmlformats.org/officeDocument/2006/relationships/oleObject" Target="../embeddings/oleObject43.bin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63.emf"/></Relationships>
</file>

<file path=ppt/slides/_rels/slide41.xml.rels><?xml version="1.0" encoding="UTF-8" standalone="yes"?>
<Relationships xmlns="http://schemas.openxmlformats.org/package/2006/relationships"><Relationship Id="rId7" Type="http://schemas.openxmlformats.org/officeDocument/2006/relationships/vmlDrawing" Target="../drawings/vmlDrawing20.vml"/><Relationship Id="rId6" Type="http://schemas.openxmlformats.org/officeDocument/2006/relationships/slideLayout" Target="../slideLayouts/slideLayout12.xml"/><Relationship Id="rId5" Type="http://schemas.openxmlformats.org/officeDocument/2006/relationships/image" Target="../media/image63.emf"/><Relationship Id="rId4" Type="http://schemas.openxmlformats.org/officeDocument/2006/relationships/image" Target="../media/image65.emf"/><Relationship Id="rId3" Type="http://schemas.openxmlformats.org/officeDocument/2006/relationships/oleObject" Target="../embeddings/oleObject45.bin"/><Relationship Id="rId2" Type="http://schemas.openxmlformats.org/officeDocument/2006/relationships/image" Target="../media/image64.emf"/><Relationship Id="rId1" Type="http://schemas.openxmlformats.org/officeDocument/2006/relationships/oleObject" Target="../embeddings/oleObject44.bin"/></Relationships>
</file>

<file path=ppt/slides/_rels/slide42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21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67.wmf"/><Relationship Id="rId3" Type="http://schemas.openxmlformats.org/officeDocument/2006/relationships/oleObject" Target="../embeddings/oleObject47.bin"/><Relationship Id="rId2" Type="http://schemas.openxmlformats.org/officeDocument/2006/relationships/image" Target="../media/image66.emf"/><Relationship Id="rId1" Type="http://schemas.openxmlformats.org/officeDocument/2006/relationships/oleObject" Target="../embeddings/oleObject46.bin"/></Relationships>
</file>

<file path=ppt/slides/_rels/slide43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22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69.emf"/><Relationship Id="rId3" Type="http://schemas.openxmlformats.org/officeDocument/2006/relationships/oleObject" Target="../embeddings/oleObject49.bin"/><Relationship Id="rId2" Type="http://schemas.openxmlformats.org/officeDocument/2006/relationships/image" Target="../media/image68.emf"/><Relationship Id="rId1" Type="http://schemas.openxmlformats.org/officeDocument/2006/relationships/oleObject" Target="../embeddings/oleObject48.bin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23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71.wmf"/><Relationship Id="rId3" Type="http://schemas.openxmlformats.org/officeDocument/2006/relationships/oleObject" Target="../embeddings/oleObject51.bin"/><Relationship Id="rId2" Type="http://schemas.openxmlformats.org/officeDocument/2006/relationships/image" Target="../media/image70.wmf"/><Relationship Id="rId1" Type="http://schemas.openxmlformats.org/officeDocument/2006/relationships/oleObject" Target="../embeddings/oleObject50.bin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24.v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74.wmf"/><Relationship Id="rId5" Type="http://schemas.openxmlformats.org/officeDocument/2006/relationships/oleObject" Target="../embeddings/oleObject54.bin"/><Relationship Id="rId4" Type="http://schemas.openxmlformats.org/officeDocument/2006/relationships/image" Target="../media/image73.wmf"/><Relationship Id="rId3" Type="http://schemas.openxmlformats.org/officeDocument/2006/relationships/oleObject" Target="../embeddings/oleObject53.bin"/><Relationship Id="rId2" Type="http://schemas.openxmlformats.org/officeDocument/2006/relationships/image" Target="../media/image72.wmf"/><Relationship Id="rId1" Type="http://schemas.openxmlformats.org/officeDocument/2006/relationships/oleObject" Target="../embeddings/oleObject52.bin"/></Relationships>
</file>

<file path=ppt/slides/_rels/slide47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59.bin"/><Relationship Id="rId8" Type="http://schemas.openxmlformats.org/officeDocument/2006/relationships/image" Target="../media/image78.wmf"/><Relationship Id="rId7" Type="http://schemas.openxmlformats.org/officeDocument/2006/relationships/oleObject" Target="../embeddings/oleObject58.bin"/><Relationship Id="rId6" Type="http://schemas.openxmlformats.org/officeDocument/2006/relationships/image" Target="../media/image77.wmf"/><Relationship Id="rId5" Type="http://schemas.openxmlformats.org/officeDocument/2006/relationships/oleObject" Target="../embeddings/oleObject57.bin"/><Relationship Id="rId4" Type="http://schemas.openxmlformats.org/officeDocument/2006/relationships/image" Target="../media/image76.wmf"/><Relationship Id="rId3" Type="http://schemas.openxmlformats.org/officeDocument/2006/relationships/oleObject" Target="../embeddings/oleObject56.bin"/><Relationship Id="rId2" Type="http://schemas.openxmlformats.org/officeDocument/2006/relationships/image" Target="../media/image75.wmf"/><Relationship Id="rId15" Type="http://schemas.openxmlformats.org/officeDocument/2006/relationships/vmlDrawing" Target="../drawings/vmlDrawing25.vml"/><Relationship Id="rId14" Type="http://schemas.openxmlformats.org/officeDocument/2006/relationships/slideLayout" Target="../slideLayouts/slideLayout7.xml"/><Relationship Id="rId13" Type="http://schemas.openxmlformats.org/officeDocument/2006/relationships/tags" Target="../tags/tag8.xml"/><Relationship Id="rId12" Type="http://schemas.openxmlformats.org/officeDocument/2006/relationships/image" Target="../media/image80.wmf"/><Relationship Id="rId11" Type="http://schemas.openxmlformats.org/officeDocument/2006/relationships/oleObject" Target="../embeddings/oleObject60.bin"/><Relationship Id="rId10" Type="http://schemas.openxmlformats.org/officeDocument/2006/relationships/image" Target="../media/image79.wmf"/><Relationship Id="rId1" Type="http://schemas.openxmlformats.org/officeDocument/2006/relationships/oleObject" Target="../embeddings/oleObject55.bin"/></Relationships>
</file>

<file path=ppt/slides/_rels/slide48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65.bin"/><Relationship Id="rId8" Type="http://schemas.openxmlformats.org/officeDocument/2006/relationships/image" Target="../media/image84.wmf"/><Relationship Id="rId7" Type="http://schemas.openxmlformats.org/officeDocument/2006/relationships/oleObject" Target="../embeddings/oleObject64.bin"/><Relationship Id="rId6" Type="http://schemas.openxmlformats.org/officeDocument/2006/relationships/image" Target="../media/image83.wmf"/><Relationship Id="rId5" Type="http://schemas.openxmlformats.org/officeDocument/2006/relationships/oleObject" Target="../embeddings/oleObject63.bin"/><Relationship Id="rId4" Type="http://schemas.openxmlformats.org/officeDocument/2006/relationships/image" Target="../media/image82.wmf"/><Relationship Id="rId3" Type="http://schemas.openxmlformats.org/officeDocument/2006/relationships/oleObject" Target="../embeddings/oleObject62.bin"/><Relationship Id="rId2" Type="http://schemas.openxmlformats.org/officeDocument/2006/relationships/image" Target="../media/image81.wmf"/><Relationship Id="rId12" Type="http://schemas.openxmlformats.org/officeDocument/2006/relationships/vmlDrawing" Target="../drawings/vmlDrawing26.vml"/><Relationship Id="rId11" Type="http://schemas.openxmlformats.org/officeDocument/2006/relationships/slideLayout" Target="../slideLayouts/slideLayout7.xml"/><Relationship Id="rId10" Type="http://schemas.openxmlformats.org/officeDocument/2006/relationships/image" Target="../media/image85.wmf"/><Relationship Id="rId1" Type="http://schemas.openxmlformats.org/officeDocument/2006/relationships/oleObject" Target="../embeddings/oleObject61.bin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6.png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7.png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8.png"/></Relationships>
</file>

<file path=ppt/slides/_rels/slide52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27.v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90.png"/><Relationship Id="rId2" Type="http://schemas.openxmlformats.org/officeDocument/2006/relationships/image" Target="../media/image89.wmf"/><Relationship Id="rId1" Type="http://schemas.openxmlformats.org/officeDocument/2006/relationships/oleObject" Target="../embeddings/oleObject66.bin"/></Relationships>
</file>

<file path=ppt/slides/_rels/slide53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28.v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92.png"/><Relationship Id="rId2" Type="http://schemas.openxmlformats.org/officeDocument/2006/relationships/image" Target="../media/image91.wmf"/><Relationship Id="rId1" Type="http://schemas.openxmlformats.org/officeDocument/2006/relationships/oleObject" Target="../embeddings/oleObject67.bin"/></Relationships>
</file>

<file path=ppt/slides/_rels/slide54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29.v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94.png"/><Relationship Id="rId2" Type="http://schemas.openxmlformats.org/officeDocument/2006/relationships/image" Target="../media/image93.wmf"/><Relationship Id="rId1" Type="http://schemas.openxmlformats.org/officeDocument/2006/relationships/oleObject" Target="../embeddings/oleObject68.bin"/></Relationships>
</file>

<file path=ppt/slides/_rels/slide55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30.v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96.png"/><Relationship Id="rId2" Type="http://schemas.openxmlformats.org/officeDocument/2006/relationships/image" Target="../media/image95.wmf"/><Relationship Id="rId1" Type="http://schemas.openxmlformats.org/officeDocument/2006/relationships/oleObject" Target="../embeddings/oleObject69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04800" y="2130425"/>
            <a:ext cx="8458200" cy="1470025"/>
          </a:xfrm>
        </p:spPr>
        <p:txBody>
          <a:bodyPr anchor="ctr"/>
          <a:lstStyle/>
          <a:p>
            <a:r>
              <a:rPr lang="en-US" altLang="zh-CN" sz="4000" b="1" dirty="0" smtClean="0">
                <a:ea typeface="黑体" panose="02010609060101010101" pitchFamily="49" charset="-122"/>
              </a:rPr>
              <a:t>08</a:t>
            </a:r>
            <a:r>
              <a:rPr lang="zh-CN" altLang="en-US" sz="4000" b="1" dirty="0">
                <a:ea typeface="黑体" panose="02010609060101010101" pitchFamily="49" charset="-122"/>
              </a:rPr>
              <a:t>　理想气体</a:t>
            </a:r>
            <a:r>
              <a:rPr lang="zh-CN" altLang="en-US" sz="4000" b="1" dirty="0" smtClean="0">
                <a:ea typeface="黑体" panose="02010609060101010101" pitchFamily="49" charset="-122"/>
              </a:rPr>
              <a:t>的热力</a:t>
            </a:r>
            <a:r>
              <a:rPr lang="zh-CN" altLang="en-US" sz="4000" b="1" dirty="0">
                <a:ea typeface="黑体" panose="02010609060101010101" pitchFamily="49" charset="-122"/>
              </a:rPr>
              <a:t>过程</a:t>
            </a:r>
            <a:endParaRPr lang="zh-CN" altLang="en-US" sz="4000" b="1" dirty="0">
              <a:ea typeface="黑体" panose="02010609060101010101" pitchFamily="49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407503" y="1762539"/>
            <a:ext cx="8425071" cy="1143000"/>
          </a:xfrm>
          <a:noFill/>
        </p:spPr>
        <p:txBody>
          <a:bodyPr/>
          <a:lstStyle/>
          <a:p>
            <a:pPr algn="l">
              <a:buFontTx/>
              <a:buChar char="§"/>
            </a:pPr>
            <a:r>
              <a:rPr lang="en-US" altLang="zh-CN" sz="36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8</a:t>
            </a:r>
            <a:r>
              <a:rPr lang="zh-CN" altLang="en-US" sz="36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－</a:t>
            </a:r>
            <a:r>
              <a:rPr lang="en-US" altLang="zh-CN" sz="36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1 </a:t>
            </a:r>
            <a:r>
              <a:rPr lang="zh-CN" altLang="en-US" sz="36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分析热力</a:t>
            </a:r>
            <a:r>
              <a:rPr lang="zh-CN" altLang="en-US" sz="3600" b="1" dirty="0">
                <a:latin typeface="黑体" panose="02010609060101010101" pitchFamily="49" charset="-122"/>
                <a:ea typeface="黑体" panose="02010609060101010101" pitchFamily="49" charset="-122"/>
              </a:rPr>
              <a:t>过程的</a:t>
            </a:r>
            <a:r>
              <a:rPr lang="zh-CN" altLang="en-US" sz="3600" b="1" dirty="0" smtClean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目的</a:t>
            </a:r>
            <a:r>
              <a:rPr lang="zh-CN" altLang="en-US" sz="36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和</a:t>
            </a:r>
            <a:r>
              <a:rPr lang="zh-CN" altLang="en-US" sz="3600" b="1" dirty="0">
                <a:latin typeface="黑体" panose="02010609060101010101" pitchFamily="49" charset="-122"/>
                <a:ea typeface="黑体" panose="02010609060101010101" pitchFamily="49" charset="-122"/>
              </a:rPr>
              <a:t>研究</a:t>
            </a:r>
            <a:r>
              <a:rPr lang="zh-CN" altLang="en-US" sz="36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方法</a:t>
            </a:r>
            <a:endParaRPr lang="zh-CN" altLang="en-US" sz="36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Text Box 3"/>
          <p:cNvSpPr txBox="1">
            <a:spLocks noChangeArrowheads="1"/>
          </p:cNvSpPr>
          <p:nvPr/>
        </p:nvSpPr>
        <p:spPr bwMode="auto">
          <a:xfrm>
            <a:off x="533400" y="685800"/>
            <a:ext cx="6781800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4400" b="1">
                <a:latin typeface="Tahoma" panose="020B0604030504040204" pitchFamily="34" charset="0"/>
                <a:ea typeface="黑体" panose="02010609060101010101" pitchFamily="49" charset="-122"/>
              </a:rPr>
              <a:t>分析热力过程的目的</a:t>
            </a:r>
            <a:r>
              <a:rPr kumimoji="1" lang="zh-CN" altLang="en-US" sz="4400" b="1">
                <a:latin typeface="Tahoma" panose="020B0604030504040204" pitchFamily="34" charset="0"/>
              </a:rPr>
              <a:t>：</a:t>
            </a:r>
            <a:endParaRPr kumimoji="1" lang="zh-CN" altLang="en-US" sz="4400" b="1">
              <a:latin typeface="Tahoma" panose="020B0604030504040204" pitchFamily="34" charset="0"/>
            </a:endParaRPr>
          </a:p>
        </p:txBody>
      </p:sp>
      <p:sp>
        <p:nvSpPr>
          <p:cNvPr id="8196" name="Rectangle 4"/>
          <p:cNvSpPr>
            <a:spLocks noChangeArrowheads="1"/>
          </p:cNvSpPr>
          <p:nvPr/>
        </p:nvSpPr>
        <p:spPr bwMode="auto">
          <a:xfrm>
            <a:off x="762000" y="2209800"/>
            <a:ext cx="7315200" cy="1920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1" lang="en-US" altLang="zh-CN" sz="4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kumimoji="1" lang="zh-CN" altLang="en-US" sz="400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揭示过程中工质状态参数的变化规律以及能量转换情况，进而找出影响转换的主要因素</a:t>
            </a:r>
            <a:r>
              <a:rPr kumimoji="1"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endParaRPr kumimoji="1" lang="zh-CN" altLang="en-US" sz="24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609600"/>
            <a:ext cx="8229600" cy="5658678"/>
          </a:xfrm>
        </p:spPr>
        <p:txBody>
          <a:bodyPr>
            <a:normAutofit/>
          </a:bodyPr>
          <a:lstStyle/>
          <a:p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实际热工设备</a:t>
            </a:r>
            <a:r>
              <a:rPr lang="zh-CN" altLang="en-US" sz="32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中的工质经历</a:t>
            </a:r>
            <a:r>
              <a:rPr lang="zh-CN" altLang="en-US" sz="3200" b="1" dirty="0" smtClean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不可逆过程</a:t>
            </a:r>
            <a:endParaRPr lang="zh-CN" altLang="en-US" sz="32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为便于寻找其固有规律，往往先</a:t>
            </a:r>
            <a:r>
              <a:rPr lang="zh-CN" altLang="en-US" sz="32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忽略一些不可逆因素</a:t>
            </a:r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，先分析</a:t>
            </a:r>
            <a:r>
              <a:rPr lang="zh-CN" altLang="en-US" sz="32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理想的可逆过程</a:t>
            </a:r>
            <a:endParaRPr lang="zh-CN" altLang="en-US" sz="32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对分析结果引进各种经验系数进行修正，使之与实际过程尽量接近，达到对实际过程的近似分析</a:t>
            </a:r>
            <a:endParaRPr lang="zh-CN" altLang="en-US" sz="32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98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98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838200"/>
            <a:ext cx="8229600" cy="49530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热力过程中的工质，</a:t>
            </a:r>
            <a:r>
              <a:rPr lang="zh-CN" altLang="en-US" sz="32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有的可视为理想气体</a:t>
            </a:r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（要满足理想气体的条件，详</a:t>
            </a:r>
            <a:r>
              <a:rPr lang="zh-CN" altLang="en-US" sz="32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见</a:t>
            </a:r>
            <a:r>
              <a:rPr lang="en-US" altLang="zh-CN" sz="3200" b="1" dirty="0" smtClean="0">
                <a:latin typeface="times" panose="02020603050405020304" pitchFamily="18" charset="0"/>
                <a:ea typeface="黑体" panose="02010609060101010101" pitchFamily="49" charset="-122"/>
                <a:cs typeface="times" panose="02020603050405020304" pitchFamily="18" charset="0"/>
              </a:rPr>
              <a:t>4-1</a:t>
            </a:r>
            <a:r>
              <a:rPr lang="zh-CN" altLang="en-US" sz="32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节</a:t>
            </a:r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），其热力过程的计算有较为简单的表达式。</a:t>
            </a:r>
            <a:endParaRPr lang="zh-CN" altLang="en-US" sz="32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90000"/>
              </a:lnSpc>
            </a:pPr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有的工质（如水蒸气等），则不能按照理想气体处理。此时气体热力性质复杂，一般采用图表更为方便（下</a:t>
            </a:r>
            <a:r>
              <a:rPr lang="zh-CN" altLang="en-US" sz="32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一章</a:t>
            </a:r>
            <a:r>
              <a:rPr lang="zh-CN" altLang="en-US" sz="32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） </a:t>
            </a:r>
            <a:endParaRPr lang="zh-CN" altLang="en-US" sz="32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90000"/>
              </a:lnSpc>
            </a:pPr>
            <a:r>
              <a:rPr lang="zh-CN" altLang="en-US" sz="32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本章</a:t>
            </a:r>
            <a:r>
              <a:rPr lang="zh-CN" altLang="en-US" sz="32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仅</a:t>
            </a:r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讨论</a:t>
            </a:r>
            <a:r>
              <a:rPr lang="zh-CN" altLang="en-US" sz="32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理想气体</a:t>
            </a:r>
            <a:r>
              <a:rPr lang="zh-CN" altLang="en-US" sz="32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可逆过程</a:t>
            </a:r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的计算，并以</a:t>
            </a:r>
            <a:r>
              <a:rPr lang="en-US" altLang="zh-CN" sz="3200" b="1" dirty="0">
                <a:latin typeface="times" panose="02020603050405020304" pitchFamily="18" charset="0"/>
                <a:ea typeface="黑体" panose="02010609060101010101" pitchFamily="49" charset="-122"/>
                <a:cs typeface="times" panose="02020603050405020304" pitchFamily="18" charset="0"/>
              </a:rPr>
              <a:t>1 kg</a:t>
            </a:r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的气体为研究对象</a:t>
            </a:r>
            <a:endParaRPr lang="zh-CN" altLang="en-US" sz="32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18295"/>
            <a:ext cx="7886700" cy="1325563"/>
          </a:xfrm>
        </p:spPr>
        <p:txBody>
          <a:bodyPr/>
          <a:lstStyle/>
          <a:p>
            <a:pPr algn="l"/>
            <a:r>
              <a:rPr lang="zh-CN" altLang="en-US" sz="3200" b="1" dirty="0">
                <a:solidFill>
                  <a:schemeClr val="tx1"/>
                </a:solidFill>
                <a:ea typeface="黑体" panose="02010609060101010101" pitchFamily="49" charset="-122"/>
              </a:rPr>
              <a:t>对理想气体各种可逆热力过程的分析，可以参考以下内容和步骤进行：</a:t>
            </a:r>
            <a:endParaRPr lang="zh-CN" altLang="en-US" sz="3200" b="1" dirty="0">
              <a:solidFill>
                <a:schemeClr val="tx1"/>
              </a:solidFill>
              <a:ea typeface="黑体" panose="02010609060101010101" pitchFamily="49" charset="-122"/>
            </a:endParaRPr>
          </a:p>
        </p:txBody>
      </p:sp>
      <p:sp>
        <p:nvSpPr>
          <p:cNvPr id="819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90689"/>
            <a:ext cx="7886700" cy="4351338"/>
          </a:xfrm>
        </p:spPr>
        <p:txBody>
          <a:bodyPr/>
          <a:lstStyle/>
          <a:p>
            <a:pPr>
              <a:buFontTx/>
              <a:buNone/>
            </a:pPr>
            <a:r>
              <a:rPr lang="zh-CN" altLang="en-US" sz="3200" b="1" dirty="0">
                <a:solidFill>
                  <a:srgbClr val="FF00FF"/>
                </a:solidFill>
                <a:ea typeface="黑体" panose="02010609060101010101" pitchFamily="49" charset="-122"/>
              </a:rPr>
              <a:t>第一步</a:t>
            </a:r>
            <a:r>
              <a:rPr lang="zh-CN" altLang="en-US" sz="3200" b="1" dirty="0">
                <a:ea typeface="黑体" panose="02010609060101010101" pitchFamily="49" charset="-122"/>
              </a:rPr>
              <a:t>：建立过程方程</a:t>
            </a:r>
            <a:endParaRPr lang="zh-CN" altLang="en-US" sz="3200" b="1" dirty="0">
              <a:ea typeface="黑体" panose="02010609060101010101" pitchFamily="49" charset="-122"/>
            </a:endParaRPr>
          </a:p>
          <a:p>
            <a:pPr>
              <a:buFontTx/>
              <a:buNone/>
            </a:pPr>
            <a:endParaRPr lang="zh-CN" altLang="en-US" b="1" dirty="0">
              <a:ea typeface="黑体" panose="02010609060101010101" pitchFamily="49" charset="-122"/>
            </a:endParaRPr>
          </a:p>
          <a:p>
            <a:pPr>
              <a:buFontTx/>
              <a:buNone/>
            </a:pPr>
            <a:endParaRPr lang="zh-CN" altLang="en-US" b="1" dirty="0"/>
          </a:p>
          <a:p>
            <a:endParaRPr lang="en-US" altLang="zh-CN" dirty="0"/>
          </a:p>
        </p:txBody>
      </p:sp>
      <p:sp>
        <p:nvSpPr>
          <p:cNvPr id="81925" name="Rectangle 5"/>
          <p:cNvSpPr>
            <a:spLocks noChangeArrowheads="1"/>
          </p:cNvSpPr>
          <p:nvPr/>
        </p:nvSpPr>
        <p:spPr bwMode="auto">
          <a:xfrm>
            <a:off x="0" y="32623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81924" name="Object 4"/>
          <p:cNvGraphicFramePr>
            <a:graphicFrameLocks noChangeAspect="1"/>
          </p:cNvGraphicFramePr>
          <p:nvPr/>
        </p:nvGraphicFramePr>
        <p:xfrm>
          <a:off x="685800" y="4419600"/>
          <a:ext cx="3429000" cy="701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94" name="Equation" r:id="rId1" imgW="1625600" imgH="330200" progId="Equation.DSMT4">
                  <p:embed/>
                </p:oleObj>
              </mc:Choice>
              <mc:Fallback>
                <p:oleObj name="Equation" r:id="rId1" imgW="1625600" imgH="3302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4419600"/>
                        <a:ext cx="3429000" cy="7016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27" name="Rectangle 7"/>
          <p:cNvSpPr>
            <a:spLocks noChangeArrowheads="1"/>
          </p:cNvSpPr>
          <p:nvPr/>
        </p:nvSpPr>
        <p:spPr bwMode="auto">
          <a:xfrm>
            <a:off x="0" y="32623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81926" name="Object 6"/>
          <p:cNvGraphicFramePr>
            <a:graphicFrameLocks noChangeAspect="1"/>
          </p:cNvGraphicFramePr>
          <p:nvPr/>
        </p:nvGraphicFramePr>
        <p:xfrm>
          <a:off x="609600" y="5181600"/>
          <a:ext cx="3276600" cy="677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95" name="Equation" r:id="rId3" imgW="1612900" imgH="330200" progId="Equation.DSMT4">
                  <p:embed/>
                </p:oleObj>
              </mc:Choice>
              <mc:Fallback>
                <p:oleObj name="Equation" r:id="rId3" imgW="1612900" imgH="3302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5181600"/>
                        <a:ext cx="3276600" cy="6778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29" name="Rectangle 9"/>
          <p:cNvSpPr>
            <a:spLocks noChangeArrowheads="1"/>
          </p:cNvSpPr>
          <p:nvPr/>
        </p:nvSpPr>
        <p:spPr bwMode="auto">
          <a:xfrm>
            <a:off x="0" y="32146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81928" name="Object 8"/>
          <p:cNvGraphicFramePr>
            <a:graphicFrameLocks noChangeAspect="1"/>
          </p:cNvGraphicFramePr>
          <p:nvPr/>
        </p:nvGraphicFramePr>
        <p:xfrm>
          <a:off x="4724400" y="3886200"/>
          <a:ext cx="3886200" cy="841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96" name="Equation" r:id="rId5" imgW="1981200" imgH="431800" progId="Equation.DSMT4">
                  <p:embed/>
                </p:oleObj>
              </mc:Choice>
              <mc:Fallback>
                <p:oleObj name="Equation" r:id="rId5" imgW="1981200" imgH="4318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4400" y="3886200"/>
                        <a:ext cx="3886200" cy="8413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31" name="Rectangle 11"/>
          <p:cNvSpPr>
            <a:spLocks noChangeArrowheads="1"/>
          </p:cNvSpPr>
          <p:nvPr/>
        </p:nvSpPr>
        <p:spPr bwMode="auto">
          <a:xfrm>
            <a:off x="0" y="32146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81930" name="Object 10"/>
          <p:cNvGraphicFramePr>
            <a:graphicFrameLocks noChangeAspect="1"/>
          </p:cNvGraphicFramePr>
          <p:nvPr/>
        </p:nvGraphicFramePr>
        <p:xfrm>
          <a:off x="4724400" y="4800600"/>
          <a:ext cx="3810000" cy="820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97" name="Equation" r:id="rId7" imgW="1993900" imgH="431800" progId="Equation.DSMT4">
                  <p:embed/>
                </p:oleObj>
              </mc:Choice>
              <mc:Fallback>
                <p:oleObj name="Equation" r:id="rId7" imgW="1993900" imgH="43180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4400" y="4800600"/>
                        <a:ext cx="3810000" cy="8207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32" name="Object 12"/>
          <p:cNvGraphicFramePr>
            <a:graphicFrameLocks noChangeAspect="1"/>
          </p:cNvGraphicFramePr>
          <p:nvPr/>
        </p:nvGraphicFramePr>
        <p:xfrm>
          <a:off x="4724400" y="5715000"/>
          <a:ext cx="3810000" cy="809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98" name="Equation" r:id="rId9" imgW="1968500" imgH="419100" progId="Equation.DSMT4">
                  <p:embed/>
                </p:oleObj>
              </mc:Choice>
              <mc:Fallback>
                <p:oleObj name="Equation" r:id="rId9" imgW="1968500" imgH="419100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4400" y="5715000"/>
                        <a:ext cx="3810000" cy="8096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35" name="Rectangle 15"/>
          <p:cNvSpPr>
            <a:spLocks noChangeArrowheads="1"/>
          </p:cNvSpPr>
          <p:nvPr/>
        </p:nvSpPr>
        <p:spPr bwMode="auto">
          <a:xfrm>
            <a:off x="457200" y="2209800"/>
            <a:ext cx="8229600" cy="2062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 sz="3200" b="1" dirty="0">
                <a:solidFill>
                  <a:srgbClr val="FF00FF"/>
                </a:solidFill>
                <a:ea typeface="黑体" panose="02010609060101010101" pitchFamily="49" charset="-122"/>
              </a:rPr>
              <a:t>第二步</a:t>
            </a:r>
            <a:r>
              <a:rPr lang="zh-CN" altLang="en-US" sz="3200" b="1" dirty="0">
                <a:ea typeface="黑体" panose="02010609060101010101" pitchFamily="49" charset="-122"/>
              </a:rPr>
              <a:t>：由过程方程和理想气体状态方程，建立初、终态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p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T</a:t>
            </a:r>
            <a:r>
              <a:rPr lang="zh-CN" altLang="en-US" sz="3200" b="1" dirty="0">
                <a:ea typeface="黑体" panose="02010609060101010101" pitchFamily="49" charset="-122"/>
              </a:rPr>
              <a:t>参数之间的关系式。根据理想气体的计算式，求得</a:t>
            </a:r>
            <a:r>
              <a:rPr lang="zh-CN" altLang="en-US" sz="3200" b="1" dirty="0">
                <a:solidFill>
                  <a:srgbClr val="FF0000"/>
                </a:solidFill>
                <a:ea typeface="黑体" panose="02010609060101010101" pitchFamily="49" charset="-122"/>
              </a:rPr>
              <a:t>热力学能变化、焓变、熵变</a:t>
            </a:r>
            <a:endParaRPr lang="zh-CN" altLang="en-US" sz="3200" b="1" dirty="0">
              <a:solidFill>
                <a:srgbClr val="FF0000"/>
              </a:solidFill>
              <a:ea typeface="黑体" panose="02010609060101010101" pitchFamily="49" charset="-122"/>
            </a:endParaRPr>
          </a:p>
        </p:txBody>
      </p:sp>
      <p:graphicFrame>
        <p:nvGraphicFramePr>
          <p:cNvPr id="81936" name="Object 16"/>
          <p:cNvGraphicFramePr>
            <a:graphicFrameLocks noChangeAspect="1"/>
          </p:cNvGraphicFramePr>
          <p:nvPr/>
        </p:nvGraphicFramePr>
        <p:xfrm>
          <a:off x="685800" y="4419600"/>
          <a:ext cx="3429000" cy="701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99" name="Equation" r:id="rId11" imgW="1625600" imgH="330200" progId="Equation.DSMT4">
                  <p:embed/>
                </p:oleObj>
              </mc:Choice>
              <mc:Fallback>
                <p:oleObj name="Equation" r:id="rId11" imgW="1625600" imgH="330200" progId="Equation.DSMT4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4419600"/>
                        <a:ext cx="3429000" cy="7016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37" name="Object 17"/>
          <p:cNvGraphicFramePr>
            <a:graphicFrameLocks noChangeAspect="1"/>
          </p:cNvGraphicFramePr>
          <p:nvPr/>
        </p:nvGraphicFramePr>
        <p:xfrm>
          <a:off x="609600" y="5181600"/>
          <a:ext cx="3276600" cy="677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00" name="Equation" r:id="rId12" imgW="1612900" imgH="330200" progId="Equation.DSMT4">
                  <p:embed/>
                </p:oleObj>
              </mc:Choice>
              <mc:Fallback>
                <p:oleObj name="Equation" r:id="rId12" imgW="1612900" imgH="330200" progId="Equation.DSMT4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5181600"/>
                        <a:ext cx="3276600" cy="6778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19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19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819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819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819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819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819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819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819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en-US" sz="3200" b="1" dirty="0">
                <a:solidFill>
                  <a:schemeClr val="tx1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若按照定值比热容的情况计算（</a:t>
            </a:r>
            <a:r>
              <a:rPr lang="zh-CN" altLang="en-US" sz="3200" b="1" dirty="0" smtClean="0">
                <a:solidFill>
                  <a:schemeClr val="tx1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本章</a:t>
            </a:r>
            <a:r>
              <a:rPr lang="zh-CN" altLang="en-US" sz="3200" b="1" dirty="0" smtClean="0">
                <a:solidFill>
                  <a:schemeClr val="tx1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均</a:t>
            </a:r>
            <a:r>
              <a:rPr lang="zh-CN" altLang="en-US" sz="3200" b="1" dirty="0">
                <a:solidFill>
                  <a:schemeClr val="tx1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基于此种情况进行分析），则有</a:t>
            </a:r>
            <a:r>
              <a:rPr lang="zh-CN" altLang="en-US" sz="4000" dirty="0"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endParaRPr lang="zh-CN" altLang="en-US" sz="4000" dirty="0"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82949" name="Rectangle 5"/>
          <p:cNvSpPr>
            <a:spLocks noChangeArrowheads="1"/>
          </p:cNvSpPr>
          <p:nvPr/>
        </p:nvSpPr>
        <p:spPr bwMode="auto">
          <a:xfrm>
            <a:off x="0" y="33004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82948" name="Object 4"/>
          <p:cNvGraphicFramePr>
            <a:graphicFrameLocks noChangeAspect="1"/>
          </p:cNvGraphicFramePr>
          <p:nvPr/>
        </p:nvGraphicFramePr>
        <p:xfrm>
          <a:off x="838200" y="1752600"/>
          <a:ext cx="24384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70" name="Equation" r:id="rId1" imgW="1028065" imgH="254000" progId="Equation.DSMT4">
                  <p:embed/>
                </p:oleObj>
              </mc:Choice>
              <mc:Fallback>
                <p:oleObj name="Equation" r:id="rId1" imgW="1028065" imgH="2540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1752600"/>
                        <a:ext cx="2438400" cy="609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951" name="Rectangle 7"/>
          <p:cNvSpPr>
            <a:spLocks noChangeArrowheads="1"/>
          </p:cNvSpPr>
          <p:nvPr/>
        </p:nvSpPr>
        <p:spPr bwMode="auto">
          <a:xfrm>
            <a:off x="0" y="33004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82950" name="Object 6"/>
          <p:cNvGraphicFramePr>
            <a:graphicFrameLocks noChangeAspect="1"/>
          </p:cNvGraphicFramePr>
          <p:nvPr/>
        </p:nvGraphicFramePr>
        <p:xfrm>
          <a:off x="838200" y="2438400"/>
          <a:ext cx="2438400" cy="615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71" name="Equation" r:id="rId3" imgW="1015365" imgH="254000" progId="Equation.DSMT4">
                  <p:embed/>
                </p:oleObj>
              </mc:Choice>
              <mc:Fallback>
                <p:oleObj name="Equation" r:id="rId3" imgW="1015365" imgH="2540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2438400"/>
                        <a:ext cx="2438400" cy="6159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953" name="Rectangle 9"/>
          <p:cNvSpPr>
            <a:spLocks noChangeArrowheads="1"/>
          </p:cNvSpPr>
          <p:nvPr/>
        </p:nvSpPr>
        <p:spPr bwMode="auto">
          <a:xfrm>
            <a:off x="0" y="32146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82952" name="Object 8"/>
          <p:cNvGraphicFramePr>
            <a:graphicFrameLocks noChangeAspect="1"/>
          </p:cNvGraphicFramePr>
          <p:nvPr/>
        </p:nvGraphicFramePr>
        <p:xfrm>
          <a:off x="685800" y="3130550"/>
          <a:ext cx="30480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72" name="Equation" r:id="rId5" imgW="1409065" imgH="431800" progId="Equation.DSMT4">
                  <p:embed/>
                </p:oleObj>
              </mc:Choice>
              <mc:Fallback>
                <p:oleObj name="Equation" r:id="rId5" imgW="1409065" imgH="4318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3130550"/>
                        <a:ext cx="3048000" cy="927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955" name="Rectangle 11"/>
          <p:cNvSpPr>
            <a:spLocks noChangeArrowheads="1"/>
          </p:cNvSpPr>
          <p:nvPr/>
        </p:nvSpPr>
        <p:spPr bwMode="auto">
          <a:xfrm>
            <a:off x="0" y="32146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82954" name="Object 10"/>
          <p:cNvGraphicFramePr>
            <a:graphicFrameLocks noChangeAspect="1"/>
          </p:cNvGraphicFramePr>
          <p:nvPr/>
        </p:nvGraphicFramePr>
        <p:xfrm>
          <a:off x="685800" y="4092575"/>
          <a:ext cx="3124200" cy="941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73" name="Equation" r:id="rId7" imgW="1422400" imgH="431800" progId="Equation.DSMT4">
                  <p:embed/>
                </p:oleObj>
              </mc:Choice>
              <mc:Fallback>
                <p:oleObj name="Equation" r:id="rId7" imgW="1422400" imgH="43180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4092575"/>
                        <a:ext cx="3124200" cy="9413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957" name="Rectangle 13"/>
          <p:cNvSpPr>
            <a:spLocks noChangeArrowheads="1"/>
          </p:cNvSpPr>
          <p:nvPr/>
        </p:nvSpPr>
        <p:spPr bwMode="auto">
          <a:xfrm>
            <a:off x="0" y="32146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82956" name="Object 12"/>
          <p:cNvGraphicFramePr>
            <a:graphicFrameLocks noChangeAspect="1"/>
          </p:cNvGraphicFramePr>
          <p:nvPr/>
        </p:nvGraphicFramePr>
        <p:xfrm>
          <a:off x="609600" y="5181600"/>
          <a:ext cx="3352800" cy="1012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74" name="Equation" r:id="rId9" imgW="1422400" imgH="431800" progId="Equation.DSMT4">
                  <p:embed/>
                </p:oleObj>
              </mc:Choice>
              <mc:Fallback>
                <p:oleObj name="Equation" r:id="rId9" imgW="1422400" imgH="431800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5181600"/>
                        <a:ext cx="3352800" cy="10128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958" name="Rectangle 14"/>
          <p:cNvSpPr>
            <a:spLocks noChangeArrowheads="1"/>
          </p:cNvSpPr>
          <p:nvPr/>
        </p:nvSpPr>
        <p:spPr bwMode="auto">
          <a:xfrm>
            <a:off x="4800600" y="2362200"/>
            <a:ext cx="3733800" cy="2308225"/>
          </a:xfrm>
          <a:prstGeom prst="rect">
            <a:avLst/>
          </a:prstGeom>
          <a:noFill/>
          <a:ln w="25400">
            <a:solidFill>
              <a:schemeClr val="folHlink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lang="zh-CN" altLang="en-US" sz="2400" b="1">
                <a:ea typeface="黑体" panose="02010609060101010101" pitchFamily="49" charset="-122"/>
              </a:rPr>
              <a:t>当已知初、终态的温度和比体积时，选择第一个熵计算式最为方便</a:t>
            </a:r>
            <a:endParaRPr lang="zh-CN" altLang="en-US" sz="2400" b="1">
              <a:ea typeface="黑体" panose="02010609060101010101" pitchFamily="49" charset="-122"/>
            </a:endParaRPr>
          </a:p>
          <a:p>
            <a:r>
              <a:rPr lang="zh-CN" altLang="en-US" sz="2400" b="1">
                <a:ea typeface="黑体" panose="02010609060101010101" pitchFamily="49" charset="-122"/>
              </a:rPr>
              <a:t>而若已知初、终态的温度和压力时，可选择第二个熵计算式</a:t>
            </a:r>
            <a:endParaRPr lang="zh-CN" altLang="en-US" sz="2400" b="1">
              <a:ea typeface="黑体" panose="02010609060101010101" pitchFamily="49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ext Box 3"/>
          <p:cNvSpPr txBox="1">
            <a:spLocks noChangeArrowheads="1"/>
          </p:cNvSpPr>
          <p:nvPr/>
        </p:nvSpPr>
        <p:spPr bwMode="auto">
          <a:xfrm>
            <a:off x="762000" y="976313"/>
            <a:ext cx="7467600" cy="50167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buClr>
                <a:schemeClr val="folHlink"/>
              </a:buClr>
              <a:buFont typeface="Wingdings" panose="05000000000000000000" pitchFamily="2" charset="2"/>
              <a:buNone/>
            </a:pPr>
            <a:r>
              <a:rPr lang="zh-CN" altLang="en-US" sz="3200" b="1" dirty="0">
                <a:solidFill>
                  <a:srgbClr val="FF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第三步</a:t>
            </a:r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：</a:t>
            </a:r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将热力过程表示在</a:t>
            </a:r>
            <a:r>
              <a:rPr lang="en-US" altLang="zh-CN" sz="32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p-v</a:t>
            </a:r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图和</a:t>
            </a:r>
            <a:r>
              <a:rPr lang="en-US" altLang="zh-CN" sz="32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T-s</a:t>
            </a:r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图上。</a:t>
            </a:r>
            <a:endParaRPr lang="zh-CN" altLang="en-US" sz="32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spcBef>
                <a:spcPct val="50000"/>
              </a:spcBef>
              <a:buClr>
                <a:schemeClr val="folHlink"/>
              </a:buClr>
              <a:buFont typeface="Wingdings" panose="05000000000000000000" pitchFamily="2" charset="2"/>
              <a:buNone/>
            </a:pPr>
            <a:r>
              <a:rPr lang="zh-CN" altLang="en-US" sz="32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好处</a:t>
            </a:r>
            <a:r>
              <a:rPr lang="en-US" altLang="zh-CN" sz="32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：可直观表示出过程中工质的状态变化。</a:t>
            </a:r>
            <a:endParaRPr lang="zh-CN" altLang="en-US" sz="32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spcBef>
                <a:spcPct val="50000"/>
              </a:spcBef>
              <a:buClr>
                <a:schemeClr val="folHlink"/>
              </a:buClr>
              <a:buFont typeface="Wingdings" panose="05000000000000000000" pitchFamily="2" charset="2"/>
              <a:buNone/>
            </a:pPr>
            <a:r>
              <a:rPr lang="zh-CN" altLang="en-US" sz="32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好处</a:t>
            </a:r>
            <a:r>
              <a:rPr lang="en-US" altLang="zh-CN" sz="32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：</a:t>
            </a:r>
            <a:r>
              <a:rPr lang="zh-CN" altLang="en-US" sz="32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更重要的是</a:t>
            </a:r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，系统在过程中与外界交换的功量和热量可</a:t>
            </a:r>
            <a:r>
              <a:rPr lang="zh-CN" altLang="en-US" sz="32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在</a:t>
            </a:r>
            <a:r>
              <a:rPr lang="en-US" altLang="zh-CN" sz="32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p-v</a:t>
            </a:r>
            <a:r>
              <a:rPr lang="zh-CN" altLang="en-US" sz="32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图和</a:t>
            </a:r>
            <a:r>
              <a:rPr lang="en-US" altLang="zh-CN" sz="32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T-s</a:t>
            </a:r>
            <a:r>
              <a:rPr lang="zh-CN" altLang="en-US" sz="32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图</a:t>
            </a:r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中通过过程线在横坐标轴（或纵坐标轴）上的</a:t>
            </a:r>
            <a:r>
              <a:rPr lang="zh-CN" altLang="en-US" sz="32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投影面积</a:t>
            </a:r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表示出来，从而为分析和理解热力过程带来很大的</a:t>
            </a:r>
            <a:r>
              <a:rPr lang="zh-CN" altLang="en-US" sz="32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方便</a:t>
            </a:r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。 </a:t>
            </a:r>
            <a:endParaRPr lang="zh-CN" altLang="en-US" sz="32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2" name="Rectangle 4"/>
          <p:cNvSpPr>
            <a:spLocks noChangeArrowheads="1"/>
          </p:cNvSpPr>
          <p:nvPr/>
        </p:nvSpPr>
        <p:spPr bwMode="auto">
          <a:xfrm>
            <a:off x="1752600" y="228600"/>
            <a:ext cx="458152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en-US" altLang="zh-CN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、闭口系的</a:t>
            </a:r>
            <a:r>
              <a:rPr lang="zh-CN" altLang="en-US" sz="32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体积变化功</a:t>
            </a:r>
            <a:r>
              <a:rPr lang="zh-CN" altLang="en-US" sz="3200" b="1" dirty="0">
                <a:solidFill>
                  <a:srgbClr val="FF0000"/>
                </a:solidFill>
              </a:rPr>
              <a:t> </a:t>
            </a:r>
            <a:endParaRPr lang="zh-CN" altLang="en-US" sz="3200" b="1" dirty="0">
              <a:solidFill>
                <a:srgbClr val="FF0000"/>
              </a:solidFill>
            </a:endParaRPr>
          </a:p>
        </p:txBody>
      </p:sp>
      <p:sp>
        <p:nvSpPr>
          <p:cNvPr id="83973" name="Rectangle 5"/>
          <p:cNvSpPr>
            <a:spLocks noChangeArrowheads="1"/>
          </p:cNvSpPr>
          <p:nvPr/>
        </p:nvSpPr>
        <p:spPr bwMode="auto">
          <a:xfrm>
            <a:off x="381000" y="1106677"/>
            <a:ext cx="8334375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lang="zh-CN" altLang="en-US" sz="32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可逆过程体积变化功</a:t>
            </a:r>
            <a:r>
              <a:rPr lang="zh-CN" altLang="en-US" sz="3200" b="1" dirty="0" smtClean="0">
                <a:latin typeface="Times New Roman" panose="02020603050405020304" pitchFamily="18" charset="0"/>
                <a:ea typeface="黑体" panose="02010609060101010101" pitchFamily="49" charset="-122"/>
              </a:rPr>
              <a:t>（膨胀功</a:t>
            </a:r>
            <a:r>
              <a:rPr lang="zh-CN" altLang="en-US" sz="32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或压缩功）</a:t>
            </a:r>
            <a:r>
              <a:rPr lang="en-US" altLang="zh-CN" sz="3200" b="1" i="1" dirty="0" err="1" smtClean="0">
                <a:latin typeface="Times New Roman" panose="02020603050405020304" pitchFamily="18" charset="0"/>
                <a:ea typeface="黑体" panose="02010609060101010101" pitchFamily="49" charset="-122"/>
              </a:rPr>
              <a:t>w</a:t>
            </a:r>
            <a:r>
              <a:rPr lang="en-US" altLang="zh-CN" sz="3200" b="1" baseline="-25000" dirty="0" err="1" smtClean="0">
                <a:latin typeface="Times New Roman" panose="02020603050405020304" pitchFamily="18" charset="0"/>
                <a:ea typeface="黑体" panose="02010609060101010101" pitchFamily="49" charset="-122"/>
              </a:rPr>
              <a:t>b</a:t>
            </a:r>
            <a:r>
              <a:rPr lang="zh-CN" altLang="en-US" sz="3200" b="1" dirty="0" smtClean="0">
                <a:latin typeface="Times New Roman" panose="02020603050405020304" pitchFamily="18" charset="0"/>
                <a:ea typeface="黑体" panose="02010609060101010101" pitchFamily="49" charset="-122"/>
              </a:rPr>
              <a:t>可以</a:t>
            </a:r>
            <a:r>
              <a:rPr lang="zh-CN" altLang="en-US" sz="32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用</a:t>
            </a:r>
            <a:r>
              <a:rPr lang="en-US" altLang="zh-CN" sz="3200" b="1" i="1" dirty="0">
                <a:latin typeface="Times New Roman" panose="02020603050405020304" pitchFamily="18" charset="0"/>
                <a:ea typeface="黑体" panose="02010609060101010101" pitchFamily="49" charset="-122"/>
              </a:rPr>
              <a:t>p-v</a:t>
            </a:r>
            <a:r>
              <a:rPr lang="zh-CN" altLang="en-US" sz="32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图上过程线下方的曲边梯形面积来表示。</a:t>
            </a:r>
            <a:endParaRPr lang="zh-CN" altLang="en-US" sz="3200" b="1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83975" name="Rectangle 7"/>
          <p:cNvSpPr>
            <a:spLocks noChangeArrowheads="1"/>
          </p:cNvSpPr>
          <p:nvPr/>
        </p:nvSpPr>
        <p:spPr bwMode="auto">
          <a:xfrm>
            <a:off x="0" y="25193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83976" name="Rectangle 8"/>
          <p:cNvSpPr>
            <a:spLocks noChangeArrowheads="1"/>
          </p:cNvSpPr>
          <p:nvPr/>
        </p:nvSpPr>
        <p:spPr bwMode="auto">
          <a:xfrm>
            <a:off x="2873099" y="5958857"/>
            <a:ext cx="318548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zh-CN" altLang="en-US" b="1" dirty="0">
                <a:latin typeface="times" panose="02020603050405020304" pitchFamily="18" charset="0"/>
                <a:ea typeface="黑体" panose="02010609060101010101" pitchFamily="49" charset="-122"/>
                <a:cs typeface="times" panose="02020603050405020304" pitchFamily="18" charset="0"/>
              </a:rPr>
              <a:t>体积变化功在</a:t>
            </a:r>
            <a:r>
              <a:rPr lang="en-US" altLang="zh-CN" b="1" i="1" dirty="0">
                <a:latin typeface="times" panose="02020603050405020304" pitchFamily="18" charset="0"/>
                <a:ea typeface="黑体" panose="02010609060101010101" pitchFamily="49" charset="-122"/>
                <a:cs typeface="times" panose="02020603050405020304" pitchFamily="18" charset="0"/>
              </a:rPr>
              <a:t>p-v</a:t>
            </a:r>
            <a:r>
              <a:rPr lang="zh-CN" altLang="en-US" b="1" dirty="0">
                <a:latin typeface="times" panose="02020603050405020304" pitchFamily="18" charset="0"/>
                <a:ea typeface="黑体" panose="02010609060101010101" pitchFamily="49" charset="-122"/>
                <a:cs typeface="times" panose="02020603050405020304" pitchFamily="18" charset="0"/>
              </a:rPr>
              <a:t>图上的表示 </a:t>
            </a:r>
            <a:endParaRPr lang="zh-CN" altLang="en-US" b="1" dirty="0">
              <a:latin typeface="times" panose="02020603050405020304" pitchFamily="18" charset="0"/>
              <a:ea typeface="黑体" panose="02010609060101010101" pitchFamily="49" charset="-122"/>
              <a:cs typeface="times" panose="02020603050405020304" pitchFamily="18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3614" y="1807555"/>
            <a:ext cx="4590686" cy="401151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7047" name="Object 7"/>
          <p:cNvGraphicFramePr>
            <a:graphicFrameLocks noChangeAspect="1"/>
          </p:cNvGraphicFramePr>
          <p:nvPr/>
        </p:nvGraphicFramePr>
        <p:xfrm>
          <a:off x="533400" y="2040833"/>
          <a:ext cx="3870325" cy="581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14" name="Equation" r:id="rId1" imgW="1524000" imgH="228600" progId="Equation.DSMT4">
                  <p:embed/>
                </p:oleObj>
              </mc:Choice>
              <mc:Fallback>
                <p:oleObj name="Equation" r:id="rId1" imgW="1524000" imgH="2286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2040833"/>
                        <a:ext cx="3870325" cy="5810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7049" name="Rectangle 9"/>
          <p:cNvSpPr>
            <a:spLocks noChangeArrowheads="1"/>
          </p:cNvSpPr>
          <p:nvPr/>
        </p:nvSpPr>
        <p:spPr bwMode="auto">
          <a:xfrm>
            <a:off x="0" y="5112646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87048" name="Object 8"/>
          <p:cNvGraphicFramePr>
            <a:graphicFrameLocks noChangeAspect="1"/>
          </p:cNvGraphicFramePr>
          <p:nvPr/>
        </p:nvGraphicFramePr>
        <p:xfrm>
          <a:off x="1219200" y="3336233"/>
          <a:ext cx="1905000" cy="519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15" name="Equation" r:id="rId3" imgW="838200" imgH="228600" progId="Equation.DSMT4">
                  <p:embed/>
                </p:oleObj>
              </mc:Choice>
              <mc:Fallback>
                <p:oleObj name="Equation" r:id="rId3" imgW="838200" imgH="2286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3336233"/>
                        <a:ext cx="1905000" cy="5191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7050" name="Line 10"/>
          <p:cNvSpPr>
            <a:spLocks noChangeShapeType="1"/>
          </p:cNvSpPr>
          <p:nvPr/>
        </p:nvSpPr>
        <p:spPr bwMode="auto">
          <a:xfrm>
            <a:off x="2133600" y="2650433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7052" name="Rectangle 12"/>
          <p:cNvSpPr>
            <a:spLocks noChangeArrowheads="1"/>
          </p:cNvSpPr>
          <p:nvPr/>
        </p:nvSpPr>
        <p:spPr bwMode="auto">
          <a:xfrm>
            <a:off x="457200" y="2650433"/>
            <a:ext cx="16065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sz="2800">
                <a:latin typeface="Tahoma" panose="020B0604030504040204" pitchFamily="34" charset="0"/>
                <a:ea typeface="黑体" panose="02010609060101010101" pitchFamily="49" charset="-122"/>
              </a:rPr>
              <a:t>微分形式</a:t>
            </a:r>
            <a:endParaRPr kumimoji="1" lang="zh-CN" altLang="en-US" sz="2800">
              <a:latin typeface="Tahoma" panose="020B0604030504040204" pitchFamily="34" charset="0"/>
              <a:ea typeface="黑体" panose="02010609060101010101" pitchFamily="49" charset="-122"/>
            </a:endParaRPr>
          </a:p>
        </p:txBody>
      </p:sp>
      <p:sp>
        <p:nvSpPr>
          <p:cNvPr id="87054" name="Rectangle 14"/>
          <p:cNvSpPr>
            <a:spLocks noChangeArrowheads="1"/>
          </p:cNvSpPr>
          <p:nvPr/>
        </p:nvSpPr>
        <p:spPr bwMode="auto">
          <a:xfrm>
            <a:off x="0" y="503168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87053" name="Object 13"/>
          <p:cNvGraphicFramePr>
            <a:graphicFrameLocks noChangeAspect="1"/>
          </p:cNvGraphicFramePr>
          <p:nvPr/>
        </p:nvGraphicFramePr>
        <p:xfrm>
          <a:off x="5791200" y="2574233"/>
          <a:ext cx="2133600" cy="920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16" name="Equation" r:id="rId5" imgW="901065" imgH="393700" progId="Equation.DSMT4">
                  <p:embed/>
                </p:oleObj>
              </mc:Choice>
              <mc:Fallback>
                <p:oleObj name="Equation" r:id="rId5" imgW="901065" imgH="39370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1200" y="2574233"/>
                        <a:ext cx="2133600" cy="920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7055" name="Object 15"/>
          <p:cNvGraphicFramePr>
            <a:graphicFrameLocks noChangeAspect="1"/>
          </p:cNvGraphicFramePr>
          <p:nvPr/>
        </p:nvGraphicFramePr>
        <p:xfrm>
          <a:off x="5791200" y="5012633"/>
          <a:ext cx="2209800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17" name="Equation" r:id="rId7" imgW="926465" imgH="203200" progId="Equation.DSMT4">
                  <p:embed/>
                </p:oleObj>
              </mc:Choice>
              <mc:Fallback>
                <p:oleObj name="Equation" r:id="rId7" imgW="926465" imgH="203200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1200" y="5012633"/>
                        <a:ext cx="2209800" cy="4794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7057" name="Line 17"/>
          <p:cNvSpPr>
            <a:spLocks noChangeShapeType="1"/>
          </p:cNvSpPr>
          <p:nvPr/>
        </p:nvSpPr>
        <p:spPr bwMode="auto">
          <a:xfrm>
            <a:off x="7391400" y="3564833"/>
            <a:ext cx="0" cy="1447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7058" name="Rectangle 18"/>
          <p:cNvSpPr>
            <a:spLocks noChangeArrowheads="1"/>
          </p:cNvSpPr>
          <p:nvPr/>
        </p:nvSpPr>
        <p:spPr bwMode="auto">
          <a:xfrm>
            <a:off x="5791200" y="4174433"/>
            <a:ext cx="1326004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800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h=</a:t>
            </a:r>
            <a:r>
              <a:rPr kumimoji="1" lang="en-US" altLang="zh-CN" sz="2800" i="1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u</a:t>
            </a:r>
            <a:r>
              <a:rPr kumimoji="1" lang="en-US" altLang="zh-CN" sz="2800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+</a:t>
            </a:r>
            <a:r>
              <a:rPr kumimoji="1" lang="en-US" altLang="zh-CN" sz="2800" i="1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pv</a:t>
            </a:r>
            <a:endParaRPr kumimoji="1" lang="en-US" altLang="zh-CN" sz="2800" i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87059" name="Line 19"/>
          <p:cNvSpPr>
            <a:spLocks noChangeShapeType="1"/>
          </p:cNvSpPr>
          <p:nvPr/>
        </p:nvSpPr>
        <p:spPr bwMode="auto">
          <a:xfrm>
            <a:off x="2286000" y="3869633"/>
            <a:ext cx="0" cy="1219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7060" name="Rectangle 20"/>
          <p:cNvSpPr>
            <a:spLocks noChangeArrowheads="1"/>
          </p:cNvSpPr>
          <p:nvPr/>
        </p:nvSpPr>
        <p:spPr bwMode="auto">
          <a:xfrm>
            <a:off x="609600" y="3869633"/>
            <a:ext cx="16065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sz="2800">
                <a:latin typeface="Tahoma" panose="020B0604030504040204" pitchFamily="34" charset="0"/>
                <a:ea typeface="黑体" panose="02010609060101010101" pitchFamily="49" charset="-122"/>
              </a:rPr>
              <a:t>可逆过程</a:t>
            </a:r>
            <a:endParaRPr kumimoji="1" lang="zh-CN" altLang="en-US" sz="2800">
              <a:latin typeface="Tahoma" panose="020B0604030504040204" pitchFamily="34" charset="0"/>
              <a:ea typeface="黑体" panose="02010609060101010101" pitchFamily="49" charset="-122"/>
            </a:endParaRPr>
          </a:p>
        </p:txBody>
      </p:sp>
      <p:graphicFrame>
        <p:nvGraphicFramePr>
          <p:cNvPr id="87061" name="Object 21"/>
          <p:cNvGraphicFramePr>
            <a:graphicFrameLocks noChangeAspect="1"/>
          </p:cNvGraphicFramePr>
          <p:nvPr/>
        </p:nvGraphicFramePr>
        <p:xfrm>
          <a:off x="838200" y="4479233"/>
          <a:ext cx="1219200" cy="427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18" name="Equation" r:id="rId9" imgW="571500" imgH="203200" progId="Equation.DSMT4">
                  <p:embed/>
                </p:oleObj>
              </mc:Choice>
              <mc:Fallback>
                <p:oleObj name="Equation" r:id="rId9" imgW="571500" imgH="203200" progId="Equation.DSMT4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4479233"/>
                        <a:ext cx="1219200" cy="4270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7063" name="Object 23"/>
          <p:cNvGraphicFramePr>
            <a:graphicFrameLocks noChangeAspect="1"/>
          </p:cNvGraphicFramePr>
          <p:nvPr/>
        </p:nvGraphicFramePr>
        <p:xfrm>
          <a:off x="1219200" y="5165033"/>
          <a:ext cx="2047875" cy="519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19" name="Equation" r:id="rId11" imgW="901065" imgH="228600" progId="Equation.DSMT4">
                  <p:embed/>
                </p:oleObj>
              </mc:Choice>
              <mc:Fallback>
                <p:oleObj name="Equation" r:id="rId11" imgW="901065" imgH="228600" progId="Equation.DSMT4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5165033"/>
                        <a:ext cx="2047875" cy="5191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7064" name="Rectangle 24"/>
          <p:cNvSpPr>
            <a:spLocks noChangeArrowheads="1"/>
          </p:cNvSpPr>
          <p:nvPr/>
        </p:nvSpPr>
        <p:spPr bwMode="auto">
          <a:xfrm>
            <a:off x="5638800" y="3564833"/>
            <a:ext cx="16065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sz="2800">
                <a:latin typeface="Tahoma" panose="020B0604030504040204" pitchFamily="34" charset="0"/>
                <a:ea typeface="黑体" panose="02010609060101010101" pitchFamily="49" charset="-122"/>
              </a:rPr>
              <a:t>焓的定义</a:t>
            </a:r>
            <a:endParaRPr kumimoji="1" lang="zh-CN" altLang="en-US" sz="2800">
              <a:latin typeface="Tahoma" panose="020B0604030504040204" pitchFamily="34" charset="0"/>
              <a:ea typeface="黑体" panose="02010609060101010101" pitchFamily="49" charset="-122"/>
            </a:endParaRPr>
          </a:p>
        </p:txBody>
      </p:sp>
      <p:sp>
        <p:nvSpPr>
          <p:cNvPr id="87065" name="Rectangle 25"/>
          <p:cNvSpPr>
            <a:spLocks noChangeArrowheads="1"/>
          </p:cNvSpPr>
          <p:nvPr/>
        </p:nvSpPr>
        <p:spPr bwMode="auto">
          <a:xfrm>
            <a:off x="5334000" y="2055121"/>
            <a:ext cx="33845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sz="2800">
                <a:latin typeface="Tahoma" panose="020B0604030504040204" pitchFamily="34" charset="0"/>
                <a:ea typeface="黑体" panose="02010609060101010101" pitchFamily="49" charset="-122"/>
              </a:rPr>
              <a:t>熵的另一种定义方式</a:t>
            </a:r>
            <a:endParaRPr kumimoji="1" lang="zh-CN" altLang="en-US" sz="2800">
              <a:latin typeface="Tahoma" panose="020B0604030504040204" pitchFamily="34" charset="0"/>
              <a:ea typeface="黑体" panose="02010609060101010101" pitchFamily="49" charset="-122"/>
            </a:endParaRPr>
          </a:p>
        </p:txBody>
      </p:sp>
      <p:sp>
        <p:nvSpPr>
          <p:cNvPr id="87066" name="AutoShape 26"/>
          <p:cNvSpPr/>
          <p:nvPr/>
        </p:nvSpPr>
        <p:spPr bwMode="auto">
          <a:xfrm rot="5400000">
            <a:off x="4343400" y="3869633"/>
            <a:ext cx="381000" cy="4191000"/>
          </a:xfrm>
          <a:prstGeom prst="rightBrace">
            <a:avLst>
              <a:gd name="adj1" fmla="val 91667"/>
              <a:gd name="adj2" fmla="val 50000"/>
            </a:avLst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87067" name="Object 27"/>
          <p:cNvGraphicFramePr>
            <a:graphicFrameLocks noChangeAspect="1"/>
          </p:cNvGraphicFramePr>
          <p:nvPr/>
        </p:nvGraphicFramePr>
        <p:xfrm>
          <a:off x="3733800" y="6155633"/>
          <a:ext cx="1733550" cy="547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20" name="Equation" r:id="rId13" imgW="723900" imgH="228600" progId="Equation.DSMT4">
                  <p:embed/>
                </p:oleObj>
              </mc:Choice>
              <mc:Fallback>
                <p:oleObj name="Equation" r:id="rId13" imgW="723900" imgH="228600" progId="Equation.DSMT4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3800" y="6155633"/>
                        <a:ext cx="1733550" cy="547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7069" name="Rectangle 29"/>
          <p:cNvSpPr>
            <a:spLocks noChangeArrowheads="1"/>
          </p:cNvSpPr>
          <p:nvPr/>
        </p:nvSpPr>
        <p:spPr bwMode="auto">
          <a:xfrm>
            <a:off x="393700" y="1085953"/>
            <a:ext cx="84137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36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技术功</a:t>
            </a:r>
            <a:r>
              <a:rPr lang="zh-CN" altLang="en-US" sz="3600" dirty="0">
                <a:latin typeface="黑体" panose="02010609060101010101" pitchFamily="49" charset="-122"/>
                <a:ea typeface="黑体" panose="02010609060101010101" pitchFamily="49" charset="-122"/>
              </a:rPr>
              <a:t>如何与坐标图上的</a:t>
            </a:r>
            <a:r>
              <a:rPr lang="zh-CN" altLang="en-US" sz="36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面积</a:t>
            </a:r>
            <a:r>
              <a:rPr lang="zh-CN" altLang="en-US" sz="3600" dirty="0">
                <a:latin typeface="黑体" panose="02010609060101010101" pitchFamily="49" charset="-122"/>
                <a:ea typeface="黑体" panose="02010609060101010101" pitchFamily="49" charset="-122"/>
              </a:rPr>
              <a:t>产生联系？</a:t>
            </a:r>
            <a:endParaRPr lang="zh-CN" altLang="en-US" sz="36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3" name="Rectangle 2"/>
          <p:cNvSpPr>
            <a:spLocks noChangeArrowheads="1"/>
          </p:cNvSpPr>
          <p:nvPr/>
        </p:nvSpPr>
        <p:spPr bwMode="auto">
          <a:xfrm>
            <a:off x="112781" y="294009"/>
            <a:ext cx="8975587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r>
              <a:rPr lang="en-US" altLang="zh-CN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、气体稳定流过开口</a:t>
            </a:r>
            <a:r>
              <a:rPr lang="zh-CN" altLang="en-US" sz="32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系时</a:t>
            </a:r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，与外界交换</a:t>
            </a:r>
            <a:r>
              <a:rPr lang="zh-CN" altLang="en-US" sz="32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的</a:t>
            </a:r>
            <a:r>
              <a:rPr lang="zh-CN" altLang="en-US" sz="3200" b="1" dirty="0" smtClean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技术功</a:t>
            </a:r>
            <a:r>
              <a:rPr lang="zh-CN" altLang="en-US" sz="3200" b="1" dirty="0" smtClean="0">
                <a:solidFill>
                  <a:srgbClr val="FF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endParaRPr lang="zh-CN" altLang="en-US" sz="3200" b="1" dirty="0">
              <a:solidFill>
                <a:srgbClr val="FF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custDataLst>
      <p:tags r:id="rId15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70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870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87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87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870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870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870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870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87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870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870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870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870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870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870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870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052" grpId="0"/>
      <p:bldP spid="87058" grpId="0"/>
      <p:bldP spid="87060" grpId="0"/>
      <p:bldP spid="87064" grpId="0"/>
      <p:bldP spid="8706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9092" name="Object 4"/>
          <p:cNvGraphicFramePr>
            <a:graphicFrameLocks noChangeAspect="1"/>
          </p:cNvGraphicFramePr>
          <p:nvPr/>
        </p:nvGraphicFramePr>
        <p:xfrm>
          <a:off x="3276600" y="533400"/>
          <a:ext cx="2438400" cy="769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16" name="Equation" r:id="rId1" imgW="723900" imgH="228600" progId="Equation.DSMT4">
                  <p:embed/>
                </p:oleObj>
              </mc:Choice>
              <mc:Fallback>
                <p:oleObj name="Equation" r:id="rId1" imgW="723900" imgH="2286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533400"/>
                        <a:ext cx="2438400" cy="769938"/>
                      </a:xfrm>
                      <a:prstGeom prst="rect">
                        <a:avLst/>
                      </a:prstGeom>
                      <a:noFill/>
                      <a:ln w="25400">
                        <a:solidFill>
                          <a:schemeClr val="folHlink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9093" name="Rectangle 5"/>
          <p:cNvSpPr>
            <a:spLocks noChangeArrowheads="1"/>
          </p:cNvSpPr>
          <p:nvPr/>
        </p:nvSpPr>
        <p:spPr bwMode="auto">
          <a:xfrm>
            <a:off x="609600" y="1501964"/>
            <a:ext cx="7848600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lang="zh-CN" altLang="en-US" sz="3200" dirty="0">
                <a:latin typeface="黑体" panose="02010609060101010101" pitchFamily="49" charset="-122"/>
                <a:ea typeface="黑体" panose="02010609060101010101" pitchFamily="49" charset="-122"/>
              </a:rPr>
              <a:t>气体稳定流过开口</a:t>
            </a:r>
            <a:r>
              <a:rPr lang="zh-CN" altLang="en-US" sz="32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系时</a:t>
            </a:r>
            <a:r>
              <a:rPr lang="zh-CN" altLang="en-US" sz="3200" dirty="0">
                <a:latin typeface="黑体" panose="02010609060101010101" pitchFamily="49" charset="-122"/>
                <a:ea typeface="黑体" panose="02010609060101010101" pitchFamily="49" charset="-122"/>
              </a:rPr>
              <a:t>，可逆过程中与外界交换的</a:t>
            </a:r>
            <a:r>
              <a:rPr lang="zh-CN" altLang="en-US" sz="32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技术功</a:t>
            </a:r>
            <a:r>
              <a:rPr lang="zh-CN" altLang="en-US" sz="3200" dirty="0">
                <a:latin typeface="黑体" panose="02010609060101010101" pitchFamily="49" charset="-122"/>
                <a:ea typeface="黑体" panose="02010609060101010101" pitchFamily="49" charset="-122"/>
              </a:rPr>
              <a:t>等于</a:t>
            </a:r>
            <a:r>
              <a:rPr lang="en-US" altLang="zh-CN" sz="3200" i="1" dirty="0">
                <a:latin typeface="黑体" panose="02010609060101010101" pitchFamily="49" charset="-122"/>
                <a:ea typeface="黑体" panose="02010609060101010101" pitchFamily="49" charset="-122"/>
              </a:rPr>
              <a:t>p-v</a:t>
            </a:r>
            <a:r>
              <a:rPr lang="zh-CN" altLang="en-US" sz="3200" dirty="0">
                <a:latin typeface="黑体" panose="02010609060101010101" pitchFamily="49" charset="-122"/>
                <a:ea typeface="黑体" panose="02010609060101010101" pitchFamily="49" charset="-122"/>
              </a:rPr>
              <a:t>图上过程线在</a:t>
            </a:r>
            <a:r>
              <a:rPr lang="zh-CN" altLang="en-US" sz="32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纵坐标轴上的投影面积</a:t>
            </a:r>
            <a:r>
              <a:rPr lang="zh-CN" altLang="en-US" sz="2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endParaRPr lang="zh-CN" altLang="en-US" sz="2800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9095" name="Rectangle 7"/>
          <p:cNvSpPr>
            <a:spLocks noChangeArrowheads="1"/>
          </p:cNvSpPr>
          <p:nvPr/>
        </p:nvSpPr>
        <p:spPr bwMode="auto">
          <a:xfrm>
            <a:off x="0" y="24907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89096" name="Rectangle 8"/>
          <p:cNvSpPr>
            <a:spLocks noChangeArrowheads="1"/>
          </p:cNvSpPr>
          <p:nvPr/>
        </p:nvSpPr>
        <p:spPr bwMode="auto">
          <a:xfrm>
            <a:off x="3244850" y="6261378"/>
            <a:ext cx="261481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zh-CN" altLang="en-US" b="1" dirty="0">
                <a:latin typeface="times" panose="02020603050405020304" pitchFamily="18" charset="0"/>
                <a:ea typeface="黑体" panose="02010609060101010101" pitchFamily="49" charset="-122"/>
                <a:cs typeface="times" panose="02020603050405020304" pitchFamily="18" charset="0"/>
              </a:rPr>
              <a:t>技术功在</a:t>
            </a:r>
            <a:r>
              <a:rPr lang="en-US" altLang="zh-CN" b="1" i="1" dirty="0">
                <a:latin typeface="times" panose="02020603050405020304" pitchFamily="18" charset="0"/>
                <a:ea typeface="黑体" panose="02010609060101010101" pitchFamily="49" charset="-122"/>
                <a:cs typeface="times" panose="02020603050405020304" pitchFamily="18" charset="0"/>
              </a:rPr>
              <a:t>p-v</a:t>
            </a:r>
            <a:r>
              <a:rPr lang="zh-CN" altLang="en-US" b="1" dirty="0">
                <a:latin typeface="times" panose="02020603050405020304" pitchFamily="18" charset="0"/>
                <a:ea typeface="黑体" panose="02010609060101010101" pitchFamily="49" charset="-122"/>
                <a:cs typeface="times" panose="02020603050405020304" pitchFamily="18" charset="0"/>
              </a:rPr>
              <a:t>图上的表示 </a:t>
            </a:r>
            <a:endParaRPr lang="zh-CN" altLang="en-US" b="1" dirty="0">
              <a:latin typeface="times" panose="02020603050405020304" pitchFamily="18" charset="0"/>
              <a:ea typeface="黑体" panose="02010609060101010101" pitchFamily="49" charset="-122"/>
              <a:cs typeface="times" panose="02020603050405020304" pitchFamily="18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3041" y="2954032"/>
            <a:ext cx="3657917" cy="34262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2"/>
          <p:cNvSpPr>
            <a:spLocks noChangeArrowheads="1"/>
          </p:cNvSpPr>
          <p:nvPr/>
        </p:nvSpPr>
        <p:spPr bwMode="auto">
          <a:xfrm>
            <a:off x="457200" y="381000"/>
            <a:ext cx="83058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lang="en-US" altLang="zh-CN" sz="3200" b="1"/>
              <a:t>3</a:t>
            </a:r>
            <a:r>
              <a:rPr lang="zh-CN" altLang="en-US" sz="3200" b="1"/>
              <a:t>、</a:t>
            </a:r>
            <a:r>
              <a:rPr lang="zh-CN" altLang="en-US" sz="3200">
                <a:latin typeface="黑体" panose="02010609060101010101" pitchFamily="49" charset="-122"/>
                <a:ea typeface="黑体" panose="02010609060101010101" pitchFamily="49" charset="-122"/>
              </a:rPr>
              <a:t>热量</a:t>
            </a:r>
            <a:r>
              <a:rPr lang="zh-CN" altLang="en-US" sz="3200" b="1"/>
              <a:t> </a:t>
            </a:r>
            <a:endParaRPr lang="zh-CN" altLang="en-US" sz="3200" b="1"/>
          </a:p>
        </p:txBody>
      </p:sp>
      <p:sp>
        <p:nvSpPr>
          <p:cNvPr id="90115" name="Rectangle 3"/>
          <p:cNvSpPr>
            <a:spLocks noChangeArrowheads="1"/>
          </p:cNvSpPr>
          <p:nvPr/>
        </p:nvSpPr>
        <p:spPr bwMode="auto">
          <a:xfrm>
            <a:off x="0" y="25193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90120" name="Rectangle 8"/>
          <p:cNvSpPr>
            <a:spLocks noChangeArrowheads="1"/>
          </p:cNvSpPr>
          <p:nvPr/>
        </p:nvSpPr>
        <p:spPr bwMode="auto">
          <a:xfrm>
            <a:off x="0" y="33289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90119" name="Object 7"/>
          <p:cNvGraphicFramePr>
            <a:graphicFrameLocks noChangeAspect="1"/>
          </p:cNvGraphicFramePr>
          <p:nvPr/>
        </p:nvGraphicFramePr>
        <p:xfrm>
          <a:off x="2667000" y="381000"/>
          <a:ext cx="1828800" cy="641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40" name="Equation" r:id="rId1" imgW="571500" imgH="203200" progId="Equation.DSMT4">
                  <p:embed/>
                </p:oleObj>
              </mc:Choice>
              <mc:Fallback>
                <p:oleObj name="Equation" r:id="rId1" imgW="571500" imgH="2032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381000"/>
                        <a:ext cx="1828800" cy="6413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0122" name="Rectangle 10"/>
          <p:cNvSpPr>
            <a:spLocks noChangeArrowheads="1"/>
          </p:cNvSpPr>
          <p:nvPr/>
        </p:nvSpPr>
        <p:spPr bwMode="auto">
          <a:xfrm>
            <a:off x="0" y="25146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90123" name="Rectangle 11"/>
          <p:cNvSpPr>
            <a:spLocks noChangeArrowheads="1"/>
          </p:cNvSpPr>
          <p:nvPr/>
        </p:nvSpPr>
        <p:spPr bwMode="auto">
          <a:xfrm>
            <a:off x="3388567" y="5025604"/>
            <a:ext cx="236686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zh-CN" altLang="en-US" b="1" dirty="0">
                <a:latin typeface="times" panose="02020603050405020304" pitchFamily="18" charset="0"/>
                <a:ea typeface="黑体" panose="02010609060101010101" pitchFamily="49" charset="-122"/>
                <a:cs typeface="times" panose="02020603050405020304" pitchFamily="18" charset="0"/>
              </a:rPr>
              <a:t>热量在</a:t>
            </a:r>
            <a:r>
              <a:rPr lang="en-US" altLang="zh-CN" b="1" i="1" dirty="0">
                <a:latin typeface="times" panose="02020603050405020304" pitchFamily="18" charset="0"/>
                <a:ea typeface="黑体" panose="02010609060101010101" pitchFamily="49" charset="-122"/>
                <a:cs typeface="times" panose="02020603050405020304" pitchFamily="18" charset="0"/>
              </a:rPr>
              <a:t>T-s</a:t>
            </a:r>
            <a:r>
              <a:rPr lang="zh-CN" altLang="en-US" b="1" dirty="0">
                <a:latin typeface="times" panose="02020603050405020304" pitchFamily="18" charset="0"/>
                <a:ea typeface="黑体" panose="02010609060101010101" pitchFamily="49" charset="-122"/>
                <a:cs typeface="times" panose="02020603050405020304" pitchFamily="18" charset="0"/>
              </a:rPr>
              <a:t>图上的表示 </a:t>
            </a:r>
            <a:endParaRPr lang="zh-CN" altLang="en-US" b="1" dirty="0">
              <a:latin typeface="times" panose="02020603050405020304" pitchFamily="18" charset="0"/>
              <a:ea typeface="黑体" panose="02010609060101010101" pitchFamily="49" charset="-122"/>
              <a:cs typeface="times" panose="02020603050405020304" pitchFamily="18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3420" y="1496813"/>
            <a:ext cx="3584759" cy="349331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04007"/>
            <a:ext cx="7886700" cy="1325563"/>
          </a:xfrm>
        </p:spPr>
        <p:txBody>
          <a:bodyPr/>
          <a:lstStyle/>
          <a:p>
            <a:r>
              <a:rPr lang="zh-CN" altLang="en-US" sz="3200" dirty="0">
                <a:solidFill>
                  <a:srgbClr val="FF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第四步</a:t>
            </a:r>
            <a:r>
              <a:rPr lang="zh-CN" altLang="en-US" sz="3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：</a:t>
            </a:r>
            <a:endParaRPr lang="zh-CN" altLang="en-US" sz="32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911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609600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3200" dirty="0">
                <a:latin typeface="黑体" panose="02010609060101010101" pitchFamily="49" charset="-122"/>
                <a:ea typeface="黑体" panose="02010609060101010101" pitchFamily="49" charset="-122"/>
              </a:rPr>
              <a:t>根据热力学第一定律表达式</a:t>
            </a:r>
            <a:endParaRPr lang="zh-CN" altLang="en-US" sz="32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endParaRPr lang="zh-CN" altLang="en-US" dirty="0"/>
          </a:p>
          <a:p>
            <a:endParaRPr lang="zh-CN" altLang="en-US" dirty="0"/>
          </a:p>
          <a:p>
            <a:pPr>
              <a:buFontTx/>
              <a:buNone/>
            </a:pPr>
            <a:endParaRPr lang="en-US" altLang="zh-CN" dirty="0"/>
          </a:p>
        </p:txBody>
      </p:sp>
      <p:sp>
        <p:nvSpPr>
          <p:cNvPr id="91144" name="Rectangle 8"/>
          <p:cNvSpPr>
            <a:spLocks noChangeArrowheads="1"/>
          </p:cNvSpPr>
          <p:nvPr/>
        </p:nvSpPr>
        <p:spPr bwMode="auto">
          <a:xfrm>
            <a:off x="381000" y="3962400"/>
            <a:ext cx="8458200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 sz="3200">
                <a:latin typeface="黑体" panose="02010609060101010101" pitchFamily="49" charset="-122"/>
                <a:ea typeface="黑体" panose="02010609060101010101" pitchFamily="49" charset="-122"/>
              </a:rPr>
              <a:t>结合过程特征，计算过程中系统与外界交换的热量和功量。</a:t>
            </a:r>
            <a:endParaRPr lang="zh-CN" altLang="en-US" sz="32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91145" name="Object 9"/>
          <p:cNvGraphicFramePr>
            <a:graphicFrameLocks noChangeAspect="1"/>
          </p:cNvGraphicFramePr>
          <p:nvPr/>
        </p:nvGraphicFramePr>
        <p:xfrm>
          <a:off x="2667000" y="3124200"/>
          <a:ext cx="2170758" cy="6855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68" name="Equation" r:id="rId1" imgW="723900" imgH="228600" progId="Equation.DSMT4">
                  <p:embed/>
                </p:oleObj>
              </mc:Choice>
              <mc:Fallback>
                <p:oleObj name="Equation" r:id="rId1" imgW="723900" imgH="2286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3124200"/>
                        <a:ext cx="2170758" cy="68550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1147" name="Rectangle 11"/>
          <p:cNvSpPr>
            <a:spLocks noChangeArrowheads="1"/>
          </p:cNvSpPr>
          <p:nvPr/>
        </p:nvSpPr>
        <p:spPr bwMode="auto">
          <a:xfrm>
            <a:off x="345385" y="5313680"/>
            <a:ext cx="8415130" cy="1077218"/>
          </a:xfrm>
          <a:prstGeom prst="rect">
            <a:avLst/>
          </a:prstGeom>
          <a:noFill/>
          <a:ln w="25400">
            <a:solidFill>
              <a:schemeClr val="folHlink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zh-CN" altLang="en-US" sz="3200" dirty="0">
                <a:latin typeface="黑体" panose="02010609060101010101" pitchFamily="49" charset="-122"/>
                <a:ea typeface="黑体" panose="02010609060101010101" pitchFamily="49" charset="-122"/>
              </a:rPr>
              <a:t>对于</a:t>
            </a:r>
            <a:r>
              <a:rPr lang="zh-CN" altLang="en-US" sz="32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闭口系</a:t>
            </a:r>
            <a:r>
              <a:rPr lang="zh-CN" altLang="en-US" sz="3200" dirty="0">
                <a:latin typeface="黑体" panose="02010609060101010101" pitchFamily="49" charset="-122"/>
                <a:ea typeface="黑体" panose="02010609060101010101" pitchFamily="49" charset="-122"/>
              </a:rPr>
              <a:t>，一般计算</a:t>
            </a:r>
            <a:r>
              <a:rPr lang="zh-CN" altLang="en-US" sz="32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体积变化</a:t>
            </a:r>
            <a:r>
              <a:rPr lang="zh-CN" altLang="en-US" sz="3200" dirty="0" smtClean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功</a:t>
            </a:r>
            <a:r>
              <a:rPr lang="zh-CN" altLang="en-US" sz="32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；</a:t>
            </a:r>
            <a:endParaRPr lang="zh-CN" altLang="en-US" sz="32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zh-CN" altLang="en-US" sz="3200" dirty="0">
                <a:latin typeface="黑体" panose="02010609060101010101" pitchFamily="49" charset="-122"/>
                <a:ea typeface="黑体" panose="02010609060101010101" pitchFamily="49" charset="-122"/>
              </a:rPr>
              <a:t>对于</a:t>
            </a:r>
            <a:r>
              <a:rPr lang="zh-CN" altLang="en-US" sz="32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稳定流动开口系</a:t>
            </a:r>
            <a:r>
              <a:rPr lang="zh-CN" altLang="en-US" sz="3200" dirty="0">
                <a:latin typeface="黑体" panose="02010609060101010101" pitchFamily="49" charset="-122"/>
                <a:ea typeface="黑体" panose="02010609060101010101" pitchFamily="49" charset="-122"/>
              </a:rPr>
              <a:t>，一般</a:t>
            </a:r>
            <a:r>
              <a:rPr lang="zh-CN" altLang="en-US" sz="32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计算</a:t>
            </a:r>
            <a:r>
              <a:rPr lang="zh-CN" altLang="en-US" sz="3200" dirty="0" smtClean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轴功</a:t>
            </a:r>
            <a:r>
              <a:rPr lang="zh-CN" altLang="en-US" sz="32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或</a:t>
            </a:r>
            <a:r>
              <a:rPr lang="zh-CN" altLang="en-US" sz="3200" dirty="0" smtClean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技术功</a:t>
            </a:r>
            <a:r>
              <a:rPr lang="zh-CN" altLang="en-US" sz="32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endParaRPr lang="zh-CN" altLang="en-US" sz="32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2667000" y="2363787"/>
          <a:ext cx="2093913" cy="608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69" name="Equation" r:id="rId3" imgW="16764000" imgH="4876800" progId="Equation.DSMT4">
                  <p:embed/>
                </p:oleObj>
              </mc:Choice>
              <mc:Fallback>
                <p:oleObj name="Equation" r:id="rId3" imgW="16764000" imgH="4876800" progId="Equation.DSMT4">
                  <p:embed/>
                  <p:pic>
                    <p:nvPicPr>
                      <p:cNvPr id="0" name="对象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2363787"/>
                        <a:ext cx="2093913" cy="6080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45533"/>
            <a:ext cx="8229600" cy="1143000"/>
          </a:xfrm>
        </p:spPr>
        <p:txBody>
          <a:bodyPr/>
          <a:lstStyle/>
          <a:p>
            <a:r>
              <a:rPr lang="zh-CN" altLang="en-US" sz="4000" b="1" dirty="0">
                <a:ea typeface="黑体" panose="02010609060101010101" pitchFamily="49" charset="-122"/>
              </a:rPr>
              <a:t>需要注意以上各步骤的适用条件</a:t>
            </a:r>
            <a:endParaRPr lang="zh-CN" altLang="en-US" sz="4000" b="1" dirty="0">
              <a:ea typeface="黑体" panose="02010609060101010101" pitchFamily="49" charset="-122"/>
            </a:endParaRPr>
          </a:p>
        </p:txBody>
      </p:sp>
      <p:sp>
        <p:nvSpPr>
          <p:cNvPr id="921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912937"/>
            <a:ext cx="82296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32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32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、无论是理想气体、实际气体或是水蒸气，它们所进行的热力过程都可以表示在状态图（</a:t>
            </a:r>
            <a:r>
              <a:rPr lang="en-US" altLang="zh-CN" sz="3200" b="1" i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p-v</a:t>
            </a:r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图和</a:t>
            </a:r>
            <a:r>
              <a:rPr lang="en-US" altLang="zh-CN" sz="32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T-s</a:t>
            </a:r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图</a:t>
            </a:r>
            <a:r>
              <a:rPr lang="zh-CN" altLang="en-US" sz="32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）上。其中，可逆过程在状态图上用连续的实线表示；对于不可逆过程，若过程的初、终态确定，则可将这两个状态点表示在状态图上，中间状态用虚线连接。</a:t>
            </a:r>
            <a:endParaRPr lang="en-US" altLang="zh-CN" sz="3200" b="1" dirty="0" smtClean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351182" y="718930"/>
            <a:ext cx="8229600" cy="7520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32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32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、由于在推导</a:t>
            </a:r>
            <a:endParaRPr lang="en-US" altLang="zh-CN" sz="3200" b="1" dirty="0" smtClean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5" name="Object 27"/>
          <p:cNvGraphicFramePr>
            <a:graphicFrameLocks noChangeAspect="1"/>
          </p:cNvGraphicFramePr>
          <p:nvPr/>
        </p:nvGraphicFramePr>
        <p:xfrm>
          <a:off x="3489122" y="1639957"/>
          <a:ext cx="1953720" cy="6172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20" name="Equation" r:id="rId1" imgW="723900" imgH="228600" progId="Equation.DSMT4">
                  <p:embed/>
                </p:oleObj>
              </mc:Choice>
              <mc:Fallback>
                <p:oleObj name="Equation" r:id="rId1" imgW="723900" imgH="228600" progId="Equation.DSMT4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89122" y="1639957"/>
                        <a:ext cx="1953720" cy="61722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27"/>
          <p:cNvGraphicFramePr>
            <a:graphicFrameLocks noChangeAspect="1"/>
          </p:cNvGraphicFramePr>
          <p:nvPr/>
        </p:nvGraphicFramePr>
        <p:xfrm>
          <a:off x="911397" y="1639957"/>
          <a:ext cx="1816668" cy="6172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21" name="Equation" r:id="rId3" imgW="16154400" imgH="5486400" progId="Equation.DSMT4">
                  <p:embed/>
                </p:oleObj>
              </mc:Choice>
              <mc:Fallback>
                <p:oleObj name="Equation" r:id="rId3" imgW="16154400" imgH="5486400" progId="Equation.DSMT4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1397" y="1639957"/>
                        <a:ext cx="1816668" cy="61722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7"/>
          <p:cNvGraphicFramePr>
            <a:graphicFrameLocks noChangeAspect="1"/>
          </p:cNvGraphicFramePr>
          <p:nvPr/>
        </p:nvGraphicFramePr>
        <p:xfrm>
          <a:off x="6294126" y="1708775"/>
          <a:ext cx="1542380" cy="5484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22" name="Equation" r:id="rId5" imgW="571500" imgH="203200" progId="Equation.DSMT4">
                  <p:embed/>
                </p:oleObj>
              </mc:Choice>
              <mc:Fallback>
                <p:oleObj name="Equation" r:id="rId5" imgW="571500" imgH="2032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94126" y="1708775"/>
                        <a:ext cx="1542380" cy="54840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3"/>
          <p:cNvSpPr txBox="1">
            <a:spLocks noChangeArrowheads="1"/>
          </p:cNvSpPr>
          <p:nvPr/>
        </p:nvSpPr>
        <p:spPr>
          <a:xfrm>
            <a:off x="417443" y="2733260"/>
            <a:ext cx="7991061" cy="212366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None/>
            </a:pPr>
            <a:r>
              <a:rPr lang="zh-CN" altLang="en-US" sz="32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时均用到了“可逆过程”这一前提条件，故在用</a:t>
            </a:r>
            <a:r>
              <a:rPr lang="en-US" altLang="zh-CN" sz="32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p-v</a:t>
            </a:r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图和</a:t>
            </a:r>
            <a:r>
              <a:rPr lang="en-US" altLang="zh-CN" sz="32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T-s</a:t>
            </a:r>
            <a:r>
              <a:rPr lang="zh-CN" altLang="en-US" sz="32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图上的投影面积表示</a:t>
            </a:r>
            <a:r>
              <a:rPr lang="en-US" altLang="zh-CN" sz="3200" b="1" i="1" dirty="0" err="1" smtClean="0">
                <a:latin typeface="Times New Roman" panose="02020603050405020304" pitchFamily="18" charset="0"/>
                <a:ea typeface="黑体" panose="02010609060101010101" pitchFamily="49" charset="-122"/>
              </a:rPr>
              <a:t>w</a:t>
            </a:r>
            <a:r>
              <a:rPr lang="en-US" altLang="zh-CN" sz="3200" b="1" baseline="-25000" dirty="0" err="1" smtClean="0">
                <a:latin typeface="Times New Roman" panose="02020603050405020304" pitchFamily="18" charset="0"/>
                <a:ea typeface="黑体" panose="02010609060101010101" pitchFamily="49" charset="-122"/>
              </a:rPr>
              <a:t>b</a:t>
            </a:r>
            <a:r>
              <a:rPr lang="zh-CN" altLang="en-US" sz="32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en-US" altLang="zh-CN" sz="3200" b="1" i="1" dirty="0" err="1" smtClean="0">
                <a:latin typeface="Times New Roman" panose="02020603050405020304" pitchFamily="18" charset="0"/>
                <a:ea typeface="黑体" panose="02010609060101010101" pitchFamily="49" charset="-122"/>
              </a:rPr>
              <a:t>w</a:t>
            </a:r>
            <a:r>
              <a:rPr lang="en-US" altLang="zh-CN" sz="3200" b="1" baseline="-25000" dirty="0" err="1" smtClean="0">
                <a:latin typeface="Times New Roman" panose="02020603050405020304" pitchFamily="18" charset="0"/>
                <a:ea typeface="黑体" panose="02010609060101010101" pitchFamily="49" charset="-122"/>
              </a:rPr>
              <a:t>t</a:t>
            </a:r>
            <a:r>
              <a:rPr lang="zh-CN" altLang="en-US" sz="32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和</a:t>
            </a:r>
            <a:r>
              <a:rPr lang="en-US" altLang="zh-CN" sz="3200" b="1" i="1" dirty="0" smtClean="0">
                <a:latin typeface="Times New Roman" panose="02020603050405020304" pitchFamily="18" charset="0"/>
                <a:ea typeface="黑体" panose="02010609060101010101" pitchFamily="49" charset="-122"/>
              </a:rPr>
              <a:t> q</a:t>
            </a:r>
            <a:r>
              <a:rPr lang="zh-CN" altLang="en-US" sz="32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时，限于可逆过程</a:t>
            </a:r>
            <a:endParaRPr lang="en-US" altLang="zh-CN" sz="3200" b="1" dirty="0" smtClean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844495" y="5115124"/>
            <a:ext cx="7564009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 smtClean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一般来说，不可逆过程（虚线）的投影面积没有物理含义</a:t>
            </a:r>
            <a:endParaRPr lang="zh-CN" altLang="en-US" sz="2800" dirty="0">
              <a:solidFill>
                <a:srgbClr val="0070C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95300" y="685800"/>
            <a:ext cx="8229600" cy="4525963"/>
          </a:xfrm>
        </p:spPr>
        <p:txBody>
          <a:bodyPr/>
          <a:lstStyle/>
          <a:p>
            <a:pPr marL="0" indent="0">
              <a:lnSpc>
                <a:spcPct val="90000"/>
              </a:lnSpc>
              <a:buNone/>
            </a:pPr>
            <a:r>
              <a:rPr lang="en-US" altLang="zh-CN" sz="32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lang="zh-CN" altLang="en-US" sz="32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、状态方程</a:t>
            </a:r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以及各种状态参数变化的计算式并无可逆过程条件的限制，但只对理想气体适用</a:t>
            </a:r>
            <a:endParaRPr lang="zh-CN" altLang="en-US" sz="32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sz="32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4</a:t>
            </a:r>
            <a:r>
              <a:rPr lang="zh-CN" altLang="en-US" sz="32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、能量守恒方程对工质的种类（理想气体</a:t>
            </a:r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、实际气体和水蒸气等</a:t>
            </a:r>
            <a:r>
              <a:rPr lang="zh-CN" altLang="en-US" sz="32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）无限制，对过程是否可逆也无限制。</a:t>
            </a:r>
            <a:r>
              <a:rPr lang="zh-CN" altLang="en-US" dirty="0" smtClean="0">
                <a:latin typeface="黑体" panose="02010609060101010101" pitchFamily="49" charset="-122"/>
                <a:ea typeface="黑体" panose="02010609060101010101" pitchFamily="49" charset="-122"/>
              </a:rPr>
              <a:t>   </a:t>
            </a:r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92165" name="Object 5"/>
          <p:cNvGraphicFramePr>
            <a:graphicFrameLocks noChangeAspect="1"/>
          </p:cNvGraphicFramePr>
          <p:nvPr/>
        </p:nvGraphicFramePr>
        <p:xfrm>
          <a:off x="5390323" y="4084786"/>
          <a:ext cx="2170758" cy="6855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22" name="Equation" r:id="rId1" imgW="723900" imgH="228600" progId="Equation.DSMT4">
                  <p:embed/>
                </p:oleObj>
              </mc:Choice>
              <mc:Fallback>
                <p:oleObj name="Equation" r:id="rId1" imgW="723900" imgH="2286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0323" y="4084786"/>
                        <a:ext cx="2170758" cy="68550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1646238" y="4122738"/>
          <a:ext cx="2093912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23" name="Equation" r:id="rId3" imgW="16764000" imgH="4876800" progId="Equation.DSMT4">
                  <p:embed/>
                </p:oleObj>
              </mc:Choice>
              <mc:Fallback>
                <p:oleObj name="Equation" r:id="rId3" imgW="16764000" imgH="4876800" progId="Equation.DSMT4">
                  <p:embed/>
                  <p:pic>
                    <p:nvPicPr>
                      <p:cNvPr id="0" name="对象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46238" y="4122738"/>
                        <a:ext cx="2093912" cy="609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38997" y="352634"/>
            <a:ext cx="7886700" cy="1325563"/>
          </a:xfrm>
        </p:spPr>
        <p:txBody>
          <a:bodyPr/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特别</a:t>
            </a:r>
            <a:r>
              <a:rPr lang="zh-CN" altLang="en-US" dirty="0" smtClean="0">
                <a:latin typeface="黑体" panose="02010609060101010101" pitchFamily="49" charset="-122"/>
                <a:ea typeface="黑体" panose="02010609060101010101" pitchFamily="49" charset="-122"/>
              </a:rPr>
              <a:t>地，对于可逆过程（</a:t>
            </a:r>
            <a:r>
              <a:rPr lang="zh-CN" altLang="en-US" dirty="0" smtClean="0">
                <a:latin typeface="黑体" panose="02010609060101010101" pitchFamily="49" charset="-122"/>
                <a:ea typeface="黑体" panose="02010609060101010101" pitchFamily="49" charset="-122"/>
              </a:rPr>
              <a:t>本章所</a:t>
            </a:r>
            <a:r>
              <a:rPr lang="zh-CN" altLang="en-US" dirty="0" smtClean="0">
                <a:latin typeface="黑体" panose="02010609060101010101" pitchFamily="49" charset="-122"/>
                <a:ea typeface="黑体" panose="02010609060101010101" pitchFamily="49" charset="-122"/>
              </a:rPr>
              <a:t>讨论的过程均为可逆过程）</a:t>
            </a:r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671927" y="1989211"/>
          <a:ext cx="2093912" cy="608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954" name="Equation" r:id="rId1" imgW="16764000" imgH="4876800" progId="Equation.DSMT4">
                  <p:embed/>
                </p:oleObj>
              </mc:Choice>
              <mc:Fallback>
                <p:oleObj name="Equation" r:id="rId1" imgW="16764000" imgH="4876800" progId="Equation.DSMT4">
                  <p:embed/>
                  <p:pic>
                    <p:nvPicPr>
                      <p:cNvPr id="0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1927" y="1989211"/>
                        <a:ext cx="2093912" cy="6080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右箭头 4"/>
          <p:cNvSpPr/>
          <p:nvPr/>
        </p:nvSpPr>
        <p:spPr>
          <a:xfrm rot="5400000">
            <a:off x="722093" y="3442475"/>
            <a:ext cx="1596887" cy="23853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235537" y="4399192"/>
          <a:ext cx="4838700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955" name="Equation" r:id="rId3" imgW="38709600" imgH="7924800" progId="Equation.DSMT4">
                  <p:embed/>
                </p:oleObj>
              </mc:Choice>
              <mc:Fallback>
                <p:oleObj name="Equation" r:id="rId3" imgW="38709600" imgH="7924800" progId="Equation.DSMT4">
                  <p:embed/>
                  <p:pic>
                    <p:nvPicPr>
                      <p:cNvPr id="0" name="对象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5537" y="4399192"/>
                        <a:ext cx="4838700" cy="990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5"/>
          <p:cNvGraphicFramePr>
            <a:graphicFrameLocks noChangeAspect="1"/>
          </p:cNvGraphicFramePr>
          <p:nvPr/>
        </p:nvGraphicFramePr>
        <p:xfrm>
          <a:off x="6035678" y="1945285"/>
          <a:ext cx="2170758" cy="6855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956" name="Equation" r:id="rId5" imgW="723900" imgH="228600" progId="Equation.DSMT4">
                  <p:embed/>
                </p:oleObj>
              </mc:Choice>
              <mc:Fallback>
                <p:oleObj name="Equation" r:id="rId5" imgW="723900" imgH="2286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35678" y="1945285"/>
                        <a:ext cx="2170758" cy="68550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右箭头 9"/>
          <p:cNvSpPr/>
          <p:nvPr/>
        </p:nvSpPr>
        <p:spPr>
          <a:xfrm rot="5400000">
            <a:off x="6203344" y="3359519"/>
            <a:ext cx="1596887" cy="23853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5848562" y="4365413"/>
          <a:ext cx="2857500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957" name="Equation" r:id="rId7" imgW="22860000" imgH="7924800" progId="Equation.DSMT4">
                  <p:embed/>
                </p:oleObj>
              </mc:Choice>
              <mc:Fallback>
                <p:oleObj name="Equation" r:id="rId7" imgW="22860000" imgH="7924800" progId="Equation.DSMT4">
                  <p:embed/>
                  <p:pic>
                    <p:nvPicPr>
                      <p:cNvPr id="0" name="对象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48562" y="4365413"/>
                        <a:ext cx="2857500" cy="990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3" name="直接连接符 12"/>
          <p:cNvCxnSpPr/>
          <p:nvPr/>
        </p:nvCxnSpPr>
        <p:spPr>
          <a:xfrm flipH="1">
            <a:off x="5630819" y="1781386"/>
            <a:ext cx="20320" cy="3833707"/>
          </a:xfrm>
          <a:prstGeom prst="line">
            <a:avLst/>
          </a:prstGeom>
          <a:ln w="190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矩形 22"/>
          <p:cNvSpPr/>
          <p:nvPr/>
        </p:nvSpPr>
        <p:spPr>
          <a:xfrm>
            <a:off x="7270432" y="2935768"/>
            <a:ext cx="936004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dirty="0" smtClean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过程可逆</a:t>
            </a:r>
            <a:endParaRPr lang="zh-CN" altLang="en-US" dirty="0"/>
          </a:p>
        </p:txBody>
      </p:sp>
      <p:sp>
        <p:nvSpPr>
          <p:cNvPr id="14" name="矩形 13"/>
          <p:cNvSpPr/>
          <p:nvPr/>
        </p:nvSpPr>
        <p:spPr>
          <a:xfrm>
            <a:off x="1718883" y="2935768"/>
            <a:ext cx="936004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dirty="0" smtClean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过程可逆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9" name="Rectangle 5"/>
          <p:cNvSpPr>
            <a:spLocks noChangeArrowheads="1"/>
          </p:cNvSpPr>
          <p:nvPr/>
        </p:nvSpPr>
        <p:spPr bwMode="auto">
          <a:xfrm>
            <a:off x="457200" y="471488"/>
            <a:ext cx="8153400" cy="5584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lang="zh-CN" altLang="en-US" sz="36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理想气体的可逆过程是多种多样的，实际过程通常理想化为某些带有</a:t>
            </a:r>
            <a:r>
              <a:rPr lang="zh-CN" altLang="en-US" sz="36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简单特征</a:t>
            </a:r>
            <a:r>
              <a:rPr lang="zh-CN" altLang="en-US" sz="36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的热力过程，包括</a:t>
            </a:r>
            <a:endParaRPr lang="zh-CN" altLang="en-US" sz="3600" b="1" dirty="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zh-CN" altLang="en-US" sz="36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    </a:t>
            </a:r>
            <a:r>
              <a:rPr lang="zh-CN" altLang="en-US" sz="36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定容过程</a:t>
            </a:r>
            <a:endParaRPr lang="zh-CN" altLang="en-US" sz="3600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zh-CN" altLang="en-US" sz="36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    定压过程</a:t>
            </a:r>
            <a:endParaRPr lang="zh-CN" altLang="en-US" sz="3600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zh-CN" altLang="en-US" sz="36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    定温过程</a:t>
            </a:r>
            <a:endParaRPr lang="zh-CN" altLang="en-US" sz="3600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zh-CN" altLang="en-US" sz="36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    和绝热过程</a:t>
            </a:r>
            <a:r>
              <a:rPr lang="zh-CN" altLang="en-US" sz="36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（也叫</a:t>
            </a:r>
            <a:r>
              <a:rPr lang="zh-CN" altLang="en-US" sz="36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定熵过程</a:t>
            </a:r>
            <a:r>
              <a:rPr lang="zh-CN" altLang="en-US" sz="36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），</a:t>
            </a:r>
            <a:endParaRPr lang="zh-CN" altLang="en-US" sz="3600" dirty="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zh-CN" altLang="en-US" sz="36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这四种过程称为</a:t>
            </a:r>
            <a:r>
              <a:rPr lang="zh-CN" altLang="en-US" sz="36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基本热力过程</a:t>
            </a:r>
            <a:r>
              <a:rPr lang="zh-CN" altLang="en-US" sz="36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。</a:t>
            </a:r>
            <a:endParaRPr lang="zh-CN" altLang="en-US" sz="3600" b="1" dirty="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zh-CN" altLang="en-US" sz="36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下面将采用以上步骤对四种基本热力过程逐一进行分析。 </a:t>
            </a:r>
            <a:endParaRPr lang="zh-CN" altLang="en-US" sz="3600" b="1" dirty="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093304" y="1679851"/>
            <a:ext cx="6781800" cy="1470025"/>
          </a:xfrm>
          <a:noFill/>
        </p:spPr>
        <p:txBody>
          <a:bodyPr>
            <a:normAutofit/>
          </a:bodyPr>
          <a:lstStyle/>
          <a:p>
            <a:pPr>
              <a:buFontTx/>
              <a:buChar char="§"/>
            </a:pPr>
            <a:r>
              <a:rPr lang="en-US" altLang="zh-CN" sz="4400" dirty="0">
                <a:latin typeface="黑体" panose="02010609060101010101" pitchFamily="49" charset="-122"/>
                <a:ea typeface="黑体" panose="02010609060101010101" pitchFamily="49" charset="-122"/>
              </a:rPr>
              <a:t>8</a:t>
            </a:r>
            <a:r>
              <a:rPr lang="zh-CN" altLang="en-US" sz="4400" dirty="0">
                <a:latin typeface="黑体" panose="02010609060101010101" pitchFamily="49" charset="-122"/>
                <a:ea typeface="黑体" panose="02010609060101010101" pitchFamily="49" charset="-122"/>
              </a:rPr>
              <a:t>－</a:t>
            </a:r>
            <a:r>
              <a:rPr lang="en-US" altLang="zh-CN" sz="4400" dirty="0">
                <a:latin typeface="黑体" panose="02010609060101010101" pitchFamily="49" charset="-122"/>
                <a:ea typeface="黑体" panose="02010609060101010101" pitchFamily="49" charset="-122"/>
              </a:rPr>
              <a:t>2 </a:t>
            </a:r>
            <a:r>
              <a:rPr lang="zh-CN" altLang="en-US" sz="4400" b="1" dirty="0">
                <a:latin typeface="黑体" panose="02010609060101010101" pitchFamily="49" charset="-122"/>
                <a:ea typeface="黑体" panose="02010609060101010101" pitchFamily="49" charset="-122"/>
              </a:rPr>
              <a:t>四</a:t>
            </a:r>
            <a:r>
              <a:rPr lang="zh-CN" altLang="en-US" sz="44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种基本热力过程</a:t>
            </a:r>
            <a:endParaRPr lang="zh-CN" altLang="en-US" sz="4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09600" y="533400"/>
            <a:ext cx="7772400" cy="801688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40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一、定</a:t>
            </a:r>
            <a:r>
              <a:rPr lang="zh-CN" altLang="en-US" sz="4000" b="1" dirty="0">
                <a:latin typeface="黑体" panose="02010609060101010101" pitchFamily="49" charset="-122"/>
                <a:ea typeface="黑体" panose="02010609060101010101" pitchFamily="49" charset="-122"/>
              </a:rPr>
              <a:t>容过程</a:t>
            </a:r>
            <a:endParaRPr lang="zh-CN" altLang="en-US" sz="40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2291" name="Rectangle 3"/>
          <p:cNvSpPr>
            <a:spLocks noChangeArrowheads="1"/>
          </p:cNvSpPr>
          <p:nvPr/>
        </p:nvSpPr>
        <p:spPr bwMode="auto">
          <a:xfrm>
            <a:off x="1524000" y="1371600"/>
            <a:ext cx="4419600" cy="801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Ø"/>
            </a:pPr>
            <a:r>
              <a:rPr kumimoji="1" lang="zh-CN" altLang="en-US" sz="3600" b="1" dirty="0">
                <a:latin typeface="黑体" panose="02010609060101010101" pitchFamily="49" charset="-122"/>
                <a:ea typeface="黑体" panose="02010609060101010101" pitchFamily="49" charset="-122"/>
              </a:rPr>
              <a:t>过程方程</a:t>
            </a:r>
            <a:endParaRPr kumimoji="1" lang="zh-CN" altLang="en-US" sz="3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12292" name="Object 4"/>
          <p:cNvGraphicFramePr>
            <a:graphicFrameLocks noChangeAspect="1"/>
          </p:cNvGraphicFramePr>
          <p:nvPr/>
        </p:nvGraphicFramePr>
        <p:xfrm>
          <a:off x="3200400" y="2514600"/>
          <a:ext cx="2895600" cy="1893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8" name="公式" r:id="rId1" imgW="414655" imgH="271145" progId="Equation.3">
                  <p:embed/>
                </p:oleObj>
              </mc:Choice>
              <mc:Fallback>
                <p:oleObj name="公式" r:id="rId1" imgW="414655" imgH="271145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0" y="2514600"/>
                        <a:ext cx="2895600" cy="1893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94" name="Rectangle 6"/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12293" name="Object 5"/>
          <p:cNvGraphicFramePr>
            <a:graphicFrameLocks noChangeAspect="1"/>
          </p:cNvGraphicFramePr>
          <p:nvPr/>
        </p:nvGraphicFramePr>
        <p:xfrm>
          <a:off x="3200400" y="4668838"/>
          <a:ext cx="1981200" cy="1079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9" name="Equation" r:id="rId3" imgW="419100" imgH="228600" progId="Equation.DSMT4">
                  <p:embed/>
                </p:oleObj>
              </mc:Choice>
              <mc:Fallback>
                <p:oleObj name="Equation" r:id="rId3" imgW="419100" imgH="2286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0" y="4668838"/>
                        <a:ext cx="1981200" cy="1079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ChangeArrowheads="1"/>
          </p:cNvSpPr>
          <p:nvPr/>
        </p:nvSpPr>
        <p:spPr bwMode="auto">
          <a:xfrm>
            <a:off x="533399" y="381000"/>
            <a:ext cx="8517835" cy="801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Ø"/>
            </a:pPr>
            <a:r>
              <a:rPr kumimoji="1" lang="zh-CN" altLang="en-US" sz="3600" b="1" dirty="0">
                <a:latin typeface="黑体" panose="02010609060101010101" pitchFamily="49" charset="-122"/>
                <a:ea typeface="黑体" panose="02010609060101010101" pitchFamily="49" charset="-122"/>
              </a:rPr>
              <a:t>初、终态参数的</a:t>
            </a:r>
            <a:r>
              <a:rPr kumimoji="1" lang="zh-CN" altLang="en-US" sz="36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关系</a:t>
            </a:r>
            <a:r>
              <a:rPr kumimoji="1" lang="zh-CN" altLang="en-US" sz="36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及⊿</a:t>
            </a:r>
            <a:r>
              <a:rPr kumimoji="1" lang="en-US" altLang="zh-CN" sz="36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u</a:t>
            </a:r>
            <a:r>
              <a:rPr kumimoji="1" lang="zh-CN" altLang="en-US" sz="36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、⊿</a:t>
            </a:r>
            <a:r>
              <a:rPr kumimoji="1" lang="en-US" altLang="zh-CN" sz="36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h</a:t>
            </a:r>
            <a:r>
              <a:rPr kumimoji="1" lang="zh-CN" altLang="en-US" sz="36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和⊿</a:t>
            </a:r>
            <a:r>
              <a:rPr kumimoji="1" lang="en-US" altLang="zh-CN" sz="36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s</a:t>
            </a:r>
            <a:endParaRPr kumimoji="1" lang="zh-CN" altLang="en-US" sz="3600" b="1" i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3315" name="Object 3"/>
          <p:cNvGraphicFramePr>
            <a:graphicFrameLocks noChangeAspect="1"/>
          </p:cNvGraphicFramePr>
          <p:nvPr/>
        </p:nvGraphicFramePr>
        <p:xfrm>
          <a:off x="533399" y="1394792"/>
          <a:ext cx="5638800" cy="1430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7" name="Equation" r:id="rId1" imgW="1270000" imgH="321945" progId="Equation.3">
                  <p:embed/>
                </p:oleObj>
              </mc:Choice>
              <mc:Fallback>
                <p:oleObj name="Equation" r:id="rId1" imgW="1270000" imgH="321945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399" y="1394792"/>
                        <a:ext cx="5638800" cy="1430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996" y="3153257"/>
            <a:ext cx="7861704" cy="2711589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3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3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ext Box 2"/>
          <p:cNvSpPr txBox="1">
            <a:spLocks noChangeArrowheads="1"/>
          </p:cNvSpPr>
          <p:nvPr/>
        </p:nvSpPr>
        <p:spPr bwMode="auto">
          <a:xfrm>
            <a:off x="533400" y="304800"/>
            <a:ext cx="708660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buClr>
                <a:schemeClr val="folHlink"/>
              </a:buClr>
              <a:buFont typeface="Wingdings" panose="05000000000000000000" pitchFamily="2" charset="2"/>
              <a:buChar char="Ø"/>
            </a:pPr>
            <a:r>
              <a:rPr kumimoji="1" lang="en-US" altLang="zh-CN" sz="3600" i="1" dirty="0">
                <a:latin typeface="Times New Roman" panose="02020603050405020304" pitchFamily="18" charset="0"/>
              </a:rPr>
              <a:t>  p-v</a:t>
            </a:r>
            <a:r>
              <a:rPr kumimoji="1" lang="zh-CN" altLang="en-US" sz="3600" b="1" dirty="0">
                <a:latin typeface="黑体" panose="02010609060101010101" pitchFamily="49" charset="-122"/>
                <a:ea typeface="黑体" panose="02010609060101010101" pitchFamily="49" charset="-122"/>
              </a:rPr>
              <a:t>图和</a:t>
            </a:r>
            <a:r>
              <a:rPr kumimoji="1" lang="en-US" altLang="zh-CN" sz="3600" i="1" dirty="0">
                <a:latin typeface="Times New Roman" panose="02020603050405020304" pitchFamily="18" charset="0"/>
              </a:rPr>
              <a:t>T-s</a:t>
            </a:r>
            <a:r>
              <a:rPr kumimoji="1" lang="zh-CN" altLang="en-US" sz="3600" b="1" dirty="0">
                <a:latin typeface="黑体" panose="02010609060101010101" pitchFamily="49" charset="-122"/>
                <a:ea typeface="黑体" panose="02010609060101010101" pitchFamily="49" charset="-122"/>
              </a:rPr>
              <a:t>图</a:t>
            </a:r>
            <a:endParaRPr kumimoji="1" lang="zh-CN" altLang="en-US" sz="3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15363" name="Object 3"/>
          <p:cNvGraphicFramePr>
            <a:graphicFrameLocks noChangeAspect="1"/>
          </p:cNvGraphicFramePr>
          <p:nvPr/>
        </p:nvGraphicFramePr>
        <p:xfrm>
          <a:off x="3646488" y="4800600"/>
          <a:ext cx="2187575" cy="1028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1" name="Equation" r:id="rId1" imgW="20116800" imgH="9448800" progId="Equation.DSMT4">
                  <p:embed/>
                </p:oleObj>
              </mc:Choice>
              <mc:Fallback>
                <p:oleObj name="Equation" r:id="rId1" imgW="20116800" imgH="94488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46488" y="4800600"/>
                        <a:ext cx="2187575" cy="1028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65" name="AutoShape 5"/>
          <p:cNvSpPr>
            <a:spLocks noChangeArrowheads="1"/>
          </p:cNvSpPr>
          <p:nvPr/>
        </p:nvSpPr>
        <p:spPr bwMode="auto">
          <a:xfrm>
            <a:off x="5562600" y="5257800"/>
            <a:ext cx="762000" cy="228600"/>
          </a:xfrm>
          <a:prstGeom prst="rightArrow">
            <a:avLst>
              <a:gd name="adj1" fmla="val 50000"/>
              <a:gd name="adj2" fmla="val 83333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368" name="Rectangle 8"/>
          <p:cNvSpPr>
            <a:spLocks noChangeArrowheads="1"/>
          </p:cNvSpPr>
          <p:nvPr/>
        </p:nvSpPr>
        <p:spPr bwMode="auto">
          <a:xfrm>
            <a:off x="5486400" y="5867400"/>
            <a:ext cx="33845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温度越高，斜率越大</a:t>
            </a:r>
            <a:endParaRPr kumimoji="1" lang="zh-CN" altLang="en-US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5369" name="Rectangle 9"/>
          <p:cNvSpPr>
            <a:spLocks noChangeArrowheads="1"/>
          </p:cNvSpPr>
          <p:nvPr/>
        </p:nvSpPr>
        <p:spPr bwMode="auto">
          <a:xfrm>
            <a:off x="7086600" y="1836738"/>
            <a:ext cx="762000" cy="381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3106" y="1281113"/>
            <a:ext cx="6686894" cy="3384724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7862" y="4781494"/>
            <a:ext cx="1720938" cy="1085906"/>
          </a:xfrm>
          <a:prstGeom prst="rect">
            <a:avLst/>
          </a:prstGeom>
        </p:spPr>
      </p:pic>
      <p:sp>
        <p:nvSpPr>
          <p:cNvPr id="13" name="AutoShape 5"/>
          <p:cNvSpPr>
            <a:spLocks noChangeArrowheads="1"/>
          </p:cNvSpPr>
          <p:nvPr/>
        </p:nvSpPr>
        <p:spPr bwMode="auto">
          <a:xfrm>
            <a:off x="2660374" y="5200650"/>
            <a:ext cx="762000" cy="228600"/>
          </a:xfrm>
          <a:prstGeom prst="rightArrow">
            <a:avLst>
              <a:gd name="adj1" fmla="val 50000"/>
              <a:gd name="adj2" fmla="val 83333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" name="Rectangle 8"/>
          <p:cNvSpPr>
            <a:spLocks noChangeArrowheads="1"/>
          </p:cNvSpPr>
          <p:nvPr/>
        </p:nvSpPr>
        <p:spPr bwMode="auto">
          <a:xfrm>
            <a:off x="1555169" y="5005008"/>
            <a:ext cx="90281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sz="2800" dirty="0" smtClean="0">
                <a:latin typeface="Times New Roman" panose="02020603050405020304" pitchFamily="18" charset="0"/>
              </a:rPr>
              <a:t>定容</a:t>
            </a:r>
            <a:endParaRPr kumimoji="1" lang="zh-CN" altLang="en-US" sz="28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ChangeArrowheads="1"/>
          </p:cNvSpPr>
          <p:nvPr/>
        </p:nvSpPr>
        <p:spPr bwMode="auto">
          <a:xfrm>
            <a:off x="533400" y="381000"/>
            <a:ext cx="7010400" cy="801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Ø"/>
            </a:pPr>
            <a:r>
              <a:rPr kumimoji="1" lang="zh-CN" altLang="en-US" sz="3600" b="1" dirty="0">
                <a:latin typeface="黑体" panose="02010609060101010101" pitchFamily="49" charset="-122"/>
                <a:ea typeface="黑体" panose="02010609060101010101" pitchFamily="49" charset="-122"/>
              </a:rPr>
              <a:t>过程中能量的转换</a:t>
            </a:r>
            <a:endParaRPr kumimoji="1" lang="zh-CN" altLang="en-US" sz="3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4340" name="AutoShape 4"/>
          <p:cNvSpPr>
            <a:spLocks noChangeArrowheads="1"/>
          </p:cNvSpPr>
          <p:nvPr/>
        </p:nvSpPr>
        <p:spPr bwMode="auto">
          <a:xfrm>
            <a:off x="914400" y="2667000"/>
            <a:ext cx="914400" cy="304800"/>
          </a:xfrm>
          <a:custGeom>
            <a:avLst/>
            <a:gdLst>
              <a:gd name="G0" fmla="+- 16200 0 0"/>
              <a:gd name="G1" fmla="+- 5400 0 0"/>
              <a:gd name="G2" fmla="+- 21600 0 5400"/>
              <a:gd name="G3" fmla="+- 10800 0 5400"/>
              <a:gd name="G4" fmla="+- 21600 0 16200"/>
              <a:gd name="G5" fmla="*/ G4 G3 10800"/>
              <a:gd name="G6" fmla="+- 21600 0 G5"/>
              <a:gd name="T0" fmla="*/ 16200 w 21600"/>
              <a:gd name="T1" fmla="*/ 0 h 21600"/>
              <a:gd name="T2" fmla="*/ 0 w 21600"/>
              <a:gd name="T3" fmla="*/ 10800 h 21600"/>
              <a:gd name="T4" fmla="*/ 16200 w 21600"/>
              <a:gd name="T5" fmla="*/ 21600 h 21600"/>
              <a:gd name="T6" fmla="*/ 21600 w 21600"/>
              <a:gd name="T7" fmla="*/ 10800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G1 h 21600"/>
              <a:gd name="T14" fmla="*/ G6 w 21600"/>
              <a:gd name="T15" fmla="*/ G2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close/>
              </a:path>
            </a:pathLst>
          </a:custGeom>
          <a:solidFill>
            <a:srgbClr val="FF0000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14341" name="Object 5"/>
          <p:cNvGraphicFramePr>
            <a:graphicFrameLocks noChangeAspect="1"/>
          </p:cNvGraphicFramePr>
          <p:nvPr/>
        </p:nvGraphicFramePr>
        <p:xfrm>
          <a:off x="2286000" y="1524000"/>
          <a:ext cx="1239838" cy="528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15" name="Equation" r:id="rId1" imgW="279400" imgH="118745" progId="Equation.3">
                  <p:embed/>
                </p:oleObj>
              </mc:Choice>
              <mc:Fallback>
                <p:oleObj name="Equation" r:id="rId1" imgW="279400" imgH="118745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1524000"/>
                        <a:ext cx="1239838" cy="528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0782" y="2346530"/>
            <a:ext cx="4775445" cy="2787793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2451652" y="2819400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latin typeface="times" panose="02020603050405020304" pitchFamily="18" charset="0"/>
                <a:cs typeface="times" panose="02020603050405020304" pitchFamily="18" charset="0"/>
              </a:rPr>
              <a:t>b</a:t>
            </a:r>
            <a:endParaRPr lang="zh-CN" altLang="en-US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4065104" y="3677477"/>
            <a:ext cx="477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>
                <a:latin typeface="times" panose="02020603050405020304" pitchFamily="18" charset="0"/>
                <a:cs typeface="times" panose="02020603050405020304" pitchFamily="18" charset="0"/>
              </a:rPr>
              <a:t>b</a:t>
            </a:r>
            <a:endParaRPr lang="zh-CN" altLang="en-US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</p:spTree>
    <p:custDataLst>
      <p:tags r:id="rId4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838200" y="685800"/>
            <a:ext cx="7772400" cy="80168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sz="4000" b="1" dirty="0">
                <a:latin typeface="黑体" panose="02010609060101010101" pitchFamily="49" charset="-122"/>
                <a:ea typeface="黑体" panose="02010609060101010101" pitchFamily="49" charset="-122"/>
              </a:rPr>
              <a:t>二、定压过程</a:t>
            </a:r>
            <a:endParaRPr lang="zh-CN" altLang="en-US" sz="40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6387" name="Rectangle 3"/>
          <p:cNvSpPr>
            <a:spLocks noChangeArrowheads="1"/>
          </p:cNvSpPr>
          <p:nvPr/>
        </p:nvSpPr>
        <p:spPr bwMode="auto">
          <a:xfrm>
            <a:off x="1676400" y="1600200"/>
            <a:ext cx="4419600" cy="801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Ø"/>
            </a:pPr>
            <a:r>
              <a:rPr kumimoji="1" lang="zh-CN" altLang="en-US" sz="3600" b="1" dirty="0">
                <a:latin typeface="黑体" panose="02010609060101010101" pitchFamily="49" charset="-122"/>
                <a:ea typeface="黑体" panose="02010609060101010101" pitchFamily="49" charset="-122"/>
              </a:rPr>
              <a:t>过程方程</a:t>
            </a:r>
            <a:endParaRPr kumimoji="1" lang="zh-CN" altLang="en-US" sz="3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16388" name="Object 4"/>
          <p:cNvGraphicFramePr>
            <a:graphicFrameLocks noChangeAspect="1"/>
          </p:cNvGraphicFramePr>
          <p:nvPr/>
        </p:nvGraphicFramePr>
        <p:xfrm>
          <a:off x="2895600" y="2514600"/>
          <a:ext cx="3124200" cy="3252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39" name="Equation" r:id="rId1" imgW="431800" imgH="448945" progId="Equation.DSMT4">
                  <p:embed/>
                </p:oleObj>
              </mc:Choice>
              <mc:Fallback>
                <p:oleObj name="Equation" r:id="rId1" imgW="431800" imgH="448945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2514600"/>
                        <a:ext cx="3124200" cy="3252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3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3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63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63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7" grpId="0" autoUpdateAnimBg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ChangeArrowheads="1"/>
          </p:cNvSpPr>
          <p:nvPr/>
        </p:nvSpPr>
        <p:spPr bwMode="auto">
          <a:xfrm>
            <a:off x="533400" y="381000"/>
            <a:ext cx="8610600" cy="801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Ø"/>
            </a:pPr>
            <a:r>
              <a:rPr kumimoji="1" lang="zh-CN" altLang="en-US" sz="3600" b="1" dirty="0">
                <a:latin typeface="黑体" panose="02010609060101010101" pitchFamily="49" charset="-122"/>
                <a:ea typeface="黑体" panose="02010609060101010101" pitchFamily="49" charset="-122"/>
              </a:rPr>
              <a:t>初、终态参数的</a:t>
            </a:r>
            <a:r>
              <a:rPr kumimoji="1" lang="zh-CN" altLang="en-US" sz="36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关系</a:t>
            </a:r>
            <a:r>
              <a:rPr kumimoji="1" lang="zh-CN" altLang="en-US" sz="36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及⊿</a:t>
            </a:r>
            <a:r>
              <a:rPr kumimoji="1" lang="en-US" altLang="zh-CN" sz="36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u</a:t>
            </a:r>
            <a:r>
              <a:rPr kumimoji="1" lang="zh-CN" altLang="en-US" sz="36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、⊿</a:t>
            </a:r>
            <a:r>
              <a:rPr kumimoji="1" lang="en-US" altLang="zh-CN" sz="36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h</a:t>
            </a:r>
            <a:r>
              <a:rPr kumimoji="1" lang="zh-CN" altLang="en-US" sz="36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和⊿</a:t>
            </a:r>
            <a:r>
              <a:rPr kumimoji="1" lang="en-US" altLang="zh-CN" sz="36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s</a:t>
            </a:r>
            <a:endParaRPr kumimoji="1" lang="zh-CN" altLang="en-US" sz="3600" b="1" i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Ø"/>
            </a:pPr>
            <a:endParaRPr kumimoji="1" lang="zh-CN" altLang="en-US" sz="3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17411" name="Object 3"/>
          <p:cNvGraphicFramePr>
            <a:graphicFrameLocks noChangeAspect="1"/>
          </p:cNvGraphicFramePr>
          <p:nvPr/>
        </p:nvGraphicFramePr>
        <p:xfrm>
          <a:off x="1125538" y="1143000"/>
          <a:ext cx="5826125" cy="1430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63" name="Equation" r:id="rId1" imgW="1312545" imgH="321945" progId="Equation.3">
                  <p:embed/>
                </p:oleObj>
              </mc:Choice>
              <mc:Fallback>
                <p:oleObj name="Equation" r:id="rId1" imgW="1312545" imgH="321945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25538" y="1143000"/>
                        <a:ext cx="5826125" cy="1430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548" y="3140005"/>
            <a:ext cx="7861704" cy="271158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ext Box 2"/>
          <p:cNvSpPr txBox="1">
            <a:spLocks noChangeArrowheads="1"/>
          </p:cNvSpPr>
          <p:nvPr/>
        </p:nvSpPr>
        <p:spPr bwMode="auto">
          <a:xfrm>
            <a:off x="381000" y="381000"/>
            <a:ext cx="708660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buClr>
                <a:schemeClr val="folHlink"/>
              </a:buClr>
              <a:buFont typeface="Wingdings" panose="05000000000000000000" pitchFamily="2" charset="2"/>
              <a:buChar char="Ø"/>
            </a:pPr>
            <a:r>
              <a:rPr kumimoji="1" lang="en-US" altLang="zh-CN" sz="2800" i="1" dirty="0">
                <a:latin typeface="Times New Roman" panose="02020603050405020304" pitchFamily="18" charset="0"/>
              </a:rPr>
              <a:t>  </a:t>
            </a:r>
            <a:r>
              <a:rPr kumimoji="1" lang="en-US" altLang="zh-CN" sz="3600" i="1" dirty="0">
                <a:latin typeface="Times New Roman" panose="02020603050405020304" pitchFamily="18" charset="0"/>
              </a:rPr>
              <a:t>p-v</a:t>
            </a:r>
            <a:r>
              <a:rPr kumimoji="1" lang="zh-CN" altLang="en-US" sz="3600" b="1" dirty="0">
                <a:latin typeface="黑体" panose="02010609060101010101" pitchFamily="49" charset="-122"/>
                <a:ea typeface="黑体" panose="02010609060101010101" pitchFamily="49" charset="-122"/>
              </a:rPr>
              <a:t>图和</a:t>
            </a:r>
            <a:r>
              <a:rPr kumimoji="1" lang="en-US" altLang="zh-CN" sz="3600" i="1" dirty="0">
                <a:latin typeface="Times New Roman" panose="02020603050405020304" pitchFamily="18" charset="0"/>
              </a:rPr>
              <a:t>T-s</a:t>
            </a:r>
            <a:r>
              <a:rPr kumimoji="1" lang="zh-CN" altLang="en-US" sz="3600" b="1" dirty="0">
                <a:latin typeface="黑体" panose="02010609060101010101" pitchFamily="49" charset="-122"/>
                <a:ea typeface="黑体" panose="02010609060101010101" pitchFamily="49" charset="-122"/>
              </a:rPr>
              <a:t>图</a:t>
            </a:r>
            <a:endParaRPr kumimoji="1" lang="zh-CN" altLang="en-US" sz="3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2840" y="1198271"/>
            <a:ext cx="6947257" cy="3308520"/>
          </a:xfrm>
          <a:prstGeom prst="rect">
            <a:avLst/>
          </a:prstGeom>
        </p:spPr>
      </p:pic>
      <p:pic>
        <p:nvPicPr>
          <p:cNvPr id="6" name="对象 19458"/>
          <p:cNvPicPr/>
          <p:nvPr/>
        </p:nvPicPr>
        <p:blipFill>
          <a:blip r:embed="rId2"/>
          <a:stretch>
            <a:fillRect/>
          </a:stretch>
        </p:blipFill>
        <p:spPr>
          <a:xfrm>
            <a:off x="3234152" y="5049044"/>
            <a:ext cx="1790700" cy="1028700"/>
          </a:xfrm>
          <a:prstGeom prst="rect">
            <a:avLst/>
          </a:prstGeom>
          <a:noFill/>
          <a:ln w="38100">
            <a:noFill/>
            <a:miter/>
          </a:ln>
        </p:spPr>
      </p:pic>
      <p:pic>
        <p:nvPicPr>
          <p:cNvPr id="7" name="对象 3"/>
          <p:cNvPicPr/>
          <p:nvPr/>
        </p:nvPicPr>
        <p:blipFill>
          <a:blip r:embed="rId3"/>
          <a:stretch>
            <a:fillRect/>
          </a:stretch>
        </p:blipFill>
        <p:spPr>
          <a:xfrm>
            <a:off x="6128165" y="4917282"/>
            <a:ext cx="2087562" cy="1290637"/>
          </a:xfrm>
          <a:prstGeom prst="rect">
            <a:avLst/>
          </a:prstGeom>
          <a:noFill/>
          <a:ln w="38100">
            <a:noFill/>
            <a:miter/>
          </a:ln>
        </p:spPr>
      </p:pic>
      <p:sp>
        <p:nvSpPr>
          <p:cNvPr id="8" name="右箭头 7"/>
          <p:cNvSpPr/>
          <p:nvPr/>
        </p:nvSpPr>
        <p:spPr>
          <a:xfrm>
            <a:off x="5166140" y="5449094"/>
            <a:ext cx="762000" cy="228600"/>
          </a:xfrm>
          <a:prstGeom prst="rightArrow">
            <a:avLst>
              <a:gd name="adj1" fmla="val 50000"/>
              <a:gd name="adj2" fmla="val 83194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lvl="5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lvl="6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lvl="7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lvl="8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9" name="AutoShape 5"/>
          <p:cNvSpPr>
            <a:spLocks noChangeArrowheads="1"/>
          </p:cNvSpPr>
          <p:nvPr/>
        </p:nvSpPr>
        <p:spPr bwMode="auto">
          <a:xfrm>
            <a:off x="2330864" y="5439189"/>
            <a:ext cx="762000" cy="228600"/>
          </a:xfrm>
          <a:prstGeom prst="rightArrow">
            <a:avLst>
              <a:gd name="adj1" fmla="val 50000"/>
              <a:gd name="adj2" fmla="val 83333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" name="Rectangle 8"/>
          <p:cNvSpPr>
            <a:spLocks noChangeArrowheads="1"/>
          </p:cNvSpPr>
          <p:nvPr/>
        </p:nvSpPr>
        <p:spPr bwMode="auto">
          <a:xfrm>
            <a:off x="1225659" y="5243547"/>
            <a:ext cx="90281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sz="2800" dirty="0" smtClean="0">
                <a:latin typeface="Times New Roman" panose="02020603050405020304" pitchFamily="18" charset="0"/>
              </a:rPr>
              <a:t>定压</a:t>
            </a:r>
            <a:endParaRPr kumimoji="1" lang="zh-CN" altLang="en-US" sz="28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ChangeArrowheads="1"/>
          </p:cNvSpPr>
          <p:nvPr/>
        </p:nvSpPr>
        <p:spPr bwMode="auto">
          <a:xfrm>
            <a:off x="533400" y="381000"/>
            <a:ext cx="7010400" cy="801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Ø"/>
            </a:pPr>
            <a:r>
              <a:rPr kumimoji="1" lang="zh-CN" altLang="en-US" sz="36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过程中能量的转换</a:t>
            </a:r>
            <a:endParaRPr kumimoji="1" lang="zh-CN" altLang="en-US" sz="3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8436" name="AutoShape 4"/>
          <p:cNvSpPr>
            <a:spLocks noChangeArrowheads="1"/>
          </p:cNvSpPr>
          <p:nvPr/>
        </p:nvSpPr>
        <p:spPr bwMode="auto">
          <a:xfrm>
            <a:off x="1053548" y="2557669"/>
            <a:ext cx="914400" cy="304800"/>
          </a:xfrm>
          <a:custGeom>
            <a:avLst/>
            <a:gdLst>
              <a:gd name="G0" fmla="+- 16200 0 0"/>
              <a:gd name="G1" fmla="+- 5400 0 0"/>
              <a:gd name="G2" fmla="+- 21600 0 5400"/>
              <a:gd name="G3" fmla="+- 10800 0 5400"/>
              <a:gd name="G4" fmla="+- 21600 0 16200"/>
              <a:gd name="G5" fmla="*/ G4 G3 10800"/>
              <a:gd name="G6" fmla="+- 21600 0 G5"/>
              <a:gd name="T0" fmla="*/ 16200 w 21600"/>
              <a:gd name="T1" fmla="*/ 0 h 21600"/>
              <a:gd name="T2" fmla="*/ 0 w 21600"/>
              <a:gd name="T3" fmla="*/ 10800 h 21600"/>
              <a:gd name="T4" fmla="*/ 16200 w 21600"/>
              <a:gd name="T5" fmla="*/ 21600 h 21600"/>
              <a:gd name="T6" fmla="*/ 21600 w 21600"/>
              <a:gd name="T7" fmla="*/ 10800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G1 h 21600"/>
              <a:gd name="T14" fmla="*/ G6 w 21600"/>
              <a:gd name="T15" fmla="*/ G2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close/>
              </a:path>
            </a:pathLst>
          </a:custGeom>
          <a:solidFill>
            <a:srgbClr val="FF0000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18437" name="Object 5"/>
          <p:cNvGraphicFramePr>
            <a:graphicFrameLocks noChangeAspect="1"/>
          </p:cNvGraphicFramePr>
          <p:nvPr/>
        </p:nvGraphicFramePr>
        <p:xfrm>
          <a:off x="2286000" y="1524000"/>
          <a:ext cx="1277938" cy="601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87" name="公式" r:id="rId1" imgW="287655" imgH="135255" progId="Equation.3">
                  <p:embed/>
                </p:oleObj>
              </mc:Choice>
              <mc:Fallback>
                <p:oleObj name="公式" r:id="rId1" imgW="287655" imgH="135255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1524000"/>
                        <a:ext cx="1277938" cy="601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8621" y="2125663"/>
            <a:ext cx="4667490" cy="282589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2425148" y="3700670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latin typeface="times" panose="02020603050405020304" pitchFamily="18" charset="0"/>
                <a:cs typeface="times" panose="02020603050405020304" pitchFamily="18" charset="0"/>
              </a:rPr>
              <a:t>b</a:t>
            </a:r>
            <a:endParaRPr lang="zh-CN" altLang="en-US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Rectangle 3"/>
          <p:cNvSpPr>
            <a:spLocks noChangeArrowheads="1"/>
          </p:cNvSpPr>
          <p:nvPr/>
        </p:nvSpPr>
        <p:spPr bwMode="auto">
          <a:xfrm>
            <a:off x="1676400" y="1600200"/>
            <a:ext cx="4419600" cy="801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Ø"/>
            </a:pPr>
            <a:r>
              <a:rPr kumimoji="1" lang="zh-CN" altLang="en-US" sz="3600" b="1" dirty="0">
                <a:latin typeface="黑体" panose="02010609060101010101" pitchFamily="49" charset="-122"/>
                <a:ea typeface="黑体" panose="02010609060101010101" pitchFamily="49" charset="-122"/>
              </a:rPr>
              <a:t>过程方程</a:t>
            </a:r>
            <a:endParaRPr kumimoji="1" lang="zh-CN" altLang="en-US" sz="3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20484" name="Object 4"/>
          <p:cNvGraphicFramePr>
            <a:graphicFrameLocks noChangeAspect="1"/>
          </p:cNvGraphicFramePr>
          <p:nvPr/>
        </p:nvGraphicFramePr>
        <p:xfrm>
          <a:off x="1752600" y="2832100"/>
          <a:ext cx="6257925" cy="2900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11" name="Equation" r:id="rId1" imgW="1024255" imgH="474345" progId="Equation.3">
                  <p:embed/>
                </p:oleObj>
              </mc:Choice>
              <mc:Fallback>
                <p:oleObj name="Equation" r:id="rId1" imgW="1024255" imgH="474345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2600" y="2832100"/>
                        <a:ext cx="6257925" cy="2900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838200" y="685800"/>
            <a:ext cx="7772400" cy="8016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zh-CN" altLang="en-US" sz="4000" b="1" dirty="0">
                <a:latin typeface="黑体" panose="02010609060101010101" pitchFamily="49" charset="-122"/>
                <a:ea typeface="黑体" panose="02010609060101010101" pitchFamily="49" charset="-122"/>
              </a:rPr>
              <a:t>三、定温过程</a:t>
            </a:r>
            <a:endParaRPr lang="zh-CN" altLang="en-US" sz="40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ChangeArrowheads="1"/>
          </p:cNvSpPr>
          <p:nvPr/>
        </p:nvSpPr>
        <p:spPr bwMode="auto">
          <a:xfrm>
            <a:off x="533399" y="381000"/>
            <a:ext cx="8676861" cy="801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Ø"/>
            </a:pPr>
            <a:r>
              <a:rPr kumimoji="1" lang="zh-CN" altLang="en-US" sz="3600" b="1" dirty="0">
                <a:latin typeface="黑体" panose="02010609060101010101" pitchFamily="49" charset="-122"/>
                <a:ea typeface="黑体" panose="02010609060101010101" pitchFamily="49" charset="-122"/>
              </a:rPr>
              <a:t>初、终态参数的</a:t>
            </a:r>
            <a:r>
              <a:rPr kumimoji="1" lang="zh-CN" altLang="en-US" sz="36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关系</a:t>
            </a:r>
            <a:r>
              <a:rPr kumimoji="1" lang="zh-CN" altLang="en-US" sz="36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及⊿</a:t>
            </a:r>
            <a:r>
              <a:rPr kumimoji="1" lang="en-US" altLang="zh-CN" sz="36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u</a:t>
            </a:r>
            <a:r>
              <a:rPr kumimoji="1" lang="zh-CN" altLang="en-US" sz="36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、⊿</a:t>
            </a:r>
            <a:r>
              <a:rPr kumimoji="1" lang="en-US" altLang="zh-CN" sz="36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h</a:t>
            </a:r>
            <a:r>
              <a:rPr kumimoji="1" lang="zh-CN" altLang="en-US" sz="36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和⊿</a:t>
            </a:r>
            <a:r>
              <a:rPr kumimoji="1" lang="en-US" altLang="zh-CN" sz="36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s</a:t>
            </a:r>
            <a:endParaRPr kumimoji="1" lang="zh-CN" altLang="en-US" sz="3600" b="1" i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Ø"/>
            </a:pPr>
            <a:endParaRPr kumimoji="1" lang="zh-CN" altLang="en-US" sz="3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21507" name="Object 3"/>
          <p:cNvGraphicFramePr>
            <a:graphicFrameLocks noChangeAspect="1"/>
          </p:cNvGraphicFramePr>
          <p:nvPr/>
        </p:nvGraphicFramePr>
        <p:xfrm>
          <a:off x="1069975" y="1179513"/>
          <a:ext cx="5938838" cy="1355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35" name="Equation" r:id="rId1" imgW="1337945" imgH="304800" progId="Equation.3">
                  <p:embed/>
                </p:oleObj>
              </mc:Choice>
              <mc:Fallback>
                <p:oleObj name="Equation" r:id="rId1" imgW="1337945" imgH="3048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9975" y="1179513"/>
                        <a:ext cx="5938838" cy="1355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587" y="3283021"/>
            <a:ext cx="7887105" cy="258458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ext Box 2"/>
          <p:cNvSpPr txBox="1">
            <a:spLocks noChangeArrowheads="1"/>
          </p:cNvSpPr>
          <p:nvPr/>
        </p:nvSpPr>
        <p:spPr bwMode="auto">
          <a:xfrm>
            <a:off x="381000" y="304800"/>
            <a:ext cx="708660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buClr>
                <a:schemeClr val="folHlink"/>
              </a:buClr>
              <a:buFont typeface="Wingdings" panose="05000000000000000000" pitchFamily="2" charset="2"/>
              <a:buChar char="Ø"/>
            </a:pPr>
            <a:r>
              <a:rPr kumimoji="1" lang="en-US" altLang="zh-CN" sz="2800" i="1" dirty="0">
                <a:latin typeface="Times New Roman" panose="02020603050405020304" pitchFamily="18" charset="0"/>
              </a:rPr>
              <a:t>  </a:t>
            </a:r>
            <a:r>
              <a:rPr kumimoji="1" lang="en-US" altLang="zh-CN" sz="3600" i="1" dirty="0">
                <a:latin typeface="Times New Roman" panose="02020603050405020304" pitchFamily="18" charset="0"/>
              </a:rPr>
              <a:t>p-v</a:t>
            </a:r>
            <a:r>
              <a:rPr kumimoji="1" lang="zh-CN" altLang="en-US" sz="3600" b="1" dirty="0">
                <a:latin typeface="黑体" panose="02010609060101010101" pitchFamily="49" charset="-122"/>
                <a:ea typeface="黑体" panose="02010609060101010101" pitchFamily="49" charset="-122"/>
              </a:rPr>
              <a:t>图和</a:t>
            </a:r>
            <a:r>
              <a:rPr kumimoji="1" lang="en-US" altLang="zh-CN" sz="3600" i="1" dirty="0">
                <a:latin typeface="Times New Roman" panose="02020603050405020304" pitchFamily="18" charset="0"/>
              </a:rPr>
              <a:t>T-s</a:t>
            </a:r>
            <a:r>
              <a:rPr kumimoji="1" lang="zh-CN" altLang="en-US" sz="3600" b="1" dirty="0">
                <a:latin typeface="黑体" panose="02010609060101010101" pitchFamily="49" charset="-122"/>
                <a:ea typeface="黑体" panose="02010609060101010101" pitchFamily="49" charset="-122"/>
              </a:rPr>
              <a:t>图</a:t>
            </a:r>
            <a:endParaRPr kumimoji="1" lang="zh-CN" altLang="en-US" sz="3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6324" y="1223534"/>
            <a:ext cx="6966308" cy="3473629"/>
          </a:xfrm>
          <a:prstGeom prst="rect">
            <a:avLst/>
          </a:prstGeom>
        </p:spPr>
      </p:pic>
      <p:pic>
        <p:nvPicPr>
          <p:cNvPr id="9" name="对象 23554"/>
          <p:cNvPicPr/>
          <p:nvPr/>
        </p:nvPicPr>
        <p:blipFill>
          <a:blip r:embed="rId2"/>
          <a:stretch>
            <a:fillRect/>
          </a:stretch>
        </p:blipFill>
        <p:spPr>
          <a:xfrm>
            <a:off x="1242806" y="5442433"/>
            <a:ext cx="1903412" cy="466725"/>
          </a:xfrm>
          <a:prstGeom prst="rect">
            <a:avLst/>
          </a:prstGeom>
          <a:noFill/>
          <a:ln w="38100">
            <a:noFill/>
            <a:miter/>
          </a:ln>
        </p:spPr>
      </p:pic>
      <p:sp>
        <p:nvSpPr>
          <p:cNvPr id="10" name="右箭头 9"/>
          <p:cNvSpPr/>
          <p:nvPr/>
        </p:nvSpPr>
        <p:spPr>
          <a:xfrm>
            <a:off x="3254168" y="5513870"/>
            <a:ext cx="762000" cy="228600"/>
          </a:xfrm>
          <a:prstGeom prst="rightArrow">
            <a:avLst>
              <a:gd name="adj1" fmla="val 50000"/>
              <a:gd name="adj2" fmla="val 83194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lvl="5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lvl="6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lvl="7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lvl="8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1" name="对象 3"/>
          <p:cNvPicPr/>
          <p:nvPr/>
        </p:nvPicPr>
        <p:blipFill>
          <a:blip r:embed="rId3"/>
          <a:stretch>
            <a:fillRect/>
          </a:stretch>
        </p:blipFill>
        <p:spPr>
          <a:xfrm>
            <a:off x="4220956" y="5090008"/>
            <a:ext cx="2832100" cy="1196975"/>
          </a:xfrm>
          <a:prstGeom prst="rect">
            <a:avLst/>
          </a:prstGeom>
          <a:noFill/>
          <a:ln w="38100">
            <a:noFill/>
            <a:miter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ChangeArrowheads="1"/>
          </p:cNvSpPr>
          <p:nvPr/>
        </p:nvSpPr>
        <p:spPr bwMode="auto">
          <a:xfrm>
            <a:off x="533400" y="381000"/>
            <a:ext cx="7010400" cy="801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Ø"/>
            </a:pPr>
            <a:r>
              <a:rPr kumimoji="1" lang="zh-CN" altLang="en-US" sz="36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过程中能量的转换</a:t>
            </a:r>
            <a:endParaRPr kumimoji="1" lang="zh-CN" altLang="en-US" sz="3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2824" y="1225437"/>
            <a:ext cx="6858352" cy="4407126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1391478" y="3110948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latin typeface="times" panose="02020603050405020304" pitchFamily="18" charset="0"/>
                <a:cs typeface="times" panose="02020603050405020304" pitchFamily="18" charset="0"/>
              </a:rPr>
              <a:t>b</a:t>
            </a:r>
            <a:endParaRPr lang="zh-CN" altLang="en-US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286000" y="5263231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latin typeface="times" panose="02020603050405020304" pitchFamily="18" charset="0"/>
                <a:cs typeface="times" panose="02020603050405020304" pitchFamily="18" charset="0"/>
              </a:rPr>
              <a:t>b</a:t>
            </a:r>
            <a:endParaRPr lang="zh-CN" altLang="en-US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948609" y="1427922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latin typeface="times" panose="02020603050405020304" pitchFamily="18" charset="0"/>
                <a:cs typeface="times" panose="02020603050405020304" pitchFamily="18" charset="0"/>
              </a:rPr>
              <a:t>b</a:t>
            </a:r>
            <a:endParaRPr lang="zh-CN" altLang="en-US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684104" y="1427922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latin typeface="times" panose="02020603050405020304" pitchFamily="18" charset="0"/>
                <a:cs typeface="times" panose="02020603050405020304" pitchFamily="18" charset="0"/>
              </a:rPr>
              <a:t>b</a:t>
            </a:r>
            <a:endParaRPr lang="zh-CN" altLang="en-US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80" name="Text Box 4"/>
          <p:cNvSpPr txBox="1">
            <a:spLocks noChangeArrowheads="1"/>
          </p:cNvSpPr>
          <p:nvPr/>
        </p:nvSpPr>
        <p:spPr bwMode="auto">
          <a:xfrm>
            <a:off x="2971800" y="4343400"/>
            <a:ext cx="5105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buClr>
                <a:schemeClr val="folHlink"/>
              </a:buClr>
              <a:buFont typeface="Webdings" panose="05030102010509060703" pitchFamily="18" charset="2"/>
              <a:buChar char="ÿ"/>
            </a:pP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可逆绝热过程是定熵过程</a:t>
            </a:r>
            <a:endParaRPr kumimoji="1"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606287" y="480390"/>
            <a:ext cx="7772400" cy="8016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4000" b="1" dirty="0">
                <a:latin typeface="黑体" panose="02010609060101010101" pitchFamily="49" charset="-122"/>
                <a:ea typeface="黑体" panose="02010609060101010101" pitchFamily="49" charset="-122"/>
              </a:rPr>
              <a:t>四</a:t>
            </a:r>
            <a:r>
              <a:rPr lang="zh-CN" altLang="en-US" sz="40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、</a:t>
            </a:r>
            <a:r>
              <a:rPr lang="zh-CN" altLang="en-US" sz="4000" b="1" dirty="0">
                <a:latin typeface="黑体" panose="02010609060101010101" pitchFamily="49" charset="-122"/>
                <a:ea typeface="黑体" panose="02010609060101010101" pitchFamily="49" charset="-122"/>
              </a:rPr>
              <a:t>可逆</a:t>
            </a:r>
            <a:r>
              <a:rPr lang="zh-CN" altLang="en-US" sz="40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绝热过程（定熵过程）</a:t>
            </a:r>
            <a:endParaRPr lang="zh-CN" altLang="en-US" sz="40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844" y="1710850"/>
            <a:ext cx="7283824" cy="234962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ChangeArrowheads="1"/>
          </p:cNvSpPr>
          <p:nvPr/>
        </p:nvSpPr>
        <p:spPr bwMode="auto">
          <a:xfrm>
            <a:off x="573156" y="324678"/>
            <a:ext cx="403860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Ø"/>
            </a:pPr>
            <a:r>
              <a:rPr kumimoji="1" lang="zh-CN" altLang="en-US" sz="3600" b="1" dirty="0">
                <a:latin typeface="黑体" panose="02010609060101010101" pitchFamily="49" charset="-122"/>
                <a:ea typeface="黑体" panose="02010609060101010101" pitchFamily="49" charset="-122"/>
              </a:rPr>
              <a:t>过程方程</a:t>
            </a:r>
            <a:endParaRPr kumimoji="1" lang="zh-CN" altLang="en-US" sz="3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9" name="对象 25602"/>
          <p:cNvPicPr/>
          <p:nvPr/>
        </p:nvPicPr>
        <p:blipFill>
          <a:blip r:embed="rId1"/>
          <a:stretch>
            <a:fillRect/>
          </a:stretch>
        </p:blipFill>
        <p:spPr>
          <a:xfrm>
            <a:off x="3980726" y="489761"/>
            <a:ext cx="3606800" cy="2941637"/>
          </a:xfrm>
          <a:prstGeom prst="rect">
            <a:avLst/>
          </a:prstGeom>
          <a:noFill/>
          <a:ln w="38100">
            <a:noFill/>
            <a:miter/>
          </a:ln>
        </p:spPr>
      </p:pic>
      <p:sp>
        <p:nvSpPr>
          <p:cNvPr id="10" name="任意多边形 9"/>
          <p:cNvSpPr/>
          <p:nvPr/>
        </p:nvSpPr>
        <p:spPr>
          <a:xfrm>
            <a:off x="2955234" y="2986881"/>
            <a:ext cx="914400" cy="304800"/>
          </a:xfrm>
          <a:custGeom>
            <a:avLst/>
            <a:gdLst/>
            <a:ahLst/>
            <a:cxnLst>
              <a:cxn ang="270">
                <a:pos x="16200" y="0"/>
              </a:cxn>
              <a:cxn ang="180">
                <a:pos x="0" y="10800"/>
              </a:cxn>
              <a:cxn ang="90">
                <a:pos x="16200" y="21600"/>
              </a:cxn>
              <a:cxn ang="0">
                <a:pos x="21600" y="10800"/>
              </a:cxn>
            </a:cxnLst>
            <a:rect l="0" t="0" r="0" b="0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close/>
              </a:path>
            </a:pathLst>
          </a:custGeom>
          <a:solidFill>
            <a:srgbClr val="FF0000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lvl="5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lvl="6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lvl="7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lvl="8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11" name="文本框 25604"/>
          <p:cNvSpPr txBox="1"/>
          <p:nvPr/>
        </p:nvSpPr>
        <p:spPr>
          <a:xfrm>
            <a:off x="519906" y="3616325"/>
            <a:ext cx="8104188" cy="954088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lvl="5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lvl="6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lvl="7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lvl="8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spcBef>
                <a:spcPct val="50000"/>
              </a:spcBef>
              <a:buClr>
                <a:schemeClr val="folHlink"/>
              </a:buClr>
              <a:buFont typeface="Webdings" panose="05030102010509060703" pitchFamily="18" charset="2"/>
              <a:buChar char="ÿ"/>
            </a:pPr>
            <a:r>
              <a:rPr lang="en-US" altLang="zh-CN" sz="2800" dirty="0">
                <a:latin typeface="Tahoma" panose="020B0604030504040204" pitchFamily="34" charset="0"/>
                <a:ea typeface="宋体" panose="02010600030101010101" pitchFamily="2" charset="-122"/>
              </a:rPr>
              <a:t> </a:t>
            </a: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定熵过程方程式为指数方程，定熵指数通常以  表示。理想气体的定熵指数为比热容比</a:t>
            </a:r>
            <a:endParaRPr kumimoji="1"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12" name="对象 25605"/>
          <p:cNvPicPr/>
          <p:nvPr/>
        </p:nvPicPr>
        <p:blipFill>
          <a:blip r:embed="rId2"/>
          <a:stretch>
            <a:fillRect/>
          </a:stretch>
        </p:blipFill>
        <p:spPr>
          <a:xfrm>
            <a:off x="2032794" y="4570413"/>
            <a:ext cx="2378075" cy="790575"/>
          </a:xfrm>
          <a:prstGeom prst="rect">
            <a:avLst/>
          </a:prstGeom>
          <a:noFill/>
          <a:ln w="38100">
            <a:noFill/>
            <a:miter/>
          </a:ln>
        </p:spPr>
      </p:pic>
      <p:sp>
        <p:nvSpPr>
          <p:cNvPr id="13" name="任意多边形 12"/>
          <p:cNvSpPr/>
          <p:nvPr/>
        </p:nvSpPr>
        <p:spPr>
          <a:xfrm>
            <a:off x="1039019" y="4838700"/>
            <a:ext cx="914400" cy="304800"/>
          </a:xfrm>
          <a:custGeom>
            <a:avLst/>
            <a:gdLst/>
            <a:ahLst/>
            <a:cxnLst>
              <a:cxn ang="270">
                <a:pos x="16200" y="0"/>
              </a:cxn>
              <a:cxn ang="180">
                <a:pos x="0" y="10800"/>
              </a:cxn>
              <a:cxn ang="90">
                <a:pos x="16200" y="21600"/>
              </a:cxn>
              <a:cxn ang="0">
                <a:pos x="21600" y="10800"/>
              </a:cxn>
            </a:cxnLst>
            <a:rect l="0" t="0" r="0" b="0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close/>
              </a:path>
            </a:pathLst>
          </a:custGeom>
          <a:solidFill>
            <a:srgbClr val="FF0000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lvl="5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lvl="6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lvl="7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lvl="8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endParaRPr lang="zh-CN" altLang="en-US"/>
          </a:p>
        </p:txBody>
      </p:sp>
      <p:pic>
        <p:nvPicPr>
          <p:cNvPr id="14" name="对象 25607"/>
          <p:cNvPicPr/>
          <p:nvPr/>
        </p:nvPicPr>
        <p:blipFill>
          <a:blip r:embed="rId3"/>
          <a:stretch>
            <a:fillRect/>
          </a:stretch>
        </p:blipFill>
        <p:spPr>
          <a:xfrm>
            <a:off x="8233569" y="3736975"/>
            <a:ext cx="390525" cy="311150"/>
          </a:xfrm>
          <a:prstGeom prst="rect">
            <a:avLst/>
          </a:prstGeom>
          <a:noFill/>
          <a:ln w="38100">
            <a:noFill/>
            <a:miter/>
          </a:ln>
        </p:spPr>
      </p:pic>
      <p:sp>
        <p:nvSpPr>
          <p:cNvPr id="15" name="文本框 25604"/>
          <p:cNvSpPr txBox="1"/>
          <p:nvPr/>
        </p:nvSpPr>
        <p:spPr>
          <a:xfrm>
            <a:off x="306455" y="2905439"/>
            <a:ext cx="2648779" cy="46166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lvl="5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lvl="6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lvl="7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lvl="8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spcBef>
                <a:spcPct val="50000"/>
              </a:spcBef>
              <a:buClr>
                <a:schemeClr val="folHlink"/>
              </a:buClr>
              <a:buFont typeface="Webdings" panose="05030102010509060703" pitchFamily="18" charset="2"/>
            </a:pPr>
            <a:r>
              <a:rPr kumimoji="1"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假设比热容为定值</a:t>
            </a:r>
            <a:endParaRPr kumimoji="1" lang="zh-CN" altLang="en-US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6" name="文本框 2"/>
          <p:cNvSpPr txBox="1"/>
          <p:nvPr/>
        </p:nvSpPr>
        <p:spPr>
          <a:xfrm>
            <a:off x="521494" y="5360988"/>
            <a:ext cx="7985125" cy="95250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lvl="5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lvl="6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lvl="7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lvl="8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实际上，气体的定熵指数  </a:t>
            </a:r>
            <a:r>
              <a:rPr kumimoji="1"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并非</a:t>
            </a: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定值，通常</a:t>
            </a:r>
            <a:r>
              <a:rPr kumimoji="1"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温度越高  值越小</a:t>
            </a: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。因此，该式只是近似式。</a:t>
            </a:r>
            <a:endParaRPr kumimoji="1"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17" name="对象 25607"/>
          <p:cNvPicPr/>
          <p:nvPr/>
        </p:nvPicPr>
        <p:blipFill>
          <a:blip r:embed="rId3"/>
          <a:stretch>
            <a:fillRect/>
          </a:stretch>
        </p:blipFill>
        <p:spPr>
          <a:xfrm>
            <a:off x="4598125" y="5473700"/>
            <a:ext cx="390525" cy="311150"/>
          </a:xfrm>
          <a:prstGeom prst="rect">
            <a:avLst/>
          </a:prstGeom>
          <a:noFill/>
          <a:ln w="38100">
            <a:noFill/>
            <a:miter/>
          </a:ln>
        </p:spPr>
      </p:pic>
      <p:pic>
        <p:nvPicPr>
          <p:cNvPr id="18" name="对象 25607"/>
          <p:cNvPicPr/>
          <p:nvPr/>
        </p:nvPicPr>
        <p:blipFill>
          <a:blip r:embed="rId3"/>
          <a:stretch>
            <a:fillRect/>
          </a:stretch>
        </p:blipFill>
        <p:spPr>
          <a:xfrm>
            <a:off x="1359694" y="5906052"/>
            <a:ext cx="390525" cy="311150"/>
          </a:xfrm>
          <a:prstGeom prst="rect">
            <a:avLst/>
          </a:prstGeom>
          <a:noFill/>
          <a:ln w="38100">
            <a:noFill/>
            <a:miter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ChangeArrowheads="1"/>
          </p:cNvSpPr>
          <p:nvPr/>
        </p:nvSpPr>
        <p:spPr bwMode="auto">
          <a:xfrm>
            <a:off x="533400" y="381000"/>
            <a:ext cx="8922026" cy="801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Ø"/>
            </a:pPr>
            <a:r>
              <a:rPr kumimoji="1" lang="zh-CN" altLang="en-US" sz="3600" b="1" dirty="0">
                <a:latin typeface="黑体" panose="02010609060101010101" pitchFamily="49" charset="-122"/>
                <a:ea typeface="黑体" panose="02010609060101010101" pitchFamily="49" charset="-122"/>
              </a:rPr>
              <a:t>初、终态参数的</a:t>
            </a:r>
            <a:r>
              <a:rPr kumimoji="1" lang="zh-CN" altLang="en-US" sz="36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关系</a:t>
            </a:r>
            <a:r>
              <a:rPr kumimoji="1" lang="zh-CN" altLang="en-US" sz="36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及⊿</a:t>
            </a:r>
            <a:r>
              <a:rPr kumimoji="1" lang="en-US" altLang="zh-CN" sz="36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u</a:t>
            </a:r>
            <a:r>
              <a:rPr kumimoji="1" lang="zh-CN" altLang="en-US" sz="36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、⊿</a:t>
            </a:r>
            <a:r>
              <a:rPr kumimoji="1" lang="en-US" altLang="zh-CN" sz="36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h</a:t>
            </a:r>
            <a:r>
              <a:rPr kumimoji="1" lang="zh-CN" altLang="en-US" sz="36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和⊿</a:t>
            </a:r>
            <a:r>
              <a:rPr kumimoji="1" lang="en-US" altLang="zh-CN" sz="36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s</a:t>
            </a:r>
            <a:endParaRPr kumimoji="1" lang="zh-CN" altLang="en-US" sz="3600" b="1" i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Ø"/>
            </a:pPr>
            <a:endParaRPr kumimoji="1" lang="zh-CN" altLang="en-US" sz="3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7076" y="1338207"/>
            <a:ext cx="7696596" cy="48707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ext Box 2"/>
          <p:cNvSpPr txBox="1">
            <a:spLocks noChangeArrowheads="1"/>
          </p:cNvSpPr>
          <p:nvPr/>
        </p:nvSpPr>
        <p:spPr bwMode="auto">
          <a:xfrm>
            <a:off x="381000" y="304800"/>
            <a:ext cx="708660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buClr>
                <a:schemeClr val="folHlink"/>
              </a:buClr>
              <a:buFont typeface="Wingdings" panose="05000000000000000000" pitchFamily="2" charset="2"/>
              <a:buChar char="Ø"/>
            </a:pPr>
            <a:r>
              <a:rPr kumimoji="1" lang="en-US" altLang="zh-CN" sz="3600" i="1" dirty="0">
                <a:latin typeface="Times New Roman" panose="02020603050405020304" pitchFamily="18" charset="0"/>
              </a:rPr>
              <a:t>  p-v</a:t>
            </a:r>
            <a:r>
              <a:rPr kumimoji="1" lang="zh-CN" altLang="en-US" sz="3600" b="1" dirty="0">
                <a:latin typeface="黑体" panose="02010609060101010101" pitchFamily="49" charset="-122"/>
                <a:ea typeface="黑体" panose="02010609060101010101" pitchFamily="49" charset="-122"/>
              </a:rPr>
              <a:t>图和</a:t>
            </a:r>
            <a:r>
              <a:rPr kumimoji="1" lang="en-US" altLang="zh-CN" sz="3600" i="1" dirty="0">
                <a:latin typeface="Times New Roman" panose="02020603050405020304" pitchFamily="18" charset="0"/>
              </a:rPr>
              <a:t>T-s</a:t>
            </a:r>
            <a:r>
              <a:rPr kumimoji="1" lang="zh-CN" altLang="en-US" sz="3600" b="1" dirty="0">
                <a:latin typeface="黑体" panose="02010609060101010101" pitchFamily="49" charset="-122"/>
                <a:ea typeface="黑体" panose="02010609060101010101" pitchFamily="49" charset="-122"/>
              </a:rPr>
              <a:t>图</a:t>
            </a:r>
            <a:endParaRPr kumimoji="1" lang="zh-CN" altLang="en-US" sz="3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6" name="对象 28674"/>
          <p:cNvPicPr/>
          <p:nvPr/>
        </p:nvPicPr>
        <p:blipFill>
          <a:blip r:embed="rId1"/>
          <a:stretch>
            <a:fillRect/>
          </a:stretch>
        </p:blipFill>
        <p:spPr>
          <a:xfrm>
            <a:off x="1343231" y="5173444"/>
            <a:ext cx="2071688" cy="601663"/>
          </a:xfrm>
          <a:prstGeom prst="rect">
            <a:avLst/>
          </a:prstGeom>
          <a:noFill/>
          <a:ln w="38100">
            <a:noFill/>
            <a:miter/>
          </a:ln>
        </p:spPr>
      </p:pic>
      <p:pic>
        <p:nvPicPr>
          <p:cNvPr id="7" name="对象 3"/>
          <p:cNvPicPr/>
          <p:nvPr/>
        </p:nvPicPr>
        <p:blipFill>
          <a:blip r:embed="rId2"/>
          <a:stretch>
            <a:fillRect/>
          </a:stretch>
        </p:blipFill>
        <p:spPr>
          <a:xfrm>
            <a:off x="4426156" y="4992469"/>
            <a:ext cx="2698750" cy="1063625"/>
          </a:xfrm>
          <a:prstGeom prst="rect">
            <a:avLst/>
          </a:prstGeom>
          <a:noFill/>
          <a:ln w="38100">
            <a:noFill/>
            <a:miter/>
          </a:ln>
        </p:spPr>
      </p:pic>
      <p:sp>
        <p:nvSpPr>
          <p:cNvPr id="8" name="右箭头 7"/>
          <p:cNvSpPr/>
          <p:nvPr/>
        </p:nvSpPr>
        <p:spPr>
          <a:xfrm>
            <a:off x="3499056" y="5409982"/>
            <a:ext cx="762000" cy="228600"/>
          </a:xfrm>
          <a:prstGeom prst="rightArrow">
            <a:avLst>
              <a:gd name="adj1" fmla="val 50000"/>
              <a:gd name="adj2" fmla="val 83194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lvl="5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lvl="6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lvl="7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lvl="8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529" y="1519158"/>
            <a:ext cx="7290175" cy="308625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ChangeArrowheads="1"/>
          </p:cNvSpPr>
          <p:nvPr/>
        </p:nvSpPr>
        <p:spPr bwMode="auto">
          <a:xfrm>
            <a:off x="533400" y="381000"/>
            <a:ext cx="7010400" cy="801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Ø"/>
            </a:pPr>
            <a:r>
              <a:rPr kumimoji="1" lang="zh-CN" altLang="en-US" sz="36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过程中能量的转换</a:t>
            </a:r>
            <a:endParaRPr kumimoji="1" lang="zh-CN" altLang="en-US" sz="3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30985" y="1182688"/>
            <a:ext cx="6521785" cy="5264421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2981739" y="2037522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latin typeface="times" panose="02020603050405020304" pitchFamily="18" charset="0"/>
                <a:cs typeface="times" panose="02020603050405020304" pitchFamily="18" charset="0"/>
              </a:rPr>
              <a:t>b</a:t>
            </a:r>
            <a:endParaRPr lang="zh-CN" altLang="en-US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154557" y="1732722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latin typeface="times" panose="02020603050405020304" pitchFamily="18" charset="0"/>
                <a:cs typeface="times" panose="02020603050405020304" pitchFamily="18" charset="0"/>
              </a:rPr>
              <a:t>b</a:t>
            </a:r>
            <a:endParaRPr lang="zh-CN" altLang="en-US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543878" y="3260900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latin typeface="times" panose="02020603050405020304" pitchFamily="18" charset="0"/>
                <a:cs typeface="times" panose="02020603050405020304" pitchFamily="18" charset="0"/>
              </a:rPr>
              <a:t>b</a:t>
            </a:r>
            <a:endParaRPr lang="zh-CN" altLang="en-US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4591877" y="4930674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latin typeface="times" panose="02020603050405020304" pitchFamily="18" charset="0"/>
                <a:cs typeface="times" panose="02020603050405020304" pitchFamily="18" charset="0"/>
              </a:rPr>
              <a:t>b</a:t>
            </a:r>
            <a:endParaRPr lang="zh-CN" altLang="en-US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08000" y="1229519"/>
            <a:ext cx="8128000" cy="4398962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lvl="5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lvl="6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lvl="7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lvl="8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以上对可逆绝热过程的讨论中，把比热容视为定值。若考虑比热容随温度的变化，则可逆绝热过程的过程方程比较复杂。目前多采用气体热力性质表计算，关于这方面的讨论可参阅其他热工文献。由于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endParaRPr lang="zh-CN" altLang="en-US" sz="28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endParaRPr lang="zh-CN" altLang="en-US" sz="28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endParaRPr lang="zh-CN" altLang="en-US" sz="28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这个关系式具有形式简单、计算方便的特点，因而常用它来分析可逆绝热过程，尤其在近似计算中具有一定的实用价值。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3" name="对象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35325" y="3377406"/>
            <a:ext cx="1966913" cy="549275"/>
          </a:xfrm>
          <a:prstGeom prst="rect">
            <a:avLst/>
          </a:prstGeom>
          <a:noFill/>
          <a:ln w="38100">
            <a:noFill/>
            <a:miter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417983" y="2269435"/>
            <a:ext cx="6096000" cy="685800"/>
          </a:xfrm>
          <a:noFill/>
        </p:spPr>
        <p:txBody>
          <a:bodyPr/>
          <a:lstStyle/>
          <a:p>
            <a:pPr>
              <a:buFontTx/>
              <a:buChar char="§"/>
            </a:pPr>
            <a:r>
              <a:rPr lang="en-US" altLang="zh-CN" sz="4000" b="1" dirty="0">
                <a:latin typeface="黑体" panose="02010609060101010101" pitchFamily="49" charset="-122"/>
                <a:ea typeface="黑体" panose="02010609060101010101" pitchFamily="49" charset="-122"/>
              </a:rPr>
              <a:t>8</a:t>
            </a:r>
            <a:r>
              <a:rPr lang="zh-CN" altLang="en-US" sz="4000" b="1" dirty="0">
                <a:latin typeface="黑体" panose="02010609060101010101" pitchFamily="49" charset="-122"/>
                <a:ea typeface="黑体" panose="02010609060101010101" pitchFamily="49" charset="-122"/>
              </a:rPr>
              <a:t>－</a:t>
            </a:r>
            <a:r>
              <a:rPr lang="en-US" altLang="zh-CN" sz="4000" b="1" dirty="0">
                <a:latin typeface="黑体" panose="02010609060101010101" pitchFamily="49" charset="-122"/>
                <a:ea typeface="黑体" panose="02010609060101010101" pitchFamily="49" charset="-122"/>
              </a:rPr>
              <a:t>3 </a:t>
            </a:r>
            <a:r>
              <a:rPr lang="zh-CN" altLang="en-US" sz="4000" b="1" dirty="0">
                <a:latin typeface="黑体" panose="02010609060101010101" pitchFamily="49" charset="-122"/>
                <a:ea typeface="黑体" panose="02010609060101010101" pitchFamily="49" charset="-122"/>
              </a:rPr>
              <a:t>多变过程</a:t>
            </a:r>
            <a:endParaRPr lang="zh-CN" altLang="en-US" sz="40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body" sz="half" idx="1"/>
          </p:nvPr>
        </p:nvSpPr>
        <p:spPr>
          <a:xfrm>
            <a:off x="457199" y="274638"/>
            <a:ext cx="7673009" cy="699274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zh-CN" altLang="en-US" sz="3600" b="1" dirty="0" smtClean="0">
                <a:ea typeface="黑体" panose="02010609060101010101" pitchFamily="49" charset="-122"/>
              </a:rPr>
              <a:t>一、什么</a:t>
            </a:r>
            <a:r>
              <a:rPr lang="zh-CN" altLang="en-US" sz="3600" b="1" dirty="0">
                <a:ea typeface="黑体" panose="02010609060101010101" pitchFamily="49" charset="-122"/>
              </a:rPr>
              <a:t>是多变过程？</a:t>
            </a:r>
            <a:endParaRPr lang="zh-CN" altLang="en-US" sz="3600" b="1" dirty="0">
              <a:ea typeface="黑体" panose="02010609060101010101" pitchFamily="49" charset="-122"/>
            </a:endParaRPr>
          </a:p>
        </p:txBody>
      </p:sp>
      <p:graphicFrame>
        <p:nvGraphicFramePr>
          <p:cNvPr id="35843" name="Object 3"/>
          <p:cNvGraphicFramePr>
            <a:graphicFrameLocks noChangeAspect="1"/>
          </p:cNvGraphicFramePr>
          <p:nvPr/>
        </p:nvGraphicFramePr>
        <p:xfrm>
          <a:off x="2084023" y="4299492"/>
          <a:ext cx="220968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59" name="Equation" r:id="rId1" imgW="17678400" imgH="5486400" progId="Equation.DSMT4">
                  <p:embed/>
                </p:oleObj>
              </mc:Choice>
              <mc:Fallback>
                <p:oleObj name="Equation" r:id="rId1" imgW="17678400" imgH="54864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84023" y="4299492"/>
                        <a:ext cx="2209680" cy="685800"/>
                      </a:xfrm>
                      <a:prstGeom prst="rect">
                        <a:avLst/>
                      </a:prstGeom>
                      <a:noFill/>
                      <a:ln w="25400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844" name="Text Box 4"/>
          <p:cNvSpPr txBox="1">
            <a:spLocks noChangeArrowheads="1"/>
          </p:cNvSpPr>
          <p:nvPr/>
        </p:nvSpPr>
        <p:spPr bwMode="auto">
          <a:xfrm>
            <a:off x="4892419" y="4380782"/>
            <a:ext cx="152163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buClr>
                <a:schemeClr val="folHlink"/>
              </a:buClr>
              <a:buFont typeface="Webdings" panose="05030102010509060703" pitchFamily="18" charset="2"/>
              <a:buNone/>
            </a:pPr>
            <a:r>
              <a:rPr kumimoji="1" lang="en-US" altLang="zh-CN" sz="2800" b="1" i="1" dirty="0" smtClean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kumimoji="1" lang="zh-CN" altLang="en-US" sz="2800" b="1" dirty="0" smtClean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为</a:t>
            </a:r>
            <a:r>
              <a:rPr kumimoji="1" lang="zh-CN" altLang="en-US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常数</a:t>
            </a:r>
            <a:endParaRPr kumimoji="1" lang="zh-CN" altLang="en-US" sz="28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  <a:sym typeface="UniversalMath1 BT" pitchFamily="18" charset="2"/>
            </a:endParaRPr>
          </a:p>
        </p:txBody>
      </p:sp>
      <p:sp>
        <p:nvSpPr>
          <p:cNvPr id="35845" name="Text Box 5"/>
          <p:cNvSpPr txBox="1">
            <a:spLocks noChangeArrowheads="1"/>
          </p:cNvSpPr>
          <p:nvPr/>
        </p:nvSpPr>
        <p:spPr bwMode="auto">
          <a:xfrm>
            <a:off x="457199" y="1086555"/>
            <a:ext cx="8368748" cy="2893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457200" indent="-457200"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kumimoji="1"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以上四种基本热力过程有个共同特征，均是气体的某个状态参数在过程中保持不变</a:t>
            </a:r>
            <a:endParaRPr kumimoji="1" lang="en-US" altLang="zh-CN" sz="2800" b="1" dirty="0" smtClean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457200" indent="-457200"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kumimoji="1"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实际过程往往是十分复杂的，无法保证某个状态参数在过程中固定不变。但是通过对一些过程进行实验测定，发现很多过程状态参数点的</a:t>
            </a:r>
            <a:r>
              <a:rPr kumimoji="1" lang="en-US" altLang="zh-CN" sz="2800" b="1" i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p</a:t>
            </a:r>
            <a:r>
              <a:rPr kumimoji="1" lang="zh-CN" altLang="en-US" sz="2800" b="1" i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kumimoji="1" lang="en-US" altLang="zh-CN" sz="2800" b="1" i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kumimoji="1"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值可以近似整理成如下形式：</a:t>
            </a:r>
            <a:endParaRPr kumimoji="1"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Text Box 4"/>
          <p:cNvSpPr txBox="1">
            <a:spLocks noChangeArrowheads="1"/>
          </p:cNvSpPr>
          <p:nvPr/>
        </p:nvSpPr>
        <p:spPr bwMode="auto">
          <a:xfrm>
            <a:off x="225286" y="5386419"/>
            <a:ext cx="8832574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buClr>
                <a:schemeClr val="folHlink"/>
              </a:buClr>
              <a:buFont typeface="Webdings" panose="05030102010509060703" pitchFamily="18" charset="2"/>
              <a:buNone/>
            </a:pP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这种过程称为多变过程， </a:t>
            </a:r>
            <a:r>
              <a:rPr kumimoji="1"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为多变指数</a:t>
            </a:r>
            <a:r>
              <a:rPr kumimoji="1"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：</a:t>
            </a:r>
            <a:r>
              <a:rPr kumimoji="1"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-</a:t>
            </a:r>
            <a:r>
              <a:rPr kumimoji="1"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</a:t>
            </a:r>
            <a:r>
              <a:rPr kumimoji="1"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kumimoji="1"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0 </a:t>
            </a:r>
            <a:r>
              <a:rPr kumimoji="1"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kumimoji="1"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+ </a:t>
            </a:r>
            <a:endParaRPr kumimoji="1" lang="zh-CN" altLang="en-US" sz="2800" b="1" dirty="0">
              <a:latin typeface="黑体" panose="02010609060101010101" pitchFamily="49" charset="-122"/>
              <a:ea typeface="黑体" panose="02010609060101010101" pitchFamily="49" charset="-122"/>
              <a:sym typeface="UniversalMath1 BT" pitchFamily="18" charset="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6"/>
          <p:cNvSpPr txBox="1">
            <a:spLocks noChangeArrowheads="1"/>
          </p:cNvSpPr>
          <p:nvPr/>
        </p:nvSpPr>
        <p:spPr bwMode="auto">
          <a:xfrm>
            <a:off x="503580" y="3906300"/>
            <a:ext cx="8388628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buClr>
                <a:schemeClr val="folHlink"/>
              </a:buClr>
              <a:buFont typeface="Webdings" panose="05030102010509060703" pitchFamily="18" charset="2"/>
              <a:buNone/>
            </a:pPr>
            <a:r>
              <a:rPr kumimoji="1" lang="en-US" altLang="zh-CN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kumimoji="1"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、</a:t>
            </a:r>
            <a:r>
              <a:rPr kumimoji="1" lang="zh-CN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在某一多变过程中，</a:t>
            </a:r>
            <a:r>
              <a:rPr kumimoji="1"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kumimoji="1" lang="zh-CN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为定值，但在不同的多变过程中，</a:t>
            </a:r>
            <a:r>
              <a:rPr kumimoji="1"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kumimoji="1" lang="zh-CN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值各不相同。对于复杂的实际过程，可以分为多变指数不同的</a:t>
            </a:r>
            <a:r>
              <a:rPr kumimoji="1" lang="zh-CN" altLang="zh-CN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几段</a:t>
            </a:r>
            <a:r>
              <a:rPr kumimoji="1" lang="zh-CN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来进行研究，但每一段的</a:t>
            </a:r>
            <a:r>
              <a:rPr kumimoji="1"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kumimoji="1" lang="zh-CN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值近似不变</a:t>
            </a:r>
            <a:endParaRPr kumimoji="1" lang="zh-CN" altLang="en-US" sz="2800" b="1" dirty="0">
              <a:latin typeface="黑体" panose="02010609060101010101" pitchFamily="49" charset="-122"/>
              <a:ea typeface="黑体" panose="02010609060101010101" pitchFamily="49" charset="-122"/>
              <a:sym typeface="UniversalMath1 BT" pitchFamily="18" charset="2"/>
            </a:endParaRPr>
          </a:p>
        </p:txBody>
      </p:sp>
      <p:sp>
        <p:nvSpPr>
          <p:cNvPr id="6" name="Rectangle 2"/>
          <p:cNvSpPr>
            <a:spLocks noGrp="1" noChangeArrowheads="1"/>
          </p:cNvSpPr>
          <p:nvPr>
            <p:ph type="body" sz="half" idx="1"/>
          </p:nvPr>
        </p:nvSpPr>
        <p:spPr>
          <a:xfrm>
            <a:off x="437320" y="510353"/>
            <a:ext cx="7673009" cy="699274"/>
          </a:xfrm>
        </p:spPr>
        <p:txBody>
          <a:bodyPr>
            <a:normAutofit fontScale="92500"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zh-CN" altLang="en-US" sz="3600" b="1" dirty="0" smtClean="0">
                <a:ea typeface="黑体" panose="02010609060101010101" pitchFamily="49" charset="-122"/>
              </a:rPr>
              <a:t>在研究多变过程时，需要注意以下几点：</a:t>
            </a:r>
            <a:endParaRPr lang="zh-CN" altLang="en-US" sz="3600" b="1" dirty="0">
              <a:ea typeface="黑体" panose="02010609060101010101" pitchFamily="49" charset="-122"/>
            </a:endParaRPr>
          </a:p>
        </p:txBody>
      </p:sp>
      <p:sp>
        <p:nvSpPr>
          <p:cNvPr id="7" name="Text Box 6"/>
          <p:cNvSpPr txBox="1">
            <a:spLocks noChangeArrowheads="1"/>
          </p:cNvSpPr>
          <p:nvPr/>
        </p:nvSpPr>
        <p:spPr bwMode="auto">
          <a:xfrm>
            <a:off x="437320" y="1799206"/>
            <a:ext cx="8256106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buClr>
                <a:schemeClr val="folHlink"/>
              </a:buClr>
              <a:buFont typeface="Webdings" panose="05030102010509060703" pitchFamily="18" charset="2"/>
              <a:buNone/>
            </a:pPr>
            <a:r>
              <a:rPr kumimoji="1" lang="en-US" altLang="zh-CN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kumimoji="1"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、多变过程虽然比</a:t>
            </a: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四种基本热力过程更一般化，但也</a:t>
            </a:r>
            <a:r>
              <a:rPr kumimoji="1" lang="zh-CN" altLang="en-US" sz="2800" b="1" dirty="0" smtClean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并非“任意”过程</a:t>
            </a:r>
            <a:r>
              <a:rPr kumimoji="1"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，它</a:t>
            </a: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仍然依据一定的规律变化。</a:t>
            </a:r>
            <a:endParaRPr kumimoji="1" lang="zh-CN" altLang="en-US" sz="2800" b="1" dirty="0">
              <a:latin typeface="黑体" panose="02010609060101010101" pitchFamily="49" charset="-122"/>
              <a:ea typeface="黑体" panose="02010609060101010101" pitchFamily="49" charset="-122"/>
              <a:sym typeface="UniversalMath1 BT" pitchFamily="18" charset="2"/>
            </a:endParaRP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77465" y="3219111"/>
            <a:ext cx="1727201" cy="513338"/>
          </a:xfrm>
          <a:prstGeom prst="rect">
            <a:avLst/>
          </a:prstGeom>
        </p:spPr>
      </p:pic>
      <p:sp>
        <p:nvSpPr>
          <p:cNvPr id="16" name="下箭头 15"/>
          <p:cNvSpPr/>
          <p:nvPr/>
        </p:nvSpPr>
        <p:spPr>
          <a:xfrm>
            <a:off x="6645965" y="2753313"/>
            <a:ext cx="195101" cy="489573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14"/>
          <p:cNvSpPr txBox="1">
            <a:spLocks noChangeArrowheads="1"/>
          </p:cNvSpPr>
          <p:nvPr/>
        </p:nvSpPr>
        <p:spPr bwMode="auto">
          <a:xfrm>
            <a:off x="523461" y="1746237"/>
            <a:ext cx="8382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buClr>
                <a:schemeClr val="folHlink"/>
              </a:buClr>
              <a:buFont typeface="Webdings" panose="05030102010509060703" pitchFamily="18" charset="2"/>
              <a:buNone/>
            </a:pP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但工程中所遇到的</a:t>
            </a:r>
            <a:r>
              <a:rPr kumimoji="1"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一般都是</a:t>
            </a:r>
            <a:r>
              <a:rPr kumimoji="1" lang="zh-CN" altLang="en-US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正值（</a:t>
            </a:r>
            <a:r>
              <a:rPr kumimoji="1" lang="en-US" altLang="zh-CN" sz="2800" b="1" i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&gt;0</a:t>
            </a:r>
            <a:r>
              <a:rPr kumimoji="1" lang="zh-CN" altLang="en-US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endParaRPr kumimoji="1" lang="zh-CN" altLang="en-US" sz="28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  <a:sym typeface="Symbol" panose="05050102010706020507" pitchFamily="18" charset="2"/>
            </a:endParaRPr>
          </a:p>
        </p:txBody>
      </p:sp>
      <p:graphicFrame>
        <p:nvGraphicFramePr>
          <p:cNvPr id="6" name="Object 15"/>
          <p:cNvGraphicFramePr>
            <a:graphicFrameLocks noChangeAspect="1"/>
          </p:cNvGraphicFramePr>
          <p:nvPr/>
        </p:nvGraphicFramePr>
        <p:xfrm>
          <a:off x="3761996" y="2880548"/>
          <a:ext cx="1487488" cy="855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88" name="Equation" r:id="rId1" imgW="457200" imgH="262255" progId="Equation.DSMT4">
                  <p:embed/>
                </p:oleObj>
              </mc:Choice>
              <mc:Fallback>
                <p:oleObj name="Equation" r:id="rId1" imgW="457200" imgH="262255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61996" y="2880548"/>
                        <a:ext cx="1487488" cy="855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17"/>
          <p:cNvGraphicFramePr>
            <a:graphicFrameLocks noChangeAspect="1"/>
          </p:cNvGraphicFramePr>
          <p:nvPr/>
        </p:nvGraphicFramePr>
        <p:xfrm>
          <a:off x="6684099" y="2903920"/>
          <a:ext cx="992188" cy="855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89" name="Equation" r:id="rId3" imgW="304800" imgH="262255" progId="Equation.DSMT4">
                  <p:embed/>
                </p:oleObj>
              </mc:Choice>
              <mc:Fallback>
                <p:oleObj name="Equation" r:id="rId3" imgW="304800" imgH="262255" progId="Equation.DSMT4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84099" y="2903920"/>
                        <a:ext cx="992188" cy="855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Box 18"/>
          <p:cNvSpPr txBox="1">
            <a:spLocks noChangeArrowheads="1"/>
          </p:cNvSpPr>
          <p:nvPr/>
        </p:nvSpPr>
        <p:spPr bwMode="auto">
          <a:xfrm>
            <a:off x="523461" y="4398153"/>
            <a:ext cx="8382000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buClr>
                <a:schemeClr val="folHlink"/>
              </a:buClr>
              <a:buFont typeface="Webdings" panose="05030102010509060703" pitchFamily="18" charset="2"/>
              <a:buNone/>
            </a:pPr>
            <a:r>
              <a:rPr kumimoji="1"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为</a:t>
            </a:r>
            <a:r>
              <a:rPr kumimoji="1"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负值意味着：工质</a:t>
            </a: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膨胀</a:t>
            </a:r>
            <a:r>
              <a:rPr kumimoji="1"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时压力</a:t>
            </a: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增大，压缩</a:t>
            </a:r>
            <a:r>
              <a:rPr kumimoji="1"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时压力</a:t>
            </a: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降低</a:t>
            </a:r>
            <a:r>
              <a:rPr kumimoji="1"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，这类过程在工程上极其少见，所以</a:t>
            </a:r>
            <a:r>
              <a:rPr kumimoji="1"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为</a:t>
            </a:r>
            <a:r>
              <a:rPr kumimoji="1"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负值的</a:t>
            </a: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过程不必考虑。</a:t>
            </a:r>
            <a:endParaRPr kumimoji="1"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10" name="Text Box 13"/>
          <p:cNvSpPr txBox="1">
            <a:spLocks noChangeArrowheads="1"/>
          </p:cNvSpPr>
          <p:nvPr/>
        </p:nvSpPr>
        <p:spPr bwMode="auto">
          <a:xfrm>
            <a:off x="447261" y="827625"/>
            <a:ext cx="8382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buClr>
                <a:schemeClr val="folHlink"/>
              </a:buClr>
              <a:buFont typeface="Webdings" panose="05030102010509060703" pitchFamily="18" charset="2"/>
              <a:buNone/>
            </a:pPr>
            <a:r>
              <a:rPr kumimoji="1" lang="en-US" altLang="zh-CN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kumimoji="1"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、虽然</a:t>
            </a:r>
            <a:r>
              <a:rPr kumimoji="1" lang="en-US" altLang="zh-CN" sz="2800" b="1" i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kumimoji="1"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可以为</a:t>
            </a:r>
            <a:r>
              <a:rPr kumimoji="1"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-</a:t>
            </a:r>
            <a:r>
              <a:rPr kumimoji="1"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</a:t>
            </a:r>
            <a:r>
              <a:rPr kumimoji="1"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kumimoji="1"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0 </a:t>
            </a:r>
            <a:r>
              <a:rPr kumimoji="1"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kumimoji="1"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+ </a:t>
            </a: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之间的任一数值</a:t>
            </a:r>
            <a:endParaRPr kumimoji="1" lang="zh-CN" altLang="en-US" sz="2800" b="1" i="1" dirty="0">
              <a:latin typeface="黑体" panose="02010609060101010101" pitchFamily="49" charset="-122"/>
              <a:ea typeface="黑体" panose="02010609060101010101" pitchFamily="49" charset="-122"/>
              <a:sym typeface="Symbol" panose="05050102010706020507" pitchFamily="18" charset="2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9922" y="3051710"/>
            <a:ext cx="1727201" cy="513338"/>
          </a:xfrm>
          <a:prstGeom prst="rect">
            <a:avLst/>
          </a:prstGeom>
        </p:spPr>
      </p:pic>
      <p:sp>
        <p:nvSpPr>
          <p:cNvPr id="12" name="右箭头 11"/>
          <p:cNvSpPr/>
          <p:nvPr/>
        </p:nvSpPr>
        <p:spPr>
          <a:xfrm>
            <a:off x="2806994" y="3215794"/>
            <a:ext cx="795131" cy="23191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右箭头 12"/>
          <p:cNvSpPr/>
          <p:nvPr/>
        </p:nvSpPr>
        <p:spPr>
          <a:xfrm>
            <a:off x="5569226" y="3235221"/>
            <a:ext cx="795131" cy="23191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6867" name="Object 3"/>
          <p:cNvGraphicFramePr>
            <a:graphicFrameLocks noChangeAspect="1"/>
          </p:cNvGraphicFramePr>
          <p:nvPr/>
        </p:nvGraphicFramePr>
        <p:xfrm>
          <a:off x="2655888" y="2447925"/>
          <a:ext cx="3148012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12" name="公式" r:id="rId1" imgW="525145" imgH="152400" progId="Equation.3">
                  <p:embed/>
                </p:oleObj>
              </mc:Choice>
              <mc:Fallback>
                <p:oleObj name="公式" r:id="rId1" imgW="525145" imgH="1524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55888" y="2447925"/>
                        <a:ext cx="3148012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869" name="Text Box 5"/>
          <p:cNvSpPr txBox="1">
            <a:spLocks noChangeArrowheads="1"/>
          </p:cNvSpPr>
          <p:nvPr/>
        </p:nvSpPr>
        <p:spPr bwMode="auto">
          <a:xfrm>
            <a:off x="586408" y="5059018"/>
            <a:ext cx="75438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buClr>
                <a:schemeClr val="folHlink"/>
              </a:buClr>
              <a:buFont typeface="Webdings" panose="05030102010509060703" pitchFamily="18" charset="2"/>
              <a:buNone/>
            </a:pPr>
            <a:r>
              <a:rPr kumimoji="1" lang="zh-CN" altLang="en-US" sz="2400" dirty="0">
                <a:latin typeface="Times New Roman" panose="02020603050405020304" pitchFamily="18" charset="0"/>
              </a:rPr>
              <a:t>　　</a:t>
            </a:r>
            <a:r>
              <a:rPr kumimoji="1" lang="en-US" altLang="zh-CN" sz="2800" b="1" i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kumimoji="1"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为常数；下标</a:t>
            </a:r>
            <a:r>
              <a:rPr kumimoji="1"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kumimoji="1"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表示初态；下标</a:t>
            </a:r>
            <a:r>
              <a:rPr kumimoji="1"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kumimoji="1"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表示末态</a:t>
            </a:r>
            <a:endParaRPr kumimoji="1"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  <a:sym typeface="UniversalMath1 BT" pitchFamily="18" charset="2"/>
            </a:endParaRPr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457199" y="486673"/>
            <a:ext cx="7673009" cy="699274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r>
              <a:rPr lang="zh-CN" altLang="en-US" sz="3600" b="1" dirty="0" smtClean="0">
                <a:ea typeface="黑体" panose="02010609060101010101" pitchFamily="49" charset="-122"/>
              </a:rPr>
              <a:t>二、多变过程</a:t>
            </a:r>
            <a:r>
              <a:rPr lang="zh-CN" altLang="en-US" sz="3600" b="1" dirty="0">
                <a:ea typeface="黑体" panose="02010609060101010101" pitchFamily="49" charset="-122"/>
              </a:rPr>
              <a:t>的分析</a:t>
            </a:r>
            <a:endParaRPr lang="zh-CN" altLang="en-US" sz="3600" b="1" dirty="0">
              <a:ea typeface="黑体" panose="02010609060101010101" pitchFamily="49" charset="-122"/>
            </a:endParaRPr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1630017" y="3796749"/>
            <a:ext cx="960782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indent="0">
              <a:spcBef>
                <a:spcPct val="20000"/>
              </a:spcBef>
              <a:buClr>
                <a:schemeClr val="folHlink"/>
              </a:buClr>
            </a:pPr>
            <a:r>
              <a:rPr kumimoji="1" lang="zh-CN" altLang="en-US" sz="32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即</a:t>
            </a:r>
            <a:endParaRPr kumimoji="1" lang="zh-CN" altLang="en-US" sz="32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/>
        </p:nvGraphicFramePr>
        <p:xfrm>
          <a:off x="2655403" y="3581522"/>
          <a:ext cx="2946400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13" name="Equation" r:id="rId3" imgW="736600" imgH="241300" progId="Equation.DSMT4">
                  <p:embed/>
                </p:oleObj>
              </mc:Choice>
              <mc:Fallback>
                <p:oleObj name="Equation" r:id="rId3" imgW="736600" imgH="241300" progId="Equation.DSMT4">
                  <p:embed/>
                  <p:pic>
                    <p:nvPicPr>
                      <p:cNvPr id="0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55403" y="3581522"/>
                        <a:ext cx="2946400" cy="965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Rectangle 3"/>
          <p:cNvSpPr>
            <a:spLocks noChangeArrowheads="1"/>
          </p:cNvSpPr>
          <p:nvPr/>
        </p:nvSpPr>
        <p:spPr bwMode="auto">
          <a:xfrm>
            <a:off x="868017" y="1459370"/>
            <a:ext cx="4419600" cy="801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Ø"/>
            </a:pPr>
            <a:r>
              <a:rPr kumimoji="1" lang="zh-CN" altLang="en-US" sz="3600" b="1" dirty="0">
                <a:latin typeface="黑体" panose="02010609060101010101" pitchFamily="49" charset="-122"/>
                <a:ea typeface="黑体" panose="02010609060101010101" pitchFamily="49" charset="-122"/>
              </a:rPr>
              <a:t>过程方程</a:t>
            </a:r>
            <a:endParaRPr kumimoji="1" lang="zh-CN" altLang="en-US" sz="3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7891" name="Object 3"/>
          <p:cNvGraphicFramePr>
            <a:graphicFrameLocks noChangeAspect="1"/>
          </p:cNvGraphicFramePr>
          <p:nvPr/>
        </p:nvGraphicFramePr>
        <p:xfrm>
          <a:off x="1219200" y="1447800"/>
          <a:ext cx="7005638" cy="1554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36" name="Equation" r:id="rId1" imgW="1718945" imgH="381000" progId="Equation.3">
                  <p:embed/>
                </p:oleObj>
              </mc:Choice>
              <mc:Fallback>
                <p:oleObj name="Equation" r:id="rId1" imgW="1718945" imgH="3810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1447800"/>
                        <a:ext cx="7005638" cy="1554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892" name="Object 4"/>
          <p:cNvGraphicFramePr>
            <a:graphicFrameLocks noChangeAspect="1"/>
          </p:cNvGraphicFramePr>
          <p:nvPr/>
        </p:nvGraphicFramePr>
        <p:xfrm>
          <a:off x="1295400" y="3581400"/>
          <a:ext cx="4084638" cy="2581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37" name="Equation" r:id="rId3" imgW="965200" imgH="609600" progId="Equation.3">
                  <p:embed/>
                </p:oleObj>
              </mc:Choice>
              <mc:Fallback>
                <p:oleObj name="Equation" r:id="rId3" imgW="965200" imgH="6096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5400" y="3581400"/>
                        <a:ext cx="4084638" cy="2581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288234" y="467519"/>
            <a:ext cx="8517835" cy="801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Ø"/>
            </a:pPr>
            <a:r>
              <a:rPr kumimoji="1" lang="zh-CN" altLang="en-US" sz="3600" b="1" dirty="0">
                <a:latin typeface="黑体" panose="02010609060101010101" pitchFamily="49" charset="-122"/>
                <a:ea typeface="黑体" panose="02010609060101010101" pitchFamily="49" charset="-122"/>
              </a:rPr>
              <a:t>初、终态参数的</a:t>
            </a:r>
            <a:r>
              <a:rPr kumimoji="1" lang="zh-CN" altLang="en-US" sz="36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关系</a:t>
            </a:r>
            <a:r>
              <a:rPr kumimoji="1" lang="zh-CN" altLang="en-US" sz="36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及⊿</a:t>
            </a:r>
            <a:r>
              <a:rPr kumimoji="1" lang="en-US" altLang="zh-CN" sz="36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u</a:t>
            </a:r>
            <a:r>
              <a:rPr kumimoji="1" lang="zh-CN" altLang="en-US" sz="36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、⊿</a:t>
            </a:r>
            <a:r>
              <a:rPr kumimoji="1" lang="en-US" altLang="zh-CN" sz="36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h</a:t>
            </a:r>
            <a:r>
              <a:rPr kumimoji="1" lang="zh-CN" altLang="en-US" sz="36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和⊿</a:t>
            </a:r>
            <a:r>
              <a:rPr kumimoji="1" lang="en-US" altLang="zh-CN" sz="36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s</a:t>
            </a:r>
            <a:endParaRPr kumimoji="1" lang="zh-CN" altLang="en-US" sz="3600" b="1" i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ext Box 2"/>
          <p:cNvSpPr txBox="1">
            <a:spLocks noChangeArrowheads="1"/>
          </p:cNvSpPr>
          <p:nvPr/>
        </p:nvSpPr>
        <p:spPr bwMode="auto">
          <a:xfrm>
            <a:off x="513522" y="443948"/>
            <a:ext cx="708660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buClr>
                <a:schemeClr val="folHlink"/>
              </a:buClr>
              <a:buFont typeface="Wingdings" panose="05000000000000000000" pitchFamily="2" charset="2"/>
              <a:buChar char="Ø"/>
            </a:pPr>
            <a:r>
              <a:rPr kumimoji="1" lang="en-US" altLang="zh-CN" sz="3600" i="1" dirty="0">
                <a:latin typeface="Times New Roman" panose="02020603050405020304" pitchFamily="18" charset="0"/>
              </a:rPr>
              <a:t>  p-v</a:t>
            </a:r>
            <a:r>
              <a:rPr kumimoji="1" lang="zh-CN" altLang="en-US" sz="3600" b="1" dirty="0">
                <a:latin typeface="黑体" panose="02010609060101010101" pitchFamily="49" charset="-122"/>
                <a:ea typeface="黑体" panose="02010609060101010101" pitchFamily="49" charset="-122"/>
              </a:rPr>
              <a:t>图和</a:t>
            </a:r>
            <a:r>
              <a:rPr kumimoji="1" lang="en-US" altLang="zh-CN" sz="3600" i="1" dirty="0">
                <a:latin typeface="Times New Roman" panose="02020603050405020304" pitchFamily="18" charset="0"/>
              </a:rPr>
              <a:t>T-s</a:t>
            </a:r>
            <a:r>
              <a:rPr kumimoji="1" lang="zh-CN" altLang="en-US" sz="3600" b="1" dirty="0">
                <a:latin typeface="黑体" panose="02010609060101010101" pitchFamily="49" charset="-122"/>
                <a:ea typeface="黑体" panose="02010609060101010101" pitchFamily="49" charset="-122"/>
              </a:rPr>
              <a:t>图</a:t>
            </a:r>
            <a:endParaRPr kumimoji="1" lang="zh-CN" altLang="en-US" sz="3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5368" name="Rectangle 8"/>
          <p:cNvSpPr>
            <a:spLocks noChangeArrowheads="1"/>
          </p:cNvSpPr>
          <p:nvPr/>
        </p:nvSpPr>
        <p:spPr bwMode="auto">
          <a:xfrm>
            <a:off x="761999" y="1586948"/>
            <a:ext cx="7580243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zh-CN" altLang="zh-CN" sz="32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多变过程</a:t>
            </a:r>
            <a:r>
              <a:rPr lang="zh-CN" altLang="zh-CN" sz="32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在</a:t>
            </a:r>
            <a:r>
              <a:rPr lang="en-US" altLang="zh-CN" sz="32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p-v</a:t>
            </a:r>
            <a:r>
              <a:rPr lang="zh-CN" altLang="zh-CN" sz="32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图和</a:t>
            </a:r>
            <a:r>
              <a:rPr lang="en-US" altLang="zh-CN" sz="32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T-s</a:t>
            </a:r>
            <a:r>
              <a:rPr lang="zh-CN" altLang="zh-CN" sz="32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图上的对应位置由多变指数</a:t>
            </a:r>
            <a:r>
              <a:rPr lang="en-US" altLang="zh-CN" sz="32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lang="zh-CN" altLang="zh-CN" sz="32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的数值来确定</a:t>
            </a:r>
            <a:r>
              <a:rPr lang="zh-CN" altLang="zh-CN" sz="32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lang="zh-CN" altLang="en-US" sz="32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具体如何画会在后面详细介绍</a:t>
            </a:r>
            <a:endParaRPr kumimoji="1" lang="zh-CN" altLang="en-US" sz="32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235226" y="175592"/>
            <a:ext cx="7010400" cy="801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Ø"/>
            </a:pPr>
            <a:r>
              <a:rPr kumimoji="1" lang="zh-CN" altLang="en-US" sz="3600" b="1" dirty="0">
                <a:latin typeface="黑体" panose="02010609060101010101" pitchFamily="49" charset="-122"/>
                <a:ea typeface="黑体" panose="02010609060101010101" pitchFamily="49" charset="-122"/>
              </a:rPr>
              <a:t>过程中能量的转换</a:t>
            </a:r>
            <a:endParaRPr kumimoji="1" lang="zh-CN" altLang="en-US" sz="3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1336261" y="1091647"/>
            <a:ext cx="6227763" cy="3663950"/>
            <a:chOff x="1336261" y="1091647"/>
            <a:chExt cx="6227763" cy="3663950"/>
          </a:xfrm>
        </p:grpSpPr>
        <p:graphicFrame>
          <p:nvGraphicFramePr>
            <p:cNvPr id="38916" name="Object 4"/>
            <p:cNvGraphicFramePr>
              <a:graphicFrameLocks noChangeAspect="1"/>
            </p:cNvGraphicFramePr>
            <p:nvPr/>
          </p:nvGraphicFramePr>
          <p:xfrm>
            <a:off x="1336261" y="1091647"/>
            <a:ext cx="6227763" cy="36639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660" name="Equation" r:id="rId1" imgW="59131200" imgH="34747200" progId="Equation.DSMT4">
                    <p:embed/>
                  </p:oleObj>
                </mc:Choice>
                <mc:Fallback>
                  <p:oleObj name="Equation" r:id="rId1" imgW="59131200" imgH="34747200" progId="Equation.DSMT4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36261" y="1091647"/>
                          <a:ext cx="6227763" cy="36639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" name="文本框 4"/>
            <p:cNvSpPr txBox="1"/>
            <p:nvPr/>
          </p:nvSpPr>
          <p:spPr>
            <a:xfrm>
              <a:off x="1537252" y="1562104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>
                  <a:latin typeface="times" panose="02020603050405020304" pitchFamily="18" charset="0"/>
                  <a:cs typeface="times" panose="02020603050405020304" pitchFamily="18" charset="0"/>
                </a:rPr>
                <a:t>b</a:t>
              </a:r>
              <a:endParaRPr lang="zh-CN" altLang="en-US" dirty="0"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612912" y="4939748"/>
            <a:ext cx="8259417" cy="1792356"/>
            <a:chOff x="526773" y="4979504"/>
            <a:chExt cx="8259417" cy="1792356"/>
          </a:xfrm>
        </p:grpSpPr>
        <p:sp>
          <p:nvSpPr>
            <p:cNvPr id="8" name="Rectangle 2"/>
            <p:cNvSpPr>
              <a:spLocks noChangeArrowheads="1"/>
            </p:cNvSpPr>
            <p:nvPr/>
          </p:nvSpPr>
          <p:spPr bwMode="auto">
            <a:xfrm>
              <a:off x="526773" y="4979504"/>
              <a:ext cx="8259417" cy="179235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marL="342900" indent="-3429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indent="0">
                <a:spcBef>
                  <a:spcPct val="20000"/>
                </a:spcBef>
                <a:buClr>
                  <a:schemeClr val="folHlink"/>
                </a:buClr>
              </a:pPr>
              <a:r>
                <a:rPr kumimoji="1" lang="zh-CN" altLang="zh-CN" sz="3200" b="1" dirty="0" smtClean="0">
                  <a:latin typeface="黑体" panose="02010609060101010101" pitchFamily="49" charset="-122"/>
                  <a:ea typeface="黑体" panose="02010609060101010101" pitchFamily="49" charset="-122"/>
                </a:rPr>
                <a:t>可以</a:t>
              </a:r>
              <a:r>
                <a:rPr kumimoji="1" lang="zh-CN" altLang="zh-CN" sz="32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看到，多变过程</a:t>
              </a:r>
              <a:r>
                <a:rPr kumimoji="1" lang="zh-CN" altLang="zh-CN" sz="3200" b="1" dirty="0" smtClean="0">
                  <a:latin typeface="黑体" panose="02010609060101010101" pitchFamily="49" charset="-122"/>
                  <a:ea typeface="黑体" panose="02010609060101010101" pitchFamily="49" charset="-122"/>
                </a:rPr>
                <a:t>的</a:t>
              </a:r>
              <a:r>
                <a:rPr kumimoji="1" lang="en-US" altLang="zh-CN" sz="3200" b="1" i="1" dirty="0" err="1" smtClean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w</a:t>
              </a:r>
              <a:r>
                <a:rPr kumimoji="1" lang="en-US" altLang="zh-CN" sz="3200" b="1" baseline="-25000" dirty="0" err="1" smtClean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b</a:t>
              </a:r>
              <a:r>
                <a:rPr kumimoji="1" lang="zh-CN" altLang="zh-CN" sz="3200" b="1" dirty="0" smtClean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和</a:t>
              </a:r>
              <a:r>
                <a:rPr kumimoji="1" lang="en-US" altLang="zh-CN" sz="3200" b="1" i="1" dirty="0" err="1" smtClean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w</a:t>
              </a:r>
              <a:r>
                <a:rPr kumimoji="1" lang="en-US" altLang="zh-CN" sz="3200" b="1" baseline="-25000" dirty="0" err="1" smtClean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t</a:t>
              </a:r>
              <a:r>
                <a:rPr kumimoji="1" lang="zh-CN" altLang="zh-CN" sz="3200" b="1" dirty="0" smtClean="0">
                  <a:latin typeface="黑体" panose="02010609060101010101" pitchFamily="49" charset="-122"/>
                  <a:ea typeface="黑体" panose="02010609060101010101" pitchFamily="49" charset="-122"/>
                </a:rPr>
                <a:t>的</a:t>
              </a:r>
              <a:r>
                <a:rPr kumimoji="1" lang="zh-CN" altLang="zh-CN" sz="32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表达式在形式上与绝热过程的相同，只是将绝热过程结果中的</a:t>
              </a:r>
              <a:r>
                <a:rPr kumimoji="1" lang="zh-CN" altLang="zh-CN" sz="3200" b="1" dirty="0" smtClean="0">
                  <a:latin typeface="黑体" panose="02010609060101010101" pitchFamily="49" charset="-122"/>
                  <a:ea typeface="黑体" panose="02010609060101010101" pitchFamily="49" charset="-122"/>
                </a:rPr>
                <a:t>指数</a:t>
              </a:r>
              <a:r>
                <a:rPr kumimoji="1" lang="en-US" altLang="zh-CN" sz="3200" b="1" dirty="0" smtClean="0">
                  <a:latin typeface="黑体" panose="02010609060101010101" pitchFamily="49" charset="-122"/>
                  <a:ea typeface="黑体" panose="02010609060101010101" pitchFamily="49" charset="-122"/>
                </a:rPr>
                <a:t>  </a:t>
              </a:r>
              <a:r>
                <a:rPr kumimoji="1" lang="zh-CN" altLang="en-US" sz="3200" b="1" dirty="0" smtClean="0">
                  <a:latin typeface="黑体" panose="02010609060101010101" pitchFamily="49" charset="-122"/>
                  <a:ea typeface="黑体" panose="02010609060101010101" pitchFamily="49" charset="-122"/>
                </a:rPr>
                <a:t>换为</a:t>
              </a:r>
              <a:r>
                <a:rPr kumimoji="1" lang="en-US" altLang="zh-CN" sz="3200" b="1" i="1" dirty="0" smtClean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n</a:t>
              </a:r>
              <a:r>
                <a:rPr kumimoji="1" lang="zh-CN" altLang="en-US" sz="3200" b="1" dirty="0" smtClean="0">
                  <a:latin typeface="黑体" panose="02010609060101010101" pitchFamily="49" charset="-122"/>
                  <a:ea typeface="黑体" panose="02010609060101010101" pitchFamily="49" charset="-122"/>
                </a:rPr>
                <a:t>即可</a:t>
              </a:r>
              <a:endParaRPr kumimoji="1"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graphicFrame>
          <p:nvGraphicFramePr>
            <p:cNvPr id="10" name="对象 9"/>
            <p:cNvGraphicFramePr>
              <a:graphicFrameLocks noChangeAspect="1"/>
            </p:cNvGraphicFramePr>
            <p:nvPr/>
          </p:nvGraphicFramePr>
          <p:xfrm>
            <a:off x="2732984" y="6121952"/>
            <a:ext cx="349200" cy="316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661" name="Equation" r:id="rId3" imgW="3352800" imgH="3048000" progId="Equation.DSMT4">
                    <p:embed/>
                  </p:oleObj>
                </mc:Choice>
                <mc:Fallback>
                  <p:oleObj name="Equation" r:id="rId3" imgW="3352800" imgH="3048000" progId="Equation.DSMT4">
                    <p:embed/>
                    <p:pic>
                      <p:nvPicPr>
                        <p:cNvPr id="0" name="对象 9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2732984" y="6121952"/>
                          <a:ext cx="349200" cy="3168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4" name="文本框 13"/>
          <p:cNvSpPr txBox="1"/>
          <p:nvPr/>
        </p:nvSpPr>
        <p:spPr>
          <a:xfrm>
            <a:off x="2512629" y="3344521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latin typeface="times" panose="02020603050405020304" pitchFamily="18" charset="0"/>
                <a:cs typeface="times" panose="02020603050405020304" pitchFamily="18" charset="0"/>
              </a:rPr>
              <a:t>b</a:t>
            </a:r>
            <a:endParaRPr lang="zh-CN" altLang="en-US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1411798" y="405296"/>
          <a:ext cx="6425694" cy="20556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89" name="Equation" r:id="rId1" imgW="60960000" imgH="19507200" progId="Equation.DSMT4">
                  <p:embed/>
                </p:oleObj>
              </mc:Choice>
              <mc:Fallback>
                <p:oleObj name="Equation" r:id="rId1" imgW="60960000" imgH="19507200" progId="Equation.DSMT4">
                  <p:embed/>
                  <p:pic>
                    <p:nvPicPr>
                      <p:cNvPr id="0" name="对象 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411798" y="405296"/>
                        <a:ext cx="6425694" cy="205567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2975113" y="853112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latin typeface="times" panose="02020603050405020304" pitchFamily="18" charset="0"/>
                <a:cs typeface="times" panose="02020603050405020304" pitchFamily="18" charset="0"/>
              </a:rPr>
              <a:t>b</a:t>
            </a:r>
            <a:endParaRPr lang="zh-CN" altLang="en-US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7" name="Rectangle 20"/>
          <p:cNvSpPr>
            <a:spLocks noChangeArrowheads="1"/>
          </p:cNvSpPr>
          <p:nvPr/>
        </p:nvSpPr>
        <p:spPr bwMode="auto">
          <a:xfrm>
            <a:off x="2030896" y="1464366"/>
            <a:ext cx="1250711" cy="996606"/>
          </a:xfrm>
          <a:prstGeom prst="rect">
            <a:avLst/>
          </a:prstGeom>
          <a:noFill/>
          <a:ln w="25400">
            <a:solidFill>
              <a:srgbClr val="FF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" name="下箭头 7"/>
          <p:cNvSpPr/>
          <p:nvPr/>
        </p:nvSpPr>
        <p:spPr>
          <a:xfrm>
            <a:off x="2570922" y="2610678"/>
            <a:ext cx="311426" cy="78850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620078" y="3611217"/>
            <a:ext cx="5171661" cy="801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indent="0">
              <a:spcBef>
                <a:spcPct val="20000"/>
              </a:spcBef>
              <a:buClr>
                <a:schemeClr val="folHlink"/>
              </a:buClr>
            </a:pP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多变比</a:t>
            </a:r>
            <a:r>
              <a:rPr kumimoji="1"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热容，用符号</a:t>
            </a:r>
            <a:r>
              <a:rPr kumimoji="1" lang="en-US" altLang="zh-CN" sz="2800" b="1" i="1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c</a:t>
            </a:r>
            <a:r>
              <a:rPr kumimoji="1" lang="en-US" altLang="zh-CN" sz="2800" b="1" i="1" baseline="-25000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kumimoji="1"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表示</a:t>
            </a:r>
            <a:endParaRPr kumimoji="1"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6356302" y="3399183"/>
          <a:ext cx="1999383" cy="9838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90" name="Equation" r:id="rId3" imgW="799465" imgH="393700" progId="Equation.DSMT4">
                  <p:embed/>
                </p:oleObj>
              </mc:Choice>
              <mc:Fallback>
                <p:oleObj name="Equation" r:id="rId3" imgW="799465" imgH="393700" progId="Equation.DSMT4">
                  <p:embed/>
                  <p:pic>
                    <p:nvPicPr>
                      <p:cNvPr id="0" name="对象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56302" y="3399183"/>
                        <a:ext cx="1999383" cy="98382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文本框 1"/>
          <p:cNvSpPr txBox="1">
            <a:spLocks noChangeArrowheads="1"/>
          </p:cNvSpPr>
          <p:nvPr/>
        </p:nvSpPr>
        <p:spPr bwMode="auto">
          <a:xfrm>
            <a:off x="641909" y="5484793"/>
            <a:ext cx="7965472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r>
              <a:rPr kumimoji="1" lang="en-US" altLang="zh-CN" sz="28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kumimoji="1" lang="en-US" altLang="zh-CN" sz="2800" b="1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的物理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意义：单位质量的理想气体在可逆多变过程中温度升高1 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K（或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℃）从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外界吸收的热量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3725184" y="4553805"/>
          <a:ext cx="22221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91" name="Equation" r:id="rId5" imgW="21336000" imgH="5486400" progId="Equation.DSMT4">
                  <p:embed/>
                </p:oleObj>
              </mc:Choice>
              <mc:Fallback>
                <p:oleObj name="Equation" r:id="rId5" imgW="21336000" imgH="5486400" progId="Equation.DSMT4">
                  <p:embed/>
                  <p:pic>
                    <p:nvPicPr>
                      <p:cNvPr id="0" name="对象 12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725184" y="4553805"/>
                        <a:ext cx="2222100" cy="571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Rectangle 2"/>
          <p:cNvSpPr>
            <a:spLocks noChangeArrowheads="1"/>
          </p:cNvSpPr>
          <p:nvPr/>
        </p:nvSpPr>
        <p:spPr bwMode="auto">
          <a:xfrm>
            <a:off x="861057" y="4559917"/>
            <a:ext cx="5171661" cy="801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indent="0">
              <a:spcBef>
                <a:spcPct val="20000"/>
              </a:spcBef>
              <a:buClr>
                <a:schemeClr val="folHlink"/>
              </a:buClr>
            </a:pP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用</a:t>
            </a:r>
            <a:r>
              <a:rPr kumimoji="1" lang="en-US" altLang="zh-CN" sz="2800" b="1" i="1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c</a:t>
            </a:r>
            <a:r>
              <a:rPr kumimoji="1" lang="en-US" altLang="zh-CN" sz="2800" b="1" i="1" baseline="-25000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kumimoji="1"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计算</a:t>
            </a:r>
            <a:r>
              <a:rPr kumimoji="1" lang="en-US" altLang="zh-CN" sz="2800" b="1" i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q</a:t>
            </a:r>
            <a:endParaRPr kumimoji="1" lang="zh-CN" altLang="en-US" sz="2800" b="1" i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5" name="右箭头 14"/>
          <p:cNvSpPr/>
          <p:nvPr/>
        </p:nvSpPr>
        <p:spPr>
          <a:xfrm>
            <a:off x="2791277" y="4749240"/>
            <a:ext cx="795131" cy="23191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5" name="矩形 103425"/>
          <p:cNvSpPr>
            <a:spLocks noChangeArrowheads="1"/>
          </p:cNvSpPr>
          <p:nvPr/>
        </p:nvSpPr>
        <p:spPr bwMode="auto">
          <a:xfrm>
            <a:off x="457200" y="304800"/>
            <a:ext cx="7772400" cy="801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None/>
            </a:pPr>
            <a:r>
              <a:rPr lang="zh-CN" altLang="en-US" sz="3200" b="1">
                <a:latin typeface="黑体" panose="02010609060101010101" pitchFamily="49" charset="-122"/>
                <a:ea typeface="黑体" panose="02010609060101010101" pitchFamily="49" charset="-122"/>
              </a:rPr>
              <a:t>三、多变过程与四种基本热力过程的关系</a:t>
            </a:r>
            <a:endParaRPr lang="zh-CN" altLang="en-US" sz="32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03432" name="文本框 103431"/>
          <p:cNvSpPr txBox="1">
            <a:spLocks noChangeArrowheads="1"/>
          </p:cNvSpPr>
          <p:nvPr/>
        </p:nvSpPr>
        <p:spPr bwMode="auto">
          <a:xfrm>
            <a:off x="1295400" y="6095999"/>
            <a:ext cx="71628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2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四种基本热力过程是特殊的</a:t>
            </a:r>
            <a:r>
              <a:rPr lang="zh-CN" altLang="en-US" sz="3200" b="1" dirty="0" smtClean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多变过程</a:t>
            </a:r>
            <a:endParaRPr lang="zh-CN" altLang="en-US" sz="32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77827" name="对象 5"/>
          <p:cNvGraphicFramePr/>
          <p:nvPr/>
        </p:nvGraphicFramePr>
        <p:xfrm>
          <a:off x="2886075" y="1038225"/>
          <a:ext cx="3046413" cy="928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28" name="" r:id="rId1" imgW="787400" imgH="228600" progId="Equation.KSEE3">
                  <p:embed/>
                </p:oleObj>
              </mc:Choice>
              <mc:Fallback>
                <p:oleObj name="" r:id="rId1" imgW="787400" imgH="228600" progId="Equation.KSEE3">
                  <p:embed/>
                  <p:pic>
                    <p:nvPicPr>
                      <p:cNvPr id="0" name="对象 5"/>
                      <p:cNvPicPr>
                        <a:picLocks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86075" y="1038225"/>
                        <a:ext cx="3046413" cy="928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828" name="对象 7"/>
          <p:cNvGraphicFramePr>
            <a:graphicFrameLocks noChangeAspect="1"/>
          </p:cNvGraphicFramePr>
          <p:nvPr/>
        </p:nvGraphicFramePr>
        <p:xfrm>
          <a:off x="1169988" y="2198688"/>
          <a:ext cx="7048500" cy="576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29" name="" r:id="rId3" imgW="3009900" imgH="228600" progId="Equation.DSMT4">
                  <p:embed/>
                </p:oleObj>
              </mc:Choice>
              <mc:Fallback>
                <p:oleObj name="" r:id="rId3" imgW="3009900" imgH="228600" progId="Equation.DSMT4">
                  <p:embed/>
                  <p:pic>
                    <p:nvPicPr>
                      <p:cNvPr id="0" name="对象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69988" y="2198688"/>
                        <a:ext cx="7048500" cy="576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829" name="对象 9"/>
          <p:cNvGraphicFramePr>
            <a:graphicFrameLocks noChangeAspect="1"/>
          </p:cNvGraphicFramePr>
          <p:nvPr/>
        </p:nvGraphicFramePr>
        <p:xfrm>
          <a:off x="1117600" y="2933700"/>
          <a:ext cx="7340600" cy="1150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30" name="" r:id="rId5" imgW="3124200" imgH="457200" progId="Equation.DSMT4">
                  <p:embed/>
                </p:oleObj>
              </mc:Choice>
              <mc:Fallback>
                <p:oleObj name="" r:id="rId5" imgW="3124200" imgH="457200" progId="Equation.DSMT4">
                  <p:embed/>
                  <p:pic>
                    <p:nvPicPr>
                      <p:cNvPr id="0" name="对象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7600" y="2933700"/>
                        <a:ext cx="7340600" cy="1150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830" name="对象 11"/>
          <p:cNvGraphicFramePr>
            <a:graphicFrameLocks noChangeAspect="1"/>
          </p:cNvGraphicFramePr>
          <p:nvPr/>
        </p:nvGraphicFramePr>
        <p:xfrm>
          <a:off x="1101725" y="4194175"/>
          <a:ext cx="7362825" cy="576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31" name="" r:id="rId7" imgW="3009900" imgH="228600" progId="Equation.DSMT4">
                  <p:embed/>
                </p:oleObj>
              </mc:Choice>
              <mc:Fallback>
                <p:oleObj name="" r:id="rId7" imgW="3009900" imgH="228600" progId="Equation.DSMT4">
                  <p:embed/>
                  <p:pic>
                    <p:nvPicPr>
                      <p:cNvPr id="0" name="对象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01725" y="4194175"/>
                        <a:ext cx="7362825" cy="576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831" name="对象 4"/>
          <p:cNvGraphicFramePr>
            <a:graphicFrameLocks noChangeAspect="1"/>
          </p:cNvGraphicFramePr>
          <p:nvPr/>
        </p:nvGraphicFramePr>
        <p:xfrm>
          <a:off x="1003299" y="4971153"/>
          <a:ext cx="7559675" cy="576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32" name="Equation" r:id="rId9" imgW="74066400" imgH="5486400" progId="Equation.DSMT4">
                  <p:embed/>
                </p:oleObj>
              </mc:Choice>
              <mc:Fallback>
                <p:oleObj name="Equation" r:id="rId9" imgW="74066400" imgH="5486400" progId="Equation.DSMT4">
                  <p:embed/>
                  <p:pic>
                    <p:nvPicPr>
                      <p:cNvPr id="0" name="对象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3299" y="4971153"/>
                        <a:ext cx="7559675" cy="576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845930" y="5519530"/>
          <a:ext cx="162504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33" name="Equation" r:id="rId11" imgW="19507200" imgH="5486400" progId="Equation.DSMT4">
                  <p:embed/>
                </p:oleObj>
              </mc:Choice>
              <mc:Fallback>
                <p:oleObj name="Equation" r:id="rId11" imgW="19507200" imgH="5486400" progId="Equation.DSMT4">
                  <p:embed/>
                  <p:pic>
                    <p:nvPicPr>
                      <p:cNvPr id="0" name="对象 3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845930" y="5519530"/>
                        <a:ext cx="1625040" cy="457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34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3432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8850" name="对象 62473"/>
          <p:cNvGraphicFramePr/>
          <p:nvPr/>
        </p:nvGraphicFramePr>
        <p:xfrm>
          <a:off x="2702753" y="3219810"/>
          <a:ext cx="3716338" cy="612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47" name="Equation" r:id="rId1" imgW="35052000" imgH="5791200" progId="Equation.DSMT4">
                  <p:embed/>
                </p:oleObj>
              </mc:Choice>
              <mc:Fallback>
                <p:oleObj name="Equation" r:id="rId1" imgW="35052000" imgH="5791200" progId="Equation.DSMT4">
                  <p:embed/>
                  <p:pic>
                    <p:nvPicPr>
                      <p:cNvPr id="0" name="对象 62473"/>
                      <p:cNvPicPr>
                        <a:picLocks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02753" y="3219810"/>
                        <a:ext cx="3716338" cy="612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8852" name="对象 62475"/>
          <p:cNvGraphicFramePr/>
          <p:nvPr/>
        </p:nvGraphicFramePr>
        <p:xfrm>
          <a:off x="2702753" y="4474872"/>
          <a:ext cx="2614613" cy="573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48" name="Equation" r:id="rId3" imgW="24993600" imgH="5486400" progId="Equation.DSMT4">
                  <p:embed/>
                </p:oleObj>
              </mc:Choice>
              <mc:Fallback>
                <p:oleObj name="Equation" r:id="rId3" imgW="24993600" imgH="5486400" progId="Equation.DSMT4">
                  <p:embed/>
                  <p:pic>
                    <p:nvPicPr>
                      <p:cNvPr id="0" name="对象 62475"/>
                      <p:cNvPicPr>
                        <a:picLocks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02753" y="4474872"/>
                        <a:ext cx="2614613" cy="573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8853" name="对象 62476"/>
          <p:cNvGraphicFramePr/>
          <p:nvPr/>
        </p:nvGraphicFramePr>
        <p:xfrm>
          <a:off x="2661477" y="5110802"/>
          <a:ext cx="2697163" cy="590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49" name="Equation" r:id="rId5" imgW="24993600" imgH="5486400" progId="Equation.DSMT4">
                  <p:embed/>
                </p:oleObj>
              </mc:Choice>
              <mc:Fallback>
                <p:oleObj name="Equation" r:id="rId5" imgW="24993600" imgH="5486400" progId="Equation.DSMT4">
                  <p:embed/>
                  <p:pic>
                    <p:nvPicPr>
                      <p:cNvPr id="0" name="对象 62476"/>
                      <p:cNvPicPr>
                        <a:picLocks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1477" y="5110802"/>
                        <a:ext cx="2697163" cy="590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8856" name="对象 2"/>
          <p:cNvGraphicFramePr>
            <a:graphicFrameLocks noChangeAspect="1"/>
          </p:cNvGraphicFramePr>
          <p:nvPr/>
        </p:nvGraphicFramePr>
        <p:xfrm>
          <a:off x="2821816" y="1698934"/>
          <a:ext cx="2376488" cy="1149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50" name="" r:id="rId7" imgW="800100" imgH="393700" progId="Equation.DSMT4">
                  <p:embed/>
                </p:oleObj>
              </mc:Choice>
              <mc:Fallback>
                <p:oleObj name="" r:id="rId7" imgW="800100" imgH="393700" progId="Equation.DSMT4">
                  <p:embed/>
                  <p:pic>
                    <p:nvPicPr>
                      <p:cNvPr id="0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21816" y="1698934"/>
                        <a:ext cx="2376488" cy="1149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Rectangle 2"/>
          <p:cNvSpPr>
            <a:spLocks noChangeArrowheads="1"/>
          </p:cNvSpPr>
          <p:nvPr/>
        </p:nvSpPr>
        <p:spPr bwMode="auto">
          <a:xfrm>
            <a:off x="454025" y="489431"/>
            <a:ext cx="7927975" cy="13078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indent="0">
              <a:spcBef>
                <a:spcPct val="20000"/>
              </a:spcBef>
              <a:buClr>
                <a:schemeClr val="folHlink"/>
              </a:buClr>
            </a:pPr>
            <a:r>
              <a:rPr kumimoji="1"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将以上</a:t>
            </a:r>
            <a:r>
              <a:rPr kumimoji="1" lang="en-US" altLang="zh-CN" sz="2800" b="1" i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kumimoji="1"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的四种特殊取值分别代入多变比热容</a:t>
            </a:r>
            <a:r>
              <a:rPr kumimoji="1" lang="en-US" altLang="zh-CN" sz="2800" b="1" i="1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c</a:t>
            </a:r>
            <a:r>
              <a:rPr kumimoji="1" lang="en-US" altLang="zh-CN" sz="2800" b="1" i="1" baseline="-25000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kumimoji="1"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的表达式中，即可得到四种基本热力过程的比热容，具体为</a:t>
            </a:r>
            <a:endParaRPr kumimoji="1"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2" name="对象 62473"/>
          <p:cNvGraphicFramePr/>
          <p:nvPr/>
        </p:nvGraphicFramePr>
        <p:xfrm>
          <a:off x="2702753" y="3831005"/>
          <a:ext cx="2617788" cy="581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51" name="Equation" r:id="rId9" imgW="24688800" imgH="5486400" progId="Equation.DSMT4">
                  <p:embed/>
                </p:oleObj>
              </mc:Choice>
              <mc:Fallback>
                <p:oleObj name="Equation" r:id="rId9" imgW="24688800" imgH="5486400" progId="Equation.DSMT4">
                  <p:embed/>
                  <p:pic>
                    <p:nvPicPr>
                      <p:cNvPr id="0" name="对象 62473"/>
                      <p:cNvPicPr>
                        <a:picLocks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02753" y="3831005"/>
                        <a:ext cx="2617788" cy="581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3" name="文本框 41985"/>
          <p:cNvSpPr txBox="1">
            <a:spLocks noChangeArrowheads="1"/>
          </p:cNvSpPr>
          <p:nvPr/>
        </p:nvSpPr>
        <p:spPr bwMode="auto">
          <a:xfrm>
            <a:off x="906739" y="298232"/>
            <a:ext cx="70866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buClr>
                <a:schemeClr val="folHlink"/>
              </a:buClr>
              <a:buFont typeface="Wingdings" panose="05000000000000000000" pitchFamily="2" charset="2"/>
              <a:buNone/>
            </a:pPr>
            <a:r>
              <a:rPr lang="zh-CN" altLang="zh-CN" sz="3600" b="1" dirty="0">
                <a:latin typeface="黑体" panose="02010609060101010101" pitchFamily="49" charset="-122"/>
                <a:ea typeface="黑体" panose="02010609060101010101" pitchFamily="49" charset="-122"/>
              </a:rPr>
              <a:t>过相同点1的四种基本热力过程线</a:t>
            </a:r>
            <a:endParaRPr lang="zh-CN" altLang="zh-CN" sz="3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9875" name="文本框 3"/>
          <p:cNvSpPr txBox="1">
            <a:spLocks noChangeArrowheads="1"/>
          </p:cNvSpPr>
          <p:nvPr/>
        </p:nvSpPr>
        <p:spPr bwMode="auto">
          <a:xfrm>
            <a:off x="692150" y="5137150"/>
            <a:ext cx="7759700" cy="13849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I、II区域内，</a:t>
            </a:r>
            <a:r>
              <a:rPr lang="zh-CN" altLang="en-US" sz="28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为负值，意味着工质压缩时压力降低，膨胀时压力升高，这类过程在工程上极少见，因此I、II区域内的过程通常可以不必考虑。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874" y="1399140"/>
            <a:ext cx="8291279" cy="360914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7" name="文本框 73729"/>
          <p:cNvSpPr txBox="1">
            <a:spLocks noChangeArrowheads="1"/>
          </p:cNvSpPr>
          <p:nvPr/>
        </p:nvSpPr>
        <p:spPr bwMode="auto">
          <a:xfrm>
            <a:off x="292100" y="284922"/>
            <a:ext cx="82296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buClr>
                <a:schemeClr val="folHlink"/>
              </a:buClr>
              <a:buFont typeface="Wingdings" panose="05000000000000000000" pitchFamily="2" charset="2"/>
              <a:buNone/>
            </a:pPr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四、</a:t>
            </a:r>
            <a:r>
              <a:rPr lang="en-US" altLang="zh-CN" sz="3200" b="1" i="1" dirty="0">
                <a:latin typeface="Times New Roman" panose="02020603050405020304" pitchFamily="18" charset="0"/>
                <a:ea typeface="黑体" panose="02010609060101010101" pitchFamily="49" charset="-122"/>
              </a:rPr>
              <a:t>p-v</a:t>
            </a:r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图和</a:t>
            </a:r>
            <a:r>
              <a:rPr lang="en-US" altLang="zh-CN" sz="3200" b="1" i="1" dirty="0">
                <a:latin typeface="Times New Roman" panose="02020603050405020304" pitchFamily="18" charset="0"/>
                <a:ea typeface="黑体" panose="02010609060101010101" pitchFamily="49" charset="-122"/>
              </a:rPr>
              <a:t>T-s</a:t>
            </a:r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图</a:t>
            </a:r>
            <a:r>
              <a:rPr lang="zh-CN" altLang="en-US" sz="32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上各线</a:t>
            </a:r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群的大小</a:t>
            </a:r>
            <a:r>
              <a:rPr lang="zh-CN" altLang="en-US" sz="32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变化趋势</a:t>
            </a:r>
            <a:endParaRPr lang="zh-CN" altLang="en-US" sz="16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9319" y="1293987"/>
            <a:ext cx="5785605" cy="507840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7969" y="889796"/>
            <a:ext cx="5688061" cy="507840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5" name="文本框 44033"/>
          <p:cNvSpPr txBox="1">
            <a:spLocks noChangeArrowheads="1"/>
          </p:cNvSpPr>
          <p:nvPr/>
        </p:nvSpPr>
        <p:spPr bwMode="auto">
          <a:xfrm>
            <a:off x="228600" y="228600"/>
            <a:ext cx="86995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buClr>
                <a:schemeClr val="folHlink"/>
              </a:buClr>
              <a:buFont typeface="Wingdings" panose="05000000000000000000" pitchFamily="2" charset="2"/>
              <a:buNone/>
            </a:pPr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五</a:t>
            </a:r>
            <a:r>
              <a:rPr lang="zh-CN" altLang="en-US" sz="32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、</a:t>
            </a:r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判断</a:t>
            </a:r>
            <a:r>
              <a:rPr lang="zh-CN" altLang="en-US" sz="32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过程</a:t>
            </a:r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中各能量</a:t>
            </a:r>
            <a:r>
              <a:rPr lang="zh-CN" altLang="en-US" sz="32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项的正负</a:t>
            </a:r>
            <a:endParaRPr lang="zh-CN" altLang="en-US" sz="32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2946" name="矩形 44045"/>
          <p:cNvSpPr>
            <a:spLocks noChangeArrowheads="1"/>
          </p:cNvSpPr>
          <p:nvPr/>
        </p:nvSpPr>
        <p:spPr bwMode="auto">
          <a:xfrm>
            <a:off x="0" y="23383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947" name="矩形 44047"/>
          <p:cNvSpPr>
            <a:spLocks noChangeArrowheads="1"/>
          </p:cNvSpPr>
          <p:nvPr/>
        </p:nvSpPr>
        <p:spPr bwMode="auto">
          <a:xfrm>
            <a:off x="0" y="23383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948" name="文本框 45057"/>
          <p:cNvSpPr txBox="1">
            <a:spLocks noChangeArrowheads="1"/>
          </p:cNvSpPr>
          <p:nvPr/>
        </p:nvSpPr>
        <p:spPr bwMode="auto">
          <a:xfrm>
            <a:off x="741639" y="896718"/>
            <a:ext cx="6096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buClr>
                <a:schemeClr val="folHlink"/>
              </a:buClr>
            </a:pPr>
            <a:r>
              <a:rPr lang="en-US" altLang="zh-CN" sz="2800" b="1" dirty="0" smtClean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、热量</a:t>
            </a:r>
            <a:r>
              <a:rPr lang="en-US" altLang="zh-CN" sz="2800" b="1" i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q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的正负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82949" name="对象 45058"/>
          <p:cNvGraphicFramePr/>
          <p:nvPr/>
        </p:nvGraphicFramePr>
        <p:xfrm>
          <a:off x="1982788" y="1430410"/>
          <a:ext cx="4721225" cy="1241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27" name="公式" r:id="rId1" imgW="1739900" imgH="457200" progId="Equation.3">
                  <p:embed/>
                </p:oleObj>
              </mc:Choice>
              <mc:Fallback>
                <p:oleObj name="公式" r:id="rId1" imgW="1739900" imgH="457200" progId="Equation.3">
                  <p:embed/>
                  <p:pic>
                    <p:nvPicPr>
                      <p:cNvPr id="0" name="对象 45058"/>
                      <p:cNvPicPr>
                        <a:picLocks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2788" y="1430410"/>
                        <a:ext cx="4721225" cy="1241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950" name="文本框 45059"/>
          <p:cNvSpPr txBox="1">
            <a:spLocks noChangeArrowheads="1"/>
          </p:cNvSpPr>
          <p:nvPr/>
        </p:nvSpPr>
        <p:spPr bwMode="auto">
          <a:xfrm>
            <a:off x="1462985" y="2804320"/>
            <a:ext cx="6096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buClr>
                <a:schemeClr val="folHlink"/>
              </a:buClr>
              <a:buFont typeface="Webdings" panose="05030102010509060703" pitchFamily="18" charset="2"/>
              <a:buChar char="ÿ"/>
            </a:pPr>
            <a:r>
              <a:rPr lang="en-US" altLang="zh-CN" sz="2800" dirty="0">
                <a:latin typeface="Tahoma" panose="020B0604030504040204" pitchFamily="34" charset="0"/>
              </a:rPr>
              <a:t> </a:t>
            </a:r>
            <a:r>
              <a:rPr lang="zh-CN" altLang="en-US" sz="2800" b="1" dirty="0">
                <a:solidFill>
                  <a:srgbClr val="FF0000"/>
                </a:solidFill>
                <a:latin typeface="times" panose="02020603050405020304" pitchFamily="18" charset="0"/>
                <a:ea typeface="黑体" panose="02010609060101010101" pitchFamily="49" charset="-122"/>
                <a:cs typeface="times" panose="02020603050405020304" pitchFamily="18" charset="0"/>
              </a:rPr>
              <a:t>定熵线是确定</a:t>
            </a:r>
            <a:r>
              <a:rPr lang="en-US" altLang="zh-CN" sz="2800" b="1" i="1" dirty="0">
                <a:solidFill>
                  <a:srgbClr val="FF0000"/>
                </a:solidFill>
                <a:latin typeface="times" panose="02020603050405020304" pitchFamily="18" charset="0"/>
                <a:ea typeface="黑体" panose="02010609060101010101" pitchFamily="49" charset="-122"/>
                <a:cs typeface="times" panose="02020603050405020304" pitchFamily="18" charset="0"/>
                <a:sym typeface="Symbol" panose="05050102010706020507" pitchFamily="18" charset="2"/>
              </a:rPr>
              <a:t>q</a:t>
            </a:r>
            <a:r>
              <a:rPr lang="zh-CN" altLang="en-US" sz="2800" b="1" dirty="0">
                <a:solidFill>
                  <a:srgbClr val="FF0000"/>
                </a:solidFill>
                <a:latin typeface="times" panose="02020603050405020304" pitchFamily="18" charset="0"/>
                <a:ea typeface="黑体" panose="02010609060101010101" pitchFamily="49" charset="-122"/>
                <a:cs typeface="times" panose="02020603050405020304" pitchFamily="18" charset="0"/>
              </a:rPr>
              <a:t>正负的分界线</a:t>
            </a:r>
            <a:endParaRPr lang="zh-CN" altLang="en-US" sz="2800" b="1" dirty="0">
              <a:solidFill>
                <a:srgbClr val="FF0000"/>
              </a:solidFill>
              <a:latin typeface="times" panose="02020603050405020304" pitchFamily="18" charset="0"/>
              <a:ea typeface="黑体" panose="02010609060101010101" pitchFamily="49" charset="-122"/>
              <a:cs typeface="times" panose="02020603050405020304" pitchFamily="18" charset="0"/>
            </a:endParaRPr>
          </a:p>
        </p:txBody>
      </p:sp>
      <p:sp>
        <p:nvSpPr>
          <p:cNvPr id="82951" name="文本框 45061"/>
          <p:cNvSpPr txBox="1">
            <a:spLocks noChangeArrowheads="1"/>
          </p:cNvSpPr>
          <p:nvPr/>
        </p:nvSpPr>
        <p:spPr bwMode="auto">
          <a:xfrm>
            <a:off x="106017" y="4078961"/>
            <a:ext cx="6096000" cy="12741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10000"/>
              </a:spcBef>
              <a:buClr>
                <a:schemeClr val="folHlink"/>
              </a:buClr>
              <a:buFont typeface="Webdings" panose="05030102010509060703" pitchFamily="18" charset="2"/>
              <a:buNone/>
            </a:pPr>
            <a:r>
              <a:rPr lang="en-US" altLang="zh-CN" sz="24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p-v</a:t>
            </a:r>
            <a:r>
              <a:rPr lang="zh-CN" altLang="en-US" sz="24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图定熵线右上方，</a:t>
            </a:r>
            <a:endParaRPr lang="zh-CN" altLang="en-US" sz="24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>
              <a:spcBef>
                <a:spcPct val="10000"/>
              </a:spcBef>
              <a:buClr>
                <a:schemeClr val="folHlink"/>
              </a:buClr>
              <a:buFont typeface="Webdings" panose="05030102010509060703" pitchFamily="18" charset="2"/>
              <a:buNone/>
            </a:pPr>
            <a:r>
              <a:rPr lang="en-US" altLang="zh-CN" sz="24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T-s</a:t>
            </a:r>
            <a:r>
              <a:rPr lang="zh-CN" altLang="en-US" sz="24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图定熵线右方，</a:t>
            </a:r>
            <a:endParaRPr lang="zh-CN" altLang="en-US" sz="24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>
              <a:spcBef>
                <a:spcPct val="10000"/>
              </a:spcBef>
              <a:buClr>
                <a:schemeClr val="folHlink"/>
              </a:buClr>
              <a:buFont typeface="Webdings" panose="05030102010509060703" pitchFamily="18" charset="2"/>
              <a:buNone/>
            </a:pPr>
            <a:r>
              <a:rPr lang="en-US" altLang="zh-CN" sz="24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q</a:t>
            </a:r>
            <a:r>
              <a:rPr lang="en-US" altLang="zh-CN" sz="24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&gt;0</a:t>
            </a:r>
            <a:endParaRPr lang="en-US" altLang="zh-CN" sz="24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3714" y="3651378"/>
            <a:ext cx="6633023" cy="290804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3970" name="对象 44035"/>
          <p:cNvGraphicFramePr/>
          <p:nvPr/>
        </p:nvGraphicFramePr>
        <p:xfrm>
          <a:off x="1525563" y="885825"/>
          <a:ext cx="5715000" cy="1738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51" name="Equation" r:id="rId1" imgW="62179200" imgH="18897600" progId="Equation.DSMT4">
                  <p:embed/>
                </p:oleObj>
              </mc:Choice>
              <mc:Fallback>
                <p:oleObj name="Equation" r:id="rId1" imgW="62179200" imgH="18897600" progId="Equation.DSMT4">
                  <p:embed/>
                  <p:pic>
                    <p:nvPicPr>
                      <p:cNvPr id="0" name="对象 44035"/>
                      <p:cNvPicPr>
                        <a:picLocks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5563" y="885825"/>
                        <a:ext cx="5715000" cy="1738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3971" name="文本框 44036"/>
          <p:cNvSpPr txBox="1">
            <a:spLocks noChangeArrowheads="1"/>
          </p:cNvSpPr>
          <p:nvPr/>
        </p:nvSpPr>
        <p:spPr bwMode="auto">
          <a:xfrm>
            <a:off x="944880" y="2812255"/>
            <a:ext cx="7467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buClr>
                <a:schemeClr val="folHlink"/>
              </a:buClr>
              <a:buFont typeface="Webdings" panose="05030102010509060703" pitchFamily="18" charset="2"/>
              <a:buChar char="ÿ"/>
            </a:pPr>
            <a:r>
              <a:rPr lang="en-US" altLang="zh-CN" sz="2800" dirty="0">
                <a:latin typeface="Tahoma" panose="020B0604030504040204" pitchFamily="34" charset="0"/>
              </a:rPr>
              <a:t> </a:t>
            </a:r>
            <a:r>
              <a:rPr lang="zh-CN" altLang="en-US" sz="2800" b="1" dirty="0">
                <a:solidFill>
                  <a:srgbClr val="FF0000"/>
                </a:solidFill>
                <a:latin typeface="times" panose="02020603050405020304" pitchFamily="18" charset="0"/>
                <a:ea typeface="黑体" panose="02010609060101010101" pitchFamily="49" charset="-122"/>
                <a:cs typeface="times" panose="02020603050405020304" pitchFamily="18" charset="0"/>
              </a:rPr>
              <a:t>定温线是确定</a:t>
            </a:r>
            <a:r>
              <a:rPr lang="en-US" altLang="zh-CN" sz="2800" b="1" i="1" dirty="0" err="1">
                <a:solidFill>
                  <a:srgbClr val="FF0000"/>
                </a:solidFill>
                <a:latin typeface="times" panose="02020603050405020304" pitchFamily="18" charset="0"/>
                <a:ea typeface="黑体" panose="02010609060101010101" pitchFamily="49" charset="-122"/>
                <a:cs typeface="times" panose="02020603050405020304" pitchFamily="18" charset="0"/>
              </a:rPr>
              <a:t>Δu</a:t>
            </a:r>
            <a:r>
              <a:rPr lang="zh-CN" altLang="en-US" sz="2800" b="1" dirty="0">
                <a:solidFill>
                  <a:srgbClr val="FF0000"/>
                </a:solidFill>
                <a:latin typeface="times" panose="02020603050405020304" pitchFamily="18" charset="0"/>
                <a:ea typeface="黑体" panose="02010609060101010101" pitchFamily="49" charset="-122"/>
                <a:cs typeface="times" panose="02020603050405020304" pitchFamily="18" charset="0"/>
              </a:rPr>
              <a:t>、</a:t>
            </a:r>
            <a:r>
              <a:rPr lang="en-US" altLang="zh-CN" sz="2800" b="1" i="1" dirty="0" err="1">
                <a:solidFill>
                  <a:srgbClr val="FF0000"/>
                </a:solidFill>
                <a:latin typeface="times" panose="02020603050405020304" pitchFamily="18" charset="0"/>
                <a:ea typeface="黑体" panose="02010609060101010101" pitchFamily="49" charset="-122"/>
                <a:cs typeface="times" panose="02020603050405020304" pitchFamily="18" charset="0"/>
              </a:rPr>
              <a:t>Δh</a:t>
            </a:r>
            <a:r>
              <a:rPr lang="zh-CN" altLang="en-US" sz="2800" b="1" dirty="0">
                <a:solidFill>
                  <a:srgbClr val="FF0000"/>
                </a:solidFill>
                <a:latin typeface="times" panose="02020603050405020304" pitchFamily="18" charset="0"/>
                <a:ea typeface="黑体" panose="02010609060101010101" pitchFamily="49" charset="-122"/>
                <a:cs typeface="times" panose="02020603050405020304" pitchFamily="18" charset="0"/>
              </a:rPr>
              <a:t>正负的分界线</a:t>
            </a:r>
            <a:endParaRPr lang="zh-CN" altLang="en-US" sz="2800" b="1" dirty="0">
              <a:solidFill>
                <a:srgbClr val="FF0000"/>
              </a:solidFill>
              <a:latin typeface="times" panose="02020603050405020304" pitchFamily="18" charset="0"/>
              <a:ea typeface="黑体" panose="02010609060101010101" pitchFamily="49" charset="-122"/>
              <a:cs typeface="times" panose="02020603050405020304" pitchFamily="18" charset="0"/>
            </a:endParaRPr>
          </a:p>
        </p:txBody>
      </p:sp>
      <p:sp>
        <p:nvSpPr>
          <p:cNvPr id="83972" name="文本框 44038"/>
          <p:cNvSpPr txBox="1">
            <a:spLocks noChangeArrowheads="1"/>
          </p:cNvSpPr>
          <p:nvPr/>
        </p:nvSpPr>
        <p:spPr bwMode="auto">
          <a:xfrm>
            <a:off x="154093" y="4324349"/>
            <a:ext cx="6096000" cy="12741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10000"/>
              </a:spcBef>
              <a:buClr>
                <a:schemeClr val="folHlink"/>
              </a:buClr>
              <a:buFont typeface="Webdings" panose="05030102010509060703" pitchFamily="18" charset="2"/>
              <a:buNone/>
            </a:pPr>
            <a:r>
              <a:rPr lang="en-US" altLang="zh-CN" sz="2400" b="1" i="1" dirty="0">
                <a:latin typeface="times" panose="02020603050405020304" pitchFamily="18" charset="0"/>
                <a:ea typeface="黑体" panose="02010609060101010101" pitchFamily="49" charset="-122"/>
                <a:cs typeface="times" panose="02020603050405020304" pitchFamily="18" charset="0"/>
              </a:rPr>
              <a:t>p-v</a:t>
            </a:r>
            <a:r>
              <a:rPr lang="zh-CN" altLang="en-US" sz="2400" b="1" dirty="0">
                <a:latin typeface="times" panose="02020603050405020304" pitchFamily="18" charset="0"/>
                <a:ea typeface="黑体" panose="02010609060101010101" pitchFamily="49" charset="-122"/>
                <a:cs typeface="times" panose="02020603050405020304" pitchFamily="18" charset="0"/>
              </a:rPr>
              <a:t>图定温线右上方，</a:t>
            </a:r>
            <a:endParaRPr lang="zh-CN" altLang="en-US" sz="2400" b="1" dirty="0">
              <a:latin typeface="times" panose="02020603050405020304" pitchFamily="18" charset="0"/>
              <a:ea typeface="黑体" panose="02010609060101010101" pitchFamily="49" charset="-122"/>
              <a:cs typeface="times" panose="02020603050405020304" pitchFamily="18" charset="0"/>
            </a:endParaRPr>
          </a:p>
          <a:p>
            <a:pPr>
              <a:spcBef>
                <a:spcPct val="10000"/>
              </a:spcBef>
              <a:buClr>
                <a:schemeClr val="folHlink"/>
              </a:buClr>
              <a:buFont typeface="Webdings" panose="05030102010509060703" pitchFamily="18" charset="2"/>
              <a:buNone/>
            </a:pPr>
            <a:r>
              <a:rPr lang="en-US" altLang="zh-CN" sz="2400" b="1" i="1" dirty="0">
                <a:latin typeface="times" panose="02020603050405020304" pitchFamily="18" charset="0"/>
                <a:ea typeface="黑体" panose="02010609060101010101" pitchFamily="49" charset="-122"/>
                <a:cs typeface="times" panose="02020603050405020304" pitchFamily="18" charset="0"/>
              </a:rPr>
              <a:t>T-s</a:t>
            </a:r>
            <a:r>
              <a:rPr lang="zh-CN" altLang="en-US" sz="2400" b="1" dirty="0">
                <a:latin typeface="times" panose="02020603050405020304" pitchFamily="18" charset="0"/>
                <a:ea typeface="黑体" panose="02010609060101010101" pitchFamily="49" charset="-122"/>
                <a:cs typeface="times" panose="02020603050405020304" pitchFamily="18" charset="0"/>
              </a:rPr>
              <a:t>图定温线上方，</a:t>
            </a:r>
            <a:endParaRPr lang="zh-CN" altLang="en-US" sz="2400" b="1" dirty="0">
              <a:latin typeface="times" panose="02020603050405020304" pitchFamily="18" charset="0"/>
              <a:ea typeface="黑体" panose="02010609060101010101" pitchFamily="49" charset="-122"/>
              <a:cs typeface="times" panose="02020603050405020304" pitchFamily="18" charset="0"/>
            </a:endParaRPr>
          </a:p>
          <a:p>
            <a:pPr>
              <a:spcBef>
                <a:spcPct val="10000"/>
              </a:spcBef>
              <a:buClr>
                <a:schemeClr val="folHlink"/>
              </a:buClr>
              <a:buFont typeface="Webdings" panose="05030102010509060703" pitchFamily="18" charset="2"/>
              <a:buNone/>
            </a:pPr>
            <a:r>
              <a:rPr lang="en-US" altLang="zh-CN" sz="2400" b="1" i="1" dirty="0" err="1">
                <a:latin typeface="times" panose="02020603050405020304" pitchFamily="18" charset="0"/>
                <a:ea typeface="黑体" panose="02010609060101010101" pitchFamily="49" charset="-122"/>
                <a:cs typeface="times" panose="02020603050405020304" pitchFamily="18" charset="0"/>
              </a:rPr>
              <a:t>Δu</a:t>
            </a:r>
            <a:r>
              <a:rPr lang="en-US" altLang="zh-CN" sz="2400" b="1" dirty="0">
                <a:latin typeface="times" panose="02020603050405020304" pitchFamily="18" charset="0"/>
                <a:ea typeface="黑体" panose="02010609060101010101" pitchFamily="49" charset="-122"/>
                <a:cs typeface="times" panose="02020603050405020304" pitchFamily="18" charset="0"/>
              </a:rPr>
              <a:t>&gt;0,</a:t>
            </a:r>
            <a:r>
              <a:rPr lang="en-US" altLang="zh-CN" sz="2400" b="1" i="1" dirty="0">
                <a:latin typeface="times" panose="02020603050405020304" pitchFamily="18" charset="0"/>
                <a:ea typeface="黑体" panose="02010609060101010101" pitchFamily="49" charset="-122"/>
                <a:cs typeface="times" panose="02020603050405020304" pitchFamily="18" charset="0"/>
              </a:rPr>
              <a:t>Δh</a:t>
            </a:r>
            <a:r>
              <a:rPr lang="en-US" altLang="zh-CN" dirty="0">
                <a:latin typeface="times" panose="02020603050405020304" pitchFamily="18" charset="0"/>
                <a:ea typeface="黑体" panose="02010609060101010101" pitchFamily="49" charset="-122"/>
                <a:cs typeface="times" panose="02020603050405020304" pitchFamily="18" charset="0"/>
              </a:rPr>
              <a:t> </a:t>
            </a:r>
            <a:r>
              <a:rPr lang="en-US" altLang="zh-CN" sz="2400" b="1" dirty="0">
                <a:latin typeface="times" panose="02020603050405020304" pitchFamily="18" charset="0"/>
                <a:ea typeface="黑体" panose="02010609060101010101" pitchFamily="49" charset="-122"/>
                <a:cs typeface="times" panose="02020603050405020304" pitchFamily="18" charset="0"/>
              </a:rPr>
              <a:t>&gt;0</a:t>
            </a:r>
            <a:endParaRPr lang="en-US" altLang="zh-CN" sz="2400" b="1" dirty="0">
              <a:latin typeface="times" panose="02020603050405020304" pitchFamily="18" charset="0"/>
              <a:ea typeface="黑体" panose="02010609060101010101" pitchFamily="49" charset="-122"/>
              <a:cs typeface="times" panose="02020603050405020304" pitchFamily="18" charset="0"/>
            </a:endParaRPr>
          </a:p>
        </p:txBody>
      </p:sp>
      <p:sp>
        <p:nvSpPr>
          <p:cNvPr id="83973" name="矩形 44045"/>
          <p:cNvSpPr>
            <a:spLocks noChangeArrowheads="1"/>
          </p:cNvSpPr>
          <p:nvPr/>
        </p:nvSpPr>
        <p:spPr bwMode="auto">
          <a:xfrm>
            <a:off x="0" y="23383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3974" name="矩形 44047"/>
          <p:cNvSpPr>
            <a:spLocks noChangeArrowheads="1"/>
          </p:cNvSpPr>
          <p:nvPr/>
        </p:nvSpPr>
        <p:spPr bwMode="auto">
          <a:xfrm>
            <a:off x="0" y="23383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" name="文本框 45057"/>
          <p:cNvSpPr txBox="1">
            <a:spLocks noChangeArrowheads="1"/>
          </p:cNvSpPr>
          <p:nvPr/>
        </p:nvSpPr>
        <p:spPr bwMode="auto">
          <a:xfrm>
            <a:off x="337448" y="317361"/>
            <a:ext cx="789215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buClr>
                <a:schemeClr val="folHlink"/>
              </a:buClr>
            </a:pPr>
            <a:r>
              <a:rPr lang="en-US" altLang="zh-CN" sz="2800" b="1" dirty="0" smtClean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、热力学能的变化</a:t>
            </a: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⊿</a:t>
            </a:r>
            <a:r>
              <a:rPr kumimoji="1" lang="en-US" altLang="zh-CN" sz="2800" b="1" i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u</a:t>
            </a:r>
            <a:r>
              <a:rPr kumimoji="1"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和焓的变化⊿</a:t>
            </a:r>
            <a:r>
              <a:rPr kumimoji="1" lang="en-US" altLang="zh-CN" sz="2800" b="1" i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h</a:t>
            </a: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的正负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4135" y="3658275"/>
            <a:ext cx="6559865" cy="276172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4994" name="对象 46082"/>
          <p:cNvGraphicFramePr/>
          <p:nvPr/>
        </p:nvGraphicFramePr>
        <p:xfrm>
          <a:off x="1735138" y="1066800"/>
          <a:ext cx="4926012" cy="1241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875" name="公式" r:id="rId1" imgW="1816100" imgH="457200" progId="Equation.3">
                  <p:embed/>
                </p:oleObj>
              </mc:Choice>
              <mc:Fallback>
                <p:oleObj name="公式" r:id="rId1" imgW="1816100" imgH="457200" progId="Equation.3">
                  <p:embed/>
                  <p:pic>
                    <p:nvPicPr>
                      <p:cNvPr id="0" name="对象 46082"/>
                      <p:cNvPicPr>
                        <a:picLocks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35138" y="1066800"/>
                        <a:ext cx="4926012" cy="1241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4995" name="文本框 46083"/>
          <p:cNvSpPr txBox="1">
            <a:spLocks noChangeArrowheads="1"/>
          </p:cNvSpPr>
          <p:nvPr/>
        </p:nvSpPr>
        <p:spPr bwMode="auto">
          <a:xfrm>
            <a:off x="1295400" y="2667000"/>
            <a:ext cx="6096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buClr>
                <a:schemeClr val="folHlink"/>
              </a:buClr>
              <a:buFont typeface="Webdings" panose="05030102010509060703" pitchFamily="18" charset="2"/>
              <a:buChar char="ÿ"/>
            </a:pPr>
            <a:r>
              <a:rPr lang="en-US" altLang="zh-CN" sz="2800" dirty="0">
                <a:latin typeface="Tahoma" panose="020B0604030504040204" pitchFamily="34" charset="0"/>
              </a:rPr>
              <a:t> </a:t>
            </a:r>
            <a:r>
              <a:rPr lang="zh-CN" altLang="en-US" sz="2800" b="1" dirty="0">
                <a:solidFill>
                  <a:srgbClr val="FF0000"/>
                </a:solidFill>
                <a:latin typeface="times" panose="02020603050405020304" pitchFamily="18" charset="0"/>
                <a:ea typeface="黑体" panose="02010609060101010101" pitchFamily="49" charset="-122"/>
                <a:cs typeface="times" panose="02020603050405020304" pitchFamily="18" charset="0"/>
              </a:rPr>
              <a:t>定容线是确定</a:t>
            </a:r>
            <a:r>
              <a:rPr lang="en-US" altLang="zh-CN" sz="2800" b="1" i="1" dirty="0" err="1" smtClean="0">
                <a:solidFill>
                  <a:srgbClr val="FF0000"/>
                </a:solidFill>
                <a:latin typeface="times" panose="02020603050405020304" pitchFamily="18" charset="0"/>
                <a:ea typeface="黑体" panose="02010609060101010101" pitchFamily="49" charset="-122"/>
                <a:cs typeface="times" panose="02020603050405020304" pitchFamily="18" charset="0"/>
              </a:rPr>
              <a:t>w</a:t>
            </a:r>
            <a:r>
              <a:rPr lang="en-US" altLang="zh-CN" sz="2800" b="1" baseline="-25000" dirty="0" err="1" smtClean="0">
                <a:solidFill>
                  <a:srgbClr val="FF0000"/>
                </a:solidFill>
                <a:latin typeface="times" panose="02020603050405020304" pitchFamily="18" charset="0"/>
                <a:ea typeface="黑体" panose="02010609060101010101" pitchFamily="49" charset="-122"/>
                <a:cs typeface="times" panose="02020603050405020304" pitchFamily="18" charset="0"/>
              </a:rPr>
              <a:t>b</a:t>
            </a:r>
            <a:r>
              <a:rPr lang="zh-CN" altLang="en-US" sz="2800" b="1" dirty="0" smtClean="0">
                <a:solidFill>
                  <a:srgbClr val="FF0000"/>
                </a:solidFill>
                <a:latin typeface="times" panose="02020603050405020304" pitchFamily="18" charset="0"/>
                <a:ea typeface="黑体" panose="02010609060101010101" pitchFamily="49" charset="-122"/>
                <a:cs typeface="times" panose="02020603050405020304" pitchFamily="18" charset="0"/>
              </a:rPr>
              <a:t>正负</a:t>
            </a:r>
            <a:r>
              <a:rPr lang="zh-CN" altLang="en-US" sz="2800" b="1" dirty="0">
                <a:solidFill>
                  <a:srgbClr val="FF0000"/>
                </a:solidFill>
                <a:latin typeface="times" panose="02020603050405020304" pitchFamily="18" charset="0"/>
                <a:ea typeface="黑体" panose="02010609060101010101" pitchFamily="49" charset="-122"/>
                <a:cs typeface="times" panose="02020603050405020304" pitchFamily="18" charset="0"/>
              </a:rPr>
              <a:t>的分界线</a:t>
            </a:r>
            <a:endParaRPr lang="zh-CN" altLang="en-US" sz="2800" b="1" dirty="0">
              <a:solidFill>
                <a:srgbClr val="FF0000"/>
              </a:solidFill>
              <a:latin typeface="times" panose="02020603050405020304" pitchFamily="18" charset="0"/>
              <a:ea typeface="黑体" panose="02010609060101010101" pitchFamily="49" charset="-122"/>
              <a:cs typeface="times" panose="02020603050405020304" pitchFamily="18" charset="0"/>
            </a:endParaRPr>
          </a:p>
        </p:txBody>
      </p:sp>
      <p:sp>
        <p:nvSpPr>
          <p:cNvPr id="84996" name="文本框 46085"/>
          <p:cNvSpPr txBox="1">
            <a:spLocks noChangeArrowheads="1"/>
          </p:cNvSpPr>
          <p:nvPr/>
        </p:nvSpPr>
        <p:spPr bwMode="auto">
          <a:xfrm>
            <a:off x="157480" y="4189085"/>
            <a:ext cx="6096000" cy="12741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10000"/>
              </a:spcBef>
              <a:buClr>
                <a:schemeClr val="folHlink"/>
              </a:buClr>
              <a:buFont typeface="Webdings" panose="05030102010509060703" pitchFamily="18" charset="2"/>
              <a:buNone/>
            </a:pPr>
            <a:r>
              <a:rPr lang="en-US" altLang="zh-CN" sz="2400" b="1" i="1" dirty="0">
                <a:latin typeface="Times New Roman" panose="02020603050405020304" pitchFamily="18" charset="0"/>
              </a:rPr>
              <a:t>p-v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图定容线右方，</a:t>
            </a:r>
            <a:endParaRPr lang="zh-CN" altLang="en-US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spcBef>
                <a:spcPct val="10000"/>
              </a:spcBef>
              <a:buClr>
                <a:schemeClr val="folHlink"/>
              </a:buClr>
              <a:buFont typeface="Webdings" panose="05030102010509060703" pitchFamily="18" charset="2"/>
              <a:buNone/>
            </a:pPr>
            <a:r>
              <a:rPr lang="en-US" altLang="zh-CN" sz="2400" b="1" i="1" dirty="0">
                <a:latin typeface="Times New Roman" panose="02020603050405020304" pitchFamily="18" charset="0"/>
              </a:rPr>
              <a:t>T-s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图定容线右下方，</a:t>
            </a:r>
            <a:endParaRPr lang="zh-CN" altLang="en-US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spcBef>
                <a:spcPct val="10000"/>
              </a:spcBef>
              <a:buClr>
                <a:schemeClr val="folHlink"/>
              </a:buClr>
              <a:buFont typeface="Webdings" panose="05030102010509060703" pitchFamily="18" charset="2"/>
              <a:buNone/>
            </a:pPr>
            <a:r>
              <a:rPr lang="en-US" altLang="zh-CN" sz="2400" b="1" i="1" dirty="0">
                <a:latin typeface="Times New Roman" panose="02020603050405020304" pitchFamily="18" charset="0"/>
              </a:rPr>
              <a:t>w</a:t>
            </a:r>
            <a:r>
              <a:rPr lang="en-US" altLang="zh-CN" sz="2400" b="1" dirty="0">
                <a:latin typeface="Times New Roman" panose="02020603050405020304" pitchFamily="18" charset="0"/>
              </a:rPr>
              <a:t>&gt;0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8" name="文本框 45057"/>
          <p:cNvSpPr txBox="1">
            <a:spLocks noChangeArrowheads="1"/>
          </p:cNvSpPr>
          <p:nvPr/>
        </p:nvSpPr>
        <p:spPr bwMode="auto">
          <a:xfrm>
            <a:off x="430213" y="510570"/>
            <a:ext cx="789215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buClr>
                <a:schemeClr val="folHlink"/>
              </a:buClr>
            </a:pPr>
            <a:r>
              <a:rPr lang="en-US" altLang="zh-CN" sz="2800" b="1" dirty="0" smtClean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、体积变化功的</a:t>
            </a:r>
            <a:r>
              <a:rPr kumimoji="1"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正负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2153478" y="1626156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latin typeface="times" panose="02020603050405020304" pitchFamily="18" charset="0"/>
                <a:cs typeface="times" panose="02020603050405020304" pitchFamily="18" charset="0"/>
              </a:rPr>
              <a:t>b</a:t>
            </a:r>
            <a:endParaRPr lang="zh-CN" altLang="en-US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827606" y="1324063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latin typeface="times" panose="02020603050405020304" pitchFamily="18" charset="0"/>
                <a:cs typeface="times" panose="02020603050405020304" pitchFamily="18" charset="0"/>
              </a:rPr>
              <a:t>b</a:t>
            </a:r>
            <a:endParaRPr lang="zh-CN" altLang="en-US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5827606" y="1954045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latin typeface="times" panose="02020603050405020304" pitchFamily="18" charset="0"/>
                <a:cs typeface="times" panose="02020603050405020304" pitchFamily="18" charset="0"/>
              </a:rPr>
              <a:t>b</a:t>
            </a:r>
            <a:endParaRPr lang="zh-CN" altLang="en-US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1197" y="3544888"/>
            <a:ext cx="6492803" cy="28531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9" name="文本框 68611"/>
          <p:cNvSpPr txBox="1">
            <a:spLocks noChangeArrowheads="1"/>
          </p:cNvSpPr>
          <p:nvPr/>
        </p:nvSpPr>
        <p:spPr bwMode="auto">
          <a:xfrm>
            <a:off x="1143000" y="2590800"/>
            <a:ext cx="6096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buClr>
                <a:schemeClr val="folHlink"/>
              </a:buClr>
              <a:buFont typeface="Webdings" panose="05030102010509060703" pitchFamily="18" charset="2"/>
              <a:buChar char="ÿ"/>
            </a:pPr>
            <a:r>
              <a:rPr lang="en-US" altLang="zh-CN" sz="2800" dirty="0">
                <a:latin typeface="Tahoma" panose="020B0604030504040204" pitchFamily="34" charset="0"/>
              </a:rPr>
              <a:t> </a:t>
            </a:r>
            <a:r>
              <a:rPr lang="zh-CN" altLang="en-US" sz="2800" b="1" dirty="0">
                <a:solidFill>
                  <a:srgbClr val="FF0000"/>
                </a:solidFill>
                <a:latin typeface="times" panose="02020603050405020304" pitchFamily="18" charset="0"/>
                <a:ea typeface="黑体" panose="02010609060101010101" pitchFamily="49" charset="-122"/>
                <a:cs typeface="times" panose="02020603050405020304" pitchFamily="18" charset="0"/>
              </a:rPr>
              <a:t>定压线是确定</a:t>
            </a:r>
            <a:r>
              <a:rPr lang="en-US" altLang="zh-CN" sz="2800" b="1" dirty="0">
                <a:solidFill>
                  <a:srgbClr val="FF0000"/>
                </a:solidFill>
                <a:latin typeface="times" panose="02020603050405020304" pitchFamily="18" charset="0"/>
                <a:ea typeface="黑体" panose="02010609060101010101" pitchFamily="49" charset="-122"/>
                <a:cs typeface="times" panose="02020603050405020304" pitchFamily="18" charset="0"/>
                <a:sym typeface="Symbol" panose="05050102010706020507" pitchFamily="18" charset="2"/>
              </a:rPr>
              <a:t></a:t>
            </a:r>
            <a:r>
              <a:rPr lang="en-US" altLang="zh-CN" sz="2800" b="1" i="1" dirty="0" err="1">
                <a:solidFill>
                  <a:srgbClr val="FF0000"/>
                </a:solidFill>
                <a:latin typeface="times" panose="02020603050405020304" pitchFamily="18" charset="0"/>
                <a:ea typeface="黑体" panose="02010609060101010101" pitchFamily="49" charset="-122"/>
                <a:cs typeface="times" panose="02020603050405020304" pitchFamily="18" charset="0"/>
              </a:rPr>
              <a:t>w</a:t>
            </a:r>
            <a:r>
              <a:rPr lang="en-US" altLang="zh-CN" sz="2800" b="1" baseline="-25000" dirty="0" err="1">
                <a:solidFill>
                  <a:srgbClr val="FF0000"/>
                </a:solidFill>
                <a:latin typeface="times" panose="02020603050405020304" pitchFamily="18" charset="0"/>
                <a:ea typeface="黑体" panose="02010609060101010101" pitchFamily="49" charset="-122"/>
                <a:cs typeface="times" panose="02020603050405020304" pitchFamily="18" charset="0"/>
              </a:rPr>
              <a:t>t</a:t>
            </a:r>
            <a:r>
              <a:rPr lang="zh-CN" altLang="en-US" sz="2800" b="1" dirty="0">
                <a:solidFill>
                  <a:srgbClr val="FF0000"/>
                </a:solidFill>
                <a:latin typeface="times" panose="02020603050405020304" pitchFamily="18" charset="0"/>
                <a:ea typeface="黑体" panose="02010609060101010101" pitchFamily="49" charset="-122"/>
                <a:cs typeface="times" panose="02020603050405020304" pitchFamily="18" charset="0"/>
              </a:rPr>
              <a:t>正负的分界线</a:t>
            </a:r>
            <a:endParaRPr lang="zh-CN" altLang="en-US" sz="2800" b="1" dirty="0">
              <a:solidFill>
                <a:srgbClr val="FF0000"/>
              </a:solidFill>
              <a:latin typeface="times" panose="02020603050405020304" pitchFamily="18" charset="0"/>
              <a:ea typeface="黑体" panose="02010609060101010101" pitchFamily="49" charset="-122"/>
              <a:cs typeface="times" panose="02020603050405020304" pitchFamily="18" charset="0"/>
            </a:endParaRPr>
          </a:p>
        </p:txBody>
      </p:sp>
      <p:sp>
        <p:nvSpPr>
          <p:cNvPr id="86020" name="文本框 68613"/>
          <p:cNvSpPr txBox="1">
            <a:spLocks noChangeArrowheads="1"/>
          </p:cNvSpPr>
          <p:nvPr/>
        </p:nvSpPr>
        <p:spPr bwMode="auto">
          <a:xfrm>
            <a:off x="129209" y="4290219"/>
            <a:ext cx="6096000" cy="12741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10000"/>
              </a:spcBef>
              <a:buClr>
                <a:schemeClr val="folHlink"/>
              </a:buClr>
              <a:buFont typeface="Webdings" panose="05030102010509060703" pitchFamily="18" charset="2"/>
              <a:buNone/>
            </a:pPr>
            <a:r>
              <a:rPr lang="en-US" altLang="zh-CN" sz="2400" b="1" i="1" dirty="0">
                <a:latin typeface="Times New Roman" panose="02020603050405020304" pitchFamily="18" charset="0"/>
              </a:rPr>
              <a:t>p-v</a:t>
            </a:r>
            <a:r>
              <a:rPr lang="zh-CN" altLang="en-US" sz="2400" b="1" dirty="0">
                <a:latin typeface="times" panose="02020603050405020304" pitchFamily="18" charset="0"/>
                <a:ea typeface="黑体" panose="02010609060101010101" pitchFamily="49" charset="-122"/>
                <a:cs typeface="times" panose="02020603050405020304" pitchFamily="18" charset="0"/>
              </a:rPr>
              <a:t>图定压线下方，</a:t>
            </a:r>
            <a:endParaRPr lang="zh-CN" altLang="en-US" sz="2400" b="1" dirty="0">
              <a:latin typeface="times" panose="02020603050405020304" pitchFamily="18" charset="0"/>
              <a:ea typeface="黑体" panose="02010609060101010101" pitchFamily="49" charset="-122"/>
              <a:cs typeface="times" panose="02020603050405020304" pitchFamily="18" charset="0"/>
            </a:endParaRPr>
          </a:p>
          <a:p>
            <a:pPr>
              <a:spcBef>
                <a:spcPct val="10000"/>
              </a:spcBef>
              <a:buClr>
                <a:schemeClr val="folHlink"/>
              </a:buClr>
              <a:buFont typeface="Webdings" panose="05030102010509060703" pitchFamily="18" charset="2"/>
              <a:buNone/>
            </a:pPr>
            <a:r>
              <a:rPr lang="en-US" altLang="zh-CN" sz="2400" b="1" i="1" dirty="0">
                <a:latin typeface="times" panose="02020603050405020304" pitchFamily="18" charset="0"/>
                <a:ea typeface="黑体" panose="02010609060101010101" pitchFamily="49" charset="-122"/>
                <a:cs typeface="times" panose="02020603050405020304" pitchFamily="18" charset="0"/>
              </a:rPr>
              <a:t>T-s</a:t>
            </a:r>
            <a:r>
              <a:rPr lang="zh-CN" altLang="en-US" sz="2400" b="1" dirty="0">
                <a:latin typeface="times" panose="02020603050405020304" pitchFamily="18" charset="0"/>
                <a:ea typeface="黑体" panose="02010609060101010101" pitchFamily="49" charset="-122"/>
                <a:cs typeface="times" panose="02020603050405020304" pitchFamily="18" charset="0"/>
              </a:rPr>
              <a:t>图定压线右下方，</a:t>
            </a:r>
            <a:endParaRPr lang="zh-CN" altLang="en-US" sz="2400" b="1" dirty="0">
              <a:latin typeface="times" panose="02020603050405020304" pitchFamily="18" charset="0"/>
              <a:ea typeface="黑体" panose="02010609060101010101" pitchFamily="49" charset="-122"/>
              <a:cs typeface="times" panose="02020603050405020304" pitchFamily="18" charset="0"/>
            </a:endParaRPr>
          </a:p>
          <a:p>
            <a:pPr>
              <a:spcBef>
                <a:spcPct val="10000"/>
              </a:spcBef>
              <a:buClr>
                <a:schemeClr val="folHlink"/>
              </a:buClr>
              <a:buFont typeface="Webdings" panose="05030102010509060703" pitchFamily="18" charset="2"/>
              <a:buNone/>
            </a:pPr>
            <a:r>
              <a:rPr lang="en-US" altLang="zh-CN" sz="2400" b="1" i="1" dirty="0" err="1">
                <a:latin typeface="times" panose="02020603050405020304" pitchFamily="18" charset="0"/>
                <a:ea typeface="黑体" panose="02010609060101010101" pitchFamily="49" charset="-122"/>
                <a:cs typeface="times" panose="02020603050405020304" pitchFamily="18" charset="0"/>
              </a:rPr>
              <a:t>w</a:t>
            </a:r>
            <a:r>
              <a:rPr lang="en-US" altLang="zh-CN" sz="2400" b="1" baseline="-25000" dirty="0" err="1">
                <a:latin typeface="times" panose="02020603050405020304" pitchFamily="18" charset="0"/>
                <a:ea typeface="黑体" panose="02010609060101010101" pitchFamily="49" charset="-122"/>
                <a:cs typeface="times" panose="02020603050405020304" pitchFamily="18" charset="0"/>
              </a:rPr>
              <a:t>t</a:t>
            </a:r>
            <a:r>
              <a:rPr lang="en-US" altLang="zh-CN" sz="2400" b="1" dirty="0">
                <a:latin typeface="times" panose="02020603050405020304" pitchFamily="18" charset="0"/>
                <a:ea typeface="黑体" panose="02010609060101010101" pitchFamily="49" charset="-122"/>
                <a:cs typeface="times" panose="02020603050405020304" pitchFamily="18" charset="0"/>
              </a:rPr>
              <a:t>&gt;0</a:t>
            </a:r>
            <a:endParaRPr lang="en-US" altLang="zh-CN" sz="2400" b="1" dirty="0">
              <a:latin typeface="times" panose="02020603050405020304" pitchFamily="18" charset="0"/>
              <a:ea typeface="黑体" panose="02010609060101010101" pitchFamily="49" charset="-122"/>
              <a:cs typeface="times" panose="02020603050405020304" pitchFamily="18" charset="0"/>
            </a:endParaRPr>
          </a:p>
        </p:txBody>
      </p:sp>
      <p:sp>
        <p:nvSpPr>
          <p:cNvPr id="86021" name="矩形 68620"/>
          <p:cNvSpPr>
            <a:spLocks noChangeArrowheads="1"/>
          </p:cNvSpPr>
          <p:nvPr/>
        </p:nvSpPr>
        <p:spPr bwMode="auto">
          <a:xfrm>
            <a:off x="0" y="23383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" name="文本框 45057"/>
          <p:cNvSpPr txBox="1">
            <a:spLocks noChangeArrowheads="1"/>
          </p:cNvSpPr>
          <p:nvPr/>
        </p:nvSpPr>
        <p:spPr bwMode="auto">
          <a:xfrm>
            <a:off x="533400" y="347990"/>
            <a:ext cx="789215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buClr>
                <a:schemeClr val="folHlink"/>
              </a:buClr>
            </a:pPr>
            <a:r>
              <a:rPr lang="en-US" altLang="zh-CN" sz="2800" b="1" dirty="0" smtClean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4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、技术功的</a:t>
            </a:r>
            <a:r>
              <a:rPr kumimoji="1"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正负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4" name="对象 44035"/>
          <p:cNvGraphicFramePr>
            <a:graphicFrameLocks noChangeAspect="1"/>
          </p:cNvGraphicFramePr>
          <p:nvPr/>
        </p:nvGraphicFramePr>
        <p:xfrm>
          <a:off x="1523709" y="1009653"/>
          <a:ext cx="5334581" cy="13073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899" name="Equation" r:id="rId1" imgW="47244000" imgH="11582400" progId="Equation.DSMT4">
                  <p:embed/>
                </p:oleObj>
              </mc:Choice>
              <mc:Fallback>
                <p:oleObj name="Equation" r:id="rId1" imgW="47244000" imgH="11582400" progId="Equation.DSMT4">
                  <p:embed/>
                  <p:pic>
                    <p:nvPicPr>
                      <p:cNvPr id="0" name="对象 44035"/>
                      <p:cNvPicPr>
                        <a:picLocks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3709" y="1009653"/>
                        <a:ext cx="5334581" cy="130730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图片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7657" y="3503776"/>
            <a:ext cx="6486706" cy="284707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TIMING" val="|5.5|12.7"/>
</p:tagLst>
</file>

<file path=ppt/tags/tag2.xml><?xml version="1.0" encoding="utf-8"?>
<p:tagLst xmlns:p="http://schemas.openxmlformats.org/presentationml/2006/main">
  <p:tag name="TIMING" val="|8.2|9.1|34.5|30.4"/>
</p:tagLst>
</file>

<file path=ppt/tags/tag3.xml><?xml version="1.0" encoding="utf-8"?>
<p:tagLst xmlns:p="http://schemas.openxmlformats.org/presentationml/2006/main">
  <p:tag name="TIMING" val="|19.3"/>
</p:tagLst>
</file>

<file path=ppt/tags/tag4.xml><?xml version="1.0" encoding="utf-8"?>
<p:tagLst xmlns:p="http://schemas.openxmlformats.org/presentationml/2006/main">
  <p:tag name="TIMING" val="|7.7|41.3|24.9|14.6|9.4|1.1"/>
</p:tagLst>
</file>

<file path=ppt/tags/tag5.xml><?xml version="1.0" encoding="utf-8"?>
<p:tagLst xmlns:p="http://schemas.openxmlformats.org/presentationml/2006/main">
  <p:tag name="TIMING" val="|7.5|28.2"/>
</p:tagLst>
</file>

<file path=ppt/tags/tag6.xml><?xml version="1.0" encoding="utf-8"?>
<p:tagLst xmlns:p="http://schemas.openxmlformats.org/presentationml/2006/main">
  <p:tag name="TIMING" val="|4"/>
</p:tagLst>
</file>

<file path=ppt/tags/tag7.xml><?xml version="1.0" encoding="utf-8"?>
<p:tagLst xmlns:p="http://schemas.openxmlformats.org/presentationml/2006/main">
  <p:tag name="TIMING" val="|6.9|1.6"/>
</p:tagLst>
</file>

<file path=ppt/tags/tag8.xml><?xml version="1.0" encoding="utf-8"?>
<p:tagLst xmlns:p="http://schemas.openxmlformats.org/presentationml/2006/main">
  <p:tag name="TIMING" val="|7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2932</Words>
  <Application>WPS 演示</Application>
  <PresentationFormat>全屏显示(4:3)</PresentationFormat>
  <Paragraphs>294</Paragraphs>
  <Slides>55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69</vt:i4>
      </vt:variant>
      <vt:variant>
        <vt:lpstr>幻灯片标题</vt:lpstr>
      </vt:variant>
      <vt:variant>
        <vt:i4>55</vt:i4>
      </vt:variant>
    </vt:vector>
  </HeadingPairs>
  <TitlesOfParts>
    <vt:vector size="139" baseType="lpstr">
      <vt:lpstr>Arial</vt:lpstr>
      <vt:lpstr>宋体</vt:lpstr>
      <vt:lpstr>Wingdings</vt:lpstr>
      <vt:lpstr>黑体</vt:lpstr>
      <vt:lpstr>Tahoma</vt:lpstr>
      <vt:lpstr>Times New Roman</vt:lpstr>
      <vt:lpstr>times</vt:lpstr>
      <vt:lpstr>Calibri</vt:lpstr>
      <vt:lpstr>微软雅黑</vt:lpstr>
      <vt:lpstr>Arial Unicode MS</vt:lpstr>
      <vt:lpstr>Webdings</vt:lpstr>
      <vt:lpstr>UniversalMath1 BT</vt:lpstr>
      <vt:lpstr>Segoe Print</vt:lpstr>
      <vt:lpstr>Symbol</vt:lpstr>
      <vt:lpstr>Office 主题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Equation.DSMT4</vt:lpstr>
      <vt:lpstr>Equation.3</vt:lpstr>
      <vt:lpstr>Equation.DSMT4</vt:lpstr>
      <vt:lpstr>Equation.3</vt:lpstr>
      <vt:lpstr>Equation.DSMT4</vt:lpstr>
      <vt:lpstr>Equation.3</vt:lpstr>
      <vt:lpstr>Equation.DSMT4</vt:lpstr>
      <vt:lpstr>Equation.3</vt:lpstr>
      <vt:lpstr>Equation.3</vt:lpstr>
      <vt:lpstr>Equation.3</vt:lpstr>
      <vt:lpstr>Equation.DSMT4</vt:lpstr>
      <vt:lpstr>Equation.DSMT4</vt:lpstr>
      <vt:lpstr>Equation.DSMT4</vt:lpstr>
      <vt:lpstr>Equation.3</vt:lpstr>
      <vt:lpstr>Equation.DSMT4</vt:lpstr>
      <vt:lpstr>Equation.3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Equation.KSEE3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Equation.DSMT4</vt:lpstr>
      <vt:lpstr>Equation.3</vt:lpstr>
      <vt:lpstr>Equation.DSMT4</vt:lpstr>
      <vt:lpstr>Equation.DSMT4</vt:lpstr>
      <vt:lpstr>Equation.DSMT4</vt:lpstr>
      <vt:lpstr>Equation.DSMT4</vt:lpstr>
      <vt:lpstr>08　理想气体的热力过程</vt:lpstr>
      <vt:lpstr>8－1 分析热力过程的目的和研究方法</vt:lpstr>
      <vt:lpstr>PowerPoint 演示文稿</vt:lpstr>
      <vt:lpstr>PowerPoint 演示文稿</vt:lpstr>
      <vt:lpstr>PowerPoint 演示文稿</vt:lpstr>
      <vt:lpstr>对理想气体各种可逆热力过程的分析，可以参考以下内容和步骤进行：</vt:lpstr>
      <vt:lpstr>若按照定值比热容的情况计算（本讲均基于此种情况进行分析），则有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第四步：</vt:lpstr>
      <vt:lpstr>需要注意以上各步骤的适用条件</vt:lpstr>
      <vt:lpstr>PowerPoint 演示文稿</vt:lpstr>
      <vt:lpstr>PowerPoint 演示文稿</vt:lpstr>
      <vt:lpstr>特别地，对于可逆过程（本章所讨论的过程均为可逆过程）</vt:lpstr>
      <vt:lpstr>PowerPoint 演示文稿</vt:lpstr>
      <vt:lpstr>8－2 四种基本热力过程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8－3 多变过程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第8讲　理想气体的基本热力过程</dc:title>
  <dc:creator>jing wu</dc:creator>
  <cp:lastModifiedBy>jingwu</cp:lastModifiedBy>
  <cp:revision>28</cp:revision>
  <dcterms:created xsi:type="dcterms:W3CDTF">2020-04-04T05:33:00Z</dcterms:created>
  <dcterms:modified xsi:type="dcterms:W3CDTF">2020-09-29T12:51:05Z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2052-11.1.0.9999</vt:lpwstr>
  </property>
</Properties>
</file>