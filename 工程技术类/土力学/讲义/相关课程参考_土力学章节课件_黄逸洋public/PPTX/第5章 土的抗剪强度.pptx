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tags/tag1.xml" ContentType="application/vnd.openxmlformats-officedocument.presentationml.tags+xml"/>
  <Override PartName="/ppt/notesSlides/notesSlide99.xml" ContentType="application/vnd.openxmlformats-officedocument.presentationml.notesSlide+xml"/>
  <Override PartName="/ppt/tags/tag2.xml" ContentType="application/vnd.openxmlformats-officedocument.presentationml.tags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0" r:id="rId1"/>
    <p:sldMasterId id="2147483744" r:id="rId2"/>
  </p:sldMasterIdLst>
  <p:notesMasterIdLst>
    <p:notesMasterId r:id="rId162"/>
  </p:notesMasterIdLst>
  <p:handoutMasterIdLst>
    <p:handoutMasterId r:id="rId163"/>
  </p:handoutMasterIdLst>
  <p:sldIdLst>
    <p:sldId id="256" r:id="rId3"/>
    <p:sldId id="766" r:id="rId4"/>
    <p:sldId id="806" r:id="rId5"/>
    <p:sldId id="807" r:id="rId6"/>
    <p:sldId id="713" r:id="rId7"/>
    <p:sldId id="1043" r:id="rId8"/>
    <p:sldId id="916" r:id="rId9"/>
    <p:sldId id="714" r:id="rId10"/>
    <p:sldId id="1042" r:id="rId11"/>
    <p:sldId id="717" r:id="rId12"/>
    <p:sldId id="1039" r:id="rId13"/>
    <p:sldId id="719" r:id="rId14"/>
    <p:sldId id="720" r:id="rId15"/>
    <p:sldId id="1040" r:id="rId16"/>
    <p:sldId id="922" r:id="rId17"/>
    <p:sldId id="923" r:id="rId18"/>
    <p:sldId id="924" r:id="rId19"/>
    <p:sldId id="925" r:id="rId20"/>
    <p:sldId id="722" r:id="rId21"/>
    <p:sldId id="723" r:id="rId22"/>
    <p:sldId id="926" r:id="rId23"/>
    <p:sldId id="927" r:id="rId24"/>
    <p:sldId id="928" r:id="rId25"/>
    <p:sldId id="929" r:id="rId26"/>
    <p:sldId id="930" r:id="rId27"/>
    <p:sldId id="931" r:id="rId28"/>
    <p:sldId id="932" r:id="rId29"/>
    <p:sldId id="933" r:id="rId30"/>
    <p:sldId id="934" r:id="rId31"/>
    <p:sldId id="935" r:id="rId32"/>
    <p:sldId id="936" r:id="rId33"/>
    <p:sldId id="937" r:id="rId34"/>
    <p:sldId id="1041" r:id="rId35"/>
    <p:sldId id="938" r:id="rId36"/>
    <p:sldId id="1044" r:id="rId37"/>
    <p:sldId id="939" r:id="rId38"/>
    <p:sldId id="940" r:id="rId39"/>
    <p:sldId id="1045" r:id="rId40"/>
    <p:sldId id="1046" r:id="rId41"/>
    <p:sldId id="1047" r:id="rId42"/>
    <p:sldId id="1048" r:id="rId43"/>
    <p:sldId id="1049" r:id="rId44"/>
    <p:sldId id="1050" r:id="rId45"/>
    <p:sldId id="1051" r:id="rId46"/>
    <p:sldId id="1052" r:id="rId47"/>
    <p:sldId id="1053" r:id="rId48"/>
    <p:sldId id="1168" r:id="rId49"/>
    <p:sldId id="947" r:id="rId50"/>
    <p:sldId id="1054" r:id="rId51"/>
    <p:sldId id="727" r:id="rId52"/>
    <p:sldId id="1055" r:id="rId53"/>
    <p:sldId id="1056" r:id="rId54"/>
    <p:sldId id="1167" r:id="rId55"/>
    <p:sldId id="1166" r:id="rId56"/>
    <p:sldId id="1059" r:id="rId57"/>
    <p:sldId id="1060" r:id="rId58"/>
    <p:sldId id="1061" r:id="rId59"/>
    <p:sldId id="1062" r:id="rId60"/>
    <p:sldId id="1063" r:id="rId61"/>
    <p:sldId id="1064" r:id="rId62"/>
    <p:sldId id="1065" r:id="rId63"/>
    <p:sldId id="1066" r:id="rId64"/>
    <p:sldId id="1067" r:id="rId65"/>
    <p:sldId id="1068" r:id="rId66"/>
    <p:sldId id="1069" r:id="rId67"/>
    <p:sldId id="1070" r:id="rId68"/>
    <p:sldId id="1071" r:id="rId69"/>
    <p:sldId id="1072" r:id="rId70"/>
    <p:sldId id="1073" r:id="rId71"/>
    <p:sldId id="1074" r:id="rId72"/>
    <p:sldId id="1075" r:id="rId73"/>
    <p:sldId id="1076" r:id="rId74"/>
    <p:sldId id="1165" r:id="rId75"/>
    <p:sldId id="1077" r:id="rId76"/>
    <p:sldId id="1078" r:id="rId77"/>
    <p:sldId id="1079" r:id="rId78"/>
    <p:sldId id="1080" r:id="rId79"/>
    <p:sldId id="1081" r:id="rId80"/>
    <p:sldId id="1082" r:id="rId81"/>
    <p:sldId id="1083" r:id="rId82"/>
    <p:sldId id="1084" r:id="rId83"/>
    <p:sldId id="1085" r:id="rId84"/>
    <p:sldId id="974" r:id="rId85"/>
    <p:sldId id="1086" r:id="rId86"/>
    <p:sldId id="754" r:id="rId87"/>
    <p:sldId id="975" r:id="rId88"/>
    <p:sldId id="1087" r:id="rId89"/>
    <p:sldId id="1088" r:id="rId90"/>
    <p:sldId id="1089" r:id="rId91"/>
    <p:sldId id="1090" r:id="rId92"/>
    <p:sldId id="1164" r:id="rId93"/>
    <p:sldId id="1091" r:id="rId94"/>
    <p:sldId id="1092" r:id="rId95"/>
    <p:sldId id="1093" r:id="rId96"/>
    <p:sldId id="1094" r:id="rId97"/>
    <p:sldId id="1095" r:id="rId98"/>
    <p:sldId id="1096" r:id="rId99"/>
    <p:sldId id="1097" r:id="rId100"/>
    <p:sldId id="1098" r:id="rId101"/>
    <p:sldId id="1099" r:id="rId102"/>
    <p:sldId id="1100" r:id="rId103"/>
    <p:sldId id="1101" r:id="rId104"/>
    <p:sldId id="1102" r:id="rId105"/>
    <p:sldId id="1103" r:id="rId106"/>
    <p:sldId id="1104" r:id="rId107"/>
    <p:sldId id="1105" r:id="rId108"/>
    <p:sldId id="1106" r:id="rId109"/>
    <p:sldId id="1107" r:id="rId110"/>
    <p:sldId id="1108" r:id="rId111"/>
    <p:sldId id="1109" r:id="rId112"/>
    <p:sldId id="1110" r:id="rId113"/>
    <p:sldId id="1111" r:id="rId114"/>
    <p:sldId id="1112" r:id="rId115"/>
    <p:sldId id="1113" r:id="rId116"/>
    <p:sldId id="1114" r:id="rId117"/>
    <p:sldId id="1115" r:id="rId118"/>
    <p:sldId id="1116" r:id="rId119"/>
    <p:sldId id="1117" r:id="rId120"/>
    <p:sldId id="1118" r:id="rId121"/>
    <p:sldId id="1119" r:id="rId122"/>
    <p:sldId id="1120" r:id="rId123"/>
    <p:sldId id="1121" r:id="rId124"/>
    <p:sldId id="1122" r:id="rId125"/>
    <p:sldId id="1123" r:id="rId126"/>
    <p:sldId id="1124" r:id="rId127"/>
    <p:sldId id="1125" r:id="rId128"/>
    <p:sldId id="1126" r:id="rId129"/>
    <p:sldId id="1127" r:id="rId130"/>
    <p:sldId id="1128" r:id="rId131"/>
    <p:sldId id="1129" r:id="rId132"/>
    <p:sldId id="1130" r:id="rId133"/>
    <p:sldId id="1131" r:id="rId134"/>
    <p:sldId id="1132" r:id="rId135"/>
    <p:sldId id="1133" r:id="rId136"/>
    <p:sldId id="1134" r:id="rId137"/>
    <p:sldId id="1135" r:id="rId138"/>
    <p:sldId id="1136" r:id="rId139"/>
    <p:sldId id="1137" r:id="rId140"/>
    <p:sldId id="1138" r:id="rId141"/>
    <p:sldId id="1019" r:id="rId142"/>
    <p:sldId id="1139" r:id="rId143"/>
    <p:sldId id="1140" r:id="rId144"/>
    <p:sldId id="1141" r:id="rId145"/>
    <p:sldId id="1142" r:id="rId146"/>
    <p:sldId id="1143" r:id="rId147"/>
    <p:sldId id="1144" r:id="rId148"/>
    <p:sldId id="1145" r:id="rId149"/>
    <p:sldId id="1146" r:id="rId150"/>
    <p:sldId id="1147" r:id="rId151"/>
    <p:sldId id="1148" r:id="rId152"/>
    <p:sldId id="1149" r:id="rId153"/>
    <p:sldId id="1150" r:id="rId154"/>
    <p:sldId id="1151" r:id="rId155"/>
    <p:sldId id="1152" r:id="rId156"/>
    <p:sldId id="1153" r:id="rId157"/>
    <p:sldId id="1169" r:id="rId158"/>
    <p:sldId id="1155" r:id="rId159"/>
    <p:sldId id="1156" r:id="rId160"/>
    <p:sldId id="1171" r:id="rId161"/>
  </p:sldIdLst>
  <p:sldSz cx="9144000" cy="6858000" type="screen4x3"/>
  <p:notesSz cx="6797675" cy="9928225"/>
  <p:defaultTextStyle>
    <a:defPPr>
      <a:defRPr lang="en-US"/>
    </a:defPPr>
    <a:lvl1pPr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930" userDrawn="1">
          <p15:clr>
            <a:srgbClr val="A4A3A4"/>
          </p15:clr>
        </p15:guide>
        <p15:guide id="3" pos="18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29">
          <p15:clr>
            <a:srgbClr val="A4A3A4"/>
          </p15:clr>
        </p15:guide>
        <p15:guide id="2" pos="8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A50021"/>
    <a:srgbClr val="CCFF66"/>
    <a:srgbClr val="FF9933"/>
    <a:srgbClr val="99CCFF"/>
    <a:srgbClr val="66CCFF"/>
    <a:srgbClr val="FFFFCC"/>
    <a:srgbClr val="FF00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6" autoAdjust="0"/>
    <p:restoredTop sz="92470" autoAdjust="0"/>
  </p:normalViewPr>
  <p:slideViewPr>
    <p:cSldViewPr snapToGrid="0" showGuides="1">
      <p:cViewPr>
        <p:scale>
          <a:sx n="50" d="100"/>
          <a:sy n="50" d="100"/>
        </p:scale>
        <p:origin x="616" y="692"/>
      </p:cViewPr>
      <p:guideLst>
        <p:guide orient="horz" pos="3838"/>
        <p:guide pos="930"/>
        <p:guide pos="1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03"/>
    </p:cViewPr>
  </p:sorterViewPr>
  <p:notesViewPr>
    <p:cSldViewPr snapToGrid="0" showGuides="1">
      <p:cViewPr varScale="1">
        <p:scale>
          <a:sx n="105" d="100"/>
          <a:sy n="105" d="100"/>
        </p:scale>
        <p:origin x="1950" y="132"/>
      </p:cViewPr>
      <p:guideLst>
        <p:guide orient="horz" pos="2329"/>
        <p:guide pos="8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61" Type="http://schemas.openxmlformats.org/officeDocument/2006/relationships/slide" Target="slides/slide159.xml"/><Relationship Id="rId16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viewProps" Target="viewProps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4" Type="http://schemas.openxmlformats.org/officeDocument/2006/relationships/image" Target="../media/image7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016" y="0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814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016" y="9431814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339075F8-9FF0-4A6B-9E58-ABCA6ADD104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22150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45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945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E94BE428-8424-49AF-A984-F0E6574F9E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41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7.bin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B34445-AC5B-4A45-92D7-7EB668A5D382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94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2557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4387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9476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6365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332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270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099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03532" y="4715907"/>
            <a:ext cx="5950063" cy="4467701"/>
          </a:xfrm>
        </p:spPr>
        <p:txBody>
          <a:bodyPr/>
          <a:lstStyle/>
          <a:p>
            <a:pPr>
              <a:lnSpc>
                <a:spcPct val="114000"/>
              </a:lnSpc>
            </a:pP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9773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386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570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673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285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37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487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37280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8177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388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4867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4031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94026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70669" y="4715906"/>
            <a:ext cx="5824181" cy="4596400"/>
          </a:xfrm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49945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23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224682"/>
              </p:ext>
            </p:extLst>
          </p:nvPr>
        </p:nvGraphicFramePr>
        <p:xfrm>
          <a:off x="4510100" y="6692359"/>
          <a:ext cx="1207216" cy="303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6670" name="公式" r:id="rId4" imgW="939392" imgH="215806" progId="Equation.3">
                  <p:embed/>
                </p:oleObj>
              </mc:Choice>
              <mc:Fallback>
                <p:oleObj name="公式" r:id="rId4" imgW="939392" imgH="215806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100" y="6692359"/>
                        <a:ext cx="1207216" cy="303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68023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79767" y="4715907"/>
            <a:ext cx="5522062" cy="4467701"/>
          </a:xfrm>
        </p:spPr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4260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30747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79768" y="4715906"/>
            <a:ext cx="5438140" cy="4706714"/>
          </a:xfrm>
        </p:spPr>
        <p:txBody>
          <a:bodyPr/>
          <a:lstStyle/>
          <a:p>
            <a:pPr>
              <a:lnSpc>
                <a:spcPct val="114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82137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37042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15339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51919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12422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34293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3509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zh-CN" altLang="en-US" sz="1400" dirty="0" smtClean="0"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81508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79767" y="4715907"/>
            <a:ext cx="5653299" cy="446770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5798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12380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27878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79767" y="4715907"/>
            <a:ext cx="5636365" cy="446770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522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79768" y="4715907"/>
            <a:ext cx="5438140" cy="45103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4518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4518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360000" algn="l" defTabSz="91440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4518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25000"/>
              </a:lnSpc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90114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79767" y="4715907"/>
            <a:ext cx="5551699" cy="4467701"/>
          </a:xfrm>
        </p:spPr>
        <p:txBody>
          <a:bodyPr/>
          <a:lstStyle/>
          <a:p>
            <a:pPr>
              <a:lnSpc>
                <a:spcPct val="110000"/>
              </a:lnSpc>
            </a:pP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8914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39489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0851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03270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84201" y="4715907"/>
            <a:ext cx="5884332" cy="4467701"/>
          </a:xfrm>
        </p:spPr>
        <p:txBody>
          <a:bodyPr/>
          <a:lstStyle/>
          <a:p>
            <a:pPr indent="360000">
              <a:lnSpc>
                <a:spcPct val="120000"/>
              </a:lnSpc>
              <a:spcBef>
                <a:spcPts val="300"/>
              </a:spcBef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08020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84201" y="4715907"/>
            <a:ext cx="5884332" cy="446770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08020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39533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4867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</a:pPr>
            <a:endParaRPr lang="en-US" altLang="zh-CN" sz="1400" dirty="0" smtClean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309161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9666" y="4715907"/>
            <a:ext cx="5398241" cy="4467701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90586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12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905868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812800" y="4715907"/>
            <a:ext cx="5173133" cy="4467701"/>
          </a:xfrm>
        </p:spPr>
        <p:txBody>
          <a:bodyPr/>
          <a:lstStyle/>
          <a:p>
            <a:pPr indent="360000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18892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5699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35309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 eaLnBrk="1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03783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 eaLnBrk="1" hangingPunct="1">
              <a:lnSpc>
                <a:spcPct val="150000"/>
              </a:lnSpc>
              <a:spcBef>
                <a:spcPts val="300"/>
              </a:spcBef>
              <a:spcAft>
                <a:spcPts val="2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365442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 ea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311686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548461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49718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33400" y="4715907"/>
            <a:ext cx="5706533" cy="4529693"/>
          </a:xfrm>
        </p:spPr>
        <p:txBody>
          <a:bodyPr/>
          <a:lstStyle/>
          <a:p>
            <a:pPr indent="360000">
              <a:lnSpc>
                <a:spcPct val="125000"/>
              </a:lnSpc>
              <a:spcBef>
                <a:spcPts val="30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238850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6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785402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62921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724825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02613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377706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48677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25000"/>
              </a:lnSpc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790886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104395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166023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487221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45066" y="4715907"/>
            <a:ext cx="5342467" cy="4467701"/>
          </a:xfrm>
        </p:spPr>
        <p:txBody>
          <a:bodyPr/>
          <a:lstStyle/>
          <a:p>
            <a:pPr indent="36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823901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846667" y="4715907"/>
            <a:ext cx="5215466" cy="4467701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823901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696412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675128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249100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09601" y="4715907"/>
            <a:ext cx="5706532" cy="4732893"/>
          </a:xfrm>
        </p:spPr>
        <p:txBody>
          <a:bodyPr/>
          <a:lstStyle/>
          <a:p>
            <a:pPr indent="360000" eaLnBrk="1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endParaRPr lang="en-US" altLang="zh-CN" sz="1200" b="1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626881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endParaRPr lang="zh-CN" altLang="en-US" sz="12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143090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71964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  <a:p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80754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84201" y="4715907"/>
            <a:ext cx="5774266" cy="4673626"/>
          </a:xfrm>
        </p:spPr>
        <p:txBody>
          <a:bodyPr/>
          <a:lstStyle/>
          <a:p>
            <a:pPr indent="3600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22923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400" dirty="0">
              <a:ea typeface="+mn-ea"/>
              <a:cs typeface="Times New Roman" panose="02020603050405020304" pitchFamily="18" charset="0"/>
            </a:endParaRPr>
          </a:p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392847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148152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48677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05691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25000"/>
              </a:lnSpc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417818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038040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583363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150945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11200" y="4715907"/>
            <a:ext cx="5528733" cy="4467701"/>
          </a:xfrm>
        </p:spPr>
        <p:txBody>
          <a:bodyPr/>
          <a:lstStyle/>
          <a:p>
            <a:pPr indent="36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97706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812800" y="4715907"/>
            <a:ext cx="5291667" cy="4467701"/>
          </a:xfrm>
        </p:spPr>
        <p:txBody>
          <a:bodyPr/>
          <a:lstStyle/>
          <a:p>
            <a:pPr marL="0" marR="0" lvl="0" indent="3600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36000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endParaRPr lang="zh-CN" altLang="en-US" sz="1200" b="1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36000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97706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2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038040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08001" y="4715907"/>
            <a:ext cx="5816600" cy="4724426"/>
          </a:xfrm>
        </p:spPr>
        <p:txBody>
          <a:bodyPr/>
          <a:lstStyle/>
          <a:p>
            <a:pPr indent="360000" eaLnBrk="1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endParaRPr lang="zh-CN" altLang="en-US" sz="12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716795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130465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731766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51934" y="4715908"/>
            <a:ext cx="5554134" cy="4622826"/>
          </a:xfrm>
        </p:spPr>
        <p:txBody>
          <a:bodyPr/>
          <a:lstStyle/>
          <a:p>
            <a:endParaRPr lang="zh-CN" altLang="en-US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934993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75125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75125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99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857009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46132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157670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25000"/>
              </a:lnSpc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323171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sz="1200" b="1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081047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3600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1" dirty="0" smtClean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073235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740548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218370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49360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2384940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79768" y="4715907"/>
            <a:ext cx="5510720" cy="4467701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109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699220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300"/>
              </a:spcBef>
              <a:spcAft>
                <a:spcPts val="200"/>
              </a:spcAft>
            </a:pPr>
            <a:endParaRPr lang="en-US" altLang="zh-CN" sz="1200" b="1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427442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 eaLnBrk="1" hangingPunct="1">
              <a:lnSpc>
                <a:spcPct val="130000"/>
              </a:lnSpc>
              <a:spcBef>
                <a:spcPts val="300"/>
              </a:spcBef>
              <a:spcAft>
                <a:spcPts val="200"/>
              </a:spcAft>
            </a:pPr>
            <a:endParaRPr lang="zh-CN" altLang="en-US" sz="12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92241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92241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635192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61524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615244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360000" algn="l" defTabSz="914400" rtl="0" eaLnBrk="1" fontAlgn="base" latinLnBrk="0" hangingPunct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615244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66928" y="4544569"/>
            <a:ext cx="5760720" cy="4800599"/>
          </a:xfrm>
        </p:spPr>
        <p:txBody>
          <a:bodyPr/>
          <a:lstStyle/>
          <a:p>
            <a:pPr indent="360000" eaLnBrk="1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endParaRPr lang="en-US" altLang="zh-CN" sz="1200" b="1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778044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 eaLnBrk="1" hangingPunct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30386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31638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3600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1364210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66928" y="4715907"/>
            <a:ext cx="5687568" cy="4467701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934421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934421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79768" y="4715907"/>
            <a:ext cx="5538152" cy="4601829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sz="1200" b="1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934421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79768" y="4715907"/>
            <a:ext cx="5574728" cy="4592685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endParaRPr lang="en-US" altLang="zh-CN" sz="1200" b="1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9160717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9869965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7427574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900863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79768" y="4715907"/>
            <a:ext cx="5647880" cy="4714184"/>
          </a:xfrm>
        </p:spPr>
        <p:txBody>
          <a:bodyPr/>
          <a:lstStyle/>
          <a:p>
            <a:pPr indent="360000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endParaRPr lang="zh-CN" altLang="en-US" sz="13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3098914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7584506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7584506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806228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24039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519171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2572013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701374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9757426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770710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5142892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29522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828497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</a:pPr>
            <a:r>
              <a:rPr lang="zh-CN" altLang="en-US" sz="1400" dirty="0" smtClean="0"/>
              <a:t>下面我们学习第</a:t>
            </a:r>
            <a:r>
              <a:rPr lang="en-US" altLang="zh-CN" sz="1400" dirty="0" smtClean="0"/>
              <a:t>6</a:t>
            </a:r>
            <a:r>
              <a:rPr lang="zh-CN" altLang="en-US" sz="1400" dirty="0" smtClean="0"/>
              <a:t>节：土的动强度与砂土的振动液化。</a:t>
            </a:r>
          </a:p>
          <a:p>
            <a:pPr indent="360000">
              <a:lnSpc>
                <a:spcPct val="150000"/>
              </a:lnSpc>
            </a:pPr>
            <a:r>
              <a:rPr lang="zh-CN" altLang="en-US" sz="1400" dirty="0" smtClean="0"/>
              <a:t>我们首先讨论土的动强度问题。</a:t>
            </a:r>
          </a:p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486770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296899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2968999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2968999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97577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97577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</a:pPr>
            <a:endParaRPr lang="en-US" altLang="zh-CN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97577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  <a:tabLst>
                <a:tab pos="808038" algn="l"/>
              </a:tabLst>
            </a:pPr>
            <a:endParaRPr lang="zh-CN" altLang="en-US" sz="12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616472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1653385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2787979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6722107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336961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23365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9782423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659144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68096" y="4715907"/>
            <a:ext cx="5312664" cy="4467701"/>
          </a:xfrm>
        </p:spPr>
        <p:txBody>
          <a:bodyPr/>
          <a:lstStyle/>
          <a:p>
            <a:endParaRPr lang="zh-CN" altLang="en-US" sz="1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9233654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60000">
              <a:lnSpc>
                <a:spcPct val="150000"/>
              </a:lnSpc>
            </a:pPr>
            <a:endParaRPr lang="zh-CN" altLang="en-US" sz="140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349998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158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486770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4BE428-8424-49AF-A984-F0E6574F9E05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159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7920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372692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772675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1125163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199108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19340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97565"/>
      </p:ext>
    </p:extLst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xbh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1158760" y="4278004"/>
            <a:ext cx="1557808" cy="15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:\教学2012\清华校徽2.gif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61" y="776294"/>
            <a:ext cx="13430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536846"/>
      </p:ext>
    </p:extLst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11705459"/>
      </p:ext>
    </p:extLst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08553134"/>
      </p:ext>
    </p:extLst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50387"/>
      </p:ext>
    </p:extLst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023204"/>
      </p:ext>
    </p:extLst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700952"/>
      </p:ext>
    </p:extLst>
  </p:cSld>
  <p:clrMapOvr>
    <a:masterClrMapping/>
  </p:clrMapOvr>
  <p:transition spd="med"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56754"/>
      </p:ext>
    </p:extLst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67351839"/>
      </p:ext>
    </p:extLst>
  </p:cSld>
  <p:clrMapOvr>
    <a:masterClrMapping/>
  </p:clrMapOvr>
  <p:transition spd="med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499012"/>
      </p:ext>
    </p:extLst>
  </p:cSld>
  <p:clrMapOvr>
    <a:masterClrMapping/>
  </p:clrMapOvr>
  <p:transition spd="med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666435"/>
      </p:ext>
    </p:extLst>
  </p:cSld>
  <p:clrMapOvr>
    <a:masterClrMapping/>
  </p:clrMapOvr>
  <p:transition spd="med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402199"/>
      </p:ext>
    </p:extLst>
  </p:cSld>
  <p:clrMapOvr>
    <a:masterClrMapping/>
  </p:clrMapOvr>
  <p:transition spd="med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20991"/>
      </p:ext>
    </p:extLst>
  </p:cSld>
  <p:clrMapOvr>
    <a:masterClrMapping/>
  </p:clrMapOvr>
  <p:transition spd="med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28210542"/>
      </p:ext>
    </p:extLst>
  </p:cSld>
  <p:clrMapOvr>
    <a:masterClrMapping/>
  </p:clrMapOvr>
  <p:transition spd="med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02478664"/>
      </p:ext>
    </p:extLst>
  </p:cSld>
  <p:clrMapOvr>
    <a:masterClrMapping/>
  </p:clrMapOvr>
  <p:transition spd="med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883718"/>
      </p:ext>
    </p:extLst>
  </p:cSld>
  <p:clrMapOvr>
    <a:masterClrMapping/>
  </p:clrMapOvr>
  <p:transition spd="med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591282"/>
      </p:ext>
    </p:extLst>
  </p:cSld>
  <p:clrMapOvr>
    <a:masterClrMapping/>
  </p:clrMapOvr>
  <p:transition spd="med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426419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068" name="Group 148"/>
          <p:cNvGrpSpPr>
            <a:grpSpLocks/>
          </p:cNvGrpSpPr>
          <p:nvPr userDrawn="1"/>
        </p:nvGrpSpPr>
        <p:grpSpPr bwMode="auto">
          <a:xfrm>
            <a:off x="8031163" y="5454650"/>
            <a:ext cx="533400" cy="492125"/>
            <a:chOff x="96" y="2784"/>
            <a:chExt cx="1062" cy="981"/>
          </a:xfrm>
        </p:grpSpPr>
        <p:sp>
          <p:nvSpPr>
            <p:cNvPr id="594069" name="Freeform 14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0" name="Freeform 15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1" name="Freeform 15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2" name="Freeform 15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3" name="Freeform 15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4" name="Freeform 15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5" name="Freeform 15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6" name="Freeform 15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7" name="Freeform 15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8" name="Freeform 15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9" name="Freeform 15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0" name="Freeform 16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1" name="Freeform 16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82" name="Group 162"/>
          <p:cNvGrpSpPr>
            <a:grpSpLocks/>
          </p:cNvGrpSpPr>
          <p:nvPr userDrawn="1"/>
        </p:nvGrpSpPr>
        <p:grpSpPr bwMode="auto">
          <a:xfrm>
            <a:off x="5805488" y="2881313"/>
            <a:ext cx="533400" cy="492125"/>
            <a:chOff x="96" y="2784"/>
            <a:chExt cx="1062" cy="981"/>
          </a:xfrm>
        </p:grpSpPr>
        <p:sp>
          <p:nvSpPr>
            <p:cNvPr id="594083" name="Freeform 163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4" name="Freeform 164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5" name="Freeform 165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6" name="Freeform 166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7" name="Freeform 167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8" name="Freeform 168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9" name="Freeform 169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0" name="Freeform 170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1" name="Freeform 171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2" name="Freeform 172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3" name="Freeform 173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4" name="Freeform 174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5" name="Freeform 175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96" name="Group 176"/>
          <p:cNvGrpSpPr>
            <a:grpSpLocks/>
          </p:cNvGrpSpPr>
          <p:nvPr userDrawn="1"/>
        </p:nvGrpSpPr>
        <p:grpSpPr bwMode="auto">
          <a:xfrm>
            <a:off x="1646238" y="4876800"/>
            <a:ext cx="533400" cy="492125"/>
            <a:chOff x="96" y="2784"/>
            <a:chExt cx="1062" cy="981"/>
          </a:xfrm>
        </p:grpSpPr>
        <p:sp>
          <p:nvSpPr>
            <p:cNvPr id="594097" name="Freeform 177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8" name="Freeform 178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9" name="Freeform 179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0" name="Freeform 180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1" name="Freeform 181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2" name="Freeform 182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3" name="Freeform 183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4" name="Freeform 184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5" name="Freeform 185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6" name="Freeform 186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7" name="Freeform 187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8" name="Freeform 188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9" name="Freeform 189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10" name="Group 190"/>
          <p:cNvGrpSpPr>
            <a:grpSpLocks/>
          </p:cNvGrpSpPr>
          <p:nvPr userDrawn="1"/>
        </p:nvGrpSpPr>
        <p:grpSpPr bwMode="auto">
          <a:xfrm>
            <a:off x="5046663" y="4525963"/>
            <a:ext cx="533400" cy="492125"/>
            <a:chOff x="96" y="2784"/>
            <a:chExt cx="1062" cy="981"/>
          </a:xfrm>
        </p:grpSpPr>
        <p:sp>
          <p:nvSpPr>
            <p:cNvPr id="594111" name="Freeform 191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2" name="Freeform 192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3" name="Freeform 193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4" name="Freeform 194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5" name="Freeform 195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6" name="Freeform 196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7" name="Freeform 197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8" name="Freeform 198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9" name="Freeform 199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0" name="Freeform 200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1" name="Freeform 201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2" name="Freeform 202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3" name="Freeform 203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24" name="Group 204"/>
          <p:cNvGrpSpPr>
            <a:grpSpLocks/>
          </p:cNvGrpSpPr>
          <p:nvPr userDrawn="1"/>
        </p:nvGrpSpPr>
        <p:grpSpPr bwMode="auto">
          <a:xfrm>
            <a:off x="1096963" y="2486025"/>
            <a:ext cx="533400" cy="492125"/>
            <a:chOff x="96" y="2784"/>
            <a:chExt cx="1062" cy="981"/>
          </a:xfrm>
        </p:grpSpPr>
        <p:sp>
          <p:nvSpPr>
            <p:cNvPr id="594125" name="Freeform 205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6" name="Freeform 206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7" name="Freeform 207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8" name="Freeform 208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9" name="Freeform 209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0" name="Freeform 210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1" name="Freeform 211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2" name="Freeform 212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3" name="Freeform 213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4" name="Freeform 214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5" name="Freeform 215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6" name="Freeform 216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7" name="Freeform 217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94193" name="Picture 273" descr="校徽blue2"/>
          <p:cNvPicPr>
            <a:picLocks noChangeAspect="1" noChangeArrowheads="1"/>
          </p:cNvPicPr>
          <p:nvPr userDrawn="1"/>
        </p:nvPicPr>
        <p:blipFill>
          <a:blip r:embed="rId13">
            <a:lum bright="90000"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280988"/>
            <a:ext cx="3387725" cy="339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B741-5216-414E-B74B-795A24EA3A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6" name="Picture 13" descr="xbh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423817" y="5489135"/>
            <a:ext cx="1174241" cy="11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 userDrawn="1"/>
        </p:nvSpPr>
        <p:spPr>
          <a:xfrm>
            <a:off x="7101555" y="491380"/>
            <a:ext cx="2042446" cy="115368"/>
          </a:xfrm>
          <a:prstGeom prst="rect">
            <a:avLst/>
          </a:prstGeom>
          <a:solidFill>
            <a:srgbClr val="A74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7007545" y="59819"/>
            <a:ext cx="21595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kern="1000" spc="-170" baseline="0" dirty="0" smtClean="0">
                <a:solidFill>
                  <a:srgbClr val="C00000"/>
                </a:solidFill>
              </a:rPr>
              <a:t>智者乐水  仁者乐山</a:t>
            </a:r>
            <a:endParaRPr lang="zh-CN" altLang="en-US" sz="2000" b="1" kern="1000" spc="-170" baseline="0" dirty="0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jpeg"/><Relationship Id="rId4" Type="http://schemas.openxmlformats.org/officeDocument/2006/relationships/hyperlink" Target="http://www.time.com/time/photoessays/salvadorquake/3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8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19.bin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38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18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39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1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42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24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25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50.wmf"/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48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55.wmf"/><Relationship Id="rId18" Type="http://schemas.openxmlformats.org/officeDocument/2006/relationships/oleObject" Target="../embeddings/oleObject38.bin"/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57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37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5" Type="http://schemas.openxmlformats.org/officeDocument/2006/relationships/image" Target="../media/image56.w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58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36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39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40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41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42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63.wmf"/><Relationship Id="rId4" Type="http://schemas.openxmlformats.org/officeDocument/2006/relationships/oleObject" Target="../embeddings/oleObject43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4.jpeg"/><Relationship Id="rId5" Type="http://schemas.openxmlformats.org/officeDocument/2006/relationships/image" Target="../media/image63.wmf"/><Relationship Id="rId4" Type="http://schemas.openxmlformats.org/officeDocument/2006/relationships/oleObject" Target="../embeddings/oleObject44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6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45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46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notesSlide" Target="../notesSlides/notesSlide65.xml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70.w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notesSlide" Target="../notesSlides/notesSlide77.xml"/><Relationship Id="rId7" Type="http://schemas.openxmlformats.org/officeDocument/2006/relationships/image" Target="../media/image7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74.w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7" Type="http://schemas.openxmlformats.org/officeDocument/2006/relationships/image" Target="../media/image7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54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56.bin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notesSlide" Target="../notesSlides/notesSlide87.xml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57.bin"/><Relationship Id="rId4" Type="http://schemas.openxmlformats.org/officeDocument/2006/relationships/audio" Target="../media/audio1.wav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0.jpe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notesSlide" Target="../notesSlides/notesSlide92.xml"/><Relationship Id="rId7" Type="http://schemas.openxmlformats.org/officeDocument/2006/relationships/image" Target="../media/image7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81.wmf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Relationship Id="rId4" Type="http://schemas.openxmlformats.org/officeDocument/2006/relationships/image" Target="../media/image80.jpe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Relationship Id="rId4" Type="http://schemas.openxmlformats.org/officeDocument/2006/relationships/image" Target="../media/image80.jpe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8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8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8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8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8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8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8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8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8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8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8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8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8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8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8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8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8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8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8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8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8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8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8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8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8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8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8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8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8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8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8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8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8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8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8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8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8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3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4.jpeg"/><Relationship Id="rId5" Type="http://schemas.openxmlformats.org/officeDocument/2006/relationships/image" Target="../media/image83.wmf"/><Relationship Id="rId4" Type="http://schemas.openxmlformats.org/officeDocument/2006/relationships/oleObject" Target="../embeddings/oleObject62.bin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4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85.wmf"/><Relationship Id="rId4" Type="http://schemas.openxmlformats.org/officeDocument/2006/relationships/oleObject" Target="../embeddings/oleObject63.bin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8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8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8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8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8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8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8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8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1.jpeg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8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8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8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" name="Text Box 61"/>
          <p:cNvSpPr txBox="1">
            <a:spLocks noChangeArrowheads="1"/>
          </p:cNvSpPr>
          <p:nvPr/>
        </p:nvSpPr>
        <p:spPr bwMode="auto">
          <a:xfrm>
            <a:off x="1193800" y="1811338"/>
            <a:ext cx="69453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</a:t>
            </a:r>
            <a:r>
              <a:rPr lang="zh-CN" altLang="en-US" sz="44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</a:t>
            </a:r>
            <a:r>
              <a:rPr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抗剪强度</a:t>
            </a:r>
            <a:endParaRPr kumimoji="0" lang="en-US" altLang="zh-CN" sz="4400" b="1" dirty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3849688" y="3218503"/>
            <a:ext cx="2117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张 丙 印</a:t>
            </a:r>
          </a:p>
        </p:txBody>
      </p:sp>
      <p:sp>
        <p:nvSpPr>
          <p:cNvPr id="22" name="Text Box 59"/>
          <p:cNvSpPr txBox="1">
            <a:spLocks noChangeArrowheads="1"/>
          </p:cNvSpPr>
          <p:nvPr/>
        </p:nvSpPr>
        <p:spPr bwMode="auto">
          <a:xfrm>
            <a:off x="2519465" y="822480"/>
            <a:ext cx="318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《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土力学</a:t>
            </a: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》</a:t>
            </a:r>
            <a:r>
              <a:rPr kumimoji="1" lang="zh-CN" altLang="en-US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之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kumimoji="1" lang="zh-CN" altLang="en-US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五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章</a:t>
            </a:r>
            <a:endParaRPr kumimoji="1" lang="zh-CN" altLang="en-US" sz="2400" b="1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580955" y="4390958"/>
            <a:ext cx="64246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2400" b="1" dirty="0">
                <a:solidFill>
                  <a:srgbClr val="660066"/>
                </a:solidFill>
                <a:latin typeface="幼圆" pitchFamily="49" charset="-122"/>
                <a:ea typeface="幼圆" pitchFamily="49" charset="-122"/>
              </a:rPr>
              <a:t>	</a:t>
            </a: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清华大学土木水利学院      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      	岩 土 工 程 研 究 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第五章：本章概要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073150" y="2286000"/>
            <a:ext cx="2651125" cy="256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本章提要</a:t>
            </a:r>
          </a:p>
          <a:p>
            <a:pPr eaLnBrk="1" hangingPunct="1">
              <a:lnSpc>
                <a:spcPct val="120000"/>
              </a:lnSpc>
              <a:spcBef>
                <a:spcPct val="45000"/>
              </a:spcBef>
              <a:spcAft>
                <a:spcPct val="110000"/>
              </a:spcAft>
              <a:buFont typeface="Wingdings" pitchFamily="2" charset="2"/>
              <a:buChar char="²"/>
            </a:pPr>
            <a:endParaRPr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endParaRPr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学习难点</a:t>
            </a:r>
            <a:endParaRPr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1865313" y="954088"/>
            <a:ext cx="53562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第五章： </a:t>
            </a:r>
            <a:r>
              <a:rPr lang="zh-CN" altLang="en-US" sz="32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土的抗剪强度</a:t>
            </a:r>
            <a:endParaRPr lang="en-US" altLang="zh-CN" sz="32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3379788" y="2081213"/>
            <a:ext cx="4948237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 土是如何破坏的？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 如何衡量土的强度？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 如何测定土的强度？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 如何应用土的强度指标？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endParaRPr kumimoji="1" lang="zh-CN" altLang="en-US" sz="2400" b="1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 土的抗剪强度理论及本质</a:t>
            </a:r>
            <a:endParaRPr lang="zh-CN" altLang="en-US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 土的抗剪强度指标及测试方法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 土的抗剪强度指标的种类及选取</a:t>
            </a:r>
            <a:endParaRPr lang="zh-CN" altLang="en-US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49275" y="679450"/>
            <a:ext cx="1423988" cy="1516063"/>
            <a:chOff x="6502400" y="546100"/>
            <a:chExt cx="1423988" cy="1516063"/>
          </a:xfrm>
        </p:grpSpPr>
        <p:sp>
          <p:nvSpPr>
            <p:cNvPr id="1447938" name="AutoShape 2"/>
            <p:cNvSpPr>
              <a:spLocks noChangeArrowheads="1"/>
            </p:cNvSpPr>
            <p:nvPr/>
          </p:nvSpPr>
          <p:spPr bwMode="auto">
            <a:xfrm>
              <a:off x="7008813" y="1212850"/>
              <a:ext cx="371475" cy="849313"/>
            </a:xfrm>
            <a:prstGeom prst="cube">
              <a:avLst>
                <a:gd name="adj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7939" name="Freeform 3"/>
            <p:cNvSpPr>
              <a:spLocks/>
            </p:cNvSpPr>
            <p:nvPr/>
          </p:nvSpPr>
          <p:spPr bwMode="auto">
            <a:xfrm flipH="1">
              <a:off x="6502400" y="546100"/>
              <a:ext cx="1423988" cy="950913"/>
            </a:xfrm>
            <a:custGeom>
              <a:avLst/>
              <a:gdLst>
                <a:gd name="T0" fmla="*/ 130 w 783"/>
                <a:gd name="T1" fmla="*/ 133 h 551"/>
                <a:gd name="T2" fmla="*/ 293 w 783"/>
                <a:gd name="T3" fmla="*/ 108 h 551"/>
                <a:gd name="T4" fmla="*/ 520 w 783"/>
                <a:gd name="T5" fmla="*/ 56 h 551"/>
                <a:gd name="T6" fmla="*/ 686 w 783"/>
                <a:gd name="T7" fmla="*/ 12 h 551"/>
                <a:gd name="T8" fmla="*/ 763 w 783"/>
                <a:gd name="T9" fmla="*/ 130 h 551"/>
                <a:gd name="T10" fmla="*/ 779 w 783"/>
                <a:gd name="T11" fmla="*/ 338 h 551"/>
                <a:gd name="T12" fmla="*/ 738 w 783"/>
                <a:gd name="T13" fmla="*/ 504 h 551"/>
                <a:gd name="T14" fmla="*/ 507 w 783"/>
                <a:gd name="T15" fmla="*/ 546 h 551"/>
                <a:gd name="T16" fmla="*/ 238 w 783"/>
                <a:gd name="T17" fmla="*/ 533 h 551"/>
                <a:gd name="T18" fmla="*/ 37 w 783"/>
                <a:gd name="T19" fmla="*/ 469 h 551"/>
                <a:gd name="T20" fmla="*/ 14 w 783"/>
                <a:gd name="T21" fmla="*/ 296 h 551"/>
                <a:gd name="T22" fmla="*/ 46 w 783"/>
                <a:gd name="T23" fmla="*/ 178 h 551"/>
                <a:gd name="T24" fmla="*/ 130 w 783"/>
                <a:gd name="T25" fmla="*/ 133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551">
                  <a:moveTo>
                    <a:pt x="130" y="133"/>
                  </a:moveTo>
                  <a:cubicBezTo>
                    <a:pt x="171" y="121"/>
                    <a:pt x="228" y="121"/>
                    <a:pt x="293" y="108"/>
                  </a:cubicBezTo>
                  <a:cubicBezTo>
                    <a:pt x="358" y="95"/>
                    <a:pt x="455" y="72"/>
                    <a:pt x="520" y="56"/>
                  </a:cubicBezTo>
                  <a:cubicBezTo>
                    <a:pt x="585" y="40"/>
                    <a:pt x="646" y="0"/>
                    <a:pt x="686" y="12"/>
                  </a:cubicBezTo>
                  <a:cubicBezTo>
                    <a:pt x="726" y="24"/>
                    <a:pt x="748" y="76"/>
                    <a:pt x="763" y="130"/>
                  </a:cubicBezTo>
                  <a:cubicBezTo>
                    <a:pt x="778" y="184"/>
                    <a:pt x="783" y="276"/>
                    <a:pt x="779" y="338"/>
                  </a:cubicBezTo>
                  <a:cubicBezTo>
                    <a:pt x="775" y="400"/>
                    <a:pt x="783" y="469"/>
                    <a:pt x="738" y="504"/>
                  </a:cubicBezTo>
                  <a:cubicBezTo>
                    <a:pt x="693" y="539"/>
                    <a:pt x="590" y="541"/>
                    <a:pt x="507" y="546"/>
                  </a:cubicBezTo>
                  <a:cubicBezTo>
                    <a:pt x="424" y="551"/>
                    <a:pt x="316" y="546"/>
                    <a:pt x="238" y="533"/>
                  </a:cubicBezTo>
                  <a:cubicBezTo>
                    <a:pt x="160" y="520"/>
                    <a:pt x="74" y="508"/>
                    <a:pt x="37" y="469"/>
                  </a:cubicBezTo>
                  <a:cubicBezTo>
                    <a:pt x="0" y="430"/>
                    <a:pt x="13" y="344"/>
                    <a:pt x="14" y="296"/>
                  </a:cubicBezTo>
                  <a:cubicBezTo>
                    <a:pt x="15" y="248"/>
                    <a:pt x="27" y="205"/>
                    <a:pt x="46" y="178"/>
                  </a:cubicBezTo>
                  <a:cubicBezTo>
                    <a:pt x="65" y="151"/>
                    <a:pt x="89" y="145"/>
                    <a:pt x="130" y="133"/>
                  </a:cubicBezTo>
                  <a:close/>
                </a:path>
              </a:pathLst>
            </a:custGeom>
            <a:solidFill>
              <a:srgbClr val="DBC9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7940" name="WordArt 4"/>
            <p:cNvSpPr>
              <a:spLocks noChangeArrowheads="1" noChangeShapeType="1" noTextEdit="1"/>
            </p:cNvSpPr>
            <p:nvPr/>
          </p:nvSpPr>
          <p:spPr bwMode="auto">
            <a:xfrm>
              <a:off x="6646863" y="566738"/>
              <a:ext cx="1065212" cy="822325"/>
            </a:xfrm>
            <a:prstGeom prst="rect">
              <a:avLst/>
            </a:prstGeom>
          </p:spPr>
          <p:txBody>
            <a:bodyPr wrap="none" fromWordArt="1">
              <a:prstTxWarp prst="textCurveDown">
                <a:avLst>
                  <a:gd name="adj" fmla="val 43477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45791" dir="2021404" algn="ctr" rotWithShape="0">
                      <a:srgbClr val="808080">
                        <a:alpha val="80000"/>
                      </a:srgbClr>
                    </a:outerShdw>
                  </a:effectLst>
                  <a:latin typeface="华文新魏"/>
                  <a:ea typeface="华文新魏"/>
                </a:rPr>
                <a:t>作业</a:t>
              </a:r>
            </a:p>
          </p:txBody>
        </p:sp>
      </p:grp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559175" y="5663553"/>
            <a:ext cx="2406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本章作业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262182" y="1598718"/>
            <a:ext cx="1642327" cy="2757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990600" indent="-990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5-1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5-5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5-6</a:t>
            </a:r>
            <a:endParaRPr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5-12</a:t>
            </a:r>
            <a:endParaRPr kumimoji="1"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5-13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5-16</a:t>
            </a:r>
            <a:endParaRPr kumimoji="1"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第五章：本章概要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9"/>
          <p:cNvSpPr txBox="1">
            <a:spLocks noChangeArrowheads="1"/>
          </p:cNvSpPr>
          <p:nvPr/>
        </p:nvSpPr>
        <p:spPr bwMode="auto">
          <a:xfrm>
            <a:off x="1897063" y="863600"/>
            <a:ext cx="5356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第五章： </a:t>
            </a: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土的抗剪强度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1987550" y="1922463"/>
            <a:ext cx="6364288" cy="379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§5.1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工程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中土的强度问题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§5.2	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的抗剪强度理论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§5.3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土的抗剪强度的测定试验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§5.4 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路径与破坏主应力线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§5.5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土的抗剪强度指标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§5.6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土的动强度与砂土的振动液化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0" name="Rectangle 183"/>
          <p:cNvSpPr>
            <a:spLocks noChangeArrowheads="1"/>
          </p:cNvSpPr>
          <p:nvPr/>
        </p:nvSpPr>
        <p:spPr bwMode="auto">
          <a:xfrm>
            <a:off x="3918909" y="5694726"/>
            <a:ext cx="26289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概     述</a:t>
            </a:r>
          </a:p>
        </p:txBody>
      </p:sp>
      <p:sp>
        <p:nvSpPr>
          <p:cNvPr id="11" name="Text Box 184"/>
          <p:cNvSpPr txBox="1">
            <a:spLocks noChangeArrowheads="1"/>
          </p:cNvSpPr>
          <p:nvPr/>
        </p:nvSpPr>
        <p:spPr bwMode="auto">
          <a:xfrm>
            <a:off x="502642" y="1637225"/>
            <a:ext cx="4086225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>
                <a:solidFill>
                  <a:srgbClr val="000066"/>
                </a:solidFill>
                <a:ea typeface="幼圆" pitchFamily="49" charset="-122"/>
              </a:rPr>
              <a:t> 土体强度及其特点</a:t>
            </a:r>
          </a:p>
          <a:p>
            <a:pPr eaLnBrk="1" hangingPunct="1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None/>
            </a:pPr>
            <a:endParaRPr lang="zh-CN" altLang="en-US" sz="2800" b="1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>
                <a:solidFill>
                  <a:srgbClr val="000066"/>
                </a:solidFill>
                <a:ea typeface="幼圆" pitchFamily="49" charset="-122"/>
              </a:rPr>
              <a:t> 工程中土的强度问题</a:t>
            </a:r>
          </a:p>
        </p:txBody>
      </p:sp>
      <p:sp>
        <p:nvSpPr>
          <p:cNvPr id="12" name="Text Box 185"/>
          <p:cNvSpPr txBox="1">
            <a:spLocks noChangeArrowheads="1"/>
          </p:cNvSpPr>
          <p:nvPr/>
        </p:nvSpPr>
        <p:spPr bwMode="auto">
          <a:xfrm>
            <a:off x="4917479" y="1349887"/>
            <a:ext cx="2836863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è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土的抗剪强度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è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土的强度的特点</a:t>
            </a:r>
          </a:p>
        </p:txBody>
      </p:sp>
      <p:sp>
        <p:nvSpPr>
          <p:cNvPr id="13" name="Text Box 186"/>
          <p:cNvSpPr txBox="1">
            <a:spLocks noChangeArrowheads="1"/>
          </p:cNvSpPr>
          <p:nvPr/>
        </p:nvSpPr>
        <p:spPr bwMode="auto">
          <a:xfrm>
            <a:off x="5636617" y="31040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" name="Text Box 187"/>
          <p:cNvSpPr txBox="1">
            <a:spLocks noChangeArrowheads="1"/>
          </p:cNvSpPr>
          <p:nvPr/>
        </p:nvSpPr>
        <p:spPr bwMode="auto">
          <a:xfrm>
            <a:off x="4917479" y="2902462"/>
            <a:ext cx="3860800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è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各种类型的滑坡</a:t>
            </a: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(sliding)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è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挡土和支护结构的破坏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è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地基的破坏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è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砂土的液化</a:t>
            </a:r>
            <a:r>
              <a:rPr kumimoji="1" lang="en-US" altLang="zh-CN" sz="2400" b="1">
                <a:solidFill>
                  <a:srgbClr val="000066"/>
                </a:solidFill>
                <a:ea typeface="幼圆" pitchFamily="49" charset="-122"/>
              </a:rPr>
              <a:t>(liquefaction)</a:t>
            </a:r>
            <a:endParaRPr kumimoji="1" lang="zh-CN" altLang="en-US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882900" y="5800725"/>
            <a:ext cx="4864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土体强度的特点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45686" y="1028347"/>
            <a:ext cx="17784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碎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散性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528871" y="2644255"/>
            <a:ext cx="1739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三相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性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03825" y="4345238"/>
            <a:ext cx="17716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天然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性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428874" y="675568"/>
            <a:ext cx="6169025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rnd" algn="ctr">
                <a:solidFill>
                  <a:srgbClr val="000000"/>
                </a:solidFill>
                <a:prstDash val="sysDot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颗粒本身强度高，颗粒间接触面相</a:t>
            </a:r>
            <a:r>
              <a:rPr kumimoji="1" lang="zh-CN" altLang="en-US" sz="24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对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软弱</a:t>
            </a:r>
            <a:endParaRPr kumimoji="1" lang="en-US" altLang="zh-CN" sz="2400" b="1" dirty="0" smtClean="0">
              <a:solidFill>
                <a:srgbClr val="000066"/>
              </a:solidFill>
              <a:latin typeface="Garamond" pitchFamily="18" charset="0"/>
              <a:ea typeface="幼圆" pitchFamily="49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土</a:t>
            </a:r>
            <a:r>
              <a:rPr kumimoji="1" lang="zh-CN" altLang="en-US" sz="24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的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强度取决于颗粒</a:t>
            </a:r>
            <a:r>
              <a:rPr kumimoji="1" lang="zh-CN" altLang="en-US" sz="24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间的相互作用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力</a:t>
            </a:r>
            <a:endParaRPr kumimoji="1" lang="en-US" altLang="zh-CN" sz="2400" b="1" dirty="0">
              <a:solidFill>
                <a:srgbClr val="000066"/>
              </a:solidFill>
              <a:latin typeface="Garamond" pitchFamily="18" charset="0"/>
              <a:ea typeface="幼圆" pitchFamily="49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主要是</a:t>
            </a:r>
            <a:r>
              <a:rPr kumimoji="1" lang="zh-CN" altLang="en-US" sz="24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剪切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破坏：颗粒间黏结力</a:t>
            </a:r>
            <a:r>
              <a:rPr kumimoji="1" lang="zh-CN" altLang="en-US" sz="24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和摩擦力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28874" y="2415468"/>
            <a:ext cx="6219825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rnd" algn="ctr">
                <a:solidFill>
                  <a:srgbClr val="000000"/>
                </a:solidFill>
                <a:prstDash val="sysDot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三相承受与传递荷载 </a:t>
            </a:r>
            <a:endParaRPr kumimoji="1" lang="en-US" altLang="zh-CN" sz="2400" b="1" dirty="0" smtClean="0">
              <a:solidFill>
                <a:srgbClr val="000066"/>
              </a:solidFill>
              <a:latin typeface="Garamond" pitchFamily="18" charset="0"/>
              <a:ea typeface="幼圆" pitchFamily="49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土的强度取决于有效应力（有效应力原理）</a:t>
            </a:r>
            <a:endParaRPr kumimoji="1" lang="en-US" altLang="zh-CN" sz="2400" b="1" dirty="0" smtClean="0">
              <a:solidFill>
                <a:srgbClr val="000066"/>
              </a:solidFill>
              <a:latin typeface="Garamond" pitchFamily="18" charset="0"/>
              <a:ea typeface="幼圆" pitchFamily="49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固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-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液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-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气相间相互作用有</a:t>
            </a:r>
            <a:r>
              <a:rPr kumimoji="1" lang="zh-CN" altLang="en-US" sz="24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很大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影响</a:t>
            </a:r>
            <a:endParaRPr kumimoji="1" lang="en-US" altLang="zh-CN" sz="2400" b="1" dirty="0" smtClean="0">
              <a:solidFill>
                <a:srgbClr val="000066"/>
              </a:solidFill>
              <a:latin typeface="Garamond" pitchFamily="18" charset="0"/>
              <a:ea typeface="幼圆" pitchFamily="49" charset="-122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428875" y="4126666"/>
            <a:ext cx="5604702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rnd" algn="ctr">
                <a:solidFill>
                  <a:srgbClr val="000000"/>
                </a:solidFill>
                <a:prstDash val="sysDot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多变性</a:t>
            </a:r>
            <a:endParaRPr kumimoji="1" lang="en-US" altLang="zh-CN" sz="2400" b="1" dirty="0" smtClean="0">
              <a:solidFill>
                <a:srgbClr val="000066"/>
              </a:solidFill>
              <a:latin typeface="Garamond" pitchFamily="18" charset="0"/>
              <a:ea typeface="幼圆" pitchFamily="49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结构性</a:t>
            </a:r>
            <a:endParaRPr kumimoji="1" lang="en-US" altLang="zh-CN" sz="2400" b="1" dirty="0" smtClean="0">
              <a:solidFill>
                <a:srgbClr val="000066"/>
              </a:solidFill>
              <a:latin typeface="Garamond" pitchFamily="18" charset="0"/>
              <a:ea typeface="幼圆" pitchFamily="49" charset="-122"/>
            </a:endParaRPr>
          </a:p>
          <a:p>
            <a:pPr marL="266700" indent="-266700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各向异性</a:t>
            </a:r>
            <a:endParaRPr kumimoji="1" lang="en-US" altLang="zh-CN" sz="2400" b="1" dirty="0" smtClean="0">
              <a:solidFill>
                <a:srgbClr val="000066"/>
              </a:solidFill>
              <a:latin typeface="Garamond" pitchFamily="18" charset="0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869201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882900" y="5754688"/>
            <a:ext cx="4864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土的强度及其特点</a:t>
            </a:r>
          </a:p>
        </p:txBody>
      </p:sp>
      <p:sp>
        <p:nvSpPr>
          <p:cNvPr id="224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22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150029"/>
              </p:ext>
            </p:extLst>
          </p:nvPr>
        </p:nvGraphicFramePr>
        <p:xfrm>
          <a:off x="4872038" y="1804988"/>
          <a:ext cx="16573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489" name="公式" r:id="rId4" imgW="647640" imgH="203040" progId="Equation.3">
                  <p:embed/>
                </p:oleObj>
              </mc:Choice>
              <mc:Fallback>
                <p:oleObj name="公式" r:id="rId4" imgW="6476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1804988"/>
                        <a:ext cx="16573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" name="Text Box 4"/>
          <p:cNvSpPr txBox="1">
            <a:spLocks noChangeArrowheads="1"/>
          </p:cNvSpPr>
          <p:nvPr/>
        </p:nvSpPr>
        <p:spPr bwMode="auto">
          <a:xfrm>
            <a:off x="4311650" y="1062982"/>
            <a:ext cx="3427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</a:rPr>
              <a:t> 天然状态下的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</a:rPr>
              <a:t>砂堆</a:t>
            </a:r>
            <a:endParaRPr lang="zh-CN" altLang="en-US" sz="28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228" name="Text Box 8"/>
          <p:cNvSpPr txBox="1">
            <a:spLocks noChangeArrowheads="1"/>
          </p:cNvSpPr>
          <p:nvPr/>
        </p:nvSpPr>
        <p:spPr bwMode="auto">
          <a:xfrm>
            <a:off x="1144132" y="4158842"/>
            <a:ext cx="718631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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天然休止角，也是最松状态下的砂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内摩擦角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41350" y="1871663"/>
            <a:ext cx="2695575" cy="1355725"/>
            <a:chOff x="527050" y="1655763"/>
            <a:chExt cx="2695575" cy="1355725"/>
          </a:xfrm>
        </p:grpSpPr>
        <p:sp>
          <p:nvSpPr>
            <p:cNvPr id="230" name="Freeform 106"/>
            <p:cNvSpPr>
              <a:spLocks/>
            </p:cNvSpPr>
            <p:nvPr/>
          </p:nvSpPr>
          <p:spPr bwMode="auto">
            <a:xfrm>
              <a:off x="527050" y="1655763"/>
              <a:ext cx="2695575" cy="1355725"/>
            </a:xfrm>
            <a:custGeom>
              <a:avLst/>
              <a:gdLst>
                <a:gd name="T0" fmla="*/ 0 w 1698"/>
                <a:gd name="T1" fmla="*/ 850 h 854"/>
                <a:gd name="T2" fmla="*/ 22 w 1698"/>
                <a:gd name="T3" fmla="*/ 835 h 854"/>
                <a:gd name="T4" fmla="*/ 50 w 1698"/>
                <a:gd name="T5" fmla="*/ 821 h 854"/>
                <a:gd name="T6" fmla="*/ 77 w 1698"/>
                <a:gd name="T7" fmla="*/ 807 h 854"/>
                <a:gd name="T8" fmla="*/ 96 w 1698"/>
                <a:gd name="T9" fmla="*/ 787 h 854"/>
                <a:gd name="T10" fmla="*/ 118 w 1698"/>
                <a:gd name="T11" fmla="*/ 768 h 854"/>
                <a:gd name="T12" fmla="*/ 137 w 1698"/>
                <a:gd name="T13" fmla="*/ 754 h 854"/>
                <a:gd name="T14" fmla="*/ 166 w 1698"/>
                <a:gd name="T15" fmla="*/ 742 h 854"/>
                <a:gd name="T16" fmla="*/ 197 w 1698"/>
                <a:gd name="T17" fmla="*/ 720 h 854"/>
                <a:gd name="T18" fmla="*/ 242 w 1698"/>
                <a:gd name="T19" fmla="*/ 701 h 854"/>
                <a:gd name="T20" fmla="*/ 278 w 1698"/>
                <a:gd name="T21" fmla="*/ 672 h 854"/>
                <a:gd name="T22" fmla="*/ 317 w 1698"/>
                <a:gd name="T23" fmla="*/ 648 h 854"/>
                <a:gd name="T24" fmla="*/ 346 w 1698"/>
                <a:gd name="T25" fmla="*/ 627 h 854"/>
                <a:gd name="T26" fmla="*/ 386 w 1698"/>
                <a:gd name="T27" fmla="*/ 598 h 854"/>
                <a:gd name="T28" fmla="*/ 394 w 1698"/>
                <a:gd name="T29" fmla="*/ 579 h 854"/>
                <a:gd name="T30" fmla="*/ 422 w 1698"/>
                <a:gd name="T31" fmla="*/ 547 h 854"/>
                <a:gd name="T32" fmla="*/ 461 w 1698"/>
                <a:gd name="T33" fmla="*/ 521 h 854"/>
                <a:gd name="T34" fmla="*/ 521 w 1698"/>
                <a:gd name="T35" fmla="*/ 483 h 854"/>
                <a:gd name="T36" fmla="*/ 545 w 1698"/>
                <a:gd name="T37" fmla="*/ 459 h 854"/>
                <a:gd name="T38" fmla="*/ 566 w 1698"/>
                <a:gd name="T39" fmla="*/ 432 h 854"/>
                <a:gd name="T40" fmla="*/ 605 w 1698"/>
                <a:gd name="T41" fmla="*/ 423 h 854"/>
                <a:gd name="T42" fmla="*/ 646 w 1698"/>
                <a:gd name="T43" fmla="*/ 394 h 854"/>
                <a:gd name="T44" fmla="*/ 679 w 1698"/>
                <a:gd name="T45" fmla="*/ 372 h 854"/>
                <a:gd name="T46" fmla="*/ 708 w 1698"/>
                <a:gd name="T47" fmla="*/ 346 h 854"/>
                <a:gd name="T48" fmla="*/ 749 w 1698"/>
                <a:gd name="T49" fmla="*/ 319 h 854"/>
                <a:gd name="T50" fmla="*/ 792 w 1698"/>
                <a:gd name="T51" fmla="*/ 283 h 854"/>
                <a:gd name="T52" fmla="*/ 828 w 1698"/>
                <a:gd name="T53" fmla="*/ 267 h 854"/>
                <a:gd name="T54" fmla="*/ 871 w 1698"/>
                <a:gd name="T55" fmla="*/ 226 h 854"/>
                <a:gd name="T56" fmla="*/ 907 w 1698"/>
                <a:gd name="T57" fmla="*/ 202 h 854"/>
                <a:gd name="T58" fmla="*/ 950 w 1698"/>
                <a:gd name="T59" fmla="*/ 173 h 854"/>
                <a:gd name="T60" fmla="*/ 984 w 1698"/>
                <a:gd name="T61" fmla="*/ 151 h 854"/>
                <a:gd name="T62" fmla="*/ 1022 w 1698"/>
                <a:gd name="T63" fmla="*/ 132 h 854"/>
                <a:gd name="T64" fmla="*/ 1066 w 1698"/>
                <a:gd name="T65" fmla="*/ 91 h 854"/>
                <a:gd name="T66" fmla="*/ 1123 w 1698"/>
                <a:gd name="T67" fmla="*/ 58 h 854"/>
                <a:gd name="T68" fmla="*/ 1154 w 1698"/>
                <a:gd name="T69" fmla="*/ 29 h 854"/>
                <a:gd name="T70" fmla="*/ 1190 w 1698"/>
                <a:gd name="T71" fmla="*/ 5 h 854"/>
                <a:gd name="T72" fmla="*/ 1229 w 1698"/>
                <a:gd name="T73" fmla="*/ 5 h 854"/>
                <a:gd name="T74" fmla="*/ 1286 w 1698"/>
                <a:gd name="T75" fmla="*/ 0 h 854"/>
                <a:gd name="T76" fmla="*/ 1327 w 1698"/>
                <a:gd name="T77" fmla="*/ 3 h 854"/>
                <a:gd name="T78" fmla="*/ 1354 w 1698"/>
                <a:gd name="T79" fmla="*/ 12 h 854"/>
                <a:gd name="T80" fmla="*/ 1390 w 1698"/>
                <a:gd name="T81" fmla="*/ 43 h 854"/>
                <a:gd name="T82" fmla="*/ 1450 w 1698"/>
                <a:gd name="T83" fmla="*/ 96 h 854"/>
                <a:gd name="T84" fmla="*/ 1488 w 1698"/>
                <a:gd name="T85" fmla="*/ 123 h 854"/>
                <a:gd name="T86" fmla="*/ 1522 w 1698"/>
                <a:gd name="T87" fmla="*/ 159 h 854"/>
                <a:gd name="T88" fmla="*/ 1565 w 1698"/>
                <a:gd name="T89" fmla="*/ 195 h 854"/>
                <a:gd name="T90" fmla="*/ 1606 w 1698"/>
                <a:gd name="T91" fmla="*/ 226 h 854"/>
                <a:gd name="T92" fmla="*/ 1632 w 1698"/>
                <a:gd name="T93" fmla="*/ 264 h 854"/>
                <a:gd name="T94" fmla="*/ 1670 w 1698"/>
                <a:gd name="T95" fmla="*/ 278 h 854"/>
                <a:gd name="T96" fmla="*/ 1694 w 1698"/>
                <a:gd name="T97" fmla="*/ 302 h 854"/>
                <a:gd name="T98" fmla="*/ 1697 w 1698"/>
                <a:gd name="T99" fmla="*/ 365 h 854"/>
                <a:gd name="T100" fmla="*/ 1697 w 1698"/>
                <a:gd name="T101" fmla="*/ 854 h 854"/>
                <a:gd name="T102" fmla="*/ 0 w 1698"/>
                <a:gd name="T103" fmla="*/ 850 h 85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698"/>
                <a:gd name="T157" fmla="*/ 0 h 854"/>
                <a:gd name="T158" fmla="*/ 1698 w 1698"/>
                <a:gd name="T159" fmla="*/ 854 h 85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698" h="854">
                  <a:moveTo>
                    <a:pt x="0" y="850"/>
                  </a:moveTo>
                  <a:cubicBezTo>
                    <a:pt x="7" y="845"/>
                    <a:pt x="14" y="840"/>
                    <a:pt x="22" y="835"/>
                  </a:cubicBezTo>
                  <a:cubicBezTo>
                    <a:pt x="30" y="830"/>
                    <a:pt x="41" y="826"/>
                    <a:pt x="50" y="821"/>
                  </a:cubicBezTo>
                  <a:cubicBezTo>
                    <a:pt x="59" y="816"/>
                    <a:pt x="69" y="813"/>
                    <a:pt x="77" y="807"/>
                  </a:cubicBezTo>
                  <a:cubicBezTo>
                    <a:pt x="85" y="801"/>
                    <a:pt x="89" y="793"/>
                    <a:pt x="96" y="787"/>
                  </a:cubicBezTo>
                  <a:cubicBezTo>
                    <a:pt x="103" y="781"/>
                    <a:pt x="111" y="773"/>
                    <a:pt x="118" y="768"/>
                  </a:cubicBezTo>
                  <a:cubicBezTo>
                    <a:pt x="125" y="763"/>
                    <a:pt x="129" y="758"/>
                    <a:pt x="137" y="754"/>
                  </a:cubicBezTo>
                  <a:cubicBezTo>
                    <a:pt x="145" y="750"/>
                    <a:pt x="156" y="748"/>
                    <a:pt x="166" y="742"/>
                  </a:cubicBezTo>
                  <a:cubicBezTo>
                    <a:pt x="176" y="736"/>
                    <a:pt x="184" y="727"/>
                    <a:pt x="197" y="720"/>
                  </a:cubicBezTo>
                  <a:cubicBezTo>
                    <a:pt x="210" y="713"/>
                    <a:pt x="228" y="709"/>
                    <a:pt x="242" y="701"/>
                  </a:cubicBezTo>
                  <a:cubicBezTo>
                    <a:pt x="256" y="693"/>
                    <a:pt x="266" y="681"/>
                    <a:pt x="278" y="672"/>
                  </a:cubicBezTo>
                  <a:cubicBezTo>
                    <a:pt x="290" y="663"/>
                    <a:pt x="306" y="655"/>
                    <a:pt x="317" y="648"/>
                  </a:cubicBezTo>
                  <a:cubicBezTo>
                    <a:pt x="328" y="641"/>
                    <a:pt x="335" y="635"/>
                    <a:pt x="346" y="627"/>
                  </a:cubicBezTo>
                  <a:cubicBezTo>
                    <a:pt x="357" y="619"/>
                    <a:pt x="378" y="606"/>
                    <a:pt x="386" y="598"/>
                  </a:cubicBezTo>
                  <a:cubicBezTo>
                    <a:pt x="394" y="590"/>
                    <a:pt x="388" y="587"/>
                    <a:pt x="394" y="579"/>
                  </a:cubicBezTo>
                  <a:cubicBezTo>
                    <a:pt x="400" y="571"/>
                    <a:pt x="411" y="557"/>
                    <a:pt x="422" y="547"/>
                  </a:cubicBezTo>
                  <a:cubicBezTo>
                    <a:pt x="433" y="537"/>
                    <a:pt x="445" y="532"/>
                    <a:pt x="461" y="521"/>
                  </a:cubicBezTo>
                  <a:cubicBezTo>
                    <a:pt x="477" y="510"/>
                    <a:pt x="507" y="493"/>
                    <a:pt x="521" y="483"/>
                  </a:cubicBezTo>
                  <a:cubicBezTo>
                    <a:pt x="535" y="473"/>
                    <a:pt x="538" y="467"/>
                    <a:pt x="545" y="459"/>
                  </a:cubicBezTo>
                  <a:cubicBezTo>
                    <a:pt x="552" y="451"/>
                    <a:pt x="556" y="438"/>
                    <a:pt x="566" y="432"/>
                  </a:cubicBezTo>
                  <a:cubicBezTo>
                    <a:pt x="576" y="426"/>
                    <a:pt x="592" y="429"/>
                    <a:pt x="605" y="423"/>
                  </a:cubicBezTo>
                  <a:cubicBezTo>
                    <a:pt x="618" y="417"/>
                    <a:pt x="634" y="402"/>
                    <a:pt x="646" y="394"/>
                  </a:cubicBezTo>
                  <a:cubicBezTo>
                    <a:pt x="658" y="386"/>
                    <a:pt x="669" y="380"/>
                    <a:pt x="679" y="372"/>
                  </a:cubicBezTo>
                  <a:cubicBezTo>
                    <a:pt x="689" y="364"/>
                    <a:pt x="696" y="355"/>
                    <a:pt x="708" y="346"/>
                  </a:cubicBezTo>
                  <a:cubicBezTo>
                    <a:pt x="720" y="337"/>
                    <a:pt x="735" y="329"/>
                    <a:pt x="749" y="319"/>
                  </a:cubicBezTo>
                  <a:cubicBezTo>
                    <a:pt x="763" y="309"/>
                    <a:pt x="779" y="292"/>
                    <a:pt x="792" y="283"/>
                  </a:cubicBezTo>
                  <a:cubicBezTo>
                    <a:pt x="805" y="274"/>
                    <a:pt x="815" y="277"/>
                    <a:pt x="828" y="267"/>
                  </a:cubicBezTo>
                  <a:cubicBezTo>
                    <a:pt x="841" y="257"/>
                    <a:pt x="858" y="237"/>
                    <a:pt x="871" y="226"/>
                  </a:cubicBezTo>
                  <a:cubicBezTo>
                    <a:pt x="884" y="215"/>
                    <a:pt x="894" y="211"/>
                    <a:pt x="907" y="202"/>
                  </a:cubicBezTo>
                  <a:cubicBezTo>
                    <a:pt x="920" y="193"/>
                    <a:pt x="937" y="181"/>
                    <a:pt x="950" y="173"/>
                  </a:cubicBezTo>
                  <a:cubicBezTo>
                    <a:pt x="963" y="165"/>
                    <a:pt x="972" y="158"/>
                    <a:pt x="984" y="151"/>
                  </a:cubicBezTo>
                  <a:cubicBezTo>
                    <a:pt x="996" y="144"/>
                    <a:pt x="1008" y="142"/>
                    <a:pt x="1022" y="132"/>
                  </a:cubicBezTo>
                  <a:cubicBezTo>
                    <a:pt x="1036" y="122"/>
                    <a:pt x="1049" y="103"/>
                    <a:pt x="1066" y="91"/>
                  </a:cubicBezTo>
                  <a:cubicBezTo>
                    <a:pt x="1083" y="79"/>
                    <a:pt x="1108" y="68"/>
                    <a:pt x="1123" y="58"/>
                  </a:cubicBezTo>
                  <a:cubicBezTo>
                    <a:pt x="1138" y="48"/>
                    <a:pt x="1143" y="38"/>
                    <a:pt x="1154" y="29"/>
                  </a:cubicBezTo>
                  <a:cubicBezTo>
                    <a:pt x="1165" y="20"/>
                    <a:pt x="1178" y="9"/>
                    <a:pt x="1190" y="5"/>
                  </a:cubicBezTo>
                  <a:cubicBezTo>
                    <a:pt x="1202" y="1"/>
                    <a:pt x="1213" y="6"/>
                    <a:pt x="1229" y="5"/>
                  </a:cubicBezTo>
                  <a:cubicBezTo>
                    <a:pt x="1245" y="4"/>
                    <a:pt x="1270" y="0"/>
                    <a:pt x="1286" y="0"/>
                  </a:cubicBezTo>
                  <a:cubicBezTo>
                    <a:pt x="1302" y="0"/>
                    <a:pt x="1316" y="1"/>
                    <a:pt x="1327" y="3"/>
                  </a:cubicBezTo>
                  <a:cubicBezTo>
                    <a:pt x="1338" y="5"/>
                    <a:pt x="1344" y="5"/>
                    <a:pt x="1354" y="12"/>
                  </a:cubicBezTo>
                  <a:cubicBezTo>
                    <a:pt x="1364" y="19"/>
                    <a:pt x="1374" y="29"/>
                    <a:pt x="1390" y="43"/>
                  </a:cubicBezTo>
                  <a:cubicBezTo>
                    <a:pt x="1406" y="57"/>
                    <a:pt x="1434" y="83"/>
                    <a:pt x="1450" y="96"/>
                  </a:cubicBezTo>
                  <a:cubicBezTo>
                    <a:pt x="1466" y="109"/>
                    <a:pt x="1476" y="113"/>
                    <a:pt x="1488" y="123"/>
                  </a:cubicBezTo>
                  <a:cubicBezTo>
                    <a:pt x="1500" y="133"/>
                    <a:pt x="1509" y="147"/>
                    <a:pt x="1522" y="159"/>
                  </a:cubicBezTo>
                  <a:cubicBezTo>
                    <a:pt x="1535" y="171"/>
                    <a:pt x="1551" y="184"/>
                    <a:pt x="1565" y="195"/>
                  </a:cubicBezTo>
                  <a:cubicBezTo>
                    <a:pt x="1579" y="206"/>
                    <a:pt x="1595" y="215"/>
                    <a:pt x="1606" y="226"/>
                  </a:cubicBezTo>
                  <a:cubicBezTo>
                    <a:pt x="1617" y="237"/>
                    <a:pt x="1621" y="255"/>
                    <a:pt x="1632" y="264"/>
                  </a:cubicBezTo>
                  <a:cubicBezTo>
                    <a:pt x="1643" y="273"/>
                    <a:pt x="1660" y="272"/>
                    <a:pt x="1670" y="278"/>
                  </a:cubicBezTo>
                  <a:cubicBezTo>
                    <a:pt x="1680" y="284"/>
                    <a:pt x="1690" y="288"/>
                    <a:pt x="1694" y="302"/>
                  </a:cubicBezTo>
                  <a:cubicBezTo>
                    <a:pt x="1698" y="316"/>
                    <a:pt x="1696" y="273"/>
                    <a:pt x="1697" y="365"/>
                  </a:cubicBezTo>
                  <a:cubicBezTo>
                    <a:pt x="1698" y="457"/>
                    <a:pt x="1697" y="752"/>
                    <a:pt x="1697" y="854"/>
                  </a:cubicBezTo>
                  <a:cubicBezTo>
                    <a:pt x="1697" y="854"/>
                    <a:pt x="0" y="850"/>
                    <a:pt x="0" y="850"/>
                  </a:cubicBezTo>
                  <a:close/>
                </a:path>
              </a:pathLst>
            </a:cu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Freeform 108"/>
            <p:cNvSpPr>
              <a:spLocks/>
            </p:cNvSpPr>
            <p:nvPr/>
          </p:nvSpPr>
          <p:spPr bwMode="auto">
            <a:xfrm>
              <a:off x="527050" y="1658938"/>
              <a:ext cx="2689225" cy="1349375"/>
            </a:xfrm>
            <a:custGeom>
              <a:avLst/>
              <a:gdLst>
                <a:gd name="T0" fmla="*/ 0 w 1694"/>
                <a:gd name="T1" fmla="*/ 850 h 850"/>
                <a:gd name="T2" fmla="*/ 22 w 1694"/>
                <a:gd name="T3" fmla="*/ 835 h 850"/>
                <a:gd name="T4" fmla="*/ 50 w 1694"/>
                <a:gd name="T5" fmla="*/ 821 h 850"/>
                <a:gd name="T6" fmla="*/ 77 w 1694"/>
                <a:gd name="T7" fmla="*/ 807 h 850"/>
                <a:gd name="T8" fmla="*/ 96 w 1694"/>
                <a:gd name="T9" fmla="*/ 787 h 850"/>
                <a:gd name="T10" fmla="*/ 118 w 1694"/>
                <a:gd name="T11" fmla="*/ 768 h 850"/>
                <a:gd name="T12" fmla="*/ 137 w 1694"/>
                <a:gd name="T13" fmla="*/ 754 h 850"/>
                <a:gd name="T14" fmla="*/ 166 w 1694"/>
                <a:gd name="T15" fmla="*/ 742 h 850"/>
                <a:gd name="T16" fmla="*/ 197 w 1694"/>
                <a:gd name="T17" fmla="*/ 720 h 850"/>
                <a:gd name="T18" fmla="*/ 242 w 1694"/>
                <a:gd name="T19" fmla="*/ 701 h 850"/>
                <a:gd name="T20" fmla="*/ 278 w 1694"/>
                <a:gd name="T21" fmla="*/ 672 h 850"/>
                <a:gd name="T22" fmla="*/ 317 w 1694"/>
                <a:gd name="T23" fmla="*/ 648 h 850"/>
                <a:gd name="T24" fmla="*/ 346 w 1694"/>
                <a:gd name="T25" fmla="*/ 627 h 850"/>
                <a:gd name="T26" fmla="*/ 386 w 1694"/>
                <a:gd name="T27" fmla="*/ 598 h 850"/>
                <a:gd name="T28" fmla="*/ 394 w 1694"/>
                <a:gd name="T29" fmla="*/ 579 h 850"/>
                <a:gd name="T30" fmla="*/ 422 w 1694"/>
                <a:gd name="T31" fmla="*/ 547 h 850"/>
                <a:gd name="T32" fmla="*/ 461 w 1694"/>
                <a:gd name="T33" fmla="*/ 521 h 850"/>
                <a:gd name="T34" fmla="*/ 521 w 1694"/>
                <a:gd name="T35" fmla="*/ 483 h 850"/>
                <a:gd name="T36" fmla="*/ 545 w 1694"/>
                <a:gd name="T37" fmla="*/ 459 h 850"/>
                <a:gd name="T38" fmla="*/ 566 w 1694"/>
                <a:gd name="T39" fmla="*/ 432 h 850"/>
                <a:gd name="T40" fmla="*/ 605 w 1694"/>
                <a:gd name="T41" fmla="*/ 423 h 850"/>
                <a:gd name="T42" fmla="*/ 646 w 1694"/>
                <a:gd name="T43" fmla="*/ 394 h 850"/>
                <a:gd name="T44" fmla="*/ 679 w 1694"/>
                <a:gd name="T45" fmla="*/ 372 h 850"/>
                <a:gd name="T46" fmla="*/ 708 w 1694"/>
                <a:gd name="T47" fmla="*/ 346 h 850"/>
                <a:gd name="T48" fmla="*/ 749 w 1694"/>
                <a:gd name="T49" fmla="*/ 319 h 850"/>
                <a:gd name="T50" fmla="*/ 792 w 1694"/>
                <a:gd name="T51" fmla="*/ 283 h 850"/>
                <a:gd name="T52" fmla="*/ 828 w 1694"/>
                <a:gd name="T53" fmla="*/ 267 h 850"/>
                <a:gd name="T54" fmla="*/ 871 w 1694"/>
                <a:gd name="T55" fmla="*/ 226 h 850"/>
                <a:gd name="T56" fmla="*/ 907 w 1694"/>
                <a:gd name="T57" fmla="*/ 202 h 850"/>
                <a:gd name="T58" fmla="*/ 950 w 1694"/>
                <a:gd name="T59" fmla="*/ 173 h 850"/>
                <a:gd name="T60" fmla="*/ 984 w 1694"/>
                <a:gd name="T61" fmla="*/ 151 h 850"/>
                <a:gd name="T62" fmla="*/ 1022 w 1694"/>
                <a:gd name="T63" fmla="*/ 132 h 850"/>
                <a:gd name="T64" fmla="*/ 1066 w 1694"/>
                <a:gd name="T65" fmla="*/ 91 h 850"/>
                <a:gd name="T66" fmla="*/ 1123 w 1694"/>
                <a:gd name="T67" fmla="*/ 58 h 850"/>
                <a:gd name="T68" fmla="*/ 1154 w 1694"/>
                <a:gd name="T69" fmla="*/ 29 h 850"/>
                <a:gd name="T70" fmla="*/ 1190 w 1694"/>
                <a:gd name="T71" fmla="*/ 5 h 850"/>
                <a:gd name="T72" fmla="*/ 1229 w 1694"/>
                <a:gd name="T73" fmla="*/ 5 h 850"/>
                <a:gd name="T74" fmla="*/ 1286 w 1694"/>
                <a:gd name="T75" fmla="*/ 0 h 850"/>
                <a:gd name="T76" fmla="*/ 1327 w 1694"/>
                <a:gd name="T77" fmla="*/ 3 h 850"/>
                <a:gd name="T78" fmla="*/ 1354 w 1694"/>
                <a:gd name="T79" fmla="*/ 12 h 850"/>
                <a:gd name="T80" fmla="*/ 1390 w 1694"/>
                <a:gd name="T81" fmla="*/ 43 h 850"/>
                <a:gd name="T82" fmla="*/ 1450 w 1694"/>
                <a:gd name="T83" fmla="*/ 96 h 850"/>
                <a:gd name="T84" fmla="*/ 1488 w 1694"/>
                <a:gd name="T85" fmla="*/ 123 h 850"/>
                <a:gd name="T86" fmla="*/ 1522 w 1694"/>
                <a:gd name="T87" fmla="*/ 159 h 850"/>
                <a:gd name="T88" fmla="*/ 1565 w 1694"/>
                <a:gd name="T89" fmla="*/ 195 h 850"/>
                <a:gd name="T90" fmla="*/ 1606 w 1694"/>
                <a:gd name="T91" fmla="*/ 226 h 850"/>
                <a:gd name="T92" fmla="*/ 1632 w 1694"/>
                <a:gd name="T93" fmla="*/ 264 h 850"/>
                <a:gd name="T94" fmla="*/ 1678 w 1694"/>
                <a:gd name="T95" fmla="*/ 276 h 850"/>
                <a:gd name="T96" fmla="*/ 1694 w 1694"/>
                <a:gd name="T97" fmla="*/ 300 h 85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694"/>
                <a:gd name="T148" fmla="*/ 0 h 850"/>
                <a:gd name="T149" fmla="*/ 1694 w 1694"/>
                <a:gd name="T150" fmla="*/ 850 h 85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694" h="850">
                  <a:moveTo>
                    <a:pt x="0" y="850"/>
                  </a:moveTo>
                  <a:cubicBezTo>
                    <a:pt x="7" y="845"/>
                    <a:pt x="14" y="840"/>
                    <a:pt x="22" y="835"/>
                  </a:cubicBezTo>
                  <a:cubicBezTo>
                    <a:pt x="30" y="830"/>
                    <a:pt x="41" y="826"/>
                    <a:pt x="50" y="821"/>
                  </a:cubicBezTo>
                  <a:cubicBezTo>
                    <a:pt x="59" y="816"/>
                    <a:pt x="69" y="813"/>
                    <a:pt x="77" y="807"/>
                  </a:cubicBezTo>
                  <a:cubicBezTo>
                    <a:pt x="85" y="801"/>
                    <a:pt x="89" y="793"/>
                    <a:pt x="96" y="787"/>
                  </a:cubicBezTo>
                  <a:cubicBezTo>
                    <a:pt x="103" y="781"/>
                    <a:pt x="111" y="773"/>
                    <a:pt x="118" y="768"/>
                  </a:cubicBezTo>
                  <a:cubicBezTo>
                    <a:pt x="125" y="763"/>
                    <a:pt x="129" y="758"/>
                    <a:pt x="137" y="754"/>
                  </a:cubicBezTo>
                  <a:cubicBezTo>
                    <a:pt x="145" y="750"/>
                    <a:pt x="156" y="748"/>
                    <a:pt x="166" y="742"/>
                  </a:cubicBezTo>
                  <a:cubicBezTo>
                    <a:pt x="176" y="736"/>
                    <a:pt x="184" y="727"/>
                    <a:pt x="197" y="720"/>
                  </a:cubicBezTo>
                  <a:cubicBezTo>
                    <a:pt x="210" y="713"/>
                    <a:pt x="228" y="709"/>
                    <a:pt x="242" y="701"/>
                  </a:cubicBezTo>
                  <a:cubicBezTo>
                    <a:pt x="256" y="693"/>
                    <a:pt x="266" y="681"/>
                    <a:pt x="278" y="672"/>
                  </a:cubicBezTo>
                  <a:cubicBezTo>
                    <a:pt x="290" y="663"/>
                    <a:pt x="306" y="655"/>
                    <a:pt x="317" y="648"/>
                  </a:cubicBezTo>
                  <a:cubicBezTo>
                    <a:pt x="328" y="641"/>
                    <a:pt x="335" y="635"/>
                    <a:pt x="346" y="627"/>
                  </a:cubicBezTo>
                  <a:cubicBezTo>
                    <a:pt x="357" y="619"/>
                    <a:pt x="378" y="606"/>
                    <a:pt x="386" y="598"/>
                  </a:cubicBezTo>
                  <a:cubicBezTo>
                    <a:pt x="394" y="590"/>
                    <a:pt x="388" y="587"/>
                    <a:pt x="394" y="579"/>
                  </a:cubicBezTo>
                  <a:cubicBezTo>
                    <a:pt x="400" y="571"/>
                    <a:pt x="411" y="557"/>
                    <a:pt x="422" y="547"/>
                  </a:cubicBezTo>
                  <a:cubicBezTo>
                    <a:pt x="433" y="537"/>
                    <a:pt x="445" y="532"/>
                    <a:pt x="461" y="521"/>
                  </a:cubicBezTo>
                  <a:cubicBezTo>
                    <a:pt x="477" y="510"/>
                    <a:pt x="507" y="493"/>
                    <a:pt x="521" y="483"/>
                  </a:cubicBezTo>
                  <a:cubicBezTo>
                    <a:pt x="535" y="473"/>
                    <a:pt x="538" y="467"/>
                    <a:pt x="545" y="459"/>
                  </a:cubicBezTo>
                  <a:cubicBezTo>
                    <a:pt x="552" y="451"/>
                    <a:pt x="556" y="438"/>
                    <a:pt x="566" y="432"/>
                  </a:cubicBezTo>
                  <a:cubicBezTo>
                    <a:pt x="576" y="426"/>
                    <a:pt x="592" y="429"/>
                    <a:pt x="605" y="423"/>
                  </a:cubicBezTo>
                  <a:cubicBezTo>
                    <a:pt x="618" y="417"/>
                    <a:pt x="634" y="402"/>
                    <a:pt x="646" y="394"/>
                  </a:cubicBezTo>
                  <a:cubicBezTo>
                    <a:pt x="658" y="386"/>
                    <a:pt x="669" y="380"/>
                    <a:pt x="679" y="372"/>
                  </a:cubicBezTo>
                  <a:cubicBezTo>
                    <a:pt x="689" y="364"/>
                    <a:pt x="696" y="355"/>
                    <a:pt x="708" y="346"/>
                  </a:cubicBezTo>
                  <a:cubicBezTo>
                    <a:pt x="720" y="337"/>
                    <a:pt x="735" y="329"/>
                    <a:pt x="749" y="319"/>
                  </a:cubicBezTo>
                  <a:cubicBezTo>
                    <a:pt x="763" y="309"/>
                    <a:pt x="779" y="292"/>
                    <a:pt x="792" y="283"/>
                  </a:cubicBezTo>
                  <a:cubicBezTo>
                    <a:pt x="805" y="274"/>
                    <a:pt x="815" y="277"/>
                    <a:pt x="828" y="267"/>
                  </a:cubicBezTo>
                  <a:cubicBezTo>
                    <a:pt x="841" y="257"/>
                    <a:pt x="858" y="237"/>
                    <a:pt x="871" y="226"/>
                  </a:cubicBezTo>
                  <a:cubicBezTo>
                    <a:pt x="884" y="215"/>
                    <a:pt x="894" y="211"/>
                    <a:pt x="907" y="202"/>
                  </a:cubicBezTo>
                  <a:cubicBezTo>
                    <a:pt x="920" y="193"/>
                    <a:pt x="937" y="181"/>
                    <a:pt x="950" y="173"/>
                  </a:cubicBezTo>
                  <a:cubicBezTo>
                    <a:pt x="963" y="165"/>
                    <a:pt x="972" y="158"/>
                    <a:pt x="984" y="151"/>
                  </a:cubicBezTo>
                  <a:cubicBezTo>
                    <a:pt x="996" y="144"/>
                    <a:pt x="1008" y="142"/>
                    <a:pt x="1022" y="132"/>
                  </a:cubicBezTo>
                  <a:cubicBezTo>
                    <a:pt x="1036" y="122"/>
                    <a:pt x="1049" y="103"/>
                    <a:pt x="1066" y="91"/>
                  </a:cubicBezTo>
                  <a:cubicBezTo>
                    <a:pt x="1083" y="79"/>
                    <a:pt x="1108" y="68"/>
                    <a:pt x="1123" y="58"/>
                  </a:cubicBezTo>
                  <a:cubicBezTo>
                    <a:pt x="1138" y="48"/>
                    <a:pt x="1143" y="38"/>
                    <a:pt x="1154" y="29"/>
                  </a:cubicBezTo>
                  <a:cubicBezTo>
                    <a:pt x="1165" y="20"/>
                    <a:pt x="1178" y="9"/>
                    <a:pt x="1190" y="5"/>
                  </a:cubicBezTo>
                  <a:cubicBezTo>
                    <a:pt x="1202" y="1"/>
                    <a:pt x="1213" y="6"/>
                    <a:pt x="1229" y="5"/>
                  </a:cubicBezTo>
                  <a:cubicBezTo>
                    <a:pt x="1245" y="4"/>
                    <a:pt x="1270" y="0"/>
                    <a:pt x="1286" y="0"/>
                  </a:cubicBezTo>
                  <a:cubicBezTo>
                    <a:pt x="1302" y="0"/>
                    <a:pt x="1316" y="1"/>
                    <a:pt x="1327" y="3"/>
                  </a:cubicBezTo>
                  <a:cubicBezTo>
                    <a:pt x="1338" y="5"/>
                    <a:pt x="1344" y="5"/>
                    <a:pt x="1354" y="12"/>
                  </a:cubicBezTo>
                  <a:cubicBezTo>
                    <a:pt x="1364" y="19"/>
                    <a:pt x="1374" y="29"/>
                    <a:pt x="1390" y="43"/>
                  </a:cubicBezTo>
                  <a:cubicBezTo>
                    <a:pt x="1406" y="57"/>
                    <a:pt x="1434" y="83"/>
                    <a:pt x="1450" y="96"/>
                  </a:cubicBezTo>
                  <a:cubicBezTo>
                    <a:pt x="1466" y="109"/>
                    <a:pt x="1476" y="113"/>
                    <a:pt x="1488" y="123"/>
                  </a:cubicBezTo>
                  <a:cubicBezTo>
                    <a:pt x="1500" y="133"/>
                    <a:pt x="1509" y="147"/>
                    <a:pt x="1522" y="159"/>
                  </a:cubicBezTo>
                  <a:cubicBezTo>
                    <a:pt x="1535" y="171"/>
                    <a:pt x="1551" y="184"/>
                    <a:pt x="1565" y="195"/>
                  </a:cubicBezTo>
                  <a:cubicBezTo>
                    <a:pt x="1579" y="206"/>
                    <a:pt x="1595" y="215"/>
                    <a:pt x="1606" y="226"/>
                  </a:cubicBezTo>
                  <a:cubicBezTo>
                    <a:pt x="1617" y="237"/>
                    <a:pt x="1620" y="256"/>
                    <a:pt x="1632" y="264"/>
                  </a:cubicBezTo>
                  <a:cubicBezTo>
                    <a:pt x="1644" y="272"/>
                    <a:pt x="1668" y="270"/>
                    <a:pt x="1678" y="276"/>
                  </a:cubicBezTo>
                  <a:cubicBezTo>
                    <a:pt x="1688" y="282"/>
                    <a:pt x="1690" y="294"/>
                    <a:pt x="1694" y="30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Freeform 109"/>
            <p:cNvSpPr>
              <a:spLocks/>
            </p:cNvSpPr>
            <p:nvPr/>
          </p:nvSpPr>
          <p:spPr bwMode="auto">
            <a:xfrm>
              <a:off x="1717675" y="2228851"/>
              <a:ext cx="23813" cy="14288"/>
            </a:xfrm>
            <a:custGeom>
              <a:avLst/>
              <a:gdLst>
                <a:gd name="T0" fmla="*/ 1 w 15"/>
                <a:gd name="T1" fmla="*/ 4 h 9"/>
                <a:gd name="T2" fmla="*/ 9 w 15"/>
                <a:gd name="T3" fmla="*/ 8 h 9"/>
                <a:gd name="T4" fmla="*/ 1 w 15"/>
                <a:gd name="T5" fmla="*/ 4 h 9"/>
                <a:gd name="T6" fmla="*/ 0 60000 65536"/>
                <a:gd name="T7" fmla="*/ 0 60000 65536"/>
                <a:gd name="T8" fmla="*/ 0 60000 65536"/>
                <a:gd name="T9" fmla="*/ 0 w 15"/>
                <a:gd name="T10" fmla="*/ 0 h 9"/>
                <a:gd name="T11" fmla="*/ 15 w 15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9">
                  <a:moveTo>
                    <a:pt x="1" y="4"/>
                  </a:moveTo>
                  <a:cubicBezTo>
                    <a:pt x="6" y="3"/>
                    <a:pt x="15" y="0"/>
                    <a:pt x="9" y="8"/>
                  </a:cubicBezTo>
                  <a:cubicBezTo>
                    <a:pt x="0" y="6"/>
                    <a:pt x="1" y="9"/>
                    <a:pt x="1" y="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Freeform 110"/>
            <p:cNvSpPr>
              <a:spLocks/>
            </p:cNvSpPr>
            <p:nvPr/>
          </p:nvSpPr>
          <p:spPr bwMode="auto">
            <a:xfrm>
              <a:off x="1749425" y="2170113"/>
              <a:ext cx="25400" cy="17463"/>
            </a:xfrm>
            <a:custGeom>
              <a:avLst/>
              <a:gdLst>
                <a:gd name="T0" fmla="*/ 12 w 16"/>
                <a:gd name="T1" fmla="*/ 1 h 11"/>
                <a:gd name="T2" fmla="*/ 8 w 16"/>
                <a:gd name="T3" fmla="*/ 9 h 11"/>
                <a:gd name="T4" fmla="*/ 0 w 16"/>
                <a:gd name="T5" fmla="*/ 3 h 11"/>
                <a:gd name="T6" fmla="*/ 12 w 16"/>
                <a:gd name="T7" fmla="*/ 1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"/>
                <a:gd name="T13" fmla="*/ 0 h 11"/>
                <a:gd name="T14" fmla="*/ 16 w 16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" h="11">
                  <a:moveTo>
                    <a:pt x="12" y="1"/>
                  </a:moveTo>
                  <a:cubicBezTo>
                    <a:pt x="12" y="3"/>
                    <a:pt x="16" y="11"/>
                    <a:pt x="8" y="9"/>
                  </a:cubicBezTo>
                  <a:cubicBezTo>
                    <a:pt x="5" y="8"/>
                    <a:pt x="0" y="3"/>
                    <a:pt x="0" y="3"/>
                  </a:cubicBezTo>
                  <a:cubicBezTo>
                    <a:pt x="6" y="0"/>
                    <a:pt x="6" y="4"/>
                    <a:pt x="12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Freeform 111"/>
            <p:cNvSpPr>
              <a:spLocks/>
            </p:cNvSpPr>
            <p:nvPr/>
          </p:nvSpPr>
          <p:spPr bwMode="auto">
            <a:xfrm>
              <a:off x="1793875" y="2127251"/>
              <a:ext cx="23813" cy="17463"/>
            </a:xfrm>
            <a:custGeom>
              <a:avLst/>
              <a:gdLst>
                <a:gd name="T0" fmla="*/ 12 w 15"/>
                <a:gd name="T1" fmla="*/ 0 h 11"/>
                <a:gd name="T2" fmla="*/ 8 w 15"/>
                <a:gd name="T3" fmla="*/ 11 h 11"/>
                <a:gd name="T4" fmla="*/ 12 w 15"/>
                <a:gd name="T5" fmla="*/ 0 h 11"/>
                <a:gd name="T6" fmla="*/ 0 60000 65536"/>
                <a:gd name="T7" fmla="*/ 0 60000 65536"/>
                <a:gd name="T8" fmla="*/ 0 60000 65536"/>
                <a:gd name="T9" fmla="*/ 0 w 15"/>
                <a:gd name="T10" fmla="*/ 0 h 11"/>
                <a:gd name="T11" fmla="*/ 15 w 15"/>
                <a:gd name="T12" fmla="*/ 11 h 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1">
                  <a:moveTo>
                    <a:pt x="12" y="0"/>
                  </a:moveTo>
                  <a:cubicBezTo>
                    <a:pt x="15" y="6"/>
                    <a:pt x="13" y="7"/>
                    <a:pt x="8" y="11"/>
                  </a:cubicBezTo>
                  <a:cubicBezTo>
                    <a:pt x="0" y="7"/>
                    <a:pt x="5" y="1"/>
                    <a:pt x="12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112"/>
            <p:cNvSpPr>
              <a:spLocks/>
            </p:cNvSpPr>
            <p:nvPr/>
          </p:nvSpPr>
          <p:spPr bwMode="auto">
            <a:xfrm>
              <a:off x="1876425" y="2090738"/>
              <a:ext cx="15875" cy="12700"/>
            </a:xfrm>
            <a:custGeom>
              <a:avLst/>
              <a:gdLst>
                <a:gd name="T0" fmla="*/ 2 w 10"/>
                <a:gd name="T1" fmla="*/ 0 h 8"/>
                <a:gd name="T2" fmla="*/ 0 w 10"/>
                <a:gd name="T3" fmla="*/ 5 h 8"/>
                <a:gd name="T4" fmla="*/ 2 w 10"/>
                <a:gd name="T5" fmla="*/ 0 h 8"/>
                <a:gd name="T6" fmla="*/ 0 60000 65536"/>
                <a:gd name="T7" fmla="*/ 0 60000 65536"/>
                <a:gd name="T8" fmla="*/ 0 60000 65536"/>
                <a:gd name="T9" fmla="*/ 0 w 10"/>
                <a:gd name="T10" fmla="*/ 0 h 8"/>
                <a:gd name="T11" fmla="*/ 10 w 10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8">
                  <a:moveTo>
                    <a:pt x="2" y="0"/>
                  </a:moveTo>
                  <a:cubicBezTo>
                    <a:pt x="10" y="3"/>
                    <a:pt x="8" y="8"/>
                    <a:pt x="0" y="5"/>
                  </a:cubicBezTo>
                  <a:cubicBezTo>
                    <a:pt x="1" y="3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Freeform 113"/>
            <p:cNvSpPr>
              <a:spLocks/>
            </p:cNvSpPr>
            <p:nvPr/>
          </p:nvSpPr>
          <p:spPr bwMode="auto">
            <a:xfrm>
              <a:off x="1952625" y="2030413"/>
              <a:ext cx="9525" cy="20638"/>
            </a:xfrm>
            <a:custGeom>
              <a:avLst/>
              <a:gdLst>
                <a:gd name="T0" fmla="*/ 0 w 6"/>
                <a:gd name="T1" fmla="*/ 1 h 13"/>
                <a:gd name="T2" fmla="*/ 2 w 6"/>
                <a:gd name="T3" fmla="*/ 11 h 13"/>
                <a:gd name="T4" fmla="*/ 4 w 6"/>
                <a:gd name="T5" fmla="*/ 1 h 13"/>
                <a:gd name="T6" fmla="*/ 0 w 6"/>
                <a:gd name="T7" fmla="*/ 1 h 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"/>
                <a:gd name="T13" fmla="*/ 0 h 13"/>
                <a:gd name="T14" fmla="*/ 6 w 6"/>
                <a:gd name="T15" fmla="*/ 13 h 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" h="13">
                  <a:moveTo>
                    <a:pt x="0" y="1"/>
                  </a:moveTo>
                  <a:cubicBezTo>
                    <a:pt x="1" y="4"/>
                    <a:pt x="0" y="9"/>
                    <a:pt x="2" y="11"/>
                  </a:cubicBezTo>
                  <a:cubicBezTo>
                    <a:pt x="4" y="13"/>
                    <a:pt x="6" y="3"/>
                    <a:pt x="4" y="1"/>
                  </a:cubicBezTo>
                  <a:cubicBezTo>
                    <a:pt x="3" y="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Freeform 114"/>
            <p:cNvSpPr>
              <a:spLocks/>
            </p:cNvSpPr>
            <p:nvPr/>
          </p:nvSpPr>
          <p:spPr bwMode="auto">
            <a:xfrm>
              <a:off x="1968500" y="2047876"/>
              <a:ext cx="26988" cy="17463"/>
            </a:xfrm>
            <a:custGeom>
              <a:avLst/>
              <a:gdLst>
                <a:gd name="T0" fmla="*/ 5 w 17"/>
                <a:gd name="T1" fmla="*/ 0 h 11"/>
                <a:gd name="T2" fmla="*/ 8 w 17"/>
                <a:gd name="T3" fmla="*/ 11 h 11"/>
                <a:gd name="T4" fmla="*/ 6 w 17"/>
                <a:gd name="T5" fmla="*/ 5 h 11"/>
                <a:gd name="T6" fmla="*/ 5 w 17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11"/>
                <a:gd name="T14" fmla="*/ 17 w 17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11">
                  <a:moveTo>
                    <a:pt x="5" y="0"/>
                  </a:moveTo>
                  <a:cubicBezTo>
                    <a:pt x="1" y="6"/>
                    <a:pt x="0" y="9"/>
                    <a:pt x="8" y="11"/>
                  </a:cubicBezTo>
                  <a:cubicBezTo>
                    <a:pt x="17" y="9"/>
                    <a:pt x="11" y="6"/>
                    <a:pt x="6" y="5"/>
                  </a:cubicBezTo>
                  <a:cubicBezTo>
                    <a:pt x="1" y="1"/>
                    <a:pt x="1" y="3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115"/>
            <p:cNvSpPr>
              <a:spLocks/>
            </p:cNvSpPr>
            <p:nvPr/>
          </p:nvSpPr>
          <p:spPr bwMode="auto">
            <a:xfrm>
              <a:off x="2967038" y="2041526"/>
              <a:ext cx="14288" cy="15875"/>
            </a:xfrm>
            <a:custGeom>
              <a:avLst/>
              <a:gdLst>
                <a:gd name="T0" fmla="*/ 0 w 9"/>
                <a:gd name="T1" fmla="*/ 2 h 10"/>
                <a:gd name="T2" fmla="*/ 6 w 9"/>
                <a:gd name="T3" fmla="*/ 0 h 10"/>
                <a:gd name="T4" fmla="*/ 0 w 9"/>
                <a:gd name="T5" fmla="*/ 2 h 10"/>
                <a:gd name="T6" fmla="*/ 0 60000 65536"/>
                <a:gd name="T7" fmla="*/ 0 60000 65536"/>
                <a:gd name="T8" fmla="*/ 0 60000 65536"/>
                <a:gd name="T9" fmla="*/ 0 w 9"/>
                <a:gd name="T10" fmla="*/ 0 h 10"/>
                <a:gd name="T11" fmla="*/ 9 w 9"/>
                <a:gd name="T12" fmla="*/ 10 h 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" h="10">
                  <a:moveTo>
                    <a:pt x="0" y="2"/>
                  </a:moveTo>
                  <a:cubicBezTo>
                    <a:pt x="2" y="10"/>
                    <a:pt x="9" y="8"/>
                    <a:pt x="6" y="0"/>
                  </a:cubicBezTo>
                  <a:cubicBezTo>
                    <a:pt x="4" y="1"/>
                    <a:pt x="0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Freeform 116"/>
            <p:cNvSpPr>
              <a:spLocks/>
            </p:cNvSpPr>
            <p:nvPr/>
          </p:nvSpPr>
          <p:spPr bwMode="auto">
            <a:xfrm>
              <a:off x="2009775" y="1965326"/>
              <a:ext cx="14288" cy="25400"/>
            </a:xfrm>
            <a:custGeom>
              <a:avLst/>
              <a:gdLst>
                <a:gd name="T0" fmla="*/ 6 w 9"/>
                <a:gd name="T1" fmla="*/ 1 h 16"/>
                <a:gd name="T2" fmla="*/ 1 w 9"/>
                <a:gd name="T3" fmla="*/ 2 h 16"/>
                <a:gd name="T4" fmla="*/ 8 w 9"/>
                <a:gd name="T5" fmla="*/ 12 h 16"/>
                <a:gd name="T6" fmla="*/ 6 w 9"/>
                <a:gd name="T7" fmla="*/ 1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"/>
                <a:gd name="T13" fmla="*/ 0 h 16"/>
                <a:gd name="T14" fmla="*/ 9 w 9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" h="16">
                  <a:moveTo>
                    <a:pt x="6" y="1"/>
                  </a:moveTo>
                  <a:cubicBezTo>
                    <a:pt x="4" y="1"/>
                    <a:pt x="2" y="0"/>
                    <a:pt x="1" y="2"/>
                  </a:cubicBezTo>
                  <a:cubicBezTo>
                    <a:pt x="0" y="6"/>
                    <a:pt x="7" y="16"/>
                    <a:pt x="8" y="12"/>
                  </a:cubicBezTo>
                  <a:cubicBezTo>
                    <a:pt x="9" y="9"/>
                    <a:pt x="7" y="5"/>
                    <a:pt x="6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Freeform 117"/>
            <p:cNvSpPr>
              <a:spLocks/>
            </p:cNvSpPr>
            <p:nvPr/>
          </p:nvSpPr>
          <p:spPr bwMode="auto">
            <a:xfrm>
              <a:off x="1908175" y="2076451"/>
              <a:ext cx="28575" cy="15875"/>
            </a:xfrm>
            <a:custGeom>
              <a:avLst/>
              <a:gdLst>
                <a:gd name="T0" fmla="*/ 9 w 18"/>
                <a:gd name="T1" fmla="*/ 0 h 10"/>
                <a:gd name="T2" fmla="*/ 7 w 18"/>
                <a:gd name="T3" fmla="*/ 10 h 10"/>
                <a:gd name="T4" fmla="*/ 9 w 18"/>
                <a:gd name="T5" fmla="*/ 0 h 10"/>
                <a:gd name="T6" fmla="*/ 0 60000 65536"/>
                <a:gd name="T7" fmla="*/ 0 60000 65536"/>
                <a:gd name="T8" fmla="*/ 0 60000 65536"/>
                <a:gd name="T9" fmla="*/ 0 w 18"/>
                <a:gd name="T10" fmla="*/ 0 h 10"/>
                <a:gd name="T11" fmla="*/ 18 w 18"/>
                <a:gd name="T12" fmla="*/ 10 h 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10">
                  <a:moveTo>
                    <a:pt x="9" y="0"/>
                  </a:moveTo>
                  <a:cubicBezTo>
                    <a:pt x="2" y="3"/>
                    <a:pt x="0" y="6"/>
                    <a:pt x="7" y="10"/>
                  </a:cubicBezTo>
                  <a:cubicBezTo>
                    <a:pt x="17" y="8"/>
                    <a:pt x="18" y="5"/>
                    <a:pt x="9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Freeform 118"/>
            <p:cNvSpPr>
              <a:spLocks/>
            </p:cNvSpPr>
            <p:nvPr/>
          </p:nvSpPr>
          <p:spPr bwMode="auto">
            <a:xfrm>
              <a:off x="2092325" y="1938338"/>
              <a:ext cx="19050" cy="12700"/>
            </a:xfrm>
            <a:custGeom>
              <a:avLst/>
              <a:gdLst>
                <a:gd name="T0" fmla="*/ 5 w 12"/>
                <a:gd name="T1" fmla="*/ 0 h 8"/>
                <a:gd name="T2" fmla="*/ 12 w 12"/>
                <a:gd name="T3" fmla="*/ 7 h 8"/>
                <a:gd name="T4" fmla="*/ 5 w 12"/>
                <a:gd name="T5" fmla="*/ 0 h 8"/>
                <a:gd name="T6" fmla="*/ 0 60000 65536"/>
                <a:gd name="T7" fmla="*/ 0 60000 65536"/>
                <a:gd name="T8" fmla="*/ 0 60000 65536"/>
                <a:gd name="T9" fmla="*/ 0 w 12"/>
                <a:gd name="T10" fmla="*/ 0 h 8"/>
                <a:gd name="T11" fmla="*/ 12 w 1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8">
                  <a:moveTo>
                    <a:pt x="5" y="0"/>
                  </a:moveTo>
                  <a:cubicBezTo>
                    <a:pt x="0" y="8"/>
                    <a:pt x="5" y="8"/>
                    <a:pt x="12" y="7"/>
                  </a:cubicBezTo>
                  <a:cubicBezTo>
                    <a:pt x="6" y="4"/>
                    <a:pt x="9" y="6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Freeform 119"/>
            <p:cNvSpPr>
              <a:spLocks/>
            </p:cNvSpPr>
            <p:nvPr/>
          </p:nvSpPr>
          <p:spPr bwMode="auto">
            <a:xfrm>
              <a:off x="2117725" y="1900238"/>
              <a:ext cx="15875" cy="14288"/>
            </a:xfrm>
            <a:custGeom>
              <a:avLst/>
              <a:gdLst>
                <a:gd name="T0" fmla="*/ 0 w 10"/>
                <a:gd name="T1" fmla="*/ 3 h 9"/>
                <a:gd name="T2" fmla="*/ 2 w 10"/>
                <a:gd name="T3" fmla="*/ 7 h 9"/>
                <a:gd name="T4" fmla="*/ 0 w 10"/>
                <a:gd name="T5" fmla="*/ 3 h 9"/>
                <a:gd name="T6" fmla="*/ 0 60000 65536"/>
                <a:gd name="T7" fmla="*/ 0 60000 65536"/>
                <a:gd name="T8" fmla="*/ 0 60000 65536"/>
                <a:gd name="T9" fmla="*/ 0 w 10"/>
                <a:gd name="T10" fmla="*/ 0 h 9"/>
                <a:gd name="T11" fmla="*/ 10 w 10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9">
                  <a:moveTo>
                    <a:pt x="0" y="3"/>
                  </a:moveTo>
                  <a:cubicBezTo>
                    <a:pt x="1" y="4"/>
                    <a:pt x="1" y="7"/>
                    <a:pt x="2" y="7"/>
                  </a:cubicBezTo>
                  <a:cubicBezTo>
                    <a:pt x="10" y="9"/>
                    <a:pt x="6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Freeform 120"/>
            <p:cNvSpPr>
              <a:spLocks/>
            </p:cNvSpPr>
            <p:nvPr/>
          </p:nvSpPr>
          <p:spPr bwMode="auto">
            <a:xfrm>
              <a:off x="2157413" y="1885951"/>
              <a:ext cx="19050" cy="19050"/>
            </a:xfrm>
            <a:custGeom>
              <a:avLst/>
              <a:gdLst>
                <a:gd name="T0" fmla="*/ 6 w 12"/>
                <a:gd name="T1" fmla="*/ 3 h 12"/>
                <a:gd name="T2" fmla="*/ 12 w 12"/>
                <a:gd name="T3" fmla="*/ 4 h 12"/>
                <a:gd name="T4" fmla="*/ 6 w 12"/>
                <a:gd name="T5" fmla="*/ 3 h 12"/>
                <a:gd name="T6" fmla="*/ 0 60000 65536"/>
                <a:gd name="T7" fmla="*/ 0 60000 65536"/>
                <a:gd name="T8" fmla="*/ 0 60000 65536"/>
                <a:gd name="T9" fmla="*/ 0 w 12"/>
                <a:gd name="T10" fmla="*/ 0 h 12"/>
                <a:gd name="T11" fmla="*/ 12 w 12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12">
                  <a:moveTo>
                    <a:pt x="6" y="3"/>
                  </a:moveTo>
                  <a:cubicBezTo>
                    <a:pt x="2" y="12"/>
                    <a:pt x="9" y="9"/>
                    <a:pt x="12" y="4"/>
                  </a:cubicBezTo>
                  <a:cubicBezTo>
                    <a:pt x="6" y="0"/>
                    <a:pt x="0" y="3"/>
                    <a:pt x="6" y="3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Freeform 121"/>
            <p:cNvSpPr>
              <a:spLocks/>
            </p:cNvSpPr>
            <p:nvPr/>
          </p:nvSpPr>
          <p:spPr bwMode="auto">
            <a:xfrm>
              <a:off x="1654175" y="2228851"/>
              <a:ext cx="28575" cy="12700"/>
            </a:xfrm>
            <a:custGeom>
              <a:avLst/>
              <a:gdLst>
                <a:gd name="T0" fmla="*/ 12 w 18"/>
                <a:gd name="T1" fmla="*/ 0 h 8"/>
                <a:gd name="T2" fmla="*/ 8 w 18"/>
                <a:gd name="T3" fmla="*/ 8 h 8"/>
                <a:gd name="T4" fmla="*/ 12 w 18"/>
                <a:gd name="T5" fmla="*/ 0 h 8"/>
                <a:gd name="T6" fmla="*/ 0 60000 65536"/>
                <a:gd name="T7" fmla="*/ 0 60000 65536"/>
                <a:gd name="T8" fmla="*/ 0 60000 65536"/>
                <a:gd name="T9" fmla="*/ 0 w 18"/>
                <a:gd name="T10" fmla="*/ 0 h 8"/>
                <a:gd name="T11" fmla="*/ 18 w 18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8">
                  <a:moveTo>
                    <a:pt x="12" y="0"/>
                  </a:moveTo>
                  <a:cubicBezTo>
                    <a:pt x="6" y="1"/>
                    <a:pt x="0" y="4"/>
                    <a:pt x="8" y="8"/>
                  </a:cubicBezTo>
                  <a:cubicBezTo>
                    <a:pt x="11" y="7"/>
                    <a:pt x="18" y="3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Freeform 122"/>
            <p:cNvSpPr>
              <a:spLocks/>
            </p:cNvSpPr>
            <p:nvPr/>
          </p:nvSpPr>
          <p:spPr bwMode="auto">
            <a:xfrm>
              <a:off x="1625600" y="2251076"/>
              <a:ext cx="22225" cy="20638"/>
            </a:xfrm>
            <a:custGeom>
              <a:avLst/>
              <a:gdLst>
                <a:gd name="T0" fmla="*/ 0 w 14"/>
                <a:gd name="T1" fmla="*/ 0 h 13"/>
                <a:gd name="T2" fmla="*/ 0 w 14"/>
                <a:gd name="T3" fmla="*/ 0 h 13"/>
                <a:gd name="T4" fmla="*/ 0 60000 65536"/>
                <a:gd name="T5" fmla="*/ 0 60000 65536"/>
                <a:gd name="T6" fmla="*/ 0 w 14"/>
                <a:gd name="T7" fmla="*/ 0 h 13"/>
                <a:gd name="T8" fmla="*/ 14 w 14"/>
                <a:gd name="T9" fmla="*/ 13 h 1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" h="13">
                  <a:moveTo>
                    <a:pt x="0" y="0"/>
                  </a:moveTo>
                  <a:cubicBezTo>
                    <a:pt x="4" y="13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Freeform 123"/>
            <p:cNvSpPr>
              <a:spLocks/>
            </p:cNvSpPr>
            <p:nvPr/>
          </p:nvSpPr>
          <p:spPr bwMode="auto">
            <a:xfrm>
              <a:off x="2481263" y="1755776"/>
              <a:ext cx="19050" cy="14288"/>
            </a:xfrm>
            <a:custGeom>
              <a:avLst/>
              <a:gdLst>
                <a:gd name="T0" fmla="*/ 8 w 12"/>
                <a:gd name="T1" fmla="*/ 1 h 9"/>
                <a:gd name="T2" fmla="*/ 11 w 12"/>
                <a:gd name="T3" fmla="*/ 6 h 9"/>
                <a:gd name="T4" fmla="*/ 8 w 12"/>
                <a:gd name="T5" fmla="*/ 1 h 9"/>
                <a:gd name="T6" fmla="*/ 0 60000 65536"/>
                <a:gd name="T7" fmla="*/ 0 60000 65536"/>
                <a:gd name="T8" fmla="*/ 0 60000 65536"/>
                <a:gd name="T9" fmla="*/ 0 w 12"/>
                <a:gd name="T10" fmla="*/ 0 h 9"/>
                <a:gd name="T11" fmla="*/ 12 w 12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9">
                  <a:moveTo>
                    <a:pt x="8" y="1"/>
                  </a:moveTo>
                  <a:cubicBezTo>
                    <a:pt x="0" y="4"/>
                    <a:pt x="3" y="9"/>
                    <a:pt x="11" y="6"/>
                  </a:cubicBezTo>
                  <a:cubicBezTo>
                    <a:pt x="10" y="0"/>
                    <a:pt x="12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Freeform 124"/>
            <p:cNvSpPr>
              <a:spLocks/>
            </p:cNvSpPr>
            <p:nvPr/>
          </p:nvSpPr>
          <p:spPr bwMode="auto">
            <a:xfrm>
              <a:off x="1592263" y="2298701"/>
              <a:ext cx="12700" cy="7938"/>
            </a:xfrm>
            <a:custGeom>
              <a:avLst/>
              <a:gdLst>
                <a:gd name="T0" fmla="*/ 0 w 8"/>
                <a:gd name="T1" fmla="*/ 2 h 5"/>
                <a:gd name="T2" fmla="*/ 7 w 8"/>
                <a:gd name="T3" fmla="*/ 4 h 5"/>
                <a:gd name="T4" fmla="*/ 5 w 8"/>
                <a:gd name="T5" fmla="*/ 0 h 5"/>
                <a:gd name="T6" fmla="*/ 0 w 8"/>
                <a:gd name="T7" fmla="*/ 2 h 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5"/>
                <a:gd name="T14" fmla="*/ 8 w 8"/>
                <a:gd name="T15" fmla="*/ 5 h 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5">
                  <a:moveTo>
                    <a:pt x="0" y="2"/>
                  </a:moveTo>
                  <a:cubicBezTo>
                    <a:pt x="2" y="3"/>
                    <a:pt x="5" y="5"/>
                    <a:pt x="7" y="4"/>
                  </a:cubicBezTo>
                  <a:cubicBezTo>
                    <a:pt x="8" y="3"/>
                    <a:pt x="6" y="0"/>
                    <a:pt x="5" y="0"/>
                  </a:cubicBezTo>
                  <a:cubicBezTo>
                    <a:pt x="3" y="0"/>
                    <a:pt x="0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Freeform 125"/>
            <p:cNvSpPr>
              <a:spLocks/>
            </p:cNvSpPr>
            <p:nvPr/>
          </p:nvSpPr>
          <p:spPr bwMode="auto">
            <a:xfrm>
              <a:off x="1552575" y="2344738"/>
              <a:ext cx="15875" cy="14288"/>
            </a:xfrm>
            <a:custGeom>
              <a:avLst/>
              <a:gdLst>
                <a:gd name="T0" fmla="*/ 3 w 10"/>
                <a:gd name="T1" fmla="*/ 0 h 9"/>
                <a:gd name="T2" fmla="*/ 1 w 10"/>
                <a:gd name="T3" fmla="*/ 5 h 9"/>
                <a:gd name="T4" fmla="*/ 6 w 10"/>
                <a:gd name="T5" fmla="*/ 7 h 9"/>
                <a:gd name="T6" fmla="*/ 3 w 1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"/>
                <a:gd name="T13" fmla="*/ 0 h 9"/>
                <a:gd name="T14" fmla="*/ 10 w 10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" h="9">
                  <a:moveTo>
                    <a:pt x="3" y="0"/>
                  </a:moveTo>
                  <a:cubicBezTo>
                    <a:pt x="2" y="2"/>
                    <a:pt x="0" y="3"/>
                    <a:pt x="1" y="5"/>
                  </a:cubicBezTo>
                  <a:cubicBezTo>
                    <a:pt x="2" y="7"/>
                    <a:pt x="5" y="9"/>
                    <a:pt x="6" y="7"/>
                  </a:cubicBezTo>
                  <a:cubicBezTo>
                    <a:pt x="10" y="0"/>
                    <a:pt x="6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Freeform 126"/>
            <p:cNvSpPr>
              <a:spLocks/>
            </p:cNvSpPr>
            <p:nvPr/>
          </p:nvSpPr>
          <p:spPr bwMode="auto">
            <a:xfrm>
              <a:off x="1490663" y="2357438"/>
              <a:ext cx="20638" cy="12700"/>
            </a:xfrm>
            <a:custGeom>
              <a:avLst/>
              <a:gdLst>
                <a:gd name="T0" fmla="*/ 0 w 13"/>
                <a:gd name="T1" fmla="*/ 0 h 8"/>
                <a:gd name="T2" fmla="*/ 13 w 13"/>
                <a:gd name="T3" fmla="*/ 5 h 8"/>
                <a:gd name="T4" fmla="*/ 0 w 13"/>
                <a:gd name="T5" fmla="*/ 0 h 8"/>
                <a:gd name="T6" fmla="*/ 0 60000 65536"/>
                <a:gd name="T7" fmla="*/ 0 60000 65536"/>
                <a:gd name="T8" fmla="*/ 0 60000 65536"/>
                <a:gd name="T9" fmla="*/ 0 w 13"/>
                <a:gd name="T10" fmla="*/ 0 h 8"/>
                <a:gd name="T11" fmla="*/ 13 w 13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8">
                  <a:moveTo>
                    <a:pt x="0" y="0"/>
                  </a:moveTo>
                  <a:cubicBezTo>
                    <a:pt x="3" y="8"/>
                    <a:pt x="5" y="8"/>
                    <a:pt x="13" y="5"/>
                  </a:cubicBezTo>
                  <a:cubicBezTo>
                    <a:pt x="9" y="3"/>
                    <a:pt x="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Freeform 127"/>
            <p:cNvSpPr>
              <a:spLocks/>
            </p:cNvSpPr>
            <p:nvPr/>
          </p:nvSpPr>
          <p:spPr bwMode="auto">
            <a:xfrm>
              <a:off x="1481138" y="2387601"/>
              <a:ext cx="23813" cy="17463"/>
            </a:xfrm>
            <a:custGeom>
              <a:avLst/>
              <a:gdLst>
                <a:gd name="T0" fmla="*/ 0 w 15"/>
                <a:gd name="T1" fmla="*/ 2 h 11"/>
                <a:gd name="T2" fmla="*/ 11 w 15"/>
                <a:gd name="T3" fmla="*/ 0 h 11"/>
                <a:gd name="T4" fmla="*/ 0 w 15"/>
                <a:gd name="T5" fmla="*/ 2 h 11"/>
                <a:gd name="T6" fmla="*/ 0 60000 65536"/>
                <a:gd name="T7" fmla="*/ 0 60000 65536"/>
                <a:gd name="T8" fmla="*/ 0 60000 65536"/>
                <a:gd name="T9" fmla="*/ 0 w 15"/>
                <a:gd name="T10" fmla="*/ 0 h 11"/>
                <a:gd name="T11" fmla="*/ 15 w 15"/>
                <a:gd name="T12" fmla="*/ 11 h 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1">
                  <a:moveTo>
                    <a:pt x="0" y="2"/>
                  </a:moveTo>
                  <a:cubicBezTo>
                    <a:pt x="2" y="11"/>
                    <a:pt x="15" y="10"/>
                    <a:pt x="11" y="0"/>
                  </a:cubicBezTo>
                  <a:cubicBezTo>
                    <a:pt x="0" y="4"/>
                    <a:pt x="3" y="7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Freeform 128"/>
            <p:cNvSpPr>
              <a:spLocks/>
            </p:cNvSpPr>
            <p:nvPr/>
          </p:nvSpPr>
          <p:spPr bwMode="auto">
            <a:xfrm>
              <a:off x="1474788" y="2443163"/>
              <a:ext cx="20638" cy="14288"/>
            </a:xfrm>
            <a:custGeom>
              <a:avLst/>
              <a:gdLst>
                <a:gd name="T0" fmla="*/ 4 w 13"/>
                <a:gd name="T1" fmla="*/ 1 h 9"/>
                <a:gd name="T2" fmla="*/ 10 w 13"/>
                <a:gd name="T3" fmla="*/ 7 h 9"/>
                <a:gd name="T4" fmla="*/ 4 w 13"/>
                <a:gd name="T5" fmla="*/ 1 h 9"/>
                <a:gd name="T6" fmla="*/ 0 60000 65536"/>
                <a:gd name="T7" fmla="*/ 0 60000 65536"/>
                <a:gd name="T8" fmla="*/ 0 60000 65536"/>
                <a:gd name="T9" fmla="*/ 0 w 13"/>
                <a:gd name="T10" fmla="*/ 0 h 9"/>
                <a:gd name="T11" fmla="*/ 13 w 13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9">
                  <a:moveTo>
                    <a:pt x="4" y="1"/>
                  </a:moveTo>
                  <a:cubicBezTo>
                    <a:pt x="0" y="8"/>
                    <a:pt x="3" y="9"/>
                    <a:pt x="10" y="7"/>
                  </a:cubicBezTo>
                  <a:cubicBezTo>
                    <a:pt x="13" y="0"/>
                    <a:pt x="10" y="1"/>
                    <a:pt x="4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Freeform 129"/>
            <p:cNvSpPr>
              <a:spLocks/>
            </p:cNvSpPr>
            <p:nvPr/>
          </p:nvSpPr>
          <p:spPr bwMode="auto">
            <a:xfrm>
              <a:off x="1393825" y="2392363"/>
              <a:ext cx="26988" cy="14288"/>
            </a:xfrm>
            <a:custGeom>
              <a:avLst/>
              <a:gdLst>
                <a:gd name="T0" fmla="*/ 10 w 17"/>
                <a:gd name="T1" fmla="*/ 1 h 9"/>
                <a:gd name="T2" fmla="*/ 15 w 17"/>
                <a:gd name="T3" fmla="*/ 7 h 9"/>
                <a:gd name="T4" fmla="*/ 16 w 17"/>
                <a:gd name="T5" fmla="*/ 2 h 9"/>
                <a:gd name="T6" fmla="*/ 10 w 17"/>
                <a:gd name="T7" fmla="*/ 1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9"/>
                <a:gd name="T14" fmla="*/ 17 w 17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9">
                  <a:moveTo>
                    <a:pt x="10" y="1"/>
                  </a:moveTo>
                  <a:cubicBezTo>
                    <a:pt x="0" y="7"/>
                    <a:pt x="2" y="9"/>
                    <a:pt x="15" y="7"/>
                  </a:cubicBezTo>
                  <a:cubicBezTo>
                    <a:pt x="15" y="5"/>
                    <a:pt x="17" y="3"/>
                    <a:pt x="16" y="2"/>
                  </a:cubicBezTo>
                  <a:cubicBezTo>
                    <a:pt x="15" y="0"/>
                    <a:pt x="10" y="1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Freeform 130"/>
            <p:cNvSpPr>
              <a:spLocks/>
            </p:cNvSpPr>
            <p:nvPr/>
          </p:nvSpPr>
          <p:spPr bwMode="auto">
            <a:xfrm>
              <a:off x="1336675" y="2466976"/>
              <a:ext cx="47625" cy="23813"/>
            </a:xfrm>
            <a:custGeom>
              <a:avLst/>
              <a:gdLst>
                <a:gd name="T0" fmla="*/ 6 w 30"/>
                <a:gd name="T1" fmla="*/ 0 h 15"/>
                <a:gd name="T2" fmla="*/ 9 w 30"/>
                <a:gd name="T3" fmla="*/ 14 h 15"/>
                <a:gd name="T4" fmla="*/ 27 w 30"/>
                <a:gd name="T5" fmla="*/ 13 h 15"/>
                <a:gd name="T6" fmla="*/ 20 w 30"/>
                <a:gd name="T7" fmla="*/ 5 h 15"/>
                <a:gd name="T8" fmla="*/ 6 w 30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15"/>
                <a:gd name="T17" fmla="*/ 30 w 30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15">
                  <a:moveTo>
                    <a:pt x="6" y="0"/>
                  </a:moveTo>
                  <a:cubicBezTo>
                    <a:pt x="2" y="6"/>
                    <a:pt x="0" y="12"/>
                    <a:pt x="9" y="14"/>
                  </a:cubicBezTo>
                  <a:cubicBezTo>
                    <a:pt x="15" y="14"/>
                    <a:pt x="21" y="15"/>
                    <a:pt x="27" y="13"/>
                  </a:cubicBezTo>
                  <a:cubicBezTo>
                    <a:pt x="30" y="12"/>
                    <a:pt x="23" y="6"/>
                    <a:pt x="20" y="5"/>
                  </a:cubicBezTo>
                  <a:cubicBezTo>
                    <a:pt x="5" y="1"/>
                    <a:pt x="6" y="8"/>
                    <a:pt x="6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Freeform 131"/>
            <p:cNvSpPr>
              <a:spLocks/>
            </p:cNvSpPr>
            <p:nvPr/>
          </p:nvSpPr>
          <p:spPr bwMode="auto">
            <a:xfrm>
              <a:off x="1273175" y="2519363"/>
              <a:ext cx="28575" cy="19050"/>
            </a:xfrm>
            <a:custGeom>
              <a:avLst/>
              <a:gdLst>
                <a:gd name="T0" fmla="*/ 3 w 18"/>
                <a:gd name="T1" fmla="*/ 4 h 12"/>
                <a:gd name="T2" fmla="*/ 11 w 18"/>
                <a:gd name="T3" fmla="*/ 9 h 12"/>
                <a:gd name="T4" fmla="*/ 3 w 18"/>
                <a:gd name="T5" fmla="*/ 4 h 12"/>
                <a:gd name="T6" fmla="*/ 0 60000 65536"/>
                <a:gd name="T7" fmla="*/ 0 60000 65536"/>
                <a:gd name="T8" fmla="*/ 0 60000 65536"/>
                <a:gd name="T9" fmla="*/ 0 w 18"/>
                <a:gd name="T10" fmla="*/ 0 h 12"/>
                <a:gd name="T11" fmla="*/ 18 w 18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12">
                  <a:moveTo>
                    <a:pt x="3" y="4"/>
                  </a:moveTo>
                  <a:cubicBezTo>
                    <a:pt x="0" y="12"/>
                    <a:pt x="5" y="10"/>
                    <a:pt x="11" y="9"/>
                  </a:cubicBezTo>
                  <a:cubicBezTo>
                    <a:pt x="18" y="0"/>
                    <a:pt x="8" y="4"/>
                    <a:pt x="3" y="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Freeform 132"/>
            <p:cNvSpPr>
              <a:spLocks/>
            </p:cNvSpPr>
            <p:nvPr/>
          </p:nvSpPr>
          <p:spPr bwMode="auto">
            <a:xfrm>
              <a:off x="1227138" y="2573338"/>
              <a:ext cx="30163" cy="17463"/>
            </a:xfrm>
            <a:custGeom>
              <a:avLst/>
              <a:gdLst>
                <a:gd name="T0" fmla="*/ 6 w 19"/>
                <a:gd name="T1" fmla="*/ 0 h 11"/>
                <a:gd name="T2" fmla="*/ 8 w 19"/>
                <a:gd name="T3" fmla="*/ 11 h 11"/>
                <a:gd name="T4" fmla="*/ 6 w 19"/>
                <a:gd name="T5" fmla="*/ 2 h 11"/>
                <a:gd name="T6" fmla="*/ 6 w 19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"/>
                <a:gd name="T13" fmla="*/ 0 h 11"/>
                <a:gd name="T14" fmla="*/ 19 w 19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" h="11">
                  <a:moveTo>
                    <a:pt x="6" y="0"/>
                  </a:moveTo>
                  <a:cubicBezTo>
                    <a:pt x="5" y="7"/>
                    <a:pt x="0" y="9"/>
                    <a:pt x="8" y="11"/>
                  </a:cubicBezTo>
                  <a:cubicBezTo>
                    <a:pt x="19" y="9"/>
                    <a:pt x="10" y="5"/>
                    <a:pt x="6" y="2"/>
                  </a:cubicBezTo>
                  <a:cubicBezTo>
                    <a:pt x="5" y="2"/>
                    <a:pt x="6" y="1"/>
                    <a:pt x="6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Freeform 133"/>
            <p:cNvSpPr>
              <a:spLocks/>
            </p:cNvSpPr>
            <p:nvPr/>
          </p:nvSpPr>
          <p:spPr bwMode="auto">
            <a:xfrm>
              <a:off x="857250" y="2959101"/>
              <a:ext cx="9525" cy="22225"/>
            </a:xfrm>
            <a:custGeom>
              <a:avLst/>
              <a:gdLst>
                <a:gd name="T0" fmla="*/ 1 w 6"/>
                <a:gd name="T1" fmla="*/ 0 h 14"/>
                <a:gd name="T2" fmla="*/ 6 w 6"/>
                <a:gd name="T3" fmla="*/ 4 h 14"/>
                <a:gd name="T4" fmla="*/ 1 w 6"/>
                <a:gd name="T5" fmla="*/ 0 h 14"/>
                <a:gd name="T6" fmla="*/ 0 60000 65536"/>
                <a:gd name="T7" fmla="*/ 0 60000 65536"/>
                <a:gd name="T8" fmla="*/ 0 60000 65536"/>
                <a:gd name="T9" fmla="*/ 0 w 6"/>
                <a:gd name="T10" fmla="*/ 0 h 14"/>
                <a:gd name="T11" fmla="*/ 6 w 6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" h="14">
                  <a:moveTo>
                    <a:pt x="1" y="0"/>
                  </a:moveTo>
                  <a:cubicBezTo>
                    <a:pt x="0" y="6"/>
                    <a:pt x="4" y="14"/>
                    <a:pt x="6" y="4"/>
                  </a:cubicBezTo>
                  <a:cubicBezTo>
                    <a:pt x="0" y="3"/>
                    <a:pt x="1" y="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Freeform 134"/>
            <p:cNvSpPr>
              <a:spLocks/>
            </p:cNvSpPr>
            <p:nvPr/>
          </p:nvSpPr>
          <p:spPr bwMode="auto">
            <a:xfrm>
              <a:off x="757238" y="2921001"/>
              <a:ext cx="26988" cy="33338"/>
            </a:xfrm>
            <a:custGeom>
              <a:avLst/>
              <a:gdLst>
                <a:gd name="T0" fmla="*/ 0 w 17"/>
                <a:gd name="T1" fmla="*/ 10 h 21"/>
                <a:gd name="T2" fmla="*/ 17 w 17"/>
                <a:gd name="T3" fmla="*/ 14 h 21"/>
                <a:gd name="T4" fmla="*/ 16 w 17"/>
                <a:gd name="T5" fmla="*/ 7 h 21"/>
                <a:gd name="T6" fmla="*/ 0 w 17"/>
                <a:gd name="T7" fmla="*/ 10 h 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21"/>
                <a:gd name="T14" fmla="*/ 17 w 17"/>
                <a:gd name="T15" fmla="*/ 21 h 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21">
                  <a:moveTo>
                    <a:pt x="0" y="10"/>
                  </a:moveTo>
                  <a:cubicBezTo>
                    <a:pt x="2" y="21"/>
                    <a:pt x="9" y="16"/>
                    <a:pt x="17" y="14"/>
                  </a:cubicBezTo>
                  <a:cubicBezTo>
                    <a:pt x="17" y="12"/>
                    <a:pt x="17" y="9"/>
                    <a:pt x="16" y="7"/>
                  </a:cubicBezTo>
                  <a:cubicBezTo>
                    <a:pt x="11" y="0"/>
                    <a:pt x="4" y="18"/>
                    <a:pt x="0" y="1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Freeform 135"/>
            <p:cNvSpPr>
              <a:spLocks/>
            </p:cNvSpPr>
            <p:nvPr/>
          </p:nvSpPr>
          <p:spPr bwMode="auto">
            <a:xfrm>
              <a:off x="1044575" y="2727326"/>
              <a:ext cx="23813" cy="14288"/>
            </a:xfrm>
            <a:custGeom>
              <a:avLst/>
              <a:gdLst>
                <a:gd name="T0" fmla="*/ 1 w 15"/>
                <a:gd name="T1" fmla="*/ 4 h 9"/>
                <a:gd name="T2" fmla="*/ 9 w 15"/>
                <a:gd name="T3" fmla="*/ 8 h 9"/>
                <a:gd name="T4" fmla="*/ 1 w 15"/>
                <a:gd name="T5" fmla="*/ 4 h 9"/>
                <a:gd name="T6" fmla="*/ 0 60000 65536"/>
                <a:gd name="T7" fmla="*/ 0 60000 65536"/>
                <a:gd name="T8" fmla="*/ 0 60000 65536"/>
                <a:gd name="T9" fmla="*/ 0 w 15"/>
                <a:gd name="T10" fmla="*/ 0 h 9"/>
                <a:gd name="T11" fmla="*/ 15 w 15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9">
                  <a:moveTo>
                    <a:pt x="1" y="4"/>
                  </a:moveTo>
                  <a:cubicBezTo>
                    <a:pt x="6" y="3"/>
                    <a:pt x="15" y="0"/>
                    <a:pt x="9" y="8"/>
                  </a:cubicBezTo>
                  <a:cubicBezTo>
                    <a:pt x="0" y="6"/>
                    <a:pt x="1" y="9"/>
                    <a:pt x="1" y="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Freeform 136"/>
            <p:cNvSpPr>
              <a:spLocks/>
            </p:cNvSpPr>
            <p:nvPr/>
          </p:nvSpPr>
          <p:spPr bwMode="auto">
            <a:xfrm>
              <a:off x="1076325" y="2668588"/>
              <a:ext cx="25400" cy="17463"/>
            </a:xfrm>
            <a:custGeom>
              <a:avLst/>
              <a:gdLst>
                <a:gd name="T0" fmla="*/ 12 w 16"/>
                <a:gd name="T1" fmla="*/ 1 h 11"/>
                <a:gd name="T2" fmla="*/ 8 w 16"/>
                <a:gd name="T3" fmla="*/ 9 h 11"/>
                <a:gd name="T4" fmla="*/ 0 w 16"/>
                <a:gd name="T5" fmla="*/ 3 h 11"/>
                <a:gd name="T6" fmla="*/ 12 w 16"/>
                <a:gd name="T7" fmla="*/ 1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"/>
                <a:gd name="T13" fmla="*/ 0 h 11"/>
                <a:gd name="T14" fmla="*/ 16 w 16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" h="11">
                  <a:moveTo>
                    <a:pt x="12" y="1"/>
                  </a:moveTo>
                  <a:cubicBezTo>
                    <a:pt x="12" y="3"/>
                    <a:pt x="16" y="11"/>
                    <a:pt x="8" y="9"/>
                  </a:cubicBezTo>
                  <a:cubicBezTo>
                    <a:pt x="5" y="8"/>
                    <a:pt x="0" y="3"/>
                    <a:pt x="0" y="3"/>
                  </a:cubicBezTo>
                  <a:cubicBezTo>
                    <a:pt x="6" y="0"/>
                    <a:pt x="6" y="4"/>
                    <a:pt x="12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Freeform 137"/>
            <p:cNvSpPr>
              <a:spLocks/>
            </p:cNvSpPr>
            <p:nvPr/>
          </p:nvSpPr>
          <p:spPr bwMode="auto">
            <a:xfrm>
              <a:off x="1120775" y="2625726"/>
              <a:ext cx="23813" cy="17463"/>
            </a:xfrm>
            <a:custGeom>
              <a:avLst/>
              <a:gdLst>
                <a:gd name="T0" fmla="*/ 12 w 15"/>
                <a:gd name="T1" fmla="*/ 0 h 11"/>
                <a:gd name="T2" fmla="*/ 8 w 15"/>
                <a:gd name="T3" fmla="*/ 11 h 11"/>
                <a:gd name="T4" fmla="*/ 12 w 15"/>
                <a:gd name="T5" fmla="*/ 0 h 11"/>
                <a:gd name="T6" fmla="*/ 0 60000 65536"/>
                <a:gd name="T7" fmla="*/ 0 60000 65536"/>
                <a:gd name="T8" fmla="*/ 0 60000 65536"/>
                <a:gd name="T9" fmla="*/ 0 w 15"/>
                <a:gd name="T10" fmla="*/ 0 h 11"/>
                <a:gd name="T11" fmla="*/ 15 w 15"/>
                <a:gd name="T12" fmla="*/ 11 h 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1">
                  <a:moveTo>
                    <a:pt x="12" y="0"/>
                  </a:moveTo>
                  <a:cubicBezTo>
                    <a:pt x="15" y="6"/>
                    <a:pt x="13" y="7"/>
                    <a:pt x="8" y="11"/>
                  </a:cubicBezTo>
                  <a:cubicBezTo>
                    <a:pt x="0" y="7"/>
                    <a:pt x="5" y="1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Freeform 138"/>
            <p:cNvSpPr>
              <a:spLocks/>
            </p:cNvSpPr>
            <p:nvPr/>
          </p:nvSpPr>
          <p:spPr bwMode="auto">
            <a:xfrm>
              <a:off x="1203325" y="2589213"/>
              <a:ext cx="15875" cy="12700"/>
            </a:xfrm>
            <a:custGeom>
              <a:avLst/>
              <a:gdLst>
                <a:gd name="T0" fmla="*/ 2 w 10"/>
                <a:gd name="T1" fmla="*/ 0 h 8"/>
                <a:gd name="T2" fmla="*/ 0 w 10"/>
                <a:gd name="T3" fmla="*/ 5 h 8"/>
                <a:gd name="T4" fmla="*/ 2 w 10"/>
                <a:gd name="T5" fmla="*/ 0 h 8"/>
                <a:gd name="T6" fmla="*/ 0 60000 65536"/>
                <a:gd name="T7" fmla="*/ 0 60000 65536"/>
                <a:gd name="T8" fmla="*/ 0 60000 65536"/>
                <a:gd name="T9" fmla="*/ 0 w 10"/>
                <a:gd name="T10" fmla="*/ 0 h 8"/>
                <a:gd name="T11" fmla="*/ 10 w 10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8">
                  <a:moveTo>
                    <a:pt x="2" y="0"/>
                  </a:moveTo>
                  <a:cubicBezTo>
                    <a:pt x="10" y="3"/>
                    <a:pt x="8" y="8"/>
                    <a:pt x="0" y="5"/>
                  </a:cubicBezTo>
                  <a:cubicBezTo>
                    <a:pt x="1" y="3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Freeform 139"/>
            <p:cNvSpPr>
              <a:spLocks/>
            </p:cNvSpPr>
            <p:nvPr/>
          </p:nvSpPr>
          <p:spPr bwMode="auto">
            <a:xfrm>
              <a:off x="981075" y="2727326"/>
              <a:ext cx="28575" cy="12700"/>
            </a:xfrm>
            <a:custGeom>
              <a:avLst/>
              <a:gdLst>
                <a:gd name="T0" fmla="*/ 12 w 18"/>
                <a:gd name="T1" fmla="*/ 0 h 8"/>
                <a:gd name="T2" fmla="*/ 8 w 18"/>
                <a:gd name="T3" fmla="*/ 8 h 8"/>
                <a:gd name="T4" fmla="*/ 12 w 18"/>
                <a:gd name="T5" fmla="*/ 0 h 8"/>
                <a:gd name="T6" fmla="*/ 0 60000 65536"/>
                <a:gd name="T7" fmla="*/ 0 60000 65536"/>
                <a:gd name="T8" fmla="*/ 0 60000 65536"/>
                <a:gd name="T9" fmla="*/ 0 w 18"/>
                <a:gd name="T10" fmla="*/ 0 h 8"/>
                <a:gd name="T11" fmla="*/ 18 w 18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8">
                  <a:moveTo>
                    <a:pt x="12" y="0"/>
                  </a:moveTo>
                  <a:cubicBezTo>
                    <a:pt x="6" y="1"/>
                    <a:pt x="0" y="4"/>
                    <a:pt x="8" y="8"/>
                  </a:cubicBezTo>
                  <a:cubicBezTo>
                    <a:pt x="11" y="7"/>
                    <a:pt x="18" y="3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Freeform 140"/>
            <p:cNvSpPr>
              <a:spLocks/>
            </p:cNvSpPr>
            <p:nvPr/>
          </p:nvSpPr>
          <p:spPr bwMode="auto">
            <a:xfrm>
              <a:off x="952500" y="2749551"/>
              <a:ext cx="22225" cy="20638"/>
            </a:xfrm>
            <a:custGeom>
              <a:avLst/>
              <a:gdLst>
                <a:gd name="T0" fmla="*/ 0 w 14"/>
                <a:gd name="T1" fmla="*/ 0 h 13"/>
                <a:gd name="T2" fmla="*/ 0 w 14"/>
                <a:gd name="T3" fmla="*/ 0 h 13"/>
                <a:gd name="T4" fmla="*/ 0 60000 65536"/>
                <a:gd name="T5" fmla="*/ 0 60000 65536"/>
                <a:gd name="T6" fmla="*/ 0 w 14"/>
                <a:gd name="T7" fmla="*/ 0 h 13"/>
                <a:gd name="T8" fmla="*/ 14 w 14"/>
                <a:gd name="T9" fmla="*/ 13 h 1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" h="13">
                  <a:moveTo>
                    <a:pt x="0" y="0"/>
                  </a:moveTo>
                  <a:cubicBezTo>
                    <a:pt x="4" y="13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Freeform 141"/>
            <p:cNvSpPr>
              <a:spLocks/>
            </p:cNvSpPr>
            <p:nvPr/>
          </p:nvSpPr>
          <p:spPr bwMode="auto">
            <a:xfrm>
              <a:off x="931863" y="2778126"/>
              <a:ext cx="19050" cy="14288"/>
            </a:xfrm>
            <a:custGeom>
              <a:avLst/>
              <a:gdLst>
                <a:gd name="T0" fmla="*/ 8 w 12"/>
                <a:gd name="T1" fmla="*/ 1 h 9"/>
                <a:gd name="T2" fmla="*/ 11 w 12"/>
                <a:gd name="T3" fmla="*/ 6 h 9"/>
                <a:gd name="T4" fmla="*/ 8 w 12"/>
                <a:gd name="T5" fmla="*/ 1 h 9"/>
                <a:gd name="T6" fmla="*/ 0 60000 65536"/>
                <a:gd name="T7" fmla="*/ 0 60000 65536"/>
                <a:gd name="T8" fmla="*/ 0 60000 65536"/>
                <a:gd name="T9" fmla="*/ 0 w 12"/>
                <a:gd name="T10" fmla="*/ 0 h 9"/>
                <a:gd name="T11" fmla="*/ 12 w 12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9">
                  <a:moveTo>
                    <a:pt x="8" y="1"/>
                  </a:moveTo>
                  <a:cubicBezTo>
                    <a:pt x="0" y="4"/>
                    <a:pt x="3" y="9"/>
                    <a:pt x="11" y="6"/>
                  </a:cubicBezTo>
                  <a:cubicBezTo>
                    <a:pt x="10" y="0"/>
                    <a:pt x="12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Freeform 142"/>
            <p:cNvSpPr>
              <a:spLocks/>
            </p:cNvSpPr>
            <p:nvPr/>
          </p:nvSpPr>
          <p:spPr bwMode="auto">
            <a:xfrm>
              <a:off x="919163" y="2797176"/>
              <a:ext cx="12700" cy="7938"/>
            </a:xfrm>
            <a:custGeom>
              <a:avLst/>
              <a:gdLst>
                <a:gd name="T0" fmla="*/ 0 w 8"/>
                <a:gd name="T1" fmla="*/ 2 h 5"/>
                <a:gd name="T2" fmla="*/ 7 w 8"/>
                <a:gd name="T3" fmla="*/ 4 h 5"/>
                <a:gd name="T4" fmla="*/ 5 w 8"/>
                <a:gd name="T5" fmla="*/ 0 h 5"/>
                <a:gd name="T6" fmla="*/ 0 w 8"/>
                <a:gd name="T7" fmla="*/ 2 h 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5"/>
                <a:gd name="T14" fmla="*/ 8 w 8"/>
                <a:gd name="T15" fmla="*/ 5 h 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5">
                  <a:moveTo>
                    <a:pt x="0" y="2"/>
                  </a:moveTo>
                  <a:cubicBezTo>
                    <a:pt x="2" y="3"/>
                    <a:pt x="5" y="5"/>
                    <a:pt x="7" y="4"/>
                  </a:cubicBezTo>
                  <a:cubicBezTo>
                    <a:pt x="8" y="3"/>
                    <a:pt x="6" y="0"/>
                    <a:pt x="5" y="0"/>
                  </a:cubicBezTo>
                  <a:cubicBezTo>
                    <a:pt x="3" y="0"/>
                    <a:pt x="0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Freeform 143"/>
            <p:cNvSpPr>
              <a:spLocks/>
            </p:cNvSpPr>
            <p:nvPr/>
          </p:nvSpPr>
          <p:spPr bwMode="auto">
            <a:xfrm>
              <a:off x="879475" y="2843213"/>
              <a:ext cx="15875" cy="14288"/>
            </a:xfrm>
            <a:custGeom>
              <a:avLst/>
              <a:gdLst>
                <a:gd name="T0" fmla="*/ 3 w 10"/>
                <a:gd name="T1" fmla="*/ 0 h 9"/>
                <a:gd name="T2" fmla="*/ 1 w 10"/>
                <a:gd name="T3" fmla="*/ 5 h 9"/>
                <a:gd name="T4" fmla="*/ 6 w 10"/>
                <a:gd name="T5" fmla="*/ 7 h 9"/>
                <a:gd name="T6" fmla="*/ 3 w 1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"/>
                <a:gd name="T13" fmla="*/ 0 h 9"/>
                <a:gd name="T14" fmla="*/ 10 w 10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" h="9">
                  <a:moveTo>
                    <a:pt x="3" y="0"/>
                  </a:moveTo>
                  <a:cubicBezTo>
                    <a:pt x="2" y="2"/>
                    <a:pt x="0" y="3"/>
                    <a:pt x="1" y="5"/>
                  </a:cubicBezTo>
                  <a:cubicBezTo>
                    <a:pt x="2" y="7"/>
                    <a:pt x="5" y="9"/>
                    <a:pt x="6" y="7"/>
                  </a:cubicBezTo>
                  <a:cubicBezTo>
                    <a:pt x="10" y="0"/>
                    <a:pt x="6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Freeform 144"/>
            <p:cNvSpPr>
              <a:spLocks/>
            </p:cNvSpPr>
            <p:nvPr/>
          </p:nvSpPr>
          <p:spPr bwMode="auto">
            <a:xfrm>
              <a:off x="817563" y="2855913"/>
              <a:ext cx="20638" cy="12700"/>
            </a:xfrm>
            <a:custGeom>
              <a:avLst/>
              <a:gdLst>
                <a:gd name="T0" fmla="*/ 0 w 13"/>
                <a:gd name="T1" fmla="*/ 0 h 8"/>
                <a:gd name="T2" fmla="*/ 13 w 13"/>
                <a:gd name="T3" fmla="*/ 5 h 8"/>
                <a:gd name="T4" fmla="*/ 0 w 13"/>
                <a:gd name="T5" fmla="*/ 0 h 8"/>
                <a:gd name="T6" fmla="*/ 0 60000 65536"/>
                <a:gd name="T7" fmla="*/ 0 60000 65536"/>
                <a:gd name="T8" fmla="*/ 0 60000 65536"/>
                <a:gd name="T9" fmla="*/ 0 w 13"/>
                <a:gd name="T10" fmla="*/ 0 h 8"/>
                <a:gd name="T11" fmla="*/ 13 w 13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8">
                  <a:moveTo>
                    <a:pt x="0" y="0"/>
                  </a:moveTo>
                  <a:cubicBezTo>
                    <a:pt x="3" y="8"/>
                    <a:pt x="5" y="8"/>
                    <a:pt x="13" y="5"/>
                  </a:cubicBezTo>
                  <a:cubicBezTo>
                    <a:pt x="9" y="3"/>
                    <a:pt x="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Freeform 145"/>
            <p:cNvSpPr>
              <a:spLocks/>
            </p:cNvSpPr>
            <p:nvPr/>
          </p:nvSpPr>
          <p:spPr bwMode="auto">
            <a:xfrm>
              <a:off x="808038" y="2886076"/>
              <a:ext cx="23813" cy="17463"/>
            </a:xfrm>
            <a:custGeom>
              <a:avLst/>
              <a:gdLst>
                <a:gd name="T0" fmla="*/ 0 w 15"/>
                <a:gd name="T1" fmla="*/ 2 h 11"/>
                <a:gd name="T2" fmla="*/ 11 w 15"/>
                <a:gd name="T3" fmla="*/ 0 h 11"/>
                <a:gd name="T4" fmla="*/ 0 w 15"/>
                <a:gd name="T5" fmla="*/ 2 h 11"/>
                <a:gd name="T6" fmla="*/ 0 60000 65536"/>
                <a:gd name="T7" fmla="*/ 0 60000 65536"/>
                <a:gd name="T8" fmla="*/ 0 60000 65536"/>
                <a:gd name="T9" fmla="*/ 0 w 15"/>
                <a:gd name="T10" fmla="*/ 0 h 11"/>
                <a:gd name="T11" fmla="*/ 15 w 15"/>
                <a:gd name="T12" fmla="*/ 11 h 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1">
                  <a:moveTo>
                    <a:pt x="0" y="2"/>
                  </a:moveTo>
                  <a:cubicBezTo>
                    <a:pt x="2" y="11"/>
                    <a:pt x="15" y="10"/>
                    <a:pt x="11" y="0"/>
                  </a:cubicBezTo>
                  <a:cubicBezTo>
                    <a:pt x="0" y="4"/>
                    <a:pt x="3" y="7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Freeform 146"/>
            <p:cNvSpPr>
              <a:spLocks/>
            </p:cNvSpPr>
            <p:nvPr/>
          </p:nvSpPr>
          <p:spPr bwMode="auto">
            <a:xfrm>
              <a:off x="801688" y="2941638"/>
              <a:ext cx="20638" cy="14288"/>
            </a:xfrm>
            <a:custGeom>
              <a:avLst/>
              <a:gdLst>
                <a:gd name="T0" fmla="*/ 4 w 13"/>
                <a:gd name="T1" fmla="*/ 1 h 9"/>
                <a:gd name="T2" fmla="*/ 10 w 13"/>
                <a:gd name="T3" fmla="*/ 7 h 9"/>
                <a:gd name="T4" fmla="*/ 4 w 13"/>
                <a:gd name="T5" fmla="*/ 1 h 9"/>
                <a:gd name="T6" fmla="*/ 0 60000 65536"/>
                <a:gd name="T7" fmla="*/ 0 60000 65536"/>
                <a:gd name="T8" fmla="*/ 0 60000 65536"/>
                <a:gd name="T9" fmla="*/ 0 w 13"/>
                <a:gd name="T10" fmla="*/ 0 h 9"/>
                <a:gd name="T11" fmla="*/ 13 w 13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9">
                  <a:moveTo>
                    <a:pt x="4" y="1"/>
                  </a:moveTo>
                  <a:cubicBezTo>
                    <a:pt x="0" y="8"/>
                    <a:pt x="3" y="9"/>
                    <a:pt x="10" y="7"/>
                  </a:cubicBezTo>
                  <a:cubicBezTo>
                    <a:pt x="13" y="0"/>
                    <a:pt x="10" y="1"/>
                    <a:pt x="4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Freeform 147"/>
            <p:cNvSpPr>
              <a:spLocks/>
            </p:cNvSpPr>
            <p:nvPr/>
          </p:nvSpPr>
          <p:spPr bwMode="auto">
            <a:xfrm>
              <a:off x="720725" y="2890838"/>
              <a:ext cx="26988" cy="14288"/>
            </a:xfrm>
            <a:custGeom>
              <a:avLst/>
              <a:gdLst>
                <a:gd name="T0" fmla="*/ 10 w 17"/>
                <a:gd name="T1" fmla="*/ 1 h 9"/>
                <a:gd name="T2" fmla="*/ 15 w 17"/>
                <a:gd name="T3" fmla="*/ 7 h 9"/>
                <a:gd name="T4" fmla="*/ 16 w 17"/>
                <a:gd name="T5" fmla="*/ 2 h 9"/>
                <a:gd name="T6" fmla="*/ 10 w 17"/>
                <a:gd name="T7" fmla="*/ 1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9"/>
                <a:gd name="T14" fmla="*/ 17 w 17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9">
                  <a:moveTo>
                    <a:pt x="10" y="1"/>
                  </a:moveTo>
                  <a:cubicBezTo>
                    <a:pt x="0" y="7"/>
                    <a:pt x="2" y="9"/>
                    <a:pt x="15" y="7"/>
                  </a:cubicBezTo>
                  <a:cubicBezTo>
                    <a:pt x="15" y="5"/>
                    <a:pt x="17" y="3"/>
                    <a:pt x="16" y="2"/>
                  </a:cubicBezTo>
                  <a:cubicBezTo>
                    <a:pt x="15" y="0"/>
                    <a:pt x="10" y="1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Freeform 148"/>
            <p:cNvSpPr>
              <a:spLocks/>
            </p:cNvSpPr>
            <p:nvPr/>
          </p:nvSpPr>
          <p:spPr bwMode="auto">
            <a:xfrm>
              <a:off x="663575" y="2965451"/>
              <a:ext cx="47625" cy="23813"/>
            </a:xfrm>
            <a:custGeom>
              <a:avLst/>
              <a:gdLst>
                <a:gd name="T0" fmla="*/ 6 w 30"/>
                <a:gd name="T1" fmla="*/ 0 h 15"/>
                <a:gd name="T2" fmla="*/ 9 w 30"/>
                <a:gd name="T3" fmla="*/ 14 h 15"/>
                <a:gd name="T4" fmla="*/ 27 w 30"/>
                <a:gd name="T5" fmla="*/ 13 h 15"/>
                <a:gd name="T6" fmla="*/ 20 w 30"/>
                <a:gd name="T7" fmla="*/ 5 h 15"/>
                <a:gd name="T8" fmla="*/ 6 w 30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15"/>
                <a:gd name="T17" fmla="*/ 30 w 30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15">
                  <a:moveTo>
                    <a:pt x="6" y="0"/>
                  </a:moveTo>
                  <a:cubicBezTo>
                    <a:pt x="2" y="6"/>
                    <a:pt x="0" y="12"/>
                    <a:pt x="9" y="14"/>
                  </a:cubicBezTo>
                  <a:cubicBezTo>
                    <a:pt x="15" y="14"/>
                    <a:pt x="21" y="15"/>
                    <a:pt x="27" y="13"/>
                  </a:cubicBezTo>
                  <a:cubicBezTo>
                    <a:pt x="30" y="12"/>
                    <a:pt x="23" y="6"/>
                    <a:pt x="20" y="5"/>
                  </a:cubicBezTo>
                  <a:cubicBezTo>
                    <a:pt x="5" y="1"/>
                    <a:pt x="6" y="8"/>
                    <a:pt x="6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Freeform 149"/>
            <p:cNvSpPr>
              <a:spLocks/>
            </p:cNvSpPr>
            <p:nvPr/>
          </p:nvSpPr>
          <p:spPr bwMode="auto">
            <a:xfrm rot="4531695">
              <a:off x="2924175" y="2003425"/>
              <a:ext cx="23813" cy="14288"/>
            </a:xfrm>
            <a:custGeom>
              <a:avLst/>
              <a:gdLst>
                <a:gd name="T0" fmla="*/ 1 w 15"/>
                <a:gd name="T1" fmla="*/ 4 h 9"/>
                <a:gd name="T2" fmla="*/ 9 w 15"/>
                <a:gd name="T3" fmla="*/ 8 h 9"/>
                <a:gd name="T4" fmla="*/ 1 w 15"/>
                <a:gd name="T5" fmla="*/ 4 h 9"/>
                <a:gd name="T6" fmla="*/ 0 60000 65536"/>
                <a:gd name="T7" fmla="*/ 0 60000 65536"/>
                <a:gd name="T8" fmla="*/ 0 60000 65536"/>
                <a:gd name="T9" fmla="*/ 0 w 15"/>
                <a:gd name="T10" fmla="*/ 0 h 9"/>
                <a:gd name="T11" fmla="*/ 15 w 15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9">
                  <a:moveTo>
                    <a:pt x="1" y="4"/>
                  </a:moveTo>
                  <a:cubicBezTo>
                    <a:pt x="6" y="3"/>
                    <a:pt x="15" y="0"/>
                    <a:pt x="9" y="8"/>
                  </a:cubicBezTo>
                  <a:cubicBezTo>
                    <a:pt x="0" y="6"/>
                    <a:pt x="1" y="9"/>
                    <a:pt x="1" y="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Freeform 150"/>
            <p:cNvSpPr>
              <a:spLocks/>
            </p:cNvSpPr>
            <p:nvPr/>
          </p:nvSpPr>
          <p:spPr bwMode="auto">
            <a:xfrm rot="4531695">
              <a:off x="2987675" y="2019300"/>
              <a:ext cx="25400" cy="17463"/>
            </a:xfrm>
            <a:custGeom>
              <a:avLst/>
              <a:gdLst>
                <a:gd name="T0" fmla="*/ 12 w 16"/>
                <a:gd name="T1" fmla="*/ 1 h 11"/>
                <a:gd name="T2" fmla="*/ 8 w 16"/>
                <a:gd name="T3" fmla="*/ 9 h 11"/>
                <a:gd name="T4" fmla="*/ 0 w 16"/>
                <a:gd name="T5" fmla="*/ 3 h 11"/>
                <a:gd name="T6" fmla="*/ 12 w 16"/>
                <a:gd name="T7" fmla="*/ 1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"/>
                <a:gd name="T13" fmla="*/ 0 h 11"/>
                <a:gd name="T14" fmla="*/ 16 w 16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" h="11">
                  <a:moveTo>
                    <a:pt x="12" y="1"/>
                  </a:moveTo>
                  <a:cubicBezTo>
                    <a:pt x="12" y="3"/>
                    <a:pt x="16" y="11"/>
                    <a:pt x="8" y="9"/>
                  </a:cubicBezTo>
                  <a:cubicBezTo>
                    <a:pt x="5" y="8"/>
                    <a:pt x="0" y="3"/>
                    <a:pt x="0" y="3"/>
                  </a:cubicBezTo>
                  <a:cubicBezTo>
                    <a:pt x="6" y="0"/>
                    <a:pt x="6" y="4"/>
                    <a:pt x="12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Freeform 151"/>
            <p:cNvSpPr>
              <a:spLocks/>
            </p:cNvSpPr>
            <p:nvPr/>
          </p:nvSpPr>
          <p:spPr bwMode="auto">
            <a:xfrm rot="4531695">
              <a:off x="3040063" y="2051050"/>
              <a:ext cx="23813" cy="17463"/>
            </a:xfrm>
            <a:custGeom>
              <a:avLst/>
              <a:gdLst>
                <a:gd name="T0" fmla="*/ 12 w 15"/>
                <a:gd name="T1" fmla="*/ 0 h 11"/>
                <a:gd name="T2" fmla="*/ 8 w 15"/>
                <a:gd name="T3" fmla="*/ 11 h 11"/>
                <a:gd name="T4" fmla="*/ 12 w 15"/>
                <a:gd name="T5" fmla="*/ 0 h 11"/>
                <a:gd name="T6" fmla="*/ 0 60000 65536"/>
                <a:gd name="T7" fmla="*/ 0 60000 65536"/>
                <a:gd name="T8" fmla="*/ 0 60000 65536"/>
                <a:gd name="T9" fmla="*/ 0 w 15"/>
                <a:gd name="T10" fmla="*/ 0 h 11"/>
                <a:gd name="T11" fmla="*/ 15 w 15"/>
                <a:gd name="T12" fmla="*/ 11 h 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1">
                  <a:moveTo>
                    <a:pt x="12" y="0"/>
                  </a:moveTo>
                  <a:cubicBezTo>
                    <a:pt x="15" y="6"/>
                    <a:pt x="13" y="7"/>
                    <a:pt x="8" y="11"/>
                  </a:cubicBezTo>
                  <a:cubicBezTo>
                    <a:pt x="0" y="7"/>
                    <a:pt x="5" y="1"/>
                    <a:pt x="12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Freeform 152"/>
            <p:cNvSpPr>
              <a:spLocks/>
            </p:cNvSpPr>
            <p:nvPr/>
          </p:nvSpPr>
          <p:spPr bwMode="auto">
            <a:xfrm rot="4531695">
              <a:off x="3101975" y="2119313"/>
              <a:ext cx="15875" cy="12700"/>
            </a:xfrm>
            <a:custGeom>
              <a:avLst/>
              <a:gdLst>
                <a:gd name="T0" fmla="*/ 2 w 10"/>
                <a:gd name="T1" fmla="*/ 0 h 8"/>
                <a:gd name="T2" fmla="*/ 0 w 10"/>
                <a:gd name="T3" fmla="*/ 5 h 8"/>
                <a:gd name="T4" fmla="*/ 2 w 10"/>
                <a:gd name="T5" fmla="*/ 0 h 8"/>
                <a:gd name="T6" fmla="*/ 0 60000 65536"/>
                <a:gd name="T7" fmla="*/ 0 60000 65536"/>
                <a:gd name="T8" fmla="*/ 0 60000 65536"/>
                <a:gd name="T9" fmla="*/ 0 w 10"/>
                <a:gd name="T10" fmla="*/ 0 h 8"/>
                <a:gd name="T11" fmla="*/ 10 w 10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8">
                  <a:moveTo>
                    <a:pt x="2" y="0"/>
                  </a:moveTo>
                  <a:cubicBezTo>
                    <a:pt x="10" y="3"/>
                    <a:pt x="8" y="8"/>
                    <a:pt x="0" y="5"/>
                  </a:cubicBezTo>
                  <a:cubicBezTo>
                    <a:pt x="1" y="3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Freeform 153"/>
            <p:cNvSpPr>
              <a:spLocks/>
            </p:cNvSpPr>
            <p:nvPr/>
          </p:nvSpPr>
          <p:spPr bwMode="auto">
            <a:xfrm rot="4531695">
              <a:off x="3178175" y="2171700"/>
              <a:ext cx="9525" cy="20638"/>
            </a:xfrm>
            <a:custGeom>
              <a:avLst/>
              <a:gdLst>
                <a:gd name="T0" fmla="*/ 0 w 6"/>
                <a:gd name="T1" fmla="*/ 1 h 13"/>
                <a:gd name="T2" fmla="*/ 2 w 6"/>
                <a:gd name="T3" fmla="*/ 11 h 13"/>
                <a:gd name="T4" fmla="*/ 4 w 6"/>
                <a:gd name="T5" fmla="*/ 1 h 13"/>
                <a:gd name="T6" fmla="*/ 0 w 6"/>
                <a:gd name="T7" fmla="*/ 1 h 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"/>
                <a:gd name="T13" fmla="*/ 0 h 13"/>
                <a:gd name="T14" fmla="*/ 6 w 6"/>
                <a:gd name="T15" fmla="*/ 13 h 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" h="13">
                  <a:moveTo>
                    <a:pt x="0" y="1"/>
                  </a:moveTo>
                  <a:cubicBezTo>
                    <a:pt x="1" y="4"/>
                    <a:pt x="0" y="9"/>
                    <a:pt x="2" y="11"/>
                  </a:cubicBezTo>
                  <a:cubicBezTo>
                    <a:pt x="4" y="13"/>
                    <a:pt x="6" y="3"/>
                    <a:pt x="4" y="1"/>
                  </a:cubicBezTo>
                  <a:cubicBezTo>
                    <a:pt x="3" y="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Freeform 154"/>
            <p:cNvSpPr>
              <a:spLocks/>
            </p:cNvSpPr>
            <p:nvPr/>
          </p:nvSpPr>
          <p:spPr bwMode="auto">
            <a:xfrm rot="4531695">
              <a:off x="2908300" y="1944688"/>
              <a:ext cx="28575" cy="12700"/>
            </a:xfrm>
            <a:custGeom>
              <a:avLst/>
              <a:gdLst>
                <a:gd name="T0" fmla="*/ 12 w 18"/>
                <a:gd name="T1" fmla="*/ 0 h 8"/>
                <a:gd name="T2" fmla="*/ 8 w 18"/>
                <a:gd name="T3" fmla="*/ 8 h 8"/>
                <a:gd name="T4" fmla="*/ 12 w 18"/>
                <a:gd name="T5" fmla="*/ 0 h 8"/>
                <a:gd name="T6" fmla="*/ 0 60000 65536"/>
                <a:gd name="T7" fmla="*/ 0 60000 65536"/>
                <a:gd name="T8" fmla="*/ 0 60000 65536"/>
                <a:gd name="T9" fmla="*/ 0 w 18"/>
                <a:gd name="T10" fmla="*/ 0 h 8"/>
                <a:gd name="T11" fmla="*/ 18 w 18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8">
                  <a:moveTo>
                    <a:pt x="12" y="0"/>
                  </a:moveTo>
                  <a:cubicBezTo>
                    <a:pt x="6" y="1"/>
                    <a:pt x="0" y="4"/>
                    <a:pt x="8" y="8"/>
                  </a:cubicBezTo>
                  <a:cubicBezTo>
                    <a:pt x="11" y="7"/>
                    <a:pt x="18" y="3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Freeform 155"/>
            <p:cNvSpPr>
              <a:spLocks/>
            </p:cNvSpPr>
            <p:nvPr/>
          </p:nvSpPr>
          <p:spPr bwMode="auto">
            <a:xfrm rot="4531695">
              <a:off x="2878138" y="1916113"/>
              <a:ext cx="22225" cy="20638"/>
            </a:xfrm>
            <a:custGeom>
              <a:avLst/>
              <a:gdLst>
                <a:gd name="T0" fmla="*/ 0 w 14"/>
                <a:gd name="T1" fmla="*/ 0 h 13"/>
                <a:gd name="T2" fmla="*/ 0 w 14"/>
                <a:gd name="T3" fmla="*/ 0 h 13"/>
                <a:gd name="T4" fmla="*/ 0 60000 65536"/>
                <a:gd name="T5" fmla="*/ 0 60000 65536"/>
                <a:gd name="T6" fmla="*/ 0 w 14"/>
                <a:gd name="T7" fmla="*/ 0 h 13"/>
                <a:gd name="T8" fmla="*/ 14 w 14"/>
                <a:gd name="T9" fmla="*/ 13 h 1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" h="13">
                  <a:moveTo>
                    <a:pt x="0" y="0"/>
                  </a:moveTo>
                  <a:cubicBezTo>
                    <a:pt x="4" y="13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Freeform 156"/>
            <p:cNvSpPr>
              <a:spLocks/>
            </p:cNvSpPr>
            <p:nvPr/>
          </p:nvSpPr>
          <p:spPr bwMode="auto">
            <a:xfrm rot="4531695">
              <a:off x="3011488" y="2078038"/>
              <a:ext cx="19050" cy="14288"/>
            </a:xfrm>
            <a:custGeom>
              <a:avLst/>
              <a:gdLst>
                <a:gd name="T0" fmla="*/ 8 w 12"/>
                <a:gd name="T1" fmla="*/ 1 h 9"/>
                <a:gd name="T2" fmla="*/ 11 w 12"/>
                <a:gd name="T3" fmla="*/ 6 h 9"/>
                <a:gd name="T4" fmla="*/ 8 w 12"/>
                <a:gd name="T5" fmla="*/ 1 h 9"/>
                <a:gd name="T6" fmla="*/ 0 60000 65536"/>
                <a:gd name="T7" fmla="*/ 0 60000 65536"/>
                <a:gd name="T8" fmla="*/ 0 60000 65536"/>
                <a:gd name="T9" fmla="*/ 0 w 12"/>
                <a:gd name="T10" fmla="*/ 0 h 9"/>
                <a:gd name="T11" fmla="*/ 12 w 12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9">
                  <a:moveTo>
                    <a:pt x="8" y="1"/>
                  </a:moveTo>
                  <a:cubicBezTo>
                    <a:pt x="0" y="4"/>
                    <a:pt x="3" y="9"/>
                    <a:pt x="11" y="6"/>
                  </a:cubicBezTo>
                  <a:cubicBezTo>
                    <a:pt x="10" y="0"/>
                    <a:pt x="12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Freeform 157"/>
            <p:cNvSpPr>
              <a:spLocks/>
            </p:cNvSpPr>
            <p:nvPr/>
          </p:nvSpPr>
          <p:spPr bwMode="auto">
            <a:xfrm rot="4531695">
              <a:off x="2832100" y="1895475"/>
              <a:ext cx="12700" cy="7938"/>
            </a:xfrm>
            <a:custGeom>
              <a:avLst/>
              <a:gdLst>
                <a:gd name="T0" fmla="*/ 0 w 8"/>
                <a:gd name="T1" fmla="*/ 2 h 5"/>
                <a:gd name="T2" fmla="*/ 7 w 8"/>
                <a:gd name="T3" fmla="*/ 4 h 5"/>
                <a:gd name="T4" fmla="*/ 5 w 8"/>
                <a:gd name="T5" fmla="*/ 0 h 5"/>
                <a:gd name="T6" fmla="*/ 0 w 8"/>
                <a:gd name="T7" fmla="*/ 2 h 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5"/>
                <a:gd name="T14" fmla="*/ 8 w 8"/>
                <a:gd name="T15" fmla="*/ 5 h 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5">
                  <a:moveTo>
                    <a:pt x="0" y="2"/>
                  </a:moveTo>
                  <a:cubicBezTo>
                    <a:pt x="2" y="3"/>
                    <a:pt x="5" y="5"/>
                    <a:pt x="7" y="4"/>
                  </a:cubicBezTo>
                  <a:cubicBezTo>
                    <a:pt x="8" y="3"/>
                    <a:pt x="6" y="0"/>
                    <a:pt x="5" y="0"/>
                  </a:cubicBezTo>
                  <a:cubicBezTo>
                    <a:pt x="3" y="0"/>
                    <a:pt x="0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Freeform 158"/>
            <p:cNvSpPr>
              <a:spLocks/>
            </p:cNvSpPr>
            <p:nvPr/>
          </p:nvSpPr>
          <p:spPr bwMode="auto">
            <a:xfrm rot="4531695">
              <a:off x="2773363" y="1868488"/>
              <a:ext cx="15875" cy="14288"/>
            </a:xfrm>
            <a:custGeom>
              <a:avLst/>
              <a:gdLst>
                <a:gd name="T0" fmla="*/ 3 w 10"/>
                <a:gd name="T1" fmla="*/ 0 h 9"/>
                <a:gd name="T2" fmla="*/ 1 w 10"/>
                <a:gd name="T3" fmla="*/ 5 h 9"/>
                <a:gd name="T4" fmla="*/ 6 w 10"/>
                <a:gd name="T5" fmla="*/ 7 h 9"/>
                <a:gd name="T6" fmla="*/ 3 w 1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"/>
                <a:gd name="T13" fmla="*/ 0 h 9"/>
                <a:gd name="T14" fmla="*/ 10 w 10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" h="9">
                  <a:moveTo>
                    <a:pt x="3" y="0"/>
                  </a:moveTo>
                  <a:cubicBezTo>
                    <a:pt x="2" y="2"/>
                    <a:pt x="0" y="3"/>
                    <a:pt x="1" y="5"/>
                  </a:cubicBezTo>
                  <a:cubicBezTo>
                    <a:pt x="2" y="7"/>
                    <a:pt x="5" y="9"/>
                    <a:pt x="6" y="7"/>
                  </a:cubicBezTo>
                  <a:cubicBezTo>
                    <a:pt x="10" y="0"/>
                    <a:pt x="6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Freeform 159"/>
            <p:cNvSpPr>
              <a:spLocks/>
            </p:cNvSpPr>
            <p:nvPr/>
          </p:nvSpPr>
          <p:spPr bwMode="auto">
            <a:xfrm rot="4531695">
              <a:off x="2744788" y="1816100"/>
              <a:ext cx="20638" cy="12700"/>
            </a:xfrm>
            <a:custGeom>
              <a:avLst/>
              <a:gdLst>
                <a:gd name="T0" fmla="*/ 0 w 13"/>
                <a:gd name="T1" fmla="*/ 0 h 8"/>
                <a:gd name="T2" fmla="*/ 13 w 13"/>
                <a:gd name="T3" fmla="*/ 5 h 8"/>
                <a:gd name="T4" fmla="*/ 0 w 13"/>
                <a:gd name="T5" fmla="*/ 0 h 8"/>
                <a:gd name="T6" fmla="*/ 0 60000 65536"/>
                <a:gd name="T7" fmla="*/ 0 60000 65536"/>
                <a:gd name="T8" fmla="*/ 0 60000 65536"/>
                <a:gd name="T9" fmla="*/ 0 w 13"/>
                <a:gd name="T10" fmla="*/ 0 h 8"/>
                <a:gd name="T11" fmla="*/ 13 w 13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8">
                  <a:moveTo>
                    <a:pt x="0" y="0"/>
                  </a:moveTo>
                  <a:cubicBezTo>
                    <a:pt x="3" y="8"/>
                    <a:pt x="5" y="8"/>
                    <a:pt x="13" y="5"/>
                  </a:cubicBezTo>
                  <a:cubicBezTo>
                    <a:pt x="9" y="3"/>
                    <a:pt x="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Freeform 160"/>
            <p:cNvSpPr>
              <a:spLocks/>
            </p:cNvSpPr>
            <p:nvPr/>
          </p:nvSpPr>
          <p:spPr bwMode="auto">
            <a:xfrm rot="4531695">
              <a:off x="2709863" y="1812925"/>
              <a:ext cx="23813" cy="17463"/>
            </a:xfrm>
            <a:custGeom>
              <a:avLst/>
              <a:gdLst>
                <a:gd name="T0" fmla="*/ 0 w 15"/>
                <a:gd name="T1" fmla="*/ 2 h 11"/>
                <a:gd name="T2" fmla="*/ 11 w 15"/>
                <a:gd name="T3" fmla="*/ 0 h 11"/>
                <a:gd name="T4" fmla="*/ 0 w 15"/>
                <a:gd name="T5" fmla="*/ 2 h 11"/>
                <a:gd name="T6" fmla="*/ 0 60000 65536"/>
                <a:gd name="T7" fmla="*/ 0 60000 65536"/>
                <a:gd name="T8" fmla="*/ 0 60000 65536"/>
                <a:gd name="T9" fmla="*/ 0 w 15"/>
                <a:gd name="T10" fmla="*/ 0 h 11"/>
                <a:gd name="T11" fmla="*/ 15 w 15"/>
                <a:gd name="T12" fmla="*/ 11 h 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1">
                  <a:moveTo>
                    <a:pt x="0" y="2"/>
                  </a:moveTo>
                  <a:cubicBezTo>
                    <a:pt x="2" y="11"/>
                    <a:pt x="15" y="10"/>
                    <a:pt x="11" y="0"/>
                  </a:cubicBezTo>
                  <a:cubicBezTo>
                    <a:pt x="0" y="4"/>
                    <a:pt x="3" y="7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Freeform 161"/>
            <p:cNvSpPr>
              <a:spLocks/>
            </p:cNvSpPr>
            <p:nvPr/>
          </p:nvSpPr>
          <p:spPr bwMode="auto">
            <a:xfrm rot="4531695">
              <a:off x="2574925" y="1757363"/>
              <a:ext cx="20638" cy="14288"/>
            </a:xfrm>
            <a:custGeom>
              <a:avLst/>
              <a:gdLst>
                <a:gd name="T0" fmla="*/ 4 w 13"/>
                <a:gd name="T1" fmla="*/ 1 h 9"/>
                <a:gd name="T2" fmla="*/ 10 w 13"/>
                <a:gd name="T3" fmla="*/ 7 h 9"/>
                <a:gd name="T4" fmla="*/ 4 w 13"/>
                <a:gd name="T5" fmla="*/ 1 h 9"/>
                <a:gd name="T6" fmla="*/ 0 60000 65536"/>
                <a:gd name="T7" fmla="*/ 0 60000 65536"/>
                <a:gd name="T8" fmla="*/ 0 60000 65536"/>
                <a:gd name="T9" fmla="*/ 0 w 13"/>
                <a:gd name="T10" fmla="*/ 0 h 9"/>
                <a:gd name="T11" fmla="*/ 13 w 13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9">
                  <a:moveTo>
                    <a:pt x="4" y="1"/>
                  </a:moveTo>
                  <a:cubicBezTo>
                    <a:pt x="0" y="8"/>
                    <a:pt x="3" y="9"/>
                    <a:pt x="10" y="7"/>
                  </a:cubicBezTo>
                  <a:cubicBezTo>
                    <a:pt x="13" y="0"/>
                    <a:pt x="10" y="1"/>
                    <a:pt x="4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Freeform 162"/>
            <p:cNvSpPr>
              <a:spLocks/>
            </p:cNvSpPr>
            <p:nvPr/>
          </p:nvSpPr>
          <p:spPr bwMode="auto">
            <a:xfrm rot="4531695">
              <a:off x="2682875" y="1731963"/>
              <a:ext cx="26988" cy="14288"/>
            </a:xfrm>
            <a:custGeom>
              <a:avLst/>
              <a:gdLst>
                <a:gd name="T0" fmla="*/ 10 w 17"/>
                <a:gd name="T1" fmla="*/ 1 h 9"/>
                <a:gd name="T2" fmla="*/ 15 w 17"/>
                <a:gd name="T3" fmla="*/ 7 h 9"/>
                <a:gd name="T4" fmla="*/ 16 w 17"/>
                <a:gd name="T5" fmla="*/ 2 h 9"/>
                <a:gd name="T6" fmla="*/ 10 w 17"/>
                <a:gd name="T7" fmla="*/ 1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9"/>
                <a:gd name="T14" fmla="*/ 17 w 17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9">
                  <a:moveTo>
                    <a:pt x="10" y="1"/>
                  </a:moveTo>
                  <a:cubicBezTo>
                    <a:pt x="0" y="7"/>
                    <a:pt x="2" y="9"/>
                    <a:pt x="15" y="7"/>
                  </a:cubicBezTo>
                  <a:cubicBezTo>
                    <a:pt x="15" y="5"/>
                    <a:pt x="17" y="3"/>
                    <a:pt x="16" y="2"/>
                  </a:cubicBezTo>
                  <a:cubicBezTo>
                    <a:pt x="15" y="0"/>
                    <a:pt x="10" y="1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Freeform 163"/>
            <p:cNvSpPr>
              <a:spLocks/>
            </p:cNvSpPr>
            <p:nvPr/>
          </p:nvSpPr>
          <p:spPr bwMode="auto">
            <a:xfrm>
              <a:off x="2614613" y="1712913"/>
              <a:ext cx="23813" cy="14288"/>
            </a:xfrm>
            <a:custGeom>
              <a:avLst/>
              <a:gdLst>
                <a:gd name="T0" fmla="*/ 1 w 15"/>
                <a:gd name="T1" fmla="*/ 4 h 9"/>
                <a:gd name="T2" fmla="*/ 9 w 15"/>
                <a:gd name="T3" fmla="*/ 8 h 9"/>
                <a:gd name="T4" fmla="*/ 1 w 15"/>
                <a:gd name="T5" fmla="*/ 4 h 9"/>
                <a:gd name="T6" fmla="*/ 0 60000 65536"/>
                <a:gd name="T7" fmla="*/ 0 60000 65536"/>
                <a:gd name="T8" fmla="*/ 0 60000 65536"/>
                <a:gd name="T9" fmla="*/ 0 w 15"/>
                <a:gd name="T10" fmla="*/ 0 h 9"/>
                <a:gd name="T11" fmla="*/ 15 w 15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9">
                  <a:moveTo>
                    <a:pt x="1" y="4"/>
                  </a:moveTo>
                  <a:cubicBezTo>
                    <a:pt x="6" y="3"/>
                    <a:pt x="15" y="0"/>
                    <a:pt x="9" y="8"/>
                  </a:cubicBezTo>
                  <a:cubicBezTo>
                    <a:pt x="0" y="6"/>
                    <a:pt x="1" y="9"/>
                    <a:pt x="1" y="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Freeform 164"/>
            <p:cNvSpPr>
              <a:spLocks/>
            </p:cNvSpPr>
            <p:nvPr/>
          </p:nvSpPr>
          <p:spPr bwMode="auto">
            <a:xfrm>
              <a:off x="2073275" y="1974851"/>
              <a:ext cx="25400" cy="17463"/>
            </a:xfrm>
            <a:custGeom>
              <a:avLst/>
              <a:gdLst>
                <a:gd name="T0" fmla="*/ 12 w 16"/>
                <a:gd name="T1" fmla="*/ 1 h 11"/>
                <a:gd name="T2" fmla="*/ 8 w 16"/>
                <a:gd name="T3" fmla="*/ 9 h 11"/>
                <a:gd name="T4" fmla="*/ 0 w 16"/>
                <a:gd name="T5" fmla="*/ 3 h 11"/>
                <a:gd name="T6" fmla="*/ 12 w 16"/>
                <a:gd name="T7" fmla="*/ 1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"/>
                <a:gd name="T13" fmla="*/ 0 h 11"/>
                <a:gd name="T14" fmla="*/ 16 w 16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" h="11">
                  <a:moveTo>
                    <a:pt x="12" y="1"/>
                  </a:moveTo>
                  <a:cubicBezTo>
                    <a:pt x="12" y="3"/>
                    <a:pt x="16" y="11"/>
                    <a:pt x="8" y="9"/>
                  </a:cubicBezTo>
                  <a:cubicBezTo>
                    <a:pt x="5" y="8"/>
                    <a:pt x="0" y="3"/>
                    <a:pt x="0" y="3"/>
                  </a:cubicBezTo>
                  <a:cubicBezTo>
                    <a:pt x="6" y="0"/>
                    <a:pt x="6" y="4"/>
                    <a:pt x="12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Freeform 165"/>
            <p:cNvSpPr>
              <a:spLocks/>
            </p:cNvSpPr>
            <p:nvPr/>
          </p:nvSpPr>
          <p:spPr bwMode="auto">
            <a:xfrm>
              <a:off x="2533650" y="1725613"/>
              <a:ext cx="23813" cy="17463"/>
            </a:xfrm>
            <a:custGeom>
              <a:avLst/>
              <a:gdLst>
                <a:gd name="T0" fmla="*/ 12 w 15"/>
                <a:gd name="T1" fmla="*/ 0 h 11"/>
                <a:gd name="T2" fmla="*/ 8 w 15"/>
                <a:gd name="T3" fmla="*/ 11 h 11"/>
                <a:gd name="T4" fmla="*/ 12 w 15"/>
                <a:gd name="T5" fmla="*/ 0 h 11"/>
                <a:gd name="T6" fmla="*/ 0 60000 65536"/>
                <a:gd name="T7" fmla="*/ 0 60000 65536"/>
                <a:gd name="T8" fmla="*/ 0 60000 65536"/>
                <a:gd name="T9" fmla="*/ 0 w 15"/>
                <a:gd name="T10" fmla="*/ 0 h 11"/>
                <a:gd name="T11" fmla="*/ 15 w 15"/>
                <a:gd name="T12" fmla="*/ 11 h 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" h="11">
                  <a:moveTo>
                    <a:pt x="12" y="0"/>
                  </a:moveTo>
                  <a:cubicBezTo>
                    <a:pt x="15" y="6"/>
                    <a:pt x="13" y="7"/>
                    <a:pt x="8" y="11"/>
                  </a:cubicBezTo>
                  <a:cubicBezTo>
                    <a:pt x="0" y="7"/>
                    <a:pt x="5" y="1"/>
                    <a:pt x="12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Freeform 166"/>
            <p:cNvSpPr>
              <a:spLocks/>
            </p:cNvSpPr>
            <p:nvPr/>
          </p:nvSpPr>
          <p:spPr bwMode="auto">
            <a:xfrm>
              <a:off x="2200275" y="1895476"/>
              <a:ext cx="15875" cy="12700"/>
            </a:xfrm>
            <a:custGeom>
              <a:avLst/>
              <a:gdLst>
                <a:gd name="T0" fmla="*/ 2 w 10"/>
                <a:gd name="T1" fmla="*/ 0 h 8"/>
                <a:gd name="T2" fmla="*/ 0 w 10"/>
                <a:gd name="T3" fmla="*/ 5 h 8"/>
                <a:gd name="T4" fmla="*/ 2 w 10"/>
                <a:gd name="T5" fmla="*/ 0 h 8"/>
                <a:gd name="T6" fmla="*/ 0 60000 65536"/>
                <a:gd name="T7" fmla="*/ 0 60000 65536"/>
                <a:gd name="T8" fmla="*/ 0 60000 65536"/>
                <a:gd name="T9" fmla="*/ 0 w 10"/>
                <a:gd name="T10" fmla="*/ 0 h 8"/>
                <a:gd name="T11" fmla="*/ 10 w 10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8">
                  <a:moveTo>
                    <a:pt x="2" y="0"/>
                  </a:moveTo>
                  <a:cubicBezTo>
                    <a:pt x="10" y="3"/>
                    <a:pt x="8" y="8"/>
                    <a:pt x="0" y="5"/>
                  </a:cubicBezTo>
                  <a:cubicBezTo>
                    <a:pt x="1" y="3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Freeform 167"/>
            <p:cNvSpPr>
              <a:spLocks/>
            </p:cNvSpPr>
            <p:nvPr/>
          </p:nvSpPr>
          <p:spPr bwMode="auto">
            <a:xfrm>
              <a:off x="2276475" y="1835151"/>
              <a:ext cx="9525" cy="20638"/>
            </a:xfrm>
            <a:custGeom>
              <a:avLst/>
              <a:gdLst>
                <a:gd name="T0" fmla="*/ 0 w 6"/>
                <a:gd name="T1" fmla="*/ 1 h 13"/>
                <a:gd name="T2" fmla="*/ 2 w 6"/>
                <a:gd name="T3" fmla="*/ 11 h 13"/>
                <a:gd name="T4" fmla="*/ 4 w 6"/>
                <a:gd name="T5" fmla="*/ 1 h 13"/>
                <a:gd name="T6" fmla="*/ 0 w 6"/>
                <a:gd name="T7" fmla="*/ 1 h 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"/>
                <a:gd name="T13" fmla="*/ 0 h 13"/>
                <a:gd name="T14" fmla="*/ 6 w 6"/>
                <a:gd name="T15" fmla="*/ 13 h 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" h="13">
                  <a:moveTo>
                    <a:pt x="0" y="1"/>
                  </a:moveTo>
                  <a:cubicBezTo>
                    <a:pt x="1" y="4"/>
                    <a:pt x="0" y="9"/>
                    <a:pt x="2" y="11"/>
                  </a:cubicBezTo>
                  <a:cubicBezTo>
                    <a:pt x="4" y="13"/>
                    <a:pt x="6" y="3"/>
                    <a:pt x="4" y="1"/>
                  </a:cubicBezTo>
                  <a:cubicBezTo>
                    <a:pt x="3" y="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Freeform 168"/>
            <p:cNvSpPr>
              <a:spLocks/>
            </p:cNvSpPr>
            <p:nvPr/>
          </p:nvSpPr>
          <p:spPr bwMode="auto">
            <a:xfrm>
              <a:off x="2292350" y="1852613"/>
              <a:ext cx="26988" cy="17463"/>
            </a:xfrm>
            <a:custGeom>
              <a:avLst/>
              <a:gdLst>
                <a:gd name="T0" fmla="*/ 5 w 17"/>
                <a:gd name="T1" fmla="*/ 0 h 11"/>
                <a:gd name="T2" fmla="*/ 8 w 17"/>
                <a:gd name="T3" fmla="*/ 11 h 11"/>
                <a:gd name="T4" fmla="*/ 6 w 17"/>
                <a:gd name="T5" fmla="*/ 5 h 11"/>
                <a:gd name="T6" fmla="*/ 5 w 17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11"/>
                <a:gd name="T14" fmla="*/ 17 w 17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11">
                  <a:moveTo>
                    <a:pt x="5" y="0"/>
                  </a:moveTo>
                  <a:cubicBezTo>
                    <a:pt x="1" y="6"/>
                    <a:pt x="0" y="9"/>
                    <a:pt x="8" y="11"/>
                  </a:cubicBezTo>
                  <a:cubicBezTo>
                    <a:pt x="17" y="9"/>
                    <a:pt x="11" y="6"/>
                    <a:pt x="6" y="5"/>
                  </a:cubicBezTo>
                  <a:cubicBezTo>
                    <a:pt x="1" y="1"/>
                    <a:pt x="1" y="3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Freeform 169"/>
            <p:cNvSpPr>
              <a:spLocks/>
            </p:cNvSpPr>
            <p:nvPr/>
          </p:nvSpPr>
          <p:spPr bwMode="auto">
            <a:xfrm>
              <a:off x="2325688" y="1819276"/>
              <a:ext cx="14288" cy="15875"/>
            </a:xfrm>
            <a:custGeom>
              <a:avLst/>
              <a:gdLst>
                <a:gd name="T0" fmla="*/ 0 w 9"/>
                <a:gd name="T1" fmla="*/ 2 h 10"/>
                <a:gd name="T2" fmla="*/ 6 w 9"/>
                <a:gd name="T3" fmla="*/ 0 h 10"/>
                <a:gd name="T4" fmla="*/ 0 w 9"/>
                <a:gd name="T5" fmla="*/ 2 h 10"/>
                <a:gd name="T6" fmla="*/ 0 60000 65536"/>
                <a:gd name="T7" fmla="*/ 0 60000 65536"/>
                <a:gd name="T8" fmla="*/ 0 60000 65536"/>
                <a:gd name="T9" fmla="*/ 0 w 9"/>
                <a:gd name="T10" fmla="*/ 0 h 10"/>
                <a:gd name="T11" fmla="*/ 9 w 9"/>
                <a:gd name="T12" fmla="*/ 10 h 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" h="10">
                  <a:moveTo>
                    <a:pt x="0" y="2"/>
                  </a:moveTo>
                  <a:cubicBezTo>
                    <a:pt x="2" y="10"/>
                    <a:pt x="9" y="8"/>
                    <a:pt x="6" y="0"/>
                  </a:cubicBezTo>
                  <a:cubicBezTo>
                    <a:pt x="4" y="1"/>
                    <a:pt x="0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Freeform 170"/>
            <p:cNvSpPr>
              <a:spLocks/>
            </p:cNvSpPr>
            <p:nvPr/>
          </p:nvSpPr>
          <p:spPr bwMode="auto">
            <a:xfrm>
              <a:off x="2333625" y="1770063"/>
              <a:ext cx="14288" cy="25400"/>
            </a:xfrm>
            <a:custGeom>
              <a:avLst/>
              <a:gdLst>
                <a:gd name="T0" fmla="*/ 6 w 9"/>
                <a:gd name="T1" fmla="*/ 1 h 16"/>
                <a:gd name="T2" fmla="*/ 1 w 9"/>
                <a:gd name="T3" fmla="*/ 2 h 16"/>
                <a:gd name="T4" fmla="*/ 8 w 9"/>
                <a:gd name="T5" fmla="*/ 12 h 16"/>
                <a:gd name="T6" fmla="*/ 6 w 9"/>
                <a:gd name="T7" fmla="*/ 1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"/>
                <a:gd name="T13" fmla="*/ 0 h 16"/>
                <a:gd name="T14" fmla="*/ 9 w 9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" h="16">
                  <a:moveTo>
                    <a:pt x="6" y="1"/>
                  </a:moveTo>
                  <a:cubicBezTo>
                    <a:pt x="4" y="1"/>
                    <a:pt x="2" y="0"/>
                    <a:pt x="1" y="2"/>
                  </a:cubicBezTo>
                  <a:cubicBezTo>
                    <a:pt x="0" y="6"/>
                    <a:pt x="7" y="16"/>
                    <a:pt x="8" y="12"/>
                  </a:cubicBezTo>
                  <a:cubicBezTo>
                    <a:pt x="9" y="9"/>
                    <a:pt x="7" y="5"/>
                    <a:pt x="6" y="1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Freeform 171"/>
            <p:cNvSpPr>
              <a:spLocks/>
            </p:cNvSpPr>
            <p:nvPr/>
          </p:nvSpPr>
          <p:spPr bwMode="auto">
            <a:xfrm>
              <a:off x="2413000" y="1793876"/>
              <a:ext cx="28575" cy="15875"/>
            </a:xfrm>
            <a:custGeom>
              <a:avLst/>
              <a:gdLst>
                <a:gd name="T0" fmla="*/ 9 w 18"/>
                <a:gd name="T1" fmla="*/ 0 h 10"/>
                <a:gd name="T2" fmla="*/ 7 w 18"/>
                <a:gd name="T3" fmla="*/ 10 h 10"/>
                <a:gd name="T4" fmla="*/ 9 w 18"/>
                <a:gd name="T5" fmla="*/ 0 h 10"/>
                <a:gd name="T6" fmla="*/ 0 60000 65536"/>
                <a:gd name="T7" fmla="*/ 0 60000 65536"/>
                <a:gd name="T8" fmla="*/ 0 60000 65536"/>
                <a:gd name="T9" fmla="*/ 0 w 18"/>
                <a:gd name="T10" fmla="*/ 0 h 10"/>
                <a:gd name="T11" fmla="*/ 18 w 18"/>
                <a:gd name="T12" fmla="*/ 10 h 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10">
                  <a:moveTo>
                    <a:pt x="9" y="0"/>
                  </a:moveTo>
                  <a:cubicBezTo>
                    <a:pt x="2" y="3"/>
                    <a:pt x="0" y="6"/>
                    <a:pt x="7" y="10"/>
                  </a:cubicBezTo>
                  <a:cubicBezTo>
                    <a:pt x="17" y="8"/>
                    <a:pt x="18" y="5"/>
                    <a:pt x="9" y="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Freeform 172"/>
            <p:cNvSpPr>
              <a:spLocks/>
            </p:cNvSpPr>
            <p:nvPr/>
          </p:nvSpPr>
          <p:spPr bwMode="auto">
            <a:xfrm>
              <a:off x="2416175" y="1743076"/>
              <a:ext cx="19050" cy="12700"/>
            </a:xfrm>
            <a:custGeom>
              <a:avLst/>
              <a:gdLst>
                <a:gd name="T0" fmla="*/ 5 w 12"/>
                <a:gd name="T1" fmla="*/ 0 h 8"/>
                <a:gd name="T2" fmla="*/ 12 w 12"/>
                <a:gd name="T3" fmla="*/ 7 h 8"/>
                <a:gd name="T4" fmla="*/ 5 w 12"/>
                <a:gd name="T5" fmla="*/ 0 h 8"/>
                <a:gd name="T6" fmla="*/ 0 60000 65536"/>
                <a:gd name="T7" fmla="*/ 0 60000 65536"/>
                <a:gd name="T8" fmla="*/ 0 60000 65536"/>
                <a:gd name="T9" fmla="*/ 0 w 12"/>
                <a:gd name="T10" fmla="*/ 0 h 8"/>
                <a:gd name="T11" fmla="*/ 12 w 1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8">
                  <a:moveTo>
                    <a:pt x="5" y="0"/>
                  </a:moveTo>
                  <a:cubicBezTo>
                    <a:pt x="0" y="8"/>
                    <a:pt x="5" y="8"/>
                    <a:pt x="12" y="7"/>
                  </a:cubicBezTo>
                  <a:cubicBezTo>
                    <a:pt x="6" y="4"/>
                    <a:pt x="9" y="6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Freeform 173"/>
            <p:cNvSpPr>
              <a:spLocks/>
            </p:cNvSpPr>
            <p:nvPr/>
          </p:nvSpPr>
          <p:spPr bwMode="auto">
            <a:xfrm>
              <a:off x="2441575" y="1704976"/>
              <a:ext cx="15875" cy="14288"/>
            </a:xfrm>
            <a:custGeom>
              <a:avLst/>
              <a:gdLst>
                <a:gd name="T0" fmla="*/ 0 w 10"/>
                <a:gd name="T1" fmla="*/ 3 h 9"/>
                <a:gd name="T2" fmla="*/ 2 w 10"/>
                <a:gd name="T3" fmla="*/ 7 h 9"/>
                <a:gd name="T4" fmla="*/ 0 w 10"/>
                <a:gd name="T5" fmla="*/ 3 h 9"/>
                <a:gd name="T6" fmla="*/ 0 60000 65536"/>
                <a:gd name="T7" fmla="*/ 0 60000 65536"/>
                <a:gd name="T8" fmla="*/ 0 60000 65536"/>
                <a:gd name="T9" fmla="*/ 0 w 10"/>
                <a:gd name="T10" fmla="*/ 0 h 9"/>
                <a:gd name="T11" fmla="*/ 10 w 10"/>
                <a:gd name="T12" fmla="*/ 9 h 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9">
                  <a:moveTo>
                    <a:pt x="0" y="3"/>
                  </a:moveTo>
                  <a:cubicBezTo>
                    <a:pt x="1" y="4"/>
                    <a:pt x="1" y="7"/>
                    <a:pt x="2" y="7"/>
                  </a:cubicBezTo>
                  <a:cubicBezTo>
                    <a:pt x="10" y="9"/>
                    <a:pt x="6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Freeform 174"/>
            <p:cNvSpPr>
              <a:spLocks/>
            </p:cNvSpPr>
            <p:nvPr/>
          </p:nvSpPr>
          <p:spPr bwMode="auto">
            <a:xfrm>
              <a:off x="2481263" y="1690688"/>
              <a:ext cx="19050" cy="19050"/>
            </a:xfrm>
            <a:custGeom>
              <a:avLst/>
              <a:gdLst>
                <a:gd name="T0" fmla="*/ 6 w 12"/>
                <a:gd name="T1" fmla="*/ 3 h 12"/>
                <a:gd name="T2" fmla="*/ 12 w 12"/>
                <a:gd name="T3" fmla="*/ 4 h 12"/>
                <a:gd name="T4" fmla="*/ 6 w 12"/>
                <a:gd name="T5" fmla="*/ 3 h 12"/>
                <a:gd name="T6" fmla="*/ 0 60000 65536"/>
                <a:gd name="T7" fmla="*/ 0 60000 65536"/>
                <a:gd name="T8" fmla="*/ 0 60000 65536"/>
                <a:gd name="T9" fmla="*/ 0 w 12"/>
                <a:gd name="T10" fmla="*/ 0 h 12"/>
                <a:gd name="T11" fmla="*/ 12 w 12"/>
                <a:gd name="T12" fmla="*/ 12 h 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12">
                  <a:moveTo>
                    <a:pt x="6" y="3"/>
                  </a:moveTo>
                  <a:cubicBezTo>
                    <a:pt x="2" y="12"/>
                    <a:pt x="9" y="9"/>
                    <a:pt x="12" y="4"/>
                  </a:cubicBezTo>
                  <a:cubicBezTo>
                    <a:pt x="6" y="0"/>
                    <a:pt x="0" y="3"/>
                    <a:pt x="6" y="3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Freeform 175"/>
            <p:cNvSpPr>
              <a:spLocks/>
            </p:cNvSpPr>
            <p:nvPr/>
          </p:nvSpPr>
          <p:spPr bwMode="auto">
            <a:xfrm>
              <a:off x="2643188" y="1765301"/>
              <a:ext cx="28575" cy="12700"/>
            </a:xfrm>
            <a:custGeom>
              <a:avLst/>
              <a:gdLst>
                <a:gd name="T0" fmla="*/ 12 w 18"/>
                <a:gd name="T1" fmla="*/ 0 h 8"/>
                <a:gd name="T2" fmla="*/ 8 w 18"/>
                <a:gd name="T3" fmla="*/ 8 h 8"/>
                <a:gd name="T4" fmla="*/ 12 w 18"/>
                <a:gd name="T5" fmla="*/ 0 h 8"/>
                <a:gd name="T6" fmla="*/ 0 60000 65536"/>
                <a:gd name="T7" fmla="*/ 0 60000 65536"/>
                <a:gd name="T8" fmla="*/ 0 60000 65536"/>
                <a:gd name="T9" fmla="*/ 0 w 18"/>
                <a:gd name="T10" fmla="*/ 0 h 8"/>
                <a:gd name="T11" fmla="*/ 18 w 18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8">
                  <a:moveTo>
                    <a:pt x="12" y="0"/>
                  </a:moveTo>
                  <a:cubicBezTo>
                    <a:pt x="6" y="1"/>
                    <a:pt x="0" y="4"/>
                    <a:pt x="8" y="8"/>
                  </a:cubicBezTo>
                  <a:cubicBezTo>
                    <a:pt x="11" y="7"/>
                    <a:pt x="18" y="3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Freeform 176"/>
            <p:cNvSpPr>
              <a:spLocks/>
            </p:cNvSpPr>
            <p:nvPr/>
          </p:nvSpPr>
          <p:spPr bwMode="auto">
            <a:xfrm>
              <a:off x="3105150" y="2155826"/>
              <a:ext cx="14288" cy="15875"/>
            </a:xfrm>
            <a:custGeom>
              <a:avLst/>
              <a:gdLst>
                <a:gd name="T0" fmla="*/ 0 w 9"/>
                <a:gd name="T1" fmla="*/ 2 h 10"/>
                <a:gd name="T2" fmla="*/ 6 w 9"/>
                <a:gd name="T3" fmla="*/ 0 h 10"/>
                <a:gd name="T4" fmla="*/ 0 w 9"/>
                <a:gd name="T5" fmla="*/ 2 h 10"/>
                <a:gd name="T6" fmla="*/ 0 60000 65536"/>
                <a:gd name="T7" fmla="*/ 0 60000 65536"/>
                <a:gd name="T8" fmla="*/ 0 60000 65536"/>
                <a:gd name="T9" fmla="*/ 0 w 9"/>
                <a:gd name="T10" fmla="*/ 0 h 10"/>
                <a:gd name="T11" fmla="*/ 9 w 9"/>
                <a:gd name="T12" fmla="*/ 10 h 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" h="10">
                  <a:moveTo>
                    <a:pt x="0" y="2"/>
                  </a:moveTo>
                  <a:cubicBezTo>
                    <a:pt x="2" y="10"/>
                    <a:pt x="9" y="8"/>
                    <a:pt x="6" y="0"/>
                  </a:cubicBezTo>
                  <a:cubicBezTo>
                    <a:pt x="4" y="1"/>
                    <a:pt x="0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Freeform 177"/>
            <p:cNvSpPr>
              <a:spLocks/>
            </p:cNvSpPr>
            <p:nvPr/>
          </p:nvSpPr>
          <p:spPr bwMode="auto">
            <a:xfrm>
              <a:off x="2668588" y="1711326"/>
              <a:ext cx="14288" cy="15875"/>
            </a:xfrm>
            <a:custGeom>
              <a:avLst/>
              <a:gdLst>
                <a:gd name="T0" fmla="*/ 0 w 9"/>
                <a:gd name="T1" fmla="*/ 2 h 10"/>
                <a:gd name="T2" fmla="*/ 6 w 9"/>
                <a:gd name="T3" fmla="*/ 0 h 10"/>
                <a:gd name="T4" fmla="*/ 0 w 9"/>
                <a:gd name="T5" fmla="*/ 2 h 10"/>
                <a:gd name="T6" fmla="*/ 0 60000 65536"/>
                <a:gd name="T7" fmla="*/ 0 60000 65536"/>
                <a:gd name="T8" fmla="*/ 0 60000 65536"/>
                <a:gd name="T9" fmla="*/ 0 w 9"/>
                <a:gd name="T10" fmla="*/ 0 h 10"/>
                <a:gd name="T11" fmla="*/ 9 w 9"/>
                <a:gd name="T12" fmla="*/ 10 h 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" h="10">
                  <a:moveTo>
                    <a:pt x="0" y="2"/>
                  </a:moveTo>
                  <a:cubicBezTo>
                    <a:pt x="2" y="10"/>
                    <a:pt x="9" y="8"/>
                    <a:pt x="6" y="0"/>
                  </a:cubicBezTo>
                  <a:cubicBezTo>
                    <a:pt x="4" y="1"/>
                    <a:pt x="0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1" name="组合 300"/>
          <p:cNvGrpSpPr/>
          <p:nvPr/>
        </p:nvGrpSpPr>
        <p:grpSpPr>
          <a:xfrm>
            <a:off x="2468563" y="1073151"/>
            <a:ext cx="296862" cy="838200"/>
            <a:chOff x="2354263" y="857251"/>
            <a:chExt cx="296862" cy="838200"/>
          </a:xfrm>
        </p:grpSpPr>
        <p:sp>
          <p:nvSpPr>
            <p:cNvPr id="302" name="Freeform 178"/>
            <p:cNvSpPr>
              <a:spLocks/>
            </p:cNvSpPr>
            <p:nvPr/>
          </p:nvSpPr>
          <p:spPr bwMode="auto">
            <a:xfrm>
              <a:off x="2371725" y="857251"/>
              <a:ext cx="279400" cy="476250"/>
            </a:xfrm>
            <a:custGeom>
              <a:avLst/>
              <a:gdLst>
                <a:gd name="T0" fmla="*/ 0 w 176"/>
                <a:gd name="T1" fmla="*/ 0 h 300"/>
                <a:gd name="T2" fmla="*/ 0 w 176"/>
                <a:gd name="T3" fmla="*/ 300 h 300"/>
                <a:gd name="T4" fmla="*/ 176 w 176"/>
                <a:gd name="T5" fmla="*/ 300 h 300"/>
                <a:gd name="T6" fmla="*/ 176 w 176"/>
                <a:gd name="T7" fmla="*/ 9 h 3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6"/>
                <a:gd name="T13" fmla="*/ 0 h 300"/>
                <a:gd name="T14" fmla="*/ 176 w 176"/>
                <a:gd name="T15" fmla="*/ 300 h 3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6" h="300">
                  <a:moveTo>
                    <a:pt x="0" y="0"/>
                  </a:moveTo>
                  <a:lnTo>
                    <a:pt x="0" y="300"/>
                  </a:lnTo>
                  <a:lnTo>
                    <a:pt x="176" y="300"/>
                  </a:lnTo>
                  <a:lnTo>
                    <a:pt x="176" y="9"/>
                  </a:lnTo>
                </a:path>
              </a:pathLst>
            </a:custGeom>
            <a:solidFill>
              <a:srgbClr val="99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3" name="组合 302"/>
            <p:cNvGrpSpPr/>
            <p:nvPr/>
          </p:nvGrpSpPr>
          <p:grpSpPr>
            <a:xfrm>
              <a:off x="2354263" y="1333501"/>
              <a:ext cx="296862" cy="361950"/>
              <a:chOff x="2354263" y="1333501"/>
              <a:chExt cx="296862" cy="361950"/>
            </a:xfrm>
          </p:grpSpPr>
          <p:sp>
            <p:nvSpPr>
              <p:cNvPr id="304" name="Freeform 179"/>
              <p:cNvSpPr>
                <a:spLocks/>
              </p:cNvSpPr>
              <p:nvPr/>
            </p:nvSpPr>
            <p:spPr bwMode="auto">
              <a:xfrm>
                <a:off x="2354263" y="1333501"/>
                <a:ext cx="39688" cy="361950"/>
              </a:xfrm>
              <a:custGeom>
                <a:avLst/>
                <a:gdLst>
                  <a:gd name="T0" fmla="*/ 23 w 25"/>
                  <a:gd name="T1" fmla="*/ 0 h 228"/>
                  <a:gd name="T2" fmla="*/ 21 w 25"/>
                  <a:gd name="T3" fmla="*/ 95 h 228"/>
                  <a:gd name="T4" fmla="*/ 0 w 25"/>
                  <a:gd name="T5" fmla="*/ 228 h 228"/>
                  <a:gd name="T6" fmla="*/ 0 60000 65536"/>
                  <a:gd name="T7" fmla="*/ 0 60000 65536"/>
                  <a:gd name="T8" fmla="*/ 0 60000 65536"/>
                  <a:gd name="T9" fmla="*/ 0 w 25"/>
                  <a:gd name="T10" fmla="*/ 0 h 228"/>
                  <a:gd name="T11" fmla="*/ 25 w 25"/>
                  <a:gd name="T12" fmla="*/ 228 h 2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" h="228">
                    <a:moveTo>
                      <a:pt x="23" y="0"/>
                    </a:moveTo>
                    <a:cubicBezTo>
                      <a:pt x="24" y="28"/>
                      <a:pt x="25" y="57"/>
                      <a:pt x="21" y="95"/>
                    </a:cubicBezTo>
                    <a:cubicBezTo>
                      <a:pt x="17" y="133"/>
                      <a:pt x="8" y="180"/>
                      <a:pt x="0" y="228"/>
                    </a:cubicBez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" name="Freeform 180"/>
              <p:cNvSpPr>
                <a:spLocks/>
              </p:cNvSpPr>
              <p:nvPr/>
            </p:nvSpPr>
            <p:spPr bwMode="auto">
              <a:xfrm>
                <a:off x="2420938" y="1336676"/>
                <a:ext cx="22225" cy="320675"/>
              </a:xfrm>
              <a:custGeom>
                <a:avLst/>
                <a:gdLst>
                  <a:gd name="T0" fmla="*/ 11 w 14"/>
                  <a:gd name="T1" fmla="*/ 0 h 202"/>
                  <a:gd name="T2" fmla="*/ 13 w 14"/>
                  <a:gd name="T3" fmla="*/ 70 h 202"/>
                  <a:gd name="T4" fmla="*/ 5 w 14"/>
                  <a:gd name="T5" fmla="*/ 149 h 202"/>
                  <a:gd name="T6" fmla="*/ 0 w 14"/>
                  <a:gd name="T7" fmla="*/ 202 h 2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"/>
                  <a:gd name="T13" fmla="*/ 0 h 202"/>
                  <a:gd name="T14" fmla="*/ 14 w 14"/>
                  <a:gd name="T15" fmla="*/ 202 h 2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" h="202">
                    <a:moveTo>
                      <a:pt x="11" y="0"/>
                    </a:moveTo>
                    <a:cubicBezTo>
                      <a:pt x="12" y="22"/>
                      <a:pt x="14" y="45"/>
                      <a:pt x="13" y="70"/>
                    </a:cubicBezTo>
                    <a:cubicBezTo>
                      <a:pt x="12" y="95"/>
                      <a:pt x="7" y="127"/>
                      <a:pt x="5" y="149"/>
                    </a:cubicBezTo>
                    <a:cubicBezTo>
                      <a:pt x="3" y="171"/>
                      <a:pt x="1" y="186"/>
                      <a:pt x="0" y="202"/>
                    </a:cubicBez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6" name="Freeform 181"/>
              <p:cNvSpPr>
                <a:spLocks/>
              </p:cNvSpPr>
              <p:nvPr/>
            </p:nvSpPr>
            <p:spPr bwMode="auto">
              <a:xfrm>
                <a:off x="2481263" y="1352551"/>
                <a:ext cx="7938" cy="276225"/>
              </a:xfrm>
              <a:custGeom>
                <a:avLst/>
                <a:gdLst>
                  <a:gd name="T0" fmla="*/ 3 w 5"/>
                  <a:gd name="T1" fmla="*/ 0 h 174"/>
                  <a:gd name="T2" fmla="*/ 5 w 5"/>
                  <a:gd name="T3" fmla="*/ 88 h 174"/>
                  <a:gd name="T4" fmla="*/ 2 w 5"/>
                  <a:gd name="T5" fmla="*/ 148 h 174"/>
                  <a:gd name="T6" fmla="*/ 0 w 5"/>
                  <a:gd name="T7" fmla="*/ 174 h 1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174"/>
                  <a:gd name="T14" fmla="*/ 5 w 5"/>
                  <a:gd name="T15" fmla="*/ 174 h 1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174">
                    <a:moveTo>
                      <a:pt x="3" y="0"/>
                    </a:moveTo>
                    <a:cubicBezTo>
                      <a:pt x="4" y="31"/>
                      <a:pt x="5" y="63"/>
                      <a:pt x="5" y="88"/>
                    </a:cubicBezTo>
                    <a:cubicBezTo>
                      <a:pt x="5" y="113"/>
                      <a:pt x="3" y="134"/>
                      <a:pt x="2" y="148"/>
                    </a:cubicBezTo>
                    <a:cubicBezTo>
                      <a:pt x="1" y="162"/>
                      <a:pt x="0" y="168"/>
                      <a:pt x="0" y="174"/>
                    </a:cubicBez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" name="Freeform 182"/>
              <p:cNvSpPr>
                <a:spLocks/>
              </p:cNvSpPr>
              <p:nvPr/>
            </p:nvSpPr>
            <p:spPr bwMode="auto">
              <a:xfrm>
                <a:off x="2527300" y="1352551"/>
                <a:ext cx="15875" cy="288925"/>
              </a:xfrm>
              <a:custGeom>
                <a:avLst/>
                <a:gdLst>
                  <a:gd name="T0" fmla="*/ 0 w 10"/>
                  <a:gd name="T1" fmla="*/ 0 h 182"/>
                  <a:gd name="T2" fmla="*/ 5 w 10"/>
                  <a:gd name="T3" fmla="*/ 105 h 182"/>
                  <a:gd name="T4" fmla="*/ 6 w 10"/>
                  <a:gd name="T5" fmla="*/ 163 h 182"/>
                  <a:gd name="T6" fmla="*/ 10 w 10"/>
                  <a:gd name="T7" fmla="*/ 182 h 1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182"/>
                  <a:gd name="T14" fmla="*/ 10 w 10"/>
                  <a:gd name="T15" fmla="*/ 182 h 1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182">
                    <a:moveTo>
                      <a:pt x="0" y="0"/>
                    </a:moveTo>
                    <a:cubicBezTo>
                      <a:pt x="2" y="39"/>
                      <a:pt x="4" y="78"/>
                      <a:pt x="5" y="105"/>
                    </a:cubicBezTo>
                    <a:cubicBezTo>
                      <a:pt x="6" y="132"/>
                      <a:pt x="5" y="150"/>
                      <a:pt x="6" y="163"/>
                    </a:cubicBezTo>
                    <a:cubicBezTo>
                      <a:pt x="7" y="176"/>
                      <a:pt x="8" y="179"/>
                      <a:pt x="10" y="182"/>
                    </a:cubicBez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" name="Freeform 183"/>
              <p:cNvSpPr>
                <a:spLocks/>
              </p:cNvSpPr>
              <p:nvPr/>
            </p:nvSpPr>
            <p:spPr bwMode="auto">
              <a:xfrm>
                <a:off x="2570163" y="1354138"/>
                <a:ext cx="30163" cy="284163"/>
              </a:xfrm>
              <a:custGeom>
                <a:avLst/>
                <a:gdLst>
                  <a:gd name="T0" fmla="*/ 0 w 19"/>
                  <a:gd name="T1" fmla="*/ 0 h 179"/>
                  <a:gd name="T2" fmla="*/ 7 w 19"/>
                  <a:gd name="T3" fmla="*/ 106 h 179"/>
                  <a:gd name="T4" fmla="*/ 19 w 19"/>
                  <a:gd name="T5" fmla="*/ 179 h 179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79"/>
                  <a:gd name="T11" fmla="*/ 19 w 19"/>
                  <a:gd name="T12" fmla="*/ 179 h 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79">
                    <a:moveTo>
                      <a:pt x="0" y="0"/>
                    </a:moveTo>
                    <a:cubicBezTo>
                      <a:pt x="2" y="38"/>
                      <a:pt x="4" y="76"/>
                      <a:pt x="7" y="106"/>
                    </a:cubicBezTo>
                    <a:cubicBezTo>
                      <a:pt x="10" y="136"/>
                      <a:pt x="14" y="157"/>
                      <a:pt x="19" y="179"/>
                    </a:cubicBez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9" name="Freeform 184"/>
              <p:cNvSpPr>
                <a:spLocks/>
              </p:cNvSpPr>
              <p:nvPr/>
            </p:nvSpPr>
            <p:spPr bwMode="auto">
              <a:xfrm>
                <a:off x="2613025" y="1346201"/>
                <a:ext cx="38100" cy="303213"/>
              </a:xfrm>
              <a:custGeom>
                <a:avLst/>
                <a:gdLst>
                  <a:gd name="T0" fmla="*/ 0 w 24"/>
                  <a:gd name="T1" fmla="*/ 0 h 191"/>
                  <a:gd name="T2" fmla="*/ 10 w 24"/>
                  <a:gd name="T3" fmla="*/ 114 h 191"/>
                  <a:gd name="T4" fmla="*/ 24 w 24"/>
                  <a:gd name="T5" fmla="*/ 191 h 191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191"/>
                  <a:gd name="T11" fmla="*/ 24 w 24"/>
                  <a:gd name="T12" fmla="*/ 191 h 1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191">
                    <a:moveTo>
                      <a:pt x="0" y="0"/>
                    </a:moveTo>
                    <a:cubicBezTo>
                      <a:pt x="3" y="41"/>
                      <a:pt x="6" y="82"/>
                      <a:pt x="10" y="114"/>
                    </a:cubicBezTo>
                    <a:cubicBezTo>
                      <a:pt x="14" y="146"/>
                      <a:pt x="19" y="168"/>
                      <a:pt x="24" y="191"/>
                    </a:cubicBez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10" name="组合 309"/>
          <p:cNvGrpSpPr/>
          <p:nvPr/>
        </p:nvGrpSpPr>
        <p:grpSpPr>
          <a:xfrm>
            <a:off x="461963" y="3222626"/>
            <a:ext cx="3548063" cy="127000"/>
            <a:chOff x="347663" y="3006726"/>
            <a:chExt cx="3548063" cy="127000"/>
          </a:xfrm>
        </p:grpSpPr>
        <p:sp>
          <p:nvSpPr>
            <p:cNvPr id="311" name="Line 107"/>
            <p:cNvSpPr>
              <a:spLocks noChangeShapeType="1"/>
            </p:cNvSpPr>
            <p:nvPr/>
          </p:nvSpPr>
          <p:spPr bwMode="auto">
            <a:xfrm>
              <a:off x="347663" y="3013076"/>
              <a:ext cx="35480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186"/>
            <p:cNvSpPr>
              <a:spLocks noChangeShapeType="1"/>
            </p:cNvSpPr>
            <p:nvPr/>
          </p:nvSpPr>
          <p:spPr bwMode="auto">
            <a:xfrm flipH="1">
              <a:off x="450850" y="3011488"/>
              <a:ext cx="76200" cy="114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187"/>
            <p:cNvSpPr>
              <a:spLocks noChangeShapeType="1"/>
            </p:cNvSpPr>
            <p:nvPr/>
          </p:nvSpPr>
          <p:spPr bwMode="auto">
            <a:xfrm flipH="1">
              <a:off x="530225" y="3016251"/>
              <a:ext cx="57150" cy="106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Line 188"/>
            <p:cNvSpPr>
              <a:spLocks noChangeShapeType="1"/>
            </p:cNvSpPr>
            <p:nvPr/>
          </p:nvSpPr>
          <p:spPr bwMode="auto">
            <a:xfrm flipH="1">
              <a:off x="603250" y="3011488"/>
              <a:ext cx="57150" cy="92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Line 189"/>
            <p:cNvSpPr>
              <a:spLocks noChangeShapeType="1"/>
            </p:cNvSpPr>
            <p:nvPr/>
          </p:nvSpPr>
          <p:spPr bwMode="auto">
            <a:xfrm flipH="1">
              <a:off x="801688" y="3019426"/>
              <a:ext cx="49213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Line 190"/>
            <p:cNvSpPr>
              <a:spLocks noChangeShapeType="1"/>
            </p:cNvSpPr>
            <p:nvPr/>
          </p:nvSpPr>
          <p:spPr bwMode="auto">
            <a:xfrm flipH="1">
              <a:off x="866775" y="3019426"/>
              <a:ext cx="4445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191"/>
            <p:cNvSpPr>
              <a:spLocks noChangeShapeType="1"/>
            </p:cNvSpPr>
            <p:nvPr/>
          </p:nvSpPr>
          <p:spPr bwMode="auto">
            <a:xfrm flipH="1">
              <a:off x="923925" y="3011488"/>
              <a:ext cx="49213" cy="100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192"/>
            <p:cNvSpPr>
              <a:spLocks noChangeShapeType="1"/>
            </p:cNvSpPr>
            <p:nvPr/>
          </p:nvSpPr>
          <p:spPr bwMode="auto">
            <a:xfrm>
              <a:off x="744538" y="3027363"/>
              <a:ext cx="60325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Line 193"/>
            <p:cNvSpPr>
              <a:spLocks noChangeShapeType="1"/>
            </p:cNvSpPr>
            <p:nvPr/>
          </p:nvSpPr>
          <p:spPr bwMode="auto">
            <a:xfrm>
              <a:off x="671513" y="3030538"/>
              <a:ext cx="100013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194"/>
            <p:cNvSpPr>
              <a:spLocks noChangeShapeType="1"/>
            </p:cNvSpPr>
            <p:nvPr/>
          </p:nvSpPr>
          <p:spPr bwMode="auto">
            <a:xfrm>
              <a:off x="630238" y="3065463"/>
              <a:ext cx="79375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195"/>
            <p:cNvSpPr>
              <a:spLocks noChangeShapeType="1"/>
            </p:cNvSpPr>
            <p:nvPr/>
          </p:nvSpPr>
          <p:spPr bwMode="auto">
            <a:xfrm flipH="1">
              <a:off x="3235325" y="3011488"/>
              <a:ext cx="42863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196"/>
            <p:cNvSpPr>
              <a:spLocks noChangeShapeType="1"/>
            </p:cNvSpPr>
            <p:nvPr/>
          </p:nvSpPr>
          <p:spPr bwMode="auto">
            <a:xfrm flipH="1">
              <a:off x="3305175" y="3014663"/>
              <a:ext cx="41275" cy="79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Line 197"/>
            <p:cNvSpPr>
              <a:spLocks noChangeShapeType="1"/>
            </p:cNvSpPr>
            <p:nvPr/>
          </p:nvSpPr>
          <p:spPr bwMode="auto">
            <a:xfrm flipH="1">
              <a:off x="3357563" y="3014663"/>
              <a:ext cx="53975" cy="84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Line 198"/>
            <p:cNvSpPr>
              <a:spLocks noChangeShapeType="1"/>
            </p:cNvSpPr>
            <p:nvPr/>
          </p:nvSpPr>
          <p:spPr bwMode="auto">
            <a:xfrm flipH="1">
              <a:off x="3521075" y="3006726"/>
              <a:ext cx="3175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199"/>
            <p:cNvSpPr>
              <a:spLocks noChangeShapeType="1"/>
            </p:cNvSpPr>
            <p:nvPr/>
          </p:nvSpPr>
          <p:spPr bwMode="auto">
            <a:xfrm flipH="1">
              <a:off x="3552825" y="3022601"/>
              <a:ext cx="57150" cy="79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200"/>
            <p:cNvSpPr>
              <a:spLocks noChangeShapeType="1"/>
            </p:cNvSpPr>
            <p:nvPr/>
          </p:nvSpPr>
          <p:spPr bwMode="auto">
            <a:xfrm flipH="1">
              <a:off x="3632200" y="3011488"/>
              <a:ext cx="41275" cy="90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201"/>
            <p:cNvSpPr>
              <a:spLocks noChangeShapeType="1"/>
            </p:cNvSpPr>
            <p:nvPr/>
          </p:nvSpPr>
          <p:spPr bwMode="auto">
            <a:xfrm>
              <a:off x="3776663" y="3017838"/>
              <a:ext cx="61913" cy="73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202"/>
            <p:cNvSpPr>
              <a:spLocks noChangeShapeType="1"/>
            </p:cNvSpPr>
            <p:nvPr/>
          </p:nvSpPr>
          <p:spPr bwMode="auto">
            <a:xfrm>
              <a:off x="3719513" y="3017838"/>
              <a:ext cx="73025" cy="92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203"/>
            <p:cNvSpPr>
              <a:spLocks noChangeShapeType="1"/>
            </p:cNvSpPr>
            <p:nvPr/>
          </p:nvSpPr>
          <p:spPr bwMode="auto">
            <a:xfrm>
              <a:off x="3654425" y="3055938"/>
              <a:ext cx="57150" cy="57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Line 204"/>
            <p:cNvSpPr>
              <a:spLocks noChangeShapeType="1"/>
            </p:cNvSpPr>
            <p:nvPr/>
          </p:nvSpPr>
          <p:spPr bwMode="auto">
            <a:xfrm>
              <a:off x="3487738" y="3014663"/>
              <a:ext cx="30163" cy="41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Line 205"/>
            <p:cNvSpPr>
              <a:spLocks noChangeShapeType="1"/>
            </p:cNvSpPr>
            <p:nvPr/>
          </p:nvSpPr>
          <p:spPr bwMode="auto">
            <a:xfrm>
              <a:off x="3419475" y="3017838"/>
              <a:ext cx="68263" cy="92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206"/>
            <p:cNvSpPr>
              <a:spLocks noChangeShapeType="1"/>
            </p:cNvSpPr>
            <p:nvPr/>
          </p:nvSpPr>
          <p:spPr bwMode="auto">
            <a:xfrm>
              <a:off x="3381375" y="3063876"/>
              <a:ext cx="49213" cy="65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3" name="组合 332"/>
          <p:cNvGrpSpPr/>
          <p:nvPr/>
        </p:nvGrpSpPr>
        <p:grpSpPr>
          <a:xfrm>
            <a:off x="1116785" y="2786092"/>
            <a:ext cx="434044" cy="457200"/>
            <a:chOff x="1014413" y="2566216"/>
            <a:chExt cx="434044" cy="457200"/>
          </a:xfrm>
        </p:grpSpPr>
        <p:sp>
          <p:nvSpPr>
            <p:cNvPr id="334" name="Freeform 185"/>
            <p:cNvSpPr>
              <a:spLocks/>
            </p:cNvSpPr>
            <p:nvPr/>
          </p:nvSpPr>
          <p:spPr bwMode="auto">
            <a:xfrm>
              <a:off x="1014413" y="2703513"/>
              <a:ext cx="111125" cy="300038"/>
            </a:xfrm>
            <a:custGeom>
              <a:avLst/>
              <a:gdLst>
                <a:gd name="T0" fmla="*/ 70 w 70"/>
                <a:gd name="T1" fmla="*/ 189 h 189"/>
                <a:gd name="T2" fmla="*/ 58 w 70"/>
                <a:gd name="T3" fmla="*/ 96 h 189"/>
                <a:gd name="T4" fmla="*/ 0 w 70"/>
                <a:gd name="T5" fmla="*/ 0 h 189"/>
                <a:gd name="T6" fmla="*/ 0 60000 65536"/>
                <a:gd name="T7" fmla="*/ 0 60000 65536"/>
                <a:gd name="T8" fmla="*/ 0 60000 65536"/>
                <a:gd name="T9" fmla="*/ 0 w 70"/>
                <a:gd name="T10" fmla="*/ 0 h 189"/>
                <a:gd name="T11" fmla="*/ 70 w 70"/>
                <a:gd name="T12" fmla="*/ 189 h 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0" h="189">
                  <a:moveTo>
                    <a:pt x="70" y="189"/>
                  </a:moveTo>
                  <a:cubicBezTo>
                    <a:pt x="70" y="158"/>
                    <a:pt x="70" y="127"/>
                    <a:pt x="58" y="96"/>
                  </a:cubicBezTo>
                  <a:cubicBezTo>
                    <a:pt x="46" y="65"/>
                    <a:pt x="23" y="32"/>
                    <a:pt x="0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Text Box 208"/>
            <p:cNvSpPr txBox="1">
              <a:spLocks noChangeArrowheads="1"/>
            </p:cNvSpPr>
            <p:nvPr/>
          </p:nvSpPr>
          <p:spPr bwMode="auto">
            <a:xfrm>
              <a:off x="1072219" y="2566216"/>
              <a:ext cx="376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</a:t>
              </a:r>
            </a:p>
          </p:txBody>
        </p:sp>
      </p:grpSp>
      <p:grpSp>
        <p:nvGrpSpPr>
          <p:cNvPr id="336" name="组合 335"/>
          <p:cNvGrpSpPr/>
          <p:nvPr/>
        </p:nvGrpSpPr>
        <p:grpSpPr>
          <a:xfrm>
            <a:off x="1329105" y="2074207"/>
            <a:ext cx="1306513" cy="982663"/>
            <a:chOff x="1101725" y="3932238"/>
            <a:chExt cx="1306513" cy="982663"/>
          </a:xfrm>
        </p:grpSpPr>
        <p:sp>
          <p:nvSpPr>
            <p:cNvPr id="337" name="Freeform 209"/>
            <p:cNvSpPr>
              <a:spLocks/>
            </p:cNvSpPr>
            <p:nvPr/>
          </p:nvSpPr>
          <p:spPr bwMode="auto">
            <a:xfrm>
              <a:off x="1636713" y="4008438"/>
              <a:ext cx="249238" cy="204788"/>
            </a:xfrm>
            <a:custGeom>
              <a:avLst/>
              <a:gdLst>
                <a:gd name="T0" fmla="*/ 155 w 157"/>
                <a:gd name="T1" fmla="*/ 32 h 129"/>
                <a:gd name="T2" fmla="*/ 136 w 157"/>
                <a:gd name="T3" fmla="*/ 1 h 129"/>
                <a:gd name="T4" fmla="*/ 71 w 157"/>
                <a:gd name="T5" fmla="*/ 27 h 129"/>
                <a:gd name="T6" fmla="*/ 14 w 157"/>
                <a:gd name="T7" fmla="*/ 77 h 129"/>
                <a:gd name="T8" fmla="*/ 2 w 157"/>
                <a:gd name="T9" fmla="*/ 106 h 129"/>
                <a:gd name="T10" fmla="*/ 11 w 157"/>
                <a:gd name="T11" fmla="*/ 128 h 129"/>
                <a:gd name="T12" fmla="*/ 69 w 157"/>
                <a:gd name="T13" fmla="*/ 113 h 129"/>
                <a:gd name="T14" fmla="*/ 115 w 157"/>
                <a:gd name="T15" fmla="*/ 75 h 129"/>
                <a:gd name="T16" fmla="*/ 146 w 157"/>
                <a:gd name="T17" fmla="*/ 49 h 129"/>
                <a:gd name="T18" fmla="*/ 155 w 157"/>
                <a:gd name="T19" fmla="*/ 32 h 12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7"/>
                <a:gd name="T31" fmla="*/ 0 h 129"/>
                <a:gd name="T32" fmla="*/ 157 w 157"/>
                <a:gd name="T33" fmla="*/ 129 h 12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7" h="129">
                  <a:moveTo>
                    <a:pt x="155" y="32"/>
                  </a:moveTo>
                  <a:cubicBezTo>
                    <a:pt x="153" y="24"/>
                    <a:pt x="150" y="2"/>
                    <a:pt x="136" y="1"/>
                  </a:cubicBezTo>
                  <a:cubicBezTo>
                    <a:pt x="122" y="0"/>
                    <a:pt x="91" y="14"/>
                    <a:pt x="71" y="27"/>
                  </a:cubicBezTo>
                  <a:cubicBezTo>
                    <a:pt x="51" y="40"/>
                    <a:pt x="26" y="64"/>
                    <a:pt x="14" y="77"/>
                  </a:cubicBezTo>
                  <a:cubicBezTo>
                    <a:pt x="2" y="90"/>
                    <a:pt x="2" y="98"/>
                    <a:pt x="2" y="106"/>
                  </a:cubicBezTo>
                  <a:cubicBezTo>
                    <a:pt x="2" y="114"/>
                    <a:pt x="0" y="127"/>
                    <a:pt x="11" y="128"/>
                  </a:cubicBezTo>
                  <a:cubicBezTo>
                    <a:pt x="22" y="129"/>
                    <a:pt x="52" y="122"/>
                    <a:pt x="69" y="113"/>
                  </a:cubicBezTo>
                  <a:cubicBezTo>
                    <a:pt x="86" y="104"/>
                    <a:pt x="102" y="86"/>
                    <a:pt x="115" y="75"/>
                  </a:cubicBezTo>
                  <a:cubicBezTo>
                    <a:pt x="128" y="64"/>
                    <a:pt x="139" y="55"/>
                    <a:pt x="146" y="49"/>
                  </a:cubicBezTo>
                  <a:cubicBezTo>
                    <a:pt x="153" y="43"/>
                    <a:pt x="157" y="40"/>
                    <a:pt x="155" y="32"/>
                  </a:cubicBezTo>
                  <a:close/>
                </a:path>
              </a:pathLst>
            </a:custGeom>
            <a:solidFill>
              <a:srgbClr val="A500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210"/>
            <p:cNvSpPr>
              <a:spLocks noChangeShapeType="1"/>
            </p:cNvSpPr>
            <p:nvPr/>
          </p:nvSpPr>
          <p:spPr bwMode="auto">
            <a:xfrm flipH="1">
              <a:off x="1319213" y="4205288"/>
              <a:ext cx="334963" cy="2428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211"/>
            <p:cNvSpPr>
              <a:spLocks noChangeShapeType="1"/>
            </p:cNvSpPr>
            <p:nvPr/>
          </p:nvSpPr>
          <p:spPr bwMode="auto">
            <a:xfrm>
              <a:off x="1754188" y="4181476"/>
              <a:ext cx="0" cy="5365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212"/>
            <p:cNvSpPr>
              <a:spLocks noChangeShapeType="1"/>
            </p:cNvSpPr>
            <p:nvPr/>
          </p:nvSpPr>
          <p:spPr bwMode="auto">
            <a:xfrm>
              <a:off x="1803400" y="4203701"/>
              <a:ext cx="274638" cy="3889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Text Box 213"/>
            <p:cNvSpPr txBox="1">
              <a:spLocks noChangeArrowheads="1"/>
            </p:cNvSpPr>
            <p:nvPr/>
          </p:nvSpPr>
          <p:spPr bwMode="auto">
            <a:xfrm>
              <a:off x="1101725" y="3932238"/>
              <a:ext cx="3540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A50021"/>
                  </a:solidFill>
                  <a:ea typeface="幼圆" pitchFamily="49" charset="-122"/>
                </a:rPr>
                <a:t>T</a:t>
              </a:r>
            </a:p>
          </p:txBody>
        </p:sp>
        <p:sp>
          <p:nvSpPr>
            <p:cNvPr id="342" name="Text Box 214"/>
            <p:cNvSpPr txBox="1">
              <a:spLocks noChangeArrowheads="1"/>
            </p:cNvSpPr>
            <p:nvPr/>
          </p:nvSpPr>
          <p:spPr bwMode="auto">
            <a:xfrm>
              <a:off x="1717675" y="4514851"/>
              <a:ext cx="4127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A50021"/>
                  </a:solidFill>
                  <a:ea typeface="幼圆" pitchFamily="49" charset="-122"/>
                </a:rPr>
                <a:t>W</a:t>
              </a:r>
            </a:p>
          </p:txBody>
        </p:sp>
        <p:sp>
          <p:nvSpPr>
            <p:cNvPr id="343" name="Text Box 215"/>
            <p:cNvSpPr txBox="1">
              <a:spLocks noChangeArrowheads="1"/>
            </p:cNvSpPr>
            <p:nvPr/>
          </p:nvSpPr>
          <p:spPr bwMode="auto">
            <a:xfrm>
              <a:off x="2039938" y="423068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A50021"/>
                  </a:solidFill>
                  <a:ea typeface="幼圆" pitchFamily="49" charset="-122"/>
                </a:rPr>
                <a:t>N</a:t>
              </a:r>
            </a:p>
          </p:txBody>
        </p:sp>
      </p:grpSp>
      <p:graphicFrame>
        <p:nvGraphicFramePr>
          <p:cNvPr id="3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761652"/>
              </p:ext>
            </p:extLst>
          </p:nvPr>
        </p:nvGraphicFramePr>
        <p:xfrm>
          <a:off x="5600700" y="2346325"/>
          <a:ext cx="1493838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490" name="公式" r:id="rId6" imgW="583920" imgH="406080" progId="Equation.3">
                  <p:embed/>
                </p:oleObj>
              </mc:Choice>
              <mc:Fallback>
                <p:oleObj name="公式" r:id="rId6" imgW="5839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2346325"/>
                        <a:ext cx="1493838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" name="AutoShape 4"/>
          <p:cNvSpPr>
            <a:spLocks noChangeArrowheads="1"/>
          </p:cNvSpPr>
          <p:nvPr/>
        </p:nvSpPr>
        <p:spPr bwMode="auto">
          <a:xfrm>
            <a:off x="4980597" y="2692399"/>
            <a:ext cx="505804" cy="421031"/>
          </a:xfrm>
          <a:prstGeom prst="homePlate">
            <a:avLst>
              <a:gd name="adj" fmla="val 31138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build="p"/>
      <p:bldP spid="3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882900" y="5861050"/>
            <a:ext cx="4864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土的强度及其特点</a:t>
            </a:r>
          </a:p>
        </p:txBody>
      </p:sp>
      <p:grpSp>
        <p:nvGrpSpPr>
          <p:cNvPr id="11" name="Group 3"/>
          <p:cNvGrpSpPr>
            <a:grpSpLocks/>
          </p:cNvGrpSpPr>
          <p:nvPr/>
        </p:nvGrpSpPr>
        <p:grpSpPr bwMode="auto">
          <a:xfrm>
            <a:off x="0" y="1225550"/>
            <a:ext cx="9144000" cy="2527300"/>
            <a:chOff x="0" y="772"/>
            <a:chExt cx="5760" cy="1592"/>
          </a:xfrm>
        </p:grpSpPr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0" y="772"/>
              <a:ext cx="5760" cy="1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387" y="1129"/>
              <a:ext cx="2355" cy="692"/>
            </a:xfrm>
            <a:custGeom>
              <a:avLst/>
              <a:gdLst>
                <a:gd name="T0" fmla="*/ 0 w 2355"/>
                <a:gd name="T1" fmla="*/ 692 h 692"/>
                <a:gd name="T2" fmla="*/ 26 w 2355"/>
                <a:gd name="T3" fmla="*/ 660 h 692"/>
                <a:gd name="T4" fmla="*/ 87 w 2355"/>
                <a:gd name="T5" fmla="*/ 635 h 692"/>
                <a:gd name="T6" fmla="*/ 109 w 2355"/>
                <a:gd name="T7" fmla="*/ 584 h 692"/>
                <a:gd name="T8" fmla="*/ 167 w 2355"/>
                <a:gd name="T9" fmla="*/ 584 h 692"/>
                <a:gd name="T10" fmla="*/ 200 w 2355"/>
                <a:gd name="T11" fmla="*/ 538 h 692"/>
                <a:gd name="T12" fmla="*/ 243 w 2355"/>
                <a:gd name="T13" fmla="*/ 538 h 692"/>
                <a:gd name="T14" fmla="*/ 271 w 2355"/>
                <a:gd name="T15" fmla="*/ 513 h 692"/>
                <a:gd name="T16" fmla="*/ 313 w 2355"/>
                <a:gd name="T17" fmla="*/ 516 h 692"/>
                <a:gd name="T18" fmla="*/ 356 w 2355"/>
                <a:gd name="T19" fmla="*/ 485 h 692"/>
                <a:gd name="T20" fmla="*/ 383 w 2355"/>
                <a:gd name="T21" fmla="*/ 485 h 692"/>
                <a:gd name="T22" fmla="*/ 429 w 2355"/>
                <a:gd name="T23" fmla="*/ 444 h 692"/>
                <a:gd name="T24" fmla="*/ 463 w 2355"/>
                <a:gd name="T25" fmla="*/ 438 h 692"/>
                <a:gd name="T26" fmla="*/ 493 w 2355"/>
                <a:gd name="T27" fmla="*/ 404 h 692"/>
                <a:gd name="T28" fmla="*/ 530 w 2355"/>
                <a:gd name="T29" fmla="*/ 404 h 692"/>
                <a:gd name="T30" fmla="*/ 569 w 2355"/>
                <a:gd name="T31" fmla="*/ 375 h 692"/>
                <a:gd name="T32" fmla="*/ 618 w 2355"/>
                <a:gd name="T33" fmla="*/ 375 h 692"/>
                <a:gd name="T34" fmla="*/ 655 w 2355"/>
                <a:gd name="T35" fmla="*/ 341 h 692"/>
                <a:gd name="T36" fmla="*/ 689 w 2355"/>
                <a:gd name="T37" fmla="*/ 341 h 692"/>
                <a:gd name="T38" fmla="*/ 734 w 2355"/>
                <a:gd name="T39" fmla="*/ 303 h 692"/>
                <a:gd name="T40" fmla="*/ 808 w 2355"/>
                <a:gd name="T41" fmla="*/ 276 h 692"/>
                <a:gd name="T42" fmla="*/ 890 w 2355"/>
                <a:gd name="T43" fmla="*/ 244 h 692"/>
                <a:gd name="T44" fmla="*/ 933 w 2355"/>
                <a:gd name="T45" fmla="*/ 216 h 692"/>
                <a:gd name="T46" fmla="*/ 1019 w 2355"/>
                <a:gd name="T47" fmla="*/ 169 h 692"/>
                <a:gd name="T48" fmla="*/ 1104 w 2355"/>
                <a:gd name="T49" fmla="*/ 135 h 692"/>
                <a:gd name="T50" fmla="*/ 1202 w 2355"/>
                <a:gd name="T51" fmla="*/ 94 h 692"/>
                <a:gd name="T52" fmla="*/ 1274 w 2355"/>
                <a:gd name="T53" fmla="*/ 53 h 692"/>
                <a:gd name="T54" fmla="*/ 1360 w 2355"/>
                <a:gd name="T55" fmla="*/ 25 h 692"/>
                <a:gd name="T56" fmla="*/ 1421 w 2355"/>
                <a:gd name="T57" fmla="*/ 6 h 692"/>
                <a:gd name="T58" fmla="*/ 1503 w 2355"/>
                <a:gd name="T59" fmla="*/ 3 h 692"/>
                <a:gd name="T60" fmla="*/ 1571 w 2355"/>
                <a:gd name="T61" fmla="*/ 25 h 692"/>
                <a:gd name="T62" fmla="*/ 1668 w 2355"/>
                <a:gd name="T63" fmla="*/ 107 h 692"/>
                <a:gd name="T64" fmla="*/ 1751 w 2355"/>
                <a:gd name="T65" fmla="*/ 178 h 692"/>
                <a:gd name="T66" fmla="*/ 1824 w 2355"/>
                <a:gd name="T67" fmla="*/ 256 h 692"/>
                <a:gd name="T68" fmla="*/ 1912 w 2355"/>
                <a:gd name="T69" fmla="*/ 341 h 692"/>
                <a:gd name="T70" fmla="*/ 2007 w 2355"/>
                <a:gd name="T71" fmla="*/ 422 h 692"/>
                <a:gd name="T72" fmla="*/ 2093 w 2355"/>
                <a:gd name="T73" fmla="*/ 495 h 692"/>
                <a:gd name="T74" fmla="*/ 2159 w 2355"/>
                <a:gd name="T75" fmla="*/ 538 h 692"/>
                <a:gd name="T76" fmla="*/ 2227 w 2355"/>
                <a:gd name="T77" fmla="*/ 594 h 692"/>
                <a:gd name="T78" fmla="*/ 2291 w 2355"/>
                <a:gd name="T79" fmla="*/ 638 h 692"/>
                <a:gd name="T80" fmla="*/ 2355 w 2355"/>
                <a:gd name="T81" fmla="*/ 688 h 69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355"/>
                <a:gd name="T124" fmla="*/ 0 h 692"/>
                <a:gd name="T125" fmla="*/ 2355 w 2355"/>
                <a:gd name="T126" fmla="*/ 692 h 69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355" h="692">
                  <a:moveTo>
                    <a:pt x="0" y="692"/>
                  </a:moveTo>
                  <a:cubicBezTo>
                    <a:pt x="4" y="687"/>
                    <a:pt x="12" y="669"/>
                    <a:pt x="26" y="660"/>
                  </a:cubicBezTo>
                  <a:cubicBezTo>
                    <a:pt x="40" y="651"/>
                    <a:pt x="73" y="648"/>
                    <a:pt x="87" y="635"/>
                  </a:cubicBezTo>
                  <a:cubicBezTo>
                    <a:pt x="101" y="622"/>
                    <a:pt x="96" y="592"/>
                    <a:pt x="109" y="584"/>
                  </a:cubicBezTo>
                  <a:cubicBezTo>
                    <a:pt x="122" y="576"/>
                    <a:pt x="152" y="592"/>
                    <a:pt x="167" y="584"/>
                  </a:cubicBezTo>
                  <a:cubicBezTo>
                    <a:pt x="182" y="577"/>
                    <a:pt x="188" y="545"/>
                    <a:pt x="200" y="538"/>
                  </a:cubicBezTo>
                  <a:cubicBezTo>
                    <a:pt x="213" y="530"/>
                    <a:pt x="232" y="541"/>
                    <a:pt x="243" y="538"/>
                  </a:cubicBezTo>
                  <a:cubicBezTo>
                    <a:pt x="255" y="534"/>
                    <a:pt x="259" y="517"/>
                    <a:pt x="271" y="513"/>
                  </a:cubicBezTo>
                  <a:cubicBezTo>
                    <a:pt x="282" y="509"/>
                    <a:pt x="298" y="521"/>
                    <a:pt x="313" y="516"/>
                  </a:cubicBezTo>
                  <a:cubicBezTo>
                    <a:pt x="327" y="511"/>
                    <a:pt x="344" y="490"/>
                    <a:pt x="356" y="485"/>
                  </a:cubicBezTo>
                  <a:cubicBezTo>
                    <a:pt x="367" y="480"/>
                    <a:pt x="371" y="492"/>
                    <a:pt x="383" y="485"/>
                  </a:cubicBezTo>
                  <a:cubicBezTo>
                    <a:pt x="396" y="478"/>
                    <a:pt x="416" y="452"/>
                    <a:pt x="429" y="444"/>
                  </a:cubicBezTo>
                  <a:cubicBezTo>
                    <a:pt x="443" y="436"/>
                    <a:pt x="452" y="445"/>
                    <a:pt x="463" y="438"/>
                  </a:cubicBezTo>
                  <a:cubicBezTo>
                    <a:pt x="473" y="431"/>
                    <a:pt x="482" y="409"/>
                    <a:pt x="493" y="404"/>
                  </a:cubicBezTo>
                  <a:cubicBezTo>
                    <a:pt x="505" y="398"/>
                    <a:pt x="518" y="409"/>
                    <a:pt x="530" y="404"/>
                  </a:cubicBezTo>
                  <a:cubicBezTo>
                    <a:pt x="543" y="399"/>
                    <a:pt x="555" y="380"/>
                    <a:pt x="569" y="375"/>
                  </a:cubicBezTo>
                  <a:cubicBezTo>
                    <a:pt x="584" y="370"/>
                    <a:pt x="604" y="381"/>
                    <a:pt x="618" y="375"/>
                  </a:cubicBezTo>
                  <a:cubicBezTo>
                    <a:pt x="632" y="369"/>
                    <a:pt x="644" y="347"/>
                    <a:pt x="655" y="341"/>
                  </a:cubicBezTo>
                  <a:cubicBezTo>
                    <a:pt x="667" y="335"/>
                    <a:pt x="675" y="347"/>
                    <a:pt x="689" y="341"/>
                  </a:cubicBezTo>
                  <a:cubicBezTo>
                    <a:pt x="702" y="335"/>
                    <a:pt x="714" y="314"/>
                    <a:pt x="734" y="303"/>
                  </a:cubicBezTo>
                  <a:cubicBezTo>
                    <a:pt x="754" y="292"/>
                    <a:pt x="782" y="285"/>
                    <a:pt x="808" y="276"/>
                  </a:cubicBezTo>
                  <a:cubicBezTo>
                    <a:pt x="834" y="266"/>
                    <a:pt x="869" y="254"/>
                    <a:pt x="890" y="244"/>
                  </a:cubicBezTo>
                  <a:cubicBezTo>
                    <a:pt x="911" y="235"/>
                    <a:pt x="912" y="229"/>
                    <a:pt x="933" y="216"/>
                  </a:cubicBezTo>
                  <a:cubicBezTo>
                    <a:pt x="954" y="203"/>
                    <a:pt x="990" y="183"/>
                    <a:pt x="1019" y="169"/>
                  </a:cubicBezTo>
                  <a:cubicBezTo>
                    <a:pt x="1047" y="155"/>
                    <a:pt x="1073" y="148"/>
                    <a:pt x="1104" y="135"/>
                  </a:cubicBezTo>
                  <a:cubicBezTo>
                    <a:pt x="1134" y="122"/>
                    <a:pt x="1173" y="108"/>
                    <a:pt x="1202" y="94"/>
                  </a:cubicBezTo>
                  <a:cubicBezTo>
                    <a:pt x="1230" y="80"/>
                    <a:pt x="1248" y="65"/>
                    <a:pt x="1274" y="53"/>
                  </a:cubicBezTo>
                  <a:cubicBezTo>
                    <a:pt x="1301" y="41"/>
                    <a:pt x="1335" y="33"/>
                    <a:pt x="1360" y="25"/>
                  </a:cubicBezTo>
                  <a:cubicBezTo>
                    <a:pt x="1385" y="18"/>
                    <a:pt x="1397" y="10"/>
                    <a:pt x="1421" y="6"/>
                  </a:cubicBezTo>
                  <a:cubicBezTo>
                    <a:pt x="1445" y="2"/>
                    <a:pt x="1478" y="0"/>
                    <a:pt x="1503" y="3"/>
                  </a:cubicBezTo>
                  <a:cubicBezTo>
                    <a:pt x="1528" y="6"/>
                    <a:pt x="1543" y="8"/>
                    <a:pt x="1571" y="25"/>
                  </a:cubicBezTo>
                  <a:cubicBezTo>
                    <a:pt x="1599" y="43"/>
                    <a:pt x="1639" y="81"/>
                    <a:pt x="1668" y="107"/>
                  </a:cubicBezTo>
                  <a:cubicBezTo>
                    <a:pt x="1698" y="132"/>
                    <a:pt x="1725" y="152"/>
                    <a:pt x="1751" y="178"/>
                  </a:cubicBezTo>
                  <a:cubicBezTo>
                    <a:pt x="1777" y="203"/>
                    <a:pt x="1797" y="229"/>
                    <a:pt x="1824" y="256"/>
                  </a:cubicBezTo>
                  <a:cubicBezTo>
                    <a:pt x="1850" y="283"/>
                    <a:pt x="1882" y="314"/>
                    <a:pt x="1912" y="341"/>
                  </a:cubicBezTo>
                  <a:cubicBezTo>
                    <a:pt x="1943" y="368"/>
                    <a:pt x="1977" y="397"/>
                    <a:pt x="2007" y="422"/>
                  </a:cubicBezTo>
                  <a:cubicBezTo>
                    <a:pt x="2036" y="448"/>
                    <a:pt x="2067" y="475"/>
                    <a:pt x="2093" y="495"/>
                  </a:cubicBezTo>
                  <a:cubicBezTo>
                    <a:pt x="2118" y="514"/>
                    <a:pt x="2138" y="521"/>
                    <a:pt x="2159" y="538"/>
                  </a:cubicBezTo>
                  <a:cubicBezTo>
                    <a:pt x="2181" y="554"/>
                    <a:pt x="2205" y="578"/>
                    <a:pt x="2227" y="594"/>
                  </a:cubicBezTo>
                  <a:cubicBezTo>
                    <a:pt x="2249" y="611"/>
                    <a:pt x="2270" y="623"/>
                    <a:pt x="2291" y="638"/>
                  </a:cubicBezTo>
                  <a:cubicBezTo>
                    <a:pt x="2312" y="654"/>
                    <a:pt x="2345" y="680"/>
                    <a:pt x="2355" y="688"/>
                  </a:cubicBezTo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6" descr="浅色下对角线"/>
            <p:cNvSpPr>
              <a:spLocks noChangeArrowheads="1"/>
            </p:cNvSpPr>
            <p:nvPr/>
          </p:nvSpPr>
          <p:spPr bwMode="auto">
            <a:xfrm>
              <a:off x="307" y="1821"/>
              <a:ext cx="5011" cy="195"/>
            </a:xfrm>
            <a:prstGeom prst="rect">
              <a:avLst/>
            </a:prstGeom>
            <a:pattFill prst="ltDnDiag">
              <a:fgClr>
                <a:schemeClr val="hlink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1619" y="1749"/>
              <a:ext cx="220" cy="73"/>
            </a:xfrm>
            <a:custGeom>
              <a:avLst/>
              <a:gdLst>
                <a:gd name="T0" fmla="*/ 0 w 230"/>
                <a:gd name="T1" fmla="*/ 75 h 75"/>
                <a:gd name="T2" fmla="*/ 64 w 230"/>
                <a:gd name="T3" fmla="*/ 24 h 75"/>
                <a:gd name="T4" fmla="*/ 128 w 230"/>
                <a:gd name="T5" fmla="*/ 2 h 75"/>
                <a:gd name="T6" fmla="*/ 160 w 230"/>
                <a:gd name="T7" fmla="*/ 11 h 75"/>
                <a:gd name="T8" fmla="*/ 198 w 230"/>
                <a:gd name="T9" fmla="*/ 50 h 75"/>
                <a:gd name="T10" fmla="*/ 230 w 230"/>
                <a:gd name="T11" fmla="*/ 7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0"/>
                <a:gd name="T19" fmla="*/ 0 h 75"/>
                <a:gd name="T20" fmla="*/ 230 w 230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0" h="75">
                  <a:moveTo>
                    <a:pt x="0" y="75"/>
                  </a:moveTo>
                  <a:cubicBezTo>
                    <a:pt x="21" y="55"/>
                    <a:pt x="43" y="36"/>
                    <a:pt x="64" y="24"/>
                  </a:cubicBezTo>
                  <a:cubicBezTo>
                    <a:pt x="85" y="12"/>
                    <a:pt x="112" y="4"/>
                    <a:pt x="128" y="2"/>
                  </a:cubicBezTo>
                  <a:cubicBezTo>
                    <a:pt x="144" y="0"/>
                    <a:pt x="148" y="3"/>
                    <a:pt x="160" y="11"/>
                  </a:cubicBezTo>
                  <a:cubicBezTo>
                    <a:pt x="172" y="19"/>
                    <a:pt x="187" y="40"/>
                    <a:pt x="198" y="50"/>
                  </a:cubicBezTo>
                  <a:cubicBezTo>
                    <a:pt x="209" y="60"/>
                    <a:pt x="223" y="70"/>
                    <a:pt x="230" y="7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8"/>
            <p:cNvSpPr>
              <a:spLocks/>
            </p:cNvSpPr>
            <p:nvPr/>
          </p:nvSpPr>
          <p:spPr bwMode="auto">
            <a:xfrm>
              <a:off x="1506" y="1668"/>
              <a:ext cx="439" cy="152"/>
            </a:xfrm>
            <a:custGeom>
              <a:avLst/>
              <a:gdLst>
                <a:gd name="T0" fmla="*/ 0 w 461"/>
                <a:gd name="T1" fmla="*/ 155 h 155"/>
                <a:gd name="T2" fmla="*/ 90 w 461"/>
                <a:gd name="T3" fmla="*/ 94 h 155"/>
                <a:gd name="T4" fmla="*/ 186 w 461"/>
                <a:gd name="T5" fmla="*/ 40 h 155"/>
                <a:gd name="T6" fmla="*/ 256 w 461"/>
                <a:gd name="T7" fmla="*/ 5 h 155"/>
                <a:gd name="T8" fmla="*/ 349 w 461"/>
                <a:gd name="T9" fmla="*/ 69 h 155"/>
                <a:gd name="T10" fmla="*/ 403 w 461"/>
                <a:gd name="T11" fmla="*/ 104 h 155"/>
                <a:gd name="T12" fmla="*/ 461 w 461"/>
                <a:gd name="T13" fmla="*/ 155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1"/>
                <a:gd name="T22" fmla="*/ 0 h 155"/>
                <a:gd name="T23" fmla="*/ 461 w 461"/>
                <a:gd name="T24" fmla="*/ 155 h 15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1" h="155">
                  <a:moveTo>
                    <a:pt x="0" y="155"/>
                  </a:moveTo>
                  <a:cubicBezTo>
                    <a:pt x="28" y="135"/>
                    <a:pt x="59" y="113"/>
                    <a:pt x="90" y="94"/>
                  </a:cubicBezTo>
                  <a:cubicBezTo>
                    <a:pt x="121" y="75"/>
                    <a:pt x="158" y="55"/>
                    <a:pt x="186" y="40"/>
                  </a:cubicBezTo>
                  <a:cubicBezTo>
                    <a:pt x="214" y="25"/>
                    <a:pt x="229" y="0"/>
                    <a:pt x="256" y="5"/>
                  </a:cubicBezTo>
                  <a:cubicBezTo>
                    <a:pt x="283" y="10"/>
                    <a:pt x="325" y="53"/>
                    <a:pt x="349" y="69"/>
                  </a:cubicBezTo>
                  <a:cubicBezTo>
                    <a:pt x="373" y="85"/>
                    <a:pt x="384" y="90"/>
                    <a:pt x="403" y="104"/>
                  </a:cubicBezTo>
                  <a:cubicBezTo>
                    <a:pt x="422" y="118"/>
                    <a:pt x="441" y="136"/>
                    <a:pt x="461" y="15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/>
            </p:cNvSpPr>
            <p:nvPr/>
          </p:nvSpPr>
          <p:spPr bwMode="auto">
            <a:xfrm>
              <a:off x="1310" y="1588"/>
              <a:ext cx="733" cy="234"/>
            </a:xfrm>
            <a:custGeom>
              <a:avLst/>
              <a:gdLst>
                <a:gd name="T0" fmla="*/ 0 w 768"/>
                <a:gd name="T1" fmla="*/ 237 h 240"/>
                <a:gd name="T2" fmla="*/ 160 w 768"/>
                <a:gd name="T3" fmla="*/ 151 h 240"/>
                <a:gd name="T4" fmla="*/ 327 w 768"/>
                <a:gd name="T5" fmla="*/ 58 h 240"/>
                <a:gd name="T6" fmla="*/ 416 w 768"/>
                <a:gd name="T7" fmla="*/ 20 h 240"/>
                <a:gd name="T8" fmla="*/ 480 w 768"/>
                <a:gd name="T9" fmla="*/ 10 h 240"/>
                <a:gd name="T10" fmla="*/ 576 w 768"/>
                <a:gd name="T11" fmla="*/ 80 h 240"/>
                <a:gd name="T12" fmla="*/ 676 w 768"/>
                <a:gd name="T13" fmla="*/ 167 h 240"/>
                <a:gd name="T14" fmla="*/ 752 w 768"/>
                <a:gd name="T15" fmla="*/ 228 h 240"/>
                <a:gd name="T16" fmla="*/ 768 w 768"/>
                <a:gd name="T17" fmla="*/ 237 h 2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8"/>
                <a:gd name="T28" fmla="*/ 0 h 240"/>
                <a:gd name="T29" fmla="*/ 768 w 768"/>
                <a:gd name="T30" fmla="*/ 240 h 2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8" h="240">
                  <a:moveTo>
                    <a:pt x="0" y="237"/>
                  </a:moveTo>
                  <a:cubicBezTo>
                    <a:pt x="53" y="209"/>
                    <a:pt x="106" y="181"/>
                    <a:pt x="160" y="151"/>
                  </a:cubicBezTo>
                  <a:cubicBezTo>
                    <a:pt x="214" y="121"/>
                    <a:pt x="284" y="80"/>
                    <a:pt x="327" y="58"/>
                  </a:cubicBezTo>
                  <a:cubicBezTo>
                    <a:pt x="370" y="36"/>
                    <a:pt x="391" y="28"/>
                    <a:pt x="416" y="20"/>
                  </a:cubicBezTo>
                  <a:cubicBezTo>
                    <a:pt x="441" y="12"/>
                    <a:pt x="453" y="0"/>
                    <a:pt x="480" y="10"/>
                  </a:cubicBezTo>
                  <a:cubicBezTo>
                    <a:pt x="507" y="20"/>
                    <a:pt x="543" y="54"/>
                    <a:pt x="576" y="80"/>
                  </a:cubicBezTo>
                  <a:cubicBezTo>
                    <a:pt x="609" y="106"/>
                    <a:pt x="647" y="142"/>
                    <a:pt x="676" y="167"/>
                  </a:cubicBezTo>
                  <a:cubicBezTo>
                    <a:pt x="705" y="192"/>
                    <a:pt x="737" y="216"/>
                    <a:pt x="752" y="228"/>
                  </a:cubicBezTo>
                  <a:cubicBezTo>
                    <a:pt x="767" y="240"/>
                    <a:pt x="767" y="238"/>
                    <a:pt x="768" y="23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0"/>
            <p:cNvSpPr>
              <a:spLocks/>
            </p:cNvSpPr>
            <p:nvPr/>
          </p:nvSpPr>
          <p:spPr bwMode="auto">
            <a:xfrm>
              <a:off x="1109" y="1518"/>
              <a:ext cx="1035" cy="304"/>
            </a:xfrm>
            <a:custGeom>
              <a:avLst/>
              <a:gdLst>
                <a:gd name="T0" fmla="*/ 0 w 1085"/>
                <a:gd name="T1" fmla="*/ 306 h 312"/>
                <a:gd name="T2" fmla="*/ 183 w 1085"/>
                <a:gd name="T3" fmla="*/ 216 h 312"/>
                <a:gd name="T4" fmla="*/ 365 w 1085"/>
                <a:gd name="T5" fmla="*/ 143 h 312"/>
                <a:gd name="T6" fmla="*/ 493 w 1085"/>
                <a:gd name="T7" fmla="*/ 79 h 312"/>
                <a:gd name="T8" fmla="*/ 615 w 1085"/>
                <a:gd name="T9" fmla="*/ 28 h 312"/>
                <a:gd name="T10" fmla="*/ 704 w 1085"/>
                <a:gd name="T11" fmla="*/ 5 h 312"/>
                <a:gd name="T12" fmla="*/ 791 w 1085"/>
                <a:gd name="T13" fmla="*/ 56 h 312"/>
                <a:gd name="T14" fmla="*/ 906 w 1085"/>
                <a:gd name="T15" fmla="*/ 165 h 312"/>
                <a:gd name="T16" fmla="*/ 1008 w 1085"/>
                <a:gd name="T17" fmla="*/ 239 h 312"/>
                <a:gd name="T18" fmla="*/ 1085 w 1085"/>
                <a:gd name="T19" fmla="*/ 312 h 3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85"/>
                <a:gd name="T31" fmla="*/ 0 h 312"/>
                <a:gd name="T32" fmla="*/ 1085 w 1085"/>
                <a:gd name="T33" fmla="*/ 312 h 31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85" h="312">
                  <a:moveTo>
                    <a:pt x="0" y="306"/>
                  </a:moveTo>
                  <a:cubicBezTo>
                    <a:pt x="31" y="292"/>
                    <a:pt x="122" y="243"/>
                    <a:pt x="183" y="216"/>
                  </a:cubicBezTo>
                  <a:cubicBezTo>
                    <a:pt x="244" y="189"/>
                    <a:pt x="313" y="166"/>
                    <a:pt x="365" y="143"/>
                  </a:cubicBezTo>
                  <a:cubicBezTo>
                    <a:pt x="417" y="120"/>
                    <a:pt x="451" y="98"/>
                    <a:pt x="493" y="79"/>
                  </a:cubicBezTo>
                  <a:cubicBezTo>
                    <a:pt x="535" y="60"/>
                    <a:pt x="580" y="40"/>
                    <a:pt x="615" y="28"/>
                  </a:cubicBezTo>
                  <a:cubicBezTo>
                    <a:pt x="650" y="16"/>
                    <a:pt x="675" y="0"/>
                    <a:pt x="704" y="5"/>
                  </a:cubicBezTo>
                  <a:cubicBezTo>
                    <a:pt x="733" y="10"/>
                    <a:pt x="757" y="29"/>
                    <a:pt x="791" y="56"/>
                  </a:cubicBezTo>
                  <a:cubicBezTo>
                    <a:pt x="825" y="83"/>
                    <a:pt x="870" y="135"/>
                    <a:pt x="906" y="165"/>
                  </a:cubicBezTo>
                  <a:cubicBezTo>
                    <a:pt x="942" y="195"/>
                    <a:pt x="978" y="215"/>
                    <a:pt x="1008" y="239"/>
                  </a:cubicBezTo>
                  <a:cubicBezTo>
                    <a:pt x="1038" y="263"/>
                    <a:pt x="1061" y="287"/>
                    <a:pt x="1085" y="31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1"/>
            <p:cNvSpPr>
              <a:spLocks/>
            </p:cNvSpPr>
            <p:nvPr/>
          </p:nvSpPr>
          <p:spPr bwMode="auto">
            <a:xfrm>
              <a:off x="981" y="1422"/>
              <a:ext cx="1264" cy="398"/>
            </a:xfrm>
            <a:custGeom>
              <a:avLst/>
              <a:gdLst>
                <a:gd name="T0" fmla="*/ 0 w 1325"/>
                <a:gd name="T1" fmla="*/ 404 h 407"/>
                <a:gd name="T2" fmla="*/ 179 w 1325"/>
                <a:gd name="T3" fmla="*/ 295 h 407"/>
                <a:gd name="T4" fmla="*/ 467 w 1325"/>
                <a:gd name="T5" fmla="*/ 170 h 407"/>
                <a:gd name="T6" fmla="*/ 643 w 1325"/>
                <a:gd name="T7" fmla="*/ 87 h 407"/>
                <a:gd name="T8" fmla="*/ 768 w 1325"/>
                <a:gd name="T9" fmla="*/ 30 h 407"/>
                <a:gd name="T10" fmla="*/ 822 w 1325"/>
                <a:gd name="T11" fmla="*/ 4 h 407"/>
                <a:gd name="T12" fmla="*/ 870 w 1325"/>
                <a:gd name="T13" fmla="*/ 7 h 407"/>
                <a:gd name="T14" fmla="*/ 934 w 1325"/>
                <a:gd name="T15" fmla="*/ 49 h 407"/>
                <a:gd name="T16" fmla="*/ 1030 w 1325"/>
                <a:gd name="T17" fmla="*/ 138 h 407"/>
                <a:gd name="T18" fmla="*/ 1097 w 1325"/>
                <a:gd name="T19" fmla="*/ 202 h 407"/>
                <a:gd name="T20" fmla="*/ 1152 w 1325"/>
                <a:gd name="T21" fmla="*/ 241 h 407"/>
                <a:gd name="T22" fmla="*/ 1209 w 1325"/>
                <a:gd name="T23" fmla="*/ 286 h 407"/>
                <a:gd name="T24" fmla="*/ 1241 w 1325"/>
                <a:gd name="T25" fmla="*/ 337 h 407"/>
                <a:gd name="T26" fmla="*/ 1293 w 1325"/>
                <a:gd name="T27" fmla="*/ 382 h 407"/>
                <a:gd name="T28" fmla="*/ 1325 w 1325"/>
                <a:gd name="T29" fmla="*/ 407 h 4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325"/>
                <a:gd name="T46" fmla="*/ 0 h 407"/>
                <a:gd name="T47" fmla="*/ 1325 w 1325"/>
                <a:gd name="T48" fmla="*/ 407 h 4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325" h="407">
                  <a:moveTo>
                    <a:pt x="0" y="404"/>
                  </a:moveTo>
                  <a:cubicBezTo>
                    <a:pt x="50" y="369"/>
                    <a:pt x="101" y="334"/>
                    <a:pt x="179" y="295"/>
                  </a:cubicBezTo>
                  <a:cubicBezTo>
                    <a:pt x="257" y="256"/>
                    <a:pt x="390" y="205"/>
                    <a:pt x="467" y="170"/>
                  </a:cubicBezTo>
                  <a:cubicBezTo>
                    <a:pt x="544" y="135"/>
                    <a:pt x="593" y="110"/>
                    <a:pt x="643" y="87"/>
                  </a:cubicBezTo>
                  <a:cubicBezTo>
                    <a:pt x="693" y="64"/>
                    <a:pt x="738" y="44"/>
                    <a:pt x="768" y="30"/>
                  </a:cubicBezTo>
                  <a:cubicBezTo>
                    <a:pt x="798" y="16"/>
                    <a:pt x="805" y="8"/>
                    <a:pt x="822" y="4"/>
                  </a:cubicBezTo>
                  <a:cubicBezTo>
                    <a:pt x="839" y="0"/>
                    <a:pt x="851" y="0"/>
                    <a:pt x="870" y="7"/>
                  </a:cubicBezTo>
                  <a:cubicBezTo>
                    <a:pt x="889" y="14"/>
                    <a:pt x="907" y="27"/>
                    <a:pt x="934" y="49"/>
                  </a:cubicBezTo>
                  <a:cubicBezTo>
                    <a:pt x="961" y="71"/>
                    <a:pt x="1003" y="112"/>
                    <a:pt x="1030" y="138"/>
                  </a:cubicBezTo>
                  <a:cubicBezTo>
                    <a:pt x="1057" y="164"/>
                    <a:pt x="1077" y="185"/>
                    <a:pt x="1097" y="202"/>
                  </a:cubicBezTo>
                  <a:cubicBezTo>
                    <a:pt x="1117" y="219"/>
                    <a:pt x="1133" y="227"/>
                    <a:pt x="1152" y="241"/>
                  </a:cubicBezTo>
                  <a:cubicBezTo>
                    <a:pt x="1171" y="255"/>
                    <a:pt x="1194" y="270"/>
                    <a:pt x="1209" y="286"/>
                  </a:cubicBezTo>
                  <a:cubicBezTo>
                    <a:pt x="1224" y="302"/>
                    <a:pt x="1227" y="321"/>
                    <a:pt x="1241" y="337"/>
                  </a:cubicBezTo>
                  <a:cubicBezTo>
                    <a:pt x="1255" y="353"/>
                    <a:pt x="1279" y="370"/>
                    <a:pt x="1293" y="382"/>
                  </a:cubicBezTo>
                  <a:cubicBezTo>
                    <a:pt x="1307" y="394"/>
                    <a:pt x="1316" y="400"/>
                    <a:pt x="1325" y="40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816" y="1348"/>
              <a:ext cx="1520" cy="474"/>
            </a:xfrm>
            <a:custGeom>
              <a:avLst/>
              <a:gdLst>
                <a:gd name="T0" fmla="*/ 0 w 1594"/>
                <a:gd name="T1" fmla="*/ 480 h 486"/>
                <a:gd name="T2" fmla="*/ 166 w 1594"/>
                <a:gd name="T3" fmla="*/ 384 h 486"/>
                <a:gd name="T4" fmla="*/ 304 w 1594"/>
                <a:gd name="T5" fmla="*/ 317 h 486"/>
                <a:gd name="T6" fmla="*/ 406 w 1594"/>
                <a:gd name="T7" fmla="*/ 269 h 486"/>
                <a:gd name="T8" fmla="*/ 605 w 1594"/>
                <a:gd name="T9" fmla="*/ 189 h 486"/>
                <a:gd name="T10" fmla="*/ 762 w 1594"/>
                <a:gd name="T11" fmla="*/ 118 h 486"/>
                <a:gd name="T12" fmla="*/ 874 w 1594"/>
                <a:gd name="T13" fmla="*/ 64 h 486"/>
                <a:gd name="T14" fmla="*/ 960 w 1594"/>
                <a:gd name="T15" fmla="*/ 29 h 486"/>
                <a:gd name="T16" fmla="*/ 1040 w 1594"/>
                <a:gd name="T17" fmla="*/ 3 h 486"/>
                <a:gd name="T18" fmla="*/ 1110 w 1594"/>
                <a:gd name="T19" fmla="*/ 13 h 486"/>
                <a:gd name="T20" fmla="*/ 1162 w 1594"/>
                <a:gd name="T21" fmla="*/ 67 h 486"/>
                <a:gd name="T22" fmla="*/ 1290 w 1594"/>
                <a:gd name="T23" fmla="*/ 186 h 486"/>
                <a:gd name="T24" fmla="*/ 1370 w 1594"/>
                <a:gd name="T25" fmla="*/ 275 h 486"/>
                <a:gd name="T26" fmla="*/ 1453 w 1594"/>
                <a:gd name="T27" fmla="*/ 349 h 486"/>
                <a:gd name="T28" fmla="*/ 1514 w 1594"/>
                <a:gd name="T29" fmla="*/ 406 h 486"/>
                <a:gd name="T30" fmla="*/ 1568 w 1594"/>
                <a:gd name="T31" fmla="*/ 454 h 486"/>
                <a:gd name="T32" fmla="*/ 1594 w 1594"/>
                <a:gd name="T33" fmla="*/ 486 h 4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594"/>
                <a:gd name="T52" fmla="*/ 0 h 486"/>
                <a:gd name="T53" fmla="*/ 1594 w 1594"/>
                <a:gd name="T54" fmla="*/ 486 h 4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594" h="486">
                  <a:moveTo>
                    <a:pt x="0" y="480"/>
                  </a:moveTo>
                  <a:cubicBezTo>
                    <a:pt x="57" y="445"/>
                    <a:pt x="115" y="411"/>
                    <a:pt x="166" y="384"/>
                  </a:cubicBezTo>
                  <a:cubicBezTo>
                    <a:pt x="217" y="357"/>
                    <a:pt x="264" y="336"/>
                    <a:pt x="304" y="317"/>
                  </a:cubicBezTo>
                  <a:cubicBezTo>
                    <a:pt x="344" y="298"/>
                    <a:pt x="356" y="290"/>
                    <a:pt x="406" y="269"/>
                  </a:cubicBezTo>
                  <a:cubicBezTo>
                    <a:pt x="456" y="248"/>
                    <a:pt x="546" y="214"/>
                    <a:pt x="605" y="189"/>
                  </a:cubicBezTo>
                  <a:cubicBezTo>
                    <a:pt x="664" y="164"/>
                    <a:pt x="717" y="139"/>
                    <a:pt x="762" y="118"/>
                  </a:cubicBezTo>
                  <a:cubicBezTo>
                    <a:pt x="807" y="97"/>
                    <a:pt x="841" y="79"/>
                    <a:pt x="874" y="64"/>
                  </a:cubicBezTo>
                  <a:cubicBezTo>
                    <a:pt x="907" y="49"/>
                    <a:pt x="932" y="39"/>
                    <a:pt x="960" y="29"/>
                  </a:cubicBezTo>
                  <a:cubicBezTo>
                    <a:pt x="988" y="19"/>
                    <a:pt x="1015" y="6"/>
                    <a:pt x="1040" y="3"/>
                  </a:cubicBezTo>
                  <a:cubicBezTo>
                    <a:pt x="1065" y="0"/>
                    <a:pt x="1090" y="2"/>
                    <a:pt x="1110" y="13"/>
                  </a:cubicBezTo>
                  <a:cubicBezTo>
                    <a:pt x="1130" y="24"/>
                    <a:pt x="1132" y="38"/>
                    <a:pt x="1162" y="67"/>
                  </a:cubicBezTo>
                  <a:cubicBezTo>
                    <a:pt x="1192" y="96"/>
                    <a:pt x="1255" y="151"/>
                    <a:pt x="1290" y="186"/>
                  </a:cubicBezTo>
                  <a:cubicBezTo>
                    <a:pt x="1325" y="221"/>
                    <a:pt x="1343" y="248"/>
                    <a:pt x="1370" y="275"/>
                  </a:cubicBezTo>
                  <a:cubicBezTo>
                    <a:pt x="1397" y="302"/>
                    <a:pt x="1429" y="327"/>
                    <a:pt x="1453" y="349"/>
                  </a:cubicBezTo>
                  <a:cubicBezTo>
                    <a:pt x="1477" y="371"/>
                    <a:pt x="1495" y="388"/>
                    <a:pt x="1514" y="406"/>
                  </a:cubicBezTo>
                  <a:cubicBezTo>
                    <a:pt x="1533" y="424"/>
                    <a:pt x="1555" y="441"/>
                    <a:pt x="1568" y="454"/>
                  </a:cubicBezTo>
                  <a:cubicBezTo>
                    <a:pt x="1581" y="467"/>
                    <a:pt x="1587" y="476"/>
                    <a:pt x="1594" y="48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3"/>
            <p:cNvSpPr>
              <a:spLocks/>
            </p:cNvSpPr>
            <p:nvPr/>
          </p:nvSpPr>
          <p:spPr bwMode="auto">
            <a:xfrm>
              <a:off x="661" y="1280"/>
              <a:ext cx="1798" cy="540"/>
            </a:xfrm>
            <a:custGeom>
              <a:avLst/>
              <a:gdLst>
                <a:gd name="T0" fmla="*/ 0 w 1885"/>
                <a:gd name="T1" fmla="*/ 553 h 553"/>
                <a:gd name="T2" fmla="*/ 150 w 1885"/>
                <a:gd name="T3" fmla="*/ 476 h 553"/>
                <a:gd name="T4" fmla="*/ 345 w 1885"/>
                <a:gd name="T5" fmla="*/ 371 h 553"/>
                <a:gd name="T6" fmla="*/ 541 w 1885"/>
                <a:gd name="T7" fmla="*/ 275 h 553"/>
                <a:gd name="T8" fmla="*/ 694 w 1885"/>
                <a:gd name="T9" fmla="*/ 211 h 553"/>
                <a:gd name="T10" fmla="*/ 845 w 1885"/>
                <a:gd name="T11" fmla="*/ 160 h 553"/>
                <a:gd name="T12" fmla="*/ 995 w 1885"/>
                <a:gd name="T13" fmla="*/ 92 h 553"/>
                <a:gd name="T14" fmla="*/ 1113 w 1885"/>
                <a:gd name="T15" fmla="*/ 41 h 553"/>
                <a:gd name="T16" fmla="*/ 1200 w 1885"/>
                <a:gd name="T17" fmla="*/ 6 h 553"/>
                <a:gd name="T18" fmla="*/ 1241 w 1885"/>
                <a:gd name="T19" fmla="*/ 6 h 553"/>
                <a:gd name="T20" fmla="*/ 1289 w 1885"/>
                <a:gd name="T21" fmla="*/ 12 h 553"/>
                <a:gd name="T22" fmla="*/ 1379 w 1885"/>
                <a:gd name="T23" fmla="*/ 80 h 553"/>
                <a:gd name="T24" fmla="*/ 1472 w 1885"/>
                <a:gd name="T25" fmla="*/ 160 h 553"/>
                <a:gd name="T26" fmla="*/ 1555 w 1885"/>
                <a:gd name="T27" fmla="*/ 246 h 553"/>
                <a:gd name="T28" fmla="*/ 1641 w 1885"/>
                <a:gd name="T29" fmla="*/ 332 h 553"/>
                <a:gd name="T30" fmla="*/ 1715 w 1885"/>
                <a:gd name="T31" fmla="*/ 422 h 553"/>
                <a:gd name="T32" fmla="*/ 1792 w 1885"/>
                <a:gd name="T33" fmla="*/ 480 h 553"/>
                <a:gd name="T34" fmla="*/ 1837 w 1885"/>
                <a:gd name="T35" fmla="*/ 515 h 553"/>
                <a:gd name="T36" fmla="*/ 1885 w 1885"/>
                <a:gd name="T37" fmla="*/ 553 h 55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885"/>
                <a:gd name="T58" fmla="*/ 0 h 553"/>
                <a:gd name="T59" fmla="*/ 1885 w 1885"/>
                <a:gd name="T60" fmla="*/ 553 h 55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885" h="553">
                  <a:moveTo>
                    <a:pt x="0" y="553"/>
                  </a:moveTo>
                  <a:cubicBezTo>
                    <a:pt x="46" y="529"/>
                    <a:pt x="93" y="506"/>
                    <a:pt x="150" y="476"/>
                  </a:cubicBezTo>
                  <a:cubicBezTo>
                    <a:pt x="207" y="446"/>
                    <a:pt x="280" y="404"/>
                    <a:pt x="345" y="371"/>
                  </a:cubicBezTo>
                  <a:cubicBezTo>
                    <a:pt x="410" y="338"/>
                    <a:pt x="483" y="302"/>
                    <a:pt x="541" y="275"/>
                  </a:cubicBezTo>
                  <a:cubicBezTo>
                    <a:pt x="599" y="248"/>
                    <a:pt x="643" y="230"/>
                    <a:pt x="694" y="211"/>
                  </a:cubicBezTo>
                  <a:cubicBezTo>
                    <a:pt x="745" y="192"/>
                    <a:pt x="795" y="180"/>
                    <a:pt x="845" y="160"/>
                  </a:cubicBezTo>
                  <a:cubicBezTo>
                    <a:pt x="895" y="140"/>
                    <a:pt x="950" y="112"/>
                    <a:pt x="995" y="92"/>
                  </a:cubicBezTo>
                  <a:cubicBezTo>
                    <a:pt x="1040" y="72"/>
                    <a:pt x="1079" y="55"/>
                    <a:pt x="1113" y="41"/>
                  </a:cubicBezTo>
                  <a:cubicBezTo>
                    <a:pt x="1147" y="27"/>
                    <a:pt x="1179" y="12"/>
                    <a:pt x="1200" y="6"/>
                  </a:cubicBezTo>
                  <a:cubicBezTo>
                    <a:pt x="1221" y="0"/>
                    <a:pt x="1226" y="5"/>
                    <a:pt x="1241" y="6"/>
                  </a:cubicBezTo>
                  <a:cubicBezTo>
                    <a:pt x="1256" y="7"/>
                    <a:pt x="1266" y="0"/>
                    <a:pt x="1289" y="12"/>
                  </a:cubicBezTo>
                  <a:cubicBezTo>
                    <a:pt x="1312" y="24"/>
                    <a:pt x="1349" y="55"/>
                    <a:pt x="1379" y="80"/>
                  </a:cubicBezTo>
                  <a:cubicBezTo>
                    <a:pt x="1409" y="105"/>
                    <a:pt x="1443" y="132"/>
                    <a:pt x="1472" y="160"/>
                  </a:cubicBezTo>
                  <a:cubicBezTo>
                    <a:pt x="1501" y="188"/>
                    <a:pt x="1527" y="217"/>
                    <a:pt x="1555" y="246"/>
                  </a:cubicBezTo>
                  <a:cubicBezTo>
                    <a:pt x="1583" y="275"/>
                    <a:pt x="1614" y="303"/>
                    <a:pt x="1641" y="332"/>
                  </a:cubicBezTo>
                  <a:cubicBezTo>
                    <a:pt x="1668" y="361"/>
                    <a:pt x="1690" y="397"/>
                    <a:pt x="1715" y="422"/>
                  </a:cubicBezTo>
                  <a:cubicBezTo>
                    <a:pt x="1740" y="447"/>
                    <a:pt x="1772" y="465"/>
                    <a:pt x="1792" y="480"/>
                  </a:cubicBezTo>
                  <a:cubicBezTo>
                    <a:pt x="1812" y="495"/>
                    <a:pt x="1821" y="503"/>
                    <a:pt x="1837" y="515"/>
                  </a:cubicBezTo>
                  <a:cubicBezTo>
                    <a:pt x="1853" y="527"/>
                    <a:pt x="1869" y="540"/>
                    <a:pt x="1885" y="5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4"/>
            <p:cNvSpPr>
              <a:spLocks/>
            </p:cNvSpPr>
            <p:nvPr/>
          </p:nvSpPr>
          <p:spPr bwMode="auto">
            <a:xfrm>
              <a:off x="484" y="1204"/>
              <a:ext cx="2115" cy="616"/>
            </a:xfrm>
            <a:custGeom>
              <a:avLst/>
              <a:gdLst>
                <a:gd name="T0" fmla="*/ 0 w 2218"/>
                <a:gd name="T1" fmla="*/ 625 h 631"/>
                <a:gd name="T2" fmla="*/ 39 w 2218"/>
                <a:gd name="T3" fmla="*/ 596 h 631"/>
                <a:gd name="T4" fmla="*/ 87 w 2218"/>
                <a:gd name="T5" fmla="*/ 574 h 631"/>
                <a:gd name="T6" fmla="*/ 128 w 2218"/>
                <a:gd name="T7" fmla="*/ 554 h 631"/>
                <a:gd name="T8" fmla="*/ 157 w 2218"/>
                <a:gd name="T9" fmla="*/ 522 h 631"/>
                <a:gd name="T10" fmla="*/ 224 w 2218"/>
                <a:gd name="T11" fmla="*/ 522 h 631"/>
                <a:gd name="T12" fmla="*/ 234 w 2218"/>
                <a:gd name="T13" fmla="*/ 494 h 631"/>
                <a:gd name="T14" fmla="*/ 285 w 2218"/>
                <a:gd name="T15" fmla="*/ 484 h 631"/>
                <a:gd name="T16" fmla="*/ 317 w 2218"/>
                <a:gd name="T17" fmla="*/ 452 h 631"/>
                <a:gd name="T18" fmla="*/ 359 w 2218"/>
                <a:gd name="T19" fmla="*/ 452 h 631"/>
                <a:gd name="T20" fmla="*/ 397 w 2218"/>
                <a:gd name="T21" fmla="*/ 426 h 631"/>
                <a:gd name="T22" fmla="*/ 480 w 2218"/>
                <a:gd name="T23" fmla="*/ 385 h 631"/>
                <a:gd name="T24" fmla="*/ 535 w 2218"/>
                <a:gd name="T25" fmla="*/ 356 h 631"/>
                <a:gd name="T26" fmla="*/ 576 w 2218"/>
                <a:gd name="T27" fmla="*/ 334 h 631"/>
                <a:gd name="T28" fmla="*/ 637 w 2218"/>
                <a:gd name="T29" fmla="*/ 305 h 631"/>
                <a:gd name="T30" fmla="*/ 704 w 2218"/>
                <a:gd name="T31" fmla="*/ 282 h 631"/>
                <a:gd name="T32" fmla="*/ 784 w 2218"/>
                <a:gd name="T33" fmla="*/ 244 h 631"/>
                <a:gd name="T34" fmla="*/ 896 w 2218"/>
                <a:gd name="T35" fmla="*/ 209 h 631"/>
                <a:gd name="T36" fmla="*/ 992 w 2218"/>
                <a:gd name="T37" fmla="*/ 164 h 631"/>
                <a:gd name="T38" fmla="*/ 1075 w 2218"/>
                <a:gd name="T39" fmla="*/ 142 h 631"/>
                <a:gd name="T40" fmla="*/ 1213 w 2218"/>
                <a:gd name="T41" fmla="*/ 87 h 631"/>
                <a:gd name="T42" fmla="*/ 1315 w 2218"/>
                <a:gd name="T43" fmla="*/ 42 h 631"/>
                <a:gd name="T44" fmla="*/ 1392 w 2218"/>
                <a:gd name="T45" fmla="*/ 7 h 631"/>
                <a:gd name="T46" fmla="*/ 1443 w 2218"/>
                <a:gd name="T47" fmla="*/ 7 h 631"/>
                <a:gd name="T48" fmla="*/ 1543 w 2218"/>
                <a:gd name="T49" fmla="*/ 52 h 631"/>
                <a:gd name="T50" fmla="*/ 1677 w 2218"/>
                <a:gd name="T51" fmla="*/ 161 h 631"/>
                <a:gd name="T52" fmla="*/ 1754 w 2218"/>
                <a:gd name="T53" fmla="*/ 241 h 631"/>
                <a:gd name="T54" fmla="*/ 1840 w 2218"/>
                <a:gd name="T55" fmla="*/ 318 h 631"/>
                <a:gd name="T56" fmla="*/ 1911 w 2218"/>
                <a:gd name="T57" fmla="*/ 375 h 631"/>
                <a:gd name="T58" fmla="*/ 1965 w 2218"/>
                <a:gd name="T59" fmla="*/ 433 h 631"/>
                <a:gd name="T60" fmla="*/ 2010 w 2218"/>
                <a:gd name="T61" fmla="*/ 474 h 631"/>
                <a:gd name="T62" fmla="*/ 2067 w 2218"/>
                <a:gd name="T63" fmla="*/ 519 h 631"/>
                <a:gd name="T64" fmla="*/ 2135 w 2218"/>
                <a:gd name="T65" fmla="*/ 561 h 631"/>
                <a:gd name="T66" fmla="*/ 2189 w 2218"/>
                <a:gd name="T67" fmla="*/ 612 h 631"/>
                <a:gd name="T68" fmla="*/ 2218 w 2218"/>
                <a:gd name="T69" fmla="*/ 631 h 6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18"/>
                <a:gd name="T106" fmla="*/ 0 h 631"/>
                <a:gd name="T107" fmla="*/ 2218 w 2218"/>
                <a:gd name="T108" fmla="*/ 631 h 63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18" h="631">
                  <a:moveTo>
                    <a:pt x="0" y="625"/>
                  </a:moveTo>
                  <a:cubicBezTo>
                    <a:pt x="12" y="614"/>
                    <a:pt x="25" y="604"/>
                    <a:pt x="39" y="596"/>
                  </a:cubicBezTo>
                  <a:cubicBezTo>
                    <a:pt x="53" y="588"/>
                    <a:pt x="72" y="581"/>
                    <a:pt x="87" y="574"/>
                  </a:cubicBezTo>
                  <a:cubicBezTo>
                    <a:pt x="102" y="567"/>
                    <a:pt x="116" y="563"/>
                    <a:pt x="128" y="554"/>
                  </a:cubicBezTo>
                  <a:cubicBezTo>
                    <a:pt x="140" y="545"/>
                    <a:pt x="141" y="527"/>
                    <a:pt x="157" y="522"/>
                  </a:cubicBezTo>
                  <a:cubicBezTo>
                    <a:pt x="173" y="517"/>
                    <a:pt x="211" y="527"/>
                    <a:pt x="224" y="522"/>
                  </a:cubicBezTo>
                  <a:cubicBezTo>
                    <a:pt x="237" y="517"/>
                    <a:pt x="224" y="500"/>
                    <a:pt x="234" y="494"/>
                  </a:cubicBezTo>
                  <a:cubicBezTo>
                    <a:pt x="244" y="488"/>
                    <a:pt x="271" y="491"/>
                    <a:pt x="285" y="484"/>
                  </a:cubicBezTo>
                  <a:cubicBezTo>
                    <a:pt x="299" y="477"/>
                    <a:pt x="305" y="457"/>
                    <a:pt x="317" y="452"/>
                  </a:cubicBezTo>
                  <a:cubicBezTo>
                    <a:pt x="329" y="447"/>
                    <a:pt x="346" y="456"/>
                    <a:pt x="359" y="452"/>
                  </a:cubicBezTo>
                  <a:cubicBezTo>
                    <a:pt x="372" y="448"/>
                    <a:pt x="377" y="437"/>
                    <a:pt x="397" y="426"/>
                  </a:cubicBezTo>
                  <a:cubicBezTo>
                    <a:pt x="417" y="415"/>
                    <a:pt x="457" y="397"/>
                    <a:pt x="480" y="385"/>
                  </a:cubicBezTo>
                  <a:cubicBezTo>
                    <a:pt x="503" y="373"/>
                    <a:pt x="519" y="364"/>
                    <a:pt x="535" y="356"/>
                  </a:cubicBezTo>
                  <a:cubicBezTo>
                    <a:pt x="551" y="348"/>
                    <a:pt x="559" y="342"/>
                    <a:pt x="576" y="334"/>
                  </a:cubicBezTo>
                  <a:cubicBezTo>
                    <a:pt x="593" y="326"/>
                    <a:pt x="616" y="314"/>
                    <a:pt x="637" y="305"/>
                  </a:cubicBezTo>
                  <a:cubicBezTo>
                    <a:pt x="658" y="296"/>
                    <a:pt x="680" y="292"/>
                    <a:pt x="704" y="282"/>
                  </a:cubicBezTo>
                  <a:cubicBezTo>
                    <a:pt x="728" y="272"/>
                    <a:pt x="752" y="256"/>
                    <a:pt x="784" y="244"/>
                  </a:cubicBezTo>
                  <a:cubicBezTo>
                    <a:pt x="816" y="232"/>
                    <a:pt x="861" y="222"/>
                    <a:pt x="896" y="209"/>
                  </a:cubicBezTo>
                  <a:cubicBezTo>
                    <a:pt x="931" y="196"/>
                    <a:pt x="962" y="175"/>
                    <a:pt x="992" y="164"/>
                  </a:cubicBezTo>
                  <a:cubicBezTo>
                    <a:pt x="1022" y="153"/>
                    <a:pt x="1038" y="155"/>
                    <a:pt x="1075" y="142"/>
                  </a:cubicBezTo>
                  <a:cubicBezTo>
                    <a:pt x="1112" y="129"/>
                    <a:pt x="1173" y="104"/>
                    <a:pt x="1213" y="87"/>
                  </a:cubicBezTo>
                  <a:cubicBezTo>
                    <a:pt x="1253" y="70"/>
                    <a:pt x="1285" y="55"/>
                    <a:pt x="1315" y="42"/>
                  </a:cubicBezTo>
                  <a:cubicBezTo>
                    <a:pt x="1345" y="29"/>
                    <a:pt x="1371" y="13"/>
                    <a:pt x="1392" y="7"/>
                  </a:cubicBezTo>
                  <a:cubicBezTo>
                    <a:pt x="1413" y="1"/>
                    <a:pt x="1418" y="0"/>
                    <a:pt x="1443" y="7"/>
                  </a:cubicBezTo>
                  <a:cubicBezTo>
                    <a:pt x="1468" y="14"/>
                    <a:pt x="1504" y="26"/>
                    <a:pt x="1543" y="52"/>
                  </a:cubicBezTo>
                  <a:cubicBezTo>
                    <a:pt x="1582" y="78"/>
                    <a:pt x="1642" y="130"/>
                    <a:pt x="1677" y="161"/>
                  </a:cubicBezTo>
                  <a:cubicBezTo>
                    <a:pt x="1712" y="192"/>
                    <a:pt x="1727" y="215"/>
                    <a:pt x="1754" y="241"/>
                  </a:cubicBezTo>
                  <a:cubicBezTo>
                    <a:pt x="1781" y="267"/>
                    <a:pt x="1814" y="296"/>
                    <a:pt x="1840" y="318"/>
                  </a:cubicBezTo>
                  <a:cubicBezTo>
                    <a:pt x="1866" y="340"/>
                    <a:pt x="1890" y="356"/>
                    <a:pt x="1911" y="375"/>
                  </a:cubicBezTo>
                  <a:cubicBezTo>
                    <a:pt x="1932" y="394"/>
                    <a:pt x="1949" y="417"/>
                    <a:pt x="1965" y="433"/>
                  </a:cubicBezTo>
                  <a:cubicBezTo>
                    <a:pt x="1981" y="449"/>
                    <a:pt x="1993" y="460"/>
                    <a:pt x="2010" y="474"/>
                  </a:cubicBezTo>
                  <a:cubicBezTo>
                    <a:pt x="2027" y="488"/>
                    <a:pt x="2046" y="505"/>
                    <a:pt x="2067" y="519"/>
                  </a:cubicBezTo>
                  <a:cubicBezTo>
                    <a:pt x="2088" y="533"/>
                    <a:pt x="2115" y="546"/>
                    <a:pt x="2135" y="561"/>
                  </a:cubicBezTo>
                  <a:cubicBezTo>
                    <a:pt x="2155" y="576"/>
                    <a:pt x="2175" y="600"/>
                    <a:pt x="2189" y="612"/>
                  </a:cubicBezTo>
                  <a:cubicBezTo>
                    <a:pt x="2203" y="624"/>
                    <a:pt x="2207" y="626"/>
                    <a:pt x="2218" y="63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2849" y="1162"/>
              <a:ext cx="2456" cy="655"/>
            </a:xfrm>
            <a:custGeom>
              <a:avLst/>
              <a:gdLst>
                <a:gd name="T0" fmla="*/ 0 w 2576"/>
                <a:gd name="T1" fmla="*/ 671 h 671"/>
                <a:gd name="T2" fmla="*/ 202 w 2576"/>
                <a:gd name="T3" fmla="*/ 597 h 671"/>
                <a:gd name="T4" fmla="*/ 323 w 2576"/>
                <a:gd name="T5" fmla="*/ 530 h 671"/>
                <a:gd name="T6" fmla="*/ 435 w 2576"/>
                <a:gd name="T7" fmla="*/ 505 h 671"/>
                <a:gd name="T8" fmla="*/ 595 w 2576"/>
                <a:gd name="T9" fmla="*/ 457 h 671"/>
                <a:gd name="T10" fmla="*/ 791 w 2576"/>
                <a:gd name="T11" fmla="*/ 389 h 671"/>
                <a:gd name="T12" fmla="*/ 957 w 2576"/>
                <a:gd name="T13" fmla="*/ 329 h 671"/>
                <a:gd name="T14" fmla="*/ 1101 w 2576"/>
                <a:gd name="T15" fmla="*/ 255 h 671"/>
                <a:gd name="T16" fmla="*/ 1255 w 2576"/>
                <a:gd name="T17" fmla="*/ 207 h 671"/>
                <a:gd name="T18" fmla="*/ 1373 w 2576"/>
                <a:gd name="T19" fmla="*/ 140 h 671"/>
                <a:gd name="T20" fmla="*/ 1520 w 2576"/>
                <a:gd name="T21" fmla="*/ 79 h 671"/>
                <a:gd name="T22" fmla="*/ 1661 w 2576"/>
                <a:gd name="T23" fmla="*/ 44 h 671"/>
                <a:gd name="T24" fmla="*/ 1757 w 2576"/>
                <a:gd name="T25" fmla="*/ 5 h 671"/>
                <a:gd name="T26" fmla="*/ 1856 w 2576"/>
                <a:gd name="T27" fmla="*/ 18 h 671"/>
                <a:gd name="T28" fmla="*/ 1959 w 2576"/>
                <a:gd name="T29" fmla="*/ 114 h 671"/>
                <a:gd name="T30" fmla="*/ 2112 w 2576"/>
                <a:gd name="T31" fmla="*/ 274 h 671"/>
                <a:gd name="T32" fmla="*/ 2263 w 2576"/>
                <a:gd name="T33" fmla="*/ 434 h 671"/>
                <a:gd name="T34" fmla="*/ 2355 w 2576"/>
                <a:gd name="T35" fmla="*/ 517 h 671"/>
                <a:gd name="T36" fmla="*/ 2467 w 2576"/>
                <a:gd name="T37" fmla="*/ 594 h 671"/>
                <a:gd name="T38" fmla="*/ 2528 w 2576"/>
                <a:gd name="T39" fmla="*/ 623 h 671"/>
                <a:gd name="T40" fmla="*/ 2576 w 2576"/>
                <a:gd name="T41" fmla="*/ 671 h 67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76"/>
                <a:gd name="T64" fmla="*/ 0 h 671"/>
                <a:gd name="T65" fmla="*/ 2576 w 2576"/>
                <a:gd name="T66" fmla="*/ 671 h 67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76" h="671">
                  <a:moveTo>
                    <a:pt x="0" y="671"/>
                  </a:moveTo>
                  <a:cubicBezTo>
                    <a:pt x="74" y="646"/>
                    <a:pt x="148" y="621"/>
                    <a:pt x="202" y="597"/>
                  </a:cubicBezTo>
                  <a:cubicBezTo>
                    <a:pt x="256" y="573"/>
                    <a:pt x="284" y="545"/>
                    <a:pt x="323" y="530"/>
                  </a:cubicBezTo>
                  <a:cubicBezTo>
                    <a:pt x="362" y="515"/>
                    <a:pt x="390" y="517"/>
                    <a:pt x="435" y="505"/>
                  </a:cubicBezTo>
                  <a:cubicBezTo>
                    <a:pt x="480" y="493"/>
                    <a:pt x="536" y="476"/>
                    <a:pt x="595" y="457"/>
                  </a:cubicBezTo>
                  <a:cubicBezTo>
                    <a:pt x="654" y="438"/>
                    <a:pt x="731" y="410"/>
                    <a:pt x="791" y="389"/>
                  </a:cubicBezTo>
                  <a:cubicBezTo>
                    <a:pt x="851" y="368"/>
                    <a:pt x="906" y="351"/>
                    <a:pt x="957" y="329"/>
                  </a:cubicBezTo>
                  <a:cubicBezTo>
                    <a:pt x="1008" y="307"/>
                    <a:pt x="1051" y="275"/>
                    <a:pt x="1101" y="255"/>
                  </a:cubicBezTo>
                  <a:cubicBezTo>
                    <a:pt x="1151" y="235"/>
                    <a:pt x="1210" y="226"/>
                    <a:pt x="1255" y="207"/>
                  </a:cubicBezTo>
                  <a:cubicBezTo>
                    <a:pt x="1300" y="188"/>
                    <a:pt x="1329" y="161"/>
                    <a:pt x="1373" y="140"/>
                  </a:cubicBezTo>
                  <a:cubicBezTo>
                    <a:pt x="1417" y="119"/>
                    <a:pt x="1472" y="95"/>
                    <a:pt x="1520" y="79"/>
                  </a:cubicBezTo>
                  <a:cubicBezTo>
                    <a:pt x="1568" y="63"/>
                    <a:pt x="1622" y="56"/>
                    <a:pt x="1661" y="44"/>
                  </a:cubicBezTo>
                  <a:cubicBezTo>
                    <a:pt x="1700" y="32"/>
                    <a:pt x="1725" y="9"/>
                    <a:pt x="1757" y="5"/>
                  </a:cubicBezTo>
                  <a:cubicBezTo>
                    <a:pt x="1789" y="1"/>
                    <a:pt x="1822" y="0"/>
                    <a:pt x="1856" y="18"/>
                  </a:cubicBezTo>
                  <a:cubicBezTo>
                    <a:pt x="1890" y="36"/>
                    <a:pt x="1916" y="71"/>
                    <a:pt x="1959" y="114"/>
                  </a:cubicBezTo>
                  <a:cubicBezTo>
                    <a:pt x="2002" y="157"/>
                    <a:pt x="2061" y="221"/>
                    <a:pt x="2112" y="274"/>
                  </a:cubicBezTo>
                  <a:cubicBezTo>
                    <a:pt x="2163" y="327"/>
                    <a:pt x="2223" y="394"/>
                    <a:pt x="2263" y="434"/>
                  </a:cubicBezTo>
                  <a:cubicBezTo>
                    <a:pt x="2303" y="474"/>
                    <a:pt x="2321" y="490"/>
                    <a:pt x="2355" y="517"/>
                  </a:cubicBezTo>
                  <a:cubicBezTo>
                    <a:pt x="2389" y="544"/>
                    <a:pt x="2438" y="576"/>
                    <a:pt x="2467" y="594"/>
                  </a:cubicBezTo>
                  <a:cubicBezTo>
                    <a:pt x="2496" y="612"/>
                    <a:pt x="2510" y="610"/>
                    <a:pt x="2528" y="623"/>
                  </a:cubicBezTo>
                  <a:cubicBezTo>
                    <a:pt x="2546" y="636"/>
                    <a:pt x="2561" y="653"/>
                    <a:pt x="2576" y="671"/>
                  </a:cubicBezTo>
                </a:path>
              </a:pathLst>
            </a:custGeom>
            <a:solidFill>
              <a:schemeClr val="accent2"/>
            </a:solidFill>
            <a:ln w="190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4509" y="1179"/>
              <a:ext cx="720" cy="641"/>
            </a:xfrm>
            <a:custGeom>
              <a:avLst/>
              <a:gdLst>
                <a:gd name="T0" fmla="*/ 0 w 755"/>
                <a:gd name="T1" fmla="*/ 0 h 656"/>
                <a:gd name="T2" fmla="*/ 93 w 755"/>
                <a:gd name="T3" fmla="*/ 96 h 656"/>
                <a:gd name="T4" fmla="*/ 205 w 755"/>
                <a:gd name="T5" fmla="*/ 189 h 656"/>
                <a:gd name="T6" fmla="*/ 333 w 755"/>
                <a:gd name="T7" fmla="*/ 317 h 656"/>
                <a:gd name="T8" fmla="*/ 448 w 755"/>
                <a:gd name="T9" fmla="*/ 410 h 656"/>
                <a:gd name="T10" fmla="*/ 538 w 755"/>
                <a:gd name="T11" fmla="*/ 496 h 656"/>
                <a:gd name="T12" fmla="*/ 627 w 755"/>
                <a:gd name="T13" fmla="*/ 557 h 656"/>
                <a:gd name="T14" fmla="*/ 688 w 755"/>
                <a:gd name="T15" fmla="*/ 592 h 656"/>
                <a:gd name="T16" fmla="*/ 730 w 755"/>
                <a:gd name="T17" fmla="*/ 624 h 656"/>
                <a:gd name="T18" fmla="*/ 755 w 755"/>
                <a:gd name="T19" fmla="*/ 656 h 6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55"/>
                <a:gd name="T31" fmla="*/ 0 h 656"/>
                <a:gd name="T32" fmla="*/ 755 w 755"/>
                <a:gd name="T33" fmla="*/ 656 h 65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55" h="656">
                  <a:moveTo>
                    <a:pt x="0" y="0"/>
                  </a:moveTo>
                  <a:cubicBezTo>
                    <a:pt x="29" y="32"/>
                    <a:pt x="59" y="65"/>
                    <a:pt x="93" y="96"/>
                  </a:cubicBezTo>
                  <a:cubicBezTo>
                    <a:pt x="127" y="127"/>
                    <a:pt x="165" y="152"/>
                    <a:pt x="205" y="189"/>
                  </a:cubicBezTo>
                  <a:cubicBezTo>
                    <a:pt x="245" y="226"/>
                    <a:pt x="293" y="280"/>
                    <a:pt x="333" y="317"/>
                  </a:cubicBezTo>
                  <a:cubicBezTo>
                    <a:pt x="373" y="354"/>
                    <a:pt x="414" y="380"/>
                    <a:pt x="448" y="410"/>
                  </a:cubicBezTo>
                  <a:cubicBezTo>
                    <a:pt x="482" y="440"/>
                    <a:pt x="508" y="472"/>
                    <a:pt x="538" y="496"/>
                  </a:cubicBezTo>
                  <a:cubicBezTo>
                    <a:pt x="568" y="520"/>
                    <a:pt x="602" y="541"/>
                    <a:pt x="627" y="557"/>
                  </a:cubicBezTo>
                  <a:cubicBezTo>
                    <a:pt x="652" y="573"/>
                    <a:pt x="671" y="581"/>
                    <a:pt x="688" y="592"/>
                  </a:cubicBezTo>
                  <a:cubicBezTo>
                    <a:pt x="705" y="603"/>
                    <a:pt x="719" y="613"/>
                    <a:pt x="730" y="624"/>
                  </a:cubicBezTo>
                  <a:cubicBezTo>
                    <a:pt x="741" y="635"/>
                    <a:pt x="751" y="650"/>
                    <a:pt x="755" y="65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17"/>
            <p:cNvSpPr>
              <a:spLocks/>
            </p:cNvSpPr>
            <p:nvPr/>
          </p:nvSpPr>
          <p:spPr bwMode="auto">
            <a:xfrm>
              <a:off x="4435" y="1208"/>
              <a:ext cx="681" cy="614"/>
            </a:xfrm>
            <a:custGeom>
              <a:avLst/>
              <a:gdLst>
                <a:gd name="T0" fmla="*/ 0 w 714"/>
                <a:gd name="T1" fmla="*/ 0 h 630"/>
                <a:gd name="T2" fmla="*/ 83 w 714"/>
                <a:gd name="T3" fmla="*/ 77 h 630"/>
                <a:gd name="T4" fmla="*/ 189 w 714"/>
                <a:gd name="T5" fmla="*/ 182 h 630"/>
                <a:gd name="T6" fmla="*/ 275 w 714"/>
                <a:gd name="T7" fmla="*/ 266 h 630"/>
                <a:gd name="T8" fmla="*/ 368 w 714"/>
                <a:gd name="T9" fmla="*/ 349 h 630"/>
                <a:gd name="T10" fmla="*/ 471 w 714"/>
                <a:gd name="T11" fmla="*/ 426 h 630"/>
                <a:gd name="T12" fmla="*/ 570 w 714"/>
                <a:gd name="T13" fmla="*/ 509 h 630"/>
                <a:gd name="T14" fmla="*/ 631 w 714"/>
                <a:gd name="T15" fmla="*/ 579 h 630"/>
                <a:gd name="T16" fmla="*/ 672 w 714"/>
                <a:gd name="T17" fmla="*/ 608 h 630"/>
                <a:gd name="T18" fmla="*/ 714 w 714"/>
                <a:gd name="T19" fmla="*/ 630 h 6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14"/>
                <a:gd name="T31" fmla="*/ 0 h 630"/>
                <a:gd name="T32" fmla="*/ 714 w 714"/>
                <a:gd name="T33" fmla="*/ 630 h 63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14" h="630">
                  <a:moveTo>
                    <a:pt x="0" y="0"/>
                  </a:moveTo>
                  <a:cubicBezTo>
                    <a:pt x="26" y="23"/>
                    <a:pt x="52" y="47"/>
                    <a:pt x="83" y="77"/>
                  </a:cubicBezTo>
                  <a:cubicBezTo>
                    <a:pt x="114" y="107"/>
                    <a:pt x="157" y="151"/>
                    <a:pt x="189" y="182"/>
                  </a:cubicBezTo>
                  <a:cubicBezTo>
                    <a:pt x="221" y="213"/>
                    <a:pt x="245" y="238"/>
                    <a:pt x="275" y="266"/>
                  </a:cubicBezTo>
                  <a:cubicBezTo>
                    <a:pt x="305" y="294"/>
                    <a:pt x="335" y="322"/>
                    <a:pt x="368" y="349"/>
                  </a:cubicBezTo>
                  <a:cubicBezTo>
                    <a:pt x="401" y="376"/>
                    <a:pt x="437" y="399"/>
                    <a:pt x="471" y="426"/>
                  </a:cubicBezTo>
                  <a:cubicBezTo>
                    <a:pt x="505" y="453"/>
                    <a:pt x="543" y="484"/>
                    <a:pt x="570" y="509"/>
                  </a:cubicBezTo>
                  <a:cubicBezTo>
                    <a:pt x="597" y="534"/>
                    <a:pt x="614" y="563"/>
                    <a:pt x="631" y="579"/>
                  </a:cubicBezTo>
                  <a:cubicBezTo>
                    <a:pt x="648" y="595"/>
                    <a:pt x="658" y="600"/>
                    <a:pt x="672" y="608"/>
                  </a:cubicBezTo>
                  <a:cubicBezTo>
                    <a:pt x="686" y="616"/>
                    <a:pt x="700" y="623"/>
                    <a:pt x="714" y="63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auto">
            <a:xfrm>
              <a:off x="4381" y="1220"/>
              <a:ext cx="613" cy="600"/>
            </a:xfrm>
            <a:custGeom>
              <a:avLst/>
              <a:gdLst>
                <a:gd name="T0" fmla="*/ 0 w 643"/>
                <a:gd name="T1" fmla="*/ 0 h 614"/>
                <a:gd name="T2" fmla="*/ 54 w 643"/>
                <a:gd name="T3" fmla="*/ 77 h 614"/>
                <a:gd name="T4" fmla="*/ 163 w 643"/>
                <a:gd name="T5" fmla="*/ 189 h 614"/>
                <a:gd name="T6" fmla="*/ 262 w 643"/>
                <a:gd name="T7" fmla="*/ 272 h 614"/>
                <a:gd name="T8" fmla="*/ 380 w 643"/>
                <a:gd name="T9" fmla="*/ 381 h 614"/>
                <a:gd name="T10" fmla="*/ 499 w 643"/>
                <a:gd name="T11" fmla="*/ 457 h 614"/>
                <a:gd name="T12" fmla="*/ 576 w 643"/>
                <a:gd name="T13" fmla="*/ 531 h 614"/>
                <a:gd name="T14" fmla="*/ 601 w 643"/>
                <a:gd name="T15" fmla="*/ 569 h 614"/>
                <a:gd name="T16" fmla="*/ 643 w 643"/>
                <a:gd name="T17" fmla="*/ 614 h 6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3"/>
                <a:gd name="T28" fmla="*/ 0 h 614"/>
                <a:gd name="T29" fmla="*/ 643 w 643"/>
                <a:gd name="T30" fmla="*/ 614 h 6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3" h="614">
                  <a:moveTo>
                    <a:pt x="0" y="0"/>
                  </a:moveTo>
                  <a:cubicBezTo>
                    <a:pt x="13" y="23"/>
                    <a:pt x="27" y="46"/>
                    <a:pt x="54" y="77"/>
                  </a:cubicBezTo>
                  <a:cubicBezTo>
                    <a:pt x="81" y="108"/>
                    <a:pt x="128" y="157"/>
                    <a:pt x="163" y="189"/>
                  </a:cubicBezTo>
                  <a:cubicBezTo>
                    <a:pt x="198" y="221"/>
                    <a:pt x="226" y="240"/>
                    <a:pt x="262" y="272"/>
                  </a:cubicBezTo>
                  <a:cubicBezTo>
                    <a:pt x="298" y="304"/>
                    <a:pt x="341" y="350"/>
                    <a:pt x="380" y="381"/>
                  </a:cubicBezTo>
                  <a:cubicBezTo>
                    <a:pt x="419" y="412"/>
                    <a:pt x="466" y="432"/>
                    <a:pt x="499" y="457"/>
                  </a:cubicBezTo>
                  <a:cubicBezTo>
                    <a:pt x="532" y="482"/>
                    <a:pt x="559" y="512"/>
                    <a:pt x="576" y="531"/>
                  </a:cubicBezTo>
                  <a:cubicBezTo>
                    <a:pt x="593" y="550"/>
                    <a:pt x="590" y="555"/>
                    <a:pt x="601" y="569"/>
                  </a:cubicBezTo>
                  <a:cubicBezTo>
                    <a:pt x="612" y="583"/>
                    <a:pt x="627" y="598"/>
                    <a:pt x="643" y="6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19"/>
            <p:cNvSpPr>
              <a:spLocks/>
            </p:cNvSpPr>
            <p:nvPr/>
          </p:nvSpPr>
          <p:spPr bwMode="auto">
            <a:xfrm>
              <a:off x="4313" y="1236"/>
              <a:ext cx="574" cy="586"/>
            </a:xfrm>
            <a:custGeom>
              <a:avLst/>
              <a:gdLst>
                <a:gd name="T0" fmla="*/ 0 w 602"/>
                <a:gd name="T1" fmla="*/ 0 h 601"/>
                <a:gd name="T2" fmla="*/ 58 w 602"/>
                <a:gd name="T3" fmla="*/ 73 h 601"/>
                <a:gd name="T4" fmla="*/ 144 w 602"/>
                <a:gd name="T5" fmla="*/ 163 h 601"/>
                <a:gd name="T6" fmla="*/ 211 w 602"/>
                <a:gd name="T7" fmla="*/ 237 h 601"/>
                <a:gd name="T8" fmla="*/ 314 w 602"/>
                <a:gd name="T9" fmla="*/ 336 h 601"/>
                <a:gd name="T10" fmla="*/ 442 w 602"/>
                <a:gd name="T11" fmla="*/ 438 h 601"/>
                <a:gd name="T12" fmla="*/ 509 w 602"/>
                <a:gd name="T13" fmla="*/ 502 h 601"/>
                <a:gd name="T14" fmla="*/ 586 w 602"/>
                <a:gd name="T15" fmla="*/ 579 h 601"/>
                <a:gd name="T16" fmla="*/ 602 w 602"/>
                <a:gd name="T17" fmla="*/ 601 h 6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02"/>
                <a:gd name="T28" fmla="*/ 0 h 601"/>
                <a:gd name="T29" fmla="*/ 602 w 602"/>
                <a:gd name="T30" fmla="*/ 601 h 60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02" h="601">
                  <a:moveTo>
                    <a:pt x="0" y="0"/>
                  </a:moveTo>
                  <a:cubicBezTo>
                    <a:pt x="17" y="23"/>
                    <a:pt x="34" y="46"/>
                    <a:pt x="58" y="73"/>
                  </a:cubicBezTo>
                  <a:cubicBezTo>
                    <a:pt x="82" y="100"/>
                    <a:pt x="119" y="136"/>
                    <a:pt x="144" y="163"/>
                  </a:cubicBezTo>
                  <a:cubicBezTo>
                    <a:pt x="169" y="190"/>
                    <a:pt x="183" y="208"/>
                    <a:pt x="211" y="237"/>
                  </a:cubicBezTo>
                  <a:cubicBezTo>
                    <a:pt x="239" y="266"/>
                    <a:pt x="276" y="303"/>
                    <a:pt x="314" y="336"/>
                  </a:cubicBezTo>
                  <a:cubicBezTo>
                    <a:pt x="352" y="369"/>
                    <a:pt x="409" y="410"/>
                    <a:pt x="442" y="438"/>
                  </a:cubicBezTo>
                  <a:cubicBezTo>
                    <a:pt x="475" y="466"/>
                    <a:pt x="485" y="479"/>
                    <a:pt x="509" y="502"/>
                  </a:cubicBezTo>
                  <a:cubicBezTo>
                    <a:pt x="533" y="525"/>
                    <a:pt x="571" y="563"/>
                    <a:pt x="586" y="579"/>
                  </a:cubicBezTo>
                  <a:cubicBezTo>
                    <a:pt x="601" y="595"/>
                    <a:pt x="601" y="598"/>
                    <a:pt x="602" y="6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0"/>
            <p:cNvSpPr>
              <a:spLocks/>
            </p:cNvSpPr>
            <p:nvPr/>
          </p:nvSpPr>
          <p:spPr bwMode="auto">
            <a:xfrm>
              <a:off x="4255" y="1257"/>
              <a:ext cx="528" cy="565"/>
            </a:xfrm>
            <a:custGeom>
              <a:avLst/>
              <a:gdLst>
                <a:gd name="T0" fmla="*/ 0 w 554"/>
                <a:gd name="T1" fmla="*/ 0 h 579"/>
                <a:gd name="T2" fmla="*/ 87 w 554"/>
                <a:gd name="T3" fmla="*/ 122 h 579"/>
                <a:gd name="T4" fmla="*/ 212 w 554"/>
                <a:gd name="T5" fmla="*/ 250 h 579"/>
                <a:gd name="T6" fmla="*/ 320 w 554"/>
                <a:gd name="T7" fmla="*/ 355 h 579"/>
                <a:gd name="T8" fmla="*/ 381 w 554"/>
                <a:gd name="T9" fmla="*/ 419 h 579"/>
                <a:gd name="T10" fmla="*/ 464 w 554"/>
                <a:gd name="T11" fmla="*/ 496 h 579"/>
                <a:gd name="T12" fmla="*/ 512 w 554"/>
                <a:gd name="T13" fmla="*/ 547 h 579"/>
                <a:gd name="T14" fmla="*/ 554 w 554"/>
                <a:gd name="T15" fmla="*/ 579 h 5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54"/>
                <a:gd name="T25" fmla="*/ 0 h 579"/>
                <a:gd name="T26" fmla="*/ 554 w 554"/>
                <a:gd name="T27" fmla="*/ 579 h 5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54" h="579">
                  <a:moveTo>
                    <a:pt x="0" y="0"/>
                  </a:moveTo>
                  <a:cubicBezTo>
                    <a:pt x="26" y="40"/>
                    <a:pt x="52" y="80"/>
                    <a:pt x="87" y="122"/>
                  </a:cubicBezTo>
                  <a:cubicBezTo>
                    <a:pt x="122" y="164"/>
                    <a:pt x="173" y="211"/>
                    <a:pt x="212" y="250"/>
                  </a:cubicBezTo>
                  <a:cubicBezTo>
                    <a:pt x="251" y="289"/>
                    <a:pt x="292" y="327"/>
                    <a:pt x="320" y="355"/>
                  </a:cubicBezTo>
                  <a:cubicBezTo>
                    <a:pt x="348" y="383"/>
                    <a:pt x="357" y="396"/>
                    <a:pt x="381" y="419"/>
                  </a:cubicBezTo>
                  <a:cubicBezTo>
                    <a:pt x="405" y="442"/>
                    <a:pt x="442" y="475"/>
                    <a:pt x="464" y="496"/>
                  </a:cubicBezTo>
                  <a:cubicBezTo>
                    <a:pt x="486" y="517"/>
                    <a:pt x="497" y="533"/>
                    <a:pt x="512" y="547"/>
                  </a:cubicBezTo>
                  <a:cubicBezTo>
                    <a:pt x="527" y="561"/>
                    <a:pt x="540" y="570"/>
                    <a:pt x="554" y="57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1"/>
            <p:cNvSpPr>
              <a:spLocks/>
            </p:cNvSpPr>
            <p:nvPr/>
          </p:nvSpPr>
          <p:spPr bwMode="auto">
            <a:xfrm>
              <a:off x="4191" y="1286"/>
              <a:ext cx="473" cy="521"/>
            </a:xfrm>
            <a:custGeom>
              <a:avLst/>
              <a:gdLst>
                <a:gd name="T0" fmla="*/ 0 w 496"/>
                <a:gd name="T1" fmla="*/ 0 h 534"/>
                <a:gd name="T2" fmla="*/ 96 w 496"/>
                <a:gd name="T3" fmla="*/ 131 h 534"/>
                <a:gd name="T4" fmla="*/ 176 w 496"/>
                <a:gd name="T5" fmla="*/ 218 h 534"/>
                <a:gd name="T6" fmla="*/ 307 w 496"/>
                <a:gd name="T7" fmla="*/ 342 h 534"/>
                <a:gd name="T8" fmla="*/ 400 w 496"/>
                <a:gd name="T9" fmla="*/ 435 h 534"/>
                <a:gd name="T10" fmla="*/ 461 w 496"/>
                <a:gd name="T11" fmla="*/ 490 h 534"/>
                <a:gd name="T12" fmla="*/ 496 w 496"/>
                <a:gd name="T13" fmla="*/ 534 h 5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96"/>
                <a:gd name="T22" fmla="*/ 0 h 534"/>
                <a:gd name="T23" fmla="*/ 496 w 496"/>
                <a:gd name="T24" fmla="*/ 534 h 5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96" h="534">
                  <a:moveTo>
                    <a:pt x="0" y="0"/>
                  </a:moveTo>
                  <a:cubicBezTo>
                    <a:pt x="33" y="47"/>
                    <a:pt x="67" y="95"/>
                    <a:pt x="96" y="131"/>
                  </a:cubicBezTo>
                  <a:cubicBezTo>
                    <a:pt x="125" y="167"/>
                    <a:pt x="141" y="183"/>
                    <a:pt x="176" y="218"/>
                  </a:cubicBezTo>
                  <a:cubicBezTo>
                    <a:pt x="211" y="253"/>
                    <a:pt x="270" y="306"/>
                    <a:pt x="307" y="342"/>
                  </a:cubicBezTo>
                  <a:cubicBezTo>
                    <a:pt x="344" y="378"/>
                    <a:pt x="375" y="411"/>
                    <a:pt x="400" y="435"/>
                  </a:cubicBezTo>
                  <a:cubicBezTo>
                    <a:pt x="425" y="459"/>
                    <a:pt x="445" y="473"/>
                    <a:pt x="461" y="490"/>
                  </a:cubicBezTo>
                  <a:cubicBezTo>
                    <a:pt x="477" y="507"/>
                    <a:pt x="489" y="524"/>
                    <a:pt x="496" y="53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2"/>
            <p:cNvSpPr>
              <a:spLocks/>
            </p:cNvSpPr>
            <p:nvPr/>
          </p:nvSpPr>
          <p:spPr bwMode="auto">
            <a:xfrm>
              <a:off x="4127" y="1323"/>
              <a:ext cx="458" cy="497"/>
            </a:xfrm>
            <a:custGeom>
              <a:avLst/>
              <a:gdLst>
                <a:gd name="T0" fmla="*/ 0 w 480"/>
                <a:gd name="T1" fmla="*/ 0 h 509"/>
                <a:gd name="T2" fmla="*/ 106 w 480"/>
                <a:gd name="T3" fmla="*/ 122 h 509"/>
                <a:gd name="T4" fmla="*/ 202 w 480"/>
                <a:gd name="T5" fmla="*/ 231 h 509"/>
                <a:gd name="T6" fmla="*/ 282 w 480"/>
                <a:gd name="T7" fmla="*/ 314 h 509"/>
                <a:gd name="T8" fmla="*/ 374 w 480"/>
                <a:gd name="T9" fmla="*/ 404 h 509"/>
                <a:gd name="T10" fmla="*/ 432 w 480"/>
                <a:gd name="T11" fmla="*/ 468 h 509"/>
                <a:gd name="T12" fmla="*/ 480 w 480"/>
                <a:gd name="T13" fmla="*/ 509 h 5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0"/>
                <a:gd name="T22" fmla="*/ 0 h 509"/>
                <a:gd name="T23" fmla="*/ 480 w 480"/>
                <a:gd name="T24" fmla="*/ 509 h 50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0" h="509">
                  <a:moveTo>
                    <a:pt x="0" y="0"/>
                  </a:moveTo>
                  <a:cubicBezTo>
                    <a:pt x="36" y="42"/>
                    <a:pt x="72" y="84"/>
                    <a:pt x="106" y="122"/>
                  </a:cubicBezTo>
                  <a:cubicBezTo>
                    <a:pt x="140" y="160"/>
                    <a:pt x="173" y="199"/>
                    <a:pt x="202" y="231"/>
                  </a:cubicBezTo>
                  <a:cubicBezTo>
                    <a:pt x="231" y="263"/>
                    <a:pt x="253" y="285"/>
                    <a:pt x="282" y="314"/>
                  </a:cubicBezTo>
                  <a:cubicBezTo>
                    <a:pt x="311" y="343"/>
                    <a:pt x="349" y="378"/>
                    <a:pt x="374" y="404"/>
                  </a:cubicBezTo>
                  <a:cubicBezTo>
                    <a:pt x="399" y="430"/>
                    <a:pt x="414" y="451"/>
                    <a:pt x="432" y="468"/>
                  </a:cubicBezTo>
                  <a:cubicBezTo>
                    <a:pt x="450" y="485"/>
                    <a:pt x="465" y="497"/>
                    <a:pt x="480" y="50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3"/>
            <p:cNvSpPr>
              <a:spLocks/>
            </p:cNvSpPr>
            <p:nvPr/>
          </p:nvSpPr>
          <p:spPr bwMode="auto">
            <a:xfrm>
              <a:off x="4066" y="1361"/>
              <a:ext cx="443" cy="459"/>
            </a:xfrm>
            <a:custGeom>
              <a:avLst/>
              <a:gdLst>
                <a:gd name="T0" fmla="*/ 0 w 464"/>
                <a:gd name="T1" fmla="*/ 0 h 470"/>
                <a:gd name="T2" fmla="*/ 93 w 464"/>
                <a:gd name="T3" fmla="*/ 109 h 470"/>
                <a:gd name="T4" fmla="*/ 208 w 464"/>
                <a:gd name="T5" fmla="*/ 243 h 470"/>
                <a:gd name="T6" fmla="*/ 349 w 464"/>
                <a:gd name="T7" fmla="*/ 371 h 470"/>
                <a:gd name="T8" fmla="*/ 422 w 464"/>
                <a:gd name="T9" fmla="*/ 432 h 470"/>
                <a:gd name="T10" fmla="*/ 464 w 464"/>
                <a:gd name="T11" fmla="*/ 470 h 4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4"/>
                <a:gd name="T19" fmla="*/ 0 h 470"/>
                <a:gd name="T20" fmla="*/ 464 w 464"/>
                <a:gd name="T21" fmla="*/ 470 h 4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4" h="470">
                  <a:moveTo>
                    <a:pt x="0" y="0"/>
                  </a:moveTo>
                  <a:cubicBezTo>
                    <a:pt x="29" y="34"/>
                    <a:pt x="58" y="69"/>
                    <a:pt x="93" y="109"/>
                  </a:cubicBezTo>
                  <a:cubicBezTo>
                    <a:pt x="128" y="149"/>
                    <a:pt x="166" y="200"/>
                    <a:pt x="208" y="243"/>
                  </a:cubicBezTo>
                  <a:cubicBezTo>
                    <a:pt x="250" y="286"/>
                    <a:pt x="313" y="340"/>
                    <a:pt x="349" y="371"/>
                  </a:cubicBezTo>
                  <a:cubicBezTo>
                    <a:pt x="385" y="402"/>
                    <a:pt x="403" y="416"/>
                    <a:pt x="422" y="432"/>
                  </a:cubicBezTo>
                  <a:cubicBezTo>
                    <a:pt x="441" y="448"/>
                    <a:pt x="452" y="459"/>
                    <a:pt x="464" y="4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24"/>
            <p:cNvSpPr>
              <a:spLocks/>
            </p:cNvSpPr>
            <p:nvPr/>
          </p:nvSpPr>
          <p:spPr bwMode="auto">
            <a:xfrm>
              <a:off x="3981" y="1389"/>
              <a:ext cx="439" cy="431"/>
            </a:xfrm>
            <a:custGeom>
              <a:avLst/>
              <a:gdLst>
                <a:gd name="T0" fmla="*/ 0 w 461"/>
                <a:gd name="T1" fmla="*/ 0 h 441"/>
                <a:gd name="T2" fmla="*/ 74 w 461"/>
                <a:gd name="T3" fmla="*/ 86 h 441"/>
                <a:gd name="T4" fmla="*/ 164 w 461"/>
                <a:gd name="T5" fmla="*/ 188 h 441"/>
                <a:gd name="T6" fmla="*/ 276 w 461"/>
                <a:gd name="T7" fmla="*/ 291 h 441"/>
                <a:gd name="T8" fmla="*/ 368 w 461"/>
                <a:gd name="T9" fmla="*/ 364 h 441"/>
                <a:gd name="T10" fmla="*/ 442 w 461"/>
                <a:gd name="T11" fmla="*/ 419 h 441"/>
                <a:gd name="T12" fmla="*/ 461 w 461"/>
                <a:gd name="T13" fmla="*/ 441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1"/>
                <a:gd name="T22" fmla="*/ 0 h 441"/>
                <a:gd name="T23" fmla="*/ 461 w 461"/>
                <a:gd name="T24" fmla="*/ 441 h 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1" h="441">
                  <a:moveTo>
                    <a:pt x="0" y="0"/>
                  </a:moveTo>
                  <a:cubicBezTo>
                    <a:pt x="23" y="27"/>
                    <a:pt x="47" y="55"/>
                    <a:pt x="74" y="86"/>
                  </a:cubicBezTo>
                  <a:cubicBezTo>
                    <a:pt x="101" y="117"/>
                    <a:pt x="130" y="154"/>
                    <a:pt x="164" y="188"/>
                  </a:cubicBezTo>
                  <a:cubicBezTo>
                    <a:pt x="198" y="222"/>
                    <a:pt x="242" y="262"/>
                    <a:pt x="276" y="291"/>
                  </a:cubicBezTo>
                  <a:cubicBezTo>
                    <a:pt x="310" y="320"/>
                    <a:pt x="340" y="343"/>
                    <a:pt x="368" y="364"/>
                  </a:cubicBezTo>
                  <a:cubicBezTo>
                    <a:pt x="396" y="385"/>
                    <a:pt x="426" y="406"/>
                    <a:pt x="442" y="419"/>
                  </a:cubicBezTo>
                  <a:cubicBezTo>
                    <a:pt x="458" y="432"/>
                    <a:pt x="459" y="436"/>
                    <a:pt x="461" y="44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25"/>
            <p:cNvSpPr>
              <a:spLocks/>
            </p:cNvSpPr>
            <p:nvPr/>
          </p:nvSpPr>
          <p:spPr bwMode="auto">
            <a:xfrm>
              <a:off x="3899" y="1413"/>
              <a:ext cx="417" cy="404"/>
            </a:xfrm>
            <a:custGeom>
              <a:avLst/>
              <a:gdLst>
                <a:gd name="T0" fmla="*/ 0 w 438"/>
                <a:gd name="T1" fmla="*/ 0 h 413"/>
                <a:gd name="T2" fmla="*/ 83 w 438"/>
                <a:gd name="T3" fmla="*/ 74 h 413"/>
                <a:gd name="T4" fmla="*/ 134 w 438"/>
                <a:gd name="T5" fmla="*/ 144 h 413"/>
                <a:gd name="T6" fmla="*/ 221 w 438"/>
                <a:gd name="T7" fmla="*/ 221 h 413"/>
                <a:gd name="T8" fmla="*/ 288 w 438"/>
                <a:gd name="T9" fmla="*/ 288 h 413"/>
                <a:gd name="T10" fmla="*/ 358 w 438"/>
                <a:gd name="T11" fmla="*/ 343 h 413"/>
                <a:gd name="T12" fmla="*/ 394 w 438"/>
                <a:gd name="T13" fmla="*/ 368 h 413"/>
                <a:gd name="T14" fmla="*/ 438 w 438"/>
                <a:gd name="T15" fmla="*/ 413 h 4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8"/>
                <a:gd name="T25" fmla="*/ 0 h 413"/>
                <a:gd name="T26" fmla="*/ 438 w 438"/>
                <a:gd name="T27" fmla="*/ 413 h 4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8" h="413">
                  <a:moveTo>
                    <a:pt x="0" y="0"/>
                  </a:moveTo>
                  <a:cubicBezTo>
                    <a:pt x="30" y="25"/>
                    <a:pt x="61" y="50"/>
                    <a:pt x="83" y="74"/>
                  </a:cubicBezTo>
                  <a:cubicBezTo>
                    <a:pt x="105" y="98"/>
                    <a:pt x="111" y="120"/>
                    <a:pt x="134" y="144"/>
                  </a:cubicBezTo>
                  <a:cubicBezTo>
                    <a:pt x="157" y="168"/>
                    <a:pt x="195" y="197"/>
                    <a:pt x="221" y="221"/>
                  </a:cubicBezTo>
                  <a:cubicBezTo>
                    <a:pt x="247" y="245"/>
                    <a:pt x="265" y="268"/>
                    <a:pt x="288" y="288"/>
                  </a:cubicBezTo>
                  <a:cubicBezTo>
                    <a:pt x="311" y="308"/>
                    <a:pt x="340" y="330"/>
                    <a:pt x="358" y="343"/>
                  </a:cubicBezTo>
                  <a:cubicBezTo>
                    <a:pt x="376" y="356"/>
                    <a:pt x="381" y="356"/>
                    <a:pt x="394" y="368"/>
                  </a:cubicBezTo>
                  <a:cubicBezTo>
                    <a:pt x="407" y="380"/>
                    <a:pt x="429" y="404"/>
                    <a:pt x="438" y="41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26"/>
            <p:cNvSpPr>
              <a:spLocks/>
            </p:cNvSpPr>
            <p:nvPr/>
          </p:nvSpPr>
          <p:spPr bwMode="auto">
            <a:xfrm>
              <a:off x="3853" y="1445"/>
              <a:ext cx="351" cy="377"/>
            </a:xfrm>
            <a:custGeom>
              <a:avLst/>
              <a:gdLst>
                <a:gd name="T0" fmla="*/ 0 w 368"/>
                <a:gd name="T1" fmla="*/ 0 h 387"/>
                <a:gd name="T2" fmla="*/ 99 w 368"/>
                <a:gd name="T3" fmla="*/ 112 h 387"/>
                <a:gd name="T4" fmla="*/ 189 w 368"/>
                <a:gd name="T5" fmla="*/ 215 h 387"/>
                <a:gd name="T6" fmla="*/ 278 w 368"/>
                <a:gd name="T7" fmla="*/ 288 h 387"/>
                <a:gd name="T8" fmla="*/ 346 w 368"/>
                <a:gd name="T9" fmla="*/ 368 h 387"/>
                <a:gd name="T10" fmla="*/ 368 w 368"/>
                <a:gd name="T11" fmla="*/ 387 h 3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8"/>
                <a:gd name="T19" fmla="*/ 0 h 387"/>
                <a:gd name="T20" fmla="*/ 368 w 368"/>
                <a:gd name="T21" fmla="*/ 387 h 3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8" h="387">
                  <a:moveTo>
                    <a:pt x="0" y="0"/>
                  </a:moveTo>
                  <a:cubicBezTo>
                    <a:pt x="34" y="38"/>
                    <a:pt x="68" y="76"/>
                    <a:pt x="99" y="112"/>
                  </a:cubicBezTo>
                  <a:cubicBezTo>
                    <a:pt x="130" y="148"/>
                    <a:pt x="159" y="186"/>
                    <a:pt x="189" y="215"/>
                  </a:cubicBezTo>
                  <a:cubicBezTo>
                    <a:pt x="219" y="244"/>
                    <a:pt x="252" y="263"/>
                    <a:pt x="278" y="288"/>
                  </a:cubicBezTo>
                  <a:cubicBezTo>
                    <a:pt x="304" y="313"/>
                    <a:pt x="331" y="352"/>
                    <a:pt x="346" y="368"/>
                  </a:cubicBezTo>
                  <a:cubicBezTo>
                    <a:pt x="361" y="384"/>
                    <a:pt x="364" y="385"/>
                    <a:pt x="368" y="38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27"/>
            <p:cNvSpPr>
              <a:spLocks/>
            </p:cNvSpPr>
            <p:nvPr/>
          </p:nvSpPr>
          <p:spPr bwMode="auto">
            <a:xfrm>
              <a:off x="3795" y="1473"/>
              <a:ext cx="302" cy="353"/>
            </a:xfrm>
            <a:custGeom>
              <a:avLst/>
              <a:gdLst>
                <a:gd name="T0" fmla="*/ 0 w 317"/>
                <a:gd name="T1" fmla="*/ 0 h 362"/>
                <a:gd name="T2" fmla="*/ 77 w 317"/>
                <a:gd name="T3" fmla="*/ 102 h 362"/>
                <a:gd name="T4" fmla="*/ 189 w 317"/>
                <a:gd name="T5" fmla="*/ 214 h 362"/>
                <a:gd name="T6" fmla="*/ 250 w 317"/>
                <a:gd name="T7" fmla="*/ 285 h 362"/>
                <a:gd name="T8" fmla="*/ 282 w 317"/>
                <a:gd name="T9" fmla="*/ 314 h 362"/>
                <a:gd name="T10" fmla="*/ 317 w 317"/>
                <a:gd name="T11" fmla="*/ 362 h 3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7"/>
                <a:gd name="T19" fmla="*/ 0 h 362"/>
                <a:gd name="T20" fmla="*/ 317 w 317"/>
                <a:gd name="T21" fmla="*/ 362 h 3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7" h="362">
                  <a:moveTo>
                    <a:pt x="0" y="0"/>
                  </a:moveTo>
                  <a:cubicBezTo>
                    <a:pt x="23" y="33"/>
                    <a:pt x="46" y="66"/>
                    <a:pt x="77" y="102"/>
                  </a:cubicBezTo>
                  <a:cubicBezTo>
                    <a:pt x="108" y="138"/>
                    <a:pt x="160" y="184"/>
                    <a:pt x="189" y="214"/>
                  </a:cubicBezTo>
                  <a:cubicBezTo>
                    <a:pt x="218" y="244"/>
                    <a:pt x="235" y="268"/>
                    <a:pt x="250" y="285"/>
                  </a:cubicBezTo>
                  <a:cubicBezTo>
                    <a:pt x="265" y="302"/>
                    <a:pt x="271" y="301"/>
                    <a:pt x="282" y="314"/>
                  </a:cubicBezTo>
                  <a:cubicBezTo>
                    <a:pt x="293" y="327"/>
                    <a:pt x="305" y="344"/>
                    <a:pt x="317" y="36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28"/>
            <p:cNvSpPr>
              <a:spLocks/>
            </p:cNvSpPr>
            <p:nvPr/>
          </p:nvSpPr>
          <p:spPr bwMode="auto">
            <a:xfrm>
              <a:off x="3718" y="1501"/>
              <a:ext cx="308" cy="325"/>
            </a:xfrm>
            <a:custGeom>
              <a:avLst/>
              <a:gdLst>
                <a:gd name="T0" fmla="*/ 0 w 323"/>
                <a:gd name="T1" fmla="*/ 0 h 333"/>
                <a:gd name="T2" fmla="*/ 80 w 323"/>
                <a:gd name="T3" fmla="*/ 77 h 333"/>
                <a:gd name="T4" fmla="*/ 151 w 323"/>
                <a:gd name="T5" fmla="*/ 173 h 333"/>
                <a:gd name="T6" fmla="*/ 224 w 323"/>
                <a:gd name="T7" fmla="*/ 243 h 333"/>
                <a:gd name="T8" fmla="*/ 288 w 323"/>
                <a:gd name="T9" fmla="*/ 294 h 333"/>
                <a:gd name="T10" fmla="*/ 323 w 323"/>
                <a:gd name="T11" fmla="*/ 333 h 3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3"/>
                <a:gd name="T19" fmla="*/ 0 h 333"/>
                <a:gd name="T20" fmla="*/ 323 w 323"/>
                <a:gd name="T21" fmla="*/ 333 h 3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3" h="333">
                  <a:moveTo>
                    <a:pt x="0" y="0"/>
                  </a:moveTo>
                  <a:cubicBezTo>
                    <a:pt x="27" y="24"/>
                    <a:pt x="55" y="48"/>
                    <a:pt x="80" y="77"/>
                  </a:cubicBezTo>
                  <a:cubicBezTo>
                    <a:pt x="105" y="106"/>
                    <a:pt x="127" y="145"/>
                    <a:pt x="151" y="173"/>
                  </a:cubicBezTo>
                  <a:cubicBezTo>
                    <a:pt x="175" y="201"/>
                    <a:pt x="201" y="223"/>
                    <a:pt x="224" y="243"/>
                  </a:cubicBezTo>
                  <a:cubicBezTo>
                    <a:pt x="247" y="263"/>
                    <a:pt x="272" y="279"/>
                    <a:pt x="288" y="294"/>
                  </a:cubicBezTo>
                  <a:cubicBezTo>
                    <a:pt x="304" y="309"/>
                    <a:pt x="313" y="321"/>
                    <a:pt x="323" y="33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29"/>
            <p:cNvSpPr>
              <a:spLocks/>
            </p:cNvSpPr>
            <p:nvPr/>
          </p:nvSpPr>
          <p:spPr bwMode="auto">
            <a:xfrm>
              <a:off x="3652" y="1533"/>
              <a:ext cx="295" cy="289"/>
            </a:xfrm>
            <a:custGeom>
              <a:avLst/>
              <a:gdLst>
                <a:gd name="T0" fmla="*/ 0 w 310"/>
                <a:gd name="T1" fmla="*/ 0 h 297"/>
                <a:gd name="T2" fmla="*/ 77 w 310"/>
                <a:gd name="T3" fmla="*/ 86 h 297"/>
                <a:gd name="T4" fmla="*/ 160 w 310"/>
                <a:gd name="T5" fmla="*/ 153 h 297"/>
                <a:gd name="T6" fmla="*/ 233 w 310"/>
                <a:gd name="T7" fmla="*/ 230 h 297"/>
                <a:gd name="T8" fmla="*/ 285 w 310"/>
                <a:gd name="T9" fmla="*/ 269 h 297"/>
                <a:gd name="T10" fmla="*/ 310 w 310"/>
                <a:gd name="T11" fmla="*/ 297 h 2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0"/>
                <a:gd name="T19" fmla="*/ 0 h 297"/>
                <a:gd name="T20" fmla="*/ 310 w 310"/>
                <a:gd name="T21" fmla="*/ 297 h 2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0" h="297">
                  <a:moveTo>
                    <a:pt x="0" y="0"/>
                  </a:moveTo>
                  <a:cubicBezTo>
                    <a:pt x="25" y="30"/>
                    <a:pt x="50" y="61"/>
                    <a:pt x="77" y="86"/>
                  </a:cubicBezTo>
                  <a:cubicBezTo>
                    <a:pt x="104" y="111"/>
                    <a:pt x="134" y="129"/>
                    <a:pt x="160" y="153"/>
                  </a:cubicBezTo>
                  <a:cubicBezTo>
                    <a:pt x="186" y="177"/>
                    <a:pt x="212" y="211"/>
                    <a:pt x="233" y="230"/>
                  </a:cubicBezTo>
                  <a:cubicBezTo>
                    <a:pt x="254" y="249"/>
                    <a:pt x="272" y="258"/>
                    <a:pt x="285" y="269"/>
                  </a:cubicBezTo>
                  <a:cubicBezTo>
                    <a:pt x="298" y="280"/>
                    <a:pt x="304" y="288"/>
                    <a:pt x="310" y="29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0"/>
            <p:cNvSpPr>
              <a:spLocks/>
            </p:cNvSpPr>
            <p:nvPr/>
          </p:nvSpPr>
          <p:spPr bwMode="auto">
            <a:xfrm>
              <a:off x="3593" y="1561"/>
              <a:ext cx="247" cy="253"/>
            </a:xfrm>
            <a:custGeom>
              <a:avLst/>
              <a:gdLst>
                <a:gd name="T0" fmla="*/ 0 w 259"/>
                <a:gd name="T1" fmla="*/ 0 h 259"/>
                <a:gd name="T2" fmla="*/ 90 w 259"/>
                <a:gd name="T3" fmla="*/ 76 h 259"/>
                <a:gd name="T4" fmla="*/ 144 w 259"/>
                <a:gd name="T5" fmla="*/ 140 h 259"/>
                <a:gd name="T6" fmla="*/ 214 w 259"/>
                <a:gd name="T7" fmla="*/ 204 h 259"/>
                <a:gd name="T8" fmla="*/ 259 w 259"/>
                <a:gd name="T9" fmla="*/ 259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9"/>
                <a:gd name="T16" fmla="*/ 0 h 259"/>
                <a:gd name="T17" fmla="*/ 259 w 259"/>
                <a:gd name="T18" fmla="*/ 259 h 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9" h="259">
                  <a:moveTo>
                    <a:pt x="0" y="0"/>
                  </a:moveTo>
                  <a:cubicBezTo>
                    <a:pt x="33" y="26"/>
                    <a:pt x="66" y="53"/>
                    <a:pt x="90" y="76"/>
                  </a:cubicBezTo>
                  <a:cubicBezTo>
                    <a:pt x="114" y="99"/>
                    <a:pt x="123" y="119"/>
                    <a:pt x="144" y="140"/>
                  </a:cubicBezTo>
                  <a:cubicBezTo>
                    <a:pt x="165" y="161"/>
                    <a:pt x="195" y="184"/>
                    <a:pt x="214" y="204"/>
                  </a:cubicBezTo>
                  <a:cubicBezTo>
                    <a:pt x="233" y="224"/>
                    <a:pt x="251" y="250"/>
                    <a:pt x="259" y="2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1"/>
            <p:cNvSpPr>
              <a:spLocks/>
            </p:cNvSpPr>
            <p:nvPr/>
          </p:nvSpPr>
          <p:spPr bwMode="auto">
            <a:xfrm>
              <a:off x="3517" y="1573"/>
              <a:ext cx="244" cy="244"/>
            </a:xfrm>
            <a:custGeom>
              <a:avLst/>
              <a:gdLst>
                <a:gd name="T0" fmla="*/ 0 w 256"/>
                <a:gd name="T1" fmla="*/ 0 h 250"/>
                <a:gd name="T2" fmla="*/ 64 w 256"/>
                <a:gd name="T3" fmla="*/ 61 h 250"/>
                <a:gd name="T4" fmla="*/ 131 w 256"/>
                <a:gd name="T5" fmla="*/ 138 h 250"/>
                <a:gd name="T6" fmla="*/ 195 w 256"/>
                <a:gd name="T7" fmla="*/ 186 h 250"/>
                <a:gd name="T8" fmla="*/ 221 w 256"/>
                <a:gd name="T9" fmla="*/ 205 h 250"/>
                <a:gd name="T10" fmla="*/ 256 w 256"/>
                <a:gd name="T11" fmla="*/ 250 h 2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6"/>
                <a:gd name="T19" fmla="*/ 0 h 250"/>
                <a:gd name="T20" fmla="*/ 256 w 256"/>
                <a:gd name="T21" fmla="*/ 250 h 2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6" h="250">
                  <a:moveTo>
                    <a:pt x="0" y="0"/>
                  </a:moveTo>
                  <a:cubicBezTo>
                    <a:pt x="21" y="19"/>
                    <a:pt x="42" y="38"/>
                    <a:pt x="64" y="61"/>
                  </a:cubicBezTo>
                  <a:cubicBezTo>
                    <a:pt x="86" y="84"/>
                    <a:pt x="109" y="117"/>
                    <a:pt x="131" y="138"/>
                  </a:cubicBezTo>
                  <a:cubicBezTo>
                    <a:pt x="153" y="159"/>
                    <a:pt x="180" y="175"/>
                    <a:pt x="195" y="186"/>
                  </a:cubicBezTo>
                  <a:cubicBezTo>
                    <a:pt x="210" y="197"/>
                    <a:pt x="211" y="194"/>
                    <a:pt x="221" y="205"/>
                  </a:cubicBezTo>
                  <a:cubicBezTo>
                    <a:pt x="231" y="216"/>
                    <a:pt x="243" y="233"/>
                    <a:pt x="256" y="25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32"/>
            <p:cNvSpPr>
              <a:spLocks/>
            </p:cNvSpPr>
            <p:nvPr/>
          </p:nvSpPr>
          <p:spPr bwMode="auto">
            <a:xfrm>
              <a:off x="3459" y="1592"/>
              <a:ext cx="195" cy="230"/>
            </a:xfrm>
            <a:custGeom>
              <a:avLst/>
              <a:gdLst>
                <a:gd name="T0" fmla="*/ 0 w 205"/>
                <a:gd name="T1" fmla="*/ 0 h 236"/>
                <a:gd name="T2" fmla="*/ 80 w 205"/>
                <a:gd name="T3" fmla="*/ 86 h 236"/>
                <a:gd name="T4" fmla="*/ 147 w 205"/>
                <a:gd name="T5" fmla="*/ 153 h 236"/>
                <a:gd name="T6" fmla="*/ 176 w 205"/>
                <a:gd name="T7" fmla="*/ 192 h 236"/>
                <a:gd name="T8" fmla="*/ 205 w 205"/>
                <a:gd name="T9" fmla="*/ 236 h 2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236"/>
                <a:gd name="T17" fmla="*/ 205 w 205"/>
                <a:gd name="T18" fmla="*/ 236 h 2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236">
                  <a:moveTo>
                    <a:pt x="0" y="0"/>
                  </a:moveTo>
                  <a:cubicBezTo>
                    <a:pt x="28" y="30"/>
                    <a:pt x="56" y="61"/>
                    <a:pt x="80" y="86"/>
                  </a:cubicBezTo>
                  <a:cubicBezTo>
                    <a:pt x="104" y="111"/>
                    <a:pt x="131" y="135"/>
                    <a:pt x="147" y="153"/>
                  </a:cubicBezTo>
                  <a:cubicBezTo>
                    <a:pt x="163" y="171"/>
                    <a:pt x="166" y="178"/>
                    <a:pt x="176" y="192"/>
                  </a:cubicBezTo>
                  <a:cubicBezTo>
                    <a:pt x="186" y="206"/>
                    <a:pt x="195" y="221"/>
                    <a:pt x="205" y="2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3"/>
            <p:cNvSpPr>
              <a:spLocks/>
            </p:cNvSpPr>
            <p:nvPr/>
          </p:nvSpPr>
          <p:spPr bwMode="auto">
            <a:xfrm>
              <a:off x="3389" y="1617"/>
              <a:ext cx="195" cy="205"/>
            </a:xfrm>
            <a:custGeom>
              <a:avLst/>
              <a:gdLst>
                <a:gd name="T0" fmla="*/ 0 w 204"/>
                <a:gd name="T1" fmla="*/ 0 h 211"/>
                <a:gd name="T2" fmla="*/ 83 w 204"/>
                <a:gd name="T3" fmla="*/ 83 h 211"/>
                <a:gd name="T4" fmla="*/ 153 w 204"/>
                <a:gd name="T5" fmla="*/ 157 h 211"/>
                <a:gd name="T6" fmla="*/ 204 w 204"/>
                <a:gd name="T7" fmla="*/ 211 h 2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4"/>
                <a:gd name="T13" fmla="*/ 0 h 211"/>
                <a:gd name="T14" fmla="*/ 204 w 204"/>
                <a:gd name="T15" fmla="*/ 211 h 2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4" h="211">
                  <a:moveTo>
                    <a:pt x="0" y="0"/>
                  </a:moveTo>
                  <a:cubicBezTo>
                    <a:pt x="29" y="28"/>
                    <a:pt x="58" y="57"/>
                    <a:pt x="83" y="83"/>
                  </a:cubicBezTo>
                  <a:cubicBezTo>
                    <a:pt x="108" y="109"/>
                    <a:pt x="133" y="136"/>
                    <a:pt x="153" y="157"/>
                  </a:cubicBezTo>
                  <a:cubicBezTo>
                    <a:pt x="173" y="178"/>
                    <a:pt x="188" y="194"/>
                    <a:pt x="204" y="21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34"/>
            <p:cNvSpPr>
              <a:spLocks/>
            </p:cNvSpPr>
            <p:nvPr/>
          </p:nvSpPr>
          <p:spPr bwMode="auto">
            <a:xfrm>
              <a:off x="3328" y="1639"/>
              <a:ext cx="168" cy="181"/>
            </a:xfrm>
            <a:custGeom>
              <a:avLst/>
              <a:gdLst>
                <a:gd name="T0" fmla="*/ 0 w 176"/>
                <a:gd name="T1" fmla="*/ 0 h 185"/>
                <a:gd name="T2" fmla="*/ 48 w 176"/>
                <a:gd name="T3" fmla="*/ 67 h 185"/>
                <a:gd name="T4" fmla="*/ 118 w 176"/>
                <a:gd name="T5" fmla="*/ 128 h 185"/>
                <a:gd name="T6" fmla="*/ 147 w 176"/>
                <a:gd name="T7" fmla="*/ 150 h 185"/>
                <a:gd name="T8" fmla="*/ 176 w 176"/>
                <a:gd name="T9" fmla="*/ 185 h 1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6"/>
                <a:gd name="T16" fmla="*/ 0 h 185"/>
                <a:gd name="T17" fmla="*/ 176 w 176"/>
                <a:gd name="T18" fmla="*/ 185 h 1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6" h="185">
                  <a:moveTo>
                    <a:pt x="0" y="0"/>
                  </a:moveTo>
                  <a:cubicBezTo>
                    <a:pt x="14" y="23"/>
                    <a:pt x="28" y="46"/>
                    <a:pt x="48" y="67"/>
                  </a:cubicBezTo>
                  <a:cubicBezTo>
                    <a:pt x="68" y="88"/>
                    <a:pt x="101" y="114"/>
                    <a:pt x="118" y="128"/>
                  </a:cubicBezTo>
                  <a:cubicBezTo>
                    <a:pt x="135" y="142"/>
                    <a:pt x="137" y="141"/>
                    <a:pt x="147" y="150"/>
                  </a:cubicBezTo>
                  <a:cubicBezTo>
                    <a:pt x="157" y="159"/>
                    <a:pt x="166" y="172"/>
                    <a:pt x="176" y="18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35"/>
            <p:cNvSpPr>
              <a:spLocks/>
            </p:cNvSpPr>
            <p:nvPr/>
          </p:nvSpPr>
          <p:spPr bwMode="auto">
            <a:xfrm>
              <a:off x="3242" y="1663"/>
              <a:ext cx="156" cy="159"/>
            </a:xfrm>
            <a:custGeom>
              <a:avLst/>
              <a:gdLst>
                <a:gd name="T0" fmla="*/ 0 w 163"/>
                <a:gd name="T1" fmla="*/ 0 h 163"/>
                <a:gd name="T2" fmla="*/ 77 w 163"/>
                <a:gd name="T3" fmla="*/ 74 h 163"/>
                <a:gd name="T4" fmla="*/ 122 w 163"/>
                <a:gd name="T5" fmla="*/ 115 h 163"/>
                <a:gd name="T6" fmla="*/ 163 w 163"/>
                <a:gd name="T7" fmla="*/ 163 h 1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3"/>
                <a:gd name="T13" fmla="*/ 0 h 163"/>
                <a:gd name="T14" fmla="*/ 163 w 163"/>
                <a:gd name="T15" fmla="*/ 163 h 1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3" h="163">
                  <a:moveTo>
                    <a:pt x="0" y="0"/>
                  </a:moveTo>
                  <a:cubicBezTo>
                    <a:pt x="28" y="27"/>
                    <a:pt x="57" y="55"/>
                    <a:pt x="77" y="74"/>
                  </a:cubicBezTo>
                  <a:cubicBezTo>
                    <a:pt x="97" y="93"/>
                    <a:pt x="108" y="100"/>
                    <a:pt x="122" y="115"/>
                  </a:cubicBezTo>
                  <a:cubicBezTo>
                    <a:pt x="136" y="130"/>
                    <a:pt x="149" y="146"/>
                    <a:pt x="163" y="16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36"/>
            <p:cNvSpPr>
              <a:spLocks/>
            </p:cNvSpPr>
            <p:nvPr/>
          </p:nvSpPr>
          <p:spPr bwMode="auto">
            <a:xfrm>
              <a:off x="3172" y="1676"/>
              <a:ext cx="129" cy="141"/>
            </a:xfrm>
            <a:custGeom>
              <a:avLst/>
              <a:gdLst>
                <a:gd name="T0" fmla="*/ 0 w 135"/>
                <a:gd name="T1" fmla="*/ 0 h 144"/>
                <a:gd name="T2" fmla="*/ 71 w 135"/>
                <a:gd name="T3" fmla="*/ 70 h 144"/>
                <a:gd name="T4" fmla="*/ 116 w 135"/>
                <a:gd name="T5" fmla="*/ 109 h 144"/>
                <a:gd name="T6" fmla="*/ 135 w 135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5"/>
                <a:gd name="T13" fmla="*/ 0 h 144"/>
                <a:gd name="T14" fmla="*/ 135 w 135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5" h="144">
                  <a:moveTo>
                    <a:pt x="0" y="0"/>
                  </a:moveTo>
                  <a:cubicBezTo>
                    <a:pt x="26" y="26"/>
                    <a:pt x="52" y="52"/>
                    <a:pt x="71" y="70"/>
                  </a:cubicBezTo>
                  <a:cubicBezTo>
                    <a:pt x="90" y="88"/>
                    <a:pt x="105" y="97"/>
                    <a:pt x="116" y="109"/>
                  </a:cubicBezTo>
                  <a:cubicBezTo>
                    <a:pt x="127" y="121"/>
                    <a:pt x="131" y="132"/>
                    <a:pt x="135" y="1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37"/>
            <p:cNvSpPr>
              <a:spLocks/>
            </p:cNvSpPr>
            <p:nvPr/>
          </p:nvSpPr>
          <p:spPr bwMode="auto">
            <a:xfrm>
              <a:off x="3117" y="1707"/>
              <a:ext cx="107" cy="110"/>
            </a:xfrm>
            <a:custGeom>
              <a:avLst/>
              <a:gdLst>
                <a:gd name="T0" fmla="*/ 0 w 112"/>
                <a:gd name="T1" fmla="*/ 0 h 112"/>
                <a:gd name="T2" fmla="*/ 57 w 112"/>
                <a:gd name="T3" fmla="*/ 48 h 112"/>
                <a:gd name="T4" fmla="*/ 89 w 112"/>
                <a:gd name="T5" fmla="*/ 77 h 112"/>
                <a:gd name="T6" fmla="*/ 112 w 112"/>
                <a:gd name="T7" fmla="*/ 112 h 1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12"/>
                <a:gd name="T14" fmla="*/ 112 w 112"/>
                <a:gd name="T15" fmla="*/ 112 h 1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12">
                  <a:moveTo>
                    <a:pt x="0" y="0"/>
                  </a:moveTo>
                  <a:cubicBezTo>
                    <a:pt x="21" y="17"/>
                    <a:pt x="42" y="35"/>
                    <a:pt x="57" y="48"/>
                  </a:cubicBezTo>
                  <a:cubicBezTo>
                    <a:pt x="72" y="61"/>
                    <a:pt x="80" y="66"/>
                    <a:pt x="89" y="77"/>
                  </a:cubicBezTo>
                  <a:cubicBezTo>
                    <a:pt x="98" y="88"/>
                    <a:pt x="105" y="100"/>
                    <a:pt x="112" y="11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38"/>
            <p:cNvSpPr>
              <a:spLocks/>
            </p:cNvSpPr>
            <p:nvPr/>
          </p:nvSpPr>
          <p:spPr bwMode="auto">
            <a:xfrm>
              <a:off x="3044" y="1744"/>
              <a:ext cx="86" cy="76"/>
            </a:xfrm>
            <a:custGeom>
              <a:avLst/>
              <a:gdLst>
                <a:gd name="T0" fmla="*/ 0 w 90"/>
                <a:gd name="T1" fmla="*/ 0 h 77"/>
                <a:gd name="T2" fmla="*/ 48 w 90"/>
                <a:gd name="T3" fmla="*/ 29 h 77"/>
                <a:gd name="T4" fmla="*/ 90 w 90"/>
                <a:gd name="T5" fmla="*/ 77 h 77"/>
                <a:gd name="T6" fmla="*/ 0 60000 65536"/>
                <a:gd name="T7" fmla="*/ 0 60000 65536"/>
                <a:gd name="T8" fmla="*/ 0 60000 65536"/>
                <a:gd name="T9" fmla="*/ 0 w 90"/>
                <a:gd name="T10" fmla="*/ 0 h 77"/>
                <a:gd name="T11" fmla="*/ 90 w 90"/>
                <a:gd name="T12" fmla="*/ 77 h 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" h="77">
                  <a:moveTo>
                    <a:pt x="0" y="0"/>
                  </a:moveTo>
                  <a:cubicBezTo>
                    <a:pt x="16" y="8"/>
                    <a:pt x="33" y="16"/>
                    <a:pt x="48" y="29"/>
                  </a:cubicBezTo>
                  <a:cubicBezTo>
                    <a:pt x="63" y="42"/>
                    <a:pt x="76" y="59"/>
                    <a:pt x="90" y="7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39"/>
            <p:cNvSpPr>
              <a:spLocks/>
            </p:cNvSpPr>
            <p:nvPr/>
          </p:nvSpPr>
          <p:spPr bwMode="auto">
            <a:xfrm>
              <a:off x="2977" y="1773"/>
              <a:ext cx="49" cy="47"/>
            </a:xfrm>
            <a:custGeom>
              <a:avLst/>
              <a:gdLst>
                <a:gd name="T0" fmla="*/ 0 w 51"/>
                <a:gd name="T1" fmla="*/ 0 h 48"/>
                <a:gd name="T2" fmla="*/ 32 w 51"/>
                <a:gd name="T3" fmla="*/ 29 h 48"/>
                <a:gd name="T4" fmla="*/ 51 w 51"/>
                <a:gd name="T5" fmla="*/ 48 h 48"/>
                <a:gd name="T6" fmla="*/ 0 60000 65536"/>
                <a:gd name="T7" fmla="*/ 0 60000 65536"/>
                <a:gd name="T8" fmla="*/ 0 60000 65536"/>
                <a:gd name="T9" fmla="*/ 0 w 51"/>
                <a:gd name="T10" fmla="*/ 0 h 48"/>
                <a:gd name="T11" fmla="*/ 51 w 51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" h="48">
                  <a:moveTo>
                    <a:pt x="0" y="0"/>
                  </a:moveTo>
                  <a:cubicBezTo>
                    <a:pt x="11" y="10"/>
                    <a:pt x="23" y="21"/>
                    <a:pt x="32" y="29"/>
                  </a:cubicBezTo>
                  <a:cubicBezTo>
                    <a:pt x="41" y="37"/>
                    <a:pt x="46" y="42"/>
                    <a:pt x="51" y="4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0"/>
            <p:cNvSpPr>
              <a:spLocks/>
            </p:cNvSpPr>
            <p:nvPr/>
          </p:nvSpPr>
          <p:spPr bwMode="auto">
            <a:xfrm>
              <a:off x="2131" y="1183"/>
              <a:ext cx="904" cy="565"/>
            </a:xfrm>
            <a:custGeom>
              <a:avLst/>
              <a:gdLst>
                <a:gd name="T0" fmla="*/ 0 w 947"/>
                <a:gd name="T1" fmla="*/ 111 h 579"/>
                <a:gd name="T2" fmla="*/ 125 w 947"/>
                <a:gd name="T3" fmla="*/ 44 h 579"/>
                <a:gd name="T4" fmla="*/ 215 w 947"/>
                <a:gd name="T5" fmla="*/ 19 h 579"/>
                <a:gd name="T6" fmla="*/ 259 w 947"/>
                <a:gd name="T7" fmla="*/ 15 h 579"/>
                <a:gd name="T8" fmla="*/ 407 w 947"/>
                <a:gd name="T9" fmla="*/ 108 h 579"/>
                <a:gd name="T10" fmla="*/ 547 w 947"/>
                <a:gd name="T11" fmla="*/ 239 h 579"/>
                <a:gd name="T12" fmla="*/ 666 w 947"/>
                <a:gd name="T13" fmla="*/ 351 h 579"/>
                <a:gd name="T14" fmla="*/ 842 w 947"/>
                <a:gd name="T15" fmla="*/ 483 h 579"/>
                <a:gd name="T16" fmla="*/ 947 w 947"/>
                <a:gd name="T17" fmla="*/ 579 h 5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47"/>
                <a:gd name="T28" fmla="*/ 0 h 579"/>
                <a:gd name="T29" fmla="*/ 947 w 947"/>
                <a:gd name="T30" fmla="*/ 579 h 5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47" h="579">
                  <a:moveTo>
                    <a:pt x="0" y="111"/>
                  </a:moveTo>
                  <a:cubicBezTo>
                    <a:pt x="44" y="85"/>
                    <a:pt x="89" y="59"/>
                    <a:pt x="125" y="44"/>
                  </a:cubicBezTo>
                  <a:cubicBezTo>
                    <a:pt x="161" y="29"/>
                    <a:pt x="193" y="24"/>
                    <a:pt x="215" y="19"/>
                  </a:cubicBezTo>
                  <a:cubicBezTo>
                    <a:pt x="237" y="14"/>
                    <a:pt x="227" y="0"/>
                    <a:pt x="259" y="15"/>
                  </a:cubicBezTo>
                  <a:cubicBezTo>
                    <a:pt x="291" y="30"/>
                    <a:pt x="359" y="71"/>
                    <a:pt x="407" y="108"/>
                  </a:cubicBezTo>
                  <a:cubicBezTo>
                    <a:pt x="455" y="145"/>
                    <a:pt x="504" y="199"/>
                    <a:pt x="547" y="239"/>
                  </a:cubicBezTo>
                  <a:cubicBezTo>
                    <a:pt x="590" y="279"/>
                    <a:pt x="617" y="310"/>
                    <a:pt x="666" y="351"/>
                  </a:cubicBezTo>
                  <a:cubicBezTo>
                    <a:pt x="715" y="392"/>
                    <a:pt x="795" y="445"/>
                    <a:pt x="842" y="483"/>
                  </a:cubicBezTo>
                  <a:cubicBezTo>
                    <a:pt x="889" y="521"/>
                    <a:pt x="918" y="550"/>
                    <a:pt x="947" y="579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1"/>
            <p:cNvSpPr>
              <a:spLocks/>
            </p:cNvSpPr>
            <p:nvPr/>
          </p:nvSpPr>
          <p:spPr bwMode="auto">
            <a:xfrm>
              <a:off x="2531" y="1187"/>
              <a:ext cx="824" cy="439"/>
            </a:xfrm>
            <a:custGeom>
              <a:avLst/>
              <a:gdLst>
                <a:gd name="T0" fmla="*/ 0 w 864"/>
                <a:gd name="T1" fmla="*/ 107 h 450"/>
                <a:gd name="T2" fmla="*/ 128 w 864"/>
                <a:gd name="T3" fmla="*/ 47 h 450"/>
                <a:gd name="T4" fmla="*/ 208 w 864"/>
                <a:gd name="T5" fmla="*/ 11 h 450"/>
                <a:gd name="T6" fmla="*/ 285 w 864"/>
                <a:gd name="T7" fmla="*/ 15 h 450"/>
                <a:gd name="T8" fmla="*/ 410 w 864"/>
                <a:gd name="T9" fmla="*/ 101 h 450"/>
                <a:gd name="T10" fmla="*/ 596 w 864"/>
                <a:gd name="T11" fmla="*/ 255 h 450"/>
                <a:gd name="T12" fmla="*/ 736 w 864"/>
                <a:gd name="T13" fmla="*/ 357 h 450"/>
                <a:gd name="T14" fmla="*/ 864 w 864"/>
                <a:gd name="T15" fmla="*/ 450 h 4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64"/>
                <a:gd name="T25" fmla="*/ 0 h 450"/>
                <a:gd name="T26" fmla="*/ 864 w 864"/>
                <a:gd name="T27" fmla="*/ 450 h 45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64" h="450">
                  <a:moveTo>
                    <a:pt x="0" y="107"/>
                  </a:moveTo>
                  <a:cubicBezTo>
                    <a:pt x="46" y="85"/>
                    <a:pt x="93" y="63"/>
                    <a:pt x="128" y="47"/>
                  </a:cubicBezTo>
                  <a:cubicBezTo>
                    <a:pt x="163" y="31"/>
                    <a:pt x="182" y="16"/>
                    <a:pt x="208" y="11"/>
                  </a:cubicBezTo>
                  <a:cubicBezTo>
                    <a:pt x="234" y="6"/>
                    <a:pt x="251" y="0"/>
                    <a:pt x="285" y="15"/>
                  </a:cubicBezTo>
                  <a:cubicBezTo>
                    <a:pt x="319" y="30"/>
                    <a:pt x="358" y="61"/>
                    <a:pt x="410" y="101"/>
                  </a:cubicBezTo>
                  <a:cubicBezTo>
                    <a:pt x="462" y="141"/>
                    <a:pt x="542" y="212"/>
                    <a:pt x="596" y="255"/>
                  </a:cubicBezTo>
                  <a:cubicBezTo>
                    <a:pt x="650" y="298"/>
                    <a:pt x="691" y="325"/>
                    <a:pt x="736" y="357"/>
                  </a:cubicBezTo>
                  <a:cubicBezTo>
                    <a:pt x="781" y="389"/>
                    <a:pt x="822" y="419"/>
                    <a:pt x="864" y="45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2"/>
            <p:cNvSpPr>
              <a:spLocks/>
            </p:cNvSpPr>
            <p:nvPr/>
          </p:nvSpPr>
          <p:spPr bwMode="auto">
            <a:xfrm>
              <a:off x="2940" y="1181"/>
              <a:ext cx="693" cy="357"/>
            </a:xfrm>
            <a:custGeom>
              <a:avLst/>
              <a:gdLst>
                <a:gd name="T0" fmla="*/ 0 w 727"/>
                <a:gd name="T1" fmla="*/ 123 h 366"/>
                <a:gd name="T2" fmla="*/ 128 w 727"/>
                <a:gd name="T3" fmla="*/ 43 h 366"/>
                <a:gd name="T4" fmla="*/ 247 w 727"/>
                <a:gd name="T5" fmla="*/ 17 h 366"/>
                <a:gd name="T6" fmla="*/ 295 w 727"/>
                <a:gd name="T7" fmla="*/ 17 h 366"/>
                <a:gd name="T8" fmla="*/ 419 w 727"/>
                <a:gd name="T9" fmla="*/ 117 h 366"/>
                <a:gd name="T10" fmla="*/ 563 w 727"/>
                <a:gd name="T11" fmla="*/ 238 h 366"/>
                <a:gd name="T12" fmla="*/ 637 w 727"/>
                <a:gd name="T13" fmla="*/ 293 h 366"/>
                <a:gd name="T14" fmla="*/ 727 w 727"/>
                <a:gd name="T15" fmla="*/ 366 h 3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7"/>
                <a:gd name="T25" fmla="*/ 0 h 366"/>
                <a:gd name="T26" fmla="*/ 727 w 727"/>
                <a:gd name="T27" fmla="*/ 366 h 36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7" h="366">
                  <a:moveTo>
                    <a:pt x="0" y="123"/>
                  </a:moveTo>
                  <a:cubicBezTo>
                    <a:pt x="43" y="92"/>
                    <a:pt x="87" y="61"/>
                    <a:pt x="128" y="43"/>
                  </a:cubicBezTo>
                  <a:cubicBezTo>
                    <a:pt x="169" y="25"/>
                    <a:pt x="219" y="21"/>
                    <a:pt x="247" y="17"/>
                  </a:cubicBezTo>
                  <a:cubicBezTo>
                    <a:pt x="275" y="13"/>
                    <a:pt x="266" y="0"/>
                    <a:pt x="295" y="17"/>
                  </a:cubicBezTo>
                  <a:cubicBezTo>
                    <a:pt x="324" y="34"/>
                    <a:pt x="374" y="80"/>
                    <a:pt x="419" y="117"/>
                  </a:cubicBezTo>
                  <a:cubicBezTo>
                    <a:pt x="464" y="154"/>
                    <a:pt x="527" y="209"/>
                    <a:pt x="563" y="238"/>
                  </a:cubicBezTo>
                  <a:cubicBezTo>
                    <a:pt x="599" y="267"/>
                    <a:pt x="610" y="272"/>
                    <a:pt x="637" y="293"/>
                  </a:cubicBezTo>
                  <a:cubicBezTo>
                    <a:pt x="664" y="314"/>
                    <a:pt x="695" y="340"/>
                    <a:pt x="727" y="366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3"/>
            <p:cNvSpPr>
              <a:spLocks/>
            </p:cNvSpPr>
            <p:nvPr/>
          </p:nvSpPr>
          <p:spPr bwMode="auto">
            <a:xfrm>
              <a:off x="3346" y="1189"/>
              <a:ext cx="510" cy="243"/>
            </a:xfrm>
            <a:custGeom>
              <a:avLst/>
              <a:gdLst>
                <a:gd name="T0" fmla="*/ 0 w 534"/>
                <a:gd name="T1" fmla="*/ 112 h 249"/>
                <a:gd name="T2" fmla="*/ 93 w 534"/>
                <a:gd name="T3" fmla="*/ 45 h 249"/>
                <a:gd name="T4" fmla="*/ 201 w 534"/>
                <a:gd name="T5" fmla="*/ 0 h 249"/>
                <a:gd name="T6" fmla="*/ 310 w 534"/>
                <a:gd name="T7" fmla="*/ 48 h 249"/>
                <a:gd name="T8" fmla="*/ 435 w 534"/>
                <a:gd name="T9" fmla="*/ 147 h 249"/>
                <a:gd name="T10" fmla="*/ 496 w 534"/>
                <a:gd name="T11" fmla="*/ 211 h 249"/>
                <a:gd name="T12" fmla="*/ 534 w 534"/>
                <a:gd name="T13" fmla="*/ 249 h 2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4"/>
                <a:gd name="T22" fmla="*/ 0 h 249"/>
                <a:gd name="T23" fmla="*/ 534 w 534"/>
                <a:gd name="T24" fmla="*/ 249 h 2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4" h="249">
                  <a:moveTo>
                    <a:pt x="0" y="112"/>
                  </a:moveTo>
                  <a:cubicBezTo>
                    <a:pt x="30" y="88"/>
                    <a:pt x="60" y="64"/>
                    <a:pt x="93" y="45"/>
                  </a:cubicBezTo>
                  <a:cubicBezTo>
                    <a:pt x="126" y="26"/>
                    <a:pt x="165" y="0"/>
                    <a:pt x="201" y="0"/>
                  </a:cubicBezTo>
                  <a:cubicBezTo>
                    <a:pt x="237" y="0"/>
                    <a:pt x="271" y="23"/>
                    <a:pt x="310" y="48"/>
                  </a:cubicBezTo>
                  <a:cubicBezTo>
                    <a:pt x="349" y="73"/>
                    <a:pt x="404" y="120"/>
                    <a:pt x="435" y="147"/>
                  </a:cubicBezTo>
                  <a:cubicBezTo>
                    <a:pt x="466" y="174"/>
                    <a:pt x="480" y="194"/>
                    <a:pt x="496" y="211"/>
                  </a:cubicBezTo>
                  <a:cubicBezTo>
                    <a:pt x="512" y="228"/>
                    <a:pt x="523" y="238"/>
                    <a:pt x="534" y="249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44"/>
            <p:cNvSpPr>
              <a:spLocks/>
            </p:cNvSpPr>
            <p:nvPr/>
          </p:nvSpPr>
          <p:spPr bwMode="auto">
            <a:xfrm>
              <a:off x="3675" y="1158"/>
              <a:ext cx="431" cy="172"/>
            </a:xfrm>
            <a:custGeom>
              <a:avLst/>
              <a:gdLst>
                <a:gd name="T0" fmla="*/ 0 w 452"/>
                <a:gd name="T1" fmla="*/ 96 h 176"/>
                <a:gd name="T2" fmla="*/ 100 w 452"/>
                <a:gd name="T3" fmla="*/ 25 h 176"/>
                <a:gd name="T4" fmla="*/ 189 w 452"/>
                <a:gd name="T5" fmla="*/ 3 h 176"/>
                <a:gd name="T6" fmla="*/ 292 w 452"/>
                <a:gd name="T7" fmla="*/ 45 h 176"/>
                <a:gd name="T8" fmla="*/ 381 w 452"/>
                <a:gd name="T9" fmla="*/ 128 h 176"/>
                <a:gd name="T10" fmla="*/ 420 w 452"/>
                <a:gd name="T11" fmla="*/ 150 h 176"/>
                <a:gd name="T12" fmla="*/ 452 w 452"/>
                <a:gd name="T13" fmla="*/ 176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52"/>
                <a:gd name="T22" fmla="*/ 0 h 176"/>
                <a:gd name="T23" fmla="*/ 452 w 452"/>
                <a:gd name="T24" fmla="*/ 176 h 1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52" h="176">
                  <a:moveTo>
                    <a:pt x="0" y="96"/>
                  </a:moveTo>
                  <a:cubicBezTo>
                    <a:pt x="34" y="68"/>
                    <a:pt x="69" y="40"/>
                    <a:pt x="100" y="25"/>
                  </a:cubicBezTo>
                  <a:cubicBezTo>
                    <a:pt x="131" y="10"/>
                    <a:pt x="157" y="0"/>
                    <a:pt x="189" y="3"/>
                  </a:cubicBezTo>
                  <a:cubicBezTo>
                    <a:pt x="221" y="6"/>
                    <a:pt x="260" y="24"/>
                    <a:pt x="292" y="45"/>
                  </a:cubicBezTo>
                  <a:cubicBezTo>
                    <a:pt x="324" y="66"/>
                    <a:pt x="360" y="111"/>
                    <a:pt x="381" y="128"/>
                  </a:cubicBezTo>
                  <a:cubicBezTo>
                    <a:pt x="402" y="145"/>
                    <a:pt x="408" y="142"/>
                    <a:pt x="420" y="150"/>
                  </a:cubicBezTo>
                  <a:cubicBezTo>
                    <a:pt x="432" y="158"/>
                    <a:pt x="442" y="167"/>
                    <a:pt x="452" y="176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45"/>
            <p:cNvSpPr>
              <a:spLocks/>
            </p:cNvSpPr>
            <p:nvPr/>
          </p:nvSpPr>
          <p:spPr bwMode="auto">
            <a:xfrm>
              <a:off x="4005" y="1135"/>
              <a:ext cx="364" cy="104"/>
            </a:xfrm>
            <a:custGeom>
              <a:avLst/>
              <a:gdLst>
                <a:gd name="T0" fmla="*/ 0 w 381"/>
                <a:gd name="T1" fmla="*/ 106 h 106"/>
                <a:gd name="T2" fmla="*/ 90 w 381"/>
                <a:gd name="T3" fmla="*/ 55 h 106"/>
                <a:gd name="T4" fmla="*/ 179 w 381"/>
                <a:gd name="T5" fmla="*/ 20 h 106"/>
                <a:gd name="T6" fmla="*/ 253 w 381"/>
                <a:gd name="T7" fmla="*/ 0 h 106"/>
                <a:gd name="T8" fmla="*/ 326 w 381"/>
                <a:gd name="T9" fmla="*/ 23 h 106"/>
                <a:gd name="T10" fmla="*/ 381 w 381"/>
                <a:gd name="T11" fmla="*/ 87 h 1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81"/>
                <a:gd name="T19" fmla="*/ 0 h 106"/>
                <a:gd name="T20" fmla="*/ 381 w 381"/>
                <a:gd name="T21" fmla="*/ 106 h 1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81" h="106">
                  <a:moveTo>
                    <a:pt x="0" y="106"/>
                  </a:moveTo>
                  <a:cubicBezTo>
                    <a:pt x="30" y="87"/>
                    <a:pt x="60" y="69"/>
                    <a:pt x="90" y="55"/>
                  </a:cubicBezTo>
                  <a:cubicBezTo>
                    <a:pt x="120" y="41"/>
                    <a:pt x="152" y="29"/>
                    <a:pt x="179" y="20"/>
                  </a:cubicBezTo>
                  <a:cubicBezTo>
                    <a:pt x="206" y="11"/>
                    <a:pt x="229" y="0"/>
                    <a:pt x="253" y="0"/>
                  </a:cubicBezTo>
                  <a:cubicBezTo>
                    <a:pt x="277" y="0"/>
                    <a:pt x="305" y="9"/>
                    <a:pt x="326" y="23"/>
                  </a:cubicBezTo>
                  <a:cubicBezTo>
                    <a:pt x="347" y="37"/>
                    <a:pt x="364" y="62"/>
                    <a:pt x="381" y="87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46"/>
            <p:cNvSpPr>
              <a:spLocks/>
            </p:cNvSpPr>
            <p:nvPr/>
          </p:nvSpPr>
          <p:spPr bwMode="auto">
            <a:xfrm>
              <a:off x="4076" y="863"/>
              <a:ext cx="1129" cy="85"/>
            </a:xfrm>
            <a:custGeom>
              <a:avLst/>
              <a:gdLst>
                <a:gd name="T0" fmla="*/ 0 w 1184"/>
                <a:gd name="T1" fmla="*/ 87 h 87"/>
                <a:gd name="T2" fmla="*/ 281 w 1184"/>
                <a:gd name="T3" fmla="*/ 27 h 87"/>
                <a:gd name="T4" fmla="*/ 595 w 1184"/>
                <a:gd name="T5" fmla="*/ 1 h 87"/>
                <a:gd name="T6" fmla="*/ 886 w 1184"/>
                <a:gd name="T7" fmla="*/ 20 h 87"/>
                <a:gd name="T8" fmla="*/ 1049 w 1184"/>
                <a:gd name="T9" fmla="*/ 46 h 87"/>
                <a:gd name="T10" fmla="*/ 1184 w 1184"/>
                <a:gd name="T11" fmla="*/ 81 h 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84"/>
                <a:gd name="T19" fmla="*/ 0 h 87"/>
                <a:gd name="T20" fmla="*/ 1184 w 1184"/>
                <a:gd name="T21" fmla="*/ 87 h 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84" h="87">
                  <a:moveTo>
                    <a:pt x="0" y="87"/>
                  </a:moveTo>
                  <a:cubicBezTo>
                    <a:pt x="91" y="64"/>
                    <a:pt x="182" y="41"/>
                    <a:pt x="281" y="27"/>
                  </a:cubicBezTo>
                  <a:cubicBezTo>
                    <a:pt x="380" y="13"/>
                    <a:pt x="494" y="2"/>
                    <a:pt x="595" y="1"/>
                  </a:cubicBezTo>
                  <a:cubicBezTo>
                    <a:pt x="696" y="0"/>
                    <a:pt x="810" y="13"/>
                    <a:pt x="886" y="20"/>
                  </a:cubicBezTo>
                  <a:cubicBezTo>
                    <a:pt x="962" y="27"/>
                    <a:pt x="999" y="36"/>
                    <a:pt x="1049" y="46"/>
                  </a:cubicBezTo>
                  <a:cubicBezTo>
                    <a:pt x="1099" y="56"/>
                    <a:pt x="1141" y="68"/>
                    <a:pt x="1184" y="81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47"/>
            <p:cNvSpPr>
              <a:spLocks/>
            </p:cNvSpPr>
            <p:nvPr/>
          </p:nvSpPr>
          <p:spPr bwMode="auto">
            <a:xfrm>
              <a:off x="4779" y="1017"/>
              <a:ext cx="142" cy="228"/>
            </a:xfrm>
            <a:custGeom>
              <a:avLst/>
              <a:gdLst>
                <a:gd name="T0" fmla="*/ 149 w 149"/>
                <a:gd name="T1" fmla="*/ 0 h 233"/>
                <a:gd name="T2" fmla="*/ 37 w 149"/>
                <a:gd name="T3" fmla="*/ 38 h 233"/>
                <a:gd name="T4" fmla="*/ 2 w 149"/>
                <a:gd name="T5" fmla="*/ 131 h 233"/>
                <a:gd name="T6" fmla="*/ 24 w 149"/>
                <a:gd name="T7" fmla="*/ 195 h 233"/>
                <a:gd name="T8" fmla="*/ 53 w 149"/>
                <a:gd name="T9" fmla="*/ 233 h 2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"/>
                <a:gd name="T16" fmla="*/ 0 h 233"/>
                <a:gd name="T17" fmla="*/ 149 w 149"/>
                <a:gd name="T18" fmla="*/ 233 h 2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" h="233">
                  <a:moveTo>
                    <a:pt x="149" y="0"/>
                  </a:moveTo>
                  <a:cubicBezTo>
                    <a:pt x="105" y="8"/>
                    <a:pt x="62" y="16"/>
                    <a:pt x="37" y="38"/>
                  </a:cubicBezTo>
                  <a:cubicBezTo>
                    <a:pt x="12" y="60"/>
                    <a:pt x="4" y="105"/>
                    <a:pt x="2" y="131"/>
                  </a:cubicBezTo>
                  <a:cubicBezTo>
                    <a:pt x="0" y="157"/>
                    <a:pt x="16" y="178"/>
                    <a:pt x="24" y="195"/>
                  </a:cubicBezTo>
                  <a:cubicBezTo>
                    <a:pt x="32" y="212"/>
                    <a:pt x="42" y="222"/>
                    <a:pt x="53" y="233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48"/>
            <p:cNvSpPr>
              <a:spLocks/>
            </p:cNvSpPr>
            <p:nvPr/>
          </p:nvSpPr>
          <p:spPr bwMode="auto">
            <a:xfrm>
              <a:off x="4915" y="1048"/>
              <a:ext cx="148" cy="228"/>
            </a:xfrm>
            <a:custGeom>
              <a:avLst/>
              <a:gdLst>
                <a:gd name="T0" fmla="*/ 0 w 155"/>
                <a:gd name="T1" fmla="*/ 233 h 233"/>
                <a:gd name="T2" fmla="*/ 99 w 155"/>
                <a:gd name="T3" fmla="*/ 201 h 233"/>
                <a:gd name="T4" fmla="*/ 150 w 155"/>
                <a:gd name="T5" fmla="*/ 109 h 233"/>
                <a:gd name="T6" fmla="*/ 131 w 155"/>
                <a:gd name="T7" fmla="*/ 41 h 233"/>
                <a:gd name="T8" fmla="*/ 92 w 155"/>
                <a:gd name="T9" fmla="*/ 0 h 2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233"/>
                <a:gd name="T17" fmla="*/ 155 w 155"/>
                <a:gd name="T18" fmla="*/ 233 h 2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233">
                  <a:moveTo>
                    <a:pt x="0" y="233"/>
                  </a:moveTo>
                  <a:cubicBezTo>
                    <a:pt x="37" y="227"/>
                    <a:pt x="74" y="222"/>
                    <a:pt x="99" y="201"/>
                  </a:cubicBezTo>
                  <a:cubicBezTo>
                    <a:pt x="124" y="180"/>
                    <a:pt x="145" y="136"/>
                    <a:pt x="150" y="109"/>
                  </a:cubicBezTo>
                  <a:cubicBezTo>
                    <a:pt x="155" y="82"/>
                    <a:pt x="141" y="59"/>
                    <a:pt x="131" y="41"/>
                  </a:cubicBezTo>
                  <a:cubicBezTo>
                    <a:pt x="121" y="23"/>
                    <a:pt x="106" y="11"/>
                    <a:pt x="92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49"/>
            <p:cNvSpPr>
              <a:spLocks/>
            </p:cNvSpPr>
            <p:nvPr/>
          </p:nvSpPr>
          <p:spPr bwMode="auto">
            <a:xfrm>
              <a:off x="5128" y="1351"/>
              <a:ext cx="192" cy="231"/>
            </a:xfrm>
            <a:custGeom>
              <a:avLst/>
              <a:gdLst>
                <a:gd name="T0" fmla="*/ 61 w 202"/>
                <a:gd name="T1" fmla="*/ 237 h 237"/>
                <a:gd name="T2" fmla="*/ 7 w 202"/>
                <a:gd name="T3" fmla="*/ 167 h 237"/>
                <a:gd name="T4" fmla="*/ 17 w 202"/>
                <a:gd name="T5" fmla="*/ 71 h 237"/>
                <a:gd name="T6" fmla="*/ 90 w 202"/>
                <a:gd name="T7" fmla="*/ 10 h 237"/>
                <a:gd name="T8" fmla="*/ 157 w 202"/>
                <a:gd name="T9" fmla="*/ 13 h 237"/>
                <a:gd name="T10" fmla="*/ 202 w 202"/>
                <a:gd name="T11" fmla="*/ 16 h 2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2"/>
                <a:gd name="T19" fmla="*/ 0 h 237"/>
                <a:gd name="T20" fmla="*/ 202 w 202"/>
                <a:gd name="T21" fmla="*/ 237 h 2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2" h="237">
                  <a:moveTo>
                    <a:pt x="61" y="237"/>
                  </a:moveTo>
                  <a:cubicBezTo>
                    <a:pt x="37" y="216"/>
                    <a:pt x="14" y="195"/>
                    <a:pt x="7" y="167"/>
                  </a:cubicBezTo>
                  <a:cubicBezTo>
                    <a:pt x="0" y="139"/>
                    <a:pt x="3" y="97"/>
                    <a:pt x="17" y="71"/>
                  </a:cubicBezTo>
                  <a:cubicBezTo>
                    <a:pt x="31" y="45"/>
                    <a:pt x="67" y="20"/>
                    <a:pt x="90" y="10"/>
                  </a:cubicBezTo>
                  <a:cubicBezTo>
                    <a:pt x="113" y="0"/>
                    <a:pt x="138" y="12"/>
                    <a:pt x="157" y="13"/>
                  </a:cubicBezTo>
                  <a:cubicBezTo>
                    <a:pt x="176" y="14"/>
                    <a:pt x="189" y="15"/>
                    <a:pt x="202" y="16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0"/>
            <p:cNvSpPr>
              <a:spLocks/>
            </p:cNvSpPr>
            <p:nvPr/>
          </p:nvSpPr>
          <p:spPr bwMode="auto">
            <a:xfrm>
              <a:off x="5244" y="1408"/>
              <a:ext cx="146" cy="184"/>
            </a:xfrm>
            <a:custGeom>
              <a:avLst/>
              <a:gdLst>
                <a:gd name="T0" fmla="*/ 128 w 153"/>
                <a:gd name="T1" fmla="*/ 0 h 189"/>
                <a:gd name="T2" fmla="*/ 151 w 153"/>
                <a:gd name="T3" fmla="*/ 80 h 189"/>
                <a:gd name="T4" fmla="*/ 115 w 153"/>
                <a:gd name="T5" fmla="*/ 157 h 189"/>
                <a:gd name="T6" fmla="*/ 64 w 153"/>
                <a:gd name="T7" fmla="*/ 176 h 189"/>
                <a:gd name="T8" fmla="*/ 0 w 153"/>
                <a:gd name="T9" fmla="*/ 189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"/>
                <a:gd name="T16" fmla="*/ 0 h 189"/>
                <a:gd name="T17" fmla="*/ 153 w 153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" h="189">
                  <a:moveTo>
                    <a:pt x="128" y="0"/>
                  </a:moveTo>
                  <a:cubicBezTo>
                    <a:pt x="140" y="27"/>
                    <a:pt x="153" y="54"/>
                    <a:pt x="151" y="80"/>
                  </a:cubicBezTo>
                  <a:cubicBezTo>
                    <a:pt x="149" y="106"/>
                    <a:pt x="129" y="141"/>
                    <a:pt x="115" y="157"/>
                  </a:cubicBezTo>
                  <a:cubicBezTo>
                    <a:pt x="101" y="173"/>
                    <a:pt x="83" y="171"/>
                    <a:pt x="64" y="176"/>
                  </a:cubicBezTo>
                  <a:cubicBezTo>
                    <a:pt x="45" y="181"/>
                    <a:pt x="10" y="187"/>
                    <a:pt x="0" y="189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1"/>
            <p:cNvSpPr>
              <a:spLocks/>
            </p:cNvSpPr>
            <p:nvPr/>
          </p:nvSpPr>
          <p:spPr bwMode="auto">
            <a:xfrm>
              <a:off x="2070" y="1014"/>
              <a:ext cx="217" cy="125"/>
            </a:xfrm>
            <a:custGeom>
              <a:avLst/>
              <a:gdLst>
                <a:gd name="T0" fmla="*/ 0 w 227"/>
                <a:gd name="T1" fmla="*/ 0 h 128"/>
                <a:gd name="T2" fmla="*/ 119 w 227"/>
                <a:gd name="T3" fmla="*/ 67 h 128"/>
                <a:gd name="T4" fmla="*/ 227 w 227"/>
                <a:gd name="T5" fmla="*/ 128 h 128"/>
                <a:gd name="T6" fmla="*/ 0 60000 65536"/>
                <a:gd name="T7" fmla="*/ 0 60000 65536"/>
                <a:gd name="T8" fmla="*/ 0 60000 65536"/>
                <a:gd name="T9" fmla="*/ 0 w 227"/>
                <a:gd name="T10" fmla="*/ 0 h 128"/>
                <a:gd name="T11" fmla="*/ 227 w 227"/>
                <a:gd name="T12" fmla="*/ 128 h 1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" h="128">
                  <a:moveTo>
                    <a:pt x="0" y="0"/>
                  </a:moveTo>
                  <a:cubicBezTo>
                    <a:pt x="40" y="23"/>
                    <a:pt x="81" y="46"/>
                    <a:pt x="119" y="67"/>
                  </a:cubicBezTo>
                  <a:cubicBezTo>
                    <a:pt x="157" y="88"/>
                    <a:pt x="192" y="108"/>
                    <a:pt x="227" y="12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2"/>
            <p:cNvSpPr>
              <a:spLocks/>
            </p:cNvSpPr>
            <p:nvPr/>
          </p:nvSpPr>
          <p:spPr bwMode="auto">
            <a:xfrm>
              <a:off x="1536" y="1039"/>
              <a:ext cx="247" cy="25"/>
            </a:xfrm>
            <a:custGeom>
              <a:avLst/>
              <a:gdLst>
                <a:gd name="T0" fmla="*/ 0 w 259"/>
                <a:gd name="T1" fmla="*/ 26 h 26"/>
                <a:gd name="T2" fmla="*/ 141 w 259"/>
                <a:gd name="T3" fmla="*/ 13 h 26"/>
                <a:gd name="T4" fmla="*/ 259 w 259"/>
                <a:gd name="T5" fmla="*/ 0 h 26"/>
                <a:gd name="T6" fmla="*/ 0 60000 65536"/>
                <a:gd name="T7" fmla="*/ 0 60000 65536"/>
                <a:gd name="T8" fmla="*/ 0 60000 65536"/>
                <a:gd name="T9" fmla="*/ 0 w 259"/>
                <a:gd name="T10" fmla="*/ 0 h 26"/>
                <a:gd name="T11" fmla="*/ 259 w 259"/>
                <a:gd name="T12" fmla="*/ 26 h 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9" h="26">
                  <a:moveTo>
                    <a:pt x="0" y="26"/>
                  </a:moveTo>
                  <a:cubicBezTo>
                    <a:pt x="49" y="21"/>
                    <a:pt x="98" y="17"/>
                    <a:pt x="141" y="13"/>
                  </a:cubicBezTo>
                  <a:cubicBezTo>
                    <a:pt x="184" y="9"/>
                    <a:pt x="221" y="4"/>
                    <a:pt x="25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3"/>
            <p:cNvSpPr>
              <a:spLocks/>
            </p:cNvSpPr>
            <p:nvPr/>
          </p:nvSpPr>
          <p:spPr bwMode="auto">
            <a:xfrm>
              <a:off x="1204" y="1145"/>
              <a:ext cx="220" cy="63"/>
            </a:xfrm>
            <a:custGeom>
              <a:avLst/>
              <a:gdLst>
                <a:gd name="T0" fmla="*/ 0 w 231"/>
                <a:gd name="T1" fmla="*/ 64 h 64"/>
                <a:gd name="T2" fmla="*/ 96 w 231"/>
                <a:gd name="T3" fmla="*/ 32 h 64"/>
                <a:gd name="T4" fmla="*/ 231 w 231"/>
                <a:gd name="T5" fmla="*/ 0 h 64"/>
                <a:gd name="T6" fmla="*/ 0 60000 65536"/>
                <a:gd name="T7" fmla="*/ 0 60000 65536"/>
                <a:gd name="T8" fmla="*/ 0 60000 65536"/>
                <a:gd name="T9" fmla="*/ 0 w 231"/>
                <a:gd name="T10" fmla="*/ 0 h 64"/>
                <a:gd name="T11" fmla="*/ 231 w 231"/>
                <a:gd name="T12" fmla="*/ 64 h 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1" h="64">
                  <a:moveTo>
                    <a:pt x="0" y="64"/>
                  </a:moveTo>
                  <a:cubicBezTo>
                    <a:pt x="29" y="53"/>
                    <a:pt x="58" y="43"/>
                    <a:pt x="96" y="32"/>
                  </a:cubicBezTo>
                  <a:cubicBezTo>
                    <a:pt x="134" y="21"/>
                    <a:pt x="182" y="10"/>
                    <a:pt x="231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54"/>
            <p:cNvSpPr>
              <a:spLocks/>
            </p:cNvSpPr>
            <p:nvPr/>
          </p:nvSpPr>
          <p:spPr bwMode="auto">
            <a:xfrm>
              <a:off x="536" y="1442"/>
              <a:ext cx="301" cy="128"/>
            </a:xfrm>
            <a:custGeom>
              <a:avLst/>
              <a:gdLst>
                <a:gd name="T0" fmla="*/ 0 w 316"/>
                <a:gd name="T1" fmla="*/ 131 h 131"/>
                <a:gd name="T2" fmla="*/ 166 w 316"/>
                <a:gd name="T3" fmla="*/ 48 h 131"/>
                <a:gd name="T4" fmla="*/ 316 w 316"/>
                <a:gd name="T5" fmla="*/ 0 h 131"/>
                <a:gd name="T6" fmla="*/ 0 60000 65536"/>
                <a:gd name="T7" fmla="*/ 0 60000 65536"/>
                <a:gd name="T8" fmla="*/ 0 60000 65536"/>
                <a:gd name="T9" fmla="*/ 0 w 316"/>
                <a:gd name="T10" fmla="*/ 0 h 131"/>
                <a:gd name="T11" fmla="*/ 316 w 316"/>
                <a:gd name="T12" fmla="*/ 131 h 1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6" h="131">
                  <a:moveTo>
                    <a:pt x="0" y="131"/>
                  </a:moveTo>
                  <a:cubicBezTo>
                    <a:pt x="56" y="100"/>
                    <a:pt x="113" y="70"/>
                    <a:pt x="166" y="48"/>
                  </a:cubicBezTo>
                  <a:cubicBezTo>
                    <a:pt x="219" y="26"/>
                    <a:pt x="267" y="13"/>
                    <a:pt x="316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55"/>
            <p:cNvSpPr>
              <a:spLocks/>
            </p:cNvSpPr>
            <p:nvPr/>
          </p:nvSpPr>
          <p:spPr bwMode="auto">
            <a:xfrm>
              <a:off x="505" y="945"/>
              <a:ext cx="467" cy="1"/>
            </a:xfrm>
            <a:custGeom>
              <a:avLst/>
              <a:gdLst>
                <a:gd name="T0" fmla="*/ 0 w 489"/>
                <a:gd name="T1" fmla="*/ 0 h 1"/>
                <a:gd name="T2" fmla="*/ 489 w 489"/>
                <a:gd name="T3" fmla="*/ 0 h 1"/>
                <a:gd name="T4" fmla="*/ 0 60000 65536"/>
                <a:gd name="T5" fmla="*/ 0 60000 65536"/>
                <a:gd name="T6" fmla="*/ 0 w 489"/>
                <a:gd name="T7" fmla="*/ 0 h 1"/>
                <a:gd name="T8" fmla="*/ 489 w 48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9" h="1">
                  <a:moveTo>
                    <a:pt x="0" y="0"/>
                  </a:moveTo>
                  <a:cubicBezTo>
                    <a:pt x="0" y="0"/>
                    <a:pt x="244" y="0"/>
                    <a:pt x="489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56"/>
            <p:cNvSpPr>
              <a:spLocks/>
            </p:cNvSpPr>
            <p:nvPr/>
          </p:nvSpPr>
          <p:spPr bwMode="auto">
            <a:xfrm>
              <a:off x="2534" y="1701"/>
              <a:ext cx="58" cy="120"/>
            </a:xfrm>
            <a:custGeom>
              <a:avLst/>
              <a:gdLst>
                <a:gd name="T0" fmla="*/ 1 w 34"/>
                <a:gd name="T1" fmla="*/ 91 h 91"/>
                <a:gd name="T2" fmla="*/ 5 w 34"/>
                <a:gd name="T3" fmla="*/ 38 h 91"/>
                <a:gd name="T4" fmla="*/ 34 w 34"/>
                <a:gd name="T5" fmla="*/ 0 h 91"/>
                <a:gd name="T6" fmla="*/ 0 60000 65536"/>
                <a:gd name="T7" fmla="*/ 0 60000 65536"/>
                <a:gd name="T8" fmla="*/ 0 60000 65536"/>
                <a:gd name="T9" fmla="*/ 0 w 34"/>
                <a:gd name="T10" fmla="*/ 0 h 91"/>
                <a:gd name="T11" fmla="*/ 34 w 34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91">
                  <a:moveTo>
                    <a:pt x="1" y="91"/>
                  </a:moveTo>
                  <a:cubicBezTo>
                    <a:pt x="0" y="72"/>
                    <a:pt x="0" y="53"/>
                    <a:pt x="5" y="38"/>
                  </a:cubicBezTo>
                  <a:cubicBezTo>
                    <a:pt x="10" y="23"/>
                    <a:pt x="22" y="11"/>
                    <a:pt x="3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57"/>
            <p:cNvSpPr txBox="1">
              <a:spLocks noChangeArrowheads="1"/>
            </p:cNvSpPr>
            <p:nvPr/>
          </p:nvSpPr>
          <p:spPr bwMode="auto">
            <a:xfrm>
              <a:off x="1105" y="2033"/>
              <a:ext cx="36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latin typeface="宋体" charset="-122"/>
                </a:rPr>
                <a:t>静止砂丘                     移动砂丘</a:t>
              </a:r>
              <a:endParaRPr lang="en-US" altLang="zh-CN" sz="2400" b="1">
                <a:solidFill>
                  <a:srgbClr val="000066"/>
                </a:solidFill>
                <a:latin typeface="宋体" charset="-122"/>
              </a:endParaRPr>
            </a:p>
          </p:txBody>
        </p:sp>
        <p:sp>
          <p:nvSpPr>
            <p:cNvPr id="66" name="Text Box 58"/>
            <p:cNvSpPr txBox="1">
              <a:spLocks noChangeArrowheads="1"/>
            </p:cNvSpPr>
            <p:nvPr/>
          </p:nvSpPr>
          <p:spPr bwMode="auto">
            <a:xfrm>
              <a:off x="2392" y="1418"/>
              <a:ext cx="6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30~35</a:t>
              </a: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</a:t>
              </a:r>
            </a:p>
          </p:txBody>
        </p:sp>
      </p:grpSp>
      <p:sp>
        <p:nvSpPr>
          <p:cNvPr id="67" name="Text Box 59"/>
          <p:cNvSpPr txBox="1">
            <a:spLocks noChangeArrowheads="1"/>
          </p:cNvSpPr>
          <p:nvPr/>
        </p:nvSpPr>
        <p:spPr bwMode="auto">
          <a:xfrm>
            <a:off x="242888" y="630238"/>
            <a:ext cx="3427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 天然状态下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的砂丘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68" name="Text Box 60"/>
          <p:cNvSpPr txBox="1">
            <a:spLocks noChangeArrowheads="1"/>
          </p:cNvSpPr>
          <p:nvPr/>
        </p:nvSpPr>
        <p:spPr bwMode="auto">
          <a:xfrm>
            <a:off x="512763" y="3889375"/>
            <a:ext cx="6680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固定砂丘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背风坡角度接近天然休止角，一般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为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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30-35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，大于矿物滑动摩擦角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69" name="Text Box 61"/>
          <p:cNvSpPr txBox="1">
            <a:spLocks noChangeArrowheads="1"/>
          </p:cNvSpPr>
          <p:nvPr/>
        </p:nvSpPr>
        <p:spPr bwMode="auto">
          <a:xfrm>
            <a:off x="4130675" y="5108575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颗粒间存在一定的咬合作用</a:t>
            </a:r>
          </a:p>
        </p:txBody>
      </p:sp>
      <p:sp>
        <p:nvSpPr>
          <p:cNvPr id="70" name="AutoShape 62"/>
          <p:cNvSpPr>
            <a:spLocks noChangeArrowheads="1"/>
          </p:cNvSpPr>
          <p:nvPr/>
        </p:nvSpPr>
        <p:spPr bwMode="auto">
          <a:xfrm>
            <a:off x="3492500" y="5178425"/>
            <a:ext cx="444500" cy="419100"/>
          </a:xfrm>
          <a:prstGeom prst="homePlate">
            <a:avLst>
              <a:gd name="adj" fmla="val 2651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AutoShape 63"/>
          <p:cNvSpPr>
            <a:spLocks noChangeArrowheads="1"/>
          </p:cNvSpPr>
          <p:nvPr/>
        </p:nvSpPr>
        <p:spPr bwMode="auto">
          <a:xfrm>
            <a:off x="1550988" y="2166938"/>
            <a:ext cx="152400" cy="152400"/>
          </a:xfrm>
          <a:prstGeom prst="pentagon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68 -0.00486 C 0.01893 -0.01088 0.02917 -0.01666 0.03577 -0.02037 C 0.04236 -0.02407 0.0434 -0.02407 0.04827 -0.02754 C 0.05313 -0.03102 0.05938 -0.03703 0.06545 -0.04143 C 0.07153 -0.04583 0.07743 -0.04907 0.0842 -0.05324 C 0.09097 -0.0574 0.10035 -0.0625 0.1066 -0.06597 C 0.11285 -0.06944 0.11719 -0.07176 0.12205 -0.07384 C 0.12691 -0.07592 0.13125 -0.07731 0.13629 -0.07824 C 0.14132 -0.07916 0.1467 -0.08055 0.15208 -0.07939 C 0.15747 -0.07824 0.1625 -0.07639 0.16823 -0.07152 C 0.17396 -0.06666 0.18073 -0.0574 0.18698 -0.05046 C 0.19323 -0.04352 0.20052 -0.03564 0.20573 -0.02939 C 0.21094 -0.02314 0.21389 -0.01921 0.21875 -0.01273 C 0.22361 -0.00625 0.22986 0.00324 0.23455 0.00949 C 0.23924 0.01574 0.24288 0.01991 0.2474 0.02523 C 0.25191 0.03056 0.25573 0.03635 0.26129 0.04121 C 0.26684 0.04607 0.27639 0.05139 0.28038 0.05394 " pathEditMode="relative" rAng="0" ptsTypes="aaaaaaaaaaaaaaaaa">
                                      <p:cBhvr>
                                        <p:cTn id="20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76" y="-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 animBg="1"/>
      <p:bldP spid="71" grpId="0" animBg="1"/>
      <p:bldP spid="7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3025775" y="5830888"/>
            <a:ext cx="5441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各种类型的滑坡</a:t>
            </a: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22" name="Picture 2" descr="J:\图片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33" y="820213"/>
            <a:ext cx="7222067" cy="470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673101" y="1728788"/>
            <a:ext cx="1568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(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a)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崩塌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5175251" y="2341563"/>
            <a:ext cx="2495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(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b)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平移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滑动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850901" y="3617913"/>
            <a:ext cx="2214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(c)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旋转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滑动</a:t>
            </a:r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6343651" y="4618038"/>
            <a:ext cx="1543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(d)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流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滑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3005138" y="3340100"/>
            <a:ext cx="1263650" cy="974724"/>
            <a:chOff x="3005138" y="3340100"/>
            <a:chExt cx="1263650" cy="974724"/>
          </a:xfrm>
        </p:grpSpPr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>
              <a:off x="3005138" y="3340100"/>
              <a:ext cx="12636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folHlink"/>
                  </a:solidFill>
                  <a:ea typeface="幼圆" pitchFamily="49" charset="-122"/>
                </a:rPr>
                <a:t>滑裂面</a:t>
              </a:r>
            </a:p>
          </p:txBody>
        </p:sp>
        <p:sp>
          <p:nvSpPr>
            <p:cNvPr id="29" name="Line 14"/>
            <p:cNvSpPr>
              <a:spLocks noChangeShapeType="1"/>
            </p:cNvSpPr>
            <p:nvPr/>
          </p:nvSpPr>
          <p:spPr bwMode="auto">
            <a:xfrm flipH="1" flipV="1">
              <a:off x="3340099" y="3784599"/>
              <a:ext cx="215901" cy="5302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005638" y="1612900"/>
            <a:ext cx="1263650" cy="647700"/>
            <a:chOff x="7005638" y="1612900"/>
            <a:chExt cx="1263650" cy="647700"/>
          </a:xfrm>
        </p:grpSpPr>
        <p:sp>
          <p:nvSpPr>
            <p:cNvPr id="31" name="Text Box 13"/>
            <p:cNvSpPr txBox="1">
              <a:spLocks noChangeArrowheads="1"/>
            </p:cNvSpPr>
            <p:nvPr/>
          </p:nvSpPr>
          <p:spPr bwMode="auto">
            <a:xfrm>
              <a:off x="7005638" y="1803400"/>
              <a:ext cx="12636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folHlink"/>
                  </a:solidFill>
                  <a:ea typeface="幼圆" pitchFamily="49" charset="-122"/>
                </a:rPr>
                <a:t>滑裂面</a:t>
              </a:r>
            </a:p>
          </p:txBody>
        </p:sp>
        <p:sp>
          <p:nvSpPr>
            <p:cNvPr id="32" name="Line 14"/>
            <p:cNvSpPr>
              <a:spLocks noChangeShapeType="1"/>
            </p:cNvSpPr>
            <p:nvPr/>
          </p:nvSpPr>
          <p:spPr bwMode="auto">
            <a:xfrm flipH="1" flipV="1">
              <a:off x="7167563" y="1612900"/>
              <a:ext cx="236538" cy="2000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501304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14" name="Picture 4" descr="LaConchita_clip_image0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479343" y="894220"/>
            <a:ext cx="3118057" cy="4638218"/>
          </a:xfrm>
          <a:prstGeom prst="rect">
            <a:avLst/>
          </a:prstGeom>
          <a:noFill/>
          <a:ln/>
        </p:spPr>
      </p:pic>
      <p:pic>
        <p:nvPicPr>
          <p:cNvPr id="15" name="Picture 4" descr="LANDSLIDE IMAGE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 l="1118" t="740" r="1118" b="740"/>
          <a:stretch>
            <a:fillRect/>
          </a:stretch>
        </p:blipFill>
        <p:spPr>
          <a:xfrm>
            <a:off x="5179237" y="894220"/>
            <a:ext cx="3059113" cy="4660893"/>
          </a:xfrm>
          <a:prstGeom prst="rect">
            <a:avLst/>
          </a:prstGeom>
          <a:noFill/>
          <a:ln/>
        </p:spPr>
      </p:pic>
      <p:sp>
        <p:nvSpPr>
          <p:cNvPr id="16" name="TextBox 15"/>
          <p:cNvSpPr txBox="1"/>
          <p:nvPr/>
        </p:nvSpPr>
        <p:spPr>
          <a:xfrm>
            <a:off x="5179237" y="582182"/>
            <a:ext cx="223224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A50021"/>
                </a:solidFill>
              </a:rPr>
              <a:t>Salvador, 2001</a:t>
            </a:r>
            <a:endParaRPr lang="zh-CN" altLang="en-US" sz="2000" dirty="0">
              <a:solidFill>
                <a:srgbClr val="A5002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37556" y="561752"/>
            <a:ext cx="201622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A50021"/>
                </a:solidFill>
              </a:rPr>
              <a:t>California, 1996</a:t>
            </a:r>
            <a:endParaRPr lang="zh-CN" altLang="en-US" sz="2000" dirty="0">
              <a:solidFill>
                <a:srgbClr val="A50021"/>
              </a:solidFill>
            </a:endParaRP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3254375" y="5830888"/>
            <a:ext cx="34258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滑 坡 实 例</a:t>
            </a:r>
            <a:endParaRPr kumimoji="1"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38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5" y="1015919"/>
            <a:ext cx="4403448" cy="2992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403090" y="4192797"/>
            <a:ext cx="2849113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韦科坝</a:t>
            </a:r>
            <a:r>
              <a:rPr lang="en-US" altLang="zh-CN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(Waco Dam)</a:t>
            </a:r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滑坡</a:t>
            </a:r>
            <a:endParaRPr lang="zh-CN" altLang="en-US" sz="2000" b="1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6138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633" y="1017499"/>
            <a:ext cx="4476313" cy="2986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4808513" y="4132544"/>
            <a:ext cx="4175999" cy="768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圣费尔南多坝</a:t>
            </a:r>
            <a:r>
              <a:rPr lang="en-US" altLang="zh-CN" sz="2000" b="1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(San Fernando </a:t>
            </a:r>
            <a:r>
              <a:rPr lang="en-US" altLang="zh-CN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Dam)</a:t>
            </a:r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上游坝坡失稳</a:t>
            </a:r>
            <a:endParaRPr lang="zh-CN" altLang="en-US" sz="2000" b="1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282005" y="5697538"/>
            <a:ext cx="377539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dirty="0" smtClean="0">
                <a:solidFill>
                  <a:srgbClr val="000066"/>
                </a:solidFill>
                <a:ea typeface="黑体" pitchFamily="2" charset="-122"/>
              </a:rPr>
              <a:t>土石坝坝坡失稳</a:t>
            </a:r>
            <a:endParaRPr kumimoji="1" lang="zh-CN" altLang="en-US" sz="4000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557205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25" name="Picture 3" descr="图片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22" y="776177"/>
            <a:ext cx="8404018" cy="582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2087563" y="1550988"/>
            <a:ext cx="1327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锚固破坏</a:t>
            </a:r>
            <a:endParaRPr lang="en-US" altLang="zh-CN" sz="20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6708957" y="1636713"/>
            <a:ext cx="1327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整体滑动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2000250" y="3567113"/>
            <a:ext cx="1327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底部破坏</a:t>
            </a:r>
            <a:endParaRPr lang="en-US" altLang="zh-CN" sz="20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6405563" y="3905250"/>
            <a:ext cx="1327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土体下沉</a:t>
            </a:r>
            <a:endParaRPr lang="en-US" altLang="zh-CN" sz="20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1836738" y="5581650"/>
            <a:ext cx="1327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墙体折断</a:t>
            </a:r>
            <a:endParaRPr lang="en-US" altLang="zh-CN" sz="20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4013647" y="5505120"/>
            <a:ext cx="48609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A50021"/>
                </a:solidFill>
                <a:ea typeface="黑体" pitchFamily="2" charset="-122"/>
              </a:rPr>
              <a:t>挡土支护结构的破坏</a:t>
            </a: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243" y="1005394"/>
            <a:ext cx="4374756" cy="284359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403090" y="4192797"/>
            <a:ext cx="3791423" cy="4147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新加坡</a:t>
            </a:r>
            <a:r>
              <a:rPr lang="en-US" altLang="zh-CN" sz="2000" b="1" dirty="0" err="1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Nicoll</a:t>
            </a:r>
            <a:r>
              <a:rPr lang="en-US" altLang="zh-CN" sz="2000" b="1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大道地铁基坑倒塌 </a:t>
            </a:r>
          </a:p>
        </p:txBody>
      </p:sp>
      <p:sp>
        <p:nvSpPr>
          <p:cNvPr id="13" name="矩形 12"/>
          <p:cNvSpPr/>
          <p:nvPr/>
        </p:nvSpPr>
        <p:spPr>
          <a:xfrm>
            <a:off x="4797880" y="4185709"/>
            <a:ext cx="4175999" cy="414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巴西圣保罗地铁</a:t>
            </a:r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基坑倒塌</a:t>
            </a:r>
            <a:endParaRPr lang="zh-CN" altLang="en-US" sz="2000" b="1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637379" name="Picture 3" descr="H:\tim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688" y="1001864"/>
            <a:ext cx="4270735" cy="284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pic>
        <p:nvPicPr>
          <p:cNvPr id="9" name="Picture 2" descr="Pict107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37" y="978195"/>
            <a:ext cx="4449945" cy="298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乌干达首都发生工地坍塌事故十数人伤亡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1" b="2762"/>
          <a:stretch/>
        </p:blipFill>
        <p:spPr bwMode="auto">
          <a:xfrm>
            <a:off x="4651006" y="985837"/>
            <a:ext cx="4296770" cy="298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/>
        </p:nvSpPr>
        <p:spPr>
          <a:xfrm>
            <a:off x="785878" y="4192797"/>
            <a:ext cx="2765501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广州京光广场基坑失稳</a:t>
            </a:r>
            <a:endParaRPr lang="zh-CN" altLang="en-US" sz="2000" b="1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23144" y="4196342"/>
            <a:ext cx="455073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乌干达首都</a:t>
            </a:r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坎帕拉某办公大楼基坑坍塌</a:t>
            </a:r>
            <a:endParaRPr lang="zh-CN" altLang="en-US" sz="2000" b="1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952382" y="5644373"/>
            <a:ext cx="544251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dirty="0" smtClean="0">
                <a:solidFill>
                  <a:srgbClr val="000066"/>
                </a:solidFill>
                <a:ea typeface="黑体" pitchFamily="2" charset="-122"/>
              </a:rPr>
              <a:t>高层建筑基坑失稳事故 </a:t>
            </a:r>
            <a:endParaRPr kumimoji="1" lang="zh-CN" altLang="en-US" sz="4000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831226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748088" y="5815013"/>
            <a:ext cx="27320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幼圆" pitchFamily="49" charset="-122"/>
              </a:rPr>
              <a:t>地基的破坏</a:t>
            </a: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cxnSp>
        <p:nvCxnSpPr>
          <p:cNvPr id="26" name="直接连接符 25"/>
          <p:cNvCxnSpPr/>
          <p:nvPr/>
        </p:nvCxnSpPr>
        <p:spPr bwMode="auto">
          <a:xfrm>
            <a:off x="1653437" y="3826971"/>
            <a:ext cx="6520375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8" t="9942" r="29704" b="8769"/>
          <a:stretch/>
        </p:blipFill>
        <p:spPr bwMode="auto">
          <a:xfrm>
            <a:off x="4185134" y="415336"/>
            <a:ext cx="1244991" cy="3200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Freeform 6"/>
          <p:cNvSpPr>
            <a:spLocks/>
          </p:cNvSpPr>
          <p:nvPr/>
        </p:nvSpPr>
        <p:spPr bwMode="auto">
          <a:xfrm>
            <a:off x="1653947" y="3683648"/>
            <a:ext cx="6415035" cy="395415"/>
          </a:xfrm>
          <a:custGeom>
            <a:avLst/>
            <a:gdLst>
              <a:gd name="T0" fmla="*/ 0 w 3284"/>
              <a:gd name="T1" fmla="*/ 88 h 213"/>
              <a:gd name="T2" fmla="*/ 117 w 3284"/>
              <a:gd name="T3" fmla="*/ 83 h 213"/>
              <a:gd name="T4" fmla="*/ 197 w 3284"/>
              <a:gd name="T5" fmla="*/ 50 h 213"/>
              <a:gd name="T6" fmla="*/ 400 w 3284"/>
              <a:gd name="T7" fmla="*/ 23 h 213"/>
              <a:gd name="T8" fmla="*/ 730 w 3284"/>
              <a:gd name="T9" fmla="*/ 3 h 213"/>
              <a:gd name="T10" fmla="*/ 906 w 3284"/>
              <a:gd name="T11" fmla="*/ 7 h 213"/>
              <a:gd name="T12" fmla="*/ 1080 w 3284"/>
              <a:gd name="T13" fmla="*/ 31 h 213"/>
              <a:gd name="T14" fmla="*/ 1210 w 3284"/>
              <a:gd name="T15" fmla="*/ 79 h 213"/>
              <a:gd name="T16" fmla="*/ 1474 w 3284"/>
              <a:gd name="T17" fmla="*/ 74 h 213"/>
              <a:gd name="T18" fmla="*/ 1796 w 3284"/>
              <a:gd name="T19" fmla="*/ 69 h 213"/>
              <a:gd name="T20" fmla="*/ 1906 w 3284"/>
              <a:gd name="T21" fmla="*/ 88 h 213"/>
              <a:gd name="T22" fmla="*/ 2023 w 3284"/>
              <a:gd name="T23" fmla="*/ 55 h 213"/>
              <a:gd name="T24" fmla="*/ 2221 w 3284"/>
              <a:gd name="T25" fmla="*/ 10 h 213"/>
              <a:gd name="T26" fmla="*/ 2445 w 3284"/>
              <a:gd name="T27" fmla="*/ 10 h 213"/>
              <a:gd name="T28" fmla="*/ 2653 w 3284"/>
              <a:gd name="T29" fmla="*/ 19 h 213"/>
              <a:gd name="T30" fmla="*/ 2823 w 3284"/>
              <a:gd name="T31" fmla="*/ 40 h 213"/>
              <a:gd name="T32" fmla="*/ 2986 w 3284"/>
              <a:gd name="T33" fmla="*/ 74 h 213"/>
              <a:gd name="T34" fmla="*/ 3256 w 3284"/>
              <a:gd name="T35" fmla="*/ 87 h 213"/>
              <a:gd name="T36" fmla="*/ 2818 w 3284"/>
              <a:gd name="T37" fmla="*/ 194 h 213"/>
              <a:gd name="T38" fmla="*/ 1997 w 3284"/>
              <a:gd name="T39" fmla="*/ 203 h 213"/>
              <a:gd name="T40" fmla="*/ 1133 w 3284"/>
              <a:gd name="T41" fmla="*/ 194 h 213"/>
              <a:gd name="T42" fmla="*/ 528 w 3284"/>
              <a:gd name="T43" fmla="*/ 179 h 213"/>
              <a:gd name="T44" fmla="*/ 308 w 3284"/>
              <a:gd name="T45" fmla="*/ 175 h 213"/>
              <a:gd name="T46" fmla="*/ 130 w 3284"/>
              <a:gd name="T47" fmla="*/ 93 h 213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284"/>
              <a:gd name="T73" fmla="*/ 0 h 213"/>
              <a:gd name="T74" fmla="*/ 3284 w 3284"/>
              <a:gd name="T75" fmla="*/ 213 h 213"/>
              <a:gd name="connsiteX0" fmla="*/ 0 w 10110"/>
              <a:gd name="connsiteY0" fmla="*/ 3546 h 9580"/>
              <a:gd name="connsiteX1" fmla="*/ 544 w 10110"/>
              <a:gd name="connsiteY1" fmla="*/ 3823 h 9580"/>
              <a:gd name="connsiteX2" fmla="*/ 788 w 10110"/>
              <a:gd name="connsiteY2" fmla="*/ 2273 h 9580"/>
              <a:gd name="connsiteX3" fmla="*/ 1406 w 10110"/>
              <a:gd name="connsiteY3" fmla="*/ 1006 h 9580"/>
              <a:gd name="connsiteX4" fmla="*/ 2411 w 10110"/>
              <a:gd name="connsiteY4" fmla="*/ 67 h 9580"/>
              <a:gd name="connsiteX5" fmla="*/ 2947 w 10110"/>
              <a:gd name="connsiteY5" fmla="*/ 255 h 9580"/>
              <a:gd name="connsiteX6" fmla="*/ 3477 w 10110"/>
              <a:gd name="connsiteY6" fmla="*/ 1381 h 9580"/>
              <a:gd name="connsiteX7" fmla="*/ 3873 w 10110"/>
              <a:gd name="connsiteY7" fmla="*/ 3635 h 9580"/>
              <a:gd name="connsiteX8" fmla="*/ 4676 w 10110"/>
              <a:gd name="connsiteY8" fmla="*/ 3400 h 9580"/>
              <a:gd name="connsiteX9" fmla="*/ 5657 w 10110"/>
              <a:gd name="connsiteY9" fmla="*/ 3165 h 9580"/>
              <a:gd name="connsiteX10" fmla="*/ 5992 w 10110"/>
              <a:gd name="connsiteY10" fmla="*/ 4057 h 9580"/>
              <a:gd name="connsiteX11" fmla="*/ 6348 w 10110"/>
              <a:gd name="connsiteY11" fmla="*/ 2508 h 9580"/>
              <a:gd name="connsiteX12" fmla="*/ 6951 w 10110"/>
              <a:gd name="connsiteY12" fmla="*/ 395 h 9580"/>
              <a:gd name="connsiteX13" fmla="*/ 7633 w 10110"/>
              <a:gd name="connsiteY13" fmla="*/ 395 h 9580"/>
              <a:gd name="connsiteX14" fmla="*/ 8267 w 10110"/>
              <a:gd name="connsiteY14" fmla="*/ 818 h 9580"/>
              <a:gd name="connsiteX15" fmla="*/ 8784 w 10110"/>
              <a:gd name="connsiteY15" fmla="*/ 1804 h 9580"/>
              <a:gd name="connsiteX16" fmla="*/ 9281 w 10110"/>
              <a:gd name="connsiteY16" fmla="*/ 3400 h 9580"/>
              <a:gd name="connsiteX17" fmla="*/ 10103 w 10110"/>
              <a:gd name="connsiteY17" fmla="*/ 4011 h 9580"/>
              <a:gd name="connsiteX18" fmla="*/ 8769 w 10110"/>
              <a:gd name="connsiteY18" fmla="*/ 9034 h 9580"/>
              <a:gd name="connsiteX19" fmla="*/ 6269 w 10110"/>
              <a:gd name="connsiteY19" fmla="*/ 9457 h 9580"/>
              <a:gd name="connsiteX20" fmla="*/ 3638 w 10110"/>
              <a:gd name="connsiteY20" fmla="*/ 9034 h 9580"/>
              <a:gd name="connsiteX21" fmla="*/ 1796 w 10110"/>
              <a:gd name="connsiteY21" fmla="*/ 8330 h 9580"/>
              <a:gd name="connsiteX22" fmla="*/ 1126 w 10110"/>
              <a:gd name="connsiteY22" fmla="*/ 8142 h 9580"/>
              <a:gd name="connsiteX23" fmla="*/ 584 w 10110"/>
              <a:gd name="connsiteY23" fmla="*/ 4292 h 9580"/>
              <a:gd name="connsiteX0" fmla="*/ 0 w 10000"/>
              <a:gd name="connsiteY0" fmla="*/ 3701 h 10000"/>
              <a:gd name="connsiteX1" fmla="*/ 538 w 10000"/>
              <a:gd name="connsiteY1" fmla="*/ 3991 h 10000"/>
              <a:gd name="connsiteX2" fmla="*/ 779 w 10000"/>
              <a:gd name="connsiteY2" fmla="*/ 2373 h 10000"/>
              <a:gd name="connsiteX3" fmla="*/ 1391 w 10000"/>
              <a:gd name="connsiteY3" fmla="*/ 1050 h 10000"/>
              <a:gd name="connsiteX4" fmla="*/ 2385 w 10000"/>
              <a:gd name="connsiteY4" fmla="*/ 70 h 10000"/>
              <a:gd name="connsiteX5" fmla="*/ 2915 w 10000"/>
              <a:gd name="connsiteY5" fmla="*/ 266 h 10000"/>
              <a:gd name="connsiteX6" fmla="*/ 3439 w 10000"/>
              <a:gd name="connsiteY6" fmla="*/ 1442 h 10000"/>
              <a:gd name="connsiteX7" fmla="*/ 3831 w 10000"/>
              <a:gd name="connsiteY7" fmla="*/ 3794 h 10000"/>
              <a:gd name="connsiteX8" fmla="*/ 4625 w 10000"/>
              <a:gd name="connsiteY8" fmla="*/ 3549 h 10000"/>
              <a:gd name="connsiteX9" fmla="*/ 5595 w 10000"/>
              <a:gd name="connsiteY9" fmla="*/ 3304 h 10000"/>
              <a:gd name="connsiteX10" fmla="*/ 5927 w 10000"/>
              <a:gd name="connsiteY10" fmla="*/ 4235 h 10000"/>
              <a:gd name="connsiteX11" fmla="*/ 6279 w 10000"/>
              <a:gd name="connsiteY11" fmla="*/ 2618 h 10000"/>
              <a:gd name="connsiteX12" fmla="*/ 6875 w 10000"/>
              <a:gd name="connsiteY12" fmla="*/ 412 h 10000"/>
              <a:gd name="connsiteX13" fmla="*/ 7550 w 10000"/>
              <a:gd name="connsiteY13" fmla="*/ 412 h 10000"/>
              <a:gd name="connsiteX14" fmla="*/ 8177 w 10000"/>
              <a:gd name="connsiteY14" fmla="*/ 854 h 10000"/>
              <a:gd name="connsiteX15" fmla="*/ 8688 w 10000"/>
              <a:gd name="connsiteY15" fmla="*/ 1883 h 10000"/>
              <a:gd name="connsiteX16" fmla="*/ 9180 w 10000"/>
              <a:gd name="connsiteY16" fmla="*/ 3549 h 10000"/>
              <a:gd name="connsiteX17" fmla="*/ 9993 w 10000"/>
              <a:gd name="connsiteY17" fmla="*/ 4187 h 10000"/>
              <a:gd name="connsiteX18" fmla="*/ 8674 w 10000"/>
              <a:gd name="connsiteY18" fmla="*/ 9430 h 10000"/>
              <a:gd name="connsiteX19" fmla="*/ 6201 w 10000"/>
              <a:gd name="connsiteY19" fmla="*/ 9872 h 10000"/>
              <a:gd name="connsiteX20" fmla="*/ 3598 w 10000"/>
              <a:gd name="connsiteY20" fmla="*/ 9430 h 10000"/>
              <a:gd name="connsiteX21" fmla="*/ 1776 w 10000"/>
              <a:gd name="connsiteY21" fmla="*/ 8695 h 10000"/>
              <a:gd name="connsiteX22" fmla="*/ 1114 w 10000"/>
              <a:gd name="connsiteY22" fmla="*/ 8499 h 10000"/>
              <a:gd name="connsiteX0" fmla="*/ 0 w 10000"/>
              <a:gd name="connsiteY0" fmla="*/ 3701 h 10000"/>
              <a:gd name="connsiteX1" fmla="*/ 527 w 10000"/>
              <a:gd name="connsiteY1" fmla="*/ 3457 h 10000"/>
              <a:gd name="connsiteX2" fmla="*/ 779 w 10000"/>
              <a:gd name="connsiteY2" fmla="*/ 2373 h 10000"/>
              <a:gd name="connsiteX3" fmla="*/ 1391 w 10000"/>
              <a:gd name="connsiteY3" fmla="*/ 1050 h 10000"/>
              <a:gd name="connsiteX4" fmla="*/ 2385 w 10000"/>
              <a:gd name="connsiteY4" fmla="*/ 70 h 10000"/>
              <a:gd name="connsiteX5" fmla="*/ 2915 w 10000"/>
              <a:gd name="connsiteY5" fmla="*/ 266 h 10000"/>
              <a:gd name="connsiteX6" fmla="*/ 3439 w 10000"/>
              <a:gd name="connsiteY6" fmla="*/ 1442 h 10000"/>
              <a:gd name="connsiteX7" fmla="*/ 3831 w 10000"/>
              <a:gd name="connsiteY7" fmla="*/ 3794 h 10000"/>
              <a:gd name="connsiteX8" fmla="*/ 4625 w 10000"/>
              <a:gd name="connsiteY8" fmla="*/ 3549 h 10000"/>
              <a:gd name="connsiteX9" fmla="*/ 5595 w 10000"/>
              <a:gd name="connsiteY9" fmla="*/ 3304 h 10000"/>
              <a:gd name="connsiteX10" fmla="*/ 5927 w 10000"/>
              <a:gd name="connsiteY10" fmla="*/ 4235 h 10000"/>
              <a:gd name="connsiteX11" fmla="*/ 6279 w 10000"/>
              <a:gd name="connsiteY11" fmla="*/ 2618 h 10000"/>
              <a:gd name="connsiteX12" fmla="*/ 6875 w 10000"/>
              <a:gd name="connsiteY12" fmla="*/ 412 h 10000"/>
              <a:gd name="connsiteX13" fmla="*/ 7550 w 10000"/>
              <a:gd name="connsiteY13" fmla="*/ 412 h 10000"/>
              <a:gd name="connsiteX14" fmla="*/ 8177 w 10000"/>
              <a:gd name="connsiteY14" fmla="*/ 854 h 10000"/>
              <a:gd name="connsiteX15" fmla="*/ 8688 w 10000"/>
              <a:gd name="connsiteY15" fmla="*/ 1883 h 10000"/>
              <a:gd name="connsiteX16" fmla="*/ 9180 w 10000"/>
              <a:gd name="connsiteY16" fmla="*/ 3549 h 10000"/>
              <a:gd name="connsiteX17" fmla="*/ 9993 w 10000"/>
              <a:gd name="connsiteY17" fmla="*/ 4187 h 10000"/>
              <a:gd name="connsiteX18" fmla="*/ 8674 w 10000"/>
              <a:gd name="connsiteY18" fmla="*/ 9430 h 10000"/>
              <a:gd name="connsiteX19" fmla="*/ 6201 w 10000"/>
              <a:gd name="connsiteY19" fmla="*/ 9872 h 10000"/>
              <a:gd name="connsiteX20" fmla="*/ 3598 w 10000"/>
              <a:gd name="connsiteY20" fmla="*/ 9430 h 10000"/>
              <a:gd name="connsiteX21" fmla="*/ 1776 w 10000"/>
              <a:gd name="connsiteY21" fmla="*/ 8695 h 10000"/>
              <a:gd name="connsiteX22" fmla="*/ 1114 w 10000"/>
              <a:gd name="connsiteY22" fmla="*/ 84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000" h="10000">
                <a:moveTo>
                  <a:pt x="0" y="3701"/>
                </a:moveTo>
                <a:cubicBezTo>
                  <a:pt x="60" y="3653"/>
                  <a:pt x="398" y="3678"/>
                  <a:pt x="527" y="3457"/>
                </a:cubicBezTo>
                <a:cubicBezTo>
                  <a:pt x="657" y="3235"/>
                  <a:pt x="635" y="2774"/>
                  <a:pt x="779" y="2373"/>
                </a:cubicBezTo>
                <a:cubicBezTo>
                  <a:pt x="923" y="1972"/>
                  <a:pt x="1123" y="1442"/>
                  <a:pt x="1391" y="1050"/>
                </a:cubicBezTo>
                <a:cubicBezTo>
                  <a:pt x="1659" y="658"/>
                  <a:pt x="2132" y="217"/>
                  <a:pt x="2385" y="70"/>
                </a:cubicBezTo>
                <a:cubicBezTo>
                  <a:pt x="2638" y="-77"/>
                  <a:pt x="2740" y="21"/>
                  <a:pt x="2915" y="266"/>
                </a:cubicBezTo>
                <a:cubicBezTo>
                  <a:pt x="3089" y="510"/>
                  <a:pt x="3285" y="854"/>
                  <a:pt x="3439" y="1442"/>
                </a:cubicBezTo>
                <a:cubicBezTo>
                  <a:pt x="3592" y="2030"/>
                  <a:pt x="3632" y="3451"/>
                  <a:pt x="3831" y="3794"/>
                </a:cubicBezTo>
                <a:cubicBezTo>
                  <a:pt x="4030" y="4138"/>
                  <a:pt x="4330" y="3647"/>
                  <a:pt x="4625" y="3549"/>
                </a:cubicBezTo>
                <a:cubicBezTo>
                  <a:pt x="4921" y="3451"/>
                  <a:pt x="5379" y="3207"/>
                  <a:pt x="5595" y="3304"/>
                </a:cubicBezTo>
                <a:cubicBezTo>
                  <a:pt x="5812" y="3402"/>
                  <a:pt x="5812" y="4333"/>
                  <a:pt x="5927" y="4235"/>
                </a:cubicBezTo>
                <a:cubicBezTo>
                  <a:pt x="6042" y="4138"/>
                  <a:pt x="6123" y="3255"/>
                  <a:pt x="6279" y="2618"/>
                </a:cubicBezTo>
                <a:cubicBezTo>
                  <a:pt x="6436" y="1981"/>
                  <a:pt x="6665" y="756"/>
                  <a:pt x="6875" y="412"/>
                </a:cubicBezTo>
                <a:cubicBezTo>
                  <a:pt x="7086" y="70"/>
                  <a:pt x="7333" y="364"/>
                  <a:pt x="7550" y="412"/>
                </a:cubicBezTo>
                <a:cubicBezTo>
                  <a:pt x="7767" y="461"/>
                  <a:pt x="7987" y="609"/>
                  <a:pt x="8177" y="854"/>
                </a:cubicBezTo>
                <a:cubicBezTo>
                  <a:pt x="8366" y="1099"/>
                  <a:pt x="8523" y="1442"/>
                  <a:pt x="8688" y="1883"/>
                </a:cubicBezTo>
                <a:cubicBezTo>
                  <a:pt x="8855" y="2324"/>
                  <a:pt x="8962" y="3158"/>
                  <a:pt x="9180" y="3549"/>
                </a:cubicBezTo>
                <a:cubicBezTo>
                  <a:pt x="9397" y="3942"/>
                  <a:pt x="10077" y="3207"/>
                  <a:pt x="9993" y="4187"/>
                </a:cubicBezTo>
                <a:cubicBezTo>
                  <a:pt x="9908" y="5166"/>
                  <a:pt x="9306" y="8499"/>
                  <a:pt x="8674" y="9430"/>
                </a:cubicBezTo>
                <a:cubicBezTo>
                  <a:pt x="8042" y="10361"/>
                  <a:pt x="7047" y="9872"/>
                  <a:pt x="6201" y="9872"/>
                </a:cubicBezTo>
                <a:cubicBezTo>
                  <a:pt x="5354" y="9872"/>
                  <a:pt x="4336" y="9626"/>
                  <a:pt x="3598" y="9430"/>
                </a:cubicBezTo>
                <a:cubicBezTo>
                  <a:pt x="2861" y="9234"/>
                  <a:pt x="2189" y="8842"/>
                  <a:pt x="1776" y="8695"/>
                </a:cubicBezTo>
                <a:cubicBezTo>
                  <a:pt x="1364" y="8548"/>
                  <a:pt x="1313" y="9185"/>
                  <a:pt x="1114" y="8499"/>
                </a:cubicBezTo>
              </a:path>
            </a:pathLst>
          </a:custGeom>
          <a:solidFill>
            <a:srgbClr val="FFCC66"/>
          </a:solidFill>
          <a:ln w="19050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631851" y="3840933"/>
            <a:ext cx="6541477" cy="1847496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6677246" y="5032849"/>
            <a:ext cx="1148317" cy="496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ea typeface="方正宋黑简体" pitchFamily="2" charset="-122"/>
                <a:cs typeface="Arial" charset="0"/>
              </a:rPr>
              <a:t>地基</a:t>
            </a:r>
          </a:p>
        </p:txBody>
      </p:sp>
      <p:sp>
        <p:nvSpPr>
          <p:cNvPr id="31" name="Freeform 10"/>
          <p:cNvSpPr>
            <a:spLocks/>
          </p:cNvSpPr>
          <p:nvPr/>
        </p:nvSpPr>
        <p:spPr bwMode="auto">
          <a:xfrm>
            <a:off x="2052226" y="3857450"/>
            <a:ext cx="3456235" cy="1138902"/>
          </a:xfrm>
          <a:custGeom>
            <a:avLst/>
            <a:gdLst>
              <a:gd name="T0" fmla="*/ 1437 w 1437"/>
              <a:gd name="T1" fmla="*/ 296 h 591"/>
              <a:gd name="T2" fmla="*/ 1356 w 1437"/>
              <a:gd name="T3" fmla="*/ 368 h 591"/>
              <a:gd name="T4" fmla="*/ 1193 w 1437"/>
              <a:gd name="T5" fmla="*/ 503 h 591"/>
              <a:gd name="T6" fmla="*/ 1020 w 1437"/>
              <a:gd name="T7" fmla="*/ 584 h 591"/>
              <a:gd name="T8" fmla="*/ 842 w 1437"/>
              <a:gd name="T9" fmla="*/ 546 h 591"/>
              <a:gd name="T10" fmla="*/ 477 w 1437"/>
              <a:gd name="T11" fmla="*/ 340 h 591"/>
              <a:gd name="T12" fmla="*/ 0 w 1437"/>
              <a:gd name="T13" fmla="*/ 0 h 5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37"/>
              <a:gd name="T22" fmla="*/ 0 h 591"/>
              <a:gd name="T23" fmla="*/ 1437 w 1437"/>
              <a:gd name="T24" fmla="*/ 591 h 591"/>
              <a:gd name="connsiteX0" fmla="*/ 12448 w 12448"/>
              <a:gd name="connsiteY0" fmla="*/ 0 h 9978"/>
              <a:gd name="connsiteX1" fmla="*/ 9436 w 12448"/>
              <a:gd name="connsiteY1" fmla="*/ 6277 h 9978"/>
              <a:gd name="connsiteX2" fmla="*/ 8302 w 12448"/>
              <a:gd name="connsiteY2" fmla="*/ 8561 h 9978"/>
              <a:gd name="connsiteX3" fmla="*/ 7098 w 12448"/>
              <a:gd name="connsiteY3" fmla="*/ 9932 h 9978"/>
              <a:gd name="connsiteX4" fmla="*/ 5859 w 12448"/>
              <a:gd name="connsiteY4" fmla="*/ 9289 h 9978"/>
              <a:gd name="connsiteX5" fmla="*/ 3319 w 12448"/>
              <a:gd name="connsiteY5" fmla="*/ 5803 h 9978"/>
              <a:gd name="connsiteX6" fmla="*/ 0 w 12448"/>
              <a:gd name="connsiteY6" fmla="*/ 50 h 9978"/>
              <a:gd name="connsiteX0" fmla="*/ 10000 w 10000"/>
              <a:gd name="connsiteY0" fmla="*/ 0 h 10000"/>
              <a:gd name="connsiteX1" fmla="*/ 8481 w 10000"/>
              <a:gd name="connsiteY1" fmla="*/ 3970 h 10000"/>
              <a:gd name="connsiteX2" fmla="*/ 7580 w 10000"/>
              <a:gd name="connsiteY2" fmla="*/ 6291 h 10000"/>
              <a:gd name="connsiteX3" fmla="*/ 6669 w 10000"/>
              <a:gd name="connsiteY3" fmla="*/ 8580 h 10000"/>
              <a:gd name="connsiteX4" fmla="*/ 5702 w 10000"/>
              <a:gd name="connsiteY4" fmla="*/ 9954 h 10000"/>
              <a:gd name="connsiteX5" fmla="*/ 4707 w 10000"/>
              <a:gd name="connsiteY5" fmla="*/ 9309 h 10000"/>
              <a:gd name="connsiteX6" fmla="*/ 2666 w 10000"/>
              <a:gd name="connsiteY6" fmla="*/ 5816 h 10000"/>
              <a:gd name="connsiteX7" fmla="*/ 0 w 10000"/>
              <a:gd name="connsiteY7" fmla="*/ 50 h 10000"/>
              <a:gd name="connsiteX0" fmla="*/ 10000 w 10000"/>
              <a:gd name="connsiteY0" fmla="*/ 0 h 10000"/>
              <a:gd name="connsiteX1" fmla="*/ 8617 w 10000"/>
              <a:gd name="connsiteY1" fmla="*/ 3582 h 10000"/>
              <a:gd name="connsiteX2" fmla="*/ 7580 w 10000"/>
              <a:gd name="connsiteY2" fmla="*/ 6291 h 10000"/>
              <a:gd name="connsiteX3" fmla="*/ 6669 w 10000"/>
              <a:gd name="connsiteY3" fmla="*/ 8580 h 10000"/>
              <a:gd name="connsiteX4" fmla="*/ 5702 w 10000"/>
              <a:gd name="connsiteY4" fmla="*/ 9954 h 10000"/>
              <a:gd name="connsiteX5" fmla="*/ 4707 w 10000"/>
              <a:gd name="connsiteY5" fmla="*/ 9309 h 10000"/>
              <a:gd name="connsiteX6" fmla="*/ 2666 w 10000"/>
              <a:gd name="connsiteY6" fmla="*/ 5816 h 10000"/>
              <a:gd name="connsiteX7" fmla="*/ 0 w 10000"/>
              <a:gd name="connsiteY7" fmla="*/ 50 h 10000"/>
              <a:gd name="connsiteX0" fmla="*/ 10000 w 10000"/>
              <a:gd name="connsiteY0" fmla="*/ 0 h 10000"/>
              <a:gd name="connsiteX1" fmla="*/ 8617 w 10000"/>
              <a:gd name="connsiteY1" fmla="*/ 3582 h 10000"/>
              <a:gd name="connsiteX2" fmla="*/ 7580 w 10000"/>
              <a:gd name="connsiteY2" fmla="*/ 6485 h 10000"/>
              <a:gd name="connsiteX3" fmla="*/ 6669 w 10000"/>
              <a:gd name="connsiteY3" fmla="*/ 8580 h 10000"/>
              <a:gd name="connsiteX4" fmla="*/ 5702 w 10000"/>
              <a:gd name="connsiteY4" fmla="*/ 9954 h 10000"/>
              <a:gd name="connsiteX5" fmla="*/ 4707 w 10000"/>
              <a:gd name="connsiteY5" fmla="*/ 9309 h 10000"/>
              <a:gd name="connsiteX6" fmla="*/ 2666 w 10000"/>
              <a:gd name="connsiteY6" fmla="*/ 5816 h 10000"/>
              <a:gd name="connsiteX7" fmla="*/ 0 w 10000"/>
              <a:gd name="connsiteY7" fmla="*/ 50 h 10000"/>
              <a:gd name="connsiteX0" fmla="*/ 10000 w 10000"/>
              <a:gd name="connsiteY0" fmla="*/ 0 h 10000"/>
              <a:gd name="connsiteX1" fmla="*/ 8617 w 10000"/>
              <a:gd name="connsiteY1" fmla="*/ 3582 h 10000"/>
              <a:gd name="connsiteX2" fmla="*/ 7508 w 10000"/>
              <a:gd name="connsiteY2" fmla="*/ 6485 h 10000"/>
              <a:gd name="connsiteX3" fmla="*/ 6669 w 10000"/>
              <a:gd name="connsiteY3" fmla="*/ 8580 h 10000"/>
              <a:gd name="connsiteX4" fmla="*/ 5702 w 10000"/>
              <a:gd name="connsiteY4" fmla="*/ 9954 h 10000"/>
              <a:gd name="connsiteX5" fmla="*/ 4707 w 10000"/>
              <a:gd name="connsiteY5" fmla="*/ 9309 h 10000"/>
              <a:gd name="connsiteX6" fmla="*/ 2666 w 10000"/>
              <a:gd name="connsiteY6" fmla="*/ 5816 h 10000"/>
              <a:gd name="connsiteX7" fmla="*/ 0 w 10000"/>
              <a:gd name="connsiteY7" fmla="*/ 50 h 10000"/>
              <a:gd name="connsiteX0" fmla="*/ 10000 w 10000"/>
              <a:gd name="connsiteY0" fmla="*/ 0 h 10000"/>
              <a:gd name="connsiteX1" fmla="*/ 8617 w 10000"/>
              <a:gd name="connsiteY1" fmla="*/ 3582 h 10000"/>
              <a:gd name="connsiteX2" fmla="*/ 7500 w 10000"/>
              <a:gd name="connsiteY2" fmla="*/ 6534 h 10000"/>
              <a:gd name="connsiteX3" fmla="*/ 6669 w 10000"/>
              <a:gd name="connsiteY3" fmla="*/ 8580 h 10000"/>
              <a:gd name="connsiteX4" fmla="*/ 5702 w 10000"/>
              <a:gd name="connsiteY4" fmla="*/ 9954 h 10000"/>
              <a:gd name="connsiteX5" fmla="*/ 4707 w 10000"/>
              <a:gd name="connsiteY5" fmla="*/ 9309 h 10000"/>
              <a:gd name="connsiteX6" fmla="*/ 2666 w 10000"/>
              <a:gd name="connsiteY6" fmla="*/ 5816 h 10000"/>
              <a:gd name="connsiteX7" fmla="*/ 0 w 10000"/>
              <a:gd name="connsiteY7" fmla="*/ 5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cubicBezTo>
                  <a:pt x="9755" y="649"/>
                  <a:pt x="9020" y="2534"/>
                  <a:pt x="8617" y="3582"/>
                </a:cubicBezTo>
                <a:cubicBezTo>
                  <a:pt x="8214" y="4630"/>
                  <a:pt x="7825" y="5701"/>
                  <a:pt x="7500" y="6534"/>
                </a:cubicBezTo>
                <a:cubicBezTo>
                  <a:pt x="7175" y="7367"/>
                  <a:pt x="6969" y="8010"/>
                  <a:pt x="6669" y="8580"/>
                </a:cubicBezTo>
                <a:cubicBezTo>
                  <a:pt x="6369" y="9150"/>
                  <a:pt x="6027" y="9835"/>
                  <a:pt x="5702" y="9954"/>
                </a:cubicBezTo>
                <a:cubicBezTo>
                  <a:pt x="5378" y="10072"/>
                  <a:pt x="5216" y="10004"/>
                  <a:pt x="4707" y="9309"/>
                </a:cubicBezTo>
                <a:cubicBezTo>
                  <a:pt x="4198" y="8614"/>
                  <a:pt x="3450" y="7359"/>
                  <a:pt x="2666" y="5816"/>
                </a:cubicBezTo>
                <a:cubicBezTo>
                  <a:pt x="1884" y="4272"/>
                  <a:pt x="554" y="1254"/>
                  <a:pt x="0" y="50"/>
                </a:cubicBezTo>
              </a:path>
            </a:pathLst>
          </a:custGeom>
          <a:noFill/>
          <a:ln w="19050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AutoShape 11"/>
          <p:cNvSpPr>
            <a:spLocks noChangeArrowheads="1"/>
          </p:cNvSpPr>
          <p:nvPr/>
        </p:nvSpPr>
        <p:spPr bwMode="auto">
          <a:xfrm rot="19499337">
            <a:off x="6022292" y="4118061"/>
            <a:ext cx="601663" cy="328613"/>
          </a:xfrm>
          <a:prstGeom prst="rightArrow">
            <a:avLst>
              <a:gd name="adj1" fmla="val 50000"/>
              <a:gd name="adj2" fmla="val 45773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AutoShape 12"/>
          <p:cNvSpPr>
            <a:spLocks noChangeArrowheads="1"/>
          </p:cNvSpPr>
          <p:nvPr/>
        </p:nvSpPr>
        <p:spPr bwMode="auto">
          <a:xfrm rot="13294266">
            <a:off x="3254131" y="4077470"/>
            <a:ext cx="600075" cy="328613"/>
          </a:xfrm>
          <a:prstGeom prst="rightArrow">
            <a:avLst>
              <a:gd name="adj1" fmla="val 50000"/>
              <a:gd name="adj2" fmla="val 45652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Rectangle 14" descr="宽下对角线"/>
          <p:cNvSpPr>
            <a:spLocks noChangeArrowheads="1"/>
          </p:cNvSpPr>
          <p:nvPr/>
        </p:nvSpPr>
        <p:spPr bwMode="auto">
          <a:xfrm>
            <a:off x="4130676" y="3618682"/>
            <a:ext cx="1398588" cy="242888"/>
          </a:xfrm>
          <a:prstGeom prst="rect">
            <a:avLst/>
          </a:prstGeom>
          <a:pattFill prst="openDmnd">
            <a:fgClr>
              <a:srgbClr val="FFC000"/>
            </a:fgClr>
            <a:bgClr>
              <a:schemeClr val="tx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4840777" y="2420120"/>
            <a:ext cx="556809" cy="1058014"/>
            <a:chOff x="4840777" y="2420120"/>
            <a:chExt cx="556809" cy="1058014"/>
          </a:xfrm>
        </p:grpSpPr>
        <p:sp>
          <p:nvSpPr>
            <p:cNvPr id="36" name="Line 15"/>
            <p:cNvSpPr>
              <a:spLocks noChangeShapeType="1"/>
            </p:cNvSpPr>
            <p:nvPr/>
          </p:nvSpPr>
          <p:spPr bwMode="auto">
            <a:xfrm>
              <a:off x="4840777" y="2792334"/>
              <a:ext cx="0" cy="685800"/>
            </a:xfrm>
            <a:prstGeom prst="line">
              <a:avLst/>
            </a:prstGeom>
            <a:noFill/>
            <a:ln w="1016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17"/>
            <p:cNvSpPr txBox="1">
              <a:spLocks noChangeArrowheads="1"/>
            </p:cNvSpPr>
            <p:nvPr/>
          </p:nvSpPr>
          <p:spPr bwMode="auto">
            <a:xfrm>
              <a:off x="4929188" y="2420120"/>
              <a:ext cx="468398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44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</a:p>
          </p:txBody>
        </p:sp>
      </p:grpSp>
      <p:sp>
        <p:nvSpPr>
          <p:cNvPr id="38" name="Text Box 18"/>
          <p:cNvSpPr txBox="1">
            <a:spLocks noChangeArrowheads="1"/>
          </p:cNvSpPr>
          <p:nvPr/>
        </p:nvSpPr>
        <p:spPr bwMode="auto">
          <a:xfrm>
            <a:off x="1646140" y="4493932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滑裂面</a:t>
            </a:r>
            <a:endParaRPr lang="en-US" altLang="zh-CN" sz="24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39" name="Line 19"/>
          <p:cNvSpPr>
            <a:spLocks noChangeShapeType="1"/>
          </p:cNvSpPr>
          <p:nvPr/>
        </p:nvSpPr>
        <p:spPr bwMode="auto">
          <a:xfrm flipH="1">
            <a:off x="2693964" y="4684541"/>
            <a:ext cx="499402" cy="914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0"/>
          <p:cNvSpPr>
            <a:spLocks/>
          </p:cNvSpPr>
          <p:nvPr/>
        </p:nvSpPr>
        <p:spPr bwMode="auto">
          <a:xfrm flipH="1">
            <a:off x="4180122" y="3863155"/>
            <a:ext cx="3456235" cy="1138902"/>
          </a:xfrm>
          <a:custGeom>
            <a:avLst/>
            <a:gdLst>
              <a:gd name="T0" fmla="*/ 1437 w 1437"/>
              <a:gd name="T1" fmla="*/ 296 h 591"/>
              <a:gd name="T2" fmla="*/ 1356 w 1437"/>
              <a:gd name="T3" fmla="*/ 368 h 591"/>
              <a:gd name="T4" fmla="*/ 1193 w 1437"/>
              <a:gd name="T5" fmla="*/ 503 h 591"/>
              <a:gd name="T6" fmla="*/ 1020 w 1437"/>
              <a:gd name="T7" fmla="*/ 584 h 591"/>
              <a:gd name="T8" fmla="*/ 842 w 1437"/>
              <a:gd name="T9" fmla="*/ 546 h 591"/>
              <a:gd name="T10" fmla="*/ 477 w 1437"/>
              <a:gd name="T11" fmla="*/ 340 h 591"/>
              <a:gd name="T12" fmla="*/ 0 w 1437"/>
              <a:gd name="T13" fmla="*/ 0 h 5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37"/>
              <a:gd name="T22" fmla="*/ 0 h 591"/>
              <a:gd name="T23" fmla="*/ 1437 w 1437"/>
              <a:gd name="T24" fmla="*/ 591 h 591"/>
              <a:gd name="connsiteX0" fmla="*/ 12448 w 12448"/>
              <a:gd name="connsiteY0" fmla="*/ 0 h 9978"/>
              <a:gd name="connsiteX1" fmla="*/ 9436 w 12448"/>
              <a:gd name="connsiteY1" fmla="*/ 6277 h 9978"/>
              <a:gd name="connsiteX2" fmla="*/ 8302 w 12448"/>
              <a:gd name="connsiteY2" fmla="*/ 8561 h 9978"/>
              <a:gd name="connsiteX3" fmla="*/ 7098 w 12448"/>
              <a:gd name="connsiteY3" fmla="*/ 9932 h 9978"/>
              <a:gd name="connsiteX4" fmla="*/ 5859 w 12448"/>
              <a:gd name="connsiteY4" fmla="*/ 9289 h 9978"/>
              <a:gd name="connsiteX5" fmla="*/ 3319 w 12448"/>
              <a:gd name="connsiteY5" fmla="*/ 5803 h 9978"/>
              <a:gd name="connsiteX6" fmla="*/ 0 w 12448"/>
              <a:gd name="connsiteY6" fmla="*/ 50 h 9978"/>
              <a:gd name="connsiteX0" fmla="*/ 10000 w 10000"/>
              <a:gd name="connsiteY0" fmla="*/ 0 h 10000"/>
              <a:gd name="connsiteX1" fmla="*/ 8481 w 10000"/>
              <a:gd name="connsiteY1" fmla="*/ 3970 h 10000"/>
              <a:gd name="connsiteX2" fmla="*/ 7580 w 10000"/>
              <a:gd name="connsiteY2" fmla="*/ 6291 h 10000"/>
              <a:gd name="connsiteX3" fmla="*/ 6669 w 10000"/>
              <a:gd name="connsiteY3" fmla="*/ 8580 h 10000"/>
              <a:gd name="connsiteX4" fmla="*/ 5702 w 10000"/>
              <a:gd name="connsiteY4" fmla="*/ 9954 h 10000"/>
              <a:gd name="connsiteX5" fmla="*/ 4707 w 10000"/>
              <a:gd name="connsiteY5" fmla="*/ 9309 h 10000"/>
              <a:gd name="connsiteX6" fmla="*/ 2666 w 10000"/>
              <a:gd name="connsiteY6" fmla="*/ 5816 h 10000"/>
              <a:gd name="connsiteX7" fmla="*/ 0 w 10000"/>
              <a:gd name="connsiteY7" fmla="*/ 50 h 10000"/>
              <a:gd name="connsiteX0" fmla="*/ 10000 w 10000"/>
              <a:gd name="connsiteY0" fmla="*/ 0 h 10000"/>
              <a:gd name="connsiteX1" fmla="*/ 8617 w 10000"/>
              <a:gd name="connsiteY1" fmla="*/ 3582 h 10000"/>
              <a:gd name="connsiteX2" fmla="*/ 7580 w 10000"/>
              <a:gd name="connsiteY2" fmla="*/ 6291 h 10000"/>
              <a:gd name="connsiteX3" fmla="*/ 6669 w 10000"/>
              <a:gd name="connsiteY3" fmla="*/ 8580 h 10000"/>
              <a:gd name="connsiteX4" fmla="*/ 5702 w 10000"/>
              <a:gd name="connsiteY4" fmla="*/ 9954 h 10000"/>
              <a:gd name="connsiteX5" fmla="*/ 4707 w 10000"/>
              <a:gd name="connsiteY5" fmla="*/ 9309 h 10000"/>
              <a:gd name="connsiteX6" fmla="*/ 2666 w 10000"/>
              <a:gd name="connsiteY6" fmla="*/ 5816 h 10000"/>
              <a:gd name="connsiteX7" fmla="*/ 0 w 10000"/>
              <a:gd name="connsiteY7" fmla="*/ 50 h 10000"/>
              <a:gd name="connsiteX0" fmla="*/ 10000 w 10000"/>
              <a:gd name="connsiteY0" fmla="*/ 0 h 10000"/>
              <a:gd name="connsiteX1" fmla="*/ 8617 w 10000"/>
              <a:gd name="connsiteY1" fmla="*/ 3582 h 10000"/>
              <a:gd name="connsiteX2" fmla="*/ 7580 w 10000"/>
              <a:gd name="connsiteY2" fmla="*/ 6485 h 10000"/>
              <a:gd name="connsiteX3" fmla="*/ 6669 w 10000"/>
              <a:gd name="connsiteY3" fmla="*/ 8580 h 10000"/>
              <a:gd name="connsiteX4" fmla="*/ 5702 w 10000"/>
              <a:gd name="connsiteY4" fmla="*/ 9954 h 10000"/>
              <a:gd name="connsiteX5" fmla="*/ 4707 w 10000"/>
              <a:gd name="connsiteY5" fmla="*/ 9309 h 10000"/>
              <a:gd name="connsiteX6" fmla="*/ 2666 w 10000"/>
              <a:gd name="connsiteY6" fmla="*/ 5816 h 10000"/>
              <a:gd name="connsiteX7" fmla="*/ 0 w 10000"/>
              <a:gd name="connsiteY7" fmla="*/ 50 h 10000"/>
              <a:gd name="connsiteX0" fmla="*/ 10000 w 10000"/>
              <a:gd name="connsiteY0" fmla="*/ 0 h 10000"/>
              <a:gd name="connsiteX1" fmla="*/ 8617 w 10000"/>
              <a:gd name="connsiteY1" fmla="*/ 3582 h 10000"/>
              <a:gd name="connsiteX2" fmla="*/ 7508 w 10000"/>
              <a:gd name="connsiteY2" fmla="*/ 6485 h 10000"/>
              <a:gd name="connsiteX3" fmla="*/ 6669 w 10000"/>
              <a:gd name="connsiteY3" fmla="*/ 8580 h 10000"/>
              <a:gd name="connsiteX4" fmla="*/ 5702 w 10000"/>
              <a:gd name="connsiteY4" fmla="*/ 9954 h 10000"/>
              <a:gd name="connsiteX5" fmla="*/ 4707 w 10000"/>
              <a:gd name="connsiteY5" fmla="*/ 9309 h 10000"/>
              <a:gd name="connsiteX6" fmla="*/ 2666 w 10000"/>
              <a:gd name="connsiteY6" fmla="*/ 5816 h 10000"/>
              <a:gd name="connsiteX7" fmla="*/ 0 w 10000"/>
              <a:gd name="connsiteY7" fmla="*/ 50 h 10000"/>
              <a:gd name="connsiteX0" fmla="*/ 10000 w 10000"/>
              <a:gd name="connsiteY0" fmla="*/ 0 h 10000"/>
              <a:gd name="connsiteX1" fmla="*/ 8617 w 10000"/>
              <a:gd name="connsiteY1" fmla="*/ 3582 h 10000"/>
              <a:gd name="connsiteX2" fmla="*/ 7500 w 10000"/>
              <a:gd name="connsiteY2" fmla="*/ 6534 h 10000"/>
              <a:gd name="connsiteX3" fmla="*/ 6669 w 10000"/>
              <a:gd name="connsiteY3" fmla="*/ 8580 h 10000"/>
              <a:gd name="connsiteX4" fmla="*/ 5702 w 10000"/>
              <a:gd name="connsiteY4" fmla="*/ 9954 h 10000"/>
              <a:gd name="connsiteX5" fmla="*/ 4707 w 10000"/>
              <a:gd name="connsiteY5" fmla="*/ 9309 h 10000"/>
              <a:gd name="connsiteX6" fmla="*/ 2666 w 10000"/>
              <a:gd name="connsiteY6" fmla="*/ 5816 h 10000"/>
              <a:gd name="connsiteX7" fmla="*/ 0 w 10000"/>
              <a:gd name="connsiteY7" fmla="*/ 5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cubicBezTo>
                  <a:pt x="9755" y="649"/>
                  <a:pt x="9020" y="2534"/>
                  <a:pt x="8617" y="3582"/>
                </a:cubicBezTo>
                <a:cubicBezTo>
                  <a:pt x="8214" y="4630"/>
                  <a:pt x="7825" y="5701"/>
                  <a:pt x="7500" y="6534"/>
                </a:cubicBezTo>
                <a:cubicBezTo>
                  <a:pt x="7175" y="7367"/>
                  <a:pt x="6969" y="8010"/>
                  <a:pt x="6669" y="8580"/>
                </a:cubicBezTo>
                <a:cubicBezTo>
                  <a:pt x="6369" y="9150"/>
                  <a:pt x="6027" y="9835"/>
                  <a:pt x="5702" y="9954"/>
                </a:cubicBezTo>
                <a:cubicBezTo>
                  <a:pt x="5378" y="10072"/>
                  <a:pt x="5216" y="10004"/>
                  <a:pt x="4707" y="9309"/>
                </a:cubicBezTo>
                <a:cubicBezTo>
                  <a:pt x="4198" y="8614"/>
                  <a:pt x="3450" y="7359"/>
                  <a:pt x="2666" y="5816"/>
                </a:cubicBezTo>
                <a:cubicBezTo>
                  <a:pt x="1884" y="4272"/>
                  <a:pt x="554" y="1254"/>
                  <a:pt x="0" y="50"/>
                </a:cubicBezTo>
              </a:path>
            </a:pathLst>
          </a:custGeom>
          <a:noFill/>
          <a:ln w="19050" cap="flat" cmpd="sng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 bwMode="auto">
          <a:xfrm>
            <a:off x="1642277" y="3826404"/>
            <a:ext cx="6520375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6364062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2" grpId="0" animBg="1"/>
      <p:bldP spid="33" grpId="0" animBg="1"/>
      <p:bldP spid="34" grpId="0" animBg="1"/>
      <p:bldP spid="38" grpId="0"/>
      <p:bldP spid="39" grpId="0" animBg="1"/>
      <p:bldP spid="4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72686"/>
              </p:ext>
            </p:extLst>
          </p:nvPr>
        </p:nvGraphicFramePr>
        <p:xfrm>
          <a:off x="420689" y="869950"/>
          <a:ext cx="3375378" cy="365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193" name="图像文档" r:id="rId4" imgW="2362530" imgH="3333333" progId="Imaging.Document">
                  <p:embed/>
                </p:oleObj>
              </mc:Choice>
              <mc:Fallback>
                <p:oleObj name="图像文档" r:id="rId4" imgW="2362530" imgH="3333333" progId="Imaging.Document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627" b="26878"/>
                      <a:stretch>
                        <a:fillRect/>
                      </a:stretch>
                    </p:blipFill>
                    <p:spPr bwMode="auto">
                      <a:xfrm>
                        <a:off x="420689" y="869950"/>
                        <a:ext cx="3375378" cy="365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524" y="1095165"/>
            <a:ext cx="4829175" cy="3191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785878" y="4662697"/>
            <a:ext cx="2249334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某</a:t>
            </a:r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谷仓</a:t>
            </a:r>
            <a:r>
              <a:rPr lang="zh-CN" altLang="en-US" sz="2000" b="1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地基的破坏</a:t>
            </a:r>
          </a:p>
        </p:txBody>
      </p:sp>
      <p:sp>
        <p:nvSpPr>
          <p:cNvPr id="11" name="矩形 10"/>
          <p:cNvSpPr/>
          <p:nvPr/>
        </p:nvSpPr>
        <p:spPr>
          <a:xfrm>
            <a:off x="4423144" y="4666242"/>
            <a:ext cx="455073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软土地基上</a:t>
            </a:r>
            <a:r>
              <a:rPr lang="zh-CN" altLang="en-US" sz="2000" b="1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某</a:t>
            </a:r>
            <a:r>
              <a:rPr lang="zh-CN" altLang="en-US" sz="2000" b="1" dirty="0" smtClean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桥梁桩基础破坏</a:t>
            </a:r>
            <a:endParaRPr lang="zh-CN" altLang="en-US" sz="2000" b="1" dirty="0">
              <a:solidFill>
                <a:srgbClr val="C0000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00209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590800" y="5713413"/>
            <a:ext cx="56419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砂土的液化</a:t>
            </a:r>
            <a:r>
              <a:rPr lang="en-US" altLang="zh-CN" sz="4000" b="1">
                <a:solidFill>
                  <a:srgbClr val="000066"/>
                </a:solidFill>
                <a:ea typeface="黑体" pitchFamily="2" charset="-122"/>
              </a:rPr>
              <a:t>(liquefaction)</a:t>
            </a:r>
            <a:endParaRPr lang="zh-CN" altLang="en-US" sz="4000" b="1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08353" y="4313238"/>
            <a:ext cx="2969083" cy="830997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</a:rPr>
              <a:t>1964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年日本新</a:t>
            </a: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</a:rPr>
              <a:t>泻</a:t>
            </a:r>
            <a:endParaRPr lang="en-US" altLang="zh-CN" sz="2400" b="1" dirty="0" smtClean="0">
              <a:solidFill>
                <a:srgbClr val="A50021"/>
              </a:solidFill>
              <a:ea typeface="幼圆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</a:rPr>
              <a:t>地震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引起大面积液化</a:t>
            </a:r>
          </a:p>
        </p:txBody>
      </p:sp>
      <p:pic>
        <p:nvPicPr>
          <p:cNvPr id="11" name="图片 10" descr="nishibridge1.jpg"/>
          <p:cNvPicPr>
            <a:picLocks noChangeAspect="1"/>
          </p:cNvPicPr>
          <p:nvPr/>
        </p:nvPicPr>
        <p:blipFill rotWithShape="1">
          <a:blip r:embed="rId3" cstate="print"/>
          <a:srcRect r="18050"/>
          <a:stretch/>
        </p:blipFill>
        <p:spPr>
          <a:xfrm>
            <a:off x="5105399" y="826293"/>
            <a:ext cx="3923829" cy="3174368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874437" y="4278679"/>
            <a:ext cx="327846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</a:rPr>
              <a:t>1995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年日本神户</a:t>
            </a:r>
            <a:endParaRPr lang="en-US" altLang="zh-CN" sz="2400" b="1" dirty="0">
              <a:solidFill>
                <a:srgbClr val="A50021"/>
              </a:solidFill>
              <a:ea typeface="幼圆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地震液化造成桥梁垮塌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12800"/>
            <a:ext cx="4796852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700209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626100" y="1362075"/>
            <a:ext cx="3013075" cy="263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边坡稳定性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土压力</a:t>
            </a: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地基承载力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 振动液化特性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41375" y="1379538"/>
            <a:ext cx="3130550" cy="263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各种类型的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滑坡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挡土结构物破坏</a:t>
            </a: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 地基的破坏</a:t>
            </a: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 砂土的液化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952625" y="4537075"/>
            <a:ext cx="835025" cy="620713"/>
          </a:xfrm>
          <a:prstGeom prst="homePlate">
            <a:avLst>
              <a:gd name="adj" fmla="val 3363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335338" y="4598988"/>
            <a:ext cx="1731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66"/>
                </a:solidFill>
                <a:ea typeface="幼圆" pitchFamily="49" charset="-122"/>
              </a:rPr>
              <a:t>核心问题</a:t>
            </a:r>
            <a:r>
              <a:rPr lang="en-US" altLang="zh-CN" sz="2800" b="1">
                <a:solidFill>
                  <a:srgbClr val="000066"/>
                </a:solidFill>
                <a:ea typeface="幼圆" pitchFamily="49" charset="-122"/>
              </a:rPr>
              <a:t>: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256213" y="4606925"/>
            <a:ext cx="2790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A50021"/>
                </a:solidFill>
                <a:ea typeface="幼圆" pitchFamily="49" charset="-122"/>
              </a:rPr>
              <a:t>土体的强度理论</a:t>
            </a:r>
            <a:endParaRPr lang="en-US" altLang="zh-CN" sz="28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4359275" y="2179638"/>
            <a:ext cx="1004888" cy="974725"/>
          </a:xfrm>
          <a:custGeom>
            <a:avLst/>
            <a:gdLst>
              <a:gd name="T0" fmla="*/ 525473 w 21600"/>
              <a:gd name="T1" fmla="*/ 0 h 21600"/>
              <a:gd name="T2" fmla="*/ 0 w 21600"/>
              <a:gd name="T3" fmla="*/ 487363 h 21600"/>
              <a:gd name="T4" fmla="*/ 525473 w 21600"/>
              <a:gd name="T5" fmla="*/ 974725 h 21600"/>
              <a:gd name="T6" fmla="*/ 1004888 w 21600"/>
              <a:gd name="T7" fmla="*/ 48736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4749 h 21600"/>
              <a:gd name="T14" fmla="*/ 15826 w 21600"/>
              <a:gd name="T15" fmla="*/ 1685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295" y="0"/>
                </a:moveTo>
                <a:lnTo>
                  <a:pt x="11295" y="4749"/>
                </a:lnTo>
                <a:lnTo>
                  <a:pt x="3375" y="4749"/>
                </a:lnTo>
                <a:lnTo>
                  <a:pt x="3375" y="16851"/>
                </a:lnTo>
                <a:lnTo>
                  <a:pt x="11295" y="16851"/>
                </a:lnTo>
                <a:lnTo>
                  <a:pt x="11295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4749"/>
                </a:moveTo>
                <a:lnTo>
                  <a:pt x="1350" y="16851"/>
                </a:lnTo>
                <a:lnTo>
                  <a:pt x="2700" y="16851"/>
                </a:lnTo>
                <a:lnTo>
                  <a:pt x="2700" y="4749"/>
                </a:lnTo>
                <a:close/>
              </a:path>
              <a:path w="21600" h="21600">
                <a:moveTo>
                  <a:pt x="0" y="4749"/>
                </a:moveTo>
                <a:lnTo>
                  <a:pt x="0" y="16851"/>
                </a:lnTo>
                <a:lnTo>
                  <a:pt x="675" y="16851"/>
                </a:lnTo>
                <a:lnTo>
                  <a:pt x="675" y="4749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9526" y="0"/>
            <a:ext cx="49855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土体强度及其特点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700209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1924050" y="1922463"/>
            <a:ext cx="6364288" cy="379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§5.1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工程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中土的强度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§5.2	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的抗剪强度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理论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§5.3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土的抗剪强度的测定试验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§5.4 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路径与破坏主应力线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§5.5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土的抗剪强度指标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§5.6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土的动强度与砂土的振动液化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897063" y="927100"/>
            <a:ext cx="5356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第五章： </a:t>
            </a: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土的抗剪强度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55800" y="2547938"/>
            <a:ext cx="4327525" cy="6334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§5.2  </a:t>
            </a:r>
            <a:r>
              <a:rPr kumimoji="1" lang="zh-CN" altLang="en-US" sz="2800" b="1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土的抗剪强度理论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抗剪强度理论</a:t>
            </a:r>
          </a:p>
        </p:txBody>
      </p:sp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2746375" y="5708650"/>
            <a:ext cx="52800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土的抗剪强度理论</a:t>
            </a:r>
            <a:endParaRPr kumimoji="1" lang="en-US" altLang="zh-CN" sz="4000" b="1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804360" y="1614364"/>
            <a:ext cx="5609671" cy="250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直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剪试验与库仑公式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土的抗剪强度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机理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莫尔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库仑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强度理论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土单元破坏的判断方法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9526" y="0"/>
            <a:ext cx="58680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直剪试验与库伦公式</a:t>
            </a:r>
          </a:p>
        </p:txBody>
      </p:sp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3" t="2663" b="5995"/>
          <a:stretch>
            <a:fillRect/>
          </a:stretch>
        </p:blipFill>
        <p:spPr bwMode="auto">
          <a:xfrm>
            <a:off x="215900" y="1011419"/>
            <a:ext cx="4476750" cy="558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992688" y="3278188"/>
            <a:ext cx="3794125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法国军事工程师，在摩擦、电磁方面做出了奠基性的贡献。</a:t>
            </a:r>
            <a:r>
              <a:rPr kumimoji="1"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1773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年发表了关于土压力方面论文，成为土压力的经典理论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999038" y="1146175"/>
            <a:ext cx="3779837" cy="1889748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zh-CN" sz="4000" dirty="0">
                <a:solidFill>
                  <a:srgbClr val="A50021"/>
                </a:solidFill>
                <a:ea typeface="黑体" pitchFamily="2" charset="-122"/>
                <a:cs typeface="Times New Roman" panose="02020603050405020304" pitchFamily="18" charset="0"/>
              </a:rPr>
              <a:t>库仑</a:t>
            </a:r>
            <a:endParaRPr kumimoji="1" lang="zh-CN" altLang="en-US" sz="3200" dirty="0">
              <a:solidFill>
                <a:srgbClr val="A50021"/>
              </a:solidFill>
              <a:ea typeface="黑体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3200" dirty="0">
                <a:solidFill>
                  <a:srgbClr val="A50021"/>
                </a:solidFill>
                <a:ea typeface="黑体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3200" dirty="0">
                <a:solidFill>
                  <a:srgbClr val="A50021"/>
                </a:solidFill>
                <a:ea typeface="黑体" pitchFamily="2" charset="-122"/>
                <a:cs typeface="Times New Roman" panose="02020603050405020304" pitchFamily="18" charset="0"/>
              </a:rPr>
              <a:t>C. A. Coulomb</a:t>
            </a:r>
            <a:r>
              <a:rPr kumimoji="1" lang="zh-CN" altLang="en-US" sz="3200" dirty="0">
                <a:solidFill>
                  <a:srgbClr val="A50021"/>
                </a:solidFill>
                <a:ea typeface="黑体" pitchFamily="2" charset="-122"/>
                <a:cs typeface="Times New Roman" panose="02020603050405020304" pitchFamily="18" charset="0"/>
              </a:rPr>
              <a:t>）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3200" dirty="0">
                <a:solidFill>
                  <a:srgbClr val="A50021"/>
                </a:solidFill>
                <a:ea typeface="黑体" pitchFamily="2" charset="-122"/>
                <a:cs typeface="Times New Roman" panose="02020603050405020304" pitchFamily="18" charset="0"/>
              </a:rPr>
              <a:t>(1736-1806)</a:t>
            </a:r>
          </a:p>
        </p:txBody>
      </p: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144838" y="5965825"/>
            <a:ext cx="2894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直 剪 试 验</a:t>
            </a:r>
          </a:p>
        </p:txBody>
      </p:sp>
      <p:sp>
        <p:nvSpPr>
          <p:cNvPr id="67" name="Text Box 7"/>
          <p:cNvSpPr txBox="1">
            <a:spLocks noChangeArrowheads="1"/>
          </p:cNvSpPr>
          <p:nvPr/>
        </p:nvSpPr>
        <p:spPr bwMode="auto">
          <a:xfrm>
            <a:off x="-9526" y="0"/>
            <a:ext cx="58680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直剪试验与库伦公式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5091113" y="3190753"/>
            <a:ext cx="3722688" cy="46037"/>
            <a:chOff x="5091113" y="3190753"/>
            <a:chExt cx="3722688" cy="46037"/>
          </a:xfrm>
        </p:grpSpPr>
        <p:sp>
          <p:nvSpPr>
            <p:cNvPr id="69" name="Line 8"/>
            <p:cNvSpPr>
              <a:spLocks noChangeShapeType="1"/>
            </p:cNvSpPr>
            <p:nvPr/>
          </p:nvSpPr>
          <p:spPr bwMode="auto">
            <a:xfrm>
              <a:off x="5100638" y="3236790"/>
              <a:ext cx="3713163" cy="0"/>
            </a:xfrm>
            <a:prstGeom prst="line">
              <a:avLst/>
            </a:prstGeom>
            <a:noFill/>
            <a:ln w="76200">
              <a:pattFill prst="dkUpDiag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6"/>
            <p:cNvSpPr>
              <a:spLocks noChangeShapeType="1"/>
            </p:cNvSpPr>
            <p:nvPr/>
          </p:nvSpPr>
          <p:spPr bwMode="auto">
            <a:xfrm>
              <a:off x="5091113" y="3190753"/>
              <a:ext cx="37147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480176" y="870962"/>
            <a:ext cx="704396" cy="779463"/>
            <a:chOff x="6480176" y="870962"/>
            <a:chExt cx="704396" cy="779463"/>
          </a:xfrm>
        </p:grpSpPr>
        <p:sp>
          <p:nvSpPr>
            <p:cNvPr id="72" name="Text Box 10"/>
            <p:cNvSpPr txBox="1">
              <a:spLocks noChangeArrowheads="1"/>
            </p:cNvSpPr>
            <p:nvPr/>
          </p:nvSpPr>
          <p:spPr bwMode="auto">
            <a:xfrm>
              <a:off x="6480176" y="870962"/>
              <a:ext cx="6334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73" name="AutoShape 31"/>
            <p:cNvSpPr>
              <a:spLocks noChangeArrowheads="1"/>
            </p:cNvSpPr>
            <p:nvPr/>
          </p:nvSpPr>
          <p:spPr bwMode="auto">
            <a:xfrm rot="5400000">
              <a:off x="6715555" y="1181407"/>
              <a:ext cx="464960" cy="473075"/>
            </a:xfrm>
            <a:prstGeom prst="rightArrow">
              <a:avLst>
                <a:gd name="adj1" fmla="val 45941"/>
                <a:gd name="adj2" fmla="val 44000"/>
              </a:avLst>
            </a:prstGeom>
            <a:solidFill>
              <a:srgbClr val="A50021"/>
            </a:solidFill>
            <a:ln w="9525">
              <a:solidFill>
                <a:srgbClr val="A5002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8115050" y="2532412"/>
            <a:ext cx="792334" cy="601064"/>
            <a:chOff x="8115050" y="2532412"/>
            <a:chExt cx="792334" cy="601064"/>
          </a:xfrm>
        </p:grpSpPr>
        <p:sp>
          <p:nvSpPr>
            <p:cNvPr id="75" name="Line 34"/>
            <p:cNvSpPr>
              <a:spLocks noChangeShapeType="1"/>
            </p:cNvSpPr>
            <p:nvPr/>
          </p:nvSpPr>
          <p:spPr bwMode="auto">
            <a:xfrm>
              <a:off x="8115050" y="2694337"/>
              <a:ext cx="6064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Oval 35"/>
            <p:cNvSpPr>
              <a:spLocks noChangeArrowheads="1"/>
            </p:cNvSpPr>
            <p:nvPr/>
          </p:nvSpPr>
          <p:spPr bwMode="auto">
            <a:xfrm>
              <a:off x="8317360" y="2532412"/>
              <a:ext cx="311150" cy="3111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36"/>
            <p:cNvSpPr>
              <a:spLocks noChangeShapeType="1"/>
            </p:cNvSpPr>
            <p:nvPr/>
          </p:nvSpPr>
          <p:spPr bwMode="auto">
            <a:xfrm flipH="1" flipV="1">
              <a:off x="8391796" y="2569865"/>
              <a:ext cx="71342" cy="122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Text Box 37"/>
            <p:cNvSpPr txBox="1">
              <a:spLocks noChangeArrowheads="1"/>
            </p:cNvSpPr>
            <p:nvPr/>
          </p:nvSpPr>
          <p:spPr bwMode="auto">
            <a:xfrm>
              <a:off x="8553371" y="2676276"/>
              <a:ext cx="3540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</a:rPr>
                <a:t>S</a:t>
              </a: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8139338" y="1758950"/>
            <a:ext cx="302531" cy="582492"/>
            <a:chOff x="8188326" y="1347788"/>
            <a:chExt cx="431800" cy="1036638"/>
          </a:xfrm>
        </p:grpSpPr>
        <p:grpSp>
          <p:nvGrpSpPr>
            <p:cNvPr id="80" name="Group 13"/>
            <p:cNvGrpSpPr>
              <a:grpSpLocks/>
            </p:cNvGrpSpPr>
            <p:nvPr/>
          </p:nvGrpSpPr>
          <p:grpSpPr bwMode="auto">
            <a:xfrm>
              <a:off x="8188326" y="1347788"/>
              <a:ext cx="268288" cy="1036638"/>
              <a:chOff x="1920" y="1344"/>
              <a:chExt cx="96" cy="336"/>
            </a:xfrm>
          </p:grpSpPr>
          <p:sp>
            <p:nvSpPr>
              <p:cNvPr id="87" name="AutoShape 14"/>
              <p:cNvSpPr>
                <a:spLocks noChangeArrowheads="1"/>
              </p:cNvSpPr>
              <p:nvPr/>
            </p:nvSpPr>
            <p:spPr bwMode="auto">
              <a:xfrm rot="-5400000">
                <a:off x="1896" y="1464"/>
                <a:ext cx="144" cy="96"/>
              </a:xfrm>
              <a:prstGeom prst="flowChartExtract">
                <a:avLst/>
              </a:prstGeom>
              <a:noFill/>
              <a:ln w="349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Line 15"/>
              <p:cNvSpPr>
                <a:spLocks noChangeShapeType="1"/>
              </p:cNvSpPr>
              <p:nvPr/>
            </p:nvSpPr>
            <p:spPr bwMode="auto">
              <a:xfrm>
                <a:off x="2016" y="1344"/>
                <a:ext cx="0" cy="33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1" name="Line 40"/>
            <p:cNvSpPr>
              <a:spLocks noChangeShapeType="1"/>
            </p:cNvSpPr>
            <p:nvPr/>
          </p:nvSpPr>
          <p:spPr bwMode="auto">
            <a:xfrm flipV="1">
              <a:off x="8461376" y="1382713"/>
              <a:ext cx="127000" cy="139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41"/>
            <p:cNvSpPr>
              <a:spLocks noChangeShapeType="1"/>
            </p:cNvSpPr>
            <p:nvPr/>
          </p:nvSpPr>
          <p:spPr bwMode="auto">
            <a:xfrm flipV="1">
              <a:off x="8467726" y="1541463"/>
              <a:ext cx="127000" cy="139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42"/>
            <p:cNvSpPr>
              <a:spLocks noChangeShapeType="1"/>
            </p:cNvSpPr>
            <p:nvPr/>
          </p:nvSpPr>
          <p:spPr bwMode="auto">
            <a:xfrm flipV="1">
              <a:off x="8474076" y="1700213"/>
              <a:ext cx="127000" cy="139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43"/>
            <p:cNvSpPr>
              <a:spLocks noChangeShapeType="1"/>
            </p:cNvSpPr>
            <p:nvPr/>
          </p:nvSpPr>
          <p:spPr bwMode="auto">
            <a:xfrm flipV="1">
              <a:off x="8480426" y="1858963"/>
              <a:ext cx="127000" cy="139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44"/>
            <p:cNvSpPr>
              <a:spLocks noChangeShapeType="1"/>
            </p:cNvSpPr>
            <p:nvPr/>
          </p:nvSpPr>
          <p:spPr bwMode="auto">
            <a:xfrm flipV="1">
              <a:off x="8486776" y="2017713"/>
              <a:ext cx="127000" cy="139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45"/>
            <p:cNvSpPr>
              <a:spLocks noChangeShapeType="1"/>
            </p:cNvSpPr>
            <p:nvPr/>
          </p:nvSpPr>
          <p:spPr bwMode="auto">
            <a:xfrm flipV="1">
              <a:off x="8493126" y="2176463"/>
              <a:ext cx="127000" cy="139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" name="Text Box 46"/>
          <p:cNvSpPr txBox="1">
            <a:spLocks noChangeArrowheads="1"/>
          </p:cNvSpPr>
          <p:nvPr/>
        </p:nvSpPr>
        <p:spPr bwMode="auto">
          <a:xfrm>
            <a:off x="730250" y="1041400"/>
            <a:ext cx="2568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3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直剪试验</a:t>
            </a:r>
          </a:p>
        </p:txBody>
      </p:sp>
      <p:grpSp>
        <p:nvGrpSpPr>
          <p:cNvPr id="90" name="Group 47"/>
          <p:cNvGrpSpPr>
            <a:grpSpLocks/>
          </p:cNvGrpSpPr>
          <p:nvPr/>
        </p:nvGrpSpPr>
        <p:grpSpPr bwMode="auto">
          <a:xfrm>
            <a:off x="731838" y="1938346"/>
            <a:ext cx="2928938" cy="787400"/>
            <a:chOff x="461" y="1221"/>
            <a:chExt cx="1845" cy="496"/>
          </a:xfrm>
        </p:grpSpPr>
        <p:sp>
          <p:nvSpPr>
            <p:cNvPr id="91" name="Rectangle 48"/>
            <p:cNvSpPr>
              <a:spLocks noChangeArrowheads="1"/>
            </p:cNvSpPr>
            <p:nvPr/>
          </p:nvSpPr>
          <p:spPr bwMode="auto">
            <a:xfrm>
              <a:off x="461" y="1304"/>
              <a:ext cx="13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A50021"/>
                </a:buClr>
                <a:buFontTx/>
                <a:buChar char="•"/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 法向应力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：</a:t>
              </a:r>
            </a:p>
          </p:txBody>
        </p:sp>
        <p:graphicFrame>
          <p:nvGraphicFramePr>
            <p:cNvPr id="92" name="Object 49"/>
            <p:cNvGraphicFramePr>
              <a:graphicFrameLocks noChangeAspect="1"/>
            </p:cNvGraphicFramePr>
            <p:nvPr>
              <p:extLst/>
            </p:nvPr>
          </p:nvGraphicFramePr>
          <p:xfrm>
            <a:off x="1762" y="1221"/>
            <a:ext cx="544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3632" name="公式" r:id="rId4" imgW="431640" imgH="393480" progId="Equation.3">
                    <p:embed/>
                  </p:oleObj>
                </mc:Choice>
                <mc:Fallback>
                  <p:oleObj name="公式" r:id="rId4" imgW="4316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2" y="1221"/>
                          <a:ext cx="544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3" name="Group 50"/>
          <p:cNvGrpSpPr>
            <a:grpSpLocks/>
          </p:cNvGrpSpPr>
          <p:nvPr/>
        </p:nvGrpSpPr>
        <p:grpSpPr bwMode="auto">
          <a:xfrm>
            <a:off x="731838" y="3111508"/>
            <a:ext cx="2884488" cy="787400"/>
            <a:chOff x="461" y="1960"/>
            <a:chExt cx="1817" cy="496"/>
          </a:xfrm>
        </p:grpSpPr>
        <p:sp>
          <p:nvSpPr>
            <p:cNvPr id="94" name="Rectangle 51"/>
            <p:cNvSpPr>
              <a:spLocks noChangeArrowheads="1"/>
            </p:cNvSpPr>
            <p:nvPr/>
          </p:nvSpPr>
          <p:spPr bwMode="auto">
            <a:xfrm>
              <a:off x="461" y="2045"/>
              <a:ext cx="10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A50021"/>
                </a:buClr>
                <a:buFontTx/>
                <a:buChar char="•"/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 剪应力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</a:t>
              </a: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：</a:t>
              </a:r>
            </a:p>
          </p:txBody>
        </p:sp>
        <p:graphicFrame>
          <p:nvGraphicFramePr>
            <p:cNvPr id="95" name="Object 52"/>
            <p:cNvGraphicFramePr>
              <a:graphicFrameLocks noChangeAspect="1"/>
            </p:cNvGraphicFramePr>
            <p:nvPr>
              <p:extLst/>
            </p:nvPr>
          </p:nvGraphicFramePr>
          <p:xfrm>
            <a:off x="1750" y="1960"/>
            <a:ext cx="52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3633" name="公式" r:id="rId6" imgW="419040" imgH="393480" progId="Equation.3">
                    <p:embed/>
                  </p:oleObj>
                </mc:Choice>
                <mc:Fallback>
                  <p:oleObj name="公式" r:id="rId6" imgW="4190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0" y="1960"/>
                          <a:ext cx="52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6" name="Rectangle 53"/>
          <p:cNvSpPr>
            <a:spLocks noChangeArrowheads="1"/>
          </p:cNvSpPr>
          <p:nvPr/>
        </p:nvSpPr>
        <p:spPr bwMode="auto">
          <a:xfrm>
            <a:off x="747713" y="4445000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剪切变形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</a:rPr>
              <a:t>S</a:t>
            </a:r>
            <a:endParaRPr lang="zh-CN" altLang="en-US" sz="2400" b="1" i="1" dirty="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4985280" y="3705755"/>
            <a:ext cx="3565525" cy="1827212"/>
            <a:chOff x="4985280" y="3705755"/>
            <a:chExt cx="3565525" cy="1827212"/>
          </a:xfrm>
        </p:grpSpPr>
        <p:sp>
          <p:nvSpPr>
            <p:cNvPr id="98" name="Text Box 56"/>
            <p:cNvSpPr txBox="1">
              <a:spLocks noChangeArrowheads="1"/>
            </p:cNvSpPr>
            <p:nvPr/>
          </p:nvSpPr>
          <p:spPr bwMode="auto">
            <a:xfrm>
              <a:off x="4985280" y="3705755"/>
              <a:ext cx="4699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99" name="Text Box 57"/>
            <p:cNvSpPr txBox="1">
              <a:spLocks noChangeArrowheads="1"/>
            </p:cNvSpPr>
            <p:nvPr/>
          </p:nvSpPr>
          <p:spPr bwMode="auto">
            <a:xfrm>
              <a:off x="8112655" y="5075767"/>
              <a:ext cx="43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00" name="Freeform 58"/>
            <p:cNvSpPr>
              <a:spLocks/>
            </p:cNvSpPr>
            <p:nvPr/>
          </p:nvSpPr>
          <p:spPr bwMode="auto">
            <a:xfrm>
              <a:off x="5510743" y="3816880"/>
              <a:ext cx="2581275" cy="1563687"/>
            </a:xfrm>
            <a:custGeom>
              <a:avLst/>
              <a:gdLst>
                <a:gd name="T0" fmla="*/ 0 w 1360"/>
                <a:gd name="T1" fmla="*/ 0 h 800"/>
                <a:gd name="T2" fmla="*/ 0 w 1360"/>
                <a:gd name="T3" fmla="*/ 800 h 800"/>
                <a:gd name="T4" fmla="*/ 1360 w 1360"/>
                <a:gd name="T5" fmla="*/ 800 h 800"/>
                <a:gd name="T6" fmla="*/ 0 60000 65536"/>
                <a:gd name="T7" fmla="*/ 0 60000 65536"/>
                <a:gd name="T8" fmla="*/ 0 60000 65536"/>
                <a:gd name="T9" fmla="*/ 0 w 1360"/>
                <a:gd name="T10" fmla="*/ 0 h 800"/>
                <a:gd name="T11" fmla="*/ 1360 w 1360"/>
                <a:gd name="T12" fmla="*/ 800 h 8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0" h="800">
                  <a:moveTo>
                    <a:pt x="0" y="0"/>
                  </a:moveTo>
                  <a:lnTo>
                    <a:pt x="0" y="800"/>
                  </a:lnTo>
                  <a:lnTo>
                    <a:pt x="1360" y="800"/>
                  </a:lnTo>
                </a:path>
              </a:pathLst>
            </a:custGeom>
            <a:noFill/>
            <a:ln w="19050" cmpd="sng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1" name="Freeform 59"/>
          <p:cNvSpPr>
            <a:spLocks/>
          </p:cNvSpPr>
          <p:nvPr/>
        </p:nvSpPr>
        <p:spPr bwMode="auto">
          <a:xfrm>
            <a:off x="5510743" y="4764617"/>
            <a:ext cx="1743945" cy="604837"/>
          </a:xfrm>
          <a:custGeom>
            <a:avLst/>
            <a:gdLst>
              <a:gd name="T0" fmla="*/ 0 w 1247"/>
              <a:gd name="T1" fmla="*/ 317 h 317"/>
              <a:gd name="T2" fmla="*/ 84 w 1247"/>
              <a:gd name="T3" fmla="*/ 210 h 317"/>
              <a:gd name="T4" fmla="*/ 185 w 1247"/>
              <a:gd name="T5" fmla="*/ 91 h 317"/>
              <a:gd name="T6" fmla="*/ 283 w 1247"/>
              <a:gd name="T7" fmla="*/ 16 h 317"/>
              <a:gd name="T8" fmla="*/ 394 w 1247"/>
              <a:gd name="T9" fmla="*/ 2 h 317"/>
              <a:gd name="T10" fmla="*/ 507 w 1247"/>
              <a:gd name="T11" fmla="*/ 27 h 317"/>
              <a:gd name="T12" fmla="*/ 619 w 1247"/>
              <a:gd name="T13" fmla="*/ 69 h 317"/>
              <a:gd name="T14" fmla="*/ 750 w 1247"/>
              <a:gd name="T15" fmla="*/ 106 h 317"/>
              <a:gd name="T16" fmla="*/ 937 w 1247"/>
              <a:gd name="T17" fmla="*/ 134 h 317"/>
              <a:gd name="T18" fmla="*/ 1108 w 1247"/>
              <a:gd name="T19" fmla="*/ 147 h 317"/>
              <a:gd name="T20" fmla="*/ 1247 w 1247"/>
              <a:gd name="T21" fmla="*/ 145 h 31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247"/>
              <a:gd name="T34" fmla="*/ 0 h 317"/>
              <a:gd name="T35" fmla="*/ 1247 w 1247"/>
              <a:gd name="T36" fmla="*/ 317 h 31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247" h="317">
                <a:moveTo>
                  <a:pt x="0" y="317"/>
                </a:moveTo>
                <a:cubicBezTo>
                  <a:pt x="27" y="282"/>
                  <a:pt x="54" y="248"/>
                  <a:pt x="84" y="210"/>
                </a:cubicBezTo>
                <a:cubicBezTo>
                  <a:pt x="115" y="173"/>
                  <a:pt x="152" y="123"/>
                  <a:pt x="185" y="91"/>
                </a:cubicBezTo>
                <a:cubicBezTo>
                  <a:pt x="218" y="59"/>
                  <a:pt x="248" y="31"/>
                  <a:pt x="283" y="16"/>
                </a:cubicBezTo>
                <a:cubicBezTo>
                  <a:pt x="318" y="1"/>
                  <a:pt x="357" y="0"/>
                  <a:pt x="394" y="2"/>
                </a:cubicBezTo>
                <a:cubicBezTo>
                  <a:pt x="431" y="4"/>
                  <a:pt x="469" y="16"/>
                  <a:pt x="507" y="27"/>
                </a:cubicBezTo>
                <a:cubicBezTo>
                  <a:pt x="544" y="37"/>
                  <a:pt x="579" y="56"/>
                  <a:pt x="619" y="69"/>
                </a:cubicBezTo>
                <a:cubicBezTo>
                  <a:pt x="659" y="82"/>
                  <a:pt x="697" y="95"/>
                  <a:pt x="750" y="106"/>
                </a:cubicBezTo>
                <a:cubicBezTo>
                  <a:pt x="803" y="117"/>
                  <a:pt x="877" y="127"/>
                  <a:pt x="937" y="134"/>
                </a:cubicBezTo>
                <a:cubicBezTo>
                  <a:pt x="997" y="141"/>
                  <a:pt x="1056" y="145"/>
                  <a:pt x="1108" y="147"/>
                </a:cubicBezTo>
                <a:cubicBezTo>
                  <a:pt x="1160" y="149"/>
                  <a:pt x="1218" y="145"/>
                  <a:pt x="1247" y="145"/>
                </a:cubicBezTo>
              </a:path>
            </a:pathLst>
          </a:custGeom>
          <a:noFill/>
          <a:ln w="19050" cmpd="sng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Freeform 60"/>
          <p:cNvSpPr>
            <a:spLocks/>
          </p:cNvSpPr>
          <p:nvPr/>
        </p:nvSpPr>
        <p:spPr bwMode="auto">
          <a:xfrm>
            <a:off x="5504393" y="4402667"/>
            <a:ext cx="2066925" cy="962025"/>
          </a:xfrm>
          <a:custGeom>
            <a:avLst/>
            <a:gdLst>
              <a:gd name="T0" fmla="*/ 0 w 1257"/>
              <a:gd name="T1" fmla="*/ 505 h 505"/>
              <a:gd name="T2" fmla="*/ 82 w 1257"/>
              <a:gd name="T3" fmla="*/ 336 h 505"/>
              <a:gd name="T4" fmla="*/ 175 w 1257"/>
              <a:gd name="T5" fmla="*/ 161 h 505"/>
              <a:gd name="T6" fmla="*/ 287 w 1257"/>
              <a:gd name="T7" fmla="*/ 37 h 505"/>
              <a:gd name="T8" fmla="*/ 412 w 1257"/>
              <a:gd name="T9" fmla="*/ 4 h 505"/>
              <a:gd name="T10" fmla="*/ 543 w 1257"/>
              <a:gd name="T11" fmla="*/ 60 h 505"/>
              <a:gd name="T12" fmla="*/ 696 w 1257"/>
              <a:gd name="T13" fmla="*/ 122 h 505"/>
              <a:gd name="T14" fmla="*/ 895 w 1257"/>
              <a:gd name="T15" fmla="*/ 158 h 505"/>
              <a:gd name="T16" fmla="*/ 1096 w 1257"/>
              <a:gd name="T17" fmla="*/ 171 h 505"/>
              <a:gd name="T18" fmla="*/ 1257 w 1257"/>
              <a:gd name="T19" fmla="*/ 175 h 50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57"/>
              <a:gd name="T31" fmla="*/ 0 h 505"/>
              <a:gd name="T32" fmla="*/ 1257 w 1257"/>
              <a:gd name="T33" fmla="*/ 505 h 50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57" h="505">
                <a:moveTo>
                  <a:pt x="0" y="505"/>
                </a:moveTo>
                <a:cubicBezTo>
                  <a:pt x="26" y="449"/>
                  <a:pt x="53" y="393"/>
                  <a:pt x="82" y="336"/>
                </a:cubicBezTo>
                <a:cubicBezTo>
                  <a:pt x="111" y="278"/>
                  <a:pt x="141" y="211"/>
                  <a:pt x="175" y="161"/>
                </a:cubicBezTo>
                <a:cubicBezTo>
                  <a:pt x="209" y="111"/>
                  <a:pt x="247" y="63"/>
                  <a:pt x="287" y="37"/>
                </a:cubicBezTo>
                <a:cubicBezTo>
                  <a:pt x="327" y="11"/>
                  <a:pt x="369" y="0"/>
                  <a:pt x="412" y="4"/>
                </a:cubicBezTo>
                <a:cubicBezTo>
                  <a:pt x="455" y="8"/>
                  <a:pt x="496" y="40"/>
                  <a:pt x="543" y="60"/>
                </a:cubicBezTo>
                <a:cubicBezTo>
                  <a:pt x="590" y="80"/>
                  <a:pt x="637" y="106"/>
                  <a:pt x="696" y="122"/>
                </a:cubicBezTo>
                <a:cubicBezTo>
                  <a:pt x="755" y="138"/>
                  <a:pt x="828" y="150"/>
                  <a:pt x="895" y="158"/>
                </a:cubicBezTo>
                <a:cubicBezTo>
                  <a:pt x="962" y="166"/>
                  <a:pt x="1036" y="168"/>
                  <a:pt x="1096" y="171"/>
                </a:cubicBezTo>
                <a:cubicBezTo>
                  <a:pt x="1156" y="174"/>
                  <a:pt x="1224" y="174"/>
                  <a:pt x="1257" y="175"/>
                </a:cubicBezTo>
              </a:path>
            </a:pathLst>
          </a:custGeom>
          <a:noFill/>
          <a:ln w="19050" cmpd="sng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61"/>
          <p:cNvSpPr>
            <a:spLocks/>
          </p:cNvSpPr>
          <p:nvPr/>
        </p:nvSpPr>
        <p:spPr bwMode="auto">
          <a:xfrm>
            <a:off x="5510742" y="4110567"/>
            <a:ext cx="2638175" cy="1243012"/>
          </a:xfrm>
          <a:custGeom>
            <a:avLst/>
            <a:gdLst>
              <a:gd name="T0" fmla="*/ 0 w 1256"/>
              <a:gd name="T1" fmla="*/ 652 h 652"/>
              <a:gd name="T2" fmla="*/ 36 w 1256"/>
              <a:gd name="T3" fmla="*/ 505 h 652"/>
              <a:gd name="T4" fmla="*/ 95 w 1256"/>
              <a:gd name="T5" fmla="*/ 300 h 652"/>
              <a:gd name="T6" fmla="*/ 174 w 1256"/>
              <a:gd name="T7" fmla="*/ 142 h 652"/>
              <a:gd name="T8" fmla="*/ 276 w 1256"/>
              <a:gd name="T9" fmla="*/ 30 h 652"/>
              <a:gd name="T10" fmla="*/ 369 w 1256"/>
              <a:gd name="T11" fmla="*/ 1 h 652"/>
              <a:gd name="T12" fmla="*/ 467 w 1256"/>
              <a:gd name="T13" fmla="*/ 26 h 652"/>
              <a:gd name="T14" fmla="*/ 602 w 1256"/>
              <a:gd name="T15" fmla="*/ 78 h 652"/>
              <a:gd name="T16" fmla="*/ 791 w 1256"/>
              <a:gd name="T17" fmla="*/ 139 h 652"/>
              <a:gd name="T18" fmla="*/ 982 w 1256"/>
              <a:gd name="T19" fmla="*/ 176 h 652"/>
              <a:gd name="T20" fmla="*/ 1141 w 1256"/>
              <a:gd name="T21" fmla="*/ 184 h 652"/>
              <a:gd name="T22" fmla="*/ 1256 w 1256"/>
              <a:gd name="T23" fmla="*/ 187 h 65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56"/>
              <a:gd name="T37" fmla="*/ 0 h 652"/>
              <a:gd name="T38" fmla="*/ 1256 w 1256"/>
              <a:gd name="T39" fmla="*/ 652 h 65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56" h="652">
                <a:moveTo>
                  <a:pt x="0" y="652"/>
                </a:moveTo>
                <a:cubicBezTo>
                  <a:pt x="11" y="607"/>
                  <a:pt x="21" y="564"/>
                  <a:pt x="36" y="505"/>
                </a:cubicBezTo>
                <a:cubicBezTo>
                  <a:pt x="52" y="446"/>
                  <a:pt x="72" y="360"/>
                  <a:pt x="95" y="300"/>
                </a:cubicBezTo>
                <a:cubicBezTo>
                  <a:pt x="118" y="240"/>
                  <a:pt x="144" y="187"/>
                  <a:pt x="174" y="142"/>
                </a:cubicBezTo>
                <a:cubicBezTo>
                  <a:pt x="204" y="97"/>
                  <a:pt x="244" y="53"/>
                  <a:pt x="276" y="30"/>
                </a:cubicBezTo>
                <a:cubicBezTo>
                  <a:pt x="308" y="7"/>
                  <a:pt x="337" y="2"/>
                  <a:pt x="369" y="1"/>
                </a:cubicBezTo>
                <a:cubicBezTo>
                  <a:pt x="401" y="0"/>
                  <a:pt x="428" y="13"/>
                  <a:pt x="467" y="26"/>
                </a:cubicBezTo>
                <a:cubicBezTo>
                  <a:pt x="506" y="39"/>
                  <a:pt x="548" y="59"/>
                  <a:pt x="602" y="78"/>
                </a:cubicBezTo>
                <a:cubicBezTo>
                  <a:pt x="656" y="96"/>
                  <a:pt x="728" y="122"/>
                  <a:pt x="791" y="139"/>
                </a:cubicBezTo>
                <a:cubicBezTo>
                  <a:pt x="855" y="155"/>
                  <a:pt x="924" y="169"/>
                  <a:pt x="982" y="176"/>
                </a:cubicBezTo>
                <a:cubicBezTo>
                  <a:pt x="1041" y="183"/>
                  <a:pt x="1095" y="183"/>
                  <a:pt x="1141" y="184"/>
                </a:cubicBezTo>
                <a:cubicBezTo>
                  <a:pt x="1187" y="186"/>
                  <a:pt x="1221" y="186"/>
                  <a:pt x="1256" y="187"/>
                </a:cubicBezTo>
              </a:path>
            </a:pathLst>
          </a:custGeom>
          <a:noFill/>
          <a:ln w="19050" cmpd="sng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4" name="组合 103"/>
          <p:cNvGrpSpPr/>
          <p:nvPr/>
        </p:nvGrpSpPr>
        <p:grpSpPr>
          <a:xfrm>
            <a:off x="7309189" y="4126442"/>
            <a:ext cx="1192785" cy="1138238"/>
            <a:chOff x="7309189" y="4126442"/>
            <a:chExt cx="1192785" cy="1138238"/>
          </a:xfrm>
        </p:grpSpPr>
        <p:sp>
          <p:nvSpPr>
            <p:cNvPr id="105" name="Text Box 55"/>
            <p:cNvSpPr txBox="1">
              <a:spLocks noChangeArrowheads="1"/>
            </p:cNvSpPr>
            <p:nvPr/>
          </p:nvSpPr>
          <p:spPr bwMode="auto">
            <a:xfrm>
              <a:off x="7309189" y="4807480"/>
              <a:ext cx="469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1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Arial" charset="0"/>
                <a:sym typeface="Symbol" pitchFamily="18" charset="2"/>
              </a:endParaRPr>
            </a:p>
          </p:txBody>
        </p:sp>
        <p:sp>
          <p:nvSpPr>
            <p:cNvPr id="106" name="Text Box 62"/>
            <p:cNvSpPr txBox="1">
              <a:spLocks noChangeArrowheads="1"/>
            </p:cNvSpPr>
            <p:nvPr/>
          </p:nvSpPr>
          <p:spPr bwMode="auto">
            <a:xfrm>
              <a:off x="7576080" y="4478867"/>
              <a:ext cx="469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2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Arial" charset="0"/>
                <a:sym typeface="Symbol" pitchFamily="18" charset="2"/>
              </a:endParaRPr>
            </a:p>
          </p:txBody>
        </p:sp>
        <p:sp>
          <p:nvSpPr>
            <p:cNvPr id="107" name="Text Box 63"/>
            <p:cNvSpPr txBox="1">
              <a:spLocks noChangeArrowheads="1"/>
            </p:cNvSpPr>
            <p:nvPr/>
          </p:nvSpPr>
          <p:spPr bwMode="auto">
            <a:xfrm>
              <a:off x="8032074" y="4126442"/>
              <a:ext cx="469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3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Arial" charset="0"/>
                <a:sym typeface="Symbol" pitchFamily="18" charset="2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4807178" y="1946153"/>
            <a:ext cx="1104901" cy="608468"/>
            <a:chOff x="4807178" y="1946153"/>
            <a:chExt cx="1104901" cy="608468"/>
          </a:xfrm>
        </p:grpSpPr>
        <p:sp>
          <p:nvSpPr>
            <p:cNvPr id="109" name="Text Box 29"/>
            <p:cNvSpPr txBox="1">
              <a:spLocks noChangeArrowheads="1"/>
            </p:cNvSpPr>
            <p:nvPr/>
          </p:nvSpPr>
          <p:spPr bwMode="auto">
            <a:xfrm>
              <a:off x="4807178" y="1946153"/>
              <a:ext cx="8731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下盒</a:t>
              </a:r>
            </a:p>
          </p:txBody>
        </p:sp>
        <p:sp>
          <p:nvSpPr>
            <p:cNvPr id="110" name="Line 33"/>
            <p:cNvSpPr>
              <a:spLocks noChangeShapeType="1"/>
            </p:cNvSpPr>
            <p:nvPr/>
          </p:nvSpPr>
          <p:spPr bwMode="auto">
            <a:xfrm flipH="1" flipV="1">
              <a:off x="5546954" y="2356183"/>
              <a:ext cx="365125" cy="19843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5851526" y="1651562"/>
            <a:ext cx="2281238" cy="1537604"/>
            <a:chOff x="5851526" y="1651562"/>
            <a:chExt cx="2281238" cy="1537604"/>
          </a:xfrm>
        </p:grpSpPr>
        <p:sp>
          <p:nvSpPr>
            <p:cNvPr id="112" name="Rectangle 6" descr="大纸屑"/>
            <p:cNvSpPr>
              <a:spLocks noChangeArrowheads="1"/>
            </p:cNvSpPr>
            <p:nvPr/>
          </p:nvSpPr>
          <p:spPr bwMode="auto">
            <a:xfrm>
              <a:off x="6012543" y="1818472"/>
              <a:ext cx="1963058" cy="101797"/>
            </a:xfrm>
            <a:prstGeom prst="rect">
              <a:avLst/>
            </a:prstGeom>
            <a:pattFill prst="lgConfetti">
              <a:fgClr>
                <a:schemeClr val="folHlink"/>
              </a:fgClr>
              <a:bgClr>
                <a:schemeClr val="bg1"/>
              </a:bgClr>
            </a:pattFill>
            <a:ln w="63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" name="Rectangle 7" descr="大纸屑"/>
            <p:cNvSpPr>
              <a:spLocks noChangeArrowheads="1"/>
            </p:cNvSpPr>
            <p:nvPr/>
          </p:nvSpPr>
          <p:spPr bwMode="auto">
            <a:xfrm>
              <a:off x="5994401" y="2758272"/>
              <a:ext cx="1981200" cy="87892"/>
            </a:xfrm>
            <a:prstGeom prst="rect">
              <a:avLst/>
            </a:prstGeom>
            <a:pattFill prst="lgConfetti">
              <a:fgClr>
                <a:schemeClr val="folHlink"/>
              </a:fgClr>
              <a:bgClr>
                <a:schemeClr val="bg1"/>
              </a:bgClr>
            </a:pattFill>
            <a:ln w="63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Rectangle 9" descr="浅色上对角线"/>
            <p:cNvSpPr>
              <a:spLocks noChangeAspect="1" noChangeArrowheads="1"/>
            </p:cNvSpPr>
            <p:nvPr/>
          </p:nvSpPr>
          <p:spPr bwMode="auto">
            <a:xfrm>
              <a:off x="6012997" y="1651562"/>
              <a:ext cx="1957388" cy="167024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Rectangle 17"/>
            <p:cNvSpPr>
              <a:spLocks noChangeAspect="1" noChangeArrowheads="1"/>
            </p:cNvSpPr>
            <p:nvPr/>
          </p:nvSpPr>
          <p:spPr bwMode="auto">
            <a:xfrm>
              <a:off x="5990772" y="1903316"/>
              <a:ext cx="1990499" cy="862958"/>
            </a:xfrm>
            <a:custGeom>
              <a:avLst/>
              <a:gdLst>
                <a:gd name="connsiteX0" fmla="*/ 0 w 1957388"/>
                <a:gd name="connsiteY0" fmla="*/ 0 h 862958"/>
                <a:gd name="connsiteX1" fmla="*/ 1957388 w 1957388"/>
                <a:gd name="connsiteY1" fmla="*/ 0 h 862958"/>
                <a:gd name="connsiteX2" fmla="*/ 1957388 w 1957388"/>
                <a:gd name="connsiteY2" fmla="*/ 862958 h 862958"/>
                <a:gd name="connsiteX3" fmla="*/ 0 w 1957388"/>
                <a:gd name="connsiteY3" fmla="*/ 862958 h 862958"/>
                <a:gd name="connsiteX4" fmla="*/ 0 w 1957388"/>
                <a:gd name="connsiteY4" fmla="*/ 0 h 862958"/>
                <a:gd name="connsiteX0" fmla="*/ 10885 w 1968273"/>
                <a:gd name="connsiteY0" fmla="*/ 0 h 862958"/>
                <a:gd name="connsiteX1" fmla="*/ 1968273 w 1968273"/>
                <a:gd name="connsiteY1" fmla="*/ 0 h 862958"/>
                <a:gd name="connsiteX2" fmla="*/ 1968273 w 1968273"/>
                <a:gd name="connsiteY2" fmla="*/ 862958 h 862958"/>
                <a:gd name="connsiteX3" fmla="*/ 0 w 1968273"/>
                <a:gd name="connsiteY3" fmla="*/ 859329 h 862958"/>
                <a:gd name="connsiteX4" fmla="*/ 10885 w 1968273"/>
                <a:gd name="connsiteY4" fmla="*/ 0 h 862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273" h="862958">
                  <a:moveTo>
                    <a:pt x="10885" y="0"/>
                  </a:moveTo>
                  <a:lnTo>
                    <a:pt x="1968273" y="0"/>
                  </a:lnTo>
                  <a:lnTo>
                    <a:pt x="1968273" y="862958"/>
                  </a:lnTo>
                  <a:lnTo>
                    <a:pt x="0" y="859329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rgbClr val="FFC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Rectangle 26"/>
            <p:cNvSpPr>
              <a:spLocks noChangeArrowheads="1"/>
            </p:cNvSpPr>
            <p:nvPr/>
          </p:nvSpPr>
          <p:spPr bwMode="auto">
            <a:xfrm>
              <a:off x="5852886" y="1819817"/>
              <a:ext cx="152400" cy="499862"/>
            </a:xfrm>
            <a:prstGeom prst="rect">
              <a:avLst/>
            </a:prstGeom>
            <a:pattFill prst="ltUpDiag">
              <a:fgClr>
                <a:srgbClr val="000066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17" name="直接连接符 116"/>
            <p:cNvCxnSpPr/>
            <p:nvPr/>
          </p:nvCxnSpPr>
          <p:spPr bwMode="auto">
            <a:xfrm>
              <a:off x="6001655" y="2758272"/>
              <a:ext cx="19800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8" name="Freeform 19"/>
            <p:cNvSpPr>
              <a:spLocks/>
            </p:cNvSpPr>
            <p:nvPr/>
          </p:nvSpPr>
          <p:spPr bwMode="auto">
            <a:xfrm>
              <a:off x="5851526" y="2386243"/>
              <a:ext cx="2281238" cy="612422"/>
            </a:xfrm>
            <a:custGeom>
              <a:avLst/>
              <a:gdLst>
                <a:gd name="T0" fmla="*/ 100 w 1437"/>
                <a:gd name="T1" fmla="*/ 0 h 506"/>
                <a:gd name="T2" fmla="*/ 96 w 1437"/>
                <a:gd name="T3" fmla="*/ 375 h 506"/>
                <a:gd name="T4" fmla="*/ 1341 w 1437"/>
                <a:gd name="T5" fmla="*/ 375 h 506"/>
                <a:gd name="T6" fmla="*/ 1341 w 1437"/>
                <a:gd name="T7" fmla="*/ 4 h 506"/>
                <a:gd name="T8" fmla="*/ 1437 w 1437"/>
                <a:gd name="T9" fmla="*/ 4 h 506"/>
                <a:gd name="T10" fmla="*/ 1437 w 1437"/>
                <a:gd name="T11" fmla="*/ 506 h 506"/>
                <a:gd name="T12" fmla="*/ 0 w 1437"/>
                <a:gd name="T13" fmla="*/ 506 h 506"/>
                <a:gd name="T14" fmla="*/ 0 w 1437"/>
                <a:gd name="T15" fmla="*/ 0 h 506"/>
                <a:gd name="T16" fmla="*/ 100 w 1437"/>
                <a:gd name="T17" fmla="*/ 0 h 5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37"/>
                <a:gd name="T28" fmla="*/ 0 h 506"/>
                <a:gd name="T29" fmla="*/ 1437 w 1437"/>
                <a:gd name="T30" fmla="*/ 506 h 50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37" h="506">
                  <a:moveTo>
                    <a:pt x="100" y="0"/>
                  </a:moveTo>
                  <a:lnTo>
                    <a:pt x="96" y="375"/>
                  </a:lnTo>
                  <a:lnTo>
                    <a:pt x="1341" y="375"/>
                  </a:lnTo>
                  <a:lnTo>
                    <a:pt x="1341" y="4"/>
                  </a:lnTo>
                  <a:lnTo>
                    <a:pt x="1437" y="4"/>
                  </a:lnTo>
                  <a:lnTo>
                    <a:pt x="1437" y="506"/>
                  </a:lnTo>
                  <a:lnTo>
                    <a:pt x="0" y="506"/>
                  </a:lnTo>
                  <a:lnTo>
                    <a:pt x="0" y="0"/>
                  </a:lnTo>
                  <a:lnTo>
                    <a:pt x="100" y="0"/>
                  </a:lnTo>
                  <a:close/>
                </a:path>
              </a:pathLst>
            </a:custGeom>
            <a:pattFill prst="ltUpDiag">
              <a:fgClr>
                <a:srgbClr val="000066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9" name="直接连接符 118"/>
            <p:cNvCxnSpPr/>
            <p:nvPr/>
          </p:nvCxnSpPr>
          <p:spPr bwMode="auto">
            <a:xfrm>
              <a:off x="6007517" y="1908349"/>
              <a:ext cx="19800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0" name="Rectangle 26"/>
            <p:cNvSpPr>
              <a:spLocks noChangeArrowheads="1"/>
            </p:cNvSpPr>
            <p:nvPr/>
          </p:nvSpPr>
          <p:spPr bwMode="auto">
            <a:xfrm>
              <a:off x="7975600" y="1819818"/>
              <a:ext cx="152400" cy="499862"/>
            </a:xfrm>
            <a:prstGeom prst="rect">
              <a:avLst/>
            </a:prstGeom>
            <a:pattFill prst="ltUpDiag">
              <a:fgClr>
                <a:srgbClr val="000066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1" name="组合 120"/>
            <p:cNvGrpSpPr/>
            <p:nvPr/>
          </p:nvGrpSpPr>
          <p:grpSpPr>
            <a:xfrm>
              <a:off x="6084888" y="2878016"/>
              <a:ext cx="303212" cy="303212"/>
              <a:chOff x="6084888" y="2830390"/>
              <a:chExt cx="350838" cy="350838"/>
            </a:xfrm>
          </p:grpSpPr>
          <p:sp>
            <p:nvSpPr>
              <p:cNvPr id="128" name="Oval 20"/>
              <p:cNvSpPr>
                <a:spLocks noChangeArrowheads="1"/>
              </p:cNvSpPr>
              <p:nvPr/>
            </p:nvSpPr>
            <p:spPr bwMode="auto">
              <a:xfrm>
                <a:off x="6084888" y="2830390"/>
                <a:ext cx="350838" cy="350838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Oval 21"/>
              <p:cNvSpPr>
                <a:spLocks noChangeArrowheads="1"/>
              </p:cNvSpPr>
              <p:nvPr/>
            </p:nvSpPr>
            <p:spPr bwMode="auto">
              <a:xfrm>
                <a:off x="6156326" y="2901828"/>
                <a:ext cx="214313" cy="214313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2" name="组合 121"/>
            <p:cNvGrpSpPr/>
            <p:nvPr/>
          </p:nvGrpSpPr>
          <p:grpSpPr>
            <a:xfrm>
              <a:off x="7554913" y="2879604"/>
              <a:ext cx="303212" cy="303212"/>
              <a:chOff x="7554913" y="2831978"/>
              <a:chExt cx="350838" cy="350838"/>
            </a:xfrm>
          </p:grpSpPr>
          <p:sp>
            <p:nvSpPr>
              <p:cNvPr id="126" name="Oval 22"/>
              <p:cNvSpPr>
                <a:spLocks noChangeArrowheads="1"/>
              </p:cNvSpPr>
              <p:nvPr/>
            </p:nvSpPr>
            <p:spPr bwMode="auto">
              <a:xfrm>
                <a:off x="7554913" y="2831978"/>
                <a:ext cx="350838" cy="350838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Oval 23"/>
              <p:cNvSpPr>
                <a:spLocks noChangeArrowheads="1"/>
              </p:cNvSpPr>
              <p:nvPr/>
            </p:nvSpPr>
            <p:spPr bwMode="auto">
              <a:xfrm>
                <a:off x="7626351" y="2903415"/>
                <a:ext cx="214313" cy="214313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3" name="组合 122"/>
            <p:cNvGrpSpPr/>
            <p:nvPr/>
          </p:nvGrpSpPr>
          <p:grpSpPr>
            <a:xfrm>
              <a:off x="6810376" y="2885954"/>
              <a:ext cx="303212" cy="303212"/>
              <a:chOff x="6810376" y="2838328"/>
              <a:chExt cx="350838" cy="350838"/>
            </a:xfrm>
          </p:grpSpPr>
          <p:sp>
            <p:nvSpPr>
              <p:cNvPr id="124" name="Oval 24"/>
              <p:cNvSpPr>
                <a:spLocks noChangeArrowheads="1"/>
              </p:cNvSpPr>
              <p:nvPr/>
            </p:nvSpPr>
            <p:spPr bwMode="auto">
              <a:xfrm>
                <a:off x="6810376" y="2838328"/>
                <a:ext cx="350838" cy="350838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Oval 25"/>
              <p:cNvSpPr>
                <a:spLocks noChangeArrowheads="1"/>
              </p:cNvSpPr>
              <p:nvPr/>
            </p:nvSpPr>
            <p:spPr bwMode="auto">
              <a:xfrm>
                <a:off x="6881813" y="2909765"/>
                <a:ext cx="214313" cy="214313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0" name="组合 129"/>
          <p:cNvGrpSpPr/>
          <p:nvPr/>
        </p:nvGrpSpPr>
        <p:grpSpPr>
          <a:xfrm>
            <a:off x="4795558" y="1416086"/>
            <a:ext cx="1105042" cy="569982"/>
            <a:chOff x="4795558" y="1416086"/>
            <a:chExt cx="1105042" cy="569982"/>
          </a:xfrm>
        </p:grpSpPr>
        <p:sp>
          <p:nvSpPr>
            <p:cNvPr id="131" name="Text Box 30"/>
            <p:cNvSpPr txBox="1">
              <a:spLocks noChangeArrowheads="1"/>
            </p:cNvSpPr>
            <p:nvPr/>
          </p:nvSpPr>
          <p:spPr bwMode="auto">
            <a:xfrm>
              <a:off x="4795558" y="1416086"/>
              <a:ext cx="8588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上盒</a:t>
              </a:r>
            </a:p>
          </p:txBody>
        </p:sp>
        <p:sp>
          <p:nvSpPr>
            <p:cNvPr id="132" name="Line 32"/>
            <p:cNvSpPr>
              <a:spLocks noChangeShapeType="1"/>
            </p:cNvSpPr>
            <p:nvPr/>
          </p:nvSpPr>
          <p:spPr bwMode="auto">
            <a:xfrm flipH="1" flipV="1">
              <a:off x="5533292" y="1783862"/>
              <a:ext cx="367308" cy="20220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4898274" y="2496040"/>
            <a:ext cx="940454" cy="467667"/>
            <a:chOff x="4898274" y="2496040"/>
            <a:chExt cx="940454" cy="467667"/>
          </a:xfrm>
        </p:grpSpPr>
        <p:sp>
          <p:nvSpPr>
            <p:cNvPr id="134" name="Text Box 12"/>
            <p:cNvSpPr txBox="1">
              <a:spLocks noChangeArrowheads="1"/>
            </p:cNvSpPr>
            <p:nvPr/>
          </p:nvSpPr>
          <p:spPr bwMode="auto">
            <a:xfrm>
              <a:off x="4898274" y="2506507"/>
              <a:ext cx="4968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35" name="AutoShape 31"/>
            <p:cNvSpPr>
              <a:spLocks noChangeArrowheads="1"/>
            </p:cNvSpPr>
            <p:nvPr/>
          </p:nvSpPr>
          <p:spPr bwMode="auto">
            <a:xfrm>
              <a:off x="5365578" y="2496040"/>
              <a:ext cx="473150" cy="420180"/>
            </a:xfrm>
            <a:prstGeom prst="rightArrow">
              <a:avLst>
                <a:gd name="adj1" fmla="val 45941"/>
                <a:gd name="adj2" fmla="val 44000"/>
              </a:avLst>
            </a:prstGeom>
            <a:solidFill>
              <a:srgbClr val="A50021"/>
            </a:solidFill>
            <a:ln w="9525">
              <a:solidFill>
                <a:srgbClr val="A5002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6" name="Line 18"/>
          <p:cNvSpPr>
            <a:spLocks noChangeShapeType="1"/>
          </p:cNvSpPr>
          <p:nvPr/>
        </p:nvSpPr>
        <p:spPr bwMode="auto">
          <a:xfrm>
            <a:off x="5735638" y="2357192"/>
            <a:ext cx="2541588" cy="0"/>
          </a:xfrm>
          <a:prstGeom prst="line">
            <a:avLst/>
          </a:prstGeom>
          <a:noFill/>
          <a:ln w="28575">
            <a:solidFill>
              <a:srgbClr val="A5002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7" name="组合 136"/>
          <p:cNvGrpSpPr/>
          <p:nvPr/>
        </p:nvGrpSpPr>
        <p:grpSpPr>
          <a:xfrm>
            <a:off x="6545263" y="1063120"/>
            <a:ext cx="2230523" cy="1166463"/>
            <a:chOff x="6545263" y="1063120"/>
            <a:chExt cx="2230523" cy="1166463"/>
          </a:xfrm>
        </p:grpSpPr>
        <p:grpSp>
          <p:nvGrpSpPr>
            <p:cNvPr id="138" name="组合 137"/>
            <p:cNvGrpSpPr/>
            <p:nvPr/>
          </p:nvGrpSpPr>
          <p:grpSpPr>
            <a:xfrm>
              <a:off x="7435957" y="1063120"/>
              <a:ext cx="1339829" cy="981002"/>
              <a:chOff x="7435957" y="1063120"/>
              <a:chExt cx="1339829" cy="981002"/>
            </a:xfrm>
          </p:grpSpPr>
          <p:sp>
            <p:nvSpPr>
              <p:cNvPr id="140" name="Text Box 38"/>
              <p:cNvSpPr txBox="1">
                <a:spLocks noChangeArrowheads="1"/>
              </p:cNvSpPr>
              <p:nvPr/>
            </p:nvSpPr>
            <p:spPr bwMode="auto">
              <a:xfrm>
                <a:off x="7645348" y="1063120"/>
                <a:ext cx="113043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>
                    <a:solidFill>
                      <a:srgbClr val="000066"/>
                    </a:solidFill>
                    <a:ea typeface="幼圆" pitchFamily="49" charset="-122"/>
                  </a:rPr>
                  <a:t>截</a:t>
                </a:r>
                <a:r>
                  <a:rPr lang="zh-CN" altLang="en-US" sz="2000" b="1" dirty="0" smtClean="0">
                    <a:solidFill>
                      <a:srgbClr val="000066"/>
                    </a:solidFill>
                    <a:ea typeface="幼圆" pitchFamily="49" charset="-122"/>
                  </a:rPr>
                  <a:t>面积</a:t>
                </a:r>
                <a:r>
                  <a:rPr lang="en-US" altLang="zh-CN" sz="2000" b="1" i="1" dirty="0">
                    <a:solidFill>
                      <a:srgbClr val="000066"/>
                    </a:solidFill>
                    <a:ea typeface="幼圆" pitchFamily="49" charset="-122"/>
                  </a:rPr>
                  <a:t>A</a:t>
                </a:r>
              </a:p>
            </p:txBody>
          </p:sp>
          <p:sp>
            <p:nvSpPr>
              <p:cNvPr id="141" name="Line 39"/>
              <p:cNvSpPr>
                <a:spLocks noChangeShapeType="1"/>
              </p:cNvSpPr>
              <p:nvPr/>
            </p:nvSpPr>
            <p:spPr bwMode="auto">
              <a:xfrm flipV="1">
                <a:off x="7435957" y="1460499"/>
                <a:ext cx="444393" cy="58362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9" name="Text Box 28"/>
            <p:cNvSpPr txBox="1">
              <a:spLocks noChangeArrowheads="1"/>
            </p:cNvSpPr>
            <p:nvPr/>
          </p:nvSpPr>
          <p:spPr bwMode="auto">
            <a:xfrm>
              <a:off x="6545263" y="1881011"/>
              <a:ext cx="796925" cy="348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土样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101" grpId="0" animBg="1"/>
      <p:bldP spid="102" grpId="0" animBg="1"/>
      <p:bldP spid="103" grpId="0" animBg="1"/>
      <p:bldP spid="1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887663" y="5900738"/>
            <a:ext cx="50149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直剪试验的强度包线</a:t>
            </a:r>
            <a:endParaRPr lang="en-US" altLang="zh-CN" sz="4000" b="1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-9526" y="0"/>
            <a:ext cx="58680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直剪试验与库伦公式</a:t>
            </a:r>
          </a:p>
        </p:txBody>
      </p:sp>
      <p:grpSp>
        <p:nvGrpSpPr>
          <p:cNvPr id="56" name="Group 5"/>
          <p:cNvGrpSpPr>
            <a:grpSpLocks/>
          </p:cNvGrpSpPr>
          <p:nvPr/>
        </p:nvGrpSpPr>
        <p:grpSpPr bwMode="auto">
          <a:xfrm>
            <a:off x="1014413" y="559941"/>
            <a:ext cx="3035300" cy="2392362"/>
            <a:chOff x="639" y="543"/>
            <a:chExt cx="1912" cy="1507"/>
          </a:xfrm>
        </p:grpSpPr>
        <p:sp>
          <p:nvSpPr>
            <p:cNvPr id="57" name="Text Box 6"/>
            <p:cNvSpPr txBox="1">
              <a:spLocks noChangeArrowheads="1"/>
            </p:cNvSpPr>
            <p:nvPr/>
          </p:nvSpPr>
          <p:spPr bwMode="auto">
            <a:xfrm>
              <a:off x="639" y="543"/>
              <a:ext cx="2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i="1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58" name="Text Box 7"/>
            <p:cNvSpPr txBox="1">
              <a:spLocks noChangeArrowheads="1"/>
            </p:cNvSpPr>
            <p:nvPr/>
          </p:nvSpPr>
          <p:spPr bwMode="auto">
            <a:xfrm>
              <a:off x="2275" y="1762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59" name="Freeform 8"/>
            <p:cNvSpPr>
              <a:spLocks/>
            </p:cNvSpPr>
            <p:nvPr/>
          </p:nvSpPr>
          <p:spPr bwMode="auto">
            <a:xfrm>
              <a:off x="644" y="800"/>
              <a:ext cx="1626" cy="1131"/>
            </a:xfrm>
            <a:custGeom>
              <a:avLst/>
              <a:gdLst>
                <a:gd name="T0" fmla="*/ 0 w 1360"/>
                <a:gd name="T1" fmla="*/ 0 h 800"/>
                <a:gd name="T2" fmla="*/ 0 w 1360"/>
                <a:gd name="T3" fmla="*/ 800 h 800"/>
                <a:gd name="T4" fmla="*/ 1360 w 1360"/>
                <a:gd name="T5" fmla="*/ 800 h 800"/>
                <a:gd name="T6" fmla="*/ 0 60000 65536"/>
                <a:gd name="T7" fmla="*/ 0 60000 65536"/>
                <a:gd name="T8" fmla="*/ 0 60000 65536"/>
                <a:gd name="T9" fmla="*/ 0 w 1360"/>
                <a:gd name="T10" fmla="*/ 0 h 800"/>
                <a:gd name="T11" fmla="*/ 1360 w 1360"/>
                <a:gd name="T12" fmla="*/ 800 h 8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0" h="800">
                  <a:moveTo>
                    <a:pt x="0" y="0"/>
                  </a:moveTo>
                  <a:lnTo>
                    <a:pt x="0" y="800"/>
                  </a:lnTo>
                  <a:lnTo>
                    <a:pt x="1360" y="80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" name="Group 9"/>
          <p:cNvGrpSpPr>
            <a:grpSpLocks/>
          </p:cNvGrpSpPr>
          <p:nvPr/>
        </p:nvGrpSpPr>
        <p:grpSpPr bwMode="auto">
          <a:xfrm>
            <a:off x="1022351" y="2056953"/>
            <a:ext cx="2144364" cy="693738"/>
            <a:chOff x="644" y="1486"/>
            <a:chExt cx="1507" cy="437"/>
          </a:xfrm>
        </p:grpSpPr>
        <p:sp>
          <p:nvSpPr>
            <p:cNvPr id="61" name="Text Box 10"/>
            <p:cNvSpPr txBox="1">
              <a:spLocks noChangeArrowheads="1"/>
            </p:cNvSpPr>
            <p:nvPr/>
          </p:nvSpPr>
          <p:spPr bwMode="auto">
            <a:xfrm>
              <a:off x="1855" y="1517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1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Arial" charset="0"/>
                <a:sym typeface="Symbol" pitchFamily="18" charset="2"/>
              </a:endParaRPr>
            </a:p>
          </p:txBody>
        </p:sp>
        <p:sp>
          <p:nvSpPr>
            <p:cNvPr id="62" name="Freeform 11"/>
            <p:cNvSpPr>
              <a:spLocks/>
            </p:cNvSpPr>
            <p:nvPr/>
          </p:nvSpPr>
          <p:spPr bwMode="auto">
            <a:xfrm>
              <a:off x="644" y="1486"/>
              <a:ext cx="1195" cy="437"/>
            </a:xfrm>
            <a:custGeom>
              <a:avLst/>
              <a:gdLst>
                <a:gd name="T0" fmla="*/ 0 w 1247"/>
                <a:gd name="T1" fmla="*/ 317 h 317"/>
                <a:gd name="T2" fmla="*/ 84 w 1247"/>
                <a:gd name="T3" fmla="*/ 210 h 317"/>
                <a:gd name="T4" fmla="*/ 185 w 1247"/>
                <a:gd name="T5" fmla="*/ 91 h 317"/>
                <a:gd name="T6" fmla="*/ 283 w 1247"/>
                <a:gd name="T7" fmla="*/ 16 h 317"/>
                <a:gd name="T8" fmla="*/ 394 w 1247"/>
                <a:gd name="T9" fmla="*/ 2 h 317"/>
                <a:gd name="T10" fmla="*/ 507 w 1247"/>
                <a:gd name="T11" fmla="*/ 27 h 317"/>
                <a:gd name="T12" fmla="*/ 619 w 1247"/>
                <a:gd name="T13" fmla="*/ 69 h 317"/>
                <a:gd name="T14" fmla="*/ 750 w 1247"/>
                <a:gd name="T15" fmla="*/ 106 h 317"/>
                <a:gd name="T16" fmla="*/ 937 w 1247"/>
                <a:gd name="T17" fmla="*/ 134 h 317"/>
                <a:gd name="T18" fmla="*/ 1108 w 1247"/>
                <a:gd name="T19" fmla="*/ 147 h 317"/>
                <a:gd name="T20" fmla="*/ 1247 w 1247"/>
                <a:gd name="T21" fmla="*/ 145 h 3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247"/>
                <a:gd name="T34" fmla="*/ 0 h 317"/>
                <a:gd name="T35" fmla="*/ 1247 w 1247"/>
                <a:gd name="T36" fmla="*/ 317 h 3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247" h="317">
                  <a:moveTo>
                    <a:pt x="0" y="317"/>
                  </a:moveTo>
                  <a:cubicBezTo>
                    <a:pt x="27" y="282"/>
                    <a:pt x="54" y="248"/>
                    <a:pt x="84" y="210"/>
                  </a:cubicBezTo>
                  <a:cubicBezTo>
                    <a:pt x="115" y="173"/>
                    <a:pt x="152" y="123"/>
                    <a:pt x="185" y="91"/>
                  </a:cubicBezTo>
                  <a:cubicBezTo>
                    <a:pt x="218" y="59"/>
                    <a:pt x="248" y="31"/>
                    <a:pt x="283" y="16"/>
                  </a:cubicBezTo>
                  <a:cubicBezTo>
                    <a:pt x="318" y="1"/>
                    <a:pt x="357" y="0"/>
                    <a:pt x="394" y="2"/>
                  </a:cubicBezTo>
                  <a:cubicBezTo>
                    <a:pt x="431" y="4"/>
                    <a:pt x="469" y="16"/>
                    <a:pt x="507" y="27"/>
                  </a:cubicBezTo>
                  <a:cubicBezTo>
                    <a:pt x="544" y="37"/>
                    <a:pt x="579" y="56"/>
                    <a:pt x="619" y="69"/>
                  </a:cubicBezTo>
                  <a:cubicBezTo>
                    <a:pt x="659" y="82"/>
                    <a:pt x="697" y="95"/>
                    <a:pt x="750" y="106"/>
                  </a:cubicBezTo>
                  <a:cubicBezTo>
                    <a:pt x="803" y="117"/>
                    <a:pt x="877" y="127"/>
                    <a:pt x="937" y="134"/>
                  </a:cubicBezTo>
                  <a:cubicBezTo>
                    <a:pt x="997" y="141"/>
                    <a:pt x="1056" y="145"/>
                    <a:pt x="1108" y="147"/>
                  </a:cubicBezTo>
                  <a:cubicBezTo>
                    <a:pt x="1160" y="149"/>
                    <a:pt x="1218" y="145"/>
                    <a:pt x="1247" y="145"/>
                  </a:cubicBezTo>
                </a:path>
              </a:pathLst>
            </a:custGeom>
            <a:noFill/>
            <a:ln w="19050" cmpd="sng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" name="Group 12"/>
          <p:cNvGrpSpPr>
            <a:grpSpLocks/>
          </p:cNvGrpSpPr>
          <p:nvPr/>
        </p:nvGrpSpPr>
        <p:grpSpPr bwMode="auto">
          <a:xfrm>
            <a:off x="1016000" y="1641028"/>
            <a:ext cx="2541588" cy="1104900"/>
            <a:chOff x="640" y="1224"/>
            <a:chExt cx="1601" cy="696"/>
          </a:xfrm>
        </p:grpSpPr>
        <p:sp>
          <p:nvSpPr>
            <p:cNvPr id="64" name="Freeform 13"/>
            <p:cNvSpPr>
              <a:spLocks/>
            </p:cNvSpPr>
            <p:nvPr/>
          </p:nvSpPr>
          <p:spPr bwMode="auto">
            <a:xfrm>
              <a:off x="640" y="1224"/>
              <a:ext cx="1302" cy="696"/>
            </a:xfrm>
            <a:custGeom>
              <a:avLst/>
              <a:gdLst>
                <a:gd name="T0" fmla="*/ 0 w 1257"/>
                <a:gd name="T1" fmla="*/ 505 h 505"/>
                <a:gd name="T2" fmla="*/ 82 w 1257"/>
                <a:gd name="T3" fmla="*/ 336 h 505"/>
                <a:gd name="T4" fmla="*/ 175 w 1257"/>
                <a:gd name="T5" fmla="*/ 161 h 505"/>
                <a:gd name="T6" fmla="*/ 287 w 1257"/>
                <a:gd name="T7" fmla="*/ 37 h 505"/>
                <a:gd name="T8" fmla="*/ 412 w 1257"/>
                <a:gd name="T9" fmla="*/ 4 h 505"/>
                <a:gd name="T10" fmla="*/ 543 w 1257"/>
                <a:gd name="T11" fmla="*/ 60 h 505"/>
                <a:gd name="T12" fmla="*/ 696 w 1257"/>
                <a:gd name="T13" fmla="*/ 122 h 505"/>
                <a:gd name="T14" fmla="*/ 895 w 1257"/>
                <a:gd name="T15" fmla="*/ 158 h 505"/>
                <a:gd name="T16" fmla="*/ 1096 w 1257"/>
                <a:gd name="T17" fmla="*/ 171 h 505"/>
                <a:gd name="T18" fmla="*/ 1257 w 1257"/>
                <a:gd name="T19" fmla="*/ 175 h 5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57"/>
                <a:gd name="T31" fmla="*/ 0 h 505"/>
                <a:gd name="T32" fmla="*/ 1257 w 1257"/>
                <a:gd name="T33" fmla="*/ 505 h 50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57" h="505">
                  <a:moveTo>
                    <a:pt x="0" y="505"/>
                  </a:moveTo>
                  <a:cubicBezTo>
                    <a:pt x="26" y="449"/>
                    <a:pt x="53" y="393"/>
                    <a:pt x="82" y="336"/>
                  </a:cubicBezTo>
                  <a:cubicBezTo>
                    <a:pt x="111" y="278"/>
                    <a:pt x="141" y="211"/>
                    <a:pt x="175" y="161"/>
                  </a:cubicBezTo>
                  <a:cubicBezTo>
                    <a:pt x="209" y="111"/>
                    <a:pt x="247" y="63"/>
                    <a:pt x="287" y="37"/>
                  </a:cubicBezTo>
                  <a:cubicBezTo>
                    <a:pt x="327" y="11"/>
                    <a:pt x="369" y="0"/>
                    <a:pt x="412" y="4"/>
                  </a:cubicBezTo>
                  <a:cubicBezTo>
                    <a:pt x="455" y="8"/>
                    <a:pt x="496" y="40"/>
                    <a:pt x="543" y="60"/>
                  </a:cubicBezTo>
                  <a:cubicBezTo>
                    <a:pt x="590" y="80"/>
                    <a:pt x="637" y="106"/>
                    <a:pt x="696" y="122"/>
                  </a:cubicBezTo>
                  <a:cubicBezTo>
                    <a:pt x="755" y="138"/>
                    <a:pt x="828" y="150"/>
                    <a:pt x="895" y="158"/>
                  </a:cubicBezTo>
                  <a:cubicBezTo>
                    <a:pt x="962" y="166"/>
                    <a:pt x="1036" y="168"/>
                    <a:pt x="1096" y="171"/>
                  </a:cubicBezTo>
                  <a:cubicBezTo>
                    <a:pt x="1156" y="174"/>
                    <a:pt x="1224" y="174"/>
                    <a:pt x="1257" y="175"/>
                  </a:cubicBezTo>
                </a:path>
              </a:pathLst>
            </a:custGeom>
            <a:noFill/>
            <a:ln w="19050" cmpd="sng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14"/>
            <p:cNvSpPr txBox="1">
              <a:spLocks noChangeArrowheads="1"/>
            </p:cNvSpPr>
            <p:nvPr/>
          </p:nvSpPr>
          <p:spPr bwMode="auto">
            <a:xfrm>
              <a:off x="1945" y="1279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2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Arial" charset="0"/>
                <a:sym typeface="Symbol" pitchFamily="18" charset="2"/>
              </a:endParaRPr>
            </a:p>
          </p:txBody>
        </p:sp>
      </p:grpSp>
      <p:grpSp>
        <p:nvGrpSpPr>
          <p:cNvPr id="66" name="Group 15"/>
          <p:cNvGrpSpPr>
            <a:grpSpLocks/>
          </p:cNvGrpSpPr>
          <p:nvPr/>
        </p:nvGrpSpPr>
        <p:grpSpPr bwMode="auto">
          <a:xfrm>
            <a:off x="1022349" y="1304478"/>
            <a:ext cx="3018491" cy="1428750"/>
            <a:chOff x="644" y="1012"/>
            <a:chExt cx="1592" cy="900"/>
          </a:xfrm>
        </p:grpSpPr>
        <p:sp>
          <p:nvSpPr>
            <p:cNvPr id="67" name="Freeform 16"/>
            <p:cNvSpPr>
              <a:spLocks/>
            </p:cNvSpPr>
            <p:nvPr/>
          </p:nvSpPr>
          <p:spPr bwMode="auto">
            <a:xfrm>
              <a:off x="644" y="1012"/>
              <a:ext cx="1401" cy="900"/>
            </a:xfrm>
            <a:custGeom>
              <a:avLst/>
              <a:gdLst>
                <a:gd name="T0" fmla="*/ 0 w 1256"/>
                <a:gd name="T1" fmla="*/ 652 h 652"/>
                <a:gd name="T2" fmla="*/ 36 w 1256"/>
                <a:gd name="T3" fmla="*/ 505 h 652"/>
                <a:gd name="T4" fmla="*/ 95 w 1256"/>
                <a:gd name="T5" fmla="*/ 300 h 652"/>
                <a:gd name="T6" fmla="*/ 174 w 1256"/>
                <a:gd name="T7" fmla="*/ 142 h 652"/>
                <a:gd name="T8" fmla="*/ 276 w 1256"/>
                <a:gd name="T9" fmla="*/ 30 h 652"/>
                <a:gd name="T10" fmla="*/ 369 w 1256"/>
                <a:gd name="T11" fmla="*/ 1 h 652"/>
                <a:gd name="T12" fmla="*/ 467 w 1256"/>
                <a:gd name="T13" fmla="*/ 26 h 652"/>
                <a:gd name="T14" fmla="*/ 602 w 1256"/>
                <a:gd name="T15" fmla="*/ 78 h 652"/>
                <a:gd name="T16" fmla="*/ 791 w 1256"/>
                <a:gd name="T17" fmla="*/ 139 h 652"/>
                <a:gd name="T18" fmla="*/ 982 w 1256"/>
                <a:gd name="T19" fmla="*/ 176 h 652"/>
                <a:gd name="T20" fmla="*/ 1141 w 1256"/>
                <a:gd name="T21" fmla="*/ 184 h 652"/>
                <a:gd name="T22" fmla="*/ 1256 w 1256"/>
                <a:gd name="T23" fmla="*/ 187 h 65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56"/>
                <a:gd name="T37" fmla="*/ 0 h 652"/>
                <a:gd name="T38" fmla="*/ 1256 w 1256"/>
                <a:gd name="T39" fmla="*/ 652 h 65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56" h="652">
                  <a:moveTo>
                    <a:pt x="0" y="652"/>
                  </a:moveTo>
                  <a:cubicBezTo>
                    <a:pt x="11" y="607"/>
                    <a:pt x="21" y="564"/>
                    <a:pt x="36" y="505"/>
                  </a:cubicBezTo>
                  <a:cubicBezTo>
                    <a:pt x="52" y="446"/>
                    <a:pt x="72" y="360"/>
                    <a:pt x="95" y="300"/>
                  </a:cubicBezTo>
                  <a:cubicBezTo>
                    <a:pt x="118" y="240"/>
                    <a:pt x="144" y="187"/>
                    <a:pt x="174" y="142"/>
                  </a:cubicBezTo>
                  <a:cubicBezTo>
                    <a:pt x="204" y="97"/>
                    <a:pt x="244" y="53"/>
                    <a:pt x="276" y="30"/>
                  </a:cubicBezTo>
                  <a:cubicBezTo>
                    <a:pt x="308" y="7"/>
                    <a:pt x="337" y="2"/>
                    <a:pt x="369" y="1"/>
                  </a:cubicBezTo>
                  <a:cubicBezTo>
                    <a:pt x="401" y="0"/>
                    <a:pt x="428" y="13"/>
                    <a:pt x="467" y="26"/>
                  </a:cubicBezTo>
                  <a:cubicBezTo>
                    <a:pt x="506" y="39"/>
                    <a:pt x="548" y="59"/>
                    <a:pt x="602" y="78"/>
                  </a:cubicBezTo>
                  <a:cubicBezTo>
                    <a:pt x="656" y="96"/>
                    <a:pt x="728" y="122"/>
                    <a:pt x="791" y="139"/>
                  </a:cubicBezTo>
                  <a:cubicBezTo>
                    <a:pt x="855" y="155"/>
                    <a:pt x="924" y="169"/>
                    <a:pt x="982" y="176"/>
                  </a:cubicBezTo>
                  <a:cubicBezTo>
                    <a:pt x="1041" y="183"/>
                    <a:pt x="1095" y="183"/>
                    <a:pt x="1141" y="184"/>
                  </a:cubicBezTo>
                  <a:cubicBezTo>
                    <a:pt x="1187" y="186"/>
                    <a:pt x="1221" y="186"/>
                    <a:pt x="1256" y="187"/>
                  </a:cubicBezTo>
                </a:path>
              </a:pathLst>
            </a:custGeom>
            <a:noFill/>
            <a:ln w="19050" cmpd="sng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17"/>
            <p:cNvSpPr txBox="1">
              <a:spLocks noChangeArrowheads="1"/>
            </p:cNvSpPr>
            <p:nvPr/>
          </p:nvSpPr>
          <p:spPr bwMode="auto">
            <a:xfrm>
              <a:off x="1940" y="1024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Arial" charset="0"/>
                  <a:sym typeface="Symbol" pitchFamily="18" charset="2"/>
                </a:rPr>
                <a:t>3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Arial" charset="0"/>
                <a:sym typeface="Symbol" pitchFamily="18" charset="2"/>
              </a:endParaRPr>
            </a:p>
          </p:txBody>
        </p:sp>
      </p:grpSp>
      <p:sp>
        <p:nvSpPr>
          <p:cNvPr id="69" name="Freeform 18"/>
          <p:cNvSpPr>
            <a:spLocks/>
          </p:cNvSpPr>
          <p:nvPr/>
        </p:nvSpPr>
        <p:spPr bwMode="auto">
          <a:xfrm>
            <a:off x="5364163" y="1201291"/>
            <a:ext cx="2914650" cy="1111250"/>
          </a:xfrm>
          <a:custGeom>
            <a:avLst/>
            <a:gdLst>
              <a:gd name="T0" fmla="*/ 0 w 1836"/>
              <a:gd name="T1" fmla="*/ 700 h 700"/>
              <a:gd name="T2" fmla="*/ 1836 w 1836"/>
              <a:gd name="T3" fmla="*/ 0 h 700"/>
              <a:gd name="T4" fmla="*/ 0 60000 65536"/>
              <a:gd name="T5" fmla="*/ 0 60000 65536"/>
              <a:gd name="T6" fmla="*/ 0 w 1836"/>
              <a:gd name="T7" fmla="*/ 0 h 700"/>
              <a:gd name="T8" fmla="*/ 1836 w 1836"/>
              <a:gd name="T9" fmla="*/ 700 h 7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36" h="700">
                <a:moveTo>
                  <a:pt x="0" y="700"/>
                </a:moveTo>
                <a:lnTo>
                  <a:pt x="1836" y="0"/>
                </a:lnTo>
              </a:path>
            </a:pathLst>
          </a:custGeom>
          <a:noFill/>
          <a:ln w="254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0" name="Group 19"/>
          <p:cNvGrpSpPr>
            <a:grpSpLocks/>
          </p:cNvGrpSpPr>
          <p:nvPr/>
        </p:nvGrpSpPr>
        <p:grpSpPr bwMode="auto">
          <a:xfrm>
            <a:off x="4935538" y="806003"/>
            <a:ext cx="3779837" cy="2247900"/>
            <a:chOff x="3109" y="698"/>
            <a:chExt cx="2381" cy="1416"/>
          </a:xfrm>
        </p:grpSpPr>
        <p:grpSp>
          <p:nvGrpSpPr>
            <p:cNvPr id="71" name="Group 20"/>
            <p:cNvGrpSpPr>
              <a:grpSpLocks/>
            </p:cNvGrpSpPr>
            <p:nvPr/>
          </p:nvGrpSpPr>
          <p:grpSpPr bwMode="auto">
            <a:xfrm>
              <a:off x="3109" y="698"/>
              <a:ext cx="2381" cy="1416"/>
              <a:chOff x="3109" y="698"/>
              <a:chExt cx="2381" cy="1416"/>
            </a:xfrm>
          </p:grpSpPr>
          <p:sp>
            <p:nvSpPr>
              <p:cNvPr id="73" name="Freeform 21"/>
              <p:cNvSpPr>
                <a:spLocks/>
              </p:cNvSpPr>
              <p:nvPr/>
            </p:nvSpPr>
            <p:spPr bwMode="auto">
              <a:xfrm>
                <a:off x="3109" y="1840"/>
                <a:ext cx="2288" cy="2"/>
              </a:xfrm>
              <a:custGeom>
                <a:avLst/>
                <a:gdLst>
                  <a:gd name="T0" fmla="*/ 0 w 2288"/>
                  <a:gd name="T1" fmla="*/ 2 h 2"/>
                  <a:gd name="T2" fmla="*/ 2288 w 2288"/>
                  <a:gd name="T3" fmla="*/ 0 h 2"/>
                  <a:gd name="T4" fmla="*/ 0 60000 65536"/>
                  <a:gd name="T5" fmla="*/ 0 60000 65536"/>
                  <a:gd name="T6" fmla="*/ 0 w 2288"/>
                  <a:gd name="T7" fmla="*/ 0 h 2"/>
                  <a:gd name="T8" fmla="*/ 2288 w 2288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88" h="2">
                    <a:moveTo>
                      <a:pt x="0" y="2"/>
                    </a:moveTo>
                    <a:lnTo>
                      <a:pt x="2288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miter lim="800000"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4" name="Line 22"/>
              <p:cNvSpPr>
                <a:spLocks noChangeShapeType="1"/>
              </p:cNvSpPr>
              <p:nvPr/>
            </p:nvSpPr>
            <p:spPr bwMode="auto">
              <a:xfrm flipV="1">
                <a:off x="3384" y="846"/>
                <a:ext cx="0" cy="11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5" name="Text Box 23"/>
              <p:cNvSpPr txBox="1">
                <a:spLocks noChangeArrowheads="1"/>
              </p:cNvSpPr>
              <p:nvPr/>
            </p:nvSpPr>
            <p:spPr bwMode="auto">
              <a:xfrm>
                <a:off x="5247" y="1826"/>
                <a:ext cx="24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i="1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</a:p>
            </p:txBody>
          </p:sp>
          <p:sp>
            <p:nvSpPr>
              <p:cNvPr id="76" name="Text Box 24"/>
              <p:cNvSpPr txBox="1">
                <a:spLocks noChangeArrowheads="1"/>
              </p:cNvSpPr>
              <p:nvPr/>
            </p:nvSpPr>
            <p:spPr bwMode="auto">
              <a:xfrm>
                <a:off x="3413" y="698"/>
                <a:ext cx="24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i="1" dirty="0">
                    <a:cs typeface="Times New Roman" panose="02020603050405020304" pitchFamily="18" charset="0"/>
                    <a:sym typeface="Symbol" pitchFamily="18" charset="2"/>
                  </a:rPr>
                  <a:t></a:t>
                </a:r>
              </a:p>
            </p:txBody>
          </p:sp>
        </p:grpSp>
        <p:sp>
          <p:nvSpPr>
            <p:cNvPr id="72" name="Text Box 25"/>
            <p:cNvSpPr txBox="1">
              <a:spLocks noChangeArrowheads="1"/>
            </p:cNvSpPr>
            <p:nvPr/>
          </p:nvSpPr>
          <p:spPr bwMode="auto">
            <a:xfrm>
              <a:off x="3175" y="1817"/>
              <a:ext cx="24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</p:grpSp>
      <p:grpSp>
        <p:nvGrpSpPr>
          <p:cNvPr id="77" name="Group 26"/>
          <p:cNvGrpSpPr>
            <a:grpSpLocks/>
          </p:cNvGrpSpPr>
          <p:nvPr/>
        </p:nvGrpSpPr>
        <p:grpSpPr bwMode="auto">
          <a:xfrm>
            <a:off x="4946650" y="2250628"/>
            <a:ext cx="425450" cy="366713"/>
            <a:chOff x="3116" y="1608"/>
            <a:chExt cx="268" cy="231"/>
          </a:xfrm>
        </p:grpSpPr>
        <p:sp>
          <p:nvSpPr>
            <p:cNvPr id="78" name="Text Box 27"/>
            <p:cNvSpPr txBox="1">
              <a:spLocks noChangeArrowheads="1"/>
            </p:cNvSpPr>
            <p:nvPr/>
          </p:nvSpPr>
          <p:spPr bwMode="auto">
            <a:xfrm>
              <a:off x="3116" y="1608"/>
              <a:ext cx="24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A50021"/>
                  </a:solidFill>
                  <a:cs typeface="Times New Roman" panose="02020603050405020304" pitchFamily="18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79" name="Line 28"/>
            <p:cNvSpPr>
              <a:spLocks noChangeShapeType="1"/>
            </p:cNvSpPr>
            <p:nvPr/>
          </p:nvSpPr>
          <p:spPr bwMode="auto">
            <a:xfrm>
              <a:off x="3299" y="1640"/>
              <a:ext cx="0" cy="1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29"/>
            <p:cNvSpPr>
              <a:spLocks noChangeShapeType="1"/>
            </p:cNvSpPr>
            <p:nvPr/>
          </p:nvSpPr>
          <p:spPr bwMode="auto">
            <a:xfrm>
              <a:off x="3242" y="1640"/>
              <a:ext cx="142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Group 30"/>
          <p:cNvGrpSpPr>
            <a:grpSpLocks/>
          </p:cNvGrpSpPr>
          <p:nvPr/>
        </p:nvGrpSpPr>
        <p:grpSpPr bwMode="auto">
          <a:xfrm>
            <a:off x="5799138" y="1604516"/>
            <a:ext cx="1265237" cy="552450"/>
            <a:chOff x="3653" y="1201"/>
            <a:chExt cx="797" cy="348"/>
          </a:xfrm>
        </p:grpSpPr>
        <p:sp>
          <p:nvSpPr>
            <p:cNvPr id="82" name="Oval 31"/>
            <p:cNvSpPr>
              <a:spLocks noChangeAspect="1" noChangeArrowheads="1"/>
            </p:cNvSpPr>
            <p:nvPr/>
          </p:nvSpPr>
          <p:spPr bwMode="auto">
            <a:xfrm>
              <a:off x="3653" y="1465"/>
              <a:ext cx="86" cy="8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Oval 32"/>
            <p:cNvSpPr>
              <a:spLocks noChangeAspect="1" noChangeArrowheads="1"/>
            </p:cNvSpPr>
            <p:nvPr/>
          </p:nvSpPr>
          <p:spPr bwMode="auto">
            <a:xfrm>
              <a:off x="3994" y="1364"/>
              <a:ext cx="86" cy="8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Oval 33"/>
            <p:cNvSpPr>
              <a:spLocks noChangeAspect="1" noChangeArrowheads="1"/>
            </p:cNvSpPr>
            <p:nvPr/>
          </p:nvSpPr>
          <p:spPr bwMode="auto">
            <a:xfrm>
              <a:off x="4364" y="1201"/>
              <a:ext cx="86" cy="8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5" name="Text Box 34"/>
          <p:cNvSpPr txBox="1">
            <a:spLocks noChangeArrowheads="1"/>
          </p:cNvSpPr>
          <p:nvPr/>
        </p:nvSpPr>
        <p:spPr bwMode="auto">
          <a:xfrm>
            <a:off x="459633" y="3341571"/>
            <a:ext cx="360034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库仑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公式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：（</a:t>
            </a:r>
            <a:r>
              <a:rPr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1776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</a:t>
            </a:r>
          </a:p>
        </p:txBody>
      </p:sp>
      <p:grpSp>
        <p:nvGrpSpPr>
          <p:cNvPr id="86" name="Group 35"/>
          <p:cNvGrpSpPr>
            <a:grpSpLocks/>
          </p:cNvGrpSpPr>
          <p:nvPr/>
        </p:nvGrpSpPr>
        <p:grpSpPr bwMode="auto">
          <a:xfrm>
            <a:off x="608013" y="1847403"/>
            <a:ext cx="969963" cy="366713"/>
            <a:chOff x="383" y="1354"/>
            <a:chExt cx="611" cy="231"/>
          </a:xfrm>
        </p:grpSpPr>
        <p:sp>
          <p:nvSpPr>
            <p:cNvPr id="87" name="Line 37"/>
            <p:cNvSpPr>
              <a:spLocks noChangeShapeType="1"/>
            </p:cNvSpPr>
            <p:nvPr/>
          </p:nvSpPr>
          <p:spPr bwMode="auto">
            <a:xfrm flipH="1">
              <a:off x="636" y="1488"/>
              <a:ext cx="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 i="1">
                <a:cs typeface="Times New Roman" panose="02020603050405020304" pitchFamily="18" charset="0"/>
              </a:endParaRPr>
            </a:p>
          </p:txBody>
        </p:sp>
        <p:sp>
          <p:nvSpPr>
            <p:cNvPr id="88" name="Text Box 38"/>
            <p:cNvSpPr txBox="1">
              <a:spLocks noChangeArrowheads="1"/>
            </p:cNvSpPr>
            <p:nvPr/>
          </p:nvSpPr>
          <p:spPr bwMode="auto">
            <a:xfrm>
              <a:off x="383" y="1354"/>
              <a:ext cx="2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1800" b="1" baseline="-25000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f1</a:t>
              </a:r>
              <a:endParaRPr lang="en-US" altLang="zh-CN" sz="1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89" name="Oval 36"/>
            <p:cNvSpPr>
              <a:spLocks noChangeAspect="1" noChangeArrowheads="1"/>
            </p:cNvSpPr>
            <p:nvPr/>
          </p:nvSpPr>
          <p:spPr bwMode="auto">
            <a:xfrm>
              <a:off x="924" y="1455"/>
              <a:ext cx="70" cy="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b="1" i="1">
                <a:cs typeface="Times New Roman" panose="02020603050405020304" pitchFamily="18" charset="0"/>
              </a:endParaRPr>
            </a:p>
          </p:txBody>
        </p:sp>
      </p:grpSp>
      <p:grpSp>
        <p:nvGrpSpPr>
          <p:cNvPr id="90" name="Group 39"/>
          <p:cNvGrpSpPr>
            <a:grpSpLocks/>
          </p:cNvGrpSpPr>
          <p:nvPr/>
        </p:nvGrpSpPr>
        <p:grpSpPr bwMode="auto">
          <a:xfrm>
            <a:off x="595313" y="1483866"/>
            <a:ext cx="1104900" cy="366712"/>
            <a:chOff x="375" y="1125"/>
            <a:chExt cx="696" cy="231"/>
          </a:xfrm>
        </p:grpSpPr>
        <p:sp>
          <p:nvSpPr>
            <p:cNvPr id="91" name="Line 41"/>
            <p:cNvSpPr>
              <a:spLocks noChangeShapeType="1"/>
            </p:cNvSpPr>
            <p:nvPr/>
          </p:nvSpPr>
          <p:spPr bwMode="auto">
            <a:xfrm flipH="1">
              <a:off x="642" y="1229"/>
              <a:ext cx="3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 i="1">
                <a:cs typeface="Times New Roman" panose="02020603050405020304" pitchFamily="18" charset="0"/>
              </a:endParaRPr>
            </a:p>
          </p:txBody>
        </p:sp>
        <p:sp>
          <p:nvSpPr>
            <p:cNvPr id="92" name="Text Box 42"/>
            <p:cNvSpPr txBox="1">
              <a:spLocks noChangeArrowheads="1"/>
            </p:cNvSpPr>
            <p:nvPr/>
          </p:nvSpPr>
          <p:spPr bwMode="auto">
            <a:xfrm>
              <a:off x="375" y="1125"/>
              <a:ext cx="2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1800" b="1" baseline="-25000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f2</a:t>
              </a:r>
              <a:endParaRPr lang="en-US" altLang="zh-CN" sz="1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93" name="Oval 40"/>
            <p:cNvSpPr>
              <a:spLocks noChangeAspect="1" noChangeArrowheads="1"/>
            </p:cNvSpPr>
            <p:nvPr/>
          </p:nvSpPr>
          <p:spPr bwMode="auto">
            <a:xfrm>
              <a:off x="1001" y="1193"/>
              <a:ext cx="70" cy="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b="1" i="1">
                <a:cs typeface="Times New Roman" panose="02020603050405020304" pitchFamily="18" charset="0"/>
              </a:endParaRPr>
            </a:p>
          </p:txBody>
        </p:sp>
      </p:grpSp>
      <p:grpSp>
        <p:nvGrpSpPr>
          <p:cNvPr id="94" name="Group 43"/>
          <p:cNvGrpSpPr>
            <a:grpSpLocks/>
          </p:cNvGrpSpPr>
          <p:nvPr/>
        </p:nvGrpSpPr>
        <p:grpSpPr bwMode="auto">
          <a:xfrm>
            <a:off x="581025" y="1086991"/>
            <a:ext cx="1279527" cy="366712"/>
            <a:chOff x="366" y="875"/>
            <a:chExt cx="806" cy="231"/>
          </a:xfrm>
        </p:grpSpPr>
        <p:sp>
          <p:nvSpPr>
            <p:cNvPr id="95" name="Line 45"/>
            <p:cNvSpPr>
              <a:spLocks noChangeShapeType="1"/>
            </p:cNvSpPr>
            <p:nvPr/>
          </p:nvSpPr>
          <p:spPr bwMode="auto">
            <a:xfrm flipH="1">
              <a:off x="644" y="1009"/>
              <a:ext cx="4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 i="1">
                <a:cs typeface="Times New Roman" panose="02020603050405020304" pitchFamily="18" charset="0"/>
              </a:endParaRPr>
            </a:p>
          </p:txBody>
        </p:sp>
        <p:sp>
          <p:nvSpPr>
            <p:cNvPr id="96" name="Text Box 46"/>
            <p:cNvSpPr txBox="1">
              <a:spLocks noChangeArrowheads="1"/>
            </p:cNvSpPr>
            <p:nvPr/>
          </p:nvSpPr>
          <p:spPr bwMode="auto">
            <a:xfrm>
              <a:off x="366" y="875"/>
              <a:ext cx="2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1800" b="1" baseline="-25000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f3</a:t>
              </a:r>
              <a:endParaRPr lang="en-US" altLang="zh-CN" sz="1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97" name="Oval 44"/>
            <p:cNvSpPr>
              <a:spLocks noChangeAspect="1" noChangeArrowheads="1"/>
            </p:cNvSpPr>
            <p:nvPr/>
          </p:nvSpPr>
          <p:spPr bwMode="auto">
            <a:xfrm>
              <a:off x="1102" y="975"/>
              <a:ext cx="70" cy="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b="1" i="1">
                <a:cs typeface="Times New Roman" panose="02020603050405020304" pitchFamily="18" charset="0"/>
              </a:endParaRPr>
            </a:p>
          </p:txBody>
        </p:sp>
      </p:grpSp>
      <p:grpSp>
        <p:nvGrpSpPr>
          <p:cNvPr id="98" name="Group 47"/>
          <p:cNvGrpSpPr>
            <a:grpSpLocks/>
          </p:cNvGrpSpPr>
          <p:nvPr/>
        </p:nvGrpSpPr>
        <p:grpSpPr bwMode="auto">
          <a:xfrm>
            <a:off x="7269163" y="1274316"/>
            <a:ext cx="904875" cy="369887"/>
            <a:chOff x="4579" y="993"/>
            <a:chExt cx="570" cy="233"/>
          </a:xfrm>
        </p:grpSpPr>
        <p:sp>
          <p:nvSpPr>
            <p:cNvPr id="99" name="Line 48"/>
            <p:cNvSpPr>
              <a:spLocks noChangeShapeType="1"/>
            </p:cNvSpPr>
            <p:nvPr/>
          </p:nvSpPr>
          <p:spPr bwMode="auto">
            <a:xfrm>
              <a:off x="4579" y="1192"/>
              <a:ext cx="5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Box 49"/>
            <p:cNvSpPr txBox="1">
              <a:spLocks noChangeArrowheads="1"/>
            </p:cNvSpPr>
            <p:nvPr/>
          </p:nvSpPr>
          <p:spPr bwMode="auto">
            <a:xfrm>
              <a:off x="4878" y="993"/>
              <a:ext cx="24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 i="1" dirty="0" smtClean="0">
                  <a:solidFill>
                    <a:srgbClr val="A50021"/>
                  </a:solidFill>
                  <a:latin typeface="Symbol" panose="05050102010706020507" pitchFamily="18" charset="2"/>
                  <a:ea typeface="+mn-ea"/>
                  <a:cs typeface="Times New Roman" panose="02020603050405020304" pitchFamily="18" charset="0"/>
                  <a:sym typeface="Symbol"/>
                </a:rPr>
                <a:t></a:t>
              </a:r>
              <a:endParaRPr lang="zh-CN" altLang="en-US" sz="1800" b="1" i="1" dirty="0">
                <a:solidFill>
                  <a:srgbClr val="A50021"/>
                </a:solidFill>
                <a:latin typeface="Symbol" panose="05050102010706020507" pitchFamily="18" charset="2"/>
                <a:ea typeface="+mn-ea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01" name="Freeform 50"/>
            <p:cNvSpPr>
              <a:spLocks/>
            </p:cNvSpPr>
            <p:nvPr/>
          </p:nvSpPr>
          <p:spPr bwMode="auto">
            <a:xfrm>
              <a:off x="4813" y="1100"/>
              <a:ext cx="41" cy="94"/>
            </a:xfrm>
            <a:custGeom>
              <a:avLst/>
              <a:gdLst>
                <a:gd name="T0" fmla="*/ 0 w 41"/>
                <a:gd name="T1" fmla="*/ 0 h 94"/>
                <a:gd name="T2" fmla="*/ 31 w 41"/>
                <a:gd name="T3" fmla="*/ 41 h 94"/>
                <a:gd name="T4" fmla="*/ 41 w 41"/>
                <a:gd name="T5" fmla="*/ 94 h 94"/>
                <a:gd name="T6" fmla="*/ 0 60000 65536"/>
                <a:gd name="T7" fmla="*/ 0 60000 65536"/>
                <a:gd name="T8" fmla="*/ 0 60000 65536"/>
                <a:gd name="T9" fmla="*/ 0 w 41"/>
                <a:gd name="T10" fmla="*/ 0 h 94"/>
                <a:gd name="T11" fmla="*/ 41 w 41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94">
                  <a:moveTo>
                    <a:pt x="0" y="0"/>
                  </a:moveTo>
                  <a:cubicBezTo>
                    <a:pt x="12" y="12"/>
                    <a:pt x="24" y="25"/>
                    <a:pt x="31" y="41"/>
                  </a:cubicBezTo>
                  <a:cubicBezTo>
                    <a:pt x="38" y="57"/>
                    <a:pt x="39" y="75"/>
                    <a:pt x="41" y="9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" name="AutoShape 51"/>
          <p:cNvSpPr>
            <a:spLocks noChangeArrowheads="1"/>
          </p:cNvSpPr>
          <p:nvPr/>
        </p:nvSpPr>
        <p:spPr bwMode="auto">
          <a:xfrm>
            <a:off x="4276543" y="3409834"/>
            <a:ext cx="4461057" cy="253346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tabLst>
                <a:tab pos="1258888" algn="l"/>
              </a:tabLs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 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抗剪强度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tabLst>
                <a:tab pos="1258888" algn="l"/>
              </a:tabLst>
            </a:pP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摩擦强度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正比于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endParaRPr lang="en-US" altLang="zh-CN" sz="2400" b="1" i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tabLst>
                <a:tab pos="1258888" algn="l"/>
              </a:tabLst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内摩擦角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tabLst>
                <a:tab pos="1258888" algn="l"/>
              </a:tabLst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黏聚强度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与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无关，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tabLst>
                <a:tab pos="1258888" algn="l"/>
              </a:tabLs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对于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无黏性土，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＝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103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358801"/>
              </p:ext>
            </p:extLst>
          </p:nvPr>
        </p:nvGraphicFramePr>
        <p:xfrm>
          <a:off x="603193" y="4143375"/>
          <a:ext cx="2979738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4242" name="公式" r:id="rId4" imgW="939600" imgH="215640" progId="Equation.3">
                  <p:embed/>
                </p:oleObj>
              </mc:Choice>
              <mc:Fallback>
                <p:oleObj name="公式" r:id="rId4" imgW="939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193" y="4143375"/>
                        <a:ext cx="2979738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85" grpId="0"/>
      <p:bldP spid="10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  <a:cs typeface="Times New Roman" panose="02020603050405020304" pitchFamily="18" charset="0"/>
              </a:rPr>
              <a:pPr algn="r"/>
              <a:t>24</a:t>
            </a:fld>
            <a:endParaRPr lang="zh-CN" altLang="en-US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825750" y="5854700"/>
            <a:ext cx="44132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土的抗剪强度指标</a:t>
            </a:r>
            <a:endParaRPr lang="en-US" altLang="zh-CN" sz="4000" b="1">
              <a:solidFill>
                <a:srgbClr val="000066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9526" y="0"/>
            <a:ext cx="58680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</a:rPr>
              <a:t>直剪试验与库伦公式</a:t>
            </a:r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647700" y="839788"/>
            <a:ext cx="7772400" cy="1089376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444500" indent="-44450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决定土的抗剪强度的两个指标，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称为土的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抗剪强度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指标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020763" y="2290763"/>
            <a:ext cx="2776537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A50021"/>
              </a:buClr>
              <a:buSzPct val="135000"/>
              <a:buFont typeface="Wingdings" panose="05000000000000000000" pitchFamily="2" charset="2"/>
              <a:buChar char="F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总应力公式</a:t>
            </a:r>
            <a:endParaRPr lang="zh-CN" altLang="en-US" sz="28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156075" y="2196212"/>
            <a:ext cx="4251325" cy="1107880"/>
            <a:chOff x="4156075" y="2196212"/>
            <a:chExt cx="4251325" cy="1107880"/>
          </a:xfrm>
        </p:grpSpPr>
        <p:graphicFrame>
          <p:nvGraphicFramePr>
            <p:cNvPr id="1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8298602"/>
                </p:ext>
              </p:extLst>
            </p:nvPr>
          </p:nvGraphicFramePr>
          <p:xfrm>
            <a:off x="4537075" y="2196212"/>
            <a:ext cx="2473325" cy="5676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584" name="公式" r:id="rId4" imgW="939600" imgH="215640" progId="Equation.3">
                    <p:embed/>
                  </p:oleObj>
                </mc:Choice>
                <mc:Fallback>
                  <p:oleObj name="公式" r:id="rId4" imgW="9396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7075" y="2196212"/>
                          <a:ext cx="2473325" cy="5676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4156075" y="2214563"/>
              <a:ext cx="4251325" cy="1089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65125" indent="-3651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Clr>
                  <a:srgbClr val="A50021"/>
                </a:buClr>
                <a:buFontTx/>
                <a:buChar char="•"/>
              </a:pP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</a:p>
            <a:p>
              <a:pPr eaLnBrk="1" hangingPunct="1">
                <a:lnSpc>
                  <a:spcPct val="120000"/>
                </a:lnSpc>
                <a:buClr>
                  <a:srgbClr val="A50021"/>
                </a:buClr>
                <a:buFontTx/>
                <a:buChar char="•"/>
              </a:pP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 </a:t>
              </a: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和</a:t>
              </a:r>
              <a:r>
                <a:rPr lang="zh-CN" altLang="en-US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</a:t>
              </a:r>
              <a:r>
                <a:rPr lang="zh-CN" altLang="en-US" sz="2400" b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总</a:t>
              </a:r>
              <a:r>
                <a:rPr lang="zh-CN" altLang="en-US" sz="24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应力抗剪强度</a:t>
              </a:r>
              <a:r>
                <a:rPr lang="zh-CN" altLang="en-US" sz="2400" b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指标</a:t>
              </a:r>
              <a:endPara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995364" y="3903663"/>
            <a:ext cx="3490912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A50021"/>
              </a:buClr>
              <a:buSzPct val="135000"/>
              <a:buFont typeface="Wingdings" panose="05000000000000000000" pitchFamily="2" charset="2"/>
              <a:buChar char="F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有效应力公式</a:t>
            </a:r>
            <a:endParaRPr lang="zh-CN" altLang="en-US" sz="28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168775" y="3922713"/>
            <a:ext cx="4543425" cy="1108579"/>
            <a:chOff x="4168775" y="3922713"/>
            <a:chExt cx="4543425" cy="1108579"/>
          </a:xfrm>
        </p:grpSpPr>
        <p:sp>
          <p:nvSpPr>
            <p:cNvPr id="21" name="Text Box 5"/>
            <p:cNvSpPr txBox="1">
              <a:spLocks noChangeArrowheads="1"/>
            </p:cNvSpPr>
            <p:nvPr/>
          </p:nvSpPr>
          <p:spPr bwMode="auto">
            <a:xfrm>
              <a:off x="4168775" y="3941763"/>
              <a:ext cx="4543425" cy="1089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65125" indent="-3651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Clr>
                  <a:srgbClr val="A50021"/>
                </a:buClr>
                <a:buFontTx/>
                <a:buChar char="•"/>
              </a:pP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</a:p>
            <a:p>
              <a:pPr eaLnBrk="1" hangingPunct="1">
                <a:lnSpc>
                  <a:spcPct val="120000"/>
                </a:lnSpc>
                <a:buClr>
                  <a:srgbClr val="A50021"/>
                </a:buClr>
                <a:buFontTx/>
                <a:buChar char="•"/>
              </a:pP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 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</a:t>
              </a: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和</a:t>
              </a:r>
              <a:r>
                <a:rPr lang="zh-CN" altLang="en-US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</a:t>
              </a: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</a:t>
              </a:r>
              <a:r>
                <a:rPr lang="zh-CN" altLang="en-US" sz="2400" b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有效应力</a:t>
              </a:r>
              <a:r>
                <a:rPr lang="zh-CN" altLang="en-US" sz="24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抗剪强度</a:t>
              </a:r>
              <a:r>
                <a:rPr lang="zh-CN" altLang="en-US" sz="2400" b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指标</a:t>
              </a:r>
              <a:endPara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graphicFrame>
          <p:nvGraphicFramePr>
            <p:cNvPr id="2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5948469"/>
                </p:ext>
              </p:extLst>
            </p:nvPr>
          </p:nvGraphicFramePr>
          <p:xfrm>
            <a:off x="4398963" y="3922713"/>
            <a:ext cx="2774950" cy="568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585" name="公式" r:id="rId6" imgW="1054080" imgH="215640" progId="Equation.3">
                    <p:embed/>
                  </p:oleObj>
                </mc:Choice>
                <mc:Fallback>
                  <p:oleObj name="公式" r:id="rId6" imgW="10540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8963" y="3922713"/>
                          <a:ext cx="2774950" cy="568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324225" y="5889625"/>
            <a:ext cx="2968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摩 擦 强 度</a:t>
            </a:r>
            <a:endParaRPr lang="en-US" altLang="zh-CN" sz="4000" b="1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-9526" y="0"/>
            <a:ext cx="58680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的抗剪强度机理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396875" y="766763"/>
            <a:ext cx="8069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摩擦强度：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决定于剪切面上的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正应力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内摩擦角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zh-CN" altLang="en-US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606698" y="1919288"/>
            <a:ext cx="4653381" cy="301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是由于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颗粒之间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矿物</a:t>
            </a:r>
            <a:r>
              <a:rPr lang="zh-CN" altLang="zh-CN" sz="2400" b="1" dirty="0">
                <a:solidFill>
                  <a:srgbClr val="000066"/>
                </a:solidFill>
                <a:ea typeface="幼圆" pitchFamily="49" charset="-122"/>
              </a:rPr>
              <a:t>接触面粗糙不平所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引起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zh-CN" sz="2400" b="1" dirty="0">
                <a:solidFill>
                  <a:srgbClr val="000066"/>
                </a:solidFill>
                <a:ea typeface="幼圆" pitchFamily="49" charset="-122"/>
              </a:rPr>
              <a:t>对于给定的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矿物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，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颗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粒</a:t>
            </a:r>
            <a:r>
              <a:rPr lang="zh-CN" altLang="zh-CN" sz="2400" b="1" dirty="0">
                <a:solidFill>
                  <a:srgbClr val="000066"/>
                </a:solidFill>
                <a:ea typeface="幼圆" pitchFamily="49" charset="-122"/>
              </a:rPr>
              <a:t>间的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滑动摩擦角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sym typeface="Symbol"/>
              </a:rPr>
              <a:t>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的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值</a:t>
            </a:r>
            <a:r>
              <a:rPr lang="zh-CN" altLang="zh-CN" sz="2400" b="1" dirty="0">
                <a:solidFill>
                  <a:srgbClr val="000066"/>
                </a:solidFill>
                <a:ea typeface="幼圆" pitchFamily="49" charset="-122"/>
              </a:rPr>
              <a:t>基本为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常数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例如，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饱和石英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sym typeface="Symbol"/>
              </a:rPr>
              <a:t>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en-US" altLang="zh-CN" sz="2400" b="1" i="1" baseline="-25000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=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22~24.5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/>
              </a:rPr>
              <a:t>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15" name="Group 30"/>
          <p:cNvGrpSpPr>
            <a:grpSpLocks/>
          </p:cNvGrpSpPr>
          <p:nvPr/>
        </p:nvGrpSpPr>
        <p:grpSpPr bwMode="auto">
          <a:xfrm>
            <a:off x="492125" y="1755775"/>
            <a:ext cx="2220913" cy="3240088"/>
            <a:chOff x="310" y="1106"/>
            <a:chExt cx="1399" cy="2041"/>
          </a:xfrm>
        </p:grpSpPr>
        <p:sp>
          <p:nvSpPr>
            <p:cNvPr id="16" name="Rectangle 31"/>
            <p:cNvSpPr>
              <a:spLocks noChangeArrowheads="1"/>
            </p:cNvSpPr>
            <p:nvPr/>
          </p:nvSpPr>
          <p:spPr bwMode="auto">
            <a:xfrm>
              <a:off x="310" y="1106"/>
              <a:ext cx="1377" cy="2041"/>
            </a:xfrm>
            <a:prstGeom prst="rect">
              <a:avLst/>
            </a:prstGeom>
            <a:noFill/>
            <a:ln w="38100" cmpd="dbl">
              <a:solidFill>
                <a:srgbClr val="00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32"/>
            <p:cNvSpPr txBox="1">
              <a:spLocks noChangeArrowheads="1"/>
            </p:cNvSpPr>
            <p:nvPr/>
          </p:nvSpPr>
          <p:spPr bwMode="auto">
            <a:xfrm>
              <a:off x="383" y="2042"/>
              <a:ext cx="1326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 typeface="Wingdings 2" pitchFamily="18" charset="2"/>
                <a:buChar char="³"/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 滑动摩擦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 typeface="Wingdings 2" pitchFamily="18" charset="2"/>
                <a:buChar char="³"/>
              </a:pPr>
              <a:endParaRPr lang="zh-CN" altLang="en-US" sz="2400" b="1">
                <a:solidFill>
                  <a:srgbClr val="000066"/>
                </a:solidFill>
                <a:ea typeface="幼圆" pitchFamily="49" charset="-122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 typeface="Wingdings 2" pitchFamily="18" charset="2"/>
                <a:buChar char="³"/>
              </a:pPr>
              <a:endParaRPr lang="zh-CN" altLang="en-US" sz="2400" b="1">
                <a:solidFill>
                  <a:srgbClr val="000066"/>
                </a:solidFill>
                <a:ea typeface="幼圆" pitchFamily="49" charset="-122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 typeface="Wingdings 2" pitchFamily="18" charset="2"/>
                <a:buChar char="³"/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 咬合摩擦 </a:t>
              </a:r>
            </a:p>
          </p:txBody>
        </p:sp>
        <p:sp>
          <p:nvSpPr>
            <p:cNvPr id="19" name="Text Box 33"/>
            <p:cNvSpPr txBox="1">
              <a:spLocks noChangeArrowheads="1"/>
            </p:cNvSpPr>
            <p:nvPr/>
          </p:nvSpPr>
          <p:spPr bwMode="auto">
            <a:xfrm>
              <a:off x="376" y="1120"/>
              <a:ext cx="1291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包括如下两个组成部分 ：</a:t>
              </a:r>
            </a:p>
          </p:txBody>
        </p:sp>
      </p:grpSp>
      <p:sp>
        <p:nvSpPr>
          <p:cNvPr id="20" name="Text Box 34"/>
          <p:cNvSpPr txBox="1">
            <a:spLocks noChangeArrowheads="1"/>
          </p:cNvSpPr>
          <p:nvPr/>
        </p:nvSpPr>
        <p:spPr bwMode="auto">
          <a:xfrm>
            <a:off x="517525" y="3230563"/>
            <a:ext cx="2105025" cy="4730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 2" pitchFamily="18" charset="2"/>
              <a:buChar char="³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 滑动摩擦</a:t>
            </a:r>
          </a:p>
        </p:txBody>
      </p:sp>
      <p:sp>
        <p:nvSpPr>
          <p:cNvPr id="21" name="AutoShape 17"/>
          <p:cNvSpPr>
            <a:spLocks noChangeArrowheads="1"/>
          </p:cNvSpPr>
          <p:nvPr/>
        </p:nvSpPr>
        <p:spPr bwMode="auto">
          <a:xfrm>
            <a:off x="2855913" y="3265488"/>
            <a:ext cx="442912" cy="350837"/>
          </a:xfrm>
          <a:prstGeom prst="homePlate">
            <a:avLst>
              <a:gd name="adj" fmla="val 31561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5" name="Text Box 65"/>
          <p:cNvSpPr txBox="1">
            <a:spLocks noChangeArrowheads="1"/>
          </p:cNvSpPr>
          <p:nvPr/>
        </p:nvSpPr>
        <p:spPr bwMode="auto">
          <a:xfrm>
            <a:off x="3324225" y="5889625"/>
            <a:ext cx="2968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摩 擦 强 度</a:t>
            </a:r>
            <a:endParaRPr lang="en-US" altLang="zh-CN" sz="4000" b="1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66" name="Text Box 7"/>
          <p:cNvSpPr txBox="1">
            <a:spLocks noChangeArrowheads="1"/>
          </p:cNvSpPr>
          <p:nvPr/>
        </p:nvSpPr>
        <p:spPr bwMode="auto">
          <a:xfrm>
            <a:off x="-9526" y="0"/>
            <a:ext cx="58680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的抗剪强度机理</a:t>
            </a:r>
          </a:p>
        </p:txBody>
      </p:sp>
      <p:sp>
        <p:nvSpPr>
          <p:cNvPr id="67" name="Text Box 3"/>
          <p:cNvSpPr txBox="1">
            <a:spLocks noChangeArrowheads="1"/>
          </p:cNvSpPr>
          <p:nvPr/>
        </p:nvSpPr>
        <p:spPr bwMode="auto">
          <a:xfrm>
            <a:off x="396875" y="766763"/>
            <a:ext cx="8069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 摩擦强度：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决定于剪切面上的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正应力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</a:rPr>
              <a:t>σ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内摩擦角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sym typeface="Symbol"/>
              </a:rPr>
              <a:t></a:t>
            </a:r>
            <a:endParaRPr lang="zh-CN" altLang="en-US" sz="2400" b="1" i="1" dirty="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68" name="Group 4"/>
          <p:cNvGrpSpPr>
            <a:grpSpLocks/>
          </p:cNvGrpSpPr>
          <p:nvPr/>
        </p:nvGrpSpPr>
        <p:grpSpPr bwMode="auto">
          <a:xfrm>
            <a:off x="492125" y="1755775"/>
            <a:ext cx="2220913" cy="3240088"/>
            <a:chOff x="310" y="1106"/>
            <a:chExt cx="1399" cy="2041"/>
          </a:xfrm>
        </p:grpSpPr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310" y="1106"/>
              <a:ext cx="1377" cy="2041"/>
            </a:xfrm>
            <a:prstGeom prst="rect">
              <a:avLst/>
            </a:prstGeom>
            <a:noFill/>
            <a:ln w="38100" cmpd="dbl">
              <a:solidFill>
                <a:srgbClr val="00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383" y="2042"/>
              <a:ext cx="1326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 typeface="Wingdings 2" pitchFamily="18" charset="2"/>
                <a:buChar char="³"/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 滑动摩擦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 typeface="Wingdings 2" pitchFamily="18" charset="2"/>
                <a:buChar char="³"/>
              </a:pPr>
              <a:endParaRPr lang="zh-CN" altLang="en-US" sz="2400" b="1">
                <a:solidFill>
                  <a:srgbClr val="000066"/>
                </a:solidFill>
                <a:ea typeface="幼圆" pitchFamily="49" charset="-122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 typeface="Wingdings 2" pitchFamily="18" charset="2"/>
                <a:buChar char="³"/>
              </a:pPr>
              <a:endParaRPr lang="zh-CN" altLang="en-US" sz="2400" b="1">
                <a:solidFill>
                  <a:srgbClr val="000066"/>
                </a:solidFill>
                <a:ea typeface="幼圆" pitchFamily="49" charset="-122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Font typeface="Wingdings 2" pitchFamily="18" charset="2"/>
                <a:buChar char="³"/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  咬合摩擦 </a:t>
              </a:r>
            </a:p>
          </p:txBody>
        </p:sp>
        <p:sp>
          <p:nvSpPr>
            <p:cNvPr id="71" name="Text Box 7"/>
            <p:cNvSpPr txBox="1">
              <a:spLocks noChangeArrowheads="1"/>
            </p:cNvSpPr>
            <p:nvPr/>
          </p:nvSpPr>
          <p:spPr bwMode="auto">
            <a:xfrm>
              <a:off x="376" y="1120"/>
              <a:ext cx="1291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包括如下两个组成部分 ：</a:t>
              </a:r>
            </a:p>
          </p:txBody>
        </p:sp>
      </p:grpSp>
      <p:sp>
        <p:nvSpPr>
          <p:cNvPr id="72" name="Text Box 10"/>
          <p:cNvSpPr txBox="1">
            <a:spLocks noChangeArrowheads="1"/>
          </p:cNvSpPr>
          <p:nvPr/>
        </p:nvSpPr>
        <p:spPr bwMode="auto">
          <a:xfrm>
            <a:off x="3355975" y="3335338"/>
            <a:ext cx="5407025" cy="225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是指相邻颗粒对于相对移动的约束作用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当发生剪切破坏时，相互咬合着的颗粒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A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必须抬起，跨越相邻颗粒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B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，或在尖角处被剪断（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C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），才能移动 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土体中的颗粒重新排列，也会消耗能量 </a:t>
            </a:r>
          </a:p>
        </p:txBody>
      </p:sp>
      <p:sp>
        <p:nvSpPr>
          <p:cNvPr id="73" name="Text Box 11"/>
          <p:cNvSpPr txBox="1">
            <a:spLocks noChangeArrowheads="1"/>
          </p:cNvSpPr>
          <p:nvPr/>
        </p:nvSpPr>
        <p:spPr bwMode="auto">
          <a:xfrm>
            <a:off x="533400" y="4341813"/>
            <a:ext cx="2105025" cy="4730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 2" pitchFamily="18" charset="2"/>
              <a:buChar char="³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 咬合摩擦</a:t>
            </a:r>
          </a:p>
        </p:txBody>
      </p:sp>
      <p:grpSp>
        <p:nvGrpSpPr>
          <p:cNvPr id="74" name="Group 12"/>
          <p:cNvGrpSpPr>
            <a:grpSpLocks/>
          </p:cNvGrpSpPr>
          <p:nvPr/>
        </p:nvGrpSpPr>
        <p:grpSpPr bwMode="auto">
          <a:xfrm>
            <a:off x="3503613" y="1533525"/>
            <a:ext cx="4837112" cy="1416050"/>
            <a:chOff x="2207" y="966"/>
            <a:chExt cx="3047" cy="892"/>
          </a:xfrm>
        </p:grpSpPr>
        <p:sp>
          <p:nvSpPr>
            <p:cNvPr id="75" name="Rectangle 13"/>
            <p:cNvSpPr>
              <a:spLocks noChangeArrowheads="1"/>
            </p:cNvSpPr>
            <p:nvPr/>
          </p:nvSpPr>
          <p:spPr bwMode="auto">
            <a:xfrm>
              <a:off x="2258" y="1003"/>
              <a:ext cx="1104" cy="855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6666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Rectangle 14"/>
            <p:cNvSpPr>
              <a:spLocks noChangeArrowheads="1"/>
            </p:cNvSpPr>
            <p:nvPr/>
          </p:nvSpPr>
          <p:spPr bwMode="auto">
            <a:xfrm>
              <a:off x="3915" y="986"/>
              <a:ext cx="1104" cy="855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6666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15" descr="沙滩"/>
            <p:cNvSpPr>
              <a:spLocks/>
            </p:cNvSpPr>
            <p:nvPr/>
          </p:nvSpPr>
          <p:spPr bwMode="auto">
            <a:xfrm>
              <a:off x="3993" y="1410"/>
              <a:ext cx="256" cy="230"/>
            </a:xfrm>
            <a:custGeom>
              <a:avLst/>
              <a:gdLst>
                <a:gd name="T0" fmla="*/ 114 w 256"/>
                <a:gd name="T1" fmla="*/ 10 h 230"/>
                <a:gd name="T2" fmla="*/ 178 w 256"/>
                <a:gd name="T3" fmla="*/ 6 h 230"/>
                <a:gd name="T4" fmla="*/ 223 w 256"/>
                <a:gd name="T5" fmla="*/ 48 h 230"/>
                <a:gd name="T6" fmla="*/ 255 w 256"/>
                <a:gd name="T7" fmla="*/ 112 h 230"/>
                <a:gd name="T8" fmla="*/ 220 w 256"/>
                <a:gd name="T9" fmla="*/ 176 h 230"/>
                <a:gd name="T10" fmla="*/ 152 w 256"/>
                <a:gd name="T11" fmla="*/ 214 h 230"/>
                <a:gd name="T12" fmla="*/ 114 w 256"/>
                <a:gd name="T13" fmla="*/ 230 h 230"/>
                <a:gd name="T14" fmla="*/ 40 w 256"/>
                <a:gd name="T15" fmla="*/ 211 h 230"/>
                <a:gd name="T16" fmla="*/ 12 w 256"/>
                <a:gd name="T17" fmla="*/ 160 h 230"/>
                <a:gd name="T18" fmla="*/ 2 w 256"/>
                <a:gd name="T19" fmla="*/ 99 h 230"/>
                <a:gd name="T20" fmla="*/ 24 w 256"/>
                <a:gd name="T21" fmla="*/ 48 h 230"/>
                <a:gd name="T22" fmla="*/ 66 w 256"/>
                <a:gd name="T23" fmla="*/ 26 h 230"/>
                <a:gd name="T24" fmla="*/ 114 w 256"/>
                <a:gd name="T25" fmla="*/ 10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6"/>
                <a:gd name="T40" fmla="*/ 0 h 230"/>
                <a:gd name="T41" fmla="*/ 256 w 256"/>
                <a:gd name="T42" fmla="*/ 230 h 2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6" h="230">
                  <a:moveTo>
                    <a:pt x="114" y="10"/>
                  </a:moveTo>
                  <a:cubicBezTo>
                    <a:pt x="133" y="7"/>
                    <a:pt x="160" y="0"/>
                    <a:pt x="178" y="6"/>
                  </a:cubicBezTo>
                  <a:cubicBezTo>
                    <a:pt x="196" y="12"/>
                    <a:pt x="210" y="30"/>
                    <a:pt x="223" y="48"/>
                  </a:cubicBezTo>
                  <a:cubicBezTo>
                    <a:pt x="236" y="66"/>
                    <a:pt x="256" y="91"/>
                    <a:pt x="255" y="112"/>
                  </a:cubicBezTo>
                  <a:cubicBezTo>
                    <a:pt x="254" y="133"/>
                    <a:pt x="237" y="159"/>
                    <a:pt x="220" y="176"/>
                  </a:cubicBezTo>
                  <a:cubicBezTo>
                    <a:pt x="203" y="193"/>
                    <a:pt x="170" y="205"/>
                    <a:pt x="152" y="214"/>
                  </a:cubicBezTo>
                  <a:cubicBezTo>
                    <a:pt x="134" y="223"/>
                    <a:pt x="133" y="230"/>
                    <a:pt x="114" y="230"/>
                  </a:cubicBezTo>
                  <a:cubicBezTo>
                    <a:pt x="95" y="230"/>
                    <a:pt x="57" y="223"/>
                    <a:pt x="40" y="211"/>
                  </a:cubicBezTo>
                  <a:cubicBezTo>
                    <a:pt x="23" y="199"/>
                    <a:pt x="18" y="179"/>
                    <a:pt x="12" y="160"/>
                  </a:cubicBezTo>
                  <a:cubicBezTo>
                    <a:pt x="6" y="141"/>
                    <a:pt x="0" y="118"/>
                    <a:pt x="2" y="99"/>
                  </a:cubicBezTo>
                  <a:cubicBezTo>
                    <a:pt x="4" y="80"/>
                    <a:pt x="13" y="60"/>
                    <a:pt x="24" y="48"/>
                  </a:cubicBezTo>
                  <a:cubicBezTo>
                    <a:pt x="35" y="36"/>
                    <a:pt x="51" y="32"/>
                    <a:pt x="66" y="26"/>
                  </a:cubicBezTo>
                  <a:cubicBezTo>
                    <a:pt x="81" y="20"/>
                    <a:pt x="95" y="13"/>
                    <a:pt x="114" y="10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16" descr="沙滩"/>
            <p:cNvSpPr>
              <a:spLocks/>
            </p:cNvSpPr>
            <p:nvPr/>
          </p:nvSpPr>
          <p:spPr bwMode="auto">
            <a:xfrm>
              <a:off x="4219" y="1204"/>
              <a:ext cx="282" cy="243"/>
            </a:xfrm>
            <a:custGeom>
              <a:avLst/>
              <a:gdLst>
                <a:gd name="T0" fmla="*/ 8 w 282"/>
                <a:gd name="T1" fmla="*/ 195 h 243"/>
                <a:gd name="T2" fmla="*/ 8 w 282"/>
                <a:gd name="T3" fmla="*/ 152 h 243"/>
                <a:gd name="T4" fmla="*/ 58 w 282"/>
                <a:gd name="T5" fmla="*/ 90 h 243"/>
                <a:gd name="T6" fmla="*/ 123 w 282"/>
                <a:gd name="T7" fmla="*/ 37 h 243"/>
                <a:gd name="T8" fmla="*/ 195 w 282"/>
                <a:gd name="T9" fmla="*/ 3 h 243"/>
                <a:gd name="T10" fmla="*/ 241 w 282"/>
                <a:gd name="T11" fmla="*/ 18 h 243"/>
                <a:gd name="T12" fmla="*/ 267 w 282"/>
                <a:gd name="T13" fmla="*/ 49 h 243"/>
                <a:gd name="T14" fmla="*/ 281 w 282"/>
                <a:gd name="T15" fmla="*/ 102 h 243"/>
                <a:gd name="T16" fmla="*/ 260 w 282"/>
                <a:gd name="T17" fmla="*/ 164 h 243"/>
                <a:gd name="T18" fmla="*/ 214 w 282"/>
                <a:gd name="T19" fmla="*/ 210 h 243"/>
                <a:gd name="T20" fmla="*/ 133 w 282"/>
                <a:gd name="T21" fmla="*/ 238 h 243"/>
                <a:gd name="T22" fmla="*/ 87 w 282"/>
                <a:gd name="T23" fmla="*/ 238 h 243"/>
                <a:gd name="T24" fmla="*/ 65 w 282"/>
                <a:gd name="T25" fmla="*/ 234 h 243"/>
                <a:gd name="T26" fmla="*/ 41 w 282"/>
                <a:gd name="T27" fmla="*/ 224 h 243"/>
                <a:gd name="T28" fmla="*/ 8 w 282"/>
                <a:gd name="T29" fmla="*/ 195 h 2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82"/>
                <a:gd name="T46" fmla="*/ 0 h 243"/>
                <a:gd name="T47" fmla="*/ 282 w 282"/>
                <a:gd name="T48" fmla="*/ 243 h 24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82" h="243">
                  <a:moveTo>
                    <a:pt x="8" y="195"/>
                  </a:moveTo>
                  <a:cubicBezTo>
                    <a:pt x="2" y="183"/>
                    <a:pt x="0" y="170"/>
                    <a:pt x="8" y="152"/>
                  </a:cubicBezTo>
                  <a:cubicBezTo>
                    <a:pt x="16" y="134"/>
                    <a:pt x="39" y="109"/>
                    <a:pt x="58" y="90"/>
                  </a:cubicBezTo>
                  <a:cubicBezTo>
                    <a:pt x="77" y="71"/>
                    <a:pt x="100" y="51"/>
                    <a:pt x="123" y="37"/>
                  </a:cubicBezTo>
                  <a:cubicBezTo>
                    <a:pt x="146" y="23"/>
                    <a:pt x="175" y="6"/>
                    <a:pt x="195" y="3"/>
                  </a:cubicBezTo>
                  <a:cubicBezTo>
                    <a:pt x="215" y="0"/>
                    <a:pt x="229" y="10"/>
                    <a:pt x="241" y="18"/>
                  </a:cubicBezTo>
                  <a:cubicBezTo>
                    <a:pt x="253" y="26"/>
                    <a:pt x="260" y="35"/>
                    <a:pt x="267" y="49"/>
                  </a:cubicBezTo>
                  <a:cubicBezTo>
                    <a:pt x="274" y="63"/>
                    <a:pt x="282" y="83"/>
                    <a:pt x="281" y="102"/>
                  </a:cubicBezTo>
                  <a:cubicBezTo>
                    <a:pt x="280" y="121"/>
                    <a:pt x="271" y="146"/>
                    <a:pt x="260" y="164"/>
                  </a:cubicBezTo>
                  <a:cubicBezTo>
                    <a:pt x="249" y="182"/>
                    <a:pt x="235" y="198"/>
                    <a:pt x="214" y="210"/>
                  </a:cubicBezTo>
                  <a:cubicBezTo>
                    <a:pt x="193" y="222"/>
                    <a:pt x="154" y="233"/>
                    <a:pt x="133" y="238"/>
                  </a:cubicBezTo>
                  <a:cubicBezTo>
                    <a:pt x="112" y="243"/>
                    <a:pt x="98" y="239"/>
                    <a:pt x="87" y="238"/>
                  </a:cubicBezTo>
                  <a:cubicBezTo>
                    <a:pt x="76" y="237"/>
                    <a:pt x="73" y="236"/>
                    <a:pt x="65" y="234"/>
                  </a:cubicBezTo>
                  <a:cubicBezTo>
                    <a:pt x="57" y="232"/>
                    <a:pt x="50" y="230"/>
                    <a:pt x="41" y="224"/>
                  </a:cubicBezTo>
                  <a:cubicBezTo>
                    <a:pt x="32" y="218"/>
                    <a:pt x="14" y="207"/>
                    <a:pt x="8" y="195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7" descr="沙滩"/>
            <p:cNvSpPr>
              <a:spLocks/>
            </p:cNvSpPr>
            <p:nvPr/>
          </p:nvSpPr>
          <p:spPr bwMode="auto">
            <a:xfrm>
              <a:off x="4268" y="1472"/>
              <a:ext cx="249" cy="146"/>
            </a:xfrm>
            <a:custGeom>
              <a:avLst/>
              <a:gdLst>
                <a:gd name="T0" fmla="*/ 2 w 249"/>
                <a:gd name="T1" fmla="*/ 111 h 178"/>
                <a:gd name="T2" fmla="*/ 19 w 249"/>
                <a:gd name="T3" fmla="*/ 63 h 178"/>
                <a:gd name="T4" fmla="*/ 74 w 249"/>
                <a:gd name="T5" fmla="*/ 24 h 178"/>
                <a:gd name="T6" fmla="*/ 110 w 249"/>
                <a:gd name="T7" fmla="*/ 8 h 178"/>
                <a:gd name="T8" fmla="*/ 168 w 249"/>
                <a:gd name="T9" fmla="*/ 3 h 178"/>
                <a:gd name="T10" fmla="*/ 233 w 249"/>
                <a:gd name="T11" fmla="*/ 27 h 178"/>
                <a:gd name="T12" fmla="*/ 247 w 249"/>
                <a:gd name="T13" fmla="*/ 51 h 178"/>
                <a:gd name="T14" fmla="*/ 245 w 249"/>
                <a:gd name="T15" fmla="*/ 92 h 178"/>
                <a:gd name="T16" fmla="*/ 226 w 249"/>
                <a:gd name="T17" fmla="*/ 130 h 178"/>
                <a:gd name="T18" fmla="*/ 187 w 249"/>
                <a:gd name="T19" fmla="*/ 164 h 178"/>
                <a:gd name="T20" fmla="*/ 137 w 249"/>
                <a:gd name="T21" fmla="*/ 173 h 178"/>
                <a:gd name="T22" fmla="*/ 65 w 249"/>
                <a:gd name="T23" fmla="*/ 176 h 178"/>
                <a:gd name="T24" fmla="*/ 31 w 249"/>
                <a:gd name="T25" fmla="*/ 164 h 178"/>
                <a:gd name="T26" fmla="*/ 2 w 249"/>
                <a:gd name="T27" fmla="*/ 111 h 1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9"/>
                <a:gd name="T43" fmla="*/ 0 h 178"/>
                <a:gd name="T44" fmla="*/ 249 w 249"/>
                <a:gd name="T45" fmla="*/ 178 h 17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9" h="178">
                  <a:moveTo>
                    <a:pt x="2" y="111"/>
                  </a:moveTo>
                  <a:cubicBezTo>
                    <a:pt x="0" y="94"/>
                    <a:pt x="7" y="77"/>
                    <a:pt x="19" y="63"/>
                  </a:cubicBezTo>
                  <a:cubicBezTo>
                    <a:pt x="31" y="49"/>
                    <a:pt x="59" y="33"/>
                    <a:pt x="74" y="24"/>
                  </a:cubicBezTo>
                  <a:cubicBezTo>
                    <a:pt x="89" y="15"/>
                    <a:pt x="94" y="12"/>
                    <a:pt x="110" y="8"/>
                  </a:cubicBezTo>
                  <a:cubicBezTo>
                    <a:pt x="126" y="4"/>
                    <a:pt x="148" y="0"/>
                    <a:pt x="168" y="3"/>
                  </a:cubicBezTo>
                  <a:cubicBezTo>
                    <a:pt x="188" y="6"/>
                    <a:pt x="220" y="19"/>
                    <a:pt x="233" y="27"/>
                  </a:cubicBezTo>
                  <a:cubicBezTo>
                    <a:pt x="246" y="35"/>
                    <a:pt x="245" y="40"/>
                    <a:pt x="247" y="51"/>
                  </a:cubicBezTo>
                  <a:cubicBezTo>
                    <a:pt x="249" y="62"/>
                    <a:pt x="248" y="79"/>
                    <a:pt x="245" y="92"/>
                  </a:cubicBezTo>
                  <a:cubicBezTo>
                    <a:pt x="242" y="105"/>
                    <a:pt x="236" y="118"/>
                    <a:pt x="226" y="130"/>
                  </a:cubicBezTo>
                  <a:cubicBezTo>
                    <a:pt x="216" y="142"/>
                    <a:pt x="202" y="157"/>
                    <a:pt x="187" y="164"/>
                  </a:cubicBezTo>
                  <a:cubicBezTo>
                    <a:pt x="172" y="171"/>
                    <a:pt x="157" y="171"/>
                    <a:pt x="137" y="173"/>
                  </a:cubicBezTo>
                  <a:cubicBezTo>
                    <a:pt x="117" y="175"/>
                    <a:pt x="83" y="178"/>
                    <a:pt x="65" y="176"/>
                  </a:cubicBezTo>
                  <a:cubicBezTo>
                    <a:pt x="47" y="174"/>
                    <a:pt x="42" y="173"/>
                    <a:pt x="31" y="164"/>
                  </a:cubicBezTo>
                  <a:cubicBezTo>
                    <a:pt x="20" y="155"/>
                    <a:pt x="4" y="128"/>
                    <a:pt x="2" y="111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8" descr="沙滩"/>
            <p:cNvSpPr>
              <a:spLocks/>
            </p:cNvSpPr>
            <p:nvPr/>
          </p:nvSpPr>
          <p:spPr bwMode="auto">
            <a:xfrm>
              <a:off x="4488" y="1327"/>
              <a:ext cx="174" cy="121"/>
            </a:xfrm>
            <a:custGeom>
              <a:avLst/>
              <a:gdLst>
                <a:gd name="T0" fmla="*/ 4 w 193"/>
                <a:gd name="T1" fmla="*/ 48 h 153"/>
                <a:gd name="T2" fmla="*/ 16 w 193"/>
                <a:gd name="T3" fmla="*/ 10 h 153"/>
                <a:gd name="T4" fmla="*/ 79 w 193"/>
                <a:gd name="T5" fmla="*/ 0 h 153"/>
                <a:gd name="T6" fmla="*/ 136 w 193"/>
                <a:gd name="T7" fmla="*/ 7 h 153"/>
                <a:gd name="T8" fmla="*/ 177 w 193"/>
                <a:gd name="T9" fmla="*/ 19 h 153"/>
                <a:gd name="T10" fmla="*/ 192 w 193"/>
                <a:gd name="T11" fmla="*/ 65 h 153"/>
                <a:gd name="T12" fmla="*/ 168 w 193"/>
                <a:gd name="T13" fmla="*/ 122 h 153"/>
                <a:gd name="T14" fmla="*/ 153 w 193"/>
                <a:gd name="T15" fmla="*/ 151 h 153"/>
                <a:gd name="T16" fmla="*/ 96 w 193"/>
                <a:gd name="T17" fmla="*/ 137 h 153"/>
                <a:gd name="T18" fmla="*/ 38 w 193"/>
                <a:gd name="T19" fmla="*/ 94 h 153"/>
                <a:gd name="T20" fmla="*/ 4 w 193"/>
                <a:gd name="T21" fmla="*/ 48 h 1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3"/>
                <a:gd name="T34" fmla="*/ 0 h 153"/>
                <a:gd name="T35" fmla="*/ 193 w 193"/>
                <a:gd name="T36" fmla="*/ 153 h 1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3" h="153">
                  <a:moveTo>
                    <a:pt x="4" y="48"/>
                  </a:moveTo>
                  <a:cubicBezTo>
                    <a:pt x="0" y="34"/>
                    <a:pt x="4" y="18"/>
                    <a:pt x="16" y="10"/>
                  </a:cubicBezTo>
                  <a:cubicBezTo>
                    <a:pt x="28" y="2"/>
                    <a:pt x="59" y="0"/>
                    <a:pt x="79" y="0"/>
                  </a:cubicBezTo>
                  <a:cubicBezTo>
                    <a:pt x="99" y="0"/>
                    <a:pt x="120" y="4"/>
                    <a:pt x="136" y="7"/>
                  </a:cubicBezTo>
                  <a:cubicBezTo>
                    <a:pt x="152" y="10"/>
                    <a:pt x="168" y="9"/>
                    <a:pt x="177" y="19"/>
                  </a:cubicBezTo>
                  <a:cubicBezTo>
                    <a:pt x="186" y="29"/>
                    <a:pt x="193" y="48"/>
                    <a:pt x="192" y="65"/>
                  </a:cubicBezTo>
                  <a:cubicBezTo>
                    <a:pt x="191" y="82"/>
                    <a:pt x="174" y="108"/>
                    <a:pt x="168" y="122"/>
                  </a:cubicBezTo>
                  <a:cubicBezTo>
                    <a:pt x="162" y="136"/>
                    <a:pt x="165" y="149"/>
                    <a:pt x="153" y="151"/>
                  </a:cubicBezTo>
                  <a:cubicBezTo>
                    <a:pt x="141" y="153"/>
                    <a:pt x="115" y="146"/>
                    <a:pt x="96" y="137"/>
                  </a:cubicBezTo>
                  <a:cubicBezTo>
                    <a:pt x="77" y="128"/>
                    <a:pt x="52" y="108"/>
                    <a:pt x="38" y="94"/>
                  </a:cubicBezTo>
                  <a:cubicBezTo>
                    <a:pt x="24" y="80"/>
                    <a:pt x="8" y="62"/>
                    <a:pt x="4" y="48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19" descr="沙滩"/>
            <p:cNvSpPr>
              <a:spLocks/>
            </p:cNvSpPr>
            <p:nvPr/>
          </p:nvSpPr>
          <p:spPr bwMode="auto">
            <a:xfrm>
              <a:off x="4491" y="1137"/>
              <a:ext cx="187" cy="129"/>
            </a:xfrm>
            <a:custGeom>
              <a:avLst/>
              <a:gdLst>
                <a:gd name="T0" fmla="*/ 12 w 187"/>
                <a:gd name="T1" fmla="*/ 92 h 129"/>
                <a:gd name="T2" fmla="*/ 5 w 187"/>
                <a:gd name="T3" fmla="*/ 44 h 129"/>
                <a:gd name="T4" fmla="*/ 41 w 187"/>
                <a:gd name="T5" fmla="*/ 16 h 129"/>
                <a:gd name="T6" fmla="*/ 101 w 187"/>
                <a:gd name="T7" fmla="*/ 1 h 129"/>
                <a:gd name="T8" fmla="*/ 165 w 187"/>
                <a:gd name="T9" fmla="*/ 13 h 129"/>
                <a:gd name="T10" fmla="*/ 185 w 187"/>
                <a:gd name="T11" fmla="*/ 59 h 129"/>
                <a:gd name="T12" fmla="*/ 175 w 187"/>
                <a:gd name="T13" fmla="*/ 95 h 129"/>
                <a:gd name="T14" fmla="*/ 127 w 187"/>
                <a:gd name="T15" fmla="*/ 114 h 129"/>
                <a:gd name="T16" fmla="*/ 69 w 187"/>
                <a:gd name="T17" fmla="*/ 128 h 129"/>
                <a:gd name="T18" fmla="*/ 29 w 187"/>
                <a:gd name="T19" fmla="*/ 109 h 129"/>
                <a:gd name="T20" fmla="*/ 12 w 187"/>
                <a:gd name="T21" fmla="*/ 92 h 1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7"/>
                <a:gd name="T34" fmla="*/ 0 h 129"/>
                <a:gd name="T35" fmla="*/ 187 w 187"/>
                <a:gd name="T36" fmla="*/ 129 h 12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7" h="129">
                  <a:moveTo>
                    <a:pt x="12" y="92"/>
                  </a:moveTo>
                  <a:cubicBezTo>
                    <a:pt x="8" y="81"/>
                    <a:pt x="0" y="57"/>
                    <a:pt x="5" y="44"/>
                  </a:cubicBezTo>
                  <a:cubicBezTo>
                    <a:pt x="10" y="31"/>
                    <a:pt x="25" y="23"/>
                    <a:pt x="41" y="16"/>
                  </a:cubicBezTo>
                  <a:cubicBezTo>
                    <a:pt x="57" y="9"/>
                    <a:pt x="80" y="2"/>
                    <a:pt x="101" y="1"/>
                  </a:cubicBezTo>
                  <a:cubicBezTo>
                    <a:pt x="122" y="0"/>
                    <a:pt x="151" y="3"/>
                    <a:pt x="165" y="13"/>
                  </a:cubicBezTo>
                  <a:cubicBezTo>
                    <a:pt x="179" y="23"/>
                    <a:pt x="183" y="45"/>
                    <a:pt x="185" y="59"/>
                  </a:cubicBezTo>
                  <a:cubicBezTo>
                    <a:pt x="187" y="73"/>
                    <a:pt x="185" y="86"/>
                    <a:pt x="175" y="95"/>
                  </a:cubicBezTo>
                  <a:cubicBezTo>
                    <a:pt x="165" y="104"/>
                    <a:pt x="145" y="109"/>
                    <a:pt x="127" y="114"/>
                  </a:cubicBezTo>
                  <a:cubicBezTo>
                    <a:pt x="109" y="119"/>
                    <a:pt x="85" y="129"/>
                    <a:pt x="69" y="128"/>
                  </a:cubicBezTo>
                  <a:cubicBezTo>
                    <a:pt x="53" y="127"/>
                    <a:pt x="40" y="116"/>
                    <a:pt x="29" y="109"/>
                  </a:cubicBezTo>
                  <a:cubicBezTo>
                    <a:pt x="18" y="102"/>
                    <a:pt x="16" y="103"/>
                    <a:pt x="12" y="92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20" descr="沙滩"/>
            <p:cNvSpPr>
              <a:spLocks/>
            </p:cNvSpPr>
            <p:nvPr/>
          </p:nvSpPr>
          <p:spPr bwMode="auto">
            <a:xfrm>
              <a:off x="4658" y="1202"/>
              <a:ext cx="210" cy="220"/>
            </a:xfrm>
            <a:custGeom>
              <a:avLst/>
              <a:gdLst>
                <a:gd name="T0" fmla="*/ 61 w 210"/>
                <a:gd name="T1" fmla="*/ 170 h 220"/>
                <a:gd name="T2" fmla="*/ 22 w 210"/>
                <a:gd name="T3" fmla="*/ 103 h 220"/>
                <a:gd name="T4" fmla="*/ 10 w 210"/>
                <a:gd name="T5" fmla="*/ 64 h 220"/>
                <a:gd name="T6" fmla="*/ 10 w 210"/>
                <a:gd name="T7" fmla="*/ 36 h 220"/>
                <a:gd name="T8" fmla="*/ 73 w 210"/>
                <a:gd name="T9" fmla="*/ 9 h 220"/>
                <a:gd name="T10" fmla="*/ 126 w 210"/>
                <a:gd name="T11" fmla="*/ 7 h 220"/>
                <a:gd name="T12" fmla="*/ 178 w 210"/>
                <a:gd name="T13" fmla="*/ 52 h 220"/>
                <a:gd name="T14" fmla="*/ 202 w 210"/>
                <a:gd name="T15" fmla="*/ 100 h 220"/>
                <a:gd name="T16" fmla="*/ 206 w 210"/>
                <a:gd name="T17" fmla="*/ 163 h 220"/>
                <a:gd name="T18" fmla="*/ 180 w 210"/>
                <a:gd name="T19" fmla="*/ 220 h 220"/>
                <a:gd name="T20" fmla="*/ 90 w 210"/>
                <a:gd name="T21" fmla="*/ 220 h 220"/>
                <a:gd name="T22" fmla="*/ 61 w 210"/>
                <a:gd name="T23" fmla="*/ 170 h 2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0"/>
                <a:gd name="T37" fmla="*/ 0 h 220"/>
                <a:gd name="T38" fmla="*/ 210 w 210"/>
                <a:gd name="T39" fmla="*/ 220 h 22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0" h="220">
                  <a:moveTo>
                    <a:pt x="61" y="170"/>
                  </a:moveTo>
                  <a:cubicBezTo>
                    <a:pt x="53" y="153"/>
                    <a:pt x="30" y="121"/>
                    <a:pt x="22" y="103"/>
                  </a:cubicBezTo>
                  <a:cubicBezTo>
                    <a:pt x="14" y="85"/>
                    <a:pt x="12" y="75"/>
                    <a:pt x="10" y="64"/>
                  </a:cubicBezTo>
                  <a:cubicBezTo>
                    <a:pt x="8" y="53"/>
                    <a:pt x="0" y="45"/>
                    <a:pt x="10" y="36"/>
                  </a:cubicBezTo>
                  <a:cubicBezTo>
                    <a:pt x="20" y="27"/>
                    <a:pt x="54" y="14"/>
                    <a:pt x="73" y="9"/>
                  </a:cubicBezTo>
                  <a:cubicBezTo>
                    <a:pt x="92" y="4"/>
                    <a:pt x="108" y="0"/>
                    <a:pt x="126" y="7"/>
                  </a:cubicBezTo>
                  <a:cubicBezTo>
                    <a:pt x="144" y="14"/>
                    <a:pt x="165" y="37"/>
                    <a:pt x="178" y="52"/>
                  </a:cubicBezTo>
                  <a:cubicBezTo>
                    <a:pt x="191" y="67"/>
                    <a:pt x="197" y="82"/>
                    <a:pt x="202" y="100"/>
                  </a:cubicBezTo>
                  <a:cubicBezTo>
                    <a:pt x="207" y="118"/>
                    <a:pt x="210" y="143"/>
                    <a:pt x="206" y="163"/>
                  </a:cubicBezTo>
                  <a:cubicBezTo>
                    <a:pt x="202" y="183"/>
                    <a:pt x="199" y="210"/>
                    <a:pt x="180" y="220"/>
                  </a:cubicBezTo>
                  <a:lnTo>
                    <a:pt x="90" y="220"/>
                  </a:lnTo>
                  <a:cubicBezTo>
                    <a:pt x="70" y="212"/>
                    <a:pt x="67" y="180"/>
                    <a:pt x="61" y="170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21" descr="沙滩"/>
            <p:cNvSpPr>
              <a:spLocks/>
            </p:cNvSpPr>
            <p:nvPr/>
          </p:nvSpPr>
          <p:spPr bwMode="auto">
            <a:xfrm>
              <a:off x="4488" y="1485"/>
              <a:ext cx="277" cy="244"/>
            </a:xfrm>
            <a:custGeom>
              <a:avLst/>
              <a:gdLst>
                <a:gd name="T0" fmla="*/ 5 w 277"/>
                <a:gd name="T1" fmla="*/ 109 h 244"/>
                <a:gd name="T2" fmla="*/ 51 w 277"/>
                <a:gd name="T3" fmla="*/ 56 h 244"/>
                <a:gd name="T4" fmla="*/ 120 w 277"/>
                <a:gd name="T5" fmla="*/ 15 h 244"/>
                <a:gd name="T6" fmla="*/ 161 w 277"/>
                <a:gd name="T7" fmla="*/ 1 h 244"/>
                <a:gd name="T8" fmla="*/ 224 w 277"/>
                <a:gd name="T9" fmla="*/ 8 h 244"/>
                <a:gd name="T10" fmla="*/ 262 w 277"/>
                <a:gd name="T11" fmla="*/ 47 h 244"/>
                <a:gd name="T12" fmla="*/ 269 w 277"/>
                <a:gd name="T13" fmla="*/ 119 h 244"/>
                <a:gd name="T14" fmla="*/ 276 w 277"/>
                <a:gd name="T15" fmla="*/ 169 h 244"/>
                <a:gd name="T16" fmla="*/ 264 w 277"/>
                <a:gd name="T17" fmla="*/ 219 h 244"/>
                <a:gd name="T18" fmla="*/ 207 w 277"/>
                <a:gd name="T19" fmla="*/ 241 h 244"/>
                <a:gd name="T20" fmla="*/ 156 w 277"/>
                <a:gd name="T21" fmla="*/ 236 h 244"/>
                <a:gd name="T22" fmla="*/ 101 w 277"/>
                <a:gd name="T23" fmla="*/ 210 h 244"/>
                <a:gd name="T24" fmla="*/ 53 w 277"/>
                <a:gd name="T25" fmla="*/ 179 h 244"/>
                <a:gd name="T26" fmla="*/ 22 w 277"/>
                <a:gd name="T27" fmla="*/ 152 h 244"/>
                <a:gd name="T28" fmla="*/ 5 w 277"/>
                <a:gd name="T29" fmla="*/ 109 h 2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7"/>
                <a:gd name="T46" fmla="*/ 0 h 244"/>
                <a:gd name="T47" fmla="*/ 277 w 277"/>
                <a:gd name="T48" fmla="*/ 244 h 24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7" h="244">
                  <a:moveTo>
                    <a:pt x="5" y="109"/>
                  </a:moveTo>
                  <a:cubicBezTo>
                    <a:pt x="10" y="93"/>
                    <a:pt x="32" y="72"/>
                    <a:pt x="51" y="56"/>
                  </a:cubicBezTo>
                  <a:cubicBezTo>
                    <a:pt x="70" y="40"/>
                    <a:pt x="102" y="24"/>
                    <a:pt x="120" y="15"/>
                  </a:cubicBezTo>
                  <a:cubicBezTo>
                    <a:pt x="138" y="6"/>
                    <a:pt x="144" y="2"/>
                    <a:pt x="161" y="1"/>
                  </a:cubicBezTo>
                  <a:cubicBezTo>
                    <a:pt x="178" y="0"/>
                    <a:pt x="207" y="0"/>
                    <a:pt x="224" y="8"/>
                  </a:cubicBezTo>
                  <a:cubicBezTo>
                    <a:pt x="241" y="16"/>
                    <a:pt x="255" y="29"/>
                    <a:pt x="262" y="47"/>
                  </a:cubicBezTo>
                  <a:cubicBezTo>
                    <a:pt x="269" y="65"/>
                    <a:pt x="267" y="99"/>
                    <a:pt x="269" y="119"/>
                  </a:cubicBezTo>
                  <a:cubicBezTo>
                    <a:pt x="271" y="139"/>
                    <a:pt x="277" y="152"/>
                    <a:pt x="276" y="169"/>
                  </a:cubicBezTo>
                  <a:cubicBezTo>
                    <a:pt x="275" y="186"/>
                    <a:pt x="275" y="207"/>
                    <a:pt x="264" y="219"/>
                  </a:cubicBezTo>
                  <a:cubicBezTo>
                    <a:pt x="253" y="231"/>
                    <a:pt x="225" y="238"/>
                    <a:pt x="207" y="241"/>
                  </a:cubicBezTo>
                  <a:cubicBezTo>
                    <a:pt x="189" y="244"/>
                    <a:pt x="174" y="241"/>
                    <a:pt x="156" y="236"/>
                  </a:cubicBezTo>
                  <a:cubicBezTo>
                    <a:pt x="138" y="231"/>
                    <a:pt x="118" y="220"/>
                    <a:pt x="101" y="210"/>
                  </a:cubicBezTo>
                  <a:cubicBezTo>
                    <a:pt x="84" y="200"/>
                    <a:pt x="66" y="189"/>
                    <a:pt x="53" y="179"/>
                  </a:cubicBezTo>
                  <a:cubicBezTo>
                    <a:pt x="40" y="169"/>
                    <a:pt x="30" y="163"/>
                    <a:pt x="22" y="152"/>
                  </a:cubicBezTo>
                  <a:cubicBezTo>
                    <a:pt x="14" y="141"/>
                    <a:pt x="0" y="125"/>
                    <a:pt x="5" y="109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22" descr="沙滩"/>
            <p:cNvSpPr>
              <a:spLocks/>
            </p:cNvSpPr>
            <p:nvPr/>
          </p:nvSpPr>
          <p:spPr bwMode="auto">
            <a:xfrm>
              <a:off x="4767" y="1490"/>
              <a:ext cx="122" cy="113"/>
            </a:xfrm>
            <a:custGeom>
              <a:avLst/>
              <a:gdLst>
                <a:gd name="T0" fmla="*/ 51 w 122"/>
                <a:gd name="T1" fmla="*/ 107 h 113"/>
                <a:gd name="T2" fmla="*/ 8 w 122"/>
                <a:gd name="T3" fmla="*/ 93 h 113"/>
                <a:gd name="T4" fmla="*/ 3 w 122"/>
                <a:gd name="T5" fmla="*/ 64 h 113"/>
                <a:gd name="T6" fmla="*/ 8 w 122"/>
                <a:gd name="T7" fmla="*/ 37 h 113"/>
                <a:gd name="T8" fmla="*/ 53 w 122"/>
                <a:gd name="T9" fmla="*/ 13 h 113"/>
                <a:gd name="T10" fmla="*/ 89 w 122"/>
                <a:gd name="T11" fmla="*/ 1 h 113"/>
                <a:gd name="T12" fmla="*/ 120 w 122"/>
                <a:gd name="T13" fmla="*/ 21 h 113"/>
                <a:gd name="T14" fmla="*/ 104 w 122"/>
                <a:gd name="T15" fmla="*/ 71 h 113"/>
                <a:gd name="T16" fmla="*/ 89 w 122"/>
                <a:gd name="T17" fmla="*/ 107 h 113"/>
                <a:gd name="T18" fmla="*/ 51 w 122"/>
                <a:gd name="T19" fmla="*/ 107 h 1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"/>
                <a:gd name="T31" fmla="*/ 0 h 113"/>
                <a:gd name="T32" fmla="*/ 122 w 122"/>
                <a:gd name="T33" fmla="*/ 113 h 11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" h="113">
                  <a:moveTo>
                    <a:pt x="51" y="107"/>
                  </a:moveTo>
                  <a:cubicBezTo>
                    <a:pt x="38" y="105"/>
                    <a:pt x="16" y="100"/>
                    <a:pt x="8" y="93"/>
                  </a:cubicBezTo>
                  <a:cubicBezTo>
                    <a:pt x="0" y="86"/>
                    <a:pt x="3" y="73"/>
                    <a:pt x="3" y="64"/>
                  </a:cubicBezTo>
                  <a:cubicBezTo>
                    <a:pt x="3" y="55"/>
                    <a:pt x="0" y="45"/>
                    <a:pt x="8" y="37"/>
                  </a:cubicBezTo>
                  <a:cubicBezTo>
                    <a:pt x="16" y="29"/>
                    <a:pt x="40" y="19"/>
                    <a:pt x="53" y="13"/>
                  </a:cubicBezTo>
                  <a:cubicBezTo>
                    <a:pt x="66" y="7"/>
                    <a:pt x="78" y="0"/>
                    <a:pt x="89" y="1"/>
                  </a:cubicBezTo>
                  <a:cubicBezTo>
                    <a:pt x="100" y="2"/>
                    <a:pt x="118" y="9"/>
                    <a:pt x="120" y="21"/>
                  </a:cubicBezTo>
                  <a:cubicBezTo>
                    <a:pt x="122" y="33"/>
                    <a:pt x="109" y="57"/>
                    <a:pt x="104" y="71"/>
                  </a:cubicBezTo>
                  <a:cubicBezTo>
                    <a:pt x="99" y="85"/>
                    <a:pt x="98" y="101"/>
                    <a:pt x="89" y="107"/>
                  </a:cubicBezTo>
                  <a:cubicBezTo>
                    <a:pt x="80" y="113"/>
                    <a:pt x="64" y="109"/>
                    <a:pt x="51" y="107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23" descr="沙滩"/>
            <p:cNvSpPr>
              <a:spLocks/>
            </p:cNvSpPr>
            <p:nvPr/>
          </p:nvSpPr>
          <p:spPr bwMode="auto">
            <a:xfrm>
              <a:off x="4250" y="1614"/>
              <a:ext cx="144" cy="146"/>
            </a:xfrm>
            <a:custGeom>
              <a:avLst/>
              <a:gdLst>
                <a:gd name="T0" fmla="*/ 66 w 144"/>
                <a:gd name="T1" fmla="*/ 4 h 146"/>
                <a:gd name="T2" fmla="*/ 114 w 144"/>
                <a:gd name="T3" fmla="*/ 26 h 146"/>
                <a:gd name="T4" fmla="*/ 140 w 144"/>
                <a:gd name="T5" fmla="*/ 62 h 146"/>
                <a:gd name="T6" fmla="*/ 138 w 144"/>
                <a:gd name="T7" fmla="*/ 110 h 146"/>
                <a:gd name="T8" fmla="*/ 107 w 144"/>
                <a:gd name="T9" fmla="*/ 141 h 146"/>
                <a:gd name="T10" fmla="*/ 56 w 144"/>
                <a:gd name="T11" fmla="*/ 138 h 146"/>
                <a:gd name="T12" fmla="*/ 8 w 144"/>
                <a:gd name="T13" fmla="*/ 105 h 146"/>
                <a:gd name="T14" fmla="*/ 11 w 144"/>
                <a:gd name="T15" fmla="*/ 66 h 146"/>
                <a:gd name="T16" fmla="*/ 18 w 144"/>
                <a:gd name="T17" fmla="*/ 11 h 146"/>
                <a:gd name="T18" fmla="*/ 66 w 144"/>
                <a:gd name="T19" fmla="*/ 4 h 1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4"/>
                <a:gd name="T31" fmla="*/ 0 h 146"/>
                <a:gd name="T32" fmla="*/ 144 w 144"/>
                <a:gd name="T33" fmla="*/ 146 h 14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4" h="146">
                  <a:moveTo>
                    <a:pt x="66" y="4"/>
                  </a:moveTo>
                  <a:cubicBezTo>
                    <a:pt x="82" y="6"/>
                    <a:pt x="102" y="16"/>
                    <a:pt x="114" y="26"/>
                  </a:cubicBezTo>
                  <a:cubicBezTo>
                    <a:pt x="126" y="36"/>
                    <a:pt x="136" y="48"/>
                    <a:pt x="140" y="62"/>
                  </a:cubicBezTo>
                  <a:cubicBezTo>
                    <a:pt x="144" y="76"/>
                    <a:pt x="143" y="97"/>
                    <a:pt x="138" y="110"/>
                  </a:cubicBezTo>
                  <a:cubicBezTo>
                    <a:pt x="133" y="123"/>
                    <a:pt x="121" y="136"/>
                    <a:pt x="107" y="141"/>
                  </a:cubicBezTo>
                  <a:cubicBezTo>
                    <a:pt x="93" y="146"/>
                    <a:pt x="72" y="144"/>
                    <a:pt x="56" y="138"/>
                  </a:cubicBezTo>
                  <a:cubicBezTo>
                    <a:pt x="40" y="132"/>
                    <a:pt x="16" y="117"/>
                    <a:pt x="8" y="105"/>
                  </a:cubicBezTo>
                  <a:cubicBezTo>
                    <a:pt x="0" y="93"/>
                    <a:pt x="9" y="82"/>
                    <a:pt x="11" y="66"/>
                  </a:cubicBezTo>
                  <a:cubicBezTo>
                    <a:pt x="13" y="50"/>
                    <a:pt x="10" y="22"/>
                    <a:pt x="18" y="11"/>
                  </a:cubicBezTo>
                  <a:cubicBezTo>
                    <a:pt x="26" y="0"/>
                    <a:pt x="50" y="2"/>
                    <a:pt x="66" y="4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24" descr="沙滩"/>
            <p:cNvSpPr>
              <a:spLocks/>
            </p:cNvSpPr>
            <p:nvPr/>
          </p:nvSpPr>
          <p:spPr bwMode="auto">
            <a:xfrm>
              <a:off x="4393" y="1637"/>
              <a:ext cx="137" cy="102"/>
            </a:xfrm>
            <a:custGeom>
              <a:avLst/>
              <a:gdLst>
                <a:gd name="T0" fmla="*/ 2 w 137"/>
                <a:gd name="T1" fmla="*/ 63 h 102"/>
                <a:gd name="T2" fmla="*/ 19 w 137"/>
                <a:gd name="T3" fmla="*/ 17 h 102"/>
                <a:gd name="T4" fmla="*/ 57 w 137"/>
                <a:gd name="T5" fmla="*/ 5 h 102"/>
                <a:gd name="T6" fmla="*/ 117 w 137"/>
                <a:gd name="T7" fmla="*/ 12 h 102"/>
                <a:gd name="T8" fmla="*/ 134 w 137"/>
                <a:gd name="T9" fmla="*/ 77 h 102"/>
                <a:gd name="T10" fmla="*/ 96 w 137"/>
                <a:gd name="T11" fmla="*/ 99 h 102"/>
                <a:gd name="T12" fmla="*/ 50 w 137"/>
                <a:gd name="T13" fmla="*/ 96 h 102"/>
                <a:gd name="T14" fmla="*/ 9 w 137"/>
                <a:gd name="T15" fmla="*/ 77 h 102"/>
                <a:gd name="T16" fmla="*/ 2 w 137"/>
                <a:gd name="T17" fmla="*/ 63 h 1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"/>
                <a:gd name="T28" fmla="*/ 0 h 102"/>
                <a:gd name="T29" fmla="*/ 137 w 137"/>
                <a:gd name="T30" fmla="*/ 102 h 10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" h="102">
                  <a:moveTo>
                    <a:pt x="2" y="63"/>
                  </a:moveTo>
                  <a:cubicBezTo>
                    <a:pt x="4" y="53"/>
                    <a:pt x="10" y="27"/>
                    <a:pt x="19" y="17"/>
                  </a:cubicBezTo>
                  <a:cubicBezTo>
                    <a:pt x="28" y="7"/>
                    <a:pt x="41" y="6"/>
                    <a:pt x="57" y="5"/>
                  </a:cubicBezTo>
                  <a:cubicBezTo>
                    <a:pt x="73" y="4"/>
                    <a:pt x="104" y="0"/>
                    <a:pt x="117" y="12"/>
                  </a:cubicBezTo>
                  <a:cubicBezTo>
                    <a:pt x="130" y="24"/>
                    <a:pt x="137" y="63"/>
                    <a:pt x="134" y="77"/>
                  </a:cubicBezTo>
                  <a:cubicBezTo>
                    <a:pt x="131" y="91"/>
                    <a:pt x="110" y="96"/>
                    <a:pt x="96" y="99"/>
                  </a:cubicBezTo>
                  <a:cubicBezTo>
                    <a:pt x="82" y="102"/>
                    <a:pt x="64" y="100"/>
                    <a:pt x="50" y="96"/>
                  </a:cubicBezTo>
                  <a:cubicBezTo>
                    <a:pt x="36" y="92"/>
                    <a:pt x="16" y="84"/>
                    <a:pt x="9" y="77"/>
                  </a:cubicBezTo>
                  <a:cubicBezTo>
                    <a:pt x="2" y="70"/>
                    <a:pt x="0" y="73"/>
                    <a:pt x="2" y="6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25" descr="沙滩"/>
            <p:cNvSpPr>
              <a:spLocks/>
            </p:cNvSpPr>
            <p:nvPr/>
          </p:nvSpPr>
          <p:spPr bwMode="auto">
            <a:xfrm>
              <a:off x="4067" y="1633"/>
              <a:ext cx="188" cy="130"/>
            </a:xfrm>
            <a:custGeom>
              <a:avLst/>
              <a:gdLst>
                <a:gd name="T0" fmla="*/ 74 w 188"/>
                <a:gd name="T1" fmla="*/ 9 h 130"/>
                <a:gd name="T2" fmla="*/ 131 w 188"/>
                <a:gd name="T3" fmla="*/ 19 h 130"/>
                <a:gd name="T4" fmla="*/ 177 w 188"/>
                <a:gd name="T5" fmla="*/ 52 h 130"/>
                <a:gd name="T6" fmla="*/ 179 w 188"/>
                <a:gd name="T7" fmla="*/ 88 h 130"/>
                <a:gd name="T8" fmla="*/ 124 w 188"/>
                <a:gd name="T9" fmla="*/ 124 h 130"/>
                <a:gd name="T10" fmla="*/ 81 w 188"/>
                <a:gd name="T11" fmla="*/ 122 h 130"/>
                <a:gd name="T12" fmla="*/ 26 w 188"/>
                <a:gd name="T13" fmla="*/ 103 h 130"/>
                <a:gd name="T14" fmla="*/ 7 w 188"/>
                <a:gd name="T15" fmla="*/ 74 h 130"/>
                <a:gd name="T16" fmla="*/ 74 w 188"/>
                <a:gd name="T17" fmla="*/ 9 h 1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8"/>
                <a:gd name="T28" fmla="*/ 0 h 130"/>
                <a:gd name="T29" fmla="*/ 188 w 188"/>
                <a:gd name="T30" fmla="*/ 130 h 1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8" h="130">
                  <a:moveTo>
                    <a:pt x="74" y="9"/>
                  </a:moveTo>
                  <a:cubicBezTo>
                    <a:pt x="95" y="0"/>
                    <a:pt x="114" y="12"/>
                    <a:pt x="131" y="19"/>
                  </a:cubicBezTo>
                  <a:cubicBezTo>
                    <a:pt x="148" y="26"/>
                    <a:pt x="169" y="41"/>
                    <a:pt x="177" y="52"/>
                  </a:cubicBezTo>
                  <a:cubicBezTo>
                    <a:pt x="185" y="63"/>
                    <a:pt x="188" y="76"/>
                    <a:pt x="179" y="88"/>
                  </a:cubicBezTo>
                  <a:cubicBezTo>
                    <a:pt x="170" y="100"/>
                    <a:pt x="140" y="118"/>
                    <a:pt x="124" y="124"/>
                  </a:cubicBezTo>
                  <a:cubicBezTo>
                    <a:pt x="108" y="130"/>
                    <a:pt x="97" y="125"/>
                    <a:pt x="81" y="122"/>
                  </a:cubicBezTo>
                  <a:cubicBezTo>
                    <a:pt x="65" y="119"/>
                    <a:pt x="38" y="111"/>
                    <a:pt x="26" y="103"/>
                  </a:cubicBezTo>
                  <a:cubicBezTo>
                    <a:pt x="14" y="95"/>
                    <a:pt x="0" y="89"/>
                    <a:pt x="7" y="74"/>
                  </a:cubicBezTo>
                  <a:cubicBezTo>
                    <a:pt x="14" y="59"/>
                    <a:pt x="53" y="18"/>
                    <a:pt x="74" y="9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26" descr="沙滩"/>
            <p:cNvSpPr>
              <a:spLocks/>
            </p:cNvSpPr>
            <p:nvPr/>
          </p:nvSpPr>
          <p:spPr bwMode="auto">
            <a:xfrm>
              <a:off x="4091" y="1179"/>
              <a:ext cx="226" cy="160"/>
            </a:xfrm>
            <a:custGeom>
              <a:avLst/>
              <a:gdLst>
                <a:gd name="T0" fmla="*/ 121 w 226"/>
                <a:gd name="T1" fmla="*/ 148 h 160"/>
                <a:gd name="T2" fmla="*/ 53 w 226"/>
                <a:gd name="T3" fmla="*/ 145 h 160"/>
                <a:gd name="T4" fmla="*/ 5 w 226"/>
                <a:gd name="T5" fmla="*/ 109 h 160"/>
                <a:gd name="T6" fmla="*/ 25 w 226"/>
                <a:gd name="T7" fmla="*/ 54 h 160"/>
                <a:gd name="T8" fmla="*/ 73 w 226"/>
                <a:gd name="T9" fmla="*/ 8 h 160"/>
                <a:gd name="T10" fmla="*/ 128 w 226"/>
                <a:gd name="T11" fmla="*/ 6 h 160"/>
                <a:gd name="T12" fmla="*/ 190 w 226"/>
                <a:gd name="T13" fmla="*/ 18 h 160"/>
                <a:gd name="T14" fmla="*/ 226 w 226"/>
                <a:gd name="T15" fmla="*/ 40 h 160"/>
                <a:gd name="T16" fmla="*/ 188 w 226"/>
                <a:gd name="T17" fmla="*/ 71 h 160"/>
                <a:gd name="T18" fmla="*/ 121 w 226"/>
                <a:gd name="T19" fmla="*/ 148 h 1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60"/>
                <a:gd name="T32" fmla="*/ 226 w 226"/>
                <a:gd name="T33" fmla="*/ 160 h 1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60">
                  <a:moveTo>
                    <a:pt x="121" y="148"/>
                  </a:moveTo>
                  <a:cubicBezTo>
                    <a:pt x="98" y="160"/>
                    <a:pt x="72" y="152"/>
                    <a:pt x="53" y="145"/>
                  </a:cubicBezTo>
                  <a:cubicBezTo>
                    <a:pt x="34" y="138"/>
                    <a:pt x="10" y="124"/>
                    <a:pt x="5" y="109"/>
                  </a:cubicBezTo>
                  <a:cubicBezTo>
                    <a:pt x="0" y="94"/>
                    <a:pt x="14" y="71"/>
                    <a:pt x="25" y="54"/>
                  </a:cubicBezTo>
                  <a:cubicBezTo>
                    <a:pt x="36" y="37"/>
                    <a:pt x="56" y="16"/>
                    <a:pt x="73" y="8"/>
                  </a:cubicBezTo>
                  <a:cubicBezTo>
                    <a:pt x="90" y="0"/>
                    <a:pt x="109" y="4"/>
                    <a:pt x="128" y="6"/>
                  </a:cubicBezTo>
                  <a:cubicBezTo>
                    <a:pt x="147" y="8"/>
                    <a:pt x="174" y="12"/>
                    <a:pt x="190" y="18"/>
                  </a:cubicBezTo>
                  <a:cubicBezTo>
                    <a:pt x="206" y="24"/>
                    <a:pt x="226" y="31"/>
                    <a:pt x="226" y="40"/>
                  </a:cubicBezTo>
                  <a:cubicBezTo>
                    <a:pt x="226" y="49"/>
                    <a:pt x="206" y="53"/>
                    <a:pt x="188" y="71"/>
                  </a:cubicBezTo>
                  <a:cubicBezTo>
                    <a:pt x="170" y="89"/>
                    <a:pt x="144" y="136"/>
                    <a:pt x="121" y="148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27" descr="沙滩"/>
            <p:cNvSpPr>
              <a:spLocks/>
            </p:cNvSpPr>
            <p:nvPr/>
          </p:nvSpPr>
          <p:spPr bwMode="auto">
            <a:xfrm>
              <a:off x="4005" y="1298"/>
              <a:ext cx="112" cy="111"/>
            </a:xfrm>
            <a:custGeom>
              <a:avLst/>
              <a:gdLst>
                <a:gd name="T0" fmla="*/ 20 w 112"/>
                <a:gd name="T1" fmla="*/ 44 h 111"/>
                <a:gd name="T2" fmla="*/ 61 w 112"/>
                <a:gd name="T3" fmla="*/ 6 h 111"/>
                <a:gd name="T4" fmla="*/ 99 w 112"/>
                <a:gd name="T5" fmla="*/ 8 h 111"/>
                <a:gd name="T6" fmla="*/ 111 w 112"/>
                <a:gd name="T7" fmla="*/ 49 h 111"/>
                <a:gd name="T8" fmla="*/ 92 w 112"/>
                <a:gd name="T9" fmla="*/ 100 h 111"/>
                <a:gd name="T10" fmla="*/ 35 w 112"/>
                <a:gd name="T11" fmla="*/ 107 h 111"/>
                <a:gd name="T12" fmla="*/ 3 w 112"/>
                <a:gd name="T13" fmla="*/ 78 h 111"/>
                <a:gd name="T14" fmla="*/ 20 w 112"/>
                <a:gd name="T15" fmla="*/ 44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2"/>
                <a:gd name="T25" fmla="*/ 0 h 111"/>
                <a:gd name="T26" fmla="*/ 112 w 112"/>
                <a:gd name="T27" fmla="*/ 111 h 1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2" h="111">
                  <a:moveTo>
                    <a:pt x="20" y="44"/>
                  </a:moveTo>
                  <a:cubicBezTo>
                    <a:pt x="30" y="32"/>
                    <a:pt x="48" y="12"/>
                    <a:pt x="61" y="6"/>
                  </a:cubicBezTo>
                  <a:cubicBezTo>
                    <a:pt x="74" y="0"/>
                    <a:pt x="91" y="1"/>
                    <a:pt x="99" y="8"/>
                  </a:cubicBezTo>
                  <a:cubicBezTo>
                    <a:pt x="107" y="15"/>
                    <a:pt x="112" y="34"/>
                    <a:pt x="111" y="49"/>
                  </a:cubicBezTo>
                  <a:cubicBezTo>
                    <a:pt x="110" y="64"/>
                    <a:pt x="105" y="90"/>
                    <a:pt x="92" y="100"/>
                  </a:cubicBezTo>
                  <a:cubicBezTo>
                    <a:pt x="79" y="110"/>
                    <a:pt x="50" y="111"/>
                    <a:pt x="35" y="107"/>
                  </a:cubicBezTo>
                  <a:cubicBezTo>
                    <a:pt x="20" y="103"/>
                    <a:pt x="6" y="90"/>
                    <a:pt x="3" y="78"/>
                  </a:cubicBezTo>
                  <a:cubicBezTo>
                    <a:pt x="0" y="66"/>
                    <a:pt x="10" y="56"/>
                    <a:pt x="20" y="44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28"/>
            <p:cNvSpPr>
              <a:spLocks/>
            </p:cNvSpPr>
            <p:nvPr/>
          </p:nvSpPr>
          <p:spPr bwMode="auto">
            <a:xfrm>
              <a:off x="3855" y="1394"/>
              <a:ext cx="1191" cy="77"/>
            </a:xfrm>
            <a:custGeom>
              <a:avLst/>
              <a:gdLst>
                <a:gd name="T0" fmla="*/ 0 w 1191"/>
                <a:gd name="T1" fmla="*/ 16 h 77"/>
                <a:gd name="T2" fmla="*/ 135 w 1191"/>
                <a:gd name="T3" fmla="*/ 25 h 77"/>
                <a:gd name="T4" fmla="*/ 253 w 1191"/>
                <a:gd name="T5" fmla="*/ 19 h 77"/>
                <a:gd name="T6" fmla="*/ 317 w 1191"/>
                <a:gd name="T7" fmla="*/ 3 h 77"/>
                <a:gd name="T8" fmla="*/ 359 w 1191"/>
                <a:gd name="T9" fmla="*/ 19 h 77"/>
                <a:gd name="T10" fmla="*/ 420 w 1191"/>
                <a:gd name="T11" fmla="*/ 67 h 77"/>
                <a:gd name="T12" fmla="*/ 500 w 1191"/>
                <a:gd name="T13" fmla="*/ 77 h 77"/>
                <a:gd name="T14" fmla="*/ 573 w 1191"/>
                <a:gd name="T15" fmla="*/ 70 h 77"/>
                <a:gd name="T16" fmla="*/ 669 w 1191"/>
                <a:gd name="T17" fmla="*/ 67 h 77"/>
                <a:gd name="T18" fmla="*/ 740 w 1191"/>
                <a:gd name="T19" fmla="*/ 67 h 77"/>
                <a:gd name="T20" fmla="*/ 819 w 1191"/>
                <a:gd name="T21" fmla="*/ 58 h 77"/>
                <a:gd name="T22" fmla="*/ 886 w 1191"/>
                <a:gd name="T23" fmla="*/ 46 h 77"/>
                <a:gd name="T24" fmla="*/ 973 w 1191"/>
                <a:gd name="T25" fmla="*/ 44 h 77"/>
                <a:gd name="T26" fmla="*/ 1047 w 1191"/>
                <a:gd name="T27" fmla="*/ 35 h 77"/>
                <a:gd name="T28" fmla="*/ 1105 w 1191"/>
                <a:gd name="T29" fmla="*/ 9 h 77"/>
                <a:gd name="T30" fmla="*/ 1191 w 1191"/>
                <a:gd name="T31" fmla="*/ 0 h 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191"/>
                <a:gd name="T49" fmla="*/ 0 h 77"/>
                <a:gd name="T50" fmla="*/ 1191 w 1191"/>
                <a:gd name="T51" fmla="*/ 77 h 7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191" h="77">
                  <a:moveTo>
                    <a:pt x="0" y="16"/>
                  </a:moveTo>
                  <a:cubicBezTo>
                    <a:pt x="21" y="18"/>
                    <a:pt x="93" y="25"/>
                    <a:pt x="135" y="25"/>
                  </a:cubicBezTo>
                  <a:cubicBezTo>
                    <a:pt x="177" y="25"/>
                    <a:pt x="223" y="23"/>
                    <a:pt x="253" y="19"/>
                  </a:cubicBezTo>
                  <a:cubicBezTo>
                    <a:pt x="283" y="15"/>
                    <a:pt x="299" y="3"/>
                    <a:pt x="317" y="3"/>
                  </a:cubicBezTo>
                  <a:cubicBezTo>
                    <a:pt x="335" y="3"/>
                    <a:pt x="342" y="8"/>
                    <a:pt x="359" y="19"/>
                  </a:cubicBezTo>
                  <a:cubicBezTo>
                    <a:pt x="376" y="30"/>
                    <a:pt x="397" y="57"/>
                    <a:pt x="420" y="67"/>
                  </a:cubicBezTo>
                  <a:cubicBezTo>
                    <a:pt x="443" y="77"/>
                    <a:pt x="475" y="77"/>
                    <a:pt x="500" y="77"/>
                  </a:cubicBezTo>
                  <a:cubicBezTo>
                    <a:pt x="525" y="77"/>
                    <a:pt x="545" y="72"/>
                    <a:pt x="573" y="70"/>
                  </a:cubicBezTo>
                  <a:cubicBezTo>
                    <a:pt x="601" y="68"/>
                    <a:pt x="641" y="67"/>
                    <a:pt x="669" y="67"/>
                  </a:cubicBezTo>
                  <a:cubicBezTo>
                    <a:pt x="697" y="67"/>
                    <a:pt x="715" y="68"/>
                    <a:pt x="740" y="67"/>
                  </a:cubicBezTo>
                  <a:cubicBezTo>
                    <a:pt x="765" y="66"/>
                    <a:pt x="795" y="61"/>
                    <a:pt x="819" y="58"/>
                  </a:cubicBezTo>
                  <a:cubicBezTo>
                    <a:pt x="843" y="55"/>
                    <a:pt x="860" y="48"/>
                    <a:pt x="886" y="46"/>
                  </a:cubicBezTo>
                  <a:cubicBezTo>
                    <a:pt x="912" y="44"/>
                    <a:pt x="946" y="46"/>
                    <a:pt x="973" y="44"/>
                  </a:cubicBezTo>
                  <a:cubicBezTo>
                    <a:pt x="1000" y="42"/>
                    <a:pt x="1025" y="41"/>
                    <a:pt x="1047" y="35"/>
                  </a:cubicBezTo>
                  <a:cubicBezTo>
                    <a:pt x="1069" y="29"/>
                    <a:pt x="1081" y="15"/>
                    <a:pt x="1105" y="9"/>
                  </a:cubicBezTo>
                  <a:cubicBezTo>
                    <a:pt x="1129" y="3"/>
                    <a:pt x="1176" y="1"/>
                    <a:pt x="1191" y="0"/>
                  </a:cubicBezTo>
                </a:path>
              </a:pathLst>
            </a:custGeom>
            <a:noFill/>
            <a:ln w="19050" cap="flat" cmpd="sng">
              <a:solidFill>
                <a:srgbClr val="A5002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29" descr="沙滩"/>
            <p:cNvSpPr>
              <a:spLocks/>
            </p:cNvSpPr>
            <p:nvPr/>
          </p:nvSpPr>
          <p:spPr bwMode="auto">
            <a:xfrm>
              <a:off x="4759" y="1455"/>
              <a:ext cx="74" cy="50"/>
            </a:xfrm>
            <a:custGeom>
              <a:avLst/>
              <a:gdLst>
                <a:gd name="T0" fmla="*/ 5 w 74"/>
                <a:gd name="T1" fmla="*/ 12 h 50"/>
                <a:gd name="T2" fmla="*/ 65 w 74"/>
                <a:gd name="T3" fmla="*/ 2 h 50"/>
                <a:gd name="T4" fmla="*/ 60 w 74"/>
                <a:gd name="T5" fmla="*/ 22 h 50"/>
                <a:gd name="T6" fmla="*/ 50 w 74"/>
                <a:gd name="T7" fmla="*/ 35 h 50"/>
                <a:gd name="T8" fmla="*/ 23 w 74"/>
                <a:gd name="T9" fmla="*/ 49 h 50"/>
                <a:gd name="T10" fmla="*/ 13 w 74"/>
                <a:gd name="T11" fmla="*/ 41 h 50"/>
                <a:gd name="T12" fmla="*/ 1 w 74"/>
                <a:gd name="T13" fmla="*/ 28 h 50"/>
                <a:gd name="T14" fmla="*/ 5 w 74"/>
                <a:gd name="T15" fmla="*/ 12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4"/>
                <a:gd name="T25" fmla="*/ 0 h 50"/>
                <a:gd name="T26" fmla="*/ 74 w 74"/>
                <a:gd name="T27" fmla="*/ 50 h 5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4" h="50">
                  <a:moveTo>
                    <a:pt x="5" y="12"/>
                  </a:moveTo>
                  <a:cubicBezTo>
                    <a:pt x="15" y="7"/>
                    <a:pt x="56" y="0"/>
                    <a:pt x="65" y="2"/>
                  </a:cubicBezTo>
                  <a:cubicBezTo>
                    <a:pt x="74" y="4"/>
                    <a:pt x="62" y="16"/>
                    <a:pt x="60" y="22"/>
                  </a:cubicBezTo>
                  <a:cubicBezTo>
                    <a:pt x="58" y="28"/>
                    <a:pt x="56" y="30"/>
                    <a:pt x="50" y="35"/>
                  </a:cubicBezTo>
                  <a:cubicBezTo>
                    <a:pt x="44" y="40"/>
                    <a:pt x="29" y="48"/>
                    <a:pt x="23" y="49"/>
                  </a:cubicBezTo>
                  <a:cubicBezTo>
                    <a:pt x="17" y="50"/>
                    <a:pt x="17" y="44"/>
                    <a:pt x="13" y="41"/>
                  </a:cubicBezTo>
                  <a:cubicBezTo>
                    <a:pt x="9" y="38"/>
                    <a:pt x="2" y="33"/>
                    <a:pt x="1" y="28"/>
                  </a:cubicBezTo>
                  <a:cubicBezTo>
                    <a:pt x="0" y="23"/>
                    <a:pt x="4" y="15"/>
                    <a:pt x="5" y="12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Oval 30"/>
            <p:cNvSpPr>
              <a:spLocks noChangeArrowheads="1"/>
            </p:cNvSpPr>
            <p:nvPr/>
          </p:nvSpPr>
          <p:spPr bwMode="auto">
            <a:xfrm>
              <a:off x="4350" y="1344"/>
              <a:ext cx="36" cy="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31"/>
            <p:cNvSpPr>
              <a:spLocks noChangeShapeType="1"/>
            </p:cNvSpPr>
            <p:nvPr/>
          </p:nvSpPr>
          <p:spPr bwMode="auto">
            <a:xfrm flipH="1" flipV="1">
              <a:off x="4225" y="1224"/>
              <a:ext cx="130" cy="13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AutoShape 32"/>
            <p:cNvSpPr>
              <a:spLocks noChangeArrowheads="1"/>
            </p:cNvSpPr>
            <p:nvPr/>
          </p:nvSpPr>
          <p:spPr bwMode="auto">
            <a:xfrm>
              <a:off x="5032" y="1276"/>
              <a:ext cx="222" cy="181"/>
            </a:xfrm>
            <a:prstGeom prst="leftArrow">
              <a:avLst>
                <a:gd name="adj1" fmla="val 50000"/>
                <a:gd name="adj2" fmla="val 49680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Oval 33"/>
            <p:cNvSpPr>
              <a:spLocks noChangeArrowheads="1"/>
            </p:cNvSpPr>
            <p:nvPr/>
          </p:nvSpPr>
          <p:spPr bwMode="auto">
            <a:xfrm>
              <a:off x="4107" y="1461"/>
              <a:ext cx="36" cy="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indent="358775" algn="ctr"/>
              <a:endParaRPr lang="zh-CN" altLang="en-US"/>
            </a:p>
          </p:txBody>
        </p:sp>
        <p:sp>
          <p:nvSpPr>
            <p:cNvPr id="96" name="Line 34"/>
            <p:cNvSpPr>
              <a:spLocks noChangeShapeType="1"/>
            </p:cNvSpPr>
            <p:nvPr/>
          </p:nvSpPr>
          <p:spPr bwMode="auto">
            <a:xfrm flipH="1">
              <a:off x="3952" y="1483"/>
              <a:ext cx="168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 Box 35"/>
            <p:cNvSpPr txBox="1">
              <a:spLocks noChangeArrowheads="1"/>
            </p:cNvSpPr>
            <p:nvPr/>
          </p:nvSpPr>
          <p:spPr bwMode="auto">
            <a:xfrm>
              <a:off x="4725" y="982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C</a:t>
              </a:r>
            </a:p>
          </p:txBody>
        </p:sp>
        <p:sp>
          <p:nvSpPr>
            <p:cNvPr id="98" name="Text Box 36"/>
            <p:cNvSpPr txBox="1">
              <a:spLocks noChangeArrowheads="1"/>
            </p:cNvSpPr>
            <p:nvPr/>
          </p:nvSpPr>
          <p:spPr bwMode="auto">
            <a:xfrm>
              <a:off x="4329" y="966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sp>
          <p:nvSpPr>
            <p:cNvPr id="99" name="Text Box 37"/>
            <p:cNvSpPr txBox="1">
              <a:spLocks noChangeArrowheads="1"/>
            </p:cNvSpPr>
            <p:nvPr/>
          </p:nvSpPr>
          <p:spPr bwMode="auto">
            <a:xfrm>
              <a:off x="3876" y="1614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B</a:t>
              </a:r>
            </a:p>
          </p:txBody>
        </p:sp>
        <p:sp>
          <p:nvSpPr>
            <p:cNvPr id="100" name="Freeform 38" descr="沙滩"/>
            <p:cNvSpPr>
              <a:spLocks/>
            </p:cNvSpPr>
            <p:nvPr/>
          </p:nvSpPr>
          <p:spPr bwMode="auto">
            <a:xfrm>
              <a:off x="2372" y="1466"/>
              <a:ext cx="256" cy="230"/>
            </a:xfrm>
            <a:custGeom>
              <a:avLst/>
              <a:gdLst>
                <a:gd name="T0" fmla="*/ 114 w 256"/>
                <a:gd name="T1" fmla="*/ 10 h 230"/>
                <a:gd name="T2" fmla="*/ 178 w 256"/>
                <a:gd name="T3" fmla="*/ 6 h 230"/>
                <a:gd name="T4" fmla="*/ 223 w 256"/>
                <a:gd name="T5" fmla="*/ 48 h 230"/>
                <a:gd name="T6" fmla="*/ 255 w 256"/>
                <a:gd name="T7" fmla="*/ 112 h 230"/>
                <a:gd name="T8" fmla="*/ 220 w 256"/>
                <a:gd name="T9" fmla="*/ 176 h 230"/>
                <a:gd name="T10" fmla="*/ 152 w 256"/>
                <a:gd name="T11" fmla="*/ 214 h 230"/>
                <a:gd name="T12" fmla="*/ 114 w 256"/>
                <a:gd name="T13" fmla="*/ 230 h 230"/>
                <a:gd name="T14" fmla="*/ 40 w 256"/>
                <a:gd name="T15" fmla="*/ 211 h 230"/>
                <a:gd name="T16" fmla="*/ 12 w 256"/>
                <a:gd name="T17" fmla="*/ 160 h 230"/>
                <a:gd name="T18" fmla="*/ 2 w 256"/>
                <a:gd name="T19" fmla="*/ 99 h 230"/>
                <a:gd name="T20" fmla="*/ 24 w 256"/>
                <a:gd name="T21" fmla="*/ 48 h 230"/>
                <a:gd name="T22" fmla="*/ 66 w 256"/>
                <a:gd name="T23" fmla="*/ 26 h 230"/>
                <a:gd name="T24" fmla="*/ 114 w 256"/>
                <a:gd name="T25" fmla="*/ 10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6"/>
                <a:gd name="T40" fmla="*/ 0 h 230"/>
                <a:gd name="T41" fmla="*/ 256 w 256"/>
                <a:gd name="T42" fmla="*/ 230 h 2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6" h="230">
                  <a:moveTo>
                    <a:pt x="114" y="10"/>
                  </a:moveTo>
                  <a:cubicBezTo>
                    <a:pt x="133" y="7"/>
                    <a:pt x="160" y="0"/>
                    <a:pt x="178" y="6"/>
                  </a:cubicBezTo>
                  <a:cubicBezTo>
                    <a:pt x="196" y="12"/>
                    <a:pt x="210" y="30"/>
                    <a:pt x="223" y="48"/>
                  </a:cubicBezTo>
                  <a:cubicBezTo>
                    <a:pt x="236" y="66"/>
                    <a:pt x="256" y="91"/>
                    <a:pt x="255" y="112"/>
                  </a:cubicBezTo>
                  <a:cubicBezTo>
                    <a:pt x="254" y="133"/>
                    <a:pt x="237" y="159"/>
                    <a:pt x="220" y="176"/>
                  </a:cubicBezTo>
                  <a:cubicBezTo>
                    <a:pt x="203" y="193"/>
                    <a:pt x="170" y="205"/>
                    <a:pt x="152" y="214"/>
                  </a:cubicBezTo>
                  <a:cubicBezTo>
                    <a:pt x="134" y="223"/>
                    <a:pt x="133" y="230"/>
                    <a:pt x="114" y="230"/>
                  </a:cubicBezTo>
                  <a:cubicBezTo>
                    <a:pt x="95" y="230"/>
                    <a:pt x="57" y="223"/>
                    <a:pt x="40" y="211"/>
                  </a:cubicBezTo>
                  <a:cubicBezTo>
                    <a:pt x="23" y="199"/>
                    <a:pt x="18" y="179"/>
                    <a:pt x="12" y="160"/>
                  </a:cubicBezTo>
                  <a:cubicBezTo>
                    <a:pt x="6" y="141"/>
                    <a:pt x="0" y="118"/>
                    <a:pt x="2" y="99"/>
                  </a:cubicBezTo>
                  <a:cubicBezTo>
                    <a:pt x="4" y="80"/>
                    <a:pt x="13" y="60"/>
                    <a:pt x="24" y="48"/>
                  </a:cubicBezTo>
                  <a:cubicBezTo>
                    <a:pt x="35" y="36"/>
                    <a:pt x="51" y="32"/>
                    <a:pt x="66" y="26"/>
                  </a:cubicBezTo>
                  <a:cubicBezTo>
                    <a:pt x="81" y="20"/>
                    <a:pt x="95" y="13"/>
                    <a:pt x="114" y="10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39" descr="沙滩"/>
            <p:cNvSpPr>
              <a:spLocks/>
            </p:cNvSpPr>
            <p:nvPr/>
          </p:nvSpPr>
          <p:spPr bwMode="auto">
            <a:xfrm>
              <a:off x="2559" y="1275"/>
              <a:ext cx="282" cy="243"/>
            </a:xfrm>
            <a:custGeom>
              <a:avLst/>
              <a:gdLst>
                <a:gd name="T0" fmla="*/ 8 w 282"/>
                <a:gd name="T1" fmla="*/ 195 h 243"/>
                <a:gd name="T2" fmla="*/ 8 w 282"/>
                <a:gd name="T3" fmla="*/ 152 h 243"/>
                <a:gd name="T4" fmla="*/ 58 w 282"/>
                <a:gd name="T5" fmla="*/ 90 h 243"/>
                <a:gd name="T6" fmla="*/ 123 w 282"/>
                <a:gd name="T7" fmla="*/ 37 h 243"/>
                <a:gd name="T8" fmla="*/ 195 w 282"/>
                <a:gd name="T9" fmla="*/ 3 h 243"/>
                <a:gd name="T10" fmla="*/ 241 w 282"/>
                <a:gd name="T11" fmla="*/ 18 h 243"/>
                <a:gd name="T12" fmla="*/ 267 w 282"/>
                <a:gd name="T13" fmla="*/ 49 h 243"/>
                <a:gd name="T14" fmla="*/ 281 w 282"/>
                <a:gd name="T15" fmla="*/ 102 h 243"/>
                <a:gd name="T16" fmla="*/ 260 w 282"/>
                <a:gd name="T17" fmla="*/ 164 h 243"/>
                <a:gd name="T18" fmla="*/ 214 w 282"/>
                <a:gd name="T19" fmla="*/ 210 h 243"/>
                <a:gd name="T20" fmla="*/ 133 w 282"/>
                <a:gd name="T21" fmla="*/ 238 h 243"/>
                <a:gd name="T22" fmla="*/ 87 w 282"/>
                <a:gd name="T23" fmla="*/ 238 h 243"/>
                <a:gd name="T24" fmla="*/ 65 w 282"/>
                <a:gd name="T25" fmla="*/ 234 h 243"/>
                <a:gd name="T26" fmla="*/ 41 w 282"/>
                <a:gd name="T27" fmla="*/ 224 h 243"/>
                <a:gd name="T28" fmla="*/ 8 w 282"/>
                <a:gd name="T29" fmla="*/ 195 h 2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82"/>
                <a:gd name="T46" fmla="*/ 0 h 243"/>
                <a:gd name="T47" fmla="*/ 282 w 282"/>
                <a:gd name="T48" fmla="*/ 243 h 24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82" h="243">
                  <a:moveTo>
                    <a:pt x="8" y="195"/>
                  </a:moveTo>
                  <a:cubicBezTo>
                    <a:pt x="2" y="183"/>
                    <a:pt x="0" y="170"/>
                    <a:pt x="8" y="152"/>
                  </a:cubicBezTo>
                  <a:cubicBezTo>
                    <a:pt x="16" y="134"/>
                    <a:pt x="39" y="109"/>
                    <a:pt x="58" y="90"/>
                  </a:cubicBezTo>
                  <a:cubicBezTo>
                    <a:pt x="77" y="71"/>
                    <a:pt x="100" y="51"/>
                    <a:pt x="123" y="37"/>
                  </a:cubicBezTo>
                  <a:cubicBezTo>
                    <a:pt x="146" y="23"/>
                    <a:pt x="175" y="6"/>
                    <a:pt x="195" y="3"/>
                  </a:cubicBezTo>
                  <a:cubicBezTo>
                    <a:pt x="215" y="0"/>
                    <a:pt x="229" y="10"/>
                    <a:pt x="241" y="18"/>
                  </a:cubicBezTo>
                  <a:cubicBezTo>
                    <a:pt x="253" y="26"/>
                    <a:pt x="260" y="35"/>
                    <a:pt x="267" y="49"/>
                  </a:cubicBezTo>
                  <a:cubicBezTo>
                    <a:pt x="274" y="63"/>
                    <a:pt x="282" y="83"/>
                    <a:pt x="281" y="102"/>
                  </a:cubicBezTo>
                  <a:cubicBezTo>
                    <a:pt x="280" y="121"/>
                    <a:pt x="271" y="146"/>
                    <a:pt x="260" y="164"/>
                  </a:cubicBezTo>
                  <a:cubicBezTo>
                    <a:pt x="249" y="182"/>
                    <a:pt x="235" y="198"/>
                    <a:pt x="214" y="210"/>
                  </a:cubicBezTo>
                  <a:cubicBezTo>
                    <a:pt x="193" y="222"/>
                    <a:pt x="154" y="233"/>
                    <a:pt x="133" y="238"/>
                  </a:cubicBezTo>
                  <a:cubicBezTo>
                    <a:pt x="112" y="243"/>
                    <a:pt x="98" y="239"/>
                    <a:pt x="87" y="238"/>
                  </a:cubicBezTo>
                  <a:cubicBezTo>
                    <a:pt x="76" y="237"/>
                    <a:pt x="73" y="236"/>
                    <a:pt x="65" y="234"/>
                  </a:cubicBezTo>
                  <a:cubicBezTo>
                    <a:pt x="57" y="232"/>
                    <a:pt x="50" y="230"/>
                    <a:pt x="41" y="224"/>
                  </a:cubicBezTo>
                  <a:cubicBezTo>
                    <a:pt x="32" y="218"/>
                    <a:pt x="14" y="207"/>
                    <a:pt x="8" y="195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40" descr="沙滩"/>
            <p:cNvSpPr>
              <a:spLocks/>
            </p:cNvSpPr>
            <p:nvPr/>
          </p:nvSpPr>
          <p:spPr bwMode="auto">
            <a:xfrm>
              <a:off x="2621" y="1534"/>
              <a:ext cx="249" cy="146"/>
            </a:xfrm>
            <a:custGeom>
              <a:avLst/>
              <a:gdLst>
                <a:gd name="T0" fmla="*/ 2 w 249"/>
                <a:gd name="T1" fmla="*/ 111 h 178"/>
                <a:gd name="T2" fmla="*/ 19 w 249"/>
                <a:gd name="T3" fmla="*/ 63 h 178"/>
                <a:gd name="T4" fmla="*/ 74 w 249"/>
                <a:gd name="T5" fmla="*/ 24 h 178"/>
                <a:gd name="T6" fmla="*/ 110 w 249"/>
                <a:gd name="T7" fmla="*/ 8 h 178"/>
                <a:gd name="T8" fmla="*/ 168 w 249"/>
                <a:gd name="T9" fmla="*/ 3 h 178"/>
                <a:gd name="T10" fmla="*/ 233 w 249"/>
                <a:gd name="T11" fmla="*/ 27 h 178"/>
                <a:gd name="T12" fmla="*/ 247 w 249"/>
                <a:gd name="T13" fmla="*/ 51 h 178"/>
                <a:gd name="T14" fmla="*/ 245 w 249"/>
                <a:gd name="T15" fmla="*/ 92 h 178"/>
                <a:gd name="T16" fmla="*/ 226 w 249"/>
                <a:gd name="T17" fmla="*/ 130 h 178"/>
                <a:gd name="T18" fmla="*/ 187 w 249"/>
                <a:gd name="T19" fmla="*/ 164 h 178"/>
                <a:gd name="T20" fmla="*/ 137 w 249"/>
                <a:gd name="T21" fmla="*/ 173 h 178"/>
                <a:gd name="T22" fmla="*/ 65 w 249"/>
                <a:gd name="T23" fmla="*/ 176 h 178"/>
                <a:gd name="T24" fmla="*/ 31 w 249"/>
                <a:gd name="T25" fmla="*/ 164 h 178"/>
                <a:gd name="T26" fmla="*/ 2 w 249"/>
                <a:gd name="T27" fmla="*/ 111 h 1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9"/>
                <a:gd name="T43" fmla="*/ 0 h 178"/>
                <a:gd name="T44" fmla="*/ 249 w 249"/>
                <a:gd name="T45" fmla="*/ 178 h 17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9" h="178">
                  <a:moveTo>
                    <a:pt x="2" y="111"/>
                  </a:moveTo>
                  <a:cubicBezTo>
                    <a:pt x="0" y="94"/>
                    <a:pt x="7" y="77"/>
                    <a:pt x="19" y="63"/>
                  </a:cubicBezTo>
                  <a:cubicBezTo>
                    <a:pt x="31" y="49"/>
                    <a:pt x="59" y="33"/>
                    <a:pt x="74" y="24"/>
                  </a:cubicBezTo>
                  <a:cubicBezTo>
                    <a:pt x="89" y="15"/>
                    <a:pt x="94" y="12"/>
                    <a:pt x="110" y="8"/>
                  </a:cubicBezTo>
                  <a:cubicBezTo>
                    <a:pt x="126" y="4"/>
                    <a:pt x="148" y="0"/>
                    <a:pt x="168" y="3"/>
                  </a:cubicBezTo>
                  <a:cubicBezTo>
                    <a:pt x="188" y="6"/>
                    <a:pt x="220" y="19"/>
                    <a:pt x="233" y="27"/>
                  </a:cubicBezTo>
                  <a:cubicBezTo>
                    <a:pt x="246" y="35"/>
                    <a:pt x="245" y="40"/>
                    <a:pt x="247" y="51"/>
                  </a:cubicBezTo>
                  <a:cubicBezTo>
                    <a:pt x="249" y="62"/>
                    <a:pt x="248" y="79"/>
                    <a:pt x="245" y="92"/>
                  </a:cubicBezTo>
                  <a:cubicBezTo>
                    <a:pt x="242" y="105"/>
                    <a:pt x="236" y="118"/>
                    <a:pt x="226" y="130"/>
                  </a:cubicBezTo>
                  <a:cubicBezTo>
                    <a:pt x="216" y="142"/>
                    <a:pt x="202" y="157"/>
                    <a:pt x="187" y="164"/>
                  </a:cubicBezTo>
                  <a:cubicBezTo>
                    <a:pt x="172" y="171"/>
                    <a:pt x="157" y="171"/>
                    <a:pt x="137" y="173"/>
                  </a:cubicBezTo>
                  <a:cubicBezTo>
                    <a:pt x="117" y="175"/>
                    <a:pt x="83" y="178"/>
                    <a:pt x="65" y="176"/>
                  </a:cubicBezTo>
                  <a:cubicBezTo>
                    <a:pt x="47" y="174"/>
                    <a:pt x="42" y="173"/>
                    <a:pt x="31" y="164"/>
                  </a:cubicBezTo>
                  <a:cubicBezTo>
                    <a:pt x="20" y="155"/>
                    <a:pt x="4" y="128"/>
                    <a:pt x="2" y="111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41" descr="沙滩"/>
            <p:cNvSpPr>
              <a:spLocks/>
            </p:cNvSpPr>
            <p:nvPr/>
          </p:nvSpPr>
          <p:spPr bwMode="auto">
            <a:xfrm>
              <a:off x="2831" y="1398"/>
              <a:ext cx="174" cy="121"/>
            </a:xfrm>
            <a:custGeom>
              <a:avLst/>
              <a:gdLst>
                <a:gd name="T0" fmla="*/ 4 w 193"/>
                <a:gd name="T1" fmla="*/ 48 h 153"/>
                <a:gd name="T2" fmla="*/ 16 w 193"/>
                <a:gd name="T3" fmla="*/ 10 h 153"/>
                <a:gd name="T4" fmla="*/ 79 w 193"/>
                <a:gd name="T5" fmla="*/ 0 h 153"/>
                <a:gd name="T6" fmla="*/ 136 w 193"/>
                <a:gd name="T7" fmla="*/ 7 h 153"/>
                <a:gd name="T8" fmla="*/ 177 w 193"/>
                <a:gd name="T9" fmla="*/ 19 h 153"/>
                <a:gd name="T10" fmla="*/ 192 w 193"/>
                <a:gd name="T11" fmla="*/ 65 h 153"/>
                <a:gd name="T12" fmla="*/ 168 w 193"/>
                <a:gd name="T13" fmla="*/ 122 h 153"/>
                <a:gd name="T14" fmla="*/ 153 w 193"/>
                <a:gd name="T15" fmla="*/ 151 h 153"/>
                <a:gd name="T16" fmla="*/ 96 w 193"/>
                <a:gd name="T17" fmla="*/ 137 h 153"/>
                <a:gd name="T18" fmla="*/ 38 w 193"/>
                <a:gd name="T19" fmla="*/ 94 h 153"/>
                <a:gd name="T20" fmla="*/ 4 w 193"/>
                <a:gd name="T21" fmla="*/ 48 h 1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93"/>
                <a:gd name="T34" fmla="*/ 0 h 153"/>
                <a:gd name="T35" fmla="*/ 193 w 193"/>
                <a:gd name="T36" fmla="*/ 153 h 1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93" h="153">
                  <a:moveTo>
                    <a:pt x="4" y="48"/>
                  </a:moveTo>
                  <a:cubicBezTo>
                    <a:pt x="0" y="34"/>
                    <a:pt x="4" y="18"/>
                    <a:pt x="16" y="10"/>
                  </a:cubicBezTo>
                  <a:cubicBezTo>
                    <a:pt x="28" y="2"/>
                    <a:pt x="59" y="0"/>
                    <a:pt x="79" y="0"/>
                  </a:cubicBezTo>
                  <a:cubicBezTo>
                    <a:pt x="99" y="0"/>
                    <a:pt x="120" y="4"/>
                    <a:pt x="136" y="7"/>
                  </a:cubicBezTo>
                  <a:cubicBezTo>
                    <a:pt x="152" y="10"/>
                    <a:pt x="168" y="9"/>
                    <a:pt x="177" y="19"/>
                  </a:cubicBezTo>
                  <a:cubicBezTo>
                    <a:pt x="186" y="29"/>
                    <a:pt x="193" y="48"/>
                    <a:pt x="192" y="65"/>
                  </a:cubicBezTo>
                  <a:cubicBezTo>
                    <a:pt x="191" y="82"/>
                    <a:pt x="174" y="108"/>
                    <a:pt x="168" y="122"/>
                  </a:cubicBezTo>
                  <a:cubicBezTo>
                    <a:pt x="162" y="136"/>
                    <a:pt x="165" y="149"/>
                    <a:pt x="153" y="151"/>
                  </a:cubicBezTo>
                  <a:cubicBezTo>
                    <a:pt x="141" y="153"/>
                    <a:pt x="115" y="146"/>
                    <a:pt x="96" y="137"/>
                  </a:cubicBezTo>
                  <a:cubicBezTo>
                    <a:pt x="77" y="128"/>
                    <a:pt x="52" y="108"/>
                    <a:pt x="38" y="94"/>
                  </a:cubicBezTo>
                  <a:cubicBezTo>
                    <a:pt x="24" y="80"/>
                    <a:pt x="8" y="62"/>
                    <a:pt x="4" y="48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42" descr="沙滩"/>
            <p:cNvSpPr>
              <a:spLocks/>
            </p:cNvSpPr>
            <p:nvPr/>
          </p:nvSpPr>
          <p:spPr bwMode="auto">
            <a:xfrm>
              <a:off x="2844" y="1199"/>
              <a:ext cx="187" cy="129"/>
            </a:xfrm>
            <a:custGeom>
              <a:avLst/>
              <a:gdLst>
                <a:gd name="T0" fmla="*/ 12 w 187"/>
                <a:gd name="T1" fmla="*/ 92 h 129"/>
                <a:gd name="T2" fmla="*/ 5 w 187"/>
                <a:gd name="T3" fmla="*/ 44 h 129"/>
                <a:gd name="T4" fmla="*/ 41 w 187"/>
                <a:gd name="T5" fmla="*/ 16 h 129"/>
                <a:gd name="T6" fmla="*/ 101 w 187"/>
                <a:gd name="T7" fmla="*/ 1 h 129"/>
                <a:gd name="T8" fmla="*/ 165 w 187"/>
                <a:gd name="T9" fmla="*/ 13 h 129"/>
                <a:gd name="T10" fmla="*/ 185 w 187"/>
                <a:gd name="T11" fmla="*/ 59 h 129"/>
                <a:gd name="T12" fmla="*/ 175 w 187"/>
                <a:gd name="T13" fmla="*/ 95 h 129"/>
                <a:gd name="T14" fmla="*/ 127 w 187"/>
                <a:gd name="T15" fmla="*/ 114 h 129"/>
                <a:gd name="T16" fmla="*/ 69 w 187"/>
                <a:gd name="T17" fmla="*/ 128 h 129"/>
                <a:gd name="T18" fmla="*/ 29 w 187"/>
                <a:gd name="T19" fmla="*/ 109 h 129"/>
                <a:gd name="T20" fmla="*/ 12 w 187"/>
                <a:gd name="T21" fmla="*/ 92 h 1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7"/>
                <a:gd name="T34" fmla="*/ 0 h 129"/>
                <a:gd name="T35" fmla="*/ 187 w 187"/>
                <a:gd name="T36" fmla="*/ 129 h 12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7" h="129">
                  <a:moveTo>
                    <a:pt x="12" y="92"/>
                  </a:moveTo>
                  <a:cubicBezTo>
                    <a:pt x="8" y="81"/>
                    <a:pt x="0" y="57"/>
                    <a:pt x="5" y="44"/>
                  </a:cubicBezTo>
                  <a:cubicBezTo>
                    <a:pt x="10" y="31"/>
                    <a:pt x="25" y="23"/>
                    <a:pt x="41" y="16"/>
                  </a:cubicBezTo>
                  <a:cubicBezTo>
                    <a:pt x="57" y="9"/>
                    <a:pt x="80" y="2"/>
                    <a:pt x="101" y="1"/>
                  </a:cubicBezTo>
                  <a:cubicBezTo>
                    <a:pt x="122" y="0"/>
                    <a:pt x="151" y="3"/>
                    <a:pt x="165" y="13"/>
                  </a:cubicBezTo>
                  <a:cubicBezTo>
                    <a:pt x="179" y="23"/>
                    <a:pt x="183" y="45"/>
                    <a:pt x="185" y="59"/>
                  </a:cubicBezTo>
                  <a:cubicBezTo>
                    <a:pt x="187" y="73"/>
                    <a:pt x="185" y="86"/>
                    <a:pt x="175" y="95"/>
                  </a:cubicBezTo>
                  <a:cubicBezTo>
                    <a:pt x="165" y="104"/>
                    <a:pt x="145" y="109"/>
                    <a:pt x="127" y="114"/>
                  </a:cubicBezTo>
                  <a:cubicBezTo>
                    <a:pt x="109" y="119"/>
                    <a:pt x="85" y="129"/>
                    <a:pt x="69" y="128"/>
                  </a:cubicBezTo>
                  <a:cubicBezTo>
                    <a:pt x="53" y="127"/>
                    <a:pt x="40" y="116"/>
                    <a:pt x="29" y="109"/>
                  </a:cubicBezTo>
                  <a:cubicBezTo>
                    <a:pt x="18" y="102"/>
                    <a:pt x="16" y="103"/>
                    <a:pt x="12" y="92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43" descr="沙滩"/>
            <p:cNvSpPr>
              <a:spLocks/>
            </p:cNvSpPr>
            <p:nvPr/>
          </p:nvSpPr>
          <p:spPr bwMode="auto">
            <a:xfrm>
              <a:off x="2995" y="1277"/>
              <a:ext cx="203" cy="260"/>
            </a:xfrm>
            <a:custGeom>
              <a:avLst/>
              <a:gdLst>
                <a:gd name="T0" fmla="*/ 72 w 203"/>
                <a:gd name="T1" fmla="*/ 170 h 260"/>
                <a:gd name="T2" fmla="*/ 36 w 203"/>
                <a:gd name="T3" fmla="*/ 103 h 260"/>
                <a:gd name="T4" fmla="*/ 10 w 203"/>
                <a:gd name="T5" fmla="*/ 67 h 260"/>
                <a:gd name="T6" fmla="*/ 10 w 203"/>
                <a:gd name="T7" fmla="*/ 39 h 260"/>
                <a:gd name="T8" fmla="*/ 73 w 203"/>
                <a:gd name="T9" fmla="*/ 12 h 260"/>
                <a:gd name="T10" fmla="*/ 130 w 203"/>
                <a:gd name="T11" fmla="*/ 7 h 260"/>
                <a:gd name="T12" fmla="*/ 178 w 203"/>
                <a:gd name="T13" fmla="*/ 55 h 260"/>
                <a:gd name="T14" fmla="*/ 202 w 203"/>
                <a:gd name="T15" fmla="*/ 103 h 260"/>
                <a:gd name="T16" fmla="*/ 187 w 203"/>
                <a:gd name="T17" fmla="*/ 165 h 260"/>
                <a:gd name="T18" fmla="*/ 149 w 203"/>
                <a:gd name="T19" fmla="*/ 221 h 260"/>
                <a:gd name="T20" fmla="*/ 96 w 203"/>
                <a:gd name="T21" fmla="*/ 259 h 260"/>
                <a:gd name="T22" fmla="*/ 77 w 203"/>
                <a:gd name="T23" fmla="*/ 225 h 260"/>
                <a:gd name="T24" fmla="*/ 72 w 203"/>
                <a:gd name="T25" fmla="*/ 170 h 2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03"/>
                <a:gd name="T40" fmla="*/ 0 h 260"/>
                <a:gd name="T41" fmla="*/ 203 w 203"/>
                <a:gd name="T42" fmla="*/ 260 h 26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03" h="260">
                  <a:moveTo>
                    <a:pt x="72" y="170"/>
                  </a:moveTo>
                  <a:cubicBezTo>
                    <a:pt x="65" y="149"/>
                    <a:pt x="46" y="120"/>
                    <a:pt x="36" y="103"/>
                  </a:cubicBezTo>
                  <a:cubicBezTo>
                    <a:pt x="26" y="86"/>
                    <a:pt x="14" y="78"/>
                    <a:pt x="10" y="67"/>
                  </a:cubicBezTo>
                  <a:cubicBezTo>
                    <a:pt x="6" y="56"/>
                    <a:pt x="0" y="48"/>
                    <a:pt x="10" y="39"/>
                  </a:cubicBezTo>
                  <a:cubicBezTo>
                    <a:pt x="20" y="30"/>
                    <a:pt x="53" y="17"/>
                    <a:pt x="73" y="12"/>
                  </a:cubicBezTo>
                  <a:cubicBezTo>
                    <a:pt x="93" y="7"/>
                    <a:pt x="113" y="0"/>
                    <a:pt x="130" y="7"/>
                  </a:cubicBezTo>
                  <a:cubicBezTo>
                    <a:pt x="147" y="14"/>
                    <a:pt x="166" y="39"/>
                    <a:pt x="178" y="55"/>
                  </a:cubicBezTo>
                  <a:cubicBezTo>
                    <a:pt x="190" y="71"/>
                    <a:pt x="201" y="85"/>
                    <a:pt x="202" y="103"/>
                  </a:cubicBezTo>
                  <a:cubicBezTo>
                    <a:pt x="203" y="121"/>
                    <a:pt x="196" y="145"/>
                    <a:pt x="187" y="165"/>
                  </a:cubicBezTo>
                  <a:cubicBezTo>
                    <a:pt x="178" y="185"/>
                    <a:pt x="164" y="205"/>
                    <a:pt x="149" y="221"/>
                  </a:cubicBezTo>
                  <a:cubicBezTo>
                    <a:pt x="134" y="237"/>
                    <a:pt x="108" y="258"/>
                    <a:pt x="96" y="259"/>
                  </a:cubicBezTo>
                  <a:cubicBezTo>
                    <a:pt x="84" y="260"/>
                    <a:pt x="81" y="240"/>
                    <a:pt x="77" y="225"/>
                  </a:cubicBezTo>
                  <a:cubicBezTo>
                    <a:pt x="73" y="210"/>
                    <a:pt x="73" y="181"/>
                    <a:pt x="72" y="170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44" descr="沙滩"/>
            <p:cNvSpPr>
              <a:spLocks/>
            </p:cNvSpPr>
            <p:nvPr/>
          </p:nvSpPr>
          <p:spPr bwMode="auto">
            <a:xfrm>
              <a:off x="2837" y="1531"/>
              <a:ext cx="277" cy="244"/>
            </a:xfrm>
            <a:custGeom>
              <a:avLst/>
              <a:gdLst>
                <a:gd name="T0" fmla="*/ 5 w 277"/>
                <a:gd name="T1" fmla="*/ 109 h 244"/>
                <a:gd name="T2" fmla="*/ 51 w 277"/>
                <a:gd name="T3" fmla="*/ 56 h 244"/>
                <a:gd name="T4" fmla="*/ 120 w 277"/>
                <a:gd name="T5" fmla="*/ 15 h 244"/>
                <a:gd name="T6" fmla="*/ 161 w 277"/>
                <a:gd name="T7" fmla="*/ 1 h 244"/>
                <a:gd name="T8" fmla="*/ 224 w 277"/>
                <a:gd name="T9" fmla="*/ 8 h 244"/>
                <a:gd name="T10" fmla="*/ 262 w 277"/>
                <a:gd name="T11" fmla="*/ 47 h 244"/>
                <a:gd name="T12" fmla="*/ 269 w 277"/>
                <a:gd name="T13" fmla="*/ 119 h 244"/>
                <a:gd name="T14" fmla="*/ 276 w 277"/>
                <a:gd name="T15" fmla="*/ 169 h 244"/>
                <a:gd name="T16" fmla="*/ 264 w 277"/>
                <a:gd name="T17" fmla="*/ 219 h 244"/>
                <a:gd name="T18" fmla="*/ 207 w 277"/>
                <a:gd name="T19" fmla="*/ 241 h 244"/>
                <a:gd name="T20" fmla="*/ 156 w 277"/>
                <a:gd name="T21" fmla="*/ 236 h 244"/>
                <a:gd name="T22" fmla="*/ 101 w 277"/>
                <a:gd name="T23" fmla="*/ 210 h 244"/>
                <a:gd name="T24" fmla="*/ 53 w 277"/>
                <a:gd name="T25" fmla="*/ 179 h 244"/>
                <a:gd name="T26" fmla="*/ 22 w 277"/>
                <a:gd name="T27" fmla="*/ 152 h 244"/>
                <a:gd name="T28" fmla="*/ 5 w 277"/>
                <a:gd name="T29" fmla="*/ 109 h 24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7"/>
                <a:gd name="T46" fmla="*/ 0 h 244"/>
                <a:gd name="T47" fmla="*/ 277 w 277"/>
                <a:gd name="T48" fmla="*/ 244 h 24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7" h="244">
                  <a:moveTo>
                    <a:pt x="5" y="109"/>
                  </a:moveTo>
                  <a:cubicBezTo>
                    <a:pt x="10" y="93"/>
                    <a:pt x="32" y="72"/>
                    <a:pt x="51" y="56"/>
                  </a:cubicBezTo>
                  <a:cubicBezTo>
                    <a:pt x="70" y="40"/>
                    <a:pt x="102" y="24"/>
                    <a:pt x="120" y="15"/>
                  </a:cubicBezTo>
                  <a:cubicBezTo>
                    <a:pt x="138" y="6"/>
                    <a:pt x="144" y="2"/>
                    <a:pt x="161" y="1"/>
                  </a:cubicBezTo>
                  <a:cubicBezTo>
                    <a:pt x="178" y="0"/>
                    <a:pt x="207" y="0"/>
                    <a:pt x="224" y="8"/>
                  </a:cubicBezTo>
                  <a:cubicBezTo>
                    <a:pt x="241" y="16"/>
                    <a:pt x="255" y="29"/>
                    <a:pt x="262" y="47"/>
                  </a:cubicBezTo>
                  <a:cubicBezTo>
                    <a:pt x="269" y="65"/>
                    <a:pt x="267" y="99"/>
                    <a:pt x="269" y="119"/>
                  </a:cubicBezTo>
                  <a:cubicBezTo>
                    <a:pt x="271" y="139"/>
                    <a:pt x="277" y="152"/>
                    <a:pt x="276" y="169"/>
                  </a:cubicBezTo>
                  <a:cubicBezTo>
                    <a:pt x="275" y="186"/>
                    <a:pt x="275" y="207"/>
                    <a:pt x="264" y="219"/>
                  </a:cubicBezTo>
                  <a:cubicBezTo>
                    <a:pt x="253" y="231"/>
                    <a:pt x="225" y="238"/>
                    <a:pt x="207" y="241"/>
                  </a:cubicBezTo>
                  <a:cubicBezTo>
                    <a:pt x="189" y="244"/>
                    <a:pt x="174" y="241"/>
                    <a:pt x="156" y="236"/>
                  </a:cubicBezTo>
                  <a:cubicBezTo>
                    <a:pt x="138" y="231"/>
                    <a:pt x="118" y="220"/>
                    <a:pt x="101" y="210"/>
                  </a:cubicBezTo>
                  <a:cubicBezTo>
                    <a:pt x="84" y="200"/>
                    <a:pt x="66" y="189"/>
                    <a:pt x="53" y="179"/>
                  </a:cubicBezTo>
                  <a:cubicBezTo>
                    <a:pt x="40" y="169"/>
                    <a:pt x="30" y="163"/>
                    <a:pt x="22" y="152"/>
                  </a:cubicBezTo>
                  <a:cubicBezTo>
                    <a:pt x="14" y="141"/>
                    <a:pt x="0" y="125"/>
                    <a:pt x="5" y="109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45" descr="沙滩"/>
            <p:cNvSpPr>
              <a:spLocks/>
            </p:cNvSpPr>
            <p:nvPr/>
          </p:nvSpPr>
          <p:spPr bwMode="auto">
            <a:xfrm>
              <a:off x="3120" y="1517"/>
              <a:ext cx="122" cy="113"/>
            </a:xfrm>
            <a:custGeom>
              <a:avLst/>
              <a:gdLst>
                <a:gd name="T0" fmla="*/ 51 w 122"/>
                <a:gd name="T1" fmla="*/ 107 h 113"/>
                <a:gd name="T2" fmla="*/ 8 w 122"/>
                <a:gd name="T3" fmla="*/ 93 h 113"/>
                <a:gd name="T4" fmla="*/ 3 w 122"/>
                <a:gd name="T5" fmla="*/ 64 h 113"/>
                <a:gd name="T6" fmla="*/ 8 w 122"/>
                <a:gd name="T7" fmla="*/ 37 h 113"/>
                <a:gd name="T8" fmla="*/ 53 w 122"/>
                <a:gd name="T9" fmla="*/ 13 h 113"/>
                <a:gd name="T10" fmla="*/ 89 w 122"/>
                <a:gd name="T11" fmla="*/ 1 h 113"/>
                <a:gd name="T12" fmla="*/ 120 w 122"/>
                <a:gd name="T13" fmla="*/ 21 h 113"/>
                <a:gd name="T14" fmla="*/ 104 w 122"/>
                <a:gd name="T15" fmla="*/ 71 h 113"/>
                <a:gd name="T16" fmla="*/ 89 w 122"/>
                <a:gd name="T17" fmla="*/ 107 h 113"/>
                <a:gd name="T18" fmla="*/ 51 w 122"/>
                <a:gd name="T19" fmla="*/ 107 h 1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"/>
                <a:gd name="T31" fmla="*/ 0 h 113"/>
                <a:gd name="T32" fmla="*/ 122 w 122"/>
                <a:gd name="T33" fmla="*/ 113 h 11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" h="113">
                  <a:moveTo>
                    <a:pt x="51" y="107"/>
                  </a:moveTo>
                  <a:cubicBezTo>
                    <a:pt x="38" y="105"/>
                    <a:pt x="16" y="100"/>
                    <a:pt x="8" y="93"/>
                  </a:cubicBezTo>
                  <a:cubicBezTo>
                    <a:pt x="0" y="86"/>
                    <a:pt x="3" y="73"/>
                    <a:pt x="3" y="64"/>
                  </a:cubicBezTo>
                  <a:cubicBezTo>
                    <a:pt x="3" y="55"/>
                    <a:pt x="0" y="45"/>
                    <a:pt x="8" y="37"/>
                  </a:cubicBezTo>
                  <a:cubicBezTo>
                    <a:pt x="16" y="29"/>
                    <a:pt x="40" y="19"/>
                    <a:pt x="53" y="13"/>
                  </a:cubicBezTo>
                  <a:cubicBezTo>
                    <a:pt x="66" y="7"/>
                    <a:pt x="78" y="0"/>
                    <a:pt x="89" y="1"/>
                  </a:cubicBezTo>
                  <a:cubicBezTo>
                    <a:pt x="100" y="2"/>
                    <a:pt x="118" y="9"/>
                    <a:pt x="120" y="21"/>
                  </a:cubicBezTo>
                  <a:cubicBezTo>
                    <a:pt x="122" y="33"/>
                    <a:pt x="109" y="57"/>
                    <a:pt x="104" y="71"/>
                  </a:cubicBezTo>
                  <a:cubicBezTo>
                    <a:pt x="99" y="85"/>
                    <a:pt x="98" y="101"/>
                    <a:pt x="89" y="107"/>
                  </a:cubicBezTo>
                  <a:cubicBezTo>
                    <a:pt x="80" y="113"/>
                    <a:pt x="64" y="109"/>
                    <a:pt x="51" y="107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46" descr="沙滩"/>
            <p:cNvSpPr>
              <a:spLocks/>
            </p:cNvSpPr>
            <p:nvPr/>
          </p:nvSpPr>
          <p:spPr bwMode="auto">
            <a:xfrm>
              <a:off x="2603" y="1676"/>
              <a:ext cx="144" cy="146"/>
            </a:xfrm>
            <a:custGeom>
              <a:avLst/>
              <a:gdLst>
                <a:gd name="T0" fmla="*/ 66 w 144"/>
                <a:gd name="T1" fmla="*/ 4 h 146"/>
                <a:gd name="T2" fmla="*/ 114 w 144"/>
                <a:gd name="T3" fmla="*/ 26 h 146"/>
                <a:gd name="T4" fmla="*/ 140 w 144"/>
                <a:gd name="T5" fmla="*/ 62 h 146"/>
                <a:gd name="T6" fmla="*/ 138 w 144"/>
                <a:gd name="T7" fmla="*/ 110 h 146"/>
                <a:gd name="T8" fmla="*/ 107 w 144"/>
                <a:gd name="T9" fmla="*/ 141 h 146"/>
                <a:gd name="T10" fmla="*/ 56 w 144"/>
                <a:gd name="T11" fmla="*/ 138 h 146"/>
                <a:gd name="T12" fmla="*/ 8 w 144"/>
                <a:gd name="T13" fmla="*/ 105 h 146"/>
                <a:gd name="T14" fmla="*/ 11 w 144"/>
                <a:gd name="T15" fmla="*/ 66 h 146"/>
                <a:gd name="T16" fmla="*/ 18 w 144"/>
                <a:gd name="T17" fmla="*/ 11 h 146"/>
                <a:gd name="T18" fmla="*/ 66 w 144"/>
                <a:gd name="T19" fmla="*/ 4 h 1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4"/>
                <a:gd name="T31" fmla="*/ 0 h 146"/>
                <a:gd name="T32" fmla="*/ 144 w 144"/>
                <a:gd name="T33" fmla="*/ 146 h 14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4" h="146">
                  <a:moveTo>
                    <a:pt x="66" y="4"/>
                  </a:moveTo>
                  <a:cubicBezTo>
                    <a:pt x="82" y="6"/>
                    <a:pt x="102" y="16"/>
                    <a:pt x="114" y="26"/>
                  </a:cubicBezTo>
                  <a:cubicBezTo>
                    <a:pt x="126" y="36"/>
                    <a:pt x="136" y="48"/>
                    <a:pt x="140" y="62"/>
                  </a:cubicBezTo>
                  <a:cubicBezTo>
                    <a:pt x="144" y="76"/>
                    <a:pt x="143" y="97"/>
                    <a:pt x="138" y="110"/>
                  </a:cubicBezTo>
                  <a:cubicBezTo>
                    <a:pt x="133" y="123"/>
                    <a:pt x="121" y="136"/>
                    <a:pt x="107" y="141"/>
                  </a:cubicBezTo>
                  <a:cubicBezTo>
                    <a:pt x="93" y="146"/>
                    <a:pt x="72" y="144"/>
                    <a:pt x="56" y="138"/>
                  </a:cubicBezTo>
                  <a:cubicBezTo>
                    <a:pt x="40" y="132"/>
                    <a:pt x="16" y="117"/>
                    <a:pt x="8" y="105"/>
                  </a:cubicBezTo>
                  <a:cubicBezTo>
                    <a:pt x="0" y="93"/>
                    <a:pt x="9" y="82"/>
                    <a:pt x="11" y="66"/>
                  </a:cubicBezTo>
                  <a:cubicBezTo>
                    <a:pt x="13" y="50"/>
                    <a:pt x="10" y="22"/>
                    <a:pt x="18" y="11"/>
                  </a:cubicBezTo>
                  <a:cubicBezTo>
                    <a:pt x="26" y="0"/>
                    <a:pt x="50" y="2"/>
                    <a:pt x="66" y="4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47" descr="沙滩"/>
            <p:cNvSpPr>
              <a:spLocks/>
            </p:cNvSpPr>
            <p:nvPr/>
          </p:nvSpPr>
          <p:spPr bwMode="auto">
            <a:xfrm>
              <a:off x="2749" y="1687"/>
              <a:ext cx="137" cy="102"/>
            </a:xfrm>
            <a:custGeom>
              <a:avLst/>
              <a:gdLst>
                <a:gd name="T0" fmla="*/ 2 w 137"/>
                <a:gd name="T1" fmla="*/ 63 h 102"/>
                <a:gd name="T2" fmla="*/ 19 w 137"/>
                <a:gd name="T3" fmla="*/ 17 h 102"/>
                <a:gd name="T4" fmla="*/ 57 w 137"/>
                <a:gd name="T5" fmla="*/ 5 h 102"/>
                <a:gd name="T6" fmla="*/ 117 w 137"/>
                <a:gd name="T7" fmla="*/ 12 h 102"/>
                <a:gd name="T8" fmla="*/ 134 w 137"/>
                <a:gd name="T9" fmla="*/ 77 h 102"/>
                <a:gd name="T10" fmla="*/ 96 w 137"/>
                <a:gd name="T11" fmla="*/ 99 h 102"/>
                <a:gd name="T12" fmla="*/ 50 w 137"/>
                <a:gd name="T13" fmla="*/ 96 h 102"/>
                <a:gd name="T14" fmla="*/ 9 w 137"/>
                <a:gd name="T15" fmla="*/ 77 h 102"/>
                <a:gd name="T16" fmla="*/ 2 w 137"/>
                <a:gd name="T17" fmla="*/ 63 h 1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"/>
                <a:gd name="T28" fmla="*/ 0 h 102"/>
                <a:gd name="T29" fmla="*/ 137 w 137"/>
                <a:gd name="T30" fmla="*/ 102 h 10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" h="102">
                  <a:moveTo>
                    <a:pt x="2" y="63"/>
                  </a:moveTo>
                  <a:cubicBezTo>
                    <a:pt x="4" y="53"/>
                    <a:pt x="10" y="27"/>
                    <a:pt x="19" y="17"/>
                  </a:cubicBezTo>
                  <a:cubicBezTo>
                    <a:pt x="28" y="7"/>
                    <a:pt x="41" y="6"/>
                    <a:pt x="57" y="5"/>
                  </a:cubicBezTo>
                  <a:cubicBezTo>
                    <a:pt x="73" y="4"/>
                    <a:pt x="104" y="0"/>
                    <a:pt x="117" y="12"/>
                  </a:cubicBezTo>
                  <a:cubicBezTo>
                    <a:pt x="130" y="24"/>
                    <a:pt x="137" y="63"/>
                    <a:pt x="134" y="77"/>
                  </a:cubicBezTo>
                  <a:cubicBezTo>
                    <a:pt x="131" y="91"/>
                    <a:pt x="110" y="96"/>
                    <a:pt x="96" y="99"/>
                  </a:cubicBezTo>
                  <a:cubicBezTo>
                    <a:pt x="82" y="102"/>
                    <a:pt x="64" y="100"/>
                    <a:pt x="50" y="96"/>
                  </a:cubicBezTo>
                  <a:cubicBezTo>
                    <a:pt x="36" y="92"/>
                    <a:pt x="16" y="84"/>
                    <a:pt x="9" y="77"/>
                  </a:cubicBezTo>
                  <a:cubicBezTo>
                    <a:pt x="2" y="70"/>
                    <a:pt x="0" y="73"/>
                    <a:pt x="2" y="6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48" descr="沙滩"/>
            <p:cNvSpPr>
              <a:spLocks/>
            </p:cNvSpPr>
            <p:nvPr/>
          </p:nvSpPr>
          <p:spPr bwMode="auto">
            <a:xfrm>
              <a:off x="2420" y="1695"/>
              <a:ext cx="188" cy="130"/>
            </a:xfrm>
            <a:custGeom>
              <a:avLst/>
              <a:gdLst>
                <a:gd name="T0" fmla="*/ 74 w 188"/>
                <a:gd name="T1" fmla="*/ 9 h 130"/>
                <a:gd name="T2" fmla="*/ 131 w 188"/>
                <a:gd name="T3" fmla="*/ 19 h 130"/>
                <a:gd name="T4" fmla="*/ 177 w 188"/>
                <a:gd name="T5" fmla="*/ 52 h 130"/>
                <a:gd name="T6" fmla="*/ 179 w 188"/>
                <a:gd name="T7" fmla="*/ 88 h 130"/>
                <a:gd name="T8" fmla="*/ 124 w 188"/>
                <a:gd name="T9" fmla="*/ 124 h 130"/>
                <a:gd name="T10" fmla="*/ 81 w 188"/>
                <a:gd name="T11" fmla="*/ 122 h 130"/>
                <a:gd name="T12" fmla="*/ 26 w 188"/>
                <a:gd name="T13" fmla="*/ 103 h 130"/>
                <a:gd name="T14" fmla="*/ 7 w 188"/>
                <a:gd name="T15" fmla="*/ 74 h 130"/>
                <a:gd name="T16" fmla="*/ 74 w 188"/>
                <a:gd name="T17" fmla="*/ 9 h 1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8"/>
                <a:gd name="T28" fmla="*/ 0 h 130"/>
                <a:gd name="T29" fmla="*/ 188 w 188"/>
                <a:gd name="T30" fmla="*/ 130 h 1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8" h="130">
                  <a:moveTo>
                    <a:pt x="74" y="9"/>
                  </a:moveTo>
                  <a:cubicBezTo>
                    <a:pt x="95" y="0"/>
                    <a:pt x="114" y="12"/>
                    <a:pt x="131" y="19"/>
                  </a:cubicBezTo>
                  <a:cubicBezTo>
                    <a:pt x="148" y="26"/>
                    <a:pt x="169" y="41"/>
                    <a:pt x="177" y="52"/>
                  </a:cubicBezTo>
                  <a:cubicBezTo>
                    <a:pt x="185" y="63"/>
                    <a:pt x="188" y="76"/>
                    <a:pt x="179" y="88"/>
                  </a:cubicBezTo>
                  <a:cubicBezTo>
                    <a:pt x="170" y="100"/>
                    <a:pt x="140" y="118"/>
                    <a:pt x="124" y="124"/>
                  </a:cubicBezTo>
                  <a:cubicBezTo>
                    <a:pt x="108" y="130"/>
                    <a:pt x="97" y="125"/>
                    <a:pt x="81" y="122"/>
                  </a:cubicBezTo>
                  <a:cubicBezTo>
                    <a:pt x="65" y="119"/>
                    <a:pt x="38" y="111"/>
                    <a:pt x="26" y="103"/>
                  </a:cubicBezTo>
                  <a:cubicBezTo>
                    <a:pt x="14" y="95"/>
                    <a:pt x="0" y="89"/>
                    <a:pt x="7" y="74"/>
                  </a:cubicBezTo>
                  <a:cubicBezTo>
                    <a:pt x="14" y="59"/>
                    <a:pt x="53" y="18"/>
                    <a:pt x="74" y="9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49" descr="沙滩"/>
            <p:cNvSpPr>
              <a:spLocks/>
            </p:cNvSpPr>
            <p:nvPr/>
          </p:nvSpPr>
          <p:spPr bwMode="auto">
            <a:xfrm>
              <a:off x="2463" y="1235"/>
              <a:ext cx="226" cy="160"/>
            </a:xfrm>
            <a:custGeom>
              <a:avLst/>
              <a:gdLst>
                <a:gd name="T0" fmla="*/ 121 w 226"/>
                <a:gd name="T1" fmla="*/ 148 h 160"/>
                <a:gd name="T2" fmla="*/ 53 w 226"/>
                <a:gd name="T3" fmla="*/ 145 h 160"/>
                <a:gd name="T4" fmla="*/ 5 w 226"/>
                <a:gd name="T5" fmla="*/ 109 h 160"/>
                <a:gd name="T6" fmla="*/ 25 w 226"/>
                <a:gd name="T7" fmla="*/ 54 h 160"/>
                <a:gd name="T8" fmla="*/ 73 w 226"/>
                <a:gd name="T9" fmla="*/ 8 h 160"/>
                <a:gd name="T10" fmla="*/ 128 w 226"/>
                <a:gd name="T11" fmla="*/ 6 h 160"/>
                <a:gd name="T12" fmla="*/ 190 w 226"/>
                <a:gd name="T13" fmla="*/ 18 h 160"/>
                <a:gd name="T14" fmla="*/ 226 w 226"/>
                <a:gd name="T15" fmla="*/ 40 h 160"/>
                <a:gd name="T16" fmla="*/ 188 w 226"/>
                <a:gd name="T17" fmla="*/ 71 h 160"/>
                <a:gd name="T18" fmla="*/ 121 w 226"/>
                <a:gd name="T19" fmla="*/ 148 h 1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6"/>
                <a:gd name="T31" fmla="*/ 0 h 160"/>
                <a:gd name="T32" fmla="*/ 226 w 226"/>
                <a:gd name="T33" fmla="*/ 160 h 1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6" h="160">
                  <a:moveTo>
                    <a:pt x="121" y="148"/>
                  </a:moveTo>
                  <a:cubicBezTo>
                    <a:pt x="98" y="160"/>
                    <a:pt x="72" y="152"/>
                    <a:pt x="53" y="145"/>
                  </a:cubicBezTo>
                  <a:cubicBezTo>
                    <a:pt x="34" y="138"/>
                    <a:pt x="10" y="124"/>
                    <a:pt x="5" y="109"/>
                  </a:cubicBezTo>
                  <a:cubicBezTo>
                    <a:pt x="0" y="94"/>
                    <a:pt x="14" y="71"/>
                    <a:pt x="25" y="54"/>
                  </a:cubicBezTo>
                  <a:cubicBezTo>
                    <a:pt x="36" y="37"/>
                    <a:pt x="56" y="16"/>
                    <a:pt x="73" y="8"/>
                  </a:cubicBezTo>
                  <a:cubicBezTo>
                    <a:pt x="90" y="0"/>
                    <a:pt x="109" y="4"/>
                    <a:pt x="128" y="6"/>
                  </a:cubicBezTo>
                  <a:cubicBezTo>
                    <a:pt x="147" y="8"/>
                    <a:pt x="174" y="12"/>
                    <a:pt x="190" y="18"/>
                  </a:cubicBezTo>
                  <a:cubicBezTo>
                    <a:pt x="206" y="24"/>
                    <a:pt x="226" y="31"/>
                    <a:pt x="226" y="40"/>
                  </a:cubicBezTo>
                  <a:cubicBezTo>
                    <a:pt x="226" y="49"/>
                    <a:pt x="206" y="53"/>
                    <a:pt x="188" y="71"/>
                  </a:cubicBezTo>
                  <a:cubicBezTo>
                    <a:pt x="170" y="89"/>
                    <a:pt x="144" y="136"/>
                    <a:pt x="121" y="148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50" descr="沙滩"/>
            <p:cNvSpPr>
              <a:spLocks/>
            </p:cNvSpPr>
            <p:nvPr/>
          </p:nvSpPr>
          <p:spPr bwMode="auto">
            <a:xfrm>
              <a:off x="2380" y="1360"/>
              <a:ext cx="112" cy="111"/>
            </a:xfrm>
            <a:custGeom>
              <a:avLst/>
              <a:gdLst>
                <a:gd name="T0" fmla="*/ 20 w 112"/>
                <a:gd name="T1" fmla="*/ 44 h 111"/>
                <a:gd name="T2" fmla="*/ 61 w 112"/>
                <a:gd name="T3" fmla="*/ 6 h 111"/>
                <a:gd name="T4" fmla="*/ 99 w 112"/>
                <a:gd name="T5" fmla="*/ 8 h 111"/>
                <a:gd name="T6" fmla="*/ 111 w 112"/>
                <a:gd name="T7" fmla="*/ 49 h 111"/>
                <a:gd name="T8" fmla="*/ 92 w 112"/>
                <a:gd name="T9" fmla="*/ 100 h 111"/>
                <a:gd name="T10" fmla="*/ 35 w 112"/>
                <a:gd name="T11" fmla="*/ 107 h 111"/>
                <a:gd name="T12" fmla="*/ 3 w 112"/>
                <a:gd name="T13" fmla="*/ 78 h 111"/>
                <a:gd name="T14" fmla="*/ 20 w 112"/>
                <a:gd name="T15" fmla="*/ 44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2"/>
                <a:gd name="T25" fmla="*/ 0 h 111"/>
                <a:gd name="T26" fmla="*/ 112 w 112"/>
                <a:gd name="T27" fmla="*/ 111 h 1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2" h="111">
                  <a:moveTo>
                    <a:pt x="20" y="44"/>
                  </a:moveTo>
                  <a:cubicBezTo>
                    <a:pt x="30" y="32"/>
                    <a:pt x="48" y="12"/>
                    <a:pt x="61" y="6"/>
                  </a:cubicBezTo>
                  <a:cubicBezTo>
                    <a:pt x="74" y="0"/>
                    <a:pt x="91" y="1"/>
                    <a:pt x="99" y="8"/>
                  </a:cubicBezTo>
                  <a:cubicBezTo>
                    <a:pt x="107" y="15"/>
                    <a:pt x="112" y="34"/>
                    <a:pt x="111" y="49"/>
                  </a:cubicBezTo>
                  <a:cubicBezTo>
                    <a:pt x="110" y="64"/>
                    <a:pt x="105" y="90"/>
                    <a:pt x="92" y="100"/>
                  </a:cubicBezTo>
                  <a:cubicBezTo>
                    <a:pt x="79" y="110"/>
                    <a:pt x="50" y="111"/>
                    <a:pt x="35" y="107"/>
                  </a:cubicBezTo>
                  <a:cubicBezTo>
                    <a:pt x="20" y="103"/>
                    <a:pt x="6" y="90"/>
                    <a:pt x="3" y="78"/>
                  </a:cubicBezTo>
                  <a:cubicBezTo>
                    <a:pt x="0" y="66"/>
                    <a:pt x="10" y="56"/>
                    <a:pt x="20" y="44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51"/>
            <p:cNvSpPr txBox="1">
              <a:spLocks noChangeArrowheads="1"/>
            </p:cNvSpPr>
            <p:nvPr/>
          </p:nvSpPr>
          <p:spPr bwMode="auto">
            <a:xfrm>
              <a:off x="3124" y="1118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C</a:t>
              </a:r>
            </a:p>
          </p:txBody>
        </p:sp>
        <p:sp>
          <p:nvSpPr>
            <p:cNvPr id="114" name="Text Box 52"/>
            <p:cNvSpPr txBox="1">
              <a:spLocks noChangeArrowheads="1"/>
            </p:cNvSpPr>
            <p:nvPr/>
          </p:nvSpPr>
          <p:spPr bwMode="auto">
            <a:xfrm>
              <a:off x="2664" y="1037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sp>
          <p:nvSpPr>
            <p:cNvPr id="115" name="Text Box 53"/>
            <p:cNvSpPr txBox="1">
              <a:spLocks noChangeArrowheads="1"/>
            </p:cNvSpPr>
            <p:nvPr/>
          </p:nvSpPr>
          <p:spPr bwMode="auto">
            <a:xfrm>
              <a:off x="2207" y="1359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B</a:t>
              </a:r>
            </a:p>
          </p:txBody>
        </p:sp>
        <p:sp>
          <p:nvSpPr>
            <p:cNvPr id="116" name="Freeform 54" descr="花岗岩"/>
            <p:cNvSpPr>
              <a:spLocks/>
            </p:cNvSpPr>
            <p:nvPr/>
          </p:nvSpPr>
          <p:spPr bwMode="auto">
            <a:xfrm>
              <a:off x="4718" y="1452"/>
              <a:ext cx="33" cy="35"/>
            </a:xfrm>
            <a:custGeom>
              <a:avLst/>
              <a:gdLst>
                <a:gd name="T0" fmla="*/ 19 w 37"/>
                <a:gd name="T1" fmla="*/ 4 h 39"/>
                <a:gd name="T2" fmla="*/ 3 w 37"/>
                <a:gd name="T3" fmla="*/ 13 h 39"/>
                <a:gd name="T4" fmla="*/ 5 w 37"/>
                <a:gd name="T5" fmla="*/ 35 h 39"/>
                <a:gd name="T6" fmla="*/ 34 w 37"/>
                <a:gd name="T7" fmla="*/ 35 h 39"/>
                <a:gd name="T8" fmla="*/ 19 w 37"/>
                <a:gd name="T9" fmla="*/ 4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"/>
                <a:gd name="T16" fmla="*/ 0 h 39"/>
                <a:gd name="T17" fmla="*/ 37 w 37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" h="39">
                  <a:moveTo>
                    <a:pt x="19" y="4"/>
                  </a:moveTo>
                  <a:cubicBezTo>
                    <a:pt x="14" y="0"/>
                    <a:pt x="5" y="8"/>
                    <a:pt x="3" y="13"/>
                  </a:cubicBezTo>
                  <a:cubicBezTo>
                    <a:pt x="1" y="18"/>
                    <a:pt x="0" y="31"/>
                    <a:pt x="5" y="35"/>
                  </a:cubicBezTo>
                  <a:cubicBezTo>
                    <a:pt x="10" y="39"/>
                    <a:pt x="31" y="39"/>
                    <a:pt x="34" y="35"/>
                  </a:cubicBezTo>
                  <a:cubicBezTo>
                    <a:pt x="37" y="31"/>
                    <a:pt x="24" y="8"/>
                    <a:pt x="19" y="4"/>
                  </a:cubicBezTo>
                  <a:close/>
                </a:path>
              </a:pathLst>
            </a:custGeom>
            <a:blipFill dpi="0" rotWithShape="1">
              <a:blip r:embed="rId4"/>
              <a:srcRect/>
              <a:tile tx="0" ty="0" sx="100000" sy="100000" flip="none" algn="tl"/>
            </a:blip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Text Box 55"/>
            <p:cNvSpPr txBox="1">
              <a:spLocks noChangeArrowheads="1"/>
            </p:cNvSpPr>
            <p:nvPr/>
          </p:nvSpPr>
          <p:spPr bwMode="auto">
            <a:xfrm>
              <a:off x="3374" y="1040"/>
              <a:ext cx="5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剪切面</a:t>
              </a:r>
              <a:endParaRPr lang="en-US" altLang="zh-CN" sz="18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18" name="Line 56"/>
            <p:cNvSpPr>
              <a:spLocks noChangeShapeType="1"/>
            </p:cNvSpPr>
            <p:nvPr/>
          </p:nvSpPr>
          <p:spPr bwMode="auto">
            <a:xfrm>
              <a:off x="3778" y="1262"/>
              <a:ext cx="96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57"/>
            <p:cNvSpPr>
              <a:spLocks noChangeShapeType="1"/>
            </p:cNvSpPr>
            <p:nvPr/>
          </p:nvSpPr>
          <p:spPr bwMode="auto">
            <a:xfrm flipH="1">
              <a:off x="2714" y="1213"/>
              <a:ext cx="44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58"/>
            <p:cNvSpPr>
              <a:spLocks noChangeShapeType="1"/>
            </p:cNvSpPr>
            <p:nvPr/>
          </p:nvSpPr>
          <p:spPr bwMode="auto">
            <a:xfrm flipH="1" flipV="1">
              <a:off x="2342" y="1536"/>
              <a:ext cx="93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59"/>
            <p:cNvSpPr>
              <a:spLocks noChangeShapeType="1"/>
            </p:cNvSpPr>
            <p:nvPr/>
          </p:nvSpPr>
          <p:spPr bwMode="auto">
            <a:xfrm flipV="1">
              <a:off x="3110" y="1283"/>
              <a:ext cx="77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60"/>
            <p:cNvSpPr>
              <a:spLocks noChangeShapeType="1"/>
            </p:cNvSpPr>
            <p:nvPr/>
          </p:nvSpPr>
          <p:spPr bwMode="auto">
            <a:xfrm flipV="1">
              <a:off x="4381" y="1165"/>
              <a:ext cx="57" cy="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61"/>
            <p:cNvSpPr>
              <a:spLocks noChangeShapeType="1"/>
            </p:cNvSpPr>
            <p:nvPr/>
          </p:nvSpPr>
          <p:spPr bwMode="auto">
            <a:xfrm flipV="1">
              <a:off x="4749" y="1165"/>
              <a:ext cx="64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62"/>
            <p:cNvSpPr>
              <a:spLocks noChangeShapeType="1"/>
            </p:cNvSpPr>
            <p:nvPr/>
          </p:nvSpPr>
          <p:spPr bwMode="auto">
            <a:xfrm flipH="1">
              <a:off x="4019" y="1581"/>
              <a:ext cx="74" cy="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AutoShape 32"/>
            <p:cNvSpPr>
              <a:spLocks noChangeArrowheads="1"/>
            </p:cNvSpPr>
            <p:nvPr/>
          </p:nvSpPr>
          <p:spPr bwMode="auto">
            <a:xfrm flipH="1">
              <a:off x="3624" y="1420"/>
              <a:ext cx="222" cy="181"/>
            </a:xfrm>
            <a:prstGeom prst="leftArrow">
              <a:avLst>
                <a:gd name="adj1" fmla="val 50000"/>
                <a:gd name="adj2" fmla="val 49680"/>
              </a:avLst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6" name="AutoShape 17"/>
          <p:cNvSpPr>
            <a:spLocks noChangeArrowheads="1"/>
          </p:cNvSpPr>
          <p:nvPr/>
        </p:nvSpPr>
        <p:spPr bwMode="auto">
          <a:xfrm>
            <a:off x="2830513" y="4395788"/>
            <a:ext cx="442912" cy="350837"/>
          </a:xfrm>
          <a:prstGeom prst="homePlate">
            <a:avLst>
              <a:gd name="adj" fmla="val 31561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 animBg="1"/>
      <p:bldP spid="1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359150" y="5703888"/>
            <a:ext cx="27860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摩 擦 强 度</a:t>
            </a:r>
            <a:endParaRPr lang="en-US" altLang="zh-CN" sz="4000" b="1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8680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的抗剪强度机理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611313" y="1503363"/>
            <a:ext cx="5151437" cy="313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44500" indent="-44450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密度</a:t>
            </a:r>
            <a:endParaRPr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marL="444500" indent="-44450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粒径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级配</a:t>
            </a:r>
            <a:endParaRPr lang="en-US" altLang="zh-CN" sz="28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marL="444500" indent="-44450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颗粒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的形状</a:t>
            </a:r>
          </a:p>
          <a:p>
            <a:pPr marL="444500" indent="-44450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颗粒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的矿物成分</a:t>
            </a:r>
          </a:p>
          <a:p>
            <a:pPr marL="444500" indent="-44450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黏土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颗粒表面的吸附水膜</a:t>
            </a:r>
            <a:endParaRPr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62025" y="908050"/>
            <a:ext cx="33305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主要影响因素</a:t>
            </a:r>
            <a:endParaRPr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utoUpdateAnimBg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675063" y="5973763"/>
            <a:ext cx="28590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黏 聚 强 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度</a:t>
            </a:r>
            <a:endParaRPr lang="zh-CN" altLang="en-US" sz="4000" b="1" i="1" dirty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9526" y="0"/>
            <a:ext cx="586806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的抗剪强度机理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639763" y="1681163"/>
            <a:ext cx="19256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细粒土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641601" y="1597025"/>
            <a:ext cx="603249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71463" indent="-271463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取决于颗粒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间的各种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物理化学力，包括：库仑力、范德华力、胶结力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和毛细力等</a:t>
            </a:r>
          </a:p>
          <a:p>
            <a:pPr marL="271463" indent="-271463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影响因素：地质历史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、黏土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颗粒矿物成分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、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密度与离子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浓度等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6875" y="766763"/>
            <a:ext cx="76912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</a:rPr>
              <a:t> 黏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</a:rPr>
              <a:t>聚强度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</a:rPr>
              <a:t>：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其大小与所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受到的法向应力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无关</a:t>
            </a:r>
            <a:endParaRPr lang="zh-CN" altLang="en-US" sz="2800" b="1" i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639763" y="3725863"/>
            <a:ext cx="19256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粗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粒土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2654301" y="3707447"/>
            <a:ext cx="571681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71463" indent="-271463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一般认为是无黏性土，不具有黏聚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强度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  <a:p>
            <a:pPr marL="271463" indent="-271463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当粒间存在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胶结物质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时，具有黏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聚强度</a:t>
            </a:r>
          </a:p>
          <a:p>
            <a:pPr marL="271463" indent="-271463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非饱和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砂土粒间存在毛细力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，具有假黏聚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力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909888" y="5754688"/>
            <a:ext cx="46529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莫尔</a:t>
            </a:r>
            <a:r>
              <a:rPr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库仑强度理论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9526" y="0"/>
            <a:ext cx="547466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莫尔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库仑强度理论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171700" y="2098675"/>
            <a:ext cx="5334000" cy="1772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514350" indent="-514350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en-US" altLang="zh-CN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应力状态与莫尔圆</a:t>
            </a:r>
          </a:p>
          <a:p>
            <a:pPr marL="514350" indent="-514350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en-US" altLang="zh-CN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极限平衡应力状态</a:t>
            </a:r>
          </a:p>
          <a:p>
            <a:pPr marL="514350" indent="-514350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en-US" altLang="zh-CN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莫尔</a:t>
            </a:r>
            <a:r>
              <a:rPr lang="en-US" altLang="zh-CN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库仑</a:t>
            </a:r>
            <a:r>
              <a:rPr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强度理论</a:t>
            </a:r>
            <a:endParaRPr lang="zh-CN" altLang="en-US" sz="3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438525" y="5780088"/>
            <a:ext cx="2222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应力状态</a:t>
            </a:r>
          </a:p>
        </p:txBody>
      </p:sp>
      <p:sp>
        <p:nvSpPr>
          <p:cNvPr id="43" name="Text Box 7"/>
          <p:cNvSpPr txBox="1">
            <a:spLocks noChangeArrowheads="1"/>
          </p:cNvSpPr>
          <p:nvPr/>
        </p:nvSpPr>
        <p:spPr bwMode="auto">
          <a:xfrm>
            <a:off x="-9526" y="0"/>
            <a:ext cx="547466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莫尔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库仑强度理论</a:t>
            </a:r>
          </a:p>
        </p:txBody>
      </p:sp>
      <p:graphicFrame>
        <p:nvGraphicFramePr>
          <p:cNvPr id="4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554126"/>
              </p:ext>
            </p:extLst>
          </p:nvPr>
        </p:nvGraphicFramePr>
        <p:xfrm>
          <a:off x="1539875" y="3223723"/>
          <a:ext cx="2039938" cy="150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6704" name="公式" r:id="rId4" imgW="1002960" imgH="736560" progId="Equation.3">
                  <p:embed/>
                </p:oleObj>
              </mc:Choice>
              <mc:Fallback>
                <p:oleObj name="公式" r:id="rId4" imgW="100296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5" y="3223723"/>
                        <a:ext cx="2039938" cy="1503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660698"/>
              </p:ext>
            </p:extLst>
          </p:nvPr>
        </p:nvGraphicFramePr>
        <p:xfrm>
          <a:off x="5786438" y="3606800"/>
          <a:ext cx="13446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6705" name="公式" r:id="rId6" imgW="672840" imgH="482400" progId="Equation.3">
                  <p:embed/>
                </p:oleObj>
              </mc:Choice>
              <mc:Fallback>
                <p:oleObj name="公式" r:id="rId6" imgW="6728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3606800"/>
                        <a:ext cx="1344612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AutoShape 24"/>
          <p:cNvSpPr>
            <a:spLocks noChangeArrowheads="1"/>
          </p:cNvSpPr>
          <p:nvPr/>
        </p:nvSpPr>
        <p:spPr bwMode="auto">
          <a:xfrm>
            <a:off x="1408113" y="4816914"/>
            <a:ext cx="2638425" cy="56515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三维应力状态</a:t>
            </a:r>
          </a:p>
        </p:txBody>
      </p:sp>
      <p:sp>
        <p:nvSpPr>
          <p:cNvPr id="47" name="AutoShape 25"/>
          <p:cNvSpPr>
            <a:spLocks noChangeArrowheads="1"/>
          </p:cNvSpPr>
          <p:nvPr/>
        </p:nvSpPr>
        <p:spPr bwMode="auto">
          <a:xfrm>
            <a:off x="5578475" y="4818063"/>
            <a:ext cx="2638425" cy="56515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二维应力状态</a:t>
            </a:r>
          </a:p>
        </p:txBody>
      </p:sp>
      <p:grpSp>
        <p:nvGrpSpPr>
          <p:cNvPr id="48" name="Group 26"/>
          <p:cNvGrpSpPr>
            <a:grpSpLocks/>
          </p:cNvGrpSpPr>
          <p:nvPr/>
        </p:nvGrpSpPr>
        <p:grpSpPr bwMode="auto">
          <a:xfrm>
            <a:off x="5121275" y="671513"/>
            <a:ext cx="2789238" cy="2727325"/>
            <a:chOff x="3226" y="473"/>
            <a:chExt cx="1757" cy="1718"/>
          </a:xfrm>
        </p:grpSpPr>
        <p:sp>
          <p:nvSpPr>
            <p:cNvPr id="49" name="Rectangle 27"/>
            <p:cNvSpPr>
              <a:spLocks noChangeArrowheads="1"/>
            </p:cNvSpPr>
            <p:nvPr/>
          </p:nvSpPr>
          <p:spPr bwMode="auto">
            <a:xfrm>
              <a:off x="3716" y="1062"/>
              <a:ext cx="726" cy="771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28"/>
            <p:cNvSpPr>
              <a:spLocks noChangeAspect="1" noChangeShapeType="1"/>
            </p:cNvSpPr>
            <p:nvPr/>
          </p:nvSpPr>
          <p:spPr bwMode="auto">
            <a:xfrm rot="10800000" flipH="1">
              <a:off x="3869" y="948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29"/>
            <p:cNvSpPr>
              <a:spLocks noChangeAspect="1" noChangeShapeType="1"/>
            </p:cNvSpPr>
            <p:nvPr/>
          </p:nvSpPr>
          <p:spPr bwMode="auto">
            <a:xfrm>
              <a:off x="4075" y="696"/>
              <a:ext cx="0" cy="37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Text Box 30"/>
            <p:cNvSpPr txBox="1">
              <a:spLocks noChangeArrowheads="1"/>
            </p:cNvSpPr>
            <p:nvPr/>
          </p:nvSpPr>
          <p:spPr bwMode="auto">
            <a:xfrm>
              <a:off x="4313" y="743"/>
              <a:ext cx="3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sym typeface="Symbol" pitchFamily="18" charset="2"/>
                </a:rPr>
                <a:t></a:t>
              </a:r>
              <a:r>
                <a:rPr lang="en-US" altLang="zh-CN" sz="2400" b="1" baseline="-25000" dirty="0" err="1">
                  <a:ea typeface="幼圆" pitchFamily="49" charset="-122"/>
                  <a:sym typeface="Symbol" pitchFamily="18" charset="2"/>
                </a:rPr>
                <a:t>zx</a:t>
              </a:r>
              <a:endParaRPr lang="en-US" altLang="zh-CN" sz="2400" b="1" baseline="-25000" dirty="0"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53" name="Text Box 31"/>
            <p:cNvSpPr txBox="1">
              <a:spLocks noChangeArrowheads="1"/>
            </p:cNvSpPr>
            <p:nvPr/>
          </p:nvSpPr>
          <p:spPr bwMode="auto">
            <a:xfrm>
              <a:off x="4078" y="473"/>
              <a:ext cx="2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sym typeface="Symbol" pitchFamily="18" charset="2"/>
                </a:rPr>
                <a:t>z</a:t>
              </a:r>
              <a:endParaRPr lang="en-US" altLang="zh-CN" sz="2400" b="1" dirty="0"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54" name="Line 32"/>
            <p:cNvSpPr>
              <a:spLocks noChangeAspect="1" noChangeShapeType="1"/>
            </p:cNvSpPr>
            <p:nvPr/>
          </p:nvSpPr>
          <p:spPr bwMode="auto">
            <a:xfrm rot="10800000">
              <a:off x="4553" y="1190"/>
              <a:ext cx="0" cy="467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Text Box 33"/>
            <p:cNvSpPr txBox="1">
              <a:spLocks noChangeArrowheads="1"/>
            </p:cNvSpPr>
            <p:nvPr/>
          </p:nvSpPr>
          <p:spPr bwMode="auto">
            <a:xfrm>
              <a:off x="4591" y="1017"/>
              <a:ext cx="3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sym typeface="Symbol" pitchFamily="18" charset="2"/>
                </a:rPr>
                <a:t></a:t>
              </a:r>
              <a:r>
                <a:rPr lang="en-US" altLang="zh-CN" sz="2400" b="1" baseline="-25000" dirty="0" err="1">
                  <a:ea typeface="幼圆" pitchFamily="49" charset="-122"/>
                  <a:sym typeface="Symbol" pitchFamily="18" charset="2"/>
                </a:rPr>
                <a:t>xz</a:t>
              </a:r>
              <a:endParaRPr lang="en-US" altLang="zh-CN" sz="2400" b="1" baseline="-25000" dirty="0"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56" name="Line 34"/>
            <p:cNvSpPr>
              <a:spLocks noChangeAspect="1" noChangeShapeType="1"/>
            </p:cNvSpPr>
            <p:nvPr/>
          </p:nvSpPr>
          <p:spPr bwMode="auto">
            <a:xfrm flipH="1">
              <a:off x="4444" y="1479"/>
              <a:ext cx="466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Text Box 35"/>
            <p:cNvSpPr txBox="1">
              <a:spLocks noChangeArrowheads="1"/>
            </p:cNvSpPr>
            <p:nvPr/>
          </p:nvSpPr>
          <p:spPr bwMode="auto">
            <a:xfrm>
              <a:off x="4687" y="1454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sym typeface="Symbol" pitchFamily="18" charset="2"/>
                </a:rPr>
                <a:t>x</a:t>
              </a:r>
              <a:endParaRPr lang="en-US" altLang="zh-CN" sz="2400" b="1" dirty="0">
                <a:ea typeface="幼圆" pitchFamily="49" charset="-122"/>
                <a:sym typeface="Symbol" pitchFamily="18" charset="2"/>
              </a:endParaRPr>
            </a:p>
          </p:txBody>
        </p:sp>
        <p:grpSp>
          <p:nvGrpSpPr>
            <p:cNvPr id="58" name="Group 36"/>
            <p:cNvGrpSpPr>
              <a:grpSpLocks/>
            </p:cNvGrpSpPr>
            <p:nvPr/>
          </p:nvGrpSpPr>
          <p:grpSpPr bwMode="auto">
            <a:xfrm rot="10800000">
              <a:off x="3226" y="1296"/>
              <a:ext cx="466" cy="467"/>
              <a:chOff x="4580" y="1436"/>
              <a:chExt cx="466" cy="467"/>
            </a:xfrm>
          </p:grpSpPr>
          <p:sp>
            <p:nvSpPr>
              <p:cNvPr id="61" name="Line 37"/>
              <p:cNvSpPr>
                <a:spLocks noChangeAspect="1" noChangeShapeType="1"/>
              </p:cNvSpPr>
              <p:nvPr/>
            </p:nvSpPr>
            <p:spPr bwMode="auto">
              <a:xfrm rot="10800000">
                <a:off x="4689" y="1436"/>
                <a:ext cx="0" cy="467"/>
              </a:xfrm>
              <a:prstGeom prst="line">
                <a:avLst/>
              </a:prstGeom>
              <a:noFill/>
              <a:ln w="57150">
                <a:solidFill>
                  <a:srgbClr val="008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2" name="Line 38"/>
              <p:cNvSpPr>
                <a:spLocks noChangeAspect="1" noChangeShapeType="1"/>
              </p:cNvSpPr>
              <p:nvPr/>
            </p:nvSpPr>
            <p:spPr bwMode="auto">
              <a:xfrm flipH="1">
                <a:off x="4580" y="1725"/>
                <a:ext cx="466" cy="0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9" name="Line 39"/>
            <p:cNvSpPr>
              <a:spLocks noChangeAspect="1" noChangeShapeType="1"/>
            </p:cNvSpPr>
            <p:nvPr/>
          </p:nvSpPr>
          <p:spPr bwMode="auto">
            <a:xfrm flipH="1">
              <a:off x="3793" y="1968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Line 40"/>
            <p:cNvSpPr>
              <a:spLocks noChangeAspect="1" noChangeShapeType="1"/>
            </p:cNvSpPr>
            <p:nvPr/>
          </p:nvSpPr>
          <p:spPr bwMode="auto">
            <a:xfrm rot="10800000">
              <a:off x="4076" y="1821"/>
              <a:ext cx="0" cy="37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" name="Group 29"/>
          <p:cNvGrpSpPr>
            <a:grpSpLocks/>
          </p:cNvGrpSpPr>
          <p:nvPr/>
        </p:nvGrpSpPr>
        <p:grpSpPr bwMode="auto">
          <a:xfrm>
            <a:off x="1416958" y="718114"/>
            <a:ext cx="2312204" cy="2191899"/>
            <a:chOff x="3442" y="870"/>
            <a:chExt cx="1576" cy="1494"/>
          </a:xfrm>
        </p:grpSpPr>
        <p:sp>
          <p:nvSpPr>
            <p:cNvPr id="64" name="AutoShape 30"/>
            <p:cNvSpPr>
              <a:spLocks noChangeArrowheads="1"/>
            </p:cNvSpPr>
            <p:nvPr/>
          </p:nvSpPr>
          <p:spPr bwMode="auto">
            <a:xfrm>
              <a:off x="3512" y="1241"/>
              <a:ext cx="1123" cy="1123"/>
            </a:xfrm>
            <a:prstGeom prst="cube">
              <a:avLst>
                <a:gd name="adj" fmla="val 2840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32"/>
            <p:cNvSpPr>
              <a:spLocks noChangeAspect="1" noChangeShapeType="1"/>
            </p:cNvSpPr>
            <p:nvPr/>
          </p:nvSpPr>
          <p:spPr bwMode="auto">
            <a:xfrm flipH="1">
              <a:off x="3693" y="1964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Freeform 33"/>
            <p:cNvSpPr>
              <a:spLocks noChangeAspect="1"/>
            </p:cNvSpPr>
            <p:nvPr/>
          </p:nvSpPr>
          <p:spPr bwMode="auto">
            <a:xfrm rot="10800000">
              <a:off x="3904" y="1265"/>
              <a:ext cx="258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34"/>
            <p:cNvSpPr>
              <a:spLocks noChangeAspect="1" noChangeShapeType="1"/>
            </p:cNvSpPr>
            <p:nvPr/>
          </p:nvSpPr>
          <p:spPr bwMode="auto">
            <a:xfrm rot="10800000" flipH="1">
              <a:off x="3866" y="1390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Freeform 35"/>
            <p:cNvSpPr>
              <a:spLocks noChangeAspect="1"/>
            </p:cNvSpPr>
            <p:nvPr/>
          </p:nvSpPr>
          <p:spPr bwMode="auto">
            <a:xfrm>
              <a:off x="4360" y="1671"/>
              <a:ext cx="258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Line 36"/>
            <p:cNvSpPr>
              <a:spLocks noChangeAspect="1" noChangeShapeType="1"/>
            </p:cNvSpPr>
            <p:nvPr/>
          </p:nvSpPr>
          <p:spPr bwMode="auto">
            <a:xfrm rot="10800000">
              <a:off x="4450" y="1587"/>
              <a:ext cx="0" cy="467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Line 37"/>
            <p:cNvSpPr>
              <a:spLocks noChangeAspect="1" noChangeShapeType="1"/>
            </p:cNvSpPr>
            <p:nvPr/>
          </p:nvSpPr>
          <p:spPr bwMode="auto">
            <a:xfrm rot="10800000">
              <a:off x="3917" y="1699"/>
              <a:ext cx="0" cy="466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1" name="Line 38"/>
            <p:cNvSpPr>
              <a:spLocks noChangeAspect="1" noChangeShapeType="1"/>
            </p:cNvSpPr>
            <p:nvPr/>
          </p:nvSpPr>
          <p:spPr bwMode="auto">
            <a:xfrm>
              <a:off x="4072" y="946"/>
              <a:ext cx="0" cy="466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Text Box 39"/>
            <p:cNvSpPr txBox="1">
              <a:spLocks noChangeArrowheads="1"/>
            </p:cNvSpPr>
            <p:nvPr/>
          </p:nvSpPr>
          <p:spPr bwMode="auto">
            <a:xfrm>
              <a:off x="3442" y="2045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3" name="Text Box 40"/>
            <p:cNvSpPr txBox="1">
              <a:spLocks noChangeArrowheads="1"/>
            </p:cNvSpPr>
            <p:nvPr/>
          </p:nvSpPr>
          <p:spPr bwMode="auto">
            <a:xfrm>
              <a:off x="3819" y="1411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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y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  <a:endParaRPr lang="en-US" altLang="zh-CN" sz="24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74" name="Text Box 41"/>
            <p:cNvSpPr txBox="1">
              <a:spLocks noChangeArrowheads="1"/>
            </p:cNvSpPr>
            <p:nvPr/>
          </p:nvSpPr>
          <p:spPr bwMode="auto">
            <a:xfrm>
              <a:off x="4126" y="1790"/>
              <a:ext cx="3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xy</a:t>
              </a:r>
              <a:endPara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5" name="Text Box 42"/>
            <p:cNvSpPr txBox="1">
              <a:spLocks noChangeArrowheads="1"/>
            </p:cNvSpPr>
            <p:nvPr/>
          </p:nvSpPr>
          <p:spPr bwMode="auto">
            <a:xfrm>
              <a:off x="4263" y="1247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6" name="Text Box 43"/>
            <p:cNvSpPr txBox="1">
              <a:spLocks noChangeArrowheads="1"/>
            </p:cNvSpPr>
            <p:nvPr/>
          </p:nvSpPr>
          <p:spPr bwMode="auto">
            <a:xfrm>
              <a:off x="4722" y="1762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i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7" name="Text Box 44"/>
            <p:cNvSpPr txBox="1">
              <a:spLocks noChangeArrowheads="1"/>
            </p:cNvSpPr>
            <p:nvPr/>
          </p:nvSpPr>
          <p:spPr bwMode="auto">
            <a:xfrm>
              <a:off x="4075" y="870"/>
              <a:ext cx="2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8" name="Line 45"/>
            <p:cNvSpPr>
              <a:spLocks noChangeAspect="1" noChangeShapeType="1"/>
            </p:cNvSpPr>
            <p:nvPr/>
          </p:nvSpPr>
          <p:spPr bwMode="auto">
            <a:xfrm flipH="1">
              <a:off x="4453" y="1829"/>
              <a:ext cx="466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9" name="Freeform 31"/>
            <p:cNvSpPr>
              <a:spLocks noChangeAspect="1"/>
            </p:cNvSpPr>
            <p:nvPr/>
          </p:nvSpPr>
          <p:spPr bwMode="auto">
            <a:xfrm>
              <a:off x="3672" y="1956"/>
              <a:ext cx="257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327275" y="5853113"/>
            <a:ext cx="58515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莫尔圆应力分析符号规定</a:t>
            </a: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-9526" y="0"/>
            <a:ext cx="547466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莫尔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库仑强度理论</a:t>
            </a:r>
          </a:p>
        </p:txBody>
      </p:sp>
      <p:sp>
        <p:nvSpPr>
          <p:cNvPr id="57" name="Text Box 16"/>
          <p:cNvSpPr txBox="1">
            <a:spLocks noChangeArrowheads="1"/>
          </p:cNvSpPr>
          <p:nvPr/>
        </p:nvSpPr>
        <p:spPr bwMode="auto">
          <a:xfrm>
            <a:off x="395848" y="1443597"/>
            <a:ext cx="18201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 材料力学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2229504" y="466346"/>
            <a:ext cx="2206625" cy="2165350"/>
            <a:chOff x="947551" y="744255"/>
            <a:chExt cx="2206625" cy="2165350"/>
          </a:xfrm>
        </p:grpSpPr>
        <p:graphicFrame>
          <p:nvGraphicFramePr>
            <p:cNvPr id="59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0514118"/>
                </p:ext>
              </p:extLst>
            </p:nvPr>
          </p:nvGraphicFramePr>
          <p:xfrm>
            <a:off x="1669864" y="744255"/>
            <a:ext cx="355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266" name="公式" r:id="rId4" imgW="177480" imgH="215640" progId="Equation.3">
                    <p:embed/>
                  </p:oleObj>
                </mc:Choice>
                <mc:Fallback>
                  <p:oleObj name="公式" r:id="rId4" imgW="1774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9864" y="744255"/>
                          <a:ext cx="3556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Rectangle 8"/>
            <p:cNvSpPr>
              <a:spLocks noChangeArrowheads="1"/>
            </p:cNvSpPr>
            <p:nvPr/>
          </p:nvSpPr>
          <p:spPr bwMode="auto">
            <a:xfrm>
              <a:off x="1058676" y="1630080"/>
              <a:ext cx="1152525" cy="1223963"/>
            </a:xfrm>
            <a:prstGeom prst="rect">
              <a:avLst/>
            </a:prstGeom>
            <a:solidFill>
              <a:srgbClr val="996633"/>
            </a:solidFill>
            <a:ln w="57150" algn="ctr">
              <a:solidFill>
                <a:srgbClr val="996633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Line 9"/>
            <p:cNvSpPr>
              <a:spLocks noChangeShapeType="1"/>
            </p:cNvSpPr>
            <p:nvPr/>
          </p:nvSpPr>
          <p:spPr bwMode="auto">
            <a:xfrm rot="10800000" flipH="1">
              <a:off x="1180914" y="1414180"/>
              <a:ext cx="936625" cy="0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Freeform 10"/>
            <p:cNvSpPr>
              <a:spLocks/>
            </p:cNvSpPr>
            <p:nvPr/>
          </p:nvSpPr>
          <p:spPr bwMode="auto">
            <a:xfrm rot="10800000">
              <a:off x="2219139" y="2279368"/>
              <a:ext cx="717550" cy="4763"/>
            </a:xfrm>
            <a:custGeom>
              <a:avLst/>
              <a:gdLst>
                <a:gd name="T0" fmla="*/ 452 w 452"/>
                <a:gd name="T1" fmla="*/ 0 h 3"/>
                <a:gd name="T2" fmla="*/ 0 w 452"/>
                <a:gd name="T3" fmla="*/ 3 h 3"/>
                <a:gd name="T4" fmla="*/ 0 60000 65536"/>
                <a:gd name="T5" fmla="*/ 0 60000 65536"/>
                <a:gd name="T6" fmla="*/ 0 w 452"/>
                <a:gd name="T7" fmla="*/ 0 h 3"/>
                <a:gd name="T8" fmla="*/ 452 w 452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2" h="3">
                  <a:moveTo>
                    <a:pt x="452" y="0"/>
                  </a:moveTo>
                  <a:lnTo>
                    <a:pt x="0" y="3"/>
                  </a:lnTo>
                </a:path>
              </a:pathLst>
            </a:custGeom>
            <a:noFill/>
            <a:ln w="57150" cap="flat" cmpd="sng">
              <a:solidFill>
                <a:srgbClr val="990033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Line 11"/>
            <p:cNvSpPr>
              <a:spLocks noChangeShapeType="1"/>
            </p:cNvSpPr>
            <p:nvPr/>
          </p:nvSpPr>
          <p:spPr bwMode="auto">
            <a:xfrm rot="10800000">
              <a:off x="2425514" y="1774543"/>
              <a:ext cx="0" cy="936625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Freeform 12"/>
            <p:cNvSpPr>
              <a:spLocks/>
            </p:cNvSpPr>
            <p:nvPr/>
          </p:nvSpPr>
          <p:spPr bwMode="auto">
            <a:xfrm rot="10800000">
              <a:off x="1598426" y="926818"/>
              <a:ext cx="4763" cy="677863"/>
            </a:xfrm>
            <a:custGeom>
              <a:avLst/>
              <a:gdLst>
                <a:gd name="T0" fmla="*/ 0 w 3"/>
                <a:gd name="T1" fmla="*/ 0 h 427"/>
                <a:gd name="T2" fmla="*/ 3 w 3"/>
                <a:gd name="T3" fmla="*/ 427 h 427"/>
                <a:gd name="T4" fmla="*/ 0 60000 65536"/>
                <a:gd name="T5" fmla="*/ 0 60000 65536"/>
                <a:gd name="T6" fmla="*/ 0 w 3"/>
                <a:gd name="T7" fmla="*/ 0 h 427"/>
                <a:gd name="T8" fmla="*/ 3 w 3"/>
                <a:gd name="T9" fmla="*/ 427 h 4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427">
                  <a:moveTo>
                    <a:pt x="0" y="0"/>
                  </a:moveTo>
                  <a:lnTo>
                    <a:pt x="3" y="427"/>
                  </a:lnTo>
                </a:path>
              </a:pathLst>
            </a:custGeom>
            <a:noFill/>
            <a:ln w="57150" cap="flat" cmpd="sng">
              <a:solidFill>
                <a:srgbClr val="990033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6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6762351"/>
                </p:ext>
              </p:extLst>
            </p:nvPr>
          </p:nvGraphicFramePr>
          <p:xfrm>
            <a:off x="2798576" y="2195230"/>
            <a:ext cx="355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267" name="公式" r:id="rId6" imgW="177480" imgH="215640" progId="Equation.3">
                    <p:embed/>
                  </p:oleObj>
                </mc:Choice>
                <mc:Fallback>
                  <p:oleObj name="公式" r:id="rId6" imgW="1774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8576" y="2195230"/>
                          <a:ext cx="3556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3491800"/>
                </p:ext>
              </p:extLst>
            </p:nvPr>
          </p:nvGraphicFramePr>
          <p:xfrm>
            <a:off x="2498539" y="2477805"/>
            <a:ext cx="431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268" name="公式" r:id="rId8" imgW="215640" imgH="215640" progId="Equation.3">
                    <p:embed/>
                  </p:oleObj>
                </mc:Choice>
                <mc:Fallback>
                  <p:oleObj name="公式" r:id="rId8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8539" y="2477805"/>
                          <a:ext cx="4318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4714340"/>
                </p:ext>
              </p:extLst>
            </p:nvPr>
          </p:nvGraphicFramePr>
          <p:xfrm>
            <a:off x="947551" y="929993"/>
            <a:ext cx="431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269" name="公式" r:id="rId10" imgW="215640" imgH="215640" progId="Equation.3">
                    <p:embed/>
                  </p:oleObj>
                </mc:Choice>
                <mc:Fallback>
                  <p:oleObj name="公式" r:id="rId10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7551" y="929993"/>
                          <a:ext cx="4318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Text Box 17"/>
            <p:cNvSpPr txBox="1">
              <a:spLocks noChangeArrowheads="1"/>
            </p:cNvSpPr>
            <p:nvPr/>
          </p:nvSpPr>
          <p:spPr bwMode="auto">
            <a:xfrm>
              <a:off x="2138176" y="1056993"/>
              <a:ext cx="2667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3600" b="1">
                  <a:solidFill>
                    <a:schemeClr val="tx2"/>
                  </a:solidFill>
                  <a:latin typeface="Arial" charset="0"/>
                  <a:ea typeface="幼圆" pitchFamily="49" charset="-122"/>
                  <a:sym typeface="Symbol" pitchFamily="18" charset="2"/>
                </a:rPr>
                <a:t>+</a:t>
              </a:r>
            </a:p>
          </p:txBody>
        </p:sp>
        <p:sp>
          <p:nvSpPr>
            <p:cNvPr id="69" name="Text Box 18"/>
            <p:cNvSpPr txBox="1">
              <a:spLocks noChangeArrowheads="1"/>
            </p:cNvSpPr>
            <p:nvPr/>
          </p:nvSpPr>
          <p:spPr bwMode="auto">
            <a:xfrm>
              <a:off x="2528701" y="1295118"/>
              <a:ext cx="2540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6000" b="1">
                  <a:solidFill>
                    <a:schemeClr val="tx2"/>
                  </a:solidFill>
                  <a:latin typeface="Arial" charset="0"/>
                  <a:ea typeface="幼圆" pitchFamily="49" charset="-122"/>
                  <a:sym typeface="Symbol" pitchFamily="18" charset="2"/>
                </a:rPr>
                <a:t>-</a:t>
              </a:r>
            </a:p>
          </p:txBody>
        </p:sp>
      </p:grpSp>
      <p:sp>
        <p:nvSpPr>
          <p:cNvPr id="70" name="Text Box 19"/>
          <p:cNvSpPr txBox="1">
            <a:spLocks noChangeArrowheads="1"/>
          </p:cNvSpPr>
          <p:nvPr/>
        </p:nvSpPr>
        <p:spPr bwMode="auto">
          <a:xfrm>
            <a:off x="4941793" y="927098"/>
            <a:ext cx="3845486" cy="176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8288" indent="-268288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正应力：拉为正，压为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负</a:t>
            </a:r>
            <a:endParaRPr kumimoji="1" lang="en-US" altLang="zh-CN" sz="24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marL="268288" indent="-268288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剪应力：使微元产生顺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时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/>
            </a:r>
            <a:b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</a:b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      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针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方向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转动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时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为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/>
            </a:r>
            <a:b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</a:b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      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正，反之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为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负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2179545" y="2910729"/>
            <a:ext cx="2320925" cy="2174034"/>
            <a:chOff x="2179545" y="2910729"/>
            <a:chExt cx="2320925" cy="2174034"/>
          </a:xfrm>
        </p:grpSpPr>
        <p:graphicFrame>
          <p:nvGraphicFramePr>
            <p:cNvPr id="72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4098396"/>
                </p:ext>
              </p:extLst>
            </p:nvPr>
          </p:nvGraphicFramePr>
          <p:xfrm>
            <a:off x="3068825" y="2910729"/>
            <a:ext cx="355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270" name="公式" r:id="rId12" imgW="177480" imgH="215640" progId="Equation.3">
                    <p:embed/>
                  </p:oleObj>
                </mc:Choice>
                <mc:Fallback>
                  <p:oleObj name="公式" r:id="rId12" imgW="1774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8825" y="2910729"/>
                          <a:ext cx="3556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Rectangle 25"/>
            <p:cNvSpPr>
              <a:spLocks noChangeArrowheads="1"/>
            </p:cNvSpPr>
            <p:nvPr/>
          </p:nvSpPr>
          <p:spPr bwMode="auto">
            <a:xfrm>
              <a:off x="2350995" y="3860800"/>
              <a:ext cx="1152525" cy="1223963"/>
            </a:xfrm>
            <a:prstGeom prst="rect">
              <a:avLst/>
            </a:prstGeom>
            <a:solidFill>
              <a:srgbClr val="996633"/>
            </a:solidFill>
            <a:ln w="57150" algn="ctr">
              <a:solidFill>
                <a:srgbClr val="996633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" name="Line 26"/>
            <p:cNvSpPr>
              <a:spLocks noChangeShapeType="1"/>
            </p:cNvSpPr>
            <p:nvPr/>
          </p:nvSpPr>
          <p:spPr bwMode="auto">
            <a:xfrm flipH="1">
              <a:off x="2473233" y="3644900"/>
              <a:ext cx="936625" cy="0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Freeform 27"/>
            <p:cNvSpPr>
              <a:spLocks/>
            </p:cNvSpPr>
            <p:nvPr/>
          </p:nvSpPr>
          <p:spPr bwMode="auto">
            <a:xfrm>
              <a:off x="3574958" y="4462463"/>
              <a:ext cx="717550" cy="4763"/>
            </a:xfrm>
            <a:custGeom>
              <a:avLst/>
              <a:gdLst>
                <a:gd name="T0" fmla="*/ 452 w 452"/>
                <a:gd name="T1" fmla="*/ 0 h 3"/>
                <a:gd name="T2" fmla="*/ 0 w 452"/>
                <a:gd name="T3" fmla="*/ 3 h 3"/>
                <a:gd name="T4" fmla="*/ 0 60000 65536"/>
                <a:gd name="T5" fmla="*/ 0 60000 65536"/>
                <a:gd name="T6" fmla="*/ 0 w 452"/>
                <a:gd name="T7" fmla="*/ 0 h 3"/>
                <a:gd name="T8" fmla="*/ 452 w 452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2" h="3">
                  <a:moveTo>
                    <a:pt x="452" y="0"/>
                  </a:moveTo>
                  <a:lnTo>
                    <a:pt x="0" y="3"/>
                  </a:lnTo>
                </a:path>
              </a:pathLst>
            </a:custGeom>
            <a:noFill/>
            <a:ln w="57150" cap="flat" cmpd="sng">
              <a:solidFill>
                <a:srgbClr val="990033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Line 28"/>
            <p:cNvSpPr>
              <a:spLocks noChangeShapeType="1"/>
            </p:cNvSpPr>
            <p:nvPr/>
          </p:nvSpPr>
          <p:spPr bwMode="auto">
            <a:xfrm>
              <a:off x="3717833" y="4005263"/>
              <a:ext cx="0" cy="936625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7" name="Freeform 29"/>
            <p:cNvSpPr>
              <a:spLocks/>
            </p:cNvSpPr>
            <p:nvPr/>
          </p:nvSpPr>
          <p:spPr bwMode="auto">
            <a:xfrm>
              <a:off x="2970120" y="3157538"/>
              <a:ext cx="4763" cy="677863"/>
            </a:xfrm>
            <a:custGeom>
              <a:avLst/>
              <a:gdLst>
                <a:gd name="T0" fmla="*/ 0 w 3"/>
                <a:gd name="T1" fmla="*/ 0 h 427"/>
                <a:gd name="T2" fmla="*/ 3 w 3"/>
                <a:gd name="T3" fmla="*/ 427 h 427"/>
                <a:gd name="T4" fmla="*/ 0 60000 65536"/>
                <a:gd name="T5" fmla="*/ 0 60000 65536"/>
                <a:gd name="T6" fmla="*/ 0 w 3"/>
                <a:gd name="T7" fmla="*/ 0 h 427"/>
                <a:gd name="T8" fmla="*/ 3 w 3"/>
                <a:gd name="T9" fmla="*/ 427 h 4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427">
                  <a:moveTo>
                    <a:pt x="0" y="0"/>
                  </a:moveTo>
                  <a:lnTo>
                    <a:pt x="3" y="427"/>
                  </a:lnTo>
                </a:path>
              </a:pathLst>
            </a:custGeom>
            <a:noFill/>
            <a:ln w="57150" cap="flat" cmpd="sng">
              <a:solidFill>
                <a:srgbClr val="990033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78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088661"/>
                </p:ext>
              </p:extLst>
            </p:nvPr>
          </p:nvGraphicFramePr>
          <p:xfrm>
            <a:off x="4144870" y="4060825"/>
            <a:ext cx="355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271" name="公式" r:id="rId14" imgW="177480" imgH="215640" progId="Equation.3">
                    <p:embed/>
                  </p:oleObj>
                </mc:Choice>
                <mc:Fallback>
                  <p:oleObj name="公式" r:id="rId14" imgW="1774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4870" y="4060825"/>
                          <a:ext cx="3556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2950589"/>
                </p:ext>
              </p:extLst>
            </p:nvPr>
          </p:nvGraphicFramePr>
          <p:xfrm>
            <a:off x="3794033" y="4610100"/>
            <a:ext cx="431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272" name="公式" r:id="rId16" imgW="215640" imgH="215640" progId="Equation.3">
                    <p:embed/>
                  </p:oleObj>
                </mc:Choice>
                <mc:Fallback>
                  <p:oleObj name="公式" r:id="rId16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4033" y="4610100"/>
                          <a:ext cx="4318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2475353"/>
                </p:ext>
              </p:extLst>
            </p:nvPr>
          </p:nvGraphicFramePr>
          <p:xfrm>
            <a:off x="2179545" y="3127375"/>
            <a:ext cx="431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273" name="公式" r:id="rId18" imgW="215640" imgH="215640" progId="Equation.3">
                    <p:embed/>
                  </p:oleObj>
                </mc:Choice>
                <mc:Fallback>
                  <p:oleObj name="公式" r:id="rId18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9545" y="3127375"/>
                          <a:ext cx="4318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Text Box 33"/>
            <p:cNvSpPr txBox="1">
              <a:spLocks noChangeArrowheads="1"/>
            </p:cNvSpPr>
            <p:nvPr/>
          </p:nvSpPr>
          <p:spPr bwMode="auto">
            <a:xfrm>
              <a:off x="3447958" y="3308350"/>
              <a:ext cx="2667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3600" b="1">
                  <a:solidFill>
                    <a:schemeClr val="tx2"/>
                  </a:solidFill>
                  <a:latin typeface="Arial" charset="0"/>
                  <a:ea typeface="幼圆" pitchFamily="49" charset="-122"/>
                  <a:sym typeface="Symbol" pitchFamily="18" charset="2"/>
                </a:rPr>
                <a:t>+</a:t>
              </a:r>
            </a:p>
          </p:txBody>
        </p:sp>
        <p:sp>
          <p:nvSpPr>
            <p:cNvPr id="82" name="Text Box 34"/>
            <p:cNvSpPr txBox="1">
              <a:spLocks noChangeArrowheads="1"/>
            </p:cNvSpPr>
            <p:nvPr/>
          </p:nvSpPr>
          <p:spPr bwMode="auto">
            <a:xfrm>
              <a:off x="3822608" y="3451225"/>
              <a:ext cx="2540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6000" b="1">
                  <a:solidFill>
                    <a:schemeClr val="tx2"/>
                  </a:solidFill>
                  <a:latin typeface="Arial" charset="0"/>
                  <a:ea typeface="幼圆" pitchFamily="49" charset="-122"/>
                  <a:sym typeface="Symbol" pitchFamily="18" charset="2"/>
                </a:rPr>
                <a:t>-</a:t>
              </a:r>
            </a:p>
          </p:txBody>
        </p:sp>
      </p:grpSp>
      <p:sp>
        <p:nvSpPr>
          <p:cNvPr id="83" name="Text Box 16"/>
          <p:cNvSpPr txBox="1">
            <a:spLocks noChangeArrowheads="1"/>
          </p:cNvSpPr>
          <p:nvPr/>
        </p:nvSpPr>
        <p:spPr bwMode="auto">
          <a:xfrm>
            <a:off x="377916" y="4177832"/>
            <a:ext cx="18201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土力学</a:t>
            </a:r>
            <a:endParaRPr kumimoji="1" lang="zh-CN" altLang="en-US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</p:txBody>
      </p:sp>
      <p:sp>
        <p:nvSpPr>
          <p:cNvPr id="84" name="Text Box 19"/>
          <p:cNvSpPr txBox="1">
            <a:spLocks noChangeArrowheads="1"/>
          </p:cNvSpPr>
          <p:nvPr/>
        </p:nvSpPr>
        <p:spPr bwMode="auto">
          <a:xfrm>
            <a:off x="4958323" y="3464109"/>
            <a:ext cx="3845486" cy="176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8288" indent="-268288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正应力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：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压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为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，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拉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为负</a:t>
            </a:r>
            <a:endParaRPr kumimoji="1" lang="en-US" altLang="zh-CN" sz="24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marL="268288" indent="-268288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剪应力：使微元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产生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逆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时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/>
            </a:r>
            <a:b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</a:b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      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针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方向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转动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时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为</a:t>
            </a: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/>
            </a:r>
            <a:b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</a:br>
            <a:r>
              <a: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      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正，反之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为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负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70" grpId="0"/>
      <p:bldP spid="83" grpId="0"/>
      <p:bldP spid="8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811588" y="5870575"/>
            <a:ext cx="30527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应力莫尔圆</a:t>
            </a:r>
          </a:p>
        </p:txBody>
      </p:sp>
      <p:sp>
        <p:nvSpPr>
          <p:cNvPr id="58" name="Text Box 7"/>
          <p:cNvSpPr txBox="1">
            <a:spLocks noChangeArrowheads="1"/>
          </p:cNvSpPr>
          <p:nvPr/>
        </p:nvSpPr>
        <p:spPr bwMode="auto">
          <a:xfrm>
            <a:off x="-9526" y="0"/>
            <a:ext cx="547466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莫尔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库仑强度理论</a:t>
            </a:r>
          </a:p>
        </p:txBody>
      </p:sp>
      <p:sp>
        <p:nvSpPr>
          <p:cNvPr id="62" name="Oval 6"/>
          <p:cNvSpPr>
            <a:spLocks noChangeArrowheads="1"/>
          </p:cNvSpPr>
          <p:nvPr/>
        </p:nvSpPr>
        <p:spPr bwMode="auto">
          <a:xfrm>
            <a:off x="5449888" y="1062038"/>
            <a:ext cx="1709738" cy="1663700"/>
          </a:xfrm>
          <a:prstGeom prst="ellips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10"/>
          <p:cNvSpPr>
            <a:spLocks noChangeShapeType="1"/>
          </p:cNvSpPr>
          <p:nvPr/>
        </p:nvSpPr>
        <p:spPr bwMode="auto">
          <a:xfrm flipH="1">
            <a:off x="5900738" y="1196975"/>
            <a:ext cx="809625" cy="1395413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4" name="组合 63"/>
          <p:cNvGrpSpPr/>
          <p:nvPr/>
        </p:nvGrpSpPr>
        <p:grpSpPr>
          <a:xfrm>
            <a:off x="5663947" y="1227566"/>
            <a:ext cx="755836" cy="700741"/>
            <a:chOff x="5663947" y="1227566"/>
            <a:chExt cx="755836" cy="700741"/>
          </a:xfrm>
        </p:grpSpPr>
        <p:sp>
          <p:nvSpPr>
            <p:cNvPr id="65" name="Line 16"/>
            <p:cNvSpPr>
              <a:spLocks noChangeShapeType="1"/>
            </p:cNvSpPr>
            <p:nvPr/>
          </p:nvSpPr>
          <p:spPr bwMode="auto">
            <a:xfrm>
              <a:off x="5663947" y="1388557"/>
              <a:ext cx="630238" cy="53975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Box 17"/>
            <p:cNvSpPr txBox="1">
              <a:spLocks noChangeArrowheads="1"/>
            </p:cNvSpPr>
            <p:nvPr/>
          </p:nvSpPr>
          <p:spPr bwMode="auto">
            <a:xfrm>
              <a:off x="5880033" y="1227566"/>
              <a:ext cx="5397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>
                  <a:cs typeface="Times New Roman" panose="02020603050405020304" pitchFamily="18" charset="0"/>
                  <a:sym typeface="Symbol" pitchFamily="18" charset="2"/>
                </a:rPr>
                <a:t>r</a:t>
              </a:r>
            </a:p>
          </p:txBody>
        </p:sp>
      </p:grp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6248266" y="1834942"/>
            <a:ext cx="53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000" b="1" i="1" dirty="0">
                <a:cs typeface="Times New Roman" panose="02020603050405020304" pitchFamily="18" charset="0"/>
                <a:sym typeface="Symbol" pitchFamily="18" charset="2"/>
              </a:rPr>
              <a:t>p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4314676" y="781050"/>
            <a:ext cx="3849435" cy="2089741"/>
            <a:chOff x="4314676" y="781050"/>
            <a:chExt cx="3849435" cy="2089741"/>
          </a:xfrm>
        </p:grpSpPr>
        <p:sp>
          <p:nvSpPr>
            <p:cNvPr id="69" name="Text Box 7"/>
            <p:cNvSpPr txBox="1">
              <a:spLocks noChangeArrowheads="1"/>
            </p:cNvSpPr>
            <p:nvPr/>
          </p:nvSpPr>
          <p:spPr bwMode="auto">
            <a:xfrm>
              <a:off x="7778348" y="1924086"/>
              <a:ext cx="385763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70" name="Text Box 8"/>
            <p:cNvSpPr txBox="1">
              <a:spLocks noChangeArrowheads="1"/>
            </p:cNvSpPr>
            <p:nvPr/>
          </p:nvSpPr>
          <p:spPr bwMode="auto">
            <a:xfrm>
              <a:off x="4754563" y="781050"/>
              <a:ext cx="385763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i="1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71" name="Text Box 9"/>
            <p:cNvSpPr txBox="1">
              <a:spLocks noChangeArrowheads="1"/>
            </p:cNvSpPr>
            <p:nvPr/>
          </p:nvSpPr>
          <p:spPr bwMode="auto">
            <a:xfrm>
              <a:off x="4314676" y="1746730"/>
              <a:ext cx="3857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72" name="Line 30"/>
            <p:cNvSpPr>
              <a:spLocks noChangeShapeType="1"/>
            </p:cNvSpPr>
            <p:nvPr/>
          </p:nvSpPr>
          <p:spPr bwMode="auto">
            <a:xfrm flipV="1">
              <a:off x="4670425" y="915988"/>
              <a:ext cx="0" cy="19548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31"/>
            <p:cNvSpPr>
              <a:spLocks noChangeShapeType="1"/>
            </p:cNvSpPr>
            <p:nvPr/>
          </p:nvSpPr>
          <p:spPr bwMode="auto">
            <a:xfrm>
              <a:off x="4664074" y="1925638"/>
              <a:ext cx="32678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" name="Rectangle 32"/>
          <p:cNvSpPr>
            <a:spLocks noChangeArrowheads="1"/>
          </p:cNvSpPr>
          <p:nvPr/>
        </p:nvSpPr>
        <p:spPr bwMode="auto">
          <a:xfrm>
            <a:off x="1364038" y="1474977"/>
            <a:ext cx="1152525" cy="122396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pSp>
        <p:nvGrpSpPr>
          <p:cNvPr id="75" name="组合 74"/>
          <p:cNvGrpSpPr/>
          <p:nvPr/>
        </p:nvGrpSpPr>
        <p:grpSpPr>
          <a:xfrm>
            <a:off x="1540250" y="603439"/>
            <a:ext cx="1195388" cy="877888"/>
            <a:chOff x="1540250" y="603439"/>
            <a:chExt cx="1195388" cy="877888"/>
          </a:xfrm>
        </p:grpSpPr>
        <p:sp>
          <p:nvSpPr>
            <p:cNvPr id="76" name="Text Box 36"/>
            <p:cNvSpPr txBox="1">
              <a:spLocks noChangeArrowheads="1"/>
            </p:cNvSpPr>
            <p:nvPr/>
          </p:nvSpPr>
          <p:spPr bwMode="auto">
            <a:xfrm>
              <a:off x="1945063" y="603439"/>
              <a:ext cx="4587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7" name="Line 33"/>
            <p:cNvSpPr>
              <a:spLocks noChangeAspect="1" noChangeShapeType="1"/>
            </p:cNvSpPr>
            <p:nvPr/>
          </p:nvSpPr>
          <p:spPr bwMode="auto">
            <a:xfrm rot="10800000">
              <a:off x="1540250" y="1294002"/>
              <a:ext cx="741363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8" name="Line 34"/>
            <p:cNvSpPr>
              <a:spLocks noChangeAspect="1" noChangeShapeType="1"/>
            </p:cNvSpPr>
            <p:nvPr/>
          </p:nvSpPr>
          <p:spPr bwMode="auto">
            <a:xfrm>
              <a:off x="1933950" y="893952"/>
              <a:ext cx="0" cy="587375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9" name="Text Box 35"/>
            <p:cNvSpPr txBox="1">
              <a:spLocks noChangeArrowheads="1"/>
            </p:cNvSpPr>
            <p:nvPr/>
          </p:nvSpPr>
          <p:spPr bwMode="auto">
            <a:xfrm>
              <a:off x="2226050" y="949514"/>
              <a:ext cx="5095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 err="1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zx</a:t>
              </a:r>
              <a:endParaRPr lang="en-US" altLang="zh-CN" sz="24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519738" y="1432114"/>
            <a:ext cx="855662" cy="1092201"/>
            <a:chOff x="2519738" y="1432114"/>
            <a:chExt cx="855662" cy="1092201"/>
          </a:xfrm>
        </p:grpSpPr>
        <p:sp>
          <p:nvSpPr>
            <p:cNvPr id="81" name="Line 37"/>
            <p:cNvSpPr>
              <a:spLocks noChangeAspect="1" noChangeShapeType="1"/>
            </p:cNvSpPr>
            <p:nvPr/>
          </p:nvSpPr>
          <p:spPr bwMode="auto">
            <a:xfrm rot="10800000" flipV="1">
              <a:off x="2702300" y="1782952"/>
              <a:ext cx="0" cy="741363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Text Box 38"/>
            <p:cNvSpPr txBox="1">
              <a:spLocks noChangeArrowheads="1"/>
            </p:cNvSpPr>
            <p:nvPr/>
          </p:nvSpPr>
          <p:spPr bwMode="auto">
            <a:xfrm>
              <a:off x="2657850" y="1432114"/>
              <a:ext cx="5095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 err="1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xz</a:t>
              </a:r>
              <a:endParaRPr lang="en-US" altLang="zh-CN" sz="24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83" name="Line 39"/>
            <p:cNvSpPr>
              <a:spLocks noChangeAspect="1" noChangeShapeType="1"/>
            </p:cNvSpPr>
            <p:nvPr/>
          </p:nvSpPr>
          <p:spPr bwMode="auto">
            <a:xfrm flipH="1">
              <a:off x="2519738" y="2136964"/>
              <a:ext cx="739775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4" name="Text Box 40"/>
            <p:cNvSpPr txBox="1">
              <a:spLocks noChangeArrowheads="1"/>
            </p:cNvSpPr>
            <p:nvPr/>
          </p:nvSpPr>
          <p:spPr bwMode="auto">
            <a:xfrm>
              <a:off x="2905500" y="2040127"/>
              <a:ext cx="469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842684" y="3707278"/>
            <a:ext cx="3440394" cy="431800"/>
            <a:chOff x="564776" y="3707278"/>
            <a:chExt cx="3440394" cy="431800"/>
          </a:xfrm>
        </p:grpSpPr>
        <p:sp>
          <p:nvSpPr>
            <p:cNvPr id="86" name="Text Box 27"/>
            <p:cNvSpPr txBox="1">
              <a:spLocks noChangeArrowheads="1"/>
            </p:cNvSpPr>
            <p:nvPr/>
          </p:nvSpPr>
          <p:spPr bwMode="auto">
            <a:xfrm>
              <a:off x="564776" y="3784038"/>
              <a:ext cx="14791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179388" indent="-179388" ea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rgbClr val="A50021"/>
                </a:buClr>
                <a:buFont typeface="Arial" panose="020B0604020202020204" pitchFamily="34" charset="0"/>
                <a:buChar char="•"/>
              </a:pPr>
              <a:r>
                <a:rPr lang="zh-CN" altLang="en-US" sz="20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圆心坐标：</a:t>
              </a:r>
              <a:endPara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graphicFrame>
          <p:nvGraphicFramePr>
            <p:cNvPr id="87" name="对象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1695802"/>
                </p:ext>
              </p:extLst>
            </p:nvPr>
          </p:nvGraphicFramePr>
          <p:xfrm>
            <a:off x="1947770" y="3707278"/>
            <a:ext cx="2057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1562" name="公式" r:id="rId4" imgW="1028520" imgH="215640" progId="Equation.3">
                    <p:embed/>
                  </p:oleObj>
                </mc:Choice>
                <mc:Fallback>
                  <p:oleObj name="公式" r:id="rId4" imgW="1028520" imgH="21564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947770" y="3707278"/>
                          <a:ext cx="20574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" name="组合 87"/>
          <p:cNvGrpSpPr/>
          <p:nvPr/>
        </p:nvGrpSpPr>
        <p:grpSpPr>
          <a:xfrm>
            <a:off x="4680045" y="3628838"/>
            <a:ext cx="4120869" cy="584200"/>
            <a:chOff x="4680045" y="3619873"/>
            <a:chExt cx="4120869" cy="584200"/>
          </a:xfrm>
        </p:grpSpPr>
        <p:sp>
          <p:nvSpPr>
            <p:cNvPr id="89" name="Text Box 28"/>
            <p:cNvSpPr txBox="1">
              <a:spLocks noChangeArrowheads="1"/>
            </p:cNvSpPr>
            <p:nvPr/>
          </p:nvSpPr>
          <p:spPr bwMode="auto">
            <a:xfrm>
              <a:off x="4680045" y="3769099"/>
              <a:ext cx="99461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179388" indent="-179388" ea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rgbClr val="A50021"/>
                </a:buClr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半径：</a:t>
              </a:r>
            </a:p>
          </p:txBody>
        </p:sp>
        <p:graphicFrame>
          <p:nvGraphicFramePr>
            <p:cNvPr id="90" name="对象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8390841"/>
                </p:ext>
              </p:extLst>
            </p:nvPr>
          </p:nvGraphicFramePr>
          <p:xfrm>
            <a:off x="5676714" y="3619873"/>
            <a:ext cx="3124200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1563" name="公式" r:id="rId6" imgW="1562040" imgH="291960" progId="Equation.3">
                    <p:embed/>
                  </p:oleObj>
                </mc:Choice>
                <mc:Fallback>
                  <p:oleObj name="公式" r:id="rId6" imgW="1562040" imgH="29196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676714" y="3619873"/>
                          <a:ext cx="3124200" cy="584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1" name="组合 90"/>
          <p:cNvGrpSpPr/>
          <p:nvPr/>
        </p:nvGrpSpPr>
        <p:grpSpPr>
          <a:xfrm>
            <a:off x="835370" y="4465919"/>
            <a:ext cx="2683276" cy="431800"/>
            <a:chOff x="5523909" y="3730813"/>
            <a:chExt cx="2683276" cy="431800"/>
          </a:xfrm>
        </p:grpSpPr>
        <p:sp>
          <p:nvSpPr>
            <p:cNvPr id="92" name="Text Box 25"/>
            <p:cNvSpPr txBox="1">
              <a:spLocks noChangeArrowheads="1"/>
            </p:cNvSpPr>
            <p:nvPr/>
          </p:nvSpPr>
          <p:spPr bwMode="auto">
            <a:xfrm>
              <a:off x="5523909" y="3770408"/>
              <a:ext cx="187682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179388" indent="-179388" ea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rgbClr val="A50021"/>
                </a:buClr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大主应力：</a:t>
              </a:r>
            </a:p>
          </p:txBody>
        </p:sp>
        <p:graphicFrame>
          <p:nvGraphicFramePr>
            <p:cNvPr id="93" name="对象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3287333"/>
                </p:ext>
              </p:extLst>
            </p:nvPr>
          </p:nvGraphicFramePr>
          <p:xfrm>
            <a:off x="6886385" y="3730813"/>
            <a:ext cx="1320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1564" name="公式" r:id="rId8" imgW="660240" imgH="215640" progId="Equation.3">
                    <p:embed/>
                  </p:oleObj>
                </mc:Choice>
                <mc:Fallback>
                  <p:oleObj name="公式" r:id="rId8" imgW="660240" imgH="21564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886385" y="3730813"/>
                          <a:ext cx="13208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4" name="组合 93"/>
          <p:cNvGrpSpPr/>
          <p:nvPr/>
        </p:nvGrpSpPr>
        <p:grpSpPr>
          <a:xfrm>
            <a:off x="4675468" y="4452474"/>
            <a:ext cx="2671100" cy="457200"/>
            <a:chOff x="5518152" y="4407649"/>
            <a:chExt cx="2671100" cy="457200"/>
          </a:xfrm>
        </p:grpSpPr>
        <p:sp>
          <p:nvSpPr>
            <p:cNvPr id="95" name="Text Box 26"/>
            <p:cNvSpPr txBox="1">
              <a:spLocks noChangeArrowheads="1"/>
            </p:cNvSpPr>
            <p:nvPr/>
          </p:nvSpPr>
          <p:spPr bwMode="auto">
            <a:xfrm>
              <a:off x="5518152" y="4468442"/>
              <a:ext cx="169031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179388" indent="-179388" ea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rgbClr val="A50021"/>
                </a:buClr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小主应力</a:t>
              </a:r>
              <a:r>
                <a:rPr lang="en-US" altLang="zh-CN" sz="20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:</a:t>
              </a:r>
            </a:p>
          </p:txBody>
        </p:sp>
        <p:graphicFrame>
          <p:nvGraphicFramePr>
            <p:cNvPr id="96" name="对象 9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027860"/>
                </p:ext>
              </p:extLst>
            </p:nvPr>
          </p:nvGraphicFramePr>
          <p:xfrm>
            <a:off x="6868452" y="4407649"/>
            <a:ext cx="13208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1565" name="公式" r:id="rId10" imgW="660240" imgH="228600" progId="Equation.3">
                    <p:embed/>
                  </p:oleObj>
                </mc:Choice>
                <mc:Fallback>
                  <p:oleObj name="公式" r:id="rId10" imgW="660240" imgH="2286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868452" y="4407649"/>
                          <a:ext cx="13208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7" name="Text Box 14"/>
          <p:cNvSpPr txBox="1">
            <a:spLocks noChangeArrowheads="1"/>
          </p:cNvSpPr>
          <p:nvPr/>
        </p:nvSpPr>
        <p:spPr bwMode="auto">
          <a:xfrm>
            <a:off x="7186613" y="1572031"/>
            <a:ext cx="5842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0" bIns="10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 i="1" dirty="0"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cs typeface="Times New Roman" panose="02020603050405020304" pitchFamily="18" charset="0"/>
                <a:sym typeface="Symbol" pitchFamily="18" charset="2"/>
              </a:rPr>
              <a:t>1</a:t>
            </a:r>
          </a:p>
        </p:txBody>
      </p:sp>
      <p:sp>
        <p:nvSpPr>
          <p:cNvPr id="98" name="Text Box 15"/>
          <p:cNvSpPr txBox="1">
            <a:spLocks noChangeArrowheads="1"/>
          </p:cNvSpPr>
          <p:nvPr/>
        </p:nvSpPr>
        <p:spPr bwMode="auto">
          <a:xfrm>
            <a:off x="5135563" y="1550761"/>
            <a:ext cx="5842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0" bIns="10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 i="1" dirty="0"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cs typeface="Times New Roman" panose="02020603050405020304" pitchFamily="18" charset="0"/>
                <a:sym typeface="Symbol" pitchFamily="18" charset="2"/>
              </a:rPr>
              <a:t>3</a:t>
            </a:r>
          </a:p>
        </p:txBody>
      </p:sp>
      <p:sp>
        <p:nvSpPr>
          <p:cNvPr id="99" name="Text Box 20"/>
          <p:cNvSpPr txBox="1">
            <a:spLocks noChangeArrowheads="1"/>
          </p:cNvSpPr>
          <p:nvPr/>
        </p:nvSpPr>
        <p:spPr bwMode="auto">
          <a:xfrm>
            <a:off x="1136091" y="1040003"/>
            <a:ext cx="539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</a:t>
            </a:r>
            <a:endParaRPr lang="en-US" altLang="zh-CN" sz="2400" b="1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00" name="Text Box 20"/>
          <p:cNvSpPr txBox="1">
            <a:spLocks noChangeArrowheads="1"/>
          </p:cNvSpPr>
          <p:nvPr/>
        </p:nvSpPr>
        <p:spPr bwMode="auto">
          <a:xfrm>
            <a:off x="2489761" y="2420568"/>
            <a:ext cx="539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</a:t>
            </a:r>
            <a:endParaRPr lang="en-US" altLang="zh-CN" sz="2400" b="1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5535047" y="2516188"/>
            <a:ext cx="1445745" cy="644993"/>
            <a:chOff x="5535047" y="2516188"/>
            <a:chExt cx="1445745" cy="644993"/>
          </a:xfrm>
        </p:grpSpPr>
        <p:sp>
          <p:nvSpPr>
            <p:cNvPr id="102" name="Oval 29"/>
            <p:cNvSpPr>
              <a:spLocks noChangeArrowheads="1"/>
            </p:cNvSpPr>
            <p:nvPr/>
          </p:nvSpPr>
          <p:spPr bwMode="auto">
            <a:xfrm>
              <a:off x="5795963" y="2516188"/>
              <a:ext cx="171450" cy="173038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Text Box 20"/>
            <p:cNvSpPr txBox="1">
              <a:spLocks noChangeArrowheads="1"/>
            </p:cNvSpPr>
            <p:nvPr/>
          </p:nvSpPr>
          <p:spPr bwMode="auto">
            <a:xfrm>
              <a:off x="5535047" y="2699516"/>
              <a:ext cx="144574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</a:t>
              </a:r>
              <a:r>
                <a:rPr lang="en-US" altLang="zh-CN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(</a:t>
              </a:r>
              <a:r>
                <a:rPr lang="en-US" altLang="zh-CN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r>
                <a:rPr lang="en-US" altLang="zh-CN" sz="2400" b="1" i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altLang="zh-CN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,</a:t>
              </a:r>
              <a:r>
                <a:rPr lang="en-US" altLang="zh-CN" sz="2400" b="1" baseline="-25000" dirty="0" err="1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xz</a:t>
              </a:r>
              <a:r>
                <a:rPr lang="en-US" altLang="zh-CN" sz="2400" b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)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6635750" y="818176"/>
            <a:ext cx="1542353" cy="461665"/>
            <a:chOff x="6635750" y="818176"/>
            <a:chExt cx="1542353" cy="461665"/>
          </a:xfrm>
        </p:grpSpPr>
        <p:sp>
          <p:nvSpPr>
            <p:cNvPr id="105" name="Oval 11"/>
            <p:cNvSpPr>
              <a:spLocks noChangeArrowheads="1"/>
            </p:cNvSpPr>
            <p:nvPr/>
          </p:nvSpPr>
          <p:spPr bwMode="auto">
            <a:xfrm>
              <a:off x="6635750" y="1090613"/>
              <a:ext cx="171450" cy="173038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Text Box 20"/>
            <p:cNvSpPr txBox="1">
              <a:spLocks noChangeArrowheads="1"/>
            </p:cNvSpPr>
            <p:nvPr/>
          </p:nvSpPr>
          <p:spPr bwMode="auto">
            <a:xfrm>
              <a:off x="6750286" y="818176"/>
              <a:ext cx="14278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</a:t>
              </a:r>
              <a:r>
                <a:rPr lang="en-US" altLang="zh-CN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(</a:t>
              </a:r>
              <a:r>
                <a:rPr lang="en-US" altLang="zh-CN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 </a:t>
              </a:r>
              <a:r>
                <a:rPr lang="en-US" altLang="zh-CN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,</a:t>
              </a:r>
              <a:r>
                <a:rPr lang="en-US" altLang="zh-CN" sz="2400" b="1" baseline="-25000" dirty="0" err="1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zx</a:t>
              </a:r>
              <a:r>
                <a:rPr lang="en-US" altLang="zh-CN" sz="2400" b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)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7" grpId="0"/>
      <p:bldP spid="97" grpId="0"/>
      <p:bldP spid="98" grpId="0"/>
      <p:bldP spid="99" grpId="0"/>
      <p:bldP spid="10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811588" y="5870575"/>
            <a:ext cx="30527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应力莫尔圆</a:t>
            </a:r>
          </a:p>
        </p:txBody>
      </p:sp>
      <p:sp>
        <p:nvSpPr>
          <p:cNvPr id="58" name="Text Box 7"/>
          <p:cNvSpPr txBox="1">
            <a:spLocks noChangeArrowheads="1"/>
          </p:cNvSpPr>
          <p:nvPr/>
        </p:nvSpPr>
        <p:spPr bwMode="auto">
          <a:xfrm>
            <a:off x="-9526" y="0"/>
            <a:ext cx="547466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莫尔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库仑强度理论</a:t>
            </a:r>
          </a:p>
        </p:txBody>
      </p:sp>
      <p:sp>
        <p:nvSpPr>
          <p:cNvPr id="50" name="Oval 6"/>
          <p:cNvSpPr>
            <a:spLocks noChangeArrowheads="1"/>
          </p:cNvSpPr>
          <p:nvPr/>
        </p:nvSpPr>
        <p:spPr bwMode="auto">
          <a:xfrm>
            <a:off x="5449888" y="1062038"/>
            <a:ext cx="1709738" cy="1663700"/>
          </a:xfrm>
          <a:prstGeom prst="ellips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7523163" y="1573213"/>
            <a:ext cx="385763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0" bIns="10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 i="1">
                <a:cs typeface="Times New Roman" panose="02020603050405020304" pitchFamily="18" charset="0"/>
                <a:sym typeface="Symbol" pitchFamily="18" charset="2"/>
              </a:rPr>
              <a:t></a:t>
            </a:r>
          </a:p>
        </p:txBody>
      </p:sp>
      <p:sp>
        <p:nvSpPr>
          <p:cNvPr id="52" name="Text Box 8"/>
          <p:cNvSpPr txBox="1">
            <a:spLocks noChangeArrowheads="1"/>
          </p:cNvSpPr>
          <p:nvPr/>
        </p:nvSpPr>
        <p:spPr bwMode="auto">
          <a:xfrm>
            <a:off x="4754563" y="781050"/>
            <a:ext cx="385763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0" bIns="10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 i="1">
                <a:cs typeface="Times New Roman" panose="02020603050405020304" pitchFamily="18" charset="0"/>
                <a:sym typeface="Symbol" pitchFamily="18" charset="2"/>
              </a:rPr>
              <a:t></a:t>
            </a:r>
          </a:p>
        </p:txBody>
      </p:sp>
      <p:sp>
        <p:nvSpPr>
          <p:cNvPr id="53" name="Text Box 9"/>
          <p:cNvSpPr txBox="1">
            <a:spLocks noChangeArrowheads="1"/>
          </p:cNvSpPr>
          <p:nvPr/>
        </p:nvSpPr>
        <p:spPr bwMode="auto">
          <a:xfrm>
            <a:off x="4346575" y="1757363"/>
            <a:ext cx="385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000" b="1" i="1" dirty="0">
                <a:cs typeface="Times New Roman" panose="02020603050405020304" pitchFamily="18" charset="0"/>
                <a:sym typeface="Symbol" pitchFamily="18" charset="2"/>
              </a:rPr>
              <a:t>O</a:t>
            </a:r>
          </a:p>
        </p:txBody>
      </p:sp>
      <p:sp>
        <p:nvSpPr>
          <p:cNvPr id="54" name="Line 10"/>
          <p:cNvSpPr>
            <a:spLocks noChangeShapeType="1"/>
          </p:cNvSpPr>
          <p:nvPr/>
        </p:nvSpPr>
        <p:spPr bwMode="auto">
          <a:xfrm flipH="1">
            <a:off x="6281022" y="1196976"/>
            <a:ext cx="429340" cy="73998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Oval 11"/>
          <p:cNvSpPr>
            <a:spLocks noChangeArrowheads="1"/>
          </p:cNvSpPr>
          <p:nvPr/>
        </p:nvSpPr>
        <p:spPr bwMode="auto">
          <a:xfrm>
            <a:off x="6635750" y="1090613"/>
            <a:ext cx="171450" cy="173038"/>
          </a:xfrm>
          <a:prstGeom prst="ellipse">
            <a:avLst/>
          </a:prstGeom>
          <a:solidFill>
            <a:srgbClr val="800000"/>
          </a:solidFill>
          <a:ln w="6350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Arc 12"/>
          <p:cNvSpPr>
            <a:spLocks/>
          </p:cNvSpPr>
          <p:nvPr/>
        </p:nvSpPr>
        <p:spPr bwMode="auto">
          <a:xfrm>
            <a:off x="6509759" y="1567744"/>
            <a:ext cx="276052" cy="357307"/>
          </a:xfrm>
          <a:custGeom>
            <a:avLst/>
            <a:gdLst>
              <a:gd name="T0" fmla="*/ 0 w 21600"/>
              <a:gd name="T1" fmla="*/ 0 h 21600"/>
              <a:gd name="T2" fmla="*/ 142 w 21600"/>
              <a:gd name="T3" fmla="*/ 170 h 21600"/>
              <a:gd name="T4" fmla="*/ 0 w 21600"/>
              <a:gd name="T5" fmla="*/ 17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A50021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Text Box 13"/>
          <p:cNvSpPr txBox="1">
            <a:spLocks noChangeArrowheads="1"/>
          </p:cNvSpPr>
          <p:nvPr/>
        </p:nvSpPr>
        <p:spPr bwMode="auto">
          <a:xfrm>
            <a:off x="6649893" y="1379492"/>
            <a:ext cx="53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sz="20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59" name="Text Box 14"/>
          <p:cNvSpPr txBox="1">
            <a:spLocks noChangeArrowheads="1"/>
          </p:cNvSpPr>
          <p:nvPr/>
        </p:nvSpPr>
        <p:spPr bwMode="auto">
          <a:xfrm>
            <a:off x="7186613" y="1827213"/>
            <a:ext cx="5842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0" bIns="10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 i="1" dirty="0"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cs typeface="Times New Roman" panose="02020603050405020304" pitchFamily="18" charset="0"/>
                <a:sym typeface="Symbol" pitchFamily="18" charset="2"/>
              </a:rPr>
              <a:t>1</a:t>
            </a:r>
          </a:p>
        </p:txBody>
      </p:sp>
      <p:sp>
        <p:nvSpPr>
          <p:cNvPr id="60" name="Line 30"/>
          <p:cNvSpPr>
            <a:spLocks noChangeShapeType="1"/>
          </p:cNvSpPr>
          <p:nvPr/>
        </p:nvSpPr>
        <p:spPr bwMode="auto">
          <a:xfrm flipV="1">
            <a:off x="4670425" y="915988"/>
            <a:ext cx="0" cy="2362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31"/>
          <p:cNvSpPr>
            <a:spLocks noChangeShapeType="1"/>
          </p:cNvSpPr>
          <p:nvPr/>
        </p:nvSpPr>
        <p:spPr bwMode="auto">
          <a:xfrm>
            <a:off x="4664075" y="1925638"/>
            <a:ext cx="301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Rectangle 32"/>
          <p:cNvSpPr>
            <a:spLocks noChangeArrowheads="1"/>
          </p:cNvSpPr>
          <p:nvPr/>
        </p:nvSpPr>
        <p:spPr bwMode="auto">
          <a:xfrm>
            <a:off x="1319213" y="1376363"/>
            <a:ext cx="1152525" cy="122396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08" name="Line 46"/>
          <p:cNvSpPr>
            <a:spLocks noChangeAspect="1" noChangeShapeType="1"/>
          </p:cNvSpPr>
          <p:nvPr/>
        </p:nvSpPr>
        <p:spPr bwMode="auto">
          <a:xfrm rot="21210086">
            <a:off x="1187450" y="1666875"/>
            <a:ext cx="1450975" cy="727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9" name="组合 108"/>
          <p:cNvGrpSpPr/>
          <p:nvPr/>
        </p:nvGrpSpPr>
        <p:grpSpPr>
          <a:xfrm>
            <a:off x="1633538" y="1223963"/>
            <a:ext cx="644843" cy="795337"/>
            <a:chOff x="1633538" y="1223963"/>
            <a:chExt cx="644843" cy="795337"/>
          </a:xfrm>
        </p:grpSpPr>
        <p:sp>
          <p:nvSpPr>
            <p:cNvPr id="110" name="Text Box 45"/>
            <p:cNvSpPr txBox="1">
              <a:spLocks noChangeArrowheads="1"/>
            </p:cNvSpPr>
            <p:nvPr/>
          </p:nvSpPr>
          <p:spPr bwMode="auto">
            <a:xfrm>
              <a:off x="1633538" y="1223963"/>
              <a:ext cx="584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i="1" dirty="0">
                  <a:latin typeface="Symbol" panose="05050102010706020507" pitchFamily="18" charset="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800" b="1" baseline="-25000" dirty="0">
                  <a:latin typeface="Symbol" panose="05050102010706020507" pitchFamily="18" charset="2"/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11" name="Line 47"/>
            <p:cNvSpPr>
              <a:spLocks noChangeAspect="1" noChangeShapeType="1"/>
            </p:cNvSpPr>
            <p:nvPr/>
          </p:nvSpPr>
          <p:spPr bwMode="auto">
            <a:xfrm rot="5144512">
              <a:off x="1802130" y="1543050"/>
              <a:ext cx="608013" cy="3444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" name="Text Box 48"/>
          <p:cNvSpPr txBox="1">
            <a:spLocks noChangeArrowheads="1"/>
          </p:cNvSpPr>
          <p:nvPr/>
        </p:nvSpPr>
        <p:spPr bwMode="auto">
          <a:xfrm>
            <a:off x="2615603" y="1950812"/>
            <a:ext cx="53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113" name="Line 49"/>
          <p:cNvSpPr>
            <a:spLocks noChangeShapeType="1"/>
          </p:cNvSpPr>
          <p:nvPr/>
        </p:nvSpPr>
        <p:spPr bwMode="auto">
          <a:xfrm>
            <a:off x="984250" y="2032000"/>
            <a:ext cx="18748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14" name="Freeform 50"/>
          <p:cNvSpPr>
            <a:spLocks/>
          </p:cNvSpPr>
          <p:nvPr/>
        </p:nvSpPr>
        <p:spPr bwMode="auto">
          <a:xfrm rot="21311947">
            <a:off x="2569170" y="2044465"/>
            <a:ext cx="64010" cy="226506"/>
          </a:xfrm>
          <a:custGeom>
            <a:avLst/>
            <a:gdLst>
              <a:gd name="T0" fmla="*/ 0 w 27"/>
              <a:gd name="T1" fmla="*/ 99 h 99"/>
              <a:gd name="T2" fmla="*/ 24 w 27"/>
              <a:gd name="T3" fmla="*/ 46 h 99"/>
              <a:gd name="T4" fmla="*/ 21 w 27"/>
              <a:gd name="T5" fmla="*/ 0 h 99"/>
              <a:gd name="T6" fmla="*/ 0 60000 65536"/>
              <a:gd name="T7" fmla="*/ 0 60000 65536"/>
              <a:gd name="T8" fmla="*/ 0 60000 65536"/>
              <a:gd name="T9" fmla="*/ 0 w 27"/>
              <a:gd name="T10" fmla="*/ 0 h 99"/>
              <a:gd name="T11" fmla="*/ 27 w 27"/>
              <a:gd name="T12" fmla="*/ 99 h 99"/>
              <a:gd name="connsiteX0" fmla="*/ 0 w 9239"/>
              <a:gd name="connsiteY0" fmla="*/ 10000 h 10000"/>
              <a:gd name="connsiteX1" fmla="*/ 8889 w 9239"/>
              <a:gd name="connsiteY1" fmla="*/ 4646 h 10000"/>
              <a:gd name="connsiteX2" fmla="*/ 7778 w 9239"/>
              <a:gd name="connsiteY2" fmla="*/ 0 h 10000"/>
              <a:gd name="connsiteX0" fmla="*/ 0 w 10056"/>
              <a:gd name="connsiteY0" fmla="*/ 10177 h 10177"/>
              <a:gd name="connsiteX1" fmla="*/ 9621 w 10056"/>
              <a:gd name="connsiteY1" fmla="*/ 4823 h 10177"/>
              <a:gd name="connsiteX2" fmla="*/ 8795 w 10056"/>
              <a:gd name="connsiteY2" fmla="*/ 0 h 1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56" h="10177">
                <a:moveTo>
                  <a:pt x="0" y="10177"/>
                </a:moveTo>
                <a:cubicBezTo>
                  <a:pt x="1603" y="9268"/>
                  <a:pt x="8419" y="6440"/>
                  <a:pt x="9621" y="4823"/>
                </a:cubicBezTo>
                <a:cubicBezTo>
                  <a:pt x="10824" y="3207"/>
                  <a:pt x="9195" y="1010"/>
                  <a:pt x="8795" y="0"/>
                </a:cubicBezTo>
              </a:path>
            </a:pathLst>
          </a:custGeom>
          <a:noFill/>
          <a:ln w="28575">
            <a:solidFill>
              <a:srgbClr val="A50021"/>
            </a:solidFill>
            <a:round/>
            <a:headEnd type="triangl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54"/>
          <p:cNvSpPr>
            <a:spLocks noChangeArrowheads="1"/>
          </p:cNvSpPr>
          <p:nvPr/>
        </p:nvSpPr>
        <p:spPr bwMode="auto">
          <a:xfrm>
            <a:off x="1355772" y="3591859"/>
            <a:ext cx="6791232" cy="1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74638" indent="-274638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SzPct val="125000"/>
              <a:buFontTx/>
              <a:buChar char="•"/>
            </a:pP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一个莫尔圆：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土体单元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完整的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应力状态</a:t>
            </a:r>
          </a:p>
          <a:p>
            <a:pPr marL="274638" indent="-274638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SzPct val="125000"/>
              <a:buFontTx/>
              <a:buChar char="•"/>
            </a:pP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圆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上一个点：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对应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土体单元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个面上的</a:t>
            </a:r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</a:p>
          <a:p>
            <a:pPr marL="274638" indent="-274638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SzPct val="125000"/>
              <a:buFontTx/>
              <a:buChar char="•"/>
            </a:pP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莫尔圆上转角</a:t>
            </a:r>
            <a:r>
              <a:rPr lang="en-US" altLang="zh-CN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sz="22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</a:t>
            </a: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作用面转角</a:t>
            </a:r>
            <a:r>
              <a:rPr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</a:t>
            </a:r>
            <a:endParaRPr lang="zh-CN" altLang="zh-CN" sz="22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16" name="Text Box 20"/>
          <p:cNvSpPr txBox="1">
            <a:spLocks noChangeArrowheads="1"/>
          </p:cNvSpPr>
          <p:nvPr/>
        </p:nvSpPr>
        <p:spPr bwMode="auto">
          <a:xfrm>
            <a:off x="6777180" y="845070"/>
            <a:ext cx="14278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</a:t>
            </a:r>
            <a:r>
              <a: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 </a:t>
            </a:r>
            <a:r>
              <a:rPr lang="en-US" altLang="zh-CN" sz="24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,</a:t>
            </a:r>
            <a:r>
              <a:rPr lang="en-US" altLang="zh-CN" sz="2400" b="1" baseline="-25000" dirty="0" err="1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zx</a:t>
            </a:r>
            <a:r>
              <a:rPr lang="en-US" altLang="zh-CN" sz="2400" b="1" dirty="0" smtClean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lang="en-US" altLang="zh-CN" sz="2400" b="1" dirty="0"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1540250" y="524782"/>
            <a:ext cx="1195388" cy="865188"/>
            <a:chOff x="1540250" y="603439"/>
            <a:chExt cx="1195388" cy="865188"/>
          </a:xfrm>
        </p:grpSpPr>
        <p:sp>
          <p:nvSpPr>
            <p:cNvPr id="118" name="Text Box 36"/>
            <p:cNvSpPr txBox="1">
              <a:spLocks noChangeArrowheads="1"/>
            </p:cNvSpPr>
            <p:nvPr/>
          </p:nvSpPr>
          <p:spPr bwMode="auto">
            <a:xfrm>
              <a:off x="1945063" y="603439"/>
              <a:ext cx="4587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19" name="Line 33"/>
            <p:cNvSpPr>
              <a:spLocks noChangeAspect="1" noChangeShapeType="1"/>
            </p:cNvSpPr>
            <p:nvPr/>
          </p:nvSpPr>
          <p:spPr bwMode="auto">
            <a:xfrm rot="10800000">
              <a:off x="1540250" y="1294002"/>
              <a:ext cx="741363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0" name="Line 34"/>
            <p:cNvSpPr>
              <a:spLocks noChangeAspect="1" noChangeShapeType="1"/>
            </p:cNvSpPr>
            <p:nvPr/>
          </p:nvSpPr>
          <p:spPr bwMode="auto">
            <a:xfrm>
              <a:off x="1933950" y="881252"/>
              <a:ext cx="0" cy="587375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1" name="Text Box 35"/>
            <p:cNvSpPr txBox="1">
              <a:spLocks noChangeArrowheads="1"/>
            </p:cNvSpPr>
            <p:nvPr/>
          </p:nvSpPr>
          <p:spPr bwMode="auto">
            <a:xfrm>
              <a:off x="2226050" y="949514"/>
              <a:ext cx="5095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 err="1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zx</a:t>
              </a:r>
              <a:endParaRPr lang="en-US" altLang="zh-CN" sz="24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22" name="Text Box 20"/>
          <p:cNvSpPr txBox="1">
            <a:spLocks noChangeArrowheads="1"/>
          </p:cNvSpPr>
          <p:nvPr/>
        </p:nvSpPr>
        <p:spPr bwMode="auto">
          <a:xfrm>
            <a:off x="1136091" y="961346"/>
            <a:ext cx="539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</a:t>
            </a:r>
            <a:endParaRPr lang="en-US" altLang="zh-CN" sz="2400" b="1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6324239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108" grpId="0" animBg="1"/>
      <p:bldP spid="112" grpId="0"/>
      <p:bldP spid="114" grpId="0" animBg="1"/>
      <p:bldP spid="1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311525" y="5621377"/>
            <a:ext cx="42608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SzPct val="130000"/>
              <a:buFont typeface="Wingdings" pitchFamily="2" charset="2"/>
              <a:buNone/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极限平衡应力状态</a:t>
            </a:r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-9526" y="0"/>
            <a:ext cx="547466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莫尔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库仑强度理论</a:t>
            </a:r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826934" y="1996724"/>
            <a:ext cx="4091055" cy="338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不同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方向的面上作用着大小不同的正应力和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剪应力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不可能所有面上的剪应力都能达到抗剪强度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规定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单元体只要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有一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个面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发生剪切破坏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则认为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该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土体单元就达到破坏或极限平衡状态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31" name="Group 21"/>
          <p:cNvGrpSpPr>
            <a:grpSpLocks/>
          </p:cNvGrpSpPr>
          <p:nvPr/>
        </p:nvGrpSpPr>
        <p:grpSpPr bwMode="auto">
          <a:xfrm>
            <a:off x="5179714" y="2251749"/>
            <a:ext cx="3859213" cy="2668588"/>
            <a:chOff x="1642" y="1665"/>
            <a:chExt cx="2431" cy="1681"/>
          </a:xfrm>
        </p:grpSpPr>
        <p:sp>
          <p:nvSpPr>
            <p:cNvPr id="33" name="Line 6"/>
            <p:cNvSpPr>
              <a:spLocks noChangeShapeType="1"/>
            </p:cNvSpPr>
            <p:nvPr/>
          </p:nvSpPr>
          <p:spPr bwMode="auto">
            <a:xfrm flipV="1">
              <a:off x="1642" y="1854"/>
              <a:ext cx="0" cy="14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7"/>
            <p:cNvSpPr>
              <a:spLocks noChangeShapeType="1"/>
            </p:cNvSpPr>
            <p:nvPr/>
          </p:nvSpPr>
          <p:spPr bwMode="auto">
            <a:xfrm>
              <a:off x="1642" y="2774"/>
              <a:ext cx="23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9"/>
            <p:cNvSpPr>
              <a:spLocks noChangeArrowheads="1"/>
            </p:cNvSpPr>
            <p:nvPr/>
          </p:nvSpPr>
          <p:spPr bwMode="auto">
            <a:xfrm>
              <a:off x="3820" y="2733"/>
              <a:ext cx="25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1652" y="1665"/>
              <a:ext cx="21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sp>
        <p:nvSpPr>
          <p:cNvPr id="51" name="Oval 13"/>
          <p:cNvSpPr>
            <a:spLocks noChangeArrowheads="1"/>
          </p:cNvSpPr>
          <p:nvPr/>
        </p:nvSpPr>
        <p:spPr bwMode="auto">
          <a:xfrm>
            <a:off x="6129039" y="3280449"/>
            <a:ext cx="1495425" cy="1449387"/>
          </a:xfrm>
          <a:prstGeom prst="ellips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7177536" y="3209885"/>
            <a:ext cx="1869290" cy="801915"/>
            <a:chOff x="4604497" y="3658474"/>
            <a:chExt cx="1869290" cy="801915"/>
          </a:xfrm>
        </p:grpSpPr>
        <p:sp>
          <p:nvSpPr>
            <p:cNvPr id="53" name="Oval 23"/>
            <p:cNvSpPr>
              <a:spLocks noChangeArrowheads="1"/>
            </p:cNvSpPr>
            <p:nvPr/>
          </p:nvSpPr>
          <p:spPr bwMode="auto">
            <a:xfrm>
              <a:off x="4963138" y="4193924"/>
              <a:ext cx="96838" cy="96838"/>
            </a:xfrm>
            <a:prstGeom prst="ellipse">
              <a:avLst/>
            </a:prstGeom>
            <a:solidFill>
              <a:schemeClr val="bg1"/>
            </a:solidFill>
            <a:ln w="12700" algn="ctr">
              <a:solidFill>
                <a:srgbClr val="000066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25"/>
            <p:cNvSpPr>
              <a:spLocks noChangeShapeType="1"/>
            </p:cNvSpPr>
            <p:nvPr/>
          </p:nvSpPr>
          <p:spPr bwMode="auto">
            <a:xfrm flipV="1">
              <a:off x="5081479" y="3922276"/>
              <a:ext cx="164780" cy="252188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5259695" y="3658474"/>
              <a:ext cx="1214092" cy="403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未</a:t>
              </a:r>
              <a:r>
                <a:rPr lang="zh-CN" altLang="en-US" sz="20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破坏</a:t>
              </a:r>
              <a:r>
                <a:rPr lang="zh-CN" altLang="en-US" sz="20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面</a:t>
              </a:r>
            </a:p>
          </p:txBody>
        </p:sp>
        <p:sp>
          <p:nvSpPr>
            <p:cNvPr id="56" name="Text Box 24"/>
            <p:cNvSpPr txBox="1">
              <a:spLocks noChangeArrowheads="1"/>
            </p:cNvSpPr>
            <p:nvPr/>
          </p:nvSpPr>
          <p:spPr bwMode="auto">
            <a:xfrm>
              <a:off x="4604497" y="4011932"/>
              <a:ext cx="353280" cy="448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B</a:t>
              </a:r>
              <a:endPara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AutoShape 4"/>
          <p:cNvSpPr>
            <a:spLocks noChangeArrowheads="1"/>
          </p:cNvSpPr>
          <p:nvPr/>
        </p:nvSpPr>
        <p:spPr bwMode="auto">
          <a:xfrm>
            <a:off x="383458" y="641005"/>
            <a:ext cx="8544231" cy="1144143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444500" indent="-44450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极限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平衡应力状态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：当土体单元发生剪切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破坏，也即破坏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面上剪应力达到其抗剪强度</a:t>
            </a:r>
            <a:r>
              <a:rPr lang="zh-CN" altLang="en-US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时的状态</a:t>
            </a:r>
            <a:endParaRPr lang="en-US" altLang="zh-CN" sz="28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5178128" y="2146838"/>
            <a:ext cx="3588612" cy="1624150"/>
            <a:chOff x="5178128" y="2146838"/>
            <a:chExt cx="3588612" cy="1624150"/>
          </a:xfrm>
        </p:grpSpPr>
        <p:grpSp>
          <p:nvGrpSpPr>
            <p:cNvPr id="59" name="组合 58"/>
            <p:cNvGrpSpPr/>
            <p:nvPr/>
          </p:nvGrpSpPr>
          <p:grpSpPr>
            <a:xfrm>
              <a:off x="5178128" y="2146838"/>
              <a:ext cx="3588612" cy="1624150"/>
              <a:chOff x="2605089" y="2595427"/>
              <a:chExt cx="3588612" cy="1624150"/>
            </a:xfrm>
          </p:grpSpPr>
          <p:sp>
            <p:nvSpPr>
              <p:cNvPr id="61" name="Line 14"/>
              <p:cNvSpPr>
                <a:spLocks noChangeShapeType="1"/>
              </p:cNvSpPr>
              <p:nvPr/>
            </p:nvSpPr>
            <p:spPr bwMode="auto">
              <a:xfrm flipV="1">
                <a:off x="2605089" y="3400427"/>
                <a:ext cx="2609851" cy="81915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2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9364013"/>
                  </p:ext>
                </p:extLst>
              </p:nvPr>
            </p:nvGraphicFramePr>
            <p:xfrm>
              <a:off x="4314101" y="2595427"/>
              <a:ext cx="1879600" cy="431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19360" name="公式" r:id="rId4" imgW="939600" imgH="215640" progId="Equation.3">
                      <p:embed/>
                    </p:oleObj>
                  </mc:Choice>
                  <mc:Fallback>
                    <p:oleObj name="公式" r:id="rId4" imgW="93960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4101" y="2595427"/>
                            <a:ext cx="1879600" cy="431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60" name="直接连接符 59"/>
            <p:cNvCxnSpPr/>
            <p:nvPr/>
          </p:nvCxnSpPr>
          <p:spPr bwMode="auto">
            <a:xfrm flipV="1">
              <a:off x="7405020" y="2616453"/>
              <a:ext cx="82184" cy="40190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3" name="组合 62"/>
          <p:cNvGrpSpPr/>
          <p:nvPr/>
        </p:nvGrpSpPr>
        <p:grpSpPr>
          <a:xfrm>
            <a:off x="5730577" y="2556549"/>
            <a:ext cx="1299596" cy="1123451"/>
            <a:chOff x="3157538" y="3005138"/>
            <a:chExt cx="1299596" cy="1123451"/>
          </a:xfrm>
        </p:grpSpPr>
        <p:sp>
          <p:nvSpPr>
            <p:cNvPr id="64" name="Text Box 24"/>
            <p:cNvSpPr txBox="1">
              <a:spLocks noChangeArrowheads="1"/>
            </p:cNvSpPr>
            <p:nvPr/>
          </p:nvSpPr>
          <p:spPr bwMode="auto">
            <a:xfrm>
              <a:off x="3157538" y="3005138"/>
              <a:ext cx="956009" cy="448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000" b="1" dirty="0" smtClean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破坏</a:t>
              </a:r>
              <a:r>
                <a:rPr lang="zh-CN" altLang="en-US" sz="2000" b="1" dirty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面</a:t>
              </a:r>
            </a:p>
          </p:txBody>
        </p:sp>
        <p:sp>
          <p:nvSpPr>
            <p:cNvPr id="65" name="Oval 23"/>
            <p:cNvSpPr>
              <a:spLocks noChangeArrowheads="1"/>
            </p:cNvSpPr>
            <p:nvPr/>
          </p:nvSpPr>
          <p:spPr bwMode="auto">
            <a:xfrm>
              <a:off x="4033779" y="3709988"/>
              <a:ext cx="96838" cy="96838"/>
            </a:xfrm>
            <a:prstGeom prst="ellipse">
              <a:avLst/>
            </a:prstGeom>
            <a:solidFill>
              <a:schemeClr val="bg1"/>
            </a:solidFill>
            <a:ln w="12700" algn="ctr">
              <a:solidFill>
                <a:srgbClr val="000066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Line 25"/>
            <p:cNvSpPr>
              <a:spLocks noChangeShapeType="1"/>
            </p:cNvSpPr>
            <p:nvPr/>
          </p:nvSpPr>
          <p:spPr bwMode="auto">
            <a:xfrm flipH="1" flipV="1">
              <a:off x="3733823" y="3381375"/>
              <a:ext cx="257176" cy="2921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Text Box 24"/>
            <p:cNvSpPr txBox="1">
              <a:spLocks noChangeArrowheads="1"/>
            </p:cNvSpPr>
            <p:nvPr/>
          </p:nvSpPr>
          <p:spPr bwMode="auto">
            <a:xfrm>
              <a:off x="4089428" y="3680132"/>
              <a:ext cx="367706" cy="448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</a:rPr>
                <a:t>A</a:t>
              </a:r>
              <a:endParaRPr lang="zh-CN" altLang="en-US" sz="20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 decel="1000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  <p:bldP spid="5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311525" y="5687281"/>
            <a:ext cx="32720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SzPct val="130000"/>
              <a:buFont typeface="Wingdings" pitchFamily="2" charset="2"/>
              <a:buNone/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土的强度包线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876412" y="2013193"/>
            <a:ext cx="4222812" cy="297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土单元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所有</a:t>
            </a: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破坏莫尔圆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的公切线也就是土的抗剪强度包线</a:t>
            </a:r>
            <a:endParaRPr lang="en-US" altLang="zh-CN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zh-CN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剪切</a:t>
            </a:r>
            <a:r>
              <a:rPr lang="zh-CN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破坏表示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其</a:t>
            </a:r>
            <a:r>
              <a:rPr lang="zh-CN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应力状态莫尔圆同强度包线相切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</a:t>
            </a:r>
            <a:r>
              <a:rPr lang="zh-CN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切点所对应的面即为破坏面</a:t>
            </a:r>
            <a:endParaRPr lang="en-US" altLang="zh-CN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如果库仑公式恒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成立</a:t>
            </a: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，土的抗剪强度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包</a:t>
            </a: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线为直线</a:t>
            </a:r>
            <a:endParaRPr lang="en-US" altLang="zh-CN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5325955" y="2325120"/>
            <a:ext cx="3674976" cy="2670847"/>
            <a:chOff x="1624" y="1436"/>
            <a:chExt cx="2657" cy="1982"/>
          </a:xfrm>
        </p:grpSpPr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V="1">
              <a:off x="1642" y="1713"/>
              <a:ext cx="0" cy="17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642" y="2774"/>
              <a:ext cx="263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980" y="2721"/>
              <a:ext cx="290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624" y="1436"/>
              <a:ext cx="24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6624026" y="3339856"/>
            <a:ext cx="1692615" cy="1583068"/>
          </a:xfrm>
          <a:prstGeom prst="ellips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5605348" y="3717144"/>
            <a:ext cx="878289" cy="827398"/>
          </a:xfrm>
          <a:prstGeom prst="ellips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6177964" y="3506926"/>
            <a:ext cx="1302910" cy="1230316"/>
          </a:xfrm>
          <a:prstGeom prst="ellips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 flipV="1">
            <a:off x="5345319" y="3095933"/>
            <a:ext cx="2849247" cy="78832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5755386" y="2781927"/>
            <a:ext cx="1018618" cy="448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破坏</a:t>
            </a:r>
            <a:r>
              <a:rPr lang="zh-CN" altLang="en-US" sz="20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面</a:t>
            </a:r>
          </a:p>
        </p:txBody>
      </p:sp>
      <p:grpSp>
        <p:nvGrpSpPr>
          <p:cNvPr id="21" name="Group 26"/>
          <p:cNvGrpSpPr>
            <a:grpSpLocks/>
          </p:cNvGrpSpPr>
          <p:nvPr/>
        </p:nvGrpSpPr>
        <p:grpSpPr bwMode="auto">
          <a:xfrm>
            <a:off x="5860430" y="3325780"/>
            <a:ext cx="1435695" cy="441997"/>
            <a:chOff x="2549" y="2024"/>
            <a:chExt cx="1038" cy="328"/>
          </a:xfrm>
        </p:grpSpPr>
        <p:sp>
          <p:nvSpPr>
            <p:cNvPr id="22" name="Oval 23"/>
            <p:cNvSpPr>
              <a:spLocks noChangeArrowheads="1"/>
            </p:cNvSpPr>
            <p:nvPr/>
          </p:nvSpPr>
          <p:spPr bwMode="auto">
            <a:xfrm>
              <a:off x="2549" y="2291"/>
              <a:ext cx="61" cy="61"/>
            </a:xfrm>
            <a:prstGeom prst="ellipse">
              <a:avLst/>
            </a:prstGeom>
            <a:solidFill>
              <a:schemeClr val="bg1"/>
            </a:solidFill>
            <a:ln w="12700" algn="ctr">
              <a:solidFill>
                <a:srgbClr val="C00000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Oval 23"/>
            <p:cNvSpPr>
              <a:spLocks noChangeArrowheads="1"/>
            </p:cNvSpPr>
            <p:nvPr/>
          </p:nvSpPr>
          <p:spPr bwMode="auto">
            <a:xfrm>
              <a:off x="3089" y="2137"/>
              <a:ext cx="61" cy="61"/>
            </a:xfrm>
            <a:prstGeom prst="ellipse">
              <a:avLst/>
            </a:prstGeom>
            <a:solidFill>
              <a:schemeClr val="bg1"/>
            </a:solidFill>
            <a:ln w="12700" algn="ctr">
              <a:solidFill>
                <a:srgbClr val="C00000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Oval 23"/>
            <p:cNvSpPr>
              <a:spLocks noChangeArrowheads="1"/>
            </p:cNvSpPr>
            <p:nvPr/>
          </p:nvSpPr>
          <p:spPr bwMode="auto">
            <a:xfrm>
              <a:off x="3526" y="2024"/>
              <a:ext cx="61" cy="61"/>
            </a:xfrm>
            <a:prstGeom prst="ellipse">
              <a:avLst/>
            </a:prstGeom>
            <a:solidFill>
              <a:schemeClr val="bg1"/>
            </a:solidFill>
            <a:ln w="12700" algn="ctr">
              <a:solidFill>
                <a:srgbClr val="C00000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-9526" y="0"/>
            <a:ext cx="547466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莫尔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库仑强度理论</a:t>
            </a:r>
          </a:p>
        </p:txBody>
      </p:sp>
      <p:sp>
        <p:nvSpPr>
          <p:cNvPr id="25" name="AutoShape 4"/>
          <p:cNvSpPr>
            <a:spLocks noChangeArrowheads="1"/>
          </p:cNvSpPr>
          <p:nvPr/>
        </p:nvSpPr>
        <p:spPr bwMode="auto">
          <a:xfrm>
            <a:off x="362237" y="641005"/>
            <a:ext cx="7772400" cy="1144143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444500" indent="-44450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土的抗剪强度包线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：土体单元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达到剪切破坏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状态或极限平衡状态的所有点的集合</a:t>
            </a:r>
            <a:endParaRPr lang="en-US" altLang="zh-CN" sz="28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905502" y="3184856"/>
            <a:ext cx="1246267" cy="473087"/>
            <a:chOff x="5806646" y="3184856"/>
            <a:chExt cx="1246267" cy="473087"/>
          </a:xfrm>
        </p:grpSpPr>
        <p:sp>
          <p:nvSpPr>
            <p:cNvPr id="2" name="任意多边形 1"/>
            <p:cNvSpPr/>
            <p:nvPr/>
          </p:nvSpPr>
          <p:spPr bwMode="auto">
            <a:xfrm>
              <a:off x="5806646" y="3184856"/>
              <a:ext cx="1246267" cy="473087"/>
            </a:xfrm>
            <a:custGeom>
              <a:avLst/>
              <a:gdLst>
                <a:gd name="connsiteX0" fmla="*/ 0 w 1246267"/>
                <a:gd name="connsiteY0" fmla="*/ 473087 h 473087"/>
                <a:gd name="connsiteX1" fmla="*/ 236544 w 1246267"/>
                <a:gd name="connsiteY1" fmla="*/ 0 h 473087"/>
                <a:gd name="connsiteX2" fmla="*/ 1246267 w 1246267"/>
                <a:gd name="connsiteY2" fmla="*/ 144751 h 473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6267" h="473087">
                  <a:moveTo>
                    <a:pt x="0" y="473087"/>
                  </a:moveTo>
                  <a:lnTo>
                    <a:pt x="236544" y="0"/>
                  </a:lnTo>
                  <a:lnTo>
                    <a:pt x="1246267" y="144751"/>
                  </a:lnTo>
                </a:path>
              </a:pathLst>
            </a:cu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cxnSp>
          <p:nvCxnSpPr>
            <p:cNvPr id="16" name="直接箭头连接符 15"/>
            <p:cNvCxnSpPr>
              <a:stCxn id="2" idx="1"/>
            </p:cNvCxnSpPr>
            <p:nvPr/>
          </p:nvCxnSpPr>
          <p:spPr bwMode="auto">
            <a:xfrm>
              <a:off x="6043190" y="3184856"/>
              <a:ext cx="427190" cy="275379"/>
            </a:xfrm>
            <a:prstGeom prst="straightConnector1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7022219" y="2475624"/>
            <a:ext cx="1879673" cy="726885"/>
            <a:chOff x="6997505" y="2426196"/>
            <a:chExt cx="1879673" cy="726885"/>
          </a:xfrm>
        </p:grpSpPr>
        <p:graphicFrame>
          <p:nvGraphicFramePr>
            <p:cNvPr id="19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6584370"/>
                </p:ext>
              </p:extLst>
            </p:nvPr>
          </p:nvGraphicFramePr>
          <p:xfrm>
            <a:off x="6997505" y="2426196"/>
            <a:ext cx="1879673" cy="431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7680" name="公式" r:id="rId4" imgW="939600" imgH="215640" progId="Equation.3">
                    <p:embed/>
                  </p:oleObj>
                </mc:Choice>
                <mc:Fallback>
                  <p:oleObj name="公式" r:id="rId4" imgW="9396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7505" y="2426196"/>
                          <a:ext cx="1879673" cy="431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9" name="直接连接符 28"/>
            <p:cNvCxnSpPr/>
            <p:nvPr/>
          </p:nvCxnSpPr>
          <p:spPr bwMode="auto">
            <a:xfrm flipV="1">
              <a:off x="7617793" y="2821214"/>
              <a:ext cx="88263" cy="331867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2872100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 decel="100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800" decel="100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2" grpId="0" animBg="1"/>
      <p:bldP spid="13" grpId="0" animBg="1"/>
      <p:bldP spid="14" grpId="0" animBg="1"/>
      <p:bldP spid="18" grpId="0" animBg="1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23661" y="5710408"/>
            <a:ext cx="52800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SzPct val="130000"/>
              <a:buFont typeface="Wingdings" pitchFamily="2" charset="2"/>
              <a:buNone/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应力莫尔圆与强度包线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-9526" y="0"/>
            <a:ext cx="547466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莫尔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库仑强度理论</a:t>
            </a:r>
          </a:p>
        </p:txBody>
      </p:sp>
      <p:grpSp>
        <p:nvGrpSpPr>
          <p:cNvPr id="27" name="Group 5"/>
          <p:cNvGrpSpPr>
            <a:grpSpLocks/>
          </p:cNvGrpSpPr>
          <p:nvPr/>
        </p:nvGrpSpPr>
        <p:grpSpPr bwMode="auto">
          <a:xfrm>
            <a:off x="686532" y="1280147"/>
            <a:ext cx="3444875" cy="3549665"/>
            <a:chOff x="365" y="796"/>
            <a:chExt cx="2170" cy="2236"/>
          </a:xfrm>
        </p:grpSpPr>
        <p:sp>
          <p:nvSpPr>
            <p:cNvPr id="28" name="Line 6"/>
            <p:cNvSpPr>
              <a:spLocks noChangeShapeType="1"/>
            </p:cNvSpPr>
            <p:nvPr/>
          </p:nvSpPr>
          <p:spPr bwMode="auto">
            <a:xfrm flipV="1">
              <a:off x="365" y="941"/>
              <a:ext cx="0" cy="20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7"/>
            <p:cNvSpPr>
              <a:spLocks noChangeShapeType="1"/>
            </p:cNvSpPr>
            <p:nvPr/>
          </p:nvSpPr>
          <p:spPr bwMode="auto">
            <a:xfrm>
              <a:off x="365" y="2323"/>
              <a:ext cx="21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auto">
            <a:xfrm>
              <a:off x="2282" y="2283"/>
              <a:ext cx="25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auto">
            <a:xfrm>
              <a:off x="370" y="796"/>
              <a:ext cx="21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grpSp>
        <p:nvGrpSpPr>
          <p:cNvPr id="32" name="Group 10"/>
          <p:cNvGrpSpPr>
            <a:grpSpLocks/>
          </p:cNvGrpSpPr>
          <p:nvPr/>
        </p:nvGrpSpPr>
        <p:grpSpPr bwMode="auto">
          <a:xfrm>
            <a:off x="696057" y="1586514"/>
            <a:ext cx="3257550" cy="1838324"/>
            <a:chOff x="371" y="989"/>
            <a:chExt cx="2052" cy="1158"/>
          </a:xfrm>
        </p:grpSpPr>
        <p:sp>
          <p:nvSpPr>
            <p:cNvPr id="33" name="Line 11"/>
            <p:cNvSpPr>
              <a:spLocks noChangeShapeType="1"/>
            </p:cNvSpPr>
            <p:nvPr/>
          </p:nvSpPr>
          <p:spPr bwMode="auto">
            <a:xfrm flipV="1">
              <a:off x="371" y="1271"/>
              <a:ext cx="1645" cy="87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Rectangle 12"/>
            <p:cNvSpPr>
              <a:spLocks noChangeArrowheads="1"/>
            </p:cNvSpPr>
            <p:nvPr/>
          </p:nvSpPr>
          <p:spPr bwMode="auto">
            <a:xfrm>
              <a:off x="2038" y="989"/>
              <a:ext cx="3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i="1" dirty="0">
                  <a:solidFill>
                    <a:srgbClr val="CC0000"/>
                  </a:solidFill>
                  <a:ea typeface="华文隶书" pitchFamily="2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3200" b="1" baseline="-25000" dirty="0">
                  <a:solidFill>
                    <a:srgbClr val="CC0000"/>
                  </a:solidFill>
                  <a:ea typeface="华文隶书" pitchFamily="2" charset="-122"/>
                  <a:cs typeface="Times New Roman" panose="02020603050405020304" pitchFamily="18" charset="0"/>
                </a:rPr>
                <a:t>f</a:t>
              </a:r>
              <a:endParaRPr lang="en-US" altLang="zh-CN" sz="3200" b="1" baseline="-25000" dirty="0">
                <a:solidFill>
                  <a:srgbClr val="CC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4497688" y="1615395"/>
            <a:ext cx="4297363" cy="352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FontTx/>
              <a:buAutoNum type="circleNumDbPlain"/>
            </a:pPr>
            <a:r>
              <a:rPr lang="zh-CN" altLang="en-US" sz="2400" b="1" dirty="0">
                <a:solidFill>
                  <a:srgbClr val="CC0000"/>
                </a:solidFill>
                <a:ea typeface="幼圆" pitchFamily="49" charset="-122"/>
                <a:cs typeface="Times New Roman" panose="02020603050405020304" pitchFamily="18" charset="0"/>
                <a:sym typeface="Monotype Sorts" pitchFamily="2" charset="2"/>
              </a:rPr>
              <a:t>强度包线以下：</a:t>
            </a: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  <a:sym typeface="Monotype Sorts" pitchFamily="2" charset="2"/>
              </a:rPr>
              <a:t>任何一个面上的一对应力</a:t>
            </a:r>
            <a:r>
              <a:rPr lang="zh-CN" altLang="en-US" sz="2400" b="1" i="1" dirty="0" smtClean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zh-CN" altLang="en-US" sz="2400" b="1" dirty="0" smtClean="0">
                <a:ea typeface="幼圆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sz="2400" b="1" i="1" dirty="0" smtClean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 </a:t>
            </a:r>
            <a:r>
              <a:rPr lang="zh-CN" altLang="en-US" sz="2400" b="1" dirty="0" smtClean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都</a:t>
            </a: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没有达到破坏包线，不破坏</a:t>
            </a:r>
          </a:p>
          <a:p>
            <a:pPr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FontTx/>
              <a:buAutoNum type="circleNumDbPlain"/>
            </a:pPr>
            <a:r>
              <a:rPr lang="zh-CN" altLang="en-US" sz="2400" b="1" dirty="0">
                <a:solidFill>
                  <a:srgbClr val="008000"/>
                </a:solidFill>
                <a:ea typeface="幼圆" pitchFamily="49" charset="-122"/>
                <a:cs typeface="Times New Roman" panose="02020603050405020304" pitchFamily="18" charset="0"/>
                <a:sym typeface="Monotype Sorts" pitchFamily="2" charset="2"/>
              </a:rPr>
              <a:t>与破坏包线相切：</a:t>
            </a: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  <a:sym typeface="Monotype Sorts" pitchFamily="2" charset="2"/>
              </a:rPr>
              <a:t>有一个面上的应力达到破坏</a:t>
            </a:r>
          </a:p>
          <a:p>
            <a:pPr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FontTx/>
              <a:buAutoNum type="circleNumDbPlain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Monotype Sorts" pitchFamily="2" charset="2"/>
              </a:rPr>
              <a:t>与破坏包线相交：</a:t>
            </a: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  <a:sym typeface="Monotype Sorts" pitchFamily="2" charset="2"/>
              </a:rPr>
              <a:t>有一些平面上的应力超过</a:t>
            </a:r>
            <a:r>
              <a:rPr lang="zh-CN" altLang="en-US" sz="2400" b="1" dirty="0" smtClean="0">
                <a:ea typeface="幼圆" pitchFamily="49" charset="-122"/>
                <a:cs typeface="Times New Roman" panose="02020603050405020304" pitchFamily="18" charset="0"/>
                <a:sym typeface="Monotype Sorts" pitchFamily="2" charset="2"/>
              </a:rPr>
              <a:t>强度（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Monotype Sorts" pitchFamily="2" charset="2"/>
              </a:rPr>
              <a:t>不可能发生）</a:t>
            </a:r>
            <a:endParaRPr lang="zh-CN" altLang="en-US" sz="2400" b="1" dirty="0">
              <a:solidFill>
                <a:srgbClr val="CC3300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6" name="Group 14"/>
          <p:cNvGrpSpPr>
            <a:grpSpLocks/>
          </p:cNvGrpSpPr>
          <p:nvPr/>
        </p:nvGrpSpPr>
        <p:grpSpPr bwMode="auto">
          <a:xfrm>
            <a:off x="1215169" y="2588226"/>
            <a:ext cx="2319338" cy="2247900"/>
            <a:chOff x="698" y="1620"/>
            <a:chExt cx="1461" cy="1416"/>
          </a:xfrm>
        </p:grpSpPr>
        <p:sp>
          <p:nvSpPr>
            <p:cNvPr id="37" name="Oval 15"/>
            <p:cNvSpPr>
              <a:spLocks noChangeArrowheads="1"/>
            </p:cNvSpPr>
            <p:nvPr/>
          </p:nvSpPr>
          <p:spPr bwMode="auto">
            <a:xfrm>
              <a:off x="698" y="1620"/>
              <a:ext cx="1461" cy="1416"/>
            </a:xfrm>
            <a:prstGeom prst="ellips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Text Box 16"/>
            <p:cNvSpPr txBox="1">
              <a:spLocks noChangeArrowheads="1"/>
            </p:cNvSpPr>
            <p:nvPr/>
          </p:nvSpPr>
          <p:spPr bwMode="auto">
            <a:xfrm>
              <a:off x="1746" y="1790"/>
              <a:ext cx="3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</a:t>
              </a:r>
            </a:p>
          </p:txBody>
        </p:sp>
      </p:grpSp>
      <p:grpSp>
        <p:nvGrpSpPr>
          <p:cNvPr id="39" name="Group 17"/>
          <p:cNvGrpSpPr>
            <a:grpSpLocks/>
          </p:cNvGrpSpPr>
          <p:nvPr/>
        </p:nvGrpSpPr>
        <p:grpSpPr bwMode="auto">
          <a:xfrm>
            <a:off x="1227869" y="3150201"/>
            <a:ext cx="1160463" cy="1123950"/>
            <a:chOff x="706" y="1974"/>
            <a:chExt cx="731" cy="708"/>
          </a:xfrm>
        </p:grpSpPr>
        <p:sp>
          <p:nvSpPr>
            <p:cNvPr id="40" name="Oval 18"/>
            <p:cNvSpPr>
              <a:spLocks noChangeArrowheads="1"/>
            </p:cNvSpPr>
            <p:nvPr/>
          </p:nvSpPr>
          <p:spPr bwMode="auto">
            <a:xfrm>
              <a:off x="706" y="1974"/>
              <a:ext cx="731" cy="708"/>
            </a:xfrm>
            <a:prstGeom prst="ellips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Text Box 19"/>
            <p:cNvSpPr txBox="1">
              <a:spLocks noChangeArrowheads="1"/>
            </p:cNvSpPr>
            <p:nvPr/>
          </p:nvSpPr>
          <p:spPr bwMode="auto">
            <a:xfrm>
              <a:off x="1104" y="2026"/>
              <a:ext cx="3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CC0000"/>
                  </a:solidFill>
                  <a:ea typeface="幼圆" pitchFamily="49" charset="-122"/>
                  <a:sym typeface="Wingdings 2" pitchFamily="18" charset="2"/>
                </a:rPr>
                <a:t></a:t>
              </a:r>
              <a:endParaRPr lang="zh-CN" altLang="en-US" sz="2800" b="1">
                <a:solidFill>
                  <a:srgbClr val="CC0000"/>
                </a:solidFill>
                <a:ea typeface="幼圆" pitchFamily="49" charset="-122"/>
                <a:sym typeface="Wingdings" pitchFamily="2" charset="2"/>
              </a:endParaRPr>
            </a:p>
          </p:txBody>
        </p:sp>
      </p:grpSp>
      <p:grpSp>
        <p:nvGrpSpPr>
          <p:cNvPr id="42" name="Group 20"/>
          <p:cNvGrpSpPr>
            <a:grpSpLocks/>
          </p:cNvGrpSpPr>
          <p:nvPr/>
        </p:nvGrpSpPr>
        <p:grpSpPr bwMode="auto">
          <a:xfrm>
            <a:off x="1215169" y="2816826"/>
            <a:ext cx="1755775" cy="1701800"/>
            <a:chOff x="698" y="1764"/>
            <a:chExt cx="1106" cy="1072"/>
          </a:xfrm>
        </p:grpSpPr>
        <p:sp>
          <p:nvSpPr>
            <p:cNvPr id="43" name="Oval 21"/>
            <p:cNvSpPr>
              <a:spLocks noChangeArrowheads="1"/>
            </p:cNvSpPr>
            <p:nvPr/>
          </p:nvSpPr>
          <p:spPr bwMode="auto">
            <a:xfrm>
              <a:off x="698" y="1764"/>
              <a:ext cx="1106" cy="1072"/>
            </a:xfrm>
            <a:prstGeom prst="ellipse">
              <a:avLst/>
            </a:prstGeom>
            <a:noFill/>
            <a:ln w="190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22"/>
            <p:cNvSpPr txBox="1">
              <a:spLocks noChangeArrowheads="1"/>
            </p:cNvSpPr>
            <p:nvPr/>
          </p:nvSpPr>
          <p:spPr bwMode="auto">
            <a:xfrm>
              <a:off x="1441" y="1886"/>
              <a:ext cx="3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6600"/>
                  </a:solidFill>
                  <a:ea typeface="幼圆" pitchFamily="49" charset="-122"/>
                  <a:sym typeface="Wingdings" pitchFamily="2" charset="2"/>
                </a:rPr>
                <a:t></a:t>
              </a:r>
            </a:p>
          </p:txBody>
        </p:sp>
      </p:grpSp>
      <p:sp>
        <p:nvSpPr>
          <p:cNvPr id="45" name="Text Box 38"/>
          <p:cNvSpPr txBox="1">
            <a:spLocks noChangeArrowheads="1"/>
          </p:cNvSpPr>
          <p:nvPr/>
        </p:nvSpPr>
        <p:spPr bwMode="auto">
          <a:xfrm>
            <a:off x="419100" y="691913"/>
            <a:ext cx="5553332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莫尔圆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与强度包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线的关系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941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9526" y="0"/>
            <a:ext cx="547466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莫尔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-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库仑强度理论</a:t>
            </a:r>
          </a:p>
        </p:txBody>
      </p:sp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2884488" y="5684391"/>
            <a:ext cx="47688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SzPct val="130000"/>
              <a:buFont typeface="Wingdings" pitchFamily="2" charset="2"/>
              <a:buNone/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莫尔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</a:rPr>
              <a:t>—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库仑强度理论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829394" y="1536299"/>
            <a:ext cx="7375489" cy="2966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FontTx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土单元的某一个平面上的抗剪强度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是该面上作用的法向应力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单值函数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f(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 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（莫尔：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1900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年）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FontTx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在一定的应力范围内，可以用线性函数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近似：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/>
            </a:r>
            <a:b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FontTx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土体单元的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任一个平面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上，剪应力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达到抗剪强度，也即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，则该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单元就达到了极限平衡应力状态</a:t>
            </a:r>
          </a:p>
        </p:txBody>
      </p:sp>
      <p:sp>
        <p:nvSpPr>
          <p:cNvPr id="7" name="Text Box 38"/>
          <p:cNvSpPr txBox="1">
            <a:spLocks noChangeArrowheads="1"/>
          </p:cNvSpPr>
          <p:nvPr/>
        </p:nvSpPr>
        <p:spPr bwMode="auto">
          <a:xfrm>
            <a:off x="419100" y="724865"/>
            <a:ext cx="4927600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莫尔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库仑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强度理论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27015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9526" y="0"/>
            <a:ext cx="58089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土单元破坏的判断方法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2225675" y="5831030"/>
            <a:ext cx="52806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SzPct val="130000"/>
              <a:buFont typeface="Wingdings" pitchFamily="2" charset="2"/>
              <a:buNone/>
            </a:pPr>
            <a:r>
              <a:rPr lang="zh-CN" altLang="en-US" sz="3600" b="1" dirty="0">
                <a:solidFill>
                  <a:srgbClr val="000066"/>
                </a:solidFill>
                <a:ea typeface="黑体" pitchFamily="2" charset="-122"/>
              </a:rPr>
              <a:t>土体单元破坏的判断方法</a:t>
            </a:r>
            <a:endParaRPr lang="en-US" altLang="zh-CN" sz="36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485004" y="799007"/>
            <a:ext cx="4927600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体单元破坏的判断方法</a:t>
            </a:r>
          </a:p>
        </p:txBody>
      </p:sp>
      <p:sp>
        <p:nvSpPr>
          <p:cNvPr id="47" name="Rectangle 9"/>
          <p:cNvSpPr>
            <a:spLocks noChangeArrowheads="1"/>
          </p:cNvSpPr>
          <p:nvPr/>
        </p:nvSpPr>
        <p:spPr bwMode="auto">
          <a:xfrm>
            <a:off x="842285" y="1525760"/>
            <a:ext cx="6910571" cy="3347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库仑公式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：可判断某个面是否剪切破环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，但无法直接判定土单元体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是否发生破坏</a:t>
            </a:r>
            <a:endParaRPr kumimoji="1" lang="en-US" altLang="zh-CN" sz="24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莫尔圆法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：是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一种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图解法，直观形象，但在数值计算分析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中应用不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方便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土的极限平衡条件（莫尔</a:t>
            </a:r>
            <a:r>
              <a:rPr kumimoji="1" lang="en-US" altLang="zh-CN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—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库仑破坏准则</a:t>
            </a: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）：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用主应力或应力不变量表示的莫尔－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库仑破坏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理论的数学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表达式</a:t>
            </a:r>
            <a:endParaRPr kumimoji="1" lang="en-US" altLang="zh-CN" sz="2400" b="1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766288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1"/>
          <p:cNvSpPr>
            <a:spLocks/>
          </p:cNvSpPr>
          <p:nvPr/>
        </p:nvSpPr>
        <p:spPr bwMode="auto">
          <a:xfrm>
            <a:off x="494991" y="3197258"/>
            <a:ext cx="2413000" cy="798512"/>
          </a:xfrm>
          <a:custGeom>
            <a:avLst/>
            <a:gdLst>
              <a:gd name="T0" fmla="*/ 1323 w 1520"/>
              <a:gd name="T1" fmla="*/ 0 h 503"/>
              <a:gd name="T2" fmla="*/ 1520 w 1520"/>
              <a:gd name="T3" fmla="*/ 497 h 503"/>
              <a:gd name="T4" fmla="*/ 0 w 1520"/>
              <a:gd name="T5" fmla="*/ 503 h 503"/>
              <a:gd name="T6" fmla="*/ 1323 w 1520"/>
              <a:gd name="T7" fmla="*/ 0 h 503"/>
              <a:gd name="T8" fmla="*/ 0 60000 65536"/>
              <a:gd name="T9" fmla="*/ 0 60000 65536"/>
              <a:gd name="T10" fmla="*/ 0 60000 65536"/>
              <a:gd name="T11" fmla="*/ 0 60000 65536"/>
              <a:gd name="T12" fmla="*/ 0 w 1520"/>
              <a:gd name="T13" fmla="*/ 0 h 503"/>
              <a:gd name="T14" fmla="*/ 1520 w 1520"/>
              <a:gd name="T15" fmla="*/ 503 h 50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20" h="503">
                <a:moveTo>
                  <a:pt x="1323" y="0"/>
                </a:moveTo>
                <a:lnTo>
                  <a:pt x="1520" y="497"/>
                </a:lnTo>
                <a:lnTo>
                  <a:pt x="0" y="503"/>
                </a:lnTo>
                <a:lnTo>
                  <a:pt x="1323" y="0"/>
                </a:lnTo>
                <a:close/>
              </a:path>
            </a:pathLst>
          </a:custGeom>
          <a:solidFill>
            <a:srgbClr val="FFFF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88604" y="2279684"/>
            <a:ext cx="4191001" cy="2132013"/>
            <a:chOff x="205080" y="2271446"/>
            <a:chExt cx="4191001" cy="2132013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205080" y="4000234"/>
              <a:ext cx="40846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V="1">
              <a:off x="1284580" y="2460358"/>
              <a:ext cx="0" cy="17907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010318" y="3946259"/>
              <a:ext cx="3857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865480" y="2271446"/>
              <a:ext cx="3857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970255" y="3916096"/>
              <a:ext cx="3857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dirty="0" smtClean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o</a:t>
              </a:r>
              <a:endParaRPr lang="en-US" altLang="zh-CN" sz="18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34667" y="2109821"/>
            <a:ext cx="3673475" cy="1895476"/>
            <a:chOff x="451143" y="2101583"/>
            <a:chExt cx="3673475" cy="1895476"/>
          </a:xfrm>
        </p:grpSpPr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592805" y="2671496"/>
              <a:ext cx="3857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 i="1" dirty="0" smtClean="0">
                  <a:solidFill>
                    <a:srgbClr val="000066"/>
                  </a:solidFill>
                  <a:cs typeface="Arial" charset="0"/>
                  <a:sym typeface="Symbol"/>
                </a:rPr>
                <a:t></a:t>
              </a:r>
              <a:endParaRPr lang="zh-CN" altLang="en-US" sz="1800" b="1" i="1" dirty="0">
                <a:solidFill>
                  <a:srgbClr val="000066"/>
                </a:solidFill>
                <a:cs typeface="Arial" charset="0"/>
                <a:sym typeface="Symbol" pitchFamily="18" charset="2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V="1">
              <a:off x="451143" y="2607996"/>
              <a:ext cx="3673475" cy="1389063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3113380" y="3003283"/>
              <a:ext cx="855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360780" y="3627171"/>
              <a:ext cx="38576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403643" y="3677971"/>
              <a:ext cx="0" cy="315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1313155" y="3677971"/>
              <a:ext cx="22542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3551530" y="2822308"/>
              <a:ext cx="38100" cy="179388"/>
            </a:xfrm>
            <a:custGeom>
              <a:avLst/>
              <a:gdLst>
                <a:gd name="T0" fmla="*/ 19 w 24"/>
                <a:gd name="T1" fmla="*/ 113 h 113"/>
                <a:gd name="T2" fmla="*/ 21 w 24"/>
                <a:gd name="T3" fmla="*/ 56 h 113"/>
                <a:gd name="T4" fmla="*/ 0 w 24"/>
                <a:gd name="T5" fmla="*/ 0 h 113"/>
                <a:gd name="T6" fmla="*/ 0 60000 65536"/>
                <a:gd name="T7" fmla="*/ 0 60000 65536"/>
                <a:gd name="T8" fmla="*/ 0 60000 65536"/>
                <a:gd name="T9" fmla="*/ 0 w 24"/>
                <a:gd name="T10" fmla="*/ 0 h 113"/>
                <a:gd name="T11" fmla="*/ 24 w 24"/>
                <a:gd name="T12" fmla="*/ 113 h 1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13">
                  <a:moveTo>
                    <a:pt x="19" y="113"/>
                  </a:moveTo>
                  <a:cubicBezTo>
                    <a:pt x="19" y="104"/>
                    <a:pt x="24" y="75"/>
                    <a:pt x="21" y="56"/>
                  </a:cubicBezTo>
                  <a:cubicBezTo>
                    <a:pt x="18" y="37"/>
                    <a:pt x="4" y="1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H="1" flipV="1">
              <a:off x="2951455" y="2492108"/>
              <a:ext cx="279400" cy="395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2438693" y="2101583"/>
              <a:ext cx="15351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0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r>
                <a:rPr lang="en-US" altLang="zh-CN" sz="2000" b="1" i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 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tan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</a:t>
              </a:r>
              <a:endParaRPr lang="zh-CN" altLang="en-US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6079" y="2867059"/>
            <a:ext cx="2851151" cy="1430338"/>
            <a:chOff x="322555" y="2858821"/>
            <a:chExt cx="2851151" cy="1430338"/>
          </a:xfrm>
        </p:grpSpPr>
        <p:sp>
          <p:nvSpPr>
            <p:cNvPr id="46" name="Text Box 8"/>
            <p:cNvSpPr txBox="1">
              <a:spLocks noChangeArrowheads="1"/>
            </p:cNvSpPr>
            <p:nvPr/>
          </p:nvSpPr>
          <p:spPr bwMode="auto">
            <a:xfrm>
              <a:off x="322555" y="3919271"/>
              <a:ext cx="4508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dirty="0" smtClean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o</a:t>
              </a:r>
              <a:r>
                <a:rPr lang="en-US" altLang="zh-CN" sz="1800" b="1" dirty="0" smtClean="0">
                  <a:solidFill>
                    <a:srgbClr val="000066"/>
                  </a:solidFill>
                  <a:cs typeface="Times New Roman" panose="02020603050405020304" pitchFamily="18" charset="0"/>
                  <a:sym typeface="Symbol"/>
                </a:rPr>
                <a:t></a:t>
              </a:r>
              <a:endParaRPr lang="en-US" altLang="zh-CN" sz="18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7" name="Text Box 8"/>
            <p:cNvSpPr txBox="1">
              <a:spLocks noChangeArrowheads="1"/>
            </p:cNvSpPr>
            <p:nvPr/>
          </p:nvSpPr>
          <p:spPr bwMode="auto">
            <a:xfrm>
              <a:off x="2787943" y="3917684"/>
              <a:ext cx="38576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a</a:t>
              </a:r>
            </a:p>
          </p:txBody>
        </p:sp>
        <p:sp>
          <p:nvSpPr>
            <p:cNvPr id="48" name="Text Box 8"/>
            <p:cNvSpPr txBox="1">
              <a:spLocks noChangeArrowheads="1"/>
            </p:cNvSpPr>
            <p:nvPr/>
          </p:nvSpPr>
          <p:spPr bwMode="auto">
            <a:xfrm>
              <a:off x="2362493" y="2858821"/>
              <a:ext cx="3857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dirty="0" smtClean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b</a:t>
              </a:r>
              <a:endParaRPr lang="en-US" altLang="zh-CN" sz="18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419099" y="724865"/>
            <a:ext cx="8012519" cy="1025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土的极限平衡条件（破坏准则）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None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处于极限平衡状态时，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之间应满足的关系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6" name="Freeform 22"/>
          <p:cNvSpPr>
            <a:spLocks noChangeAspect="1"/>
          </p:cNvSpPr>
          <p:nvPr/>
        </p:nvSpPr>
        <p:spPr bwMode="auto">
          <a:xfrm>
            <a:off x="2617479" y="3197258"/>
            <a:ext cx="312737" cy="803275"/>
          </a:xfrm>
          <a:custGeom>
            <a:avLst/>
            <a:gdLst>
              <a:gd name="T0" fmla="*/ 0 w 197"/>
              <a:gd name="T1" fmla="*/ 0 h 506"/>
              <a:gd name="T2" fmla="*/ 197 w 197"/>
              <a:gd name="T3" fmla="*/ 506 h 506"/>
              <a:gd name="T4" fmla="*/ 0 60000 65536"/>
              <a:gd name="T5" fmla="*/ 0 60000 65536"/>
              <a:gd name="T6" fmla="*/ 0 w 197"/>
              <a:gd name="T7" fmla="*/ 0 h 506"/>
              <a:gd name="T8" fmla="*/ 197 w 197"/>
              <a:gd name="T9" fmla="*/ 506 h 5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7" h="506">
                <a:moveTo>
                  <a:pt x="0" y="0"/>
                </a:moveTo>
                <a:lnTo>
                  <a:pt x="197" y="50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809441" y="3144870"/>
            <a:ext cx="2157413" cy="1209675"/>
            <a:chOff x="1825917" y="3136632"/>
            <a:chExt cx="2157413" cy="1209675"/>
          </a:xfrm>
        </p:grpSpPr>
        <p:grpSp>
          <p:nvGrpSpPr>
            <p:cNvPr id="22" name="Group 18"/>
            <p:cNvGrpSpPr>
              <a:grpSpLocks/>
            </p:cNvGrpSpPr>
            <p:nvPr/>
          </p:nvGrpSpPr>
          <p:grpSpPr bwMode="auto">
            <a:xfrm>
              <a:off x="1825917" y="3944670"/>
              <a:ext cx="2157413" cy="401637"/>
              <a:chOff x="3902" y="1477"/>
              <a:chExt cx="1359" cy="253"/>
            </a:xfrm>
          </p:grpSpPr>
          <p:sp>
            <p:nvSpPr>
              <p:cNvPr id="23" name="Text Box 19"/>
              <p:cNvSpPr txBox="1">
                <a:spLocks noChangeArrowheads="1"/>
              </p:cNvSpPr>
              <p:nvPr/>
            </p:nvSpPr>
            <p:spPr bwMode="auto">
              <a:xfrm>
                <a:off x="4949" y="1477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</a:p>
            </p:txBody>
          </p:sp>
          <p:sp>
            <p:nvSpPr>
              <p:cNvPr id="24" name="Text Box 20"/>
              <p:cNvSpPr txBox="1">
                <a:spLocks noChangeArrowheads="1"/>
              </p:cNvSpPr>
              <p:nvPr/>
            </p:nvSpPr>
            <p:spPr bwMode="auto">
              <a:xfrm>
                <a:off x="3902" y="1480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</p:grpSp>
        <p:sp>
          <p:nvSpPr>
            <p:cNvPr id="32" name="Arc 29"/>
            <p:cNvSpPr>
              <a:spLocks/>
            </p:cNvSpPr>
            <p:nvPr/>
          </p:nvSpPr>
          <p:spPr bwMode="auto">
            <a:xfrm flipH="1" flipV="1">
              <a:off x="2064042" y="3136632"/>
              <a:ext cx="1687513" cy="863600"/>
            </a:xfrm>
            <a:custGeom>
              <a:avLst/>
              <a:gdLst>
                <a:gd name="T0" fmla="*/ 1687357 w 43200"/>
                <a:gd name="T1" fmla="*/ 3164 h 22107"/>
                <a:gd name="T2" fmla="*/ 234 w 43200"/>
                <a:gd name="T3" fmla="*/ 0 h 22107"/>
                <a:gd name="T4" fmla="*/ 843757 w 43200"/>
                <a:gd name="T5" fmla="*/ 19806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39430" y="4276930"/>
            <a:ext cx="830263" cy="616626"/>
            <a:chOff x="455906" y="4268692"/>
            <a:chExt cx="830263" cy="616626"/>
          </a:xfrm>
        </p:grpSpPr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463844" y="4268692"/>
              <a:ext cx="0" cy="265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28"/>
            <p:cNvSpPr>
              <a:spLocks noChangeShapeType="1"/>
            </p:cNvSpPr>
            <p:nvPr/>
          </p:nvSpPr>
          <p:spPr bwMode="auto">
            <a:xfrm>
              <a:off x="455906" y="4443318"/>
              <a:ext cx="830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1052293"/>
                </p:ext>
              </p:extLst>
            </p:nvPr>
          </p:nvGraphicFramePr>
          <p:xfrm>
            <a:off x="565154" y="4603210"/>
            <a:ext cx="696128" cy="282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445" name="公式" r:id="rId4" imgW="469800" imgH="190440" progId="Equation.3">
                    <p:embed/>
                  </p:oleObj>
                </mc:Choice>
                <mc:Fallback>
                  <p:oleObj name="公式" r:id="rId4" imgW="46980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154" y="4603210"/>
                          <a:ext cx="696128" cy="28210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739443"/>
              </p:ext>
            </p:extLst>
          </p:nvPr>
        </p:nvGraphicFramePr>
        <p:xfrm>
          <a:off x="2816189" y="3342076"/>
          <a:ext cx="694868" cy="52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446" name="公式" r:id="rId6" imgW="507960" imgH="380880" progId="Equation.3">
                  <p:embed/>
                </p:oleObj>
              </mc:Choice>
              <mc:Fallback>
                <p:oleObj name="公式" r:id="rId6" imgW="5079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189" y="3342076"/>
                        <a:ext cx="694868" cy="5211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/>
          <p:cNvGrpSpPr/>
          <p:nvPr/>
        </p:nvGrpSpPr>
        <p:grpSpPr>
          <a:xfrm>
            <a:off x="1276043" y="4280105"/>
            <a:ext cx="1670050" cy="785908"/>
            <a:chOff x="1292519" y="4271867"/>
            <a:chExt cx="1670050" cy="785908"/>
          </a:xfrm>
        </p:grpSpPr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2962569" y="4271867"/>
              <a:ext cx="0" cy="265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1298869" y="4444905"/>
              <a:ext cx="1663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26"/>
            <p:cNvSpPr>
              <a:spLocks noChangeShapeType="1"/>
            </p:cNvSpPr>
            <p:nvPr/>
          </p:nvSpPr>
          <p:spPr bwMode="auto">
            <a:xfrm>
              <a:off x="1292519" y="4359180"/>
              <a:ext cx="0" cy="179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721903"/>
                </p:ext>
              </p:extLst>
            </p:nvPr>
          </p:nvGraphicFramePr>
          <p:xfrm>
            <a:off x="1831328" y="4455685"/>
            <a:ext cx="752286" cy="6020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447" name="公式" r:id="rId8" imgW="507960" imgH="406080" progId="Equation.3">
                    <p:embed/>
                  </p:oleObj>
                </mc:Choice>
                <mc:Fallback>
                  <p:oleObj name="公式" r:id="rId8" imgW="50796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1328" y="4455685"/>
                          <a:ext cx="752286" cy="60209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4898946" y="2313032"/>
            <a:ext cx="3348767" cy="423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abo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</a:t>
            </a:r>
            <a:r>
              <a:rPr lang="zh-CN" altLang="en-US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为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直角三角形，可得：</a:t>
            </a:r>
            <a:endParaRPr kumimoji="1"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9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184637"/>
              </p:ext>
            </p:extLst>
          </p:nvPr>
        </p:nvGraphicFramePr>
        <p:xfrm>
          <a:off x="4902784" y="2912393"/>
          <a:ext cx="277653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448" name="公式" r:id="rId10" imgW="1371600" imgH="406080" progId="Equation.3">
                  <p:embed/>
                </p:oleObj>
              </mc:Choice>
              <mc:Fallback>
                <p:oleObj name="公式" r:id="rId10" imgW="13716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784" y="2912393"/>
                        <a:ext cx="2776537" cy="8223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02197"/>
              </p:ext>
            </p:extLst>
          </p:nvPr>
        </p:nvGraphicFramePr>
        <p:xfrm>
          <a:off x="4928502" y="4520510"/>
          <a:ext cx="344487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449" name="公式" r:id="rId12" imgW="1701720" imgH="444240" progId="Equation.3">
                  <p:embed/>
                </p:oleObj>
              </mc:Choice>
              <mc:Fallback>
                <p:oleObj name="公式" r:id="rId12" imgW="17017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8502" y="4520510"/>
                        <a:ext cx="344487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8"/>
          <p:cNvSpPr txBox="1">
            <a:spLocks noChangeArrowheads="1"/>
          </p:cNvSpPr>
          <p:nvPr/>
        </p:nvSpPr>
        <p:spPr bwMode="auto">
          <a:xfrm>
            <a:off x="4825001" y="3932092"/>
            <a:ext cx="3676203" cy="423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代入各段长度，并整理可得：</a:t>
            </a:r>
            <a:endParaRPr kumimoji="1"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Text Box 7"/>
          <p:cNvSpPr txBox="1">
            <a:spLocks noChangeArrowheads="1"/>
          </p:cNvSpPr>
          <p:nvPr/>
        </p:nvSpPr>
        <p:spPr bwMode="auto">
          <a:xfrm>
            <a:off x="-9526" y="0"/>
            <a:ext cx="58089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土单元破坏的判断方法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4" name="Rectangle 24"/>
          <p:cNvSpPr>
            <a:spLocks noChangeArrowheads="1"/>
          </p:cNvSpPr>
          <p:nvPr/>
        </p:nvSpPr>
        <p:spPr bwMode="auto">
          <a:xfrm>
            <a:off x="2859987" y="5835820"/>
            <a:ext cx="40446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SzPct val="130000"/>
              <a:buFont typeface="Wingdings" pitchFamily="2" charset="2"/>
              <a:buNone/>
            </a:pPr>
            <a:r>
              <a:rPr lang="zh-CN" altLang="en-US" sz="3600" b="1" dirty="0">
                <a:solidFill>
                  <a:srgbClr val="000066"/>
                </a:solidFill>
                <a:ea typeface="黑体" pitchFamily="2" charset="-122"/>
              </a:rPr>
              <a:t>莫尔</a:t>
            </a:r>
            <a:r>
              <a:rPr lang="en-US" altLang="zh-CN" sz="3600" b="1" dirty="0">
                <a:solidFill>
                  <a:srgbClr val="000066"/>
                </a:solidFill>
                <a:ea typeface="黑体" pitchFamily="2" charset="-122"/>
              </a:rPr>
              <a:t>-</a:t>
            </a:r>
            <a:r>
              <a:rPr lang="zh-CN" altLang="en-US" sz="3600" b="1" dirty="0" smtClean="0">
                <a:solidFill>
                  <a:srgbClr val="000066"/>
                </a:solidFill>
                <a:ea typeface="黑体" pitchFamily="2" charset="-122"/>
              </a:rPr>
              <a:t>库仑破坏准则</a:t>
            </a:r>
            <a:endParaRPr lang="en-US" altLang="zh-CN" sz="36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094877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57" grpId="0"/>
      <p:bldP spid="5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3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730125"/>
              </p:ext>
            </p:extLst>
          </p:nvPr>
        </p:nvGraphicFramePr>
        <p:xfrm>
          <a:off x="919246" y="2069969"/>
          <a:ext cx="28257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54" name="公式" r:id="rId4" imgW="1765080" imgH="444240" progId="Equation.3">
                  <p:embed/>
                </p:oleObj>
              </mc:Choice>
              <mc:Fallback>
                <p:oleObj name="公式" r:id="rId4" imgW="17650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246" y="2069969"/>
                        <a:ext cx="282575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825326"/>
              </p:ext>
            </p:extLst>
          </p:nvPr>
        </p:nvGraphicFramePr>
        <p:xfrm>
          <a:off x="918732" y="3689557"/>
          <a:ext cx="3983037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55" name="公式" r:id="rId6" imgW="2489040" imgH="368280" progId="Equation.3">
                  <p:embed/>
                </p:oleObj>
              </mc:Choice>
              <mc:Fallback>
                <p:oleObj name="公式" r:id="rId6" imgW="24890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732" y="3689557"/>
                        <a:ext cx="3983037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712715"/>
              </p:ext>
            </p:extLst>
          </p:nvPr>
        </p:nvGraphicFramePr>
        <p:xfrm>
          <a:off x="916486" y="4475422"/>
          <a:ext cx="4002087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56" name="公式" r:id="rId8" imgW="2501640" imgH="368280" progId="Equation.3">
                  <p:embed/>
                </p:oleObj>
              </mc:Choice>
              <mc:Fallback>
                <p:oleObj name="公式" r:id="rId8" imgW="25016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486" y="4475422"/>
                        <a:ext cx="4002087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6415173" y="1401583"/>
            <a:ext cx="1525588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</a:rPr>
              <a:t>无黏性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土</a:t>
            </a:r>
            <a:endParaRPr lang="en-US" altLang="zh-CN" sz="24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45" name="AutoShape 42"/>
          <p:cNvSpPr>
            <a:spLocks noChangeArrowheads="1"/>
          </p:cNvSpPr>
          <p:nvPr/>
        </p:nvSpPr>
        <p:spPr bwMode="auto">
          <a:xfrm>
            <a:off x="5290702" y="3427815"/>
            <a:ext cx="603074" cy="488741"/>
          </a:xfrm>
          <a:prstGeom prst="homePlate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46" name="Text Box 38"/>
          <p:cNvSpPr txBox="1">
            <a:spLocks noChangeArrowheads="1"/>
          </p:cNvSpPr>
          <p:nvPr/>
        </p:nvSpPr>
        <p:spPr bwMode="auto">
          <a:xfrm>
            <a:off x="419100" y="716627"/>
            <a:ext cx="5353050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土的极限平衡条件（破坏准则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7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877643"/>
              </p:ext>
            </p:extLst>
          </p:nvPr>
        </p:nvGraphicFramePr>
        <p:xfrm>
          <a:off x="6365059" y="2087303"/>
          <a:ext cx="152558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57" name="公式" r:id="rId10" imgW="952200" imgH="444240" progId="Equation.3">
                  <p:embed/>
                </p:oleObj>
              </mc:Choice>
              <mc:Fallback>
                <p:oleObj name="公式" r:id="rId10" imgW="952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059" y="2087303"/>
                        <a:ext cx="1525587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441964"/>
              </p:ext>
            </p:extLst>
          </p:nvPr>
        </p:nvGraphicFramePr>
        <p:xfrm>
          <a:off x="6375572" y="3648242"/>
          <a:ext cx="21336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58" name="公式" r:id="rId12" imgW="1333440" imgH="406080" progId="Equation.3">
                  <p:embed/>
                </p:oleObj>
              </mc:Choice>
              <mc:Fallback>
                <p:oleObj name="公式" r:id="rId12" imgW="13334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5572" y="3648242"/>
                        <a:ext cx="2133600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978412"/>
              </p:ext>
            </p:extLst>
          </p:nvPr>
        </p:nvGraphicFramePr>
        <p:xfrm>
          <a:off x="6394150" y="4434184"/>
          <a:ext cx="213201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59" name="公式" r:id="rId14" imgW="1333440" imgH="406080" progId="Equation.3">
                  <p:embed/>
                </p:oleObj>
              </mc:Choice>
              <mc:Fallback>
                <p:oleObj name="公式" r:id="rId14" imgW="13334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4150" y="4434184"/>
                        <a:ext cx="2132012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41"/>
          <p:cNvSpPr txBox="1">
            <a:spLocks noChangeArrowheads="1"/>
          </p:cNvSpPr>
          <p:nvPr/>
        </p:nvSpPr>
        <p:spPr bwMode="auto">
          <a:xfrm>
            <a:off x="5143564" y="2930115"/>
            <a:ext cx="8769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smtClean="0">
                <a:solidFill>
                  <a:srgbClr val="A50021"/>
                </a:solidFill>
                <a:ea typeface="幼圆" pitchFamily="49" charset="-122"/>
              </a:rPr>
              <a:t>c </a:t>
            </a:r>
            <a:r>
              <a:rPr lang="en-US" altLang="zh-CN" sz="2400" b="1" dirty="0" smtClean="0">
                <a:solidFill>
                  <a:srgbClr val="A50021"/>
                </a:solidFill>
                <a:ea typeface="幼圆" pitchFamily="49" charset="-122"/>
              </a:rPr>
              <a:t>= 0</a:t>
            </a:r>
            <a:endParaRPr lang="en-US" altLang="zh-CN" sz="24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2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938155"/>
              </p:ext>
            </p:extLst>
          </p:nvPr>
        </p:nvGraphicFramePr>
        <p:xfrm>
          <a:off x="923398" y="2926213"/>
          <a:ext cx="290671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60" name="公式" r:id="rId16" imgW="1815840" imgH="431640" progId="Equation.3">
                  <p:embed/>
                </p:oleObj>
              </mc:Choice>
              <mc:Fallback>
                <p:oleObj name="公式" r:id="rId16" imgW="1815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398" y="2926213"/>
                        <a:ext cx="2906712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369195"/>
              </p:ext>
            </p:extLst>
          </p:nvPr>
        </p:nvGraphicFramePr>
        <p:xfrm>
          <a:off x="6368537" y="2906107"/>
          <a:ext cx="16462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61" name="公式" r:id="rId18" imgW="1028520" imgH="431640" progId="Equation.3">
                  <p:embed/>
                </p:oleObj>
              </mc:Choice>
              <mc:Fallback>
                <p:oleObj name="公式" r:id="rId18" imgW="1028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8537" y="2906107"/>
                        <a:ext cx="1646238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41"/>
          <p:cNvSpPr txBox="1">
            <a:spLocks noChangeArrowheads="1"/>
          </p:cNvSpPr>
          <p:nvPr/>
        </p:nvSpPr>
        <p:spPr bwMode="auto">
          <a:xfrm>
            <a:off x="1606285" y="1400077"/>
            <a:ext cx="1525588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</a:rPr>
              <a:t>黏性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土</a:t>
            </a:r>
            <a:endParaRPr lang="en-US" altLang="zh-CN" sz="24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-9526" y="0"/>
            <a:ext cx="58089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土单元破坏的判断方法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2859987" y="5835820"/>
            <a:ext cx="40446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SzPct val="130000"/>
              <a:buFont typeface="Wingdings" pitchFamily="2" charset="2"/>
              <a:buNone/>
            </a:pPr>
            <a:r>
              <a:rPr lang="zh-CN" altLang="en-US" sz="3600" b="1" dirty="0">
                <a:solidFill>
                  <a:srgbClr val="000066"/>
                </a:solidFill>
                <a:ea typeface="黑体" pitchFamily="2" charset="-122"/>
              </a:rPr>
              <a:t>莫尔</a:t>
            </a:r>
            <a:r>
              <a:rPr lang="en-US" altLang="zh-CN" sz="3600" b="1" dirty="0">
                <a:solidFill>
                  <a:srgbClr val="000066"/>
                </a:solidFill>
                <a:ea typeface="黑体" pitchFamily="2" charset="-122"/>
              </a:rPr>
              <a:t>-</a:t>
            </a:r>
            <a:r>
              <a:rPr lang="zh-CN" altLang="en-US" sz="3600" b="1" dirty="0" smtClean="0">
                <a:solidFill>
                  <a:srgbClr val="000066"/>
                </a:solidFill>
                <a:ea typeface="黑体" pitchFamily="2" charset="-122"/>
              </a:rPr>
              <a:t>库仑破坏准则</a:t>
            </a:r>
            <a:endParaRPr lang="en-US" altLang="zh-CN" sz="36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862498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50" grpId="0"/>
      <p:bldP spid="5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012438" y="5776784"/>
            <a:ext cx="585470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单元破坏的判断方法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19100" y="894148"/>
            <a:ext cx="4768535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土体单元是否破坏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的判别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38238" y="2636662"/>
            <a:ext cx="3255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计算主应力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38238" y="1750623"/>
            <a:ext cx="6219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确定土单元体的应力状态（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xz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280214"/>
              </p:ext>
            </p:extLst>
          </p:nvPr>
        </p:nvGraphicFramePr>
        <p:xfrm>
          <a:off x="4552950" y="2509662"/>
          <a:ext cx="37941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54" name="公式" r:id="rId4" imgW="2108160" imgH="419040" progId="Equation.3">
                  <p:embed/>
                </p:oleObj>
              </mc:Choice>
              <mc:Fallback>
                <p:oleObj name="公式" r:id="rId4" imgW="21081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2509662"/>
                        <a:ext cx="379412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138238" y="3983718"/>
            <a:ext cx="318026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判别是否剪切破坏：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21022" y="3564062"/>
            <a:ext cx="2715808" cy="1527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361950" indent="-36195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大主应力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比较法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61950" indent="-36195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小主应力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比较法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61950" indent="-36195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内摩擦角比较法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1" name="AutoShape 10"/>
          <p:cNvSpPr>
            <a:spLocks/>
          </p:cNvSpPr>
          <p:nvPr/>
        </p:nvSpPr>
        <p:spPr bwMode="auto">
          <a:xfrm>
            <a:off x="4504938" y="3752803"/>
            <a:ext cx="239713" cy="1189038"/>
          </a:xfrm>
          <a:prstGeom prst="leftBrace">
            <a:avLst>
              <a:gd name="adj1" fmla="val 41335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9526" y="0"/>
            <a:ext cx="58089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土单元破坏的判断方法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956112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54563" y="2886076"/>
            <a:ext cx="3962400" cy="2413001"/>
            <a:chOff x="4754563" y="2886076"/>
            <a:chExt cx="3962400" cy="2413001"/>
          </a:xfrm>
        </p:grpSpPr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4754563" y="4916489"/>
              <a:ext cx="38179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 flipV="1">
              <a:off x="5730876" y="3038476"/>
              <a:ext cx="0" cy="2184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5365751" y="2886076"/>
              <a:ext cx="3492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6" name="Text Box 17"/>
            <p:cNvSpPr txBox="1">
              <a:spLocks noChangeArrowheads="1"/>
            </p:cNvSpPr>
            <p:nvPr/>
          </p:nvSpPr>
          <p:spPr bwMode="auto">
            <a:xfrm>
              <a:off x="8367713" y="4837114"/>
              <a:ext cx="3492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7" name="Text Box 18"/>
            <p:cNvSpPr txBox="1">
              <a:spLocks noChangeArrowheads="1"/>
            </p:cNvSpPr>
            <p:nvPr/>
          </p:nvSpPr>
          <p:spPr bwMode="auto">
            <a:xfrm>
              <a:off x="5429251" y="4856164"/>
              <a:ext cx="349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</p:grpSp>
      <p:graphicFrame>
        <p:nvGraphicFramePr>
          <p:cNvPr id="2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687050"/>
              </p:ext>
            </p:extLst>
          </p:nvPr>
        </p:nvGraphicFramePr>
        <p:xfrm>
          <a:off x="3584615" y="1323975"/>
          <a:ext cx="51307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77" name="公式" r:id="rId4" imgW="2565360" imgH="368280" progId="Equation.3">
                  <p:embed/>
                </p:oleObj>
              </mc:Choice>
              <mc:Fallback>
                <p:oleObj name="公式" r:id="rId4" imgW="256536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615" y="1323975"/>
                        <a:ext cx="513072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1109663" y="2995613"/>
            <a:ext cx="3957637" cy="2456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lang="zh-CN" altLang="en-US" sz="2400" b="1" i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 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sz="2400" b="1" i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1f</a:t>
            </a: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极限平衡状态</a:t>
            </a:r>
            <a:b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（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破坏）</a:t>
            </a:r>
          </a:p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lang="en-US" altLang="zh-CN" sz="2400" b="1" i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 </a:t>
            </a:r>
            <a:r>
              <a:rPr lang="en-US" altLang="zh-CN" sz="2400" b="1" dirty="0" smtClean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 </a:t>
            </a:r>
            <a:r>
              <a:rPr lang="en-US" altLang="zh-CN" sz="2400" b="1" i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1f </a:t>
            </a:r>
            <a:r>
              <a:rPr lang="en-US" altLang="zh-CN" sz="2400" b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zh-CN" altLang="en-US" sz="2400" b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安全状态</a:t>
            </a:r>
          </a:p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1f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破坏状态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/>
            </a:r>
            <a:b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（不可能）</a:t>
            </a:r>
          </a:p>
        </p:txBody>
      </p:sp>
      <p:grpSp>
        <p:nvGrpSpPr>
          <p:cNvPr id="27" name="Group 24"/>
          <p:cNvGrpSpPr>
            <a:grpSpLocks/>
          </p:cNvGrpSpPr>
          <p:nvPr/>
        </p:nvGrpSpPr>
        <p:grpSpPr bwMode="auto">
          <a:xfrm>
            <a:off x="6065838" y="4020405"/>
            <a:ext cx="2139950" cy="1216025"/>
            <a:chOff x="1199" y="2449"/>
            <a:chExt cx="1348" cy="766"/>
          </a:xfrm>
        </p:grpSpPr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2160" y="2960"/>
              <a:ext cx="3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i="1" dirty="0">
                  <a:solidFill>
                    <a:srgbClr val="CC0000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solidFill>
                    <a:srgbClr val="CC0000"/>
                  </a:solidFill>
                  <a:cs typeface="Times New Roman" panose="02020603050405020304" pitchFamily="18" charset="0"/>
                  <a:sym typeface="Symbol" pitchFamily="18" charset="2"/>
                </a:rPr>
                <a:t>1f</a:t>
              </a: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1199" y="2965"/>
              <a:ext cx="3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3</a:t>
              </a:r>
            </a:p>
          </p:txBody>
        </p:sp>
        <p:sp>
          <p:nvSpPr>
            <p:cNvPr id="30" name="Arc 27"/>
            <p:cNvSpPr>
              <a:spLocks/>
            </p:cNvSpPr>
            <p:nvPr/>
          </p:nvSpPr>
          <p:spPr bwMode="auto">
            <a:xfrm flipH="1" flipV="1">
              <a:off x="1238" y="2449"/>
              <a:ext cx="1101" cy="563"/>
            </a:xfrm>
            <a:custGeom>
              <a:avLst/>
              <a:gdLst>
                <a:gd name="T0" fmla="*/ 1101 w 43200"/>
                <a:gd name="T1" fmla="*/ 2 h 22107"/>
                <a:gd name="T2" fmla="*/ 0 w 43200"/>
                <a:gd name="T3" fmla="*/ 0 h 22107"/>
                <a:gd name="T4" fmla="*/ 551 w 43200"/>
                <a:gd name="T5" fmla="*/ 13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Arc 28"/>
          <p:cNvSpPr>
            <a:spLocks/>
          </p:cNvSpPr>
          <p:nvPr/>
        </p:nvSpPr>
        <p:spPr bwMode="auto">
          <a:xfrm flipH="1" flipV="1">
            <a:off x="6128605" y="4244242"/>
            <a:ext cx="1293812" cy="661988"/>
          </a:xfrm>
          <a:custGeom>
            <a:avLst/>
            <a:gdLst>
              <a:gd name="T0" fmla="*/ 1293692 w 43200"/>
              <a:gd name="T1" fmla="*/ 2426 h 22107"/>
              <a:gd name="T2" fmla="*/ 180 w 43200"/>
              <a:gd name="T3" fmla="*/ 0 h 22107"/>
              <a:gd name="T4" fmla="*/ 646906 w 43200"/>
              <a:gd name="T5" fmla="*/ 15182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Arc 29"/>
          <p:cNvSpPr>
            <a:spLocks/>
          </p:cNvSpPr>
          <p:nvPr/>
        </p:nvSpPr>
        <p:spPr bwMode="auto">
          <a:xfrm flipH="1" flipV="1">
            <a:off x="6117492" y="3752850"/>
            <a:ext cx="2233613" cy="1144588"/>
          </a:xfrm>
          <a:custGeom>
            <a:avLst/>
            <a:gdLst>
              <a:gd name="T0" fmla="*/ 2233406 w 43200"/>
              <a:gd name="T1" fmla="*/ 4194 h 22107"/>
              <a:gd name="T2" fmla="*/ 310 w 43200"/>
              <a:gd name="T3" fmla="*/ 0 h 22107"/>
              <a:gd name="T4" fmla="*/ 1116807 w 43200"/>
              <a:gd name="T5" fmla="*/ 26250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28575">
            <a:solidFill>
              <a:srgbClr val="00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392112" y="635000"/>
            <a:ext cx="314166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大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主应力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比较法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5" name="Rectangle 21"/>
          <p:cNvSpPr>
            <a:spLocks noChangeArrowheads="1"/>
          </p:cNvSpPr>
          <p:nvPr/>
        </p:nvSpPr>
        <p:spPr bwMode="auto">
          <a:xfrm>
            <a:off x="732366" y="1352549"/>
            <a:ext cx="250613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）由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 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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1f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6" name="Rectangle 21"/>
          <p:cNvSpPr>
            <a:spLocks noChangeArrowheads="1"/>
          </p:cNvSpPr>
          <p:nvPr/>
        </p:nvSpPr>
        <p:spPr bwMode="auto">
          <a:xfrm>
            <a:off x="723899" y="2146298"/>
            <a:ext cx="3819965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）比较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1f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大小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014732" y="2929303"/>
            <a:ext cx="3315830" cy="1976653"/>
            <a:chOff x="5005940" y="2929303"/>
            <a:chExt cx="3315830" cy="1976653"/>
          </a:xfrm>
        </p:grpSpPr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V="1">
              <a:off x="5005940" y="3296231"/>
              <a:ext cx="3159125" cy="1609725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5437310" y="4244366"/>
              <a:ext cx="34766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6431694" y="2929303"/>
              <a:ext cx="16621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000" b="1" baseline="-25000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 </a:t>
              </a:r>
              <a:r>
                <a:rPr lang="en-US" altLang="zh-CN" sz="2000" b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</a:rPr>
                <a:t>= </a:t>
              </a:r>
              <a:r>
                <a:rPr lang="en-US" altLang="zh-CN" sz="2000" b="1" i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</a:rPr>
                <a:t>c </a:t>
              </a:r>
              <a:r>
                <a:rPr lang="en-US" altLang="zh-CN" sz="2000" b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2000" b="1" i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 </a:t>
              </a:r>
              <a:r>
                <a:rPr lang="en-US" altLang="zh-CN" sz="2000" b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</a:rPr>
                <a:t>tan</a:t>
              </a:r>
              <a:r>
                <a:rPr lang="en-US" altLang="zh-CN" sz="2000" b="1" i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</a:t>
              </a:r>
              <a:endParaRPr lang="zh-CN" altLang="en-US" sz="2000" b="1" i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37" name="Text Box 11"/>
            <p:cNvSpPr txBox="1">
              <a:spLocks noChangeArrowheads="1"/>
            </p:cNvSpPr>
            <p:nvPr/>
          </p:nvSpPr>
          <p:spPr bwMode="auto">
            <a:xfrm>
              <a:off x="7953864" y="3244376"/>
              <a:ext cx="367906" cy="40331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 i="1" dirty="0" smtClean="0">
                  <a:solidFill>
                    <a:srgbClr val="000066"/>
                  </a:solidFill>
                  <a:cs typeface="Times New Roman" panose="02020603050405020304" pitchFamily="18" charset="0"/>
                  <a:sym typeface="Symbol"/>
                </a:rPr>
                <a:t></a:t>
              </a:r>
              <a:endParaRPr lang="zh-CN" altLang="en-US" sz="18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38" name="Freeform 16"/>
            <p:cNvSpPr>
              <a:spLocks/>
            </p:cNvSpPr>
            <p:nvPr/>
          </p:nvSpPr>
          <p:spPr bwMode="auto">
            <a:xfrm>
              <a:off x="7917865" y="3431191"/>
              <a:ext cx="40318" cy="173096"/>
            </a:xfrm>
            <a:custGeom>
              <a:avLst/>
              <a:gdLst>
                <a:gd name="T0" fmla="*/ 19 w 24"/>
                <a:gd name="T1" fmla="*/ 113 h 113"/>
                <a:gd name="T2" fmla="*/ 21 w 24"/>
                <a:gd name="T3" fmla="*/ 56 h 113"/>
                <a:gd name="T4" fmla="*/ 0 w 24"/>
                <a:gd name="T5" fmla="*/ 0 h 113"/>
                <a:gd name="T6" fmla="*/ 0 60000 65536"/>
                <a:gd name="T7" fmla="*/ 0 60000 65536"/>
                <a:gd name="T8" fmla="*/ 0 60000 65536"/>
                <a:gd name="T9" fmla="*/ 0 w 24"/>
                <a:gd name="T10" fmla="*/ 0 h 113"/>
                <a:gd name="T11" fmla="*/ 24 w 24"/>
                <a:gd name="T12" fmla="*/ 113 h 1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13">
                  <a:moveTo>
                    <a:pt x="19" y="113"/>
                  </a:moveTo>
                  <a:cubicBezTo>
                    <a:pt x="19" y="104"/>
                    <a:pt x="24" y="75"/>
                    <a:pt x="21" y="56"/>
                  </a:cubicBezTo>
                  <a:cubicBezTo>
                    <a:pt x="18" y="37"/>
                    <a:pt x="4" y="12"/>
                    <a:pt x="0" y="0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8"/>
            <p:cNvSpPr>
              <a:spLocks noChangeShapeType="1"/>
            </p:cNvSpPr>
            <p:nvPr/>
          </p:nvSpPr>
          <p:spPr bwMode="auto">
            <a:xfrm flipH="1" flipV="1">
              <a:off x="7339732" y="3317875"/>
              <a:ext cx="125836" cy="2675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0" name="直接连接符 39"/>
            <p:cNvCxnSpPr/>
            <p:nvPr/>
          </p:nvCxnSpPr>
          <p:spPr bwMode="auto">
            <a:xfrm>
              <a:off x="7556054" y="3607499"/>
              <a:ext cx="5183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-9526" y="0"/>
            <a:ext cx="58089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土单元破坏的判断方法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2012438" y="5776784"/>
            <a:ext cx="585470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单元破坏的判断方法</a:t>
            </a:r>
          </a:p>
        </p:txBody>
      </p:sp>
    </p:spTree>
    <p:extLst>
      <p:ext uri="{BB962C8B-B14F-4D97-AF65-F5344CB8AC3E}">
        <p14:creationId xmlns:p14="http://schemas.microsoft.com/office/powerpoint/2010/main" val="196389292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31" grpId="0" animBg="1"/>
      <p:bldP spid="32" grpId="0" animBg="1"/>
      <p:bldP spid="35" grpId="0"/>
      <p:bldP spid="3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402167" y="647700"/>
            <a:ext cx="3412066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小主应力比较法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1143000" y="2976563"/>
            <a:ext cx="4029075" cy="2456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lang="zh-CN" altLang="en-US" sz="2400" b="1" i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 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sz="2400" b="1" i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3f</a:t>
            </a: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极限平衡状态</a:t>
            </a:r>
            <a:b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（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破坏）</a:t>
            </a:r>
          </a:p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lang="en-US" altLang="zh-CN" sz="2400" b="1" i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 </a:t>
            </a:r>
            <a:r>
              <a:rPr lang="en-US" altLang="zh-CN" sz="2400" b="1" dirty="0" smtClean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 </a:t>
            </a:r>
            <a:r>
              <a:rPr lang="en-US" altLang="zh-CN" sz="2400" b="1" i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3f </a:t>
            </a:r>
            <a:r>
              <a:rPr lang="en-US" altLang="zh-CN" sz="2400" b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zh-CN" altLang="en-US" sz="2400" b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安全状态</a:t>
            </a:r>
          </a:p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3f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破坏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状态</a:t>
            </a:r>
            <a:b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（不可能）</a:t>
            </a:r>
          </a:p>
        </p:txBody>
      </p:sp>
      <p:graphicFrame>
        <p:nvGraphicFramePr>
          <p:cNvPr id="3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144658"/>
              </p:ext>
            </p:extLst>
          </p:nvPr>
        </p:nvGraphicFramePr>
        <p:xfrm>
          <a:off x="3504272" y="1266825"/>
          <a:ext cx="5554693" cy="801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01" name="公式" r:id="rId4" imgW="2552400" imgH="368280" progId="Equation.3">
                  <p:embed/>
                </p:oleObj>
              </mc:Choice>
              <mc:Fallback>
                <p:oleObj name="公式" r:id="rId4" imgW="25524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4272" y="1266825"/>
                        <a:ext cx="5554693" cy="80147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21"/>
          <p:cNvSpPr>
            <a:spLocks noChangeArrowheads="1"/>
          </p:cNvSpPr>
          <p:nvPr/>
        </p:nvSpPr>
        <p:spPr bwMode="auto">
          <a:xfrm>
            <a:off x="732366" y="1352549"/>
            <a:ext cx="250613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）由</a:t>
            </a:r>
            <a:r>
              <a:rPr lang="zh-CN" altLang="en-US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 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 </a:t>
            </a:r>
            <a:r>
              <a:rPr lang="zh-CN" altLang="en-US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3f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5" name="Rectangle 21"/>
          <p:cNvSpPr>
            <a:spLocks noChangeArrowheads="1"/>
          </p:cNvSpPr>
          <p:nvPr/>
        </p:nvSpPr>
        <p:spPr bwMode="auto">
          <a:xfrm>
            <a:off x="723901" y="2146298"/>
            <a:ext cx="381293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）比较</a:t>
            </a:r>
            <a:r>
              <a:rPr lang="zh-CN" altLang="en-US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zh-CN" altLang="en-US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3f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的大小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772025" y="2552701"/>
            <a:ext cx="4138798" cy="2589017"/>
            <a:chOff x="4772025" y="2552701"/>
            <a:chExt cx="4138798" cy="2589017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4772025" y="4766601"/>
              <a:ext cx="40402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 flipV="1">
              <a:off x="5805185" y="2718873"/>
              <a:ext cx="0" cy="23818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auto">
            <a:xfrm>
              <a:off x="8541237" y="4680053"/>
              <a:ext cx="369586" cy="461665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3300"/>
                  </a:solidFill>
                  <a:latin typeface="Arial" charset="0"/>
                  <a:cs typeface="Arial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5418800" y="2552701"/>
              <a:ext cx="369586" cy="461665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3300"/>
                  </a:solidFill>
                  <a:latin typeface="Arial" charset="0"/>
                  <a:cs typeface="Arial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22" name="Text Box 9"/>
            <p:cNvSpPr txBox="1">
              <a:spLocks noChangeArrowheads="1"/>
            </p:cNvSpPr>
            <p:nvPr/>
          </p:nvSpPr>
          <p:spPr bwMode="auto">
            <a:xfrm>
              <a:off x="5450718" y="4716402"/>
              <a:ext cx="369586" cy="39985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51252" y="3788608"/>
            <a:ext cx="2264552" cy="1325916"/>
            <a:chOff x="6151252" y="3788608"/>
            <a:chExt cx="2264552" cy="1325916"/>
          </a:xfrm>
        </p:grpSpPr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6151252" y="4681784"/>
              <a:ext cx="507340" cy="432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i="1" dirty="0">
                  <a:solidFill>
                    <a:srgbClr val="000066"/>
                  </a:solidFill>
                  <a:cs typeface="Arial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solidFill>
                    <a:srgbClr val="000066"/>
                  </a:solidFill>
                  <a:cs typeface="Arial" charset="0"/>
                  <a:sym typeface="Symbol" pitchFamily="18" charset="2"/>
                </a:rPr>
                <a:t>3f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216770" y="3788608"/>
              <a:ext cx="2199034" cy="1317262"/>
              <a:chOff x="6216770" y="3788608"/>
              <a:chExt cx="2199034" cy="1317262"/>
            </a:xfrm>
          </p:grpSpPr>
          <p:sp>
            <p:nvSpPr>
              <p:cNvPr id="28" name="Text Box 25"/>
              <p:cNvSpPr txBox="1">
                <a:spLocks noChangeArrowheads="1"/>
              </p:cNvSpPr>
              <p:nvPr/>
            </p:nvSpPr>
            <p:spPr bwMode="auto">
              <a:xfrm>
                <a:off x="7765669" y="4673130"/>
                <a:ext cx="650135" cy="4327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solidFill>
                      <a:srgbClr val="000066"/>
                    </a:solidFill>
                    <a:cs typeface="Arial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solidFill>
                      <a:srgbClr val="000066"/>
                    </a:solidFill>
                    <a:cs typeface="Arial" charset="0"/>
                    <a:sym typeface="Symbol" pitchFamily="18" charset="2"/>
                  </a:rPr>
                  <a:t>1</a:t>
                </a:r>
              </a:p>
            </p:txBody>
          </p:sp>
          <p:sp>
            <p:nvSpPr>
              <p:cNvPr id="30" name="Arc 27"/>
              <p:cNvSpPr>
                <a:spLocks/>
              </p:cNvSpPr>
              <p:nvPr/>
            </p:nvSpPr>
            <p:spPr bwMode="auto">
              <a:xfrm flipH="1" flipV="1">
                <a:off x="6216770" y="3788608"/>
                <a:ext cx="1849608" cy="974532"/>
              </a:xfrm>
              <a:custGeom>
                <a:avLst/>
                <a:gdLst>
                  <a:gd name="T0" fmla="*/ 1101 w 43200"/>
                  <a:gd name="T1" fmla="*/ 2 h 22107"/>
                  <a:gd name="T2" fmla="*/ 0 w 43200"/>
                  <a:gd name="T3" fmla="*/ 0 h 22107"/>
                  <a:gd name="T4" fmla="*/ 551 w 43200"/>
                  <a:gd name="T5" fmla="*/ 13 h 2210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2107"/>
                  <a:gd name="T11" fmla="*/ 43200 w 43200"/>
                  <a:gd name="T12" fmla="*/ 22107 h 2210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2107" fill="none" extrusionOk="0">
                    <a:moveTo>
                      <a:pt x="43195" y="81"/>
                    </a:moveTo>
                    <a:cubicBezTo>
                      <a:pt x="43198" y="222"/>
                      <a:pt x="43200" y="364"/>
                      <a:pt x="43200" y="507"/>
                    </a:cubicBezTo>
                    <a:cubicBezTo>
                      <a:pt x="43200" y="12436"/>
                      <a:pt x="33529" y="22107"/>
                      <a:pt x="21600" y="22107"/>
                    </a:cubicBezTo>
                    <a:cubicBezTo>
                      <a:pt x="9670" y="22107"/>
                      <a:pt x="0" y="12436"/>
                      <a:pt x="0" y="507"/>
                    </a:cubicBezTo>
                    <a:cubicBezTo>
                      <a:pt x="-1" y="337"/>
                      <a:pt x="1" y="168"/>
                      <a:pt x="5" y="-1"/>
                    </a:cubicBezTo>
                  </a:path>
                  <a:path w="43200" h="22107" stroke="0" extrusionOk="0">
                    <a:moveTo>
                      <a:pt x="43195" y="81"/>
                    </a:moveTo>
                    <a:cubicBezTo>
                      <a:pt x="43198" y="222"/>
                      <a:pt x="43200" y="364"/>
                      <a:pt x="43200" y="507"/>
                    </a:cubicBezTo>
                    <a:cubicBezTo>
                      <a:pt x="43200" y="12436"/>
                      <a:pt x="33529" y="22107"/>
                      <a:pt x="21600" y="22107"/>
                    </a:cubicBezTo>
                    <a:cubicBezTo>
                      <a:pt x="9670" y="22107"/>
                      <a:pt x="0" y="12436"/>
                      <a:pt x="0" y="507"/>
                    </a:cubicBezTo>
                    <a:cubicBezTo>
                      <a:pt x="-1" y="337"/>
                      <a:pt x="1" y="168"/>
                      <a:pt x="5" y="-1"/>
                    </a:cubicBezTo>
                    <a:lnTo>
                      <a:pt x="21600" y="507"/>
                    </a:lnTo>
                    <a:close/>
                  </a:path>
                </a:pathLst>
              </a:cu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1" name="Arc 28"/>
          <p:cNvSpPr>
            <a:spLocks/>
          </p:cNvSpPr>
          <p:nvPr/>
        </p:nvSpPr>
        <p:spPr bwMode="auto">
          <a:xfrm flipH="1" flipV="1">
            <a:off x="6693870" y="4049983"/>
            <a:ext cx="1369147" cy="721811"/>
          </a:xfrm>
          <a:custGeom>
            <a:avLst/>
            <a:gdLst>
              <a:gd name="T0" fmla="*/ 1293693 w 43200"/>
              <a:gd name="T1" fmla="*/ 2426 h 22107"/>
              <a:gd name="T2" fmla="*/ 180 w 43200"/>
              <a:gd name="T3" fmla="*/ 0 h 22107"/>
              <a:gd name="T4" fmla="*/ 646907 w 43200"/>
              <a:gd name="T5" fmla="*/ 15182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Arc 29"/>
          <p:cNvSpPr>
            <a:spLocks/>
          </p:cNvSpPr>
          <p:nvPr/>
        </p:nvSpPr>
        <p:spPr bwMode="auto">
          <a:xfrm flipH="1" flipV="1">
            <a:off x="5967970" y="3650873"/>
            <a:ext cx="2106086" cy="1112020"/>
          </a:xfrm>
          <a:custGeom>
            <a:avLst/>
            <a:gdLst>
              <a:gd name="T0" fmla="*/ 2233406 w 43200"/>
              <a:gd name="T1" fmla="*/ 4194 h 22107"/>
              <a:gd name="T2" fmla="*/ 310 w 43200"/>
              <a:gd name="T3" fmla="*/ 0 h 22107"/>
              <a:gd name="T4" fmla="*/ 1116807 w 43200"/>
              <a:gd name="T5" fmla="*/ 26250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28575">
            <a:solidFill>
              <a:srgbClr val="00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5025696" y="2607599"/>
            <a:ext cx="3343070" cy="2152082"/>
            <a:chOff x="5025696" y="2607599"/>
            <a:chExt cx="3343070" cy="2152082"/>
          </a:xfrm>
        </p:grpSpPr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7923142" y="3068528"/>
              <a:ext cx="367906" cy="40331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 i="1" dirty="0" smtClean="0">
                  <a:solidFill>
                    <a:srgbClr val="000066"/>
                  </a:solidFill>
                  <a:cs typeface="Times New Roman" panose="02020603050405020304" pitchFamily="18" charset="0"/>
                  <a:sym typeface="Symbol"/>
                </a:rPr>
                <a:t></a:t>
              </a:r>
              <a:endParaRPr lang="zh-CN" altLang="en-US" sz="18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 flipV="1">
              <a:off x="5025696" y="3004485"/>
              <a:ext cx="3343070" cy="1755196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13"/>
            <p:cNvSpPr txBox="1">
              <a:spLocks noChangeArrowheads="1"/>
            </p:cNvSpPr>
            <p:nvPr/>
          </p:nvSpPr>
          <p:spPr bwMode="auto">
            <a:xfrm>
              <a:off x="5511197" y="4043060"/>
              <a:ext cx="367906" cy="40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13" name="Freeform 16"/>
            <p:cNvSpPr>
              <a:spLocks/>
            </p:cNvSpPr>
            <p:nvPr/>
          </p:nvSpPr>
          <p:spPr bwMode="auto">
            <a:xfrm>
              <a:off x="7859984" y="3284653"/>
              <a:ext cx="40318" cy="173096"/>
            </a:xfrm>
            <a:custGeom>
              <a:avLst/>
              <a:gdLst>
                <a:gd name="T0" fmla="*/ 19 w 24"/>
                <a:gd name="T1" fmla="*/ 113 h 113"/>
                <a:gd name="T2" fmla="*/ 21 w 24"/>
                <a:gd name="T3" fmla="*/ 56 h 113"/>
                <a:gd name="T4" fmla="*/ 0 w 24"/>
                <a:gd name="T5" fmla="*/ 0 h 113"/>
                <a:gd name="T6" fmla="*/ 0 60000 65536"/>
                <a:gd name="T7" fmla="*/ 0 60000 65536"/>
                <a:gd name="T8" fmla="*/ 0 60000 65536"/>
                <a:gd name="T9" fmla="*/ 0 w 24"/>
                <a:gd name="T10" fmla="*/ 0 h 113"/>
                <a:gd name="T11" fmla="*/ 24 w 24"/>
                <a:gd name="T12" fmla="*/ 113 h 1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13">
                  <a:moveTo>
                    <a:pt x="19" y="113"/>
                  </a:moveTo>
                  <a:cubicBezTo>
                    <a:pt x="19" y="104"/>
                    <a:pt x="24" y="75"/>
                    <a:pt x="21" y="56"/>
                  </a:cubicBezTo>
                  <a:cubicBezTo>
                    <a:pt x="18" y="37"/>
                    <a:pt x="4" y="12"/>
                    <a:pt x="0" y="0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6486996" y="2607599"/>
              <a:ext cx="1805930" cy="436202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000" b="1" baseline="-25000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  </a:t>
              </a:r>
              <a:r>
                <a:rPr lang="en-US" altLang="zh-CN" sz="2000" b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</a:rPr>
                <a:t>= </a:t>
              </a:r>
              <a:r>
                <a:rPr lang="en-US" altLang="zh-CN" sz="2000" b="1" i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</a:rPr>
                <a:t>c </a:t>
              </a:r>
              <a:r>
                <a:rPr lang="en-US" altLang="zh-CN" sz="2000" b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2000" b="1" i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 </a:t>
              </a:r>
              <a:r>
                <a:rPr lang="en-US" altLang="zh-CN" sz="2000" b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</a:rPr>
                <a:t>tan</a:t>
              </a:r>
              <a:r>
                <a:rPr lang="en-US" altLang="zh-CN" sz="2000" b="1" i="1" dirty="0" smtClean="0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</a:t>
              </a:r>
              <a:endParaRPr lang="zh-CN" altLang="en-US" sz="2000" b="1" i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 flipH="1" flipV="1">
              <a:off x="7567597" y="3027727"/>
              <a:ext cx="125836" cy="2675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7" name="直接连接符 36"/>
            <p:cNvCxnSpPr/>
            <p:nvPr/>
          </p:nvCxnSpPr>
          <p:spPr bwMode="auto">
            <a:xfrm>
              <a:off x="7515758" y="3460961"/>
              <a:ext cx="51838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-9526" y="0"/>
            <a:ext cx="58089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土单元破坏的判断方法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2012438" y="5776784"/>
            <a:ext cx="585470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单元破坏的判断方法</a:t>
            </a:r>
          </a:p>
        </p:txBody>
      </p:sp>
    </p:spTree>
    <p:extLst>
      <p:ext uri="{BB962C8B-B14F-4D97-AF65-F5344CB8AC3E}">
        <p14:creationId xmlns:p14="http://schemas.microsoft.com/office/powerpoint/2010/main" val="362599539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34" grpId="0"/>
      <p:bldP spid="35" grpId="0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3728" y="2290330"/>
            <a:ext cx="3962400" cy="2413001"/>
            <a:chOff x="203728" y="2290330"/>
            <a:chExt cx="3962400" cy="2413001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203728" y="4320743"/>
              <a:ext cx="38179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V="1">
              <a:off x="1180041" y="2442730"/>
              <a:ext cx="0" cy="2184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3816878" y="4241368"/>
              <a:ext cx="3492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814916" y="2290330"/>
              <a:ext cx="3492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878416" y="4276293"/>
              <a:ext cx="349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</p:grp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233891" y="4266768"/>
            <a:ext cx="48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O</a:t>
            </a:r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4650078" y="4603558"/>
            <a:ext cx="592137" cy="547688"/>
          </a:xfrm>
          <a:prstGeom prst="homePlate">
            <a:avLst>
              <a:gd name="adj" fmla="val 27029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31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763310"/>
              </p:ext>
            </p:extLst>
          </p:nvPr>
        </p:nvGraphicFramePr>
        <p:xfrm>
          <a:off x="5339172" y="4438407"/>
          <a:ext cx="340344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825" name="公式" r:id="rId4" imgW="1701720" imgH="419040" progId="Equation.3">
                  <p:embed/>
                </p:oleObj>
              </mc:Choice>
              <mc:Fallback>
                <p:oleObj name="公式" r:id="rId4" imgW="17017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9172" y="4438407"/>
                        <a:ext cx="340344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597698" y="3655579"/>
            <a:ext cx="1949018" cy="1027837"/>
            <a:chOff x="1597698" y="3655579"/>
            <a:chExt cx="1949018" cy="1027837"/>
          </a:xfrm>
        </p:grpSpPr>
        <p:sp>
          <p:nvSpPr>
            <p:cNvPr id="29" name="Arc 26"/>
            <p:cNvSpPr>
              <a:spLocks/>
            </p:cNvSpPr>
            <p:nvPr/>
          </p:nvSpPr>
          <p:spPr bwMode="auto">
            <a:xfrm flipH="1" flipV="1">
              <a:off x="1830916" y="3655579"/>
              <a:ext cx="1293813" cy="661988"/>
            </a:xfrm>
            <a:custGeom>
              <a:avLst/>
              <a:gdLst>
                <a:gd name="T0" fmla="*/ 1293693 w 43200"/>
                <a:gd name="T1" fmla="*/ 2426 h 22107"/>
                <a:gd name="T2" fmla="*/ 180 w 43200"/>
                <a:gd name="T3" fmla="*/ 0 h 22107"/>
                <a:gd name="T4" fmla="*/ 646907 w 43200"/>
                <a:gd name="T5" fmla="*/ 15182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25"/>
            <p:cNvSpPr txBox="1">
              <a:spLocks noChangeArrowheads="1"/>
            </p:cNvSpPr>
            <p:nvPr/>
          </p:nvSpPr>
          <p:spPr bwMode="auto">
            <a:xfrm>
              <a:off x="2932353" y="4281922"/>
              <a:ext cx="6143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i="1" dirty="0">
                  <a:solidFill>
                    <a:srgbClr val="000066"/>
                  </a:solidFill>
                  <a:cs typeface="Arial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solidFill>
                    <a:srgbClr val="000066"/>
                  </a:solidFill>
                  <a:cs typeface="Arial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36" name="Text Box 25"/>
            <p:cNvSpPr txBox="1">
              <a:spLocks noChangeArrowheads="1"/>
            </p:cNvSpPr>
            <p:nvPr/>
          </p:nvSpPr>
          <p:spPr bwMode="auto">
            <a:xfrm>
              <a:off x="1597698" y="4286541"/>
              <a:ext cx="6143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i="1" dirty="0" smtClean="0">
                  <a:solidFill>
                    <a:srgbClr val="000066"/>
                  </a:solidFill>
                  <a:cs typeface="Arial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 smtClean="0">
                  <a:solidFill>
                    <a:srgbClr val="000066"/>
                  </a:solidFill>
                  <a:cs typeface="Arial" charset="0"/>
                  <a:sym typeface="Symbol" pitchFamily="18" charset="2"/>
                </a:rPr>
                <a:t>3</a:t>
              </a:r>
              <a:endParaRPr lang="en-US" altLang="zh-CN" sz="2000" b="1" baseline="-25000" dirty="0">
                <a:solidFill>
                  <a:srgbClr val="000066"/>
                </a:solidFill>
                <a:cs typeface="Arial" charset="0"/>
                <a:sym typeface="Symbol" pitchFamily="18" charset="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18604" y="2264930"/>
            <a:ext cx="3687200" cy="2053662"/>
            <a:chOff x="418604" y="2264930"/>
            <a:chExt cx="3687200" cy="2053662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V="1">
              <a:off x="418604" y="2708867"/>
              <a:ext cx="3159125" cy="1609725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2443691" y="2264930"/>
              <a:ext cx="16621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</a:t>
              </a:r>
              <a:r>
                <a:rPr lang="en-US" altLang="zh-CN" sz="2000" b="1" baseline="-25000" dirty="0" smtClean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f </a:t>
              </a:r>
              <a:r>
                <a:rPr lang="en-US" altLang="zh-CN" sz="2000" b="1" dirty="0" smtClean="0">
                  <a:solidFill>
                    <a:srgbClr val="C00000"/>
                  </a:solidFill>
                  <a:ea typeface="幼圆" pitchFamily="49" charset="-122"/>
                </a:rPr>
                <a:t>= </a:t>
              </a:r>
              <a:r>
                <a:rPr lang="en-US" altLang="zh-CN" sz="2000" b="1" i="1" dirty="0" smtClean="0">
                  <a:solidFill>
                    <a:srgbClr val="C00000"/>
                  </a:solidFill>
                  <a:ea typeface="幼圆" pitchFamily="49" charset="-122"/>
                </a:rPr>
                <a:t>c </a:t>
              </a:r>
              <a:r>
                <a:rPr lang="en-US" altLang="zh-CN" sz="2000" b="1" dirty="0" smtClean="0">
                  <a:solidFill>
                    <a:srgbClr val="C00000"/>
                  </a:solidFill>
                  <a:ea typeface="幼圆" pitchFamily="49" charset="-122"/>
                </a:rPr>
                <a:t>+</a:t>
              </a:r>
              <a:r>
                <a:rPr lang="en-US" altLang="zh-CN" sz="2000" b="1" i="1" dirty="0" smtClean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 </a:t>
              </a:r>
              <a:r>
                <a:rPr lang="en-US" altLang="zh-CN" sz="2000" b="1" dirty="0" smtClean="0">
                  <a:solidFill>
                    <a:srgbClr val="C00000"/>
                  </a:solidFill>
                  <a:ea typeface="幼圆" pitchFamily="49" charset="-122"/>
                </a:rPr>
                <a:t>tan</a:t>
              </a:r>
              <a:r>
                <a:rPr lang="en-US" altLang="zh-CN" sz="2000" b="1" i="1" dirty="0" smtClean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</a:t>
              </a:r>
              <a:endParaRPr lang="zh-CN" altLang="en-US" sz="2000" b="1" i="1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H="1" flipV="1">
              <a:off x="3126316" y="2612593"/>
              <a:ext cx="17145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853016" y="3669868"/>
              <a:ext cx="34766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CC3300"/>
                  </a:solidFill>
                  <a:cs typeface="Times New Roman" panose="02020603050405020304" pitchFamily="18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3085041" y="2744355"/>
              <a:ext cx="3476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i="1" dirty="0" smtClean="0">
                  <a:solidFill>
                    <a:srgbClr val="CC0000"/>
                  </a:solidFill>
                  <a:cs typeface="Arial" charset="0"/>
                  <a:sym typeface="Symbol"/>
                </a:rPr>
                <a:t></a:t>
              </a:r>
              <a:endParaRPr lang="zh-CN" altLang="en-US" sz="2000" b="1" i="1" dirty="0">
                <a:solidFill>
                  <a:srgbClr val="CC0000"/>
                </a:solidFill>
                <a:cs typeface="Arial" charset="0"/>
                <a:sym typeface="Symbol" pitchFamily="18" charset="2"/>
              </a:endParaRPr>
            </a:p>
          </p:txBody>
        </p: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>
              <a:off x="2790816" y="3116606"/>
              <a:ext cx="4738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15"/>
            <p:cNvSpPr>
              <a:spLocks/>
            </p:cNvSpPr>
            <p:nvPr/>
          </p:nvSpPr>
          <p:spPr bwMode="auto">
            <a:xfrm>
              <a:off x="3064694" y="2973751"/>
              <a:ext cx="45719" cy="141265"/>
            </a:xfrm>
            <a:custGeom>
              <a:avLst/>
              <a:gdLst>
                <a:gd name="T0" fmla="*/ 19 w 24"/>
                <a:gd name="T1" fmla="*/ 113 h 113"/>
                <a:gd name="T2" fmla="*/ 21 w 24"/>
                <a:gd name="T3" fmla="*/ 56 h 113"/>
                <a:gd name="T4" fmla="*/ 0 w 24"/>
                <a:gd name="T5" fmla="*/ 0 h 113"/>
                <a:gd name="T6" fmla="*/ 0 60000 65536"/>
                <a:gd name="T7" fmla="*/ 0 60000 65536"/>
                <a:gd name="T8" fmla="*/ 0 60000 65536"/>
                <a:gd name="T9" fmla="*/ 0 w 24"/>
                <a:gd name="T10" fmla="*/ 0 h 113"/>
                <a:gd name="T11" fmla="*/ 24 w 24"/>
                <a:gd name="T12" fmla="*/ 113 h 1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13">
                  <a:moveTo>
                    <a:pt x="19" y="113"/>
                  </a:moveTo>
                  <a:cubicBezTo>
                    <a:pt x="19" y="104"/>
                    <a:pt x="24" y="75"/>
                    <a:pt x="21" y="56"/>
                  </a:cubicBezTo>
                  <a:cubicBezTo>
                    <a:pt x="18" y="37"/>
                    <a:pt x="4" y="1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40896" y="3169804"/>
            <a:ext cx="3292475" cy="1143000"/>
            <a:chOff x="440896" y="3169804"/>
            <a:chExt cx="3292475" cy="1143000"/>
          </a:xfrm>
        </p:grpSpPr>
        <p:sp>
          <p:nvSpPr>
            <p:cNvPr id="32" name="Line 29"/>
            <p:cNvSpPr>
              <a:spLocks noChangeShapeType="1"/>
            </p:cNvSpPr>
            <p:nvPr/>
          </p:nvSpPr>
          <p:spPr bwMode="auto">
            <a:xfrm flipV="1">
              <a:off x="440896" y="3169804"/>
              <a:ext cx="3292475" cy="114300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>
              <a:off x="2952669" y="3451886"/>
              <a:ext cx="6007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15"/>
            <p:cNvSpPr>
              <a:spLocks/>
            </p:cNvSpPr>
            <p:nvPr/>
          </p:nvSpPr>
          <p:spPr bwMode="auto">
            <a:xfrm>
              <a:off x="3343963" y="3309031"/>
              <a:ext cx="45719" cy="141265"/>
            </a:xfrm>
            <a:custGeom>
              <a:avLst/>
              <a:gdLst>
                <a:gd name="T0" fmla="*/ 19 w 24"/>
                <a:gd name="T1" fmla="*/ 113 h 113"/>
                <a:gd name="T2" fmla="*/ 21 w 24"/>
                <a:gd name="T3" fmla="*/ 56 h 113"/>
                <a:gd name="T4" fmla="*/ 0 w 24"/>
                <a:gd name="T5" fmla="*/ 0 h 113"/>
                <a:gd name="T6" fmla="*/ 0 60000 65536"/>
                <a:gd name="T7" fmla="*/ 0 60000 65536"/>
                <a:gd name="T8" fmla="*/ 0 60000 65536"/>
                <a:gd name="T9" fmla="*/ 0 w 24"/>
                <a:gd name="T10" fmla="*/ 0 h 113"/>
                <a:gd name="T11" fmla="*/ 24 w 24"/>
                <a:gd name="T12" fmla="*/ 113 h 1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13">
                  <a:moveTo>
                    <a:pt x="19" y="113"/>
                  </a:moveTo>
                  <a:cubicBezTo>
                    <a:pt x="19" y="104"/>
                    <a:pt x="24" y="75"/>
                    <a:pt x="21" y="56"/>
                  </a:cubicBezTo>
                  <a:cubicBezTo>
                    <a:pt x="18" y="37"/>
                    <a:pt x="4" y="1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3398283" y="3107744"/>
            <a:ext cx="4643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 i="1" dirty="0" smtClean="0">
                <a:solidFill>
                  <a:srgbClr val="000066"/>
                </a:solidFill>
                <a:cs typeface="Arial" charset="0"/>
                <a:sym typeface="Symbol"/>
              </a:rPr>
              <a:t></a:t>
            </a:r>
            <a:r>
              <a:rPr lang="en-US" altLang="zh-CN" sz="1800" b="1" baseline="-25000" dirty="0" smtClean="0">
                <a:solidFill>
                  <a:srgbClr val="000066"/>
                </a:solidFill>
                <a:cs typeface="Arial" charset="0"/>
                <a:sym typeface="Symbol"/>
              </a:rPr>
              <a:t>m</a:t>
            </a:r>
            <a:endParaRPr lang="zh-CN" altLang="en-US" sz="1800" b="1" baseline="-25000" dirty="0">
              <a:solidFill>
                <a:srgbClr val="000066"/>
              </a:solidFill>
              <a:cs typeface="Arial" charset="0"/>
              <a:sym typeface="Symbol" pitchFamily="18" charset="2"/>
            </a:endParaRP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4648200" y="2001838"/>
            <a:ext cx="39624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设土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体的莫尔库伦强度包线与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横轴相交于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o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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点</a:t>
            </a:r>
            <a:endParaRPr lang="en-US" altLang="zh-CN" sz="24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过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o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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作应力莫尔圆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的切线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，切线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的倾角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称为视内摩擦角</a:t>
            </a:r>
            <a:r>
              <a:rPr lang="zh-CN" altLang="en-US" sz="2400" b="1" i="1" dirty="0">
                <a:solidFill>
                  <a:srgbClr val="000066"/>
                </a:solidFill>
                <a:cs typeface="Arial" charset="0"/>
                <a:sym typeface="Symbol"/>
              </a:rPr>
              <a:t> 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m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Rectangle 22"/>
          <p:cNvSpPr>
            <a:spLocks noChangeArrowheads="1"/>
          </p:cNvSpPr>
          <p:nvPr/>
        </p:nvSpPr>
        <p:spPr bwMode="auto">
          <a:xfrm>
            <a:off x="392113" y="673100"/>
            <a:ext cx="3367087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内摩擦角比较法</a:t>
            </a:r>
            <a:endParaRPr lang="zh-CN" altLang="en-US" sz="28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8" name="Rectangle 21"/>
          <p:cNvSpPr>
            <a:spLocks noChangeArrowheads="1"/>
          </p:cNvSpPr>
          <p:nvPr/>
        </p:nvSpPr>
        <p:spPr bwMode="auto">
          <a:xfrm>
            <a:off x="859366" y="1352549"/>
            <a:ext cx="3433234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）由</a:t>
            </a:r>
            <a:r>
              <a:rPr lang="zh-CN" altLang="en-US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, 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 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m</a:t>
            </a:r>
            <a:endParaRPr lang="zh-CN" altLang="en-US" sz="28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-9526" y="0"/>
            <a:ext cx="58089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土单元破坏的判断方法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3" name="Text Box 2"/>
          <p:cNvSpPr txBox="1">
            <a:spLocks noChangeArrowheads="1"/>
          </p:cNvSpPr>
          <p:nvPr/>
        </p:nvSpPr>
        <p:spPr bwMode="auto">
          <a:xfrm>
            <a:off x="2012438" y="5776784"/>
            <a:ext cx="585470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单元破坏的判断方法</a:t>
            </a:r>
          </a:p>
        </p:txBody>
      </p:sp>
    </p:spTree>
    <p:extLst>
      <p:ext uri="{BB962C8B-B14F-4D97-AF65-F5344CB8AC3E}">
        <p14:creationId xmlns:p14="http://schemas.microsoft.com/office/powerpoint/2010/main" val="65787103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6" grpId="0" animBg="1"/>
      <p:bldP spid="42" grpId="0"/>
      <p:bldP spid="45" grpId="0" build="p"/>
      <p:bldP spid="4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16463" y="2378076"/>
            <a:ext cx="3962400" cy="2413001"/>
            <a:chOff x="4716463" y="2378076"/>
            <a:chExt cx="3962400" cy="2413001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4716463" y="4408489"/>
              <a:ext cx="38179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V="1">
              <a:off x="5692776" y="2530476"/>
              <a:ext cx="0" cy="2184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8329613" y="4329114"/>
              <a:ext cx="3492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5327651" y="2378076"/>
              <a:ext cx="3492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5391151" y="4364039"/>
              <a:ext cx="349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</p:grp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982663" y="2408238"/>
            <a:ext cx="3797300" cy="2456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lang="en-US" altLang="zh-CN" sz="2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m 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= </a:t>
            </a:r>
            <a:r>
              <a:rPr lang="en-US" altLang="zh-CN" sz="2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  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极限平衡状态</a:t>
            </a:r>
            <a:br>
              <a:rPr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</a:b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           （破坏）</a:t>
            </a:r>
          </a:p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lang="en-US" altLang="zh-CN" sz="2400" b="1" i="1" dirty="0">
                <a:solidFill>
                  <a:srgbClr val="003300"/>
                </a:solidFill>
                <a:ea typeface="幼圆" pitchFamily="49" charset="-122"/>
                <a:sym typeface="Symbol"/>
              </a:rPr>
              <a:t></a:t>
            </a:r>
            <a:r>
              <a:rPr lang="en-US" altLang="zh-CN" sz="2400" b="1" baseline="-25000" dirty="0">
                <a:solidFill>
                  <a:srgbClr val="003300"/>
                </a:solidFill>
                <a:ea typeface="幼圆" pitchFamily="49" charset="-122"/>
                <a:sym typeface="Symbol" pitchFamily="18" charset="2"/>
              </a:rPr>
              <a:t>m</a:t>
            </a:r>
            <a:r>
              <a:rPr lang="en-US" altLang="zh-CN" sz="2400" b="1" dirty="0">
                <a:solidFill>
                  <a:srgbClr val="003300"/>
                </a:solidFill>
                <a:ea typeface="幼圆" pitchFamily="49" charset="-122"/>
                <a:sym typeface="Symbol" pitchFamily="18" charset="2"/>
              </a:rPr>
              <a:t> &lt; </a:t>
            </a:r>
            <a:r>
              <a:rPr lang="en-US" altLang="zh-CN" sz="2400" b="1" i="1" dirty="0">
                <a:solidFill>
                  <a:srgbClr val="003300"/>
                </a:solidFill>
                <a:ea typeface="幼圆" pitchFamily="49" charset="-122"/>
                <a:sym typeface="Symbol"/>
              </a:rPr>
              <a:t></a:t>
            </a:r>
            <a:r>
              <a:rPr lang="en-US" altLang="zh-CN" sz="2400" b="1" dirty="0">
                <a:solidFill>
                  <a:srgbClr val="003300"/>
                </a:solidFill>
                <a:ea typeface="幼圆" pitchFamily="49" charset="-122"/>
                <a:sym typeface="Symbol" pitchFamily="18" charset="2"/>
              </a:rPr>
              <a:t>   </a:t>
            </a:r>
            <a:r>
              <a:rPr lang="zh-CN" altLang="en-US" sz="2400" b="1" dirty="0">
                <a:solidFill>
                  <a:srgbClr val="003300"/>
                </a:solidFill>
                <a:ea typeface="幼圆" pitchFamily="49" charset="-122"/>
                <a:sym typeface="Symbol" pitchFamily="18" charset="2"/>
              </a:rPr>
              <a:t>安全状态</a:t>
            </a:r>
          </a:p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m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&gt;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 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破坏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状态</a:t>
            </a:r>
            <a:b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</a:b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        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（不可能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）</a:t>
            </a:r>
          </a:p>
        </p:txBody>
      </p:sp>
      <p:sp>
        <p:nvSpPr>
          <p:cNvPr id="28" name="Arc 25"/>
          <p:cNvSpPr>
            <a:spLocks/>
          </p:cNvSpPr>
          <p:nvPr/>
        </p:nvSpPr>
        <p:spPr bwMode="auto">
          <a:xfrm flipH="1" flipV="1">
            <a:off x="6089650" y="3512405"/>
            <a:ext cx="1747838" cy="893762"/>
          </a:xfrm>
          <a:custGeom>
            <a:avLst/>
            <a:gdLst>
              <a:gd name="T0" fmla="*/ 1747676 w 43200"/>
              <a:gd name="T1" fmla="*/ 3275 h 22107"/>
              <a:gd name="T2" fmla="*/ 243 w 43200"/>
              <a:gd name="T3" fmla="*/ 0 h 22107"/>
              <a:gd name="T4" fmla="*/ 873919 w 43200"/>
              <a:gd name="T5" fmla="*/ 20497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Arc 26"/>
          <p:cNvSpPr>
            <a:spLocks/>
          </p:cNvSpPr>
          <p:nvPr/>
        </p:nvSpPr>
        <p:spPr bwMode="auto">
          <a:xfrm flipH="1" flipV="1">
            <a:off x="6318250" y="3743325"/>
            <a:ext cx="1293813" cy="661988"/>
          </a:xfrm>
          <a:custGeom>
            <a:avLst/>
            <a:gdLst>
              <a:gd name="T0" fmla="*/ 1293693 w 43200"/>
              <a:gd name="T1" fmla="*/ 2426 h 22107"/>
              <a:gd name="T2" fmla="*/ 180 w 43200"/>
              <a:gd name="T3" fmla="*/ 0 h 22107"/>
              <a:gd name="T4" fmla="*/ 646907 w 43200"/>
              <a:gd name="T5" fmla="*/ 15182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Arc 27"/>
          <p:cNvSpPr>
            <a:spLocks/>
          </p:cNvSpPr>
          <p:nvPr/>
        </p:nvSpPr>
        <p:spPr bwMode="auto">
          <a:xfrm flipH="1" flipV="1">
            <a:off x="5864225" y="3304308"/>
            <a:ext cx="2219902" cy="1097829"/>
          </a:xfrm>
          <a:custGeom>
            <a:avLst/>
            <a:gdLst>
              <a:gd name="T0" fmla="*/ 2233406 w 43200"/>
              <a:gd name="T1" fmla="*/ 4194 h 22107"/>
              <a:gd name="T2" fmla="*/ 310 w 43200"/>
              <a:gd name="T3" fmla="*/ 0 h 22107"/>
              <a:gd name="T4" fmla="*/ 1116807 w 43200"/>
              <a:gd name="T5" fmla="*/ 26250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28575">
            <a:solidFill>
              <a:srgbClr val="00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 flipV="1">
            <a:off x="4985673" y="3240823"/>
            <a:ext cx="3308639" cy="1165514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 flipV="1">
            <a:off x="4990144" y="2814762"/>
            <a:ext cx="2379148" cy="1583766"/>
          </a:xfrm>
          <a:prstGeom prst="line">
            <a:avLst/>
          </a:prstGeom>
          <a:noFill/>
          <a:ln w="28575">
            <a:solidFill>
              <a:srgbClr val="00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 22"/>
          <p:cNvSpPr>
            <a:spLocks noChangeArrowheads="1"/>
          </p:cNvSpPr>
          <p:nvPr/>
        </p:nvSpPr>
        <p:spPr bwMode="auto">
          <a:xfrm>
            <a:off x="392113" y="673100"/>
            <a:ext cx="3367087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内摩擦角比较法</a:t>
            </a:r>
            <a:endParaRPr lang="zh-CN" altLang="en-US" sz="28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6" name="Rectangle 21"/>
          <p:cNvSpPr>
            <a:spLocks noChangeArrowheads="1"/>
          </p:cNvSpPr>
          <p:nvPr/>
        </p:nvSpPr>
        <p:spPr bwMode="auto">
          <a:xfrm>
            <a:off x="757766" y="1479549"/>
            <a:ext cx="6897676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比较视内摩擦角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m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和内摩擦角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的大小</a:t>
            </a:r>
            <a:endParaRPr lang="zh-CN" altLang="en-US" sz="28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746626" y="2299278"/>
            <a:ext cx="3965575" cy="2421949"/>
            <a:chOff x="4746626" y="2299278"/>
            <a:chExt cx="3965575" cy="2421949"/>
          </a:xfrm>
        </p:grpSpPr>
        <p:grpSp>
          <p:nvGrpSpPr>
            <p:cNvPr id="4" name="组合 3"/>
            <p:cNvGrpSpPr/>
            <p:nvPr/>
          </p:nvGrpSpPr>
          <p:grpSpPr>
            <a:xfrm>
              <a:off x="4746626" y="2299278"/>
              <a:ext cx="3965575" cy="2421949"/>
              <a:chOff x="4746626" y="2299278"/>
              <a:chExt cx="3965575" cy="2421949"/>
            </a:xfrm>
          </p:grpSpPr>
          <p:sp>
            <p:nvSpPr>
              <p:cNvPr id="38" name="Line 11"/>
              <p:cNvSpPr>
                <a:spLocks noChangeShapeType="1"/>
              </p:cNvSpPr>
              <p:nvPr/>
            </p:nvSpPr>
            <p:spPr bwMode="auto">
              <a:xfrm>
                <a:off x="7626138" y="3057339"/>
                <a:ext cx="4738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9"/>
              <p:cNvSpPr>
                <a:spLocks noChangeShapeType="1"/>
              </p:cNvSpPr>
              <p:nvPr/>
            </p:nvSpPr>
            <p:spPr bwMode="auto">
              <a:xfrm flipV="1">
                <a:off x="4992837" y="2788676"/>
                <a:ext cx="3159125" cy="1609725"/>
              </a:xfrm>
              <a:prstGeom prst="line">
                <a:avLst/>
              </a:prstGeom>
              <a:noFill/>
              <a:ln w="254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Text Box 10"/>
              <p:cNvSpPr txBox="1">
                <a:spLocks noChangeArrowheads="1"/>
              </p:cNvSpPr>
              <p:nvPr/>
            </p:nvSpPr>
            <p:spPr bwMode="auto">
              <a:xfrm>
                <a:off x="7050088" y="2299278"/>
                <a:ext cx="1662113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solidFill>
                      <a:srgbClr val="C00000"/>
                    </a:solidFill>
                    <a:ea typeface="幼圆" pitchFamily="49" charset="-122"/>
                    <a:sym typeface="Symbol" pitchFamily="18" charset="2"/>
                  </a:rPr>
                  <a:t></a:t>
                </a:r>
                <a:r>
                  <a:rPr lang="en-US" altLang="zh-CN" sz="2000" b="1" baseline="-25000" dirty="0" smtClean="0">
                    <a:solidFill>
                      <a:srgbClr val="C00000"/>
                    </a:solidFill>
                    <a:ea typeface="幼圆" pitchFamily="49" charset="-122"/>
                    <a:sym typeface="Symbol" pitchFamily="18" charset="2"/>
                  </a:rPr>
                  <a:t>f </a:t>
                </a:r>
                <a:r>
                  <a:rPr lang="en-US" altLang="zh-CN" sz="2000" b="1" dirty="0" smtClean="0">
                    <a:solidFill>
                      <a:srgbClr val="C00000"/>
                    </a:solidFill>
                    <a:ea typeface="幼圆" pitchFamily="49" charset="-122"/>
                  </a:rPr>
                  <a:t>= </a:t>
                </a:r>
                <a:r>
                  <a:rPr lang="en-US" altLang="zh-CN" sz="2000" b="1" i="1" dirty="0" smtClean="0">
                    <a:solidFill>
                      <a:srgbClr val="C00000"/>
                    </a:solidFill>
                    <a:ea typeface="幼圆" pitchFamily="49" charset="-122"/>
                  </a:rPr>
                  <a:t>c </a:t>
                </a:r>
                <a:r>
                  <a:rPr lang="en-US" altLang="zh-CN" sz="2000" b="1" dirty="0" smtClean="0">
                    <a:solidFill>
                      <a:srgbClr val="C00000"/>
                    </a:solidFill>
                    <a:ea typeface="幼圆" pitchFamily="49" charset="-122"/>
                  </a:rPr>
                  <a:t>+</a:t>
                </a:r>
                <a:r>
                  <a:rPr lang="en-US" altLang="zh-CN" sz="2000" b="1" i="1" dirty="0" smtClean="0">
                    <a:solidFill>
                      <a:srgbClr val="C00000"/>
                    </a:solidFill>
                    <a:ea typeface="幼圆" pitchFamily="49" charset="-122"/>
                    <a:sym typeface="Symbol" pitchFamily="18" charset="2"/>
                  </a:rPr>
                  <a:t> </a:t>
                </a:r>
                <a:r>
                  <a:rPr lang="en-US" altLang="zh-CN" sz="2000" b="1" dirty="0" smtClean="0">
                    <a:solidFill>
                      <a:srgbClr val="C00000"/>
                    </a:solidFill>
                    <a:ea typeface="幼圆" pitchFamily="49" charset="-122"/>
                  </a:rPr>
                  <a:t>tan</a:t>
                </a:r>
                <a:r>
                  <a:rPr lang="en-US" altLang="zh-CN" sz="2000" b="1" i="1" dirty="0" smtClean="0">
                    <a:solidFill>
                      <a:srgbClr val="C00000"/>
                    </a:solidFill>
                    <a:ea typeface="幼圆" pitchFamily="49" charset="-122"/>
                    <a:sym typeface="Symbol"/>
                  </a:rPr>
                  <a:t></a:t>
                </a:r>
                <a:endParaRPr lang="zh-CN" altLang="en-US" sz="2000" b="1" i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H="1" flipV="1">
                <a:off x="7516090" y="2694709"/>
                <a:ext cx="175347" cy="2739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Text Box 12"/>
              <p:cNvSpPr txBox="1">
                <a:spLocks noChangeArrowheads="1"/>
              </p:cNvSpPr>
              <p:nvPr/>
            </p:nvSpPr>
            <p:spPr bwMode="auto">
              <a:xfrm>
                <a:off x="4746626" y="4354514"/>
                <a:ext cx="4826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800" b="1" dirty="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O</a:t>
                </a:r>
              </a:p>
            </p:txBody>
          </p:sp>
          <p:sp>
            <p:nvSpPr>
              <p:cNvPr id="37" name="Text Box 18"/>
              <p:cNvSpPr txBox="1">
                <a:spLocks noChangeArrowheads="1"/>
              </p:cNvSpPr>
              <p:nvPr/>
            </p:nvSpPr>
            <p:spPr bwMode="auto">
              <a:xfrm>
                <a:off x="7925396" y="2693039"/>
                <a:ext cx="347663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i="1" dirty="0" smtClean="0">
                    <a:solidFill>
                      <a:srgbClr val="C00000"/>
                    </a:solidFill>
                    <a:cs typeface="Arial" charset="0"/>
                    <a:sym typeface="Symbol"/>
                  </a:rPr>
                  <a:t></a:t>
                </a:r>
                <a:endParaRPr lang="zh-CN" altLang="en-US" sz="2000" b="1" i="1" dirty="0">
                  <a:solidFill>
                    <a:srgbClr val="C00000"/>
                  </a:solidFill>
                  <a:cs typeface="Arial" charset="0"/>
                  <a:sym typeface="Symbol" pitchFamily="18" charset="2"/>
                </a:endParaRPr>
              </a:p>
            </p:txBody>
          </p:sp>
        </p:grpSp>
        <p:sp>
          <p:nvSpPr>
            <p:cNvPr id="39" name="Freeform 15"/>
            <p:cNvSpPr>
              <a:spLocks/>
            </p:cNvSpPr>
            <p:nvPr/>
          </p:nvSpPr>
          <p:spPr bwMode="auto">
            <a:xfrm>
              <a:off x="7882655" y="2914484"/>
              <a:ext cx="45719" cy="141265"/>
            </a:xfrm>
            <a:custGeom>
              <a:avLst/>
              <a:gdLst>
                <a:gd name="T0" fmla="*/ 19 w 24"/>
                <a:gd name="T1" fmla="*/ 113 h 113"/>
                <a:gd name="T2" fmla="*/ 21 w 24"/>
                <a:gd name="T3" fmla="*/ 56 h 113"/>
                <a:gd name="T4" fmla="*/ 0 w 24"/>
                <a:gd name="T5" fmla="*/ 0 h 113"/>
                <a:gd name="T6" fmla="*/ 0 60000 65536"/>
                <a:gd name="T7" fmla="*/ 0 60000 65536"/>
                <a:gd name="T8" fmla="*/ 0 60000 65536"/>
                <a:gd name="T9" fmla="*/ 0 w 24"/>
                <a:gd name="T10" fmla="*/ 0 h 113"/>
                <a:gd name="T11" fmla="*/ 24 w 24"/>
                <a:gd name="T12" fmla="*/ 113 h 1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13">
                  <a:moveTo>
                    <a:pt x="19" y="113"/>
                  </a:moveTo>
                  <a:cubicBezTo>
                    <a:pt x="19" y="104"/>
                    <a:pt x="24" y="75"/>
                    <a:pt x="21" y="56"/>
                  </a:cubicBezTo>
                  <a:cubicBezTo>
                    <a:pt x="18" y="37"/>
                    <a:pt x="4" y="1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9526" y="0"/>
            <a:ext cx="58089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土单元破坏的判断方法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0" name="Text Box 2"/>
          <p:cNvSpPr txBox="1">
            <a:spLocks noChangeArrowheads="1"/>
          </p:cNvSpPr>
          <p:nvPr/>
        </p:nvSpPr>
        <p:spPr bwMode="auto">
          <a:xfrm>
            <a:off x="2012438" y="5776784"/>
            <a:ext cx="585470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单元破坏的判断方法</a:t>
            </a:r>
          </a:p>
        </p:txBody>
      </p:sp>
    </p:spTree>
    <p:extLst>
      <p:ext uri="{BB962C8B-B14F-4D97-AF65-F5344CB8AC3E}">
        <p14:creationId xmlns:p14="http://schemas.microsoft.com/office/powerpoint/2010/main" val="33721825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  <p:bldP spid="28" grpId="0" build="p" animBg="1"/>
      <p:bldP spid="29" grpId="0" animBg="1"/>
      <p:bldP spid="30" grpId="0" build="p" animBg="1"/>
      <p:bldP spid="32" grpId="0" animBg="1"/>
      <p:bldP spid="33" grpId="0" build="p" animBg="1"/>
      <p:bldP spid="3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073078" y="490515"/>
            <a:ext cx="2525347" cy="3582308"/>
            <a:chOff x="2015412" y="1380219"/>
            <a:chExt cx="2525347" cy="3582308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4070889" y="2683557"/>
              <a:ext cx="46987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619299" y="2045382"/>
              <a:ext cx="1172252" cy="2347200"/>
            </a:xfrm>
            <a:prstGeom prst="rect">
              <a:avLst/>
            </a:prstGeom>
            <a:solidFill>
              <a:srgbClr val="CC99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Aspect="1" noChangeShapeType="1"/>
            </p:cNvSpPr>
            <p:nvPr/>
          </p:nvSpPr>
          <p:spPr bwMode="auto">
            <a:xfrm>
              <a:off x="3198967" y="1464357"/>
              <a:ext cx="0" cy="587375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3268398" y="1380219"/>
              <a:ext cx="544144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1f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1" name="Line 11"/>
            <p:cNvSpPr>
              <a:spLocks noChangeAspect="1" noChangeShapeType="1"/>
            </p:cNvSpPr>
            <p:nvPr/>
          </p:nvSpPr>
          <p:spPr bwMode="auto">
            <a:xfrm flipH="1">
              <a:off x="3794781" y="3218544"/>
              <a:ext cx="599043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Aspect="1" noChangeShapeType="1"/>
            </p:cNvSpPr>
            <p:nvPr/>
          </p:nvSpPr>
          <p:spPr bwMode="auto">
            <a:xfrm rot="10800000" flipH="1">
              <a:off x="2015412" y="3212194"/>
              <a:ext cx="563521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Aspect="1" noChangeShapeType="1"/>
            </p:cNvSpPr>
            <p:nvPr/>
          </p:nvSpPr>
          <p:spPr bwMode="auto">
            <a:xfrm rot="10800000">
              <a:off x="3199358" y="4375152"/>
              <a:ext cx="0" cy="587375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4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954950"/>
              </p:ext>
            </p:extLst>
          </p:nvPr>
        </p:nvGraphicFramePr>
        <p:xfrm>
          <a:off x="1250094" y="4727469"/>
          <a:ext cx="1443680" cy="745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50" name="公式" r:id="rId4" imgW="761760" imgH="393480" progId="Equation.3">
                  <p:embed/>
                </p:oleObj>
              </mc:Choice>
              <mc:Fallback>
                <p:oleObj name="公式" r:id="rId4" imgW="761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094" y="4727469"/>
                        <a:ext cx="1443680" cy="74508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618072" y="4158442"/>
            <a:ext cx="30367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271463" indent="-271463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与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大主应力面夹角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:</a:t>
            </a:r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6876545" y="1868625"/>
            <a:ext cx="484650" cy="607466"/>
            <a:chOff x="4153" y="1061"/>
            <a:chExt cx="344" cy="437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4157" y="1061"/>
              <a:ext cx="3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dirty="0">
                  <a:cs typeface="Arial" charset="0"/>
                  <a:sym typeface="Symbol" pitchFamily="18" charset="2"/>
                </a:rPr>
                <a:t>2</a:t>
              </a:r>
              <a:r>
                <a:rPr lang="en-US" altLang="zh-CN" sz="2000" b="1" i="1" dirty="0">
                  <a:cs typeface="Arial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18" name="Arc 16"/>
            <p:cNvSpPr>
              <a:spLocks/>
            </p:cNvSpPr>
            <p:nvPr/>
          </p:nvSpPr>
          <p:spPr bwMode="auto">
            <a:xfrm flipH="1" flipV="1">
              <a:off x="4153" y="1310"/>
              <a:ext cx="267" cy="188"/>
            </a:xfrm>
            <a:custGeom>
              <a:avLst/>
              <a:gdLst>
                <a:gd name="T0" fmla="*/ 267 w 33431"/>
                <a:gd name="T1" fmla="*/ 157 h 21600"/>
                <a:gd name="T2" fmla="*/ 0 w 33431"/>
                <a:gd name="T3" fmla="*/ 3 h 21600"/>
                <a:gd name="T4" fmla="*/ 172 w 33431"/>
                <a:gd name="T5" fmla="*/ 0 h 21600"/>
                <a:gd name="T6" fmla="*/ 0 60000 65536"/>
                <a:gd name="T7" fmla="*/ 0 60000 65536"/>
                <a:gd name="T8" fmla="*/ 0 60000 65536"/>
                <a:gd name="T9" fmla="*/ 0 w 33431"/>
                <a:gd name="T10" fmla="*/ 0 h 21600"/>
                <a:gd name="T11" fmla="*/ 33431 w 3343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431" h="21600" fill="none" extrusionOk="0">
                  <a:moveTo>
                    <a:pt x="33430" y="18069"/>
                  </a:moveTo>
                  <a:cubicBezTo>
                    <a:pt x="29913" y="20373"/>
                    <a:pt x="25801" y="21599"/>
                    <a:pt x="21597" y="21600"/>
                  </a:cubicBezTo>
                  <a:cubicBezTo>
                    <a:pt x="9805" y="21600"/>
                    <a:pt x="192" y="12143"/>
                    <a:pt x="-1" y="353"/>
                  </a:cubicBezTo>
                </a:path>
                <a:path w="33431" h="21600" stroke="0" extrusionOk="0">
                  <a:moveTo>
                    <a:pt x="33430" y="18069"/>
                  </a:moveTo>
                  <a:cubicBezTo>
                    <a:pt x="29913" y="20373"/>
                    <a:pt x="25801" y="21599"/>
                    <a:pt x="21597" y="21600"/>
                  </a:cubicBezTo>
                  <a:cubicBezTo>
                    <a:pt x="9805" y="21600"/>
                    <a:pt x="192" y="12143"/>
                    <a:pt x="-1" y="353"/>
                  </a:cubicBezTo>
                  <a:lnTo>
                    <a:pt x="21597" y="0"/>
                  </a:lnTo>
                  <a:close/>
                </a:path>
              </a:pathLst>
            </a:custGeom>
            <a:noFill/>
            <a:ln w="1905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7613318" y="1753450"/>
            <a:ext cx="14812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2</a:t>
            </a:r>
            <a:r>
              <a:rPr lang="en-US" altLang="zh-CN" sz="2000" b="1" i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 </a:t>
            </a:r>
            <a:r>
              <a:rPr lang="en-US" altLang="zh-CN" sz="20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90</a:t>
            </a:r>
            <a:r>
              <a:rPr lang="en-US" altLang="zh-CN" sz="20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+</a:t>
            </a:r>
            <a:r>
              <a:rPr lang="en-US" altLang="zh-CN" sz="2000" b="1" i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000" b="1" i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en-US" altLang="zh-CN" sz="2000" b="1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022415" y="786439"/>
            <a:ext cx="3500928" cy="2736838"/>
            <a:chOff x="5360173" y="827629"/>
            <a:chExt cx="3500928" cy="2736838"/>
          </a:xfrm>
        </p:grpSpPr>
        <p:grpSp>
          <p:nvGrpSpPr>
            <p:cNvPr id="20" name="组合 19"/>
            <p:cNvGrpSpPr/>
            <p:nvPr/>
          </p:nvGrpSpPr>
          <p:grpSpPr>
            <a:xfrm>
              <a:off x="5360173" y="827629"/>
              <a:ext cx="3500928" cy="1691671"/>
              <a:chOff x="5360173" y="827629"/>
              <a:chExt cx="3500928" cy="1691671"/>
            </a:xfrm>
          </p:grpSpPr>
          <p:sp>
            <p:nvSpPr>
              <p:cNvPr id="70" name="Freeform 15"/>
              <p:cNvSpPr>
                <a:spLocks/>
              </p:cNvSpPr>
              <p:nvPr/>
            </p:nvSpPr>
            <p:spPr bwMode="auto">
              <a:xfrm>
                <a:off x="7786576" y="1522343"/>
                <a:ext cx="45719" cy="141265"/>
              </a:xfrm>
              <a:custGeom>
                <a:avLst/>
                <a:gdLst>
                  <a:gd name="T0" fmla="*/ 19 w 24"/>
                  <a:gd name="T1" fmla="*/ 113 h 113"/>
                  <a:gd name="T2" fmla="*/ 21 w 24"/>
                  <a:gd name="T3" fmla="*/ 56 h 113"/>
                  <a:gd name="T4" fmla="*/ 0 w 24"/>
                  <a:gd name="T5" fmla="*/ 0 h 113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113"/>
                  <a:gd name="T11" fmla="*/ 24 w 24"/>
                  <a:gd name="T12" fmla="*/ 113 h 1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113">
                    <a:moveTo>
                      <a:pt x="19" y="113"/>
                    </a:moveTo>
                    <a:cubicBezTo>
                      <a:pt x="19" y="104"/>
                      <a:pt x="24" y="75"/>
                      <a:pt x="21" y="56"/>
                    </a:cubicBezTo>
                    <a:cubicBezTo>
                      <a:pt x="18" y="37"/>
                      <a:pt x="4" y="12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Line 11"/>
              <p:cNvSpPr>
                <a:spLocks noChangeShapeType="1"/>
              </p:cNvSpPr>
              <p:nvPr/>
            </p:nvSpPr>
            <p:spPr bwMode="auto">
              <a:xfrm>
                <a:off x="7477090" y="1665198"/>
                <a:ext cx="55354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36"/>
              <p:cNvSpPr>
                <a:spLocks noChangeShapeType="1"/>
              </p:cNvSpPr>
              <p:nvPr/>
            </p:nvSpPr>
            <p:spPr bwMode="auto">
              <a:xfrm flipV="1">
                <a:off x="5360173" y="1401233"/>
                <a:ext cx="2733850" cy="1118067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Text Box 10"/>
              <p:cNvSpPr txBox="1">
                <a:spLocks noChangeArrowheads="1"/>
              </p:cNvSpPr>
              <p:nvPr/>
            </p:nvSpPr>
            <p:spPr bwMode="auto">
              <a:xfrm>
                <a:off x="7198988" y="827629"/>
                <a:ext cx="1662113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solidFill>
                      <a:srgbClr val="C00000"/>
                    </a:solidFill>
                    <a:ea typeface="幼圆" pitchFamily="49" charset="-122"/>
                    <a:sym typeface="Symbol" pitchFamily="18" charset="2"/>
                  </a:rPr>
                  <a:t></a:t>
                </a:r>
                <a:r>
                  <a:rPr lang="en-US" altLang="zh-CN" sz="2000" b="1" baseline="-25000" dirty="0" smtClean="0">
                    <a:solidFill>
                      <a:srgbClr val="C00000"/>
                    </a:solidFill>
                    <a:ea typeface="幼圆" pitchFamily="49" charset="-122"/>
                    <a:sym typeface="Symbol" pitchFamily="18" charset="2"/>
                  </a:rPr>
                  <a:t>f </a:t>
                </a:r>
                <a:r>
                  <a:rPr lang="en-US" altLang="zh-CN" sz="2000" b="1" dirty="0" smtClean="0">
                    <a:solidFill>
                      <a:srgbClr val="C00000"/>
                    </a:solidFill>
                    <a:ea typeface="幼圆" pitchFamily="49" charset="-122"/>
                  </a:rPr>
                  <a:t>= </a:t>
                </a:r>
                <a:r>
                  <a:rPr lang="en-US" altLang="zh-CN" sz="2000" b="1" i="1" dirty="0" smtClean="0">
                    <a:solidFill>
                      <a:srgbClr val="C00000"/>
                    </a:solidFill>
                    <a:ea typeface="幼圆" pitchFamily="49" charset="-122"/>
                  </a:rPr>
                  <a:t>c </a:t>
                </a:r>
                <a:r>
                  <a:rPr lang="en-US" altLang="zh-CN" sz="2000" b="1" dirty="0" smtClean="0">
                    <a:solidFill>
                      <a:srgbClr val="C00000"/>
                    </a:solidFill>
                    <a:ea typeface="幼圆" pitchFamily="49" charset="-122"/>
                  </a:rPr>
                  <a:t>+</a:t>
                </a:r>
                <a:r>
                  <a:rPr lang="en-US" altLang="zh-CN" sz="2000" b="1" i="1" dirty="0" smtClean="0">
                    <a:solidFill>
                      <a:srgbClr val="C00000"/>
                    </a:solidFill>
                    <a:ea typeface="幼圆" pitchFamily="49" charset="-122"/>
                    <a:sym typeface="Symbol" pitchFamily="18" charset="2"/>
                  </a:rPr>
                  <a:t> </a:t>
                </a:r>
                <a:r>
                  <a:rPr lang="en-US" altLang="zh-CN" sz="2000" b="1" dirty="0" smtClean="0">
                    <a:solidFill>
                      <a:srgbClr val="C00000"/>
                    </a:solidFill>
                    <a:ea typeface="幼圆" pitchFamily="49" charset="-122"/>
                  </a:rPr>
                  <a:t>tan</a:t>
                </a:r>
                <a:r>
                  <a:rPr lang="en-US" altLang="zh-CN" sz="2000" b="1" i="1" dirty="0" smtClean="0">
                    <a:solidFill>
                      <a:srgbClr val="C00000"/>
                    </a:solidFill>
                    <a:ea typeface="幼圆" pitchFamily="49" charset="-122"/>
                    <a:sym typeface="Symbol"/>
                  </a:rPr>
                  <a:t></a:t>
                </a:r>
                <a:endParaRPr lang="zh-CN" altLang="en-US" sz="2000" b="1" i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61" name="Line 11"/>
              <p:cNvSpPr>
                <a:spLocks noChangeShapeType="1"/>
              </p:cNvSpPr>
              <p:nvPr/>
            </p:nvSpPr>
            <p:spPr bwMode="auto">
              <a:xfrm flipH="1" flipV="1">
                <a:off x="7567436" y="1207936"/>
                <a:ext cx="121813" cy="328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Text Box 18"/>
              <p:cNvSpPr txBox="1">
                <a:spLocks noChangeArrowheads="1"/>
              </p:cNvSpPr>
              <p:nvPr/>
            </p:nvSpPr>
            <p:spPr bwMode="auto">
              <a:xfrm>
                <a:off x="7863181" y="1300898"/>
                <a:ext cx="347663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i="1" dirty="0" smtClean="0">
                    <a:solidFill>
                      <a:srgbClr val="C00000"/>
                    </a:solidFill>
                    <a:cs typeface="Arial" charset="0"/>
                    <a:sym typeface="Symbol"/>
                  </a:rPr>
                  <a:t></a:t>
                </a:r>
                <a:endParaRPr lang="zh-CN" altLang="en-US" sz="2000" b="1" i="1" dirty="0">
                  <a:solidFill>
                    <a:srgbClr val="C00000"/>
                  </a:solidFill>
                  <a:cs typeface="Arial" charset="0"/>
                  <a:sym typeface="Symbol" pitchFamily="18" charset="2"/>
                </a:endParaRPr>
              </a:p>
            </p:txBody>
          </p:sp>
        </p:grp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5365808" y="2520690"/>
              <a:ext cx="2567733" cy="104377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833630" y="968460"/>
            <a:ext cx="3617912" cy="2231111"/>
            <a:chOff x="5171388" y="1009650"/>
            <a:chExt cx="3617912" cy="2231111"/>
          </a:xfrm>
        </p:grpSpPr>
        <p:sp>
          <p:nvSpPr>
            <p:cNvPr id="32" name="Oval 30"/>
            <p:cNvSpPr>
              <a:spLocks noChangeArrowheads="1"/>
            </p:cNvSpPr>
            <p:nvPr/>
          </p:nvSpPr>
          <p:spPr bwMode="auto">
            <a:xfrm>
              <a:off x="6549237" y="1783936"/>
              <a:ext cx="1517325" cy="1456825"/>
            </a:xfrm>
            <a:prstGeom prst="ellips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5171388" y="2527640"/>
              <a:ext cx="456465" cy="34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Times New Roman" panose="02020603050405020304" pitchFamily="18" charset="0"/>
                  <a:sym typeface="Symbol" pitchFamily="18" charset="2"/>
                </a:rPr>
                <a:t>O</a:t>
              </a: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5181250" y="1009650"/>
              <a:ext cx="3608050" cy="2219991"/>
              <a:chOff x="5231151" y="1543050"/>
              <a:chExt cx="3608050" cy="2219991"/>
            </a:xfrm>
          </p:grpSpPr>
          <p:sp>
            <p:nvSpPr>
              <p:cNvPr id="30" name="Text Box 28"/>
              <p:cNvSpPr txBox="1">
                <a:spLocks noChangeArrowheads="1"/>
              </p:cNvSpPr>
              <p:nvPr/>
            </p:nvSpPr>
            <p:spPr bwMode="auto">
              <a:xfrm>
                <a:off x="8496851" y="2990145"/>
                <a:ext cx="342350" cy="3697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600" b="1" i="1" dirty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</a:p>
            </p:txBody>
          </p:sp>
          <p:sp>
            <p:nvSpPr>
              <p:cNvPr id="33" name="Text Box 31"/>
              <p:cNvSpPr txBox="1">
                <a:spLocks noChangeArrowheads="1"/>
              </p:cNvSpPr>
              <p:nvPr/>
            </p:nvSpPr>
            <p:spPr bwMode="auto">
              <a:xfrm>
                <a:off x="5646760" y="1543050"/>
                <a:ext cx="342350" cy="3697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600" b="1" i="1">
                    <a:cs typeface="Times New Roman" panose="02020603050405020304" pitchFamily="18" charset="0"/>
                    <a:sym typeface="Symbol" pitchFamily="18" charset="2"/>
                  </a:rPr>
                  <a:t></a:t>
                </a:r>
              </a:p>
            </p:txBody>
          </p:sp>
          <p:sp>
            <p:nvSpPr>
              <p:cNvPr id="36" name="Line 34"/>
              <p:cNvSpPr>
                <a:spLocks noChangeShapeType="1"/>
              </p:cNvSpPr>
              <p:nvPr/>
            </p:nvSpPr>
            <p:spPr bwMode="auto">
              <a:xfrm flipV="1">
                <a:off x="5952479" y="1694571"/>
                <a:ext cx="0" cy="20684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35"/>
              <p:cNvSpPr>
                <a:spLocks noChangeShapeType="1"/>
              </p:cNvSpPr>
              <p:nvPr/>
            </p:nvSpPr>
            <p:spPr bwMode="auto">
              <a:xfrm>
                <a:off x="5231151" y="3051310"/>
                <a:ext cx="33924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6301281" y="2449794"/>
              <a:ext cx="2286554" cy="287752"/>
              <a:chOff x="6301281" y="2449794"/>
              <a:chExt cx="2286554" cy="287752"/>
            </a:xfrm>
          </p:grpSpPr>
          <p:sp>
            <p:nvSpPr>
              <p:cNvPr id="35" name="Text Box 33"/>
              <p:cNvSpPr txBox="1">
                <a:spLocks noChangeArrowheads="1"/>
              </p:cNvSpPr>
              <p:nvPr/>
            </p:nvSpPr>
            <p:spPr bwMode="auto">
              <a:xfrm>
                <a:off x="8069380" y="2451185"/>
                <a:ext cx="518455" cy="286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cs typeface="Arial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cs typeface="Arial" charset="0"/>
                    <a:sym typeface="Symbol" pitchFamily="18" charset="2"/>
                  </a:rPr>
                  <a:t>1f</a:t>
                </a:r>
              </a:p>
            </p:txBody>
          </p:sp>
          <p:sp>
            <p:nvSpPr>
              <p:cNvPr id="40" name="Text Box 38"/>
              <p:cNvSpPr txBox="1">
                <a:spLocks noChangeArrowheads="1"/>
              </p:cNvSpPr>
              <p:nvPr/>
            </p:nvSpPr>
            <p:spPr bwMode="auto">
              <a:xfrm>
                <a:off x="6301281" y="2449794"/>
                <a:ext cx="518455" cy="286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cs typeface="Arial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cs typeface="Arial" charset="0"/>
                    <a:sym typeface="Symbol" pitchFamily="18" charset="2"/>
                  </a:rPr>
                  <a:t>3</a:t>
                </a:r>
              </a:p>
            </p:txBody>
          </p:sp>
        </p:grpSp>
      </p:grpSp>
      <p:grpSp>
        <p:nvGrpSpPr>
          <p:cNvPr id="51" name="Group 49"/>
          <p:cNvGrpSpPr>
            <a:grpSpLocks/>
          </p:cNvGrpSpPr>
          <p:nvPr/>
        </p:nvGrpSpPr>
        <p:grpSpPr bwMode="auto">
          <a:xfrm>
            <a:off x="6873699" y="2476142"/>
            <a:ext cx="481830" cy="569948"/>
            <a:chOff x="4151" y="1498"/>
            <a:chExt cx="342" cy="410"/>
          </a:xfrm>
        </p:grpSpPr>
        <p:sp>
          <p:nvSpPr>
            <p:cNvPr id="52" name="Text Box 50"/>
            <p:cNvSpPr txBox="1">
              <a:spLocks noChangeArrowheads="1"/>
            </p:cNvSpPr>
            <p:nvPr/>
          </p:nvSpPr>
          <p:spPr bwMode="auto">
            <a:xfrm>
              <a:off x="4153" y="1658"/>
              <a:ext cx="3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dirty="0">
                  <a:cs typeface="Arial" charset="0"/>
                  <a:sym typeface="Symbol" pitchFamily="18" charset="2"/>
                </a:rPr>
                <a:t>2</a:t>
              </a:r>
              <a:r>
                <a:rPr lang="en-US" altLang="zh-CN" sz="2000" b="1" i="1" dirty="0">
                  <a:cs typeface="Arial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53" name="Arc 51"/>
            <p:cNvSpPr>
              <a:spLocks/>
            </p:cNvSpPr>
            <p:nvPr/>
          </p:nvSpPr>
          <p:spPr bwMode="auto">
            <a:xfrm flipH="1">
              <a:off x="4151" y="1498"/>
              <a:ext cx="269" cy="188"/>
            </a:xfrm>
            <a:custGeom>
              <a:avLst/>
              <a:gdLst>
                <a:gd name="T0" fmla="*/ 269 w 33431"/>
                <a:gd name="T1" fmla="*/ 157 h 21600"/>
                <a:gd name="T2" fmla="*/ 0 w 33431"/>
                <a:gd name="T3" fmla="*/ 3 h 21600"/>
                <a:gd name="T4" fmla="*/ 174 w 33431"/>
                <a:gd name="T5" fmla="*/ 0 h 21600"/>
                <a:gd name="T6" fmla="*/ 0 60000 65536"/>
                <a:gd name="T7" fmla="*/ 0 60000 65536"/>
                <a:gd name="T8" fmla="*/ 0 60000 65536"/>
                <a:gd name="T9" fmla="*/ 0 w 33431"/>
                <a:gd name="T10" fmla="*/ 0 h 21600"/>
                <a:gd name="T11" fmla="*/ 33431 w 3343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431" h="21600" fill="none" extrusionOk="0">
                  <a:moveTo>
                    <a:pt x="33430" y="18069"/>
                  </a:moveTo>
                  <a:cubicBezTo>
                    <a:pt x="29913" y="20373"/>
                    <a:pt x="25801" y="21599"/>
                    <a:pt x="21597" y="21600"/>
                  </a:cubicBezTo>
                  <a:cubicBezTo>
                    <a:pt x="9805" y="21600"/>
                    <a:pt x="192" y="12143"/>
                    <a:pt x="-1" y="353"/>
                  </a:cubicBezTo>
                </a:path>
                <a:path w="33431" h="21600" stroke="0" extrusionOk="0">
                  <a:moveTo>
                    <a:pt x="33430" y="18069"/>
                  </a:moveTo>
                  <a:cubicBezTo>
                    <a:pt x="29913" y="20373"/>
                    <a:pt x="25801" y="21599"/>
                    <a:pt x="21597" y="21600"/>
                  </a:cubicBezTo>
                  <a:cubicBezTo>
                    <a:pt x="9805" y="21600"/>
                    <a:pt x="192" y="12143"/>
                    <a:pt x="-1" y="353"/>
                  </a:cubicBezTo>
                  <a:lnTo>
                    <a:pt x="21597" y="0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6307121" y="1376763"/>
            <a:ext cx="665135" cy="2146905"/>
            <a:chOff x="6644879" y="1417953"/>
            <a:chExt cx="665135" cy="2146905"/>
          </a:xfrm>
        </p:grpSpPr>
        <p:grpSp>
          <p:nvGrpSpPr>
            <p:cNvPr id="31" name="组合 30"/>
            <p:cNvGrpSpPr/>
            <p:nvPr/>
          </p:nvGrpSpPr>
          <p:grpSpPr>
            <a:xfrm>
              <a:off x="6644879" y="1417953"/>
              <a:ext cx="665135" cy="1095184"/>
              <a:chOff x="6644879" y="1417953"/>
              <a:chExt cx="665135" cy="1095184"/>
            </a:xfrm>
          </p:grpSpPr>
          <p:sp>
            <p:nvSpPr>
              <p:cNvPr id="46" name="Line 44"/>
              <p:cNvSpPr>
                <a:spLocks noChangeShapeType="1"/>
              </p:cNvSpPr>
              <p:nvPr/>
            </p:nvSpPr>
            <p:spPr bwMode="auto">
              <a:xfrm flipH="1" flipV="1">
                <a:off x="7009930" y="1827817"/>
                <a:ext cx="300084" cy="685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Oval 45"/>
              <p:cNvSpPr>
                <a:spLocks noChangeArrowheads="1"/>
              </p:cNvSpPr>
              <p:nvPr/>
            </p:nvSpPr>
            <p:spPr bwMode="auto">
              <a:xfrm>
                <a:off x="6960620" y="1787504"/>
                <a:ext cx="92651" cy="90357"/>
              </a:xfrm>
              <a:prstGeom prst="ellipse">
                <a:avLst/>
              </a:prstGeom>
              <a:solidFill>
                <a:srgbClr val="800000"/>
              </a:solidFill>
              <a:ln w="635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Text Box 20"/>
              <p:cNvSpPr txBox="1">
                <a:spLocks noChangeArrowheads="1"/>
              </p:cNvSpPr>
              <p:nvPr/>
            </p:nvSpPr>
            <p:spPr bwMode="auto">
              <a:xfrm>
                <a:off x="6644879" y="1417953"/>
                <a:ext cx="479007" cy="404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 dirty="0" smtClean="0">
                    <a:solidFill>
                      <a:srgbClr val="A5002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</a:t>
                </a:r>
                <a:endParaRPr lang="en-US" altLang="zh-CN" sz="2400" b="1" dirty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6717387" y="2508966"/>
              <a:ext cx="592626" cy="1055892"/>
              <a:chOff x="6717387" y="2508966"/>
              <a:chExt cx="592626" cy="1055892"/>
            </a:xfrm>
          </p:grpSpPr>
          <p:grpSp>
            <p:nvGrpSpPr>
              <p:cNvPr id="48" name="Group 46"/>
              <p:cNvGrpSpPr>
                <a:grpSpLocks/>
              </p:cNvGrpSpPr>
              <p:nvPr/>
            </p:nvGrpSpPr>
            <p:grpSpPr bwMode="auto">
              <a:xfrm>
                <a:off x="6966255" y="2508966"/>
                <a:ext cx="343758" cy="702001"/>
                <a:chOff x="3977" y="1492"/>
                <a:chExt cx="244" cy="505"/>
              </a:xfrm>
            </p:grpSpPr>
            <p:sp>
              <p:nvSpPr>
                <p:cNvPr id="49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4005" y="1492"/>
                  <a:ext cx="216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Oval 48"/>
                <p:cNvSpPr>
                  <a:spLocks noChangeArrowheads="1"/>
                </p:cNvSpPr>
                <p:nvPr/>
              </p:nvSpPr>
              <p:spPr bwMode="auto">
                <a:xfrm>
                  <a:off x="3977" y="1932"/>
                  <a:ext cx="64" cy="65"/>
                </a:xfrm>
                <a:prstGeom prst="ellipse">
                  <a:avLst/>
                </a:prstGeom>
                <a:solidFill>
                  <a:srgbClr val="006600"/>
                </a:solidFill>
                <a:ln w="6350">
                  <a:solidFill>
                    <a:srgbClr val="00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6" name="Text Box 20"/>
              <p:cNvSpPr txBox="1">
                <a:spLocks noChangeArrowheads="1"/>
              </p:cNvSpPr>
              <p:nvPr/>
            </p:nvSpPr>
            <p:spPr bwMode="auto">
              <a:xfrm>
                <a:off x="6717387" y="3160599"/>
                <a:ext cx="479007" cy="404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 dirty="0" smtClean="0">
                    <a:solidFill>
                      <a:srgbClr val="0066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</a:t>
                </a:r>
                <a:endParaRPr lang="en-US" altLang="zh-CN" sz="2400" b="1" dirty="0">
                  <a:solidFill>
                    <a:srgbClr val="0066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</p:grpSp>
      </p:grpSp>
      <p:grpSp>
        <p:nvGrpSpPr>
          <p:cNvPr id="77" name="组合 76"/>
          <p:cNvGrpSpPr/>
          <p:nvPr/>
        </p:nvGrpSpPr>
        <p:grpSpPr>
          <a:xfrm>
            <a:off x="2670204" y="1055174"/>
            <a:ext cx="1663142" cy="2248144"/>
            <a:chOff x="2612538" y="1944878"/>
            <a:chExt cx="1663142" cy="2248144"/>
          </a:xfrm>
        </p:grpSpPr>
        <p:grpSp>
          <p:nvGrpSpPr>
            <p:cNvPr id="75" name="组合 74"/>
            <p:cNvGrpSpPr/>
            <p:nvPr/>
          </p:nvGrpSpPr>
          <p:grpSpPr>
            <a:xfrm>
              <a:off x="2612538" y="2050144"/>
              <a:ext cx="1172935" cy="2142878"/>
              <a:chOff x="2612538" y="2050144"/>
              <a:chExt cx="1172935" cy="2142878"/>
            </a:xfrm>
          </p:grpSpPr>
          <p:sp>
            <p:nvSpPr>
              <p:cNvPr id="26" name="Line 24"/>
              <p:cNvSpPr>
                <a:spLocks noChangeShapeType="1"/>
              </p:cNvSpPr>
              <p:nvPr/>
            </p:nvSpPr>
            <p:spPr bwMode="auto">
              <a:xfrm flipH="1">
                <a:off x="2612538" y="2050144"/>
                <a:ext cx="1172935" cy="1761878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24"/>
              <p:cNvSpPr>
                <a:spLocks noChangeShapeType="1"/>
              </p:cNvSpPr>
              <p:nvPr/>
            </p:nvSpPr>
            <p:spPr bwMode="auto">
              <a:xfrm flipH="1">
                <a:off x="2701437" y="2314574"/>
                <a:ext cx="671387" cy="1008497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24"/>
              <p:cNvSpPr>
                <a:spLocks noChangeShapeType="1"/>
              </p:cNvSpPr>
              <p:nvPr/>
            </p:nvSpPr>
            <p:spPr bwMode="auto">
              <a:xfrm flipH="1">
                <a:off x="2707786" y="2473326"/>
                <a:ext cx="1034941" cy="1554596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24"/>
              <p:cNvSpPr>
                <a:spLocks noChangeShapeType="1"/>
              </p:cNvSpPr>
              <p:nvPr/>
            </p:nvSpPr>
            <p:spPr bwMode="auto">
              <a:xfrm flipH="1">
                <a:off x="2841136" y="2781336"/>
                <a:ext cx="939802" cy="1411686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3735930" y="1944878"/>
              <a:ext cx="5397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</a:t>
              </a:r>
              <a:endParaRPr lang="en-US" altLang="zh-CN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2232616" y="1064139"/>
            <a:ext cx="1631389" cy="2132010"/>
            <a:chOff x="2174950" y="1953843"/>
            <a:chExt cx="1631389" cy="2132010"/>
          </a:xfrm>
        </p:grpSpPr>
        <p:grpSp>
          <p:nvGrpSpPr>
            <p:cNvPr id="76" name="组合 75"/>
            <p:cNvGrpSpPr/>
            <p:nvPr/>
          </p:nvGrpSpPr>
          <p:grpSpPr>
            <a:xfrm>
              <a:off x="2620249" y="2046968"/>
              <a:ext cx="1186090" cy="2038885"/>
              <a:chOff x="2620249" y="2046968"/>
              <a:chExt cx="1186090" cy="2038885"/>
            </a:xfrm>
          </p:grpSpPr>
          <p:sp>
            <p:nvSpPr>
              <p:cNvPr id="22" name="Line 20"/>
              <p:cNvSpPr>
                <a:spLocks noChangeShapeType="1"/>
              </p:cNvSpPr>
              <p:nvPr/>
            </p:nvSpPr>
            <p:spPr bwMode="auto">
              <a:xfrm>
                <a:off x="2620249" y="2046968"/>
                <a:ext cx="1186090" cy="1781637"/>
              </a:xfrm>
              <a:prstGeom prst="line">
                <a:avLst/>
              </a:prstGeom>
              <a:noFill/>
              <a:ln w="127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20"/>
              <p:cNvSpPr>
                <a:spLocks noChangeShapeType="1"/>
              </p:cNvSpPr>
              <p:nvPr/>
            </p:nvSpPr>
            <p:spPr bwMode="auto">
              <a:xfrm>
                <a:off x="3004457" y="2333172"/>
                <a:ext cx="560390" cy="831850"/>
              </a:xfrm>
              <a:prstGeom prst="line">
                <a:avLst/>
              </a:prstGeom>
              <a:noFill/>
              <a:ln w="12700">
                <a:solidFill>
                  <a:srgbClr val="0066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20"/>
              <p:cNvSpPr>
                <a:spLocks noChangeShapeType="1"/>
              </p:cNvSpPr>
              <p:nvPr/>
            </p:nvSpPr>
            <p:spPr bwMode="auto">
              <a:xfrm>
                <a:off x="2632949" y="2365144"/>
                <a:ext cx="1040091" cy="1562331"/>
              </a:xfrm>
              <a:prstGeom prst="line">
                <a:avLst/>
              </a:prstGeom>
              <a:noFill/>
              <a:ln w="12700">
                <a:solidFill>
                  <a:srgbClr val="0066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20"/>
              <p:cNvSpPr>
                <a:spLocks noChangeShapeType="1"/>
              </p:cNvSpPr>
              <p:nvPr/>
            </p:nvSpPr>
            <p:spPr bwMode="auto">
              <a:xfrm>
                <a:off x="2645649" y="2733444"/>
                <a:ext cx="900340" cy="1352409"/>
              </a:xfrm>
              <a:prstGeom prst="line">
                <a:avLst/>
              </a:prstGeom>
              <a:noFill/>
              <a:ln w="12700">
                <a:solidFill>
                  <a:srgbClr val="0066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" name="Text Box 20"/>
            <p:cNvSpPr txBox="1">
              <a:spLocks noChangeArrowheads="1"/>
            </p:cNvSpPr>
            <p:nvPr/>
          </p:nvSpPr>
          <p:spPr bwMode="auto">
            <a:xfrm>
              <a:off x="2174950" y="1953843"/>
              <a:ext cx="5397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0066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</a:t>
              </a:r>
              <a:endParaRPr lang="en-US" altLang="zh-CN" sz="24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271644" y="1072673"/>
            <a:ext cx="434549" cy="396875"/>
            <a:chOff x="3213978" y="1962377"/>
            <a:chExt cx="434549" cy="396875"/>
          </a:xfrm>
        </p:grpSpPr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3213978" y="1962377"/>
              <a:ext cx="38576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Arial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 flipH="1">
              <a:off x="3525129" y="2051279"/>
              <a:ext cx="123398" cy="189364"/>
            </a:xfrm>
            <a:custGeom>
              <a:avLst/>
              <a:gdLst>
                <a:gd name="T0" fmla="*/ 53 w 53"/>
                <a:gd name="T1" fmla="*/ 0 h 98"/>
                <a:gd name="T2" fmla="*/ 39 w 53"/>
                <a:gd name="T3" fmla="*/ 45 h 98"/>
                <a:gd name="T4" fmla="*/ 0 w 53"/>
                <a:gd name="T5" fmla="*/ 98 h 98"/>
                <a:gd name="T6" fmla="*/ 0 60000 65536"/>
                <a:gd name="T7" fmla="*/ 0 60000 65536"/>
                <a:gd name="T8" fmla="*/ 0 60000 65536"/>
                <a:gd name="T9" fmla="*/ 0 w 53"/>
                <a:gd name="T10" fmla="*/ 0 h 98"/>
                <a:gd name="T11" fmla="*/ 53 w 53"/>
                <a:gd name="T12" fmla="*/ 98 h 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98">
                  <a:moveTo>
                    <a:pt x="53" y="0"/>
                  </a:moveTo>
                  <a:cubicBezTo>
                    <a:pt x="50" y="14"/>
                    <a:pt x="48" y="29"/>
                    <a:pt x="39" y="45"/>
                  </a:cubicBezTo>
                  <a:cubicBezTo>
                    <a:pt x="30" y="61"/>
                    <a:pt x="15" y="79"/>
                    <a:pt x="0" y="98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809936" y="1068365"/>
            <a:ext cx="410905" cy="396875"/>
            <a:chOff x="2752270" y="1958069"/>
            <a:chExt cx="410905" cy="396875"/>
          </a:xfrm>
        </p:grpSpPr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2777412" y="1958069"/>
              <a:ext cx="3857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Arial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2752270" y="2051958"/>
              <a:ext cx="132443" cy="181428"/>
            </a:xfrm>
            <a:custGeom>
              <a:avLst/>
              <a:gdLst>
                <a:gd name="T0" fmla="*/ 53 w 53"/>
                <a:gd name="T1" fmla="*/ 0 h 98"/>
                <a:gd name="T2" fmla="*/ 39 w 53"/>
                <a:gd name="T3" fmla="*/ 45 h 98"/>
                <a:gd name="T4" fmla="*/ 0 w 53"/>
                <a:gd name="T5" fmla="*/ 98 h 98"/>
                <a:gd name="T6" fmla="*/ 0 60000 65536"/>
                <a:gd name="T7" fmla="*/ 0 60000 65536"/>
                <a:gd name="T8" fmla="*/ 0 60000 65536"/>
                <a:gd name="T9" fmla="*/ 0 w 53"/>
                <a:gd name="T10" fmla="*/ 0 h 98"/>
                <a:gd name="T11" fmla="*/ 53 w 53"/>
                <a:gd name="T12" fmla="*/ 98 h 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98">
                  <a:moveTo>
                    <a:pt x="53" y="0"/>
                  </a:moveTo>
                  <a:cubicBezTo>
                    <a:pt x="50" y="14"/>
                    <a:pt x="48" y="29"/>
                    <a:pt x="39" y="45"/>
                  </a:cubicBezTo>
                  <a:cubicBezTo>
                    <a:pt x="30" y="61"/>
                    <a:pt x="15" y="79"/>
                    <a:pt x="0" y="98"/>
                  </a:cubicBezTo>
                </a:path>
              </a:pathLst>
            </a:custGeom>
            <a:noFill/>
            <a:ln w="19050">
              <a:solidFill>
                <a:srgbClr val="00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Text Box 7"/>
          <p:cNvSpPr txBox="1">
            <a:spLocks noChangeArrowheads="1"/>
          </p:cNvSpPr>
          <p:nvPr/>
        </p:nvSpPr>
        <p:spPr bwMode="auto">
          <a:xfrm>
            <a:off x="-9526" y="0"/>
            <a:ext cx="58089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土单元破坏的判断方法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83" name="Text Box 3"/>
          <p:cNvSpPr txBox="1">
            <a:spLocks noChangeArrowheads="1"/>
          </p:cNvSpPr>
          <p:nvPr/>
        </p:nvSpPr>
        <p:spPr bwMode="auto">
          <a:xfrm>
            <a:off x="2001623" y="5757520"/>
            <a:ext cx="66595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剪切破坏面的位置</a:t>
            </a:r>
          </a:p>
        </p:txBody>
      </p:sp>
    </p:spTree>
    <p:extLst>
      <p:ext uri="{BB962C8B-B14F-4D97-AF65-F5344CB8AC3E}">
        <p14:creationId xmlns:p14="http://schemas.microsoft.com/office/powerpoint/2010/main" val="280846856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073078" y="490515"/>
            <a:ext cx="2525347" cy="3582308"/>
            <a:chOff x="2015412" y="1380219"/>
            <a:chExt cx="2525347" cy="3582308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4070889" y="2683557"/>
              <a:ext cx="46987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619299" y="2045382"/>
              <a:ext cx="1172252" cy="2347200"/>
            </a:xfrm>
            <a:prstGeom prst="rect">
              <a:avLst/>
            </a:prstGeom>
            <a:solidFill>
              <a:srgbClr val="CC99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Aspect="1" noChangeShapeType="1"/>
            </p:cNvSpPr>
            <p:nvPr/>
          </p:nvSpPr>
          <p:spPr bwMode="auto">
            <a:xfrm>
              <a:off x="3198967" y="1464357"/>
              <a:ext cx="0" cy="587375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3268398" y="1380219"/>
              <a:ext cx="544144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1f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1" name="Line 11"/>
            <p:cNvSpPr>
              <a:spLocks noChangeAspect="1" noChangeShapeType="1"/>
            </p:cNvSpPr>
            <p:nvPr/>
          </p:nvSpPr>
          <p:spPr bwMode="auto">
            <a:xfrm flipH="1">
              <a:off x="3794781" y="3218544"/>
              <a:ext cx="599043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2"/>
            <p:cNvSpPr>
              <a:spLocks noChangeAspect="1" noChangeShapeType="1"/>
            </p:cNvSpPr>
            <p:nvPr/>
          </p:nvSpPr>
          <p:spPr bwMode="auto">
            <a:xfrm rot="10800000" flipH="1">
              <a:off x="2015412" y="3212194"/>
              <a:ext cx="563521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Aspect="1" noChangeShapeType="1"/>
            </p:cNvSpPr>
            <p:nvPr/>
          </p:nvSpPr>
          <p:spPr bwMode="auto">
            <a:xfrm rot="10800000">
              <a:off x="3199358" y="4375152"/>
              <a:ext cx="0" cy="587375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4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565510"/>
              </p:ext>
            </p:extLst>
          </p:nvPr>
        </p:nvGraphicFramePr>
        <p:xfrm>
          <a:off x="1250094" y="4727469"/>
          <a:ext cx="1443680" cy="745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107" name="公式" r:id="rId4" imgW="761760" imgH="393480" progId="Equation.3">
                  <p:embed/>
                </p:oleObj>
              </mc:Choice>
              <mc:Fallback>
                <p:oleObj name="公式" r:id="rId4" imgW="761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094" y="4727469"/>
                        <a:ext cx="1443680" cy="74508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618072" y="4158442"/>
            <a:ext cx="30367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271463" indent="-271463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与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大主应力面夹角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:</a:t>
            </a:r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6876545" y="1868625"/>
            <a:ext cx="484650" cy="607466"/>
            <a:chOff x="4153" y="1061"/>
            <a:chExt cx="344" cy="437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4157" y="1061"/>
              <a:ext cx="3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dirty="0">
                  <a:cs typeface="Arial" charset="0"/>
                  <a:sym typeface="Symbol" pitchFamily="18" charset="2"/>
                </a:rPr>
                <a:t>2</a:t>
              </a:r>
              <a:r>
                <a:rPr lang="en-US" altLang="zh-CN" sz="2000" b="1" i="1" dirty="0">
                  <a:cs typeface="Arial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18" name="Arc 16"/>
            <p:cNvSpPr>
              <a:spLocks/>
            </p:cNvSpPr>
            <p:nvPr/>
          </p:nvSpPr>
          <p:spPr bwMode="auto">
            <a:xfrm flipH="1" flipV="1">
              <a:off x="4153" y="1310"/>
              <a:ext cx="267" cy="188"/>
            </a:xfrm>
            <a:custGeom>
              <a:avLst/>
              <a:gdLst>
                <a:gd name="T0" fmla="*/ 267 w 33431"/>
                <a:gd name="T1" fmla="*/ 157 h 21600"/>
                <a:gd name="T2" fmla="*/ 0 w 33431"/>
                <a:gd name="T3" fmla="*/ 3 h 21600"/>
                <a:gd name="T4" fmla="*/ 172 w 33431"/>
                <a:gd name="T5" fmla="*/ 0 h 21600"/>
                <a:gd name="T6" fmla="*/ 0 60000 65536"/>
                <a:gd name="T7" fmla="*/ 0 60000 65536"/>
                <a:gd name="T8" fmla="*/ 0 60000 65536"/>
                <a:gd name="T9" fmla="*/ 0 w 33431"/>
                <a:gd name="T10" fmla="*/ 0 h 21600"/>
                <a:gd name="T11" fmla="*/ 33431 w 3343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431" h="21600" fill="none" extrusionOk="0">
                  <a:moveTo>
                    <a:pt x="33430" y="18069"/>
                  </a:moveTo>
                  <a:cubicBezTo>
                    <a:pt x="29913" y="20373"/>
                    <a:pt x="25801" y="21599"/>
                    <a:pt x="21597" y="21600"/>
                  </a:cubicBezTo>
                  <a:cubicBezTo>
                    <a:pt x="9805" y="21600"/>
                    <a:pt x="192" y="12143"/>
                    <a:pt x="-1" y="353"/>
                  </a:cubicBezTo>
                </a:path>
                <a:path w="33431" h="21600" stroke="0" extrusionOk="0">
                  <a:moveTo>
                    <a:pt x="33430" y="18069"/>
                  </a:moveTo>
                  <a:cubicBezTo>
                    <a:pt x="29913" y="20373"/>
                    <a:pt x="25801" y="21599"/>
                    <a:pt x="21597" y="21600"/>
                  </a:cubicBezTo>
                  <a:cubicBezTo>
                    <a:pt x="9805" y="21600"/>
                    <a:pt x="192" y="12143"/>
                    <a:pt x="-1" y="353"/>
                  </a:cubicBezTo>
                  <a:lnTo>
                    <a:pt x="21597" y="0"/>
                  </a:lnTo>
                  <a:close/>
                </a:path>
              </a:pathLst>
            </a:custGeom>
            <a:noFill/>
            <a:ln w="1905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7613318" y="1753450"/>
            <a:ext cx="14812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2</a:t>
            </a:r>
            <a:r>
              <a:rPr lang="en-US" altLang="zh-CN" sz="2000" b="1" i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 </a:t>
            </a:r>
            <a:r>
              <a:rPr lang="en-US" altLang="zh-CN" sz="20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rgbClr val="C00000"/>
                </a:solidFill>
                <a:cs typeface="Arial" charset="0"/>
                <a:sym typeface="Symbol" pitchFamily="18" charset="2"/>
              </a:rPr>
              <a:t>90</a:t>
            </a:r>
            <a:r>
              <a:rPr lang="en-US" altLang="zh-CN" sz="20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+</a:t>
            </a:r>
            <a:r>
              <a:rPr lang="en-US" altLang="zh-CN" sz="2000" b="1" i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000" b="1" i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en-US" altLang="zh-CN" sz="2000" b="1" dirty="0">
              <a:solidFill>
                <a:srgbClr val="C00000"/>
              </a:solidFill>
              <a:cs typeface="Arial" charset="0"/>
              <a:sym typeface="Symbol" pitchFamily="18" charset="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022415" y="786439"/>
            <a:ext cx="3500928" cy="2736838"/>
            <a:chOff x="5360173" y="827629"/>
            <a:chExt cx="3500928" cy="2736838"/>
          </a:xfrm>
        </p:grpSpPr>
        <p:grpSp>
          <p:nvGrpSpPr>
            <p:cNvPr id="20" name="组合 19"/>
            <p:cNvGrpSpPr/>
            <p:nvPr/>
          </p:nvGrpSpPr>
          <p:grpSpPr>
            <a:xfrm>
              <a:off x="5360173" y="827629"/>
              <a:ext cx="3500928" cy="1691671"/>
              <a:chOff x="5360173" y="827629"/>
              <a:chExt cx="3500928" cy="1691671"/>
            </a:xfrm>
          </p:grpSpPr>
          <p:sp>
            <p:nvSpPr>
              <p:cNvPr id="70" name="Freeform 15"/>
              <p:cNvSpPr>
                <a:spLocks/>
              </p:cNvSpPr>
              <p:nvPr/>
            </p:nvSpPr>
            <p:spPr bwMode="auto">
              <a:xfrm>
                <a:off x="7786576" y="1522343"/>
                <a:ext cx="45719" cy="141265"/>
              </a:xfrm>
              <a:custGeom>
                <a:avLst/>
                <a:gdLst>
                  <a:gd name="T0" fmla="*/ 19 w 24"/>
                  <a:gd name="T1" fmla="*/ 113 h 113"/>
                  <a:gd name="T2" fmla="*/ 21 w 24"/>
                  <a:gd name="T3" fmla="*/ 56 h 113"/>
                  <a:gd name="T4" fmla="*/ 0 w 24"/>
                  <a:gd name="T5" fmla="*/ 0 h 113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113"/>
                  <a:gd name="T11" fmla="*/ 24 w 24"/>
                  <a:gd name="T12" fmla="*/ 113 h 1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113">
                    <a:moveTo>
                      <a:pt x="19" y="113"/>
                    </a:moveTo>
                    <a:cubicBezTo>
                      <a:pt x="19" y="104"/>
                      <a:pt x="24" y="75"/>
                      <a:pt x="21" y="56"/>
                    </a:cubicBezTo>
                    <a:cubicBezTo>
                      <a:pt x="18" y="37"/>
                      <a:pt x="4" y="12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Line 11"/>
              <p:cNvSpPr>
                <a:spLocks noChangeShapeType="1"/>
              </p:cNvSpPr>
              <p:nvPr/>
            </p:nvSpPr>
            <p:spPr bwMode="auto">
              <a:xfrm>
                <a:off x="7477090" y="1665198"/>
                <a:ext cx="55354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36"/>
              <p:cNvSpPr>
                <a:spLocks noChangeShapeType="1"/>
              </p:cNvSpPr>
              <p:nvPr/>
            </p:nvSpPr>
            <p:spPr bwMode="auto">
              <a:xfrm flipV="1">
                <a:off x="5360173" y="1401233"/>
                <a:ext cx="2733850" cy="1118067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Text Box 10"/>
              <p:cNvSpPr txBox="1">
                <a:spLocks noChangeArrowheads="1"/>
              </p:cNvSpPr>
              <p:nvPr/>
            </p:nvSpPr>
            <p:spPr bwMode="auto">
              <a:xfrm>
                <a:off x="7198988" y="827629"/>
                <a:ext cx="1662113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solidFill>
                      <a:srgbClr val="C00000"/>
                    </a:solidFill>
                    <a:ea typeface="幼圆" pitchFamily="49" charset="-122"/>
                    <a:sym typeface="Symbol" pitchFamily="18" charset="2"/>
                  </a:rPr>
                  <a:t></a:t>
                </a:r>
                <a:r>
                  <a:rPr lang="en-US" altLang="zh-CN" sz="2000" b="1" baseline="-25000" dirty="0" smtClean="0">
                    <a:solidFill>
                      <a:srgbClr val="C00000"/>
                    </a:solidFill>
                    <a:ea typeface="幼圆" pitchFamily="49" charset="-122"/>
                    <a:sym typeface="Symbol" pitchFamily="18" charset="2"/>
                  </a:rPr>
                  <a:t>f </a:t>
                </a:r>
                <a:r>
                  <a:rPr lang="en-US" altLang="zh-CN" sz="2000" b="1" dirty="0" smtClean="0">
                    <a:solidFill>
                      <a:srgbClr val="C00000"/>
                    </a:solidFill>
                    <a:ea typeface="幼圆" pitchFamily="49" charset="-122"/>
                  </a:rPr>
                  <a:t>= </a:t>
                </a:r>
                <a:r>
                  <a:rPr lang="en-US" altLang="zh-CN" sz="2000" b="1" i="1" dirty="0" smtClean="0">
                    <a:solidFill>
                      <a:srgbClr val="C00000"/>
                    </a:solidFill>
                    <a:ea typeface="幼圆" pitchFamily="49" charset="-122"/>
                  </a:rPr>
                  <a:t>c </a:t>
                </a:r>
                <a:r>
                  <a:rPr lang="en-US" altLang="zh-CN" sz="2000" b="1" dirty="0" smtClean="0">
                    <a:solidFill>
                      <a:srgbClr val="C00000"/>
                    </a:solidFill>
                    <a:ea typeface="幼圆" pitchFamily="49" charset="-122"/>
                  </a:rPr>
                  <a:t>+</a:t>
                </a:r>
                <a:r>
                  <a:rPr lang="en-US" altLang="zh-CN" sz="2000" b="1" i="1" dirty="0" smtClean="0">
                    <a:solidFill>
                      <a:srgbClr val="C00000"/>
                    </a:solidFill>
                    <a:ea typeface="幼圆" pitchFamily="49" charset="-122"/>
                    <a:sym typeface="Symbol" pitchFamily="18" charset="2"/>
                  </a:rPr>
                  <a:t> </a:t>
                </a:r>
                <a:r>
                  <a:rPr lang="en-US" altLang="zh-CN" sz="2000" b="1" dirty="0" smtClean="0">
                    <a:solidFill>
                      <a:srgbClr val="C00000"/>
                    </a:solidFill>
                    <a:ea typeface="幼圆" pitchFamily="49" charset="-122"/>
                  </a:rPr>
                  <a:t>tan</a:t>
                </a:r>
                <a:r>
                  <a:rPr lang="en-US" altLang="zh-CN" sz="2000" b="1" i="1" dirty="0" smtClean="0">
                    <a:solidFill>
                      <a:srgbClr val="C00000"/>
                    </a:solidFill>
                    <a:ea typeface="幼圆" pitchFamily="49" charset="-122"/>
                    <a:sym typeface="Symbol"/>
                  </a:rPr>
                  <a:t></a:t>
                </a:r>
                <a:endParaRPr lang="zh-CN" altLang="en-US" sz="2000" b="1" i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61" name="Line 11"/>
              <p:cNvSpPr>
                <a:spLocks noChangeShapeType="1"/>
              </p:cNvSpPr>
              <p:nvPr/>
            </p:nvSpPr>
            <p:spPr bwMode="auto">
              <a:xfrm flipH="1" flipV="1">
                <a:off x="7567436" y="1207936"/>
                <a:ext cx="121813" cy="3287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Text Box 18"/>
              <p:cNvSpPr txBox="1">
                <a:spLocks noChangeArrowheads="1"/>
              </p:cNvSpPr>
              <p:nvPr/>
            </p:nvSpPr>
            <p:spPr bwMode="auto">
              <a:xfrm>
                <a:off x="7863181" y="1300898"/>
                <a:ext cx="347663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i="1" dirty="0" smtClean="0">
                    <a:solidFill>
                      <a:srgbClr val="C00000"/>
                    </a:solidFill>
                    <a:cs typeface="Arial" charset="0"/>
                    <a:sym typeface="Symbol"/>
                  </a:rPr>
                  <a:t></a:t>
                </a:r>
                <a:endParaRPr lang="zh-CN" altLang="en-US" sz="2000" b="1" i="1" dirty="0">
                  <a:solidFill>
                    <a:srgbClr val="C00000"/>
                  </a:solidFill>
                  <a:cs typeface="Arial" charset="0"/>
                  <a:sym typeface="Symbol" pitchFamily="18" charset="2"/>
                </a:endParaRPr>
              </a:p>
            </p:txBody>
          </p:sp>
        </p:grp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5365808" y="2520690"/>
              <a:ext cx="2567733" cy="104377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833630" y="968460"/>
            <a:ext cx="3617912" cy="2231111"/>
            <a:chOff x="5171388" y="1009650"/>
            <a:chExt cx="3617912" cy="2231111"/>
          </a:xfrm>
        </p:grpSpPr>
        <p:sp>
          <p:nvSpPr>
            <p:cNvPr id="32" name="Oval 30"/>
            <p:cNvSpPr>
              <a:spLocks noChangeArrowheads="1"/>
            </p:cNvSpPr>
            <p:nvPr/>
          </p:nvSpPr>
          <p:spPr bwMode="auto">
            <a:xfrm>
              <a:off x="6549237" y="1783936"/>
              <a:ext cx="1517325" cy="1456825"/>
            </a:xfrm>
            <a:prstGeom prst="ellips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5171388" y="2527640"/>
              <a:ext cx="456465" cy="34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Times New Roman" panose="02020603050405020304" pitchFamily="18" charset="0"/>
                  <a:sym typeface="Symbol" pitchFamily="18" charset="2"/>
                </a:rPr>
                <a:t>O</a:t>
              </a: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5181250" y="1009650"/>
              <a:ext cx="3608050" cy="2219991"/>
              <a:chOff x="5231151" y="1543050"/>
              <a:chExt cx="3608050" cy="2219991"/>
            </a:xfrm>
          </p:grpSpPr>
          <p:sp>
            <p:nvSpPr>
              <p:cNvPr id="30" name="Text Box 28"/>
              <p:cNvSpPr txBox="1">
                <a:spLocks noChangeArrowheads="1"/>
              </p:cNvSpPr>
              <p:nvPr/>
            </p:nvSpPr>
            <p:spPr bwMode="auto">
              <a:xfrm>
                <a:off x="8496851" y="2990145"/>
                <a:ext cx="342350" cy="3697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600" b="1" i="1" dirty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</a:p>
            </p:txBody>
          </p:sp>
          <p:sp>
            <p:nvSpPr>
              <p:cNvPr id="33" name="Text Box 31"/>
              <p:cNvSpPr txBox="1">
                <a:spLocks noChangeArrowheads="1"/>
              </p:cNvSpPr>
              <p:nvPr/>
            </p:nvSpPr>
            <p:spPr bwMode="auto">
              <a:xfrm>
                <a:off x="5646760" y="1543050"/>
                <a:ext cx="342350" cy="3697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600" b="1" i="1">
                    <a:cs typeface="Times New Roman" panose="02020603050405020304" pitchFamily="18" charset="0"/>
                    <a:sym typeface="Symbol" pitchFamily="18" charset="2"/>
                  </a:rPr>
                  <a:t></a:t>
                </a:r>
              </a:p>
            </p:txBody>
          </p:sp>
          <p:sp>
            <p:nvSpPr>
              <p:cNvPr id="36" name="Line 34"/>
              <p:cNvSpPr>
                <a:spLocks noChangeShapeType="1"/>
              </p:cNvSpPr>
              <p:nvPr/>
            </p:nvSpPr>
            <p:spPr bwMode="auto">
              <a:xfrm flipV="1">
                <a:off x="5952479" y="1694571"/>
                <a:ext cx="0" cy="20684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35"/>
              <p:cNvSpPr>
                <a:spLocks noChangeShapeType="1"/>
              </p:cNvSpPr>
              <p:nvPr/>
            </p:nvSpPr>
            <p:spPr bwMode="auto">
              <a:xfrm>
                <a:off x="5231151" y="3051310"/>
                <a:ext cx="33924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6301281" y="2449794"/>
              <a:ext cx="2286554" cy="287752"/>
              <a:chOff x="6301281" y="2449794"/>
              <a:chExt cx="2286554" cy="287752"/>
            </a:xfrm>
          </p:grpSpPr>
          <p:sp>
            <p:nvSpPr>
              <p:cNvPr id="35" name="Text Box 33"/>
              <p:cNvSpPr txBox="1">
                <a:spLocks noChangeArrowheads="1"/>
              </p:cNvSpPr>
              <p:nvPr/>
            </p:nvSpPr>
            <p:spPr bwMode="auto">
              <a:xfrm>
                <a:off x="8069380" y="2451185"/>
                <a:ext cx="518455" cy="286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cs typeface="Arial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cs typeface="Arial" charset="0"/>
                    <a:sym typeface="Symbol" pitchFamily="18" charset="2"/>
                  </a:rPr>
                  <a:t>1f</a:t>
                </a:r>
              </a:p>
            </p:txBody>
          </p:sp>
          <p:sp>
            <p:nvSpPr>
              <p:cNvPr id="40" name="Text Box 38"/>
              <p:cNvSpPr txBox="1">
                <a:spLocks noChangeArrowheads="1"/>
              </p:cNvSpPr>
              <p:nvPr/>
            </p:nvSpPr>
            <p:spPr bwMode="auto">
              <a:xfrm>
                <a:off x="6301281" y="2449794"/>
                <a:ext cx="518455" cy="286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cs typeface="Arial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cs typeface="Arial" charset="0"/>
                    <a:sym typeface="Symbol" pitchFamily="18" charset="2"/>
                  </a:rPr>
                  <a:t>3</a:t>
                </a:r>
              </a:p>
            </p:txBody>
          </p:sp>
        </p:grpSp>
      </p:grpSp>
      <p:grpSp>
        <p:nvGrpSpPr>
          <p:cNvPr id="51" name="Group 49"/>
          <p:cNvGrpSpPr>
            <a:grpSpLocks/>
          </p:cNvGrpSpPr>
          <p:nvPr/>
        </p:nvGrpSpPr>
        <p:grpSpPr bwMode="auto">
          <a:xfrm>
            <a:off x="6873699" y="2476142"/>
            <a:ext cx="481830" cy="569948"/>
            <a:chOff x="4151" y="1498"/>
            <a:chExt cx="342" cy="410"/>
          </a:xfrm>
        </p:grpSpPr>
        <p:sp>
          <p:nvSpPr>
            <p:cNvPr id="52" name="Text Box 50"/>
            <p:cNvSpPr txBox="1">
              <a:spLocks noChangeArrowheads="1"/>
            </p:cNvSpPr>
            <p:nvPr/>
          </p:nvSpPr>
          <p:spPr bwMode="auto">
            <a:xfrm>
              <a:off x="4153" y="1658"/>
              <a:ext cx="3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dirty="0">
                  <a:cs typeface="Arial" charset="0"/>
                  <a:sym typeface="Symbol" pitchFamily="18" charset="2"/>
                </a:rPr>
                <a:t>2</a:t>
              </a:r>
              <a:r>
                <a:rPr lang="en-US" altLang="zh-CN" sz="2000" b="1" i="1" dirty="0">
                  <a:cs typeface="Arial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53" name="Arc 51"/>
            <p:cNvSpPr>
              <a:spLocks/>
            </p:cNvSpPr>
            <p:nvPr/>
          </p:nvSpPr>
          <p:spPr bwMode="auto">
            <a:xfrm flipH="1">
              <a:off x="4151" y="1498"/>
              <a:ext cx="269" cy="188"/>
            </a:xfrm>
            <a:custGeom>
              <a:avLst/>
              <a:gdLst>
                <a:gd name="T0" fmla="*/ 269 w 33431"/>
                <a:gd name="T1" fmla="*/ 157 h 21600"/>
                <a:gd name="T2" fmla="*/ 0 w 33431"/>
                <a:gd name="T3" fmla="*/ 3 h 21600"/>
                <a:gd name="T4" fmla="*/ 174 w 33431"/>
                <a:gd name="T5" fmla="*/ 0 h 21600"/>
                <a:gd name="T6" fmla="*/ 0 60000 65536"/>
                <a:gd name="T7" fmla="*/ 0 60000 65536"/>
                <a:gd name="T8" fmla="*/ 0 60000 65536"/>
                <a:gd name="T9" fmla="*/ 0 w 33431"/>
                <a:gd name="T10" fmla="*/ 0 h 21600"/>
                <a:gd name="T11" fmla="*/ 33431 w 3343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431" h="21600" fill="none" extrusionOk="0">
                  <a:moveTo>
                    <a:pt x="33430" y="18069"/>
                  </a:moveTo>
                  <a:cubicBezTo>
                    <a:pt x="29913" y="20373"/>
                    <a:pt x="25801" y="21599"/>
                    <a:pt x="21597" y="21600"/>
                  </a:cubicBezTo>
                  <a:cubicBezTo>
                    <a:pt x="9805" y="21600"/>
                    <a:pt x="192" y="12143"/>
                    <a:pt x="-1" y="353"/>
                  </a:cubicBezTo>
                </a:path>
                <a:path w="33431" h="21600" stroke="0" extrusionOk="0">
                  <a:moveTo>
                    <a:pt x="33430" y="18069"/>
                  </a:moveTo>
                  <a:cubicBezTo>
                    <a:pt x="29913" y="20373"/>
                    <a:pt x="25801" y="21599"/>
                    <a:pt x="21597" y="21600"/>
                  </a:cubicBezTo>
                  <a:cubicBezTo>
                    <a:pt x="9805" y="21600"/>
                    <a:pt x="192" y="12143"/>
                    <a:pt x="-1" y="353"/>
                  </a:cubicBezTo>
                  <a:lnTo>
                    <a:pt x="21597" y="0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6307121" y="1376763"/>
            <a:ext cx="665135" cy="2146905"/>
            <a:chOff x="6644879" y="1417953"/>
            <a:chExt cx="665135" cy="2146905"/>
          </a:xfrm>
        </p:grpSpPr>
        <p:grpSp>
          <p:nvGrpSpPr>
            <p:cNvPr id="31" name="组合 30"/>
            <p:cNvGrpSpPr/>
            <p:nvPr/>
          </p:nvGrpSpPr>
          <p:grpSpPr>
            <a:xfrm>
              <a:off x="6644879" y="1417953"/>
              <a:ext cx="665135" cy="1095184"/>
              <a:chOff x="6644879" y="1417953"/>
              <a:chExt cx="665135" cy="1095184"/>
            </a:xfrm>
          </p:grpSpPr>
          <p:sp>
            <p:nvSpPr>
              <p:cNvPr id="46" name="Line 44"/>
              <p:cNvSpPr>
                <a:spLocks noChangeShapeType="1"/>
              </p:cNvSpPr>
              <p:nvPr/>
            </p:nvSpPr>
            <p:spPr bwMode="auto">
              <a:xfrm flipH="1" flipV="1">
                <a:off x="7009930" y="1827817"/>
                <a:ext cx="300084" cy="685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Oval 45"/>
              <p:cNvSpPr>
                <a:spLocks noChangeArrowheads="1"/>
              </p:cNvSpPr>
              <p:nvPr/>
            </p:nvSpPr>
            <p:spPr bwMode="auto">
              <a:xfrm>
                <a:off x="6960620" y="1787504"/>
                <a:ext cx="92651" cy="90357"/>
              </a:xfrm>
              <a:prstGeom prst="ellipse">
                <a:avLst/>
              </a:prstGeom>
              <a:solidFill>
                <a:srgbClr val="800000"/>
              </a:solidFill>
              <a:ln w="6350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Text Box 20"/>
              <p:cNvSpPr txBox="1">
                <a:spLocks noChangeArrowheads="1"/>
              </p:cNvSpPr>
              <p:nvPr/>
            </p:nvSpPr>
            <p:spPr bwMode="auto">
              <a:xfrm>
                <a:off x="6644879" y="1417953"/>
                <a:ext cx="479007" cy="404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 dirty="0" smtClean="0">
                    <a:solidFill>
                      <a:srgbClr val="A5002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</a:t>
                </a:r>
                <a:endParaRPr lang="en-US" altLang="zh-CN" sz="2400" b="1" dirty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6717387" y="2508966"/>
              <a:ext cx="592626" cy="1055892"/>
              <a:chOff x="6717387" y="2508966"/>
              <a:chExt cx="592626" cy="1055892"/>
            </a:xfrm>
          </p:grpSpPr>
          <p:grpSp>
            <p:nvGrpSpPr>
              <p:cNvPr id="48" name="Group 46"/>
              <p:cNvGrpSpPr>
                <a:grpSpLocks/>
              </p:cNvGrpSpPr>
              <p:nvPr/>
            </p:nvGrpSpPr>
            <p:grpSpPr bwMode="auto">
              <a:xfrm>
                <a:off x="6966255" y="2508966"/>
                <a:ext cx="343758" cy="702001"/>
                <a:chOff x="3977" y="1492"/>
                <a:chExt cx="244" cy="505"/>
              </a:xfrm>
            </p:grpSpPr>
            <p:sp>
              <p:nvSpPr>
                <p:cNvPr id="49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4005" y="1492"/>
                  <a:ext cx="216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Oval 48"/>
                <p:cNvSpPr>
                  <a:spLocks noChangeArrowheads="1"/>
                </p:cNvSpPr>
                <p:nvPr/>
              </p:nvSpPr>
              <p:spPr bwMode="auto">
                <a:xfrm>
                  <a:off x="3977" y="1932"/>
                  <a:ext cx="64" cy="65"/>
                </a:xfrm>
                <a:prstGeom prst="ellipse">
                  <a:avLst/>
                </a:prstGeom>
                <a:solidFill>
                  <a:srgbClr val="006600"/>
                </a:solidFill>
                <a:ln w="6350">
                  <a:solidFill>
                    <a:srgbClr val="00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6" name="Text Box 20"/>
              <p:cNvSpPr txBox="1">
                <a:spLocks noChangeArrowheads="1"/>
              </p:cNvSpPr>
              <p:nvPr/>
            </p:nvSpPr>
            <p:spPr bwMode="auto">
              <a:xfrm>
                <a:off x="6717387" y="3160599"/>
                <a:ext cx="479007" cy="404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 dirty="0" smtClean="0">
                    <a:solidFill>
                      <a:srgbClr val="0066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</a:t>
                </a:r>
                <a:endParaRPr lang="en-US" altLang="zh-CN" sz="2400" b="1" dirty="0">
                  <a:solidFill>
                    <a:srgbClr val="0066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</p:grpSp>
      </p:grpSp>
      <p:grpSp>
        <p:nvGrpSpPr>
          <p:cNvPr id="77" name="组合 76"/>
          <p:cNvGrpSpPr/>
          <p:nvPr/>
        </p:nvGrpSpPr>
        <p:grpSpPr>
          <a:xfrm>
            <a:off x="2670204" y="1055174"/>
            <a:ext cx="1663142" cy="2248144"/>
            <a:chOff x="2612538" y="1944878"/>
            <a:chExt cx="1663142" cy="2248144"/>
          </a:xfrm>
        </p:grpSpPr>
        <p:grpSp>
          <p:nvGrpSpPr>
            <p:cNvPr id="75" name="组合 74"/>
            <p:cNvGrpSpPr/>
            <p:nvPr/>
          </p:nvGrpSpPr>
          <p:grpSpPr>
            <a:xfrm>
              <a:off x="2612538" y="2050144"/>
              <a:ext cx="1172935" cy="2142878"/>
              <a:chOff x="2612538" y="2050144"/>
              <a:chExt cx="1172935" cy="2142878"/>
            </a:xfrm>
          </p:grpSpPr>
          <p:sp>
            <p:nvSpPr>
              <p:cNvPr id="26" name="Line 24"/>
              <p:cNvSpPr>
                <a:spLocks noChangeShapeType="1"/>
              </p:cNvSpPr>
              <p:nvPr/>
            </p:nvSpPr>
            <p:spPr bwMode="auto">
              <a:xfrm flipH="1">
                <a:off x="2612538" y="2050144"/>
                <a:ext cx="1172935" cy="1761878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24"/>
              <p:cNvSpPr>
                <a:spLocks noChangeShapeType="1"/>
              </p:cNvSpPr>
              <p:nvPr/>
            </p:nvSpPr>
            <p:spPr bwMode="auto">
              <a:xfrm flipH="1">
                <a:off x="2701437" y="2314574"/>
                <a:ext cx="671387" cy="1008497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24"/>
              <p:cNvSpPr>
                <a:spLocks noChangeShapeType="1"/>
              </p:cNvSpPr>
              <p:nvPr/>
            </p:nvSpPr>
            <p:spPr bwMode="auto">
              <a:xfrm flipH="1">
                <a:off x="2707786" y="2473326"/>
                <a:ext cx="1034941" cy="1554596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24"/>
              <p:cNvSpPr>
                <a:spLocks noChangeShapeType="1"/>
              </p:cNvSpPr>
              <p:nvPr/>
            </p:nvSpPr>
            <p:spPr bwMode="auto">
              <a:xfrm flipH="1">
                <a:off x="2841136" y="2781336"/>
                <a:ext cx="939802" cy="1411686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3735930" y="1944878"/>
              <a:ext cx="5397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</a:t>
              </a:r>
              <a:endParaRPr lang="en-US" altLang="zh-CN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2232616" y="1064139"/>
            <a:ext cx="1631389" cy="2132010"/>
            <a:chOff x="2174950" y="1953843"/>
            <a:chExt cx="1631389" cy="2132010"/>
          </a:xfrm>
        </p:grpSpPr>
        <p:grpSp>
          <p:nvGrpSpPr>
            <p:cNvPr id="76" name="组合 75"/>
            <p:cNvGrpSpPr/>
            <p:nvPr/>
          </p:nvGrpSpPr>
          <p:grpSpPr>
            <a:xfrm>
              <a:off x="2620249" y="2046968"/>
              <a:ext cx="1186090" cy="2038885"/>
              <a:chOff x="2620249" y="2046968"/>
              <a:chExt cx="1186090" cy="2038885"/>
            </a:xfrm>
          </p:grpSpPr>
          <p:sp>
            <p:nvSpPr>
              <p:cNvPr id="22" name="Line 20"/>
              <p:cNvSpPr>
                <a:spLocks noChangeShapeType="1"/>
              </p:cNvSpPr>
              <p:nvPr/>
            </p:nvSpPr>
            <p:spPr bwMode="auto">
              <a:xfrm>
                <a:off x="2620249" y="2046968"/>
                <a:ext cx="1186090" cy="1781637"/>
              </a:xfrm>
              <a:prstGeom prst="line">
                <a:avLst/>
              </a:prstGeom>
              <a:noFill/>
              <a:ln w="127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20"/>
              <p:cNvSpPr>
                <a:spLocks noChangeShapeType="1"/>
              </p:cNvSpPr>
              <p:nvPr/>
            </p:nvSpPr>
            <p:spPr bwMode="auto">
              <a:xfrm>
                <a:off x="3004457" y="2333172"/>
                <a:ext cx="560390" cy="831850"/>
              </a:xfrm>
              <a:prstGeom prst="line">
                <a:avLst/>
              </a:prstGeom>
              <a:noFill/>
              <a:ln w="12700">
                <a:solidFill>
                  <a:srgbClr val="0066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20"/>
              <p:cNvSpPr>
                <a:spLocks noChangeShapeType="1"/>
              </p:cNvSpPr>
              <p:nvPr/>
            </p:nvSpPr>
            <p:spPr bwMode="auto">
              <a:xfrm>
                <a:off x="2632949" y="2365144"/>
                <a:ext cx="1040091" cy="1562331"/>
              </a:xfrm>
              <a:prstGeom prst="line">
                <a:avLst/>
              </a:prstGeom>
              <a:noFill/>
              <a:ln w="12700">
                <a:solidFill>
                  <a:srgbClr val="0066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20"/>
              <p:cNvSpPr>
                <a:spLocks noChangeShapeType="1"/>
              </p:cNvSpPr>
              <p:nvPr/>
            </p:nvSpPr>
            <p:spPr bwMode="auto">
              <a:xfrm>
                <a:off x="2645649" y="2733444"/>
                <a:ext cx="900340" cy="1352409"/>
              </a:xfrm>
              <a:prstGeom prst="line">
                <a:avLst/>
              </a:prstGeom>
              <a:noFill/>
              <a:ln w="12700">
                <a:solidFill>
                  <a:srgbClr val="0066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" name="Text Box 20"/>
            <p:cNvSpPr txBox="1">
              <a:spLocks noChangeArrowheads="1"/>
            </p:cNvSpPr>
            <p:nvPr/>
          </p:nvSpPr>
          <p:spPr bwMode="auto">
            <a:xfrm>
              <a:off x="2174950" y="1953843"/>
              <a:ext cx="5397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0066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</a:t>
              </a:r>
              <a:endParaRPr lang="en-US" altLang="zh-CN" sz="24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271644" y="1072673"/>
            <a:ext cx="434549" cy="396875"/>
            <a:chOff x="3213978" y="1962377"/>
            <a:chExt cx="434549" cy="396875"/>
          </a:xfrm>
        </p:grpSpPr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3213978" y="1962377"/>
              <a:ext cx="38576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Arial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 flipH="1">
              <a:off x="3525129" y="2051279"/>
              <a:ext cx="123398" cy="189364"/>
            </a:xfrm>
            <a:custGeom>
              <a:avLst/>
              <a:gdLst>
                <a:gd name="T0" fmla="*/ 53 w 53"/>
                <a:gd name="T1" fmla="*/ 0 h 98"/>
                <a:gd name="T2" fmla="*/ 39 w 53"/>
                <a:gd name="T3" fmla="*/ 45 h 98"/>
                <a:gd name="T4" fmla="*/ 0 w 53"/>
                <a:gd name="T5" fmla="*/ 98 h 98"/>
                <a:gd name="T6" fmla="*/ 0 60000 65536"/>
                <a:gd name="T7" fmla="*/ 0 60000 65536"/>
                <a:gd name="T8" fmla="*/ 0 60000 65536"/>
                <a:gd name="T9" fmla="*/ 0 w 53"/>
                <a:gd name="T10" fmla="*/ 0 h 98"/>
                <a:gd name="T11" fmla="*/ 53 w 53"/>
                <a:gd name="T12" fmla="*/ 98 h 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98">
                  <a:moveTo>
                    <a:pt x="53" y="0"/>
                  </a:moveTo>
                  <a:cubicBezTo>
                    <a:pt x="50" y="14"/>
                    <a:pt x="48" y="29"/>
                    <a:pt x="39" y="45"/>
                  </a:cubicBezTo>
                  <a:cubicBezTo>
                    <a:pt x="30" y="61"/>
                    <a:pt x="15" y="79"/>
                    <a:pt x="0" y="98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809936" y="1068365"/>
            <a:ext cx="410905" cy="396875"/>
            <a:chOff x="2752270" y="1958069"/>
            <a:chExt cx="410905" cy="396875"/>
          </a:xfrm>
        </p:grpSpPr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2777412" y="1958069"/>
              <a:ext cx="3857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Arial" charset="0"/>
                  <a:sym typeface="Symbol" pitchFamily="18" charset="2"/>
                </a:rPr>
                <a:t></a:t>
              </a: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2752270" y="2051958"/>
              <a:ext cx="132443" cy="181428"/>
            </a:xfrm>
            <a:custGeom>
              <a:avLst/>
              <a:gdLst>
                <a:gd name="T0" fmla="*/ 53 w 53"/>
                <a:gd name="T1" fmla="*/ 0 h 98"/>
                <a:gd name="T2" fmla="*/ 39 w 53"/>
                <a:gd name="T3" fmla="*/ 45 h 98"/>
                <a:gd name="T4" fmla="*/ 0 w 53"/>
                <a:gd name="T5" fmla="*/ 98 h 98"/>
                <a:gd name="T6" fmla="*/ 0 60000 65536"/>
                <a:gd name="T7" fmla="*/ 0 60000 65536"/>
                <a:gd name="T8" fmla="*/ 0 60000 65536"/>
                <a:gd name="T9" fmla="*/ 0 w 53"/>
                <a:gd name="T10" fmla="*/ 0 h 98"/>
                <a:gd name="T11" fmla="*/ 53 w 53"/>
                <a:gd name="T12" fmla="*/ 98 h 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98">
                  <a:moveTo>
                    <a:pt x="53" y="0"/>
                  </a:moveTo>
                  <a:cubicBezTo>
                    <a:pt x="50" y="14"/>
                    <a:pt x="48" y="29"/>
                    <a:pt x="39" y="45"/>
                  </a:cubicBezTo>
                  <a:cubicBezTo>
                    <a:pt x="30" y="61"/>
                    <a:pt x="15" y="79"/>
                    <a:pt x="0" y="98"/>
                  </a:cubicBezTo>
                </a:path>
              </a:pathLst>
            </a:custGeom>
            <a:noFill/>
            <a:ln w="19050">
              <a:solidFill>
                <a:srgbClr val="00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267280" y="1034347"/>
            <a:ext cx="1590125" cy="2505074"/>
            <a:chOff x="209614" y="1924051"/>
            <a:chExt cx="1590125" cy="2505074"/>
          </a:xfrm>
        </p:grpSpPr>
        <p:pic>
          <p:nvPicPr>
            <p:cNvPr id="73" name="图片 72" descr="sample_after_CU_triaxial.jpg"/>
            <p:cNvPicPr>
              <a:picLocks noChangeAspect="1"/>
            </p:cNvPicPr>
            <p:nvPr/>
          </p:nvPicPr>
          <p:blipFill rotWithShape="1">
            <a:blip r:embed="rId6" cstate="print"/>
            <a:srcRect l="10765" t="2609" r="7594" b="4562"/>
            <a:stretch/>
          </p:blipFill>
          <p:spPr>
            <a:xfrm>
              <a:off x="209614" y="1924051"/>
              <a:ext cx="1590125" cy="2505074"/>
            </a:xfrm>
            <a:prstGeom prst="rect">
              <a:avLst/>
            </a:prstGeom>
          </p:spPr>
        </p:pic>
        <p:grpSp>
          <p:nvGrpSpPr>
            <p:cNvPr id="98" name="组合 97"/>
            <p:cNvGrpSpPr/>
            <p:nvPr/>
          </p:nvGrpSpPr>
          <p:grpSpPr>
            <a:xfrm>
              <a:off x="380246" y="2294257"/>
              <a:ext cx="1137851" cy="1648527"/>
              <a:chOff x="380246" y="2294257"/>
              <a:chExt cx="1137851" cy="1648527"/>
            </a:xfrm>
          </p:grpSpPr>
          <p:cxnSp>
            <p:nvCxnSpPr>
              <p:cNvPr id="80" name="直接连接符 79"/>
              <p:cNvCxnSpPr/>
              <p:nvPr/>
            </p:nvCxnSpPr>
            <p:spPr bwMode="auto">
              <a:xfrm flipV="1">
                <a:off x="380246" y="2477822"/>
                <a:ext cx="978374" cy="1437803"/>
              </a:xfrm>
              <a:prstGeom prst="line">
                <a:avLst/>
              </a:prstGeom>
              <a:noFill/>
              <a:ln w="12700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2" name="直接连接符 81"/>
              <p:cNvCxnSpPr/>
              <p:nvPr/>
            </p:nvCxnSpPr>
            <p:spPr bwMode="auto">
              <a:xfrm>
                <a:off x="393826" y="2294257"/>
                <a:ext cx="1018515" cy="1348966"/>
              </a:xfrm>
              <a:prstGeom prst="line">
                <a:avLst/>
              </a:prstGeom>
              <a:noFill/>
              <a:ln w="12700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4" name="直接连接符 83"/>
              <p:cNvCxnSpPr/>
              <p:nvPr/>
            </p:nvCxnSpPr>
            <p:spPr bwMode="auto">
              <a:xfrm>
                <a:off x="924762" y="2523974"/>
                <a:ext cx="593335" cy="785838"/>
              </a:xfrm>
              <a:prstGeom prst="line">
                <a:avLst/>
              </a:prstGeom>
              <a:noFill/>
              <a:ln w="12700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8" name="直接连接符 87"/>
              <p:cNvCxnSpPr/>
              <p:nvPr/>
            </p:nvCxnSpPr>
            <p:spPr bwMode="auto">
              <a:xfrm flipV="1">
                <a:off x="473087" y="2769161"/>
                <a:ext cx="787458" cy="1173623"/>
              </a:xfrm>
              <a:prstGeom prst="line">
                <a:avLst/>
              </a:prstGeom>
              <a:noFill/>
              <a:ln w="12700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81" name="Text Box 7"/>
          <p:cNvSpPr txBox="1">
            <a:spLocks noChangeArrowheads="1"/>
          </p:cNvSpPr>
          <p:nvPr/>
        </p:nvSpPr>
        <p:spPr bwMode="auto">
          <a:xfrm>
            <a:off x="-9526" y="0"/>
            <a:ext cx="58089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土单元破坏的判断方法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83" name="Text Box 3"/>
          <p:cNvSpPr txBox="1">
            <a:spLocks noChangeArrowheads="1"/>
          </p:cNvSpPr>
          <p:nvPr/>
        </p:nvSpPr>
        <p:spPr bwMode="auto">
          <a:xfrm>
            <a:off x="2001623" y="5757520"/>
            <a:ext cx="66595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剪切破坏面的位置</a:t>
            </a:r>
          </a:p>
        </p:txBody>
      </p:sp>
      <p:sp>
        <p:nvSpPr>
          <p:cNvPr id="85" name="Rectangle 40"/>
          <p:cNvSpPr>
            <a:spLocks noChangeArrowheads="1"/>
          </p:cNvSpPr>
          <p:nvPr/>
        </p:nvSpPr>
        <p:spPr bwMode="auto">
          <a:xfrm>
            <a:off x="4184822" y="4139857"/>
            <a:ext cx="4654378" cy="895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44500" indent="-444500" algn="just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可见土体破坏的剪切破坏不在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45º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最大剪应力面上，为什么？</a:t>
            </a:r>
          </a:p>
        </p:txBody>
      </p:sp>
    </p:spTree>
    <p:extLst>
      <p:ext uri="{BB962C8B-B14F-4D97-AF65-F5344CB8AC3E}">
        <p14:creationId xmlns:p14="http://schemas.microsoft.com/office/powerpoint/2010/main" val="86104327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9526" y="0"/>
            <a:ext cx="547466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482890" y="5793729"/>
            <a:ext cx="52800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小   结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3213" y="767789"/>
            <a:ext cx="4532398" cy="4515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30000"/>
              </a:lnSpc>
              <a:spcBef>
                <a:spcPct val="20000"/>
              </a:spcBef>
              <a:spcAft>
                <a:spcPts val="54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直剪试验与库仑公式</a:t>
            </a:r>
          </a:p>
          <a:p>
            <a:pPr marL="444500" indent="-444500" eaLnBrk="1" hangingPunct="1">
              <a:lnSpc>
                <a:spcPct val="130000"/>
              </a:lnSpc>
              <a:spcBef>
                <a:spcPct val="20000"/>
              </a:spcBef>
              <a:spcAft>
                <a:spcPts val="4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土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的抗剪强度机理</a:t>
            </a:r>
          </a:p>
          <a:p>
            <a:pPr marL="444500" indent="-444500" eaLnBrk="1" hangingPunct="1">
              <a:lnSpc>
                <a:spcPct val="130000"/>
              </a:lnSpc>
              <a:spcBef>
                <a:spcPct val="20000"/>
              </a:spcBef>
              <a:spcAft>
                <a:spcPts val="54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莫尔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库仑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强度理论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444500" indent="-444500" eaLnBrk="1" hangingPunct="1">
              <a:lnSpc>
                <a:spcPct val="130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土单元破坏的判断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方法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576763" y="562276"/>
            <a:ext cx="3795712" cy="134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直剪试验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库仑公式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土的抗剪强度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指标 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</a:rPr>
              <a:t>c 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和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655537" y="3226840"/>
            <a:ext cx="3549650" cy="121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应力状态与莫尔圆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极限平衡应力状态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莫尔</a:t>
            </a:r>
            <a:r>
              <a:rPr lang="en-US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库仑</a:t>
            </a: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强度理论</a:t>
            </a:r>
            <a:endParaRPr lang="zh-CN" altLang="en-US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575776" y="2072709"/>
            <a:ext cx="4379913" cy="888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摩擦强度：滑动、咬合摩擦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黏聚强度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634942" y="4695303"/>
            <a:ext cx="3549650" cy="79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体破坏判断方法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滑裂面的位置</a:t>
            </a:r>
          </a:p>
        </p:txBody>
      </p:sp>
    </p:spTree>
    <p:extLst>
      <p:ext uri="{BB962C8B-B14F-4D97-AF65-F5344CB8AC3E}">
        <p14:creationId xmlns:p14="http://schemas.microsoft.com/office/powerpoint/2010/main" val="269781197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  <p:bldP spid="7" grpId="0"/>
      <p:bldP spid="8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1924050" y="1922463"/>
            <a:ext cx="6364288" cy="379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§5.1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工程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中土的强度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§5.2	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的抗剪强度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理论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§5.3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土的抗剪强度的测定试验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§5.4 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路径与破坏主应力线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§5.5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土的抗剪强度指标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§5.6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土的动强度与砂土的振动液化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897063" y="927100"/>
            <a:ext cx="5356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第五章： </a:t>
            </a: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土的抗剪强度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39324" y="3190502"/>
            <a:ext cx="5318211" cy="6334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kumimoji="1" lang="en-US" altLang="zh-CN" sz="2800" b="1" dirty="0" smtClean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5.3  </a:t>
            </a:r>
            <a:r>
              <a:rPr kumimoji="1" lang="zh-CN" altLang="en-US" sz="2800" b="1" dirty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土的抗剪强度的测定试验</a:t>
            </a:r>
          </a:p>
        </p:txBody>
      </p:sp>
    </p:spTree>
    <p:extLst>
      <p:ext uri="{BB962C8B-B14F-4D97-AF65-F5344CB8AC3E}">
        <p14:creationId xmlns:p14="http://schemas.microsoft.com/office/powerpoint/2010/main" val="249022078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</a:t>
            </a: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046413" y="5883275"/>
            <a:ext cx="40767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抗剪强度测定试验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2248861" y="1614364"/>
            <a:ext cx="3758240" cy="175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+mj-lt"/>
              <a:buAutoNum type="arabicPeriod"/>
            </a:pP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</a:rPr>
              <a:t>直</a:t>
            </a:r>
            <a:r>
              <a:rPr lang="zh-CN" altLang="en-US" sz="2600" b="1" dirty="0">
                <a:solidFill>
                  <a:srgbClr val="000066"/>
                </a:solidFill>
                <a:ea typeface="幼圆" pitchFamily="49" charset="-122"/>
              </a:rPr>
              <a:t>剪</a:t>
            </a: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</a:rPr>
              <a:t>试验</a:t>
            </a:r>
            <a:endParaRPr lang="en-US" altLang="zh-CN" sz="26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+mj-lt"/>
              <a:buAutoNum type="arabicPeriod"/>
            </a:pPr>
            <a:r>
              <a:rPr lang="zh-CN" altLang="en-US" sz="2600" b="1" dirty="0">
                <a:solidFill>
                  <a:srgbClr val="000066"/>
                </a:solidFill>
                <a:ea typeface="幼圆" pitchFamily="49" charset="-122"/>
              </a:rPr>
              <a:t>三轴</a:t>
            </a: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</a:rPr>
              <a:t>剪切试验</a:t>
            </a:r>
            <a:endParaRPr lang="en-US" altLang="zh-CN" sz="26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+mj-lt"/>
              <a:buAutoNum type="arabicPeriod"/>
            </a:pP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</a:rPr>
              <a:t>十字板剪切试验</a:t>
            </a:r>
            <a:endParaRPr lang="en-US" altLang="zh-CN" sz="2600" b="1" dirty="0" smtClean="0">
              <a:solidFill>
                <a:srgbClr val="000066"/>
              </a:solidFill>
              <a:ea typeface="幼圆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E:\直剪实验_看图王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184" y="2326005"/>
            <a:ext cx="5324947" cy="336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2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直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剪试验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4" name="Text Box 38"/>
          <p:cNvSpPr txBox="1">
            <a:spLocks noChangeArrowheads="1"/>
          </p:cNvSpPr>
          <p:nvPr/>
        </p:nvSpPr>
        <p:spPr bwMode="auto">
          <a:xfrm>
            <a:off x="419100" y="724865"/>
            <a:ext cx="3455783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直剪仪基本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构造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578652" y="811230"/>
            <a:ext cx="2130298" cy="1745550"/>
            <a:chOff x="3512748" y="1008942"/>
            <a:chExt cx="2130298" cy="1745550"/>
          </a:xfrm>
        </p:grpSpPr>
        <p:pic>
          <p:nvPicPr>
            <p:cNvPr id="1031" name="Picture 7" descr="E:\剪切盒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929" r="10547"/>
            <a:stretch/>
          </p:blipFill>
          <p:spPr bwMode="auto">
            <a:xfrm>
              <a:off x="3512748" y="1008942"/>
              <a:ext cx="1284766" cy="1745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3" name="Rectangle 5"/>
            <p:cNvSpPr>
              <a:spLocks noChangeArrowheads="1"/>
            </p:cNvSpPr>
            <p:nvPr/>
          </p:nvSpPr>
          <p:spPr bwMode="auto">
            <a:xfrm>
              <a:off x="4672156" y="1206109"/>
              <a:ext cx="9708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 smtClean="0">
                  <a:solidFill>
                    <a:srgbClr val="000066"/>
                  </a:solidFill>
                  <a:ea typeface="幼圆" pitchFamily="49" charset="-122"/>
                </a:rPr>
                <a:t>上盒</a:t>
              </a:r>
              <a:endParaRPr lang="zh-CN" altLang="en-US" sz="20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84" name="Rectangle 5"/>
            <p:cNvSpPr>
              <a:spLocks noChangeArrowheads="1"/>
            </p:cNvSpPr>
            <p:nvPr/>
          </p:nvSpPr>
          <p:spPr bwMode="auto">
            <a:xfrm>
              <a:off x="4607272" y="1984781"/>
              <a:ext cx="970890" cy="426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66"/>
                  </a:solidFill>
                  <a:ea typeface="幼圆" pitchFamily="49" charset="-122"/>
                </a:rPr>
                <a:t>下</a:t>
              </a:r>
              <a:r>
                <a:rPr lang="zh-CN" altLang="en-US" sz="2000" b="1" dirty="0" smtClean="0">
                  <a:solidFill>
                    <a:srgbClr val="000066"/>
                  </a:solidFill>
                  <a:ea typeface="幼圆" pitchFamily="49" charset="-122"/>
                </a:rPr>
                <a:t>盒</a:t>
              </a:r>
              <a:endParaRPr lang="zh-CN" altLang="en-US" sz="20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449144" y="2305823"/>
            <a:ext cx="2317944" cy="1379154"/>
            <a:chOff x="1365310" y="2530430"/>
            <a:chExt cx="2317944" cy="1379154"/>
          </a:xfrm>
        </p:grpSpPr>
        <p:sp>
          <p:nvSpPr>
            <p:cNvPr id="86" name="Rectangle 5"/>
            <p:cNvSpPr>
              <a:spLocks noChangeArrowheads="1"/>
            </p:cNvSpPr>
            <p:nvPr/>
          </p:nvSpPr>
          <p:spPr bwMode="auto">
            <a:xfrm>
              <a:off x="1365310" y="2530430"/>
              <a:ext cx="1355665" cy="97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C00000"/>
                  </a:solidFill>
                  <a:ea typeface="幼圆" pitchFamily="49" charset="-122"/>
                </a:rPr>
                <a:t>水平推动装置</a:t>
              </a:r>
              <a:endParaRPr lang="zh-CN" altLang="en-US" sz="2400" b="1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 bwMode="auto">
            <a:xfrm flipH="1" flipV="1">
              <a:off x="2562131" y="3195868"/>
              <a:ext cx="1121123" cy="713716"/>
            </a:xfrm>
            <a:prstGeom prst="straightConnector1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组合 6"/>
          <p:cNvGrpSpPr/>
          <p:nvPr/>
        </p:nvGrpSpPr>
        <p:grpSpPr>
          <a:xfrm>
            <a:off x="5101672" y="739308"/>
            <a:ext cx="1944632" cy="2178786"/>
            <a:chOff x="5188168" y="1008738"/>
            <a:chExt cx="1944632" cy="2178786"/>
          </a:xfrm>
        </p:grpSpPr>
        <p:cxnSp>
          <p:nvCxnSpPr>
            <p:cNvPr id="88" name="直接箭头连接符 87"/>
            <p:cNvCxnSpPr/>
            <p:nvPr/>
          </p:nvCxnSpPr>
          <p:spPr bwMode="auto">
            <a:xfrm flipV="1">
              <a:off x="5188168" y="1981200"/>
              <a:ext cx="970585" cy="1206324"/>
            </a:xfrm>
            <a:prstGeom prst="straightConnector1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9" name="Rectangle 5"/>
            <p:cNvSpPr>
              <a:spLocks noChangeArrowheads="1"/>
            </p:cNvSpPr>
            <p:nvPr/>
          </p:nvSpPr>
          <p:spPr bwMode="auto">
            <a:xfrm>
              <a:off x="5777135" y="1008738"/>
              <a:ext cx="1355665" cy="936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C00000"/>
                  </a:solidFill>
                  <a:ea typeface="幼圆" pitchFamily="49" charset="-122"/>
                </a:rPr>
                <a:t>垂直加载系统</a:t>
              </a:r>
              <a:endParaRPr lang="zh-CN" altLang="en-US" sz="2400" b="1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75093" y="2130526"/>
            <a:ext cx="1355665" cy="1155834"/>
            <a:chOff x="6409189" y="2328238"/>
            <a:chExt cx="1355665" cy="1155834"/>
          </a:xfrm>
        </p:grpSpPr>
        <p:cxnSp>
          <p:nvCxnSpPr>
            <p:cNvPr id="90" name="直接箭头连接符 89"/>
            <p:cNvCxnSpPr/>
            <p:nvPr/>
          </p:nvCxnSpPr>
          <p:spPr bwMode="auto">
            <a:xfrm flipV="1">
              <a:off x="6580360" y="2788467"/>
              <a:ext cx="191632" cy="695605"/>
            </a:xfrm>
            <a:prstGeom prst="straightConnector1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1" name="Rectangle 5"/>
            <p:cNvSpPr>
              <a:spLocks noChangeArrowheads="1"/>
            </p:cNvSpPr>
            <p:nvPr/>
          </p:nvSpPr>
          <p:spPr bwMode="auto">
            <a:xfrm>
              <a:off x="6409189" y="2328238"/>
              <a:ext cx="1355665" cy="496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C00000"/>
                  </a:solidFill>
                  <a:ea typeface="幼圆" pitchFamily="49" charset="-122"/>
                </a:rPr>
                <a:t>量力环</a:t>
              </a:r>
              <a:endParaRPr lang="zh-CN" altLang="en-US" sz="2400" b="1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99100" y="2343049"/>
            <a:ext cx="1236459" cy="1340957"/>
            <a:chOff x="3533196" y="2540761"/>
            <a:chExt cx="1236459" cy="1340957"/>
          </a:xfrm>
        </p:grpSpPr>
        <p:cxnSp>
          <p:nvCxnSpPr>
            <p:cNvPr id="5" name="直接箭头连接符 4"/>
            <p:cNvCxnSpPr/>
            <p:nvPr/>
          </p:nvCxnSpPr>
          <p:spPr bwMode="auto">
            <a:xfrm flipH="1" flipV="1">
              <a:off x="4295553" y="3083443"/>
              <a:ext cx="401953" cy="798275"/>
            </a:xfrm>
            <a:prstGeom prst="straightConnector1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2" name="Rectangle 5"/>
            <p:cNvSpPr>
              <a:spLocks noChangeArrowheads="1"/>
            </p:cNvSpPr>
            <p:nvPr/>
          </p:nvSpPr>
          <p:spPr bwMode="auto">
            <a:xfrm>
              <a:off x="3533196" y="2540761"/>
              <a:ext cx="1236459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C00000"/>
                  </a:solidFill>
                  <a:ea typeface="幼圆" pitchFamily="49" charset="-122"/>
                </a:rPr>
                <a:t>剪切盒</a:t>
              </a:r>
              <a:endParaRPr lang="zh-CN" altLang="en-US" sz="2400" b="1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278498" y="2463997"/>
            <a:ext cx="1501372" cy="857069"/>
            <a:chOff x="7212594" y="2661709"/>
            <a:chExt cx="1501372" cy="857069"/>
          </a:xfrm>
        </p:grpSpPr>
        <p:sp>
          <p:nvSpPr>
            <p:cNvPr id="94" name="Rectangle 5"/>
            <p:cNvSpPr>
              <a:spLocks noChangeArrowheads="1"/>
            </p:cNvSpPr>
            <p:nvPr/>
          </p:nvSpPr>
          <p:spPr bwMode="auto">
            <a:xfrm>
              <a:off x="7358301" y="2661709"/>
              <a:ext cx="1355665" cy="496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C00000"/>
                  </a:solidFill>
                  <a:ea typeface="幼圆" pitchFamily="49" charset="-122"/>
                </a:rPr>
                <a:t>百分表</a:t>
              </a:r>
              <a:endParaRPr lang="zh-CN" altLang="en-US" sz="2400" b="1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  <p:cxnSp>
          <p:nvCxnSpPr>
            <p:cNvPr id="95" name="直接箭头连接符 94"/>
            <p:cNvCxnSpPr/>
            <p:nvPr/>
          </p:nvCxnSpPr>
          <p:spPr bwMode="auto">
            <a:xfrm flipV="1">
              <a:off x="7212594" y="3096285"/>
              <a:ext cx="365156" cy="422493"/>
            </a:xfrm>
            <a:prstGeom prst="straightConnector1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3398283" y="5842386"/>
            <a:ext cx="2294066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直剪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试验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231547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745039" y="2095608"/>
            <a:ext cx="3684587" cy="2314578"/>
            <a:chOff x="4745039" y="2095608"/>
            <a:chExt cx="3684587" cy="2314578"/>
          </a:xfrm>
        </p:grpSpPr>
        <p:sp>
          <p:nvSpPr>
            <p:cNvPr id="49" name="Freeform 48"/>
            <p:cNvSpPr>
              <a:spLocks/>
            </p:cNvSpPr>
            <p:nvPr/>
          </p:nvSpPr>
          <p:spPr bwMode="auto">
            <a:xfrm>
              <a:off x="4745039" y="3975210"/>
              <a:ext cx="3632200" cy="3175"/>
            </a:xfrm>
            <a:custGeom>
              <a:avLst/>
              <a:gdLst>
                <a:gd name="T0" fmla="*/ 0 w 2288"/>
                <a:gd name="T1" fmla="*/ 2 h 2"/>
                <a:gd name="T2" fmla="*/ 2288 w 2288"/>
                <a:gd name="T3" fmla="*/ 0 h 2"/>
                <a:gd name="T4" fmla="*/ 0 60000 65536"/>
                <a:gd name="T5" fmla="*/ 0 60000 65536"/>
                <a:gd name="T6" fmla="*/ 0 w 2288"/>
                <a:gd name="T7" fmla="*/ 0 h 2"/>
                <a:gd name="T8" fmla="*/ 2288 w 2288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88" h="2">
                  <a:moveTo>
                    <a:pt x="0" y="2"/>
                  </a:moveTo>
                  <a:lnTo>
                    <a:pt x="228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miter lim="800000"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0" name="Line 49"/>
            <p:cNvSpPr>
              <a:spLocks noChangeShapeType="1"/>
            </p:cNvSpPr>
            <p:nvPr/>
          </p:nvSpPr>
          <p:spPr bwMode="auto">
            <a:xfrm flipV="1">
              <a:off x="5387976" y="2397233"/>
              <a:ext cx="0" cy="18669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1" name="Text Box 50"/>
            <p:cNvSpPr txBox="1">
              <a:spLocks noChangeArrowheads="1"/>
            </p:cNvSpPr>
            <p:nvPr/>
          </p:nvSpPr>
          <p:spPr bwMode="auto">
            <a:xfrm>
              <a:off x="8043864" y="3952985"/>
              <a:ext cx="385762" cy="457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52" name="Text Box 51"/>
            <p:cNvSpPr txBox="1">
              <a:spLocks noChangeArrowheads="1"/>
            </p:cNvSpPr>
            <p:nvPr/>
          </p:nvSpPr>
          <p:spPr bwMode="auto">
            <a:xfrm>
              <a:off x="5434014" y="2095608"/>
              <a:ext cx="385762" cy="523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53" name="Text Box 52"/>
            <p:cNvSpPr txBox="1">
              <a:spLocks noChangeArrowheads="1"/>
            </p:cNvSpPr>
            <p:nvPr/>
          </p:nvSpPr>
          <p:spPr bwMode="auto">
            <a:xfrm>
              <a:off x="5056189" y="3938698"/>
              <a:ext cx="3857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205762" y="1774933"/>
            <a:ext cx="2790741" cy="2647554"/>
            <a:chOff x="1205762" y="1774933"/>
            <a:chExt cx="2790741" cy="2647554"/>
          </a:xfrm>
        </p:grpSpPr>
        <p:sp>
          <p:nvSpPr>
            <p:cNvPr id="64" name="Text Box 63"/>
            <p:cNvSpPr txBox="1">
              <a:spLocks noChangeArrowheads="1"/>
            </p:cNvSpPr>
            <p:nvPr/>
          </p:nvSpPr>
          <p:spPr bwMode="auto">
            <a:xfrm>
              <a:off x="1205762" y="1774933"/>
              <a:ext cx="4699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65" name="Text Box 64"/>
            <p:cNvSpPr txBox="1">
              <a:spLocks noChangeArrowheads="1"/>
            </p:cNvSpPr>
            <p:nvPr/>
          </p:nvSpPr>
          <p:spPr bwMode="auto">
            <a:xfrm>
              <a:off x="3558353" y="3965287"/>
              <a:ext cx="43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6" name="Freeform 65"/>
            <p:cNvSpPr>
              <a:spLocks/>
            </p:cNvSpPr>
            <p:nvPr/>
          </p:nvSpPr>
          <p:spPr bwMode="auto">
            <a:xfrm>
              <a:off x="1213700" y="2182920"/>
              <a:ext cx="2581275" cy="1795463"/>
            </a:xfrm>
            <a:custGeom>
              <a:avLst/>
              <a:gdLst>
                <a:gd name="T0" fmla="*/ 0 w 1360"/>
                <a:gd name="T1" fmla="*/ 0 h 800"/>
                <a:gd name="T2" fmla="*/ 0 w 1360"/>
                <a:gd name="T3" fmla="*/ 800 h 800"/>
                <a:gd name="T4" fmla="*/ 1360 w 1360"/>
                <a:gd name="T5" fmla="*/ 800 h 800"/>
                <a:gd name="T6" fmla="*/ 0 60000 65536"/>
                <a:gd name="T7" fmla="*/ 0 60000 65536"/>
                <a:gd name="T8" fmla="*/ 0 60000 65536"/>
                <a:gd name="T9" fmla="*/ 0 w 1360"/>
                <a:gd name="T10" fmla="*/ 0 h 800"/>
                <a:gd name="T11" fmla="*/ 1360 w 1360"/>
                <a:gd name="T12" fmla="*/ 800 h 8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0" h="800">
                  <a:moveTo>
                    <a:pt x="0" y="0"/>
                  </a:moveTo>
                  <a:lnTo>
                    <a:pt x="0" y="800"/>
                  </a:lnTo>
                  <a:lnTo>
                    <a:pt x="1360" y="80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67" name="Freeform 66"/>
          <p:cNvSpPr>
            <a:spLocks/>
          </p:cNvSpPr>
          <p:nvPr/>
        </p:nvSpPr>
        <p:spPr bwMode="auto">
          <a:xfrm>
            <a:off x="1213700" y="3271945"/>
            <a:ext cx="1720569" cy="693738"/>
          </a:xfrm>
          <a:custGeom>
            <a:avLst/>
            <a:gdLst>
              <a:gd name="T0" fmla="*/ 0 w 1247"/>
              <a:gd name="T1" fmla="*/ 317 h 317"/>
              <a:gd name="T2" fmla="*/ 84 w 1247"/>
              <a:gd name="T3" fmla="*/ 210 h 317"/>
              <a:gd name="T4" fmla="*/ 185 w 1247"/>
              <a:gd name="T5" fmla="*/ 91 h 317"/>
              <a:gd name="T6" fmla="*/ 283 w 1247"/>
              <a:gd name="T7" fmla="*/ 16 h 317"/>
              <a:gd name="T8" fmla="*/ 394 w 1247"/>
              <a:gd name="T9" fmla="*/ 2 h 317"/>
              <a:gd name="T10" fmla="*/ 507 w 1247"/>
              <a:gd name="T11" fmla="*/ 27 h 317"/>
              <a:gd name="T12" fmla="*/ 619 w 1247"/>
              <a:gd name="T13" fmla="*/ 69 h 317"/>
              <a:gd name="T14" fmla="*/ 750 w 1247"/>
              <a:gd name="T15" fmla="*/ 106 h 317"/>
              <a:gd name="T16" fmla="*/ 937 w 1247"/>
              <a:gd name="T17" fmla="*/ 134 h 317"/>
              <a:gd name="T18" fmla="*/ 1108 w 1247"/>
              <a:gd name="T19" fmla="*/ 147 h 317"/>
              <a:gd name="T20" fmla="*/ 1247 w 1247"/>
              <a:gd name="T21" fmla="*/ 145 h 31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247"/>
              <a:gd name="T34" fmla="*/ 0 h 317"/>
              <a:gd name="T35" fmla="*/ 1247 w 1247"/>
              <a:gd name="T36" fmla="*/ 317 h 31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247" h="317">
                <a:moveTo>
                  <a:pt x="0" y="317"/>
                </a:moveTo>
                <a:cubicBezTo>
                  <a:pt x="27" y="282"/>
                  <a:pt x="54" y="248"/>
                  <a:pt x="84" y="210"/>
                </a:cubicBezTo>
                <a:cubicBezTo>
                  <a:pt x="115" y="173"/>
                  <a:pt x="152" y="123"/>
                  <a:pt x="185" y="91"/>
                </a:cubicBezTo>
                <a:cubicBezTo>
                  <a:pt x="218" y="59"/>
                  <a:pt x="248" y="31"/>
                  <a:pt x="283" y="16"/>
                </a:cubicBezTo>
                <a:cubicBezTo>
                  <a:pt x="318" y="1"/>
                  <a:pt x="357" y="0"/>
                  <a:pt x="394" y="2"/>
                </a:cubicBezTo>
                <a:cubicBezTo>
                  <a:pt x="431" y="4"/>
                  <a:pt x="469" y="16"/>
                  <a:pt x="507" y="27"/>
                </a:cubicBezTo>
                <a:cubicBezTo>
                  <a:pt x="544" y="37"/>
                  <a:pt x="579" y="56"/>
                  <a:pt x="619" y="69"/>
                </a:cubicBezTo>
                <a:cubicBezTo>
                  <a:pt x="659" y="82"/>
                  <a:pt x="697" y="95"/>
                  <a:pt x="750" y="106"/>
                </a:cubicBezTo>
                <a:cubicBezTo>
                  <a:pt x="803" y="117"/>
                  <a:pt x="877" y="127"/>
                  <a:pt x="937" y="134"/>
                </a:cubicBezTo>
                <a:cubicBezTo>
                  <a:pt x="997" y="141"/>
                  <a:pt x="1056" y="145"/>
                  <a:pt x="1108" y="147"/>
                </a:cubicBezTo>
                <a:cubicBezTo>
                  <a:pt x="1160" y="149"/>
                  <a:pt x="1218" y="145"/>
                  <a:pt x="1247" y="145"/>
                </a:cubicBezTo>
              </a:path>
            </a:pathLst>
          </a:custGeom>
          <a:noFill/>
          <a:ln w="19050" cmpd="sng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07350" y="2519470"/>
            <a:ext cx="2607198" cy="1441450"/>
            <a:chOff x="1207350" y="2519470"/>
            <a:chExt cx="2607198" cy="1441450"/>
          </a:xfrm>
        </p:grpSpPr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1207350" y="2856020"/>
              <a:ext cx="2066925" cy="1104900"/>
            </a:xfrm>
            <a:custGeom>
              <a:avLst/>
              <a:gdLst>
                <a:gd name="T0" fmla="*/ 0 w 1257"/>
                <a:gd name="T1" fmla="*/ 505 h 505"/>
                <a:gd name="T2" fmla="*/ 82 w 1257"/>
                <a:gd name="T3" fmla="*/ 336 h 505"/>
                <a:gd name="T4" fmla="*/ 175 w 1257"/>
                <a:gd name="T5" fmla="*/ 161 h 505"/>
                <a:gd name="T6" fmla="*/ 287 w 1257"/>
                <a:gd name="T7" fmla="*/ 37 h 505"/>
                <a:gd name="T8" fmla="*/ 412 w 1257"/>
                <a:gd name="T9" fmla="*/ 4 h 505"/>
                <a:gd name="T10" fmla="*/ 543 w 1257"/>
                <a:gd name="T11" fmla="*/ 60 h 505"/>
                <a:gd name="T12" fmla="*/ 696 w 1257"/>
                <a:gd name="T13" fmla="*/ 122 h 505"/>
                <a:gd name="T14" fmla="*/ 895 w 1257"/>
                <a:gd name="T15" fmla="*/ 158 h 505"/>
                <a:gd name="T16" fmla="*/ 1096 w 1257"/>
                <a:gd name="T17" fmla="*/ 171 h 505"/>
                <a:gd name="T18" fmla="*/ 1257 w 1257"/>
                <a:gd name="T19" fmla="*/ 175 h 5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57"/>
                <a:gd name="T31" fmla="*/ 0 h 505"/>
                <a:gd name="T32" fmla="*/ 1257 w 1257"/>
                <a:gd name="T33" fmla="*/ 505 h 50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57" h="505">
                  <a:moveTo>
                    <a:pt x="0" y="505"/>
                  </a:moveTo>
                  <a:cubicBezTo>
                    <a:pt x="26" y="449"/>
                    <a:pt x="53" y="393"/>
                    <a:pt x="82" y="336"/>
                  </a:cubicBezTo>
                  <a:cubicBezTo>
                    <a:pt x="111" y="278"/>
                    <a:pt x="141" y="211"/>
                    <a:pt x="175" y="161"/>
                  </a:cubicBezTo>
                  <a:cubicBezTo>
                    <a:pt x="209" y="111"/>
                    <a:pt x="247" y="63"/>
                    <a:pt x="287" y="37"/>
                  </a:cubicBezTo>
                  <a:cubicBezTo>
                    <a:pt x="327" y="11"/>
                    <a:pt x="369" y="0"/>
                    <a:pt x="412" y="4"/>
                  </a:cubicBezTo>
                  <a:cubicBezTo>
                    <a:pt x="455" y="8"/>
                    <a:pt x="496" y="40"/>
                    <a:pt x="543" y="60"/>
                  </a:cubicBezTo>
                  <a:cubicBezTo>
                    <a:pt x="590" y="80"/>
                    <a:pt x="637" y="106"/>
                    <a:pt x="696" y="122"/>
                  </a:cubicBezTo>
                  <a:cubicBezTo>
                    <a:pt x="755" y="138"/>
                    <a:pt x="828" y="150"/>
                    <a:pt x="895" y="158"/>
                  </a:cubicBezTo>
                  <a:cubicBezTo>
                    <a:pt x="962" y="166"/>
                    <a:pt x="1036" y="168"/>
                    <a:pt x="1096" y="171"/>
                  </a:cubicBezTo>
                  <a:cubicBezTo>
                    <a:pt x="1156" y="174"/>
                    <a:pt x="1224" y="174"/>
                    <a:pt x="1257" y="175"/>
                  </a:cubicBezTo>
                </a:path>
              </a:pathLst>
            </a:custGeom>
            <a:noFill/>
            <a:ln w="19050" cmpd="sng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69" name="Freeform 68"/>
            <p:cNvSpPr>
              <a:spLocks/>
            </p:cNvSpPr>
            <p:nvPr/>
          </p:nvSpPr>
          <p:spPr bwMode="auto">
            <a:xfrm>
              <a:off x="1213699" y="2519470"/>
              <a:ext cx="2600849" cy="1428750"/>
            </a:xfrm>
            <a:custGeom>
              <a:avLst/>
              <a:gdLst>
                <a:gd name="T0" fmla="*/ 0 w 1256"/>
                <a:gd name="T1" fmla="*/ 652 h 652"/>
                <a:gd name="T2" fmla="*/ 36 w 1256"/>
                <a:gd name="T3" fmla="*/ 505 h 652"/>
                <a:gd name="T4" fmla="*/ 95 w 1256"/>
                <a:gd name="T5" fmla="*/ 300 h 652"/>
                <a:gd name="T6" fmla="*/ 174 w 1256"/>
                <a:gd name="T7" fmla="*/ 142 h 652"/>
                <a:gd name="T8" fmla="*/ 276 w 1256"/>
                <a:gd name="T9" fmla="*/ 30 h 652"/>
                <a:gd name="T10" fmla="*/ 369 w 1256"/>
                <a:gd name="T11" fmla="*/ 1 h 652"/>
                <a:gd name="T12" fmla="*/ 467 w 1256"/>
                <a:gd name="T13" fmla="*/ 26 h 652"/>
                <a:gd name="T14" fmla="*/ 602 w 1256"/>
                <a:gd name="T15" fmla="*/ 78 h 652"/>
                <a:gd name="T16" fmla="*/ 791 w 1256"/>
                <a:gd name="T17" fmla="*/ 139 h 652"/>
                <a:gd name="T18" fmla="*/ 982 w 1256"/>
                <a:gd name="T19" fmla="*/ 176 h 652"/>
                <a:gd name="T20" fmla="*/ 1141 w 1256"/>
                <a:gd name="T21" fmla="*/ 184 h 652"/>
                <a:gd name="T22" fmla="*/ 1256 w 1256"/>
                <a:gd name="T23" fmla="*/ 187 h 65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56"/>
                <a:gd name="T37" fmla="*/ 0 h 652"/>
                <a:gd name="T38" fmla="*/ 1256 w 1256"/>
                <a:gd name="T39" fmla="*/ 652 h 65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56" h="652">
                  <a:moveTo>
                    <a:pt x="0" y="652"/>
                  </a:moveTo>
                  <a:cubicBezTo>
                    <a:pt x="11" y="607"/>
                    <a:pt x="21" y="564"/>
                    <a:pt x="36" y="505"/>
                  </a:cubicBezTo>
                  <a:cubicBezTo>
                    <a:pt x="52" y="446"/>
                    <a:pt x="72" y="360"/>
                    <a:pt x="95" y="300"/>
                  </a:cubicBezTo>
                  <a:cubicBezTo>
                    <a:pt x="118" y="240"/>
                    <a:pt x="144" y="187"/>
                    <a:pt x="174" y="142"/>
                  </a:cubicBezTo>
                  <a:cubicBezTo>
                    <a:pt x="204" y="97"/>
                    <a:pt x="244" y="53"/>
                    <a:pt x="276" y="30"/>
                  </a:cubicBezTo>
                  <a:cubicBezTo>
                    <a:pt x="308" y="7"/>
                    <a:pt x="337" y="2"/>
                    <a:pt x="369" y="1"/>
                  </a:cubicBezTo>
                  <a:cubicBezTo>
                    <a:pt x="401" y="0"/>
                    <a:pt x="428" y="13"/>
                    <a:pt x="467" y="26"/>
                  </a:cubicBezTo>
                  <a:cubicBezTo>
                    <a:pt x="506" y="39"/>
                    <a:pt x="548" y="59"/>
                    <a:pt x="602" y="78"/>
                  </a:cubicBezTo>
                  <a:cubicBezTo>
                    <a:pt x="656" y="96"/>
                    <a:pt x="728" y="122"/>
                    <a:pt x="791" y="139"/>
                  </a:cubicBezTo>
                  <a:cubicBezTo>
                    <a:pt x="855" y="155"/>
                    <a:pt x="924" y="169"/>
                    <a:pt x="982" y="176"/>
                  </a:cubicBezTo>
                  <a:cubicBezTo>
                    <a:pt x="1041" y="183"/>
                    <a:pt x="1095" y="183"/>
                    <a:pt x="1141" y="184"/>
                  </a:cubicBezTo>
                  <a:cubicBezTo>
                    <a:pt x="1187" y="186"/>
                    <a:pt x="1221" y="186"/>
                    <a:pt x="1256" y="187"/>
                  </a:cubicBezTo>
                </a:path>
              </a:pathLst>
            </a:custGeom>
            <a:noFill/>
            <a:ln w="19050" cmpd="sng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034555" y="2490893"/>
            <a:ext cx="858851" cy="1316040"/>
            <a:chOff x="3034555" y="2490893"/>
            <a:chExt cx="858851" cy="1316040"/>
          </a:xfrm>
        </p:grpSpPr>
        <p:sp>
          <p:nvSpPr>
            <p:cNvPr id="63" name="Text Box 62"/>
            <p:cNvSpPr txBox="1">
              <a:spLocks noChangeArrowheads="1"/>
            </p:cNvSpPr>
            <p:nvPr/>
          </p:nvSpPr>
          <p:spPr bwMode="auto">
            <a:xfrm>
              <a:off x="3034555" y="3349733"/>
              <a:ext cx="469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400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kumimoji="1" lang="en-US" altLang="zh-CN" sz="24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0" name="Text Box 69"/>
            <p:cNvSpPr txBox="1">
              <a:spLocks noChangeArrowheads="1"/>
            </p:cNvSpPr>
            <p:nvPr/>
          </p:nvSpPr>
          <p:spPr bwMode="auto">
            <a:xfrm>
              <a:off x="3279037" y="2943333"/>
              <a:ext cx="469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400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kumimoji="1" lang="en-US" altLang="zh-CN" sz="24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1" name="Text Box 70"/>
            <p:cNvSpPr txBox="1">
              <a:spLocks noChangeArrowheads="1"/>
            </p:cNvSpPr>
            <p:nvPr/>
          </p:nvSpPr>
          <p:spPr bwMode="auto">
            <a:xfrm>
              <a:off x="3423506" y="2490893"/>
              <a:ext cx="469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400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kumimoji="1" lang="en-US" altLang="zh-CN" sz="24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72375" y="2301983"/>
            <a:ext cx="1277944" cy="1127125"/>
            <a:chOff x="772375" y="2301983"/>
            <a:chExt cx="1277944" cy="1127125"/>
          </a:xfrm>
        </p:grpSpPr>
        <p:grpSp>
          <p:nvGrpSpPr>
            <p:cNvPr id="11" name="组合 10"/>
            <p:cNvGrpSpPr/>
            <p:nvPr/>
          </p:nvGrpSpPr>
          <p:grpSpPr>
            <a:xfrm>
              <a:off x="772375" y="2301983"/>
              <a:ext cx="1277944" cy="715962"/>
              <a:chOff x="772375" y="2301983"/>
              <a:chExt cx="1277944" cy="71596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772375" y="2301983"/>
                <a:ext cx="1277944" cy="366712"/>
                <a:chOff x="772375" y="2301983"/>
                <a:chExt cx="1277944" cy="366712"/>
              </a:xfrm>
            </p:grpSpPr>
            <p:sp>
              <p:nvSpPr>
                <p:cNvPr id="72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1213699" y="2514708"/>
                  <a:ext cx="7770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772375" y="2301983"/>
                  <a:ext cx="411162" cy="3667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800" b="1" i="1" dirty="0"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</a:t>
                  </a:r>
                  <a:r>
                    <a:rPr lang="en-US" altLang="zh-CN" sz="1800" b="1" baseline="-25000" dirty="0"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f3</a:t>
                  </a:r>
                  <a:endParaRPr lang="en-US" altLang="zh-CN" sz="1800" b="1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endParaRPr>
                </a:p>
              </p:txBody>
            </p:sp>
            <p:sp>
              <p:nvSpPr>
                <p:cNvPr id="79" name="Oval 71"/>
                <p:cNvSpPr>
                  <a:spLocks noChangeAspect="1" noChangeArrowheads="1"/>
                </p:cNvSpPr>
                <p:nvPr/>
              </p:nvSpPr>
              <p:spPr bwMode="auto">
                <a:xfrm>
                  <a:off x="1939194" y="2460733"/>
                  <a:ext cx="111125" cy="10795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" name="组合 6"/>
              <p:cNvGrpSpPr/>
              <p:nvPr/>
            </p:nvGrpSpPr>
            <p:grpSpPr>
              <a:xfrm>
                <a:off x="786662" y="2651233"/>
                <a:ext cx="1104900" cy="366712"/>
                <a:chOff x="786662" y="2651233"/>
                <a:chExt cx="1104900" cy="366712"/>
              </a:xfrm>
            </p:grpSpPr>
            <p:sp>
              <p:nvSpPr>
                <p:cNvPr id="73" name="Line 75"/>
                <p:cNvSpPr>
                  <a:spLocks noChangeShapeType="1"/>
                </p:cNvSpPr>
                <p:nvPr/>
              </p:nvSpPr>
              <p:spPr bwMode="auto">
                <a:xfrm flipH="1">
                  <a:off x="1210525" y="2863958"/>
                  <a:ext cx="61436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786662" y="2651233"/>
                  <a:ext cx="411163" cy="3667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800" b="1" i="1" dirty="0"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</a:t>
                  </a:r>
                  <a:r>
                    <a:rPr lang="en-US" altLang="zh-CN" sz="1800" b="1" baseline="-25000" dirty="0"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f2</a:t>
                  </a:r>
                  <a:endParaRPr lang="en-US" altLang="zh-CN" sz="1800" b="1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endParaRPr>
                </a:p>
              </p:txBody>
            </p:sp>
            <p:sp>
              <p:nvSpPr>
                <p:cNvPr id="80" name="Oval 72"/>
                <p:cNvSpPr>
                  <a:spLocks noChangeAspect="1" noChangeArrowheads="1"/>
                </p:cNvSpPr>
                <p:nvPr/>
              </p:nvSpPr>
              <p:spPr bwMode="auto">
                <a:xfrm>
                  <a:off x="1780437" y="2806808"/>
                  <a:ext cx="111125" cy="10795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799362" y="3062395"/>
              <a:ext cx="982658" cy="366713"/>
              <a:chOff x="799362" y="3062395"/>
              <a:chExt cx="982658" cy="366713"/>
            </a:xfrm>
          </p:grpSpPr>
          <p:sp>
            <p:nvSpPr>
              <p:cNvPr id="74" name="Line 76"/>
              <p:cNvSpPr>
                <a:spLocks noChangeShapeType="1"/>
              </p:cNvSpPr>
              <p:nvPr/>
            </p:nvSpPr>
            <p:spPr bwMode="auto">
              <a:xfrm flipH="1">
                <a:off x="1201000" y="3275120"/>
                <a:ext cx="53731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Text Box 77"/>
              <p:cNvSpPr txBox="1">
                <a:spLocks noChangeArrowheads="1"/>
              </p:cNvSpPr>
              <p:nvPr/>
            </p:nvSpPr>
            <p:spPr bwMode="auto">
              <a:xfrm>
                <a:off x="799362" y="3062395"/>
                <a:ext cx="411163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800" b="1" i="1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</a:t>
                </a:r>
                <a:r>
                  <a:rPr lang="en-US" altLang="zh-CN" sz="1800" b="1" baseline="-25000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f1</a:t>
                </a:r>
                <a:endParaRPr lang="en-US" altLang="zh-CN" sz="18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81" name="Oval 73"/>
              <p:cNvSpPr>
                <a:spLocks noChangeAspect="1" noChangeArrowheads="1"/>
              </p:cNvSpPr>
              <p:nvPr/>
            </p:nvSpPr>
            <p:spPr bwMode="auto">
              <a:xfrm>
                <a:off x="1670895" y="3222733"/>
                <a:ext cx="111125" cy="10795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82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直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剪试验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4" name="Text Box 38"/>
          <p:cNvSpPr txBox="1">
            <a:spLocks noChangeArrowheads="1"/>
          </p:cNvSpPr>
          <p:nvPr/>
        </p:nvSpPr>
        <p:spPr bwMode="auto">
          <a:xfrm>
            <a:off x="419100" y="724865"/>
            <a:ext cx="503108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确定莫尔库仑强度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包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线的方法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548" y="4582633"/>
            <a:ext cx="4049507" cy="517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剪应力</a:t>
            </a:r>
            <a:r>
              <a:rPr lang="en-US" altLang="zh-CN" sz="24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τ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和剪变形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曲线</a:t>
            </a:r>
            <a:endParaRPr lang="zh-CN" altLang="en-US" sz="24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851999" y="4586174"/>
            <a:ext cx="3432350" cy="517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）莫尔库仑强度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包线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962526" y="1923556"/>
            <a:ext cx="3527767" cy="2050067"/>
            <a:chOff x="4962526" y="1923556"/>
            <a:chExt cx="3527767" cy="2050067"/>
          </a:xfrm>
        </p:grpSpPr>
        <p:sp>
          <p:nvSpPr>
            <p:cNvPr id="48" name="Freeform 47"/>
            <p:cNvSpPr>
              <a:spLocks/>
            </p:cNvSpPr>
            <p:nvPr/>
          </p:nvSpPr>
          <p:spPr bwMode="auto">
            <a:xfrm>
              <a:off x="5380039" y="2557571"/>
              <a:ext cx="2914650" cy="1111251"/>
            </a:xfrm>
            <a:custGeom>
              <a:avLst/>
              <a:gdLst>
                <a:gd name="T0" fmla="*/ 0 w 1836"/>
                <a:gd name="T1" fmla="*/ 700 h 700"/>
                <a:gd name="T2" fmla="*/ 1836 w 1836"/>
                <a:gd name="T3" fmla="*/ 0 h 700"/>
                <a:gd name="T4" fmla="*/ 0 60000 65536"/>
                <a:gd name="T5" fmla="*/ 0 60000 65536"/>
                <a:gd name="T6" fmla="*/ 0 w 1836"/>
                <a:gd name="T7" fmla="*/ 0 h 700"/>
                <a:gd name="T8" fmla="*/ 1836 w 1836"/>
                <a:gd name="T9" fmla="*/ 700 h 7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36" h="700">
                  <a:moveTo>
                    <a:pt x="0" y="700"/>
                  </a:moveTo>
                  <a:lnTo>
                    <a:pt x="1836" y="0"/>
                  </a:lnTo>
                </a:path>
              </a:pathLst>
            </a:custGeom>
            <a:noFill/>
            <a:ln w="254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4" name="Text Box 53"/>
            <p:cNvSpPr txBox="1">
              <a:spLocks noChangeArrowheads="1"/>
            </p:cNvSpPr>
            <p:nvPr/>
          </p:nvSpPr>
          <p:spPr bwMode="auto">
            <a:xfrm>
              <a:off x="4962526" y="3606910"/>
              <a:ext cx="3857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>
              <a:off x="5253039" y="3657710"/>
              <a:ext cx="0" cy="315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>
              <a:off x="5162551" y="3657710"/>
              <a:ext cx="22542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7285039" y="2946509"/>
              <a:ext cx="904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8" name="Text Box 57"/>
            <p:cNvSpPr txBox="1">
              <a:spLocks noChangeArrowheads="1"/>
            </p:cNvSpPr>
            <p:nvPr/>
          </p:nvSpPr>
          <p:spPr bwMode="auto">
            <a:xfrm>
              <a:off x="7759701" y="2630596"/>
              <a:ext cx="38576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 i="1" dirty="0" smtClean="0">
                  <a:cs typeface="Times New Roman" panose="02020603050405020304" pitchFamily="18" charset="0"/>
                  <a:sym typeface="Symbol"/>
                </a:rPr>
                <a:t></a:t>
              </a:r>
              <a:endParaRPr lang="zh-CN" altLang="en-US" sz="1800" b="1" i="1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7656514" y="2800459"/>
              <a:ext cx="65087" cy="149225"/>
            </a:xfrm>
            <a:custGeom>
              <a:avLst/>
              <a:gdLst>
                <a:gd name="T0" fmla="*/ 0 w 41"/>
                <a:gd name="T1" fmla="*/ 0 h 94"/>
                <a:gd name="T2" fmla="*/ 31 w 41"/>
                <a:gd name="T3" fmla="*/ 41 h 94"/>
                <a:gd name="T4" fmla="*/ 41 w 41"/>
                <a:gd name="T5" fmla="*/ 94 h 94"/>
                <a:gd name="T6" fmla="*/ 0 60000 65536"/>
                <a:gd name="T7" fmla="*/ 0 60000 65536"/>
                <a:gd name="T8" fmla="*/ 0 60000 65536"/>
                <a:gd name="T9" fmla="*/ 0 w 41"/>
                <a:gd name="T10" fmla="*/ 0 h 94"/>
                <a:gd name="T11" fmla="*/ 41 w 41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94">
                  <a:moveTo>
                    <a:pt x="0" y="0"/>
                  </a:moveTo>
                  <a:cubicBezTo>
                    <a:pt x="12" y="12"/>
                    <a:pt x="24" y="25"/>
                    <a:pt x="31" y="41"/>
                  </a:cubicBezTo>
                  <a:cubicBezTo>
                    <a:pt x="38" y="57"/>
                    <a:pt x="39" y="75"/>
                    <a:pt x="41" y="9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3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0606958"/>
                </p:ext>
              </p:extLst>
            </p:nvPr>
          </p:nvGraphicFramePr>
          <p:xfrm>
            <a:off x="6610693" y="1923556"/>
            <a:ext cx="1879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5871" name="公式" r:id="rId4" imgW="939600" imgH="215640" progId="Equation.3">
                    <p:embed/>
                  </p:oleObj>
                </mc:Choice>
                <mc:Fallback>
                  <p:oleObj name="公式" r:id="rId4" imgW="9396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0693" y="1923556"/>
                          <a:ext cx="18796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4" name="直接连接符 83"/>
            <p:cNvCxnSpPr/>
            <p:nvPr/>
          </p:nvCxnSpPr>
          <p:spPr bwMode="auto">
            <a:xfrm flipV="1">
              <a:off x="7490079" y="2339163"/>
              <a:ext cx="69669" cy="455907"/>
            </a:xfrm>
            <a:prstGeom prst="line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" name="组合 13"/>
          <p:cNvGrpSpPr/>
          <p:nvPr/>
        </p:nvGrpSpPr>
        <p:grpSpPr>
          <a:xfrm>
            <a:off x="5815014" y="2960797"/>
            <a:ext cx="1265237" cy="552450"/>
            <a:chOff x="5815014" y="2960797"/>
            <a:chExt cx="1265237" cy="552450"/>
          </a:xfrm>
        </p:grpSpPr>
        <p:sp>
          <p:nvSpPr>
            <p:cNvPr id="59" name="Oval 58"/>
            <p:cNvSpPr>
              <a:spLocks noChangeAspect="1" noChangeArrowheads="1"/>
            </p:cNvSpPr>
            <p:nvPr/>
          </p:nvSpPr>
          <p:spPr bwMode="auto">
            <a:xfrm>
              <a:off x="5815014" y="3379897"/>
              <a:ext cx="136525" cy="1333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60" name="Oval 59"/>
            <p:cNvSpPr>
              <a:spLocks noChangeAspect="1" noChangeArrowheads="1"/>
            </p:cNvSpPr>
            <p:nvPr/>
          </p:nvSpPr>
          <p:spPr bwMode="auto">
            <a:xfrm>
              <a:off x="6356351" y="3219559"/>
              <a:ext cx="136525" cy="1333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61" name="Oval 60"/>
            <p:cNvSpPr>
              <a:spLocks noChangeAspect="1" noChangeArrowheads="1"/>
            </p:cNvSpPr>
            <p:nvPr/>
          </p:nvSpPr>
          <p:spPr bwMode="auto">
            <a:xfrm>
              <a:off x="6943726" y="2960797"/>
              <a:ext cx="136525" cy="13335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78" name="Text Box 3"/>
          <p:cNvSpPr txBox="1">
            <a:spLocks noChangeArrowheads="1"/>
          </p:cNvSpPr>
          <p:nvPr/>
        </p:nvSpPr>
        <p:spPr bwMode="auto">
          <a:xfrm>
            <a:off x="3398283" y="5842386"/>
            <a:ext cx="2294066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直剪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试验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618661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2" grpId="0"/>
      <p:bldP spid="4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 bwMode="auto">
          <a:xfrm>
            <a:off x="882520" y="2130540"/>
            <a:ext cx="2094614" cy="2211572"/>
          </a:xfrm>
          <a:prstGeom prst="roundRect">
            <a:avLst/>
          </a:prstGeom>
          <a:solidFill>
            <a:schemeClr val="accent5">
              <a:lumMod val="90000"/>
            </a:schemeClr>
          </a:solidFill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398283" y="5842386"/>
            <a:ext cx="2294066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直剪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试验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227468" y="1081362"/>
            <a:ext cx="4576290" cy="4459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A50021"/>
              </a:buClr>
            </a:pPr>
            <a:r>
              <a:rPr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(1)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固结慢剪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施加正应力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充分固结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剪切速率很慢，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&lt;0.02mm/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分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以保证无超静孔压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A50021"/>
              </a:buClr>
            </a:pPr>
            <a:r>
              <a:rPr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固结快剪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施加正应力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充分固结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在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3-5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分钟内剪切破坏</a:t>
            </a:r>
          </a:p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A50021"/>
              </a:buClr>
            </a:pPr>
            <a:r>
              <a:rPr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(3)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快剪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施加正应力后立即剪切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3-5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分钟内剪切破坏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99479" y="2279263"/>
            <a:ext cx="1924493" cy="198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通过控制剪切速率近似模拟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排水条件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直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剪试验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419101" y="724865"/>
            <a:ext cx="3121542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</a:t>
            </a:r>
            <a:r>
              <a:rPr lang="zh-CN" altLang="zh-CN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剪试验的</a:t>
            </a:r>
            <a:r>
              <a:rPr lang="zh-CN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左大括号 1"/>
          <p:cNvSpPr/>
          <p:nvPr/>
        </p:nvSpPr>
        <p:spPr bwMode="auto">
          <a:xfrm>
            <a:off x="3285477" y="1354349"/>
            <a:ext cx="435935" cy="3827721"/>
          </a:xfrm>
          <a:prstGeom prst="leftBrace">
            <a:avLst>
              <a:gd name="adj1" fmla="val 42479"/>
              <a:gd name="adj2" fmla="val 50000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743560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276054" y="2847399"/>
            <a:ext cx="3636187" cy="208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985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人为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固定剪切面</a:t>
            </a:r>
          </a:p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应力和应变分布不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均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排水条件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不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明确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剪切</a:t>
            </a:r>
            <a:r>
              <a:rPr lang="zh-CN" altLang="en-US" sz="2400" b="1" smtClean="0">
                <a:solidFill>
                  <a:srgbClr val="000066"/>
                </a:solidFill>
                <a:ea typeface="幼圆" pitchFamily="49" charset="-122"/>
              </a:rPr>
              <a:t>面上应力状态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复杂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直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剪试验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2870200" algn="l"/>
              </a:tabLs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1" name="Text Box 38"/>
          <p:cNvSpPr txBox="1">
            <a:spLocks noChangeArrowheads="1"/>
          </p:cNvSpPr>
          <p:nvPr/>
        </p:nvSpPr>
        <p:spPr bwMode="auto">
          <a:xfrm>
            <a:off x="419100" y="724865"/>
            <a:ext cx="357874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</a:t>
            </a:r>
            <a:r>
              <a:rPr lang="zh-CN" altLang="zh-CN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剪试验</a:t>
            </a:r>
            <a:r>
              <a:rPr lang="zh-CN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优缺点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85303" y="2370147"/>
            <a:ext cx="3557769" cy="2941732"/>
            <a:chOff x="5185303" y="2370147"/>
            <a:chExt cx="3557769" cy="2941732"/>
          </a:xfrm>
        </p:grpSpPr>
        <p:sp>
          <p:nvSpPr>
            <p:cNvPr id="57" name="Text Box 56"/>
            <p:cNvSpPr txBox="1">
              <a:spLocks noChangeArrowheads="1"/>
            </p:cNvSpPr>
            <p:nvPr/>
          </p:nvSpPr>
          <p:spPr bwMode="auto">
            <a:xfrm>
              <a:off x="6041247" y="4911769"/>
              <a:ext cx="242226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试样内</a:t>
              </a:r>
              <a:r>
                <a:rPr lang="zh-CN" altLang="en-US" sz="2000" b="1" dirty="0" smtClean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的变形</a:t>
              </a:r>
              <a:r>
                <a:rPr lang="zh-CN" altLang="en-US" sz="20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分布</a:t>
              </a:r>
              <a:endPara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2" name="Line 8"/>
            <p:cNvSpPr>
              <a:spLocks noChangeShapeType="1"/>
            </p:cNvSpPr>
            <p:nvPr/>
          </p:nvSpPr>
          <p:spPr bwMode="auto">
            <a:xfrm>
              <a:off x="5539563" y="4716415"/>
              <a:ext cx="3203509" cy="0"/>
            </a:xfrm>
            <a:prstGeom prst="line">
              <a:avLst/>
            </a:prstGeom>
            <a:noFill/>
            <a:ln w="76200">
              <a:pattFill prst="dkUpDiag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10"/>
            <p:cNvSpPr txBox="1">
              <a:spLocks noChangeArrowheads="1"/>
            </p:cNvSpPr>
            <p:nvPr/>
          </p:nvSpPr>
          <p:spPr bwMode="auto">
            <a:xfrm>
              <a:off x="6639609" y="2370147"/>
              <a:ext cx="6334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4" name="Text Box 12"/>
            <p:cNvSpPr txBox="1">
              <a:spLocks noChangeArrowheads="1"/>
            </p:cNvSpPr>
            <p:nvPr/>
          </p:nvSpPr>
          <p:spPr bwMode="auto">
            <a:xfrm>
              <a:off x="5185303" y="3784105"/>
              <a:ext cx="4968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5" name="Line 16"/>
            <p:cNvSpPr>
              <a:spLocks noChangeShapeType="1"/>
            </p:cNvSpPr>
            <p:nvPr/>
          </p:nvSpPr>
          <p:spPr bwMode="auto">
            <a:xfrm>
              <a:off x="5539562" y="4670378"/>
              <a:ext cx="32035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Rectangle 6" descr="大纸屑"/>
            <p:cNvSpPr>
              <a:spLocks noChangeArrowheads="1"/>
            </p:cNvSpPr>
            <p:nvPr/>
          </p:nvSpPr>
          <p:spPr bwMode="auto">
            <a:xfrm>
              <a:off x="6170052" y="3317657"/>
              <a:ext cx="1964982" cy="101797"/>
            </a:xfrm>
            <a:prstGeom prst="rect">
              <a:avLst/>
            </a:prstGeom>
            <a:pattFill prst="lgConfetti">
              <a:fgClr>
                <a:schemeClr val="folHlink"/>
              </a:fgClr>
              <a:bgClr>
                <a:schemeClr val="bg1"/>
              </a:bgClr>
            </a:pattFill>
            <a:ln w="63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Rectangle 7" descr="大纸屑"/>
            <p:cNvSpPr>
              <a:spLocks noChangeArrowheads="1"/>
            </p:cNvSpPr>
            <p:nvPr/>
          </p:nvSpPr>
          <p:spPr bwMode="auto">
            <a:xfrm>
              <a:off x="6210106" y="4237897"/>
              <a:ext cx="1981200" cy="87892"/>
            </a:xfrm>
            <a:prstGeom prst="rect">
              <a:avLst/>
            </a:prstGeom>
            <a:pattFill prst="lgConfetti">
              <a:fgClr>
                <a:schemeClr val="folHlink"/>
              </a:fgClr>
              <a:bgClr>
                <a:schemeClr val="bg1"/>
              </a:bgClr>
            </a:pattFill>
            <a:ln w="635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Rectangle 9" descr="浅色上对角线"/>
            <p:cNvSpPr>
              <a:spLocks noChangeAspect="1" noChangeArrowheads="1"/>
            </p:cNvSpPr>
            <p:nvPr/>
          </p:nvSpPr>
          <p:spPr bwMode="auto">
            <a:xfrm>
              <a:off x="6172430" y="3150747"/>
              <a:ext cx="1957388" cy="167024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Rectangle 17"/>
            <p:cNvSpPr>
              <a:spLocks noChangeAspect="1" noChangeArrowheads="1"/>
            </p:cNvSpPr>
            <p:nvPr/>
          </p:nvSpPr>
          <p:spPr bwMode="auto">
            <a:xfrm>
              <a:off x="6161214" y="3402499"/>
              <a:ext cx="2037003" cy="835107"/>
            </a:xfrm>
            <a:custGeom>
              <a:avLst/>
              <a:gdLst>
                <a:gd name="connsiteX0" fmla="*/ 0 w 1957388"/>
                <a:gd name="connsiteY0" fmla="*/ 0 h 862958"/>
                <a:gd name="connsiteX1" fmla="*/ 1957388 w 1957388"/>
                <a:gd name="connsiteY1" fmla="*/ 0 h 862958"/>
                <a:gd name="connsiteX2" fmla="*/ 1957388 w 1957388"/>
                <a:gd name="connsiteY2" fmla="*/ 862958 h 862958"/>
                <a:gd name="connsiteX3" fmla="*/ 0 w 1957388"/>
                <a:gd name="connsiteY3" fmla="*/ 862958 h 862958"/>
                <a:gd name="connsiteX4" fmla="*/ 0 w 1957388"/>
                <a:gd name="connsiteY4" fmla="*/ 0 h 862958"/>
                <a:gd name="connsiteX0" fmla="*/ 10885 w 1968273"/>
                <a:gd name="connsiteY0" fmla="*/ 0 h 862958"/>
                <a:gd name="connsiteX1" fmla="*/ 1968273 w 1968273"/>
                <a:gd name="connsiteY1" fmla="*/ 0 h 862958"/>
                <a:gd name="connsiteX2" fmla="*/ 1968273 w 1968273"/>
                <a:gd name="connsiteY2" fmla="*/ 862958 h 862958"/>
                <a:gd name="connsiteX3" fmla="*/ 0 w 1968273"/>
                <a:gd name="connsiteY3" fmla="*/ 859329 h 862958"/>
                <a:gd name="connsiteX4" fmla="*/ 10885 w 1968273"/>
                <a:gd name="connsiteY4" fmla="*/ 0 h 862958"/>
                <a:gd name="connsiteX0" fmla="*/ 10885 w 2007149"/>
                <a:gd name="connsiteY0" fmla="*/ 0 h 862958"/>
                <a:gd name="connsiteX1" fmla="*/ 1968273 w 2007149"/>
                <a:gd name="connsiteY1" fmla="*/ 0 h 862958"/>
                <a:gd name="connsiteX2" fmla="*/ 2007149 w 2007149"/>
                <a:gd name="connsiteY2" fmla="*/ 481675 h 862958"/>
                <a:gd name="connsiteX3" fmla="*/ 1968273 w 2007149"/>
                <a:gd name="connsiteY3" fmla="*/ 862958 h 862958"/>
                <a:gd name="connsiteX4" fmla="*/ 0 w 2007149"/>
                <a:gd name="connsiteY4" fmla="*/ 859329 h 862958"/>
                <a:gd name="connsiteX5" fmla="*/ 10885 w 2007149"/>
                <a:gd name="connsiteY5" fmla="*/ 0 h 862958"/>
                <a:gd name="connsiteX0" fmla="*/ 10885 w 2031131"/>
                <a:gd name="connsiteY0" fmla="*/ 0 h 859329"/>
                <a:gd name="connsiteX1" fmla="*/ 1968273 w 2031131"/>
                <a:gd name="connsiteY1" fmla="*/ 0 h 859329"/>
                <a:gd name="connsiteX2" fmla="*/ 2007149 w 2031131"/>
                <a:gd name="connsiteY2" fmla="*/ 481675 h 859329"/>
                <a:gd name="connsiteX3" fmla="*/ 2031131 w 2031131"/>
                <a:gd name="connsiteY3" fmla="*/ 848288 h 859329"/>
                <a:gd name="connsiteX4" fmla="*/ 0 w 2031131"/>
                <a:gd name="connsiteY4" fmla="*/ 859329 h 859329"/>
                <a:gd name="connsiteX5" fmla="*/ 10885 w 2031131"/>
                <a:gd name="connsiteY5" fmla="*/ 0 h 859329"/>
                <a:gd name="connsiteX0" fmla="*/ 10885 w 2031131"/>
                <a:gd name="connsiteY0" fmla="*/ 0 h 859329"/>
                <a:gd name="connsiteX1" fmla="*/ 1968273 w 2031131"/>
                <a:gd name="connsiteY1" fmla="*/ 0 h 859329"/>
                <a:gd name="connsiteX2" fmla="*/ 2022291 w 2031131"/>
                <a:gd name="connsiteY2" fmla="*/ 479487 h 859329"/>
                <a:gd name="connsiteX3" fmla="*/ 2031131 w 2031131"/>
                <a:gd name="connsiteY3" fmla="*/ 848288 h 859329"/>
                <a:gd name="connsiteX4" fmla="*/ 0 w 2031131"/>
                <a:gd name="connsiteY4" fmla="*/ 859329 h 859329"/>
                <a:gd name="connsiteX5" fmla="*/ 10885 w 2031131"/>
                <a:gd name="connsiteY5" fmla="*/ 0 h 859329"/>
                <a:gd name="connsiteX0" fmla="*/ 10885 w 2114207"/>
                <a:gd name="connsiteY0" fmla="*/ 0 h 859329"/>
                <a:gd name="connsiteX1" fmla="*/ 1968273 w 2114207"/>
                <a:gd name="connsiteY1" fmla="*/ 0 h 859329"/>
                <a:gd name="connsiteX2" fmla="*/ 1966431 w 2114207"/>
                <a:gd name="connsiteY2" fmla="*/ 416822 h 859329"/>
                <a:gd name="connsiteX3" fmla="*/ 2022291 w 2114207"/>
                <a:gd name="connsiteY3" fmla="*/ 479487 h 859329"/>
                <a:gd name="connsiteX4" fmla="*/ 2031131 w 2114207"/>
                <a:gd name="connsiteY4" fmla="*/ 848288 h 859329"/>
                <a:gd name="connsiteX5" fmla="*/ 0 w 2114207"/>
                <a:gd name="connsiteY5" fmla="*/ 859329 h 859329"/>
                <a:gd name="connsiteX6" fmla="*/ 10885 w 2114207"/>
                <a:gd name="connsiteY6" fmla="*/ 0 h 859329"/>
                <a:gd name="connsiteX0" fmla="*/ 10885 w 2114207"/>
                <a:gd name="connsiteY0" fmla="*/ 0 h 859329"/>
                <a:gd name="connsiteX1" fmla="*/ 1968273 w 2114207"/>
                <a:gd name="connsiteY1" fmla="*/ 0 h 859329"/>
                <a:gd name="connsiteX2" fmla="*/ 1966431 w 2114207"/>
                <a:gd name="connsiteY2" fmla="*/ 416822 h 859329"/>
                <a:gd name="connsiteX3" fmla="*/ 2022291 w 2114207"/>
                <a:gd name="connsiteY3" fmla="*/ 479487 h 859329"/>
                <a:gd name="connsiteX4" fmla="*/ 2031131 w 2114207"/>
                <a:gd name="connsiteY4" fmla="*/ 848288 h 859329"/>
                <a:gd name="connsiteX5" fmla="*/ 0 w 2114207"/>
                <a:gd name="connsiteY5" fmla="*/ 859329 h 859329"/>
                <a:gd name="connsiteX6" fmla="*/ 10885 w 2114207"/>
                <a:gd name="connsiteY6" fmla="*/ 0 h 859329"/>
                <a:gd name="connsiteX0" fmla="*/ 10885 w 2031131"/>
                <a:gd name="connsiteY0" fmla="*/ 0 h 859329"/>
                <a:gd name="connsiteX1" fmla="*/ 1968273 w 2031131"/>
                <a:gd name="connsiteY1" fmla="*/ 0 h 859329"/>
                <a:gd name="connsiteX2" fmla="*/ 1966431 w 2031131"/>
                <a:gd name="connsiteY2" fmla="*/ 416822 h 859329"/>
                <a:gd name="connsiteX3" fmla="*/ 2022291 w 2031131"/>
                <a:gd name="connsiteY3" fmla="*/ 479487 h 859329"/>
                <a:gd name="connsiteX4" fmla="*/ 2031131 w 2031131"/>
                <a:gd name="connsiteY4" fmla="*/ 848288 h 859329"/>
                <a:gd name="connsiteX5" fmla="*/ 0 w 2031131"/>
                <a:gd name="connsiteY5" fmla="*/ 859329 h 859329"/>
                <a:gd name="connsiteX6" fmla="*/ 10885 w 2031131"/>
                <a:gd name="connsiteY6" fmla="*/ 0 h 859329"/>
                <a:gd name="connsiteX0" fmla="*/ 10885 w 2031131"/>
                <a:gd name="connsiteY0" fmla="*/ 0 h 859329"/>
                <a:gd name="connsiteX1" fmla="*/ 1968273 w 2031131"/>
                <a:gd name="connsiteY1" fmla="*/ 0 h 859329"/>
                <a:gd name="connsiteX2" fmla="*/ 1966431 w 2031131"/>
                <a:gd name="connsiteY2" fmla="*/ 416822 h 859329"/>
                <a:gd name="connsiteX3" fmla="*/ 2022291 w 2031131"/>
                <a:gd name="connsiteY3" fmla="*/ 479487 h 859329"/>
                <a:gd name="connsiteX4" fmla="*/ 2031131 w 2031131"/>
                <a:gd name="connsiteY4" fmla="*/ 848288 h 859329"/>
                <a:gd name="connsiteX5" fmla="*/ 0 w 2031131"/>
                <a:gd name="connsiteY5" fmla="*/ 859329 h 859329"/>
                <a:gd name="connsiteX6" fmla="*/ 13121 w 2031131"/>
                <a:gd name="connsiteY6" fmla="*/ 405884 h 859329"/>
                <a:gd name="connsiteX7" fmla="*/ 10885 w 2031131"/>
                <a:gd name="connsiteY7" fmla="*/ 0 h 859329"/>
                <a:gd name="connsiteX0" fmla="*/ 145909 w 2166155"/>
                <a:gd name="connsiteY0" fmla="*/ 0 h 859329"/>
                <a:gd name="connsiteX1" fmla="*/ 2103297 w 2166155"/>
                <a:gd name="connsiteY1" fmla="*/ 0 h 859329"/>
                <a:gd name="connsiteX2" fmla="*/ 2101455 w 2166155"/>
                <a:gd name="connsiteY2" fmla="*/ 416822 h 859329"/>
                <a:gd name="connsiteX3" fmla="*/ 2157315 w 2166155"/>
                <a:gd name="connsiteY3" fmla="*/ 479487 h 859329"/>
                <a:gd name="connsiteX4" fmla="*/ 2166155 w 2166155"/>
                <a:gd name="connsiteY4" fmla="*/ 848288 h 859329"/>
                <a:gd name="connsiteX5" fmla="*/ 135024 w 2166155"/>
                <a:gd name="connsiteY5" fmla="*/ 859329 h 859329"/>
                <a:gd name="connsiteX6" fmla="*/ 200061 w 2166155"/>
                <a:gd name="connsiteY6" fmla="*/ 467135 h 859329"/>
                <a:gd name="connsiteX7" fmla="*/ 148145 w 2166155"/>
                <a:gd name="connsiteY7" fmla="*/ 405884 h 859329"/>
                <a:gd name="connsiteX8" fmla="*/ 145909 w 2166155"/>
                <a:gd name="connsiteY8" fmla="*/ 0 h 859329"/>
                <a:gd name="connsiteX0" fmla="*/ 10885 w 2031131"/>
                <a:gd name="connsiteY0" fmla="*/ 0 h 859329"/>
                <a:gd name="connsiteX1" fmla="*/ 1968273 w 2031131"/>
                <a:gd name="connsiteY1" fmla="*/ 0 h 859329"/>
                <a:gd name="connsiteX2" fmla="*/ 1966431 w 2031131"/>
                <a:gd name="connsiteY2" fmla="*/ 416822 h 859329"/>
                <a:gd name="connsiteX3" fmla="*/ 2022291 w 2031131"/>
                <a:gd name="connsiteY3" fmla="*/ 479487 h 859329"/>
                <a:gd name="connsiteX4" fmla="*/ 2031131 w 2031131"/>
                <a:gd name="connsiteY4" fmla="*/ 848288 h 859329"/>
                <a:gd name="connsiteX5" fmla="*/ 0 w 2031131"/>
                <a:gd name="connsiteY5" fmla="*/ 859329 h 859329"/>
                <a:gd name="connsiteX6" fmla="*/ 65037 w 2031131"/>
                <a:gd name="connsiteY6" fmla="*/ 467135 h 859329"/>
                <a:gd name="connsiteX7" fmla="*/ 13121 w 2031131"/>
                <a:gd name="connsiteY7" fmla="*/ 405884 h 859329"/>
                <a:gd name="connsiteX8" fmla="*/ 10885 w 2031131"/>
                <a:gd name="connsiteY8" fmla="*/ 0 h 859329"/>
                <a:gd name="connsiteX0" fmla="*/ 10885 w 2031131"/>
                <a:gd name="connsiteY0" fmla="*/ 0 h 859329"/>
                <a:gd name="connsiteX1" fmla="*/ 1968273 w 2031131"/>
                <a:gd name="connsiteY1" fmla="*/ 0 h 859329"/>
                <a:gd name="connsiteX2" fmla="*/ 1966431 w 2031131"/>
                <a:gd name="connsiteY2" fmla="*/ 416822 h 859329"/>
                <a:gd name="connsiteX3" fmla="*/ 2022291 w 2031131"/>
                <a:gd name="connsiteY3" fmla="*/ 479487 h 859329"/>
                <a:gd name="connsiteX4" fmla="*/ 2031131 w 2031131"/>
                <a:gd name="connsiteY4" fmla="*/ 848288 h 859329"/>
                <a:gd name="connsiteX5" fmla="*/ 0 w 2031131"/>
                <a:gd name="connsiteY5" fmla="*/ 859329 h 859329"/>
                <a:gd name="connsiteX6" fmla="*/ 65037 w 2031131"/>
                <a:gd name="connsiteY6" fmla="*/ 467135 h 859329"/>
                <a:gd name="connsiteX7" fmla="*/ 13121 w 2031131"/>
                <a:gd name="connsiteY7" fmla="*/ 405884 h 859329"/>
                <a:gd name="connsiteX8" fmla="*/ 10885 w 2031131"/>
                <a:gd name="connsiteY8" fmla="*/ 0 h 859329"/>
                <a:gd name="connsiteX0" fmla="*/ 0 w 2020246"/>
                <a:gd name="connsiteY0" fmla="*/ 0 h 848288"/>
                <a:gd name="connsiteX1" fmla="*/ 1957388 w 2020246"/>
                <a:gd name="connsiteY1" fmla="*/ 0 h 848288"/>
                <a:gd name="connsiteX2" fmla="*/ 1955546 w 2020246"/>
                <a:gd name="connsiteY2" fmla="*/ 416822 h 848288"/>
                <a:gd name="connsiteX3" fmla="*/ 2011406 w 2020246"/>
                <a:gd name="connsiteY3" fmla="*/ 479487 h 848288"/>
                <a:gd name="connsiteX4" fmla="*/ 2020246 w 2020246"/>
                <a:gd name="connsiteY4" fmla="*/ 848288 h 848288"/>
                <a:gd name="connsiteX5" fmla="*/ 51989 w 2020246"/>
                <a:gd name="connsiteY5" fmla="*/ 835107 h 848288"/>
                <a:gd name="connsiteX6" fmla="*/ 54152 w 2020246"/>
                <a:gd name="connsiteY6" fmla="*/ 467135 h 848288"/>
                <a:gd name="connsiteX7" fmla="*/ 2236 w 2020246"/>
                <a:gd name="connsiteY7" fmla="*/ 405884 h 848288"/>
                <a:gd name="connsiteX8" fmla="*/ 0 w 2020246"/>
                <a:gd name="connsiteY8" fmla="*/ 0 h 848288"/>
                <a:gd name="connsiteX0" fmla="*/ 0 w 2014258"/>
                <a:gd name="connsiteY0" fmla="*/ 0 h 835107"/>
                <a:gd name="connsiteX1" fmla="*/ 1957388 w 2014258"/>
                <a:gd name="connsiteY1" fmla="*/ 0 h 835107"/>
                <a:gd name="connsiteX2" fmla="*/ 1955546 w 2014258"/>
                <a:gd name="connsiteY2" fmla="*/ 416822 h 835107"/>
                <a:gd name="connsiteX3" fmla="*/ 2011406 w 2014258"/>
                <a:gd name="connsiteY3" fmla="*/ 479487 h 835107"/>
                <a:gd name="connsiteX4" fmla="*/ 2014258 w 2014258"/>
                <a:gd name="connsiteY4" fmla="*/ 833149 h 835107"/>
                <a:gd name="connsiteX5" fmla="*/ 51989 w 2014258"/>
                <a:gd name="connsiteY5" fmla="*/ 835107 h 835107"/>
                <a:gd name="connsiteX6" fmla="*/ 54152 w 2014258"/>
                <a:gd name="connsiteY6" fmla="*/ 467135 h 835107"/>
                <a:gd name="connsiteX7" fmla="*/ 2236 w 2014258"/>
                <a:gd name="connsiteY7" fmla="*/ 405884 h 835107"/>
                <a:gd name="connsiteX8" fmla="*/ 0 w 2014258"/>
                <a:gd name="connsiteY8" fmla="*/ 0 h 835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4258" h="835107">
                  <a:moveTo>
                    <a:pt x="0" y="0"/>
                  </a:moveTo>
                  <a:lnTo>
                    <a:pt x="1957388" y="0"/>
                  </a:lnTo>
                  <a:lnTo>
                    <a:pt x="1955546" y="416822"/>
                  </a:lnTo>
                  <a:lnTo>
                    <a:pt x="2011406" y="479487"/>
                  </a:lnTo>
                  <a:cubicBezTo>
                    <a:pt x="2012357" y="597374"/>
                    <a:pt x="2013307" y="715262"/>
                    <a:pt x="2014258" y="833149"/>
                  </a:cubicBezTo>
                  <a:lnTo>
                    <a:pt x="51989" y="835107"/>
                  </a:lnTo>
                  <a:lnTo>
                    <a:pt x="54152" y="467135"/>
                  </a:lnTo>
                  <a:lnTo>
                    <a:pt x="2236" y="405884"/>
                  </a:lnTo>
                  <a:cubicBezTo>
                    <a:pt x="1491" y="270589"/>
                    <a:pt x="745" y="135295"/>
                    <a:pt x="0" y="0"/>
                  </a:cubicBezTo>
                  <a:close/>
                </a:path>
              </a:pathLst>
            </a:custGeom>
            <a:solidFill>
              <a:srgbClr val="FFC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6012319" y="3319002"/>
              <a:ext cx="152400" cy="499862"/>
            </a:xfrm>
            <a:prstGeom prst="rect">
              <a:avLst/>
            </a:prstGeom>
            <a:pattFill prst="ltUpDiag">
              <a:fgClr>
                <a:srgbClr val="000066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AutoShape 31"/>
            <p:cNvSpPr>
              <a:spLocks noChangeArrowheads="1"/>
            </p:cNvSpPr>
            <p:nvPr/>
          </p:nvSpPr>
          <p:spPr bwMode="auto">
            <a:xfrm rot="5400000">
              <a:off x="6874988" y="2680592"/>
              <a:ext cx="464960" cy="473075"/>
            </a:xfrm>
            <a:prstGeom prst="rightArrow">
              <a:avLst>
                <a:gd name="adj1" fmla="val 45941"/>
                <a:gd name="adj2" fmla="val 44000"/>
              </a:avLst>
            </a:prstGeom>
            <a:solidFill>
              <a:srgbClr val="A50021"/>
            </a:solidFill>
            <a:ln w="9525">
              <a:solidFill>
                <a:srgbClr val="A5002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8298771" y="3258135"/>
              <a:ext cx="302531" cy="582492"/>
              <a:chOff x="8188326" y="1347788"/>
              <a:chExt cx="431800" cy="1036638"/>
            </a:xfrm>
          </p:grpSpPr>
          <p:grpSp>
            <p:nvGrpSpPr>
              <p:cNvPr id="83" name="Group 13"/>
              <p:cNvGrpSpPr>
                <a:grpSpLocks/>
              </p:cNvGrpSpPr>
              <p:nvPr/>
            </p:nvGrpSpPr>
            <p:grpSpPr bwMode="auto">
              <a:xfrm>
                <a:off x="8188326" y="1347788"/>
                <a:ext cx="268288" cy="1036638"/>
                <a:chOff x="1920" y="1344"/>
                <a:chExt cx="96" cy="336"/>
              </a:xfrm>
            </p:grpSpPr>
            <p:sp>
              <p:nvSpPr>
                <p:cNvPr id="90" name="AutoShape 14"/>
                <p:cNvSpPr>
                  <a:spLocks noChangeArrowheads="1"/>
                </p:cNvSpPr>
                <p:nvPr/>
              </p:nvSpPr>
              <p:spPr bwMode="auto">
                <a:xfrm rot="-5400000">
                  <a:off x="1896" y="1464"/>
                  <a:ext cx="144" cy="96"/>
                </a:xfrm>
                <a:prstGeom prst="flowChartExtract">
                  <a:avLst/>
                </a:prstGeom>
                <a:noFill/>
                <a:ln w="349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Line 15"/>
                <p:cNvSpPr>
                  <a:spLocks noChangeShapeType="1"/>
                </p:cNvSpPr>
                <p:nvPr/>
              </p:nvSpPr>
              <p:spPr bwMode="auto">
                <a:xfrm>
                  <a:off x="2016" y="1344"/>
                  <a:ext cx="0" cy="336"/>
                </a:xfrm>
                <a:prstGeom prst="line">
                  <a:avLst/>
                </a:prstGeom>
                <a:noFill/>
                <a:ln w="349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4" name="Line 40"/>
              <p:cNvSpPr>
                <a:spLocks noChangeShapeType="1"/>
              </p:cNvSpPr>
              <p:nvPr/>
            </p:nvSpPr>
            <p:spPr bwMode="auto">
              <a:xfrm flipV="1">
                <a:off x="8461376" y="1382713"/>
                <a:ext cx="127000" cy="139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41"/>
              <p:cNvSpPr>
                <a:spLocks noChangeShapeType="1"/>
              </p:cNvSpPr>
              <p:nvPr/>
            </p:nvSpPr>
            <p:spPr bwMode="auto">
              <a:xfrm flipV="1">
                <a:off x="8467726" y="1541463"/>
                <a:ext cx="127000" cy="139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42"/>
              <p:cNvSpPr>
                <a:spLocks noChangeShapeType="1"/>
              </p:cNvSpPr>
              <p:nvPr/>
            </p:nvSpPr>
            <p:spPr bwMode="auto">
              <a:xfrm flipV="1">
                <a:off x="8474076" y="1700213"/>
                <a:ext cx="127000" cy="139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43"/>
              <p:cNvSpPr>
                <a:spLocks noChangeShapeType="1"/>
              </p:cNvSpPr>
              <p:nvPr/>
            </p:nvSpPr>
            <p:spPr bwMode="auto">
              <a:xfrm flipV="1">
                <a:off x="8480426" y="1858963"/>
                <a:ext cx="127000" cy="139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44"/>
              <p:cNvSpPr>
                <a:spLocks noChangeShapeType="1"/>
              </p:cNvSpPr>
              <p:nvPr/>
            </p:nvSpPr>
            <p:spPr bwMode="auto">
              <a:xfrm flipV="1">
                <a:off x="8486776" y="2017713"/>
                <a:ext cx="127000" cy="139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45"/>
              <p:cNvSpPr>
                <a:spLocks noChangeShapeType="1"/>
              </p:cNvSpPr>
              <p:nvPr/>
            </p:nvSpPr>
            <p:spPr bwMode="auto">
              <a:xfrm flipV="1">
                <a:off x="8493126" y="2176463"/>
                <a:ext cx="127000" cy="139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92" name="直接连接符 91"/>
            <p:cNvCxnSpPr/>
            <p:nvPr/>
          </p:nvCxnSpPr>
          <p:spPr bwMode="auto">
            <a:xfrm>
              <a:off x="6217360" y="4237897"/>
              <a:ext cx="19800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3" name="Freeform 19"/>
            <p:cNvSpPr>
              <a:spLocks/>
            </p:cNvSpPr>
            <p:nvPr/>
          </p:nvSpPr>
          <p:spPr bwMode="auto">
            <a:xfrm>
              <a:off x="6067231" y="3865868"/>
              <a:ext cx="2281238" cy="612422"/>
            </a:xfrm>
            <a:custGeom>
              <a:avLst/>
              <a:gdLst>
                <a:gd name="T0" fmla="*/ 100 w 1437"/>
                <a:gd name="T1" fmla="*/ 0 h 506"/>
                <a:gd name="T2" fmla="*/ 96 w 1437"/>
                <a:gd name="T3" fmla="*/ 375 h 506"/>
                <a:gd name="T4" fmla="*/ 1341 w 1437"/>
                <a:gd name="T5" fmla="*/ 375 h 506"/>
                <a:gd name="T6" fmla="*/ 1341 w 1437"/>
                <a:gd name="T7" fmla="*/ 4 h 506"/>
                <a:gd name="T8" fmla="*/ 1437 w 1437"/>
                <a:gd name="T9" fmla="*/ 4 h 506"/>
                <a:gd name="T10" fmla="*/ 1437 w 1437"/>
                <a:gd name="T11" fmla="*/ 506 h 506"/>
                <a:gd name="T12" fmla="*/ 0 w 1437"/>
                <a:gd name="T13" fmla="*/ 506 h 506"/>
                <a:gd name="T14" fmla="*/ 0 w 1437"/>
                <a:gd name="T15" fmla="*/ 0 h 506"/>
                <a:gd name="T16" fmla="*/ 100 w 1437"/>
                <a:gd name="T17" fmla="*/ 0 h 5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37"/>
                <a:gd name="T28" fmla="*/ 0 h 506"/>
                <a:gd name="T29" fmla="*/ 1437 w 1437"/>
                <a:gd name="T30" fmla="*/ 506 h 50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37" h="506">
                  <a:moveTo>
                    <a:pt x="100" y="0"/>
                  </a:moveTo>
                  <a:lnTo>
                    <a:pt x="96" y="375"/>
                  </a:lnTo>
                  <a:lnTo>
                    <a:pt x="1341" y="375"/>
                  </a:lnTo>
                  <a:lnTo>
                    <a:pt x="1341" y="4"/>
                  </a:lnTo>
                  <a:lnTo>
                    <a:pt x="1437" y="4"/>
                  </a:lnTo>
                  <a:lnTo>
                    <a:pt x="1437" y="506"/>
                  </a:lnTo>
                  <a:lnTo>
                    <a:pt x="0" y="506"/>
                  </a:lnTo>
                  <a:lnTo>
                    <a:pt x="0" y="0"/>
                  </a:lnTo>
                  <a:lnTo>
                    <a:pt x="100" y="0"/>
                  </a:lnTo>
                  <a:close/>
                </a:path>
              </a:pathLst>
            </a:custGeom>
            <a:pattFill prst="ltUpDiag">
              <a:fgClr>
                <a:srgbClr val="000066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95" name="直接连接符 94"/>
            <p:cNvCxnSpPr/>
            <p:nvPr/>
          </p:nvCxnSpPr>
          <p:spPr bwMode="auto">
            <a:xfrm>
              <a:off x="6166950" y="3407534"/>
              <a:ext cx="19800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6" name="Rectangle 26"/>
            <p:cNvSpPr>
              <a:spLocks noChangeArrowheads="1"/>
            </p:cNvSpPr>
            <p:nvPr/>
          </p:nvSpPr>
          <p:spPr bwMode="auto">
            <a:xfrm>
              <a:off x="8135033" y="3319003"/>
              <a:ext cx="152400" cy="499862"/>
            </a:xfrm>
            <a:prstGeom prst="rect">
              <a:avLst/>
            </a:prstGeom>
            <a:pattFill prst="ltUpDiag">
              <a:fgClr>
                <a:srgbClr val="000066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7" name="组合 96"/>
            <p:cNvGrpSpPr/>
            <p:nvPr/>
          </p:nvGrpSpPr>
          <p:grpSpPr>
            <a:xfrm>
              <a:off x="6300593" y="4357641"/>
              <a:ext cx="303212" cy="303212"/>
              <a:chOff x="6084888" y="2830390"/>
              <a:chExt cx="350838" cy="350838"/>
            </a:xfrm>
          </p:grpSpPr>
          <p:sp>
            <p:nvSpPr>
              <p:cNvPr id="98" name="Oval 20"/>
              <p:cNvSpPr>
                <a:spLocks noChangeArrowheads="1"/>
              </p:cNvSpPr>
              <p:nvPr/>
            </p:nvSpPr>
            <p:spPr bwMode="auto">
              <a:xfrm>
                <a:off x="6084888" y="2830390"/>
                <a:ext cx="350838" cy="350838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Oval 21"/>
              <p:cNvSpPr>
                <a:spLocks noChangeArrowheads="1"/>
              </p:cNvSpPr>
              <p:nvPr/>
            </p:nvSpPr>
            <p:spPr bwMode="auto">
              <a:xfrm>
                <a:off x="6156326" y="2901828"/>
                <a:ext cx="214313" cy="214313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7770618" y="4359229"/>
              <a:ext cx="303212" cy="303212"/>
              <a:chOff x="7554913" y="2831978"/>
              <a:chExt cx="350838" cy="350838"/>
            </a:xfrm>
          </p:grpSpPr>
          <p:sp>
            <p:nvSpPr>
              <p:cNvPr id="101" name="Oval 22"/>
              <p:cNvSpPr>
                <a:spLocks noChangeArrowheads="1"/>
              </p:cNvSpPr>
              <p:nvPr/>
            </p:nvSpPr>
            <p:spPr bwMode="auto">
              <a:xfrm>
                <a:off x="7554913" y="2831978"/>
                <a:ext cx="350838" cy="350838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Oval 23"/>
              <p:cNvSpPr>
                <a:spLocks noChangeArrowheads="1"/>
              </p:cNvSpPr>
              <p:nvPr/>
            </p:nvSpPr>
            <p:spPr bwMode="auto">
              <a:xfrm>
                <a:off x="7626351" y="2903415"/>
                <a:ext cx="214313" cy="214313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7026081" y="4365579"/>
              <a:ext cx="303212" cy="303212"/>
              <a:chOff x="6810376" y="2838328"/>
              <a:chExt cx="350838" cy="350838"/>
            </a:xfrm>
          </p:grpSpPr>
          <p:sp>
            <p:nvSpPr>
              <p:cNvPr id="104" name="Oval 24"/>
              <p:cNvSpPr>
                <a:spLocks noChangeArrowheads="1"/>
              </p:cNvSpPr>
              <p:nvPr/>
            </p:nvSpPr>
            <p:spPr bwMode="auto">
              <a:xfrm>
                <a:off x="6810376" y="2838328"/>
                <a:ext cx="350838" cy="350838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Oval 25"/>
              <p:cNvSpPr>
                <a:spLocks noChangeArrowheads="1"/>
              </p:cNvSpPr>
              <p:nvPr/>
            </p:nvSpPr>
            <p:spPr bwMode="auto">
              <a:xfrm>
                <a:off x="6881813" y="2909765"/>
                <a:ext cx="214313" cy="214313"/>
              </a:xfrm>
              <a:prstGeom prst="ellipse">
                <a:avLst/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7" name="AutoShape 31"/>
            <p:cNvSpPr>
              <a:spLocks noChangeArrowheads="1"/>
            </p:cNvSpPr>
            <p:nvPr/>
          </p:nvSpPr>
          <p:spPr bwMode="auto">
            <a:xfrm>
              <a:off x="5581283" y="3975665"/>
              <a:ext cx="473150" cy="420180"/>
            </a:xfrm>
            <a:prstGeom prst="rightArrow">
              <a:avLst>
                <a:gd name="adj1" fmla="val 45941"/>
                <a:gd name="adj2" fmla="val 44000"/>
              </a:avLst>
            </a:prstGeom>
            <a:solidFill>
              <a:srgbClr val="A50021"/>
            </a:solidFill>
            <a:ln w="9525">
              <a:solidFill>
                <a:srgbClr val="A5002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Freeform 42"/>
            <p:cNvSpPr>
              <a:spLocks/>
            </p:cNvSpPr>
            <p:nvPr/>
          </p:nvSpPr>
          <p:spPr bwMode="auto">
            <a:xfrm flipH="1">
              <a:off x="6266942" y="3404033"/>
              <a:ext cx="187691" cy="825163"/>
            </a:xfrm>
            <a:custGeom>
              <a:avLst/>
              <a:gdLst>
                <a:gd name="T0" fmla="*/ 85 w 89"/>
                <a:gd name="T1" fmla="*/ 0 h 464"/>
                <a:gd name="T2" fmla="*/ 88 w 89"/>
                <a:gd name="T3" fmla="*/ 118 h 464"/>
                <a:gd name="T4" fmla="*/ 80 w 89"/>
                <a:gd name="T5" fmla="*/ 187 h 464"/>
                <a:gd name="T6" fmla="*/ 53 w 89"/>
                <a:gd name="T7" fmla="*/ 240 h 464"/>
                <a:gd name="T8" fmla="*/ 15 w 89"/>
                <a:gd name="T9" fmla="*/ 307 h 464"/>
                <a:gd name="T10" fmla="*/ 2 w 89"/>
                <a:gd name="T11" fmla="*/ 374 h 464"/>
                <a:gd name="T12" fmla="*/ 2 w 89"/>
                <a:gd name="T13" fmla="*/ 464 h 4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9"/>
                <a:gd name="T22" fmla="*/ 0 h 464"/>
                <a:gd name="T23" fmla="*/ 89 w 89"/>
                <a:gd name="T24" fmla="*/ 464 h 4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9" h="464">
                  <a:moveTo>
                    <a:pt x="85" y="0"/>
                  </a:moveTo>
                  <a:cubicBezTo>
                    <a:pt x="86" y="43"/>
                    <a:pt x="89" y="87"/>
                    <a:pt x="88" y="118"/>
                  </a:cubicBezTo>
                  <a:cubicBezTo>
                    <a:pt x="87" y="149"/>
                    <a:pt x="86" y="167"/>
                    <a:pt x="80" y="187"/>
                  </a:cubicBezTo>
                  <a:cubicBezTo>
                    <a:pt x="74" y="207"/>
                    <a:pt x="64" y="220"/>
                    <a:pt x="53" y="240"/>
                  </a:cubicBezTo>
                  <a:cubicBezTo>
                    <a:pt x="42" y="260"/>
                    <a:pt x="23" y="285"/>
                    <a:pt x="15" y="307"/>
                  </a:cubicBezTo>
                  <a:cubicBezTo>
                    <a:pt x="7" y="329"/>
                    <a:pt x="4" y="348"/>
                    <a:pt x="2" y="374"/>
                  </a:cubicBezTo>
                  <a:cubicBezTo>
                    <a:pt x="0" y="400"/>
                    <a:pt x="2" y="449"/>
                    <a:pt x="2" y="46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43"/>
            <p:cNvSpPr>
              <a:spLocks/>
            </p:cNvSpPr>
            <p:nvPr/>
          </p:nvSpPr>
          <p:spPr bwMode="auto">
            <a:xfrm flipH="1">
              <a:off x="6477622" y="3410088"/>
              <a:ext cx="183975" cy="824363"/>
            </a:xfrm>
            <a:custGeom>
              <a:avLst/>
              <a:gdLst>
                <a:gd name="T0" fmla="*/ 99 w 99"/>
                <a:gd name="T1" fmla="*/ 0 h 464"/>
                <a:gd name="T2" fmla="*/ 89 w 99"/>
                <a:gd name="T3" fmla="*/ 112 h 464"/>
                <a:gd name="T4" fmla="*/ 67 w 99"/>
                <a:gd name="T5" fmla="*/ 195 h 464"/>
                <a:gd name="T6" fmla="*/ 38 w 99"/>
                <a:gd name="T7" fmla="*/ 259 h 464"/>
                <a:gd name="T8" fmla="*/ 16 w 99"/>
                <a:gd name="T9" fmla="*/ 333 h 464"/>
                <a:gd name="T10" fmla="*/ 6 w 99"/>
                <a:gd name="T11" fmla="*/ 409 h 464"/>
                <a:gd name="T12" fmla="*/ 0 w 99"/>
                <a:gd name="T13" fmla="*/ 464 h 4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"/>
                <a:gd name="T22" fmla="*/ 0 h 464"/>
                <a:gd name="T23" fmla="*/ 99 w 99"/>
                <a:gd name="T24" fmla="*/ 464 h 4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" h="464">
                  <a:moveTo>
                    <a:pt x="99" y="0"/>
                  </a:moveTo>
                  <a:cubicBezTo>
                    <a:pt x="96" y="40"/>
                    <a:pt x="94" y="80"/>
                    <a:pt x="89" y="112"/>
                  </a:cubicBezTo>
                  <a:cubicBezTo>
                    <a:pt x="84" y="144"/>
                    <a:pt x="75" y="171"/>
                    <a:pt x="67" y="195"/>
                  </a:cubicBezTo>
                  <a:cubicBezTo>
                    <a:pt x="59" y="219"/>
                    <a:pt x="47" y="236"/>
                    <a:pt x="38" y="259"/>
                  </a:cubicBezTo>
                  <a:cubicBezTo>
                    <a:pt x="29" y="282"/>
                    <a:pt x="21" y="308"/>
                    <a:pt x="16" y="333"/>
                  </a:cubicBezTo>
                  <a:cubicBezTo>
                    <a:pt x="11" y="358"/>
                    <a:pt x="9" y="387"/>
                    <a:pt x="6" y="409"/>
                  </a:cubicBezTo>
                  <a:cubicBezTo>
                    <a:pt x="3" y="431"/>
                    <a:pt x="1" y="447"/>
                    <a:pt x="0" y="46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44"/>
            <p:cNvSpPr>
              <a:spLocks/>
            </p:cNvSpPr>
            <p:nvPr/>
          </p:nvSpPr>
          <p:spPr bwMode="auto">
            <a:xfrm flipH="1">
              <a:off x="6682038" y="3410975"/>
              <a:ext cx="152383" cy="828733"/>
            </a:xfrm>
            <a:custGeom>
              <a:avLst/>
              <a:gdLst>
                <a:gd name="T0" fmla="*/ 80 w 82"/>
                <a:gd name="T1" fmla="*/ 0 h 473"/>
                <a:gd name="T2" fmla="*/ 80 w 82"/>
                <a:gd name="T3" fmla="*/ 103 h 473"/>
                <a:gd name="T4" fmla="*/ 68 w 82"/>
                <a:gd name="T5" fmla="*/ 180 h 473"/>
                <a:gd name="T6" fmla="*/ 25 w 82"/>
                <a:gd name="T7" fmla="*/ 288 h 473"/>
                <a:gd name="T8" fmla="*/ 6 w 82"/>
                <a:gd name="T9" fmla="*/ 372 h 473"/>
                <a:gd name="T10" fmla="*/ 1 w 82"/>
                <a:gd name="T11" fmla="*/ 427 h 473"/>
                <a:gd name="T12" fmla="*/ 1 w 82"/>
                <a:gd name="T13" fmla="*/ 473 h 4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2"/>
                <a:gd name="T22" fmla="*/ 0 h 473"/>
                <a:gd name="T23" fmla="*/ 82 w 82"/>
                <a:gd name="T24" fmla="*/ 473 h 4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2" h="473">
                  <a:moveTo>
                    <a:pt x="80" y="0"/>
                  </a:moveTo>
                  <a:cubicBezTo>
                    <a:pt x="81" y="36"/>
                    <a:pt x="82" y="73"/>
                    <a:pt x="80" y="103"/>
                  </a:cubicBezTo>
                  <a:cubicBezTo>
                    <a:pt x="78" y="133"/>
                    <a:pt x="77" y="149"/>
                    <a:pt x="68" y="180"/>
                  </a:cubicBezTo>
                  <a:cubicBezTo>
                    <a:pt x="59" y="211"/>
                    <a:pt x="35" y="256"/>
                    <a:pt x="25" y="288"/>
                  </a:cubicBezTo>
                  <a:cubicBezTo>
                    <a:pt x="15" y="320"/>
                    <a:pt x="10" y="349"/>
                    <a:pt x="6" y="372"/>
                  </a:cubicBezTo>
                  <a:cubicBezTo>
                    <a:pt x="2" y="395"/>
                    <a:pt x="2" y="410"/>
                    <a:pt x="1" y="427"/>
                  </a:cubicBezTo>
                  <a:cubicBezTo>
                    <a:pt x="0" y="444"/>
                    <a:pt x="0" y="458"/>
                    <a:pt x="1" y="47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45"/>
            <p:cNvSpPr>
              <a:spLocks/>
            </p:cNvSpPr>
            <p:nvPr/>
          </p:nvSpPr>
          <p:spPr bwMode="auto">
            <a:xfrm flipH="1">
              <a:off x="6875304" y="3413204"/>
              <a:ext cx="183975" cy="823476"/>
            </a:xfrm>
            <a:custGeom>
              <a:avLst/>
              <a:gdLst>
                <a:gd name="T0" fmla="*/ 96 w 99"/>
                <a:gd name="T1" fmla="*/ 0 h 470"/>
                <a:gd name="T2" fmla="*/ 96 w 99"/>
                <a:gd name="T3" fmla="*/ 84 h 470"/>
                <a:gd name="T4" fmla="*/ 79 w 99"/>
                <a:gd name="T5" fmla="*/ 172 h 470"/>
                <a:gd name="T6" fmla="*/ 29 w 99"/>
                <a:gd name="T7" fmla="*/ 300 h 470"/>
                <a:gd name="T8" fmla="*/ 5 w 99"/>
                <a:gd name="T9" fmla="*/ 374 h 470"/>
                <a:gd name="T10" fmla="*/ 0 w 99"/>
                <a:gd name="T11" fmla="*/ 470 h 4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9"/>
                <a:gd name="T19" fmla="*/ 0 h 470"/>
                <a:gd name="T20" fmla="*/ 99 w 99"/>
                <a:gd name="T21" fmla="*/ 470 h 4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9" h="470">
                  <a:moveTo>
                    <a:pt x="96" y="0"/>
                  </a:moveTo>
                  <a:cubicBezTo>
                    <a:pt x="97" y="27"/>
                    <a:pt x="99" y="55"/>
                    <a:pt x="96" y="84"/>
                  </a:cubicBezTo>
                  <a:cubicBezTo>
                    <a:pt x="93" y="113"/>
                    <a:pt x="90" y="136"/>
                    <a:pt x="79" y="172"/>
                  </a:cubicBezTo>
                  <a:cubicBezTo>
                    <a:pt x="68" y="208"/>
                    <a:pt x="41" y="266"/>
                    <a:pt x="29" y="300"/>
                  </a:cubicBezTo>
                  <a:cubicBezTo>
                    <a:pt x="17" y="334"/>
                    <a:pt x="10" y="346"/>
                    <a:pt x="5" y="374"/>
                  </a:cubicBezTo>
                  <a:cubicBezTo>
                    <a:pt x="0" y="402"/>
                    <a:pt x="0" y="436"/>
                    <a:pt x="0" y="4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46"/>
            <p:cNvSpPr>
              <a:spLocks/>
            </p:cNvSpPr>
            <p:nvPr/>
          </p:nvSpPr>
          <p:spPr bwMode="auto">
            <a:xfrm flipH="1">
              <a:off x="7085294" y="3414003"/>
              <a:ext cx="165391" cy="819972"/>
            </a:xfrm>
            <a:custGeom>
              <a:avLst/>
              <a:gdLst>
                <a:gd name="T0" fmla="*/ 86 w 89"/>
                <a:gd name="T1" fmla="*/ 0 h 468"/>
                <a:gd name="T2" fmla="*/ 86 w 89"/>
                <a:gd name="T3" fmla="*/ 70 h 468"/>
                <a:gd name="T4" fmla="*/ 69 w 89"/>
                <a:gd name="T5" fmla="*/ 178 h 468"/>
                <a:gd name="T6" fmla="*/ 24 w 89"/>
                <a:gd name="T7" fmla="*/ 279 h 468"/>
                <a:gd name="T8" fmla="*/ 9 w 89"/>
                <a:gd name="T9" fmla="*/ 367 h 468"/>
                <a:gd name="T10" fmla="*/ 0 w 89"/>
                <a:gd name="T11" fmla="*/ 468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9"/>
                <a:gd name="T19" fmla="*/ 0 h 468"/>
                <a:gd name="T20" fmla="*/ 89 w 89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9" h="468">
                  <a:moveTo>
                    <a:pt x="86" y="0"/>
                  </a:moveTo>
                  <a:cubicBezTo>
                    <a:pt x="87" y="20"/>
                    <a:pt x="89" y="40"/>
                    <a:pt x="86" y="70"/>
                  </a:cubicBezTo>
                  <a:cubicBezTo>
                    <a:pt x="83" y="100"/>
                    <a:pt x="79" y="143"/>
                    <a:pt x="69" y="178"/>
                  </a:cubicBezTo>
                  <a:cubicBezTo>
                    <a:pt x="59" y="213"/>
                    <a:pt x="34" y="248"/>
                    <a:pt x="24" y="279"/>
                  </a:cubicBezTo>
                  <a:cubicBezTo>
                    <a:pt x="14" y="310"/>
                    <a:pt x="13" y="336"/>
                    <a:pt x="9" y="367"/>
                  </a:cubicBezTo>
                  <a:cubicBezTo>
                    <a:pt x="5" y="398"/>
                    <a:pt x="2" y="433"/>
                    <a:pt x="0" y="46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47"/>
            <p:cNvSpPr>
              <a:spLocks/>
            </p:cNvSpPr>
            <p:nvPr/>
          </p:nvSpPr>
          <p:spPr bwMode="auto">
            <a:xfrm flipH="1">
              <a:off x="7302445" y="3410089"/>
              <a:ext cx="146808" cy="826115"/>
            </a:xfrm>
            <a:custGeom>
              <a:avLst/>
              <a:gdLst>
                <a:gd name="T0" fmla="*/ 76 w 79"/>
                <a:gd name="T1" fmla="*/ 0 h 466"/>
                <a:gd name="T2" fmla="*/ 76 w 79"/>
                <a:gd name="T3" fmla="*/ 65 h 466"/>
                <a:gd name="T4" fmla="*/ 60 w 79"/>
                <a:gd name="T5" fmla="*/ 144 h 466"/>
                <a:gd name="T6" fmla="*/ 26 w 79"/>
                <a:gd name="T7" fmla="*/ 240 h 466"/>
                <a:gd name="T8" fmla="*/ 4 w 79"/>
                <a:gd name="T9" fmla="*/ 341 h 466"/>
                <a:gd name="T10" fmla="*/ 4 w 79"/>
                <a:gd name="T11" fmla="*/ 425 h 466"/>
                <a:gd name="T12" fmla="*/ 2 w 79"/>
                <a:gd name="T13" fmla="*/ 466 h 4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9"/>
                <a:gd name="T22" fmla="*/ 0 h 466"/>
                <a:gd name="T23" fmla="*/ 79 w 79"/>
                <a:gd name="T24" fmla="*/ 466 h 46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9" h="466">
                  <a:moveTo>
                    <a:pt x="76" y="0"/>
                  </a:moveTo>
                  <a:cubicBezTo>
                    <a:pt x="77" y="20"/>
                    <a:pt x="79" y="41"/>
                    <a:pt x="76" y="65"/>
                  </a:cubicBezTo>
                  <a:cubicBezTo>
                    <a:pt x="73" y="89"/>
                    <a:pt x="68" y="115"/>
                    <a:pt x="60" y="144"/>
                  </a:cubicBezTo>
                  <a:cubicBezTo>
                    <a:pt x="52" y="173"/>
                    <a:pt x="35" y="207"/>
                    <a:pt x="26" y="240"/>
                  </a:cubicBezTo>
                  <a:cubicBezTo>
                    <a:pt x="17" y="273"/>
                    <a:pt x="8" y="310"/>
                    <a:pt x="4" y="341"/>
                  </a:cubicBezTo>
                  <a:cubicBezTo>
                    <a:pt x="0" y="372"/>
                    <a:pt x="4" y="404"/>
                    <a:pt x="4" y="425"/>
                  </a:cubicBezTo>
                  <a:cubicBezTo>
                    <a:pt x="4" y="446"/>
                    <a:pt x="3" y="456"/>
                    <a:pt x="2" y="4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Freeform 48"/>
            <p:cNvSpPr>
              <a:spLocks/>
            </p:cNvSpPr>
            <p:nvPr/>
          </p:nvSpPr>
          <p:spPr bwMode="auto">
            <a:xfrm flipH="1">
              <a:off x="7877738" y="3414003"/>
              <a:ext cx="205891" cy="812964"/>
            </a:xfrm>
            <a:custGeom>
              <a:avLst/>
              <a:gdLst>
                <a:gd name="T0" fmla="*/ 124 w 131"/>
                <a:gd name="T1" fmla="*/ 0 h 464"/>
                <a:gd name="T2" fmla="*/ 129 w 131"/>
                <a:gd name="T3" fmla="*/ 96 h 464"/>
                <a:gd name="T4" fmla="*/ 109 w 131"/>
                <a:gd name="T5" fmla="*/ 178 h 464"/>
                <a:gd name="T6" fmla="*/ 71 w 131"/>
                <a:gd name="T7" fmla="*/ 226 h 464"/>
                <a:gd name="T8" fmla="*/ 21 w 131"/>
                <a:gd name="T9" fmla="*/ 286 h 464"/>
                <a:gd name="T10" fmla="*/ 3 w 131"/>
                <a:gd name="T11" fmla="*/ 374 h 464"/>
                <a:gd name="T12" fmla="*/ 3 w 131"/>
                <a:gd name="T13" fmla="*/ 464 h 4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"/>
                <a:gd name="T22" fmla="*/ 0 h 464"/>
                <a:gd name="T23" fmla="*/ 131 w 131"/>
                <a:gd name="T24" fmla="*/ 464 h 4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" h="464">
                  <a:moveTo>
                    <a:pt x="124" y="0"/>
                  </a:moveTo>
                  <a:cubicBezTo>
                    <a:pt x="125" y="16"/>
                    <a:pt x="131" y="66"/>
                    <a:pt x="129" y="96"/>
                  </a:cubicBezTo>
                  <a:cubicBezTo>
                    <a:pt x="127" y="126"/>
                    <a:pt x="119" y="156"/>
                    <a:pt x="109" y="178"/>
                  </a:cubicBezTo>
                  <a:cubicBezTo>
                    <a:pt x="99" y="200"/>
                    <a:pt x="86" y="208"/>
                    <a:pt x="71" y="226"/>
                  </a:cubicBezTo>
                  <a:cubicBezTo>
                    <a:pt x="56" y="244"/>
                    <a:pt x="32" y="261"/>
                    <a:pt x="21" y="286"/>
                  </a:cubicBezTo>
                  <a:cubicBezTo>
                    <a:pt x="10" y="311"/>
                    <a:pt x="6" y="344"/>
                    <a:pt x="3" y="374"/>
                  </a:cubicBezTo>
                  <a:cubicBezTo>
                    <a:pt x="0" y="404"/>
                    <a:pt x="3" y="449"/>
                    <a:pt x="3" y="46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Freeform 49"/>
            <p:cNvSpPr>
              <a:spLocks/>
            </p:cNvSpPr>
            <p:nvPr/>
          </p:nvSpPr>
          <p:spPr bwMode="auto">
            <a:xfrm flipH="1">
              <a:off x="7682295" y="3401006"/>
              <a:ext cx="167249" cy="829466"/>
            </a:xfrm>
            <a:custGeom>
              <a:avLst/>
              <a:gdLst>
                <a:gd name="T0" fmla="*/ 87 w 90"/>
                <a:gd name="T1" fmla="*/ 0 h 454"/>
                <a:gd name="T2" fmla="*/ 85 w 90"/>
                <a:gd name="T3" fmla="*/ 111 h 454"/>
                <a:gd name="T4" fmla="*/ 55 w 90"/>
                <a:gd name="T5" fmla="*/ 195 h 454"/>
                <a:gd name="T6" fmla="*/ 26 w 90"/>
                <a:gd name="T7" fmla="*/ 259 h 454"/>
                <a:gd name="T8" fmla="*/ 4 w 90"/>
                <a:gd name="T9" fmla="*/ 333 h 454"/>
                <a:gd name="T10" fmla="*/ 1 w 90"/>
                <a:gd name="T11" fmla="*/ 408 h 454"/>
                <a:gd name="T12" fmla="*/ 1 w 90"/>
                <a:gd name="T13" fmla="*/ 454 h 4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"/>
                <a:gd name="T22" fmla="*/ 0 h 454"/>
                <a:gd name="T23" fmla="*/ 90 w 90"/>
                <a:gd name="T24" fmla="*/ 454 h 45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" h="454">
                  <a:moveTo>
                    <a:pt x="87" y="0"/>
                  </a:moveTo>
                  <a:cubicBezTo>
                    <a:pt x="87" y="18"/>
                    <a:pt x="90" y="79"/>
                    <a:pt x="85" y="111"/>
                  </a:cubicBezTo>
                  <a:cubicBezTo>
                    <a:pt x="80" y="143"/>
                    <a:pt x="65" y="170"/>
                    <a:pt x="55" y="195"/>
                  </a:cubicBezTo>
                  <a:cubicBezTo>
                    <a:pt x="45" y="220"/>
                    <a:pt x="35" y="236"/>
                    <a:pt x="26" y="259"/>
                  </a:cubicBezTo>
                  <a:cubicBezTo>
                    <a:pt x="17" y="282"/>
                    <a:pt x="8" y="308"/>
                    <a:pt x="4" y="333"/>
                  </a:cubicBezTo>
                  <a:cubicBezTo>
                    <a:pt x="0" y="358"/>
                    <a:pt x="1" y="388"/>
                    <a:pt x="1" y="408"/>
                  </a:cubicBezTo>
                  <a:cubicBezTo>
                    <a:pt x="1" y="428"/>
                    <a:pt x="1" y="445"/>
                    <a:pt x="1" y="45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Freeform 50"/>
            <p:cNvSpPr>
              <a:spLocks/>
            </p:cNvSpPr>
            <p:nvPr/>
          </p:nvSpPr>
          <p:spPr bwMode="auto">
            <a:xfrm flipH="1">
              <a:off x="7501078" y="3414003"/>
              <a:ext cx="148666" cy="823476"/>
            </a:xfrm>
            <a:custGeom>
              <a:avLst/>
              <a:gdLst>
                <a:gd name="T0" fmla="*/ 80 w 80"/>
                <a:gd name="T1" fmla="*/ 0 h 470"/>
                <a:gd name="T2" fmla="*/ 73 w 80"/>
                <a:gd name="T3" fmla="*/ 87 h 470"/>
                <a:gd name="T4" fmla="*/ 54 w 80"/>
                <a:gd name="T5" fmla="*/ 185 h 470"/>
                <a:gd name="T6" fmla="*/ 22 w 80"/>
                <a:gd name="T7" fmla="*/ 286 h 470"/>
                <a:gd name="T8" fmla="*/ 4 w 80"/>
                <a:gd name="T9" fmla="*/ 374 h 470"/>
                <a:gd name="T10" fmla="*/ 0 w 80"/>
                <a:gd name="T11" fmla="*/ 470 h 4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"/>
                <a:gd name="T19" fmla="*/ 0 h 470"/>
                <a:gd name="T20" fmla="*/ 80 w 80"/>
                <a:gd name="T21" fmla="*/ 470 h 4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" h="470">
                  <a:moveTo>
                    <a:pt x="80" y="0"/>
                  </a:moveTo>
                  <a:cubicBezTo>
                    <a:pt x="79" y="14"/>
                    <a:pt x="77" y="56"/>
                    <a:pt x="73" y="87"/>
                  </a:cubicBezTo>
                  <a:cubicBezTo>
                    <a:pt x="69" y="118"/>
                    <a:pt x="62" y="152"/>
                    <a:pt x="54" y="185"/>
                  </a:cubicBezTo>
                  <a:cubicBezTo>
                    <a:pt x="46" y="218"/>
                    <a:pt x="30" y="255"/>
                    <a:pt x="22" y="286"/>
                  </a:cubicBezTo>
                  <a:cubicBezTo>
                    <a:pt x="14" y="317"/>
                    <a:pt x="8" y="343"/>
                    <a:pt x="4" y="374"/>
                  </a:cubicBezTo>
                  <a:cubicBezTo>
                    <a:pt x="0" y="405"/>
                    <a:pt x="0" y="436"/>
                    <a:pt x="0" y="4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" name="Text Box 3"/>
          <p:cNvSpPr txBox="1">
            <a:spLocks noChangeArrowheads="1"/>
          </p:cNvSpPr>
          <p:nvPr/>
        </p:nvSpPr>
        <p:spPr bwMode="auto">
          <a:xfrm>
            <a:off x="789016" y="1456035"/>
            <a:ext cx="15714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66"/>
                </a:solidFill>
                <a:ea typeface="黑体" pitchFamily="2" charset="-122"/>
              </a:rPr>
              <a:t>优点：</a:t>
            </a:r>
            <a:endParaRPr lang="zh-CN" altLang="en-US" sz="28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19" name="Text Box 3"/>
          <p:cNvSpPr txBox="1">
            <a:spLocks noChangeArrowheads="1"/>
          </p:cNvSpPr>
          <p:nvPr/>
        </p:nvSpPr>
        <p:spPr bwMode="auto">
          <a:xfrm>
            <a:off x="792637" y="2267663"/>
            <a:ext cx="1620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66"/>
                </a:solidFill>
                <a:ea typeface="黑体" pitchFamily="2" charset="-122"/>
              </a:rPr>
              <a:t>缺点：</a:t>
            </a:r>
            <a:endParaRPr lang="zh-CN" altLang="en-US" sz="28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20" name="Text Box 4"/>
          <p:cNvSpPr txBox="1">
            <a:spLocks noChangeArrowheads="1"/>
          </p:cNvSpPr>
          <p:nvPr/>
        </p:nvSpPr>
        <p:spPr bwMode="auto">
          <a:xfrm>
            <a:off x="2395859" y="1468706"/>
            <a:ext cx="477048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985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5000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仪器简单，操作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方便，应用广泛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3398283" y="5842386"/>
            <a:ext cx="2294066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直剪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试验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71991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1" name="Text Box 69"/>
          <p:cNvSpPr txBox="1">
            <a:spLocks noChangeArrowheads="1"/>
          </p:cNvSpPr>
          <p:nvPr/>
        </p:nvSpPr>
        <p:spPr bwMode="auto">
          <a:xfrm>
            <a:off x="403750" y="1782636"/>
            <a:ext cx="18838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a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）剪切前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:</a:t>
            </a:r>
            <a:b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</a:b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    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侧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限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状态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73" name="Text Box 71"/>
          <p:cNvSpPr txBox="1">
            <a:spLocks noChangeArrowheads="1"/>
          </p:cNvSpPr>
          <p:nvPr/>
        </p:nvSpPr>
        <p:spPr bwMode="auto">
          <a:xfrm>
            <a:off x="417554" y="3811206"/>
            <a:ext cx="226864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C00000"/>
                </a:solidFill>
                <a:ea typeface="幼圆" pitchFamily="49" charset="-122"/>
              </a:rPr>
              <a:t>b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）剪切破坏时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</a:rPr>
              <a:t>:</a:t>
            </a:r>
          </a:p>
          <a:p>
            <a:pPr marL="444500" indent="-4445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      和</a:t>
            </a:r>
            <a:r>
              <a:rPr lang="zh-CN" altLang="en-US" sz="2400" b="1" dirty="0">
                <a:solidFill>
                  <a:srgbClr val="C00000"/>
                </a:solidFill>
                <a:ea typeface="幼圆" pitchFamily="49" charset="-122"/>
              </a:rPr>
              <a:t>强度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包线相切</a:t>
            </a:r>
            <a:endParaRPr lang="zh-CN" altLang="en-US" sz="2400" b="1" dirty="0">
              <a:solidFill>
                <a:srgbClr val="C00000"/>
              </a:solidFill>
              <a:ea typeface="幼圆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651916" y="3665518"/>
            <a:ext cx="1974851" cy="2058988"/>
            <a:chOff x="2651916" y="3764374"/>
            <a:chExt cx="1974851" cy="2058988"/>
          </a:xfrm>
        </p:grpSpPr>
        <p:sp>
          <p:nvSpPr>
            <p:cNvPr id="74" name="Text Box 72"/>
            <p:cNvSpPr txBox="1">
              <a:spLocks noChangeArrowheads="1"/>
            </p:cNvSpPr>
            <p:nvPr/>
          </p:nvSpPr>
          <p:spPr bwMode="auto">
            <a:xfrm>
              <a:off x="3877467" y="4197762"/>
              <a:ext cx="44608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39996" rIns="79992" bIns="39996">
              <a:spAutoFit/>
            </a:bodyPr>
            <a:lstStyle>
              <a:lvl1pPr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1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100" b="1" baseline="-25000" dirty="0" err="1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xz</a:t>
              </a:r>
              <a:endParaRPr lang="en-US" altLang="zh-CN" sz="21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5" name="Rectangle 73"/>
            <p:cNvSpPr>
              <a:spLocks noChangeArrowheads="1"/>
            </p:cNvSpPr>
            <p:nvPr/>
          </p:nvSpPr>
          <p:spPr bwMode="auto">
            <a:xfrm>
              <a:off x="3101179" y="4559712"/>
              <a:ext cx="815975" cy="754063"/>
            </a:xfrm>
            <a:prstGeom prst="rect">
              <a:avLst/>
            </a:prstGeom>
            <a:solidFill>
              <a:srgbClr val="CC990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Line 74"/>
            <p:cNvSpPr>
              <a:spLocks noChangeAspect="1" noChangeShapeType="1"/>
            </p:cNvSpPr>
            <p:nvPr/>
          </p:nvSpPr>
          <p:spPr bwMode="auto">
            <a:xfrm>
              <a:off x="3458366" y="4021549"/>
              <a:ext cx="0" cy="51435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7" name="Text Box 75"/>
            <p:cNvSpPr txBox="1">
              <a:spLocks noChangeArrowheads="1"/>
            </p:cNvSpPr>
            <p:nvPr/>
          </p:nvSpPr>
          <p:spPr bwMode="auto">
            <a:xfrm>
              <a:off x="3429791" y="3764374"/>
              <a:ext cx="1196976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9992" tIns="39996" rIns="79992" bIns="39996">
              <a:spAutoFit/>
            </a:bodyPr>
            <a:lstStyle>
              <a:lvl1pPr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1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1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altLang="zh-CN" sz="21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21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r>
                <a:rPr lang="en-US" altLang="zh-CN" sz="21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/</a:t>
              </a:r>
              <a:r>
                <a:rPr lang="en-US" altLang="zh-CN" sz="21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  <a:endParaRPr lang="en-US" altLang="zh-CN" sz="21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8" name="Line 76"/>
            <p:cNvSpPr>
              <a:spLocks noChangeAspect="1" noChangeShapeType="1"/>
            </p:cNvSpPr>
            <p:nvPr/>
          </p:nvSpPr>
          <p:spPr bwMode="auto">
            <a:xfrm flipH="1">
              <a:off x="3940967" y="4956587"/>
              <a:ext cx="465138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9" name="Text Box 77"/>
            <p:cNvSpPr txBox="1">
              <a:spLocks noChangeArrowheads="1"/>
            </p:cNvSpPr>
            <p:nvPr/>
          </p:nvSpPr>
          <p:spPr bwMode="auto">
            <a:xfrm>
              <a:off x="4144167" y="4962937"/>
              <a:ext cx="412750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992" tIns="39996" rIns="79992" bIns="39996">
              <a:spAutoFit/>
            </a:bodyPr>
            <a:lstStyle>
              <a:lvl1pPr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1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1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1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80" name="Line 78"/>
            <p:cNvSpPr>
              <a:spLocks noChangeAspect="1" noChangeShapeType="1"/>
            </p:cNvSpPr>
            <p:nvPr/>
          </p:nvSpPr>
          <p:spPr bwMode="auto">
            <a:xfrm rot="10800000">
              <a:off x="3493622" y="5309012"/>
              <a:ext cx="0" cy="51435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1" name="Line 79"/>
            <p:cNvSpPr>
              <a:spLocks noChangeAspect="1" noChangeShapeType="1"/>
            </p:cNvSpPr>
            <p:nvPr/>
          </p:nvSpPr>
          <p:spPr bwMode="auto">
            <a:xfrm rot="10800000" flipH="1">
              <a:off x="2651916" y="4942299"/>
              <a:ext cx="465138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Line 80"/>
            <p:cNvSpPr>
              <a:spLocks noChangeAspect="1" noChangeShapeType="1"/>
            </p:cNvSpPr>
            <p:nvPr/>
          </p:nvSpPr>
          <p:spPr bwMode="auto">
            <a:xfrm rot="10800000" flipH="1">
              <a:off x="3210716" y="4418424"/>
              <a:ext cx="647700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Line 81"/>
            <p:cNvSpPr>
              <a:spLocks noChangeAspect="1" noChangeShapeType="1"/>
            </p:cNvSpPr>
            <p:nvPr/>
          </p:nvSpPr>
          <p:spPr bwMode="auto">
            <a:xfrm rot="10800000">
              <a:off x="4048917" y="4581937"/>
              <a:ext cx="0" cy="649288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4" name="Line 82"/>
            <p:cNvSpPr>
              <a:spLocks noChangeAspect="1" noChangeShapeType="1"/>
            </p:cNvSpPr>
            <p:nvPr/>
          </p:nvSpPr>
          <p:spPr bwMode="auto">
            <a:xfrm>
              <a:off x="2923379" y="4645437"/>
              <a:ext cx="0" cy="64770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5" name="Line 83"/>
            <p:cNvSpPr>
              <a:spLocks noChangeAspect="1" noChangeShapeType="1"/>
            </p:cNvSpPr>
            <p:nvPr/>
          </p:nvSpPr>
          <p:spPr bwMode="auto">
            <a:xfrm flipH="1">
              <a:off x="3102766" y="5458237"/>
              <a:ext cx="647700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6" name="Arc 84"/>
          <p:cNvSpPr>
            <a:spLocks/>
          </p:cNvSpPr>
          <p:nvPr/>
        </p:nvSpPr>
        <p:spPr bwMode="auto">
          <a:xfrm flipH="1" flipV="1">
            <a:off x="6494552" y="4280497"/>
            <a:ext cx="2060385" cy="1053188"/>
          </a:xfrm>
          <a:custGeom>
            <a:avLst/>
            <a:gdLst>
              <a:gd name="T0" fmla="*/ 2133402 w 43200"/>
              <a:gd name="T1" fmla="*/ 3996 h 22107"/>
              <a:gd name="T2" fmla="*/ 296 w 43200"/>
              <a:gd name="T3" fmla="*/ 0 h 22107"/>
              <a:gd name="T4" fmla="*/ 1066800 w 43200"/>
              <a:gd name="T5" fmla="*/ 25012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Line 85"/>
          <p:cNvSpPr>
            <a:spLocks noChangeShapeType="1"/>
          </p:cNvSpPr>
          <p:nvPr/>
        </p:nvSpPr>
        <p:spPr bwMode="auto">
          <a:xfrm flipV="1">
            <a:off x="7219742" y="4323556"/>
            <a:ext cx="0" cy="1017588"/>
          </a:xfrm>
          <a:prstGeom prst="line">
            <a:avLst/>
          </a:prstGeom>
          <a:noFill/>
          <a:ln w="28575">
            <a:solidFill>
              <a:srgbClr val="C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5829093" y="4852194"/>
            <a:ext cx="2490788" cy="885825"/>
            <a:chOff x="5829093" y="4951050"/>
            <a:chExt cx="2490788" cy="885825"/>
          </a:xfrm>
        </p:grpSpPr>
        <p:grpSp>
          <p:nvGrpSpPr>
            <p:cNvPr id="95" name="Group 93"/>
            <p:cNvGrpSpPr>
              <a:grpSpLocks/>
            </p:cNvGrpSpPr>
            <p:nvPr/>
          </p:nvGrpSpPr>
          <p:grpSpPr bwMode="auto">
            <a:xfrm>
              <a:off x="5829093" y="5379675"/>
              <a:ext cx="2490788" cy="457200"/>
              <a:chOff x="2915" y="3199"/>
              <a:chExt cx="1569" cy="288"/>
            </a:xfrm>
          </p:grpSpPr>
          <p:sp>
            <p:nvSpPr>
              <p:cNvPr id="96" name="Text Box 94"/>
              <p:cNvSpPr txBox="1">
                <a:spLocks noChangeArrowheads="1"/>
              </p:cNvSpPr>
              <p:nvPr/>
            </p:nvSpPr>
            <p:spPr bwMode="auto">
              <a:xfrm>
                <a:off x="3696" y="3221"/>
                <a:ext cx="788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79992" tIns="39996" rIns="79992" bIns="39996">
                <a:spAutoFit/>
              </a:bodyPr>
              <a:lstStyle>
                <a:lvl1pPr defTabSz="8001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defTabSz="8001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defTabSz="8001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defTabSz="8001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defTabSz="8001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defTabSz="8001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defTabSz="8001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defTabSz="8001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defTabSz="8001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100" b="1" i="1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100" b="1" baseline="-25000" dirty="0" smtClean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z </a:t>
                </a:r>
                <a:r>
                  <a:rPr lang="en-US" altLang="zh-CN" sz="2100" b="1" dirty="0" smtClean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= </a:t>
                </a:r>
                <a:r>
                  <a:rPr lang="en-US" altLang="zh-CN" sz="2100" b="1" i="1" dirty="0" smtClean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  <a:r>
                  <a:rPr lang="en-US" altLang="zh-CN" sz="2100" b="1" dirty="0" smtClean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/</a:t>
                </a:r>
                <a:r>
                  <a:rPr lang="en-US" altLang="zh-CN" sz="2100" b="1" i="1" dirty="0" smtClean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A</a:t>
                </a:r>
                <a:endParaRPr lang="en-US" altLang="zh-CN" sz="21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97" name="Text Box 95"/>
              <p:cNvSpPr txBox="1">
                <a:spLocks noChangeArrowheads="1"/>
              </p:cNvSpPr>
              <p:nvPr/>
            </p:nvSpPr>
            <p:spPr bwMode="auto">
              <a:xfrm>
                <a:off x="2915" y="3199"/>
                <a:ext cx="4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k</a:t>
                </a:r>
                <a:r>
                  <a:rPr lang="en-US" altLang="zh-CN" sz="2400" b="1" baseline="-25000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0</a:t>
                </a:r>
                <a:r>
                  <a:rPr lang="en-US" altLang="zh-CN" sz="2400" b="1" i="1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400" b="1" baseline="-25000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z</a:t>
                </a:r>
                <a:endParaRPr lang="en-US" altLang="zh-CN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</p:grpSp>
        <p:sp>
          <p:nvSpPr>
            <p:cNvPr id="99" name="Arc 97"/>
            <p:cNvSpPr>
              <a:spLocks/>
            </p:cNvSpPr>
            <p:nvPr/>
          </p:nvSpPr>
          <p:spPr bwMode="auto">
            <a:xfrm flipH="1" flipV="1">
              <a:off x="6283119" y="4951050"/>
              <a:ext cx="941388" cy="481012"/>
            </a:xfrm>
            <a:custGeom>
              <a:avLst/>
              <a:gdLst>
                <a:gd name="T0" fmla="*/ 593 w 43200"/>
                <a:gd name="T1" fmla="*/ 1 h 22107"/>
                <a:gd name="T2" fmla="*/ 0 w 43200"/>
                <a:gd name="T3" fmla="*/ 0 h 22107"/>
                <a:gd name="T4" fmla="*/ 297 w 43200"/>
                <a:gd name="T5" fmla="*/ 7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直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剪试验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504353" y="1407020"/>
            <a:ext cx="3436254" cy="1585228"/>
            <a:chOff x="5504353" y="1407020"/>
            <a:chExt cx="3436254" cy="1585228"/>
          </a:xfrm>
        </p:grpSpPr>
        <p:grpSp>
          <p:nvGrpSpPr>
            <p:cNvPr id="4" name="组合 3"/>
            <p:cNvGrpSpPr/>
            <p:nvPr/>
          </p:nvGrpSpPr>
          <p:grpSpPr>
            <a:xfrm>
              <a:off x="6190335" y="1407020"/>
              <a:ext cx="2590343" cy="1537604"/>
              <a:chOff x="6190335" y="1407020"/>
              <a:chExt cx="2590343" cy="1537604"/>
            </a:xfrm>
          </p:grpSpPr>
          <p:sp>
            <p:nvSpPr>
              <p:cNvPr id="107" name="Rectangle 6" descr="大纸屑"/>
              <p:cNvSpPr>
                <a:spLocks noChangeArrowheads="1"/>
              </p:cNvSpPr>
              <p:nvPr/>
            </p:nvSpPr>
            <p:spPr bwMode="auto">
              <a:xfrm>
                <a:off x="6351352" y="1573930"/>
                <a:ext cx="1963058" cy="101797"/>
              </a:xfrm>
              <a:prstGeom prst="rect">
                <a:avLst/>
              </a:prstGeom>
              <a:pattFill prst="lgConfetti">
                <a:fgClr>
                  <a:schemeClr val="folHlink"/>
                </a:fgClr>
                <a:bgClr>
                  <a:schemeClr val="bg1"/>
                </a:bgClr>
              </a:pattFill>
              <a:ln w="63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Rectangle 7" descr="大纸屑"/>
              <p:cNvSpPr>
                <a:spLocks noChangeArrowheads="1"/>
              </p:cNvSpPr>
              <p:nvPr/>
            </p:nvSpPr>
            <p:spPr bwMode="auto">
              <a:xfrm>
                <a:off x="6333210" y="2513730"/>
                <a:ext cx="1981200" cy="87892"/>
              </a:xfrm>
              <a:prstGeom prst="rect">
                <a:avLst/>
              </a:prstGeom>
              <a:pattFill prst="lgConfetti">
                <a:fgClr>
                  <a:schemeClr val="folHlink"/>
                </a:fgClr>
                <a:bgClr>
                  <a:schemeClr val="bg1"/>
                </a:bgClr>
              </a:pattFill>
              <a:ln w="635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Rectangle 9" descr="浅色上对角线"/>
              <p:cNvSpPr>
                <a:spLocks noChangeAspect="1" noChangeArrowheads="1"/>
              </p:cNvSpPr>
              <p:nvPr/>
            </p:nvSpPr>
            <p:spPr bwMode="auto">
              <a:xfrm>
                <a:off x="6351806" y="1407020"/>
                <a:ext cx="1957388" cy="167024"/>
              </a:xfrm>
              <a:prstGeom prst="rect">
                <a:avLst/>
              </a:prstGeom>
              <a:pattFill prst="ltUpDiag">
                <a:fgClr>
                  <a:srgbClr val="5F5F5F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6329581" y="1658774"/>
                <a:ext cx="1990499" cy="862958"/>
              </a:xfrm>
              <a:custGeom>
                <a:avLst/>
                <a:gdLst>
                  <a:gd name="connsiteX0" fmla="*/ 0 w 1957388"/>
                  <a:gd name="connsiteY0" fmla="*/ 0 h 862958"/>
                  <a:gd name="connsiteX1" fmla="*/ 1957388 w 1957388"/>
                  <a:gd name="connsiteY1" fmla="*/ 0 h 862958"/>
                  <a:gd name="connsiteX2" fmla="*/ 1957388 w 1957388"/>
                  <a:gd name="connsiteY2" fmla="*/ 862958 h 862958"/>
                  <a:gd name="connsiteX3" fmla="*/ 0 w 1957388"/>
                  <a:gd name="connsiteY3" fmla="*/ 862958 h 862958"/>
                  <a:gd name="connsiteX4" fmla="*/ 0 w 1957388"/>
                  <a:gd name="connsiteY4" fmla="*/ 0 h 862958"/>
                  <a:gd name="connsiteX0" fmla="*/ 10885 w 1968273"/>
                  <a:gd name="connsiteY0" fmla="*/ 0 h 862958"/>
                  <a:gd name="connsiteX1" fmla="*/ 1968273 w 1968273"/>
                  <a:gd name="connsiteY1" fmla="*/ 0 h 862958"/>
                  <a:gd name="connsiteX2" fmla="*/ 1968273 w 1968273"/>
                  <a:gd name="connsiteY2" fmla="*/ 862958 h 862958"/>
                  <a:gd name="connsiteX3" fmla="*/ 0 w 1968273"/>
                  <a:gd name="connsiteY3" fmla="*/ 859329 h 862958"/>
                  <a:gd name="connsiteX4" fmla="*/ 10885 w 1968273"/>
                  <a:gd name="connsiteY4" fmla="*/ 0 h 862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68273" h="862958">
                    <a:moveTo>
                      <a:pt x="10885" y="0"/>
                    </a:moveTo>
                    <a:lnTo>
                      <a:pt x="1968273" y="0"/>
                    </a:lnTo>
                    <a:lnTo>
                      <a:pt x="1968273" y="862958"/>
                    </a:lnTo>
                    <a:lnTo>
                      <a:pt x="0" y="859329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rgbClr val="FFC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Rectangle 26"/>
              <p:cNvSpPr>
                <a:spLocks noChangeArrowheads="1"/>
              </p:cNvSpPr>
              <p:nvPr/>
            </p:nvSpPr>
            <p:spPr bwMode="auto">
              <a:xfrm>
                <a:off x="6191695" y="1575275"/>
                <a:ext cx="152400" cy="499862"/>
              </a:xfrm>
              <a:prstGeom prst="rect">
                <a:avLst/>
              </a:prstGeom>
              <a:pattFill prst="ltUpDiag">
                <a:fgClr>
                  <a:srgbClr val="000066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5" name="组合 114"/>
              <p:cNvGrpSpPr/>
              <p:nvPr/>
            </p:nvGrpSpPr>
            <p:grpSpPr>
              <a:xfrm>
                <a:off x="8478147" y="1514408"/>
                <a:ext cx="302531" cy="582492"/>
                <a:chOff x="8188326" y="1347788"/>
                <a:chExt cx="431800" cy="1036638"/>
              </a:xfrm>
            </p:grpSpPr>
            <p:grpSp>
              <p:nvGrpSpPr>
                <p:cNvPr id="116" name="Group 13"/>
                <p:cNvGrpSpPr>
                  <a:grpSpLocks/>
                </p:cNvGrpSpPr>
                <p:nvPr/>
              </p:nvGrpSpPr>
              <p:grpSpPr bwMode="auto">
                <a:xfrm>
                  <a:off x="8188326" y="1347788"/>
                  <a:ext cx="268288" cy="1036638"/>
                  <a:chOff x="1920" y="1344"/>
                  <a:chExt cx="96" cy="336"/>
                </a:xfrm>
              </p:grpSpPr>
              <p:sp>
                <p:nvSpPr>
                  <p:cNvPr id="123" name="AutoShape 14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896" y="1464"/>
                    <a:ext cx="144" cy="96"/>
                  </a:xfrm>
                  <a:prstGeom prst="flowChartExtract">
                    <a:avLst/>
                  </a:prstGeom>
                  <a:noFill/>
                  <a:ln w="349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1344"/>
                    <a:ext cx="0" cy="336"/>
                  </a:xfrm>
                  <a:prstGeom prst="line">
                    <a:avLst/>
                  </a:prstGeom>
                  <a:noFill/>
                  <a:ln w="349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7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8461376" y="1382713"/>
                  <a:ext cx="127000" cy="1397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8467726" y="1541463"/>
                  <a:ext cx="127000" cy="1397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8474076" y="1700213"/>
                  <a:ext cx="127000" cy="1397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8480426" y="1858963"/>
                  <a:ext cx="127000" cy="1397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8486776" y="2017713"/>
                  <a:ext cx="127000" cy="1397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8493126" y="2176463"/>
                  <a:ext cx="127000" cy="1397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125" name="直接连接符 124"/>
              <p:cNvCxnSpPr/>
              <p:nvPr/>
            </p:nvCxnSpPr>
            <p:spPr bwMode="auto">
              <a:xfrm>
                <a:off x="6340464" y="2513730"/>
                <a:ext cx="198000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6" name="Freeform 19"/>
              <p:cNvSpPr>
                <a:spLocks/>
              </p:cNvSpPr>
              <p:nvPr/>
            </p:nvSpPr>
            <p:spPr bwMode="auto">
              <a:xfrm>
                <a:off x="6190335" y="2141701"/>
                <a:ext cx="2281238" cy="612422"/>
              </a:xfrm>
              <a:custGeom>
                <a:avLst/>
                <a:gdLst>
                  <a:gd name="T0" fmla="*/ 100 w 1437"/>
                  <a:gd name="T1" fmla="*/ 0 h 506"/>
                  <a:gd name="T2" fmla="*/ 96 w 1437"/>
                  <a:gd name="T3" fmla="*/ 375 h 506"/>
                  <a:gd name="T4" fmla="*/ 1341 w 1437"/>
                  <a:gd name="T5" fmla="*/ 375 h 506"/>
                  <a:gd name="T6" fmla="*/ 1341 w 1437"/>
                  <a:gd name="T7" fmla="*/ 4 h 506"/>
                  <a:gd name="T8" fmla="*/ 1437 w 1437"/>
                  <a:gd name="T9" fmla="*/ 4 h 506"/>
                  <a:gd name="T10" fmla="*/ 1437 w 1437"/>
                  <a:gd name="T11" fmla="*/ 506 h 506"/>
                  <a:gd name="T12" fmla="*/ 0 w 1437"/>
                  <a:gd name="T13" fmla="*/ 506 h 506"/>
                  <a:gd name="T14" fmla="*/ 0 w 1437"/>
                  <a:gd name="T15" fmla="*/ 0 h 506"/>
                  <a:gd name="T16" fmla="*/ 100 w 1437"/>
                  <a:gd name="T17" fmla="*/ 0 h 50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37"/>
                  <a:gd name="T28" fmla="*/ 0 h 506"/>
                  <a:gd name="T29" fmla="*/ 1437 w 1437"/>
                  <a:gd name="T30" fmla="*/ 506 h 50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37" h="506">
                    <a:moveTo>
                      <a:pt x="100" y="0"/>
                    </a:moveTo>
                    <a:lnTo>
                      <a:pt x="96" y="375"/>
                    </a:lnTo>
                    <a:lnTo>
                      <a:pt x="1341" y="375"/>
                    </a:lnTo>
                    <a:lnTo>
                      <a:pt x="1341" y="4"/>
                    </a:lnTo>
                    <a:lnTo>
                      <a:pt x="1437" y="4"/>
                    </a:lnTo>
                    <a:lnTo>
                      <a:pt x="1437" y="506"/>
                    </a:lnTo>
                    <a:lnTo>
                      <a:pt x="0" y="506"/>
                    </a:lnTo>
                    <a:lnTo>
                      <a:pt x="0" y="0"/>
                    </a:lnTo>
                    <a:lnTo>
                      <a:pt x="100" y="0"/>
                    </a:lnTo>
                    <a:close/>
                  </a:path>
                </a:pathLst>
              </a:custGeom>
              <a:pattFill prst="ltUpDiag">
                <a:fgClr>
                  <a:srgbClr val="000066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27" name="直接连接符 126"/>
              <p:cNvCxnSpPr/>
              <p:nvPr/>
            </p:nvCxnSpPr>
            <p:spPr bwMode="auto">
              <a:xfrm>
                <a:off x="6346326" y="1663807"/>
                <a:ext cx="198000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8" name="Rectangle 26"/>
              <p:cNvSpPr>
                <a:spLocks noChangeArrowheads="1"/>
              </p:cNvSpPr>
              <p:nvPr/>
            </p:nvSpPr>
            <p:spPr bwMode="auto">
              <a:xfrm>
                <a:off x="8314409" y="1575276"/>
                <a:ext cx="152400" cy="499862"/>
              </a:xfrm>
              <a:prstGeom prst="rect">
                <a:avLst/>
              </a:prstGeom>
              <a:pattFill prst="ltUpDiag">
                <a:fgClr>
                  <a:srgbClr val="000066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29" name="组合 128"/>
              <p:cNvGrpSpPr/>
              <p:nvPr/>
            </p:nvGrpSpPr>
            <p:grpSpPr>
              <a:xfrm>
                <a:off x="6423697" y="2633474"/>
                <a:ext cx="303212" cy="303212"/>
                <a:chOff x="6084888" y="2830390"/>
                <a:chExt cx="350838" cy="350838"/>
              </a:xfrm>
            </p:grpSpPr>
            <p:sp>
              <p:nvSpPr>
                <p:cNvPr id="130" name="Oval 20"/>
                <p:cNvSpPr>
                  <a:spLocks noChangeArrowheads="1"/>
                </p:cNvSpPr>
                <p:nvPr/>
              </p:nvSpPr>
              <p:spPr bwMode="auto">
                <a:xfrm>
                  <a:off x="6084888" y="2830390"/>
                  <a:ext cx="350838" cy="350838"/>
                </a:xfrm>
                <a:prstGeom prst="ellipse">
                  <a:avLst/>
                </a:prstGeom>
                <a:solidFill>
                  <a:srgbClr val="CCCC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1" name="Oval 21"/>
                <p:cNvSpPr>
                  <a:spLocks noChangeArrowheads="1"/>
                </p:cNvSpPr>
                <p:nvPr/>
              </p:nvSpPr>
              <p:spPr bwMode="auto">
                <a:xfrm>
                  <a:off x="6156326" y="2901828"/>
                  <a:ext cx="214313" cy="214313"/>
                </a:xfrm>
                <a:prstGeom prst="ellipse">
                  <a:avLst/>
                </a:prstGeom>
                <a:solidFill>
                  <a:srgbClr val="99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2" name="组合 131"/>
              <p:cNvGrpSpPr/>
              <p:nvPr/>
            </p:nvGrpSpPr>
            <p:grpSpPr>
              <a:xfrm>
                <a:off x="7893722" y="2635062"/>
                <a:ext cx="303212" cy="303212"/>
                <a:chOff x="7554913" y="2831978"/>
                <a:chExt cx="350838" cy="350838"/>
              </a:xfrm>
            </p:grpSpPr>
            <p:sp>
              <p:nvSpPr>
                <p:cNvPr id="133" name="Oval 22"/>
                <p:cNvSpPr>
                  <a:spLocks noChangeArrowheads="1"/>
                </p:cNvSpPr>
                <p:nvPr/>
              </p:nvSpPr>
              <p:spPr bwMode="auto">
                <a:xfrm>
                  <a:off x="7554913" y="2831978"/>
                  <a:ext cx="350838" cy="350838"/>
                </a:xfrm>
                <a:prstGeom prst="ellipse">
                  <a:avLst/>
                </a:prstGeom>
                <a:solidFill>
                  <a:srgbClr val="CCCC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" name="Oval 23"/>
                <p:cNvSpPr>
                  <a:spLocks noChangeArrowheads="1"/>
                </p:cNvSpPr>
                <p:nvPr/>
              </p:nvSpPr>
              <p:spPr bwMode="auto">
                <a:xfrm>
                  <a:off x="7626351" y="2903415"/>
                  <a:ext cx="214313" cy="214313"/>
                </a:xfrm>
                <a:prstGeom prst="ellipse">
                  <a:avLst/>
                </a:prstGeom>
                <a:solidFill>
                  <a:srgbClr val="99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5" name="组合 134"/>
              <p:cNvGrpSpPr/>
              <p:nvPr/>
            </p:nvGrpSpPr>
            <p:grpSpPr>
              <a:xfrm>
                <a:off x="7149185" y="2641412"/>
                <a:ext cx="303212" cy="303212"/>
                <a:chOff x="6810376" y="2838328"/>
                <a:chExt cx="350838" cy="350838"/>
              </a:xfrm>
            </p:grpSpPr>
            <p:sp>
              <p:nvSpPr>
                <p:cNvPr id="136" name="Oval 24"/>
                <p:cNvSpPr>
                  <a:spLocks noChangeArrowheads="1"/>
                </p:cNvSpPr>
                <p:nvPr/>
              </p:nvSpPr>
              <p:spPr bwMode="auto">
                <a:xfrm>
                  <a:off x="6810376" y="2838328"/>
                  <a:ext cx="350838" cy="350838"/>
                </a:xfrm>
                <a:prstGeom prst="ellipse">
                  <a:avLst/>
                </a:prstGeom>
                <a:solidFill>
                  <a:srgbClr val="CCCC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7" name="Oval 25"/>
                <p:cNvSpPr>
                  <a:spLocks noChangeArrowheads="1"/>
                </p:cNvSpPr>
                <p:nvPr/>
              </p:nvSpPr>
              <p:spPr bwMode="auto">
                <a:xfrm>
                  <a:off x="6881813" y="2909765"/>
                  <a:ext cx="214313" cy="214313"/>
                </a:xfrm>
                <a:prstGeom prst="ellipse">
                  <a:avLst/>
                </a:prstGeom>
                <a:solidFill>
                  <a:srgbClr val="99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3" name="Line 8"/>
            <p:cNvSpPr>
              <a:spLocks noChangeShapeType="1"/>
            </p:cNvSpPr>
            <p:nvPr/>
          </p:nvSpPr>
          <p:spPr bwMode="auto">
            <a:xfrm>
              <a:off x="5513878" y="2992248"/>
              <a:ext cx="3426729" cy="0"/>
            </a:xfrm>
            <a:prstGeom prst="line">
              <a:avLst/>
            </a:prstGeom>
            <a:noFill/>
            <a:ln w="76200">
              <a:pattFill prst="dkUpDiag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6"/>
            <p:cNvSpPr>
              <a:spLocks noChangeShapeType="1"/>
            </p:cNvSpPr>
            <p:nvPr/>
          </p:nvSpPr>
          <p:spPr bwMode="auto">
            <a:xfrm>
              <a:off x="5504353" y="2946211"/>
              <a:ext cx="34362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1" name="Line 18"/>
          <p:cNvSpPr>
            <a:spLocks noChangeShapeType="1"/>
          </p:cNvSpPr>
          <p:nvPr/>
        </p:nvSpPr>
        <p:spPr bwMode="auto">
          <a:xfrm>
            <a:off x="6074447" y="2112650"/>
            <a:ext cx="2541588" cy="0"/>
          </a:xfrm>
          <a:prstGeom prst="line">
            <a:avLst/>
          </a:prstGeom>
          <a:noFill/>
          <a:ln w="28575">
            <a:solidFill>
              <a:srgbClr val="A5002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6755199" y="732744"/>
            <a:ext cx="768182" cy="673139"/>
            <a:chOff x="6755199" y="732744"/>
            <a:chExt cx="768182" cy="673139"/>
          </a:xfrm>
        </p:grpSpPr>
        <p:sp>
          <p:nvSpPr>
            <p:cNvPr id="104" name="Text Box 10"/>
            <p:cNvSpPr txBox="1">
              <a:spLocks noChangeArrowheads="1"/>
            </p:cNvSpPr>
            <p:nvPr/>
          </p:nvSpPr>
          <p:spPr bwMode="auto">
            <a:xfrm>
              <a:off x="6755199" y="732744"/>
              <a:ext cx="6334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14" name="AutoShape 31"/>
            <p:cNvSpPr>
              <a:spLocks noChangeArrowheads="1"/>
            </p:cNvSpPr>
            <p:nvPr/>
          </p:nvSpPr>
          <p:spPr bwMode="auto">
            <a:xfrm rot="5400000">
              <a:off x="7054364" y="936865"/>
              <a:ext cx="464960" cy="473075"/>
            </a:xfrm>
            <a:prstGeom prst="rightArrow">
              <a:avLst>
                <a:gd name="adj1" fmla="val 45941"/>
                <a:gd name="adj2" fmla="val 44000"/>
              </a:avLst>
            </a:prstGeom>
            <a:solidFill>
              <a:srgbClr val="A50021"/>
            </a:solidFill>
            <a:ln w="9525">
              <a:solidFill>
                <a:srgbClr val="A5002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385945" y="1974874"/>
            <a:ext cx="791592" cy="696804"/>
            <a:chOff x="5385945" y="1974874"/>
            <a:chExt cx="791592" cy="696804"/>
          </a:xfrm>
        </p:grpSpPr>
        <p:sp>
          <p:nvSpPr>
            <p:cNvPr id="105" name="Text Box 12"/>
            <p:cNvSpPr txBox="1">
              <a:spLocks noChangeArrowheads="1"/>
            </p:cNvSpPr>
            <p:nvPr/>
          </p:nvSpPr>
          <p:spPr bwMode="auto">
            <a:xfrm>
              <a:off x="5385945" y="1974874"/>
              <a:ext cx="4968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38" name="AutoShape 31"/>
            <p:cNvSpPr>
              <a:spLocks noChangeArrowheads="1"/>
            </p:cNvSpPr>
            <p:nvPr/>
          </p:nvSpPr>
          <p:spPr bwMode="auto">
            <a:xfrm>
              <a:off x="5704387" y="2251498"/>
              <a:ext cx="473150" cy="420180"/>
            </a:xfrm>
            <a:prstGeom prst="rightArrow">
              <a:avLst>
                <a:gd name="adj1" fmla="val 45941"/>
                <a:gd name="adj2" fmla="val 44000"/>
              </a:avLst>
            </a:prstGeom>
            <a:solidFill>
              <a:srgbClr val="A50021"/>
            </a:solidFill>
            <a:ln w="9525">
              <a:solidFill>
                <a:srgbClr val="A5002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" name="Rectangle 33"/>
          <p:cNvSpPr>
            <a:spLocks noChangeArrowheads="1"/>
          </p:cNvSpPr>
          <p:nvPr/>
        </p:nvSpPr>
        <p:spPr bwMode="auto">
          <a:xfrm>
            <a:off x="7233839" y="2033078"/>
            <a:ext cx="161925" cy="161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" name="Text Box 38"/>
          <p:cNvSpPr txBox="1">
            <a:spLocks noChangeArrowheads="1"/>
          </p:cNvSpPr>
          <p:nvPr/>
        </p:nvSpPr>
        <p:spPr bwMode="auto">
          <a:xfrm>
            <a:off x="419100" y="700151"/>
            <a:ext cx="4102100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</a:t>
            </a:r>
            <a:r>
              <a:rPr lang="zh-CN" altLang="zh-CN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剪</a:t>
            </a:r>
            <a:r>
              <a:rPr lang="zh-CN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试验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中的应力状态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622536" y="1310926"/>
            <a:ext cx="2554708" cy="2058988"/>
            <a:chOff x="2622536" y="1393306"/>
            <a:chExt cx="2554708" cy="2058988"/>
          </a:xfrm>
        </p:grpSpPr>
        <p:sp>
          <p:nvSpPr>
            <p:cNvPr id="69" name="Text Box 67"/>
            <p:cNvSpPr txBox="1">
              <a:spLocks noChangeArrowheads="1"/>
            </p:cNvSpPr>
            <p:nvPr/>
          </p:nvSpPr>
          <p:spPr bwMode="auto">
            <a:xfrm>
              <a:off x="3866914" y="2638347"/>
              <a:ext cx="131033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 </a:t>
              </a: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k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0 </a:t>
              </a: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5" name="Rectangle 73"/>
            <p:cNvSpPr>
              <a:spLocks noChangeArrowheads="1"/>
            </p:cNvSpPr>
            <p:nvPr/>
          </p:nvSpPr>
          <p:spPr bwMode="auto">
            <a:xfrm>
              <a:off x="3071799" y="2188644"/>
              <a:ext cx="815975" cy="754063"/>
            </a:xfrm>
            <a:prstGeom prst="rect">
              <a:avLst/>
            </a:prstGeom>
            <a:solidFill>
              <a:srgbClr val="CC990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6" name="Line 74"/>
            <p:cNvSpPr>
              <a:spLocks noChangeAspect="1" noChangeShapeType="1"/>
            </p:cNvSpPr>
            <p:nvPr/>
          </p:nvSpPr>
          <p:spPr bwMode="auto">
            <a:xfrm>
              <a:off x="3428986" y="1650481"/>
              <a:ext cx="0" cy="51435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7" name="Text Box 75"/>
            <p:cNvSpPr txBox="1">
              <a:spLocks noChangeArrowheads="1"/>
            </p:cNvSpPr>
            <p:nvPr/>
          </p:nvSpPr>
          <p:spPr bwMode="auto">
            <a:xfrm>
              <a:off x="3400411" y="1393306"/>
              <a:ext cx="1196976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9992" tIns="39996" rIns="79992" bIns="39996">
              <a:spAutoFit/>
            </a:bodyPr>
            <a:lstStyle>
              <a:lvl1pPr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001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001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1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1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altLang="zh-CN" sz="21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21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r>
                <a:rPr lang="en-US" altLang="zh-CN" sz="21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/</a:t>
              </a:r>
              <a:r>
                <a:rPr lang="en-US" altLang="zh-CN" sz="21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  <a:endParaRPr lang="en-US" altLang="zh-CN" sz="21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8" name="Line 76"/>
            <p:cNvSpPr>
              <a:spLocks noChangeAspect="1" noChangeShapeType="1"/>
            </p:cNvSpPr>
            <p:nvPr/>
          </p:nvSpPr>
          <p:spPr bwMode="auto">
            <a:xfrm flipH="1">
              <a:off x="3911587" y="2585519"/>
              <a:ext cx="465138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0" name="Line 78"/>
            <p:cNvSpPr>
              <a:spLocks noChangeAspect="1" noChangeShapeType="1"/>
            </p:cNvSpPr>
            <p:nvPr/>
          </p:nvSpPr>
          <p:spPr bwMode="auto">
            <a:xfrm rot="10800000">
              <a:off x="3426142" y="2937944"/>
              <a:ext cx="0" cy="51435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1" name="Line 79"/>
            <p:cNvSpPr>
              <a:spLocks noChangeAspect="1" noChangeShapeType="1"/>
            </p:cNvSpPr>
            <p:nvPr/>
          </p:nvSpPr>
          <p:spPr bwMode="auto">
            <a:xfrm rot="10800000" flipH="1">
              <a:off x="2622536" y="2571231"/>
              <a:ext cx="465138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024229" y="3465661"/>
            <a:ext cx="4014788" cy="2253308"/>
            <a:chOff x="5024229" y="3564517"/>
            <a:chExt cx="4014788" cy="2253308"/>
          </a:xfrm>
        </p:grpSpPr>
        <p:sp>
          <p:nvSpPr>
            <p:cNvPr id="89" name="Freeform 87"/>
            <p:cNvSpPr>
              <a:spLocks/>
            </p:cNvSpPr>
            <p:nvPr/>
          </p:nvSpPr>
          <p:spPr bwMode="auto">
            <a:xfrm>
              <a:off x="5359192" y="4008075"/>
              <a:ext cx="3043238" cy="1057275"/>
            </a:xfrm>
            <a:custGeom>
              <a:avLst/>
              <a:gdLst>
                <a:gd name="T0" fmla="*/ 0 w 1836"/>
                <a:gd name="T1" fmla="*/ 700 h 700"/>
                <a:gd name="T2" fmla="*/ 1836 w 1836"/>
                <a:gd name="T3" fmla="*/ 0 h 700"/>
                <a:gd name="T4" fmla="*/ 0 60000 65536"/>
                <a:gd name="T5" fmla="*/ 0 60000 65536"/>
                <a:gd name="T6" fmla="*/ 0 w 1836"/>
                <a:gd name="T7" fmla="*/ 0 h 700"/>
                <a:gd name="T8" fmla="*/ 1836 w 1836"/>
                <a:gd name="T9" fmla="*/ 700 h 7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36" h="700">
                  <a:moveTo>
                    <a:pt x="0" y="700"/>
                  </a:moveTo>
                  <a:lnTo>
                    <a:pt x="1836" y="0"/>
                  </a:lnTo>
                </a:path>
              </a:pathLst>
            </a:custGeom>
            <a:noFill/>
            <a:ln w="254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024229" y="3627075"/>
              <a:ext cx="4014788" cy="2190750"/>
              <a:chOff x="5024229" y="3627075"/>
              <a:chExt cx="4014788" cy="2190750"/>
            </a:xfrm>
          </p:grpSpPr>
          <p:sp>
            <p:nvSpPr>
              <p:cNvPr id="90" name="Line 88"/>
              <p:cNvSpPr>
                <a:spLocks noChangeShapeType="1"/>
              </p:cNvSpPr>
              <p:nvPr/>
            </p:nvSpPr>
            <p:spPr bwMode="auto">
              <a:xfrm flipV="1">
                <a:off x="5356017" y="3862025"/>
                <a:ext cx="0" cy="18669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Text Box 89"/>
              <p:cNvSpPr txBox="1">
                <a:spLocks noChangeArrowheads="1"/>
              </p:cNvSpPr>
              <p:nvPr/>
            </p:nvSpPr>
            <p:spPr bwMode="auto">
              <a:xfrm>
                <a:off x="8653254" y="5360625"/>
                <a:ext cx="385763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i="1" dirty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</a:p>
            </p:txBody>
          </p:sp>
          <p:sp>
            <p:nvSpPr>
              <p:cNvPr id="92" name="Text Box 90"/>
              <p:cNvSpPr txBox="1">
                <a:spLocks noChangeArrowheads="1"/>
              </p:cNvSpPr>
              <p:nvPr/>
            </p:nvSpPr>
            <p:spPr bwMode="auto">
              <a:xfrm>
                <a:off x="5344904" y="3627075"/>
                <a:ext cx="385763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i="1" dirty="0">
                    <a:cs typeface="Times New Roman" panose="02020603050405020304" pitchFamily="18" charset="0"/>
                    <a:sym typeface="Symbol" pitchFamily="18" charset="2"/>
                  </a:rPr>
                  <a:t></a:t>
                </a:r>
              </a:p>
            </p:txBody>
          </p:sp>
          <p:sp>
            <p:nvSpPr>
              <p:cNvPr id="93" name="Text Box 91"/>
              <p:cNvSpPr txBox="1">
                <a:spLocks noChangeArrowheads="1"/>
              </p:cNvSpPr>
              <p:nvPr/>
            </p:nvSpPr>
            <p:spPr bwMode="auto">
              <a:xfrm>
                <a:off x="5024229" y="5403488"/>
                <a:ext cx="385763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800" b="1" i="1" dirty="0">
                    <a:cs typeface="Times New Roman" panose="02020603050405020304" pitchFamily="18" charset="0"/>
                    <a:sym typeface="Symbol" pitchFamily="18" charset="2"/>
                  </a:rPr>
                  <a:t>O</a:t>
                </a:r>
              </a:p>
            </p:txBody>
          </p:sp>
          <p:sp>
            <p:nvSpPr>
              <p:cNvPr id="94" name="Line 92"/>
              <p:cNvSpPr>
                <a:spLocks noChangeShapeType="1"/>
              </p:cNvSpPr>
              <p:nvPr/>
            </p:nvSpPr>
            <p:spPr bwMode="auto">
              <a:xfrm>
                <a:off x="5360779" y="5436825"/>
                <a:ext cx="360362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6610691" y="3564517"/>
              <a:ext cx="1879600" cy="733286"/>
              <a:chOff x="6610691" y="3564517"/>
              <a:chExt cx="1879600" cy="733286"/>
            </a:xfrm>
          </p:grpSpPr>
          <p:graphicFrame>
            <p:nvGraphicFramePr>
              <p:cNvPr id="168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39866396"/>
                  </p:ext>
                </p:extLst>
              </p:nvPr>
            </p:nvGraphicFramePr>
            <p:xfrm>
              <a:off x="6610691" y="3564517"/>
              <a:ext cx="1879600" cy="431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6896" name="公式" r:id="rId4" imgW="939600" imgH="215640" progId="Equation.3">
                      <p:embed/>
                    </p:oleObj>
                  </mc:Choice>
                  <mc:Fallback>
                    <p:oleObj name="公式" r:id="rId4" imgW="93960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10691" y="3564517"/>
                            <a:ext cx="1879600" cy="431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69" name="直接连接符 168"/>
              <p:cNvCxnSpPr/>
              <p:nvPr/>
            </p:nvCxnSpPr>
            <p:spPr bwMode="auto">
              <a:xfrm flipH="1" flipV="1">
                <a:off x="7538484" y="3958856"/>
                <a:ext cx="15391" cy="338947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88" name="Text Box 3"/>
          <p:cNvSpPr txBox="1">
            <a:spLocks noChangeArrowheads="1"/>
          </p:cNvSpPr>
          <p:nvPr/>
        </p:nvSpPr>
        <p:spPr bwMode="auto">
          <a:xfrm>
            <a:off x="3398283" y="5842386"/>
            <a:ext cx="2294066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直剪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试验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492756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3" grpId="0"/>
      <p:bldP spid="86" grpId="0" animBg="1"/>
      <p:bldP spid="87" grpId="0" animBg="1"/>
      <p:bldP spid="33" grpId="0" animBg="1"/>
      <p:bldP spid="13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1" name="Rectangle 68"/>
          <p:cNvSpPr>
            <a:spLocks noChangeArrowheads="1"/>
          </p:cNvSpPr>
          <p:nvPr/>
        </p:nvSpPr>
        <p:spPr bwMode="auto">
          <a:xfrm>
            <a:off x="1479550" y="1949450"/>
            <a:ext cx="6165850" cy="1902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31813" indent="-531813">
              <a:lnSpc>
                <a:spcPct val="120000"/>
              </a:lnSpc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常规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三轴试验的方法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531813" indent="-531813">
              <a:lnSpc>
                <a:spcPct val="120000"/>
              </a:lnSpc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三轴试验强度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包线的确定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方法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531813" indent="-531813">
              <a:lnSpc>
                <a:spcPct val="120000"/>
              </a:lnSpc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三轴试验的优缺点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Rectangle 2"/>
          <p:cNvSpPr>
            <a:spLocks noRot="1" noChangeArrowheads="1"/>
          </p:cNvSpPr>
          <p:nvPr/>
        </p:nvSpPr>
        <p:spPr bwMode="auto">
          <a:xfrm>
            <a:off x="2382838" y="5848135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三轴剪切试验</a:t>
            </a:r>
            <a:endParaRPr lang="zh-CN" altLang="en-US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618413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36"/>
          <p:cNvSpPr>
            <a:spLocks noChangeArrowheads="1"/>
          </p:cNvSpPr>
          <p:nvPr/>
        </p:nvSpPr>
        <p:spPr bwMode="auto">
          <a:xfrm>
            <a:off x="8850387" y="3293848"/>
            <a:ext cx="111125" cy="846138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" name="任意多边形 1"/>
          <p:cNvSpPr/>
          <p:nvPr/>
        </p:nvSpPr>
        <p:spPr bwMode="auto">
          <a:xfrm>
            <a:off x="6002412" y="2110355"/>
            <a:ext cx="1561514" cy="2293033"/>
          </a:xfrm>
          <a:custGeom>
            <a:avLst/>
            <a:gdLst>
              <a:gd name="connsiteX0" fmla="*/ 0 w 1561514"/>
              <a:gd name="connsiteY0" fmla="*/ 0 h 2293033"/>
              <a:gd name="connsiteX1" fmla="*/ 1561514 w 1561514"/>
              <a:gd name="connsiteY1" fmla="*/ 0 h 2293033"/>
              <a:gd name="connsiteX2" fmla="*/ 1561514 w 1561514"/>
              <a:gd name="connsiteY2" fmla="*/ 2293033 h 2293033"/>
              <a:gd name="connsiteX3" fmla="*/ 0 w 1561514"/>
              <a:gd name="connsiteY3" fmla="*/ 2293033 h 2293033"/>
              <a:gd name="connsiteX4" fmla="*/ 0 w 1561514"/>
              <a:gd name="connsiteY4" fmla="*/ 0 h 229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1514" h="2293033">
                <a:moveTo>
                  <a:pt x="0" y="0"/>
                </a:moveTo>
                <a:lnTo>
                  <a:pt x="1561514" y="0"/>
                </a:lnTo>
                <a:lnTo>
                  <a:pt x="1561514" y="2293033"/>
                </a:lnTo>
                <a:lnTo>
                  <a:pt x="0" y="2293033"/>
                </a:lnTo>
                <a:lnTo>
                  <a:pt x="0" y="0"/>
                </a:lnTo>
                <a:close/>
              </a:path>
            </a:pathLst>
          </a:custGeom>
          <a:solidFill>
            <a:srgbClr val="0000CC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5" name="任意多边形 64"/>
          <p:cNvSpPr/>
          <p:nvPr/>
        </p:nvSpPr>
        <p:spPr bwMode="auto">
          <a:xfrm>
            <a:off x="5862712" y="4041561"/>
            <a:ext cx="1808163" cy="633412"/>
          </a:xfrm>
          <a:custGeom>
            <a:avLst/>
            <a:gdLst>
              <a:gd name="connsiteX0" fmla="*/ 0 w 1808703"/>
              <a:gd name="connsiteY0" fmla="*/ 331596 h 633046"/>
              <a:gd name="connsiteX1" fmla="*/ 577780 w 1808703"/>
              <a:gd name="connsiteY1" fmla="*/ 331596 h 633046"/>
              <a:gd name="connsiteX2" fmla="*/ 577780 w 1808703"/>
              <a:gd name="connsiteY2" fmla="*/ 0 h 633046"/>
              <a:gd name="connsiteX3" fmla="*/ 1256044 w 1808703"/>
              <a:gd name="connsiteY3" fmla="*/ 0 h 633046"/>
              <a:gd name="connsiteX4" fmla="*/ 1256044 w 1808703"/>
              <a:gd name="connsiteY4" fmla="*/ 341644 h 633046"/>
              <a:gd name="connsiteX5" fmla="*/ 1808703 w 1808703"/>
              <a:gd name="connsiteY5" fmla="*/ 341644 h 633046"/>
              <a:gd name="connsiteX6" fmla="*/ 1808703 w 1808703"/>
              <a:gd name="connsiteY6" fmla="*/ 633046 h 633046"/>
              <a:gd name="connsiteX7" fmla="*/ 10048 w 1808703"/>
              <a:gd name="connsiteY7" fmla="*/ 633046 h 633046"/>
              <a:gd name="connsiteX8" fmla="*/ 0 w 1808703"/>
              <a:gd name="connsiteY8" fmla="*/ 331596 h 633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8703" h="633046">
                <a:moveTo>
                  <a:pt x="0" y="331596"/>
                </a:moveTo>
                <a:lnTo>
                  <a:pt x="577780" y="331596"/>
                </a:lnTo>
                <a:lnTo>
                  <a:pt x="577780" y="0"/>
                </a:lnTo>
                <a:lnTo>
                  <a:pt x="1256044" y="0"/>
                </a:lnTo>
                <a:lnTo>
                  <a:pt x="1256044" y="341644"/>
                </a:lnTo>
                <a:lnTo>
                  <a:pt x="1808703" y="341644"/>
                </a:lnTo>
                <a:lnTo>
                  <a:pt x="1808703" y="633046"/>
                </a:lnTo>
                <a:lnTo>
                  <a:pt x="10048" y="633046"/>
                </a:lnTo>
                <a:lnTo>
                  <a:pt x="0" y="331596"/>
                </a:lnTo>
                <a:close/>
              </a:path>
            </a:pathLst>
          </a:custGeom>
          <a:pattFill prst="ltUpDiag">
            <a:fgClr>
              <a:schemeClr val="tx1"/>
            </a:fgClr>
            <a:bgClr>
              <a:srgbClr val="CC9900"/>
            </a:bgClr>
          </a:patt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defTabSz="1101725">
              <a:defRPr/>
            </a:pPr>
            <a:endParaRPr lang="zh-CN" altLang="en-US" sz="22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6" name="Rectangle 37"/>
          <p:cNvSpPr>
            <a:spLocks noChangeArrowheads="1"/>
          </p:cNvSpPr>
          <p:nvPr/>
        </p:nvSpPr>
        <p:spPr bwMode="auto">
          <a:xfrm>
            <a:off x="5999237" y="2107986"/>
            <a:ext cx="1554163" cy="227012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7" name="Rectangle 38" descr="大纸屑"/>
          <p:cNvSpPr>
            <a:spLocks noChangeArrowheads="1"/>
          </p:cNvSpPr>
          <p:nvPr/>
        </p:nvSpPr>
        <p:spPr bwMode="auto">
          <a:xfrm>
            <a:off x="6442150" y="3932023"/>
            <a:ext cx="674687" cy="115888"/>
          </a:xfrm>
          <a:prstGeom prst="rect">
            <a:avLst/>
          </a:prstGeom>
          <a:pattFill prst="lgConfetti">
            <a:fgClr>
              <a:schemeClr val="tx2"/>
            </a:fgClr>
            <a:bgClr>
              <a:schemeClr val="accent1"/>
            </a:bgClr>
          </a:pattFill>
          <a:ln>
            <a:solidFill>
              <a:schemeClr val="tx1"/>
            </a:solidFill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1" name="Oval 44"/>
          <p:cNvSpPr>
            <a:spLocks noChangeArrowheads="1"/>
          </p:cNvSpPr>
          <p:nvPr/>
        </p:nvSpPr>
        <p:spPr bwMode="auto">
          <a:xfrm>
            <a:off x="6348487" y="2527086"/>
            <a:ext cx="55563" cy="58737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x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2" name="Oval 45"/>
          <p:cNvSpPr>
            <a:spLocks noChangeArrowheads="1"/>
          </p:cNvSpPr>
          <p:nvPr/>
        </p:nvSpPr>
        <p:spPr bwMode="auto">
          <a:xfrm>
            <a:off x="7139062" y="4028861"/>
            <a:ext cx="57150" cy="58737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x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3" name="Oval 46"/>
          <p:cNvSpPr>
            <a:spLocks noChangeArrowheads="1"/>
          </p:cNvSpPr>
          <p:nvPr/>
        </p:nvSpPr>
        <p:spPr bwMode="auto">
          <a:xfrm>
            <a:off x="6351662" y="4038386"/>
            <a:ext cx="55563" cy="58737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xtLst/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4" name="Oval 47"/>
          <p:cNvSpPr>
            <a:spLocks noChangeArrowheads="1"/>
          </p:cNvSpPr>
          <p:nvPr/>
        </p:nvSpPr>
        <p:spPr bwMode="auto">
          <a:xfrm>
            <a:off x="7150175" y="2508036"/>
            <a:ext cx="55562" cy="58737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xtLst/>
        </p:spPr>
        <p:txBody>
          <a:bodyPr wrap="none" anchor="ctr"/>
          <a:lstStyle/>
          <a:p>
            <a:pPr algn="ctr">
              <a:lnSpc>
                <a:spcPct val="70000"/>
              </a:lnSpc>
              <a:spcBef>
                <a:spcPct val="20000"/>
              </a:spcBef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5" name="Line 51" descr="30%"/>
          <p:cNvSpPr>
            <a:spLocks noChangeShapeType="1"/>
          </p:cNvSpPr>
          <p:nvPr/>
        </p:nvSpPr>
        <p:spPr bwMode="auto">
          <a:xfrm>
            <a:off x="5988125" y="2123861"/>
            <a:ext cx="0" cy="2251075"/>
          </a:xfrm>
          <a:prstGeom prst="line">
            <a:avLst/>
          </a:prstGeom>
          <a:noFill/>
          <a:ln w="79375" cmpd="sng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6" name="Line 52" descr="30%"/>
          <p:cNvSpPr>
            <a:spLocks noChangeShapeType="1"/>
          </p:cNvSpPr>
          <p:nvPr/>
        </p:nvSpPr>
        <p:spPr bwMode="auto">
          <a:xfrm>
            <a:off x="7564512" y="2123861"/>
            <a:ext cx="0" cy="2251075"/>
          </a:xfrm>
          <a:prstGeom prst="line">
            <a:avLst/>
          </a:prstGeom>
          <a:noFill/>
          <a:ln w="79375" cmpd="sng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7" name="Rectangle 53"/>
          <p:cNvSpPr>
            <a:spLocks noChangeArrowheads="1"/>
          </p:cNvSpPr>
          <p:nvPr/>
        </p:nvSpPr>
        <p:spPr bwMode="auto">
          <a:xfrm>
            <a:off x="5862712" y="1960348"/>
            <a:ext cx="814388" cy="173038"/>
          </a:xfrm>
          <a:prstGeom prst="rect">
            <a:avLst/>
          </a:prstGeom>
          <a:pattFill prst="ltUpDiag">
            <a:fgClr>
              <a:schemeClr val="tx1"/>
            </a:fgClr>
            <a:bgClr>
              <a:srgbClr val="CC9900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8" name="Rectangle 54"/>
          <p:cNvSpPr>
            <a:spLocks noChangeArrowheads="1"/>
          </p:cNvSpPr>
          <p:nvPr/>
        </p:nvSpPr>
        <p:spPr bwMode="auto">
          <a:xfrm>
            <a:off x="6880300" y="1960348"/>
            <a:ext cx="790575" cy="173038"/>
          </a:xfrm>
          <a:prstGeom prst="rect">
            <a:avLst/>
          </a:prstGeom>
          <a:pattFill prst="ltUpDiag">
            <a:fgClr>
              <a:schemeClr val="tx1"/>
            </a:fgClr>
            <a:bgClr>
              <a:srgbClr val="CC9900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9" name="Rectangle 57"/>
          <p:cNvSpPr>
            <a:spLocks noChangeArrowheads="1"/>
          </p:cNvSpPr>
          <p:nvPr/>
        </p:nvSpPr>
        <p:spPr bwMode="auto">
          <a:xfrm>
            <a:off x="6432625" y="2654243"/>
            <a:ext cx="688975" cy="1274605"/>
          </a:xfrm>
          <a:prstGeom prst="rect">
            <a:avLst/>
          </a:prstGeom>
          <a:pattFill prst="pct20">
            <a:fgClr>
              <a:schemeClr val="tx1"/>
            </a:fgClr>
            <a:bgClr>
              <a:schemeClr val="accent6">
                <a:lumMod val="75000"/>
              </a:schemeClr>
            </a:bgClr>
          </a:patt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0" name="Text Box 58"/>
          <p:cNvSpPr txBox="1">
            <a:spLocks noChangeArrowheads="1"/>
          </p:cNvSpPr>
          <p:nvPr/>
        </p:nvSpPr>
        <p:spPr bwMode="auto">
          <a:xfrm>
            <a:off x="6561355" y="2941423"/>
            <a:ext cx="431657" cy="6127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16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Symbol" pitchFamily="18" charset="2"/>
              </a:rPr>
              <a:t>试 样</a:t>
            </a:r>
          </a:p>
        </p:txBody>
      </p:sp>
      <p:sp>
        <p:nvSpPr>
          <p:cNvPr id="81" name="Text Box 59"/>
          <p:cNvSpPr txBox="1">
            <a:spLocks noChangeArrowheads="1"/>
          </p:cNvSpPr>
          <p:nvPr/>
        </p:nvSpPr>
        <p:spPr bwMode="auto">
          <a:xfrm>
            <a:off x="4499537" y="3937429"/>
            <a:ext cx="1041147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b="1" dirty="0" smtClean="0">
                <a:ea typeface="+mn-ea"/>
                <a:cs typeface="Times New Roman" pitchFamily="18" charset="0"/>
                <a:sym typeface="Symbol" pitchFamily="18" charset="2"/>
              </a:rPr>
              <a:t>围压</a:t>
            </a:r>
            <a:r>
              <a:rPr lang="en-US" altLang="zh-CN" sz="2000" b="1" baseline="-25000" dirty="0" smtClean="0">
                <a:ea typeface="+mn-ea"/>
                <a:cs typeface="Times New Roman" pitchFamily="18" charset="0"/>
                <a:sym typeface="Symbol" pitchFamily="18" charset="2"/>
              </a:rPr>
              <a:t>c</a:t>
            </a:r>
            <a:endParaRPr lang="zh-CN" altLang="zh-CN" sz="2000" b="1" dirty="0" smtClean="0"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2" name="Text Box 60"/>
          <p:cNvSpPr txBox="1">
            <a:spLocks noChangeArrowheads="1"/>
          </p:cNvSpPr>
          <p:nvPr/>
        </p:nvSpPr>
        <p:spPr bwMode="auto">
          <a:xfrm>
            <a:off x="8380880" y="4579522"/>
            <a:ext cx="7449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000" b="1" dirty="0" smtClean="0">
                <a:ea typeface="+mn-ea"/>
                <a:cs typeface="Times New Roman" pitchFamily="18" charset="0"/>
                <a:sym typeface="Symbol" pitchFamily="18" charset="2"/>
              </a:rPr>
              <a:t>阀门</a:t>
            </a:r>
          </a:p>
        </p:txBody>
      </p:sp>
      <p:sp>
        <p:nvSpPr>
          <p:cNvPr id="83" name="Text Box 61"/>
          <p:cNvSpPr txBox="1">
            <a:spLocks noChangeArrowheads="1"/>
          </p:cNvSpPr>
          <p:nvPr/>
        </p:nvSpPr>
        <p:spPr bwMode="auto">
          <a:xfrm>
            <a:off x="4975300" y="4617823"/>
            <a:ext cx="815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000" b="1" smtClean="0">
                <a:ea typeface="+mn-ea"/>
                <a:cs typeface="Times New Roman" pitchFamily="18" charset="0"/>
                <a:sym typeface="Symbol" pitchFamily="18" charset="2"/>
              </a:rPr>
              <a:t>阀门</a:t>
            </a:r>
          </a:p>
        </p:txBody>
      </p:sp>
      <p:sp>
        <p:nvSpPr>
          <p:cNvPr id="84" name="Freeform 62"/>
          <p:cNvSpPr>
            <a:spLocks/>
          </p:cNvSpPr>
          <p:nvPr/>
        </p:nvSpPr>
        <p:spPr bwMode="auto">
          <a:xfrm>
            <a:off x="5022925" y="4362236"/>
            <a:ext cx="1174750" cy="96837"/>
          </a:xfrm>
          <a:custGeom>
            <a:avLst/>
            <a:gdLst>
              <a:gd name="T0" fmla="*/ 888 w 1253"/>
              <a:gd name="T1" fmla="*/ 0 h 67"/>
              <a:gd name="T2" fmla="*/ 888 w 1253"/>
              <a:gd name="T3" fmla="*/ 61 h 67"/>
              <a:gd name="T4" fmla="*/ 0 w 1253"/>
              <a:gd name="T5" fmla="*/ 61 h 67"/>
              <a:gd name="T6" fmla="*/ 0 60000 65536"/>
              <a:gd name="T7" fmla="*/ 0 60000 65536"/>
              <a:gd name="T8" fmla="*/ 0 60000 65536"/>
              <a:gd name="T9" fmla="*/ 0 w 1253"/>
              <a:gd name="T10" fmla="*/ 0 h 67"/>
              <a:gd name="T11" fmla="*/ 1253 w 1253"/>
              <a:gd name="T12" fmla="*/ 67 h 67"/>
              <a:gd name="connsiteX0" fmla="*/ 8327 w 8327"/>
              <a:gd name="connsiteY0" fmla="*/ 0 h 10000"/>
              <a:gd name="connsiteX1" fmla="*/ 8327 w 8327"/>
              <a:gd name="connsiteY1" fmla="*/ 10000 h 10000"/>
              <a:gd name="connsiteX2" fmla="*/ 0 w 8327"/>
              <a:gd name="connsiteY2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27" h="10000">
                <a:moveTo>
                  <a:pt x="8327" y="0"/>
                </a:moveTo>
                <a:lnTo>
                  <a:pt x="8327" y="10000"/>
                </a:lnTo>
                <a:lnTo>
                  <a:pt x="0" y="10000"/>
                </a:lnTo>
              </a:path>
            </a:pathLst>
          </a:cu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5" name="AutoShape 63"/>
          <p:cNvSpPr>
            <a:spLocks noChangeArrowheads="1"/>
          </p:cNvSpPr>
          <p:nvPr/>
        </p:nvSpPr>
        <p:spPr bwMode="auto">
          <a:xfrm>
            <a:off x="5273750" y="4349536"/>
            <a:ext cx="225425" cy="231775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6" name="Freeform 64"/>
          <p:cNvSpPr>
            <a:spLocks/>
          </p:cNvSpPr>
          <p:nvPr/>
        </p:nvSpPr>
        <p:spPr bwMode="auto">
          <a:xfrm>
            <a:off x="6905700" y="4027273"/>
            <a:ext cx="1997075" cy="433388"/>
          </a:xfrm>
          <a:custGeom>
            <a:avLst/>
            <a:gdLst>
              <a:gd name="T0" fmla="*/ 0 w 1257"/>
              <a:gd name="T1" fmla="*/ 0 h 302"/>
              <a:gd name="T2" fmla="*/ 0 w 1257"/>
              <a:gd name="T3" fmla="*/ 269 h 302"/>
              <a:gd name="T4" fmla="*/ 1258 w 1257"/>
              <a:gd name="T5" fmla="*/ 273 h 302"/>
              <a:gd name="T6" fmla="*/ 1258 w 1257"/>
              <a:gd name="T7" fmla="*/ 59 h 302"/>
              <a:gd name="T8" fmla="*/ 0 60000 65536"/>
              <a:gd name="T9" fmla="*/ 0 60000 65536"/>
              <a:gd name="T10" fmla="*/ 0 60000 65536"/>
              <a:gd name="T11" fmla="*/ 0 60000 65536"/>
              <a:gd name="T12" fmla="*/ 0 w 1257"/>
              <a:gd name="T13" fmla="*/ 0 h 302"/>
              <a:gd name="T14" fmla="*/ 1257 w 1257"/>
              <a:gd name="T15" fmla="*/ 302 h 3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57" h="302">
                <a:moveTo>
                  <a:pt x="0" y="0"/>
                </a:moveTo>
                <a:lnTo>
                  <a:pt x="0" y="298"/>
                </a:lnTo>
                <a:lnTo>
                  <a:pt x="1257" y="302"/>
                </a:lnTo>
                <a:lnTo>
                  <a:pt x="1257" y="65"/>
                </a:lnTo>
              </a:path>
            </a:pathLst>
          </a:cu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7" name="AutoShape 65"/>
          <p:cNvSpPr>
            <a:spLocks noChangeArrowheads="1"/>
          </p:cNvSpPr>
          <p:nvPr/>
        </p:nvSpPr>
        <p:spPr bwMode="auto">
          <a:xfrm>
            <a:off x="8364612" y="4332073"/>
            <a:ext cx="225425" cy="231775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8" name="Text Box 91"/>
          <p:cNvSpPr txBox="1">
            <a:spLocks noChangeArrowheads="1"/>
          </p:cNvSpPr>
          <p:nvPr/>
        </p:nvSpPr>
        <p:spPr bwMode="auto">
          <a:xfrm>
            <a:off x="8365975" y="2329733"/>
            <a:ext cx="538609" cy="104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b="1" dirty="0" smtClean="0">
                <a:ea typeface="+mn-ea"/>
                <a:cs typeface="Times New Roman" pitchFamily="18" charset="0"/>
                <a:sym typeface="Symbol" pitchFamily="18" charset="2"/>
              </a:rPr>
              <a:t>量水管</a:t>
            </a:r>
          </a:p>
        </p:txBody>
      </p:sp>
      <p:sp>
        <p:nvSpPr>
          <p:cNvPr id="89" name="Rectangle 92"/>
          <p:cNvSpPr>
            <a:spLocks noChangeArrowheads="1"/>
          </p:cNvSpPr>
          <p:nvPr/>
        </p:nvSpPr>
        <p:spPr bwMode="auto">
          <a:xfrm>
            <a:off x="7950275" y="4349536"/>
            <a:ext cx="228600" cy="214312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0" name="Oval 93"/>
          <p:cNvSpPr>
            <a:spLocks noChangeArrowheads="1"/>
          </p:cNvSpPr>
          <p:nvPr/>
        </p:nvSpPr>
        <p:spPr bwMode="auto">
          <a:xfrm>
            <a:off x="8010600" y="4397161"/>
            <a:ext cx="114300" cy="1143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1" name="Text Box 96"/>
          <p:cNvSpPr txBox="1">
            <a:spLocks noChangeArrowheads="1"/>
          </p:cNvSpPr>
          <p:nvPr/>
        </p:nvSpPr>
        <p:spPr bwMode="auto">
          <a:xfrm>
            <a:off x="7613928" y="3194124"/>
            <a:ext cx="112262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 smtClean="0">
                <a:ea typeface="+mn-ea"/>
                <a:cs typeface="Times New Roman" pitchFamily="18" charset="0"/>
              </a:rPr>
              <a:t>孔压</a:t>
            </a:r>
            <a:r>
              <a:rPr lang="en-US" altLang="zh-CN" sz="2000" b="1" dirty="0" smtClean="0">
                <a:ea typeface="+mn-ea"/>
                <a:cs typeface="Times New Roman" pitchFamily="18" charset="0"/>
              </a:rPr>
              <a:t/>
            </a:r>
            <a:br>
              <a:rPr lang="en-US" altLang="zh-CN" sz="2000" b="1" dirty="0" smtClean="0">
                <a:ea typeface="+mn-ea"/>
                <a:cs typeface="Times New Roman" pitchFamily="18" charset="0"/>
              </a:rPr>
            </a:br>
            <a:r>
              <a:rPr lang="zh-CN" altLang="en-US" sz="2000" b="1" dirty="0" smtClean="0">
                <a:ea typeface="+mn-ea"/>
                <a:cs typeface="Times New Roman" pitchFamily="18" charset="0"/>
              </a:rPr>
              <a:t>传感器</a:t>
            </a:r>
            <a:endParaRPr lang="en-US" altLang="zh-CN" sz="2000" b="1" dirty="0" smtClean="0">
              <a:ea typeface="+mn-ea"/>
              <a:cs typeface="Times New Roman" pitchFamily="18" charset="0"/>
            </a:endParaRPr>
          </a:p>
        </p:txBody>
      </p:sp>
      <p:sp>
        <p:nvSpPr>
          <p:cNvPr id="93" name="Freeform 90"/>
          <p:cNvSpPr>
            <a:spLocks/>
          </p:cNvSpPr>
          <p:nvPr/>
        </p:nvSpPr>
        <p:spPr bwMode="auto">
          <a:xfrm>
            <a:off x="8845625" y="2225461"/>
            <a:ext cx="111125" cy="1914525"/>
          </a:xfrm>
          <a:custGeom>
            <a:avLst/>
            <a:gdLst>
              <a:gd name="T0" fmla="*/ 0 w 89"/>
              <a:gd name="T1" fmla="*/ 0 h 1206"/>
              <a:gd name="T2" fmla="*/ 0 w 89"/>
              <a:gd name="T3" fmla="*/ 1206 h 1206"/>
              <a:gd name="T4" fmla="*/ 70 w 89"/>
              <a:gd name="T5" fmla="*/ 1206 h 1206"/>
              <a:gd name="T6" fmla="*/ 70 w 89"/>
              <a:gd name="T7" fmla="*/ 0 h 1206"/>
              <a:gd name="T8" fmla="*/ 0 60000 65536"/>
              <a:gd name="T9" fmla="*/ 0 60000 65536"/>
              <a:gd name="T10" fmla="*/ 0 60000 65536"/>
              <a:gd name="T11" fmla="*/ 0 60000 65536"/>
              <a:gd name="T12" fmla="*/ 0 w 89"/>
              <a:gd name="T13" fmla="*/ 0 h 1206"/>
              <a:gd name="T14" fmla="*/ 89 w 89"/>
              <a:gd name="T15" fmla="*/ 1206 h 120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" h="1206">
                <a:moveTo>
                  <a:pt x="0" y="0"/>
                </a:moveTo>
                <a:lnTo>
                  <a:pt x="0" y="1206"/>
                </a:lnTo>
                <a:lnTo>
                  <a:pt x="89" y="1206"/>
                </a:lnTo>
                <a:lnTo>
                  <a:pt x="8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94" name="直接连接符 3"/>
          <p:cNvCxnSpPr>
            <a:cxnSpLocks noChangeShapeType="1"/>
          </p:cNvCxnSpPr>
          <p:nvPr/>
        </p:nvCxnSpPr>
        <p:spPr bwMode="auto">
          <a:xfrm>
            <a:off x="8847212" y="3298611"/>
            <a:ext cx="106363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连接符 5"/>
          <p:cNvCxnSpPr>
            <a:cxnSpLocks noChangeShapeType="1"/>
          </p:cNvCxnSpPr>
          <p:nvPr/>
        </p:nvCxnSpPr>
        <p:spPr bwMode="auto">
          <a:xfrm>
            <a:off x="6404050" y="3928848"/>
            <a:ext cx="73183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6" name="Group 35"/>
          <p:cNvGrpSpPr>
            <a:grpSpLocks/>
          </p:cNvGrpSpPr>
          <p:nvPr/>
        </p:nvGrpSpPr>
        <p:grpSpPr bwMode="auto">
          <a:xfrm>
            <a:off x="6258000" y="2703298"/>
            <a:ext cx="142875" cy="1154113"/>
            <a:chOff x="3013" y="1831"/>
            <a:chExt cx="120" cy="728"/>
          </a:xfrm>
        </p:grpSpPr>
        <p:sp>
          <p:nvSpPr>
            <p:cNvPr id="97" name="Line 36"/>
            <p:cNvSpPr>
              <a:spLocks noChangeShapeType="1"/>
            </p:cNvSpPr>
            <p:nvPr/>
          </p:nvSpPr>
          <p:spPr bwMode="auto">
            <a:xfrm>
              <a:off x="3013" y="1831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37"/>
            <p:cNvSpPr>
              <a:spLocks noChangeShapeType="1"/>
            </p:cNvSpPr>
            <p:nvPr/>
          </p:nvSpPr>
          <p:spPr bwMode="auto">
            <a:xfrm>
              <a:off x="3013" y="1935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38"/>
            <p:cNvSpPr>
              <a:spLocks noChangeShapeType="1"/>
            </p:cNvSpPr>
            <p:nvPr/>
          </p:nvSpPr>
          <p:spPr bwMode="auto">
            <a:xfrm>
              <a:off x="3013" y="2039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39"/>
            <p:cNvSpPr>
              <a:spLocks noChangeShapeType="1"/>
            </p:cNvSpPr>
            <p:nvPr/>
          </p:nvSpPr>
          <p:spPr bwMode="auto">
            <a:xfrm>
              <a:off x="3013" y="2143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40"/>
            <p:cNvSpPr>
              <a:spLocks noChangeShapeType="1"/>
            </p:cNvSpPr>
            <p:nvPr/>
          </p:nvSpPr>
          <p:spPr bwMode="auto">
            <a:xfrm>
              <a:off x="3013" y="2247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41"/>
            <p:cNvSpPr>
              <a:spLocks noChangeShapeType="1"/>
            </p:cNvSpPr>
            <p:nvPr/>
          </p:nvSpPr>
          <p:spPr bwMode="auto">
            <a:xfrm>
              <a:off x="3013" y="2351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42"/>
            <p:cNvSpPr>
              <a:spLocks noChangeShapeType="1"/>
            </p:cNvSpPr>
            <p:nvPr/>
          </p:nvSpPr>
          <p:spPr bwMode="auto">
            <a:xfrm>
              <a:off x="3013" y="2455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43"/>
            <p:cNvSpPr>
              <a:spLocks noChangeShapeType="1"/>
            </p:cNvSpPr>
            <p:nvPr/>
          </p:nvSpPr>
          <p:spPr bwMode="auto">
            <a:xfrm>
              <a:off x="3013" y="2559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5" name="Group 35"/>
          <p:cNvGrpSpPr>
            <a:grpSpLocks/>
          </p:cNvGrpSpPr>
          <p:nvPr/>
        </p:nvGrpSpPr>
        <p:grpSpPr bwMode="auto">
          <a:xfrm flipH="1">
            <a:off x="7158112" y="2703298"/>
            <a:ext cx="142875" cy="1154113"/>
            <a:chOff x="3013" y="1831"/>
            <a:chExt cx="120" cy="728"/>
          </a:xfrm>
        </p:grpSpPr>
        <p:sp>
          <p:nvSpPr>
            <p:cNvPr id="106" name="Line 36"/>
            <p:cNvSpPr>
              <a:spLocks noChangeShapeType="1"/>
            </p:cNvSpPr>
            <p:nvPr/>
          </p:nvSpPr>
          <p:spPr bwMode="auto">
            <a:xfrm>
              <a:off x="3013" y="1831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37"/>
            <p:cNvSpPr>
              <a:spLocks noChangeShapeType="1"/>
            </p:cNvSpPr>
            <p:nvPr/>
          </p:nvSpPr>
          <p:spPr bwMode="auto">
            <a:xfrm>
              <a:off x="3013" y="1935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38"/>
            <p:cNvSpPr>
              <a:spLocks noChangeShapeType="1"/>
            </p:cNvSpPr>
            <p:nvPr/>
          </p:nvSpPr>
          <p:spPr bwMode="auto">
            <a:xfrm>
              <a:off x="3013" y="2039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39"/>
            <p:cNvSpPr>
              <a:spLocks noChangeShapeType="1"/>
            </p:cNvSpPr>
            <p:nvPr/>
          </p:nvSpPr>
          <p:spPr bwMode="auto">
            <a:xfrm>
              <a:off x="3013" y="2143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40"/>
            <p:cNvSpPr>
              <a:spLocks noChangeShapeType="1"/>
            </p:cNvSpPr>
            <p:nvPr/>
          </p:nvSpPr>
          <p:spPr bwMode="auto">
            <a:xfrm>
              <a:off x="3013" y="2247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41"/>
            <p:cNvSpPr>
              <a:spLocks noChangeShapeType="1"/>
            </p:cNvSpPr>
            <p:nvPr/>
          </p:nvSpPr>
          <p:spPr bwMode="auto">
            <a:xfrm>
              <a:off x="3013" y="2351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42"/>
            <p:cNvSpPr>
              <a:spLocks noChangeShapeType="1"/>
            </p:cNvSpPr>
            <p:nvPr/>
          </p:nvSpPr>
          <p:spPr bwMode="auto">
            <a:xfrm>
              <a:off x="3013" y="2455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43"/>
            <p:cNvSpPr>
              <a:spLocks noChangeShapeType="1"/>
            </p:cNvSpPr>
            <p:nvPr/>
          </p:nvSpPr>
          <p:spPr bwMode="auto">
            <a:xfrm>
              <a:off x="3013" y="2559"/>
              <a:ext cx="1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4" name="组合 6"/>
          <p:cNvGrpSpPr>
            <a:grpSpLocks/>
          </p:cNvGrpSpPr>
          <p:nvPr/>
        </p:nvGrpSpPr>
        <p:grpSpPr bwMode="auto">
          <a:xfrm>
            <a:off x="6448500" y="2261973"/>
            <a:ext cx="658812" cy="142875"/>
            <a:chOff x="2499574" y="750765"/>
            <a:chExt cx="659033" cy="142898"/>
          </a:xfrm>
        </p:grpSpPr>
        <p:sp>
          <p:nvSpPr>
            <p:cNvPr id="115" name="Line 36"/>
            <p:cNvSpPr>
              <a:spLocks noChangeShapeType="1"/>
            </p:cNvSpPr>
            <p:nvPr/>
          </p:nvSpPr>
          <p:spPr bwMode="auto">
            <a:xfrm rot="16200000" flipH="1">
              <a:off x="2428125" y="822214"/>
              <a:ext cx="14289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37"/>
            <p:cNvSpPr>
              <a:spLocks noChangeShapeType="1"/>
            </p:cNvSpPr>
            <p:nvPr/>
          </p:nvSpPr>
          <p:spPr bwMode="auto">
            <a:xfrm rot="16200000" flipH="1">
              <a:off x="2592883" y="822214"/>
              <a:ext cx="14289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38"/>
            <p:cNvSpPr>
              <a:spLocks noChangeShapeType="1"/>
            </p:cNvSpPr>
            <p:nvPr/>
          </p:nvSpPr>
          <p:spPr bwMode="auto">
            <a:xfrm rot="16200000" flipH="1">
              <a:off x="2757641" y="822214"/>
              <a:ext cx="14289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39"/>
            <p:cNvSpPr>
              <a:spLocks noChangeShapeType="1"/>
            </p:cNvSpPr>
            <p:nvPr/>
          </p:nvSpPr>
          <p:spPr bwMode="auto">
            <a:xfrm rot="16200000" flipH="1">
              <a:off x="2922400" y="822214"/>
              <a:ext cx="14289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40"/>
            <p:cNvSpPr>
              <a:spLocks noChangeShapeType="1"/>
            </p:cNvSpPr>
            <p:nvPr/>
          </p:nvSpPr>
          <p:spPr bwMode="auto">
            <a:xfrm rot="16200000" flipH="1">
              <a:off x="3087158" y="822214"/>
              <a:ext cx="14289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" name="Rectangle 55" descr="浅色竖线"/>
          <p:cNvSpPr>
            <a:spLocks noChangeArrowheads="1"/>
          </p:cNvSpPr>
          <p:nvPr/>
        </p:nvSpPr>
        <p:spPr bwMode="auto">
          <a:xfrm>
            <a:off x="6675512" y="1838111"/>
            <a:ext cx="200025" cy="579437"/>
          </a:xfrm>
          <a:custGeom>
            <a:avLst/>
            <a:gdLst>
              <a:gd name="connsiteX0" fmla="*/ 0 w 200025"/>
              <a:gd name="connsiteY0" fmla="*/ 0 h 771525"/>
              <a:gd name="connsiteX1" fmla="*/ 200025 w 200025"/>
              <a:gd name="connsiteY1" fmla="*/ 0 h 771525"/>
              <a:gd name="connsiteX2" fmla="*/ 200025 w 200025"/>
              <a:gd name="connsiteY2" fmla="*/ 771525 h 771525"/>
              <a:gd name="connsiteX3" fmla="*/ 0 w 200025"/>
              <a:gd name="connsiteY3" fmla="*/ 771525 h 771525"/>
              <a:gd name="connsiteX4" fmla="*/ 0 w 200025"/>
              <a:gd name="connsiteY4" fmla="*/ 0 h 771525"/>
              <a:gd name="connsiteX0" fmla="*/ 0 w 200025"/>
              <a:gd name="connsiteY0" fmla="*/ 0 h 771525"/>
              <a:gd name="connsiteX1" fmla="*/ 200025 w 200025"/>
              <a:gd name="connsiteY1" fmla="*/ 0 h 771525"/>
              <a:gd name="connsiteX2" fmla="*/ 200025 w 200025"/>
              <a:gd name="connsiteY2" fmla="*/ 771525 h 771525"/>
              <a:gd name="connsiteX3" fmla="*/ 89226 w 200025"/>
              <a:gd name="connsiteY3" fmla="*/ 768923 h 771525"/>
              <a:gd name="connsiteX4" fmla="*/ 0 w 200025"/>
              <a:gd name="connsiteY4" fmla="*/ 771525 h 771525"/>
              <a:gd name="connsiteX5" fmla="*/ 0 w 200025"/>
              <a:gd name="connsiteY5" fmla="*/ 0 h 771525"/>
              <a:gd name="connsiteX0" fmla="*/ 0 w 200025"/>
              <a:gd name="connsiteY0" fmla="*/ 0 h 776067"/>
              <a:gd name="connsiteX1" fmla="*/ 200025 w 200025"/>
              <a:gd name="connsiteY1" fmla="*/ 0 h 776067"/>
              <a:gd name="connsiteX2" fmla="*/ 200025 w 200025"/>
              <a:gd name="connsiteY2" fmla="*/ 771525 h 776067"/>
              <a:gd name="connsiteX3" fmla="*/ 89226 w 200025"/>
              <a:gd name="connsiteY3" fmla="*/ 776067 h 776067"/>
              <a:gd name="connsiteX4" fmla="*/ 0 w 200025"/>
              <a:gd name="connsiteY4" fmla="*/ 771525 h 776067"/>
              <a:gd name="connsiteX5" fmla="*/ 0 w 200025"/>
              <a:gd name="connsiteY5" fmla="*/ 0 h 776067"/>
              <a:gd name="connsiteX0" fmla="*/ 0 w 200025"/>
              <a:gd name="connsiteY0" fmla="*/ 0 h 780829"/>
              <a:gd name="connsiteX1" fmla="*/ 200025 w 200025"/>
              <a:gd name="connsiteY1" fmla="*/ 0 h 780829"/>
              <a:gd name="connsiteX2" fmla="*/ 200025 w 200025"/>
              <a:gd name="connsiteY2" fmla="*/ 771525 h 780829"/>
              <a:gd name="connsiteX3" fmla="*/ 98751 w 200025"/>
              <a:gd name="connsiteY3" fmla="*/ 780829 h 780829"/>
              <a:gd name="connsiteX4" fmla="*/ 0 w 200025"/>
              <a:gd name="connsiteY4" fmla="*/ 771525 h 780829"/>
              <a:gd name="connsiteX5" fmla="*/ 0 w 200025"/>
              <a:gd name="connsiteY5" fmla="*/ 0 h 780829"/>
              <a:gd name="connsiteX0" fmla="*/ 0 w 200025"/>
              <a:gd name="connsiteY0" fmla="*/ 0 h 787973"/>
              <a:gd name="connsiteX1" fmla="*/ 200025 w 200025"/>
              <a:gd name="connsiteY1" fmla="*/ 0 h 787973"/>
              <a:gd name="connsiteX2" fmla="*/ 200025 w 200025"/>
              <a:gd name="connsiteY2" fmla="*/ 771525 h 787973"/>
              <a:gd name="connsiteX3" fmla="*/ 98751 w 200025"/>
              <a:gd name="connsiteY3" fmla="*/ 787973 h 787973"/>
              <a:gd name="connsiteX4" fmla="*/ 0 w 200025"/>
              <a:gd name="connsiteY4" fmla="*/ 771525 h 787973"/>
              <a:gd name="connsiteX5" fmla="*/ 0 w 200025"/>
              <a:gd name="connsiteY5" fmla="*/ 0 h 787973"/>
              <a:gd name="connsiteX0" fmla="*/ 0 w 200025"/>
              <a:gd name="connsiteY0" fmla="*/ 0 h 797178"/>
              <a:gd name="connsiteX1" fmla="*/ 200025 w 200025"/>
              <a:gd name="connsiteY1" fmla="*/ 0 h 797178"/>
              <a:gd name="connsiteX2" fmla="*/ 200025 w 200025"/>
              <a:gd name="connsiteY2" fmla="*/ 771525 h 797178"/>
              <a:gd name="connsiteX3" fmla="*/ 89545 w 200025"/>
              <a:gd name="connsiteY3" fmla="*/ 797178 h 797178"/>
              <a:gd name="connsiteX4" fmla="*/ 0 w 200025"/>
              <a:gd name="connsiteY4" fmla="*/ 771525 h 797178"/>
              <a:gd name="connsiteX5" fmla="*/ 0 w 200025"/>
              <a:gd name="connsiteY5" fmla="*/ 0 h 797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025" h="797178">
                <a:moveTo>
                  <a:pt x="0" y="0"/>
                </a:moveTo>
                <a:lnTo>
                  <a:pt x="200025" y="0"/>
                </a:lnTo>
                <a:lnTo>
                  <a:pt x="200025" y="771525"/>
                </a:lnTo>
                <a:lnTo>
                  <a:pt x="89545" y="797178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rgbClr val="4D4D4D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121" name="直接箭头连接符 8"/>
          <p:cNvCxnSpPr>
            <a:cxnSpLocks noChangeShapeType="1"/>
          </p:cNvCxnSpPr>
          <p:nvPr/>
        </p:nvCxnSpPr>
        <p:spPr bwMode="auto">
          <a:xfrm>
            <a:off x="6764412" y="1426551"/>
            <a:ext cx="0" cy="375047"/>
          </a:xfrm>
          <a:prstGeom prst="straightConnector1">
            <a:avLst/>
          </a:prstGeom>
          <a:noFill/>
          <a:ln w="57150" algn="ctr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2" name="直接箭头连接符 163"/>
          <p:cNvCxnSpPr>
            <a:cxnSpLocks noChangeShapeType="1"/>
          </p:cNvCxnSpPr>
          <p:nvPr/>
        </p:nvCxnSpPr>
        <p:spPr bwMode="auto">
          <a:xfrm>
            <a:off x="4599125" y="4460661"/>
            <a:ext cx="376175" cy="0"/>
          </a:xfrm>
          <a:prstGeom prst="straightConnector1">
            <a:avLst/>
          </a:prstGeom>
          <a:noFill/>
          <a:ln w="57150" algn="ctr">
            <a:solidFill>
              <a:srgbClr val="99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" name="Text Box 59"/>
          <p:cNvSpPr txBox="1">
            <a:spLocks noChangeArrowheads="1"/>
          </p:cNvSpPr>
          <p:nvPr/>
        </p:nvSpPr>
        <p:spPr bwMode="auto">
          <a:xfrm>
            <a:off x="7161580" y="3786047"/>
            <a:ext cx="419100" cy="416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b="1" i="1" dirty="0" smtClean="0">
                <a:solidFill>
                  <a:schemeClr val="bg1"/>
                </a:solidFill>
                <a:ea typeface="+mn-ea"/>
                <a:cs typeface="Times New Roman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 smtClean="0">
                <a:solidFill>
                  <a:schemeClr val="bg1"/>
                </a:solidFill>
                <a:ea typeface="+mn-ea"/>
                <a:cs typeface="Times New Roman" pitchFamily="18" charset="0"/>
                <a:sym typeface="Symbol" pitchFamily="18" charset="2"/>
              </a:rPr>
              <a:t>c</a:t>
            </a:r>
            <a:endParaRPr lang="zh-CN" altLang="zh-CN" sz="2000" b="1" dirty="0" smtClean="0">
              <a:solidFill>
                <a:schemeClr val="bg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24" name="Text Box 59"/>
          <p:cNvSpPr txBox="1">
            <a:spLocks noChangeArrowheads="1"/>
          </p:cNvSpPr>
          <p:nvPr/>
        </p:nvSpPr>
        <p:spPr bwMode="auto">
          <a:xfrm>
            <a:off x="6772350" y="1345128"/>
            <a:ext cx="419100" cy="41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000" b="1" i="1" dirty="0" smtClean="0">
                <a:ea typeface="+mn-ea"/>
                <a:cs typeface="Times New Roman" pitchFamily="18" charset="0"/>
                <a:sym typeface="Symbol" pitchFamily="18" charset="2"/>
              </a:rPr>
              <a:t>F</a:t>
            </a:r>
            <a:endParaRPr lang="zh-CN" altLang="zh-CN" sz="2000" b="1" i="1" dirty="0" smtClean="0"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25" name="Rectangle 39" descr="浅色上对角线"/>
          <p:cNvSpPr>
            <a:spLocks noChangeArrowheads="1"/>
          </p:cNvSpPr>
          <p:nvPr/>
        </p:nvSpPr>
        <p:spPr bwMode="auto">
          <a:xfrm>
            <a:off x="6421512" y="2417548"/>
            <a:ext cx="712788" cy="230188"/>
          </a:xfrm>
          <a:prstGeom prst="rect">
            <a:avLst/>
          </a:prstGeom>
          <a:pattFill prst="ltUpDiag">
            <a:fgClr>
              <a:srgbClr val="5F5F5F"/>
            </a:fgClr>
            <a:bgClr>
              <a:srgbClr val="CC9900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pSp>
        <p:nvGrpSpPr>
          <p:cNvPr id="68" name="Group 40"/>
          <p:cNvGrpSpPr>
            <a:grpSpLocks/>
          </p:cNvGrpSpPr>
          <p:nvPr/>
        </p:nvGrpSpPr>
        <p:grpSpPr bwMode="auto">
          <a:xfrm>
            <a:off x="6418337" y="2479461"/>
            <a:ext cx="717550" cy="1627187"/>
            <a:chOff x="3374" y="2353"/>
            <a:chExt cx="452" cy="1025"/>
          </a:xfrm>
        </p:grpSpPr>
        <p:sp>
          <p:nvSpPr>
            <p:cNvPr id="69" name="Line 41"/>
            <p:cNvSpPr>
              <a:spLocks noChangeShapeType="1"/>
            </p:cNvSpPr>
            <p:nvPr/>
          </p:nvSpPr>
          <p:spPr bwMode="auto">
            <a:xfrm>
              <a:off x="3374" y="2359"/>
              <a:ext cx="0" cy="1019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70" name="Line 42"/>
            <p:cNvSpPr>
              <a:spLocks noChangeShapeType="1"/>
            </p:cNvSpPr>
            <p:nvPr/>
          </p:nvSpPr>
          <p:spPr bwMode="auto">
            <a:xfrm>
              <a:off x="3826" y="2353"/>
              <a:ext cx="0" cy="1019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cxnSp>
        <p:nvCxnSpPr>
          <p:cNvPr id="127" name="直接连接符 126"/>
          <p:cNvCxnSpPr/>
          <p:nvPr/>
        </p:nvCxnSpPr>
        <p:spPr bwMode="auto">
          <a:xfrm>
            <a:off x="8850388" y="3319188"/>
            <a:ext cx="88900" cy="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" name="直接连接符 127"/>
          <p:cNvCxnSpPr/>
          <p:nvPr/>
        </p:nvCxnSpPr>
        <p:spPr bwMode="auto">
          <a:xfrm>
            <a:off x="8869440" y="3344586"/>
            <a:ext cx="52388" cy="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直接连接符 129"/>
          <p:cNvCxnSpPr/>
          <p:nvPr/>
        </p:nvCxnSpPr>
        <p:spPr bwMode="auto">
          <a:xfrm>
            <a:off x="8878964" y="3368396"/>
            <a:ext cx="42858" cy="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Text Box 38"/>
          <p:cNvSpPr txBox="1">
            <a:spLocks noChangeArrowheads="1"/>
          </p:cNvSpPr>
          <p:nvPr/>
        </p:nvSpPr>
        <p:spPr bwMode="auto">
          <a:xfrm>
            <a:off x="419100" y="724865"/>
            <a:ext cx="3455783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常规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三轴试验方法</a:t>
            </a: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8039442" y="3925307"/>
            <a:ext cx="72427" cy="353085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8" name="Text Box 5"/>
          <p:cNvSpPr txBox="1">
            <a:spLocks noChangeArrowheads="1"/>
          </p:cNvSpPr>
          <p:nvPr/>
        </p:nvSpPr>
        <p:spPr bwMode="auto">
          <a:xfrm>
            <a:off x="682342" y="1663015"/>
            <a:ext cx="3545626" cy="331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8038" indent="-3508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lvl="1" indent="-342900" eaLnBrk="1" hangingPunct="1"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可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同时变化周围压力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l-GR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和偏差应力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el-GR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lang="el-GR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l-GR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</a:p>
          <a:p>
            <a:pPr marL="342900" lvl="1" indent="-342900" eaLnBrk="1" hangingPunct="1"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试样始终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处在轴对称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应力状态，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轴向应力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大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主应力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两个侧向应力总是相等，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即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 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lvl="1" indent="-342900" eaLnBrk="1" hangingPunct="1"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最常用的是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常数的常规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三轴压缩试验</a:t>
            </a:r>
            <a:endParaRPr lang="en-US" altLang="zh-CN" sz="22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26" name="Rectangle 2"/>
          <p:cNvSpPr>
            <a:spLocks noRot="1" noChangeArrowheads="1"/>
          </p:cNvSpPr>
          <p:nvPr/>
        </p:nvSpPr>
        <p:spPr bwMode="auto">
          <a:xfrm>
            <a:off x="2382838" y="5848135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三轴剪切试验</a:t>
            </a:r>
            <a:endParaRPr lang="zh-CN" altLang="en-US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377875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26" name="Text Box 10"/>
          <p:cNvSpPr txBox="1">
            <a:spLocks noChangeArrowheads="1"/>
          </p:cNvSpPr>
          <p:nvPr/>
        </p:nvSpPr>
        <p:spPr bwMode="auto">
          <a:xfrm>
            <a:off x="3580160" y="1581211"/>
            <a:ext cx="235346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3152" tIns="36576" rIns="73152" bIns="36576">
            <a:spAutoFit/>
          </a:bodyPr>
          <a:lstStyle>
            <a:lvl1pPr defTabSz="731838" eaLnBrk="0" hangingPunct="0"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731838" eaLnBrk="0" hangingPunct="0"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731838" eaLnBrk="0" hangingPunct="0"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731838" eaLnBrk="0" hangingPunct="0"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731838" eaLnBrk="0" hangingPunct="0"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731838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731838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731838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731838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1</a:t>
            </a:r>
            <a:r>
              <a:rPr lang="zh-CN" altLang="en-US" sz="24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、施加</a:t>
            </a: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围压力 </a:t>
            </a:r>
            <a:endParaRPr lang="en-US" altLang="zh-CN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32242" y="2608835"/>
            <a:ext cx="1294211" cy="1846181"/>
            <a:chOff x="632242" y="2608835"/>
            <a:chExt cx="1294211" cy="1846181"/>
          </a:xfrm>
        </p:grpSpPr>
        <p:grpSp>
          <p:nvGrpSpPr>
            <p:cNvPr id="131" name="Group 35"/>
            <p:cNvGrpSpPr>
              <a:grpSpLocks/>
            </p:cNvGrpSpPr>
            <p:nvPr/>
          </p:nvGrpSpPr>
          <p:grpSpPr bwMode="auto">
            <a:xfrm>
              <a:off x="632242" y="2954730"/>
              <a:ext cx="216000" cy="1154112"/>
              <a:chOff x="3013" y="1831"/>
              <a:chExt cx="120" cy="728"/>
            </a:xfrm>
          </p:grpSpPr>
          <p:sp>
            <p:nvSpPr>
              <p:cNvPr id="132" name="Line 36"/>
              <p:cNvSpPr>
                <a:spLocks noChangeShapeType="1"/>
              </p:cNvSpPr>
              <p:nvPr/>
            </p:nvSpPr>
            <p:spPr bwMode="auto">
              <a:xfrm>
                <a:off x="3013" y="1831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33" name="Line 37"/>
              <p:cNvSpPr>
                <a:spLocks noChangeShapeType="1"/>
              </p:cNvSpPr>
              <p:nvPr/>
            </p:nvSpPr>
            <p:spPr bwMode="auto">
              <a:xfrm>
                <a:off x="3013" y="1935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34" name="Line 38"/>
              <p:cNvSpPr>
                <a:spLocks noChangeShapeType="1"/>
              </p:cNvSpPr>
              <p:nvPr/>
            </p:nvSpPr>
            <p:spPr bwMode="auto">
              <a:xfrm>
                <a:off x="3013" y="2039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35" name="Line 39"/>
              <p:cNvSpPr>
                <a:spLocks noChangeShapeType="1"/>
              </p:cNvSpPr>
              <p:nvPr/>
            </p:nvSpPr>
            <p:spPr bwMode="auto">
              <a:xfrm>
                <a:off x="3013" y="2143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36" name="Line 40"/>
              <p:cNvSpPr>
                <a:spLocks noChangeShapeType="1"/>
              </p:cNvSpPr>
              <p:nvPr/>
            </p:nvSpPr>
            <p:spPr bwMode="auto">
              <a:xfrm>
                <a:off x="3013" y="2247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37" name="Line 41"/>
              <p:cNvSpPr>
                <a:spLocks noChangeShapeType="1"/>
              </p:cNvSpPr>
              <p:nvPr/>
            </p:nvSpPr>
            <p:spPr bwMode="auto">
              <a:xfrm>
                <a:off x="3013" y="2351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38" name="Line 42"/>
              <p:cNvSpPr>
                <a:spLocks noChangeShapeType="1"/>
              </p:cNvSpPr>
              <p:nvPr/>
            </p:nvSpPr>
            <p:spPr bwMode="auto">
              <a:xfrm>
                <a:off x="3013" y="2455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39" name="Line 43"/>
              <p:cNvSpPr>
                <a:spLocks noChangeShapeType="1"/>
              </p:cNvSpPr>
              <p:nvPr/>
            </p:nvSpPr>
            <p:spPr bwMode="auto">
              <a:xfrm>
                <a:off x="3013" y="2559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</p:grpSp>
        <p:grpSp>
          <p:nvGrpSpPr>
            <p:cNvPr id="140" name="Group 35"/>
            <p:cNvGrpSpPr>
              <a:grpSpLocks/>
            </p:cNvGrpSpPr>
            <p:nvPr/>
          </p:nvGrpSpPr>
          <p:grpSpPr bwMode="auto">
            <a:xfrm flipH="1">
              <a:off x="1710453" y="2956797"/>
              <a:ext cx="216000" cy="1152525"/>
              <a:chOff x="3013" y="1831"/>
              <a:chExt cx="120" cy="728"/>
            </a:xfrm>
          </p:grpSpPr>
          <p:sp>
            <p:nvSpPr>
              <p:cNvPr id="141" name="Line 36"/>
              <p:cNvSpPr>
                <a:spLocks noChangeShapeType="1"/>
              </p:cNvSpPr>
              <p:nvPr/>
            </p:nvSpPr>
            <p:spPr bwMode="auto">
              <a:xfrm>
                <a:off x="3013" y="1831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42" name="Line 37"/>
              <p:cNvSpPr>
                <a:spLocks noChangeShapeType="1"/>
              </p:cNvSpPr>
              <p:nvPr/>
            </p:nvSpPr>
            <p:spPr bwMode="auto">
              <a:xfrm>
                <a:off x="3013" y="1935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43" name="Line 38"/>
              <p:cNvSpPr>
                <a:spLocks noChangeShapeType="1"/>
              </p:cNvSpPr>
              <p:nvPr/>
            </p:nvSpPr>
            <p:spPr bwMode="auto">
              <a:xfrm>
                <a:off x="3013" y="2039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44" name="Line 39"/>
              <p:cNvSpPr>
                <a:spLocks noChangeShapeType="1"/>
              </p:cNvSpPr>
              <p:nvPr/>
            </p:nvSpPr>
            <p:spPr bwMode="auto">
              <a:xfrm>
                <a:off x="3013" y="2143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45" name="Line 40"/>
              <p:cNvSpPr>
                <a:spLocks noChangeShapeType="1"/>
              </p:cNvSpPr>
              <p:nvPr/>
            </p:nvSpPr>
            <p:spPr bwMode="auto">
              <a:xfrm>
                <a:off x="3013" y="2247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46" name="Line 41"/>
              <p:cNvSpPr>
                <a:spLocks noChangeShapeType="1"/>
              </p:cNvSpPr>
              <p:nvPr/>
            </p:nvSpPr>
            <p:spPr bwMode="auto">
              <a:xfrm>
                <a:off x="3013" y="2351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47" name="Line 42"/>
              <p:cNvSpPr>
                <a:spLocks noChangeShapeType="1"/>
              </p:cNvSpPr>
              <p:nvPr/>
            </p:nvSpPr>
            <p:spPr bwMode="auto">
              <a:xfrm>
                <a:off x="3013" y="2455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48" name="Line 43"/>
              <p:cNvSpPr>
                <a:spLocks noChangeShapeType="1"/>
              </p:cNvSpPr>
              <p:nvPr/>
            </p:nvSpPr>
            <p:spPr bwMode="auto">
              <a:xfrm>
                <a:off x="3013" y="2559"/>
                <a:ext cx="120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</p:grpSp>
        <p:grpSp>
          <p:nvGrpSpPr>
            <p:cNvPr id="149" name="组合 191"/>
            <p:cNvGrpSpPr>
              <a:grpSpLocks/>
            </p:cNvGrpSpPr>
            <p:nvPr/>
          </p:nvGrpSpPr>
          <p:grpSpPr bwMode="auto">
            <a:xfrm>
              <a:off x="943691" y="2608835"/>
              <a:ext cx="658813" cy="216000"/>
              <a:chOff x="2499574" y="750765"/>
              <a:chExt cx="659033" cy="142898"/>
            </a:xfrm>
          </p:grpSpPr>
          <p:sp>
            <p:nvSpPr>
              <p:cNvPr id="150" name="Line 36"/>
              <p:cNvSpPr>
                <a:spLocks noChangeShapeType="1"/>
              </p:cNvSpPr>
              <p:nvPr/>
            </p:nvSpPr>
            <p:spPr bwMode="auto">
              <a:xfrm rot="16200000" flipH="1">
                <a:off x="2428125" y="822214"/>
                <a:ext cx="14289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51" name="Line 37"/>
              <p:cNvSpPr>
                <a:spLocks noChangeShapeType="1"/>
              </p:cNvSpPr>
              <p:nvPr/>
            </p:nvSpPr>
            <p:spPr bwMode="auto">
              <a:xfrm rot="16200000" flipH="1">
                <a:off x="2592883" y="822214"/>
                <a:ext cx="14289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52" name="Line 38"/>
              <p:cNvSpPr>
                <a:spLocks noChangeShapeType="1"/>
              </p:cNvSpPr>
              <p:nvPr/>
            </p:nvSpPr>
            <p:spPr bwMode="auto">
              <a:xfrm rot="16200000" flipH="1">
                <a:off x="2757641" y="822214"/>
                <a:ext cx="14289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53" name="Line 39"/>
              <p:cNvSpPr>
                <a:spLocks noChangeShapeType="1"/>
              </p:cNvSpPr>
              <p:nvPr/>
            </p:nvSpPr>
            <p:spPr bwMode="auto">
              <a:xfrm rot="16200000" flipH="1">
                <a:off x="2922400" y="822214"/>
                <a:ext cx="14289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54" name="Line 40"/>
              <p:cNvSpPr>
                <a:spLocks noChangeShapeType="1"/>
              </p:cNvSpPr>
              <p:nvPr/>
            </p:nvSpPr>
            <p:spPr bwMode="auto">
              <a:xfrm rot="16200000" flipH="1">
                <a:off x="3087158" y="822214"/>
                <a:ext cx="14289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</p:grpSp>
        <p:grpSp>
          <p:nvGrpSpPr>
            <p:cNvPr id="156" name="组合 198"/>
            <p:cNvGrpSpPr>
              <a:grpSpLocks/>
            </p:cNvGrpSpPr>
            <p:nvPr/>
          </p:nvGrpSpPr>
          <p:grpSpPr bwMode="auto">
            <a:xfrm flipH="1" flipV="1">
              <a:off x="948454" y="4239016"/>
              <a:ext cx="658812" cy="216000"/>
              <a:chOff x="2499574" y="750765"/>
              <a:chExt cx="659033" cy="142898"/>
            </a:xfrm>
          </p:grpSpPr>
          <p:sp>
            <p:nvSpPr>
              <p:cNvPr id="157" name="Line 36"/>
              <p:cNvSpPr>
                <a:spLocks noChangeShapeType="1"/>
              </p:cNvSpPr>
              <p:nvPr/>
            </p:nvSpPr>
            <p:spPr bwMode="auto">
              <a:xfrm rot="16200000" flipH="1">
                <a:off x="2428125" y="822214"/>
                <a:ext cx="14289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58" name="Line 37"/>
              <p:cNvSpPr>
                <a:spLocks noChangeShapeType="1"/>
              </p:cNvSpPr>
              <p:nvPr/>
            </p:nvSpPr>
            <p:spPr bwMode="auto">
              <a:xfrm rot="16200000" flipH="1">
                <a:off x="2592883" y="822214"/>
                <a:ext cx="14289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59" name="Line 38"/>
              <p:cNvSpPr>
                <a:spLocks noChangeShapeType="1"/>
              </p:cNvSpPr>
              <p:nvPr/>
            </p:nvSpPr>
            <p:spPr bwMode="auto">
              <a:xfrm rot="16200000" flipH="1">
                <a:off x="2757641" y="822214"/>
                <a:ext cx="14289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60" name="Line 39"/>
              <p:cNvSpPr>
                <a:spLocks noChangeShapeType="1"/>
              </p:cNvSpPr>
              <p:nvPr/>
            </p:nvSpPr>
            <p:spPr bwMode="auto">
              <a:xfrm rot="16200000" flipH="1">
                <a:off x="2922400" y="822214"/>
                <a:ext cx="14289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  <p:sp>
            <p:nvSpPr>
              <p:cNvPr id="161" name="Line 40"/>
              <p:cNvSpPr>
                <a:spLocks noChangeShapeType="1"/>
              </p:cNvSpPr>
              <p:nvPr/>
            </p:nvSpPr>
            <p:spPr bwMode="auto">
              <a:xfrm rot="16200000" flipH="1">
                <a:off x="3087158" y="822214"/>
                <a:ext cx="142898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 b="1">
                  <a:solidFill>
                    <a:srgbClr val="000066"/>
                  </a:solidFill>
                </a:endParaRPr>
              </a:p>
            </p:txBody>
          </p:sp>
        </p:grpSp>
      </p:grpSp>
      <p:sp>
        <p:nvSpPr>
          <p:cNvPr id="162" name="圆柱形 7"/>
          <p:cNvSpPr>
            <a:spLocks noChangeArrowheads="1"/>
          </p:cNvSpPr>
          <p:nvPr/>
        </p:nvSpPr>
        <p:spPr bwMode="auto">
          <a:xfrm>
            <a:off x="899241" y="2839322"/>
            <a:ext cx="746125" cy="1358900"/>
          </a:xfrm>
          <a:prstGeom prst="can">
            <a:avLst>
              <a:gd name="adj" fmla="val 23845"/>
            </a:avLst>
          </a:prstGeom>
          <a:pattFill prst="pct10">
            <a:fgClr>
              <a:schemeClr val="tx1"/>
            </a:fgClr>
            <a:bgClr>
              <a:schemeClr val="accent6">
                <a:lumMod val="75000"/>
              </a:schemeClr>
            </a:bgClr>
          </a:patt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1101725"/>
            <a:endParaRPr lang="zh-CN" altLang="en-US" sz="2400" b="1">
              <a:solidFill>
                <a:srgbClr val="000066"/>
              </a:solidFill>
            </a:endParaRPr>
          </a:p>
        </p:txBody>
      </p:sp>
      <p:sp>
        <p:nvSpPr>
          <p:cNvPr id="213" name="Text Box 38"/>
          <p:cNvSpPr txBox="1">
            <a:spLocks noChangeArrowheads="1"/>
          </p:cNvSpPr>
          <p:nvPr/>
        </p:nvSpPr>
        <p:spPr bwMode="auto">
          <a:xfrm>
            <a:off x="419100" y="724865"/>
            <a:ext cx="3455783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常规三轴试验过程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31394" y="1992454"/>
            <a:ext cx="2667417" cy="1741661"/>
            <a:chOff x="731394" y="1992454"/>
            <a:chExt cx="2667417" cy="1741661"/>
          </a:xfrm>
        </p:grpSpPr>
        <p:sp>
          <p:nvSpPr>
            <p:cNvPr id="155" name="Text Box 59"/>
            <p:cNvSpPr txBox="1">
              <a:spLocks noChangeArrowheads="1"/>
            </p:cNvSpPr>
            <p:nvPr/>
          </p:nvSpPr>
          <p:spPr bwMode="auto">
            <a:xfrm>
              <a:off x="731394" y="1992454"/>
              <a:ext cx="1026616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2400" b="1" i="1" dirty="0" smtClean="0">
                  <a:solidFill>
                    <a:srgbClr val="000066"/>
                  </a:solidFill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2400" b="1" dirty="0" smtClean="0">
                  <a:solidFill>
                    <a:srgbClr val="000066"/>
                  </a:solidFill>
                  <a:cs typeface="Times New Roman" pitchFamily="18" charset="0"/>
                  <a:sym typeface="Symbol" pitchFamily="18" charset="2"/>
                </a:rPr>
                <a:t>=</a:t>
              </a:r>
              <a:r>
                <a:rPr lang="zh-CN" altLang="en-US" sz="2400" b="1" i="1" dirty="0" smtClean="0">
                  <a:solidFill>
                    <a:srgbClr val="000066"/>
                  </a:solidFill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cs typeface="Times New Roman" pitchFamily="18" charset="0"/>
                  <a:sym typeface="Symbol" pitchFamily="18" charset="2"/>
                </a:rPr>
                <a:t>c</a:t>
              </a:r>
              <a:endParaRPr lang="zh-CN" altLang="zh-CN" sz="2400" b="1" dirty="0">
                <a:solidFill>
                  <a:srgbClr val="000066"/>
                </a:solidFill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214" name="Text Box 59"/>
            <p:cNvSpPr txBox="1">
              <a:spLocks noChangeArrowheads="1"/>
            </p:cNvSpPr>
            <p:nvPr/>
          </p:nvSpPr>
          <p:spPr bwMode="auto">
            <a:xfrm>
              <a:off x="1748314" y="3217050"/>
              <a:ext cx="1650497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2400" b="1" i="1" dirty="0" smtClean="0">
                  <a:solidFill>
                    <a:srgbClr val="000066"/>
                  </a:solidFill>
                  <a:ea typeface="+mn-ea"/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ea typeface="+mn-ea"/>
                  <a:cs typeface="Times New Roman" pitchFamily="18" charset="0"/>
                  <a:sym typeface="Symbol" pitchFamily="18" charset="2"/>
                </a:rPr>
                <a:t>2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+mn-ea"/>
                  <a:cs typeface="Times New Roman" pitchFamily="18" charset="0"/>
                  <a:sym typeface="Symbol" pitchFamily="18" charset="2"/>
                </a:rPr>
                <a:t>=</a:t>
              </a:r>
              <a:r>
                <a:rPr lang="zh-CN" altLang="en-US" sz="2400" b="1" i="1" dirty="0" smtClean="0">
                  <a:solidFill>
                    <a:srgbClr val="000066"/>
                  </a:solidFill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cs typeface="Times New Roman" pitchFamily="18" charset="0"/>
                  <a:sym typeface="Symbol" pitchFamily="18" charset="2"/>
                </a:rPr>
                <a:t>3</a:t>
              </a:r>
              <a:r>
                <a:rPr lang="en-US" altLang="zh-CN" sz="2400" b="1" dirty="0" smtClean="0">
                  <a:solidFill>
                    <a:srgbClr val="000066"/>
                  </a:solidFill>
                  <a:cs typeface="Times New Roman" pitchFamily="18" charset="0"/>
                  <a:sym typeface="Symbol" pitchFamily="18" charset="2"/>
                </a:rPr>
                <a:t>=</a:t>
              </a:r>
              <a:r>
                <a:rPr lang="zh-CN" altLang="en-US" sz="2400" b="1" i="1" dirty="0" smtClean="0">
                  <a:solidFill>
                    <a:srgbClr val="000066"/>
                  </a:solidFill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cs typeface="Times New Roman" pitchFamily="18" charset="0"/>
                  <a:sym typeface="Symbol" pitchFamily="18" charset="2"/>
                </a:rPr>
                <a:t>c</a:t>
              </a:r>
              <a:endParaRPr lang="zh-CN" altLang="zh-CN" sz="2400" b="1" dirty="0">
                <a:solidFill>
                  <a:srgbClr val="000066"/>
                </a:solidFill>
                <a:cs typeface="Times New Roman" pitchFamily="18" charset="0"/>
                <a:sym typeface="Symbol" pitchFamily="18" charset="2"/>
              </a:endParaRPr>
            </a:p>
          </p:txBody>
        </p:sp>
      </p:grpSp>
      <p:sp>
        <p:nvSpPr>
          <p:cNvPr id="89" name="Text Box 5"/>
          <p:cNvSpPr txBox="1">
            <a:spLocks noChangeArrowheads="1"/>
          </p:cNvSpPr>
          <p:nvPr/>
        </p:nvSpPr>
        <p:spPr bwMode="auto">
          <a:xfrm>
            <a:off x="3822358" y="2284115"/>
            <a:ext cx="4415868" cy="248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8038" indent="-3508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lvl="1" indent="-342900" eaLnBrk="1" hangingPunct="1"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试样施加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一个各向相等的围压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力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</a:p>
          <a:p>
            <a:pPr marL="342900" lvl="1" indent="-342900" eaLnBrk="1" hangingPunct="1"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在这个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阶段，如果打开排水阀门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，让试样排水，称为</a:t>
            </a:r>
            <a:r>
              <a:rPr lang="zh-CN" altLang="en-US" sz="22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固结</a:t>
            </a:r>
            <a:endParaRPr lang="en-US" altLang="zh-CN" sz="2200" b="1" dirty="0" smtClean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lvl="1" indent="-342900" eaLnBrk="1" hangingPunct="1"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如果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关闭排水阀门，不允许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试样排水，称为</a:t>
            </a:r>
            <a:r>
              <a:rPr lang="zh-CN" altLang="en-US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不固结</a:t>
            </a:r>
            <a:endParaRPr lang="en-US" altLang="zh-CN" sz="2200" b="1" baseline="-25000" dirty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2" name="Rectangle 2"/>
          <p:cNvSpPr>
            <a:spLocks noRot="1" noChangeArrowheads="1"/>
          </p:cNvSpPr>
          <p:nvPr/>
        </p:nvSpPr>
        <p:spPr bwMode="auto">
          <a:xfrm>
            <a:off x="2382838" y="5848135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三轴剪切试验</a:t>
            </a:r>
            <a:endParaRPr lang="zh-CN" altLang="en-US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577098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/>
      <p:bldP spid="89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164" name="Group 35"/>
          <p:cNvGrpSpPr>
            <a:grpSpLocks/>
          </p:cNvGrpSpPr>
          <p:nvPr/>
        </p:nvGrpSpPr>
        <p:grpSpPr bwMode="auto">
          <a:xfrm>
            <a:off x="634258" y="2953556"/>
            <a:ext cx="216000" cy="1154112"/>
            <a:chOff x="3013" y="1831"/>
            <a:chExt cx="120" cy="728"/>
          </a:xfrm>
        </p:grpSpPr>
        <p:sp>
          <p:nvSpPr>
            <p:cNvPr id="165" name="Line 36"/>
            <p:cNvSpPr>
              <a:spLocks noChangeShapeType="1"/>
            </p:cNvSpPr>
            <p:nvPr/>
          </p:nvSpPr>
          <p:spPr bwMode="auto">
            <a:xfrm>
              <a:off x="3013" y="1831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66" name="Line 37"/>
            <p:cNvSpPr>
              <a:spLocks noChangeShapeType="1"/>
            </p:cNvSpPr>
            <p:nvPr/>
          </p:nvSpPr>
          <p:spPr bwMode="auto">
            <a:xfrm>
              <a:off x="3013" y="1935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67" name="Line 38"/>
            <p:cNvSpPr>
              <a:spLocks noChangeShapeType="1"/>
            </p:cNvSpPr>
            <p:nvPr/>
          </p:nvSpPr>
          <p:spPr bwMode="auto">
            <a:xfrm>
              <a:off x="3013" y="2039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68" name="Line 39"/>
            <p:cNvSpPr>
              <a:spLocks noChangeShapeType="1"/>
            </p:cNvSpPr>
            <p:nvPr/>
          </p:nvSpPr>
          <p:spPr bwMode="auto">
            <a:xfrm>
              <a:off x="3013" y="2143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69" name="Line 40"/>
            <p:cNvSpPr>
              <a:spLocks noChangeShapeType="1"/>
            </p:cNvSpPr>
            <p:nvPr/>
          </p:nvSpPr>
          <p:spPr bwMode="auto">
            <a:xfrm>
              <a:off x="3013" y="2247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70" name="Line 41"/>
            <p:cNvSpPr>
              <a:spLocks noChangeShapeType="1"/>
            </p:cNvSpPr>
            <p:nvPr/>
          </p:nvSpPr>
          <p:spPr bwMode="auto">
            <a:xfrm>
              <a:off x="3013" y="2351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71" name="Line 42"/>
            <p:cNvSpPr>
              <a:spLocks noChangeShapeType="1"/>
            </p:cNvSpPr>
            <p:nvPr/>
          </p:nvSpPr>
          <p:spPr bwMode="auto">
            <a:xfrm>
              <a:off x="3013" y="2455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72" name="Line 43"/>
            <p:cNvSpPr>
              <a:spLocks noChangeShapeType="1"/>
            </p:cNvSpPr>
            <p:nvPr/>
          </p:nvSpPr>
          <p:spPr bwMode="auto">
            <a:xfrm>
              <a:off x="3013" y="2559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</p:grpSp>
      <p:grpSp>
        <p:nvGrpSpPr>
          <p:cNvPr id="173" name="Group 35"/>
          <p:cNvGrpSpPr>
            <a:grpSpLocks/>
          </p:cNvGrpSpPr>
          <p:nvPr/>
        </p:nvGrpSpPr>
        <p:grpSpPr bwMode="auto">
          <a:xfrm flipH="1">
            <a:off x="1724689" y="2966256"/>
            <a:ext cx="216000" cy="1152525"/>
            <a:chOff x="3013" y="1831"/>
            <a:chExt cx="120" cy="728"/>
          </a:xfrm>
        </p:grpSpPr>
        <p:sp>
          <p:nvSpPr>
            <p:cNvPr id="174" name="Line 36"/>
            <p:cNvSpPr>
              <a:spLocks noChangeShapeType="1"/>
            </p:cNvSpPr>
            <p:nvPr/>
          </p:nvSpPr>
          <p:spPr bwMode="auto">
            <a:xfrm>
              <a:off x="3013" y="1831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75" name="Line 37"/>
            <p:cNvSpPr>
              <a:spLocks noChangeShapeType="1"/>
            </p:cNvSpPr>
            <p:nvPr/>
          </p:nvSpPr>
          <p:spPr bwMode="auto">
            <a:xfrm>
              <a:off x="3013" y="1935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76" name="Line 38"/>
            <p:cNvSpPr>
              <a:spLocks noChangeShapeType="1"/>
            </p:cNvSpPr>
            <p:nvPr/>
          </p:nvSpPr>
          <p:spPr bwMode="auto">
            <a:xfrm>
              <a:off x="3013" y="2039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77" name="Line 39"/>
            <p:cNvSpPr>
              <a:spLocks noChangeShapeType="1"/>
            </p:cNvSpPr>
            <p:nvPr/>
          </p:nvSpPr>
          <p:spPr bwMode="auto">
            <a:xfrm>
              <a:off x="3013" y="2143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78" name="Line 40"/>
            <p:cNvSpPr>
              <a:spLocks noChangeShapeType="1"/>
            </p:cNvSpPr>
            <p:nvPr/>
          </p:nvSpPr>
          <p:spPr bwMode="auto">
            <a:xfrm>
              <a:off x="3013" y="2247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79" name="Line 41"/>
            <p:cNvSpPr>
              <a:spLocks noChangeShapeType="1"/>
            </p:cNvSpPr>
            <p:nvPr/>
          </p:nvSpPr>
          <p:spPr bwMode="auto">
            <a:xfrm>
              <a:off x="3013" y="2351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80" name="Line 42"/>
            <p:cNvSpPr>
              <a:spLocks noChangeShapeType="1"/>
            </p:cNvSpPr>
            <p:nvPr/>
          </p:nvSpPr>
          <p:spPr bwMode="auto">
            <a:xfrm>
              <a:off x="3013" y="2455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81" name="Line 43"/>
            <p:cNvSpPr>
              <a:spLocks noChangeShapeType="1"/>
            </p:cNvSpPr>
            <p:nvPr/>
          </p:nvSpPr>
          <p:spPr bwMode="auto">
            <a:xfrm>
              <a:off x="3013" y="2559"/>
              <a:ext cx="120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</p:grpSp>
      <p:grpSp>
        <p:nvGrpSpPr>
          <p:cNvPr id="182" name="组合 191"/>
          <p:cNvGrpSpPr>
            <a:grpSpLocks/>
          </p:cNvGrpSpPr>
          <p:nvPr/>
        </p:nvGrpSpPr>
        <p:grpSpPr bwMode="auto">
          <a:xfrm>
            <a:off x="951578" y="2584808"/>
            <a:ext cx="658812" cy="216000"/>
            <a:chOff x="2499574" y="750765"/>
            <a:chExt cx="659033" cy="142898"/>
          </a:xfrm>
        </p:grpSpPr>
        <p:sp>
          <p:nvSpPr>
            <p:cNvPr id="183" name="Line 36"/>
            <p:cNvSpPr>
              <a:spLocks noChangeShapeType="1"/>
            </p:cNvSpPr>
            <p:nvPr/>
          </p:nvSpPr>
          <p:spPr bwMode="auto">
            <a:xfrm rot="16200000" flipH="1">
              <a:off x="2428125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84" name="Line 37"/>
            <p:cNvSpPr>
              <a:spLocks noChangeShapeType="1"/>
            </p:cNvSpPr>
            <p:nvPr/>
          </p:nvSpPr>
          <p:spPr bwMode="auto">
            <a:xfrm rot="16200000" flipH="1">
              <a:off x="2592883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85" name="Line 38"/>
            <p:cNvSpPr>
              <a:spLocks noChangeShapeType="1"/>
            </p:cNvSpPr>
            <p:nvPr/>
          </p:nvSpPr>
          <p:spPr bwMode="auto">
            <a:xfrm rot="16200000" flipH="1">
              <a:off x="2757641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86" name="Line 39"/>
            <p:cNvSpPr>
              <a:spLocks noChangeShapeType="1"/>
            </p:cNvSpPr>
            <p:nvPr/>
          </p:nvSpPr>
          <p:spPr bwMode="auto">
            <a:xfrm rot="16200000" flipH="1">
              <a:off x="2922400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87" name="Line 40"/>
            <p:cNvSpPr>
              <a:spLocks noChangeShapeType="1"/>
            </p:cNvSpPr>
            <p:nvPr/>
          </p:nvSpPr>
          <p:spPr bwMode="auto">
            <a:xfrm rot="16200000" flipH="1">
              <a:off x="3087158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</p:grpSp>
      <p:sp>
        <p:nvSpPr>
          <p:cNvPr id="188" name="Text Box 59"/>
          <p:cNvSpPr txBox="1">
            <a:spLocks noChangeArrowheads="1"/>
          </p:cNvSpPr>
          <p:nvPr/>
        </p:nvSpPr>
        <p:spPr bwMode="auto">
          <a:xfrm>
            <a:off x="1913091" y="3277918"/>
            <a:ext cx="1103754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b="1" i="1" dirty="0" smtClean="0">
                <a:solidFill>
                  <a:srgbClr val="000066"/>
                </a:solidFill>
                <a:ea typeface="+mn-ea"/>
                <a:cs typeface="Times New Roman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400" b="1" dirty="0" smtClean="0">
                <a:solidFill>
                  <a:srgbClr val="000066"/>
                </a:solidFill>
                <a:ea typeface="+mn-ea"/>
                <a:cs typeface="Times New Roman" pitchFamily="18" charset="0"/>
                <a:sym typeface="Symbol" pitchFamily="18" charset="2"/>
              </a:rPr>
              <a:t>=</a:t>
            </a:r>
            <a:r>
              <a:rPr lang="zh-CN" altLang="en-US" sz="2400" b="1" i="1" dirty="0" smtClean="0">
                <a:solidFill>
                  <a:srgbClr val="000066"/>
                </a:solidFill>
                <a:cs typeface="Times New Roman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cs typeface="Times New Roman" pitchFamily="18" charset="0"/>
                <a:sym typeface="Symbol" pitchFamily="18" charset="2"/>
              </a:rPr>
              <a:t>c</a:t>
            </a:r>
          </a:p>
        </p:txBody>
      </p:sp>
      <p:grpSp>
        <p:nvGrpSpPr>
          <p:cNvPr id="189" name="组合 198"/>
          <p:cNvGrpSpPr>
            <a:grpSpLocks/>
          </p:cNvGrpSpPr>
          <p:nvPr/>
        </p:nvGrpSpPr>
        <p:grpSpPr bwMode="auto">
          <a:xfrm flipH="1" flipV="1">
            <a:off x="961103" y="4246888"/>
            <a:ext cx="658812" cy="216000"/>
            <a:chOff x="2499574" y="750765"/>
            <a:chExt cx="659033" cy="142898"/>
          </a:xfrm>
        </p:grpSpPr>
        <p:sp>
          <p:nvSpPr>
            <p:cNvPr id="190" name="Line 36"/>
            <p:cNvSpPr>
              <a:spLocks noChangeShapeType="1"/>
            </p:cNvSpPr>
            <p:nvPr/>
          </p:nvSpPr>
          <p:spPr bwMode="auto">
            <a:xfrm rot="16200000" flipH="1">
              <a:off x="2428125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91" name="Line 37"/>
            <p:cNvSpPr>
              <a:spLocks noChangeShapeType="1"/>
            </p:cNvSpPr>
            <p:nvPr/>
          </p:nvSpPr>
          <p:spPr bwMode="auto">
            <a:xfrm rot="16200000" flipH="1">
              <a:off x="2592883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92" name="Line 38"/>
            <p:cNvSpPr>
              <a:spLocks noChangeShapeType="1"/>
            </p:cNvSpPr>
            <p:nvPr/>
          </p:nvSpPr>
          <p:spPr bwMode="auto">
            <a:xfrm rot="16200000" flipH="1">
              <a:off x="2757641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93" name="Line 39"/>
            <p:cNvSpPr>
              <a:spLocks noChangeShapeType="1"/>
            </p:cNvSpPr>
            <p:nvPr/>
          </p:nvSpPr>
          <p:spPr bwMode="auto">
            <a:xfrm rot="16200000" flipH="1">
              <a:off x="2922400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94" name="Line 40"/>
            <p:cNvSpPr>
              <a:spLocks noChangeShapeType="1"/>
            </p:cNvSpPr>
            <p:nvPr/>
          </p:nvSpPr>
          <p:spPr bwMode="auto">
            <a:xfrm rot="16200000" flipH="1">
              <a:off x="3087158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</p:grpSp>
      <p:sp>
        <p:nvSpPr>
          <p:cNvPr id="195" name="圆柱形 146"/>
          <p:cNvSpPr>
            <a:spLocks noChangeArrowheads="1"/>
          </p:cNvSpPr>
          <p:nvPr/>
        </p:nvSpPr>
        <p:spPr bwMode="auto">
          <a:xfrm>
            <a:off x="911890" y="2847193"/>
            <a:ext cx="746125" cy="1358900"/>
          </a:xfrm>
          <a:prstGeom prst="can">
            <a:avLst>
              <a:gd name="adj" fmla="val 23845"/>
            </a:avLst>
          </a:prstGeom>
          <a:pattFill prst="pct10">
            <a:fgClr>
              <a:schemeClr val="tx1"/>
            </a:fgClr>
            <a:bgClr>
              <a:schemeClr val="accent6">
                <a:lumMod val="75000"/>
              </a:schemeClr>
            </a:bgClr>
          </a:patt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1101725"/>
            <a:endParaRPr lang="zh-CN" altLang="en-US" sz="2400" b="1">
              <a:solidFill>
                <a:srgbClr val="000066"/>
              </a:solidFill>
            </a:endParaRPr>
          </a:p>
        </p:txBody>
      </p:sp>
      <p:grpSp>
        <p:nvGrpSpPr>
          <p:cNvPr id="197" name="组合 191"/>
          <p:cNvGrpSpPr>
            <a:grpSpLocks/>
          </p:cNvGrpSpPr>
          <p:nvPr/>
        </p:nvGrpSpPr>
        <p:grpSpPr bwMode="auto">
          <a:xfrm>
            <a:off x="948403" y="2180476"/>
            <a:ext cx="658812" cy="309562"/>
            <a:chOff x="2499574" y="750765"/>
            <a:chExt cx="659033" cy="142898"/>
          </a:xfrm>
        </p:grpSpPr>
        <p:sp>
          <p:nvSpPr>
            <p:cNvPr id="198" name="Line 36"/>
            <p:cNvSpPr>
              <a:spLocks noChangeShapeType="1"/>
            </p:cNvSpPr>
            <p:nvPr/>
          </p:nvSpPr>
          <p:spPr bwMode="auto">
            <a:xfrm rot="16200000" flipH="1">
              <a:off x="2428125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199" name="Line 37"/>
            <p:cNvSpPr>
              <a:spLocks noChangeShapeType="1"/>
            </p:cNvSpPr>
            <p:nvPr/>
          </p:nvSpPr>
          <p:spPr bwMode="auto">
            <a:xfrm rot="16200000" flipH="1">
              <a:off x="2592883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200" name="Line 38"/>
            <p:cNvSpPr>
              <a:spLocks noChangeShapeType="1"/>
            </p:cNvSpPr>
            <p:nvPr/>
          </p:nvSpPr>
          <p:spPr bwMode="auto">
            <a:xfrm rot="16200000" flipH="1">
              <a:off x="2757641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201" name="Line 39"/>
            <p:cNvSpPr>
              <a:spLocks noChangeShapeType="1"/>
            </p:cNvSpPr>
            <p:nvPr/>
          </p:nvSpPr>
          <p:spPr bwMode="auto">
            <a:xfrm rot="16200000" flipH="1">
              <a:off x="2922400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202" name="Line 40"/>
            <p:cNvSpPr>
              <a:spLocks noChangeShapeType="1"/>
            </p:cNvSpPr>
            <p:nvPr/>
          </p:nvSpPr>
          <p:spPr bwMode="auto">
            <a:xfrm rot="16200000" flipH="1">
              <a:off x="3087158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</p:grpSp>
      <p:grpSp>
        <p:nvGrpSpPr>
          <p:cNvPr id="203" name="组合 191"/>
          <p:cNvGrpSpPr>
            <a:grpSpLocks/>
          </p:cNvGrpSpPr>
          <p:nvPr/>
        </p:nvGrpSpPr>
        <p:grpSpPr bwMode="auto">
          <a:xfrm flipV="1">
            <a:off x="970628" y="4553723"/>
            <a:ext cx="658812" cy="309563"/>
            <a:chOff x="2499574" y="750765"/>
            <a:chExt cx="659033" cy="142898"/>
          </a:xfrm>
        </p:grpSpPr>
        <p:sp>
          <p:nvSpPr>
            <p:cNvPr id="204" name="Line 36"/>
            <p:cNvSpPr>
              <a:spLocks noChangeShapeType="1"/>
            </p:cNvSpPr>
            <p:nvPr/>
          </p:nvSpPr>
          <p:spPr bwMode="auto">
            <a:xfrm rot="16200000" flipH="1">
              <a:off x="2428125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205" name="Line 37"/>
            <p:cNvSpPr>
              <a:spLocks noChangeShapeType="1"/>
            </p:cNvSpPr>
            <p:nvPr/>
          </p:nvSpPr>
          <p:spPr bwMode="auto">
            <a:xfrm rot="16200000" flipH="1">
              <a:off x="2592883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206" name="Line 38"/>
            <p:cNvSpPr>
              <a:spLocks noChangeShapeType="1"/>
            </p:cNvSpPr>
            <p:nvPr/>
          </p:nvSpPr>
          <p:spPr bwMode="auto">
            <a:xfrm rot="16200000" flipH="1">
              <a:off x="2757641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207" name="Line 39"/>
            <p:cNvSpPr>
              <a:spLocks noChangeShapeType="1"/>
            </p:cNvSpPr>
            <p:nvPr/>
          </p:nvSpPr>
          <p:spPr bwMode="auto">
            <a:xfrm rot="16200000" flipH="1">
              <a:off x="2922400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  <p:sp>
          <p:nvSpPr>
            <p:cNvPr id="208" name="Line 40"/>
            <p:cNvSpPr>
              <a:spLocks noChangeShapeType="1"/>
            </p:cNvSpPr>
            <p:nvPr/>
          </p:nvSpPr>
          <p:spPr bwMode="auto">
            <a:xfrm rot="16200000" flipH="1">
              <a:off x="3087158" y="822214"/>
              <a:ext cx="142898" cy="0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solidFill>
                  <a:srgbClr val="000066"/>
                </a:solidFill>
              </a:endParaRPr>
            </a:p>
          </p:txBody>
        </p:sp>
      </p:grpSp>
      <p:sp>
        <p:nvSpPr>
          <p:cNvPr id="210" name="Text Box 59"/>
          <p:cNvSpPr txBox="1">
            <a:spLocks noChangeArrowheads="1"/>
          </p:cNvSpPr>
          <p:nvPr/>
        </p:nvSpPr>
        <p:spPr bwMode="auto">
          <a:xfrm>
            <a:off x="1695006" y="2044463"/>
            <a:ext cx="1779033" cy="48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b="1" dirty="0" smtClean="0">
                <a:solidFill>
                  <a:srgbClr val="993300"/>
                </a:solidFill>
                <a:ea typeface="+mn-ea"/>
                <a:cs typeface="Times New Roman" pitchFamily="18" charset="0"/>
                <a:sym typeface="Symbol"/>
              </a:rPr>
              <a:t></a:t>
            </a:r>
            <a:r>
              <a:rPr lang="zh-CN" altLang="en-US" sz="2400" b="1" i="1" dirty="0" smtClean="0">
                <a:solidFill>
                  <a:srgbClr val="993300"/>
                </a:solidFill>
                <a:ea typeface="+mn-ea"/>
                <a:cs typeface="Times New Roman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993300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400" b="1" dirty="0" smtClean="0">
                <a:solidFill>
                  <a:srgbClr val="993300"/>
                </a:solidFill>
                <a:ea typeface="+mn-ea"/>
                <a:cs typeface="Times New Roman" pitchFamily="18" charset="0"/>
                <a:sym typeface="Symbol" pitchFamily="18" charset="2"/>
              </a:rPr>
              <a:t>=</a:t>
            </a:r>
            <a:r>
              <a:rPr lang="zh-CN" altLang="en-US" sz="2400" b="1" i="1" dirty="0">
                <a:solidFill>
                  <a:srgbClr val="993300"/>
                </a:solidFill>
                <a:cs typeface="Times New Roman" pitchFamily="18" charset="0"/>
                <a:sym typeface="Symbol"/>
              </a:rPr>
              <a:t> </a:t>
            </a:r>
            <a:r>
              <a:rPr lang="en-US" altLang="zh-CN" sz="2400" b="1" dirty="0" smtClean="0">
                <a:solidFill>
                  <a:srgbClr val="993300"/>
                </a:solidFill>
                <a:cs typeface="Times New Roman" pitchFamily="18" charset="0"/>
                <a:sym typeface="Symbol"/>
              </a:rPr>
              <a:t>(</a:t>
            </a:r>
            <a:r>
              <a:rPr lang="zh-CN" altLang="en-US" sz="2400" b="1" i="1" dirty="0" smtClean="0">
                <a:solidFill>
                  <a:srgbClr val="993300"/>
                </a:solidFill>
                <a:cs typeface="Times New Roman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993300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400" b="1" dirty="0" smtClean="0">
                <a:solidFill>
                  <a:srgbClr val="993300"/>
                </a:solidFill>
                <a:cs typeface="Times New Roman" pitchFamily="18" charset="0"/>
                <a:sym typeface="Symbol" pitchFamily="18" charset="2"/>
              </a:rPr>
              <a:t>-</a:t>
            </a:r>
            <a:r>
              <a:rPr lang="zh-CN" altLang="en-US" sz="2400" b="1" i="1" dirty="0" smtClean="0">
                <a:solidFill>
                  <a:srgbClr val="993300"/>
                </a:solidFill>
                <a:cs typeface="Times New Roman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993300"/>
                </a:solidFill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400" b="1" dirty="0" smtClean="0">
                <a:solidFill>
                  <a:srgbClr val="993300"/>
                </a:solidFill>
                <a:cs typeface="Times New Roman" pitchFamily="18" charset="0"/>
                <a:sym typeface="Symbol"/>
              </a:rPr>
              <a:t>)</a:t>
            </a:r>
            <a:endParaRPr lang="en-US" altLang="zh-CN" sz="2400" b="1" dirty="0" smtClean="0">
              <a:solidFill>
                <a:srgbClr val="993300"/>
              </a:solidFill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13" name="Text Box 38"/>
          <p:cNvSpPr txBox="1">
            <a:spLocks noChangeArrowheads="1"/>
          </p:cNvSpPr>
          <p:nvPr/>
        </p:nvSpPr>
        <p:spPr bwMode="auto">
          <a:xfrm>
            <a:off x="419100" y="724865"/>
            <a:ext cx="3455783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常规三轴试验过程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9" name="Text Box 10"/>
          <p:cNvSpPr txBox="1">
            <a:spLocks noChangeArrowheads="1"/>
          </p:cNvSpPr>
          <p:nvPr/>
        </p:nvSpPr>
        <p:spPr bwMode="auto">
          <a:xfrm>
            <a:off x="3623295" y="1581209"/>
            <a:ext cx="3967950" cy="444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3152" tIns="36576" rIns="73152" bIns="36576">
            <a:spAutoFit/>
          </a:bodyPr>
          <a:lstStyle>
            <a:lvl1pPr defTabSz="731838" eaLnBrk="0" hangingPunct="0"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731838" eaLnBrk="0" hangingPunct="0"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731838" eaLnBrk="0" hangingPunct="0"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731838" eaLnBrk="0" hangingPunct="0"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731838" eaLnBrk="0" hangingPunct="0"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731838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731838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731838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731838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2</a:t>
            </a:r>
            <a:r>
              <a:rPr lang="zh-CN" altLang="en-US" sz="24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、</a:t>
            </a:r>
            <a:r>
              <a:rPr lang="zh-CN" altLang="en-US" sz="24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施加偏差应力进行</a:t>
            </a:r>
            <a:r>
              <a:rPr lang="zh-CN" altLang="en-US" sz="24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剪切</a:t>
            </a:r>
            <a:endParaRPr lang="zh-CN" altLang="en-US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90" name="Text Box 5"/>
          <p:cNvSpPr txBox="1">
            <a:spLocks noChangeArrowheads="1"/>
          </p:cNvSpPr>
          <p:nvPr/>
        </p:nvSpPr>
        <p:spPr bwMode="auto">
          <a:xfrm>
            <a:off x="3865494" y="2284113"/>
            <a:ext cx="4562514" cy="248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8038" indent="-3508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lvl="1" indent="-342900" eaLnBrk="1" hangingPunct="1"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保持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不变，对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试样施加轴向偏差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=(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el-GR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进行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剪切</a:t>
            </a:r>
            <a:endParaRPr lang="en-US" altLang="zh-CN" sz="2200" b="1" baseline="-25000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lvl="1" indent="-342900" eaLnBrk="1" hangingPunct="1"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剪切过程中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，如果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打开排水阀门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，让试样排水，称为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排水</a:t>
            </a:r>
            <a:endParaRPr lang="en-US" altLang="zh-CN" sz="2200" b="1" dirty="0" smtClean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lvl="1" indent="-342900" eaLnBrk="1" hangingPunct="1"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剪切过程中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，如果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关闭排水阀门，不允许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试样排水，称为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不排水</a:t>
            </a:r>
            <a:endParaRPr lang="en-US" altLang="zh-CN" sz="22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52" name="Rectangle 2"/>
          <p:cNvSpPr>
            <a:spLocks noRot="1" noChangeArrowheads="1"/>
          </p:cNvSpPr>
          <p:nvPr/>
        </p:nvSpPr>
        <p:spPr bwMode="auto">
          <a:xfrm>
            <a:off x="2382838" y="5848135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三轴剪切试验</a:t>
            </a:r>
            <a:endParaRPr lang="zh-CN" altLang="en-US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716214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/>
      <p:bldP spid="89" grpId="0"/>
      <p:bldP spid="9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4" name="Rectangle 2"/>
          <p:cNvSpPr>
            <a:spLocks noChangeArrowheads="1"/>
          </p:cNvSpPr>
          <p:nvPr/>
        </p:nvSpPr>
        <p:spPr bwMode="auto">
          <a:xfrm>
            <a:off x="942372" y="1305569"/>
            <a:ext cx="4412220" cy="51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61950" indent="-36195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  <a:tabLst>
                <a:tab pos="361950" algn="l"/>
              </a:tabLst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固结排水试验（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CD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试验</a:t>
            </a: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Rectangle 4"/>
          <p:cNvSpPr>
            <a:spLocks noChangeArrowheads="1"/>
          </p:cNvSpPr>
          <p:nvPr/>
        </p:nvSpPr>
        <p:spPr bwMode="auto">
          <a:xfrm>
            <a:off x="942370" y="2709161"/>
            <a:ext cx="4519312" cy="537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61950" indent="-36195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 startAt="2"/>
              <a:tabLst>
                <a:tab pos="271463" algn="l"/>
              </a:tabLst>
            </a:pP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固结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不排水试验（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CU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试验</a:t>
            </a: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" name="Rectangle 5"/>
          <p:cNvSpPr>
            <a:spLocks noChangeArrowheads="1"/>
          </p:cNvSpPr>
          <p:nvPr/>
        </p:nvSpPr>
        <p:spPr bwMode="auto">
          <a:xfrm>
            <a:off x="953788" y="4112348"/>
            <a:ext cx="7618413" cy="434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61950" indent="-36195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 startAt="3"/>
              <a:tabLst>
                <a:tab pos="271463" algn="l"/>
              </a:tabLst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不固结不排水试验（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UU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试验</a:t>
            </a: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7" name="Text Box 38"/>
          <p:cNvSpPr txBox="1">
            <a:spLocks noChangeArrowheads="1"/>
          </p:cNvSpPr>
          <p:nvPr/>
        </p:nvSpPr>
        <p:spPr bwMode="auto">
          <a:xfrm>
            <a:off x="419100" y="675437"/>
            <a:ext cx="454831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常规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三轴试验常用类型</a:t>
            </a:r>
          </a:p>
        </p:txBody>
      </p:sp>
      <p:sp>
        <p:nvSpPr>
          <p:cNvPr id="78" name="Rectangle 2"/>
          <p:cNvSpPr>
            <a:spLocks noChangeArrowheads="1"/>
          </p:cNvSpPr>
          <p:nvPr/>
        </p:nvSpPr>
        <p:spPr bwMode="auto">
          <a:xfrm>
            <a:off x="1312732" y="1721580"/>
            <a:ext cx="7200900" cy="807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None/>
              <a:tabLst>
                <a:tab pos="0" algn="l"/>
              </a:tabLst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施加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固结，剪切过程排水。测定轴向力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、轴向变形和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排水量。计算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得到偏差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el-GR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、轴向应变</a:t>
            </a:r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、体应变</a:t>
            </a:r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9" name="Rectangle 2"/>
          <p:cNvSpPr>
            <a:spLocks noChangeArrowheads="1"/>
          </p:cNvSpPr>
          <p:nvPr/>
        </p:nvSpPr>
        <p:spPr bwMode="auto">
          <a:xfrm>
            <a:off x="1279780" y="3102003"/>
            <a:ext cx="7200900" cy="795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None/>
              <a:tabLst>
                <a:tab pos="0" algn="l"/>
              </a:tabLst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施加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固结，剪切过程不排水。测定轴向力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、轴向变形和孔隙水压力。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计算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得到偏差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el-GR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、轴向应变</a:t>
            </a:r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80" name="Rectangle 2"/>
          <p:cNvSpPr>
            <a:spLocks noChangeArrowheads="1"/>
          </p:cNvSpPr>
          <p:nvPr/>
        </p:nvSpPr>
        <p:spPr bwMode="auto">
          <a:xfrm>
            <a:off x="1403350" y="4571866"/>
            <a:ext cx="7200900" cy="766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None/>
              <a:tabLst>
                <a:tab pos="0" algn="l"/>
              </a:tabLst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施加</a:t>
            </a:r>
            <a:r>
              <a:rPr lang="el-GR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不固结，剪切过程中不排水。测定轴向力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、轴向变形和孔隙水压力。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计算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得到偏差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lang="el-GR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el-GR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、轴向应变</a:t>
            </a:r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1" name="Rectangle 2"/>
          <p:cNvSpPr>
            <a:spLocks noRot="1" noChangeArrowheads="1"/>
          </p:cNvSpPr>
          <p:nvPr/>
        </p:nvSpPr>
        <p:spPr bwMode="auto">
          <a:xfrm>
            <a:off x="2382838" y="5848135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三轴剪切试验</a:t>
            </a:r>
            <a:endParaRPr lang="zh-CN" altLang="en-US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430052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utoUpdateAnimBg="0"/>
      <p:bldP spid="75" grpId="0" autoUpdateAnimBg="0"/>
      <p:bldP spid="76" grpId="0" autoUpdateAnimBg="0"/>
      <p:bldP spid="78" grpId="0" autoUpdateAnimBg="0"/>
      <p:bldP spid="79" grpId="0" autoUpdateAnimBg="0"/>
      <p:bldP spid="80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0" name="Text Box 38"/>
          <p:cNvSpPr txBox="1">
            <a:spLocks noChangeArrowheads="1"/>
          </p:cNvSpPr>
          <p:nvPr/>
        </p:nvSpPr>
        <p:spPr bwMode="auto">
          <a:xfrm>
            <a:off x="419100" y="724865"/>
            <a:ext cx="454831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破坏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偏差应力取值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4725308" y="1651854"/>
            <a:ext cx="4053113" cy="385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8775" indent="-358775" eaLnBrk="1" hangingPunct="1">
              <a:lnSpc>
                <a:spcPct val="120000"/>
              </a:lnSpc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取曲线的最大偏差应力值作为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</a:p>
          <a:p>
            <a:pPr marL="358775" indent="-358775" eaLnBrk="1" hangingPunct="1">
              <a:lnSpc>
                <a:spcPct val="120000"/>
              </a:lnSpc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取规定的轴向应变值（通常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15%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）所相应的偏差应力作为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8775" indent="-358775" eaLnBrk="1" hangingPunct="1">
              <a:lnSpc>
                <a:spcPct val="120000"/>
              </a:lnSpc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以最大有效主应力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比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max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处的偏差应力值作为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53" name="Freeform 5"/>
          <p:cNvSpPr>
            <a:spLocks/>
          </p:cNvSpPr>
          <p:nvPr/>
        </p:nvSpPr>
        <p:spPr bwMode="auto">
          <a:xfrm>
            <a:off x="1259221" y="1617218"/>
            <a:ext cx="2972821" cy="3493383"/>
          </a:xfrm>
          <a:custGeom>
            <a:avLst/>
            <a:gdLst>
              <a:gd name="T0" fmla="*/ 0 w 1776"/>
              <a:gd name="T1" fmla="*/ 0 h 1910"/>
              <a:gd name="T2" fmla="*/ 0 w 1776"/>
              <a:gd name="T3" fmla="*/ 2035 h 1910"/>
              <a:gd name="T4" fmla="*/ 1776 w 1776"/>
              <a:gd name="T5" fmla="*/ 2035 h 1910"/>
              <a:gd name="T6" fmla="*/ 0 60000 65536"/>
              <a:gd name="T7" fmla="*/ 0 60000 65536"/>
              <a:gd name="T8" fmla="*/ 0 60000 65536"/>
              <a:gd name="T9" fmla="*/ 0 w 1776"/>
              <a:gd name="T10" fmla="*/ 0 h 1910"/>
              <a:gd name="T11" fmla="*/ 1776 w 1776"/>
              <a:gd name="T12" fmla="*/ 1910 h 19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76" h="1910">
                <a:moveTo>
                  <a:pt x="0" y="0"/>
                </a:moveTo>
                <a:lnTo>
                  <a:pt x="0" y="1910"/>
                </a:lnTo>
                <a:lnTo>
                  <a:pt x="1776" y="191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8036" tIns="54018" rIns="108036" bIns="54018"/>
          <a:lstStyle/>
          <a:p>
            <a:pPr>
              <a:defRPr/>
            </a:pPr>
            <a:endParaRPr lang="zh-CN" altLang="en-US" sz="24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4" name="Text Box 6"/>
          <p:cNvSpPr txBox="1">
            <a:spLocks noChangeArrowheads="1"/>
          </p:cNvSpPr>
          <p:nvPr/>
        </p:nvSpPr>
        <p:spPr bwMode="auto">
          <a:xfrm>
            <a:off x="1332868" y="1374541"/>
            <a:ext cx="897855" cy="49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8036" tIns="54018" rIns="108036" bIns="54018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i="1" dirty="0">
                <a:ea typeface="+mn-ea"/>
                <a:cs typeface="Times New Roman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ea typeface="+mn-ea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400" b="1" i="1" dirty="0">
                <a:ea typeface="+mn-ea"/>
                <a:cs typeface="Times New Roman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endParaRPr lang="en-US" altLang="zh-CN" sz="2400" b="1" dirty="0"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3893544" y="5144023"/>
            <a:ext cx="455427" cy="49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08036" tIns="54018" rIns="108036" bIns="54018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i="1" dirty="0">
                <a:ea typeface="+mn-ea"/>
                <a:cs typeface="Times New Roman" pitchFamily="18" charset="0"/>
                <a:sym typeface="Symbol" pitchFamily="18" charset="2"/>
              </a:rPr>
              <a:t></a:t>
            </a:r>
            <a:r>
              <a:rPr lang="en-US" altLang="zh-CN" sz="2400" b="1" baseline="-25000" dirty="0"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endParaRPr lang="en-US" altLang="zh-CN" sz="2400" b="1" dirty="0"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6" name="Freeform 8"/>
          <p:cNvSpPr>
            <a:spLocks/>
          </p:cNvSpPr>
          <p:nvPr/>
        </p:nvSpPr>
        <p:spPr bwMode="auto">
          <a:xfrm>
            <a:off x="1259221" y="2638785"/>
            <a:ext cx="2732049" cy="2471816"/>
          </a:xfrm>
          <a:custGeom>
            <a:avLst/>
            <a:gdLst>
              <a:gd name="T0" fmla="*/ 0 w 1632"/>
              <a:gd name="T1" fmla="*/ 2338387 h 1473"/>
              <a:gd name="T2" fmla="*/ 168275 w 1632"/>
              <a:gd name="T3" fmla="*/ 1792287 h 1473"/>
              <a:gd name="T4" fmla="*/ 441325 w 1632"/>
              <a:gd name="T5" fmla="*/ 1093787 h 1473"/>
              <a:gd name="T6" fmla="*/ 742950 w 1632"/>
              <a:gd name="T7" fmla="*/ 622300 h 1473"/>
              <a:gd name="T8" fmla="*/ 1281113 w 1632"/>
              <a:gd name="T9" fmla="*/ 228600 h 1473"/>
              <a:gd name="T10" fmla="*/ 1905000 w 1632"/>
              <a:gd name="T11" fmla="*/ 68262 h 1473"/>
              <a:gd name="T12" fmla="*/ 2590800 w 1632"/>
              <a:gd name="T13" fmla="*/ 0 h 14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32"/>
              <a:gd name="T22" fmla="*/ 0 h 1473"/>
              <a:gd name="T23" fmla="*/ 1632 w 1632"/>
              <a:gd name="T24" fmla="*/ 1473 h 1473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703 w 10000"/>
              <a:gd name="connsiteY2" fmla="*/ 4768 h 10090"/>
              <a:gd name="connsiteX3" fmla="*/ 2868 w 10000"/>
              <a:gd name="connsiteY3" fmla="*/ 2751 h 10090"/>
              <a:gd name="connsiteX4" fmla="*/ 4945 w 10000"/>
              <a:gd name="connsiteY4" fmla="*/ 1068 h 10090"/>
              <a:gd name="connsiteX5" fmla="*/ 7353 w 10000"/>
              <a:gd name="connsiteY5" fmla="*/ 382 h 10090"/>
              <a:gd name="connsiteX6" fmla="*/ 10000 w 10000"/>
              <a:gd name="connsiteY6" fmla="*/ 0 h 10090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703 w 10000"/>
              <a:gd name="connsiteY2" fmla="*/ 4768 h 10090"/>
              <a:gd name="connsiteX3" fmla="*/ 2868 w 10000"/>
              <a:gd name="connsiteY3" fmla="*/ 2751 h 10090"/>
              <a:gd name="connsiteX4" fmla="*/ 4971 w 10000"/>
              <a:gd name="connsiteY4" fmla="*/ 1188 h 10090"/>
              <a:gd name="connsiteX5" fmla="*/ 7353 w 10000"/>
              <a:gd name="connsiteY5" fmla="*/ 382 h 10090"/>
              <a:gd name="connsiteX6" fmla="*/ 10000 w 10000"/>
              <a:gd name="connsiteY6" fmla="*/ 0 h 10090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703 w 10000"/>
              <a:gd name="connsiteY2" fmla="*/ 4768 h 10090"/>
              <a:gd name="connsiteX3" fmla="*/ 2868 w 10000"/>
              <a:gd name="connsiteY3" fmla="*/ 2751 h 10090"/>
              <a:gd name="connsiteX4" fmla="*/ 4971 w 10000"/>
              <a:gd name="connsiteY4" fmla="*/ 1188 h 10090"/>
              <a:gd name="connsiteX5" fmla="*/ 7353 w 10000"/>
              <a:gd name="connsiteY5" fmla="*/ 472 h 10090"/>
              <a:gd name="connsiteX6" fmla="*/ 10000 w 10000"/>
              <a:gd name="connsiteY6" fmla="*/ 0 h 10090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703 w 10000"/>
              <a:gd name="connsiteY2" fmla="*/ 4768 h 10090"/>
              <a:gd name="connsiteX3" fmla="*/ 3000 w 10000"/>
              <a:gd name="connsiteY3" fmla="*/ 2751 h 10090"/>
              <a:gd name="connsiteX4" fmla="*/ 4971 w 10000"/>
              <a:gd name="connsiteY4" fmla="*/ 1188 h 10090"/>
              <a:gd name="connsiteX5" fmla="*/ 7353 w 10000"/>
              <a:gd name="connsiteY5" fmla="*/ 472 h 10090"/>
              <a:gd name="connsiteX6" fmla="*/ 10000 w 10000"/>
              <a:gd name="connsiteY6" fmla="*/ 0 h 10090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703 w 10000"/>
              <a:gd name="connsiteY2" fmla="*/ 4768 h 10090"/>
              <a:gd name="connsiteX3" fmla="*/ 3000 w 10000"/>
              <a:gd name="connsiteY3" fmla="*/ 2751 h 10090"/>
              <a:gd name="connsiteX4" fmla="*/ 5261 w 10000"/>
              <a:gd name="connsiteY4" fmla="*/ 1188 h 10090"/>
              <a:gd name="connsiteX5" fmla="*/ 7353 w 10000"/>
              <a:gd name="connsiteY5" fmla="*/ 472 h 10090"/>
              <a:gd name="connsiteX6" fmla="*/ 10000 w 10000"/>
              <a:gd name="connsiteY6" fmla="*/ 0 h 10090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703 w 10000"/>
              <a:gd name="connsiteY2" fmla="*/ 4768 h 10090"/>
              <a:gd name="connsiteX3" fmla="*/ 3000 w 10000"/>
              <a:gd name="connsiteY3" fmla="*/ 2751 h 10090"/>
              <a:gd name="connsiteX4" fmla="*/ 5261 w 10000"/>
              <a:gd name="connsiteY4" fmla="*/ 1188 h 10090"/>
              <a:gd name="connsiteX5" fmla="*/ 7722 w 10000"/>
              <a:gd name="connsiteY5" fmla="*/ 442 h 10090"/>
              <a:gd name="connsiteX6" fmla="*/ 10000 w 10000"/>
              <a:gd name="connsiteY6" fmla="*/ 0 h 10090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703 w 10000"/>
              <a:gd name="connsiteY2" fmla="*/ 4768 h 10090"/>
              <a:gd name="connsiteX3" fmla="*/ 3105 w 10000"/>
              <a:gd name="connsiteY3" fmla="*/ 2781 h 10090"/>
              <a:gd name="connsiteX4" fmla="*/ 5261 w 10000"/>
              <a:gd name="connsiteY4" fmla="*/ 1188 h 10090"/>
              <a:gd name="connsiteX5" fmla="*/ 7722 w 10000"/>
              <a:gd name="connsiteY5" fmla="*/ 442 h 10090"/>
              <a:gd name="connsiteX6" fmla="*/ 10000 w 10000"/>
              <a:gd name="connsiteY6" fmla="*/ 0 h 10090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703 w 10000"/>
              <a:gd name="connsiteY2" fmla="*/ 4768 h 10090"/>
              <a:gd name="connsiteX3" fmla="*/ 3289 w 10000"/>
              <a:gd name="connsiteY3" fmla="*/ 2570 h 10090"/>
              <a:gd name="connsiteX4" fmla="*/ 5261 w 10000"/>
              <a:gd name="connsiteY4" fmla="*/ 1188 h 10090"/>
              <a:gd name="connsiteX5" fmla="*/ 7722 w 10000"/>
              <a:gd name="connsiteY5" fmla="*/ 442 h 10090"/>
              <a:gd name="connsiteX6" fmla="*/ 10000 w 10000"/>
              <a:gd name="connsiteY6" fmla="*/ 0 h 10090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703 w 10000"/>
              <a:gd name="connsiteY2" fmla="*/ 4768 h 10090"/>
              <a:gd name="connsiteX3" fmla="*/ 3263 w 10000"/>
              <a:gd name="connsiteY3" fmla="*/ 2660 h 10090"/>
              <a:gd name="connsiteX4" fmla="*/ 5261 w 10000"/>
              <a:gd name="connsiteY4" fmla="*/ 1188 h 10090"/>
              <a:gd name="connsiteX5" fmla="*/ 7722 w 10000"/>
              <a:gd name="connsiteY5" fmla="*/ 442 h 10090"/>
              <a:gd name="connsiteX6" fmla="*/ 10000 w 10000"/>
              <a:gd name="connsiteY6" fmla="*/ 0 h 10090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835 w 10000"/>
              <a:gd name="connsiteY2" fmla="*/ 4768 h 10090"/>
              <a:gd name="connsiteX3" fmla="*/ 3263 w 10000"/>
              <a:gd name="connsiteY3" fmla="*/ 2660 h 10090"/>
              <a:gd name="connsiteX4" fmla="*/ 5261 w 10000"/>
              <a:gd name="connsiteY4" fmla="*/ 1188 h 10090"/>
              <a:gd name="connsiteX5" fmla="*/ 7722 w 10000"/>
              <a:gd name="connsiteY5" fmla="*/ 442 h 10090"/>
              <a:gd name="connsiteX6" fmla="*/ 10000 w 10000"/>
              <a:gd name="connsiteY6" fmla="*/ 0 h 10090"/>
              <a:gd name="connsiteX0" fmla="*/ 0 w 10000"/>
              <a:gd name="connsiteY0" fmla="*/ 10090 h 10090"/>
              <a:gd name="connsiteX1" fmla="*/ 650 w 10000"/>
              <a:gd name="connsiteY1" fmla="*/ 7755 h 10090"/>
              <a:gd name="connsiteX2" fmla="*/ 1835 w 10000"/>
              <a:gd name="connsiteY2" fmla="*/ 4768 h 10090"/>
              <a:gd name="connsiteX3" fmla="*/ 3263 w 10000"/>
              <a:gd name="connsiteY3" fmla="*/ 2660 h 10090"/>
              <a:gd name="connsiteX4" fmla="*/ 5261 w 10000"/>
              <a:gd name="connsiteY4" fmla="*/ 1188 h 10090"/>
              <a:gd name="connsiteX5" fmla="*/ 7880 w 10000"/>
              <a:gd name="connsiteY5" fmla="*/ 382 h 10090"/>
              <a:gd name="connsiteX6" fmla="*/ 10000 w 10000"/>
              <a:gd name="connsiteY6" fmla="*/ 0 h 1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90">
                <a:moveTo>
                  <a:pt x="0" y="10090"/>
                </a:moveTo>
                <a:cubicBezTo>
                  <a:pt x="172" y="9357"/>
                  <a:pt x="344" y="8642"/>
                  <a:pt x="650" y="7755"/>
                </a:cubicBezTo>
                <a:cubicBezTo>
                  <a:pt x="956" y="6868"/>
                  <a:pt x="1468" y="5603"/>
                  <a:pt x="1835" y="4768"/>
                </a:cubicBezTo>
                <a:cubicBezTo>
                  <a:pt x="2209" y="3932"/>
                  <a:pt x="2692" y="3257"/>
                  <a:pt x="3263" y="2660"/>
                </a:cubicBezTo>
                <a:cubicBezTo>
                  <a:pt x="3834" y="2063"/>
                  <a:pt x="4492" y="1568"/>
                  <a:pt x="5261" y="1188"/>
                </a:cubicBezTo>
                <a:cubicBezTo>
                  <a:pt x="6030" y="808"/>
                  <a:pt x="7040" y="545"/>
                  <a:pt x="7880" y="382"/>
                </a:cubicBezTo>
                <a:cubicBezTo>
                  <a:pt x="8719" y="219"/>
                  <a:pt x="9449" y="61"/>
                  <a:pt x="10000" y="0"/>
                </a:cubicBezTo>
              </a:path>
            </a:pathLst>
          </a:cu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8036" tIns="54018" rIns="108036" bIns="54018"/>
          <a:lstStyle/>
          <a:p>
            <a:pPr>
              <a:defRPr/>
            </a:pPr>
            <a:endParaRPr lang="zh-CN" altLang="en-US" sz="24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7" name="Freeform 9"/>
          <p:cNvSpPr>
            <a:spLocks/>
          </p:cNvSpPr>
          <p:nvPr/>
        </p:nvSpPr>
        <p:spPr bwMode="auto">
          <a:xfrm>
            <a:off x="1269136" y="2134838"/>
            <a:ext cx="2786884" cy="2971403"/>
          </a:xfrm>
          <a:custGeom>
            <a:avLst/>
            <a:gdLst>
              <a:gd name="T0" fmla="*/ 0 w 1631"/>
              <a:gd name="T1" fmla="*/ 2760663 h 1739"/>
              <a:gd name="T2" fmla="*/ 182562 w 1631"/>
              <a:gd name="T3" fmla="*/ 2046288 h 1739"/>
              <a:gd name="T4" fmla="*/ 481012 w 1631"/>
              <a:gd name="T5" fmla="*/ 1130300 h 1739"/>
              <a:gd name="T6" fmla="*/ 684212 w 1631"/>
              <a:gd name="T7" fmla="*/ 563563 h 1739"/>
              <a:gd name="T8" fmla="*/ 928687 w 1631"/>
              <a:gd name="T9" fmla="*/ 220663 h 1739"/>
              <a:gd name="T10" fmla="*/ 1239837 w 1631"/>
              <a:gd name="T11" fmla="*/ 30163 h 1739"/>
              <a:gd name="T12" fmla="*/ 1590675 w 1631"/>
              <a:gd name="T13" fmla="*/ 38100 h 1739"/>
              <a:gd name="T14" fmla="*/ 2001837 w 1631"/>
              <a:gd name="T15" fmla="*/ 182563 h 1739"/>
              <a:gd name="T16" fmla="*/ 2262187 w 1631"/>
              <a:gd name="T17" fmla="*/ 250825 h 1739"/>
              <a:gd name="T18" fmla="*/ 2589212 w 1631"/>
              <a:gd name="T19" fmla="*/ 282575 h 173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631"/>
              <a:gd name="T31" fmla="*/ 0 h 1739"/>
              <a:gd name="T32" fmla="*/ 1631 w 1631"/>
              <a:gd name="T33" fmla="*/ 1739 h 1739"/>
              <a:gd name="connsiteX0" fmla="*/ 0 w 10000"/>
              <a:gd name="connsiteY0" fmla="*/ 9955 h 9955"/>
              <a:gd name="connsiteX1" fmla="*/ 705 w 10000"/>
              <a:gd name="connsiteY1" fmla="*/ 7367 h 9955"/>
              <a:gd name="connsiteX2" fmla="*/ 1858 w 10000"/>
              <a:gd name="connsiteY2" fmla="*/ 4049 h 9955"/>
              <a:gd name="connsiteX3" fmla="*/ 2643 w 10000"/>
              <a:gd name="connsiteY3" fmla="*/ 1996 h 9955"/>
              <a:gd name="connsiteX4" fmla="*/ 3587 w 10000"/>
              <a:gd name="connsiteY4" fmla="*/ 754 h 9955"/>
              <a:gd name="connsiteX5" fmla="*/ 4788 w 10000"/>
              <a:gd name="connsiteY5" fmla="*/ 64 h 9955"/>
              <a:gd name="connsiteX6" fmla="*/ 6143 w 10000"/>
              <a:gd name="connsiteY6" fmla="*/ 93 h 9955"/>
              <a:gd name="connsiteX7" fmla="*/ 7731 w 10000"/>
              <a:gd name="connsiteY7" fmla="*/ 616 h 9955"/>
              <a:gd name="connsiteX8" fmla="*/ 8763 w 10000"/>
              <a:gd name="connsiteY8" fmla="*/ 938 h 9955"/>
              <a:gd name="connsiteX9" fmla="*/ 10000 w 10000"/>
              <a:gd name="connsiteY9" fmla="*/ 979 h 9955"/>
              <a:gd name="connsiteX0" fmla="*/ 0 w 10000"/>
              <a:gd name="connsiteY0" fmla="*/ 10000 h 10000"/>
              <a:gd name="connsiteX1" fmla="*/ 705 w 10000"/>
              <a:gd name="connsiteY1" fmla="*/ 7400 h 10000"/>
              <a:gd name="connsiteX2" fmla="*/ 1858 w 10000"/>
              <a:gd name="connsiteY2" fmla="*/ 4067 h 10000"/>
              <a:gd name="connsiteX3" fmla="*/ 2643 w 10000"/>
              <a:gd name="connsiteY3" fmla="*/ 2005 h 10000"/>
              <a:gd name="connsiteX4" fmla="*/ 3587 w 10000"/>
              <a:gd name="connsiteY4" fmla="*/ 757 h 10000"/>
              <a:gd name="connsiteX5" fmla="*/ 4788 w 10000"/>
              <a:gd name="connsiteY5" fmla="*/ 64 h 10000"/>
              <a:gd name="connsiteX6" fmla="*/ 6143 w 10000"/>
              <a:gd name="connsiteY6" fmla="*/ 93 h 10000"/>
              <a:gd name="connsiteX7" fmla="*/ 7731 w 10000"/>
              <a:gd name="connsiteY7" fmla="*/ 619 h 10000"/>
              <a:gd name="connsiteX8" fmla="*/ 8763 w 10000"/>
              <a:gd name="connsiteY8" fmla="*/ 868 h 10000"/>
              <a:gd name="connsiteX9" fmla="*/ 10000 w 10000"/>
              <a:gd name="connsiteY9" fmla="*/ 983 h 10000"/>
              <a:gd name="connsiteX0" fmla="*/ 0 w 10206"/>
              <a:gd name="connsiteY0" fmla="*/ 10000 h 10000"/>
              <a:gd name="connsiteX1" fmla="*/ 705 w 10206"/>
              <a:gd name="connsiteY1" fmla="*/ 7400 h 10000"/>
              <a:gd name="connsiteX2" fmla="*/ 1858 w 10206"/>
              <a:gd name="connsiteY2" fmla="*/ 4067 h 10000"/>
              <a:gd name="connsiteX3" fmla="*/ 2643 w 10206"/>
              <a:gd name="connsiteY3" fmla="*/ 2005 h 10000"/>
              <a:gd name="connsiteX4" fmla="*/ 3587 w 10206"/>
              <a:gd name="connsiteY4" fmla="*/ 757 h 10000"/>
              <a:gd name="connsiteX5" fmla="*/ 4788 w 10206"/>
              <a:gd name="connsiteY5" fmla="*/ 64 h 10000"/>
              <a:gd name="connsiteX6" fmla="*/ 6143 w 10206"/>
              <a:gd name="connsiteY6" fmla="*/ 93 h 10000"/>
              <a:gd name="connsiteX7" fmla="*/ 7731 w 10206"/>
              <a:gd name="connsiteY7" fmla="*/ 619 h 10000"/>
              <a:gd name="connsiteX8" fmla="*/ 8763 w 10206"/>
              <a:gd name="connsiteY8" fmla="*/ 868 h 10000"/>
              <a:gd name="connsiteX9" fmla="*/ 10206 w 10206"/>
              <a:gd name="connsiteY9" fmla="*/ 1023 h 10000"/>
              <a:gd name="connsiteX0" fmla="*/ 0 w 10206"/>
              <a:gd name="connsiteY0" fmla="*/ 10000 h 10000"/>
              <a:gd name="connsiteX1" fmla="*/ 705 w 10206"/>
              <a:gd name="connsiteY1" fmla="*/ 7400 h 10000"/>
              <a:gd name="connsiteX2" fmla="*/ 1858 w 10206"/>
              <a:gd name="connsiteY2" fmla="*/ 4067 h 10000"/>
              <a:gd name="connsiteX3" fmla="*/ 2643 w 10206"/>
              <a:gd name="connsiteY3" fmla="*/ 2005 h 10000"/>
              <a:gd name="connsiteX4" fmla="*/ 3587 w 10206"/>
              <a:gd name="connsiteY4" fmla="*/ 757 h 10000"/>
              <a:gd name="connsiteX5" fmla="*/ 4788 w 10206"/>
              <a:gd name="connsiteY5" fmla="*/ 64 h 10000"/>
              <a:gd name="connsiteX6" fmla="*/ 6143 w 10206"/>
              <a:gd name="connsiteY6" fmla="*/ 93 h 10000"/>
              <a:gd name="connsiteX7" fmla="*/ 7731 w 10206"/>
              <a:gd name="connsiteY7" fmla="*/ 619 h 10000"/>
              <a:gd name="connsiteX8" fmla="*/ 8763 w 10206"/>
              <a:gd name="connsiteY8" fmla="*/ 868 h 10000"/>
              <a:gd name="connsiteX9" fmla="*/ 9378 w 10206"/>
              <a:gd name="connsiteY9" fmla="*/ 982 h 10000"/>
              <a:gd name="connsiteX10" fmla="*/ 10206 w 10206"/>
              <a:gd name="connsiteY10" fmla="*/ 1023 h 10000"/>
              <a:gd name="connsiteX0" fmla="*/ 0 w 10206"/>
              <a:gd name="connsiteY0" fmla="*/ 10000 h 10000"/>
              <a:gd name="connsiteX1" fmla="*/ 705 w 10206"/>
              <a:gd name="connsiteY1" fmla="*/ 7400 h 10000"/>
              <a:gd name="connsiteX2" fmla="*/ 1858 w 10206"/>
              <a:gd name="connsiteY2" fmla="*/ 4067 h 10000"/>
              <a:gd name="connsiteX3" fmla="*/ 2643 w 10206"/>
              <a:gd name="connsiteY3" fmla="*/ 2005 h 10000"/>
              <a:gd name="connsiteX4" fmla="*/ 3587 w 10206"/>
              <a:gd name="connsiteY4" fmla="*/ 757 h 10000"/>
              <a:gd name="connsiteX5" fmla="*/ 4788 w 10206"/>
              <a:gd name="connsiteY5" fmla="*/ 64 h 10000"/>
              <a:gd name="connsiteX6" fmla="*/ 6143 w 10206"/>
              <a:gd name="connsiteY6" fmla="*/ 93 h 10000"/>
              <a:gd name="connsiteX7" fmla="*/ 7731 w 10206"/>
              <a:gd name="connsiteY7" fmla="*/ 619 h 10000"/>
              <a:gd name="connsiteX8" fmla="*/ 8587 w 10206"/>
              <a:gd name="connsiteY8" fmla="*/ 868 h 10000"/>
              <a:gd name="connsiteX9" fmla="*/ 9378 w 10206"/>
              <a:gd name="connsiteY9" fmla="*/ 982 h 10000"/>
              <a:gd name="connsiteX10" fmla="*/ 10206 w 10206"/>
              <a:gd name="connsiteY10" fmla="*/ 1023 h 10000"/>
              <a:gd name="connsiteX0" fmla="*/ 0 w 10206"/>
              <a:gd name="connsiteY0" fmla="*/ 9999 h 9999"/>
              <a:gd name="connsiteX1" fmla="*/ 705 w 10206"/>
              <a:gd name="connsiteY1" fmla="*/ 7399 h 9999"/>
              <a:gd name="connsiteX2" fmla="*/ 1858 w 10206"/>
              <a:gd name="connsiteY2" fmla="*/ 4066 h 9999"/>
              <a:gd name="connsiteX3" fmla="*/ 2643 w 10206"/>
              <a:gd name="connsiteY3" fmla="*/ 2004 h 9999"/>
              <a:gd name="connsiteX4" fmla="*/ 3587 w 10206"/>
              <a:gd name="connsiteY4" fmla="*/ 756 h 9999"/>
              <a:gd name="connsiteX5" fmla="*/ 4788 w 10206"/>
              <a:gd name="connsiteY5" fmla="*/ 63 h 9999"/>
              <a:gd name="connsiteX6" fmla="*/ 6143 w 10206"/>
              <a:gd name="connsiteY6" fmla="*/ 92 h 9999"/>
              <a:gd name="connsiteX7" fmla="*/ 7599 w 10206"/>
              <a:gd name="connsiteY7" fmla="*/ 605 h 9999"/>
              <a:gd name="connsiteX8" fmla="*/ 8587 w 10206"/>
              <a:gd name="connsiteY8" fmla="*/ 867 h 9999"/>
              <a:gd name="connsiteX9" fmla="*/ 9378 w 10206"/>
              <a:gd name="connsiteY9" fmla="*/ 981 h 9999"/>
              <a:gd name="connsiteX10" fmla="*/ 10206 w 10206"/>
              <a:gd name="connsiteY10" fmla="*/ 1022 h 9999"/>
              <a:gd name="connsiteX0" fmla="*/ 0 w 10000"/>
              <a:gd name="connsiteY0" fmla="*/ 10000 h 10000"/>
              <a:gd name="connsiteX1" fmla="*/ 691 w 10000"/>
              <a:gd name="connsiteY1" fmla="*/ 7400 h 10000"/>
              <a:gd name="connsiteX2" fmla="*/ 1820 w 10000"/>
              <a:gd name="connsiteY2" fmla="*/ 4066 h 10000"/>
              <a:gd name="connsiteX3" fmla="*/ 2590 w 10000"/>
              <a:gd name="connsiteY3" fmla="*/ 2004 h 10000"/>
              <a:gd name="connsiteX4" fmla="*/ 3515 w 10000"/>
              <a:gd name="connsiteY4" fmla="*/ 756 h 10000"/>
              <a:gd name="connsiteX5" fmla="*/ 4691 w 10000"/>
              <a:gd name="connsiteY5" fmla="*/ 63 h 10000"/>
              <a:gd name="connsiteX6" fmla="*/ 6019 w 10000"/>
              <a:gd name="connsiteY6" fmla="*/ 92 h 10000"/>
              <a:gd name="connsiteX7" fmla="*/ 7446 w 10000"/>
              <a:gd name="connsiteY7" fmla="*/ 605 h 10000"/>
              <a:gd name="connsiteX8" fmla="*/ 8414 w 10000"/>
              <a:gd name="connsiteY8" fmla="*/ 867 h 10000"/>
              <a:gd name="connsiteX9" fmla="*/ 9103 w 10000"/>
              <a:gd name="connsiteY9" fmla="*/ 981 h 10000"/>
              <a:gd name="connsiteX10" fmla="*/ 10000 w 10000"/>
              <a:gd name="connsiteY10" fmla="*/ 102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186" y="9179"/>
                  <a:pt x="391" y="8383"/>
                  <a:pt x="691" y="7400"/>
                </a:cubicBezTo>
                <a:cubicBezTo>
                  <a:pt x="992" y="6419"/>
                  <a:pt x="1502" y="4967"/>
                  <a:pt x="1820" y="4066"/>
                </a:cubicBezTo>
                <a:cubicBezTo>
                  <a:pt x="2139" y="3165"/>
                  <a:pt x="2306" y="2553"/>
                  <a:pt x="2590" y="2004"/>
                </a:cubicBezTo>
                <a:cubicBezTo>
                  <a:pt x="2872" y="1456"/>
                  <a:pt x="3166" y="1080"/>
                  <a:pt x="3515" y="756"/>
                </a:cubicBezTo>
                <a:cubicBezTo>
                  <a:pt x="3862" y="433"/>
                  <a:pt x="4271" y="174"/>
                  <a:pt x="4691" y="63"/>
                </a:cubicBezTo>
                <a:cubicBezTo>
                  <a:pt x="5113" y="-46"/>
                  <a:pt x="5560" y="2"/>
                  <a:pt x="6019" y="92"/>
                </a:cubicBezTo>
                <a:cubicBezTo>
                  <a:pt x="6478" y="182"/>
                  <a:pt x="7047" y="476"/>
                  <a:pt x="7446" y="605"/>
                </a:cubicBezTo>
                <a:cubicBezTo>
                  <a:pt x="7844" y="734"/>
                  <a:pt x="8142" y="820"/>
                  <a:pt x="8414" y="867"/>
                </a:cubicBezTo>
                <a:cubicBezTo>
                  <a:pt x="8685" y="914"/>
                  <a:pt x="8868" y="955"/>
                  <a:pt x="9103" y="981"/>
                </a:cubicBezTo>
                <a:cubicBezTo>
                  <a:pt x="9338" y="1007"/>
                  <a:pt x="9868" y="1002"/>
                  <a:pt x="10000" y="1022"/>
                </a:cubicBezTo>
              </a:path>
            </a:pathLst>
          </a:cu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8036" tIns="54018" rIns="108036" bIns="54018"/>
          <a:lstStyle/>
          <a:p>
            <a:pPr>
              <a:defRPr/>
            </a:pPr>
            <a:endParaRPr lang="zh-CN" altLang="en-US" sz="24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1624" y="1820039"/>
            <a:ext cx="2470466" cy="463034"/>
            <a:chOff x="271624" y="2100131"/>
            <a:chExt cx="2470466" cy="463034"/>
          </a:xfrm>
        </p:grpSpPr>
        <p:sp>
          <p:nvSpPr>
            <p:cNvPr id="60" name="Line 14"/>
            <p:cNvSpPr>
              <a:spLocks noChangeShapeType="1"/>
            </p:cNvSpPr>
            <p:nvPr/>
          </p:nvSpPr>
          <p:spPr bwMode="auto">
            <a:xfrm>
              <a:off x="1254972" y="2416086"/>
              <a:ext cx="14403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36" tIns="54018" rIns="108036" bIns="54018"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61" name="Text Box 15"/>
            <p:cNvSpPr txBox="1">
              <a:spLocks noChangeArrowheads="1"/>
            </p:cNvSpPr>
            <p:nvPr/>
          </p:nvSpPr>
          <p:spPr bwMode="auto">
            <a:xfrm>
              <a:off x="271624" y="2100131"/>
              <a:ext cx="1011669" cy="463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36" tIns="54018" rIns="108036" bIns="54018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1" dirty="0">
                  <a:ea typeface="+mn-ea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en-US" altLang="zh-CN" sz="2000" b="1" i="1" dirty="0">
                  <a:ea typeface="+mn-ea"/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+mn-ea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2000" b="1" dirty="0">
                  <a:ea typeface="+mn-ea"/>
                  <a:cs typeface="Times New Roman" pitchFamily="18" charset="0"/>
                  <a:sym typeface="Symbol" pitchFamily="18" charset="2"/>
                </a:rPr>
                <a:t>-</a:t>
              </a:r>
              <a:r>
                <a:rPr lang="en-US" altLang="zh-CN" sz="2000" b="1" i="1" dirty="0">
                  <a:ea typeface="+mn-ea"/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+mn-ea"/>
                  <a:cs typeface="Times New Roman" pitchFamily="18" charset="0"/>
                  <a:sym typeface="Symbol" pitchFamily="18" charset="2"/>
                </a:rPr>
                <a:t>3</a:t>
              </a:r>
              <a:r>
                <a:rPr lang="en-US" altLang="zh-CN" sz="2000" b="1" dirty="0">
                  <a:ea typeface="+mn-ea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altLang="zh-CN" sz="2000" b="1" baseline="-25000" dirty="0">
                  <a:ea typeface="+mn-ea"/>
                  <a:cs typeface="Times New Roman" pitchFamily="18" charset="0"/>
                  <a:sym typeface="Symbol" pitchFamily="18" charset="2"/>
                </a:rPr>
                <a:t>f</a:t>
              </a:r>
              <a:endParaRPr lang="en-US" altLang="zh-CN" sz="2000" b="1" dirty="0">
                <a:ea typeface="+mn-ea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2" name="Oval 16"/>
            <p:cNvSpPr>
              <a:spLocks noChangeArrowheads="1"/>
            </p:cNvSpPr>
            <p:nvPr/>
          </p:nvSpPr>
          <p:spPr bwMode="auto">
            <a:xfrm>
              <a:off x="2658528" y="2371039"/>
              <a:ext cx="83562" cy="8573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8036" tIns="54018" rIns="108036" bIns="54018" anchor="ctr"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164741" y="2703170"/>
            <a:ext cx="731143" cy="2880193"/>
            <a:chOff x="3164741" y="2983262"/>
            <a:chExt cx="731143" cy="2880193"/>
          </a:xfrm>
        </p:grpSpPr>
        <p:sp>
          <p:nvSpPr>
            <p:cNvPr id="65" name="Line 23"/>
            <p:cNvSpPr>
              <a:spLocks noChangeShapeType="1"/>
            </p:cNvSpPr>
            <p:nvPr/>
          </p:nvSpPr>
          <p:spPr bwMode="auto">
            <a:xfrm flipV="1">
              <a:off x="3561467" y="2983262"/>
              <a:ext cx="0" cy="2407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36" tIns="54018" rIns="108036" bIns="54018"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66" name="Text Box 24"/>
            <p:cNvSpPr txBox="1">
              <a:spLocks noChangeArrowheads="1"/>
            </p:cNvSpPr>
            <p:nvPr/>
          </p:nvSpPr>
          <p:spPr bwMode="auto">
            <a:xfrm>
              <a:off x="3164741" y="5400421"/>
              <a:ext cx="731143" cy="463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36" tIns="54018" rIns="108036" bIns="54018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1" dirty="0">
                  <a:ea typeface="+mn-ea"/>
                  <a:cs typeface="Times New Roman" pitchFamily="18" charset="0"/>
                </a:rPr>
                <a:t>15%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58877" y="2462334"/>
            <a:ext cx="3343424" cy="463034"/>
            <a:chOff x="258877" y="2742426"/>
            <a:chExt cx="3343424" cy="463034"/>
          </a:xfrm>
        </p:grpSpPr>
        <p:sp>
          <p:nvSpPr>
            <p:cNvPr id="58" name="Line 11"/>
            <p:cNvSpPr>
              <a:spLocks noChangeShapeType="1"/>
            </p:cNvSpPr>
            <p:nvPr/>
          </p:nvSpPr>
          <p:spPr bwMode="auto">
            <a:xfrm flipH="1">
              <a:off x="1259221" y="2996710"/>
              <a:ext cx="23141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36" tIns="54018" rIns="108036" bIns="54018"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9" name="Text Box 12"/>
            <p:cNvSpPr txBox="1">
              <a:spLocks noChangeArrowheads="1"/>
            </p:cNvSpPr>
            <p:nvPr/>
          </p:nvSpPr>
          <p:spPr bwMode="auto">
            <a:xfrm>
              <a:off x="258877" y="2742426"/>
              <a:ext cx="1011669" cy="463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36" tIns="54018" rIns="108036" bIns="54018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1" dirty="0">
                  <a:ea typeface="+mn-ea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en-US" altLang="zh-CN" sz="2000" b="1" i="1" dirty="0">
                  <a:ea typeface="+mn-ea"/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+mn-ea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2000" b="1" dirty="0">
                  <a:ea typeface="+mn-ea"/>
                  <a:cs typeface="Times New Roman" pitchFamily="18" charset="0"/>
                  <a:sym typeface="Symbol" pitchFamily="18" charset="2"/>
                </a:rPr>
                <a:t>-</a:t>
              </a:r>
              <a:r>
                <a:rPr lang="en-US" altLang="zh-CN" sz="2000" b="1" i="1" dirty="0">
                  <a:ea typeface="+mn-ea"/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+mn-ea"/>
                  <a:cs typeface="Times New Roman" pitchFamily="18" charset="0"/>
                  <a:sym typeface="Symbol" pitchFamily="18" charset="2"/>
                </a:rPr>
                <a:t>3</a:t>
              </a:r>
              <a:r>
                <a:rPr lang="en-US" altLang="zh-CN" sz="2000" b="1" dirty="0">
                  <a:ea typeface="+mn-ea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altLang="zh-CN" sz="2000" b="1" baseline="-25000" dirty="0">
                  <a:ea typeface="+mn-ea"/>
                  <a:cs typeface="Times New Roman" pitchFamily="18" charset="0"/>
                  <a:sym typeface="Symbol" pitchFamily="18" charset="2"/>
                </a:rPr>
                <a:t>f</a:t>
              </a:r>
              <a:endParaRPr lang="en-US" altLang="zh-CN" sz="2000" b="1" dirty="0">
                <a:ea typeface="+mn-ea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67" name="Oval 25"/>
            <p:cNvSpPr>
              <a:spLocks noChangeArrowheads="1"/>
            </p:cNvSpPr>
            <p:nvPr/>
          </p:nvSpPr>
          <p:spPr bwMode="auto">
            <a:xfrm>
              <a:off x="3518739" y="2950904"/>
              <a:ext cx="83562" cy="8573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8036" tIns="54018" rIns="108036" bIns="54018" anchor="ctr"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67375" y="2132467"/>
            <a:ext cx="3782179" cy="463034"/>
            <a:chOff x="267375" y="2412559"/>
            <a:chExt cx="3782179" cy="463034"/>
          </a:xfrm>
        </p:grpSpPr>
        <p:sp>
          <p:nvSpPr>
            <p:cNvPr id="68" name="Line 11"/>
            <p:cNvSpPr>
              <a:spLocks noChangeShapeType="1"/>
            </p:cNvSpPr>
            <p:nvPr/>
          </p:nvSpPr>
          <p:spPr bwMode="auto">
            <a:xfrm flipH="1">
              <a:off x="1274800" y="2731421"/>
              <a:ext cx="270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36" tIns="54018" rIns="108036" bIns="54018"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69" name="Oval 16"/>
            <p:cNvSpPr>
              <a:spLocks noChangeArrowheads="1"/>
            </p:cNvSpPr>
            <p:nvPr/>
          </p:nvSpPr>
          <p:spPr bwMode="auto">
            <a:xfrm>
              <a:off x="3965992" y="2675504"/>
              <a:ext cx="83562" cy="8718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08036" tIns="54018" rIns="108036" bIns="54018" anchor="ctr"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70" name="Text Box 15"/>
            <p:cNvSpPr txBox="1">
              <a:spLocks noChangeArrowheads="1"/>
            </p:cNvSpPr>
            <p:nvPr/>
          </p:nvSpPr>
          <p:spPr bwMode="auto">
            <a:xfrm>
              <a:off x="267375" y="2412559"/>
              <a:ext cx="1029302" cy="463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36" tIns="54018" rIns="108036" bIns="54018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1" dirty="0">
                  <a:ea typeface="+mn-ea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en-US" altLang="zh-CN" sz="2000" b="1" i="1" dirty="0">
                  <a:ea typeface="+mn-ea"/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+mn-ea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2000" b="1" dirty="0">
                  <a:ea typeface="+mn-ea"/>
                  <a:cs typeface="Times New Roman" pitchFamily="18" charset="0"/>
                  <a:sym typeface="Symbol" pitchFamily="18" charset="2"/>
                </a:rPr>
                <a:t>-</a:t>
              </a:r>
              <a:r>
                <a:rPr lang="en-US" altLang="zh-CN" sz="2000" b="1" i="1" dirty="0">
                  <a:ea typeface="+mn-ea"/>
                  <a:cs typeface="Times New Roman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+mn-ea"/>
                  <a:cs typeface="Times New Roman" pitchFamily="18" charset="0"/>
                  <a:sym typeface="Symbol" pitchFamily="18" charset="2"/>
                </a:rPr>
                <a:t>3</a:t>
              </a:r>
              <a:r>
                <a:rPr lang="en-US" altLang="zh-CN" sz="2000" b="1" dirty="0">
                  <a:ea typeface="+mn-ea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altLang="zh-CN" sz="2000" b="1" baseline="-25000" dirty="0">
                  <a:ea typeface="+mn-ea"/>
                  <a:cs typeface="Times New Roman" pitchFamily="18" charset="0"/>
                  <a:sym typeface="Symbol" pitchFamily="18" charset="2"/>
                </a:rPr>
                <a:t>r</a:t>
              </a:r>
              <a:endParaRPr lang="en-US" altLang="zh-CN" sz="2000" b="1" dirty="0">
                <a:ea typeface="+mn-ea"/>
                <a:cs typeface="Times New Roman" pitchFamily="18" charset="0"/>
                <a:sym typeface="Symbol" pitchFamily="18" charset="2"/>
              </a:endParaRPr>
            </a:p>
          </p:txBody>
        </p:sp>
      </p:grpSp>
      <p:sp>
        <p:nvSpPr>
          <p:cNvPr id="26" name="Rectangle 2"/>
          <p:cNvSpPr>
            <a:spLocks noRot="1" noChangeArrowheads="1"/>
          </p:cNvSpPr>
          <p:nvPr/>
        </p:nvSpPr>
        <p:spPr bwMode="auto">
          <a:xfrm>
            <a:off x="2382838" y="5848135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三轴剪切试验</a:t>
            </a:r>
            <a:endParaRPr lang="zh-CN" altLang="en-US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450327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522288" y="1465283"/>
            <a:ext cx="3032125" cy="3351213"/>
            <a:chOff x="329" y="423"/>
            <a:chExt cx="1910" cy="2111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329" y="488"/>
              <a:ext cx="1509" cy="1832"/>
            </a:xfrm>
            <a:custGeom>
              <a:avLst/>
              <a:gdLst>
                <a:gd name="T0" fmla="*/ 0 w 1776"/>
                <a:gd name="T1" fmla="*/ 0 h 1910"/>
                <a:gd name="T2" fmla="*/ 0 w 1776"/>
                <a:gd name="T3" fmla="*/ 1910 h 1910"/>
                <a:gd name="T4" fmla="*/ 1776 w 1776"/>
                <a:gd name="T5" fmla="*/ 1910 h 1910"/>
                <a:gd name="T6" fmla="*/ 0 60000 65536"/>
                <a:gd name="T7" fmla="*/ 0 60000 65536"/>
                <a:gd name="T8" fmla="*/ 0 60000 65536"/>
                <a:gd name="T9" fmla="*/ 0 w 1776"/>
                <a:gd name="T10" fmla="*/ 0 h 1910"/>
                <a:gd name="T11" fmla="*/ 1776 w 1776"/>
                <a:gd name="T12" fmla="*/ 1910 h 19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6" h="1910">
                  <a:moveTo>
                    <a:pt x="0" y="0"/>
                  </a:moveTo>
                  <a:lnTo>
                    <a:pt x="0" y="1910"/>
                  </a:lnTo>
                  <a:lnTo>
                    <a:pt x="1776" y="19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331" y="1070"/>
              <a:ext cx="1386" cy="1248"/>
            </a:xfrm>
            <a:custGeom>
              <a:avLst/>
              <a:gdLst>
                <a:gd name="T0" fmla="*/ 0 w 1632"/>
                <a:gd name="T1" fmla="*/ 1473 h 1473"/>
                <a:gd name="T2" fmla="*/ 106 w 1632"/>
                <a:gd name="T3" fmla="*/ 1129 h 1473"/>
                <a:gd name="T4" fmla="*/ 278 w 1632"/>
                <a:gd name="T5" fmla="*/ 689 h 1473"/>
                <a:gd name="T6" fmla="*/ 468 w 1632"/>
                <a:gd name="T7" fmla="*/ 392 h 1473"/>
                <a:gd name="T8" fmla="*/ 807 w 1632"/>
                <a:gd name="T9" fmla="*/ 144 h 1473"/>
                <a:gd name="T10" fmla="*/ 1200 w 1632"/>
                <a:gd name="T11" fmla="*/ 43 h 1473"/>
                <a:gd name="T12" fmla="*/ 1632 w 1632"/>
                <a:gd name="T13" fmla="*/ 0 h 14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2"/>
                <a:gd name="T22" fmla="*/ 0 h 1473"/>
                <a:gd name="T23" fmla="*/ 1632 w 1632"/>
                <a:gd name="T24" fmla="*/ 1473 h 14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2" h="1473">
                  <a:moveTo>
                    <a:pt x="0" y="1473"/>
                  </a:moveTo>
                  <a:cubicBezTo>
                    <a:pt x="28" y="1365"/>
                    <a:pt x="60" y="1259"/>
                    <a:pt x="106" y="1129"/>
                  </a:cubicBezTo>
                  <a:cubicBezTo>
                    <a:pt x="152" y="999"/>
                    <a:pt x="218" y="812"/>
                    <a:pt x="278" y="689"/>
                  </a:cubicBezTo>
                  <a:cubicBezTo>
                    <a:pt x="339" y="566"/>
                    <a:pt x="380" y="483"/>
                    <a:pt x="468" y="392"/>
                  </a:cubicBezTo>
                  <a:cubicBezTo>
                    <a:pt x="556" y="301"/>
                    <a:pt x="685" y="202"/>
                    <a:pt x="807" y="144"/>
                  </a:cubicBezTo>
                  <a:cubicBezTo>
                    <a:pt x="929" y="86"/>
                    <a:pt x="1063" y="67"/>
                    <a:pt x="1200" y="43"/>
                  </a:cubicBezTo>
                  <a:cubicBezTo>
                    <a:pt x="1337" y="19"/>
                    <a:pt x="1542" y="9"/>
                    <a:pt x="1632" y="0"/>
                  </a:cubicBez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366" y="423"/>
              <a:ext cx="497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2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2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</a:t>
              </a:r>
              <a:r>
                <a:rPr lang="en-US" altLang="zh-CN" sz="22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2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2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1644" y="2268"/>
              <a:ext cx="24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</a:t>
              </a:r>
              <a:r>
                <a:rPr lang="en-US" altLang="zh-CN" sz="22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2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331" y="1540"/>
              <a:ext cx="1340" cy="778"/>
            </a:xfrm>
            <a:custGeom>
              <a:avLst/>
              <a:gdLst>
                <a:gd name="T0" fmla="*/ 0 w 1577"/>
                <a:gd name="T1" fmla="*/ 864 h 864"/>
                <a:gd name="T2" fmla="*/ 106 w 1577"/>
                <a:gd name="T3" fmla="*/ 648 h 864"/>
                <a:gd name="T4" fmla="*/ 278 w 1577"/>
                <a:gd name="T5" fmla="*/ 371 h 864"/>
                <a:gd name="T6" fmla="*/ 505 w 1577"/>
                <a:gd name="T7" fmla="*/ 154 h 864"/>
                <a:gd name="T8" fmla="*/ 807 w 1577"/>
                <a:gd name="T9" fmla="*/ 29 h 864"/>
                <a:gd name="T10" fmla="*/ 1173 w 1577"/>
                <a:gd name="T11" fmla="*/ 4 h 864"/>
                <a:gd name="T12" fmla="*/ 1577 w 1577"/>
                <a:gd name="T13" fmla="*/ 52 h 8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77"/>
                <a:gd name="T22" fmla="*/ 0 h 864"/>
                <a:gd name="T23" fmla="*/ 1577 w 1577"/>
                <a:gd name="T24" fmla="*/ 864 h 8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77" h="864">
                  <a:moveTo>
                    <a:pt x="0" y="864"/>
                  </a:moveTo>
                  <a:cubicBezTo>
                    <a:pt x="28" y="796"/>
                    <a:pt x="60" y="729"/>
                    <a:pt x="106" y="648"/>
                  </a:cubicBezTo>
                  <a:cubicBezTo>
                    <a:pt x="152" y="566"/>
                    <a:pt x="212" y="453"/>
                    <a:pt x="278" y="371"/>
                  </a:cubicBezTo>
                  <a:cubicBezTo>
                    <a:pt x="344" y="289"/>
                    <a:pt x="417" y="211"/>
                    <a:pt x="505" y="154"/>
                  </a:cubicBezTo>
                  <a:cubicBezTo>
                    <a:pt x="593" y="97"/>
                    <a:pt x="696" y="54"/>
                    <a:pt x="807" y="29"/>
                  </a:cubicBezTo>
                  <a:cubicBezTo>
                    <a:pt x="918" y="4"/>
                    <a:pt x="1045" y="0"/>
                    <a:pt x="1173" y="4"/>
                  </a:cubicBezTo>
                  <a:cubicBezTo>
                    <a:pt x="1301" y="8"/>
                    <a:pt x="1493" y="42"/>
                    <a:pt x="1577" y="52"/>
                  </a:cubicBezTo>
                </a:path>
              </a:pathLst>
            </a:custGeom>
            <a:noFill/>
            <a:ln w="28575" cmpd="sng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331" y="681"/>
              <a:ext cx="1386" cy="1637"/>
            </a:xfrm>
            <a:custGeom>
              <a:avLst/>
              <a:gdLst>
                <a:gd name="T0" fmla="*/ 0 w 1632"/>
                <a:gd name="T1" fmla="*/ 1473 h 1473"/>
                <a:gd name="T2" fmla="*/ 106 w 1632"/>
                <a:gd name="T3" fmla="*/ 1129 h 1473"/>
                <a:gd name="T4" fmla="*/ 278 w 1632"/>
                <a:gd name="T5" fmla="*/ 689 h 1473"/>
                <a:gd name="T6" fmla="*/ 468 w 1632"/>
                <a:gd name="T7" fmla="*/ 392 h 1473"/>
                <a:gd name="T8" fmla="*/ 807 w 1632"/>
                <a:gd name="T9" fmla="*/ 144 h 1473"/>
                <a:gd name="T10" fmla="*/ 1200 w 1632"/>
                <a:gd name="T11" fmla="*/ 43 h 1473"/>
                <a:gd name="T12" fmla="*/ 1632 w 1632"/>
                <a:gd name="T13" fmla="*/ 0 h 14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32"/>
                <a:gd name="T22" fmla="*/ 0 h 1473"/>
                <a:gd name="T23" fmla="*/ 1632 w 1632"/>
                <a:gd name="T24" fmla="*/ 1473 h 14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32" h="1473">
                  <a:moveTo>
                    <a:pt x="0" y="1473"/>
                  </a:moveTo>
                  <a:cubicBezTo>
                    <a:pt x="28" y="1365"/>
                    <a:pt x="60" y="1259"/>
                    <a:pt x="106" y="1129"/>
                  </a:cubicBezTo>
                  <a:cubicBezTo>
                    <a:pt x="152" y="999"/>
                    <a:pt x="218" y="812"/>
                    <a:pt x="278" y="689"/>
                  </a:cubicBezTo>
                  <a:cubicBezTo>
                    <a:pt x="339" y="566"/>
                    <a:pt x="380" y="483"/>
                    <a:pt x="468" y="392"/>
                  </a:cubicBezTo>
                  <a:cubicBezTo>
                    <a:pt x="556" y="301"/>
                    <a:pt x="685" y="202"/>
                    <a:pt x="807" y="144"/>
                  </a:cubicBezTo>
                  <a:cubicBezTo>
                    <a:pt x="929" y="86"/>
                    <a:pt x="1063" y="67"/>
                    <a:pt x="1200" y="43"/>
                  </a:cubicBezTo>
                  <a:cubicBezTo>
                    <a:pt x="1337" y="19"/>
                    <a:pt x="1542" y="9"/>
                    <a:pt x="1632" y="0"/>
                  </a:cubicBezTo>
                </a:path>
              </a:pathLst>
            </a:custGeom>
            <a:noFill/>
            <a:ln w="28575" cmpd="sng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1427" y="1604"/>
              <a:ext cx="77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18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r>
                <a:rPr lang="en-US" altLang="zh-CN" sz="18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=100kPa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1433" y="1085"/>
              <a:ext cx="77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18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r>
                <a:rPr lang="en-US" altLang="zh-CN" sz="18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=300kPa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1462" y="683"/>
              <a:ext cx="77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18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r>
                <a:rPr lang="en-US" altLang="zh-CN" sz="18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=500kPa</a:t>
              </a:r>
            </a:p>
          </p:txBody>
        </p:sp>
      </p:grpSp>
      <p:sp>
        <p:nvSpPr>
          <p:cNvPr id="18" name="Freeform 16"/>
          <p:cNvSpPr>
            <a:spLocks/>
          </p:cNvSpPr>
          <p:nvPr/>
        </p:nvSpPr>
        <p:spPr bwMode="auto">
          <a:xfrm>
            <a:off x="4437064" y="3290281"/>
            <a:ext cx="4229103" cy="1463675"/>
          </a:xfrm>
          <a:custGeom>
            <a:avLst/>
            <a:gdLst>
              <a:gd name="T0" fmla="*/ 0 w 1836"/>
              <a:gd name="T1" fmla="*/ 700 h 700"/>
              <a:gd name="T2" fmla="*/ 1836 w 1836"/>
              <a:gd name="T3" fmla="*/ 0 h 700"/>
              <a:gd name="T4" fmla="*/ 0 60000 65536"/>
              <a:gd name="T5" fmla="*/ 0 60000 65536"/>
              <a:gd name="T6" fmla="*/ 0 w 1836"/>
              <a:gd name="T7" fmla="*/ 0 h 700"/>
              <a:gd name="T8" fmla="*/ 1836 w 1836"/>
              <a:gd name="T9" fmla="*/ 700 h 7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36" h="700">
                <a:moveTo>
                  <a:pt x="0" y="700"/>
                </a:moveTo>
                <a:lnTo>
                  <a:pt x="1836" y="0"/>
                </a:lnTo>
              </a:path>
            </a:pathLst>
          </a:custGeom>
          <a:noFill/>
          <a:ln w="254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102101" y="2877531"/>
            <a:ext cx="4484691" cy="2678112"/>
            <a:chOff x="4102101" y="3198813"/>
            <a:chExt cx="4484691" cy="2678112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V="1">
              <a:off x="4433889" y="3443288"/>
              <a:ext cx="0" cy="24336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8201029" y="5400675"/>
              <a:ext cx="3857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4460876" y="3198813"/>
              <a:ext cx="3857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4102101" y="5413375"/>
              <a:ext cx="38576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4173539" y="5446713"/>
              <a:ext cx="43338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851402" y="3653818"/>
            <a:ext cx="3459165" cy="1470025"/>
            <a:chOff x="4851402" y="3975100"/>
            <a:chExt cx="3459165" cy="1470025"/>
          </a:xfrm>
        </p:grpSpPr>
        <p:sp>
          <p:nvSpPr>
            <p:cNvPr id="24" name="Arc 22"/>
            <p:cNvSpPr>
              <a:spLocks/>
            </p:cNvSpPr>
            <p:nvPr/>
          </p:nvSpPr>
          <p:spPr bwMode="auto">
            <a:xfrm flipH="1" flipV="1">
              <a:off x="4851402" y="4759325"/>
              <a:ext cx="1335088" cy="682625"/>
            </a:xfrm>
            <a:custGeom>
              <a:avLst/>
              <a:gdLst>
                <a:gd name="T0" fmla="*/ 841 w 43200"/>
                <a:gd name="T1" fmla="*/ 2 h 22107"/>
                <a:gd name="T2" fmla="*/ 0 w 43200"/>
                <a:gd name="T3" fmla="*/ 0 h 22107"/>
                <a:gd name="T4" fmla="*/ 421 w 43200"/>
                <a:gd name="T5" fmla="*/ 10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rc 24"/>
            <p:cNvSpPr>
              <a:spLocks/>
            </p:cNvSpPr>
            <p:nvPr/>
          </p:nvSpPr>
          <p:spPr bwMode="auto">
            <a:xfrm flipH="1" flipV="1">
              <a:off x="6477003" y="3975100"/>
              <a:ext cx="1833564" cy="1470025"/>
            </a:xfrm>
            <a:custGeom>
              <a:avLst/>
              <a:gdLst>
                <a:gd name="T0" fmla="*/ 1155 w 27466"/>
                <a:gd name="T1" fmla="*/ 0 h 22026"/>
                <a:gd name="T2" fmla="*/ 0 w 27466"/>
                <a:gd name="T3" fmla="*/ 892 h 22026"/>
                <a:gd name="T4" fmla="*/ 247 w 27466"/>
                <a:gd name="T5" fmla="*/ 18 h 22026"/>
                <a:gd name="T6" fmla="*/ 0 60000 65536"/>
                <a:gd name="T7" fmla="*/ 0 60000 65536"/>
                <a:gd name="T8" fmla="*/ 0 60000 65536"/>
                <a:gd name="T9" fmla="*/ 0 w 27466"/>
                <a:gd name="T10" fmla="*/ 0 h 22026"/>
                <a:gd name="T11" fmla="*/ 27466 w 27466"/>
                <a:gd name="T12" fmla="*/ 22026 h 220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66" h="22026" fill="none" extrusionOk="0">
                  <a:moveTo>
                    <a:pt x="27461" y="0"/>
                  </a:moveTo>
                  <a:cubicBezTo>
                    <a:pt x="27464" y="141"/>
                    <a:pt x="27466" y="283"/>
                    <a:pt x="27466" y="426"/>
                  </a:cubicBezTo>
                  <a:cubicBezTo>
                    <a:pt x="27466" y="12355"/>
                    <a:pt x="17795" y="22026"/>
                    <a:pt x="5866" y="22026"/>
                  </a:cubicBezTo>
                  <a:cubicBezTo>
                    <a:pt x="3882" y="22026"/>
                    <a:pt x="1908" y="21752"/>
                    <a:pt x="-1" y="21214"/>
                  </a:cubicBezTo>
                </a:path>
                <a:path w="27466" h="22026" stroke="0" extrusionOk="0">
                  <a:moveTo>
                    <a:pt x="27461" y="0"/>
                  </a:moveTo>
                  <a:cubicBezTo>
                    <a:pt x="27464" y="141"/>
                    <a:pt x="27466" y="283"/>
                    <a:pt x="27466" y="426"/>
                  </a:cubicBezTo>
                  <a:cubicBezTo>
                    <a:pt x="27466" y="12355"/>
                    <a:pt x="17795" y="22026"/>
                    <a:pt x="5866" y="22026"/>
                  </a:cubicBezTo>
                  <a:cubicBezTo>
                    <a:pt x="3882" y="22026"/>
                    <a:pt x="1908" y="21752"/>
                    <a:pt x="-1" y="21214"/>
                  </a:cubicBezTo>
                  <a:lnTo>
                    <a:pt x="5866" y="426"/>
                  </a:lnTo>
                  <a:close/>
                </a:path>
              </a:pathLst>
            </a:cu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336951" y="4033231"/>
            <a:ext cx="2738665" cy="1471219"/>
            <a:chOff x="5336951" y="4354513"/>
            <a:chExt cx="2738665" cy="1471219"/>
          </a:xfrm>
        </p:grpSpPr>
        <p:sp>
          <p:nvSpPr>
            <p:cNvPr id="23" name="Arc 21"/>
            <p:cNvSpPr>
              <a:spLocks/>
            </p:cNvSpPr>
            <p:nvPr/>
          </p:nvSpPr>
          <p:spPr bwMode="auto">
            <a:xfrm flipH="1" flipV="1">
              <a:off x="5659440" y="4354513"/>
              <a:ext cx="2147889" cy="1098550"/>
            </a:xfrm>
            <a:custGeom>
              <a:avLst/>
              <a:gdLst>
                <a:gd name="T0" fmla="*/ 1353 w 43200"/>
                <a:gd name="T1" fmla="*/ 3 h 22107"/>
                <a:gd name="T2" fmla="*/ 0 w 43200"/>
                <a:gd name="T3" fmla="*/ 0 h 22107"/>
                <a:gd name="T4" fmla="*/ 677 w 43200"/>
                <a:gd name="T5" fmla="*/ 16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5336951" y="5411788"/>
              <a:ext cx="2738665" cy="413944"/>
              <a:chOff x="5336951" y="5411788"/>
              <a:chExt cx="2738665" cy="413944"/>
            </a:xfrm>
          </p:grpSpPr>
          <p:sp>
            <p:nvSpPr>
              <p:cNvPr id="27" name="Text Box 25"/>
              <p:cNvSpPr txBox="1">
                <a:spLocks noChangeArrowheads="1"/>
              </p:cNvSpPr>
              <p:nvPr/>
            </p:nvSpPr>
            <p:spPr bwMode="auto">
              <a:xfrm>
                <a:off x="5336951" y="5425622"/>
                <a:ext cx="138371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solidFill>
                      <a:schemeClr val="folHlink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 smtClean="0">
                    <a:solidFill>
                      <a:schemeClr val="folHlink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r>
                  <a:rPr lang="en-US" altLang="zh-CN" sz="2000" b="1" dirty="0" smtClean="0">
                    <a:solidFill>
                      <a:schemeClr val="folHlink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=300kPa</a:t>
                </a:r>
                <a:endParaRPr lang="en-US" altLang="zh-CN" sz="2000" b="1" dirty="0">
                  <a:solidFill>
                    <a:schemeClr val="folHlink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28" name="Text Box 26"/>
              <p:cNvSpPr txBox="1">
                <a:spLocks noChangeArrowheads="1"/>
              </p:cNvSpPr>
              <p:nvPr/>
            </p:nvSpPr>
            <p:spPr bwMode="auto">
              <a:xfrm>
                <a:off x="7593016" y="5411788"/>
                <a:ext cx="482600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solidFill>
                      <a:schemeClr val="folHlink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solidFill>
                      <a:schemeClr val="folHlink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1f</a:t>
                </a:r>
                <a:endParaRPr lang="en-US" altLang="zh-CN" sz="2000" b="1" dirty="0">
                  <a:solidFill>
                    <a:schemeClr val="folHlink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5732465" y="3285518"/>
            <a:ext cx="1371601" cy="654050"/>
            <a:chOff x="5732465" y="3606800"/>
            <a:chExt cx="1371601" cy="654050"/>
          </a:xfrm>
        </p:grpSpPr>
        <p:sp>
          <p:nvSpPr>
            <p:cNvPr id="29" name="Rectangle 27"/>
            <p:cNvSpPr>
              <a:spLocks noRot="1" noChangeArrowheads="1"/>
            </p:cNvSpPr>
            <p:nvPr/>
          </p:nvSpPr>
          <p:spPr bwMode="auto">
            <a:xfrm>
              <a:off x="5732465" y="3606800"/>
              <a:ext cx="1371601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itchFamily="2" charset="2"/>
                <a:buNone/>
              </a:pPr>
              <a:r>
                <a:rPr lang="zh-CN" altLang="en-US" sz="2000" b="1" dirty="0">
                  <a:latin typeface="Arial" charset="0"/>
                  <a:ea typeface="幼圆" pitchFamily="49" charset="-122"/>
                </a:rPr>
                <a:t>强度包线</a:t>
              </a:r>
              <a:endParaRPr lang="zh-CN" altLang="en-US" sz="2000" b="1" dirty="0">
                <a:latin typeface="隶书" pitchFamily="49" charset="-122"/>
                <a:ea typeface="幼圆" pitchFamily="49" charset="-122"/>
              </a:endParaRP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H="1" flipV="1">
              <a:off x="6454778" y="3951288"/>
              <a:ext cx="292100" cy="309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978276" y="3160106"/>
            <a:ext cx="4849816" cy="1981199"/>
            <a:chOff x="3978276" y="3481388"/>
            <a:chExt cx="4849816" cy="1981199"/>
          </a:xfrm>
        </p:grpSpPr>
        <p:grpSp>
          <p:nvGrpSpPr>
            <p:cNvPr id="51" name="组合 50"/>
            <p:cNvGrpSpPr/>
            <p:nvPr/>
          </p:nvGrpSpPr>
          <p:grpSpPr>
            <a:xfrm>
              <a:off x="3978276" y="5000625"/>
              <a:ext cx="469900" cy="461962"/>
              <a:chOff x="3978276" y="5000625"/>
              <a:chExt cx="469900" cy="461962"/>
            </a:xfrm>
          </p:grpSpPr>
          <p:sp>
            <p:nvSpPr>
              <p:cNvPr id="31" name="Text Box 29"/>
              <p:cNvSpPr txBox="1">
                <a:spLocks noChangeArrowheads="1"/>
              </p:cNvSpPr>
              <p:nvPr/>
            </p:nvSpPr>
            <p:spPr bwMode="auto">
              <a:xfrm>
                <a:off x="3978276" y="5000625"/>
                <a:ext cx="385763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A50021"/>
                    </a:solidFill>
                    <a:cs typeface="Times New Roman" panose="02020603050405020304" pitchFamily="18" charset="0"/>
                    <a:sym typeface="Symbol" pitchFamily="18" charset="2"/>
                  </a:rPr>
                  <a:t>c</a:t>
                </a:r>
              </a:p>
            </p:txBody>
          </p:sp>
          <p:sp>
            <p:nvSpPr>
              <p:cNvPr id="32" name="Line 30"/>
              <p:cNvSpPr>
                <a:spLocks noChangeShapeType="1"/>
              </p:cNvSpPr>
              <p:nvPr/>
            </p:nvSpPr>
            <p:spPr bwMode="auto">
              <a:xfrm>
                <a:off x="4313239" y="5089525"/>
                <a:ext cx="0" cy="355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Line 31"/>
              <p:cNvSpPr>
                <a:spLocks noChangeShapeType="1"/>
              </p:cNvSpPr>
              <p:nvPr/>
            </p:nvSpPr>
            <p:spPr bwMode="auto">
              <a:xfrm>
                <a:off x="4222751" y="5081588"/>
                <a:ext cx="225425" cy="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7912104" y="3481388"/>
              <a:ext cx="915988" cy="461962"/>
              <a:chOff x="7912104" y="3481388"/>
              <a:chExt cx="915988" cy="461962"/>
            </a:xfrm>
          </p:grpSpPr>
          <p:sp>
            <p:nvSpPr>
              <p:cNvPr id="34" name="Line 32"/>
              <p:cNvSpPr>
                <a:spLocks noChangeShapeType="1"/>
              </p:cNvSpPr>
              <p:nvPr/>
            </p:nvSpPr>
            <p:spPr bwMode="auto">
              <a:xfrm>
                <a:off x="7912104" y="3883025"/>
                <a:ext cx="76200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Text Box 33"/>
              <p:cNvSpPr txBox="1">
                <a:spLocks noChangeArrowheads="1"/>
              </p:cNvSpPr>
              <p:nvPr/>
            </p:nvSpPr>
            <p:spPr bwMode="auto">
              <a:xfrm>
                <a:off x="8442329" y="3481388"/>
                <a:ext cx="385763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i="1" dirty="0" smtClean="0">
                    <a:solidFill>
                      <a:srgbClr val="A50021"/>
                    </a:solidFill>
                    <a:cs typeface="Arial" charset="0"/>
                    <a:sym typeface="Symbol"/>
                  </a:rPr>
                  <a:t></a:t>
                </a:r>
                <a:endParaRPr lang="zh-CN" altLang="en-US" sz="2400" b="1" i="1" dirty="0">
                  <a:solidFill>
                    <a:srgbClr val="A50021"/>
                  </a:solidFill>
                  <a:cs typeface="Arial" charset="0"/>
                  <a:sym typeface="Symbol" pitchFamily="18" charset="2"/>
                </a:endParaRPr>
              </a:p>
            </p:txBody>
          </p:sp>
          <p:sp>
            <p:nvSpPr>
              <p:cNvPr id="36" name="Freeform 34"/>
              <p:cNvSpPr>
                <a:spLocks/>
              </p:cNvSpPr>
              <p:nvPr/>
            </p:nvSpPr>
            <p:spPr bwMode="auto">
              <a:xfrm>
                <a:off x="8331204" y="3732213"/>
                <a:ext cx="65088" cy="149225"/>
              </a:xfrm>
              <a:custGeom>
                <a:avLst/>
                <a:gdLst>
                  <a:gd name="T0" fmla="*/ 0 w 41"/>
                  <a:gd name="T1" fmla="*/ 0 h 94"/>
                  <a:gd name="T2" fmla="*/ 31 w 41"/>
                  <a:gd name="T3" fmla="*/ 41 h 94"/>
                  <a:gd name="T4" fmla="*/ 41 w 41"/>
                  <a:gd name="T5" fmla="*/ 94 h 94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94"/>
                  <a:gd name="T11" fmla="*/ 41 w 41"/>
                  <a:gd name="T12" fmla="*/ 94 h 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94">
                    <a:moveTo>
                      <a:pt x="0" y="0"/>
                    </a:moveTo>
                    <a:cubicBezTo>
                      <a:pt x="12" y="12"/>
                      <a:pt x="24" y="25"/>
                      <a:pt x="31" y="41"/>
                    </a:cubicBezTo>
                    <a:cubicBezTo>
                      <a:pt x="38" y="57"/>
                      <a:pt x="39" y="75"/>
                      <a:pt x="41" y="94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1960563" y="3203595"/>
            <a:ext cx="66675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9" name="Group 37"/>
          <p:cNvGrpSpPr>
            <a:grpSpLocks/>
          </p:cNvGrpSpPr>
          <p:nvPr/>
        </p:nvGrpSpPr>
        <p:grpSpPr bwMode="auto">
          <a:xfrm>
            <a:off x="2070100" y="1884383"/>
            <a:ext cx="571500" cy="2940050"/>
            <a:chOff x="1304" y="687"/>
            <a:chExt cx="360" cy="1852"/>
          </a:xfrm>
        </p:grpSpPr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1304" y="2333"/>
              <a:ext cx="360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>
                  <a:ea typeface="幼圆" pitchFamily="49" charset="-122"/>
                </a:rPr>
                <a:t>15%</a:t>
              </a:r>
            </a:p>
          </p:txBody>
        </p:sp>
        <p:grpSp>
          <p:nvGrpSpPr>
            <p:cNvPr id="41" name="Group 39"/>
            <p:cNvGrpSpPr>
              <a:grpSpLocks/>
            </p:cNvGrpSpPr>
            <p:nvPr/>
          </p:nvGrpSpPr>
          <p:grpSpPr bwMode="auto">
            <a:xfrm>
              <a:off x="1445" y="687"/>
              <a:ext cx="46" cy="1632"/>
              <a:chOff x="1445" y="687"/>
              <a:chExt cx="46" cy="1632"/>
            </a:xfrm>
          </p:grpSpPr>
          <p:sp>
            <p:nvSpPr>
              <p:cNvPr id="42" name="Line 40"/>
              <p:cNvSpPr>
                <a:spLocks noChangeShapeType="1"/>
              </p:cNvSpPr>
              <p:nvPr/>
            </p:nvSpPr>
            <p:spPr bwMode="auto">
              <a:xfrm flipV="1">
                <a:off x="1467" y="728"/>
                <a:ext cx="0" cy="15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Oval 41"/>
              <p:cNvSpPr>
                <a:spLocks noChangeArrowheads="1"/>
              </p:cNvSpPr>
              <p:nvPr/>
            </p:nvSpPr>
            <p:spPr bwMode="auto">
              <a:xfrm>
                <a:off x="1448" y="1069"/>
                <a:ext cx="43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Oval 42"/>
              <p:cNvSpPr>
                <a:spLocks noChangeArrowheads="1"/>
              </p:cNvSpPr>
              <p:nvPr/>
            </p:nvSpPr>
            <p:spPr bwMode="auto">
              <a:xfrm>
                <a:off x="1445" y="687"/>
                <a:ext cx="43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5" name="Group 43"/>
          <p:cNvGrpSpPr>
            <a:grpSpLocks/>
          </p:cNvGrpSpPr>
          <p:nvPr/>
        </p:nvGrpSpPr>
        <p:grpSpPr bwMode="auto">
          <a:xfrm>
            <a:off x="520700" y="2106633"/>
            <a:ext cx="1766888" cy="425450"/>
            <a:chOff x="328" y="827"/>
            <a:chExt cx="1113" cy="268"/>
          </a:xfrm>
        </p:grpSpPr>
        <p:sp>
          <p:nvSpPr>
            <p:cNvPr id="46" name="Line 44"/>
            <p:cNvSpPr>
              <a:spLocks noChangeShapeType="1"/>
            </p:cNvSpPr>
            <p:nvPr/>
          </p:nvSpPr>
          <p:spPr bwMode="auto">
            <a:xfrm flipH="1">
              <a:off x="328" y="1095"/>
              <a:ext cx="1113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45"/>
            <p:cNvSpPr txBox="1">
              <a:spLocks noChangeArrowheads="1"/>
            </p:cNvSpPr>
            <p:nvPr/>
          </p:nvSpPr>
          <p:spPr bwMode="auto">
            <a:xfrm>
              <a:off x="763" y="827"/>
              <a:ext cx="65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>
                  <a:solidFill>
                    <a:schemeClr val="folHlink"/>
                  </a:solidFill>
                  <a:ea typeface="幼圆" pitchFamily="49" charset="-122"/>
                  <a:sym typeface="Symbol" pitchFamily="18" charset="2"/>
                </a:rPr>
                <a:t>(</a:t>
              </a:r>
              <a:r>
                <a:rPr lang="en-US" altLang="zh-CN" sz="2200" b="1" i="1" dirty="0">
                  <a:solidFill>
                    <a:schemeClr val="folHlink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-25000" dirty="0">
                  <a:solidFill>
                    <a:schemeClr val="folHlink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200" b="1" dirty="0">
                  <a:solidFill>
                    <a:schemeClr val="folHlink"/>
                  </a:solidFill>
                  <a:ea typeface="幼圆" pitchFamily="49" charset="-122"/>
                  <a:sym typeface="Symbol" pitchFamily="18" charset="2"/>
                </a:rPr>
                <a:t>-</a:t>
              </a:r>
              <a:r>
                <a:rPr lang="en-US" altLang="zh-CN" sz="2200" b="1" i="1" dirty="0">
                  <a:solidFill>
                    <a:schemeClr val="folHlink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-25000" dirty="0">
                  <a:solidFill>
                    <a:schemeClr val="folHlink"/>
                  </a:solidFill>
                  <a:ea typeface="幼圆" pitchFamily="49" charset="-122"/>
                  <a:sym typeface="Symbol" pitchFamily="18" charset="2"/>
                </a:rPr>
                <a:t>3</a:t>
              </a:r>
              <a:r>
                <a:rPr lang="en-US" altLang="zh-CN" sz="2200" b="1" dirty="0">
                  <a:solidFill>
                    <a:schemeClr val="folHlink"/>
                  </a:solidFill>
                  <a:ea typeface="幼圆" pitchFamily="49" charset="-122"/>
                  <a:sym typeface="Symbol" pitchFamily="18" charset="2"/>
                </a:rPr>
                <a:t>)</a:t>
              </a:r>
              <a:r>
                <a:rPr lang="en-US" altLang="zh-CN" sz="2200" b="1" baseline="-25000" dirty="0">
                  <a:solidFill>
                    <a:schemeClr val="folHlink"/>
                  </a:solidFill>
                  <a:ea typeface="幼圆" pitchFamily="49" charset="-122"/>
                  <a:sym typeface="Symbol" pitchFamily="18" charset="2"/>
                </a:rPr>
                <a:t>f</a:t>
              </a:r>
              <a:endParaRPr lang="en-US" altLang="zh-CN" sz="2200" b="1" dirty="0">
                <a:solidFill>
                  <a:schemeClr val="folHlink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419100" y="626009"/>
            <a:ext cx="370658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土的强度包线</a:t>
            </a:r>
          </a:p>
        </p:txBody>
      </p:sp>
      <p:sp>
        <p:nvSpPr>
          <p:cNvPr id="50" name="Text Box 21"/>
          <p:cNvSpPr txBox="1">
            <a:spLocks noChangeArrowheads="1"/>
          </p:cNvSpPr>
          <p:nvPr/>
        </p:nvSpPr>
        <p:spPr bwMode="auto">
          <a:xfrm>
            <a:off x="4093482" y="997070"/>
            <a:ext cx="4930775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8775" indent="-358775" eaLnBrk="1" hangingPunct="1">
              <a:lnSpc>
                <a:spcPct val="120000"/>
              </a:lnSpc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进行不同围压力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的三轴试验</a:t>
            </a:r>
            <a:endParaRPr lang="en-US" altLang="zh-CN" sz="20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8775" indent="-358775" eaLnBrk="1" hangingPunct="1">
              <a:lnSpc>
                <a:spcPct val="120000"/>
              </a:lnSpc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确定每个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试验的破坏偏差应力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</a:p>
          <a:p>
            <a:pPr marL="358775" indent="-358775" eaLnBrk="1" hangingPunct="1">
              <a:lnSpc>
                <a:spcPct val="120000"/>
              </a:lnSpc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绘制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每个</a:t>
            </a:r>
            <a:r>
              <a:rPr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 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试验的极限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状态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莫尔圆</a:t>
            </a:r>
            <a:endParaRPr lang="en-US" altLang="zh-CN" sz="20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8775" indent="-358775" eaLnBrk="1" hangingPunct="1">
              <a:lnSpc>
                <a:spcPct val="120000"/>
              </a:lnSpc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做这些莫尔圆的公切线即为强度包线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" name="Rectangle 2"/>
          <p:cNvSpPr>
            <a:spLocks noRot="1" noChangeArrowheads="1"/>
          </p:cNvSpPr>
          <p:nvPr/>
        </p:nvSpPr>
        <p:spPr bwMode="auto">
          <a:xfrm>
            <a:off x="2382838" y="5848135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三轴剪切试验</a:t>
            </a:r>
            <a:endParaRPr lang="zh-CN" altLang="en-US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493193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8" grpId="0" animBg="1"/>
      <p:bldP spid="50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440823" y="3972156"/>
            <a:ext cx="584320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985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设备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操作复杂</a:t>
            </a:r>
          </a:p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无法进行现场试验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常规三轴试验不能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反映</a:t>
            </a:r>
            <a:r>
              <a:rPr kumimoji="1" lang="zh-CN" altLang="en-US" sz="2400" b="1" i="1" dirty="0" smtClean="0">
                <a:solidFill>
                  <a:srgbClr val="000066"/>
                </a:solidFill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2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影响</a:t>
            </a:r>
          </a:p>
        </p:txBody>
      </p:sp>
      <p:sp>
        <p:nvSpPr>
          <p:cNvPr id="16" name="Text Box 38"/>
          <p:cNvSpPr txBox="1">
            <a:spLocks noChangeArrowheads="1"/>
          </p:cNvSpPr>
          <p:nvPr/>
        </p:nvSpPr>
        <p:spPr bwMode="auto">
          <a:xfrm>
            <a:off x="419100" y="691913"/>
            <a:ext cx="4272643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常规三轴</a:t>
            </a:r>
            <a:r>
              <a:rPr lang="zh-CN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试验的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优缺点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789016" y="1469275"/>
            <a:ext cx="15714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66"/>
                </a:solidFill>
                <a:ea typeface="黑体" pitchFamily="2" charset="-122"/>
              </a:rPr>
              <a:t>优点：</a:t>
            </a:r>
            <a:endParaRPr lang="zh-CN" altLang="en-US" sz="28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792637" y="3991136"/>
            <a:ext cx="1620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66"/>
                </a:solidFill>
                <a:ea typeface="黑体" pitchFamily="2" charset="-122"/>
              </a:rPr>
              <a:t>缺点：</a:t>
            </a:r>
            <a:endParaRPr lang="zh-CN" altLang="en-US" sz="28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2462597" y="1380181"/>
            <a:ext cx="6420146" cy="250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985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完整反映了试样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受力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变形到破坏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的全过程</a:t>
            </a:r>
          </a:p>
          <a:p>
            <a:pPr marL="361950" indent="-36195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单元体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试验，试样内应力和应变相对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均匀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361950" indent="-36195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破坏面非人为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固定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361950" indent="-36195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排水条件明确，可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量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测孔隙水压力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361950" indent="-361950" eaLnBrk="1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可模拟不同工况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，进行不同应力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路径试验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0" name="Rectangle 2"/>
          <p:cNvSpPr>
            <a:spLocks noRot="1" noChangeArrowheads="1"/>
          </p:cNvSpPr>
          <p:nvPr/>
        </p:nvSpPr>
        <p:spPr bwMode="auto">
          <a:xfrm>
            <a:off x="2382838" y="5848135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三轴剪切试验</a:t>
            </a:r>
            <a:endParaRPr lang="zh-CN" altLang="en-US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85183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2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400550" y="1669119"/>
            <a:ext cx="4219575" cy="368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41325" indent="-441325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十字板剪切仪一般适用于测定</a:t>
            </a:r>
            <a:r>
              <a:rPr lang="zh-CN" altLang="en-US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软黏土</a:t>
            </a: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的不排水强度</a:t>
            </a:r>
            <a:r>
              <a:rPr lang="zh-CN" altLang="en-US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指标</a:t>
            </a:r>
            <a:endParaRPr lang="en-US" altLang="zh-CN" sz="20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marL="441325" indent="-441325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由十字型板</a:t>
            </a: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头、加力装置和量测装置三部分所组成</a:t>
            </a:r>
          </a:p>
          <a:p>
            <a:pPr marL="441325" indent="-441325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试验通常在钻孔内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进行。先钻孔至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要求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测试深度以上约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</a:rPr>
              <a:t>75 cm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处</a:t>
            </a:r>
            <a:endParaRPr lang="en-US" altLang="zh-CN" sz="20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441325" indent="-441325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将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十字板头压入土中至测试的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深度。通过扭力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施加装置，旋转钻杆并带动十字板头扭转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0" y="3295134"/>
            <a:ext cx="4267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Wingdings" pitchFamily="2" charset="2"/>
              <a:buChar char="v"/>
            </a:pPr>
            <a:endParaRPr lang="zh-CN" altLang="en-US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十字板剪切试验</a:t>
            </a:r>
          </a:p>
        </p:txBody>
      </p:sp>
      <p:pic>
        <p:nvPicPr>
          <p:cNvPr id="1635330" name="Picture 2" descr="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115" y="1390134"/>
            <a:ext cx="2735596" cy="395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38"/>
          <p:cNvSpPr txBox="1">
            <a:spLocks noChangeArrowheads="1"/>
          </p:cNvSpPr>
          <p:nvPr/>
        </p:nvSpPr>
        <p:spPr bwMode="auto">
          <a:xfrm>
            <a:off x="419100" y="724865"/>
            <a:ext cx="4272643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十字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板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剪切仪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 flipV="1">
            <a:off x="1990725" y="4666734"/>
            <a:ext cx="476250" cy="104775"/>
          </a:xfrm>
          <a:prstGeom prst="straightConnector1">
            <a:avLst/>
          </a:prstGeom>
          <a:noFill/>
          <a:ln w="19050" cap="flat" cmpd="sng" algn="ctr">
            <a:solidFill>
              <a:srgbClr val="A5002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 Box 34"/>
          <p:cNvSpPr txBox="1">
            <a:spLocks noChangeArrowheads="1"/>
          </p:cNvSpPr>
          <p:nvPr/>
        </p:nvSpPr>
        <p:spPr bwMode="auto">
          <a:xfrm>
            <a:off x="2392363" y="5121553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C00000"/>
                </a:solidFill>
                <a:ea typeface="幼圆" pitchFamily="49" charset="-122"/>
              </a:rPr>
              <a:t>十字</a:t>
            </a:r>
            <a:r>
              <a:rPr kumimoji="1" lang="zh-CN" altLang="en-US" sz="2400" b="1" dirty="0" smtClean="0">
                <a:solidFill>
                  <a:srgbClr val="C00000"/>
                </a:solidFill>
                <a:ea typeface="幼圆" pitchFamily="49" charset="-122"/>
              </a:rPr>
              <a:t>板头</a:t>
            </a:r>
            <a:endParaRPr lang="zh-CN" altLang="en-US" sz="2600" b="1" dirty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0" name="Rectangle 2"/>
          <p:cNvSpPr>
            <a:spLocks noRot="1" noChangeArrowheads="1"/>
          </p:cNvSpPr>
          <p:nvPr/>
        </p:nvSpPr>
        <p:spPr bwMode="auto">
          <a:xfrm>
            <a:off x="2382838" y="5897563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十字板剪切试验</a:t>
            </a:r>
          </a:p>
        </p:txBody>
      </p:sp>
    </p:spTree>
    <p:extLst>
      <p:ext uri="{BB962C8B-B14F-4D97-AF65-F5344CB8AC3E}">
        <p14:creationId xmlns:p14="http://schemas.microsoft.com/office/powerpoint/2010/main" val="387080673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5"/>
          <p:cNvSpPr>
            <a:spLocks/>
          </p:cNvSpPr>
          <p:nvPr/>
        </p:nvSpPr>
        <p:spPr bwMode="auto">
          <a:xfrm>
            <a:off x="741362" y="4170363"/>
            <a:ext cx="1287463" cy="307975"/>
          </a:xfrm>
          <a:custGeom>
            <a:avLst/>
            <a:gdLst>
              <a:gd name="T0" fmla="*/ 0 w 811"/>
              <a:gd name="T1" fmla="*/ 194 h 194"/>
              <a:gd name="T2" fmla="*/ 129 w 811"/>
              <a:gd name="T3" fmla="*/ 50 h 194"/>
              <a:gd name="T4" fmla="*/ 388 w 811"/>
              <a:gd name="T5" fmla="*/ 2 h 194"/>
              <a:gd name="T6" fmla="*/ 715 w 811"/>
              <a:gd name="T7" fmla="*/ 60 h 194"/>
              <a:gd name="T8" fmla="*/ 811 w 811"/>
              <a:gd name="T9" fmla="*/ 175 h 1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1"/>
              <a:gd name="T16" fmla="*/ 0 h 194"/>
              <a:gd name="T17" fmla="*/ 811 w 811"/>
              <a:gd name="T18" fmla="*/ 194 h 1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1" h="194">
                <a:moveTo>
                  <a:pt x="0" y="194"/>
                </a:moveTo>
                <a:cubicBezTo>
                  <a:pt x="21" y="170"/>
                  <a:pt x="64" y="82"/>
                  <a:pt x="129" y="50"/>
                </a:cubicBezTo>
                <a:cubicBezTo>
                  <a:pt x="194" y="18"/>
                  <a:pt x="290" y="0"/>
                  <a:pt x="388" y="2"/>
                </a:cubicBezTo>
                <a:cubicBezTo>
                  <a:pt x="486" y="4"/>
                  <a:pt x="645" y="31"/>
                  <a:pt x="715" y="60"/>
                </a:cubicBezTo>
                <a:cubicBezTo>
                  <a:pt x="785" y="89"/>
                  <a:pt x="791" y="151"/>
                  <a:pt x="811" y="175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十字板剪切试验</a:t>
            </a: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34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697361"/>
              </p:ext>
            </p:extLst>
          </p:nvPr>
        </p:nvGraphicFramePr>
        <p:xfrm>
          <a:off x="4024313" y="3486706"/>
          <a:ext cx="474912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190" name="公式" r:id="rId4" imgW="2374560" imgH="419040" progId="Equation.3">
                  <p:embed/>
                </p:oleObj>
              </mc:Choice>
              <mc:Fallback>
                <p:oleObj name="公式" r:id="rId4" imgW="23745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313" y="3486706"/>
                        <a:ext cx="474912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5EE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186028"/>
              </p:ext>
            </p:extLst>
          </p:nvPr>
        </p:nvGraphicFramePr>
        <p:xfrm>
          <a:off x="4019550" y="1026081"/>
          <a:ext cx="4012560" cy="96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191" name="公式" r:id="rId6" imgW="2006280" imgH="482400" progId="Equation.3">
                  <p:embed/>
                </p:oleObj>
              </mc:Choice>
              <mc:Fallback>
                <p:oleObj name="公式" r:id="rId6" imgW="20062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550" y="1026081"/>
                        <a:ext cx="4012560" cy="96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5EE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925128"/>
              </p:ext>
            </p:extLst>
          </p:nvPr>
        </p:nvGraphicFramePr>
        <p:xfrm>
          <a:off x="4013200" y="1953181"/>
          <a:ext cx="243792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192" name="公式" r:id="rId8" imgW="1218960" imgH="393480" progId="Equation.3">
                  <p:embed/>
                </p:oleObj>
              </mc:Choice>
              <mc:Fallback>
                <p:oleObj name="公式" r:id="rId8" imgW="1218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1953181"/>
                        <a:ext cx="243792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5EE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3878263" y="2832656"/>
            <a:ext cx="4951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zh-CN" sz="2400" b="1" dirty="0">
                <a:solidFill>
                  <a:srgbClr val="000066"/>
                </a:solidFill>
                <a:ea typeface="幼圆" pitchFamily="49" charset="-122"/>
              </a:rPr>
              <a:t>假定土体为各向同性，</a:t>
            </a:r>
            <a:r>
              <a:rPr lang="zh-CN" altLang="en-US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8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fh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8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fv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</a:p>
        </p:txBody>
      </p:sp>
      <p:graphicFrame>
        <p:nvGraphicFramePr>
          <p:cNvPr id="38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773365"/>
              </p:ext>
            </p:extLst>
          </p:nvPr>
        </p:nvGraphicFramePr>
        <p:xfrm>
          <a:off x="5467350" y="4483656"/>
          <a:ext cx="2412720" cy="1193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193" name="公式" r:id="rId10" imgW="1206360" imgH="596880" progId="Equation.3">
                  <p:embed/>
                </p:oleObj>
              </mc:Choice>
              <mc:Fallback>
                <p:oleObj name="公式" r:id="rId10" imgW="1206360" imgH="596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350" y="4483656"/>
                        <a:ext cx="2412720" cy="1193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5EE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AutoShape 37"/>
          <p:cNvSpPr>
            <a:spLocks noChangeArrowheads="1"/>
          </p:cNvSpPr>
          <p:nvPr/>
        </p:nvSpPr>
        <p:spPr bwMode="auto">
          <a:xfrm>
            <a:off x="4700588" y="4636056"/>
            <a:ext cx="600075" cy="515937"/>
          </a:xfrm>
          <a:prstGeom prst="homePlate">
            <a:avLst>
              <a:gd name="adj" fmla="val 2907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41" name="Freeform 4"/>
          <p:cNvSpPr>
            <a:spLocks/>
          </p:cNvSpPr>
          <p:nvPr/>
        </p:nvSpPr>
        <p:spPr bwMode="auto">
          <a:xfrm>
            <a:off x="1403350" y="2352675"/>
            <a:ext cx="427037" cy="2103438"/>
          </a:xfrm>
          <a:custGeom>
            <a:avLst/>
            <a:gdLst>
              <a:gd name="T0" fmla="*/ 10 w 269"/>
              <a:gd name="T1" fmla="*/ 1325 h 1325"/>
              <a:gd name="T2" fmla="*/ 0 w 269"/>
              <a:gd name="T3" fmla="*/ 129 h 1325"/>
              <a:gd name="T4" fmla="*/ 269 w 269"/>
              <a:gd name="T5" fmla="*/ 0 h 1325"/>
              <a:gd name="T6" fmla="*/ 269 w 269"/>
              <a:gd name="T7" fmla="*/ 1195 h 1325"/>
              <a:gd name="T8" fmla="*/ 10 w 269"/>
              <a:gd name="T9" fmla="*/ 1325 h 13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9"/>
              <a:gd name="T16" fmla="*/ 0 h 1325"/>
              <a:gd name="T17" fmla="*/ 269 w 269"/>
              <a:gd name="T18" fmla="*/ 1325 h 13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9" h="1325">
                <a:moveTo>
                  <a:pt x="10" y="1325"/>
                </a:moveTo>
                <a:lnTo>
                  <a:pt x="0" y="129"/>
                </a:lnTo>
                <a:lnTo>
                  <a:pt x="269" y="0"/>
                </a:lnTo>
                <a:lnTo>
                  <a:pt x="269" y="1195"/>
                </a:lnTo>
                <a:lnTo>
                  <a:pt x="10" y="1325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3" name="Line 6"/>
          <p:cNvSpPr>
            <a:spLocks noChangeShapeType="1"/>
          </p:cNvSpPr>
          <p:nvPr/>
        </p:nvSpPr>
        <p:spPr bwMode="auto">
          <a:xfrm>
            <a:off x="2176462" y="2538413"/>
            <a:ext cx="481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2176462" y="4454525"/>
            <a:ext cx="493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5" name="Line 8"/>
          <p:cNvSpPr>
            <a:spLocks noChangeShapeType="1"/>
          </p:cNvSpPr>
          <p:nvPr/>
        </p:nvSpPr>
        <p:spPr bwMode="auto">
          <a:xfrm>
            <a:off x="2482850" y="2538413"/>
            <a:ext cx="0" cy="1916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6" name="Line 9"/>
          <p:cNvSpPr>
            <a:spLocks noChangeShapeType="1"/>
          </p:cNvSpPr>
          <p:nvPr/>
        </p:nvSpPr>
        <p:spPr bwMode="auto">
          <a:xfrm>
            <a:off x="752475" y="4822825"/>
            <a:ext cx="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7" name="Line 10"/>
          <p:cNvSpPr>
            <a:spLocks noChangeShapeType="1"/>
          </p:cNvSpPr>
          <p:nvPr/>
        </p:nvSpPr>
        <p:spPr bwMode="auto">
          <a:xfrm>
            <a:off x="2092325" y="4808538"/>
            <a:ext cx="0" cy="37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8" name="Line 11"/>
          <p:cNvSpPr>
            <a:spLocks noChangeShapeType="1"/>
          </p:cNvSpPr>
          <p:nvPr/>
        </p:nvSpPr>
        <p:spPr bwMode="auto">
          <a:xfrm>
            <a:off x="752475" y="5092700"/>
            <a:ext cx="1339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9" name="Freeform 12"/>
          <p:cNvSpPr>
            <a:spLocks/>
          </p:cNvSpPr>
          <p:nvPr/>
        </p:nvSpPr>
        <p:spPr bwMode="auto">
          <a:xfrm>
            <a:off x="992187" y="2344738"/>
            <a:ext cx="862013" cy="2301875"/>
          </a:xfrm>
          <a:custGeom>
            <a:avLst/>
            <a:gdLst>
              <a:gd name="T0" fmla="*/ 543 w 543"/>
              <a:gd name="T1" fmla="*/ 1450 h 1450"/>
              <a:gd name="T2" fmla="*/ 543 w 543"/>
              <a:gd name="T3" fmla="*/ 288 h 1450"/>
              <a:gd name="T4" fmla="*/ 0 w 543"/>
              <a:gd name="T5" fmla="*/ 0 h 1450"/>
              <a:gd name="T6" fmla="*/ 0 w 543"/>
              <a:gd name="T7" fmla="*/ 1181 h 1450"/>
              <a:gd name="T8" fmla="*/ 274 w 543"/>
              <a:gd name="T9" fmla="*/ 1320 h 1450"/>
              <a:gd name="T10" fmla="*/ 543 w 543"/>
              <a:gd name="T11" fmla="*/ 1450 h 14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43"/>
              <a:gd name="T19" fmla="*/ 0 h 1450"/>
              <a:gd name="T20" fmla="*/ 543 w 543"/>
              <a:gd name="T21" fmla="*/ 1450 h 14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43" h="1450">
                <a:moveTo>
                  <a:pt x="543" y="1450"/>
                </a:moveTo>
                <a:lnTo>
                  <a:pt x="543" y="288"/>
                </a:lnTo>
                <a:lnTo>
                  <a:pt x="0" y="0"/>
                </a:lnTo>
                <a:lnTo>
                  <a:pt x="0" y="1181"/>
                </a:lnTo>
                <a:lnTo>
                  <a:pt x="274" y="1320"/>
                </a:lnTo>
                <a:lnTo>
                  <a:pt x="543" y="1450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0" name="Freeform 13"/>
          <p:cNvSpPr>
            <a:spLocks/>
          </p:cNvSpPr>
          <p:nvPr/>
        </p:nvSpPr>
        <p:spPr bwMode="auto">
          <a:xfrm>
            <a:off x="901700" y="2554288"/>
            <a:ext cx="504825" cy="2106612"/>
          </a:xfrm>
          <a:custGeom>
            <a:avLst/>
            <a:gdLst>
              <a:gd name="T0" fmla="*/ 19 w 318"/>
              <a:gd name="T1" fmla="*/ 1327 h 1327"/>
              <a:gd name="T2" fmla="*/ 0 w 318"/>
              <a:gd name="T3" fmla="*/ 151 h 1327"/>
              <a:gd name="T4" fmla="*/ 318 w 318"/>
              <a:gd name="T5" fmla="*/ 0 h 1327"/>
              <a:gd name="T6" fmla="*/ 318 w 318"/>
              <a:gd name="T7" fmla="*/ 1195 h 1327"/>
              <a:gd name="T8" fmla="*/ 19 w 318"/>
              <a:gd name="T9" fmla="*/ 1327 h 13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8"/>
              <a:gd name="T16" fmla="*/ 0 h 1327"/>
              <a:gd name="T17" fmla="*/ 318 w 318"/>
              <a:gd name="T18" fmla="*/ 1327 h 13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8" h="1327">
                <a:moveTo>
                  <a:pt x="19" y="1327"/>
                </a:moveTo>
                <a:lnTo>
                  <a:pt x="0" y="151"/>
                </a:lnTo>
                <a:lnTo>
                  <a:pt x="318" y="0"/>
                </a:lnTo>
                <a:lnTo>
                  <a:pt x="318" y="1195"/>
                </a:lnTo>
                <a:lnTo>
                  <a:pt x="19" y="1327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1" name="AutoShape 14"/>
          <p:cNvSpPr>
            <a:spLocks noChangeArrowheads="1"/>
          </p:cNvSpPr>
          <p:nvPr/>
        </p:nvSpPr>
        <p:spPr bwMode="auto">
          <a:xfrm>
            <a:off x="752475" y="2279650"/>
            <a:ext cx="1282700" cy="2473325"/>
          </a:xfrm>
          <a:prstGeom prst="can">
            <a:avLst>
              <a:gd name="adj" fmla="val 48205"/>
            </a:avLst>
          </a:prstGeom>
          <a:solidFill>
            <a:srgbClr val="FF9933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6" name="Line 20"/>
          <p:cNvSpPr>
            <a:spLocks noChangeShapeType="1"/>
          </p:cNvSpPr>
          <p:nvPr/>
        </p:nvSpPr>
        <p:spPr bwMode="auto">
          <a:xfrm>
            <a:off x="1395412" y="1635125"/>
            <a:ext cx="6350" cy="898525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7" name="Line 21"/>
          <p:cNvSpPr>
            <a:spLocks noChangeShapeType="1"/>
          </p:cNvSpPr>
          <p:nvPr/>
        </p:nvSpPr>
        <p:spPr bwMode="auto">
          <a:xfrm flipH="1">
            <a:off x="923925" y="2336800"/>
            <a:ext cx="854075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8" name="Line 22"/>
          <p:cNvSpPr>
            <a:spLocks noChangeShapeType="1"/>
          </p:cNvSpPr>
          <p:nvPr/>
        </p:nvSpPr>
        <p:spPr bwMode="auto">
          <a:xfrm>
            <a:off x="1022350" y="2336800"/>
            <a:ext cx="854075" cy="466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9" name="Line 23"/>
          <p:cNvSpPr>
            <a:spLocks noChangeShapeType="1"/>
          </p:cNvSpPr>
          <p:nvPr/>
        </p:nvSpPr>
        <p:spPr bwMode="auto">
          <a:xfrm>
            <a:off x="915987" y="2794000"/>
            <a:ext cx="0" cy="1852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0" name="Line 24"/>
          <p:cNvSpPr>
            <a:spLocks noChangeShapeType="1"/>
          </p:cNvSpPr>
          <p:nvPr/>
        </p:nvSpPr>
        <p:spPr bwMode="auto">
          <a:xfrm>
            <a:off x="1868487" y="2801938"/>
            <a:ext cx="0" cy="1858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2" name="Text Box 26"/>
          <p:cNvSpPr txBox="1">
            <a:spLocks noChangeArrowheads="1"/>
          </p:cNvSpPr>
          <p:nvPr/>
        </p:nvSpPr>
        <p:spPr bwMode="auto">
          <a:xfrm>
            <a:off x="1011872" y="4854258"/>
            <a:ext cx="872355" cy="4178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000" b="1" i="1" dirty="0" smtClean="0">
                <a:ea typeface="+mn-ea"/>
                <a:cs typeface="Times New Roman" pitchFamily="18" charset="0"/>
                <a:sym typeface="Symbol" pitchFamily="18" charset="2"/>
              </a:rPr>
              <a:t>D </a:t>
            </a:r>
            <a:r>
              <a:rPr lang="en-US" altLang="zh-CN" sz="2000" b="1" dirty="0" smtClean="0">
                <a:ea typeface="+mn-ea"/>
                <a:cs typeface="Times New Roman" pitchFamily="18" charset="0"/>
                <a:sym typeface="Symbol" pitchFamily="18" charset="2"/>
              </a:rPr>
              <a:t>= 2</a:t>
            </a:r>
            <a:r>
              <a:rPr lang="en-US" altLang="zh-CN" sz="2000" b="1" i="1" dirty="0" smtClean="0">
                <a:ea typeface="+mn-ea"/>
                <a:cs typeface="Times New Roman" pitchFamily="18" charset="0"/>
                <a:sym typeface="Symbol" pitchFamily="18" charset="2"/>
              </a:rPr>
              <a:t>r</a:t>
            </a:r>
            <a:endParaRPr lang="zh-CN" altLang="en-US" sz="2000" b="1" i="1" baseline="-25000" dirty="0" smtClean="0"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3" name="Text Box 27"/>
          <p:cNvSpPr txBox="1">
            <a:spLocks noChangeArrowheads="1"/>
          </p:cNvSpPr>
          <p:nvPr/>
        </p:nvSpPr>
        <p:spPr bwMode="auto">
          <a:xfrm>
            <a:off x="2293937" y="3187700"/>
            <a:ext cx="427038" cy="4462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000" b="1" i="1" dirty="0" smtClean="0">
                <a:ea typeface="+mn-ea"/>
                <a:cs typeface="Times New Roman" pitchFamily="18" charset="0"/>
              </a:rPr>
              <a:t>H</a:t>
            </a:r>
          </a:p>
        </p:txBody>
      </p:sp>
      <p:sp>
        <p:nvSpPr>
          <p:cNvPr id="64" name="Freeform 28"/>
          <p:cNvSpPr>
            <a:spLocks/>
          </p:cNvSpPr>
          <p:nvPr/>
        </p:nvSpPr>
        <p:spPr bwMode="auto">
          <a:xfrm>
            <a:off x="1014412" y="1779588"/>
            <a:ext cx="754063" cy="252412"/>
          </a:xfrm>
          <a:custGeom>
            <a:avLst/>
            <a:gdLst>
              <a:gd name="T0" fmla="*/ 117 w 479"/>
              <a:gd name="T1" fmla="*/ 2 h 158"/>
              <a:gd name="T2" fmla="*/ 42 w 479"/>
              <a:gd name="T3" fmla="*/ 26 h 158"/>
              <a:gd name="T4" fmla="*/ 5 w 479"/>
              <a:gd name="T5" fmla="*/ 83 h 158"/>
              <a:gd name="T6" fmla="*/ 74 w 479"/>
              <a:gd name="T7" fmla="*/ 134 h 158"/>
              <a:gd name="T8" fmla="*/ 232 w 479"/>
              <a:gd name="T9" fmla="*/ 158 h 158"/>
              <a:gd name="T10" fmla="*/ 418 w 479"/>
              <a:gd name="T11" fmla="*/ 131 h 158"/>
              <a:gd name="T12" fmla="*/ 478 w 479"/>
              <a:gd name="T13" fmla="*/ 67 h 158"/>
              <a:gd name="T14" fmla="*/ 424 w 479"/>
              <a:gd name="T15" fmla="*/ 16 h 158"/>
              <a:gd name="T16" fmla="*/ 323 w 479"/>
              <a:gd name="T17" fmla="*/ 0 h 15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79"/>
              <a:gd name="T28" fmla="*/ 0 h 158"/>
              <a:gd name="T29" fmla="*/ 479 w 479"/>
              <a:gd name="T30" fmla="*/ 158 h 158"/>
              <a:gd name="connsiteX0" fmla="*/ 2356 w 9892"/>
              <a:gd name="connsiteY0" fmla="*/ 127 h 10000"/>
              <a:gd name="connsiteX1" fmla="*/ 790 w 9892"/>
              <a:gd name="connsiteY1" fmla="*/ 1456 h 10000"/>
              <a:gd name="connsiteX2" fmla="*/ 17 w 9892"/>
              <a:gd name="connsiteY2" fmla="*/ 5253 h 10000"/>
              <a:gd name="connsiteX3" fmla="*/ 1458 w 9892"/>
              <a:gd name="connsiteY3" fmla="*/ 8481 h 10000"/>
              <a:gd name="connsiteX4" fmla="*/ 4756 w 9892"/>
              <a:gd name="connsiteY4" fmla="*/ 10000 h 10000"/>
              <a:gd name="connsiteX5" fmla="*/ 8640 w 9892"/>
              <a:gd name="connsiteY5" fmla="*/ 8291 h 10000"/>
              <a:gd name="connsiteX6" fmla="*/ 9892 w 9892"/>
              <a:gd name="connsiteY6" fmla="*/ 4241 h 10000"/>
              <a:gd name="connsiteX7" fmla="*/ 8765 w 9892"/>
              <a:gd name="connsiteY7" fmla="*/ 1013 h 10000"/>
              <a:gd name="connsiteX8" fmla="*/ 6656 w 9892"/>
              <a:gd name="connsiteY8" fmla="*/ 0 h 10000"/>
              <a:gd name="connsiteX0" fmla="*/ 2095 w 9998"/>
              <a:gd name="connsiteY0" fmla="*/ 0 h 10063"/>
              <a:gd name="connsiteX1" fmla="*/ 797 w 9998"/>
              <a:gd name="connsiteY1" fmla="*/ 1519 h 10063"/>
              <a:gd name="connsiteX2" fmla="*/ 15 w 9998"/>
              <a:gd name="connsiteY2" fmla="*/ 5316 h 10063"/>
              <a:gd name="connsiteX3" fmla="*/ 1472 w 9998"/>
              <a:gd name="connsiteY3" fmla="*/ 8544 h 10063"/>
              <a:gd name="connsiteX4" fmla="*/ 4806 w 9998"/>
              <a:gd name="connsiteY4" fmla="*/ 10063 h 10063"/>
              <a:gd name="connsiteX5" fmla="*/ 8732 w 9998"/>
              <a:gd name="connsiteY5" fmla="*/ 8354 h 10063"/>
              <a:gd name="connsiteX6" fmla="*/ 9998 w 9998"/>
              <a:gd name="connsiteY6" fmla="*/ 4304 h 10063"/>
              <a:gd name="connsiteX7" fmla="*/ 8859 w 9998"/>
              <a:gd name="connsiteY7" fmla="*/ 1076 h 10063"/>
              <a:gd name="connsiteX8" fmla="*/ 6727 w 9998"/>
              <a:gd name="connsiteY8" fmla="*/ 63 h 10063"/>
              <a:gd name="connsiteX0" fmla="*/ 2107 w 10012"/>
              <a:gd name="connsiteY0" fmla="*/ 0 h 10000"/>
              <a:gd name="connsiteX1" fmla="*/ 651 w 10012"/>
              <a:gd name="connsiteY1" fmla="*/ 1603 h 10000"/>
              <a:gd name="connsiteX2" fmla="*/ 27 w 10012"/>
              <a:gd name="connsiteY2" fmla="*/ 5283 h 10000"/>
              <a:gd name="connsiteX3" fmla="*/ 1484 w 10012"/>
              <a:gd name="connsiteY3" fmla="*/ 8491 h 10000"/>
              <a:gd name="connsiteX4" fmla="*/ 4819 w 10012"/>
              <a:gd name="connsiteY4" fmla="*/ 10000 h 10000"/>
              <a:gd name="connsiteX5" fmla="*/ 8746 w 10012"/>
              <a:gd name="connsiteY5" fmla="*/ 8302 h 10000"/>
              <a:gd name="connsiteX6" fmla="*/ 10012 w 10012"/>
              <a:gd name="connsiteY6" fmla="*/ 4277 h 10000"/>
              <a:gd name="connsiteX7" fmla="*/ 8873 w 10012"/>
              <a:gd name="connsiteY7" fmla="*/ 1069 h 10000"/>
              <a:gd name="connsiteX8" fmla="*/ 6740 w 10012"/>
              <a:gd name="connsiteY8" fmla="*/ 63 h 10000"/>
              <a:gd name="connsiteX0" fmla="*/ 2110 w 10015"/>
              <a:gd name="connsiteY0" fmla="*/ 0 h 10000"/>
              <a:gd name="connsiteX1" fmla="*/ 622 w 10015"/>
              <a:gd name="connsiteY1" fmla="*/ 1980 h 10000"/>
              <a:gd name="connsiteX2" fmla="*/ 30 w 10015"/>
              <a:gd name="connsiteY2" fmla="*/ 5283 h 10000"/>
              <a:gd name="connsiteX3" fmla="*/ 1487 w 10015"/>
              <a:gd name="connsiteY3" fmla="*/ 8491 h 10000"/>
              <a:gd name="connsiteX4" fmla="*/ 4822 w 10015"/>
              <a:gd name="connsiteY4" fmla="*/ 10000 h 10000"/>
              <a:gd name="connsiteX5" fmla="*/ 8749 w 10015"/>
              <a:gd name="connsiteY5" fmla="*/ 8302 h 10000"/>
              <a:gd name="connsiteX6" fmla="*/ 10015 w 10015"/>
              <a:gd name="connsiteY6" fmla="*/ 4277 h 10000"/>
              <a:gd name="connsiteX7" fmla="*/ 8876 w 10015"/>
              <a:gd name="connsiteY7" fmla="*/ 1069 h 10000"/>
              <a:gd name="connsiteX8" fmla="*/ 6743 w 10015"/>
              <a:gd name="connsiteY8" fmla="*/ 6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15" h="10000">
                <a:moveTo>
                  <a:pt x="2110" y="0"/>
                </a:moveTo>
                <a:cubicBezTo>
                  <a:pt x="1835" y="251"/>
                  <a:pt x="969" y="1100"/>
                  <a:pt x="622" y="1980"/>
                </a:cubicBezTo>
                <a:cubicBezTo>
                  <a:pt x="275" y="2861"/>
                  <a:pt x="-114" y="4198"/>
                  <a:pt x="30" y="5283"/>
                </a:cubicBezTo>
                <a:cubicBezTo>
                  <a:pt x="174" y="6368"/>
                  <a:pt x="685" y="7673"/>
                  <a:pt x="1487" y="8491"/>
                </a:cubicBezTo>
                <a:cubicBezTo>
                  <a:pt x="2289" y="9308"/>
                  <a:pt x="3619" y="10000"/>
                  <a:pt x="4822" y="10000"/>
                </a:cubicBezTo>
                <a:cubicBezTo>
                  <a:pt x="6025" y="10000"/>
                  <a:pt x="7884" y="9246"/>
                  <a:pt x="8749" y="8302"/>
                </a:cubicBezTo>
                <a:cubicBezTo>
                  <a:pt x="9614" y="7359"/>
                  <a:pt x="9994" y="5472"/>
                  <a:pt x="10015" y="4277"/>
                </a:cubicBezTo>
                <a:cubicBezTo>
                  <a:pt x="10036" y="3082"/>
                  <a:pt x="9425" y="1761"/>
                  <a:pt x="8876" y="1069"/>
                </a:cubicBezTo>
                <a:cubicBezTo>
                  <a:pt x="8327" y="377"/>
                  <a:pt x="7186" y="251"/>
                  <a:pt x="6743" y="63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 sz="160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5" name="Text Box 29"/>
          <p:cNvSpPr txBox="1">
            <a:spLocks noChangeArrowheads="1"/>
          </p:cNvSpPr>
          <p:nvPr/>
        </p:nvSpPr>
        <p:spPr bwMode="auto">
          <a:xfrm>
            <a:off x="474662" y="1220788"/>
            <a:ext cx="835485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i="1" dirty="0" err="1" smtClean="0">
                <a:ea typeface="+mn-ea"/>
                <a:cs typeface="Times New Roman" pitchFamily="18" charset="0"/>
              </a:rPr>
              <a:t>M</a:t>
            </a:r>
            <a:r>
              <a:rPr lang="en-US" altLang="zh-CN" sz="2400" b="1" baseline="-25000" dirty="0" err="1" smtClean="0">
                <a:ea typeface="+mn-ea"/>
                <a:cs typeface="Times New Roman" pitchFamily="18" charset="0"/>
              </a:rPr>
              <a:t>max</a:t>
            </a:r>
            <a:endParaRPr lang="en-US" altLang="zh-CN" sz="2400" b="1" baseline="-25000" dirty="0" smtClean="0">
              <a:ea typeface="+mn-ea"/>
              <a:cs typeface="Times New Roman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22350" y="3065463"/>
            <a:ext cx="728469" cy="1009838"/>
            <a:chOff x="1022350" y="3065463"/>
            <a:chExt cx="728469" cy="1009838"/>
          </a:xfrm>
        </p:grpSpPr>
        <p:sp>
          <p:nvSpPr>
            <p:cNvPr id="52" name="Text Box 15"/>
            <p:cNvSpPr txBox="1">
              <a:spLocks noChangeArrowheads="1"/>
            </p:cNvSpPr>
            <p:nvPr/>
          </p:nvSpPr>
          <p:spPr bwMode="auto">
            <a:xfrm>
              <a:off x="1022350" y="3065463"/>
              <a:ext cx="497252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1" i="1" dirty="0" smtClean="0">
                  <a:ea typeface="+mn-ea"/>
                  <a:cs typeface="Times New Roman" pitchFamily="18" charset="0"/>
                  <a:sym typeface="Symbol" pitchFamily="18" charset="2"/>
                </a:rPr>
                <a:t>M</a:t>
              </a:r>
              <a:r>
                <a:rPr lang="en-US" altLang="zh-CN" sz="2000" b="1" baseline="-25000" dirty="0" smtClean="0">
                  <a:ea typeface="+mn-ea"/>
                  <a:cs typeface="Times New Roman" pitchFamily="18" charset="0"/>
                  <a:sym typeface="Symbol" pitchFamily="18" charset="2"/>
                </a:rPr>
                <a:t>2</a:t>
              </a:r>
              <a:endParaRPr lang="zh-CN" altLang="en-US" sz="2000" b="1" baseline="-25000" dirty="0" smtClean="0">
                <a:ea typeface="+mn-ea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53" name="Text Box 16"/>
            <p:cNvSpPr txBox="1">
              <a:spLocks noChangeArrowheads="1"/>
            </p:cNvSpPr>
            <p:nvPr/>
          </p:nvSpPr>
          <p:spPr bwMode="auto">
            <a:xfrm>
              <a:off x="1311275" y="3629025"/>
              <a:ext cx="439544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000" b="1" i="1" dirty="0" smtClean="0">
                  <a:ea typeface="+mn-ea"/>
                  <a:cs typeface="Times New Roman" pitchFamily="18" charset="0"/>
                  <a:sym typeface="Symbol" pitchFamily="18" charset="2"/>
                </a:rPr>
                <a:t></a:t>
              </a:r>
              <a:r>
                <a:rPr lang="en-US" altLang="zh-CN" sz="2000" b="1" baseline="-25000" dirty="0" err="1" smtClean="0">
                  <a:ea typeface="+mn-ea"/>
                  <a:cs typeface="Times New Roman" pitchFamily="18" charset="0"/>
                  <a:sym typeface="Symbol" pitchFamily="18" charset="2"/>
                </a:rPr>
                <a:t>fv</a:t>
              </a:r>
              <a:endParaRPr lang="en-US" altLang="zh-CN" sz="2000" b="1" dirty="0" smtClean="0">
                <a:ea typeface="+mn-ea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54" name="Freeform 17"/>
            <p:cNvSpPr>
              <a:spLocks/>
            </p:cNvSpPr>
            <p:nvPr/>
          </p:nvSpPr>
          <p:spPr bwMode="auto">
            <a:xfrm>
              <a:off x="1055687" y="3519488"/>
              <a:ext cx="274638" cy="88900"/>
            </a:xfrm>
            <a:custGeom>
              <a:avLst/>
              <a:gdLst>
                <a:gd name="T0" fmla="*/ 0 w 173"/>
                <a:gd name="T1" fmla="*/ 0 h 56"/>
                <a:gd name="T2" fmla="*/ 77 w 173"/>
                <a:gd name="T3" fmla="*/ 32 h 56"/>
                <a:gd name="T4" fmla="*/ 173 w 173"/>
                <a:gd name="T5" fmla="*/ 56 h 56"/>
                <a:gd name="T6" fmla="*/ 0 60000 65536"/>
                <a:gd name="T7" fmla="*/ 0 60000 65536"/>
                <a:gd name="T8" fmla="*/ 0 60000 65536"/>
                <a:gd name="T9" fmla="*/ 0 w 173"/>
                <a:gd name="T10" fmla="*/ 0 h 56"/>
                <a:gd name="T11" fmla="*/ 173 w 173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" h="56">
                  <a:moveTo>
                    <a:pt x="0" y="0"/>
                  </a:moveTo>
                  <a:cubicBezTo>
                    <a:pt x="13" y="5"/>
                    <a:pt x="48" y="23"/>
                    <a:pt x="77" y="32"/>
                  </a:cubicBezTo>
                  <a:cubicBezTo>
                    <a:pt x="106" y="41"/>
                    <a:pt x="153" y="51"/>
                    <a:pt x="173" y="5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66" name="Freeform 17"/>
            <p:cNvSpPr>
              <a:spLocks/>
            </p:cNvSpPr>
            <p:nvPr/>
          </p:nvSpPr>
          <p:spPr bwMode="auto">
            <a:xfrm>
              <a:off x="1055687" y="3709988"/>
              <a:ext cx="274638" cy="88900"/>
            </a:xfrm>
            <a:custGeom>
              <a:avLst/>
              <a:gdLst>
                <a:gd name="T0" fmla="*/ 0 w 173"/>
                <a:gd name="T1" fmla="*/ 0 h 56"/>
                <a:gd name="T2" fmla="*/ 77 w 173"/>
                <a:gd name="T3" fmla="*/ 32 h 56"/>
                <a:gd name="T4" fmla="*/ 173 w 173"/>
                <a:gd name="T5" fmla="*/ 56 h 56"/>
                <a:gd name="T6" fmla="*/ 0 60000 65536"/>
                <a:gd name="T7" fmla="*/ 0 60000 65536"/>
                <a:gd name="T8" fmla="*/ 0 60000 65536"/>
                <a:gd name="T9" fmla="*/ 0 w 173"/>
                <a:gd name="T10" fmla="*/ 0 h 56"/>
                <a:gd name="T11" fmla="*/ 173 w 173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" h="56">
                  <a:moveTo>
                    <a:pt x="0" y="0"/>
                  </a:moveTo>
                  <a:cubicBezTo>
                    <a:pt x="13" y="5"/>
                    <a:pt x="48" y="23"/>
                    <a:pt x="77" y="32"/>
                  </a:cubicBezTo>
                  <a:cubicBezTo>
                    <a:pt x="106" y="41"/>
                    <a:pt x="153" y="51"/>
                    <a:pt x="173" y="5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67" name="Freeform 17"/>
            <p:cNvSpPr>
              <a:spLocks/>
            </p:cNvSpPr>
            <p:nvPr/>
          </p:nvSpPr>
          <p:spPr bwMode="auto">
            <a:xfrm>
              <a:off x="1055687" y="3903663"/>
              <a:ext cx="274638" cy="88900"/>
            </a:xfrm>
            <a:custGeom>
              <a:avLst/>
              <a:gdLst>
                <a:gd name="T0" fmla="*/ 0 w 173"/>
                <a:gd name="T1" fmla="*/ 0 h 56"/>
                <a:gd name="T2" fmla="*/ 77 w 173"/>
                <a:gd name="T3" fmla="*/ 32 h 56"/>
                <a:gd name="T4" fmla="*/ 173 w 173"/>
                <a:gd name="T5" fmla="*/ 56 h 56"/>
                <a:gd name="T6" fmla="*/ 0 60000 65536"/>
                <a:gd name="T7" fmla="*/ 0 60000 65536"/>
                <a:gd name="T8" fmla="*/ 0 60000 65536"/>
                <a:gd name="T9" fmla="*/ 0 w 173"/>
                <a:gd name="T10" fmla="*/ 0 h 56"/>
                <a:gd name="T11" fmla="*/ 173 w 173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" h="56">
                  <a:moveTo>
                    <a:pt x="0" y="0"/>
                  </a:moveTo>
                  <a:cubicBezTo>
                    <a:pt x="13" y="5"/>
                    <a:pt x="48" y="23"/>
                    <a:pt x="77" y="32"/>
                  </a:cubicBezTo>
                  <a:cubicBezTo>
                    <a:pt x="106" y="41"/>
                    <a:pt x="153" y="51"/>
                    <a:pt x="173" y="5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35330" y="2303463"/>
            <a:ext cx="1067017" cy="615821"/>
            <a:chOff x="735330" y="2303463"/>
            <a:chExt cx="1067017" cy="615821"/>
          </a:xfrm>
        </p:grpSpPr>
        <p:sp>
          <p:nvSpPr>
            <p:cNvPr id="61" name="Text Box 25"/>
            <p:cNvSpPr txBox="1">
              <a:spLocks noChangeArrowheads="1"/>
            </p:cNvSpPr>
            <p:nvPr/>
          </p:nvSpPr>
          <p:spPr bwMode="auto">
            <a:xfrm>
              <a:off x="735330" y="2303463"/>
              <a:ext cx="497252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1" i="1" dirty="0" smtClean="0">
                  <a:ea typeface="+mn-ea"/>
                  <a:cs typeface="Times New Roman" pitchFamily="18" charset="0"/>
                  <a:sym typeface="Symbol" pitchFamily="18" charset="2"/>
                </a:rPr>
                <a:t>M</a:t>
              </a:r>
              <a:r>
                <a:rPr lang="en-US" altLang="zh-CN" sz="2000" b="1" baseline="-25000" dirty="0" smtClean="0">
                  <a:ea typeface="+mn-ea"/>
                  <a:cs typeface="Times New Roman" pitchFamily="18" charset="0"/>
                  <a:sym typeface="Symbol" pitchFamily="18" charset="2"/>
                </a:rPr>
                <a:t>1</a:t>
              </a:r>
              <a:endParaRPr lang="zh-CN" altLang="en-US" sz="2000" b="1" baseline="-25000" dirty="0" smtClean="0">
                <a:ea typeface="+mn-ea"/>
                <a:cs typeface="Times New Roman" pitchFamily="18" charset="0"/>
                <a:sym typeface="Symbol" pitchFamily="18" charset="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047432" y="2473008"/>
              <a:ext cx="754915" cy="446276"/>
              <a:chOff x="1047432" y="2473008"/>
              <a:chExt cx="754915" cy="446276"/>
            </a:xfrm>
          </p:grpSpPr>
          <p:sp>
            <p:nvSpPr>
              <p:cNvPr id="55" name="Text Box 19"/>
              <p:cNvSpPr txBox="1">
                <a:spLocks noChangeArrowheads="1"/>
              </p:cNvSpPr>
              <p:nvPr/>
            </p:nvSpPr>
            <p:spPr bwMode="auto">
              <a:xfrm>
                <a:off x="1353185" y="2473008"/>
                <a:ext cx="449162" cy="446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zh-CN" altLang="en-US" sz="2000" b="1" dirty="0" smtClean="0">
                    <a:ea typeface="+mn-ea"/>
                    <a:cs typeface="Times New Roman" pitchFamily="18" charset="0"/>
                    <a:sym typeface="Symbol" pitchFamily="18" charset="2"/>
                  </a:rPr>
                  <a:t></a:t>
                </a:r>
                <a:r>
                  <a:rPr lang="en-US" altLang="zh-CN" sz="2000" b="1" baseline="-25000" dirty="0" err="1" smtClean="0">
                    <a:ea typeface="+mn-ea"/>
                    <a:cs typeface="Times New Roman" pitchFamily="18" charset="0"/>
                    <a:sym typeface="Symbol" pitchFamily="18" charset="2"/>
                  </a:rPr>
                  <a:t>fh</a:t>
                </a:r>
                <a:endParaRPr lang="en-US" altLang="zh-CN" sz="2000" b="1" dirty="0" smtClean="0">
                  <a:ea typeface="+mn-ea"/>
                  <a:cs typeface="Times New Roman" pitchFamily="18" charset="0"/>
                  <a:sym typeface="Symbol" pitchFamily="18" charset="2"/>
                </a:endParaRPr>
              </a:p>
            </p:txBody>
          </p:sp>
          <p:sp>
            <p:nvSpPr>
              <p:cNvPr id="68" name="弧形 67"/>
              <p:cNvSpPr/>
              <p:nvPr/>
            </p:nvSpPr>
            <p:spPr bwMode="auto">
              <a:xfrm>
                <a:off x="1047432" y="2571750"/>
                <a:ext cx="587375" cy="231775"/>
              </a:xfrm>
              <a:prstGeom prst="arc">
                <a:avLst>
                  <a:gd name="adj1" fmla="val 2654901"/>
                  <a:gd name="adj2" fmla="val 8831607"/>
                </a:avLst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pPr defTabSz="1101725">
                  <a:defRPr/>
                </a:pPr>
                <a:endParaRPr lang="zh-CN" altLang="en-US" sz="2200">
                  <a:latin typeface="Arial" charset="0"/>
                </a:endParaRPr>
              </a:p>
            </p:txBody>
          </p:sp>
          <p:sp>
            <p:nvSpPr>
              <p:cNvPr id="69" name="弧形 68"/>
              <p:cNvSpPr/>
              <p:nvPr/>
            </p:nvSpPr>
            <p:spPr bwMode="auto">
              <a:xfrm>
                <a:off x="1074737" y="2540318"/>
                <a:ext cx="530225" cy="198437"/>
              </a:xfrm>
              <a:prstGeom prst="arc">
                <a:avLst>
                  <a:gd name="adj1" fmla="val 2654901"/>
                  <a:gd name="adj2" fmla="val 8831607"/>
                </a:avLst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pPr defTabSz="1101725">
                  <a:defRPr/>
                </a:pPr>
                <a:endParaRPr lang="zh-CN" altLang="en-US" sz="2200">
                  <a:latin typeface="Arial" charset="0"/>
                </a:endParaRPr>
              </a:p>
            </p:txBody>
          </p:sp>
          <p:sp>
            <p:nvSpPr>
              <p:cNvPr id="70" name="弧形 69"/>
              <p:cNvSpPr/>
              <p:nvPr/>
            </p:nvSpPr>
            <p:spPr bwMode="auto">
              <a:xfrm>
                <a:off x="1105535" y="2501900"/>
                <a:ext cx="463550" cy="173038"/>
              </a:xfrm>
              <a:prstGeom prst="arc">
                <a:avLst>
                  <a:gd name="adj1" fmla="val 2654901"/>
                  <a:gd name="adj2" fmla="val 8831607"/>
                </a:avLst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  <a:extLst/>
            </p:spPr>
            <p:txBody>
              <a:bodyPr/>
              <a:lstStyle/>
              <a:p>
                <a:pPr defTabSz="1101725">
                  <a:defRPr/>
                </a:pPr>
                <a:endParaRPr lang="zh-CN" altLang="en-US" sz="2200">
                  <a:latin typeface="Arial" charset="0"/>
                </a:endParaRPr>
              </a:p>
            </p:txBody>
          </p:sp>
        </p:grpSp>
      </p:grp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419100" y="639911"/>
            <a:ext cx="4272643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抗剪强度计算公式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" name="Rectangle 2"/>
          <p:cNvSpPr>
            <a:spLocks noRot="1" noChangeArrowheads="1"/>
          </p:cNvSpPr>
          <p:nvPr/>
        </p:nvSpPr>
        <p:spPr bwMode="auto">
          <a:xfrm>
            <a:off x="2382838" y="5897563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十字板剪切试验</a:t>
            </a:r>
          </a:p>
        </p:txBody>
      </p:sp>
    </p:spTree>
    <p:extLst>
      <p:ext uri="{BB962C8B-B14F-4D97-AF65-F5344CB8AC3E}">
        <p14:creationId xmlns:p14="http://schemas.microsoft.com/office/powerpoint/2010/main" val="121763635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9526" y="0"/>
            <a:ext cx="581183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的抗剪强度的测定试验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十字板剪切试验</a:t>
            </a: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419100" y="755243"/>
            <a:ext cx="4579620" cy="44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十字板剪切试验强度指标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402930" y="3377535"/>
            <a:ext cx="448537" cy="645415"/>
            <a:chOff x="3402931" y="3328107"/>
            <a:chExt cx="444206" cy="645415"/>
          </a:xfrm>
        </p:grpSpPr>
        <p:sp>
          <p:nvSpPr>
            <p:cNvPr id="80" name="Text Box 7"/>
            <p:cNvSpPr txBox="1">
              <a:spLocks noChangeArrowheads="1"/>
            </p:cNvSpPr>
            <p:nvPr/>
          </p:nvSpPr>
          <p:spPr bwMode="auto">
            <a:xfrm>
              <a:off x="3402931" y="3328107"/>
              <a:ext cx="444206" cy="606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08036" tIns="54018" rIns="108036" bIns="54018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400" b="1" i="1" dirty="0" smtClean="0">
                  <a:ea typeface="+mn-ea"/>
                  <a:cs typeface="Times New Roman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 smtClean="0">
                  <a:ea typeface="+mn-ea"/>
                  <a:cs typeface="Times New Roman" pitchFamily="18" charset="0"/>
                  <a:sym typeface="Symbol" pitchFamily="18" charset="2"/>
                </a:rPr>
                <a:t>r</a:t>
              </a:r>
              <a:endParaRPr lang="en-US" altLang="zh-CN" sz="2400" b="1" baseline="-25000" dirty="0">
                <a:ea typeface="+mn-ea"/>
                <a:cs typeface="Times New Roman" pitchFamily="18" charset="0"/>
                <a:sym typeface="Symbol" pitchFamily="18" charset="2"/>
              </a:endParaRPr>
            </a:p>
          </p:txBody>
        </p:sp>
        <p:cxnSp>
          <p:nvCxnSpPr>
            <p:cNvPr id="77" name="直接箭头连接符 76"/>
            <p:cNvCxnSpPr/>
            <p:nvPr/>
          </p:nvCxnSpPr>
          <p:spPr bwMode="auto">
            <a:xfrm flipH="1">
              <a:off x="3457135" y="3393156"/>
              <a:ext cx="9421" cy="58036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1414387" y="2725489"/>
            <a:ext cx="496369" cy="1304146"/>
            <a:chOff x="1414388" y="2676061"/>
            <a:chExt cx="491576" cy="1304146"/>
          </a:xfrm>
        </p:grpSpPr>
        <p:cxnSp>
          <p:nvCxnSpPr>
            <p:cNvPr id="4" name="直接箭头连接符 3"/>
            <p:cNvCxnSpPr/>
            <p:nvPr/>
          </p:nvCxnSpPr>
          <p:spPr bwMode="auto">
            <a:xfrm flipH="1">
              <a:off x="1414388" y="2676061"/>
              <a:ext cx="4689" cy="130414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" name="Text Box 7"/>
            <p:cNvSpPr txBox="1">
              <a:spLocks noChangeArrowheads="1"/>
            </p:cNvSpPr>
            <p:nvPr/>
          </p:nvSpPr>
          <p:spPr bwMode="auto">
            <a:xfrm>
              <a:off x="1439316" y="2989309"/>
              <a:ext cx="466648" cy="6557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08036" tIns="54018" rIns="108036" bIns="54018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400" b="1" i="1" dirty="0" smtClean="0">
                  <a:ea typeface="+mn-ea"/>
                  <a:cs typeface="Times New Roman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 smtClean="0">
                  <a:ea typeface="+mn-ea"/>
                  <a:cs typeface="Times New Roman" pitchFamily="18" charset="0"/>
                  <a:sym typeface="Symbol" pitchFamily="18" charset="2"/>
                </a:rPr>
                <a:t>p</a:t>
              </a:r>
              <a:endParaRPr lang="en-US" altLang="zh-CN" sz="2400" b="1" baseline="-25000" dirty="0">
                <a:ea typeface="+mn-ea"/>
                <a:cs typeface="Times New Roman" pitchFamily="18" charset="0"/>
                <a:sym typeface="Symbol" pitchFamily="18" charset="2"/>
              </a:endParaRPr>
            </a:p>
          </p:txBody>
        </p:sp>
      </p:grpSp>
      <p:sp>
        <p:nvSpPr>
          <p:cNvPr id="81" name="Rectangle 4"/>
          <p:cNvSpPr>
            <a:spLocks noChangeArrowheads="1"/>
          </p:cNvSpPr>
          <p:nvPr/>
        </p:nvSpPr>
        <p:spPr bwMode="auto">
          <a:xfrm>
            <a:off x="4339590" y="1672187"/>
            <a:ext cx="4376042" cy="3764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41325" indent="-441325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十字板剪切试验一般进行的速度较快，土体不排水，所得强度指标为</a:t>
            </a:r>
            <a:r>
              <a:rPr lang="zh-CN" altLang="en-US" sz="22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不</a:t>
            </a:r>
            <a:r>
              <a:rPr lang="zh-CN" altLang="en-US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排水强度</a:t>
            </a:r>
            <a:r>
              <a:rPr lang="zh-CN" altLang="en-US" sz="22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rPr>
              <a:t>指标</a:t>
            </a:r>
            <a:endParaRPr lang="en-US" altLang="zh-CN" sz="2200" b="1" dirty="0" smtClean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441325" indent="-441325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扭矩最大值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max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对应的抗剪强度称为峰值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剪应力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τ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441325" indent="-441325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大扭角时稳定扭矩对应的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剪应力称为残余剪应力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τ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，代表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原状土的结构被完全破坏后的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抗剪强度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95255" y="1771548"/>
            <a:ext cx="3407667" cy="2872740"/>
            <a:chOff x="595255" y="1722120"/>
            <a:chExt cx="3374765" cy="2872740"/>
          </a:xfrm>
        </p:grpSpPr>
        <p:grpSp>
          <p:nvGrpSpPr>
            <p:cNvPr id="3" name="组合 2"/>
            <p:cNvGrpSpPr/>
            <p:nvPr/>
          </p:nvGrpSpPr>
          <p:grpSpPr>
            <a:xfrm>
              <a:off x="595255" y="1722120"/>
              <a:ext cx="3374765" cy="2872740"/>
              <a:chOff x="595255" y="1722120"/>
              <a:chExt cx="3374765" cy="2872740"/>
            </a:xfrm>
          </p:grpSpPr>
          <p:sp>
            <p:nvSpPr>
              <p:cNvPr id="72" name="Freeform 5"/>
              <p:cNvSpPr>
                <a:spLocks/>
              </p:cNvSpPr>
              <p:nvPr/>
            </p:nvSpPr>
            <p:spPr bwMode="auto">
              <a:xfrm>
                <a:off x="600091" y="1915626"/>
                <a:ext cx="3369929" cy="2059182"/>
              </a:xfrm>
              <a:custGeom>
                <a:avLst/>
                <a:gdLst>
                  <a:gd name="T0" fmla="*/ 0 w 1776"/>
                  <a:gd name="T1" fmla="*/ 0 h 1910"/>
                  <a:gd name="T2" fmla="*/ 0 w 1776"/>
                  <a:gd name="T3" fmla="*/ 2035 h 1910"/>
                  <a:gd name="T4" fmla="*/ 1776 w 1776"/>
                  <a:gd name="T5" fmla="*/ 2035 h 1910"/>
                  <a:gd name="T6" fmla="*/ 0 60000 65536"/>
                  <a:gd name="T7" fmla="*/ 0 60000 65536"/>
                  <a:gd name="T8" fmla="*/ 0 60000 65536"/>
                  <a:gd name="T9" fmla="*/ 0 w 1776"/>
                  <a:gd name="T10" fmla="*/ 0 h 1910"/>
                  <a:gd name="T11" fmla="*/ 1776 w 1776"/>
                  <a:gd name="T12" fmla="*/ 1910 h 19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76" h="1910">
                    <a:moveTo>
                      <a:pt x="0" y="0"/>
                    </a:moveTo>
                    <a:lnTo>
                      <a:pt x="0" y="1910"/>
                    </a:lnTo>
                    <a:lnTo>
                      <a:pt x="1776" y="191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08036" tIns="54018" rIns="108036" bIns="54018"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74" name="Text Box 7"/>
              <p:cNvSpPr txBox="1">
                <a:spLocks noChangeArrowheads="1"/>
              </p:cNvSpPr>
              <p:nvPr/>
            </p:nvSpPr>
            <p:spPr bwMode="auto">
              <a:xfrm>
                <a:off x="2795677" y="4026099"/>
                <a:ext cx="1168763" cy="5687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108036" tIns="54018" rIns="108036" bIns="54018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zh-CN" altLang="en-US" sz="2000" b="1" dirty="0" smtClean="0">
                    <a:ea typeface="+mn-ea"/>
                    <a:cs typeface="Times New Roman" pitchFamily="18" charset="0"/>
                    <a:sym typeface="Symbol" pitchFamily="18" charset="2"/>
                  </a:rPr>
                  <a:t>扭转角</a:t>
                </a:r>
                <a:r>
                  <a:rPr lang="zh-CN" altLang="en-US" sz="2000" b="1" i="1" dirty="0" smtClean="0">
                    <a:ea typeface="+mn-ea"/>
                    <a:cs typeface="Times New Roman" pitchFamily="18" charset="0"/>
                    <a:sym typeface="Symbol" pitchFamily="18" charset="2"/>
                  </a:rPr>
                  <a:t></a:t>
                </a:r>
                <a:endParaRPr lang="en-US" altLang="zh-CN" sz="2000" b="1" dirty="0">
                  <a:ea typeface="+mn-ea"/>
                  <a:cs typeface="Times New Roman" pitchFamily="18" charset="0"/>
                  <a:sym typeface="Symbol" pitchFamily="18" charset="2"/>
                </a:endParaRPr>
              </a:p>
            </p:txBody>
          </p:sp>
          <p:sp>
            <p:nvSpPr>
              <p:cNvPr id="78" name="Text Box 7"/>
              <p:cNvSpPr txBox="1">
                <a:spLocks noChangeArrowheads="1"/>
              </p:cNvSpPr>
              <p:nvPr/>
            </p:nvSpPr>
            <p:spPr bwMode="auto">
              <a:xfrm>
                <a:off x="595255" y="1722120"/>
                <a:ext cx="352834" cy="6124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108036" tIns="54018" rIns="108036" bIns="54018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zh-CN" altLang="en-US" sz="2400" b="1" i="1" dirty="0" smtClean="0">
                    <a:ea typeface="+mn-ea"/>
                    <a:cs typeface="Times New Roman" pitchFamily="18" charset="0"/>
                    <a:sym typeface="Symbol" pitchFamily="18" charset="2"/>
                  </a:rPr>
                  <a:t></a:t>
                </a:r>
                <a:endParaRPr lang="en-US" altLang="zh-CN" sz="2400" b="1" dirty="0">
                  <a:ea typeface="+mn-ea"/>
                  <a:cs typeface="Times New Roman" pitchFamily="18" charset="0"/>
                  <a:sym typeface="Symbol" pitchFamily="18" charset="2"/>
                </a:endParaRPr>
              </a:p>
            </p:txBody>
          </p:sp>
        </p:grpSp>
        <p:sp>
          <p:nvSpPr>
            <p:cNvPr id="9" name="任意多边形 8"/>
            <p:cNvSpPr/>
            <p:nvPr/>
          </p:nvSpPr>
          <p:spPr bwMode="auto">
            <a:xfrm>
              <a:off x="609601" y="2682529"/>
              <a:ext cx="3064043" cy="1283882"/>
            </a:xfrm>
            <a:custGeom>
              <a:avLst/>
              <a:gdLst>
                <a:gd name="connsiteX0" fmla="*/ 0 w 3064043"/>
                <a:gd name="connsiteY0" fmla="*/ 1283882 h 1283882"/>
                <a:gd name="connsiteX1" fmla="*/ 88232 w 3064043"/>
                <a:gd name="connsiteY1" fmla="*/ 1031218 h 1283882"/>
                <a:gd name="connsiteX2" fmla="*/ 224590 w 3064043"/>
                <a:gd name="connsiteY2" fmla="*/ 694334 h 1283882"/>
                <a:gd name="connsiteX3" fmla="*/ 389021 w 3064043"/>
                <a:gd name="connsiteY3" fmla="*/ 377503 h 1283882"/>
                <a:gd name="connsiteX4" fmla="*/ 521369 w 3064043"/>
                <a:gd name="connsiteY4" fmla="*/ 164945 h 1283882"/>
                <a:gd name="connsiteX5" fmla="*/ 681790 w 3064043"/>
                <a:gd name="connsiteY5" fmla="*/ 32597 h 1283882"/>
                <a:gd name="connsiteX6" fmla="*/ 818148 w 3064043"/>
                <a:gd name="connsiteY6" fmla="*/ 513 h 1283882"/>
                <a:gd name="connsiteX7" fmla="*/ 966537 w 3064043"/>
                <a:gd name="connsiteY7" fmla="*/ 48639 h 1283882"/>
                <a:gd name="connsiteX8" fmla="*/ 1191127 w 3064043"/>
                <a:gd name="connsiteY8" fmla="*/ 168955 h 1283882"/>
                <a:gd name="connsiteX9" fmla="*/ 1447800 w 3064043"/>
                <a:gd name="connsiteY9" fmla="*/ 353439 h 1283882"/>
                <a:gd name="connsiteX10" fmla="*/ 1740569 w 3064043"/>
                <a:gd name="connsiteY10" fmla="*/ 485787 h 1283882"/>
                <a:gd name="connsiteX11" fmla="*/ 2117558 w 3064043"/>
                <a:gd name="connsiteY11" fmla="*/ 602092 h 1283882"/>
                <a:gd name="connsiteX12" fmla="*/ 2482516 w 3064043"/>
                <a:gd name="connsiteY12" fmla="*/ 674282 h 1283882"/>
                <a:gd name="connsiteX13" fmla="*/ 2771274 w 3064043"/>
                <a:gd name="connsiteY13" fmla="*/ 698345 h 1283882"/>
                <a:gd name="connsiteX14" fmla="*/ 3064043 w 3064043"/>
                <a:gd name="connsiteY14" fmla="*/ 694334 h 1283882"/>
                <a:gd name="connsiteX0" fmla="*/ 0 w 3064043"/>
                <a:gd name="connsiteY0" fmla="*/ 1283882 h 1283882"/>
                <a:gd name="connsiteX1" fmla="*/ 88232 w 3064043"/>
                <a:gd name="connsiteY1" fmla="*/ 1031218 h 1283882"/>
                <a:gd name="connsiteX2" fmla="*/ 224590 w 3064043"/>
                <a:gd name="connsiteY2" fmla="*/ 694334 h 1283882"/>
                <a:gd name="connsiteX3" fmla="*/ 389021 w 3064043"/>
                <a:gd name="connsiteY3" fmla="*/ 377503 h 1283882"/>
                <a:gd name="connsiteX4" fmla="*/ 521369 w 3064043"/>
                <a:gd name="connsiteY4" fmla="*/ 164945 h 1283882"/>
                <a:gd name="connsiteX5" fmla="*/ 681790 w 3064043"/>
                <a:gd name="connsiteY5" fmla="*/ 32597 h 1283882"/>
                <a:gd name="connsiteX6" fmla="*/ 818148 w 3064043"/>
                <a:gd name="connsiteY6" fmla="*/ 513 h 1283882"/>
                <a:gd name="connsiteX7" fmla="*/ 966537 w 3064043"/>
                <a:gd name="connsiteY7" fmla="*/ 48639 h 1283882"/>
                <a:gd name="connsiteX8" fmla="*/ 1167064 w 3064043"/>
                <a:gd name="connsiteY8" fmla="*/ 168955 h 1283882"/>
                <a:gd name="connsiteX9" fmla="*/ 1447800 w 3064043"/>
                <a:gd name="connsiteY9" fmla="*/ 353439 h 1283882"/>
                <a:gd name="connsiteX10" fmla="*/ 1740569 w 3064043"/>
                <a:gd name="connsiteY10" fmla="*/ 485787 h 1283882"/>
                <a:gd name="connsiteX11" fmla="*/ 2117558 w 3064043"/>
                <a:gd name="connsiteY11" fmla="*/ 602092 h 1283882"/>
                <a:gd name="connsiteX12" fmla="*/ 2482516 w 3064043"/>
                <a:gd name="connsiteY12" fmla="*/ 674282 h 1283882"/>
                <a:gd name="connsiteX13" fmla="*/ 2771274 w 3064043"/>
                <a:gd name="connsiteY13" fmla="*/ 698345 h 1283882"/>
                <a:gd name="connsiteX14" fmla="*/ 3064043 w 3064043"/>
                <a:gd name="connsiteY14" fmla="*/ 694334 h 1283882"/>
                <a:gd name="connsiteX0" fmla="*/ 0 w 3064043"/>
                <a:gd name="connsiteY0" fmla="*/ 1283882 h 1283882"/>
                <a:gd name="connsiteX1" fmla="*/ 88232 w 3064043"/>
                <a:gd name="connsiteY1" fmla="*/ 1031218 h 1283882"/>
                <a:gd name="connsiteX2" fmla="*/ 224590 w 3064043"/>
                <a:gd name="connsiteY2" fmla="*/ 694334 h 1283882"/>
                <a:gd name="connsiteX3" fmla="*/ 376989 w 3064043"/>
                <a:gd name="connsiteY3" fmla="*/ 393545 h 1283882"/>
                <a:gd name="connsiteX4" fmla="*/ 521369 w 3064043"/>
                <a:gd name="connsiteY4" fmla="*/ 164945 h 1283882"/>
                <a:gd name="connsiteX5" fmla="*/ 681790 w 3064043"/>
                <a:gd name="connsiteY5" fmla="*/ 32597 h 1283882"/>
                <a:gd name="connsiteX6" fmla="*/ 818148 w 3064043"/>
                <a:gd name="connsiteY6" fmla="*/ 513 h 1283882"/>
                <a:gd name="connsiteX7" fmla="*/ 966537 w 3064043"/>
                <a:gd name="connsiteY7" fmla="*/ 48639 h 1283882"/>
                <a:gd name="connsiteX8" fmla="*/ 1167064 w 3064043"/>
                <a:gd name="connsiteY8" fmla="*/ 168955 h 1283882"/>
                <a:gd name="connsiteX9" fmla="*/ 1447800 w 3064043"/>
                <a:gd name="connsiteY9" fmla="*/ 353439 h 1283882"/>
                <a:gd name="connsiteX10" fmla="*/ 1740569 w 3064043"/>
                <a:gd name="connsiteY10" fmla="*/ 485787 h 1283882"/>
                <a:gd name="connsiteX11" fmla="*/ 2117558 w 3064043"/>
                <a:gd name="connsiteY11" fmla="*/ 602092 h 1283882"/>
                <a:gd name="connsiteX12" fmla="*/ 2482516 w 3064043"/>
                <a:gd name="connsiteY12" fmla="*/ 674282 h 1283882"/>
                <a:gd name="connsiteX13" fmla="*/ 2771274 w 3064043"/>
                <a:gd name="connsiteY13" fmla="*/ 698345 h 1283882"/>
                <a:gd name="connsiteX14" fmla="*/ 3064043 w 3064043"/>
                <a:gd name="connsiteY14" fmla="*/ 694334 h 1283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64043" h="1283882">
                  <a:moveTo>
                    <a:pt x="0" y="1283882"/>
                  </a:moveTo>
                  <a:cubicBezTo>
                    <a:pt x="25400" y="1206679"/>
                    <a:pt x="50800" y="1129476"/>
                    <a:pt x="88232" y="1031218"/>
                  </a:cubicBezTo>
                  <a:cubicBezTo>
                    <a:pt x="125664" y="932960"/>
                    <a:pt x="176464" y="800613"/>
                    <a:pt x="224590" y="694334"/>
                  </a:cubicBezTo>
                  <a:cubicBezTo>
                    <a:pt x="272716" y="588055"/>
                    <a:pt x="327526" y="481776"/>
                    <a:pt x="376989" y="393545"/>
                  </a:cubicBezTo>
                  <a:cubicBezTo>
                    <a:pt x="426452" y="305314"/>
                    <a:pt x="470569" y="225103"/>
                    <a:pt x="521369" y="164945"/>
                  </a:cubicBezTo>
                  <a:cubicBezTo>
                    <a:pt x="572169" y="104787"/>
                    <a:pt x="632327" y="60002"/>
                    <a:pt x="681790" y="32597"/>
                  </a:cubicBezTo>
                  <a:cubicBezTo>
                    <a:pt x="731253" y="5192"/>
                    <a:pt x="770690" y="-2161"/>
                    <a:pt x="818148" y="513"/>
                  </a:cubicBezTo>
                  <a:cubicBezTo>
                    <a:pt x="865606" y="3187"/>
                    <a:pt x="908384" y="20565"/>
                    <a:pt x="966537" y="48639"/>
                  </a:cubicBezTo>
                  <a:cubicBezTo>
                    <a:pt x="1024690" y="76713"/>
                    <a:pt x="1086854" y="118155"/>
                    <a:pt x="1167064" y="168955"/>
                  </a:cubicBezTo>
                  <a:cubicBezTo>
                    <a:pt x="1247275" y="219755"/>
                    <a:pt x="1352216" y="300634"/>
                    <a:pt x="1447800" y="353439"/>
                  </a:cubicBezTo>
                  <a:cubicBezTo>
                    <a:pt x="1543384" y="406244"/>
                    <a:pt x="1628943" y="444345"/>
                    <a:pt x="1740569" y="485787"/>
                  </a:cubicBezTo>
                  <a:cubicBezTo>
                    <a:pt x="1852195" y="527229"/>
                    <a:pt x="1993900" y="570676"/>
                    <a:pt x="2117558" y="602092"/>
                  </a:cubicBezTo>
                  <a:cubicBezTo>
                    <a:pt x="2241216" y="633508"/>
                    <a:pt x="2373563" y="658240"/>
                    <a:pt x="2482516" y="674282"/>
                  </a:cubicBezTo>
                  <a:cubicBezTo>
                    <a:pt x="2591469" y="690324"/>
                    <a:pt x="2674353" y="695003"/>
                    <a:pt x="2771274" y="698345"/>
                  </a:cubicBezTo>
                  <a:cubicBezTo>
                    <a:pt x="2868195" y="701687"/>
                    <a:pt x="2966119" y="698010"/>
                    <a:pt x="3064043" y="694334"/>
                  </a:cubicBezTo>
                </a:path>
              </a:pathLst>
            </a:cu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8" name="Rectangle 2"/>
          <p:cNvSpPr>
            <a:spLocks noRot="1" noChangeArrowheads="1"/>
          </p:cNvSpPr>
          <p:nvPr/>
        </p:nvSpPr>
        <p:spPr bwMode="auto">
          <a:xfrm>
            <a:off x="2382838" y="5897563"/>
            <a:ext cx="586581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十字板剪切试验</a:t>
            </a:r>
          </a:p>
        </p:txBody>
      </p:sp>
    </p:spTree>
    <p:extLst>
      <p:ext uri="{BB962C8B-B14F-4D97-AF65-F5344CB8AC3E}">
        <p14:creationId xmlns:p14="http://schemas.microsoft.com/office/powerpoint/2010/main" val="76756853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uild="p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1924050" y="1922463"/>
            <a:ext cx="6364288" cy="379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§5.1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工程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中土的强度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§5.2	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的抗剪强度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理论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§5.3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土的抗剪强度的测定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§5.4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路径与破坏主应力线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§5.5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土的抗剪强度指标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§5.6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土的动强度与砂土的振动液化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897063" y="927100"/>
            <a:ext cx="5356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第五章： </a:t>
            </a: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土的抗剪强度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39324" y="3833066"/>
            <a:ext cx="5540633" cy="6334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kumimoji="1" lang="en-US" altLang="zh-CN" sz="2800" b="1" dirty="0" smtClean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5.4  </a:t>
            </a:r>
            <a:r>
              <a:rPr kumimoji="1" lang="zh-CN" altLang="en-US" sz="2800" b="1" dirty="0" smtClean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kumimoji="1" lang="zh-CN" altLang="en-US" sz="2800" b="1" dirty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路径与破坏主应力</a:t>
            </a:r>
            <a:r>
              <a:rPr kumimoji="1" lang="zh-CN" altLang="en-US" sz="2800" b="1" dirty="0" smtClean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线</a:t>
            </a:r>
            <a:endParaRPr kumimoji="1" lang="zh-CN" altLang="en-US" sz="2800" b="1" dirty="0">
              <a:solidFill>
                <a:srgbClr val="003399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34805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路径与破坏主应力线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1954213" y="2051530"/>
            <a:ext cx="5448300" cy="1874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应力路径及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表示方法</a:t>
            </a:r>
            <a:endParaRPr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强度包线与破坏主应力线</a:t>
            </a: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总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应力路径和有效应力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路径</a:t>
            </a:r>
            <a:endParaRPr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2374635" y="5664531"/>
            <a:ext cx="57896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应力路径与破坏主应力线</a:t>
            </a:r>
          </a:p>
        </p:txBody>
      </p:sp>
    </p:spTree>
    <p:extLst>
      <p:ext uri="{BB962C8B-B14F-4D97-AF65-F5344CB8AC3E}">
        <p14:creationId xmlns:p14="http://schemas.microsoft.com/office/powerpoint/2010/main" val="62541560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951647" y="3431953"/>
            <a:ext cx="2029460" cy="1955800"/>
            <a:chOff x="3512" y="834"/>
            <a:chExt cx="1598" cy="1540"/>
          </a:xfrm>
        </p:grpSpPr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3512" y="1241"/>
              <a:ext cx="1123" cy="1123"/>
            </a:xfrm>
            <a:prstGeom prst="cube">
              <a:avLst>
                <a:gd name="adj" fmla="val 2840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Aspect="1" noChangeShapeType="1"/>
            </p:cNvSpPr>
            <p:nvPr/>
          </p:nvSpPr>
          <p:spPr bwMode="auto">
            <a:xfrm>
              <a:off x="4072" y="946"/>
              <a:ext cx="0" cy="466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3753" y="2010"/>
              <a:ext cx="428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4722" y="1762"/>
              <a:ext cx="388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4116" y="834"/>
              <a:ext cx="374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1" name="Line 21"/>
            <p:cNvSpPr>
              <a:spLocks noChangeAspect="1" noChangeShapeType="1"/>
            </p:cNvSpPr>
            <p:nvPr/>
          </p:nvSpPr>
          <p:spPr bwMode="auto">
            <a:xfrm flipH="1">
              <a:off x="4453" y="1819"/>
              <a:ext cx="477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3682" y="1936"/>
              <a:ext cx="257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  <a:gd name="T4" fmla="*/ 0 60000 65536"/>
                <a:gd name="T5" fmla="*/ 0 60000 65536"/>
                <a:gd name="T6" fmla="*/ 0 w 326"/>
                <a:gd name="T7" fmla="*/ 0 h 325"/>
                <a:gd name="T8" fmla="*/ 326 w 326"/>
                <a:gd name="T9" fmla="*/ 325 h 3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990033"/>
              </a:solidFill>
              <a:round/>
              <a:headEnd/>
              <a:tailEnd type="triangle" w="med" len="lg"/>
            </a:ln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428084" y="766502"/>
            <a:ext cx="8258715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应力状态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：指作用在土体中一点（微小单元）上应力的大小与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方向</a:t>
            </a:r>
            <a:endParaRPr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74" name="Text Box 36"/>
          <p:cNvSpPr txBox="1">
            <a:spLocks noChangeArrowheads="1"/>
          </p:cNvSpPr>
          <p:nvPr/>
        </p:nvSpPr>
        <p:spPr bwMode="auto">
          <a:xfrm>
            <a:off x="1123915" y="1907236"/>
            <a:ext cx="7072735" cy="1336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可用微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单元上作用的正应力和剪应力来表示，也可用三个主应力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来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表示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452438" indent="-452438" eaLnBrk="1" hangingPunct="1">
              <a:lnSpc>
                <a:spcPct val="124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一点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应力状态在某种应力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坐标系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中对应着一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5" name="Group 22"/>
          <p:cNvGrpSpPr>
            <a:grpSpLocks/>
          </p:cNvGrpSpPr>
          <p:nvPr/>
        </p:nvGrpSpPr>
        <p:grpSpPr bwMode="auto">
          <a:xfrm>
            <a:off x="5179425" y="3475791"/>
            <a:ext cx="2462212" cy="2235200"/>
            <a:chOff x="3629" y="2085"/>
            <a:chExt cx="1551" cy="1408"/>
          </a:xfrm>
        </p:grpSpPr>
        <p:grpSp>
          <p:nvGrpSpPr>
            <p:cNvPr id="76" name="Group 23"/>
            <p:cNvGrpSpPr>
              <a:grpSpLocks/>
            </p:cNvGrpSpPr>
            <p:nvPr/>
          </p:nvGrpSpPr>
          <p:grpSpPr bwMode="auto">
            <a:xfrm>
              <a:off x="3629" y="2218"/>
              <a:ext cx="1478" cy="1141"/>
              <a:chOff x="3629" y="2218"/>
              <a:chExt cx="1478" cy="1141"/>
            </a:xfrm>
          </p:grpSpPr>
          <p:sp>
            <p:nvSpPr>
              <p:cNvPr id="87" name="Freeform 24"/>
              <p:cNvSpPr>
                <a:spLocks/>
              </p:cNvSpPr>
              <p:nvPr/>
            </p:nvSpPr>
            <p:spPr bwMode="auto">
              <a:xfrm>
                <a:off x="4109" y="2218"/>
                <a:ext cx="998" cy="720"/>
              </a:xfrm>
              <a:custGeom>
                <a:avLst/>
                <a:gdLst>
                  <a:gd name="T0" fmla="*/ 0 w 998"/>
                  <a:gd name="T1" fmla="*/ 0 h 720"/>
                  <a:gd name="T2" fmla="*/ 0 w 998"/>
                  <a:gd name="T3" fmla="*/ 720 h 720"/>
                  <a:gd name="T4" fmla="*/ 998 w 998"/>
                  <a:gd name="T5" fmla="*/ 720 h 720"/>
                  <a:gd name="T6" fmla="*/ 0 60000 65536"/>
                  <a:gd name="T7" fmla="*/ 0 60000 65536"/>
                  <a:gd name="T8" fmla="*/ 0 60000 65536"/>
                  <a:gd name="T9" fmla="*/ 0 w 998"/>
                  <a:gd name="T10" fmla="*/ 0 h 720"/>
                  <a:gd name="T11" fmla="*/ 998 w 998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98" h="720">
                    <a:moveTo>
                      <a:pt x="0" y="0"/>
                    </a:moveTo>
                    <a:lnTo>
                      <a:pt x="0" y="720"/>
                    </a:lnTo>
                    <a:lnTo>
                      <a:pt x="998" y="72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25"/>
              <p:cNvSpPr>
                <a:spLocks noChangeShapeType="1"/>
              </p:cNvSpPr>
              <p:nvPr/>
            </p:nvSpPr>
            <p:spPr bwMode="auto">
              <a:xfrm flipH="1">
                <a:off x="3629" y="2937"/>
                <a:ext cx="480" cy="42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" name="Text Box 26"/>
            <p:cNvSpPr txBox="1">
              <a:spLocks noChangeArrowheads="1"/>
            </p:cNvSpPr>
            <p:nvPr/>
          </p:nvSpPr>
          <p:spPr bwMode="auto">
            <a:xfrm>
              <a:off x="3701" y="3205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8" name="Text Box 27"/>
            <p:cNvSpPr txBox="1">
              <a:spLocks noChangeArrowheads="1"/>
            </p:cNvSpPr>
            <p:nvPr/>
          </p:nvSpPr>
          <p:spPr bwMode="auto">
            <a:xfrm>
              <a:off x="4884" y="2635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9" name="Text Box 28"/>
            <p:cNvSpPr txBox="1">
              <a:spLocks noChangeArrowheads="1"/>
            </p:cNvSpPr>
            <p:nvPr/>
          </p:nvSpPr>
          <p:spPr bwMode="auto">
            <a:xfrm>
              <a:off x="3771" y="2085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81" name="Line 30"/>
            <p:cNvSpPr>
              <a:spLocks noChangeShapeType="1"/>
            </p:cNvSpPr>
            <p:nvPr/>
          </p:nvSpPr>
          <p:spPr bwMode="auto">
            <a:xfrm>
              <a:off x="4378" y="2643"/>
              <a:ext cx="0" cy="5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31"/>
            <p:cNvSpPr>
              <a:spLocks noChangeShapeType="1"/>
            </p:cNvSpPr>
            <p:nvPr/>
          </p:nvSpPr>
          <p:spPr bwMode="auto">
            <a:xfrm flipH="1">
              <a:off x="3855" y="3173"/>
              <a:ext cx="5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32"/>
            <p:cNvSpPr>
              <a:spLocks noChangeShapeType="1"/>
            </p:cNvSpPr>
            <p:nvPr/>
          </p:nvSpPr>
          <p:spPr bwMode="auto">
            <a:xfrm flipV="1">
              <a:off x="4381" y="2941"/>
              <a:ext cx="264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33"/>
            <p:cNvSpPr>
              <a:spLocks noChangeShapeType="1"/>
            </p:cNvSpPr>
            <p:nvPr/>
          </p:nvSpPr>
          <p:spPr bwMode="auto">
            <a:xfrm flipH="1" flipV="1">
              <a:off x="4108" y="2934"/>
              <a:ext cx="2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34"/>
            <p:cNvSpPr>
              <a:spLocks noChangeShapeType="1"/>
            </p:cNvSpPr>
            <p:nvPr/>
          </p:nvSpPr>
          <p:spPr bwMode="auto">
            <a:xfrm flipH="1" flipV="1">
              <a:off x="4105" y="2407"/>
              <a:ext cx="274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Oval 35"/>
            <p:cNvSpPr>
              <a:spLocks noChangeArrowheads="1"/>
            </p:cNvSpPr>
            <p:nvPr/>
          </p:nvSpPr>
          <p:spPr bwMode="auto">
            <a:xfrm>
              <a:off x="4358" y="2624"/>
              <a:ext cx="42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Text Box 28"/>
            <p:cNvSpPr txBox="1">
              <a:spLocks noChangeArrowheads="1"/>
            </p:cNvSpPr>
            <p:nvPr/>
          </p:nvSpPr>
          <p:spPr bwMode="auto">
            <a:xfrm>
              <a:off x="4413" y="2445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-9526" y="0"/>
            <a:ext cx="62290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路径及表示方法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2552700" y="5738813"/>
            <a:ext cx="53324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应力路径及表示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方法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030479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  <p:bldP spid="74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3" name="Group 23"/>
          <p:cNvGrpSpPr>
            <a:grpSpLocks/>
          </p:cNvGrpSpPr>
          <p:nvPr/>
        </p:nvGrpSpPr>
        <p:grpSpPr bwMode="auto">
          <a:xfrm>
            <a:off x="5431518" y="3443367"/>
            <a:ext cx="2346325" cy="1820863"/>
            <a:chOff x="3629" y="2218"/>
            <a:chExt cx="1478" cy="1147"/>
          </a:xfrm>
        </p:grpSpPr>
        <p:sp>
          <p:nvSpPr>
            <p:cNvPr id="36" name="Freeform 24"/>
            <p:cNvSpPr>
              <a:spLocks/>
            </p:cNvSpPr>
            <p:nvPr/>
          </p:nvSpPr>
          <p:spPr bwMode="auto">
            <a:xfrm>
              <a:off x="4109" y="2218"/>
              <a:ext cx="998" cy="720"/>
            </a:xfrm>
            <a:custGeom>
              <a:avLst/>
              <a:gdLst>
                <a:gd name="T0" fmla="*/ 0 w 998"/>
                <a:gd name="T1" fmla="*/ 0 h 720"/>
                <a:gd name="T2" fmla="*/ 0 w 998"/>
                <a:gd name="T3" fmla="*/ 720 h 720"/>
                <a:gd name="T4" fmla="*/ 998 w 998"/>
                <a:gd name="T5" fmla="*/ 720 h 720"/>
                <a:gd name="T6" fmla="*/ 0 60000 65536"/>
                <a:gd name="T7" fmla="*/ 0 60000 65536"/>
                <a:gd name="T8" fmla="*/ 0 60000 65536"/>
                <a:gd name="T9" fmla="*/ 0 w 998"/>
                <a:gd name="T10" fmla="*/ 0 h 720"/>
                <a:gd name="T11" fmla="*/ 998 w 998"/>
                <a:gd name="T12" fmla="*/ 720 h 7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8" h="720">
                  <a:moveTo>
                    <a:pt x="0" y="0"/>
                  </a:moveTo>
                  <a:lnTo>
                    <a:pt x="0" y="720"/>
                  </a:lnTo>
                  <a:lnTo>
                    <a:pt x="998" y="72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25"/>
            <p:cNvSpPr>
              <a:spLocks noChangeShapeType="1"/>
            </p:cNvSpPr>
            <p:nvPr/>
          </p:nvSpPr>
          <p:spPr bwMode="auto">
            <a:xfrm flipH="1">
              <a:off x="3629" y="2943"/>
              <a:ext cx="480" cy="4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5545818" y="5010229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endParaRPr lang="en-US" altLang="zh-CN" sz="2400" b="1" dirty="0"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5" name="Text Box 27"/>
          <p:cNvSpPr txBox="1">
            <a:spLocks noChangeArrowheads="1"/>
          </p:cNvSpPr>
          <p:nvPr/>
        </p:nvSpPr>
        <p:spPr bwMode="auto">
          <a:xfrm>
            <a:off x="7423830" y="4105354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endParaRPr lang="en-US" altLang="zh-CN" sz="2400" b="1" dirty="0"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6" name="Text Box 28"/>
          <p:cNvSpPr txBox="1">
            <a:spLocks noChangeArrowheads="1"/>
          </p:cNvSpPr>
          <p:nvPr/>
        </p:nvSpPr>
        <p:spPr bwMode="auto">
          <a:xfrm>
            <a:off x="5656943" y="3232229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endParaRPr lang="en-US" altLang="zh-CN" sz="2400" b="1" dirty="0"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7" name="Freeform 29"/>
          <p:cNvSpPr>
            <a:spLocks/>
          </p:cNvSpPr>
          <p:nvPr/>
        </p:nvSpPr>
        <p:spPr bwMode="auto">
          <a:xfrm>
            <a:off x="6088743" y="3732292"/>
            <a:ext cx="1277937" cy="773113"/>
          </a:xfrm>
          <a:custGeom>
            <a:avLst/>
            <a:gdLst>
              <a:gd name="T0" fmla="*/ 0 w 805"/>
              <a:gd name="T1" fmla="*/ 487 h 487"/>
              <a:gd name="T2" fmla="*/ 139 w 805"/>
              <a:gd name="T3" fmla="*/ 358 h 487"/>
              <a:gd name="T4" fmla="*/ 349 w 805"/>
              <a:gd name="T5" fmla="*/ 240 h 487"/>
              <a:gd name="T6" fmla="*/ 479 w 805"/>
              <a:gd name="T7" fmla="*/ 307 h 487"/>
              <a:gd name="T8" fmla="*/ 642 w 805"/>
              <a:gd name="T9" fmla="*/ 202 h 487"/>
              <a:gd name="T10" fmla="*/ 805 w 805"/>
              <a:gd name="T11" fmla="*/ 0 h 48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05"/>
              <a:gd name="T19" fmla="*/ 0 h 487"/>
              <a:gd name="T20" fmla="*/ 805 w 805"/>
              <a:gd name="T21" fmla="*/ 487 h 48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05" h="487">
                <a:moveTo>
                  <a:pt x="0" y="487"/>
                </a:moveTo>
                <a:cubicBezTo>
                  <a:pt x="23" y="465"/>
                  <a:pt x="81" y="399"/>
                  <a:pt x="139" y="358"/>
                </a:cubicBezTo>
                <a:cubicBezTo>
                  <a:pt x="197" y="317"/>
                  <a:pt x="292" y="249"/>
                  <a:pt x="349" y="240"/>
                </a:cubicBezTo>
                <a:cubicBezTo>
                  <a:pt x="406" y="231"/>
                  <a:pt x="430" y="313"/>
                  <a:pt x="479" y="307"/>
                </a:cubicBezTo>
                <a:cubicBezTo>
                  <a:pt x="528" y="301"/>
                  <a:pt x="588" y="253"/>
                  <a:pt x="642" y="202"/>
                </a:cubicBezTo>
                <a:cubicBezTo>
                  <a:pt x="696" y="151"/>
                  <a:pt x="771" y="42"/>
                  <a:pt x="805" y="0"/>
                </a:cubicBezTo>
              </a:path>
            </a:pathLst>
          </a:custGeom>
          <a:noFill/>
          <a:ln w="19050" cmpd="sng">
            <a:solidFill>
              <a:srgbClr val="A5002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Oval 35"/>
          <p:cNvSpPr>
            <a:spLocks noChangeArrowheads="1"/>
          </p:cNvSpPr>
          <p:nvPr/>
        </p:nvSpPr>
        <p:spPr bwMode="auto">
          <a:xfrm>
            <a:off x="6074454" y="4453652"/>
            <a:ext cx="72000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436323" y="750026"/>
            <a:ext cx="2292890" cy="44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应力路径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 Box 36"/>
          <p:cNvSpPr txBox="1">
            <a:spLocks noChangeArrowheads="1"/>
          </p:cNvSpPr>
          <p:nvPr/>
        </p:nvSpPr>
        <p:spPr bwMode="auto">
          <a:xfrm>
            <a:off x="803222" y="1415303"/>
            <a:ext cx="7687634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当荷载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发生变化时，土体</a:t>
            </a: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中的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应力状态也会随</a:t>
            </a: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之变化，表示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该点应力状态的点也会发生相应的</a:t>
            </a: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移动</a:t>
            </a:r>
            <a:endParaRPr lang="en-US" altLang="zh-CN" sz="22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marL="361950" indent="-361950" eaLnBrk="1" hangingPunct="1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当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土体中一点的应力状态发生连续变化时，表示应力状态的点在应力空间（平面）中形成的轨迹称为</a:t>
            </a:r>
            <a:r>
              <a:rPr lang="zh-CN" altLang="en-US" sz="2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应力路径</a:t>
            </a:r>
            <a:endParaRPr lang="en-US" altLang="zh-CN" sz="2200" b="1" dirty="0" smtClean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grpSp>
        <p:nvGrpSpPr>
          <p:cNvPr id="51" name="Group 5"/>
          <p:cNvGrpSpPr>
            <a:grpSpLocks/>
          </p:cNvGrpSpPr>
          <p:nvPr/>
        </p:nvGrpSpPr>
        <p:grpSpPr bwMode="auto">
          <a:xfrm>
            <a:off x="2040978" y="3425002"/>
            <a:ext cx="2029460" cy="1955800"/>
            <a:chOff x="3512" y="834"/>
            <a:chExt cx="1598" cy="1540"/>
          </a:xfrm>
        </p:grpSpPr>
        <p:sp>
          <p:nvSpPr>
            <p:cNvPr id="52" name="AutoShape 6"/>
            <p:cNvSpPr>
              <a:spLocks noChangeArrowheads="1"/>
            </p:cNvSpPr>
            <p:nvPr/>
          </p:nvSpPr>
          <p:spPr bwMode="auto">
            <a:xfrm>
              <a:off x="3512" y="1241"/>
              <a:ext cx="1123" cy="1123"/>
            </a:xfrm>
            <a:prstGeom prst="cube">
              <a:avLst>
                <a:gd name="adj" fmla="val 2840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14"/>
            <p:cNvSpPr>
              <a:spLocks noChangeAspect="1" noChangeShapeType="1"/>
            </p:cNvSpPr>
            <p:nvPr/>
          </p:nvSpPr>
          <p:spPr bwMode="auto">
            <a:xfrm>
              <a:off x="4072" y="946"/>
              <a:ext cx="0" cy="466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Text Box 15"/>
            <p:cNvSpPr txBox="1">
              <a:spLocks noChangeArrowheads="1"/>
            </p:cNvSpPr>
            <p:nvPr/>
          </p:nvSpPr>
          <p:spPr bwMode="auto">
            <a:xfrm>
              <a:off x="3753" y="2010"/>
              <a:ext cx="428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55" name="Text Box 19"/>
            <p:cNvSpPr txBox="1">
              <a:spLocks noChangeArrowheads="1"/>
            </p:cNvSpPr>
            <p:nvPr/>
          </p:nvSpPr>
          <p:spPr bwMode="auto">
            <a:xfrm>
              <a:off x="4722" y="1762"/>
              <a:ext cx="388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56" name="Text Box 20"/>
            <p:cNvSpPr txBox="1">
              <a:spLocks noChangeArrowheads="1"/>
            </p:cNvSpPr>
            <p:nvPr/>
          </p:nvSpPr>
          <p:spPr bwMode="auto">
            <a:xfrm>
              <a:off x="4116" y="834"/>
              <a:ext cx="374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57" name="Line 21"/>
            <p:cNvSpPr>
              <a:spLocks noChangeAspect="1" noChangeShapeType="1"/>
            </p:cNvSpPr>
            <p:nvPr/>
          </p:nvSpPr>
          <p:spPr bwMode="auto">
            <a:xfrm flipH="1">
              <a:off x="4453" y="1819"/>
              <a:ext cx="477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Freeform 7"/>
            <p:cNvSpPr>
              <a:spLocks noChangeAspect="1"/>
            </p:cNvSpPr>
            <p:nvPr/>
          </p:nvSpPr>
          <p:spPr bwMode="auto">
            <a:xfrm>
              <a:off x="3682" y="1936"/>
              <a:ext cx="257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  <a:gd name="T4" fmla="*/ 0 60000 65536"/>
                <a:gd name="T5" fmla="*/ 0 60000 65536"/>
                <a:gd name="T6" fmla="*/ 0 w 326"/>
                <a:gd name="T7" fmla="*/ 0 h 325"/>
                <a:gd name="T8" fmla="*/ 326 w 326"/>
                <a:gd name="T9" fmla="*/ 325 h 3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990033"/>
              </a:solidFill>
              <a:round/>
              <a:headEnd/>
              <a:tailEnd type="triangle" w="med" len="lg"/>
            </a:ln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9" name="矩形 58"/>
          <p:cNvSpPr/>
          <p:nvPr/>
        </p:nvSpPr>
        <p:spPr bwMode="auto">
          <a:xfrm>
            <a:off x="3645578" y="4558091"/>
            <a:ext cx="234952" cy="20955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2645452" y="3567491"/>
            <a:ext cx="177803" cy="13335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2552700" y="5738813"/>
            <a:ext cx="53324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应力路径及表示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方法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-9526" y="0"/>
            <a:ext cx="62290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路径及表示方法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481877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C 0.00173 -0.00092 0.00694 -0.01111 0.01406 -0.01828 C 0.01892 -0.02407 0.02378 -0.02939 0.02864 -0.03379 C 0.03368 -0.03889 0.03923 -0.04328 0.04305 -0.04606 C 0.04896 -0.05185 0.04809 -0.05046 0.05121 -0.05139 C 0.05399 -0.05324 0.05816 -0.05625 0.06198 -0.05486 C 0.06736 -0.05486 0.06875 -0.04699 0.07257 -0.04467 C 0.07621 -0.04259 0.07534 -0.03819 0.07934 -0.03958 C 0.08611 -0.03889 0.09271 -0.04537 0.10017 -0.05185 C 0.10989 -0.06412 0.09809 -0.05046 0.11527 -0.07199 C 0.12031 -0.07777 0.1243 -0.08634 0.12708 -0.09143 C 0.13003 -0.09652 0.13489 -0.10601 0.13489 -0.10856 " pathEditMode="relative" rAng="0" ptsTypes="AAAAAAAAAAAA">
                                      <p:cBhvr>
                                        <p:cTn id="18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36" y="-544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3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9" grpId="0" build="p"/>
      <p:bldP spid="59" grpId="0" animBg="1"/>
      <p:bldP spid="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699043" y="5384153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5679398" y="630238"/>
            <a:ext cx="3292475" cy="3005138"/>
            <a:chOff x="229" y="701"/>
            <a:chExt cx="2074" cy="1893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814" y="1218"/>
              <a:ext cx="1077" cy="1048"/>
            </a:xfrm>
            <a:prstGeom prst="ellips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229" y="1626"/>
              <a:ext cx="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1698" y="1680"/>
              <a:ext cx="368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875" y="1680"/>
              <a:ext cx="368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cs typeface="Times New Roman" panose="02020603050405020304" pitchFamily="18" charset="0"/>
                  <a:sym typeface="Symbol" pitchFamily="18" charset="2"/>
                </a:rPr>
                <a:t>3</a:t>
              </a:r>
            </a:p>
          </p:txBody>
        </p:sp>
        <p:grpSp>
          <p:nvGrpSpPr>
            <p:cNvPr id="11" name="Group 9"/>
            <p:cNvGrpSpPr>
              <a:grpSpLocks/>
            </p:cNvGrpSpPr>
            <p:nvPr/>
          </p:nvGrpSpPr>
          <p:grpSpPr bwMode="auto">
            <a:xfrm>
              <a:off x="469" y="701"/>
              <a:ext cx="1834" cy="1893"/>
              <a:chOff x="469" y="701"/>
              <a:chExt cx="1834" cy="1893"/>
            </a:xfrm>
          </p:grpSpPr>
          <p:sp>
            <p:nvSpPr>
              <p:cNvPr id="17" name="Text Box 10"/>
              <p:cNvSpPr txBox="1">
                <a:spLocks noChangeArrowheads="1"/>
              </p:cNvSpPr>
              <p:nvPr/>
            </p:nvSpPr>
            <p:spPr bwMode="auto">
              <a:xfrm>
                <a:off x="2060" y="1740"/>
                <a:ext cx="243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i="1" dirty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</a:p>
            </p:txBody>
          </p:sp>
          <p:sp>
            <p:nvSpPr>
              <p:cNvPr id="18" name="Text Box 11"/>
              <p:cNvSpPr txBox="1">
                <a:spLocks noChangeArrowheads="1"/>
              </p:cNvSpPr>
              <p:nvPr/>
            </p:nvSpPr>
            <p:spPr bwMode="auto">
              <a:xfrm>
                <a:off x="541" y="701"/>
                <a:ext cx="243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800" b="1" i="1" dirty="0">
                    <a:cs typeface="Times New Roman" panose="02020603050405020304" pitchFamily="18" charset="0"/>
                    <a:sym typeface="Symbol" pitchFamily="18" charset="2"/>
                  </a:rPr>
                  <a:t></a:t>
                </a:r>
              </a:p>
            </p:txBody>
          </p:sp>
          <p:sp>
            <p:nvSpPr>
              <p:cNvPr id="19" name="Line 12"/>
              <p:cNvSpPr>
                <a:spLocks noChangeShapeType="1"/>
              </p:cNvSpPr>
              <p:nvPr/>
            </p:nvSpPr>
            <p:spPr bwMode="auto">
              <a:xfrm flipV="1">
                <a:off x="473" y="860"/>
                <a:ext cx="0" cy="173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13"/>
              <p:cNvSpPr>
                <a:spLocks noChangeShapeType="1"/>
              </p:cNvSpPr>
              <p:nvPr/>
            </p:nvSpPr>
            <p:spPr bwMode="auto">
              <a:xfrm>
                <a:off x="469" y="1742"/>
                <a:ext cx="17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" name="Oval 14"/>
            <p:cNvSpPr>
              <a:spLocks noChangeArrowheads="1"/>
            </p:cNvSpPr>
            <p:nvPr/>
          </p:nvSpPr>
          <p:spPr bwMode="auto">
            <a:xfrm>
              <a:off x="1347" y="1717"/>
              <a:ext cx="42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681034" y="1624281"/>
            <a:ext cx="4520693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应力状态可用莫尔圆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表示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莫尔圆大小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和位置同其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顶点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存在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一一对应的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关系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1366303" y="4249399"/>
            <a:ext cx="2317176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Arial" panose="020B0604020202020204" pitchFamily="34" charset="0"/>
              <a:buChar char="•"/>
            </a:pP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=(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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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Arial" panose="020B0604020202020204" pitchFamily="34" charset="0"/>
              <a:buChar char="•"/>
            </a:pP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q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=(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)</a:t>
            </a:r>
          </a:p>
        </p:txBody>
      </p:sp>
      <p:sp>
        <p:nvSpPr>
          <p:cNvPr id="24" name="AutoShape 23"/>
          <p:cNvSpPr>
            <a:spLocks noChangeArrowheads="1"/>
          </p:cNvSpPr>
          <p:nvPr/>
        </p:nvSpPr>
        <p:spPr bwMode="auto">
          <a:xfrm>
            <a:off x="519107" y="3137619"/>
            <a:ext cx="479425" cy="515937"/>
          </a:xfrm>
          <a:prstGeom prst="homePlate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6" name="Oval 25"/>
          <p:cNvSpPr>
            <a:spLocks noChangeArrowheads="1"/>
          </p:cNvSpPr>
          <p:nvPr/>
        </p:nvSpPr>
        <p:spPr bwMode="auto">
          <a:xfrm>
            <a:off x="7454223" y="1425575"/>
            <a:ext cx="66675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7517721" y="905933"/>
            <a:ext cx="1074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ea typeface="幼圆" pitchFamily="49" charset="-122"/>
              </a:rPr>
              <a:t>A(</a:t>
            </a:r>
            <a:r>
              <a:rPr lang="en-US" altLang="zh-CN" sz="2400" b="1" i="1" dirty="0" smtClean="0">
                <a:ea typeface="幼圆" pitchFamily="49" charset="-122"/>
              </a:rPr>
              <a:t>p</a:t>
            </a:r>
            <a:r>
              <a:rPr lang="en-US" altLang="zh-CN" sz="2400" b="1" dirty="0" smtClean="0">
                <a:ea typeface="幼圆" pitchFamily="49" charset="-122"/>
              </a:rPr>
              <a:t>, </a:t>
            </a:r>
            <a:r>
              <a:rPr lang="en-US" altLang="zh-CN" sz="2400" b="1" i="1" dirty="0" smtClean="0">
                <a:ea typeface="幼圆" pitchFamily="49" charset="-122"/>
              </a:rPr>
              <a:t>q</a:t>
            </a:r>
            <a:r>
              <a:rPr lang="en-US" altLang="zh-CN" sz="2400" b="1" dirty="0">
                <a:ea typeface="幼圆" pitchFamily="49" charset="-122"/>
              </a:rPr>
              <a:t>)</a:t>
            </a:r>
            <a:endParaRPr lang="zh-CN" altLang="en-US" sz="2400" b="1" dirty="0">
              <a:ea typeface="幼圆" pitchFamily="49" charset="-122"/>
            </a:endParaRPr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1276353" y="3182069"/>
            <a:ext cx="4029072" cy="8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 eaLnBrk="1" hangingPunct="1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一点的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应力状态也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可以用莫尔圆顶点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的坐标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）表示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 Box 36"/>
          <p:cNvSpPr txBox="1">
            <a:spLocks noChangeArrowheads="1"/>
          </p:cNvSpPr>
          <p:nvPr/>
        </p:nvSpPr>
        <p:spPr bwMode="auto">
          <a:xfrm>
            <a:off x="428085" y="766502"/>
            <a:ext cx="3747100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应力状态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及莫尔圆</a:t>
            </a:r>
          </a:p>
        </p:txBody>
      </p:sp>
      <p:sp>
        <p:nvSpPr>
          <p:cNvPr id="29" name="Line 17"/>
          <p:cNvSpPr>
            <a:spLocks noChangeShapeType="1"/>
          </p:cNvSpPr>
          <p:nvPr/>
        </p:nvSpPr>
        <p:spPr bwMode="auto">
          <a:xfrm flipV="1">
            <a:off x="7492410" y="1496579"/>
            <a:ext cx="0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2552700" y="5738813"/>
            <a:ext cx="53324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应力路径及表示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方法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-9526" y="0"/>
            <a:ext cx="62290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路径及表示方法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98056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1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100"/>
                            </p:stCondLst>
                            <p:childTnLst>
                              <p:par>
                                <p:cTn id="28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600"/>
                            </p:stCondLst>
                            <p:childTnLst>
                              <p:par>
                                <p:cTn id="5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100"/>
                            </p:stCondLst>
                            <p:childTnLst>
                              <p:par>
                                <p:cTn id="5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  <p:bldP spid="23" grpId="0" build="p" autoUpdateAnimBg="0"/>
      <p:bldP spid="24" grpId="0" animBg="1"/>
      <p:bldP spid="26" grpId="0" animBg="1"/>
      <p:bldP spid="27" grpId="0"/>
      <p:bldP spid="32" grpId="0"/>
      <p:bldP spid="2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5357060" y="790210"/>
            <a:ext cx="3776663" cy="2232025"/>
            <a:chOff x="250" y="438"/>
            <a:chExt cx="2379" cy="1406"/>
          </a:xfrm>
        </p:grpSpPr>
        <p:sp>
          <p:nvSpPr>
            <p:cNvPr id="5" name="Line 4"/>
            <p:cNvSpPr>
              <a:spLocks noChangeShapeType="1"/>
            </p:cNvSpPr>
            <p:nvPr/>
          </p:nvSpPr>
          <p:spPr bwMode="auto">
            <a:xfrm flipV="1">
              <a:off x="779" y="592"/>
              <a:ext cx="0" cy="11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2386" y="1556"/>
              <a:ext cx="2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790" y="438"/>
              <a:ext cx="2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563" y="1577"/>
              <a:ext cx="24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322" y="1584"/>
              <a:ext cx="22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220" y="567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强度包线</a:t>
              </a:r>
              <a:endParaRPr lang="en-US" altLang="zh-CN" sz="20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1761" y="791"/>
              <a:ext cx="88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385" y="748"/>
              <a:ext cx="1933" cy="839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250" y="1576"/>
              <a:ext cx="3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O</a:t>
              </a:r>
            </a:p>
          </p:txBody>
        </p:sp>
      </p:grpSp>
      <p:sp>
        <p:nvSpPr>
          <p:cNvPr id="17" name="Arc 17"/>
          <p:cNvSpPr>
            <a:spLocks/>
          </p:cNvSpPr>
          <p:nvPr/>
        </p:nvSpPr>
        <p:spPr bwMode="auto">
          <a:xfrm flipH="1" flipV="1">
            <a:off x="6874710" y="2188798"/>
            <a:ext cx="822325" cy="420687"/>
          </a:xfrm>
          <a:custGeom>
            <a:avLst/>
            <a:gdLst>
              <a:gd name="T0" fmla="*/ 822249 w 43200"/>
              <a:gd name="T1" fmla="*/ 1541 h 22107"/>
              <a:gd name="T2" fmla="*/ 114 w 43200"/>
              <a:gd name="T3" fmla="*/ 0 h 22107"/>
              <a:gd name="T4" fmla="*/ 411163 w 43200"/>
              <a:gd name="T5" fmla="*/ 9648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rc 18"/>
          <p:cNvSpPr>
            <a:spLocks/>
          </p:cNvSpPr>
          <p:nvPr/>
        </p:nvSpPr>
        <p:spPr bwMode="auto">
          <a:xfrm flipH="1" flipV="1">
            <a:off x="6874710" y="2064973"/>
            <a:ext cx="1068388" cy="546100"/>
          </a:xfrm>
          <a:custGeom>
            <a:avLst/>
            <a:gdLst>
              <a:gd name="T0" fmla="*/ 1068289 w 43200"/>
              <a:gd name="T1" fmla="*/ 2001 h 22107"/>
              <a:gd name="T2" fmla="*/ 148 w 43200"/>
              <a:gd name="T3" fmla="*/ 0 h 22107"/>
              <a:gd name="T4" fmla="*/ 534194 w 43200"/>
              <a:gd name="T5" fmla="*/ 12524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rc 19"/>
          <p:cNvSpPr>
            <a:spLocks/>
          </p:cNvSpPr>
          <p:nvPr/>
        </p:nvSpPr>
        <p:spPr bwMode="auto">
          <a:xfrm flipH="1" flipV="1">
            <a:off x="6874710" y="1912573"/>
            <a:ext cx="1347788" cy="687387"/>
          </a:xfrm>
          <a:custGeom>
            <a:avLst/>
            <a:gdLst>
              <a:gd name="T0" fmla="*/ 1347663 w 43200"/>
              <a:gd name="T1" fmla="*/ 2519 h 22107"/>
              <a:gd name="T2" fmla="*/ 187 w 43200"/>
              <a:gd name="T3" fmla="*/ 0 h 22107"/>
              <a:gd name="T4" fmla="*/ 673894 w 43200"/>
              <a:gd name="T5" fmla="*/ 15764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Arc 20"/>
          <p:cNvSpPr>
            <a:spLocks/>
          </p:cNvSpPr>
          <p:nvPr/>
        </p:nvSpPr>
        <p:spPr bwMode="auto">
          <a:xfrm flipH="1" flipV="1">
            <a:off x="6874710" y="1776048"/>
            <a:ext cx="1627188" cy="830262"/>
          </a:xfrm>
          <a:custGeom>
            <a:avLst/>
            <a:gdLst>
              <a:gd name="T0" fmla="*/ 1627037 w 43200"/>
              <a:gd name="T1" fmla="*/ 3042 h 22107"/>
              <a:gd name="T2" fmla="*/ 226 w 43200"/>
              <a:gd name="T3" fmla="*/ 0 h 22107"/>
              <a:gd name="T4" fmla="*/ 813594 w 43200"/>
              <a:gd name="T5" fmla="*/ 19041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rc 21"/>
          <p:cNvSpPr>
            <a:spLocks/>
          </p:cNvSpPr>
          <p:nvPr/>
        </p:nvSpPr>
        <p:spPr bwMode="auto">
          <a:xfrm flipH="1" flipV="1">
            <a:off x="6874710" y="2352310"/>
            <a:ext cx="508000" cy="260350"/>
          </a:xfrm>
          <a:custGeom>
            <a:avLst/>
            <a:gdLst>
              <a:gd name="T0" fmla="*/ 507953 w 43200"/>
              <a:gd name="T1" fmla="*/ 954 h 22107"/>
              <a:gd name="T2" fmla="*/ 71 w 43200"/>
              <a:gd name="T3" fmla="*/ 0 h 22107"/>
              <a:gd name="T4" fmla="*/ 254000 w 43200"/>
              <a:gd name="T5" fmla="*/ 5971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" name="Group 22"/>
          <p:cNvGrpSpPr>
            <a:grpSpLocks/>
          </p:cNvGrpSpPr>
          <p:nvPr/>
        </p:nvGrpSpPr>
        <p:grpSpPr bwMode="auto">
          <a:xfrm>
            <a:off x="6623885" y="2536460"/>
            <a:ext cx="1614488" cy="460375"/>
            <a:chOff x="1048" y="1538"/>
            <a:chExt cx="1017" cy="290"/>
          </a:xfrm>
        </p:grpSpPr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1048" y="1540"/>
              <a:ext cx="3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6600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6600"/>
                  </a:solidFill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660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1500" y="1538"/>
              <a:ext cx="5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6600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6600"/>
                  </a:solidFill>
                  <a:cs typeface="Times New Roman" panose="02020603050405020304" pitchFamily="18" charset="0"/>
                  <a:sym typeface="Symbol" pitchFamily="18" charset="2"/>
                </a:rPr>
                <a:t>1 </a:t>
              </a:r>
              <a:r>
                <a:rPr lang="en-US" altLang="zh-CN" sz="2400" b="1" dirty="0">
                  <a:solidFill>
                    <a:srgbClr val="006600"/>
                  </a:solidFill>
                  <a:cs typeface="Times New Roman" panose="02020603050405020304" pitchFamily="18" charset="0"/>
                  <a:sym typeface="Symbol" pitchFamily="18" charset="2"/>
                </a:rPr>
                <a:t></a:t>
              </a:r>
            </a:p>
          </p:txBody>
        </p:sp>
      </p:grpSp>
      <p:sp>
        <p:nvSpPr>
          <p:cNvPr id="25" name="Oval 25"/>
          <p:cNvSpPr>
            <a:spLocks noChangeArrowheads="1"/>
          </p:cNvSpPr>
          <p:nvPr/>
        </p:nvSpPr>
        <p:spPr bwMode="auto">
          <a:xfrm>
            <a:off x="6841373" y="2574560"/>
            <a:ext cx="66675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Text Box 15"/>
          <p:cNvSpPr txBox="1">
            <a:spLocks noChangeArrowheads="1"/>
          </p:cNvSpPr>
          <p:nvPr/>
        </p:nvSpPr>
        <p:spPr bwMode="auto">
          <a:xfrm>
            <a:off x="803219" y="1443482"/>
            <a:ext cx="4657302" cy="8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方法</a:t>
            </a:r>
            <a:r>
              <a:rPr lang="en-US" altLang="zh-CN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：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用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- 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图上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一系列莫尔圆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表示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7" name="Text Box 16"/>
          <p:cNvSpPr txBox="1">
            <a:spLocks noChangeArrowheads="1"/>
          </p:cNvSpPr>
          <p:nvPr/>
        </p:nvSpPr>
        <p:spPr bwMode="auto">
          <a:xfrm>
            <a:off x="1121437" y="2320085"/>
            <a:ext cx="4278696" cy="93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6700" indent="-2667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5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破坏</a:t>
            </a: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时莫尔圆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与强度包线相切</a:t>
            </a:r>
          </a:p>
          <a:p>
            <a:pPr marL="266700" indent="-2667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5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不直观，易混乱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60" name="Text Box 36"/>
          <p:cNvSpPr txBox="1">
            <a:spLocks noChangeArrowheads="1"/>
          </p:cNvSpPr>
          <p:nvPr/>
        </p:nvSpPr>
        <p:spPr bwMode="auto">
          <a:xfrm>
            <a:off x="428085" y="766502"/>
            <a:ext cx="3747100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应力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路径的表示方法</a:t>
            </a:r>
          </a:p>
        </p:txBody>
      </p:sp>
      <p:sp>
        <p:nvSpPr>
          <p:cNvPr id="61" name="Text Box 26"/>
          <p:cNvSpPr txBox="1">
            <a:spLocks noChangeArrowheads="1"/>
          </p:cNvSpPr>
          <p:nvPr/>
        </p:nvSpPr>
        <p:spPr bwMode="auto">
          <a:xfrm>
            <a:off x="6491174" y="2217149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</a:rPr>
              <a:t>A</a:t>
            </a:r>
            <a:endParaRPr lang="zh-CN" altLang="en-US" sz="2400" b="1" dirty="0">
              <a:solidFill>
                <a:srgbClr val="C00000"/>
              </a:solidFill>
              <a:ea typeface="幼圆" pitchFamily="49" charset="-122"/>
            </a:endParaRPr>
          </a:p>
        </p:txBody>
      </p: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2552700" y="5738813"/>
            <a:ext cx="53324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应力路径及表示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方法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67" name="Text Box 7"/>
          <p:cNvSpPr txBox="1">
            <a:spLocks noChangeArrowheads="1"/>
          </p:cNvSpPr>
          <p:nvPr/>
        </p:nvSpPr>
        <p:spPr bwMode="auto">
          <a:xfrm>
            <a:off x="-9526" y="0"/>
            <a:ext cx="62290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路径及表示方法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016991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  <p:bldP spid="56" grpId="0"/>
      <p:bldP spid="57" grpId="0" autoUpdateAnimBg="0"/>
      <p:bldP spid="6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 26"/>
          <p:cNvSpPr txBox="1">
            <a:spLocks noChangeArrowheads="1"/>
          </p:cNvSpPr>
          <p:nvPr/>
        </p:nvSpPr>
        <p:spPr bwMode="auto">
          <a:xfrm>
            <a:off x="6462419" y="4586537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</a:rPr>
              <a:t>A</a:t>
            </a:r>
            <a:endParaRPr lang="zh-CN" altLang="en-US" sz="2400" b="1" dirty="0">
              <a:solidFill>
                <a:srgbClr val="C00000"/>
              </a:solidFill>
              <a:ea typeface="幼圆" pitchFamily="49" charset="-122"/>
            </a:endParaRPr>
          </a:p>
        </p:txBody>
      </p:sp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5357060" y="790210"/>
            <a:ext cx="3776663" cy="2232025"/>
            <a:chOff x="250" y="438"/>
            <a:chExt cx="2379" cy="1406"/>
          </a:xfrm>
        </p:grpSpPr>
        <p:sp>
          <p:nvSpPr>
            <p:cNvPr id="5" name="Line 4"/>
            <p:cNvSpPr>
              <a:spLocks noChangeShapeType="1"/>
            </p:cNvSpPr>
            <p:nvPr/>
          </p:nvSpPr>
          <p:spPr bwMode="auto">
            <a:xfrm flipV="1">
              <a:off x="779" y="592"/>
              <a:ext cx="0" cy="11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2386" y="1556"/>
              <a:ext cx="2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790" y="438"/>
              <a:ext cx="2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563" y="1577"/>
              <a:ext cx="24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322" y="1584"/>
              <a:ext cx="22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220" y="567"/>
              <a:ext cx="7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强度包线</a:t>
              </a:r>
              <a:endParaRPr lang="en-US" altLang="zh-CN" sz="20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1761" y="791"/>
              <a:ext cx="88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385" y="748"/>
              <a:ext cx="1933" cy="839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250" y="1576"/>
              <a:ext cx="3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O</a:t>
              </a:r>
            </a:p>
          </p:txBody>
        </p:sp>
      </p:grpSp>
      <p:sp>
        <p:nvSpPr>
          <p:cNvPr id="17" name="Arc 17"/>
          <p:cNvSpPr>
            <a:spLocks/>
          </p:cNvSpPr>
          <p:nvPr/>
        </p:nvSpPr>
        <p:spPr bwMode="auto">
          <a:xfrm flipH="1" flipV="1">
            <a:off x="6874710" y="2188798"/>
            <a:ext cx="822325" cy="420687"/>
          </a:xfrm>
          <a:custGeom>
            <a:avLst/>
            <a:gdLst>
              <a:gd name="T0" fmla="*/ 822249 w 43200"/>
              <a:gd name="T1" fmla="*/ 1541 h 22107"/>
              <a:gd name="T2" fmla="*/ 114 w 43200"/>
              <a:gd name="T3" fmla="*/ 0 h 22107"/>
              <a:gd name="T4" fmla="*/ 411163 w 43200"/>
              <a:gd name="T5" fmla="*/ 9648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rc 18"/>
          <p:cNvSpPr>
            <a:spLocks/>
          </p:cNvSpPr>
          <p:nvPr/>
        </p:nvSpPr>
        <p:spPr bwMode="auto">
          <a:xfrm flipH="1" flipV="1">
            <a:off x="6874710" y="2064973"/>
            <a:ext cx="1068388" cy="546100"/>
          </a:xfrm>
          <a:custGeom>
            <a:avLst/>
            <a:gdLst>
              <a:gd name="T0" fmla="*/ 1068289 w 43200"/>
              <a:gd name="T1" fmla="*/ 2001 h 22107"/>
              <a:gd name="T2" fmla="*/ 148 w 43200"/>
              <a:gd name="T3" fmla="*/ 0 h 22107"/>
              <a:gd name="T4" fmla="*/ 534194 w 43200"/>
              <a:gd name="T5" fmla="*/ 12524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rc 19"/>
          <p:cNvSpPr>
            <a:spLocks/>
          </p:cNvSpPr>
          <p:nvPr/>
        </p:nvSpPr>
        <p:spPr bwMode="auto">
          <a:xfrm flipH="1" flipV="1">
            <a:off x="6874710" y="1912573"/>
            <a:ext cx="1347788" cy="687387"/>
          </a:xfrm>
          <a:custGeom>
            <a:avLst/>
            <a:gdLst>
              <a:gd name="T0" fmla="*/ 1347663 w 43200"/>
              <a:gd name="T1" fmla="*/ 2519 h 22107"/>
              <a:gd name="T2" fmla="*/ 187 w 43200"/>
              <a:gd name="T3" fmla="*/ 0 h 22107"/>
              <a:gd name="T4" fmla="*/ 673894 w 43200"/>
              <a:gd name="T5" fmla="*/ 15764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Arc 20"/>
          <p:cNvSpPr>
            <a:spLocks/>
          </p:cNvSpPr>
          <p:nvPr/>
        </p:nvSpPr>
        <p:spPr bwMode="auto">
          <a:xfrm flipH="1" flipV="1">
            <a:off x="6874710" y="1776048"/>
            <a:ext cx="1627188" cy="830262"/>
          </a:xfrm>
          <a:custGeom>
            <a:avLst/>
            <a:gdLst>
              <a:gd name="T0" fmla="*/ 1627037 w 43200"/>
              <a:gd name="T1" fmla="*/ 3042 h 22107"/>
              <a:gd name="T2" fmla="*/ 226 w 43200"/>
              <a:gd name="T3" fmla="*/ 0 h 22107"/>
              <a:gd name="T4" fmla="*/ 813594 w 43200"/>
              <a:gd name="T5" fmla="*/ 19041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rc 21"/>
          <p:cNvSpPr>
            <a:spLocks/>
          </p:cNvSpPr>
          <p:nvPr/>
        </p:nvSpPr>
        <p:spPr bwMode="auto">
          <a:xfrm flipH="1" flipV="1">
            <a:off x="6874710" y="2352310"/>
            <a:ext cx="508000" cy="260350"/>
          </a:xfrm>
          <a:custGeom>
            <a:avLst/>
            <a:gdLst>
              <a:gd name="T0" fmla="*/ 507953 w 43200"/>
              <a:gd name="T1" fmla="*/ 954 h 22107"/>
              <a:gd name="T2" fmla="*/ 71 w 43200"/>
              <a:gd name="T3" fmla="*/ 0 h 22107"/>
              <a:gd name="T4" fmla="*/ 254000 w 43200"/>
              <a:gd name="T5" fmla="*/ 5971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" name="Group 22"/>
          <p:cNvGrpSpPr>
            <a:grpSpLocks/>
          </p:cNvGrpSpPr>
          <p:nvPr/>
        </p:nvGrpSpPr>
        <p:grpSpPr bwMode="auto">
          <a:xfrm>
            <a:off x="6623885" y="2536460"/>
            <a:ext cx="1614488" cy="460375"/>
            <a:chOff x="1048" y="1538"/>
            <a:chExt cx="1017" cy="290"/>
          </a:xfrm>
        </p:grpSpPr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1048" y="1540"/>
              <a:ext cx="3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6600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6600"/>
                  </a:solidFill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660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1500" y="1538"/>
              <a:ext cx="5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6600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6600"/>
                  </a:solidFill>
                  <a:cs typeface="Times New Roman" panose="02020603050405020304" pitchFamily="18" charset="0"/>
                  <a:sym typeface="Symbol" pitchFamily="18" charset="2"/>
                </a:rPr>
                <a:t>1 </a:t>
              </a:r>
              <a:r>
                <a:rPr lang="en-US" altLang="zh-CN" sz="2400" b="1" dirty="0">
                  <a:solidFill>
                    <a:srgbClr val="006600"/>
                  </a:solidFill>
                  <a:cs typeface="Times New Roman" panose="02020603050405020304" pitchFamily="18" charset="0"/>
                  <a:sym typeface="Symbol" pitchFamily="18" charset="2"/>
                </a:rPr>
                <a:t></a:t>
              </a:r>
            </a:p>
          </p:txBody>
        </p:sp>
      </p:grpSp>
      <p:sp>
        <p:nvSpPr>
          <p:cNvPr id="25" name="Oval 25"/>
          <p:cNvSpPr>
            <a:spLocks noChangeArrowheads="1"/>
          </p:cNvSpPr>
          <p:nvPr/>
        </p:nvSpPr>
        <p:spPr bwMode="auto">
          <a:xfrm>
            <a:off x="6841373" y="2574560"/>
            <a:ext cx="66675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" name="Group 26"/>
          <p:cNvGrpSpPr>
            <a:grpSpLocks/>
          </p:cNvGrpSpPr>
          <p:nvPr/>
        </p:nvGrpSpPr>
        <p:grpSpPr bwMode="auto">
          <a:xfrm>
            <a:off x="5338010" y="3081547"/>
            <a:ext cx="3786188" cy="2312988"/>
            <a:chOff x="238" y="1952"/>
            <a:chExt cx="2385" cy="1457"/>
          </a:xfrm>
        </p:grpSpPr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V="1">
              <a:off x="773" y="2157"/>
              <a:ext cx="0" cy="11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2380" y="3121"/>
              <a:ext cx="2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778" y="1952"/>
              <a:ext cx="2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>
                  <a:cs typeface="Times New Roman" panose="02020603050405020304" pitchFamily="18" charset="0"/>
                  <a:sym typeface="Symbol" pitchFamily="18" charset="2"/>
                </a:rPr>
                <a:t>q</a:t>
              </a: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564" y="3128"/>
              <a:ext cx="24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33" name="Arc 31"/>
            <p:cNvSpPr>
              <a:spLocks/>
            </p:cNvSpPr>
            <p:nvPr/>
          </p:nvSpPr>
          <p:spPr bwMode="auto">
            <a:xfrm flipH="1" flipV="1">
              <a:off x="1200" y="2884"/>
              <a:ext cx="518" cy="265"/>
            </a:xfrm>
            <a:custGeom>
              <a:avLst/>
              <a:gdLst>
                <a:gd name="T0" fmla="*/ 518 w 43200"/>
                <a:gd name="T1" fmla="*/ 1 h 22107"/>
                <a:gd name="T2" fmla="*/ 0 w 43200"/>
                <a:gd name="T3" fmla="*/ 0 h 22107"/>
                <a:gd name="T4" fmla="*/ 259 w 43200"/>
                <a:gd name="T5" fmla="*/ 6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9525">
              <a:solidFill>
                <a:srgbClr val="00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308" y="3149"/>
              <a:ext cx="223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Arc 33"/>
            <p:cNvSpPr>
              <a:spLocks/>
            </p:cNvSpPr>
            <p:nvPr/>
          </p:nvSpPr>
          <p:spPr bwMode="auto">
            <a:xfrm flipH="1" flipV="1">
              <a:off x="1200" y="2806"/>
              <a:ext cx="673" cy="344"/>
            </a:xfrm>
            <a:custGeom>
              <a:avLst/>
              <a:gdLst>
                <a:gd name="T0" fmla="*/ 673 w 43200"/>
                <a:gd name="T1" fmla="*/ 1 h 22107"/>
                <a:gd name="T2" fmla="*/ 0 w 43200"/>
                <a:gd name="T3" fmla="*/ 0 h 22107"/>
                <a:gd name="T4" fmla="*/ 337 w 43200"/>
                <a:gd name="T5" fmla="*/ 8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9525">
              <a:solidFill>
                <a:srgbClr val="00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rc 34"/>
            <p:cNvSpPr>
              <a:spLocks/>
            </p:cNvSpPr>
            <p:nvPr/>
          </p:nvSpPr>
          <p:spPr bwMode="auto">
            <a:xfrm flipH="1" flipV="1">
              <a:off x="1200" y="2710"/>
              <a:ext cx="849" cy="433"/>
            </a:xfrm>
            <a:custGeom>
              <a:avLst/>
              <a:gdLst>
                <a:gd name="T0" fmla="*/ 849 w 43200"/>
                <a:gd name="T1" fmla="*/ 2 h 22107"/>
                <a:gd name="T2" fmla="*/ 0 w 43200"/>
                <a:gd name="T3" fmla="*/ 0 h 22107"/>
                <a:gd name="T4" fmla="*/ 425 w 43200"/>
                <a:gd name="T5" fmla="*/ 10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9525">
              <a:solidFill>
                <a:srgbClr val="00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rc 35"/>
            <p:cNvSpPr>
              <a:spLocks/>
            </p:cNvSpPr>
            <p:nvPr/>
          </p:nvSpPr>
          <p:spPr bwMode="auto">
            <a:xfrm flipH="1" flipV="1">
              <a:off x="1200" y="2624"/>
              <a:ext cx="1025" cy="523"/>
            </a:xfrm>
            <a:custGeom>
              <a:avLst/>
              <a:gdLst>
                <a:gd name="T0" fmla="*/ 1025 w 43200"/>
                <a:gd name="T1" fmla="*/ 2 h 22107"/>
                <a:gd name="T2" fmla="*/ 0 w 43200"/>
                <a:gd name="T3" fmla="*/ 0 h 22107"/>
                <a:gd name="T4" fmla="*/ 513 w 43200"/>
                <a:gd name="T5" fmla="*/ 12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9525">
              <a:solidFill>
                <a:srgbClr val="00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Arc 36"/>
            <p:cNvSpPr>
              <a:spLocks/>
            </p:cNvSpPr>
            <p:nvPr/>
          </p:nvSpPr>
          <p:spPr bwMode="auto">
            <a:xfrm flipH="1" flipV="1">
              <a:off x="1200" y="2987"/>
              <a:ext cx="320" cy="164"/>
            </a:xfrm>
            <a:custGeom>
              <a:avLst/>
              <a:gdLst>
                <a:gd name="T0" fmla="*/ 320 w 43200"/>
                <a:gd name="T1" fmla="*/ 1 h 22107"/>
                <a:gd name="T2" fmla="*/ 0 w 43200"/>
                <a:gd name="T3" fmla="*/ 0 h 22107"/>
                <a:gd name="T4" fmla="*/ 160 w 43200"/>
                <a:gd name="T5" fmla="*/ 4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9525">
              <a:solidFill>
                <a:srgbClr val="0066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1042" y="3105"/>
              <a:ext cx="3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A50021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A50021"/>
                  </a:solidFill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V="1">
              <a:off x="397" y="2307"/>
              <a:ext cx="1933" cy="839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39"/>
            <p:cNvSpPr txBox="1">
              <a:spLocks noChangeArrowheads="1"/>
            </p:cNvSpPr>
            <p:nvPr/>
          </p:nvSpPr>
          <p:spPr bwMode="auto">
            <a:xfrm>
              <a:off x="238" y="3125"/>
              <a:ext cx="3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O</a:t>
              </a:r>
            </a:p>
          </p:txBody>
        </p:sp>
      </p:grpSp>
      <p:sp>
        <p:nvSpPr>
          <p:cNvPr id="44" name="Line 42"/>
          <p:cNvSpPr>
            <a:spLocks noChangeShapeType="1"/>
          </p:cNvSpPr>
          <p:nvPr/>
        </p:nvSpPr>
        <p:spPr bwMode="auto">
          <a:xfrm flipV="1">
            <a:off x="5590423" y="3813385"/>
            <a:ext cx="2976562" cy="1169987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 flipV="1">
            <a:off x="6865185" y="4146760"/>
            <a:ext cx="847725" cy="822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6" name="Group 44"/>
          <p:cNvGrpSpPr>
            <a:grpSpLocks/>
          </p:cNvGrpSpPr>
          <p:nvPr/>
        </p:nvGrpSpPr>
        <p:grpSpPr bwMode="auto">
          <a:xfrm>
            <a:off x="7079498" y="4103897"/>
            <a:ext cx="676275" cy="660400"/>
            <a:chOff x="1335" y="2596"/>
            <a:chExt cx="426" cy="416"/>
          </a:xfrm>
        </p:grpSpPr>
        <p:sp>
          <p:nvSpPr>
            <p:cNvPr id="47" name="Oval 45"/>
            <p:cNvSpPr>
              <a:spLocks noChangeArrowheads="1"/>
            </p:cNvSpPr>
            <p:nvPr/>
          </p:nvSpPr>
          <p:spPr bwMode="auto">
            <a:xfrm>
              <a:off x="1526" y="2784"/>
              <a:ext cx="42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Oval 46"/>
            <p:cNvSpPr>
              <a:spLocks noChangeArrowheads="1"/>
            </p:cNvSpPr>
            <p:nvPr/>
          </p:nvSpPr>
          <p:spPr bwMode="auto">
            <a:xfrm>
              <a:off x="1627" y="2689"/>
              <a:ext cx="42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Oval 47"/>
            <p:cNvSpPr>
              <a:spLocks noChangeArrowheads="1"/>
            </p:cNvSpPr>
            <p:nvPr/>
          </p:nvSpPr>
          <p:spPr bwMode="auto">
            <a:xfrm>
              <a:off x="1719" y="2596"/>
              <a:ext cx="42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Oval 48"/>
            <p:cNvSpPr>
              <a:spLocks noChangeArrowheads="1"/>
            </p:cNvSpPr>
            <p:nvPr/>
          </p:nvSpPr>
          <p:spPr bwMode="auto">
            <a:xfrm>
              <a:off x="1335" y="2967"/>
              <a:ext cx="42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Oval 50"/>
            <p:cNvSpPr>
              <a:spLocks noChangeArrowheads="1"/>
            </p:cNvSpPr>
            <p:nvPr/>
          </p:nvSpPr>
          <p:spPr bwMode="auto">
            <a:xfrm>
              <a:off x="1442" y="2862"/>
              <a:ext cx="42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3" name="Group 51"/>
          <p:cNvGrpSpPr>
            <a:grpSpLocks/>
          </p:cNvGrpSpPr>
          <p:nvPr/>
        </p:nvGrpSpPr>
        <p:grpSpPr bwMode="auto">
          <a:xfrm>
            <a:off x="6701673" y="3214897"/>
            <a:ext cx="1427162" cy="773113"/>
            <a:chOff x="1097" y="2036"/>
            <a:chExt cx="899" cy="487"/>
          </a:xfrm>
        </p:grpSpPr>
        <p:sp>
          <p:nvSpPr>
            <p:cNvPr id="54" name="Text Box 52"/>
            <p:cNvSpPr txBox="1">
              <a:spLocks noChangeArrowheads="1"/>
            </p:cNvSpPr>
            <p:nvPr/>
          </p:nvSpPr>
          <p:spPr bwMode="auto">
            <a:xfrm>
              <a:off x="1097" y="2036"/>
              <a:ext cx="59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A50021"/>
                  </a:solidFill>
                  <a:ea typeface="幼圆" pitchFamily="49" charset="-122"/>
                </a:rPr>
                <a:t>破坏主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A50021"/>
                  </a:solidFill>
                  <a:ea typeface="幼圆" pitchFamily="49" charset="-122"/>
                </a:rPr>
                <a:t>应力线</a:t>
              </a:r>
              <a:endParaRPr lang="en-US" altLang="zh-CN" sz="2000" b="1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55" name="Line 53"/>
            <p:cNvSpPr>
              <a:spLocks noChangeShapeType="1"/>
            </p:cNvSpPr>
            <p:nvPr/>
          </p:nvSpPr>
          <p:spPr bwMode="auto">
            <a:xfrm flipH="1" flipV="1">
              <a:off x="1703" y="2246"/>
              <a:ext cx="293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" name="Text Box 15"/>
          <p:cNvSpPr txBox="1">
            <a:spLocks noChangeArrowheads="1"/>
          </p:cNvSpPr>
          <p:nvPr/>
        </p:nvSpPr>
        <p:spPr bwMode="auto">
          <a:xfrm>
            <a:off x="803219" y="1443482"/>
            <a:ext cx="4657302" cy="8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方法</a:t>
            </a:r>
            <a:r>
              <a:rPr lang="en-US" altLang="zh-CN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：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用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- 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图上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一系列莫尔圆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表示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7" name="Text Box 16"/>
          <p:cNvSpPr txBox="1">
            <a:spLocks noChangeArrowheads="1"/>
          </p:cNvSpPr>
          <p:nvPr/>
        </p:nvSpPr>
        <p:spPr bwMode="auto">
          <a:xfrm>
            <a:off x="1121437" y="2320085"/>
            <a:ext cx="4278696" cy="93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6700" indent="-2667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5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破坏</a:t>
            </a:r>
            <a:r>
              <a:rPr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时莫尔圆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与强度包线相切</a:t>
            </a:r>
          </a:p>
          <a:p>
            <a:pPr marL="266700" indent="-2667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5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不直观，易混乱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58" name="Text Box 40"/>
          <p:cNvSpPr txBox="1">
            <a:spLocks noChangeArrowheads="1"/>
          </p:cNvSpPr>
          <p:nvPr/>
        </p:nvSpPr>
        <p:spPr bwMode="auto">
          <a:xfrm>
            <a:off x="817508" y="3512932"/>
            <a:ext cx="4425950" cy="8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方法</a:t>
            </a:r>
            <a:r>
              <a:rPr lang="en-US" altLang="zh-CN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用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图上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莫尔圆顶点的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变化线表示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9" name="Text Box 41"/>
          <p:cNvSpPr txBox="1">
            <a:spLocks noChangeArrowheads="1"/>
          </p:cNvSpPr>
          <p:nvPr/>
        </p:nvSpPr>
        <p:spPr bwMode="auto">
          <a:xfrm>
            <a:off x="1125424" y="4418312"/>
            <a:ext cx="4057650" cy="972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6700" indent="-2667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  <a:tabLst>
                <a:tab pos="266700" algn="l"/>
              </a:tabLst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破坏点位于破坏主应力线上</a:t>
            </a:r>
          </a:p>
          <a:p>
            <a:pPr marL="266700" indent="-2667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  <a:tabLst>
                <a:tab pos="266700" algn="l"/>
              </a:tabLst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方法直观，使用方便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60" name="Text Box 36"/>
          <p:cNvSpPr txBox="1">
            <a:spLocks noChangeArrowheads="1"/>
          </p:cNvSpPr>
          <p:nvPr/>
        </p:nvSpPr>
        <p:spPr bwMode="auto">
          <a:xfrm>
            <a:off x="428085" y="766502"/>
            <a:ext cx="3747100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应力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路径的表示方法</a:t>
            </a:r>
          </a:p>
        </p:txBody>
      </p:sp>
      <p:sp>
        <p:nvSpPr>
          <p:cNvPr id="61" name="Text Box 26"/>
          <p:cNvSpPr txBox="1">
            <a:spLocks noChangeArrowheads="1"/>
          </p:cNvSpPr>
          <p:nvPr/>
        </p:nvSpPr>
        <p:spPr bwMode="auto">
          <a:xfrm>
            <a:off x="6491174" y="2217149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</a:rPr>
              <a:t>A</a:t>
            </a:r>
            <a:endParaRPr lang="zh-CN" altLang="en-US" sz="2400" b="1" dirty="0">
              <a:solidFill>
                <a:srgbClr val="C00000"/>
              </a:solidFill>
              <a:ea typeface="幼圆" pitchFamily="49" charset="-122"/>
            </a:endParaRPr>
          </a:p>
        </p:txBody>
      </p:sp>
      <p:sp>
        <p:nvSpPr>
          <p:cNvPr id="63" name="Text Box 26"/>
          <p:cNvSpPr txBox="1">
            <a:spLocks noChangeArrowheads="1"/>
          </p:cNvSpPr>
          <p:nvPr/>
        </p:nvSpPr>
        <p:spPr bwMode="auto">
          <a:xfrm>
            <a:off x="7710373" y="3962558"/>
            <a:ext cx="389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C00000"/>
                </a:solidFill>
                <a:ea typeface="幼圆" pitchFamily="49" charset="-122"/>
              </a:rPr>
              <a:t>B</a:t>
            </a:r>
            <a:endParaRPr lang="zh-CN" altLang="en-US" sz="2400" b="1" dirty="0">
              <a:solidFill>
                <a:srgbClr val="C00000"/>
              </a:solidFill>
              <a:ea typeface="幼圆" pitchFamily="49" charset="-122"/>
            </a:endParaRPr>
          </a:p>
        </p:txBody>
      </p:sp>
      <p:sp>
        <p:nvSpPr>
          <p:cNvPr id="64" name="Oval 49"/>
          <p:cNvSpPr>
            <a:spLocks noChangeArrowheads="1"/>
          </p:cNvSpPr>
          <p:nvPr/>
        </p:nvSpPr>
        <p:spPr bwMode="auto">
          <a:xfrm>
            <a:off x="6831848" y="4946860"/>
            <a:ext cx="66675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2552700" y="5738813"/>
            <a:ext cx="53324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应力路径及表示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方法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67" name="Text Box 7"/>
          <p:cNvSpPr txBox="1">
            <a:spLocks noChangeArrowheads="1"/>
          </p:cNvSpPr>
          <p:nvPr/>
        </p:nvSpPr>
        <p:spPr bwMode="auto">
          <a:xfrm>
            <a:off x="-9526" y="0"/>
            <a:ext cx="62290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路径及表示方法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301248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 decel="100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44" grpId="0" animBg="1"/>
      <p:bldP spid="45" grpId="0" animBg="1"/>
      <p:bldP spid="58" grpId="0"/>
      <p:bldP spid="59" grpId="0" autoUpdateAnimBg="0"/>
      <p:bldP spid="63" grpId="0"/>
      <p:bldP spid="6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1931" y="1620939"/>
            <a:ext cx="8066266" cy="2829913"/>
          </a:xfrm>
          <a:prstGeom prst="rect">
            <a:avLst/>
          </a:prstGeom>
          <a:solidFill>
            <a:srgbClr val="CCECFF"/>
          </a:solidFill>
          <a:ln w="31750" cap="rnd">
            <a:solidFill>
              <a:srgbClr val="663300"/>
            </a:solidFill>
            <a:prstDash val="sysDot"/>
            <a:miter lim="800000"/>
            <a:headEnd/>
            <a:tailEnd/>
          </a:ln>
        </p:spPr>
        <p:txBody>
          <a:bodyPr wrap="none" lIns="107442" tIns="53721" rIns="107442" bIns="53721" anchor="ctr"/>
          <a:lstStyle/>
          <a:p>
            <a:pPr algn="ctr"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3300" b="1">
              <a:cs typeface="Times New Roman" panose="02020603050405020304" pitchFamily="18" charset="0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6004080" y="1604519"/>
            <a:ext cx="0" cy="2877864"/>
          </a:xfrm>
          <a:prstGeom prst="line">
            <a:avLst/>
          </a:prstGeom>
          <a:noFill/>
          <a:ln w="31750" cap="rnd">
            <a:solidFill>
              <a:srgbClr val="66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3263560" y="1658222"/>
            <a:ext cx="0" cy="2808396"/>
          </a:xfrm>
          <a:prstGeom prst="line">
            <a:avLst/>
          </a:prstGeom>
          <a:noFill/>
          <a:ln w="31750" cap="rnd">
            <a:solidFill>
              <a:srgbClr val="66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522230" y="1736554"/>
            <a:ext cx="2207171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kumimoji="1" lang="en-US" altLang="zh-CN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- </a:t>
            </a:r>
            <a:r>
              <a:rPr kumimoji="1" lang="zh-CN" altLang="en-US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kumimoji="1" lang="zh-CN" altLang="en-US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应力</a:t>
            </a: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平面</a:t>
            </a:r>
            <a:endParaRPr kumimoji="1" lang="zh-CN" altLang="en-US" sz="22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6349095" y="1736554"/>
            <a:ext cx="2221623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p </a:t>
            </a:r>
            <a:r>
              <a:rPr kumimoji="1" lang="en-US" altLang="zh-CN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– q </a:t>
            </a:r>
            <a:r>
              <a:rPr kumimoji="1" lang="zh-CN" altLang="en-US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应力</a:t>
            </a: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平面</a:t>
            </a:r>
            <a:endParaRPr kumimoji="1" lang="zh-CN" altLang="en-US" sz="22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870548" y="2364227"/>
            <a:ext cx="1764611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应力状态</a:t>
            </a:r>
            <a:endParaRPr kumimoji="1" lang="zh-CN" altLang="en-US" sz="22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881176" y="2943229"/>
            <a:ext cx="2061262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应力的变化</a:t>
            </a:r>
            <a:endParaRPr kumimoji="1" lang="zh-CN" altLang="en-US" sz="22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896388" y="3535984"/>
            <a:ext cx="2228309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极限应力状态</a:t>
            </a:r>
            <a:endParaRPr kumimoji="1" lang="zh-CN" altLang="en-US" sz="22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3553551" y="2395759"/>
            <a:ext cx="1571520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一</a:t>
            </a:r>
            <a:r>
              <a:rPr kumimoji="1" lang="zh-CN" altLang="en-US" sz="2100" b="1" dirty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个莫尔圆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6444399" y="2411525"/>
            <a:ext cx="1029705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一</a:t>
            </a:r>
            <a:r>
              <a:rPr kumimoji="1" lang="zh-CN" altLang="en-US" sz="2100" b="1" dirty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1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点</a:t>
            </a:r>
            <a:endParaRPr kumimoji="1" lang="zh-CN" altLang="en-US" sz="2100" b="1" dirty="0">
              <a:solidFill>
                <a:srgbClr val="000066"/>
              </a:solidFill>
              <a:latin typeface="幼圆" panose="02010509060101010101" pitchFamily="49" charset="-122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3553551" y="2962279"/>
            <a:ext cx="2008188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一系列莫尔圆</a:t>
            </a:r>
            <a:r>
              <a:rPr kumimoji="1" lang="en-US" altLang="zh-CN" sz="21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  </a:t>
            </a:r>
            <a:endParaRPr kumimoji="1" lang="en-US" altLang="zh-CN" sz="2100" b="1" dirty="0">
              <a:solidFill>
                <a:srgbClr val="000066"/>
              </a:solidFill>
              <a:latin typeface="幼圆" panose="02010509060101010101" pitchFamily="49" charset="-122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3588071" y="3525351"/>
            <a:ext cx="2116104" cy="75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100" b="1" dirty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强度包线相切</a:t>
            </a:r>
            <a:r>
              <a:rPr kumimoji="1" lang="zh-CN" altLang="en-US" sz="21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的一个莫尔圆</a:t>
            </a:r>
            <a:endParaRPr kumimoji="1" lang="zh-CN" altLang="en-US" sz="2100" b="1" dirty="0">
              <a:solidFill>
                <a:srgbClr val="000066"/>
              </a:solidFill>
              <a:latin typeface="幼圆" panose="02010509060101010101" pitchFamily="49" charset="-122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6016708" y="2952917"/>
            <a:ext cx="2751083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100" b="1" dirty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一条线（应力</a:t>
            </a:r>
            <a:r>
              <a:rPr kumimoji="1" lang="zh-CN" altLang="en-US" sz="21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路径）</a:t>
            </a:r>
            <a:endParaRPr kumimoji="1" lang="en-US" altLang="zh-CN" sz="2100" b="1" dirty="0">
              <a:solidFill>
                <a:srgbClr val="000066"/>
              </a:solidFill>
              <a:latin typeface="幼圆" panose="02010509060101010101" pitchFamily="49" charset="-122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330002" y="3525351"/>
            <a:ext cx="1988288" cy="75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破坏</a:t>
            </a:r>
            <a:r>
              <a:rPr kumimoji="1" lang="zh-CN" altLang="en-US" sz="2100" b="1" dirty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主应力线上</a:t>
            </a:r>
            <a:r>
              <a:rPr kumimoji="1" lang="zh-CN" altLang="en-US" sz="21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的一个点</a:t>
            </a:r>
            <a:endParaRPr kumimoji="1" lang="en-US" altLang="zh-CN" sz="2100" b="1" i="1" dirty="0">
              <a:solidFill>
                <a:srgbClr val="000066"/>
              </a:solidFill>
              <a:latin typeface="幼圆" panose="02010509060101010101" pitchFamily="49" charset="-122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2552700" y="5738813"/>
            <a:ext cx="53324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应力路径及表示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方法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428085" y="766502"/>
            <a:ext cx="5099504" cy="44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莫尔圆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与应力路径的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比较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-9526" y="0"/>
            <a:ext cx="622909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路径及表示方法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820046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8" grpId="0"/>
      <p:bldP spid="19" grpId="0"/>
      <p:bldP spid="20" grpId="0"/>
      <p:bldP spid="21" grpId="0"/>
      <p:bldP spid="23" grpId="0"/>
      <p:bldP spid="2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9527" y="0"/>
            <a:ext cx="676455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强度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包线与破坏主应力线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754783" y="726728"/>
            <a:ext cx="6924675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强度包线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：在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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坐标系中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所有破坏状态莫尔圆的公切线</a:t>
            </a:r>
          </a:p>
          <a:p>
            <a:pPr marL="361950" indent="-361950" eaLnBrk="1" hangingPunct="1"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破坏主应力线 </a:t>
            </a:r>
            <a:r>
              <a:rPr lang="en-US" altLang="zh-CN" sz="2400" b="1" i="1" dirty="0" err="1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lang="en-US" altLang="zh-CN" sz="2400" b="1" baseline="-25000" dirty="0" err="1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>
                <a:solidFill>
                  <a:srgbClr val="C00000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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坐标系中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所有破坏状态点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的集合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093151" y="2734510"/>
            <a:ext cx="3354771" cy="2138019"/>
            <a:chOff x="3183769" y="3385312"/>
            <a:chExt cx="3354771" cy="2138019"/>
          </a:xfrm>
        </p:grpSpPr>
        <p:sp>
          <p:nvSpPr>
            <p:cNvPr id="57" name="Text Box 11"/>
            <p:cNvSpPr txBox="1">
              <a:spLocks noChangeArrowheads="1"/>
            </p:cNvSpPr>
            <p:nvPr/>
          </p:nvSpPr>
          <p:spPr bwMode="auto">
            <a:xfrm>
              <a:off x="6101860" y="5005785"/>
              <a:ext cx="436680" cy="517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sp>
          <p:nvSpPr>
            <p:cNvPr id="58" name="Text Box 12"/>
            <p:cNvSpPr txBox="1">
              <a:spLocks noChangeArrowheads="1"/>
            </p:cNvSpPr>
            <p:nvPr/>
          </p:nvSpPr>
          <p:spPr bwMode="auto">
            <a:xfrm>
              <a:off x="3183769" y="3385312"/>
              <a:ext cx="436680" cy="517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q</a:t>
              </a:r>
            </a:p>
          </p:txBody>
        </p:sp>
      </p:grpSp>
      <p:sp>
        <p:nvSpPr>
          <p:cNvPr id="61" name="Arc 14"/>
          <p:cNvSpPr>
            <a:spLocks/>
          </p:cNvSpPr>
          <p:nvPr/>
        </p:nvSpPr>
        <p:spPr bwMode="auto">
          <a:xfrm flipH="1" flipV="1">
            <a:off x="3179409" y="4400363"/>
            <a:ext cx="930865" cy="476215"/>
          </a:xfrm>
          <a:custGeom>
            <a:avLst/>
            <a:gdLst>
              <a:gd name="T0" fmla="*/ 518 w 43200"/>
              <a:gd name="T1" fmla="*/ 1 h 22107"/>
              <a:gd name="T2" fmla="*/ 0 w 43200"/>
              <a:gd name="T3" fmla="*/ 0 h 22107"/>
              <a:gd name="T4" fmla="*/ 259 w 43200"/>
              <a:gd name="T5" fmla="*/ 6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Arc 16"/>
          <p:cNvSpPr>
            <a:spLocks/>
          </p:cNvSpPr>
          <p:nvPr/>
        </p:nvSpPr>
        <p:spPr bwMode="auto">
          <a:xfrm flipH="1" flipV="1">
            <a:off x="3880253" y="3940321"/>
            <a:ext cx="1841962" cy="939850"/>
          </a:xfrm>
          <a:custGeom>
            <a:avLst/>
            <a:gdLst>
              <a:gd name="T0" fmla="*/ 1025 w 43200"/>
              <a:gd name="T1" fmla="*/ 2 h 22107"/>
              <a:gd name="T2" fmla="*/ 0 w 43200"/>
              <a:gd name="T3" fmla="*/ 0 h 22107"/>
              <a:gd name="T4" fmla="*/ 513 w 43200"/>
              <a:gd name="T5" fmla="*/ 12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426451" y="3512627"/>
            <a:ext cx="4729799" cy="1372936"/>
            <a:chOff x="2517069" y="4163429"/>
            <a:chExt cx="4729799" cy="1372936"/>
          </a:xfrm>
        </p:grpSpPr>
        <p:sp>
          <p:nvSpPr>
            <p:cNvPr id="64" name="Text Box 17"/>
            <p:cNvSpPr txBox="1">
              <a:spLocks noChangeArrowheads="1"/>
            </p:cNvSpPr>
            <p:nvPr/>
          </p:nvSpPr>
          <p:spPr bwMode="auto">
            <a:xfrm>
              <a:off x="6059027" y="4163429"/>
              <a:ext cx="1187841" cy="708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3300"/>
                  </a:solidFill>
                  <a:ea typeface="幼圆" pitchFamily="49" charset="-122"/>
                  <a:cs typeface="Times New Roman" panose="02020603050405020304" pitchFamily="18" charset="0"/>
                </a:rPr>
                <a:t>破坏主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3300"/>
                  </a:solidFill>
                  <a:ea typeface="幼圆" pitchFamily="49" charset="-122"/>
                  <a:cs typeface="Times New Roman" panose="02020603050405020304" pitchFamily="18" charset="0"/>
                </a:rPr>
                <a:t>应力线</a:t>
              </a:r>
              <a:r>
                <a:rPr lang="en-US" altLang="zh-CN" sz="2000" b="1" i="1" dirty="0" err="1">
                  <a:solidFill>
                    <a:srgbClr val="003300"/>
                  </a:solidFill>
                  <a:ea typeface="幼圆" pitchFamily="49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000" b="1" baseline="-25000" dirty="0" err="1">
                  <a:solidFill>
                    <a:srgbClr val="003300"/>
                  </a:solidFill>
                  <a:ea typeface="幼圆" pitchFamily="49" charset="-122"/>
                  <a:cs typeface="Times New Roman" panose="02020603050405020304" pitchFamily="18" charset="0"/>
                </a:rPr>
                <a:t>f</a:t>
              </a:r>
              <a:endParaRPr lang="en-US" altLang="zh-CN" sz="2000" b="1" dirty="0">
                <a:solidFill>
                  <a:srgbClr val="003300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18"/>
            <p:cNvSpPr>
              <a:spLocks noChangeShapeType="1"/>
            </p:cNvSpPr>
            <p:nvPr/>
          </p:nvSpPr>
          <p:spPr bwMode="auto">
            <a:xfrm flipH="1" flipV="1">
              <a:off x="5611565" y="4325162"/>
              <a:ext cx="397145" cy="1527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20"/>
            <p:cNvSpPr>
              <a:spLocks noChangeShapeType="1"/>
            </p:cNvSpPr>
            <p:nvPr/>
          </p:nvSpPr>
          <p:spPr bwMode="auto">
            <a:xfrm flipV="1">
              <a:off x="2517069" y="4201167"/>
              <a:ext cx="3356864" cy="1335198"/>
            </a:xfrm>
            <a:prstGeom prst="line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449812" y="2892649"/>
            <a:ext cx="3421557" cy="1985725"/>
            <a:chOff x="2540430" y="3543451"/>
            <a:chExt cx="3421557" cy="1985725"/>
          </a:xfrm>
        </p:grpSpPr>
        <p:sp>
          <p:nvSpPr>
            <p:cNvPr id="66" name="Line 19"/>
            <p:cNvSpPr>
              <a:spLocks noChangeShapeType="1"/>
            </p:cNvSpPr>
            <p:nvPr/>
          </p:nvSpPr>
          <p:spPr bwMode="auto">
            <a:xfrm flipV="1">
              <a:off x="2540430" y="4246092"/>
              <a:ext cx="2930966" cy="1283084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Box 22"/>
            <p:cNvSpPr txBox="1">
              <a:spLocks noChangeArrowheads="1"/>
            </p:cNvSpPr>
            <p:nvPr/>
          </p:nvSpPr>
          <p:spPr bwMode="auto">
            <a:xfrm>
              <a:off x="4391377" y="3543451"/>
              <a:ext cx="1570610" cy="452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强度包线</a:t>
              </a:r>
              <a:r>
                <a:rPr lang="zh-CN" altLang="en-US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0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endParaRPr lang="zh-CN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0" name="Line 23"/>
            <p:cNvSpPr>
              <a:spLocks noChangeShapeType="1"/>
            </p:cNvSpPr>
            <p:nvPr/>
          </p:nvSpPr>
          <p:spPr bwMode="auto">
            <a:xfrm flipH="1" flipV="1">
              <a:off x="4964632" y="3954973"/>
              <a:ext cx="64693" cy="4420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266515" y="2759669"/>
            <a:ext cx="4063996" cy="2557183"/>
            <a:chOff x="2357133" y="3410471"/>
            <a:chExt cx="4063996" cy="2557183"/>
          </a:xfrm>
        </p:grpSpPr>
        <p:sp>
          <p:nvSpPr>
            <p:cNvPr id="56" name="Line 10"/>
            <p:cNvSpPr>
              <a:spLocks noChangeShapeType="1"/>
            </p:cNvSpPr>
            <p:nvPr/>
          </p:nvSpPr>
          <p:spPr bwMode="auto">
            <a:xfrm flipV="1">
              <a:off x="3192754" y="3751907"/>
              <a:ext cx="0" cy="2113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" name="Text Box 13"/>
            <p:cNvSpPr txBox="1">
              <a:spLocks noChangeArrowheads="1"/>
            </p:cNvSpPr>
            <p:nvPr/>
          </p:nvSpPr>
          <p:spPr bwMode="auto">
            <a:xfrm>
              <a:off x="2817174" y="5496830"/>
              <a:ext cx="436680" cy="370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62" name="Line 15"/>
            <p:cNvSpPr>
              <a:spLocks noChangeShapeType="1"/>
            </p:cNvSpPr>
            <p:nvPr/>
          </p:nvSpPr>
          <p:spPr bwMode="auto">
            <a:xfrm>
              <a:off x="2357133" y="5534568"/>
              <a:ext cx="40235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 Box 24"/>
            <p:cNvSpPr txBox="1">
              <a:spLocks noChangeArrowheads="1"/>
            </p:cNvSpPr>
            <p:nvPr/>
          </p:nvSpPr>
          <p:spPr bwMode="auto">
            <a:xfrm>
              <a:off x="5984449" y="5450108"/>
              <a:ext cx="436680" cy="517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72" name="Text Box 25"/>
            <p:cNvSpPr txBox="1">
              <a:spLocks noChangeArrowheads="1"/>
            </p:cNvSpPr>
            <p:nvPr/>
          </p:nvSpPr>
          <p:spPr bwMode="auto">
            <a:xfrm>
              <a:off x="2747089" y="3410471"/>
              <a:ext cx="436680" cy="517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725022" y="3859011"/>
            <a:ext cx="389850" cy="461665"/>
            <a:chOff x="4815640" y="4509813"/>
            <a:chExt cx="389850" cy="461665"/>
          </a:xfrm>
        </p:grpSpPr>
        <p:sp>
          <p:nvSpPr>
            <p:cNvPr id="76" name="Text Box 26"/>
            <p:cNvSpPr txBox="1">
              <a:spLocks noChangeArrowheads="1"/>
            </p:cNvSpPr>
            <p:nvPr/>
          </p:nvSpPr>
          <p:spPr bwMode="auto">
            <a:xfrm>
              <a:off x="4815640" y="4509813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C00000"/>
                  </a:solidFill>
                  <a:ea typeface="幼圆" pitchFamily="49" charset="-122"/>
                </a:rPr>
                <a:t>B</a:t>
              </a:r>
              <a:endParaRPr lang="zh-CN" altLang="en-US" sz="2400" b="1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  <p:sp>
          <p:nvSpPr>
            <p:cNvPr id="73" name="Oval 26"/>
            <p:cNvSpPr>
              <a:spLocks noChangeArrowheads="1"/>
            </p:cNvSpPr>
            <p:nvPr/>
          </p:nvSpPr>
          <p:spPr bwMode="auto">
            <a:xfrm>
              <a:off x="4863998" y="4551589"/>
              <a:ext cx="71881" cy="718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34218" y="4301196"/>
            <a:ext cx="407484" cy="461665"/>
            <a:chOff x="3624836" y="4951998"/>
            <a:chExt cx="407484" cy="461665"/>
          </a:xfrm>
        </p:grpSpPr>
        <p:sp>
          <p:nvSpPr>
            <p:cNvPr id="75" name="Text Box 26"/>
            <p:cNvSpPr txBox="1">
              <a:spLocks noChangeArrowheads="1"/>
            </p:cNvSpPr>
            <p:nvPr/>
          </p:nvSpPr>
          <p:spPr bwMode="auto">
            <a:xfrm>
              <a:off x="3624836" y="4951998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C00000"/>
                  </a:solidFill>
                  <a:ea typeface="幼圆" pitchFamily="49" charset="-122"/>
                </a:rPr>
                <a:t>A</a:t>
              </a:r>
              <a:endParaRPr lang="zh-CN" altLang="en-US" sz="2400" b="1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  <p:sp>
          <p:nvSpPr>
            <p:cNvPr id="74" name="Oval 27"/>
            <p:cNvSpPr>
              <a:spLocks noChangeArrowheads="1"/>
            </p:cNvSpPr>
            <p:nvPr/>
          </p:nvSpPr>
          <p:spPr bwMode="auto">
            <a:xfrm>
              <a:off x="3704910" y="5020615"/>
              <a:ext cx="71881" cy="718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2139650" y="5764383"/>
            <a:ext cx="62833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 algn="ctr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强度包线与破坏主应力线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369583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1" grpId="0" animBg="1"/>
      <p:bldP spid="6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858837" y="1550988"/>
            <a:ext cx="7361237" cy="96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强度包线和破坏主应力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线与横轴交于同一点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O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</a:p>
          <a:p>
            <a:pPr marL="361950" indent="-361950" eaLnBrk="1" hangingPunct="1"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如果强度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包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线为直线，则破坏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主应力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线也为直线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Arc 16"/>
          <p:cNvSpPr>
            <a:spLocks/>
          </p:cNvSpPr>
          <p:nvPr/>
        </p:nvSpPr>
        <p:spPr bwMode="auto">
          <a:xfrm flipH="1" flipV="1">
            <a:off x="3960785" y="3895537"/>
            <a:ext cx="1841962" cy="939850"/>
          </a:xfrm>
          <a:custGeom>
            <a:avLst/>
            <a:gdLst>
              <a:gd name="T0" fmla="*/ 1025 w 43200"/>
              <a:gd name="T1" fmla="*/ 2 h 22107"/>
              <a:gd name="T2" fmla="*/ 0 w 43200"/>
              <a:gd name="T3" fmla="*/ 0 h 22107"/>
              <a:gd name="T4" fmla="*/ 513 w 43200"/>
              <a:gd name="T5" fmla="*/ 12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221254" y="2689726"/>
            <a:ext cx="5015528" cy="2609181"/>
            <a:chOff x="2221254" y="2870962"/>
            <a:chExt cx="5015528" cy="2609181"/>
          </a:xfrm>
        </p:grpSpPr>
        <p:sp>
          <p:nvSpPr>
            <p:cNvPr id="33" name="Line 10"/>
            <p:cNvSpPr>
              <a:spLocks noChangeShapeType="1"/>
            </p:cNvSpPr>
            <p:nvPr/>
          </p:nvSpPr>
          <p:spPr bwMode="auto">
            <a:xfrm flipV="1">
              <a:off x="3182668" y="3073400"/>
              <a:ext cx="0" cy="22774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" name="Text Box 11"/>
            <p:cNvSpPr txBox="1">
              <a:spLocks noChangeArrowheads="1"/>
            </p:cNvSpPr>
            <p:nvPr/>
          </p:nvSpPr>
          <p:spPr bwMode="auto">
            <a:xfrm>
              <a:off x="6088614" y="4481013"/>
              <a:ext cx="436680" cy="517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sp>
          <p:nvSpPr>
            <p:cNvPr id="35" name="Text Box 12"/>
            <p:cNvSpPr txBox="1">
              <a:spLocks noChangeArrowheads="1"/>
            </p:cNvSpPr>
            <p:nvPr/>
          </p:nvSpPr>
          <p:spPr bwMode="auto">
            <a:xfrm>
              <a:off x="3211783" y="2870962"/>
              <a:ext cx="436680" cy="517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q</a:t>
              </a:r>
            </a:p>
          </p:txBody>
        </p:sp>
        <p:sp>
          <p:nvSpPr>
            <p:cNvPr id="36" name="Text Box 13"/>
            <p:cNvSpPr txBox="1">
              <a:spLocks noChangeArrowheads="1"/>
            </p:cNvSpPr>
            <p:nvPr/>
          </p:nvSpPr>
          <p:spPr bwMode="auto">
            <a:xfrm>
              <a:off x="2807088" y="4982480"/>
              <a:ext cx="436680" cy="370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>
              <a:off x="2347047" y="5020218"/>
              <a:ext cx="40235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Box 17"/>
            <p:cNvSpPr txBox="1">
              <a:spLocks noChangeArrowheads="1"/>
            </p:cNvSpPr>
            <p:nvPr/>
          </p:nvSpPr>
          <p:spPr bwMode="auto">
            <a:xfrm>
              <a:off x="6048941" y="3649079"/>
              <a:ext cx="1187841" cy="708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3300"/>
                  </a:solidFill>
                  <a:ea typeface="幼圆" pitchFamily="49" charset="-122"/>
                  <a:cs typeface="Times New Roman" panose="02020603050405020304" pitchFamily="18" charset="0"/>
                </a:rPr>
                <a:t>破坏主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3300"/>
                  </a:solidFill>
                  <a:ea typeface="幼圆" pitchFamily="49" charset="-122"/>
                  <a:cs typeface="Times New Roman" panose="02020603050405020304" pitchFamily="18" charset="0"/>
                </a:rPr>
                <a:t>应力线</a:t>
              </a:r>
              <a:r>
                <a:rPr lang="en-US" altLang="zh-CN" sz="2000" b="1" i="1" dirty="0" err="1">
                  <a:solidFill>
                    <a:srgbClr val="003300"/>
                  </a:solidFill>
                  <a:ea typeface="幼圆" pitchFamily="49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000" b="1" baseline="-25000" dirty="0" err="1">
                  <a:solidFill>
                    <a:srgbClr val="003300"/>
                  </a:solidFill>
                  <a:ea typeface="幼圆" pitchFamily="49" charset="-122"/>
                  <a:cs typeface="Times New Roman" panose="02020603050405020304" pitchFamily="18" charset="0"/>
                </a:rPr>
                <a:t>f</a:t>
              </a:r>
              <a:endParaRPr lang="en-US" altLang="zh-CN" sz="2000" b="1" dirty="0">
                <a:solidFill>
                  <a:srgbClr val="003300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18"/>
            <p:cNvSpPr>
              <a:spLocks noChangeShapeType="1"/>
            </p:cNvSpPr>
            <p:nvPr/>
          </p:nvSpPr>
          <p:spPr bwMode="auto">
            <a:xfrm flipH="1" flipV="1">
              <a:off x="5601479" y="3810812"/>
              <a:ext cx="397145" cy="1527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19"/>
            <p:cNvSpPr>
              <a:spLocks noChangeShapeType="1"/>
            </p:cNvSpPr>
            <p:nvPr/>
          </p:nvSpPr>
          <p:spPr bwMode="auto">
            <a:xfrm flipV="1">
              <a:off x="2530344" y="3731742"/>
              <a:ext cx="2930966" cy="1283084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20"/>
            <p:cNvSpPr>
              <a:spLocks noChangeShapeType="1"/>
            </p:cNvSpPr>
            <p:nvPr/>
          </p:nvSpPr>
          <p:spPr bwMode="auto">
            <a:xfrm flipV="1">
              <a:off x="2509100" y="3684700"/>
              <a:ext cx="3356864" cy="1335198"/>
            </a:xfrm>
            <a:prstGeom prst="line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21"/>
            <p:cNvSpPr txBox="1">
              <a:spLocks noChangeArrowheads="1"/>
            </p:cNvSpPr>
            <p:nvPr/>
          </p:nvSpPr>
          <p:spPr bwMode="auto">
            <a:xfrm>
              <a:off x="2221254" y="4977089"/>
              <a:ext cx="645136" cy="370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dirty="0">
                  <a:cs typeface="Times New Roman" panose="02020603050405020304" pitchFamily="18" charset="0"/>
                  <a:sym typeface="Symbol" pitchFamily="18" charset="2"/>
                </a:rPr>
                <a:t>O</a:t>
              </a:r>
            </a:p>
          </p:txBody>
        </p:sp>
        <p:sp>
          <p:nvSpPr>
            <p:cNvPr id="45" name="Text Box 22"/>
            <p:cNvSpPr txBox="1">
              <a:spLocks noChangeArrowheads="1"/>
            </p:cNvSpPr>
            <p:nvPr/>
          </p:nvSpPr>
          <p:spPr bwMode="auto">
            <a:xfrm>
              <a:off x="4381291" y="3029101"/>
              <a:ext cx="1570610" cy="452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强度包线</a:t>
              </a:r>
              <a:r>
                <a:rPr lang="zh-CN" altLang="en-US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0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endParaRPr lang="zh-CN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6" name="Line 23"/>
            <p:cNvSpPr>
              <a:spLocks noChangeShapeType="1"/>
            </p:cNvSpPr>
            <p:nvPr/>
          </p:nvSpPr>
          <p:spPr bwMode="auto">
            <a:xfrm flipH="1" flipV="1">
              <a:off x="4954546" y="3440623"/>
              <a:ext cx="64693" cy="4420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24"/>
            <p:cNvSpPr txBox="1">
              <a:spLocks noChangeArrowheads="1"/>
            </p:cNvSpPr>
            <p:nvPr/>
          </p:nvSpPr>
          <p:spPr bwMode="auto">
            <a:xfrm>
              <a:off x="5997419" y="4962597"/>
              <a:ext cx="436680" cy="517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48" name="Text Box 25"/>
            <p:cNvSpPr txBox="1">
              <a:spLocks noChangeArrowheads="1"/>
            </p:cNvSpPr>
            <p:nvPr/>
          </p:nvSpPr>
          <p:spPr bwMode="auto">
            <a:xfrm>
              <a:off x="2775103" y="2896121"/>
              <a:ext cx="436680" cy="517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760523" y="3856003"/>
            <a:ext cx="389850" cy="474724"/>
            <a:chOff x="4760523" y="4037239"/>
            <a:chExt cx="389850" cy="474724"/>
          </a:xfrm>
        </p:grpSpPr>
        <p:sp>
          <p:nvSpPr>
            <p:cNvPr id="37" name="Text Box 26"/>
            <p:cNvSpPr txBox="1">
              <a:spLocks noChangeArrowheads="1"/>
            </p:cNvSpPr>
            <p:nvPr/>
          </p:nvSpPr>
          <p:spPr bwMode="auto">
            <a:xfrm>
              <a:off x="4760523" y="4050298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C00000"/>
                  </a:solidFill>
                  <a:ea typeface="幼圆" pitchFamily="49" charset="-122"/>
                </a:rPr>
                <a:t>B</a:t>
              </a:r>
              <a:endParaRPr lang="zh-CN" altLang="en-US" sz="2400" b="1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  <p:sp>
          <p:nvSpPr>
            <p:cNvPr id="49" name="Oval 26"/>
            <p:cNvSpPr>
              <a:spLocks noChangeArrowheads="1"/>
            </p:cNvSpPr>
            <p:nvPr/>
          </p:nvSpPr>
          <p:spPr bwMode="auto">
            <a:xfrm>
              <a:off x="4853912" y="4037239"/>
              <a:ext cx="71881" cy="718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172090" y="3551562"/>
            <a:ext cx="407484" cy="461665"/>
            <a:chOff x="4172090" y="3732798"/>
            <a:chExt cx="407484" cy="461665"/>
          </a:xfrm>
        </p:grpSpPr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4172090" y="3732798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C00000"/>
                  </a:solidFill>
                  <a:ea typeface="幼圆" pitchFamily="49" charset="-122"/>
                </a:rPr>
                <a:t>A</a:t>
              </a:r>
              <a:endParaRPr lang="zh-CN" altLang="en-US" sz="2400" b="1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  <p:sp>
          <p:nvSpPr>
            <p:cNvPr id="54" name="Oval 26"/>
            <p:cNvSpPr>
              <a:spLocks noChangeArrowheads="1"/>
            </p:cNvSpPr>
            <p:nvPr/>
          </p:nvSpPr>
          <p:spPr bwMode="auto">
            <a:xfrm>
              <a:off x="4492708" y="4107323"/>
              <a:ext cx="71881" cy="71881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380342" y="4249554"/>
            <a:ext cx="1085410" cy="587630"/>
            <a:chOff x="3380342" y="4430790"/>
            <a:chExt cx="1085410" cy="587630"/>
          </a:xfrm>
        </p:grpSpPr>
        <p:sp>
          <p:nvSpPr>
            <p:cNvPr id="57" name="Arc 16"/>
            <p:cNvSpPr>
              <a:spLocks/>
            </p:cNvSpPr>
            <p:nvPr/>
          </p:nvSpPr>
          <p:spPr bwMode="auto">
            <a:xfrm flipH="1" flipV="1">
              <a:off x="3380342" y="4459542"/>
              <a:ext cx="1085410" cy="558878"/>
            </a:xfrm>
            <a:custGeom>
              <a:avLst/>
              <a:gdLst>
                <a:gd name="T0" fmla="*/ 1025 w 43200"/>
                <a:gd name="T1" fmla="*/ 2 h 22107"/>
                <a:gd name="T2" fmla="*/ 0 w 43200"/>
                <a:gd name="T3" fmla="*/ 0 h 22107"/>
                <a:gd name="T4" fmla="*/ 513 w 43200"/>
                <a:gd name="T5" fmla="*/ 12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Oval 26"/>
            <p:cNvSpPr>
              <a:spLocks noChangeAspect="1" noChangeArrowheads="1"/>
            </p:cNvSpPr>
            <p:nvPr/>
          </p:nvSpPr>
          <p:spPr bwMode="auto">
            <a:xfrm>
              <a:off x="3685838" y="4463136"/>
              <a:ext cx="57505" cy="575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Oval 26"/>
            <p:cNvSpPr>
              <a:spLocks noChangeAspect="1" noChangeArrowheads="1"/>
            </p:cNvSpPr>
            <p:nvPr/>
          </p:nvSpPr>
          <p:spPr bwMode="auto">
            <a:xfrm>
              <a:off x="3888904" y="4430790"/>
              <a:ext cx="57505" cy="5750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992183" y="4520420"/>
            <a:ext cx="582240" cy="320358"/>
            <a:chOff x="2992183" y="4701656"/>
            <a:chExt cx="582240" cy="320358"/>
          </a:xfrm>
        </p:grpSpPr>
        <p:sp>
          <p:nvSpPr>
            <p:cNvPr id="61" name="Arc 16"/>
            <p:cNvSpPr>
              <a:spLocks/>
            </p:cNvSpPr>
            <p:nvPr/>
          </p:nvSpPr>
          <p:spPr bwMode="auto">
            <a:xfrm flipH="1" flipV="1">
              <a:off x="2992183" y="4721909"/>
              <a:ext cx="582240" cy="300105"/>
            </a:xfrm>
            <a:custGeom>
              <a:avLst/>
              <a:gdLst>
                <a:gd name="T0" fmla="*/ 1025 w 43200"/>
                <a:gd name="T1" fmla="*/ 2 h 22107"/>
                <a:gd name="T2" fmla="*/ 0 w 43200"/>
                <a:gd name="T3" fmla="*/ 0 h 22107"/>
                <a:gd name="T4" fmla="*/ 513 w 43200"/>
                <a:gd name="T5" fmla="*/ 12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Oval 26"/>
            <p:cNvSpPr>
              <a:spLocks noChangeAspect="1" noChangeArrowheads="1"/>
            </p:cNvSpPr>
            <p:nvPr/>
          </p:nvSpPr>
          <p:spPr bwMode="auto">
            <a:xfrm>
              <a:off x="3143091" y="4724789"/>
              <a:ext cx="35941" cy="35941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Oval 26"/>
            <p:cNvSpPr>
              <a:spLocks noChangeAspect="1" noChangeArrowheads="1"/>
            </p:cNvSpPr>
            <p:nvPr/>
          </p:nvSpPr>
          <p:spPr bwMode="auto">
            <a:xfrm>
              <a:off x="3247545" y="4701656"/>
              <a:ext cx="35941" cy="3594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3" name="Text Box 36"/>
          <p:cNvSpPr txBox="1">
            <a:spLocks noChangeArrowheads="1"/>
          </p:cNvSpPr>
          <p:nvPr/>
        </p:nvSpPr>
        <p:spPr bwMode="auto">
          <a:xfrm>
            <a:off x="428084" y="747452"/>
            <a:ext cx="596319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强度包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线和破坏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主应力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线的关系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2139650" y="5764383"/>
            <a:ext cx="62833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 algn="ctr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强度包线与破坏主应力线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52" name="Text Box 7"/>
          <p:cNvSpPr txBox="1">
            <a:spLocks noChangeArrowheads="1"/>
          </p:cNvSpPr>
          <p:nvPr/>
        </p:nvSpPr>
        <p:spPr bwMode="auto">
          <a:xfrm>
            <a:off x="-9527" y="0"/>
            <a:ext cx="676455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强度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包线与破坏主应力线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084568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 flipV="1">
            <a:off x="5465247" y="1093704"/>
            <a:ext cx="0" cy="21478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8398947" y="2854241"/>
            <a:ext cx="44291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147" tIns="52573" rIns="105147" bIns="52573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cs typeface="Times New Roman" panose="02020603050405020304" pitchFamily="18" charset="0"/>
                <a:sym typeface="Symbol" pitchFamily="18" charset="2"/>
              </a:rPr>
              <a:t>p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428734" y="761916"/>
            <a:ext cx="44291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147" tIns="52573" rIns="105147" bIns="52573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 dirty="0">
                <a:cs typeface="Times New Roman" panose="02020603050405020304" pitchFamily="18" charset="0"/>
                <a:sym typeface="Symbol" pitchFamily="18" charset="2"/>
              </a:rPr>
              <a:t>q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082659" y="2866941"/>
            <a:ext cx="4445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147" tIns="52573" rIns="105147" bIns="52573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100" b="1" dirty="0">
                <a:cs typeface="Times New Roman" panose="02020603050405020304" pitchFamily="18" charset="0"/>
                <a:sym typeface="Symbol" pitchFamily="18" charset="2"/>
              </a:rPr>
              <a:t>O</a:t>
            </a: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4615934" y="2905041"/>
            <a:ext cx="40878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Arc 9"/>
          <p:cNvSpPr>
            <a:spLocks/>
          </p:cNvSpPr>
          <p:nvPr/>
        </p:nvSpPr>
        <p:spPr bwMode="auto">
          <a:xfrm flipH="1" flipV="1">
            <a:off x="6244709" y="1946191"/>
            <a:ext cx="1870075" cy="955675"/>
          </a:xfrm>
          <a:custGeom>
            <a:avLst/>
            <a:gdLst>
              <a:gd name="T0" fmla="*/ 1178 w 43200"/>
              <a:gd name="T1" fmla="*/ 2 h 22107"/>
              <a:gd name="T2" fmla="*/ 0 w 43200"/>
              <a:gd name="T3" fmla="*/ 0 h 22107"/>
              <a:gd name="T4" fmla="*/ 589 w 43200"/>
              <a:gd name="T5" fmla="*/ 14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8081447" y="1519154"/>
            <a:ext cx="8207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147" tIns="52573" rIns="105147" bIns="52573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 i="1" dirty="0" err="1" smtClean="0">
                <a:solidFill>
                  <a:srgbClr val="A50021"/>
                </a:solidFill>
                <a:ea typeface="幼圆" pitchFamily="49" charset="-122"/>
              </a:rPr>
              <a:t>K</a:t>
            </a:r>
            <a:r>
              <a:rPr lang="en-US" altLang="zh-CN" sz="2300" b="1" baseline="-25000" dirty="0" err="1" smtClean="0">
                <a:solidFill>
                  <a:srgbClr val="A50021"/>
                </a:solidFill>
                <a:ea typeface="幼圆" pitchFamily="49" charset="-122"/>
              </a:rPr>
              <a:t>f</a:t>
            </a:r>
            <a:r>
              <a:rPr lang="en-US" altLang="zh-CN" sz="2300" b="1" baseline="-25000" dirty="0" smtClean="0">
                <a:solidFill>
                  <a:srgbClr val="A50021"/>
                </a:solidFill>
                <a:ea typeface="幼圆" pitchFamily="49" charset="-122"/>
              </a:rPr>
              <a:t> </a:t>
            </a:r>
            <a:r>
              <a:rPr lang="zh-CN" altLang="en-US" sz="2300" b="1" dirty="0" smtClean="0">
                <a:solidFill>
                  <a:srgbClr val="A50021"/>
                </a:solidFill>
                <a:ea typeface="幼圆" pitchFamily="49" charset="-122"/>
              </a:rPr>
              <a:t>线</a:t>
            </a:r>
            <a:endParaRPr lang="en-US" altLang="zh-CN" sz="23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V="1">
            <a:off x="4796909" y="1269916"/>
            <a:ext cx="3708400" cy="1624013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V="1">
            <a:off x="4777859" y="1615991"/>
            <a:ext cx="3246437" cy="1290638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487347" y="2860591"/>
            <a:ext cx="65563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147" tIns="52573" rIns="105147" bIns="52573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100" b="1" dirty="0">
                <a:cs typeface="Times New Roman" panose="02020603050405020304" pitchFamily="18" charset="0"/>
                <a:sym typeface="Symbol" pitchFamily="18" charset="2"/>
              </a:rPr>
              <a:t>O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7213084" y="1023854"/>
            <a:ext cx="7540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5147" tIns="52573" rIns="105147" bIns="52573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3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3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 </a:t>
            </a:r>
            <a:r>
              <a:rPr lang="zh-CN" altLang="en-US" sz="23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</a:t>
            </a:r>
            <a:endParaRPr lang="zh-CN" altLang="zh-CN" sz="23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8365609" y="2347829"/>
            <a:ext cx="44291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147" tIns="52573" rIns="105147" bIns="52573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cs typeface="Times New Roman" panose="02020603050405020304" pitchFamily="18" charset="0"/>
                <a:sym typeface="Symbol" pitchFamily="18" charset="2"/>
              </a:rPr>
              <a:t>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5011222" y="782554"/>
            <a:ext cx="4445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147" tIns="52573" rIns="105147" bIns="52573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 dirty="0">
                <a:cs typeface="Times New Roman" panose="02020603050405020304" pitchFamily="18" charset="0"/>
                <a:sym typeface="Symbol" pitchFamily="18" charset="2"/>
              </a:rPr>
              <a:t></a:t>
            </a: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5471597" y="2633579"/>
            <a:ext cx="239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5641459" y="2633579"/>
            <a:ext cx="0" cy="265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5636697" y="2501816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>
                <a:ea typeface="幼圆" pitchFamily="49" charset="-122"/>
              </a:rPr>
              <a:t>a</a:t>
            </a: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H="1">
            <a:off x="4960422" y="2593891"/>
            <a:ext cx="477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 flipV="1">
            <a:off x="5133459" y="2587541"/>
            <a:ext cx="0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4793734" y="2438316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ea typeface="幼圆" pitchFamily="49" charset="-122"/>
              </a:rPr>
              <a:t>c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7079734" y="2803441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ea typeface="幼圆" pitchFamily="49" charset="-122"/>
              </a:rPr>
              <a:t>A</a:t>
            </a: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V="1">
            <a:off x="7186097" y="1947779"/>
            <a:ext cx="0" cy="950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7127359" y="1874754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ea typeface="幼圆" pitchFamily="49" charset="-122"/>
              </a:rPr>
              <a:t>C</a:t>
            </a: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6520934" y="1596941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ea typeface="幼圆" pitchFamily="49" charset="-122"/>
              </a:rPr>
              <a:t>B</a:t>
            </a:r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H="1" flipV="1">
            <a:off x="6814622" y="2019216"/>
            <a:ext cx="371475" cy="884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>
            <a:off x="7424222" y="1862054"/>
            <a:ext cx="427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29"/>
          <p:cNvSpPr>
            <a:spLocks/>
          </p:cNvSpPr>
          <p:nvPr/>
        </p:nvSpPr>
        <p:spPr bwMode="auto">
          <a:xfrm>
            <a:off x="7694097" y="1744579"/>
            <a:ext cx="22225" cy="112713"/>
          </a:xfrm>
          <a:custGeom>
            <a:avLst/>
            <a:gdLst>
              <a:gd name="T0" fmla="*/ 9 w 14"/>
              <a:gd name="T1" fmla="*/ 71 h 71"/>
              <a:gd name="T2" fmla="*/ 13 w 14"/>
              <a:gd name="T3" fmla="*/ 32 h 71"/>
              <a:gd name="T4" fmla="*/ 0 w 14"/>
              <a:gd name="T5" fmla="*/ 0 h 71"/>
              <a:gd name="T6" fmla="*/ 0 60000 65536"/>
              <a:gd name="T7" fmla="*/ 0 60000 65536"/>
              <a:gd name="T8" fmla="*/ 0 60000 65536"/>
              <a:gd name="T9" fmla="*/ 0 w 14"/>
              <a:gd name="T10" fmla="*/ 0 h 71"/>
              <a:gd name="T11" fmla="*/ 14 w 14"/>
              <a:gd name="T12" fmla="*/ 71 h 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71">
                <a:moveTo>
                  <a:pt x="9" y="71"/>
                </a:moveTo>
                <a:cubicBezTo>
                  <a:pt x="11" y="57"/>
                  <a:pt x="14" y="44"/>
                  <a:pt x="13" y="32"/>
                </a:cubicBezTo>
                <a:cubicBezTo>
                  <a:pt x="12" y="20"/>
                  <a:pt x="6" y="10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Box 30"/>
          <p:cNvSpPr txBox="1">
            <a:spLocks noChangeArrowheads="1"/>
          </p:cNvSpPr>
          <p:nvPr/>
        </p:nvSpPr>
        <p:spPr bwMode="auto">
          <a:xfrm>
            <a:off x="7724259" y="1504866"/>
            <a:ext cx="376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>
            <a:off x="8113197" y="1449304"/>
            <a:ext cx="427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32"/>
          <p:cNvSpPr>
            <a:spLocks/>
          </p:cNvSpPr>
          <p:nvPr/>
        </p:nvSpPr>
        <p:spPr bwMode="auto">
          <a:xfrm>
            <a:off x="8383072" y="1331829"/>
            <a:ext cx="22225" cy="112713"/>
          </a:xfrm>
          <a:custGeom>
            <a:avLst/>
            <a:gdLst>
              <a:gd name="T0" fmla="*/ 9 w 14"/>
              <a:gd name="T1" fmla="*/ 71 h 71"/>
              <a:gd name="T2" fmla="*/ 13 w 14"/>
              <a:gd name="T3" fmla="*/ 32 h 71"/>
              <a:gd name="T4" fmla="*/ 0 w 14"/>
              <a:gd name="T5" fmla="*/ 0 h 71"/>
              <a:gd name="T6" fmla="*/ 0 60000 65536"/>
              <a:gd name="T7" fmla="*/ 0 60000 65536"/>
              <a:gd name="T8" fmla="*/ 0 60000 65536"/>
              <a:gd name="T9" fmla="*/ 0 w 14"/>
              <a:gd name="T10" fmla="*/ 0 h 71"/>
              <a:gd name="T11" fmla="*/ 14 w 14"/>
              <a:gd name="T12" fmla="*/ 71 h 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71">
                <a:moveTo>
                  <a:pt x="9" y="71"/>
                </a:moveTo>
                <a:cubicBezTo>
                  <a:pt x="11" y="57"/>
                  <a:pt x="14" y="44"/>
                  <a:pt x="13" y="32"/>
                </a:cubicBezTo>
                <a:cubicBezTo>
                  <a:pt x="12" y="20"/>
                  <a:pt x="6" y="10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Text Box 33"/>
          <p:cNvSpPr txBox="1">
            <a:spLocks noChangeArrowheads="1"/>
          </p:cNvSpPr>
          <p:nvPr/>
        </p:nvSpPr>
        <p:spPr bwMode="auto">
          <a:xfrm>
            <a:off x="8422759" y="1031791"/>
            <a:ext cx="369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 smtClean="0">
                <a:solidFill>
                  <a:srgbClr val="0000CC"/>
                </a:solidFill>
                <a:ea typeface="幼圆" pitchFamily="49" charset="-122"/>
                <a:sym typeface="Symbol"/>
              </a:rPr>
              <a:t></a:t>
            </a:r>
            <a:endParaRPr lang="zh-CN" altLang="en-US" sz="2400" b="1" i="1" dirty="0">
              <a:solidFill>
                <a:srgbClr val="0000CC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3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459022"/>
              </p:ext>
            </p:extLst>
          </p:nvPr>
        </p:nvGraphicFramePr>
        <p:xfrm>
          <a:off x="1169249" y="1511595"/>
          <a:ext cx="2590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545" name="公式" r:id="rId4" imgW="1295280" imgH="406080" progId="Equation.3">
                  <p:embed/>
                </p:oleObj>
              </mc:Choice>
              <mc:Fallback>
                <p:oleObj name="公式" r:id="rId4" imgW="1295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249" y="1511595"/>
                        <a:ext cx="2590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5EE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620270"/>
              </p:ext>
            </p:extLst>
          </p:nvPr>
        </p:nvGraphicFramePr>
        <p:xfrm>
          <a:off x="795338" y="2374900"/>
          <a:ext cx="261576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546" name="公式" r:id="rId6" imgW="1307880" imgH="419040" progId="Equation.3">
                  <p:embed/>
                </p:oleObj>
              </mc:Choice>
              <mc:Fallback>
                <p:oleObj name="公式" r:id="rId6" imgW="13078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" y="2374900"/>
                        <a:ext cx="261576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5EE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AutoShape 38"/>
          <p:cNvSpPr>
            <a:spLocks noChangeArrowheads="1"/>
          </p:cNvSpPr>
          <p:nvPr/>
        </p:nvSpPr>
        <p:spPr bwMode="auto">
          <a:xfrm>
            <a:off x="1009287" y="3616325"/>
            <a:ext cx="587375" cy="515938"/>
          </a:xfrm>
          <a:prstGeom prst="homePlate">
            <a:avLst>
              <a:gd name="adj" fmla="val 28462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4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255435"/>
              </p:ext>
            </p:extLst>
          </p:nvPr>
        </p:nvGraphicFramePr>
        <p:xfrm>
          <a:off x="1854731" y="3508375"/>
          <a:ext cx="1548720" cy="86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547" name="公式" r:id="rId8" imgW="774360" imgH="431640" progId="Equation.3">
                  <p:embed/>
                </p:oleObj>
              </mc:Choice>
              <mc:Fallback>
                <p:oleObj name="公式" r:id="rId8" imgW="774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731" y="3508375"/>
                        <a:ext cx="1548720" cy="863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5EE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3733437" y="3744913"/>
            <a:ext cx="19479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sym typeface="Symbol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&gt;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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,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&gt;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a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)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4549775" y="4559300"/>
            <a:ext cx="42338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用最小二乘法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确定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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然后计算强度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指标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zh-CN" altLang="en-US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5" name="Text Box 42"/>
          <p:cNvSpPr txBox="1">
            <a:spLocks noChangeArrowheads="1"/>
          </p:cNvSpPr>
          <p:nvPr/>
        </p:nvSpPr>
        <p:spPr bwMode="auto">
          <a:xfrm>
            <a:off x="1944688" y="4791075"/>
            <a:ext cx="2463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确定强度指标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:</a:t>
            </a:r>
          </a:p>
        </p:txBody>
      </p:sp>
      <p:sp>
        <p:nvSpPr>
          <p:cNvPr id="47" name="AutoShape 44"/>
          <p:cNvSpPr>
            <a:spLocks/>
          </p:cNvSpPr>
          <p:nvPr/>
        </p:nvSpPr>
        <p:spPr bwMode="auto">
          <a:xfrm>
            <a:off x="4275138" y="4751388"/>
            <a:ext cx="242887" cy="715962"/>
          </a:xfrm>
          <a:prstGeom prst="leftBrace">
            <a:avLst>
              <a:gd name="adj1" fmla="val 24564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Text Box 36"/>
          <p:cNvSpPr txBox="1">
            <a:spLocks noChangeArrowheads="1"/>
          </p:cNvSpPr>
          <p:nvPr/>
        </p:nvSpPr>
        <p:spPr bwMode="auto">
          <a:xfrm>
            <a:off x="428085" y="747452"/>
            <a:ext cx="418201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二者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参数之间的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7215964" y="2235908"/>
            <a:ext cx="3209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ea typeface="幼圆" pitchFamily="49" charset="-122"/>
              </a:rPr>
              <a:t>r</a:t>
            </a:r>
            <a:endParaRPr lang="en-US" altLang="zh-CN" sz="2400" b="1" dirty="0">
              <a:ea typeface="幼圆" pitchFamily="49" charset="-122"/>
            </a:endParaRP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6634719" y="2214642"/>
            <a:ext cx="3209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ea typeface="幼圆" pitchFamily="49" charset="-122"/>
              </a:rPr>
              <a:t>r</a:t>
            </a:r>
            <a:endParaRPr lang="en-US" altLang="zh-CN" sz="2400" b="1" dirty="0">
              <a:ea typeface="幼圆" pitchFamily="49" charset="-122"/>
            </a:endParaRPr>
          </a:p>
        </p:txBody>
      </p: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2139650" y="5764383"/>
            <a:ext cx="62833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 algn="ctr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强度包线与破坏主应力线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53" name="Text Box 7"/>
          <p:cNvSpPr txBox="1">
            <a:spLocks noChangeArrowheads="1"/>
          </p:cNvSpPr>
          <p:nvPr/>
        </p:nvSpPr>
        <p:spPr bwMode="auto">
          <a:xfrm>
            <a:off x="-9527" y="0"/>
            <a:ext cx="676455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强度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包线与破坏主应力线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968517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/>
      <p:bldP spid="44" grpId="0"/>
      <p:bldP spid="45" grpId="0"/>
      <p:bldP spid="4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506227" y="2217136"/>
            <a:ext cx="3449638" cy="2519363"/>
            <a:chOff x="3465" y="1632"/>
            <a:chExt cx="2173" cy="1587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 flipV="1">
              <a:off x="3741" y="1812"/>
              <a:ext cx="0" cy="13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5359" y="2881"/>
              <a:ext cx="27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i="1"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3500" y="2889"/>
              <a:ext cx="28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100" b="1" i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3734" y="2913"/>
              <a:ext cx="17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5338" y="2562"/>
              <a:ext cx="27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465" y="1667"/>
              <a:ext cx="280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3774" y="1632"/>
              <a:ext cx="27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i="1">
                  <a:cs typeface="Times New Roman" panose="02020603050405020304" pitchFamily="18" charset="0"/>
                  <a:sym typeface="Symbol" pitchFamily="18" charset="2"/>
                </a:rPr>
                <a:t>q</a:t>
              </a:r>
            </a:p>
          </p:txBody>
        </p:sp>
      </p:grp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884538" y="1430122"/>
            <a:ext cx="57546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有效应力原理： </a:t>
            </a:r>
            <a:r>
              <a:rPr lang="zh-CN" altLang="en-US" sz="2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 </a:t>
            </a:r>
            <a:r>
              <a:rPr lang="zh-CN" altLang="en-US" sz="2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 </a:t>
            </a:r>
            <a:r>
              <a:rPr lang="en-US" altLang="zh-CN" sz="2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或  </a:t>
            </a:r>
            <a:r>
              <a:rPr lang="zh-CN" altLang="en-US" sz="2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 </a:t>
            </a:r>
            <a:r>
              <a:rPr lang="zh-CN" altLang="en-US" sz="2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endParaRPr lang="zh-CN" altLang="en-US" sz="2400" b="1" i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697954"/>
              </p:ext>
            </p:extLst>
          </p:nvPr>
        </p:nvGraphicFramePr>
        <p:xfrm>
          <a:off x="4312251" y="2118712"/>
          <a:ext cx="4548188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272" name="公式" r:id="rId4" imgW="2209680" imgH="812520" progId="Equation.3">
                  <p:embed/>
                </p:oleObj>
              </mc:Choice>
              <mc:Fallback>
                <p:oleObj name="公式" r:id="rId4" imgW="22096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2251" y="2118712"/>
                        <a:ext cx="4548188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292162"/>
              </p:ext>
            </p:extLst>
          </p:nvPr>
        </p:nvGraphicFramePr>
        <p:xfrm>
          <a:off x="4422775" y="3797300"/>
          <a:ext cx="4395788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273" name="公式" r:id="rId6" imgW="2197080" imgH="812520" progId="Equation.3">
                  <p:embed/>
                </p:oleObj>
              </mc:Choice>
              <mc:Fallback>
                <p:oleObj name="公式" r:id="rId6" imgW="21970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775" y="3797300"/>
                        <a:ext cx="4395788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1869889" y="3566510"/>
            <a:ext cx="1714500" cy="1016000"/>
            <a:chOff x="4324" y="2482"/>
            <a:chExt cx="1080" cy="640"/>
          </a:xfrm>
        </p:grpSpPr>
        <p:sp>
          <p:nvSpPr>
            <p:cNvPr id="19" name="Arc 18"/>
            <p:cNvSpPr>
              <a:spLocks/>
            </p:cNvSpPr>
            <p:nvPr/>
          </p:nvSpPr>
          <p:spPr bwMode="auto">
            <a:xfrm flipH="1" flipV="1">
              <a:off x="4452" y="2482"/>
              <a:ext cx="839" cy="429"/>
            </a:xfrm>
            <a:custGeom>
              <a:avLst/>
              <a:gdLst>
                <a:gd name="T0" fmla="*/ 839 w 43200"/>
                <a:gd name="T1" fmla="*/ 2 h 22107"/>
                <a:gd name="T2" fmla="*/ 0 w 43200"/>
                <a:gd name="T3" fmla="*/ 0 h 22107"/>
                <a:gd name="T4" fmla="*/ 419 w 43200"/>
                <a:gd name="T5" fmla="*/ 10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5108" y="2834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1</a:t>
              </a:r>
              <a:endParaRPr lang="en-US" altLang="zh-CN" sz="2400" b="1">
                <a:solidFill>
                  <a:srgbClr val="0066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4324" y="2834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66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66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119002" y="3563335"/>
            <a:ext cx="1919287" cy="1057275"/>
            <a:chOff x="3851" y="2480"/>
            <a:chExt cx="1209" cy="666"/>
          </a:xfrm>
        </p:grpSpPr>
        <p:sp>
          <p:nvSpPr>
            <p:cNvPr id="23" name="Arc 22"/>
            <p:cNvSpPr>
              <a:spLocks/>
            </p:cNvSpPr>
            <p:nvPr/>
          </p:nvSpPr>
          <p:spPr bwMode="auto">
            <a:xfrm flipH="1" flipV="1">
              <a:off x="3995" y="2480"/>
              <a:ext cx="839" cy="429"/>
            </a:xfrm>
            <a:custGeom>
              <a:avLst/>
              <a:gdLst>
                <a:gd name="T0" fmla="*/ 839 w 43200"/>
                <a:gd name="T1" fmla="*/ 2 h 22107"/>
                <a:gd name="T2" fmla="*/ 0 w 43200"/>
                <a:gd name="T3" fmla="*/ 0 h 22107"/>
                <a:gd name="T4" fmla="*/ 419 w 43200"/>
                <a:gd name="T5" fmla="*/ 10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3851" y="2856"/>
              <a:ext cx="3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zh-CN" altLang="en-US" sz="24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2400" b="1" baseline="-25000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4716" y="2858"/>
              <a:ext cx="3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zh-CN" altLang="en-US" sz="24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2400" b="1" baseline="-25000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2677927" y="3730023"/>
            <a:ext cx="722312" cy="508000"/>
            <a:chOff x="4833" y="2585"/>
            <a:chExt cx="455" cy="320"/>
          </a:xfrm>
        </p:grpSpPr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V="1">
              <a:off x="5288" y="2726"/>
              <a:ext cx="0" cy="1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4833" y="2835"/>
              <a:ext cx="4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8"/>
            <p:cNvSpPr txBox="1">
              <a:spLocks noChangeArrowheads="1"/>
            </p:cNvSpPr>
            <p:nvPr/>
          </p:nvSpPr>
          <p:spPr bwMode="auto">
            <a:xfrm>
              <a:off x="4936" y="2585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ea typeface="幼圆" pitchFamily="49" charset="-122"/>
                  <a:cs typeface="Times New Roman" panose="02020603050405020304" pitchFamily="18" charset="0"/>
                </a:rPr>
                <a:t>u</a:t>
              </a:r>
            </a:p>
          </p:txBody>
        </p:sp>
      </p:grpSp>
      <p:grpSp>
        <p:nvGrpSpPr>
          <p:cNvPr id="32" name="Group 29"/>
          <p:cNvGrpSpPr>
            <a:grpSpLocks/>
          </p:cNvGrpSpPr>
          <p:nvPr/>
        </p:nvGrpSpPr>
        <p:grpSpPr bwMode="auto">
          <a:xfrm>
            <a:off x="1125352" y="2883885"/>
            <a:ext cx="690562" cy="908050"/>
            <a:chOff x="3855" y="2052"/>
            <a:chExt cx="435" cy="572"/>
          </a:xfrm>
        </p:grpSpPr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3855" y="2052"/>
              <a:ext cx="43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A50021"/>
                  </a:solidFill>
                  <a:ea typeface="幼圆" pitchFamily="49" charset="-122"/>
                </a:rPr>
                <a:t>有效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A50021"/>
                  </a:solidFill>
                  <a:ea typeface="幼圆" pitchFamily="49" charset="-122"/>
                </a:rPr>
                <a:t>应力</a:t>
              </a: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H="1" flipV="1">
              <a:off x="4033" y="2489"/>
              <a:ext cx="64" cy="1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2911289" y="3112485"/>
            <a:ext cx="1001713" cy="465138"/>
            <a:chOff x="4980" y="2196"/>
            <a:chExt cx="631" cy="293"/>
          </a:xfrm>
        </p:grpSpPr>
        <p:sp>
          <p:nvSpPr>
            <p:cNvPr id="36" name="Text Box 33"/>
            <p:cNvSpPr txBox="1">
              <a:spLocks noChangeArrowheads="1"/>
            </p:cNvSpPr>
            <p:nvPr/>
          </p:nvSpPr>
          <p:spPr bwMode="auto">
            <a:xfrm>
              <a:off x="5038" y="2196"/>
              <a:ext cx="5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6600"/>
                  </a:solidFill>
                  <a:ea typeface="幼圆" pitchFamily="49" charset="-122"/>
                </a:rPr>
                <a:t>总应力</a:t>
              </a:r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V="1">
              <a:off x="4980" y="2329"/>
              <a:ext cx="96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" name="Group 35"/>
          <p:cNvGrpSpPr>
            <a:grpSpLocks/>
          </p:cNvGrpSpPr>
          <p:nvPr/>
        </p:nvGrpSpPr>
        <p:grpSpPr bwMode="auto">
          <a:xfrm>
            <a:off x="1347602" y="3733198"/>
            <a:ext cx="722312" cy="508000"/>
            <a:chOff x="3995" y="2587"/>
            <a:chExt cx="455" cy="320"/>
          </a:xfrm>
        </p:grpSpPr>
        <p:sp>
          <p:nvSpPr>
            <p:cNvPr id="39" name="Line 36"/>
            <p:cNvSpPr>
              <a:spLocks noChangeShapeType="1"/>
            </p:cNvSpPr>
            <p:nvPr/>
          </p:nvSpPr>
          <p:spPr bwMode="auto">
            <a:xfrm flipV="1">
              <a:off x="4450" y="2728"/>
              <a:ext cx="0" cy="1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>
              <a:off x="3995" y="2837"/>
              <a:ext cx="4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38"/>
            <p:cNvSpPr txBox="1">
              <a:spLocks noChangeArrowheads="1"/>
            </p:cNvSpPr>
            <p:nvPr/>
          </p:nvSpPr>
          <p:spPr bwMode="auto">
            <a:xfrm>
              <a:off x="4098" y="2587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ea typeface="幼圆" pitchFamily="49" charset="-122"/>
                </a:rPr>
                <a:t>u</a:t>
              </a:r>
            </a:p>
          </p:txBody>
        </p:sp>
      </p:grpSp>
      <p:grpSp>
        <p:nvGrpSpPr>
          <p:cNvPr id="42" name="Group 39"/>
          <p:cNvGrpSpPr>
            <a:grpSpLocks/>
          </p:cNvGrpSpPr>
          <p:nvPr/>
        </p:nvGrpSpPr>
        <p:grpSpPr bwMode="auto">
          <a:xfrm>
            <a:off x="1979427" y="2945798"/>
            <a:ext cx="782637" cy="652462"/>
            <a:chOff x="4393" y="2091"/>
            <a:chExt cx="493" cy="411"/>
          </a:xfrm>
        </p:grpSpPr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4844" y="2453"/>
              <a:ext cx="42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 flipV="1">
              <a:off x="4864" y="2238"/>
              <a:ext cx="0" cy="1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45" name="Line 42"/>
            <p:cNvSpPr>
              <a:spLocks noChangeShapeType="1"/>
            </p:cNvSpPr>
            <p:nvPr/>
          </p:nvSpPr>
          <p:spPr bwMode="auto">
            <a:xfrm>
              <a:off x="4409" y="2347"/>
              <a:ext cx="4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46" name="Text Box 43"/>
            <p:cNvSpPr txBox="1">
              <a:spLocks noChangeArrowheads="1"/>
            </p:cNvSpPr>
            <p:nvPr/>
          </p:nvSpPr>
          <p:spPr bwMode="auto">
            <a:xfrm>
              <a:off x="4518" y="2091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ea typeface="幼圆" pitchFamily="49" charset="-122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7" name="Oval 44"/>
            <p:cNvSpPr>
              <a:spLocks noChangeArrowheads="1"/>
            </p:cNvSpPr>
            <p:nvPr/>
          </p:nvSpPr>
          <p:spPr bwMode="auto">
            <a:xfrm>
              <a:off x="4393" y="2457"/>
              <a:ext cx="42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i="1"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36"/>
          <p:cNvSpPr txBox="1">
            <a:spLocks noChangeArrowheads="1"/>
          </p:cNvSpPr>
          <p:nvPr/>
        </p:nvSpPr>
        <p:spPr bwMode="auto">
          <a:xfrm>
            <a:off x="428084" y="665072"/>
            <a:ext cx="537581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总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应力与有效应力状态</a:t>
            </a:r>
          </a:p>
        </p:txBody>
      </p:sp>
      <p:sp>
        <p:nvSpPr>
          <p:cNvPr id="49" name="Text Box 2"/>
          <p:cNvSpPr txBox="1">
            <a:spLocks noChangeArrowheads="1"/>
          </p:cNvSpPr>
          <p:nvPr/>
        </p:nvSpPr>
        <p:spPr bwMode="auto">
          <a:xfrm>
            <a:off x="2051216" y="5757262"/>
            <a:ext cx="626075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总应力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路径与有效应力路径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-9528" y="0"/>
            <a:ext cx="645975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总应力与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有效应力路径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141856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 decel="100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5422899" y="1383053"/>
            <a:ext cx="3394075" cy="2635250"/>
            <a:chOff x="3406" y="1295"/>
            <a:chExt cx="2138" cy="166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3406" y="1295"/>
              <a:ext cx="2138" cy="1660"/>
              <a:chOff x="3406" y="1295"/>
              <a:chExt cx="2138" cy="1660"/>
            </a:xfrm>
          </p:grpSpPr>
          <p:sp>
            <p:nvSpPr>
              <p:cNvPr id="11" name="Line 5"/>
              <p:cNvSpPr>
                <a:spLocks noChangeShapeType="1"/>
              </p:cNvSpPr>
              <p:nvPr/>
            </p:nvSpPr>
            <p:spPr bwMode="auto">
              <a:xfrm flipV="1">
                <a:off x="3647" y="1548"/>
                <a:ext cx="0" cy="13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" name="Text Box 6"/>
              <p:cNvSpPr txBox="1">
                <a:spLocks noChangeArrowheads="1"/>
              </p:cNvSpPr>
              <p:nvPr/>
            </p:nvSpPr>
            <p:spPr bwMode="auto">
              <a:xfrm>
                <a:off x="5265" y="2617"/>
                <a:ext cx="279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5147" tIns="52573" rIns="105147" bIns="52573">
                <a:spAutoFit/>
              </a:bodyPr>
              <a:lstStyle>
                <a:lvl1pPr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800" b="1" i="1"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  <p:sp>
            <p:nvSpPr>
              <p:cNvPr id="13" name="Text Box 7"/>
              <p:cNvSpPr txBox="1">
                <a:spLocks noChangeArrowheads="1"/>
              </p:cNvSpPr>
              <p:nvPr/>
            </p:nvSpPr>
            <p:spPr bwMode="auto">
              <a:xfrm>
                <a:off x="3406" y="2625"/>
                <a:ext cx="280" cy="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5147" tIns="52573" rIns="105147" bIns="52573">
                <a:spAutoFit/>
              </a:bodyPr>
              <a:lstStyle>
                <a:lvl1pPr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100" b="1" i="1">
                    <a:cs typeface="Times New Roman" panose="02020603050405020304" pitchFamily="18" charset="0"/>
                    <a:sym typeface="Symbol" pitchFamily="18" charset="2"/>
                  </a:rPr>
                  <a:t>O</a:t>
                </a:r>
              </a:p>
            </p:txBody>
          </p:sp>
          <p:sp>
            <p:nvSpPr>
              <p:cNvPr id="14" name="Line 8"/>
              <p:cNvSpPr>
                <a:spLocks noChangeShapeType="1"/>
              </p:cNvSpPr>
              <p:nvPr/>
            </p:nvSpPr>
            <p:spPr bwMode="auto">
              <a:xfrm>
                <a:off x="3640" y="2649"/>
                <a:ext cx="179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3685" y="1295"/>
                <a:ext cx="279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5147" tIns="52573" rIns="105147" bIns="52573">
                <a:spAutoFit/>
              </a:bodyPr>
              <a:lstStyle>
                <a:lvl1pPr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800" b="1" i="1" dirty="0">
                    <a:cs typeface="Times New Roman" panose="02020603050405020304" pitchFamily="18" charset="0"/>
                    <a:sym typeface="Symbol" pitchFamily="18" charset="2"/>
                  </a:rPr>
                  <a:t>q</a:t>
                </a:r>
              </a:p>
            </p:txBody>
          </p:sp>
        </p:grpSp>
        <p:grpSp>
          <p:nvGrpSpPr>
            <p:cNvPr id="6" name="Group 10"/>
            <p:cNvGrpSpPr>
              <a:grpSpLocks/>
            </p:cNvGrpSpPr>
            <p:nvPr/>
          </p:nvGrpSpPr>
          <p:grpSpPr bwMode="auto">
            <a:xfrm>
              <a:off x="3640" y="1747"/>
              <a:ext cx="1642" cy="632"/>
              <a:chOff x="3640" y="1747"/>
              <a:chExt cx="1642" cy="632"/>
            </a:xfrm>
          </p:grpSpPr>
          <p:sp>
            <p:nvSpPr>
              <p:cNvPr id="7" name="Line 11"/>
              <p:cNvSpPr>
                <a:spLocks noChangeShapeType="1"/>
              </p:cNvSpPr>
              <p:nvPr/>
            </p:nvSpPr>
            <p:spPr bwMode="auto">
              <a:xfrm flipV="1">
                <a:off x="3640" y="1803"/>
                <a:ext cx="1642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Text Box 12"/>
              <p:cNvSpPr txBox="1">
                <a:spLocks noChangeArrowheads="1"/>
              </p:cNvSpPr>
              <p:nvPr/>
            </p:nvSpPr>
            <p:spPr bwMode="auto">
              <a:xfrm>
                <a:off x="3969" y="1747"/>
                <a:ext cx="486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5147" tIns="52573" rIns="105147" bIns="52573">
                <a:spAutoFit/>
              </a:bodyPr>
              <a:lstStyle>
                <a:lvl1pPr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300" b="1" i="1" dirty="0" err="1">
                    <a:ea typeface="幼圆" pitchFamily="49" charset="-122"/>
                  </a:rPr>
                  <a:t>K</a:t>
                </a:r>
                <a:r>
                  <a:rPr lang="en-US" altLang="zh-CN" sz="2300" b="1" baseline="-25000" dirty="0" err="1">
                    <a:ea typeface="幼圆" pitchFamily="49" charset="-122"/>
                  </a:rPr>
                  <a:t>f</a:t>
                </a:r>
                <a:r>
                  <a:rPr lang="zh-CN" altLang="en-US" sz="2300" b="1" dirty="0">
                    <a:ea typeface="幼圆" pitchFamily="49" charset="-122"/>
                  </a:rPr>
                  <a:t>线</a:t>
                </a:r>
                <a:endParaRPr lang="en-US" altLang="zh-CN" sz="2300" b="1" dirty="0">
                  <a:ea typeface="幼圆" pitchFamily="49" charset="-122"/>
                </a:endParaRPr>
              </a:p>
            </p:txBody>
          </p:sp>
          <p:sp>
            <p:nvSpPr>
              <p:cNvPr id="9" name="Line 13"/>
              <p:cNvSpPr>
                <a:spLocks noChangeShapeType="1"/>
              </p:cNvSpPr>
              <p:nvPr/>
            </p:nvSpPr>
            <p:spPr bwMode="auto">
              <a:xfrm flipV="1">
                <a:off x="4055" y="2015"/>
                <a:ext cx="58" cy="1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762000" y="1314790"/>
            <a:ext cx="45339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5600" indent="-355600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施加围压力</a:t>
            </a:r>
            <a:r>
              <a:rPr lang="el-GR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l-GR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0 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 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p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=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765175" y="1834844"/>
            <a:ext cx="39687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5600" indent="-355600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 startAt="2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施加偏差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l-GR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l-GR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l-GR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l-GR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7559"/>
              </p:ext>
            </p:extLst>
          </p:nvPr>
        </p:nvGraphicFramePr>
        <p:xfrm>
          <a:off x="1182689" y="2812775"/>
          <a:ext cx="3446462" cy="1549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992" name="公式" r:id="rId4" imgW="1726920" imgH="812520" progId="Equation.3">
                  <p:embed/>
                </p:oleObj>
              </mc:Choice>
              <mc:Fallback>
                <p:oleObj name="公式" r:id="rId4" imgW="172692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9" y="2812775"/>
                        <a:ext cx="3446462" cy="15499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6524625" y="306897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ea typeface="幼圆" pitchFamily="49" charset="-122"/>
              </a:rPr>
              <a:t>A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7578725" y="198947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ea typeface="幼圆" pitchFamily="49" charset="-122"/>
              </a:rPr>
              <a:t>B</a:t>
            </a:r>
          </a:p>
        </p:txBody>
      </p: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7546975" y="2483190"/>
            <a:ext cx="1108075" cy="455613"/>
            <a:chOff x="4744" y="1988"/>
            <a:chExt cx="698" cy="287"/>
          </a:xfrm>
        </p:grpSpPr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4940" y="1988"/>
              <a:ext cx="502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300" b="1" dirty="0">
                  <a:solidFill>
                    <a:srgbClr val="A50021"/>
                  </a:solidFill>
                  <a:ea typeface="幼圆" pitchFamily="49" charset="-122"/>
                </a:rPr>
                <a:t>剪切</a:t>
              </a: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V="1">
              <a:off x="4744" y="2177"/>
              <a:ext cx="228" cy="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AutoShape 25"/>
          <p:cNvSpPr>
            <a:spLocks noChangeArrowheads="1"/>
          </p:cNvSpPr>
          <p:nvPr/>
        </p:nvSpPr>
        <p:spPr bwMode="auto">
          <a:xfrm>
            <a:off x="1277076" y="4601487"/>
            <a:ext cx="587375" cy="515938"/>
          </a:xfrm>
          <a:prstGeom prst="homePlate">
            <a:avLst>
              <a:gd name="adj" fmla="val 28462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27" name="Group 26"/>
          <p:cNvGrpSpPr>
            <a:grpSpLocks/>
          </p:cNvGrpSpPr>
          <p:nvPr/>
        </p:nvGrpSpPr>
        <p:grpSpPr bwMode="auto">
          <a:xfrm>
            <a:off x="5810252" y="3041992"/>
            <a:ext cx="1570038" cy="884238"/>
            <a:chOff x="3650" y="2340"/>
            <a:chExt cx="989" cy="557"/>
          </a:xfrm>
        </p:grpSpPr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4134" y="2606"/>
              <a:ext cx="5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p</a:t>
              </a:r>
              <a:r>
                <a:rPr lang="en-US" altLang="zh-CN" sz="2400" b="1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=</a:t>
              </a:r>
              <a:r>
                <a:rPr lang="en-US" altLang="zh-CN" sz="2400" b="1" i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66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3650" y="2645"/>
              <a:ext cx="614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3677" y="2340"/>
              <a:ext cx="517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300" b="1">
                  <a:solidFill>
                    <a:srgbClr val="006600"/>
                  </a:solidFill>
                  <a:ea typeface="幼圆" pitchFamily="49" charset="-122"/>
                </a:rPr>
                <a:t>固结</a:t>
              </a:r>
            </a:p>
          </p:txBody>
        </p:sp>
        <p:sp>
          <p:nvSpPr>
            <p:cNvPr id="33" name="Oval 30"/>
            <p:cNvSpPr>
              <a:spLocks noChangeArrowheads="1"/>
            </p:cNvSpPr>
            <p:nvPr/>
          </p:nvSpPr>
          <p:spPr bwMode="auto">
            <a:xfrm>
              <a:off x="4247" y="2625"/>
              <a:ext cx="42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" name="Group 31"/>
          <p:cNvGrpSpPr>
            <a:grpSpLocks/>
          </p:cNvGrpSpPr>
          <p:nvPr/>
        </p:nvGrpSpPr>
        <p:grpSpPr bwMode="auto">
          <a:xfrm>
            <a:off x="6816725" y="2353015"/>
            <a:ext cx="1157288" cy="1187450"/>
            <a:chOff x="4284" y="1906"/>
            <a:chExt cx="729" cy="748"/>
          </a:xfrm>
        </p:grpSpPr>
        <p:sp>
          <p:nvSpPr>
            <p:cNvPr id="35" name="Line 32"/>
            <p:cNvSpPr>
              <a:spLocks noChangeShapeType="1"/>
            </p:cNvSpPr>
            <p:nvPr/>
          </p:nvSpPr>
          <p:spPr bwMode="auto">
            <a:xfrm flipV="1">
              <a:off x="4284" y="1906"/>
              <a:ext cx="729" cy="72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33"/>
            <p:cNvSpPr txBox="1">
              <a:spLocks noChangeArrowheads="1"/>
            </p:cNvSpPr>
            <p:nvPr/>
          </p:nvSpPr>
          <p:spPr bwMode="auto">
            <a:xfrm>
              <a:off x="4469" y="240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ea typeface="幼圆" pitchFamily="49" charset="-122"/>
                </a:rPr>
                <a:t>1</a:t>
              </a: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4664" y="220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ea typeface="幼圆" pitchFamily="49" charset="-122"/>
                </a:rPr>
                <a:t>1</a:t>
              </a:r>
            </a:p>
          </p:txBody>
        </p:sp>
        <p:sp>
          <p:nvSpPr>
            <p:cNvPr id="38" name="Freeform 35"/>
            <p:cNvSpPr>
              <a:spLocks/>
            </p:cNvSpPr>
            <p:nvPr/>
          </p:nvSpPr>
          <p:spPr bwMode="auto">
            <a:xfrm>
              <a:off x="4471" y="2266"/>
              <a:ext cx="204" cy="198"/>
            </a:xfrm>
            <a:custGeom>
              <a:avLst/>
              <a:gdLst>
                <a:gd name="T0" fmla="*/ 0 w 297"/>
                <a:gd name="T1" fmla="*/ 288 h 288"/>
                <a:gd name="T2" fmla="*/ 297 w 297"/>
                <a:gd name="T3" fmla="*/ 288 h 288"/>
                <a:gd name="T4" fmla="*/ 297 w 297"/>
                <a:gd name="T5" fmla="*/ 0 h 288"/>
                <a:gd name="T6" fmla="*/ 0 60000 65536"/>
                <a:gd name="T7" fmla="*/ 0 60000 65536"/>
                <a:gd name="T8" fmla="*/ 0 60000 65536"/>
                <a:gd name="T9" fmla="*/ 0 w 297"/>
                <a:gd name="T10" fmla="*/ 0 h 288"/>
                <a:gd name="T11" fmla="*/ 297 w 297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7" h="288">
                  <a:moveTo>
                    <a:pt x="0" y="288"/>
                  </a:moveTo>
                  <a:lnTo>
                    <a:pt x="297" y="288"/>
                  </a:lnTo>
                  <a:lnTo>
                    <a:pt x="29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428084" y="632120"/>
            <a:ext cx="5375816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三轴试验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的总应力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路径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Text Box 31"/>
          <p:cNvSpPr txBox="1">
            <a:spLocks noChangeArrowheads="1"/>
          </p:cNvSpPr>
          <p:nvPr/>
        </p:nvSpPr>
        <p:spPr bwMode="auto">
          <a:xfrm>
            <a:off x="1961288" y="4513381"/>
            <a:ext cx="6553199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q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= 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应力路径是沿倾角为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45°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斜线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向上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最终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到达总应力破坏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主应力线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  <a:endParaRPr lang="en-US" altLang="zh-CN" sz="24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Text Box 16"/>
          <p:cNvSpPr txBox="1">
            <a:spLocks noChangeArrowheads="1"/>
          </p:cNvSpPr>
          <p:nvPr/>
        </p:nvSpPr>
        <p:spPr bwMode="auto">
          <a:xfrm>
            <a:off x="1212851" y="2329112"/>
            <a:ext cx="21970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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2051216" y="5757262"/>
            <a:ext cx="626075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总应力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路径与有效应力路径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5" name="Text Box 7"/>
          <p:cNvSpPr txBox="1">
            <a:spLocks noChangeArrowheads="1"/>
          </p:cNvSpPr>
          <p:nvPr/>
        </p:nvSpPr>
        <p:spPr bwMode="auto">
          <a:xfrm>
            <a:off x="-9528" y="0"/>
            <a:ext cx="645975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总应力与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有效应力路径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331555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 decel="100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00"/>
                            </p:stCondLst>
                            <p:childTnLst>
                              <p:par>
                                <p:cTn id="76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800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1" grpId="0"/>
      <p:bldP spid="26" grpId="0" animBg="1"/>
      <p:bldP spid="40" grpId="0" build="p"/>
      <p:bldP spid="4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8" name="Text Box 36"/>
          <p:cNvSpPr txBox="1">
            <a:spLocks noChangeArrowheads="1"/>
          </p:cNvSpPr>
          <p:nvPr/>
        </p:nvSpPr>
        <p:spPr bwMode="auto">
          <a:xfrm>
            <a:off x="428084" y="615644"/>
            <a:ext cx="537581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三轴试验的有效应力路径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2" name="Text Box 15"/>
          <p:cNvSpPr txBox="1">
            <a:spLocks noChangeArrowheads="1"/>
          </p:cNvSpPr>
          <p:nvPr/>
        </p:nvSpPr>
        <p:spPr bwMode="auto">
          <a:xfrm>
            <a:off x="841319" y="1311674"/>
            <a:ext cx="211778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排水试验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83" name="Text Box 31"/>
          <p:cNvSpPr txBox="1">
            <a:spLocks noChangeArrowheads="1"/>
          </p:cNvSpPr>
          <p:nvPr/>
        </p:nvSpPr>
        <p:spPr bwMode="auto">
          <a:xfrm>
            <a:off x="1295400" y="1858917"/>
            <a:ext cx="6883400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试样内孔隙水压力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u=0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总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应力等于有效应力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路径和总应力路径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重合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总应力破坏主应力线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重合</a:t>
            </a:r>
            <a:endParaRPr lang="en-US" altLang="zh-CN" sz="24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84" name="Text Box 15"/>
          <p:cNvSpPr txBox="1">
            <a:spLocks noChangeArrowheads="1"/>
          </p:cNvSpPr>
          <p:nvPr/>
        </p:nvSpPr>
        <p:spPr bwMode="auto">
          <a:xfrm>
            <a:off x="854019" y="3457974"/>
            <a:ext cx="211778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不排水试验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85" name="Text Box 31"/>
          <p:cNvSpPr txBox="1">
            <a:spLocks noChangeArrowheads="1"/>
          </p:cNvSpPr>
          <p:nvPr/>
        </p:nvSpPr>
        <p:spPr bwMode="auto">
          <a:xfrm>
            <a:off x="1333500" y="3901240"/>
            <a:ext cx="7505700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试样内孔隙水压力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一般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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0</a:t>
            </a: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确定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，计算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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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再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绘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制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有效应力路径</a:t>
            </a:r>
            <a:endParaRPr lang="en-US" altLang="zh-CN" sz="24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在三轴应力状态下，</a:t>
            </a:r>
            <a:r>
              <a:rPr lang="en-US" altLang="zh-CN" sz="24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 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[</a:t>
            </a:r>
            <a:r>
              <a:rPr lang="en-US" altLang="zh-CN" sz="24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en-US" altLang="zh-CN" sz="24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(</a:t>
            </a:r>
            <a:r>
              <a:rPr lang="en-US" altLang="zh-CN" sz="24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4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)]</a:t>
            </a:r>
            <a:endParaRPr lang="en-US" altLang="zh-CN" sz="2400" b="1" baseline="-25000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051216" y="5757262"/>
            <a:ext cx="626075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总应力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路径与有效应力路径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9528" y="0"/>
            <a:ext cx="645975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总应力与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有效应力路径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405113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  <p:bldP spid="84" grpId="0"/>
      <p:bldP spid="8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10"/>
          <p:cNvGrpSpPr>
            <a:grpSpLocks/>
          </p:cNvGrpSpPr>
          <p:nvPr/>
        </p:nvGrpSpPr>
        <p:grpSpPr bwMode="auto">
          <a:xfrm>
            <a:off x="7029114" y="2334332"/>
            <a:ext cx="1285368" cy="1669582"/>
            <a:chOff x="4419" y="1319"/>
            <a:chExt cx="736" cy="956"/>
          </a:xfrm>
        </p:grpSpPr>
        <p:sp>
          <p:nvSpPr>
            <p:cNvPr id="91" name="Freeform 11" descr="浅色横线"/>
            <p:cNvSpPr>
              <a:spLocks/>
            </p:cNvSpPr>
            <p:nvPr/>
          </p:nvSpPr>
          <p:spPr bwMode="auto">
            <a:xfrm>
              <a:off x="4419" y="1549"/>
              <a:ext cx="736" cy="726"/>
            </a:xfrm>
            <a:custGeom>
              <a:avLst/>
              <a:gdLst>
                <a:gd name="T0" fmla="*/ 0 w 736"/>
                <a:gd name="T1" fmla="*/ 715 h 726"/>
                <a:gd name="T2" fmla="*/ 92 w 736"/>
                <a:gd name="T3" fmla="*/ 531 h 726"/>
                <a:gd name="T4" fmla="*/ 143 w 736"/>
                <a:gd name="T5" fmla="*/ 377 h 726"/>
                <a:gd name="T6" fmla="*/ 143 w 736"/>
                <a:gd name="T7" fmla="*/ 246 h 726"/>
                <a:gd name="T8" fmla="*/ 108 w 736"/>
                <a:gd name="T9" fmla="*/ 124 h 726"/>
                <a:gd name="T10" fmla="*/ 163 w 736"/>
                <a:gd name="T11" fmla="*/ 54 h 726"/>
                <a:gd name="T12" fmla="*/ 253 w 736"/>
                <a:gd name="T13" fmla="*/ 0 h 726"/>
                <a:gd name="T14" fmla="*/ 736 w 736"/>
                <a:gd name="T15" fmla="*/ 0 h 726"/>
                <a:gd name="T16" fmla="*/ 10 w 736"/>
                <a:gd name="T17" fmla="*/ 726 h 726"/>
                <a:gd name="T18" fmla="*/ 0 w 736"/>
                <a:gd name="T19" fmla="*/ 715 h 7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36"/>
                <a:gd name="T31" fmla="*/ 0 h 726"/>
                <a:gd name="T32" fmla="*/ 736 w 736"/>
                <a:gd name="T33" fmla="*/ 726 h 72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36" h="726">
                  <a:moveTo>
                    <a:pt x="0" y="715"/>
                  </a:moveTo>
                  <a:cubicBezTo>
                    <a:pt x="15" y="684"/>
                    <a:pt x="68" y="587"/>
                    <a:pt x="92" y="531"/>
                  </a:cubicBezTo>
                  <a:cubicBezTo>
                    <a:pt x="116" y="475"/>
                    <a:pt x="135" y="424"/>
                    <a:pt x="143" y="377"/>
                  </a:cubicBezTo>
                  <a:cubicBezTo>
                    <a:pt x="151" y="330"/>
                    <a:pt x="149" y="288"/>
                    <a:pt x="143" y="246"/>
                  </a:cubicBezTo>
                  <a:cubicBezTo>
                    <a:pt x="137" y="204"/>
                    <a:pt x="105" y="156"/>
                    <a:pt x="108" y="124"/>
                  </a:cubicBezTo>
                  <a:cubicBezTo>
                    <a:pt x="111" y="92"/>
                    <a:pt x="139" y="75"/>
                    <a:pt x="163" y="54"/>
                  </a:cubicBezTo>
                  <a:lnTo>
                    <a:pt x="253" y="0"/>
                  </a:lnTo>
                  <a:lnTo>
                    <a:pt x="736" y="0"/>
                  </a:lnTo>
                  <a:lnTo>
                    <a:pt x="10" y="726"/>
                  </a:lnTo>
                  <a:cubicBezTo>
                    <a:pt x="10" y="726"/>
                    <a:pt x="0" y="715"/>
                    <a:pt x="0" y="715"/>
                  </a:cubicBezTo>
                  <a:close/>
                </a:path>
              </a:pathLst>
            </a:custGeom>
            <a:pattFill prst="ltHorz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28575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75"/>
            </a:p>
          </p:txBody>
        </p:sp>
        <p:sp>
          <p:nvSpPr>
            <p:cNvPr id="92" name="Text Box 12"/>
            <p:cNvSpPr txBox="1">
              <a:spLocks noChangeArrowheads="1"/>
            </p:cNvSpPr>
            <p:nvPr/>
          </p:nvSpPr>
          <p:spPr bwMode="auto">
            <a:xfrm>
              <a:off x="4615" y="1649"/>
              <a:ext cx="196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ea typeface="幼圆" pitchFamily="49" charset="-122"/>
                </a:rPr>
                <a:t>u</a:t>
              </a:r>
            </a:p>
          </p:txBody>
        </p:sp>
        <p:sp>
          <p:nvSpPr>
            <p:cNvPr id="93" name="Line 13"/>
            <p:cNvSpPr>
              <a:spLocks noChangeShapeType="1"/>
            </p:cNvSpPr>
            <p:nvPr/>
          </p:nvSpPr>
          <p:spPr bwMode="auto">
            <a:xfrm>
              <a:off x="4657" y="1552"/>
              <a:ext cx="4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75"/>
            </a:p>
          </p:txBody>
        </p:sp>
        <p:sp>
          <p:nvSpPr>
            <p:cNvPr id="94" name="Text Box 14"/>
            <p:cNvSpPr txBox="1">
              <a:spLocks noChangeArrowheads="1"/>
            </p:cNvSpPr>
            <p:nvPr/>
          </p:nvSpPr>
          <p:spPr bwMode="auto">
            <a:xfrm>
              <a:off x="4841" y="1319"/>
              <a:ext cx="231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 err="1">
                  <a:ea typeface="幼圆" pitchFamily="49" charset="-122"/>
                </a:rPr>
                <a:t>u</a:t>
              </a:r>
              <a:r>
                <a:rPr lang="en-US" altLang="zh-CN" sz="2200" b="1" baseline="-25000" dirty="0" err="1">
                  <a:ea typeface="幼圆" pitchFamily="49" charset="-122"/>
                </a:rPr>
                <a:t>f</a:t>
              </a:r>
              <a:endParaRPr lang="en-US" altLang="zh-CN" sz="2200" b="1" dirty="0">
                <a:ea typeface="幼圆" pitchFamily="49" charset="-122"/>
              </a:endParaRPr>
            </a:p>
          </p:txBody>
        </p:sp>
        <p:sp>
          <p:nvSpPr>
            <p:cNvPr id="95" name="Line 15"/>
            <p:cNvSpPr>
              <a:spLocks noChangeShapeType="1"/>
            </p:cNvSpPr>
            <p:nvPr/>
          </p:nvSpPr>
          <p:spPr bwMode="auto">
            <a:xfrm>
              <a:off x="4575" y="1851"/>
              <a:ext cx="2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75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046260" y="2582324"/>
            <a:ext cx="1849782" cy="1425082"/>
            <a:chOff x="7046260" y="2796512"/>
            <a:chExt cx="1849782" cy="1425082"/>
          </a:xfrm>
        </p:grpSpPr>
        <p:grpSp>
          <p:nvGrpSpPr>
            <p:cNvPr id="97" name="Group 21"/>
            <p:cNvGrpSpPr>
              <a:grpSpLocks/>
            </p:cNvGrpSpPr>
            <p:nvPr/>
          </p:nvGrpSpPr>
          <p:grpSpPr bwMode="auto">
            <a:xfrm>
              <a:off x="7432537" y="3440944"/>
              <a:ext cx="1463505" cy="455817"/>
              <a:chOff x="4650" y="1830"/>
              <a:chExt cx="838" cy="261"/>
            </a:xfrm>
          </p:grpSpPr>
          <p:sp>
            <p:nvSpPr>
              <p:cNvPr id="98" name="Text Box 22"/>
              <p:cNvSpPr txBox="1">
                <a:spLocks noChangeArrowheads="1"/>
              </p:cNvSpPr>
              <p:nvPr/>
            </p:nvSpPr>
            <p:spPr bwMode="auto">
              <a:xfrm>
                <a:off x="4812" y="1830"/>
                <a:ext cx="676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15674" tIns="57836" rIns="115674" bIns="57836">
                <a:spAutoFit/>
              </a:bodyPr>
              <a:lstStyle>
                <a:lvl1pPr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dirty="0">
                    <a:solidFill>
                      <a:srgbClr val="A50021"/>
                    </a:solidFill>
                    <a:ea typeface="幼圆" pitchFamily="49" charset="-122"/>
                  </a:rPr>
                  <a:t>总应力</a:t>
                </a:r>
              </a:p>
            </p:txBody>
          </p:sp>
          <p:sp>
            <p:nvSpPr>
              <p:cNvPr id="99" name="Line 23"/>
              <p:cNvSpPr>
                <a:spLocks noChangeShapeType="1"/>
              </p:cNvSpPr>
              <p:nvPr/>
            </p:nvSpPr>
            <p:spPr bwMode="auto">
              <a:xfrm flipV="1">
                <a:off x="4650" y="1999"/>
                <a:ext cx="241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75"/>
              </a:p>
            </p:txBody>
          </p:sp>
        </p:grpSp>
        <p:sp>
          <p:nvSpPr>
            <p:cNvPr id="108" name="Line 37"/>
            <p:cNvSpPr>
              <a:spLocks noChangeShapeType="1"/>
            </p:cNvSpPr>
            <p:nvPr/>
          </p:nvSpPr>
          <p:spPr bwMode="auto">
            <a:xfrm flipV="1">
              <a:off x="7046260" y="2948450"/>
              <a:ext cx="1273144" cy="1273144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75"/>
            </a:p>
          </p:txBody>
        </p:sp>
        <p:sp>
          <p:nvSpPr>
            <p:cNvPr id="116" name="Text Box 20"/>
            <p:cNvSpPr txBox="1">
              <a:spLocks noChangeArrowheads="1"/>
            </p:cNvSpPr>
            <p:nvPr/>
          </p:nvSpPr>
          <p:spPr bwMode="auto">
            <a:xfrm>
              <a:off x="8344171" y="2796512"/>
              <a:ext cx="410690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40" b="1" dirty="0">
                  <a:ea typeface="幼圆" pitchFamily="49" charset="-122"/>
                </a:rPr>
                <a:t>B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76935" y="2330839"/>
            <a:ext cx="1888786" cy="1652118"/>
            <a:chOff x="5576935" y="2545027"/>
            <a:chExt cx="1888786" cy="1652118"/>
          </a:xfrm>
        </p:grpSpPr>
        <p:sp>
          <p:nvSpPr>
            <p:cNvPr id="104" name="Text Box 33"/>
            <p:cNvSpPr txBox="1">
              <a:spLocks noChangeArrowheads="1"/>
            </p:cNvSpPr>
            <p:nvPr/>
          </p:nvSpPr>
          <p:spPr bwMode="auto">
            <a:xfrm>
              <a:off x="5576935" y="2655841"/>
              <a:ext cx="1367073" cy="455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15674" tIns="57836" rIns="115674" bIns="57836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 smtClean="0">
                  <a:solidFill>
                    <a:srgbClr val="000066"/>
                  </a:solidFill>
                  <a:ea typeface="幼圆" pitchFamily="49" charset="-122"/>
                </a:rPr>
                <a:t>有效应力</a:t>
              </a:r>
              <a:endParaRPr lang="zh-CN" altLang="en-US" sz="22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6947031" y="2545027"/>
              <a:ext cx="518690" cy="1652118"/>
              <a:chOff x="6947031" y="2545027"/>
              <a:chExt cx="518690" cy="1652118"/>
            </a:xfrm>
          </p:grpSpPr>
          <p:sp>
            <p:nvSpPr>
              <p:cNvPr id="106" name="Freeform 35"/>
              <p:cNvSpPr>
                <a:spLocks/>
              </p:cNvSpPr>
              <p:nvPr/>
            </p:nvSpPr>
            <p:spPr bwMode="auto">
              <a:xfrm>
                <a:off x="7036100" y="2930986"/>
                <a:ext cx="429621" cy="1266159"/>
              </a:xfrm>
              <a:custGeom>
                <a:avLst/>
                <a:gdLst>
                  <a:gd name="T0" fmla="*/ 0 w 246"/>
                  <a:gd name="T1" fmla="*/ 725 h 725"/>
                  <a:gd name="T2" fmla="*/ 92 w 246"/>
                  <a:gd name="T3" fmla="*/ 541 h 725"/>
                  <a:gd name="T4" fmla="*/ 143 w 246"/>
                  <a:gd name="T5" fmla="*/ 387 h 725"/>
                  <a:gd name="T6" fmla="*/ 143 w 246"/>
                  <a:gd name="T7" fmla="*/ 256 h 725"/>
                  <a:gd name="T8" fmla="*/ 108 w 246"/>
                  <a:gd name="T9" fmla="*/ 134 h 725"/>
                  <a:gd name="T10" fmla="*/ 163 w 246"/>
                  <a:gd name="T11" fmla="*/ 64 h 725"/>
                  <a:gd name="T12" fmla="*/ 246 w 246"/>
                  <a:gd name="T13" fmla="*/ 0 h 7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6"/>
                  <a:gd name="T22" fmla="*/ 0 h 725"/>
                  <a:gd name="T23" fmla="*/ 246 w 246"/>
                  <a:gd name="T24" fmla="*/ 725 h 7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6" h="725">
                    <a:moveTo>
                      <a:pt x="0" y="725"/>
                    </a:moveTo>
                    <a:cubicBezTo>
                      <a:pt x="15" y="694"/>
                      <a:pt x="68" y="597"/>
                      <a:pt x="92" y="541"/>
                    </a:cubicBezTo>
                    <a:cubicBezTo>
                      <a:pt x="116" y="485"/>
                      <a:pt x="135" y="434"/>
                      <a:pt x="143" y="387"/>
                    </a:cubicBezTo>
                    <a:cubicBezTo>
                      <a:pt x="151" y="340"/>
                      <a:pt x="149" y="298"/>
                      <a:pt x="143" y="256"/>
                    </a:cubicBezTo>
                    <a:cubicBezTo>
                      <a:pt x="137" y="214"/>
                      <a:pt x="105" y="166"/>
                      <a:pt x="108" y="134"/>
                    </a:cubicBezTo>
                    <a:cubicBezTo>
                      <a:pt x="111" y="102"/>
                      <a:pt x="140" y="86"/>
                      <a:pt x="163" y="64"/>
                    </a:cubicBezTo>
                    <a:cubicBezTo>
                      <a:pt x="186" y="42"/>
                      <a:pt x="229" y="13"/>
                      <a:pt x="246" y="0"/>
                    </a:cubicBezTo>
                  </a:path>
                </a:pathLst>
              </a:custGeom>
              <a:noFill/>
              <a:ln w="28575" cmpd="sng">
                <a:solidFill>
                  <a:srgbClr val="000066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2475"/>
              </a:p>
            </p:txBody>
          </p:sp>
          <p:sp>
            <p:nvSpPr>
              <p:cNvPr id="115" name="Text Box 20"/>
              <p:cNvSpPr txBox="1">
                <a:spLocks noChangeArrowheads="1"/>
              </p:cNvSpPr>
              <p:nvPr/>
            </p:nvSpPr>
            <p:spPr bwMode="auto">
              <a:xfrm>
                <a:off x="6947031" y="2545027"/>
                <a:ext cx="494046" cy="4985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640" b="1" dirty="0">
                    <a:ea typeface="幼圆" pitchFamily="49" charset="-122"/>
                  </a:rPr>
                  <a:t>B</a:t>
                </a:r>
                <a:r>
                  <a:rPr lang="en-US" altLang="zh-CN" sz="2640" b="1" dirty="0">
                    <a:ea typeface="幼圆" pitchFamily="49" charset="-122"/>
                    <a:sym typeface="Symbol"/>
                  </a:rPr>
                  <a:t></a:t>
                </a:r>
                <a:endParaRPr lang="en-US" altLang="zh-CN" sz="2640" b="1" dirty="0">
                  <a:ea typeface="幼圆" pitchFamily="49" charset="-122"/>
                </a:endParaRPr>
              </a:p>
            </p:txBody>
          </p:sp>
        </p:grpSp>
        <p:sp>
          <p:nvSpPr>
            <p:cNvPr id="105" name="Freeform 34"/>
            <p:cNvSpPr>
              <a:spLocks/>
            </p:cNvSpPr>
            <p:nvPr/>
          </p:nvSpPr>
          <p:spPr bwMode="auto">
            <a:xfrm>
              <a:off x="6808206" y="3060070"/>
              <a:ext cx="430658" cy="237061"/>
            </a:xfrm>
            <a:custGeom>
              <a:avLst/>
              <a:gdLst>
                <a:gd name="T0" fmla="*/ 278 w 278"/>
                <a:gd name="T1" fmla="*/ 425 h 425"/>
                <a:gd name="T2" fmla="*/ 0 w 278"/>
                <a:gd name="T3" fmla="*/ 0 h 425"/>
                <a:gd name="T4" fmla="*/ 0 60000 65536"/>
                <a:gd name="T5" fmla="*/ 0 60000 65536"/>
                <a:gd name="T6" fmla="*/ 0 w 278"/>
                <a:gd name="T7" fmla="*/ 0 h 425"/>
                <a:gd name="T8" fmla="*/ 278 w 278"/>
                <a:gd name="T9" fmla="*/ 425 h 4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8" h="425">
                  <a:moveTo>
                    <a:pt x="278" y="4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75"/>
            </a:p>
          </p:txBody>
        </p:sp>
      </p:grpSp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685800" y="1383784"/>
            <a:ext cx="4343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5600" indent="-355600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施加围压力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0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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p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0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=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88977" y="1927180"/>
            <a:ext cx="47783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5600" indent="-355600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C00000"/>
              </a:buClr>
              <a:buFont typeface="+mj-lt"/>
              <a:buAutoNum type="arabicPeriod" startAt="2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偏差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l-GR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l-GR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l-GR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l-GR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l-GR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5" name="AutoShape 24"/>
          <p:cNvSpPr>
            <a:spLocks noChangeArrowheads="1"/>
          </p:cNvSpPr>
          <p:nvPr/>
        </p:nvSpPr>
        <p:spPr bwMode="auto">
          <a:xfrm>
            <a:off x="1019175" y="4751665"/>
            <a:ext cx="587375" cy="515937"/>
          </a:xfrm>
          <a:prstGeom prst="homePlate">
            <a:avLst>
              <a:gd name="adj" fmla="val 28462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1744663" y="4548038"/>
            <a:ext cx="6694487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是常数时，有效应力路径为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直线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一般情况 下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不为常数，有效应力路径为曲线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47" name="Text Box 36"/>
          <p:cNvSpPr txBox="1">
            <a:spLocks noChangeArrowheads="1"/>
          </p:cNvSpPr>
          <p:nvPr/>
        </p:nvSpPr>
        <p:spPr bwMode="auto">
          <a:xfrm>
            <a:off x="428084" y="673310"/>
            <a:ext cx="700141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固结不排水三轴试验的有效应力路径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" name="Text Box 16"/>
          <p:cNvSpPr txBox="1">
            <a:spLocks noChangeArrowheads="1"/>
          </p:cNvSpPr>
          <p:nvPr/>
        </p:nvSpPr>
        <p:spPr bwMode="auto">
          <a:xfrm>
            <a:off x="1165225" y="2709863"/>
            <a:ext cx="3454399" cy="1329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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0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u=A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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–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q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= q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977065" y="1551934"/>
            <a:ext cx="4004553" cy="2920025"/>
            <a:chOff x="4977065" y="1766122"/>
            <a:chExt cx="4004553" cy="2920025"/>
          </a:xfrm>
        </p:grpSpPr>
        <p:grpSp>
          <p:nvGrpSpPr>
            <p:cNvPr id="3" name="组合 2"/>
            <p:cNvGrpSpPr/>
            <p:nvPr/>
          </p:nvGrpSpPr>
          <p:grpSpPr>
            <a:xfrm>
              <a:off x="4977065" y="1766122"/>
              <a:ext cx="4004553" cy="2920025"/>
              <a:chOff x="4977065" y="1766122"/>
              <a:chExt cx="4004553" cy="2920025"/>
            </a:xfrm>
          </p:grpSpPr>
          <p:grpSp>
            <p:nvGrpSpPr>
              <p:cNvPr id="84" name="Group 2"/>
              <p:cNvGrpSpPr>
                <a:grpSpLocks/>
              </p:cNvGrpSpPr>
              <p:nvPr/>
            </p:nvGrpSpPr>
            <p:grpSpPr bwMode="auto">
              <a:xfrm>
                <a:off x="4977065" y="1766122"/>
                <a:ext cx="4004553" cy="2920025"/>
                <a:chOff x="3252" y="871"/>
                <a:chExt cx="2293" cy="1672"/>
              </a:xfrm>
            </p:grpSpPr>
            <p:sp>
              <p:nvSpPr>
                <p:cNvPr id="88" name="Line 7"/>
                <p:cNvSpPr>
                  <a:spLocks noChangeShapeType="1"/>
                </p:cNvSpPr>
                <p:nvPr/>
              </p:nvSpPr>
              <p:spPr bwMode="auto">
                <a:xfrm>
                  <a:off x="3493" y="2281"/>
                  <a:ext cx="179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475"/>
                </a:p>
              </p:txBody>
            </p:sp>
            <p:sp>
              <p:nvSpPr>
                <p:cNvPr id="85" name="Line 4"/>
                <p:cNvSpPr>
                  <a:spLocks noChangeShapeType="1"/>
                </p:cNvSpPr>
                <p:nvPr/>
              </p:nvSpPr>
              <p:spPr bwMode="auto">
                <a:xfrm flipV="1">
                  <a:off x="3500" y="1048"/>
                  <a:ext cx="0" cy="123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 type="triangl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2475"/>
                </a:p>
              </p:txBody>
            </p:sp>
            <p:sp>
              <p:nvSpPr>
                <p:cNvPr id="86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5135" y="1953"/>
                  <a:ext cx="410" cy="5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15674" tIns="57836" rIns="115674" bIns="57836">
                  <a:spAutoFit/>
                </a:bodyPr>
                <a:lstStyle>
                  <a:lvl1pPr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25000"/>
                    </a:spcBef>
                    <a:spcAft>
                      <a:spcPct val="0"/>
                    </a:spcAft>
                  </a:pPr>
                  <a:r>
                    <a:rPr lang="en-US" altLang="zh-CN" sz="2640" b="1" i="1" dirty="0">
                      <a:cs typeface="Times New Roman" panose="02020603050405020304" pitchFamily="18" charset="0"/>
                      <a:sym typeface="Symbol" pitchFamily="18" charset="2"/>
                    </a:rPr>
                    <a:t>p</a:t>
                  </a:r>
                </a:p>
                <a:p>
                  <a:pPr eaLnBrk="1" hangingPunct="1">
                    <a:lnSpc>
                      <a:spcPct val="100000"/>
                    </a:lnSpc>
                    <a:spcBef>
                      <a:spcPct val="25000"/>
                    </a:spcBef>
                    <a:spcAft>
                      <a:spcPct val="0"/>
                    </a:spcAft>
                  </a:pPr>
                  <a:r>
                    <a:rPr lang="en-US" altLang="zh-CN" sz="2640" b="1" i="1" dirty="0">
                      <a:cs typeface="Times New Roman" panose="02020603050405020304" pitchFamily="18" charset="0"/>
                      <a:sym typeface="Symbol" pitchFamily="18" charset="2"/>
                    </a:rPr>
                    <a:t>p</a:t>
                  </a:r>
                </a:p>
              </p:txBody>
            </p:sp>
            <p:sp>
              <p:nvSpPr>
                <p:cNvPr id="87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259" y="2257"/>
                  <a:ext cx="280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15674" tIns="57836" rIns="115674" bIns="57836">
                  <a:spAutoFit/>
                </a:bodyPr>
                <a:lstStyle>
                  <a:lvl1pPr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2310" b="1" dirty="0">
                      <a:cs typeface="Times New Roman" panose="02020603050405020304" pitchFamily="18" charset="0"/>
                      <a:sym typeface="Symbol" pitchFamily="18" charset="2"/>
                    </a:rPr>
                    <a:t>O</a:t>
                  </a:r>
                </a:p>
              </p:txBody>
            </p:sp>
            <p:sp>
              <p:nvSpPr>
                <p:cNvPr id="89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252" y="871"/>
                  <a:ext cx="636" cy="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15674" tIns="57836" rIns="115674" bIns="57836">
                  <a:spAutoFit/>
                </a:bodyPr>
                <a:lstStyle>
                  <a:lvl1pPr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lang="en-US" altLang="zh-CN" sz="2640" b="1" i="1" dirty="0">
                      <a:cs typeface="Times New Roman" panose="02020603050405020304" pitchFamily="18" charset="0"/>
                      <a:sym typeface="Symbol" pitchFamily="18" charset="2"/>
                    </a:rPr>
                    <a:t>q   </a:t>
                  </a:r>
                  <a:r>
                    <a:rPr lang="en-US" altLang="zh-CN" sz="2640" b="1" i="1" dirty="0" err="1">
                      <a:cs typeface="Times New Roman" panose="02020603050405020304" pitchFamily="18" charset="0"/>
                      <a:sym typeface="Symbol" pitchFamily="18" charset="2"/>
                    </a:rPr>
                    <a:t>q</a:t>
                  </a:r>
                  <a:r>
                    <a:rPr lang="en-US" altLang="zh-CN" sz="2640" b="1" i="1" dirty="0">
                      <a:cs typeface="Times New Roman" panose="02020603050405020304" pitchFamily="18" charset="0"/>
                      <a:sym typeface="Symbol" pitchFamily="18" charset="2"/>
                    </a:rPr>
                    <a:t></a:t>
                  </a:r>
                  <a:endParaRPr lang="zh-CN" altLang="en-US" sz="2640" b="1" i="1" dirty="0">
                    <a:cs typeface="Times New Roman" panose="02020603050405020304" pitchFamily="18" charset="0"/>
                    <a:sym typeface="Symbol" pitchFamily="18" charset="2"/>
                  </a:endParaRPr>
                </a:p>
              </p:txBody>
            </p:sp>
          </p:grpSp>
          <p:grpSp>
            <p:nvGrpSpPr>
              <p:cNvPr id="100" name="Group 28"/>
              <p:cNvGrpSpPr>
                <a:grpSpLocks/>
              </p:cNvGrpSpPr>
              <p:nvPr/>
            </p:nvGrpSpPr>
            <p:grpSpPr bwMode="auto">
              <a:xfrm>
                <a:off x="5424152" y="2117152"/>
                <a:ext cx="2932249" cy="2095711"/>
                <a:chOff x="3500" y="1072"/>
                <a:chExt cx="1679" cy="1200"/>
              </a:xfrm>
            </p:grpSpPr>
            <p:sp>
              <p:nvSpPr>
                <p:cNvPr id="101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3500" y="1354"/>
                  <a:ext cx="1455" cy="918"/>
                </a:xfrm>
                <a:custGeom>
                  <a:avLst/>
                  <a:gdLst>
                    <a:gd name="connsiteX0" fmla="*/ 0 w 2314575"/>
                    <a:gd name="connsiteY0" fmla="*/ 0 h 1398588"/>
                    <a:gd name="connsiteX1" fmla="*/ 2314575 w 2314575"/>
                    <a:gd name="connsiteY1" fmla="*/ 1398588 h 1398588"/>
                    <a:gd name="connsiteX0" fmla="*/ 0 w 2310093"/>
                    <a:gd name="connsiteY0" fmla="*/ 0 h 1456858"/>
                    <a:gd name="connsiteX1" fmla="*/ 2310093 w 2310093"/>
                    <a:gd name="connsiteY1" fmla="*/ 1456858 h 1456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310093" h="1456858">
                      <a:moveTo>
                        <a:pt x="0" y="0"/>
                      </a:moveTo>
                      <a:cubicBezTo>
                        <a:pt x="771525" y="466196"/>
                        <a:pt x="1538568" y="990662"/>
                        <a:pt x="2310093" y="1456858"/>
                      </a:cubicBezTo>
                    </a:path>
                  </a:pathLst>
                </a:custGeom>
                <a:noFill/>
                <a:ln w="19050">
                  <a:solidFill>
                    <a:srgbClr val="00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2475"/>
                </a:p>
              </p:txBody>
            </p:sp>
            <p:sp>
              <p:nvSpPr>
                <p:cNvPr id="102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4699" y="1072"/>
                  <a:ext cx="480" cy="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15674" tIns="57836" rIns="115674" bIns="57836">
                  <a:spAutoFit/>
                </a:bodyPr>
                <a:lstStyle>
                  <a:lvl1pPr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defTabSz="1050925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defTabSz="1050925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200" b="1" i="1" dirty="0" err="1">
                      <a:solidFill>
                        <a:srgbClr val="000066"/>
                      </a:solidFill>
                      <a:ea typeface="幼圆" pitchFamily="49" charset="-122"/>
                    </a:rPr>
                    <a:t>K</a:t>
                  </a:r>
                  <a:r>
                    <a:rPr lang="en-US" altLang="zh-CN" sz="2200" b="1" dirty="0" err="1">
                      <a:solidFill>
                        <a:srgbClr val="000066"/>
                      </a:solidFill>
                      <a:ea typeface="幼圆" pitchFamily="49" charset="-122"/>
                      <a:sym typeface="Symbol" pitchFamily="18" charset="2"/>
                    </a:rPr>
                    <a:t></a:t>
                  </a:r>
                  <a:r>
                    <a:rPr lang="en-US" altLang="zh-CN" sz="2200" b="1" baseline="-25000" dirty="0" err="1">
                      <a:solidFill>
                        <a:srgbClr val="000066"/>
                      </a:solidFill>
                      <a:ea typeface="幼圆" pitchFamily="49" charset="-122"/>
                    </a:rPr>
                    <a:t>f</a:t>
                  </a:r>
                  <a:r>
                    <a:rPr lang="zh-CN" altLang="en-US" sz="2200" b="1" dirty="0">
                      <a:solidFill>
                        <a:srgbClr val="000066"/>
                      </a:solidFill>
                      <a:ea typeface="幼圆" pitchFamily="49" charset="-122"/>
                    </a:rPr>
                    <a:t>线</a:t>
                  </a:r>
                  <a:endParaRPr lang="en-US" altLang="zh-CN" sz="2200" b="1" dirty="0">
                    <a:solidFill>
                      <a:srgbClr val="000066"/>
                    </a:solidFill>
                    <a:ea typeface="幼圆" pitchFamily="49" charset="-122"/>
                  </a:endParaRPr>
                </a:p>
              </p:txBody>
            </p:sp>
          </p:grpSp>
        </p:grpSp>
        <p:grpSp>
          <p:nvGrpSpPr>
            <p:cNvPr id="2" name="组合 1"/>
            <p:cNvGrpSpPr/>
            <p:nvPr/>
          </p:nvGrpSpPr>
          <p:grpSpPr>
            <a:xfrm>
              <a:off x="5416850" y="2396580"/>
              <a:ext cx="3547306" cy="1826761"/>
              <a:chOff x="5416850" y="2396580"/>
              <a:chExt cx="3547306" cy="1826761"/>
            </a:xfrm>
          </p:grpSpPr>
          <p:sp>
            <p:nvSpPr>
              <p:cNvPr id="109" name="Freeform 38"/>
              <p:cNvSpPr>
                <a:spLocks/>
              </p:cNvSpPr>
              <p:nvPr/>
            </p:nvSpPr>
            <p:spPr bwMode="auto">
              <a:xfrm>
                <a:off x="5416850" y="2859383"/>
                <a:ext cx="3115623" cy="1363958"/>
              </a:xfrm>
              <a:custGeom>
                <a:avLst/>
                <a:gdLst>
                  <a:gd name="T0" fmla="*/ 0 w 1521"/>
                  <a:gd name="T1" fmla="*/ 662 h 662"/>
                  <a:gd name="T2" fmla="*/ 1521 w 1521"/>
                  <a:gd name="T3" fmla="*/ 0 h 662"/>
                  <a:gd name="T4" fmla="*/ 0 60000 65536"/>
                  <a:gd name="T5" fmla="*/ 0 60000 65536"/>
                  <a:gd name="T6" fmla="*/ 0 w 1521"/>
                  <a:gd name="T7" fmla="*/ 0 h 662"/>
                  <a:gd name="T8" fmla="*/ 1521 w 1521"/>
                  <a:gd name="T9" fmla="*/ 662 h 66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21" h="662">
                    <a:moveTo>
                      <a:pt x="0" y="662"/>
                    </a:moveTo>
                    <a:lnTo>
                      <a:pt x="1521" y="0"/>
                    </a:lnTo>
                  </a:path>
                </a:pathLst>
              </a:custGeom>
              <a:noFill/>
              <a:ln w="19050" cmpd="sng">
                <a:solidFill>
                  <a:srgbClr val="A5002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2475"/>
              </a:p>
            </p:txBody>
          </p:sp>
          <p:sp>
            <p:nvSpPr>
              <p:cNvPr id="110" name="Text Box 39"/>
              <p:cNvSpPr txBox="1">
                <a:spLocks noChangeArrowheads="1"/>
              </p:cNvSpPr>
              <p:nvPr/>
            </p:nvSpPr>
            <p:spPr bwMode="auto">
              <a:xfrm>
                <a:off x="8197475" y="2396580"/>
                <a:ext cx="766681" cy="4558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15674" tIns="57836" rIns="115674" bIns="57836">
                <a:spAutoFit/>
              </a:bodyPr>
              <a:lstStyle>
                <a:lvl1pPr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defTabSz="1050925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defTabSz="1050925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200" b="1" i="1" dirty="0" err="1">
                    <a:solidFill>
                      <a:srgbClr val="A50021"/>
                    </a:solidFill>
                    <a:ea typeface="幼圆" pitchFamily="49" charset="-122"/>
                  </a:rPr>
                  <a:t>K</a:t>
                </a:r>
                <a:r>
                  <a:rPr lang="en-US" altLang="zh-CN" sz="2200" b="1" baseline="-25000" dirty="0" err="1">
                    <a:solidFill>
                      <a:srgbClr val="A50021"/>
                    </a:solidFill>
                    <a:ea typeface="幼圆" pitchFamily="49" charset="-122"/>
                  </a:rPr>
                  <a:t>f</a:t>
                </a:r>
                <a:r>
                  <a:rPr lang="zh-CN" altLang="en-US" sz="2200" b="1" dirty="0">
                    <a:solidFill>
                      <a:srgbClr val="A50021"/>
                    </a:solidFill>
                    <a:ea typeface="幼圆" pitchFamily="49" charset="-122"/>
                  </a:rPr>
                  <a:t>线</a:t>
                </a:r>
                <a:endParaRPr lang="en-US" altLang="zh-CN" sz="2200" b="1" dirty="0">
                  <a:solidFill>
                    <a:srgbClr val="A50021"/>
                  </a:solidFill>
                  <a:ea typeface="幼圆" pitchFamily="49" charset="-122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6824785" y="3939296"/>
            <a:ext cx="974505" cy="497731"/>
            <a:chOff x="6824785" y="4153484"/>
            <a:chExt cx="974505" cy="497731"/>
          </a:xfrm>
        </p:grpSpPr>
        <p:sp>
          <p:nvSpPr>
            <p:cNvPr id="112" name="Text Box 41"/>
            <p:cNvSpPr txBox="1">
              <a:spLocks noChangeArrowheads="1"/>
            </p:cNvSpPr>
            <p:nvPr/>
          </p:nvSpPr>
          <p:spPr bwMode="auto">
            <a:xfrm>
              <a:off x="6824785" y="4153484"/>
              <a:ext cx="974505" cy="497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40" b="1" i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p</a:t>
              </a:r>
              <a:r>
                <a:rPr lang="en-US" altLang="zh-CN" sz="2640" b="1" baseline="-25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0</a:t>
              </a:r>
              <a:r>
                <a:rPr lang="en-US" altLang="zh-CN" sz="2640" b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=</a:t>
              </a:r>
              <a:r>
                <a:rPr lang="en-US" altLang="zh-CN" sz="2640" b="1" i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640" b="1" baseline="-25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640" b="1" dirty="0">
                <a:solidFill>
                  <a:srgbClr val="0066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13" name="Oval 42"/>
            <p:cNvSpPr>
              <a:spLocks noChangeArrowheads="1"/>
            </p:cNvSpPr>
            <p:nvPr/>
          </p:nvSpPr>
          <p:spPr bwMode="auto">
            <a:xfrm>
              <a:off x="7011652" y="4186666"/>
              <a:ext cx="78589" cy="7858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75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413670" y="3555082"/>
            <a:ext cx="1600031" cy="498598"/>
            <a:chOff x="5413670" y="3769270"/>
            <a:chExt cx="1600031" cy="498598"/>
          </a:xfrm>
        </p:grpSpPr>
        <p:sp>
          <p:nvSpPr>
            <p:cNvPr id="114" name="Text Box 19"/>
            <p:cNvSpPr txBox="1">
              <a:spLocks noChangeArrowheads="1"/>
            </p:cNvSpPr>
            <p:nvPr/>
          </p:nvSpPr>
          <p:spPr bwMode="auto">
            <a:xfrm>
              <a:off x="6583775" y="3769270"/>
              <a:ext cx="429926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40" b="1" dirty="0">
                  <a:ea typeface="幼圆" pitchFamily="49" charset="-122"/>
                </a:rPr>
                <a:t>A</a:t>
              </a:r>
            </a:p>
          </p:txBody>
        </p:sp>
        <p:sp>
          <p:nvSpPr>
            <p:cNvPr id="96" name="Line 16"/>
            <p:cNvSpPr>
              <a:spLocks noChangeShapeType="1"/>
            </p:cNvSpPr>
            <p:nvPr/>
          </p:nvSpPr>
          <p:spPr bwMode="auto">
            <a:xfrm>
              <a:off x="5413670" y="4224347"/>
              <a:ext cx="1592740" cy="0"/>
            </a:xfrm>
            <a:prstGeom prst="line">
              <a:avLst/>
            </a:prstGeom>
            <a:noFill/>
            <a:ln w="19050">
              <a:solidFill>
                <a:srgbClr val="00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75"/>
            </a:p>
          </p:txBody>
        </p:sp>
      </p:grpSp>
      <p:sp>
        <p:nvSpPr>
          <p:cNvPr id="48" name="Text Box 2"/>
          <p:cNvSpPr txBox="1">
            <a:spLocks noChangeArrowheads="1"/>
          </p:cNvSpPr>
          <p:nvPr/>
        </p:nvSpPr>
        <p:spPr bwMode="auto">
          <a:xfrm>
            <a:off x="2051216" y="5757262"/>
            <a:ext cx="626075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总应力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路径与有效应力路径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0" name="Text Box 7"/>
          <p:cNvSpPr txBox="1">
            <a:spLocks noChangeArrowheads="1"/>
          </p:cNvSpPr>
          <p:nvPr/>
        </p:nvSpPr>
        <p:spPr bwMode="auto">
          <a:xfrm>
            <a:off x="-9528" y="0"/>
            <a:ext cx="645975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总应力与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有效应力路径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57842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 decel="100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 decel="1000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decel="100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800" decel="1000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decel="1000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5" grpId="0" animBg="1"/>
      <p:bldP spid="34" grpId="0"/>
      <p:bldP spid="46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auto">
          <a:xfrm>
            <a:off x="4821382" y="1656088"/>
            <a:ext cx="4001984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弹性体：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=1/3</a:t>
            </a:r>
          </a:p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松砂或正常</a:t>
            </a:r>
            <a:r>
              <a:rPr lang="zh-CN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固结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黏</a:t>
            </a:r>
            <a:r>
              <a:rPr lang="zh-CN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</a:t>
            </a:r>
            <a:r>
              <a:rPr lang="zh-CN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：剪缩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&gt;1/3</a:t>
            </a:r>
          </a:p>
          <a:p>
            <a:pPr marL="533400" indent="-5334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密砂或</a:t>
            </a:r>
            <a:r>
              <a:rPr lang="zh-CN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超固结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黏</a:t>
            </a:r>
            <a:r>
              <a:rPr lang="zh-CN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</a:t>
            </a:r>
            <a:r>
              <a:rPr lang="zh-CN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：剪胀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&lt;1/3 </a:t>
            </a:r>
          </a:p>
        </p:txBody>
      </p:sp>
      <p:sp>
        <p:nvSpPr>
          <p:cNvPr id="49" name="Rectangle 6"/>
          <p:cNvSpPr>
            <a:spLocks noChangeArrowheads="1"/>
          </p:cNvSpPr>
          <p:nvPr/>
        </p:nvSpPr>
        <p:spPr bwMode="auto">
          <a:xfrm>
            <a:off x="314325" y="925513"/>
            <a:ext cx="4322763" cy="404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060575" y="2747963"/>
            <a:ext cx="2393951" cy="1735138"/>
            <a:chOff x="2060575" y="2582863"/>
            <a:chExt cx="2393951" cy="1735138"/>
          </a:xfrm>
        </p:grpSpPr>
        <p:sp>
          <p:nvSpPr>
            <p:cNvPr id="57" name="Line 14"/>
            <p:cNvSpPr>
              <a:spLocks noChangeShapeType="1"/>
            </p:cNvSpPr>
            <p:nvPr/>
          </p:nvSpPr>
          <p:spPr bwMode="auto">
            <a:xfrm flipV="1">
              <a:off x="2060575" y="3009901"/>
              <a:ext cx="1308100" cy="13081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Box 15"/>
            <p:cNvSpPr txBox="1">
              <a:spLocks noChangeArrowheads="1"/>
            </p:cNvSpPr>
            <p:nvPr/>
          </p:nvSpPr>
          <p:spPr bwMode="auto">
            <a:xfrm>
              <a:off x="2938463" y="2582863"/>
              <a:ext cx="1516063" cy="474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18869" tIns="59434" rIns="118869" bIns="59434">
              <a:spAutoFit/>
            </a:bodyPr>
            <a:lstStyle>
              <a:lvl1pPr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00" b="1" i="1" dirty="0">
                  <a:solidFill>
                    <a:srgbClr val="A50021"/>
                  </a:solidFill>
                  <a:ea typeface="幼圆" pitchFamily="49" charset="-122"/>
                </a:rPr>
                <a:t>A</a:t>
              </a:r>
              <a:r>
                <a:rPr lang="en-US" altLang="zh-CN" sz="2300" b="1" dirty="0">
                  <a:solidFill>
                    <a:srgbClr val="A50021"/>
                  </a:solidFill>
                  <a:ea typeface="幼圆" pitchFamily="49" charset="-122"/>
                </a:rPr>
                <a:t>=0 (</a:t>
              </a:r>
              <a:r>
                <a:rPr lang="en-US" altLang="zh-CN" sz="2300" b="1" i="1" dirty="0">
                  <a:solidFill>
                    <a:srgbClr val="A50021"/>
                  </a:solidFill>
                  <a:ea typeface="幼圆" pitchFamily="49" charset="-122"/>
                </a:rPr>
                <a:t>u</a:t>
              </a:r>
              <a:r>
                <a:rPr lang="en-US" altLang="zh-CN" sz="2300" b="1" dirty="0">
                  <a:solidFill>
                    <a:srgbClr val="A50021"/>
                  </a:solidFill>
                  <a:ea typeface="幼圆" pitchFamily="49" charset="-122"/>
                </a:rPr>
                <a:t>=0)</a:t>
              </a:r>
            </a:p>
          </p:txBody>
        </p:sp>
      </p:grpSp>
      <p:sp>
        <p:nvSpPr>
          <p:cNvPr id="59" name="Text Box 16"/>
          <p:cNvSpPr txBox="1">
            <a:spLocks noChangeArrowheads="1"/>
          </p:cNvSpPr>
          <p:nvPr/>
        </p:nvSpPr>
        <p:spPr bwMode="auto">
          <a:xfrm>
            <a:off x="817563" y="1387475"/>
            <a:ext cx="35544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373" tIns="51686" rIns="103373" bIns="51686">
            <a:spAutoFit/>
          </a:bodyPr>
          <a:lstStyle>
            <a:lvl1pPr defTabSz="103346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3346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3346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3346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3346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33463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33463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33463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33463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300" b="1" dirty="0">
                <a:solidFill>
                  <a:srgbClr val="A50021"/>
                </a:solidFill>
                <a:ea typeface="幼圆" pitchFamily="49" charset="-122"/>
              </a:rPr>
              <a:t>饱和土固结不排水试验</a:t>
            </a:r>
            <a:endParaRPr lang="en-US" altLang="zh-CN" sz="23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019300" y="3462338"/>
            <a:ext cx="2076450" cy="1047751"/>
            <a:chOff x="2019300" y="3297238"/>
            <a:chExt cx="2076450" cy="1047751"/>
          </a:xfrm>
        </p:grpSpPr>
        <p:sp>
          <p:nvSpPr>
            <p:cNvPr id="62" name="Line 19"/>
            <p:cNvSpPr>
              <a:spLocks noChangeShapeType="1"/>
            </p:cNvSpPr>
            <p:nvPr/>
          </p:nvSpPr>
          <p:spPr bwMode="auto">
            <a:xfrm flipV="1">
              <a:off x="2019300" y="3663951"/>
              <a:ext cx="1320800" cy="68103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3343275" y="3297238"/>
              <a:ext cx="752475" cy="474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8869" tIns="59434" rIns="118869" bIns="59434">
              <a:spAutoFit/>
            </a:bodyPr>
            <a:lstStyle>
              <a:lvl1pPr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00" b="1" i="1" dirty="0">
                  <a:solidFill>
                    <a:srgbClr val="006600"/>
                  </a:solidFill>
                  <a:ea typeface="幼圆" pitchFamily="49" charset="-122"/>
                </a:rPr>
                <a:t>A</a:t>
              </a:r>
              <a:r>
                <a:rPr lang="en-US" altLang="zh-CN" sz="2300" b="1" dirty="0">
                  <a:solidFill>
                    <a:srgbClr val="006600"/>
                  </a:solidFill>
                  <a:ea typeface="幼圆" pitchFamily="49" charset="-122"/>
                </a:rPr>
                <a:t>&lt;0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522413" y="2530476"/>
            <a:ext cx="974725" cy="1946275"/>
            <a:chOff x="1522413" y="2365376"/>
            <a:chExt cx="974725" cy="1946275"/>
          </a:xfrm>
        </p:grpSpPr>
        <p:sp>
          <p:nvSpPr>
            <p:cNvPr id="61" name="Line 18"/>
            <p:cNvSpPr>
              <a:spLocks noChangeShapeType="1"/>
            </p:cNvSpPr>
            <p:nvPr/>
          </p:nvSpPr>
          <p:spPr bwMode="auto">
            <a:xfrm flipV="1">
              <a:off x="2057400" y="2954338"/>
              <a:ext cx="0" cy="135731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 Box 21"/>
            <p:cNvSpPr txBox="1">
              <a:spLocks noChangeArrowheads="1"/>
            </p:cNvSpPr>
            <p:nvPr/>
          </p:nvSpPr>
          <p:spPr bwMode="auto">
            <a:xfrm>
              <a:off x="1522413" y="2365376"/>
              <a:ext cx="974725" cy="474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8869" tIns="59434" rIns="118869" bIns="59434">
              <a:spAutoFit/>
            </a:bodyPr>
            <a:lstStyle>
              <a:lvl1pPr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00" b="1" i="1" dirty="0">
                  <a:solidFill>
                    <a:srgbClr val="0000CC"/>
                  </a:solidFill>
                  <a:ea typeface="幼圆" pitchFamily="49" charset="-122"/>
                </a:rPr>
                <a:t>A</a:t>
              </a:r>
              <a:r>
                <a:rPr lang="en-US" altLang="zh-CN" sz="2300" b="1" dirty="0">
                  <a:solidFill>
                    <a:srgbClr val="0000CC"/>
                  </a:solidFill>
                  <a:ea typeface="幼圆" pitchFamily="49" charset="-122"/>
                </a:rPr>
                <a:t>=0.5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054100" y="3243263"/>
            <a:ext cx="976313" cy="1239838"/>
            <a:chOff x="1054100" y="3078163"/>
            <a:chExt cx="976313" cy="1239838"/>
          </a:xfrm>
        </p:grpSpPr>
        <p:sp>
          <p:nvSpPr>
            <p:cNvPr id="60" name="Line 17"/>
            <p:cNvSpPr>
              <a:spLocks noChangeShapeType="1"/>
            </p:cNvSpPr>
            <p:nvPr/>
          </p:nvSpPr>
          <p:spPr bwMode="auto">
            <a:xfrm flipH="1" flipV="1">
              <a:off x="1177925" y="3565526"/>
              <a:ext cx="852488" cy="7524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22"/>
            <p:cNvSpPr txBox="1">
              <a:spLocks noChangeArrowheads="1"/>
            </p:cNvSpPr>
            <p:nvPr/>
          </p:nvSpPr>
          <p:spPr bwMode="auto">
            <a:xfrm>
              <a:off x="1054100" y="3078163"/>
              <a:ext cx="752475" cy="474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8869" tIns="59434" rIns="118869" bIns="59434">
              <a:spAutoFit/>
            </a:bodyPr>
            <a:lstStyle>
              <a:lvl1pPr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00" b="1" i="1" dirty="0">
                  <a:solidFill>
                    <a:srgbClr val="0000CC"/>
                  </a:solidFill>
                  <a:ea typeface="幼圆" pitchFamily="49" charset="-122"/>
                </a:rPr>
                <a:t>A</a:t>
              </a:r>
              <a:r>
                <a:rPr lang="en-US" altLang="zh-CN" sz="2300" b="1" dirty="0">
                  <a:solidFill>
                    <a:srgbClr val="0000CC"/>
                  </a:solidFill>
                  <a:ea typeface="幼圆" pitchFamily="49" charset="-122"/>
                </a:rPr>
                <a:t>=1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057400" y="1982788"/>
            <a:ext cx="1727201" cy="2495551"/>
            <a:chOff x="2057400" y="1817688"/>
            <a:chExt cx="1727201" cy="2495551"/>
          </a:xfrm>
        </p:grpSpPr>
        <p:sp>
          <p:nvSpPr>
            <p:cNvPr id="66" name="Line 23"/>
            <p:cNvSpPr>
              <a:spLocks noChangeShapeType="1"/>
            </p:cNvSpPr>
            <p:nvPr/>
          </p:nvSpPr>
          <p:spPr bwMode="auto">
            <a:xfrm flipV="1">
              <a:off x="2057400" y="2117726"/>
              <a:ext cx="762000" cy="21955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24"/>
            <p:cNvSpPr txBox="1">
              <a:spLocks noChangeArrowheads="1"/>
            </p:cNvSpPr>
            <p:nvPr/>
          </p:nvSpPr>
          <p:spPr bwMode="auto">
            <a:xfrm>
              <a:off x="2801938" y="1817688"/>
              <a:ext cx="982663" cy="474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8869" tIns="59434" rIns="118869" bIns="59434">
              <a:spAutoFit/>
            </a:bodyPr>
            <a:lstStyle>
              <a:lvl1pPr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00" b="1" i="1" dirty="0">
                  <a:ea typeface="幼圆" pitchFamily="49" charset="-122"/>
                </a:rPr>
                <a:t>A</a:t>
              </a:r>
              <a:r>
                <a:rPr lang="en-US" altLang="zh-CN" sz="2300" b="1" dirty="0">
                  <a:ea typeface="幼圆" pitchFamily="49" charset="-122"/>
                </a:rPr>
                <a:t>=1/3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50850" y="1978026"/>
            <a:ext cx="4078288" cy="2994025"/>
            <a:chOff x="450850" y="1812926"/>
            <a:chExt cx="4078288" cy="2994025"/>
          </a:xfrm>
        </p:grpSpPr>
        <p:sp>
          <p:nvSpPr>
            <p:cNvPr id="50" name="Line 7"/>
            <p:cNvSpPr>
              <a:spLocks noChangeShapeType="1"/>
            </p:cNvSpPr>
            <p:nvPr/>
          </p:nvSpPr>
          <p:spPr bwMode="auto">
            <a:xfrm flipV="1">
              <a:off x="917575" y="2130426"/>
              <a:ext cx="0" cy="2665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" name="Text Box 8"/>
            <p:cNvSpPr txBox="1">
              <a:spLocks noChangeArrowheads="1"/>
            </p:cNvSpPr>
            <p:nvPr/>
          </p:nvSpPr>
          <p:spPr bwMode="auto">
            <a:xfrm>
              <a:off x="3792538" y="4271963"/>
              <a:ext cx="736600" cy="534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18869" tIns="59434" rIns="118869" bIns="59434">
              <a:spAutoFit/>
            </a:bodyPr>
            <a:lstStyle>
              <a:lvl1pPr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700" b="1" i="1">
                  <a:cs typeface="Times New Roman" panose="02020603050405020304" pitchFamily="18" charset="0"/>
                  <a:sym typeface="Symbol" pitchFamily="18" charset="2"/>
                </a:rPr>
                <a:t>p</a:t>
              </a:r>
            </a:p>
          </p:txBody>
        </p:sp>
        <p:sp>
          <p:nvSpPr>
            <p:cNvPr id="52" name="Text Box 9"/>
            <p:cNvSpPr txBox="1">
              <a:spLocks noChangeArrowheads="1"/>
            </p:cNvSpPr>
            <p:nvPr/>
          </p:nvSpPr>
          <p:spPr bwMode="auto">
            <a:xfrm>
              <a:off x="484188" y="4300538"/>
              <a:ext cx="503238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18869" tIns="59434" rIns="118869" bIns="59434">
              <a:spAutoFit/>
            </a:bodyPr>
            <a:lstStyle>
              <a:lvl1pPr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53" name="Line 10"/>
            <p:cNvSpPr>
              <a:spLocks noChangeShapeType="1"/>
            </p:cNvSpPr>
            <p:nvPr/>
          </p:nvSpPr>
          <p:spPr bwMode="auto">
            <a:xfrm>
              <a:off x="904875" y="4343401"/>
              <a:ext cx="32242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Box 11"/>
            <p:cNvSpPr txBox="1">
              <a:spLocks noChangeArrowheads="1"/>
            </p:cNvSpPr>
            <p:nvPr/>
          </p:nvSpPr>
          <p:spPr bwMode="auto">
            <a:xfrm>
              <a:off x="450850" y="1812926"/>
              <a:ext cx="1141413" cy="534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18869" tIns="59434" rIns="118869" bIns="59434">
              <a:spAutoFit/>
            </a:bodyPr>
            <a:lstStyle>
              <a:lvl1pPr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700" b="1" i="1" dirty="0">
                  <a:cs typeface="Times New Roman" panose="02020603050405020304" pitchFamily="18" charset="0"/>
                  <a:sym typeface="Symbol" pitchFamily="18" charset="2"/>
                </a:rPr>
                <a:t>q</a:t>
              </a:r>
              <a:endParaRPr lang="zh-CN" altLang="en-US" sz="2700" b="1" i="1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55" name="Text Box 12"/>
            <p:cNvSpPr txBox="1">
              <a:spLocks noChangeArrowheads="1"/>
            </p:cNvSpPr>
            <p:nvPr/>
          </p:nvSpPr>
          <p:spPr bwMode="auto">
            <a:xfrm>
              <a:off x="1790700" y="4267201"/>
              <a:ext cx="1027113" cy="515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3373" tIns="51686" rIns="103373" bIns="51686">
              <a:spAutoFit/>
            </a:bodyPr>
            <a:lstStyle>
              <a:lvl1pPr defTabSz="1033463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33463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33463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33463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33463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33463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33463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33463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33463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700" b="1" i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p</a:t>
              </a:r>
              <a:r>
                <a:rPr lang="en-US" altLang="zh-CN" sz="2700" b="1" baseline="-25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0</a:t>
              </a:r>
              <a:r>
                <a:rPr lang="en-US" altLang="zh-CN" sz="2700" b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=</a:t>
              </a:r>
              <a:r>
                <a:rPr lang="en-US" altLang="zh-CN" sz="2700" b="1" i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700" b="1" baseline="-25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700" b="1" dirty="0">
                <a:solidFill>
                  <a:srgbClr val="0066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56" name="Line 13"/>
            <p:cNvSpPr>
              <a:spLocks noChangeShapeType="1"/>
            </p:cNvSpPr>
            <p:nvPr/>
          </p:nvSpPr>
          <p:spPr bwMode="auto">
            <a:xfrm>
              <a:off x="922338" y="4337051"/>
              <a:ext cx="1101725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Oval 25"/>
            <p:cNvSpPr>
              <a:spLocks noChangeArrowheads="1"/>
            </p:cNvSpPr>
            <p:nvPr/>
          </p:nvSpPr>
          <p:spPr bwMode="auto">
            <a:xfrm>
              <a:off x="2017713" y="4295776"/>
              <a:ext cx="74613" cy="809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263140" y="4057651"/>
            <a:ext cx="664210" cy="474663"/>
            <a:chOff x="2263140" y="3892551"/>
            <a:chExt cx="664210" cy="474663"/>
          </a:xfrm>
        </p:grpSpPr>
        <p:sp>
          <p:nvSpPr>
            <p:cNvPr id="28" name="Text Box 21"/>
            <p:cNvSpPr txBox="1">
              <a:spLocks noChangeArrowheads="1"/>
            </p:cNvSpPr>
            <p:nvPr/>
          </p:nvSpPr>
          <p:spPr bwMode="auto">
            <a:xfrm>
              <a:off x="2273300" y="3892551"/>
              <a:ext cx="654050" cy="474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18869" tIns="59434" rIns="118869" bIns="59434">
              <a:spAutoFit/>
            </a:bodyPr>
            <a:lstStyle>
              <a:lvl1pPr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1874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18745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300" b="1" dirty="0" smtClean="0">
                  <a:solidFill>
                    <a:srgbClr val="A50021"/>
                  </a:solidFill>
                  <a:ea typeface="幼圆" pitchFamily="49" charset="-122"/>
                </a:rPr>
                <a:t>45</a:t>
              </a:r>
              <a:r>
                <a:rPr lang="en-US" altLang="zh-CN" sz="2300" b="1" dirty="0" smtClean="0">
                  <a:solidFill>
                    <a:srgbClr val="A50021"/>
                  </a:solidFill>
                  <a:ea typeface="幼圆" pitchFamily="49" charset="-122"/>
                  <a:sym typeface="Symbol" panose="05050102010706020507" pitchFamily="18" charset="2"/>
                </a:rPr>
                <a:t></a:t>
              </a:r>
              <a:endParaRPr lang="en-US" altLang="zh-CN" sz="2300" b="1" dirty="0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2" name="任意多边形 1"/>
            <p:cNvSpPr/>
            <p:nvPr/>
          </p:nvSpPr>
          <p:spPr bwMode="auto">
            <a:xfrm>
              <a:off x="2263140" y="4122420"/>
              <a:ext cx="80933" cy="217170"/>
            </a:xfrm>
            <a:custGeom>
              <a:avLst/>
              <a:gdLst>
                <a:gd name="connsiteX0" fmla="*/ 76200 w 80933"/>
                <a:gd name="connsiteY0" fmla="*/ 217170 h 217170"/>
                <a:gd name="connsiteX1" fmla="*/ 80010 w 80933"/>
                <a:gd name="connsiteY1" fmla="*/ 148590 h 217170"/>
                <a:gd name="connsiteX2" fmla="*/ 60960 w 80933"/>
                <a:gd name="connsiteY2" fmla="*/ 72390 h 217170"/>
                <a:gd name="connsiteX3" fmla="*/ 0 w 80933"/>
                <a:gd name="connsiteY3" fmla="*/ 0 h 2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33" h="217170">
                  <a:moveTo>
                    <a:pt x="76200" y="217170"/>
                  </a:moveTo>
                  <a:cubicBezTo>
                    <a:pt x="79375" y="194945"/>
                    <a:pt x="82550" y="172720"/>
                    <a:pt x="80010" y="148590"/>
                  </a:cubicBezTo>
                  <a:cubicBezTo>
                    <a:pt x="77470" y="124460"/>
                    <a:pt x="74295" y="97155"/>
                    <a:pt x="60960" y="72390"/>
                  </a:cubicBezTo>
                  <a:cubicBezTo>
                    <a:pt x="47625" y="47625"/>
                    <a:pt x="23812" y="23812"/>
                    <a:pt x="0" y="0"/>
                  </a:cubicBezTo>
                </a:path>
              </a:pathLst>
            </a:cu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428084" y="747452"/>
            <a:ext cx="5058316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2438" indent="-452438" eaLnBrk="1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孔压系数</a:t>
            </a:r>
            <a:r>
              <a:rPr lang="en-US" altLang="zh-CN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与有效应力路径</a:t>
            </a:r>
          </a:p>
        </p:txBody>
      </p: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2051216" y="5757262"/>
            <a:ext cx="626075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总应力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路径与有效应力路径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-9528" y="0"/>
            <a:ext cx="645975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线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总应力与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有效应力路径</a:t>
            </a: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83344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p"/>
      <p:bldP spid="5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路径与破坏主应力线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03648" y="934317"/>
            <a:ext cx="5976309" cy="4453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65125" indent="-365125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5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应力</a:t>
            </a:r>
            <a:r>
              <a:rPr lang="zh-CN" altLang="en-US" sz="25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路径及表示</a:t>
            </a:r>
            <a:r>
              <a:rPr lang="zh-CN" altLang="en-US" sz="25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方法</a:t>
            </a:r>
            <a:endParaRPr lang="zh-CN" altLang="en-US" sz="25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65125" indent="-365125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5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强度包线与破坏主应力线</a:t>
            </a:r>
          </a:p>
          <a:p>
            <a:pPr marL="365125" indent="-365125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None/>
            </a:pPr>
            <a:r>
              <a:rPr lang="zh-CN" altLang="en-US" sz="25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25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sin</a:t>
            </a:r>
            <a:r>
              <a:rPr lang="en-US" altLang="zh-CN" sz="25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5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sz="25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5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</a:t>
            </a:r>
            <a:r>
              <a:rPr lang="zh-CN" altLang="en-US" sz="25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；</a:t>
            </a:r>
            <a:r>
              <a:rPr lang="en-US" altLang="zh-CN" sz="25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5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= </a:t>
            </a:r>
            <a:r>
              <a:rPr lang="en-US" altLang="zh-CN" sz="25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5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</a:t>
            </a:r>
            <a:r>
              <a:rPr lang="en-US" altLang="zh-CN" sz="25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5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cos</a:t>
            </a:r>
            <a:r>
              <a:rPr lang="en-US" altLang="zh-CN" sz="25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5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en-US" altLang="zh-CN" sz="25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65125" indent="-365125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5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总应力路径与有效应力路径</a:t>
            </a:r>
          </a:p>
          <a:p>
            <a:pPr marL="808038" lvl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应力与有效应力状态</a:t>
            </a:r>
          </a:p>
          <a:p>
            <a:pPr marL="808038" lvl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三轴试验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的总应力路径</a:t>
            </a:r>
          </a:p>
          <a:p>
            <a:pPr marL="808038" lvl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三轴试验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的有效应力路径</a:t>
            </a:r>
          </a:p>
          <a:p>
            <a:pPr marL="808038" lvl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压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系数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与有效应力路径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28838" y="5773738"/>
            <a:ext cx="59578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小   结</a:t>
            </a:r>
            <a:endParaRPr lang="zh-CN" altLang="en-US" sz="40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27443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1924050" y="1922463"/>
            <a:ext cx="6364288" cy="379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§5.1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工程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中土的强度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§5.2	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的抗剪强度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理论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§5.3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土的抗剪强度的测定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§5.4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路径与破坏主应力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§5.5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土的抗剪强度指标</a:t>
            </a: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§5.6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土的动强度与砂土的振动液化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897063" y="927100"/>
            <a:ext cx="5356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第五章： </a:t>
            </a: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土的抗剪强度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31086" y="4475630"/>
            <a:ext cx="4617995" cy="6334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kumimoji="1" lang="en-US" altLang="zh-CN" sz="2800" b="1" dirty="0" smtClean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5.5  </a:t>
            </a:r>
            <a:r>
              <a:rPr kumimoji="1" lang="zh-CN" altLang="en-US" sz="2800" b="1" dirty="0" smtClean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kumimoji="1" lang="zh-CN" altLang="en-US" sz="2800" b="1" dirty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的抗剪强度</a:t>
            </a:r>
            <a:r>
              <a:rPr kumimoji="1" lang="zh-CN" altLang="en-US" sz="2800" b="1" dirty="0" smtClean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指标</a:t>
            </a:r>
            <a:endParaRPr kumimoji="1" lang="zh-CN" altLang="en-US" sz="2800" b="1" dirty="0">
              <a:solidFill>
                <a:srgbClr val="003399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00799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5" y="0"/>
            <a:ext cx="48389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的抗剪强度指标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917269" y="2279089"/>
            <a:ext cx="5410200" cy="2825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61950" indent="-36195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强度指标的类型</a:t>
            </a:r>
          </a:p>
          <a:p>
            <a:pPr marL="361950" indent="-36195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总应力指标与有效应力指标</a:t>
            </a:r>
          </a:p>
          <a:p>
            <a:pPr marL="361950" indent="-36195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三轴试验强度指标</a:t>
            </a:r>
          </a:p>
          <a:p>
            <a:pPr marL="361950" indent="-36195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直剪试验强度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指标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61950" indent="-36195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残余抗剪强度指标</a:t>
            </a:r>
          </a:p>
          <a:p>
            <a:pPr marL="361950" indent="-36195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的强度指标的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工程应用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087688" y="5748338"/>
            <a:ext cx="43830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土的抗剪强度指标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604838" y="792333"/>
            <a:ext cx="720549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库仑公式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: 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 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+ 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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           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en-US" altLang="zh-CN" sz="3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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称为土的抗剪强度指标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5" y="0"/>
            <a:ext cx="48389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指标类型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43200" y="5856288"/>
            <a:ext cx="4908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抗剪强度指标的类型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33413" y="930445"/>
            <a:ext cx="3190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</a:rPr>
              <a:t> 三种强度指标：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5517633" y="1774997"/>
            <a:ext cx="3167063" cy="341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130000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总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应力强度与有效应力强度指标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130000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直剪强度与三轴试验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指标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130000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峰值强度与残余强度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指标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399659" y="1760923"/>
            <a:ext cx="2174875" cy="341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20000"/>
              </a:spcBef>
              <a:spcAft>
                <a:spcPct val="2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根据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应力分析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方法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  <a:p>
            <a:pPr marL="457200" indent="-457200">
              <a:spcBef>
                <a:spcPct val="20000"/>
              </a:spcBef>
              <a:spcAft>
                <a:spcPct val="2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根据试验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方法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457200" indent="-457200">
              <a:spcBef>
                <a:spcPct val="20000"/>
              </a:spcBef>
              <a:spcAft>
                <a:spcPct val="2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根据应力变形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特性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" name="AutoShape 7"/>
          <p:cNvSpPr>
            <a:spLocks noChangeArrowheads="1"/>
          </p:cNvSpPr>
          <p:nvPr/>
        </p:nvSpPr>
        <p:spPr bwMode="auto">
          <a:xfrm>
            <a:off x="4114284" y="2072073"/>
            <a:ext cx="549275" cy="496888"/>
          </a:xfrm>
          <a:prstGeom prst="homePlate">
            <a:avLst>
              <a:gd name="adj" fmla="val 29616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8"/>
          <p:cNvSpPr>
            <a:spLocks noChangeArrowheads="1"/>
          </p:cNvSpPr>
          <p:nvPr/>
        </p:nvSpPr>
        <p:spPr bwMode="auto">
          <a:xfrm>
            <a:off x="4126984" y="3218248"/>
            <a:ext cx="549275" cy="496888"/>
          </a:xfrm>
          <a:prstGeom prst="homePlate">
            <a:avLst>
              <a:gd name="adj" fmla="val 29616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4114284" y="4329498"/>
            <a:ext cx="549275" cy="496888"/>
          </a:xfrm>
          <a:prstGeom prst="homePlate">
            <a:avLst>
              <a:gd name="adj" fmla="val 29616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17406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build="p"/>
      <p:bldP spid="14" grpId="0" build="p"/>
      <p:bldP spid="15" grpId="0" animBg="1"/>
      <p:bldP spid="16" grpId="0" animBg="1"/>
      <p:bldP spid="1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63450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总应力和有效应力强度指标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301578" y="1753858"/>
            <a:ext cx="2570329" cy="2746156"/>
            <a:chOff x="1226740" y="2660038"/>
            <a:chExt cx="2949973" cy="3151770"/>
          </a:xfrm>
        </p:grpSpPr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3043541" y="3812037"/>
              <a:ext cx="480720" cy="452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0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1760506" y="3247965"/>
              <a:ext cx="1036134" cy="2074653"/>
            </a:xfrm>
            <a:prstGeom prst="rect">
              <a:avLst/>
            </a:prstGeom>
            <a:solidFill>
              <a:srgbClr val="CC99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9"/>
            <p:cNvSpPr>
              <a:spLocks noChangeAspect="1" noChangeShapeType="1"/>
            </p:cNvSpPr>
            <p:nvPr/>
          </p:nvSpPr>
          <p:spPr bwMode="auto">
            <a:xfrm>
              <a:off x="2272865" y="2734406"/>
              <a:ext cx="0" cy="519172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2334232" y="2660038"/>
              <a:ext cx="585919" cy="45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1f</a:t>
              </a:r>
              <a:endParaRPr lang="en-US" altLang="zh-CN" sz="20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7" name="Line 11"/>
            <p:cNvSpPr>
              <a:spLocks noChangeAspect="1" noChangeShapeType="1"/>
            </p:cNvSpPr>
            <p:nvPr/>
          </p:nvSpPr>
          <p:spPr bwMode="auto">
            <a:xfrm flipH="1">
              <a:off x="2799496" y="4284904"/>
              <a:ext cx="529484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2"/>
            <p:cNvSpPr>
              <a:spLocks noChangeAspect="1" noChangeShapeType="1"/>
            </p:cNvSpPr>
            <p:nvPr/>
          </p:nvSpPr>
          <p:spPr bwMode="auto">
            <a:xfrm rot="10800000" flipH="1">
              <a:off x="1226740" y="4279291"/>
              <a:ext cx="498087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3"/>
            <p:cNvSpPr>
              <a:spLocks noChangeAspect="1" noChangeShapeType="1"/>
            </p:cNvSpPr>
            <p:nvPr/>
          </p:nvSpPr>
          <p:spPr bwMode="auto">
            <a:xfrm rot="10800000">
              <a:off x="2274292" y="5292636"/>
              <a:ext cx="0" cy="519172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 flipH="1">
              <a:off x="1572738" y="3123883"/>
              <a:ext cx="1509553" cy="22675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6498502"/>
                </p:ext>
              </p:extLst>
            </p:nvPr>
          </p:nvGraphicFramePr>
          <p:xfrm>
            <a:off x="3145424" y="3032559"/>
            <a:ext cx="1031289" cy="532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308" name="公式" r:id="rId5" imgW="761760" imgH="393480" progId="Equation.3">
                    <p:embed/>
                  </p:oleObj>
                </mc:Choice>
                <mc:Fallback>
                  <p:oleObj name="公式" r:id="rId5" imgW="7617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5424" y="3032559"/>
                          <a:ext cx="1031289" cy="5327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矩形 33"/>
            <p:cNvSpPr/>
            <p:nvPr/>
          </p:nvSpPr>
          <p:spPr bwMode="auto">
            <a:xfrm rot="18093548">
              <a:off x="2163134" y="4135870"/>
              <a:ext cx="339944" cy="213031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cxnSp>
          <p:nvCxnSpPr>
            <p:cNvPr id="36" name="直接箭头连接符 35"/>
            <p:cNvCxnSpPr/>
            <p:nvPr/>
          </p:nvCxnSpPr>
          <p:spPr bwMode="auto">
            <a:xfrm flipH="1">
              <a:off x="2129601" y="4041864"/>
              <a:ext cx="141052" cy="219177"/>
            </a:xfrm>
            <a:prstGeom prst="straightConnector1">
              <a:avLst/>
            </a:prstGeom>
            <a:noFill/>
            <a:ln w="28575" cap="flat" cmpd="sng" algn="ctr">
              <a:solidFill>
                <a:srgbClr val="A50021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接箭头连接符 36"/>
            <p:cNvCxnSpPr/>
            <p:nvPr/>
          </p:nvCxnSpPr>
          <p:spPr bwMode="auto">
            <a:xfrm>
              <a:off x="1977805" y="3999457"/>
              <a:ext cx="212142" cy="136527"/>
            </a:xfrm>
            <a:prstGeom prst="straightConnector1">
              <a:avLst/>
            </a:prstGeom>
            <a:noFill/>
            <a:ln w="28575" cap="flat" cmpd="sng" algn="ctr">
              <a:solidFill>
                <a:srgbClr val="A50021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40"/>
            <p:cNvCxnSpPr/>
            <p:nvPr/>
          </p:nvCxnSpPr>
          <p:spPr bwMode="auto">
            <a:xfrm>
              <a:off x="2884999" y="3421354"/>
              <a:ext cx="29747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" name="任意多边形 41"/>
            <p:cNvSpPr/>
            <p:nvPr/>
          </p:nvSpPr>
          <p:spPr bwMode="auto">
            <a:xfrm>
              <a:off x="2979292" y="3276548"/>
              <a:ext cx="114626" cy="148173"/>
            </a:xfrm>
            <a:custGeom>
              <a:avLst/>
              <a:gdLst>
                <a:gd name="connsiteX0" fmla="*/ 104140 w 104140"/>
                <a:gd name="connsiteY0" fmla="*/ 134620 h 134620"/>
                <a:gd name="connsiteX1" fmla="*/ 76200 w 104140"/>
                <a:gd name="connsiteY1" fmla="*/ 45720 h 134620"/>
                <a:gd name="connsiteX2" fmla="*/ 0 w 104140"/>
                <a:gd name="connsiteY2" fmla="*/ 0 h 134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140" h="134620">
                  <a:moveTo>
                    <a:pt x="104140" y="134620"/>
                  </a:moveTo>
                  <a:cubicBezTo>
                    <a:pt x="98848" y="101388"/>
                    <a:pt x="93557" y="68157"/>
                    <a:pt x="76200" y="45720"/>
                  </a:cubicBezTo>
                  <a:cubicBezTo>
                    <a:pt x="58843" y="23283"/>
                    <a:pt x="29421" y="11641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3" name="Text Box 6"/>
            <p:cNvSpPr txBox="1">
              <a:spLocks noChangeArrowheads="1"/>
            </p:cNvSpPr>
            <p:nvPr/>
          </p:nvSpPr>
          <p:spPr bwMode="auto">
            <a:xfrm>
              <a:off x="1770826" y="4027381"/>
              <a:ext cx="470330" cy="452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</a:t>
              </a:r>
              <a:r>
                <a:rPr lang="en-US" altLang="zh-CN" sz="2000" b="1" baseline="-25000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endParaRPr lang="en-US" altLang="zh-CN" sz="20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4" name="Text Box 6"/>
            <p:cNvSpPr txBox="1">
              <a:spLocks noChangeArrowheads="1"/>
            </p:cNvSpPr>
            <p:nvPr/>
          </p:nvSpPr>
          <p:spPr bwMode="auto">
            <a:xfrm>
              <a:off x="1879789" y="3629570"/>
              <a:ext cx="390356" cy="45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endParaRPr lang="en-US" altLang="zh-CN" sz="2000" b="1" dirty="0">
                <a:solidFill>
                  <a:srgbClr val="A50021"/>
                </a:solidFill>
                <a:latin typeface="Symbol" panose="05050102010706020507" pitchFamily="18" charset="2"/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7" name="Text Box 10"/>
            <p:cNvSpPr txBox="1">
              <a:spLocks noChangeArrowheads="1"/>
            </p:cNvSpPr>
            <p:nvPr/>
          </p:nvSpPr>
          <p:spPr bwMode="auto">
            <a:xfrm>
              <a:off x="2237014" y="4769618"/>
              <a:ext cx="599357" cy="529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2400" b="1" baseline="-25000" dirty="0" err="1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endParaRPr lang="en-US" altLang="zh-CN" sz="2400" b="1" baseline="-25000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152341" y="1756776"/>
            <a:ext cx="2589331" cy="2758854"/>
            <a:chOff x="5074696" y="2662956"/>
            <a:chExt cx="2971782" cy="3166344"/>
          </a:xfrm>
        </p:grpSpPr>
        <p:sp>
          <p:nvSpPr>
            <p:cNvPr id="51" name="Text Box 6"/>
            <p:cNvSpPr txBox="1">
              <a:spLocks noChangeArrowheads="1"/>
            </p:cNvSpPr>
            <p:nvPr/>
          </p:nvSpPr>
          <p:spPr bwMode="auto">
            <a:xfrm>
              <a:off x="6891499" y="3814955"/>
              <a:ext cx="480720" cy="452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0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52" name="Rectangle 8"/>
            <p:cNvSpPr>
              <a:spLocks noChangeArrowheads="1"/>
            </p:cNvSpPr>
            <p:nvPr/>
          </p:nvSpPr>
          <p:spPr bwMode="auto">
            <a:xfrm>
              <a:off x="5608463" y="3250883"/>
              <a:ext cx="1036134" cy="2074653"/>
            </a:xfrm>
            <a:prstGeom prst="rect">
              <a:avLst/>
            </a:prstGeom>
            <a:solidFill>
              <a:srgbClr val="CC9900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9"/>
            <p:cNvSpPr>
              <a:spLocks noChangeAspect="1" noChangeShapeType="1"/>
            </p:cNvSpPr>
            <p:nvPr/>
          </p:nvSpPr>
          <p:spPr bwMode="auto">
            <a:xfrm>
              <a:off x="6120820" y="2737324"/>
              <a:ext cx="0" cy="519172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Text Box 10"/>
            <p:cNvSpPr txBox="1">
              <a:spLocks noChangeArrowheads="1"/>
            </p:cNvSpPr>
            <p:nvPr/>
          </p:nvSpPr>
          <p:spPr bwMode="auto">
            <a:xfrm>
              <a:off x="6182190" y="2662956"/>
              <a:ext cx="694213" cy="45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1f</a:t>
              </a:r>
              <a:endParaRPr lang="en-US" altLang="zh-CN" sz="20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55" name="Line 11"/>
            <p:cNvSpPr>
              <a:spLocks noChangeAspect="1" noChangeShapeType="1"/>
            </p:cNvSpPr>
            <p:nvPr/>
          </p:nvSpPr>
          <p:spPr bwMode="auto">
            <a:xfrm flipH="1">
              <a:off x="6647452" y="4287822"/>
              <a:ext cx="529484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Line 12"/>
            <p:cNvSpPr>
              <a:spLocks noChangeAspect="1" noChangeShapeType="1"/>
            </p:cNvSpPr>
            <p:nvPr/>
          </p:nvSpPr>
          <p:spPr bwMode="auto">
            <a:xfrm rot="10800000" flipH="1">
              <a:off x="5074696" y="4282210"/>
              <a:ext cx="498087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Line 13"/>
            <p:cNvSpPr>
              <a:spLocks noChangeAspect="1" noChangeShapeType="1"/>
            </p:cNvSpPr>
            <p:nvPr/>
          </p:nvSpPr>
          <p:spPr bwMode="auto">
            <a:xfrm rot="10800000">
              <a:off x="6122248" y="5310128"/>
              <a:ext cx="0" cy="519172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9" name="对象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836008"/>
                </p:ext>
              </p:extLst>
            </p:nvPr>
          </p:nvGraphicFramePr>
          <p:xfrm>
            <a:off x="6935255" y="2945624"/>
            <a:ext cx="1111223" cy="564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309" name="公式" r:id="rId7" imgW="799920" imgH="406080" progId="Equation.3">
                    <p:embed/>
                  </p:oleObj>
                </mc:Choice>
                <mc:Fallback>
                  <p:oleObj name="公式" r:id="rId7" imgW="79992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35255" y="2945624"/>
                          <a:ext cx="1111223" cy="564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3" name="直接连接符 62"/>
            <p:cNvCxnSpPr/>
            <p:nvPr/>
          </p:nvCxnSpPr>
          <p:spPr bwMode="auto">
            <a:xfrm>
              <a:off x="6704701" y="3343854"/>
              <a:ext cx="29747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" name="任意多边形 63"/>
            <p:cNvSpPr/>
            <p:nvPr/>
          </p:nvSpPr>
          <p:spPr bwMode="auto">
            <a:xfrm>
              <a:off x="6799442" y="3187854"/>
              <a:ext cx="123284" cy="159366"/>
            </a:xfrm>
            <a:custGeom>
              <a:avLst/>
              <a:gdLst>
                <a:gd name="connsiteX0" fmla="*/ 104140 w 104140"/>
                <a:gd name="connsiteY0" fmla="*/ 134620 h 134620"/>
                <a:gd name="connsiteX1" fmla="*/ 76200 w 104140"/>
                <a:gd name="connsiteY1" fmla="*/ 45720 h 134620"/>
                <a:gd name="connsiteX2" fmla="*/ 0 w 104140"/>
                <a:gd name="connsiteY2" fmla="*/ 0 h 134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140" h="134620">
                  <a:moveTo>
                    <a:pt x="104140" y="134620"/>
                  </a:moveTo>
                  <a:cubicBezTo>
                    <a:pt x="98848" y="101388"/>
                    <a:pt x="93557" y="68157"/>
                    <a:pt x="76200" y="45720"/>
                  </a:cubicBezTo>
                  <a:cubicBezTo>
                    <a:pt x="58843" y="23283"/>
                    <a:pt x="29421" y="11641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6" name="Text Box 6"/>
            <p:cNvSpPr txBox="1">
              <a:spLocks noChangeArrowheads="1"/>
            </p:cNvSpPr>
            <p:nvPr/>
          </p:nvSpPr>
          <p:spPr bwMode="auto">
            <a:xfrm>
              <a:off x="5716257" y="3605683"/>
              <a:ext cx="463938" cy="45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</a:t>
              </a:r>
              <a:endParaRPr lang="en-US" altLang="zh-CN" sz="2000" b="1" dirty="0">
                <a:solidFill>
                  <a:srgbClr val="A50021"/>
                </a:solidFill>
                <a:latin typeface="Symbol" panose="05050102010706020507" pitchFamily="18" charset="2"/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67" name="Text Box 10"/>
            <p:cNvSpPr txBox="1">
              <a:spLocks noChangeArrowheads="1"/>
            </p:cNvSpPr>
            <p:nvPr/>
          </p:nvSpPr>
          <p:spPr bwMode="auto">
            <a:xfrm>
              <a:off x="6084970" y="4772536"/>
              <a:ext cx="599357" cy="529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2400" b="1" baseline="-25000" dirty="0" err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endParaRPr lang="en-US" altLang="zh-CN" sz="2400" b="1" baseline="-25000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65" name="Text Box 6"/>
            <p:cNvSpPr txBox="1">
              <a:spLocks noChangeArrowheads="1"/>
            </p:cNvSpPr>
            <p:nvPr/>
          </p:nvSpPr>
          <p:spPr bwMode="auto">
            <a:xfrm>
              <a:off x="5624391" y="4012935"/>
              <a:ext cx="470330" cy="452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</a:t>
              </a:r>
              <a:r>
                <a:rPr lang="en-US" altLang="zh-CN" sz="2000" b="1" baseline="-25000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endParaRPr lang="en-US" altLang="zh-CN" sz="20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 rot="21368988">
              <a:off x="5429898" y="3126493"/>
              <a:ext cx="1499546" cy="2243907"/>
              <a:chOff x="5294919" y="1858907"/>
              <a:chExt cx="1306710" cy="1955350"/>
            </a:xfrm>
          </p:grpSpPr>
          <p:sp>
            <p:nvSpPr>
              <p:cNvPr id="58" name="Line 24"/>
              <p:cNvSpPr>
                <a:spLocks noChangeShapeType="1"/>
              </p:cNvSpPr>
              <p:nvPr/>
            </p:nvSpPr>
            <p:spPr bwMode="auto">
              <a:xfrm flipH="1">
                <a:off x="5294919" y="1858907"/>
                <a:ext cx="1306710" cy="19553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矩形 59"/>
              <p:cNvSpPr/>
              <p:nvPr/>
            </p:nvSpPr>
            <p:spPr bwMode="auto">
              <a:xfrm rot="18093548">
                <a:off x="5800672" y="2740756"/>
                <a:ext cx="296228" cy="185636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cxnSp>
            <p:nvCxnSpPr>
              <p:cNvPr id="62" name="直接箭头连接符 61"/>
              <p:cNvCxnSpPr/>
              <p:nvPr/>
            </p:nvCxnSpPr>
            <p:spPr bwMode="auto">
              <a:xfrm>
                <a:off x="5639175" y="2621886"/>
                <a:ext cx="184861" cy="118970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A50021"/>
                </a:solidFill>
                <a:prstDash val="solid"/>
                <a:round/>
                <a:headEnd type="none" w="med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" name="直接箭头连接符 60"/>
              <p:cNvCxnSpPr/>
              <p:nvPr/>
            </p:nvCxnSpPr>
            <p:spPr bwMode="auto">
              <a:xfrm flipH="1">
                <a:off x="5771451" y="2658839"/>
                <a:ext cx="122914" cy="190992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A50021"/>
                </a:solidFill>
                <a:prstDash val="solid"/>
                <a:round/>
                <a:headEnd type="none" w="med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69" name="Rectangle 5"/>
          <p:cNvSpPr>
            <a:spLocks noChangeArrowheads="1"/>
          </p:cNvSpPr>
          <p:nvPr/>
        </p:nvSpPr>
        <p:spPr bwMode="auto">
          <a:xfrm>
            <a:off x="1108160" y="624868"/>
            <a:ext cx="2189406" cy="103044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342900" indent="-342900" algn="ctr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指标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algn="ctr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</a:pP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4483000" y="633286"/>
            <a:ext cx="3657694" cy="1034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有效应力指标：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</a:pP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=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46" name="Rectangle 3"/>
          <p:cNvSpPr>
            <a:spLocks noChangeArrowheads="1"/>
          </p:cNvSpPr>
          <p:nvPr/>
        </p:nvSpPr>
        <p:spPr bwMode="auto">
          <a:xfrm>
            <a:off x="1925717" y="5741687"/>
            <a:ext cx="645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总应力指标与有效应力指标</a:t>
            </a:r>
          </a:p>
        </p:txBody>
      </p:sp>
      <p:sp>
        <p:nvSpPr>
          <p:cNvPr id="48" name="AutoShape 24"/>
          <p:cNvSpPr>
            <a:spLocks noChangeArrowheads="1"/>
          </p:cNvSpPr>
          <p:nvPr/>
        </p:nvSpPr>
        <p:spPr bwMode="auto">
          <a:xfrm>
            <a:off x="1538158" y="4733902"/>
            <a:ext cx="587375" cy="515937"/>
          </a:xfrm>
          <a:prstGeom prst="homePlate">
            <a:avLst>
              <a:gd name="adj" fmla="val 28462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49" name="Text Box 31"/>
          <p:cNvSpPr txBox="1">
            <a:spLocks noChangeArrowheads="1"/>
          </p:cNvSpPr>
          <p:nvPr/>
        </p:nvSpPr>
        <p:spPr bwMode="auto">
          <a:xfrm>
            <a:off x="2257169" y="4622180"/>
            <a:ext cx="6256123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有效应力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应力强度指标的差别，实质上反映的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是孔隙水压力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对土的抗剪强度的影响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14592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6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7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utoUpdateAnimBg="0"/>
      <p:bldP spid="70" grpId="0" autoUpdateAnimBg="0"/>
      <p:bldP spid="48" grpId="0" animBg="1"/>
      <p:bldP spid="4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700453" y="2291547"/>
            <a:ext cx="5422217" cy="671512"/>
            <a:chOff x="1683977" y="2406879"/>
            <a:chExt cx="5422217" cy="671512"/>
          </a:xfrm>
        </p:grpSpPr>
        <p:sp>
          <p:nvSpPr>
            <p:cNvPr id="4" name="AutoShape 3"/>
            <p:cNvSpPr>
              <a:spLocks noChangeArrowheads="1"/>
            </p:cNvSpPr>
            <p:nvPr/>
          </p:nvSpPr>
          <p:spPr bwMode="auto">
            <a:xfrm>
              <a:off x="1683977" y="2406879"/>
              <a:ext cx="5422217" cy="671512"/>
            </a:xfrm>
            <a:prstGeom prst="leftArrow">
              <a:avLst>
                <a:gd name="adj1" fmla="val 48463"/>
                <a:gd name="adj2" fmla="val 130741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3141438" y="2521179"/>
              <a:ext cx="2287588" cy="427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chemeClr val="accent2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抗剪强度</a:t>
              </a:r>
              <a:r>
                <a:rPr lang="en-US" altLang="zh-CN" sz="2200" b="1" i="1" dirty="0">
                  <a:solidFill>
                    <a:schemeClr val="accent2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endParaRPr kumimoji="1" lang="en-US" altLang="zh-CN" sz="2200" b="1" i="1" dirty="0">
                <a:solidFill>
                  <a:schemeClr val="accent2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4492237" y="4451822"/>
            <a:ext cx="60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u</a:t>
            </a:r>
          </a:p>
        </p:txBody>
      </p:sp>
      <p:grpSp>
        <p:nvGrpSpPr>
          <p:cNvPr id="17" name="Group 15"/>
          <p:cNvGrpSpPr>
            <a:grpSpLocks/>
          </p:cNvGrpSpPr>
          <p:nvPr/>
        </p:nvGrpSpPr>
        <p:grpSpPr bwMode="auto">
          <a:xfrm>
            <a:off x="4497725" y="2885272"/>
            <a:ext cx="949325" cy="1582737"/>
            <a:chOff x="1807" y="1123"/>
            <a:chExt cx="598" cy="997"/>
          </a:xfrm>
        </p:grpSpPr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2054" y="1123"/>
              <a:ext cx="96" cy="96"/>
            </a:xfrm>
            <a:custGeom>
              <a:avLst/>
              <a:gdLst>
                <a:gd name="T0" fmla="*/ 0 w 96"/>
                <a:gd name="T1" fmla="*/ 0 h 96"/>
                <a:gd name="T2" fmla="*/ 48 w 96"/>
                <a:gd name="T3" fmla="*/ 96 h 96"/>
                <a:gd name="T4" fmla="*/ 96 w 96"/>
                <a:gd name="T5" fmla="*/ 0 h 96"/>
                <a:gd name="T6" fmla="*/ 0 60000 65536"/>
                <a:gd name="T7" fmla="*/ 0 60000 65536"/>
                <a:gd name="T8" fmla="*/ 0 60000 65536"/>
                <a:gd name="T9" fmla="*/ 0 w 96"/>
                <a:gd name="T10" fmla="*/ 0 h 96"/>
                <a:gd name="T11" fmla="*/ 96 w 96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96">
                  <a:moveTo>
                    <a:pt x="0" y="0"/>
                  </a:moveTo>
                  <a:cubicBezTo>
                    <a:pt x="16" y="48"/>
                    <a:pt x="32" y="96"/>
                    <a:pt x="48" y="96"/>
                  </a:cubicBezTo>
                  <a:cubicBezTo>
                    <a:pt x="64" y="96"/>
                    <a:pt x="80" y="48"/>
                    <a:pt x="96" y="0"/>
                  </a:cubicBezTo>
                </a:path>
              </a:pathLst>
            </a:custGeom>
            <a:noFill/>
            <a:ln w="28575" cmpd="sng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" name="Group 17"/>
            <p:cNvGrpSpPr>
              <a:grpSpLocks/>
            </p:cNvGrpSpPr>
            <p:nvPr/>
          </p:nvGrpSpPr>
          <p:grpSpPr bwMode="auto">
            <a:xfrm>
              <a:off x="1807" y="1170"/>
              <a:ext cx="598" cy="950"/>
              <a:chOff x="2090" y="1824"/>
              <a:chExt cx="598" cy="1008"/>
            </a:xfrm>
          </p:grpSpPr>
          <p:sp>
            <p:nvSpPr>
              <p:cNvPr id="20" name="Oval 18"/>
              <p:cNvSpPr>
                <a:spLocks noChangeArrowheads="1"/>
              </p:cNvSpPr>
              <p:nvPr/>
            </p:nvSpPr>
            <p:spPr bwMode="auto">
              <a:xfrm>
                <a:off x="2304" y="1824"/>
                <a:ext cx="192" cy="288"/>
              </a:xfrm>
              <a:prstGeom prst="ellipse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Freeform 19"/>
              <p:cNvSpPr>
                <a:spLocks/>
              </p:cNvSpPr>
              <p:nvPr/>
            </p:nvSpPr>
            <p:spPr bwMode="auto">
              <a:xfrm>
                <a:off x="2160" y="2112"/>
                <a:ext cx="280" cy="672"/>
              </a:xfrm>
              <a:custGeom>
                <a:avLst/>
                <a:gdLst>
                  <a:gd name="T0" fmla="*/ 240 w 280"/>
                  <a:gd name="T1" fmla="*/ 0 h 672"/>
                  <a:gd name="T2" fmla="*/ 240 w 280"/>
                  <a:gd name="T3" fmla="*/ 144 h 672"/>
                  <a:gd name="T4" fmla="*/ 240 w 280"/>
                  <a:gd name="T5" fmla="*/ 288 h 672"/>
                  <a:gd name="T6" fmla="*/ 0 w 280"/>
                  <a:gd name="T7" fmla="*/ 672 h 6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72"/>
                  <a:gd name="T14" fmla="*/ 280 w 280"/>
                  <a:gd name="T15" fmla="*/ 672 h 6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72">
                    <a:moveTo>
                      <a:pt x="240" y="0"/>
                    </a:moveTo>
                    <a:cubicBezTo>
                      <a:pt x="240" y="48"/>
                      <a:pt x="240" y="96"/>
                      <a:pt x="240" y="144"/>
                    </a:cubicBezTo>
                    <a:cubicBezTo>
                      <a:pt x="240" y="192"/>
                      <a:pt x="280" y="200"/>
                      <a:pt x="240" y="288"/>
                    </a:cubicBezTo>
                    <a:cubicBezTo>
                      <a:pt x="200" y="376"/>
                      <a:pt x="48" y="608"/>
                      <a:pt x="0" y="672"/>
                    </a:cubicBez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Freeform 20"/>
              <p:cNvSpPr>
                <a:spLocks/>
              </p:cNvSpPr>
              <p:nvPr/>
            </p:nvSpPr>
            <p:spPr bwMode="auto">
              <a:xfrm>
                <a:off x="2400" y="2448"/>
                <a:ext cx="288" cy="320"/>
              </a:xfrm>
              <a:custGeom>
                <a:avLst/>
                <a:gdLst>
                  <a:gd name="T0" fmla="*/ 0 w 288"/>
                  <a:gd name="T1" fmla="*/ 0 h 320"/>
                  <a:gd name="T2" fmla="*/ 192 w 288"/>
                  <a:gd name="T3" fmla="*/ 288 h 320"/>
                  <a:gd name="T4" fmla="*/ 288 w 288"/>
                  <a:gd name="T5" fmla="*/ 192 h 320"/>
                  <a:gd name="T6" fmla="*/ 0 60000 65536"/>
                  <a:gd name="T7" fmla="*/ 0 60000 65536"/>
                  <a:gd name="T8" fmla="*/ 0 60000 65536"/>
                  <a:gd name="T9" fmla="*/ 0 w 288"/>
                  <a:gd name="T10" fmla="*/ 0 h 320"/>
                  <a:gd name="T11" fmla="*/ 288 w 288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8" h="320">
                    <a:moveTo>
                      <a:pt x="0" y="0"/>
                    </a:moveTo>
                    <a:cubicBezTo>
                      <a:pt x="72" y="128"/>
                      <a:pt x="144" y="256"/>
                      <a:pt x="192" y="288"/>
                    </a:cubicBezTo>
                    <a:cubicBezTo>
                      <a:pt x="240" y="320"/>
                      <a:pt x="264" y="256"/>
                      <a:pt x="288" y="192"/>
                    </a:cubicBez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Freeform 21"/>
              <p:cNvSpPr>
                <a:spLocks/>
              </p:cNvSpPr>
              <p:nvPr/>
            </p:nvSpPr>
            <p:spPr bwMode="auto">
              <a:xfrm>
                <a:off x="2112" y="1920"/>
                <a:ext cx="288" cy="536"/>
              </a:xfrm>
              <a:custGeom>
                <a:avLst/>
                <a:gdLst>
                  <a:gd name="T0" fmla="*/ 288 w 288"/>
                  <a:gd name="T1" fmla="*/ 336 h 536"/>
                  <a:gd name="T2" fmla="*/ 96 w 288"/>
                  <a:gd name="T3" fmla="*/ 480 h 536"/>
                  <a:gd name="T4" fmla="*/ 0 w 288"/>
                  <a:gd name="T5" fmla="*/ 0 h 536"/>
                  <a:gd name="T6" fmla="*/ 0 60000 65536"/>
                  <a:gd name="T7" fmla="*/ 0 60000 65536"/>
                  <a:gd name="T8" fmla="*/ 0 60000 65536"/>
                  <a:gd name="T9" fmla="*/ 0 w 288"/>
                  <a:gd name="T10" fmla="*/ 0 h 536"/>
                  <a:gd name="T11" fmla="*/ 288 w 288"/>
                  <a:gd name="T12" fmla="*/ 536 h 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8" h="536">
                    <a:moveTo>
                      <a:pt x="288" y="336"/>
                    </a:moveTo>
                    <a:cubicBezTo>
                      <a:pt x="216" y="436"/>
                      <a:pt x="144" y="536"/>
                      <a:pt x="96" y="480"/>
                    </a:cubicBezTo>
                    <a:cubicBezTo>
                      <a:pt x="48" y="424"/>
                      <a:pt x="24" y="212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Freeform 22"/>
              <p:cNvSpPr>
                <a:spLocks/>
              </p:cNvSpPr>
              <p:nvPr/>
            </p:nvSpPr>
            <p:spPr bwMode="auto">
              <a:xfrm>
                <a:off x="2400" y="2304"/>
                <a:ext cx="216" cy="144"/>
              </a:xfrm>
              <a:custGeom>
                <a:avLst/>
                <a:gdLst>
                  <a:gd name="T0" fmla="*/ 0 w 216"/>
                  <a:gd name="T1" fmla="*/ 0 h 144"/>
                  <a:gd name="T2" fmla="*/ 192 w 216"/>
                  <a:gd name="T3" fmla="*/ 48 h 144"/>
                  <a:gd name="T4" fmla="*/ 144 w 216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216"/>
                  <a:gd name="T10" fmla="*/ 0 h 144"/>
                  <a:gd name="T11" fmla="*/ 216 w 216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" h="144">
                    <a:moveTo>
                      <a:pt x="0" y="0"/>
                    </a:moveTo>
                    <a:cubicBezTo>
                      <a:pt x="84" y="12"/>
                      <a:pt x="168" y="24"/>
                      <a:pt x="192" y="48"/>
                    </a:cubicBezTo>
                    <a:cubicBezTo>
                      <a:pt x="216" y="72"/>
                      <a:pt x="180" y="108"/>
                      <a:pt x="144" y="144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Arc 23"/>
              <p:cNvSpPr>
                <a:spLocks/>
              </p:cNvSpPr>
              <p:nvPr/>
            </p:nvSpPr>
            <p:spPr bwMode="auto">
              <a:xfrm rot="9627656">
                <a:off x="2352" y="2016"/>
                <a:ext cx="96" cy="48"/>
              </a:xfrm>
              <a:custGeom>
                <a:avLst/>
                <a:gdLst>
                  <a:gd name="T0" fmla="*/ 0 w 21600"/>
                  <a:gd name="T1" fmla="*/ 0 h 21600"/>
                  <a:gd name="T2" fmla="*/ 96 w 21600"/>
                  <a:gd name="T3" fmla="*/ 48 h 21600"/>
                  <a:gd name="T4" fmla="*/ 0 w 21600"/>
                  <a:gd name="T5" fmla="*/ 48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CC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24"/>
              <p:cNvSpPr>
                <a:spLocks noChangeShapeType="1"/>
              </p:cNvSpPr>
              <p:nvPr/>
            </p:nvSpPr>
            <p:spPr bwMode="auto">
              <a:xfrm>
                <a:off x="2090" y="2688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7" name="AutoShape 35"/>
          <p:cNvSpPr>
            <a:spLocks noChangeArrowheads="1"/>
          </p:cNvSpPr>
          <p:nvPr/>
        </p:nvSpPr>
        <p:spPr bwMode="auto">
          <a:xfrm>
            <a:off x="4457855" y="1347710"/>
            <a:ext cx="1959429" cy="1239112"/>
          </a:xfrm>
          <a:prstGeom prst="cloudCallout">
            <a:avLst>
              <a:gd name="adj1" fmla="val -22776"/>
              <a:gd name="adj2" fmla="val 66709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chemeClr val="bg1"/>
              </a:solidFill>
              <a:ea typeface="幼圆" pitchFamily="49" charset="-122"/>
            </a:endParaRPr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4692991" y="1598404"/>
            <a:ext cx="16981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A50021"/>
                </a:solidFill>
                <a:ea typeface="幼圆" pitchFamily="49" charset="-122"/>
              </a:rPr>
              <a:t>我叫 </a:t>
            </a:r>
            <a:r>
              <a:rPr lang="en-US" altLang="zh-CN" sz="2000" b="1" i="1" dirty="0">
                <a:solidFill>
                  <a:srgbClr val="A50021"/>
                </a:solidFill>
                <a:ea typeface="幼圆" pitchFamily="49" charset="-122"/>
              </a:rPr>
              <a:t>u</a:t>
            </a:r>
            <a:r>
              <a:rPr lang="zh-CN" altLang="en-US" sz="2000" b="1" dirty="0" smtClean="0">
                <a:solidFill>
                  <a:srgbClr val="A50021"/>
                </a:solidFill>
                <a:ea typeface="幼圆" pitchFamily="49" charset="-122"/>
              </a:rPr>
              <a:t>郭处士</a:t>
            </a:r>
            <a:r>
              <a:rPr lang="zh-CN" altLang="en-US" sz="2000" b="1" dirty="0">
                <a:solidFill>
                  <a:srgbClr val="A50021"/>
                </a:solidFill>
                <a:ea typeface="幼圆" pitchFamily="49" charset="-122"/>
              </a:rPr>
              <a:t>，</a:t>
            </a:r>
            <a:r>
              <a:rPr lang="zh-CN" altLang="en-US" sz="2000" b="1" dirty="0" smtClean="0">
                <a:solidFill>
                  <a:srgbClr val="A50021"/>
                </a:solidFill>
                <a:ea typeface="幼圆" pitchFamily="49" charset="-122"/>
              </a:rPr>
              <a:t>充数</a:t>
            </a:r>
            <a:r>
              <a:rPr lang="zh-CN" altLang="en-US" sz="2000" b="1" dirty="0">
                <a:solidFill>
                  <a:srgbClr val="A50021"/>
                </a:solidFill>
                <a:ea typeface="幼圆" pitchFamily="49" charset="-122"/>
              </a:rPr>
              <a:t>而已！</a:t>
            </a:r>
            <a:endParaRPr lang="en-US" altLang="zh-CN" sz="20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51515" y="2237572"/>
            <a:ext cx="1422184" cy="3136710"/>
            <a:chOff x="2135039" y="2352904"/>
            <a:chExt cx="1422184" cy="3136710"/>
          </a:xfrm>
        </p:grpSpPr>
        <p:sp>
          <p:nvSpPr>
            <p:cNvPr id="6" name="Arc 6"/>
            <p:cNvSpPr>
              <a:spLocks/>
            </p:cNvSpPr>
            <p:nvPr/>
          </p:nvSpPr>
          <p:spPr bwMode="auto">
            <a:xfrm rot="14279677" flipV="1">
              <a:off x="2815864" y="2681516"/>
              <a:ext cx="152400" cy="152400"/>
            </a:xfrm>
            <a:custGeom>
              <a:avLst/>
              <a:gdLst>
                <a:gd name="T0" fmla="*/ 0 w 21600"/>
                <a:gd name="T1" fmla="*/ 0 h 21600"/>
                <a:gd name="T2" fmla="*/ 152400 w 21600"/>
                <a:gd name="T3" fmla="*/ 152400 h 21600"/>
                <a:gd name="T4" fmla="*/ 0 w 21600"/>
                <a:gd name="T5" fmla="*/ 15240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/>
                <a:t> </a:t>
              </a:r>
            </a:p>
          </p:txBody>
        </p:sp>
        <p:grpSp>
          <p:nvGrpSpPr>
            <p:cNvPr id="28" name="Group 26"/>
            <p:cNvGrpSpPr>
              <a:grpSpLocks/>
            </p:cNvGrpSpPr>
            <p:nvPr/>
          </p:nvGrpSpPr>
          <p:grpSpPr bwMode="auto">
            <a:xfrm>
              <a:off x="2139588" y="2352904"/>
              <a:ext cx="1066741" cy="2243137"/>
              <a:chOff x="979" y="740"/>
              <a:chExt cx="667" cy="1384"/>
            </a:xfrm>
          </p:grpSpPr>
          <p:sp>
            <p:nvSpPr>
              <p:cNvPr id="29" name="Freeform 27"/>
              <p:cNvSpPr>
                <a:spLocks/>
              </p:cNvSpPr>
              <p:nvPr/>
            </p:nvSpPr>
            <p:spPr bwMode="auto">
              <a:xfrm>
                <a:off x="979" y="1076"/>
                <a:ext cx="488" cy="968"/>
              </a:xfrm>
              <a:custGeom>
                <a:avLst/>
                <a:gdLst>
                  <a:gd name="T0" fmla="*/ 432 w 488"/>
                  <a:gd name="T1" fmla="*/ 0 h 968"/>
                  <a:gd name="T2" fmla="*/ 432 w 488"/>
                  <a:gd name="T3" fmla="*/ 480 h 968"/>
                  <a:gd name="T4" fmla="*/ 96 w 488"/>
                  <a:gd name="T5" fmla="*/ 912 h 968"/>
                  <a:gd name="T6" fmla="*/ 0 w 488"/>
                  <a:gd name="T7" fmla="*/ 816 h 9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8"/>
                  <a:gd name="T13" fmla="*/ 0 h 968"/>
                  <a:gd name="T14" fmla="*/ 488 w 488"/>
                  <a:gd name="T15" fmla="*/ 968 h 9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8" h="968">
                    <a:moveTo>
                      <a:pt x="432" y="0"/>
                    </a:moveTo>
                    <a:cubicBezTo>
                      <a:pt x="460" y="164"/>
                      <a:pt x="488" y="328"/>
                      <a:pt x="432" y="480"/>
                    </a:cubicBezTo>
                    <a:cubicBezTo>
                      <a:pt x="376" y="632"/>
                      <a:pt x="168" y="856"/>
                      <a:pt x="96" y="912"/>
                    </a:cubicBezTo>
                    <a:cubicBezTo>
                      <a:pt x="24" y="968"/>
                      <a:pt x="12" y="892"/>
                      <a:pt x="0" y="816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Freeform 28"/>
              <p:cNvSpPr>
                <a:spLocks/>
              </p:cNvSpPr>
              <p:nvPr/>
            </p:nvSpPr>
            <p:spPr bwMode="auto">
              <a:xfrm>
                <a:off x="1411" y="1556"/>
                <a:ext cx="208" cy="568"/>
              </a:xfrm>
              <a:custGeom>
                <a:avLst/>
                <a:gdLst>
                  <a:gd name="T0" fmla="*/ 0 w 208"/>
                  <a:gd name="T1" fmla="*/ 0 h 568"/>
                  <a:gd name="T2" fmla="*/ 192 w 208"/>
                  <a:gd name="T3" fmla="*/ 480 h 568"/>
                  <a:gd name="T4" fmla="*/ 96 w 208"/>
                  <a:gd name="T5" fmla="*/ 528 h 568"/>
                  <a:gd name="T6" fmla="*/ 0 60000 65536"/>
                  <a:gd name="T7" fmla="*/ 0 60000 65536"/>
                  <a:gd name="T8" fmla="*/ 0 60000 65536"/>
                  <a:gd name="T9" fmla="*/ 0 w 208"/>
                  <a:gd name="T10" fmla="*/ 0 h 568"/>
                  <a:gd name="T11" fmla="*/ 208 w 208"/>
                  <a:gd name="T12" fmla="*/ 568 h 5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8" h="568">
                    <a:moveTo>
                      <a:pt x="0" y="0"/>
                    </a:moveTo>
                    <a:cubicBezTo>
                      <a:pt x="88" y="196"/>
                      <a:pt x="176" y="392"/>
                      <a:pt x="192" y="480"/>
                    </a:cubicBezTo>
                    <a:cubicBezTo>
                      <a:pt x="208" y="568"/>
                      <a:pt x="152" y="548"/>
                      <a:pt x="96" y="52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29"/>
              <p:cNvSpPr>
                <a:spLocks noChangeShapeType="1"/>
              </p:cNvSpPr>
              <p:nvPr/>
            </p:nvSpPr>
            <p:spPr bwMode="auto">
              <a:xfrm>
                <a:off x="1454" y="1129"/>
                <a:ext cx="192" cy="3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30"/>
              <p:cNvSpPr>
                <a:spLocks noChangeShapeType="1"/>
              </p:cNvSpPr>
              <p:nvPr/>
            </p:nvSpPr>
            <p:spPr bwMode="auto">
              <a:xfrm flipH="1">
                <a:off x="1267" y="1124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Oval 31"/>
              <p:cNvSpPr>
                <a:spLocks noChangeArrowheads="1"/>
              </p:cNvSpPr>
              <p:nvPr/>
            </p:nvSpPr>
            <p:spPr bwMode="auto">
              <a:xfrm>
                <a:off x="1315" y="740"/>
                <a:ext cx="192" cy="288"/>
              </a:xfrm>
              <a:prstGeom prst="ellipse">
                <a:avLst/>
              </a:prstGeom>
              <a:solidFill>
                <a:srgbClr val="CC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Freeform 32"/>
              <p:cNvSpPr>
                <a:spLocks/>
              </p:cNvSpPr>
              <p:nvPr/>
            </p:nvSpPr>
            <p:spPr bwMode="auto">
              <a:xfrm>
                <a:off x="1360" y="920"/>
                <a:ext cx="96" cy="48"/>
              </a:xfrm>
              <a:custGeom>
                <a:avLst/>
                <a:gdLst>
                  <a:gd name="T0" fmla="*/ 0 w 96"/>
                  <a:gd name="T1" fmla="*/ 48 h 48"/>
                  <a:gd name="T2" fmla="*/ 48 w 96"/>
                  <a:gd name="T3" fmla="*/ 0 h 48"/>
                  <a:gd name="T4" fmla="*/ 96 w 96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48"/>
                  <a:gd name="T11" fmla="*/ 96 w 96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48">
                    <a:moveTo>
                      <a:pt x="0" y="48"/>
                    </a:moveTo>
                    <a:cubicBezTo>
                      <a:pt x="16" y="24"/>
                      <a:pt x="32" y="0"/>
                      <a:pt x="48" y="0"/>
                    </a:cubicBezTo>
                    <a:cubicBezTo>
                      <a:pt x="64" y="0"/>
                      <a:pt x="80" y="24"/>
                      <a:pt x="96" y="48"/>
                    </a:cubicBezTo>
                  </a:path>
                </a:pathLst>
              </a:custGeom>
              <a:noFill/>
              <a:ln w="28575" cmpd="sng">
                <a:solidFill>
                  <a:schemeClr val="bg2">
                    <a:lumMod val="7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2387239" y="4551591"/>
              <a:ext cx="61436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i="1" dirty="0">
                  <a:solidFill>
                    <a:srgbClr val="A50021"/>
                  </a:solidFill>
                  <a:ea typeface="华文隶书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2800" b="1" dirty="0">
                  <a:solidFill>
                    <a:srgbClr val="A50021"/>
                  </a:solidFill>
                  <a:cs typeface="Times New Roman" panose="02020603050405020304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2135039" y="5026795"/>
              <a:ext cx="1422184" cy="4628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黏聚强度</a:t>
              </a:r>
              <a:endParaRPr lang="zh-CN" altLang="en-US" sz="2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565887" y="2280434"/>
            <a:ext cx="1574800" cy="3072079"/>
            <a:chOff x="5549411" y="2395766"/>
            <a:chExt cx="1574800" cy="3072079"/>
          </a:xfrm>
        </p:grpSpPr>
        <p:grpSp>
          <p:nvGrpSpPr>
            <p:cNvPr id="9" name="Group 7"/>
            <p:cNvGrpSpPr>
              <a:grpSpLocks/>
            </p:cNvGrpSpPr>
            <p:nvPr/>
          </p:nvGrpSpPr>
          <p:grpSpPr bwMode="auto">
            <a:xfrm>
              <a:off x="5549411" y="2395766"/>
              <a:ext cx="1574800" cy="2116138"/>
              <a:chOff x="2419" y="788"/>
              <a:chExt cx="992" cy="1304"/>
            </a:xfrm>
          </p:grpSpPr>
          <p:sp>
            <p:nvSpPr>
              <p:cNvPr id="10" name="Oval 8"/>
              <p:cNvSpPr>
                <a:spLocks noChangeArrowheads="1"/>
              </p:cNvSpPr>
              <p:nvPr/>
            </p:nvSpPr>
            <p:spPr bwMode="auto">
              <a:xfrm>
                <a:off x="2851" y="788"/>
                <a:ext cx="192" cy="288"/>
              </a:xfrm>
              <a:prstGeom prst="ellipse">
                <a:avLst/>
              </a:prstGeom>
              <a:solidFill>
                <a:srgbClr val="CC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2419" y="1124"/>
                <a:ext cx="584" cy="968"/>
              </a:xfrm>
              <a:custGeom>
                <a:avLst/>
                <a:gdLst>
                  <a:gd name="T0" fmla="*/ 528 w 584"/>
                  <a:gd name="T1" fmla="*/ 0 h 968"/>
                  <a:gd name="T2" fmla="*/ 528 w 584"/>
                  <a:gd name="T3" fmla="*/ 576 h 968"/>
                  <a:gd name="T4" fmla="*/ 192 w 584"/>
                  <a:gd name="T5" fmla="*/ 528 h 968"/>
                  <a:gd name="T6" fmla="*/ 96 w 584"/>
                  <a:gd name="T7" fmla="*/ 912 h 968"/>
                  <a:gd name="T8" fmla="*/ 0 w 584"/>
                  <a:gd name="T9" fmla="*/ 864 h 9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4"/>
                  <a:gd name="T16" fmla="*/ 0 h 968"/>
                  <a:gd name="T17" fmla="*/ 584 w 584"/>
                  <a:gd name="T18" fmla="*/ 968 h 9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4" h="968">
                    <a:moveTo>
                      <a:pt x="528" y="0"/>
                    </a:moveTo>
                    <a:cubicBezTo>
                      <a:pt x="556" y="244"/>
                      <a:pt x="584" y="488"/>
                      <a:pt x="528" y="576"/>
                    </a:cubicBezTo>
                    <a:cubicBezTo>
                      <a:pt x="472" y="664"/>
                      <a:pt x="264" y="472"/>
                      <a:pt x="192" y="528"/>
                    </a:cubicBezTo>
                    <a:cubicBezTo>
                      <a:pt x="120" y="584"/>
                      <a:pt x="128" y="856"/>
                      <a:pt x="96" y="912"/>
                    </a:cubicBezTo>
                    <a:cubicBezTo>
                      <a:pt x="64" y="968"/>
                      <a:pt x="32" y="916"/>
                      <a:pt x="0" y="864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2995" y="1604"/>
                <a:ext cx="416" cy="480"/>
              </a:xfrm>
              <a:custGeom>
                <a:avLst/>
                <a:gdLst>
                  <a:gd name="T0" fmla="*/ 0 w 416"/>
                  <a:gd name="T1" fmla="*/ 0 h 480"/>
                  <a:gd name="T2" fmla="*/ 96 w 416"/>
                  <a:gd name="T3" fmla="*/ 336 h 480"/>
                  <a:gd name="T4" fmla="*/ 384 w 416"/>
                  <a:gd name="T5" fmla="*/ 432 h 480"/>
                  <a:gd name="T6" fmla="*/ 288 w 416"/>
                  <a:gd name="T7" fmla="*/ 480 h 48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6"/>
                  <a:gd name="T13" fmla="*/ 0 h 480"/>
                  <a:gd name="T14" fmla="*/ 416 w 416"/>
                  <a:gd name="T15" fmla="*/ 480 h 48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6" h="480">
                    <a:moveTo>
                      <a:pt x="0" y="0"/>
                    </a:moveTo>
                    <a:cubicBezTo>
                      <a:pt x="16" y="132"/>
                      <a:pt x="32" y="264"/>
                      <a:pt x="96" y="336"/>
                    </a:cubicBezTo>
                    <a:cubicBezTo>
                      <a:pt x="160" y="408"/>
                      <a:pt x="352" y="408"/>
                      <a:pt x="384" y="432"/>
                    </a:cubicBezTo>
                    <a:cubicBezTo>
                      <a:pt x="416" y="456"/>
                      <a:pt x="352" y="468"/>
                      <a:pt x="288" y="48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2659" y="1076"/>
                <a:ext cx="288" cy="304"/>
              </a:xfrm>
              <a:custGeom>
                <a:avLst/>
                <a:gdLst>
                  <a:gd name="T0" fmla="*/ 288 w 288"/>
                  <a:gd name="T1" fmla="*/ 96 h 304"/>
                  <a:gd name="T2" fmla="*/ 96 w 288"/>
                  <a:gd name="T3" fmla="*/ 288 h 304"/>
                  <a:gd name="T4" fmla="*/ 0 w 288"/>
                  <a:gd name="T5" fmla="*/ 0 h 304"/>
                  <a:gd name="T6" fmla="*/ 0 60000 65536"/>
                  <a:gd name="T7" fmla="*/ 0 60000 65536"/>
                  <a:gd name="T8" fmla="*/ 0 60000 65536"/>
                  <a:gd name="T9" fmla="*/ 0 w 288"/>
                  <a:gd name="T10" fmla="*/ 0 h 304"/>
                  <a:gd name="T11" fmla="*/ 288 w 288"/>
                  <a:gd name="T12" fmla="*/ 304 h 30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8" h="304">
                    <a:moveTo>
                      <a:pt x="288" y="96"/>
                    </a:moveTo>
                    <a:cubicBezTo>
                      <a:pt x="216" y="200"/>
                      <a:pt x="144" y="304"/>
                      <a:pt x="96" y="288"/>
                    </a:cubicBezTo>
                    <a:cubicBezTo>
                      <a:pt x="48" y="272"/>
                      <a:pt x="24" y="136"/>
                      <a:pt x="0" y="0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Freeform 12"/>
              <p:cNvSpPr>
                <a:spLocks/>
              </p:cNvSpPr>
              <p:nvPr/>
            </p:nvSpPr>
            <p:spPr bwMode="auto">
              <a:xfrm>
                <a:off x="2947" y="1172"/>
                <a:ext cx="264" cy="288"/>
              </a:xfrm>
              <a:custGeom>
                <a:avLst/>
                <a:gdLst>
                  <a:gd name="T0" fmla="*/ 0 w 264"/>
                  <a:gd name="T1" fmla="*/ 0 h 288"/>
                  <a:gd name="T2" fmla="*/ 240 w 264"/>
                  <a:gd name="T3" fmla="*/ 240 h 288"/>
                  <a:gd name="T4" fmla="*/ 144 w 264"/>
                  <a:gd name="T5" fmla="*/ 288 h 288"/>
                  <a:gd name="T6" fmla="*/ 0 60000 65536"/>
                  <a:gd name="T7" fmla="*/ 0 60000 65536"/>
                  <a:gd name="T8" fmla="*/ 0 60000 65536"/>
                  <a:gd name="T9" fmla="*/ 0 w 264"/>
                  <a:gd name="T10" fmla="*/ 0 h 288"/>
                  <a:gd name="T11" fmla="*/ 264 w 264"/>
                  <a:gd name="T12" fmla="*/ 288 h 2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4" h="288">
                    <a:moveTo>
                      <a:pt x="0" y="0"/>
                    </a:moveTo>
                    <a:cubicBezTo>
                      <a:pt x="108" y="96"/>
                      <a:pt x="216" y="192"/>
                      <a:pt x="240" y="240"/>
                    </a:cubicBezTo>
                    <a:cubicBezTo>
                      <a:pt x="264" y="288"/>
                      <a:pt x="204" y="288"/>
                      <a:pt x="144" y="28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2899" y="980"/>
                <a:ext cx="96" cy="48"/>
              </a:xfrm>
              <a:custGeom>
                <a:avLst/>
                <a:gdLst>
                  <a:gd name="T0" fmla="*/ 0 w 96"/>
                  <a:gd name="T1" fmla="*/ 48 h 48"/>
                  <a:gd name="T2" fmla="*/ 48 w 96"/>
                  <a:gd name="T3" fmla="*/ 0 h 48"/>
                  <a:gd name="T4" fmla="*/ 96 w 96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48"/>
                  <a:gd name="T11" fmla="*/ 96 w 96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48">
                    <a:moveTo>
                      <a:pt x="0" y="48"/>
                    </a:moveTo>
                    <a:cubicBezTo>
                      <a:pt x="16" y="24"/>
                      <a:pt x="32" y="0"/>
                      <a:pt x="48" y="0"/>
                    </a:cubicBezTo>
                    <a:cubicBezTo>
                      <a:pt x="64" y="0"/>
                      <a:pt x="80" y="24"/>
                      <a:pt x="96" y="48"/>
                    </a:cubicBezTo>
                  </a:path>
                </a:pathLst>
              </a:custGeom>
              <a:noFill/>
              <a:ln w="28575" cmpd="sng">
                <a:solidFill>
                  <a:schemeClr val="bg2">
                    <a:lumMod val="7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5609736" y="4556479"/>
              <a:ext cx="145256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 i="1" dirty="0">
                  <a:solidFill>
                    <a:srgbClr val="A50021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="1" dirty="0">
                  <a:solidFill>
                    <a:srgbClr val="A50021"/>
                  </a:solidFill>
                  <a:cs typeface="Times New Roman" panose="02020603050405020304" pitchFamily="18" charset="0"/>
                  <a:sym typeface="Symbol" pitchFamily="18" charset="2"/>
                </a:rPr>
                <a:t> </a:t>
              </a:r>
              <a:r>
                <a:rPr kumimoji="1" lang="en-US" altLang="zh-CN" sz="2800" b="1" dirty="0" smtClean="0">
                  <a:solidFill>
                    <a:srgbClr val="A50021"/>
                  </a:solidFill>
                  <a:cs typeface="Times New Roman" panose="02020603050405020304" pitchFamily="18" charset="0"/>
                  <a:sym typeface="Symbol" pitchFamily="18" charset="2"/>
                </a:rPr>
                <a:t>tan</a:t>
              </a:r>
              <a:r>
                <a:rPr kumimoji="1" lang="en-US" altLang="zh-CN" sz="2800" b="1" i="1" dirty="0" smtClean="0">
                  <a:solidFill>
                    <a:srgbClr val="A50021"/>
                  </a:solidFill>
                  <a:cs typeface="Times New Roman" panose="02020603050405020304" pitchFamily="18" charset="0"/>
                  <a:sym typeface="Symbol"/>
                </a:rPr>
                <a:t></a:t>
              </a:r>
              <a:r>
                <a:rPr lang="en-US" altLang="zh-CN" sz="2800" b="1" dirty="0" smtClean="0">
                  <a:solidFill>
                    <a:srgbClr val="A50021"/>
                  </a:solidFill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endParaRPr lang="en-US" altLang="zh-CN" sz="2800" b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622830" y="5005026"/>
              <a:ext cx="1422184" cy="4628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摩擦强度</a:t>
              </a:r>
              <a:endParaRPr lang="zh-CN" altLang="en-US" sz="24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633413" y="695325"/>
            <a:ext cx="56496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土抗剪强度的组成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-9526" y="0"/>
            <a:ext cx="63450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总应力和有效应力强度指标</a:t>
            </a:r>
          </a:p>
        </p:txBody>
      </p:sp>
      <p:sp>
        <p:nvSpPr>
          <p:cNvPr id="43" name="Rectangle 3"/>
          <p:cNvSpPr>
            <a:spLocks noChangeArrowheads="1"/>
          </p:cNvSpPr>
          <p:nvPr/>
        </p:nvSpPr>
        <p:spPr bwMode="auto">
          <a:xfrm>
            <a:off x="1925717" y="5741687"/>
            <a:ext cx="645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总应力指标与有效应力指标</a:t>
            </a:r>
          </a:p>
        </p:txBody>
      </p:sp>
    </p:spTree>
    <p:extLst>
      <p:ext uri="{BB962C8B-B14F-4D97-AF65-F5344CB8AC3E}">
        <p14:creationId xmlns:p14="http://schemas.microsoft.com/office/powerpoint/2010/main" val="426073537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4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7" grpId="0" animBg="1"/>
      <p:bldP spid="38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55795" y="983139"/>
            <a:ext cx="3609975" cy="36199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65125" indent="-365125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有效应力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指标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714375" lvl="1" indent="-257175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+ 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</a:p>
          <a:p>
            <a:pPr marL="714375" lvl="1" indent="-257175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符合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土的破坏的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机理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714375" lvl="1" indent="-257175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但对许多工程问题，孔隙水压力 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难以确定或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估算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375320" y="983139"/>
            <a:ext cx="4314825" cy="361999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应力指标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zh-CN" altLang="en-US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714375" lvl="1" indent="-257175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714375" lvl="1" indent="-257175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符合强度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机理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714375" lvl="1" indent="-257175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只是在无法确定现场的孔隙水压力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时才会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使用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714375" lvl="1" indent="-257175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使用时需要根据工程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现场的孔隙水条件，合理选择确定强度参数的试验方法和条件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-9526" y="0"/>
            <a:ext cx="63450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总应力和有效应力强度指标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925717" y="5741687"/>
            <a:ext cx="645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总应力指标与有效应力指标</a:t>
            </a:r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89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16648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3"/>
          <p:cNvGrpSpPr>
            <a:grpSpLocks/>
          </p:cNvGrpSpPr>
          <p:nvPr/>
        </p:nvGrpSpPr>
        <p:grpSpPr bwMode="auto">
          <a:xfrm>
            <a:off x="172567" y="4081295"/>
            <a:ext cx="3582988" cy="1352550"/>
            <a:chOff x="2414" y="2451"/>
            <a:chExt cx="3009" cy="1065"/>
          </a:xfrm>
        </p:grpSpPr>
        <p:sp>
          <p:nvSpPr>
            <p:cNvPr id="3" name="Rectangle 224"/>
            <p:cNvSpPr>
              <a:spLocks noChangeArrowheads="1"/>
            </p:cNvSpPr>
            <p:nvPr/>
          </p:nvSpPr>
          <p:spPr bwMode="auto">
            <a:xfrm>
              <a:off x="2414" y="2953"/>
              <a:ext cx="3008" cy="563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225"/>
            <p:cNvSpPr>
              <a:spLocks noChangeShapeType="1"/>
            </p:cNvSpPr>
            <p:nvPr/>
          </p:nvSpPr>
          <p:spPr bwMode="auto">
            <a:xfrm>
              <a:off x="2414" y="2945"/>
              <a:ext cx="3009" cy="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226"/>
            <p:cNvSpPr>
              <a:spLocks noChangeArrowheads="1"/>
            </p:cNvSpPr>
            <p:nvPr/>
          </p:nvSpPr>
          <p:spPr bwMode="auto">
            <a:xfrm flipV="1">
              <a:off x="3510" y="2940"/>
              <a:ext cx="730" cy="336"/>
            </a:xfrm>
            <a:prstGeom prst="triangle">
              <a:avLst>
                <a:gd name="adj" fmla="val 50000"/>
              </a:avLst>
            </a:prstGeom>
            <a:noFill/>
            <a:ln w="25400" cap="sq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" name="Freeform 227"/>
            <p:cNvSpPr>
              <a:spLocks/>
            </p:cNvSpPr>
            <p:nvPr/>
          </p:nvSpPr>
          <p:spPr bwMode="auto">
            <a:xfrm>
              <a:off x="3892" y="2945"/>
              <a:ext cx="1374" cy="544"/>
            </a:xfrm>
            <a:custGeom>
              <a:avLst/>
              <a:gdLst>
                <a:gd name="T0" fmla="*/ 0 w 1680"/>
                <a:gd name="T1" fmla="*/ 432 h 688"/>
                <a:gd name="T2" fmla="*/ 432 w 1680"/>
                <a:gd name="T3" fmla="*/ 672 h 688"/>
                <a:gd name="T4" fmla="*/ 912 w 1680"/>
                <a:gd name="T5" fmla="*/ 528 h 688"/>
                <a:gd name="T6" fmla="*/ 1680 w 1680"/>
                <a:gd name="T7" fmla="*/ 0 h 6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688"/>
                <a:gd name="T14" fmla="*/ 1680 w 1680"/>
                <a:gd name="T15" fmla="*/ 688 h 6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688">
                  <a:moveTo>
                    <a:pt x="0" y="432"/>
                  </a:moveTo>
                  <a:cubicBezTo>
                    <a:pt x="140" y="544"/>
                    <a:pt x="280" y="656"/>
                    <a:pt x="432" y="672"/>
                  </a:cubicBezTo>
                  <a:cubicBezTo>
                    <a:pt x="584" y="688"/>
                    <a:pt x="704" y="640"/>
                    <a:pt x="912" y="528"/>
                  </a:cubicBezTo>
                  <a:cubicBezTo>
                    <a:pt x="1120" y="416"/>
                    <a:pt x="1400" y="208"/>
                    <a:pt x="1680" y="0"/>
                  </a:cubicBezTo>
                </a:path>
              </a:pathLst>
            </a:custGeom>
            <a:noFill/>
            <a:ln w="25400" cap="sq" cmpd="sng">
              <a:solidFill>
                <a:srgbClr val="A5002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228"/>
            <p:cNvSpPr>
              <a:spLocks/>
            </p:cNvSpPr>
            <p:nvPr/>
          </p:nvSpPr>
          <p:spPr bwMode="auto">
            <a:xfrm flipH="1">
              <a:off x="2524" y="2945"/>
              <a:ext cx="1331" cy="544"/>
            </a:xfrm>
            <a:custGeom>
              <a:avLst/>
              <a:gdLst>
                <a:gd name="T0" fmla="*/ 0 w 1680"/>
                <a:gd name="T1" fmla="*/ 432 h 688"/>
                <a:gd name="T2" fmla="*/ 432 w 1680"/>
                <a:gd name="T3" fmla="*/ 672 h 688"/>
                <a:gd name="T4" fmla="*/ 912 w 1680"/>
                <a:gd name="T5" fmla="*/ 528 h 688"/>
                <a:gd name="T6" fmla="*/ 1680 w 1680"/>
                <a:gd name="T7" fmla="*/ 0 h 6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688"/>
                <a:gd name="T14" fmla="*/ 1680 w 1680"/>
                <a:gd name="T15" fmla="*/ 688 h 6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688">
                  <a:moveTo>
                    <a:pt x="0" y="432"/>
                  </a:moveTo>
                  <a:cubicBezTo>
                    <a:pt x="140" y="544"/>
                    <a:pt x="280" y="656"/>
                    <a:pt x="432" y="672"/>
                  </a:cubicBezTo>
                  <a:cubicBezTo>
                    <a:pt x="584" y="688"/>
                    <a:pt x="704" y="640"/>
                    <a:pt x="912" y="528"/>
                  </a:cubicBezTo>
                  <a:cubicBezTo>
                    <a:pt x="1120" y="416"/>
                    <a:pt x="1400" y="208"/>
                    <a:pt x="1680" y="0"/>
                  </a:cubicBezTo>
                </a:path>
              </a:pathLst>
            </a:custGeom>
            <a:noFill/>
            <a:ln w="25400" cap="sq" cmpd="sng">
              <a:solidFill>
                <a:srgbClr val="A5002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Freeform 229"/>
            <p:cNvSpPr>
              <a:spLocks/>
            </p:cNvSpPr>
            <p:nvPr/>
          </p:nvSpPr>
          <p:spPr bwMode="auto">
            <a:xfrm rot="-688130">
              <a:off x="4371" y="3214"/>
              <a:ext cx="348" cy="55"/>
            </a:xfrm>
            <a:custGeom>
              <a:avLst/>
              <a:gdLst>
                <a:gd name="T0" fmla="*/ 0 w 348"/>
                <a:gd name="T1" fmla="*/ 32 h 55"/>
                <a:gd name="T2" fmla="*/ 144 w 348"/>
                <a:gd name="T3" fmla="*/ 54 h 55"/>
                <a:gd name="T4" fmla="*/ 259 w 348"/>
                <a:gd name="T5" fmla="*/ 41 h 55"/>
                <a:gd name="T6" fmla="*/ 348 w 34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8"/>
                <a:gd name="T13" fmla="*/ 0 h 55"/>
                <a:gd name="T14" fmla="*/ 348 w 34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8" h="55">
                  <a:moveTo>
                    <a:pt x="0" y="32"/>
                  </a:moveTo>
                  <a:cubicBezTo>
                    <a:pt x="24" y="36"/>
                    <a:pt x="101" y="53"/>
                    <a:pt x="144" y="54"/>
                  </a:cubicBezTo>
                  <a:cubicBezTo>
                    <a:pt x="187" y="55"/>
                    <a:pt x="225" y="50"/>
                    <a:pt x="259" y="41"/>
                  </a:cubicBezTo>
                  <a:cubicBezTo>
                    <a:pt x="293" y="32"/>
                    <a:pt x="322" y="16"/>
                    <a:pt x="348" y="0"/>
                  </a:cubicBez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30"/>
            <p:cNvSpPr>
              <a:spLocks/>
            </p:cNvSpPr>
            <p:nvPr/>
          </p:nvSpPr>
          <p:spPr bwMode="auto">
            <a:xfrm rot="688130" flipH="1">
              <a:off x="3086" y="3184"/>
              <a:ext cx="348" cy="55"/>
            </a:xfrm>
            <a:custGeom>
              <a:avLst/>
              <a:gdLst>
                <a:gd name="T0" fmla="*/ 0 w 348"/>
                <a:gd name="T1" fmla="*/ 32 h 55"/>
                <a:gd name="T2" fmla="*/ 144 w 348"/>
                <a:gd name="T3" fmla="*/ 54 h 55"/>
                <a:gd name="T4" fmla="*/ 259 w 348"/>
                <a:gd name="T5" fmla="*/ 41 h 55"/>
                <a:gd name="T6" fmla="*/ 348 w 34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8"/>
                <a:gd name="T13" fmla="*/ 0 h 55"/>
                <a:gd name="T14" fmla="*/ 348 w 34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8" h="55">
                  <a:moveTo>
                    <a:pt x="0" y="32"/>
                  </a:moveTo>
                  <a:cubicBezTo>
                    <a:pt x="24" y="36"/>
                    <a:pt x="101" y="53"/>
                    <a:pt x="144" y="54"/>
                  </a:cubicBezTo>
                  <a:cubicBezTo>
                    <a:pt x="187" y="55"/>
                    <a:pt x="225" y="50"/>
                    <a:pt x="259" y="41"/>
                  </a:cubicBezTo>
                  <a:cubicBezTo>
                    <a:pt x="293" y="32"/>
                    <a:pt x="322" y="16"/>
                    <a:pt x="348" y="0"/>
                  </a:cubicBez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231"/>
            <p:cNvSpPr>
              <a:spLocks noChangeArrowheads="1"/>
            </p:cNvSpPr>
            <p:nvPr/>
          </p:nvSpPr>
          <p:spPr bwMode="auto">
            <a:xfrm>
              <a:off x="3553" y="2451"/>
              <a:ext cx="638" cy="42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232" descr="深色上对角线"/>
            <p:cNvSpPr>
              <a:spLocks noChangeArrowheads="1"/>
            </p:cNvSpPr>
            <p:nvPr/>
          </p:nvSpPr>
          <p:spPr bwMode="auto">
            <a:xfrm>
              <a:off x="3509" y="2849"/>
              <a:ext cx="730" cy="96"/>
            </a:xfrm>
            <a:prstGeom prst="rect">
              <a:avLst/>
            </a:prstGeom>
            <a:pattFill prst="dkUpDiag">
              <a:fgClr>
                <a:srgbClr val="990000"/>
              </a:fgClr>
              <a:bgClr>
                <a:srgbClr val="FFFFFF"/>
              </a:bgClr>
            </a:pattFill>
            <a:ln w="12700" cap="sq">
              <a:solidFill>
                <a:srgbClr val="99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233"/>
            <p:cNvSpPr>
              <a:spLocks noChangeArrowheads="1"/>
            </p:cNvSpPr>
            <p:nvPr/>
          </p:nvSpPr>
          <p:spPr bwMode="auto">
            <a:xfrm>
              <a:off x="3713" y="2576"/>
              <a:ext cx="157" cy="13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34"/>
            <p:cNvSpPr>
              <a:spLocks noChangeShapeType="1"/>
            </p:cNvSpPr>
            <p:nvPr/>
          </p:nvSpPr>
          <p:spPr bwMode="auto">
            <a:xfrm>
              <a:off x="3713" y="2643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35"/>
            <p:cNvSpPr>
              <a:spLocks noChangeShapeType="1"/>
            </p:cNvSpPr>
            <p:nvPr/>
          </p:nvSpPr>
          <p:spPr bwMode="auto">
            <a:xfrm>
              <a:off x="3799" y="2576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4519745" y="3662853"/>
            <a:ext cx="3517242" cy="99209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</a:pP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+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=1.25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=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 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727593" y="4085003"/>
            <a:ext cx="1252266" cy="1025725"/>
            <a:chOff x="2673521" y="1514104"/>
            <a:chExt cx="1252266" cy="1025725"/>
          </a:xfrm>
        </p:grpSpPr>
        <p:sp>
          <p:nvSpPr>
            <p:cNvPr id="34" name="椭圆 33"/>
            <p:cNvSpPr/>
            <p:nvPr/>
          </p:nvSpPr>
          <p:spPr bwMode="auto">
            <a:xfrm>
              <a:off x="2988129" y="2441858"/>
              <a:ext cx="97971" cy="97971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cxnSp>
          <p:nvCxnSpPr>
            <p:cNvPr id="36" name="直接箭头连接符 35"/>
            <p:cNvCxnSpPr/>
            <p:nvPr/>
          </p:nvCxnSpPr>
          <p:spPr bwMode="auto">
            <a:xfrm flipV="1">
              <a:off x="3033346" y="1992086"/>
              <a:ext cx="69083" cy="42381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" name="矩形 36"/>
            <p:cNvSpPr/>
            <p:nvPr/>
          </p:nvSpPr>
          <p:spPr>
            <a:xfrm>
              <a:off x="2673521" y="1514104"/>
              <a:ext cx="1252266" cy="4462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i="1" kern="100" dirty="0" err="1" smtClean="0">
                  <a:ea typeface="宋体" panose="02010600030101010101" pitchFamily="2" charset="-122"/>
                </a:rPr>
                <a:t>u</a:t>
              </a:r>
              <a:r>
                <a:rPr lang="en-US" altLang="zh-CN" sz="2000" b="1" kern="100" baseline="-25000" dirty="0" err="1" smtClean="0">
                  <a:ea typeface="宋体" panose="02010600030101010101" pitchFamily="2" charset="-122"/>
                </a:rPr>
                <a:t>f</a:t>
              </a:r>
              <a:r>
                <a:rPr lang="en-US" altLang="zh-CN" sz="2000" b="1" kern="100" dirty="0" smtClean="0">
                  <a:ea typeface="宋体" panose="02010600030101010101" pitchFamily="2" charset="-122"/>
                </a:rPr>
                <a:t>/</a:t>
              </a:r>
              <a:r>
                <a:rPr lang="en-US" altLang="zh-CN" sz="2000" b="1" i="1" kern="100" dirty="0" smtClean="0">
                  <a:ea typeface="宋体" panose="02010600030101010101" pitchFamily="2" charset="-122"/>
                </a:rPr>
                <a:t>σ</a:t>
              </a:r>
              <a:r>
                <a:rPr lang="en-US" altLang="zh-CN" sz="2000" b="1" kern="100" dirty="0" smtClean="0"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r>
                <a:rPr lang="en-US" altLang="zh-CN" sz="2000" b="1" kern="100" dirty="0" smtClean="0">
                  <a:ea typeface="宋体" panose="02010600030101010101" pitchFamily="2" charset="-122"/>
                </a:rPr>
                <a:t>=0.25</a:t>
              </a:r>
              <a:endParaRPr lang="zh-CN" altLang="en-US" sz="2000" b="1" dirty="0"/>
            </a:p>
          </p:txBody>
        </p:sp>
      </p:grpSp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3598985" y="17232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4089034" y="3156248"/>
            <a:ext cx="3934090" cy="4792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采用总应力分析方法分析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108084" y="684652"/>
            <a:ext cx="5035916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采用不排水试验确定强度参数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51" name="Rectangle 4"/>
          <p:cNvSpPr>
            <a:spLocks noChangeArrowheads="1"/>
          </p:cNvSpPr>
          <p:nvPr/>
        </p:nvSpPr>
        <p:spPr bwMode="auto">
          <a:xfrm>
            <a:off x="4421320" y="2463386"/>
            <a:ext cx="1820730" cy="509653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</a:pP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endParaRPr lang="en-US" altLang="zh-CN" sz="2400" b="1" i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6815270" y="1889537"/>
            <a:ext cx="2214430" cy="509653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=1.25tan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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54" name="右大括号 53"/>
          <p:cNvSpPr/>
          <p:nvPr/>
        </p:nvSpPr>
        <p:spPr bwMode="auto">
          <a:xfrm>
            <a:off x="6540500" y="1455389"/>
            <a:ext cx="190500" cy="1422401"/>
          </a:xfrm>
          <a:prstGeom prst="rightBrace">
            <a:avLst>
              <a:gd name="adj1" fmla="val 38452"/>
              <a:gd name="adj2" fmla="val 47786"/>
            </a:avLst>
          </a:prstGeom>
          <a:noFill/>
          <a:ln w="19050" cap="flat" cmpd="sng" algn="ctr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7" name="Rectangle 4"/>
          <p:cNvSpPr>
            <a:spLocks noChangeArrowheads="1"/>
          </p:cNvSpPr>
          <p:nvPr/>
        </p:nvSpPr>
        <p:spPr bwMode="auto">
          <a:xfrm>
            <a:off x="4430713" y="1161636"/>
            <a:ext cx="2211387" cy="1474853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75000"/>
            </a:pP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75000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+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75000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=1.25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80286" y="1365131"/>
            <a:ext cx="1836694" cy="2557426"/>
            <a:chOff x="819420" y="3058887"/>
            <a:chExt cx="1836694" cy="2557426"/>
          </a:xfrm>
        </p:grpSpPr>
        <p:sp>
          <p:nvSpPr>
            <p:cNvPr id="18" name="Text Box 10"/>
            <p:cNvSpPr txBox="1">
              <a:spLocks noChangeArrowheads="1"/>
            </p:cNvSpPr>
            <p:nvPr/>
          </p:nvSpPr>
          <p:spPr bwMode="auto">
            <a:xfrm>
              <a:off x="1626896" y="3058887"/>
              <a:ext cx="512976" cy="339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1f</a:t>
              </a:r>
              <a:endParaRPr lang="en-US" altLang="zh-CN" sz="20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19420" y="3266238"/>
              <a:ext cx="1836694" cy="2350075"/>
              <a:chOff x="819420" y="3266238"/>
              <a:chExt cx="1836694" cy="2350075"/>
            </a:xfrm>
          </p:grpSpPr>
          <p:sp>
            <p:nvSpPr>
              <p:cNvPr id="15" name="Text Box 6"/>
              <p:cNvSpPr txBox="1">
                <a:spLocks noChangeArrowheads="1"/>
              </p:cNvSpPr>
              <p:nvPr/>
            </p:nvSpPr>
            <p:spPr bwMode="auto">
              <a:xfrm>
                <a:off x="2161912" y="4029878"/>
                <a:ext cx="49420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endParaRPr lang="en-US" altLang="zh-CN" sz="20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6" name="Rectangle 8"/>
              <p:cNvSpPr>
                <a:spLocks noChangeArrowheads="1"/>
              </p:cNvSpPr>
              <p:nvPr/>
            </p:nvSpPr>
            <p:spPr bwMode="auto">
              <a:xfrm>
                <a:off x="1213837" y="3678382"/>
                <a:ext cx="765632" cy="1533026"/>
              </a:xfrm>
              <a:prstGeom prst="rect">
                <a:avLst/>
              </a:prstGeom>
              <a:solidFill>
                <a:srgbClr val="CC99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" name="Line 9"/>
              <p:cNvSpPr>
                <a:spLocks noChangeAspect="1" noChangeShapeType="1"/>
              </p:cNvSpPr>
              <p:nvPr/>
            </p:nvSpPr>
            <p:spPr bwMode="auto">
              <a:xfrm>
                <a:off x="1592434" y="3266238"/>
                <a:ext cx="0" cy="432000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" name="Line 11"/>
              <p:cNvSpPr>
                <a:spLocks noChangeAspect="1" noChangeShapeType="1"/>
              </p:cNvSpPr>
              <p:nvPr/>
            </p:nvSpPr>
            <p:spPr bwMode="auto">
              <a:xfrm flipH="1">
                <a:off x="1981579" y="4444609"/>
                <a:ext cx="391253" cy="0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" name="Line 12"/>
              <p:cNvSpPr>
                <a:spLocks noChangeAspect="1" noChangeShapeType="1"/>
              </p:cNvSpPr>
              <p:nvPr/>
            </p:nvSpPr>
            <p:spPr bwMode="auto">
              <a:xfrm rot="10800000" flipH="1">
                <a:off x="819420" y="4440461"/>
                <a:ext cx="368052" cy="0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" name="Line 13"/>
              <p:cNvSpPr>
                <a:spLocks noChangeAspect="1" noChangeShapeType="1"/>
              </p:cNvSpPr>
              <p:nvPr/>
            </p:nvSpPr>
            <p:spPr bwMode="auto">
              <a:xfrm rot="10800000">
                <a:off x="1593489" y="5184313"/>
                <a:ext cx="0" cy="432000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" name="Text Box 6"/>
              <p:cNvSpPr txBox="1">
                <a:spLocks noChangeArrowheads="1"/>
              </p:cNvSpPr>
              <p:nvPr/>
            </p:nvSpPr>
            <p:spPr bwMode="auto">
              <a:xfrm>
                <a:off x="1271718" y="3907971"/>
                <a:ext cx="41556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 smtClean="0">
                    <a:solidFill>
                      <a:srgbClr val="A50021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000" b="1" dirty="0" smtClean="0">
                    <a:solidFill>
                      <a:srgbClr val="A50021"/>
                    </a:solidFill>
                    <a:ea typeface="幼圆" pitchFamily="49" charset="-122"/>
                    <a:cs typeface="Times New Roman" panose="02020603050405020304" pitchFamily="18" charset="0"/>
                    <a:sym typeface="Symbol"/>
                  </a:rPr>
                  <a:t></a:t>
                </a:r>
                <a:endParaRPr lang="en-US" altLang="zh-CN" sz="2000" b="1" dirty="0">
                  <a:solidFill>
                    <a:srgbClr val="A50021"/>
                  </a:solidFill>
                  <a:latin typeface="Symbol" panose="05050102010706020507" pitchFamily="18" charset="2"/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27" name="Text Box 6"/>
              <p:cNvSpPr txBox="1">
                <a:spLocks noChangeArrowheads="1"/>
              </p:cNvSpPr>
              <p:nvPr/>
            </p:nvSpPr>
            <p:spPr bwMode="auto">
              <a:xfrm>
                <a:off x="1143001" y="4241485"/>
                <a:ext cx="4301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i="1" dirty="0" smtClean="0">
                    <a:solidFill>
                      <a:srgbClr val="A50021"/>
                    </a:solidFill>
                    <a:ea typeface="幼圆" pitchFamily="49" charset="-122"/>
                    <a:cs typeface="Times New Roman" panose="02020603050405020304" pitchFamily="18" charset="0"/>
                    <a:sym typeface="Symbol"/>
                  </a:rPr>
                  <a:t></a:t>
                </a:r>
                <a:r>
                  <a:rPr lang="en-US" altLang="zh-CN" sz="2000" b="1" baseline="-25000" dirty="0" smtClean="0">
                    <a:solidFill>
                      <a:srgbClr val="A50021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f</a:t>
                </a:r>
                <a:endParaRPr lang="en-US" altLang="zh-CN" sz="20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 rot="21368988">
                <a:off x="1081890" y="3586465"/>
                <a:ext cx="1108061" cy="1658094"/>
                <a:chOff x="5294919" y="1858907"/>
                <a:chExt cx="1306710" cy="1955350"/>
              </a:xfrm>
            </p:grpSpPr>
            <p:sp>
              <p:nvSpPr>
                <p:cNvPr id="29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5294919" y="1858907"/>
                  <a:ext cx="1306710" cy="1955350"/>
                </a:xfrm>
                <a:prstGeom prst="line">
                  <a:avLst/>
                </a:prstGeom>
                <a:noFill/>
                <a:ln w="19050">
                  <a:solidFill>
                    <a:srgbClr val="A5002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 bwMode="auto">
                <a:xfrm rot="18093548">
                  <a:off x="5800672" y="2740756"/>
                  <a:ext cx="296228" cy="185636"/>
                </a:xfrm>
                <a:prstGeom prst="rect">
                  <a:avLst/>
                </a:prstGeom>
                <a:solidFill>
                  <a:srgbClr val="FFFF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358775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charset="-122"/>
                  </a:endParaRPr>
                </a:p>
              </p:txBody>
            </p:sp>
            <p:cxnSp>
              <p:nvCxnSpPr>
                <p:cNvPr id="31" name="直接箭头连接符 30"/>
                <p:cNvCxnSpPr/>
                <p:nvPr/>
              </p:nvCxnSpPr>
              <p:spPr bwMode="auto">
                <a:xfrm>
                  <a:off x="5639175" y="2621886"/>
                  <a:ext cx="184861" cy="118970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rgbClr val="A50021"/>
                  </a:solidFill>
                  <a:prstDash val="solid"/>
                  <a:round/>
                  <a:headEnd type="none" w="med" len="med"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" name="直接箭头连接符 31"/>
                <p:cNvCxnSpPr/>
                <p:nvPr/>
              </p:nvCxnSpPr>
              <p:spPr bwMode="auto">
                <a:xfrm flipH="1">
                  <a:off x="5771451" y="2658839"/>
                  <a:ext cx="122914" cy="190992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rgbClr val="A50021"/>
                  </a:solidFill>
                  <a:prstDash val="solid"/>
                  <a:round/>
                  <a:headEnd type="none" w="med" len="med"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grpSp>
        <p:nvGrpSpPr>
          <p:cNvPr id="23" name="组合 22"/>
          <p:cNvGrpSpPr/>
          <p:nvPr/>
        </p:nvGrpSpPr>
        <p:grpSpPr>
          <a:xfrm>
            <a:off x="2022742" y="1838542"/>
            <a:ext cx="1474878" cy="601550"/>
            <a:chOff x="1761876" y="3532298"/>
            <a:chExt cx="1474878" cy="601550"/>
          </a:xfrm>
        </p:grpSpPr>
        <p:sp>
          <p:nvSpPr>
            <p:cNvPr id="42" name="矩形 41"/>
            <p:cNvSpPr/>
            <p:nvPr/>
          </p:nvSpPr>
          <p:spPr>
            <a:xfrm>
              <a:off x="2174860" y="3532298"/>
              <a:ext cx="1061894" cy="3535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i="1" kern="100" dirty="0" err="1" smtClean="0">
                  <a:ea typeface="宋体" panose="02010600030101010101" pitchFamily="2" charset="-122"/>
                </a:rPr>
                <a:t>u</a:t>
              </a:r>
              <a:r>
                <a:rPr lang="en-US" altLang="zh-CN" sz="2000" b="1" kern="100" baseline="-25000" dirty="0" err="1" smtClean="0">
                  <a:ea typeface="宋体" panose="02010600030101010101" pitchFamily="2" charset="-122"/>
                </a:rPr>
                <a:t>f</a:t>
              </a:r>
              <a:r>
                <a:rPr lang="en-US" altLang="zh-CN" sz="2000" b="1" kern="100" dirty="0" smtClean="0">
                  <a:ea typeface="宋体" panose="02010600030101010101" pitchFamily="2" charset="-122"/>
                </a:rPr>
                <a:t>/</a:t>
              </a:r>
              <a:r>
                <a:rPr lang="en-US" altLang="zh-CN" sz="2000" b="1" i="1" kern="100" dirty="0" smtClean="0">
                  <a:ea typeface="宋体" panose="02010600030101010101" pitchFamily="2" charset="-122"/>
                </a:rPr>
                <a:t>σ</a:t>
              </a:r>
              <a:r>
                <a:rPr lang="en-US" altLang="zh-CN" sz="2000" b="1" kern="100" dirty="0" smtClean="0"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r>
                <a:rPr lang="en-US" altLang="zh-CN" sz="2000" b="1" kern="100" dirty="0" smtClean="0">
                  <a:ea typeface="宋体" panose="02010600030101010101" pitchFamily="2" charset="-122"/>
                </a:rPr>
                <a:t>=0.25</a:t>
              </a:r>
              <a:endParaRPr lang="zh-CN" altLang="en-US" sz="2000" b="1" dirty="0"/>
            </a:p>
          </p:txBody>
        </p:sp>
        <p:cxnSp>
          <p:nvCxnSpPr>
            <p:cNvPr id="44" name="直接箭头连接符 43"/>
            <p:cNvCxnSpPr/>
            <p:nvPr/>
          </p:nvCxnSpPr>
          <p:spPr bwMode="auto">
            <a:xfrm flipV="1">
              <a:off x="1833813" y="3913480"/>
              <a:ext cx="517045" cy="1746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9" name="椭圆 58"/>
            <p:cNvSpPr/>
            <p:nvPr/>
          </p:nvSpPr>
          <p:spPr bwMode="auto">
            <a:xfrm>
              <a:off x="1761876" y="4050771"/>
              <a:ext cx="83077" cy="83077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62" name="Text Box 7"/>
          <p:cNvSpPr txBox="1">
            <a:spLocks noChangeArrowheads="1"/>
          </p:cNvSpPr>
          <p:nvPr/>
        </p:nvSpPr>
        <p:spPr bwMode="auto">
          <a:xfrm>
            <a:off x="-9526" y="0"/>
            <a:ext cx="63450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总应力和有效应力强度指标</a:t>
            </a:r>
          </a:p>
        </p:txBody>
      </p:sp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1925717" y="5749925"/>
            <a:ext cx="645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总应力指标与有效应力指标</a:t>
            </a:r>
          </a:p>
        </p:txBody>
      </p:sp>
      <p:sp>
        <p:nvSpPr>
          <p:cNvPr id="56" name="Text Box 5"/>
          <p:cNvSpPr txBox="1">
            <a:spLocks noChangeArrowheads="1"/>
          </p:cNvSpPr>
          <p:nvPr/>
        </p:nvSpPr>
        <p:spPr bwMode="auto">
          <a:xfrm>
            <a:off x="921160" y="704386"/>
            <a:ext cx="30656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</a:pPr>
            <a:r>
              <a:rPr lang="en-US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17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、假想案例讨论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0" name="Picture 2" descr="H:\timg (1)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12" y="498293"/>
            <a:ext cx="715303" cy="106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矩形 60"/>
          <p:cNvSpPr/>
          <p:nvPr/>
        </p:nvSpPr>
        <p:spPr bwMode="auto">
          <a:xfrm>
            <a:off x="228175" y="448056"/>
            <a:ext cx="3758609" cy="1051560"/>
          </a:xfrm>
          <a:prstGeom prst="rect">
            <a:avLst/>
          </a:prstGeom>
          <a:noFill/>
          <a:ln w="12700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892544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1000"/>
                                        <p:tgtEl>
                                          <p:spTgt spid="5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1000"/>
                                        <p:tgtEl>
                                          <p:spTgt spid="5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5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5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1000"/>
                                        <p:tgtEl>
                                          <p:spTgt spid="3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  <p:bldP spid="40" grpId="0"/>
      <p:bldP spid="47" grpId="0"/>
      <p:bldP spid="51" grpId="0" autoUpdateAnimBg="0"/>
      <p:bldP spid="53" grpId="0" autoUpdateAnimBg="0"/>
      <p:bldP spid="54" grpId="0" animBg="1"/>
      <p:bldP spid="57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3598985" y="17232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2" name="右箭头 51"/>
          <p:cNvSpPr/>
          <p:nvPr/>
        </p:nvSpPr>
        <p:spPr bwMode="auto">
          <a:xfrm>
            <a:off x="4619286" y="4794665"/>
            <a:ext cx="561975" cy="460374"/>
          </a:xfrm>
          <a:prstGeom prst="rightArrow">
            <a:avLst/>
          </a:prstGeom>
          <a:solidFill>
            <a:srgbClr val="FF993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329885" y="4725497"/>
            <a:ext cx="3130379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得到了和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有效应力法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完全相同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的结果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62" name="Text Box 7"/>
          <p:cNvSpPr txBox="1">
            <a:spLocks noChangeArrowheads="1"/>
          </p:cNvSpPr>
          <p:nvPr/>
        </p:nvSpPr>
        <p:spPr bwMode="auto">
          <a:xfrm>
            <a:off x="-9526" y="0"/>
            <a:ext cx="63450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总应力和有效应力强度指标</a:t>
            </a:r>
          </a:p>
        </p:txBody>
      </p:sp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1925717" y="5749925"/>
            <a:ext cx="645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总应力指标与有效应力指标</a:t>
            </a:r>
          </a:p>
        </p:txBody>
      </p:sp>
      <p:grpSp>
        <p:nvGrpSpPr>
          <p:cNvPr id="60" name="Group 223"/>
          <p:cNvGrpSpPr>
            <a:grpSpLocks/>
          </p:cNvGrpSpPr>
          <p:nvPr/>
        </p:nvGrpSpPr>
        <p:grpSpPr bwMode="auto">
          <a:xfrm>
            <a:off x="172567" y="4081295"/>
            <a:ext cx="3582988" cy="1352550"/>
            <a:chOff x="2414" y="2451"/>
            <a:chExt cx="3009" cy="1065"/>
          </a:xfrm>
        </p:grpSpPr>
        <p:sp>
          <p:nvSpPr>
            <p:cNvPr id="61" name="Rectangle 224"/>
            <p:cNvSpPr>
              <a:spLocks noChangeArrowheads="1"/>
            </p:cNvSpPr>
            <p:nvPr/>
          </p:nvSpPr>
          <p:spPr bwMode="auto">
            <a:xfrm>
              <a:off x="2414" y="2953"/>
              <a:ext cx="3008" cy="563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225"/>
            <p:cNvSpPr>
              <a:spLocks noChangeShapeType="1"/>
            </p:cNvSpPr>
            <p:nvPr/>
          </p:nvSpPr>
          <p:spPr bwMode="auto">
            <a:xfrm>
              <a:off x="2414" y="2945"/>
              <a:ext cx="3009" cy="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AutoShape 226"/>
            <p:cNvSpPr>
              <a:spLocks noChangeArrowheads="1"/>
            </p:cNvSpPr>
            <p:nvPr/>
          </p:nvSpPr>
          <p:spPr bwMode="auto">
            <a:xfrm flipV="1">
              <a:off x="3510" y="2940"/>
              <a:ext cx="730" cy="336"/>
            </a:xfrm>
            <a:prstGeom prst="triangle">
              <a:avLst>
                <a:gd name="adj" fmla="val 50000"/>
              </a:avLst>
            </a:prstGeom>
            <a:noFill/>
            <a:ln w="25400" cap="sq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5" name="Freeform 227"/>
            <p:cNvSpPr>
              <a:spLocks/>
            </p:cNvSpPr>
            <p:nvPr/>
          </p:nvSpPr>
          <p:spPr bwMode="auto">
            <a:xfrm>
              <a:off x="3892" y="2945"/>
              <a:ext cx="1374" cy="544"/>
            </a:xfrm>
            <a:custGeom>
              <a:avLst/>
              <a:gdLst>
                <a:gd name="T0" fmla="*/ 0 w 1680"/>
                <a:gd name="T1" fmla="*/ 432 h 688"/>
                <a:gd name="T2" fmla="*/ 432 w 1680"/>
                <a:gd name="T3" fmla="*/ 672 h 688"/>
                <a:gd name="T4" fmla="*/ 912 w 1680"/>
                <a:gd name="T5" fmla="*/ 528 h 688"/>
                <a:gd name="T6" fmla="*/ 1680 w 1680"/>
                <a:gd name="T7" fmla="*/ 0 h 6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688"/>
                <a:gd name="T14" fmla="*/ 1680 w 1680"/>
                <a:gd name="T15" fmla="*/ 688 h 6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688">
                  <a:moveTo>
                    <a:pt x="0" y="432"/>
                  </a:moveTo>
                  <a:cubicBezTo>
                    <a:pt x="140" y="544"/>
                    <a:pt x="280" y="656"/>
                    <a:pt x="432" y="672"/>
                  </a:cubicBezTo>
                  <a:cubicBezTo>
                    <a:pt x="584" y="688"/>
                    <a:pt x="704" y="640"/>
                    <a:pt x="912" y="528"/>
                  </a:cubicBezTo>
                  <a:cubicBezTo>
                    <a:pt x="1120" y="416"/>
                    <a:pt x="1400" y="208"/>
                    <a:pt x="1680" y="0"/>
                  </a:cubicBezTo>
                </a:path>
              </a:pathLst>
            </a:custGeom>
            <a:noFill/>
            <a:ln w="25400" cap="sq" cmpd="sng">
              <a:solidFill>
                <a:srgbClr val="A5002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Freeform 228"/>
            <p:cNvSpPr>
              <a:spLocks/>
            </p:cNvSpPr>
            <p:nvPr/>
          </p:nvSpPr>
          <p:spPr bwMode="auto">
            <a:xfrm flipH="1">
              <a:off x="2524" y="2945"/>
              <a:ext cx="1331" cy="544"/>
            </a:xfrm>
            <a:custGeom>
              <a:avLst/>
              <a:gdLst>
                <a:gd name="T0" fmla="*/ 0 w 1680"/>
                <a:gd name="T1" fmla="*/ 432 h 688"/>
                <a:gd name="T2" fmla="*/ 432 w 1680"/>
                <a:gd name="T3" fmla="*/ 672 h 688"/>
                <a:gd name="T4" fmla="*/ 912 w 1680"/>
                <a:gd name="T5" fmla="*/ 528 h 688"/>
                <a:gd name="T6" fmla="*/ 1680 w 1680"/>
                <a:gd name="T7" fmla="*/ 0 h 6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688"/>
                <a:gd name="T14" fmla="*/ 1680 w 1680"/>
                <a:gd name="T15" fmla="*/ 688 h 6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688">
                  <a:moveTo>
                    <a:pt x="0" y="432"/>
                  </a:moveTo>
                  <a:cubicBezTo>
                    <a:pt x="140" y="544"/>
                    <a:pt x="280" y="656"/>
                    <a:pt x="432" y="672"/>
                  </a:cubicBezTo>
                  <a:cubicBezTo>
                    <a:pt x="584" y="688"/>
                    <a:pt x="704" y="640"/>
                    <a:pt x="912" y="528"/>
                  </a:cubicBezTo>
                  <a:cubicBezTo>
                    <a:pt x="1120" y="416"/>
                    <a:pt x="1400" y="208"/>
                    <a:pt x="1680" y="0"/>
                  </a:cubicBezTo>
                </a:path>
              </a:pathLst>
            </a:custGeom>
            <a:noFill/>
            <a:ln w="25400" cap="sq" cmpd="sng">
              <a:solidFill>
                <a:srgbClr val="A5002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Freeform 229"/>
            <p:cNvSpPr>
              <a:spLocks/>
            </p:cNvSpPr>
            <p:nvPr/>
          </p:nvSpPr>
          <p:spPr bwMode="auto">
            <a:xfrm rot="-688130">
              <a:off x="4371" y="3214"/>
              <a:ext cx="348" cy="55"/>
            </a:xfrm>
            <a:custGeom>
              <a:avLst/>
              <a:gdLst>
                <a:gd name="T0" fmla="*/ 0 w 348"/>
                <a:gd name="T1" fmla="*/ 32 h 55"/>
                <a:gd name="T2" fmla="*/ 144 w 348"/>
                <a:gd name="T3" fmla="*/ 54 h 55"/>
                <a:gd name="T4" fmla="*/ 259 w 348"/>
                <a:gd name="T5" fmla="*/ 41 h 55"/>
                <a:gd name="T6" fmla="*/ 348 w 34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8"/>
                <a:gd name="T13" fmla="*/ 0 h 55"/>
                <a:gd name="T14" fmla="*/ 348 w 34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8" h="55">
                  <a:moveTo>
                    <a:pt x="0" y="32"/>
                  </a:moveTo>
                  <a:cubicBezTo>
                    <a:pt x="24" y="36"/>
                    <a:pt x="101" y="53"/>
                    <a:pt x="144" y="54"/>
                  </a:cubicBezTo>
                  <a:cubicBezTo>
                    <a:pt x="187" y="55"/>
                    <a:pt x="225" y="50"/>
                    <a:pt x="259" y="41"/>
                  </a:cubicBezTo>
                  <a:cubicBezTo>
                    <a:pt x="293" y="32"/>
                    <a:pt x="322" y="16"/>
                    <a:pt x="348" y="0"/>
                  </a:cubicBez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230"/>
            <p:cNvSpPr>
              <a:spLocks/>
            </p:cNvSpPr>
            <p:nvPr/>
          </p:nvSpPr>
          <p:spPr bwMode="auto">
            <a:xfrm rot="688130" flipH="1">
              <a:off x="3086" y="3184"/>
              <a:ext cx="348" cy="55"/>
            </a:xfrm>
            <a:custGeom>
              <a:avLst/>
              <a:gdLst>
                <a:gd name="T0" fmla="*/ 0 w 348"/>
                <a:gd name="T1" fmla="*/ 32 h 55"/>
                <a:gd name="T2" fmla="*/ 144 w 348"/>
                <a:gd name="T3" fmla="*/ 54 h 55"/>
                <a:gd name="T4" fmla="*/ 259 w 348"/>
                <a:gd name="T5" fmla="*/ 41 h 55"/>
                <a:gd name="T6" fmla="*/ 348 w 34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8"/>
                <a:gd name="T13" fmla="*/ 0 h 55"/>
                <a:gd name="T14" fmla="*/ 348 w 34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8" h="55">
                  <a:moveTo>
                    <a:pt x="0" y="32"/>
                  </a:moveTo>
                  <a:cubicBezTo>
                    <a:pt x="24" y="36"/>
                    <a:pt x="101" y="53"/>
                    <a:pt x="144" y="54"/>
                  </a:cubicBezTo>
                  <a:cubicBezTo>
                    <a:pt x="187" y="55"/>
                    <a:pt x="225" y="50"/>
                    <a:pt x="259" y="41"/>
                  </a:cubicBezTo>
                  <a:cubicBezTo>
                    <a:pt x="293" y="32"/>
                    <a:pt x="322" y="16"/>
                    <a:pt x="348" y="0"/>
                  </a:cubicBez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231"/>
            <p:cNvSpPr>
              <a:spLocks noChangeArrowheads="1"/>
            </p:cNvSpPr>
            <p:nvPr/>
          </p:nvSpPr>
          <p:spPr bwMode="auto">
            <a:xfrm>
              <a:off x="3553" y="2451"/>
              <a:ext cx="638" cy="42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Rectangle 232" descr="深色上对角线"/>
            <p:cNvSpPr>
              <a:spLocks noChangeArrowheads="1"/>
            </p:cNvSpPr>
            <p:nvPr/>
          </p:nvSpPr>
          <p:spPr bwMode="auto">
            <a:xfrm>
              <a:off x="3509" y="2849"/>
              <a:ext cx="730" cy="96"/>
            </a:xfrm>
            <a:prstGeom prst="rect">
              <a:avLst/>
            </a:prstGeom>
            <a:pattFill prst="dkUpDiag">
              <a:fgClr>
                <a:srgbClr val="990000"/>
              </a:fgClr>
              <a:bgClr>
                <a:srgbClr val="FFFFFF"/>
              </a:bgClr>
            </a:pattFill>
            <a:ln w="12700" cap="sq">
              <a:solidFill>
                <a:srgbClr val="99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Rectangle 233"/>
            <p:cNvSpPr>
              <a:spLocks noChangeArrowheads="1"/>
            </p:cNvSpPr>
            <p:nvPr/>
          </p:nvSpPr>
          <p:spPr bwMode="auto">
            <a:xfrm>
              <a:off x="3713" y="2576"/>
              <a:ext cx="157" cy="13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234"/>
            <p:cNvSpPr>
              <a:spLocks noChangeShapeType="1"/>
            </p:cNvSpPr>
            <p:nvPr/>
          </p:nvSpPr>
          <p:spPr bwMode="auto">
            <a:xfrm>
              <a:off x="3713" y="2643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235"/>
            <p:cNvSpPr>
              <a:spLocks noChangeShapeType="1"/>
            </p:cNvSpPr>
            <p:nvPr/>
          </p:nvSpPr>
          <p:spPr bwMode="auto">
            <a:xfrm>
              <a:off x="3799" y="2576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" name="Rectangle 4"/>
          <p:cNvSpPr>
            <a:spLocks noChangeArrowheads="1"/>
          </p:cNvSpPr>
          <p:nvPr/>
        </p:nvSpPr>
        <p:spPr bwMode="auto">
          <a:xfrm>
            <a:off x="4519745" y="3662853"/>
            <a:ext cx="3517242" cy="99209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</a:pP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+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=1.25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=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 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2727593" y="4085003"/>
            <a:ext cx="1252266" cy="1025725"/>
            <a:chOff x="2673521" y="1514104"/>
            <a:chExt cx="1252266" cy="1025725"/>
          </a:xfrm>
        </p:grpSpPr>
        <p:sp>
          <p:nvSpPr>
            <p:cNvPr id="76" name="椭圆 75"/>
            <p:cNvSpPr/>
            <p:nvPr/>
          </p:nvSpPr>
          <p:spPr bwMode="auto">
            <a:xfrm>
              <a:off x="2988129" y="2441858"/>
              <a:ext cx="97971" cy="97971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cxnSp>
          <p:nvCxnSpPr>
            <p:cNvPr id="77" name="直接箭头连接符 76"/>
            <p:cNvCxnSpPr/>
            <p:nvPr/>
          </p:nvCxnSpPr>
          <p:spPr bwMode="auto">
            <a:xfrm flipV="1">
              <a:off x="3033346" y="1992086"/>
              <a:ext cx="69083" cy="42381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8" name="矩形 77"/>
            <p:cNvSpPr/>
            <p:nvPr/>
          </p:nvSpPr>
          <p:spPr>
            <a:xfrm>
              <a:off x="2673521" y="1514104"/>
              <a:ext cx="1252266" cy="4462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i="1" kern="100" dirty="0" err="1" smtClean="0">
                  <a:ea typeface="宋体" panose="02010600030101010101" pitchFamily="2" charset="-122"/>
                </a:rPr>
                <a:t>u</a:t>
              </a:r>
              <a:r>
                <a:rPr lang="en-US" altLang="zh-CN" sz="2000" b="1" kern="100" baseline="-25000" dirty="0" err="1" smtClean="0">
                  <a:ea typeface="宋体" panose="02010600030101010101" pitchFamily="2" charset="-122"/>
                </a:rPr>
                <a:t>f</a:t>
              </a:r>
              <a:r>
                <a:rPr lang="en-US" altLang="zh-CN" sz="2000" b="1" kern="100" dirty="0" smtClean="0">
                  <a:ea typeface="宋体" panose="02010600030101010101" pitchFamily="2" charset="-122"/>
                </a:rPr>
                <a:t>/</a:t>
              </a:r>
              <a:r>
                <a:rPr lang="en-US" altLang="zh-CN" sz="2000" b="1" i="1" kern="100" dirty="0" smtClean="0">
                  <a:ea typeface="宋体" panose="02010600030101010101" pitchFamily="2" charset="-122"/>
                </a:rPr>
                <a:t>σ</a:t>
              </a:r>
              <a:r>
                <a:rPr lang="en-US" altLang="zh-CN" sz="2000" b="1" kern="100" dirty="0" smtClean="0"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r>
                <a:rPr lang="en-US" altLang="zh-CN" sz="2000" b="1" kern="100" dirty="0" smtClean="0">
                  <a:ea typeface="宋体" panose="02010600030101010101" pitchFamily="2" charset="-122"/>
                </a:rPr>
                <a:t>=0.25</a:t>
              </a:r>
              <a:endParaRPr lang="zh-CN" altLang="en-US" sz="2000" b="1" dirty="0"/>
            </a:p>
          </p:txBody>
        </p:sp>
      </p:grpSp>
      <p:sp>
        <p:nvSpPr>
          <p:cNvPr id="79" name="矩形 78"/>
          <p:cNvSpPr/>
          <p:nvPr/>
        </p:nvSpPr>
        <p:spPr>
          <a:xfrm>
            <a:off x="4089034" y="3156248"/>
            <a:ext cx="3934090" cy="4792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采用总应力分析方法分析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4108084" y="684652"/>
            <a:ext cx="5035916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采用不排水试验确定强度参数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81" name="Rectangle 4"/>
          <p:cNvSpPr>
            <a:spLocks noChangeArrowheads="1"/>
          </p:cNvSpPr>
          <p:nvPr/>
        </p:nvSpPr>
        <p:spPr bwMode="auto">
          <a:xfrm>
            <a:off x="4421320" y="2463386"/>
            <a:ext cx="1820730" cy="509653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</a:pP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endParaRPr lang="en-US" altLang="zh-CN" sz="2400" b="1" i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82" name="Rectangle 4"/>
          <p:cNvSpPr>
            <a:spLocks noChangeArrowheads="1"/>
          </p:cNvSpPr>
          <p:nvPr/>
        </p:nvSpPr>
        <p:spPr bwMode="auto">
          <a:xfrm>
            <a:off x="6815270" y="1889537"/>
            <a:ext cx="2214430" cy="509653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=1.25tan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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83" name="右大括号 82"/>
          <p:cNvSpPr/>
          <p:nvPr/>
        </p:nvSpPr>
        <p:spPr bwMode="auto">
          <a:xfrm>
            <a:off x="6540500" y="1455389"/>
            <a:ext cx="190500" cy="1422401"/>
          </a:xfrm>
          <a:prstGeom prst="rightBrace">
            <a:avLst>
              <a:gd name="adj1" fmla="val 38452"/>
              <a:gd name="adj2" fmla="val 47786"/>
            </a:avLst>
          </a:prstGeom>
          <a:noFill/>
          <a:ln w="19050" cap="flat" cmpd="sng" algn="ctr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84" name="Rectangle 4"/>
          <p:cNvSpPr>
            <a:spLocks noChangeArrowheads="1"/>
          </p:cNvSpPr>
          <p:nvPr/>
        </p:nvSpPr>
        <p:spPr bwMode="auto">
          <a:xfrm>
            <a:off x="4430713" y="1161636"/>
            <a:ext cx="2211387" cy="1474853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75000"/>
            </a:pP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75000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+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75000"/>
            </a:pP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=1.25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1080286" y="1365131"/>
            <a:ext cx="1836694" cy="2557426"/>
            <a:chOff x="819420" y="3058887"/>
            <a:chExt cx="1836694" cy="2557426"/>
          </a:xfrm>
        </p:grpSpPr>
        <p:sp>
          <p:nvSpPr>
            <p:cNvPr id="86" name="Text Box 10"/>
            <p:cNvSpPr txBox="1">
              <a:spLocks noChangeArrowheads="1"/>
            </p:cNvSpPr>
            <p:nvPr/>
          </p:nvSpPr>
          <p:spPr bwMode="auto">
            <a:xfrm>
              <a:off x="1626896" y="3058887"/>
              <a:ext cx="512976" cy="339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1f</a:t>
              </a:r>
              <a:endParaRPr lang="en-US" altLang="zh-CN" sz="20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819420" y="3266238"/>
              <a:ext cx="1836694" cy="2350075"/>
              <a:chOff x="819420" y="3266238"/>
              <a:chExt cx="1836694" cy="2350075"/>
            </a:xfrm>
          </p:grpSpPr>
          <p:sp>
            <p:nvSpPr>
              <p:cNvPr id="88" name="Text Box 6"/>
              <p:cNvSpPr txBox="1">
                <a:spLocks noChangeArrowheads="1"/>
              </p:cNvSpPr>
              <p:nvPr/>
            </p:nvSpPr>
            <p:spPr bwMode="auto">
              <a:xfrm>
                <a:off x="2161912" y="4029878"/>
                <a:ext cx="49420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endParaRPr lang="en-US" altLang="zh-CN" sz="20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89" name="Rectangle 8"/>
              <p:cNvSpPr>
                <a:spLocks noChangeArrowheads="1"/>
              </p:cNvSpPr>
              <p:nvPr/>
            </p:nvSpPr>
            <p:spPr bwMode="auto">
              <a:xfrm>
                <a:off x="1213837" y="3678382"/>
                <a:ext cx="765632" cy="1533026"/>
              </a:xfrm>
              <a:prstGeom prst="rect">
                <a:avLst/>
              </a:prstGeom>
              <a:solidFill>
                <a:srgbClr val="CC9900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0" name="Line 9"/>
              <p:cNvSpPr>
                <a:spLocks noChangeAspect="1" noChangeShapeType="1"/>
              </p:cNvSpPr>
              <p:nvPr/>
            </p:nvSpPr>
            <p:spPr bwMode="auto">
              <a:xfrm>
                <a:off x="1592434" y="3266238"/>
                <a:ext cx="0" cy="432000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1" name="Line 11"/>
              <p:cNvSpPr>
                <a:spLocks noChangeAspect="1" noChangeShapeType="1"/>
              </p:cNvSpPr>
              <p:nvPr/>
            </p:nvSpPr>
            <p:spPr bwMode="auto">
              <a:xfrm flipH="1">
                <a:off x="1981579" y="4444609"/>
                <a:ext cx="391253" cy="0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2" name="Line 12"/>
              <p:cNvSpPr>
                <a:spLocks noChangeAspect="1" noChangeShapeType="1"/>
              </p:cNvSpPr>
              <p:nvPr/>
            </p:nvSpPr>
            <p:spPr bwMode="auto">
              <a:xfrm rot="10800000" flipH="1">
                <a:off x="819420" y="4440461"/>
                <a:ext cx="368052" cy="0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3" name="Line 13"/>
              <p:cNvSpPr>
                <a:spLocks noChangeAspect="1" noChangeShapeType="1"/>
              </p:cNvSpPr>
              <p:nvPr/>
            </p:nvSpPr>
            <p:spPr bwMode="auto">
              <a:xfrm rot="10800000">
                <a:off x="1593489" y="5184313"/>
                <a:ext cx="0" cy="432000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4" name="Text Box 6"/>
              <p:cNvSpPr txBox="1">
                <a:spLocks noChangeArrowheads="1"/>
              </p:cNvSpPr>
              <p:nvPr/>
            </p:nvSpPr>
            <p:spPr bwMode="auto">
              <a:xfrm>
                <a:off x="1271718" y="3907971"/>
                <a:ext cx="41556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 smtClean="0">
                    <a:solidFill>
                      <a:srgbClr val="A50021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000" b="1" dirty="0" smtClean="0">
                    <a:solidFill>
                      <a:srgbClr val="A50021"/>
                    </a:solidFill>
                    <a:ea typeface="幼圆" pitchFamily="49" charset="-122"/>
                    <a:cs typeface="Times New Roman" panose="02020603050405020304" pitchFamily="18" charset="0"/>
                    <a:sym typeface="Symbol"/>
                  </a:rPr>
                  <a:t></a:t>
                </a:r>
                <a:endParaRPr lang="en-US" altLang="zh-CN" sz="2000" b="1" dirty="0">
                  <a:solidFill>
                    <a:srgbClr val="A50021"/>
                  </a:solidFill>
                  <a:latin typeface="Symbol" panose="05050102010706020507" pitchFamily="18" charset="2"/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95" name="Text Box 6"/>
              <p:cNvSpPr txBox="1">
                <a:spLocks noChangeArrowheads="1"/>
              </p:cNvSpPr>
              <p:nvPr/>
            </p:nvSpPr>
            <p:spPr bwMode="auto">
              <a:xfrm>
                <a:off x="1143001" y="4241485"/>
                <a:ext cx="4301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i="1" dirty="0" smtClean="0">
                    <a:solidFill>
                      <a:srgbClr val="A50021"/>
                    </a:solidFill>
                    <a:ea typeface="幼圆" pitchFamily="49" charset="-122"/>
                    <a:cs typeface="Times New Roman" panose="02020603050405020304" pitchFamily="18" charset="0"/>
                    <a:sym typeface="Symbol"/>
                  </a:rPr>
                  <a:t></a:t>
                </a:r>
                <a:r>
                  <a:rPr lang="en-US" altLang="zh-CN" sz="2000" b="1" baseline="-25000" dirty="0" smtClean="0">
                    <a:solidFill>
                      <a:srgbClr val="A50021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f</a:t>
                </a:r>
                <a:endParaRPr lang="en-US" altLang="zh-CN" sz="20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grpSp>
            <p:nvGrpSpPr>
              <p:cNvPr id="96" name="组合 95"/>
              <p:cNvGrpSpPr/>
              <p:nvPr/>
            </p:nvGrpSpPr>
            <p:grpSpPr>
              <a:xfrm rot="21368988">
                <a:off x="1081890" y="3586465"/>
                <a:ext cx="1108061" cy="1658094"/>
                <a:chOff x="5294919" y="1858907"/>
                <a:chExt cx="1306710" cy="1955350"/>
              </a:xfrm>
            </p:grpSpPr>
            <p:sp>
              <p:nvSpPr>
                <p:cNvPr id="97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5294919" y="1858907"/>
                  <a:ext cx="1306710" cy="1955350"/>
                </a:xfrm>
                <a:prstGeom prst="line">
                  <a:avLst/>
                </a:prstGeom>
                <a:noFill/>
                <a:ln w="19050">
                  <a:solidFill>
                    <a:srgbClr val="A5002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 bwMode="auto">
                <a:xfrm rot="18093548">
                  <a:off x="5800672" y="2740756"/>
                  <a:ext cx="296228" cy="185636"/>
                </a:xfrm>
                <a:prstGeom prst="rect">
                  <a:avLst/>
                </a:prstGeom>
                <a:solidFill>
                  <a:srgbClr val="FFFF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0000" tIns="46800" rIns="90000" bIns="468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358775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charset="-122"/>
                  </a:endParaRPr>
                </a:p>
              </p:txBody>
            </p:sp>
            <p:cxnSp>
              <p:nvCxnSpPr>
                <p:cNvPr id="99" name="直接箭头连接符 98"/>
                <p:cNvCxnSpPr/>
                <p:nvPr/>
              </p:nvCxnSpPr>
              <p:spPr bwMode="auto">
                <a:xfrm>
                  <a:off x="5639175" y="2621886"/>
                  <a:ext cx="184861" cy="118970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rgbClr val="A50021"/>
                  </a:solidFill>
                  <a:prstDash val="solid"/>
                  <a:round/>
                  <a:headEnd type="none" w="med" len="med"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0" name="直接箭头连接符 99"/>
                <p:cNvCxnSpPr/>
                <p:nvPr/>
              </p:nvCxnSpPr>
              <p:spPr bwMode="auto">
                <a:xfrm flipH="1">
                  <a:off x="5771451" y="2658839"/>
                  <a:ext cx="122914" cy="190992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rgbClr val="A50021"/>
                  </a:solidFill>
                  <a:prstDash val="solid"/>
                  <a:round/>
                  <a:headEnd type="none" w="med" len="med"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grpSp>
        <p:nvGrpSpPr>
          <p:cNvPr id="101" name="组合 100"/>
          <p:cNvGrpSpPr/>
          <p:nvPr/>
        </p:nvGrpSpPr>
        <p:grpSpPr>
          <a:xfrm>
            <a:off x="2022742" y="1838542"/>
            <a:ext cx="1474878" cy="601550"/>
            <a:chOff x="1761876" y="3532298"/>
            <a:chExt cx="1474878" cy="601550"/>
          </a:xfrm>
        </p:grpSpPr>
        <p:sp>
          <p:nvSpPr>
            <p:cNvPr id="102" name="矩形 101"/>
            <p:cNvSpPr/>
            <p:nvPr/>
          </p:nvSpPr>
          <p:spPr>
            <a:xfrm>
              <a:off x="2174860" y="3532298"/>
              <a:ext cx="1061894" cy="3535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i="1" kern="100" dirty="0" err="1" smtClean="0">
                  <a:ea typeface="宋体" panose="02010600030101010101" pitchFamily="2" charset="-122"/>
                </a:rPr>
                <a:t>u</a:t>
              </a:r>
              <a:r>
                <a:rPr lang="en-US" altLang="zh-CN" sz="2000" b="1" kern="100" baseline="-25000" dirty="0" err="1" smtClean="0">
                  <a:ea typeface="宋体" panose="02010600030101010101" pitchFamily="2" charset="-122"/>
                </a:rPr>
                <a:t>f</a:t>
              </a:r>
              <a:r>
                <a:rPr lang="en-US" altLang="zh-CN" sz="2000" b="1" kern="100" dirty="0" smtClean="0">
                  <a:ea typeface="宋体" panose="02010600030101010101" pitchFamily="2" charset="-122"/>
                </a:rPr>
                <a:t>/</a:t>
              </a:r>
              <a:r>
                <a:rPr lang="en-US" altLang="zh-CN" sz="2000" b="1" i="1" kern="100" dirty="0" smtClean="0">
                  <a:ea typeface="宋体" panose="02010600030101010101" pitchFamily="2" charset="-122"/>
                </a:rPr>
                <a:t>σ</a:t>
              </a:r>
              <a:r>
                <a:rPr lang="en-US" altLang="zh-CN" sz="2000" b="1" kern="100" dirty="0" smtClean="0">
                  <a:ea typeface="宋体" panose="02010600030101010101" pitchFamily="2" charset="-122"/>
                  <a:sym typeface="Symbol" panose="05050102010706020507" pitchFamily="18" charset="2"/>
                </a:rPr>
                <a:t></a:t>
              </a:r>
              <a:r>
                <a:rPr lang="en-US" altLang="zh-CN" sz="2000" b="1" kern="100" dirty="0" smtClean="0">
                  <a:ea typeface="宋体" panose="02010600030101010101" pitchFamily="2" charset="-122"/>
                </a:rPr>
                <a:t>=0.25</a:t>
              </a:r>
              <a:endParaRPr lang="zh-CN" altLang="en-US" sz="2000" b="1" dirty="0"/>
            </a:p>
          </p:txBody>
        </p:sp>
        <p:cxnSp>
          <p:nvCxnSpPr>
            <p:cNvPr id="103" name="直接箭头连接符 102"/>
            <p:cNvCxnSpPr/>
            <p:nvPr/>
          </p:nvCxnSpPr>
          <p:spPr bwMode="auto">
            <a:xfrm flipV="1">
              <a:off x="1833813" y="3913480"/>
              <a:ext cx="517045" cy="1746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4" name="椭圆 103"/>
            <p:cNvSpPr/>
            <p:nvPr/>
          </p:nvSpPr>
          <p:spPr bwMode="auto">
            <a:xfrm>
              <a:off x="1761876" y="4050771"/>
              <a:ext cx="83077" cy="83077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05" name="Text Box 5"/>
          <p:cNvSpPr txBox="1">
            <a:spLocks noChangeArrowheads="1"/>
          </p:cNvSpPr>
          <p:nvPr/>
        </p:nvSpPr>
        <p:spPr bwMode="auto">
          <a:xfrm>
            <a:off x="921160" y="704386"/>
            <a:ext cx="30656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</a:pPr>
            <a:r>
              <a:rPr lang="en-US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17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、假想案例讨论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6" name="Picture 2" descr="H:\timg (1)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12" y="498293"/>
            <a:ext cx="715303" cy="106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矩形 106"/>
          <p:cNvSpPr/>
          <p:nvPr/>
        </p:nvSpPr>
        <p:spPr bwMode="auto">
          <a:xfrm>
            <a:off x="228175" y="448056"/>
            <a:ext cx="3786041" cy="1051560"/>
          </a:xfrm>
          <a:prstGeom prst="rect">
            <a:avLst/>
          </a:prstGeom>
          <a:noFill/>
          <a:ln w="12700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31840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6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63450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总应力和有效应力强度指标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33413" y="530565"/>
            <a:ext cx="56496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真实破裂面的方向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3128140" y="2887161"/>
            <a:ext cx="452114" cy="425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endParaRPr lang="en-US" altLang="zh-CN" sz="2000" b="1" dirty="0"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921453" y="2356655"/>
            <a:ext cx="974478" cy="1951198"/>
          </a:xfrm>
          <a:prstGeom prst="rect">
            <a:avLst/>
          </a:prstGeom>
          <a:solidFill>
            <a:srgbClr val="CC9900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" name="Line 9"/>
          <p:cNvSpPr>
            <a:spLocks noChangeAspect="1" noChangeShapeType="1"/>
          </p:cNvSpPr>
          <p:nvPr/>
        </p:nvSpPr>
        <p:spPr bwMode="auto">
          <a:xfrm>
            <a:off x="2403324" y="1873655"/>
            <a:ext cx="0" cy="488278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2461039" y="1803713"/>
            <a:ext cx="551054" cy="431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1f</a:t>
            </a:r>
            <a:endParaRPr lang="en-US" altLang="zh-CN" sz="2000" b="1" dirty="0"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7" name="Line 11"/>
          <p:cNvSpPr>
            <a:spLocks noChangeAspect="1" noChangeShapeType="1"/>
          </p:cNvSpPr>
          <p:nvPr/>
        </p:nvSpPr>
        <p:spPr bwMode="auto">
          <a:xfrm flipH="1">
            <a:off x="2898617" y="3331889"/>
            <a:ext cx="497977" cy="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8" name="Line 12"/>
          <p:cNvSpPr>
            <a:spLocks noChangeAspect="1" noChangeShapeType="1"/>
          </p:cNvSpPr>
          <p:nvPr/>
        </p:nvSpPr>
        <p:spPr bwMode="auto">
          <a:xfrm rot="10800000" flipH="1">
            <a:off x="1419449" y="3326611"/>
            <a:ext cx="468447" cy="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9" name="Line 13"/>
          <p:cNvSpPr>
            <a:spLocks noChangeAspect="1" noChangeShapeType="1"/>
          </p:cNvSpPr>
          <p:nvPr/>
        </p:nvSpPr>
        <p:spPr bwMode="auto">
          <a:xfrm rot="10800000">
            <a:off x="2404665" y="4279655"/>
            <a:ext cx="0" cy="488278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 flipH="1">
            <a:off x="1744858" y="2239957"/>
            <a:ext cx="1419725" cy="2132584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17093"/>
              </p:ext>
            </p:extLst>
          </p:nvPr>
        </p:nvGraphicFramePr>
        <p:xfrm>
          <a:off x="3244527" y="2058701"/>
          <a:ext cx="1125056" cy="5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626" name="公式" r:id="rId4" imgW="761760" imgH="393480" progId="Equation.3">
                  <p:embed/>
                </p:oleObj>
              </mc:Choice>
              <mc:Fallback>
                <p:oleObj name="公式" r:id="rId4" imgW="761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527" y="2058701"/>
                        <a:ext cx="1125056" cy="5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/>
          <p:cNvSpPr/>
          <p:nvPr/>
        </p:nvSpPr>
        <p:spPr bwMode="auto">
          <a:xfrm rot="18093548">
            <a:off x="2300122" y="3191724"/>
            <a:ext cx="319715" cy="20035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 bwMode="auto">
          <a:xfrm flipH="1">
            <a:off x="2268585" y="3103312"/>
            <a:ext cx="132659" cy="206134"/>
          </a:xfrm>
          <a:prstGeom prst="straightConnector1">
            <a:avLst/>
          </a:prstGeom>
          <a:noFill/>
          <a:ln w="28575" cap="flat" cmpd="sng" algn="ctr">
            <a:solidFill>
              <a:srgbClr val="A50021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箭头连接符 36"/>
          <p:cNvCxnSpPr/>
          <p:nvPr/>
        </p:nvCxnSpPr>
        <p:spPr bwMode="auto">
          <a:xfrm>
            <a:off x="2125821" y="3063429"/>
            <a:ext cx="199518" cy="128403"/>
          </a:xfrm>
          <a:prstGeom prst="straightConnector1">
            <a:avLst/>
          </a:prstGeom>
          <a:noFill/>
          <a:ln w="28575" cap="flat" cmpd="sng" algn="ctr">
            <a:solidFill>
              <a:srgbClr val="A50021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连接符 40"/>
          <p:cNvCxnSpPr/>
          <p:nvPr/>
        </p:nvCxnSpPr>
        <p:spPr bwMode="auto">
          <a:xfrm>
            <a:off x="2979032" y="2519726"/>
            <a:ext cx="27977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任意多边形 41"/>
          <p:cNvSpPr/>
          <p:nvPr/>
        </p:nvSpPr>
        <p:spPr bwMode="auto">
          <a:xfrm>
            <a:off x="3067714" y="2383537"/>
            <a:ext cx="107805" cy="139356"/>
          </a:xfrm>
          <a:custGeom>
            <a:avLst/>
            <a:gdLst>
              <a:gd name="connsiteX0" fmla="*/ 104140 w 104140"/>
              <a:gd name="connsiteY0" fmla="*/ 134620 h 134620"/>
              <a:gd name="connsiteX1" fmla="*/ 76200 w 104140"/>
              <a:gd name="connsiteY1" fmla="*/ 45720 h 134620"/>
              <a:gd name="connsiteX2" fmla="*/ 0 w 104140"/>
              <a:gd name="connsiteY2" fmla="*/ 0 h 13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140" h="134620">
                <a:moveTo>
                  <a:pt x="104140" y="134620"/>
                </a:moveTo>
                <a:cubicBezTo>
                  <a:pt x="98848" y="101388"/>
                  <a:pt x="93557" y="68157"/>
                  <a:pt x="76200" y="45720"/>
                </a:cubicBezTo>
                <a:cubicBezTo>
                  <a:pt x="58843" y="23283"/>
                  <a:pt x="29421" y="11641"/>
                  <a:pt x="0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43" name="Text Box 6"/>
          <p:cNvSpPr txBox="1">
            <a:spLocks noChangeArrowheads="1"/>
          </p:cNvSpPr>
          <p:nvPr/>
        </p:nvSpPr>
        <p:spPr bwMode="auto">
          <a:xfrm>
            <a:off x="1931159" y="3089691"/>
            <a:ext cx="442342" cy="425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</a:t>
            </a:r>
            <a:r>
              <a:rPr lang="en-US" altLang="zh-CN" sz="2000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endParaRPr lang="en-US" altLang="zh-CN" sz="20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2033638" y="2715552"/>
            <a:ext cx="367127" cy="431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endParaRPr lang="en-US" altLang="zh-CN" sz="2000" b="1" dirty="0">
              <a:solidFill>
                <a:srgbClr val="A50021"/>
              </a:solidFill>
              <a:latin typeface="Symbol" panose="05050102010706020507" pitchFamily="18" charset="2"/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7" name="Text Box 10"/>
          <p:cNvSpPr txBox="1">
            <a:spLocks noChangeArrowheads="1"/>
          </p:cNvSpPr>
          <p:nvPr/>
        </p:nvSpPr>
        <p:spPr bwMode="auto">
          <a:xfrm>
            <a:off x="2369606" y="3787760"/>
            <a:ext cx="563691" cy="498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baseline="-25000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endParaRPr lang="en-US" altLang="zh-CN" sz="2400" b="1" baseline="-25000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51" name="Text Box 6"/>
          <p:cNvSpPr txBox="1">
            <a:spLocks noChangeArrowheads="1"/>
          </p:cNvSpPr>
          <p:nvPr/>
        </p:nvSpPr>
        <p:spPr bwMode="auto">
          <a:xfrm>
            <a:off x="7353881" y="2879776"/>
            <a:ext cx="452114" cy="425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endParaRPr lang="en-US" altLang="zh-CN" sz="2000" b="1" dirty="0"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52" name="Rectangle 8"/>
          <p:cNvSpPr>
            <a:spLocks noChangeArrowheads="1"/>
          </p:cNvSpPr>
          <p:nvPr/>
        </p:nvSpPr>
        <p:spPr bwMode="auto">
          <a:xfrm>
            <a:off x="6147193" y="2349270"/>
            <a:ext cx="974478" cy="1951198"/>
          </a:xfrm>
          <a:prstGeom prst="rect">
            <a:avLst/>
          </a:prstGeom>
          <a:solidFill>
            <a:srgbClr val="CC9900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53" name="Line 9"/>
          <p:cNvSpPr>
            <a:spLocks noChangeAspect="1" noChangeShapeType="1"/>
          </p:cNvSpPr>
          <p:nvPr/>
        </p:nvSpPr>
        <p:spPr bwMode="auto">
          <a:xfrm>
            <a:off x="6629062" y="1866270"/>
            <a:ext cx="0" cy="488278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4" name="Text Box 10"/>
          <p:cNvSpPr txBox="1">
            <a:spLocks noChangeArrowheads="1"/>
          </p:cNvSpPr>
          <p:nvPr/>
        </p:nvSpPr>
        <p:spPr bwMode="auto">
          <a:xfrm>
            <a:off x="6686780" y="1796328"/>
            <a:ext cx="652903" cy="431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1f</a:t>
            </a:r>
            <a:endParaRPr lang="en-US" altLang="zh-CN" sz="2000" b="1" dirty="0"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55" name="Line 11"/>
          <p:cNvSpPr>
            <a:spLocks noChangeAspect="1" noChangeShapeType="1"/>
          </p:cNvSpPr>
          <p:nvPr/>
        </p:nvSpPr>
        <p:spPr bwMode="auto">
          <a:xfrm flipH="1">
            <a:off x="7124357" y="3324504"/>
            <a:ext cx="497977" cy="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6" name="Line 12"/>
          <p:cNvSpPr>
            <a:spLocks noChangeAspect="1" noChangeShapeType="1"/>
          </p:cNvSpPr>
          <p:nvPr/>
        </p:nvSpPr>
        <p:spPr bwMode="auto">
          <a:xfrm rot="10800000" flipH="1">
            <a:off x="5645189" y="3319226"/>
            <a:ext cx="468447" cy="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7" name="Line 13"/>
          <p:cNvSpPr>
            <a:spLocks noChangeAspect="1" noChangeShapeType="1"/>
          </p:cNvSpPr>
          <p:nvPr/>
        </p:nvSpPr>
        <p:spPr bwMode="auto">
          <a:xfrm rot="10800000">
            <a:off x="6630405" y="4285977"/>
            <a:ext cx="0" cy="488278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814954"/>
              </p:ext>
            </p:extLst>
          </p:nvPr>
        </p:nvGraphicFramePr>
        <p:xfrm>
          <a:off x="7415597" y="1979888"/>
          <a:ext cx="1181415" cy="599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627" name="公式" r:id="rId6" imgW="799920" imgH="406080" progId="Equation.3">
                  <p:embed/>
                </p:oleObj>
              </mc:Choice>
              <mc:Fallback>
                <p:oleObj name="公式" r:id="rId6" imgW="7999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597" y="1979888"/>
                        <a:ext cx="1181415" cy="5997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直接连接符 62"/>
          <p:cNvCxnSpPr/>
          <p:nvPr/>
        </p:nvCxnSpPr>
        <p:spPr bwMode="auto">
          <a:xfrm>
            <a:off x="7178198" y="2436708"/>
            <a:ext cx="27977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任意多边形 63"/>
          <p:cNvSpPr/>
          <p:nvPr/>
        </p:nvSpPr>
        <p:spPr bwMode="auto">
          <a:xfrm>
            <a:off x="7267302" y="2289991"/>
            <a:ext cx="115948" cy="149883"/>
          </a:xfrm>
          <a:custGeom>
            <a:avLst/>
            <a:gdLst>
              <a:gd name="connsiteX0" fmla="*/ 104140 w 104140"/>
              <a:gd name="connsiteY0" fmla="*/ 134620 h 134620"/>
              <a:gd name="connsiteX1" fmla="*/ 76200 w 104140"/>
              <a:gd name="connsiteY1" fmla="*/ 45720 h 134620"/>
              <a:gd name="connsiteX2" fmla="*/ 0 w 104140"/>
              <a:gd name="connsiteY2" fmla="*/ 0 h 13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140" h="134620">
                <a:moveTo>
                  <a:pt x="104140" y="134620"/>
                </a:moveTo>
                <a:cubicBezTo>
                  <a:pt x="98848" y="101388"/>
                  <a:pt x="93557" y="68157"/>
                  <a:pt x="76200" y="45720"/>
                </a:cubicBezTo>
                <a:cubicBezTo>
                  <a:pt x="58843" y="23283"/>
                  <a:pt x="29421" y="11641"/>
                  <a:pt x="0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66" name="Text Box 6"/>
          <p:cNvSpPr txBox="1">
            <a:spLocks noChangeArrowheads="1"/>
          </p:cNvSpPr>
          <p:nvPr/>
        </p:nvSpPr>
        <p:spPr bwMode="auto">
          <a:xfrm>
            <a:off x="6248573" y="2682956"/>
            <a:ext cx="436331" cy="431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</a:t>
            </a:r>
            <a:endParaRPr lang="en-US" altLang="zh-CN" sz="2000" b="1" dirty="0">
              <a:solidFill>
                <a:srgbClr val="A50021"/>
              </a:solidFill>
              <a:latin typeface="Symbol" panose="05050102010706020507" pitchFamily="18" charset="2"/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7" name="Text Box 10"/>
          <p:cNvSpPr txBox="1">
            <a:spLocks noChangeArrowheads="1"/>
          </p:cNvSpPr>
          <p:nvPr/>
        </p:nvSpPr>
        <p:spPr bwMode="auto">
          <a:xfrm>
            <a:off x="6595345" y="3780375"/>
            <a:ext cx="563691" cy="498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endParaRPr lang="en-US" altLang="zh-CN" sz="2400" b="1" baseline="-25000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5" name="Text Box 6"/>
          <p:cNvSpPr txBox="1">
            <a:spLocks noChangeArrowheads="1"/>
          </p:cNvSpPr>
          <p:nvPr/>
        </p:nvSpPr>
        <p:spPr bwMode="auto">
          <a:xfrm>
            <a:off x="6162174" y="3065974"/>
            <a:ext cx="442342" cy="425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</a:t>
            </a:r>
            <a:r>
              <a:rPr lang="en-US" altLang="zh-CN" sz="2000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endParaRPr lang="en-US" altLang="zh-CN" sz="20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68" name="组合 67"/>
          <p:cNvGrpSpPr/>
          <p:nvPr/>
        </p:nvGrpSpPr>
        <p:grpSpPr>
          <a:xfrm rot="21368988">
            <a:off x="5979254" y="2232281"/>
            <a:ext cx="1410314" cy="2110381"/>
            <a:chOff x="5294919" y="1858907"/>
            <a:chExt cx="1306710" cy="1955350"/>
          </a:xfrm>
        </p:grpSpPr>
        <p:sp>
          <p:nvSpPr>
            <p:cNvPr id="58" name="Line 24"/>
            <p:cNvSpPr>
              <a:spLocks noChangeShapeType="1"/>
            </p:cNvSpPr>
            <p:nvPr/>
          </p:nvSpPr>
          <p:spPr bwMode="auto">
            <a:xfrm flipH="1">
              <a:off x="5294919" y="1858907"/>
              <a:ext cx="1306710" cy="1955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 bwMode="auto">
            <a:xfrm rot="18093548">
              <a:off x="5800672" y="2740756"/>
              <a:ext cx="296228" cy="185636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cxnSp>
          <p:nvCxnSpPr>
            <p:cNvPr id="62" name="直接箭头连接符 61"/>
            <p:cNvCxnSpPr/>
            <p:nvPr/>
          </p:nvCxnSpPr>
          <p:spPr bwMode="auto">
            <a:xfrm>
              <a:off x="5639175" y="2621886"/>
              <a:ext cx="184861" cy="118970"/>
            </a:xfrm>
            <a:prstGeom prst="straightConnector1">
              <a:avLst/>
            </a:prstGeom>
            <a:noFill/>
            <a:ln w="28575" cap="flat" cmpd="sng" algn="ctr">
              <a:solidFill>
                <a:srgbClr val="A50021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直接箭头连接符 60"/>
            <p:cNvCxnSpPr/>
            <p:nvPr/>
          </p:nvCxnSpPr>
          <p:spPr bwMode="auto">
            <a:xfrm flipH="1">
              <a:off x="5771451" y="2658839"/>
              <a:ext cx="122914" cy="190992"/>
            </a:xfrm>
            <a:prstGeom prst="straightConnector1">
              <a:avLst/>
            </a:prstGeom>
            <a:noFill/>
            <a:ln w="28575" cap="flat" cmpd="sng" algn="ctr">
              <a:solidFill>
                <a:srgbClr val="A50021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9" name="Rectangle 5"/>
          <p:cNvSpPr>
            <a:spLocks noChangeArrowheads="1"/>
          </p:cNvSpPr>
          <p:nvPr/>
        </p:nvSpPr>
        <p:spPr bwMode="auto">
          <a:xfrm>
            <a:off x="1108811" y="1251591"/>
            <a:ext cx="3355054" cy="525622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总应力 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5123425" y="1262389"/>
            <a:ext cx="3918974" cy="542604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有效应力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+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tan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</a:p>
        </p:txBody>
      </p:sp>
      <p:graphicFrame>
        <p:nvGraphicFramePr>
          <p:cNvPr id="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591730"/>
              </p:ext>
            </p:extLst>
          </p:nvPr>
        </p:nvGraphicFramePr>
        <p:xfrm>
          <a:off x="5396685" y="4872801"/>
          <a:ext cx="33020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628" name="公式" r:id="rId8" imgW="1752480" imgH="406080" progId="Equation.3">
                  <p:embed/>
                </p:oleObj>
              </mc:Choice>
              <mc:Fallback>
                <p:oleObj name="公式" r:id="rId8" imgW="1752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6685" y="4872801"/>
                        <a:ext cx="33020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690286" y="4833671"/>
            <a:ext cx="1195146" cy="941388"/>
            <a:chOff x="5676900" y="5192713"/>
            <a:chExt cx="1028700" cy="941388"/>
          </a:xfrm>
        </p:grpSpPr>
        <p:sp>
          <p:nvSpPr>
            <p:cNvPr id="45" name="Rectangle 4"/>
            <p:cNvSpPr>
              <a:spLocks noChangeArrowheads="1"/>
            </p:cNvSpPr>
            <p:nvPr/>
          </p:nvSpPr>
          <p:spPr bwMode="auto">
            <a:xfrm>
              <a:off x="5841255" y="5643007"/>
              <a:ext cx="635746" cy="491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20000"/>
                </a:lnSpc>
                <a:spcBef>
                  <a:spcPct val="25000"/>
                </a:spcBef>
                <a:buClr>
                  <a:srgbClr val="A50021"/>
                </a:buClr>
                <a:buSzPct val="130000"/>
              </a:pPr>
              <a:r>
                <a:rPr kumimoji="1" lang="zh-CN" altLang="en-US" sz="3200" b="1" dirty="0" smtClean="0">
                  <a:solidFill>
                    <a:srgbClr val="C00000"/>
                  </a:solidFill>
                  <a:ea typeface="幼圆" pitchFamily="49" charset="-122"/>
                  <a:sym typeface="Wingdings" panose="05000000000000000000" pitchFamily="2" charset="2"/>
                </a:rPr>
                <a:t></a:t>
              </a:r>
              <a:endParaRPr kumimoji="1" lang="zh-CN" altLang="en-US" sz="3200" b="1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5676900" y="5192713"/>
              <a:ext cx="1028700" cy="941387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625540" y="4979164"/>
            <a:ext cx="4264025" cy="667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5000"/>
              </a:spcBef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kumimoji="1" lang="zh-CN" altLang="en-US" sz="2200" b="1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思考：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实际破裂面的方向？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auto">
          <a:xfrm>
            <a:off x="1925717" y="5758163"/>
            <a:ext cx="645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总应力指标与有效应力指标</a:t>
            </a:r>
          </a:p>
        </p:txBody>
      </p:sp>
    </p:spTree>
    <p:extLst>
      <p:ext uri="{BB962C8B-B14F-4D97-AF65-F5344CB8AC3E}">
        <p14:creationId xmlns:p14="http://schemas.microsoft.com/office/powerpoint/2010/main" val="345459083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63650" y="1254375"/>
            <a:ext cx="6465207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  <a:tabLst>
                <a:tab pos="533400" algn="l"/>
              </a:tabLst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固结排水试验</a:t>
            </a: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（排水试验，</a:t>
            </a:r>
            <a:r>
              <a:rPr lang="en-US" altLang="zh-CN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CD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试验）</a:t>
            </a:r>
          </a:p>
          <a:p>
            <a:pPr marL="533400" indent="-53340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None/>
              <a:tabLst>
                <a:tab pos="533400" algn="l"/>
              </a:tabLs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应力抗剪强度指标：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533400" indent="-53340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tabLst>
                <a:tab pos="533400" algn="l"/>
              </a:tabLs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有效应力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抗剪强度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指标：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,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) = 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263650" y="2673855"/>
            <a:ext cx="7345363" cy="145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  <a:tabLst>
                <a:tab pos="533400" algn="l"/>
              </a:tabLst>
            </a:pP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固结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不排水试验（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CU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试验）</a:t>
            </a:r>
          </a:p>
          <a:p>
            <a:pPr marL="533400" indent="-53340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tabLst>
                <a:tab pos="533400" algn="l"/>
              </a:tabLs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总应力抗剪强度指标：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533400" indent="-53340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tabLst>
                <a:tab pos="533400" algn="l"/>
              </a:tabLs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有效应力抗剪强度指标：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,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)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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cu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endParaRPr lang="en-US" altLang="zh-CN" sz="24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266825" y="4127058"/>
            <a:ext cx="76184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  <a:tabLst>
                <a:tab pos="533400" algn="l"/>
              </a:tabLst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不固结不排水试验</a:t>
            </a:r>
            <a:r>
              <a:rPr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（不排水试验，</a:t>
            </a:r>
            <a:r>
              <a:rPr lang="en-US" altLang="zh-CN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UU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试验）</a:t>
            </a:r>
          </a:p>
          <a:p>
            <a:pPr marL="533400" indent="-53340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None/>
              <a:tabLst>
                <a:tab pos="533400" algn="l"/>
              </a:tabLs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应力抗剪强度指标：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或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</a:p>
          <a:p>
            <a:pPr marL="533400" indent="-53340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None/>
              <a:tabLst>
                <a:tab pos="533400" algn="l"/>
              </a:tabLst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无法测定有效应力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抗剪强度指标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419099" y="667199"/>
            <a:ext cx="5099957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不同类型三轴试验的强度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指标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2214047" y="5749925"/>
            <a:ext cx="45162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三轴试验强度指标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</p:spTree>
    <p:extLst>
      <p:ext uri="{BB962C8B-B14F-4D97-AF65-F5344CB8AC3E}">
        <p14:creationId xmlns:p14="http://schemas.microsoft.com/office/powerpoint/2010/main" val="7603850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9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92200" y="1017973"/>
            <a:ext cx="7531100" cy="374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固结排水试验</a:t>
            </a:r>
          </a:p>
          <a:p>
            <a:pPr marL="962025" lvl="2" indent="-4445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962025" lvl="2" indent="-4445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条件</a:t>
            </a:r>
          </a:p>
          <a:p>
            <a:pPr marL="962025" lvl="2" indent="-4445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松砂与正常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固结黏土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试验曲线与强度包线</a:t>
            </a:r>
          </a:p>
          <a:p>
            <a:pPr marL="962025" lvl="2" indent="-4445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密砂与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超固结黏土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试验曲线与强度包线</a:t>
            </a:r>
          </a:p>
          <a:p>
            <a:pPr marL="962025" lvl="2" indent="-444500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天然黏土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的强度包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403521" y="5601641"/>
            <a:ext cx="45162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三轴试验强度指标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636645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386138" y="5884863"/>
            <a:ext cx="3398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固结排水试验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2052" y="807136"/>
            <a:ext cx="21129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试验条件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06425" y="1522413"/>
            <a:ext cx="3952875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施加围压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充分固结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时，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排水阀门始终打开，剪切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速率足够慢，使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试样能充分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排水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始终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总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应力指标即为有效应力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指标：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</a:rPr>
              <a:t>c</a:t>
            </a:r>
            <a:r>
              <a:rPr lang="en-US" altLang="zh-CN" sz="2400" b="1" baseline="-25000" dirty="0" smtClean="0">
                <a:solidFill>
                  <a:srgbClr val="000066"/>
                </a:solidFill>
              </a:rPr>
              <a:t>d</a:t>
            </a:r>
            <a:r>
              <a:rPr lang="zh-CN" altLang="en-US" sz="2400" b="1" dirty="0" smtClean="0">
                <a:solidFill>
                  <a:srgbClr val="000066"/>
                </a:solidFill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,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en-US" altLang="zh-CN" sz="2400" b="1" baseline="-25000" dirty="0" smtClean="0">
                <a:solidFill>
                  <a:srgbClr val="000066"/>
                </a:solidFill>
              </a:rPr>
              <a:t>d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) = (</a:t>
            </a:r>
            <a:r>
              <a:rPr lang="en-US" altLang="zh-CN" sz="2400" b="1" i="1" dirty="0" smtClean="0">
                <a:solidFill>
                  <a:srgbClr val="000066"/>
                </a:solidFill>
              </a:rPr>
              <a:t>c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′</a:t>
            </a:r>
            <a:r>
              <a:rPr lang="en-US" altLang="zh-CN" sz="2400" b="1" dirty="0">
                <a:solidFill>
                  <a:srgbClr val="000066"/>
                </a:solidFill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,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′</a:t>
            </a:r>
            <a:r>
              <a:rPr lang="zh-CN" altLang="en-US" sz="2400" b="1" dirty="0" smtClean="0">
                <a:solidFill>
                  <a:srgbClr val="000066"/>
                </a:solidFill>
              </a:rPr>
              <a:t>）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4752976" y="782638"/>
            <a:ext cx="4148138" cy="4837113"/>
            <a:chOff x="2906" y="485"/>
            <a:chExt cx="2613" cy="3047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5325" y="1843"/>
              <a:ext cx="70" cy="89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3669" y="1462"/>
              <a:ext cx="979" cy="143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0" descr="大纸屑"/>
            <p:cNvSpPr>
              <a:spLocks noChangeArrowheads="1"/>
            </p:cNvSpPr>
            <p:nvPr/>
          </p:nvSpPr>
          <p:spPr bwMode="auto">
            <a:xfrm>
              <a:off x="3948" y="2599"/>
              <a:ext cx="425" cy="73"/>
            </a:xfrm>
            <a:prstGeom prst="rect">
              <a:avLst/>
            </a:prstGeom>
            <a:pattFill prst="lgConfetti">
              <a:fgClr>
                <a:schemeClr val="tx2"/>
              </a:fgClr>
              <a:bgClr>
                <a:srgbClr val="FFCC66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Rectangle 11" descr="浅色上对角线"/>
            <p:cNvSpPr>
              <a:spLocks noChangeArrowheads="1"/>
            </p:cNvSpPr>
            <p:nvPr/>
          </p:nvSpPr>
          <p:spPr bwMode="auto">
            <a:xfrm>
              <a:off x="3939" y="1654"/>
              <a:ext cx="440" cy="145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" name="Group 12"/>
            <p:cNvGrpSpPr>
              <a:grpSpLocks/>
            </p:cNvGrpSpPr>
            <p:nvPr/>
          </p:nvGrpSpPr>
          <p:grpSpPr bwMode="auto">
            <a:xfrm>
              <a:off x="3933" y="1696"/>
              <a:ext cx="452" cy="1025"/>
              <a:chOff x="3374" y="2353"/>
              <a:chExt cx="452" cy="1025"/>
            </a:xfrm>
          </p:grpSpPr>
          <p:sp>
            <p:nvSpPr>
              <p:cNvPr id="65" name="Line 13"/>
              <p:cNvSpPr>
                <a:spLocks noChangeShapeType="1"/>
              </p:cNvSpPr>
              <p:nvPr/>
            </p:nvSpPr>
            <p:spPr bwMode="auto">
              <a:xfrm>
                <a:off x="3374" y="2359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14"/>
              <p:cNvSpPr>
                <a:spLocks noChangeShapeType="1"/>
              </p:cNvSpPr>
              <p:nvPr/>
            </p:nvSpPr>
            <p:spPr bwMode="auto">
              <a:xfrm>
                <a:off x="3826" y="2353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15"/>
            <p:cNvGrpSpPr>
              <a:grpSpLocks/>
            </p:cNvGrpSpPr>
            <p:nvPr/>
          </p:nvGrpSpPr>
          <p:grpSpPr bwMode="auto">
            <a:xfrm>
              <a:off x="3880" y="1714"/>
              <a:ext cx="549" cy="1001"/>
              <a:chOff x="3321" y="2371"/>
              <a:chExt cx="549" cy="1001"/>
            </a:xfrm>
          </p:grpSpPr>
          <p:sp>
            <p:nvSpPr>
              <p:cNvPr id="61" name="Oval 16"/>
              <p:cNvSpPr>
                <a:spLocks noChangeArrowheads="1"/>
              </p:cNvSpPr>
              <p:nvPr/>
            </p:nvSpPr>
            <p:spPr bwMode="auto">
              <a:xfrm>
                <a:off x="3330" y="2383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Oval 17"/>
              <p:cNvSpPr>
                <a:spLocks noChangeArrowheads="1"/>
              </p:cNvSpPr>
              <p:nvPr/>
            </p:nvSpPr>
            <p:spPr bwMode="auto">
              <a:xfrm>
                <a:off x="3832" y="3329"/>
                <a:ext cx="36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Oval 18"/>
              <p:cNvSpPr>
                <a:spLocks noChangeArrowheads="1"/>
              </p:cNvSpPr>
              <p:nvPr/>
            </p:nvSpPr>
            <p:spPr bwMode="auto">
              <a:xfrm>
                <a:off x="3321" y="3335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Oval 19"/>
              <p:cNvSpPr>
                <a:spLocks noChangeArrowheads="1"/>
              </p:cNvSpPr>
              <p:nvPr/>
            </p:nvSpPr>
            <p:spPr bwMode="auto">
              <a:xfrm>
                <a:off x="3835" y="2371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70000"/>
                  </a:lnSpc>
                  <a:spcBef>
                    <a:spcPct val="20000"/>
                  </a:spcBef>
                  <a:spcAft>
                    <a:spcPct val="0"/>
                  </a:spcAft>
                </a:pPr>
                <a:endParaRPr lang="zh-CN" altLang="en-US" sz="2400">
                  <a:ea typeface="幼圆" pitchFamily="49" charset="-122"/>
                  <a:sym typeface="Symbol" pitchFamily="18" charset="2"/>
                </a:endParaRPr>
              </a:p>
            </p:txBody>
          </p:sp>
        </p:grpSp>
        <p:grpSp>
          <p:nvGrpSpPr>
            <p:cNvPr id="17" name="Group 20"/>
            <p:cNvGrpSpPr>
              <a:grpSpLocks/>
            </p:cNvGrpSpPr>
            <p:nvPr/>
          </p:nvGrpSpPr>
          <p:grpSpPr bwMode="auto">
            <a:xfrm>
              <a:off x="3587" y="2672"/>
              <a:ext cx="1135" cy="400"/>
              <a:chOff x="3028" y="3329"/>
              <a:chExt cx="1135" cy="400"/>
            </a:xfrm>
          </p:grpSpPr>
          <p:sp>
            <p:nvSpPr>
              <p:cNvPr id="59" name="Rectangle 21"/>
              <p:cNvSpPr>
                <a:spLocks noChangeArrowheads="1"/>
              </p:cNvSpPr>
              <p:nvPr/>
            </p:nvSpPr>
            <p:spPr bwMode="auto">
              <a:xfrm>
                <a:off x="3389" y="3329"/>
                <a:ext cx="425" cy="218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Rectangle 22"/>
              <p:cNvSpPr>
                <a:spLocks noChangeArrowheads="1"/>
              </p:cNvSpPr>
              <p:nvPr/>
            </p:nvSpPr>
            <p:spPr bwMode="auto">
              <a:xfrm>
                <a:off x="3028" y="3547"/>
                <a:ext cx="1135" cy="182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" name="Line 23" descr="30%"/>
            <p:cNvSpPr>
              <a:spLocks noChangeShapeType="1"/>
            </p:cNvSpPr>
            <p:nvPr/>
          </p:nvSpPr>
          <p:spPr bwMode="auto">
            <a:xfrm>
              <a:off x="3662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24" descr="30%"/>
            <p:cNvSpPr>
              <a:spLocks noChangeShapeType="1"/>
            </p:cNvSpPr>
            <p:nvPr/>
          </p:nvSpPr>
          <p:spPr bwMode="auto">
            <a:xfrm>
              <a:off x="4655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25"/>
            <p:cNvSpPr>
              <a:spLocks noChangeArrowheads="1"/>
            </p:cNvSpPr>
            <p:nvPr/>
          </p:nvSpPr>
          <p:spPr bwMode="auto">
            <a:xfrm>
              <a:off x="3455" y="1369"/>
              <a:ext cx="639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Rectangle 26"/>
            <p:cNvSpPr>
              <a:spLocks noChangeArrowheads="1"/>
            </p:cNvSpPr>
            <p:nvPr/>
          </p:nvSpPr>
          <p:spPr bwMode="auto">
            <a:xfrm>
              <a:off x="4224" y="1369"/>
              <a:ext cx="638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Rectangle 27" descr="浅色竖线"/>
            <p:cNvSpPr>
              <a:spLocks noChangeArrowheads="1"/>
            </p:cNvSpPr>
            <p:nvPr/>
          </p:nvSpPr>
          <p:spPr bwMode="auto">
            <a:xfrm>
              <a:off x="4097" y="1164"/>
              <a:ext cx="126" cy="486"/>
            </a:xfrm>
            <a:prstGeom prst="rect">
              <a:avLst/>
            </a:prstGeom>
            <a:pattFill prst="ltVert">
              <a:fgClr>
                <a:srgbClr val="4D4D4D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" name="Group 28"/>
            <p:cNvGrpSpPr>
              <a:grpSpLocks/>
            </p:cNvGrpSpPr>
            <p:nvPr/>
          </p:nvGrpSpPr>
          <p:grpSpPr bwMode="auto">
            <a:xfrm>
              <a:off x="3942" y="1799"/>
              <a:ext cx="434" cy="800"/>
              <a:chOff x="3383" y="2456"/>
              <a:chExt cx="434" cy="800"/>
            </a:xfrm>
          </p:grpSpPr>
          <p:sp>
            <p:nvSpPr>
              <p:cNvPr id="57" name="Rectangle 29"/>
              <p:cNvSpPr>
                <a:spLocks noChangeArrowheads="1"/>
              </p:cNvSpPr>
              <p:nvPr/>
            </p:nvSpPr>
            <p:spPr bwMode="auto">
              <a:xfrm>
                <a:off x="3383" y="2456"/>
                <a:ext cx="434" cy="800"/>
              </a:xfrm>
              <a:prstGeom prst="rect">
                <a:avLst/>
              </a:prstGeom>
              <a:solidFill>
                <a:srgbClr val="996633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Text Box 30"/>
              <p:cNvSpPr txBox="1">
                <a:spLocks noChangeArrowheads="1"/>
              </p:cNvSpPr>
              <p:nvPr/>
            </p:nvSpPr>
            <p:spPr bwMode="auto">
              <a:xfrm>
                <a:off x="3434" y="2602"/>
                <a:ext cx="310" cy="472"/>
              </a:xfrm>
              <a:prstGeom prst="rect">
                <a:avLst/>
              </a:prstGeom>
              <a:solidFill>
                <a:srgbClr val="9966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 dirty="0" smtClean="0">
                    <a:solidFill>
                      <a:schemeClr val="bg1"/>
                    </a:solidFill>
                    <a:ea typeface="幼圆" pitchFamily="49" charset="-122"/>
                    <a:sym typeface="Symbol" pitchFamily="18" charset="2"/>
                  </a:rPr>
                  <a:t>试 样</a:t>
                </a:r>
                <a:endParaRPr lang="zh-CN" altLang="en-US" sz="2000" b="1" dirty="0">
                  <a:solidFill>
                    <a:schemeClr val="bg1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</p:grpSp>
        <p:sp>
          <p:nvSpPr>
            <p:cNvPr id="24" name="Text Box 31"/>
            <p:cNvSpPr txBox="1">
              <a:spLocks noChangeArrowheads="1"/>
            </p:cNvSpPr>
            <p:nvPr/>
          </p:nvSpPr>
          <p:spPr bwMode="auto">
            <a:xfrm>
              <a:off x="2923" y="2264"/>
              <a:ext cx="67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围压</a:t>
              </a:r>
              <a:b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</a:br>
              <a: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力</a:t>
              </a: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zh-CN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5" name="Text Box 32"/>
            <p:cNvSpPr txBox="1">
              <a:spLocks noChangeArrowheads="1"/>
            </p:cNvSpPr>
            <p:nvPr/>
          </p:nvSpPr>
          <p:spPr bwMode="auto">
            <a:xfrm>
              <a:off x="4630" y="3014"/>
              <a:ext cx="889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  <a:sym typeface="Symbol" pitchFamily="18" charset="2"/>
                </a:rPr>
                <a:t>阀门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  <a:sym typeface="Symbol" pitchFamily="18" charset="2"/>
                </a:rPr>
                <a:t>始终打开</a:t>
              </a:r>
              <a:endParaRPr lang="en-US" altLang="zh-CN" sz="2400" b="1" dirty="0"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26" name="Text Box 33"/>
            <p:cNvSpPr txBox="1">
              <a:spLocks noChangeArrowheads="1"/>
            </p:cNvSpPr>
            <p:nvPr/>
          </p:nvSpPr>
          <p:spPr bwMode="auto">
            <a:xfrm>
              <a:off x="3024" y="3043"/>
              <a:ext cx="514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  <a:sym typeface="Symbol" pitchFamily="18" charset="2"/>
                </a:rPr>
                <a:t>阀门</a:t>
              </a:r>
            </a:p>
          </p:txBody>
        </p:sp>
        <p:sp>
          <p:nvSpPr>
            <p:cNvPr id="27" name="Freeform 34"/>
            <p:cNvSpPr>
              <a:spLocks/>
            </p:cNvSpPr>
            <p:nvPr/>
          </p:nvSpPr>
          <p:spPr bwMode="auto">
            <a:xfrm>
              <a:off x="2906" y="2882"/>
              <a:ext cx="888" cy="61"/>
            </a:xfrm>
            <a:custGeom>
              <a:avLst/>
              <a:gdLst>
                <a:gd name="T0" fmla="*/ 1253 w 1253"/>
                <a:gd name="T1" fmla="*/ 0 h 67"/>
                <a:gd name="T2" fmla="*/ 1253 w 1253"/>
                <a:gd name="T3" fmla="*/ 67 h 67"/>
                <a:gd name="T4" fmla="*/ 0 w 1253"/>
                <a:gd name="T5" fmla="*/ 67 h 67"/>
                <a:gd name="T6" fmla="*/ 0 60000 65536"/>
                <a:gd name="T7" fmla="*/ 0 60000 65536"/>
                <a:gd name="T8" fmla="*/ 0 60000 65536"/>
                <a:gd name="T9" fmla="*/ 0 w 1253"/>
                <a:gd name="T10" fmla="*/ 0 h 67"/>
                <a:gd name="T11" fmla="*/ 1253 w 1253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3" h="67">
                  <a:moveTo>
                    <a:pt x="1253" y="0"/>
                  </a:moveTo>
                  <a:lnTo>
                    <a:pt x="1253" y="67"/>
                  </a:lnTo>
                  <a:lnTo>
                    <a:pt x="0" y="67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AutoShape 35"/>
            <p:cNvSpPr>
              <a:spLocks noChangeArrowheads="1"/>
            </p:cNvSpPr>
            <p:nvPr/>
          </p:nvSpPr>
          <p:spPr bwMode="auto">
            <a:xfrm>
              <a:off x="3212" y="2874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Freeform 36"/>
            <p:cNvSpPr>
              <a:spLocks/>
            </p:cNvSpPr>
            <p:nvPr/>
          </p:nvSpPr>
          <p:spPr bwMode="auto">
            <a:xfrm>
              <a:off x="4240" y="2671"/>
              <a:ext cx="1118" cy="273"/>
            </a:xfrm>
            <a:custGeom>
              <a:avLst/>
              <a:gdLst>
                <a:gd name="T0" fmla="*/ 0 w 1257"/>
                <a:gd name="T1" fmla="*/ 0 h 302"/>
                <a:gd name="T2" fmla="*/ 0 w 1257"/>
                <a:gd name="T3" fmla="*/ 298 h 302"/>
                <a:gd name="T4" fmla="*/ 1257 w 1257"/>
                <a:gd name="T5" fmla="*/ 302 h 302"/>
                <a:gd name="T6" fmla="*/ 1257 w 1257"/>
                <a:gd name="T7" fmla="*/ 65 h 3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57"/>
                <a:gd name="T13" fmla="*/ 0 h 302"/>
                <a:gd name="T14" fmla="*/ 1257 w 1257"/>
                <a:gd name="T15" fmla="*/ 302 h 3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57" h="302">
                  <a:moveTo>
                    <a:pt x="0" y="0"/>
                  </a:moveTo>
                  <a:lnTo>
                    <a:pt x="0" y="298"/>
                  </a:lnTo>
                  <a:lnTo>
                    <a:pt x="1257" y="302"/>
                  </a:lnTo>
                  <a:lnTo>
                    <a:pt x="1257" y="65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Oval 37"/>
            <p:cNvSpPr>
              <a:spLocks noChangeArrowheads="1"/>
            </p:cNvSpPr>
            <p:nvPr/>
          </p:nvSpPr>
          <p:spPr bwMode="auto">
            <a:xfrm>
              <a:off x="3935" y="746"/>
              <a:ext cx="442" cy="455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" name="Group 38"/>
            <p:cNvGrpSpPr>
              <a:grpSpLocks/>
            </p:cNvGrpSpPr>
            <p:nvPr/>
          </p:nvGrpSpPr>
          <p:grpSpPr bwMode="auto">
            <a:xfrm>
              <a:off x="4060" y="745"/>
              <a:ext cx="192" cy="340"/>
              <a:chOff x="371" y="1926"/>
              <a:chExt cx="192" cy="340"/>
            </a:xfrm>
          </p:grpSpPr>
          <p:sp>
            <p:nvSpPr>
              <p:cNvPr id="54" name="Line 39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Oval 40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41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" name="Line 42"/>
            <p:cNvSpPr>
              <a:spLocks noChangeShapeType="1"/>
            </p:cNvSpPr>
            <p:nvPr/>
          </p:nvSpPr>
          <p:spPr bwMode="auto">
            <a:xfrm>
              <a:off x="4122" y="1083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43"/>
            <p:cNvSpPr>
              <a:spLocks noChangeShapeType="1"/>
            </p:cNvSpPr>
            <p:nvPr/>
          </p:nvSpPr>
          <p:spPr bwMode="auto">
            <a:xfrm>
              <a:off x="4154" y="1083"/>
              <a:ext cx="0" cy="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44"/>
            <p:cNvSpPr>
              <a:spLocks noChangeArrowheads="1"/>
            </p:cNvSpPr>
            <p:nvPr/>
          </p:nvSpPr>
          <p:spPr bwMode="auto">
            <a:xfrm>
              <a:off x="4094" y="675"/>
              <a:ext cx="135" cy="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45"/>
            <p:cNvSpPr>
              <a:spLocks noChangeShapeType="1"/>
            </p:cNvSpPr>
            <p:nvPr/>
          </p:nvSpPr>
          <p:spPr bwMode="auto">
            <a:xfrm flipH="1">
              <a:off x="3803" y="1217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" name="Group 46"/>
            <p:cNvGrpSpPr>
              <a:grpSpLocks/>
            </p:cNvGrpSpPr>
            <p:nvPr/>
          </p:nvGrpSpPr>
          <p:grpSpPr bwMode="auto">
            <a:xfrm>
              <a:off x="3695" y="1037"/>
              <a:ext cx="192" cy="340"/>
              <a:chOff x="371" y="1926"/>
              <a:chExt cx="192" cy="340"/>
            </a:xfrm>
          </p:grpSpPr>
          <p:sp>
            <p:nvSpPr>
              <p:cNvPr id="51" name="Line 47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Oval 48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Line 49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" name="Rectangle 50"/>
            <p:cNvSpPr>
              <a:spLocks noChangeArrowheads="1"/>
            </p:cNvSpPr>
            <p:nvPr/>
          </p:nvSpPr>
          <p:spPr bwMode="auto">
            <a:xfrm>
              <a:off x="4085" y="1195"/>
              <a:ext cx="135" cy="4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Rectangle 51"/>
            <p:cNvSpPr>
              <a:spLocks noChangeArrowheads="1"/>
            </p:cNvSpPr>
            <p:nvPr/>
          </p:nvSpPr>
          <p:spPr bwMode="auto">
            <a:xfrm>
              <a:off x="3765" y="3072"/>
              <a:ext cx="818" cy="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Rectangle 52"/>
            <p:cNvSpPr>
              <a:spLocks noChangeArrowheads="1"/>
            </p:cNvSpPr>
            <p:nvPr/>
          </p:nvSpPr>
          <p:spPr bwMode="auto">
            <a:xfrm>
              <a:off x="3876" y="3161"/>
              <a:ext cx="600" cy="25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53"/>
            <p:cNvSpPr txBox="1">
              <a:spLocks noChangeArrowheads="1"/>
            </p:cNvSpPr>
            <p:nvPr/>
          </p:nvSpPr>
          <p:spPr bwMode="auto">
            <a:xfrm>
              <a:off x="3919" y="3125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马达</a:t>
              </a:r>
            </a:p>
          </p:txBody>
        </p:sp>
        <p:sp>
          <p:nvSpPr>
            <p:cNvPr id="41" name="Rectangle 54"/>
            <p:cNvSpPr>
              <a:spLocks noChangeArrowheads="1"/>
            </p:cNvSpPr>
            <p:nvPr/>
          </p:nvSpPr>
          <p:spPr bwMode="auto">
            <a:xfrm>
              <a:off x="3470" y="530"/>
              <a:ext cx="1300" cy="186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55"/>
            <p:cNvSpPr txBox="1">
              <a:spLocks noChangeArrowheads="1"/>
            </p:cNvSpPr>
            <p:nvPr/>
          </p:nvSpPr>
          <p:spPr bwMode="auto">
            <a:xfrm>
              <a:off x="4888" y="485"/>
              <a:ext cx="5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横梁</a:t>
              </a:r>
            </a:p>
          </p:txBody>
        </p:sp>
        <p:sp>
          <p:nvSpPr>
            <p:cNvPr id="43" name="Line 56"/>
            <p:cNvSpPr>
              <a:spLocks noChangeShapeType="1"/>
            </p:cNvSpPr>
            <p:nvPr/>
          </p:nvSpPr>
          <p:spPr bwMode="auto">
            <a:xfrm>
              <a:off x="4635" y="620"/>
              <a:ext cx="256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57"/>
            <p:cNvSpPr txBox="1">
              <a:spLocks noChangeArrowheads="1"/>
            </p:cNvSpPr>
            <p:nvPr/>
          </p:nvSpPr>
          <p:spPr bwMode="auto">
            <a:xfrm>
              <a:off x="4474" y="812"/>
              <a:ext cx="7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量力环</a:t>
              </a:r>
              <a:endParaRPr lang="en-US" altLang="zh-CN" sz="2400" b="1">
                <a:ea typeface="幼圆" pitchFamily="49" charset="-122"/>
              </a:endParaRPr>
            </a:p>
          </p:txBody>
        </p:sp>
        <p:sp>
          <p:nvSpPr>
            <p:cNvPr id="45" name="Line 58"/>
            <p:cNvSpPr>
              <a:spLocks noChangeShapeType="1"/>
            </p:cNvSpPr>
            <p:nvPr/>
          </p:nvSpPr>
          <p:spPr bwMode="auto">
            <a:xfrm flipH="1">
              <a:off x="4327" y="1018"/>
              <a:ext cx="204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Box 59"/>
            <p:cNvSpPr txBox="1">
              <a:spLocks noChangeArrowheads="1"/>
            </p:cNvSpPr>
            <p:nvPr/>
          </p:nvSpPr>
          <p:spPr bwMode="auto">
            <a:xfrm>
              <a:off x="2934" y="776"/>
              <a:ext cx="7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百分表</a:t>
              </a:r>
            </a:p>
          </p:txBody>
        </p:sp>
        <p:sp>
          <p:nvSpPr>
            <p:cNvPr id="47" name="Line 60"/>
            <p:cNvSpPr>
              <a:spLocks noChangeShapeType="1"/>
            </p:cNvSpPr>
            <p:nvPr/>
          </p:nvSpPr>
          <p:spPr bwMode="auto">
            <a:xfrm flipH="1" flipV="1">
              <a:off x="3576" y="1076"/>
              <a:ext cx="138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auto">
            <a:xfrm>
              <a:off x="5327" y="1536"/>
              <a:ext cx="65" cy="1206"/>
            </a:xfrm>
            <a:custGeom>
              <a:avLst/>
              <a:gdLst>
                <a:gd name="T0" fmla="*/ 0 w 89"/>
                <a:gd name="T1" fmla="*/ 0 h 1206"/>
                <a:gd name="T2" fmla="*/ 0 w 89"/>
                <a:gd name="T3" fmla="*/ 1206 h 1206"/>
                <a:gd name="T4" fmla="*/ 89 w 89"/>
                <a:gd name="T5" fmla="*/ 1206 h 1206"/>
                <a:gd name="T6" fmla="*/ 89 w 89"/>
                <a:gd name="T7" fmla="*/ 0 h 1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06"/>
                <a:gd name="T14" fmla="*/ 89 w 89"/>
                <a:gd name="T15" fmla="*/ 1206 h 1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06">
                  <a:moveTo>
                    <a:pt x="0" y="0"/>
                  </a:moveTo>
                  <a:lnTo>
                    <a:pt x="0" y="1206"/>
                  </a:lnTo>
                  <a:lnTo>
                    <a:pt x="89" y="1206"/>
                  </a:lnTo>
                  <a:lnTo>
                    <a:pt x="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Box 62"/>
            <p:cNvSpPr txBox="1">
              <a:spLocks noChangeArrowheads="1"/>
            </p:cNvSpPr>
            <p:nvPr/>
          </p:nvSpPr>
          <p:spPr bwMode="auto">
            <a:xfrm>
              <a:off x="5015" y="1225"/>
              <a:ext cx="327" cy="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ea typeface="幼圆" pitchFamily="49" charset="-122"/>
                  <a:sym typeface="Symbol" pitchFamily="18" charset="2"/>
                </a:rPr>
                <a:t>量水管</a:t>
              </a:r>
            </a:p>
          </p:txBody>
        </p:sp>
        <p:sp>
          <p:nvSpPr>
            <p:cNvPr id="50" name="AutoShape 63"/>
            <p:cNvSpPr>
              <a:spLocks noChangeArrowheads="1"/>
            </p:cNvSpPr>
            <p:nvPr/>
          </p:nvSpPr>
          <p:spPr bwMode="auto">
            <a:xfrm>
              <a:off x="4989" y="2863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317426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40"/>
                            </p:stCondLst>
                            <p:childTnLst>
                              <p:par>
                                <p:cTn id="16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920"/>
                            </p:stCondLst>
                            <p:childTnLst>
                              <p:par>
                                <p:cTn id="22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60"/>
                            </p:stCondLst>
                            <p:childTnLst>
                              <p:par>
                                <p:cTn id="28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828800" y="2733675"/>
            <a:ext cx="18473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2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293812" y="1916236"/>
            <a:ext cx="5640387" cy="136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如三轴试验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中，试样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的有效围压力为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，则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55600" indent="-3556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如</a:t>
            </a:r>
            <a:r>
              <a:rPr kumimoji="1" lang="en-US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=</a:t>
            </a:r>
            <a:r>
              <a:rPr kumimoji="1"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，称</a:t>
            </a:r>
            <a:r>
              <a:rPr kumimoji="1"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正常固结土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三轴试验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5600" indent="-3556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如</a:t>
            </a:r>
            <a:r>
              <a:rPr kumimoji="1" lang="en-US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</a:t>
            </a:r>
            <a:r>
              <a:rPr kumimoji="1"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称</a:t>
            </a:r>
            <a:r>
              <a:rPr kumimoji="1"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超固结土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三轴试验</a:t>
            </a:r>
            <a:endParaRPr kumimoji="1"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39739" y="686258"/>
            <a:ext cx="477996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三轴试验中的正常固结土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885825" y="1395413"/>
            <a:ext cx="7508875" cy="40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zh-CN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先期固结压力</a:t>
            </a:r>
            <a:r>
              <a:rPr lang="en-US" altLang="zh-CN" sz="2200" b="1" i="1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：土样历史上受到的最大有效固结应力。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987425" y="3413526"/>
            <a:ext cx="7305675" cy="209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中和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三轴试验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中正常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固结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土的含义不同。前者的比较标准是土层的当前自重应力，后者是三轴试验的有效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围压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力</a:t>
            </a:r>
            <a:r>
              <a:rPr kumimoji="1" lang="en-US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444500" indent="-4445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正常固结或超固结通常只针对黏性土。对于砂土一般称松砂或密砂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386138" y="5884863"/>
            <a:ext cx="3398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固结排水试验</a:t>
            </a:r>
          </a:p>
        </p:txBody>
      </p:sp>
    </p:spTree>
    <p:extLst>
      <p:ext uri="{BB962C8B-B14F-4D97-AF65-F5344CB8AC3E}">
        <p14:creationId xmlns:p14="http://schemas.microsoft.com/office/powerpoint/2010/main" val="307478910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160"/>
                            </p:stCondLst>
                            <p:childTnLst>
                              <p:par>
                                <p:cTn id="34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43263" y="5878513"/>
            <a:ext cx="3398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固结排水试验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483462" y="752421"/>
            <a:ext cx="676795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松砂与正常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固结黏土应力应变曲线特点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92436" y="1392238"/>
            <a:ext cx="3525838" cy="3543300"/>
            <a:chOff x="592436" y="1392238"/>
            <a:chExt cx="3525838" cy="3543300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592436" y="1392238"/>
              <a:ext cx="3525838" cy="3543300"/>
              <a:chOff x="333" y="917"/>
              <a:chExt cx="2221" cy="2232"/>
            </a:xfrm>
          </p:grpSpPr>
          <p:sp>
            <p:nvSpPr>
              <p:cNvPr id="6" name="Line 6"/>
              <p:cNvSpPr>
                <a:spLocks noChangeShapeType="1"/>
              </p:cNvSpPr>
              <p:nvPr/>
            </p:nvSpPr>
            <p:spPr bwMode="auto">
              <a:xfrm>
                <a:off x="366" y="1173"/>
                <a:ext cx="0" cy="1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366" y="2536"/>
                <a:ext cx="211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333" y="917"/>
                <a:ext cx="54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i="1" dirty="0" smtClean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kumimoji="1" lang="zh-CN" altLang="en-US" sz="2400" b="1" baseline="-25000" dirty="0" smtClean="0">
                    <a:cs typeface="Times New Roman" panose="02020603050405020304" pitchFamily="18" charset="0"/>
                    <a:sym typeface="Symbol" pitchFamily="18" charset="2"/>
                  </a:rPr>
                  <a:t></a:t>
                </a:r>
                <a:r>
                  <a:rPr kumimoji="1" lang="en-US" altLang="zh-CN" sz="2400" b="1" dirty="0">
                    <a:cs typeface="Times New Roman" panose="02020603050405020304" pitchFamily="18" charset="0"/>
                    <a:sym typeface="Symbol" pitchFamily="18" charset="2"/>
                  </a:rPr>
                  <a:t>-</a:t>
                </a:r>
                <a:r>
                  <a:rPr kumimoji="1" lang="zh-CN" altLang="en-US" sz="2400" b="1" i="1" dirty="0" smtClean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kumimoji="1" lang="zh-CN" altLang="en-US" sz="2400" b="1" baseline="-25000" dirty="0" smtClean="0">
                    <a:cs typeface="Times New Roman" panose="02020603050405020304" pitchFamily="18" charset="0"/>
                    <a:sym typeface="Symbol" pitchFamily="18" charset="2"/>
                  </a:rPr>
                  <a:t></a:t>
                </a:r>
                <a:endParaRPr kumimoji="1" lang="zh-CN" altLang="en-US" sz="2400" b="1" baseline="-25000" dirty="0"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/>
            </p:nvSpPr>
            <p:spPr bwMode="auto">
              <a:xfrm>
                <a:off x="2288" y="2445"/>
                <a:ext cx="26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i="1" dirty="0">
                    <a:cs typeface="Times New Roman" panose="02020603050405020304" pitchFamily="18" charset="0"/>
                    <a:sym typeface="Symbol" pitchFamily="18" charset="2"/>
                  </a:rPr>
                  <a:t></a:t>
                </a:r>
                <a:r>
                  <a:rPr kumimoji="1" lang="zh-CN" altLang="en-US" sz="2400" b="1" baseline="-25000" dirty="0">
                    <a:cs typeface="Times New Roman" panose="02020603050405020304" pitchFamily="18" charset="0"/>
                    <a:sym typeface="Symbol" pitchFamily="18" charset="2"/>
                  </a:rPr>
                  <a:t></a:t>
                </a: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/>
            </p:nvSpPr>
            <p:spPr bwMode="auto">
              <a:xfrm>
                <a:off x="351" y="2858"/>
                <a:ext cx="26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i="1" dirty="0">
                    <a:cs typeface="Times New Roman" panose="02020603050405020304" pitchFamily="18" charset="0"/>
                    <a:sym typeface="Symbol" pitchFamily="18" charset="2"/>
                  </a:rPr>
                  <a:t></a:t>
                </a:r>
                <a:r>
                  <a:rPr kumimoji="1" lang="en-US" altLang="zh-CN" sz="2400" b="1" baseline="-25000" dirty="0">
                    <a:cs typeface="Times New Roman" panose="02020603050405020304" pitchFamily="18" charset="0"/>
                    <a:sym typeface="Symbol" pitchFamily="18" charset="2"/>
                  </a:rPr>
                  <a:t>v</a:t>
                </a:r>
              </a:p>
            </p:txBody>
          </p:sp>
        </p:grpSp>
        <p:grpSp>
          <p:nvGrpSpPr>
            <p:cNvPr id="21" name="Group 19"/>
            <p:cNvGrpSpPr>
              <a:grpSpLocks/>
            </p:cNvGrpSpPr>
            <p:nvPr/>
          </p:nvGrpSpPr>
          <p:grpSpPr bwMode="auto">
            <a:xfrm>
              <a:off x="646410" y="3022601"/>
              <a:ext cx="3163889" cy="1260476"/>
              <a:chOff x="367" y="1944"/>
              <a:chExt cx="1993" cy="794"/>
            </a:xfrm>
          </p:grpSpPr>
          <p:sp>
            <p:nvSpPr>
              <p:cNvPr id="22" name="Freeform 20"/>
              <p:cNvSpPr>
                <a:spLocks/>
              </p:cNvSpPr>
              <p:nvPr/>
            </p:nvSpPr>
            <p:spPr bwMode="auto">
              <a:xfrm>
                <a:off x="376" y="1957"/>
                <a:ext cx="1975" cy="578"/>
              </a:xfrm>
              <a:custGeom>
                <a:avLst/>
                <a:gdLst>
                  <a:gd name="T0" fmla="*/ 0 w 1981"/>
                  <a:gd name="T1" fmla="*/ 750 h 750"/>
                  <a:gd name="T2" fmla="*/ 96 w 1981"/>
                  <a:gd name="T3" fmla="*/ 510 h 750"/>
                  <a:gd name="T4" fmla="*/ 269 w 1981"/>
                  <a:gd name="T5" fmla="*/ 254 h 750"/>
                  <a:gd name="T6" fmla="*/ 515 w 1981"/>
                  <a:gd name="T7" fmla="*/ 113 h 750"/>
                  <a:gd name="T8" fmla="*/ 903 w 1981"/>
                  <a:gd name="T9" fmla="*/ 30 h 750"/>
                  <a:gd name="T10" fmla="*/ 1459 w 1981"/>
                  <a:gd name="T11" fmla="*/ 4 h 750"/>
                  <a:gd name="T12" fmla="*/ 1981 w 1981"/>
                  <a:gd name="T13" fmla="*/ 8 h 7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81"/>
                  <a:gd name="T22" fmla="*/ 0 h 750"/>
                  <a:gd name="T23" fmla="*/ 1981 w 1981"/>
                  <a:gd name="T24" fmla="*/ 750 h 750"/>
                  <a:gd name="connsiteX0" fmla="*/ 0 w 9970"/>
                  <a:gd name="connsiteY0" fmla="*/ 10057 h 10057"/>
                  <a:gd name="connsiteX1" fmla="*/ 485 w 9970"/>
                  <a:gd name="connsiteY1" fmla="*/ 6857 h 10057"/>
                  <a:gd name="connsiteX2" fmla="*/ 1358 w 9970"/>
                  <a:gd name="connsiteY2" fmla="*/ 3444 h 10057"/>
                  <a:gd name="connsiteX3" fmla="*/ 2600 w 9970"/>
                  <a:gd name="connsiteY3" fmla="*/ 1564 h 10057"/>
                  <a:gd name="connsiteX4" fmla="*/ 4558 w 9970"/>
                  <a:gd name="connsiteY4" fmla="*/ 457 h 10057"/>
                  <a:gd name="connsiteX5" fmla="*/ 7365 w 9970"/>
                  <a:gd name="connsiteY5" fmla="*/ 110 h 10057"/>
                  <a:gd name="connsiteX6" fmla="*/ 9970 w 9970"/>
                  <a:gd name="connsiteY6" fmla="*/ 1 h 10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70" h="10057">
                    <a:moveTo>
                      <a:pt x="0" y="10057"/>
                    </a:moveTo>
                    <a:cubicBezTo>
                      <a:pt x="81" y="9524"/>
                      <a:pt x="257" y="7964"/>
                      <a:pt x="485" y="6857"/>
                    </a:cubicBezTo>
                    <a:cubicBezTo>
                      <a:pt x="712" y="5750"/>
                      <a:pt x="1005" y="4324"/>
                      <a:pt x="1358" y="3444"/>
                    </a:cubicBezTo>
                    <a:cubicBezTo>
                      <a:pt x="1711" y="2564"/>
                      <a:pt x="2065" y="2057"/>
                      <a:pt x="2600" y="1564"/>
                    </a:cubicBezTo>
                    <a:cubicBezTo>
                      <a:pt x="3135" y="1070"/>
                      <a:pt x="3766" y="697"/>
                      <a:pt x="4558" y="457"/>
                    </a:cubicBezTo>
                    <a:cubicBezTo>
                      <a:pt x="5351" y="217"/>
                      <a:pt x="6456" y="164"/>
                      <a:pt x="7365" y="110"/>
                    </a:cubicBezTo>
                    <a:cubicBezTo>
                      <a:pt x="8274" y="57"/>
                      <a:pt x="9420" y="-13"/>
                      <a:pt x="9970" y="1"/>
                    </a:cubicBezTo>
                  </a:path>
                </a:pathLst>
              </a:custGeom>
              <a:noFill/>
              <a:ln w="19050" cmpd="sng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Freeform 21"/>
              <p:cNvSpPr>
                <a:spLocks/>
              </p:cNvSpPr>
              <p:nvPr/>
            </p:nvSpPr>
            <p:spPr bwMode="auto">
              <a:xfrm>
                <a:off x="367" y="2537"/>
                <a:ext cx="1981" cy="201"/>
              </a:xfrm>
              <a:custGeom>
                <a:avLst/>
                <a:gdLst>
                  <a:gd name="T0" fmla="*/ 0 w 1990"/>
                  <a:gd name="T1" fmla="*/ 0 h 191"/>
                  <a:gd name="T2" fmla="*/ 112 w 1990"/>
                  <a:gd name="T3" fmla="*/ 58 h 191"/>
                  <a:gd name="T4" fmla="*/ 298 w 1990"/>
                  <a:gd name="T5" fmla="*/ 112 h 191"/>
                  <a:gd name="T6" fmla="*/ 627 w 1990"/>
                  <a:gd name="T7" fmla="*/ 154 h 191"/>
                  <a:gd name="T8" fmla="*/ 1200 w 1990"/>
                  <a:gd name="T9" fmla="*/ 186 h 191"/>
                  <a:gd name="T10" fmla="*/ 1990 w 1990"/>
                  <a:gd name="T11" fmla="*/ 182 h 19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90"/>
                  <a:gd name="T19" fmla="*/ 0 h 191"/>
                  <a:gd name="T20" fmla="*/ 1990 w 1990"/>
                  <a:gd name="T21" fmla="*/ 191 h 191"/>
                  <a:gd name="connsiteX0" fmla="*/ 0 w 9955"/>
                  <a:gd name="connsiteY0" fmla="*/ 0 h 10018"/>
                  <a:gd name="connsiteX1" fmla="*/ 563 w 9955"/>
                  <a:gd name="connsiteY1" fmla="*/ 3037 h 10018"/>
                  <a:gd name="connsiteX2" fmla="*/ 1497 w 9955"/>
                  <a:gd name="connsiteY2" fmla="*/ 5864 h 10018"/>
                  <a:gd name="connsiteX3" fmla="*/ 3151 w 9955"/>
                  <a:gd name="connsiteY3" fmla="*/ 8063 h 10018"/>
                  <a:gd name="connsiteX4" fmla="*/ 6030 w 9955"/>
                  <a:gd name="connsiteY4" fmla="*/ 9738 h 10018"/>
                  <a:gd name="connsiteX5" fmla="*/ 9955 w 9955"/>
                  <a:gd name="connsiteY5" fmla="*/ 10000 h 10018"/>
                  <a:gd name="connsiteX0" fmla="*/ 0 w 10000"/>
                  <a:gd name="connsiteY0" fmla="*/ 0 h 10509"/>
                  <a:gd name="connsiteX1" fmla="*/ 566 w 10000"/>
                  <a:gd name="connsiteY1" fmla="*/ 3032 h 10509"/>
                  <a:gd name="connsiteX2" fmla="*/ 1504 w 10000"/>
                  <a:gd name="connsiteY2" fmla="*/ 5853 h 10509"/>
                  <a:gd name="connsiteX3" fmla="*/ 3165 w 10000"/>
                  <a:gd name="connsiteY3" fmla="*/ 8049 h 10509"/>
                  <a:gd name="connsiteX4" fmla="*/ 6057 w 10000"/>
                  <a:gd name="connsiteY4" fmla="*/ 9721 h 10509"/>
                  <a:gd name="connsiteX5" fmla="*/ 10000 w 10000"/>
                  <a:gd name="connsiteY5" fmla="*/ 10506 h 1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509">
                    <a:moveTo>
                      <a:pt x="0" y="0"/>
                    </a:moveTo>
                    <a:cubicBezTo>
                      <a:pt x="95" y="523"/>
                      <a:pt x="313" y="2038"/>
                      <a:pt x="566" y="3032"/>
                    </a:cubicBezTo>
                    <a:cubicBezTo>
                      <a:pt x="818" y="4024"/>
                      <a:pt x="1070" y="5017"/>
                      <a:pt x="1504" y="5853"/>
                    </a:cubicBezTo>
                    <a:cubicBezTo>
                      <a:pt x="1939" y="6690"/>
                      <a:pt x="2408" y="7422"/>
                      <a:pt x="3165" y="8049"/>
                    </a:cubicBezTo>
                    <a:cubicBezTo>
                      <a:pt x="3923" y="8675"/>
                      <a:pt x="4911" y="9459"/>
                      <a:pt x="6057" y="9721"/>
                    </a:cubicBezTo>
                    <a:cubicBezTo>
                      <a:pt x="7203" y="9982"/>
                      <a:pt x="9172" y="10558"/>
                      <a:pt x="10000" y="10506"/>
                    </a:cubicBezTo>
                  </a:path>
                </a:pathLst>
              </a:custGeom>
              <a:noFill/>
              <a:ln w="19050" cmpd="sng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Text Box 22"/>
              <p:cNvSpPr txBox="1">
                <a:spLocks noChangeArrowheads="1"/>
              </p:cNvSpPr>
              <p:nvPr/>
            </p:nvSpPr>
            <p:spPr bwMode="auto">
              <a:xfrm>
                <a:off x="2017" y="1944"/>
                <a:ext cx="3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i="1" dirty="0">
                    <a:solidFill>
                      <a:srgbClr val="0000CC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200" b="1" baseline="30000" dirty="0">
                    <a:solidFill>
                      <a:srgbClr val="0000CC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  <a:r>
                  <a:rPr lang="en-US" altLang="zh-CN" sz="2200" b="1" baseline="-25000" dirty="0">
                    <a:solidFill>
                      <a:srgbClr val="0000CC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</p:grpSp>
        <p:grpSp>
          <p:nvGrpSpPr>
            <p:cNvPr id="31" name="Group 29"/>
            <p:cNvGrpSpPr>
              <a:grpSpLocks/>
            </p:cNvGrpSpPr>
            <p:nvPr/>
          </p:nvGrpSpPr>
          <p:grpSpPr bwMode="auto">
            <a:xfrm>
              <a:off x="655456" y="2451100"/>
              <a:ext cx="3198813" cy="2027238"/>
              <a:chOff x="366" y="1584"/>
              <a:chExt cx="2015" cy="1277"/>
            </a:xfrm>
          </p:grpSpPr>
          <p:sp>
            <p:nvSpPr>
              <p:cNvPr id="32" name="Freeform 30"/>
              <p:cNvSpPr>
                <a:spLocks/>
              </p:cNvSpPr>
              <p:nvPr/>
            </p:nvSpPr>
            <p:spPr bwMode="auto">
              <a:xfrm>
                <a:off x="368" y="1630"/>
                <a:ext cx="1977" cy="901"/>
              </a:xfrm>
              <a:custGeom>
                <a:avLst/>
                <a:gdLst>
                  <a:gd name="T0" fmla="*/ 0 w 2009"/>
                  <a:gd name="T1" fmla="*/ 1044 h 1044"/>
                  <a:gd name="T2" fmla="*/ 102 w 2009"/>
                  <a:gd name="T3" fmla="*/ 756 h 1044"/>
                  <a:gd name="T4" fmla="*/ 288 w 2009"/>
                  <a:gd name="T5" fmla="*/ 391 h 1044"/>
                  <a:gd name="T6" fmla="*/ 620 w 2009"/>
                  <a:gd name="T7" fmla="*/ 158 h 1044"/>
                  <a:gd name="T8" fmla="*/ 1091 w 2009"/>
                  <a:gd name="T9" fmla="*/ 43 h 1044"/>
                  <a:gd name="T10" fmla="*/ 1497 w 2009"/>
                  <a:gd name="T11" fmla="*/ 7 h 1044"/>
                  <a:gd name="T12" fmla="*/ 2009 w 2009"/>
                  <a:gd name="T13" fmla="*/ 1 h 10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9"/>
                  <a:gd name="T22" fmla="*/ 0 h 1044"/>
                  <a:gd name="T23" fmla="*/ 2009 w 2009"/>
                  <a:gd name="T24" fmla="*/ 1044 h 1044"/>
                  <a:gd name="connsiteX0" fmla="*/ 0 w 10447"/>
                  <a:gd name="connsiteY0" fmla="*/ 9990 h 9990"/>
                  <a:gd name="connsiteX1" fmla="*/ 508 w 10447"/>
                  <a:gd name="connsiteY1" fmla="*/ 7231 h 9990"/>
                  <a:gd name="connsiteX2" fmla="*/ 1434 w 10447"/>
                  <a:gd name="connsiteY2" fmla="*/ 3735 h 9990"/>
                  <a:gd name="connsiteX3" fmla="*/ 3086 w 10447"/>
                  <a:gd name="connsiteY3" fmla="*/ 1503 h 9990"/>
                  <a:gd name="connsiteX4" fmla="*/ 5431 w 10447"/>
                  <a:gd name="connsiteY4" fmla="*/ 402 h 9990"/>
                  <a:gd name="connsiteX5" fmla="*/ 7451 w 10447"/>
                  <a:gd name="connsiteY5" fmla="*/ 57 h 9990"/>
                  <a:gd name="connsiteX6" fmla="*/ 10447 w 10447"/>
                  <a:gd name="connsiteY6" fmla="*/ 0 h 9990"/>
                  <a:gd name="connsiteX0" fmla="*/ 0 w 10000"/>
                  <a:gd name="connsiteY0" fmla="*/ 10025 h 10025"/>
                  <a:gd name="connsiteX1" fmla="*/ 486 w 10000"/>
                  <a:gd name="connsiteY1" fmla="*/ 7263 h 10025"/>
                  <a:gd name="connsiteX2" fmla="*/ 1373 w 10000"/>
                  <a:gd name="connsiteY2" fmla="*/ 3764 h 10025"/>
                  <a:gd name="connsiteX3" fmla="*/ 2954 w 10000"/>
                  <a:gd name="connsiteY3" fmla="*/ 1530 h 10025"/>
                  <a:gd name="connsiteX4" fmla="*/ 5199 w 10000"/>
                  <a:gd name="connsiteY4" fmla="*/ 427 h 10025"/>
                  <a:gd name="connsiteX5" fmla="*/ 7132 w 10000"/>
                  <a:gd name="connsiteY5" fmla="*/ 82 h 10025"/>
                  <a:gd name="connsiteX6" fmla="*/ 10000 w 10000"/>
                  <a:gd name="connsiteY6" fmla="*/ 0 h 1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0" h="10025">
                    <a:moveTo>
                      <a:pt x="0" y="10025"/>
                    </a:moveTo>
                    <a:cubicBezTo>
                      <a:pt x="81" y="9565"/>
                      <a:pt x="257" y="8308"/>
                      <a:pt x="486" y="7263"/>
                    </a:cubicBezTo>
                    <a:cubicBezTo>
                      <a:pt x="715" y="6218"/>
                      <a:pt x="962" y="4723"/>
                      <a:pt x="1373" y="3764"/>
                    </a:cubicBezTo>
                    <a:cubicBezTo>
                      <a:pt x="1782" y="2805"/>
                      <a:pt x="2315" y="2086"/>
                      <a:pt x="2954" y="1530"/>
                    </a:cubicBezTo>
                    <a:cubicBezTo>
                      <a:pt x="3592" y="974"/>
                      <a:pt x="4503" y="667"/>
                      <a:pt x="5199" y="427"/>
                    </a:cubicBezTo>
                    <a:cubicBezTo>
                      <a:pt x="5894" y="187"/>
                      <a:pt x="6404" y="149"/>
                      <a:pt x="7132" y="82"/>
                    </a:cubicBezTo>
                    <a:cubicBezTo>
                      <a:pt x="7862" y="15"/>
                      <a:pt x="9490" y="9"/>
                      <a:pt x="10000" y="0"/>
                    </a:cubicBezTo>
                  </a:path>
                </a:pathLst>
              </a:custGeom>
              <a:noFill/>
              <a:ln w="19050" cmpd="sng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Freeform 31"/>
              <p:cNvSpPr>
                <a:spLocks/>
              </p:cNvSpPr>
              <p:nvPr/>
            </p:nvSpPr>
            <p:spPr bwMode="auto">
              <a:xfrm>
                <a:off x="366" y="2541"/>
                <a:ext cx="1988" cy="320"/>
              </a:xfrm>
              <a:custGeom>
                <a:avLst/>
                <a:gdLst>
                  <a:gd name="T0" fmla="*/ 0 w 1990"/>
                  <a:gd name="T1" fmla="*/ 0 h 336"/>
                  <a:gd name="T2" fmla="*/ 96 w 1990"/>
                  <a:gd name="T3" fmla="*/ 86 h 336"/>
                  <a:gd name="T4" fmla="*/ 224 w 1990"/>
                  <a:gd name="T5" fmla="*/ 150 h 336"/>
                  <a:gd name="T6" fmla="*/ 390 w 1990"/>
                  <a:gd name="T7" fmla="*/ 198 h 336"/>
                  <a:gd name="T8" fmla="*/ 758 w 1990"/>
                  <a:gd name="T9" fmla="*/ 259 h 336"/>
                  <a:gd name="T10" fmla="*/ 1250 w 1990"/>
                  <a:gd name="T11" fmla="*/ 301 h 336"/>
                  <a:gd name="T12" fmla="*/ 1654 w 1990"/>
                  <a:gd name="T13" fmla="*/ 320 h 336"/>
                  <a:gd name="T14" fmla="*/ 1990 w 1990"/>
                  <a:gd name="T15" fmla="*/ 336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90"/>
                  <a:gd name="T25" fmla="*/ 0 h 336"/>
                  <a:gd name="T26" fmla="*/ 1990 w 1990"/>
                  <a:gd name="T27" fmla="*/ 336 h 336"/>
                  <a:gd name="connsiteX0" fmla="*/ 0 w 9955"/>
                  <a:gd name="connsiteY0" fmla="*/ 0 h 9643"/>
                  <a:gd name="connsiteX1" fmla="*/ 482 w 9955"/>
                  <a:gd name="connsiteY1" fmla="*/ 2560 h 9643"/>
                  <a:gd name="connsiteX2" fmla="*/ 1126 w 9955"/>
                  <a:gd name="connsiteY2" fmla="*/ 4464 h 9643"/>
                  <a:gd name="connsiteX3" fmla="*/ 1960 w 9955"/>
                  <a:gd name="connsiteY3" fmla="*/ 5893 h 9643"/>
                  <a:gd name="connsiteX4" fmla="*/ 3809 w 9955"/>
                  <a:gd name="connsiteY4" fmla="*/ 7708 h 9643"/>
                  <a:gd name="connsiteX5" fmla="*/ 6281 w 9955"/>
                  <a:gd name="connsiteY5" fmla="*/ 8958 h 9643"/>
                  <a:gd name="connsiteX6" fmla="*/ 8312 w 9955"/>
                  <a:gd name="connsiteY6" fmla="*/ 9524 h 9643"/>
                  <a:gd name="connsiteX7" fmla="*/ 9955 w 9955"/>
                  <a:gd name="connsiteY7" fmla="*/ 9643 h 9643"/>
                  <a:gd name="connsiteX0" fmla="*/ 0 w 10000"/>
                  <a:gd name="connsiteY0" fmla="*/ 0 h 10000"/>
                  <a:gd name="connsiteX1" fmla="*/ 484 w 10000"/>
                  <a:gd name="connsiteY1" fmla="*/ 2655 h 10000"/>
                  <a:gd name="connsiteX2" fmla="*/ 1131 w 10000"/>
                  <a:gd name="connsiteY2" fmla="*/ 4629 h 10000"/>
                  <a:gd name="connsiteX3" fmla="*/ 1969 w 10000"/>
                  <a:gd name="connsiteY3" fmla="*/ 6111 h 10000"/>
                  <a:gd name="connsiteX4" fmla="*/ 3826 w 10000"/>
                  <a:gd name="connsiteY4" fmla="*/ 7993 h 10000"/>
                  <a:gd name="connsiteX5" fmla="*/ 6309 w 10000"/>
                  <a:gd name="connsiteY5" fmla="*/ 9290 h 10000"/>
                  <a:gd name="connsiteX6" fmla="*/ 8183 w 10000"/>
                  <a:gd name="connsiteY6" fmla="*/ 9877 h 10000"/>
                  <a:gd name="connsiteX7" fmla="*/ 10000 w 10000"/>
                  <a:gd name="connsiteY7" fmla="*/ 10000 h 10000"/>
                  <a:gd name="connsiteX0" fmla="*/ 0 w 8183"/>
                  <a:gd name="connsiteY0" fmla="*/ 0 h 9877"/>
                  <a:gd name="connsiteX1" fmla="*/ 484 w 8183"/>
                  <a:gd name="connsiteY1" fmla="*/ 2655 h 9877"/>
                  <a:gd name="connsiteX2" fmla="*/ 1131 w 8183"/>
                  <a:gd name="connsiteY2" fmla="*/ 4629 h 9877"/>
                  <a:gd name="connsiteX3" fmla="*/ 1969 w 8183"/>
                  <a:gd name="connsiteY3" fmla="*/ 6111 h 9877"/>
                  <a:gd name="connsiteX4" fmla="*/ 3826 w 8183"/>
                  <a:gd name="connsiteY4" fmla="*/ 7993 h 9877"/>
                  <a:gd name="connsiteX5" fmla="*/ 6309 w 8183"/>
                  <a:gd name="connsiteY5" fmla="*/ 9290 h 9877"/>
                  <a:gd name="connsiteX6" fmla="*/ 8183 w 8183"/>
                  <a:gd name="connsiteY6" fmla="*/ 9877 h 9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83" h="9877">
                    <a:moveTo>
                      <a:pt x="0" y="0"/>
                    </a:moveTo>
                    <a:cubicBezTo>
                      <a:pt x="80" y="432"/>
                      <a:pt x="297" y="1882"/>
                      <a:pt x="484" y="2655"/>
                    </a:cubicBezTo>
                    <a:cubicBezTo>
                      <a:pt x="671" y="3426"/>
                      <a:pt x="883" y="4043"/>
                      <a:pt x="1131" y="4629"/>
                    </a:cubicBezTo>
                    <a:cubicBezTo>
                      <a:pt x="1378" y="5216"/>
                      <a:pt x="1520" y="5555"/>
                      <a:pt x="1969" y="6111"/>
                    </a:cubicBezTo>
                    <a:cubicBezTo>
                      <a:pt x="2418" y="6667"/>
                      <a:pt x="3104" y="7469"/>
                      <a:pt x="3826" y="7993"/>
                    </a:cubicBezTo>
                    <a:cubicBezTo>
                      <a:pt x="4548" y="8518"/>
                      <a:pt x="5583" y="8976"/>
                      <a:pt x="6309" y="9290"/>
                    </a:cubicBezTo>
                    <a:cubicBezTo>
                      <a:pt x="7035" y="9604"/>
                      <a:pt x="7561" y="9691"/>
                      <a:pt x="8183" y="9877"/>
                    </a:cubicBezTo>
                  </a:path>
                </a:pathLst>
              </a:custGeom>
              <a:noFill/>
              <a:ln w="19050" cmpd="sng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Text Box 32"/>
              <p:cNvSpPr txBox="1">
                <a:spLocks noChangeArrowheads="1"/>
              </p:cNvSpPr>
              <p:nvPr/>
            </p:nvSpPr>
            <p:spPr bwMode="auto">
              <a:xfrm>
                <a:off x="2038" y="1584"/>
                <a:ext cx="3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i="1" dirty="0">
                    <a:solidFill>
                      <a:srgbClr val="0066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200" b="1" baseline="30000" dirty="0">
                    <a:solidFill>
                      <a:srgbClr val="0066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2</a:t>
                </a:r>
                <a:r>
                  <a:rPr lang="en-US" altLang="zh-CN" sz="2200" b="1" baseline="-25000" dirty="0">
                    <a:solidFill>
                      <a:srgbClr val="0066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</p:grpSp>
        <p:grpSp>
          <p:nvGrpSpPr>
            <p:cNvPr id="35" name="Group 33"/>
            <p:cNvGrpSpPr>
              <a:grpSpLocks/>
            </p:cNvGrpSpPr>
            <p:nvPr/>
          </p:nvGrpSpPr>
          <p:grpSpPr bwMode="auto">
            <a:xfrm>
              <a:off x="643236" y="1930400"/>
              <a:ext cx="3241676" cy="2716213"/>
              <a:chOff x="365" y="1256"/>
              <a:chExt cx="2042" cy="1711"/>
            </a:xfrm>
          </p:grpSpPr>
          <p:sp>
            <p:nvSpPr>
              <p:cNvPr id="36" name="Freeform 34"/>
              <p:cNvSpPr>
                <a:spLocks/>
              </p:cNvSpPr>
              <p:nvPr/>
            </p:nvSpPr>
            <p:spPr bwMode="auto">
              <a:xfrm>
                <a:off x="367" y="1296"/>
                <a:ext cx="1989" cy="1235"/>
              </a:xfrm>
              <a:custGeom>
                <a:avLst/>
                <a:gdLst>
                  <a:gd name="T0" fmla="*/ 0 w 1996"/>
                  <a:gd name="T1" fmla="*/ 1437 h 1437"/>
                  <a:gd name="T2" fmla="*/ 70 w 1996"/>
                  <a:gd name="T3" fmla="*/ 1159 h 1437"/>
                  <a:gd name="T4" fmla="*/ 188 w 1996"/>
                  <a:gd name="T5" fmla="*/ 791 h 1437"/>
                  <a:gd name="T6" fmla="*/ 390 w 1996"/>
                  <a:gd name="T7" fmla="*/ 455 h 1437"/>
                  <a:gd name="T8" fmla="*/ 796 w 1996"/>
                  <a:gd name="T9" fmla="*/ 183 h 1437"/>
                  <a:gd name="T10" fmla="*/ 1420 w 1996"/>
                  <a:gd name="T11" fmla="*/ 48 h 1437"/>
                  <a:gd name="T12" fmla="*/ 1996 w 1996"/>
                  <a:gd name="T13" fmla="*/ 0 h 14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6"/>
                  <a:gd name="T22" fmla="*/ 0 h 1437"/>
                  <a:gd name="T23" fmla="*/ 1996 w 1996"/>
                  <a:gd name="T24" fmla="*/ 1437 h 1437"/>
                  <a:gd name="connsiteX0" fmla="*/ 0 w 11146"/>
                  <a:gd name="connsiteY0" fmla="*/ 10054 h 10054"/>
                  <a:gd name="connsiteX1" fmla="*/ 351 w 11146"/>
                  <a:gd name="connsiteY1" fmla="*/ 8119 h 10054"/>
                  <a:gd name="connsiteX2" fmla="*/ 942 w 11146"/>
                  <a:gd name="connsiteY2" fmla="*/ 5559 h 10054"/>
                  <a:gd name="connsiteX3" fmla="*/ 1954 w 11146"/>
                  <a:gd name="connsiteY3" fmla="*/ 3220 h 10054"/>
                  <a:gd name="connsiteX4" fmla="*/ 3988 w 11146"/>
                  <a:gd name="connsiteY4" fmla="*/ 1327 h 10054"/>
                  <a:gd name="connsiteX5" fmla="*/ 7114 w 11146"/>
                  <a:gd name="connsiteY5" fmla="*/ 388 h 10054"/>
                  <a:gd name="connsiteX6" fmla="*/ 11146 w 11146"/>
                  <a:gd name="connsiteY6" fmla="*/ 0 h 10054"/>
                  <a:gd name="connsiteX0" fmla="*/ 0 w 11134"/>
                  <a:gd name="connsiteY0" fmla="*/ 9964 h 9964"/>
                  <a:gd name="connsiteX1" fmla="*/ 351 w 11134"/>
                  <a:gd name="connsiteY1" fmla="*/ 8029 h 9964"/>
                  <a:gd name="connsiteX2" fmla="*/ 942 w 11134"/>
                  <a:gd name="connsiteY2" fmla="*/ 5469 h 9964"/>
                  <a:gd name="connsiteX3" fmla="*/ 1954 w 11134"/>
                  <a:gd name="connsiteY3" fmla="*/ 3130 h 9964"/>
                  <a:gd name="connsiteX4" fmla="*/ 3988 w 11134"/>
                  <a:gd name="connsiteY4" fmla="*/ 1237 h 9964"/>
                  <a:gd name="connsiteX5" fmla="*/ 7114 w 11134"/>
                  <a:gd name="connsiteY5" fmla="*/ 298 h 9964"/>
                  <a:gd name="connsiteX6" fmla="*/ 11134 w 11134"/>
                  <a:gd name="connsiteY6" fmla="*/ 0 h 9964"/>
                  <a:gd name="connsiteX0" fmla="*/ 0 w 10000"/>
                  <a:gd name="connsiteY0" fmla="*/ 10000 h 10000"/>
                  <a:gd name="connsiteX1" fmla="*/ 315 w 10000"/>
                  <a:gd name="connsiteY1" fmla="*/ 8058 h 10000"/>
                  <a:gd name="connsiteX2" fmla="*/ 846 w 10000"/>
                  <a:gd name="connsiteY2" fmla="*/ 5489 h 10000"/>
                  <a:gd name="connsiteX3" fmla="*/ 1755 w 10000"/>
                  <a:gd name="connsiteY3" fmla="*/ 3141 h 10000"/>
                  <a:gd name="connsiteX4" fmla="*/ 3582 w 10000"/>
                  <a:gd name="connsiteY4" fmla="*/ 1241 h 10000"/>
                  <a:gd name="connsiteX5" fmla="*/ 6389 w 10000"/>
                  <a:gd name="connsiteY5" fmla="*/ 299 h 10000"/>
                  <a:gd name="connsiteX6" fmla="*/ 10000 w 10000"/>
                  <a:gd name="connsiteY6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0" h="10000">
                    <a:moveTo>
                      <a:pt x="0" y="10000"/>
                    </a:moveTo>
                    <a:cubicBezTo>
                      <a:pt x="54" y="9679"/>
                      <a:pt x="175" y="8813"/>
                      <a:pt x="315" y="8058"/>
                    </a:cubicBezTo>
                    <a:cubicBezTo>
                      <a:pt x="454" y="7304"/>
                      <a:pt x="607" y="6306"/>
                      <a:pt x="846" y="5489"/>
                    </a:cubicBezTo>
                    <a:cubicBezTo>
                      <a:pt x="1084" y="4671"/>
                      <a:pt x="1301" y="3847"/>
                      <a:pt x="1755" y="3141"/>
                    </a:cubicBezTo>
                    <a:cubicBezTo>
                      <a:pt x="2209" y="2436"/>
                      <a:pt x="2808" y="1717"/>
                      <a:pt x="3582" y="1241"/>
                    </a:cubicBezTo>
                    <a:cubicBezTo>
                      <a:pt x="4356" y="767"/>
                      <a:pt x="5489" y="516"/>
                      <a:pt x="6389" y="299"/>
                    </a:cubicBezTo>
                    <a:cubicBezTo>
                      <a:pt x="7289" y="82"/>
                      <a:pt x="9449" y="16"/>
                      <a:pt x="10000" y="0"/>
                    </a:cubicBezTo>
                  </a:path>
                </a:pathLst>
              </a:custGeom>
              <a:noFill/>
              <a:ln w="19050" cmpd="sng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Freeform 35"/>
              <p:cNvSpPr>
                <a:spLocks/>
              </p:cNvSpPr>
              <p:nvPr/>
            </p:nvSpPr>
            <p:spPr bwMode="auto">
              <a:xfrm>
                <a:off x="365" y="2541"/>
                <a:ext cx="1988" cy="426"/>
              </a:xfrm>
              <a:custGeom>
                <a:avLst/>
                <a:gdLst>
                  <a:gd name="T0" fmla="*/ 0 w 2006"/>
                  <a:gd name="T1" fmla="*/ 0 h 445"/>
                  <a:gd name="T2" fmla="*/ 83 w 2006"/>
                  <a:gd name="T3" fmla="*/ 125 h 445"/>
                  <a:gd name="T4" fmla="*/ 259 w 2006"/>
                  <a:gd name="T5" fmla="*/ 230 h 445"/>
                  <a:gd name="T6" fmla="*/ 576 w 2006"/>
                  <a:gd name="T7" fmla="*/ 313 h 445"/>
                  <a:gd name="T8" fmla="*/ 1161 w 2006"/>
                  <a:gd name="T9" fmla="*/ 387 h 445"/>
                  <a:gd name="T10" fmla="*/ 2006 w 2006"/>
                  <a:gd name="T11" fmla="*/ 445 h 4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06"/>
                  <a:gd name="T19" fmla="*/ 0 h 445"/>
                  <a:gd name="T20" fmla="*/ 2006 w 2006"/>
                  <a:gd name="T21" fmla="*/ 445 h 445"/>
                  <a:gd name="connsiteX0" fmla="*/ 0 w 9955"/>
                  <a:gd name="connsiteY0" fmla="*/ 0 h 9933"/>
                  <a:gd name="connsiteX1" fmla="*/ 414 w 9955"/>
                  <a:gd name="connsiteY1" fmla="*/ 2809 h 9933"/>
                  <a:gd name="connsiteX2" fmla="*/ 1291 w 9955"/>
                  <a:gd name="connsiteY2" fmla="*/ 5169 h 9933"/>
                  <a:gd name="connsiteX3" fmla="*/ 2871 w 9955"/>
                  <a:gd name="connsiteY3" fmla="*/ 7034 h 9933"/>
                  <a:gd name="connsiteX4" fmla="*/ 5788 w 9955"/>
                  <a:gd name="connsiteY4" fmla="*/ 8697 h 9933"/>
                  <a:gd name="connsiteX5" fmla="*/ 9955 w 9955"/>
                  <a:gd name="connsiteY5" fmla="*/ 9933 h 9933"/>
                  <a:gd name="connsiteX0" fmla="*/ 0 w 10000"/>
                  <a:gd name="connsiteY0" fmla="*/ 0 h 10000"/>
                  <a:gd name="connsiteX1" fmla="*/ 416 w 10000"/>
                  <a:gd name="connsiteY1" fmla="*/ 2828 h 10000"/>
                  <a:gd name="connsiteX2" fmla="*/ 1297 w 10000"/>
                  <a:gd name="connsiteY2" fmla="*/ 5204 h 10000"/>
                  <a:gd name="connsiteX3" fmla="*/ 2884 w 10000"/>
                  <a:gd name="connsiteY3" fmla="*/ 7081 h 10000"/>
                  <a:gd name="connsiteX4" fmla="*/ 5814 w 10000"/>
                  <a:gd name="connsiteY4" fmla="*/ 8756 h 10000"/>
                  <a:gd name="connsiteX5" fmla="*/ 7817 w 10000"/>
                  <a:gd name="connsiteY5" fmla="*/ 9525 h 10000"/>
                  <a:gd name="connsiteX6" fmla="*/ 10000 w 10000"/>
                  <a:gd name="connsiteY6" fmla="*/ 10000 h 10000"/>
                  <a:gd name="connsiteX0" fmla="*/ 0 w 10000"/>
                  <a:gd name="connsiteY0" fmla="*/ 0 h 10000"/>
                  <a:gd name="connsiteX1" fmla="*/ 416 w 10000"/>
                  <a:gd name="connsiteY1" fmla="*/ 2828 h 10000"/>
                  <a:gd name="connsiteX2" fmla="*/ 1297 w 10000"/>
                  <a:gd name="connsiteY2" fmla="*/ 5204 h 10000"/>
                  <a:gd name="connsiteX3" fmla="*/ 2884 w 10000"/>
                  <a:gd name="connsiteY3" fmla="*/ 7081 h 10000"/>
                  <a:gd name="connsiteX4" fmla="*/ 5033 w 10000"/>
                  <a:gd name="connsiteY4" fmla="*/ 8349 h 10000"/>
                  <a:gd name="connsiteX5" fmla="*/ 7817 w 10000"/>
                  <a:gd name="connsiteY5" fmla="*/ 9525 h 10000"/>
                  <a:gd name="connsiteX6" fmla="*/ 10000 w 10000"/>
                  <a:gd name="connsiteY6" fmla="*/ 10000 h 10000"/>
                  <a:gd name="connsiteX0" fmla="*/ 0 w 10000"/>
                  <a:gd name="connsiteY0" fmla="*/ 0 h 10000"/>
                  <a:gd name="connsiteX1" fmla="*/ 416 w 10000"/>
                  <a:gd name="connsiteY1" fmla="*/ 2828 h 10000"/>
                  <a:gd name="connsiteX2" fmla="*/ 1297 w 10000"/>
                  <a:gd name="connsiteY2" fmla="*/ 5204 h 10000"/>
                  <a:gd name="connsiteX3" fmla="*/ 2884 w 10000"/>
                  <a:gd name="connsiteY3" fmla="*/ 7081 h 10000"/>
                  <a:gd name="connsiteX4" fmla="*/ 4958 w 10000"/>
                  <a:gd name="connsiteY4" fmla="*/ 8417 h 10000"/>
                  <a:gd name="connsiteX5" fmla="*/ 7817 w 10000"/>
                  <a:gd name="connsiteY5" fmla="*/ 9525 h 10000"/>
                  <a:gd name="connsiteX6" fmla="*/ 10000 w 10000"/>
                  <a:gd name="connsiteY6" fmla="*/ 10000 h 10000"/>
                  <a:gd name="connsiteX0" fmla="*/ 0 w 7817"/>
                  <a:gd name="connsiteY0" fmla="*/ 0 h 9525"/>
                  <a:gd name="connsiteX1" fmla="*/ 416 w 7817"/>
                  <a:gd name="connsiteY1" fmla="*/ 2828 h 9525"/>
                  <a:gd name="connsiteX2" fmla="*/ 1297 w 7817"/>
                  <a:gd name="connsiteY2" fmla="*/ 5204 h 9525"/>
                  <a:gd name="connsiteX3" fmla="*/ 2884 w 7817"/>
                  <a:gd name="connsiteY3" fmla="*/ 7081 h 9525"/>
                  <a:gd name="connsiteX4" fmla="*/ 4958 w 7817"/>
                  <a:gd name="connsiteY4" fmla="*/ 8417 h 9525"/>
                  <a:gd name="connsiteX5" fmla="*/ 7817 w 7817"/>
                  <a:gd name="connsiteY5" fmla="*/ 9525 h 9525"/>
                  <a:gd name="connsiteX0" fmla="*/ 0 w 8190"/>
                  <a:gd name="connsiteY0" fmla="*/ 0 h 9559"/>
                  <a:gd name="connsiteX1" fmla="*/ 532 w 8190"/>
                  <a:gd name="connsiteY1" fmla="*/ 2969 h 9559"/>
                  <a:gd name="connsiteX2" fmla="*/ 1659 w 8190"/>
                  <a:gd name="connsiteY2" fmla="*/ 5464 h 9559"/>
                  <a:gd name="connsiteX3" fmla="*/ 3689 w 8190"/>
                  <a:gd name="connsiteY3" fmla="*/ 7434 h 9559"/>
                  <a:gd name="connsiteX4" fmla="*/ 6343 w 8190"/>
                  <a:gd name="connsiteY4" fmla="*/ 8837 h 9559"/>
                  <a:gd name="connsiteX5" fmla="*/ 8190 w 8190"/>
                  <a:gd name="connsiteY5" fmla="*/ 9559 h 9559"/>
                  <a:gd name="connsiteX0" fmla="*/ 0 w 9971"/>
                  <a:gd name="connsiteY0" fmla="*/ 0 h 9824"/>
                  <a:gd name="connsiteX1" fmla="*/ 650 w 9971"/>
                  <a:gd name="connsiteY1" fmla="*/ 3106 h 9824"/>
                  <a:gd name="connsiteX2" fmla="*/ 2026 w 9971"/>
                  <a:gd name="connsiteY2" fmla="*/ 5716 h 9824"/>
                  <a:gd name="connsiteX3" fmla="*/ 4504 w 9971"/>
                  <a:gd name="connsiteY3" fmla="*/ 7777 h 9824"/>
                  <a:gd name="connsiteX4" fmla="*/ 7745 w 9971"/>
                  <a:gd name="connsiteY4" fmla="*/ 9245 h 9824"/>
                  <a:gd name="connsiteX5" fmla="*/ 9971 w 9971"/>
                  <a:gd name="connsiteY5" fmla="*/ 9824 h 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71" h="9824">
                    <a:moveTo>
                      <a:pt x="0" y="0"/>
                    </a:moveTo>
                    <a:cubicBezTo>
                      <a:pt x="110" y="522"/>
                      <a:pt x="313" y="2161"/>
                      <a:pt x="650" y="3106"/>
                    </a:cubicBezTo>
                    <a:cubicBezTo>
                      <a:pt x="985" y="4051"/>
                      <a:pt x="1383" y="4945"/>
                      <a:pt x="2026" y="5716"/>
                    </a:cubicBezTo>
                    <a:cubicBezTo>
                      <a:pt x="2668" y="6485"/>
                      <a:pt x="3552" y="7189"/>
                      <a:pt x="4504" y="7777"/>
                    </a:cubicBezTo>
                    <a:cubicBezTo>
                      <a:pt x="5458" y="8366"/>
                      <a:pt x="6834" y="8904"/>
                      <a:pt x="7745" y="9245"/>
                    </a:cubicBezTo>
                    <a:cubicBezTo>
                      <a:pt x="8656" y="9586"/>
                      <a:pt x="8881" y="9597"/>
                      <a:pt x="9971" y="9824"/>
                    </a:cubicBezTo>
                  </a:path>
                </a:pathLst>
              </a:custGeom>
              <a:noFill/>
              <a:ln w="19050" cmpd="sng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Text Box 36"/>
              <p:cNvSpPr txBox="1">
                <a:spLocks noChangeArrowheads="1"/>
              </p:cNvSpPr>
              <p:nvPr/>
            </p:nvSpPr>
            <p:spPr bwMode="auto">
              <a:xfrm>
                <a:off x="2064" y="1256"/>
                <a:ext cx="3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i="1" dirty="0">
                    <a:solidFill>
                      <a:srgbClr val="80008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200" b="1" baseline="30000" dirty="0">
                    <a:solidFill>
                      <a:srgbClr val="80008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r>
                  <a:rPr lang="en-US" altLang="zh-CN" sz="2200" b="1" baseline="-25000" dirty="0">
                    <a:solidFill>
                      <a:srgbClr val="80008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</p:grpSp>
      </p:grpSp>
      <p:sp>
        <p:nvSpPr>
          <p:cNvPr id="48" name="Text Box 5"/>
          <p:cNvSpPr txBox="1">
            <a:spLocks noChangeArrowheads="1"/>
          </p:cNvSpPr>
          <p:nvPr/>
        </p:nvSpPr>
        <p:spPr bwMode="auto">
          <a:xfrm>
            <a:off x="4295551" y="1490519"/>
            <a:ext cx="4348716" cy="338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应力应变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曲线基本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呈渐进增加的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形式，不出现峰值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开始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段的斜率较陡，之后逐步平缓，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最终趋向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于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水平，表现为</a:t>
            </a:r>
            <a:r>
              <a:rPr lang="zh-CN" altLang="en-US" sz="22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应变硬化型</a:t>
            </a:r>
            <a:endParaRPr lang="en-US" altLang="zh-CN" sz="2200" b="1" dirty="0" smtClean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体积变形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均是体积压缩。开始段体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变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增加较快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，之后逐渐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平缓，最终趋于一个稳定值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63758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43263" y="5878513"/>
            <a:ext cx="3398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固结排水试验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706755" y="716599"/>
            <a:ext cx="571531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松砂与正常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固结黏土的强度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包线</a:t>
            </a:r>
          </a:p>
        </p:txBody>
      </p:sp>
      <p:grpSp>
        <p:nvGrpSpPr>
          <p:cNvPr id="15" name="Group 13"/>
          <p:cNvGrpSpPr>
            <a:grpSpLocks/>
          </p:cNvGrpSpPr>
          <p:nvPr/>
        </p:nvGrpSpPr>
        <p:grpSpPr bwMode="auto">
          <a:xfrm>
            <a:off x="2442741" y="1263030"/>
            <a:ext cx="3995738" cy="2540000"/>
            <a:chOff x="2992" y="1793"/>
            <a:chExt cx="2517" cy="1600"/>
          </a:xfrm>
        </p:grpSpPr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V="1">
              <a:off x="2994" y="1984"/>
              <a:ext cx="0" cy="1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2992" y="3094"/>
              <a:ext cx="24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4873" y="3074"/>
              <a:ext cx="636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b="1" i="1" dirty="0" smtClean="0">
                  <a:cs typeface="Times New Roman" panose="02020603050405020304" pitchFamily="18" charset="0"/>
                  <a:sym typeface="Symbol" pitchFamily="18" charset="2"/>
                </a:rPr>
                <a:t> </a:t>
              </a:r>
              <a:r>
                <a:rPr lang="en-US" altLang="zh-CN" sz="2600" b="1" dirty="0" smtClean="0"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26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600" b="1" dirty="0" smtClean="0"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endParaRPr lang="en-US" altLang="zh-CN" sz="2600" b="1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2994" y="1793"/>
              <a:ext cx="280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6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grpSp>
        <p:nvGrpSpPr>
          <p:cNvPr id="25" name="Group 23"/>
          <p:cNvGrpSpPr>
            <a:grpSpLocks/>
          </p:cNvGrpSpPr>
          <p:nvPr/>
        </p:nvGrpSpPr>
        <p:grpSpPr bwMode="auto">
          <a:xfrm>
            <a:off x="2458615" y="1513854"/>
            <a:ext cx="3825875" cy="1798637"/>
            <a:chOff x="3002" y="1951"/>
            <a:chExt cx="2410" cy="1133"/>
          </a:xfrm>
        </p:grpSpPr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V="1">
              <a:off x="3002" y="2139"/>
              <a:ext cx="2138" cy="945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4871" y="2137"/>
              <a:ext cx="54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i="1" dirty="0" smtClean="0">
                  <a:solidFill>
                    <a:srgbClr val="A50021"/>
                  </a:solidFill>
                  <a:sym typeface="Symbol"/>
                </a:rPr>
                <a:t></a:t>
              </a:r>
              <a:r>
                <a:rPr kumimoji="1" lang="en-US" altLang="zh-CN" sz="2200" b="1" baseline="-25000" dirty="0" smtClean="0">
                  <a:solidFill>
                    <a:srgbClr val="A50021"/>
                  </a:solidFill>
                  <a:sym typeface="Symbol" pitchFamily="18" charset="2"/>
                </a:rPr>
                <a:t>d</a:t>
              </a:r>
              <a:r>
                <a:rPr kumimoji="1" lang="en-US" altLang="zh-CN" sz="2200" b="1" dirty="0" smtClean="0">
                  <a:solidFill>
                    <a:srgbClr val="A50021"/>
                  </a:solidFill>
                  <a:sym typeface="Symbol" pitchFamily="18" charset="2"/>
                </a:rPr>
                <a:t>=</a:t>
              </a:r>
              <a:r>
                <a:rPr kumimoji="1" lang="en-US" altLang="zh-CN" sz="2200" b="1" i="1" dirty="0" smtClean="0">
                  <a:solidFill>
                    <a:srgbClr val="A50021"/>
                  </a:solidFill>
                  <a:sym typeface="Symbol"/>
                </a:rPr>
                <a:t></a:t>
              </a:r>
              <a:r>
                <a:rPr kumimoji="1" lang="en-US" altLang="zh-CN" sz="2200" b="1" dirty="0" smtClean="0">
                  <a:solidFill>
                    <a:srgbClr val="A50021"/>
                  </a:solidFill>
                  <a:sym typeface="Symbol" pitchFamily="18" charset="2"/>
                </a:rPr>
                <a:t></a:t>
              </a:r>
              <a:endParaRPr kumimoji="1" lang="en-US" altLang="zh-CN" sz="2200" b="1" dirty="0">
                <a:solidFill>
                  <a:srgbClr val="A50021"/>
                </a:solidFill>
                <a:sym typeface="Symbol" pitchFamily="18" charset="2"/>
              </a:endParaRP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4560" y="2403"/>
              <a:ext cx="4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3916" y="1951"/>
              <a:ext cx="64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300" b="1" i="1" dirty="0">
                  <a:solidFill>
                    <a:srgbClr val="800080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300" b="1" baseline="-25000" dirty="0">
                  <a:solidFill>
                    <a:srgbClr val="800080"/>
                  </a:solidFill>
                  <a:cs typeface="Times New Roman" panose="02020603050405020304" pitchFamily="18" charset="0"/>
                </a:rPr>
                <a:t>f</a:t>
              </a:r>
              <a:r>
                <a:rPr kumimoji="1" lang="en-US" altLang="zh-CN" sz="2300" dirty="0">
                  <a:solidFill>
                    <a:srgbClr val="800080"/>
                  </a:solidFill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2300" b="1" i="1" dirty="0">
                  <a:solidFill>
                    <a:srgbClr val="800080"/>
                  </a:solidFill>
                  <a:ea typeface="华文隶书" pitchFamily="2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300" b="1" baseline="-25000" dirty="0">
                  <a:solidFill>
                    <a:srgbClr val="800080"/>
                  </a:solidFill>
                  <a:ea typeface="华文隶书" pitchFamily="2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300" dirty="0">
                  <a:solidFill>
                    <a:srgbClr val="800080"/>
                  </a:solidFill>
                  <a:ea typeface="华文隶书" pitchFamily="2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H="1" flipV="1">
              <a:off x="4217" y="2220"/>
              <a:ext cx="154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37"/>
          <p:cNvGrpSpPr>
            <a:grpSpLocks/>
          </p:cNvGrpSpPr>
          <p:nvPr/>
        </p:nvGrpSpPr>
        <p:grpSpPr bwMode="auto">
          <a:xfrm>
            <a:off x="2817390" y="2910857"/>
            <a:ext cx="1069975" cy="803275"/>
            <a:chOff x="3228" y="2831"/>
            <a:chExt cx="674" cy="506"/>
          </a:xfrm>
        </p:grpSpPr>
        <p:sp>
          <p:nvSpPr>
            <p:cNvPr id="40" name="Arc 38"/>
            <p:cNvSpPr>
              <a:spLocks/>
            </p:cNvSpPr>
            <p:nvPr/>
          </p:nvSpPr>
          <p:spPr bwMode="auto">
            <a:xfrm flipH="1" flipV="1">
              <a:off x="3393" y="2831"/>
              <a:ext cx="509" cy="260"/>
            </a:xfrm>
            <a:custGeom>
              <a:avLst/>
              <a:gdLst>
                <a:gd name="T0" fmla="*/ 509 w 43200"/>
                <a:gd name="T1" fmla="*/ 1 h 22107"/>
                <a:gd name="T2" fmla="*/ 0 w 43200"/>
                <a:gd name="T3" fmla="*/ 0 h 22107"/>
                <a:gd name="T4" fmla="*/ 255 w 43200"/>
                <a:gd name="T5" fmla="*/ 6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Text Box 39"/>
            <p:cNvSpPr txBox="1">
              <a:spLocks noChangeArrowheads="1"/>
            </p:cNvSpPr>
            <p:nvPr/>
          </p:nvSpPr>
          <p:spPr bwMode="auto">
            <a:xfrm>
              <a:off x="3228" y="3066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</p:grpSp>
      <p:grpSp>
        <p:nvGrpSpPr>
          <p:cNvPr id="42" name="Group 40"/>
          <p:cNvGrpSpPr>
            <a:grpSpLocks/>
          </p:cNvGrpSpPr>
          <p:nvPr/>
        </p:nvGrpSpPr>
        <p:grpSpPr bwMode="auto">
          <a:xfrm>
            <a:off x="3347615" y="2590181"/>
            <a:ext cx="1668463" cy="1109663"/>
            <a:chOff x="3562" y="2629"/>
            <a:chExt cx="1051" cy="699"/>
          </a:xfrm>
        </p:grpSpPr>
        <p:sp>
          <p:nvSpPr>
            <p:cNvPr id="43" name="Arc 41"/>
            <p:cNvSpPr>
              <a:spLocks/>
            </p:cNvSpPr>
            <p:nvPr/>
          </p:nvSpPr>
          <p:spPr bwMode="auto">
            <a:xfrm flipH="1" flipV="1">
              <a:off x="3688" y="2629"/>
              <a:ext cx="925" cy="473"/>
            </a:xfrm>
            <a:custGeom>
              <a:avLst/>
              <a:gdLst>
                <a:gd name="T0" fmla="*/ 925 w 43200"/>
                <a:gd name="T1" fmla="*/ 2 h 22107"/>
                <a:gd name="T2" fmla="*/ 0 w 43200"/>
                <a:gd name="T3" fmla="*/ 0 h 22107"/>
                <a:gd name="T4" fmla="*/ 463 w 43200"/>
                <a:gd name="T5" fmla="*/ 11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42"/>
            <p:cNvSpPr txBox="1">
              <a:spLocks noChangeArrowheads="1"/>
            </p:cNvSpPr>
            <p:nvPr/>
          </p:nvSpPr>
          <p:spPr bwMode="auto">
            <a:xfrm>
              <a:off x="3562" y="3057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2</a:t>
              </a:r>
              <a:r>
                <a:rPr lang="en-US" altLang="zh-CN" sz="2200" b="1" baseline="-25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</p:grpSp>
      <p:grpSp>
        <p:nvGrpSpPr>
          <p:cNvPr id="45" name="Group 43"/>
          <p:cNvGrpSpPr>
            <a:grpSpLocks/>
          </p:cNvGrpSpPr>
          <p:nvPr/>
        </p:nvGrpSpPr>
        <p:grpSpPr bwMode="auto">
          <a:xfrm>
            <a:off x="3903239" y="2313955"/>
            <a:ext cx="2038350" cy="1377950"/>
            <a:chOff x="3912" y="2455"/>
            <a:chExt cx="1284" cy="868"/>
          </a:xfrm>
        </p:grpSpPr>
        <p:sp>
          <p:nvSpPr>
            <p:cNvPr id="46" name="Arc 44"/>
            <p:cNvSpPr>
              <a:spLocks/>
            </p:cNvSpPr>
            <p:nvPr/>
          </p:nvSpPr>
          <p:spPr bwMode="auto">
            <a:xfrm flipH="1" flipV="1">
              <a:off x="3944" y="2455"/>
              <a:ext cx="1252" cy="640"/>
            </a:xfrm>
            <a:custGeom>
              <a:avLst/>
              <a:gdLst>
                <a:gd name="T0" fmla="*/ 1252 w 43200"/>
                <a:gd name="T1" fmla="*/ 2 h 22107"/>
                <a:gd name="T2" fmla="*/ 0 w 43200"/>
                <a:gd name="T3" fmla="*/ 0 h 22107"/>
                <a:gd name="T4" fmla="*/ 626 w 43200"/>
                <a:gd name="T5" fmla="*/ 15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Text Box 45"/>
            <p:cNvSpPr txBox="1">
              <a:spLocks noChangeArrowheads="1"/>
            </p:cNvSpPr>
            <p:nvPr/>
          </p:nvSpPr>
          <p:spPr bwMode="auto">
            <a:xfrm>
              <a:off x="3912" y="3052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r>
                <a:rPr lang="en-US" altLang="zh-CN" sz="2200" b="1" baseline="-25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</p:grpSp>
      <p:sp>
        <p:nvSpPr>
          <p:cNvPr id="48" name="Text Box 5"/>
          <p:cNvSpPr txBox="1">
            <a:spLocks noChangeArrowheads="1"/>
          </p:cNvSpPr>
          <p:nvPr/>
        </p:nvSpPr>
        <p:spPr bwMode="auto">
          <a:xfrm>
            <a:off x="1293341" y="3920020"/>
            <a:ext cx="7116384" cy="1403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对松砂和正常固结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黏土，三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轴固结排水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试验的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抗剪强度包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线都通过原点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可表示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为：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tan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,  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  <a:endParaRPr lang="en-US" altLang="zh-CN" sz="2400" b="1" baseline="-25000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79210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1768475" y="3514078"/>
            <a:ext cx="6948488" cy="1828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828800" y="2412929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504765" y="2047963"/>
            <a:ext cx="65121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F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什么是实验室三轴试验中的正常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固结黏土？</a:t>
            </a:r>
            <a:endParaRPr kumimoji="1"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909033" y="2750333"/>
            <a:ext cx="5810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41325" indent="-44132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anose="05000000000000000000" pitchFamily="2" charset="2"/>
              <a:buChar char="ü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有效固结压力</a:t>
            </a:r>
            <a:r>
              <a:rPr kumimoji="1" lang="en-US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等于先期固结压力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974850" y="3671240"/>
            <a:ext cx="6726238" cy="1440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在三轴试验中</a:t>
            </a:r>
            <a:r>
              <a:rPr kumimoji="1" lang="zh-CN" altLang="en-US" sz="26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，对</a:t>
            </a:r>
            <a:r>
              <a:rPr kumimoji="1" lang="en-US" altLang="en-US" sz="26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600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en-US" altLang="zh-CN" sz="26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en-US" sz="26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的正常</a:t>
            </a:r>
            <a:r>
              <a:rPr kumimoji="1" lang="zh-CN" altLang="en-US" sz="26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固结黏土</a:t>
            </a:r>
            <a:r>
              <a:rPr kumimoji="1" lang="zh-CN" altLang="en-US" sz="26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，必然有</a:t>
            </a:r>
            <a:r>
              <a:rPr kumimoji="1" lang="en-US" altLang="en-US" sz="26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kumimoji="1" lang="en-US" altLang="zh-CN" sz="2600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6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en-US" sz="26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，表示这种土历史上从未受过任何应力的固结，必定</a:t>
            </a:r>
            <a:r>
              <a:rPr kumimoji="1" lang="zh-CN" altLang="en-US" sz="26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处于泥浆状态，抗剪强度</a:t>
            </a:r>
            <a:r>
              <a:rPr kumimoji="1" lang="zh-CN" altLang="en-US" sz="26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为</a:t>
            </a:r>
            <a:r>
              <a:rPr kumimoji="1" lang="en-US" altLang="zh-CN" sz="26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1025525" y="3686370"/>
            <a:ext cx="612775" cy="461963"/>
          </a:xfrm>
          <a:prstGeom prst="homePlate">
            <a:avLst>
              <a:gd name="adj" fmla="val 33161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3243263" y="5878513"/>
            <a:ext cx="3398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固结排水试验</a:t>
            </a:r>
          </a:p>
        </p:txBody>
      </p:sp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458844" y="796142"/>
            <a:ext cx="7182236" cy="102329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14</a:t>
            </a:r>
            <a:r>
              <a:rPr lang="zh-CN" altLang="en-US" sz="2600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、讨论</a:t>
            </a:r>
            <a:r>
              <a:rPr lang="zh-CN" altLang="en-US" sz="2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>
                <a:solidFill>
                  <a:srgbClr val="0000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为什么正常固结黏土强度包线过</a:t>
            </a:r>
            <a:r>
              <a:rPr lang="zh-CN" altLang="en-US" sz="2600" dirty="0" smtClean="0">
                <a:solidFill>
                  <a:srgbClr val="0000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原点</a:t>
            </a:r>
            <a:endParaRPr lang="en-US" altLang="zh-CN" sz="2600" dirty="0" smtClean="0">
              <a:solidFill>
                <a:srgbClr val="000066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17" name="Picture 2" descr="H:\timg (1)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76" y="726893"/>
            <a:ext cx="715303" cy="106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矩形 17"/>
          <p:cNvSpPr/>
          <p:nvPr/>
        </p:nvSpPr>
        <p:spPr bwMode="auto">
          <a:xfrm>
            <a:off x="511639" y="754916"/>
            <a:ext cx="8230025" cy="1052622"/>
          </a:xfrm>
          <a:prstGeom prst="rect">
            <a:avLst/>
          </a:prstGeom>
          <a:noFill/>
          <a:ln w="12700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336289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3" dur="8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4" dur="8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8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15" grpId="0" animBg="1"/>
      <p:bldP spid="16" grpId="0"/>
      <p:bldP spid="1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828800" y="22002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chemeClr val="bg1"/>
              </a:solidFill>
              <a:ea typeface="幼圆" pitchFamily="49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68450" y="23066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chemeClr val="bg1"/>
              </a:solidFill>
              <a:ea typeface="幼圆" pitchFamily="49" charset="-122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776413" y="1993900"/>
            <a:ext cx="6675437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A50021"/>
              </a:buClr>
              <a:buSzPct val="125000"/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黏性土黏聚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力的存在是客观的。在正常固结情况下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，黏聚力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随</a:t>
            </a:r>
            <a:r>
              <a:rPr kumimoji="1" lang="en-US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增加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而增加，从而使其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隐含在摩擦强度之内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5000"/>
              </a:lnSpc>
              <a:buClr>
                <a:srgbClr val="A50021"/>
              </a:buClr>
              <a:buSzPct val="125000"/>
              <a:buFontTx/>
              <a:buChar char="•"/>
            </a:pP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kumimoji="1"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在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物理意义上并不严格“真实”地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反映黏聚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和摩擦两个抗剪强度分量，而通常是“你中有我，我中有你”，从而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失去其物理意义，变成仅为计算参数的含义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995363" y="2052638"/>
            <a:ext cx="612775" cy="461962"/>
          </a:xfrm>
          <a:prstGeom prst="homePlate">
            <a:avLst>
              <a:gd name="adj" fmla="val 33162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3243263" y="5878513"/>
            <a:ext cx="3398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固结排水试验</a:t>
            </a: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1233645" y="796142"/>
            <a:ext cx="7736619" cy="102329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15</a:t>
            </a:r>
            <a:r>
              <a:rPr lang="zh-CN" altLang="en-US" sz="2600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C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讨论：</a:t>
            </a:r>
            <a:r>
              <a:rPr lang="en-US" altLang="zh-CN" sz="2600" b="1" i="1" dirty="0" smtClean="0">
                <a:solidFill>
                  <a:srgbClr val="000066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r>
              <a:rPr lang="en-US" altLang="zh-CN" sz="2600" b="1" dirty="0" smtClean="0">
                <a:solidFill>
                  <a:srgbClr val="000066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b="1" dirty="0">
                <a:solidFill>
                  <a:srgbClr val="000066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= 0</a:t>
            </a:r>
            <a:r>
              <a:rPr lang="zh-CN" altLang="en-US" sz="2600" dirty="0">
                <a:solidFill>
                  <a:srgbClr val="000066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是否意味着正常固结黏土无黏聚力</a:t>
            </a:r>
            <a:r>
              <a:rPr lang="en-US" altLang="zh-CN" sz="2600" dirty="0" smtClean="0">
                <a:solidFill>
                  <a:srgbClr val="000066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?</a:t>
            </a:r>
            <a:endParaRPr lang="en-US" altLang="zh-CN" sz="2600" dirty="0">
              <a:solidFill>
                <a:srgbClr val="000066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pic>
        <p:nvPicPr>
          <p:cNvPr id="14" name="Picture 2" descr="H:\timg (1)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77" y="726893"/>
            <a:ext cx="715303" cy="106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/>
          <p:cNvSpPr/>
          <p:nvPr/>
        </p:nvSpPr>
        <p:spPr bwMode="auto">
          <a:xfrm>
            <a:off x="286440" y="754916"/>
            <a:ext cx="8601528" cy="1052622"/>
          </a:xfrm>
          <a:prstGeom prst="rect">
            <a:avLst/>
          </a:prstGeom>
          <a:noFill/>
          <a:ln w="12700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242222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43263" y="5878513"/>
            <a:ext cx="3398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固结排水试验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87991" y="1490589"/>
            <a:ext cx="3484562" cy="3332162"/>
            <a:chOff x="587991" y="1490589"/>
            <a:chExt cx="3484562" cy="333216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587991" y="1490589"/>
              <a:ext cx="3484562" cy="3332162"/>
              <a:chOff x="169" y="1401"/>
              <a:chExt cx="2195" cy="2099"/>
            </a:xfrm>
          </p:grpSpPr>
          <p:sp>
            <p:nvSpPr>
              <p:cNvPr id="6" name="Line 5"/>
              <p:cNvSpPr>
                <a:spLocks noChangeShapeType="1"/>
              </p:cNvSpPr>
              <p:nvPr/>
            </p:nvSpPr>
            <p:spPr bwMode="auto">
              <a:xfrm>
                <a:off x="176" y="1663"/>
                <a:ext cx="0" cy="17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6"/>
              <p:cNvSpPr>
                <a:spLocks noChangeShapeType="1"/>
              </p:cNvSpPr>
              <p:nvPr/>
            </p:nvSpPr>
            <p:spPr bwMode="auto">
              <a:xfrm>
                <a:off x="176" y="3026"/>
                <a:ext cx="211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169" y="1401"/>
                <a:ext cx="54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i="1" dirty="0" smtClean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kumimoji="1" lang="en-US" altLang="zh-CN" sz="2400" b="1" baseline="-25000" dirty="0" smtClean="0"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  <a:r>
                  <a:rPr kumimoji="1" lang="en-US" altLang="zh-CN" sz="2400" b="1" dirty="0" smtClean="0">
                    <a:cs typeface="Times New Roman" panose="02020603050405020304" pitchFamily="18" charset="0"/>
                    <a:sym typeface="Symbol" pitchFamily="18" charset="2"/>
                  </a:rPr>
                  <a:t>-</a:t>
                </a:r>
                <a:r>
                  <a:rPr kumimoji="1" lang="zh-CN" altLang="en-US" sz="2400" b="1" i="1" dirty="0" smtClean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kumimoji="1" lang="en-US" altLang="zh-CN" sz="2400" b="1" baseline="-25000" dirty="0" smtClean="0"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endParaRPr kumimoji="1" lang="zh-CN" altLang="en-US" sz="2400" b="1" baseline="-25000" dirty="0"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2098" y="2947"/>
                <a:ext cx="26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i="1" dirty="0">
                    <a:cs typeface="Times New Roman" panose="02020603050405020304" pitchFamily="18" charset="0"/>
                    <a:sym typeface="Symbol" pitchFamily="18" charset="2"/>
                  </a:rPr>
                  <a:t></a:t>
                </a:r>
                <a:r>
                  <a:rPr kumimoji="1" lang="zh-CN" altLang="en-US" sz="2400" b="1" baseline="-25000" dirty="0">
                    <a:cs typeface="Times New Roman" panose="02020603050405020304" pitchFamily="18" charset="0"/>
                    <a:sym typeface="Symbol" pitchFamily="18" charset="2"/>
                  </a:rPr>
                  <a:t></a:t>
                </a:r>
              </a:p>
            </p:txBody>
          </p:sp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183" y="3209"/>
                <a:ext cx="26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i="1" dirty="0">
                    <a:cs typeface="Times New Roman" panose="02020603050405020304" pitchFamily="18" charset="0"/>
                    <a:sym typeface="Symbol" pitchFamily="18" charset="2"/>
                  </a:rPr>
                  <a:t></a:t>
                </a:r>
                <a:r>
                  <a:rPr kumimoji="1" lang="en-US" altLang="zh-CN" sz="2400" b="1" baseline="-25000" dirty="0">
                    <a:cs typeface="Times New Roman" panose="02020603050405020304" pitchFamily="18" charset="0"/>
                    <a:sym typeface="Symbol" pitchFamily="18" charset="2"/>
                  </a:rPr>
                  <a:t>v</a:t>
                </a:r>
              </a:p>
            </p:txBody>
          </p:sp>
        </p:grpSp>
        <p:grpSp>
          <p:nvGrpSpPr>
            <p:cNvPr id="20" name="Group 17"/>
            <p:cNvGrpSpPr>
              <a:grpSpLocks/>
            </p:cNvGrpSpPr>
            <p:nvPr/>
          </p:nvGrpSpPr>
          <p:grpSpPr bwMode="auto">
            <a:xfrm>
              <a:off x="593812" y="2987599"/>
              <a:ext cx="3124200" cy="1193800"/>
              <a:chOff x="178" y="2344"/>
              <a:chExt cx="1968" cy="752"/>
            </a:xfrm>
          </p:grpSpPr>
          <p:sp>
            <p:nvSpPr>
              <p:cNvPr id="21" name="Freeform 18"/>
              <p:cNvSpPr>
                <a:spLocks/>
              </p:cNvSpPr>
              <p:nvPr/>
            </p:nvSpPr>
            <p:spPr bwMode="auto">
              <a:xfrm>
                <a:off x="191" y="2344"/>
                <a:ext cx="1933" cy="674"/>
              </a:xfrm>
              <a:custGeom>
                <a:avLst/>
                <a:gdLst>
                  <a:gd name="T0" fmla="*/ 0 w 1933"/>
                  <a:gd name="T1" fmla="*/ 546 h 546"/>
                  <a:gd name="T2" fmla="*/ 73 w 1933"/>
                  <a:gd name="T3" fmla="*/ 392 h 546"/>
                  <a:gd name="T4" fmla="*/ 169 w 1933"/>
                  <a:gd name="T5" fmla="*/ 236 h 546"/>
                  <a:gd name="T6" fmla="*/ 307 w 1933"/>
                  <a:gd name="T7" fmla="*/ 66 h 546"/>
                  <a:gd name="T8" fmla="*/ 419 w 1933"/>
                  <a:gd name="T9" fmla="*/ 2 h 546"/>
                  <a:gd name="T10" fmla="*/ 573 w 1933"/>
                  <a:gd name="T11" fmla="*/ 79 h 546"/>
                  <a:gd name="T12" fmla="*/ 774 w 1933"/>
                  <a:gd name="T13" fmla="*/ 172 h 546"/>
                  <a:gd name="T14" fmla="*/ 1037 w 1933"/>
                  <a:gd name="T15" fmla="*/ 245 h 546"/>
                  <a:gd name="T16" fmla="*/ 1385 w 1933"/>
                  <a:gd name="T17" fmla="*/ 296 h 546"/>
                  <a:gd name="T18" fmla="*/ 1933 w 1933"/>
                  <a:gd name="T19" fmla="*/ 296 h 5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933"/>
                  <a:gd name="T31" fmla="*/ 0 h 546"/>
                  <a:gd name="T32" fmla="*/ 1933 w 1933"/>
                  <a:gd name="T33" fmla="*/ 546 h 54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933" h="546">
                    <a:moveTo>
                      <a:pt x="0" y="546"/>
                    </a:moveTo>
                    <a:cubicBezTo>
                      <a:pt x="12" y="520"/>
                      <a:pt x="45" y="444"/>
                      <a:pt x="73" y="392"/>
                    </a:cubicBezTo>
                    <a:cubicBezTo>
                      <a:pt x="101" y="340"/>
                      <a:pt x="130" y="290"/>
                      <a:pt x="169" y="236"/>
                    </a:cubicBezTo>
                    <a:cubicBezTo>
                      <a:pt x="208" y="182"/>
                      <a:pt x="265" y="105"/>
                      <a:pt x="307" y="66"/>
                    </a:cubicBezTo>
                    <a:cubicBezTo>
                      <a:pt x="349" y="27"/>
                      <a:pt x="375" y="0"/>
                      <a:pt x="419" y="2"/>
                    </a:cubicBezTo>
                    <a:cubicBezTo>
                      <a:pt x="463" y="4"/>
                      <a:pt x="514" y="51"/>
                      <a:pt x="573" y="79"/>
                    </a:cubicBezTo>
                    <a:cubicBezTo>
                      <a:pt x="632" y="107"/>
                      <a:pt x="697" y="144"/>
                      <a:pt x="774" y="172"/>
                    </a:cubicBezTo>
                    <a:cubicBezTo>
                      <a:pt x="851" y="200"/>
                      <a:pt x="935" y="224"/>
                      <a:pt x="1037" y="245"/>
                    </a:cubicBezTo>
                    <a:cubicBezTo>
                      <a:pt x="1139" y="266"/>
                      <a:pt x="1236" y="288"/>
                      <a:pt x="1385" y="296"/>
                    </a:cubicBezTo>
                    <a:cubicBezTo>
                      <a:pt x="1534" y="304"/>
                      <a:pt x="1819" y="296"/>
                      <a:pt x="1933" y="296"/>
                    </a:cubicBezTo>
                  </a:path>
                </a:pathLst>
              </a:custGeom>
              <a:noFill/>
              <a:ln w="19050" cmpd="sng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Freeform 19"/>
              <p:cNvSpPr>
                <a:spLocks/>
              </p:cNvSpPr>
              <p:nvPr/>
            </p:nvSpPr>
            <p:spPr bwMode="auto">
              <a:xfrm>
                <a:off x="178" y="2813"/>
                <a:ext cx="1942" cy="283"/>
              </a:xfrm>
              <a:custGeom>
                <a:avLst/>
                <a:gdLst>
                  <a:gd name="T0" fmla="*/ 0 w 1942"/>
                  <a:gd name="T1" fmla="*/ 218 h 283"/>
                  <a:gd name="T2" fmla="*/ 112 w 1942"/>
                  <a:gd name="T3" fmla="*/ 276 h 283"/>
                  <a:gd name="T4" fmla="*/ 330 w 1942"/>
                  <a:gd name="T5" fmla="*/ 263 h 283"/>
                  <a:gd name="T6" fmla="*/ 755 w 1942"/>
                  <a:gd name="T7" fmla="*/ 157 h 283"/>
                  <a:gd name="T8" fmla="*/ 1238 w 1942"/>
                  <a:gd name="T9" fmla="*/ 84 h 283"/>
                  <a:gd name="T10" fmla="*/ 1942 w 1942"/>
                  <a:gd name="T11" fmla="*/ 0 h 28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42"/>
                  <a:gd name="T19" fmla="*/ 0 h 283"/>
                  <a:gd name="T20" fmla="*/ 1942 w 1942"/>
                  <a:gd name="T21" fmla="*/ 283 h 28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42" h="283">
                    <a:moveTo>
                      <a:pt x="0" y="218"/>
                    </a:moveTo>
                    <a:cubicBezTo>
                      <a:pt x="19" y="228"/>
                      <a:pt x="57" y="269"/>
                      <a:pt x="112" y="276"/>
                    </a:cubicBezTo>
                    <a:cubicBezTo>
                      <a:pt x="167" y="283"/>
                      <a:pt x="223" y="283"/>
                      <a:pt x="330" y="263"/>
                    </a:cubicBezTo>
                    <a:cubicBezTo>
                      <a:pt x="437" y="243"/>
                      <a:pt x="604" y="187"/>
                      <a:pt x="755" y="157"/>
                    </a:cubicBezTo>
                    <a:cubicBezTo>
                      <a:pt x="906" y="127"/>
                      <a:pt x="1040" y="110"/>
                      <a:pt x="1238" y="84"/>
                    </a:cubicBezTo>
                    <a:cubicBezTo>
                      <a:pt x="1436" y="58"/>
                      <a:pt x="1795" y="18"/>
                      <a:pt x="1942" y="0"/>
                    </a:cubicBezTo>
                  </a:path>
                </a:pathLst>
              </a:custGeom>
              <a:noFill/>
              <a:ln w="19050" cmpd="sng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Text Box 20"/>
              <p:cNvSpPr txBox="1">
                <a:spLocks noChangeArrowheads="1"/>
              </p:cNvSpPr>
              <p:nvPr/>
            </p:nvSpPr>
            <p:spPr bwMode="auto">
              <a:xfrm>
                <a:off x="1803" y="2436"/>
                <a:ext cx="3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dirty="0">
                    <a:solidFill>
                      <a:srgbClr val="0000CC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200" b="1" baseline="30000" dirty="0">
                    <a:solidFill>
                      <a:srgbClr val="0000CC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  <a:r>
                  <a:rPr lang="en-US" altLang="zh-CN" sz="2200" b="1" baseline="-25000" dirty="0">
                    <a:solidFill>
                      <a:srgbClr val="0000CC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</p:grpSp>
        <p:grpSp>
          <p:nvGrpSpPr>
            <p:cNvPr id="27" name="Group 24"/>
            <p:cNvGrpSpPr>
              <a:grpSpLocks/>
            </p:cNvGrpSpPr>
            <p:nvPr/>
          </p:nvGrpSpPr>
          <p:grpSpPr bwMode="auto">
            <a:xfrm>
              <a:off x="595942" y="2453143"/>
              <a:ext cx="3225800" cy="1846263"/>
              <a:chOff x="169" y="2010"/>
              <a:chExt cx="2032" cy="1163"/>
            </a:xfrm>
          </p:grpSpPr>
          <p:sp>
            <p:nvSpPr>
              <p:cNvPr id="28" name="Freeform 25"/>
              <p:cNvSpPr>
                <a:spLocks/>
              </p:cNvSpPr>
              <p:nvPr/>
            </p:nvSpPr>
            <p:spPr bwMode="auto">
              <a:xfrm>
                <a:off x="169" y="2010"/>
                <a:ext cx="2032" cy="1011"/>
              </a:xfrm>
              <a:custGeom>
                <a:avLst/>
                <a:gdLst>
                  <a:gd name="T0" fmla="*/ 0 w 2032"/>
                  <a:gd name="T1" fmla="*/ 915 h 915"/>
                  <a:gd name="T2" fmla="*/ 102 w 2032"/>
                  <a:gd name="T3" fmla="*/ 667 h 915"/>
                  <a:gd name="T4" fmla="*/ 256 w 2032"/>
                  <a:gd name="T5" fmla="*/ 358 h 915"/>
                  <a:gd name="T6" fmla="*/ 390 w 2032"/>
                  <a:gd name="T7" fmla="*/ 157 h 915"/>
                  <a:gd name="T8" fmla="*/ 560 w 2032"/>
                  <a:gd name="T9" fmla="*/ 10 h 915"/>
                  <a:gd name="T10" fmla="*/ 774 w 2032"/>
                  <a:gd name="T11" fmla="*/ 99 h 915"/>
                  <a:gd name="T12" fmla="*/ 1126 w 2032"/>
                  <a:gd name="T13" fmla="*/ 173 h 915"/>
                  <a:gd name="T14" fmla="*/ 1510 w 2032"/>
                  <a:gd name="T15" fmla="*/ 192 h 915"/>
                  <a:gd name="T16" fmla="*/ 2032 w 2032"/>
                  <a:gd name="T17" fmla="*/ 195 h 9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032"/>
                  <a:gd name="T28" fmla="*/ 0 h 915"/>
                  <a:gd name="T29" fmla="*/ 2032 w 2032"/>
                  <a:gd name="T30" fmla="*/ 915 h 9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032" h="915">
                    <a:moveTo>
                      <a:pt x="0" y="915"/>
                    </a:moveTo>
                    <a:cubicBezTo>
                      <a:pt x="17" y="874"/>
                      <a:pt x="59" y="760"/>
                      <a:pt x="102" y="667"/>
                    </a:cubicBezTo>
                    <a:cubicBezTo>
                      <a:pt x="145" y="574"/>
                      <a:pt x="208" y="443"/>
                      <a:pt x="256" y="358"/>
                    </a:cubicBezTo>
                    <a:cubicBezTo>
                      <a:pt x="304" y="273"/>
                      <a:pt x="339" y="215"/>
                      <a:pt x="390" y="157"/>
                    </a:cubicBezTo>
                    <a:cubicBezTo>
                      <a:pt x="441" y="99"/>
                      <a:pt x="496" y="20"/>
                      <a:pt x="560" y="10"/>
                    </a:cubicBezTo>
                    <a:cubicBezTo>
                      <a:pt x="624" y="0"/>
                      <a:pt x="680" y="72"/>
                      <a:pt x="774" y="99"/>
                    </a:cubicBezTo>
                    <a:cubicBezTo>
                      <a:pt x="868" y="126"/>
                      <a:pt x="1003" y="157"/>
                      <a:pt x="1126" y="173"/>
                    </a:cubicBezTo>
                    <a:cubicBezTo>
                      <a:pt x="1249" y="189"/>
                      <a:pt x="1359" y="188"/>
                      <a:pt x="1510" y="192"/>
                    </a:cubicBezTo>
                    <a:cubicBezTo>
                      <a:pt x="1661" y="196"/>
                      <a:pt x="1923" y="194"/>
                      <a:pt x="2032" y="195"/>
                    </a:cubicBezTo>
                  </a:path>
                </a:pathLst>
              </a:custGeom>
              <a:noFill/>
              <a:ln w="19050" cmpd="sng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Freeform 26"/>
              <p:cNvSpPr>
                <a:spLocks/>
              </p:cNvSpPr>
              <p:nvPr/>
            </p:nvSpPr>
            <p:spPr bwMode="auto">
              <a:xfrm>
                <a:off x="178" y="2960"/>
                <a:ext cx="1942" cy="213"/>
              </a:xfrm>
              <a:custGeom>
                <a:avLst/>
                <a:gdLst>
                  <a:gd name="T0" fmla="*/ 0 w 1942"/>
                  <a:gd name="T1" fmla="*/ 71 h 213"/>
                  <a:gd name="T2" fmla="*/ 96 w 1942"/>
                  <a:gd name="T3" fmla="*/ 157 h 213"/>
                  <a:gd name="T4" fmla="*/ 227 w 1942"/>
                  <a:gd name="T5" fmla="*/ 202 h 213"/>
                  <a:gd name="T6" fmla="*/ 435 w 1942"/>
                  <a:gd name="T7" fmla="*/ 205 h 213"/>
                  <a:gd name="T8" fmla="*/ 826 w 1942"/>
                  <a:gd name="T9" fmla="*/ 151 h 213"/>
                  <a:gd name="T10" fmla="*/ 1328 w 1942"/>
                  <a:gd name="T11" fmla="*/ 77 h 213"/>
                  <a:gd name="T12" fmla="*/ 1661 w 1942"/>
                  <a:gd name="T13" fmla="*/ 29 h 213"/>
                  <a:gd name="T14" fmla="*/ 1942 w 1942"/>
                  <a:gd name="T15" fmla="*/ 0 h 2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42"/>
                  <a:gd name="T25" fmla="*/ 0 h 213"/>
                  <a:gd name="T26" fmla="*/ 1942 w 1942"/>
                  <a:gd name="T27" fmla="*/ 213 h 21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42" h="213">
                    <a:moveTo>
                      <a:pt x="0" y="71"/>
                    </a:moveTo>
                    <a:cubicBezTo>
                      <a:pt x="16" y="85"/>
                      <a:pt x="58" y="135"/>
                      <a:pt x="96" y="157"/>
                    </a:cubicBezTo>
                    <a:cubicBezTo>
                      <a:pt x="134" y="179"/>
                      <a:pt x="171" y="194"/>
                      <a:pt x="227" y="202"/>
                    </a:cubicBezTo>
                    <a:cubicBezTo>
                      <a:pt x="283" y="210"/>
                      <a:pt x="335" y="213"/>
                      <a:pt x="435" y="205"/>
                    </a:cubicBezTo>
                    <a:cubicBezTo>
                      <a:pt x="535" y="197"/>
                      <a:pt x="677" y="172"/>
                      <a:pt x="826" y="151"/>
                    </a:cubicBezTo>
                    <a:cubicBezTo>
                      <a:pt x="975" y="130"/>
                      <a:pt x="1189" y="97"/>
                      <a:pt x="1328" y="77"/>
                    </a:cubicBezTo>
                    <a:cubicBezTo>
                      <a:pt x="1467" y="57"/>
                      <a:pt x="1559" y="42"/>
                      <a:pt x="1661" y="29"/>
                    </a:cubicBezTo>
                    <a:cubicBezTo>
                      <a:pt x="1763" y="16"/>
                      <a:pt x="1884" y="6"/>
                      <a:pt x="1942" y="0"/>
                    </a:cubicBezTo>
                  </a:path>
                </a:pathLst>
              </a:custGeom>
              <a:noFill/>
              <a:ln w="19050" cmpd="sng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Text Box 27"/>
              <p:cNvSpPr txBox="1">
                <a:spLocks noChangeArrowheads="1"/>
              </p:cNvSpPr>
              <p:nvPr/>
            </p:nvSpPr>
            <p:spPr bwMode="auto">
              <a:xfrm>
                <a:off x="1806" y="2168"/>
                <a:ext cx="3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dirty="0">
                    <a:solidFill>
                      <a:srgbClr val="0066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200" b="1" baseline="30000" dirty="0">
                    <a:solidFill>
                      <a:srgbClr val="0066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2</a:t>
                </a:r>
                <a:r>
                  <a:rPr lang="en-US" altLang="zh-CN" sz="2200" b="1" baseline="-25000" dirty="0">
                    <a:solidFill>
                      <a:srgbClr val="0066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</p:grpSp>
        <p:grpSp>
          <p:nvGrpSpPr>
            <p:cNvPr id="31" name="Group 28"/>
            <p:cNvGrpSpPr>
              <a:grpSpLocks/>
            </p:cNvGrpSpPr>
            <p:nvPr/>
          </p:nvGrpSpPr>
          <p:grpSpPr bwMode="auto">
            <a:xfrm>
              <a:off x="597516" y="2070026"/>
              <a:ext cx="3157538" cy="2447925"/>
              <a:chOff x="175" y="1766"/>
              <a:chExt cx="1989" cy="1542"/>
            </a:xfrm>
          </p:grpSpPr>
          <p:sp>
            <p:nvSpPr>
              <p:cNvPr id="32" name="Freeform 29"/>
              <p:cNvSpPr>
                <a:spLocks/>
              </p:cNvSpPr>
              <p:nvPr/>
            </p:nvSpPr>
            <p:spPr bwMode="auto">
              <a:xfrm>
                <a:off x="178" y="1766"/>
                <a:ext cx="1986" cy="1255"/>
              </a:xfrm>
              <a:custGeom>
                <a:avLst/>
                <a:gdLst>
                  <a:gd name="T0" fmla="*/ 0 w 1986"/>
                  <a:gd name="T1" fmla="*/ 1255 h 1255"/>
                  <a:gd name="T2" fmla="*/ 70 w 1986"/>
                  <a:gd name="T3" fmla="*/ 1015 h 1255"/>
                  <a:gd name="T4" fmla="*/ 188 w 1986"/>
                  <a:gd name="T5" fmla="*/ 698 h 1255"/>
                  <a:gd name="T6" fmla="*/ 409 w 1986"/>
                  <a:gd name="T7" fmla="*/ 295 h 1255"/>
                  <a:gd name="T8" fmla="*/ 735 w 1986"/>
                  <a:gd name="T9" fmla="*/ 30 h 1255"/>
                  <a:gd name="T10" fmla="*/ 1362 w 1986"/>
                  <a:gd name="T11" fmla="*/ 116 h 1255"/>
                  <a:gd name="T12" fmla="*/ 1986 w 1986"/>
                  <a:gd name="T13" fmla="*/ 148 h 12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86"/>
                  <a:gd name="T22" fmla="*/ 0 h 1255"/>
                  <a:gd name="T23" fmla="*/ 1986 w 1986"/>
                  <a:gd name="T24" fmla="*/ 1255 h 125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86" h="1255">
                    <a:moveTo>
                      <a:pt x="0" y="1255"/>
                    </a:moveTo>
                    <a:cubicBezTo>
                      <a:pt x="12" y="1215"/>
                      <a:pt x="39" y="1108"/>
                      <a:pt x="70" y="1015"/>
                    </a:cubicBezTo>
                    <a:cubicBezTo>
                      <a:pt x="101" y="922"/>
                      <a:pt x="131" y="818"/>
                      <a:pt x="188" y="698"/>
                    </a:cubicBezTo>
                    <a:cubicBezTo>
                      <a:pt x="245" y="578"/>
                      <a:pt x="318" y="406"/>
                      <a:pt x="409" y="295"/>
                    </a:cubicBezTo>
                    <a:cubicBezTo>
                      <a:pt x="500" y="184"/>
                      <a:pt x="576" y="60"/>
                      <a:pt x="735" y="30"/>
                    </a:cubicBezTo>
                    <a:cubicBezTo>
                      <a:pt x="894" y="0"/>
                      <a:pt x="1154" y="96"/>
                      <a:pt x="1362" y="116"/>
                    </a:cubicBezTo>
                    <a:cubicBezTo>
                      <a:pt x="1570" y="136"/>
                      <a:pt x="1856" y="141"/>
                      <a:pt x="1986" y="148"/>
                    </a:cubicBezTo>
                  </a:path>
                </a:pathLst>
              </a:custGeom>
              <a:noFill/>
              <a:ln w="19050" cmpd="sng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Freeform 30"/>
              <p:cNvSpPr>
                <a:spLocks/>
              </p:cNvSpPr>
              <p:nvPr/>
            </p:nvSpPr>
            <p:spPr bwMode="auto">
              <a:xfrm>
                <a:off x="175" y="3025"/>
                <a:ext cx="1933" cy="283"/>
              </a:xfrm>
              <a:custGeom>
                <a:avLst/>
                <a:gdLst>
                  <a:gd name="T0" fmla="*/ 0 w 1933"/>
                  <a:gd name="T1" fmla="*/ 0 h 283"/>
                  <a:gd name="T2" fmla="*/ 96 w 1933"/>
                  <a:gd name="T3" fmla="*/ 121 h 283"/>
                  <a:gd name="T4" fmla="*/ 262 w 1933"/>
                  <a:gd name="T5" fmla="*/ 224 h 283"/>
                  <a:gd name="T6" fmla="*/ 566 w 1933"/>
                  <a:gd name="T7" fmla="*/ 281 h 283"/>
                  <a:gd name="T8" fmla="*/ 1065 w 1933"/>
                  <a:gd name="T9" fmla="*/ 214 h 283"/>
                  <a:gd name="T10" fmla="*/ 1456 w 1933"/>
                  <a:gd name="T11" fmla="*/ 137 h 283"/>
                  <a:gd name="T12" fmla="*/ 1933 w 1933"/>
                  <a:gd name="T13" fmla="*/ 51 h 28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33"/>
                  <a:gd name="T22" fmla="*/ 0 h 283"/>
                  <a:gd name="T23" fmla="*/ 1933 w 1933"/>
                  <a:gd name="T24" fmla="*/ 283 h 28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33" h="283">
                    <a:moveTo>
                      <a:pt x="0" y="0"/>
                    </a:moveTo>
                    <a:cubicBezTo>
                      <a:pt x="16" y="20"/>
                      <a:pt x="52" y="84"/>
                      <a:pt x="96" y="121"/>
                    </a:cubicBezTo>
                    <a:cubicBezTo>
                      <a:pt x="140" y="158"/>
                      <a:pt x="184" y="197"/>
                      <a:pt x="262" y="224"/>
                    </a:cubicBezTo>
                    <a:cubicBezTo>
                      <a:pt x="340" y="251"/>
                      <a:pt x="432" y="283"/>
                      <a:pt x="566" y="281"/>
                    </a:cubicBezTo>
                    <a:cubicBezTo>
                      <a:pt x="700" y="279"/>
                      <a:pt x="917" y="238"/>
                      <a:pt x="1065" y="214"/>
                    </a:cubicBezTo>
                    <a:cubicBezTo>
                      <a:pt x="1213" y="190"/>
                      <a:pt x="1311" y="164"/>
                      <a:pt x="1456" y="137"/>
                    </a:cubicBezTo>
                    <a:cubicBezTo>
                      <a:pt x="1601" y="110"/>
                      <a:pt x="1834" y="69"/>
                      <a:pt x="1933" y="51"/>
                    </a:cubicBezTo>
                  </a:path>
                </a:pathLst>
              </a:custGeom>
              <a:noFill/>
              <a:ln w="19050" cmpd="sng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Text Box 31"/>
              <p:cNvSpPr txBox="1">
                <a:spLocks noChangeArrowheads="1"/>
              </p:cNvSpPr>
              <p:nvPr/>
            </p:nvSpPr>
            <p:spPr bwMode="auto">
              <a:xfrm>
                <a:off x="1820" y="1864"/>
                <a:ext cx="3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i="1" dirty="0">
                    <a:solidFill>
                      <a:srgbClr val="80008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200" b="1" baseline="30000" dirty="0">
                    <a:solidFill>
                      <a:srgbClr val="80008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r>
                  <a:rPr lang="en-US" altLang="zh-CN" sz="2200" b="1" baseline="-25000" dirty="0">
                    <a:solidFill>
                      <a:srgbClr val="80008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</p:grpSp>
      </p:grpSp>
      <p:sp>
        <p:nvSpPr>
          <p:cNvPr id="54" name="Rectangle 52"/>
          <p:cNvSpPr>
            <a:spLocks noChangeArrowheads="1"/>
          </p:cNvSpPr>
          <p:nvPr/>
        </p:nvSpPr>
        <p:spPr bwMode="auto">
          <a:xfrm>
            <a:off x="412063" y="751215"/>
            <a:ext cx="684870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密砂与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超固结黏土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试验曲线与强度包线</a:t>
            </a:r>
          </a:p>
        </p:txBody>
      </p:sp>
      <p:sp>
        <p:nvSpPr>
          <p:cNvPr id="58" name="Text Box 5"/>
          <p:cNvSpPr txBox="1">
            <a:spLocks noChangeArrowheads="1"/>
          </p:cNvSpPr>
          <p:nvPr/>
        </p:nvSpPr>
        <p:spPr bwMode="auto">
          <a:xfrm>
            <a:off x="4404408" y="1936093"/>
            <a:ext cx="4184420" cy="30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应力应变曲线具有峰值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随</a:t>
            </a:r>
            <a:r>
              <a:rPr kumimoji="1" lang="zh-CN" altLang="en-US" sz="2400" b="1" i="1" dirty="0">
                <a:cs typeface="Times New Roman" panose="02020603050405020304" pitchFamily="18" charset="0"/>
                <a:sym typeface="Symbol" pitchFamily="18" charset="2"/>
              </a:rPr>
              <a:t></a:t>
            </a:r>
            <a:r>
              <a:rPr kumimoji="1" lang="zh-CN" altLang="en-US" sz="2400" b="1" baseline="-25000" dirty="0"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增加，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逐步增大并达到峰值；之后逐步下降，并趋向一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个稳定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值，表现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为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应变软化</a:t>
            </a: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型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体积变形开始为体缩。之后可能会发生剪胀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55367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43263" y="5878513"/>
            <a:ext cx="3398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固结排水试验</a:t>
            </a:r>
          </a:p>
        </p:txBody>
      </p:sp>
      <p:sp>
        <p:nvSpPr>
          <p:cNvPr id="13" name="AutoShape 10"/>
          <p:cNvSpPr>
            <a:spLocks noChangeArrowheads="1"/>
          </p:cNvSpPr>
          <p:nvPr/>
        </p:nvSpPr>
        <p:spPr bwMode="auto">
          <a:xfrm>
            <a:off x="1694779" y="4037062"/>
            <a:ext cx="7023710" cy="1661732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超固结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黏土的峰值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强度包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线不过原点，</a:t>
            </a:r>
            <a:r>
              <a:rPr lang="en-US" altLang="zh-CN" sz="2400" b="1" i="1" dirty="0">
                <a:solidFill>
                  <a:srgbClr val="000066"/>
                </a:solidFill>
              </a:rPr>
              <a:t> c</a:t>
            </a:r>
            <a:r>
              <a:rPr lang="en-US" altLang="zh-CN" sz="2400" b="1" baseline="-25000" dirty="0">
                <a:solidFill>
                  <a:srgbClr val="000066"/>
                </a:solidFill>
              </a:rPr>
              <a:t>d</a:t>
            </a:r>
            <a:r>
              <a:rPr lang="en-US" altLang="zh-CN" sz="2400" b="1" dirty="0">
                <a:solidFill>
                  <a:srgbClr val="000066"/>
                </a:solidFill>
              </a:rPr>
              <a:t>=</a:t>
            </a:r>
            <a:r>
              <a:rPr lang="en-US" altLang="zh-CN" sz="2400" b="1" i="1" dirty="0">
                <a:solidFill>
                  <a:srgbClr val="000066"/>
                </a:solidFill>
              </a:rPr>
              <a:t>c</a:t>
            </a:r>
            <a:r>
              <a:rPr lang="en-US" altLang="zh-CN" sz="2400" b="1" dirty="0">
                <a:solidFill>
                  <a:srgbClr val="000066"/>
                </a:solidFill>
                <a:sym typeface="Symbol"/>
              </a:rPr>
              <a:t></a:t>
            </a:r>
            <a:r>
              <a:rPr lang="en-US" altLang="zh-CN" sz="2400" b="1" dirty="0">
                <a:solidFill>
                  <a:srgbClr val="000066"/>
                </a:solidFill>
              </a:rPr>
              <a:t>0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</a:endParaRPr>
          </a:p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超固结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黏土的残余强度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包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线过原点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密砂的峰值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和残余强度包线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均通过原点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2089900" y="1377969"/>
            <a:ext cx="4530725" cy="2493963"/>
            <a:chOff x="2708" y="1829"/>
            <a:chExt cx="2854" cy="1571"/>
          </a:xfrm>
        </p:grpSpPr>
        <p:sp>
          <p:nvSpPr>
            <p:cNvPr id="15" name="Line 12"/>
            <p:cNvSpPr>
              <a:spLocks noChangeShapeType="1"/>
            </p:cNvSpPr>
            <p:nvPr/>
          </p:nvSpPr>
          <p:spPr bwMode="auto">
            <a:xfrm flipV="1">
              <a:off x="2994" y="1984"/>
              <a:ext cx="0" cy="1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2987" y="3094"/>
              <a:ext cx="2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5012" y="3100"/>
              <a:ext cx="55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cs typeface="Times New Roman" panose="02020603050405020304" pitchFamily="18" charset="0"/>
                  <a:sym typeface="Symbol" pitchFamily="18" charset="2"/>
                </a:rPr>
                <a:t>=</a:t>
              </a:r>
              <a:endParaRPr lang="en-US" altLang="zh-CN" sz="2400" b="1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2708" y="1829"/>
              <a:ext cx="28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3696450" y="1433530"/>
            <a:ext cx="1557338" cy="809625"/>
            <a:chOff x="3720" y="1864"/>
            <a:chExt cx="981" cy="510"/>
          </a:xfrm>
        </p:grpSpPr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3720" y="1864"/>
              <a:ext cx="89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80008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峰值强度</a:t>
              </a:r>
              <a:r>
                <a:rPr lang="zh-CN" altLang="en-US" sz="2000" b="1" i="1" dirty="0">
                  <a:solidFill>
                    <a:srgbClr val="80008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000" b="1" baseline="-25000" dirty="0">
                  <a:solidFill>
                    <a:srgbClr val="800080"/>
                  </a:solidFill>
                  <a:ea typeface="幼圆" pitchFamily="49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dirty="0">
                  <a:solidFill>
                    <a:srgbClr val="80008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2000" b="1" i="1" dirty="0">
                  <a:solidFill>
                    <a:srgbClr val="80008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000" b="1" baseline="-25000" dirty="0">
                  <a:solidFill>
                    <a:srgbClr val="800080"/>
                  </a:solidFill>
                  <a:ea typeface="幼圆" pitchFamily="49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dirty="0">
                  <a:solidFill>
                    <a:srgbClr val="80008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 flipH="1" flipV="1">
              <a:off x="4547" y="2144"/>
              <a:ext cx="154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2686800" y="2843232"/>
            <a:ext cx="1236663" cy="928688"/>
            <a:chOff x="3084" y="2752"/>
            <a:chExt cx="779" cy="585"/>
          </a:xfrm>
        </p:grpSpPr>
        <p:sp>
          <p:nvSpPr>
            <p:cNvPr id="36" name="Arc 33"/>
            <p:cNvSpPr>
              <a:spLocks/>
            </p:cNvSpPr>
            <p:nvPr/>
          </p:nvSpPr>
          <p:spPr bwMode="auto">
            <a:xfrm flipH="1" flipV="1">
              <a:off x="3190" y="2752"/>
              <a:ext cx="673" cy="348"/>
            </a:xfrm>
            <a:custGeom>
              <a:avLst/>
              <a:gdLst>
                <a:gd name="T0" fmla="*/ 673 w 43200"/>
                <a:gd name="T1" fmla="*/ 1 h 22107"/>
                <a:gd name="T2" fmla="*/ 0 w 43200"/>
                <a:gd name="T3" fmla="*/ 0 h 22107"/>
                <a:gd name="T4" fmla="*/ 337 w 43200"/>
                <a:gd name="T5" fmla="*/ 8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3084" y="3066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</p:grpSp>
      <p:grpSp>
        <p:nvGrpSpPr>
          <p:cNvPr id="38" name="Group 35"/>
          <p:cNvGrpSpPr>
            <a:grpSpLocks/>
          </p:cNvGrpSpPr>
          <p:nvPr/>
        </p:nvGrpSpPr>
        <p:grpSpPr bwMode="auto">
          <a:xfrm>
            <a:off x="3915525" y="2371744"/>
            <a:ext cx="1671638" cy="1387475"/>
            <a:chOff x="3858" y="2455"/>
            <a:chExt cx="1053" cy="874"/>
          </a:xfrm>
        </p:grpSpPr>
        <p:sp>
          <p:nvSpPr>
            <p:cNvPr id="39" name="Arc 36"/>
            <p:cNvSpPr>
              <a:spLocks/>
            </p:cNvSpPr>
            <p:nvPr/>
          </p:nvSpPr>
          <p:spPr bwMode="auto">
            <a:xfrm flipH="1" flipV="1">
              <a:off x="3973" y="2455"/>
              <a:ext cx="938" cy="638"/>
            </a:xfrm>
            <a:custGeom>
              <a:avLst/>
              <a:gdLst>
                <a:gd name="T0" fmla="*/ 938 w 32363"/>
                <a:gd name="T1" fmla="*/ 0 h 22026"/>
                <a:gd name="T2" fmla="*/ 0 w 32363"/>
                <a:gd name="T3" fmla="*/ 555 h 22026"/>
                <a:gd name="T4" fmla="*/ 312 w 32363"/>
                <a:gd name="T5" fmla="*/ 12 h 22026"/>
                <a:gd name="T6" fmla="*/ 0 60000 65536"/>
                <a:gd name="T7" fmla="*/ 0 60000 65536"/>
                <a:gd name="T8" fmla="*/ 0 60000 65536"/>
                <a:gd name="T9" fmla="*/ 0 w 32363"/>
                <a:gd name="T10" fmla="*/ 0 h 22026"/>
                <a:gd name="T11" fmla="*/ 32363 w 32363"/>
                <a:gd name="T12" fmla="*/ 22026 h 220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63" h="22026" fill="none" extrusionOk="0">
                  <a:moveTo>
                    <a:pt x="32358" y="0"/>
                  </a:moveTo>
                  <a:cubicBezTo>
                    <a:pt x="32361" y="141"/>
                    <a:pt x="32363" y="283"/>
                    <a:pt x="32363" y="426"/>
                  </a:cubicBezTo>
                  <a:cubicBezTo>
                    <a:pt x="32363" y="12355"/>
                    <a:pt x="22692" y="22026"/>
                    <a:pt x="10763" y="22026"/>
                  </a:cubicBezTo>
                  <a:cubicBezTo>
                    <a:pt x="6985" y="22026"/>
                    <a:pt x="3274" y="21035"/>
                    <a:pt x="0" y="19153"/>
                  </a:cubicBezTo>
                </a:path>
                <a:path w="32363" h="22026" stroke="0" extrusionOk="0">
                  <a:moveTo>
                    <a:pt x="32358" y="0"/>
                  </a:moveTo>
                  <a:cubicBezTo>
                    <a:pt x="32361" y="141"/>
                    <a:pt x="32363" y="283"/>
                    <a:pt x="32363" y="426"/>
                  </a:cubicBezTo>
                  <a:cubicBezTo>
                    <a:pt x="32363" y="12355"/>
                    <a:pt x="22692" y="22026"/>
                    <a:pt x="10763" y="22026"/>
                  </a:cubicBezTo>
                  <a:cubicBezTo>
                    <a:pt x="6985" y="22026"/>
                    <a:pt x="3274" y="21035"/>
                    <a:pt x="0" y="19153"/>
                  </a:cubicBezTo>
                  <a:lnTo>
                    <a:pt x="10763" y="426"/>
                  </a:lnTo>
                  <a:close/>
                </a:path>
              </a:pathLst>
            </a:custGeom>
            <a:noFill/>
            <a:ln w="1905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37"/>
            <p:cNvSpPr txBox="1">
              <a:spLocks noChangeArrowheads="1"/>
            </p:cNvSpPr>
            <p:nvPr/>
          </p:nvSpPr>
          <p:spPr bwMode="auto">
            <a:xfrm>
              <a:off x="3858" y="3058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r>
                <a:rPr lang="en-US" altLang="zh-CN" sz="2200" b="1" baseline="-25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</p:grpSp>
      <p:grpSp>
        <p:nvGrpSpPr>
          <p:cNvPr id="41" name="Group 39"/>
          <p:cNvGrpSpPr>
            <a:grpSpLocks/>
          </p:cNvGrpSpPr>
          <p:nvPr/>
        </p:nvGrpSpPr>
        <p:grpSpPr bwMode="auto">
          <a:xfrm>
            <a:off x="3274175" y="2573353"/>
            <a:ext cx="1843088" cy="1184275"/>
            <a:chOff x="3454" y="2582"/>
            <a:chExt cx="1161" cy="746"/>
          </a:xfrm>
        </p:grpSpPr>
        <p:sp>
          <p:nvSpPr>
            <p:cNvPr id="42" name="Text Box 40"/>
            <p:cNvSpPr txBox="1">
              <a:spLocks noChangeArrowheads="1"/>
            </p:cNvSpPr>
            <p:nvPr/>
          </p:nvSpPr>
          <p:spPr bwMode="auto">
            <a:xfrm>
              <a:off x="3454" y="3057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2</a:t>
              </a:r>
              <a:r>
                <a:rPr lang="en-US" altLang="zh-CN" sz="2200" b="1" baseline="-25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  <p:sp>
          <p:nvSpPr>
            <p:cNvPr id="43" name="Arc 41"/>
            <p:cNvSpPr>
              <a:spLocks/>
            </p:cNvSpPr>
            <p:nvPr/>
          </p:nvSpPr>
          <p:spPr bwMode="auto">
            <a:xfrm flipH="1" flipV="1">
              <a:off x="3604" y="2582"/>
              <a:ext cx="1011" cy="517"/>
            </a:xfrm>
            <a:custGeom>
              <a:avLst/>
              <a:gdLst>
                <a:gd name="T0" fmla="*/ 1011 w 43200"/>
                <a:gd name="T1" fmla="*/ 2 h 22107"/>
                <a:gd name="T2" fmla="*/ 0 w 43200"/>
                <a:gd name="T3" fmla="*/ 0 h 22107"/>
                <a:gd name="T4" fmla="*/ 506 w 43200"/>
                <a:gd name="T5" fmla="*/ 12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" name="Group 42"/>
          <p:cNvGrpSpPr>
            <a:grpSpLocks/>
          </p:cNvGrpSpPr>
          <p:nvPr/>
        </p:nvGrpSpPr>
        <p:grpSpPr bwMode="auto">
          <a:xfrm>
            <a:off x="1608888" y="1843105"/>
            <a:ext cx="5248275" cy="1574800"/>
            <a:chOff x="2405" y="2122"/>
            <a:chExt cx="3306" cy="992"/>
          </a:xfrm>
        </p:grpSpPr>
        <p:sp>
          <p:nvSpPr>
            <p:cNvPr id="45" name="Line 43"/>
            <p:cNvSpPr>
              <a:spLocks noChangeShapeType="1"/>
            </p:cNvSpPr>
            <p:nvPr/>
          </p:nvSpPr>
          <p:spPr bwMode="auto">
            <a:xfrm flipV="1">
              <a:off x="2995" y="2251"/>
              <a:ext cx="2212" cy="631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5170" y="2122"/>
              <a:ext cx="54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i="1" dirty="0" smtClean="0">
                  <a:solidFill>
                    <a:srgbClr val="A50021"/>
                  </a:solidFill>
                  <a:sym typeface="Symbol"/>
                </a:rPr>
                <a:t></a:t>
              </a:r>
              <a:r>
                <a:rPr kumimoji="1" lang="en-US" altLang="zh-CN" sz="2200" b="1" baseline="-25000" dirty="0" smtClean="0">
                  <a:solidFill>
                    <a:srgbClr val="A50021"/>
                  </a:solidFill>
                  <a:sym typeface="Symbol" pitchFamily="18" charset="2"/>
                </a:rPr>
                <a:t>d</a:t>
              </a:r>
              <a:r>
                <a:rPr kumimoji="1" lang="en-US" altLang="zh-CN" sz="2200" b="1" dirty="0" smtClean="0">
                  <a:solidFill>
                    <a:srgbClr val="A50021"/>
                  </a:solidFill>
                  <a:sym typeface="Symbol" pitchFamily="18" charset="2"/>
                </a:rPr>
                <a:t>=</a:t>
              </a:r>
              <a:r>
                <a:rPr kumimoji="1" lang="en-US" altLang="zh-CN" sz="2200" b="1" i="1" dirty="0" smtClean="0">
                  <a:solidFill>
                    <a:srgbClr val="A50021"/>
                  </a:solidFill>
                  <a:sym typeface="Symbol"/>
                </a:rPr>
                <a:t></a:t>
              </a:r>
              <a:r>
                <a:rPr kumimoji="1" lang="en-US" altLang="zh-CN" sz="2200" b="1" dirty="0" smtClean="0">
                  <a:solidFill>
                    <a:srgbClr val="A50021"/>
                  </a:solidFill>
                  <a:sym typeface="Symbol" pitchFamily="18" charset="2"/>
                </a:rPr>
                <a:t></a:t>
              </a:r>
              <a:endParaRPr kumimoji="1" lang="en-US" altLang="zh-CN" sz="2200" b="1" dirty="0">
                <a:solidFill>
                  <a:srgbClr val="A50021"/>
                </a:solidFill>
                <a:sym typeface="Symbol" pitchFamily="18" charset="2"/>
              </a:endParaRPr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4801" y="2372"/>
              <a:ext cx="4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" name="Group 46"/>
            <p:cNvGrpSpPr>
              <a:grpSpLocks/>
            </p:cNvGrpSpPr>
            <p:nvPr/>
          </p:nvGrpSpPr>
          <p:grpSpPr bwMode="auto">
            <a:xfrm>
              <a:off x="2405" y="2826"/>
              <a:ext cx="555" cy="288"/>
              <a:chOff x="2405" y="2826"/>
              <a:chExt cx="555" cy="288"/>
            </a:xfrm>
          </p:grpSpPr>
          <p:sp>
            <p:nvSpPr>
              <p:cNvPr id="49" name="Line 47"/>
              <p:cNvSpPr>
                <a:spLocks noChangeShapeType="1"/>
              </p:cNvSpPr>
              <p:nvPr/>
            </p:nvSpPr>
            <p:spPr bwMode="auto">
              <a:xfrm flipH="1">
                <a:off x="2851" y="2880"/>
                <a:ext cx="1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48"/>
              <p:cNvSpPr>
                <a:spLocks noChangeShapeType="1"/>
              </p:cNvSpPr>
              <p:nvPr/>
            </p:nvSpPr>
            <p:spPr bwMode="auto">
              <a:xfrm flipH="1">
                <a:off x="2843" y="3090"/>
                <a:ext cx="1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49"/>
              <p:cNvSpPr>
                <a:spLocks noChangeShapeType="1"/>
              </p:cNvSpPr>
              <p:nvPr/>
            </p:nvSpPr>
            <p:spPr bwMode="auto">
              <a:xfrm>
                <a:off x="2902" y="2880"/>
                <a:ext cx="0" cy="2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Rectangle 50"/>
              <p:cNvSpPr>
                <a:spLocks noChangeArrowheads="1"/>
              </p:cNvSpPr>
              <p:nvPr/>
            </p:nvSpPr>
            <p:spPr bwMode="auto">
              <a:xfrm>
                <a:off x="2405" y="2826"/>
                <a:ext cx="5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A50021"/>
                    </a:solidFill>
                    <a:sym typeface="Symbol" pitchFamily="18" charset="2"/>
                  </a:rPr>
                  <a:t>c</a:t>
                </a:r>
                <a:r>
                  <a:rPr kumimoji="1" lang="en-US" altLang="zh-CN" sz="2400" b="1" baseline="-25000" dirty="0">
                    <a:solidFill>
                      <a:srgbClr val="A50021"/>
                    </a:solidFill>
                    <a:sym typeface="Symbol" pitchFamily="18" charset="2"/>
                  </a:rPr>
                  <a:t>d</a:t>
                </a:r>
                <a:r>
                  <a:rPr kumimoji="1" lang="en-US" altLang="zh-CN" sz="2400" b="1" dirty="0">
                    <a:solidFill>
                      <a:srgbClr val="A50021"/>
                    </a:solidFill>
                    <a:sym typeface="Symbol" pitchFamily="18" charset="2"/>
                  </a:rPr>
                  <a:t>=</a:t>
                </a:r>
                <a:r>
                  <a:rPr kumimoji="1" lang="en-US" altLang="zh-CN" sz="2400" b="1" i="1" dirty="0">
                    <a:solidFill>
                      <a:srgbClr val="A50021"/>
                    </a:solidFill>
                    <a:sym typeface="Symbol" pitchFamily="18" charset="2"/>
                  </a:rPr>
                  <a:t>c</a:t>
                </a:r>
                <a:r>
                  <a:rPr kumimoji="1" lang="en-US" altLang="zh-CN" sz="2400" b="1" dirty="0">
                    <a:solidFill>
                      <a:srgbClr val="A50021"/>
                    </a:solidFill>
                    <a:sym typeface="Symbol" pitchFamily="18" charset="2"/>
                  </a:rPr>
                  <a:t></a:t>
                </a:r>
              </a:p>
            </p:txBody>
          </p:sp>
        </p:grpSp>
      </p:grpSp>
      <p:sp>
        <p:nvSpPr>
          <p:cNvPr id="53" name="Line 51"/>
          <p:cNvSpPr>
            <a:spLocks noChangeShapeType="1"/>
          </p:cNvSpPr>
          <p:nvPr/>
        </p:nvSpPr>
        <p:spPr bwMode="auto">
          <a:xfrm flipV="1">
            <a:off x="2534400" y="2325705"/>
            <a:ext cx="3168650" cy="104457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Rectangle 52"/>
          <p:cNvSpPr>
            <a:spLocks noChangeArrowheads="1"/>
          </p:cNvSpPr>
          <p:nvPr/>
        </p:nvSpPr>
        <p:spPr bwMode="auto">
          <a:xfrm>
            <a:off x="674600" y="657067"/>
            <a:ext cx="59548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密砂与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超固结黏土的强度</a:t>
            </a: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包线</a:t>
            </a:r>
          </a:p>
        </p:txBody>
      </p:sp>
      <p:grpSp>
        <p:nvGrpSpPr>
          <p:cNvPr id="55" name="Group 53"/>
          <p:cNvGrpSpPr>
            <a:grpSpLocks/>
          </p:cNvGrpSpPr>
          <p:nvPr/>
        </p:nvGrpSpPr>
        <p:grpSpPr bwMode="auto">
          <a:xfrm>
            <a:off x="5075988" y="2582880"/>
            <a:ext cx="1541462" cy="701675"/>
            <a:chOff x="4589" y="2588"/>
            <a:chExt cx="971" cy="442"/>
          </a:xfrm>
        </p:grpSpPr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4667" y="2588"/>
              <a:ext cx="89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残余强度</a:t>
              </a:r>
              <a:r>
                <a:rPr lang="zh-CN" altLang="en-US" sz="20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000" b="1" baseline="-25000" dirty="0">
                  <a:ea typeface="幼圆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20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000" b="1" baseline="-25000" dirty="0">
                  <a:ea typeface="幼圆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7" name="Line 55"/>
            <p:cNvSpPr>
              <a:spLocks noChangeShapeType="1"/>
            </p:cNvSpPr>
            <p:nvPr/>
          </p:nvSpPr>
          <p:spPr bwMode="auto">
            <a:xfrm>
              <a:off x="4589" y="2598"/>
              <a:ext cx="166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906928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 decel="100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decel="100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800" decel="100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00" decel="100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00" decel="100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53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V="1">
            <a:off x="4930775" y="2026636"/>
            <a:ext cx="2038350" cy="881891"/>
          </a:xfrm>
          <a:prstGeom prst="line">
            <a:avLst/>
          </a:prstGeom>
          <a:noFill/>
          <a:ln w="12700">
            <a:solidFill>
              <a:srgbClr val="0000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875269" y="1776787"/>
            <a:ext cx="484188" cy="1554824"/>
            <a:chOff x="6875269" y="1776787"/>
            <a:chExt cx="484188" cy="1554824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7061007" y="1776787"/>
              <a:ext cx="0" cy="11332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6875269" y="2869649"/>
              <a:ext cx="48418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906963" y="776516"/>
            <a:ext cx="3916362" cy="2538410"/>
            <a:chOff x="4906963" y="776516"/>
            <a:chExt cx="3916362" cy="2538410"/>
          </a:xfrm>
        </p:grpSpPr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8453438" y="2852963"/>
              <a:ext cx="3698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4946123" y="776516"/>
              <a:ext cx="3190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auto">
            <a:xfrm>
              <a:off x="4906963" y="1022046"/>
              <a:ext cx="3824287" cy="1899180"/>
            </a:xfrm>
            <a:custGeom>
              <a:avLst/>
              <a:gdLst>
                <a:gd name="T0" fmla="*/ 0 w 1622"/>
                <a:gd name="T1" fmla="*/ 0 h 1815"/>
                <a:gd name="T2" fmla="*/ 0 w 1622"/>
                <a:gd name="T3" fmla="*/ 1815 h 1815"/>
                <a:gd name="T4" fmla="*/ 1622 w 1622"/>
                <a:gd name="T5" fmla="*/ 1815 h 1815"/>
                <a:gd name="T6" fmla="*/ 0 60000 65536"/>
                <a:gd name="T7" fmla="*/ 0 60000 65536"/>
                <a:gd name="T8" fmla="*/ 0 60000 65536"/>
                <a:gd name="T9" fmla="*/ 0 w 1622"/>
                <a:gd name="T10" fmla="*/ 0 h 1815"/>
                <a:gd name="T11" fmla="*/ 1622 w 1622"/>
                <a:gd name="T12" fmla="*/ 1815 h 18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22" h="1815">
                  <a:moveTo>
                    <a:pt x="0" y="0"/>
                  </a:moveTo>
                  <a:lnTo>
                    <a:pt x="0" y="1815"/>
                  </a:lnTo>
                  <a:lnTo>
                    <a:pt x="1622" y="181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" name="Rectangle 52"/>
          <p:cNvSpPr>
            <a:spLocks noChangeArrowheads="1"/>
          </p:cNvSpPr>
          <p:nvPr/>
        </p:nvSpPr>
        <p:spPr bwMode="auto">
          <a:xfrm>
            <a:off x="445999" y="798581"/>
            <a:ext cx="415865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天然黏土的强度</a:t>
            </a: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包线</a:t>
            </a:r>
          </a:p>
        </p:txBody>
      </p:sp>
      <p:sp>
        <p:nvSpPr>
          <p:cNvPr id="70" name="AutoShape 10"/>
          <p:cNvSpPr>
            <a:spLocks noChangeArrowheads="1"/>
          </p:cNvSpPr>
          <p:nvPr/>
        </p:nvSpPr>
        <p:spPr bwMode="auto">
          <a:xfrm>
            <a:off x="680945" y="1593997"/>
            <a:ext cx="3302238" cy="1573197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天然土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土层中都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曾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经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受过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某一先期固结压力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固结</a:t>
            </a:r>
            <a:endParaRPr lang="en-US" altLang="zh-CN" sz="24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029942" y="1090882"/>
            <a:ext cx="1632392" cy="873610"/>
            <a:chOff x="6029942" y="1090882"/>
            <a:chExt cx="1632392" cy="873610"/>
          </a:xfrm>
        </p:grpSpPr>
        <p:sp>
          <p:nvSpPr>
            <p:cNvPr id="67" name="Line 65"/>
            <p:cNvSpPr>
              <a:spLocks noChangeShapeType="1"/>
            </p:cNvSpPr>
            <p:nvPr/>
          </p:nvSpPr>
          <p:spPr bwMode="auto">
            <a:xfrm flipH="1" flipV="1">
              <a:off x="6523567" y="1458080"/>
              <a:ext cx="298450" cy="506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 Box 5"/>
            <p:cNvSpPr txBox="1">
              <a:spLocks noChangeArrowheads="1"/>
            </p:cNvSpPr>
            <p:nvPr/>
          </p:nvSpPr>
          <p:spPr bwMode="auto">
            <a:xfrm>
              <a:off x="6029942" y="1090882"/>
              <a:ext cx="16323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533400" indent="-5334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indent="0" eaLnBrk="1" hangingPunct="1"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SzPct val="100000"/>
              </a:pPr>
              <a:r>
                <a:rPr lang="zh-CN" altLang="en-US" sz="2000" b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近似强度包线</a:t>
              </a:r>
              <a:endParaRPr lang="en-US" altLang="zh-CN" sz="2000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72" name="AutoShape 10"/>
          <p:cNvSpPr>
            <a:spLocks noChangeArrowheads="1"/>
          </p:cNvSpPr>
          <p:nvPr/>
        </p:nvSpPr>
        <p:spPr bwMode="auto">
          <a:xfrm>
            <a:off x="879324" y="3398606"/>
            <a:ext cx="7867953" cy="2013601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，为</a:t>
            </a: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正常固结土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，强度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包线为过原点的直线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BC</a:t>
            </a:r>
          </a:p>
          <a:p>
            <a:pPr marL="342900" indent="-3429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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为超固结土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。抗剪强度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包线是位于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正常固结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土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强度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包线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之上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AB</a:t>
            </a:r>
          </a:p>
          <a:p>
            <a:pPr marL="342900" indent="-34290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简化成图中的</a:t>
            </a:r>
            <a:r>
              <a:rPr lang="zh-CN" altLang="en-US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一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条不过原点的直线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DE</a:t>
            </a:r>
            <a:endParaRPr lang="en-US" altLang="zh-CN" sz="22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914899" y="1568676"/>
            <a:ext cx="2129791" cy="915985"/>
            <a:chOff x="4914899" y="1568676"/>
            <a:chExt cx="2129791" cy="915985"/>
          </a:xfrm>
        </p:grpSpPr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V="1">
              <a:off x="4914899" y="1989362"/>
              <a:ext cx="2129791" cy="495299"/>
            </a:xfrm>
            <a:prstGeom prst="line">
              <a:avLst/>
            </a:prstGeom>
            <a:noFill/>
            <a:ln w="127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2" name="Group 60"/>
            <p:cNvGrpSpPr>
              <a:grpSpLocks/>
            </p:cNvGrpSpPr>
            <p:nvPr/>
          </p:nvGrpSpPr>
          <p:grpSpPr bwMode="auto">
            <a:xfrm>
              <a:off x="5106988" y="1568676"/>
              <a:ext cx="1027112" cy="790575"/>
              <a:chOff x="3145" y="2123"/>
              <a:chExt cx="647" cy="498"/>
            </a:xfrm>
          </p:grpSpPr>
          <p:sp>
            <p:nvSpPr>
              <p:cNvPr id="63" name="Text Box 61"/>
              <p:cNvSpPr txBox="1">
                <a:spLocks noChangeArrowheads="1"/>
              </p:cNvSpPr>
              <p:nvPr/>
            </p:nvSpPr>
            <p:spPr bwMode="auto">
              <a:xfrm>
                <a:off x="3145" y="2123"/>
                <a:ext cx="647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>
                    <a:solidFill>
                      <a:srgbClr val="006600"/>
                    </a:solidFill>
                    <a:ea typeface="幼圆" pitchFamily="49" charset="-122"/>
                    <a:sym typeface="Symbol" pitchFamily="18" charset="2"/>
                  </a:rPr>
                  <a:t>超固结</a:t>
                </a:r>
                <a:endParaRPr lang="zh-CN" altLang="en-US" sz="2000" b="1" dirty="0">
                  <a:solidFill>
                    <a:srgbClr val="006600"/>
                  </a:solidFill>
                  <a:ea typeface="幼圆" pitchFamily="49" charset="-122"/>
                </a:endParaRPr>
              </a:p>
            </p:txBody>
          </p:sp>
          <p:sp>
            <p:nvSpPr>
              <p:cNvPr id="64" name="Line 62"/>
              <p:cNvSpPr>
                <a:spLocks noChangeShapeType="1"/>
              </p:cNvSpPr>
              <p:nvPr/>
            </p:nvSpPr>
            <p:spPr bwMode="auto">
              <a:xfrm flipH="1">
                <a:off x="3322" y="2410"/>
                <a:ext cx="67" cy="211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</p:grpSp>
        <p:sp>
          <p:nvSpPr>
            <p:cNvPr id="73" name="Text Box 5"/>
            <p:cNvSpPr txBox="1">
              <a:spLocks noChangeArrowheads="1"/>
            </p:cNvSpPr>
            <p:nvPr/>
          </p:nvSpPr>
          <p:spPr bwMode="auto">
            <a:xfrm>
              <a:off x="4926131" y="2098766"/>
              <a:ext cx="305543" cy="337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533400" indent="-5334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indent="0" eaLnBrk="1" hangingPunct="1"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SzPct val="100000"/>
              </a:pP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  <a:endPara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048500" y="1005665"/>
            <a:ext cx="1738832" cy="1425775"/>
            <a:chOff x="7048500" y="1005665"/>
            <a:chExt cx="1738832" cy="1425775"/>
          </a:xfrm>
        </p:grpSpPr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V="1">
              <a:off x="7048500" y="1342697"/>
              <a:ext cx="1478897" cy="64626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9" name="Group 57"/>
            <p:cNvGrpSpPr>
              <a:grpSpLocks/>
            </p:cNvGrpSpPr>
            <p:nvPr/>
          </p:nvGrpSpPr>
          <p:grpSpPr bwMode="auto">
            <a:xfrm>
              <a:off x="7209356" y="1885340"/>
              <a:ext cx="1577976" cy="546100"/>
              <a:chOff x="4462" y="2169"/>
              <a:chExt cx="994" cy="344"/>
            </a:xfrm>
          </p:grpSpPr>
          <p:sp>
            <p:nvSpPr>
              <p:cNvPr id="60" name="Text Box 58"/>
              <p:cNvSpPr txBox="1">
                <a:spLocks noChangeArrowheads="1"/>
              </p:cNvSpPr>
              <p:nvPr/>
            </p:nvSpPr>
            <p:spPr bwMode="auto">
              <a:xfrm>
                <a:off x="4462" y="2244"/>
                <a:ext cx="99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 smtClean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正常固结</a:t>
                </a:r>
                <a:endParaRPr lang="zh-CN" altLang="en-US" sz="2000" b="1" dirty="0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  <p:sp>
            <p:nvSpPr>
              <p:cNvPr id="61" name="Line 59"/>
              <p:cNvSpPr>
                <a:spLocks noChangeShapeType="1"/>
              </p:cNvSpPr>
              <p:nvPr/>
            </p:nvSpPr>
            <p:spPr bwMode="auto">
              <a:xfrm flipH="1" flipV="1">
                <a:off x="4528" y="2169"/>
                <a:ext cx="162" cy="116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</p:grpSp>
        <p:sp>
          <p:nvSpPr>
            <p:cNvPr id="74" name="Text Box 5"/>
            <p:cNvSpPr txBox="1">
              <a:spLocks noChangeArrowheads="1"/>
            </p:cNvSpPr>
            <p:nvPr/>
          </p:nvSpPr>
          <p:spPr bwMode="auto">
            <a:xfrm>
              <a:off x="7118514" y="1955724"/>
              <a:ext cx="305543" cy="337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533400" indent="-5334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indent="0" eaLnBrk="1" hangingPunct="1"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SzPct val="100000"/>
              </a:pP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B</a:t>
              </a:r>
              <a:endPara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6" name="Text Box 5"/>
            <p:cNvSpPr txBox="1">
              <a:spLocks noChangeArrowheads="1"/>
            </p:cNvSpPr>
            <p:nvPr/>
          </p:nvSpPr>
          <p:spPr bwMode="auto">
            <a:xfrm>
              <a:off x="8341842" y="1005665"/>
              <a:ext cx="305543" cy="337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533400" indent="-5334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indent="0" eaLnBrk="1" hangingPunct="1"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SzPct val="100000"/>
              </a:pP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851275" y="1177674"/>
            <a:ext cx="5129733" cy="1776084"/>
            <a:chOff x="3851275" y="1177674"/>
            <a:chExt cx="5129733" cy="1776084"/>
          </a:xfrm>
        </p:grpSpPr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4903470" y="1360712"/>
              <a:ext cx="3752850" cy="1234441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Text Box 5"/>
            <p:cNvSpPr txBox="1">
              <a:spLocks noChangeArrowheads="1"/>
            </p:cNvSpPr>
            <p:nvPr/>
          </p:nvSpPr>
          <p:spPr bwMode="auto">
            <a:xfrm>
              <a:off x="4952802" y="2524397"/>
              <a:ext cx="305543" cy="337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533400" indent="-5334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indent="0" eaLnBrk="1" hangingPunct="1"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SzPct val="100000"/>
              </a:pP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D</a:t>
              </a:r>
              <a:endPara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8" name="Text Box 5"/>
            <p:cNvSpPr txBox="1">
              <a:spLocks noChangeArrowheads="1"/>
            </p:cNvSpPr>
            <p:nvPr/>
          </p:nvSpPr>
          <p:spPr bwMode="auto">
            <a:xfrm>
              <a:off x="8675465" y="1177674"/>
              <a:ext cx="305543" cy="337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533400" indent="-5334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indent="0" eaLnBrk="1" hangingPunct="1"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SzPct val="100000"/>
              </a:pP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endPara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9" name="Line 47"/>
            <p:cNvSpPr>
              <a:spLocks noChangeShapeType="1"/>
            </p:cNvSpPr>
            <p:nvPr/>
          </p:nvSpPr>
          <p:spPr bwMode="auto">
            <a:xfrm flipH="1">
              <a:off x="4653564" y="2582283"/>
              <a:ext cx="173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48"/>
            <p:cNvSpPr>
              <a:spLocks noChangeShapeType="1"/>
            </p:cNvSpPr>
            <p:nvPr/>
          </p:nvSpPr>
          <p:spPr bwMode="auto">
            <a:xfrm flipH="1">
              <a:off x="4640864" y="2915658"/>
              <a:ext cx="173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49"/>
            <p:cNvSpPr>
              <a:spLocks noChangeShapeType="1"/>
            </p:cNvSpPr>
            <p:nvPr/>
          </p:nvSpPr>
          <p:spPr bwMode="auto">
            <a:xfrm>
              <a:off x="4734527" y="2582283"/>
              <a:ext cx="0" cy="334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50"/>
            <p:cNvSpPr>
              <a:spLocks noChangeArrowheads="1"/>
            </p:cNvSpPr>
            <p:nvPr/>
          </p:nvSpPr>
          <p:spPr bwMode="auto">
            <a:xfrm>
              <a:off x="3851275" y="2496558"/>
              <a:ext cx="8159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A50021"/>
                  </a:solidFill>
                  <a:sym typeface="Symbol" pitchFamily="18" charset="2"/>
                </a:rPr>
                <a:t>c</a:t>
              </a:r>
              <a:r>
                <a:rPr kumimoji="1" lang="en-US" altLang="zh-CN" sz="2400" b="1" baseline="-25000" dirty="0">
                  <a:solidFill>
                    <a:srgbClr val="A50021"/>
                  </a:solidFill>
                  <a:sym typeface="Symbol" pitchFamily="18" charset="2"/>
                </a:rPr>
                <a:t>d</a:t>
              </a:r>
              <a:r>
                <a:rPr kumimoji="1" lang="en-US" altLang="zh-CN" sz="2400" b="1" dirty="0">
                  <a:solidFill>
                    <a:srgbClr val="A50021"/>
                  </a:solidFill>
                  <a:sym typeface="Symbol" pitchFamily="18" charset="2"/>
                </a:rPr>
                <a:t>=</a:t>
              </a:r>
              <a:r>
                <a:rPr kumimoji="1" lang="en-US" altLang="zh-CN" sz="2400" b="1" i="1" dirty="0">
                  <a:solidFill>
                    <a:srgbClr val="A50021"/>
                  </a:solidFill>
                  <a:sym typeface="Symbol" pitchFamily="18" charset="2"/>
                </a:rPr>
                <a:t>c</a:t>
              </a:r>
              <a:r>
                <a:rPr kumimoji="1" lang="en-US" altLang="zh-CN" sz="2400" b="1" dirty="0">
                  <a:solidFill>
                    <a:srgbClr val="A50021"/>
                  </a:solidFill>
                  <a:sym typeface="Symbol" pitchFamily="18" charset="2"/>
                </a:rPr>
                <a:t></a:t>
              </a:r>
            </a:p>
          </p:txBody>
        </p:sp>
        <p:sp>
          <p:nvSpPr>
            <p:cNvPr id="83" name="Rectangle 44"/>
            <p:cNvSpPr>
              <a:spLocks noChangeArrowheads="1"/>
            </p:cNvSpPr>
            <p:nvPr/>
          </p:nvSpPr>
          <p:spPr bwMode="auto">
            <a:xfrm>
              <a:off x="8119666" y="1387071"/>
              <a:ext cx="858838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i="1" dirty="0" smtClean="0">
                  <a:solidFill>
                    <a:srgbClr val="A50021"/>
                  </a:solidFill>
                  <a:sym typeface="Symbol"/>
                </a:rPr>
                <a:t></a:t>
              </a:r>
              <a:r>
                <a:rPr kumimoji="1" lang="en-US" altLang="zh-CN" sz="2200" b="1" baseline="-25000" dirty="0" smtClean="0">
                  <a:solidFill>
                    <a:srgbClr val="A50021"/>
                  </a:solidFill>
                  <a:sym typeface="Symbol" pitchFamily="18" charset="2"/>
                </a:rPr>
                <a:t>d</a:t>
              </a:r>
              <a:r>
                <a:rPr kumimoji="1" lang="en-US" altLang="zh-CN" sz="2200" b="1" dirty="0" smtClean="0">
                  <a:solidFill>
                    <a:srgbClr val="A50021"/>
                  </a:solidFill>
                  <a:sym typeface="Symbol" pitchFamily="18" charset="2"/>
                </a:rPr>
                <a:t>=</a:t>
              </a:r>
              <a:r>
                <a:rPr kumimoji="1" lang="en-US" altLang="zh-CN" sz="2200" b="1" i="1" dirty="0" smtClean="0">
                  <a:solidFill>
                    <a:srgbClr val="A50021"/>
                  </a:solidFill>
                  <a:sym typeface="Symbol"/>
                </a:rPr>
                <a:t></a:t>
              </a:r>
              <a:r>
                <a:rPr kumimoji="1" lang="en-US" altLang="zh-CN" sz="2200" b="1" dirty="0" smtClean="0">
                  <a:solidFill>
                    <a:srgbClr val="A50021"/>
                  </a:solidFill>
                  <a:sym typeface="Symbol" pitchFamily="18" charset="2"/>
                </a:rPr>
                <a:t></a:t>
              </a:r>
              <a:endParaRPr kumimoji="1" lang="en-US" altLang="zh-CN" sz="2200" b="1" dirty="0">
                <a:solidFill>
                  <a:srgbClr val="A50021"/>
                </a:solidFill>
                <a:sym typeface="Symbol" pitchFamily="18" charset="2"/>
              </a:endParaRPr>
            </a:p>
          </p:txBody>
        </p:sp>
        <p:sp>
          <p:nvSpPr>
            <p:cNvPr id="84" name="Line 45"/>
            <p:cNvSpPr>
              <a:spLocks noChangeShapeType="1"/>
            </p:cNvSpPr>
            <p:nvPr/>
          </p:nvSpPr>
          <p:spPr bwMode="auto">
            <a:xfrm>
              <a:off x="7339433" y="1802340"/>
              <a:ext cx="926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任意多边形 2"/>
            <p:cNvSpPr/>
            <p:nvPr/>
          </p:nvSpPr>
          <p:spPr bwMode="auto">
            <a:xfrm>
              <a:off x="8079826" y="1558159"/>
              <a:ext cx="45719" cy="239110"/>
            </a:xfrm>
            <a:custGeom>
              <a:avLst/>
              <a:gdLst>
                <a:gd name="connsiteX0" fmla="*/ 2628 w 13162"/>
                <a:gd name="connsiteY0" fmla="*/ 202324 h 202324"/>
                <a:gd name="connsiteX1" fmla="*/ 13138 w 13162"/>
                <a:gd name="connsiteY1" fmla="*/ 94593 h 202324"/>
                <a:gd name="connsiteX2" fmla="*/ 0 w 13162"/>
                <a:gd name="connsiteY2" fmla="*/ 0 h 20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62" h="202324">
                  <a:moveTo>
                    <a:pt x="2628" y="202324"/>
                  </a:moveTo>
                  <a:cubicBezTo>
                    <a:pt x="8102" y="165319"/>
                    <a:pt x="13576" y="128314"/>
                    <a:pt x="13138" y="94593"/>
                  </a:cubicBezTo>
                  <a:cubicBezTo>
                    <a:pt x="12700" y="60872"/>
                    <a:pt x="6350" y="30436"/>
                    <a:pt x="0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42" name="Rectangle 3"/>
          <p:cNvSpPr>
            <a:spLocks noChangeArrowheads="1"/>
          </p:cNvSpPr>
          <p:nvPr/>
        </p:nvSpPr>
        <p:spPr bwMode="auto">
          <a:xfrm>
            <a:off x="3243263" y="5878513"/>
            <a:ext cx="3398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固结排水试验</a:t>
            </a:r>
          </a:p>
        </p:txBody>
      </p:sp>
    </p:spTree>
    <p:extLst>
      <p:ext uri="{BB962C8B-B14F-4D97-AF65-F5344CB8AC3E}">
        <p14:creationId xmlns:p14="http://schemas.microsoft.com/office/powerpoint/2010/main" val="89813531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0" grpId="0" build="p"/>
      <p:bldP spid="72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13" name="Rectangle 52"/>
          <p:cNvSpPr>
            <a:spLocks noChangeArrowheads="1"/>
          </p:cNvSpPr>
          <p:nvPr/>
        </p:nvSpPr>
        <p:spPr bwMode="auto">
          <a:xfrm>
            <a:off x="445999" y="798582"/>
            <a:ext cx="437637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3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固结排水试验小结</a:t>
            </a:r>
            <a:endParaRPr lang="zh-CN" altLang="en-US" sz="32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870859" y="1658004"/>
            <a:ext cx="7999123" cy="3610681"/>
          </a:xfrm>
          <a:prstGeom prst="rect">
            <a:avLst/>
          </a:prstGeom>
          <a:solidFill>
            <a:srgbClr val="CCECFF"/>
          </a:solidFill>
          <a:ln w="31750" cap="rnd">
            <a:solidFill>
              <a:srgbClr val="663300"/>
            </a:solidFill>
            <a:prstDash val="solid"/>
            <a:miter lim="800000"/>
            <a:headEnd/>
            <a:tailEnd/>
          </a:ln>
        </p:spPr>
        <p:txBody>
          <a:bodyPr wrap="none" lIns="107442" tIns="53721" rIns="107442" bIns="53721" anchor="ctr"/>
          <a:lstStyle/>
          <a:p>
            <a:pPr algn="ctr"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3300" b="1">
              <a:cs typeface="Times New Roman" panose="02020603050405020304" pitchFamily="18" charset="0"/>
            </a:endParaRPr>
          </a:p>
        </p:txBody>
      </p:sp>
      <p:sp>
        <p:nvSpPr>
          <p:cNvPr id="22" name="Line 5"/>
          <p:cNvSpPr>
            <a:spLocks noChangeShapeType="1"/>
          </p:cNvSpPr>
          <p:nvPr/>
        </p:nvSpPr>
        <p:spPr bwMode="auto">
          <a:xfrm>
            <a:off x="5771065" y="1663358"/>
            <a:ext cx="0" cy="3572670"/>
          </a:xfrm>
          <a:prstGeom prst="line">
            <a:avLst/>
          </a:prstGeom>
          <a:noFill/>
          <a:ln w="12700" cap="rnd">
            <a:solidFill>
              <a:srgbClr val="6633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3" name="Line 6"/>
          <p:cNvSpPr>
            <a:spLocks noChangeShapeType="1"/>
          </p:cNvSpPr>
          <p:nvPr/>
        </p:nvSpPr>
        <p:spPr bwMode="auto">
          <a:xfrm>
            <a:off x="3237371" y="1684402"/>
            <a:ext cx="0" cy="3562511"/>
          </a:xfrm>
          <a:prstGeom prst="line">
            <a:avLst/>
          </a:prstGeom>
          <a:noFill/>
          <a:ln w="19050" cap="rnd">
            <a:solidFill>
              <a:srgbClr val="6633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3561358" y="1730077"/>
            <a:ext cx="2207171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应力应变曲线</a:t>
            </a:r>
            <a:endParaRPr kumimoji="1" lang="zh-CN" altLang="en-US" sz="22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6584165" y="1730077"/>
            <a:ext cx="2221623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强度包线</a:t>
            </a:r>
            <a:endParaRPr kumimoji="1" lang="zh-CN" altLang="en-US" sz="22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9"/>
          <p:cNvSpPr>
            <a:spLocks noChangeArrowheads="1"/>
          </p:cNvSpPr>
          <p:nvPr/>
        </p:nvSpPr>
        <p:spPr bwMode="auto">
          <a:xfrm>
            <a:off x="974991" y="2292437"/>
            <a:ext cx="1430753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松砂</a:t>
            </a:r>
            <a:endParaRPr kumimoji="1" lang="zh-CN" altLang="en-US" sz="22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996505" y="3404839"/>
            <a:ext cx="2061262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. </a:t>
            </a: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密</a:t>
            </a:r>
            <a:r>
              <a:rPr kumimoji="1" lang="zh-CN" altLang="en-US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砂</a:t>
            </a:r>
          </a:p>
        </p:txBody>
      </p:sp>
      <p:sp>
        <p:nvSpPr>
          <p:cNvPr id="28" name="Rectangle 11"/>
          <p:cNvSpPr>
            <a:spLocks noChangeArrowheads="1"/>
          </p:cNvSpPr>
          <p:nvPr/>
        </p:nvSpPr>
        <p:spPr bwMode="auto">
          <a:xfrm>
            <a:off x="1011717" y="3997594"/>
            <a:ext cx="1883885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超固结黏土</a:t>
            </a: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3364080" y="2563456"/>
            <a:ext cx="2113335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应变硬化，剪缩</a:t>
            </a:r>
            <a:endParaRPr kumimoji="1" lang="zh-CN" altLang="en-US" sz="21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15"/>
          <p:cNvSpPr>
            <a:spLocks noChangeArrowheads="1"/>
          </p:cNvSpPr>
          <p:nvPr/>
        </p:nvSpPr>
        <p:spPr bwMode="auto">
          <a:xfrm>
            <a:off x="5906583" y="2535676"/>
            <a:ext cx="2324932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过原点直线，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=0</a:t>
            </a:r>
            <a:endParaRPr lang="zh-CN" altLang="en-US" sz="20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16"/>
          <p:cNvSpPr>
            <a:spLocks noChangeArrowheads="1"/>
          </p:cNvSpPr>
          <p:nvPr/>
        </p:nvSpPr>
        <p:spPr bwMode="auto">
          <a:xfrm>
            <a:off x="3364077" y="3380347"/>
            <a:ext cx="2144096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应变软化，剪胀</a:t>
            </a:r>
            <a:endParaRPr kumimoji="1" lang="en-US" altLang="zh-CN" sz="21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1297130" y="1740963"/>
            <a:ext cx="1478730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土类</a:t>
            </a:r>
            <a:endParaRPr kumimoji="1" lang="zh-CN" altLang="en-US" sz="2200" b="1" dirty="0">
              <a:solidFill>
                <a:srgbClr val="99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985876" y="2836724"/>
            <a:ext cx="2214526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 正常</a:t>
            </a:r>
            <a:r>
              <a:rPr kumimoji="1" lang="zh-CN" altLang="en-US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固结黏土</a:t>
            </a:r>
          </a:p>
        </p:txBody>
      </p:sp>
      <p:sp>
        <p:nvSpPr>
          <p:cNvPr id="37" name="Rectangle 15"/>
          <p:cNvSpPr>
            <a:spLocks noChangeArrowheads="1"/>
          </p:cNvSpPr>
          <p:nvPr/>
        </p:nvSpPr>
        <p:spPr bwMode="auto">
          <a:xfrm>
            <a:off x="5906584" y="3362989"/>
            <a:ext cx="2324932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过原点直线，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=0</a:t>
            </a:r>
            <a:endParaRPr lang="zh-CN" altLang="en-US" sz="20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" name="Rectangle 16"/>
          <p:cNvSpPr>
            <a:spLocks noChangeArrowheads="1"/>
          </p:cNvSpPr>
          <p:nvPr/>
        </p:nvSpPr>
        <p:spPr bwMode="auto">
          <a:xfrm>
            <a:off x="3364077" y="3968174"/>
            <a:ext cx="2492437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应变软化，剪胀</a:t>
            </a:r>
            <a:endParaRPr kumimoji="1" lang="en-US" altLang="zh-CN" sz="21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9" name="Rectangle 15"/>
          <p:cNvSpPr>
            <a:spLocks noChangeArrowheads="1"/>
          </p:cNvSpPr>
          <p:nvPr/>
        </p:nvSpPr>
        <p:spPr bwMode="auto">
          <a:xfrm>
            <a:off x="5884811" y="3950820"/>
            <a:ext cx="2719271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不过原点直线，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 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0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Rectangle 11"/>
          <p:cNvSpPr>
            <a:spLocks noChangeArrowheads="1"/>
          </p:cNvSpPr>
          <p:nvPr/>
        </p:nvSpPr>
        <p:spPr bwMode="auto">
          <a:xfrm>
            <a:off x="1022604" y="4650736"/>
            <a:ext cx="1731484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2200" b="1" dirty="0" smtClean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200" b="1" dirty="0">
                <a:solidFill>
                  <a:srgbClr val="990000"/>
                </a:solidFill>
                <a:ea typeface="黑体" pitchFamily="2" charset="-122"/>
                <a:cs typeface="Times New Roman" panose="02020603050405020304" pitchFamily="18" charset="0"/>
              </a:rPr>
              <a:t>天然黏土</a:t>
            </a:r>
          </a:p>
        </p:txBody>
      </p:sp>
      <p:sp>
        <p:nvSpPr>
          <p:cNvPr id="41" name="Rectangle 16"/>
          <p:cNvSpPr>
            <a:spLocks noChangeArrowheads="1"/>
          </p:cNvSpPr>
          <p:nvPr/>
        </p:nvSpPr>
        <p:spPr bwMode="auto">
          <a:xfrm>
            <a:off x="3364080" y="4643088"/>
            <a:ext cx="2492437" cy="43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超固结</a:t>
            </a:r>
            <a:r>
              <a:rPr kumimoji="1" lang="en-US" altLang="zh-CN" sz="21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21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正常固结</a:t>
            </a:r>
            <a:endParaRPr kumimoji="1" lang="en-US" altLang="zh-CN" sz="21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2" name="Rectangle 15"/>
          <p:cNvSpPr>
            <a:spLocks noChangeArrowheads="1"/>
          </p:cNvSpPr>
          <p:nvPr/>
        </p:nvSpPr>
        <p:spPr bwMode="auto">
          <a:xfrm>
            <a:off x="5917468" y="4451562"/>
            <a:ext cx="2573389" cy="80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折线，近似成不过</a:t>
            </a:r>
            <a:r>
              <a:rPr kumimoji="1" lang="zh-CN" altLang="en-US" sz="21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原点的直线，</a:t>
            </a:r>
            <a:r>
              <a:rPr lang="en-US" altLang="zh-CN" sz="24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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endParaRPr lang="zh-CN" altLang="en-US" sz="24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903516" y="2231571"/>
            <a:ext cx="7935686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903516" y="3320142"/>
            <a:ext cx="7935686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903516" y="4452257"/>
            <a:ext cx="7935686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连接符 45"/>
          <p:cNvCxnSpPr/>
          <p:nvPr/>
        </p:nvCxnSpPr>
        <p:spPr bwMode="auto">
          <a:xfrm>
            <a:off x="881745" y="3864429"/>
            <a:ext cx="7935686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3243263" y="5878513"/>
            <a:ext cx="3398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固结排水试验</a:t>
            </a:r>
          </a:p>
        </p:txBody>
      </p:sp>
    </p:spTree>
    <p:extLst>
      <p:ext uri="{BB962C8B-B14F-4D97-AF65-F5344CB8AC3E}">
        <p14:creationId xmlns:p14="http://schemas.microsoft.com/office/powerpoint/2010/main" val="53398993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163740" y="1272677"/>
            <a:ext cx="6958768" cy="260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固结不排水试验</a:t>
            </a:r>
            <a:endParaRPr lang="en-US" altLang="zh-CN" sz="2800" b="1" dirty="0" smtClean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63613" lvl="2" indent="-446088" eaLnBrk="1" hangingPunct="1">
              <a:lnSpc>
                <a:spcPct val="125000"/>
              </a:lnSpc>
              <a:spcBef>
                <a:spcPts val="18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条件</a:t>
            </a:r>
          </a:p>
          <a:p>
            <a:pPr marL="963613" lvl="2" indent="-446088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正常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固结黏土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的试验曲线与强度包线</a:t>
            </a:r>
          </a:p>
          <a:p>
            <a:pPr marL="963613" lvl="2" indent="-446088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超固结黏土的试验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曲线与强度包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403521" y="5601641"/>
            <a:ext cx="45162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三轴试验强度指标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52231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4733020" y="769938"/>
            <a:ext cx="4173537" cy="4652963"/>
            <a:chOff x="2906" y="485"/>
            <a:chExt cx="2629" cy="2931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5465" y="1843"/>
              <a:ext cx="70" cy="89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669" y="1462"/>
              <a:ext cx="979" cy="143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6" descr="大纸屑"/>
            <p:cNvSpPr>
              <a:spLocks noChangeArrowheads="1"/>
            </p:cNvSpPr>
            <p:nvPr/>
          </p:nvSpPr>
          <p:spPr bwMode="auto">
            <a:xfrm>
              <a:off x="3948" y="2599"/>
              <a:ext cx="425" cy="73"/>
            </a:xfrm>
            <a:prstGeom prst="rect">
              <a:avLst/>
            </a:prstGeom>
            <a:pattFill prst="lgConfetti">
              <a:fgClr>
                <a:schemeClr val="tx2"/>
              </a:fgClr>
              <a:bgClr>
                <a:srgbClr val="FFCC66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7" descr="浅色上对角线"/>
            <p:cNvSpPr>
              <a:spLocks noChangeArrowheads="1"/>
            </p:cNvSpPr>
            <p:nvPr/>
          </p:nvSpPr>
          <p:spPr bwMode="auto">
            <a:xfrm>
              <a:off x="3939" y="1654"/>
              <a:ext cx="444" cy="145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" name="Group 8"/>
            <p:cNvGrpSpPr>
              <a:grpSpLocks/>
            </p:cNvGrpSpPr>
            <p:nvPr/>
          </p:nvGrpSpPr>
          <p:grpSpPr bwMode="auto">
            <a:xfrm>
              <a:off x="3933" y="1696"/>
              <a:ext cx="452" cy="1025"/>
              <a:chOff x="3374" y="2353"/>
              <a:chExt cx="452" cy="1025"/>
            </a:xfrm>
          </p:grpSpPr>
          <p:sp>
            <p:nvSpPr>
              <p:cNvPr id="68" name="Line 9"/>
              <p:cNvSpPr>
                <a:spLocks noChangeShapeType="1"/>
              </p:cNvSpPr>
              <p:nvPr/>
            </p:nvSpPr>
            <p:spPr bwMode="auto">
              <a:xfrm>
                <a:off x="3374" y="2359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10"/>
              <p:cNvSpPr>
                <a:spLocks noChangeShapeType="1"/>
              </p:cNvSpPr>
              <p:nvPr/>
            </p:nvSpPr>
            <p:spPr bwMode="auto">
              <a:xfrm>
                <a:off x="3826" y="2353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11"/>
            <p:cNvGrpSpPr>
              <a:grpSpLocks/>
            </p:cNvGrpSpPr>
            <p:nvPr/>
          </p:nvGrpSpPr>
          <p:grpSpPr bwMode="auto">
            <a:xfrm>
              <a:off x="3880" y="1714"/>
              <a:ext cx="549" cy="1001"/>
              <a:chOff x="3321" y="2371"/>
              <a:chExt cx="549" cy="1001"/>
            </a:xfrm>
          </p:grpSpPr>
          <p:sp>
            <p:nvSpPr>
              <p:cNvPr id="64" name="Oval 12"/>
              <p:cNvSpPr>
                <a:spLocks noChangeArrowheads="1"/>
              </p:cNvSpPr>
              <p:nvPr/>
            </p:nvSpPr>
            <p:spPr bwMode="auto">
              <a:xfrm>
                <a:off x="3330" y="2383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Oval 13"/>
              <p:cNvSpPr>
                <a:spLocks noChangeArrowheads="1"/>
              </p:cNvSpPr>
              <p:nvPr/>
            </p:nvSpPr>
            <p:spPr bwMode="auto">
              <a:xfrm>
                <a:off x="3832" y="3329"/>
                <a:ext cx="36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Oval 14"/>
              <p:cNvSpPr>
                <a:spLocks noChangeArrowheads="1"/>
              </p:cNvSpPr>
              <p:nvPr/>
            </p:nvSpPr>
            <p:spPr bwMode="auto">
              <a:xfrm>
                <a:off x="3321" y="3335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Oval 15"/>
              <p:cNvSpPr>
                <a:spLocks noChangeArrowheads="1"/>
              </p:cNvSpPr>
              <p:nvPr/>
            </p:nvSpPr>
            <p:spPr bwMode="auto">
              <a:xfrm>
                <a:off x="3835" y="2371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70000"/>
                  </a:lnSpc>
                  <a:spcBef>
                    <a:spcPct val="20000"/>
                  </a:spcBef>
                  <a:spcAft>
                    <a:spcPct val="0"/>
                  </a:spcAft>
                </a:pPr>
                <a:endParaRPr lang="zh-CN" altLang="en-US" sz="2400">
                  <a:ea typeface="幼圆" pitchFamily="49" charset="-122"/>
                  <a:sym typeface="Symbol" pitchFamily="18" charset="2"/>
                </a:endParaRPr>
              </a:p>
            </p:txBody>
          </p:sp>
        </p:grpSp>
        <p:grpSp>
          <p:nvGrpSpPr>
            <p:cNvPr id="14" name="Group 16"/>
            <p:cNvGrpSpPr>
              <a:grpSpLocks/>
            </p:cNvGrpSpPr>
            <p:nvPr/>
          </p:nvGrpSpPr>
          <p:grpSpPr bwMode="auto">
            <a:xfrm>
              <a:off x="3587" y="2672"/>
              <a:ext cx="1135" cy="400"/>
              <a:chOff x="3028" y="3329"/>
              <a:chExt cx="1135" cy="400"/>
            </a:xfrm>
          </p:grpSpPr>
          <p:sp>
            <p:nvSpPr>
              <p:cNvPr id="62" name="Rectangle 17"/>
              <p:cNvSpPr>
                <a:spLocks noChangeArrowheads="1"/>
              </p:cNvSpPr>
              <p:nvPr/>
            </p:nvSpPr>
            <p:spPr bwMode="auto">
              <a:xfrm>
                <a:off x="3389" y="3329"/>
                <a:ext cx="425" cy="218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Rectangle 18"/>
              <p:cNvSpPr>
                <a:spLocks noChangeArrowheads="1"/>
              </p:cNvSpPr>
              <p:nvPr/>
            </p:nvSpPr>
            <p:spPr bwMode="auto">
              <a:xfrm>
                <a:off x="3028" y="3547"/>
                <a:ext cx="1135" cy="182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" name="Line 19" descr="30%"/>
            <p:cNvSpPr>
              <a:spLocks noChangeShapeType="1"/>
            </p:cNvSpPr>
            <p:nvPr/>
          </p:nvSpPr>
          <p:spPr bwMode="auto">
            <a:xfrm>
              <a:off x="3662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0" descr="30%"/>
            <p:cNvSpPr>
              <a:spLocks noChangeShapeType="1"/>
            </p:cNvSpPr>
            <p:nvPr/>
          </p:nvSpPr>
          <p:spPr bwMode="auto">
            <a:xfrm>
              <a:off x="4655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3455" y="1369"/>
              <a:ext cx="639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4224" y="1369"/>
              <a:ext cx="638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23" descr="浅色竖线"/>
            <p:cNvSpPr>
              <a:spLocks noChangeArrowheads="1"/>
            </p:cNvSpPr>
            <p:nvPr/>
          </p:nvSpPr>
          <p:spPr bwMode="auto">
            <a:xfrm>
              <a:off x="4097" y="1164"/>
              <a:ext cx="126" cy="486"/>
            </a:xfrm>
            <a:prstGeom prst="rect">
              <a:avLst/>
            </a:prstGeom>
            <a:pattFill prst="ltVert">
              <a:fgClr>
                <a:srgbClr val="4D4D4D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" name="Group 24"/>
            <p:cNvGrpSpPr>
              <a:grpSpLocks/>
            </p:cNvGrpSpPr>
            <p:nvPr/>
          </p:nvGrpSpPr>
          <p:grpSpPr bwMode="auto">
            <a:xfrm>
              <a:off x="3942" y="1799"/>
              <a:ext cx="434" cy="800"/>
              <a:chOff x="3942" y="1799"/>
              <a:chExt cx="434" cy="800"/>
            </a:xfrm>
          </p:grpSpPr>
          <p:sp>
            <p:nvSpPr>
              <p:cNvPr id="60" name="Rectangle 25"/>
              <p:cNvSpPr>
                <a:spLocks noChangeArrowheads="1"/>
              </p:cNvSpPr>
              <p:nvPr/>
            </p:nvSpPr>
            <p:spPr bwMode="auto">
              <a:xfrm>
                <a:off x="3942" y="1799"/>
                <a:ext cx="434" cy="800"/>
              </a:xfrm>
              <a:prstGeom prst="rect">
                <a:avLst/>
              </a:prstGeom>
              <a:solidFill>
                <a:srgbClr val="996633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Text Box 26"/>
              <p:cNvSpPr txBox="1">
                <a:spLocks noChangeArrowheads="1"/>
              </p:cNvSpPr>
              <p:nvPr/>
            </p:nvSpPr>
            <p:spPr bwMode="auto">
              <a:xfrm>
                <a:off x="3995" y="1945"/>
                <a:ext cx="308" cy="472"/>
              </a:xfrm>
              <a:prstGeom prst="rect">
                <a:avLst/>
              </a:prstGeom>
              <a:solidFill>
                <a:srgbClr val="9966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>
                    <a:solidFill>
                      <a:schemeClr val="bg1"/>
                    </a:solidFill>
                    <a:ea typeface="幼圆" pitchFamily="49" charset="-122"/>
                    <a:sym typeface="Symbol" pitchFamily="18" charset="2"/>
                  </a:rPr>
                  <a:t>试样</a:t>
                </a:r>
              </a:p>
            </p:txBody>
          </p:sp>
        </p:grpSp>
        <p:sp>
          <p:nvSpPr>
            <p:cNvPr id="21" name="Text Box 27"/>
            <p:cNvSpPr txBox="1">
              <a:spLocks noChangeArrowheads="1"/>
            </p:cNvSpPr>
            <p:nvPr/>
          </p:nvSpPr>
          <p:spPr bwMode="auto">
            <a:xfrm>
              <a:off x="2923" y="2264"/>
              <a:ext cx="67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围压</a:t>
              </a:r>
              <a:b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</a:br>
              <a: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力</a:t>
              </a: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zh-CN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5014" y="3034"/>
              <a:ext cx="514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  <a:sym typeface="Symbol" pitchFamily="18" charset="2"/>
                </a:rPr>
                <a:t>阀门</a:t>
              </a:r>
            </a:p>
          </p:txBody>
        </p:sp>
        <p:sp>
          <p:nvSpPr>
            <p:cNvPr id="23" name="Text Box 29"/>
            <p:cNvSpPr txBox="1">
              <a:spLocks noChangeArrowheads="1"/>
            </p:cNvSpPr>
            <p:nvPr/>
          </p:nvSpPr>
          <p:spPr bwMode="auto">
            <a:xfrm>
              <a:off x="3024" y="3043"/>
              <a:ext cx="514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  <a:sym typeface="Symbol" pitchFamily="18" charset="2"/>
                </a:rPr>
                <a:t>阀门</a:t>
              </a:r>
            </a:p>
          </p:txBody>
        </p:sp>
        <p:sp>
          <p:nvSpPr>
            <p:cNvPr id="24" name="Freeform 30"/>
            <p:cNvSpPr>
              <a:spLocks/>
            </p:cNvSpPr>
            <p:nvPr/>
          </p:nvSpPr>
          <p:spPr bwMode="auto">
            <a:xfrm>
              <a:off x="2906" y="2882"/>
              <a:ext cx="888" cy="61"/>
            </a:xfrm>
            <a:custGeom>
              <a:avLst/>
              <a:gdLst>
                <a:gd name="T0" fmla="*/ 1253 w 1253"/>
                <a:gd name="T1" fmla="*/ 0 h 67"/>
                <a:gd name="T2" fmla="*/ 1253 w 1253"/>
                <a:gd name="T3" fmla="*/ 67 h 67"/>
                <a:gd name="T4" fmla="*/ 0 w 1253"/>
                <a:gd name="T5" fmla="*/ 67 h 67"/>
                <a:gd name="T6" fmla="*/ 0 60000 65536"/>
                <a:gd name="T7" fmla="*/ 0 60000 65536"/>
                <a:gd name="T8" fmla="*/ 0 60000 65536"/>
                <a:gd name="T9" fmla="*/ 0 w 1253"/>
                <a:gd name="T10" fmla="*/ 0 h 67"/>
                <a:gd name="T11" fmla="*/ 1253 w 1253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3" h="67">
                  <a:moveTo>
                    <a:pt x="1253" y="0"/>
                  </a:moveTo>
                  <a:lnTo>
                    <a:pt x="1253" y="67"/>
                  </a:lnTo>
                  <a:lnTo>
                    <a:pt x="0" y="67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AutoShape 31"/>
            <p:cNvSpPr>
              <a:spLocks noChangeArrowheads="1"/>
            </p:cNvSpPr>
            <p:nvPr/>
          </p:nvSpPr>
          <p:spPr bwMode="auto">
            <a:xfrm>
              <a:off x="3212" y="2874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Freeform 32"/>
            <p:cNvSpPr>
              <a:spLocks/>
            </p:cNvSpPr>
            <p:nvPr/>
          </p:nvSpPr>
          <p:spPr bwMode="auto">
            <a:xfrm>
              <a:off x="4240" y="2671"/>
              <a:ext cx="1258" cy="273"/>
            </a:xfrm>
            <a:custGeom>
              <a:avLst/>
              <a:gdLst>
                <a:gd name="T0" fmla="*/ 0 w 1257"/>
                <a:gd name="T1" fmla="*/ 0 h 302"/>
                <a:gd name="T2" fmla="*/ 0 w 1257"/>
                <a:gd name="T3" fmla="*/ 298 h 302"/>
                <a:gd name="T4" fmla="*/ 1257 w 1257"/>
                <a:gd name="T5" fmla="*/ 302 h 302"/>
                <a:gd name="T6" fmla="*/ 1257 w 1257"/>
                <a:gd name="T7" fmla="*/ 65 h 3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57"/>
                <a:gd name="T13" fmla="*/ 0 h 302"/>
                <a:gd name="T14" fmla="*/ 1257 w 1257"/>
                <a:gd name="T15" fmla="*/ 302 h 3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57" h="302">
                  <a:moveTo>
                    <a:pt x="0" y="0"/>
                  </a:moveTo>
                  <a:lnTo>
                    <a:pt x="0" y="298"/>
                  </a:lnTo>
                  <a:lnTo>
                    <a:pt x="1257" y="302"/>
                  </a:lnTo>
                  <a:lnTo>
                    <a:pt x="1257" y="65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AutoShape 33"/>
            <p:cNvSpPr>
              <a:spLocks noChangeArrowheads="1"/>
            </p:cNvSpPr>
            <p:nvPr/>
          </p:nvSpPr>
          <p:spPr bwMode="auto">
            <a:xfrm>
              <a:off x="5159" y="2863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34"/>
            <p:cNvSpPr>
              <a:spLocks noChangeArrowheads="1"/>
            </p:cNvSpPr>
            <p:nvPr/>
          </p:nvSpPr>
          <p:spPr bwMode="auto">
            <a:xfrm>
              <a:off x="3935" y="746"/>
              <a:ext cx="442" cy="455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" name="Group 35"/>
            <p:cNvGrpSpPr>
              <a:grpSpLocks/>
            </p:cNvGrpSpPr>
            <p:nvPr/>
          </p:nvGrpSpPr>
          <p:grpSpPr bwMode="auto">
            <a:xfrm>
              <a:off x="4060" y="745"/>
              <a:ext cx="192" cy="340"/>
              <a:chOff x="371" y="1926"/>
              <a:chExt cx="192" cy="340"/>
            </a:xfrm>
          </p:grpSpPr>
          <p:sp>
            <p:nvSpPr>
              <p:cNvPr id="57" name="Line 36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Oval 37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38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" name="Line 39"/>
            <p:cNvSpPr>
              <a:spLocks noChangeShapeType="1"/>
            </p:cNvSpPr>
            <p:nvPr/>
          </p:nvSpPr>
          <p:spPr bwMode="auto">
            <a:xfrm>
              <a:off x="4122" y="1083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40"/>
            <p:cNvSpPr>
              <a:spLocks noChangeShapeType="1"/>
            </p:cNvSpPr>
            <p:nvPr/>
          </p:nvSpPr>
          <p:spPr bwMode="auto">
            <a:xfrm>
              <a:off x="4154" y="1083"/>
              <a:ext cx="0" cy="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41"/>
            <p:cNvSpPr>
              <a:spLocks noChangeArrowheads="1"/>
            </p:cNvSpPr>
            <p:nvPr/>
          </p:nvSpPr>
          <p:spPr bwMode="auto">
            <a:xfrm>
              <a:off x="4094" y="675"/>
              <a:ext cx="135" cy="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 flipH="1">
              <a:off x="3803" y="1217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" name="Group 43"/>
            <p:cNvGrpSpPr>
              <a:grpSpLocks/>
            </p:cNvGrpSpPr>
            <p:nvPr/>
          </p:nvGrpSpPr>
          <p:grpSpPr bwMode="auto">
            <a:xfrm>
              <a:off x="3695" y="1037"/>
              <a:ext cx="192" cy="340"/>
              <a:chOff x="371" y="1926"/>
              <a:chExt cx="192" cy="340"/>
            </a:xfrm>
          </p:grpSpPr>
          <p:sp>
            <p:nvSpPr>
              <p:cNvPr id="54" name="Line 44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Oval 45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46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" name="Rectangle 47"/>
            <p:cNvSpPr>
              <a:spLocks noChangeArrowheads="1"/>
            </p:cNvSpPr>
            <p:nvPr/>
          </p:nvSpPr>
          <p:spPr bwMode="auto">
            <a:xfrm>
              <a:off x="4085" y="1195"/>
              <a:ext cx="135" cy="4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Rectangle 48"/>
            <p:cNvSpPr>
              <a:spLocks noChangeArrowheads="1"/>
            </p:cNvSpPr>
            <p:nvPr/>
          </p:nvSpPr>
          <p:spPr bwMode="auto">
            <a:xfrm>
              <a:off x="3765" y="3072"/>
              <a:ext cx="818" cy="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Rectangle 49"/>
            <p:cNvSpPr>
              <a:spLocks noChangeArrowheads="1"/>
            </p:cNvSpPr>
            <p:nvPr/>
          </p:nvSpPr>
          <p:spPr bwMode="auto">
            <a:xfrm>
              <a:off x="3876" y="3161"/>
              <a:ext cx="600" cy="25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Text Box 50"/>
            <p:cNvSpPr txBox="1">
              <a:spLocks noChangeArrowheads="1"/>
            </p:cNvSpPr>
            <p:nvPr/>
          </p:nvSpPr>
          <p:spPr bwMode="auto">
            <a:xfrm>
              <a:off x="3919" y="3125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马达</a:t>
              </a:r>
            </a:p>
          </p:txBody>
        </p:sp>
        <p:sp>
          <p:nvSpPr>
            <p:cNvPr id="39" name="Rectangle 51"/>
            <p:cNvSpPr>
              <a:spLocks noChangeArrowheads="1"/>
            </p:cNvSpPr>
            <p:nvPr/>
          </p:nvSpPr>
          <p:spPr bwMode="auto">
            <a:xfrm>
              <a:off x="3470" y="530"/>
              <a:ext cx="1300" cy="186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52"/>
            <p:cNvSpPr txBox="1">
              <a:spLocks noChangeArrowheads="1"/>
            </p:cNvSpPr>
            <p:nvPr/>
          </p:nvSpPr>
          <p:spPr bwMode="auto">
            <a:xfrm>
              <a:off x="4888" y="485"/>
              <a:ext cx="5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横梁</a:t>
              </a:r>
            </a:p>
          </p:txBody>
        </p:sp>
        <p:sp>
          <p:nvSpPr>
            <p:cNvPr id="41" name="Line 53"/>
            <p:cNvSpPr>
              <a:spLocks noChangeShapeType="1"/>
            </p:cNvSpPr>
            <p:nvPr/>
          </p:nvSpPr>
          <p:spPr bwMode="auto">
            <a:xfrm>
              <a:off x="4635" y="620"/>
              <a:ext cx="256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54"/>
            <p:cNvSpPr txBox="1">
              <a:spLocks noChangeArrowheads="1"/>
            </p:cNvSpPr>
            <p:nvPr/>
          </p:nvSpPr>
          <p:spPr bwMode="auto">
            <a:xfrm>
              <a:off x="4474" y="812"/>
              <a:ext cx="7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量力环</a:t>
              </a:r>
              <a:endParaRPr lang="en-US" altLang="zh-CN" sz="2400" b="1">
                <a:ea typeface="幼圆" pitchFamily="49" charset="-122"/>
              </a:endParaRPr>
            </a:p>
          </p:txBody>
        </p:sp>
        <p:sp>
          <p:nvSpPr>
            <p:cNvPr id="43" name="Line 55"/>
            <p:cNvSpPr>
              <a:spLocks noChangeShapeType="1"/>
            </p:cNvSpPr>
            <p:nvPr/>
          </p:nvSpPr>
          <p:spPr bwMode="auto">
            <a:xfrm flipH="1">
              <a:off x="4327" y="1018"/>
              <a:ext cx="204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56"/>
            <p:cNvSpPr txBox="1">
              <a:spLocks noChangeArrowheads="1"/>
            </p:cNvSpPr>
            <p:nvPr/>
          </p:nvSpPr>
          <p:spPr bwMode="auto">
            <a:xfrm>
              <a:off x="2934" y="776"/>
              <a:ext cx="7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百分表</a:t>
              </a:r>
            </a:p>
          </p:txBody>
        </p:sp>
        <p:sp>
          <p:nvSpPr>
            <p:cNvPr id="45" name="Line 57"/>
            <p:cNvSpPr>
              <a:spLocks noChangeShapeType="1"/>
            </p:cNvSpPr>
            <p:nvPr/>
          </p:nvSpPr>
          <p:spPr bwMode="auto">
            <a:xfrm flipH="1" flipV="1">
              <a:off x="3576" y="1076"/>
              <a:ext cx="138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58"/>
            <p:cNvSpPr>
              <a:spLocks/>
            </p:cNvSpPr>
            <p:nvPr/>
          </p:nvSpPr>
          <p:spPr bwMode="auto">
            <a:xfrm>
              <a:off x="5462" y="1536"/>
              <a:ext cx="70" cy="1206"/>
            </a:xfrm>
            <a:custGeom>
              <a:avLst/>
              <a:gdLst>
                <a:gd name="T0" fmla="*/ 0 w 89"/>
                <a:gd name="T1" fmla="*/ 0 h 1206"/>
                <a:gd name="T2" fmla="*/ 0 w 89"/>
                <a:gd name="T3" fmla="*/ 1206 h 1206"/>
                <a:gd name="T4" fmla="*/ 89 w 89"/>
                <a:gd name="T5" fmla="*/ 1206 h 1206"/>
                <a:gd name="T6" fmla="*/ 89 w 89"/>
                <a:gd name="T7" fmla="*/ 0 h 1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06"/>
                <a:gd name="T14" fmla="*/ 89 w 89"/>
                <a:gd name="T15" fmla="*/ 1206 h 1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06">
                  <a:moveTo>
                    <a:pt x="0" y="0"/>
                  </a:moveTo>
                  <a:lnTo>
                    <a:pt x="0" y="1206"/>
                  </a:lnTo>
                  <a:lnTo>
                    <a:pt x="89" y="1206"/>
                  </a:lnTo>
                  <a:lnTo>
                    <a:pt x="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59"/>
            <p:cNvSpPr txBox="1">
              <a:spLocks noChangeArrowheads="1"/>
            </p:cNvSpPr>
            <p:nvPr/>
          </p:nvSpPr>
          <p:spPr bwMode="auto">
            <a:xfrm>
              <a:off x="5150" y="1225"/>
              <a:ext cx="327" cy="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ea typeface="幼圆" pitchFamily="49" charset="-122"/>
                  <a:sym typeface="Symbol" pitchFamily="18" charset="2"/>
                </a:rPr>
                <a:t>量水管</a:t>
              </a:r>
            </a:p>
          </p:txBody>
        </p:sp>
        <p:sp>
          <p:nvSpPr>
            <p:cNvPr id="48" name="Rectangle 60"/>
            <p:cNvSpPr>
              <a:spLocks noChangeArrowheads="1"/>
            </p:cNvSpPr>
            <p:nvPr/>
          </p:nvSpPr>
          <p:spPr bwMode="auto">
            <a:xfrm>
              <a:off x="4898" y="2874"/>
              <a:ext cx="144" cy="1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Oval 61"/>
            <p:cNvSpPr>
              <a:spLocks noChangeArrowheads="1"/>
            </p:cNvSpPr>
            <p:nvPr/>
          </p:nvSpPr>
          <p:spPr bwMode="auto">
            <a:xfrm>
              <a:off x="4936" y="2904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50" name="Picture 62" descr="Graphic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9" y="2291"/>
              <a:ext cx="431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Freeform 63"/>
            <p:cNvSpPr>
              <a:spLocks/>
            </p:cNvSpPr>
            <p:nvPr/>
          </p:nvSpPr>
          <p:spPr bwMode="auto">
            <a:xfrm>
              <a:off x="4958" y="2602"/>
              <a:ext cx="171" cy="272"/>
            </a:xfrm>
            <a:custGeom>
              <a:avLst/>
              <a:gdLst>
                <a:gd name="T0" fmla="*/ 0 w 171"/>
                <a:gd name="T1" fmla="*/ 272 h 272"/>
                <a:gd name="T2" fmla="*/ 6 w 171"/>
                <a:gd name="T3" fmla="*/ 243 h 272"/>
                <a:gd name="T4" fmla="*/ 89 w 171"/>
                <a:gd name="T5" fmla="*/ 166 h 272"/>
                <a:gd name="T6" fmla="*/ 112 w 171"/>
                <a:gd name="T7" fmla="*/ 198 h 272"/>
                <a:gd name="T8" fmla="*/ 102 w 171"/>
                <a:gd name="T9" fmla="*/ 217 h 272"/>
                <a:gd name="T10" fmla="*/ 83 w 171"/>
                <a:gd name="T11" fmla="*/ 230 h 272"/>
                <a:gd name="T12" fmla="*/ 54 w 171"/>
                <a:gd name="T13" fmla="*/ 217 h 272"/>
                <a:gd name="T14" fmla="*/ 41 w 171"/>
                <a:gd name="T15" fmla="*/ 188 h 272"/>
                <a:gd name="T16" fmla="*/ 76 w 171"/>
                <a:gd name="T17" fmla="*/ 115 h 272"/>
                <a:gd name="T18" fmla="*/ 166 w 171"/>
                <a:gd name="T19" fmla="*/ 86 h 272"/>
                <a:gd name="T20" fmla="*/ 150 w 171"/>
                <a:gd name="T21" fmla="*/ 115 h 272"/>
                <a:gd name="T22" fmla="*/ 92 w 171"/>
                <a:gd name="T23" fmla="*/ 124 h 272"/>
                <a:gd name="T24" fmla="*/ 89 w 171"/>
                <a:gd name="T25" fmla="*/ 115 h 272"/>
                <a:gd name="T26" fmla="*/ 80 w 171"/>
                <a:gd name="T27" fmla="*/ 108 h 272"/>
                <a:gd name="T28" fmla="*/ 73 w 171"/>
                <a:gd name="T29" fmla="*/ 83 h 272"/>
                <a:gd name="T30" fmla="*/ 89 w 171"/>
                <a:gd name="T31" fmla="*/ 35 h 272"/>
                <a:gd name="T32" fmla="*/ 131 w 171"/>
                <a:gd name="T33" fmla="*/ 9 h 272"/>
                <a:gd name="T34" fmla="*/ 156 w 171"/>
                <a:gd name="T35" fmla="*/ 3 h 272"/>
                <a:gd name="T36" fmla="*/ 169 w 171"/>
                <a:gd name="T37" fmla="*/ 0 h 2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71"/>
                <a:gd name="T58" fmla="*/ 0 h 272"/>
                <a:gd name="T59" fmla="*/ 171 w 171"/>
                <a:gd name="T60" fmla="*/ 272 h 2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71" h="272">
                  <a:moveTo>
                    <a:pt x="0" y="272"/>
                  </a:moveTo>
                  <a:cubicBezTo>
                    <a:pt x="3" y="263"/>
                    <a:pt x="3" y="252"/>
                    <a:pt x="6" y="243"/>
                  </a:cubicBezTo>
                  <a:cubicBezTo>
                    <a:pt x="18" y="209"/>
                    <a:pt x="56" y="177"/>
                    <a:pt x="89" y="166"/>
                  </a:cubicBezTo>
                  <a:cubicBezTo>
                    <a:pt x="113" y="170"/>
                    <a:pt x="118" y="172"/>
                    <a:pt x="112" y="198"/>
                  </a:cubicBezTo>
                  <a:cubicBezTo>
                    <a:pt x="111" y="203"/>
                    <a:pt x="106" y="214"/>
                    <a:pt x="102" y="217"/>
                  </a:cubicBezTo>
                  <a:cubicBezTo>
                    <a:pt x="96" y="222"/>
                    <a:pt x="83" y="230"/>
                    <a:pt x="83" y="230"/>
                  </a:cubicBezTo>
                  <a:cubicBezTo>
                    <a:pt x="69" y="227"/>
                    <a:pt x="67" y="221"/>
                    <a:pt x="54" y="217"/>
                  </a:cubicBezTo>
                  <a:cubicBezTo>
                    <a:pt x="50" y="206"/>
                    <a:pt x="44" y="199"/>
                    <a:pt x="41" y="188"/>
                  </a:cubicBezTo>
                  <a:cubicBezTo>
                    <a:pt x="46" y="146"/>
                    <a:pt x="30" y="130"/>
                    <a:pt x="76" y="115"/>
                  </a:cubicBezTo>
                  <a:cubicBezTo>
                    <a:pt x="97" y="94"/>
                    <a:pt x="139" y="89"/>
                    <a:pt x="166" y="86"/>
                  </a:cubicBezTo>
                  <a:cubicBezTo>
                    <a:pt x="171" y="102"/>
                    <a:pt x="166" y="110"/>
                    <a:pt x="150" y="115"/>
                  </a:cubicBezTo>
                  <a:cubicBezTo>
                    <a:pt x="129" y="134"/>
                    <a:pt x="127" y="128"/>
                    <a:pt x="92" y="124"/>
                  </a:cubicBezTo>
                  <a:cubicBezTo>
                    <a:pt x="91" y="121"/>
                    <a:pt x="91" y="118"/>
                    <a:pt x="89" y="115"/>
                  </a:cubicBezTo>
                  <a:cubicBezTo>
                    <a:pt x="87" y="112"/>
                    <a:pt x="82" y="111"/>
                    <a:pt x="80" y="108"/>
                  </a:cubicBezTo>
                  <a:cubicBezTo>
                    <a:pt x="76" y="100"/>
                    <a:pt x="76" y="91"/>
                    <a:pt x="73" y="83"/>
                  </a:cubicBezTo>
                  <a:cubicBezTo>
                    <a:pt x="76" y="66"/>
                    <a:pt x="79" y="50"/>
                    <a:pt x="89" y="35"/>
                  </a:cubicBezTo>
                  <a:cubicBezTo>
                    <a:pt x="97" y="9"/>
                    <a:pt x="103" y="14"/>
                    <a:pt x="131" y="9"/>
                  </a:cubicBezTo>
                  <a:cubicBezTo>
                    <a:pt x="139" y="8"/>
                    <a:pt x="148" y="5"/>
                    <a:pt x="156" y="3"/>
                  </a:cubicBezTo>
                  <a:cubicBezTo>
                    <a:pt x="160" y="2"/>
                    <a:pt x="169" y="0"/>
                    <a:pt x="16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 Box 64"/>
            <p:cNvSpPr txBox="1">
              <a:spLocks noChangeArrowheads="1"/>
            </p:cNvSpPr>
            <p:nvPr/>
          </p:nvSpPr>
          <p:spPr bwMode="auto">
            <a:xfrm>
              <a:off x="4717" y="1787"/>
              <a:ext cx="509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ea typeface="幼圆" pitchFamily="49" charset="-122"/>
                </a:rPr>
                <a:t>孔压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ea typeface="幼圆" pitchFamily="49" charset="-122"/>
                </a:rPr>
                <a:t>量测</a:t>
              </a:r>
              <a:endParaRPr lang="en-US" altLang="zh-CN" sz="2200" b="1">
                <a:ea typeface="幼圆" pitchFamily="49" charset="-122"/>
              </a:endParaRPr>
            </a:p>
          </p:txBody>
        </p:sp>
        <p:sp>
          <p:nvSpPr>
            <p:cNvPr id="53" name="Line 65"/>
            <p:cNvSpPr>
              <a:spLocks noChangeShapeType="1"/>
            </p:cNvSpPr>
            <p:nvPr/>
          </p:nvSpPr>
          <p:spPr bwMode="auto">
            <a:xfrm flipH="1" flipV="1">
              <a:off x="4877" y="2291"/>
              <a:ext cx="70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0" name="Rectangle 66"/>
          <p:cNvSpPr>
            <a:spLocks noChangeArrowheads="1"/>
          </p:cNvSpPr>
          <p:nvPr/>
        </p:nvSpPr>
        <p:spPr bwMode="auto">
          <a:xfrm>
            <a:off x="3386138" y="5884863"/>
            <a:ext cx="38560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固结不排水试验</a:t>
            </a:r>
          </a:p>
        </p:txBody>
      </p:sp>
      <p:sp>
        <p:nvSpPr>
          <p:cNvPr id="71" name="Text Box 68"/>
          <p:cNvSpPr txBox="1">
            <a:spLocks noChangeArrowheads="1"/>
          </p:cNvSpPr>
          <p:nvPr/>
        </p:nvSpPr>
        <p:spPr bwMode="auto">
          <a:xfrm>
            <a:off x="567385" y="1470672"/>
            <a:ext cx="4078472" cy="376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施加围压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充分固结</a:t>
            </a:r>
          </a:p>
          <a:p>
            <a:pPr marL="444500" indent="-4445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时，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排水阀门关闭，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量测剪切过程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中的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超静孔隙水压力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endParaRPr lang="zh-CN" altLang="en-US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44500" indent="-4445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固结不排水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强度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err="1" smtClean="0">
                <a:solidFill>
                  <a:srgbClr val="000066"/>
                </a:solidFill>
              </a:rPr>
              <a:t>c</a:t>
            </a:r>
            <a:r>
              <a:rPr lang="en-US" altLang="zh-CN" sz="2400" b="1" baseline="-25000" dirty="0" err="1" smtClean="0">
                <a:solidFill>
                  <a:srgbClr val="000066"/>
                </a:solidFill>
              </a:rPr>
              <a:t>cu</a:t>
            </a:r>
            <a:r>
              <a:rPr lang="zh-CN" altLang="en-US" sz="2400" b="1" dirty="0" smtClean="0">
                <a:solidFill>
                  <a:srgbClr val="000066"/>
                </a:solidFill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</a:rPr>
              <a:t>,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en-US" altLang="zh-CN" sz="2400" b="1" baseline="-25000" dirty="0" smtClean="0">
                <a:solidFill>
                  <a:srgbClr val="000066"/>
                </a:solidFill>
              </a:rPr>
              <a:t>cu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) 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44500" indent="-4445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一般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0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，总应力指标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/>
            </a:r>
            <a:b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有效应力指标不相同，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/>
            </a:r>
            <a:b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err="1" smtClean="0">
                <a:solidFill>
                  <a:srgbClr val="000066"/>
                </a:solidFill>
              </a:rPr>
              <a:t>c</a:t>
            </a:r>
            <a:r>
              <a:rPr lang="en-US" altLang="zh-CN" sz="2400" b="1" baseline="-25000" dirty="0" err="1" smtClean="0">
                <a:solidFill>
                  <a:srgbClr val="000066"/>
                </a:solidFill>
              </a:rPr>
              <a:t>cu</a:t>
            </a:r>
            <a:r>
              <a:rPr lang="zh-CN" altLang="en-US" sz="2400" b="1" dirty="0" smtClean="0">
                <a:solidFill>
                  <a:srgbClr val="000066"/>
                </a:solidFill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</a:rPr>
              <a:t>,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en-US" altLang="zh-CN" sz="2400" b="1" baseline="-25000" dirty="0" smtClean="0">
                <a:solidFill>
                  <a:srgbClr val="000066"/>
                </a:solidFill>
              </a:rPr>
              <a:t>cu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) </a:t>
            </a:r>
            <a:r>
              <a:rPr lang="en-US" altLang="zh-CN" sz="2400" b="1" dirty="0" smtClean="0">
                <a:solidFill>
                  <a:srgbClr val="000066"/>
                </a:solidFill>
                <a:sym typeface="Symbol" panose="05050102010706020507" pitchFamily="18" charset="2"/>
              </a:rPr>
              <a:t></a:t>
            </a:r>
            <a:r>
              <a:rPr lang="en-US" altLang="zh-CN" sz="2400" b="1" dirty="0" smtClean="0">
                <a:solidFill>
                  <a:srgbClr val="000066"/>
                </a:solidFill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</a:rPr>
              <a:t>(</a:t>
            </a:r>
            <a:r>
              <a:rPr lang="en-US" altLang="zh-CN" sz="2400" b="1" i="1" dirty="0">
                <a:solidFill>
                  <a:srgbClr val="000066"/>
                </a:solidFill>
              </a:rPr>
              <a:t>c</a:t>
            </a:r>
            <a:r>
              <a:rPr lang="en-US" altLang="zh-CN" sz="2400" b="1" dirty="0">
                <a:solidFill>
                  <a:srgbClr val="000066"/>
                </a:solidFill>
              </a:rPr>
              <a:t>′ ,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en-US" altLang="zh-CN" sz="2400" b="1" dirty="0">
                <a:solidFill>
                  <a:srgbClr val="000066"/>
                </a:solidFill>
              </a:rPr>
              <a:t>′</a:t>
            </a:r>
            <a:r>
              <a:rPr lang="zh-CN" altLang="en-US" sz="2400" b="1" dirty="0" smtClean="0">
                <a:solidFill>
                  <a:srgbClr val="000066"/>
                </a:solidFill>
              </a:rPr>
              <a:t>）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" name="Rectangle 69"/>
          <p:cNvSpPr>
            <a:spLocks noChangeArrowheads="1"/>
          </p:cNvSpPr>
          <p:nvPr/>
        </p:nvSpPr>
        <p:spPr bwMode="auto">
          <a:xfrm>
            <a:off x="287338" y="794553"/>
            <a:ext cx="21129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试验条件</a:t>
            </a:r>
          </a:p>
        </p:txBody>
      </p:sp>
      <p:sp>
        <p:nvSpPr>
          <p:cNvPr id="73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</p:spTree>
    <p:extLst>
      <p:ext uri="{BB962C8B-B14F-4D97-AF65-F5344CB8AC3E}">
        <p14:creationId xmlns:p14="http://schemas.microsoft.com/office/powerpoint/2010/main" val="187662255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 decel="1000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 decel="1000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 decel="1000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800" decel="1000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800" decel="100000" fill="hold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11188" y="1453935"/>
            <a:ext cx="8193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对于饱和土试样：孔压系数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=1.0     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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 smtClean="0">
                <a:solidFill>
                  <a:srgbClr val="000066"/>
                </a:solidFill>
                <a:latin typeface="Times New Roman"/>
                <a:ea typeface="幼圆" pitchFamily="49" charset="-122"/>
                <a:cs typeface="Times New Roman"/>
              </a:rPr>
              <a:t>·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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4025" y="744538"/>
            <a:ext cx="59041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 剪切过程中的超静孔隙水压力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800" b="1" i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127806" y="1963687"/>
            <a:ext cx="5937023" cy="1575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无剪缩（弹性体）：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=1/3</a:t>
            </a:r>
          </a:p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剪缩：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&gt;1/3</a:t>
            </a:r>
          </a:p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剪胀：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&lt;1/3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甚至可能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&lt;0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&lt;0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1204675" y="3877100"/>
            <a:ext cx="550863" cy="522288"/>
          </a:xfrm>
          <a:prstGeom prst="homePlate">
            <a:avLst>
              <a:gd name="adj" fmla="val 26368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1882487" y="3755682"/>
            <a:ext cx="6363590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超静孔压由土骨架体积变形的趋势决定，骨架收缩的趋势使孔压增加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对黏性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土，不排水试验的孔压，同相应排水试验的体变之间常有类似的规律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12" name="Rectangle 66"/>
          <p:cNvSpPr>
            <a:spLocks noChangeArrowheads="1"/>
          </p:cNvSpPr>
          <p:nvPr/>
        </p:nvSpPr>
        <p:spPr bwMode="auto">
          <a:xfrm>
            <a:off x="3386138" y="5884863"/>
            <a:ext cx="38560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固结不排水试验</a:t>
            </a:r>
          </a:p>
        </p:txBody>
      </p:sp>
    </p:spTree>
    <p:extLst>
      <p:ext uri="{BB962C8B-B14F-4D97-AF65-F5344CB8AC3E}">
        <p14:creationId xmlns:p14="http://schemas.microsoft.com/office/powerpoint/2010/main" val="62111157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3" name="Rectangle 51"/>
          <p:cNvSpPr>
            <a:spLocks noChangeArrowheads="1"/>
          </p:cNvSpPr>
          <p:nvPr/>
        </p:nvSpPr>
        <p:spPr bwMode="auto">
          <a:xfrm>
            <a:off x="3243263" y="5878513"/>
            <a:ext cx="41449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固结不排水试验</a:t>
            </a:r>
          </a:p>
        </p:txBody>
      </p:sp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4295551" y="1559417"/>
            <a:ext cx="4348716" cy="338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应力应变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曲线基本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呈渐进增加的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形式，不出现峰值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开始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段的斜率较陡，之后逐步平缓，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最终趋向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于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水平，表现为</a:t>
            </a:r>
            <a:r>
              <a:rPr lang="zh-CN" altLang="en-US" sz="22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应变硬化型</a:t>
            </a:r>
            <a:endParaRPr lang="en-US" altLang="zh-CN" sz="2200" b="1" dirty="0" smtClean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孔隙水压力总为正值。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开始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段孔压增加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较快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，之后逐渐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平缓，最终趋于一个稳定值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592436" y="1433428"/>
            <a:ext cx="3525838" cy="3609975"/>
            <a:chOff x="592436" y="1392238"/>
            <a:chExt cx="3525838" cy="3609975"/>
          </a:xfrm>
        </p:grpSpPr>
        <p:grpSp>
          <p:nvGrpSpPr>
            <p:cNvPr id="59" name="Group 5"/>
            <p:cNvGrpSpPr>
              <a:grpSpLocks/>
            </p:cNvGrpSpPr>
            <p:nvPr/>
          </p:nvGrpSpPr>
          <p:grpSpPr bwMode="auto">
            <a:xfrm>
              <a:off x="592436" y="1392238"/>
              <a:ext cx="3525838" cy="3609975"/>
              <a:chOff x="333" y="917"/>
              <a:chExt cx="2221" cy="2274"/>
            </a:xfrm>
          </p:grpSpPr>
          <p:sp>
            <p:nvSpPr>
              <p:cNvPr id="72" name="Line 6"/>
              <p:cNvSpPr>
                <a:spLocks noChangeShapeType="1"/>
              </p:cNvSpPr>
              <p:nvPr/>
            </p:nvSpPr>
            <p:spPr bwMode="auto">
              <a:xfrm>
                <a:off x="366" y="1173"/>
                <a:ext cx="0" cy="19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3" name="Line 7"/>
              <p:cNvSpPr>
                <a:spLocks noChangeShapeType="1"/>
              </p:cNvSpPr>
              <p:nvPr/>
            </p:nvSpPr>
            <p:spPr bwMode="auto">
              <a:xfrm>
                <a:off x="366" y="2536"/>
                <a:ext cx="211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Rectangle 8"/>
              <p:cNvSpPr>
                <a:spLocks noChangeArrowheads="1"/>
              </p:cNvSpPr>
              <p:nvPr/>
            </p:nvSpPr>
            <p:spPr bwMode="auto">
              <a:xfrm>
                <a:off x="333" y="917"/>
                <a:ext cx="54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i="1" dirty="0" smtClean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kumimoji="1" lang="zh-CN" altLang="en-US" sz="2400" b="1" baseline="-25000" dirty="0" smtClean="0">
                    <a:cs typeface="Times New Roman" panose="02020603050405020304" pitchFamily="18" charset="0"/>
                    <a:sym typeface="Symbol" pitchFamily="18" charset="2"/>
                  </a:rPr>
                  <a:t></a:t>
                </a:r>
                <a:r>
                  <a:rPr kumimoji="1" lang="en-US" altLang="zh-CN" sz="2400" b="1" dirty="0">
                    <a:cs typeface="Times New Roman" panose="02020603050405020304" pitchFamily="18" charset="0"/>
                    <a:sym typeface="Symbol" pitchFamily="18" charset="2"/>
                  </a:rPr>
                  <a:t>-</a:t>
                </a:r>
                <a:r>
                  <a:rPr kumimoji="1" lang="zh-CN" altLang="en-US" sz="2400" b="1" i="1" dirty="0" smtClean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kumimoji="1" lang="zh-CN" altLang="en-US" sz="2400" b="1" baseline="-25000" dirty="0" smtClean="0">
                    <a:cs typeface="Times New Roman" panose="02020603050405020304" pitchFamily="18" charset="0"/>
                    <a:sym typeface="Symbol" pitchFamily="18" charset="2"/>
                  </a:rPr>
                  <a:t></a:t>
                </a:r>
                <a:endParaRPr kumimoji="1" lang="zh-CN" altLang="en-US" sz="2400" b="1" baseline="-25000" dirty="0"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75" name="Rectangle 9"/>
              <p:cNvSpPr>
                <a:spLocks noChangeArrowheads="1"/>
              </p:cNvSpPr>
              <p:nvPr/>
            </p:nvSpPr>
            <p:spPr bwMode="auto">
              <a:xfrm>
                <a:off x="2288" y="2445"/>
                <a:ext cx="26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i="1" dirty="0">
                    <a:cs typeface="Times New Roman" panose="02020603050405020304" pitchFamily="18" charset="0"/>
                    <a:sym typeface="Symbol" pitchFamily="18" charset="2"/>
                  </a:rPr>
                  <a:t></a:t>
                </a:r>
                <a:r>
                  <a:rPr kumimoji="1" lang="zh-CN" altLang="en-US" sz="2400" b="1" baseline="-25000" dirty="0">
                    <a:cs typeface="Times New Roman" panose="02020603050405020304" pitchFamily="18" charset="0"/>
                    <a:sym typeface="Symbol" pitchFamily="18" charset="2"/>
                  </a:rPr>
                  <a:t></a:t>
                </a:r>
              </a:p>
            </p:txBody>
          </p:sp>
          <p:sp>
            <p:nvSpPr>
              <p:cNvPr id="76" name="Rectangle 10"/>
              <p:cNvSpPr>
                <a:spLocks noChangeArrowheads="1"/>
              </p:cNvSpPr>
              <p:nvPr/>
            </p:nvSpPr>
            <p:spPr bwMode="auto">
              <a:xfrm>
                <a:off x="375" y="2900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 smtClean="0"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endParaRPr kumimoji="1" lang="en-US" altLang="zh-CN" sz="2400" b="1" baseline="-25000" dirty="0"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</p:grpSp>
        <p:grpSp>
          <p:nvGrpSpPr>
            <p:cNvPr id="60" name="Group 19"/>
            <p:cNvGrpSpPr>
              <a:grpSpLocks/>
            </p:cNvGrpSpPr>
            <p:nvPr/>
          </p:nvGrpSpPr>
          <p:grpSpPr bwMode="auto">
            <a:xfrm>
              <a:off x="646410" y="3022601"/>
              <a:ext cx="3163889" cy="1260476"/>
              <a:chOff x="367" y="1944"/>
              <a:chExt cx="1993" cy="794"/>
            </a:xfrm>
          </p:grpSpPr>
          <p:sp>
            <p:nvSpPr>
              <p:cNvPr id="69" name="Freeform 20"/>
              <p:cNvSpPr>
                <a:spLocks/>
              </p:cNvSpPr>
              <p:nvPr/>
            </p:nvSpPr>
            <p:spPr bwMode="auto">
              <a:xfrm>
                <a:off x="376" y="1957"/>
                <a:ext cx="1975" cy="578"/>
              </a:xfrm>
              <a:custGeom>
                <a:avLst/>
                <a:gdLst>
                  <a:gd name="T0" fmla="*/ 0 w 1981"/>
                  <a:gd name="T1" fmla="*/ 750 h 750"/>
                  <a:gd name="T2" fmla="*/ 96 w 1981"/>
                  <a:gd name="T3" fmla="*/ 510 h 750"/>
                  <a:gd name="T4" fmla="*/ 269 w 1981"/>
                  <a:gd name="T5" fmla="*/ 254 h 750"/>
                  <a:gd name="T6" fmla="*/ 515 w 1981"/>
                  <a:gd name="T7" fmla="*/ 113 h 750"/>
                  <a:gd name="T8" fmla="*/ 903 w 1981"/>
                  <a:gd name="T9" fmla="*/ 30 h 750"/>
                  <a:gd name="T10" fmla="*/ 1459 w 1981"/>
                  <a:gd name="T11" fmla="*/ 4 h 750"/>
                  <a:gd name="T12" fmla="*/ 1981 w 1981"/>
                  <a:gd name="T13" fmla="*/ 8 h 7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81"/>
                  <a:gd name="T22" fmla="*/ 0 h 750"/>
                  <a:gd name="T23" fmla="*/ 1981 w 1981"/>
                  <a:gd name="T24" fmla="*/ 750 h 750"/>
                  <a:gd name="connsiteX0" fmla="*/ 0 w 9970"/>
                  <a:gd name="connsiteY0" fmla="*/ 10057 h 10057"/>
                  <a:gd name="connsiteX1" fmla="*/ 485 w 9970"/>
                  <a:gd name="connsiteY1" fmla="*/ 6857 h 10057"/>
                  <a:gd name="connsiteX2" fmla="*/ 1358 w 9970"/>
                  <a:gd name="connsiteY2" fmla="*/ 3444 h 10057"/>
                  <a:gd name="connsiteX3" fmla="*/ 2600 w 9970"/>
                  <a:gd name="connsiteY3" fmla="*/ 1564 h 10057"/>
                  <a:gd name="connsiteX4" fmla="*/ 4558 w 9970"/>
                  <a:gd name="connsiteY4" fmla="*/ 457 h 10057"/>
                  <a:gd name="connsiteX5" fmla="*/ 7365 w 9970"/>
                  <a:gd name="connsiteY5" fmla="*/ 110 h 10057"/>
                  <a:gd name="connsiteX6" fmla="*/ 9970 w 9970"/>
                  <a:gd name="connsiteY6" fmla="*/ 1 h 10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70" h="10057">
                    <a:moveTo>
                      <a:pt x="0" y="10057"/>
                    </a:moveTo>
                    <a:cubicBezTo>
                      <a:pt x="81" y="9524"/>
                      <a:pt x="257" y="7964"/>
                      <a:pt x="485" y="6857"/>
                    </a:cubicBezTo>
                    <a:cubicBezTo>
                      <a:pt x="712" y="5750"/>
                      <a:pt x="1005" y="4324"/>
                      <a:pt x="1358" y="3444"/>
                    </a:cubicBezTo>
                    <a:cubicBezTo>
                      <a:pt x="1711" y="2564"/>
                      <a:pt x="2065" y="2057"/>
                      <a:pt x="2600" y="1564"/>
                    </a:cubicBezTo>
                    <a:cubicBezTo>
                      <a:pt x="3135" y="1070"/>
                      <a:pt x="3766" y="697"/>
                      <a:pt x="4558" y="457"/>
                    </a:cubicBezTo>
                    <a:cubicBezTo>
                      <a:pt x="5351" y="217"/>
                      <a:pt x="6456" y="164"/>
                      <a:pt x="7365" y="110"/>
                    </a:cubicBezTo>
                    <a:cubicBezTo>
                      <a:pt x="8274" y="57"/>
                      <a:pt x="9420" y="-13"/>
                      <a:pt x="9970" y="1"/>
                    </a:cubicBezTo>
                  </a:path>
                </a:pathLst>
              </a:custGeom>
              <a:noFill/>
              <a:ln w="19050" cmpd="sng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Freeform 21"/>
              <p:cNvSpPr>
                <a:spLocks/>
              </p:cNvSpPr>
              <p:nvPr/>
            </p:nvSpPr>
            <p:spPr bwMode="auto">
              <a:xfrm>
                <a:off x="367" y="2537"/>
                <a:ext cx="1981" cy="201"/>
              </a:xfrm>
              <a:custGeom>
                <a:avLst/>
                <a:gdLst>
                  <a:gd name="T0" fmla="*/ 0 w 1990"/>
                  <a:gd name="T1" fmla="*/ 0 h 191"/>
                  <a:gd name="T2" fmla="*/ 112 w 1990"/>
                  <a:gd name="T3" fmla="*/ 58 h 191"/>
                  <a:gd name="T4" fmla="*/ 298 w 1990"/>
                  <a:gd name="T5" fmla="*/ 112 h 191"/>
                  <a:gd name="T6" fmla="*/ 627 w 1990"/>
                  <a:gd name="T7" fmla="*/ 154 h 191"/>
                  <a:gd name="T8" fmla="*/ 1200 w 1990"/>
                  <a:gd name="T9" fmla="*/ 186 h 191"/>
                  <a:gd name="T10" fmla="*/ 1990 w 1990"/>
                  <a:gd name="T11" fmla="*/ 182 h 19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90"/>
                  <a:gd name="T19" fmla="*/ 0 h 191"/>
                  <a:gd name="T20" fmla="*/ 1990 w 1990"/>
                  <a:gd name="T21" fmla="*/ 191 h 191"/>
                  <a:gd name="connsiteX0" fmla="*/ 0 w 9955"/>
                  <a:gd name="connsiteY0" fmla="*/ 0 h 10018"/>
                  <a:gd name="connsiteX1" fmla="*/ 563 w 9955"/>
                  <a:gd name="connsiteY1" fmla="*/ 3037 h 10018"/>
                  <a:gd name="connsiteX2" fmla="*/ 1497 w 9955"/>
                  <a:gd name="connsiteY2" fmla="*/ 5864 h 10018"/>
                  <a:gd name="connsiteX3" fmla="*/ 3151 w 9955"/>
                  <a:gd name="connsiteY3" fmla="*/ 8063 h 10018"/>
                  <a:gd name="connsiteX4" fmla="*/ 6030 w 9955"/>
                  <a:gd name="connsiteY4" fmla="*/ 9738 h 10018"/>
                  <a:gd name="connsiteX5" fmla="*/ 9955 w 9955"/>
                  <a:gd name="connsiteY5" fmla="*/ 10000 h 10018"/>
                  <a:gd name="connsiteX0" fmla="*/ 0 w 10000"/>
                  <a:gd name="connsiteY0" fmla="*/ 0 h 10509"/>
                  <a:gd name="connsiteX1" fmla="*/ 566 w 10000"/>
                  <a:gd name="connsiteY1" fmla="*/ 3032 h 10509"/>
                  <a:gd name="connsiteX2" fmla="*/ 1504 w 10000"/>
                  <a:gd name="connsiteY2" fmla="*/ 5853 h 10509"/>
                  <a:gd name="connsiteX3" fmla="*/ 3165 w 10000"/>
                  <a:gd name="connsiteY3" fmla="*/ 8049 h 10509"/>
                  <a:gd name="connsiteX4" fmla="*/ 6057 w 10000"/>
                  <a:gd name="connsiteY4" fmla="*/ 9721 h 10509"/>
                  <a:gd name="connsiteX5" fmla="*/ 10000 w 10000"/>
                  <a:gd name="connsiteY5" fmla="*/ 10506 h 1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509">
                    <a:moveTo>
                      <a:pt x="0" y="0"/>
                    </a:moveTo>
                    <a:cubicBezTo>
                      <a:pt x="95" y="523"/>
                      <a:pt x="313" y="2038"/>
                      <a:pt x="566" y="3032"/>
                    </a:cubicBezTo>
                    <a:cubicBezTo>
                      <a:pt x="818" y="4024"/>
                      <a:pt x="1070" y="5017"/>
                      <a:pt x="1504" y="5853"/>
                    </a:cubicBezTo>
                    <a:cubicBezTo>
                      <a:pt x="1939" y="6690"/>
                      <a:pt x="2408" y="7422"/>
                      <a:pt x="3165" y="8049"/>
                    </a:cubicBezTo>
                    <a:cubicBezTo>
                      <a:pt x="3923" y="8675"/>
                      <a:pt x="4911" y="9459"/>
                      <a:pt x="6057" y="9721"/>
                    </a:cubicBezTo>
                    <a:cubicBezTo>
                      <a:pt x="7203" y="9982"/>
                      <a:pt x="9172" y="10558"/>
                      <a:pt x="10000" y="10506"/>
                    </a:cubicBezTo>
                  </a:path>
                </a:pathLst>
              </a:custGeom>
              <a:noFill/>
              <a:ln w="19050" cmpd="sng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Text Box 22"/>
              <p:cNvSpPr txBox="1">
                <a:spLocks noChangeArrowheads="1"/>
              </p:cNvSpPr>
              <p:nvPr/>
            </p:nvSpPr>
            <p:spPr bwMode="auto">
              <a:xfrm>
                <a:off x="2017" y="1944"/>
                <a:ext cx="3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i="1" dirty="0">
                    <a:solidFill>
                      <a:srgbClr val="0000CC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200" b="1" baseline="30000" dirty="0">
                    <a:solidFill>
                      <a:srgbClr val="0000CC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  <a:r>
                  <a:rPr lang="en-US" altLang="zh-CN" sz="2200" b="1" baseline="-25000" dirty="0">
                    <a:solidFill>
                      <a:srgbClr val="0000CC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</p:grpSp>
        <p:grpSp>
          <p:nvGrpSpPr>
            <p:cNvPr id="61" name="Group 29"/>
            <p:cNvGrpSpPr>
              <a:grpSpLocks/>
            </p:cNvGrpSpPr>
            <p:nvPr/>
          </p:nvGrpSpPr>
          <p:grpSpPr bwMode="auto">
            <a:xfrm>
              <a:off x="655456" y="2451100"/>
              <a:ext cx="3198813" cy="2027238"/>
              <a:chOff x="366" y="1584"/>
              <a:chExt cx="2015" cy="1277"/>
            </a:xfrm>
          </p:grpSpPr>
          <p:sp>
            <p:nvSpPr>
              <p:cNvPr id="66" name="Freeform 30"/>
              <p:cNvSpPr>
                <a:spLocks/>
              </p:cNvSpPr>
              <p:nvPr/>
            </p:nvSpPr>
            <p:spPr bwMode="auto">
              <a:xfrm>
                <a:off x="368" y="1630"/>
                <a:ext cx="1977" cy="901"/>
              </a:xfrm>
              <a:custGeom>
                <a:avLst/>
                <a:gdLst>
                  <a:gd name="T0" fmla="*/ 0 w 2009"/>
                  <a:gd name="T1" fmla="*/ 1044 h 1044"/>
                  <a:gd name="T2" fmla="*/ 102 w 2009"/>
                  <a:gd name="T3" fmla="*/ 756 h 1044"/>
                  <a:gd name="T4" fmla="*/ 288 w 2009"/>
                  <a:gd name="T5" fmla="*/ 391 h 1044"/>
                  <a:gd name="T6" fmla="*/ 620 w 2009"/>
                  <a:gd name="T7" fmla="*/ 158 h 1044"/>
                  <a:gd name="T8" fmla="*/ 1091 w 2009"/>
                  <a:gd name="T9" fmla="*/ 43 h 1044"/>
                  <a:gd name="T10" fmla="*/ 1497 w 2009"/>
                  <a:gd name="T11" fmla="*/ 7 h 1044"/>
                  <a:gd name="T12" fmla="*/ 2009 w 2009"/>
                  <a:gd name="T13" fmla="*/ 1 h 10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9"/>
                  <a:gd name="T22" fmla="*/ 0 h 1044"/>
                  <a:gd name="T23" fmla="*/ 2009 w 2009"/>
                  <a:gd name="T24" fmla="*/ 1044 h 1044"/>
                  <a:gd name="connsiteX0" fmla="*/ 0 w 10447"/>
                  <a:gd name="connsiteY0" fmla="*/ 9990 h 9990"/>
                  <a:gd name="connsiteX1" fmla="*/ 508 w 10447"/>
                  <a:gd name="connsiteY1" fmla="*/ 7231 h 9990"/>
                  <a:gd name="connsiteX2" fmla="*/ 1434 w 10447"/>
                  <a:gd name="connsiteY2" fmla="*/ 3735 h 9990"/>
                  <a:gd name="connsiteX3" fmla="*/ 3086 w 10447"/>
                  <a:gd name="connsiteY3" fmla="*/ 1503 h 9990"/>
                  <a:gd name="connsiteX4" fmla="*/ 5431 w 10447"/>
                  <a:gd name="connsiteY4" fmla="*/ 402 h 9990"/>
                  <a:gd name="connsiteX5" fmla="*/ 7451 w 10447"/>
                  <a:gd name="connsiteY5" fmla="*/ 57 h 9990"/>
                  <a:gd name="connsiteX6" fmla="*/ 10447 w 10447"/>
                  <a:gd name="connsiteY6" fmla="*/ 0 h 9990"/>
                  <a:gd name="connsiteX0" fmla="*/ 0 w 10000"/>
                  <a:gd name="connsiteY0" fmla="*/ 10025 h 10025"/>
                  <a:gd name="connsiteX1" fmla="*/ 486 w 10000"/>
                  <a:gd name="connsiteY1" fmla="*/ 7263 h 10025"/>
                  <a:gd name="connsiteX2" fmla="*/ 1373 w 10000"/>
                  <a:gd name="connsiteY2" fmla="*/ 3764 h 10025"/>
                  <a:gd name="connsiteX3" fmla="*/ 2954 w 10000"/>
                  <a:gd name="connsiteY3" fmla="*/ 1530 h 10025"/>
                  <a:gd name="connsiteX4" fmla="*/ 5199 w 10000"/>
                  <a:gd name="connsiteY4" fmla="*/ 427 h 10025"/>
                  <a:gd name="connsiteX5" fmla="*/ 7132 w 10000"/>
                  <a:gd name="connsiteY5" fmla="*/ 82 h 10025"/>
                  <a:gd name="connsiteX6" fmla="*/ 10000 w 10000"/>
                  <a:gd name="connsiteY6" fmla="*/ 0 h 1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0" h="10025">
                    <a:moveTo>
                      <a:pt x="0" y="10025"/>
                    </a:moveTo>
                    <a:cubicBezTo>
                      <a:pt x="81" y="9565"/>
                      <a:pt x="257" y="8308"/>
                      <a:pt x="486" y="7263"/>
                    </a:cubicBezTo>
                    <a:cubicBezTo>
                      <a:pt x="715" y="6218"/>
                      <a:pt x="962" y="4723"/>
                      <a:pt x="1373" y="3764"/>
                    </a:cubicBezTo>
                    <a:cubicBezTo>
                      <a:pt x="1782" y="2805"/>
                      <a:pt x="2315" y="2086"/>
                      <a:pt x="2954" y="1530"/>
                    </a:cubicBezTo>
                    <a:cubicBezTo>
                      <a:pt x="3592" y="974"/>
                      <a:pt x="4503" y="667"/>
                      <a:pt x="5199" y="427"/>
                    </a:cubicBezTo>
                    <a:cubicBezTo>
                      <a:pt x="5894" y="187"/>
                      <a:pt x="6404" y="149"/>
                      <a:pt x="7132" y="82"/>
                    </a:cubicBezTo>
                    <a:cubicBezTo>
                      <a:pt x="7862" y="15"/>
                      <a:pt x="9490" y="9"/>
                      <a:pt x="10000" y="0"/>
                    </a:cubicBezTo>
                  </a:path>
                </a:pathLst>
              </a:custGeom>
              <a:noFill/>
              <a:ln w="19050" cmpd="sng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Freeform 31"/>
              <p:cNvSpPr>
                <a:spLocks/>
              </p:cNvSpPr>
              <p:nvPr/>
            </p:nvSpPr>
            <p:spPr bwMode="auto">
              <a:xfrm>
                <a:off x="366" y="2541"/>
                <a:ext cx="1988" cy="320"/>
              </a:xfrm>
              <a:custGeom>
                <a:avLst/>
                <a:gdLst>
                  <a:gd name="T0" fmla="*/ 0 w 1990"/>
                  <a:gd name="T1" fmla="*/ 0 h 336"/>
                  <a:gd name="T2" fmla="*/ 96 w 1990"/>
                  <a:gd name="T3" fmla="*/ 86 h 336"/>
                  <a:gd name="T4" fmla="*/ 224 w 1990"/>
                  <a:gd name="T5" fmla="*/ 150 h 336"/>
                  <a:gd name="T6" fmla="*/ 390 w 1990"/>
                  <a:gd name="T7" fmla="*/ 198 h 336"/>
                  <a:gd name="T8" fmla="*/ 758 w 1990"/>
                  <a:gd name="T9" fmla="*/ 259 h 336"/>
                  <a:gd name="T10" fmla="*/ 1250 w 1990"/>
                  <a:gd name="T11" fmla="*/ 301 h 336"/>
                  <a:gd name="T12" fmla="*/ 1654 w 1990"/>
                  <a:gd name="T13" fmla="*/ 320 h 336"/>
                  <a:gd name="T14" fmla="*/ 1990 w 1990"/>
                  <a:gd name="T15" fmla="*/ 336 h 3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90"/>
                  <a:gd name="T25" fmla="*/ 0 h 336"/>
                  <a:gd name="T26" fmla="*/ 1990 w 1990"/>
                  <a:gd name="T27" fmla="*/ 336 h 336"/>
                  <a:gd name="connsiteX0" fmla="*/ 0 w 9955"/>
                  <a:gd name="connsiteY0" fmla="*/ 0 h 9643"/>
                  <a:gd name="connsiteX1" fmla="*/ 482 w 9955"/>
                  <a:gd name="connsiteY1" fmla="*/ 2560 h 9643"/>
                  <a:gd name="connsiteX2" fmla="*/ 1126 w 9955"/>
                  <a:gd name="connsiteY2" fmla="*/ 4464 h 9643"/>
                  <a:gd name="connsiteX3" fmla="*/ 1960 w 9955"/>
                  <a:gd name="connsiteY3" fmla="*/ 5893 h 9643"/>
                  <a:gd name="connsiteX4" fmla="*/ 3809 w 9955"/>
                  <a:gd name="connsiteY4" fmla="*/ 7708 h 9643"/>
                  <a:gd name="connsiteX5" fmla="*/ 6281 w 9955"/>
                  <a:gd name="connsiteY5" fmla="*/ 8958 h 9643"/>
                  <a:gd name="connsiteX6" fmla="*/ 8312 w 9955"/>
                  <a:gd name="connsiteY6" fmla="*/ 9524 h 9643"/>
                  <a:gd name="connsiteX7" fmla="*/ 9955 w 9955"/>
                  <a:gd name="connsiteY7" fmla="*/ 9643 h 9643"/>
                  <a:gd name="connsiteX0" fmla="*/ 0 w 10000"/>
                  <a:gd name="connsiteY0" fmla="*/ 0 h 10000"/>
                  <a:gd name="connsiteX1" fmla="*/ 484 w 10000"/>
                  <a:gd name="connsiteY1" fmla="*/ 2655 h 10000"/>
                  <a:gd name="connsiteX2" fmla="*/ 1131 w 10000"/>
                  <a:gd name="connsiteY2" fmla="*/ 4629 h 10000"/>
                  <a:gd name="connsiteX3" fmla="*/ 1969 w 10000"/>
                  <a:gd name="connsiteY3" fmla="*/ 6111 h 10000"/>
                  <a:gd name="connsiteX4" fmla="*/ 3826 w 10000"/>
                  <a:gd name="connsiteY4" fmla="*/ 7993 h 10000"/>
                  <a:gd name="connsiteX5" fmla="*/ 6309 w 10000"/>
                  <a:gd name="connsiteY5" fmla="*/ 9290 h 10000"/>
                  <a:gd name="connsiteX6" fmla="*/ 8183 w 10000"/>
                  <a:gd name="connsiteY6" fmla="*/ 9877 h 10000"/>
                  <a:gd name="connsiteX7" fmla="*/ 10000 w 10000"/>
                  <a:gd name="connsiteY7" fmla="*/ 10000 h 10000"/>
                  <a:gd name="connsiteX0" fmla="*/ 0 w 8183"/>
                  <a:gd name="connsiteY0" fmla="*/ 0 h 9877"/>
                  <a:gd name="connsiteX1" fmla="*/ 484 w 8183"/>
                  <a:gd name="connsiteY1" fmla="*/ 2655 h 9877"/>
                  <a:gd name="connsiteX2" fmla="*/ 1131 w 8183"/>
                  <a:gd name="connsiteY2" fmla="*/ 4629 h 9877"/>
                  <a:gd name="connsiteX3" fmla="*/ 1969 w 8183"/>
                  <a:gd name="connsiteY3" fmla="*/ 6111 h 9877"/>
                  <a:gd name="connsiteX4" fmla="*/ 3826 w 8183"/>
                  <a:gd name="connsiteY4" fmla="*/ 7993 h 9877"/>
                  <a:gd name="connsiteX5" fmla="*/ 6309 w 8183"/>
                  <a:gd name="connsiteY5" fmla="*/ 9290 h 9877"/>
                  <a:gd name="connsiteX6" fmla="*/ 8183 w 8183"/>
                  <a:gd name="connsiteY6" fmla="*/ 9877 h 9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83" h="9877">
                    <a:moveTo>
                      <a:pt x="0" y="0"/>
                    </a:moveTo>
                    <a:cubicBezTo>
                      <a:pt x="80" y="432"/>
                      <a:pt x="297" y="1882"/>
                      <a:pt x="484" y="2655"/>
                    </a:cubicBezTo>
                    <a:cubicBezTo>
                      <a:pt x="671" y="3426"/>
                      <a:pt x="883" y="4043"/>
                      <a:pt x="1131" y="4629"/>
                    </a:cubicBezTo>
                    <a:cubicBezTo>
                      <a:pt x="1378" y="5216"/>
                      <a:pt x="1520" y="5555"/>
                      <a:pt x="1969" y="6111"/>
                    </a:cubicBezTo>
                    <a:cubicBezTo>
                      <a:pt x="2418" y="6667"/>
                      <a:pt x="3104" y="7469"/>
                      <a:pt x="3826" y="7993"/>
                    </a:cubicBezTo>
                    <a:cubicBezTo>
                      <a:pt x="4548" y="8518"/>
                      <a:pt x="5583" y="8976"/>
                      <a:pt x="6309" y="9290"/>
                    </a:cubicBezTo>
                    <a:cubicBezTo>
                      <a:pt x="7035" y="9604"/>
                      <a:pt x="7561" y="9691"/>
                      <a:pt x="8183" y="9877"/>
                    </a:cubicBezTo>
                  </a:path>
                </a:pathLst>
              </a:custGeom>
              <a:noFill/>
              <a:ln w="19050" cmpd="sng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Text Box 32"/>
              <p:cNvSpPr txBox="1">
                <a:spLocks noChangeArrowheads="1"/>
              </p:cNvSpPr>
              <p:nvPr/>
            </p:nvSpPr>
            <p:spPr bwMode="auto">
              <a:xfrm>
                <a:off x="2038" y="1584"/>
                <a:ext cx="3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i="1" dirty="0">
                    <a:solidFill>
                      <a:srgbClr val="0066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200" b="1" baseline="30000" dirty="0">
                    <a:solidFill>
                      <a:srgbClr val="0066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2</a:t>
                </a:r>
                <a:r>
                  <a:rPr lang="en-US" altLang="zh-CN" sz="2200" b="1" baseline="-25000" dirty="0">
                    <a:solidFill>
                      <a:srgbClr val="0066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</p:grpSp>
        <p:grpSp>
          <p:nvGrpSpPr>
            <p:cNvPr id="62" name="Group 33"/>
            <p:cNvGrpSpPr>
              <a:grpSpLocks/>
            </p:cNvGrpSpPr>
            <p:nvPr/>
          </p:nvGrpSpPr>
          <p:grpSpPr bwMode="auto">
            <a:xfrm>
              <a:off x="643236" y="1930400"/>
              <a:ext cx="3241676" cy="2716213"/>
              <a:chOff x="365" y="1256"/>
              <a:chExt cx="2042" cy="1711"/>
            </a:xfrm>
          </p:grpSpPr>
          <p:sp>
            <p:nvSpPr>
              <p:cNvPr id="63" name="Freeform 34"/>
              <p:cNvSpPr>
                <a:spLocks/>
              </p:cNvSpPr>
              <p:nvPr/>
            </p:nvSpPr>
            <p:spPr bwMode="auto">
              <a:xfrm>
                <a:off x="367" y="1296"/>
                <a:ext cx="1989" cy="1235"/>
              </a:xfrm>
              <a:custGeom>
                <a:avLst/>
                <a:gdLst>
                  <a:gd name="T0" fmla="*/ 0 w 1996"/>
                  <a:gd name="T1" fmla="*/ 1437 h 1437"/>
                  <a:gd name="T2" fmla="*/ 70 w 1996"/>
                  <a:gd name="T3" fmla="*/ 1159 h 1437"/>
                  <a:gd name="T4" fmla="*/ 188 w 1996"/>
                  <a:gd name="T5" fmla="*/ 791 h 1437"/>
                  <a:gd name="T6" fmla="*/ 390 w 1996"/>
                  <a:gd name="T7" fmla="*/ 455 h 1437"/>
                  <a:gd name="T8" fmla="*/ 796 w 1996"/>
                  <a:gd name="T9" fmla="*/ 183 h 1437"/>
                  <a:gd name="T10" fmla="*/ 1420 w 1996"/>
                  <a:gd name="T11" fmla="*/ 48 h 1437"/>
                  <a:gd name="T12" fmla="*/ 1996 w 1996"/>
                  <a:gd name="T13" fmla="*/ 0 h 14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6"/>
                  <a:gd name="T22" fmla="*/ 0 h 1437"/>
                  <a:gd name="T23" fmla="*/ 1996 w 1996"/>
                  <a:gd name="T24" fmla="*/ 1437 h 1437"/>
                  <a:gd name="connsiteX0" fmla="*/ 0 w 11146"/>
                  <a:gd name="connsiteY0" fmla="*/ 10054 h 10054"/>
                  <a:gd name="connsiteX1" fmla="*/ 351 w 11146"/>
                  <a:gd name="connsiteY1" fmla="*/ 8119 h 10054"/>
                  <a:gd name="connsiteX2" fmla="*/ 942 w 11146"/>
                  <a:gd name="connsiteY2" fmla="*/ 5559 h 10054"/>
                  <a:gd name="connsiteX3" fmla="*/ 1954 w 11146"/>
                  <a:gd name="connsiteY3" fmla="*/ 3220 h 10054"/>
                  <a:gd name="connsiteX4" fmla="*/ 3988 w 11146"/>
                  <a:gd name="connsiteY4" fmla="*/ 1327 h 10054"/>
                  <a:gd name="connsiteX5" fmla="*/ 7114 w 11146"/>
                  <a:gd name="connsiteY5" fmla="*/ 388 h 10054"/>
                  <a:gd name="connsiteX6" fmla="*/ 11146 w 11146"/>
                  <a:gd name="connsiteY6" fmla="*/ 0 h 10054"/>
                  <a:gd name="connsiteX0" fmla="*/ 0 w 11134"/>
                  <a:gd name="connsiteY0" fmla="*/ 9964 h 9964"/>
                  <a:gd name="connsiteX1" fmla="*/ 351 w 11134"/>
                  <a:gd name="connsiteY1" fmla="*/ 8029 h 9964"/>
                  <a:gd name="connsiteX2" fmla="*/ 942 w 11134"/>
                  <a:gd name="connsiteY2" fmla="*/ 5469 h 9964"/>
                  <a:gd name="connsiteX3" fmla="*/ 1954 w 11134"/>
                  <a:gd name="connsiteY3" fmla="*/ 3130 h 9964"/>
                  <a:gd name="connsiteX4" fmla="*/ 3988 w 11134"/>
                  <a:gd name="connsiteY4" fmla="*/ 1237 h 9964"/>
                  <a:gd name="connsiteX5" fmla="*/ 7114 w 11134"/>
                  <a:gd name="connsiteY5" fmla="*/ 298 h 9964"/>
                  <a:gd name="connsiteX6" fmla="*/ 11134 w 11134"/>
                  <a:gd name="connsiteY6" fmla="*/ 0 h 9964"/>
                  <a:gd name="connsiteX0" fmla="*/ 0 w 10000"/>
                  <a:gd name="connsiteY0" fmla="*/ 10000 h 10000"/>
                  <a:gd name="connsiteX1" fmla="*/ 315 w 10000"/>
                  <a:gd name="connsiteY1" fmla="*/ 8058 h 10000"/>
                  <a:gd name="connsiteX2" fmla="*/ 846 w 10000"/>
                  <a:gd name="connsiteY2" fmla="*/ 5489 h 10000"/>
                  <a:gd name="connsiteX3" fmla="*/ 1755 w 10000"/>
                  <a:gd name="connsiteY3" fmla="*/ 3141 h 10000"/>
                  <a:gd name="connsiteX4" fmla="*/ 3582 w 10000"/>
                  <a:gd name="connsiteY4" fmla="*/ 1241 h 10000"/>
                  <a:gd name="connsiteX5" fmla="*/ 6389 w 10000"/>
                  <a:gd name="connsiteY5" fmla="*/ 299 h 10000"/>
                  <a:gd name="connsiteX6" fmla="*/ 10000 w 10000"/>
                  <a:gd name="connsiteY6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0" h="10000">
                    <a:moveTo>
                      <a:pt x="0" y="10000"/>
                    </a:moveTo>
                    <a:cubicBezTo>
                      <a:pt x="54" y="9679"/>
                      <a:pt x="175" y="8813"/>
                      <a:pt x="315" y="8058"/>
                    </a:cubicBezTo>
                    <a:cubicBezTo>
                      <a:pt x="454" y="7304"/>
                      <a:pt x="607" y="6306"/>
                      <a:pt x="846" y="5489"/>
                    </a:cubicBezTo>
                    <a:cubicBezTo>
                      <a:pt x="1084" y="4671"/>
                      <a:pt x="1301" y="3847"/>
                      <a:pt x="1755" y="3141"/>
                    </a:cubicBezTo>
                    <a:cubicBezTo>
                      <a:pt x="2209" y="2436"/>
                      <a:pt x="2808" y="1717"/>
                      <a:pt x="3582" y="1241"/>
                    </a:cubicBezTo>
                    <a:cubicBezTo>
                      <a:pt x="4356" y="767"/>
                      <a:pt x="5489" y="516"/>
                      <a:pt x="6389" y="299"/>
                    </a:cubicBezTo>
                    <a:cubicBezTo>
                      <a:pt x="7289" y="82"/>
                      <a:pt x="9449" y="16"/>
                      <a:pt x="10000" y="0"/>
                    </a:cubicBezTo>
                  </a:path>
                </a:pathLst>
              </a:custGeom>
              <a:noFill/>
              <a:ln w="19050" cmpd="sng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Freeform 35"/>
              <p:cNvSpPr>
                <a:spLocks/>
              </p:cNvSpPr>
              <p:nvPr/>
            </p:nvSpPr>
            <p:spPr bwMode="auto">
              <a:xfrm>
                <a:off x="365" y="2541"/>
                <a:ext cx="1988" cy="426"/>
              </a:xfrm>
              <a:custGeom>
                <a:avLst/>
                <a:gdLst>
                  <a:gd name="T0" fmla="*/ 0 w 2006"/>
                  <a:gd name="T1" fmla="*/ 0 h 445"/>
                  <a:gd name="T2" fmla="*/ 83 w 2006"/>
                  <a:gd name="T3" fmla="*/ 125 h 445"/>
                  <a:gd name="T4" fmla="*/ 259 w 2006"/>
                  <a:gd name="T5" fmla="*/ 230 h 445"/>
                  <a:gd name="T6" fmla="*/ 576 w 2006"/>
                  <a:gd name="T7" fmla="*/ 313 h 445"/>
                  <a:gd name="T8" fmla="*/ 1161 w 2006"/>
                  <a:gd name="T9" fmla="*/ 387 h 445"/>
                  <a:gd name="T10" fmla="*/ 2006 w 2006"/>
                  <a:gd name="T11" fmla="*/ 445 h 4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06"/>
                  <a:gd name="T19" fmla="*/ 0 h 445"/>
                  <a:gd name="T20" fmla="*/ 2006 w 2006"/>
                  <a:gd name="T21" fmla="*/ 445 h 445"/>
                  <a:gd name="connsiteX0" fmla="*/ 0 w 9955"/>
                  <a:gd name="connsiteY0" fmla="*/ 0 h 9933"/>
                  <a:gd name="connsiteX1" fmla="*/ 414 w 9955"/>
                  <a:gd name="connsiteY1" fmla="*/ 2809 h 9933"/>
                  <a:gd name="connsiteX2" fmla="*/ 1291 w 9955"/>
                  <a:gd name="connsiteY2" fmla="*/ 5169 h 9933"/>
                  <a:gd name="connsiteX3" fmla="*/ 2871 w 9955"/>
                  <a:gd name="connsiteY3" fmla="*/ 7034 h 9933"/>
                  <a:gd name="connsiteX4" fmla="*/ 5788 w 9955"/>
                  <a:gd name="connsiteY4" fmla="*/ 8697 h 9933"/>
                  <a:gd name="connsiteX5" fmla="*/ 9955 w 9955"/>
                  <a:gd name="connsiteY5" fmla="*/ 9933 h 9933"/>
                  <a:gd name="connsiteX0" fmla="*/ 0 w 10000"/>
                  <a:gd name="connsiteY0" fmla="*/ 0 h 10000"/>
                  <a:gd name="connsiteX1" fmla="*/ 416 w 10000"/>
                  <a:gd name="connsiteY1" fmla="*/ 2828 h 10000"/>
                  <a:gd name="connsiteX2" fmla="*/ 1297 w 10000"/>
                  <a:gd name="connsiteY2" fmla="*/ 5204 h 10000"/>
                  <a:gd name="connsiteX3" fmla="*/ 2884 w 10000"/>
                  <a:gd name="connsiteY3" fmla="*/ 7081 h 10000"/>
                  <a:gd name="connsiteX4" fmla="*/ 5814 w 10000"/>
                  <a:gd name="connsiteY4" fmla="*/ 8756 h 10000"/>
                  <a:gd name="connsiteX5" fmla="*/ 7817 w 10000"/>
                  <a:gd name="connsiteY5" fmla="*/ 9525 h 10000"/>
                  <a:gd name="connsiteX6" fmla="*/ 10000 w 10000"/>
                  <a:gd name="connsiteY6" fmla="*/ 10000 h 10000"/>
                  <a:gd name="connsiteX0" fmla="*/ 0 w 10000"/>
                  <a:gd name="connsiteY0" fmla="*/ 0 h 10000"/>
                  <a:gd name="connsiteX1" fmla="*/ 416 w 10000"/>
                  <a:gd name="connsiteY1" fmla="*/ 2828 h 10000"/>
                  <a:gd name="connsiteX2" fmla="*/ 1297 w 10000"/>
                  <a:gd name="connsiteY2" fmla="*/ 5204 h 10000"/>
                  <a:gd name="connsiteX3" fmla="*/ 2884 w 10000"/>
                  <a:gd name="connsiteY3" fmla="*/ 7081 h 10000"/>
                  <a:gd name="connsiteX4" fmla="*/ 5033 w 10000"/>
                  <a:gd name="connsiteY4" fmla="*/ 8349 h 10000"/>
                  <a:gd name="connsiteX5" fmla="*/ 7817 w 10000"/>
                  <a:gd name="connsiteY5" fmla="*/ 9525 h 10000"/>
                  <a:gd name="connsiteX6" fmla="*/ 10000 w 10000"/>
                  <a:gd name="connsiteY6" fmla="*/ 10000 h 10000"/>
                  <a:gd name="connsiteX0" fmla="*/ 0 w 10000"/>
                  <a:gd name="connsiteY0" fmla="*/ 0 h 10000"/>
                  <a:gd name="connsiteX1" fmla="*/ 416 w 10000"/>
                  <a:gd name="connsiteY1" fmla="*/ 2828 h 10000"/>
                  <a:gd name="connsiteX2" fmla="*/ 1297 w 10000"/>
                  <a:gd name="connsiteY2" fmla="*/ 5204 h 10000"/>
                  <a:gd name="connsiteX3" fmla="*/ 2884 w 10000"/>
                  <a:gd name="connsiteY3" fmla="*/ 7081 h 10000"/>
                  <a:gd name="connsiteX4" fmla="*/ 4958 w 10000"/>
                  <a:gd name="connsiteY4" fmla="*/ 8417 h 10000"/>
                  <a:gd name="connsiteX5" fmla="*/ 7817 w 10000"/>
                  <a:gd name="connsiteY5" fmla="*/ 9525 h 10000"/>
                  <a:gd name="connsiteX6" fmla="*/ 10000 w 10000"/>
                  <a:gd name="connsiteY6" fmla="*/ 10000 h 10000"/>
                  <a:gd name="connsiteX0" fmla="*/ 0 w 7817"/>
                  <a:gd name="connsiteY0" fmla="*/ 0 h 9525"/>
                  <a:gd name="connsiteX1" fmla="*/ 416 w 7817"/>
                  <a:gd name="connsiteY1" fmla="*/ 2828 h 9525"/>
                  <a:gd name="connsiteX2" fmla="*/ 1297 w 7817"/>
                  <a:gd name="connsiteY2" fmla="*/ 5204 h 9525"/>
                  <a:gd name="connsiteX3" fmla="*/ 2884 w 7817"/>
                  <a:gd name="connsiteY3" fmla="*/ 7081 h 9525"/>
                  <a:gd name="connsiteX4" fmla="*/ 4958 w 7817"/>
                  <a:gd name="connsiteY4" fmla="*/ 8417 h 9525"/>
                  <a:gd name="connsiteX5" fmla="*/ 7817 w 7817"/>
                  <a:gd name="connsiteY5" fmla="*/ 9525 h 9525"/>
                  <a:gd name="connsiteX0" fmla="*/ 0 w 8190"/>
                  <a:gd name="connsiteY0" fmla="*/ 0 h 9559"/>
                  <a:gd name="connsiteX1" fmla="*/ 532 w 8190"/>
                  <a:gd name="connsiteY1" fmla="*/ 2969 h 9559"/>
                  <a:gd name="connsiteX2" fmla="*/ 1659 w 8190"/>
                  <a:gd name="connsiteY2" fmla="*/ 5464 h 9559"/>
                  <a:gd name="connsiteX3" fmla="*/ 3689 w 8190"/>
                  <a:gd name="connsiteY3" fmla="*/ 7434 h 9559"/>
                  <a:gd name="connsiteX4" fmla="*/ 6343 w 8190"/>
                  <a:gd name="connsiteY4" fmla="*/ 8837 h 9559"/>
                  <a:gd name="connsiteX5" fmla="*/ 8190 w 8190"/>
                  <a:gd name="connsiteY5" fmla="*/ 9559 h 9559"/>
                  <a:gd name="connsiteX0" fmla="*/ 0 w 9971"/>
                  <a:gd name="connsiteY0" fmla="*/ 0 h 9824"/>
                  <a:gd name="connsiteX1" fmla="*/ 650 w 9971"/>
                  <a:gd name="connsiteY1" fmla="*/ 3106 h 9824"/>
                  <a:gd name="connsiteX2" fmla="*/ 2026 w 9971"/>
                  <a:gd name="connsiteY2" fmla="*/ 5716 h 9824"/>
                  <a:gd name="connsiteX3" fmla="*/ 4504 w 9971"/>
                  <a:gd name="connsiteY3" fmla="*/ 7777 h 9824"/>
                  <a:gd name="connsiteX4" fmla="*/ 7745 w 9971"/>
                  <a:gd name="connsiteY4" fmla="*/ 9245 h 9824"/>
                  <a:gd name="connsiteX5" fmla="*/ 9971 w 9971"/>
                  <a:gd name="connsiteY5" fmla="*/ 9824 h 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71" h="9824">
                    <a:moveTo>
                      <a:pt x="0" y="0"/>
                    </a:moveTo>
                    <a:cubicBezTo>
                      <a:pt x="110" y="522"/>
                      <a:pt x="313" y="2161"/>
                      <a:pt x="650" y="3106"/>
                    </a:cubicBezTo>
                    <a:cubicBezTo>
                      <a:pt x="985" y="4051"/>
                      <a:pt x="1383" y="4945"/>
                      <a:pt x="2026" y="5716"/>
                    </a:cubicBezTo>
                    <a:cubicBezTo>
                      <a:pt x="2668" y="6485"/>
                      <a:pt x="3552" y="7189"/>
                      <a:pt x="4504" y="7777"/>
                    </a:cubicBezTo>
                    <a:cubicBezTo>
                      <a:pt x="5458" y="8366"/>
                      <a:pt x="6834" y="8904"/>
                      <a:pt x="7745" y="9245"/>
                    </a:cubicBezTo>
                    <a:cubicBezTo>
                      <a:pt x="8656" y="9586"/>
                      <a:pt x="8881" y="9597"/>
                      <a:pt x="9971" y="9824"/>
                    </a:cubicBezTo>
                  </a:path>
                </a:pathLst>
              </a:custGeom>
              <a:noFill/>
              <a:ln w="19050" cmpd="sng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Text Box 36"/>
              <p:cNvSpPr txBox="1">
                <a:spLocks noChangeArrowheads="1"/>
              </p:cNvSpPr>
              <p:nvPr/>
            </p:nvSpPr>
            <p:spPr bwMode="auto">
              <a:xfrm>
                <a:off x="2064" y="1256"/>
                <a:ext cx="343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i="1" dirty="0">
                    <a:solidFill>
                      <a:srgbClr val="80008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200" b="1" baseline="30000" dirty="0">
                    <a:solidFill>
                      <a:srgbClr val="80008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r>
                  <a:rPr lang="en-US" altLang="zh-CN" sz="2200" b="1" baseline="-25000" dirty="0">
                    <a:solidFill>
                      <a:srgbClr val="80008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</p:grpSp>
      </p:grpSp>
      <p:sp>
        <p:nvSpPr>
          <p:cNvPr id="77" name="Rectangle 12"/>
          <p:cNvSpPr>
            <a:spLocks noChangeArrowheads="1"/>
          </p:cNvSpPr>
          <p:nvPr/>
        </p:nvSpPr>
        <p:spPr bwMode="auto">
          <a:xfrm>
            <a:off x="492889" y="752421"/>
            <a:ext cx="676795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正常固结黏土应力应变曲线特点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</p:spTree>
    <p:extLst>
      <p:ext uri="{BB962C8B-B14F-4D97-AF65-F5344CB8AC3E}">
        <p14:creationId xmlns:p14="http://schemas.microsoft.com/office/powerpoint/2010/main" val="34338628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129382" y="2598245"/>
            <a:ext cx="1509672" cy="1158093"/>
            <a:chOff x="1129382" y="2598245"/>
            <a:chExt cx="1509672" cy="1158093"/>
          </a:xfrm>
        </p:grpSpPr>
        <p:sp>
          <p:nvSpPr>
            <p:cNvPr id="128" name="Text Box 13"/>
            <p:cNvSpPr txBox="1">
              <a:spLocks noChangeArrowheads="1"/>
            </p:cNvSpPr>
            <p:nvPr/>
          </p:nvSpPr>
          <p:spPr bwMode="auto">
            <a:xfrm>
              <a:off x="1129382" y="3310062"/>
              <a:ext cx="489236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</a:t>
              </a:r>
              <a:r>
                <a:rPr lang="en-US" altLang="zh-CN" sz="2000" b="1" baseline="-2500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endParaRPr lang="en-US" altLang="zh-CN" sz="2000" b="1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55" name="Arc 33"/>
            <p:cNvSpPr>
              <a:spLocks/>
            </p:cNvSpPr>
            <p:nvPr/>
          </p:nvSpPr>
          <p:spPr bwMode="auto">
            <a:xfrm flipH="1" flipV="1">
              <a:off x="1285824" y="2598245"/>
              <a:ext cx="1353230" cy="689650"/>
            </a:xfrm>
            <a:custGeom>
              <a:avLst/>
              <a:gdLst>
                <a:gd name="T0" fmla="*/ 10 w 43200"/>
                <a:gd name="T1" fmla="*/ 0 h 22107"/>
                <a:gd name="T2" fmla="*/ 0 w 43200"/>
                <a:gd name="T3" fmla="*/ 0 h 22107"/>
                <a:gd name="T4" fmla="*/ 5 w 43200"/>
                <a:gd name="T5" fmla="*/ 0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2700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233605" y="2576877"/>
            <a:ext cx="1567036" cy="1175039"/>
            <a:chOff x="2233605" y="2578691"/>
            <a:chExt cx="1567036" cy="1175039"/>
          </a:xfrm>
        </p:grpSpPr>
        <p:sp>
          <p:nvSpPr>
            <p:cNvPr id="120" name="Arc 33"/>
            <p:cNvSpPr>
              <a:spLocks/>
            </p:cNvSpPr>
            <p:nvPr/>
          </p:nvSpPr>
          <p:spPr bwMode="auto">
            <a:xfrm flipH="1" flipV="1">
              <a:off x="2390048" y="2578691"/>
              <a:ext cx="1410593" cy="719637"/>
            </a:xfrm>
            <a:custGeom>
              <a:avLst/>
              <a:gdLst>
                <a:gd name="T0" fmla="*/ 10 w 43200"/>
                <a:gd name="T1" fmla="*/ 0 h 22107"/>
                <a:gd name="T2" fmla="*/ 0 w 43200"/>
                <a:gd name="T3" fmla="*/ 0 h 22107"/>
                <a:gd name="T4" fmla="*/ 5 w 43200"/>
                <a:gd name="T5" fmla="*/ 0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2700">
              <a:solidFill>
                <a:srgbClr val="0000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7" name="Text Box 12"/>
            <p:cNvSpPr txBox="1">
              <a:spLocks noChangeArrowheads="1"/>
            </p:cNvSpPr>
            <p:nvPr/>
          </p:nvSpPr>
          <p:spPr bwMode="auto">
            <a:xfrm>
              <a:off x="2233605" y="3307454"/>
              <a:ext cx="425116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</a:t>
              </a:r>
              <a:r>
                <a:rPr lang="en-US" altLang="zh-CN" sz="20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endPara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3" name="Rectangle 51"/>
          <p:cNvSpPr>
            <a:spLocks noChangeArrowheads="1"/>
          </p:cNvSpPr>
          <p:nvPr/>
        </p:nvSpPr>
        <p:spPr bwMode="auto">
          <a:xfrm>
            <a:off x="3243263" y="5878513"/>
            <a:ext cx="41449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固结不排水试验</a:t>
            </a:r>
          </a:p>
        </p:txBody>
      </p:sp>
      <p:sp>
        <p:nvSpPr>
          <p:cNvPr id="57" name="Rectangle 12"/>
          <p:cNvSpPr>
            <a:spLocks noChangeArrowheads="1"/>
          </p:cNvSpPr>
          <p:nvPr/>
        </p:nvSpPr>
        <p:spPr bwMode="auto">
          <a:xfrm>
            <a:off x="706755" y="771718"/>
            <a:ext cx="571531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正常固结黏土的强度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包线</a:t>
            </a:r>
          </a:p>
        </p:txBody>
      </p:sp>
      <p:sp>
        <p:nvSpPr>
          <p:cNvPr id="58" name="Text Box 5"/>
          <p:cNvSpPr txBox="1">
            <a:spLocks noChangeArrowheads="1"/>
          </p:cNvSpPr>
          <p:nvPr/>
        </p:nvSpPr>
        <p:spPr bwMode="auto">
          <a:xfrm>
            <a:off x="1338215" y="4013068"/>
            <a:ext cx="7231374" cy="1403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对三轴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固结不排水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试验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，正常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固结黏土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的总应力和有效应力抗剪强度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包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线都通过原点，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= 0</a:t>
            </a:r>
          </a:p>
          <a:p>
            <a:pPr marL="361950" indent="-36195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破坏时孔隙水压力</a:t>
            </a:r>
            <a:r>
              <a:rPr kumimoji="1"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&gt;0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，因此，</a:t>
            </a:r>
            <a:r>
              <a:rPr kumimoji="1"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cu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10" name="Text Box 9"/>
          <p:cNvSpPr txBox="1">
            <a:spLocks noChangeArrowheads="1"/>
          </p:cNvSpPr>
          <p:nvPr/>
        </p:nvSpPr>
        <p:spPr bwMode="auto">
          <a:xfrm>
            <a:off x="3032760" y="1797823"/>
            <a:ext cx="1264919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总应力</a:t>
            </a:r>
            <a:r>
              <a:rPr lang="en-US" altLang="zh-CN" sz="20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endParaRPr lang="zh-CN" altLang="en-US" sz="2000" b="1" baseline="-25000" dirty="0">
              <a:solidFill>
                <a:srgbClr val="000066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82456" y="2157995"/>
            <a:ext cx="3981593" cy="1134170"/>
            <a:chOff x="582456" y="2157995"/>
            <a:chExt cx="3981593" cy="1134170"/>
          </a:xfrm>
        </p:grpSpPr>
        <p:sp>
          <p:nvSpPr>
            <p:cNvPr id="118" name="Text Box 9"/>
            <p:cNvSpPr txBox="1">
              <a:spLocks noChangeArrowheads="1"/>
            </p:cNvSpPr>
            <p:nvPr/>
          </p:nvSpPr>
          <p:spPr bwMode="auto">
            <a:xfrm>
              <a:off x="3864106" y="2157995"/>
              <a:ext cx="699943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1" lang="zh-CN" altLang="en-US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 </a:t>
              </a:r>
              <a:r>
                <a:rPr lang="en-US" altLang="zh-CN" sz="2000" b="1" baseline="-25000" dirty="0" smtClean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/>
                </a:rPr>
                <a:t>cu</a:t>
              </a:r>
              <a:endParaRPr lang="zh-CN" altLang="en-US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19" name="Line 42"/>
            <p:cNvSpPr>
              <a:spLocks noChangeShapeType="1"/>
            </p:cNvSpPr>
            <p:nvPr/>
          </p:nvSpPr>
          <p:spPr bwMode="auto">
            <a:xfrm flipV="1">
              <a:off x="582456" y="2228003"/>
              <a:ext cx="3564944" cy="1064162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21" name="直接连接符 71"/>
            <p:cNvCxnSpPr>
              <a:cxnSpLocks noChangeShapeType="1"/>
            </p:cNvCxnSpPr>
            <p:nvPr/>
          </p:nvCxnSpPr>
          <p:spPr bwMode="auto">
            <a:xfrm>
              <a:off x="3179885" y="2527848"/>
              <a:ext cx="715107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2" name="弧形 121"/>
            <p:cNvSpPr/>
            <p:nvPr/>
          </p:nvSpPr>
          <p:spPr bwMode="auto">
            <a:xfrm rot="2357617">
              <a:off x="3531583" y="2306066"/>
              <a:ext cx="293185" cy="265919"/>
            </a:xfrm>
            <a:prstGeom prst="arc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/>
          </p:spPr>
          <p:txBody>
            <a:bodyPr/>
            <a:lstStyle/>
            <a:p>
              <a:pPr defTabSz="786742"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82897" y="1702026"/>
            <a:ext cx="2438599" cy="1587143"/>
            <a:chOff x="582897" y="1702026"/>
            <a:chExt cx="2438599" cy="1587143"/>
          </a:xfrm>
        </p:grpSpPr>
        <p:grpSp>
          <p:nvGrpSpPr>
            <p:cNvPr id="9" name="组合 8"/>
            <p:cNvGrpSpPr/>
            <p:nvPr/>
          </p:nvGrpSpPr>
          <p:grpSpPr>
            <a:xfrm>
              <a:off x="582897" y="1906271"/>
              <a:ext cx="2438599" cy="1382898"/>
              <a:chOff x="582897" y="1906271"/>
              <a:chExt cx="2438599" cy="1382898"/>
            </a:xfrm>
          </p:grpSpPr>
          <p:sp>
            <p:nvSpPr>
              <p:cNvPr id="113" name="Line 42"/>
              <p:cNvSpPr>
                <a:spLocks noChangeShapeType="1"/>
              </p:cNvSpPr>
              <p:nvPr/>
            </p:nvSpPr>
            <p:spPr bwMode="auto">
              <a:xfrm flipV="1">
                <a:off x="582897" y="1906271"/>
                <a:ext cx="2369221" cy="1382898"/>
              </a:xfrm>
              <a:prstGeom prst="line">
                <a:avLst/>
              </a:prstGeom>
              <a:noFill/>
              <a:ln w="127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20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5" name="直接连接符 71"/>
              <p:cNvCxnSpPr>
                <a:cxnSpLocks noChangeShapeType="1"/>
              </p:cNvCxnSpPr>
              <p:nvPr/>
            </p:nvCxnSpPr>
            <p:spPr bwMode="auto">
              <a:xfrm>
                <a:off x="2176243" y="2372709"/>
                <a:ext cx="678717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16" name="弧形 115"/>
              <p:cNvSpPr/>
              <p:nvPr/>
            </p:nvSpPr>
            <p:spPr bwMode="auto">
              <a:xfrm rot="2357617">
                <a:off x="2264886" y="2137720"/>
                <a:ext cx="308974" cy="267257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/>
            </p:spPr>
            <p:txBody>
              <a:bodyPr/>
              <a:lstStyle/>
              <a:p>
                <a:pPr defTabSz="786742">
                  <a:defRPr/>
                </a:pPr>
                <a:endParaRPr lang="zh-CN" altLang="en-US" sz="2000" b="1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Text Box 9"/>
              <p:cNvSpPr txBox="1">
                <a:spLocks noChangeArrowheads="1"/>
              </p:cNvSpPr>
              <p:nvPr/>
            </p:nvSpPr>
            <p:spPr bwMode="auto">
              <a:xfrm>
                <a:off x="2555417" y="1982319"/>
                <a:ext cx="466079" cy="446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kumimoji="1" lang="zh-CN" altLang="en-US" sz="20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/>
                  </a:rPr>
                  <a:t> </a:t>
                </a:r>
                <a:r>
                  <a:rPr lang="zh-CN" altLang="en-US" sz="2000" b="1" dirty="0" smtClean="0">
                    <a:solidFill>
                      <a:srgbClr val="000066"/>
                    </a:solidFill>
                    <a:ea typeface="幼圆" panose="02010509060101010101" pitchFamily="49" charset="-122"/>
                    <a:cs typeface="Times New Roman" panose="02020603050405020304" pitchFamily="18" charset="0"/>
                    <a:sym typeface="Symbol"/>
                  </a:rPr>
                  <a:t></a:t>
                </a:r>
                <a:endParaRPr lang="zh-CN" altLang="en-US" sz="2000" b="1" baseline="-25000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</p:grpSp>
        <p:sp>
          <p:nvSpPr>
            <p:cNvPr id="123" name="Text Box 9"/>
            <p:cNvSpPr txBox="1">
              <a:spLocks noChangeArrowheads="1"/>
            </p:cNvSpPr>
            <p:nvPr/>
          </p:nvSpPr>
          <p:spPr bwMode="auto">
            <a:xfrm>
              <a:off x="1048174" y="1702026"/>
              <a:ext cx="1463040" cy="410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有效应力</a:t>
              </a:r>
              <a:r>
                <a:rPr lang="en-US" altLang="zh-CN" sz="20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endParaRPr lang="zh-CN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72549" y="1479494"/>
            <a:ext cx="3831811" cy="2221452"/>
            <a:chOff x="572549" y="1479494"/>
            <a:chExt cx="3831811" cy="2221452"/>
          </a:xfrm>
        </p:grpSpPr>
        <p:sp>
          <p:nvSpPr>
            <p:cNvPr id="109" name="Text Box 6"/>
            <p:cNvSpPr txBox="1">
              <a:spLocks noChangeArrowheads="1"/>
            </p:cNvSpPr>
            <p:nvPr/>
          </p:nvSpPr>
          <p:spPr bwMode="auto">
            <a:xfrm>
              <a:off x="572549" y="1479494"/>
              <a:ext cx="396321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 i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111" name="Line 27"/>
            <p:cNvSpPr>
              <a:spLocks noChangeShapeType="1"/>
            </p:cNvSpPr>
            <p:nvPr/>
          </p:nvSpPr>
          <p:spPr bwMode="auto">
            <a:xfrm flipV="1">
              <a:off x="575312" y="1653073"/>
              <a:ext cx="0" cy="19190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2" name="Line 32"/>
            <p:cNvSpPr>
              <a:spLocks noChangeShapeType="1"/>
            </p:cNvSpPr>
            <p:nvPr/>
          </p:nvSpPr>
          <p:spPr bwMode="auto">
            <a:xfrm>
              <a:off x="572705" y="3291809"/>
              <a:ext cx="36007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1" name="Text Box 54"/>
            <p:cNvSpPr txBox="1">
              <a:spLocks noChangeArrowheads="1"/>
            </p:cNvSpPr>
            <p:nvPr/>
          </p:nvSpPr>
          <p:spPr bwMode="auto">
            <a:xfrm>
              <a:off x="3924492" y="2824908"/>
              <a:ext cx="479868" cy="876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5086" tIns="37543" rIns="75086" bIns="37543">
              <a:spAutoFit/>
            </a:bodyPr>
            <a:lstStyle>
              <a:lvl1pPr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</a:t>
              </a:r>
            </a:p>
            <a:p>
              <a:pPr ea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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285824" y="2792701"/>
            <a:ext cx="1104224" cy="488679"/>
            <a:chOff x="1285824" y="2792701"/>
            <a:chExt cx="1104224" cy="488679"/>
          </a:xfrm>
        </p:grpSpPr>
        <p:cxnSp>
          <p:nvCxnSpPr>
            <p:cNvPr id="124" name="直接连接符 61"/>
            <p:cNvCxnSpPr>
              <a:cxnSpLocks noChangeShapeType="1"/>
            </p:cNvCxnSpPr>
            <p:nvPr/>
          </p:nvCxnSpPr>
          <p:spPr bwMode="auto">
            <a:xfrm>
              <a:off x="2387441" y="3089738"/>
              <a:ext cx="0" cy="19033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5" name="直接箭头连接符 71"/>
            <p:cNvCxnSpPr>
              <a:cxnSpLocks noChangeShapeType="1"/>
            </p:cNvCxnSpPr>
            <p:nvPr/>
          </p:nvCxnSpPr>
          <p:spPr bwMode="auto">
            <a:xfrm>
              <a:off x="1285824" y="3184906"/>
              <a:ext cx="1104224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6" name="Text Box 9"/>
            <p:cNvSpPr txBox="1">
              <a:spLocks noChangeArrowheads="1"/>
            </p:cNvSpPr>
            <p:nvPr/>
          </p:nvSpPr>
          <p:spPr bwMode="auto">
            <a:xfrm>
              <a:off x="1726470" y="2792701"/>
              <a:ext cx="468089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 err="1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000" b="1" baseline="-25000" dirty="0" err="1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endParaRPr lang="zh-CN" altLang="en-US" sz="20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132" name="直接连接符 127"/>
            <p:cNvCxnSpPr>
              <a:cxnSpLocks noChangeShapeType="1"/>
            </p:cNvCxnSpPr>
            <p:nvPr/>
          </p:nvCxnSpPr>
          <p:spPr bwMode="auto">
            <a:xfrm>
              <a:off x="1285824" y="3091041"/>
              <a:ext cx="0" cy="19033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5012718" y="1399950"/>
            <a:ext cx="3681619" cy="2271414"/>
            <a:chOff x="5012718" y="1399950"/>
            <a:chExt cx="3681619" cy="2271414"/>
          </a:xfrm>
        </p:grpSpPr>
        <p:sp>
          <p:nvSpPr>
            <p:cNvPr id="129" name="Text Box 21"/>
            <p:cNvSpPr txBox="1">
              <a:spLocks noChangeArrowheads="1"/>
            </p:cNvSpPr>
            <p:nvPr/>
          </p:nvSpPr>
          <p:spPr bwMode="auto">
            <a:xfrm>
              <a:off x="8333215" y="2795326"/>
              <a:ext cx="361122" cy="876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086" tIns="37543" rIns="75086" bIns="37543">
              <a:spAutoFit/>
            </a:bodyPr>
            <a:lstStyle>
              <a:lvl1pPr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</a:p>
            <a:p>
              <a:pPr ea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p</a:t>
              </a:r>
            </a:p>
          </p:txBody>
        </p:sp>
        <p:sp>
          <p:nvSpPr>
            <p:cNvPr id="130" name="Text Box 24"/>
            <p:cNvSpPr txBox="1">
              <a:spLocks noChangeArrowheads="1"/>
            </p:cNvSpPr>
            <p:nvPr/>
          </p:nvSpPr>
          <p:spPr bwMode="auto">
            <a:xfrm>
              <a:off x="5070784" y="1399950"/>
              <a:ext cx="580142" cy="429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086" tIns="37543" rIns="75086" bIns="37543">
              <a:spAutoFit/>
            </a:bodyPr>
            <a:lstStyle>
              <a:lvl1pPr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q</a:t>
              </a:r>
              <a:endPara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 flipV="1">
              <a:off x="5015325" y="1653071"/>
              <a:ext cx="0" cy="19190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5" name="Line 32"/>
            <p:cNvSpPr>
              <a:spLocks noChangeShapeType="1"/>
            </p:cNvSpPr>
            <p:nvPr/>
          </p:nvSpPr>
          <p:spPr bwMode="auto">
            <a:xfrm>
              <a:off x="5012718" y="3291809"/>
              <a:ext cx="36007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015375" y="1806621"/>
            <a:ext cx="3911454" cy="1484167"/>
            <a:chOff x="5015375" y="1806621"/>
            <a:chExt cx="3911454" cy="1484167"/>
          </a:xfrm>
        </p:grpSpPr>
        <p:sp>
          <p:nvSpPr>
            <p:cNvPr id="133" name="Text Box 9"/>
            <p:cNvSpPr txBox="1">
              <a:spLocks noChangeArrowheads="1"/>
            </p:cNvSpPr>
            <p:nvPr/>
          </p:nvSpPr>
          <p:spPr bwMode="auto">
            <a:xfrm>
              <a:off x="7631430" y="1806621"/>
              <a:ext cx="1295399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总应力</a:t>
              </a:r>
              <a:r>
                <a:rPr lang="en-US" altLang="zh-CN" sz="2000" b="1" dirty="0" err="1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000" b="1" baseline="-25000" dirty="0" err="1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endParaRPr lang="zh-CN" altLang="en-US" sz="20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5015375" y="2197966"/>
              <a:ext cx="3495638" cy="1092822"/>
              <a:chOff x="5015375" y="2197966"/>
              <a:chExt cx="3495638" cy="1092822"/>
            </a:xfrm>
          </p:grpSpPr>
          <p:sp>
            <p:nvSpPr>
              <p:cNvPr id="140" name="Text Box 9"/>
              <p:cNvSpPr txBox="1">
                <a:spLocks noChangeArrowheads="1"/>
              </p:cNvSpPr>
              <p:nvPr/>
            </p:nvSpPr>
            <p:spPr bwMode="auto">
              <a:xfrm>
                <a:off x="8151195" y="2197966"/>
                <a:ext cx="359818" cy="412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zh-CN" altLang="en-US" sz="2000" b="1" i="1" dirty="0">
                    <a:solidFill>
                      <a:srgbClr val="0000CC"/>
                    </a:solidFill>
                    <a:ea typeface="幼圆" panose="02010509060101010101" pitchFamily="49" charset="-122"/>
                    <a:cs typeface="Times New Roman" panose="02020603050405020304" pitchFamily="18" charset="0"/>
                    <a:sym typeface="Symbol"/>
                  </a:rPr>
                  <a:t></a:t>
                </a:r>
                <a:endParaRPr lang="zh-CN" altLang="en-US" sz="2000" b="1" baseline="-25000" dirty="0">
                  <a:solidFill>
                    <a:srgbClr val="0000CC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41" name="Line 42"/>
              <p:cNvSpPr>
                <a:spLocks noChangeShapeType="1"/>
              </p:cNvSpPr>
              <p:nvPr/>
            </p:nvSpPr>
            <p:spPr bwMode="auto">
              <a:xfrm flipV="1">
                <a:off x="5015375" y="2273300"/>
                <a:ext cx="3443909" cy="1017488"/>
              </a:xfrm>
              <a:prstGeom prst="line">
                <a:avLst/>
              </a:prstGeom>
              <a:noFill/>
              <a:ln w="12700">
                <a:solidFill>
                  <a:srgbClr val="0000C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2000" b="1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2" name="直接连接符 71"/>
              <p:cNvCxnSpPr>
                <a:cxnSpLocks noChangeShapeType="1"/>
              </p:cNvCxnSpPr>
              <p:nvPr/>
            </p:nvCxnSpPr>
            <p:spPr bwMode="auto">
              <a:xfrm>
                <a:off x="7677461" y="2560438"/>
                <a:ext cx="560586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3" name="弧形 142"/>
              <p:cNvSpPr/>
              <p:nvPr/>
            </p:nvSpPr>
            <p:spPr bwMode="auto">
              <a:xfrm rot="2357617">
                <a:off x="7858671" y="2370102"/>
                <a:ext cx="262042" cy="226842"/>
              </a:xfrm>
              <a:prstGeom prst="arc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/>
            </p:spPr>
            <p:txBody>
              <a:bodyPr/>
              <a:lstStyle/>
              <a:p>
                <a:pPr defTabSz="786742">
                  <a:defRPr/>
                </a:pPr>
                <a:endParaRPr lang="zh-CN" altLang="en-US" sz="2000" b="1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014023" y="1694012"/>
            <a:ext cx="2691701" cy="1593886"/>
            <a:chOff x="5014023" y="1694012"/>
            <a:chExt cx="2691701" cy="1593886"/>
          </a:xfrm>
        </p:grpSpPr>
        <p:sp>
          <p:nvSpPr>
            <p:cNvPr id="148" name="Text Box 9"/>
            <p:cNvSpPr txBox="1">
              <a:spLocks noChangeArrowheads="1"/>
            </p:cNvSpPr>
            <p:nvPr/>
          </p:nvSpPr>
          <p:spPr bwMode="auto">
            <a:xfrm>
              <a:off x="7173737" y="1923334"/>
              <a:ext cx="531987" cy="412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000" b="1" i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/>
                </a:rPr>
                <a:t></a:t>
              </a:r>
              <a:r>
                <a:rPr lang="zh-CN" altLang="en-US" sz="20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/>
                </a:rPr>
                <a:t></a:t>
              </a:r>
              <a:endParaRPr lang="zh-CN" altLang="en-US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6" name="Line 42"/>
            <p:cNvSpPr>
              <a:spLocks noChangeShapeType="1"/>
            </p:cNvSpPr>
            <p:nvPr/>
          </p:nvSpPr>
          <p:spPr bwMode="auto">
            <a:xfrm flipV="1">
              <a:off x="5014023" y="1986280"/>
              <a:ext cx="2332312" cy="1301618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8" name="直接连接符 71"/>
            <p:cNvCxnSpPr>
              <a:cxnSpLocks noChangeShapeType="1"/>
            </p:cNvCxnSpPr>
            <p:nvPr/>
          </p:nvCxnSpPr>
          <p:spPr bwMode="auto">
            <a:xfrm>
              <a:off x="6810533" y="2294526"/>
              <a:ext cx="48888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9" name="弧形 138"/>
            <p:cNvSpPr/>
            <p:nvPr/>
          </p:nvSpPr>
          <p:spPr bwMode="auto">
            <a:xfrm rot="2357617">
              <a:off x="6908485" y="2088318"/>
              <a:ext cx="272472" cy="235967"/>
            </a:xfrm>
            <a:prstGeom prst="arc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/>
          </p:spPr>
          <p:txBody>
            <a:bodyPr/>
            <a:lstStyle/>
            <a:p>
              <a:pPr defTabSz="786742"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" name="Text Box 9"/>
            <p:cNvSpPr txBox="1">
              <a:spLocks noChangeArrowheads="1"/>
            </p:cNvSpPr>
            <p:nvPr/>
          </p:nvSpPr>
          <p:spPr bwMode="auto">
            <a:xfrm>
              <a:off x="5517812" y="1694012"/>
              <a:ext cx="1634828" cy="414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有效应力</a:t>
              </a:r>
              <a:r>
                <a:rPr lang="en-US" altLang="zh-CN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zh-CN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sz="20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endParaRPr lang="zh-CN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302068" y="2507006"/>
            <a:ext cx="1135514" cy="775678"/>
            <a:chOff x="6302068" y="2507006"/>
            <a:chExt cx="1135514" cy="775678"/>
          </a:xfrm>
        </p:grpSpPr>
        <p:sp>
          <p:nvSpPr>
            <p:cNvPr id="108" name="任意多边形 30"/>
            <p:cNvSpPr>
              <a:spLocks/>
            </p:cNvSpPr>
            <p:nvPr/>
          </p:nvSpPr>
          <p:spPr bwMode="auto">
            <a:xfrm>
              <a:off x="6302068" y="2577389"/>
              <a:ext cx="1135514" cy="705295"/>
            </a:xfrm>
            <a:custGeom>
              <a:avLst/>
              <a:gdLst>
                <a:gd name="T0" fmla="*/ 519521 w 1382928"/>
                <a:gd name="T1" fmla="*/ 856813 h 860424"/>
                <a:gd name="T2" fmla="*/ 1383257 w 1382928"/>
                <a:gd name="T3" fmla="*/ 3961 h 860424"/>
                <a:gd name="T4" fmla="*/ 0 w 1382928"/>
                <a:gd name="T5" fmla="*/ 0 h 860424"/>
                <a:gd name="T6" fmla="*/ 152020 w 1382928"/>
                <a:gd name="T7" fmla="*/ 107991 h 860424"/>
                <a:gd name="T8" fmla="*/ 245478 w 1382928"/>
                <a:gd name="T9" fmla="*/ 180854 h 860424"/>
                <a:gd name="T10" fmla="*/ 319423 w 1382928"/>
                <a:gd name="T11" fmla="*/ 277031 h 860424"/>
                <a:gd name="T12" fmla="*/ 426098 w 1382928"/>
                <a:gd name="T13" fmla="*/ 434837 h 860424"/>
                <a:gd name="T14" fmla="*/ 493166 w 1382928"/>
                <a:gd name="T15" fmla="*/ 610264 h 860424"/>
                <a:gd name="T16" fmla="*/ 528298 w 1382928"/>
                <a:gd name="T17" fmla="*/ 752943 h 860424"/>
                <a:gd name="T18" fmla="*/ 519521 w 1382928"/>
                <a:gd name="T19" fmla="*/ 856813 h 8604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2928" h="860424">
                  <a:moveTo>
                    <a:pt x="519398" y="860424"/>
                  </a:moveTo>
                  <a:lnTo>
                    <a:pt x="1382928" y="3977"/>
                  </a:lnTo>
                  <a:lnTo>
                    <a:pt x="0" y="0"/>
                  </a:lnTo>
                  <a:lnTo>
                    <a:pt x="151985" y="108447"/>
                  </a:lnTo>
                  <a:cubicBezTo>
                    <a:pt x="176996" y="133860"/>
                    <a:pt x="220408" y="156203"/>
                    <a:pt x="245419" y="181616"/>
                  </a:cubicBezTo>
                  <a:lnTo>
                    <a:pt x="319348" y="278199"/>
                  </a:lnTo>
                  <a:lnTo>
                    <a:pt x="425996" y="436670"/>
                  </a:lnTo>
                  <a:lnTo>
                    <a:pt x="493049" y="612837"/>
                  </a:lnTo>
                  <a:lnTo>
                    <a:pt x="528172" y="756116"/>
                  </a:lnTo>
                  <a:lnTo>
                    <a:pt x="519398" y="860424"/>
                  </a:lnTo>
                  <a:close/>
                </a:path>
              </a:pathLst>
            </a:custGeom>
            <a:pattFill prst="ltHorz">
              <a:fgClr>
                <a:srgbClr val="0000CC"/>
              </a:fgClr>
              <a:bgClr>
                <a:schemeClr val="bg1"/>
              </a:bgClr>
            </a:pattFill>
            <a:ln>
              <a:noFill/>
            </a:ln>
          </p:spPr>
          <p:txBody>
            <a:bodyPr/>
            <a:lstStyle/>
            <a:p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6313801" y="2507006"/>
              <a:ext cx="1112047" cy="417871"/>
              <a:chOff x="6313801" y="2507006"/>
              <a:chExt cx="1112047" cy="417871"/>
            </a:xfrm>
          </p:grpSpPr>
          <p:sp>
            <p:nvSpPr>
              <p:cNvPr id="145" name="Text Box 9"/>
              <p:cNvSpPr txBox="1">
                <a:spLocks noChangeArrowheads="1"/>
              </p:cNvSpPr>
              <p:nvPr/>
            </p:nvSpPr>
            <p:spPr bwMode="auto">
              <a:xfrm>
                <a:off x="6664345" y="2507006"/>
                <a:ext cx="469404" cy="417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i="1" dirty="0" smtClean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u</a:t>
                </a:r>
                <a:r>
                  <a:rPr lang="en-US" altLang="zh-CN" sz="2000" b="1" baseline="-25000" dirty="0" smtClean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2</a:t>
                </a:r>
                <a:endParaRPr lang="zh-CN" altLang="en-US" sz="20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cxnSp>
            <p:nvCxnSpPr>
              <p:cNvPr id="154" name="直接箭头连接符 5"/>
              <p:cNvCxnSpPr>
                <a:cxnSpLocks noChangeShapeType="1"/>
              </p:cNvCxnSpPr>
              <p:nvPr/>
            </p:nvCxnSpPr>
            <p:spPr bwMode="auto">
              <a:xfrm flipH="1">
                <a:off x="6313801" y="2573473"/>
                <a:ext cx="1112047" cy="0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8" name="组合 17"/>
          <p:cNvGrpSpPr/>
          <p:nvPr/>
        </p:nvGrpSpPr>
        <p:grpSpPr>
          <a:xfrm>
            <a:off x="5883085" y="2311432"/>
            <a:ext cx="848447" cy="973841"/>
            <a:chOff x="5883085" y="2311432"/>
            <a:chExt cx="848447" cy="973841"/>
          </a:xfrm>
        </p:grpSpPr>
        <p:grpSp>
          <p:nvGrpSpPr>
            <p:cNvPr id="14" name="组合 13"/>
            <p:cNvGrpSpPr/>
            <p:nvPr/>
          </p:nvGrpSpPr>
          <p:grpSpPr>
            <a:xfrm>
              <a:off x="5883085" y="2311432"/>
              <a:ext cx="848447" cy="973841"/>
              <a:chOff x="5883085" y="2311432"/>
              <a:chExt cx="848447" cy="973841"/>
            </a:xfrm>
          </p:grpSpPr>
          <p:sp>
            <p:nvSpPr>
              <p:cNvPr id="151" name="Text Box 12"/>
              <p:cNvSpPr txBox="1">
                <a:spLocks noChangeArrowheads="1"/>
              </p:cNvSpPr>
              <p:nvPr/>
            </p:nvSpPr>
            <p:spPr bwMode="auto">
              <a:xfrm>
                <a:off x="5883085" y="2311432"/>
                <a:ext cx="370614" cy="446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C</a:t>
                </a:r>
              </a:p>
            </p:txBody>
          </p:sp>
          <p:sp>
            <p:nvSpPr>
              <p:cNvPr id="161" name="任意多边形 160"/>
              <p:cNvSpPr/>
              <p:nvPr/>
            </p:nvSpPr>
            <p:spPr bwMode="auto">
              <a:xfrm>
                <a:off x="6319157" y="2586873"/>
                <a:ext cx="412375" cy="698400"/>
              </a:xfrm>
              <a:custGeom>
                <a:avLst/>
                <a:gdLst>
                  <a:gd name="connsiteX0" fmla="*/ 443524 w 443524"/>
                  <a:gd name="connsiteY0" fmla="*/ 713154 h 713154"/>
                  <a:gd name="connsiteX1" fmla="*/ 422031 w 443524"/>
                  <a:gd name="connsiteY1" fmla="*/ 554892 h 713154"/>
                  <a:gd name="connsiteX2" fmla="*/ 375139 w 443524"/>
                  <a:gd name="connsiteY2" fmla="*/ 406400 h 713154"/>
                  <a:gd name="connsiteX3" fmla="*/ 296985 w 443524"/>
                  <a:gd name="connsiteY3" fmla="*/ 263769 h 713154"/>
                  <a:gd name="connsiteX4" fmla="*/ 171939 w 443524"/>
                  <a:gd name="connsiteY4" fmla="*/ 125046 h 713154"/>
                  <a:gd name="connsiteX5" fmla="*/ 60570 w 443524"/>
                  <a:gd name="connsiteY5" fmla="*/ 42985 h 713154"/>
                  <a:gd name="connsiteX6" fmla="*/ 0 w 443524"/>
                  <a:gd name="connsiteY6" fmla="*/ 0 h 713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3524" h="713154">
                    <a:moveTo>
                      <a:pt x="443524" y="713154"/>
                    </a:moveTo>
                    <a:cubicBezTo>
                      <a:pt x="438476" y="659586"/>
                      <a:pt x="433429" y="606018"/>
                      <a:pt x="422031" y="554892"/>
                    </a:cubicBezTo>
                    <a:cubicBezTo>
                      <a:pt x="410633" y="503766"/>
                      <a:pt x="395980" y="454920"/>
                      <a:pt x="375139" y="406400"/>
                    </a:cubicBezTo>
                    <a:cubicBezTo>
                      <a:pt x="354298" y="357880"/>
                      <a:pt x="330852" y="310661"/>
                      <a:pt x="296985" y="263769"/>
                    </a:cubicBezTo>
                    <a:cubicBezTo>
                      <a:pt x="263118" y="216877"/>
                      <a:pt x="211341" y="161843"/>
                      <a:pt x="171939" y="125046"/>
                    </a:cubicBezTo>
                    <a:cubicBezTo>
                      <a:pt x="132537" y="88249"/>
                      <a:pt x="89226" y="63826"/>
                      <a:pt x="60570" y="42985"/>
                    </a:cubicBezTo>
                    <a:cubicBezTo>
                      <a:pt x="31914" y="22144"/>
                      <a:pt x="15957" y="11072"/>
                      <a:pt x="0" y="0"/>
                    </a:cubicBezTo>
                  </a:path>
                </a:pathLst>
              </a:custGeom>
              <a:noFill/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56" name="椭圆 11"/>
            <p:cNvSpPr>
              <a:spLocks noChangeAspect="1" noChangeArrowheads="1"/>
            </p:cNvSpPr>
            <p:nvPr/>
          </p:nvSpPr>
          <p:spPr bwMode="auto">
            <a:xfrm>
              <a:off x="6267159" y="2548117"/>
              <a:ext cx="54000" cy="540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 b="1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359157" y="2480107"/>
            <a:ext cx="1445314" cy="1247548"/>
            <a:chOff x="6359157" y="2480107"/>
            <a:chExt cx="1445314" cy="1247548"/>
          </a:xfrm>
        </p:grpSpPr>
        <p:grpSp>
          <p:nvGrpSpPr>
            <p:cNvPr id="12" name="组合 11"/>
            <p:cNvGrpSpPr/>
            <p:nvPr/>
          </p:nvGrpSpPr>
          <p:grpSpPr>
            <a:xfrm>
              <a:off x="6359157" y="2480107"/>
              <a:ext cx="1445314" cy="1247548"/>
              <a:chOff x="6359157" y="2480107"/>
              <a:chExt cx="1445314" cy="1247548"/>
            </a:xfrm>
          </p:grpSpPr>
          <p:sp>
            <p:nvSpPr>
              <p:cNvPr id="146" name="Text Box 12"/>
              <p:cNvSpPr txBox="1">
                <a:spLocks noChangeArrowheads="1"/>
              </p:cNvSpPr>
              <p:nvPr/>
            </p:nvSpPr>
            <p:spPr bwMode="auto">
              <a:xfrm>
                <a:off x="6630596" y="3281379"/>
                <a:ext cx="813043" cy="446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zh-CN" sz="2000" b="1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r>
                  <a:rPr lang="en-US" altLang="zh-CN" sz="20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zh-CN" altLang="en-US" sz="20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</a:t>
                </a:r>
                <a:r>
                  <a:rPr lang="en-US" altLang="zh-CN" sz="2000" b="1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endPara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cxnSp>
            <p:nvCxnSpPr>
              <p:cNvPr id="147" name="直接连接符 27"/>
              <p:cNvCxnSpPr>
                <a:cxnSpLocks noChangeShapeType="1"/>
                <a:endCxn id="162" idx="3"/>
              </p:cNvCxnSpPr>
              <p:nvPr/>
            </p:nvCxnSpPr>
            <p:spPr bwMode="auto">
              <a:xfrm flipV="1">
                <a:off x="6725766" y="2590014"/>
                <a:ext cx="695586" cy="699188"/>
              </a:xfrm>
              <a:prstGeom prst="line">
                <a:avLst/>
              </a:prstGeom>
              <a:noFill/>
              <a:ln w="9525" algn="ctr">
                <a:solidFill>
                  <a:srgbClr val="0000CC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9" name="Text Box 12"/>
              <p:cNvSpPr txBox="1">
                <a:spLocks noChangeArrowheads="1"/>
              </p:cNvSpPr>
              <p:nvPr/>
            </p:nvSpPr>
            <p:spPr bwMode="auto">
              <a:xfrm>
                <a:off x="6359157" y="2927402"/>
                <a:ext cx="370614" cy="446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</a:p>
            </p:txBody>
          </p:sp>
          <p:sp>
            <p:nvSpPr>
              <p:cNvPr id="150" name="Text Box 12"/>
              <p:cNvSpPr txBox="1">
                <a:spLocks noChangeArrowheads="1"/>
              </p:cNvSpPr>
              <p:nvPr/>
            </p:nvSpPr>
            <p:spPr bwMode="auto">
              <a:xfrm>
                <a:off x="7448283" y="2480107"/>
                <a:ext cx="356188" cy="446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</a:p>
            </p:txBody>
          </p:sp>
        </p:grpSp>
        <p:sp>
          <p:nvSpPr>
            <p:cNvPr id="162" name="椭圆 11"/>
            <p:cNvSpPr>
              <a:spLocks noChangeAspect="1" noChangeArrowheads="1"/>
            </p:cNvSpPr>
            <p:nvPr/>
          </p:nvSpPr>
          <p:spPr bwMode="auto">
            <a:xfrm>
              <a:off x="7413444" y="2543922"/>
              <a:ext cx="54000" cy="540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 b="1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</p:spTree>
    <p:extLst>
      <p:ext uri="{BB962C8B-B14F-4D97-AF65-F5344CB8AC3E}">
        <p14:creationId xmlns:p14="http://schemas.microsoft.com/office/powerpoint/2010/main" val="27634017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43263" y="5878513"/>
            <a:ext cx="41449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固结不排水试验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838687" y="1525671"/>
            <a:ext cx="3473450" cy="3311525"/>
            <a:chOff x="176" y="1455"/>
            <a:chExt cx="2188" cy="2086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76" y="1663"/>
              <a:ext cx="0" cy="17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176" y="3026"/>
              <a:ext cx="21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87" y="1455"/>
              <a:ext cx="54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zh-CN" altLang="en-US" sz="2400" b="1" baseline="-25000" dirty="0" smtClean="0">
                  <a:cs typeface="Times New Roman" panose="02020603050405020304" pitchFamily="18" charset="0"/>
                  <a:sym typeface="Symbol" pitchFamily="18" charset="2"/>
                </a:rPr>
                <a:t></a:t>
              </a:r>
              <a:r>
                <a:rPr kumimoji="1" lang="en-US" altLang="zh-CN" sz="2400" b="1" dirty="0" smtClean="0">
                  <a:cs typeface="Times New Roman" panose="02020603050405020304" pitchFamily="18" charset="0"/>
                  <a:sym typeface="Symbol" pitchFamily="18" charset="2"/>
                </a:rPr>
                <a:t>-</a:t>
              </a:r>
              <a:r>
                <a:rPr kumimoji="1" lang="zh-CN" altLang="en-US" sz="24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zh-CN" altLang="en-US" sz="2400" b="1" baseline="-25000" dirty="0" smtClean="0">
                  <a:cs typeface="Times New Roman" panose="02020603050405020304" pitchFamily="18" charset="0"/>
                  <a:sym typeface="Symbol" pitchFamily="18" charset="2"/>
                </a:rPr>
                <a:t></a:t>
              </a:r>
              <a:endParaRPr kumimoji="1" lang="zh-CN" altLang="en-US" sz="2400" b="1" baseline="-25000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2098" y="2943"/>
              <a:ext cx="26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</a:t>
              </a:r>
              <a:r>
                <a:rPr kumimoji="1" lang="zh-CN" altLang="en-US" sz="2400" b="1" baseline="-25000" dirty="0">
                  <a:cs typeface="Times New Roman" panose="02020603050405020304" pitchFamily="18" charset="0"/>
                  <a:sym typeface="Symbol" pitchFamily="18" charset="2"/>
                </a:rPr>
                <a:t>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195" y="3250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ym typeface="Symbol" pitchFamily="18" charset="2"/>
                </a:rPr>
                <a:t>u</a:t>
              </a:r>
              <a:endParaRPr kumimoji="1" lang="en-US" altLang="zh-CN" sz="2400" b="1" i="1" baseline="-25000" dirty="0">
                <a:sym typeface="Symbol" pitchFamily="18" charset="2"/>
              </a:endParaRPr>
            </a:p>
          </p:txBody>
        </p:sp>
      </p:grpSp>
      <p:grpSp>
        <p:nvGrpSpPr>
          <p:cNvPr id="20" name="Group 17"/>
          <p:cNvGrpSpPr>
            <a:grpSpLocks/>
          </p:cNvGrpSpPr>
          <p:nvPr/>
        </p:nvGrpSpPr>
        <p:grpSpPr bwMode="auto">
          <a:xfrm>
            <a:off x="848211" y="2727408"/>
            <a:ext cx="3184525" cy="1395413"/>
            <a:chOff x="182" y="2212"/>
            <a:chExt cx="2006" cy="879"/>
          </a:xfrm>
        </p:grpSpPr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185" y="2284"/>
              <a:ext cx="1892" cy="734"/>
            </a:xfrm>
            <a:custGeom>
              <a:avLst/>
              <a:gdLst>
                <a:gd name="T0" fmla="*/ 0 w 1933"/>
                <a:gd name="T1" fmla="*/ 546 h 546"/>
                <a:gd name="T2" fmla="*/ 73 w 1933"/>
                <a:gd name="T3" fmla="*/ 392 h 546"/>
                <a:gd name="T4" fmla="*/ 169 w 1933"/>
                <a:gd name="T5" fmla="*/ 236 h 546"/>
                <a:gd name="T6" fmla="*/ 307 w 1933"/>
                <a:gd name="T7" fmla="*/ 66 h 546"/>
                <a:gd name="T8" fmla="*/ 419 w 1933"/>
                <a:gd name="T9" fmla="*/ 2 h 546"/>
                <a:gd name="T10" fmla="*/ 573 w 1933"/>
                <a:gd name="T11" fmla="*/ 79 h 546"/>
                <a:gd name="T12" fmla="*/ 774 w 1933"/>
                <a:gd name="T13" fmla="*/ 172 h 546"/>
                <a:gd name="T14" fmla="*/ 1037 w 1933"/>
                <a:gd name="T15" fmla="*/ 245 h 546"/>
                <a:gd name="T16" fmla="*/ 1385 w 1933"/>
                <a:gd name="T17" fmla="*/ 296 h 546"/>
                <a:gd name="T18" fmla="*/ 1933 w 1933"/>
                <a:gd name="T19" fmla="*/ 296 h 5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33"/>
                <a:gd name="T31" fmla="*/ 0 h 546"/>
                <a:gd name="T32" fmla="*/ 1933 w 1933"/>
                <a:gd name="T33" fmla="*/ 546 h 546"/>
                <a:gd name="connsiteX0" fmla="*/ 0 w 7165"/>
                <a:gd name="connsiteY0" fmla="*/ 9965 h 9965"/>
                <a:gd name="connsiteX1" fmla="*/ 378 w 7165"/>
                <a:gd name="connsiteY1" fmla="*/ 7144 h 9965"/>
                <a:gd name="connsiteX2" fmla="*/ 874 w 7165"/>
                <a:gd name="connsiteY2" fmla="*/ 4287 h 9965"/>
                <a:gd name="connsiteX3" fmla="*/ 1588 w 7165"/>
                <a:gd name="connsiteY3" fmla="*/ 1174 h 9965"/>
                <a:gd name="connsiteX4" fmla="*/ 2168 w 7165"/>
                <a:gd name="connsiteY4" fmla="*/ 2 h 9965"/>
                <a:gd name="connsiteX5" fmla="*/ 2964 w 7165"/>
                <a:gd name="connsiteY5" fmla="*/ 1412 h 9965"/>
                <a:gd name="connsiteX6" fmla="*/ 4004 w 7165"/>
                <a:gd name="connsiteY6" fmla="*/ 3115 h 9965"/>
                <a:gd name="connsiteX7" fmla="*/ 5365 w 7165"/>
                <a:gd name="connsiteY7" fmla="*/ 4452 h 9965"/>
                <a:gd name="connsiteX8" fmla="*/ 7165 w 7165"/>
                <a:gd name="connsiteY8" fmla="*/ 5386 h 9965"/>
                <a:gd name="connsiteX0" fmla="*/ 0 w 7488"/>
                <a:gd name="connsiteY0" fmla="*/ 10000 h 10000"/>
                <a:gd name="connsiteX1" fmla="*/ 528 w 7488"/>
                <a:gd name="connsiteY1" fmla="*/ 7169 h 10000"/>
                <a:gd name="connsiteX2" fmla="*/ 1220 w 7488"/>
                <a:gd name="connsiteY2" fmla="*/ 4302 h 10000"/>
                <a:gd name="connsiteX3" fmla="*/ 2216 w 7488"/>
                <a:gd name="connsiteY3" fmla="*/ 1178 h 10000"/>
                <a:gd name="connsiteX4" fmla="*/ 3026 w 7488"/>
                <a:gd name="connsiteY4" fmla="*/ 2 h 10000"/>
                <a:gd name="connsiteX5" fmla="*/ 4137 w 7488"/>
                <a:gd name="connsiteY5" fmla="*/ 1417 h 10000"/>
                <a:gd name="connsiteX6" fmla="*/ 5588 w 7488"/>
                <a:gd name="connsiteY6" fmla="*/ 3126 h 10000"/>
                <a:gd name="connsiteX7" fmla="*/ 7488 w 7488"/>
                <a:gd name="connsiteY7" fmla="*/ 4468 h 10000"/>
                <a:gd name="connsiteX0" fmla="*/ 0 w 10000"/>
                <a:gd name="connsiteY0" fmla="*/ 10286 h 10286"/>
                <a:gd name="connsiteX1" fmla="*/ 705 w 10000"/>
                <a:gd name="connsiteY1" fmla="*/ 7455 h 10286"/>
                <a:gd name="connsiteX2" fmla="*/ 1629 w 10000"/>
                <a:gd name="connsiteY2" fmla="*/ 4588 h 10286"/>
                <a:gd name="connsiteX3" fmla="*/ 2959 w 10000"/>
                <a:gd name="connsiteY3" fmla="*/ 1464 h 10286"/>
                <a:gd name="connsiteX4" fmla="*/ 4041 w 10000"/>
                <a:gd name="connsiteY4" fmla="*/ 288 h 10286"/>
                <a:gd name="connsiteX5" fmla="*/ 6271 w 10000"/>
                <a:gd name="connsiteY5" fmla="*/ 274 h 10286"/>
                <a:gd name="connsiteX6" fmla="*/ 7463 w 10000"/>
                <a:gd name="connsiteY6" fmla="*/ 3412 h 10286"/>
                <a:gd name="connsiteX7" fmla="*/ 10000 w 10000"/>
                <a:gd name="connsiteY7" fmla="*/ 4754 h 10286"/>
                <a:gd name="connsiteX0" fmla="*/ 0 w 10000"/>
                <a:gd name="connsiteY0" fmla="*/ 10232 h 10232"/>
                <a:gd name="connsiteX1" fmla="*/ 705 w 10000"/>
                <a:gd name="connsiteY1" fmla="*/ 7401 h 10232"/>
                <a:gd name="connsiteX2" fmla="*/ 1629 w 10000"/>
                <a:gd name="connsiteY2" fmla="*/ 4534 h 10232"/>
                <a:gd name="connsiteX3" fmla="*/ 2959 w 10000"/>
                <a:gd name="connsiteY3" fmla="*/ 1410 h 10232"/>
                <a:gd name="connsiteX4" fmla="*/ 4041 w 10000"/>
                <a:gd name="connsiteY4" fmla="*/ 234 h 10232"/>
                <a:gd name="connsiteX5" fmla="*/ 6271 w 10000"/>
                <a:gd name="connsiteY5" fmla="*/ 220 h 10232"/>
                <a:gd name="connsiteX6" fmla="*/ 8209 w 10000"/>
                <a:gd name="connsiteY6" fmla="*/ 2554 h 10232"/>
                <a:gd name="connsiteX7" fmla="*/ 10000 w 10000"/>
                <a:gd name="connsiteY7" fmla="*/ 4700 h 10232"/>
                <a:gd name="connsiteX0" fmla="*/ 0 w 11361"/>
                <a:gd name="connsiteY0" fmla="*/ 10232 h 10232"/>
                <a:gd name="connsiteX1" fmla="*/ 705 w 11361"/>
                <a:gd name="connsiteY1" fmla="*/ 7401 h 10232"/>
                <a:gd name="connsiteX2" fmla="*/ 1629 w 11361"/>
                <a:gd name="connsiteY2" fmla="*/ 4534 h 10232"/>
                <a:gd name="connsiteX3" fmla="*/ 2959 w 11361"/>
                <a:gd name="connsiteY3" fmla="*/ 1410 h 10232"/>
                <a:gd name="connsiteX4" fmla="*/ 4041 w 11361"/>
                <a:gd name="connsiteY4" fmla="*/ 234 h 10232"/>
                <a:gd name="connsiteX5" fmla="*/ 6271 w 11361"/>
                <a:gd name="connsiteY5" fmla="*/ 220 h 10232"/>
                <a:gd name="connsiteX6" fmla="*/ 8209 w 11361"/>
                <a:gd name="connsiteY6" fmla="*/ 2554 h 10232"/>
                <a:gd name="connsiteX7" fmla="*/ 11361 w 11361"/>
                <a:gd name="connsiteY7" fmla="*/ 4879 h 10232"/>
                <a:gd name="connsiteX0" fmla="*/ 0 w 11361"/>
                <a:gd name="connsiteY0" fmla="*/ 10025 h 10025"/>
                <a:gd name="connsiteX1" fmla="*/ 705 w 11361"/>
                <a:gd name="connsiteY1" fmla="*/ 7194 h 10025"/>
                <a:gd name="connsiteX2" fmla="*/ 1629 w 11361"/>
                <a:gd name="connsiteY2" fmla="*/ 4327 h 10025"/>
                <a:gd name="connsiteX3" fmla="*/ 2959 w 11361"/>
                <a:gd name="connsiteY3" fmla="*/ 1203 h 10025"/>
                <a:gd name="connsiteX4" fmla="*/ 4041 w 11361"/>
                <a:gd name="connsiteY4" fmla="*/ 27 h 10025"/>
                <a:gd name="connsiteX5" fmla="*/ 6359 w 11361"/>
                <a:gd name="connsiteY5" fmla="*/ 549 h 10025"/>
                <a:gd name="connsiteX6" fmla="*/ 8209 w 11361"/>
                <a:gd name="connsiteY6" fmla="*/ 2347 h 10025"/>
                <a:gd name="connsiteX7" fmla="*/ 11361 w 11361"/>
                <a:gd name="connsiteY7" fmla="*/ 4672 h 10025"/>
                <a:gd name="connsiteX0" fmla="*/ 0 w 11361"/>
                <a:gd name="connsiteY0" fmla="*/ 10457 h 10457"/>
                <a:gd name="connsiteX1" fmla="*/ 705 w 11361"/>
                <a:gd name="connsiteY1" fmla="*/ 7626 h 10457"/>
                <a:gd name="connsiteX2" fmla="*/ 1629 w 11361"/>
                <a:gd name="connsiteY2" fmla="*/ 4759 h 10457"/>
                <a:gd name="connsiteX3" fmla="*/ 2959 w 11361"/>
                <a:gd name="connsiteY3" fmla="*/ 1635 h 10457"/>
                <a:gd name="connsiteX4" fmla="*/ 5094 w 11361"/>
                <a:gd name="connsiteY4" fmla="*/ 12 h 10457"/>
                <a:gd name="connsiteX5" fmla="*/ 6359 w 11361"/>
                <a:gd name="connsiteY5" fmla="*/ 981 h 10457"/>
                <a:gd name="connsiteX6" fmla="*/ 8209 w 11361"/>
                <a:gd name="connsiteY6" fmla="*/ 2779 h 10457"/>
                <a:gd name="connsiteX7" fmla="*/ 11361 w 11361"/>
                <a:gd name="connsiteY7" fmla="*/ 5104 h 10457"/>
                <a:gd name="connsiteX0" fmla="*/ 0 w 11361"/>
                <a:gd name="connsiteY0" fmla="*/ 10634 h 10634"/>
                <a:gd name="connsiteX1" fmla="*/ 705 w 11361"/>
                <a:gd name="connsiteY1" fmla="*/ 7803 h 10634"/>
                <a:gd name="connsiteX2" fmla="*/ 1629 w 11361"/>
                <a:gd name="connsiteY2" fmla="*/ 4936 h 10634"/>
                <a:gd name="connsiteX3" fmla="*/ 2959 w 11361"/>
                <a:gd name="connsiteY3" fmla="*/ 1812 h 10634"/>
                <a:gd name="connsiteX4" fmla="*/ 4787 w 11361"/>
                <a:gd name="connsiteY4" fmla="*/ 10 h 10634"/>
                <a:gd name="connsiteX5" fmla="*/ 6359 w 11361"/>
                <a:gd name="connsiteY5" fmla="*/ 1158 h 10634"/>
                <a:gd name="connsiteX6" fmla="*/ 8209 w 11361"/>
                <a:gd name="connsiteY6" fmla="*/ 2956 h 10634"/>
                <a:gd name="connsiteX7" fmla="*/ 11361 w 11361"/>
                <a:gd name="connsiteY7" fmla="*/ 5281 h 10634"/>
                <a:gd name="connsiteX0" fmla="*/ 0 w 11668"/>
                <a:gd name="connsiteY0" fmla="*/ 10634 h 10634"/>
                <a:gd name="connsiteX1" fmla="*/ 705 w 11668"/>
                <a:gd name="connsiteY1" fmla="*/ 7803 h 10634"/>
                <a:gd name="connsiteX2" fmla="*/ 1629 w 11668"/>
                <a:gd name="connsiteY2" fmla="*/ 4936 h 10634"/>
                <a:gd name="connsiteX3" fmla="*/ 2959 w 11668"/>
                <a:gd name="connsiteY3" fmla="*/ 1812 h 10634"/>
                <a:gd name="connsiteX4" fmla="*/ 4787 w 11668"/>
                <a:gd name="connsiteY4" fmla="*/ 10 h 10634"/>
                <a:gd name="connsiteX5" fmla="*/ 6359 w 11668"/>
                <a:gd name="connsiteY5" fmla="*/ 1158 h 10634"/>
                <a:gd name="connsiteX6" fmla="*/ 8209 w 11668"/>
                <a:gd name="connsiteY6" fmla="*/ 2956 h 10634"/>
                <a:gd name="connsiteX7" fmla="*/ 11668 w 11668"/>
                <a:gd name="connsiteY7" fmla="*/ 4477 h 10634"/>
                <a:gd name="connsiteX0" fmla="*/ 0 w 11668"/>
                <a:gd name="connsiteY0" fmla="*/ 10635 h 10635"/>
                <a:gd name="connsiteX1" fmla="*/ 705 w 11668"/>
                <a:gd name="connsiteY1" fmla="*/ 7804 h 10635"/>
                <a:gd name="connsiteX2" fmla="*/ 1629 w 11668"/>
                <a:gd name="connsiteY2" fmla="*/ 4937 h 10635"/>
                <a:gd name="connsiteX3" fmla="*/ 2959 w 11668"/>
                <a:gd name="connsiteY3" fmla="*/ 1813 h 10635"/>
                <a:gd name="connsiteX4" fmla="*/ 4787 w 11668"/>
                <a:gd name="connsiteY4" fmla="*/ 11 h 10635"/>
                <a:gd name="connsiteX5" fmla="*/ 6359 w 11668"/>
                <a:gd name="connsiteY5" fmla="*/ 1159 h 10635"/>
                <a:gd name="connsiteX6" fmla="*/ 8867 w 11668"/>
                <a:gd name="connsiteY6" fmla="*/ 3225 h 10635"/>
                <a:gd name="connsiteX7" fmla="*/ 11668 w 11668"/>
                <a:gd name="connsiteY7" fmla="*/ 4478 h 10635"/>
                <a:gd name="connsiteX0" fmla="*/ 0 w 11668"/>
                <a:gd name="connsiteY0" fmla="*/ 10632 h 10632"/>
                <a:gd name="connsiteX1" fmla="*/ 705 w 11668"/>
                <a:gd name="connsiteY1" fmla="*/ 7801 h 10632"/>
                <a:gd name="connsiteX2" fmla="*/ 1629 w 11668"/>
                <a:gd name="connsiteY2" fmla="*/ 4934 h 10632"/>
                <a:gd name="connsiteX3" fmla="*/ 2959 w 11668"/>
                <a:gd name="connsiteY3" fmla="*/ 1810 h 10632"/>
                <a:gd name="connsiteX4" fmla="*/ 4787 w 11668"/>
                <a:gd name="connsiteY4" fmla="*/ 8 h 10632"/>
                <a:gd name="connsiteX5" fmla="*/ 6710 w 11668"/>
                <a:gd name="connsiteY5" fmla="*/ 1245 h 10632"/>
                <a:gd name="connsiteX6" fmla="*/ 8867 w 11668"/>
                <a:gd name="connsiteY6" fmla="*/ 3222 h 10632"/>
                <a:gd name="connsiteX7" fmla="*/ 11668 w 11668"/>
                <a:gd name="connsiteY7" fmla="*/ 4475 h 10632"/>
                <a:gd name="connsiteX0" fmla="*/ 0 w 11668"/>
                <a:gd name="connsiteY0" fmla="*/ 10632 h 10632"/>
                <a:gd name="connsiteX1" fmla="*/ 705 w 11668"/>
                <a:gd name="connsiteY1" fmla="*/ 7801 h 10632"/>
                <a:gd name="connsiteX2" fmla="*/ 1629 w 11668"/>
                <a:gd name="connsiteY2" fmla="*/ 4934 h 10632"/>
                <a:gd name="connsiteX3" fmla="*/ 2959 w 11668"/>
                <a:gd name="connsiteY3" fmla="*/ 1810 h 10632"/>
                <a:gd name="connsiteX4" fmla="*/ 4787 w 11668"/>
                <a:gd name="connsiteY4" fmla="*/ 8 h 10632"/>
                <a:gd name="connsiteX5" fmla="*/ 6710 w 11668"/>
                <a:gd name="connsiteY5" fmla="*/ 1245 h 10632"/>
                <a:gd name="connsiteX6" fmla="*/ 8719 w 11668"/>
                <a:gd name="connsiteY6" fmla="*/ 2865 h 10632"/>
                <a:gd name="connsiteX7" fmla="*/ 11668 w 11668"/>
                <a:gd name="connsiteY7" fmla="*/ 4475 h 10632"/>
                <a:gd name="connsiteX0" fmla="*/ 0 w 11668"/>
                <a:gd name="connsiteY0" fmla="*/ 10721 h 10721"/>
                <a:gd name="connsiteX1" fmla="*/ 705 w 11668"/>
                <a:gd name="connsiteY1" fmla="*/ 7890 h 10721"/>
                <a:gd name="connsiteX2" fmla="*/ 1629 w 11668"/>
                <a:gd name="connsiteY2" fmla="*/ 5023 h 10721"/>
                <a:gd name="connsiteX3" fmla="*/ 2959 w 11668"/>
                <a:gd name="connsiteY3" fmla="*/ 1899 h 10721"/>
                <a:gd name="connsiteX4" fmla="*/ 4787 w 11668"/>
                <a:gd name="connsiteY4" fmla="*/ 97 h 10721"/>
                <a:gd name="connsiteX5" fmla="*/ 6673 w 11668"/>
                <a:gd name="connsiteY5" fmla="*/ 530 h 10721"/>
                <a:gd name="connsiteX6" fmla="*/ 8719 w 11668"/>
                <a:gd name="connsiteY6" fmla="*/ 2954 h 10721"/>
                <a:gd name="connsiteX7" fmla="*/ 11668 w 11668"/>
                <a:gd name="connsiteY7" fmla="*/ 4564 h 10721"/>
                <a:gd name="connsiteX0" fmla="*/ 0 w 11668"/>
                <a:gd name="connsiteY0" fmla="*/ 10710 h 10710"/>
                <a:gd name="connsiteX1" fmla="*/ 705 w 11668"/>
                <a:gd name="connsiteY1" fmla="*/ 7879 h 10710"/>
                <a:gd name="connsiteX2" fmla="*/ 1629 w 11668"/>
                <a:gd name="connsiteY2" fmla="*/ 5012 h 10710"/>
                <a:gd name="connsiteX3" fmla="*/ 2959 w 11668"/>
                <a:gd name="connsiteY3" fmla="*/ 1888 h 10710"/>
                <a:gd name="connsiteX4" fmla="*/ 4787 w 11668"/>
                <a:gd name="connsiteY4" fmla="*/ 86 h 10710"/>
                <a:gd name="connsiteX5" fmla="*/ 6673 w 11668"/>
                <a:gd name="connsiteY5" fmla="*/ 519 h 10710"/>
                <a:gd name="connsiteX6" fmla="*/ 9088 w 11668"/>
                <a:gd name="connsiteY6" fmla="*/ 2496 h 10710"/>
                <a:gd name="connsiteX7" fmla="*/ 11668 w 11668"/>
                <a:gd name="connsiteY7" fmla="*/ 4553 h 10710"/>
                <a:gd name="connsiteX0" fmla="*/ 0 w 11594"/>
                <a:gd name="connsiteY0" fmla="*/ 10710 h 10710"/>
                <a:gd name="connsiteX1" fmla="*/ 705 w 11594"/>
                <a:gd name="connsiteY1" fmla="*/ 7879 h 10710"/>
                <a:gd name="connsiteX2" fmla="*/ 1629 w 11594"/>
                <a:gd name="connsiteY2" fmla="*/ 5012 h 10710"/>
                <a:gd name="connsiteX3" fmla="*/ 2959 w 11594"/>
                <a:gd name="connsiteY3" fmla="*/ 1888 h 10710"/>
                <a:gd name="connsiteX4" fmla="*/ 4787 w 11594"/>
                <a:gd name="connsiteY4" fmla="*/ 86 h 10710"/>
                <a:gd name="connsiteX5" fmla="*/ 6673 w 11594"/>
                <a:gd name="connsiteY5" fmla="*/ 519 h 10710"/>
                <a:gd name="connsiteX6" fmla="*/ 9088 w 11594"/>
                <a:gd name="connsiteY6" fmla="*/ 2496 h 10710"/>
                <a:gd name="connsiteX7" fmla="*/ 11594 w 11594"/>
                <a:gd name="connsiteY7" fmla="*/ 4017 h 10710"/>
                <a:gd name="connsiteX0" fmla="*/ 0 w 10930"/>
                <a:gd name="connsiteY0" fmla="*/ 10710 h 10710"/>
                <a:gd name="connsiteX1" fmla="*/ 705 w 10930"/>
                <a:gd name="connsiteY1" fmla="*/ 7879 h 10710"/>
                <a:gd name="connsiteX2" fmla="*/ 1629 w 10930"/>
                <a:gd name="connsiteY2" fmla="*/ 5012 h 10710"/>
                <a:gd name="connsiteX3" fmla="*/ 2959 w 10930"/>
                <a:gd name="connsiteY3" fmla="*/ 1888 h 10710"/>
                <a:gd name="connsiteX4" fmla="*/ 4787 w 10930"/>
                <a:gd name="connsiteY4" fmla="*/ 86 h 10710"/>
                <a:gd name="connsiteX5" fmla="*/ 6673 w 10930"/>
                <a:gd name="connsiteY5" fmla="*/ 519 h 10710"/>
                <a:gd name="connsiteX6" fmla="*/ 9088 w 10930"/>
                <a:gd name="connsiteY6" fmla="*/ 2496 h 10710"/>
                <a:gd name="connsiteX7" fmla="*/ 10930 w 10930"/>
                <a:gd name="connsiteY7" fmla="*/ 3034 h 10710"/>
                <a:gd name="connsiteX0" fmla="*/ 0 w 10930"/>
                <a:gd name="connsiteY0" fmla="*/ 10696 h 10696"/>
                <a:gd name="connsiteX1" fmla="*/ 705 w 10930"/>
                <a:gd name="connsiteY1" fmla="*/ 7865 h 10696"/>
                <a:gd name="connsiteX2" fmla="*/ 1629 w 10930"/>
                <a:gd name="connsiteY2" fmla="*/ 4998 h 10696"/>
                <a:gd name="connsiteX3" fmla="*/ 2959 w 10930"/>
                <a:gd name="connsiteY3" fmla="*/ 1874 h 10696"/>
                <a:gd name="connsiteX4" fmla="*/ 4787 w 10930"/>
                <a:gd name="connsiteY4" fmla="*/ 72 h 10696"/>
                <a:gd name="connsiteX5" fmla="*/ 6673 w 10930"/>
                <a:gd name="connsiteY5" fmla="*/ 505 h 10696"/>
                <a:gd name="connsiteX6" fmla="*/ 8719 w 10930"/>
                <a:gd name="connsiteY6" fmla="*/ 1856 h 10696"/>
                <a:gd name="connsiteX7" fmla="*/ 10930 w 10930"/>
                <a:gd name="connsiteY7" fmla="*/ 3020 h 10696"/>
                <a:gd name="connsiteX0" fmla="*/ 0 w 10930"/>
                <a:gd name="connsiteY0" fmla="*/ 10739 h 10739"/>
                <a:gd name="connsiteX1" fmla="*/ 705 w 10930"/>
                <a:gd name="connsiteY1" fmla="*/ 7908 h 10739"/>
                <a:gd name="connsiteX2" fmla="*/ 1629 w 10930"/>
                <a:gd name="connsiteY2" fmla="*/ 5041 h 10739"/>
                <a:gd name="connsiteX3" fmla="*/ 2959 w 10930"/>
                <a:gd name="connsiteY3" fmla="*/ 1917 h 10739"/>
                <a:gd name="connsiteX4" fmla="*/ 4787 w 10930"/>
                <a:gd name="connsiteY4" fmla="*/ 115 h 10739"/>
                <a:gd name="connsiteX5" fmla="*/ 6747 w 10930"/>
                <a:gd name="connsiteY5" fmla="*/ 369 h 10739"/>
                <a:gd name="connsiteX6" fmla="*/ 8719 w 10930"/>
                <a:gd name="connsiteY6" fmla="*/ 1899 h 10739"/>
                <a:gd name="connsiteX7" fmla="*/ 10930 w 10930"/>
                <a:gd name="connsiteY7" fmla="*/ 3063 h 10739"/>
                <a:gd name="connsiteX0" fmla="*/ 0 w 10930"/>
                <a:gd name="connsiteY0" fmla="*/ 10737 h 10737"/>
                <a:gd name="connsiteX1" fmla="*/ 705 w 10930"/>
                <a:gd name="connsiteY1" fmla="*/ 7906 h 10737"/>
                <a:gd name="connsiteX2" fmla="*/ 1629 w 10930"/>
                <a:gd name="connsiteY2" fmla="*/ 5039 h 10737"/>
                <a:gd name="connsiteX3" fmla="*/ 2959 w 10930"/>
                <a:gd name="connsiteY3" fmla="*/ 1915 h 10737"/>
                <a:gd name="connsiteX4" fmla="*/ 4787 w 10930"/>
                <a:gd name="connsiteY4" fmla="*/ 113 h 10737"/>
                <a:gd name="connsiteX5" fmla="*/ 6747 w 10930"/>
                <a:gd name="connsiteY5" fmla="*/ 367 h 10737"/>
                <a:gd name="connsiteX6" fmla="*/ 8960 w 10930"/>
                <a:gd name="connsiteY6" fmla="*/ 1808 h 10737"/>
                <a:gd name="connsiteX7" fmla="*/ 10930 w 10930"/>
                <a:gd name="connsiteY7" fmla="*/ 3061 h 10737"/>
                <a:gd name="connsiteX0" fmla="*/ 0 w 10896"/>
                <a:gd name="connsiteY0" fmla="*/ 10737 h 10737"/>
                <a:gd name="connsiteX1" fmla="*/ 705 w 10896"/>
                <a:gd name="connsiteY1" fmla="*/ 7906 h 10737"/>
                <a:gd name="connsiteX2" fmla="*/ 1629 w 10896"/>
                <a:gd name="connsiteY2" fmla="*/ 5039 h 10737"/>
                <a:gd name="connsiteX3" fmla="*/ 2959 w 10896"/>
                <a:gd name="connsiteY3" fmla="*/ 1915 h 10737"/>
                <a:gd name="connsiteX4" fmla="*/ 4787 w 10896"/>
                <a:gd name="connsiteY4" fmla="*/ 113 h 10737"/>
                <a:gd name="connsiteX5" fmla="*/ 6747 w 10896"/>
                <a:gd name="connsiteY5" fmla="*/ 367 h 10737"/>
                <a:gd name="connsiteX6" fmla="*/ 8960 w 10896"/>
                <a:gd name="connsiteY6" fmla="*/ 1808 h 10737"/>
                <a:gd name="connsiteX7" fmla="*/ 10896 w 10896"/>
                <a:gd name="connsiteY7" fmla="*/ 3240 h 10737"/>
                <a:gd name="connsiteX0" fmla="*/ 0 w 10896"/>
                <a:gd name="connsiteY0" fmla="*/ 10737 h 10737"/>
                <a:gd name="connsiteX1" fmla="*/ 705 w 10896"/>
                <a:gd name="connsiteY1" fmla="*/ 7906 h 10737"/>
                <a:gd name="connsiteX2" fmla="*/ 1629 w 10896"/>
                <a:gd name="connsiteY2" fmla="*/ 5039 h 10737"/>
                <a:gd name="connsiteX3" fmla="*/ 2959 w 10896"/>
                <a:gd name="connsiteY3" fmla="*/ 1915 h 10737"/>
                <a:gd name="connsiteX4" fmla="*/ 5131 w 10896"/>
                <a:gd name="connsiteY4" fmla="*/ 113 h 10737"/>
                <a:gd name="connsiteX5" fmla="*/ 6747 w 10896"/>
                <a:gd name="connsiteY5" fmla="*/ 367 h 10737"/>
                <a:gd name="connsiteX6" fmla="*/ 8960 w 10896"/>
                <a:gd name="connsiteY6" fmla="*/ 1808 h 10737"/>
                <a:gd name="connsiteX7" fmla="*/ 10896 w 10896"/>
                <a:gd name="connsiteY7" fmla="*/ 3240 h 10737"/>
                <a:gd name="connsiteX0" fmla="*/ 0 w 10896"/>
                <a:gd name="connsiteY0" fmla="*/ 10968 h 10968"/>
                <a:gd name="connsiteX1" fmla="*/ 705 w 10896"/>
                <a:gd name="connsiteY1" fmla="*/ 8137 h 10968"/>
                <a:gd name="connsiteX2" fmla="*/ 1629 w 10896"/>
                <a:gd name="connsiteY2" fmla="*/ 5270 h 10968"/>
                <a:gd name="connsiteX3" fmla="*/ 2959 w 10896"/>
                <a:gd name="connsiteY3" fmla="*/ 2146 h 10968"/>
                <a:gd name="connsiteX4" fmla="*/ 5097 w 10896"/>
                <a:gd name="connsiteY4" fmla="*/ 76 h 10968"/>
                <a:gd name="connsiteX5" fmla="*/ 6747 w 10896"/>
                <a:gd name="connsiteY5" fmla="*/ 598 h 10968"/>
                <a:gd name="connsiteX6" fmla="*/ 8960 w 10896"/>
                <a:gd name="connsiteY6" fmla="*/ 2039 h 10968"/>
                <a:gd name="connsiteX7" fmla="*/ 10896 w 10896"/>
                <a:gd name="connsiteY7" fmla="*/ 3471 h 10968"/>
                <a:gd name="connsiteX0" fmla="*/ 0 w 10896"/>
                <a:gd name="connsiteY0" fmla="*/ 10941 h 10941"/>
                <a:gd name="connsiteX1" fmla="*/ 705 w 10896"/>
                <a:gd name="connsiteY1" fmla="*/ 8110 h 10941"/>
                <a:gd name="connsiteX2" fmla="*/ 1629 w 10896"/>
                <a:gd name="connsiteY2" fmla="*/ 5243 h 10941"/>
                <a:gd name="connsiteX3" fmla="*/ 3235 w 10896"/>
                <a:gd name="connsiteY3" fmla="*/ 1673 h 10941"/>
                <a:gd name="connsiteX4" fmla="*/ 5097 w 10896"/>
                <a:gd name="connsiteY4" fmla="*/ 49 h 10941"/>
                <a:gd name="connsiteX5" fmla="*/ 6747 w 10896"/>
                <a:gd name="connsiteY5" fmla="*/ 571 h 10941"/>
                <a:gd name="connsiteX6" fmla="*/ 8960 w 10896"/>
                <a:gd name="connsiteY6" fmla="*/ 2012 h 10941"/>
                <a:gd name="connsiteX7" fmla="*/ 10896 w 10896"/>
                <a:gd name="connsiteY7" fmla="*/ 3444 h 10941"/>
                <a:gd name="connsiteX0" fmla="*/ 0 w 10896"/>
                <a:gd name="connsiteY0" fmla="*/ 10920 h 10920"/>
                <a:gd name="connsiteX1" fmla="*/ 705 w 10896"/>
                <a:gd name="connsiteY1" fmla="*/ 8089 h 10920"/>
                <a:gd name="connsiteX2" fmla="*/ 1629 w 10896"/>
                <a:gd name="connsiteY2" fmla="*/ 5222 h 10920"/>
                <a:gd name="connsiteX3" fmla="*/ 3511 w 10896"/>
                <a:gd name="connsiteY3" fmla="*/ 1295 h 10920"/>
                <a:gd name="connsiteX4" fmla="*/ 5097 w 10896"/>
                <a:gd name="connsiteY4" fmla="*/ 28 h 10920"/>
                <a:gd name="connsiteX5" fmla="*/ 6747 w 10896"/>
                <a:gd name="connsiteY5" fmla="*/ 550 h 10920"/>
                <a:gd name="connsiteX6" fmla="*/ 8960 w 10896"/>
                <a:gd name="connsiteY6" fmla="*/ 1991 h 10920"/>
                <a:gd name="connsiteX7" fmla="*/ 10896 w 10896"/>
                <a:gd name="connsiteY7" fmla="*/ 3423 h 10920"/>
                <a:gd name="connsiteX0" fmla="*/ 0 w 10896"/>
                <a:gd name="connsiteY0" fmla="*/ 10920 h 10920"/>
                <a:gd name="connsiteX1" fmla="*/ 705 w 10896"/>
                <a:gd name="connsiteY1" fmla="*/ 8089 h 10920"/>
                <a:gd name="connsiteX2" fmla="*/ 2077 w 10896"/>
                <a:gd name="connsiteY2" fmla="*/ 4062 h 10920"/>
                <a:gd name="connsiteX3" fmla="*/ 3511 w 10896"/>
                <a:gd name="connsiteY3" fmla="*/ 1295 h 10920"/>
                <a:gd name="connsiteX4" fmla="*/ 5097 w 10896"/>
                <a:gd name="connsiteY4" fmla="*/ 28 h 10920"/>
                <a:gd name="connsiteX5" fmla="*/ 6747 w 10896"/>
                <a:gd name="connsiteY5" fmla="*/ 550 h 10920"/>
                <a:gd name="connsiteX6" fmla="*/ 8960 w 10896"/>
                <a:gd name="connsiteY6" fmla="*/ 1991 h 10920"/>
                <a:gd name="connsiteX7" fmla="*/ 10896 w 10896"/>
                <a:gd name="connsiteY7" fmla="*/ 3423 h 10920"/>
                <a:gd name="connsiteX0" fmla="*/ 0 w 10896"/>
                <a:gd name="connsiteY0" fmla="*/ 10918 h 10918"/>
                <a:gd name="connsiteX1" fmla="*/ 705 w 10896"/>
                <a:gd name="connsiteY1" fmla="*/ 8087 h 10918"/>
                <a:gd name="connsiteX2" fmla="*/ 2077 w 10896"/>
                <a:gd name="connsiteY2" fmla="*/ 4060 h 10918"/>
                <a:gd name="connsiteX3" fmla="*/ 3511 w 10896"/>
                <a:gd name="connsiteY3" fmla="*/ 1293 h 10918"/>
                <a:gd name="connsiteX4" fmla="*/ 5097 w 10896"/>
                <a:gd name="connsiteY4" fmla="*/ 26 h 10918"/>
                <a:gd name="connsiteX5" fmla="*/ 6747 w 10896"/>
                <a:gd name="connsiteY5" fmla="*/ 548 h 10918"/>
                <a:gd name="connsiteX6" fmla="*/ 9063 w 10896"/>
                <a:gd name="connsiteY6" fmla="*/ 1810 h 10918"/>
                <a:gd name="connsiteX7" fmla="*/ 10896 w 10896"/>
                <a:gd name="connsiteY7" fmla="*/ 3421 h 10918"/>
                <a:gd name="connsiteX0" fmla="*/ 0 w 10862"/>
                <a:gd name="connsiteY0" fmla="*/ 10918 h 10918"/>
                <a:gd name="connsiteX1" fmla="*/ 705 w 10862"/>
                <a:gd name="connsiteY1" fmla="*/ 8087 h 10918"/>
                <a:gd name="connsiteX2" fmla="*/ 2077 w 10862"/>
                <a:gd name="connsiteY2" fmla="*/ 4060 h 10918"/>
                <a:gd name="connsiteX3" fmla="*/ 3511 w 10862"/>
                <a:gd name="connsiteY3" fmla="*/ 1293 h 10918"/>
                <a:gd name="connsiteX4" fmla="*/ 5097 w 10862"/>
                <a:gd name="connsiteY4" fmla="*/ 26 h 10918"/>
                <a:gd name="connsiteX5" fmla="*/ 6747 w 10862"/>
                <a:gd name="connsiteY5" fmla="*/ 548 h 10918"/>
                <a:gd name="connsiteX6" fmla="*/ 9063 w 10862"/>
                <a:gd name="connsiteY6" fmla="*/ 1810 h 10918"/>
                <a:gd name="connsiteX7" fmla="*/ 10862 w 10862"/>
                <a:gd name="connsiteY7" fmla="*/ 2975 h 10918"/>
                <a:gd name="connsiteX0" fmla="*/ 0 w 10862"/>
                <a:gd name="connsiteY0" fmla="*/ 10918 h 10918"/>
                <a:gd name="connsiteX1" fmla="*/ 705 w 10862"/>
                <a:gd name="connsiteY1" fmla="*/ 8087 h 10918"/>
                <a:gd name="connsiteX2" fmla="*/ 2077 w 10862"/>
                <a:gd name="connsiteY2" fmla="*/ 4060 h 10918"/>
                <a:gd name="connsiteX3" fmla="*/ 3511 w 10862"/>
                <a:gd name="connsiteY3" fmla="*/ 1293 h 10918"/>
                <a:gd name="connsiteX4" fmla="*/ 5097 w 10862"/>
                <a:gd name="connsiteY4" fmla="*/ 26 h 10918"/>
                <a:gd name="connsiteX5" fmla="*/ 6747 w 10862"/>
                <a:gd name="connsiteY5" fmla="*/ 548 h 10918"/>
                <a:gd name="connsiteX6" fmla="*/ 8546 w 10862"/>
                <a:gd name="connsiteY6" fmla="*/ 1721 h 10918"/>
                <a:gd name="connsiteX7" fmla="*/ 10862 w 10862"/>
                <a:gd name="connsiteY7" fmla="*/ 2975 h 1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2" h="10918">
                  <a:moveTo>
                    <a:pt x="0" y="10918"/>
                  </a:moveTo>
                  <a:cubicBezTo>
                    <a:pt x="116" y="10440"/>
                    <a:pt x="359" y="9230"/>
                    <a:pt x="705" y="8087"/>
                  </a:cubicBezTo>
                  <a:cubicBezTo>
                    <a:pt x="1051" y="6944"/>
                    <a:pt x="1609" y="5192"/>
                    <a:pt x="2077" y="4060"/>
                  </a:cubicBezTo>
                  <a:cubicBezTo>
                    <a:pt x="2545" y="2928"/>
                    <a:pt x="3008" y="1965"/>
                    <a:pt x="3511" y="1293"/>
                  </a:cubicBezTo>
                  <a:cubicBezTo>
                    <a:pt x="4014" y="621"/>
                    <a:pt x="4558" y="150"/>
                    <a:pt x="5097" y="26"/>
                  </a:cubicBezTo>
                  <a:cubicBezTo>
                    <a:pt x="5636" y="-98"/>
                    <a:pt x="6172" y="265"/>
                    <a:pt x="6747" y="548"/>
                  </a:cubicBezTo>
                  <a:cubicBezTo>
                    <a:pt x="7322" y="831"/>
                    <a:pt x="7860" y="1317"/>
                    <a:pt x="8546" y="1721"/>
                  </a:cubicBezTo>
                  <a:cubicBezTo>
                    <a:pt x="9232" y="2126"/>
                    <a:pt x="9878" y="2589"/>
                    <a:pt x="10862" y="2975"/>
                  </a:cubicBezTo>
                </a:path>
              </a:pathLst>
            </a:custGeom>
            <a:noFill/>
            <a:ln w="19050" cmpd="sng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182" y="2820"/>
              <a:ext cx="1911" cy="271"/>
            </a:xfrm>
            <a:custGeom>
              <a:avLst/>
              <a:gdLst>
                <a:gd name="T0" fmla="*/ 0 w 1942"/>
                <a:gd name="T1" fmla="*/ 218 h 283"/>
                <a:gd name="T2" fmla="*/ 112 w 1942"/>
                <a:gd name="T3" fmla="*/ 276 h 283"/>
                <a:gd name="T4" fmla="*/ 330 w 1942"/>
                <a:gd name="T5" fmla="*/ 263 h 283"/>
                <a:gd name="T6" fmla="*/ 755 w 1942"/>
                <a:gd name="T7" fmla="*/ 157 h 283"/>
                <a:gd name="T8" fmla="*/ 1238 w 1942"/>
                <a:gd name="T9" fmla="*/ 84 h 283"/>
                <a:gd name="T10" fmla="*/ 1942 w 1942"/>
                <a:gd name="T11" fmla="*/ 0 h 2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42"/>
                <a:gd name="T19" fmla="*/ 0 h 283"/>
                <a:gd name="T20" fmla="*/ 1942 w 1942"/>
                <a:gd name="T21" fmla="*/ 283 h 283"/>
                <a:gd name="connsiteX0" fmla="*/ 0 w 10000"/>
                <a:gd name="connsiteY0" fmla="*/ 7703 h 9986"/>
                <a:gd name="connsiteX1" fmla="*/ 577 w 10000"/>
                <a:gd name="connsiteY1" fmla="*/ 9753 h 9986"/>
                <a:gd name="connsiteX2" fmla="*/ 1699 w 10000"/>
                <a:gd name="connsiteY2" fmla="*/ 9293 h 9986"/>
                <a:gd name="connsiteX3" fmla="*/ 4073 w 10000"/>
                <a:gd name="connsiteY3" fmla="*/ 3852 h 9986"/>
                <a:gd name="connsiteX4" fmla="*/ 6375 w 10000"/>
                <a:gd name="connsiteY4" fmla="*/ 2968 h 9986"/>
                <a:gd name="connsiteX5" fmla="*/ 10000 w 10000"/>
                <a:gd name="connsiteY5" fmla="*/ 0 h 9986"/>
                <a:gd name="connsiteX0" fmla="*/ 0 w 10000"/>
                <a:gd name="connsiteY0" fmla="*/ 7714 h 10000"/>
                <a:gd name="connsiteX1" fmla="*/ 577 w 10000"/>
                <a:gd name="connsiteY1" fmla="*/ 9767 h 10000"/>
                <a:gd name="connsiteX2" fmla="*/ 1699 w 10000"/>
                <a:gd name="connsiteY2" fmla="*/ 9306 h 10000"/>
                <a:gd name="connsiteX3" fmla="*/ 4073 w 10000"/>
                <a:gd name="connsiteY3" fmla="*/ 3857 h 10000"/>
                <a:gd name="connsiteX4" fmla="*/ 6375 w 10000"/>
                <a:gd name="connsiteY4" fmla="*/ 1912 h 10000"/>
                <a:gd name="connsiteX5" fmla="*/ 10000 w 10000"/>
                <a:gd name="connsiteY5" fmla="*/ 0 h 10000"/>
                <a:gd name="connsiteX0" fmla="*/ 0 w 9784"/>
                <a:gd name="connsiteY0" fmla="*/ 7502 h 9788"/>
                <a:gd name="connsiteX1" fmla="*/ 577 w 9784"/>
                <a:gd name="connsiteY1" fmla="*/ 9555 h 9788"/>
                <a:gd name="connsiteX2" fmla="*/ 1699 w 9784"/>
                <a:gd name="connsiteY2" fmla="*/ 9094 h 9788"/>
                <a:gd name="connsiteX3" fmla="*/ 4073 w 9784"/>
                <a:gd name="connsiteY3" fmla="*/ 3645 h 9788"/>
                <a:gd name="connsiteX4" fmla="*/ 6375 w 9784"/>
                <a:gd name="connsiteY4" fmla="*/ 1700 h 9788"/>
                <a:gd name="connsiteX5" fmla="*/ 9784 w 9784"/>
                <a:gd name="connsiteY5" fmla="*/ 0 h 9788"/>
                <a:gd name="connsiteX0" fmla="*/ 0 w 9874"/>
                <a:gd name="connsiteY0" fmla="*/ 7447 h 9783"/>
                <a:gd name="connsiteX1" fmla="*/ 590 w 9874"/>
                <a:gd name="connsiteY1" fmla="*/ 9545 h 9783"/>
                <a:gd name="connsiteX2" fmla="*/ 1737 w 9874"/>
                <a:gd name="connsiteY2" fmla="*/ 9074 h 9783"/>
                <a:gd name="connsiteX3" fmla="*/ 4163 w 9874"/>
                <a:gd name="connsiteY3" fmla="*/ 3507 h 9783"/>
                <a:gd name="connsiteX4" fmla="*/ 6516 w 9874"/>
                <a:gd name="connsiteY4" fmla="*/ 1520 h 9783"/>
                <a:gd name="connsiteX5" fmla="*/ 9874 w 9874"/>
                <a:gd name="connsiteY5" fmla="*/ 0 h 9783"/>
                <a:gd name="connsiteX0" fmla="*/ 0 w 10000"/>
                <a:gd name="connsiteY0" fmla="*/ 7612 h 10000"/>
                <a:gd name="connsiteX1" fmla="*/ 598 w 10000"/>
                <a:gd name="connsiteY1" fmla="*/ 9757 h 10000"/>
                <a:gd name="connsiteX2" fmla="*/ 1759 w 10000"/>
                <a:gd name="connsiteY2" fmla="*/ 9275 h 10000"/>
                <a:gd name="connsiteX3" fmla="*/ 4216 w 10000"/>
                <a:gd name="connsiteY3" fmla="*/ 3585 h 10000"/>
                <a:gd name="connsiteX4" fmla="*/ 6471 w 10000"/>
                <a:gd name="connsiteY4" fmla="*/ 1111 h 10000"/>
                <a:gd name="connsiteX5" fmla="*/ 10000 w 10000"/>
                <a:gd name="connsiteY5" fmla="*/ 0 h 10000"/>
                <a:gd name="connsiteX0" fmla="*/ 0 w 10000"/>
                <a:gd name="connsiteY0" fmla="*/ 7612 h 10000"/>
                <a:gd name="connsiteX1" fmla="*/ 598 w 10000"/>
                <a:gd name="connsiteY1" fmla="*/ 9757 h 10000"/>
                <a:gd name="connsiteX2" fmla="*/ 1759 w 10000"/>
                <a:gd name="connsiteY2" fmla="*/ 9275 h 10000"/>
                <a:gd name="connsiteX3" fmla="*/ 4216 w 10000"/>
                <a:gd name="connsiteY3" fmla="*/ 3585 h 10000"/>
                <a:gd name="connsiteX4" fmla="*/ 6471 w 10000"/>
                <a:gd name="connsiteY4" fmla="*/ 1111 h 10000"/>
                <a:gd name="connsiteX5" fmla="*/ 8454 w 10000"/>
                <a:gd name="connsiteY5" fmla="*/ 148 h 10000"/>
                <a:gd name="connsiteX6" fmla="*/ 10000 w 10000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10000">
                  <a:moveTo>
                    <a:pt x="0" y="7612"/>
                  </a:moveTo>
                  <a:cubicBezTo>
                    <a:pt x="101" y="7982"/>
                    <a:pt x="304" y="9497"/>
                    <a:pt x="598" y="9757"/>
                  </a:cubicBezTo>
                  <a:cubicBezTo>
                    <a:pt x="890" y="10014"/>
                    <a:pt x="1156" y="10303"/>
                    <a:pt x="1759" y="9275"/>
                  </a:cubicBezTo>
                  <a:cubicBezTo>
                    <a:pt x="2362" y="8248"/>
                    <a:pt x="3431" y="4946"/>
                    <a:pt x="4216" y="3585"/>
                  </a:cubicBezTo>
                  <a:cubicBezTo>
                    <a:pt x="5001" y="2224"/>
                    <a:pt x="5775" y="1647"/>
                    <a:pt x="6471" y="1111"/>
                  </a:cubicBezTo>
                  <a:cubicBezTo>
                    <a:pt x="7167" y="575"/>
                    <a:pt x="7866" y="333"/>
                    <a:pt x="8454" y="148"/>
                  </a:cubicBezTo>
                  <a:cubicBezTo>
                    <a:pt x="9042" y="-37"/>
                    <a:pt x="9732" y="61"/>
                    <a:pt x="10000" y="0"/>
                  </a:cubicBezTo>
                </a:path>
              </a:pathLst>
            </a:custGeom>
            <a:noFill/>
            <a:ln w="19050" cmpd="sng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1845" y="2212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841862" y="2093998"/>
            <a:ext cx="3186113" cy="2449514"/>
            <a:chOff x="178" y="1813"/>
            <a:chExt cx="2007" cy="1543"/>
          </a:xfrm>
        </p:grpSpPr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182" y="1813"/>
              <a:ext cx="1896" cy="1208"/>
            </a:xfrm>
            <a:custGeom>
              <a:avLst/>
              <a:gdLst>
                <a:gd name="T0" fmla="*/ 0 w 1986"/>
                <a:gd name="T1" fmla="*/ 1255 h 1255"/>
                <a:gd name="T2" fmla="*/ 70 w 1986"/>
                <a:gd name="T3" fmla="*/ 1015 h 1255"/>
                <a:gd name="T4" fmla="*/ 188 w 1986"/>
                <a:gd name="T5" fmla="*/ 698 h 1255"/>
                <a:gd name="T6" fmla="*/ 409 w 1986"/>
                <a:gd name="T7" fmla="*/ 295 h 1255"/>
                <a:gd name="T8" fmla="*/ 735 w 1986"/>
                <a:gd name="T9" fmla="*/ 30 h 1255"/>
                <a:gd name="T10" fmla="*/ 1362 w 1986"/>
                <a:gd name="T11" fmla="*/ 116 h 1255"/>
                <a:gd name="T12" fmla="*/ 1986 w 1986"/>
                <a:gd name="T13" fmla="*/ 148 h 12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6"/>
                <a:gd name="T22" fmla="*/ 0 h 1255"/>
                <a:gd name="T23" fmla="*/ 1986 w 1986"/>
                <a:gd name="T24" fmla="*/ 1255 h 1255"/>
                <a:gd name="connsiteX0" fmla="*/ 0 w 10000"/>
                <a:gd name="connsiteY0" fmla="*/ 9456 h 9456"/>
                <a:gd name="connsiteX1" fmla="*/ 352 w 10000"/>
                <a:gd name="connsiteY1" fmla="*/ 7544 h 9456"/>
                <a:gd name="connsiteX2" fmla="*/ 947 w 10000"/>
                <a:gd name="connsiteY2" fmla="*/ 5018 h 9456"/>
                <a:gd name="connsiteX3" fmla="*/ 2059 w 10000"/>
                <a:gd name="connsiteY3" fmla="*/ 1807 h 9456"/>
                <a:gd name="connsiteX4" fmla="*/ 3761 w 10000"/>
                <a:gd name="connsiteY4" fmla="*/ 77 h 9456"/>
                <a:gd name="connsiteX5" fmla="*/ 6858 w 10000"/>
                <a:gd name="connsiteY5" fmla="*/ 380 h 9456"/>
                <a:gd name="connsiteX6" fmla="*/ 10000 w 10000"/>
                <a:gd name="connsiteY6" fmla="*/ 635 h 9456"/>
                <a:gd name="connsiteX0" fmla="*/ 0 w 10000"/>
                <a:gd name="connsiteY0" fmla="*/ 10173 h 10173"/>
                <a:gd name="connsiteX1" fmla="*/ 352 w 10000"/>
                <a:gd name="connsiteY1" fmla="*/ 8151 h 10173"/>
                <a:gd name="connsiteX2" fmla="*/ 947 w 10000"/>
                <a:gd name="connsiteY2" fmla="*/ 5480 h 10173"/>
                <a:gd name="connsiteX3" fmla="*/ 2059 w 10000"/>
                <a:gd name="connsiteY3" fmla="*/ 2084 h 10173"/>
                <a:gd name="connsiteX4" fmla="*/ 3761 w 10000"/>
                <a:gd name="connsiteY4" fmla="*/ 254 h 10173"/>
                <a:gd name="connsiteX5" fmla="*/ 6707 w 10000"/>
                <a:gd name="connsiteY5" fmla="*/ 120 h 10173"/>
                <a:gd name="connsiteX6" fmla="*/ 10000 w 10000"/>
                <a:gd name="connsiteY6" fmla="*/ 845 h 10173"/>
                <a:gd name="connsiteX0" fmla="*/ 0 w 9607"/>
                <a:gd name="connsiteY0" fmla="*/ 10173 h 10173"/>
                <a:gd name="connsiteX1" fmla="*/ 352 w 9607"/>
                <a:gd name="connsiteY1" fmla="*/ 8151 h 10173"/>
                <a:gd name="connsiteX2" fmla="*/ 947 w 9607"/>
                <a:gd name="connsiteY2" fmla="*/ 5480 h 10173"/>
                <a:gd name="connsiteX3" fmla="*/ 2059 w 9607"/>
                <a:gd name="connsiteY3" fmla="*/ 2084 h 10173"/>
                <a:gd name="connsiteX4" fmla="*/ 3761 w 9607"/>
                <a:gd name="connsiteY4" fmla="*/ 254 h 10173"/>
                <a:gd name="connsiteX5" fmla="*/ 6707 w 9607"/>
                <a:gd name="connsiteY5" fmla="*/ 120 h 10173"/>
                <a:gd name="connsiteX6" fmla="*/ 9607 w 9607"/>
                <a:gd name="connsiteY6" fmla="*/ 845 h 10173"/>
                <a:gd name="connsiteX0" fmla="*/ 0 w 9937"/>
                <a:gd name="connsiteY0" fmla="*/ 10000 h 10000"/>
                <a:gd name="connsiteX1" fmla="*/ 366 w 9937"/>
                <a:gd name="connsiteY1" fmla="*/ 8012 h 10000"/>
                <a:gd name="connsiteX2" fmla="*/ 986 w 9937"/>
                <a:gd name="connsiteY2" fmla="*/ 5387 h 10000"/>
                <a:gd name="connsiteX3" fmla="*/ 2143 w 9937"/>
                <a:gd name="connsiteY3" fmla="*/ 2049 h 10000"/>
                <a:gd name="connsiteX4" fmla="*/ 3915 w 9937"/>
                <a:gd name="connsiteY4" fmla="*/ 250 h 10000"/>
                <a:gd name="connsiteX5" fmla="*/ 6981 w 9937"/>
                <a:gd name="connsiteY5" fmla="*/ 118 h 10000"/>
                <a:gd name="connsiteX6" fmla="*/ 9937 w 9937"/>
                <a:gd name="connsiteY6" fmla="*/ 583 h 10000"/>
                <a:gd name="connsiteX0" fmla="*/ 0 w 10000"/>
                <a:gd name="connsiteY0" fmla="*/ 10034 h 10034"/>
                <a:gd name="connsiteX1" fmla="*/ 368 w 10000"/>
                <a:gd name="connsiteY1" fmla="*/ 8046 h 10034"/>
                <a:gd name="connsiteX2" fmla="*/ 992 w 10000"/>
                <a:gd name="connsiteY2" fmla="*/ 5421 h 10034"/>
                <a:gd name="connsiteX3" fmla="*/ 2157 w 10000"/>
                <a:gd name="connsiteY3" fmla="*/ 2083 h 10034"/>
                <a:gd name="connsiteX4" fmla="*/ 3940 w 10000"/>
                <a:gd name="connsiteY4" fmla="*/ 284 h 10034"/>
                <a:gd name="connsiteX5" fmla="*/ 7247 w 10000"/>
                <a:gd name="connsiteY5" fmla="*/ 102 h 10034"/>
                <a:gd name="connsiteX6" fmla="*/ 10000 w 10000"/>
                <a:gd name="connsiteY6" fmla="*/ 617 h 10034"/>
                <a:gd name="connsiteX0" fmla="*/ 0 w 10000"/>
                <a:gd name="connsiteY0" fmla="*/ 9983 h 9983"/>
                <a:gd name="connsiteX1" fmla="*/ 368 w 10000"/>
                <a:gd name="connsiteY1" fmla="*/ 7995 h 9983"/>
                <a:gd name="connsiteX2" fmla="*/ 992 w 10000"/>
                <a:gd name="connsiteY2" fmla="*/ 5370 h 9983"/>
                <a:gd name="connsiteX3" fmla="*/ 2157 w 10000"/>
                <a:gd name="connsiteY3" fmla="*/ 2032 h 9983"/>
                <a:gd name="connsiteX4" fmla="*/ 3940 w 10000"/>
                <a:gd name="connsiteY4" fmla="*/ 481 h 9983"/>
                <a:gd name="connsiteX5" fmla="*/ 7247 w 10000"/>
                <a:gd name="connsiteY5" fmla="*/ 51 h 9983"/>
                <a:gd name="connsiteX6" fmla="*/ 10000 w 10000"/>
                <a:gd name="connsiteY6" fmla="*/ 566 h 9983"/>
                <a:gd name="connsiteX0" fmla="*/ 0 w 10000"/>
                <a:gd name="connsiteY0" fmla="*/ 10004 h 10004"/>
                <a:gd name="connsiteX1" fmla="*/ 368 w 10000"/>
                <a:gd name="connsiteY1" fmla="*/ 8013 h 10004"/>
                <a:gd name="connsiteX2" fmla="*/ 992 w 10000"/>
                <a:gd name="connsiteY2" fmla="*/ 5383 h 10004"/>
                <a:gd name="connsiteX3" fmla="*/ 2157 w 10000"/>
                <a:gd name="connsiteY3" fmla="*/ 2288 h 10004"/>
                <a:gd name="connsiteX4" fmla="*/ 3940 w 10000"/>
                <a:gd name="connsiteY4" fmla="*/ 486 h 10004"/>
                <a:gd name="connsiteX5" fmla="*/ 7247 w 10000"/>
                <a:gd name="connsiteY5" fmla="*/ 55 h 10004"/>
                <a:gd name="connsiteX6" fmla="*/ 10000 w 10000"/>
                <a:gd name="connsiteY6" fmla="*/ 571 h 10004"/>
                <a:gd name="connsiteX0" fmla="*/ 0 w 10000"/>
                <a:gd name="connsiteY0" fmla="*/ 10021 h 10021"/>
                <a:gd name="connsiteX1" fmla="*/ 368 w 10000"/>
                <a:gd name="connsiteY1" fmla="*/ 8030 h 10021"/>
                <a:gd name="connsiteX2" fmla="*/ 992 w 10000"/>
                <a:gd name="connsiteY2" fmla="*/ 5400 h 10021"/>
                <a:gd name="connsiteX3" fmla="*/ 2157 w 10000"/>
                <a:gd name="connsiteY3" fmla="*/ 2305 h 10021"/>
                <a:gd name="connsiteX4" fmla="*/ 3940 w 10000"/>
                <a:gd name="connsiteY4" fmla="*/ 503 h 10021"/>
                <a:gd name="connsiteX5" fmla="*/ 5654 w 10000"/>
                <a:gd name="connsiteY5" fmla="*/ 42 h 10021"/>
                <a:gd name="connsiteX6" fmla="*/ 7247 w 10000"/>
                <a:gd name="connsiteY6" fmla="*/ 72 h 10021"/>
                <a:gd name="connsiteX7" fmla="*/ 10000 w 10000"/>
                <a:gd name="connsiteY7" fmla="*/ 588 h 10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21">
                  <a:moveTo>
                    <a:pt x="0" y="10021"/>
                  </a:moveTo>
                  <a:cubicBezTo>
                    <a:pt x="62" y="9689"/>
                    <a:pt x="205" y="8802"/>
                    <a:pt x="368" y="8030"/>
                  </a:cubicBezTo>
                  <a:cubicBezTo>
                    <a:pt x="533" y="7258"/>
                    <a:pt x="694" y="6354"/>
                    <a:pt x="992" y="5400"/>
                  </a:cubicBezTo>
                  <a:cubicBezTo>
                    <a:pt x="1290" y="4446"/>
                    <a:pt x="1666" y="3122"/>
                    <a:pt x="2157" y="2305"/>
                  </a:cubicBezTo>
                  <a:cubicBezTo>
                    <a:pt x="2648" y="1489"/>
                    <a:pt x="3357" y="880"/>
                    <a:pt x="3940" y="503"/>
                  </a:cubicBezTo>
                  <a:cubicBezTo>
                    <a:pt x="4523" y="126"/>
                    <a:pt x="5103" y="114"/>
                    <a:pt x="5654" y="42"/>
                  </a:cubicBezTo>
                  <a:cubicBezTo>
                    <a:pt x="6205" y="-30"/>
                    <a:pt x="6496" y="-3"/>
                    <a:pt x="7247" y="72"/>
                  </a:cubicBezTo>
                  <a:cubicBezTo>
                    <a:pt x="8344" y="238"/>
                    <a:pt x="9314" y="530"/>
                    <a:pt x="10000" y="588"/>
                  </a:cubicBezTo>
                </a:path>
              </a:pathLst>
            </a:custGeom>
            <a:noFill/>
            <a:ln w="19050" cmpd="sng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178" y="3037"/>
              <a:ext cx="1908" cy="319"/>
            </a:xfrm>
            <a:custGeom>
              <a:avLst/>
              <a:gdLst>
                <a:gd name="T0" fmla="*/ 0 w 1908"/>
                <a:gd name="T1" fmla="*/ 0 h 319"/>
                <a:gd name="T2" fmla="*/ 96 w 1908"/>
                <a:gd name="T3" fmla="*/ 137 h 319"/>
                <a:gd name="T4" fmla="*/ 262 w 1908"/>
                <a:gd name="T5" fmla="*/ 254 h 319"/>
                <a:gd name="T6" fmla="*/ 566 w 1908"/>
                <a:gd name="T7" fmla="*/ 319 h 319"/>
                <a:gd name="T8" fmla="*/ 1054 w 1908"/>
                <a:gd name="T9" fmla="*/ 252 h 319"/>
                <a:gd name="T10" fmla="*/ 1486 w 1908"/>
                <a:gd name="T11" fmla="*/ 185 h 319"/>
                <a:gd name="T12" fmla="*/ 1908 w 1908"/>
                <a:gd name="T13" fmla="*/ 127 h 3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08"/>
                <a:gd name="T22" fmla="*/ 0 h 319"/>
                <a:gd name="T23" fmla="*/ 1908 w 1908"/>
                <a:gd name="T24" fmla="*/ 319 h 319"/>
                <a:gd name="connsiteX0" fmla="*/ 0 w 10000"/>
                <a:gd name="connsiteY0" fmla="*/ 0 h 10000"/>
                <a:gd name="connsiteX1" fmla="*/ 503 w 10000"/>
                <a:gd name="connsiteY1" fmla="*/ 4295 h 10000"/>
                <a:gd name="connsiteX2" fmla="*/ 1373 w 10000"/>
                <a:gd name="connsiteY2" fmla="*/ 7962 h 10000"/>
                <a:gd name="connsiteX3" fmla="*/ 2966 w 10000"/>
                <a:gd name="connsiteY3" fmla="*/ 10000 h 10000"/>
                <a:gd name="connsiteX4" fmla="*/ 5524 w 10000"/>
                <a:gd name="connsiteY4" fmla="*/ 7900 h 10000"/>
                <a:gd name="connsiteX5" fmla="*/ 7788 w 10000"/>
                <a:gd name="connsiteY5" fmla="*/ 5799 h 10000"/>
                <a:gd name="connsiteX6" fmla="*/ 10000 w 10000"/>
                <a:gd name="connsiteY6" fmla="*/ 4169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84" y="721"/>
                    <a:pt x="273" y="2978"/>
                    <a:pt x="503" y="4295"/>
                  </a:cubicBezTo>
                  <a:cubicBezTo>
                    <a:pt x="734" y="5611"/>
                    <a:pt x="964" y="6991"/>
                    <a:pt x="1373" y="7962"/>
                  </a:cubicBezTo>
                  <a:cubicBezTo>
                    <a:pt x="1782" y="8934"/>
                    <a:pt x="2275" y="10000"/>
                    <a:pt x="2966" y="10000"/>
                  </a:cubicBezTo>
                  <a:cubicBezTo>
                    <a:pt x="3658" y="10000"/>
                    <a:pt x="4722" y="8589"/>
                    <a:pt x="5524" y="7900"/>
                  </a:cubicBezTo>
                  <a:cubicBezTo>
                    <a:pt x="6326" y="7210"/>
                    <a:pt x="7044" y="6458"/>
                    <a:pt x="7788" y="5799"/>
                  </a:cubicBezTo>
                  <a:cubicBezTo>
                    <a:pt x="8532" y="5141"/>
                    <a:pt x="9539" y="4545"/>
                    <a:pt x="10000" y="4169"/>
                  </a:cubicBezTo>
                </a:path>
              </a:pathLst>
            </a:custGeom>
            <a:noFill/>
            <a:ln w="19050" cmpd="sng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1842" y="1840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2</a:t>
              </a:r>
              <a:r>
                <a:rPr lang="en-US" altLang="zh-CN" sz="2200" b="1" baseline="-25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</p:grp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4503264" y="1633248"/>
            <a:ext cx="4184420" cy="342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应力应变曲线具有峰值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随</a:t>
            </a:r>
            <a:r>
              <a:rPr kumimoji="1" lang="zh-CN" altLang="en-US" sz="2400" b="1" i="1" dirty="0">
                <a:cs typeface="Times New Roman" panose="02020603050405020304" pitchFamily="18" charset="0"/>
                <a:sym typeface="Symbol" pitchFamily="18" charset="2"/>
              </a:rPr>
              <a:t></a:t>
            </a:r>
            <a:r>
              <a:rPr kumimoji="1" lang="zh-CN" altLang="en-US" sz="2400" b="1" baseline="-25000" dirty="0"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增加，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逐步增大并达到峰值；之后逐步下降，并趋向一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个稳定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值，表现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为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应变软化</a:t>
            </a: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型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孔隙水压力开始段可能为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正值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。之后会逐渐减小，甚至可减小到为负值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706755" y="771718"/>
            <a:ext cx="571531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超固结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黏土试验曲线与强度包线</a:t>
            </a:r>
          </a:p>
        </p:txBody>
      </p:sp>
    </p:spTree>
    <p:extLst>
      <p:ext uri="{BB962C8B-B14F-4D97-AF65-F5344CB8AC3E}">
        <p14:creationId xmlns:p14="http://schemas.microsoft.com/office/powerpoint/2010/main" val="140346723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10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10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43263" y="5878513"/>
            <a:ext cx="41449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固结不排水试验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465431" y="2166695"/>
            <a:ext cx="3473450" cy="3311525"/>
            <a:chOff x="176" y="1455"/>
            <a:chExt cx="2188" cy="2086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76" y="1663"/>
              <a:ext cx="0" cy="17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176" y="3026"/>
              <a:ext cx="21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87" y="1455"/>
              <a:ext cx="54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zh-CN" altLang="en-US" sz="2400" b="1" baseline="-25000" dirty="0" smtClean="0">
                  <a:cs typeface="Times New Roman" panose="02020603050405020304" pitchFamily="18" charset="0"/>
                  <a:sym typeface="Symbol" pitchFamily="18" charset="2"/>
                </a:rPr>
                <a:t></a:t>
              </a:r>
              <a:r>
                <a:rPr kumimoji="1" lang="en-US" altLang="zh-CN" sz="2400" b="1" dirty="0" smtClean="0">
                  <a:cs typeface="Times New Roman" panose="02020603050405020304" pitchFamily="18" charset="0"/>
                  <a:sym typeface="Symbol" pitchFamily="18" charset="2"/>
                </a:rPr>
                <a:t>-</a:t>
              </a:r>
              <a:r>
                <a:rPr kumimoji="1" lang="zh-CN" altLang="en-US" sz="24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zh-CN" altLang="en-US" sz="2400" b="1" baseline="-25000" dirty="0" smtClean="0">
                  <a:cs typeface="Times New Roman" panose="02020603050405020304" pitchFamily="18" charset="0"/>
                  <a:sym typeface="Symbol" pitchFamily="18" charset="2"/>
                </a:rPr>
                <a:t></a:t>
              </a:r>
              <a:endParaRPr kumimoji="1" lang="zh-CN" altLang="en-US" sz="2400" b="1" baseline="-25000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2098" y="2943"/>
              <a:ext cx="26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</a:t>
              </a:r>
              <a:r>
                <a:rPr kumimoji="1" lang="zh-CN" altLang="en-US" sz="2400" b="1" baseline="-25000" dirty="0">
                  <a:cs typeface="Times New Roman" panose="02020603050405020304" pitchFamily="18" charset="0"/>
                  <a:sym typeface="Symbol" pitchFamily="18" charset="2"/>
                </a:rPr>
                <a:t>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195" y="3250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ym typeface="Symbol" pitchFamily="18" charset="2"/>
                </a:rPr>
                <a:t>u</a:t>
              </a:r>
              <a:endParaRPr kumimoji="1" lang="en-US" altLang="zh-CN" sz="2400" b="1" i="1" baseline="-25000" dirty="0">
                <a:sym typeface="Symbol" pitchFamily="18" charset="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654803" y="2733047"/>
            <a:ext cx="4345899" cy="2490996"/>
            <a:chOff x="4654803" y="2930759"/>
            <a:chExt cx="4345899" cy="2490996"/>
          </a:xfrm>
        </p:grpSpPr>
        <p:sp>
          <p:nvSpPr>
            <p:cNvPr id="15" name="Line 12"/>
            <p:cNvSpPr>
              <a:spLocks noChangeShapeType="1"/>
            </p:cNvSpPr>
            <p:nvPr/>
          </p:nvSpPr>
          <p:spPr bwMode="auto">
            <a:xfrm flipV="1">
              <a:off x="4658081" y="3139031"/>
              <a:ext cx="0" cy="2251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4654803" y="4973805"/>
              <a:ext cx="43098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8112513" y="4945705"/>
              <a:ext cx="888189" cy="476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dirty="0" smtClean="0">
                  <a:cs typeface="Times New Roman" panose="02020603050405020304" pitchFamily="18" charset="0"/>
                  <a:sym typeface="Symbol" pitchFamily="18" charset="2"/>
                </a:rPr>
                <a:t>, </a:t>
              </a:r>
              <a:r>
                <a:rPr lang="zh-CN" altLang="en-US" sz="24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zh-CN" altLang="en-US" sz="2400" b="1" dirty="0" smtClean="0"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endParaRPr lang="zh-CN" altLang="en-US" sz="2400" b="1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4656442" y="2930759"/>
              <a:ext cx="458843" cy="476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>
                  <a:latin typeface="Arial" charset="0"/>
                  <a:cs typeface="Arial" charset="0"/>
                  <a:sym typeface="Symbol" pitchFamily="18" charset="2"/>
                </a:rPr>
                <a:t></a:t>
              </a:r>
            </a:p>
          </p:txBody>
        </p:sp>
      </p:grpSp>
      <p:grpSp>
        <p:nvGrpSpPr>
          <p:cNvPr id="20" name="Group 17"/>
          <p:cNvGrpSpPr>
            <a:grpSpLocks/>
          </p:cNvGrpSpPr>
          <p:nvPr/>
        </p:nvGrpSpPr>
        <p:grpSpPr bwMode="auto">
          <a:xfrm>
            <a:off x="462255" y="3368432"/>
            <a:ext cx="3197225" cy="1392238"/>
            <a:chOff x="174" y="2212"/>
            <a:chExt cx="2014" cy="877"/>
          </a:xfrm>
        </p:grpSpPr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183" y="2284"/>
              <a:ext cx="1892" cy="734"/>
            </a:xfrm>
            <a:custGeom>
              <a:avLst/>
              <a:gdLst>
                <a:gd name="T0" fmla="*/ 0 w 1933"/>
                <a:gd name="T1" fmla="*/ 546 h 546"/>
                <a:gd name="T2" fmla="*/ 73 w 1933"/>
                <a:gd name="T3" fmla="*/ 392 h 546"/>
                <a:gd name="T4" fmla="*/ 169 w 1933"/>
                <a:gd name="T5" fmla="*/ 236 h 546"/>
                <a:gd name="T6" fmla="*/ 307 w 1933"/>
                <a:gd name="T7" fmla="*/ 66 h 546"/>
                <a:gd name="T8" fmla="*/ 419 w 1933"/>
                <a:gd name="T9" fmla="*/ 2 h 546"/>
                <a:gd name="T10" fmla="*/ 573 w 1933"/>
                <a:gd name="T11" fmla="*/ 79 h 546"/>
                <a:gd name="T12" fmla="*/ 774 w 1933"/>
                <a:gd name="T13" fmla="*/ 172 h 546"/>
                <a:gd name="T14" fmla="*/ 1037 w 1933"/>
                <a:gd name="T15" fmla="*/ 245 h 546"/>
                <a:gd name="T16" fmla="*/ 1385 w 1933"/>
                <a:gd name="T17" fmla="*/ 296 h 546"/>
                <a:gd name="T18" fmla="*/ 1933 w 1933"/>
                <a:gd name="T19" fmla="*/ 296 h 5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33"/>
                <a:gd name="T31" fmla="*/ 0 h 546"/>
                <a:gd name="T32" fmla="*/ 1933 w 1933"/>
                <a:gd name="T33" fmla="*/ 546 h 546"/>
                <a:gd name="connsiteX0" fmla="*/ 0 w 7165"/>
                <a:gd name="connsiteY0" fmla="*/ 9965 h 9965"/>
                <a:gd name="connsiteX1" fmla="*/ 378 w 7165"/>
                <a:gd name="connsiteY1" fmla="*/ 7144 h 9965"/>
                <a:gd name="connsiteX2" fmla="*/ 874 w 7165"/>
                <a:gd name="connsiteY2" fmla="*/ 4287 h 9965"/>
                <a:gd name="connsiteX3" fmla="*/ 1588 w 7165"/>
                <a:gd name="connsiteY3" fmla="*/ 1174 h 9965"/>
                <a:gd name="connsiteX4" fmla="*/ 2168 w 7165"/>
                <a:gd name="connsiteY4" fmla="*/ 2 h 9965"/>
                <a:gd name="connsiteX5" fmla="*/ 2964 w 7165"/>
                <a:gd name="connsiteY5" fmla="*/ 1412 h 9965"/>
                <a:gd name="connsiteX6" fmla="*/ 4004 w 7165"/>
                <a:gd name="connsiteY6" fmla="*/ 3115 h 9965"/>
                <a:gd name="connsiteX7" fmla="*/ 5365 w 7165"/>
                <a:gd name="connsiteY7" fmla="*/ 4452 h 9965"/>
                <a:gd name="connsiteX8" fmla="*/ 7165 w 7165"/>
                <a:gd name="connsiteY8" fmla="*/ 5386 h 9965"/>
                <a:gd name="connsiteX0" fmla="*/ 0 w 7488"/>
                <a:gd name="connsiteY0" fmla="*/ 10000 h 10000"/>
                <a:gd name="connsiteX1" fmla="*/ 528 w 7488"/>
                <a:gd name="connsiteY1" fmla="*/ 7169 h 10000"/>
                <a:gd name="connsiteX2" fmla="*/ 1220 w 7488"/>
                <a:gd name="connsiteY2" fmla="*/ 4302 h 10000"/>
                <a:gd name="connsiteX3" fmla="*/ 2216 w 7488"/>
                <a:gd name="connsiteY3" fmla="*/ 1178 h 10000"/>
                <a:gd name="connsiteX4" fmla="*/ 3026 w 7488"/>
                <a:gd name="connsiteY4" fmla="*/ 2 h 10000"/>
                <a:gd name="connsiteX5" fmla="*/ 4137 w 7488"/>
                <a:gd name="connsiteY5" fmla="*/ 1417 h 10000"/>
                <a:gd name="connsiteX6" fmla="*/ 5588 w 7488"/>
                <a:gd name="connsiteY6" fmla="*/ 3126 h 10000"/>
                <a:gd name="connsiteX7" fmla="*/ 7488 w 7488"/>
                <a:gd name="connsiteY7" fmla="*/ 4468 h 10000"/>
                <a:gd name="connsiteX0" fmla="*/ 0 w 10000"/>
                <a:gd name="connsiteY0" fmla="*/ 10286 h 10286"/>
                <a:gd name="connsiteX1" fmla="*/ 705 w 10000"/>
                <a:gd name="connsiteY1" fmla="*/ 7455 h 10286"/>
                <a:gd name="connsiteX2" fmla="*/ 1629 w 10000"/>
                <a:gd name="connsiteY2" fmla="*/ 4588 h 10286"/>
                <a:gd name="connsiteX3" fmla="*/ 2959 w 10000"/>
                <a:gd name="connsiteY3" fmla="*/ 1464 h 10286"/>
                <a:gd name="connsiteX4" fmla="*/ 4041 w 10000"/>
                <a:gd name="connsiteY4" fmla="*/ 288 h 10286"/>
                <a:gd name="connsiteX5" fmla="*/ 6271 w 10000"/>
                <a:gd name="connsiteY5" fmla="*/ 274 h 10286"/>
                <a:gd name="connsiteX6" fmla="*/ 7463 w 10000"/>
                <a:gd name="connsiteY6" fmla="*/ 3412 h 10286"/>
                <a:gd name="connsiteX7" fmla="*/ 10000 w 10000"/>
                <a:gd name="connsiteY7" fmla="*/ 4754 h 10286"/>
                <a:gd name="connsiteX0" fmla="*/ 0 w 10000"/>
                <a:gd name="connsiteY0" fmla="*/ 10232 h 10232"/>
                <a:gd name="connsiteX1" fmla="*/ 705 w 10000"/>
                <a:gd name="connsiteY1" fmla="*/ 7401 h 10232"/>
                <a:gd name="connsiteX2" fmla="*/ 1629 w 10000"/>
                <a:gd name="connsiteY2" fmla="*/ 4534 h 10232"/>
                <a:gd name="connsiteX3" fmla="*/ 2959 w 10000"/>
                <a:gd name="connsiteY3" fmla="*/ 1410 h 10232"/>
                <a:gd name="connsiteX4" fmla="*/ 4041 w 10000"/>
                <a:gd name="connsiteY4" fmla="*/ 234 h 10232"/>
                <a:gd name="connsiteX5" fmla="*/ 6271 w 10000"/>
                <a:gd name="connsiteY5" fmla="*/ 220 h 10232"/>
                <a:gd name="connsiteX6" fmla="*/ 8209 w 10000"/>
                <a:gd name="connsiteY6" fmla="*/ 2554 h 10232"/>
                <a:gd name="connsiteX7" fmla="*/ 10000 w 10000"/>
                <a:gd name="connsiteY7" fmla="*/ 4700 h 10232"/>
                <a:gd name="connsiteX0" fmla="*/ 0 w 11361"/>
                <a:gd name="connsiteY0" fmla="*/ 10232 h 10232"/>
                <a:gd name="connsiteX1" fmla="*/ 705 w 11361"/>
                <a:gd name="connsiteY1" fmla="*/ 7401 h 10232"/>
                <a:gd name="connsiteX2" fmla="*/ 1629 w 11361"/>
                <a:gd name="connsiteY2" fmla="*/ 4534 h 10232"/>
                <a:gd name="connsiteX3" fmla="*/ 2959 w 11361"/>
                <a:gd name="connsiteY3" fmla="*/ 1410 h 10232"/>
                <a:gd name="connsiteX4" fmla="*/ 4041 w 11361"/>
                <a:gd name="connsiteY4" fmla="*/ 234 h 10232"/>
                <a:gd name="connsiteX5" fmla="*/ 6271 w 11361"/>
                <a:gd name="connsiteY5" fmla="*/ 220 h 10232"/>
                <a:gd name="connsiteX6" fmla="*/ 8209 w 11361"/>
                <a:gd name="connsiteY6" fmla="*/ 2554 h 10232"/>
                <a:gd name="connsiteX7" fmla="*/ 11361 w 11361"/>
                <a:gd name="connsiteY7" fmla="*/ 4879 h 10232"/>
                <a:gd name="connsiteX0" fmla="*/ 0 w 11361"/>
                <a:gd name="connsiteY0" fmla="*/ 10025 h 10025"/>
                <a:gd name="connsiteX1" fmla="*/ 705 w 11361"/>
                <a:gd name="connsiteY1" fmla="*/ 7194 h 10025"/>
                <a:gd name="connsiteX2" fmla="*/ 1629 w 11361"/>
                <a:gd name="connsiteY2" fmla="*/ 4327 h 10025"/>
                <a:gd name="connsiteX3" fmla="*/ 2959 w 11361"/>
                <a:gd name="connsiteY3" fmla="*/ 1203 h 10025"/>
                <a:gd name="connsiteX4" fmla="*/ 4041 w 11361"/>
                <a:gd name="connsiteY4" fmla="*/ 27 h 10025"/>
                <a:gd name="connsiteX5" fmla="*/ 6359 w 11361"/>
                <a:gd name="connsiteY5" fmla="*/ 549 h 10025"/>
                <a:gd name="connsiteX6" fmla="*/ 8209 w 11361"/>
                <a:gd name="connsiteY6" fmla="*/ 2347 h 10025"/>
                <a:gd name="connsiteX7" fmla="*/ 11361 w 11361"/>
                <a:gd name="connsiteY7" fmla="*/ 4672 h 10025"/>
                <a:gd name="connsiteX0" fmla="*/ 0 w 11361"/>
                <a:gd name="connsiteY0" fmla="*/ 10457 h 10457"/>
                <a:gd name="connsiteX1" fmla="*/ 705 w 11361"/>
                <a:gd name="connsiteY1" fmla="*/ 7626 h 10457"/>
                <a:gd name="connsiteX2" fmla="*/ 1629 w 11361"/>
                <a:gd name="connsiteY2" fmla="*/ 4759 h 10457"/>
                <a:gd name="connsiteX3" fmla="*/ 2959 w 11361"/>
                <a:gd name="connsiteY3" fmla="*/ 1635 h 10457"/>
                <a:gd name="connsiteX4" fmla="*/ 5094 w 11361"/>
                <a:gd name="connsiteY4" fmla="*/ 12 h 10457"/>
                <a:gd name="connsiteX5" fmla="*/ 6359 w 11361"/>
                <a:gd name="connsiteY5" fmla="*/ 981 h 10457"/>
                <a:gd name="connsiteX6" fmla="*/ 8209 w 11361"/>
                <a:gd name="connsiteY6" fmla="*/ 2779 h 10457"/>
                <a:gd name="connsiteX7" fmla="*/ 11361 w 11361"/>
                <a:gd name="connsiteY7" fmla="*/ 5104 h 10457"/>
                <a:gd name="connsiteX0" fmla="*/ 0 w 11361"/>
                <a:gd name="connsiteY0" fmla="*/ 10634 h 10634"/>
                <a:gd name="connsiteX1" fmla="*/ 705 w 11361"/>
                <a:gd name="connsiteY1" fmla="*/ 7803 h 10634"/>
                <a:gd name="connsiteX2" fmla="*/ 1629 w 11361"/>
                <a:gd name="connsiteY2" fmla="*/ 4936 h 10634"/>
                <a:gd name="connsiteX3" fmla="*/ 2959 w 11361"/>
                <a:gd name="connsiteY3" fmla="*/ 1812 h 10634"/>
                <a:gd name="connsiteX4" fmla="*/ 4787 w 11361"/>
                <a:gd name="connsiteY4" fmla="*/ 10 h 10634"/>
                <a:gd name="connsiteX5" fmla="*/ 6359 w 11361"/>
                <a:gd name="connsiteY5" fmla="*/ 1158 h 10634"/>
                <a:gd name="connsiteX6" fmla="*/ 8209 w 11361"/>
                <a:gd name="connsiteY6" fmla="*/ 2956 h 10634"/>
                <a:gd name="connsiteX7" fmla="*/ 11361 w 11361"/>
                <a:gd name="connsiteY7" fmla="*/ 5281 h 10634"/>
                <a:gd name="connsiteX0" fmla="*/ 0 w 11668"/>
                <a:gd name="connsiteY0" fmla="*/ 10634 h 10634"/>
                <a:gd name="connsiteX1" fmla="*/ 705 w 11668"/>
                <a:gd name="connsiteY1" fmla="*/ 7803 h 10634"/>
                <a:gd name="connsiteX2" fmla="*/ 1629 w 11668"/>
                <a:gd name="connsiteY2" fmla="*/ 4936 h 10634"/>
                <a:gd name="connsiteX3" fmla="*/ 2959 w 11668"/>
                <a:gd name="connsiteY3" fmla="*/ 1812 h 10634"/>
                <a:gd name="connsiteX4" fmla="*/ 4787 w 11668"/>
                <a:gd name="connsiteY4" fmla="*/ 10 h 10634"/>
                <a:gd name="connsiteX5" fmla="*/ 6359 w 11668"/>
                <a:gd name="connsiteY5" fmla="*/ 1158 h 10634"/>
                <a:gd name="connsiteX6" fmla="*/ 8209 w 11668"/>
                <a:gd name="connsiteY6" fmla="*/ 2956 h 10634"/>
                <a:gd name="connsiteX7" fmla="*/ 11668 w 11668"/>
                <a:gd name="connsiteY7" fmla="*/ 4477 h 10634"/>
                <a:gd name="connsiteX0" fmla="*/ 0 w 11668"/>
                <a:gd name="connsiteY0" fmla="*/ 10635 h 10635"/>
                <a:gd name="connsiteX1" fmla="*/ 705 w 11668"/>
                <a:gd name="connsiteY1" fmla="*/ 7804 h 10635"/>
                <a:gd name="connsiteX2" fmla="*/ 1629 w 11668"/>
                <a:gd name="connsiteY2" fmla="*/ 4937 h 10635"/>
                <a:gd name="connsiteX3" fmla="*/ 2959 w 11668"/>
                <a:gd name="connsiteY3" fmla="*/ 1813 h 10635"/>
                <a:gd name="connsiteX4" fmla="*/ 4787 w 11668"/>
                <a:gd name="connsiteY4" fmla="*/ 11 h 10635"/>
                <a:gd name="connsiteX5" fmla="*/ 6359 w 11668"/>
                <a:gd name="connsiteY5" fmla="*/ 1159 h 10635"/>
                <a:gd name="connsiteX6" fmla="*/ 8867 w 11668"/>
                <a:gd name="connsiteY6" fmla="*/ 3225 h 10635"/>
                <a:gd name="connsiteX7" fmla="*/ 11668 w 11668"/>
                <a:gd name="connsiteY7" fmla="*/ 4478 h 10635"/>
                <a:gd name="connsiteX0" fmla="*/ 0 w 11668"/>
                <a:gd name="connsiteY0" fmla="*/ 10632 h 10632"/>
                <a:gd name="connsiteX1" fmla="*/ 705 w 11668"/>
                <a:gd name="connsiteY1" fmla="*/ 7801 h 10632"/>
                <a:gd name="connsiteX2" fmla="*/ 1629 w 11668"/>
                <a:gd name="connsiteY2" fmla="*/ 4934 h 10632"/>
                <a:gd name="connsiteX3" fmla="*/ 2959 w 11668"/>
                <a:gd name="connsiteY3" fmla="*/ 1810 h 10632"/>
                <a:gd name="connsiteX4" fmla="*/ 4787 w 11668"/>
                <a:gd name="connsiteY4" fmla="*/ 8 h 10632"/>
                <a:gd name="connsiteX5" fmla="*/ 6710 w 11668"/>
                <a:gd name="connsiteY5" fmla="*/ 1245 h 10632"/>
                <a:gd name="connsiteX6" fmla="*/ 8867 w 11668"/>
                <a:gd name="connsiteY6" fmla="*/ 3222 h 10632"/>
                <a:gd name="connsiteX7" fmla="*/ 11668 w 11668"/>
                <a:gd name="connsiteY7" fmla="*/ 4475 h 10632"/>
                <a:gd name="connsiteX0" fmla="*/ 0 w 11668"/>
                <a:gd name="connsiteY0" fmla="*/ 10632 h 10632"/>
                <a:gd name="connsiteX1" fmla="*/ 705 w 11668"/>
                <a:gd name="connsiteY1" fmla="*/ 7801 h 10632"/>
                <a:gd name="connsiteX2" fmla="*/ 1629 w 11668"/>
                <a:gd name="connsiteY2" fmla="*/ 4934 h 10632"/>
                <a:gd name="connsiteX3" fmla="*/ 2959 w 11668"/>
                <a:gd name="connsiteY3" fmla="*/ 1810 h 10632"/>
                <a:gd name="connsiteX4" fmla="*/ 4787 w 11668"/>
                <a:gd name="connsiteY4" fmla="*/ 8 h 10632"/>
                <a:gd name="connsiteX5" fmla="*/ 6710 w 11668"/>
                <a:gd name="connsiteY5" fmla="*/ 1245 h 10632"/>
                <a:gd name="connsiteX6" fmla="*/ 8719 w 11668"/>
                <a:gd name="connsiteY6" fmla="*/ 2865 h 10632"/>
                <a:gd name="connsiteX7" fmla="*/ 11668 w 11668"/>
                <a:gd name="connsiteY7" fmla="*/ 4475 h 10632"/>
                <a:gd name="connsiteX0" fmla="*/ 0 w 11668"/>
                <a:gd name="connsiteY0" fmla="*/ 10721 h 10721"/>
                <a:gd name="connsiteX1" fmla="*/ 705 w 11668"/>
                <a:gd name="connsiteY1" fmla="*/ 7890 h 10721"/>
                <a:gd name="connsiteX2" fmla="*/ 1629 w 11668"/>
                <a:gd name="connsiteY2" fmla="*/ 5023 h 10721"/>
                <a:gd name="connsiteX3" fmla="*/ 2959 w 11668"/>
                <a:gd name="connsiteY3" fmla="*/ 1899 h 10721"/>
                <a:gd name="connsiteX4" fmla="*/ 4787 w 11668"/>
                <a:gd name="connsiteY4" fmla="*/ 97 h 10721"/>
                <a:gd name="connsiteX5" fmla="*/ 6673 w 11668"/>
                <a:gd name="connsiteY5" fmla="*/ 530 h 10721"/>
                <a:gd name="connsiteX6" fmla="*/ 8719 w 11668"/>
                <a:gd name="connsiteY6" fmla="*/ 2954 h 10721"/>
                <a:gd name="connsiteX7" fmla="*/ 11668 w 11668"/>
                <a:gd name="connsiteY7" fmla="*/ 4564 h 10721"/>
                <a:gd name="connsiteX0" fmla="*/ 0 w 11668"/>
                <a:gd name="connsiteY0" fmla="*/ 10710 h 10710"/>
                <a:gd name="connsiteX1" fmla="*/ 705 w 11668"/>
                <a:gd name="connsiteY1" fmla="*/ 7879 h 10710"/>
                <a:gd name="connsiteX2" fmla="*/ 1629 w 11668"/>
                <a:gd name="connsiteY2" fmla="*/ 5012 h 10710"/>
                <a:gd name="connsiteX3" fmla="*/ 2959 w 11668"/>
                <a:gd name="connsiteY3" fmla="*/ 1888 h 10710"/>
                <a:gd name="connsiteX4" fmla="*/ 4787 w 11668"/>
                <a:gd name="connsiteY4" fmla="*/ 86 h 10710"/>
                <a:gd name="connsiteX5" fmla="*/ 6673 w 11668"/>
                <a:gd name="connsiteY5" fmla="*/ 519 h 10710"/>
                <a:gd name="connsiteX6" fmla="*/ 9088 w 11668"/>
                <a:gd name="connsiteY6" fmla="*/ 2496 h 10710"/>
                <a:gd name="connsiteX7" fmla="*/ 11668 w 11668"/>
                <a:gd name="connsiteY7" fmla="*/ 4553 h 10710"/>
                <a:gd name="connsiteX0" fmla="*/ 0 w 11594"/>
                <a:gd name="connsiteY0" fmla="*/ 10710 h 10710"/>
                <a:gd name="connsiteX1" fmla="*/ 705 w 11594"/>
                <a:gd name="connsiteY1" fmla="*/ 7879 h 10710"/>
                <a:gd name="connsiteX2" fmla="*/ 1629 w 11594"/>
                <a:gd name="connsiteY2" fmla="*/ 5012 h 10710"/>
                <a:gd name="connsiteX3" fmla="*/ 2959 w 11594"/>
                <a:gd name="connsiteY3" fmla="*/ 1888 h 10710"/>
                <a:gd name="connsiteX4" fmla="*/ 4787 w 11594"/>
                <a:gd name="connsiteY4" fmla="*/ 86 h 10710"/>
                <a:gd name="connsiteX5" fmla="*/ 6673 w 11594"/>
                <a:gd name="connsiteY5" fmla="*/ 519 h 10710"/>
                <a:gd name="connsiteX6" fmla="*/ 9088 w 11594"/>
                <a:gd name="connsiteY6" fmla="*/ 2496 h 10710"/>
                <a:gd name="connsiteX7" fmla="*/ 11594 w 11594"/>
                <a:gd name="connsiteY7" fmla="*/ 4017 h 10710"/>
                <a:gd name="connsiteX0" fmla="*/ 0 w 10930"/>
                <a:gd name="connsiteY0" fmla="*/ 10710 h 10710"/>
                <a:gd name="connsiteX1" fmla="*/ 705 w 10930"/>
                <a:gd name="connsiteY1" fmla="*/ 7879 h 10710"/>
                <a:gd name="connsiteX2" fmla="*/ 1629 w 10930"/>
                <a:gd name="connsiteY2" fmla="*/ 5012 h 10710"/>
                <a:gd name="connsiteX3" fmla="*/ 2959 w 10930"/>
                <a:gd name="connsiteY3" fmla="*/ 1888 h 10710"/>
                <a:gd name="connsiteX4" fmla="*/ 4787 w 10930"/>
                <a:gd name="connsiteY4" fmla="*/ 86 h 10710"/>
                <a:gd name="connsiteX5" fmla="*/ 6673 w 10930"/>
                <a:gd name="connsiteY5" fmla="*/ 519 h 10710"/>
                <a:gd name="connsiteX6" fmla="*/ 9088 w 10930"/>
                <a:gd name="connsiteY6" fmla="*/ 2496 h 10710"/>
                <a:gd name="connsiteX7" fmla="*/ 10930 w 10930"/>
                <a:gd name="connsiteY7" fmla="*/ 3034 h 10710"/>
                <a:gd name="connsiteX0" fmla="*/ 0 w 10930"/>
                <a:gd name="connsiteY0" fmla="*/ 10696 h 10696"/>
                <a:gd name="connsiteX1" fmla="*/ 705 w 10930"/>
                <a:gd name="connsiteY1" fmla="*/ 7865 h 10696"/>
                <a:gd name="connsiteX2" fmla="*/ 1629 w 10930"/>
                <a:gd name="connsiteY2" fmla="*/ 4998 h 10696"/>
                <a:gd name="connsiteX3" fmla="*/ 2959 w 10930"/>
                <a:gd name="connsiteY3" fmla="*/ 1874 h 10696"/>
                <a:gd name="connsiteX4" fmla="*/ 4787 w 10930"/>
                <a:gd name="connsiteY4" fmla="*/ 72 h 10696"/>
                <a:gd name="connsiteX5" fmla="*/ 6673 w 10930"/>
                <a:gd name="connsiteY5" fmla="*/ 505 h 10696"/>
                <a:gd name="connsiteX6" fmla="*/ 8719 w 10930"/>
                <a:gd name="connsiteY6" fmla="*/ 1856 h 10696"/>
                <a:gd name="connsiteX7" fmla="*/ 10930 w 10930"/>
                <a:gd name="connsiteY7" fmla="*/ 3020 h 10696"/>
                <a:gd name="connsiteX0" fmla="*/ 0 w 10930"/>
                <a:gd name="connsiteY0" fmla="*/ 10739 h 10739"/>
                <a:gd name="connsiteX1" fmla="*/ 705 w 10930"/>
                <a:gd name="connsiteY1" fmla="*/ 7908 h 10739"/>
                <a:gd name="connsiteX2" fmla="*/ 1629 w 10930"/>
                <a:gd name="connsiteY2" fmla="*/ 5041 h 10739"/>
                <a:gd name="connsiteX3" fmla="*/ 2959 w 10930"/>
                <a:gd name="connsiteY3" fmla="*/ 1917 h 10739"/>
                <a:gd name="connsiteX4" fmla="*/ 4787 w 10930"/>
                <a:gd name="connsiteY4" fmla="*/ 115 h 10739"/>
                <a:gd name="connsiteX5" fmla="*/ 6747 w 10930"/>
                <a:gd name="connsiteY5" fmla="*/ 369 h 10739"/>
                <a:gd name="connsiteX6" fmla="*/ 8719 w 10930"/>
                <a:gd name="connsiteY6" fmla="*/ 1899 h 10739"/>
                <a:gd name="connsiteX7" fmla="*/ 10930 w 10930"/>
                <a:gd name="connsiteY7" fmla="*/ 3063 h 10739"/>
                <a:gd name="connsiteX0" fmla="*/ 0 w 10930"/>
                <a:gd name="connsiteY0" fmla="*/ 10737 h 10737"/>
                <a:gd name="connsiteX1" fmla="*/ 705 w 10930"/>
                <a:gd name="connsiteY1" fmla="*/ 7906 h 10737"/>
                <a:gd name="connsiteX2" fmla="*/ 1629 w 10930"/>
                <a:gd name="connsiteY2" fmla="*/ 5039 h 10737"/>
                <a:gd name="connsiteX3" fmla="*/ 2959 w 10930"/>
                <a:gd name="connsiteY3" fmla="*/ 1915 h 10737"/>
                <a:gd name="connsiteX4" fmla="*/ 4787 w 10930"/>
                <a:gd name="connsiteY4" fmla="*/ 113 h 10737"/>
                <a:gd name="connsiteX5" fmla="*/ 6747 w 10930"/>
                <a:gd name="connsiteY5" fmla="*/ 367 h 10737"/>
                <a:gd name="connsiteX6" fmla="*/ 8960 w 10930"/>
                <a:gd name="connsiteY6" fmla="*/ 1808 h 10737"/>
                <a:gd name="connsiteX7" fmla="*/ 10930 w 10930"/>
                <a:gd name="connsiteY7" fmla="*/ 3061 h 10737"/>
                <a:gd name="connsiteX0" fmla="*/ 0 w 10896"/>
                <a:gd name="connsiteY0" fmla="*/ 10737 h 10737"/>
                <a:gd name="connsiteX1" fmla="*/ 705 w 10896"/>
                <a:gd name="connsiteY1" fmla="*/ 7906 h 10737"/>
                <a:gd name="connsiteX2" fmla="*/ 1629 w 10896"/>
                <a:gd name="connsiteY2" fmla="*/ 5039 h 10737"/>
                <a:gd name="connsiteX3" fmla="*/ 2959 w 10896"/>
                <a:gd name="connsiteY3" fmla="*/ 1915 h 10737"/>
                <a:gd name="connsiteX4" fmla="*/ 4787 w 10896"/>
                <a:gd name="connsiteY4" fmla="*/ 113 h 10737"/>
                <a:gd name="connsiteX5" fmla="*/ 6747 w 10896"/>
                <a:gd name="connsiteY5" fmla="*/ 367 h 10737"/>
                <a:gd name="connsiteX6" fmla="*/ 8960 w 10896"/>
                <a:gd name="connsiteY6" fmla="*/ 1808 h 10737"/>
                <a:gd name="connsiteX7" fmla="*/ 10896 w 10896"/>
                <a:gd name="connsiteY7" fmla="*/ 3240 h 10737"/>
                <a:gd name="connsiteX0" fmla="*/ 0 w 10896"/>
                <a:gd name="connsiteY0" fmla="*/ 10737 h 10737"/>
                <a:gd name="connsiteX1" fmla="*/ 705 w 10896"/>
                <a:gd name="connsiteY1" fmla="*/ 7906 h 10737"/>
                <a:gd name="connsiteX2" fmla="*/ 1629 w 10896"/>
                <a:gd name="connsiteY2" fmla="*/ 5039 h 10737"/>
                <a:gd name="connsiteX3" fmla="*/ 2959 w 10896"/>
                <a:gd name="connsiteY3" fmla="*/ 1915 h 10737"/>
                <a:gd name="connsiteX4" fmla="*/ 5131 w 10896"/>
                <a:gd name="connsiteY4" fmla="*/ 113 h 10737"/>
                <a:gd name="connsiteX5" fmla="*/ 6747 w 10896"/>
                <a:gd name="connsiteY5" fmla="*/ 367 h 10737"/>
                <a:gd name="connsiteX6" fmla="*/ 8960 w 10896"/>
                <a:gd name="connsiteY6" fmla="*/ 1808 h 10737"/>
                <a:gd name="connsiteX7" fmla="*/ 10896 w 10896"/>
                <a:gd name="connsiteY7" fmla="*/ 3240 h 10737"/>
                <a:gd name="connsiteX0" fmla="*/ 0 w 10896"/>
                <a:gd name="connsiteY0" fmla="*/ 10968 h 10968"/>
                <a:gd name="connsiteX1" fmla="*/ 705 w 10896"/>
                <a:gd name="connsiteY1" fmla="*/ 8137 h 10968"/>
                <a:gd name="connsiteX2" fmla="*/ 1629 w 10896"/>
                <a:gd name="connsiteY2" fmla="*/ 5270 h 10968"/>
                <a:gd name="connsiteX3" fmla="*/ 2959 w 10896"/>
                <a:gd name="connsiteY3" fmla="*/ 2146 h 10968"/>
                <a:gd name="connsiteX4" fmla="*/ 5097 w 10896"/>
                <a:gd name="connsiteY4" fmla="*/ 76 h 10968"/>
                <a:gd name="connsiteX5" fmla="*/ 6747 w 10896"/>
                <a:gd name="connsiteY5" fmla="*/ 598 h 10968"/>
                <a:gd name="connsiteX6" fmla="*/ 8960 w 10896"/>
                <a:gd name="connsiteY6" fmla="*/ 2039 h 10968"/>
                <a:gd name="connsiteX7" fmla="*/ 10896 w 10896"/>
                <a:gd name="connsiteY7" fmla="*/ 3471 h 10968"/>
                <a:gd name="connsiteX0" fmla="*/ 0 w 10896"/>
                <a:gd name="connsiteY0" fmla="*/ 10941 h 10941"/>
                <a:gd name="connsiteX1" fmla="*/ 705 w 10896"/>
                <a:gd name="connsiteY1" fmla="*/ 8110 h 10941"/>
                <a:gd name="connsiteX2" fmla="*/ 1629 w 10896"/>
                <a:gd name="connsiteY2" fmla="*/ 5243 h 10941"/>
                <a:gd name="connsiteX3" fmla="*/ 3235 w 10896"/>
                <a:gd name="connsiteY3" fmla="*/ 1673 h 10941"/>
                <a:gd name="connsiteX4" fmla="*/ 5097 w 10896"/>
                <a:gd name="connsiteY4" fmla="*/ 49 h 10941"/>
                <a:gd name="connsiteX5" fmla="*/ 6747 w 10896"/>
                <a:gd name="connsiteY5" fmla="*/ 571 h 10941"/>
                <a:gd name="connsiteX6" fmla="*/ 8960 w 10896"/>
                <a:gd name="connsiteY6" fmla="*/ 2012 h 10941"/>
                <a:gd name="connsiteX7" fmla="*/ 10896 w 10896"/>
                <a:gd name="connsiteY7" fmla="*/ 3444 h 10941"/>
                <a:gd name="connsiteX0" fmla="*/ 0 w 10896"/>
                <a:gd name="connsiteY0" fmla="*/ 10920 h 10920"/>
                <a:gd name="connsiteX1" fmla="*/ 705 w 10896"/>
                <a:gd name="connsiteY1" fmla="*/ 8089 h 10920"/>
                <a:gd name="connsiteX2" fmla="*/ 1629 w 10896"/>
                <a:gd name="connsiteY2" fmla="*/ 5222 h 10920"/>
                <a:gd name="connsiteX3" fmla="*/ 3511 w 10896"/>
                <a:gd name="connsiteY3" fmla="*/ 1295 h 10920"/>
                <a:gd name="connsiteX4" fmla="*/ 5097 w 10896"/>
                <a:gd name="connsiteY4" fmla="*/ 28 h 10920"/>
                <a:gd name="connsiteX5" fmla="*/ 6747 w 10896"/>
                <a:gd name="connsiteY5" fmla="*/ 550 h 10920"/>
                <a:gd name="connsiteX6" fmla="*/ 8960 w 10896"/>
                <a:gd name="connsiteY6" fmla="*/ 1991 h 10920"/>
                <a:gd name="connsiteX7" fmla="*/ 10896 w 10896"/>
                <a:gd name="connsiteY7" fmla="*/ 3423 h 10920"/>
                <a:gd name="connsiteX0" fmla="*/ 0 w 10896"/>
                <a:gd name="connsiteY0" fmla="*/ 10920 h 10920"/>
                <a:gd name="connsiteX1" fmla="*/ 705 w 10896"/>
                <a:gd name="connsiteY1" fmla="*/ 8089 h 10920"/>
                <a:gd name="connsiteX2" fmla="*/ 2077 w 10896"/>
                <a:gd name="connsiteY2" fmla="*/ 4062 h 10920"/>
                <a:gd name="connsiteX3" fmla="*/ 3511 w 10896"/>
                <a:gd name="connsiteY3" fmla="*/ 1295 h 10920"/>
                <a:gd name="connsiteX4" fmla="*/ 5097 w 10896"/>
                <a:gd name="connsiteY4" fmla="*/ 28 h 10920"/>
                <a:gd name="connsiteX5" fmla="*/ 6747 w 10896"/>
                <a:gd name="connsiteY5" fmla="*/ 550 h 10920"/>
                <a:gd name="connsiteX6" fmla="*/ 8960 w 10896"/>
                <a:gd name="connsiteY6" fmla="*/ 1991 h 10920"/>
                <a:gd name="connsiteX7" fmla="*/ 10896 w 10896"/>
                <a:gd name="connsiteY7" fmla="*/ 3423 h 10920"/>
                <a:gd name="connsiteX0" fmla="*/ 0 w 10896"/>
                <a:gd name="connsiteY0" fmla="*/ 10918 h 10918"/>
                <a:gd name="connsiteX1" fmla="*/ 705 w 10896"/>
                <a:gd name="connsiteY1" fmla="*/ 8087 h 10918"/>
                <a:gd name="connsiteX2" fmla="*/ 2077 w 10896"/>
                <a:gd name="connsiteY2" fmla="*/ 4060 h 10918"/>
                <a:gd name="connsiteX3" fmla="*/ 3511 w 10896"/>
                <a:gd name="connsiteY3" fmla="*/ 1293 h 10918"/>
                <a:gd name="connsiteX4" fmla="*/ 5097 w 10896"/>
                <a:gd name="connsiteY4" fmla="*/ 26 h 10918"/>
                <a:gd name="connsiteX5" fmla="*/ 6747 w 10896"/>
                <a:gd name="connsiteY5" fmla="*/ 548 h 10918"/>
                <a:gd name="connsiteX6" fmla="*/ 9063 w 10896"/>
                <a:gd name="connsiteY6" fmla="*/ 1810 h 10918"/>
                <a:gd name="connsiteX7" fmla="*/ 10896 w 10896"/>
                <a:gd name="connsiteY7" fmla="*/ 3421 h 10918"/>
                <a:gd name="connsiteX0" fmla="*/ 0 w 10862"/>
                <a:gd name="connsiteY0" fmla="*/ 10918 h 10918"/>
                <a:gd name="connsiteX1" fmla="*/ 705 w 10862"/>
                <a:gd name="connsiteY1" fmla="*/ 8087 h 10918"/>
                <a:gd name="connsiteX2" fmla="*/ 2077 w 10862"/>
                <a:gd name="connsiteY2" fmla="*/ 4060 h 10918"/>
                <a:gd name="connsiteX3" fmla="*/ 3511 w 10862"/>
                <a:gd name="connsiteY3" fmla="*/ 1293 h 10918"/>
                <a:gd name="connsiteX4" fmla="*/ 5097 w 10862"/>
                <a:gd name="connsiteY4" fmla="*/ 26 h 10918"/>
                <a:gd name="connsiteX5" fmla="*/ 6747 w 10862"/>
                <a:gd name="connsiteY5" fmla="*/ 548 h 10918"/>
                <a:gd name="connsiteX6" fmla="*/ 9063 w 10862"/>
                <a:gd name="connsiteY6" fmla="*/ 1810 h 10918"/>
                <a:gd name="connsiteX7" fmla="*/ 10862 w 10862"/>
                <a:gd name="connsiteY7" fmla="*/ 2975 h 10918"/>
                <a:gd name="connsiteX0" fmla="*/ 0 w 10862"/>
                <a:gd name="connsiteY0" fmla="*/ 10918 h 10918"/>
                <a:gd name="connsiteX1" fmla="*/ 705 w 10862"/>
                <a:gd name="connsiteY1" fmla="*/ 8087 h 10918"/>
                <a:gd name="connsiteX2" fmla="*/ 2077 w 10862"/>
                <a:gd name="connsiteY2" fmla="*/ 4060 h 10918"/>
                <a:gd name="connsiteX3" fmla="*/ 3511 w 10862"/>
                <a:gd name="connsiteY3" fmla="*/ 1293 h 10918"/>
                <a:gd name="connsiteX4" fmla="*/ 5097 w 10862"/>
                <a:gd name="connsiteY4" fmla="*/ 26 h 10918"/>
                <a:gd name="connsiteX5" fmla="*/ 6747 w 10862"/>
                <a:gd name="connsiteY5" fmla="*/ 548 h 10918"/>
                <a:gd name="connsiteX6" fmla="*/ 8546 w 10862"/>
                <a:gd name="connsiteY6" fmla="*/ 1721 h 10918"/>
                <a:gd name="connsiteX7" fmla="*/ 10862 w 10862"/>
                <a:gd name="connsiteY7" fmla="*/ 2975 h 1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2" h="10918">
                  <a:moveTo>
                    <a:pt x="0" y="10918"/>
                  </a:moveTo>
                  <a:cubicBezTo>
                    <a:pt x="116" y="10440"/>
                    <a:pt x="359" y="9230"/>
                    <a:pt x="705" y="8087"/>
                  </a:cubicBezTo>
                  <a:cubicBezTo>
                    <a:pt x="1051" y="6944"/>
                    <a:pt x="1609" y="5192"/>
                    <a:pt x="2077" y="4060"/>
                  </a:cubicBezTo>
                  <a:cubicBezTo>
                    <a:pt x="2545" y="2928"/>
                    <a:pt x="3008" y="1965"/>
                    <a:pt x="3511" y="1293"/>
                  </a:cubicBezTo>
                  <a:cubicBezTo>
                    <a:pt x="4014" y="621"/>
                    <a:pt x="4558" y="150"/>
                    <a:pt x="5097" y="26"/>
                  </a:cubicBezTo>
                  <a:cubicBezTo>
                    <a:pt x="5636" y="-98"/>
                    <a:pt x="6172" y="265"/>
                    <a:pt x="6747" y="548"/>
                  </a:cubicBezTo>
                  <a:cubicBezTo>
                    <a:pt x="7322" y="831"/>
                    <a:pt x="7860" y="1317"/>
                    <a:pt x="8546" y="1721"/>
                  </a:cubicBezTo>
                  <a:cubicBezTo>
                    <a:pt x="9232" y="2126"/>
                    <a:pt x="9878" y="2589"/>
                    <a:pt x="10862" y="2975"/>
                  </a:cubicBezTo>
                </a:path>
              </a:pathLst>
            </a:custGeom>
            <a:noFill/>
            <a:ln w="19050" cmpd="sng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174" y="2820"/>
              <a:ext cx="1915" cy="269"/>
            </a:xfrm>
            <a:custGeom>
              <a:avLst/>
              <a:gdLst>
                <a:gd name="T0" fmla="*/ 0 w 1942"/>
                <a:gd name="T1" fmla="*/ 218 h 283"/>
                <a:gd name="T2" fmla="*/ 112 w 1942"/>
                <a:gd name="T3" fmla="*/ 276 h 283"/>
                <a:gd name="T4" fmla="*/ 330 w 1942"/>
                <a:gd name="T5" fmla="*/ 263 h 283"/>
                <a:gd name="T6" fmla="*/ 755 w 1942"/>
                <a:gd name="T7" fmla="*/ 157 h 283"/>
                <a:gd name="T8" fmla="*/ 1238 w 1942"/>
                <a:gd name="T9" fmla="*/ 84 h 283"/>
                <a:gd name="T10" fmla="*/ 1942 w 1942"/>
                <a:gd name="T11" fmla="*/ 0 h 2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42"/>
                <a:gd name="T19" fmla="*/ 0 h 283"/>
                <a:gd name="T20" fmla="*/ 1942 w 1942"/>
                <a:gd name="T21" fmla="*/ 283 h 283"/>
                <a:gd name="connsiteX0" fmla="*/ 0 w 10000"/>
                <a:gd name="connsiteY0" fmla="*/ 7703 h 9986"/>
                <a:gd name="connsiteX1" fmla="*/ 577 w 10000"/>
                <a:gd name="connsiteY1" fmla="*/ 9753 h 9986"/>
                <a:gd name="connsiteX2" fmla="*/ 1699 w 10000"/>
                <a:gd name="connsiteY2" fmla="*/ 9293 h 9986"/>
                <a:gd name="connsiteX3" fmla="*/ 4073 w 10000"/>
                <a:gd name="connsiteY3" fmla="*/ 3852 h 9986"/>
                <a:gd name="connsiteX4" fmla="*/ 6375 w 10000"/>
                <a:gd name="connsiteY4" fmla="*/ 2968 h 9986"/>
                <a:gd name="connsiteX5" fmla="*/ 10000 w 10000"/>
                <a:gd name="connsiteY5" fmla="*/ 0 h 9986"/>
                <a:gd name="connsiteX0" fmla="*/ 0 w 10000"/>
                <a:gd name="connsiteY0" fmla="*/ 7714 h 10000"/>
                <a:gd name="connsiteX1" fmla="*/ 577 w 10000"/>
                <a:gd name="connsiteY1" fmla="*/ 9767 h 10000"/>
                <a:gd name="connsiteX2" fmla="*/ 1699 w 10000"/>
                <a:gd name="connsiteY2" fmla="*/ 9306 h 10000"/>
                <a:gd name="connsiteX3" fmla="*/ 4073 w 10000"/>
                <a:gd name="connsiteY3" fmla="*/ 3857 h 10000"/>
                <a:gd name="connsiteX4" fmla="*/ 6375 w 10000"/>
                <a:gd name="connsiteY4" fmla="*/ 1912 h 10000"/>
                <a:gd name="connsiteX5" fmla="*/ 10000 w 10000"/>
                <a:gd name="connsiteY5" fmla="*/ 0 h 10000"/>
                <a:gd name="connsiteX0" fmla="*/ 0 w 9784"/>
                <a:gd name="connsiteY0" fmla="*/ 7502 h 9788"/>
                <a:gd name="connsiteX1" fmla="*/ 577 w 9784"/>
                <a:gd name="connsiteY1" fmla="*/ 9555 h 9788"/>
                <a:gd name="connsiteX2" fmla="*/ 1699 w 9784"/>
                <a:gd name="connsiteY2" fmla="*/ 9094 h 9788"/>
                <a:gd name="connsiteX3" fmla="*/ 4073 w 9784"/>
                <a:gd name="connsiteY3" fmla="*/ 3645 h 9788"/>
                <a:gd name="connsiteX4" fmla="*/ 6375 w 9784"/>
                <a:gd name="connsiteY4" fmla="*/ 1700 h 9788"/>
                <a:gd name="connsiteX5" fmla="*/ 9784 w 9784"/>
                <a:gd name="connsiteY5" fmla="*/ 0 h 9788"/>
                <a:gd name="connsiteX0" fmla="*/ 0 w 9874"/>
                <a:gd name="connsiteY0" fmla="*/ 7447 h 9783"/>
                <a:gd name="connsiteX1" fmla="*/ 590 w 9874"/>
                <a:gd name="connsiteY1" fmla="*/ 9545 h 9783"/>
                <a:gd name="connsiteX2" fmla="*/ 1737 w 9874"/>
                <a:gd name="connsiteY2" fmla="*/ 9074 h 9783"/>
                <a:gd name="connsiteX3" fmla="*/ 4163 w 9874"/>
                <a:gd name="connsiteY3" fmla="*/ 3507 h 9783"/>
                <a:gd name="connsiteX4" fmla="*/ 6516 w 9874"/>
                <a:gd name="connsiteY4" fmla="*/ 1520 h 9783"/>
                <a:gd name="connsiteX5" fmla="*/ 9874 w 9874"/>
                <a:gd name="connsiteY5" fmla="*/ 0 h 9783"/>
                <a:gd name="connsiteX0" fmla="*/ 0 w 10000"/>
                <a:gd name="connsiteY0" fmla="*/ 7612 h 10000"/>
                <a:gd name="connsiteX1" fmla="*/ 598 w 10000"/>
                <a:gd name="connsiteY1" fmla="*/ 9757 h 10000"/>
                <a:gd name="connsiteX2" fmla="*/ 1759 w 10000"/>
                <a:gd name="connsiteY2" fmla="*/ 9275 h 10000"/>
                <a:gd name="connsiteX3" fmla="*/ 4216 w 10000"/>
                <a:gd name="connsiteY3" fmla="*/ 3585 h 10000"/>
                <a:gd name="connsiteX4" fmla="*/ 6471 w 10000"/>
                <a:gd name="connsiteY4" fmla="*/ 1111 h 10000"/>
                <a:gd name="connsiteX5" fmla="*/ 10000 w 10000"/>
                <a:gd name="connsiteY5" fmla="*/ 0 h 10000"/>
                <a:gd name="connsiteX0" fmla="*/ 0 w 10000"/>
                <a:gd name="connsiteY0" fmla="*/ 7612 h 10000"/>
                <a:gd name="connsiteX1" fmla="*/ 598 w 10000"/>
                <a:gd name="connsiteY1" fmla="*/ 9757 h 10000"/>
                <a:gd name="connsiteX2" fmla="*/ 1759 w 10000"/>
                <a:gd name="connsiteY2" fmla="*/ 9275 h 10000"/>
                <a:gd name="connsiteX3" fmla="*/ 4216 w 10000"/>
                <a:gd name="connsiteY3" fmla="*/ 3585 h 10000"/>
                <a:gd name="connsiteX4" fmla="*/ 6471 w 10000"/>
                <a:gd name="connsiteY4" fmla="*/ 1111 h 10000"/>
                <a:gd name="connsiteX5" fmla="*/ 8454 w 10000"/>
                <a:gd name="connsiteY5" fmla="*/ 148 h 10000"/>
                <a:gd name="connsiteX6" fmla="*/ 10000 w 10000"/>
                <a:gd name="connsiteY6" fmla="*/ 0 h 10000"/>
                <a:gd name="connsiteX0" fmla="*/ 0 w 10000"/>
                <a:gd name="connsiteY0" fmla="*/ 7612 h 9908"/>
                <a:gd name="connsiteX1" fmla="*/ 598 w 10000"/>
                <a:gd name="connsiteY1" fmla="*/ 9596 h 9908"/>
                <a:gd name="connsiteX2" fmla="*/ 1759 w 10000"/>
                <a:gd name="connsiteY2" fmla="*/ 9275 h 9908"/>
                <a:gd name="connsiteX3" fmla="*/ 4216 w 10000"/>
                <a:gd name="connsiteY3" fmla="*/ 3585 h 9908"/>
                <a:gd name="connsiteX4" fmla="*/ 6471 w 10000"/>
                <a:gd name="connsiteY4" fmla="*/ 1111 h 9908"/>
                <a:gd name="connsiteX5" fmla="*/ 8454 w 10000"/>
                <a:gd name="connsiteY5" fmla="*/ 148 h 9908"/>
                <a:gd name="connsiteX6" fmla="*/ 10000 w 10000"/>
                <a:gd name="connsiteY6" fmla="*/ 0 h 9908"/>
                <a:gd name="connsiteX0" fmla="*/ 0 w 10023"/>
                <a:gd name="connsiteY0" fmla="*/ 7683 h 10007"/>
                <a:gd name="connsiteX1" fmla="*/ 621 w 10023"/>
                <a:gd name="connsiteY1" fmla="*/ 9685 h 10007"/>
                <a:gd name="connsiteX2" fmla="*/ 1782 w 10023"/>
                <a:gd name="connsiteY2" fmla="*/ 9361 h 10007"/>
                <a:gd name="connsiteX3" fmla="*/ 4239 w 10023"/>
                <a:gd name="connsiteY3" fmla="*/ 3618 h 10007"/>
                <a:gd name="connsiteX4" fmla="*/ 6494 w 10023"/>
                <a:gd name="connsiteY4" fmla="*/ 1121 h 10007"/>
                <a:gd name="connsiteX5" fmla="*/ 8477 w 10023"/>
                <a:gd name="connsiteY5" fmla="*/ 149 h 10007"/>
                <a:gd name="connsiteX6" fmla="*/ 10023 w 10023"/>
                <a:gd name="connsiteY6" fmla="*/ 0 h 1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23" h="10007">
                  <a:moveTo>
                    <a:pt x="0" y="7683"/>
                  </a:moveTo>
                  <a:cubicBezTo>
                    <a:pt x="101" y="8056"/>
                    <a:pt x="324" y="9405"/>
                    <a:pt x="621" y="9685"/>
                  </a:cubicBezTo>
                  <a:cubicBezTo>
                    <a:pt x="918" y="9965"/>
                    <a:pt x="1179" y="10372"/>
                    <a:pt x="1782" y="9361"/>
                  </a:cubicBezTo>
                  <a:cubicBezTo>
                    <a:pt x="2385" y="8350"/>
                    <a:pt x="3454" y="4992"/>
                    <a:pt x="4239" y="3618"/>
                  </a:cubicBezTo>
                  <a:cubicBezTo>
                    <a:pt x="5024" y="2245"/>
                    <a:pt x="5798" y="1662"/>
                    <a:pt x="6494" y="1121"/>
                  </a:cubicBezTo>
                  <a:cubicBezTo>
                    <a:pt x="7190" y="580"/>
                    <a:pt x="7889" y="336"/>
                    <a:pt x="8477" y="149"/>
                  </a:cubicBezTo>
                  <a:cubicBezTo>
                    <a:pt x="9065" y="-37"/>
                    <a:pt x="9755" y="62"/>
                    <a:pt x="10023" y="0"/>
                  </a:cubicBezTo>
                </a:path>
              </a:pathLst>
            </a:custGeom>
            <a:noFill/>
            <a:ln w="19050" cmpd="sng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1845" y="2212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468606" y="2742959"/>
            <a:ext cx="3186113" cy="2409826"/>
            <a:chOff x="178" y="1818"/>
            <a:chExt cx="2007" cy="1518"/>
          </a:xfrm>
        </p:grpSpPr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178" y="1818"/>
              <a:ext cx="1896" cy="1203"/>
            </a:xfrm>
            <a:custGeom>
              <a:avLst/>
              <a:gdLst>
                <a:gd name="T0" fmla="*/ 0 w 1986"/>
                <a:gd name="T1" fmla="*/ 1255 h 1255"/>
                <a:gd name="T2" fmla="*/ 70 w 1986"/>
                <a:gd name="T3" fmla="*/ 1015 h 1255"/>
                <a:gd name="T4" fmla="*/ 188 w 1986"/>
                <a:gd name="T5" fmla="*/ 698 h 1255"/>
                <a:gd name="T6" fmla="*/ 409 w 1986"/>
                <a:gd name="T7" fmla="*/ 295 h 1255"/>
                <a:gd name="T8" fmla="*/ 735 w 1986"/>
                <a:gd name="T9" fmla="*/ 30 h 1255"/>
                <a:gd name="T10" fmla="*/ 1362 w 1986"/>
                <a:gd name="T11" fmla="*/ 116 h 1255"/>
                <a:gd name="T12" fmla="*/ 1986 w 1986"/>
                <a:gd name="T13" fmla="*/ 148 h 12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6"/>
                <a:gd name="T22" fmla="*/ 0 h 1255"/>
                <a:gd name="T23" fmla="*/ 1986 w 1986"/>
                <a:gd name="T24" fmla="*/ 1255 h 1255"/>
                <a:gd name="connsiteX0" fmla="*/ 0 w 10000"/>
                <a:gd name="connsiteY0" fmla="*/ 9456 h 9456"/>
                <a:gd name="connsiteX1" fmla="*/ 352 w 10000"/>
                <a:gd name="connsiteY1" fmla="*/ 7544 h 9456"/>
                <a:gd name="connsiteX2" fmla="*/ 947 w 10000"/>
                <a:gd name="connsiteY2" fmla="*/ 5018 h 9456"/>
                <a:gd name="connsiteX3" fmla="*/ 2059 w 10000"/>
                <a:gd name="connsiteY3" fmla="*/ 1807 h 9456"/>
                <a:gd name="connsiteX4" fmla="*/ 3761 w 10000"/>
                <a:gd name="connsiteY4" fmla="*/ 77 h 9456"/>
                <a:gd name="connsiteX5" fmla="*/ 6858 w 10000"/>
                <a:gd name="connsiteY5" fmla="*/ 380 h 9456"/>
                <a:gd name="connsiteX6" fmla="*/ 10000 w 10000"/>
                <a:gd name="connsiteY6" fmla="*/ 635 h 9456"/>
                <a:gd name="connsiteX0" fmla="*/ 0 w 10000"/>
                <a:gd name="connsiteY0" fmla="*/ 10173 h 10173"/>
                <a:gd name="connsiteX1" fmla="*/ 352 w 10000"/>
                <a:gd name="connsiteY1" fmla="*/ 8151 h 10173"/>
                <a:gd name="connsiteX2" fmla="*/ 947 w 10000"/>
                <a:gd name="connsiteY2" fmla="*/ 5480 h 10173"/>
                <a:gd name="connsiteX3" fmla="*/ 2059 w 10000"/>
                <a:gd name="connsiteY3" fmla="*/ 2084 h 10173"/>
                <a:gd name="connsiteX4" fmla="*/ 3761 w 10000"/>
                <a:gd name="connsiteY4" fmla="*/ 254 h 10173"/>
                <a:gd name="connsiteX5" fmla="*/ 6707 w 10000"/>
                <a:gd name="connsiteY5" fmla="*/ 120 h 10173"/>
                <a:gd name="connsiteX6" fmla="*/ 10000 w 10000"/>
                <a:gd name="connsiteY6" fmla="*/ 845 h 10173"/>
                <a:gd name="connsiteX0" fmla="*/ 0 w 9607"/>
                <a:gd name="connsiteY0" fmla="*/ 10173 h 10173"/>
                <a:gd name="connsiteX1" fmla="*/ 352 w 9607"/>
                <a:gd name="connsiteY1" fmla="*/ 8151 h 10173"/>
                <a:gd name="connsiteX2" fmla="*/ 947 w 9607"/>
                <a:gd name="connsiteY2" fmla="*/ 5480 h 10173"/>
                <a:gd name="connsiteX3" fmla="*/ 2059 w 9607"/>
                <a:gd name="connsiteY3" fmla="*/ 2084 h 10173"/>
                <a:gd name="connsiteX4" fmla="*/ 3761 w 9607"/>
                <a:gd name="connsiteY4" fmla="*/ 254 h 10173"/>
                <a:gd name="connsiteX5" fmla="*/ 6707 w 9607"/>
                <a:gd name="connsiteY5" fmla="*/ 120 h 10173"/>
                <a:gd name="connsiteX6" fmla="*/ 9607 w 9607"/>
                <a:gd name="connsiteY6" fmla="*/ 845 h 10173"/>
                <a:gd name="connsiteX0" fmla="*/ 0 w 9937"/>
                <a:gd name="connsiteY0" fmla="*/ 10000 h 10000"/>
                <a:gd name="connsiteX1" fmla="*/ 366 w 9937"/>
                <a:gd name="connsiteY1" fmla="*/ 8012 h 10000"/>
                <a:gd name="connsiteX2" fmla="*/ 986 w 9937"/>
                <a:gd name="connsiteY2" fmla="*/ 5387 h 10000"/>
                <a:gd name="connsiteX3" fmla="*/ 2143 w 9937"/>
                <a:gd name="connsiteY3" fmla="*/ 2049 h 10000"/>
                <a:gd name="connsiteX4" fmla="*/ 3915 w 9937"/>
                <a:gd name="connsiteY4" fmla="*/ 250 h 10000"/>
                <a:gd name="connsiteX5" fmla="*/ 6981 w 9937"/>
                <a:gd name="connsiteY5" fmla="*/ 118 h 10000"/>
                <a:gd name="connsiteX6" fmla="*/ 9937 w 9937"/>
                <a:gd name="connsiteY6" fmla="*/ 583 h 10000"/>
                <a:gd name="connsiteX0" fmla="*/ 0 w 10000"/>
                <a:gd name="connsiteY0" fmla="*/ 10034 h 10034"/>
                <a:gd name="connsiteX1" fmla="*/ 368 w 10000"/>
                <a:gd name="connsiteY1" fmla="*/ 8046 h 10034"/>
                <a:gd name="connsiteX2" fmla="*/ 992 w 10000"/>
                <a:gd name="connsiteY2" fmla="*/ 5421 h 10034"/>
                <a:gd name="connsiteX3" fmla="*/ 2157 w 10000"/>
                <a:gd name="connsiteY3" fmla="*/ 2083 h 10034"/>
                <a:gd name="connsiteX4" fmla="*/ 3940 w 10000"/>
                <a:gd name="connsiteY4" fmla="*/ 284 h 10034"/>
                <a:gd name="connsiteX5" fmla="*/ 7247 w 10000"/>
                <a:gd name="connsiteY5" fmla="*/ 102 h 10034"/>
                <a:gd name="connsiteX6" fmla="*/ 10000 w 10000"/>
                <a:gd name="connsiteY6" fmla="*/ 617 h 10034"/>
                <a:gd name="connsiteX0" fmla="*/ 0 w 10000"/>
                <a:gd name="connsiteY0" fmla="*/ 9983 h 9983"/>
                <a:gd name="connsiteX1" fmla="*/ 368 w 10000"/>
                <a:gd name="connsiteY1" fmla="*/ 7995 h 9983"/>
                <a:gd name="connsiteX2" fmla="*/ 992 w 10000"/>
                <a:gd name="connsiteY2" fmla="*/ 5370 h 9983"/>
                <a:gd name="connsiteX3" fmla="*/ 2157 w 10000"/>
                <a:gd name="connsiteY3" fmla="*/ 2032 h 9983"/>
                <a:gd name="connsiteX4" fmla="*/ 3940 w 10000"/>
                <a:gd name="connsiteY4" fmla="*/ 481 h 9983"/>
                <a:gd name="connsiteX5" fmla="*/ 7247 w 10000"/>
                <a:gd name="connsiteY5" fmla="*/ 51 h 9983"/>
                <a:gd name="connsiteX6" fmla="*/ 10000 w 10000"/>
                <a:gd name="connsiteY6" fmla="*/ 566 h 9983"/>
                <a:gd name="connsiteX0" fmla="*/ 0 w 10000"/>
                <a:gd name="connsiteY0" fmla="*/ 10004 h 10004"/>
                <a:gd name="connsiteX1" fmla="*/ 368 w 10000"/>
                <a:gd name="connsiteY1" fmla="*/ 8013 h 10004"/>
                <a:gd name="connsiteX2" fmla="*/ 992 w 10000"/>
                <a:gd name="connsiteY2" fmla="*/ 5383 h 10004"/>
                <a:gd name="connsiteX3" fmla="*/ 2157 w 10000"/>
                <a:gd name="connsiteY3" fmla="*/ 2288 h 10004"/>
                <a:gd name="connsiteX4" fmla="*/ 3940 w 10000"/>
                <a:gd name="connsiteY4" fmla="*/ 486 h 10004"/>
                <a:gd name="connsiteX5" fmla="*/ 7247 w 10000"/>
                <a:gd name="connsiteY5" fmla="*/ 55 h 10004"/>
                <a:gd name="connsiteX6" fmla="*/ 10000 w 10000"/>
                <a:gd name="connsiteY6" fmla="*/ 571 h 10004"/>
                <a:gd name="connsiteX0" fmla="*/ 0 w 10000"/>
                <a:gd name="connsiteY0" fmla="*/ 10021 h 10021"/>
                <a:gd name="connsiteX1" fmla="*/ 368 w 10000"/>
                <a:gd name="connsiteY1" fmla="*/ 8030 h 10021"/>
                <a:gd name="connsiteX2" fmla="*/ 992 w 10000"/>
                <a:gd name="connsiteY2" fmla="*/ 5400 h 10021"/>
                <a:gd name="connsiteX3" fmla="*/ 2157 w 10000"/>
                <a:gd name="connsiteY3" fmla="*/ 2305 h 10021"/>
                <a:gd name="connsiteX4" fmla="*/ 3940 w 10000"/>
                <a:gd name="connsiteY4" fmla="*/ 503 h 10021"/>
                <a:gd name="connsiteX5" fmla="*/ 5654 w 10000"/>
                <a:gd name="connsiteY5" fmla="*/ 42 h 10021"/>
                <a:gd name="connsiteX6" fmla="*/ 7247 w 10000"/>
                <a:gd name="connsiteY6" fmla="*/ 72 h 10021"/>
                <a:gd name="connsiteX7" fmla="*/ 10000 w 10000"/>
                <a:gd name="connsiteY7" fmla="*/ 588 h 10021"/>
                <a:gd name="connsiteX0" fmla="*/ 0 w 10000"/>
                <a:gd name="connsiteY0" fmla="*/ 9997 h 9997"/>
                <a:gd name="connsiteX1" fmla="*/ 368 w 10000"/>
                <a:gd name="connsiteY1" fmla="*/ 8006 h 9997"/>
                <a:gd name="connsiteX2" fmla="*/ 992 w 10000"/>
                <a:gd name="connsiteY2" fmla="*/ 5376 h 9997"/>
                <a:gd name="connsiteX3" fmla="*/ 2157 w 10000"/>
                <a:gd name="connsiteY3" fmla="*/ 2281 h 9997"/>
                <a:gd name="connsiteX4" fmla="*/ 3940 w 10000"/>
                <a:gd name="connsiteY4" fmla="*/ 479 h 9997"/>
                <a:gd name="connsiteX5" fmla="*/ 5654 w 10000"/>
                <a:gd name="connsiteY5" fmla="*/ 18 h 9997"/>
                <a:gd name="connsiteX6" fmla="*/ 7193 w 10000"/>
                <a:gd name="connsiteY6" fmla="*/ 133 h 9997"/>
                <a:gd name="connsiteX7" fmla="*/ 10000 w 10000"/>
                <a:gd name="connsiteY7" fmla="*/ 564 h 9997"/>
                <a:gd name="connsiteX0" fmla="*/ 0 w 10000"/>
                <a:gd name="connsiteY0" fmla="*/ 9986 h 9986"/>
                <a:gd name="connsiteX1" fmla="*/ 368 w 10000"/>
                <a:gd name="connsiteY1" fmla="*/ 7994 h 9986"/>
                <a:gd name="connsiteX2" fmla="*/ 992 w 10000"/>
                <a:gd name="connsiteY2" fmla="*/ 5364 h 9986"/>
                <a:gd name="connsiteX3" fmla="*/ 2157 w 10000"/>
                <a:gd name="connsiteY3" fmla="*/ 2268 h 9986"/>
                <a:gd name="connsiteX4" fmla="*/ 3940 w 10000"/>
                <a:gd name="connsiteY4" fmla="*/ 465 h 9986"/>
                <a:gd name="connsiteX5" fmla="*/ 5654 w 10000"/>
                <a:gd name="connsiteY5" fmla="*/ 4 h 9986"/>
                <a:gd name="connsiteX6" fmla="*/ 7392 w 10000"/>
                <a:gd name="connsiteY6" fmla="*/ 261 h 9986"/>
                <a:gd name="connsiteX7" fmla="*/ 10000 w 10000"/>
                <a:gd name="connsiteY7" fmla="*/ 550 h 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9986">
                  <a:moveTo>
                    <a:pt x="0" y="9986"/>
                  </a:moveTo>
                  <a:cubicBezTo>
                    <a:pt x="62" y="9654"/>
                    <a:pt x="205" y="8767"/>
                    <a:pt x="368" y="7994"/>
                  </a:cubicBezTo>
                  <a:cubicBezTo>
                    <a:pt x="533" y="7222"/>
                    <a:pt x="694" y="6318"/>
                    <a:pt x="992" y="5364"/>
                  </a:cubicBezTo>
                  <a:cubicBezTo>
                    <a:pt x="1290" y="4409"/>
                    <a:pt x="1666" y="3085"/>
                    <a:pt x="2157" y="2268"/>
                  </a:cubicBezTo>
                  <a:cubicBezTo>
                    <a:pt x="2648" y="1451"/>
                    <a:pt x="3357" y="842"/>
                    <a:pt x="3940" y="465"/>
                  </a:cubicBezTo>
                  <a:cubicBezTo>
                    <a:pt x="4523" y="88"/>
                    <a:pt x="5079" y="38"/>
                    <a:pt x="5654" y="4"/>
                  </a:cubicBezTo>
                  <a:cubicBezTo>
                    <a:pt x="6229" y="-30"/>
                    <a:pt x="6641" y="186"/>
                    <a:pt x="7392" y="261"/>
                  </a:cubicBezTo>
                  <a:cubicBezTo>
                    <a:pt x="8489" y="427"/>
                    <a:pt x="9314" y="492"/>
                    <a:pt x="10000" y="550"/>
                  </a:cubicBezTo>
                </a:path>
              </a:pathLst>
            </a:custGeom>
            <a:noFill/>
            <a:ln w="19050" cmpd="sng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178" y="3028"/>
              <a:ext cx="1910" cy="308"/>
            </a:xfrm>
            <a:custGeom>
              <a:avLst/>
              <a:gdLst>
                <a:gd name="T0" fmla="*/ 0 w 1908"/>
                <a:gd name="T1" fmla="*/ 0 h 319"/>
                <a:gd name="T2" fmla="*/ 96 w 1908"/>
                <a:gd name="T3" fmla="*/ 137 h 319"/>
                <a:gd name="T4" fmla="*/ 262 w 1908"/>
                <a:gd name="T5" fmla="*/ 254 h 319"/>
                <a:gd name="T6" fmla="*/ 566 w 1908"/>
                <a:gd name="T7" fmla="*/ 319 h 319"/>
                <a:gd name="T8" fmla="*/ 1054 w 1908"/>
                <a:gd name="T9" fmla="*/ 252 h 319"/>
                <a:gd name="T10" fmla="*/ 1486 w 1908"/>
                <a:gd name="T11" fmla="*/ 185 h 319"/>
                <a:gd name="T12" fmla="*/ 1908 w 1908"/>
                <a:gd name="T13" fmla="*/ 127 h 3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08"/>
                <a:gd name="T22" fmla="*/ 0 h 319"/>
                <a:gd name="T23" fmla="*/ 1908 w 1908"/>
                <a:gd name="T24" fmla="*/ 319 h 319"/>
                <a:gd name="connsiteX0" fmla="*/ 0 w 10000"/>
                <a:gd name="connsiteY0" fmla="*/ 0 h 10000"/>
                <a:gd name="connsiteX1" fmla="*/ 503 w 10000"/>
                <a:gd name="connsiteY1" fmla="*/ 4295 h 10000"/>
                <a:gd name="connsiteX2" fmla="*/ 1373 w 10000"/>
                <a:gd name="connsiteY2" fmla="*/ 7962 h 10000"/>
                <a:gd name="connsiteX3" fmla="*/ 2966 w 10000"/>
                <a:gd name="connsiteY3" fmla="*/ 10000 h 10000"/>
                <a:gd name="connsiteX4" fmla="*/ 5524 w 10000"/>
                <a:gd name="connsiteY4" fmla="*/ 7900 h 10000"/>
                <a:gd name="connsiteX5" fmla="*/ 7788 w 10000"/>
                <a:gd name="connsiteY5" fmla="*/ 5799 h 10000"/>
                <a:gd name="connsiteX6" fmla="*/ 10000 w 10000"/>
                <a:gd name="connsiteY6" fmla="*/ 4169 h 10000"/>
                <a:gd name="connsiteX0" fmla="*/ 0 w 10000"/>
                <a:gd name="connsiteY0" fmla="*/ 0 h 10000"/>
                <a:gd name="connsiteX1" fmla="*/ 503 w 10000"/>
                <a:gd name="connsiteY1" fmla="*/ 3816 h 10000"/>
                <a:gd name="connsiteX2" fmla="*/ 1373 w 10000"/>
                <a:gd name="connsiteY2" fmla="*/ 7962 h 10000"/>
                <a:gd name="connsiteX3" fmla="*/ 2966 w 10000"/>
                <a:gd name="connsiteY3" fmla="*/ 10000 h 10000"/>
                <a:gd name="connsiteX4" fmla="*/ 5524 w 10000"/>
                <a:gd name="connsiteY4" fmla="*/ 7900 h 10000"/>
                <a:gd name="connsiteX5" fmla="*/ 7788 w 10000"/>
                <a:gd name="connsiteY5" fmla="*/ 5799 h 10000"/>
                <a:gd name="connsiteX6" fmla="*/ 10000 w 10000"/>
                <a:gd name="connsiteY6" fmla="*/ 4169 h 10000"/>
                <a:gd name="connsiteX0" fmla="*/ 0 w 10000"/>
                <a:gd name="connsiteY0" fmla="*/ 0 h 10000"/>
                <a:gd name="connsiteX1" fmla="*/ 503 w 10000"/>
                <a:gd name="connsiteY1" fmla="*/ 3816 h 10000"/>
                <a:gd name="connsiteX2" fmla="*/ 1419 w 10000"/>
                <a:gd name="connsiteY2" fmla="*/ 7757 h 10000"/>
                <a:gd name="connsiteX3" fmla="*/ 2966 w 10000"/>
                <a:gd name="connsiteY3" fmla="*/ 10000 h 10000"/>
                <a:gd name="connsiteX4" fmla="*/ 5524 w 10000"/>
                <a:gd name="connsiteY4" fmla="*/ 7900 h 10000"/>
                <a:gd name="connsiteX5" fmla="*/ 7788 w 10000"/>
                <a:gd name="connsiteY5" fmla="*/ 5799 h 10000"/>
                <a:gd name="connsiteX6" fmla="*/ 10000 w 10000"/>
                <a:gd name="connsiteY6" fmla="*/ 4169 h 10000"/>
                <a:gd name="connsiteX0" fmla="*/ 0 w 10000"/>
                <a:gd name="connsiteY0" fmla="*/ 0 h 10000"/>
                <a:gd name="connsiteX1" fmla="*/ 492 w 10000"/>
                <a:gd name="connsiteY1" fmla="*/ 3611 h 10000"/>
                <a:gd name="connsiteX2" fmla="*/ 1419 w 10000"/>
                <a:gd name="connsiteY2" fmla="*/ 7757 h 10000"/>
                <a:gd name="connsiteX3" fmla="*/ 2966 w 10000"/>
                <a:gd name="connsiteY3" fmla="*/ 10000 h 10000"/>
                <a:gd name="connsiteX4" fmla="*/ 5524 w 10000"/>
                <a:gd name="connsiteY4" fmla="*/ 7900 h 10000"/>
                <a:gd name="connsiteX5" fmla="*/ 7788 w 10000"/>
                <a:gd name="connsiteY5" fmla="*/ 5799 h 10000"/>
                <a:gd name="connsiteX6" fmla="*/ 10000 w 10000"/>
                <a:gd name="connsiteY6" fmla="*/ 4169 h 10000"/>
                <a:gd name="connsiteX0" fmla="*/ 0 w 10000"/>
                <a:gd name="connsiteY0" fmla="*/ 0 h 9384"/>
                <a:gd name="connsiteX1" fmla="*/ 492 w 10000"/>
                <a:gd name="connsiteY1" fmla="*/ 3611 h 9384"/>
                <a:gd name="connsiteX2" fmla="*/ 1419 w 10000"/>
                <a:gd name="connsiteY2" fmla="*/ 7757 h 9384"/>
                <a:gd name="connsiteX3" fmla="*/ 2646 w 10000"/>
                <a:gd name="connsiteY3" fmla="*/ 9384 h 9384"/>
                <a:gd name="connsiteX4" fmla="*/ 5524 w 10000"/>
                <a:gd name="connsiteY4" fmla="*/ 7900 h 9384"/>
                <a:gd name="connsiteX5" fmla="*/ 7788 w 10000"/>
                <a:gd name="connsiteY5" fmla="*/ 5799 h 9384"/>
                <a:gd name="connsiteX6" fmla="*/ 10000 w 10000"/>
                <a:gd name="connsiteY6" fmla="*/ 4169 h 9384"/>
                <a:gd name="connsiteX0" fmla="*/ 0 w 10011"/>
                <a:gd name="connsiteY0" fmla="*/ 0 h 10292"/>
                <a:gd name="connsiteX1" fmla="*/ 503 w 10011"/>
                <a:gd name="connsiteY1" fmla="*/ 4140 h 10292"/>
                <a:gd name="connsiteX2" fmla="*/ 1430 w 10011"/>
                <a:gd name="connsiteY2" fmla="*/ 8558 h 10292"/>
                <a:gd name="connsiteX3" fmla="*/ 2657 w 10011"/>
                <a:gd name="connsiteY3" fmla="*/ 10292 h 10292"/>
                <a:gd name="connsiteX4" fmla="*/ 5535 w 10011"/>
                <a:gd name="connsiteY4" fmla="*/ 8711 h 10292"/>
                <a:gd name="connsiteX5" fmla="*/ 7799 w 10011"/>
                <a:gd name="connsiteY5" fmla="*/ 6472 h 10292"/>
                <a:gd name="connsiteX6" fmla="*/ 10011 w 10011"/>
                <a:gd name="connsiteY6" fmla="*/ 4735 h 10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11" h="10292">
                  <a:moveTo>
                    <a:pt x="0" y="0"/>
                  </a:moveTo>
                  <a:cubicBezTo>
                    <a:pt x="84" y="768"/>
                    <a:pt x="273" y="2737"/>
                    <a:pt x="503" y="4140"/>
                  </a:cubicBezTo>
                  <a:cubicBezTo>
                    <a:pt x="734" y="5542"/>
                    <a:pt x="1071" y="7533"/>
                    <a:pt x="1430" y="8558"/>
                  </a:cubicBezTo>
                  <a:cubicBezTo>
                    <a:pt x="1789" y="9583"/>
                    <a:pt x="1973" y="10266"/>
                    <a:pt x="2657" y="10292"/>
                  </a:cubicBezTo>
                  <a:cubicBezTo>
                    <a:pt x="3341" y="10318"/>
                    <a:pt x="4678" y="9347"/>
                    <a:pt x="5535" y="8711"/>
                  </a:cubicBezTo>
                  <a:cubicBezTo>
                    <a:pt x="6392" y="8074"/>
                    <a:pt x="7055" y="7174"/>
                    <a:pt x="7799" y="6472"/>
                  </a:cubicBezTo>
                  <a:cubicBezTo>
                    <a:pt x="8543" y="5770"/>
                    <a:pt x="9550" y="5135"/>
                    <a:pt x="10011" y="4735"/>
                  </a:cubicBezTo>
                </a:path>
              </a:pathLst>
            </a:custGeom>
            <a:noFill/>
            <a:ln w="19050" cmpd="sng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1842" y="1840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2</a:t>
              </a:r>
              <a:r>
                <a:rPr lang="en-US" altLang="zh-CN" sz="2200" b="1" baseline="-25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</p:grpSp>
      <p:sp>
        <p:nvSpPr>
          <p:cNvPr id="29" name="Arc 27"/>
          <p:cNvSpPr>
            <a:spLocks/>
          </p:cNvSpPr>
          <p:nvPr/>
        </p:nvSpPr>
        <p:spPr bwMode="auto">
          <a:xfrm flipH="1" flipV="1">
            <a:off x="6138420" y="3755163"/>
            <a:ext cx="1847850" cy="1012825"/>
          </a:xfrm>
          <a:custGeom>
            <a:avLst/>
            <a:gdLst>
              <a:gd name="T0" fmla="*/ 1847666 w 40145"/>
              <a:gd name="T1" fmla="*/ 0 h 22026"/>
              <a:gd name="T2" fmla="*/ 0 w 40145"/>
              <a:gd name="T3" fmla="*/ 528806 h 22026"/>
              <a:gd name="T4" fmla="*/ 853615 w 40145"/>
              <a:gd name="T5" fmla="*/ 19589 h 22026"/>
              <a:gd name="T6" fmla="*/ 0 60000 65536"/>
              <a:gd name="T7" fmla="*/ 0 60000 65536"/>
              <a:gd name="T8" fmla="*/ 0 60000 65536"/>
              <a:gd name="T9" fmla="*/ 0 w 40145"/>
              <a:gd name="T10" fmla="*/ 0 h 22026"/>
              <a:gd name="T11" fmla="*/ 40145 w 40145"/>
              <a:gd name="T12" fmla="*/ 22026 h 220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145" h="22026" fill="none" extrusionOk="0">
                <a:moveTo>
                  <a:pt x="40140" y="0"/>
                </a:moveTo>
                <a:cubicBezTo>
                  <a:pt x="40143" y="141"/>
                  <a:pt x="40145" y="283"/>
                  <a:pt x="40145" y="426"/>
                </a:cubicBezTo>
                <a:cubicBezTo>
                  <a:pt x="40145" y="12355"/>
                  <a:pt x="30474" y="22026"/>
                  <a:pt x="18545" y="22026"/>
                </a:cubicBezTo>
                <a:cubicBezTo>
                  <a:pt x="10941" y="22026"/>
                  <a:pt x="3898" y="18028"/>
                  <a:pt x="-1" y="11500"/>
                </a:cubicBezTo>
              </a:path>
              <a:path w="40145" h="22026" stroke="0" extrusionOk="0">
                <a:moveTo>
                  <a:pt x="40140" y="0"/>
                </a:moveTo>
                <a:cubicBezTo>
                  <a:pt x="40143" y="141"/>
                  <a:pt x="40145" y="283"/>
                  <a:pt x="40145" y="426"/>
                </a:cubicBezTo>
                <a:cubicBezTo>
                  <a:pt x="40145" y="12355"/>
                  <a:pt x="30474" y="22026"/>
                  <a:pt x="18545" y="22026"/>
                </a:cubicBezTo>
                <a:cubicBezTo>
                  <a:pt x="10941" y="22026"/>
                  <a:pt x="3898" y="18028"/>
                  <a:pt x="-1" y="11500"/>
                </a:cubicBezTo>
                <a:lnTo>
                  <a:pt x="18545" y="426"/>
                </a:lnTo>
                <a:close/>
              </a:path>
            </a:pathLst>
          </a:custGeom>
          <a:noFill/>
          <a:ln w="19050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Arc 28"/>
          <p:cNvSpPr>
            <a:spLocks/>
          </p:cNvSpPr>
          <p:nvPr/>
        </p:nvSpPr>
        <p:spPr bwMode="auto">
          <a:xfrm flipH="1" flipV="1">
            <a:off x="5194598" y="4218713"/>
            <a:ext cx="1068387" cy="552450"/>
          </a:xfrm>
          <a:custGeom>
            <a:avLst/>
            <a:gdLst>
              <a:gd name="T0" fmla="*/ 1068288 w 43200"/>
              <a:gd name="T1" fmla="*/ 2024 h 22107"/>
              <a:gd name="T2" fmla="*/ 148 w 43200"/>
              <a:gd name="T3" fmla="*/ 0 h 22107"/>
              <a:gd name="T4" fmla="*/ 534194 w 43200"/>
              <a:gd name="T5" fmla="*/ 12670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00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Arc 32"/>
          <p:cNvSpPr>
            <a:spLocks/>
          </p:cNvSpPr>
          <p:nvPr/>
        </p:nvSpPr>
        <p:spPr bwMode="auto">
          <a:xfrm flipH="1" flipV="1">
            <a:off x="4978400" y="4218714"/>
            <a:ext cx="1068388" cy="552450"/>
          </a:xfrm>
          <a:custGeom>
            <a:avLst/>
            <a:gdLst>
              <a:gd name="T0" fmla="*/ 673 w 43200"/>
              <a:gd name="T1" fmla="*/ 1 h 22107"/>
              <a:gd name="T2" fmla="*/ 0 w 43200"/>
              <a:gd name="T3" fmla="*/ 0 h 22107"/>
              <a:gd name="T4" fmla="*/ 337 w 43200"/>
              <a:gd name="T5" fmla="*/ 8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00CC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Arc 33"/>
          <p:cNvSpPr>
            <a:spLocks/>
          </p:cNvSpPr>
          <p:nvPr/>
        </p:nvSpPr>
        <p:spPr bwMode="auto">
          <a:xfrm flipH="1" flipV="1">
            <a:off x="6542088" y="3763101"/>
            <a:ext cx="1847850" cy="1012825"/>
          </a:xfrm>
          <a:custGeom>
            <a:avLst/>
            <a:gdLst>
              <a:gd name="T0" fmla="*/ 1164 w 40145"/>
              <a:gd name="T1" fmla="*/ 0 h 22026"/>
              <a:gd name="T2" fmla="*/ 0 w 40145"/>
              <a:gd name="T3" fmla="*/ 333 h 22026"/>
              <a:gd name="T4" fmla="*/ 538 w 40145"/>
              <a:gd name="T5" fmla="*/ 12 h 22026"/>
              <a:gd name="T6" fmla="*/ 0 60000 65536"/>
              <a:gd name="T7" fmla="*/ 0 60000 65536"/>
              <a:gd name="T8" fmla="*/ 0 60000 65536"/>
              <a:gd name="T9" fmla="*/ 0 w 40145"/>
              <a:gd name="T10" fmla="*/ 0 h 22026"/>
              <a:gd name="T11" fmla="*/ 40145 w 40145"/>
              <a:gd name="T12" fmla="*/ 22026 h 220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145" h="22026" fill="none" extrusionOk="0">
                <a:moveTo>
                  <a:pt x="40140" y="0"/>
                </a:moveTo>
                <a:cubicBezTo>
                  <a:pt x="40143" y="141"/>
                  <a:pt x="40145" y="283"/>
                  <a:pt x="40145" y="426"/>
                </a:cubicBezTo>
                <a:cubicBezTo>
                  <a:pt x="40145" y="12355"/>
                  <a:pt x="30474" y="22026"/>
                  <a:pt x="18545" y="22026"/>
                </a:cubicBezTo>
                <a:cubicBezTo>
                  <a:pt x="10941" y="22026"/>
                  <a:pt x="3898" y="18028"/>
                  <a:pt x="-1" y="11500"/>
                </a:cubicBezTo>
              </a:path>
              <a:path w="40145" h="22026" stroke="0" extrusionOk="0">
                <a:moveTo>
                  <a:pt x="40140" y="0"/>
                </a:moveTo>
                <a:cubicBezTo>
                  <a:pt x="40143" y="141"/>
                  <a:pt x="40145" y="283"/>
                  <a:pt x="40145" y="426"/>
                </a:cubicBezTo>
                <a:cubicBezTo>
                  <a:pt x="40145" y="12355"/>
                  <a:pt x="30474" y="22026"/>
                  <a:pt x="18545" y="22026"/>
                </a:cubicBezTo>
                <a:cubicBezTo>
                  <a:pt x="10941" y="22026"/>
                  <a:pt x="3898" y="18028"/>
                  <a:pt x="-1" y="11500"/>
                </a:cubicBezTo>
                <a:lnTo>
                  <a:pt x="18545" y="426"/>
                </a:lnTo>
                <a:close/>
              </a:path>
            </a:pathLst>
          </a:custGeom>
          <a:noFill/>
          <a:ln w="19050">
            <a:solidFill>
              <a:srgbClr val="80008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168775" y="3239226"/>
            <a:ext cx="4805363" cy="1235075"/>
            <a:chOff x="4168775" y="3436938"/>
            <a:chExt cx="4805363" cy="1235075"/>
          </a:xfrm>
        </p:grpSpPr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V="1">
              <a:off x="4668838" y="3679826"/>
              <a:ext cx="3997325" cy="912813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8101013" y="3635376"/>
              <a:ext cx="542925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i="1" dirty="0" smtClean="0">
                  <a:solidFill>
                    <a:srgbClr val="006600"/>
                  </a:solidFill>
                  <a:sym typeface="Symbol"/>
                </a:rPr>
                <a:t></a:t>
              </a:r>
              <a:r>
                <a:rPr kumimoji="1" lang="en-US" altLang="zh-CN" sz="2200" b="1" baseline="-25000" dirty="0" smtClean="0">
                  <a:solidFill>
                    <a:srgbClr val="006600"/>
                  </a:solidFill>
                  <a:sym typeface="Symbol" pitchFamily="18" charset="2"/>
                </a:rPr>
                <a:t>cu</a:t>
              </a:r>
              <a:endParaRPr kumimoji="1" lang="en-US" altLang="zh-CN" sz="2200" b="1" dirty="0">
                <a:solidFill>
                  <a:srgbClr val="006600"/>
                </a:solidFill>
                <a:sym typeface="Symbol" pitchFamily="18" charset="2"/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8551863" y="3436938"/>
              <a:ext cx="4222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66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>
                  <a:solidFill>
                    <a:srgbClr val="006600"/>
                  </a:solidFill>
                  <a:ea typeface="幼圆" pitchFamily="49" charset="-122"/>
                  <a:cs typeface="Times New Roman" panose="02020603050405020304" pitchFamily="18" charset="0"/>
                </a:rPr>
                <a:t>f</a:t>
              </a:r>
              <a:endParaRPr kumimoji="1" lang="en-US" altLang="zh-CN" sz="2400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4168775" y="4214813"/>
              <a:ext cx="5222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 err="1">
                  <a:solidFill>
                    <a:srgbClr val="006600"/>
                  </a:solidFill>
                  <a:sym typeface="Symbol" pitchFamily="18" charset="2"/>
                </a:rPr>
                <a:t>c</a:t>
              </a:r>
              <a:r>
                <a:rPr kumimoji="1" lang="en-US" altLang="zh-CN" sz="2400" b="1" baseline="-25000" dirty="0" err="1">
                  <a:solidFill>
                    <a:srgbClr val="006600"/>
                  </a:solidFill>
                  <a:sym typeface="Symbol" pitchFamily="18" charset="2"/>
                </a:rPr>
                <a:t>cu</a:t>
              </a:r>
              <a:endParaRPr kumimoji="1" lang="en-US" altLang="zh-CN" sz="2400" b="1" dirty="0">
                <a:solidFill>
                  <a:srgbClr val="006600"/>
                </a:solidFill>
                <a:sym typeface="Symbol" pitchFamily="18" charset="2"/>
              </a:endParaRPr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7832725" y="3905251"/>
              <a:ext cx="3460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875214" y="4863238"/>
            <a:ext cx="498475" cy="565151"/>
            <a:chOff x="4875214" y="5060950"/>
            <a:chExt cx="498475" cy="565151"/>
          </a:xfrm>
        </p:grpSpPr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4875214" y="5195888"/>
              <a:ext cx="498475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200" b="1" baseline="30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f</a:t>
              </a:r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5191127" y="5065713"/>
              <a:ext cx="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4968877" y="5060950"/>
              <a:ext cx="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 flipH="1">
              <a:off x="4976814" y="5178425"/>
              <a:ext cx="2190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130927" y="4844188"/>
            <a:ext cx="504825" cy="547688"/>
            <a:chOff x="6130927" y="5041900"/>
            <a:chExt cx="504825" cy="547688"/>
          </a:xfrm>
        </p:grpSpPr>
        <p:sp>
          <p:nvSpPr>
            <p:cNvPr id="41" name="Text Box 39"/>
            <p:cNvSpPr txBox="1">
              <a:spLocks noChangeArrowheads="1"/>
            </p:cNvSpPr>
            <p:nvPr/>
          </p:nvSpPr>
          <p:spPr bwMode="auto">
            <a:xfrm>
              <a:off x="6137277" y="5159375"/>
              <a:ext cx="498475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200" b="1" baseline="30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2</a:t>
              </a:r>
              <a:r>
                <a:rPr lang="en-US" altLang="zh-CN" sz="2200" b="1" baseline="-25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f</a:t>
              </a:r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6142039" y="5045075"/>
              <a:ext cx="0" cy="193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>
              <a:off x="6548439" y="5041900"/>
              <a:ext cx="0" cy="193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6130927" y="5148263"/>
              <a:ext cx="420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4224338" y="2752464"/>
            <a:ext cx="4902626" cy="2093312"/>
            <a:chOff x="4224338" y="2950176"/>
            <a:chExt cx="4902626" cy="2093312"/>
          </a:xfrm>
        </p:grpSpPr>
        <p:sp>
          <p:nvSpPr>
            <p:cNvPr id="53" name="Line 51"/>
            <p:cNvSpPr>
              <a:spLocks noChangeShapeType="1"/>
            </p:cNvSpPr>
            <p:nvPr/>
          </p:nvSpPr>
          <p:spPr bwMode="auto">
            <a:xfrm>
              <a:off x="8045450" y="3587750"/>
              <a:ext cx="3460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52"/>
            <p:cNvSpPr>
              <a:spLocks noChangeShapeType="1"/>
            </p:cNvSpPr>
            <p:nvPr/>
          </p:nvSpPr>
          <p:spPr bwMode="auto">
            <a:xfrm flipV="1">
              <a:off x="4656138" y="3332163"/>
              <a:ext cx="4065587" cy="1430338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8307388" y="3273425"/>
              <a:ext cx="423862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200" b="1" i="1" dirty="0" smtClean="0">
                  <a:solidFill>
                    <a:srgbClr val="A50021"/>
                  </a:solidFill>
                  <a:sym typeface="Symbol"/>
                </a:rPr>
                <a:t></a:t>
              </a:r>
              <a:r>
                <a:rPr kumimoji="1" lang="en-US" altLang="zh-CN" sz="2200" dirty="0" smtClean="0">
                  <a:solidFill>
                    <a:srgbClr val="A50021"/>
                  </a:solidFill>
                  <a:sym typeface="Symbol" pitchFamily="18" charset="2"/>
                </a:rPr>
                <a:t></a:t>
              </a:r>
              <a:endParaRPr kumimoji="1" lang="en-US" altLang="zh-CN" sz="2200" dirty="0">
                <a:solidFill>
                  <a:srgbClr val="A50021"/>
                </a:solidFill>
                <a:sym typeface="Symbol" pitchFamily="18" charset="2"/>
              </a:endParaRP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8471327" y="2950176"/>
              <a:ext cx="65563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400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4224338" y="4586288"/>
              <a:ext cx="3952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A50021"/>
                  </a:solidFill>
                  <a:sym typeface="Symbol" pitchFamily="18" charset="2"/>
                </a:rPr>
                <a:t>c</a:t>
              </a:r>
              <a:r>
                <a:rPr kumimoji="1" lang="en-US" altLang="zh-CN" sz="2400" b="1" dirty="0">
                  <a:solidFill>
                    <a:srgbClr val="A50021"/>
                  </a:solidFill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59" name="AutoShape 10"/>
          <p:cNvSpPr>
            <a:spLocks noChangeArrowheads="1"/>
          </p:cNvSpPr>
          <p:nvPr/>
        </p:nvSpPr>
        <p:spPr bwMode="auto">
          <a:xfrm>
            <a:off x="3374570" y="1340323"/>
            <a:ext cx="5649687" cy="1086255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总应力和有效应力强度包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线均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不过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原点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34290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两者相互交叉，</a:t>
            </a:r>
            <a:r>
              <a:rPr kumimoji="1"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2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cu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, 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kumimoji="1"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cu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</a:t>
            </a:r>
            <a:r>
              <a:rPr kumimoji="1"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60" name="Rectangle 52"/>
          <p:cNvSpPr>
            <a:spLocks noChangeArrowheads="1"/>
          </p:cNvSpPr>
          <p:nvPr/>
        </p:nvSpPr>
        <p:spPr bwMode="auto">
          <a:xfrm>
            <a:off x="674600" y="657067"/>
            <a:ext cx="59548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超固结黏土的强度</a:t>
            </a: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包线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2142575" y="2694214"/>
            <a:ext cx="87085" cy="1975969"/>
            <a:chOff x="2051957" y="2694214"/>
            <a:chExt cx="87085" cy="1975969"/>
          </a:xfrm>
        </p:grpSpPr>
        <p:sp>
          <p:nvSpPr>
            <p:cNvPr id="58" name="Line 47"/>
            <p:cNvSpPr>
              <a:spLocks noChangeShapeType="1"/>
            </p:cNvSpPr>
            <p:nvPr/>
          </p:nvSpPr>
          <p:spPr bwMode="auto">
            <a:xfrm>
              <a:off x="2098838" y="2803283"/>
              <a:ext cx="0" cy="1866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椭圆 1"/>
            <p:cNvSpPr/>
            <p:nvPr/>
          </p:nvSpPr>
          <p:spPr bwMode="auto">
            <a:xfrm>
              <a:off x="2051957" y="2694214"/>
              <a:ext cx="87085" cy="87085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897646" y="3440568"/>
            <a:ext cx="87085" cy="1217157"/>
            <a:chOff x="1807028" y="3440568"/>
            <a:chExt cx="87085" cy="1217157"/>
          </a:xfrm>
        </p:grpSpPr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1854363" y="3527183"/>
              <a:ext cx="0" cy="1130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 bwMode="auto">
            <a:xfrm>
              <a:off x="1807028" y="3440568"/>
              <a:ext cx="87085" cy="87085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194896" y="4670183"/>
            <a:ext cx="743860" cy="747713"/>
            <a:chOff x="2104278" y="4670183"/>
            <a:chExt cx="743860" cy="747713"/>
          </a:xfrm>
        </p:grpSpPr>
        <p:sp>
          <p:nvSpPr>
            <p:cNvPr id="51" name="Text Box 49"/>
            <p:cNvSpPr txBox="1">
              <a:spLocks noChangeArrowheads="1"/>
            </p:cNvSpPr>
            <p:nvPr/>
          </p:nvSpPr>
          <p:spPr bwMode="auto">
            <a:xfrm>
              <a:off x="2349663" y="4987683"/>
              <a:ext cx="498475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200" b="1" baseline="30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2</a:t>
              </a:r>
              <a:r>
                <a:rPr lang="en-US" altLang="zh-CN" sz="2200" b="1" baseline="-25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f</a:t>
              </a:r>
            </a:p>
          </p:txBody>
        </p:sp>
        <p:cxnSp>
          <p:nvCxnSpPr>
            <p:cNvPr id="62" name="直接箭头连接符 61"/>
            <p:cNvCxnSpPr/>
            <p:nvPr/>
          </p:nvCxnSpPr>
          <p:spPr bwMode="auto">
            <a:xfrm>
              <a:off x="2104278" y="4670183"/>
              <a:ext cx="2108" cy="40256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直接连接符 65"/>
            <p:cNvCxnSpPr/>
            <p:nvPr/>
          </p:nvCxnSpPr>
          <p:spPr bwMode="auto">
            <a:xfrm>
              <a:off x="2159000" y="4879975"/>
              <a:ext cx="266700" cy="2476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7" name="组合 66"/>
          <p:cNvGrpSpPr/>
          <p:nvPr/>
        </p:nvGrpSpPr>
        <p:grpSpPr>
          <a:xfrm>
            <a:off x="1359193" y="3963746"/>
            <a:ext cx="587600" cy="693979"/>
            <a:chOff x="1268575" y="3963746"/>
            <a:chExt cx="587600" cy="693979"/>
          </a:xfrm>
        </p:grpSpPr>
        <p:sp>
          <p:nvSpPr>
            <p:cNvPr id="50" name="Text Box 48"/>
            <p:cNvSpPr txBox="1">
              <a:spLocks noChangeArrowheads="1"/>
            </p:cNvSpPr>
            <p:nvPr/>
          </p:nvSpPr>
          <p:spPr bwMode="auto">
            <a:xfrm>
              <a:off x="1268575" y="3963746"/>
              <a:ext cx="498475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200" b="1" baseline="30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f</a:t>
              </a:r>
            </a:p>
          </p:txBody>
        </p:sp>
        <p:cxnSp>
          <p:nvCxnSpPr>
            <p:cNvPr id="63" name="直接箭头连接符 62"/>
            <p:cNvCxnSpPr/>
            <p:nvPr/>
          </p:nvCxnSpPr>
          <p:spPr bwMode="auto">
            <a:xfrm>
              <a:off x="1856175" y="4432058"/>
              <a:ext cx="0" cy="22566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67"/>
            <p:cNvCxnSpPr>
              <a:endCxn id="50" idx="2"/>
            </p:cNvCxnSpPr>
            <p:nvPr/>
          </p:nvCxnSpPr>
          <p:spPr bwMode="auto">
            <a:xfrm flipH="1" flipV="1">
              <a:off x="1517813" y="4393959"/>
              <a:ext cx="288762" cy="16216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</p:spTree>
    <p:extLst>
      <p:ext uri="{BB962C8B-B14F-4D97-AF65-F5344CB8AC3E}">
        <p14:creationId xmlns:p14="http://schemas.microsoft.com/office/powerpoint/2010/main" val="211393247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800" decel="100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800" decel="1000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4" grpId="0" animBg="1"/>
      <p:bldP spid="35" grpId="0" animBg="1"/>
      <p:bldP spid="59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6297790" y="2960833"/>
            <a:ext cx="1434886" cy="1402062"/>
            <a:chOff x="6297790" y="2960833"/>
            <a:chExt cx="1434886" cy="1402062"/>
          </a:xfrm>
        </p:grpSpPr>
        <p:sp>
          <p:nvSpPr>
            <p:cNvPr id="64" name="任意多边形 6"/>
            <p:cNvSpPr>
              <a:spLocks/>
            </p:cNvSpPr>
            <p:nvPr/>
          </p:nvSpPr>
          <p:spPr bwMode="auto">
            <a:xfrm>
              <a:off x="6297790" y="2965090"/>
              <a:ext cx="1410791" cy="1397805"/>
            </a:xfrm>
            <a:custGeom>
              <a:avLst/>
              <a:gdLst>
                <a:gd name="T0" fmla="*/ 878165 w 1340326"/>
                <a:gd name="T1" fmla="*/ 0 h 1337348"/>
                <a:gd name="T2" fmla="*/ 1748557 w 1340326"/>
                <a:gd name="T3" fmla="*/ 0 h 1337348"/>
                <a:gd name="T4" fmla="*/ 0 w 1340326"/>
                <a:gd name="T5" fmla="*/ 1743641 h 1337348"/>
                <a:gd name="T6" fmla="*/ 3887 w 1340326"/>
                <a:gd name="T7" fmla="*/ 1623255 h 1337348"/>
                <a:gd name="T8" fmla="*/ 31086 w 1340326"/>
                <a:gd name="T9" fmla="*/ 1456271 h 1337348"/>
                <a:gd name="T10" fmla="*/ 73828 w 1340326"/>
                <a:gd name="T11" fmla="*/ 1285401 h 1337348"/>
                <a:gd name="T12" fmla="*/ 159313 w 1340326"/>
                <a:gd name="T13" fmla="*/ 1071815 h 1337348"/>
                <a:gd name="T14" fmla="*/ 291427 w 1340326"/>
                <a:gd name="T15" fmla="*/ 831045 h 1337348"/>
                <a:gd name="T16" fmla="*/ 435198 w 1340326"/>
                <a:gd name="T17" fmla="*/ 605809 h 1337348"/>
                <a:gd name="T18" fmla="*/ 617823 w 1340326"/>
                <a:gd name="T19" fmla="*/ 357273 h 1337348"/>
                <a:gd name="T20" fmla="*/ 878165 w 1340326"/>
                <a:gd name="T21" fmla="*/ 0 h 13373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connsiteX0" fmla="*/ 929366 w 1340326"/>
                <a:gd name="connsiteY0" fmla="*/ 0 h 1337348"/>
                <a:gd name="connsiteX1" fmla="*/ 1340326 w 1340326"/>
                <a:gd name="connsiteY1" fmla="*/ 0 h 1337348"/>
                <a:gd name="connsiteX2" fmla="*/ 0 w 1340326"/>
                <a:gd name="connsiteY2" fmla="*/ 1337348 h 1337348"/>
                <a:gd name="connsiteX3" fmla="*/ 2979 w 1340326"/>
                <a:gd name="connsiteY3" fmla="*/ 1245014 h 1337348"/>
                <a:gd name="connsiteX4" fmla="*/ 23828 w 1340326"/>
                <a:gd name="connsiteY4" fmla="*/ 1116939 h 1337348"/>
                <a:gd name="connsiteX5" fmla="*/ 56592 w 1340326"/>
                <a:gd name="connsiteY5" fmla="*/ 985884 h 1337348"/>
                <a:gd name="connsiteX6" fmla="*/ 122119 w 1340326"/>
                <a:gd name="connsiteY6" fmla="*/ 822067 h 1337348"/>
                <a:gd name="connsiteX7" fmla="*/ 223388 w 1340326"/>
                <a:gd name="connsiteY7" fmla="*/ 637400 h 1337348"/>
                <a:gd name="connsiteX8" fmla="*/ 333593 w 1340326"/>
                <a:gd name="connsiteY8" fmla="*/ 464647 h 1337348"/>
                <a:gd name="connsiteX9" fmla="*/ 473582 w 1340326"/>
                <a:gd name="connsiteY9" fmla="*/ 274023 h 1337348"/>
                <a:gd name="connsiteX10" fmla="*/ 929366 w 1340326"/>
                <a:gd name="connsiteY10" fmla="*/ 0 h 1337348"/>
                <a:gd name="connsiteX0" fmla="*/ 929366 w 1340326"/>
                <a:gd name="connsiteY0" fmla="*/ 0 h 1337348"/>
                <a:gd name="connsiteX1" fmla="*/ 1340326 w 1340326"/>
                <a:gd name="connsiteY1" fmla="*/ 0 h 1337348"/>
                <a:gd name="connsiteX2" fmla="*/ 0 w 1340326"/>
                <a:gd name="connsiteY2" fmla="*/ 1337348 h 1337348"/>
                <a:gd name="connsiteX3" fmla="*/ 2979 w 1340326"/>
                <a:gd name="connsiteY3" fmla="*/ 1245014 h 1337348"/>
                <a:gd name="connsiteX4" fmla="*/ 23828 w 1340326"/>
                <a:gd name="connsiteY4" fmla="*/ 1116939 h 1337348"/>
                <a:gd name="connsiteX5" fmla="*/ 56592 w 1340326"/>
                <a:gd name="connsiteY5" fmla="*/ 985884 h 1337348"/>
                <a:gd name="connsiteX6" fmla="*/ 122119 w 1340326"/>
                <a:gd name="connsiteY6" fmla="*/ 822067 h 1337348"/>
                <a:gd name="connsiteX7" fmla="*/ 223388 w 1340326"/>
                <a:gd name="connsiteY7" fmla="*/ 637400 h 1337348"/>
                <a:gd name="connsiteX8" fmla="*/ 333593 w 1340326"/>
                <a:gd name="connsiteY8" fmla="*/ 464647 h 1337348"/>
                <a:gd name="connsiteX9" fmla="*/ 538623 w 1340326"/>
                <a:gd name="connsiteY9" fmla="*/ 268105 h 1337348"/>
                <a:gd name="connsiteX10" fmla="*/ 929366 w 1340326"/>
                <a:gd name="connsiteY10" fmla="*/ 0 h 1337348"/>
                <a:gd name="connsiteX0" fmla="*/ 929366 w 1340326"/>
                <a:gd name="connsiteY0" fmla="*/ 0 h 1337348"/>
                <a:gd name="connsiteX1" fmla="*/ 1340326 w 1340326"/>
                <a:gd name="connsiteY1" fmla="*/ 0 h 1337348"/>
                <a:gd name="connsiteX2" fmla="*/ 0 w 1340326"/>
                <a:gd name="connsiteY2" fmla="*/ 1337348 h 1337348"/>
                <a:gd name="connsiteX3" fmla="*/ 2979 w 1340326"/>
                <a:gd name="connsiteY3" fmla="*/ 1245014 h 1337348"/>
                <a:gd name="connsiteX4" fmla="*/ 23828 w 1340326"/>
                <a:gd name="connsiteY4" fmla="*/ 1116939 h 1337348"/>
                <a:gd name="connsiteX5" fmla="*/ 56592 w 1340326"/>
                <a:gd name="connsiteY5" fmla="*/ 985884 h 1337348"/>
                <a:gd name="connsiteX6" fmla="*/ 122119 w 1340326"/>
                <a:gd name="connsiteY6" fmla="*/ 822067 h 1337348"/>
                <a:gd name="connsiteX7" fmla="*/ 223388 w 1340326"/>
                <a:gd name="connsiteY7" fmla="*/ 637400 h 1337348"/>
                <a:gd name="connsiteX8" fmla="*/ 333593 w 1340326"/>
                <a:gd name="connsiteY8" fmla="*/ 464647 h 1337348"/>
                <a:gd name="connsiteX9" fmla="*/ 538623 w 1340326"/>
                <a:gd name="connsiteY9" fmla="*/ 268105 h 1337348"/>
                <a:gd name="connsiteX10" fmla="*/ 701635 w 1340326"/>
                <a:gd name="connsiteY10" fmla="*/ 152171 h 1337348"/>
                <a:gd name="connsiteX11" fmla="*/ 929366 w 1340326"/>
                <a:gd name="connsiteY11" fmla="*/ 0 h 1337348"/>
                <a:gd name="connsiteX0" fmla="*/ 929366 w 1340326"/>
                <a:gd name="connsiteY0" fmla="*/ 0 h 1337348"/>
                <a:gd name="connsiteX1" fmla="*/ 1340326 w 1340326"/>
                <a:gd name="connsiteY1" fmla="*/ 0 h 1337348"/>
                <a:gd name="connsiteX2" fmla="*/ 0 w 1340326"/>
                <a:gd name="connsiteY2" fmla="*/ 1337348 h 1337348"/>
                <a:gd name="connsiteX3" fmla="*/ 2979 w 1340326"/>
                <a:gd name="connsiteY3" fmla="*/ 1245014 h 1337348"/>
                <a:gd name="connsiteX4" fmla="*/ 23828 w 1340326"/>
                <a:gd name="connsiteY4" fmla="*/ 1116939 h 1337348"/>
                <a:gd name="connsiteX5" fmla="*/ 56592 w 1340326"/>
                <a:gd name="connsiteY5" fmla="*/ 985884 h 1337348"/>
                <a:gd name="connsiteX6" fmla="*/ 122119 w 1340326"/>
                <a:gd name="connsiteY6" fmla="*/ 822067 h 1337348"/>
                <a:gd name="connsiteX7" fmla="*/ 223388 w 1340326"/>
                <a:gd name="connsiteY7" fmla="*/ 637400 h 1337348"/>
                <a:gd name="connsiteX8" fmla="*/ 353302 w 1340326"/>
                <a:gd name="connsiteY8" fmla="*/ 464647 h 1337348"/>
                <a:gd name="connsiteX9" fmla="*/ 538623 w 1340326"/>
                <a:gd name="connsiteY9" fmla="*/ 268105 h 1337348"/>
                <a:gd name="connsiteX10" fmla="*/ 701635 w 1340326"/>
                <a:gd name="connsiteY10" fmla="*/ 152171 h 1337348"/>
                <a:gd name="connsiteX11" fmla="*/ 929366 w 1340326"/>
                <a:gd name="connsiteY11" fmla="*/ 0 h 1337348"/>
                <a:gd name="connsiteX0" fmla="*/ 929366 w 1340326"/>
                <a:gd name="connsiteY0" fmla="*/ 0 h 1337348"/>
                <a:gd name="connsiteX1" fmla="*/ 1340326 w 1340326"/>
                <a:gd name="connsiteY1" fmla="*/ 0 h 1337348"/>
                <a:gd name="connsiteX2" fmla="*/ 0 w 1340326"/>
                <a:gd name="connsiteY2" fmla="*/ 1337348 h 1337348"/>
                <a:gd name="connsiteX3" fmla="*/ 2979 w 1340326"/>
                <a:gd name="connsiteY3" fmla="*/ 1245014 h 1337348"/>
                <a:gd name="connsiteX4" fmla="*/ 23828 w 1340326"/>
                <a:gd name="connsiteY4" fmla="*/ 1116939 h 1337348"/>
                <a:gd name="connsiteX5" fmla="*/ 56592 w 1340326"/>
                <a:gd name="connsiteY5" fmla="*/ 985884 h 1337348"/>
                <a:gd name="connsiteX6" fmla="*/ 122119 w 1340326"/>
                <a:gd name="connsiteY6" fmla="*/ 822067 h 1337348"/>
                <a:gd name="connsiteX7" fmla="*/ 223388 w 1340326"/>
                <a:gd name="connsiteY7" fmla="*/ 637400 h 1337348"/>
                <a:gd name="connsiteX8" fmla="*/ 353302 w 1340326"/>
                <a:gd name="connsiteY8" fmla="*/ 464647 h 1337348"/>
                <a:gd name="connsiteX9" fmla="*/ 441469 w 1340326"/>
                <a:gd name="connsiteY9" fmla="*/ 363257 h 1337348"/>
                <a:gd name="connsiteX10" fmla="*/ 538623 w 1340326"/>
                <a:gd name="connsiteY10" fmla="*/ 268105 h 1337348"/>
                <a:gd name="connsiteX11" fmla="*/ 701635 w 1340326"/>
                <a:gd name="connsiteY11" fmla="*/ 152171 h 1337348"/>
                <a:gd name="connsiteX12" fmla="*/ 929366 w 1340326"/>
                <a:gd name="connsiteY12" fmla="*/ 0 h 1337348"/>
                <a:gd name="connsiteX0" fmla="*/ 929366 w 1361195"/>
                <a:gd name="connsiteY0" fmla="*/ 2550 h 1339898"/>
                <a:gd name="connsiteX1" fmla="*/ 1361195 w 1361195"/>
                <a:gd name="connsiteY1" fmla="*/ 0 h 1339898"/>
                <a:gd name="connsiteX2" fmla="*/ 0 w 1361195"/>
                <a:gd name="connsiteY2" fmla="*/ 1339898 h 1339898"/>
                <a:gd name="connsiteX3" fmla="*/ 2979 w 1361195"/>
                <a:gd name="connsiteY3" fmla="*/ 1247564 h 1339898"/>
                <a:gd name="connsiteX4" fmla="*/ 23828 w 1361195"/>
                <a:gd name="connsiteY4" fmla="*/ 1119489 h 1339898"/>
                <a:gd name="connsiteX5" fmla="*/ 56592 w 1361195"/>
                <a:gd name="connsiteY5" fmla="*/ 988434 h 1339898"/>
                <a:gd name="connsiteX6" fmla="*/ 122119 w 1361195"/>
                <a:gd name="connsiteY6" fmla="*/ 824617 h 1339898"/>
                <a:gd name="connsiteX7" fmla="*/ 223388 w 1361195"/>
                <a:gd name="connsiteY7" fmla="*/ 639950 h 1339898"/>
                <a:gd name="connsiteX8" fmla="*/ 353302 w 1361195"/>
                <a:gd name="connsiteY8" fmla="*/ 467197 h 1339898"/>
                <a:gd name="connsiteX9" fmla="*/ 441469 w 1361195"/>
                <a:gd name="connsiteY9" fmla="*/ 365807 h 1339898"/>
                <a:gd name="connsiteX10" fmla="*/ 538623 w 1361195"/>
                <a:gd name="connsiteY10" fmla="*/ 270655 h 1339898"/>
                <a:gd name="connsiteX11" fmla="*/ 701635 w 1361195"/>
                <a:gd name="connsiteY11" fmla="*/ 154721 h 1339898"/>
                <a:gd name="connsiteX12" fmla="*/ 929366 w 1361195"/>
                <a:gd name="connsiteY12" fmla="*/ 2550 h 1339898"/>
                <a:gd name="connsiteX0" fmla="*/ 945155 w 1361195"/>
                <a:gd name="connsiteY0" fmla="*/ 5101 h 1339898"/>
                <a:gd name="connsiteX1" fmla="*/ 1361195 w 1361195"/>
                <a:gd name="connsiteY1" fmla="*/ 0 h 1339898"/>
                <a:gd name="connsiteX2" fmla="*/ 0 w 1361195"/>
                <a:gd name="connsiteY2" fmla="*/ 1339898 h 1339898"/>
                <a:gd name="connsiteX3" fmla="*/ 2979 w 1361195"/>
                <a:gd name="connsiteY3" fmla="*/ 1247564 h 1339898"/>
                <a:gd name="connsiteX4" fmla="*/ 23828 w 1361195"/>
                <a:gd name="connsiteY4" fmla="*/ 1119489 h 1339898"/>
                <a:gd name="connsiteX5" fmla="*/ 56592 w 1361195"/>
                <a:gd name="connsiteY5" fmla="*/ 988434 h 1339898"/>
                <a:gd name="connsiteX6" fmla="*/ 122119 w 1361195"/>
                <a:gd name="connsiteY6" fmla="*/ 824617 h 1339898"/>
                <a:gd name="connsiteX7" fmla="*/ 223388 w 1361195"/>
                <a:gd name="connsiteY7" fmla="*/ 639950 h 1339898"/>
                <a:gd name="connsiteX8" fmla="*/ 353302 w 1361195"/>
                <a:gd name="connsiteY8" fmla="*/ 467197 h 1339898"/>
                <a:gd name="connsiteX9" fmla="*/ 441469 w 1361195"/>
                <a:gd name="connsiteY9" fmla="*/ 365807 h 1339898"/>
                <a:gd name="connsiteX10" fmla="*/ 538623 w 1361195"/>
                <a:gd name="connsiteY10" fmla="*/ 270655 h 1339898"/>
                <a:gd name="connsiteX11" fmla="*/ 701635 w 1361195"/>
                <a:gd name="connsiteY11" fmla="*/ 154721 h 1339898"/>
                <a:gd name="connsiteX12" fmla="*/ 945155 w 1361195"/>
                <a:gd name="connsiteY12" fmla="*/ 5101 h 1339898"/>
                <a:gd name="connsiteX0" fmla="*/ 945155 w 1374352"/>
                <a:gd name="connsiteY0" fmla="*/ 0 h 1334797"/>
                <a:gd name="connsiteX1" fmla="*/ 1374352 w 1374352"/>
                <a:gd name="connsiteY1" fmla="*/ 7650 h 1334797"/>
                <a:gd name="connsiteX2" fmla="*/ 0 w 1374352"/>
                <a:gd name="connsiteY2" fmla="*/ 1334797 h 1334797"/>
                <a:gd name="connsiteX3" fmla="*/ 2979 w 1374352"/>
                <a:gd name="connsiteY3" fmla="*/ 1242463 h 1334797"/>
                <a:gd name="connsiteX4" fmla="*/ 23828 w 1374352"/>
                <a:gd name="connsiteY4" fmla="*/ 1114388 h 1334797"/>
                <a:gd name="connsiteX5" fmla="*/ 56592 w 1374352"/>
                <a:gd name="connsiteY5" fmla="*/ 983333 h 1334797"/>
                <a:gd name="connsiteX6" fmla="*/ 122119 w 1374352"/>
                <a:gd name="connsiteY6" fmla="*/ 819516 h 1334797"/>
                <a:gd name="connsiteX7" fmla="*/ 223388 w 1374352"/>
                <a:gd name="connsiteY7" fmla="*/ 634849 h 1334797"/>
                <a:gd name="connsiteX8" fmla="*/ 353302 w 1374352"/>
                <a:gd name="connsiteY8" fmla="*/ 462096 h 1334797"/>
                <a:gd name="connsiteX9" fmla="*/ 441469 w 1374352"/>
                <a:gd name="connsiteY9" fmla="*/ 360706 h 1334797"/>
                <a:gd name="connsiteX10" fmla="*/ 538623 w 1374352"/>
                <a:gd name="connsiteY10" fmla="*/ 265554 h 1334797"/>
                <a:gd name="connsiteX11" fmla="*/ 701635 w 1374352"/>
                <a:gd name="connsiteY11" fmla="*/ 149620 h 1334797"/>
                <a:gd name="connsiteX12" fmla="*/ 945155 w 1374352"/>
                <a:gd name="connsiteY12" fmla="*/ 0 h 1334797"/>
                <a:gd name="connsiteX0" fmla="*/ 971469 w 1400666"/>
                <a:gd name="connsiteY0" fmla="*/ 0 h 1344998"/>
                <a:gd name="connsiteX1" fmla="*/ 1400666 w 1400666"/>
                <a:gd name="connsiteY1" fmla="*/ 7650 h 1344998"/>
                <a:gd name="connsiteX2" fmla="*/ 0 w 1400666"/>
                <a:gd name="connsiteY2" fmla="*/ 1344998 h 1344998"/>
                <a:gd name="connsiteX3" fmla="*/ 29293 w 1400666"/>
                <a:gd name="connsiteY3" fmla="*/ 1242463 h 1344998"/>
                <a:gd name="connsiteX4" fmla="*/ 50142 w 1400666"/>
                <a:gd name="connsiteY4" fmla="*/ 1114388 h 1344998"/>
                <a:gd name="connsiteX5" fmla="*/ 82906 w 1400666"/>
                <a:gd name="connsiteY5" fmla="*/ 983333 h 1344998"/>
                <a:gd name="connsiteX6" fmla="*/ 148433 w 1400666"/>
                <a:gd name="connsiteY6" fmla="*/ 819516 h 1344998"/>
                <a:gd name="connsiteX7" fmla="*/ 249702 w 1400666"/>
                <a:gd name="connsiteY7" fmla="*/ 634849 h 1344998"/>
                <a:gd name="connsiteX8" fmla="*/ 379616 w 1400666"/>
                <a:gd name="connsiteY8" fmla="*/ 462096 h 1344998"/>
                <a:gd name="connsiteX9" fmla="*/ 467783 w 1400666"/>
                <a:gd name="connsiteY9" fmla="*/ 360706 h 1344998"/>
                <a:gd name="connsiteX10" fmla="*/ 564937 w 1400666"/>
                <a:gd name="connsiteY10" fmla="*/ 265554 h 1344998"/>
                <a:gd name="connsiteX11" fmla="*/ 727949 w 1400666"/>
                <a:gd name="connsiteY11" fmla="*/ 149620 h 1344998"/>
                <a:gd name="connsiteX12" fmla="*/ 971469 w 1400666"/>
                <a:gd name="connsiteY12" fmla="*/ 0 h 1344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00666" h="1344998">
                  <a:moveTo>
                    <a:pt x="971469" y="0"/>
                  </a:moveTo>
                  <a:lnTo>
                    <a:pt x="1400666" y="7650"/>
                  </a:lnTo>
                  <a:lnTo>
                    <a:pt x="0" y="1344998"/>
                  </a:lnTo>
                  <a:lnTo>
                    <a:pt x="29293" y="1242463"/>
                  </a:lnTo>
                  <a:lnTo>
                    <a:pt x="50142" y="1114388"/>
                  </a:lnTo>
                  <a:lnTo>
                    <a:pt x="82906" y="983333"/>
                  </a:lnTo>
                  <a:lnTo>
                    <a:pt x="148433" y="819516"/>
                  </a:lnTo>
                  <a:lnTo>
                    <a:pt x="249702" y="634849"/>
                  </a:lnTo>
                  <a:lnTo>
                    <a:pt x="379616" y="462096"/>
                  </a:lnTo>
                  <a:cubicBezTo>
                    <a:pt x="412290" y="427642"/>
                    <a:pt x="435109" y="395160"/>
                    <a:pt x="467783" y="360706"/>
                  </a:cubicBezTo>
                  <a:lnTo>
                    <a:pt x="564937" y="265554"/>
                  </a:lnTo>
                  <a:cubicBezTo>
                    <a:pt x="622559" y="226909"/>
                    <a:pt x="670327" y="188265"/>
                    <a:pt x="727949" y="149620"/>
                  </a:cubicBezTo>
                  <a:lnTo>
                    <a:pt x="971469" y="0"/>
                  </a:lnTo>
                  <a:close/>
                </a:path>
              </a:pathLst>
            </a:custGeom>
            <a:pattFill prst="ltHorz">
              <a:fgClr>
                <a:srgbClr val="0000CC"/>
              </a:fgClr>
              <a:bgClr>
                <a:schemeClr val="bg1"/>
              </a:bgClr>
            </a:pattFill>
            <a:ln>
              <a:noFill/>
            </a:ln>
          </p:spPr>
          <p:txBody>
            <a:bodyPr lIns="104480" tIns="52241" rIns="104480" bIns="52241"/>
            <a:lstStyle/>
            <a:p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9" name="直接箭头连接符 71"/>
            <p:cNvCxnSpPr>
              <a:cxnSpLocks noChangeShapeType="1"/>
            </p:cNvCxnSpPr>
            <p:nvPr/>
          </p:nvCxnSpPr>
          <p:spPr bwMode="auto">
            <a:xfrm flipV="1">
              <a:off x="7310161" y="2960833"/>
              <a:ext cx="422515" cy="1606"/>
            </a:xfrm>
            <a:prstGeom prst="straightConnector1">
              <a:avLst/>
            </a:prstGeom>
            <a:noFill/>
            <a:ln w="12700" algn="ctr">
              <a:solidFill>
                <a:srgbClr val="0000CC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1" name="任意多边形 150"/>
          <p:cNvSpPr/>
          <p:nvPr/>
        </p:nvSpPr>
        <p:spPr bwMode="auto">
          <a:xfrm>
            <a:off x="1327646" y="3882267"/>
            <a:ext cx="2238346" cy="320400"/>
          </a:xfrm>
          <a:custGeom>
            <a:avLst/>
            <a:gdLst>
              <a:gd name="connsiteX0" fmla="*/ 0 w 2264366"/>
              <a:gd name="connsiteY0" fmla="*/ 325953 h 325953"/>
              <a:gd name="connsiteX1" fmla="*/ 2264366 w 2264366"/>
              <a:gd name="connsiteY1" fmla="*/ 325953 h 325953"/>
              <a:gd name="connsiteX2" fmla="*/ 2264366 w 2264366"/>
              <a:gd name="connsiteY2" fmla="*/ 0 h 325953"/>
              <a:gd name="connsiteX3" fmla="*/ 1837454 w 2264366"/>
              <a:gd name="connsiteY3" fmla="*/ 0 h 325953"/>
              <a:gd name="connsiteX4" fmla="*/ 1347082 w 2264366"/>
              <a:gd name="connsiteY4" fmla="*/ 20192 h 325953"/>
              <a:gd name="connsiteX5" fmla="*/ 949015 w 2264366"/>
              <a:gd name="connsiteY5" fmla="*/ 60575 h 325953"/>
              <a:gd name="connsiteX6" fmla="*/ 591332 w 2264366"/>
              <a:gd name="connsiteY6" fmla="*/ 124035 h 325953"/>
              <a:gd name="connsiteX7" fmla="*/ 372106 w 2264366"/>
              <a:gd name="connsiteY7" fmla="*/ 175957 h 325953"/>
              <a:gd name="connsiteX8" fmla="*/ 187496 w 2264366"/>
              <a:gd name="connsiteY8" fmla="*/ 245186 h 325953"/>
              <a:gd name="connsiteX9" fmla="*/ 0 w 2264366"/>
              <a:gd name="connsiteY9" fmla="*/ 325953 h 32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64366" h="325953">
                <a:moveTo>
                  <a:pt x="0" y="325953"/>
                </a:moveTo>
                <a:lnTo>
                  <a:pt x="2264366" y="325953"/>
                </a:lnTo>
                <a:lnTo>
                  <a:pt x="2264366" y="0"/>
                </a:lnTo>
                <a:lnTo>
                  <a:pt x="1837454" y="0"/>
                </a:lnTo>
                <a:lnTo>
                  <a:pt x="1347082" y="20192"/>
                </a:lnTo>
                <a:lnTo>
                  <a:pt x="949015" y="60575"/>
                </a:lnTo>
                <a:lnTo>
                  <a:pt x="591332" y="124035"/>
                </a:lnTo>
                <a:lnTo>
                  <a:pt x="372106" y="175957"/>
                </a:lnTo>
                <a:lnTo>
                  <a:pt x="187496" y="245186"/>
                </a:lnTo>
                <a:lnTo>
                  <a:pt x="0" y="325953"/>
                </a:lnTo>
                <a:close/>
              </a:path>
            </a:pathLst>
          </a:custGeom>
          <a:pattFill prst="ltVert">
            <a:fgClr>
              <a:srgbClr val="0000CC"/>
            </a:fgClr>
            <a:bgClr>
              <a:schemeClr val="bg1"/>
            </a:bgClr>
          </a:patt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0" name="任意多边形 149"/>
          <p:cNvSpPr/>
          <p:nvPr/>
        </p:nvSpPr>
        <p:spPr bwMode="auto">
          <a:xfrm>
            <a:off x="537282" y="4205663"/>
            <a:ext cx="755750" cy="95190"/>
          </a:xfrm>
          <a:custGeom>
            <a:avLst/>
            <a:gdLst>
              <a:gd name="connsiteX0" fmla="*/ 0 w 755750"/>
              <a:gd name="connsiteY0" fmla="*/ 0 h 95190"/>
              <a:gd name="connsiteX1" fmla="*/ 755750 w 755750"/>
              <a:gd name="connsiteY1" fmla="*/ 0 h 95190"/>
              <a:gd name="connsiteX2" fmla="*/ 548063 w 755750"/>
              <a:gd name="connsiteY2" fmla="*/ 57691 h 95190"/>
              <a:gd name="connsiteX3" fmla="*/ 343260 w 755750"/>
              <a:gd name="connsiteY3" fmla="*/ 95190 h 95190"/>
              <a:gd name="connsiteX4" fmla="*/ 167303 w 755750"/>
              <a:gd name="connsiteY4" fmla="*/ 74998 h 95190"/>
              <a:gd name="connsiteX5" fmla="*/ 54806 w 755750"/>
              <a:gd name="connsiteY5" fmla="*/ 37499 h 95190"/>
              <a:gd name="connsiteX6" fmla="*/ 0 w 755750"/>
              <a:gd name="connsiteY6" fmla="*/ 0 h 95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5750" h="95190">
                <a:moveTo>
                  <a:pt x="0" y="0"/>
                </a:moveTo>
                <a:lnTo>
                  <a:pt x="755750" y="0"/>
                </a:lnTo>
                <a:lnTo>
                  <a:pt x="548063" y="57691"/>
                </a:lnTo>
                <a:lnTo>
                  <a:pt x="343260" y="95190"/>
                </a:lnTo>
                <a:lnTo>
                  <a:pt x="167303" y="74998"/>
                </a:lnTo>
                <a:lnTo>
                  <a:pt x="54806" y="37499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rgbClr val="0000CC"/>
            </a:fgClr>
            <a:bgClr>
              <a:schemeClr val="bg1"/>
            </a:bgClr>
          </a:patt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48" name="任意多边形 2"/>
          <p:cNvSpPr>
            <a:spLocks/>
          </p:cNvSpPr>
          <p:nvPr/>
        </p:nvSpPr>
        <p:spPr bwMode="auto">
          <a:xfrm>
            <a:off x="4645546" y="3889175"/>
            <a:ext cx="439655" cy="454744"/>
          </a:xfrm>
          <a:custGeom>
            <a:avLst/>
            <a:gdLst>
              <a:gd name="T0" fmla="*/ 0 w 968013"/>
              <a:gd name="T1" fmla="*/ 891108 h 682077"/>
              <a:gd name="T2" fmla="*/ 879787 w 968013"/>
              <a:gd name="T3" fmla="*/ 0 h 682077"/>
              <a:gd name="T4" fmla="*/ 1265180 w 968013"/>
              <a:gd name="T5" fmla="*/ 0 h 682077"/>
              <a:gd name="T6" fmla="*/ 836966 w 968013"/>
              <a:gd name="T7" fmla="*/ 159544 h 682077"/>
              <a:gd name="T8" fmla="*/ 560572 w 968013"/>
              <a:gd name="T9" fmla="*/ 291848 h 682077"/>
              <a:gd name="T10" fmla="*/ 369823 w 968013"/>
              <a:gd name="T11" fmla="*/ 408587 h 682077"/>
              <a:gd name="T12" fmla="*/ 186857 w 968013"/>
              <a:gd name="T13" fmla="*/ 548674 h 682077"/>
              <a:gd name="T14" fmla="*/ 73965 w 968013"/>
              <a:gd name="T15" fmla="*/ 688761 h 682077"/>
              <a:gd name="T16" fmla="*/ 15572 w 968013"/>
              <a:gd name="T17" fmla="*/ 817174 h 682077"/>
              <a:gd name="T18" fmla="*/ 0 w 968013"/>
              <a:gd name="T19" fmla="*/ 891108 h 68207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connsiteX0" fmla="*/ 0 w 968013"/>
              <a:gd name="connsiteY0" fmla="*/ 682077 h 682077"/>
              <a:gd name="connsiteX1" fmla="*/ 673141 w 968013"/>
              <a:gd name="connsiteY1" fmla="*/ 0 h 682077"/>
              <a:gd name="connsiteX2" fmla="*/ 968013 w 968013"/>
              <a:gd name="connsiteY2" fmla="*/ 0 h 682077"/>
              <a:gd name="connsiteX3" fmla="*/ 477313 w 968013"/>
              <a:gd name="connsiteY3" fmla="*/ 205276 h 682077"/>
              <a:gd name="connsiteX4" fmla="*/ 640378 w 968013"/>
              <a:gd name="connsiteY4" fmla="*/ 122119 h 682077"/>
              <a:gd name="connsiteX5" fmla="*/ 428904 w 968013"/>
              <a:gd name="connsiteY5" fmla="*/ 223388 h 682077"/>
              <a:gd name="connsiteX6" fmla="*/ 282958 w 968013"/>
              <a:gd name="connsiteY6" fmla="*/ 312743 h 682077"/>
              <a:gd name="connsiteX7" fmla="*/ 142968 w 968013"/>
              <a:gd name="connsiteY7" fmla="*/ 419969 h 682077"/>
              <a:gd name="connsiteX8" fmla="*/ 56592 w 968013"/>
              <a:gd name="connsiteY8" fmla="*/ 527195 h 682077"/>
              <a:gd name="connsiteX9" fmla="*/ 11914 w 968013"/>
              <a:gd name="connsiteY9" fmla="*/ 625486 h 682077"/>
              <a:gd name="connsiteX10" fmla="*/ 0 w 968013"/>
              <a:gd name="connsiteY10" fmla="*/ 682077 h 682077"/>
              <a:gd name="connsiteX0" fmla="*/ 0 w 968013"/>
              <a:gd name="connsiteY0" fmla="*/ 682077 h 682077"/>
              <a:gd name="connsiteX1" fmla="*/ 673141 w 968013"/>
              <a:gd name="connsiteY1" fmla="*/ 0 h 682077"/>
              <a:gd name="connsiteX2" fmla="*/ 968013 w 968013"/>
              <a:gd name="connsiteY2" fmla="*/ 0 h 682077"/>
              <a:gd name="connsiteX3" fmla="*/ 477313 w 968013"/>
              <a:gd name="connsiteY3" fmla="*/ 205276 h 682077"/>
              <a:gd name="connsiteX4" fmla="*/ 428904 w 968013"/>
              <a:gd name="connsiteY4" fmla="*/ 223388 h 682077"/>
              <a:gd name="connsiteX5" fmla="*/ 282958 w 968013"/>
              <a:gd name="connsiteY5" fmla="*/ 312743 h 682077"/>
              <a:gd name="connsiteX6" fmla="*/ 142968 w 968013"/>
              <a:gd name="connsiteY6" fmla="*/ 419969 h 682077"/>
              <a:gd name="connsiteX7" fmla="*/ 56592 w 968013"/>
              <a:gd name="connsiteY7" fmla="*/ 527195 h 682077"/>
              <a:gd name="connsiteX8" fmla="*/ 11914 w 968013"/>
              <a:gd name="connsiteY8" fmla="*/ 625486 h 682077"/>
              <a:gd name="connsiteX9" fmla="*/ 0 w 968013"/>
              <a:gd name="connsiteY9" fmla="*/ 682077 h 682077"/>
              <a:gd name="connsiteX0" fmla="*/ 0 w 968013"/>
              <a:gd name="connsiteY0" fmla="*/ 682077 h 682077"/>
              <a:gd name="connsiteX1" fmla="*/ 673141 w 968013"/>
              <a:gd name="connsiteY1" fmla="*/ 0 h 682077"/>
              <a:gd name="connsiteX2" fmla="*/ 482261 w 968013"/>
              <a:gd name="connsiteY2" fmla="*/ 205276 h 682077"/>
              <a:gd name="connsiteX3" fmla="*/ 968013 w 968013"/>
              <a:gd name="connsiteY3" fmla="*/ 0 h 682077"/>
              <a:gd name="connsiteX4" fmla="*/ 477313 w 968013"/>
              <a:gd name="connsiteY4" fmla="*/ 205276 h 682077"/>
              <a:gd name="connsiteX5" fmla="*/ 428904 w 968013"/>
              <a:gd name="connsiteY5" fmla="*/ 223388 h 682077"/>
              <a:gd name="connsiteX6" fmla="*/ 282958 w 968013"/>
              <a:gd name="connsiteY6" fmla="*/ 312743 h 682077"/>
              <a:gd name="connsiteX7" fmla="*/ 142968 w 968013"/>
              <a:gd name="connsiteY7" fmla="*/ 419969 h 682077"/>
              <a:gd name="connsiteX8" fmla="*/ 56592 w 968013"/>
              <a:gd name="connsiteY8" fmla="*/ 527195 h 682077"/>
              <a:gd name="connsiteX9" fmla="*/ 11914 w 968013"/>
              <a:gd name="connsiteY9" fmla="*/ 625486 h 682077"/>
              <a:gd name="connsiteX10" fmla="*/ 0 w 968013"/>
              <a:gd name="connsiteY10" fmla="*/ 682077 h 682077"/>
              <a:gd name="connsiteX0" fmla="*/ 0 w 968013"/>
              <a:gd name="connsiteY0" fmla="*/ 682077 h 682077"/>
              <a:gd name="connsiteX1" fmla="*/ 482261 w 968013"/>
              <a:gd name="connsiteY1" fmla="*/ 205276 h 682077"/>
              <a:gd name="connsiteX2" fmla="*/ 968013 w 968013"/>
              <a:gd name="connsiteY2" fmla="*/ 0 h 682077"/>
              <a:gd name="connsiteX3" fmla="*/ 477313 w 968013"/>
              <a:gd name="connsiteY3" fmla="*/ 205276 h 682077"/>
              <a:gd name="connsiteX4" fmla="*/ 428904 w 968013"/>
              <a:gd name="connsiteY4" fmla="*/ 223388 h 682077"/>
              <a:gd name="connsiteX5" fmla="*/ 282958 w 968013"/>
              <a:gd name="connsiteY5" fmla="*/ 312743 h 682077"/>
              <a:gd name="connsiteX6" fmla="*/ 142968 w 968013"/>
              <a:gd name="connsiteY6" fmla="*/ 419969 h 682077"/>
              <a:gd name="connsiteX7" fmla="*/ 56592 w 968013"/>
              <a:gd name="connsiteY7" fmla="*/ 527195 h 682077"/>
              <a:gd name="connsiteX8" fmla="*/ 11914 w 968013"/>
              <a:gd name="connsiteY8" fmla="*/ 625486 h 682077"/>
              <a:gd name="connsiteX9" fmla="*/ 0 w 968013"/>
              <a:gd name="connsiteY9" fmla="*/ 682077 h 682077"/>
              <a:gd name="connsiteX0" fmla="*/ 0 w 482261"/>
              <a:gd name="connsiteY0" fmla="*/ 476801 h 476801"/>
              <a:gd name="connsiteX1" fmla="*/ 482261 w 482261"/>
              <a:gd name="connsiteY1" fmla="*/ 0 h 476801"/>
              <a:gd name="connsiteX2" fmla="*/ 477313 w 482261"/>
              <a:gd name="connsiteY2" fmla="*/ 0 h 476801"/>
              <a:gd name="connsiteX3" fmla="*/ 428904 w 482261"/>
              <a:gd name="connsiteY3" fmla="*/ 18112 h 476801"/>
              <a:gd name="connsiteX4" fmla="*/ 282958 w 482261"/>
              <a:gd name="connsiteY4" fmla="*/ 107467 h 476801"/>
              <a:gd name="connsiteX5" fmla="*/ 142968 w 482261"/>
              <a:gd name="connsiteY5" fmla="*/ 214693 h 476801"/>
              <a:gd name="connsiteX6" fmla="*/ 56592 w 482261"/>
              <a:gd name="connsiteY6" fmla="*/ 321919 h 476801"/>
              <a:gd name="connsiteX7" fmla="*/ 11914 w 482261"/>
              <a:gd name="connsiteY7" fmla="*/ 420210 h 476801"/>
              <a:gd name="connsiteX8" fmla="*/ 0 w 482261"/>
              <a:gd name="connsiteY8" fmla="*/ 476801 h 476801"/>
              <a:gd name="connsiteX0" fmla="*/ 0 w 482261"/>
              <a:gd name="connsiteY0" fmla="*/ 476801 h 476801"/>
              <a:gd name="connsiteX1" fmla="*/ 482261 w 482261"/>
              <a:gd name="connsiteY1" fmla="*/ 0 h 476801"/>
              <a:gd name="connsiteX2" fmla="*/ 428904 w 482261"/>
              <a:gd name="connsiteY2" fmla="*/ 18112 h 476801"/>
              <a:gd name="connsiteX3" fmla="*/ 282958 w 482261"/>
              <a:gd name="connsiteY3" fmla="*/ 107467 h 476801"/>
              <a:gd name="connsiteX4" fmla="*/ 142968 w 482261"/>
              <a:gd name="connsiteY4" fmla="*/ 214693 h 476801"/>
              <a:gd name="connsiteX5" fmla="*/ 56592 w 482261"/>
              <a:gd name="connsiteY5" fmla="*/ 321919 h 476801"/>
              <a:gd name="connsiteX6" fmla="*/ 11914 w 482261"/>
              <a:gd name="connsiteY6" fmla="*/ 420210 h 476801"/>
              <a:gd name="connsiteX7" fmla="*/ 0 w 482261"/>
              <a:gd name="connsiteY7" fmla="*/ 476801 h 476801"/>
              <a:gd name="connsiteX0" fmla="*/ 0 w 482261"/>
              <a:gd name="connsiteY0" fmla="*/ 476801 h 476801"/>
              <a:gd name="connsiteX1" fmla="*/ 482261 w 482261"/>
              <a:gd name="connsiteY1" fmla="*/ 0 h 476801"/>
              <a:gd name="connsiteX2" fmla="*/ 371768 w 482261"/>
              <a:gd name="connsiteY2" fmla="*/ 51135 h 476801"/>
              <a:gd name="connsiteX3" fmla="*/ 428904 w 482261"/>
              <a:gd name="connsiteY3" fmla="*/ 18112 h 476801"/>
              <a:gd name="connsiteX4" fmla="*/ 282958 w 482261"/>
              <a:gd name="connsiteY4" fmla="*/ 107467 h 476801"/>
              <a:gd name="connsiteX5" fmla="*/ 142968 w 482261"/>
              <a:gd name="connsiteY5" fmla="*/ 214693 h 476801"/>
              <a:gd name="connsiteX6" fmla="*/ 56592 w 482261"/>
              <a:gd name="connsiteY6" fmla="*/ 321919 h 476801"/>
              <a:gd name="connsiteX7" fmla="*/ 11914 w 482261"/>
              <a:gd name="connsiteY7" fmla="*/ 420210 h 476801"/>
              <a:gd name="connsiteX8" fmla="*/ 0 w 482261"/>
              <a:gd name="connsiteY8" fmla="*/ 476801 h 476801"/>
              <a:gd name="connsiteX0" fmla="*/ 371768 w 570161"/>
              <a:gd name="connsiteY0" fmla="*/ 33023 h 458689"/>
              <a:gd name="connsiteX1" fmla="*/ 428904 w 570161"/>
              <a:gd name="connsiteY1" fmla="*/ 0 h 458689"/>
              <a:gd name="connsiteX2" fmla="*/ 282958 w 570161"/>
              <a:gd name="connsiteY2" fmla="*/ 89355 h 458689"/>
              <a:gd name="connsiteX3" fmla="*/ 142968 w 570161"/>
              <a:gd name="connsiteY3" fmla="*/ 196581 h 458689"/>
              <a:gd name="connsiteX4" fmla="*/ 56592 w 570161"/>
              <a:gd name="connsiteY4" fmla="*/ 303807 h 458689"/>
              <a:gd name="connsiteX5" fmla="*/ 11914 w 570161"/>
              <a:gd name="connsiteY5" fmla="*/ 402098 h 458689"/>
              <a:gd name="connsiteX6" fmla="*/ 0 w 570161"/>
              <a:gd name="connsiteY6" fmla="*/ 458689 h 458689"/>
              <a:gd name="connsiteX7" fmla="*/ 570161 w 570161"/>
              <a:gd name="connsiteY7" fmla="*/ 69809 h 458689"/>
              <a:gd name="connsiteX0" fmla="*/ 371768 w 570161"/>
              <a:gd name="connsiteY0" fmla="*/ 33023 h 458689"/>
              <a:gd name="connsiteX1" fmla="*/ 428904 w 570161"/>
              <a:gd name="connsiteY1" fmla="*/ 0 h 458689"/>
              <a:gd name="connsiteX2" fmla="*/ 282958 w 570161"/>
              <a:gd name="connsiteY2" fmla="*/ 89355 h 458689"/>
              <a:gd name="connsiteX3" fmla="*/ 142968 w 570161"/>
              <a:gd name="connsiteY3" fmla="*/ 196581 h 458689"/>
              <a:gd name="connsiteX4" fmla="*/ 56592 w 570161"/>
              <a:gd name="connsiteY4" fmla="*/ 303807 h 458689"/>
              <a:gd name="connsiteX5" fmla="*/ 11914 w 570161"/>
              <a:gd name="connsiteY5" fmla="*/ 402098 h 458689"/>
              <a:gd name="connsiteX6" fmla="*/ 0 w 570161"/>
              <a:gd name="connsiteY6" fmla="*/ 458689 h 458689"/>
              <a:gd name="connsiteX7" fmla="*/ 570161 w 570161"/>
              <a:gd name="connsiteY7" fmla="*/ 69809 h 458689"/>
              <a:gd name="connsiteX8" fmla="*/ 371768 w 570161"/>
              <a:gd name="connsiteY8" fmla="*/ 33023 h 458689"/>
              <a:gd name="connsiteX0" fmla="*/ 424541 w 570161"/>
              <a:gd name="connsiteY0" fmla="*/ 31373 h 458689"/>
              <a:gd name="connsiteX1" fmla="*/ 428904 w 570161"/>
              <a:gd name="connsiteY1" fmla="*/ 0 h 458689"/>
              <a:gd name="connsiteX2" fmla="*/ 282958 w 570161"/>
              <a:gd name="connsiteY2" fmla="*/ 89355 h 458689"/>
              <a:gd name="connsiteX3" fmla="*/ 142968 w 570161"/>
              <a:gd name="connsiteY3" fmla="*/ 196581 h 458689"/>
              <a:gd name="connsiteX4" fmla="*/ 56592 w 570161"/>
              <a:gd name="connsiteY4" fmla="*/ 303807 h 458689"/>
              <a:gd name="connsiteX5" fmla="*/ 11914 w 570161"/>
              <a:gd name="connsiteY5" fmla="*/ 402098 h 458689"/>
              <a:gd name="connsiteX6" fmla="*/ 0 w 570161"/>
              <a:gd name="connsiteY6" fmla="*/ 458689 h 458689"/>
              <a:gd name="connsiteX7" fmla="*/ 570161 w 570161"/>
              <a:gd name="connsiteY7" fmla="*/ 69809 h 458689"/>
              <a:gd name="connsiteX8" fmla="*/ 424541 w 570161"/>
              <a:gd name="connsiteY8" fmla="*/ 31373 h 458689"/>
              <a:gd name="connsiteX0" fmla="*/ 570161 w 570161"/>
              <a:gd name="connsiteY0" fmla="*/ 69809 h 458689"/>
              <a:gd name="connsiteX1" fmla="*/ 428904 w 570161"/>
              <a:gd name="connsiteY1" fmla="*/ 0 h 458689"/>
              <a:gd name="connsiteX2" fmla="*/ 282958 w 570161"/>
              <a:gd name="connsiteY2" fmla="*/ 89355 h 458689"/>
              <a:gd name="connsiteX3" fmla="*/ 142968 w 570161"/>
              <a:gd name="connsiteY3" fmla="*/ 196581 h 458689"/>
              <a:gd name="connsiteX4" fmla="*/ 56592 w 570161"/>
              <a:gd name="connsiteY4" fmla="*/ 303807 h 458689"/>
              <a:gd name="connsiteX5" fmla="*/ 11914 w 570161"/>
              <a:gd name="connsiteY5" fmla="*/ 402098 h 458689"/>
              <a:gd name="connsiteX6" fmla="*/ 0 w 570161"/>
              <a:gd name="connsiteY6" fmla="*/ 458689 h 458689"/>
              <a:gd name="connsiteX7" fmla="*/ 570161 w 570161"/>
              <a:gd name="connsiteY7" fmla="*/ 69809 h 458689"/>
              <a:gd name="connsiteX0" fmla="*/ 0 w 428904"/>
              <a:gd name="connsiteY0" fmla="*/ 458689 h 458689"/>
              <a:gd name="connsiteX1" fmla="*/ 428904 w 428904"/>
              <a:gd name="connsiteY1" fmla="*/ 0 h 458689"/>
              <a:gd name="connsiteX2" fmla="*/ 282958 w 428904"/>
              <a:gd name="connsiteY2" fmla="*/ 89355 h 458689"/>
              <a:gd name="connsiteX3" fmla="*/ 142968 w 428904"/>
              <a:gd name="connsiteY3" fmla="*/ 196581 h 458689"/>
              <a:gd name="connsiteX4" fmla="*/ 56592 w 428904"/>
              <a:gd name="connsiteY4" fmla="*/ 303807 h 458689"/>
              <a:gd name="connsiteX5" fmla="*/ 11914 w 428904"/>
              <a:gd name="connsiteY5" fmla="*/ 402098 h 458689"/>
              <a:gd name="connsiteX6" fmla="*/ 0 w 428904"/>
              <a:gd name="connsiteY6" fmla="*/ 458689 h 458689"/>
              <a:gd name="connsiteX0" fmla="*/ 0 w 422308"/>
              <a:gd name="connsiteY0" fmla="*/ 445493 h 445493"/>
              <a:gd name="connsiteX1" fmla="*/ 422308 w 422308"/>
              <a:gd name="connsiteY1" fmla="*/ 0 h 445493"/>
              <a:gd name="connsiteX2" fmla="*/ 282958 w 422308"/>
              <a:gd name="connsiteY2" fmla="*/ 76159 h 445493"/>
              <a:gd name="connsiteX3" fmla="*/ 142968 w 422308"/>
              <a:gd name="connsiteY3" fmla="*/ 183385 h 445493"/>
              <a:gd name="connsiteX4" fmla="*/ 56592 w 422308"/>
              <a:gd name="connsiteY4" fmla="*/ 290611 h 445493"/>
              <a:gd name="connsiteX5" fmla="*/ 11914 w 422308"/>
              <a:gd name="connsiteY5" fmla="*/ 388902 h 445493"/>
              <a:gd name="connsiteX6" fmla="*/ 0 w 422308"/>
              <a:gd name="connsiteY6" fmla="*/ 445493 h 445493"/>
              <a:gd name="connsiteX0" fmla="*/ 0 w 422308"/>
              <a:gd name="connsiteY0" fmla="*/ 445493 h 445493"/>
              <a:gd name="connsiteX1" fmla="*/ 422308 w 422308"/>
              <a:gd name="connsiteY1" fmla="*/ 0 h 445493"/>
              <a:gd name="connsiteX2" fmla="*/ 347030 w 422308"/>
              <a:gd name="connsiteY2" fmla="*/ 36320 h 445493"/>
              <a:gd name="connsiteX3" fmla="*/ 282958 w 422308"/>
              <a:gd name="connsiteY3" fmla="*/ 76159 h 445493"/>
              <a:gd name="connsiteX4" fmla="*/ 142968 w 422308"/>
              <a:gd name="connsiteY4" fmla="*/ 183385 h 445493"/>
              <a:gd name="connsiteX5" fmla="*/ 56592 w 422308"/>
              <a:gd name="connsiteY5" fmla="*/ 290611 h 445493"/>
              <a:gd name="connsiteX6" fmla="*/ 11914 w 422308"/>
              <a:gd name="connsiteY6" fmla="*/ 388902 h 445493"/>
              <a:gd name="connsiteX7" fmla="*/ 0 w 422308"/>
              <a:gd name="connsiteY7" fmla="*/ 445493 h 445493"/>
              <a:gd name="connsiteX0" fmla="*/ 0 w 422308"/>
              <a:gd name="connsiteY0" fmla="*/ 437245 h 437245"/>
              <a:gd name="connsiteX1" fmla="*/ 422308 w 422308"/>
              <a:gd name="connsiteY1" fmla="*/ 0 h 437245"/>
              <a:gd name="connsiteX2" fmla="*/ 347030 w 422308"/>
              <a:gd name="connsiteY2" fmla="*/ 28072 h 437245"/>
              <a:gd name="connsiteX3" fmla="*/ 282958 w 422308"/>
              <a:gd name="connsiteY3" fmla="*/ 67911 h 437245"/>
              <a:gd name="connsiteX4" fmla="*/ 142968 w 422308"/>
              <a:gd name="connsiteY4" fmla="*/ 175137 h 437245"/>
              <a:gd name="connsiteX5" fmla="*/ 56592 w 422308"/>
              <a:gd name="connsiteY5" fmla="*/ 282363 h 437245"/>
              <a:gd name="connsiteX6" fmla="*/ 11914 w 422308"/>
              <a:gd name="connsiteY6" fmla="*/ 380654 h 437245"/>
              <a:gd name="connsiteX7" fmla="*/ 0 w 422308"/>
              <a:gd name="connsiteY7" fmla="*/ 437245 h 437245"/>
              <a:gd name="connsiteX0" fmla="*/ 0 w 422308"/>
              <a:gd name="connsiteY0" fmla="*/ 437245 h 437245"/>
              <a:gd name="connsiteX1" fmla="*/ 422308 w 422308"/>
              <a:gd name="connsiteY1" fmla="*/ 0 h 437245"/>
              <a:gd name="connsiteX2" fmla="*/ 347030 w 422308"/>
              <a:gd name="connsiteY2" fmla="*/ 28072 h 437245"/>
              <a:gd name="connsiteX3" fmla="*/ 282958 w 422308"/>
              <a:gd name="connsiteY3" fmla="*/ 67911 h 437245"/>
              <a:gd name="connsiteX4" fmla="*/ 210151 w 422308"/>
              <a:gd name="connsiteY4" fmla="*/ 118799 h 437245"/>
              <a:gd name="connsiteX5" fmla="*/ 142968 w 422308"/>
              <a:gd name="connsiteY5" fmla="*/ 175137 h 437245"/>
              <a:gd name="connsiteX6" fmla="*/ 56592 w 422308"/>
              <a:gd name="connsiteY6" fmla="*/ 282363 h 437245"/>
              <a:gd name="connsiteX7" fmla="*/ 11914 w 422308"/>
              <a:gd name="connsiteY7" fmla="*/ 380654 h 437245"/>
              <a:gd name="connsiteX8" fmla="*/ 0 w 422308"/>
              <a:gd name="connsiteY8" fmla="*/ 437245 h 437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2308" h="437245">
                <a:moveTo>
                  <a:pt x="0" y="437245"/>
                </a:moveTo>
                <a:cubicBezTo>
                  <a:pt x="69498" y="370229"/>
                  <a:pt x="375148" y="61556"/>
                  <a:pt x="422308" y="0"/>
                </a:cubicBezTo>
                <a:cubicBezTo>
                  <a:pt x="397215" y="13756"/>
                  <a:pt x="372123" y="14316"/>
                  <a:pt x="347030" y="28072"/>
                </a:cubicBezTo>
                <a:lnTo>
                  <a:pt x="282958" y="67911"/>
                </a:lnTo>
                <a:cubicBezTo>
                  <a:pt x="260338" y="84874"/>
                  <a:pt x="232771" y="101836"/>
                  <a:pt x="210151" y="118799"/>
                </a:cubicBezTo>
                <a:lnTo>
                  <a:pt x="142968" y="175137"/>
                </a:lnTo>
                <a:lnTo>
                  <a:pt x="56592" y="282363"/>
                </a:lnTo>
                <a:lnTo>
                  <a:pt x="11914" y="380654"/>
                </a:lnTo>
                <a:lnTo>
                  <a:pt x="0" y="437245"/>
                </a:lnTo>
                <a:close/>
              </a:path>
            </a:pathLst>
          </a:custGeom>
          <a:pattFill prst="ltHorz">
            <a:fgClr>
              <a:srgbClr val="0000CC"/>
            </a:fgClr>
            <a:bgClr>
              <a:schemeClr val="bg1"/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104480" tIns="52241" rIns="104480" bIns="52241"/>
          <a:lstStyle/>
          <a:p>
            <a:endParaRPr lang="zh-CN" altLang="en-US" sz="2200" b="1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43263" y="5878513"/>
            <a:ext cx="41449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固结不排水试验</a:t>
            </a:r>
          </a:p>
        </p:txBody>
      </p:sp>
      <p:sp>
        <p:nvSpPr>
          <p:cNvPr id="60" name="Rectangle 52"/>
          <p:cNvSpPr>
            <a:spLocks noChangeArrowheads="1"/>
          </p:cNvSpPr>
          <p:nvPr/>
        </p:nvSpPr>
        <p:spPr bwMode="auto">
          <a:xfrm>
            <a:off x="542792" y="819653"/>
            <a:ext cx="673945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超固结黏土的应力路径和破坏主应力线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16" name="Group 4"/>
          <p:cNvGrpSpPr>
            <a:grpSpLocks/>
          </p:cNvGrpSpPr>
          <p:nvPr/>
        </p:nvGrpSpPr>
        <p:grpSpPr bwMode="auto">
          <a:xfrm>
            <a:off x="531335" y="1705537"/>
            <a:ext cx="3473450" cy="3311525"/>
            <a:chOff x="176" y="1455"/>
            <a:chExt cx="2188" cy="2086"/>
          </a:xfrm>
        </p:grpSpPr>
        <p:sp>
          <p:nvSpPr>
            <p:cNvPr id="117" name="Line 5"/>
            <p:cNvSpPr>
              <a:spLocks noChangeShapeType="1"/>
            </p:cNvSpPr>
            <p:nvPr/>
          </p:nvSpPr>
          <p:spPr bwMode="auto">
            <a:xfrm>
              <a:off x="176" y="1663"/>
              <a:ext cx="0" cy="17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Line 6"/>
            <p:cNvSpPr>
              <a:spLocks noChangeShapeType="1"/>
            </p:cNvSpPr>
            <p:nvPr/>
          </p:nvSpPr>
          <p:spPr bwMode="auto">
            <a:xfrm>
              <a:off x="176" y="3026"/>
              <a:ext cx="21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Rectangle 7"/>
            <p:cNvSpPr>
              <a:spLocks noChangeArrowheads="1"/>
            </p:cNvSpPr>
            <p:nvPr/>
          </p:nvSpPr>
          <p:spPr bwMode="auto">
            <a:xfrm>
              <a:off x="187" y="1455"/>
              <a:ext cx="54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zh-CN" altLang="en-US" sz="2400" b="1" baseline="-25000" dirty="0" smtClean="0">
                  <a:cs typeface="Times New Roman" panose="02020603050405020304" pitchFamily="18" charset="0"/>
                  <a:sym typeface="Symbol" pitchFamily="18" charset="2"/>
                </a:rPr>
                <a:t></a:t>
              </a:r>
              <a:r>
                <a:rPr kumimoji="1" lang="en-US" altLang="zh-CN" sz="2400" b="1" dirty="0" smtClean="0">
                  <a:cs typeface="Times New Roman" panose="02020603050405020304" pitchFamily="18" charset="0"/>
                  <a:sym typeface="Symbol" pitchFamily="18" charset="2"/>
                </a:rPr>
                <a:t>-</a:t>
              </a:r>
              <a:r>
                <a:rPr kumimoji="1" lang="zh-CN" altLang="en-US" sz="24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zh-CN" altLang="en-US" sz="2400" b="1" baseline="-25000" dirty="0" smtClean="0">
                  <a:cs typeface="Times New Roman" panose="02020603050405020304" pitchFamily="18" charset="0"/>
                  <a:sym typeface="Symbol" pitchFamily="18" charset="2"/>
                </a:rPr>
                <a:t></a:t>
              </a:r>
              <a:endParaRPr kumimoji="1" lang="zh-CN" altLang="en-US" sz="2400" b="1" baseline="-25000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20" name="Rectangle 8"/>
            <p:cNvSpPr>
              <a:spLocks noChangeArrowheads="1"/>
            </p:cNvSpPr>
            <p:nvPr/>
          </p:nvSpPr>
          <p:spPr bwMode="auto">
            <a:xfrm>
              <a:off x="2098" y="2943"/>
              <a:ext cx="26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cs typeface="Times New Roman" panose="02020603050405020304" pitchFamily="18" charset="0"/>
                  <a:sym typeface="Symbol" pitchFamily="18" charset="2"/>
                </a:rPr>
                <a:t></a:t>
              </a:r>
              <a:r>
                <a:rPr kumimoji="1" lang="zh-CN" altLang="en-US" sz="2400" b="1" baseline="-25000" dirty="0">
                  <a:cs typeface="Times New Roman" panose="02020603050405020304" pitchFamily="18" charset="0"/>
                  <a:sym typeface="Symbol" pitchFamily="18" charset="2"/>
                </a:rPr>
                <a:t></a:t>
              </a:r>
            </a:p>
          </p:txBody>
        </p:sp>
        <p:sp>
          <p:nvSpPr>
            <p:cNvPr id="121" name="Rectangle 9"/>
            <p:cNvSpPr>
              <a:spLocks noChangeArrowheads="1"/>
            </p:cNvSpPr>
            <p:nvPr/>
          </p:nvSpPr>
          <p:spPr bwMode="auto">
            <a:xfrm>
              <a:off x="195" y="3250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ym typeface="Symbol" pitchFamily="18" charset="2"/>
                </a:rPr>
                <a:t>u</a:t>
              </a:r>
              <a:endParaRPr kumimoji="1" lang="en-US" altLang="zh-CN" sz="2400" b="1" i="1" baseline="-25000" dirty="0">
                <a:sym typeface="Symbol" pitchFamily="18" charset="2"/>
              </a:endParaRPr>
            </a:p>
          </p:txBody>
        </p:sp>
      </p:grpSp>
      <p:grpSp>
        <p:nvGrpSpPr>
          <p:cNvPr id="122" name="Group 17"/>
          <p:cNvGrpSpPr>
            <a:grpSpLocks/>
          </p:cNvGrpSpPr>
          <p:nvPr/>
        </p:nvGrpSpPr>
        <p:grpSpPr bwMode="auto">
          <a:xfrm>
            <a:off x="528159" y="2907274"/>
            <a:ext cx="3197225" cy="1392238"/>
            <a:chOff x="174" y="2212"/>
            <a:chExt cx="2014" cy="877"/>
          </a:xfrm>
        </p:grpSpPr>
        <p:sp>
          <p:nvSpPr>
            <p:cNvPr id="123" name="Freeform 18"/>
            <p:cNvSpPr>
              <a:spLocks/>
            </p:cNvSpPr>
            <p:nvPr/>
          </p:nvSpPr>
          <p:spPr bwMode="auto">
            <a:xfrm>
              <a:off x="183" y="2284"/>
              <a:ext cx="1892" cy="734"/>
            </a:xfrm>
            <a:custGeom>
              <a:avLst/>
              <a:gdLst>
                <a:gd name="T0" fmla="*/ 0 w 1933"/>
                <a:gd name="T1" fmla="*/ 546 h 546"/>
                <a:gd name="T2" fmla="*/ 73 w 1933"/>
                <a:gd name="T3" fmla="*/ 392 h 546"/>
                <a:gd name="T4" fmla="*/ 169 w 1933"/>
                <a:gd name="T5" fmla="*/ 236 h 546"/>
                <a:gd name="T6" fmla="*/ 307 w 1933"/>
                <a:gd name="T7" fmla="*/ 66 h 546"/>
                <a:gd name="T8" fmla="*/ 419 w 1933"/>
                <a:gd name="T9" fmla="*/ 2 h 546"/>
                <a:gd name="T10" fmla="*/ 573 w 1933"/>
                <a:gd name="T11" fmla="*/ 79 h 546"/>
                <a:gd name="T12" fmla="*/ 774 w 1933"/>
                <a:gd name="T13" fmla="*/ 172 h 546"/>
                <a:gd name="T14" fmla="*/ 1037 w 1933"/>
                <a:gd name="T15" fmla="*/ 245 h 546"/>
                <a:gd name="T16" fmla="*/ 1385 w 1933"/>
                <a:gd name="T17" fmla="*/ 296 h 546"/>
                <a:gd name="T18" fmla="*/ 1933 w 1933"/>
                <a:gd name="T19" fmla="*/ 296 h 5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33"/>
                <a:gd name="T31" fmla="*/ 0 h 546"/>
                <a:gd name="T32" fmla="*/ 1933 w 1933"/>
                <a:gd name="T33" fmla="*/ 546 h 546"/>
                <a:gd name="connsiteX0" fmla="*/ 0 w 7165"/>
                <a:gd name="connsiteY0" fmla="*/ 9965 h 9965"/>
                <a:gd name="connsiteX1" fmla="*/ 378 w 7165"/>
                <a:gd name="connsiteY1" fmla="*/ 7144 h 9965"/>
                <a:gd name="connsiteX2" fmla="*/ 874 w 7165"/>
                <a:gd name="connsiteY2" fmla="*/ 4287 h 9965"/>
                <a:gd name="connsiteX3" fmla="*/ 1588 w 7165"/>
                <a:gd name="connsiteY3" fmla="*/ 1174 h 9965"/>
                <a:gd name="connsiteX4" fmla="*/ 2168 w 7165"/>
                <a:gd name="connsiteY4" fmla="*/ 2 h 9965"/>
                <a:gd name="connsiteX5" fmla="*/ 2964 w 7165"/>
                <a:gd name="connsiteY5" fmla="*/ 1412 h 9965"/>
                <a:gd name="connsiteX6" fmla="*/ 4004 w 7165"/>
                <a:gd name="connsiteY6" fmla="*/ 3115 h 9965"/>
                <a:gd name="connsiteX7" fmla="*/ 5365 w 7165"/>
                <a:gd name="connsiteY7" fmla="*/ 4452 h 9965"/>
                <a:gd name="connsiteX8" fmla="*/ 7165 w 7165"/>
                <a:gd name="connsiteY8" fmla="*/ 5386 h 9965"/>
                <a:gd name="connsiteX0" fmla="*/ 0 w 7488"/>
                <a:gd name="connsiteY0" fmla="*/ 10000 h 10000"/>
                <a:gd name="connsiteX1" fmla="*/ 528 w 7488"/>
                <a:gd name="connsiteY1" fmla="*/ 7169 h 10000"/>
                <a:gd name="connsiteX2" fmla="*/ 1220 w 7488"/>
                <a:gd name="connsiteY2" fmla="*/ 4302 h 10000"/>
                <a:gd name="connsiteX3" fmla="*/ 2216 w 7488"/>
                <a:gd name="connsiteY3" fmla="*/ 1178 h 10000"/>
                <a:gd name="connsiteX4" fmla="*/ 3026 w 7488"/>
                <a:gd name="connsiteY4" fmla="*/ 2 h 10000"/>
                <a:gd name="connsiteX5" fmla="*/ 4137 w 7488"/>
                <a:gd name="connsiteY5" fmla="*/ 1417 h 10000"/>
                <a:gd name="connsiteX6" fmla="*/ 5588 w 7488"/>
                <a:gd name="connsiteY6" fmla="*/ 3126 h 10000"/>
                <a:gd name="connsiteX7" fmla="*/ 7488 w 7488"/>
                <a:gd name="connsiteY7" fmla="*/ 4468 h 10000"/>
                <a:gd name="connsiteX0" fmla="*/ 0 w 10000"/>
                <a:gd name="connsiteY0" fmla="*/ 10286 h 10286"/>
                <a:gd name="connsiteX1" fmla="*/ 705 w 10000"/>
                <a:gd name="connsiteY1" fmla="*/ 7455 h 10286"/>
                <a:gd name="connsiteX2" fmla="*/ 1629 w 10000"/>
                <a:gd name="connsiteY2" fmla="*/ 4588 h 10286"/>
                <a:gd name="connsiteX3" fmla="*/ 2959 w 10000"/>
                <a:gd name="connsiteY3" fmla="*/ 1464 h 10286"/>
                <a:gd name="connsiteX4" fmla="*/ 4041 w 10000"/>
                <a:gd name="connsiteY4" fmla="*/ 288 h 10286"/>
                <a:gd name="connsiteX5" fmla="*/ 6271 w 10000"/>
                <a:gd name="connsiteY5" fmla="*/ 274 h 10286"/>
                <a:gd name="connsiteX6" fmla="*/ 7463 w 10000"/>
                <a:gd name="connsiteY6" fmla="*/ 3412 h 10286"/>
                <a:gd name="connsiteX7" fmla="*/ 10000 w 10000"/>
                <a:gd name="connsiteY7" fmla="*/ 4754 h 10286"/>
                <a:gd name="connsiteX0" fmla="*/ 0 w 10000"/>
                <a:gd name="connsiteY0" fmla="*/ 10232 h 10232"/>
                <a:gd name="connsiteX1" fmla="*/ 705 w 10000"/>
                <a:gd name="connsiteY1" fmla="*/ 7401 h 10232"/>
                <a:gd name="connsiteX2" fmla="*/ 1629 w 10000"/>
                <a:gd name="connsiteY2" fmla="*/ 4534 h 10232"/>
                <a:gd name="connsiteX3" fmla="*/ 2959 w 10000"/>
                <a:gd name="connsiteY3" fmla="*/ 1410 h 10232"/>
                <a:gd name="connsiteX4" fmla="*/ 4041 w 10000"/>
                <a:gd name="connsiteY4" fmla="*/ 234 h 10232"/>
                <a:gd name="connsiteX5" fmla="*/ 6271 w 10000"/>
                <a:gd name="connsiteY5" fmla="*/ 220 h 10232"/>
                <a:gd name="connsiteX6" fmla="*/ 8209 w 10000"/>
                <a:gd name="connsiteY6" fmla="*/ 2554 h 10232"/>
                <a:gd name="connsiteX7" fmla="*/ 10000 w 10000"/>
                <a:gd name="connsiteY7" fmla="*/ 4700 h 10232"/>
                <a:gd name="connsiteX0" fmla="*/ 0 w 11361"/>
                <a:gd name="connsiteY0" fmla="*/ 10232 h 10232"/>
                <a:gd name="connsiteX1" fmla="*/ 705 w 11361"/>
                <a:gd name="connsiteY1" fmla="*/ 7401 h 10232"/>
                <a:gd name="connsiteX2" fmla="*/ 1629 w 11361"/>
                <a:gd name="connsiteY2" fmla="*/ 4534 h 10232"/>
                <a:gd name="connsiteX3" fmla="*/ 2959 w 11361"/>
                <a:gd name="connsiteY3" fmla="*/ 1410 h 10232"/>
                <a:gd name="connsiteX4" fmla="*/ 4041 w 11361"/>
                <a:gd name="connsiteY4" fmla="*/ 234 h 10232"/>
                <a:gd name="connsiteX5" fmla="*/ 6271 w 11361"/>
                <a:gd name="connsiteY5" fmla="*/ 220 h 10232"/>
                <a:gd name="connsiteX6" fmla="*/ 8209 w 11361"/>
                <a:gd name="connsiteY6" fmla="*/ 2554 h 10232"/>
                <a:gd name="connsiteX7" fmla="*/ 11361 w 11361"/>
                <a:gd name="connsiteY7" fmla="*/ 4879 h 10232"/>
                <a:gd name="connsiteX0" fmla="*/ 0 w 11361"/>
                <a:gd name="connsiteY0" fmla="*/ 10025 h 10025"/>
                <a:gd name="connsiteX1" fmla="*/ 705 w 11361"/>
                <a:gd name="connsiteY1" fmla="*/ 7194 h 10025"/>
                <a:gd name="connsiteX2" fmla="*/ 1629 w 11361"/>
                <a:gd name="connsiteY2" fmla="*/ 4327 h 10025"/>
                <a:gd name="connsiteX3" fmla="*/ 2959 w 11361"/>
                <a:gd name="connsiteY3" fmla="*/ 1203 h 10025"/>
                <a:gd name="connsiteX4" fmla="*/ 4041 w 11361"/>
                <a:gd name="connsiteY4" fmla="*/ 27 h 10025"/>
                <a:gd name="connsiteX5" fmla="*/ 6359 w 11361"/>
                <a:gd name="connsiteY5" fmla="*/ 549 h 10025"/>
                <a:gd name="connsiteX6" fmla="*/ 8209 w 11361"/>
                <a:gd name="connsiteY6" fmla="*/ 2347 h 10025"/>
                <a:gd name="connsiteX7" fmla="*/ 11361 w 11361"/>
                <a:gd name="connsiteY7" fmla="*/ 4672 h 10025"/>
                <a:gd name="connsiteX0" fmla="*/ 0 w 11361"/>
                <a:gd name="connsiteY0" fmla="*/ 10457 h 10457"/>
                <a:gd name="connsiteX1" fmla="*/ 705 w 11361"/>
                <a:gd name="connsiteY1" fmla="*/ 7626 h 10457"/>
                <a:gd name="connsiteX2" fmla="*/ 1629 w 11361"/>
                <a:gd name="connsiteY2" fmla="*/ 4759 h 10457"/>
                <a:gd name="connsiteX3" fmla="*/ 2959 w 11361"/>
                <a:gd name="connsiteY3" fmla="*/ 1635 h 10457"/>
                <a:gd name="connsiteX4" fmla="*/ 5094 w 11361"/>
                <a:gd name="connsiteY4" fmla="*/ 12 h 10457"/>
                <a:gd name="connsiteX5" fmla="*/ 6359 w 11361"/>
                <a:gd name="connsiteY5" fmla="*/ 981 h 10457"/>
                <a:gd name="connsiteX6" fmla="*/ 8209 w 11361"/>
                <a:gd name="connsiteY6" fmla="*/ 2779 h 10457"/>
                <a:gd name="connsiteX7" fmla="*/ 11361 w 11361"/>
                <a:gd name="connsiteY7" fmla="*/ 5104 h 10457"/>
                <a:gd name="connsiteX0" fmla="*/ 0 w 11361"/>
                <a:gd name="connsiteY0" fmla="*/ 10634 h 10634"/>
                <a:gd name="connsiteX1" fmla="*/ 705 w 11361"/>
                <a:gd name="connsiteY1" fmla="*/ 7803 h 10634"/>
                <a:gd name="connsiteX2" fmla="*/ 1629 w 11361"/>
                <a:gd name="connsiteY2" fmla="*/ 4936 h 10634"/>
                <a:gd name="connsiteX3" fmla="*/ 2959 w 11361"/>
                <a:gd name="connsiteY3" fmla="*/ 1812 h 10634"/>
                <a:gd name="connsiteX4" fmla="*/ 4787 w 11361"/>
                <a:gd name="connsiteY4" fmla="*/ 10 h 10634"/>
                <a:gd name="connsiteX5" fmla="*/ 6359 w 11361"/>
                <a:gd name="connsiteY5" fmla="*/ 1158 h 10634"/>
                <a:gd name="connsiteX6" fmla="*/ 8209 w 11361"/>
                <a:gd name="connsiteY6" fmla="*/ 2956 h 10634"/>
                <a:gd name="connsiteX7" fmla="*/ 11361 w 11361"/>
                <a:gd name="connsiteY7" fmla="*/ 5281 h 10634"/>
                <a:gd name="connsiteX0" fmla="*/ 0 w 11668"/>
                <a:gd name="connsiteY0" fmla="*/ 10634 h 10634"/>
                <a:gd name="connsiteX1" fmla="*/ 705 w 11668"/>
                <a:gd name="connsiteY1" fmla="*/ 7803 h 10634"/>
                <a:gd name="connsiteX2" fmla="*/ 1629 w 11668"/>
                <a:gd name="connsiteY2" fmla="*/ 4936 h 10634"/>
                <a:gd name="connsiteX3" fmla="*/ 2959 w 11668"/>
                <a:gd name="connsiteY3" fmla="*/ 1812 h 10634"/>
                <a:gd name="connsiteX4" fmla="*/ 4787 w 11668"/>
                <a:gd name="connsiteY4" fmla="*/ 10 h 10634"/>
                <a:gd name="connsiteX5" fmla="*/ 6359 w 11668"/>
                <a:gd name="connsiteY5" fmla="*/ 1158 h 10634"/>
                <a:gd name="connsiteX6" fmla="*/ 8209 w 11668"/>
                <a:gd name="connsiteY6" fmla="*/ 2956 h 10634"/>
                <a:gd name="connsiteX7" fmla="*/ 11668 w 11668"/>
                <a:gd name="connsiteY7" fmla="*/ 4477 h 10634"/>
                <a:gd name="connsiteX0" fmla="*/ 0 w 11668"/>
                <a:gd name="connsiteY0" fmla="*/ 10635 h 10635"/>
                <a:gd name="connsiteX1" fmla="*/ 705 w 11668"/>
                <a:gd name="connsiteY1" fmla="*/ 7804 h 10635"/>
                <a:gd name="connsiteX2" fmla="*/ 1629 w 11668"/>
                <a:gd name="connsiteY2" fmla="*/ 4937 h 10635"/>
                <a:gd name="connsiteX3" fmla="*/ 2959 w 11668"/>
                <a:gd name="connsiteY3" fmla="*/ 1813 h 10635"/>
                <a:gd name="connsiteX4" fmla="*/ 4787 w 11668"/>
                <a:gd name="connsiteY4" fmla="*/ 11 h 10635"/>
                <a:gd name="connsiteX5" fmla="*/ 6359 w 11668"/>
                <a:gd name="connsiteY5" fmla="*/ 1159 h 10635"/>
                <a:gd name="connsiteX6" fmla="*/ 8867 w 11668"/>
                <a:gd name="connsiteY6" fmla="*/ 3225 h 10635"/>
                <a:gd name="connsiteX7" fmla="*/ 11668 w 11668"/>
                <a:gd name="connsiteY7" fmla="*/ 4478 h 10635"/>
                <a:gd name="connsiteX0" fmla="*/ 0 w 11668"/>
                <a:gd name="connsiteY0" fmla="*/ 10632 h 10632"/>
                <a:gd name="connsiteX1" fmla="*/ 705 w 11668"/>
                <a:gd name="connsiteY1" fmla="*/ 7801 h 10632"/>
                <a:gd name="connsiteX2" fmla="*/ 1629 w 11668"/>
                <a:gd name="connsiteY2" fmla="*/ 4934 h 10632"/>
                <a:gd name="connsiteX3" fmla="*/ 2959 w 11668"/>
                <a:gd name="connsiteY3" fmla="*/ 1810 h 10632"/>
                <a:gd name="connsiteX4" fmla="*/ 4787 w 11668"/>
                <a:gd name="connsiteY4" fmla="*/ 8 h 10632"/>
                <a:gd name="connsiteX5" fmla="*/ 6710 w 11668"/>
                <a:gd name="connsiteY5" fmla="*/ 1245 h 10632"/>
                <a:gd name="connsiteX6" fmla="*/ 8867 w 11668"/>
                <a:gd name="connsiteY6" fmla="*/ 3222 h 10632"/>
                <a:gd name="connsiteX7" fmla="*/ 11668 w 11668"/>
                <a:gd name="connsiteY7" fmla="*/ 4475 h 10632"/>
                <a:gd name="connsiteX0" fmla="*/ 0 w 11668"/>
                <a:gd name="connsiteY0" fmla="*/ 10632 h 10632"/>
                <a:gd name="connsiteX1" fmla="*/ 705 w 11668"/>
                <a:gd name="connsiteY1" fmla="*/ 7801 h 10632"/>
                <a:gd name="connsiteX2" fmla="*/ 1629 w 11668"/>
                <a:gd name="connsiteY2" fmla="*/ 4934 h 10632"/>
                <a:gd name="connsiteX3" fmla="*/ 2959 w 11668"/>
                <a:gd name="connsiteY3" fmla="*/ 1810 h 10632"/>
                <a:gd name="connsiteX4" fmla="*/ 4787 w 11668"/>
                <a:gd name="connsiteY4" fmla="*/ 8 h 10632"/>
                <a:gd name="connsiteX5" fmla="*/ 6710 w 11668"/>
                <a:gd name="connsiteY5" fmla="*/ 1245 h 10632"/>
                <a:gd name="connsiteX6" fmla="*/ 8719 w 11668"/>
                <a:gd name="connsiteY6" fmla="*/ 2865 h 10632"/>
                <a:gd name="connsiteX7" fmla="*/ 11668 w 11668"/>
                <a:gd name="connsiteY7" fmla="*/ 4475 h 10632"/>
                <a:gd name="connsiteX0" fmla="*/ 0 w 11668"/>
                <a:gd name="connsiteY0" fmla="*/ 10721 h 10721"/>
                <a:gd name="connsiteX1" fmla="*/ 705 w 11668"/>
                <a:gd name="connsiteY1" fmla="*/ 7890 h 10721"/>
                <a:gd name="connsiteX2" fmla="*/ 1629 w 11668"/>
                <a:gd name="connsiteY2" fmla="*/ 5023 h 10721"/>
                <a:gd name="connsiteX3" fmla="*/ 2959 w 11668"/>
                <a:gd name="connsiteY3" fmla="*/ 1899 h 10721"/>
                <a:gd name="connsiteX4" fmla="*/ 4787 w 11668"/>
                <a:gd name="connsiteY4" fmla="*/ 97 h 10721"/>
                <a:gd name="connsiteX5" fmla="*/ 6673 w 11668"/>
                <a:gd name="connsiteY5" fmla="*/ 530 h 10721"/>
                <a:gd name="connsiteX6" fmla="*/ 8719 w 11668"/>
                <a:gd name="connsiteY6" fmla="*/ 2954 h 10721"/>
                <a:gd name="connsiteX7" fmla="*/ 11668 w 11668"/>
                <a:gd name="connsiteY7" fmla="*/ 4564 h 10721"/>
                <a:gd name="connsiteX0" fmla="*/ 0 w 11668"/>
                <a:gd name="connsiteY0" fmla="*/ 10710 h 10710"/>
                <a:gd name="connsiteX1" fmla="*/ 705 w 11668"/>
                <a:gd name="connsiteY1" fmla="*/ 7879 h 10710"/>
                <a:gd name="connsiteX2" fmla="*/ 1629 w 11668"/>
                <a:gd name="connsiteY2" fmla="*/ 5012 h 10710"/>
                <a:gd name="connsiteX3" fmla="*/ 2959 w 11668"/>
                <a:gd name="connsiteY3" fmla="*/ 1888 h 10710"/>
                <a:gd name="connsiteX4" fmla="*/ 4787 w 11668"/>
                <a:gd name="connsiteY4" fmla="*/ 86 h 10710"/>
                <a:gd name="connsiteX5" fmla="*/ 6673 w 11668"/>
                <a:gd name="connsiteY5" fmla="*/ 519 h 10710"/>
                <a:gd name="connsiteX6" fmla="*/ 9088 w 11668"/>
                <a:gd name="connsiteY6" fmla="*/ 2496 h 10710"/>
                <a:gd name="connsiteX7" fmla="*/ 11668 w 11668"/>
                <a:gd name="connsiteY7" fmla="*/ 4553 h 10710"/>
                <a:gd name="connsiteX0" fmla="*/ 0 w 11594"/>
                <a:gd name="connsiteY0" fmla="*/ 10710 h 10710"/>
                <a:gd name="connsiteX1" fmla="*/ 705 w 11594"/>
                <a:gd name="connsiteY1" fmla="*/ 7879 h 10710"/>
                <a:gd name="connsiteX2" fmla="*/ 1629 w 11594"/>
                <a:gd name="connsiteY2" fmla="*/ 5012 h 10710"/>
                <a:gd name="connsiteX3" fmla="*/ 2959 w 11594"/>
                <a:gd name="connsiteY3" fmla="*/ 1888 h 10710"/>
                <a:gd name="connsiteX4" fmla="*/ 4787 w 11594"/>
                <a:gd name="connsiteY4" fmla="*/ 86 h 10710"/>
                <a:gd name="connsiteX5" fmla="*/ 6673 w 11594"/>
                <a:gd name="connsiteY5" fmla="*/ 519 h 10710"/>
                <a:gd name="connsiteX6" fmla="*/ 9088 w 11594"/>
                <a:gd name="connsiteY6" fmla="*/ 2496 h 10710"/>
                <a:gd name="connsiteX7" fmla="*/ 11594 w 11594"/>
                <a:gd name="connsiteY7" fmla="*/ 4017 h 10710"/>
                <a:gd name="connsiteX0" fmla="*/ 0 w 10930"/>
                <a:gd name="connsiteY0" fmla="*/ 10710 h 10710"/>
                <a:gd name="connsiteX1" fmla="*/ 705 w 10930"/>
                <a:gd name="connsiteY1" fmla="*/ 7879 h 10710"/>
                <a:gd name="connsiteX2" fmla="*/ 1629 w 10930"/>
                <a:gd name="connsiteY2" fmla="*/ 5012 h 10710"/>
                <a:gd name="connsiteX3" fmla="*/ 2959 w 10930"/>
                <a:gd name="connsiteY3" fmla="*/ 1888 h 10710"/>
                <a:gd name="connsiteX4" fmla="*/ 4787 w 10930"/>
                <a:gd name="connsiteY4" fmla="*/ 86 h 10710"/>
                <a:gd name="connsiteX5" fmla="*/ 6673 w 10930"/>
                <a:gd name="connsiteY5" fmla="*/ 519 h 10710"/>
                <a:gd name="connsiteX6" fmla="*/ 9088 w 10930"/>
                <a:gd name="connsiteY6" fmla="*/ 2496 h 10710"/>
                <a:gd name="connsiteX7" fmla="*/ 10930 w 10930"/>
                <a:gd name="connsiteY7" fmla="*/ 3034 h 10710"/>
                <a:gd name="connsiteX0" fmla="*/ 0 w 10930"/>
                <a:gd name="connsiteY0" fmla="*/ 10696 h 10696"/>
                <a:gd name="connsiteX1" fmla="*/ 705 w 10930"/>
                <a:gd name="connsiteY1" fmla="*/ 7865 h 10696"/>
                <a:gd name="connsiteX2" fmla="*/ 1629 w 10930"/>
                <a:gd name="connsiteY2" fmla="*/ 4998 h 10696"/>
                <a:gd name="connsiteX3" fmla="*/ 2959 w 10930"/>
                <a:gd name="connsiteY3" fmla="*/ 1874 h 10696"/>
                <a:gd name="connsiteX4" fmla="*/ 4787 w 10930"/>
                <a:gd name="connsiteY4" fmla="*/ 72 h 10696"/>
                <a:gd name="connsiteX5" fmla="*/ 6673 w 10930"/>
                <a:gd name="connsiteY5" fmla="*/ 505 h 10696"/>
                <a:gd name="connsiteX6" fmla="*/ 8719 w 10930"/>
                <a:gd name="connsiteY6" fmla="*/ 1856 h 10696"/>
                <a:gd name="connsiteX7" fmla="*/ 10930 w 10930"/>
                <a:gd name="connsiteY7" fmla="*/ 3020 h 10696"/>
                <a:gd name="connsiteX0" fmla="*/ 0 w 10930"/>
                <a:gd name="connsiteY0" fmla="*/ 10739 h 10739"/>
                <a:gd name="connsiteX1" fmla="*/ 705 w 10930"/>
                <a:gd name="connsiteY1" fmla="*/ 7908 h 10739"/>
                <a:gd name="connsiteX2" fmla="*/ 1629 w 10930"/>
                <a:gd name="connsiteY2" fmla="*/ 5041 h 10739"/>
                <a:gd name="connsiteX3" fmla="*/ 2959 w 10930"/>
                <a:gd name="connsiteY3" fmla="*/ 1917 h 10739"/>
                <a:gd name="connsiteX4" fmla="*/ 4787 w 10930"/>
                <a:gd name="connsiteY4" fmla="*/ 115 h 10739"/>
                <a:gd name="connsiteX5" fmla="*/ 6747 w 10930"/>
                <a:gd name="connsiteY5" fmla="*/ 369 h 10739"/>
                <a:gd name="connsiteX6" fmla="*/ 8719 w 10930"/>
                <a:gd name="connsiteY6" fmla="*/ 1899 h 10739"/>
                <a:gd name="connsiteX7" fmla="*/ 10930 w 10930"/>
                <a:gd name="connsiteY7" fmla="*/ 3063 h 10739"/>
                <a:gd name="connsiteX0" fmla="*/ 0 w 10930"/>
                <a:gd name="connsiteY0" fmla="*/ 10737 h 10737"/>
                <a:gd name="connsiteX1" fmla="*/ 705 w 10930"/>
                <a:gd name="connsiteY1" fmla="*/ 7906 h 10737"/>
                <a:gd name="connsiteX2" fmla="*/ 1629 w 10930"/>
                <a:gd name="connsiteY2" fmla="*/ 5039 h 10737"/>
                <a:gd name="connsiteX3" fmla="*/ 2959 w 10930"/>
                <a:gd name="connsiteY3" fmla="*/ 1915 h 10737"/>
                <a:gd name="connsiteX4" fmla="*/ 4787 w 10930"/>
                <a:gd name="connsiteY4" fmla="*/ 113 h 10737"/>
                <a:gd name="connsiteX5" fmla="*/ 6747 w 10930"/>
                <a:gd name="connsiteY5" fmla="*/ 367 h 10737"/>
                <a:gd name="connsiteX6" fmla="*/ 8960 w 10930"/>
                <a:gd name="connsiteY6" fmla="*/ 1808 h 10737"/>
                <a:gd name="connsiteX7" fmla="*/ 10930 w 10930"/>
                <a:gd name="connsiteY7" fmla="*/ 3061 h 10737"/>
                <a:gd name="connsiteX0" fmla="*/ 0 w 10896"/>
                <a:gd name="connsiteY0" fmla="*/ 10737 h 10737"/>
                <a:gd name="connsiteX1" fmla="*/ 705 w 10896"/>
                <a:gd name="connsiteY1" fmla="*/ 7906 h 10737"/>
                <a:gd name="connsiteX2" fmla="*/ 1629 w 10896"/>
                <a:gd name="connsiteY2" fmla="*/ 5039 h 10737"/>
                <a:gd name="connsiteX3" fmla="*/ 2959 w 10896"/>
                <a:gd name="connsiteY3" fmla="*/ 1915 h 10737"/>
                <a:gd name="connsiteX4" fmla="*/ 4787 w 10896"/>
                <a:gd name="connsiteY4" fmla="*/ 113 h 10737"/>
                <a:gd name="connsiteX5" fmla="*/ 6747 w 10896"/>
                <a:gd name="connsiteY5" fmla="*/ 367 h 10737"/>
                <a:gd name="connsiteX6" fmla="*/ 8960 w 10896"/>
                <a:gd name="connsiteY6" fmla="*/ 1808 h 10737"/>
                <a:gd name="connsiteX7" fmla="*/ 10896 w 10896"/>
                <a:gd name="connsiteY7" fmla="*/ 3240 h 10737"/>
                <a:gd name="connsiteX0" fmla="*/ 0 w 10896"/>
                <a:gd name="connsiteY0" fmla="*/ 10737 h 10737"/>
                <a:gd name="connsiteX1" fmla="*/ 705 w 10896"/>
                <a:gd name="connsiteY1" fmla="*/ 7906 h 10737"/>
                <a:gd name="connsiteX2" fmla="*/ 1629 w 10896"/>
                <a:gd name="connsiteY2" fmla="*/ 5039 h 10737"/>
                <a:gd name="connsiteX3" fmla="*/ 2959 w 10896"/>
                <a:gd name="connsiteY3" fmla="*/ 1915 h 10737"/>
                <a:gd name="connsiteX4" fmla="*/ 5131 w 10896"/>
                <a:gd name="connsiteY4" fmla="*/ 113 h 10737"/>
                <a:gd name="connsiteX5" fmla="*/ 6747 w 10896"/>
                <a:gd name="connsiteY5" fmla="*/ 367 h 10737"/>
                <a:gd name="connsiteX6" fmla="*/ 8960 w 10896"/>
                <a:gd name="connsiteY6" fmla="*/ 1808 h 10737"/>
                <a:gd name="connsiteX7" fmla="*/ 10896 w 10896"/>
                <a:gd name="connsiteY7" fmla="*/ 3240 h 10737"/>
                <a:gd name="connsiteX0" fmla="*/ 0 w 10896"/>
                <a:gd name="connsiteY0" fmla="*/ 10968 h 10968"/>
                <a:gd name="connsiteX1" fmla="*/ 705 w 10896"/>
                <a:gd name="connsiteY1" fmla="*/ 8137 h 10968"/>
                <a:gd name="connsiteX2" fmla="*/ 1629 w 10896"/>
                <a:gd name="connsiteY2" fmla="*/ 5270 h 10968"/>
                <a:gd name="connsiteX3" fmla="*/ 2959 w 10896"/>
                <a:gd name="connsiteY3" fmla="*/ 2146 h 10968"/>
                <a:gd name="connsiteX4" fmla="*/ 5097 w 10896"/>
                <a:gd name="connsiteY4" fmla="*/ 76 h 10968"/>
                <a:gd name="connsiteX5" fmla="*/ 6747 w 10896"/>
                <a:gd name="connsiteY5" fmla="*/ 598 h 10968"/>
                <a:gd name="connsiteX6" fmla="*/ 8960 w 10896"/>
                <a:gd name="connsiteY6" fmla="*/ 2039 h 10968"/>
                <a:gd name="connsiteX7" fmla="*/ 10896 w 10896"/>
                <a:gd name="connsiteY7" fmla="*/ 3471 h 10968"/>
                <a:gd name="connsiteX0" fmla="*/ 0 w 10896"/>
                <a:gd name="connsiteY0" fmla="*/ 10941 h 10941"/>
                <a:gd name="connsiteX1" fmla="*/ 705 w 10896"/>
                <a:gd name="connsiteY1" fmla="*/ 8110 h 10941"/>
                <a:gd name="connsiteX2" fmla="*/ 1629 w 10896"/>
                <a:gd name="connsiteY2" fmla="*/ 5243 h 10941"/>
                <a:gd name="connsiteX3" fmla="*/ 3235 w 10896"/>
                <a:gd name="connsiteY3" fmla="*/ 1673 h 10941"/>
                <a:gd name="connsiteX4" fmla="*/ 5097 w 10896"/>
                <a:gd name="connsiteY4" fmla="*/ 49 h 10941"/>
                <a:gd name="connsiteX5" fmla="*/ 6747 w 10896"/>
                <a:gd name="connsiteY5" fmla="*/ 571 h 10941"/>
                <a:gd name="connsiteX6" fmla="*/ 8960 w 10896"/>
                <a:gd name="connsiteY6" fmla="*/ 2012 h 10941"/>
                <a:gd name="connsiteX7" fmla="*/ 10896 w 10896"/>
                <a:gd name="connsiteY7" fmla="*/ 3444 h 10941"/>
                <a:gd name="connsiteX0" fmla="*/ 0 w 10896"/>
                <a:gd name="connsiteY0" fmla="*/ 10920 h 10920"/>
                <a:gd name="connsiteX1" fmla="*/ 705 w 10896"/>
                <a:gd name="connsiteY1" fmla="*/ 8089 h 10920"/>
                <a:gd name="connsiteX2" fmla="*/ 1629 w 10896"/>
                <a:gd name="connsiteY2" fmla="*/ 5222 h 10920"/>
                <a:gd name="connsiteX3" fmla="*/ 3511 w 10896"/>
                <a:gd name="connsiteY3" fmla="*/ 1295 h 10920"/>
                <a:gd name="connsiteX4" fmla="*/ 5097 w 10896"/>
                <a:gd name="connsiteY4" fmla="*/ 28 h 10920"/>
                <a:gd name="connsiteX5" fmla="*/ 6747 w 10896"/>
                <a:gd name="connsiteY5" fmla="*/ 550 h 10920"/>
                <a:gd name="connsiteX6" fmla="*/ 8960 w 10896"/>
                <a:gd name="connsiteY6" fmla="*/ 1991 h 10920"/>
                <a:gd name="connsiteX7" fmla="*/ 10896 w 10896"/>
                <a:gd name="connsiteY7" fmla="*/ 3423 h 10920"/>
                <a:gd name="connsiteX0" fmla="*/ 0 w 10896"/>
                <a:gd name="connsiteY0" fmla="*/ 10920 h 10920"/>
                <a:gd name="connsiteX1" fmla="*/ 705 w 10896"/>
                <a:gd name="connsiteY1" fmla="*/ 8089 h 10920"/>
                <a:gd name="connsiteX2" fmla="*/ 2077 w 10896"/>
                <a:gd name="connsiteY2" fmla="*/ 4062 h 10920"/>
                <a:gd name="connsiteX3" fmla="*/ 3511 w 10896"/>
                <a:gd name="connsiteY3" fmla="*/ 1295 h 10920"/>
                <a:gd name="connsiteX4" fmla="*/ 5097 w 10896"/>
                <a:gd name="connsiteY4" fmla="*/ 28 h 10920"/>
                <a:gd name="connsiteX5" fmla="*/ 6747 w 10896"/>
                <a:gd name="connsiteY5" fmla="*/ 550 h 10920"/>
                <a:gd name="connsiteX6" fmla="*/ 8960 w 10896"/>
                <a:gd name="connsiteY6" fmla="*/ 1991 h 10920"/>
                <a:gd name="connsiteX7" fmla="*/ 10896 w 10896"/>
                <a:gd name="connsiteY7" fmla="*/ 3423 h 10920"/>
                <a:gd name="connsiteX0" fmla="*/ 0 w 10896"/>
                <a:gd name="connsiteY0" fmla="*/ 10918 h 10918"/>
                <a:gd name="connsiteX1" fmla="*/ 705 w 10896"/>
                <a:gd name="connsiteY1" fmla="*/ 8087 h 10918"/>
                <a:gd name="connsiteX2" fmla="*/ 2077 w 10896"/>
                <a:gd name="connsiteY2" fmla="*/ 4060 h 10918"/>
                <a:gd name="connsiteX3" fmla="*/ 3511 w 10896"/>
                <a:gd name="connsiteY3" fmla="*/ 1293 h 10918"/>
                <a:gd name="connsiteX4" fmla="*/ 5097 w 10896"/>
                <a:gd name="connsiteY4" fmla="*/ 26 h 10918"/>
                <a:gd name="connsiteX5" fmla="*/ 6747 w 10896"/>
                <a:gd name="connsiteY5" fmla="*/ 548 h 10918"/>
                <a:gd name="connsiteX6" fmla="*/ 9063 w 10896"/>
                <a:gd name="connsiteY6" fmla="*/ 1810 h 10918"/>
                <a:gd name="connsiteX7" fmla="*/ 10896 w 10896"/>
                <a:gd name="connsiteY7" fmla="*/ 3421 h 10918"/>
                <a:gd name="connsiteX0" fmla="*/ 0 w 10862"/>
                <a:gd name="connsiteY0" fmla="*/ 10918 h 10918"/>
                <a:gd name="connsiteX1" fmla="*/ 705 w 10862"/>
                <a:gd name="connsiteY1" fmla="*/ 8087 h 10918"/>
                <a:gd name="connsiteX2" fmla="*/ 2077 w 10862"/>
                <a:gd name="connsiteY2" fmla="*/ 4060 h 10918"/>
                <a:gd name="connsiteX3" fmla="*/ 3511 w 10862"/>
                <a:gd name="connsiteY3" fmla="*/ 1293 h 10918"/>
                <a:gd name="connsiteX4" fmla="*/ 5097 w 10862"/>
                <a:gd name="connsiteY4" fmla="*/ 26 h 10918"/>
                <a:gd name="connsiteX5" fmla="*/ 6747 w 10862"/>
                <a:gd name="connsiteY5" fmla="*/ 548 h 10918"/>
                <a:gd name="connsiteX6" fmla="*/ 9063 w 10862"/>
                <a:gd name="connsiteY6" fmla="*/ 1810 h 10918"/>
                <a:gd name="connsiteX7" fmla="*/ 10862 w 10862"/>
                <a:gd name="connsiteY7" fmla="*/ 2975 h 10918"/>
                <a:gd name="connsiteX0" fmla="*/ 0 w 10862"/>
                <a:gd name="connsiteY0" fmla="*/ 10918 h 10918"/>
                <a:gd name="connsiteX1" fmla="*/ 705 w 10862"/>
                <a:gd name="connsiteY1" fmla="*/ 8087 h 10918"/>
                <a:gd name="connsiteX2" fmla="*/ 2077 w 10862"/>
                <a:gd name="connsiteY2" fmla="*/ 4060 h 10918"/>
                <a:gd name="connsiteX3" fmla="*/ 3511 w 10862"/>
                <a:gd name="connsiteY3" fmla="*/ 1293 h 10918"/>
                <a:gd name="connsiteX4" fmla="*/ 5097 w 10862"/>
                <a:gd name="connsiteY4" fmla="*/ 26 h 10918"/>
                <a:gd name="connsiteX5" fmla="*/ 6747 w 10862"/>
                <a:gd name="connsiteY5" fmla="*/ 548 h 10918"/>
                <a:gd name="connsiteX6" fmla="*/ 8546 w 10862"/>
                <a:gd name="connsiteY6" fmla="*/ 1721 h 10918"/>
                <a:gd name="connsiteX7" fmla="*/ 10862 w 10862"/>
                <a:gd name="connsiteY7" fmla="*/ 2975 h 1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2" h="10918">
                  <a:moveTo>
                    <a:pt x="0" y="10918"/>
                  </a:moveTo>
                  <a:cubicBezTo>
                    <a:pt x="116" y="10440"/>
                    <a:pt x="359" y="9230"/>
                    <a:pt x="705" y="8087"/>
                  </a:cubicBezTo>
                  <a:cubicBezTo>
                    <a:pt x="1051" y="6944"/>
                    <a:pt x="1609" y="5192"/>
                    <a:pt x="2077" y="4060"/>
                  </a:cubicBezTo>
                  <a:cubicBezTo>
                    <a:pt x="2545" y="2928"/>
                    <a:pt x="3008" y="1965"/>
                    <a:pt x="3511" y="1293"/>
                  </a:cubicBezTo>
                  <a:cubicBezTo>
                    <a:pt x="4014" y="621"/>
                    <a:pt x="4558" y="150"/>
                    <a:pt x="5097" y="26"/>
                  </a:cubicBezTo>
                  <a:cubicBezTo>
                    <a:pt x="5636" y="-98"/>
                    <a:pt x="6172" y="265"/>
                    <a:pt x="6747" y="548"/>
                  </a:cubicBezTo>
                  <a:cubicBezTo>
                    <a:pt x="7322" y="831"/>
                    <a:pt x="7860" y="1317"/>
                    <a:pt x="8546" y="1721"/>
                  </a:cubicBezTo>
                  <a:cubicBezTo>
                    <a:pt x="9232" y="2126"/>
                    <a:pt x="9878" y="2589"/>
                    <a:pt x="10862" y="2975"/>
                  </a:cubicBezTo>
                </a:path>
              </a:pathLst>
            </a:custGeom>
            <a:noFill/>
            <a:ln w="19050" cmpd="sng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Freeform 19"/>
            <p:cNvSpPr>
              <a:spLocks/>
            </p:cNvSpPr>
            <p:nvPr/>
          </p:nvSpPr>
          <p:spPr bwMode="auto">
            <a:xfrm>
              <a:off x="174" y="2820"/>
              <a:ext cx="1915" cy="269"/>
            </a:xfrm>
            <a:custGeom>
              <a:avLst/>
              <a:gdLst>
                <a:gd name="T0" fmla="*/ 0 w 1942"/>
                <a:gd name="T1" fmla="*/ 218 h 283"/>
                <a:gd name="T2" fmla="*/ 112 w 1942"/>
                <a:gd name="T3" fmla="*/ 276 h 283"/>
                <a:gd name="T4" fmla="*/ 330 w 1942"/>
                <a:gd name="T5" fmla="*/ 263 h 283"/>
                <a:gd name="T6" fmla="*/ 755 w 1942"/>
                <a:gd name="T7" fmla="*/ 157 h 283"/>
                <a:gd name="T8" fmla="*/ 1238 w 1942"/>
                <a:gd name="T9" fmla="*/ 84 h 283"/>
                <a:gd name="T10" fmla="*/ 1942 w 1942"/>
                <a:gd name="T11" fmla="*/ 0 h 2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42"/>
                <a:gd name="T19" fmla="*/ 0 h 283"/>
                <a:gd name="T20" fmla="*/ 1942 w 1942"/>
                <a:gd name="T21" fmla="*/ 283 h 283"/>
                <a:gd name="connsiteX0" fmla="*/ 0 w 10000"/>
                <a:gd name="connsiteY0" fmla="*/ 7703 h 9986"/>
                <a:gd name="connsiteX1" fmla="*/ 577 w 10000"/>
                <a:gd name="connsiteY1" fmla="*/ 9753 h 9986"/>
                <a:gd name="connsiteX2" fmla="*/ 1699 w 10000"/>
                <a:gd name="connsiteY2" fmla="*/ 9293 h 9986"/>
                <a:gd name="connsiteX3" fmla="*/ 4073 w 10000"/>
                <a:gd name="connsiteY3" fmla="*/ 3852 h 9986"/>
                <a:gd name="connsiteX4" fmla="*/ 6375 w 10000"/>
                <a:gd name="connsiteY4" fmla="*/ 2968 h 9986"/>
                <a:gd name="connsiteX5" fmla="*/ 10000 w 10000"/>
                <a:gd name="connsiteY5" fmla="*/ 0 h 9986"/>
                <a:gd name="connsiteX0" fmla="*/ 0 w 10000"/>
                <a:gd name="connsiteY0" fmla="*/ 7714 h 10000"/>
                <a:gd name="connsiteX1" fmla="*/ 577 w 10000"/>
                <a:gd name="connsiteY1" fmla="*/ 9767 h 10000"/>
                <a:gd name="connsiteX2" fmla="*/ 1699 w 10000"/>
                <a:gd name="connsiteY2" fmla="*/ 9306 h 10000"/>
                <a:gd name="connsiteX3" fmla="*/ 4073 w 10000"/>
                <a:gd name="connsiteY3" fmla="*/ 3857 h 10000"/>
                <a:gd name="connsiteX4" fmla="*/ 6375 w 10000"/>
                <a:gd name="connsiteY4" fmla="*/ 1912 h 10000"/>
                <a:gd name="connsiteX5" fmla="*/ 10000 w 10000"/>
                <a:gd name="connsiteY5" fmla="*/ 0 h 10000"/>
                <a:gd name="connsiteX0" fmla="*/ 0 w 9784"/>
                <a:gd name="connsiteY0" fmla="*/ 7502 h 9788"/>
                <a:gd name="connsiteX1" fmla="*/ 577 w 9784"/>
                <a:gd name="connsiteY1" fmla="*/ 9555 h 9788"/>
                <a:gd name="connsiteX2" fmla="*/ 1699 w 9784"/>
                <a:gd name="connsiteY2" fmla="*/ 9094 h 9788"/>
                <a:gd name="connsiteX3" fmla="*/ 4073 w 9784"/>
                <a:gd name="connsiteY3" fmla="*/ 3645 h 9788"/>
                <a:gd name="connsiteX4" fmla="*/ 6375 w 9784"/>
                <a:gd name="connsiteY4" fmla="*/ 1700 h 9788"/>
                <a:gd name="connsiteX5" fmla="*/ 9784 w 9784"/>
                <a:gd name="connsiteY5" fmla="*/ 0 h 9788"/>
                <a:gd name="connsiteX0" fmla="*/ 0 w 9874"/>
                <a:gd name="connsiteY0" fmla="*/ 7447 h 9783"/>
                <a:gd name="connsiteX1" fmla="*/ 590 w 9874"/>
                <a:gd name="connsiteY1" fmla="*/ 9545 h 9783"/>
                <a:gd name="connsiteX2" fmla="*/ 1737 w 9874"/>
                <a:gd name="connsiteY2" fmla="*/ 9074 h 9783"/>
                <a:gd name="connsiteX3" fmla="*/ 4163 w 9874"/>
                <a:gd name="connsiteY3" fmla="*/ 3507 h 9783"/>
                <a:gd name="connsiteX4" fmla="*/ 6516 w 9874"/>
                <a:gd name="connsiteY4" fmla="*/ 1520 h 9783"/>
                <a:gd name="connsiteX5" fmla="*/ 9874 w 9874"/>
                <a:gd name="connsiteY5" fmla="*/ 0 h 9783"/>
                <a:gd name="connsiteX0" fmla="*/ 0 w 10000"/>
                <a:gd name="connsiteY0" fmla="*/ 7612 h 10000"/>
                <a:gd name="connsiteX1" fmla="*/ 598 w 10000"/>
                <a:gd name="connsiteY1" fmla="*/ 9757 h 10000"/>
                <a:gd name="connsiteX2" fmla="*/ 1759 w 10000"/>
                <a:gd name="connsiteY2" fmla="*/ 9275 h 10000"/>
                <a:gd name="connsiteX3" fmla="*/ 4216 w 10000"/>
                <a:gd name="connsiteY3" fmla="*/ 3585 h 10000"/>
                <a:gd name="connsiteX4" fmla="*/ 6471 w 10000"/>
                <a:gd name="connsiteY4" fmla="*/ 1111 h 10000"/>
                <a:gd name="connsiteX5" fmla="*/ 10000 w 10000"/>
                <a:gd name="connsiteY5" fmla="*/ 0 h 10000"/>
                <a:gd name="connsiteX0" fmla="*/ 0 w 10000"/>
                <a:gd name="connsiteY0" fmla="*/ 7612 h 10000"/>
                <a:gd name="connsiteX1" fmla="*/ 598 w 10000"/>
                <a:gd name="connsiteY1" fmla="*/ 9757 h 10000"/>
                <a:gd name="connsiteX2" fmla="*/ 1759 w 10000"/>
                <a:gd name="connsiteY2" fmla="*/ 9275 h 10000"/>
                <a:gd name="connsiteX3" fmla="*/ 4216 w 10000"/>
                <a:gd name="connsiteY3" fmla="*/ 3585 h 10000"/>
                <a:gd name="connsiteX4" fmla="*/ 6471 w 10000"/>
                <a:gd name="connsiteY4" fmla="*/ 1111 h 10000"/>
                <a:gd name="connsiteX5" fmla="*/ 8454 w 10000"/>
                <a:gd name="connsiteY5" fmla="*/ 148 h 10000"/>
                <a:gd name="connsiteX6" fmla="*/ 10000 w 10000"/>
                <a:gd name="connsiteY6" fmla="*/ 0 h 10000"/>
                <a:gd name="connsiteX0" fmla="*/ 0 w 10000"/>
                <a:gd name="connsiteY0" fmla="*/ 7612 h 9908"/>
                <a:gd name="connsiteX1" fmla="*/ 598 w 10000"/>
                <a:gd name="connsiteY1" fmla="*/ 9596 h 9908"/>
                <a:gd name="connsiteX2" fmla="*/ 1759 w 10000"/>
                <a:gd name="connsiteY2" fmla="*/ 9275 h 9908"/>
                <a:gd name="connsiteX3" fmla="*/ 4216 w 10000"/>
                <a:gd name="connsiteY3" fmla="*/ 3585 h 9908"/>
                <a:gd name="connsiteX4" fmla="*/ 6471 w 10000"/>
                <a:gd name="connsiteY4" fmla="*/ 1111 h 9908"/>
                <a:gd name="connsiteX5" fmla="*/ 8454 w 10000"/>
                <a:gd name="connsiteY5" fmla="*/ 148 h 9908"/>
                <a:gd name="connsiteX6" fmla="*/ 10000 w 10000"/>
                <a:gd name="connsiteY6" fmla="*/ 0 h 9908"/>
                <a:gd name="connsiteX0" fmla="*/ 0 w 10023"/>
                <a:gd name="connsiteY0" fmla="*/ 7683 h 10007"/>
                <a:gd name="connsiteX1" fmla="*/ 621 w 10023"/>
                <a:gd name="connsiteY1" fmla="*/ 9685 h 10007"/>
                <a:gd name="connsiteX2" fmla="*/ 1782 w 10023"/>
                <a:gd name="connsiteY2" fmla="*/ 9361 h 10007"/>
                <a:gd name="connsiteX3" fmla="*/ 4239 w 10023"/>
                <a:gd name="connsiteY3" fmla="*/ 3618 h 10007"/>
                <a:gd name="connsiteX4" fmla="*/ 6494 w 10023"/>
                <a:gd name="connsiteY4" fmla="*/ 1121 h 10007"/>
                <a:gd name="connsiteX5" fmla="*/ 8477 w 10023"/>
                <a:gd name="connsiteY5" fmla="*/ 149 h 10007"/>
                <a:gd name="connsiteX6" fmla="*/ 10023 w 10023"/>
                <a:gd name="connsiteY6" fmla="*/ 0 h 1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23" h="10007">
                  <a:moveTo>
                    <a:pt x="0" y="7683"/>
                  </a:moveTo>
                  <a:cubicBezTo>
                    <a:pt x="101" y="8056"/>
                    <a:pt x="324" y="9405"/>
                    <a:pt x="621" y="9685"/>
                  </a:cubicBezTo>
                  <a:cubicBezTo>
                    <a:pt x="918" y="9965"/>
                    <a:pt x="1179" y="10372"/>
                    <a:pt x="1782" y="9361"/>
                  </a:cubicBezTo>
                  <a:cubicBezTo>
                    <a:pt x="2385" y="8350"/>
                    <a:pt x="3454" y="4992"/>
                    <a:pt x="4239" y="3618"/>
                  </a:cubicBezTo>
                  <a:cubicBezTo>
                    <a:pt x="5024" y="2245"/>
                    <a:pt x="5798" y="1662"/>
                    <a:pt x="6494" y="1121"/>
                  </a:cubicBezTo>
                  <a:cubicBezTo>
                    <a:pt x="7190" y="580"/>
                    <a:pt x="7889" y="336"/>
                    <a:pt x="8477" y="149"/>
                  </a:cubicBezTo>
                  <a:cubicBezTo>
                    <a:pt x="9065" y="-37"/>
                    <a:pt x="9755" y="62"/>
                    <a:pt x="10023" y="0"/>
                  </a:cubicBezTo>
                </a:path>
              </a:pathLst>
            </a:custGeom>
            <a:noFill/>
            <a:ln w="19050" cmpd="sng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Text Box 20"/>
            <p:cNvSpPr txBox="1">
              <a:spLocks noChangeArrowheads="1"/>
            </p:cNvSpPr>
            <p:nvPr/>
          </p:nvSpPr>
          <p:spPr bwMode="auto">
            <a:xfrm>
              <a:off x="1845" y="2212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3</a:t>
              </a:r>
            </a:p>
          </p:txBody>
        </p:sp>
      </p:grpSp>
      <p:sp>
        <p:nvSpPr>
          <p:cNvPr id="127" name="Freeform 22"/>
          <p:cNvSpPr>
            <a:spLocks/>
          </p:cNvSpPr>
          <p:nvPr/>
        </p:nvSpPr>
        <p:spPr bwMode="auto">
          <a:xfrm>
            <a:off x="534510" y="2281801"/>
            <a:ext cx="3009900" cy="1909763"/>
          </a:xfrm>
          <a:custGeom>
            <a:avLst/>
            <a:gdLst>
              <a:gd name="T0" fmla="*/ 0 w 1986"/>
              <a:gd name="T1" fmla="*/ 1255 h 1255"/>
              <a:gd name="T2" fmla="*/ 70 w 1986"/>
              <a:gd name="T3" fmla="*/ 1015 h 1255"/>
              <a:gd name="T4" fmla="*/ 188 w 1986"/>
              <a:gd name="T5" fmla="*/ 698 h 1255"/>
              <a:gd name="T6" fmla="*/ 409 w 1986"/>
              <a:gd name="T7" fmla="*/ 295 h 1255"/>
              <a:gd name="T8" fmla="*/ 735 w 1986"/>
              <a:gd name="T9" fmla="*/ 30 h 1255"/>
              <a:gd name="T10" fmla="*/ 1362 w 1986"/>
              <a:gd name="T11" fmla="*/ 116 h 1255"/>
              <a:gd name="T12" fmla="*/ 1986 w 1986"/>
              <a:gd name="T13" fmla="*/ 148 h 12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6"/>
              <a:gd name="T22" fmla="*/ 0 h 1255"/>
              <a:gd name="T23" fmla="*/ 1986 w 1986"/>
              <a:gd name="T24" fmla="*/ 1255 h 1255"/>
              <a:gd name="connsiteX0" fmla="*/ 0 w 10000"/>
              <a:gd name="connsiteY0" fmla="*/ 9456 h 9456"/>
              <a:gd name="connsiteX1" fmla="*/ 352 w 10000"/>
              <a:gd name="connsiteY1" fmla="*/ 7544 h 9456"/>
              <a:gd name="connsiteX2" fmla="*/ 947 w 10000"/>
              <a:gd name="connsiteY2" fmla="*/ 5018 h 9456"/>
              <a:gd name="connsiteX3" fmla="*/ 2059 w 10000"/>
              <a:gd name="connsiteY3" fmla="*/ 1807 h 9456"/>
              <a:gd name="connsiteX4" fmla="*/ 3761 w 10000"/>
              <a:gd name="connsiteY4" fmla="*/ 77 h 9456"/>
              <a:gd name="connsiteX5" fmla="*/ 6858 w 10000"/>
              <a:gd name="connsiteY5" fmla="*/ 380 h 9456"/>
              <a:gd name="connsiteX6" fmla="*/ 10000 w 10000"/>
              <a:gd name="connsiteY6" fmla="*/ 635 h 9456"/>
              <a:gd name="connsiteX0" fmla="*/ 0 w 10000"/>
              <a:gd name="connsiteY0" fmla="*/ 10173 h 10173"/>
              <a:gd name="connsiteX1" fmla="*/ 352 w 10000"/>
              <a:gd name="connsiteY1" fmla="*/ 8151 h 10173"/>
              <a:gd name="connsiteX2" fmla="*/ 947 w 10000"/>
              <a:gd name="connsiteY2" fmla="*/ 5480 h 10173"/>
              <a:gd name="connsiteX3" fmla="*/ 2059 w 10000"/>
              <a:gd name="connsiteY3" fmla="*/ 2084 h 10173"/>
              <a:gd name="connsiteX4" fmla="*/ 3761 w 10000"/>
              <a:gd name="connsiteY4" fmla="*/ 254 h 10173"/>
              <a:gd name="connsiteX5" fmla="*/ 6707 w 10000"/>
              <a:gd name="connsiteY5" fmla="*/ 120 h 10173"/>
              <a:gd name="connsiteX6" fmla="*/ 10000 w 10000"/>
              <a:gd name="connsiteY6" fmla="*/ 845 h 10173"/>
              <a:gd name="connsiteX0" fmla="*/ 0 w 9607"/>
              <a:gd name="connsiteY0" fmla="*/ 10173 h 10173"/>
              <a:gd name="connsiteX1" fmla="*/ 352 w 9607"/>
              <a:gd name="connsiteY1" fmla="*/ 8151 h 10173"/>
              <a:gd name="connsiteX2" fmla="*/ 947 w 9607"/>
              <a:gd name="connsiteY2" fmla="*/ 5480 h 10173"/>
              <a:gd name="connsiteX3" fmla="*/ 2059 w 9607"/>
              <a:gd name="connsiteY3" fmla="*/ 2084 h 10173"/>
              <a:gd name="connsiteX4" fmla="*/ 3761 w 9607"/>
              <a:gd name="connsiteY4" fmla="*/ 254 h 10173"/>
              <a:gd name="connsiteX5" fmla="*/ 6707 w 9607"/>
              <a:gd name="connsiteY5" fmla="*/ 120 h 10173"/>
              <a:gd name="connsiteX6" fmla="*/ 9607 w 9607"/>
              <a:gd name="connsiteY6" fmla="*/ 845 h 10173"/>
              <a:gd name="connsiteX0" fmla="*/ 0 w 9937"/>
              <a:gd name="connsiteY0" fmla="*/ 10000 h 10000"/>
              <a:gd name="connsiteX1" fmla="*/ 366 w 9937"/>
              <a:gd name="connsiteY1" fmla="*/ 8012 h 10000"/>
              <a:gd name="connsiteX2" fmla="*/ 986 w 9937"/>
              <a:gd name="connsiteY2" fmla="*/ 5387 h 10000"/>
              <a:gd name="connsiteX3" fmla="*/ 2143 w 9937"/>
              <a:gd name="connsiteY3" fmla="*/ 2049 h 10000"/>
              <a:gd name="connsiteX4" fmla="*/ 3915 w 9937"/>
              <a:gd name="connsiteY4" fmla="*/ 250 h 10000"/>
              <a:gd name="connsiteX5" fmla="*/ 6981 w 9937"/>
              <a:gd name="connsiteY5" fmla="*/ 118 h 10000"/>
              <a:gd name="connsiteX6" fmla="*/ 9937 w 9937"/>
              <a:gd name="connsiteY6" fmla="*/ 583 h 10000"/>
              <a:gd name="connsiteX0" fmla="*/ 0 w 10000"/>
              <a:gd name="connsiteY0" fmla="*/ 10034 h 10034"/>
              <a:gd name="connsiteX1" fmla="*/ 368 w 10000"/>
              <a:gd name="connsiteY1" fmla="*/ 8046 h 10034"/>
              <a:gd name="connsiteX2" fmla="*/ 992 w 10000"/>
              <a:gd name="connsiteY2" fmla="*/ 5421 h 10034"/>
              <a:gd name="connsiteX3" fmla="*/ 2157 w 10000"/>
              <a:gd name="connsiteY3" fmla="*/ 2083 h 10034"/>
              <a:gd name="connsiteX4" fmla="*/ 3940 w 10000"/>
              <a:gd name="connsiteY4" fmla="*/ 284 h 10034"/>
              <a:gd name="connsiteX5" fmla="*/ 7247 w 10000"/>
              <a:gd name="connsiteY5" fmla="*/ 102 h 10034"/>
              <a:gd name="connsiteX6" fmla="*/ 10000 w 10000"/>
              <a:gd name="connsiteY6" fmla="*/ 617 h 10034"/>
              <a:gd name="connsiteX0" fmla="*/ 0 w 10000"/>
              <a:gd name="connsiteY0" fmla="*/ 9983 h 9983"/>
              <a:gd name="connsiteX1" fmla="*/ 368 w 10000"/>
              <a:gd name="connsiteY1" fmla="*/ 7995 h 9983"/>
              <a:gd name="connsiteX2" fmla="*/ 992 w 10000"/>
              <a:gd name="connsiteY2" fmla="*/ 5370 h 9983"/>
              <a:gd name="connsiteX3" fmla="*/ 2157 w 10000"/>
              <a:gd name="connsiteY3" fmla="*/ 2032 h 9983"/>
              <a:gd name="connsiteX4" fmla="*/ 3940 w 10000"/>
              <a:gd name="connsiteY4" fmla="*/ 481 h 9983"/>
              <a:gd name="connsiteX5" fmla="*/ 7247 w 10000"/>
              <a:gd name="connsiteY5" fmla="*/ 51 h 9983"/>
              <a:gd name="connsiteX6" fmla="*/ 10000 w 10000"/>
              <a:gd name="connsiteY6" fmla="*/ 566 h 9983"/>
              <a:gd name="connsiteX0" fmla="*/ 0 w 10000"/>
              <a:gd name="connsiteY0" fmla="*/ 10004 h 10004"/>
              <a:gd name="connsiteX1" fmla="*/ 368 w 10000"/>
              <a:gd name="connsiteY1" fmla="*/ 8013 h 10004"/>
              <a:gd name="connsiteX2" fmla="*/ 992 w 10000"/>
              <a:gd name="connsiteY2" fmla="*/ 5383 h 10004"/>
              <a:gd name="connsiteX3" fmla="*/ 2157 w 10000"/>
              <a:gd name="connsiteY3" fmla="*/ 2288 h 10004"/>
              <a:gd name="connsiteX4" fmla="*/ 3940 w 10000"/>
              <a:gd name="connsiteY4" fmla="*/ 486 h 10004"/>
              <a:gd name="connsiteX5" fmla="*/ 7247 w 10000"/>
              <a:gd name="connsiteY5" fmla="*/ 55 h 10004"/>
              <a:gd name="connsiteX6" fmla="*/ 10000 w 10000"/>
              <a:gd name="connsiteY6" fmla="*/ 571 h 10004"/>
              <a:gd name="connsiteX0" fmla="*/ 0 w 10000"/>
              <a:gd name="connsiteY0" fmla="*/ 10021 h 10021"/>
              <a:gd name="connsiteX1" fmla="*/ 368 w 10000"/>
              <a:gd name="connsiteY1" fmla="*/ 8030 h 10021"/>
              <a:gd name="connsiteX2" fmla="*/ 992 w 10000"/>
              <a:gd name="connsiteY2" fmla="*/ 5400 h 10021"/>
              <a:gd name="connsiteX3" fmla="*/ 2157 w 10000"/>
              <a:gd name="connsiteY3" fmla="*/ 2305 h 10021"/>
              <a:gd name="connsiteX4" fmla="*/ 3940 w 10000"/>
              <a:gd name="connsiteY4" fmla="*/ 503 h 10021"/>
              <a:gd name="connsiteX5" fmla="*/ 5654 w 10000"/>
              <a:gd name="connsiteY5" fmla="*/ 42 h 10021"/>
              <a:gd name="connsiteX6" fmla="*/ 7247 w 10000"/>
              <a:gd name="connsiteY6" fmla="*/ 72 h 10021"/>
              <a:gd name="connsiteX7" fmla="*/ 10000 w 10000"/>
              <a:gd name="connsiteY7" fmla="*/ 588 h 10021"/>
              <a:gd name="connsiteX0" fmla="*/ 0 w 10000"/>
              <a:gd name="connsiteY0" fmla="*/ 9997 h 9997"/>
              <a:gd name="connsiteX1" fmla="*/ 368 w 10000"/>
              <a:gd name="connsiteY1" fmla="*/ 8006 h 9997"/>
              <a:gd name="connsiteX2" fmla="*/ 992 w 10000"/>
              <a:gd name="connsiteY2" fmla="*/ 5376 h 9997"/>
              <a:gd name="connsiteX3" fmla="*/ 2157 w 10000"/>
              <a:gd name="connsiteY3" fmla="*/ 2281 h 9997"/>
              <a:gd name="connsiteX4" fmla="*/ 3940 w 10000"/>
              <a:gd name="connsiteY4" fmla="*/ 479 h 9997"/>
              <a:gd name="connsiteX5" fmla="*/ 5654 w 10000"/>
              <a:gd name="connsiteY5" fmla="*/ 18 h 9997"/>
              <a:gd name="connsiteX6" fmla="*/ 7193 w 10000"/>
              <a:gd name="connsiteY6" fmla="*/ 133 h 9997"/>
              <a:gd name="connsiteX7" fmla="*/ 10000 w 10000"/>
              <a:gd name="connsiteY7" fmla="*/ 564 h 9997"/>
              <a:gd name="connsiteX0" fmla="*/ 0 w 10000"/>
              <a:gd name="connsiteY0" fmla="*/ 9986 h 9986"/>
              <a:gd name="connsiteX1" fmla="*/ 368 w 10000"/>
              <a:gd name="connsiteY1" fmla="*/ 7994 h 9986"/>
              <a:gd name="connsiteX2" fmla="*/ 992 w 10000"/>
              <a:gd name="connsiteY2" fmla="*/ 5364 h 9986"/>
              <a:gd name="connsiteX3" fmla="*/ 2157 w 10000"/>
              <a:gd name="connsiteY3" fmla="*/ 2268 h 9986"/>
              <a:gd name="connsiteX4" fmla="*/ 3940 w 10000"/>
              <a:gd name="connsiteY4" fmla="*/ 465 h 9986"/>
              <a:gd name="connsiteX5" fmla="*/ 5654 w 10000"/>
              <a:gd name="connsiteY5" fmla="*/ 4 h 9986"/>
              <a:gd name="connsiteX6" fmla="*/ 7392 w 10000"/>
              <a:gd name="connsiteY6" fmla="*/ 261 h 9986"/>
              <a:gd name="connsiteX7" fmla="*/ 10000 w 10000"/>
              <a:gd name="connsiteY7" fmla="*/ 550 h 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9986">
                <a:moveTo>
                  <a:pt x="0" y="9986"/>
                </a:moveTo>
                <a:cubicBezTo>
                  <a:pt x="62" y="9654"/>
                  <a:pt x="205" y="8767"/>
                  <a:pt x="368" y="7994"/>
                </a:cubicBezTo>
                <a:cubicBezTo>
                  <a:pt x="533" y="7222"/>
                  <a:pt x="694" y="6318"/>
                  <a:pt x="992" y="5364"/>
                </a:cubicBezTo>
                <a:cubicBezTo>
                  <a:pt x="1290" y="4409"/>
                  <a:pt x="1666" y="3085"/>
                  <a:pt x="2157" y="2268"/>
                </a:cubicBezTo>
                <a:cubicBezTo>
                  <a:pt x="2648" y="1451"/>
                  <a:pt x="3357" y="842"/>
                  <a:pt x="3940" y="465"/>
                </a:cubicBezTo>
                <a:cubicBezTo>
                  <a:pt x="4523" y="88"/>
                  <a:pt x="5079" y="38"/>
                  <a:pt x="5654" y="4"/>
                </a:cubicBezTo>
                <a:cubicBezTo>
                  <a:pt x="6229" y="-30"/>
                  <a:pt x="6641" y="186"/>
                  <a:pt x="7392" y="261"/>
                </a:cubicBezTo>
                <a:cubicBezTo>
                  <a:pt x="8489" y="427"/>
                  <a:pt x="9314" y="492"/>
                  <a:pt x="10000" y="550"/>
                </a:cubicBezTo>
              </a:path>
            </a:pathLst>
          </a:custGeom>
          <a:noFill/>
          <a:ln w="19050" cmpd="sng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" name="Freeform 23"/>
          <p:cNvSpPr>
            <a:spLocks/>
          </p:cNvSpPr>
          <p:nvPr/>
        </p:nvSpPr>
        <p:spPr bwMode="auto">
          <a:xfrm>
            <a:off x="534510" y="4202677"/>
            <a:ext cx="3032125" cy="488950"/>
          </a:xfrm>
          <a:custGeom>
            <a:avLst/>
            <a:gdLst>
              <a:gd name="T0" fmla="*/ 0 w 1908"/>
              <a:gd name="T1" fmla="*/ 0 h 319"/>
              <a:gd name="T2" fmla="*/ 96 w 1908"/>
              <a:gd name="T3" fmla="*/ 137 h 319"/>
              <a:gd name="T4" fmla="*/ 262 w 1908"/>
              <a:gd name="T5" fmla="*/ 254 h 319"/>
              <a:gd name="T6" fmla="*/ 566 w 1908"/>
              <a:gd name="T7" fmla="*/ 319 h 319"/>
              <a:gd name="T8" fmla="*/ 1054 w 1908"/>
              <a:gd name="T9" fmla="*/ 252 h 319"/>
              <a:gd name="T10" fmla="*/ 1486 w 1908"/>
              <a:gd name="T11" fmla="*/ 185 h 319"/>
              <a:gd name="T12" fmla="*/ 1908 w 1908"/>
              <a:gd name="T13" fmla="*/ 127 h 31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08"/>
              <a:gd name="T22" fmla="*/ 0 h 319"/>
              <a:gd name="T23" fmla="*/ 1908 w 1908"/>
              <a:gd name="T24" fmla="*/ 319 h 319"/>
              <a:gd name="connsiteX0" fmla="*/ 0 w 10000"/>
              <a:gd name="connsiteY0" fmla="*/ 0 h 10000"/>
              <a:gd name="connsiteX1" fmla="*/ 503 w 10000"/>
              <a:gd name="connsiteY1" fmla="*/ 4295 h 10000"/>
              <a:gd name="connsiteX2" fmla="*/ 1373 w 10000"/>
              <a:gd name="connsiteY2" fmla="*/ 7962 h 10000"/>
              <a:gd name="connsiteX3" fmla="*/ 2966 w 10000"/>
              <a:gd name="connsiteY3" fmla="*/ 10000 h 10000"/>
              <a:gd name="connsiteX4" fmla="*/ 5524 w 10000"/>
              <a:gd name="connsiteY4" fmla="*/ 7900 h 10000"/>
              <a:gd name="connsiteX5" fmla="*/ 7788 w 10000"/>
              <a:gd name="connsiteY5" fmla="*/ 5799 h 10000"/>
              <a:gd name="connsiteX6" fmla="*/ 10000 w 10000"/>
              <a:gd name="connsiteY6" fmla="*/ 4169 h 10000"/>
              <a:gd name="connsiteX0" fmla="*/ 0 w 10000"/>
              <a:gd name="connsiteY0" fmla="*/ 0 h 10000"/>
              <a:gd name="connsiteX1" fmla="*/ 503 w 10000"/>
              <a:gd name="connsiteY1" fmla="*/ 3816 h 10000"/>
              <a:gd name="connsiteX2" fmla="*/ 1373 w 10000"/>
              <a:gd name="connsiteY2" fmla="*/ 7962 h 10000"/>
              <a:gd name="connsiteX3" fmla="*/ 2966 w 10000"/>
              <a:gd name="connsiteY3" fmla="*/ 10000 h 10000"/>
              <a:gd name="connsiteX4" fmla="*/ 5524 w 10000"/>
              <a:gd name="connsiteY4" fmla="*/ 7900 h 10000"/>
              <a:gd name="connsiteX5" fmla="*/ 7788 w 10000"/>
              <a:gd name="connsiteY5" fmla="*/ 5799 h 10000"/>
              <a:gd name="connsiteX6" fmla="*/ 10000 w 10000"/>
              <a:gd name="connsiteY6" fmla="*/ 4169 h 10000"/>
              <a:gd name="connsiteX0" fmla="*/ 0 w 10000"/>
              <a:gd name="connsiteY0" fmla="*/ 0 h 10000"/>
              <a:gd name="connsiteX1" fmla="*/ 503 w 10000"/>
              <a:gd name="connsiteY1" fmla="*/ 3816 h 10000"/>
              <a:gd name="connsiteX2" fmla="*/ 1419 w 10000"/>
              <a:gd name="connsiteY2" fmla="*/ 7757 h 10000"/>
              <a:gd name="connsiteX3" fmla="*/ 2966 w 10000"/>
              <a:gd name="connsiteY3" fmla="*/ 10000 h 10000"/>
              <a:gd name="connsiteX4" fmla="*/ 5524 w 10000"/>
              <a:gd name="connsiteY4" fmla="*/ 7900 h 10000"/>
              <a:gd name="connsiteX5" fmla="*/ 7788 w 10000"/>
              <a:gd name="connsiteY5" fmla="*/ 5799 h 10000"/>
              <a:gd name="connsiteX6" fmla="*/ 10000 w 10000"/>
              <a:gd name="connsiteY6" fmla="*/ 4169 h 10000"/>
              <a:gd name="connsiteX0" fmla="*/ 0 w 10000"/>
              <a:gd name="connsiteY0" fmla="*/ 0 h 10000"/>
              <a:gd name="connsiteX1" fmla="*/ 492 w 10000"/>
              <a:gd name="connsiteY1" fmla="*/ 3611 h 10000"/>
              <a:gd name="connsiteX2" fmla="*/ 1419 w 10000"/>
              <a:gd name="connsiteY2" fmla="*/ 7757 h 10000"/>
              <a:gd name="connsiteX3" fmla="*/ 2966 w 10000"/>
              <a:gd name="connsiteY3" fmla="*/ 10000 h 10000"/>
              <a:gd name="connsiteX4" fmla="*/ 5524 w 10000"/>
              <a:gd name="connsiteY4" fmla="*/ 7900 h 10000"/>
              <a:gd name="connsiteX5" fmla="*/ 7788 w 10000"/>
              <a:gd name="connsiteY5" fmla="*/ 5799 h 10000"/>
              <a:gd name="connsiteX6" fmla="*/ 10000 w 10000"/>
              <a:gd name="connsiteY6" fmla="*/ 4169 h 10000"/>
              <a:gd name="connsiteX0" fmla="*/ 0 w 10000"/>
              <a:gd name="connsiteY0" fmla="*/ 0 h 9384"/>
              <a:gd name="connsiteX1" fmla="*/ 492 w 10000"/>
              <a:gd name="connsiteY1" fmla="*/ 3611 h 9384"/>
              <a:gd name="connsiteX2" fmla="*/ 1419 w 10000"/>
              <a:gd name="connsiteY2" fmla="*/ 7757 h 9384"/>
              <a:gd name="connsiteX3" fmla="*/ 2646 w 10000"/>
              <a:gd name="connsiteY3" fmla="*/ 9384 h 9384"/>
              <a:gd name="connsiteX4" fmla="*/ 5524 w 10000"/>
              <a:gd name="connsiteY4" fmla="*/ 7900 h 9384"/>
              <a:gd name="connsiteX5" fmla="*/ 7788 w 10000"/>
              <a:gd name="connsiteY5" fmla="*/ 5799 h 9384"/>
              <a:gd name="connsiteX6" fmla="*/ 10000 w 10000"/>
              <a:gd name="connsiteY6" fmla="*/ 4169 h 9384"/>
              <a:gd name="connsiteX0" fmla="*/ 0 w 10011"/>
              <a:gd name="connsiteY0" fmla="*/ 0 h 10292"/>
              <a:gd name="connsiteX1" fmla="*/ 503 w 10011"/>
              <a:gd name="connsiteY1" fmla="*/ 4140 h 10292"/>
              <a:gd name="connsiteX2" fmla="*/ 1430 w 10011"/>
              <a:gd name="connsiteY2" fmla="*/ 8558 h 10292"/>
              <a:gd name="connsiteX3" fmla="*/ 2657 w 10011"/>
              <a:gd name="connsiteY3" fmla="*/ 10292 h 10292"/>
              <a:gd name="connsiteX4" fmla="*/ 5535 w 10011"/>
              <a:gd name="connsiteY4" fmla="*/ 8711 h 10292"/>
              <a:gd name="connsiteX5" fmla="*/ 7799 w 10011"/>
              <a:gd name="connsiteY5" fmla="*/ 6472 h 10292"/>
              <a:gd name="connsiteX6" fmla="*/ 10011 w 10011"/>
              <a:gd name="connsiteY6" fmla="*/ 4735 h 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1" h="10292">
                <a:moveTo>
                  <a:pt x="0" y="0"/>
                </a:moveTo>
                <a:cubicBezTo>
                  <a:pt x="84" y="768"/>
                  <a:pt x="273" y="2737"/>
                  <a:pt x="503" y="4140"/>
                </a:cubicBezTo>
                <a:cubicBezTo>
                  <a:pt x="734" y="5542"/>
                  <a:pt x="1071" y="7533"/>
                  <a:pt x="1430" y="8558"/>
                </a:cubicBezTo>
                <a:cubicBezTo>
                  <a:pt x="1789" y="9583"/>
                  <a:pt x="1973" y="10266"/>
                  <a:pt x="2657" y="10292"/>
                </a:cubicBezTo>
                <a:cubicBezTo>
                  <a:pt x="3341" y="10318"/>
                  <a:pt x="4678" y="9347"/>
                  <a:pt x="5535" y="8711"/>
                </a:cubicBezTo>
                <a:cubicBezTo>
                  <a:pt x="6392" y="8074"/>
                  <a:pt x="7055" y="7174"/>
                  <a:pt x="7799" y="6472"/>
                </a:cubicBezTo>
                <a:cubicBezTo>
                  <a:pt x="8543" y="5770"/>
                  <a:pt x="9550" y="5135"/>
                  <a:pt x="10011" y="4735"/>
                </a:cubicBezTo>
              </a:path>
            </a:pathLst>
          </a:custGeom>
          <a:noFill/>
          <a:ln w="19050" cmpd="sng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" name="Text Box 24"/>
          <p:cNvSpPr txBox="1">
            <a:spLocks noChangeArrowheads="1"/>
          </p:cNvSpPr>
          <p:nvPr/>
        </p:nvSpPr>
        <p:spPr bwMode="auto">
          <a:xfrm>
            <a:off x="3176110" y="2316726"/>
            <a:ext cx="5445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800080"/>
                </a:solidFill>
                <a:ea typeface="幼圆" pitchFamily="49" charset="-122"/>
                <a:sym typeface="Symbol" pitchFamily="18" charset="2"/>
              </a:rPr>
              <a:t></a:t>
            </a:r>
            <a:r>
              <a:rPr lang="en-US" altLang="zh-CN" sz="2200" b="1" baseline="30000" dirty="0">
                <a:solidFill>
                  <a:srgbClr val="800080"/>
                </a:solidFill>
                <a:ea typeface="幼圆" pitchFamily="49" charset="-122"/>
                <a:sym typeface="Symbol" pitchFamily="18" charset="2"/>
              </a:rPr>
              <a:t>2</a:t>
            </a:r>
            <a:r>
              <a:rPr lang="en-US" altLang="zh-CN" sz="2200" b="1" baseline="-25000" dirty="0">
                <a:solidFill>
                  <a:srgbClr val="800080"/>
                </a:solidFill>
                <a:ea typeface="幼圆" pitchFamily="49" charset="-122"/>
                <a:sym typeface="Symbol" pitchFamily="18" charset="2"/>
              </a:rPr>
              <a:t>3</a:t>
            </a:r>
          </a:p>
        </p:txBody>
      </p:sp>
      <p:grpSp>
        <p:nvGrpSpPr>
          <p:cNvPr id="130" name="Group 46"/>
          <p:cNvGrpSpPr>
            <a:grpSpLocks/>
          </p:cNvGrpSpPr>
          <p:nvPr/>
        </p:nvGrpSpPr>
        <p:grpSpPr bwMode="auto">
          <a:xfrm>
            <a:off x="1425097" y="2342125"/>
            <a:ext cx="1579563" cy="2614613"/>
            <a:chOff x="1663" y="2402"/>
            <a:chExt cx="995" cy="1647"/>
          </a:xfrm>
        </p:grpSpPr>
        <p:sp>
          <p:nvSpPr>
            <p:cNvPr id="131" name="Line 47"/>
            <p:cNvSpPr>
              <a:spLocks noChangeShapeType="1"/>
            </p:cNvSpPr>
            <p:nvPr/>
          </p:nvSpPr>
          <p:spPr bwMode="auto">
            <a:xfrm>
              <a:off x="2032" y="2858"/>
              <a:ext cx="0" cy="5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Text Box 48"/>
            <p:cNvSpPr txBox="1">
              <a:spLocks noChangeArrowheads="1"/>
            </p:cNvSpPr>
            <p:nvPr/>
          </p:nvSpPr>
          <p:spPr bwMode="auto">
            <a:xfrm>
              <a:off x="1663" y="3133"/>
              <a:ext cx="3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200" b="1" baseline="30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f</a:t>
              </a:r>
            </a:p>
          </p:txBody>
        </p:sp>
        <p:sp>
          <p:nvSpPr>
            <p:cNvPr id="133" name="Text Box 49"/>
            <p:cNvSpPr txBox="1">
              <a:spLocks noChangeArrowheads="1"/>
            </p:cNvSpPr>
            <p:nvPr/>
          </p:nvSpPr>
          <p:spPr bwMode="auto">
            <a:xfrm>
              <a:off x="2344" y="3778"/>
              <a:ext cx="3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200" b="1" baseline="30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2</a:t>
              </a:r>
              <a:r>
                <a:rPr lang="en-US" altLang="zh-CN" sz="2200" b="1" baseline="-25000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f</a:t>
              </a:r>
            </a:p>
          </p:txBody>
        </p:sp>
        <p:sp>
          <p:nvSpPr>
            <p:cNvPr id="134" name="Line 47"/>
            <p:cNvSpPr>
              <a:spLocks noChangeShapeType="1"/>
            </p:cNvSpPr>
            <p:nvPr/>
          </p:nvSpPr>
          <p:spPr bwMode="auto">
            <a:xfrm>
              <a:off x="2186" y="2402"/>
              <a:ext cx="0" cy="1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5" name="椭圆 134"/>
          <p:cNvSpPr/>
          <p:nvPr/>
        </p:nvSpPr>
        <p:spPr bwMode="auto">
          <a:xfrm>
            <a:off x="2208479" y="2233056"/>
            <a:ext cx="87085" cy="870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36" name="椭圆 135"/>
          <p:cNvSpPr/>
          <p:nvPr/>
        </p:nvSpPr>
        <p:spPr bwMode="auto">
          <a:xfrm>
            <a:off x="1963550" y="2979410"/>
            <a:ext cx="87085" cy="870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137" name="直接箭头连接符 136"/>
          <p:cNvCxnSpPr/>
          <p:nvPr/>
        </p:nvCxnSpPr>
        <p:spPr bwMode="auto">
          <a:xfrm>
            <a:off x="2260800" y="4209025"/>
            <a:ext cx="2108" cy="40256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箭头连接符 137"/>
          <p:cNvCxnSpPr/>
          <p:nvPr/>
        </p:nvCxnSpPr>
        <p:spPr bwMode="auto">
          <a:xfrm>
            <a:off x="2012697" y="3970900"/>
            <a:ext cx="0" cy="225667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>
            <a:off x="2315522" y="4418817"/>
            <a:ext cx="266700" cy="2476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>
            <a:endCxn id="132" idx="2"/>
          </p:cNvCxnSpPr>
          <p:nvPr/>
        </p:nvCxnSpPr>
        <p:spPr bwMode="auto">
          <a:xfrm flipH="1" flipV="1">
            <a:off x="1674335" y="3932801"/>
            <a:ext cx="288762" cy="16216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4416690" y="1979899"/>
            <a:ext cx="4610947" cy="2801161"/>
            <a:chOff x="4416690" y="1979899"/>
            <a:chExt cx="4610947" cy="2801161"/>
          </a:xfrm>
        </p:grpSpPr>
        <p:sp>
          <p:nvSpPr>
            <p:cNvPr id="67" name="Text Box 21"/>
            <p:cNvSpPr txBox="1">
              <a:spLocks noChangeArrowheads="1"/>
            </p:cNvSpPr>
            <p:nvPr/>
          </p:nvSpPr>
          <p:spPr bwMode="auto">
            <a:xfrm>
              <a:off x="8484039" y="3813361"/>
              <a:ext cx="543598" cy="967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0143" tIns="60070" rIns="120143" bIns="60070">
              <a:spAutoFit/>
            </a:bodyPr>
            <a:lstStyle>
              <a:lvl1pPr defTabSz="1050925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defTabSz="1050925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defTabSz="1050925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defTabSz="1050925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defTabSz="1050925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  <a:p>
              <a:pPr eaLnBrk="1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p</a:t>
              </a:r>
            </a:p>
          </p:txBody>
        </p:sp>
        <p:sp>
          <p:nvSpPr>
            <p:cNvPr id="69" name="Text Box 24"/>
            <p:cNvSpPr txBox="1">
              <a:spLocks noChangeArrowheads="1"/>
            </p:cNvSpPr>
            <p:nvPr/>
          </p:nvSpPr>
          <p:spPr bwMode="auto">
            <a:xfrm>
              <a:off x="4460256" y="1979899"/>
              <a:ext cx="735380" cy="510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0143" tIns="60070" rIns="120143" bIns="60070">
              <a:spAutoFit/>
            </a:bodyPr>
            <a:lstStyle>
              <a:lvl1pPr defTabSz="1050925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defTabSz="1050925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defTabSz="1050925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defTabSz="1050925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defTabSz="1050925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2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q</a:t>
              </a:r>
              <a:endParaRPr lang="zh-CN" altLang="en-US" sz="2200" b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8" name="Line 27"/>
            <p:cNvSpPr>
              <a:spLocks noChangeShapeType="1"/>
            </p:cNvSpPr>
            <p:nvPr/>
          </p:nvSpPr>
          <p:spPr bwMode="auto">
            <a:xfrm flipV="1">
              <a:off x="4419580" y="2283405"/>
              <a:ext cx="0" cy="24300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04480" tIns="52241" rIns="104480" bIns="52241"/>
            <a:lstStyle/>
            <a:p>
              <a:pPr>
                <a:defRPr/>
              </a:pPr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Line 32"/>
            <p:cNvSpPr>
              <a:spLocks noChangeShapeType="1"/>
            </p:cNvSpPr>
            <p:nvPr/>
          </p:nvSpPr>
          <p:spPr bwMode="auto">
            <a:xfrm>
              <a:off x="4416690" y="4358072"/>
              <a:ext cx="4393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4480" tIns="52241" rIns="104480" bIns="52241"/>
            <a:lstStyle/>
            <a:p>
              <a:pPr>
                <a:defRPr/>
              </a:pPr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428876" y="2123071"/>
            <a:ext cx="4346084" cy="2035476"/>
            <a:chOff x="4428876" y="2123071"/>
            <a:chExt cx="4346084" cy="2035476"/>
          </a:xfrm>
        </p:grpSpPr>
        <p:sp>
          <p:nvSpPr>
            <p:cNvPr id="72" name="Text Box 9"/>
            <p:cNvSpPr txBox="1">
              <a:spLocks noChangeArrowheads="1"/>
            </p:cNvSpPr>
            <p:nvPr/>
          </p:nvSpPr>
          <p:spPr bwMode="auto">
            <a:xfrm>
              <a:off x="8180044" y="2123071"/>
              <a:ext cx="594916" cy="462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4480" tIns="52241" rIns="104480" bIns="52241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K</a:t>
              </a:r>
              <a:r>
                <a:rPr lang="zh-CN" altLang="en-US" sz="22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22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endParaRPr lang="zh-CN" altLang="en-US" sz="22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80" name="Line 42"/>
            <p:cNvSpPr>
              <a:spLocks noChangeShapeType="1"/>
            </p:cNvSpPr>
            <p:nvPr/>
          </p:nvSpPr>
          <p:spPr bwMode="auto">
            <a:xfrm flipV="1">
              <a:off x="4428876" y="2546319"/>
              <a:ext cx="3830694" cy="1612228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4480" tIns="52241" rIns="104480" bIns="52241"/>
            <a:lstStyle/>
            <a:p>
              <a:pPr>
                <a:defRPr/>
              </a:pPr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423914" y="2548212"/>
            <a:ext cx="4484076" cy="1347538"/>
            <a:chOff x="4423914" y="2548212"/>
            <a:chExt cx="4484076" cy="1347538"/>
          </a:xfrm>
        </p:grpSpPr>
        <p:sp>
          <p:nvSpPr>
            <p:cNvPr id="70" name="Text Box 9"/>
            <p:cNvSpPr txBox="1">
              <a:spLocks noChangeArrowheads="1"/>
            </p:cNvSpPr>
            <p:nvPr/>
          </p:nvSpPr>
          <p:spPr bwMode="auto">
            <a:xfrm>
              <a:off x="8339113" y="2548212"/>
              <a:ext cx="568877" cy="494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4480" tIns="52241" rIns="104480" bIns="52241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b="1" i="1" dirty="0" err="1" smtClean="0">
                  <a:solidFill>
                    <a:srgbClr val="0066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K</a:t>
              </a:r>
              <a:r>
                <a:rPr lang="en-US" altLang="zh-CN" sz="2200" b="1" baseline="-25000" dirty="0" err="1" smtClean="0">
                  <a:solidFill>
                    <a:srgbClr val="0066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endParaRPr lang="zh-CN" altLang="en-US" sz="2200" b="1" baseline="-25000" dirty="0">
                <a:solidFill>
                  <a:srgbClr val="0066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84" name="Line 42"/>
            <p:cNvSpPr>
              <a:spLocks noChangeShapeType="1"/>
            </p:cNvSpPr>
            <p:nvPr/>
          </p:nvSpPr>
          <p:spPr bwMode="auto">
            <a:xfrm flipV="1">
              <a:off x="4423914" y="2794739"/>
              <a:ext cx="3898681" cy="1101011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4480" tIns="52241" rIns="104480" bIns="52241"/>
            <a:lstStyle/>
            <a:p>
              <a:pPr>
                <a:defRPr/>
              </a:pPr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317826" y="2650935"/>
            <a:ext cx="998567" cy="1697025"/>
            <a:chOff x="6317826" y="2650935"/>
            <a:chExt cx="998567" cy="1697025"/>
          </a:xfrm>
        </p:grpSpPr>
        <p:sp>
          <p:nvSpPr>
            <p:cNvPr id="106" name="Text Box 12"/>
            <p:cNvSpPr txBox="1">
              <a:spLocks noChangeArrowheads="1"/>
            </p:cNvSpPr>
            <p:nvPr/>
          </p:nvSpPr>
          <p:spPr bwMode="auto">
            <a:xfrm>
              <a:off x="6852174" y="2650935"/>
              <a:ext cx="384125" cy="494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4480" tIns="52241" rIns="104480" bIns="52241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</a:p>
          </p:txBody>
        </p:sp>
        <p:sp>
          <p:nvSpPr>
            <p:cNvPr id="99" name="任意多边形 17"/>
            <p:cNvSpPr>
              <a:spLocks/>
            </p:cNvSpPr>
            <p:nvPr/>
          </p:nvSpPr>
          <p:spPr bwMode="auto">
            <a:xfrm>
              <a:off x="6317826" y="2979410"/>
              <a:ext cx="954545" cy="1368550"/>
            </a:xfrm>
            <a:custGeom>
              <a:avLst/>
              <a:gdLst>
                <a:gd name="T0" fmla="*/ 0 w 682080"/>
                <a:gd name="T1" fmla="*/ 1744173 h 1336309"/>
                <a:gd name="T2" fmla="*/ 50220 w 682080"/>
                <a:gd name="T3" fmla="*/ 1421868 h 1336309"/>
                <a:gd name="T4" fmla="*/ 153237 w 682080"/>
                <a:gd name="T5" fmla="*/ 1107335 h 1336309"/>
                <a:gd name="T6" fmla="*/ 312486 w 682080"/>
                <a:gd name="T7" fmla="*/ 816523 h 1336309"/>
                <a:gd name="T8" fmla="*/ 525380 w 682080"/>
                <a:gd name="T9" fmla="*/ 501293 h 1336309"/>
                <a:gd name="T10" fmla="*/ 911481 w 682080"/>
                <a:gd name="T11" fmla="*/ 0 h 13363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877621"/>
                <a:gd name="connsiteY0" fmla="*/ 1334335 h 1334335"/>
                <a:gd name="connsiteX1" fmla="*/ 37581 w 877621"/>
                <a:gd name="connsiteY1" fmla="*/ 1087398 h 1334335"/>
                <a:gd name="connsiteX2" fmla="*/ 114671 w 877621"/>
                <a:gd name="connsiteY2" fmla="*/ 846417 h 1334335"/>
                <a:gd name="connsiteX3" fmla="*/ 233839 w 877621"/>
                <a:gd name="connsiteY3" fmla="*/ 623610 h 1334335"/>
                <a:gd name="connsiteX4" fmla="*/ 393153 w 877621"/>
                <a:gd name="connsiteY4" fmla="*/ 382095 h 1334335"/>
                <a:gd name="connsiteX5" fmla="*/ 877621 w 877621"/>
                <a:gd name="connsiteY5" fmla="*/ 0 h 1334335"/>
                <a:gd name="connsiteX0" fmla="*/ 0 w 877621"/>
                <a:gd name="connsiteY0" fmla="*/ 1334335 h 1334335"/>
                <a:gd name="connsiteX1" fmla="*/ 37581 w 877621"/>
                <a:gd name="connsiteY1" fmla="*/ 1087398 h 1334335"/>
                <a:gd name="connsiteX2" fmla="*/ 114671 w 877621"/>
                <a:gd name="connsiteY2" fmla="*/ 846417 h 1334335"/>
                <a:gd name="connsiteX3" fmla="*/ 233839 w 877621"/>
                <a:gd name="connsiteY3" fmla="*/ 623610 h 1334335"/>
                <a:gd name="connsiteX4" fmla="*/ 459637 w 877621"/>
                <a:gd name="connsiteY4" fmla="*/ 362361 h 1334335"/>
                <a:gd name="connsiteX5" fmla="*/ 877621 w 877621"/>
                <a:gd name="connsiteY5" fmla="*/ 0 h 1334335"/>
                <a:gd name="connsiteX0" fmla="*/ 0 w 877621"/>
                <a:gd name="connsiteY0" fmla="*/ 1334335 h 1334335"/>
                <a:gd name="connsiteX1" fmla="*/ 37581 w 877621"/>
                <a:gd name="connsiteY1" fmla="*/ 1087398 h 1334335"/>
                <a:gd name="connsiteX2" fmla="*/ 114671 w 877621"/>
                <a:gd name="connsiteY2" fmla="*/ 846417 h 1334335"/>
                <a:gd name="connsiteX3" fmla="*/ 253393 w 877621"/>
                <a:gd name="connsiteY3" fmla="*/ 607823 h 1334335"/>
                <a:gd name="connsiteX4" fmla="*/ 459637 w 877621"/>
                <a:gd name="connsiteY4" fmla="*/ 362361 h 1334335"/>
                <a:gd name="connsiteX5" fmla="*/ 877621 w 877621"/>
                <a:gd name="connsiteY5" fmla="*/ 0 h 1334335"/>
                <a:gd name="connsiteX0" fmla="*/ 0 w 877621"/>
                <a:gd name="connsiteY0" fmla="*/ 1334335 h 1334335"/>
                <a:gd name="connsiteX1" fmla="*/ 37581 w 877621"/>
                <a:gd name="connsiteY1" fmla="*/ 1087398 h 1334335"/>
                <a:gd name="connsiteX2" fmla="*/ 114671 w 877621"/>
                <a:gd name="connsiteY2" fmla="*/ 846417 h 1334335"/>
                <a:gd name="connsiteX3" fmla="*/ 253393 w 877621"/>
                <a:gd name="connsiteY3" fmla="*/ 607823 h 1334335"/>
                <a:gd name="connsiteX4" fmla="*/ 426395 w 877621"/>
                <a:gd name="connsiteY4" fmla="*/ 374201 h 1334335"/>
                <a:gd name="connsiteX5" fmla="*/ 877621 w 877621"/>
                <a:gd name="connsiteY5" fmla="*/ 0 h 1334335"/>
                <a:gd name="connsiteX0" fmla="*/ 0 w 877621"/>
                <a:gd name="connsiteY0" fmla="*/ 1334335 h 1334335"/>
                <a:gd name="connsiteX1" fmla="*/ 37581 w 877621"/>
                <a:gd name="connsiteY1" fmla="*/ 1087398 h 1334335"/>
                <a:gd name="connsiteX2" fmla="*/ 114671 w 877621"/>
                <a:gd name="connsiteY2" fmla="*/ 846417 h 1334335"/>
                <a:gd name="connsiteX3" fmla="*/ 253393 w 877621"/>
                <a:gd name="connsiteY3" fmla="*/ 607823 h 1334335"/>
                <a:gd name="connsiteX4" fmla="*/ 426395 w 877621"/>
                <a:gd name="connsiteY4" fmla="*/ 374201 h 1334335"/>
                <a:gd name="connsiteX5" fmla="*/ 689225 w 877621"/>
                <a:gd name="connsiteY5" fmla="*/ 156962 h 1334335"/>
                <a:gd name="connsiteX6" fmla="*/ 877621 w 877621"/>
                <a:gd name="connsiteY6" fmla="*/ 0 h 1334335"/>
                <a:gd name="connsiteX0" fmla="*/ 0 w 891309"/>
                <a:gd name="connsiteY0" fmla="*/ 1332362 h 1332362"/>
                <a:gd name="connsiteX1" fmla="*/ 37581 w 891309"/>
                <a:gd name="connsiteY1" fmla="*/ 1085425 h 1332362"/>
                <a:gd name="connsiteX2" fmla="*/ 114671 w 891309"/>
                <a:gd name="connsiteY2" fmla="*/ 844444 h 1332362"/>
                <a:gd name="connsiteX3" fmla="*/ 253393 w 891309"/>
                <a:gd name="connsiteY3" fmla="*/ 605850 h 1332362"/>
                <a:gd name="connsiteX4" fmla="*/ 426395 w 891309"/>
                <a:gd name="connsiteY4" fmla="*/ 372228 h 1332362"/>
                <a:gd name="connsiteX5" fmla="*/ 689225 w 891309"/>
                <a:gd name="connsiteY5" fmla="*/ 154989 h 1332362"/>
                <a:gd name="connsiteX6" fmla="*/ 891309 w 891309"/>
                <a:gd name="connsiteY6" fmla="*/ 0 h 1332362"/>
                <a:gd name="connsiteX0" fmla="*/ 0 w 928462"/>
                <a:gd name="connsiteY0" fmla="*/ 1326442 h 1326442"/>
                <a:gd name="connsiteX1" fmla="*/ 37581 w 928462"/>
                <a:gd name="connsiteY1" fmla="*/ 1079505 h 1326442"/>
                <a:gd name="connsiteX2" fmla="*/ 114671 w 928462"/>
                <a:gd name="connsiteY2" fmla="*/ 838524 h 1326442"/>
                <a:gd name="connsiteX3" fmla="*/ 253393 w 928462"/>
                <a:gd name="connsiteY3" fmla="*/ 599930 h 1326442"/>
                <a:gd name="connsiteX4" fmla="*/ 426395 w 928462"/>
                <a:gd name="connsiteY4" fmla="*/ 366308 h 1326442"/>
                <a:gd name="connsiteX5" fmla="*/ 689225 w 928462"/>
                <a:gd name="connsiteY5" fmla="*/ 149069 h 1326442"/>
                <a:gd name="connsiteX6" fmla="*/ 928462 w 928462"/>
                <a:gd name="connsiteY6" fmla="*/ 0 h 1326442"/>
                <a:gd name="connsiteX0" fmla="*/ 0 w 928462"/>
                <a:gd name="connsiteY0" fmla="*/ 1326442 h 1326442"/>
                <a:gd name="connsiteX1" fmla="*/ 37581 w 928462"/>
                <a:gd name="connsiteY1" fmla="*/ 1079505 h 1326442"/>
                <a:gd name="connsiteX2" fmla="*/ 114671 w 928462"/>
                <a:gd name="connsiteY2" fmla="*/ 838524 h 1326442"/>
                <a:gd name="connsiteX3" fmla="*/ 253393 w 928462"/>
                <a:gd name="connsiteY3" fmla="*/ 599930 h 1326442"/>
                <a:gd name="connsiteX4" fmla="*/ 426395 w 928462"/>
                <a:gd name="connsiteY4" fmla="*/ 366308 h 1326442"/>
                <a:gd name="connsiteX5" fmla="*/ 689225 w 928462"/>
                <a:gd name="connsiteY5" fmla="*/ 149069 h 1326442"/>
                <a:gd name="connsiteX6" fmla="*/ 804594 w 928462"/>
                <a:gd name="connsiteY6" fmla="*/ 72111 h 1326442"/>
                <a:gd name="connsiteX7" fmla="*/ 928462 w 928462"/>
                <a:gd name="connsiteY7" fmla="*/ 0 h 1326442"/>
                <a:gd name="connsiteX0" fmla="*/ 0 w 928462"/>
                <a:gd name="connsiteY0" fmla="*/ 1326442 h 1326442"/>
                <a:gd name="connsiteX1" fmla="*/ 37581 w 928462"/>
                <a:gd name="connsiteY1" fmla="*/ 1079505 h 1326442"/>
                <a:gd name="connsiteX2" fmla="*/ 114671 w 928462"/>
                <a:gd name="connsiteY2" fmla="*/ 838524 h 1326442"/>
                <a:gd name="connsiteX3" fmla="*/ 253393 w 928462"/>
                <a:gd name="connsiteY3" fmla="*/ 599930 h 1326442"/>
                <a:gd name="connsiteX4" fmla="*/ 426395 w 928462"/>
                <a:gd name="connsiteY4" fmla="*/ 366308 h 1326442"/>
                <a:gd name="connsiteX5" fmla="*/ 542569 w 928462"/>
                <a:gd name="connsiteY5" fmla="*/ 255627 h 1326442"/>
                <a:gd name="connsiteX6" fmla="*/ 689225 w 928462"/>
                <a:gd name="connsiteY6" fmla="*/ 149069 h 1326442"/>
                <a:gd name="connsiteX7" fmla="*/ 804594 w 928462"/>
                <a:gd name="connsiteY7" fmla="*/ 72111 h 1326442"/>
                <a:gd name="connsiteX8" fmla="*/ 928462 w 928462"/>
                <a:gd name="connsiteY8" fmla="*/ 0 h 1326442"/>
                <a:gd name="connsiteX0" fmla="*/ 0 w 928462"/>
                <a:gd name="connsiteY0" fmla="*/ 1326442 h 1326442"/>
                <a:gd name="connsiteX1" fmla="*/ 37581 w 928462"/>
                <a:gd name="connsiteY1" fmla="*/ 1079505 h 1326442"/>
                <a:gd name="connsiteX2" fmla="*/ 114671 w 928462"/>
                <a:gd name="connsiteY2" fmla="*/ 838524 h 1326442"/>
                <a:gd name="connsiteX3" fmla="*/ 253393 w 928462"/>
                <a:gd name="connsiteY3" fmla="*/ 599930 h 1326442"/>
                <a:gd name="connsiteX4" fmla="*/ 426395 w 928462"/>
                <a:gd name="connsiteY4" fmla="*/ 366308 h 1326442"/>
                <a:gd name="connsiteX5" fmla="*/ 542569 w 928462"/>
                <a:gd name="connsiteY5" fmla="*/ 255627 h 1326442"/>
                <a:gd name="connsiteX6" fmla="*/ 681403 w 928462"/>
                <a:gd name="connsiteY6" fmla="*/ 149069 h 1326442"/>
                <a:gd name="connsiteX7" fmla="*/ 804594 w 928462"/>
                <a:gd name="connsiteY7" fmla="*/ 72111 h 1326442"/>
                <a:gd name="connsiteX8" fmla="*/ 928462 w 928462"/>
                <a:gd name="connsiteY8" fmla="*/ 0 h 1326442"/>
                <a:gd name="connsiteX0" fmla="*/ 0 w 928462"/>
                <a:gd name="connsiteY0" fmla="*/ 1326442 h 1326442"/>
                <a:gd name="connsiteX1" fmla="*/ 37581 w 928462"/>
                <a:gd name="connsiteY1" fmla="*/ 1079505 h 1326442"/>
                <a:gd name="connsiteX2" fmla="*/ 114671 w 928462"/>
                <a:gd name="connsiteY2" fmla="*/ 838524 h 1326442"/>
                <a:gd name="connsiteX3" fmla="*/ 253393 w 928462"/>
                <a:gd name="connsiteY3" fmla="*/ 599930 h 1326442"/>
                <a:gd name="connsiteX4" fmla="*/ 402931 w 928462"/>
                <a:gd name="connsiteY4" fmla="*/ 391961 h 1326442"/>
                <a:gd name="connsiteX5" fmla="*/ 542569 w 928462"/>
                <a:gd name="connsiteY5" fmla="*/ 255627 h 1326442"/>
                <a:gd name="connsiteX6" fmla="*/ 681403 w 928462"/>
                <a:gd name="connsiteY6" fmla="*/ 149069 h 1326442"/>
                <a:gd name="connsiteX7" fmla="*/ 804594 w 928462"/>
                <a:gd name="connsiteY7" fmla="*/ 72111 h 1326442"/>
                <a:gd name="connsiteX8" fmla="*/ 928462 w 928462"/>
                <a:gd name="connsiteY8" fmla="*/ 0 h 1326442"/>
                <a:gd name="connsiteX0" fmla="*/ 0 w 928462"/>
                <a:gd name="connsiteY0" fmla="*/ 1326442 h 1326442"/>
                <a:gd name="connsiteX1" fmla="*/ 37581 w 928462"/>
                <a:gd name="connsiteY1" fmla="*/ 1079505 h 1326442"/>
                <a:gd name="connsiteX2" fmla="*/ 114671 w 928462"/>
                <a:gd name="connsiteY2" fmla="*/ 838524 h 1326442"/>
                <a:gd name="connsiteX3" fmla="*/ 253393 w 928462"/>
                <a:gd name="connsiteY3" fmla="*/ 592037 h 1326442"/>
                <a:gd name="connsiteX4" fmla="*/ 402931 w 928462"/>
                <a:gd name="connsiteY4" fmla="*/ 391961 h 1326442"/>
                <a:gd name="connsiteX5" fmla="*/ 542569 w 928462"/>
                <a:gd name="connsiteY5" fmla="*/ 255627 h 1326442"/>
                <a:gd name="connsiteX6" fmla="*/ 681403 w 928462"/>
                <a:gd name="connsiteY6" fmla="*/ 149069 h 1326442"/>
                <a:gd name="connsiteX7" fmla="*/ 804594 w 928462"/>
                <a:gd name="connsiteY7" fmla="*/ 72111 h 1326442"/>
                <a:gd name="connsiteX8" fmla="*/ 928462 w 928462"/>
                <a:gd name="connsiteY8" fmla="*/ 0 h 1326442"/>
                <a:gd name="connsiteX0" fmla="*/ 0 w 928462"/>
                <a:gd name="connsiteY0" fmla="*/ 1326442 h 1326442"/>
                <a:gd name="connsiteX1" fmla="*/ 37581 w 928462"/>
                <a:gd name="connsiteY1" fmla="*/ 1079505 h 1326442"/>
                <a:gd name="connsiteX2" fmla="*/ 114671 w 928462"/>
                <a:gd name="connsiteY2" fmla="*/ 838524 h 1326442"/>
                <a:gd name="connsiteX3" fmla="*/ 253393 w 928462"/>
                <a:gd name="connsiteY3" fmla="*/ 592037 h 1326442"/>
                <a:gd name="connsiteX4" fmla="*/ 402931 w 928462"/>
                <a:gd name="connsiteY4" fmla="*/ 391961 h 1326442"/>
                <a:gd name="connsiteX5" fmla="*/ 542569 w 928462"/>
                <a:gd name="connsiteY5" fmla="*/ 255627 h 1326442"/>
                <a:gd name="connsiteX6" fmla="*/ 681403 w 928462"/>
                <a:gd name="connsiteY6" fmla="*/ 149069 h 1326442"/>
                <a:gd name="connsiteX7" fmla="*/ 804594 w 928462"/>
                <a:gd name="connsiteY7" fmla="*/ 72111 h 1326442"/>
                <a:gd name="connsiteX8" fmla="*/ 928462 w 928462"/>
                <a:gd name="connsiteY8" fmla="*/ 0 h 1326442"/>
                <a:gd name="connsiteX0" fmla="*/ 0 w 928462"/>
                <a:gd name="connsiteY0" fmla="*/ 1326442 h 1326442"/>
                <a:gd name="connsiteX1" fmla="*/ 37581 w 928462"/>
                <a:gd name="connsiteY1" fmla="*/ 1079505 h 1326442"/>
                <a:gd name="connsiteX2" fmla="*/ 114671 w 928462"/>
                <a:gd name="connsiteY2" fmla="*/ 838524 h 1326442"/>
                <a:gd name="connsiteX3" fmla="*/ 253393 w 928462"/>
                <a:gd name="connsiteY3" fmla="*/ 592037 h 1326442"/>
                <a:gd name="connsiteX4" fmla="*/ 402931 w 928462"/>
                <a:gd name="connsiteY4" fmla="*/ 391961 h 1326442"/>
                <a:gd name="connsiteX5" fmla="*/ 542569 w 928462"/>
                <a:gd name="connsiteY5" fmla="*/ 255627 h 1326442"/>
                <a:gd name="connsiteX6" fmla="*/ 681403 w 928462"/>
                <a:gd name="connsiteY6" fmla="*/ 149069 h 1326442"/>
                <a:gd name="connsiteX7" fmla="*/ 804594 w 928462"/>
                <a:gd name="connsiteY7" fmla="*/ 72111 h 1326442"/>
                <a:gd name="connsiteX8" fmla="*/ 928462 w 928462"/>
                <a:gd name="connsiteY8" fmla="*/ 0 h 1326442"/>
                <a:gd name="connsiteX0" fmla="*/ 0 w 928462"/>
                <a:gd name="connsiteY0" fmla="*/ 1326442 h 1326442"/>
                <a:gd name="connsiteX1" fmla="*/ 37581 w 928462"/>
                <a:gd name="connsiteY1" fmla="*/ 1079505 h 1326442"/>
                <a:gd name="connsiteX2" fmla="*/ 114671 w 928462"/>
                <a:gd name="connsiteY2" fmla="*/ 838524 h 1326442"/>
                <a:gd name="connsiteX3" fmla="*/ 253393 w 928462"/>
                <a:gd name="connsiteY3" fmla="*/ 592037 h 1326442"/>
                <a:gd name="connsiteX4" fmla="*/ 402931 w 928462"/>
                <a:gd name="connsiteY4" fmla="*/ 391961 h 1326442"/>
                <a:gd name="connsiteX5" fmla="*/ 542569 w 928462"/>
                <a:gd name="connsiteY5" fmla="*/ 255627 h 1326442"/>
                <a:gd name="connsiteX6" fmla="*/ 681403 w 928462"/>
                <a:gd name="connsiteY6" fmla="*/ 149069 h 1326442"/>
                <a:gd name="connsiteX7" fmla="*/ 804594 w 928462"/>
                <a:gd name="connsiteY7" fmla="*/ 72111 h 1326442"/>
                <a:gd name="connsiteX8" fmla="*/ 928462 w 928462"/>
                <a:gd name="connsiteY8" fmla="*/ 0 h 1326442"/>
                <a:gd name="connsiteX0" fmla="*/ 0 w 928462"/>
                <a:gd name="connsiteY0" fmla="*/ 1326442 h 1326442"/>
                <a:gd name="connsiteX1" fmla="*/ 37581 w 928462"/>
                <a:gd name="connsiteY1" fmla="*/ 1079505 h 1326442"/>
                <a:gd name="connsiteX2" fmla="*/ 114671 w 928462"/>
                <a:gd name="connsiteY2" fmla="*/ 838524 h 1326442"/>
                <a:gd name="connsiteX3" fmla="*/ 253393 w 928462"/>
                <a:gd name="connsiteY3" fmla="*/ 592037 h 1326442"/>
                <a:gd name="connsiteX4" fmla="*/ 402931 w 928462"/>
                <a:gd name="connsiteY4" fmla="*/ 391961 h 1326442"/>
                <a:gd name="connsiteX5" fmla="*/ 542569 w 928462"/>
                <a:gd name="connsiteY5" fmla="*/ 255627 h 1326442"/>
                <a:gd name="connsiteX6" fmla="*/ 681403 w 928462"/>
                <a:gd name="connsiteY6" fmla="*/ 149069 h 1326442"/>
                <a:gd name="connsiteX7" fmla="*/ 814371 w 928462"/>
                <a:gd name="connsiteY7" fmla="*/ 62243 h 1326442"/>
                <a:gd name="connsiteX8" fmla="*/ 928462 w 928462"/>
                <a:gd name="connsiteY8" fmla="*/ 0 h 1326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8462" h="1326442">
                  <a:moveTo>
                    <a:pt x="0" y="1326442"/>
                  </a:moveTo>
                  <a:cubicBezTo>
                    <a:pt x="5094" y="1283147"/>
                    <a:pt x="18469" y="1160825"/>
                    <a:pt x="37581" y="1079505"/>
                  </a:cubicBezTo>
                  <a:cubicBezTo>
                    <a:pt x="56693" y="998185"/>
                    <a:pt x="78702" y="919769"/>
                    <a:pt x="114671" y="838524"/>
                  </a:cubicBezTo>
                  <a:cubicBezTo>
                    <a:pt x="150640" y="757279"/>
                    <a:pt x="205350" y="666464"/>
                    <a:pt x="253393" y="592037"/>
                  </a:cubicBezTo>
                  <a:cubicBezTo>
                    <a:pt x="301436" y="517610"/>
                    <a:pt x="355713" y="447043"/>
                    <a:pt x="402931" y="391961"/>
                  </a:cubicBezTo>
                  <a:cubicBezTo>
                    <a:pt x="450149" y="336879"/>
                    <a:pt x="498764" y="291833"/>
                    <a:pt x="542569" y="255627"/>
                  </a:cubicBezTo>
                  <a:cubicBezTo>
                    <a:pt x="586374" y="219421"/>
                    <a:pt x="636755" y="181957"/>
                    <a:pt x="681403" y="149069"/>
                  </a:cubicBezTo>
                  <a:cubicBezTo>
                    <a:pt x="719859" y="126047"/>
                    <a:pt x="775915" y="85265"/>
                    <a:pt x="814371" y="62243"/>
                  </a:cubicBezTo>
                  <a:cubicBezTo>
                    <a:pt x="855660" y="38206"/>
                    <a:pt x="873485" y="20091"/>
                    <a:pt x="928462" y="0"/>
                  </a:cubicBezTo>
                </a:path>
              </a:pathLst>
            </a:custGeom>
            <a:noFill/>
            <a:ln w="1905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04480" tIns="52241" rIns="104480" bIns="52241"/>
            <a:lstStyle/>
            <a:p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1" name="椭圆 135"/>
            <p:cNvSpPr>
              <a:spLocks noChangeArrowheads="1"/>
            </p:cNvSpPr>
            <p:nvPr/>
          </p:nvSpPr>
          <p:spPr bwMode="auto">
            <a:xfrm>
              <a:off x="7251593" y="2932099"/>
              <a:ext cx="64800" cy="648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4480" tIns="52241" rIns="104480" bIns="52241"/>
            <a:lstStyle/>
            <a:p>
              <a:pPr defTabSz="1257300"/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217781" y="2938460"/>
            <a:ext cx="1071702" cy="689627"/>
            <a:chOff x="5217781" y="2938460"/>
            <a:chExt cx="1071702" cy="689627"/>
          </a:xfrm>
        </p:grpSpPr>
        <p:sp>
          <p:nvSpPr>
            <p:cNvPr id="87" name="Text Box 9"/>
            <p:cNvSpPr txBox="1">
              <a:spLocks noChangeArrowheads="1"/>
            </p:cNvSpPr>
            <p:nvPr/>
          </p:nvSpPr>
          <p:spPr bwMode="auto">
            <a:xfrm>
              <a:off x="5217781" y="2938460"/>
              <a:ext cx="1071702" cy="494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4480" tIns="52241" rIns="104480" bIns="52241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2200" b="1" baseline="30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f </a:t>
              </a:r>
              <a:r>
                <a:rPr lang="en-US" altLang="zh-CN" sz="22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0</a:t>
              </a:r>
              <a:endParaRPr lang="zh-CN" altLang="en-US" sz="22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cxnSp>
          <p:nvCxnSpPr>
            <p:cNvPr id="102" name="直接连接符 4"/>
            <p:cNvCxnSpPr>
              <a:cxnSpLocks noChangeShapeType="1"/>
            </p:cNvCxnSpPr>
            <p:nvPr/>
          </p:nvCxnSpPr>
          <p:spPr bwMode="auto">
            <a:xfrm flipH="1" flipV="1">
              <a:off x="5420792" y="3370269"/>
              <a:ext cx="57240" cy="25781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" name="组合 14"/>
          <p:cNvGrpSpPr/>
          <p:nvPr/>
        </p:nvGrpSpPr>
        <p:grpSpPr>
          <a:xfrm>
            <a:off x="6678521" y="2256518"/>
            <a:ext cx="1078832" cy="694272"/>
            <a:chOff x="6678521" y="2256518"/>
            <a:chExt cx="1078832" cy="694272"/>
          </a:xfrm>
        </p:grpSpPr>
        <p:sp>
          <p:nvSpPr>
            <p:cNvPr id="90" name="Text Box 9"/>
            <p:cNvSpPr txBox="1">
              <a:spLocks noChangeArrowheads="1"/>
            </p:cNvSpPr>
            <p:nvPr/>
          </p:nvSpPr>
          <p:spPr bwMode="auto">
            <a:xfrm>
              <a:off x="6678521" y="2256518"/>
              <a:ext cx="1078832" cy="494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4480" tIns="52241" rIns="104480" bIns="52241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2200" b="1" baseline="30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lang="en-US" altLang="zh-CN" sz="22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f </a:t>
              </a:r>
              <a:r>
                <a:rPr lang="en-US" altLang="zh-CN" sz="22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0</a:t>
              </a:r>
              <a:endParaRPr lang="zh-CN" altLang="en-US" sz="22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cxnSp>
          <p:nvCxnSpPr>
            <p:cNvPr id="103" name="直接连接符 92"/>
            <p:cNvCxnSpPr>
              <a:cxnSpLocks noChangeShapeType="1"/>
            </p:cNvCxnSpPr>
            <p:nvPr/>
          </p:nvCxnSpPr>
          <p:spPr bwMode="auto">
            <a:xfrm>
              <a:off x="7350955" y="2679919"/>
              <a:ext cx="157619" cy="27087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5113515" y="3641688"/>
            <a:ext cx="508476" cy="215213"/>
            <a:chOff x="5113515" y="3641688"/>
            <a:chExt cx="508476" cy="215213"/>
          </a:xfrm>
        </p:grpSpPr>
        <p:sp>
          <p:nvSpPr>
            <p:cNvPr id="149" name="任意多边形 2"/>
            <p:cNvSpPr>
              <a:spLocks/>
            </p:cNvSpPr>
            <p:nvPr/>
          </p:nvSpPr>
          <p:spPr bwMode="auto">
            <a:xfrm>
              <a:off x="5113515" y="3645161"/>
              <a:ext cx="469595" cy="211740"/>
            </a:xfrm>
            <a:custGeom>
              <a:avLst/>
              <a:gdLst>
                <a:gd name="T0" fmla="*/ 0 w 968013"/>
                <a:gd name="T1" fmla="*/ 891108 h 682077"/>
                <a:gd name="T2" fmla="*/ 879787 w 968013"/>
                <a:gd name="T3" fmla="*/ 0 h 682077"/>
                <a:gd name="T4" fmla="*/ 1265180 w 968013"/>
                <a:gd name="T5" fmla="*/ 0 h 682077"/>
                <a:gd name="T6" fmla="*/ 836966 w 968013"/>
                <a:gd name="T7" fmla="*/ 159544 h 682077"/>
                <a:gd name="T8" fmla="*/ 560572 w 968013"/>
                <a:gd name="T9" fmla="*/ 291848 h 682077"/>
                <a:gd name="T10" fmla="*/ 369823 w 968013"/>
                <a:gd name="T11" fmla="*/ 408587 h 682077"/>
                <a:gd name="T12" fmla="*/ 186857 w 968013"/>
                <a:gd name="T13" fmla="*/ 548674 h 682077"/>
                <a:gd name="T14" fmla="*/ 73965 w 968013"/>
                <a:gd name="T15" fmla="*/ 688761 h 682077"/>
                <a:gd name="T16" fmla="*/ 15572 w 968013"/>
                <a:gd name="T17" fmla="*/ 817174 h 682077"/>
                <a:gd name="T18" fmla="*/ 0 w 968013"/>
                <a:gd name="T19" fmla="*/ 891108 h 68207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connsiteX0" fmla="*/ 0 w 968013"/>
                <a:gd name="connsiteY0" fmla="*/ 682077 h 682077"/>
                <a:gd name="connsiteX1" fmla="*/ 673141 w 968013"/>
                <a:gd name="connsiteY1" fmla="*/ 0 h 682077"/>
                <a:gd name="connsiteX2" fmla="*/ 968013 w 968013"/>
                <a:gd name="connsiteY2" fmla="*/ 0 h 682077"/>
                <a:gd name="connsiteX3" fmla="*/ 640378 w 968013"/>
                <a:gd name="connsiteY3" fmla="*/ 122119 h 682077"/>
                <a:gd name="connsiteX4" fmla="*/ 484976 w 968013"/>
                <a:gd name="connsiteY4" fmla="*/ 195345 h 682077"/>
                <a:gd name="connsiteX5" fmla="*/ 282958 w 968013"/>
                <a:gd name="connsiteY5" fmla="*/ 312743 h 682077"/>
                <a:gd name="connsiteX6" fmla="*/ 142968 w 968013"/>
                <a:gd name="connsiteY6" fmla="*/ 419969 h 682077"/>
                <a:gd name="connsiteX7" fmla="*/ 56592 w 968013"/>
                <a:gd name="connsiteY7" fmla="*/ 527195 h 682077"/>
                <a:gd name="connsiteX8" fmla="*/ 11914 w 968013"/>
                <a:gd name="connsiteY8" fmla="*/ 625486 h 682077"/>
                <a:gd name="connsiteX9" fmla="*/ 0 w 968013"/>
                <a:gd name="connsiteY9" fmla="*/ 682077 h 682077"/>
                <a:gd name="connsiteX0" fmla="*/ 481185 w 956099"/>
                <a:gd name="connsiteY0" fmla="*/ 195458 h 625486"/>
                <a:gd name="connsiteX1" fmla="*/ 661227 w 956099"/>
                <a:gd name="connsiteY1" fmla="*/ 0 h 625486"/>
                <a:gd name="connsiteX2" fmla="*/ 956099 w 956099"/>
                <a:gd name="connsiteY2" fmla="*/ 0 h 625486"/>
                <a:gd name="connsiteX3" fmla="*/ 628464 w 956099"/>
                <a:gd name="connsiteY3" fmla="*/ 122119 h 625486"/>
                <a:gd name="connsiteX4" fmla="*/ 473062 w 956099"/>
                <a:gd name="connsiteY4" fmla="*/ 195345 h 625486"/>
                <a:gd name="connsiteX5" fmla="*/ 271044 w 956099"/>
                <a:gd name="connsiteY5" fmla="*/ 312743 h 625486"/>
                <a:gd name="connsiteX6" fmla="*/ 131054 w 956099"/>
                <a:gd name="connsiteY6" fmla="*/ 419969 h 625486"/>
                <a:gd name="connsiteX7" fmla="*/ 44678 w 956099"/>
                <a:gd name="connsiteY7" fmla="*/ 527195 h 625486"/>
                <a:gd name="connsiteX8" fmla="*/ 0 w 956099"/>
                <a:gd name="connsiteY8" fmla="*/ 625486 h 625486"/>
                <a:gd name="connsiteX9" fmla="*/ 481185 w 956099"/>
                <a:gd name="connsiteY9" fmla="*/ 195458 h 625486"/>
                <a:gd name="connsiteX0" fmla="*/ 481185 w 956099"/>
                <a:gd name="connsiteY0" fmla="*/ 195458 h 625486"/>
                <a:gd name="connsiteX1" fmla="*/ 661227 w 956099"/>
                <a:gd name="connsiteY1" fmla="*/ 0 h 625486"/>
                <a:gd name="connsiteX2" fmla="*/ 956099 w 956099"/>
                <a:gd name="connsiteY2" fmla="*/ 0 h 625486"/>
                <a:gd name="connsiteX3" fmla="*/ 628464 w 956099"/>
                <a:gd name="connsiteY3" fmla="*/ 122119 h 625486"/>
                <a:gd name="connsiteX4" fmla="*/ 473062 w 956099"/>
                <a:gd name="connsiteY4" fmla="*/ 195345 h 625486"/>
                <a:gd name="connsiteX5" fmla="*/ 131054 w 956099"/>
                <a:gd name="connsiteY5" fmla="*/ 419969 h 625486"/>
                <a:gd name="connsiteX6" fmla="*/ 44678 w 956099"/>
                <a:gd name="connsiteY6" fmla="*/ 527195 h 625486"/>
                <a:gd name="connsiteX7" fmla="*/ 0 w 956099"/>
                <a:gd name="connsiteY7" fmla="*/ 625486 h 625486"/>
                <a:gd name="connsiteX8" fmla="*/ 481185 w 956099"/>
                <a:gd name="connsiteY8" fmla="*/ 195458 h 625486"/>
                <a:gd name="connsiteX0" fmla="*/ 481185 w 956099"/>
                <a:gd name="connsiteY0" fmla="*/ 195458 h 625486"/>
                <a:gd name="connsiteX1" fmla="*/ 661227 w 956099"/>
                <a:gd name="connsiteY1" fmla="*/ 0 h 625486"/>
                <a:gd name="connsiteX2" fmla="*/ 956099 w 956099"/>
                <a:gd name="connsiteY2" fmla="*/ 0 h 625486"/>
                <a:gd name="connsiteX3" fmla="*/ 628464 w 956099"/>
                <a:gd name="connsiteY3" fmla="*/ 122119 h 625486"/>
                <a:gd name="connsiteX4" fmla="*/ 473062 w 956099"/>
                <a:gd name="connsiteY4" fmla="*/ 195345 h 625486"/>
                <a:gd name="connsiteX5" fmla="*/ 44678 w 956099"/>
                <a:gd name="connsiteY5" fmla="*/ 527195 h 625486"/>
                <a:gd name="connsiteX6" fmla="*/ 0 w 956099"/>
                <a:gd name="connsiteY6" fmla="*/ 625486 h 625486"/>
                <a:gd name="connsiteX7" fmla="*/ 481185 w 956099"/>
                <a:gd name="connsiteY7" fmla="*/ 195458 h 625486"/>
                <a:gd name="connsiteX0" fmla="*/ 481185 w 956099"/>
                <a:gd name="connsiteY0" fmla="*/ 195458 h 625486"/>
                <a:gd name="connsiteX1" fmla="*/ 661227 w 956099"/>
                <a:gd name="connsiteY1" fmla="*/ 0 h 625486"/>
                <a:gd name="connsiteX2" fmla="*/ 956099 w 956099"/>
                <a:gd name="connsiteY2" fmla="*/ 0 h 625486"/>
                <a:gd name="connsiteX3" fmla="*/ 628464 w 956099"/>
                <a:gd name="connsiteY3" fmla="*/ 122119 h 625486"/>
                <a:gd name="connsiteX4" fmla="*/ 473062 w 956099"/>
                <a:gd name="connsiteY4" fmla="*/ 195345 h 625486"/>
                <a:gd name="connsiteX5" fmla="*/ 0 w 956099"/>
                <a:gd name="connsiteY5" fmla="*/ 625486 h 625486"/>
                <a:gd name="connsiteX6" fmla="*/ 481185 w 956099"/>
                <a:gd name="connsiteY6" fmla="*/ 195458 h 625486"/>
                <a:gd name="connsiteX0" fmla="*/ 8123 w 483037"/>
                <a:gd name="connsiteY0" fmla="*/ 195458 h 195458"/>
                <a:gd name="connsiteX1" fmla="*/ 188165 w 483037"/>
                <a:gd name="connsiteY1" fmla="*/ 0 h 195458"/>
                <a:gd name="connsiteX2" fmla="*/ 483037 w 483037"/>
                <a:gd name="connsiteY2" fmla="*/ 0 h 195458"/>
                <a:gd name="connsiteX3" fmla="*/ 155402 w 483037"/>
                <a:gd name="connsiteY3" fmla="*/ 122119 h 195458"/>
                <a:gd name="connsiteX4" fmla="*/ 0 w 483037"/>
                <a:gd name="connsiteY4" fmla="*/ 195345 h 195458"/>
                <a:gd name="connsiteX5" fmla="*/ 8123 w 483037"/>
                <a:gd name="connsiteY5" fmla="*/ 195458 h 195458"/>
                <a:gd name="connsiteX0" fmla="*/ 0 w 483037"/>
                <a:gd name="connsiteY0" fmla="*/ 195345 h 195345"/>
                <a:gd name="connsiteX1" fmla="*/ 188165 w 483037"/>
                <a:gd name="connsiteY1" fmla="*/ 0 h 195345"/>
                <a:gd name="connsiteX2" fmla="*/ 483037 w 483037"/>
                <a:gd name="connsiteY2" fmla="*/ 0 h 195345"/>
                <a:gd name="connsiteX3" fmla="*/ 155402 w 483037"/>
                <a:gd name="connsiteY3" fmla="*/ 122119 h 195345"/>
                <a:gd name="connsiteX4" fmla="*/ 0 w 483037"/>
                <a:gd name="connsiteY4" fmla="*/ 195345 h 195345"/>
                <a:gd name="connsiteX0" fmla="*/ 0 w 476441"/>
                <a:gd name="connsiteY0" fmla="*/ 198644 h 198644"/>
                <a:gd name="connsiteX1" fmla="*/ 181569 w 476441"/>
                <a:gd name="connsiteY1" fmla="*/ 0 h 198644"/>
                <a:gd name="connsiteX2" fmla="*/ 476441 w 476441"/>
                <a:gd name="connsiteY2" fmla="*/ 0 h 198644"/>
                <a:gd name="connsiteX3" fmla="*/ 148806 w 476441"/>
                <a:gd name="connsiteY3" fmla="*/ 122119 h 198644"/>
                <a:gd name="connsiteX4" fmla="*/ 0 w 476441"/>
                <a:gd name="connsiteY4" fmla="*/ 198644 h 198644"/>
                <a:gd name="connsiteX0" fmla="*/ 0 w 476441"/>
                <a:gd name="connsiteY0" fmla="*/ 198644 h 198644"/>
                <a:gd name="connsiteX1" fmla="*/ 189815 w 476441"/>
                <a:gd name="connsiteY1" fmla="*/ 1650 h 198644"/>
                <a:gd name="connsiteX2" fmla="*/ 476441 w 476441"/>
                <a:gd name="connsiteY2" fmla="*/ 0 h 198644"/>
                <a:gd name="connsiteX3" fmla="*/ 148806 w 476441"/>
                <a:gd name="connsiteY3" fmla="*/ 122119 h 198644"/>
                <a:gd name="connsiteX4" fmla="*/ 0 w 476441"/>
                <a:gd name="connsiteY4" fmla="*/ 198644 h 198644"/>
                <a:gd name="connsiteX0" fmla="*/ 0 w 464897"/>
                <a:gd name="connsiteY0" fmla="*/ 203593 h 203593"/>
                <a:gd name="connsiteX1" fmla="*/ 189815 w 464897"/>
                <a:gd name="connsiteY1" fmla="*/ 6599 h 203593"/>
                <a:gd name="connsiteX2" fmla="*/ 464897 w 464897"/>
                <a:gd name="connsiteY2" fmla="*/ 0 h 203593"/>
                <a:gd name="connsiteX3" fmla="*/ 148806 w 464897"/>
                <a:gd name="connsiteY3" fmla="*/ 127068 h 203593"/>
                <a:gd name="connsiteX4" fmla="*/ 0 w 464897"/>
                <a:gd name="connsiteY4" fmla="*/ 203593 h 20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4897" h="203593">
                  <a:moveTo>
                    <a:pt x="0" y="203593"/>
                  </a:moveTo>
                  <a:lnTo>
                    <a:pt x="189815" y="6599"/>
                  </a:lnTo>
                  <a:lnTo>
                    <a:pt x="464897" y="0"/>
                  </a:lnTo>
                  <a:lnTo>
                    <a:pt x="148806" y="127068"/>
                  </a:lnTo>
                  <a:lnTo>
                    <a:pt x="0" y="203593"/>
                  </a:lnTo>
                  <a:close/>
                </a:path>
              </a:pathLst>
            </a:custGeom>
            <a:pattFill prst="ltHorz">
              <a:fgClr>
                <a:srgbClr val="0000CC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lIns="104480" tIns="52241" rIns="104480" bIns="52241"/>
            <a:lstStyle/>
            <a:p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5" name="直接箭头连接符 71"/>
            <p:cNvCxnSpPr>
              <a:cxnSpLocks noChangeShapeType="1"/>
            </p:cNvCxnSpPr>
            <p:nvPr/>
          </p:nvCxnSpPr>
          <p:spPr bwMode="auto">
            <a:xfrm flipH="1" flipV="1">
              <a:off x="5331597" y="3641688"/>
              <a:ext cx="290394" cy="4950"/>
            </a:xfrm>
            <a:prstGeom prst="straightConnector1">
              <a:avLst/>
            </a:prstGeom>
            <a:noFill/>
            <a:ln w="12700" algn="ctr">
              <a:solidFill>
                <a:srgbClr val="0000CC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" name="组合 15"/>
          <p:cNvGrpSpPr/>
          <p:nvPr/>
        </p:nvGrpSpPr>
        <p:grpSpPr>
          <a:xfrm>
            <a:off x="6196628" y="2851145"/>
            <a:ext cx="1929605" cy="1939238"/>
            <a:chOff x="6196628" y="2851145"/>
            <a:chExt cx="1929605" cy="1939238"/>
          </a:xfrm>
        </p:grpSpPr>
        <p:sp>
          <p:nvSpPr>
            <p:cNvPr id="88" name="Text Box 12"/>
            <p:cNvSpPr txBox="1">
              <a:spLocks noChangeArrowheads="1"/>
            </p:cNvSpPr>
            <p:nvPr/>
          </p:nvSpPr>
          <p:spPr bwMode="auto">
            <a:xfrm>
              <a:off x="6448870" y="3998298"/>
              <a:ext cx="414583" cy="494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4480" tIns="52241" rIns="104480" bIns="52241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D</a:t>
              </a: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196628" y="2851145"/>
              <a:ext cx="1929605" cy="1939238"/>
              <a:chOff x="6196628" y="2851145"/>
              <a:chExt cx="1929605" cy="1939238"/>
            </a:xfrm>
          </p:grpSpPr>
          <p:sp>
            <p:nvSpPr>
              <p:cNvPr id="105" name="Text Box 12"/>
              <p:cNvSpPr txBox="1">
                <a:spLocks noChangeArrowheads="1"/>
              </p:cNvSpPr>
              <p:nvPr/>
            </p:nvSpPr>
            <p:spPr bwMode="auto">
              <a:xfrm>
                <a:off x="7684725" y="2851145"/>
                <a:ext cx="441508" cy="494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104480" tIns="52241" rIns="104480" bIns="52241">
                <a:spAutoFit/>
              </a:bodyPr>
              <a:lstStyle>
                <a:lvl1pPr eaLnBrk="0" hangingPunct="0"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2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E</a:t>
                </a:r>
              </a:p>
            </p:txBody>
          </p:sp>
          <p:cxnSp>
            <p:nvCxnSpPr>
              <p:cNvPr id="98" name="直接连接符 14"/>
              <p:cNvCxnSpPr>
                <a:cxnSpLocks noChangeShapeType="1"/>
                <a:endCxn id="100" idx="3"/>
              </p:cNvCxnSpPr>
              <p:nvPr/>
            </p:nvCxnSpPr>
            <p:spPr bwMode="auto">
              <a:xfrm flipV="1">
                <a:off x="6306429" y="2987409"/>
                <a:ext cx="1393565" cy="1369220"/>
              </a:xfrm>
              <a:prstGeom prst="line">
                <a:avLst/>
              </a:prstGeom>
              <a:noFill/>
              <a:ln w="19050" algn="ctr">
                <a:solidFill>
                  <a:srgbClr val="C00000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04" name="Text Box 12"/>
              <p:cNvSpPr txBox="1">
                <a:spLocks noChangeArrowheads="1"/>
              </p:cNvSpPr>
              <p:nvPr/>
            </p:nvSpPr>
            <p:spPr bwMode="auto">
              <a:xfrm>
                <a:off x="6196628" y="4327732"/>
                <a:ext cx="572511" cy="4626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104480" tIns="52241" rIns="104480" bIns="52241">
                <a:spAutoFit/>
              </a:bodyPr>
              <a:lstStyle>
                <a:lvl1pPr eaLnBrk="0" hangingPunct="0"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 sz="2200" b="1" dirty="0" smtClean="0">
                    <a:solidFill>
                      <a:srgbClr val="66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200" b="1" baseline="30000" dirty="0" smtClean="0">
                    <a:solidFill>
                      <a:srgbClr val="66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2</a:t>
                </a:r>
                <a:r>
                  <a:rPr lang="en-US" altLang="zh-CN" sz="2200" b="1" baseline="-25000" dirty="0" smtClean="0">
                    <a:solidFill>
                      <a:srgbClr val="660066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endParaRPr lang="en-US" altLang="zh-CN" sz="2200" b="1" dirty="0">
                  <a:solidFill>
                    <a:srgbClr val="66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08" name="椭圆 11"/>
              <p:cNvSpPr>
                <a:spLocks noChangeArrowheads="1"/>
              </p:cNvSpPr>
              <p:nvPr/>
            </p:nvSpPr>
            <p:spPr bwMode="auto">
              <a:xfrm>
                <a:off x="6281479" y="4322235"/>
                <a:ext cx="64800" cy="6480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104480" tIns="52241" rIns="104480" bIns="52241"/>
              <a:lstStyle/>
              <a:p>
                <a:pPr defTabSz="1257300"/>
                <a:endParaRPr lang="zh-CN" altLang="en-US" sz="2200" b="1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椭圆 130"/>
              <p:cNvSpPr>
                <a:spLocks noChangeArrowheads="1"/>
              </p:cNvSpPr>
              <p:nvPr/>
            </p:nvSpPr>
            <p:spPr bwMode="auto">
              <a:xfrm>
                <a:off x="7690504" y="2932099"/>
                <a:ext cx="64800" cy="6480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104480" tIns="52241" rIns="104480" bIns="52241"/>
              <a:lstStyle/>
              <a:p>
                <a:pPr defTabSz="1257300"/>
                <a:endParaRPr lang="zh-CN" altLang="en-US" sz="2200" b="1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71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623291" y="3452793"/>
            <a:ext cx="1414353" cy="900945"/>
            <a:chOff x="4623291" y="3452793"/>
            <a:chExt cx="1414353" cy="900945"/>
          </a:xfrm>
        </p:grpSpPr>
        <p:sp>
          <p:nvSpPr>
            <p:cNvPr id="77" name="Text Box 12"/>
            <p:cNvSpPr txBox="1">
              <a:spLocks noChangeArrowheads="1"/>
            </p:cNvSpPr>
            <p:nvPr/>
          </p:nvSpPr>
          <p:spPr bwMode="auto">
            <a:xfrm>
              <a:off x="5623061" y="3452793"/>
              <a:ext cx="414583" cy="494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4480" tIns="52241" rIns="104480" bIns="52241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94" name="任意多边形 12"/>
            <p:cNvSpPr>
              <a:spLocks/>
            </p:cNvSpPr>
            <p:nvPr/>
          </p:nvSpPr>
          <p:spPr bwMode="auto">
            <a:xfrm>
              <a:off x="4623291" y="3650143"/>
              <a:ext cx="983252" cy="703595"/>
            </a:xfrm>
            <a:custGeom>
              <a:avLst/>
              <a:gdLst>
                <a:gd name="T0" fmla="*/ 0 w 926609"/>
                <a:gd name="T1" fmla="*/ 885492 h 675670"/>
                <a:gd name="T2" fmla="*/ 74306 w 926609"/>
                <a:gd name="T3" fmla="*/ 688474 h 675670"/>
                <a:gd name="T4" fmla="*/ 224245 w 926609"/>
                <a:gd name="T5" fmla="*/ 505416 h 675670"/>
                <a:gd name="T6" fmla="*/ 445398 w 926609"/>
                <a:gd name="T7" fmla="*/ 353450 h 675670"/>
                <a:gd name="T8" fmla="*/ 764736 w 926609"/>
                <a:gd name="T9" fmla="*/ 182158 h 675670"/>
                <a:gd name="T10" fmla="*/ 1205812 w 926609"/>
                <a:gd name="T11" fmla="*/ 0 h 6756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6609" h="675670">
                  <a:moveTo>
                    <a:pt x="0" y="675670"/>
                  </a:moveTo>
                  <a:cubicBezTo>
                    <a:pt x="14917" y="638578"/>
                    <a:pt x="28380" y="573673"/>
                    <a:pt x="57100" y="525337"/>
                  </a:cubicBezTo>
                  <a:cubicBezTo>
                    <a:pt x="85820" y="477001"/>
                    <a:pt x="124793" y="428261"/>
                    <a:pt x="172321" y="385654"/>
                  </a:cubicBezTo>
                  <a:cubicBezTo>
                    <a:pt x="219849" y="343048"/>
                    <a:pt x="269067" y="315763"/>
                    <a:pt x="342266" y="269698"/>
                  </a:cubicBezTo>
                  <a:cubicBezTo>
                    <a:pt x="415465" y="223633"/>
                    <a:pt x="498218" y="179628"/>
                    <a:pt x="587663" y="138994"/>
                  </a:cubicBezTo>
                  <a:cubicBezTo>
                    <a:pt x="685053" y="94044"/>
                    <a:pt x="855995" y="28957"/>
                    <a:pt x="926609" y="0"/>
                  </a:cubicBezTo>
                </a:path>
              </a:pathLst>
            </a:custGeom>
            <a:noFill/>
            <a:ln w="1905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04480" tIns="52241" rIns="104480" bIns="52241"/>
            <a:lstStyle/>
            <a:p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椭圆 128"/>
            <p:cNvSpPr>
              <a:spLocks noChangeArrowheads="1"/>
            </p:cNvSpPr>
            <p:nvPr/>
          </p:nvSpPr>
          <p:spPr bwMode="auto">
            <a:xfrm>
              <a:off x="5602347" y="3620529"/>
              <a:ext cx="64800" cy="648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4480" tIns="52241" rIns="104480" bIns="52241"/>
            <a:lstStyle/>
            <a:p>
              <a:pPr defTabSz="1257300"/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523602" y="3328929"/>
            <a:ext cx="840634" cy="1461454"/>
            <a:chOff x="4523602" y="3328929"/>
            <a:chExt cx="840634" cy="1461454"/>
          </a:xfrm>
        </p:grpSpPr>
        <p:sp>
          <p:nvSpPr>
            <p:cNvPr id="76" name="Text Box 12"/>
            <p:cNvSpPr txBox="1">
              <a:spLocks noChangeArrowheads="1"/>
            </p:cNvSpPr>
            <p:nvPr/>
          </p:nvSpPr>
          <p:spPr bwMode="auto">
            <a:xfrm>
              <a:off x="4935847" y="3328929"/>
              <a:ext cx="398552" cy="494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4480" tIns="52241" rIns="104480" bIns="52241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75" name="Text Box 12"/>
            <p:cNvSpPr txBox="1">
              <a:spLocks noChangeArrowheads="1"/>
            </p:cNvSpPr>
            <p:nvPr/>
          </p:nvSpPr>
          <p:spPr bwMode="auto">
            <a:xfrm>
              <a:off x="4685414" y="3991773"/>
              <a:ext cx="414583" cy="494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4480" tIns="52241" rIns="104480" bIns="52241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</a:p>
          </p:txBody>
        </p:sp>
        <p:sp>
          <p:nvSpPr>
            <p:cNvPr id="73" name="Text Box 12"/>
            <p:cNvSpPr txBox="1">
              <a:spLocks noChangeArrowheads="1"/>
            </p:cNvSpPr>
            <p:nvPr/>
          </p:nvSpPr>
          <p:spPr bwMode="auto">
            <a:xfrm>
              <a:off x="4523602" y="4327732"/>
              <a:ext cx="570073" cy="462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4480" tIns="52241" rIns="104480" bIns="52241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2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2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cxnSp>
          <p:nvCxnSpPr>
            <p:cNvPr id="93" name="直接连接符 10"/>
            <p:cNvCxnSpPr>
              <a:cxnSpLocks noChangeShapeType="1"/>
            </p:cNvCxnSpPr>
            <p:nvPr/>
          </p:nvCxnSpPr>
          <p:spPr bwMode="auto">
            <a:xfrm flipV="1">
              <a:off x="4620401" y="3642918"/>
              <a:ext cx="700705" cy="715154"/>
            </a:xfrm>
            <a:prstGeom prst="line">
              <a:avLst/>
            </a:prstGeom>
            <a:noFill/>
            <a:ln w="19050" algn="ctr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7" name="椭圆 11"/>
            <p:cNvSpPr>
              <a:spLocks noChangeArrowheads="1"/>
            </p:cNvSpPr>
            <p:nvPr/>
          </p:nvSpPr>
          <p:spPr bwMode="auto">
            <a:xfrm>
              <a:off x="4596114" y="4321420"/>
              <a:ext cx="64800" cy="648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4480" tIns="52241" rIns="104480" bIns="52241"/>
            <a:lstStyle/>
            <a:p>
              <a:pPr defTabSz="1257300"/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椭圆 11"/>
            <p:cNvSpPr>
              <a:spLocks noChangeArrowheads="1"/>
            </p:cNvSpPr>
            <p:nvPr/>
          </p:nvSpPr>
          <p:spPr bwMode="auto">
            <a:xfrm>
              <a:off x="5299436" y="3614023"/>
              <a:ext cx="64800" cy="648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4480" tIns="52241" rIns="104480" bIns="52241"/>
            <a:lstStyle/>
            <a:p>
              <a:pPr defTabSz="1257300"/>
              <a:endParaRPr lang="zh-CN" altLang="en-US" sz="22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584932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5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5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5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51" grpId="1" animBg="1"/>
      <p:bldP spid="150" grpId="0" animBg="1"/>
      <p:bldP spid="150" grpId="1" animBg="1"/>
      <p:bldP spid="148" grpId="0" animBg="1"/>
      <p:bldP spid="148" grpId="1" animBg="1"/>
      <p:bldP spid="12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200" y="1679906"/>
            <a:ext cx="7971845" cy="280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33400" indent="-533400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剪切过程中的超静孔压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</a:p>
          <a:p>
            <a:pPr marL="533400" indent="-533400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确定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的强度指标： 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cu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8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8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cu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，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)</a:t>
            </a:r>
          </a:p>
          <a:p>
            <a:pPr marL="533400" indent="-533400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正常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固结黏土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 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cu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 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；</a:t>
            </a:r>
            <a:r>
              <a:rPr lang="en-US" altLang="zh-CN" sz="28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8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cu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＝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=0</a:t>
            </a:r>
          </a:p>
          <a:p>
            <a:pPr marL="533400" indent="-533400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超固结黏土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     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cu</a:t>
            </a:r>
            <a:r>
              <a:rPr lang="en-US" altLang="zh-CN" sz="28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&lt;</a:t>
            </a:r>
            <a:r>
              <a:rPr lang="zh-CN" altLang="en-US" sz="2800" dirty="0">
                <a:cs typeface="Times New Roman" panose="02020603050405020304" pitchFamily="18" charset="0"/>
              </a:rPr>
              <a:t>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；</a:t>
            </a:r>
            <a:r>
              <a:rPr lang="en-US" altLang="zh-CN" sz="28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8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cu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&gt;0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6" name="Rectangle 52"/>
          <p:cNvSpPr>
            <a:spLocks noChangeArrowheads="1"/>
          </p:cNvSpPr>
          <p:nvPr/>
        </p:nvSpPr>
        <p:spPr bwMode="auto">
          <a:xfrm>
            <a:off x="674600" y="734703"/>
            <a:ext cx="523449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固结不排水三轴试验</a:t>
            </a: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243263" y="5878513"/>
            <a:ext cx="41449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固结不排水试验</a:t>
            </a:r>
          </a:p>
        </p:txBody>
      </p:sp>
    </p:spTree>
    <p:extLst>
      <p:ext uri="{BB962C8B-B14F-4D97-AF65-F5344CB8AC3E}">
        <p14:creationId xmlns:p14="http://schemas.microsoft.com/office/powerpoint/2010/main" val="291459028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 decel="100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 decel="100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dvAuto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1541849" y="3748207"/>
            <a:ext cx="665891" cy="626077"/>
          </a:xfrm>
          <a:prstGeom prst="rightArrow">
            <a:avLst>
              <a:gd name="adj1" fmla="val 49556"/>
              <a:gd name="adj2" fmla="val 5294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2453527" y="3770613"/>
            <a:ext cx="5473331" cy="1005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500" b="1" dirty="0">
                <a:solidFill>
                  <a:srgbClr val="000066"/>
                </a:solidFill>
                <a:ea typeface="幼圆" pitchFamily="49" charset="-122"/>
              </a:rPr>
              <a:t>同一种黏性土</a:t>
            </a:r>
            <a:r>
              <a:rPr kumimoji="1" lang="zh-CN" altLang="en-US" sz="2500" b="1" dirty="0" smtClean="0">
                <a:solidFill>
                  <a:srgbClr val="000066"/>
                </a:solidFill>
                <a:ea typeface="幼圆" pitchFamily="49" charset="-122"/>
              </a:rPr>
              <a:t>，密度</a:t>
            </a:r>
            <a:r>
              <a:rPr kumimoji="1" lang="en-US" altLang="zh-CN" sz="2500" b="1" dirty="0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kumimoji="1" lang="zh-CN" altLang="en-US" sz="2500" b="1" dirty="0">
                <a:solidFill>
                  <a:srgbClr val="000066"/>
                </a:solidFill>
                <a:ea typeface="幼圆" pitchFamily="49" charset="-122"/>
              </a:rPr>
              <a:t>有效应力</a:t>
            </a:r>
            <a:r>
              <a:rPr kumimoji="1" lang="en-US" altLang="zh-CN" sz="2500" b="1" dirty="0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kumimoji="1" lang="zh-CN" altLang="en-US" sz="2500" b="1" dirty="0" smtClean="0">
                <a:solidFill>
                  <a:srgbClr val="000066"/>
                </a:solidFill>
                <a:ea typeface="幼圆" pitchFamily="49" charset="-122"/>
              </a:rPr>
              <a:t>抗剪强度间是否存在某种的关系？</a:t>
            </a:r>
            <a:endParaRPr kumimoji="1" lang="zh-CN" altLang="en-US" sz="25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9901" y="1224892"/>
            <a:ext cx="5359399" cy="2085892"/>
            <a:chOff x="469901" y="2139310"/>
            <a:chExt cx="5359399" cy="2085892"/>
          </a:xfrm>
        </p:grpSpPr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469901" y="2833688"/>
              <a:ext cx="191135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dirty="0" smtClean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黏土强度</a:t>
              </a:r>
              <a:endParaRPr lang="en-US" altLang="zh-CN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AutoShape 17"/>
            <p:cNvSpPr>
              <a:spLocks/>
            </p:cNvSpPr>
            <p:nvPr/>
          </p:nvSpPr>
          <p:spPr bwMode="auto">
            <a:xfrm>
              <a:off x="2403475" y="2314575"/>
              <a:ext cx="381000" cy="1768475"/>
            </a:xfrm>
            <a:prstGeom prst="leftBrace">
              <a:avLst>
                <a:gd name="adj1" fmla="val 38681"/>
                <a:gd name="adj2" fmla="val 50000"/>
              </a:avLst>
            </a:prstGeom>
            <a:noFill/>
            <a:ln w="28575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3082925" y="2139310"/>
              <a:ext cx="2746375" cy="2085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6700" indent="-2667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buClr>
                  <a:srgbClr val="A50021"/>
                </a:buClr>
                <a:buSzPct val="115000"/>
                <a:buFontTx/>
                <a:buChar char="•"/>
              </a:pP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土</a:t>
              </a: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的</a:t>
              </a: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组成</a:t>
              </a:r>
              <a:endParaRPr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Wingdings" pitchFamily="2" charset="2"/>
              </a:endParaRPr>
            </a:p>
            <a:p>
              <a:pPr eaLnBrk="1" hangingPunct="1">
                <a:buClr>
                  <a:srgbClr val="A50021"/>
                </a:buClr>
                <a:buSzPct val="115000"/>
                <a:buFontTx/>
                <a:buChar char="•"/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土的结构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endParaRPr>
            </a:p>
            <a:p>
              <a:pPr eaLnBrk="1" hangingPunct="1">
                <a:buClr>
                  <a:srgbClr val="A50021"/>
                </a:buClr>
                <a:buSzPct val="115000"/>
                <a:buFontTx/>
                <a:buChar char="•"/>
              </a:pP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土</a:t>
              </a: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的密度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endParaRPr>
            </a:p>
            <a:p>
              <a:pPr eaLnBrk="1" hangingPunct="1">
                <a:buClr>
                  <a:srgbClr val="A50021"/>
                </a:buClr>
                <a:buSzPct val="115000"/>
                <a:buFontTx/>
                <a:buChar char="•"/>
              </a:pP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土的应力状态</a:t>
              </a:r>
              <a:endParaRPr lang="zh-CN" altLang="zh-CN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09900" y="1202714"/>
            <a:ext cx="5321300" cy="1021139"/>
            <a:chOff x="3009900" y="2257178"/>
            <a:chExt cx="5321300" cy="1021139"/>
          </a:xfrm>
        </p:grpSpPr>
        <p:sp>
          <p:nvSpPr>
            <p:cNvPr id="2" name="矩形 1"/>
            <p:cNvSpPr/>
            <p:nvPr/>
          </p:nvSpPr>
          <p:spPr bwMode="auto">
            <a:xfrm>
              <a:off x="3009900" y="2257178"/>
              <a:ext cx="2138749" cy="1021139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9" name="Text Box 36"/>
            <p:cNvSpPr txBox="1">
              <a:spLocks noChangeArrowheads="1"/>
            </p:cNvSpPr>
            <p:nvPr/>
          </p:nvSpPr>
          <p:spPr bwMode="auto">
            <a:xfrm>
              <a:off x="6154811" y="2450521"/>
              <a:ext cx="2176389" cy="506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同一种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</a:rPr>
                <a:t>土相同</a:t>
              </a:r>
              <a:endParaRPr kumimoji="1" lang="zh-CN" altLang="en-US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 bwMode="auto">
            <a:xfrm>
              <a:off x="5410200" y="2665628"/>
              <a:ext cx="63500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3023284" y="2312068"/>
            <a:ext cx="5803216" cy="1073675"/>
            <a:chOff x="3023284" y="3366532"/>
            <a:chExt cx="5803216" cy="1073675"/>
          </a:xfrm>
        </p:grpSpPr>
        <p:sp>
          <p:nvSpPr>
            <p:cNvPr id="21" name="矩形 20"/>
            <p:cNvSpPr/>
            <p:nvPr/>
          </p:nvSpPr>
          <p:spPr bwMode="auto">
            <a:xfrm>
              <a:off x="3023284" y="3366532"/>
              <a:ext cx="2606246" cy="1073675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6650111" y="3532765"/>
              <a:ext cx="2176389" cy="506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</a:rPr>
                <a:t>两者密切相关</a:t>
              </a:r>
              <a:endParaRPr kumimoji="1" lang="zh-CN" altLang="en-US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cxnSp>
          <p:nvCxnSpPr>
            <p:cNvPr id="23" name="直接箭头连接符 22"/>
            <p:cNvCxnSpPr/>
            <p:nvPr/>
          </p:nvCxnSpPr>
          <p:spPr bwMode="auto">
            <a:xfrm>
              <a:off x="5892800" y="3822700"/>
              <a:ext cx="63500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1988923" y="5467204"/>
            <a:ext cx="6613525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黏性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密度</a:t>
            </a:r>
            <a:r>
              <a:rPr lang="en-US" altLang="zh-CN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有效应力</a:t>
            </a:r>
            <a:r>
              <a:rPr lang="en-US" altLang="zh-CN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抗剪强度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/>
            </a:r>
            <a:b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唯一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性关系</a:t>
            </a:r>
          </a:p>
        </p:txBody>
      </p:sp>
    </p:spTree>
    <p:extLst>
      <p:ext uri="{BB962C8B-B14F-4D97-AF65-F5344CB8AC3E}">
        <p14:creationId xmlns:p14="http://schemas.microsoft.com/office/powerpoint/2010/main" val="316274861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210536" y="1903498"/>
            <a:ext cx="7043781" cy="3243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6700" indent="-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A50021"/>
              </a:buClr>
              <a:buSzPct val="115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对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同一种饱和正常固结黏土，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存在唯一的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有效应力强度包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线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sym typeface="Wingdings" pitchFamily="2" charset="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A50021"/>
              </a:buClr>
              <a:buSzPct val="11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土样破坏时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的密度（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含水量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）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和强度间存在唯一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性关系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sym typeface="Wingdings" pitchFamily="2" charset="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A50021"/>
              </a:buClr>
              <a:buSzPct val="115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与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试验的类型、排水条件和应力路径等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无关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sym typeface="Wingdings" pitchFamily="2" charset="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A50021"/>
              </a:buClr>
              <a:buSzPct val="11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对具有相同前期固结压力的超固结黏土也有相似的规律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86087" y="733425"/>
            <a:ext cx="7725891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0850" indent="-4508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2600" b="1" dirty="0">
                <a:solidFill>
                  <a:srgbClr val="A50021"/>
                </a:solidFill>
                <a:ea typeface="幼圆" pitchFamily="49" charset="-122"/>
              </a:rPr>
              <a:t>Henkel(1960)</a:t>
            </a:r>
            <a:r>
              <a:rPr lang="zh-CN" altLang="en-US" sz="2600" b="1" dirty="0">
                <a:solidFill>
                  <a:srgbClr val="A50021"/>
                </a:solidFill>
                <a:ea typeface="幼圆" pitchFamily="49" charset="-122"/>
              </a:rPr>
              <a:t>等学者证实，对饱和正常</a:t>
            </a:r>
            <a:r>
              <a:rPr lang="zh-CN" altLang="en-US" sz="2600" b="1" dirty="0" smtClean="0">
                <a:solidFill>
                  <a:srgbClr val="A50021"/>
                </a:solidFill>
                <a:ea typeface="幼圆" pitchFamily="49" charset="-122"/>
              </a:rPr>
              <a:t>固结黏土</a:t>
            </a:r>
            <a:r>
              <a:rPr lang="zh-CN" altLang="en-US" sz="2600" b="1" dirty="0">
                <a:solidFill>
                  <a:srgbClr val="A50021"/>
                </a:solidFill>
                <a:ea typeface="幼圆" pitchFamily="49" charset="-122"/>
              </a:rPr>
              <a:t>，在有效应力</a:t>
            </a:r>
            <a:r>
              <a:rPr lang="zh-CN" altLang="en-US" sz="26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</a:t>
            </a:r>
            <a:r>
              <a:rPr lang="zh-CN" altLang="en-US" sz="2600" b="1" dirty="0">
                <a:solidFill>
                  <a:srgbClr val="A50021"/>
                </a:solidFill>
                <a:ea typeface="幼圆" pitchFamily="49" charset="-122"/>
              </a:rPr>
              <a:t>密度</a:t>
            </a:r>
            <a:r>
              <a:rPr lang="zh-CN" altLang="en-US" sz="26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</a:t>
            </a:r>
            <a:r>
              <a:rPr lang="zh-CN" altLang="en-US" sz="2600" b="1" dirty="0">
                <a:solidFill>
                  <a:srgbClr val="A50021"/>
                </a:solidFill>
                <a:ea typeface="幼圆" pitchFamily="49" charset="-122"/>
              </a:rPr>
              <a:t>抗剪强度间存在唯一性关系：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988923" y="5557822"/>
            <a:ext cx="6613525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黏性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密度</a:t>
            </a:r>
            <a:r>
              <a:rPr lang="en-US" altLang="zh-CN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有效应力</a:t>
            </a:r>
            <a:r>
              <a:rPr lang="en-US" altLang="zh-CN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抗剪强度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/>
            </a:r>
            <a:b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唯一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性关系</a:t>
            </a:r>
          </a:p>
        </p:txBody>
      </p:sp>
    </p:spTree>
    <p:extLst>
      <p:ext uri="{BB962C8B-B14F-4D97-AF65-F5344CB8AC3E}">
        <p14:creationId xmlns:p14="http://schemas.microsoft.com/office/powerpoint/2010/main" val="327554734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469899" y="749218"/>
            <a:ext cx="62521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Weald</a:t>
            </a:r>
            <a:r>
              <a:rPr lang="zh-CN" altLang="en-US" sz="2400" b="1" dirty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黏土破坏</a:t>
            </a:r>
            <a:r>
              <a:rPr lang="zh-CN" altLang="en-US" sz="2400" b="1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时</a:t>
            </a:r>
            <a:r>
              <a:rPr lang="zh-CN" altLang="en-US" sz="2400" b="1" dirty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偏差</a:t>
            </a:r>
            <a:r>
              <a:rPr lang="zh-CN" altLang="en-US" sz="2400" b="1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应力和</a:t>
            </a:r>
            <a:r>
              <a:rPr lang="zh-CN" altLang="en-US" sz="2400" b="1" dirty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含水量</a:t>
            </a:r>
            <a:r>
              <a:rPr lang="zh-CN" altLang="en-US" sz="2400" b="1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关系</a:t>
            </a:r>
            <a:endParaRPr lang="zh-CN" altLang="en-US" sz="24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781451" y="993311"/>
            <a:ext cx="5344275" cy="4369238"/>
            <a:chOff x="1781451" y="1100405"/>
            <a:chExt cx="5344275" cy="4369238"/>
          </a:xfrm>
        </p:grpSpPr>
        <p:sp>
          <p:nvSpPr>
            <p:cNvPr id="72" name="TextBox 190"/>
            <p:cNvSpPr txBox="1">
              <a:spLocks noChangeArrowheads="1"/>
            </p:cNvSpPr>
            <p:nvPr/>
          </p:nvSpPr>
          <p:spPr bwMode="auto">
            <a:xfrm>
              <a:off x="2241356" y="1100405"/>
              <a:ext cx="415498" cy="3831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2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26</a:t>
              </a:r>
            </a:p>
            <a:p>
              <a:pPr eaLnBrk="1" hangingPunct="1">
                <a:lnSpc>
                  <a:spcPct val="2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smtClean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24</a:t>
              </a:r>
              <a:endParaRPr lang="en-US" altLang="zh-CN" sz="1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eaLnBrk="1" hangingPunct="1">
                <a:lnSpc>
                  <a:spcPct val="2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smtClean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22</a:t>
              </a:r>
              <a:endParaRPr lang="en-US" altLang="zh-CN" sz="1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eaLnBrk="1" hangingPunct="1">
                <a:lnSpc>
                  <a:spcPct val="2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smtClean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20</a:t>
              </a:r>
              <a:endParaRPr lang="en-US" altLang="zh-CN" sz="1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eaLnBrk="1" hangingPunct="1">
                <a:lnSpc>
                  <a:spcPct val="2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smtClean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18</a:t>
              </a:r>
              <a:endParaRPr lang="en-US" altLang="zh-CN" sz="1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eaLnBrk="1" hangingPunct="1">
                <a:lnSpc>
                  <a:spcPct val="2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smtClean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16</a:t>
              </a:r>
              <a:endParaRPr lang="zh-CN" altLang="en-US" sz="1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任意多边形 15"/>
            <p:cNvSpPr>
              <a:spLocks/>
            </p:cNvSpPr>
            <p:nvPr/>
          </p:nvSpPr>
          <p:spPr bwMode="auto">
            <a:xfrm>
              <a:off x="2956457" y="1602404"/>
              <a:ext cx="2815889" cy="3059117"/>
            </a:xfrm>
            <a:custGeom>
              <a:avLst/>
              <a:gdLst>
                <a:gd name="T0" fmla="*/ 0 w 3693226"/>
                <a:gd name="T1" fmla="*/ 0 h 4013859"/>
                <a:gd name="T2" fmla="*/ 528833 w 3693226"/>
                <a:gd name="T3" fmla="*/ 551929 h 4013859"/>
                <a:gd name="T4" fmla="*/ 1039838 w 3693226"/>
                <a:gd name="T5" fmla="*/ 1121666 h 4013859"/>
                <a:gd name="T6" fmla="*/ 1663743 w 3693226"/>
                <a:gd name="T7" fmla="*/ 1810096 h 4013859"/>
                <a:gd name="T8" fmla="*/ 2477787 w 3693226"/>
                <a:gd name="T9" fmla="*/ 2700306 h 4013859"/>
                <a:gd name="T10" fmla="*/ 2953142 w 3693226"/>
                <a:gd name="T11" fmla="*/ 3222563 h 4013859"/>
                <a:gd name="T12" fmla="*/ 3404730 w 3693226"/>
                <a:gd name="T13" fmla="*/ 3715146 h 4013859"/>
                <a:gd name="T14" fmla="*/ 3695884 w 3693226"/>
                <a:gd name="T15" fmla="*/ 4011882 h 40138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93226" h="4013859">
                  <a:moveTo>
                    <a:pt x="0" y="0"/>
                  </a:moveTo>
                  <a:cubicBezTo>
                    <a:pt x="177635" y="182583"/>
                    <a:pt x="355270" y="365166"/>
                    <a:pt x="528452" y="552202"/>
                  </a:cubicBezTo>
                  <a:cubicBezTo>
                    <a:pt x="701634" y="739238"/>
                    <a:pt x="1039091" y="1122218"/>
                    <a:pt x="1039091" y="1122218"/>
                  </a:cubicBezTo>
                  <a:lnTo>
                    <a:pt x="1662546" y="1810987"/>
                  </a:lnTo>
                  <a:lnTo>
                    <a:pt x="2476005" y="2701636"/>
                  </a:lnTo>
                  <a:lnTo>
                    <a:pt x="2951018" y="3224150"/>
                  </a:lnTo>
                  <a:cubicBezTo>
                    <a:pt x="3105397" y="3393373"/>
                    <a:pt x="3278580" y="3585358"/>
                    <a:pt x="3402281" y="3716976"/>
                  </a:cubicBezTo>
                  <a:cubicBezTo>
                    <a:pt x="3525982" y="3848594"/>
                    <a:pt x="3609604" y="3931226"/>
                    <a:pt x="3693226" y="4013859"/>
                  </a:cubicBezTo>
                </a:path>
              </a:pathLst>
            </a:cu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任意多边形 16"/>
            <p:cNvSpPr>
              <a:spLocks/>
            </p:cNvSpPr>
            <p:nvPr/>
          </p:nvSpPr>
          <p:spPr bwMode="auto">
            <a:xfrm>
              <a:off x="2830607" y="2258275"/>
              <a:ext cx="2928427" cy="2389936"/>
            </a:xfrm>
            <a:custGeom>
              <a:avLst/>
              <a:gdLst>
                <a:gd name="T0" fmla="*/ 0 w 3841667"/>
                <a:gd name="T1" fmla="*/ 0 h 3135085"/>
                <a:gd name="T2" fmla="*/ 504734 w 3841667"/>
                <a:gd name="T3" fmla="*/ 285071 h 3135085"/>
                <a:gd name="T4" fmla="*/ 1110414 w 3841667"/>
                <a:gd name="T5" fmla="*/ 688919 h 3135085"/>
                <a:gd name="T6" fmla="*/ 1698282 w 3841667"/>
                <a:gd name="T7" fmla="*/ 1140280 h 3135085"/>
                <a:gd name="T8" fmla="*/ 2321776 w 3841667"/>
                <a:gd name="T9" fmla="*/ 1686665 h 3135085"/>
                <a:gd name="T10" fmla="*/ 2874014 w 3841667"/>
                <a:gd name="T11" fmla="*/ 2185536 h 3135085"/>
                <a:gd name="T12" fmla="*/ 3378748 w 3841667"/>
                <a:gd name="T13" fmla="*/ 2678470 h 3135085"/>
                <a:gd name="T14" fmla="*/ 3841916 w 3841667"/>
                <a:gd name="T15" fmla="*/ 3135769 h 31350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41667" h="3135085">
                  <a:moveTo>
                    <a:pt x="0" y="0"/>
                  </a:moveTo>
                  <a:cubicBezTo>
                    <a:pt x="159822" y="85106"/>
                    <a:pt x="319644" y="170213"/>
                    <a:pt x="504701" y="285008"/>
                  </a:cubicBezTo>
                  <a:cubicBezTo>
                    <a:pt x="689758" y="399803"/>
                    <a:pt x="911430" y="546265"/>
                    <a:pt x="1110342" y="688769"/>
                  </a:cubicBezTo>
                  <a:cubicBezTo>
                    <a:pt x="1309254" y="831273"/>
                    <a:pt x="1496290" y="973777"/>
                    <a:pt x="1698171" y="1140031"/>
                  </a:cubicBezTo>
                  <a:cubicBezTo>
                    <a:pt x="1900052" y="1306285"/>
                    <a:pt x="2125683" y="1512125"/>
                    <a:pt x="2321626" y="1686296"/>
                  </a:cubicBezTo>
                  <a:cubicBezTo>
                    <a:pt x="2517569" y="1860467"/>
                    <a:pt x="2697678" y="2019794"/>
                    <a:pt x="2873828" y="2185059"/>
                  </a:cubicBezTo>
                  <a:cubicBezTo>
                    <a:pt x="3049979" y="2350324"/>
                    <a:pt x="3378529" y="2677885"/>
                    <a:pt x="3378529" y="2677885"/>
                  </a:cubicBezTo>
                  <a:lnTo>
                    <a:pt x="3841667" y="3135085"/>
                  </a:lnTo>
                </a:path>
              </a:pathLst>
            </a:custGeom>
            <a:noFill/>
            <a:ln w="1905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 1"/>
            <p:cNvSpPr>
              <a:spLocks noChangeArrowheads="1"/>
            </p:cNvSpPr>
            <p:nvPr/>
          </p:nvSpPr>
          <p:spPr bwMode="auto">
            <a:xfrm>
              <a:off x="2718069" y="1603615"/>
              <a:ext cx="3739190" cy="3048226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cxnSp>
          <p:nvCxnSpPr>
            <p:cNvPr id="13" name="直接连接符 121"/>
            <p:cNvCxnSpPr>
              <a:cxnSpLocks noChangeShapeType="1"/>
            </p:cNvCxnSpPr>
            <p:nvPr/>
          </p:nvCxnSpPr>
          <p:spPr bwMode="auto">
            <a:xfrm rot="5400000">
              <a:off x="2747111" y="2163888"/>
              <a:ext cx="0" cy="5808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22"/>
            <p:cNvCxnSpPr>
              <a:cxnSpLocks noChangeShapeType="1"/>
            </p:cNvCxnSpPr>
            <p:nvPr/>
          </p:nvCxnSpPr>
          <p:spPr bwMode="auto">
            <a:xfrm rot="5400000">
              <a:off x="2741665" y="2774381"/>
              <a:ext cx="0" cy="5687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123"/>
            <p:cNvCxnSpPr>
              <a:cxnSpLocks noChangeShapeType="1"/>
            </p:cNvCxnSpPr>
            <p:nvPr/>
          </p:nvCxnSpPr>
          <p:spPr bwMode="auto">
            <a:xfrm rot="5400000">
              <a:off x="2741665" y="3393949"/>
              <a:ext cx="0" cy="5687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124"/>
            <p:cNvCxnSpPr>
              <a:cxnSpLocks noChangeShapeType="1"/>
            </p:cNvCxnSpPr>
            <p:nvPr/>
          </p:nvCxnSpPr>
          <p:spPr bwMode="auto">
            <a:xfrm rot="5400000">
              <a:off x="2741665" y="4013516"/>
              <a:ext cx="0" cy="5687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127"/>
            <p:cNvCxnSpPr>
              <a:cxnSpLocks noChangeShapeType="1"/>
            </p:cNvCxnSpPr>
            <p:nvPr/>
          </p:nvCxnSpPr>
          <p:spPr bwMode="auto">
            <a:xfrm rot="5400000">
              <a:off x="6431243" y="2169333"/>
              <a:ext cx="0" cy="5687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128"/>
            <p:cNvCxnSpPr>
              <a:cxnSpLocks noChangeShapeType="1"/>
            </p:cNvCxnSpPr>
            <p:nvPr/>
          </p:nvCxnSpPr>
          <p:spPr bwMode="auto">
            <a:xfrm rot="5400000">
              <a:off x="6431243" y="2779220"/>
              <a:ext cx="0" cy="5687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接连接符 129"/>
            <p:cNvCxnSpPr>
              <a:cxnSpLocks noChangeShapeType="1"/>
            </p:cNvCxnSpPr>
            <p:nvPr/>
          </p:nvCxnSpPr>
          <p:spPr bwMode="auto">
            <a:xfrm rot="5400000">
              <a:off x="6426402" y="3398788"/>
              <a:ext cx="0" cy="5687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130"/>
            <p:cNvCxnSpPr>
              <a:cxnSpLocks noChangeShapeType="1"/>
            </p:cNvCxnSpPr>
            <p:nvPr/>
          </p:nvCxnSpPr>
          <p:spPr bwMode="auto">
            <a:xfrm rot="5400000">
              <a:off x="6431243" y="4018356"/>
              <a:ext cx="0" cy="5687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矩形 9"/>
            <p:cNvSpPr>
              <a:spLocks noChangeArrowheads="1"/>
            </p:cNvSpPr>
            <p:nvPr/>
          </p:nvSpPr>
          <p:spPr bwMode="auto">
            <a:xfrm>
              <a:off x="4886087" y="2136056"/>
              <a:ext cx="62925" cy="62925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22" name="矩形 133"/>
            <p:cNvSpPr>
              <a:spLocks noChangeArrowheads="1"/>
            </p:cNvSpPr>
            <p:nvPr/>
          </p:nvSpPr>
          <p:spPr bwMode="auto">
            <a:xfrm>
              <a:off x="4900441" y="3038786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23" name="椭圆 11"/>
            <p:cNvSpPr>
              <a:spLocks noChangeArrowheads="1"/>
            </p:cNvSpPr>
            <p:nvPr/>
          </p:nvSpPr>
          <p:spPr bwMode="auto">
            <a:xfrm>
              <a:off x="4895600" y="3283504"/>
              <a:ext cx="71395" cy="71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24" name="TextBox 12"/>
            <p:cNvSpPr txBox="1">
              <a:spLocks noChangeArrowheads="1"/>
            </p:cNvSpPr>
            <p:nvPr/>
          </p:nvSpPr>
          <p:spPr bwMode="auto">
            <a:xfrm>
              <a:off x="4990135" y="2874632"/>
              <a:ext cx="1063112" cy="365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700" b="1" dirty="0">
                  <a:solidFill>
                    <a:srgbClr val="000066"/>
                  </a:solidFill>
                </a:rPr>
                <a:t>不排水剪</a:t>
              </a:r>
            </a:p>
          </p:txBody>
        </p:sp>
        <p:sp>
          <p:nvSpPr>
            <p:cNvPr id="25" name="TextBox 136"/>
            <p:cNvSpPr txBox="1">
              <a:spLocks noChangeArrowheads="1"/>
            </p:cNvSpPr>
            <p:nvPr/>
          </p:nvSpPr>
          <p:spPr bwMode="auto">
            <a:xfrm>
              <a:off x="4994976" y="3152535"/>
              <a:ext cx="1063112" cy="365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700" b="1" dirty="0">
                  <a:solidFill>
                    <a:srgbClr val="000066"/>
                  </a:solidFill>
                </a:rPr>
                <a:t>排水压缩</a:t>
              </a:r>
            </a:p>
          </p:txBody>
        </p:sp>
        <p:sp>
          <p:nvSpPr>
            <p:cNvPr id="26" name="TextBox 137"/>
            <p:cNvSpPr txBox="1">
              <a:spLocks noChangeArrowheads="1"/>
            </p:cNvSpPr>
            <p:nvPr/>
          </p:nvSpPr>
          <p:spPr bwMode="auto">
            <a:xfrm>
              <a:off x="4953478" y="2017467"/>
              <a:ext cx="1063112" cy="365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700" b="1" dirty="0">
                  <a:solidFill>
                    <a:srgbClr val="000066"/>
                  </a:solidFill>
                </a:rPr>
                <a:t>不排水剪</a:t>
              </a:r>
            </a:p>
          </p:txBody>
        </p:sp>
        <p:sp>
          <p:nvSpPr>
            <p:cNvPr id="27" name="TextBox 138"/>
            <p:cNvSpPr txBox="1">
              <a:spLocks noChangeArrowheads="1"/>
            </p:cNvSpPr>
            <p:nvPr/>
          </p:nvSpPr>
          <p:spPr bwMode="auto">
            <a:xfrm>
              <a:off x="4982353" y="2248594"/>
              <a:ext cx="1063112" cy="365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700" b="1" dirty="0">
                  <a:solidFill>
                    <a:srgbClr val="000066"/>
                  </a:solidFill>
                </a:rPr>
                <a:t>排水压缩</a:t>
              </a:r>
            </a:p>
          </p:txBody>
        </p:sp>
        <p:sp>
          <p:nvSpPr>
            <p:cNvPr id="28" name="TextBox 141"/>
            <p:cNvSpPr txBox="1">
              <a:spLocks noChangeArrowheads="1"/>
            </p:cNvSpPr>
            <p:nvPr/>
          </p:nvSpPr>
          <p:spPr bwMode="auto">
            <a:xfrm>
              <a:off x="4459811" y="1736678"/>
              <a:ext cx="1063112" cy="354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700" b="1" dirty="0">
                  <a:solidFill>
                    <a:srgbClr val="00006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正常固结</a:t>
              </a:r>
            </a:p>
          </p:txBody>
        </p:sp>
        <p:sp>
          <p:nvSpPr>
            <p:cNvPr id="29" name="TextBox 142"/>
            <p:cNvSpPr txBox="1">
              <a:spLocks noChangeArrowheads="1"/>
            </p:cNvSpPr>
            <p:nvPr/>
          </p:nvSpPr>
          <p:spPr bwMode="auto">
            <a:xfrm>
              <a:off x="4452551" y="2545021"/>
              <a:ext cx="1999265" cy="393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700" b="1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超固结</a:t>
              </a:r>
              <a:r>
                <a:rPr lang="en-US" altLang="zh-CN" sz="1700" b="1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700" b="1" i="1" dirty="0" err="1" smtClean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σ</a:t>
              </a:r>
              <a:r>
                <a:rPr lang="en-US" altLang="zh-CN" sz="1700" b="1" baseline="-25000" dirty="0" err="1" smtClean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700" b="1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=827kPa)</a:t>
              </a:r>
              <a:endParaRPr lang="zh-CN" altLang="en-US" sz="1700" b="1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矩形 143"/>
            <p:cNvSpPr>
              <a:spLocks noChangeArrowheads="1"/>
            </p:cNvSpPr>
            <p:nvPr/>
          </p:nvSpPr>
          <p:spPr bwMode="auto">
            <a:xfrm>
              <a:off x="3158543" y="1815381"/>
              <a:ext cx="62925" cy="629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31" name="矩形 145"/>
            <p:cNvSpPr>
              <a:spLocks noChangeArrowheads="1"/>
            </p:cNvSpPr>
            <p:nvPr/>
          </p:nvSpPr>
          <p:spPr bwMode="auto">
            <a:xfrm>
              <a:off x="3713976" y="2342982"/>
              <a:ext cx="62925" cy="62925"/>
            </a:xfrm>
            <a:prstGeom prst="rect">
              <a:avLst/>
            </a:prstGeom>
            <a:solidFill>
              <a:srgbClr val="A50021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32" name="椭圆 146"/>
            <p:cNvSpPr>
              <a:spLocks noChangeArrowheads="1"/>
            </p:cNvSpPr>
            <p:nvPr/>
          </p:nvSpPr>
          <p:spPr bwMode="auto">
            <a:xfrm>
              <a:off x="4878826" y="2382217"/>
              <a:ext cx="71396" cy="71396"/>
            </a:xfrm>
            <a:prstGeom prst="ellipse">
              <a:avLst/>
            </a:prstGeom>
            <a:solidFill>
              <a:schemeClr val="accent5">
                <a:lumMod val="90000"/>
              </a:schemeClr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33" name="椭圆 147"/>
            <p:cNvSpPr>
              <a:spLocks noChangeArrowheads="1"/>
            </p:cNvSpPr>
            <p:nvPr/>
          </p:nvSpPr>
          <p:spPr bwMode="auto">
            <a:xfrm>
              <a:off x="3229938" y="1879516"/>
              <a:ext cx="71396" cy="7139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34" name="矩形 148"/>
            <p:cNvSpPr>
              <a:spLocks noChangeArrowheads="1"/>
            </p:cNvSpPr>
            <p:nvPr/>
          </p:nvSpPr>
          <p:spPr bwMode="auto">
            <a:xfrm>
              <a:off x="3713976" y="2345402"/>
              <a:ext cx="62925" cy="629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35" name="椭圆 149"/>
            <p:cNvSpPr>
              <a:spLocks noChangeArrowheads="1"/>
            </p:cNvSpPr>
            <p:nvPr/>
          </p:nvSpPr>
          <p:spPr bwMode="auto">
            <a:xfrm>
              <a:off x="3350948" y="2085232"/>
              <a:ext cx="71396" cy="7139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36" name="矩形 151"/>
            <p:cNvSpPr>
              <a:spLocks noChangeArrowheads="1"/>
            </p:cNvSpPr>
            <p:nvPr/>
          </p:nvSpPr>
          <p:spPr bwMode="auto">
            <a:xfrm>
              <a:off x="4178652" y="2900835"/>
              <a:ext cx="62925" cy="629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37" name="矩形 152"/>
            <p:cNvSpPr>
              <a:spLocks noChangeArrowheads="1"/>
            </p:cNvSpPr>
            <p:nvPr/>
          </p:nvSpPr>
          <p:spPr bwMode="auto">
            <a:xfrm>
              <a:off x="4064904" y="2857272"/>
              <a:ext cx="62925" cy="629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38" name="矩形 153"/>
            <p:cNvSpPr>
              <a:spLocks noChangeArrowheads="1"/>
            </p:cNvSpPr>
            <p:nvPr/>
          </p:nvSpPr>
          <p:spPr bwMode="auto">
            <a:xfrm>
              <a:off x="4631228" y="3554286"/>
              <a:ext cx="62925" cy="629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39" name="椭圆 154"/>
            <p:cNvSpPr>
              <a:spLocks noChangeArrowheads="1"/>
            </p:cNvSpPr>
            <p:nvPr/>
          </p:nvSpPr>
          <p:spPr bwMode="auto">
            <a:xfrm>
              <a:off x="4096366" y="2817339"/>
              <a:ext cx="71396" cy="71396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40" name="矩形 155"/>
            <p:cNvSpPr>
              <a:spLocks noChangeArrowheads="1"/>
            </p:cNvSpPr>
            <p:nvPr/>
          </p:nvSpPr>
          <p:spPr bwMode="auto">
            <a:xfrm>
              <a:off x="4407361" y="3221510"/>
              <a:ext cx="62925" cy="629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41" name="矩形 156"/>
            <p:cNvSpPr>
              <a:spLocks noChangeArrowheads="1"/>
            </p:cNvSpPr>
            <p:nvPr/>
          </p:nvSpPr>
          <p:spPr bwMode="auto">
            <a:xfrm>
              <a:off x="4576773" y="3418756"/>
              <a:ext cx="62925" cy="629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42" name="矩形 157"/>
            <p:cNvSpPr>
              <a:spLocks noChangeArrowheads="1"/>
            </p:cNvSpPr>
            <p:nvPr/>
          </p:nvSpPr>
          <p:spPr bwMode="auto">
            <a:xfrm>
              <a:off x="5076542" y="3887062"/>
              <a:ext cx="62925" cy="629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43" name="矩形 158"/>
            <p:cNvSpPr>
              <a:spLocks noChangeArrowheads="1"/>
            </p:cNvSpPr>
            <p:nvPr/>
          </p:nvSpPr>
          <p:spPr bwMode="auto">
            <a:xfrm>
              <a:off x="5602933" y="4478797"/>
              <a:ext cx="62925" cy="62925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44" name="椭圆 159"/>
            <p:cNvSpPr>
              <a:spLocks noChangeArrowheads="1"/>
            </p:cNvSpPr>
            <p:nvPr/>
          </p:nvSpPr>
          <p:spPr bwMode="auto">
            <a:xfrm>
              <a:off x="3677673" y="2447049"/>
              <a:ext cx="71396" cy="71396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45" name="椭圆 160"/>
            <p:cNvSpPr>
              <a:spLocks noChangeArrowheads="1"/>
            </p:cNvSpPr>
            <p:nvPr/>
          </p:nvSpPr>
          <p:spPr bwMode="auto">
            <a:xfrm>
              <a:off x="3868868" y="2472462"/>
              <a:ext cx="71396" cy="7139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46" name="椭圆 161"/>
            <p:cNvSpPr>
              <a:spLocks noChangeArrowheads="1"/>
            </p:cNvSpPr>
            <p:nvPr/>
          </p:nvSpPr>
          <p:spPr bwMode="auto">
            <a:xfrm>
              <a:off x="4371057" y="3128333"/>
              <a:ext cx="71395" cy="7139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47" name="椭圆 163"/>
            <p:cNvSpPr>
              <a:spLocks noChangeArrowheads="1"/>
            </p:cNvSpPr>
            <p:nvPr/>
          </p:nvSpPr>
          <p:spPr bwMode="auto">
            <a:xfrm>
              <a:off x="4463025" y="3185207"/>
              <a:ext cx="71395" cy="71396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48" name="椭圆 164"/>
            <p:cNvSpPr>
              <a:spLocks noChangeArrowheads="1"/>
            </p:cNvSpPr>
            <p:nvPr/>
          </p:nvSpPr>
          <p:spPr bwMode="auto">
            <a:xfrm>
              <a:off x="4787330" y="3566387"/>
              <a:ext cx="71395" cy="7139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49" name="椭圆 165"/>
            <p:cNvSpPr>
              <a:spLocks noChangeArrowheads="1"/>
            </p:cNvSpPr>
            <p:nvPr/>
          </p:nvSpPr>
          <p:spPr bwMode="auto">
            <a:xfrm>
              <a:off x="5130996" y="3876171"/>
              <a:ext cx="71395" cy="71395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50" name="椭圆 166"/>
            <p:cNvSpPr>
              <a:spLocks noChangeArrowheads="1"/>
            </p:cNvSpPr>
            <p:nvPr/>
          </p:nvSpPr>
          <p:spPr bwMode="auto">
            <a:xfrm>
              <a:off x="5255636" y="4121819"/>
              <a:ext cx="71396" cy="71396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51" name="椭圆 167"/>
            <p:cNvSpPr>
              <a:spLocks noChangeArrowheads="1"/>
            </p:cNvSpPr>
            <p:nvPr/>
          </p:nvSpPr>
          <p:spPr bwMode="auto">
            <a:xfrm>
              <a:off x="5703371" y="4593756"/>
              <a:ext cx="71396" cy="71396"/>
            </a:xfrm>
            <a:prstGeom prst="ellipse">
              <a:avLst/>
            </a:prstGeom>
            <a:solidFill>
              <a:srgbClr val="FFFF00"/>
            </a:solidFill>
            <a:ln w="9525" algn="ctr">
              <a:solidFill>
                <a:srgbClr val="A50021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52" name="矩形 168"/>
            <p:cNvSpPr>
              <a:spLocks noChangeArrowheads="1"/>
            </p:cNvSpPr>
            <p:nvPr/>
          </p:nvSpPr>
          <p:spPr bwMode="auto">
            <a:xfrm>
              <a:off x="3470748" y="2572899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53" name="椭圆 169"/>
            <p:cNvSpPr>
              <a:spLocks noChangeArrowheads="1"/>
            </p:cNvSpPr>
            <p:nvPr/>
          </p:nvSpPr>
          <p:spPr bwMode="auto">
            <a:xfrm>
              <a:off x="2859650" y="2223182"/>
              <a:ext cx="71396" cy="7260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54" name="矩形 170"/>
            <p:cNvSpPr>
              <a:spLocks noChangeArrowheads="1"/>
            </p:cNvSpPr>
            <p:nvPr/>
          </p:nvSpPr>
          <p:spPr bwMode="auto">
            <a:xfrm>
              <a:off x="3709135" y="2822179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55" name="矩形 171"/>
            <p:cNvSpPr>
              <a:spLocks noChangeArrowheads="1"/>
            </p:cNvSpPr>
            <p:nvPr/>
          </p:nvSpPr>
          <p:spPr bwMode="auto">
            <a:xfrm>
              <a:off x="3528832" y="2668497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56" name="矩形 172"/>
            <p:cNvSpPr>
              <a:spLocks noChangeArrowheads="1"/>
            </p:cNvSpPr>
            <p:nvPr/>
          </p:nvSpPr>
          <p:spPr bwMode="auto">
            <a:xfrm>
              <a:off x="3903961" y="3153745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57" name="矩形 173"/>
            <p:cNvSpPr>
              <a:spLocks noChangeArrowheads="1"/>
            </p:cNvSpPr>
            <p:nvPr/>
          </p:nvSpPr>
          <p:spPr bwMode="auto">
            <a:xfrm>
              <a:off x="4205275" y="3158585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58" name="矩形 174"/>
            <p:cNvSpPr>
              <a:spLocks noChangeArrowheads="1"/>
            </p:cNvSpPr>
            <p:nvPr/>
          </p:nvSpPr>
          <p:spPr bwMode="auto">
            <a:xfrm>
              <a:off x="4494487" y="3481680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59" name="矩形 175"/>
            <p:cNvSpPr>
              <a:spLocks noChangeArrowheads="1"/>
            </p:cNvSpPr>
            <p:nvPr/>
          </p:nvSpPr>
          <p:spPr bwMode="auto">
            <a:xfrm>
              <a:off x="4684472" y="3622051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60" name="矩形 177"/>
            <p:cNvSpPr>
              <a:spLocks noChangeArrowheads="1"/>
            </p:cNvSpPr>
            <p:nvPr/>
          </p:nvSpPr>
          <p:spPr bwMode="auto">
            <a:xfrm>
              <a:off x="4881718" y="3807195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61" name="矩形 178"/>
            <p:cNvSpPr>
              <a:spLocks noChangeArrowheads="1"/>
            </p:cNvSpPr>
            <p:nvPr/>
          </p:nvSpPr>
          <p:spPr bwMode="auto">
            <a:xfrm>
              <a:off x="5192711" y="4060105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62" name="椭圆 180"/>
            <p:cNvSpPr>
              <a:spLocks noChangeArrowheads="1"/>
            </p:cNvSpPr>
            <p:nvPr/>
          </p:nvSpPr>
          <p:spPr bwMode="auto">
            <a:xfrm>
              <a:off x="2894743" y="2310309"/>
              <a:ext cx="72606" cy="713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63" name="椭圆 181"/>
            <p:cNvSpPr>
              <a:spLocks noChangeArrowheads="1"/>
            </p:cNvSpPr>
            <p:nvPr/>
          </p:nvSpPr>
          <p:spPr bwMode="auto">
            <a:xfrm>
              <a:off x="3429605" y="2651556"/>
              <a:ext cx="71395" cy="713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64" name="椭圆 182"/>
            <p:cNvSpPr>
              <a:spLocks noChangeArrowheads="1"/>
            </p:cNvSpPr>
            <p:nvPr/>
          </p:nvSpPr>
          <p:spPr bwMode="auto">
            <a:xfrm>
              <a:off x="3903961" y="3048467"/>
              <a:ext cx="71395" cy="713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65" name="椭圆 183"/>
            <p:cNvSpPr>
              <a:spLocks noChangeArrowheads="1"/>
            </p:cNvSpPr>
            <p:nvPr/>
          </p:nvSpPr>
          <p:spPr bwMode="auto">
            <a:xfrm>
              <a:off x="4453344" y="3392134"/>
              <a:ext cx="71395" cy="713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66" name="椭圆 184"/>
            <p:cNvSpPr>
              <a:spLocks noChangeArrowheads="1"/>
            </p:cNvSpPr>
            <p:nvPr/>
          </p:nvSpPr>
          <p:spPr bwMode="auto">
            <a:xfrm>
              <a:off x="4760708" y="3727329"/>
              <a:ext cx="71395" cy="713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67" name="椭圆 185"/>
            <p:cNvSpPr>
              <a:spLocks noChangeArrowheads="1"/>
            </p:cNvSpPr>
            <p:nvPr/>
          </p:nvSpPr>
          <p:spPr bwMode="auto">
            <a:xfrm>
              <a:off x="5106795" y="4002021"/>
              <a:ext cx="71395" cy="713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68" name="矩形 186"/>
            <p:cNvSpPr>
              <a:spLocks noChangeArrowheads="1"/>
            </p:cNvSpPr>
            <p:nvPr/>
          </p:nvSpPr>
          <p:spPr bwMode="auto">
            <a:xfrm>
              <a:off x="5068072" y="3970559"/>
              <a:ext cx="62925" cy="629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algn="ctr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/>
            <a:p>
              <a:pPr defTabSz="1101725"/>
              <a:endParaRPr lang="zh-CN" altLang="en-US" sz="2200"/>
            </a:p>
          </p:txBody>
        </p:sp>
        <p:sp>
          <p:nvSpPr>
            <p:cNvPr id="69" name="TextBox 187"/>
            <p:cNvSpPr txBox="1">
              <a:spLocks noChangeArrowheads="1"/>
            </p:cNvSpPr>
            <p:nvPr/>
          </p:nvSpPr>
          <p:spPr bwMode="auto">
            <a:xfrm rot="16200000">
              <a:off x="718308" y="2490095"/>
              <a:ext cx="2541080" cy="414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破坏含水量 </a:t>
              </a:r>
              <a:r>
                <a:rPr lang="en-US" altLang="zh-CN" sz="2000" b="1" i="1" dirty="0" err="1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="1" baseline="-25000" dirty="0" err="1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f</a:t>
              </a:r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%</a:t>
              </a:r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70" name="TextBox 188"/>
            <p:cNvSpPr txBox="1">
              <a:spLocks noChangeArrowheads="1"/>
            </p:cNvSpPr>
            <p:nvPr/>
          </p:nvSpPr>
          <p:spPr bwMode="auto">
            <a:xfrm>
              <a:off x="3411221" y="5054849"/>
              <a:ext cx="3563796" cy="414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破坏偏差应力</a:t>
              </a:r>
              <a:r>
                <a: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(</a:t>
              </a:r>
              <a:r>
                <a:rPr lang="en-US" altLang="zh-CN" sz="20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σ</a:t>
              </a:r>
              <a:r>
                <a:rPr lang="en-US" altLang="zh-CN" sz="20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-</a:t>
              </a:r>
              <a:r>
                <a:rPr lang="en-US" altLang="zh-CN" sz="20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σ</a:t>
              </a:r>
              <a:r>
                <a:rPr lang="en-US" altLang="zh-CN" sz="20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lang="en-US" altLang="zh-CN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)</a:t>
              </a:r>
              <a:r>
                <a:rPr lang="en-US" altLang="zh-CN" sz="20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f</a:t>
              </a:r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（</a:t>
              </a:r>
              <a:r>
                <a:rPr lang="en-US" altLang="zh-CN" sz="2000" b="1" dirty="0" err="1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kPa</a:t>
              </a:r>
              <a:r>
                <a:rPr lang="zh-CN" altLang="en-US" sz="20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71" name="TextBox 189"/>
            <p:cNvSpPr txBox="1">
              <a:spLocks noChangeArrowheads="1"/>
            </p:cNvSpPr>
            <p:nvPr/>
          </p:nvSpPr>
          <p:spPr bwMode="auto">
            <a:xfrm>
              <a:off x="2495085" y="4678463"/>
              <a:ext cx="4630641" cy="410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1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800" b="1" dirty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40     </a:t>
              </a:r>
              <a:r>
                <a:rPr lang="en-US" altLang="zh-CN" sz="1800" b="1" dirty="0" smtClean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      </a:t>
              </a:r>
              <a:r>
                <a:rPr lang="en-US" altLang="zh-CN" sz="1800" b="1" dirty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100  </a:t>
              </a:r>
              <a:r>
                <a:rPr lang="en-US" altLang="zh-CN" sz="1800" b="1" dirty="0" smtClean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   </a:t>
              </a:r>
              <a:r>
                <a:rPr lang="en-US" altLang="zh-CN" sz="1800" b="1" dirty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200  </a:t>
              </a:r>
              <a:r>
                <a:rPr lang="en-US" altLang="zh-CN" sz="1800" b="1" dirty="0" smtClean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    </a:t>
              </a:r>
              <a:r>
                <a:rPr lang="en-US" altLang="zh-CN" sz="1800" b="1" dirty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400   </a:t>
              </a:r>
              <a:r>
                <a:rPr lang="en-US" altLang="zh-CN" sz="1800" b="1" dirty="0" smtClean="0">
                  <a:solidFill>
                    <a:srgbClr val="000066"/>
                  </a:solidFill>
                  <a:latin typeface="Times New Roman" pitchFamily="18" charset="0"/>
                  <a:cs typeface="Times New Roman" pitchFamily="18" charset="0"/>
                </a:rPr>
                <a:t>     1000    2000</a:t>
              </a:r>
              <a:endParaRPr lang="zh-CN" altLang="en-US" sz="1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73" name="直接连接符 82"/>
            <p:cNvCxnSpPr>
              <a:cxnSpLocks noChangeShapeType="1"/>
            </p:cNvCxnSpPr>
            <p:nvPr/>
          </p:nvCxnSpPr>
          <p:spPr bwMode="auto">
            <a:xfrm>
              <a:off x="2718069" y="4597386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83"/>
            <p:cNvCxnSpPr>
              <a:cxnSpLocks noChangeShapeType="1"/>
            </p:cNvCxnSpPr>
            <p:nvPr/>
          </p:nvCxnSpPr>
          <p:spPr bwMode="auto">
            <a:xfrm>
              <a:off x="2931046" y="4596176"/>
              <a:ext cx="0" cy="5445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84"/>
            <p:cNvCxnSpPr>
              <a:cxnSpLocks noChangeShapeType="1"/>
            </p:cNvCxnSpPr>
            <p:nvPr/>
          </p:nvCxnSpPr>
          <p:spPr bwMode="auto">
            <a:xfrm>
              <a:off x="3105299" y="4594967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连接符 85"/>
            <p:cNvCxnSpPr>
              <a:cxnSpLocks noChangeShapeType="1"/>
            </p:cNvCxnSpPr>
            <p:nvPr/>
          </p:nvCxnSpPr>
          <p:spPr bwMode="auto">
            <a:xfrm>
              <a:off x="3256560" y="4593756"/>
              <a:ext cx="0" cy="5445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直接连接符 86"/>
            <p:cNvCxnSpPr>
              <a:cxnSpLocks noChangeShapeType="1"/>
            </p:cNvCxnSpPr>
            <p:nvPr/>
          </p:nvCxnSpPr>
          <p:spPr bwMode="auto">
            <a:xfrm>
              <a:off x="3382410" y="4592546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直接连接符 87"/>
            <p:cNvCxnSpPr>
              <a:cxnSpLocks noChangeShapeType="1"/>
            </p:cNvCxnSpPr>
            <p:nvPr/>
          </p:nvCxnSpPr>
          <p:spPr bwMode="auto">
            <a:xfrm>
              <a:off x="3492529" y="4591336"/>
              <a:ext cx="0" cy="5445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直接连接符 88"/>
            <p:cNvCxnSpPr>
              <a:cxnSpLocks noChangeShapeType="1"/>
            </p:cNvCxnSpPr>
            <p:nvPr/>
          </p:nvCxnSpPr>
          <p:spPr bwMode="auto">
            <a:xfrm>
              <a:off x="3594177" y="4590126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直接连接符 89"/>
            <p:cNvCxnSpPr>
              <a:cxnSpLocks noChangeShapeType="1"/>
            </p:cNvCxnSpPr>
            <p:nvPr/>
          </p:nvCxnSpPr>
          <p:spPr bwMode="auto">
            <a:xfrm>
              <a:off x="4256098" y="4592546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直接连接符 90"/>
            <p:cNvCxnSpPr>
              <a:cxnSpLocks noChangeShapeType="1"/>
            </p:cNvCxnSpPr>
            <p:nvPr/>
          </p:nvCxnSpPr>
          <p:spPr bwMode="auto">
            <a:xfrm>
              <a:off x="4644539" y="4594967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直接连接符 91"/>
            <p:cNvCxnSpPr>
              <a:cxnSpLocks noChangeShapeType="1"/>
            </p:cNvCxnSpPr>
            <p:nvPr/>
          </p:nvCxnSpPr>
          <p:spPr bwMode="auto">
            <a:xfrm>
              <a:off x="4915600" y="4597386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直接连接符 92"/>
            <p:cNvCxnSpPr>
              <a:cxnSpLocks noChangeShapeType="1"/>
            </p:cNvCxnSpPr>
            <p:nvPr/>
          </p:nvCxnSpPr>
          <p:spPr bwMode="auto">
            <a:xfrm>
              <a:off x="5132206" y="4596176"/>
              <a:ext cx="0" cy="5445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直接连接符 93"/>
            <p:cNvCxnSpPr>
              <a:cxnSpLocks noChangeShapeType="1"/>
            </p:cNvCxnSpPr>
            <p:nvPr/>
          </p:nvCxnSpPr>
          <p:spPr bwMode="auto">
            <a:xfrm>
              <a:off x="5306459" y="4594967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直接连接符 94"/>
            <p:cNvCxnSpPr>
              <a:cxnSpLocks noChangeShapeType="1"/>
            </p:cNvCxnSpPr>
            <p:nvPr/>
          </p:nvCxnSpPr>
          <p:spPr bwMode="auto">
            <a:xfrm>
              <a:off x="5450461" y="4593756"/>
              <a:ext cx="0" cy="5445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直接连接符 95"/>
            <p:cNvCxnSpPr>
              <a:cxnSpLocks noChangeShapeType="1"/>
            </p:cNvCxnSpPr>
            <p:nvPr/>
          </p:nvCxnSpPr>
          <p:spPr bwMode="auto">
            <a:xfrm>
              <a:off x="5581152" y="4592546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直接连接符 96"/>
            <p:cNvCxnSpPr>
              <a:cxnSpLocks noChangeShapeType="1"/>
            </p:cNvCxnSpPr>
            <p:nvPr/>
          </p:nvCxnSpPr>
          <p:spPr bwMode="auto">
            <a:xfrm>
              <a:off x="5693690" y="4594967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直接连接符 97"/>
            <p:cNvCxnSpPr>
              <a:cxnSpLocks noChangeShapeType="1"/>
            </p:cNvCxnSpPr>
            <p:nvPr/>
          </p:nvCxnSpPr>
          <p:spPr bwMode="auto">
            <a:xfrm>
              <a:off x="5792917" y="4593756"/>
              <a:ext cx="0" cy="5445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直接连接符 98"/>
            <p:cNvCxnSpPr>
              <a:cxnSpLocks noChangeShapeType="1"/>
            </p:cNvCxnSpPr>
            <p:nvPr/>
          </p:nvCxnSpPr>
          <p:spPr bwMode="auto">
            <a:xfrm>
              <a:off x="6457260" y="4592546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直接连接符 99"/>
            <p:cNvCxnSpPr>
              <a:cxnSpLocks noChangeShapeType="1"/>
            </p:cNvCxnSpPr>
            <p:nvPr/>
          </p:nvCxnSpPr>
          <p:spPr bwMode="auto">
            <a:xfrm>
              <a:off x="2718069" y="1609665"/>
              <a:ext cx="0" cy="5566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直接连接符 100"/>
            <p:cNvCxnSpPr>
              <a:cxnSpLocks noChangeShapeType="1"/>
            </p:cNvCxnSpPr>
            <p:nvPr/>
          </p:nvCxnSpPr>
          <p:spPr bwMode="auto">
            <a:xfrm>
              <a:off x="2931046" y="1608455"/>
              <a:ext cx="0" cy="5566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直接连接符 101"/>
            <p:cNvCxnSpPr>
              <a:cxnSpLocks noChangeShapeType="1"/>
            </p:cNvCxnSpPr>
            <p:nvPr/>
          </p:nvCxnSpPr>
          <p:spPr bwMode="auto">
            <a:xfrm>
              <a:off x="3105299" y="1608455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直接连接符 102"/>
            <p:cNvCxnSpPr>
              <a:cxnSpLocks noChangeShapeType="1"/>
            </p:cNvCxnSpPr>
            <p:nvPr/>
          </p:nvCxnSpPr>
          <p:spPr bwMode="auto">
            <a:xfrm>
              <a:off x="3256560" y="1607245"/>
              <a:ext cx="0" cy="5445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直接连接符 103"/>
            <p:cNvCxnSpPr>
              <a:cxnSpLocks noChangeShapeType="1"/>
            </p:cNvCxnSpPr>
            <p:nvPr/>
          </p:nvCxnSpPr>
          <p:spPr bwMode="auto">
            <a:xfrm>
              <a:off x="3382410" y="1606035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直接连接符 104"/>
            <p:cNvCxnSpPr>
              <a:cxnSpLocks noChangeShapeType="1"/>
            </p:cNvCxnSpPr>
            <p:nvPr/>
          </p:nvCxnSpPr>
          <p:spPr bwMode="auto">
            <a:xfrm>
              <a:off x="3491319" y="1604825"/>
              <a:ext cx="0" cy="5445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直接连接符 105"/>
            <p:cNvCxnSpPr>
              <a:cxnSpLocks noChangeShapeType="1"/>
            </p:cNvCxnSpPr>
            <p:nvPr/>
          </p:nvCxnSpPr>
          <p:spPr bwMode="auto">
            <a:xfrm>
              <a:off x="3594177" y="1603615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直接连接符 106"/>
            <p:cNvCxnSpPr>
              <a:cxnSpLocks noChangeShapeType="1"/>
            </p:cNvCxnSpPr>
            <p:nvPr/>
          </p:nvCxnSpPr>
          <p:spPr bwMode="auto">
            <a:xfrm>
              <a:off x="4256098" y="1606035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直接连接符 107"/>
            <p:cNvCxnSpPr>
              <a:cxnSpLocks noChangeShapeType="1"/>
            </p:cNvCxnSpPr>
            <p:nvPr/>
          </p:nvCxnSpPr>
          <p:spPr bwMode="auto">
            <a:xfrm>
              <a:off x="4644539" y="1607245"/>
              <a:ext cx="0" cy="5566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直接连接符 108"/>
            <p:cNvCxnSpPr>
              <a:cxnSpLocks noChangeShapeType="1"/>
            </p:cNvCxnSpPr>
            <p:nvPr/>
          </p:nvCxnSpPr>
          <p:spPr bwMode="auto">
            <a:xfrm>
              <a:off x="4915600" y="1609665"/>
              <a:ext cx="0" cy="5566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直接连接符 109"/>
            <p:cNvCxnSpPr>
              <a:cxnSpLocks noChangeShapeType="1"/>
            </p:cNvCxnSpPr>
            <p:nvPr/>
          </p:nvCxnSpPr>
          <p:spPr bwMode="auto">
            <a:xfrm>
              <a:off x="5132206" y="1608455"/>
              <a:ext cx="0" cy="5566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直接连接符 110"/>
            <p:cNvCxnSpPr>
              <a:cxnSpLocks noChangeShapeType="1"/>
            </p:cNvCxnSpPr>
            <p:nvPr/>
          </p:nvCxnSpPr>
          <p:spPr bwMode="auto">
            <a:xfrm>
              <a:off x="5306459" y="1607245"/>
              <a:ext cx="0" cy="5566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直接连接符 111"/>
            <p:cNvCxnSpPr>
              <a:cxnSpLocks noChangeShapeType="1"/>
            </p:cNvCxnSpPr>
            <p:nvPr/>
          </p:nvCxnSpPr>
          <p:spPr bwMode="auto">
            <a:xfrm>
              <a:off x="5450461" y="1607245"/>
              <a:ext cx="0" cy="5445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直接连接符 112"/>
            <p:cNvCxnSpPr>
              <a:cxnSpLocks noChangeShapeType="1"/>
            </p:cNvCxnSpPr>
            <p:nvPr/>
          </p:nvCxnSpPr>
          <p:spPr bwMode="auto">
            <a:xfrm>
              <a:off x="5581152" y="1606035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直接连接符 113"/>
            <p:cNvCxnSpPr>
              <a:cxnSpLocks noChangeShapeType="1"/>
            </p:cNvCxnSpPr>
            <p:nvPr/>
          </p:nvCxnSpPr>
          <p:spPr bwMode="auto">
            <a:xfrm>
              <a:off x="5693690" y="1607245"/>
              <a:ext cx="0" cy="5566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5" name="直接连接符 114"/>
            <p:cNvCxnSpPr>
              <a:cxnSpLocks noChangeShapeType="1"/>
            </p:cNvCxnSpPr>
            <p:nvPr/>
          </p:nvCxnSpPr>
          <p:spPr bwMode="auto">
            <a:xfrm>
              <a:off x="5791708" y="1606035"/>
              <a:ext cx="0" cy="5566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" name="直接连接符 115"/>
            <p:cNvCxnSpPr>
              <a:cxnSpLocks noChangeShapeType="1"/>
            </p:cNvCxnSpPr>
            <p:nvPr/>
          </p:nvCxnSpPr>
          <p:spPr bwMode="auto">
            <a:xfrm>
              <a:off x="6457260" y="1606035"/>
              <a:ext cx="0" cy="544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7" name="Rectangle 2"/>
          <p:cNvSpPr>
            <a:spLocks noChangeArrowheads="1"/>
          </p:cNvSpPr>
          <p:nvPr/>
        </p:nvSpPr>
        <p:spPr bwMode="auto">
          <a:xfrm>
            <a:off x="1988923" y="5557822"/>
            <a:ext cx="6613525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黏性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密度</a:t>
            </a:r>
            <a:r>
              <a:rPr lang="en-US" altLang="zh-CN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有效应力</a:t>
            </a:r>
            <a:r>
              <a:rPr lang="en-US" altLang="zh-CN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抗剪强度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/>
            </a:r>
            <a:b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唯一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性关系</a:t>
            </a:r>
          </a:p>
        </p:txBody>
      </p:sp>
    </p:spTree>
    <p:extLst>
      <p:ext uri="{BB962C8B-B14F-4D97-AF65-F5344CB8AC3E}">
        <p14:creationId xmlns:p14="http://schemas.microsoft.com/office/powerpoint/2010/main" val="230913676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60" name="Rectangle 2"/>
          <p:cNvSpPr>
            <a:spLocks noChangeArrowheads="1"/>
          </p:cNvSpPr>
          <p:nvPr/>
        </p:nvSpPr>
        <p:spPr bwMode="auto">
          <a:xfrm>
            <a:off x="469900" y="636061"/>
            <a:ext cx="526104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800" b="1" i="1" dirty="0" err="1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800" b="1" baseline="-25000" dirty="0" err="1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2800" b="1" i="1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′- </a:t>
            </a:r>
            <a:r>
              <a:rPr lang="en-US" altLang="zh-CN" sz="2800" b="1" i="1" dirty="0" err="1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800" b="1" baseline="-25000" dirty="0" err="1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唯一</a:t>
            </a:r>
            <a:r>
              <a:rPr lang="zh-CN" altLang="en-US" sz="2800" b="1" dirty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性关系验证</a:t>
            </a:r>
            <a:endParaRPr lang="zh-CN" altLang="en-US" sz="28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1302673" y="4415789"/>
            <a:ext cx="7121087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6700" indent="-2667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buClr>
                <a:srgbClr val="A50021"/>
              </a:buClr>
              <a:buSzPct val="11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Wingdings" pitchFamily="2" charset="2"/>
              </a:rPr>
              <a:t>应力历史相同的同一种黏土，密度愈高，抗剪强度愈大；平均有效应力愈高，抗剪强度也愈大</a:t>
            </a: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1988923" y="5557822"/>
            <a:ext cx="6613525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黏性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密度</a:t>
            </a:r>
            <a:r>
              <a:rPr lang="en-US" altLang="zh-CN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有效应力</a:t>
            </a:r>
            <a:r>
              <a:rPr lang="en-US" altLang="zh-CN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抗剪强度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/>
            </a:r>
            <a:b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32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唯一</a:t>
            </a:r>
            <a:r>
              <a:rPr lang="zh-CN" altLang="en-US" sz="32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性关系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4361994" y="2306118"/>
            <a:ext cx="2228276" cy="1368151"/>
            <a:chOff x="4955475" y="2780544"/>
            <a:chExt cx="2666540" cy="1526427"/>
          </a:xfrm>
        </p:grpSpPr>
        <p:sp>
          <p:nvSpPr>
            <p:cNvPr id="34" name="任意多边形 33"/>
            <p:cNvSpPr/>
            <p:nvPr/>
          </p:nvSpPr>
          <p:spPr bwMode="auto">
            <a:xfrm>
              <a:off x="4955475" y="2780544"/>
              <a:ext cx="788818" cy="1526427"/>
            </a:xfrm>
            <a:custGeom>
              <a:avLst/>
              <a:gdLst>
                <a:gd name="connsiteX0" fmla="*/ 443524 w 443524"/>
                <a:gd name="connsiteY0" fmla="*/ 713154 h 713154"/>
                <a:gd name="connsiteX1" fmla="*/ 422031 w 443524"/>
                <a:gd name="connsiteY1" fmla="*/ 554892 h 713154"/>
                <a:gd name="connsiteX2" fmla="*/ 375139 w 443524"/>
                <a:gd name="connsiteY2" fmla="*/ 406400 h 713154"/>
                <a:gd name="connsiteX3" fmla="*/ 296985 w 443524"/>
                <a:gd name="connsiteY3" fmla="*/ 263769 h 713154"/>
                <a:gd name="connsiteX4" fmla="*/ 171939 w 443524"/>
                <a:gd name="connsiteY4" fmla="*/ 125046 h 713154"/>
                <a:gd name="connsiteX5" fmla="*/ 60570 w 443524"/>
                <a:gd name="connsiteY5" fmla="*/ 42985 h 713154"/>
                <a:gd name="connsiteX6" fmla="*/ 0 w 443524"/>
                <a:gd name="connsiteY6" fmla="*/ 0 h 713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3524" h="713154">
                  <a:moveTo>
                    <a:pt x="443524" y="713154"/>
                  </a:moveTo>
                  <a:cubicBezTo>
                    <a:pt x="438476" y="659586"/>
                    <a:pt x="433429" y="606018"/>
                    <a:pt x="422031" y="554892"/>
                  </a:cubicBezTo>
                  <a:cubicBezTo>
                    <a:pt x="410633" y="503766"/>
                    <a:pt x="395980" y="454920"/>
                    <a:pt x="375139" y="406400"/>
                  </a:cubicBezTo>
                  <a:cubicBezTo>
                    <a:pt x="354298" y="357880"/>
                    <a:pt x="330852" y="310661"/>
                    <a:pt x="296985" y="263769"/>
                  </a:cubicBezTo>
                  <a:cubicBezTo>
                    <a:pt x="263118" y="216877"/>
                    <a:pt x="211341" y="161843"/>
                    <a:pt x="171939" y="125046"/>
                  </a:cubicBezTo>
                  <a:cubicBezTo>
                    <a:pt x="132537" y="88249"/>
                    <a:pt x="89226" y="63826"/>
                    <a:pt x="60570" y="42985"/>
                  </a:cubicBezTo>
                  <a:cubicBezTo>
                    <a:pt x="31914" y="22144"/>
                    <a:pt x="15957" y="11072"/>
                    <a:pt x="0" y="0"/>
                  </a:cubicBezTo>
                </a:path>
              </a:pathLst>
            </a:custGeom>
            <a:noFill/>
            <a:ln w="1905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" name="Text Box 28"/>
            <p:cNvSpPr txBox="1">
              <a:spLocks noChangeArrowheads="1"/>
            </p:cNvSpPr>
            <p:nvPr/>
          </p:nvSpPr>
          <p:spPr bwMode="auto">
            <a:xfrm>
              <a:off x="5989127" y="3430815"/>
              <a:ext cx="1632888" cy="377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 smtClean="0">
                  <a:solidFill>
                    <a:srgbClr val="0000CC"/>
                  </a:solidFill>
                  <a:ea typeface="幼圆" pitchFamily="49" charset="-122"/>
                </a:rPr>
                <a:t>固结</a:t>
              </a:r>
              <a:r>
                <a:rPr lang="zh-CN" altLang="en-US" sz="1600" b="1" dirty="0">
                  <a:solidFill>
                    <a:srgbClr val="0000CC"/>
                  </a:solidFill>
                  <a:ea typeface="幼圆" pitchFamily="49" charset="-122"/>
                </a:rPr>
                <a:t>不</a:t>
              </a:r>
              <a:r>
                <a:rPr lang="zh-CN" altLang="en-US" sz="1600" b="1" dirty="0" smtClean="0">
                  <a:solidFill>
                    <a:srgbClr val="0000CC"/>
                  </a:solidFill>
                  <a:ea typeface="幼圆" pitchFamily="49" charset="-122"/>
                </a:rPr>
                <a:t>排水</a:t>
              </a:r>
              <a:endParaRPr lang="zh-CN" altLang="en-US" sz="1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 2" pitchFamily="18" charset="2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 bwMode="auto">
            <a:xfrm flipV="1">
              <a:off x="5717254" y="3652125"/>
              <a:ext cx="292100" cy="127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" name="Line 4"/>
          <p:cNvSpPr>
            <a:spLocks noChangeShapeType="1"/>
          </p:cNvSpPr>
          <p:nvPr/>
        </p:nvSpPr>
        <p:spPr bwMode="auto">
          <a:xfrm flipV="1">
            <a:off x="1895060" y="1418096"/>
            <a:ext cx="0" cy="270508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82287" tIns="41143" rIns="82287" bIns="41143"/>
          <a:lstStyle/>
          <a:p>
            <a:endParaRPr lang="zh-CN" altLang="en-US"/>
          </a:p>
        </p:txBody>
      </p:sp>
      <p:sp>
        <p:nvSpPr>
          <p:cNvPr id="39" name="Text Box 5"/>
          <p:cNvSpPr txBox="1">
            <a:spLocks noChangeArrowheads="1"/>
          </p:cNvSpPr>
          <p:nvPr/>
        </p:nvSpPr>
        <p:spPr bwMode="auto">
          <a:xfrm>
            <a:off x="6549262" y="3646462"/>
            <a:ext cx="483918" cy="4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4622" tIns="47310" rIns="94622" bIns="47310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</a:pPr>
            <a:r>
              <a:rPr lang="en-US" altLang="zh-CN" sz="2200" b="1" i="1" dirty="0"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en-US" altLang="zh-CN" sz="2200" b="1" dirty="0">
                <a:cs typeface="Times New Roman" panose="02020603050405020304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40" name="Line 7"/>
          <p:cNvSpPr>
            <a:spLocks noChangeShapeType="1"/>
          </p:cNvSpPr>
          <p:nvPr/>
        </p:nvSpPr>
        <p:spPr bwMode="auto">
          <a:xfrm>
            <a:off x="1890300" y="3632939"/>
            <a:ext cx="487430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2287" tIns="41143" rIns="82287" bIns="41143"/>
          <a:lstStyle/>
          <a:p>
            <a:endParaRPr lang="zh-CN" altLang="en-US"/>
          </a:p>
        </p:txBody>
      </p:sp>
      <p:sp>
        <p:nvSpPr>
          <p:cNvPr id="41" name="Text Box 8"/>
          <p:cNvSpPr txBox="1">
            <a:spLocks noChangeArrowheads="1"/>
          </p:cNvSpPr>
          <p:nvPr/>
        </p:nvSpPr>
        <p:spPr bwMode="auto">
          <a:xfrm>
            <a:off x="1413028" y="1281204"/>
            <a:ext cx="758405" cy="434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22" tIns="47310" rIns="94622" bIns="47310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200" b="1" i="1" dirty="0">
                <a:cs typeface="Times New Roman" panose="02020603050405020304" pitchFamily="18" charset="0"/>
                <a:sym typeface="Symbol" pitchFamily="18" charset="2"/>
              </a:rPr>
              <a:t>q</a:t>
            </a:r>
            <a:endParaRPr lang="zh-CN" altLang="en-US" sz="2200" b="1" dirty="0"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42" name="Group 9"/>
          <p:cNvGrpSpPr>
            <a:grpSpLocks/>
          </p:cNvGrpSpPr>
          <p:nvPr/>
        </p:nvGrpSpPr>
        <p:grpSpPr bwMode="auto">
          <a:xfrm>
            <a:off x="1887819" y="1333543"/>
            <a:ext cx="3909323" cy="2304538"/>
            <a:chOff x="485" y="1287"/>
            <a:chExt cx="1866" cy="1100"/>
          </a:xfrm>
        </p:grpSpPr>
        <p:sp>
          <p:nvSpPr>
            <p:cNvPr id="43" name="Line 10"/>
            <p:cNvSpPr>
              <a:spLocks noChangeShapeType="1"/>
            </p:cNvSpPr>
            <p:nvPr/>
          </p:nvSpPr>
          <p:spPr bwMode="auto">
            <a:xfrm flipV="1">
              <a:off x="485" y="1485"/>
              <a:ext cx="1601" cy="902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11"/>
            <p:cNvSpPr txBox="1">
              <a:spLocks noChangeArrowheads="1"/>
            </p:cNvSpPr>
            <p:nvPr/>
          </p:nvSpPr>
          <p:spPr bwMode="auto">
            <a:xfrm>
              <a:off x="1907" y="1287"/>
              <a:ext cx="44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000" b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20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f</a:t>
              </a:r>
              <a:r>
                <a:rPr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线</a:t>
              </a:r>
              <a:endParaRPr lang="zh-CN" altLang="en-US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849180" y="3581928"/>
            <a:ext cx="1692558" cy="542896"/>
            <a:chOff x="5538251" y="4243918"/>
            <a:chExt cx="1880804" cy="603277"/>
          </a:xfrm>
        </p:grpSpPr>
        <p:sp>
          <p:nvSpPr>
            <p:cNvPr id="47" name="Text Box 30"/>
            <p:cNvSpPr txBox="1">
              <a:spLocks noChangeArrowheads="1"/>
            </p:cNvSpPr>
            <p:nvPr/>
          </p:nvSpPr>
          <p:spPr bwMode="auto">
            <a:xfrm>
              <a:off x="5538251" y="4368385"/>
              <a:ext cx="1880804" cy="4788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>
                  <a:ea typeface="幼圆" pitchFamily="49" charset="-122"/>
                </a:rPr>
                <a:t>C(</a:t>
              </a:r>
              <a:r>
                <a:rPr lang="en-US" altLang="zh-CN" sz="2200" b="1" dirty="0">
                  <a:ea typeface="幼圆" pitchFamily="49" charset="-122"/>
                  <a:sym typeface="Symbol"/>
                </a:rPr>
                <a:t></a:t>
              </a:r>
              <a:r>
                <a:rPr lang="en-US" altLang="zh-CN" sz="2200" b="1" baseline="-25000" dirty="0">
                  <a:ea typeface="幼圆" pitchFamily="49" charset="-122"/>
                  <a:sym typeface="Symbol"/>
                </a:rPr>
                <a:t>3m </a:t>
              </a:r>
              <a:r>
                <a:rPr lang="en-US" altLang="zh-CN" sz="2200" b="1" dirty="0">
                  <a:ea typeface="幼圆" pitchFamily="49" charset="-122"/>
                  <a:sym typeface="Symbol"/>
                </a:rPr>
                <a:t>, </a:t>
              </a:r>
              <a:r>
                <a:rPr kumimoji="1" lang="en-US" altLang="zh-CN" sz="2200" b="1" i="1" dirty="0" err="1">
                  <a:solidFill>
                    <a:srgbClr val="C00000"/>
                  </a:solidFill>
                  <a:sym typeface="Symbol" pitchFamily="18" charset="2"/>
                </a:rPr>
                <a:t>e</a:t>
              </a:r>
              <a:r>
                <a:rPr kumimoji="1" lang="en-US" altLang="zh-CN" sz="2200" b="1" baseline="-25000" dirty="0" err="1">
                  <a:solidFill>
                    <a:srgbClr val="C00000"/>
                  </a:solidFill>
                  <a:sym typeface="Symbol" pitchFamily="18" charset="2"/>
                </a:rPr>
                <a:t>f</a:t>
              </a:r>
              <a:r>
                <a:rPr lang="en-US" altLang="zh-CN" sz="2200" b="1" dirty="0">
                  <a:ea typeface="幼圆" pitchFamily="49" charset="-122"/>
                </a:rPr>
                <a:t>)</a:t>
              </a:r>
            </a:p>
          </p:txBody>
        </p:sp>
        <p:sp>
          <p:nvSpPr>
            <p:cNvPr id="48" name="Oval 41"/>
            <p:cNvSpPr>
              <a:spLocks noChangeArrowheads="1"/>
            </p:cNvSpPr>
            <p:nvPr/>
          </p:nvSpPr>
          <p:spPr bwMode="auto">
            <a:xfrm>
              <a:off x="5681972" y="4243918"/>
              <a:ext cx="116402" cy="1161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2825484" y="2041723"/>
            <a:ext cx="3245926" cy="2063139"/>
            <a:chOff x="3289479" y="2532411"/>
            <a:chExt cx="3606938" cy="2292601"/>
          </a:xfrm>
        </p:grpSpPr>
        <p:sp>
          <p:nvSpPr>
            <p:cNvPr id="51" name="Text Box 30"/>
            <p:cNvSpPr txBox="1">
              <a:spLocks noChangeArrowheads="1"/>
            </p:cNvSpPr>
            <p:nvPr/>
          </p:nvSpPr>
          <p:spPr bwMode="auto">
            <a:xfrm>
              <a:off x="5194626" y="2532411"/>
              <a:ext cx="1701791" cy="4788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>
                  <a:ea typeface="幼圆" pitchFamily="49" charset="-122"/>
                </a:rPr>
                <a:t>B(</a:t>
              </a:r>
              <a:r>
                <a:rPr lang="en-US" altLang="zh-CN" sz="2200" b="1" i="1" dirty="0">
                  <a:ea typeface="幼圆" pitchFamily="49" charset="-122"/>
                </a:rPr>
                <a:t>p</a:t>
              </a:r>
              <a:r>
                <a:rPr lang="en-US" altLang="zh-CN" sz="2200" b="1" baseline="-25000" dirty="0">
                  <a:ea typeface="幼圆" pitchFamily="49" charset="-122"/>
                  <a:sym typeface="Symbol"/>
                </a:rPr>
                <a:t>f</a:t>
              </a:r>
              <a:r>
                <a:rPr lang="en-US" altLang="zh-CN" sz="2200" b="1" dirty="0">
                  <a:ea typeface="幼圆" pitchFamily="49" charset="-122"/>
                  <a:sym typeface="Symbol"/>
                </a:rPr>
                <a:t>,</a:t>
              </a:r>
              <a:r>
                <a:rPr lang="en-US" altLang="zh-CN" sz="2200" b="1" i="1" dirty="0">
                  <a:ea typeface="幼圆" pitchFamily="49" charset="-122"/>
                </a:rPr>
                <a:t> </a:t>
              </a:r>
              <a:r>
                <a:rPr lang="en-US" altLang="zh-CN" sz="2200" b="1" i="1" dirty="0" err="1">
                  <a:ea typeface="幼圆" pitchFamily="49" charset="-122"/>
                </a:rPr>
                <a:t>q</a:t>
              </a:r>
              <a:r>
                <a:rPr lang="en-US" altLang="zh-CN" sz="2200" b="1" baseline="-25000" dirty="0" err="1">
                  <a:ea typeface="幼圆" pitchFamily="49" charset="-122"/>
                  <a:sym typeface="Symbol"/>
                </a:rPr>
                <a:t>f</a:t>
              </a:r>
              <a:r>
                <a:rPr lang="en-US" altLang="zh-CN" sz="2200" b="1" baseline="-25000" dirty="0">
                  <a:ea typeface="幼圆" pitchFamily="49" charset="-122"/>
                  <a:sym typeface="Symbol"/>
                </a:rPr>
                <a:t> </a:t>
              </a:r>
              <a:r>
                <a:rPr lang="en-US" altLang="zh-CN" sz="2200" b="1" dirty="0">
                  <a:ea typeface="幼圆" pitchFamily="49" charset="-122"/>
                  <a:sym typeface="Symbol"/>
                </a:rPr>
                <a:t>, </a:t>
              </a:r>
              <a:r>
                <a:rPr kumimoji="1" lang="en-US" altLang="zh-CN" sz="2200" b="1" i="1" dirty="0" err="1">
                  <a:solidFill>
                    <a:srgbClr val="C00000"/>
                  </a:solidFill>
                  <a:sym typeface="Symbol" pitchFamily="18" charset="2"/>
                </a:rPr>
                <a:t>e</a:t>
              </a:r>
              <a:r>
                <a:rPr kumimoji="1" lang="en-US" altLang="zh-CN" sz="2200" b="1" baseline="-25000" dirty="0" err="1">
                  <a:solidFill>
                    <a:srgbClr val="C00000"/>
                  </a:solidFill>
                  <a:sym typeface="Symbol" pitchFamily="18" charset="2"/>
                </a:rPr>
                <a:t>f</a:t>
              </a:r>
              <a:r>
                <a:rPr lang="en-US" altLang="zh-CN" sz="2200" b="1" dirty="0">
                  <a:ea typeface="幼圆" pitchFamily="49" charset="-122"/>
                </a:rPr>
                <a:t>)</a:t>
              </a: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3289479" y="2727184"/>
              <a:ext cx="2050612" cy="2097828"/>
              <a:chOff x="3289479" y="2727184"/>
              <a:chExt cx="2050612" cy="2097828"/>
            </a:xfrm>
          </p:grpSpPr>
          <p:sp>
            <p:nvSpPr>
              <p:cNvPr id="61" name="Text Box 28"/>
              <p:cNvSpPr txBox="1">
                <a:spLocks noChangeArrowheads="1"/>
              </p:cNvSpPr>
              <p:nvPr/>
            </p:nvSpPr>
            <p:spPr bwMode="auto">
              <a:xfrm>
                <a:off x="4136260" y="3727723"/>
                <a:ext cx="1203831" cy="376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solidFill>
                      <a:srgbClr val="CC0000"/>
                    </a:solidFill>
                    <a:ea typeface="幼圆" pitchFamily="49" charset="-122"/>
                  </a:rPr>
                  <a:t>固结排水</a:t>
                </a:r>
                <a:endParaRPr lang="zh-CN" altLang="en-US" sz="1600" b="1" dirty="0">
                  <a:solidFill>
                    <a:srgbClr val="CC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Wingdings 2" pitchFamily="18" charset="2"/>
                </a:endParaRPr>
              </a:p>
            </p:txBody>
          </p:sp>
          <p:sp>
            <p:nvSpPr>
              <p:cNvPr id="62" name="Text Box 30"/>
              <p:cNvSpPr txBox="1">
                <a:spLocks noChangeArrowheads="1"/>
              </p:cNvSpPr>
              <p:nvPr/>
            </p:nvSpPr>
            <p:spPr bwMode="auto">
              <a:xfrm>
                <a:off x="3289479" y="4346202"/>
                <a:ext cx="1387980" cy="4788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200" b="1" dirty="0">
                    <a:ea typeface="幼圆" pitchFamily="49" charset="-122"/>
                  </a:rPr>
                  <a:t>A(</a:t>
                </a:r>
                <a:r>
                  <a:rPr lang="en-US" altLang="zh-CN" sz="2200" b="1" dirty="0">
                    <a:ea typeface="幼圆" pitchFamily="49" charset="-122"/>
                    <a:sym typeface="Symbol"/>
                  </a:rPr>
                  <a:t></a:t>
                </a:r>
                <a:r>
                  <a:rPr lang="en-US" altLang="zh-CN" sz="2200" b="1" baseline="-25000" dirty="0">
                    <a:ea typeface="幼圆" pitchFamily="49" charset="-122"/>
                    <a:sym typeface="Symbol"/>
                  </a:rPr>
                  <a:t>3 </a:t>
                </a:r>
                <a:r>
                  <a:rPr lang="en-US" altLang="zh-CN" sz="2200" b="1" dirty="0">
                    <a:ea typeface="幼圆" pitchFamily="49" charset="-122"/>
                    <a:sym typeface="Symbol"/>
                  </a:rPr>
                  <a:t>, </a:t>
                </a:r>
                <a:r>
                  <a:rPr kumimoji="1" lang="en-US" altLang="zh-CN" sz="2200" b="1" i="1" dirty="0">
                    <a:sym typeface="Symbol" pitchFamily="18" charset="2"/>
                  </a:rPr>
                  <a:t>e</a:t>
                </a:r>
                <a:r>
                  <a:rPr kumimoji="1" lang="en-US" altLang="zh-CN" sz="2200" b="1" baseline="-25000" dirty="0">
                    <a:sym typeface="Symbol" pitchFamily="18" charset="2"/>
                  </a:rPr>
                  <a:t>0</a:t>
                </a:r>
                <a:r>
                  <a:rPr lang="en-US" altLang="zh-CN" sz="2200" b="1" dirty="0">
                    <a:ea typeface="幼圆" pitchFamily="49" charset="-122"/>
                  </a:rPr>
                  <a:t>)</a:t>
                </a:r>
              </a:p>
            </p:txBody>
          </p:sp>
          <p:sp>
            <p:nvSpPr>
              <p:cNvPr id="63" name="Freeform 33"/>
              <p:cNvSpPr>
                <a:spLocks/>
              </p:cNvSpPr>
              <p:nvPr/>
            </p:nvSpPr>
            <p:spPr bwMode="auto">
              <a:xfrm>
                <a:off x="3570864" y="2764971"/>
                <a:ext cx="1408737" cy="1540286"/>
              </a:xfrm>
              <a:custGeom>
                <a:avLst/>
                <a:gdLst>
                  <a:gd name="T0" fmla="*/ 0 w 454"/>
                  <a:gd name="T1" fmla="*/ 457 h 457"/>
                  <a:gd name="T2" fmla="*/ 454 w 454"/>
                  <a:gd name="T3" fmla="*/ 0 h 457"/>
                  <a:gd name="T4" fmla="*/ 0 60000 65536"/>
                  <a:gd name="T5" fmla="*/ 0 60000 65536"/>
                  <a:gd name="T6" fmla="*/ 0 w 454"/>
                  <a:gd name="T7" fmla="*/ 0 h 457"/>
                  <a:gd name="T8" fmla="*/ 454 w 454"/>
                  <a:gd name="T9" fmla="*/ 457 h 45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54" h="457">
                    <a:moveTo>
                      <a:pt x="0" y="457"/>
                    </a:moveTo>
                    <a:lnTo>
                      <a:pt x="454" y="0"/>
                    </a:lnTo>
                  </a:path>
                </a:pathLst>
              </a:custGeom>
              <a:noFill/>
              <a:ln w="19050" cmpd="sng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Oval 41"/>
              <p:cNvSpPr>
                <a:spLocks noChangeArrowheads="1"/>
              </p:cNvSpPr>
              <p:nvPr/>
            </p:nvSpPr>
            <p:spPr bwMode="auto">
              <a:xfrm>
                <a:off x="3529628" y="4233323"/>
                <a:ext cx="116402" cy="1161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Oval 41"/>
              <p:cNvSpPr>
                <a:spLocks noChangeArrowheads="1"/>
              </p:cNvSpPr>
              <p:nvPr/>
            </p:nvSpPr>
            <p:spPr bwMode="auto">
              <a:xfrm>
                <a:off x="4907284" y="2727184"/>
                <a:ext cx="116402" cy="1161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66" name="直接连接符 65"/>
              <p:cNvCxnSpPr/>
              <p:nvPr/>
            </p:nvCxnSpPr>
            <p:spPr bwMode="auto">
              <a:xfrm>
                <a:off x="4320254" y="3556875"/>
                <a:ext cx="139700" cy="19685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67" name="直接箭头连接符 66"/>
          <p:cNvCxnSpPr/>
          <p:nvPr/>
        </p:nvCxnSpPr>
        <p:spPr bwMode="auto">
          <a:xfrm>
            <a:off x="5797143" y="2457180"/>
            <a:ext cx="95692" cy="1347991"/>
          </a:xfrm>
          <a:prstGeom prst="straightConnector1">
            <a:avLst/>
          </a:prstGeom>
          <a:noFill/>
          <a:ln w="19050" cap="flat" cmpd="sng" algn="ctr">
            <a:solidFill>
              <a:srgbClr val="A5002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7358820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236165" y="1075655"/>
            <a:ext cx="6767512" cy="374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不固结不排水试验</a:t>
            </a:r>
            <a:endParaRPr lang="en-US" altLang="zh-CN" sz="3200" b="1" dirty="0" smtClean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63613" lvl="2" indent="-446088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条件</a:t>
            </a:r>
          </a:p>
          <a:p>
            <a:pPr marL="963613" lvl="2" indent="-446088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饱和试样的不排水强度指标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</a:p>
          <a:p>
            <a:pPr marL="963613" lvl="2" indent="-446088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不排水与固结不排水强度指标的关系</a:t>
            </a:r>
          </a:p>
          <a:p>
            <a:pPr marL="963613" lvl="2" indent="-446088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无侧限压缩试验</a:t>
            </a:r>
          </a:p>
          <a:p>
            <a:pPr marL="963613" lvl="2" indent="-446088" eaLnBrk="1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不饱和试样的不排水强度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403521" y="5601641"/>
            <a:ext cx="45162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三轴试验强度指标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329047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4575175" y="842963"/>
            <a:ext cx="4173537" cy="4652963"/>
            <a:chOff x="2906" y="485"/>
            <a:chExt cx="2629" cy="2931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5465" y="1843"/>
              <a:ext cx="70" cy="89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669" y="1462"/>
              <a:ext cx="979" cy="143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6" descr="大纸屑"/>
            <p:cNvSpPr>
              <a:spLocks noChangeArrowheads="1"/>
            </p:cNvSpPr>
            <p:nvPr/>
          </p:nvSpPr>
          <p:spPr bwMode="auto">
            <a:xfrm>
              <a:off x="3948" y="2599"/>
              <a:ext cx="425" cy="73"/>
            </a:xfrm>
            <a:prstGeom prst="rect">
              <a:avLst/>
            </a:prstGeom>
            <a:pattFill prst="lgConfetti">
              <a:fgClr>
                <a:schemeClr val="tx2"/>
              </a:fgClr>
              <a:bgClr>
                <a:srgbClr val="FFCC66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7" descr="浅色上对角线"/>
            <p:cNvSpPr>
              <a:spLocks noChangeArrowheads="1"/>
            </p:cNvSpPr>
            <p:nvPr/>
          </p:nvSpPr>
          <p:spPr bwMode="auto">
            <a:xfrm>
              <a:off x="3939" y="1654"/>
              <a:ext cx="444" cy="145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" name="Group 8"/>
            <p:cNvGrpSpPr>
              <a:grpSpLocks/>
            </p:cNvGrpSpPr>
            <p:nvPr/>
          </p:nvGrpSpPr>
          <p:grpSpPr bwMode="auto">
            <a:xfrm>
              <a:off x="3933" y="1696"/>
              <a:ext cx="452" cy="1025"/>
              <a:chOff x="3374" y="2353"/>
              <a:chExt cx="452" cy="1025"/>
            </a:xfrm>
          </p:grpSpPr>
          <p:sp>
            <p:nvSpPr>
              <p:cNvPr id="68" name="Line 9"/>
              <p:cNvSpPr>
                <a:spLocks noChangeShapeType="1"/>
              </p:cNvSpPr>
              <p:nvPr/>
            </p:nvSpPr>
            <p:spPr bwMode="auto">
              <a:xfrm>
                <a:off x="3374" y="2359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10"/>
              <p:cNvSpPr>
                <a:spLocks noChangeShapeType="1"/>
              </p:cNvSpPr>
              <p:nvPr/>
            </p:nvSpPr>
            <p:spPr bwMode="auto">
              <a:xfrm>
                <a:off x="3826" y="2353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11"/>
            <p:cNvGrpSpPr>
              <a:grpSpLocks/>
            </p:cNvGrpSpPr>
            <p:nvPr/>
          </p:nvGrpSpPr>
          <p:grpSpPr bwMode="auto">
            <a:xfrm>
              <a:off x="3880" y="1714"/>
              <a:ext cx="549" cy="1001"/>
              <a:chOff x="3321" y="2371"/>
              <a:chExt cx="549" cy="1001"/>
            </a:xfrm>
          </p:grpSpPr>
          <p:sp>
            <p:nvSpPr>
              <p:cNvPr id="64" name="Oval 12"/>
              <p:cNvSpPr>
                <a:spLocks noChangeArrowheads="1"/>
              </p:cNvSpPr>
              <p:nvPr/>
            </p:nvSpPr>
            <p:spPr bwMode="auto">
              <a:xfrm>
                <a:off x="3330" y="2383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Oval 13"/>
              <p:cNvSpPr>
                <a:spLocks noChangeArrowheads="1"/>
              </p:cNvSpPr>
              <p:nvPr/>
            </p:nvSpPr>
            <p:spPr bwMode="auto">
              <a:xfrm>
                <a:off x="3832" y="3329"/>
                <a:ext cx="36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Oval 14"/>
              <p:cNvSpPr>
                <a:spLocks noChangeArrowheads="1"/>
              </p:cNvSpPr>
              <p:nvPr/>
            </p:nvSpPr>
            <p:spPr bwMode="auto">
              <a:xfrm>
                <a:off x="3321" y="3335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Oval 15"/>
              <p:cNvSpPr>
                <a:spLocks noChangeArrowheads="1"/>
              </p:cNvSpPr>
              <p:nvPr/>
            </p:nvSpPr>
            <p:spPr bwMode="auto">
              <a:xfrm>
                <a:off x="3835" y="2371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70000"/>
                  </a:lnSpc>
                  <a:spcBef>
                    <a:spcPct val="20000"/>
                  </a:spcBef>
                  <a:spcAft>
                    <a:spcPct val="0"/>
                  </a:spcAft>
                </a:pPr>
                <a:endParaRPr lang="zh-CN" altLang="en-US" sz="2400">
                  <a:ea typeface="幼圆" pitchFamily="49" charset="-122"/>
                  <a:sym typeface="Symbol" pitchFamily="18" charset="2"/>
                </a:endParaRPr>
              </a:p>
            </p:txBody>
          </p:sp>
        </p:grpSp>
        <p:grpSp>
          <p:nvGrpSpPr>
            <p:cNvPr id="14" name="Group 16"/>
            <p:cNvGrpSpPr>
              <a:grpSpLocks/>
            </p:cNvGrpSpPr>
            <p:nvPr/>
          </p:nvGrpSpPr>
          <p:grpSpPr bwMode="auto">
            <a:xfrm>
              <a:off x="3587" y="2672"/>
              <a:ext cx="1135" cy="400"/>
              <a:chOff x="3028" y="3329"/>
              <a:chExt cx="1135" cy="400"/>
            </a:xfrm>
          </p:grpSpPr>
          <p:sp>
            <p:nvSpPr>
              <p:cNvPr id="62" name="Rectangle 17"/>
              <p:cNvSpPr>
                <a:spLocks noChangeArrowheads="1"/>
              </p:cNvSpPr>
              <p:nvPr/>
            </p:nvSpPr>
            <p:spPr bwMode="auto">
              <a:xfrm>
                <a:off x="3389" y="3329"/>
                <a:ext cx="425" cy="218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Rectangle 18"/>
              <p:cNvSpPr>
                <a:spLocks noChangeArrowheads="1"/>
              </p:cNvSpPr>
              <p:nvPr/>
            </p:nvSpPr>
            <p:spPr bwMode="auto">
              <a:xfrm>
                <a:off x="3028" y="3547"/>
                <a:ext cx="1135" cy="182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" name="Line 19" descr="30%"/>
            <p:cNvSpPr>
              <a:spLocks noChangeShapeType="1"/>
            </p:cNvSpPr>
            <p:nvPr/>
          </p:nvSpPr>
          <p:spPr bwMode="auto">
            <a:xfrm>
              <a:off x="3662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0" descr="30%"/>
            <p:cNvSpPr>
              <a:spLocks noChangeShapeType="1"/>
            </p:cNvSpPr>
            <p:nvPr/>
          </p:nvSpPr>
          <p:spPr bwMode="auto">
            <a:xfrm>
              <a:off x="4655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3455" y="1369"/>
              <a:ext cx="639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4224" y="1369"/>
              <a:ext cx="638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23" descr="浅色竖线"/>
            <p:cNvSpPr>
              <a:spLocks noChangeArrowheads="1"/>
            </p:cNvSpPr>
            <p:nvPr/>
          </p:nvSpPr>
          <p:spPr bwMode="auto">
            <a:xfrm>
              <a:off x="4097" y="1164"/>
              <a:ext cx="126" cy="486"/>
            </a:xfrm>
            <a:prstGeom prst="rect">
              <a:avLst/>
            </a:prstGeom>
            <a:pattFill prst="ltVert">
              <a:fgClr>
                <a:srgbClr val="4D4D4D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" name="Group 24"/>
            <p:cNvGrpSpPr>
              <a:grpSpLocks/>
            </p:cNvGrpSpPr>
            <p:nvPr/>
          </p:nvGrpSpPr>
          <p:grpSpPr bwMode="auto">
            <a:xfrm>
              <a:off x="3942" y="1799"/>
              <a:ext cx="434" cy="800"/>
              <a:chOff x="3942" y="1799"/>
              <a:chExt cx="434" cy="800"/>
            </a:xfrm>
          </p:grpSpPr>
          <p:sp>
            <p:nvSpPr>
              <p:cNvPr id="60" name="Rectangle 25"/>
              <p:cNvSpPr>
                <a:spLocks noChangeArrowheads="1"/>
              </p:cNvSpPr>
              <p:nvPr/>
            </p:nvSpPr>
            <p:spPr bwMode="auto">
              <a:xfrm>
                <a:off x="3942" y="1799"/>
                <a:ext cx="434" cy="800"/>
              </a:xfrm>
              <a:prstGeom prst="rect">
                <a:avLst/>
              </a:prstGeom>
              <a:solidFill>
                <a:srgbClr val="996633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Text Box 26"/>
              <p:cNvSpPr txBox="1">
                <a:spLocks noChangeArrowheads="1"/>
              </p:cNvSpPr>
              <p:nvPr/>
            </p:nvSpPr>
            <p:spPr bwMode="auto">
              <a:xfrm>
                <a:off x="3995" y="1945"/>
                <a:ext cx="308" cy="472"/>
              </a:xfrm>
              <a:prstGeom prst="rect">
                <a:avLst/>
              </a:prstGeom>
              <a:solidFill>
                <a:srgbClr val="9966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>
                    <a:solidFill>
                      <a:schemeClr val="bg1"/>
                    </a:solidFill>
                    <a:ea typeface="幼圆" pitchFamily="49" charset="-122"/>
                    <a:sym typeface="Symbol" pitchFamily="18" charset="2"/>
                  </a:rPr>
                  <a:t>试样</a:t>
                </a:r>
              </a:p>
            </p:txBody>
          </p:sp>
        </p:grpSp>
        <p:sp>
          <p:nvSpPr>
            <p:cNvPr id="21" name="Text Box 27"/>
            <p:cNvSpPr txBox="1">
              <a:spLocks noChangeArrowheads="1"/>
            </p:cNvSpPr>
            <p:nvPr/>
          </p:nvSpPr>
          <p:spPr bwMode="auto">
            <a:xfrm>
              <a:off x="2923" y="2264"/>
              <a:ext cx="67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围压</a:t>
              </a:r>
              <a:b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</a:br>
              <a: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力</a:t>
              </a: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zh-CN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5014" y="3034"/>
              <a:ext cx="514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  <a:sym typeface="Symbol" pitchFamily="18" charset="2"/>
                </a:rPr>
                <a:t>阀门</a:t>
              </a:r>
            </a:p>
          </p:txBody>
        </p:sp>
        <p:sp>
          <p:nvSpPr>
            <p:cNvPr id="23" name="Text Box 29"/>
            <p:cNvSpPr txBox="1">
              <a:spLocks noChangeArrowheads="1"/>
            </p:cNvSpPr>
            <p:nvPr/>
          </p:nvSpPr>
          <p:spPr bwMode="auto">
            <a:xfrm>
              <a:off x="3024" y="3043"/>
              <a:ext cx="514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  <a:sym typeface="Symbol" pitchFamily="18" charset="2"/>
                </a:rPr>
                <a:t>阀门</a:t>
              </a:r>
            </a:p>
          </p:txBody>
        </p:sp>
        <p:sp>
          <p:nvSpPr>
            <p:cNvPr id="24" name="Freeform 30"/>
            <p:cNvSpPr>
              <a:spLocks/>
            </p:cNvSpPr>
            <p:nvPr/>
          </p:nvSpPr>
          <p:spPr bwMode="auto">
            <a:xfrm>
              <a:off x="2906" y="2882"/>
              <a:ext cx="888" cy="61"/>
            </a:xfrm>
            <a:custGeom>
              <a:avLst/>
              <a:gdLst>
                <a:gd name="T0" fmla="*/ 1253 w 1253"/>
                <a:gd name="T1" fmla="*/ 0 h 67"/>
                <a:gd name="T2" fmla="*/ 1253 w 1253"/>
                <a:gd name="T3" fmla="*/ 67 h 67"/>
                <a:gd name="T4" fmla="*/ 0 w 1253"/>
                <a:gd name="T5" fmla="*/ 67 h 67"/>
                <a:gd name="T6" fmla="*/ 0 60000 65536"/>
                <a:gd name="T7" fmla="*/ 0 60000 65536"/>
                <a:gd name="T8" fmla="*/ 0 60000 65536"/>
                <a:gd name="T9" fmla="*/ 0 w 1253"/>
                <a:gd name="T10" fmla="*/ 0 h 67"/>
                <a:gd name="T11" fmla="*/ 1253 w 1253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3" h="67">
                  <a:moveTo>
                    <a:pt x="1253" y="0"/>
                  </a:moveTo>
                  <a:lnTo>
                    <a:pt x="1253" y="67"/>
                  </a:lnTo>
                  <a:lnTo>
                    <a:pt x="0" y="67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AutoShape 31"/>
            <p:cNvSpPr>
              <a:spLocks noChangeArrowheads="1"/>
            </p:cNvSpPr>
            <p:nvPr/>
          </p:nvSpPr>
          <p:spPr bwMode="auto">
            <a:xfrm>
              <a:off x="3212" y="2874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Freeform 32"/>
            <p:cNvSpPr>
              <a:spLocks/>
            </p:cNvSpPr>
            <p:nvPr/>
          </p:nvSpPr>
          <p:spPr bwMode="auto">
            <a:xfrm>
              <a:off x="4240" y="2671"/>
              <a:ext cx="1258" cy="273"/>
            </a:xfrm>
            <a:custGeom>
              <a:avLst/>
              <a:gdLst>
                <a:gd name="T0" fmla="*/ 0 w 1257"/>
                <a:gd name="T1" fmla="*/ 0 h 302"/>
                <a:gd name="T2" fmla="*/ 0 w 1257"/>
                <a:gd name="T3" fmla="*/ 298 h 302"/>
                <a:gd name="T4" fmla="*/ 1257 w 1257"/>
                <a:gd name="T5" fmla="*/ 302 h 302"/>
                <a:gd name="T6" fmla="*/ 1257 w 1257"/>
                <a:gd name="T7" fmla="*/ 65 h 3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57"/>
                <a:gd name="T13" fmla="*/ 0 h 302"/>
                <a:gd name="T14" fmla="*/ 1257 w 1257"/>
                <a:gd name="T15" fmla="*/ 302 h 3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57" h="302">
                  <a:moveTo>
                    <a:pt x="0" y="0"/>
                  </a:moveTo>
                  <a:lnTo>
                    <a:pt x="0" y="298"/>
                  </a:lnTo>
                  <a:lnTo>
                    <a:pt x="1257" y="302"/>
                  </a:lnTo>
                  <a:lnTo>
                    <a:pt x="1257" y="65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AutoShape 33"/>
            <p:cNvSpPr>
              <a:spLocks noChangeArrowheads="1"/>
            </p:cNvSpPr>
            <p:nvPr/>
          </p:nvSpPr>
          <p:spPr bwMode="auto">
            <a:xfrm>
              <a:off x="5159" y="2863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34"/>
            <p:cNvSpPr>
              <a:spLocks noChangeArrowheads="1"/>
            </p:cNvSpPr>
            <p:nvPr/>
          </p:nvSpPr>
          <p:spPr bwMode="auto">
            <a:xfrm>
              <a:off x="3935" y="746"/>
              <a:ext cx="442" cy="455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" name="Group 35"/>
            <p:cNvGrpSpPr>
              <a:grpSpLocks/>
            </p:cNvGrpSpPr>
            <p:nvPr/>
          </p:nvGrpSpPr>
          <p:grpSpPr bwMode="auto">
            <a:xfrm>
              <a:off x="4060" y="745"/>
              <a:ext cx="192" cy="340"/>
              <a:chOff x="371" y="1926"/>
              <a:chExt cx="192" cy="340"/>
            </a:xfrm>
          </p:grpSpPr>
          <p:sp>
            <p:nvSpPr>
              <p:cNvPr id="57" name="Line 36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Oval 37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38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" name="Line 39"/>
            <p:cNvSpPr>
              <a:spLocks noChangeShapeType="1"/>
            </p:cNvSpPr>
            <p:nvPr/>
          </p:nvSpPr>
          <p:spPr bwMode="auto">
            <a:xfrm>
              <a:off x="4122" y="1083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40"/>
            <p:cNvSpPr>
              <a:spLocks noChangeShapeType="1"/>
            </p:cNvSpPr>
            <p:nvPr/>
          </p:nvSpPr>
          <p:spPr bwMode="auto">
            <a:xfrm>
              <a:off x="4154" y="1083"/>
              <a:ext cx="0" cy="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41"/>
            <p:cNvSpPr>
              <a:spLocks noChangeArrowheads="1"/>
            </p:cNvSpPr>
            <p:nvPr/>
          </p:nvSpPr>
          <p:spPr bwMode="auto">
            <a:xfrm>
              <a:off x="4094" y="675"/>
              <a:ext cx="135" cy="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 flipH="1">
              <a:off x="3803" y="1217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" name="Group 43"/>
            <p:cNvGrpSpPr>
              <a:grpSpLocks/>
            </p:cNvGrpSpPr>
            <p:nvPr/>
          </p:nvGrpSpPr>
          <p:grpSpPr bwMode="auto">
            <a:xfrm>
              <a:off x="3695" y="1037"/>
              <a:ext cx="192" cy="340"/>
              <a:chOff x="371" y="1926"/>
              <a:chExt cx="192" cy="340"/>
            </a:xfrm>
          </p:grpSpPr>
          <p:sp>
            <p:nvSpPr>
              <p:cNvPr id="54" name="Line 44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Oval 45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46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" name="Rectangle 47"/>
            <p:cNvSpPr>
              <a:spLocks noChangeArrowheads="1"/>
            </p:cNvSpPr>
            <p:nvPr/>
          </p:nvSpPr>
          <p:spPr bwMode="auto">
            <a:xfrm>
              <a:off x="4085" y="1195"/>
              <a:ext cx="135" cy="4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Rectangle 48"/>
            <p:cNvSpPr>
              <a:spLocks noChangeArrowheads="1"/>
            </p:cNvSpPr>
            <p:nvPr/>
          </p:nvSpPr>
          <p:spPr bwMode="auto">
            <a:xfrm>
              <a:off x="3765" y="3072"/>
              <a:ext cx="818" cy="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Rectangle 49"/>
            <p:cNvSpPr>
              <a:spLocks noChangeArrowheads="1"/>
            </p:cNvSpPr>
            <p:nvPr/>
          </p:nvSpPr>
          <p:spPr bwMode="auto">
            <a:xfrm>
              <a:off x="3876" y="3161"/>
              <a:ext cx="600" cy="25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Text Box 50"/>
            <p:cNvSpPr txBox="1">
              <a:spLocks noChangeArrowheads="1"/>
            </p:cNvSpPr>
            <p:nvPr/>
          </p:nvSpPr>
          <p:spPr bwMode="auto">
            <a:xfrm>
              <a:off x="3919" y="3125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马达</a:t>
              </a:r>
            </a:p>
          </p:txBody>
        </p:sp>
        <p:sp>
          <p:nvSpPr>
            <p:cNvPr id="39" name="Rectangle 51"/>
            <p:cNvSpPr>
              <a:spLocks noChangeArrowheads="1"/>
            </p:cNvSpPr>
            <p:nvPr/>
          </p:nvSpPr>
          <p:spPr bwMode="auto">
            <a:xfrm>
              <a:off x="3470" y="530"/>
              <a:ext cx="1300" cy="186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52"/>
            <p:cNvSpPr txBox="1">
              <a:spLocks noChangeArrowheads="1"/>
            </p:cNvSpPr>
            <p:nvPr/>
          </p:nvSpPr>
          <p:spPr bwMode="auto">
            <a:xfrm>
              <a:off x="4888" y="485"/>
              <a:ext cx="5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横梁</a:t>
              </a:r>
            </a:p>
          </p:txBody>
        </p:sp>
        <p:sp>
          <p:nvSpPr>
            <p:cNvPr id="41" name="Line 53"/>
            <p:cNvSpPr>
              <a:spLocks noChangeShapeType="1"/>
            </p:cNvSpPr>
            <p:nvPr/>
          </p:nvSpPr>
          <p:spPr bwMode="auto">
            <a:xfrm>
              <a:off x="4635" y="620"/>
              <a:ext cx="256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54"/>
            <p:cNvSpPr txBox="1">
              <a:spLocks noChangeArrowheads="1"/>
            </p:cNvSpPr>
            <p:nvPr/>
          </p:nvSpPr>
          <p:spPr bwMode="auto">
            <a:xfrm>
              <a:off x="4474" y="812"/>
              <a:ext cx="7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量力环</a:t>
              </a:r>
              <a:endParaRPr lang="en-US" altLang="zh-CN" sz="2400" b="1">
                <a:ea typeface="幼圆" pitchFamily="49" charset="-122"/>
              </a:endParaRPr>
            </a:p>
          </p:txBody>
        </p:sp>
        <p:sp>
          <p:nvSpPr>
            <p:cNvPr id="43" name="Line 55"/>
            <p:cNvSpPr>
              <a:spLocks noChangeShapeType="1"/>
            </p:cNvSpPr>
            <p:nvPr/>
          </p:nvSpPr>
          <p:spPr bwMode="auto">
            <a:xfrm flipH="1">
              <a:off x="4327" y="1018"/>
              <a:ext cx="204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56"/>
            <p:cNvSpPr txBox="1">
              <a:spLocks noChangeArrowheads="1"/>
            </p:cNvSpPr>
            <p:nvPr/>
          </p:nvSpPr>
          <p:spPr bwMode="auto">
            <a:xfrm>
              <a:off x="2934" y="776"/>
              <a:ext cx="7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ea typeface="幼圆" pitchFamily="49" charset="-122"/>
                </a:rPr>
                <a:t>百分表</a:t>
              </a:r>
            </a:p>
          </p:txBody>
        </p:sp>
        <p:sp>
          <p:nvSpPr>
            <p:cNvPr id="45" name="Line 57"/>
            <p:cNvSpPr>
              <a:spLocks noChangeShapeType="1"/>
            </p:cNvSpPr>
            <p:nvPr/>
          </p:nvSpPr>
          <p:spPr bwMode="auto">
            <a:xfrm flipH="1" flipV="1">
              <a:off x="3576" y="1076"/>
              <a:ext cx="138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58"/>
            <p:cNvSpPr>
              <a:spLocks/>
            </p:cNvSpPr>
            <p:nvPr/>
          </p:nvSpPr>
          <p:spPr bwMode="auto">
            <a:xfrm>
              <a:off x="5462" y="1536"/>
              <a:ext cx="70" cy="1206"/>
            </a:xfrm>
            <a:custGeom>
              <a:avLst/>
              <a:gdLst>
                <a:gd name="T0" fmla="*/ 0 w 89"/>
                <a:gd name="T1" fmla="*/ 0 h 1206"/>
                <a:gd name="T2" fmla="*/ 0 w 89"/>
                <a:gd name="T3" fmla="*/ 1206 h 1206"/>
                <a:gd name="T4" fmla="*/ 89 w 89"/>
                <a:gd name="T5" fmla="*/ 1206 h 1206"/>
                <a:gd name="T6" fmla="*/ 89 w 89"/>
                <a:gd name="T7" fmla="*/ 0 h 1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1206"/>
                <a:gd name="T14" fmla="*/ 89 w 89"/>
                <a:gd name="T15" fmla="*/ 1206 h 1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1206">
                  <a:moveTo>
                    <a:pt x="0" y="0"/>
                  </a:moveTo>
                  <a:lnTo>
                    <a:pt x="0" y="1206"/>
                  </a:lnTo>
                  <a:lnTo>
                    <a:pt x="89" y="1206"/>
                  </a:lnTo>
                  <a:lnTo>
                    <a:pt x="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59"/>
            <p:cNvSpPr txBox="1">
              <a:spLocks noChangeArrowheads="1"/>
            </p:cNvSpPr>
            <p:nvPr/>
          </p:nvSpPr>
          <p:spPr bwMode="auto">
            <a:xfrm>
              <a:off x="5150" y="1225"/>
              <a:ext cx="327" cy="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ea typeface="幼圆" pitchFamily="49" charset="-122"/>
                  <a:sym typeface="Symbol" pitchFamily="18" charset="2"/>
                </a:rPr>
                <a:t>量水管</a:t>
              </a:r>
            </a:p>
          </p:txBody>
        </p:sp>
        <p:sp>
          <p:nvSpPr>
            <p:cNvPr id="48" name="Rectangle 60"/>
            <p:cNvSpPr>
              <a:spLocks noChangeArrowheads="1"/>
            </p:cNvSpPr>
            <p:nvPr/>
          </p:nvSpPr>
          <p:spPr bwMode="auto">
            <a:xfrm>
              <a:off x="4898" y="2874"/>
              <a:ext cx="144" cy="1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Oval 61"/>
            <p:cNvSpPr>
              <a:spLocks noChangeArrowheads="1"/>
            </p:cNvSpPr>
            <p:nvPr/>
          </p:nvSpPr>
          <p:spPr bwMode="auto">
            <a:xfrm>
              <a:off x="4936" y="2904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50" name="Picture 62" descr="Graphic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9" y="2291"/>
              <a:ext cx="431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Freeform 63"/>
            <p:cNvSpPr>
              <a:spLocks/>
            </p:cNvSpPr>
            <p:nvPr/>
          </p:nvSpPr>
          <p:spPr bwMode="auto">
            <a:xfrm>
              <a:off x="4958" y="2602"/>
              <a:ext cx="171" cy="272"/>
            </a:xfrm>
            <a:custGeom>
              <a:avLst/>
              <a:gdLst>
                <a:gd name="T0" fmla="*/ 0 w 171"/>
                <a:gd name="T1" fmla="*/ 272 h 272"/>
                <a:gd name="T2" fmla="*/ 6 w 171"/>
                <a:gd name="T3" fmla="*/ 243 h 272"/>
                <a:gd name="T4" fmla="*/ 89 w 171"/>
                <a:gd name="T5" fmla="*/ 166 h 272"/>
                <a:gd name="T6" fmla="*/ 112 w 171"/>
                <a:gd name="T7" fmla="*/ 198 h 272"/>
                <a:gd name="T8" fmla="*/ 102 w 171"/>
                <a:gd name="T9" fmla="*/ 217 h 272"/>
                <a:gd name="T10" fmla="*/ 83 w 171"/>
                <a:gd name="T11" fmla="*/ 230 h 272"/>
                <a:gd name="T12" fmla="*/ 54 w 171"/>
                <a:gd name="T13" fmla="*/ 217 h 272"/>
                <a:gd name="T14" fmla="*/ 41 w 171"/>
                <a:gd name="T15" fmla="*/ 188 h 272"/>
                <a:gd name="T16" fmla="*/ 76 w 171"/>
                <a:gd name="T17" fmla="*/ 115 h 272"/>
                <a:gd name="T18" fmla="*/ 166 w 171"/>
                <a:gd name="T19" fmla="*/ 86 h 272"/>
                <a:gd name="T20" fmla="*/ 150 w 171"/>
                <a:gd name="T21" fmla="*/ 115 h 272"/>
                <a:gd name="T22" fmla="*/ 92 w 171"/>
                <a:gd name="T23" fmla="*/ 124 h 272"/>
                <a:gd name="T24" fmla="*/ 89 w 171"/>
                <a:gd name="T25" fmla="*/ 115 h 272"/>
                <a:gd name="T26" fmla="*/ 80 w 171"/>
                <a:gd name="T27" fmla="*/ 108 h 272"/>
                <a:gd name="T28" fmla="*/ 73 w 171"/>
                <a:gd name="T29" fmla="*/ 83 h 272"/>
                <a:gd name="T30" fmla="*/ 89 w 171"/>
                <a:gd name="T31" fmla="*/ 35 h 272"/>
                <a:gd name="T32" fmla="*/ 131 w 171"/>
                <a:gd name="T33" fmla="*/ 9 h 272"/>
                <a:gd name="T34" fmla="*/ 156 w 171"/>
                <a:gd name="T35" fmla="*/ 3 h 272"/>
                <a:gd name="T36" fmla="*/ 169 w 171"/>
                <a:gd name="T37" fmla="*/ 0 h 2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71"/>
                <a:gd name="T58" fmla="*/ 0 h 272"/>
                <a:gd name="T59" fmla="*/ 171 w 171"/>
                <a:gd name="T60" fmla="*/ 272 h 2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71" h="272">
                  <a:moveTo>
                    <a:pt x="0" y="272"/>
                  </a:moveTo>
                  <a:cubicBezTo>
                    <a:pt x="3" y="263"/>
                    <a:pt x="3" y="252"/>
                    <a:pt x="6" y="243"/>
                  </a:cubicBezTo>
                  <a:cubicBezTo>
                    <a:pt x="18" y="209"/>
                    <a:pt x="56" y="177"/>
                    <a:pt x="89" y="166"/>
                  </a:cubicBezTo>
                  <a:cubicBezTo>
                    <a:pt x="113" y="170"/>
                    <a:pt x="118" y="172"/>
                    <a:pt x="112" y="198"/>
                  </a:cubicBezTo>
                  <a:cubicBezTo>
                    <a:pt x="111" y="203"/>
                    <a:pt x="106" y="214"/>
                    <a:pt x="102" y="217"/>
                  </a:cubicBezTo>
                  <a:cubicBezTo>
                    <a:pt x="96" y="222"/>
                    <a:pt x="83" y="230"/>
                    <a:pt x="83" y="230"/>
                  </a:cubicBezTo>
                  <a:cubicBezTo>
                    <a:pt x="69" y="227"/>
                    <a:pt x="67" y="221"/>
                    <a:pt x="54" y="217"/>
                  </a:cubicBezTo>
                  <a:cubicBezTo>
                    <a:pt x="50" y="206"/>
                    <a:pt x="44" y="199"/>
                    <a:pt x="41" y="188"/>
                  </a:cubicBezTo>
                  <a:cubicBezTo>
                    <a:pt x="46" y="146"/>
                    <a:pt x="30" y="130"/>
                    <a:pt x="76" y="115"/>
                  </a:cubicBezTo>
                  <a:cubicBezTo>
                    <a:pt x="97" y="94"/>
                    <a:pt x="139" y="89"/>
                    <a:pt x="166" y="86"/>
                  </a:cubicBezTo>
                  <a:cubicBezTo>
                    <a:pt x="171" y="102"/>
                    <a:pt x="166" y="110"/>
                    <a:pt x="150" y="115"/>
                  </a:cubicBezTo>
                  <a:cubicBezTo>
                    <a:pt x="129" y="134"/>
                    <a:pt x="127" y="128"/>
                    <a:pt x="92" y="124"/>
                  </a:cubicBezTo>
                  <a:cubicBezTo>
                    <a:pt x="91" y="121"/>
                    <a:pt x="91" y="118"/>
                    <a:pt x="89" y="115"/>
                  </a:cubicBezTo>
                  <a:cubicBezTo>
                    <a:pt x="87" y="112"/>
                    <a:pt x="82" y="111"/>
                    <a:pt x="80" y="108"/>
                  </a:cubicBezTo>
                  <a:cubicBezTo>
                    <a:pt x="76" y="100"/>
                    <a:pt x="76" y="91"/>
                    <a:pt x="73" y="83"/>
                  </a:cubicBezTo>
                  <a:cubicBezTo>
                    <a:pt x="76" y="66"/>
                    <a:pt x="79" y="50"/>
                    <a:pt x="89" y="35"/>
                  </a:cubicBezTo>
                  <a:cubicBezTo>
                    <a:pt x="97" y="9"/>
                    <a:pt x="103" y="14"/>
                    <a:pt x="131" y="9"/>
                  </a:cubicBezTo>
                  <a:cubicBezTo>
                    <a:pt x="139" y="8"/>
                    <a:pt x="148" y="5"/>
                    <a:pt x="156" y="3"/>
                  </a:cubicBezTo>
                  <a:cubicBezTo>
                    <a:pt x="160" y="2"/>
                    <a:pt x="169" y="0"/>
                    <a:pt x="16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 Box 64"/>
            <p:cNvSpPr txBox="1">
              <a:spLocks noChangeArrowheads="1"/>
            </p:cNvSpPr>
            <p:nvPr/>
          </p:nvSpPr>
          <p:spPr bwMode="auto">
            <a:xfrm>
              <a:off x="4717" y="1787"/>
              <a:ext cx="509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ea typeface="幼圆" pitchFamily="49" charset="-122"/>
                </a:rPr>
                <a:t>孔压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ea typeface="幼圆" pitchFamily="49" charset="-122"/>
                </a:rPr>
                <a:t>量测</a:t>
              </a:r>
              <a:endParaRPr lang="en-US" altLang="zh-CN" sz="2200" b="1">
                <a:ea typeface="幼圆" pitchFamily="49" charset="-122"/>
              </a:endParaRPr>
            </a:p>
          </p:txBody>
        </p:sp>
        <p:sp>
          <p:nvSpPr>
            <p:cNvPr id="53" name="Line 65"/>
            <p:cNvSpPr>
              <a:spLocks noChangeShapeType="1"/>
            </p:cNvSpPr>
            <p:nvPr/>
          </p:nvSpPr>
          <p:spPr bwMode="auto">
            <a:xfrm flipH="1" flipV="1">
              <a:off x="4877" y="2291"/>
              <a:ext cx="70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0" name="Rectangle 66"/>
          <p:cNvSpPr>
            <a:spLocks noChangeArrowheads="1"/>
          </p:cNvSpPr>
          <p:nvPr/>
        </p:nvSpPr>
        <p:spPr bwMode="auto">
          <a:xfrm>
            <a:off x="2900363" y="5897432"/>
            <a:ext cx="4495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不固结不排水试验</a:t>
            </a:r>
          </a:p>
        </p:txBody>
      </p:sp>
      <p:sp>
        <p:nvSpPr>
          <p:cNvPr id="71" name="Text Box 68"/>
          <p:cNvSpPr txBox="1">
            <a:spLocks noChangeArrowheads="1"/>
          </p:cNvSpPr>
          <p:nvPr/>
        </p:nvSpPr>
        <p:spPr bwMode="auto">
          <a:xfrm>
            <a:off x="460375" y="1381125"/>
            <a:ext cx="3870325" cy="344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排水阀门关闭，</a:t>
            </a:r>
            <a:r>
              <a:rPr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施加围压</a:t>
            </a:r>
            <a:r>
              <a:rPr kumimoji="1" lang="zh-CN" altLang="en-US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zh-CN" altLang="en-US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，产生孔隙水压力 </a:t>
            </a:r>
            <a:r>
              <a:rPr kumimoji="1" lang="en-US" altLang="zh-CN" sz="26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6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1" lang="en-US" altLang="zh-CN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6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B</a:t>
            </a:r>
            <a:r>
              <a:rPr kumimoji="1" lang="en-US" altLang="zh-CN" sz="26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endParaRPr kumimoji="1" lang="zh-CN" altLang="en-US" sz="26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排水阀门</a:t>
            </a:r>
            <a:r>
              <a:rPr kumimoji="1" lang="zh-CN" altLang="en-US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关闭，</a:t>
            </a: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</a:t>
            </a:r>
            <a:r>
              <a:rPr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</a:t>
            </a:r>
            <a:r>
              <a:rPr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zh-CN" altLang="en-US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产生</a:t>
            </a: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的超静</a:t>
            </a:r>
            <a:r>
              <a:rPr kumimoji="1" lang="zh-CN" altLang="en-US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孔隙水压力</a:t>
            </a:r>
            <a:r>
              <a:rPr kumimoji="1" lang="en-US" altLang="zh-CN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/>
            </a:r>
            <a:br>
              <a:rPr kumimoji="1" lang="en-US" altLang="zh-CN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lang="en-US" altLang="zh-CN" sz="26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6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sz="26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BA</a:t>
            </a:r>
            <a:r>
              <a:rPr lang="en-US" altLang="zh-CN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6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6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6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6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lang="zh-CN" altLang="en-US" sz="26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3" name="Rectangle 69"/>
          <p:cNvSpPr>
            <a:spLocks noChangeArrowheads="1"/>
          </p:cNvSpPr>
          <p:nvPr/>
        </p:nvSpPr>
        <p:spPr bwMode="auto">
          <a:xfrm>
            <a:off x="414338" y="636429"/>
            <a:ext cx="245586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32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试验条件</a:t>
            </a:r>
          </a:p>
        </p:txBody>
      </p:sp>
    </p:spTree>
    <p:extLst>
      <p:ext uri="{BB962C8B-B14F-4D97-AF65-F5344CB8AC3E}">
        <p14:creationId xmlns:p14="http://schemas.microsoft.com/office/powerpoint/2010/main" val="40393432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2103253" y="2437953"/>
            <a:ext cx="4873632" cy="2039938"/>
            <a:chOff x="2594" y="725"/>
            <a:chExt cx="3070" cy="1285"/>
          </a:xfrm>
        </p:grpSpPr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V="1">
              <a:off x="2861" y="874"/>
              <a:ext cx="0" cy="10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2859" y="1714"/>
              <a:ext cx="26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5371" y="1710"/>
              <a:ext cx="29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cs typeface="Arial" charset="0"/>
                  <a:sym typeface="Symbol" pitchFamily="18" charset="2"/>
                </a:rPr>
                <a:t></a:t>
              </a:r>
              <a:endParaRPr lang="zh-CN" altLang="en-US" sz="2400" b="1" dirty="0">
                <a:cs typeface="Arial" charset="0"/>
                <a:sym typeface="Symbol" pitchFamily="18" charset="2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2594" y="725"/>
              <a:ext cx="28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3685991" y="3226941"/>
            <a:ext cx="1700212" cy="1174750"/>
            <a:chOff x="3591" y="1222"/>
            <a:chExt cx="1071" cy="740"/>
          </a:xfrm>
        </p:grpSpPr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3591" y="1691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2</a:t>
              </a:r>
              <a:r>
                <a:rPr lang="en-US" altLang="zh-CN" sz="2200" b="1" baseline="-25000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200" b="1" baseline="-25000" dirty="0">
                <a:solidFill>
                  <a:srgbClr val="006600"/>
                </a:solidFill>
                <a:ea typeface="幼圆" pitchFamily="49" charset="-122"/>
              </a:endParaRPr>
            </a:p>
          </p:txBody>
        </p:sp>
        <p:sp>
          <p:nvSpPr>
            <p:cNvPr id="18" name="Arc 15"/>
            <p:cNvSpPr>
              <a:spLocks/>
            </p:cNvSpPr>
            <p:nvPr/>
          </p:nvSpPr>
          <p:spPr bwMode="auto">
            <a:xfrm flipH="1" flipV="1">
              <a:off x="3699" y="1222"/>
              <a:ext cx="963" cy="492"/>
            </a:xfrm>
            <a:custGeom>
              <a:avLst/>
              <a:gdLst>
                <a:gd name="T0" fmla="*/ 963 w 43200"/>
                <a:gd name="T1" fmla="*/ 2 h 22107"/>
                <a:gd name="T2" fmla="*/ 0 w 43200"/>
                <a:gd name="T3" fmla="*/ 0 h 22107"/>
                <a:gd name="T4" fmla="*/ 482 w 43200"/>
                <a:gd name="T5" fmla="*/ 11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16"/>
          <p:cNvGrpSpPr>
            <a:grpSpLocks/>
          </p:cNvGrpSpPr>
          <p:nvPr/>
        </p:nvGrpSpPr>
        <p:grpSpPr bwMode="auto">
          <a:xfrm>
            <a:off x="2087378" y="2587185"/>
            <a:ext cx="4648200" cy="820741"/>
            <a:chOff x="2584" y="819"/>
            <a:chExt cx="2928" cy="517"/>
          </a:xfrm>
        </p:grpSpPr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4521" y="819"/>
              <a:ext cx="5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 smtClean="0">
                  <a:solidFill>
                    <a:srgbClr val="C00000"/>
                  </a:solidFill>
                  <a:sym typeface="Symbol"/>
                </a:rPr>
                <a:t></a:t>
              </a:r>
              <a:r>
                <a:rPr kumimoji="1" lang="en-US" altLang="zh-CN" sz="2400" b="1" baseline="-25000" dirty="0" smtClean="0">
                  <a:solidFill>
                    <a:srgbClr val="C00000"/>
                  </a:solidFill>
                  <a:sym typeface="Symbol" pitchFamily="18" charset="2"/>
                </a:rPr>
                <a:t>u</a:t>
              </a:r>
              <a:r>
                <a:rPr kumimoji="1" lang="en-US" altLang="zh-CN" sz="2400" b="1" dirty="0" smtClean="0">
                  <a:solidFill>
                    <a:srgbClr val="C00000"/>
                  </a:solidFill>
                  <a:sym typeface="Symbol" pitchFamily="18" charset="2"/>
                </a:rPr>
                <a:t>=0</a:t>
              </a:r>
              <a:endParaRPr kumimoji="1" lang="en-US" altLang="zh-CN" sz="2400" b="1" dirty="0">
                <a:solidFill>
                  <a:srgbClr val="C00000"/>
                </a:solidFill>
                <a:sym typeface="Symbol" pitchFamily="18" charset="2"/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5190" y="1006"/>
              <a:ext cx="3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C00000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800" b="1" baseline="-25000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f</a:t>
              </a:r>
              <a:endParaRPr kumimoji="1" lang="en-US" altLang="zh-CN" sz="2800" dirty="0">
                <a:solidFill>
                  <a:srgbClr val="C00000"/>
                </a:solidFill>
                <a:ea typeface="华文隶书" pitchFamily="2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2861" y="1216"/>
              <a:ext cx="2347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2584" y="1041"/>
              <a:ext cx="27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C00000"/>
                  </a:solidFill>
                  <a:ea typeface="幼圆" pitchFamily="49" charset="-122"/>
                </a:rPr>
                <a:t>c</a:t>
              </a:r>
              <a:r>
                <a:rPr lang="en-US" altLang="zh-CN" sz="2400" b="1" baseline="-25000" dirty="0">
                  <a:solidFill>
                    <a:srgbClr val="C00000"/>
                  </a:solidFill>
                  <a:ea typeface="幼圆" pitchFamily="49" charset="-122"/>
                </a:rPr>
                <a:t>u</a:t>
              </a: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 flipV="1">
              <a:off x="4346" y="1048"/>
              <a:ext cx="192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22"/>
          <p:cNvGrpSpPr>
            <a:grpSpLocks/>
          </p:cNvGrpSpPr>
          <p:nvPr/>
        </p:nvGrpSpPr>
        <p:grpSpPr bwMode="auto">
          <a:xfrm>
            <a:off x="4636903" y="3223766"/>
            <a:ext cx="1706563" cy="1154113"/>
            <a:chOff x="4182" y="1220"/>
            <a:chExt cx="1075" cy="727"/>
          </a:xfrm>
        </p:grpSpPr>
        <p:sp>
          <p:nvSpPr>
            <p:cNvPr id="26" name="Arc 23"/>
            <p:cNvSpPr>
              <a:spLocks/>
            </p:cNvSpPr>
            <p:nvPr/>
          </p:nvSpPr>
          <p:spPr bwMode="auto">
            <a:xfrm flipH="1" flipV="1">
              <a:off x="4294" y="1220"/>
              <a:ext cx="963" cy="492"/>
            </a:xfrm>
            <a:custGeom>
              <a:avLst/>
              <a:gdLst>
                <a:gd name="T0" fmla="*/ 963 w 43200"/>
                <a:gd name="T1" fmla="*/ 2 h 22107"/>
                <a:gd name="T2" fmla="*/ 0 w 43200"/>
                <a:gd name="T3" fmla="*/ 0 h 22107"/>
                <a:gd name="T4" fmla="*/ 482 w 43200"/>
                <a:gd name="T5" fmla="*/ 11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82" y="1676"/>
              <a:ext cx="3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r>
                <a:rPr lang="en-US" altLang="zh-CN" sz="2200" b="1" baseline="-25000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200" b="1" baseline="-25000" dirty="0">
                <a:solidFill>
                  <a:srgbClr val="006600"/>
                </a:solidFill>
                <a:ea typeface="幼圆" pitchFamily="49" charset="-122"/>
              </a:endParaRPr>
            </a:p>
          </p:txBody>
        </p:sp>
      </p:grp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699003" y="1126275"/>
            <a:ext cx="7579059" cy="1395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20000"/>
              </a:lnSpc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整个试验过程中不排水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，试样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密度不变，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不论围压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力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多大，抗剪强度和破坏时的有效应力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状态均相同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lvl="1" indent="-342900" eaLnBrk="1" hangingPunct="1">
              <a:lnSpc>
                <a:spcPct val="120000"/>
              </a:lnSpc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总应力抗剪强度包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线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为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水平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线   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 </a:t>
            </a:r>
            <a:r>
              <a:rPr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 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=(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/2</a:t>
            </a:r>
          </a:p>
        </p:txBody>
      </p:sp>
      <p:grpSp>
        <p:nvGrpSpPr>
          <p:cNvPr id="52" name="Group 13"/>
          <p:cNvGrpSpPr>
            <a:grpSpLocks/>
          </p:cNvGrpSpPr>
          <p:nvPr/>
        </p:nvGrpSpPr>
        <p:grpSpPr bwMode="auto">
          <a:xfrm>
            <a:off x="2898591" y="3226941"/>
            <a:ext cx="1687512" cy="1171575"/>
            <a:chOff x="3599" y="1222"/>
            <a:chExt cx="1063" cy="738"/>
          </a:xfrm>
        </p:grpSpPr>
        <p:sp>
          <p:nvSpPr>
            <p:cNvPr id="53" name="Text Box 14"/>
            <p:cNvSpPr txBox="1">
              <a:spLocks noChangeArrowheads="1"/>
            </p:cNvSpPr>
            <p:nvPr/>
          </p:nvSpPr>
          <p:spPr bwMode="auto">
            <a:xfrm>
              <a:off x="3599" y="1691"/>
              <a:ext cx="34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200" b="1" baseline="30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200" b="1" baseline="-25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200" b="1" baseline="-25000" dirty="0">
                <a:solidFill>
                  <a:srgbClr val="006600"/>
                </a:solidFill>
                <a:ea typeface="幼圆" pitchFamily="49" charset="-122"/>
              </a:endParaRPr>
            </a:p>
          </p:txBody>
        </p:sp>
        <p:sp>
          <p:nvSpPr>
            <p:cNvPr id="54" name="Arc 15"/>
            <p:cNvSpPr>
              <a:spLocks/>
            </p:cNvSpPr>
            <p:nvPr/>
          </p:nvSpPr>
          <p:spPr bwMode="auto">
            <a:xfrm flipH="1" flipV="1">
              <a:off x="3699" y="1222"/>
              <a:ext cx="963" cy="492"/>
            </a:xfrm>
            <a:custGeom>
              <a:avLst/>
              <a:gdLst>
                <a:gd name="T0" fmla="*/ 963 w 43200"/>
                <a:gd name="T1" fmla="*/ 2 h 22107"/>
                <a:gd name="T2" fmla="*/ 0 w 43200"/>
                <a:gd name="T3" fmla="*/ 0 h 22107"/>
                <a:gd name="T4" fmla="*/ 482 w 43200"/>
                <a:gd name="T5" fmla="*/ 11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5" name="Rectangle 69"/>
          <p:cNvSpPr>
            <a:spLocks noChangeArrowheads="1"/>
          </p:cNvSpPr>
          <p:nvPr/>
        </p:nvSpPr>
        <p:spPr bwMode="auto">
          <a:xfrm>
            <a:off x="414338" y="636939"/>
            <a:ext cx="66976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饱和土样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的不排水强度指标</a:t>
            </a:r>
            <a:r>
              <a:rPr lang="en-US" altLang="zh-CN" sz="2800" b="1" i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57" name="AutoShape 33"/>
          <p:cNvSpPr>
            <a:spLocks noChangeArrowheads="1"/>
          </p:cNvSpPr>
          <p:nvPr/>
        </p:nvSpPr>
        <p:spPr bwMode="auto">
          <a:xfrm>
            <a:off x="1063068" y="4574999"/>
            <a:ext cx="596572" cy="499252"/>
          </a:xfrm>
          <a:prstGeom prst="homePlate">
            <a:avLst>
              <a:gd name="adj" fmla="val 28392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59" name="Rectangle 31"/>
          <p:cNvSpPr>
            <a:spLocks noChangeArrowheads="1"/>
          </p:cNvSpPr>
          <p:nvPr/>
        </p:nvSpPr>
        <p:spPr bwMode="auto">
          <a:xfrm>
            <a:off x="1795849" y="4566943"/>
            <a:ext cx="7002162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en-US" altLang="zh-CN" sz="22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称为</a:t>
            </a:r>
            <a:r>
              <a:rPr lang="zh-CN" altLang="en-US" sz="22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不</a:t>
            </a:r>
            <a:r>
              <a:rPr lang="zh-CN" altLang="en-US" sz="2200" b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排水</a:t>
            </a:r>
            <a:r>
              <a:rPr lang="zh-CN" altLang="en-US" sz="22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强度指标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，其大小</a:t>
            </a:r>
            <a:r>
              <a:rPr lang="zh-CN" altLang="en-US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取决于土样所受的先期固结压力（或试样密度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）的大小</a:t>
            </a:r>
            <a:endParaRPr lang="en-US" altLang="zh-CN" sz="22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先期</a:t>
            </a:r>
            <a:r>
              <a:rPr lang="zh-CN" altLang="en-US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固结压力愈高，土样的密度愈大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也愈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高</a:t>
            </a:r>
            <a:endParaRPr lang="en-US" altLang="zh-CN" sz="22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8" name="Rectangle 66"/>
          <p:cNvSpPr>
            <a:spLocks noChangeArrowheads="1"/>
          </p:cNvSpPr>
          <p:nvPr/>
        </p:nvSpPr>
        <p:spPr bwMode="auto">
          <a:xfrm>
            <a:off x="2900363" y="5955098"/>
            <a:ext cx="4495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不固结不排水试验</a:t>
            </a:r>
          </a:p>
        </p:txBody>
      </p:sp>
    </p:spTree>
    <p:extLst>
      <p:ext uri="{BB962C8B-B14F-4D97-AF65-F5344CB8AC3E}">
        <p14:creationId xmlns:p14="http://schemas.microsoft.com/office/powerpoint/2010/main" val="149601014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  <p:bldP spid="57" grpId="0" animBg="1"/>
      <p:bldP spid="59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1592520" y="2696360"/>
            <a:ext cx="6122753" cy="459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10000"/>
              </a:spcAft>
              <a:buClr>
                <a:srgbClr val="C00000"/>
              </a:buClr>
              <a:buSzPct val="135000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不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排水试验无法确定有效应力强度指标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zh-CN" altLang="en-US" sz="2200" b="1" i="1" dirty="0">
                <a:solidFill>
                  <a:srgbClr val="000066"/>
                </a:solidFill>
                <a:ea typeface="华文隶书" pitchFamily="2" charset="-122"/>
                <a:sym typeface="Symbol"/>
              </a:rPr>
              <a:t>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endParaRPr lang="zh-CN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6" name="AutoShape 33"/>
          <p:cNvSpPr>
            <a:spLocks noChangeArrowheads="1"/>
          </p:cNvSpPr>
          <p:nvPr/>
        </p:nvSpPr>
        <p:spPr bwMode="auto">
          <a:xfrm>
            <a:off x="991943" y="2701232"/>
            <a:ext cx="539263" cy="476859"/>
          </a:xfrm>
          <a:prstGeom prst="homePlate">
            <a:avLst>
              <a:gd name="adj" fmla="val 28392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2111064" y="3101973"/>
            <a:ext cx="6050617" cy="2511053"/>
            <a:chOff x="2632" y="716"/>
            <a:chExt cx="3012" cy="1250"/>
          </a:xfrm>
        </p:grpSpPr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V="1">
              <a:off x="2861" y="812"/>
              <a:ext cx="0" cy="11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400">
                <a:solidFill>
                  <a:srgbClr val="C00000"/>
                </a:solidFill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2859" y="1714"/>
              <a:ext cx="26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solidFill>
                  <a:srgbClr val="C00000"/>
                </a:solidFill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5162" y="1715"/>
              <a:ext cx="48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000066"/>
                  </a:solidFill>
                  <a:cs typeface="Arial" charset="0"/>
                  <a:sym typeface="Symbol" pitchFamily="18" charset="2"/>
                </a:rPr>
                <a:t>, </a:t>
              </a:r>
              <a:r>
                <a:rPr lang="zh-CN" altLang="en-US" sz="2400" b="1" dirty="0" smtClean="0">
                  <a:solidFill>
                    <a:srgbClr val="000066"/>
                  </a:solidFill>
                  <a:cs typeface="Arial" charset="0"/>
                  <a:sym typeface="Symbol" pitchFamily="18" charset="2"/>
                </a:rPr>
                <a:t></a:t>
              </a:r>
              <a:endParaRPr lang="zh-CN" altLang="en-US" sz="2400" b="1" dirty="0">
                <a:solidFill>
                  <a:srgbClr val="000066"/>
                </a:solidFill>
                <a:cs typeface="Arial" charset="0"/>
                <a:sym typeface="Symbol" pitchFamily="18" charset="2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2632" y="716"/>
              <a:ext cx="28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sp>
        <p:nvSpPr>
          <p:cNvPr id="15" name="Arc 12"/>
          <p:cNvSpPr>
            <a:spLocks/>
          </p:cNvSpPr>
          <p:nvPr/>
        </p:nvSpPr>
        <p:spPr bwMode="auto">
          <a:xfrm flipH="1" flipV="1">
            <a:off x="3316366" y="4114414"/>
            <a:ext cx="1934508" cy="988346"/>
          </a:xfrm>
          <a:custGeom>
            <a:avLst/>
            <a:gdLst>
              <a:gd name="T0" fmla="*/ 1528621 w 43200"/>
              <a:gd name="T1" fmla="*/ 2862 h 22107"/>
              <a:gd name="T2" fmla="*/ 212 w 43200"/>
              <a:gd name="T3" fmla="*/ 0 h 22107"/>
              <a:gd name="T4" fmla="*/ 764381 w 43200"/>
              <a:gd name="T5" fmla="*/ 17913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grpSp>
        <p:nvGrpSpPr>
          <p:cNvPr id="19" name="Group 16"/>
          <p:cNvGrpSpPr>
            <a:grpSpLocks/>
          </p:cNvGrpSpPr>
          <p:nvPr/>
        </p:nvGrpSpPr>
        <p:grpSpPr bwMode="auto">
          <a:xfrm>
            <a:off x="2046783" y="3541918"/>
            <a:ext cx="5849726" cy="691048"/>
            <a:chOff x="2600" y="935"/>
            <a:chExt cx="2912" cy="344"/>
          </a:xfrm>
        </p:grpSpPr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4533" y="935"/>
              <a:ext cx="4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 smtClean="0">
                  <a:solidFill>
                    <a:schemeClr val="tx2"/>
                  </a:solidFill>
                  <a:sym typeface="Symbol"/>
                </a:rPr>
                <a:t></a:t>
              </a:r>
              <a:r>
                <a:rPr kumimoji="1" lang="en-US" altLang="zh-CN" sz="2400" b="1" baseline="-25000" dirty="0" smtClean="0">
                  <a:solidFill>
                    <a:schemeClr val="tx2"/>
                  </a:solidFill>
                  <a:sym typeface="Symbol" pitchFamily="18" charset="2"/>
                </a:rPr>
                <a:t>u</a:t>
              </a:r>
              <a:r>
                <a:rPr kumimoji="1" lang="en-US" altLang="zh-CN" sz="2400" b="1" dirty="0" smtClean="0">
                  <a:solidFill>
                    <a:schemeClr val="tx2"/>
                  </a:solidFill>
                  <a:sym typeface="Symbol" pitchFamily="18" charset="2"/>
                </a:rPr>
                <a:t>=0</a:t>
              </a:r>
              <a:endParaRPr kumimoji="1" lang="en-US" altLang="zh-CN" sz="2400" b="1" dirty="0">
                <a:solidFill>
                  <a:schemeClr val="tx2"/>
                </a:solidFill>
                <a:sym typeface="Symbol" pitchFamily="18" charset="2"/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5190" y="1006"/>
              <a:ext cx="322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8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f</a:t>
              </a:r>
              <a:endParaRPr kumimoji="1" lang="en-US" altLang="zh-CN" sz="2800" dirty="0">
                <a:solidFill>
                  <a:srgbClr val="000066"/>
                </a:solidFill>
                <a:ea typeface="华文隶书" pitchFamily="2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2861" y="1216"/>
              <a:ext cx="234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2600" y="1049"/>
              <a:ext cx="2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3399"/>
                  </a:solidFill>
                  <a:ea typeface="幼圆" pitchFamily="49" charset="-122"/>
                </a:rPr>
                <a:t>c</a:t>
              </a:r>
              <a:r>
                <a:rPr lang="en-US" altLang="zh-CN" sz="2400" b="1" baseline="-25000" dirty="0">
                  <a:solidFill>
                    <a:srgbClr val="003399"/>
                  </a:solidFill>
                  <a:ea typeface="幼圆" pitchFamily="49" charset="-122"/>
                </a:rPr>
                <a:t>u</a:t>
              </a: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 flipV="1">
              <a:off x="4346" y="1087"/>
              <a:ext cx="200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28" name="Group 25"/>
          <p:cNvGrpSpPr>
            <a:grpSpLocks/>
          </p:cNvGrpSpPr>
          <p:nvPr/>
        </p:nvGrpSpPr>
        <p:grpSpPr bwMode="auto">
          <a:xfrm>
            <a:off x="2119106" y="3126087"/>
            <a:ext cx="4339080" cy="1834076"/>
            <a:chOff x="2636" y="728"/>
            <a:chExt cx="2160" cy="913"/>
          </a:xfrm>
        </p:grpSpPr>
        <p:sp>
          <p:nvSpPr>
            <p:cNvPr id="29" name="Line 26"/>
            <p:cNvSpPr>
              <a:spLocks noChangeShapeType="1"/>
            </p:cNvSpPr>
            <p:nvPr/>
          </p:nvSpPr>
          <p:spPr bwMode="auto">
            <a:xfrm flipV="1">
              <a:off x="2862" y="829"/>
              <a:ext cx="1587" cy="729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4412" y="728"/>
              <a:ext cx="38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C00000"/>
                  </a:solidFill>
                  <a:ea typeface="华文隶书" pitchFamily="2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>
                  <a:solidFill>
                    <a:srgbClr val="C00000"/>
                  </a:solidFill>
                  <a:ea typeface="华文隶书" pitchFamily="2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400" dirty="0">
                  <a:solidFill>
                    <a:srgbClr val="C00000"/>
                  </a:solidFill>
                  <a:ea typeface="华文隶书" pitchFamily="2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2636" y="1411"/>
              <a:ext cx="1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C00000"/>
                  </a:solidFill>
                  <a:ea typeface="幼圆" pitchFamily="49" charset="-122"/>
                </a:rPr>
                <a:t>c</a:t>
              </a:r>
              <a:r>
                <a:rPr lang="en-US" altLang="zh-CN" sz="2400" b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</a:t>
              </a:r>
              <a:endParaRPr lang="en-US" altLang="zh-CN" sz="2400" b="1" baseline="-25000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  <p:sp>
          <p:nvSpPr>
            <p:cNvPr id="32" name="Rectangle 29"/>
            <p:cNvSpPr>
              <a:spLocks noChangeArrowheads="1"/>
            </p:cNvSpPr>
            <p:nvPr/>
          </p:nvSpPr>
          <p:spPr bwMode="auto">
            <a:xfrm>
              <a:off x="4117" y="868"/>
              <a:ext cx="3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 smtClean="0">
                  <a:solidFill>
                    <a:srgbClr val="A50021"/>
                  </a:solidFill>
                  <a:ea typeface="华文隶书" pitchFamily="2" charset="-122"/>
                  <a:sym typeface="Symbol"/>
                </a:rPr>
                <a:t></a:t>
              </a:r>
              <a:r>
                <a:rPr lang="zh-CN" altLang="en-US" sz="2400" b="1" dirty="0" smtClean="0">
                  <a:solidFill>
                    <a:srgbClr val="A50021"/>
                  </a:solidFill>
                  <a:ea typeface="华文隶书" pitchFamily="2" charset="-122"/>
                  <a:sym typeface="Symbol" pitchFamily="18" charset="2"/>
                </a:rPr>
                <a:t></a:t>
              </a:r>
              <a:endParaRPr lang="zh-CN" altLang="en-US" sz="2400" b="1" dirty="0">
                <a:solidFill>
                  <a:srgbClr val="A50021"/>
                </a:solidFill>
                <a:sym typeface="Symbol" pitchFamily="18" charset="2"/>
              </a:endParaRP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>
              <a:off x="3969" y="1079"/>
              <a:ext cx="2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37" name="Group 34"/>
          <p:cNvGrpSpPr>
            <a:grpSpLocks/>
          </p:cNvGrpSpPr>
          <p:nvPr/>
        </p:nvGrpSpPr>
        <p:grpSpPr bwMode="auto">
          <a:xfrm>
            <a:off x="3324402" y="4480023"/>
            <a:ext cx="1555942" cy="610685"/>
            <a:chOff x="3236" y="1402"/>
            <a:chExt cx="454" cy="304"/>
          </a:xfrm>
        </p:grpSpPr>
        <p:sp>
          <p:nvSpPr>
            <p:cNvPr id="38" name="Line 35"/>
            <p:cNvSpPr>
              <a:spLocks noChangeShapeType="1"/>
            </p:cNvSpPr>
            <p:nvPr/>
          </p:nvSpPr>
          <p:spPr bwMode="auto">
            <a:xfrm>
              <a:off x="3690" y="1578"/>
              <a:ext cx="0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 flipH="1">
              <a:off x="3236" y="1654"/>
              <a:ext cx="4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0" name="Text Box 37"/>
            <p:cNvSpPr txBox="1">
              <a:spLocks noChangeArrowheads="1"/>
            </p:cNvSpPr>
            <p:nvPr/>
          </p:nvSpPr>
          <p:spPr bwMode="auto">
            <a:xfrm>
              <a:off x="3384" y="1402"/>
              <a:ext cx="21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400" b="1" baseline="-25000" dirty="0" err="1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f</a:t>
              </a:r>
              <a:endParaRPr lang="en-US" altLang="zh-CN" sz="2400" b="1" baseline="-25000" dirty="0">
                <a:solidFill>
                  <a:srgbClr val="006600"/>
                </a:solidFill>
                <a:ea typeface="幼圆" pitchFamily="49" charset="-122"/>
              </a:endParaRPr>
            </a:p>
          </p:txBody>
        </p:sp>
      </p:grpSp>
      <p:grpSp>
        <p:nvGrpSpPr>
          <p:cNvPr id="46" name="Group 43"/>
          <p:cNvGrpSpPr>
            <a:grpSpLocks/>
          </p:cNvGrpSpPr>
          <p:nvPr/>
        </p:nvGrpSpPr>
        <p:grpSpPr bwMode="auto">
          <a:xfrm>
            <a:off x="5178547" y="4337395"/>
            <a:ext cx="1351944" cy="707111"/>
            <a:chOff x="4159" y="1331"/>
            <a:chExt cx="673" cy="352"/>
          </a:xfrm>
        </p:grpSpPr>
        <p:sp>
          <p:nvSpPr>
            <p:cNvPr id="47" name="Text Box 44"/>
            <p:cNvSpPr txBox="1">
              <a:spLocks noChangeArrowheads="1"/>
            </p:cNvSpPr>
            <p:nvPr/>
          </p:nvSpPr>
          <p:spPr bwMode="auto">
            <a:xfrm>
              <a:off x="4226" y="1331"/>
              <a:ext cx="606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有效应力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莫尔圆</a:t>
              </a:r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 flipV="1">
              <a:off x="4159" y="1478"/>
              <a:ext cx="101" cy="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692164" y="4118429"/>
            <a:ext cx="3289708" cy="1393542"/>
            <a:chOff x="4692164" y="4802183"/>
            <a:chExt cx="3289708" cy="1393542"/>
          </a:xfrm>
        </p:grpSpPr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4692164" y="5733693"/>
              <a:ext cx="474084" cy="462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400" b="1" baseline="-25000" dirty="0">
                <a:solidFill>
                  <a:srgbClr val="006600"/>
                </a:solidFill>
                <a:ea typeface="幼圆" pitchFamily="49" charset="-122"/>
              </a:endParaRPr>
            </a:p>
          </p:txBody>
        </p:sp>
        <p:sp>
          <p:nvSpPr>
            <p:cNvPr id="18" name="Arc 15"/>
            <p:cNvSpPr>
              <a:spLocks/>
            </p:cNvSpPr>
            <p:nvPr/>
          </p:nvSpPr>
          <p:spPr bwMode="auto">
            <a:xfrm flipH="1" flipV="1">
              <a:off x="4881825" y="4802183"/>
              <a:ext cx="1934505" cy="988346"/>
            </a:xfrm>
            <a:custGeom>
              <a:avLst/>
              <a:gdLst>
                <a:gd name="T0" fmla="*/ 963 w 43200"/>
                <a:gd name="T1" fmla="*/ 2 h 22107"/>
                <a:gd name="T2" fmla="*/ 0 w 43200"/>
                <a:gd name="T3" fmla="*/ 0 h 22107"/>
                <a:gd name="T4" fmla="*/ 482 w 43200"/>
                <a:gd name="T5" fmla="*/ 11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pSp>
          <p:nvGrpSpPr>
            <p:cNvPr id="49" name="Group 46"/>
            <p:cNvGrpSpPr>
              <a:grpSpLocks/>
            </p:cNvGrpSpPr>
            <p:nvPr/>
          </p:nvGrpSpPr>
          <p:grpSpPr bwMode="auto">
            <a:xfrm>
              <a:off x="6734377" y="4963152"/>
              <a:ext cx="1247495" cy="707110"/>
              <a:chOff x="5124" y="1101"/>
              <a:chExt cx="621" cy="352"/>
            </a:xfrm>
          </p:grpSpPr>
          <p:sp>
            <p:nvSpPr>
              <p:cNvPr id="50" name="Text Box 47"/>
              <p:cNvSpPr txBox="1">
                <a:spLocks noChangeArrowheads="1"/>
              </p:cNvSpPr>
              <p:nvPr/>
            </p:nvSpPr>
            <p:spPr bwMode="auto">
              <a:xfrm>
                <a:off x="5268" y="1101"/>
                <a:ext cx="477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>
                    <a:solidFill>
                      <a:srgbClr val="0066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总应力</a:t>
                </a:r>
              </a:p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dirty="0">
                    <a:solidFill>
                      <a:srgbClr val="0066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莫尔圆</a:t>
                </a:r>
              </a:p>
            </p:txBody>
          </p:sp>
          <p:sp>
            <p:nvSpPr>
              <p:cNvPr id="51" name="Line 48"/>
              <p:cNvSpPr>
                <a:spLocks noChangeShapeType="1"/>
              </p:cNvSpPr>
              <p:nvPr/>
            </p:nvSpPr>
            <p:spPr bwMode="auto">
              <a:xfrm flipV="1">
                <a:off x="5124" y="1224"/>
                <a:ext cx="173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</p:grpSp>
      <p:sp>
        <p:nvSpPr>
          <p:cNvPr id="52" name="Rectangle 69"/>
          <p:cNvSpPr>
            <a:spLocks noChangeArrowheads="1"/>
          </p:cNvSpPr>
          <p:nvPr/>
        </p:nvSpPr>
        <p:spPr bwMode="auto">
          <a:xfrm>
            <a:off x="414338" y="620464"/>
            <a:ext cx="64968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破坏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时的有效应力状态和强度包线</a:t>
            </a:r>
            <a:endParaRPr lang="en-US" altLang="zh-CN" sz="2800" b="1" baseline="-25000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Text Box 32"/>
          <p:cNvSpPr txBox="1">
            <a:spLocks noChangeArrowheads="1"/>
          </p:cNvSpPr>
          <p:nvPr/>
        </p:nvSpPr>
        <p:spPr bwMode="auto">
          <a:xfrm>
            <a:off x="946299" y="1150700"/>
            <a:ext cx="7052642" cy="1480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20000"/>
              </a:lnSpc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施加围压力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后，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= 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=0</a:t>
            </a:r>
            <a:endParaRPr lang="en-US" altLang="zh-CN" sz="22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120000"/>
              </a:lnSpc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剪切破坏状态，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=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200" b="1" baseline="-25000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zh-CN" altLang="en-US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，</a:t>
            </a:r>
            <a:r>
              <a:rPr lang="zh-CN" altLang="en-US" sz="22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zh-CN" altLang="en-US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= - </a:t>
            </a:r>
            <a:r>
              <a:rPr lang="en-US" altLang="zh-CN" sz="2200" b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(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-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</a:p>
          <a:p>
            <a:pPr marL="342900" indent="-342900" eaLnBrk="1" hangingPunct="1">
              <a:lnSpc>
                <a:spcPct val="120000"/>
              </a:lnSpc>
              <a:spcAft>
                <a:spcPct val="100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不同</a:t>
            </a:r>
            <a:r>
              <a:rPr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试验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破坏时得到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一个相同的有效应力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莫尔圆</a:t>
            </a:r>
            <a:endParaRPr lang="en-US" altLang="zh-CN" sz="2200" b="1" baseline="-25000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091785" y="5113226"/>
            <a:ext cx="2286203" cy="733425"/>
            <a:chOff x="3091785" y="5796980"/>
            <a:chExt cx="2286203" cy="733425"/>
          </a:xfrm>
        </p:grpSpPr>
        <p:sp>
          <p:nvSpPr>
            <p:cNvPr id="76" name="Text Box 14"/>
            <p:cNvSpPr txBox="1">
              <a:spLocks noChangeArrowheads="1"/>
            </p:cNvSpPr>
            <p:nvPr/>
          </p:nvSpPr>
          <p:spPr bwMode="auto">
            <a:xfrm>
              <a:off x="3091785" y="6068740"/>
              <a:ext cx="228620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3</a:t>
              </a:r>
              <a:r>
                <a:rPr lang="en-US" altLang="zh-CN" sz="2400" b="1" dirty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</a:t>
              </a:r>
              <a:r>
                <a:rPr lang="en-US" altLang="zh-CN" sz="2400" b="1" dirty="0" smtClean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= - </a:t>
              </a:r>
              <a:r>
                <a:rPr lang="en-US" altLang="zh-CN" sz="2400" b="1" i="1" dirty="0" err="1" smtClean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A</a:t>
              </a:r>
              <a:r>
                <a:rPr lang="en-US" altLang="zh-CN" sz="2400" b="1" baseline="-25000" dirty="0" err="1" smtClean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f</a:t>
              </a:r>
              <a:r>
                <a:rPr lang="en-US" altLang="zh-CN" sz="2400" b="1" dirty="0" smtClean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 </a:t>
              </a:r>
              <a:r>
                <a:rPr lang="en-US" altLang="zh-CN" sz="2400" b="1" dirty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(</a:t>
              </a:r>
              <a:r>
                <a:rPr lang="en-US" altLang="zh-CN" sz="2400" b="1" i="1" dirty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</a:t>
              </a:r>
              <a:r>
                <a:rPr lang="en-US" altLang="zh-CN" sz="2400" b="1" baseline="-25000" dirty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</a:t>
              </a:r>
              <a:r>
                <a:rPr lang="en-US" altLang="zh-CN" sz="2400" b="1" dirty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-</a:t>
              </a:r>
              <a:r>
                <a:rPr lang="en-US" altLang="zh-CN" sz="2400" b="1" i="1" dirty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</a:t>
              </a:r>
              <a:r>
                <a:rPr lang="en-US" altLang="zh-CN" sz="2400" b="1" baseline="-25000" dirty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</a:t>
              </a:r>
              <a:r>
                <a:rPr lang="en-US" altLang="zh-CN" sz="2400" b="1" dirty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)</a:t>
              </a:r>
              <a:r>
                <a:rPr lang="en-US" altLang="zh-CN" sz="2400" b="1" baseline="-25000" dirty="0" smtClean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f</a:t>
              </a:r>
              <a:endParaRPr lang="en-US" altLang="zh-CN" sz="2400" b="1" baseline="-25000" dirty="0">
                <a:solidFill>
                  <a:srgbClr val="C00000"/>
                </a:solidFill>
                <a:ea typeface="幼圆" pitchFamily="49" charset="-122"/>
                <a:sym typeface="Symbol"/>
              </a:endParaRPr>
            </a:p>
          </p:txBody>
        </p:sp>
        <p:sp>
          <p:nvSpPr>
            <p:cNvPr id="93" name="Line 36"/>
            <p:cNvSpPr>
              <a:spLocks noChangeShapeType="1"/>
            </p:cNvSpPr>
            <p:nvPr/>
          </p:nvSpPr>
          <p:spPr bwMode="auto">
            <a:xfrm rot="16200000" flipH="1">
              <a:off x="3138842" y="5971212"/>
              <a:ext cx="348464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42" name="Rectangle 66"/>
          <p:cNvSpPr>
            <a:spLocks noChangeArrowheads="1"/>
          </p:cNvSpPr>
          <p:nvPr/>
        </p:nvSpPr>
        <p:spPr bwMode="auto">
          <a:xfrm>
            <a:off x="2900363" y="5955098"/>
            <a:ext cx="4495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不固结不排水试验</a:t>
            </a:r>
          </a:p>
        </p:txBody>
      </p:sp>
    </p:spTree>
    <p:extLst>
      <p:ext uri="{BB962C8B-B14F-4D97-AF65-F5344CB8AC3E}">
        <p14:creationId xmlns:p14="http://schemas.microsoft.com/office/powerpoint/2010/main" val="156919582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800" decel="100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800" decel="100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  <p:bldP spid="36" grpId="0" animBg="1"/>
      <p:bldP spid="15" grpId="0" animBg="1"/>
      <p:bldP spid="53" grpId="0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391555" y="3552377"/>
            <a:ext cx="5412532" cy="517065"/>
            <a:chOff x="2391555" y="3807755"/>
            <a:chExt cx="5412532" cy="517065"/>
          </a:xfrm>
        </p:grpSpPr>
        <p:cxnSp>
          <p:nvCxnSpPr>
            <p:cNvPr id="114" name="直接连接符 113"/>
            <p:cNvCxnSpPr/>
            <p:nvPr/>
          </p:nvCxnSpPr>
          <p:spPr bwMode="auto">
            <a:xfrm>
              <a:off x="2391555" y="4106161"/>
              <a:ext cx="4495036" cy="0"/>
            </a:xfrm>
            <a:prstGeom prst="line">
              <a:avLst/>
            </a:prstGeom>
            <a:noFill/>
            <a:ln w="1905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4" name="Text Box 9"/>
            <p:cNvSpPr txBox="1">
              <a:spLocks noChangeArrowheads="1"/>
            </p:cNvSpPr>
            <p:nvPr/>
          </p:nvSpPr>
          <p:spPr bwMode="auto">
            <a:xfrm>
              <a:off x="6960470" y="3807755"/>
              <a:ext cx="843617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 dirty="0" err="1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400" b="1" baseline="-25000" dirty="0" err="1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zh-CN" altLang="en-US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线</a:t>
              </a:r>
              <a:endParaRPr lang="zh-CN" altLang="en-US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973457" y="3438024"/>
            <a:ext cx="1487157" cy="1516872"/>
            <a:chOff x="4973457" y="3693402"/>
            <a:chExt cx="1487157" cy="1516872"/>
          </a:xfrm>
        </p:grpSpPr>
        <p:sp>
          <p:nvSpPr>
            <p:cNvPr id="127" name="Text Box 34"/>
            <p:cNvSpPr txBox="1">
              <a:spLocks noChangeArrowheads="1"/>
            </p:cNvSpPr>
            <p:nvPr/>
          </p:nvSpPr>
          <p:spPr bwMode="auto">
            <a:xfrm>
              <a:off x="5763193" y="4368563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ea typeface="幼圆" pitchFamily="49" charset="-122"/>
                </a:rPr>
                <a:t>1</a:t>
              </a:r>
            </a:p>
          </p:txBody>
        </p:sp>
        <p:sp>
          <p:nvSpPr>
            <p:cNvPr id="126" name="Text Box 33"/>
            <p:cNvSpPr txBox="1">
              <a:spLocks noChangeArrowheads="1"/>
            </p:cNvSpPr>
            <p:nvPr/>
          </p:nvSpPr>
          <p:spPr bwMode="auto">
            <a:xfrm>
              <a:off x="5453631" y="4648263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ea typeface="幼圆" pitchFamily="49" charset="-122"/>
                </a:rPr>
                <a:t>1</a:t>
              </a:r>
            </a:p>
          </p:txBody>
        </p:sp>
        <p:sp>
          <p:nvSpPr>
            <p:cNvPr id="101" name="Text Box 12"/>
            <p:cNvSpPr txBox="1">
              <a:spLocks noChangeArrowheads="1"/>
            </p:cNvSpPr>
            <p:nvPr/>
          </p:nvSpPr>
          <p:spPr bwMode="auto">
            <a:xfrm>
              <a:off x="6070764" y="3693402"/>
              <a:ext cx="389850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</p:txBody>
        </p:sp>
        <p:cxnSp>
          <p:nvCxnSpPr>
            <p:cNvPr id="111" name="直接连接符 27"/>
            <p:cNvCxnSpPr>
              <a:cxnSpLocks noChangeShapeType="1"/>
            </p:cNvCxnSpPr>
            <p:nvPr/>
          </p:nvCxnSpPr>
          <p:spPr bwMode="auto">
            <a:xfrm flipV="1">
              <a:off x="4973457" y="4139727"/>
              <a:ext cx="1070547" cy="1070547"/>
            </a:xfrm>
            <a:prstGeom prst="line">
              <a:avLst/>
            </a:prstGeom>
            <a:noFill/>
            <a:ln w="19050" algn="ctr">
              <a:solidFill>
                <a:srgbClr val="000066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7" name="椭圆 11"/>
            <p:cNvSpPr>
              <a:spLocks noChangeAspect="1" noChangeArrowheads="1"/>
            </p:cNvSpPr>
            <p:nvPr/>
          </p:nvSpPr>
          <p:spPr bwMode="auto">
            <a:xfrm>
              <a:off x="6024080" y="4051603"/>
              <a:ext cx="109085" cy="10908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 b="1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8" name="Freeform 35"/>
            <p:cNvSpPr>
              <a:spLocks/>
            </p:cNvSpPr>
            <p:nvPr/>
          </p:nvSpPr>
          <p:spPr bwMode="auto">
            <a:xfrm>
              <a:off x="5447753" y="4420135"/>
              <a:ext cx="323850" cy="314325"/>
            </a:xfrm>
            <a:custGeom>
              <a:avLst/>
              <a:gdLst>
                <a:gd name="T0" fmla="*/ 0 w 297"/>
                <a:gd name="T1" fmla="*/ 288 h 288"/>
                <a:gd name="T2" fmla="*/ 297 w 297"/>
                <a:gd name="T3" fmla="*/ 288 h 288"/>
                <a:gd name="T4" fmla="*/ 297 w 297"/>
                <a:gd name="T5" fmla="*/ 0 h 288"/>
                <a:gd name="T6" fmla="*/ 0 60000 65536"/>
                <a:gd name="T7" fmla="*/ 0 60000 65536"/>
                <a:gd name="T8" fmla="*/ 0 60000 65536"/>
                <a:gd name="T9" fmla="*/ 0 w 297"/>
                <a:gd name="T10" fmla="*/ 0 h 288"/>
                <a:gd name="T11" fmla="*/ 297 w 297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7" h="288">
                  <a:moveTo>
                    <a:pt x="0" y="288"/>
                  </a:moveTo>
                  <a:lnTo>
                    <a:pt x="297" y="288"/>
                  </a:lnTo>
                  <a:lnTo>
                    <a:pt x="29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892760" y="2795643"/>
            <a:ext cx="5635236" cy="2585222"/>
            <a:chOff x="1892760" y="3051021"/>
            <a:chExt cx="5635236" cy="2585222"/>
          </a:xfrm>
        </p:grpSpPr>
        <p:sp>
          <p:nvSpPr>
            <p:cNvPr id="102" name="Text Box 21"/>
            <p:cNvSpPr txBox="1">
              <a:spLocks noChangeArrowheads="1"/>
            </p:cNvSpPr>
            <p:nvPr/>
          </p:nvSpPr>
          <p:spPr bwMode="auto">
            <a:xfrm>
              <a:off x="6980871" y="4640136"/>
              <a:ext cx="547125" cy="987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086" tIns="37543" rIns="75086" bIns="37543">
              <a:spAutoFit/>
            </a:bodyPr>
            <a:lstStyle>
              <a:lvl1pPr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</a:p>
            <a:p>
              <a:pPr ea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103" name="Text Box 24"/>
            <p:cNvSpPr txBox="1">
              <a:spLocks noChangeArrowheads="1"/>
            </p:cNvSpPr>
            <p:nvPr/>
          </p:nvSpPr>
          <p:spPr bwMode="auto">
            <a:xfrm>
              <a:off x="2448348" y="3051021"/>
              <a:ext cx="484974" cy="500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5086" tIns="37543" rIns="75086" bIns="37543">
              <a:spAutoFit/>
            </a:bodyPr>
            <a:lstStyle>
              <a:lvl1pPr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q</a:t>
              </a:r>
              <a:endParaRPr lang="zh-CN" altLang="en-US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05" name="Line 27"/>
            <p:cNvSpPr>
              <a:spLocks noChangeShapeType="1"/>
            </p:cNvSpPr>
            <p:nvPr/>
          </p:nvSpPr>
          <p:spPr bwMode="auto">
            <a:xfrm flipV="1">
              <a:off x="2384663" y="3323480"/>
              <a:ext cx="0" cy="23127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" name="Line 32"/>
            <p:cNvSpPr>
              <a:spLocks noChangeShapeType="1"/>
            </p:cNvSpPr>
            <p:nvPr/>
          </p:nvSpPr>
          <p:spPr bwMode="auto">
            <a:xfrm>
              <a:off x="2380713" y="5211582"/>
              <a:ext cx="49457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0" name="Text Box 12"/>
            <p:cNvSpPr txBox="1">
              <a:spLocks noChangeArrowheads="1"/>
            </p:cNvSpPr>
            <p:nvPr/>
          </p:nvSpPr>
          <p:spPr bwMode="auto">
            <a:xfrm>
              <a:off x="1892760" y="4971097"/>
              <a:ext cx="423514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52" name="Rectangle 69"/>
          <p:cNvSpPr>
            <a:spLocks noChangeArrowheads="1"/>
          </p:cNvSpPr>
          <p:nvPr/>
        </p:nvSpPr>
        <p:spPr bwMode="auto">
          <a:xfrm>
            <a:off x="414338" y="670795"/>
            <a:ext cx="701782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饱和土样不排水试验中的应力路径</a:t>
            </a:r>
            <a:endParaRPr lang="en-US" altLang="zh-CN" sz="2800" b="1" baseline="-25000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4" name="Text Box 32"/>
          <p:cNvSpPr txBox="1">
            <a:spLocks noChangeArrowheads="1"/>
          </p:cNvSpPr>
          <p:nvPr/>
        </p:nvSpPr>
        <p:spPr bwMode="auto">
          <a:xfrm>
            <a:off x="2083799" y="1238629"/>
            <a:ext cx="6424094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施加围压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后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：横轴上的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点</a:t>
            </a:r>
            <a:endParaRPr lang="en-US" altLang="zh-CN" sz="20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施加偏差应力剪切：路径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AB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，倾角为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45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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直线</a:t>
            </a:r>
            <a:endParaRPr lang="en-US" altLang="zh-CN" sz="20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破坏状态：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位于</a:t>
            </a:r>
            <a:r>
              <a:rPr lang="en-US" altLang="zh-CN" sz="2000" b="1" i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000" b="1" baseline="-25000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线上</a:t>
            </a:r>
            <a:endParaRPr lang="en-US" altLang="zh-CN" sz="20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应力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路径：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O-A-B</a:t>
            </a:r>
            <a:endParaRPr lang="en-US" altLang="zh-CN" sz="20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256191" y="1472535"/>
            <a:ext cx="616900" cy="1223412"/>
          </a:xfrm>
          <a:prstGeom prst="rect">
            <a:avLst/>
          </a:prstGeom>
          <a:solidFill>
            <a:srgbClr val="000066"/>
          </a:solidFill>
        </p:spPr>
        <p:txBody>
          <a:bodyPr vert="eaVert" wrap="none" rtlCol="0">
            <a:spAutoFit/>
          </a:bodyPr>
          <a:lstStyle/>
          <a:p>
            <a:r>
              <a:rPr lang="zh-CN" altLang="en-US" sz="2800" spc="14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总应力</a:t>
            </a:r>
            <a:endParaRPr lang="zh-CN" altLang="en-US" sz="2800" spc="14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" name="Text Box 12"/>
          <p:cNvSpPr txBox="1">
            <a:spLocks noChangeArrowheads="1"/>
          </p:cNvSpPr>
          <p:nvPr/>
        </p:nvSpPr>
        <p:spPr bwMode="auto">
          <a:xfrm>
            <a:off x="5143673" y="4552955"/>
            <a:ext cx="407484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393351" y="4897870"/>
            <a:ext cx="3216473" cy="517065"/>
            <a:chOff x="2393351" y="5153248"/>
            <a:chExt cx="3216473" cy="517065"/>
          </a:xfrm>
        </p:grpSpPr>
        <p:sp>
          <p:nvSpPr>
            <p:cNvPr id="110" name="Text Box 12"/>
            <p:cNvSpPr txBox="1">
              <a:spLocks noChangeArrowheads="1"/>
            </p:cNvSpPr>
            <p:nvPr/>
          </p:nvSpPr>
          <p:spPr bwMode="auto">
            <a:xfrm>
              <a:off x="4705409" y="5153248"/>
              <a:ext cx="904415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lang="zh-CN" altLang="en-US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19" name="椭圆 11"/>
            <p:cNvSpPr>
              <a:spLocks noChangeAspect="1" noChangeArrowheads="1"/>
            </p:cNvSpPr>
            <p:nvPr/>
          </p:nvSpPr>
          <p:spPr bwMode="auto">
            <a:xfrm>
              <a:off x="4930987" y="5154574"/>
              <a:ext cx="109085" cy="10908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 b="1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24" name="直接连接符 27"/>
            <p:cNvCxnSpPr>
              <a:cxnSpLocks noChangeShapeType="1"/>
            </p:cNvCxnSpPr>
            <p:nvPr/>
          </p:nvCxnSpPr>
          <p:spPr bwMode="auto">
            <a:xfrm>
              <a:off x="2393351" y="5214512"/>
              <a:ext cx="2546156" cy="0"/>
            </a:xfrm>
            <a:prstGeom prst="line">
              <a:avLst/>
            </a:prstGeom>
            <a:noFill/>
            <a:ln w="19050" algn="ctr">
              <a:solidFill>
                <a:srgbClr val="000066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8" name="Rectangle 66"/>
          <p:cNvSpPr>
            <a:spLocks noChangeArrowheads="1"/>
          </p:cNvSpPr>
          <p:nvPr/>
        </p:nvSpPr>
        <p:spPr bwMode="auto">
          <a:xfrm>
            <a:off x="2900363" y="5955098"/>
            <a:ext cx="4495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不固结不排水试验</a:t>
            </a:r>
          </a:p>
        </p:txBody>
      </p:sp>
    </p:spTree>
    <p:extLst>
      <p:ext uri="{BB962C8B-B14F-4D97-AF65-F5344CB8AC3E}">
        <p14:creationId xmlns:p14="http://schemas.microsoft.com/office/powerpoint/2010/main" val="99280296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2389218" y="4045876"/>
            <a:ext cx="1985959" cy="1123164"/>
            <a:chOff x="2389218" y="4095304"/>
            <a:chExt cx="1985959" cy="1123164"/>
          </a:xfrm>
        </p:grpSpPr>
        <p:sp>
          <p:nvSpPr>
            <p:cNvPr id="36" name="任意多边形 35"/>
            <p:cNvSpPr/>
            <p:nvPr/>
          </p:nvSpPr>
          <p:spPr bwMode="auto">
            <a:xfrm>
              <a:off x="2389218" y="4095304"/>
              <a:ext cx="1962258" cy="1123164"/>
            </a:xfrm>
            <a:custGeom>
              <a:avLst/>
              <a:gdLst>
                <a:gd name="connsiteX0" fmla="*/ 0 w 1295160"/>
                <a:gd name="connsiteY0" fmla="*/ 741328 h 741328"/>
                <a:gd name="connsiteX1" fmla="*/ 732674 w 1295160"/>
                <a:gd name="connsiteY1" fmla="*/ 0 h 741328"/>
                <a:gd name="connsiteX2" fmla="*/ 1295160 w 1295160"/>
                <a:gd name="connsiteY2" fmla="*/ 11539 h 741328"/>
                <a:gd name="connsiteX3" fmla="*/ 1194201 w 1295160"/>
                <a:gd name="connsiteY3" fmla="*/ 144228 h 741328"/>
                <a:gd name="connsiteX4" fmla="*/ 1009590 w 1295160"/>
                <a:gd name="connsiteY4" fmla="*/ 302877 h 741328"/>
                <a:gd name="connsiteX5" fmla="*/ 824979 w 1295160"/>
                <a:gd name="connsiteY5" fmla="*/ 447104 h 741328"/>
                <a:gd name="connsiteX6" fmla="*/ 620177 w 1295160"/>
                <a:gd name="connsiteY6" fmla="*/ 562486 h 741328"/>
                <a:gd name="connsiteX7" fmla="*/ 349030 w 1295160"/>
                <a:gd name="connsiteY7" fmla="*/ 654792 h 741328"/>
                <a:gd name="connsiteX8" fmla="*/ 147112 w 1295160"/>
                <a:gd name="connsiteY8" fmla="*/ 709598 h 741328"/>
                <a:gd name="connsiteX9" fmla="*/ 0 w 1295160"/>
                <a:gd name="connsiteY9" fmla="*/ 741328 h 741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5160" h="741328">
                  <a:moveTo>
                    <a:pt x="0" y="741328"/>
                  </a:moveTo>
                  <a:lnTo>
                    <a:pt x="732674" y="0"/>
                  </a:lnTo>
                  <a:lnTo>
                    <a:pt x="1295160" y="11539"/>
                  </a:lnTo>
                  <a:lnTo>
                    <a:pt x="1194201" y="144228"/>
                  </a:lnTo>
                  <a:lnTo>
                    <a:pt x="1009590" y="302877"/>
                  </a:lnTo>
                  <a:lnTo>
                    <a:pt x="824979" y="447104"/>
                  </a:lnTo>
                  <a:lnTo>
                    <a:pt x="620177" y="562486"/>
                  </a:lnTo>
                  <a:lnTo>
                    <a:pt x="349030" y="654792"/>
                  </a:lnTo>
                  <a:lnTo>
                    <a:pt x="147112" y="709598"/>
                  </a:lnTo>
                  <a:lnTo>
                    <a:pt x="0" y="741328"/>
                  </a:lnTo>
                  <a:close/>
                </a:path>
              </a:pathLst>
            </a:custGeom>
            <a:pattFill prst="ltHorz">
              <a:fgClr>
                <a:srgbClr val="0070C0"/>
              </a:fgClr>
              <a:bgClr>
                <a:schemeClr val="bg1"/>
              </a:bgClr>
            </a:patt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cxnSp>
          <p:nvCxnSpPr>
            <p:cNvPr id="96" name="直接箭头连接符 5"/>
            <p:cNvCxnSpPr>
              <a:cxnSpLocks noChangeShapeType="1"/>
            </p:cNvCxnSpPr>
            <p:nvPr/>
          </p:nvCxnSpPr>
          <p:spPr bwMode="auto">
            <a:xfrm flipH="1" flipV="1">
              <a:off x="3327713" y="4728854"/>
              <a:ext cx="479459" cy="13022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9" name="Text Box 9"/>
            <p:cNvSpPr txBox="1">
              <a:spLocks noChangeArrowheads="1"/>
            </p:cNvSpPr>
            <p:nvPr/>
          </p:nvSpPr>
          <p:spPr bwMode="auto">
            <a:xfrm>
              <a:off x="3875628" y="4597002"/>
              <a:ext cx="499549" cy="483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lang="zh-CN" altLang="en-US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892760" y="3001593"/>
            <a:ext cx="5635236" cy="2585222"/>
            <a:chOff x="1892760" y="3051021"/>
            <a:chExt cx="5635236" cy="2585222"/>
          </a:xfrm>
        </p:grpSpPr>
        <p:sp>
          <p:nvSpPr>
            <p:cNvPr id="43" name="Line 32"/>
            <p:cNvSpPr>
              <a:spLocks noChangeShapeType="1"/>
            </p:cNvSpPr>
            <p:nvPr/>
          </p:nvSpPr>
          <p:spPr bwMode="auto">
            <a:xfrm>
              <a:off x="2380713" y="5211582"/>
              <a:ext cx="49457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21"/>
            <p:cNvSpPr txBox="1">
              <a:spLocks noChangeArrowheads="1"/>
            </p:cNvSpPr>
            <p:nvPr/>
          </p:nvSpPr>
          <p:spPr bwMode="auto">
            <a:xfrm>
              <a:off x="6980871" y="4640136"/>
              <a:ext cx="547125" cy="987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5086" tIns="37543" rIns="75086" bIns="37543">
              <a:spAutoFit/>
            </a:bodyPr>
            <a:lstStyle>
              <a:lvl1pPr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</a:p>
            <a:p>
              <a:pPr ea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40" name="Text Box 24"/>
            <p:cNvSpPr txBox="1">
              <a:spLocks noChangeArrowheads="1"/>
            </p:cNvSpPr>
            <p:nvPr/>
          </p:nvSpPr>
          <p:spPr bwMode="auto">
            <a:xfrm>
              <a:off x="2448348" y="3051021"/>
              <a:ext cx="484974" cy="500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5086" tIns="37543" rIns="75086" bIns="37543">
              <a:spAutoFit/>
            </a:bodyPr>
            <a:lstStyle>
              <a:lvl1pPr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0509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0509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q</a:t>
              </a:r>
              <a:endParaRPr lang="zh-CN" altLang="en-US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 flipV="1">
              <a:off x="2384663" y="3323480"/>
              <a:ext cx="0" cy="23127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Text Box 12"/>
            <p:cNvSpPr txBox="1">
              <a:spLocks noChangeArrowheads="1"/>
            </p:cNvSpPr>
            <p:nvPr/>
          </p:nvSpPr>
          <p:spPr bwMode="auto">
            <a:xfrm>
              <a:off x="1892760" y="4971097"/>
              <a:ext cx="423514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52" name="Rectangle 69"/>
          <p:cNvSpPr>
            <a:spLocks noChangeArrowheads="1"/>
          </p:cNvSpPr>
          <p:nvPr/>
        </p:nvSpPr>
        <p:spPr bwMode="auto">
          <a:xfrm>
            <a:off x="414338" y="670795"/>
            <a:ext cx="701782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饱和土样不排水试验中的应力路径</a:t>
            </a:r>
            <a:endParaRPr lang="en-US" altLang="zh-CN" sz="2800" b="1" baseline="-25000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257300" y="1491126"/>
            <a:ext cx="616900" cy="1528624"/>
          </a:xfrm>
          <a:prstGeom prst="rect">
            <a:avLst/>
          </a:prstGeom>
          <a:solidFill>
            <a:srgbClr val="A50021"/>
          </a:solidFill>
        </p:spPr>
        <p:txBody>
          <a:bodyPr vert="eaVert" wrap="non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有效应力</a:t>
            </a:r>
            <a:endParaRPr lang="zh-CN" altLang="en-US" sz="2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8" name="Text Box 32"/>
          <p:cNvSpPr txBox="1">
            <a:spLocks noChangeArrowheads="1"/>
          </p:cNvSpPr>
          <p:nvPr/>
        </p:nvSpPr>
        <p:spPr bwMode="auto">
          <a:xfrm>
            <a:off x="2100814" y="1471189"/>
            <a:ext cx="6563136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孔隙水压力 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= 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(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</a:p>
          <a:p>
            <a:pPr marL="342900" indent="-3429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施加围压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后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=0</a:t>
            </a: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，仍位于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O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点</a:t>
            </a:r>
            <a:endParaRPr lang="en-US" altLang="zh-CN" sz="20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施加偏差应力剪切：一般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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常数，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路径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O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为曲线</a:t>
            </a:r>
            <a:endParaRPr lang="en-US" altLang="zh-CN" sz="20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破坏状态：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位于</a:t>
            </a:r>
            <a:r>
              <a:rPr lang="en-US" altLang="zh-CN" sz="20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0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</a:t>
            </a:r>
            <a:r>
              <a:rPr lang="en-US" altLang="zh-CN" sz="2000" b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线上</a:t>
            </a:r>
            <a:endParaRPr lang="en-US" altLang="zh-CN" sz="2000" b="1" baseline="-25000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394195" y="3229198"/>
            <a:ext cx="4043371" cy="1664558"/>
            <a:chOff x="2394195" y="3278626"/>
            <a:chExt cx="4043371" cy="1664558"/>
          </a:xfrm>
        </p:grpSpPr>
        <p:sp>
          <p:nvSpPr>
            <p:cNvPr id="44" name="Line 42"/>
            <p:cNvSpPr>
              <a:spLocks noChangeShapeType="1"/>
            </p:cNvSpPr>
            <p:nvPr/>
          </p:nvSpPr>
          <p:spPr bwMode="auto">
            <a:xfrm flipV="1">
              <a:off x="2394195" y="3608957"/>
              <a:ext cx="3144961" cy="133422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Text Box 9"/>
            <p:cNvSpPr txBox="1">
              <a:spLocks noChangeArrowheads="1"/>
            </p:cNvSpPr>
            <p:nvPr/>
          </p:nvSpPr>
          <p:spPr bwMode="auto">
            <a:xfrm>
              <a:off x="5536191" y="3278626"/>
              <a:ext cx="901375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1" hangingPunct="1">
                <a:defRPr sz="2000" b="1">
                  <a:solidFill>
                    <a:srgbClr val="C00000"/>
                  </a:solidFill>
                  <a:ea typeface="幼圆" panose="02010509060101010101" pitchFamily="49" charset="-122"/>
                  <a:cs typeface="Times New Roman" panose="02020603050405020304" pitchFamily="18" charset="0"/>
                </a:defRPr>
              </a:lvl1pPr>
              <a:lvl2pPr marL="742950" indent="-285750" eaLnBrk="0" hangingPunct="0">
                <a:defRPr sz="2700"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 dirty="0" smtClean="0">
                  <a:sym typeface="Symbol" panose="05050102010706020507" pitchFamily="18" charset="2"/>
                </a:rPr>
                <a:t>K</a:t>
              </a:r>
              <a:r>
                <a:rPr lang="zh-CN" altLang="en-US" sz="2400" dirty="0">
                  <a:sym typeface="Symbol" panose="05050102010706020507" pitchFamily="18" charset="2"/>
                </a:rPr>
                <a:t>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f</a:t>
              </a:r>
              <a:r>
                <a:rPr lang="zh-CN" altLang="en-US" sz="2400" dirty="0">
                  <a:sym typeface="Symbol" panose="05050102010706020507" pitchFamily="18" charset="2"/>
                </a:rPr>
                <a:t>线</a:t>
              </a:r>
            </a:p>
          </p:txBody>
        </p:sp>
      </p:grpSp>
      <p:sp>
        <p:nvSpPr>
          <p:cNvPr id="47" name="Text Box 12"/>
          <p:cNvSpPr txBox="1">
            <a:spLocks noChangeArrowheads="1"/>
          </p:cNvSpPr>
          <p:nvPr/>
        </p:nvSpPr>
        <p:spPr bwMode="auto">
          <a:xfrm>
            <a:off x="5031317" y="5067608"/>
            <a:ext cx="904415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 dirty="0" smtClean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 smtClean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zh-CN" altLang="en-US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91555" y="3758327"/>
            <a:ext cx="5412532" cy="517065"/>
            <a:chOff x="2391555" y="3807755"/>
            <a:chExt cx="5412532" cy="517065"/>
          </a:xfrm>
        </p:grpSpPr>
        <p:sp>
          <p:nvSpPr>
            <p:cNvPr id="41" name="Text Box 9"/>
            <p:cNvSpPr txBox="1">
              <a:spLocks noChangeArrowheads="1"/>
            </p:cNvSpPr>
            <p:nvPr/>
          </p:nvSpPr>
          <p:spPr bwMode="auto">
            <a:xfrm>
              <a:off x="6960470" y="3807755"/>
              <a:ext cx="843617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 dirty="0" err="1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400" b="1" baseline="-25000" dirty="0" err="1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zh-CN" altLang="en-US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线</a:t>
              </a:r>
              <a:endParaRPr lang="zh-CN" altLang="en-US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 bwMode="auto">
            <a:xfrm>
              <a:off x="2391555" y="4106161"/>
              <a:ext cx="4495036" cy="0"/>
            </a:xfrm>
            <a:prstGeom prst="line">
              <a:avLst/>
            </a:prstGeom>
            <a:noFill/>
            <a:ln w="1905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391620" y="3551744"/>
            <a:ext cx="2103794" cy="1608877"/>
            <a:chOff x="2391620" y="3601172"/>
            <a:chExt cx="2103794" cy="1608877"/>
          </a:xfrm>
        </p:grpSpPr>
        <p:sp>
          <p:nvSpPr>
            <p:cNvPr id="50" name="Text Box 12"/>
            <p:cNvSpPr txBox="1">
              <a:spLocks noChangeArrowheads="1"/>
            </p:cNvSpPr>
            <p:nvPr/>
          </p:nvSpPr>
          <p:spPr bwMode="auto">
            <a:xfrm>
              <a:off x="4087930" y="3601172"/>
              <a:ext cx="407484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</a:p>
          </p:txBody>
        </p:sp>
        <p:sp>
          <p:nvSpPr>
            <p:cNvPr id="53" name="任意多边形 52"/>
            <p:cNvSpPr/>
            <p:nvPr/>
          </p:nvSpPr>
          <p:spPr bwMode="auto">
            <a:xfrm>
              <a:off x="2391620" y="4128175"/>
              <a:ext cx="1938206" cy="1081874"/>
            </a:xfrm>
            <a:custGeom>
              <a:avLst/>
              <a:gdLst>
                <a:gd name="connsiteX0" fmla="*/ 0 w 1460500"/>
                <a:gd name="connsiteY0" fmla="*/ 728134 h 728134"/>
                <a:gd name="connsiteX1" fmla="*/ 292100 w 1460500"/>
                <a:gd name="connsiteY1" fmla="*/ 673100 h 728134"/>
                <a:gd name="connsiteX2" fmla="*/ 736600 w 1460500"/>
                <a:gd name="connsiteY2" fmla="*/ 529167 h 728134"/>
                <a:gd name="connsiteX3" fmla="*/ 1045634 w 1460500"/>
                <a:gd name="connsiteY3" fmla="*/ 364067 h 728134"/>
                <a:gd name="connsiteX4" fmla="*/ 1291167 w 1460500"/>
                <a:gd name="connsiteY4" fmla="*/ 177800 h 728134"/>
                <a:gd name="connsiteX5" fmla="*/ 1460500 w 1460500"/>
                <a:gd name="connsiteY5" fmla="*/ 0 h 728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60500" h="728134">
                  <a:moveTo>
                    <a:pt x="0" y="728134"/>
                  </a:moveTo>
                  <a:cubicBezTo>
                    <a:pt x="84666" y="717197"/>
                    <a:pt x="169333" y="706261"/>
                    <a:pt x="292100" y="673100"/>
                  </a:cubicBezTo>
                  <a:cubicBezTo>
                    <a:pt x="414867" y="639939"/>
                    <a:pt x="611011" y="580672"/>
                    <a:pt x="736600" y="529167"/>
                  </a:cubicBezTo>
                  <a:cubicBezTo>
                    <a:pt x="862189" y="477662"/>
                    <a:pt x="953206" y="422628"/>
                    <a:pt x="1045634" y="364067"/>
                  </a:cubicBezTo>
                  <a:cubicBezTo>
                    <a:pt x="1138062" y="305506"/>
                    <a:pt x="1222023" y="238478"/>
                    <a:pt x="1291167" y="177800"/>
                  </a:cubicBezTo>
                  <a:cubicBezTo>
                    <a:pt x="1360311" y="117122"/>
                    <a:pt x="1410405" y="58561"/>
                    <a:pt x="1460500" y="0"/>
                  </a:cubicBezTo>
                </a:path>
              </a:pathLst>
            </a:custGeom>
            <a:noFill/>
            <a:ln w="19050" cap="flat" cmpd="sng" algn="ctr">
              <a:solidFill>
                <a:srgbClr val="A5002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62" name="椭圆 11"/>
            <p:cNvSpPr>
              <a:spLocks noChangeAspect="1" noChangeArrowheads="1"/>
            </p:cNvSpPr>
            <p:nvPr/>
          </p:nvSpPr>
          <p:spPr bwMode="auto">
            <a:xfrm>
              <a:off x="4308735" y="4048366"/>
              <a:ext cx="109085" cy="109085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 b="1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930987" y="3643974"/>
            <a:ext cx="1529627" cy="1631996"/>
            <a:chOff x="4930987" y="3693402"/>
            <a:chExt cx="1529627" cy="1631996"/>
          </a:xfrm>
        </p:grpSpPr>
        <p:sp>
          <p:nvSpPr>
            <p:cNvPr id="38" name="Text Box 12"/>
            <p:cNvSpPr txBox="1">
              <a:spLocks noChangeArrowheads="1"/>
            </p:cNvSpPr>
            <p:nvPr/>
          </p:nvSpPr>
          <p:spPr bwMode="auto">
            <a:xfrm>
              <a:off x="6070764" y="3693402"/>
              <a:ext cx="389850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</a:p>
          </p:txBody>
        </p:sp>
        <p:cxnSp>
          <p:nvCxnSpPr>
            <p:cNvPr id="48" name="直接连接符 27"/>
            <p:cNvCxnSpPr>
              <a:cxnSpLocks noChangeShapeType="1"/>
            </p:cNvCxnSpPr>
            <p:nvPr/>
          </p:nvCxnSpPr>
          <p:spPr bwMode="auto">
            <a:xfrm flipV="1">
              <a:off x="4973457" y="4139727"/>
              <a:ext cx="1070547" cy="1070547"/>
            </a:xfrm>
            <a:prstGeom prst="line">
              <a:avLst/>
            </a:prstGeom>
            <a:noFill/>
            <a:ln w="19050" algn="ctr">
              <a:solidFill>
                <a:srgbClr val="000066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" name="Text Box 12"/>
            <p:cNvSpPr txBox="1">
              <a:spLocks noChangeArrowheads="1"/>
            </p:cNvSpPr>
            <p:nvPr/>
          </p:nvSpPr>
          <p:spPr bwMode="auto">
            <a:xfrm>
              <a:off x="5143673" y="4808333"/>
              <a:ext cx="407484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61" name="椭圆 11"/>
            <p:cNvSpPr>
              <a:spLocks noChangeAspect="1" noChangeArrowheads="1"/>
            </p:cNvSpPr>
            <p:nvPr/>
          </p:nvSpPr>
          <p:spPr bwMode="auto">
            <a:xfrm>
              <a:off x="6024080" y="4051603"/>
              <a:ext cx="109085" cy="10908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 b="1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椭圆 11"/>
            <p:cNvSpPr>
              <a:spLocks noChangeAspect="1" noChangeArrowheads="1"/>
            </p:cNvSpPr>
            <p:nvPr/>
          </p:nvSpPr>
          <p:spPr bwMode="auto">
            <a:xfrm>
              <a:off x="4930987" y="5154574"/>
              <a:ext cx="109085" cy="10908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101725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101725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 b="1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397063" y="3575286"/>
            <a:ext cx="1364181" cy="1571638"/>
            <a:chOff x="2397063" y="3624714"/>
            <a:chExt cx="1364181" cy="1571638"/>
          </a:xfrm>
        </p:grpSpPr>
        <p:cxnSp>
          <p:nvCxnSpPr>
            <p:cNvPr id="37" name="直接连接符 27"/>
            <p:cNvCxnSpPr>
              <a:cxnSpLocks noChangeShapeType="1"/>
            </p:cNvCxnSpPr>
            <p:nvPr/>
          </p:nvCxnSpPr>
          <p:spPr bwMode="auto">
            <a:xfrm flipV="1">
              <a:off x="2397063" y="4125805"/>
              <a:ext cx="1070547" cy="1070547"/>
            </a:xfrm>
            <a:prstGeom prst="line">
              <a:avLst/>
            </a:prstGeom>
            <a:noFill/>
            <a:ln w="19050" algn="ctr">
              <a:solidFill>
                <a:srgbClr val="0000CC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5" name="Text Box 12"/>
            <p:cNvSpPr txBox="1">
              <a:spLocks noChangeArrowheads="1"/>
            </p:cNvSpPr>
            <p:nvPr/>
          </p:nvSpPr>
          <p:spPr bwMode="auto">
            <a:xfrm>
              <a:off x="3353760" y="3624714"/>
              <a:ext cx="407484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381877" y="3897588"/>
            <a:ext cx="1693333" cy="529155"/>
            <a:chOff x="4381877" y="3947016"/>
            <a:chExt cx="1693333" cy="529155"/>
          </a:xfrm>
        </p:grpSpPr>
        <p:sp>
          <p:nvSpPr>
            <p:cNvPr id="46" name="Text Box 9"/>
            <p:cNvSpPr txBox="1">
              <a:spLocks noChangeArrowheads="1"/>
            </p:cNvSpPr>
            <p:nvPr/>
          </p:nvSpPr>
          <p:spPr bwMode="auto">
            <a:xfrm>
              <a:off x="5076128" y="3947016"/>
              <a:ext cx="499549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 dirty="0" err="1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endParaRPr lang="zh-CN" altLang="en-US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54" name="直接箭头连接符 5"/>
            <p:cNvCxnSpPr>
              <a:cxnSpLocks noChangeShapeType="1"/>
            </p:cNvCxnSpPr>
            <p:nvPr/>
          </p:nvCxnSpPr>
          <p:spPr bwMode="auto">
            <a:xfrm flipH="1">
              <a:off x="4389985" y="4414993"/>
              <a:ext cx="1685225" cy="0"/>
            </a:xfrm>
            <a:prstGeom prst="straightConnector1">
              <a:avLst/>
            </a:prstGeom>
            <a:noFill/>
            <a:ln w="9525" algn="ctr">
              <a:solidFill>
                <a:srgbClr val="C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直接连接符 70"/>
            <p:cNvCxnSpPr/>
            <p:nvPr/>
          </p:nvCxnSpPr>
          <p:spPr bwMode="auto">
            <a:xfrm>
              <a:off x="4381877" y="4234870"/>
              <a:ext cx="0" cy="23283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连接符 75"/>
            <p:cNvCxnSpPr/>
            <p:nvPr/>
          </p:nvCxnSpPr>
          <p:spPr bwMode="auto">
            <a:xfrm>
              <a:off x="6066743" y="4243337"/>
              <a:ext cx="0" cy="23283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77" name="直接连接符 27"/>
          <p:cNvCxnSpPr>
            <a:cxnSpLocks noChangeShapeType="1"/>
          </p:cNvCxnSpPr>
          <p:nvPr/>
        </p:nvCxnSpPr>
        <p:spPr bwMode="auto">
          <a:xfrm>
            <a:off x="2393351" y="5165084"/>
            <a:ext cx="2546156" cy="0"/>
          </a:xfrm>
          <a:prstGeom prst="line">
            <a:avLst/>
          </a:prstGeom>
          <a:noFill/>
          <a:ln w="19050" algn="ctr">
            <a:solidFill>
              <a:srgbClr val="000066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椭圆 11"/>
          <p:cNvSpPr>
            <a:spLocks noChangeAspect="1" noChangeArrowheads="1"/>
          </p:cNvSpPr>
          <p:nvPr/>
        </p:nvSpPr>
        <p:spPr bwMode="auto">
          <a:xfrm>
            <a:off x="2341477" y="5108595"/>
            <a:ext cx="109085" cy="109085"/>
          </a:xfrm>
          <a:prstGeom prst="ellipse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1101725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101725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101725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101725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101725" eaLnBrk="0" hangingPunct="0"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10172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10172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10172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101725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000" b="1">
              <a:solidFill>
                <a:srgbClr val="000066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423875" y="5235991"/>
            <a:ext cx="2564584" cy="517065"/>
            <a:chOff x="2423875" y="5285419"/>
            <a:chExt cx="2564584" cy="517065"/>
          </a:xfrm>
        </p:grpSpPr>
        <p:sp>
          <p:nvSpPr>
            <p:cNvPr id="83" name="Text Box 9"/>
            <p:cNvSpPr txBox="1">
              <a:spLocks noChangeArrowheads="1"/>
            </p:cNvSpPr>
            <p:nvPr/>
          </p:nvSpPr>
          <p:spPr bwMode="auto">
            <a:xfrm>
              <a:off x="3200400" y="5285419"/>
              <a:ext cx="1275907" cy="517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 dirty="0" smtClean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lang="zh-CN" altLang="en-US" sz="24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endParaRPr lang="zh-CN" altLang="en-US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91" name="直接箭头连接符 5"/>
            <p:cNvCxnSpPr>
              <a:cxnSpLocks noChangeShapeType="1"/>
            </p:cNvCxnSpPr>
            <p:nvPr/>
          </p:nvCxnSpPr>
          <p:spPr bwMode="auto">
            <a:xfrm flipH="1">
              <a:off x="2423875" y="5391266"/>
              <a:ext cx="2564584" cy="0"/>
            </a:xfrm>
            <a:prstGeom prst="straightConnector1">
              <a:avLst/>
            </a:prstGeom>
            <a:noFill/>
            <a:ln w="9525" algn="ctr">
              <a:solidFill>
                <a:srgbClr val="C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直接连接符 94"/>
            <p:cNvCxnSpPr/>
            <p:nvPr/>
          </p:nvCxnSpPr>
          <p:spPr bwMode="auto">
            <a:xfrm>
              <a:off x="4987826" y="5301087"/>
              <a:ext cx="0" cy="23283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5" name="Rectangle 66"/>
          <p:cNvSpPr>
            <a:spLocks noChangeArrowheads="1"/>
          </p:cNvSpPr>
          <p:nvPr/>
        </p:nvSpPr>
        <p:spPr bwMode="auto">
          <a:xfrm>
            <a:off x="2900363" y="5955098"/>
            <a:ext cx="4495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不固结不排水试验</a:t>
            </a:r>
          </a:p>
        </p:txBody>
      </p:sp>
    </p:spTree>
    <p:extLst>
      <p:ext uri="{BB962C8B-B14F-4D97-AF65-F5344CB8AC3E}">
        <p14:creationId xmlns:p14="http://schemas.microsoft.com/office/powerpoint/2010/main" val="107395903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build="p"/>
      <p:bldP spid="79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52" name="Rectangle 50"/>
          <p:cNvSpPr>
            <a:spLocks noChangeArrowheads="1"/>
          </p:cNvSpPr>
          <p:nvPr/>
        </p:nvSpPr>
        <p:spPr bwMode="auto">
          <a:xfrm>
            <a:off x="1688756" y="4722809"/>
            <a:ext cx="7183395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固结不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排水强度包线相切的每一个莫尔圆均对应着一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个具有相同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密度（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先期固结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压力）土样的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不排水强度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指标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</a:rPr>
              <a:t>c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</a:rPr>
              <a:t>u</a:t>
            </a:r>
            <a:endParaRPr lang="zh-CN" altLang="en-US" sz="2200" b="1" baseline="-25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3" name="AutoShape 51"/>
          <p:cNvSpPr>
            <a:spLocks noChangeArrowheads="1"/>
          </p:cNvSpPr>
          <p:nvPr/>
        </p:nvSpPr>
        <p:spPr bwMode="auto">
          <a:xfrm>
            <a:off x="994617" y="4820390"/>
            <a:ext cx="529383" cy="474770"/>
          </a:xfrm>
          <a:prstGeom prst="homePlate">
            <a:avLst>
              <a:gd name="adj" fmla="val 28392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55" name="Rectangle 69"/>
          <p:cNvSpPr>
            <a:spLocks noChangeArrowheads="1"/>
          </p:cNvSpPr>
          <p:nvPr/>
        </p:nvSpPr>
        <p:spPr bwMode="auto">
          <a:xfrm>
            <a:off x="356672" y="620464"/>
            <a:ext cx="64968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不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排水与固结不排水强度指标的关系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017584" y="3066804"/>
            <a:ext cx="2913766" cy="1593249"/>
            <a:chOff x="6017584" y="3602274"/>
            <a:chExt cx="2913766" cy="1593249"/>
          </a:xfrm>
        </p:grpSpPr>
        <p:sp>
          <p:nvSpPr>
            <p:cNvPr id="136" name="Text Box 8"/>
            <p:cNvSpPr txBox="1">
              <a:spLocks noChangeArrowheads="1"/>
            </p:cNvSpPr>
            <p:nvPr/>
          </p:nvSpPr>
          <p:spPr bwMode="auto">
            <a:xfrm>
              <a:off x="6017584" y="3602274"/>
              <a:ext cx="292100" cy="383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132" name="Line 4"/>
            <p:cNvSpPr>
              <a:spLocks noChangeShapeType="1"/>
            </p:cNvSpPr>
            <p:nvPr/>
          </p:nvSpPr>
          <p:spPr bwMode="auto">
            <a:xfrm flipV="1">
              <a:off x="6026488" y="3758003"/>
              <a:ext cx="0" cy="13823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>
                <a:cs typeface="Times New Roman" panose="02020603050405020304" pitchFamily="18" charset="0"/>
              </a:endParaRPr>
            </a:p>
          </p:txBody>
        </p:sp>
        <p:sp>
          <p:nvSpPr>
            <p:cNvPr id="134" name="Line 6"/>
            <p:cNvSpPr>
              <a:spLocks noChangeShapeType="1"/>
            </p:cNvSpPr>
            <p:nvPr/>
          </p:nvSpPr>
          <p:spPr bwMode="auto">
            <a:xfrm>
              <a:off x="6024230" y="4878590"/>
              <a:ext cx="28536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>
                <a:cs typeface="Times New Roman" panose="02020603050405020304" pitchFamily="18" charset="0"/>
              </a:endParaRPr>
            </a:p>
          </p:txBody>
        </p:sp>
        <p:sp>
          <p:nvSpPr>
            <p:cNvPr id="135" name="Text Box 7"/>
            <p:cNvSpPr txBox="1">
              <a:spLocks noChangeArrowheads="1"/>
            </p:cNvSpPr>
            <p:nvPr/>
          </p:nvSpPr>
          <p:spPr bwMode="auto">
            <a:xfrm>
              <a:off x="8563626" y="4812351"/>
              <a:ext cx="367724" cy="383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1800" b="1" dirty="0" smtClean="0"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endParaRPr lang="en-US" altLang="zh-CN" sz="1800" b="1" i="1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43" name="Arc 42"/>
          <p:cNvSpPr>
            <a:spLocks/>
          </p:cNvSpPr>
          <p:nvPr/>
        </p:nvSpPr>
        <p:spPr bwMode="auto">
          <a:xfrm flipH="1" flipV="1">
            <a:off x="6489326" y="3776229"/>
            <a:ext cx="1094176" cy="559509"/>
          </a:xfrm>
          <a:custGeom>
            <a:avLst/>
            <a:gdLst>
              <a:gd name="T0" fmla="*/ 925 w 43200"/>
              <a:gd name="T1" fmla="*/ 2 h 22107"/>
              <a:gd name="T2" fmla="*/ 0 w 43200"/>
              <a:gd name="T3" fmla="*/ 0 h 22107"/>
              <a:gd name="T4" fmla="*/ 463 w 43200"/>
              <a:gd name="T5" fmla="*/ 11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800">
              <a:cs typeface="Times New Roman" panose="02020603050405020304" pitchFamily="18" charset="0"/>
            </a:endParaRPr>
          </a:p>
        </p:txBody>
      </p:sp>
      <p:sp>
        <p:nvSpPr>
          <p:cNvPr id="148" name="Arc 42"/>
          <p:cNvSpPr>
            <a:spLocks/>
          </p:cNvSpPr>
          <p:nvPr/>
        </p:nvSpPr>
        <p:spPr bwMode="auto">
          <a:xfrm flipH="1" flipV="1">
            <a:off x="7234624" y="3769829"/>
            <a:ext cx="1131359" cy="578522"/>
          </a:xfrm>
          <a:custGeom>
            <a:avLst/>
            <a:gdLst>
              <a:gd name="T0" fmla="*/ 925 w 43200"/>
              <a:gd name="T1" fmla="*/ 2 h 22107"/>
              <a:gd name="T2" fmla="*/ 0 w 43200"/>
              <a:gd name="T3" fmla="*/ 0 h 22107"/>
              <a:gd name="T4" fmla="*/ 463 w 43200"/>
              <a:gd name="T5" fmla="*/ 11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800"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652178" y="3261724"/>
            <a:ext cx="3440305" cy="699880"/>
            <a:chOff x="5652178" y="3797194"/>
            <a:chExt cx="3440305" cy="699880"/>
          </a:xfrm>
        </p:grpSpPr>
        <p:sp>
          <p:nvSpPr>
            <p:cNvPr id="137" name="Line 10"/>
            <p:cNvSpPr>
              <a:spLocks noChangeShapeType="1"/>
            </p:cNvSpPr>
            <p:nvPr/>
          </p:nvSpPr>
          <p:spPr bwMode="auto">
            <a:xfrm flipV="1">
              <a:off x="6032251" y="4303256"/>
              <a:ext cx="2524165" cy="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>
                <a:cs typeface="Times New Roman" panose="02020603050405020304" pitchFamily="18" charset="0"/>
              </a:endParaRPr>
            </a:p>
          </p:txBody>
        </p:sp>
        <p:sp>
          <p:nvSpPr>
            <p:cNvPr id="140" name="Rectangle 13"/>
            <p:cNvSpPr>
              <a:spLocks noChangeArrowheads="1"/>
            </p:cNvSpPr>
            <p:nvPr/>
          </p:nvSpPr>
          <p:spPr bwMode="auto">
            <a:xfrm>
              <a:off x="8509393" y="4026993"/>
              <a:ext cx="583090" cy="446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800080"/>
                  </a:solidFill>
                  <a:ea typeface="华文隶书" pitchFamily="2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1800" b="1" baseline="-25000" dirty="0">
                  <a:solidFill>
                    <a:srgbClr val="800080"/>
                  </a:solidFill>
                  <a:ea typeface="华文隶书" pitchFamily="2" charset="-122"/>
                  <a:cs typeface="Times New Roman" panose="02020603050405020304" pitchFamily="18" charset="0"/>
                </a:rPr>
                <a:t>f</a:t>
              </a:r>
              <a:endParaRPr kumimoji="1" lang="en-US" altLang="zh-CN" sz="1800" dirty="0">
                <a:solidFill>
                  <a:srgbClr val="800080"/>
                </a:solidFill>
                <a:ea typeface="华文隶书" pitchFamily="2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0" name="Rectangle 17"/>
            <p:cNvSpPr>
              <a:spLocks noChangeArrowheads="1"/>
            </p:cNvSpPr>
            <p:nvPr/>
          </p:nvSpPr>
          <p:spPr bwMode="auto">
            <a:xfrm>
              <a:off x="7725439" y="3797194"/>
              <a:ext cx="793698" cy="446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b="1" i="1" dirty="0" smtClean="0">
                  <a:solidFill>
                    <a:srgbClr val="A50021"/>
                  </a:solidFill>
                  <a:sym typeface="Symbol"/>
                </a:rPr>
                <a:t></a:t>
              </a:r>
              <a:r>
                <a:rPr kumimoji="1" lang="en-US" altLang="zh-CN" sz="1800" b="1" baseline="-25000" dirty="0" smtClean="0">
                  <a:solidFill>
                    <a:srgbClr val="A50021"/>
                  </a:solidFill>
                  <a:sym typeface="Symbol" pitchFamily="18" charset="2"/>
                </a:rPr>
                <a:t>u</a:t>
              </a:r>
              <a:r>
                <a:rPr kumimoji="1" lang="en-US" altLang="zh-CN" sz="1800" b="1" dirty="0" smtClean="0">
                  <a:solidFill>
                    <a:srgbClr val="A50021"/>
                  </a:solidFill>
                  <a:sym typeface="Symbol" pitchFamily="18" charset="2"/>
                </a:rPr>
                <a:t>=0</a:t>
              </a:r>
              <a:endParaRPr kumimoji="1" lang="en-US" altLang="zh-CN" sz="1800" b="1" dirty="0">
                <a:solidFill>
                  <a:srgbClr val="A50021"/>
                </a:solidFill>
                <a:sym typeface="Symbol" pitchFamily="18" charset="2"/>
              </a:endParaRPr>
            </a:p>
          </p:txBody>
        </p:sp>
        <p:sp>
          <p:nvSpPr>
            <p:cNvPr id="153" name="Text Box 20"/>
            <p:cNvSpPr txBox="1">
              <a:spLocks noChangeArrowheads="1"/>
            </p:cNvSpPr>
            <p:nvPr/>
          </p:nvSpPr>
          <p:spPr bwMode="auto">
            <a:xfrm>
              <a:off x="5652178" y="4050182"/>
              <a:ext cx="450384" cy="446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</a:rPr>
                <a:t>c</a:t>
              </a:r>
              <a:r>
                <a:rPr lang="en-US" altLang="zh-CN" sz="1800" b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u</a:t>
              </a:r>
              <a:endParaRPr lang="en-US" altLang="zh-CN" sz="1800" b="1" baseline="-25000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4" name="Line 21"/>
            <p:cNvSpPr>
              <a:spLocks noChangeShapeType="1"/>
            </p:cNvSpPr>
            <p:nvPr/>
          </p:nvSpPr>
          <p:spPr bwMode="auto">
            <a:xfrm flipV="1">
              <a:off x="7508062" y="4066260"/>
              <a:ext cx="248343" cy="227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159" name="Text Box 26"/>
          <p:cNvSpPr txBox="1">
            <a:spLocks noChangeArrowheads="1"/>
          </p:cNvSpPr>
          <p:nvPr/>
        </p:nvSpPr>
        <p:spPr bwMode="auto">
          <a:xfrm>
            <a:off x="2719431" y="1266098"/>
            <a:ext cx="285546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182563" indent="-182563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不同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围压固结后，试样具有不同密度</a:t>
            </a:r>
            <a:endParaRPr lang="en-US" altLang="zh-CN" sz="20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182563" indent="-182563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破坏莫尔圆大小不同</a:t>
            </a:r>
            <a:endParaRPr lang="zh-CN" altLang="en-US" sz="20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61" name="Text Box 26"/>
          <p:cNvSpPr txBox="1">
            <a:spLocks noChangeArrowheads="1"/>
          </p:cNvSpPr>
          <p:nvPr/>
        </p:nvSpPr>
        <p:spPr bwMode="auto">
          <a:xfrm>
            <a:off x="2728710" y="2884818"/>
            <a:ext cx="2964167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182563" indent="-182563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不同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围压试验中，试样具有相同密度</a:t>
            </a:r>
            <a:endParaRPr lang="en-US" altLang="zh-CN" sz="20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182563" indent="-182563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由先期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固结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压力决定</a:t>
            </a:r>
            <a:endParaRPr lang="en-US" altLang="zh-CN" sz="20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182563" indent="-182563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破坏莫尔圆大小相同</a:t>
            </a:r>
            <a:endParaRPr lang="zh-CN" altLang="en-US" sz="20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516366" y="1539690"/>
            <a:ext cx="2077813" cy="517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固结不</a:t>
            </a:r>
            <a:r>
              <a:rPr lang="zh-CN" altLang="en-US" sz="24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排水</a:t>
            </a:r>
            <a:endParaRPr lang="zh-CN" altLang="en-US" sz="2400" dirty="0"/>
          </a:p>
        </p:txBody>
      </p:sp>
      <p:sp>
        <p:nvSpPr>
          <p:cNvPr id="167" name="矩形 166"/>
          <p:cNvSpPr/>
          <p:nvPr/>
        </p:nvSpPr>
        <p:spPr>
          <a:xfrm>
            <a:off x="501790" y="3127460"/>
            <a:ext cx="2387192" cy="517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不固结</a:t>
            </a:r>
            <a:r>
              <a:rPr lang="zh-CN" altLang="en-US" sz="24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不</a:t>
            </a:r>
            <a:r>
              <a:rPr lang="zh-CN" altLang="en-US" sz="24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排水</a:t>
            </a:r>
            <a:endParaRPr lang="zh-CN" altLang="en-US" sz="2400" dirty="0"/>
          </a:p>
        </p:txBody>
      </p:sp>
      <p:grpSp>
        <p:nvGrpSpPr>
          <p:cNvPr id="4" name="组合 3"/>
          <p:cNvGrpSpPr/>
          <p:nvPr/>
        </p:nvGrpSpPr>
        <p:grpSpPr>
          <a:xfrm>
            <a:off x="6025146" y="953212"/>
            <a:ext cx="3027653" cy="1835553"/>
            <a:chOff x="6025146" y="1315684"/>
            <a:chExt cx="3027653" cy="1835553"/>
          </a:xfrm>
        </p:grpSpPr>
        <p:sp>
          <p:nvSpPr>
            <p:cNvPr id="97" name="Line 4"/>
            <p:cNvSpPr>
              <a:spLocks noChangeShapeType="1"/>
            </p:cNvSpPr>
            <p:nvPr/>
          </p:nvSpPr>
          <p:spPr bwMode="auto">
            <a:xfrm flipV="1">
              <a:off x="6044988" y="1542224"/>
              <a:ext cx="0" cy="14734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>
                <a:cs typeface="Times New Roman" panose="02020603050405020304" pitchFamily="18" charset="0"/>
              </a:endParaRPr>
            </a:p>
          </p:txBody>
        </p:sp>
        <p:sp>
          <p:nvSpPr>
            <p:cNvPr id="99" name="Line 6"/>
            <p:cNvSpPr>
              <a:spLocks noChangeShapeType="1"/>
            </p:cNvSpPr>
            <p:nvPr/>
          </p:nvSpPr>
          <p:spPr bwMode="auto">
            <a:xfrm>
              <a:off x="6046940" y="2753838"/>
              <a:ext cx="29305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>
                <a:cs typeface="Times New Roman" panose="02020603050405020304" pitchFamily="18" charset="0"/>
              </a:endParaRPr>
            </a:p>
          </p:txBody>
        </p:sp>
        <p:sp>
          <p:nvSpPr>
            <p:cNvPr id="100" name="Text Box 7"/>
            <p:cNvSpPr txBox="1">
              <a:spLocks noChangeArrowheads="1"/>
            </p:cNvSpPr>
            <p:nvPr/>
          </p:nvSpPr>
          <p:spPr bwMode="auto">
            <a:xfrm>
              <a:off x="8601367" y="2687599"/>
              <a:ext cx="451432" cy="463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1800" b="1" dirty="0" smtClean="0"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endParaRPr lang="en-US" altLang="zh-CN" sz="1800" b="1" i="1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01" name="Text Box 8"/>
            <p:cNvSpPr txBox="1">
              <a:spLocks noChangeArrowheads="1"/>
            </p:cNvSpPr>
            <p:nvPr/>
          </p:nvSpPr>
          <p:spPr bwMode="auto">
            <a:xfrm>
              <a:off x="6025146" y="1315684"/>
              <a:ext cx="353441" cy="463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sp>
        <p:nvSpPr>
          <p:cNvPr id="117" name="Arc 39"/>
          <p:cNvSpPr>
            <a:spLocks/>
          </p:cNvSpPr>
          <p:nvPr/>
        </p:nvSpPr>
        <p:spPr bwMode="auto">
          <a:xfrm flipH="1" flipV="1">
            <a:off x="6271411" y="2054790"/>
            <a:ext cx="659422" cy="335494"/>
          </a:xfrm>
          <a:custGeom>
            <a:avLst/>
            <a:gdLst>
              <a:gd name="T0" fmla="*/ 456 w 43200"/>
              <a:gd name="T1" fmla="*/ 1 h 22107"/>
              <a:gd name="T2" fmla="*/ 0 w 43200"/>
              <a:gd name="T3" fmla="*/ 0 h 22107"/>
              <a:gd name="T4" fmla="*/ 228 w 43200"/>
              <a:gd name="T5" fmla="*/ 5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27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800">
              <a:cs typeface="Times New Roman" panose="02020603050405020304" pitchFamily="18" charset="0"/>
            </a:endParaRPr>
          </a:p>
        </p:txBody>
      </p:sp>
      <p:sp>
        <p:nvSpPr>
          <p:cNvPr id="120" name="Arc 42"/>
          <p:cNvSpPr>
            <a:spLocks/>
          </p:cNvSpPr>
          <p:nvPr/>
        </p:nvSpPr>
        <p:spPr bwMode="auto">
          <a:xfrm flipH="1" flipV="1">
            <a:off x="6692230" y="1829406"/>
            <a:ext cx="1094175" cy="559509"/>
          </a:xfrm>
          <a:custGeom>
            <a:avLst/>
            <a:gdLst>
              <a:gd name="T0" fmla="*/ 925 w 43200"/>
              <a:gd name="T1" fmla="*/ 2 h 22107"/>
              <a:gd name="T2" fmla="*/ 0 w 43200"/>
              <a:gd name="T3" fmla="*/ 0 h 22107"/>
              <a:gd name="T4" fmla="*/ 463 w 43200"/>
              <a:gd name="T5" fmla="*/ 11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27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800">
              <a:cs typeface="Times New Roman" panose="02020603050405020304" pitchFamily="18" charset="0"/>
            </a:endParaRPr>
          </a:p>
        </p:txBody>
      </p:sp>
      <p:sp>
        <p:nvSpPr>
          <p:cNvPr id="123" name="Arc 45"/>
          <p:cNvSpPr>
            <a:spLocks/>
          </p:cNvSpPr>
          <p:nvPr/>
        </p:nvSpPr>
        <p:spPr bwMode="auto">
          <a:xfrm flipH="1" flipV="1">
            <a:off x="7097552" y="1605595"/>
            <a:ext cx="1529736" cy="782240"/>
          </a:xfrm>
          <a:custGeom>
            <a:avLst/>
            <a:gdLst>
              <a:gd name="T0" fmla="*/ 1365 w 43200"/>
              <a:gd name="T1" fmla="*/ 3 h 22107"/>
              <a:gd name="T2" fmla="*/ 0 w 43200"/>
              <a:gd name="T3" fmla="*/ 0 h 22107"/>
              <a:gd name="T4" fmla="*/ 683 w 43200"/>
              <a:gd name="T5" fmla="*/ 16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27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800"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619145" y="935378"/>
            <a:ext cx="3261370" cy="1480080"/>
            <a:chOff x="5619145" y="1297850"/>
            <a:chExt cx="3261370" cy="1480080"/>
          </a:xfrm>
        </p:grpSpPr>
        <p:sp>
          <p:nvSpPr>
            <p:cNvPr id="103" name="Line 10"/>
            <p:cNvSpPr>
              <a:spLocks noChangeShapeType="1"/>
            </p:cNvSpPr>
            <p:nvPr/>
          </p:nvSpPr>
          <p:spPr bwMode="auto">
            <a:xfrm flipV="1">
              <a:off x="6050752" y="1628423"/>
              <a:ext cx="2524164" cy="968121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>
                <a:cs typeface="Times New Roman" panose="02020603050405020304" pitchFamily="18" charset="0"/>
              </a:endParaRPr>
            </a:p>
          </p:txBody>
        </p:sp>
        <p:sp>
          <p:nvSpPr>
            <p:cNvPr id="104" name="Rectangle 11"/>
            <p:cNvSpPr>
              <a:spLocks noChangeArrowheads="1"/>
            </p:cNvSpPr>
            <p:nvPr/>
          </p:nvSpPr>
          <p:spPr bwMode="auto">
            <a:xfrm>
              <a:off x="8284080" y="1574757"/>
              <a:ext cx="578399" cy="446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b="1" i="1" dirty="0" smtClean="0">
                  <a:solidFill>
                    <a:srgbClr val="800080"/>
                  </a:solidFill>
                  <a:cs typeface="Times New Roman" panose="02020603050405020304" pitchFamily="18" charset="0"/>
                  <a:sym typeface="Symbol"/>
                </a:rPr>
                <a:t></a:t>
              </a:r>
              <a:r>
                <a:rPr kumimoji="1" lang="en-US" altLang="zh-CN" sz="1800" b="1" baseline="-25000" dirty="0" smtClean="0">
                  <a:solidFill>
                    <a:srgbClr val="800080"/>
                  </a:solidFill>
                  <a:cs typeface="Times New Roman" panose="02020603050405020304" pitchFamily="18" charset="0"/>
                  <a:sym typeface="Symbol" pitchFamily="18" charset="2"/>
                </a:rPr>
                <a:t>cu</a:t>
              </a:r>
              <a:endParaRPr kumimoji="1" lang="en-US" altLang="zh-CN" sz="1800" b="1" baseline="-25000" dirty="0">
                <a:solidFill>
                  <a:srgbClr val="80008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05" name="Line 12"/>
            <p:cNvSpPr>
              <a:spLocks noChangeShapeType="1"/>
            </p:cNvSpPr>
            <p:nvPr/>
          </p:nvSpPr>
          <p:spPr bwMode="auto">
            <a:xfrm>
              <a:off x="7880726" y="1907976"/>
              <a:ext cx="534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>
                <a:cs typeface="Times New Roman" panose="02020603050405020304" pitchFamily="18" charset="0"/>
              </a:endParaRPr>
            </a:p>
          </p:txBody>
        </p:sp>
        <p:sp>
          <p:nvSpPr>
            <p:cNvPr id="106" name="Rectangle 13"/>
            <p:cNvSpPr>
              <a:spLocks noChangeArrowheads="1"/>
            </p:cNvSpPr>
            <p:nvPr/>
          </p:nvSpPr>
          <p:spPr bwMode="auto">
            <a:xfrm>
              <a:off x="8479970" y="1297850"/>
              <a:ext cx="400545" cy="369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800080"/>
                  </a:solidFill>
                  <a:ea typeface="华文隶书" pitchFamily="2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1800" b="1" baseline="-25000" dirty="0">
                  <a:solidFill>
                    <a:srgbClr val="800080"/>
                  </a:solidFill>
                  <a:ea typeface="华文隶书" pitchFamily="2" charset="-122"/>
                  <a:cs typeface="Times New Roman" panose="02020603050405020304" pitchFamily="18" charset="0"/>
                </a:rPr>
                <a:t>f</a:t>
              </a:r>
              <a:endParaRPr kumimoji="1" lang="en-US" altLang="zh-CN" sz="1800" dirty="0">
                <a:solidFill>
                  <a:srgbClr val="800080"/>
                </a:solidFill>
                <a:ea typeface="华文隶书" pitchFamily="2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27" name="Rectangle 11"/>
            <p:cNvSpPr>
              <a:spLocks noChangeArrowheads="1"/>
            </p:cNvSpPr>
            <p:nvPr/>
          </p:nvSpPr>
          <p:spPr bwMode="auto">
            <a:xfrm>
              <a:off x="5619145" y="2331038"/>
              <a:ext cx="533786" cy="446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b="1" i="1" dirty="0" err="1" smtClean="0">
                  <a:solidFill>
                    <a:srgbClr val="800080"/>
                  </a:solidFill>
                  <a:cs typeface="Times New Roman" panose="02020603050405020304" pitchFamily="18" charset="0"/>
                  <a:sym typeface="Symbol"/>
                </a:rPr>
                <a:t>c</a:t>
              </a:r>
              <a:r>
                <a:rPr kumimoji="1" lang="en-US" altLang="zh-CN" sz="1800" b="1" baseline="-25000" dirty="0" err="1" smtClean="0">
                  <a:solidFill>
                    <a:srgbClr val="800080"/>
                  </a:solidFill>
                  <a:cs typeface="Times New Roman" panose="02020603050405020304" pitchFamily="18" charset="0"/>
                  <a:sym typeface="Symbol" pitchFamily="18" charset="2"/>
                </a:rPr>
                <a:t>cu</a:t>
              </a:r>
              <a:endParaRPr kumimoji="1" lang="en-US" altLang="zh-CN" sz="1800" b="1" baseline="-25000" dirty="0">
                <a:solidFill>
                  <a:srgbClr val="80008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198989" y="1829326"/>
            <a:ext cx="1206971" cy="563704"/>
            <a:chOff x="7198989" y="2191798"/>
            <a:chExt cx="1206971" cy="563704"/>
          </a:xfrm>
        </p:grpSpPr>
        <p:sp>
          <p:nvSpPr>
            <p:cNvPr id="174" name="Line 12"/>
            <p:cNvSpPr>
              <a:spLocks noChangeShapeType="1"/>
            </p:cNvSpPr>
            <p:nvPr/>
          </p:nvSpPr>
          <p:spPr bwMode="auto">
            <a:xfrm>
              <a:off x="7198989" y="2191798"/>
              <a:ext cx="9438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>
                <a:cs typeface="Times New Roman" panose="02020603050405020304" pitchFamily="18" charset="0"/>
              </a:endParaRPr>
            </a:p>
          </p:txBody>
        </p:sp>
        <p:cxnSp>
          <p:nvCxnSpPr>
            <p:cNvPr id="176" name="直接箭头连接符 175"/>
            <p:cNvCxnSpPr/>
            <p:nvPr/>
          </p:nvCxnSpPr>
          <p:spPr bwMode="auto">
            <a:xfrm>
              <a:off x="7981332" y="2198252"/>
              <a:ext cx="0" cy="557250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7" name="Text Box 20"/>
            <p:cNvSpPr txBox="1">
              <a:spLocks noChangeArrowheads="1"/>
            </p:cNvSpPr>
            <p:nvPr/>
          </p:nvSpPr>
          <p:spPr bwMode="auto">
            <a:xfrm>
              <a:off x="7955577" y="2220682"/>
              <a:ext cx="450383" cy="446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</a:rPr>
                <a:t>c</a:t>
              </a:r>
              <a:r>
                <a:rPr lang="en-US" altLang="zh-CN" sz="1800" b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u</a:t>
              </a:r>
              <a:endParaRPr lang="en-US" altLang="zh-CN" sz="1800" b="1" baseline="-25000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806310" y="2012286"/>
            <a:ext cx="2151142" cy="1828800"/>
            <a:chOff x="6658026" y="2613660"/>
            <a:chExt cx="2151142" cy="1828800"/>
          </a:xfrm>
        </p:grpSpPr>
        <p:sp>
          <p:nvSpPr>
            <p:cNvPr id="168" name="矩形 167"/>
            <p:cNvSpPr/>
            <p:nvPr/>
          </p:nvSpPr>
          <p:spPr>
            <a:xfrm>
              <a:off x="7003799" y="3084637"/>
              <a:ext cx="1805369" cy="7294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800" b="1" dirty="0" smtClean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试样的密度相同，莫尔圆</a:t>
              </a:r>
              <a:r>
                <a:rPr lang="zh-CN" altLang="en-US" sz="1800" b="1" dirty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大小</a:t>
              </a:r>
              <a:r>
                <a:rPr lang="zh-CN" altLang="en-US" sz="1800" b="1" dirty="0" smtClean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相同</a:t>
              </a:r>
              <a:endParaRPr lang="zh-CN" altLang="en-US" sz="18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任意多边形 13"/>
            <p:cNvSpPr/>
            <p:nvPr/>
          </p:nvSpPr>
          <p:spPr bwMode="auto">
            <a:xfrm>
              <a:off x="6658026" y="2613660"/>
              <a:ext cx="327660" cy="1828800"/>
            </a:xfrm>
            <a:custGeom>
              <a:avLst/>
              <a:gdLst>
                <a:gd name="connsiteX0" fmla="*/ 30480 w 327660"/>
                <a:gd name="connsiteY0" fmla="*/ 0 h 1828800"/>
                <a:gd name="connsiteX1" fmla="*/ 327660 w 327660"/>
                <a:gd name="connsiteY1" fmla="*/ 693420 h 1828800"/>
                <a:gd name="connsiteX2" fmla="*/ 0 w 327660"/>
                <a:gd name="connsiteY2" fmla="*/ 18288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7660" h="1828800">
                  <a:moveTo>
                    <a:pt x="30480" y="0"/>
                  </a:moveTo>
                  <a:lnTo>
                    <a:pt x="327660" y="693420"/>
                  </a:lnTo>
                  <a:lnTo>
                    <a:pt x="0" y="1828800"/>
                  </a:lnTo>
                </a:path>
              </a:pathLst>
            </a:cu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45" name="Rectangle 66"/>
          <p:cNvSpPr>
            <a:spLocks noChangeArrowheads="1"/>
          </p:cNvSpPr>
          <p:nvPr/>
        </p:nvSpPr>
        <p:spPr bwMode="auto">
          <a:xfrm>
            <a:off x="2900363" y="5955098"/>
            <a:ext cx="4495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不固结不排水试验</a:t>
            </a:r>
          </a:p>
        </p:txBody>
      </p:sp>
    </p:spTree>
    <p:extLst>
      <p:ext uri="{BB962C8B-B14F-4D97-AF65-F5344CB8AC3E}">
        <p14:creationId xmlns:p14="http://schemas.microsoft.com/office/powerpoint/2010/main" val="37896618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5" presetClass="emph" presetSubtype="0" repeatCount="6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5" presetClass="emph" presetSubtype="0" repeatCount="6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800" decel="100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 animBg="1"/>
      <p:bldP spid="143" grpId="0" animBg="1"/>
      <p:bldP spid="143" grpId="1" animBg="1"/>
      <p:bldP spid="148" grpId="0" animBg="1"/>
      <p:bldP spid="159" grpId="0" build="p"/>
      <p:bldP spid="161" grpId="0" build="p"/>
      <p:bldP spid="166" grpId="0"/>
      <p:bldP spid="167" grpId="0"/>
      <p:bldP spid="117" grpId="0" animBg="1"/>
      <p:bldP spid="120" grpId="0" animBg="1"/>
      <p:bldP spid="120" grpId="1" animBg="1"/>
      <p:bldP spid="123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671513" y="1191678"/>
            <a:ext cx="3548063" cy="2527300"/>
            <a:chOff x="423" y="1300"/>
            <a:chExt cx="2235" cy="1592"/>
          </a:xfrm>
        </p:grpSpPr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V="1">
              <a:off x="715" y="1453"/>
              <a:ext cx="0" cy="14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423" y="2431"/>
              <a:ext cx="351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cs typeface="Times New Roman" panose="02020603050405020304" pitchFamily="18" charset="0"/>
                  <a:sym typeface="Symbol" pitchFamily="18" charset="2"/>
                </a:rPr>
                <a:t>o</a:t>
              </a:r>
              <a:endParaRPr lang="en-US" altLang="zh-CN" sz="2400" b="1" i="1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713" y="2576"/>
              <a:ext cx="18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2148" y="2551"/>
              <a:ext cx="51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   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441" y="1300"/>
              <a:ext cx="35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4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sp>
        <p:nvSpPr>
          <p:cNvPr id="16" name="Arc 13"/>
          <p:cNvSpPr>
            <a:spLocks/>
          </p:cNvSpPr>
          <p:nvPr/>
        </p:nvSpPr>
        <p:spPr bwMode="auto">
          <a:xfrm flipH="1" flipV="1">
            <a:off x="1141413" y="2246885"/>
            <a:ext cx="1914525" cy="977900"/>
          </a:xfrm>
          <a:custGeom>
            <a:avLst/>
            <a:gdLst>
              <a:gd name="T0" fmla="*/ 1914348 w 43200"/>
              <a:gd name="T1" fmla="*/ 3583 h 22107"/>
              <a:gd name="T2" fmla="*/ 266 w 43200"/>
              <a:gd name="T3" fmla="*/ 0 h 22107"/>
              <a:gd name="T4" fmla="*/ 957263 w 43200"/>
              <a:gd name="T5" fmla="*/ 22427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Group 14"/>
          <p:cNvGrpSpPr>
            <a:grpSpLocks/>
          </p:cNvGrpSpPr>
          <p:nvPr/>
        </p:nvGrpSpPr>
        <p:grpSpPr bwMode="auto">
          <a:xfrm>
            <a:off x="687388" y="1726183"/>
            <a:ext cx="3462338" cy="708025"/>
            <a:chOff x="433" y="1630"/>
            <a:chExt cx="2181" cy="446"/>
          </a:xfrm>
        </p:grpSpPr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656" y="1630"/>
              <a:ext cx="5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 smtClean="0">
                  <a:solidFill>
                    <a:srgbClr val="000066"/>
                  </a:solidFill>
                  <a:sym typeface="Symbol"/>
                </a:rPr>
                <a:t></a:t>
              </a:r>
              <a:r>
                <a:rPr kumimoji="1" lang="en-US" altLang="zh-CN" sz="2400" b="1" baseline="-25000" dirty="0" smtClean="0">
                  <a:solidFill>
                    <a:srgbClr val="000066"/>
                  </a:solidFill>
                  <a:sym typeface="Symbol" pitchFamily="18" charset="2"/>
                </a:rPr>
                <a:t>u</a:t>
              </a:r>
              <a:r>
                <a:rPr kumimoji="1" lang="en-US" altLang="zh-CN" sz="2400" b="1" dirty="0" smtClean="0">
                  <a:solidFill>
                    <a:srgbClr val="000066"/>
                  </a:solidFill>
                  <a:sym typeface="Symbol" pitchFamily="18" charset="2"/>
                </a:rPr>
                <a:t>=0</a:t>
              </a:r>
              <a:endParaRPr kumimoji="1" lang="en-US" altLang="zh-CN" sz="24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211" y="1746"/>
              <a:ext cx="40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8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f</a:t>
              </a:r>
              <a:endParaRPr kumimoji="1" lang="en-US" altLang="zh-CN" sz="2800" dirty="0">
                <a:solidFill>
                  <a:srgbClr val="000066"/>
                </a:solidFill>
                <a:ea typeface="华文隶书" pitchFamily="2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715" y="1953"/>
              <a:ext cx="149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33" y="1727"/>
              <a:ext cx="27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</a:rPr>
                <a:t>c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</a:rPr>
                <a:t>u</a:t>
              </a:r>
            </a:p>
          </p:txBody>
        </p:sp>
      </p:grp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1162050" y="3167635"/>
            <a:ext cx="75052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i="1" dirty="0">
                <a:ea typeface="幼圆" pitchFamily="49" charset="-122"/>
                <a:sym typeface="Symbol" pitchFamily="18" charset="2"/>
              </a:rPr>
              <a:t></a:t>
            </a:r>
            <a:r>
              <a:rPr lang="en-US" altLang="zh-CN" sz="2200" b="1" baseline="-25000" dirty="0">
                <a:ea typeface="幼圆" pitchFamily="49" charset="-122"/>
                <a:sym typeface="Symbol" pitchFamily="18" charset="2"/>
              </a:rPr>
              <a:t>3</a:t>
            </a:r>
            <a:r>
              <a:rPr lang="en-US" altLang="zh-CN" sz="2200" b="1" dirty="0">
                <a:ea typeface="幼圆" pitchFamily="49" charset="-122"/>
                <a:sym typeface="Symbol" pitchFamily="18" charset="2"/>
              </a:rPr>
              <a:t>=0</a:t>
            </a:r>
            <a:endParaRPr lang="en-US" altLang="zh-CN" sz="2200" b="1" baseline="-25000" dirty="0">
              <a:ea typeface="幼圆" pitchFamily="49" charset="-122"/>
            </a:endParaRP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2484438" y="3166048"/>
            <a:ext cx="91723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i="1" dirty="0" err="1"/>
              <a:t>q</a:t>
            </a:r>
            <a:r>
              <a:rPr kumimoji="1" lang="en-US" altLang="zh-CN" sz="2200" b="1" baseline="-25000" dirty="0" err="1"/>
              <a:t>u</a:t>
            </a:r>
            <a:r>
              <a:rPr kumimoji="1" lang="en-US" altLang="zh-CN" sz="2200" b="1" dirty="0"/>
              <a:t>=</a:t>
            </a:r>
            <a:r>
              <a:rPr kumimoji="1" lang="en-US" altLang="zh-CN" sz="2200" b="1" i="1" dirty="0" smtClean="0">
                <a:latin typeface="Arial" charset="0"/>
                <a:sym typeface="Symbol" pitchFamily="18" charset="2"/>
              </a:rPr>
              <a:t></a:t>
            </a:r>
            <a:r>
              <a:rPr kumimoji="1" lang="en-US" altLang="zh-CN" sz="2200" b="1" baseline="-25000" dirty="0" smtClean="0">
                <a:latin typeface="Arial" charset="0"/>
                <a:sym typeface="Symbol" pitchFamily="18" charset="2"/>
              </a:rPr>
              <a:t>f</a:t>
            </a:r>
            <a:endParaRPr kumimoji="1" lang="en-US" altLang="zh-CN" sz="2200" b="1" baseline="-25000" dirty="0">
              <a:latin typeface="Arial" charset="0"/>
              <a:sym typeface="Symbol" pitchFamily="18" charset="2"/>
            </a:endParaRPr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4366054" y="1397537"/>
            <a:ext cx="4464908" cy="2025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71463" indent="-271463" eaLnBrk="1" hangingPunct="1">
              <a:lnSpc>
                <a:spcPct val="110000"/>
              </a:lnSpc>
              <a:spcBef>
                <a:spcPts val="12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Arial" panose="020B0604020202020204" pitchFamily="34" charset="0"/>
              <a:buChar char="•"/>
              <a:tabLst>
                <a:tab pos="271463" algn="l"/>
              </a:tabLst>
            </a:pP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的不排水试验</a:t>
            </a:r>
          </a:p>
          <a:p>
            <a:pPr marL="271463" indent="-271463" eaLnBrk="1" hangingPunct="1">
              <a:lnSpc>
                <a:spcPct val="110000"/>
              </a:lnSpc>
              <a:spcBef>
                <a:spcPts val="12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Arial" panose="020B0604020202020204" pitchFamily="34" charset="0"/>
              <a:buChar char="•"/>
              <a:tabLst>
                <a:tab pos="271463" algn="l"/>
              </a:tabLst>
            </a:pP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q</a:t>
            </a:r>
            <a:r>
              <a:rPr kumimoji="1"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/2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271463" indent="-271463" eaLnBrk="1" hangingPunct="1">
              <a:lnSpc>
                <a:spcPct val="110000"/>
              </a:lnSpc>
              <a:spcBef>
                <a:spcPts val="12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Arial" panose="020B0604020202020204" pitchFamily="34" charset="0"/>
              <a:buChar char="•"/>
              <a:tabLst>
                <a:tab pos="271463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由于土样扰动等的影响，一般稍低于原位不排水强度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6" name="Rectangle 69"/>
          <p:cNvSpPr>
            <a:spLocks noChangeArrowheads="1"/>
          </p:cNvSpPr>
          <p:nvPr/>
        </p:nvSpPr>
        <p:spPr bwMode="auto">
          <a:xfrm>
            <a:off x="414338" y="697001"/>
            <a:ext cx="311567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无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侧限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压缩试验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69"/>
          <p:cNvSpPr>
            <a:spLocks noChangeArrowheads="1"/>
          </p:cNvSpPr>
          <p:nvPr/>
        </p:nvSpPr>
        <p:spPr bwMode="auto">
          <a:xfrm>
            <a:off x="439141" y="4176909"/>
            <a:ext cx="311567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十字板剪切试验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Text Box 21"/>
          <p:cNvSpPr txBox="1">
            <a:spLocks noChangeArrowheads="1"/>
          </p:cNvSpPr>
          <p:nvPr/>
        </p:nvSpPr>
        <p:spPr bwMode="auto">
          <a:xfrm>
            <a:off x="4386648" y="4169568"/>
            <a:ext cx="420953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71463" indent="-271463" eaLnBrk="1" hangingPunct="1">
              <a:lnSpc>
                <a:spcPct val="110000"/>
              </a:lnSpc>
              <a:spcBef>
                <a:spcPts val="120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Arial" panose="020B0604020202020204" pitchFamily="34" charset="0"/>
              <a:buChar char="•"/>
              <a:tabLst>
                <a:tab pos="271463" algn="l"/>
              </a:tabLst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十字板剪切试验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所得到的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抗剪强度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相当于土的不排水强度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30" name="Rectangle 66"/>
          <p:cNvSpPr>
            <a:spLocks noChangeArrowheads="1"/>
          </p:cNvSpPr>
          <p:nvPr/>
        </p:nvSpPr>
        <p:spPr bwMode="auto">
          <a:xfrm>
            <a:off x="2900363" y="5806814"/>
            <a:ext cx="4495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不固结不排水试验</a:t>
            </a:r>
          </a:p>
        </p:txBody>
      </p:sp>
    </p:spTree>
    <p:extLst>
      <p:ext uri="{BB962C8B-B14F-4D97-AF65-F5344CB8AC3E}">
        <p14:creationId xmlns:p14="http://schemas.microsoft.com/office/powerpoint/2010/main" val="301360220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/>
      <p:bldP spid="23" grpId="0"/>
      <p:bldP spid="24" grpId="0" build="p"/>
      <p:bldP spid="27" grpId="0"/>
      <p:bldP spid="28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V="1">
            <a:off x="468313" y="2195513"/>
            <a:ext cx="0" cy="24272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463551" y="4121150"/>
            <a:ext cx="441324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548188" y="4100513"/>
            <a:ext cx="56356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5147" tIns="52573" rIns="105147" bIns="52573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 dirty="0" smtClean="0">
                <a:cs typeface="Times New Roman" panose="02020603050405020304" pitchFamily="18" charset="0"/>
                <a:sym typeface="Symbol" pitchFamily="18" charset="2"/>
              </a:rPr>
              <a:t></a:t>
            </a:r>
            <a:endParaRPr lang="en-US" altLang="zh-CN" sz="2800" b="1" dirty="0"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467405" y="1790019"/>
            <a:ext cx="5556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147" tIns="52573" rIns="105147" bIns="52573">
            <a:spAutoFit/>
          </a:bodyPr>
          <a:lstStyle>
            <a:lvl1pPr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10509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10509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 dirty="0">
                <a:cs typeface="Times New Roman" panose="02020603050405020304" pitchFamily="18" charset="0"/>
                <a:sym typeface="Symbol" pitchFamily="18" charset="2"/>
              </a:rPr>
              <a:t></a:t>
            </a:r>
          </a:p>
        </p:txBody>
      </p:sp>
      <p:sp>
        <p:nvSpPr>
          <p:cNvPr id="14" name="Arc 11"/>
          <p:cNvSpPr>
            <a:spLocks/>
          </p:cNvSpPr>
          <p:nvPr/>
        </p:nvSpPr>
        <p:spPr bwMode="auto">
          <a:xfrm flipH="1" flipV="1">
            <a:off x="2723635" y="3144838"/>
            <a:ext cx="1914525" cy="977900"/>
          </a:xfrm>
          <a:custGeom>
            <a:avLst/>
            <a:gdLst>
              <a:gd name="T0" fmla="*/ 1206 w 43200"/>
              <a:gd name="T1" fmla="*/ 2 h 22107"/>
              <a:gd name="T2" fmla="*/ 0 w 43200"/>
              <a:gd name="T3" fmla="*/ 0 h 22107"/>
              <a:gd name="T4" fmla="*/ 603 w 43200"/>
              <a:gd name="T5" fmla="*/ 14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4298951" y="2566988"/>
            <a:ext cx="6397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i="1" dirty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3200" b="1" baseline="-25000" dirty="0">
                <a:solidFill>
                  <a:srgbClr val="C00000"/>
                </a:solidFill>
                <a:cs typeface="Times New Roman" panose="02020603050405020304" pitchFamily="18" charset="0"/>
              </a:rPr>
              <a:t>f</a:t>
            </a:r>
            <a:endParaRPr kumimoji="1" lang="en-US" altLang="zh-CN" sz="3200" dirty="0">
              <a:solidFill>
                <a:srgbClr val="C00000"/>
              </a:solidFill>
              <a:ea typeface="华文隶书" pitchFamily="2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" name="Arc 13"/>
          <p:cNvSpPr>
            <a:spLocks/>
          </p:cNvSpPr>
          <p:nvPr/>
        </p:nvSpPr>
        <p:spPr bwMode="auto">
          <a:xfrm flipH="1" flipV="1">
            <a:off x="1998663" y="3141663"/>
            <a:ext cx="1914525" cy="977900"/>
          </a:xfrm>
          <a:custGeom>
            <a:avLst/>
            <a:gdLst>
              <a:gd name="T0" fmla="*/ 1206 w 43200"/>
              <a:gd name="T1" fmla="*/ 2 h 22107"/>
              <a:gd name="T2" fmla="*/ 0 w 43200"/>
              <a:gd name="T3" fmla="*/ 0 h 22107"/>
              <a:gd name="T4" fmla="*/ 603 w 43200"/>
              <a:gd name="T5" fmla="*/ 14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rc 14"/>
          <p:cNvSpPr>
            <a:spLocks/>
          </p:cNvSpPr>
          <p:nvPr/>
        </p:nvSpPr>
        <p:spPr bwMode="auto">
          <a:xfrm flipH="1" flipV="1">
            <a:off x="1065213" y="3363913"/>
            <a:ext cx="1487488" cy="758825"/>
          </a:xfrm>
          <a:custGeom>
            <a:avLst/>
            <a:gdLst>
              <a:gd name="T0" fmla="*/ 1005 w 43200"/>
              <a:gd name="T1" fmla="*/ 2 h 22107"/>
              <a:gd name="T2" fmla="*/ 0 w 43200"/>
              <a:gd name="T3" fmla="*/ 0 h 22107"/>
              <a:gd name="T4" fmla="*/ 503 w 43200"/>
              <a:gd name="T5" fmla="*/ 12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rc 15"/>
          <p:cNvSpPr>
            <a:spLocks/>
          </p:cNvSpPr>
          <p:nvPr/>
        </p:nvSpPr>
        <p:spPr bwMode="auto">
          <a:xfrm flipH="1" flipV="1">
            <a:off x="669926" y="3606800"/>
            <a:ext cx="1009650" cy="515938"/>
          </a:xfrm>
          <a:custGeom>
            <a:avLst/>
            <a:gdLst>
              <a:gd name="T0" fmla="*/ 636 w 43200"/>
              <a:gd name="T1" fmla="*/ 1 h 22107"/>
              <a:gd name="T2" fmla="*/ 0 w 43200"/>
              <a:gd name="T3" fmla="*/ 0 h 22107"/>
              <a:gd name="T4" fmla="*/ 318 w 43200"/>
              <a:gd name="T5" fmla="*/ 7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Freeform 16"/>
          <p:cNvSpPr>
            <a:spLocks/>
          </p:cNvSpPr>
          <p:nvPr/>
        </p:nvSpPr>
        <p:spPr bwMode="auto">
          <a:xfrm>
            <a:off x="460376" y="3133725"/>
            <a:ext cx="4183063" cy="792163"/>
          </a:xfrm>
          <a:custGeom>
            <a:avLst/>
            <a:gdLst>
              <a:gd name="T0" fmla="*/ 0 w 2626"/>
              <a:gd name="T1" fmla="*/ 508 h 508"/>
              <a:gd name="T2" fmla="*/ 173 w 2626"/>
              <a:gd name="T3" fmla="*/ 384 h 508"/>
              <a:gd name="T4" fmla="*/ 423 w 2626"/>
              <a:gd name="T5" fmla="*/ 273 h 508"/>
              <a:gd name="T6" fmla="*/ 869 w 2626"/>
              <a:gd name="T7" fmla="*/ 120 h 508"/>
              <a:gd name="T8" fmla="*/ 1138 w 2626"/>
              <a:gd name="T9" fmla="*/ 52 h 508"/>
              <a:gd name="T10" fmla="*/ 1340 w 2626"/>
              <a:gd name="T11" fmla="*/ 19 h 508"/>
              <a:gd name="T12" fmla="*/ 1527 w 2626"/>
              <a:gd name="T13" fmla="*/ 0 h 508"/>
              <a:gd name="T14" fmla="*/ 2626 w 2626"/>
              <a:gd name="T15" fmla="*/ 0 h 5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626"/>
              <a:gd name="T25" fmla="*/ 0 h 508"/>
              <a:gd name="T26" fmla="*/ 2626 w 2626"/>
              <a:gd name="T27" fmla="*/ 508 h 508"/>
              <a:gd name="connsiteX0" fmla="*/ 0 w 10000"/>
              <a:gd name="connsiteY0" fmla="*/ 10000 h 10000"/>
              <a:gd name="connsiteX1" fmla="*/ 755 w 10000"/>
              <a:gd name="connsiteY1" fmla="*/ 7497 h 10000"/>
              <a:gd name="connsiteX2" fmla="*/ 1611 w 10000"/>
              <a:gd name="connsiteY2" fmla="*/ 5374 h 10000"/>
              <a:gd name="connsiteX3" fmla="*/ 3309 w 10000"/>
              <a:gd name="connsiteY3" fmla="*/ 2362 h 10000"/>
              <a:gd name="connsiteX4" fmla="*/ 4334 w 10000"/>
              <a:gd name="connsiteY4" fmla="*/ 1024 h 10000"/>
              <a:gd name="connsiteX5" fmla="*/ 5103 w 10000"/>
              <a:gd name="connsiteY5" fmla="*/ 374 h 10000"/>
              <a:gd name="connsiteX6" fmla="*/ 5815 w 10000"/>
              <a:gd name="connsiteY6" fmla="*/ 0 h 10000"/>
              <a:gd name="connsiteX7" fmla="*/ 10000 w 10000"/>
              <a:gd name="connsiteY7" fmla="*/ 0 h 10000"/>
              <a:gd name="connsiteX0" fmla="*/ 0 w 10000"/>
              <a:gd name="connsiteY0" fmla="*/ 10000 h 10000"/>
              <a:gd name="connsiteX1" fmla="*/ 755 w 10000"/>
              <a:gd name="connsiteY1" fmla="*/ 7497 h 10000"/>
              <a:gd name="connsiteX2" fmla="*/ 1611 w 10000"/>
              <a:gd name="connsiteY2" fmla="*/ 5374 h 10000"/>
              <a:gd name="connsiteX3" fmla="*/ 2947 w 10000"/>
              <a:gd name="connsiteY3" fmla="*/ 2798 h 10000"/>
              <a:gd name="connsiteX4" fmla="*/ 4334 w 10000"/>
              <a:gd name="connsiteY4" fmla="*/ 1024 h 10000"/>
              <a:gd name="connsiteX5" fmla="*/ 5103 w 10000"/>
              <a:gd name="connsiteY5" fmla="*/ 374 h 10000"/>
              <a:gd name="connsiteX6" fmla="*/ 5815 w 10000"/>
              <a:gd name="connsiteY6" fmla="*/ 0 h 10000"/>
              <a:gd name="connsiteX7" fmla="*/ 10000 w 10000"/>
              <a:gd name="connsiteY7" fmla="*/ 0 h 10000"/>
              <a:gd name="connsiteX0" fmla="*/ 0 w 10000"/>
              <a:gd name="connsiteY0" fmla="*/ 10000 h 10000"/>
              <a:gd name="connsiteX1" fmla="*/ 755 w 10000"/>
              <a:gd name="connsiteY1" fmla="*/ 7497 h 10000"/>
              <a:gd name="connsiteX2" fmla="*/ 1611 w 10000"/>
              <a:gd name="connsiteY2" fmla="*/ 5374 h 10000"/>
              <a:gd name="connsiteX3" fmla="*/ 2947 w 10000"/>
              <a:gd name="connsiteY3" fmla="*/ 2798 h 10000"/>
              <a:gd name="connsiteX4" fmla="*/ 4081 w 10000"/>
              <a:gd name="connsiteY4" fmla="*/ 1273 h 10000"/>
              <a:gd name="connsiteX5" fmla="*/ 5103 w 10000"/>
              <a:gd name="connsiteY5" fmla="*/ 374 h 10000"/>
              <a:gd name="connsiteX6" fmla="*/ 5815 w 10000"/>
              <a:gd name="connsiteY6" fmla="*/ 0 h 10000"/>
              <a:gd name="connsiteX7" fmla="*/ 10000 w 10000"/>
              <a:gd name="connsiteY7" fmla="*/ 0 h 10000"/>
              <a:gd name="connsiteX0" fmla="*/ 0 w 10000"/>
              <a:gd name="connsiteY0" fmla="*/ 10000 h 10000"/>
              <a:gd name="connsiteX1" fmla="*/ 755 w 10000"/>
              <a:gd name="connsiteY1" fmla="*/ 7497 h 10000"/>
              <a:gd name="connsiteX2" fmla="*/ 1611 w 10000"/>
              <a:gd name="connsiteY2" fmla="*/ 5374 h 10000"/>
              <a:gd name="connsiteX3" fmla="*/ 2778 w 10000"/>
              <a:gd name="connsiteY3" fmla="*/ 2985 h 10000"/>
              <a:gd name="connsiteX4" fmla="*/ 4081 w 10000"/>
              <a:gd name="connsiteY4" fmla="*/ 1273 h 10000"/>
              <a:gd name="connsiteX5" fmla="*/ 5103 w 10000"/>
              <a:gd name="connsiteY5" fmla="*/ 374 h 10000"/>
              <a:gd name="connsiteX6" fmla="*/ 5815 w 10000"/>
              <a:gd name="connsiteY6" fmla="*/ 0 h 10000"/>
              <a:gd name="connsiteX7" fmla="*/ 10000 w 10000"/>
              <a:gd name="connsiteY7" fmla="*/ 0 h 10000"/>
              <a:gd name="connsiteX0" fmla="*/ 0 w 10000"/>
              <a:gd name="connsiteY0" fmla="*/ 10000 h 10000"/>
              <a:gd name="connsiteX1" fmla="*/ 755 w 10000"/>
              <a:gd name="connsiteY1" fmla="*/ 7497 h 10000"/>
              <a:gd name="connsiteX2" fmla="*/ 1611 w 10000"/>
              <a:gd name="connsiteY2" fmla="*/ 5374 h 10000"/>
              <a:gd name="connsiteX3" fmla="*/ 2778 w 10000"/>
              <a:gd name="connsiteY3" fmla="*/ 2985 h 10000"/>
              <a:gd name="connsiteX4" fmla="*/ 4081 w 10000"/>
              <a:gd name="connsiteY4" fmla="*/ 1273 h 10000"/>
              <a:gd name="connsiteX5" fmla="*/ 4778 w 10000"/>
              <a:gd name="connsiteY5" fmla="*/ 561 h 10000"/>
              <a:gd name="connsiteX6" fmla="*/ 5815 w 10000"/>
              <a:gd name="connsiteY6" fmla="*/ 0 h 10000"/>
              <a:gd name="connsiteX7" fmla="*/ 10000 w 10000"/>
              <a:gd name="connsiteY7" fmla="*/ 0 h 10000"/>
              <a:gd name="connsiteX0" fmla="*/ 0 w 10000"/>
              <a:gd name="connsiteY0" fmla="*/ 10000 h 10000"/>
              <a:gd name="connsiteX1" fmla="*/ 755 w 10000"/>
              <a:gd name="connsiteY1" fmla="*/ 7497 h 10000"/>
              <a:gd name="connsiteX2" fmla="*/ 1611 w 10000"/>
              <a:gd name="connsiteY2" fmla="*/ 5374 h 10000"/>
              <a:gd name="connsiteX3" fmla="*/ 2778 w 10000"/>
              <a:gd name="connsiteY3" fmla="*/ 2985 h 10000"/>
              <a:gd name="connsiteX4" fmla="*/ 3864 w 10000"/>
              <a:gd name="connsiteY4" fmla="*/ 1335 h 10000"/>
              <a:gd name="connsiteX5" fmla="*/ 4778 w 10000"/>
              <a:gd name="connsiteY5" fmla="*/ 561 h 10000"/>
              <a:gd name="connsiteX6" fmla="*/ 5815 w 10000"/>
              <a:gd name="connsiteY6" fmla="*/ 0 h 10000"/>
              <a:gd name="connsiteX7" fmla="*/ 10000 w 10000"/>
              <a:gd name="connsiteY7" fmla="*/ 0 h 10000"/>
              <a:gd name="connsiteX0" fmla="*/ 0 w 10000"/>
              <a:gd name="connsiteY0" fmla="*/ 10000 h 10000"/>
              <a:gd name="connsiteX1" fmla="*/ 755 w 10000"/>
              <a:gd name="connsiteY1" fmla="*/ 7497 h 10000"/>
              <a:gd name="connsiteX2" fmla="*/ 1611 w 10000"/>
              <a:gd name="connsiteY2" fmla="*/ 5374 h 10000"/>
              <a:gd name="connsiteX3" fmla="*/ 2778 w 10000"/>
              <a:gd name="connsiteY3" fmla="*/ 2985 h 10000"/>
              <a:gd name="connsiteX4" fmla="*/ 3888 w 10000"/>
              <a:gd name="connsiteY4" fmla="*/ 1397 h 10000"/>
              <a:gd name="connsiteX5" fmla="*/ 4778 w 10000"/>
              <a:gd name="connsiteY5" fmla="*/ 561 h 10000"/>
              <a:gd name="connsiteX6" fmla="*/ 5815 w 10000"/>
              <a:gd name="connsiteY6" fmla="*/ 0 h 10000"/>
              <a:gd name="connsiteX7" fmla="*/ 10000 w 10000"/>
              <a:gd name="connsiteY7" fmla="*/ 0 h 10000"/>
              <a:gd name="connsiteX0" fmla="*/ 0 w 10000"/>
              <a:gd name="connsiteY0" fmla="*/ 10045 h 10045"/>
              <a:gd name="connsiteX1" fmla="*/ 755 w 10000"/>
              <a:gd name="connsiteY1" fmla="*/ 7542 h 10045"/>
              <a:gd name="connsiteX2" fmla="*/ 1611 w 10000"/>
              <a:gd name="connsiteY2" fmla="*/ 5419 h 10045"/>
              <a:gd name="connsiteX3" fmla="*/ 2778 w 10000"/>
              <a:gd name="connsiteY3" fmla="*/ 3030 h 10045"/>
              <a:gd name="connsiteX4" fmla="*/ 3888 w 10000"/>
              <a:gd name="connsiteY4" fmla="*/ 1442 h 10045"/>
              <a:gd name="connsiteX5" fmla="*/ 4778 w 10000"/>
              <a:gd name="connsiteY5" fmla="*/ 606 h 10045"/>
              <a:gd name="connsiteX6" fmla="*/ 5815 w 10000"/>
              <a:gd name="connsiteY6" fmla="*/ 45 h 10045"/>
              <a:gd name="connsiteX7" fmla="*/ 6707 w 10000"/>
              <a:gd name="connsiteY7" fmla="*/ 0 h 10045"/>
              <a:gd name="connsiteX8" fmla="*/ 10000 w 10000"/>
              <a:gd name="connsiteY8" fmla="*/ 45 h 10045"/>
              <a:gd name="connsiteX0" fmla="*/ 0 w 10000"/>
              <a:gd name="connsiteY0" fmla="*/ 10045 h 10045"/>
              <a:gd name="connsiteX1" fmla="*/ 755 w 10000"/>
              <a:gd name="connsiteY1" fmla="*/ 7542 h 10045"/>
              <a:gd name="connsiteX2" fmla="*/ 1611 w 10000"/>
              <a:gd name="connsiteY2" fmla="*/ 5419 h 10045"/>
              <a:gd name="connsiteX3" fmla="*/ 2778 w 10000"/>
              <a:gd name="connsiteY3" fmla="*/ 3030 h 10045"/>
              <a:gd name="connsiteX4" fmla="*/ 3888 w 10000"/>
              <a:gd name="connsiteY4" fmla="*/ 1442 h 10045"/>
              <a:gd name="connsiteX5" fmla="*/ 4778 w 10000"/>
              <a:gd name="connsiteY5" fmla="*/ 606 h 10045"/>
              <a:gd name="connsiteX6" fmla="*/ 5707 w 10000"/>
              <a:gd name="connsiteY6" fmla="*/ 45 h 10045"/>
              <a:gd name="connsiteX7" fmla="*/ 6707 w 10000"/>
              <a:gd name="connsiteY7" fmla="*/ 0 h 10045"/>
              <a:gd name="connsiteX8" fmla="*/ 10000 w 10000"/>
              <a:gd name="connsiteY8" fmla="*/ 45 h 10045"/>
              <a:gd name="connsiteX0" fmla="*/ 0 w 10000"/>
              <a:gd name="connsiteY0" fmla="*/ 10000 h 10000"/>
              <a:gd name="connsiteX1" fmla="*/ 755 w 10000"/>
              <a:gd name="connsiteY1" fmla="*/ 7497 h 10000"/>
              <a:gd name="connsiteX2" fmla="*/ 1611 w 10000"/>
              <a:gd name="connsiteY2" fmla="*/ 5374 h 10000"/>
              <a:gd name="connsiteX3" fmla="*/ 2778 w 10000"/>
              <a:gd name="connsiteY3" fmla="*/ 2985 h 10000"/>
              <a:gd name="connsiteX4" fmla="*/ 3888 w 10000"/>
              <a:gd name="connsiteY4" fmla="*/ 1397 h 10000"/>
              <a:gd name="connsiteX5" fmla="*/ 4778 w 10000"/>
              <a:gd name="connsiteY5" fmla="*/ 561 h 10000"/>
              <a:gd name="connsiteX6" fmla="*/ 5707 w 10000"/>
              <a:gd name="connsiteY6" fmla="*/ 0 h 10000"/>
              <a:gd name="connsiteX7" fmla="*/ 6671 w 10000"/>
              <a:gd name="connsiteY7" fmla="*/ 80 h 10000"/>
              <a:gd name="connsiteX8" fmla="*/ 10000 w 10000"/>
              <a:gd name="connsiteY8" fmla="*/ 0 h 10000"/>
              <a:gd name="connsiteX0" fmla="*/ 0 w 10000"/>
              <a:gd name="connsiteY0" fmla="*/ 10045 h 10045"/>
              <a:gd name="connsiteX1" fmla="*/ 755 w 10000"/>
              <a:gd name="connsiteY1" fmla="*/ 7542 h 10045"/>
              <a:gd name="connsiteX2" fmla="*/ 1611 w 10000"/>
              <a:gd name="connsiteY2" fmla="*/ 5419 h 10045"/>
              <a:gd name="connsiteX3" fmla="*/ 2778 w 10000"/>
              <a:gd name="connsiteY3" fmla="*/ 3030 h 10045"/>
              <a:gd name="connsiteX4" fmla="*/ 3888 w 10000"/>
              <a:gd name="connsiteY4" fmla="*/ 1442 h 10045"/>
              <a:gd name="connsiteX5" fmla="*/ 4778 w 10000"/>
              <a:gd name="connsiteY5" fmla="*/ 606 h 10045"/>
              <a:gd name="connsiteX6" fmla="*/ 5707 w 10000"/>
              <a:gd name="connsiteY6" fmla="*/ 45 h 10045"/>
              <a:gd name="connsiteX7" fmla="*/ 6707 w 10000"/>
              <a:gd name="connsiteY7" fmla="*/ 0 h 10045"/>
              <a:gd name="connsiteX8" fmla="*/ 10000 w 10000"/>
              <a:gd name="connsiteY8" fmla="*/ 45 h 10045"/>
              <a:gd name="connsiteX0" fmla="*/ 0 w 10036"/>
              <a:gd name="connsiteY0" fmla="*/ 9858 h 9858"/>
              <a:gd name="connsiteX1" fmla="*/ 791 w 10036"/>
              <a:gd name="connsiteY1" fmla="*/ 7542 h 9858"/>
              <a:gd name="connsiteX2" fmla="*/ 1647 w 10036"/>
              <a:gd name="connsiteY2" fmla="*/ 5419 h 9858"/>
              <a:gd name="connsiteX3" fmla="*/ 2814 w 10036"/>
              <a:gd name="connsiteY3" fmla="*/ 3030 h 9858"/>
              <a:gd name="connsiteX4" fmla="*/ 3924 w 10036"/>
              <a:gd name="connsiteY4" fmla="*/ 1442 h 9858"/>
              <a:gd name="connsiteX5" fmla="*/ 4814 w 10036"/>
              <a:gd name="connsiteY5" fmla="*/ 606 h 9858"/>
              <a:gd name="connsiteX6" fmla="*/ 5743 w 10036"/>
              <a:gd name="connsiteY6" fmla="*/ 45 h 9858"/>
              <a:gd name="connsiteX7" fmla="*/ 6743 w 10036"/>
              <a:gd name="connsiteY7" fmla="*/ 0 h 9858"/>
              <a:gd name="connsiteX8" fmla="*/ 10036 w 10036"/>
              <a:gd name="connsiteY8" fmla="*/ 45 h 9858"/>
              <a:gd name="connsiteX0" fmla="*/ 0 w 10000"/>
              <a:gd name="connsiteY0" fmla="*/ 10000 h 10000"/>
              <a:gd name="connsiteX1" fmla="*/ 788 w 10000"/>
              <a:gd name="connsiteY1" fmla="*/ 7651 h 10000"/>
              <a:gd name="connsiteX2" fmla="*/ 1641 w 10000"/>
              <a:gd name="connsiteY2" fmla="*/ 5497 h 10000"/>
              <a:gd name="connsiteX3" fmla="*/ 2804 w 10000"/>
              <a:gd name="connsiteY3" fmla="*/ 3074 h 10000"/>
              <a:gd name="connsiteX4" fmla="*/ 3910 w 10000"/>
              <a:gd name="connsiteY4" fmla="*/ 1463 h 10000"/>
              <a:gd name="connsiteX5" fmla="*/ 4797 w 10000"/>
              <a:gd name="connsiteY5" fmla="*/ 615 h 10000"/>
              <a:gd name="connsiteX6" fmla="*/ 5722 w 10000"/>
              <a:gd name="connsiteY6" fmla="*/ 46 h 10000"/>
              <a:gd name="connsiteX7" fmla="*/ 6659 w 10000"/>
              <a:gd name="connsiteY7" fmla="*/ 0 h 10000"/>
              <a:gd name="connsiteX8" fmla="*/ 10000 w 10000"/>
              <a:gd name="connsiteY8" fmla="*/ 46 h 10000"/>
              <a:gd name="connsiteX0" fmla="*/ 0 w 10000"/>
              <a:gd name="connsiteY0" fmla="*/ 9954 h 9954"/>
              <a:gd name="connsiteX1" fmla="*/ 788 w 10000"/>
              <a:gd name="connsiteY1" fmla="*/ 7605 h 9954"/>
              <a:gd name="connsiteX2" fmla="*/ 1641 w 10000"/>
              <a:gd name="connsiteY2" fmla="*/ 5451 h 9954"/>
              <a:gd name="connsiteX3" fmla="*/ 2804 w 10000"/>
              <a:gd name="connsiteY3" fmla="*/ 3028 h 9954"/>
              <a:gd name="connsiteX4" fmla="*/ 3910 w 10000"/>
              <a:gd name="connsiteY4" fmla="*/ 1417 h 9954"/>
              <a:gd name="connsiteX5" fmla="*/ 4797 w 10000"/>
              <a:gd name="connsiteY5" fmla="*/ 569 h 9954"/>
              <a:gd name="connsiteX6" fmla="*/ 5722 w 10000"/>
              <a:gd name="connsiteY6" fmla="*/ 0 h 9954"/>
              <a:gd name="connsiteX7" fmla="*/ 6623 w 10000"/>
              <a:gd name="connsiteY7" fmla="*/ 144 h 9954"/>
              <a:gd name="connsiteX8" fmla="*/ 10000 w 10000"/>
              <a:gd name="connsiteY8" fmla="*/ 0 h 9954"/>
              <a:gd name="connsiteX0" fmla="*/ 0 w 10000"/>
              <a:gd name="connsiteY0" fmla="*/ 10000 h 10000"/>
              <a:gd name="connsiteX1" fmla="*/ 788 w 10000"/>
              <a:gd name="connsiteY1" fmla="*/ 7640 h 10000"/>
              <a:gd name="connsiteX2" fmla="*/ 1641 w 10000"/>
              <a:gd name="connsiteY2" fmla="*/ 5476 h 10000"/>
              <a:gd name="connsiteX3" fmla="*/ 2804 w 10000"/>
              <a:gd name="connsiteY3" fmla="*/ 3042 h 10000"/>
              <a:gd name="connsiteX4" fmla="*/ 3910 w 10000"/>
              <a:gd name="connsiteY4" fmla="*/ 1424 h 10000"/>
              <a:gd name="connsiteX5" fmla="*/ 4797 w 10000"/>
              <a:gd name="connsiteY5" fmla="*/ 572 h 10000"/>
              <a:gd name="connsiteX6" fmla="*/ 5722 w 10000"/>
              <a:gd name="connsiteY6" fmla="*/ 0 h 10000"/>
              <a:gd name="connsiteX7" fmla="*/ 6659 w 10000"/>
              <a:gd name="connsiteY7" fmla="*/ 82 h 10000"/>
              <a:gd name="connsiteX8" fmla="*/ 10000 w 10000"/>
              <a:gd name="connsiteY8" fmla="*/ 0 h 10000"/>
              <a:gd name="connsiteX0" fmla="*/ 0 w 10000"/>
              <a:gd name="connsiteY0" fmla="*/ 10000 h 10000"/>
              <a:gd name="connsiteX1" fmla="*/ 788 w 10000"/>
              <a:gd name="connsiteY1" fmla="*/ 7640 h 10000"/>
              <a:gd name="connsiteX2" fmla="*/ 1641 w 10000"/>
              <a:gd name="connsiteY2" fmla="*/ 5476 h 10000"/>
              <a:gd name="connsiteX3" fmla="*/ 2804 w 10000"/>
              <a:gd name="connsiteY3" fmla="*/ 3042 h 10000"/>
              <a:gd name="connsiteX4" fmla="*/ 3910 w 10000"/>
              <a:gd name="connsiteY4" fmla="*/ 1424 h 10000"/>
              <a:gd name="connsiteX5" fmla="*/ 4797 w 10000"/>
              <a:gd name="connsiteY5" fmla="*/ 572 h 10000"/>
              <a:gd name="connsiteX6" fmla="*/ 5722 w 10000"/>
              <a:gd name="connsiteY6" fmla="*/ 0 h 10000"/>
              <a:gd name="connsiteX7" fmla="*/ 6623 w 10000"/>
              <a:gd name="connsiteY7" fmla="*/ 82 h 10000"/>
              <a:gd name="connsiteX8" fmla="*/ 10000 w 10000"/>
              <a:gd name="connsiteY8" fmla="*/ 0 h 10000"/>
              <a:gd name="connsiteX0" fmla="*/ 0 w 10000"/>
              <a:gd name="connsiteY0" fmla="*/ 10000 h 10000"/>
              <a:gd name="connsiteX1" fmla="*/ 788 w 10000"/>
              <a:gd name="connsiteY1" fmla="*/ 7640 h 10000"/>
              <a:gd name="connsiteX2" fmla="*/ 1641 w 10000"/>
              <a:gd name="connsiteY2" fmla="*/ 5476 h 10000"/>
              <a:gd name="connsiteX3" fmla="*/ 2804 w 10000"/>
              <a:gd name="connsiteY3" fmla="*/ 3042 h 10000"/>
              <a:gd name="connsiteX4" fmla="*/ 3910 w 10000"/>
              <a:gd name="connsiteY4" fmla="*/ 1424 h 10000"/>
              <a:gd name="connsiteX5" fmla="*/ 4797 w 10000"/>
              <a:gd name="connsiteY5" fmla="*/ 572 h 10000"/>
              <a:gd name="connsiteX6" fmla="*/ 5722 w 10000"/>
              <a:gd name="connsiteY6" fmla="*/ 0 h 10000"/>
              <a:gd name="connsiteX7" fmla="*/ 6659 w 10000"/>
              <a:gd name="connsiteY7" fmla="*/ 19 h 10000"/>
              <a:gd name="connsiteX8" fmla="*/ 10000 w 10000"/>
              <a:gd name="connsiteY8" fmla="*/ 0 h 10000"/>
              <a:gd name="connsiteX0" fmla="*/ 0 w 10000"/>
              <a:gd name="connsiteY0" fmla="*/ 10000 h 10000"/>
              <a:gd name="connsiteX1" fmla="*/ 896 w 10000"/>
              <a:gd name="connsiteY1" fmla="*/ 7323 h 10000"/>
              <a:gd name="connsiteX2" fmla="*/ 1641 w 10000"/>
              <a:gd name="connsiteY2" fmla="*/ 5476 h 10000"/>
              <a:gd name="connsiteX3" fmla="*/ 2804 w 10000"/>
              <a:gd name="connsiteY3" fmla="*/ 3042 h 10000"/>
              <a:gd name="connsiteX4" fmla="*/ 3910 w 10000"/>
              <a:gd name="connsiteY4" fmla="*/ 1424 h 10000"/>
              <a:gd name="connsiteX5" fmla="*/ 4797 w 10000"/>
              <a:gd name="connsiteY5" fmla="*/ 572 h 10000"/>
              <a:gd name="connsiteX6" fmla="*/ 5722 w 10000"/>
              <a:gd name="connsiteY6" fmla="*/ 0 h 10000"/>
              <a:gd name="connsiteX7" fmla="*/ 6659 w 10000"/>
              <a:gd name="connsiteY7" fmla="*/ 19 h 10000"/>
              <a:gd name="connsiteX8" fmla="*/ 10000 w 10000"/>
              <a:gd name="connsiteY8" fmla="*/ 0 h 10000"/>
              <a:gd name="connsiteX0" fmla="*/ 0 w 10000"/>
              <a:gd name="connsiteY0" fmla="*/ 10000 h 10000"/>
              <a:gd name="connsiteX1" fmla="*/ 896 w 10000"/>
              <a:gd name="connsiteY1" fmla="*/ 7323 h 10000"/>
              <a:gd name="connsiteX2" fmla="*/ 1929 w 10000"/>
              <a:gd name="connsiteY2" fmla="*/ 4969 h 10000"/>
              <a:gd name="connsiteX3" fmla="*/ 2804 w 10000"/>
              <a:gd name="connsiteY3" fmla="*/ 3042 h 10000"/>
              <a:gd name="connsiteX4" fmla="*/ 3910 w 10000"/>
              <a:gd name="connsiteY4" fmla="*/ 1424 h 10000"/>
              <a:gd name="connsiteX5" fmla="*/ 4797 w 10000"/>
              <a:gd name="connsiteY5" fmla="*/ 572 h 10000"/>
              <a:gd name="connsiteX6" fmla="*/ 5722 w 10000"/>
              <a:gd name="connsiteY6" fmla="*/ 0 h 10000"/>
              <a:gd name="connsiteX7" fmla="*/ 6659 w 10000"/>
              <a:gd name="connsiteY7" fmla="*/ 19 h 10000"/>
              <a:gd name="connsiteX8" fmla="*/ 10000 w 10000"/>
              <a:gd name="connsiteY8" fmla="*/ 0 h 10000"/>
              <a:gd name="connsiteX0" fmla="*/ 0 w 10000"/>
              <a:gd name="connsiteY0" fmla="*/ 10000 h 10000"/>
              <a:gd name="connsiteX1" fmla="*/ 896 w 10000"/>
              <a:gd name="connsiteY1" fmla="*/ 7323 h 10000"/>
              <a:gd name="connsiteX2" fmla="*/ 1845 w 10000"/>
              <a:gd name="connsiteY2" fmla="*/ 5159 h 10000"/>
              <a:gd name="connsiteX3" fmla="*/ 2804 w 10000"/>
              <a:gd name="connsiteY3" fmla="*/ 3042 h 10000"/>
              <a:gd name="connsiteX4" fmla="*/ 3910 w 10000"/>
              <a:gd name="connsiteY4" fmla="*/ 1424 h 10000"/>
              <a:gd name="connsiteX5" fmla="*/ 4797 w 10000"/>
              <a:gd name="connsiteY5" fmla="*/ 572 h 10000"/>
              <a:gd name="connsiteX6" fmla="*/ 5722 w 10000"/>
              <a:gd name="connsiteY6" fmla="*/ 0 h 10000"/>
              <a:gd name="connsiteX7" fmla="*/ 6659 w 10000"/>
              <a:gd name="connsiteY7" fmla="*/ 19 h 10000"/>
              <a:gd name="connsiteX8" fmla="*/ 10000 w 10000"/>
              <a:gd name="connsiteY8" fmla="*/ 0 h 10000"/>
              <a:gd name="connsiteX0" fmla="*/ 0 w 10000"/>
              <a:gd name="connsiteY0" fmla="*/ 10000 h 10000"/>
              <a:gd name="connsiteX1" fmla="*/ 896 w 10000"/>
              <a:gd name="connsiteY1" fmla="*/ 7323 h 10000"/>
              <a:gd name="connsiteX2" fmla="*/ 1809 w 10000"/>
              <a:gd name="connsiteY2" fmla="*/ 5096 h 10000"/>
              <a:gd name="connsiteX3" fmla="*/ 2804 w 10000"/>
              <a:gd name="connsiteY3" fmla="*/ 3042 h 10000"/>
              <a:gd name="connsiteX4" fmla="*/ 3910 w 10000"/>
              <a:gd name="connsiteY4" fmla="*/ 1424 h 10000"/>
              <a:gd name="connsiteX5" fmla="*/ 4797 w 10000"/>
              <a:gd name="connsiteY5" fmla="*/ 572 h 10000"/>
              <a:gd name="connsiteX6" fmla="*/ 5722 w 10000"/>
              <a:gd name="connsiteY6" fmla="*/ 0 h 10000"/>
              <a:gd name="connsiteX7" fmla="*/ 6659 w 10000"/>
              <a:gd name="connsiteY7" fmla="*/ 19 h 10000"/>
              <a:gd name="connsiteX8" fmla="*/ 10000 w 10000"/>
              <a:gd name="connsiteY8" fmla="*/ 0 h 10000"/>
              <a:gd name="connsiteX0" fmla="*/ 0 w 10000"/>
              <a:gd name="connsiteY0" fmla="*/ 10000 h 10000"/>
              <a:gd name="connsiteX1" fmla="*/ 896 w 10000"/>
              <a:gd name="connsiteY1" fmla="*/ 7323 h 10000"/>
              <a:gd name="connsiteX2" fmla="*/ 1857 w 10000"/>
              <a:gd name="connsiteY2" fmla="*/ 5159 h 10000"/>
              <a:gd name="connsiteX3" fmla="*/ 2804 w 10000"/>
              <a:gd name="connsiteY3" fmla="*/ 3042 h 10000"/>
              <a:gd name="connsiteX4" fmla="*/ 3910 w 10000"/>
              <a:gd name="connsiteY4" fmla="*/ 1424 h 10000"/>
              <a:gd name="connsiteX5" fmla="*/ 4797 w 10000"/>
              <a:gd name="connsiteY5" fmla="*/ 572 h 10000"/>
              <a:gd name="connsiteX6" fmla="*/ 5722 w 10000"/>
              <a:gd name="connsiteY6" fmla="*/ 0 h 10000"/>
              <a:gd name="connsiteX7" fmla="*/ 6659 w 10000"/>
              <a:gd name="connsiteY7" fmla="*/ 19 h 10000"/>
              <a:gd name="connsiteX8" fmla="*/ 10000 w 10000"/>
              <a:gd name="connsiteY8" fmla="*/ 0 h 10000"/>
              <a:gd name="connsiteX0" fmla="*/ 0 w 10000"/>
              <a:gd name="connsiteY0" fmla="*/ 10000 h 10000"/>
              <a:gd name="connsiteX1" fmla="*/ 896 w 10000"/>
              <a:gd name="connsiteY1" fmla="*/ 7323 h 10000"/>
              <a:gd name="connsiteX2" fmla="*/ 1761 w 10000"/>
              <a:gd name="connsiteY2" fmla="*/ 5349 h 10000"/>
              <a:gd name="connsiteX3" fmla="*/ 2804 w 10000"/>
              <a:gd name="connsiteY3" fmla="*/ 3042 h 10000"/>
              <a:gd name="connsiteX4" fmla="*/ 3910 w 10000"/>
              <a:gd name="connsiteY4" fmla="*/ 1424 h 10000"/>
              <a:gd name="connsiteX5" fmla="*/ 4797 w 10000"/>
              <a:gd name="connsiteY5" fmla="*/ 572 h 10000"/>
              <a:gd name="connsiteX6" fmla="*/ 5722 w 10000"/>
              <a:gd name="connsiteY6" fmla="*/ 0 h 10000"/>
              <a:gd name="connsiteX7" fmla="*/ 6659 w 10000"/>
              <a:gd name="connsiteY7" fmla="*/ 19 h 10000"/>
              <a:gd name="connsiteX8" fmla="*/ 10000 w 10000"/>
              <a:gd name="connsiteY8" fmla="*/ 0 h 10000"/>
              <a:gd name="connsiteX0" fmla="*/ 0 w 10000"/>
              <a:gd name="connsiteY0" fmla="*/ 10000 h 10000"/>
              <a:gd name="connsiteX1" fmla="*/ 896 w 10000"/>
              <a:gd name="connsiteY1" fmla="*/ 7323 h 10000"/>
              <a:gd name="connsiteX2" fmla="*/ 1797 w 10000"/>
              <a:gd name="connsiteY2" fmla="*/ 5159 h 10000"/>
              <a:gd name="connsiteX3" fmla="*/ 2804 w 10000"/>
              <a:gd name="connsiteY3" fmla="*/ 3042 h 10000"/>
              <a:gd name="connsiteX4" fmla="*/ 3910 w 10000"/>
              <a:gd name="connsiteY4" fmla="*/ 1424 h 10000"/>
              <a:gd name="connsiteX5" fmla="*/ 4797 w 10000"/>
              <a:gd name="connsiteY5" fmla="*/ 572 h 10000"/>
              <a:gd name="connsiteX6" fmla="*/ 5722 w 10000"/>
              <a:gd name="connsiteY6" fmla="*/ 0 h 10000"/>
              <a:gd name="connsiteX7" fmla="*/ 6659 w 10000"/>
              <a:gd name="connsiteY7" fmla="*/ 19 h 10000"/>
              <a:gd name="connsiteX8" fmla="*/ 10000 w 10000"/>
              <a:gd name="connsiteY8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193" y="9138"/>
                  <a:pt x="597" y="8130"/>
                  <a:pt x="896" y="7323"/>
                </a:cubicBezTo>
                <a:cubicBezTo>
                  <a:pt x="1195" y="6516"/>
                  <a:pt x="1479" y="5872"/>
                  <a:pt x="1797" y="5159"/>
                </a:cubicBezTo>
                <a:cubicBezTo>
                  <a:pt x="2115" y="4446"/>
                  <a:pt x="2452" y="3664"/>
                  <a:pt x="2804" y="3042"/>
                </a:cubicBezTo>
                <a:cubicBezTo>
                  <a:pt x="3156" y="2420"/>
                  <a:pt x="3578" y="1835"/>
                  <a:pt x="3910" y="1424"/>
                </a:cubicBezTo>
                <a:cubicBezTo>
                  <a:pt x="4242" y="1012"/>
                  <a:pt x="4550" y="751"/>
                  <a:pt x="4797" y="572"/>
                </a:cubicBezTo>
                <a:lnTo>
                  <a:pt x="5722" y="0"/>
                </a:lnTo>
                <a:lnTo>
                  <a:pt x="6659" y="19"/>
                </a:lnTo>
                <a:lnTo>
                  <a:pt x="10000" y="0"/>
                </a:lnTo>
              </a:path>
            </a:pathLst>
          </a:custGeom>
          <a:noFill/>
          <a:ln w="19050" cmpd="sng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5033319" y="1733324"/>
            <a:ext cx="3912245" cy="2885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/>
          <a:p>
            <a:pPr marL="441325" indent="-441325" algn="just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围压</a:t>
            </a:r>
            <a:r>
              <a:rPr lang="zh-CN" altLang="en-US" sz="22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较小时，试样处于非</a:t>
            </a:r>
            <a:r>
              <a:rPr lang="zh-CN" altLang="en-US" sz="22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饱和状态</a:t>
            </a:r>
            <a:r>
              <a:rPr lang="zh-CN" altLang="en-US" sz="22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。加载时土</a:t>
            </a:r>
            <a:r>
              <a:rPr lang="zh-CN" altLang="en-US" sz="22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的</a:t>
            </a:r>
            <a:r>
              <a:rPr lang="zh-CN" altLang="en-US" sz="22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密度提高</a:t>
            </a:r>
            <a:r>
              <a:rPr lang="zh-CN" altLang="en-US" sz="22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，</a:t>
            </a:r>
            <a:r>
              <a:rPr lang="zh-CN" altLang="en-US" sz="22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抗剪强度增大，破坏</a:t>
            </a:r>
            <a:r>
              <a:rPr lang="zh-CN" altLang="en-US" sz="22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包</a:t>
            </a:r>
            <a:r>
              <a:rPr lang="zh-CN" altLang="en-US" sz="22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线为</a:t>
            </a:r>
            <a:r>
              <a:rPr lang="zh-CN" altLang="en-US" sz="22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曲线</a:t>
            </a:r>
          </a:p>
          <a:p>
            <a:pPr marL="441325" indent="-441325" algn="just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</a:rPr>
              <a:t>围压较大时，孔隙气被压缩或溶解于水，试样饱和，强度包线趋于水平线</a:t>
            </a:r>
          </a:p>
        </p:txBody>
      </p:sp>
      <p:grpSp>
        <p:nvGrpSpPr>
          <p:cNvPr id="21" name="Group 18"/>
          <p:cNvGrpSpPr>
            <a:grpSpLocks/>
          </p:cNvGrpSpPr>
          <p:nvPr/>
        </p:nvGrpSpPr>
        <p:grpSpPr bwMode="auto">
          <a:xfrm>
            <a:off x="460375" y="2265363"/>
            <a:ext cx="2144713" cy="588962"/>
            <a:chOff x="290" y="1427"/>
            <a:chExt cx="1351" cy="371"/>
          </a:xfrm>
        </p:grpSpPr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485" y="1427"/>
              <a:ext cx="11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>
                  <a:ea typeface="幼圆" pitchFamily="49" charset="-122"/>
                </a:rPr>
                <a:t>不饱和区</a:t>
              </a: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V="1">
              <a:off x="1641" y="1625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290" y="1708"/>
              <a:ext cx="135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22"/>
          <p:cNvGrpSpPr>
            <a:grpSpLocks/>
          </p:cNvGrpSpPr>
          <p:nvPr/>
        </p:nvGrpSpPr>
        <p:grpSpPr bwMode="auto">
          <a:xfrm>
            <a:off x="2616200" y="2278063"/>
            <a:ext cx="1811338" cy="427037"/>
            <a:chOff x="1648" y="1435"/>
            <a:chExt cx="1141" cy="269"/>
          </a:xfrm>
        </p:grpSpPr>
        <p:sp>
          <p:nvSpPr>
            <p:cNvPr id="26" name="Text Box 23"/>
            <p:cNvSpPr txBox="1">
              <a:spLocks noChangeArrowheads="1"/>
            </p:cNvSpPr>
            <p:nvPr/>
          </p:nvSpPr>
          <p:spPr bwMode="auto">
            <a:xfrm>
              <a:off x="1828" y="1435"/>
              <a:ext cx="9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>
                  <a:ea typeface="幼圆" pitchFamily="49" charset="-122"/>
                </a:rPr>
                <a:t>饱和区</a:t>
              </a:r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1648" y="1704"/>
              <a:ext cx="10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Rectangle 69"/>
          <p:cNvSpPr>
            <a:spLocks noChangeArrowheads="1"/>
          </p:cNvSpPr>
          <p:nvPr/>
        </p:nvSpPr>
        <p:spPr bwMode="auto">
          <a:xfrm>
            <a:off x="414338" y="816070"/>
            <a:ext cx="46148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不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饱和试样的不排水强度</a:t>
            </a:r>
          </a:p>
        </p:txBody>
      </p:sp>
      <p:sp>
        <p:nvSpPr>
          <p:cNvPr id="29" name="Rectangle 66"/>
          <p:cNvSpPr>
            <a:spLocks noChangeArrowheads="1"/>
          </p:cNvSpPr>
          <p:nvPr/>
        </p:nvSpPr>
        <p:spPr bwMode="auto">
          <a:xfrm>
            <a:off x="2900363" y="5806814"/>
            <a:ext cx="4495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不固结不排水试验</a:t>
            </a:r>
          </a:p>
        </p:txBody>
      </p:sp>
    </p:spTree>
    <p:extLst>
      <p:ext uri="{BB962C8B-B14F-4D97-AF65-F5344CB8AC3E}">
        <p14:creationId xmlns:p14="http://schemas.microsoft.com/office/powerpoint/2010/main" val="114500536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 decel="100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3789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三轴试验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指标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050633" y="1731951"/>
            <a:ext cx="6918715" cy="2640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715963" indent="-715963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0850" indent="-450850"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饱和黏土总应力强度包线为水平线，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 ,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endParaRPr lang="en-US" altLang="zh-CN" sz="24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450850" indent="-450850"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饱和黏土的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CU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UU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强度指标之间有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关联</a:t>
            </a:r>
          </a:p>
          <a:p>
            <a:pPr marL="450850" indent="-450850"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无侧限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压缩试验是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UU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</a:t>
            </a:r>
          </a:p>
          <a:p>
            <a:pPr marL="450850" indent="-450850" eaLnBrk="1" hangingPunct="1">
              <a:lnSpc>
                <a:spcPct val="125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不饱和试样的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UU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强度，开始随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增加而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增大，之后趋于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稳定</a:t>
            </a:r>
          </a:p>
        </p:txBody>
      </p:sp>
      <p:sp>
        <p:nvSpPr>
          <p:cNvPr id="6" name="Rectangle 52"/>
          <p:cNvSpPr>
            <a:spLocks noChangeArrowheads="1"/>
          </p:cNvSpPr>
          <p:nvPr/>
        </p:nvSpPr>
        <p:spPr bwMode="auto">
          <a:xfrm>
            <a:off x="674600" y="778247"/>
            <a:ext cx="571531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不固结不排水三轴试验</a:t>
            </a: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9" name="Rectangle 66"/>
          <p:cNvSpPr>
            <a:spLocks noChangeArrowheads="1"/>
          </p:cNvSpPr>
          <p:nvPr/>
        </p:nvSpPr>
        <p:spPr bwMode="auto">
          <a:xfrm>
            <a:off x="2900363" y="5806814"/>
            <a:ext cx="4495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不固结不排水试验</a:t>
            </a:r>
          </a:p>
        </p:txBody>
      </p:sp>
    </p:spTree>
    <p:extLst>
      <p:ext uri="{BB962C8B-B14F-4D97-AF65-F5344CB8AC3E}">
        <p14:creationId xmlns:p14="http://schemas.microsoft.com/office/powerpoint/2010/main" val="354203926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7951303" y="6365228"/>
            <a:ext cx="728939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419100" y="733103"/>
            <a:ext cx="6247513" cy="44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en-US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不同类型</a:t>
            </a:r>
            <a:r>
              <a:rPr lang="zh-CN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</a:t>
            </a:r>
            <a:r>
              <a:rPr lang="zh-CN" altLang="zh-CN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剪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试验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的强度指标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-9526" y="0"/>
            <a:ext cx="558098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直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剪试验强度指标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207676"/>
              </p:ext>
            </p:extLst>
          </p:nvPr>
        </p:nvGraphicFramePr>
        <p:xfrm>
          <a:off x="832884" y="1552350"/>
          <a:ext cx="7811385" cy="3806456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080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5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17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试验类型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793" marB="46793" anchor="ctr" anchorCtr="1" horzOverflow="overflow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试验方法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000" marR="90000" marT="46793" marB="46793" anchor="ctr" anchorCtr="1" horzOverflow="overflow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强度指标</a:t>
                      </a:r>
                    </a:p>
                  </a:txBody>
                  <a:tcPr marL="90000" marR="90000" marT="46793" marB="46793" anchor="ctr" anchorCtr="1" horzOverflow="overflow"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b="1" dirty="0" smtClean="0">
                        <a:solidFill>
                          <a:srgbClr val="A5002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幼圆" pitchFamily="49" charset="-122"/>
                      </a:endParaRPr>
                    </a:p>
                  </a:txBody>
                  <a:tcPr marL="90000" marR="90000" marT="46793" marB="46793" anchor="ctr" horzOverflow="overflow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Times New Roman" pitchFamily="18" charset="0"/>
                        <a:ea typeface="幼圆" pitchFamily="49" charset="-122"/>
                      </a:endParaRPr>
                    </a:p>
                  </a:txBody>
                  <a:tcPr marL="90000" marR="90000" marT="46793" marB="46793" anchor="ctr" anchorCtr="1" horzOverflow="overflow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b="1" dirty="0" smtClean="0">
                        <a:solidFill>
                          <a:srgbClr val="A5002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幼圆" pitchFamily="49" charset="-122"/>
                      </a:endParaRPr>
                    </a:p>
                  </a:txBody>
                  <a:tcPr marL="90000" marR="90000" marT="46793" marB="46793" anchor="ctr" horzOverflow="overflow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Times New Roman" pitchFamily="18" charset="0"/>
                        <a:ea typeface="幼圆" pitchFamily="49" charset="-122"/>
                      </a:endParaRPr>
                    </a:p>
                  </a:txBody>
                  <a:tcPr marL="90000" marR="90000" marT="46793" marB="46793" anchor="ctr" anchorCtr="1" horzOverflow="overflow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b="1" dirty="0" smtClean="0">
                        <a:solidFill>
                          <a:srgbClr val="A5002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幼圆" pitchFamily="49" charset="-122"/>
                      </a:endParaRPr>
                    </a:p>
                  </a:txBody>
                  <a:tcPr marL="90000" marR="90000" marT="46793" marB="46793" anchor="ctr" horzOverflow="overflow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Times New Roman" pitchFamily="18" charset="0"/>
                        <a:ea typeface="幼圆" pitchFamily="49" charset="-122"/>
                      </a:endParaRPr>
                    </a:p>
                  </a:txBody>
                  <a:tcPr marL="90000" marR="90000" marT="46793" marB="46793" anchor="ctr" anchorCtr="1" horzOverflow="overflow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6718817" y="3719637"/>
            <a:ext cx="16171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50021"/>
              </a:buClr>
            </a:pPr>
            <a:r>
              <a:rPr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cq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baseline="-25000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cq</a:t>
            </a:r>
            <a:r>
              <a:rPr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6750748" y="2698973"/>
            <a:ext cx="134062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50021"/>
              </a:buClr>
            </a:pPr>
            <a:r>
              <a:rPr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765959" y="4616255"/>
            <a:ext cx="154917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50021"/>
              </a:buClr>
            </a:pPr>
            <a:r>
              <a:rPr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32884" y="2668195"/>
            <a:ext cx="2044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固结慢剪</a:t>
            </a:r>
          </a:p>
        </p:txBody>
      </p:sp>
      <p:sp>
        <p:nvSpPr>
          <p:cNvPr id="3" name="矩形 2"/>
          <p:cNvSpPr/>
          <p:nvPr/>
        </p:nvSpPr>
        <p:spPr>
          <a:xfrm>
            <a:off x="832883" y="3688859"/>
            <a:ext cx="2044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固结快剪</a:t>
            </a:r>
          </a:p>
        </p:txBody>
      </p:sp>
      <p:sp>
        <p:nvSpPr>
          <p:cNvPr id="5" name="矩形 4"/>
          <p:cNvSpPr/>
          <p:nvPr/>
        </p:nvSpPr>
        <p:spPr>
          <a:xfrm>
            <a:off x="1142262" y="4585477"/>
            <a:ext cx="14253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lang="zh-CN" altLang="en-US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快剪</a:t>
            </a:r>
          </a:p>
        </p:txBody>
      </p:sp>
      <p:sp>
        <p:nvSpPr>
          <p:cNvPr id="6" name="矩形 5"/>
          <p:cNvSpPr/>
          <p:nvPr/>
        </p:nvSpPr>
        <p:spPr>
          <a:xfrm>
            <a:off x="2877032" y="2503222"/>
            <a:ext cx="4056244" cy="83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lv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 施加垂直应力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充分固结</a:t>
            </a:r>
          </a:p>
          <a:p>
            <a:pPr marL="182563" lv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 慢剪，保证超静孔压消散 </a:t>
            </a:r>
          </a:p>
        </p:txBody>
      </p:sp>
      <p:sp>
        <p:nvSpPr>
          <p:cNvPr id="7" name="矩形 6"/>
          <p:cNvSpPr/>
          <p:nvPr/>
        </p:nvSpPr>
        <p:spPr>
          <a:xfrm>
            <a:off x="2877032" y="3505347"/>
            <a:ext cx="3647816" cy="83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lv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 施加垂直应力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充分固结</a:t>
            </a:r>
          </a:p>
          <a:p>
            <a:pPr marL="182563" lv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 快剪，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3-5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分钟内剪切坏</a:t>
            </a:r>
          </a:p>
        </p:txBody>
      </p:sp>
      <p:sp>
        <p:nvSpPr>
          <p:cNvPr id="9" name="矩形 8"/>
          <p:cNvSpPr/>
          <p:nvPr/>
        </p:nvSpPr>
        <p:spPr>
          <a:xfrm>
            <a:off x="2888164" y="4427134"/>
            <a:ext cx="3647816" cy="83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lv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 施加垂直应力后不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固结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</a:endParaRPr>
          </a:p>
          <a:p>
            <a:pPr marL="182563" lv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12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 快剪，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3-5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分钟内剪坏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2403521" y="5601641"/>
            <a:ext cx="45162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直剪试验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强度指标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177465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4" grpId="0"/>
      <p:bldP spid="2" grpId="0"/>
      <p:bldP spid="3" grpId="0"/>
      <p:bldP spid="5" grpId="0"/>
      <p:bldP spid="6" grpId="0"/>
      <p:bldP spid="7" grpId="0"/>
      <p:bldP spid="9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58098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直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剪试验强度指标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010281" y="1716860"/>
            <a:ext cx="6974773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三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种直剪试验分别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与固结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排水、固结不排水和不固结不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排水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三轴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试验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相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对应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57200" indent="-457200" eaLnBrk="1" hangingPunct="1"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直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剪试验无法严格控制试样的排水条件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，与三轴试验相应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类型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强度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指标有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不同程度的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差异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57200" indent="-457200" eaLnBrk="1" hangingPunct="1"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直剪试验排水状况还取决于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渗透性等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因素。因此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，所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测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得指标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的差别与土的性质关系很大</a:t>
            </a:r>
          </a:p>
        </p:txBody>
      </p:sp>
      <p:sp>
        <p:nvSpPr>
          <p:cNvPr id="9" name="Text Box 38"/>
          <p:cNvSpPr txBox="1">
            <a:spLocks noChangeArrowheads="1"/>
          </p:cNvSpPr>
          <p:nvPr/>
        </p:nvSpPr>
        <p:spPr bwMode="auto">
          <a:xfrm>
            <a:off x="419100" y="724865"/>
            <a:ext cx="6247513" cy="44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en-US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和三轴强度指标的关系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403521" y="5601641"/>
            <a:ext cx="45162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直剪试验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强度指标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48681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58098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直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剪试验强度指标</a:t>
            </a:r>
          </a:p>
        </p:txBody>
      </p:sp>
      <p:sp>
        <p:nvSpPr>
          <p:cNvPr id="9" name="Text Box 38"/>
          <p:cNvSpPr txBox="1">
            <a:spLocks noChangeArrowheads="1"/>
          </p:cNvSpPr>
          <p:nvPr/>
        </p:nvSpPr>
        <p:spPr bwMode="auto">
          <a:xfrm>
            <a:off x="419100" y="708389"/>
            <a:ext cx="6247513" cy="44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en-US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和三轴强度指标的关系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984513" y="1396060"/>
            <a:ext cx="7602091" cy="3988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慢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剪强度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指标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一般略高于三轴试验的有效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强度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指标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′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′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常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乘以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0.9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的系数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57200" indent="-457200" eaLnBrk="1" hangingPunct="1">
              <a:lnSpc>
                <a:spcPct val="110000"/>
              </a:lnSpc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对于砂土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，固结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快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剪和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快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剪强度指标也都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接近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于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有效强度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指标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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)</a:t>
            </a:r>
          </a:p>
          <a:p>
            <a:pPr marL="457200" indent="-457200" eaLnBrk="1" hangingPunct="1">
              <a:lnSpc>
                <a:spcPct val="110000"/>
              </a:lnSpc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渗透系数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较小（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&lt;10</a:t>
            </a:r>
            <a:r>
              <a:rPr lang="en-US" altLang="zh-CN" sz="2400" b="1" baseline="30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-7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cm/s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）的黏性土，固结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快剪和快剪强度指标分别与三轴固结不排水和不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排水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强度指标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基本相同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57200" indent="-457200" eaLnBrk="1" hangingPunct="1">
              <a:lnSpc>
                <a:spcPct val="110000"/>
              </a:lnSpc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对于低黏性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土，固结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快剪和快剪强度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指标与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三轴固结不排水和不排水强度指标会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有一定的差别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403521" y="5601641"/>
            <a:ext cx="45162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直剪试验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强度指标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340335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5" y="0"/>
            <a:ext cx="48389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残余强度指标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17016" y="779463"/>
            <a:ext cx="4137368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10000"/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峰值和残余强度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指标</a:t>
            </a:r>
          </a:p>
        </p:txBody>
      </p:sp>
      <p:sp>
        <p:nvSpPr>
          <p:cNvPr id="12" name="Freeform 9"/>
          <p:cNvSpPr>
            <a:spLocks/>
          </p:cNvSpPr>
          <p:nvPr/>
        </p:nvSpPr>
        <p:spPr bwMode="auto">
          <a:xfrm>
            <a:off x="5883275" y="995742"/>
            <a:ext cx="2925763" cy="2270125"/>
          </a:xfrm>
          <a:custGeom>
            <a:avLst/>
            <a:gdLst>
              <a:gd name="T0" fmla="*/ 0 w 1977"/>
              <a:gd name="T1" fmla="*/ 0 h 1536"/>
              <a:gd name="T2" fmla="*/ 0 w 1977"/>
              <a:gd name="T3" fmla="*/ 1536 h 1536"/>
              <a:gd name="T4" fmla="*/ 1977 w 1977"/>
              <a:gd name="T5" fmla="*/ 1536 h 1536"/>
              <a:gd name="T6" fmla="*/ 0 60000 65536"/>
              <a:gd name="T7" fmla="*/ 0 60000 65536"/>
              <a:gd name="T8" fmla="*/ 0 60000 65536"/>
              <a:gd name="T9" fmla="*/ 0 w 1977"/>
              <a:gd name="T10" fmla="*/ 0 h 1536"/>
              <a:gd name="T11" fmla="*/ 1977 w 1977"/>
              <a:gd name="T12" fmla="*/ 1536 h 1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7" h="1536">
                <a:moveTo>
                  <a:pt x="0" y="0"/>
                </a:moveTo>
                <a:lnTo>
                  <a:pt x="0" y="1536"/>
                </a:lnTo>
                <a:lnTo>
                  <a:pt x="1977" y="153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"/>
          <p:cNvSpPr>
            <a:spLocks/>
          </p:cNvSpPr>
          <p:nvPr/>
        </p:nvSpPr>
        <p:spPr bwMode="auto">
          <a:xfrm>
            <a:off x="5878513" y="1789492"/>
            <a:ext cx="2616200" cy="1466850"/>
          </a:xfrm>
          <a:custGeom>
            <a:avLst/>
            <a:gdLst>
              <a:gd name="T0" fmla="*/ 0 w 1648"/>
              <a:gd name="T1" fmla="*/ 924 h 924"/>
              <a:gd name="T2" fmla="*/ 73 w 1648"/>
              <a:gd name="T3" fmla="*/ 639 h 924"/>
              <a:gd name="T4" fmla="*/ 166 w 1648"/>
              <a:gd name="T5" fmla="*/ 280 h 924"/>
              <a:gd name="T6" fmla="*/ 233 w 1648"/>
              <a:gd name="T7" fmla="*/ 82 h 924"/>
              <a:gd name="T8" fmla="*/ 309 w 1648"/>
              <a:gd name="T9" fmla="*/ 6 h 924"/>
              <a:gd name="T10" fmla="*/ 454 w 1648"/>
              <a:gd name="T11" fmla="*/ 120 h 924"/>
              <a:gd name="T12" fmla="*/ 720 w 1648"/>
              <a:gd name="T13" fmla="*/ 258 h 924"/>
              <a:gd name="T14" fmla="*/ 1076 w 1648"/>
              <a:gd name="T15" fmla="*/ 344 h 924"/>
              <a:gd name="T16" fmla="*/ 1379 w 1648"/>
              <a:gd name="T17" fmla="*/ 378 h 924"/>
              <a:gd name="T18" fmla="*/ 1648 w 1648"/>
              <a:gd name="T19" fmla="*/ 392 h 9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648"/>
              <a:gd name="T31" fmla="*/ 0 h 924"/>
              <a:gd name="T32" fmla="*/ 1648 w 1648"/>
              <a:gd name="T33" fmla="*/ 924 h 92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648" h="924">
                <a:moveTo>
                  <a:pt x="0" y="924"/>
                </a:moveTo>
                <a:cubicBezTo>
                  <a:pt x="12" y="877"/>
                  <a:pt x="45" y="746"/>
                  <a:pt x="73" y="639"/>
                </a:cubicBezTo>
                <a:cubicBezTo>
                  <a:pt x="101" y="532"/>
                  <a:pt x="139" y="373"/>
                  <a:pt x="166" y="280"/>
                </a:cubicBezTo>
                <a:cubicBezTo>
                  <a:pt x="193" y="187"/>
                  <a:pt x="209" y="128"/>
                  <a:pt x="233" y="82"/>
                </a:cubicBezTo>
                <a:cubicBezTo>
                  <a:pt x="257" y="36"/>
                  <a:pt x="272" y="0"/>
                  <a:pt x="309" y="6"/>
                </a:cubicBezTo>
                <a:cubicBezTo>
                  <a:pt x="346" y="12"/>
                  <a:pt x="386" y="78"/>
                  <a:pt x="454" y="120"/>
                </a:cubicBezTo>
                <a:cubicBezTo>
                  <a:pt x="522" y="162"/>
                  <a:pt x="616" y="221"/>
                  <a:pt x="720" y="258"/>
                </a:cubicBezTo>
                <a:cubicBezTo>
                  <a:pt x="824" y="295"/>
                  <a:pt x="966" y="324"/>
                  <a:pt x="1076" y="344"/>
                </a:cubicBezTo>
                <a:cubicBezTo>
                  <a:pt x="1186" y="364"/>
                  <a:pt x="1284" y="370"/>
                  <a:pt x="1379" y="378"/>
                </a:cubicBezTo>
                <a:cubicBezTo>
                  <a:pt x="1474" y="386"/>
                  <a:pt x="1592" y="389"/>
                  <a:pt x="1648" y="392"/>
                </a:cubicBezTo>
              </a:path>
            </a:pathLst>
          </a:custGeom>
          <a:noFill/>
          <a:ln w="19050" cmpd="sng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Freeform 11"/>
          <p:cNvSpPr>
            <a:spLocks/>
          </p:cNvSpPr>
          <p:nvPr/>
        </p:nvSpPr>
        <p:spPr bwMode="auto">
          <a:xfrm>
            <a:off x="5888038" y="2502279"/>
            <a:ext cx="2614613" cy="747713"/>
          </a:xfrm>
          <a:custGeom>
            <a:avLst/>
            <a:gdLst>
              <a:gd name="T0" fmla="*/ 0 w 1647"/>
              <a:gd name="T1" fmla="*/ 471 h 471"/>
              <a:gd name="T2" fmla="*/ 106 w 1647"/>
              <a:gd name="T3" fmla="*/ 283 h 471"/>
              <a:gd name="T4" fmla="*/ 227 w 1647"/>
              <a:gd name="T5" fmla="*/ 100 h 471"/>
              <a:gd name="T6" fmla="*/ 368 w 1647"/>
              <a:gd name="T7" fmla="*/ 4 h 471"/>
              <a:gd name="T8" fmla="*/ 634 w 1647"/>
              <a:gd name="T9" fmla="*/ 126 h 471"/>
              <a:gd name="T10" fmla="*/ 879 w 1647"/>
              <a:gd name="T11" fmla="*/ 193 h 471"/>
              <a:gd name="T12" fmla="*/ 1213 w 1647"/>
              <a:gd name="T13" fmla="*/ 228 h 471"/>
              <a:gd name="T14" fmla="*/ 1647 w 1647"/>
              <a:gd name="T15" fmla="*/ 241 h 4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47"/>
              <a:gd name="T25" fmla="*/ 0 h 471"/>
              <a:gd name="T26" fmla="*/ 1647 w 1647"/>
              <a:gd name="T27" fmla="*/ 471 h 47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47" h="471">
                <a:moveTo>
                  <a:pt x="0" y="471"/>
                </a:moveTo>
                <a:cubicBezTo>
                  <a:pt x="18" y="440"/>
                  <a:pt x="68" y="345"/>
                  <a:pt x="106" y="283"/>
                </a:cubicBezTo>
                <a:cubicBezTo>
                  <a:pt x="144" y="221"/>
                  <a:pt x="183" y="146"/>
                  <a:pt x="227" y="100"/>
                </a:cubicBezTo>
                <a:cubicBezTo>
                  <a:pt x="271" y="54"/>
                  <a:pt x="300" y="0"/>
                  <a:pt x="368" y="4"/>
                </a:cubicBezTo>
                <a:cubicBezTo>
                  <a:pt x="436" y="8"/>
                  <a:pt x="549" y="95"/>
                  <a:pt x="634" y="126"/>
                </a:cubicBezTo>
                <a:cubicBezTo>
                  <a:pt x="719" y="157"/>
                  <a:pt x="783" y="176"/>
                  <a:pt x="879" y="193"/>
                </a:cubicBezTo>
                <a:cubicBezTo>
                  <a:pt x="975" y="210"/>
                  <a:pt x="1085" y="220"/>
                  <a:pt x="1213" y="228"/>
                </a:cubicBezTo>
                <a:cubicBezTo>
                  <a:pt x="1341" y="236"/>
                  <a:pt x="1557" y="238"/>
                  <a:pt x="1647" y="241"/>
                </a:cubicBezTo>
              </a:path>
            </a:pathLst>
          </a:custGeom>
          <a:noFill/>
          <a:ln w="19050" cmpd="sng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Freeform 12"/>
          <p:cNvSpPr>
            <a:spLocks/>
          </p:cNvSpPr>
          <p:nvPr/>
        </p:nvSpPr>
        <p:spPr bwMode="auto">
          <a:xfrm>
            <a:off x="5883275" y="1089404"/>
            <a:ext cx="2630488" cy="2171700"/>
          </a:xfrm>
          <a:custGeom>
            <a:avLst/>
            <a:gdLst>
              <a:gd name="T0" fmla="*/ 0 w 1657"/>
              <a:gd name="T1" fmla="*/ 1368 h 1368"/>
              <a:gd name="T2" fmla="*/ 51 w 1657"/>
              <a:gd name="T3" fmla="*/ 963 h 1368"/>
              <a:gd name="T4" fmla="*/ 83 w 1657"/>
              <a:gd name="T5" fmla="*/ 688 h 1368"/>
              <a:gd name="T6" fmla="*/ 134 w 1657"/>
              <a:gd name="T7" fmla="*/ 326 h 1368"/>
              <a:gd name="T8" fmla="*/ 185 w 1657"/>
              <a:gd name="T9" fmla="*/ 91 h 1368"/>
              <a:gd name="T10" fmla="*/ 253 w 1657"/>
              <a:gd name="T11" fmla="*/ 3 h 1368"/>
              <a:gd name="T12" fmla="*/ 368 w 1657"/>
              <a:gd name="T13" fmla="*/ 72 h 1368"/>
              <a:gd name="T14" fmla="*/ 496 w 1657"/>
              <a:gd name="T15" fmla="*/ 196 h 1368"/>
              <a:gd name="T16" fmla="*/ 670 w 1657"/>
              <a:gd name="T17" fmla="*/ 295 h 1368"/>
              <a:gd name="T18" fmla="*/ 886 w 1657"/>
              <a:gd name="T19" fmla="*/ 363 h 1368"/>
              <a:gd name="T20" fmla="*/ 1245 w 1657"/>
              <a:gd name="T21" fmla="*/ 414 h 1368"/>
              <a:gd name="T22" fmla="*/ 1657 w 1657"/>
              <a:gd name="T23" fmla="*/ 433 h 136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657"/>
              <a:gd name="T37" fmla="*/ 0 h 1368"/>
              <a:gd name="T38" fmla="*/ 1657 w 1657"/>
              <a:gd name="T39" fmla="*/ 1368 h 136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657" h="1368">
                <a:moveTo>
                  <a:pt x="0" y="1368"/>
                </a:moveTo>
                <a:cubicBezTo>
                  <a:pt x="8" y="1300"/>
                  <a:pt x="37" y="1076"/>
                  <a:pt x="51" y="963"/>
                </a:cubicBezTo>
                <a:cubicBezTo>
                  <a:pt x="65" y="850"/>
                  <a:pt x="69" y="794"/>
                  <a:pt x="83" y="688"/>
                </a:cubicBezTo>
                <a:cubicBezTo>
                  <a:pt x="97" y="582"/>
                  <a:pt x="117" y="425"/>
                  <a:pt x="134" y="326"/>
                </a:cubicBezTo>
                <a:cubicBezTo>
                  <a:pt x="151" y="226"/>
                  <a:pt x="165" y="145"/>
                  <a:pt x="185" y="91"/>
                </a:cubicBezTo>
                <a:cubicBezTo>
                  <a:pt x="205" y="37"/>
                  <a:pt x="223" y="6"/>
                  <a:pt x="253" y="3"/>
                </a:cubicBezTo>
                <a:cubicBezTo>
                  <a:pt x="283" y="0"/>
                  <a:pt x="328" y="41"/>
                  <a:pt x="368" y="72"/>
                </a:cubicBezTo>
                <a:cubicBezTo>
                  <a:pt x="408" y="104"/>
                  <a:pt x="446" y="159"/>
                  <a:pt x="496" y="196"/>
                </a:cubicBezTo>
                <a:cubicBezTo>
                  <a:pt x="546" y="233"/>
                  <a:pt x="605" y="267"/>
                  <a:pt x="670" y="295"/>
                </a:cubicBezTo>
                <a:cubicBezTo>
                  <a:pt x="735" y="323"/>
                  <a:pt x="790" y="343"/>
                  <a:pt x="886" y="363"/>
                </a:cubicBezTo>
                <a:cubicBezTo>
                  <a:pt x="982" y="383"/>
                  <a:pt x="1117" y="402"/>
                  <a:pt x="1245" y="414"/>
                </a:cubicBezTo>
                <a:cubicBezTo>
                  <a:pt x="1373" y="426"/>
                  <a:pt x="1571" y="429"/>
                  <a:pt x="1657" y="433"/>
                </a:cubicBezTo>
              </a:path>
            </a:pathLst>
          </a:custGeom>
          <a:noFill/>
          <a:ln w="19050" cmpd="sng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8024813" y="3237292"/>
            <a:ext cx="754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i="1" dirty="0" smtClean="0">
                <a:cs typeface="Times New Roman" panose="02020603050405020304" pitchFamily="18" charset="0"/>
                <a:sym typeface="Symbol" pitchFamily="18" charset="2"/>
              </a:rPr>
              <a:t> </a:t>
            </a:r>
            <a:r>
              <a:rPr kumimoji="1" lang="zh-CN" altLang="en-US" sz="2400" b="1" dirty="0" smtClean="0">
                <a:cs typeface="Times New Roman" panose="02020603050405020304" pitchFamily="18" charset="0"/>
                <a:sym typeface="Symbol" pitchFamily="18" charset="2"/>
              </a:rPr>
              <a:t></a:t>
            </a:r>
            <a:r>
              <a:rPr kumimoji="1" lang="zh-CN" altLang="en-US" sz="2400" b="1" i="1" dirty="0" smtClean="0">
                <a:cs typeface="Times New Roman" panose="02020603050405020304" pitchFamily="18" charset="0"/>
                <a:sym typeface="Symbol" pitchFamily="18" charset="2"/>
              </a:rPr>
              <a:t></a:t>
            </a:r>
            <a:r>
              <a:rPr kumimoji="1" lang="zh-CN" altLang="en-US" sz="2400" b="1" dirty="0" smtClean="0">
                <a:cs typeface="Times New Roman" panose="02020603050405020304" pitchFamily="18" charset="0"/>
                <a:sym typeface="Symbol" pitchFamily="18" charset="2"/>
              </a:rPr>
              <a:t></a:t>
            </a:r>
            <a:endParaRPr kumimoji="1" lang="zh-CN" altLang="en-US" sz="2400" b="1" dirty="0"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5248275" y="521079"/>
            <a:ext cx="1789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 smtClean="0">
                <a:cs typeface="Times New Roman" panose="02020603050405020304" pitchFamily="18" charset="0"/>
                <a:sym typeface="Symbol" pitchFamily="18" charset="2"/>
              </a:rPr>
              <a:t>q </a:t>
            </a:r>
            <a:r>
              <a:rPr kumimoji="1" lang="en-US" altLang="zh-CN" sz="2400" b="1" dirty="0" smtClean="0"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400" b="1" i="1" dirty="0" smtClean="0"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 smtClean="0">
                <a:cs typeface="Times New Roman" panose="02020603050405020304" pitchFamily="18" charset="0"/>
                <a:sym typeface="Symbol" pitchFamily="18" charset="2"/>
              </a:rPr>
              <a:t></a:t>
            </a:r>
            <a:r>
              <a:rPr kumimoji="1" lang="en-US" altLang="zh-CN" sz="2400" b="1" dirty="0"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400" b="1" i="1" dirty="0" smtClean="0"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 smtClean="0">
                <a:cs typeface="Times New Roman" panose="02020603050405020304" pitchFamily="18" charset="0"/>
                <a:sym typeface="Symbol" pitchFamily="18" charset="2"/>
              </a:rPr>
              <a:t>  </a:t>
            </a:r>
            <a:r>
              <a:rPr kumimoji="1" lang="en-US" altLang="zh-CN" sz="2400" b="1" dirty="0"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zh-CN" altLang="en-US" sz="2400" b="1" i="1" dirty="0" smtClean="0">
                <a:cs typeface="Times New Roman" panose="02020603050405020304" pitchFamily="18" charset="0"/>
                <a:sym typeface="Symbol" pitchFamily="18" charset="2"/>
              </a:rPr>
              <a:t> </a:t>
            </a:r>
            <a:r>
              <a:rPr kumimoji="1" lang="en-US" altLang="zh-CN" sz="2400" b="1" dirty="0" smtClean="0"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1" lang="zh-CN" altLang="en-US" sz="2400" b="1" dirty="0"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381926" y="3673809"/>
            <a:ext cx="3570288" cy="2360613"/>
            <a:chOff x="5373688" y="4143375"/>
            <a:chExt cx="3570288" cy="2360613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5805488" y="4297363"/>
              <a:ext cx="3138488" cy="1766888"/>
            </a:xfrm>
            <a:custGeom>
              <a:avLst/>
              <a:gdLst>
                <a:gd name="T0" fmla="*/ 0 w 1977"/>
                <a:gd name="T1" fmla="*/ 0 h 1536"/>
                <a:gd name="T2" fmla="*/ 0 w 1977"/>
                <a:gd name="T3" fmla="*/ 1536 h 1536"/>
                <a:gd name="T4" fmla="*/ 1977 w 1977"/>
                <a:gd name="T5" fmla="*/ 1536 h 1536"/>
                <a:gd name="T6" fmla="*/ 0 60000 65536"/>
                <a:gd name="T7" fmla="*/ 0 60000 65536"/>
                <a:gd name="T8" fmla="*/ 0 60000 65536"/>
                <a:gd name="T9" fmla="*/ 0 w 1977"/>
                <a:gd name="T10" fmla="*/ 0 h 1536"/>
                <a:gd name="T11" fmla="*/ 1977 w 1977"/>
                <a:gd name="T12" fmla="*/ 1536 h 1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7" h="1536">
                  <a:moveTo>
                    <a:pt x="0" y="0"/>
                  </a:moveTo>
                  <a:lnTo>
                    <a:pt x="0" y="1536"/>
                  </a:lnTo>
                  <a:lnTo>
                    <a:pt x="1977" y="15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5373688" y="4143375"/>
              <a:ext cx="533400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8535988" y="6011863"/>
              <a:ext cx="387350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</p:grp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6129638" y="3772234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2400"/>
          </a:p>
        </p:txBody>
      </p:sp>
      <p:grpSp>
        <p:nvGrpSpPr>
          <p:cNvPr id="3" name="组合 2"/>
          <p:cNvGrpSpPr/>
          <p:nvPr/>
        </p:nvGrpSpPr>
        <p:grpSpPr>
          <a:xfrm>
            <a:off x="5821663" y="3778584"/>
            <a:ext cx="2852738" cy="1649413"/>
            <a:chOff x="5813425" y="4248150"/>
            <a:chExt cx="2852738" cy="1649413"/>
          </a:xfrm>
        </p:grpSpPr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8226425" y="4248150"/>
              <a:ext cx="43973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 smtClean="0">
                  <a:solidFill>
                    <a:srgbClr val="C00000"/>
                  </a:solidFill>
                  <a:cs typeface="Times New Roman" panose="02020603050405020304" pitchFamily="18" charset="0"/>
                  <a:sym typeface="Symbol"/>
                </a:rPr>
                <a:t></a:t>
              </a:r>
              <a:r>
                <a:rPr kumimoji="1" lang="en-US" altLang="zh-CN" sz="2400" b="1" baseline="-25000" dirty="0" smtClean="0">
                  <a:solidFill>
                    <a:srgbClr val="C00000"/>
                  </a:solidFill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endParaRPr kumimoji="1" lang="en-US" altLang="zh-CN" sz="2400" b="1" dirty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 flipV="1">
              <a:off x="5813425" y="4335463"/>
              <a:ext cx="2614613" cy="156210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7751763" y="474345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8113713" y="4535488"/>
              <a:ext cx="52388" cy="201613"/>
            </a:xfrm>
            <a:custGeom>
              <a:avLst/>
              <a:gdLst>
                <a:gd name="T0" fmla="*/ 33 w 33"/>
                <a:gd name="T1" fmla="*/ 127 h 127"/>
                <a:gd name="T2" fmla="*/ 31 w 33"/>
                <a:gd name="T3" fmla="*/ 84 h 127"/>
                <a:gd name="T4" fmla="*/ 19 w 33"/>
                <a:gd name="T5" fmla="*/ 38 h 127"/>
                <a:gd name="T6" fmla="*/ 0 w 33"/>
                <a:gd name="T7" fmla="*/ 0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"/>
                <a:gd name="T13" fmla="*/ 0 h 127"/>
                <a:gd name="T14" fmla="*/ 33 w 33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" h="127">
                  <a:moveTo>
                    <a:pt x="33" y="127"/>
                  </a:moveTo>
                  <a:cubicBezTo>
                    <a:pt x="33" y="113"/>
                    <a:pt x="33" y="99"/>
                    <a:pt x="31" y="84"/>
                  </a:cubicBezTo>
                  <a:cubicBezTo>
                    <a:pt x="29" y="69"/>
                    <a:pt x="24" y="52"/>
                    <a:pt x="19" y="38"/>
                  </a:cubicBezTo>
                  <a:cubicBezTo>
                    <a:pt x="14" y="24"/>
                    <a:pt x="7" y="1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818488" y="4346909"/>
            <a:ext cx="2989263" cy="1243013"/>
            <a:chOff x="5810250" y="4816475"/>
            <a:chExt cx="2989263" cy="1243013"/>
          </a:xfrm>
        </p:grpSpPr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8337550" y="4816475"/>
              <a:ext cx="46196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400" b="1" i="1" dirty="0" smtClean="0">
                  <a:solidFill>
                    <a:srgbClr val="0000FF"/>
                  </a:solidFill>
                  <a:cs typeface="Times New Roman" panose="02020603050405020304" pitchFamily="18" charset="0"/>
                  <a:sym typeface="Symbol"/>
                </a:rPr>
                <a:t></a:t>
              </a:r>
              <a:r>
                <a:rPr kumimoji="1" lang="en-US" altLang="zh-CN" sz="2400" b="1" baseline="-25000" dirty="0" smtClean="0">
                  <a:solidFill>
                    <a:srgbClr val="0000FF"/>
                  </a:solidFill>
                  <a:cs typeface="Times New Roman" panose="02020603050405020304" pitchFamily="18" charset="0"/>
                  <a:sym typeface="Symbol" pitchFamily="18" charset="2"/>
                </a:rPr>
                <a:t>r</a:t>
              </a:r>
              <a:endParaRPr kumimoji="1" lang="en-US" altLang="zh-CN" sz="2400" b="1" dirty="0">
                <a:solidFill>
                  <a:srgbClr val="0000FF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 flipV="1">
              <a:off x="5810250" y="4954588"/>
              <a:ext cx="2686050" cy="110490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7802563" y="5259388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8278813" y="5060950"/>
              <a:ext cx="52388" cy="201613"/>
            </a:xfrm>
            <a:custGeom>
              <a:avLst/>
              <a:gdLst>
                <a:gd name="T0" fmla="*/ 33 w 33"/>
                <a:gd name="T1" fmla="*/ 127 h 127"/>
                <a:gd name="T2" fmla="*/ 31 w 33"/>
                <a:gd name="T3" fmla="*/ 84 h 127"/>
                <a:gd name="T4" fmla="*/ 19 w 33"/>
                <a:gd name="T5" fmla="*/ 38 h 127"/>
                <a:gd name="T6" fmla="*/ 0 w 33"/>
                <a:gd name="T7" fmla="*/ 0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"/>
                <a:gd name="T13" fmla="*/ 0 h 127"/>
                <a:gd name="T14" fmla="*/ 33 w 33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" h="127">
                  <a:moveTo>
                    <a:pt x="33" y="127"/>
                  </a:moveTo>
                  <a:cubicBezTo>
                    <a:pt x="33" y="113"/>
                    <a:pt x="33" y="99"/>
                    <a:pt x="31" y="84"/>
                  </a:cubicBezTo>
                  <a:cubicBezTo>
                    <a:pt x="29" y="69"/>
                    <a:pt x="24" y="52"/>
                    <a:pt x="19" y="38"/>
                  </a:cubicBezTo>
                  <a:cubicBezTo>
                    <a:pt x="14" y="24"/>
                    <a:pt x="7" y="1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410200" y="1054479"/>
            <a:ext cx="1077913" cy="1489075"/>
            <a:chOff x="5410200" y="1392237"/>
            <a:chExt cx="1077913" cy="1489075"/>
          </a:xfrm>
        </p:grpSpPr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6262688" y="1392237"/>
              <a:ext cx="79375" cy="79375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5880100" y="2138362"/>
              <a:ext cx="47625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5410200" y="1852612"/>
              <a:ext cx="4222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="1" baseline="-25000" dirty="0" err="1">
                  <a:solidFill>
                    <a:srgbClr val="C00000"/>
                  </a:solidFill>
                  <a:ea typeface="幼圆" pitchFamily="49" charset="-122"/>
                  <a:cs typeface="Times New Roman" panose="02020603050405020304" pitchFamily="18" charset="0"/>
                </a:rPr>
                <a:t>f</a:t>
              </a:r>
              <a:endParaRPr lang="en-US" altLang="zh-CN" sz="24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6316663" y="2097087"/>
              <a:ext cx="79375" cy="79375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2"/>
            <p:cNvSpPr>
              <a:spLocks noChangeArrowheads="1"/>
            </p:cNvSpPr>
            <p:nvPr/>
          </p:nvSpPr>
          <p:spPr bwMode="auto">
            <a:xfrm>
              <a:off x="6408738" y="2801937"/>
              <a:ext cx="79375" cy="79375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411788" y="1732342"/>
            <a:ext cx="3125787" cy="1189037"/>
            <a:chOff x="5411788" y="2070100"/>
            <a:chExt cx="3125787" cy="1189037"/>
          </a:xfrm>
        </p:grpSpPr>
        <p:sp>
          <p:nvSpPr>
            <p:cNvPr id="25" name="Line 22"/>
            <p:cNvSpPr>
              <a:spLocks noChangeShapeType="1"/>
            </p:cNvSpPr>
            <p:nvPr/>
          </p:nvSpPr>
          <p:spPr bwMode="auto">
            <a:xfrm flipH="1">
              <a:off x="5880100" y="2755426"/>
              <a:ext cx="260032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5411788" y="2468562"/>
              <a:ext cx="43021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FF"/>
                  </a:solidFill>
                  <a:ea typeface="幼圆" pitchFamily="49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b="1" baseline="-25000" dirty="0" err="1">
                  <a:solidFill>
                    <a:srgbClr val="0000FF"/>
                  </a:solidFill>
                  <a:ea typeface="幼圆" pitchFamily="49" charset="-122"/>
                  <a:cs typeface="Times New Roman" panose="02020603050405020304" pitchFamily="18" charset="0"/>
                </a:rPr>
                <a:t>r</a:t>
              </a:r>
              <a:endParaRPr lang="en-US" altLang="zh-CN" sz="2400" b="1" dirty="0">
                <a:solidFill>
                  <a:srgbClr val="0000FF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Oval 33"/>
            <p:cNvSpPr>
              <a:spLocks noChangeArrowheads="1"/>
            </p:cNvSpPr>
            <p:nvPr/>
          </p:nvSpPr>
          <p:spPr bwMode="auto">
            <a:xfrm>
              <a:off x="8450263" y="2070100"/>
              <a:ext cx="79375" cy="793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8443913" y="2703512"/>
              <a:ext cx="79375" cy="793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8458200" y="3179762"/>
              <a:ext cx="79375" cy="793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128051" y="4318334"/>
            <a:ext cx="1516062" cy="906463"/>
            <a:chOff x="6119813" y="4787900"/>
            <a:chExt cx="1516062" cy="906463"/>
          </a:xfrm>
        </p:grpSpPr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6119813" y="5614988"/>
              <a:ext cx="79375" cy="79375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6861175" y="5227638"/>
              <a:ext cx="79375" cy="79375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7556500" y="4787900"/>
              <a:ext cx="79375" cy="79375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129638" y="4819984"/>
            <a:ext cx="1516063" cy="654050"/>
            <a:chOff x="6121400" y="5289550"/>
            <a:chExt cx="1516063" cy="654050"/>
          </a:xfrm>
        </p:grpSpPr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6121400" y="5864225"/>
              <a:ext cx="79375" cy="793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6864350" y="5561013"/>
              <a:ext cx="79375" cy="793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7558088" y="5289550"/>
              <a:ext cx="79375" cy="7937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835129" y="1633868"/>
            <a:ext cx="3825771" cy="386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5600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密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砂或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超固结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黏土的应力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应变关系曲线存在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峰值。峰值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对应的强度称为峰值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强度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5600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峰值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后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剪应力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随变形不断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降低，当变形很大时，趋于稳定值，称为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残余强度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46" name="Rectangle 3"/>
          <p:cNvSpPr>
            <a:spLocks noChangeArrowheads="1"/>
          </p:cNvSpPr>
          <p:nvPr/>
        </p:nvSpPr>
        <p:spPr bwMode="auto">
          <a:xfrm>
            <a:off x="2848373" y="5708735"/>
            <a:ext cx="45162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残余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强度指标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60564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6938" y="1424773"/>
            <a:ext cx="7102549" cy="393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对于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砂土，残余状态时砂粒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间的咬合作用已被完全破坏，其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结构被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彻底松动而成为一种强度不变的摩擦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流体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在相当于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残余强度的剪应力作用下，发生体积恒定的连续剪切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变形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对于黏土，强度降低主要由剪切导致的土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的结构发生变化所致。在剪切面附近，剪应力使片状颗粒沿剪切面形成定向排列，成为分散结构，强度降低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Rectangle 3"/>
          <p:cNvSpPr>
            <a:spLocks noChangeArrowheads="1"/>
          </p:cNvSpPr>
          <p:nvPr/>
        </p:nvSpPr>
        <p:spPr bwMode="auto">
          <a:xfrm>
            <a:off x="525253" y="664131"/>
            <a:ext cx="4355288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10000"/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残余强度机理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848373" y="5708735"/>
            <a:ext cx="45162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残余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强度指标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-9525" y="0"/>
            <a:ext cx="48389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残余强度指标</a:t>
            </a:r>
          </a:p>
        </p:txBody>
      </p:sp>
    </p:spTree>
    <p:extLst>
      <p:ext uri="{BB962C8B-B14F-4D97-AF65-F5344CB8AC3E}">
        <p14:creationId xmlns:p14="http://schemas.microsoft.com/office/powerpoint/2010/main" val="285719532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5" name="Rectangle 3"/>
          <p:cNvSpPr>
            <a:spLocks noChangeArrowheads="1"/>
          </p:cNvSpPr>
          <p:nvPr/>
        </p:nvSpPr>
        <p:spPr bwMode="auto">
          <a:xfrm>
            <a:off x="269875" y="762987"/>
            <a:ext cx="361838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10000"/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残余强度指标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特点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155405" y="613686"/>
            <a:ext cx="3570288" cy="2593504"/>
            <a:chOff x="5303689" y="844350"/>
            <a:chExt cx="3570288" cy="2593504"/>
          </a:xfrm>
        </p:grpSpPr>
        <p:sp>
          <p:nvSpPr>
            <p:cNvPr id="47" name="Text Box 13"/>
            <p:cNvSpPr txBox="1">
              <a:spLocks noChangeArrowheads="1"/>
            </p:cNvSpPr>
            <p:nvPr/>
          </p:nvSpPr>
          <p:spPr bwMode="auto">
            <a:xfrm>
              <a:off x="5303689" y="844350"/>
              <a:ext cx="533400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6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48" name="Rectangle 16"/>
            <p:cNvSpPr>
              <a:spLocks noChangeArrowheads="1"/>
            </p:cNvSpPr>
            <p:nvPr/>
          </p:nvSpPr>
          <p:spPr bwMode="auto">
            <a:xfrm>
              <a:off x="8478689" y="2674738"/>
              <a:ext cx="387350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6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49" name="Rectangle 18"/>
            <p:cNvSpPr>
              <a:spLocks noChangeArrowheads="1"/>
            </p:cNvSpPr>
            <p:nvPr/>
          </p:nvSpPr>
          <p:spPr bwMode="auto">
            <a:xfrm>
              <a:off x="8042579" y="1147301"/>
              <a:ext cx="3706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 smtClean="0">
                  <a:solidFill>
                    <a:srgbClr val="A50021"/>
                  </a:solidFill>
                  <a:cs typeface="Times New Roman" panose="02020603050405020304" pitchFamily="18" charset="0"/>
                  <a:sym typeface="Symbol"/>
                </a:rPr>
                <a:t></a:t>
              </a:r>
              <a:endParaRPr kumimoji="1" lang="en-US" altLang="zh-CN" sz="2400" b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50" name="Rectangle 19"/>
            <p:cNvSpPr>
              <a:spLocks noChangeArrowheads="1"/>
            </p:cNvSpPr>
            <p:nvPr/>
          </p:nvSpPr>
          <p:spPr bwMode="auto">
            <a:xfrm>
              <a:off x="8209187" y="1731536"/>
              <a:ext cx="46196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400" b="1" i="1" dirty="0" smtClean="0">
                  <a:solidFill>
                    <a:srgbClr val="0000CC"/>
                  </a:solidFill>
                  <a:cs typeface="Times New Roman" panose="02020603050405020304" pitchFamily="18" charset="0"/>
                  <a:sym typeface="Symbol"/>
                </a:rPr>
                <a:t></a:t>
              </a:r>
              <a:r>
                <a:rPr kumimoji="1" lang="en-US" altLang="zh-CN" sz="2400" b="1" baseline="-25000" dirty="0" smtClean="0">
                  <a:solidFill>
                    <a:srgbClr val="0000CC"/>
                  </a:solidFill>
                  <a:cs typeface="Times New Roman" panose="02020603050405020304" pitchFamily="18" charset="0"/>
                  <a:sym typeface="Symbol" pitchFamily="18" charset="2"/>
                </a:rPr>
                <a:t>r</a:t>
              </a:r>
              <a:endParaRPr kumimoji="1" lang="en-US" altLang="zh-CN" sz="2400" b="1" dirty="0">
                <a:solidFill>
                  <a:srgbClr val="0000CC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51" name="Line 23"/>
            <p:cNvSpPr>
              <a:spLocks noChangeShapeType="1"/>
            </p:cNvSpPr>
            <p:nvPr/>
          </p:nvSpPr>
          <p:spPr bwMode="auto">
            <a:xfrm flipV="1">
              <a:off x="5738802" y="1159575"/>
              <a:ext cx="2608234" cy="1600095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2" name="Line 24"/>
            <p:cNvSpPr>
              <a:spLocks noChangeShapeType="1"/>
            </p:cNvSpPr>
            <p:nvPr/>
          </p:nvSpPr>
          <p:spPr bwMode="auto">
            <a:xfrm>
              <a:off x="7632526" y="161178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3" name="Freeform 25"/>
            <p:cNvSpPr>
              <a:spLocks/>
            </p:cNvSpPr>
            <p:nvPr/>
          </p:nvSpPr>
          <p:spPr bwMode="auto">
            <a:xfrm>
              <a:off x="7995627" y="1376259"/>
              <a:ext cx="62983" cy="242387"/>
            </a:xfrm>
            <a:custGeom>
              <a:avLst/>
              <a:gdLst>
                <a:gd name="T0" fmla="*/ 33 w 33"/>
                <a:gd name="T1" fmla="*/ 127 h 127"/>
                <a:gd name="T2" fmla="*/ 31 w 33"/>
                <a:gd name="T3" fmla="*/ 84 h 127"/>
                <a:gd name="T4" fmla="*/ 19 w 33"/>
                <a:gd name="T5" fmla="*/ 38 h 127"/>
                <a:gd name="T6" fmla="*/ 0 w 33"/>
                <a:gd name="T7" fmla="*/ 0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"/>
                <a:gd name="T13" fmla="*/ 0 h 127"/>
                <a:gd name="T14" fmla="*/ 33 w 33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" h="127">
                  <a:moveTo>
                    <a:pt x="33" y="127"/>
                  </a:moveTo>
                  <a:cubicBezTo>
                    <a:pt x="33" y="113"/>
                    <a:pt x="33" y="99"/>
                    <a:pt x="31" y="84"/>
                  </a:cubicBezTo>
                  <a:cubicBezTo>
                    <a:pt x="29" y="69"/>
                    <a:pt x="24" y="52"/>
                    <a:pt x="19" y="38"/>
                  </a:cubicBezTo>
                  <a:cubicBezTo>
                    <a:pt x="14" y="24"/>
                    <a:pt x="7" y="1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4" name="Line 26"/>
            <p:cNvSpPr>
              <a:spLocks noChangeShapeType="1"/>
            </p:cNvSpPr>
            <p:nvPr/>
          </p:nvSpPr>
          <p:spPr bwMode="auto">
            <a:xfrm flipV="1">
              <a:off x="5742205" y="1832615"/>
              <a:ext cx="2738804" cy="92726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>
              <a:off x="7614116" y="2148820"/>
              <a:ext cx="698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6" name="Freeform 28"/>
            <p:cNvSpPr>
              <a:spLocks/>
            </p:cNvSpPr>
            <p:nvPr/>
          </p:nvSpPr>
          <p:spPr bwMode="auto">
            <a:xfrm>
              <a:off x="8170022" y="1936267"/>
              <a:ext cx="54879" cy="211200"/>
            </a:xfrm>
            <a:custGeom>
              <a:avLst/>
              <a:gdLst>
                <a:gd name="T0" fmla="*/ 33 w 33"/>
                <a:gd name="T1" fmla="*/ 127 h 127"/>
                <a:gd name="T2" fmla="*/ 31 w 33"/>
                <a:gd name="T3" fmla="*/ 84 h 127"/>
                <a:gd name="T4" fmla="*/ 19 w 33"/>
                <a:gd name="T5" fmla="*/ 38 h 127"/>
                <a:gd name="T6" fmla="*/ 0 w 33"/>
                <a:gd name="T7" fmla="*/ 0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"/>
                <a:gd name="T13" fmla="*/ 0 h 127"/>
                <a:gd name="T14" fmla="*/ 33 w 33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" h="127">
                  <a:moveTo>
                    <a:pt x="33" y="127"/>
                  </a:moveTo>
                  <a:cubicBezTo>
                    <a:pt x="33" y="113"/>
                    <a:pt x="33" y="99"/>
                    <a:pt x="31" y="84"/>
                  </a:cubicBezTo>
                  <a:cubicBezTo>
                    <a:pt x="29" y="69"/>
                    <a:pt x="24" y="52"/>
                    <a:pt x="19" y="38"/>
                  </a:cubicBezTo>
                  <a:cubicBezTo>
                    <a:pt x="14" y="24"/>
                    <a:pt x="7" y="1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46" name="Freeform 8"/>
            <p:cNvSpPr>
              <a:spLocks/>
            </p:cNvSpPr>
            <p:nvPr/>
          </p:nvSpPr>
          <p:spPr bwMode="auto">
            <a:xfrm>
              <a:off x="5735489" y="998338"/>
              <a:ext cx="3138488" cy="1766888"/>
            </a:xfrm>
            <a:custGeom>
              <a:avLst/>
              <a:gdLst>
                <a:gd name="T0" fmla="*/ 0 w 1977"/>
                <a:gd name="T1" fmla="*/ 0 h 1536"/>
                <a:gd name="T2" fmla="*/ 0 w 1977"/>
                <a:gd name="T3" fmla="*/ 1536 h 1536"/>
                <a:gd name="T4" fmla="*/ 1977 w 1977"/>
                <a:gd name="T5" fmla="*/ 1536 h 1536"/>
                <a:gd name="T6" fmla="*/ 0 60000 65536"/>
                <a:gd name="T7" fmla="*/ 0 60000 65536"/>
                <a:gd name="T8" fmla="*/ 0 60000 65536"/>
                <a:gd name="T9" fmla="*/ 0 w 1977"/>
                <a:gd name="T10" fmla="*/ 0 h 1536"/>
                <a:gd name="T11" fmla="*/ 1977 w 1977"/>
                <a:gd name="T12" fmla="*/ 1536 h 1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7" h="1536">
                  <a:moveTo>
                    <a:pt x="0" y="0"/>
                  </a:moveTo>
                  <a:lnTo>
                    <a:pt x="0" y="1536"/>
                  </a:lnTo>
                  <a:lnTo>
                    <a:pt x="1977" y="15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80" name="Text Box 5"/>
            <p:cNvSpPr txBox="1">
              <a:spLocks noChangeArrowheads="1"/>
            </p:cNvSpPr>
            <p:nvPr/>
          </p:nvSpPr>
          <p:spPr bwMode="auto">
            <a:xfrm>
              <a:off x="6016732" y="1360960"/>
              <a:ext cx="1245307" cy="403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533400" indent="-5334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indent="0" eaLnBrk="1" hangingPunct="1">
                <a:lnSpc>
                  <a:spcPct val="125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A50021"/>
                </a:buClr>
                <a:buSzPct val="100000"/>
              </a:pPr>
              <a:r>
                <a:rPr lang="zh-CN" altLang="en-US" sz="1800" b="1" dirty="0" smtClean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</a:rPr>
                <a:t>峰值强度</a:t>
              </a:r>
              <a:endParaRPr lang="zh-CN" altLang="en-US" sz="1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Text Box 5"/>
            <p:cNvSpPr txBox="1">
              <a:spLocks noChangeArrowheads="1"/>
            </p:cNvSpPr>
            <p:nvPr/>
          </p:nvSpPr>
          <p:spPr bwMode="auto">
            <a:xfrm>
              <a:off x="7200507" y="2300166"/>
              <a:ext cx="1263008" cy="403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533400" indent="-5334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indent="0" eaLnBrk="1" hangingPunct="1">
                <a:lnSpc>
                  <a:spcPct val="125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A50021"/>
                </a:buClr>
                <a:buSzPct val="100000"/>
              </a:pPr>
              <a:r>
                <a:rPr lang="zh-CN" altLang="en-US" sz="1800" b="1" dirty="0" smtClean="0">
                  <a:solidFill>
                    <a:srgbClr val="0000CC"/>
                  </a:solidFill>
                  <a:ea typeface="幼圆" pitchFamily="49" charset="-122"/>
                  <a:cs typeface="Times New Roman" panose="02020603050405020304" pitchFamily="18" charset="0"/>
                </a:rPr>
                <a:t>残余强度</a:t>
              </a:r>
              <a:endParaRPr lang="zh-CN" altLang="en-US" sz="1800" b="1" dirty="0">
                <a:solidFill>
                  <a:srgbClr val="0000CC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3" name="直接连接符 82"/>
            <p:cNvCxnSpPr>
              <a:endCxn id="80" idx="2"/>
            </p:cNvCxnSpPr>
            <p:nvPr/>
          </p:nvCxnSpPr>
          <p:spPr bwMode="auto">
            <a:xfrm flipH="1" flipV="1">
              <a:off x="6639386" y="1764276"/>
              <a:ext cx="69754" cy="31969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直接连接符 84"/>
            <p:cNvCxnSpPr/>
            <p:nvPr/>
          </p:nvCxnSpPr>
          <p:spPr bwMode="auto">
            <a:xfrm>
              <a:off x="7038754" y="2349780"/>
              <a:ext cx="191386" cy="191386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1" name="Text Box 5"/>
            <p:cNvSpPr txBox="1">
              <a:spLocks noChangeArrowheads="1"/>
            </p:cNvSpPr>
            <p:nvPr/>
          </p:nvSpPr>
          <p:spPr bwMode="auto">
            <a:xfrm>
              <a:off x="6243559" y="2960800"/>
              <a:ext cx="1922244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533400" indent="-5334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indent="0" eaLnBrk="1" hangingPunct="1">
                <a:lnSpc>
                  <a:spcPct val="125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A50021"/>
                </a:buClr>
                <a:buSzPct val="100000"/>
              </a:pPr>
              <a:r>
                <a:rPr lang="en-US" altLang="zh-CN" sz="2000" b="1" dirty="0" smtClean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(a) </a:t>
              </a:r>
              <a:r>
                <a:rPr lang="zh-CN" altLang="en-US" sz="2000" b="1" dirty="0" smtClean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无黏性土</a:t>
              </a:r>
              <a:endPara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021093" y="3365404"/>
            <a:ext cx="3719337" cy="2586708"/>
            <a:chOff x="5161139" y="3736114"/>
            <a:chExt cx="3719337" cy="2586708"/>
          </a:xfrm>
        </p:grpSpPr>
        <p:sp>
          <p:nvSpPr>
            <p:cNvPr id="79" name="Rectangle 18"/>
            <p:cNvSpPr>
              <a:spLocks noChangeArrowheads="1"/>
            </p:cNvSpPr>
            <p:nvPr/>
          </p:nvSpPr>
          <p:spPr bwMode="auto">
            <a:xfrm>
              <a:off x="5161139" y="5216787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 smtClean="0">
                  <a:solidFill>
                    <a:srgbClr val="A50021"/>
                  </a:solidFill>
                  <a:cs typeface="Times New Roman" panose="02020603050405020304" pitchFamily="18" charset="0"/>
                  <a:sym typeface="Symbol"/>
                </a:rPr>
                <a:t>c</a:t>
              </a:r>
              <a:endParaRPr kumimoji="1" lang="en-US" altLang="zh-CN" sz="24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5310188" y="3736114"/>
              <a:ext cx="3570288" cy="2586708"/>
              <a:chOff x="5310188" y="3736114"/>
              <a:chExt cx="3570288" cy="2586708"/>
            </a:xfrm>
          </p:grpSpPr>
          <p:sp>
            <p:nvSpPr>
              <p:cNvPr id="16" name="Text Box 13"/>
              <p:cNvSpPr txBox="1">
                <a:spLocks noChangeArrowheads="1"/>
              </p:cNvSpPr>
              <p:nvPr/>
            </p:nvSpPr>
            <p:spPr bwMode="auto">
              <a:xfrm>
                <a:off x="5310188" y="3736114"/>
                <a:ext cx="533400" cy="492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600" b="1" i="1" dirty="0">
                    <a:cs typeface="Times New Roman" panose="02020603050405020304" pitchFamily="18" charset="0"/>
                    <a:sym typeface="Symbol" pitchFamily="18" charset="2"/>
                  </a:rPr>
                  <a:t></a:t>
                </a:r>
              </a:p>
            </p:txBody>
          </p:sp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8485188" y="5566502"/>
                <a:ext cx="387350" cy="492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600" b="1" i="1" dirty="0"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</a:p>
            </p:txBody>
          </p:sp>
          <p:sp>
            <p:nvSpPr>
              <p:cNvPr id="26" name="Line 23"/>
              <p:cNvSpPr>
                <a:spLocks noChangeShapeType="1"/>
              </p:cNvSpPr>
              <p:nvPr/>
            </p:nvSpPr>
            <p:spPr bwMode="auto">
              <a:xfrm flipV="1">
                <a:off x="5742835" y="4145945"/>
                <a:ext cx="2686929" cy="1209821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Line 26"/>
              <p:cNvSpPr>
                <a:spLocks noChangeShapeType="1"/>
              </p:cNvSpPr>
              <p:nvPr/>
            </p:nvSpPr>
            <p:spPr bwMode="auto">
              <a:xfrm flipV="1">
                <a:off x="5746750" y="4788075"/>
                <a:ext cx="2658696" cy="857117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Rectangle 18"/>
              <p:cNvSpPr>
                <a:spLocks noChangeArrowheads="1"/>
              </p:cNvSpPr>
              <p:nvPr/>
            </p:nvSpPr>
            <p:spPr bwMode="auto">
              <a:xfrm>
                <a:off x="7966625" y="4142034"/>
                <a:ext cx="37061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 smtClean="0">
                    <a:solidFill>
                      <a:srgbClr val="A50021"/>
                    </a:solidFill>
                    <a:cs typeface="Times New Roman" panose="02020603050405020304" pitchFamily="18" charset="0"/>
                    <a:sym typeface="Symbol"/>
                  </a:rPr>
                  <a:t></a:t>
                </a:r>
                <a:endParaRPr kumimoji="1" lang="en-US" altLang="zh-CN" sz="2400" b="1" i="1" dirty="0">
                  <a:solidFill>
                    <a:srgbClr val="A50021"/>
                  </a:solidFill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64" name="Rectangle 19"/>
              <p:cNvSpPr>
                <a:spLocks noChangeArrowheads="1"/>
              </p:cNvSpPr>
              <p:nvPr/>
            </p:nvSpPr>
            <p:spPr bwMode="auto">
              <a:xfrm>
                <a:off x="7992559" y="4719233"/>
                <a:ext cx="46198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i="1" dirty="0" smtClean="0">
                    <a:solidFill>
                      <a:srgbClr val="0000CC"/>
                    </a:solidFill>
                    <a:cs typeface="Times New Roman" panose="02020603050405020304" pitchFamily="18" charset="0"/>
                    <a:sym typeface="Symbol"/>
                  </a:rPr>
                  <a:t></a:t>
                </a:r>
                <a:r>
                  <a:rPr kumimoji="1" lang="en-US" altLang="zh-CN" sz="2400" b="1" baseline="-25000" dirty="0" smtClean="0">
                    <a:solidFill>
                      <a:srgbClr val="0000CC"/>
                    </a:solidFill>
                    <a:cs typeface="Times New Roman" panose="02020603050405020304" pitchFamily="18" charset="0"/>
                    <a:sym typeface="Symbol" pitchFamily="18" charset="2"/>
                  </a:rPr>
                  <a:t>r</a:t>
                </a:r>
                <a:endParaRPr kumimoji="1" lang="en-US" altLang="zh-CN" sz="2400" b="1" dirty="0">
                  <a:solidFill>
                    <a:srgbClr val="0000CC"/>
                  </a:solidFill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65" name="Line 24"/>
              <p:cNvSpPr>
                <a:spLocks noChangeShapeType="1"/>
              </p:cNvSpPr>
              <p:nvPr/>
            </p:nvSpPr>
            <p:spPr bwMode="auto">
              <a:xfrm>
                <a:off x="7431454" y="4606513"/>
                <a:ext cx="7524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Freeform 25"/>
              <p:cNvSpPr>
                <a:spLocks/>
              </p:cNvSpPr>
              <p:nvPr/>
            </p:nvSpPr>
            <p:spPr bwMode="auto">
              <a:xfrm>
                <a:off x="7919673" y="4370992"/>
                <a:ext cx="62983" cy="242387"/>
              </a:xfrm>
              <a:custGeom>
                <a:avLst/>
                <a:gdLst>
                  <a:gd name="T0" fmla="*/ 33 w 33"/>
                  <a:gd name="T1" fmla="*/ 127 h 127"/>
                  <a:gd name="T2" fmla="*/ 31 w 33"/>
                  <a:gd name="T3" fmla="*/ 84 h 127"/>
                  <a:gd name="T4" fmla="*/ 19 w 33"/>
                  <a:gd name="T5" fmla="*/ 38 h 127"/>
                  <a:gd name="T6" fmla="*/ 0 w 33"/>
                  <a:gd name="T7" fmla="*/ 0 h 1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127"/>
                  <a:gd name="T14" fmla="*/ 33 w 33"/>
                  <a:gd name="T15" fmla="*/ 127 h 1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127">
                    <a:moveTo>
                      <a:pt x="33" y="127"/>
                    </a:moveTo>
                    <a:cubicBezTo>
                      <a:pt x="33" y="113"/>
                      <a:pt x="33" y="99"/>
                      <a:pt x="31" y="84"/>
                    </a:cubicBezTo>
                    <a:cubicBezTo>
                      <a:pt x="29" y="69"/>
                      <a:pt x="24" y="52"/>
                      <a:pt x="19" y="38"/>
                    </a:cubicBezTo>
                    <a:cubicBezTo>
                      <a:pt x="14" y="24"/>
                      <a:pt x="7" y="12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Line 27"/>
              <p:cNvSpPr>
                <a:spLocks noChangeShapeType="1"/>
              </p:cNvSpPr>
              <p:nvPr/>
            </p:nvSpPr>
            <p:spPr bwMode="auto">
              <a:xfrm>
                <a:off x="7345514" y="5157619"/>
                <a:ext cx="85595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Freeform 28"/>
              <p:cNvSpPr>
                <a:spLocks/>
              </p:cNvSpPr>
              <p:nvPr/>
            </p:nvSpPr>
            <p:spPr bwMode="auto">
              <a:xfrm>
                <a:off x="7890088" y="4945066"/>
                <a:ext cx="54879" cy="211200"/>
              </a:xfrm>
              <a:custGeom>
                <a:avLst/>
                <a:gdLst>
                  <a:gd name="T0" fmla="*/ 33 w 33"/>
                  <a:gd name="T1" fmla="*/ 127 h 127"/>
                  <a:gd name="T2" fmla="*/ 31 w 33"/>
                  <a:gd name="T3" fmla="*/ 84 h 127"/>
                  <a:gd name="T4" fmla="*/ 19 w 33"/>
                  <a:gd name="T5" fmla="*/ 38 h 127"/>
                  <a:gd name="T6" fmla="*/ 0 w 33"/>
                  <a:gd name="T7" fmla="*/ 0 h 1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127"/>
                  <a:gd name="T14" fmla="*/ 33 w 33"/>
                  <a:gd name="T15" fmla="*/ 127 h 1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127">
                    <a:moveTo>
                      <a:pt x="33" y="127"/>
                    </a:moveTo>
                    <a:cubicBezTo>
                      <a:pt x="33" y="113"/>
                      <a:pt x="33" y="99"/>
                      <a:pt x="31" y="84"/>
                    </a:cubicBezTo>
                    <a:cubicBezTo>
                      <a:pt x="29" y="69"/>
                      <a:pt x="24" y="52"/>
                      <a:pt x="19" y="38"/>
                    </a:cubicBezTo>
                    <a:cubicBezTo>
                      <a:pt x="14" y="24"/>
                      <a:pt x="7" y="12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Line 27"/>
              <p:cNvSpPr>
                <a:spLocks noChangeShapeType="1"/>
              </p:cNvSpPr>
              <p:nvPr/>
            </p:nvSpPr>
            <p:spPr bwMode="auto">
              <a:xfrm>
                <a:off x="5492235" y="5355735"/>
                <a:ext cx="20866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Line 27"/>
              <p:cNvSpPr>
                <a:spLocks noChangeShapeType="1"/>
              </p:cNvSpPr>
              <p:nvPr/>
            </p:nvSpPr>
            <p:spPr bwMode="auto">
              <a:xfrm>
                <a:off x="5494178" y="5661712"/>
                <a:ext cx="20866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4" name="直接箭头连接符 73"/>
              <p:cNvCxnSpPr/>
              <p:nvPr/>
            </p:nvCxnSpPr>
            <p:spPr bwMode="auto">
              <a:xfrm>
                <a:off x="5574558" y="5362422"/>
                <a:ext cx="0" cy="2952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1" name="Freeform 8"/>
              <p:cNvSpPr>
                <a:spLocks/>
              </p:cNvSpPr>
              <p:nvPr/>
            </p:nvSpPr>
            <p:spPr bwMode="auto">
              <a:xfrm>
                <a:off x="5741988" y="3890102"/>
                <a:ext cx="3138488" cy="1766888"/>
              </a:xfrm>
              <a:custGeom>
                <a:avLst/>
                <a:gdLst>
                  <a:gd name="T0" fmla="*/ 0 w 1977"/>
                  <a:gd name="T1" fmla="*/ 0 h 1536"/>
                  <a:gd name="T2" fmla="*/ 0 w 1977"/>
                  <a:gd name="T3" fmla="*/ 1536 h 1536"/>
                  <a:gd name="T4" fmla="*/ 1977 w 1977"/>
                  <a:gd name="T5" fmla="*/ 1536 h 1536"/>
                  <a:gd name="T6" fmla="*/ 0 60000 65536"/>
                  <a:gd name="T7" fmla="*/ 0 60000 65536"/>
                  <a:gd name="T8" fmla="*/ 0 60000 65536"/>
                  <a:gd name="T9" fmla="*/ 0 w 1977"/>
                  <a:gd name="T10" fmla="*/ 0 h 1536"/>
                  <a:gd name="T11" fmla="*/ 1977 w 1977"/>
                  <a:gd name="T12" fmla="*/ 1536 h 1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77" h="1536">
                    <a:moveTo>
                      <a:pt x="0" y="0"/>
                    </a:moveTo>
                    <a:lnTo>
                      <a:pt x="0" y="1536"/>
                    </a:lnTo>
                    <a:lnTo>
                      <a:pt x="1977" y="153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Text Box 5"/>
              <p:cNvSpPr txBox="1">
                <a:spLocks noChangeArrowheads="1"/>
              </p:cNvSpPr>
              <p:nvPr/>
            </p:nvSpPr>
            <p:spPr bwMode="auto">
              <a:xfrm>
                <a:off x="7002034" y="5280832"/>
                <a:ext cx="1263008" cy="403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533400" indent="-5334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marL="0" indent="0" eaLnBrk="1" hangingPunct="1">
                  <a:lnSpc>
                    <a:spcPct val="12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A50021"/>
                  </a:buClr>
                  <a:buSzPct val="100000"/>
                </a:pPr>
                <a:r>
                  <a:rPr lang="zh-CN" altLang="en-US" sz="1800" b="1" dirty="0" smtClean="0">
                    <a:solidFill>
                      <a:srgbClr val="0000CC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残余强度</a:t>
                </a:r>
                <a:endParaRPr lang="zh-CN" altLang="en-US" sz="1800" b="1" dirty="0">
                  <a:solidFill>
                    <a:srgbClr val="0000CC"/>
                  </a:solidFill>
                  <a:ea typeface="幼圆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8" name="直接连接符 87"/>
              <p:cNvCxnSpPr/>
              <p:nvPr/>
            </p:nvCxnSpPr>
            <p:spPr bwMode="auto">
              <a:xfrm>
                <a:off x="6840281" y="5319813"/>
                <a:ext cx="191386" cy="191386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9" name="Text Box 5"/>
              <p:cNvSpPr txBox="1">
                <a:spLocks noChangeArrowheads="1"/>
              </p:cNvSpPr>
              <p:nvPr/>
            </p:nvSpPr>
            <p:spPr bwMode="auto">
              <a:xfrm>
                <a:off x="5945850" y="4203401"/>
                <a:ext cx="1245307" cy="403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533400" indent="-5334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marL="0" indent="0" eaLnBrk="1" hangingPunct="1">
                  <a:lnSpc>
                    <a:spcPct val="12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A50021"/>
                  </a:buClr>
                  <a:buSzPct val="100000"/>
                </a:pPr>
                <a:r>
                  <a:rPr lang="zh-CN" altLang="en-US" sz="1800" b="1" dirty="0" smtClean="0">
                    <a:solidFill>
                      <a:srgbClr val="A50021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峰值强度</a:t>
                </a:r>
                <a:endParaRPr lang="zh-CN" altLang="en-US" sz="18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0" name="直接连接符 89"/>
              <p:cNvCxnSpPr>
                <a:endCxn id="89" idx="2"/>
              </p:cNvCxnSpPr>
              <p:nvPr/>
            </p:nvCxnSpPr>
            <p:spPr bwMode="auto">
              <a:xfrm flipH="1" flipV="1">
                <a:off x="6568504" y="4606717"/>
                <a:ext cx="69754" cy="319694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2" name="Text Box 5"/>
              <p:cNvSpPr txBox="1">
                <a:spLocks noChangeArrowheads="1"/>
              </p:cNvSpPr>
              <p:nvPr/>
            </p:nvSpPr>
            <p:spPr bwMode="auto">
              <a:xfrm>
                <a:off x="6342802" y="5845768"/>
                <a:ext cx="1922244" cy="477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533400" indent="-5334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marL="0" indent="0" eaLnBrk="1" hangingPunct="1">
                  <a:lnSpc>
                    <a:spcPct val="12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A50021"/>
                  </a:buClr>
                  <a:buSzPct val="100000"/>
                </a:pPr>
                <a:r>
                  <a:rPr lang="en-US" altLang="zh-CN" sz="2000" b="1" dirty="0" smtClean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(b) </a:t>
                </a:r>
                <a:r>
                  <a:rPr lang="zh-CN" altLang="en-US" sz="2000" b="1" dirty="0" smtClean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黏性土</a:t>
                </a:r>
                <a:endParaRPr lang="zh-CN" altLang="en-US" sz="20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535457" y="1596429"/>
            <a:ext cx="4341340" cy="327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 eaLnBrk="1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无论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是砂土或黏性土，大变形完全破坏了土的结构强度和咬合作用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，残余强度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的破坏包线都是通过原点的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直线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61950" indent="-361950" eaLnBrk="1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残余强度内摩擦角</a:t>
            </a: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r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主要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决定于土的矿物成分，与其所受的应力历史等因素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无关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Rectangle 3"/>
          <p:cNvSpPr>
            <a:spLocks noChangeArrowheads="1"/>
          </p:cNvSpPr>
          <p:nvPr/>
        </p:nvSpPr>
        <p:spPr bwMode="auto">
          <a:xfrm>
            <a:off x="2848373" y="5708735"/>
            <a:ext cx="45162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残余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强度指标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58" name="Text Box 7"/>
          <p:cNvSpPr txBox="1">
            <a:spLocks noChangeArrowheads="1"/>
          </p:cNvSpPr>
          <p:nvPr/>
        </p:nvSpPr>
        <p:spPr bwMode="auto">
          <a:xfrm>
            <a:off x="-9525" y="0"/>
            <a:ext cx="48389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残余强度指标</a:t>
            </a:r>
          </a:p>
        </p:txBody>
      </p:sp>
    </p:spTree>
    <p:extLst>
      <p:ext uri="{BB962C8B-B14F-4D97-AF65-F5344CB8AC3E}">
        <p14:creationId xmlns:p14="http://schemas.microsoft.com/office/powerpoint/2010/main" val="423524555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58098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工程应用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65979" y="919163"/>
            <a:ext cx="6029325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10000"/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试验仪器的选择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058235" y="1820592"/>
            <a:ext cx="6619771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5600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三轴剪切仪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有诸多的优点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，应优先采用，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特别是对重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要的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工程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5600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直剪仪试验方法简单，积累有大量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工程经验。应按照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不同土类和不同的固结排水条件，合理选用直剪试验指标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319338" y="5767315"/>
            <a:ext cx="57102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土的强度指标的工程应用</a:t>
            </a:r>
          </a:p>
        </p:txBody>
      </p:sp>
    </p:spTree>
    <p:extLst>
      <p:ext uri="{BB962C8B-B14F-4D97-AF65-F5344CB8AC3E}">
        <p14:creationId xmlns:p14="http://schemas.microsoft.com/office/powerpoint/2010/main" val="178070788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58098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工程应用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69522" y="3795708"/>
            <a:ext cx="2805113" cy="1510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44500" lvl="1" indent="-444500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古旧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滑坡</a:t>
            </a:r>
          </a:p>
          <a:p>
            <a:pPr marL="444500" lvl="1" indent="-444500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断层夹泥</a:t>
            </a:r>
          </a:p>
          <a:p>
            <a:pPr marL="444500" lvl="1" indent="-444500">
              <a:lnSpc>
                <a:spcPct val="114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大变形问题</a:t>
            </a:r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5128867" y="2080991"/>
            <a:ext cx="3706813" cy="3021013"/>
            <a:chOff x="3185" y="1265"/>
            <a:chExt cx="2335" cy="1903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3187" y="1267"/>
              <a:ext cx="2333" cy="1901"/>
            </a:xfrm>
            <a:custGeom>
              <a:avLst/>
              <a:gdLst>
                <a:gd name="T0" fmla="*/ 0 w 2333"/>
                <a:gd name="T1" fmla="*/ 1642 h 1901"/>
                <a:gd name="T2" fmla="*/ 163 w 2333"/>
                <a:gd name="T3" fmla="*/ 1632 h 1901"/>
                <a:gd name="T4" fmla="*/ 864 w 2333"/>
                <a:gd name="T5" fmla="*/ 1066 h 1901"/>
                <a:gd name="T6" fmla="*/ 1507 w 2333"/>
                <a:gd name="T7" fmla="*/ 442 h 1901"/>
                <a:gd name="T8" fmla="*/ 1978 w 2333"/>
                <a:gd name="T9" fmla="*/ 135 h 1901"/>
                <a:gd name="T10" fmla="*/ 2007 w 2333"/>
                <a:gd name="T11" fmla="*/ 0 h 1901"/>
                <a:gd name="T12" fmla="*/ 2333 w 2333"/>
                <a:gd name="T13" fmla="*/ 0 h 1901"/>
                <a:gd name="T14" fmla="*/ 2333 w 2333"/>
                <a:gd name="T15" fmla="*/ 1901 h 1901"/>
                <a:gd name="T16" fmla="*/ 0 w 2333"/>
                <a:gd name="T17" fmla="*/ 1901 h 1901"/>
                <a:gd name="T18" fmla="*/ 0 w 2333"/>
                <a:gd name="T19" fmla="*/ 1642 h 19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333"/>
                <a:gd name="T31" fmla="*/ 0 h 1901"/>
                <a:gd name="T32" fmla="*/ 2333 w 2333"/>
                <a:gd name="T33" fmla="*/ 1901 h 190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333" h="1901">
                  <a:moveTo>
                    <a:pt x="0" y="1642"/>
                  </a:moveTo>
                  <a:lnTo>
                    <a:pt x="163" y="1632"/>
                  </a:lnTo>
                  <a:lnTo>
                    <a:pt x="864" y="1066"/>
                  </a:lnTo>
                  <a:lnTo>
                    <a:pt x="1507" y="442"/>
                  </a:lnTo>
                  <a:lnTo>
                    <a:pt x="1978" y="135"/>
                  </a:lnTo>
                  <a:lnTo>
                    <a:pt x="2007" y="0"/>
                  </a:lnTo>
                  <a:lnTo>
                    <a:pt x="2333" y="0"/>
                  </a:lnTo>
                  <a:lnTo>
                    <a:pt x="2333" y="1901"/>
                  </a:lnTo>
                  <a:lnTo>
                    <a:pt x="0" y="1901"/>
                  </a:lnTo>
                  <a:lnTo>
                    <a:pt x="0" y="1642"/>
                  </a:lnTo>
                  <a:close/>
                </a:path>
              </a:pathLst>
            </a:cu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3348" y="1404"/>
              <a:ext cx="1820" cy="1502"/>
            </a:xfrm>
            <a:custGeom>
              <a:avLst/>
              <a:gdLst>
                <a:gd name="T0" fmla="*/ 0 w 1820"/>
                <a:gd name="T1" fmla="*/ 1498 h 1502"/>
                <a:gd name="T2" fmla="*/ 759 w 1820"/>
                <a:gd name="T3" fmla="*/ 0 h 1502"/>
                <a:gd name="T4" fmla="*/ 1820 w 1820"/>
                <a:gd name="T5" fmla="*/ 5 h 1502"/>
                <a:gd name="T6" fmla="*/ 1728 w 1820"/>
                <a:gd name="T7" fmla="*/ 259 h 1502"/>
                <a:gd name="T8" fmla="*/ 1565 w 1820"/>
                <a:gd name="T9" fmla="*/ 653 h 1502"/>
                <a:gd name="T10" fmla="*/ 1388 w 1820"/>
                <a:gd name="T11" fmla="*/ 936 h 1502"/>
                <a:gd name="T12" fmla="*/ 1133 w 1820"/>
                <a:gd name="T13" fmla="*/ 1205 h 1502"/>
                <a:gd name="T14" fmla="*/ 999 w 1820"/>
                <a:gd name="T15" fmla="*/ 1291 h 1502"/>
                <a:gd name="T16" fmla="*/ 879 w 1820"/>
                <a:gd name="T17" fmla="*/ 1354 h 1502"/>
                <a:gd name="T18" fmla="*/ 620 w 1820"/>
                <a:gd name="T19" fmla="*/ 1445 h 1502"/>
                <a:gd name="T20" fmla="*/ 312 w 1820"/>
                <a:gd name="T21" fmla="*/ 1502 h 1502"/>
                <a:gd name="T22" fmla="*/ 0 w 1820"/>
                <a:gd name="T23" fmla="*/ 1498 h 15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820"/>
                <a:gd name="T37" fmla="*/ 0 h 1502"/>
                <a:gd name="T38" fmla="*/ 1820 w 1820"/>
                <a:gd name="T39" fmla="*/ 1502 h 150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820" h="1502">
                  <a:moveTo>
                    <a:pt x="0" y="1498"/>
                  </a:moveTo>
                  <a:lnTo>
                    <a:pt x="759" y="0"/>
                  </a:lnTo>
                  <a:lnTo>
                    <a:pt x="1820" y="5"/>
                  </a:lnTo>
                  <a:lnTo>
                    <a:pt x="1728" y="259"/>
                  </a:lnTo>
                  <a:lnTo>
                    <a:pt x="1565" y="653"/>
                  </a:lnTo>
                  <a:lnTo>
                    <a:pt x="1388" y="936"/>
                  </a:lnTo>
                  <a:lnTo>
                    <a:pt x="1133" y="1205"/>
                  </a:lnTo>
                  <a:lnTo>
                    <a:pt x="999" y="1291"/>
                  </a:lnTo>
                  <a:lnTo>
                    <a:pt x="879" y="1354"/>
                  </a:lnTo>
                  <a:lnTo>
                    <a:pt x="620" y="1445"/>
                  </a:lnTo>
                  <a:lnTo>
                    <a:pt x="312" y="1502"/>
                  </a:lnTo>
                  <a:lnTo>
                    <a:pt x="0" y="14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3622" y="1265"/>
              <a:ext cx="1589" cy="1646"/>
            </a:xfrm>
            <a:custGeom>
              <a:avLst/>
              <a:gdLst>
                <a:gd name="T0" fmla="*/ 0 w 1589"/>
                <a:gd name="T1" fmla="*/ 1646 h 1646"/>
                <a:gd name="T2" fmla="*/ 365 w 1589"/>
                <a:gd name="T3" fmla="*/ 1579 h 1646"/>
                <a:gd name="T4" fmla="*/ 754 w 1589"/>
                <a:gd name="T5" fmla="*/ 1416 h 1646"/>
                <a:gd name="T6" fmla="*/ 1099 w 1589"/>
                <a:gd name="T7" fmla="*/ 1089 h 1646"/>
                <a:gd name="T8" fmla="*/ 1334 w 1589"/>
                <a:gd name="T9" fmla="*/ 715 h 1646"/>
                <a:gd name="T10" fmla="*/ 1531 w 1589"/>
                <a:gd name="T11" fmla="*/ 192 h 1646"/>
                <a:gd name="T12" fmla="*/ 1589 w 1589"/>
                <a:gd name="T13" fmla="*/ 0 h 16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89"/>
                <a:gd name="T22" fmla="*/ 0 h 1646"/>
                <a:gd name="T23" fmla="*/ 1589 w 1589"/>
                <a:gd name="T24" fmla="*/ 1646 h 164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89" h="1646">
                  <a:moveTo>
                    <a:pt x="0" y="1646"/>
                  </a:moveTo>
                  <a:cubicBezTo>
                    <a:pt x="62" y="1635"/>
                    <a:pt x="239" y="1617"/>
                    <a:pt x="365" y="1579"/>
                  </a:cubicBezTo>
                  <a:cubicBezTo>
                    <a:pt x="491" y="1541"/>
                    <a:pt x="632" y="1498"/>
                    <a:pt x="754" y="1416"/>
                  </a:cubicBezTo>
                  <a:cubicBezTo>
                    <a:pt x="876" y="1334"/>
                    <a:pt x="1002" y="1206"/>
                    <a:pt x="1099" y="1089"/>
                  </a:cubicBezTo>
                  <a:cubicBezTo>
                    <a:pt x="1196" y="972"/>
                    <a:pt x="1262" y="864"/>
                    <a:pt x="1334" y="715"/>
                  </a:cubicBezTo>
                  <a:cubicBezTo>
                    <a:pt x="1406" y="566"/>
                    <a:pt x="1488" y="311"/>
                    <a:pt x="1531" y="192"/>
                  </a:cubicBezTo>
                  <a:cubicBezTo>
                    <a:pt x="1574" y="73"/>
                    <a:pt x="1577" y="40"/>
                    <a:pt x="1589" y="0"/>
                  </a:cubicBez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3617" y="1265"/>
              <a:ext cx="1586" cy="1646"/>
            </a:xfrm>
            <a:custGeom>
              <a:avLst/>
              <a:gdLst>
                <a:gd name="T0" fmla="*/ 0 w 1586"/>
                <a:gd name="T1" fmla="*/ 1646 h 1646"/>
                <a:gd name="T2" fmla="*/ 591 w 1586"/>
                <a:gd name="T3" fmla="*/ 0 h 1646"/>
                <a:gd name="T4" fmla="*/ 1586 w 1586"/>
                <a:gd name="T5" fmla="*/ 2 h 1646"/>
                <a:gd name="T6" fmla="*/ 0 60000 65536"/>
                <a:gd name="T7" fmla="*/ 0 60000 65536"/>
                <a:gd name="T8" fmla="*/ 0 60000 65536"/>
                <a:gd name="T9" fmla="*/ 0 w 1586"/>
                <a:gd name="T10" fmla="*/ 0 h 1646"/>
                <a:gd name="T11" fmla="*/ 1586 w 1586"/>
                <a:gd name="T12" fmla="*/ 1646 h 16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6" h="1646">
                  <a:moveTo>
                    <a:pt x="0" y="1646"/>
                  </a:moveTo>
                  <a:lnTo>
                    <a:pt x="591" y="0"/>
                  </a:lnTo>
                  <a:lnTo>
                    <a:pt x="1586" y="2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3348" y="1404"/>
              <a:ext cx="1815" cy="1502"/>
            </a:xfrm>
            <a:custGeom>
              <a:avLst/>
              <a:gdLst>
                <a:gd name="T0" fmla="*/ 0 w 1815"/>
                <a:gd name="T1" fmla="*/ 1502 h 1502"/>
                <a:gd name="T2" fmla="*/ 749 w 1815"/>
                <a:gd name="T3" fmla="*/ 0 h 1502"/>
                <a:gd name="T4" fmla="*/ 1815 w 1815"/>
                <a:gd name="T5" fmla="*/ 0 h 1502"/>
                <a:gd name="T6" fmla="*/ 0 60000 65536"/>
                <a:gd name="T7" fmla="*/ 0 60000 65536"/>
                <a:gd name="T8" fmla="*/ 0 60000 65536"/>
                <a:gd name="T9" fmla="*/ 0 w 1815"/>
                <a:gd name="T10" fmla="*/ 0 h 1502"/>
                <a:gd name="T11" fmla="*/ 1815 w 1815"/>
                <a:gd name="T12" fmla="*/ 1502 h 15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15" h="1502">
                  <a:moveTo>
                    <a:pt x="0" y="1502"/>
                  </a:moveTo>
                  <a:lnTo>
                    <a:pt x="749" y="0"/>
                  </a:lnTo>
                  <a:lnTo>
                    <a:pt x="1815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AutoShape 13"/>
            <p:cNvSpPr>
              <a:spLocks noChangeArrowheads="1"/>
            </p:cNvSpPr>
            <p:nvPr/>
          </p:nvSpPr>
          <p:spPr bwMode="auto">
            <a:xfrm rot="7371061">
              <a:off x="4308" y="2018"/>
              <a:ext cx="454" cy="227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  <a:ln w="25400" algn="ctr">
              <a:solidFill>
                <a:schemeClr val="tx2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5204" y="1266"/>
              <a:ext cx="31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H="1">
              <a:off x="3185" y="2911"/>
              <a:ext cx="441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600075" y="910925"/>
            <a:ext cx="7743825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10000"/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峰值与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残余强度指标的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选择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990600" y="1828830"/>
            <a:ext cx="4602892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5600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一般采用峰值强度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指标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5600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当涉及土体发生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大变形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或多次剪切破坏的问题时，才选用残余强度指标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2319338" y="5833219"/>
            <a:ext cx="57102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土的强度指标的工程应用</a:t>
            </a:r>
          </a:p>
        </p:txBody>
      </p:sp>
    </p:spTree>
    <p:extLst>
      <p:ext uri="{BB962C8B-B14F-4D97-AF65-F5344CB8AC3E}">
        <p14:creationId xmlns:p14="http://schemas.microsoft.com/office/powerpoint/2010/main" val="9516113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utoUpdateAnimBg="0"/>
      <p:bldP spid="20" grpId="0" uiExpand="1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58098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工程应用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49503" y="978201"/>
            <a:ext cx="7210425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10000"/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有效应力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指标与总应力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指标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选择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040368" y="1861782"/>
            <a:ext cx="7112000" cy="296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5600" lvl="1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稳定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分析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分有效应力和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两种分析方法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5600" lvl="1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有效应力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分析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法是反映土体破坏机理的方法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当能够通过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计算或其它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方法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确定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体内的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孔隙水压力时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宜优先采用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有效应力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法</a:t>
            </a:r>
            <a:endParaRPr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5600" lvl="1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采用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总应力指标时，应根据现场土体可能的固结排水情况，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选用合适的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总应力强度指标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319338" y="5833219"/>
            <a:ext cx="57102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土的强度指标的工程应用</a:t>
            </a:r>
          </a:p>
        </p:txBody>
      </p:sp>
    </p:spTree>
    <p:extLst>
      <p:ext uri="{BB962C8B-B14F-4D97-AF65-F5344CB8AC3E}">
        <p14:creationId xmlns:p14="http://schemas.microsoft.com/office/powerpoint/2010/main" val="255039513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58098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工程应用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Text Box 122"/>
          <p:cNvSpPr txBox="1">
            <a:spLocks noChangeArrowheads="1"/>
          </p:cNvSpPr>
          <p:nvPr/>
        </p:nvSpPr>
        <p:spPr bwMode="auto">
          <a:xfrm>
            <a:off x="4720281" y="5114063"/>
            <a:ext cx="3896496" cy="421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黏土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地基上快速施工的建筑物</a:t>
            </a:r>
          </a:p>
        </p:txBody>
      </p:sp>
      <p:grpSp>
        <p:nvGrpSpPr>
          <p:cNvPr id="9" name="Group 123"/>
          <p:cNvGrpSpPr>
            <a:grpSpLocks/>
          </p:cNvGrpSpPr>
          <p:nvPr/>
        </p:nvGrpSpPr>
        <p:grpSpPr bwMode="auto">
          <a:xfrm>
            <a:off x="585788" y="1499241"/>
            <a:ext cx="3360737" cy="1844201"/>
            <a:chOff x="259" y="946"/>
            <a:chExt cx="2352" cy="1290"/>
          </a:xfrm>
        </p:grpSpPr>
        <p:sp>
          <p:nvSpPr>
            <p:cNvPr id="10" name="Text Box 124"/>
            <p:cNvSpPr txBox="1">
              <a:spLocks noChangeArrowheads="1"/>
            </p:cNvSpPr>
            <p:nvPr/>
          </p:nvSpPr>
          <p:spPr bwMode="auto">
            <a:xfrm>
              <a:off x="370" y="1941"/>
              <a:ext cx="2124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itchFamily="2" charset="2"/>
                <a:buNone/>
              </a:pPr>
              <a:r>
                <a:rPr kumimoji="1" lang="zh-CN" altLang="en-US" sz="2200" b="1" dirty="0" smtClean="0">
                  <a:solidFill>
                    <a:srgbClr val="000066"/>
                  </a:solidFill>
                  <a:ea typeface="幼圆" pitchFamily="49" charset="-122"/>
                </a:rPr>
                <a:t>软</a:t>
              </a: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黏</a:t>
              </a:r>
              <a:r>
                <a:rPr kumimoji="1" lang="zh-CN" altLang="en-US" sz="2200" b="1" dirty="0" smtClean="0">
                  <a:solidFill>
                    <a:srgbClr val="000066"/>
                  </a:solidFill>
                  <a:ea typeface="幼圆" pitchFamily="49" charset="-122"/>
                </a:rPr>
                <a:t>土</a:t>
              </a: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地基</a:t>
              </a:r>
              <a:r>
                <a:rPr kumimoji="1" lang="zh-CN" altLang="en-US" sz="2200" b="1" dirty="0" smtClean="0">
                  <a:solidFill>
                    <a:srgbClr val="000066"/>
                  </a:solidFill>
                  <a:ea typeface="幼圆" pitchFamily="49" charset="-122"/>
                </a:rPr>
                <a:t>上快速</a:t>
              </a: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填方</a:t>
              </a:r>
            </a:p>
          </p:txBody>
        </p:sp>
        <p:grpSp>
          <p:nvGrpSpPr>
            <p:cNvPr id="11" name="Group 125"/>
            <p:cNvGrpSpPr>
              <a:grpSpLocks/>
            </p:cNvGrpSpPr>
            <p:nvPr/>
          </p:nvGrpSpPr>
          <p:grpSpPr bwMode="auto">
            <a:xfrm>
              <a:off x="259" y="946"/>
              <a:ext cx="2352" cy="902"/>
              <a:chOff x="259" y="946"/>
              <a:chExt cx="2352" cy="902"/>
            </a:xfrm>
          </p:grpSpPr>
          <p:sp>
            <p:nvSpPr>
              <p:cNvPr id="12" name="Rectangle 126"/>
              <p:cNvSpPr>
                <a:spLocks noChangeArrowheads="1"/>
              </p:cNvSpPr>
              <p:nvPr/>
            </p:nvSpPr>
            <p:spPr bwMode="auto">
              <a:xfrm>
                <a:off x="259" y="1272"/>
                <a:ext cx="2352" cy="576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AutoShape 127"/>
              <p:cNvSpPr>
                <a:spLocks noChangeArrowheads="1"/>
              </p:cNvSpPr>
              <p:nvPr/>
            </p:nvSpPr>
            <p:spPr bwMode="auto">
              <a:xfrm rot="10800000">
                <a:off x="691" y="946"/>
                <a:ext cx="1152" cy="336"/>
              </a:xfrm>
              <a:custGeom>
                <a:avLst/>
                <a:gdLst>
                  <a:gd name="T0" fmla="*/ 1008 w 21600"/>
                  <a:gd name="T1" fmla="*/ 168 h 21600"/>
                  <a:gd name="T2" fmla="*/ 576 w 21600"/>
                  <a:gd name="T3" fmla="*/ 336 h 21600"/>
                  <a:gd name="T4" fmla="*/ 144 w 21600"/>
                  <a:gd name="T5" fmla="*/ 168 h 21600"/>
                  <a:gd name="T6" fmla="*/ 57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Freeform 128"/>
              <p:cNvSpPr>
                <a:spLocks/>
              </p:cNvSpPr>
              <p:nvPr/>
            </p:nvSpPr>
            <p:spPr bwMode="auto">
              <a:xfrm>
                <a:off x="883" y="1066"/>
                <a:ext cx="1200" cy="560"/>
              </a:xfrm>
              <a:custGeom>
                <a:avLst/>
                <a:gdLst>
                  <a:gd name="T0" fmla="*/ 0 w 1200"/>
                  <a:gd name="T1" fmla="*/ 0 h 560"/>
                  <a:gd name="T2" fmla="*/ 94 w 1200"/>
                  <a:gd name="T3" fmla="*/ 181 h 560"/>
                  <a:gd name="T4" fmla="*/ 262 w 1200"/>
                  <a:gd name="T5" fmla="*/ 407 h 560"/>
                  <a:gd name="T6" fmla="*/ 444 w 1200"/>
                  <a:gd name="T7" fmla="*/ 524 h 560"/>
                  <a:gd name="T8" fmla="*/ 685 w 1200"/>
                  <a:gd name="T9" fmla="*/ 556 h 560"/>
                  <a:gd name="T10" fmla="*/ 903 w 1200"/>
                  <a:gd name="T11" fmla="*/ 502 h 560"/>
                  <a:gd name="T12" fmla="*/ 1098 w 1200"/>
                  <a:gd name="T13" fmla="*/ 345 h 560"/>
                  <a:gd name="T14" fmla="*/ 1200 w 1200"/>
                  <a:gd name="T15" fmla="*/ 211 h 5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00"/>
                  <a:gd name="T25" fmla="*/ 0 h 560"/>
                  <a:gd name="T26" fmla="*/ 1200 w 1200"/>
                  <a:gd name="T27" fmla="*/ 560 h 56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00" h="560">
                    <a:moveTo>
                      <a:pt x="0" y="0"/>
                    </a:moveTo>
                    <a:cubicBezTo>
                      <a:pt x="16" y="31"/>
                      <a:pt x="50" y="113"/>
                      <a:pt x="94" y="181"/>
                    </a:cubicBezTo>
                    <a:cubicBezTo>
                      <a:pt x="138" y="249"/>
                      <a:pt x="204" y="350"/>
                      <a:pt x="262" y="407"/>
                    </a:cubicBezTo>
                    <a:cubicBezTo>
                      <a:pt x="320" y="464"/>
                      <a:pt x="373" y="499"/>
                      <a:pt x="444" y="524"/>
                    </a:cubicBezTo>
                    <a:cubicBezTo>
                      <a:pt x="515" y="549"/>
                      <a:pt x="609" y="560"/>
                      <a:pt x="685" y="556"/>
                    </a:cubicBezTo>
                    <a:cubicBezTo>
                      <a:pt x="761" y="552"/>
                      <a:pt x="834" y="537"/>
                      <a:pt x="903" y="502"/>
                    </a:cubicBezTo>
                    <a:cubicBezTo>
                      <a:pt x="972" y="467"/>
                      <a:pt x="1049" y="393"/>
                      <a:pt x="1098" y="345"/>
                    </a:cubicBezTo>
                    <a:cubicBezTo>
                      <a:pt x="1147" y="297"/>
                      <a:pt x="1179" y="239"/>
                      <a:pt x="1200" y="211"/>
                    </a:cubicBezTo>
                  </a:path>
                </a:pathLst>
              </a:custGeom>
              <a:noFill/>
              <a:ln w="28575" cmpd="sng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29"/>
              <p:cNvSpPr>
                <a:spLocks/>
              </p:cNvSpPr>
              <p:nvPr/>
            </p:nvSpPr>
            <p:spPr bwMode="auto">
              <a:xfrm>
                <a:off x="1386" y="1453"/>
                <a:ext cx="348" cy="55"/>
              </a:xfrm>
              <a:custGeom>
                <a:avLst/>
                <a:gdLst>
                  <a:gd name="T0" fmla="*/ 0 w 348"/>
                  <a:gd name="T1" fmla="*/ 32 h 55"/>
                  <a:gd name="T2" fmla="*/ 144 w 348"/>
                  <a:gd name="T3" fmla="*/ 54 h 55"/>
                  <a:gd name="T4" fmla="*/ 259 w 348"/>
                  <a:gd name="T5" fmla="*/ 41 h 55"/>
                  <a:gd name="T6" fmla="*/ 348 w 348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8"/>
                  <a:gd name="T13" fmla="*/ 0 h 55"/>
                  <a:gd name="T14" fmla="*/ 348 w 348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8" h="55">
                    <a:moveTo>
                      <a:pt x="0" y="32"/>
                    </a:moveTo>
                    <a:cubicBezTo>
                      <a:pt x="24" y="36"/>
                      <a:pt x="101" y="53"/>
                      <a:pt x="144" y="54"/>
                    </a:cubicBezTo>
                    <a:cubicBezTo>
                      <a:pt x="187" y="55"/>
                      <a:pt x="225" y="50"/>
                      <a:pt x="259" y="41"/>
                    </a:cubicBezTo>
                    <a:cubicBezTo>
                      <a:pt x="293" y="32"/>
                      <a:pt x="322" y="16"/>
                      <a:pt x="348" y="0"/>
                    </a:cubicBez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6" name="Group 130"/>
          <p:cNvGrpSpPr>
            <a:grpSpLocks/>
          </p:cNvGrpSpPr>
          <p:nvPr/>
        </p:nvGrpSpPr>
        <p:grpSpPr bwMode="auto">
          <a:xfrm>
            <a:off x="4597110" y="1448441"/>
            <a:ext cx="4152672" cy="1948974"/>
            <a:chOff x="2847" y="910"/>
            <a:chExt cx="2907" cy="1364"/>
          </a:xfrm>
        </p:grpSpPr>
        <p:grpSp>
          <p:nvGrpSpPr>
            <p:cNvPr id="17" name="Group 131"/>
            <p:cNvGrpSpPr>
              <a:grpSpLocks/>
            </p:cNvGrpSpPr>
            <p:nvPr/>
          </p:nvGrpSpPr>
          <p:grpSpPr bwMode="auto">
            <a:xfrm>
              <a:off x="3061" y="910"/>
              <a:ext cx="2304" cy="864"/>
              <a:chOff x="2928" y="1104"/>
              <a:chExt cx="2304" cy="864"/>
            </a:xfrm>
          </p:grpSpPr>
          <p:sp>
            <p:nvSpPr>
              <p:cNvPr id="108" name="AutoShape 132" descr="沙滩"/>
              <p:cNvSpPr>
                <a:spLocks noChangeArrowheads="1"/>
              </p:cNvSpPr>
              <p:nvPr/>
            </p:nvSpPr>
            <p:spPr bwMode="auto">
              <a:xfrm>
                <a:off x="4176" y="1104"/>
                <a:ext cx="1056" cy="864"/>
              </a:xfrm>
              <a:prstGeom prst="rtTriangl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AutoShape 133" descr="沙滩"/>
              <p:cNvSpPr>
                <a:spLocks noChangeArrowheads="1"/>
              </p:cNvSpPr>
              <p:nvPr/>
            </p:nvSpPr>
            <p:spPr bwMode="auto">
              <a:xfrm rot="-5400000">
                <a:off x="2952" y="1080"/>
                <a:ext cx="864" cy="912"/>
              </a:xfrm>
              <a:prstGeom prst="rtTriangl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Group 134"/>
            <p:cNvGrpSpPr>
              <a:grpSpLocks/>
            </p:cNvGrpSpPr>
            <p:nvPr/>
          </p:nvGrpSpPr>
          <p:grpSpPr bwMode="auto">
            <a:xfrm>
              <a:off x="3781" y="910"/>
              <a:ext cx="768" cy="864"/>
              <a:chOff x="3648" y="1104"/>
              <a:chExt cx="768" cy="864"/>
            </a:xfrm>
          </p:grpSpPr>
          <p:sp>
            <p:nvSpPr>
              <p:cNvPr id="105" name="Rectangle 135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36" cy="864"/>
              </a:xfrm>
              <a:prstGeom prst="rect">
                <a:avLst/>
              </a:pr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AutoShape 136"/>
              <p:cNvSpPr>
                <a:spLocks noChangeArrowheads="1"/>
              </p:cNvSpPr>
              <p:nvPr/>
            </p:nvSpPr>
            <p:spPr bwMode="auto">
              <a:xfrm rot="-5400000">
                <a:off x="3312" y="1440"/>
                <a:ext cx="864" cy="192"/>
              </a:xfrm>
              <a:prstGeom prst="rtTriangle">
                <a:avLst/>
              </a:pr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AutoShape 137"/>
              <p:cNvSpPr>
                <a:spLocks noChangeArrowheads="1"/>
              </p:cNvSpPr>
              <p:nvPr/>
            </p:nvSpPr>
            <p:spPr bwMode="auto">
              <a:xfrm>
                <a:off x="4176" y="1104"/>
                <a:ext cx="240" cy="864"/>
              </a:xfrm>
              <a:prstGeom prst="rtTriangle">
                <a:avLst/>
              </a:pr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" name="Freeform 138"/>
            <p:cNvSpPr>
              <a:spLocks/>
            </p:cNvSpPr>
            <p:nvPr/>
          </p:nvSpPr>
          <p:spPr bwMode="auto">
            <a:xfrm>
              <a:off x="3836" y="1046"/>
              <a:ext cx="1420" cy="640"/>
            </a:xfrm>
            <a:custGeom>
              <a:avLst/>
              <a:gdLst>
                <a:gd name="T0" fmla="*/ 0 w 1420"/>
                <a:gd name="T1" fmla="*/ 0 h 640"/>
                <a:gd name="T2" fmla="*/ 166 w 1420"/>
                <a:gd name="T3" fmla="*/ 250 h 640"/>
                <a:gd name="T4" fmla="*/ 512 w 1420"/>
                <a:gd name="T5" fmla="*/ 487 h 640"/>
                <a:gd name="T6" fmla="*/ 921 w 1420"/>
                <a:gd name="T7" fmla="*/ 608 h 640"/>
                <a:gd name="T8" fmla="*/ 1420 w 1420"/>
                <a:gd name="T9" fmla="*/ 640 h 6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0"/>
                <a:gd name="T16" fmla="*/ 0 h 640"/>
                <a:gd name="T17" fmla="*/ 1420 w 1420"/>
                <a:gd name="T18" fmla="*/ 640 h 6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0" h="640">
                  <a:moveTo>
                    <a:pt x="0" y="0"/>
                  </a:moveTo>
                  <a:cubicBezTo>
                    <a:pt x="40" y="84"/>
                    <a:pt x="81" y="169"/>
                    <a:pt x="166" y="250"/>
                  </a:cubicBezTo>
                  <a:cubicBezTo>
                    <a:pt x="251" y="331"/>
                    <a:pt x="386" y="427"/>
                    <a:pt x="512" y="487"/>
                  </a:cubicBezTo>
                  <a:cubicBezTo>
                    <a:pt x="638" y="547"/>
                    <a:pt x="770" y="583"/>
                    <a:pt x="921" y="608"/>
                  </a:cubicBezTo>
                  <a:cubicBezTo>
                    <a:pt x="1072" y="633"/>
                    <a:pt x="1246" y="636"/>
                    <a:pt x="1420" y="640"/>
                  </a:cubicBezTo>
                </a:path>
              </a:pathLst>
            </a:custGeom>
            <a:noFill/>
            <a:ln w="28575" cmpd="sng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139"/>
            <p:cNvGrpSpPr>
              <a:grpSpLocks/>
            </p:cNvGrpSpPr>
            <p:nvPr/>
          </p:nvGrpSpPr>
          <p:grpSpPr bwMode="auto">
            <a:xfrm>
              <a:off x="2965" y="1774"/>
              <a:ext cx="2496" cy="96"/>
              <a:chOff x="3360" y="1536"/>
              <a:chExt cx="2064" cy="106"/>
            </a:xfrm>
          </p:grpSpPr>
          <p:grpSp>
            <p:nvGrpSpPr>
              <p:cNvPr id="24" name="Group 140"/>
              <p:cNvGrpSpPr>
                <a:grpSpLocks/>
              </p:cNvGrpSpPr>
              <p:nvPr/>
            </p:nvGrpSpPr>
            <p:grpSpPr bwMode="auto">
              <a:xfrm>
                <a:off x="3360" y="1536"/>
                <a:ext cx="2062" cy="106"/>
                <a:chOff x="884" y="2807"/>
                <a:chExt cx="2722" cy="83"/>
              </a:xfrm>
            </p:grpSpPr>
            <p:grpSp>
              <p:nvGrpSpPr>
                <p:cNvPr id="26" name="Group 141"/>
                <p:cNvGrpSpPr>
                  <a:grpSpLocks/>
                </p:cNvGrpSpPr>
                <p:nvPr/>
              </p:nvGrpSpPr>
              <p:grpSpPr bwMode="auto">
                <a:xfrm>
                  <a:off x="2227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93" name="Freeform 142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" name="Freeform 143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" name="Freeform 144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Freeform 145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" name="Freeform 146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" name="Freeform 147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" name="Freeform 148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Freeform 149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Freeform 150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Freeform 151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Freeform 152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" name="Freeform 153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" name="Group 154"/>
                <p:cNvGrpSpPr>
                  <a:grpSpLocks/>
                </p:cNvGrpSpPr>
                <p:nvPr/>
              </p:nvGrpSpPr>
              <p:grpSpPr bwMode="auto">
                <a:xfrm>
                  <a:off x="1779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81" name="Freeform 155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" name="Freeform 156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Freeform 157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" name="Freeform 158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" name="Freeform 159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" name="Freeform 160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" name="Freeform 161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" name="Freeform 162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" name="Freeform 163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0" name="Freeform 164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" name="Freeform 165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" name="Freeform 166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" name="Group 167"/>
                <p:cNvGrpSpPr>
                  <a:grpSpLocks/>
                </p:cNvGrpSpPr>
                <p:nvPr/>
              </p:nvGrpSpPr>
              <p:grpSpPr bwMode="auto">
                <a:xfrm>
                  <a:off x="1332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69" name="Freeform 168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Freeform 169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" name="Freeform 170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" name="Freeform 171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" name="Freeform 172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" name="Freeform 173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" name="Freeform 174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" name="Freeform 175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" name="Freeform 176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" name="Freeform 177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" name="Freeform 178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" name="Freeform 179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" name="Group 180"/>
                <p:cNvGrpSpPr>
                  <a:grpSpLocks/>
                </p:cNvGrpSpPr>
                <p:nvPr/>
              </p:nvGrpSpPr>
              <p:grpSpPr bwMode="auto">
                <a:xfrm>
                  <a:off x="884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57" name="Freeform 181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" name="Freeform 182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" name="Freeform 183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" name="Freeform 184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" name="Freeform 185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" name="Freeform 186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" name="Freeform 187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Freeform 188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" name="Freeform 189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Freeform 190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" name="Freeform 191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Freeform 192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" name="Group 193"/>
                <p:cNvGrpSpPr>
                  <a:grpSpLocks/>
                </p:cNvGrpSpPr>
                <p:nvPr/>
              </p:nvGrpSpPr>
              <p:grpSpPr bwMode="auto">
                <a:xfrm>
                  <a:off x="3123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45" name="Freeform 194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Freeform 195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" name="Freeform 196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" name="Freeform 197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" name="Freeform 198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" name="Freeform 199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1" name="Freeform 200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" name="Freeform 201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3" name="Freeform 202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Freeform 203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5" name="Freeform 204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6" name="Freeform 205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" name="Group 206"/>
                <p:cNvGrpSpPr>
                  <a:grpSpLocks/>
                </p:cNvGrpSpPr>
                <p:nvPr/>
              </p:nvGrpSpPr>
              <p:grpSpPr bwMode="auto">
                <a:xfrm>
                  <a:off x="2675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33" name="Freeform 207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" name="Freeform 208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" name="Freeform 209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Freeform 210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" name="Freeform 211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Freeform 212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" name="Freeform 213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" name="Freeform 214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" name="Freeform 215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Freeform 216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Freeform 217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Freeform 218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" name="Line 219"/>
                <p:cNvSpPr>
                  <a:spLocks noChangeShapeType="1"/>
                </p:cNvSpPr>
                <p:nvPr/>
              </p:nvSpPr>
              <p:spPr bwMode="auto">
                <a:xfrm>
                  <a:off x="884" y="2807"/>
                  <a:ext cx="272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5" name="Line 220"/>
              <p:cNvSpPr>
                <a:spLocks noChangeShapeType="1"/>
              </p:cNvSpPr>
              <p:nvPr/>
            </p:nvSpPr>
            <p:spPr bwMode="auto">
              <a:xfrm>
                <a:off x="3360" y="1536"/>
                <a:ext cx="2064" cy="0"/>
              </a:xfrm>
              <a:prstGeom prst="line">
                <a:avLst/>
              </a:prstGeom>
              <a:noFill/>
              <a:ln w="349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221"/>
            <p:cNvSpPr>
              <a:spLocks noChangeShapeType="1"/>
            </p:cNvSpPr>
            <p:nvPr/>
          </p:nvSpPr>
          <p:spPr bwMode="auto">
            <a:xfrm>
              <a:off x="3973" y="910"/>
              <a:ext cx="33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222"/>
            <p:cNvSpPr txBox="1">
              <a:spLocks noChangeArrowheads="1"/>
            </p:cNvSpPr>
            <p:nvPr/>
          </p:nvSpPr>
          <p:spPr bwMode="auto">
            <a:xfrm>
              <a:off x="2847" y="1979"/>
              <a:ext cx="2907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itchFamily="2" charset="2"/>
                <a:buNone/>
              </a:pP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土坝快速施工</a:t>
              </a:r>
              <a:r>
                <a:rPr kumimoji="1" lang="zh-CN" altLang="en-US" sz="2200" b="1" dirty="0" smtClean="0">
                  <a:solidFill>
                    <a:srgbClr val="000066"/>
                  </a:solidFill>
                  <a:ea typeface="幼圆" pitchFamily="49" charset="-122"/>
                </a:rPr>
                <a:t>，黏土心</a:t>
              </a: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墙未固结</a:t>
              </a:r>
            </a:p>
          </p:txBody>
        </p:sp>
        <p:sp>
          <p:nvSpPr>
            <p:cNvPr id="23" name="Freeform 223"/>
            <p:cNvSpPr>
              <a:spLocks/>
            </p:cNvSpPr>
            <p:nvPr/>
          </p:nvSpPr>
          <p:spPr bwMode="auto">
            <a:xfrm>
              <a:off x="4087" y="1252"/>
              <a:ext cx="341" cy="187"/>
            </a:xfrm>
            <a:custGeom>
              <a:avLst/>
              <a:gdLst>
                <a:gd name="T0" fmla="*/ 0 w 341"/>
                <a:gd name="T1" fmla="*/ 0 h 187"/>
                <a:gd name="T2" fmla="*/ 129 w 341"/>
                <a:gd name="T3" fmla="*/ 91 h 187"/>
                <a:gd name="T4" fmla="*/ 232 w 341"/>
                <a:gd name="T5" fmla="*/ 136 h 187"/>
                <a:gd name="T6" fmla="*/ 341 w 341"/>
                <a:gd name="T7" fmla="*/ 187 h 1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1"/>
                <a:gd name="T13" fmla="*/ 0 h 187"/>
                <a:gd name="T14" fmla="*/ 341 w 341"/>
                <a:gd name="T15" fmla="*/ 187 h 1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1" h="187">
                  <a:moveTo>
                    <a:pt x="0" y="0"/>
                  </a:moveTo>
                  <a:cubicBezTo>
                    <a:pt x="22" y="15"/>
                    <a:pt x="90" y="68"/>
                    <a:pt x="129" y="91"/>
                  </a:cubicBezTo>
                  <a:cubicBezTo>
                    <a:pt x="168" y="114"/>
                    <a:pt x="197" y="120"/>
                    <a:pt x="232" y="136"/>
                  </a:cubicBezTo>
                  <a:cubicBezTo>
                    <a:pt x="267" y="152"/>
                    <a:pt x="318" y="177"/>
                    <a:pt x="341" y="187"/>
                  </a:cubicBezTo>
                </a:path>
              </a:pathLst>
            </a:custGeom>
            <a:noFill/>
            <a:ln w="38100" cmpd="sng">
              <a:solidFill>
                <a:srgbClr val="A5002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0" name="Group 237"/>
          <p:cNvGrpSpPr>
            <a:grpSpLocks/>
          </p:cNvGrpSpPr>
          <p:nvPr/>
        </p:nvGrpSpPr>
        <p:grpSpPr bwMode="auto">
          <a:xfrm>
            <a:off x="4787900" y="3661886"/>
            <a:ext cx="3582988" cy="1352550"/>
            <a:chOff x="2414" y="2451"/>
            <a:chExt cx="3009" cy="1065"/>
          </a:xfrm>
        </p:grpSpPr>
        <p:sp>
          <p:nvSpPr>
            <p:cNvPr id="111" name="Rectangle 238"/>
            <p:cNvSpPr>
              <a:spLocks noChangeArrowheads="1"/>
            </p:cNvSpPr>
            <p:nvPr/>
          </p:nvSpPr>
          <p:spPr bwMode="auto">
            <a:xfrm>
              <a:off x="2414" y="2953"/>
              <a:ext cx="3008" cy="563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Line 239"/>
            <p:cNvSpPr>
              <a:spLocks noChangeShapeType="1"/>
            </p:cNvSpPr>
            <p:nvPr/>
          </p:nvSpPr>
          <p:spPr bwMode="auto">
            <a:xfrm>
              <a:off x="2414" y="2945"/>
              <a:ext cx="3009" cy="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AutoShape 240"/>
            <p:cNvSpPr>
              <a:spLocks noChangeArrowheads="1"/>
            </p:cNvSpPr>
            <p:nvPr/>
          </p:nvSpPr>
          <p:spPr bwMode="auto">
            <a:xfrm flipV="1">
              <a:off x="3509" y="2945"/>
              <a:ext cx="730" cy="336"/>
            </a:xfrm>
            <a:prstGeom prst="triangle">
              <a:avLst>
                <a:gd name="adj" fmla="val 50000"/>
              </a:avLst>
            </a:prstGeom>
            <a:noFill/>
            <a:ln w="25400" cap="sq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Freeform 241"/>
            <p:cNvSpPr>
              <a:spLocks/>
            </p:cNvSpPr>
            <p:nvPr/>
          </p:nvSpPr>
          <p:spPr bwMode="auto">
            <a:xfrm>
              <a:off x="3895" y="2945"/>
              <a:ext cx="1374" cy="544"/>
            </a:xfrm>
            <a:custGeom>
              <a:avLst/>
              <a:gdLst>
                <a:gd name="T0" fmla="*/ 0 w 1680"/>
                <a:gd name="T1" fmla="*/ 432 h 688"/>
                <a:gd name="T2" fmla="*/ 432 w 1680"/>
                <a:gd name="T3" fmla="*/ 672 h 688"/>
                <a:gd name="T4" fmla="*/ 912 w 1680"/>
                <a:gd name="T5" fmla="*/ 528 h 688"/>
                <a:gd name="T6" fmla="*/ 1680 w 1680"/>
                <a:gd name="T7" fmla="*/ 0 h 6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688"/>
                <a:gd name="T14" fmla="*/ 1680 w 1680"/>
                <a:gd name="T15" fmla="*/ 688 h 6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688">
                  <a:moveTo>
                    <a:pt x="0" y="432"/>
                  </a:moveTo>
                  <a:cubicBezTo>
                    <a:pt x="140" y="544"/>
                    <a:pt x="280" y="656"/>
                    <a:pt x="432" y="672"/>
                  </a:cubicBezTo>
                  <a:cubicBezTo>
                    <a:pt x="584" y="688"/>
                    <a:pt x="704" y="640"/>
                    <a:pt x="912" y="528"/>
                  </a:cubicBezTo>
                  <a:cubicBezTo>
                    <a:pt x="1120" y="416"/>
                    <a:pt x="1400" y="208"/>
                    <a:pt x="1680" y="0"/>
                  </a:cubicBezTo>
                </a:path>
              </a:pathLst>
            </a:custGeom>
            <a:noFill/>
            <a:ln w="25400" cap="sq" cmpd="sng">
              <a:solidFill>
                <a:srgbClr val="A5002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Freeform 242"/>
            <p:cNvSpPr>
              <a:spLocks/>
            </p:cNvSpPr>
            <p:nvPr/>
          </p:nvSpPr>
          <p:spPr bwMode="auto">
            <a:xfrm flipH="1">
              <a:off x="2521" y="2945"/>
              <a:ext cx="1331" cy="544"/>
            </a:xfrm>
            <a:custGeom>
              <a:avLst/>
              <a:gdLst>
                <a:gd name="T0" fmla="*/ 0 w 1680"/>
                <a:gd name="T1" fmla="*/ 432 h 688"/>
                <a:gd name="T2" fmla="*/ 432 w 1680"/>
                <a:gd name="T3" fmla="*/ 672 h 688"/>
                <a:gd name="T4" fmla="*/ 912 w 1680"/>
                <a:gd name="T5" fmla="*/ 528 h 688"/>
                <a:gd name="T6" fmla="*/ 1680 w 1680"/>
                <a:gd name="T7" fmla="*/ 0 h 6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688"/>
                <a:gd name="T14" fmla="*/ 1680 w 1680"/>
                <a:gd name="T15" fmla="*/ 688 h 6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688">
                  <a:moveTo>
                    <a:pt x="0" y="432"/>
                  </a:moveTo>
                  <a:cubicBezTo>
                    <a:pt x="140" y="544"/>
                    <a:pt x="280" y="656"/>
                    <a:pt x="432" y="672"/>
                  </a:cubicBezTo>
                  <a:cubicBezTo>
                    <a:pt x="584" y="688"/>
                    <a:pt x="704" y="640"/>
                    <a:pt x="912" y="528"/>
                  </a:cubicBezTo>
                  <a:cubicBezTo>
                    <a:pt x="1120" y="416"/>
                    <a:pt x="1400" y="208"/>
                    <a:pt x="1680" y="0"/>
                  </a:cubicBezTo>
                </a:path>
              </a:pathLst>
            </a:custGeom>
            <a:noFill/>
            <a:ln w="25400" cap="sq" cmpd="sng">
              <a:solidFill>
                <a:srgbClr val="A5002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Freeform 243"/>
            <p:cNvSpPr>
              <a:spLocks/>
            </p:cNvSpPr>
            <p:nvPr/>
          </p:nvSpPr>
          <p:spPr bwMode="auto">
            <a:xfrm rot="-688130">
              <a:off x="4371" y="3214"/>
              <a:ext cx="348" cy="55"/>
            </a:xfrm>
            <a:custGeom>
              <a:avLst/>
              <a:gdLst>
                <a:gd name="T0" fmla="*/ 0 w 348"/>
                <a:gd name="T1" fmla="*/ 32 h 55"/>
                <a:gd name="T2" fmla="*/ 144 w 348"/>
                <a:gd name="T3" fmla="*/ 54 h 55"/>
                <a:gd name="T4" fmla="*/ 259 w 348"/>
                <a:gd name="T5" fmla="*/ 41 h 55"/>
                <a:gd name="T6" fmla="*/ 348 w 34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8"/>
                <a:gd name="T13" fmla="*/ 0 h 55"/>
                <a:gd name="T14" fmla="*/ 348 w 34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8" h="55">
                  <a:moveTo>
                    <a:pt x="0" y="32"/>
                  </a:moveTo>
                  <a:cubicBezTo>
                    <a:pt x="24" y="36"/>
                    <a:pt x="101" y="53"/>
                    <a:pt x="144" y="54"/>
                  </a:cubicBezTo>
                  <a:cubicBezTo>
                    <a:pt x="187" y="55"/>
                    <a:pt x="225" y="50"/>
                    <a:pt x="259" y="41"/>
                  </a:cubicBezTo>
                  <a:cubicBezTo>
                    <a:pt x="293" y="32"/>
                    <a:pt x="322" y="16"/>
                    <a:pt x="348" y="0"/>
                  </a:cubicBez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Freeform 244"/>
            <p:cNvSpPr>
              <a:spLocks/>
            </p:cNvSpPr>
            <p:nvPr/>
          </p:nvSpPr>
          <p:spPr bwMode="auto">
            <a:xfrm rot="688130" flipH="1">
              <a:off x="3086" y="3184"/>
              <a:ext cx="348" cy="55"/>
            </a:xfrm>
            <a:custGeom>
              <a:avLst/>
              <a:gdLst>
                <a:gd name="T0" fmla="*/ 0 w 348"/>
                <a:gd name="T1" fmla="*/ 32 h 55"/>
                <a:gd name="T2" fmla="*/ 144 w 348"/>
                <a:gd name="T3" fmla="*/ 54 h 55"/>
                <a:gd name="T4" fmla="*/ 259 w 348"/>
                <a:gd name="T5" fmla="*/ 41 h 55"/>
                <a:gd name="T6" fmla="*/ 348 w 34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8"/>
                <a:gd name="T13" fmla="*/ 0 h 55"/>
                <a:gd name="T14" fmla="*/ 348 w 34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8" h="55">
                  <a:moveTo>
                    <a:pt x="0" y="32"/>
                  </a:moveTo>
                  <a:cubicBezTo>
                    <a:pt x="24" y="36"/>
                    <a:pt x="101" y="53"/>
                    <a:pt x="144" y="54"/>
                  </a:cubicBezTo>
                  <a:cubicBezTo>
                    <a:pt x="187" y="55"/>
                    <a:pt x="225" y="50"/>
                    <a:pt x="259" y="41"/>
                  </a:cubicBezTo>
                  <a:cubicBezTo>
                    <a:pt x="293" y="32"/>
                    <a:pt x="322" y="16"/>
                    <a:pt x="348" y="0"/>
                  </a:cubicBez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Rectangle 245"/>
            <p:cNvSpPr>
              <a:spLocks noChangeArrowheads="1"/>
            </p:cNvSpPr>
            <p:nvPr/>
          </p:nvSpPr>
          <p:spPr bwMode="auto">
            <a:xfrm>
              <a:off x="3553" y="2451"/>
              <a:ext cx="638" cy="42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Rectangle 246" descr="深色上对角线"/>
            <p:cNvSpPr>
              <a:spLocks noChangeArrowheads="1"/>
            </p:cNvSpPr>
            <p:nvPr/>
          </p:nvSpPr>
          <p:spPr bwMode="auto">
            <a:xfrm>
              <a:off x="3509" y="2849"/>
              <a:ext cx="730" cy="96"/>
            </a:xfrm>
            <a:prstGeom prst="rect">
              <a:avLst/>
            </a:prstGeom>
            <a:pattFill prst="dkUpDiag">
              <a:fgClr>
                <a:srgbClr val="990000"/>
              </a:fgClr>
              <a:bgClr>
                <a:srgbClr val="FFFFFF"/>
              </a:bgClr>
            </a:pattFill>
            <a:ln w="12700" cap="sq">
              <a:solidFill>
                <a:srgbClr val="99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Rectangle 247"/>
            <p:cNvSpPr>
              <a:spLocks noChangeArrowheads="1"/>
            </p:cNvSpPr>
            <p:nvPr/>
          </p:nvSpPr>
          <p:spPr bwMode="auto">
            <a:xfrm>
              <a:off x="3713" y="2576"/>
              <a:ext cx="157" cy="13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Line 248"/>
            <p:cNvSpPr>
              <a:spLocks noChangeShapeType="1"/>
            </p:cNvSpPr>
            <p:nvPr/>
          </p:nvSpPr>
          <p:spPr bwMode="auto">
            <a:xfrm>
              <a:off x="3713" y="2643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249"/>
            <p:cNvSpPr>
              <a:spLocks noChangeShapeType="1"/>
            </p:cNvSpPr>
            <p:nvPr/>
          </p:nvSpPr>
          <p:spPr bwMode="auto">
            <a:xfrm>
              <a:off x="3799" y="2576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" name="Text Box 250"/>
          <p:cNvSpPr txBox="1">
            <a:spLocks noChangeArrowheads="1"/>
          </p:cNvSpPr>
          <p:nvPr/>
        </p:nvSpPr>
        <p:spPr bwMode="auto">
          <a:xfrm>
            <a:off x="584994" y="3837628"/>
            <a:ext cx="3605212" cy="1309688"/>
          </a:xfrm>
          <a:prstGeom prst="rect">
            <a:avLst/>
          </a:prstGeom>
          <a:solidFill>
            <a:srgbClr val="CCCCFF"/>
          </a:solidFill>
          <a:ln w="22225">
            <a:solidFill>
              <a:srgbClr val="A50021"/>
            </a:solidFill>
            <a:miter lim="800000"/>
            <a:headEnd/>
            <a:tailEnd/>
          </a:ln>
        </p:spPr>
        <p:txBody>
          <a:bodyPr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用于荷载增加所引起的超静孔隙水压力不消散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，土体密度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保持不变的情况</a:t>
            </a:r>
          </a:p>
        </p:txBody>
      </p:sp>
      <p:sp>
        <p:nvSpPr>
          <p:cNvPr id="124" name="Rectangle 3"/>
          <p:cNvSpPr>
            <a:spLocks noChangeArrowheads="1"/>
          </p:cNvSpPr>
          <p:nvPr/>
        </p:nvSpPr>
        <p:spPr bwMode="auto">
          <a:xfrm>
            <a:off x="511175" y="610241"/>
            <a:ext cx="8264525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10000"/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不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排水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剪或快剪指标  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 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800" b="1" dirty="0" err="1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 err="1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" name="Text Box 5"/>
          <p:cNvSpPr txBox="1">
            <a:spLocks noChangeArrowheads="1"/>
          </p:cNvSpPr>
          <p:nvPr/>
        </p:nvSpPr>
        <p:spPr bwMode="auto">
          <a:xfrm>
            <a:off x="2319338" y="5833219"/>
            <a:ext cx="57102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土的强度指标的工程应用</a:t>
            </a:r>
          </a:p>
        </p:txBody>
      </p:sp>
    </p:spTree>
    <p:extLst>
      <p:ext uri="{BB962C8B-B14F-4D97-AF65-F5344CB8AC3E}">
        <p14:creationId xmlns:p14="http://schemas.microsoft.com/office/powerpoint/2010/main" val="29935349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3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58098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工程应用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319338" y="5882647"/>
            <a:ext cx="57102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土的强度指标的工程应用</a:t>
            </a:r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4400550" y="1532165"/>
            <a:ext cx="4357688" cy="2008188"/>
            <a:chOff x="2772" y="1046"/>
            <a:chExt cx="2745" cy="1265"/>
          </a:xfrm>
        </p:grpSpPr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4752" y="1618"/>
              <a:ext cx="758" cy="288"/>
            </a:xfrm>
            <a:custGeom>
              <a:avLst/>
              <a:gdLst>
                <a:gd name="T0" fmla="*/ 758 w 758"/>
                <a:gd name="T1" fmla="*/ 288 h 288"/>
                <a:gd name="T2" fmla="*/ 758 w 758"/>
                <a:gd name="T3" fmla="*/ 0 h 288"/>
                <a:gd name="T4" fmla="*/ 0 w 758"/>
                <a:gd name="T5" fmla="*/ 0 h 288"/>
                <a:gd name="T6" fmla="*/ 422 w 758"/>
                <a:gd name="T7" fmla="*/ 288 h 288"/>
                <a:gd name="T8" fmla="*/ 758 w 758"/>
                <a:gd name="T9" fmla="*/ 288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8"/>
                <a:gd name="T16" fmla="*/ 0 h 288"/>
                <a:gd name="T17" fmla="*/ 758 w 758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8" h="288">
                  <a:moveTo>
                    <a:pt x="758" y="288"/>
                  </a:moveTo>
                  <a:lnTo>
                    <a:pt x="758" y="0"/>
                  </a:lnTo>
                  <a:lnTo>
                    <a:pt x="0" y="0"/>
                  </a:lnTo>
                  <a:lnTo>
                    <a:pt x="422" y="288"/>
                  </a:lnTo>
                  <a:lnTo>
                    <a:pt x="758" y="288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791" y="2023"/>
              <a:ext cx="11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itchFamily="2" charset="2"/>
                <a:buNone/>
              </a:pP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水位骤降</a:t>
              </a:r>
              <a:endParaRPr kumimoji="1" lang="en-US" altLang="zh-CN" sz="24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grpSp>
          <p:nvGrpSpPr>
            <p:cNvPr id="11" name="Group 10"/>
            <p:cNvGrpSpPr>
              <a:grpSpLocks/>
            </p:cNvGrpSpPr>
            <p:nvPr/>
          </p:nvGrpSpPr>
          <p:grpSpPr bwMode="auto">
            <a:xfrm>
              <a:off x="2868" y="1046"/>
              <a:ext cx="2304" cy="864"/>
              <a:chOff x="2928" y="1104"/>
              <a:chExt cx="2304" cy="864"/>
            </a:xfrm>
          </p:grpSpPr>
          <p:sp>
            <p:nvSpPr>
              <p:cNvPr id="114" name="AutoShape 11" descr="沙滩"/>
              <p:cNvSpPr>
                <a:spLocks noChangeArrowheads="1"/>
              </p:cNvSpPr>
              <p:nvPr/>
            </p:nvSpPr>
            <p:spPr bwMode="auto">
              <a:xfrm>
                <a:off x="4176" y="1104"/>
                <a:ext cx="1056" cy="864"/>
              </a:xfrm>
              <a:prstGeom prst="rtTriangl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AutoShape 12" descr="沙滩"/>
              <p:cNvSpPr>
                <a:spLocks noChangeArrowheads="1"/>
              </p:cNvSpPr>
              <p:nvPr/>
            </p:nvSpPr>
            <p:spPr bwMode="auto">
              <a:xfrm rot="-5400000">
                <a:off x="2952" y="1080"/>
                <a:ext cx="864" cy="912"/>
              </a:xfrm>
              <a:prstGeom prst="rtTriangl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Group 13"/>
            <p:cNvGrpSpPr>
              <a:grpSpLocks/>
            </p:cNvGrpSpPr>
            <p:nvPr/>
          </p:nvGrpSpPr>
          <p:grpSpPr bwMode="auto">
            <a:xfrm>
              <a:off x="3588" y="1046"/>
              <a:ext cx="768" cy="864"/>
              <a:chOff x="3648" y="1104"/>
              <a:chExt cx="768" cy="864"/>
            </a:xfrm>
          </p:grpSpPr>
          <p:sp>
            <p:nvSpPr>
              <p:cNvPr id="111" name="Rectangle 14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36" cy="864"/>
              </a:xfrm>
              <a:prstGeom prst="rect">
                <a:avLst/>
              </a:pr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AutoShape 15"/>
              <p:cNvSpPr>
                <a:spLocks noChangeArrowheads="1"/>
              </p:cNvSpPr>
              <p:nvPr/>
            </p:nvSpPr>
            <p:spPr bwMode="auto">
              <a:xfrm rot="-5400000">
                <a:off x="3312" y="1440"/>
                <a:ext cx="864" cy="192"/>
              </a:xfrm>
              <a:prstGeom prst="rtTriangle">
                <a:avLst/>
              </a:pr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AutoShape 16"/>
              <p:cNvSpPr>
                <a:spLocks noChangeArrowheads="1"/>
              </p:cNvSpPr>
              <p:nvPr/>
            </p:nvSpPr>
            <p:spPr bwMode="auto">
              <a:xfrm>
                <a:off x="4176" y="1104"/>
                <a:ext cx="240" cy="864"/>
              </a:xfrm>
              <a:prstGeom prst="rtTriangle">
                <a:avLst/>
              </a:pr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" name="Freeform 17"/>
            <p:cNvSpPr>
              <a:spLocks/>
            </p:cNvSpPr>
            <p:nvPr/>
          </p:nvSpPr>
          <p:spPr bwMode="auto">
            <a:xfrm>
              <a:off x="3643" y="1182"/>
              <a:ext cx="1420" cy="640"/>
            </a:xfrm>
            <a:custGeom>
              <a:avLst/>
              <a:gdLst>
                <a:gd name="T0" fmla="*/ 0 w 1420"/>
                <a:gd name="T1" fmla="*/ 0 h 640"/>
                <a:gd name="T2" fmla="*/ 166 w 1420"/>
                <a:gd name="T3" fmla="*/ 250 h 640"/>
                <a:gd name="T4" fmla="*/ 512 w 1420"/>
                <a:gd name="T5" fmla="*/ 487 h 640"/>
                <a:gd name="T6" fmla="*/ 921 w 1420"/>
                <a:gd name="T7" fmla="*/ 608 h 640"/>
                <a:gd name="T8" fmla="*/ 1420 w 1420"/>
                <a:gd name="T9" fmla="*/ 640 h 6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0"/>
                <a:gd name="T16" fmla="*/ 0 h 640"/>
                <a:gd name="T17" fmla="*/ 1420 w 1420"/>
                <a:gd name="T18" fmla="*/ 640 h 6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0" h="640">
                  <a:moveTo>
                    <a:pt x="0" y="0"/>
                  </a:moveTo>
                  <a:cubicBezTo>
                    <a:pt x="40" y="84"/>
                    <a:pt x="81" y="169"/>
                    <a:pt x="166" y="250"/>
                  </a:cubicBezTo>
                  <a:cubicBezTo>
                    <a:pt x="251" y="331"/>
                    <a:pt x="386" y="427"/>
                    <a:pt x="512" y="487"/>
                  </a:cubicBezTo>
                  <a:cubicBezTo>
                    <a:pt x="638" y="547"/>
                    <a:pt x="770" y="583"/>
                    <a:pt x="921" y="608"/>
                  </a:cubicBezTo>
                  <a:cubicBezTo>
                    <a:pt x="1072" y="633"/>
                    <a:pt x="1246" y="636"/>
                    <a:pt x="1420" y="640"/>
                  </a:cubicBezTo>
                </a:path>
              </a:pathLst>
            </a:custGeom>
            <a:noFill/>
            <a:ln w="28575" cmpd="sng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18"/>
            <p:cNvGrpSpPr>
              <a:grpSpLocks/>
            </p:cNvGrpSpPr>
            <p:nvPr/>
          </p:nvGrpSpPr>
          <p:grpSpPr bwMode="auto">
            <a:xfrm>
              <a:off x="2772" y="1910"/>
              <a:ext cx="2494" cy="96"/>
              <a:chOff x="884" y="2807"/>
              <a:chExt cx="2722" cy="83"/>
            </a:xfrm>
          </p:grpSpPr>
          <p:grpSp>
            <p:nvGrpSpPr>
              <p:cNvPr id="32" name="Group 19"/>
              <p:cNvGrpSpPr>
                <a:grpSpLocks/>
              </p:cNvGrpSpPr>
              <p:nvPr/>
            </p:nvGrpSpPr>
            <p:grpSpPr bwMode="auto">
              <a:xfrm>
                <a:off x="2227" y="2807"/>
                <a:ext cx="481" cy="83"/>
                <a:chOff x="2644" y="2807"/>
                <a:chExt cx="481" cy="83"/>
              </a:xfrm>
            </p:grpSpPr>
            <p:sp>
              <p:nvSpPr>
                <p:cNvPr id="99" name="Freeform 20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Freeform 21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22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2" name="Freeform 23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24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4" name="Freeform 25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26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27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7" name="Freeform 28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29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30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31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Group 32"/>
              <p:cNvGrpSpPr>
                <a:grpSpLocks/>
              </p:cNvGrpSpPr>
              <p:nvPr/>
            </p:nvGrpSpPr>
            <p:grpSpPr bwMode="auto">
              <a:xfrm>
                <a:off x="1779" y="2807"/>
                <a:ext cx="481" cy="83"/>
                <a:chOff x="2644" y="2807"/>
                <a:chExt cx="481" cy="83"/>
              </a:xfrm>
            </p:grpSpPr>
            <p:sp>
              <p:nvSpPr>
                <p:cNvPr id="87" name="Freeform 33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" name="Freeform 34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" name="Freeform 35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Freeform 36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Freeform 37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38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" name="Freeform 39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40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41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42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43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44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" name="Group 45"/>
              <p:cNvGrpSpPr>
                <a:grpSpLocks/>
              </p:cNvGrpSpPr>
              <p:nvPr/>
            </p:nvGrpSpPr>
            <p:grpSpPr bwMode="auto">
              <a:xfrm>
                <a:off x="1332" y="2807"/>
                <a:ext cx="481" cy="83"/>
                <a:chOff x="2644" y="2807"/>
                <a:chExt cx="481" cy="83"/>
              </a:xfrm>
            </p:grpSpPr>
            <p:sp>
              <p:nvSpPr>
                <p:cNvPr id="75" name="Freeform 46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47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7" name="Freeform 48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" name="Freeform 49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" name="Freeform 50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0" name="Freeform 51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1" name="Freeform 52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53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54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Freeform 55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56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" name="Freeform 57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Group 58"/>
              <p:cNvGrpSpPr>
                <a:grpSpLocks/>
              </p:cNvGrpSpPr>
              <p:nvPr/>
            </p:nvGrpSpPr>
            <p:grpSpPr bwMode="auto">
              <a:xfrm>
                <a:off x="884" y="2807"/>
                <a:ext cx="481" cy="83"/>
                <a:chOff x="2644" y="2807"/>
                <a:chExt cx="481" cy="83"/>
              </a:xfrm>
            </p:grpSpPr>
            <p:sp>
              <p:nvSpPr>
                <p:cNvPr id="63" name="Freeform 59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60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61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62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63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64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65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" name="Freeform 66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67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68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" name="Freeform 69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70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Group 71"/>
              <p:cNvGrpSpPr>
                <a:grpSpLocks/>
              </p:cNvGrpSpPr>
              <p:nvPr/>
            </p:nvGrpSpPr>
            <p:grpSpPr bwMode="auto">
              <a:xfrm>
                <a:off x="3123" y="2807"/>
                <a:ext cx="481" cy="83"/>
                <a:chOff x="2644" y="2807"/>
                <a:chExt cx="481" cy="83"/>
              </a:xfrm>
            </p:grpSpPr>
            <p:sp>
              <p:nvSpPr>
                <p:cNvPr id="51" name="Freeform 72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73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74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75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76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Freeform 77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78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Freeform 79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80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81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82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3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Group 84"/>
              <p:cNvGrpSpPr>
                <a:grpSpLocks/>
              </p:cNvGrpSpPr>
              <p:nvPr/>
            </p:nvGrpSpPr>
            <p:grpSpPr bwMode="auto">
              <a:xfrm>
                <a:off x="2675" y="2807"/>
                <a:ext cx="481" cy="83"/>
                <a:chOff x="2644" y="2807"/>
                <a:chExt cx="481" cy="83"/>
              </a:xfrm>
            </p:grpSpPr>
            <p:sp>
              <p:nvSpPr>
                <p:cNvPr id="39" name="Freeform 85"/>
                <p:cNvSpPr>
                  <a:spLocks/>
                </p:cNvSpPr>
                <p:nvPr/>
              </p:nvSpPr>
              <p:spPr bwMode="auto">
                <a:xfrm>
                  <a:off x="2644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86"/>
                <p:cNvSpPr>
                  <a:spLocks/>
                </p:cNvSpPr>
                <p:nvPr/>
              </p:nvSpPr>
              <p:spPr bwMode="auto">
                <a:xfrm>
                  <a:off x="2729" y="2810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87"/>
                <p:cNvSpPr>
                  <a:spLocks/>
                </p:cNvSpPr>
                <p:nvPr/>
              </p:nvSpPr>
              <p:spPr bwMode="auto">
                <a:xfrm>
                  <a:off x="2693" y="2807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Freeform 88"/>
                <p:cNvSpPr>
                  <a:spLocks/>
                </p:cNvSpPr>
                <p:nvPr/>
              </p:nvSpPr>
              <p:spPr bwMode="auto">
                <a:xfrm>
                  <a:off x="2792" y="2837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89"/>
                <p:cNvSpPr>
                  <a:spLocks/>
                </p:cNvSpPr>
                <p:nvPr/>
              </p:nvSpPr>
              <p:spPr bwMode="auto">
                <a:xfrm>
                  <a:off x="2759" y="2859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90"/>
                <p:cNvSpPr>
                  <a:spLocks/>
                </p:cNvSpPr>
                <p:nvPr/>
              </p:nvSpPr>
              <p:spPr bwMode="auto">
                <a:xfrm>
                  <a:off x="2829" y="2813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Freeform 91"/>
                <p:cNvSpPr>
                  <a:spLocks/>
                </p:cNvSpPr>
                <p:nvPr/>
              </p:nvSpPr>
              <p:spPr bwMode="auto">
                <a:xfrm>
                  <a:off x="2868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92"/>
                <p:cNvSpPr>
                  <a:spLocks/>
                </p:cNvSpPr>
                <p:nvPr/>
              </p:nvSpPr>
              <p:spPr bwMode="auto">
                <a:xfrm>
                  <a:off x="2953" y="2811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Freeform 93"/>
                <p:cNvSpPr>
                  <a:spLocks/>
                </p:cNvSpPr>
                <p:nvPr/>
              </p:nvSpPr>
              <p:spPr bwMode="auto">
                <a:xfrm>
                  <a:off x="2917" y="2808"/>
                  <a:ext cx="97" cy="73"/>
                </a:xfrm>
                <a:custGeom>
                  <a:avLst/>
                  <a:gdLst>
                    <a:gd name="T0" fmla="*/ 97 w 97"/>
                    <a:gd name="T1" fmla="*/ 0 h 73"/>
                    <a:gd name="T2" fmla="*/ 0 w 97"/>
                    <a:gd name="T3" fmla="*/ 73 h 73"/>
                    <a:gd name="T4" fmla="*/ 0 60000 65536"/>
                    <a:gd name="T5" fmla="*/ 0 60000 65536"/>
                    <a:gd name="T6" fmla="*/ 0 w 97"/>
                    <a:gd name="T7" fmla="*/ 0 h 73"/>
                    <a:gd name="T8" fmla="*/ 97 w 97"/>
                    <a:gd name="T9" fmla="*/ 73 h 73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97" h="73">
                      <a:moveTo>
                        <a:pt x="97" y="0"/>
                      </a:moveTo>
                      <a:lnTo>
                        <a:pt x="0" y="73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94"/>
                <p:cNvSpPr>
                  <a:spLocks/>
                </p:cNvSpPr>
                <p:nvPr/>
              </p:nvSpPr>
              <p:spPr bwMode="auto">
                <a:xfrm>
                  <a:off x="3016" y="2838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95"/>
                <p:cNvSpPr>
                  <a:spLocks/>
                </p:cNvSpPr>
                <p:nvPr/>
              </p:nvSpPr>
              <p:spPr bwMode="auto">
                <a:xfrm>
                  <a:off x="2983" y="2860"/>
                  <a:ext cx="54" cy="30"/>
                </a:xfrm>
                <a:custGeom>
                  <a:avLst/>
                  <a:gdLst>
                    <a:gd name="T0" fmla="*/ 0 w 54"/>
                    <a:gd name="T1" fmla="*/ 0 h 30"/>
                    <a:gd name="T2" fmla="*/ 54 w 54"/>
                    <a:gd name="T3" fmla="*/ 30 h 30"/>
                    <a:gd name="T4" fmla="*/ 0 60000 65536"/>
                    <a:gd name="T5" fmla="*/ 0 60000 65536"/>
                    <a:gd name="T6" fmla="*/ 0 w 54"/>
                    <a:gd name="T7" fmla="*/ 0 h 30"/>
                    <a:gd name="T8" fmla="*/ 54 w 54"/>
                    <a:gd name="T9" fmla="*/ 30 h 3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4" h="30">
                      <a:moveTo>
                        <a:pt x="0" y="0"/>
                      </a:moveTo>
                      <a:lnTo>
                        <a:pt x="54" y="3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96"/>
                <p:cNvSpPr>
                  <a:spLocks/>
                </p:cNvSpPr>
                <p:nvPr/>
              </p:nvSpPr>
              <p:spPr bwMode="auto">
                <a:xfrm>
                  <a:off x="3053" y="2814"/>
                  <a:ext cx="72" cy="40"/>
                </a:xfrm>
                <a:custGeom>
                  <a:avLst/>
                  <a:gdLst>
                    <a:gd name="T0" fmla="*/ 0 w 72"/>
                    <a:gd name="T1" fmla="*/ 0 h 40"/>
                    <a:gd name="T2" fmla="*/ 72 w 72"/>
                    <a:gd name="T3" fmla="*/ 40 h 40"/>
                    <a:gd name="T4" fmla="*/ 0 60000 65536"/>
                    <a:gd name="T5" fmla="*/ 0 60000 65536"/>
                    <a:gd name="T6" fmla="*/ 0 w 72"/>
                    <a:gd name="T7" fmla="*/ 0 h 40"/>
                    <a:gd name="T8" fmla="*/ 72 w 72"/>
                    <a:gd name="T9" fmla="*/ 40 h 40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72" h="40">
                      <a:moveTo>
                        <a:pt x="0" y="0"/>
                      </a:moveTo>
                      <a:lnTo>
                        <a:pt x="72" y="4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Line 97"/>
              <p:cNvSpPr>
                <a:spLocks noChangeShapeType="1"/>
              </p:cNvSpPr>
              <p:nvPr/>
            </p:nvSpPr>
            <p:spPr bwMode="auto">
              <a:xfrm>
                <a:off x="884" y="2807"/>
                <a:ext cx="272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" name="Line 98"/>
            <p:cNvSpPr>
              <a:spLocks noChangeShapeType="1"/>
            </p:cNvSpPr>
            <p:nvPr/>
          </p:nvSpPr>
          <p:spPr bwMode="auto">
            <a:xfrm>
              <a:off x="2772" y="1910"/>
              <a:ext cx="2745" cy="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99"/>
            <p:cNvSpPr>
              <a:spLocks noChangeShapeType="1"/>
            </p:cNvSpPr>
            <p:nvPr/>
          </p:nvSpPr>
          <p:spPr bwMode="auto">
            <a:xfrm>
              <a:off x="3780" y="1046"/>
              <a:ext cx="33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00"/>
            <p:cNvSpPr>
              <a:spLocks/>
            </p:cNvSpPr>
            <p:nvPr/>
          </p:nvSpPr>
          <p:spPr bwMode="auto">
            <a:xfrm>
              <a:off x="3894" y="1388"/>
              <a:ext cx="341" cy="187"/>
            </a:xfrm>
            <a:custGeom>
              <a:avLst/>
              <a:gdLst>
                <a:gd name="T0" fmla="*/ 0 w 341"/>
                <a:gd name="T1" fmla="*/ 0 h 187"/>
                <a:gd name="T2" fmla="*/ 129 w 341"/>
                <a:gd name="T3" fmla="*/ 91 h 187"/>
                <a:gd name="T4" fmla="*/ 232 w 341"/>
                <a:gd name="T5" fmla="*/ 136 h 187"/>
                <a:gd name="T6" fmla="*/ 341 w 341"/>
                <a:gd name="T7" fmla="*/ 187 h 1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1"/>
                <a:gd name="T13" fmla="*/ 0 h 187"/>
                <a:gd name="T14" fmla="*/ 341 w 341"/>
                <a:gd name="T15" fmla="*/ 187 h 1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1" h="187">
                  <a:moveTo>
                    <a:pt x="0" y="0"/>
                  </a:moveTo>
                  <a:cubicBezTo>
                    <a:pt x="22" y="15"/>
                    <a:pt x="90" y="68"/>
                    <a:pt x="129" y="91"/>
                  </a:cubicBezTo>
                  <a:cubicBezTo>
                    <a:pt x="168" y="114"/>
                    <a:pt x="197" y="120"/>
                    <a:pt x="232" y="136"/>
                  </a:cubicBezTo>
                  <a:cubicBezTo>
                    <a:pt x="267" y="152"/>
                    <a:pt x="318" y="177"/>
                    <a:pt x="341" y="187"/>
                  </a:cubicBezTo>
                </a:path>
              </a:pathLst>
            </a:custGeom>
            <a:noFill/>
            <a:ln w="38100" cmpd="sng">
              <a:solidFill>
                <a:srgbClr val="A5002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101"/>
            <p:cNvGrpSpPr>
              <a:grpSpLocks/>
            </p:cNvGrpSpPr>
            <p:nvPr/>
          </p:nvGrpSpPr>
          <p:grpSpPr bwMode="auto">
            <a:xfrm>
              <a:off x="4236" y="1075"/>
              <a:ext cx="1101" cy="142"/>
              <a:chOff x="4236" y="1075"/>
              <a:chExt cx="1101" cy="142"/>
            </a:xfrm>
          </p:grpSpPr>
          <p:sp>
            <p:nvSpPr>
              <p:cNvPr id="26" name="Line 102"/>
              <p:cNvSpPr>
                <a:spLocks noChangeShapeType="1"/>
              </p:cNvSpPr>
              <p:nvPr/>
            </p:nvSpPr>
            <p:spPr bwMode="auto">
              <a:xfrm>
                <a:off x="4236" y="1137"/>
                <a:ext cx="110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AutoShape 103"/>
              <p:cNvSpPr>
                <a:spLocks noChangeArrowheads="1"/>
              </p:cNvSpPr>
              <p:nvPr/>
            </p:nvSpPr>
            <p:spPr bwMode="auto">
              <a:xfrm flipV="1">
                <a:off x="4951" y="1075"/>
                <a:ext cx="65" cy="56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104"/>
              <p:cNvSpPr>
                <a:spLocks noChangeShapeType="1"/>
              </p:cNvSpPr>
              <p:nvPr/>
            </p:nvSpPr>
            <p:spPr bwMode="auto">
              <a:xfrm>
                <a:off x="4896" y="1162"/>
                <a:ext cx="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105"/>
              <p:cNvSpPr>
                <a:spLocks noChangeShapeType="1"/>
              </p:cNvSpPr>
              <p:nvPr/>
            </p:nvSpPr>
            <p:spPr bwMode="auto">
              <a:xfrm>
                <a:off x="5012" y="1164"/>
                <a:ext cx="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106"/>
              <p:cNvSpPr>
                <a:spLocks noChangeShapeType="1"/>
              </p:cNvSpPr>
              <p:nvPr/>
            </p:nvSpPr>
            <p:spPr bwMode="auto">
              <a:xfrm>
                <a:off x="4941" y="1190"/>
                <a:ext cx="1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107"/>
              <p:cNvSpPr>
                <a:spLocks noChangeShapeType="1"/>
              </p:cNvSpPr>
              <p:nvPr/>
            </p:nvSpPr>
            <p:spPr bwMode="auto">
              <a:xfrm>
                <a:off x="4985" y="1217"/>
                <a:ext cx="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108"/>
            <p:cNvSpPr>
              <a:spLocks noChangeShapeType="1"/>
            </p:cNvSpPr>
            <p:nvPr/>
          </p:nvSpPr>
          <p:spPr bwMode="auto">
            <a:xfrm>
              <a:off x="4827" y="1620"/>
              <a:ext cx="6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AutoShape 109"/>
            <p:cNvSpPr>
              <a:spLocks noChangeArrowheads="1"/>
            </p:cNvSpPr>
            <p:nvPr/>
          </p:nvSpPr>
          <p:spPr bwMode="auto">
            <a:xfrm flipV="1">
              <a:off x="5237" y="1561"/>
              <a:ext cx="65" cy="5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10"/>
            <p:cNvSpPr>
              <a:spLocks noChangeShapeType="1"/>
            </p:cNvSpPr>
            <p:nvPr/>
          </p:nvSpPr>
          <p:spPr bwMode="auto">
            <a:xfrm>
              <a:off x="5182" y="1648"/>
              <a:ext cx="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11"/>
            <p:cNvSpPr>
              <a:spLocks noChangeShapeType="1"/>
            </p:cNvSpPr>
            <p:nvPr/>
          </p:nvSpPr>
          <p:spPr bwMode="auto">
            <a:xfrm>
              <a:off x="5298" y="1650"/>
              <a:ext cx="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12"/>
            <p:cNvSpPr>
              <a:spLocks noChangeShapeType="1"/>
            </p:cNvSpPr>
            <p:nvPr/>
          </p:nvSpPr>
          <p:spPr bwMode="auto">
            <a:xfrm>
              <a:off x="5227" y="1676"/>
              <a:ext cx="1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13"/>
            <p:cNvSpPr>
              <a:spLocks noChangeShapeType="1"/>
            </p:cNvSpPr>
            <p:nvPr/>
          </p:nvSpPr>
          <p:spPr bwMode="auto">
            <a:xfrm>
              <a:off x="5271" y="1703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14"/>
            <p:cNvSpPr>
              <a:spLocks noChangeShapeType="1"/>
            </p:cNvSpPr>
            <p:nvPr/>
          </p:nvSpPr>
          <p:spPr bwMode="auto">
            <a:xfrm>
              <a:off x="4828" y="1248"/>
              <a:ext cx="0" cy="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6" name="Group 120"/>
          <p:cNvGrpSpPr>
            <a:grpSpLocks/>
          </p:cNvGrpSpPr>
          <p:nvPr/>
        </p:nvGrpSpPr>
        <p:grpSpPr bwMode="auto">
          <a:xfrm>
            <a:off x="392113" y="1332140"/>
            <a:ext cx="3856037" cy="2193925"/>
            <a:chOff x="247" y="920"/>
            <a:chExt cx="2429" cy="1382"/>
          </a:xfrm>
        </p:grpSpPr>
        <p:sp>
          <p:nvSpPr>
            <p:cNvPr id="117" name="Freeform 121"/>
            <p:cNvSpPr>
              <a:spLocks/>
            </p:cNvSpPr>
            <p:nvPr/>
          </p:nvSpPr>
          <p:spPr bwMode="auto">
            <a:xfrm>
              <a:off x="883" y="1062"/>
              <a:ext cx="705" cy="135"/>
            </a:xfrm>
            <a:custGeom>
              <a:avLst/>
              <a:gdLst>
                <a:gd name="T0" fmla="*/ 0 w 647"/>
                <a:gd name="T1" fmla="*/ 109 h 109"/>
                <a:gd name="T2" fmla="*/ 109 w 647"/>
                <a:gd name="T3" fmla="*/ 0 h 109"/>
                <a:gd name="T4" fmla="*/ 544 w 647"/>
                <a:gd name="T5" fmla="*/ 0 h 109"/>
                <a:gd name="T6" fmla="*/ 647 w 647"/>
                <a:gd name="T7" fmla="*/ 103 h 109"/>
                <a:gd name="T8" fmla="*/ 0 w 647"/>
                <a:gd name="T9" fmla="*/ 109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7"/>
                <a:gd name="T16" fmla="*/ 0 h 109"/>
                <a:gd name="T17" fmla="*/ 647 w 647"/>
                <a:gd name="T18" fmla="*/ 109 h 1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7" h="109">
                  <a:moveTo>
                    <a:pt x="0" y="109"/>
                  </a:moveTo>
                  <a:lnTo>
                    <a:pt x="109" y="0"/>
                  </a:lnTo>
                  <a:lnTo>
                    <a:pt x="544" y="0"/>
                  </a:lnTo>
                  <a:lnTo>
                    <a:pt x="647" y="103"/>
                  </a:lnTo>
                  <a:lnTo>
                    <a:pt x="0" y="109"/>
                  </a:lnTo>
                  <a:close/>
                </a:path>
              </a:pathLst>
            </a:custGeom>
            <a:solidFill>
              <a:srgbClr val="CC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Text Box 122"/>
            <p:cNvSpPr txBox="1">
              <a:spLocks noChangeArrowheads="1"/>
            </p:cNvSpPr>
            <p:nvPr/>
          </p:nvSpPr>
          <p:spPr bwMode="auto">
            <a:xfrm>
              <a:off x="316" y="2014"/>
              <a:ext cx="23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itchFamily="2" charset="2"/>
                <a:buNone/>
              </a:pP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在</a:t>
              </a:r>
              <a:r>
                <a:rPr kumimoji="1"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1</a:t>
              </a: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层固结后，施工</a:t>
              </a:r>
              <a:r>
                <a:rPr kumimoji="1"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2</a:t>
              </a: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层</a:t>
              </a:r>
            </a:p>
          </p:txBody>
        </p:sp>
        <p:sp>
          <p:nvSpPr>
            <p:cNvPr id="119" name="Rectangle 123"/>
            <p:cNvSpPr>
              <a:spLocks noChangeArrowheads="1"/>
            </p:cNvSpPr>
            <p:nvPr/>
          </p:nvSpPr>
          <p:spPr bwMode="auto">
            <a:xfrm>
              <a:off x="247" y="1392"/>
              <a:ext cx="2352" cy="576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AutoShape 124"/>
            <p:cNvSpPr>
              <a:spLocks noChangeArrowheads="1"/>
            </p:cNvSpPr>
            <p:nvPr/>
          </p:nvSpPr>
          <p:spPr bwMode="auto">
            <a:xfrm rot="10800000">
              <a:off x="563" y="1169"/>
              <a:ext cx="1345" cy="233"/>
            </a:xfrm>
            <a:custGeom>
              <a:avLst/>
              <a:gdLst>
                <a:gd name="T0" fmla="*/ 1177 w 21600"/>
                <a:gd name="T1" fmla="*/ 117 h 21600"/>
                <a:gd name="T2" fmla="*/ 673 w 21600"/>
                <a:gd name="T3" fmla="*/ 233 h 21600"/>
                <a:gd name="T4" fmla="*/ 168 w 21600"/>
                <a:gd name="T5" fmla="*/ 117 h 21600"/>
                <a:gd name="T6" fmla="*/ 67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7 w 21600"/>
                <a:gd name="T13" fmla="*/ 4542 h 21600"/>
                <a:gd name="T14" fmla="*/ 17103 w 21600"/>
                <a:gd name="T15" fmla="*/ 1705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9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Freeform 125"/>
            <p:cNvSpPr>
              <a:spLocks/>
            </p:cNvSpPr>
            <p:nvPr/>
          </p:nvSpPr>
          <p:spPr bwMode="auto">
            <a:xfrm>
              <a:off x="871" y="1186"/>
              <a:ext cx="1200" cy="560"/>
            </a:xfrm>
            <a:custGeom>
              <a:avLst/>
              <a:gdLst>
                <a:gd name="T0" fmla="*/ 0 w 1200"/>
                <a:gd name="T1" fmla="*/ 0 h 560"/>
                <a:gd name="T2" fmla="*/ 94 w 1200"/>
                <a:gd name="T3" fmla="*/ 181 h 560"/>
                <a:gd name="T4" fmla="*/ 262 w 1200"/>
                <a:gd name="T5" fmla="*/ 407 h 560"/>
                <a:gd name="T6" fmla="*/ 444 w 1200"/>
                <a:gd name="T7" fmla="*/ 524 h 560"/>
                <a:gd name="T8" fmla="*/ 685 w 1200"/>
                <a:gd name="T9" fmla="*/ 556 h 560"/>
                <a:gd name="T10" fmla="*/ 903 w 1200"/>
                <a:gd name="T11" fmla="*/ 502 h 560"/>
                <a:gd name="T12" fmla="*/ 1098 w 1200"/>
                <a:gd name="T13" fmla="*/ 345 h 560"/>
                <a:gd name="T14" fmla="*/ 1200 w 1200"/>
                <a:gd name="T15" fmla="*/ 211 h 5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00"/>
                <a:gd name="T25" fmla="*/ 0 h 560"/>
                <a:gd name="T26" fmla="*/ 1200 w 1200"/>
                <a:gd name="T27" fmla="*/ 560 h 5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00" h="560">
                  <a:moveTo>
                    <a:pt x="0" y="0"/>
                  </a:moveTo>
                  <a:cubicBezTo>
                    <a:pt x="16" y="31"/>
                    <a:pt x="50" y="113"/>
                    <a:pt x="94" y="181"/>
                  </a:cubicBezTo>
                  <a:cubicBezTo>
                    <a:pt x="138" y="249"/>
                    <a:pt x="204" y="350"/>
                    <a:pt x="262" y="407"/>
                  </a:cubicBezTo>
                  <a:cubicBezTo>
                    <a:pt x="320" y="464"/>
                    <a:pt x="373" y="499"/>
                    <a:pt x="444" y="524"/>
                  </a:cubicBezTo>
                  <a:cubicBezTo>
                    <a:pt x="515" y="549"/>
                    <a:pt x="609" y="560"/>
                    <a:pt x="685" y="556"/>
                  </a:cubicBezTo>
                  <a:cubicBezTo>
                    <a:pt x="761" y="552"/>
                    <a:pt x="834" y="537"/>
                    <a:pt x="903" y="502"/>
                  </a:cubicBezTo>
                  <a:cubicBezTo>
                    <a:pt x="972" y="467"/>
                    <a:pt x="1049" y="393"/>
                    <a:pt x="1098" y="345"/>
                  </a:cubicBezTo>
                  <a:cubicBezTo>
                    <a:pt x="1147" y="297"/>
                    <a:pt x="1179" y="239"/>
                    <a:pt x="1200" y="211"/>
                  </a:cubicBezTo>
                </a:path>
              </a:pathLst>
            </a:custGeom>
            <a:noFill/>
            <a:ln w="28575" cmpd="sng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126"/>
            <p:cNvSpPr>
              <a:spLocks/>
            </p:cNvSpPr>
            <p:nvPr/>
          </p:nvSpPr>
          <p:spPr bwMode="auto">
            <a:xfrm>
              <a:off x="1374" y="1573"/>
              <a:ext cx="348" cy="55"/>
            </a:xfrm>
            <a:custGeom>
              <a:avLst/>
              <a:gdLst>
                <a:gd name="T0" fmla="*/ 0 w 348"/>
                <a:gd name="T1" fmla="*/ 32 h 55"/>
                <a:gd name="T2" fmla="*/ 144 w 348"/>
                <a:gd name="T3" fmla="*/ 54 h 55"/>
                <a:gd name="T4" fmla="*/ 259 w 348"/>
                <a:gd name="T5" fmla="*/ 41 h 55"/>
                <a:gd name="T6" fmla="*/ 348 w 34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8"/>
                <a:gd name="T13" fmla="*/ 0 h 55"/>
                <a:gd name="T14" fmla="*/ 348 w 34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8" h="55">
                  <a:moveTo>
                    <a:pt x="0" y="32"/>
                  </a:moveTo>
                  <a:cubicBezTo>
                    <a:pt x="24" y="36"/>
                    <a:pt x="101" y="53"/>
                    <a:pt x="144" y="54"/>
                  </a:cubicBezTo>
                  <a:cubicBezTo>
                    <a:pt x="187" y="55"/>
                    <a:pt x="225" y="50"/>
                    <a:pt x="259" y="41"/>
                  </a:cubicBezTo>
                  <a:cubicBezTo>
                    <a:pt x="293" y="32"/>
                    <a:pt x="322" y="16"/>
                    <a:pt x="348" y="0"/>
                  </a:cubicBezTo>
                </a:path>
              </a:pathLst>
            </a:custGeom>
            <a:noFill/>
            <a:ln w="38100" cmpd="sng">
              <a:solidFill>
                <a:srgbClr val="A5002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Text Box 127"/>
            <p:cNvSpPr txBox="1">
              <a:spLocks noChangeArrowheads="1"/>
            </p:cNvSpPr>
            <p:nvPr/>
          </p:nvSpPr>
          <p:spPr bwMode="auto">
            <a:xfrm>
              <a:off x="1066" y="114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chemeClr val="bg1"/>
                  </a:solidFill>
                  <a:ea typeface="幼圆" pitchFamily="49" charset="-122"/>
                </a:rPr>
                <a:t>1</a:t>
              </a:r>
            </a:p>
          </p:txBody>
        </p:sp>
        <p:sp>
          <p:nvSpPr>
            <p:cNvPr id="124" name="Text Box 128"/>
            <p:cNvSpPr txBox="1">
              <a:spLocks noChangeArrowheads="1"/>
            </p:cNvSpPr>
            <p:nvPr/>
          </p:nvSpPr>
          <p:spPr bwMode="auto">
            <a:xfrm>
              <a:off x="1073" y="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ea typeface="幼圆" pitchFamily="49" charset="-122"/>
                </a:rPr>
                <a:t>2</a:t>
              </a:r>
            </a:p>
          </p:txBody>
        </p:sp>
      </p:grpSp>
      <p:sp>
        <p:nvSpPr>
          <p:cNvPr id="125" name="Text Box 130"/>
          <p:cNvSpPr txBox="1">
            <a:spLocks noChangeArrowheads="1"/>
          </p:cNvSpPr>
          <p:nvPr/>
        </p:nvSpPr>
        <p:spPr bwMode="auto">
          <a:xfrm>
            <a:off x="1354138" y="3927703"/>
            <a:ext cx="6978650" cy="1357312"/>
          </a:xfrm>
          <a:prstGeom prst="rect">
            <a:avLst/>
          </a:prstGeom>
          <a:solidFill>
            <a:srgbClr val="CCCCFF"/>
          </a:solidFill>
          <a:ln w="19050">
            <a:solidFill>
              <a:srgbClr val="A50021"/>
            </a:solidFill>
            <a:miter lim="800000"/>
            <a:headEnd/>
            <a:tailEnd/>
          </a:ln>
        </p:spPr>
        <p:txBody>
          <a:bodyPr lIns="82287" tIns="41143" rIns="82287" bIns="41143">
            <a:spAutoFit/>
          </a:bodyPr>
          <a:lstStyle>
            <a:lvl1pPr marL="355600" indent="-355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0"/>
              </a:spcAft>
              <a:buClr>
                <a:srgbClr val="A50021"/>
              </a:buClr>
              <a:buSzPct val="145000"/>
              <a:buFontTx/>
              <a:buChar char="•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用于黏土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先在某种应力下固结，然后再快速加载</a:t>
            </a:r>
          </a:p>
          <a:p>
            <a:pPr eaLnBrk="1" hangingPunct="1">
              <a:lnSpc>
                <a:spcPct val="120000"/>
              </a:lnSpc>
              <a:spcAft>
                <a:spcPct val="0"/>
              </a:spcAft>
              <a:buClr>
                <a:srgbClr val="A50021"/>
              </a:buClr>
              <a:buSzPct val="145000"/>
              <a:buFontTx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也用于土体既非完全不排水，又非完全排水，而处于两者之间时的情况</a:t>
            </a:r>
          </a:p>
        </p:txBody>
      </p:sp>
      <p:sp>
        <p:nvSpPr>
          <p:cNvPr id="126" name="Rectangle 3"/>
          <p:cNvSpPr>
            <a:spLocks noChangeArrowheads="1"/>
          </p:cNvSpPr>
          <p:nvPr/>
        </p:nvSpPr>
        <p:spPr bwMode="auto">
          <a:xfrm>
            <a:off x="511175" y="659669"/>
            <a:ext cx="8264525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10000"/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固结不</a:t>
            </a: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排水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剪或固结快剪   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cu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cu 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800" b="1" dirty="0" err="1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 err="1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cq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 err="1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cq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62494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58098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工程应用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Text Box 121"/>
          <p:cNvSpPr txBox="1">
            <a:spLocks noChangeArrowheads="1"/>
          </p:cNvSpPr>
          <p:nvPr/>
        </p:nvSpPr>
        <p:spPr bwMode="auto">
          <a:xfrm>
            <a:off x="4893277" y="5184016"/>
            <a:ext cx="3847070" cy="421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黏土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</a:rPr>
              <a:t>地基上慢速施工的建筑物</a:t>
            </a:r>
          </a:p>
        </p:txBody>
      </p:sp>
      <p:grpSp>
        <p:nvGrpSpPr>
          <p:cNvPr id="9" name="Group 122"/>
          <p:cNvGrpSpPr>
            <a:grpSpLocks/>
          </p:cNvGrpSpPr>
          <p:nvPr/>
        </p:nvGrpSpPr>
        <p:grpSpPr bwMode="auto">
          <a:xfrm>
            <a:off x="649288" y="1498227"/>
            <a:ext cx="3360737" cy="1844201"/>
            <a:chOff x="259" y="946"/>
            <a:chExt cx="2352" cy="1290"/>
          </a:xfrm>
        </p:grpSpPr>
        <p:sp>
          <p:nvSpPr>
            <p:cNvPr id="10" name="Text Box 123"/>
            <p:cNvSpPr txBox="1">
              <a:spLocks noChangeArrowheads="1"/>
            </p:cNvSpPr>
            <p:nvPr/>
          </p:nvSpPr>
          <p:spPr bwMode="auto">
            <a:xfrm>
              <a:off x="370" y="1941"/>
              <a:ext cx="2124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itchFamily="2" charset="2"/>
                <a:buNone/>
              </a:pPr>
              <a:r>
                <a:rPr kumimoji="1" lang="zh-CN" altLang="en-US" sz="2200" b="1" dirty="0" smtClean="0">
                  <a:solidFill>
                    <a:srgbClr val="000066"/>
                  </a:solidFill>
                  <a:ea typeface="幼圆" pitchFamily="49" charset="-122"/>
                </a:rPr>
                <a:t>软黏土</a:t>
              </a: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地基</a:t>
              </a:r>
              <a:r>
                <a:rPr kumimoji="1" lang="zh-CN" altLang="en-US" sz="2200" b="1" dirty="0" smtClean="0">
                  <a:solidFill>
                    <a:srgbClr val="000066"/>
                  </a:solidFill>
                  <a:ea typeface="幼圆" pitchFamily="49" charset="-122"/>
                </a:rPr>
                <a:t>上慢速</a:t>
              </a: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填方</a:t>
              </a:r>
            </a:p>
          </p:txBody>
        </p:sp>
        <p:grpSp>
          <p:nvGrpSpPr>
            <p:cNvPr id="11" name="Group 124"/>
            <p:cNvGrpSpPr>
              <a:grpSpLocks/>
            </p:cNvGrpSpPr>
            <p:nvPr/>
          </p:nvGrpSpPr>
          <p:grpSpPr bwMode="auto">
            <a:xfrm>
              <a:off x="259" y="946"/>
              <a:ext cx="2352" cy="902"/>
              <a:chOff x="259" y="946"/>
              <a:chExt cx="2352" cy="902"/>
            </a:xfrm>
          </p:grpSpPr>
          <p:sp>
            <p:nvSpPr>
              <p:cNvPr id="12" name="Rectangle 125"/>
              <p:cNvSpPr>
                <a:spLocks noChangeArrowheads="1"/>
              </p:cNvSpPr>
              <p:nvPr/>
            </p:nvSpPr>
            <p:spPr bwMode="auto">
              <a:xfrm>
                <a:off x="259" y="1272"/>
                <a:ext cx="2352" cy="576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AutoShape 126"/>
              <p:cNvSpPr>
                <a:spLocks noChangeArrowheads="1"/>
              </p:cNvSpPr>
              <p:nvPr/>
            </p:nvSpPr>
            <p:spPr bwMode="auto">
              <a:xfrm rot="10800000">
                <a:off x="691" y="946"/>
                <a:ext cx="1152" cy="336"/>
              </a:xfrm>
              <a:custGeom>
                <a:avLst/>
                <a:gdLst>
                  <a:gd name="T0" fmla="*/ 1008 w 21600"/>
                  <a:gd name="T1" fmla="*/ 168 h 21600"/>
                  <a:gd name="T2" fmla="*/ 576 w 21600"/>
                  <a:gd name="T3" fmla="*/ 336 h 21600"/>
                  <a:gd name="T4" fmla="*/ 144 w 21600"/>
                  <a:gd name="T5" fmla="*/ 168 h 21600"/>
                  <a:gd name="T6" fmla="*/ 576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00 h 21600"/>
                  <a:gd name="T14" fmla="*/ 17100 w 21600"/>
                  <a:gd name="T15" fmla="*/ 171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Freeform 127"/>
              <p:cNvSpPr>
                <a:spLocks/>
              </p:cNvSpPr>
              <p:nvPr/>
            </p:nvSpPr>
            <p:spPr bwMode="auto">
              <a:xfrm>
                <a:off x="883" y="1066"/>
                <a:ext cx="1200" cy="560"/>
              </a:xfrm>
              <a:custGeom>
                <a:avLst/>
                <a:gdLst>
                  <a:gd name="T0" fmla="*/ 0 w 1200"/>
                  <a:gd name="T1" fmla="*/ 0 h 560"/>
                  <a:gd name="T2" fmla="*/ 94 w 1200"/>
                  <a:gd name="T3" fmla="*/ 181 h 560"/>
                  <a:gd name="T4" fmla="*/ 262 w 1200"/>
                  <a:gd name="T5" fmla="*/ 407 h 560"/>
                  <a:gd name="T6" fmla="*/ 444 w 1200"/>
                  <a:gd name="T7" fmla="*/ 524 h 560"/>
                  <a:gd name="T8" fmla="*/ 685 w 1200"/>
                  <a:gd name="T9" fmla="*/ 556 h 560"/>
                  <a:gd name="T10" fmla="*/ 903 w 1200"/>
                  <a:gd name="T11" fmla="*/ 502 h 560"/>
                  <a:gd name="T12" fmla="*/ 1098 w 1200"/>
                  <a:gd name="T13" fmla="*/ 345 h 560"/>
                  <a:gd name="T14" fmla="*/ 1200 w 1200"/>
                  <a:gd name="T15" fmla="*/ 211 h 5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00"/>
                  <a:gd name="T25" fmla="*/ 0 h 560"/>
                  <a:gd name="T26" fmla="*/ 1200 w 1200"/>
                  <a:gd name="T27" fmla="*/ 560 h 56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00" h="560">
                    <a:moveTo>
                      <a:pt x="0" y="0"/>
                    </a:moveTo>
                    <a:cubicBezTo>
                      <a:pt x="16" y="31"/>
                      <a:pt x="50" y="113"/>
                      <a:pt x="94" y="181"/>
                    </a:cubicBezTo>
                    <a:cubicBezTo>
                      <a:pt x="138" y="249"/>
                      <a:pt x="204" y="350"/>
                      <a:pt x="262" y="407"/>
                    </a:cubicBezTo>
                    <a:cubicBezTo>
                      <a:pt x="320" y="464"/>
                      <a:pt x="373" y="499"/>
                      <a:pt x="444" y="524"/>
                    </a:cubicBezTo>
                    <a:cubicBezTo>
                      <a:pt x="515" y="549"/>
                      <a:pt x="609" y="560"/>
                      <a:pt x="685" y="556"/>
                    </a:cubicBezTo>
                    <a:cubicBezTo>
                      <a:pt x="761" y="552"/>
                      <a:pt x="834" y="537"/>
                      <a:pt x="903" y="502"/>
                    </a:cubicBezTo>
                    <a:cubicBezTo>
                      <a:pt x="972" y="467"/>
                      <a:pt x="1049" y="393"/>
                      <a:pt x="1098" y="345"/>
                    </a:cubicBezTo>
                    <a:cubicBezTo>
                      <a:pt x="1147" y="297"/>
                      <a:pt x="1179" y="239"/>
                      <a:pt x="1200" y="211"/>
                    </a:cubicBezTo>
                  </a:path>
                </a:pathLst>
              </a:custGeom>
              <a:noFill/>
              <a:ln w="28575" cmpd="sng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28"/>
              <p:cNvSpPr>
                <a:spLocks/>
              </p:cNvSpPr>
              <p:nvPr/>
            </p:nvSpPr>
            <p:spPr bwMode="auto">
              <a:xfrm>
                <a:off x="1386" y="1453"/>
                <a:ext cx="348" cy="55"/>
              </a:xfrm>
              <a:custGeom>
                <a:avLst/>
                <a:gdLst>
                  <a:gd name="T0" fmla="*/ 0 w 348"/>
                  <a:gd name="T1" fmla="*/ 32 h 55"/>
                  <a:gd name="T2" fmla="*/ 144 w 348"/>
                  <a:gd name="T3" fmla="*/ 54 h 55"/>
                  <a:gd name="T4" fmla="*/ 259 w 348"/>
                  <a:gd name="T5" fmla="*/ 41 h 55"/>
                  <a:gd name="T6" fmla="*/ 348 w 348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8"/>
                  <a:gd name="T13" fmla="*/ 0 h 55"/>
                  <a:gd name="T14" fmla="*/ 348 w 348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8" h="55">
                    <a:moveTo>
                      <a:pt x="0" y="32"/>
                    </a:moveTo>
                    <a:cubicBezTo>
                      <a:pt x="24" y="36"/>
                      <a:pt x="101" y="53"/>
                      <a:pt x="144" y="54"/>
                    </a:cubicBezTo>
                    <a:cubicBezTo>
                      <a:pt x="187" y="55"/>
                      <a:pt x="225" y="50"/>
                      <a:pt x="259" y="41"/>
                    </a:cubicBezTo>
                    <a:cubicBezTo>
                      <a:pt x="293" y="32"/>
                      <a:pt x="322" y="16"/>
                      <a:pt x="348" y="0"/>
                    </a:cubicBezTo>
                  </a:path>
                </a:pathLst>
              </a:custGeom>
              <a:noFill/>
              <a:ln w="38100" cmpd="sng">
                <a:solidFill>
                  <a:schemeClr val="tx2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6" name="Group 129"/>
          <p:cNvGrpSpPr>
            <a:grpSpLocks/>
          </p:cNvGrpSpPr>
          <p:nvPr/>
        </p:nvGrpSpPr>
        <p:grpSpPr bwMode="auto">
          <a:xfrm>
            <a:off x="4752975" y="1447427"/>
            <a:ext cx="3751263" cy="1944687"/>
            <a:chOff x="2965" y="910"/>
            <a:chExt cx="2626" cy="1361"/>
          </a:xfrm>
        </p:grpSpPr>
        <p:grpSp>
          <p:nvGrpSpPr>
            <p:cNvPr id="17" name="Group 130"/>
            <p:cNvGrpSpPr>
              <a:grpSpLocks/>
            </p:cNvGrpSpPr>
            <p:nvPr/>
          </p:nvGrpSpPr>
          <p:grpSpPr bwMode="auto">
            <a:xfrm>
              <a:off x="3061" y="910"/>
              <a:ext cx="2304" cy="864"/>
              <a:chOff x="2928" y="1104"/>
              <a:chExt cx="2304" cy="864"/>
            </a:xfrm>
          </p:grpSpPr>
          <p:sp>
            <p:nvSpPr>
              <p:cNvPr id="108" name="AutoShape 131" descr="沙滩"/>
              <p:cNvSpPr>
                <a:spLocks noChangeArrowheads="1"/>
              </p:cNvSpPr>
              <p:nvPr/>
            </p:nvSpPr>
            <p:spPr bwMode="auto">
              <a:xfrm>
                <a:off x="4176" y="1104"/>
                <a:ext cx="1056" cy="864"/>
              </a:xfrm>
              <a:prstGeom prst="rtTriangl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AutoShape 132" descr="沙滩"/>
              <p:cNvSpPr>
                <a:spLocks noChangeArrowheads="1"/>
              </p:cNvSpPr>
              <p:nvPr/>
            </p:nvSpPr>
            <p:spPr bwMode="auto">
              <a:xfrm rot="-5400000">
                <a:off x="2952" y="1080"/>
                <a:ext cx="864" cy="912"/>
              </a:xfrm>
              <a:prstGeom prst="rtTriangle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Group 133"/>
            <p:cNvGrpSpPr>
              <a:grpSpLocks/>
            </p:cNvGrpSpPr>
            <p:nvPr/>
          </p:nvGrpSpPr>
          <p:grpSpPr bwMode="auto">
            <a:xfrm>
              <a:off x="3781" y="910"/>
              <a:ext cx="768" cy="864"/>
              <a:chOff x="3648" y="1104"/>
              <a:chExt cx="768" cy="864"/>
            </a:xfrm>
          </p:grpSpPr>
          <p:sp>
            <p:nvSpPr>
              <p:cNvPr id="105" name="Rectangle 134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36" cy="864"/>
              </a:xfrm>
              <a:prstGeom prst="rect">
                <a:avLst/>
              </a:pr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AutoShape 135"/>
              <p:cNvSpPr>
                <a:spLocks noChangeArrowheads="1"/>
              </p:cNvSpPr>
              <p:nvPr/>
            </p:nvSpPr>
            <p:spPr bwMode="auto">
              <a:xfrm rot="-5400000">
                <a:off x="3312" y="1440"/>
                <a:ext cx="864" cy="192"/>
              </a:xfrm>
              <a:prstGeom prst="rtTriangle">
                <a:avLst/>
              </a:pr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AutoShape 136"/>
              <p:cNvSpPr>
                <a:spLocks noChangeArrowheads="1"/>
              </p:cNvSpPr>
              <p:nvPr/>
            </p:nvSpPr>
            <p:spPr bwMode="auto">
              <a:xfrm>
                <a:off x="4176" y="1104"/>
                <a:ext cx="240" cy="864"/>
              </a:xfrm>
              <a:prstGeom prst="rtTriangle">
                <a:avLst/>
              </a:prstGeom>
              <a:solidFill>
                <a:srgbClr val="99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9" name="Freeform 137"/>
            <p:cNvSpPr>
              <a:spLocks/>
            </p:cNvSpPr>
            <p:nvPr/>
          </p:nvSpPr>
          <p:spPr bwMode="auto">
            <a:xfrm>
              <a:off x="3836" y="1046"/>
              <a:ext cx="1420" cy="640"/>
            </a:xfrm>
            <a:custGeom>
              <a:avLst/>
              <a:gdLst>
                <a:gd name="T0" fmla="*/ 0 w 1420"/>
                <a:gd name="T1" fmla="*/ 0 h 640"/>
                <a:gd name="T2" fmla="*/ 166 w 1420"/>
                <a:gd name="T3" fmla="*/ 250 h 640"/>
                <a:gd name="T4" fmla="*/ 512 w 1420"/>
                <a:gd name="T5" fmla="*/ 487 h 640"/>
                <a:gd name="T6" fmla="*/ 921 w 1420"/>
                <a:gd name="T7" fmla="*/ 608 h 640"/>
                <a:gd name="T8" fmla="*/ 1420 w 1420"/>
                <a:gd name="T9" fmla="*/ 640 h 6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0"/>
                <a:gd name="T16" fmla="*/ 0 h 640"/>
                <a:gd name="T17" fmla="*/ 1420 w 1420"/>
                <a:gd name="T18" fmla="*/ 640 h 6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0" h="640">
                  <a:moveTo>
                    <a:pt x="0" y="0"/>
                  </a:moveTo>
                  <a:cubicBezTo>
                    <a:pt x="40" y="84"/>
                    <a:pt x="81" y="169"/>
                    <a:pt x="166" y="250"/>
                  </a:cubicBezTo>
                  <a:cubicBezTo>
                    <a:pt x="251" y="331"/>
                    <a:pt x="386" y="427"/>
                    <a:pt x="512" y="487"/>
                  </a:cubicBezTo>
                  <a:cubicBezTo>
                    <a:pt x="638" y="547"/>
                    <a:pt x="770" y="583"/>
                    <a:pt x="921" y="608"/>
                  </a:cubicBezTo>
                  <a:cubicBezTo>
                    <a:pt x="1072" y="633"/>
                    <a:pt x="1246" y="636"/>
                    <a:pt x="1420" y="640"/>
                  </a:cubicBezTo>
                </a:path>
              </a:pathLst>
            </a:custGeom>
            <a:noFill/>
            <a:ln w="28575" cmpd="sng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138"/>
            <p:cNvGrpSpPr>
              <a:grpSpLocks/>
            </p:cNvGrpSpPr>
            <p:nvPr/>
          </p:nvGrpSpPr>
          <p:grpSpPr bwMode="auto">
            <a:xfrm>
              <a:off x="2965" y="1774"/>
              <a:ext cx="2496" cy="96"/>
              <a:chOff x="3360" y="1536"/>
              <a:chExt cx="2064" cy="106"/>
            </a:xfrm>
          </p:grpSpPr>
          <p:grpSp>
            <p:nvGrpSpPr>
              <p:cNvPr id="24" name="Group 139"/>
              <p:cNvGrpSpPr>
                <a:grpSpLocks/>
              </p:cNvGrpSpPr>
              <p:nvPr/>
            </p:nvGrpSpPr>
            <p:grpSpPr bwMode="auto">
              <a:xfrm>
                <a:off x="3360" y="1536"/>
                <a:ext cx="2062" cy="106"/>
                <a:chOff x="884" y="2807"/>
                <a:chExt cx="2722" cy="83"/>
              </a:xfrm>
            </p:grpSpPr>
            <p:grpSp>
              <p:nvGrpSpPr>
                <p:cNvPr id="26" name="Group 140"/>
                <p:cNvGrpSpPr>
                  <a:grpSpLocks/>
                </p:cNvGrpSpPr>
                <p:nvPr/>
              </p:nvGrpSpPr>
              <p:grpSpPr bwMode="auto">
                <a:xfrm>
                  <a:off x="2227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93" name="Freeform 141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" name="Freeform 142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" name="Freeform 143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Freeform 144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" name="Freeform 145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" name="Freeform 146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" name="Freeform 147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Freeform 148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Freeform 149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Freeform 150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Freeform 151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" name="Freeform 152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" name="Group 153"/>
                <p:cNvGrpSpPr>
                  <a:grpSpLocks/>
                </p:cNvGrpSpPr>
                <p:nvPr/>
              </p:nvGrpSpPr>
              <p:grpSpPr bwMode="auto">
                <a:xfrm>
                  <a:off x="1779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81" name="Freeform 154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" name="Freeform 155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Freeform 156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" name="Freeform 157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" name="Freeform 158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" name="Freeform 159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" name="Freeform 160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" name="Freeform 161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" name="Freeform 162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0" name="Freeform 163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" name="Freeform 164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" name="Freeform 165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" name="Group 166"/>
                <p:cNvGrpSpPr>
                  <a:grpSpLocks/>
                </p:cNvGrpSpPr>
                <p:nvPr/>
              </p:nvGrpSpPr>
              <p:grpSpPr bwMode="auto">
                <a:xfrm>
                  <a:off x="1332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69" name="Freeform 167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Freeform 168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" name="Freeform 169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" name="Freeform 170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" name="Freeform 171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" name="Freeform 172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" name="Freeform 173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" name="Freeform 174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" name="Freeform 175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" name="Freeform 176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" name="Freeform 177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" name="Freeform 178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9" name="Group 179"/>
                <p:cNvGrpSpPr>
                  <a:grpSpLocks/>
                </p:cNvGrpSpPr>
                <p:nvPr/>
              </p:nvGrpSpPr>
              <p:grpSpPr bwMode="auto">
                <a:xfrm>
                  <a:off x="884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57" name="Freeform 180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" name="Freeform 181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" name="Freeform 182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" name="Freeform 183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" name="Freeform 184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" name="Freeform 185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" name="Freeform 186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Freeform 187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" name="Freeform 188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Freeform 189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" name="Freeform 190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Freeform 191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" name="Group 192"/>
                <p:cNvGrpSpPr>
                  <a:grpSpLocks/>
                </p:cNvGrpSpPr>
                <p:nvPr/>
              </p:nvGrpSpPr>
              <p:grpSpPr bwMode="auto">
                <a:xfrm>
                  <a:off x="3123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45" name="Freeform 193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Freeform 194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" name="Freeform 195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" name="Freeform 196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" name="Freeform 197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" name="Freeform 198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1" name="Freeform 199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" name="Freeform 200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3" name="Freeform 201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Freeform 202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5" name="Freeform 203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6" name="Freeform 204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" name="Group 205"/>
                <p:cNvGrpSpPr>
                  <a:grpSpLocks/>
                </p:cNvGrpSpPr>
                <p:nvPr/>
              </p:nvGrpSpPr>
              <p:grpSpPr bwMode="auto">
                <a:xfrm>
                  <a:off x="2675" y="2807"/>
                  <a:ext cx="481" cy="83"/>
                  <a:chOff x="2644" y="2807"/>
                  <a:chExt cx="481" cy="83"/>
                </a:xfrm>
              </p:grpSpPr>
              <p:sp>
                <p:nvSpPr>
                  <p:cNvPr id="33" name="Freeform 206"/>
                  <p:cNvSpPr>
                    <a:spLocks/>
                  </p:cNvSpPr>
                  <p:nvPr/>
                </p:nvSpPr>
                <p:spPr bwMode="auto">
                  <a:xfrm>
                    <a:off x="2644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" name="Freeform 207"/>
                  <p:cNvSpPr>
                    <a:spLocks/>
                  </p:cNvSpPr>
                  <p:nvPr/>
                </p:nvSpPr>
                <p:spPr bwMode="auto">
                  <a:xfrm>
                    <a:off x="2729" y="2810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" name="Freeform 208"/>
                  <p:cNvSpPr>
                    <a:spLocks/>
                  </p:cNvSpPr>
                  <p:nvPr/>
                </p:nvSpPr>
                <p:spPr bwMode="auto">
                  <a:xfrm>
                    <a:off x="2693" y="2807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Freeform 209"/>
                  <p:cNvSpPr>
                    <a:spLocks/>
                  </p:cNvSpPr>
                  <p:nvPr/>
                </p:nvSpPr>
                <p:spPr bwMode="auto">
                  <a:xfrm>
                    <a:off x="2792" y="2837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" name="Freeform 210"/>
                  <p:cNvSpPr>
                    <a:spLocks/>
                  </p:cNvSpPr>
                  <p:nvPr/>
                </p:nvSpPr>
                <p:spPr bwMode="auto">
                  <a:xfrm>
                    <a:off x="2759" y="2859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Freeform 211"/>
                  <p:cNvSpPr>
                    <a:spLocks/>
                  </p:cNvSpPr>
                  <p:nvPr/>
                </p:nvSpPr>
                <p:spPr bwMode="auto">
                  <a:xfrm>
                    <a:off x="2829" y="2813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" name="Freeform 212"/>
                  <p:cNvSpPr>
                    <a:spLocks/>
                  </p:cNvSpPr>
                  <p:nvPr/>
                </p:nvSpPr>
                <p:spPr bwMode="auto">
                  <a:xfrm>
                    <a:off x="2868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" name="Freeform 213"/>
                  <p:cNvSpPr>
                    <a:spLocks/>
                  </p:cNvSpPr>
                  <p:nvPr/>
                </p:nvSpPr>
                <p:spPr bwMode="auto">
                  <a:xfrm>
                    <a:off x="2953" y="2811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" name="Freeform 214"/>
                  <p:cNvSpPr>
                    <a:spLocks/>
                  </p:cNvSpPr>
                  <p:nvPr/>
                </p:nvSpPr>
                <p:spPr bwMode="auto">
                  <a:xfrm>
                    <a:off x="2917" y="2808"/>
                    <a:ext cx="97" cy="73"/>
                  </a:xfrm>
                  <a:custGeom>
                    <a:avLst/>
                    <a:gdLst>
                      <a:gd name="T0" fmla="*/ 97 w 97"/>
                      <a:gd name="T1" fmla="*/ 0 h 73"/>
                      <a:gd name="T2" fmla="*/ 0 w 97"/>
                      <a:gd name="T3" fmla="*/ 73 h 73"/>
                      <a:gd name="T4" fmla="*/ 0 60000 65536"/>
                      <a:gd name="T5" fmla="*/ 0 60000 65536"/>
                      <a:gd name="T6" fmla="*/ 0 w 97"/>
                      <a:gd name="T7" fmla="*/ 0 h 73"/>
                      <a:gd name="T8" fmla="*/ 97 w 97"/>
                      <a:gd name="T9" fmla="*/ 73 h 73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97" h="73">
                        <a:moveTo>
                          <a:pt x="97" y="0"/>
                        </a:moveTo>
                        <a:lnTo>
                          <a:pt x="0" y="73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Freeform 215"/>
                  <p:cNvSpPr>
                    <a:spLocks/>
                  </p:cNvSpPr>
                  <p:nvPr/>
                </p:nvSpPr>
                <p:spPr bwMode="auto">
                  <a:xfrm>
                    <a:off x="3016" y="2838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Freeform 216"/>
                  <p:cNvSpPr>
                    <a:spLocks/>
                  </p:cNvSpPr>
                  <p:nvPr/>
                </p:nvSpPr>
                <p:spPr bwMode="auto">
                  <a:xfrm>
                    <a:off x="2983" y="2860"/>
                    <a:ext cx="54" cy="30"/>
                  </a:xfrm>
                  <a:custGeom>
                    <a:avLst/>
                    <a:gdLst>
                      <a:gd name="T0" fmla="*/ 0 w 54"/>
                      <a:gd name="T1" fmla="*/ 0 h 30"/>
                      <a:gd name="T2" fmla="*/ 54 w 54"/>
                      <a:gd name="T3" fmla="*/ 30 h 30"/>
                      <a:gd name="T4" fmla="*/ 0 60000 65536"/>
                      <a:gd name="T5" fmla="*/ 0 60000 65536"/>
                      <a:gd name="T6" fmla="*/ 0 w 54"/>
                      <a:gd name="T7" fmla="*/ 0 h 30"/>
                      <a:gd name="T8" fmla="*/ 54 w 54"/>
                      <a:gd name="T9" fmla="*/ 30 h 3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54" h="30">
                        <a:moveTo>
                          <a:pt x="0" y="0"/>
                        </a:moveTo>
                        <a:lnTo>
                          <a:pt x="54" y="3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Freeform 217"/>
                  <p:cNvSpPr>
                    <a:spLocks/>
                  </p:cNvSpPr>
                  <p:nvPr/>
                </p:nvSpPr>
                <p:spPr bwMode="auto">
                  <a:xfrm>
                    <a:off x="3053" y="2814"/>
                    <a:ext cx="72" cy="40"/>
                  </a:xfrm>
                  <a:custGeom>
                    <a:avLst/>
                    <a:gdLst>
                      <a:gd name="T0" fmla="*/ 0 w 72"/>
                      <a:gd name="T1" fmla="*/ 0 h 40"/>
                      <a:gd name="T2" fmla="*/ 72 w 72"/>
                      <a:gd name="T3" fmla="*/ 40 h 40"/>
                      <a:gd name="T4" fmla="*/ 0 60000 65536"/>
                      <a:gd name="T5" fmla="*/ 0 60000 65536"/>
                      <a:gd name="T6" fmla="*/ 0 w 72"/>
                      <a:gd name="T7" fmla="*/ 0 h 40"/>
                      <a:gd name="T8" fmla="*/ 72 w 72"/>
                      <a:gd name="T9" fmla="*/ 40 h 40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72" h="40">
                        <a:moveTo>
                          <a:pt x="0" y="0"/>
                        </a:moveTo>
                        <a:lnTo>
                          <a:pt x="72" y="40"/>
                        </a:lnTo>
                      </a:path>
                    </a:pathLst>
                  </a:custGeom>
                  <a:noFill/>
                  <a:ln w="12700" cap="flat" cmpd="sng">
                    <a:solidFill>
                      <a:srgbClr val="0000F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" name="Line 218"/>
                <p:cNvSpPr>
                  <a:spLocks noChangeShapeType="1"/>
                </p:cNvSpPr>
                <p:nvPr/>
              </p:nvSpPr>
              <p:spPr bwMode="auto">
                <a:xfrm>
                  <a:off x="884" y="2807"/>
                  <a:ext cx="272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5" name="Line 219"/>
              <p:cNvSpPr>
                <a:spLocks noChangeShapeType="1"/>
              </p:cNvSpPr>
              <p:nvPr/>
            </p:nvSpPr>
            <p:spPr bwMode="auto">
              <a:xfrm>
                <a:off x="3360" y="1536"/>
                <a:ext cx="2064" cy="0"/>
              </a:xfrm>
              <a:prstGeom prst="line">
                <a:avLst/>
              </a:prstGeom>
              <a:noFill/>
              <a:ln w="349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220"/>
            <p:cNvSpPr>
              <a:spLocks noChangeShapeType="1"/>
            </p:cNvSpPr>
            <p:nvPr/>
          </p:nvSpPr>
          <p:spPr bwMode="auto">
            <a:xfrm>
              <a:off x="3973" y="910"/>
              <a:ext cx="33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221"/>
            <p:cNvSpPr txBox="1">
              <a:spLocks noChangeArrowheads="1"/>
            </p:cNvSpPr>
            <p:nvPr/>
          </p:nvSpPr>
          <p:spPr bwMode="auto">
            <a:xfrm>
              <a:off x="3013" y="1979"/>
              <a:ext cx="257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87" tIns="41143" rIns="82287" bIns="41143">
              <a:spAutoFit/>
            </a:bodyPr>
            <a:lstStyle>
              <a:lvl1pPr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8223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8223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itchFamily="2" charset="2"/>
                <a:buNone/>
              </a:pPr>
              <a:r>
                <a:rPr kumimoji="1" lang="zh-CN" altLang="en-US" sz="2200" b="1">
                  <a:solidFill>
                    <a:srgbClr val="000066"/>
                  </a:solidFill>
                  <a:ea typeface="幼圆" pitchFamily="49" charset="-122"/>
                </a:rPr>
                <a:t>        稳定渗流期的土坝</a:t>
              </a:r>
            </a:p>
          </p:txBody>
        </p:sp>
        <p:sp>
          <p:nvSpPr>
            <p:cNvPr id="23" name="Freeform 222"/>
            <p:cNvSpPr>
              <a:spLocks/>
            </p:cNvSpPr>
            <p:nvPr/>
          </p:nvSpPr>
          <p:spPr bwMode="auto">
            <a:xfrm>
              <a:off x="4087" y="1252"/>
              <a:ext cx="341" cy="187"/>
            </a:xfrm>
            <a:custGeom>
              <a:avLst/>
              <a:gdLst>
                <a:gd name="T0" fmla="*/ 0 w 341"/>
                <a:gd name="T1" fmla="*/ 0 h 187"/>
                <a:gd name="T2" fmla="*/ 129 w 341"/>
                <a:gd name="T3" fmla="*/ 91 h 187"/>
                <a:gd name="T4" fmla="*/ 232 w 341"/>
                <a:gd name="T5" fmla="*/ 136 h 187"/>
                <a:gd name="T6" fmla="*/ 341 w 341"/>
                <a:gd name="T7" fmla="*/ 187 h 1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1"/>
                <a:gd name="T13" fmla="*/ 0 h 187"/>
                <a:gd name="T14" fmla="*/ 341 w 341"/>
                <a:gd name="T15" fmla="*/ 187 h 1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1" h="187">
                  <a:moveTo>
                    <a:pt x="0" y="0"/>
                  </a:moveTo>
                  <a:cubicBezTo>
                    <a:pt x="22" y="15"/>
                    <a:pt x="90" y="68"/>
                    <a:pt x="129" y="91"/>
                  </a:cubicBezTo>
                  <a:cubicBezTo>
                    <a:pt x="168" y="114"/>
                    <a:pt x="197" y="120"/>
                    <a:pt x="232" y="136"/>
                  </a:cubicBezTo>
                  <a:cubicBezTo>
                    <a:pt x="267" y="152"/>
                    <a:pt x="318" y="177"/>
                    <a:pt x="341" y="187"/>
                  </a:cubicBezTo>
                </a:path>
              </a:pathLst>
            </a:custGeom>
            <a:noFill/>
            <a:ln w="38100" cmpd="sng">
              <a:solidFill>
                <a:srgbClr val="A50021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0" name="Group 223"/>
          <p:cNvGrpSpPr>
            <a:grpSpLocks/>
          </p:cNvGrpSpPr>
          <p:nvPr/>
        </p:nvGrpSpPr>
        <p:grpSpPr bwMode="auto">
          <a:xfrm>
            <a:off x="5027612" y="3731839"/>
            <a:ext cx="3582988" cy="1352550"/>
            <a:chOff x="2414" y="2451"/>
            <a:chExt cx="3009" cy="1065"/>
          </a:xfrm>
        </p:grpSpPr>
        <p:sp>
          <p:nvSpPr>
            <p:cNvPr id="111" name="Rectangle 224"/>
            <p:cNvSpPr>
              <a:spLocks noChangeArrowheads="1"/>
            </p:cNvSpPr>
            <p:nvPr/>
          </p:nvSpPr>
          <p:spPr bwMode="auto">
            <a:xfrm>
              <a:off x="2414" y="2953"/>
              <a:ext cx="3008" cy="563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Line 225"/>
            <p:cNvSpPr>
              <a:spLocks noChangeShapeType="1"/>
            </p:cNvSpPr>
            <p:nvPr/>
          </p:nvSpPr>
          <p:spPr bwMode="auto">
            <a:xfrm>
              <a:off x="2414" y="2945"/>
              <a:ext cx="3009" cy="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AutoShape 226"/>
            <p:cNvSpPr>
              <a:spLocks noChangeArrowheads="1"/>
            </p:cNvSpPr>
            <p:nvPr/>
          </p:nvSpPr>
          <p:spPr bwMode="auto">
            <a:xfrm flipV="1">
              <a:off x="3509" y="2945"/>
              <a:ext cx="730" cy="336"/>
            </a:xfrm>
            <a:prstGeom prst="triangle">
              <a:avLst>
                <a:gd name="adj" fmla="val 50000"/>
              </a:avLst>
            </a:prstGeom>
            <a:noFill/>
            <a:ln w="25400" cap="sq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Freeform 227"/>
            <p:cNvSpPr>
              <a:spLocks/>
            </p:cNvSpPr>
            <p:nvPr/>
          </p:nvSpPr>
          <p:spPr bwMode="auto">
            <a:xfrm>
              <a:off x="3895" y="2945"/>
              <a:ext cx="1374" cy="544"/>
            </a:xfrm>
            <a:custGeom>
              <a:avLst/>
              <a:gdLst>
                <a:gd name="T0" fmla="*/ 0 w 1680"/>
                <a:gd name="T1" fmla="*/ 432 h 688"/>
                <a:gd name="T2" fmla="*/ 432 w 1680"/>
                <a:gd name="T3" fmla="*/ 672 h 688"/>
                <a:gd name="T4" fmla="*/ 912 w 1680"/>
                <a:gd name="T5" fmla="*/ 528 h 688"/>
                <a:gd name="T6" fmla="*/ 1680 w 1680"/>
                <a:gd name="T7" fmla="*/ 0 h 6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688"/>
                <a:gd name="T14" fmla="*/ 1680 w 1680"/>
                <a:gd name="T15" fmla="*/ 688 h 6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688">
                  <a:moveTo>
                    <a:pt x="0" y="432"/>
                  </a:moveTo>
                  <a:cubicBezTo>
                    <a:pt x="140" y="544"/>
                    <a:pt x="280" y="656"/>
                    <a:pt x="432" y="672"/>
                  </a:cubicBezTo>
                  <a:cubicBezTo>
                    <a:pt x="584" y="688"/>
                    <a:pt x="704" y="640"/>
                    <a:pt x="912" y="528"/>
                  </a:cubicBezTo>
                  <a:cubicBezTo>
                    <a:pt x="1120" y="416"/>
                    <a:pt x="1400" y="208"/>
                    <a:pt x="1680" y="0"/>
                  </a:cubicBezTo>
                </a:path>
              </a:pathLst>
            </a:custGeom>
            <a:noFill/>
            <a:ln w="25400" cap="sq" cmpd="sng">
              <a:solidFill>
                <a:srgbClr val="A5002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Freeform 228"/>
            <p:cNvSpPr>
              <a:spLocks/>
            </p:cNvSpPr>
            <p:nvPr/>
          </p:nvSpPr>
          <p:spPr bwMode="auto">
            <a:xfrm flipH="1">
              <a:off x="2521" y="2945"/>
              <a:ext cx="1331" cy="544"/>
            </a:xfrm>
            <a:custGeom>
              <a:avLst/>
              <a:gdLst>
                <a:gd name="T0" fmla="*/ 0 w 1680"/>
                <a:gd name="T1" fmla="*/ 432 h 688"/>
                <a:gd name="T2" fmla="*/ 432 w 1680"/>
                <a:gd name="T3" fmla="*/ 672 h 688"/>
                <a:gd name="T4" fmla="*/ 912 w 1680"/>
                <a:gd name="T5" fmla="*/ 528 h 688"/>
                <a:gd name="T6" fmla="*/ 1680 w 1680"/>
                <a:gd name="T7" fmla="*/ 0 h 6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688"/>
                <a:gd name="T14" fmla="*/ 1680 w 1680"/>
                <a:gd name="T15" fmla="*/ 688 h 6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688">
                  <a:moveTo>
                    <a:pt x="0" y="432"/>
                  </a:moveTo>
                  <a:cubicBezTo>
                    <a:pt x="140" y="544"/>
                    <a:pt x="280" y="656"/>
                    <a:pt x="432" y="672"/>
                  </a:cubicBezTo>
                  <a:cubicBezTo>
                    <a:pt x="584" y="688"/>
                    <a:pt x="704" y="640"/>
                    <a:pt x="912" y="528"/>
                  </a:cubicBezTo>
                  <a:cubicBezTo>
                    <a:pt x="1120" y="416"/>
                    <a:pt x="1400" y="208"/>
                    <a:pt x="1680" y="0"/>
                  </a:cubicBezTo>
                </a:path>
              </a:pathLst>
            </a:custGeom>
            <a:noFill/>
            <a:ln w="25400" cap="sq" cmpd="sng">
              <a:solidFill>
                <a:srgbClr val="A5002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Freeform 229"/>
            <p:cNvSpPr>
              <a:spLocks/>
            </p:cNvSpPr>
            <p:nvPr/>
          </p:nvSpPr>
          <p:spPr bwMode="auto">
            <a:xfrm rot="-688130">
              <a:off x="4371" y="3214"/>
              <a:ext cx="348" cy="55"/>
            </a:xfrm>
            <a:custGeom>
              <a:avLst/>
              <a:gdLst>
                <a:gd name="T0" fmla="*/ 0 w 348"/>
                <a:gd name="T1" fmla="*/ 32 h 55"/>
                <a:gd name="T2" fmla="*/ 144 w 348"/>
                <a:gd name="T3" fmla="*/ 54 h 55"/>
                <a:gd name="T4" fmla="*/ 259 w 348"/>
                <a:gd name="T5" fmla="*/ 41 h 55"/>
                <a:gd name="T6" fmla="*/ 348 w 34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8"/>
                <a:gd name="T13" fmla="*/ 0 h 55"/>
                <a:gd name="T14" fmla="*/ 348 w 34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8" h="55">
                  <a:moveTo>
                    <a:pt x="0" y="32"/>
                  </a:moveTo>
                  <a:cubicBezTo>
                    <a:pt x="24" y="36"/>
                    <a:pt x="101" y="53"/>
                    <a:pt x="144" y="54"/>
                  </a:cubicBezTo>
                  <a:cubicBezTo>
                    <a:pt x="187" y="55"/>
                    <a:pt x="225" y="50"/>
                    <a:pt x="259" y="41"/>
                  </a:cubicBezTo>
                  <a:cubicBezTo>
                    <a:pt x="293" y="32"/>
                    <a:pt x="322" y="16"/>
                    <a:pt x="348" y="0"/>
                  </a:cubicBez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Freeform 230"/>
            <p:cNvSpPr>
              <a:spLocks/>
            </p:cNvSpPr>
            <p:nvPr/>
          </p:nvSpPr>
          <p:spPr bwMode="auto">
            <a:xfrm rot="688130" flipH="1">
              <a:off x="3086" y="3184"/>
              <a:ext cx="348" cy="55"/>
            </a:xfrm>
            <a:custGeom>
              <a:avLst/>
              <a:gdLst>
                <a:gd name="T0" fmla="*/ 0 w 348"/>
                <a:gd name="T1" fmla="*/ 32 h 55"/>
                <a:gd name="T2" fmla="*/ 144 w 348"/>
                <a:gd name="T3" fmla="*/ 54 h 55"/>
                <a:gd name="T4" fmla="*/ 259 w 348"/>
                <a:gd name="T5" fmla="*/ 41 h 55"/>
                <a:gd name="T6" fmla="*/ 348 w 34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8"/>
                <a:gd name="T13" fmla="*/ 0 h 55"/>
                <a:gd name="T14" fmla="*/ 348 w 34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8" h="55">
                  <a:moveTo>
                    <a:pt x="0" y="32"/>
                  </a:moveTo>
                  <a:cubicBezTo>
                    <a:pt x="24" y="36"/>
                    <a:pt x="101" y="53"/>
                    <a:pt x="144" y="54"/>
                  </a:cubicBezTo>
                  <a:cubicBezTo>
                    <a:pt x="187" y="55"/>
                    <a:pt x="225" y="50"/>
                    <a:pt x="259" y="41"/>
                  </a:cubicBezTo>
                  <a:cubicBezTo>
                    <a:pt x="293" y="32"/>
                    <a:pt x="322" y="16"/>
                    <a:pt x="348" y="0"/>
                  </a:cubicBezTo>
                </a:path>
              </a:pathLst>
            </a:custGeom>
            <a:noFill/>
            <a:ln w="38100" cmpd="sng">
              <a:solidFill>
                <a:schemeClr val="tx2"/>
              </a:solidFill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Rectangle 231"/>
            <p:cNvSpPr>
              <a:spLocks noChangeArrowheads="1"/>
            </p:cNvSpPr>
            <p:nvPr/>
          </p:nvSpPr>
          <p:spPr bwMode="auto">
            <a:xfrm>
              <a:off x="3553" y="2451"/>
              <a:ext cx="638" cy="42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Rectangle 232" descr="深色上对角线"/>
            <p:cNvSpPr>
              <a:spLocks noChangeArrowheads="1"/>
            </p:cNvSpPr>
            <p:nvPr/>
          </p:nvSpPr>
          <p:spPr bwMode="auto">
            <a:xfrm>
              <a:off x="3509" y="2849"/>
              <a:ext cx="730" cy="96"/>
            </a:xfrm>
            <a:prstGeom prst="rect">
              <a:avLst/>
            </a:prstGeom>
            <a:pattFill prst="dkUpDiag">
              <a:fgClr>
                <a:srgbClr val="990000"/>
              </a:fgClr>
              <a:bgClr>
                <a:srgbClr val="FFFFFF"/>
              </a:bgClr>
            </a:pattFill>
            <a:ln w="12700" cap="sq">
              <a:solidFill>
                <a:srgbClr val="99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Rectangle 233"/>
            <p:cNvSpPr>
              <a:spLocks noChangeArrowheads="1"/>
            </p:cNvSpPr>
            <p:nvPr/>
          </p:nvSpPr>
          <p:spPr bwMode="auto">
            <a:xfrm>
              <a:off x="3713" y="2576"/>
              <a:ext cx="157" cy="13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Line 234"/>
            <p:cNvSpPr>
              <a:spLocks noChangeShapeType="1"/>
            </p:cNvSpPr>
            <p:nvPr/>
          </p:nvSpPr>
          <p:spPr bwMode="auto">
            <a:xfrm>
              <a:off x="3713" y="2643"/>
              <a:ext cx="1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235"/>
            <p:cNvSpPr>
              <a:spLocks noChangeShapeType="1"/>
            </p:cNvSpPr>
            <p:nvPr/>
          </p:nvSpPr>
          <p:spPr bwMode="auto">
            <a:xfrm>
              <a:off x="3799" y="2576"/>
              <a:ext cx="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" name="Text Box 236"/>
          <p:cNvSpPr txBox="1">
            <a:spLocks noChangeArrowheads="1"/>
          </p:cNvSpPr>
          <p:nvPr/>
        </p:nvSpPr>
        <p:spPr bwMode="auto">
          <a:xfrm>
            <a:off x="715963" y="3865817"/>
            <a:ext cx="3605212" cy="1309688"/>
          </a:xfrm>
          <a:prstGeom prst="rect">
            <a:avLst/>
          </a:prstGeom>
          <a:solidFill>
            <a:srgbClr val="CCCCFF"/>
          </a:solidFill>
          <a:ln w="22225">
            <a:solidFill>
              <a:srgbClr val="A50021"/>
            </a:solidFill>
            <a:miter lim="800000"/>
            <a:headEnd/>
            <a:tailEnd/>
          </a:ln>
        </p:spPr>
        <p:txBody>
          <a:bodyPr lIns="82287" tIns="41143" rIns="82287" bIns="41143">
            <a:spAutoFit/>
          </a:bodyPr>
          <a:lstStyle>
            <a:lvl1pPr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822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822325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kumimoji="1" lang="zh-CN" altLang="en-US" sz="2200" b="1">
                <a:solidFill>
                  <a:srgbClr val="000066"/>
                </a:solidFill>
                <a:ea typeface="幼圆" pitchFamily="49" charset="-122"/>
              </a:rPr>
              <a:t>用于加载过程中，超静孔隙水压力全部及时消散，密度不断增加的情况</a:t>
            </a:r>
          </a:p>
        </p:txBody>
      </p:sp>
      <p:sp>
        <p:nvSpPr>
          <p:cNvPr id="124" name="Rectangle 3"/>
          <p:cNvSpPr>
            <a:spLocks noChangeArrowheads="1"/>
          </p:cNvSpPr>
          <p:nvPr/>
        </p:nvSpPr>
        <p:spPr bwMode="auto">
          <a:xfrm>
            <a:off x="511175" y="643193"/>
            <a:ext cx="8264525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10000"/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固结排水剪或慢剪   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cd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cd 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800" b="1" dirty="0" err="1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 err="1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</a:t>
            </a:r>
            <a:r>
              <a:rPr lang="en-US" altLang="zh-CN" sz="2800" b="1" baseline="-25000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 smtClean="0">
                <a:solidFill>
                  <a:srgbClr val="000066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66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" name="Text Box 5"/>
          <p:cNvSpPr txBox="1">
            <a:spLocks noChangeArrowheads="1"/>
          </p:cNvSpPr>
          <p:nvPr/>
        </p:nvSpPr>
        <p:spPr bwMode="auto">
          <a:xfrm>
            <a:off x="2319338" y="5833219"/>
            <a:ext cx="57102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土的强度指标的工程应用</a:t>
            </a:r>
          </a:p>
        </p:txBody>
      </p:sp>
    </p:spTree>
    <p:extLst>
      <p:ext uri="{BB962C8B-B14F-4D97-AF65-F5344CB8AC3E}">
        <p14:creationId xmlns:p14="http://schemas.microsoft.com/office/powerpoint/2010/main" val="413355141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3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1136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的抗剪强度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581275" y="5616161"/>
            <a:ext cx="52784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土的抗剪强度指标小结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38329" y="1307024"/>
            <a:ext cx="5410200" cy="32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44500" indent="-44450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强度指标的类型</a:t>
            </a:r>
          </a:p>
          <a:p>
            <a:pPr marL="444500" indent="-44450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总应力指标与有效应力指标</a:t>
            </a:r>
          </a:p>
          <a:p>
            <a:pPr marL="444500" indent="-44450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三轴试验强度指标</a:t>
            </a:r>
          </a:p>
          <a:p>
            <a:pPr marL="444500" indent="-44450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直剪试验强度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指标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444500" indent="-44450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残余抗剪强度指标</a:t>
            </a:r>
          </a:p>
          <a:p>
            <a:pPr marL="444500" indent="-44450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00000"/>
              <a:buFont typeface="+mj-lt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的强度指标的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工程应用</a:t>
            </a:r>
          </a:p>
        </p:txBody>
      </p:sp>
    </p:spTree>
    <p:extLst>
      <p:ext uri="{BB962C8B-B14F-4D97-AF65-F5344CB8AC3E}">
        <p14:creationId xmlns:p14="http://schemas.microsoft.com/office/powerpoint/2010/main" val="105399532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1924050" y="1922463"/>
            <a:ext cx="6364288" cy="379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§5.1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工程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中土的强度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§5.2	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的抗剪强度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理论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§5.3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土的抗剪强度的测定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§5.4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路径与破坏主应力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§5.5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指标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§5.6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土的动强度与砂土的振动液化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897063" y="927100"/>
            <a:ext cx="5356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第五章： </a:t>
            </a: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土的抗剪强度</a:t>
            </a:r>
            <a:endParaRPr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31086" y="5126432"/>
            <a:ext cx="5977238" cy="633412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kumimoji="1" lang="en-US" altLang="zh-CN" sz="2800" b="1" dirty="0" smtClean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5.6  </a:t>
            </a:r>
            <a:r>
              <a:rPr kumimoji="1" lang="zh-CN" altLang="en-US" sz="2800" b="1" dirty="0">
                <a:solidFill>
                  <a:srgbClr val="003399"/>
                </a:solidFill>
                <a:ea typeface="幼圆" pitchFamily="49" charset="-122"/>
                <a:cs typeface="Times New Roman" panose="02020603050405020304" pitchFamily="18" charset="0"/>
              </a:rPr>
              <a:t>土的动强度与砂土的振动液化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305341469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66" name="Text Box 38"/>
          <p:cNvSpPr txBox="1">
            <a:spLocks noChangeArrowheads="1"/>
          </p:cNvSpPr>
          <p:nvPr/>
        </p:nvSpPr>
        <p:spPr bwMode="auto">
          <a:xfrm>
            <a:off x="419099" y="953465"/>
            <a:ext cx="580390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周期荷载作用下土的动强度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1214757" y="1837068"/>
            <a:ext cx="5438671" cy="247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5600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地震荷载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5600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海工建筑物波浪荷载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5600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公路、铁路路基车辆交通荷载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55600" indent="-3556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高层建筑风荷载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25"/>
          <p:cNvSpPr txBox="1">
            <a:spLocks noChangeArrowheads="1"/>
          </p:cNvSpPr>
          <p:nvPr/>
        </p:nvSpPr>
        <p:spPr bwMode="auto">
          <a:xfrm>
            <a:off x="3253840" y="5745720"/>
            <a:ext cx="257281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</a:t>
            </a: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动强度</a:t>
            </a:r>
            <a:endParaRPr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842808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uild="p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8" name="AutoShape 5"/>
          <p:cNvSpPr>
            <a:spLocks noChangeArrowheads="1"/>
          </p:cNvSpPr>
          <p:nvPr/>
        </p:nvSpPr>
        <p:spPr bwMode="auto">
          <a:xfrm>
            <a:off x="3657221" y="1984275"/>
            <a:ext cx="236537" cy="373062"/>
          </a:xfrm>
          <a:prstGeom prst="upDownArrow">
            <a:avLst>
              <a:gd name="adj1" fmla="val 50333"/>
              <a:gd name="adj2" fmla="val 40941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69" name="Group 6"/>
          <p:cNvGrpSpPr>
            <a:grpSpLocks/>
          </p:cNvGrpSpPr>
          <p:nvPr/>
        </p:nvGrpSpPr>
        <p:grpSpPr bwMode="auto">
          <a:xfrm>
            <a:off x="2852358" y="1162967"/>
            <a:ext cx="1738180" cy="902269"/>
            <a:chOff x="983" y="936"/>
            <a:chExt cx="915" cy="475"/>
          </a:xfrm>
        </p:grpSpPr>
        <p:sp>
          <p:nvSpPr>
            <p:cNvPr id="70" name="Line 7"/>
            <p:cNvSpPr>
              <a:spLocks noChangeShapeType="1"/>
            </p:cNvSpPr>
            <p:nvPr/>
          </p:nvSpPr>
          <p:spPr bwMode="auto">
            <a:xfrm flipV="1">
              <a:off x="989" y="1021"/>
              <a:ext cx="0" cy="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8"/>
            <p:cNvSpPr>
              <a:spLocks noChangeShapeType="1"/>
            </p:cNvSpPr>
            <p:nvPr/>
          </p:nvSpPr>
          <p:spPr bwMode="auto">
            <a:xfrm>
              <a:off x="983" y="1246"/>
              <a:ext cx="8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9"/>
            <p:cNvSpPr>
              <a:spLocks/>
            </p:cNvSpPr>
            <p:nvPr/>
          </p:nvSpPr>
          <p:spPr bwMode="auto">
            <a:xfrm>
              <a:off x="989" y="1190"/>
              <a:ext cx="735" cy="114"/>
            </a:xfrm>
            <a:custGeom>
              <a:avLst/>
              <a:gdLst>
                <a:gd name="T0" fmla="*/ 0 w 598"/>
                <a:gd name="T1" fmla="*/ 50 h 93"/>
                <a:gd name="T2" fmla="*/ 36 w 598"/>
                <a:gd name="T3" fmla="*/ 5 h 93"/>
                <a:gd name="T4" fmla="*/ 66 w 598"/>
                <a:gd name="T5" fmla="*/ 48 h 93"/>
                <a:gd name="T6" fmla="*/ 96 w 598"/>
                <a:gd name="T7" fmla="*/ 91 h 93"/>
                <a:gd name="T8" fmla="*/ 122 w 598"/>
                <a:gd name="T9" fmla="*/ 48 h 93"/>
                <a:gd name="T10" fmla="*/ 152 w 598"/>
                <a:gd name="T11" fmla="*/ 0 h 93"/>
                <a:gd name="T12" fmla="*/ 183 w 598"/>
                <a:gd name="T13" fmla="*/ 51 h 93"/>
                <a:gd name="T14" fmla="*/ 210 w 598"/>
                <a:gd name="T15" fmla="*/ 92 h 93"/>
                <a:gd name="T16" fmla="*/ 237 w 598"/>
                <a:gd name="T17" fmla="*/ 47 h 93"/>
                <a:gd name="T18" fmla="*/ 267 w 598"/>
                <a:gd name="T19" fmla="*/ 0 h 93"/>
                <a:gd name="T20" fmla="*/ 298 w 598"/>
                <a:gd name="T21" fmla="*/ 47 h 93"/>
                <a:gd name="T22" fmla="*/ 330 w 598"/>
                <a:gd name="T23" fmla="*/ 89 h 93"/>
                <a:gd name="T24" fmla="*/ 367 w 598"/>
                <a:gd name="T25" fmla="*/ 43 h 93"/>
                <a:gd name="T26" fmla="*/ 396 w 598"/>
                <a:gd name="T27" fmla="*/ 5 h 93"/>
                <a:gd name="T28" fmla="*/ 437 w 598"/>
                <a:gd name="T29" fmla="*/ 52 h 93"/>
                <a:gd name="T30" fmla="*/ 468 w 598"/>
                <a:gd name="T31" fmla="*/ 91 h 93"/>
                <a:gd name="T32" fmla="*/ 502 w 598"/>
                <a:gd name="T33" fmla="*/ 43 h 93"/>
                <a:gd name="T34" fmla="*/ 531 w 598"/>
                <a:gd name="T35" fmla="*/ 3 h 93"/>
                <a:gd name="T36" fmla="*/ 560 w 598"/>
                <a:gd name="T37" fmla="*/ 45 h 93"/>
                <a:gd name="T38" fmla="*/ 580 w 598"/>
                <a:gd name="T39" fmla="*/ 84 h 93"/>
                <a:gd name="T40" fmla="*/ 598 w 598"/>
                <a:gd name="T41" fmla="*/ 85 h 9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98"/>
                <a:gd name="T64" fmla="*/ 0 h 93"/>
                <a:gd name="T65" fmla="*/ 598 w 598"/>
                <a:gd name="T66" fmla="*/ 93 h 9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98" h="93">
                  <a:moveTo>
                    <a:pt x="0" y="50"/>
                  </a:moveTo>
                  <a:cubicBezTo>
                    <a:pt x="12" y="27"/>
                    <a:pt x="25" y="5"/>
                    <a:pt x="36" y="5"/>
                  </a:cubicBezTo>
                  <a:cubicBezTo>
                    <a:pt x="47" y="5"/>
                    <a:pt x="56" y="34"/>
                    <a:pt x="66" y="48"/>
                  </a:cubicBezTo>
                  <a:cubicBezTo>
                    <a:pt x="76" y="62"/>
                    <a:pt x="87" y="91"/>
                    <a:pt x="96" y="91"/>
                  </a:cubicBezTo>
                  <a:cubicBezTo>
                    <a:pt x="105" y="91"/>
                    <a:pt x="113" y="63"/>
                    <a:pt x="122" y="48"/>
                  </a:cubicBezTo>
                  <a:cubicBezTo>
                    <a:pt x="131" y="33"/>
                    <a:pt x="142" y="0"/>
                    <a:pt x="152" y="0"/>
                  </a:cubicBezTo>
                  <a:cubicBezTo>
                    <a:pt x="162" y="0"/>
                    <a:pt x="173" y="36"/>
                    <a:pt x="183" y="51"/>
                  </a:cubicBezTo>
                  <a:cubicBezTo>
                    <a:pt x="193" y="66"/>
                    <a:pt x="201" y="93"/>
                    <a:pt x="210" y="92"/>
                  </a:cubicBezTo>
                  <a:cubicBezTo>
                    <a:pt x="219" y="91"/>
                    <a:pt x="227" y="62"/>
                    <a:pt x="237" y="47"/>
                  </a:cubicBezTo>
                  <a:cubicBezTo>
                    <a:pt x="247" y="32"/>
                    <a:pt x="257" y="0"/>
                    <a:pt x="267" y="0"/>
                  </a:cubicBezTo>
                  <a:cubicBezTo>
                    <a:pt x="277" y="0"/>
                    <a:pt x="288" y="32"/>
                    <a:pt x="298" y="47"/>
                  </a:cubicBezTo>
                  <a:cubicBezTo>
                    <a:pt x="308" y="62"/>
                    <a:pt x="319" y="90"/>
                    <a:pt x="330" y="89"/>
                  </a:cubicBezTo>
                  <a:cubicBezTo>
                    <a:pt x="341" y="88"/>
                    <a:pt x="356" y="57"/>
                    <a:pt x="367" y="43"/>
                  </a:cubicBezTo>
                  <a:cubicBezTo>
                    <a:pt x="378" y="29"/>
                    <a:pt x="384" y="3"/>
                    <a:pt x="396" y="5"/>
                  </a:cubicBezTo>
                  <a:cubicBezTo>
                    <a:pt x="408" y="7"/>
                    <a:pt x="425" y="38"/>
                    <a:pt x="437" y="52"/>
                  </a:cubicBezTo>
                  <a:cubicBezTo>
                    <a:pt x="449" y="66"/>
                    <a:pt x="457" y="92"/>
                    <a:pt x="468" y="91"/>
                  </a:cubicBezTo>
                  <a:cubicBezTo>
                    <a:pt x="479" y="90"/>
                    <a:pt x="492" y="58"/>
                    <a:pt x="502" y="43"/>
                  </a:cubicBezTo>
                  <a:cubicBezTo>
                    <a:pt x="512" y="28"/>
                    <a:pt x="521" y="3"/>
                    <a:pt x="531" y="3"/>
                  </a:cubicBezTo>
                  <a:cubicBezTo>
                    <a:pt x="541" y="3"/>
                    <a:pt x="552" y="32"/>
                    <a:pt x="560" y="45"/>
                  </a:cubicBezTo>
                  <a:cubicBezTo>
                    <a:pt x="568" y="58"/>
                    <a:pt x="574" y="77"/>
                    <a:pt x="580" y="84"/>
                  </a:cubicBezTo>
                  <a:cubicBezTo>
                    <a:pt x="586" y="91"/>
                    <a:pt x="594" y="85"/>
                    <a:pt x="598" y="85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3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0861530"/>
                </p:ext>
              </p:extLst>
            </p:nvPr>
          </p:nvGraphicFramePr>
          <p:xfrm>
            <a:off x="1031" y="936"/>
            <a:ext cx="86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4053" name="公式" r:id="rId4" imgW="901440" imgH="228600" progId="Equation.3">
                    <p:embed/>
                  </p:oleObj>
                </mc:Choice>
                <mc:Fallback>
                  <p:oleObj name="公式" r:id="rId4" imgW="9014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936"/>
                          <a:ext cx="867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" name="Group 11"/>
          <p:cNvGrpSpPr>
            <a:grpSpLocks/>
          </p:cNvGrpSpPr>
          <p:nvPr/>
        </p:nvGrpSpPr>
        <p:grpSpPr bwMode="auto">
          <a:xfrm>
            <a:off x="2961896" y="2422425"/>
            <a:ext cx="1538287" cy="2024062"/>
            <a:chOff x="1461" y="1519"/>
            <a:chExt cx="969" cy="1275"/>
          </a:xfrm>
        </p:grpSpPr>
        <p:sp>
          <p:nvSpPr>
            <p:cNvPr id="75" name="Rectangle 12"/>
            <p:cNvSpPr>
              <a:spLocks noChangeArrowheads="1"/>
            </p:cNvSpPr>
            <p:nvPr/>
          </p:nvSpPr>
          <p:spPr bwMode="auto">
            <a:xfrm>
              <a:off x="1766" y="1821"/>
              <a:ext cx="370" cy="67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13"/>
            <p:cNvSpPr>
              <a:spLocks noChangeShapeType="1"/>
            </p:cNvSpPr>
            <p:nvPr/>
          </p:nvSpPr>
          <p:spPr bwMode="auto">
            <a:xfrm>
              <a:off x="1948" y="1533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4"/>
            <p:cNvSpPr>
              <a:spLocks noChangeShapeType="1"/>
            </p:cNvSpPr>
            <p:nvPr/>
          </p:nvSpPr>
          <p:spPr bwMode="auto">
            <a:xfrm rot="10800000">
              <a:off x="1954" y="249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5"/>
            <p:cNvSpPr>
              <a:spLocks noChangeShapeType="1"/>
            </p:cNvSpPr>
            <p:nvPr/>
          </p:nvSpPr>
          <p:spPr bwMode="auto">
            <a:xfrm rot="-5400000">
              <a:off x="1652" y="2028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6"/>
            <p:cNvSpPr>
              <a:spLocks noChangeShapeType="1"/>
            </p:cNvSpPr>
            <p:nvPr/>
          </p:nvSpPr>
          <p:spPr bwMode="auto">
            <a:xfrm rot="5400000">
              <a:off x="2249" y="2033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Text Box 17"/>
            <p:cNvSpPr txBox="1">
              <a:spLocks noChangeArrowheads="1"/>
            </p:cNvSpPr>
            <p:nvPr/>
          </p:nvSpPr>
          <p:spPr bwMode="auto">
            <a:xfrm>
              <a:off x="1461" y="1834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81" name="Text Box 18"/>
            <p:cNvSpPr txBox="1">
              <a:spLocks noChangeArrowheads="1"/>
            </p:cNvSpPr>
            <p:nvPr/>
          </p:nvSpPr>
          <p:spPr bwMode="auto">
            <a:xfrm>
              <a:off x="2134" y="185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82" name="Text Box 19"/>
            <p:cNvSpPr txBox="1">
              <a:spLocks noChangeArrowheads="1"/>
            </p:cNvSpPr>
            <p:nvPr/>
          </p:nvSpPr>
          <p:spPr bwMode="auto">
            <a:xfrm>
              <a:off x="1949" y="1519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83" name="Text Box 20"/>
            <p:cNvSpPr txBox="1">
              <a:spLocks noChangeArrowheads="1"/>
            </p:cNvSpPr>
            <p:nvPr/>
          </p:nvSpPr>
          <p:spPr bwMode="auto">
            <a:xfrm>
              <a:off x="1976" y="250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84" name="AutoShape 21"/>
          <p:cNvSpPr>
            <a:spLocks noChangeArrowheads="1"/>
          </p:cNvSpPr>
          <p:nvPr/>
        </p:nvSpPr>
        <p:spPr bwMode="auto">
          <a:xfrm>
            <a:off x="3666746" y="4494112"/>
            <a:ext cx="236537" cy="373063"/>
          </a:xfrm>
          <a:prstGeom prst="upDownArrow">
            <a:avLst>
              <a:gd name="adj1" fmla="val 50333"/>
              <a:gd name="adj2" fmla="val 40941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85" name="Text Box 22"/>
          <p:cNvSpPr txBox="1">
            <a:spLocks noChangeArrowheads="1"/>
          </p:cNvSpPr>
          <p:nvPr/>
        </p:nvSpPr>
        <p:spPr bwMode="auto">
          <a:xfrm>
            <a:off x="1079121" y="5008462"/>
            <a:ext cx="3583032" cy="43088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静力固结                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动力加载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86" name="Group 51"/>
          <p:cNvGrpSpPr>
            <a:grpSpLocks/>
          </p:cNvGrpSpPr>
          <p:nvPr/>
        </p:nvGrpSpPr>
        <p:grpSpPr bwMode="auto">
          <a:xfrm>
            <a:off x="861633" y="1311175"/>
            <a:ext cx="1538288" cy="3141662"/>
            <a:chOff x="138" y="819"/>
            <a:chExt cx="969" cy="1979"/>
          </a:xfrm>
        </p:grpSpPr>
        <p:sp>
          <p:nvSpPr>
            <p:cNvPr id="87" name="Rectangle 52"/>
            <p:cNvSpPr>
              <a:spLocks noChangeArrowheads="1"/>
            </p:cNvSpPr>
            <p:nvPr/>
          </p:nvSpPr>
          <p:spPr bwMode="auto">
            <a:xfrm>
              <a:off x="440" y="1827"/>
              <a:ext cx="370" cy="67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53"/>
            <p:cNvSpPr>
              <a:spLocks noChangeShapeType="1"/>
            </p:cNvSpPr>
            <p:nvPr/>
          </p:nvSpPr>
          <p:spPr bwMode="auto">
            <a:xfrm>
              <a:off x="622" y="1539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54"/>
            <p:cNvSpPr>
              <a:spLocks noChangeShapeType="1"/>
            </p:cNvSpPr>
            <p:nvPr/>
          </p:nvSpPr>
          <p:spPr bwMode="auto">
            <a:xfrm rot="10800000">
              <a:off x="628" y="250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55"/>
            <p:cNvSpPr>
              <a:spLocks noChangeShapeType="1"/>
            </p:cNvSpPr>
            <p:nvPr/>
          </p:nvSpPr>
          <p:spPr bwMode="auto">
            <a:xfrm rot="-5400000">
              <a:off x="326" y="2034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56"/>
            <p:cNvSpPr>
              <a:spLocks noChangeShapeType="1"/>
            </p:cNvSpPr>
            <p:nvPr/>
          </p:nvSpPr>
          <p:spPr bwMode="auto">
            <a:xfrm rot="5400000">
              <a:off x="923" y="2039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 Box 57"/>
            <p:cNvSpPr txBox="1">
              <a:spLocks noChangeArrowheads="1"/>
            </p:cNvSpPr>
            <p:nvPr/>
          </p:nvSpPr>
          <p:spPr bwMode="auto">
            <a:xfrm>
              <a:off x="138" y="1825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93" name="Text Box 58"/>
            <p:cNvSpPr txBox="1">
              <a:spLocks noChangeArrowheads="1"/>
            </p:cNvSpPr>
            <p:nvPr/>
          </p:nvSpPr>
          <p:spPr bwMode="auto">
            <a:xfrm>
              <a:off x="811" y="1847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94" name="Text Box 59"/>
            <p:cNvSpPr txBox="1">
              <a:spLocks noChangeArrowheads="1"/>
            </p:cNvSpPr>
            <p:nvPr/>
          </p:nvSpPr>
          <p:spPr bwMode="auto">
            <a:xfrm>
              <a:off x="626" y="1510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95" name="Text Box 60"/>
            <p:cNvSpPr txBox="1">
              <a:spLocks noChangeArrowheads="1"/>
            </p:cNvSpPr>
            <p:nvPr/>
          </p:nvSpPr>
          <p:spPr bwMode="auto">
            <a:xfrm>
              <a:off x="653" y="2497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96" name="Text Box 61"/>
            <p:cNvSpPr txBox="1">
              <a:spLocks noChangeArrowheads="1"/>
            </p:cNvSpPr>
            <p:nvPr/>
          </p:nvSpPr>
          <p:spPr bwMode="auto">
            <a:xfrm>
              <a:off x="187" y="819"/>
              <a:ext cx="830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固结比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ea typeface="幼圆" pitchFamily="49" charset="-122"/>
                </a:rPr>
                <a:t>K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</a:rPr>
                <a:t>c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=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1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/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97" name="Text Box 38"/>
          <p:cNvSpPr txBox="1">
            <a:spLocks noChangeArrowheads="1"/>
          </p:cNvSpPr>
          <p:nvPr/>
        </p:nvSpPr>
        <p:spPr bwMode="auto">
          <a:xfrm>
            <a:off x="419099" y="610565"/>
            <a:ext cx="344170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动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三轴试验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343610" y="700215"/>
            <a:ext cx="2821813" cy="4770046"/>
            <a:chOff x="5384800" y="897931"/>
            <a:chExt cx="2971800" cy="5023584"/>
          </a:xfrm>
        </p:grpSpPr>
        <p:pic>
          <p:nvPicPr>
            <p:cNvPr id="1635336" name="Picture 8" descr="H:\timg.jpg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1" t="1234" r="22345"/>
            <a:stretch/>
          </p:blipFill>
          <p:spPr bwMode="auto">
            <a:xfrm>
              <a:off x="5384800" y="897931"/>
              <a:ext cx="2971800" cy="45264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8" name="Text Box 38"/>
            <p:cNvSpPr txBox="1">
              <a:spLocks noChangeArrowheads="1"/>
            </p:cNvSpPr>
            <p:nvPr/>
          </p:nvSpPr>
          <p:spPr bwMode="auto">
            <a:xfrm>
              <a:off x="5905499" y="5478317"/>
              <a:ext cx="2057401" cy="443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651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25000"/>
                </a:spcAft>
              </a:pPr>
              <a:r>
                <a:rPr lang="zh-CN" altLang="en-US" sz="2400" b="1" dirty="0" smtClean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动</a:t>
              </a:r>
              <a:r>
                <a:rPr lang="zh-CN" altLang="en-US" sz="2400" b="1" dirty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三</a:t>
              </a:r>
              <a:r>
                <a:rPr lang="zh-CN" altLang="en-US" sz="2400" b="1" dirty="0" smtClean="0">
                  <a:solidFill>
                    <a:srgbClr val="A5002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轴仪系统</a:t>
              </a:r>
              <a:endParaRPr lang="zh-CN" altLang="en-US" sz="24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3253840" y="5745720"/>
            <a:ext cx="257281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</a:t>
            </a: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动强度</a:t>
            </a:r>
            <a:endParaRPr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601055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32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45" dur="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46" dur="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animClr clrSpc="rgb" dir="cw">
                                      <p:cBhvr>
                                        <p:cTn id="55" dur="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  <p:set>
                                      <p:cBhvr>
                                        <p:cTn id="56" dur="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8" grpId="1" animBg="1"/>
      <p:bldP spid="84" grpId="0" animBg="1"/>
      <p:bldP spid="84" grpId="1" animBg="1"/>
      <p:bldP spid="85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2024063" y="2063905"/>
            <a:ext cx="236537" cy="373062"/>
          </a:xfrm>
          <a:prstGeom prst="upDownArrow">
            <a:avLst>
              <a:gd name="adj1" fmla="val 50333"/>
              <a:gd name="adj2" fmla="val 40941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10" name="Group 6"/>
          <p:cNvGrpSpPr>
            <a:grpSpLocks/>
          </p:cNvGrpSpPr>
          <p:nvPr/>
        </p:nvGrpSpPr>
        <p:grpSpPr bwMode="auto">
          <a:xfrm>
            <a:off x="1219200" y="1242597"/>
            <a:ext cx="1724882" cy="902269"/>
            <a:chOff x="983" y="936"/>
            <a:chExt cx="908" cy="475"/>
          </a:xfrm>
        </p:grpSpPr>
        <p:sp>
          <p:nvSpPr>
            <p:cNvPr id="11" name="Line 7"/>
            <p:cNvSpPr>
              <a:spLocks noChangeShapeType="1"/>
            </p:cNvSpPr>
            <p:nvPr/>
          </p:nvSpPr>
          <p:spPr bwMode="auto">
            <a:xfrm flipV="1">
              <a:off x="989" y="1021"/>
              <a:ext cx="0" cy="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983" y="1246"/>
              <a:ext cx="8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989" y="1190"/>
              <a:ext cx="735" cy="114"/>
            </a:xfrm>
            <a:custGeom>
              <a:avLst/>
              <a:gdLst>
                <a:gd name="T0" fmla="*/ 0 w 598"/>
                <a:gd name="T1" fmla="*/ 50 h 93"/>
                <a:gd name="T2" fmla="*/ 36 w 598"/>
                <a:gd name="T3" fmla="*/ 5 h 93"/>
                <a:gd name="T4" fmla="*/ 66 w 598"/>
                <a:gd name="T5" fmla="*/ 48 h 93"/>
                <a:gd name="T6" fmla="*/ 96 w 598"/>
                <a:gd name="T7" fmla="*/ 91 h 93"/>
                <a:gd name="T8" fmla="*/ 122 w 598"/>
                <a:gd name="T9" fmla="*/ 48 h 93"/>
                <a:gd name="T10" fmla="*/ 152 w 598"/>
                <a:gd name="T11" fmla="*/ 0 h 93"/>
                <a:gd name="T12" fmla="*/ 183 w 598"/>
                <a:gd name="T13" fmla="*/ 51 h 93"/>
                <a:gd name="T14" fmla="*/ 210 w 598"/>
                <a:gd name="T15" fmla="*/ 92 h 93"/>
                <a:gd name="T16" fmla="*/ 237 w 598"/>
                <a:gd name="T17" fmla="*/ 47 h 93"/>
                <a:gd name="T18" fmla="*/ 267 w 598"/>
                <a:gd name="T19" fmla="*/ 0 h 93"/>
                <a:gd name="T20" fmla="*/ 298 w 598"/>
                <a:gd name="T21" fmla="*/ 47 h 93"/>
                <a:gd name="T22" fmla="*/ 330 w 598"/>
                <a:gd name="T23" fmla="*/ 89 h 93"/>
                <a:gd name="T24" fmla="*/ 367 w 598"/>
                <a:gd name="T25" fmla="*/ 43 h 93"/>
                <a:gd name="T26" fmla="*/ 396 w 598"/>
                <a:gd name="T27" fmla="*/ 5 h 93"/>
                <a:gd name="T28" fmla="*/ 437 w 598"/>
                <a:gd name="T29" fmla="*/ 52 h 93"/>
                <a:gd name="T30" fmla="*/ 468 w 598"/>
                <a:gd name="T31" fmla="*/ 91 h 93"/>
                <a:gd name="T32" fmla="*/ 502 w 598"/>
                <a:gd name="T33" fmla="*/ 43 h 93"/>
                <a:gd name="T34" fmla="*/ 531 w 598"/>
                <a:gd name="T35" fmla="*/ 3 h 93"/>
                <a:gd name="T36" fmla="*/ 560 w 598"/>
                <a:gd name="T37" fmla="*/ 45 h 93"/>
                <a:gd name="T38" fmla="*/ 580 w 598"/>
                <a:gd name="T39" fmla="*/ 84 h 93"/>
                <a:gd name="T40" fmla="*/ 598 w 598"/>
                <a:gd name="T41" fmla="*/ 85 h 9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98"/>
                <a:gd name="T64" fmla="*/ 0 h 93"/>
                <a:gd name="T65" fmla="*/ 598 w 598"/>
                <a:gd name="T66" fmla="*/ 93 h 9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98" h="93">
                  <a:moveTo>
                    <a:pt x="0" y="50"/>
                  </a:moveTo>
                  <a:cubicBezTo>
                    <a:pt x="12" y="27"/>
                    <a:pt x="25" y="5"/>
                    <a:pt x="36" y="5"/>
                  </a:cubicBezTo>
                  <a:cubicBezTo>
                    <a:pt x="47" y="5"/>
                    <a:pt x="56" y="34"/>
                    <a:pt x="66" y="48"/>
                  </a:cubicBezTo>
                  <a:cubicBezTo>
                    <a:pt x="76" y="62"/>
                    <a:pt x="87" y="91"/>
                    <a:pt x="96" y="91"/>
                  </a:cubicBezTo>
                  <a:cubicBezTo>
                    <a:pt x="105" y="91"/>
                    <a:pt x="113" y="63"/>
                    <a:pt x="122" y="48"/>
                  </a:cubicBezTo>
                  <a:cubicBezTo>
                    <a:pt x="131" y="33"/>
                    <a:pt x="142" y="0"/>
                    <a:pt x="152" y="0"/>
                  </a:cubicBezTo>
                  <a:cubicBezTo>
                    <a:pt x="162" y="0"/>
                    <a:pt x="173" y="36"/>
                    <a:pt x="183" y="51"/>
                  </a:cubicBezTo>
                  <a:cubicBezTo>
                    <a:pt x="193" y="66"/>
                    <a:pt x="201" y="93"/>
                    <a:pt x="210" y="92"/>
                  </a:cubicBezTo>
                  <a:cubicBezTo>
                    <a:pt x="219" y="91"/>
                    <a:pt x="227" y="62"/>
                    <a:pt x="237" y="47"/>
                  </a:cubicBezTo>
                  <a:cubicBezTo>
                    <a:pt x="247" y="32"/>
                    <a:pt x="257" y="0"/>
                    <a:pt x="267" y="0"/>
                  </a:cubicBezTo>
                  <a:cubicBezTo>
                    <a:pt x="277" y="0"/>
                    <a:pt x="288" y="32"/>
                    <a:pt x="298" y="47"/>
                  </a:cubicBezTo>
                  <a:cubicBezTo>
                    <a:pt x="308" y="62"/>
                    <a:pt x="319" y="90"/>
                    <a:pt x="330" y="89"/>
                  </a:cubicBezTo>
                  <a:cubicBezTo>
                    <a:pt x="341" y="88"/>
                    <a:pt x="356" y="57"/>
                    <a:pt x="367" y="43"/>
                  </a:cubicBezTo>
                  <a:cubicBezTo>
                    <a:pt x="378" y="29"/>
                    <a:pt x="384" y="3"/>
                    <a:pt x="396" y="5"/>
                  </a:cubicBezTo>
                  <a:cubicBezTo>
                    <a:pt x="408" y="7"/>
                    <a:pt x="425" y="38"/>
                    <a:pt x="437" y="52"/>
                  </a:cubicBezTo>
                  <a:cubicBezTo>
                    <a:pt x="449" y="66"/>
                    <a:pt x="457" y="92"/>
                    <a:pt x="468" y="91"/>
                  </a:cubicBezTo>
                  <a:cubicBezTo>
                    <a:pt x="479" y="90"/>
                    <a:pt x="492" y="58"/>
                    <a:pt x="502" y="43"/>
                  </a:cubicBezTo>
                  <a:cubicBezTo>
                    <a:pt x="512" y="28"/>
                    <a:pt x="521" y="3"/>
                    <a:pt x="531" y="3"/>
                  </a:cubicBezTo>
                  <a:cubicBezTo>
                    <a:pt x="541" y="3"/>
                    <a:pt x="552" y="32"/>
                    <a:pt x="560" y="45"/>
                  </a:cubicBezTo>
                  <a:cubicBezTo>
                    <a:pt x="568" y="58"/>
                    <a:pt x="574" y="77"/>
                    <a:pt x="580" y="84"/>
                  </a:cubicBezTo>
                  <a:cubicBezTo>
                    <a:pt x="586" y="91"/>
                    <a:pt x="594" y="85"/>
                    <a:pt x="598" y="85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9784393"/>
                </p:ext>
              </p:extLst>
            </p:nvPr>
          </p:nvGraphicFramePr>
          <p:xfrm>
            <a:off x="1037" y="936"/>
            <a:ext cx="854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5077" name="公式" r:id="rId4" imgW="888840" imgH="228600" progId="Equation.3">
                    <p:embed/>
                  </p:oleObj>
                </mc:Choice>
                <mc:Fallback>
                  <p:oleObj name="公式" r:id="rId4" imgW="8888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7" y="936"/>
                          <a:ext cx="854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11"/>
          <p:cNvGrpSpPr>
            <a:grpSpLocks/>
          </p:cNvGrpSpPr>
          <p:nvPr/>
        </p:nvGrpSpPr>
        <p:grpSpPr bwMode="auto">
          <a:xfrm>
            <a:off x="1328738" y="2502055"/>
            <a:ext cx="1538287" cy="2024062"/>
            <a:chOff x="1461" y="1519"/>
            <a:chExt cx="969" cy="1275"/>
          </a:xfrm>
        </p:grpSpPr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1766" y="1821"/>
              <a:ext cx="370" cy="67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948" y="1533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 rot="10800000">
              <a:off x="1954" y="249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 rot="-5400000">
              <a:off x="1652" y="2028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rot="5400000">
              <a:off x="2249" y="2033"/>
              <a:ext cx="0" cy="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1461" y="1834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2134" y="185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1949" y="1519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1976" y="250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25" name="AutoShape 21"/>
          <p:cNvSpPr>
            <a:spLocks noChangeArrowheads="1"/>
          </p:cNvSpPr>
          <p:nvPr/>
        </p:nvSpPr>
        <p:spPr bwMode="auto">
          <a:xfrm>
            <a:off x="2033588" y="4573742"/>
            <a:ext cx="236537" cy="373063"/>
          </a:xfrm>
          <a:prstGeom prst="upDownArrow">
            <a:avLst>
              <a:gd name="adj1" fmla="val 50333"/>
              <a:gd name="adj2" fmla="val 40941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1660571" y="5223330"/>
            <a:ext cx="5279009" cy="43088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动载试验                                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典型试验结果</a:t>
            </a:r>
          </a:p>
        </p:txBody>
      </p:sp>
      <p:sp>
        <p:nvSpPr>
          <p:cNvPr id="27" name="Freeform 23"/>
          <p:cNvSpPr>
            <a:spLocks/>
          </p:cNvSpPr>
          <p:nvPr/>
        </p:nvSpPr>
        <p:spPr bwMode="auto">
          <a:xfrm>
            <a:off x="4137025" y="1629361"/>
            <a:ext cx="4154488" cy="346075"/>
          </a:xfrm>
          <a:custGeom>
            <a:avLst/>
            <a:gdLst>
              <a:gd name="T0" fmla="*/ 57 w 2617"/>
              <a:gd name="T1" fmla="*/ 22 h 218"/>
              <a:gd name="T2" fmla="*/ 131 w 2617"/>
              <a:gd name="T3" fmla="*/ 217 h 218"/>
              <a:gd name="T4" fmla="*/ 205 w 2617"/>
              <a:gd name="T5" fmla="*/ 28 h 218"/>
              <a:gd name="T6" fmla="*/ 272 w 2617"/>
              <a:gd name="T7" fmla="*/ 211 h 218"/>
              <a:gd name="T8" fmla="*/ 345 w 2617"/>
              <a:gd name="T9" fmla="*/ 25 h 218"/>
              <a:gd name="T10" fmla="*/ 425 w 2617"/>
              <a:gd name="T11" fmla="*/ 217 h 218"/>
              <a:gd name="T12" fmla="*/ 496 w 2617"/>
              <a:gd name="T13" fmla="*/ 22 h 218"/>
              <a:gd name="T14" fmla="*/ 566 w 2617"/>
              <a:gd name="T15" fmla="*/ 208 h 218"/>
              <a:gd name="T16" fmla="*/ 640 w 2617"/>
              <a:gd name="T17" fmla="*/ 25 h 218"/>
              <a:gd name="T18" fmla="*/ 717 w 2617"/>
              <a:gd name="T19" fmla="*/ 208 h 218"/>
              <a:gd name="T20" fmla="*/ 784 w 2617"/>
              <a:gd name="T21" fmla="*/ 25 h 218"/>
              <a:gd name="T22" fmla="*/ 864 w 2617"/>
              <a:gd name="T23" fmla="*/ 204 h 218"/>
              <a:gd name="T24" fmla="*/ 925 w 2617"/>
              <a:gd name="T25" fmla="*/ 25 h 218"/>
              <a:gd name="T26" fmla="*/ 1005 w 2617"/>
              <a:gd name="T27" fmla="*/ 198 h 218"/>
              <a:gd name="T28" fmla="*/ 1078 w 2617"/>
              <a:gd name="T29" fmla="*/ 22 h 218"/>
              <a:gd name="T30" fmla="*/ 1152 w 2617"/>
              <a:gd name="T31" fmla="*/ 204 h 218"/>
              <a:gd name="T32" fmla="*/ 1225 w 2617"/>
              <a:gd name="T33" fmla="*/ 19 h 218"/>
              <a:gd name="T34" fmla="*/ 1286 w 2617"/>
              <a:gd name="T35" fmla="*/ 201 h 218"/>
              <a:gd name="T36" fmla="*/ 1369 w 2617"/>
              <a:gd name="T37" fmla="*/ 22 h 218"/>
              <a:gd name="T38" fmla="*/ 1446 w 2617"/>
              <a:gd name="T39" fmla="*/ 198 h 218"/>
              <a:gd name="T40" fmla="*/ 1520 w 2617"/>
              <a:gd name="T41" fmla="*/ 25 h 218"/>
              <a:gd name="T42" fmla="*/ 1590 w 2617"/>
              <a:gd name="T43" fmla="*/ 198 h 218"/>
              <a:gd name="T44" fmla="*/ 1651 w 2617"/>
              <a:gd name="T45" fmla="*/ 16 h 218"/>
              <a:gd name="T46" fmla="*/ 1728 w 2617"/>
              <a:gd name="T47" fmla="*/ 188 h 218"/>
              <a:gd name="T48" fmla="*/ 1798 w 2617"/>
              <a:gd name="T49" fmla="*/ 16 h 218"/>
              <a:gd name="T50" fmla="*/ 1881 w 2617"/>
              <a:gd name="T51" fmla="*/ 192 h 218"/>
              <a:gd name="T52" fmla="*/ 1952 w 2617"/>
              <a:gd name="T53" fmla="*/ 25 h 218"/>
              <a:gd name="T54" fmla="*/ 2025 w 2617"/>
              <a:gd name="T55" fmla="*/ 182 h 218"/>
              <a:gd name="T56" fmla="*/ 2099 w 2617"/>
              <a:gd name="T57" fmla="*/ 16 h 218"/>
              <a:gd name="T58" fmla="*/ 2182 w 2617"/>
              <a:gd name="T59" fmla="*/ 166 h 218"/>
              <a:gd name="T60" fmla="*/ 2246 w 2617"/>
              <a:gd name="T61" fmla="*/ 12 h 218"/>
              <a:gd name="T62" fmla="*/ 2285 w 2617"/>
              <a:gd name="T63" fmla="*/ 76 h 218"/>
              <a:gd name="T64" fmla="*/ 2317 w 2617"/>
              <a:gd name="T65" fmla="*/ 150 h 218"/>
              <a:gd name="T66" fmla="*/ 2349 w 2617"/>
              <a:gd name="T67" fmla="*/ 131 h 218"/>
              <a:gd name="T68" fmla="*/ 2371 w 2617"/>
              <a:gd name="T69" fmla="*/ 73 h 218"/>
              <a:gd name="T70" fmla="*/ 2387 w 2617"/>
              <a:gd name="T71" fmla="*/ 16 h 218"/>
              <a:gd name="T72" fmla="*/ 2422 w 2617"/>
              <a:gd name="T73" fmla="*/ 67 h 218"/>
              <a:gd name="T74" fmla="*/ 2461 w 2617"/>
              <a:gd name="T75" fmla="*/ 147 h 218"/>
              <a:gd name="T76" fmla="*/ 2496 w 2617"/>
              <a:gd name="T77" fmla="*/ 128 h 218"/>
              <a:gd name="T78" fmla="*/ 2528 w 2617"/>
              <a:gd name="T79" fmla="*/ 64 h 218"/>
              <a:gd name="T80" fmla="*/ 2557 w 2617"/>
              <a:gd name="T81" fmla="*/ 64 h 218"/>
              <a:gd name="T82" fmla="*/ 2617 w 2617"/>
              <a:gd name="T83" fmla="*/ 115 h 21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617"/>
              <a:gd name="T127" fmla="*/ 0 h 218"/>
              <a:gd name="T128" fmla="*/ 2617 w 2617"/>
              <a:gd name="T129" fmla="*/ 218 h 21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617" h="218">
                <a:moveTo>
                  <a:pt x="0" y="121"/>
                </a:moveTo>
                <a:cubicBezTo>
                  <a:pt x="20" y="71"/>
                  <a:pt x="41" y="22"/>
                  <a:pt x="57" y="22"/>
                </a:cubicBezTo>
                <a:cubicBezTo>
                  <a:pt x="73" y="22"/>
                  <a:pt x="84" y="92"/>
                  <a:pt x="96" y="124"/>
                </a:cubicBezTo>
                <a:cubicBezTo>
                  <a:pt x="108" y="156"/>
                  <a:pt x="118" y="217"/>
                  <a:pt x="131" y="217"/>
                </a:cubicBezTo>
                <a:cubicBezTo>
                  <a:pt x="144" y="217"/>
                  <a:pt x="161" y="152"/>
                  <a:pt x="173" y="121"/>
                </a:cubicBezTo>
                <a:cubicBezTo>
                  <a:pt x="185" y="90"/>
                  <a:pt x="195" y="28"/>
                  <a:pt x="205" y="28"/>
                </a:cubicBezTo>
                <a:cubicBezTo>
                  <a:pt x="215" y="28"/>
                  <a:pt x="222" y="94"/>
                  <a:pt x="233" y="124"/>
                </a:cubicBezTo>
                <a:cubicBezTo>
                  <a:pt x="244" y="154"/>
                  <a:pt x="259" y="211"/>
                  <a:pt x="272" y="211"/>
                </a:cubicBezTo>
                <a:cubicBezTo>
                  <a:pt x="285" y="211"/>
                  <a:pt x="301" y="155"/>
                  <a:pt x="313" y="124"/>
                </a:cubicBezTo>
                <a:cubicBezTo>
                  <a:pt x="325" y="93"/>
                  <a:pt x="332" y="24"/>
                  <a:pt x="345" y="25"/>
                </a:cubicBezTo>
                <a:cubicBezTo>
                  <a:pt x="358" y="26"/>
                  <a:pt x="377" y="96"/>
                  <a:pt x="390" y="128"/>
                </a:cubicBezTo>
                <a:cubicBezTo>
                  <a:pt x="403" y="160"/>
                  <a:pt x="413" y="218"/>
                  <a:pt x="425" y="217"/>
                </a:cubicBezTo>
                <a:cubicBezTo>
                  <a:pt x="437" y="216"/>
                  <a:pt x="452" y="153"/>
                  <a:pt x="464" y="121"/>
                </a:cubicBezTo>
                <a:cubicBezTo>
                  <a:pt x="476" y="89"/>
                  <a:pt x="484" y="22"/>
                  <a:pt x="496" y="22"/>
                </a:cubicBezTo>
                <a:cubicBezTo>
                  <a:pt x="508" y="22"/>
                  <a:pt x="525" y="90"/>
                  <a:pt x="537" y="121"/>
                </a:cubicBezTo>
                <a:cubicBezTo>
                  <a:pt x="549" y="152"/>
                  <a:pt x="554" y="208"/>
                  <a:pt x="566" y="208"/>
                </a:cubicBezTo>
                <a:cubicBezTo>
                  <a:pt x="578" y="208"/>
                  <a:pt x="599" y="148"/>
                  <a:pt x="611" y="118"/>
                </a:cubicBezTo>
                <a:cubicBezTo>
                  <a:pt x="623" y="88"/>
                  <a:pt x="629" y="23"/>
                  <a:pt x="640" y="25"/>
                </a:cubicBezTo>
                <a:cubicBezTo>
                  <a:pt x="651" y="27"/>
                  <a:pt x="665" y="98"/>
                  <a:pt x="678" y="128"/>
                </a:cubicBezTo>
                <a:cubicBezTo>
                  <a:pt x="691" y="158"/>
                  <a:pt x="705" y="209"/>
                  <a:pt x="717" y="208"/>
                </a:cubicBezTo>
                <a:cubicBezTo>
                  <a:pt x="729" y="207"/>
                  <a:pt x="741" y="151"/>
                  <a:pt x="752" y="121"/>
                </a:cubicBezTo>
                <a:cubicBezTo>
                  <a:pt x="763" y="91"/>
                  <a:pt x="770" y="24"/>
                  <a:pt x="784" y="25"/>
                </a:cubicBezTo>
                <a:cubicBezTo>
                  <a:pt x="798" y="26"/>
                  <a:pt x="822" y="98"/>
                  <a:pt x="835" y="128"/>
                </a:cubicBezTo>
                <a:cubicBezTo>
                  <a:pt x="848" y="158"/>
                  <a:pt x="855" y="206"/>
                  <a:pt x="864" y="204"/>
                </a:cubicBezTo>
                <a:cubicBezTo>
                  <a:pt x="873" y="202"/>
                  <a:pt x="879" y="148"/>
                  <a:pt x="889" y="118"/>
                </a:cubicBezTo>
                <a:cubicBezTo>
                  <a:pt x="899" y="88"/>
                  <a:pt x="910" y="23"/>
                  <a:pt x="925" y="25"/>
                </a:cubicBezTo>
                <a:cubicBezTo>
                  <a:pt x="940" y="27"/>
                  <a:pt x="966" y="99"/>
                  <a:pt x="979" y="128"/>
                </a:cubicBezTo>
                <a:cubicBezTo>
                  <a:pt x="992" y="157"/>
                  <a:pt x="995" y="199"/>
                  <a:pt x="1005" y="198"/>
                </a:cubicBezTo>
                <a:cubicBezTo>
                  <a:pt x="1015" y="197"/>
                  <a:pt x="1025" y="150"/>
                  <a:pt x="1037" y="121"/>
                </a:cubicBezTo>
                <a:cubicBezTo>
                  <a:pt x="1049" y="92"/>
                  <a:pt x="1064" y="22"/>
                  <a:pt x="1078" y="22"/>
                </a:cubicBezTo>
                <a:cubicBezTo>
                  <a:pt x="1092" y="22"/>
                  <a:pt x="1108" y="94"/>
                  <a:pt x="1120" y="124"/>
                </a:cubicBezTo>
                <a:cubicBezTo>
                  <a:pt x="1132" y="154"/>
                  <a:pt x="1140" y="204"/>
                  <a:pt x="1152" y="204"/>
                </a:cubicBezTo>
                <a:cubicBezTo>
                  <a:pt x="1164" y="204"/>
                  <a:pt x="1181" y="155"/>
                  <a:pt x="1193" y="124"/>
                </a:cubicBezTo>
                <a:cubicBezTo>
                  <a:pt x="1205" y="93"/>
                  <a:pt x="1213" y="20"/>
                  <a:pt x="1225" y="19"/>
                </a:cubicBezTo>
                <a:cubicBezTo>
                  <a:pt x="1237" y="18"/>
                  <a:pt x="1257" y="91"/>
                  <a:pt x="1267" y="121"/>
                </a:cubicBezTo>
                <a:cubicBezTo>
                  <a:pt x="1277" y="151"/>
                  <a:pt x="1273" y="201"/>
                  <a:pt x="1286" y="201"/>
                </a:cubicBezTo>
                <a:cubicBezTo>
                  <a:pt x="1299" y="201"/>
                  <a:pt x="1330" y="154"/>
                  <a:pt x="1344" y="124"/>
                </a:cubicBezTo>
                <a:cubicBezTo>
                  <a:pt x="1358" y="94"/>
                  <a:pt x="1357" y="21"/>
                  <a:pt x="1369" y="22"/>
                </a:cubicBezTo>
                <a:cubicBezTo>
                  <a:pt x="1381" y="23"/>
                  <a:pt x="1401" y="99"/>
                  <a:pt x="1414" y="128"/>
                </a:cubicBezTo>
                <a:cubicBezTo>
                  <a:pt x="1427" y="157"/>
                  <a:pt x="1434" y="199"/>
                  <a:pt x="1446" y="198"/>
                </a:cubicBezTo>
                <a:cubicBezTo>
                  <a:pt x="1458" y="197"/>
                  <a:pt x="1473" y="153"/>
                  <a:pt x="1485" y="124"/>
                </a:cubicBezTo>
                <a:cubicBezTo>
                  <a:pt x="1497" y="95"/>
                  <a:pt x="1507" y="25"/>
                  <a:pt x="1520" y="25"/>
                </a:cubicBezTo>
                <a:cubicBezTo>
                  <a:pt x="1533" y="25"/>
                  <a:pt x="1549" y="95"/>
                  <a:pt x="1561" y="124"/>
                </a:cubicBezTo>
                <a:cubicBezTo>
                  <a:pt x="1573" y="153"/>
                  <a:pt x="1580" y="198"/>
                  <a:pt x="1590" y="198"/>
                </a:cubicBezTo>
                <a:cubicBezTo>
                  <a:pt x="1600" y="198"/>
                  <a:pt x="1612" y="151"/>
                  <a:pt x="1622" y="121"/>
                </a:cubicBezTo>
                <a:cubicBezTo>
                  <a:pt x="1632" y="91"/>
                  <a:pt x="1638" y="16"/>
                  <a:pt x="1651" y="16"/>
                </a:cubicBezTo>
                <a:cubicBezTo>
                  <a:pt x="1664" y="16"/>
                  <a:pt x="1686" y="92"/>
                  <a:pt x="1699" y="121"/>
                </a:cubicBezTo>
                <a:cubicBezTo>
                  <a:pt x="1712" y="150"/>
                  <a:pt x="1716" y="188"/>
                  <a:pt x="1728" y="188"/>
                </a:cubicBezTo>
                <a:cubicBezTo>
                  <a:pt x="1740" y="188"/>
                  <a:pt x="1757" y="150"/>
                  <a:pt x="1769" y="121"/>
                </a:cubicBezTo>
                <a:cubicBezTo>
                  <a:pt x="1781" y="92"/>
                  <a:pt x="1785" y="16"/>
                  <a:pt x="1798" y="16"/>
                </a:cubicBezTo>
                <a:cubicBezTo>
                  <a:pt x="1811" y="16"/>
                  <a:pt x="1835" y="89"/>
                  <a:pt x="1849" y="118"/>
                </a:cubicBezTo>
                <a:cubicBezTo>
                  <a:pt x="1863" y="147"/>
                  <a:pt x="1871" y="192"/>
                  <a:pt x="1881" y="192"/>
                </a:cubicBezTo>
                <a:cubicBezTo>
                  <a:pt x="1891" y="192"/>
                  <a:pt x="1898" y="146"/>
                  <a:pt x="1910" y="118"/>
                </a:cubicBezTo>
                <a:cubicBezTo>
                  <a:pt x="1922" y="90"/>
                  <a:pt x="1937" y="25"/>
                  <a:pt x="1952" y="25"/>
                </a:cubicBezTo>
                <a:cubicBezTo>
                  <a:pt x="1967" y="25"/>
                  <a:pt x="1991" y="92"/>
                  <a:pt x="2003" y="118"/>
                </a:cubicBezTo>
                <a:cubicBezTo>
                  <a:pt x="2015" y="144"/>
                  <a:pt x="2015" y="182"/>
                  <a:pt x="2025" y="182"/>
                </a:cubicBezTo>
                <a:cubicBezTo>
                  <a:pt x="2035" y="182"/>
                  <a:pt x="2049" y="143"/>
                  <a:pt x="2061" y="115"/>
                </a:cubicBezTo>
                <a:cubicBezTo>
                  <a:pt x="2073" y="87"/>
                  <a:pt x="2084" y="15"/>
                  <a:pt x="2099" y="16"/>
                </a:cubicBezTo>
                <a:cubicBezTo>
                  <a:pt x="2114" y="17"/>
                  <a:pt x="2136" y="96"/>
                  <a:pt x="2150" y="121"/>
                </a:cubicBezTo>
                <a:cubicBezTo>
                  <a:pt x="2164" y="146"/>
                  <a:pt x="2172" y="166"/>
                  <a:pt x="2182" y="166"/>
                </a:cubicBezTo>
                <a:cubicBezTo>
                  <a:pt x="2192" y="166"/>
                  <a:pt x="2197" y="144"/>
                  <a:pt x="2208" y="118"/>
                </a:cubicBezTo>
                <a:cubicBezTo>
                  <a:pt x="2219" y="92"/>
                  <a:pt x="2236" y="24"/>
                  <a:pt x="2246" y="12"/>
                </a:cubicBezTo>
                <a:cubicBezTo>
                  <a:pt x="2256" y="0"/>
                  <a:pt x="2263" y="33"/>
                  <a:pt x="2269" y="44"/>
                </a:cubicBezTo>
                <a:cubicBezTo>
                  <a:pt x="2275" y="55"/>
                  <a:pt x="2279" y="65"/>
                  <a:pt x="2285" y="76"/>
                </a:cubicBezTo>
                <a:cubicBezTo>
                  <a:pt x="2291" y="87"/>
                  <a:pt x="2299" y="96"/>
                  <a:pt x="2304" y="108"/>
                </a:cubicBezTo>
                <a:cubicBezTo>
                  <a:pt x="2309" y="120"/>
                  <a:pt x="2312" y="141"/>
                  <a:pt x="2317" y="150"/>
                </a:cubicBezTo>
                <a:cubicBezTo>
                  <a:pt x="2322" y="159"/>
                  <a:pt x="2328" y="166"/>
                  <a:pt x="2333" y="163"/>
                </a:cubicBezTo>
                <a:cubicBezTo>
                  <a:pt x="2338" y="160"/>
                  <a:pt x="2344" y="142"/>
                  <a:pt x="2349" y="131"/>
                </a:cubicBezTo>
                <a:cubicBezTo>
                  <a:pt x="2354" y="120"/>
                  <a:pt x="2357" y="109"/>
                  <a:pt x="2361" y="99"/>
                </a:cubicBezTo>
                <a:cubicBezTo>
                  <a:pt x="2365" y="89"/>
                  <a:pt x="2368" y="84"/>
                  <a:pt x="2371" y="73"/>
                </a:cubicBezTo>
                <a:cubicBezTo>
                  <a:pt x="2374" y="62"/>
                  <a:pt x="2374" y="44"/>
                  <a:pt x="2377" y="35"/>
                </a:cubicBezTo>
                <a:cubicBezTo>
                  <a:pt x="2380" y="26"/>
                  <a:pt x="2380" y="18"/>
                  <a:pt x="2387" y="16"/>
                </a:cubicBezTo>
                <a:cubicBezTo>
                  <a:pt x="2394" y="14"/>
                  <a:pt x="2413" y="13"/>
                  <a:pt x="2419" y="22"/>
                </a:cubicBezTo>
                <a:cubicBezTo>
                  <a:pt x="2425" y="31"/>
                  <a:pt x="2418" y="55"/>
                  <a:pt x="2422" y="67"/>
                </a:cubicBezTo>
                <a:cubicBezTo>
                  <a:pt x="2426" y="79"/>
                  <a:pt x="2439" y="83"/>
                  <a:pt x="2445" y="96"/>
                </a:cubicBezTo>
                <a:cubicBezTo>
                  <a:pt x="2451" y="109"/>
                  <a:pt x="2456" y="136"/>
                  <a:pt x="2461" y="147"/>
                </a:cubicBezTo>
                <a:cubicBezTo>
                  <a:pt x="2466" y="158"/>
                  <a:pt x="2471" y="163"/>
                  <a:pt x="2477" y="160"/>
                </a:cubicBezTo>
                <a:cubicBezTo>
                  <a:pt x="2483" y="157"/>
                  <a:pt x="2490" y="140"/>
                  <a:pt x="2496" y="128"/>
                </a:cubicBezTo>
                <a:cubicBezTo>
                  <a:pt x="2502" y="116"/>
                  <a:pt x="2507" y="100"/>
                  <a:pt x="2512" y="89"/>
                </a:cubicBezTo>
                <a:cubicBezTo>
                  <a:pt x="2517" y="78"/>
                  <a:pt x="2524" y="73"/>
                  <a:pt x="2528" y="64"/>
                </a:cubicBezTo>
                <a:cubicBezTo>
                  <a:pt x="2532" y="55"/>
                  <a:pt x="2532" y="32"/>
                  <a:pt x="2537" y="32"/>
                </a:cubicBezTo>
                <a:cubicBezTo>
                  <a:pt x="2542" y="32"/>
                  <a:pt x="2550" y="53"/>
                  <a:pt x="2557" y="64"/>
                </a:cubicBezTo>
                <a:cubicBezTo>
                  <a:pt x="2564" y="75"/>
                  <a:pt x="2572" y="88"/>
                  <a:pt x="2582" y="96"/>
                </a:cubicBezTo>
                <a:cubicBezTo>
                  <a:pt x="2592" y="104"/>
                  <a:pt x="2604" y="109"/>
                  <a:pt x="2617" y="115"/>
                </a:cubicBezTo>
              </a:path>
            </a:pathLst>
          </a:custGeom>
          <a:noFill/>
          <a:ln w="12700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>
            <a:off x="4146550" y="2171384"/>
            <a:ext cx="4191000" cy="758825"/>
          </a:xfrm>
          <a:custGeom>
            <a:avLst/>
            <a:gdLst>
              <a:gd name="T0" fmla="*/ 51 w 2640"/>
              <a:gd name="T1" fmla="*/ 456 h 478"/>
              <a:gd name="T2" fmla="*/ 67 w 2640"/>
              <a:gd name="T3" fmla="*/ 373 h 478"/>
              <a:gd name="T4" fmla="*/ 119 w 2640"/>
              <a:gd name="T5" fmla="*/ 430 h 478"/>
              <a:gd name="T6" fmla="*/ 163 w 2640"/>
              <a:gd name="T7" fmla="*/ 405 h 478"/>
              <a:gd name="T8" fmla="*/ 202 w 2640"/>
              <a:gd name="T9" fmla="*/ 338 h 478"/>
              <a:gd name="T10" fmla="*/ 247 w 2640"/>
              <a:gd name="T11" fmla="*/ 382 h 478"/>
              <a:gd name="T12" fmla="*/ 288 w 2640"/>
              <a:gd name="T13" fmla="*/ 411 h 478"/>
              <a:gd name="T14" fmla="*/ 333 w 2640"/>
              <a:gd name="T15" fmla="*/ 331 h 478"/>
              <a:gd name="T16" fmla="*/ 384 w 2640"/>
              <a:gd name="T17" fmla="*/ 334 h 478"/>
              <a:gd name="T18" fmla="*/ 432 w 2640"/>
              <a:gd name="T19" fmla="*/ 395 h 478"/>
              <a:gd name="T20" fmla="*/ 493 w 2640"/>
              <a:gd name="T21" fmla="*/ 296 h 478"/>
              <a:gd name="T22" fmla="*/ 538 w 2640"/>
              <a:gd name="T23" fmla="*/ 331 h 478"/>
              <a:gd name="T24" fmla="*/ 602 w 2640"/>
              <a:gd name="T25" fmla="*/ 334 h 478"/>
              <a:gd name="T26" fmla="*/ 643 w 2640"/>
              <a:gd name="T27" fmla="*/ 261 h 478"/>
              <a:gd name="T28" fmla="*/ 704 w 2640"/>
              <a:gd name="T29" fmla="*/ 338 h 478"/>
              <a:gd name="T30" fmla="*/ 752 w 2640"/>
              <a:gd name="T31" fmla="*/ 331 h 478"/>
              <a:gd name="T32" fmla="*/ 784 w 2640"/>
              <a:gd name="T33" fmla="*/ 248 h 478"/>
              <a:gd name="T34" fmla="*/ 842 w 2640"/>
              <a:gd name="T35" fmla="*/ 290 h 478"/>
              <a:gd name="T36" fmla="*/ 890 w 2640"/>
              <a:gd name="T37" fmla="*/ 322 h 478"/>
              <a:gd name="T38" fmla="*/ 935 w 2640"/>
              <a:gd name="T39" fmla="*/ 232 h 478"/>
              <a:gd name="T40" fmla="*/ 986 w 2640"/>
              <a:gd name="T41" fmla="*/ 261 h 478"/>
              <a:gd name="T42" fmla="*/ 1037 w 2640"/>
              <a:gd name="T43" fmla="*/ 322 h 478"/>
              <a:gd name="T44" fmla="*/ 1101 w 2640"/>
              <a:gd name="T45" fmla="*/ 216 h 478"/>
              <a:gd name="T46" fmla="*/ 1146 w 2640"/>
              <a:gd name="T47" fmla="*/ 286 h 478"/>
              <a:gd name="T48" fmla="*/ 1194 w 2640"/>
              <a:gd name="T49" fmla="*/ 248 h 478"/>
              <a:gd name="T50" fmla="*/ 1255 w 2640"/>
              <a:gd name="T51" fmla="*/ 197 h 478"/>
              <a:gd name="T52" fmla="*/ 1303 w 2640"/>
              <a:gd name="T53" fmla="*/ 286 h 478"/>
              <a:gd name="T54" fmla="*/ 1344 w 2640"/>
              <a:gd name="T55" fmla="*/ 203 h 478"/>
              <a:gd name="T56" fmla="*/ 1421 w 2640"/>
              <a:gd name="T57" fmla="*/ 219 h 478"/>
              <a:gd name="T58" fmla="*/ 1485 w 2640"/>
              <a:gd name="T59" fmla="*/ 219 h 478"/>
              <a:gd name="T60" fmla="*/ 1549 w 2640"/>
              <a:gd name="T61" fmla="*/ 162 h 478"/>
              <a:gd name="T62" fmla="*/ 1591 w 2640"/>
              <a:gd name="T63" fmla="*/ 238 h 478"/>
              <a:gd name="T64" fmla="*/ 1626 w 2640"/>
              <a:gd name="T65" fmla="*/ 181 h 478"/>
              <a:gd name="T66" fmla="*/ 1677 w 2640"/>
              <a:gd name="T67" fmla="*/ 130 h 478"/>
              <a:gd name="T68" fmla="*/ 1715 w 2640"/>
              <a:gd name="T69" fmla="*/ 190 h 478"/>
              <a:gd name="T70" fmla="*/ 1760 w 2640"/>
              <a:gd name="T71" fmla="*/ 197 h 478"/>
              <a:gd name="T72" fmla="*/ 1805 w 2640"/>
              <a:gd name="T73" fmla="*/ 91 h 478"/>
              <a:gd name="T74" fmla="*/ 1856 w 2640"/>
              <a:gd name="T75" fmla="*/ 158 h 478"/>
              <a:gd name="T76" fmla="*/ 1907 w 2640"/>
              <a:gd name="T77" fmla="*/ 187 h 478"/>
              <a:gd name="T78" fmla="*/ 1936 w 2640"/>
              <a:gd name="T79" fmla="*/ 72 h 478"/>
              <a:gd name="T80" fmla="*/ 2007 w 2640"/>
              <a:gd name="T81" fmla="*/ 94 h 478"/>
              <a:gd name="T82" fmla="*/ 2035 w 2640"/>
              <a:gd name="T83" fmla="*/ 171 h 478"/>
              <a:gd name="T84" fmla="*/ 2077 w 2640"/>
              <a:gd name="T85" fmla="*/ 21 h 478"/>
              <a:gd name="T86" fmla="*/ 2147 w 2640"/>
              <a:gd name="T87" fmla="*/ 40 h 478"/>
              <a:gd name="T88" fmla="*/ 2173 w 2640"/>
              <a:gd name="T89" fmla="*/ 101 h 478"/>
              <a:gd name="T90" fmla="*/ 2202 w 2640"/>
              <a:gd name="T91" fmla="*/ 69 h 478"/>
              <a:gd name="T92" fmla="*/ 2231 w 2640"/>
              <a:gd name="T93" fmla="*/ 2 h 478"/>
              <a:gd name="T94" fmla="*/ 2282 w 2640"/>
              <a:gd name="T95" fmla="*/ 14 h 478"/>
              <a:gd name="T96" fmla="*/ 2314 w 2640"/>
              <a:gd name="T97" fmla="*/ 85 h 478"/>
              <a:gd name="T98" fmla="*/ 2349 w 2640"/>
              <a:gd name="T99" fmla="*/ 78 h 478"/>
              <a:gd name="T100" fmla="*/ 2394 w 2640"/>
              <a:gd name="T101" fmla="*/ 2 h 478"/>
              <a:gd name="T102" fmla="*/ 2429 w 2640"/>
              <a:gd name="T103" fmla="*/ 5 h 478"/>
              <a:gd name="T104" fmla="*/ 2471 w 2640"/>
              <a:gd name="T105" fmla="*/ 75 h 478"/>
              <a:gd name="T106" fmla="*/ 2487 w 2640"/>
              <a:gd name="T107" fmla="*/ 43 h 478"/>
              <a:gd name="T108" fmla="*/ 2525 w 2640"/>
              <a:gd name="T109" fmla="*/ 2 h 478"/>
              <a:gd name="T110" fmla="*/ 2592 w 2640"/>
              <a:gd name="T111" fmla="*/ 2 h 478"/>
              <a:gd name="T112" fmla="*/ 2640 w 2640"/>
              <a:gd name="T113" fmla="*/ 2 h 47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640"/>
              <a:gd name="T172" fmla="*/ 0 h 478"/>
              <a:gd name="T173" fmla="*/ 2640 w 2640"/>
              <a:gd name="T174" fmla="*/ 478 h 47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640" h="478">
                <a:moveTo>
                  <a:pt x="0" y="478"/>
                </a:moveTo>
                <a:cubicBezTo>
                  <a:pt x="20" y="473"/>
                  <a:pt x="40" y="469"/>
                  <a:pt x="51" y="456"/>
                </a:cubicBezTo>
                <a:cubicBezTo>
                  <a:pt x="62" y="443"/>
                  <a:pt x="61" y="412"/>
                  <a:pt x="64" y="398"/>
                </a:cubicBezTo>
                <a:cubicBezTo>
                  <a:pt x="67" y="384"/>
                  <a:pt x="60" y="372"/>
                  <a:pt x="67" y="373"/>
                </a:cubicBezTo>
                <a:cubicBezTo>
                  <a:pt x="74" y="374"/>
                  <a:pt x="97" y="393"/>
                  <a:pt x="106" y="402"/>
                </a:cubicBezTo>
                <a:cubicBezTo>
                  <a:pt x="115" y="411"/>
                  <a:pt x="113" y="424"/>
                  <a:pt x="119" y="430"/>
                </a:cubicBezTo>
                <a:cubicBezTo>
                  <a:pt x="125" y="436"/>
                  <a:pt x="134" y="444"/>
                  <a:pt x="141" y="440"/>
                </a:cubicBezTo>
                <a:cubicBezTo>
                  <a:pt x="148" y="436"/>
                  <a:pt x="155" y="418"/>
                  <a:pt x="163" y="405"/>
                </a:cubicBezTo>
                <a:cubicBezTo>
                  <a:pt x="171" y="392"/>
                  <a:pt x="179" y="371"/>
                  <a:pt x="186" y="360"/>
                </a:cubicBezTo>
                <a:cubicBezTo>
                  <a:pt x="193" y="349"/>
                  <a:pt x="196" y="341"/>
                  <a:pt x="202" y="338"/>
                </a:cubicBezTo>
                <a:cubicBezTo>
                  <a:pt x="208" y="335"/>
                  <a:pt x="217" y="334"/>
                  <a:pt x="224" y="341"/>
                </a:cubicBezTo>
                <a:cubicBezTo>
                  <a:pt x="231" y="348"/>
                  <a:pt x="240" y="370"/>
                  <a:pt x="247" y="382"/>
                </a:cubicBezTo>
                <a:cubicBezTo>
                  <a:pt x="254" y="394"/>
                  <a:pt x="259" y="406"/>
                  <a:pt x="266" y="411"/>
                </a:cubicBezTo>
                <a:cubicBezTo>
                  <a:pt x="273" y="416"/>
                  <a:pt x="280" y="418"/>
                  <a:pt x="288" y="411"/>
                </a:cubicBezTo>
                <a:cubicBezTo>
                  <a:pt x="296" y="404"/>
                  <a:pt x="309" y="379"/>
                  <a:pt x="317" y="366"/>
                </a:cubicBezTo>
                <a:cubicBezTo>
                  <a:pt x="325" y="353"/>
                  <a:pt x="327" y="340"/>
                  <a:pt x="333" y="331"/>
                </a:cubicBezTo>
                <a:cubicBezTo>
                  <a:pt x="339" y="322"/>
                  <a:pt x="347" y="309"/>
                  <a:pt x="355" y="309"/>
                </a:cubicBezTo>
                <a:cubicBezTo>
                  <a:pt x="363" y="309"/>
                  <a:pt x="377" y="321"/>
                  <a:pt x="384" y="334"/>
                </a:cubicBezTo>
                <a:cubicBezTo>
                  <a:pt x="391" y="347"/>
                  <a:pt x="392" y="376"/>
                  <a:pt x="400" y="386"/>
                </a:cubicBezTo>
                <a:cubicBezTo>
                  <a:pt x="408" y="396"/>
                  <a:pt x="423" y="401"/>
                  <a:pt x="432" y="395"/>
                </a:cubicBezTo>
                <a:cubicBezTo>
                  <a:pt x="441" y="389"/>
                  <a:pt x="448" y="367"/>
                  <a:pt x="458" y="350"/>
                </a:cubicBezTo>
                <a:cubicBezTo>
                  <a:pt x="468" y="333"/>
                  <a:pt x="484" y="308"/>
                  <a:pt x="493" y="296"/>
                </a:cubicBezTo>
                <a:cubicBezTo>
                  <a:pt x="502" y="284"/>
                  <a:pt x="508" y="274"/>
                  <a:pt x="515" y="280"/>
                </a:cubicBezTo>
                <a:cubicBezTo>
                  <a:pt x="522" y="286"/>
                  <a:pt x="527" y="315"/>
                  <a:pt x="538" y="331"/>
                </a:cubicBezTo>
                <a:cubicBezTo>
                  <a:pt x="549" y="347"/>
                  <a:pt x="572" y="376"/>
                  <a:pt x="583" y="376"/>
                </a:cubicBezTo>
                <a:cubicBezTo>
                  <a:pt x="594" y="376"/>
                  <a:pt x="595" y="351"/>
                  <a:pt x="602" y="334"/>
                </a:cubicBezTo>
                <a:cubicBezTo>
                  <a:pt x="609" y="317"/>
                  <a:pt x="620" y="286"/>
                  <a:pt x="627" y="274"/>
                </a:cubicBezTo>
                <a:cubicBezTo>
                  <a:pt x="634" y="262"/>
                  <a:pt x="634" y="258"/>
                  <a:pt x="643" y="261"/>
                </a:cubicBezTo>
                <a:cubicBezTo>
                  <a:pt x="652" y="264"/>
                  <a:pt x="669" y="277"/>
                  <a:pt x="679" y="290"/>
                </a:cubicBezTo>
                <a:cubicBezTo>
                  <a:pt x="689" y="303"/>
                  <a:pt x="695" y="325"/>
                  <a:pt x="704" y="338"/>
                </a:cubicBezTo>
                <a:cubicBezTo>
                  <a:pt x="713" y="351"/>
                  <a:pt x="728" y="367"/>
                  <a:pt x="736" y="366"/>
                </a:cubicBezTo>
                <a:cubicBezTo>
                  <a:pt x="744" y="365"/>
                  <a:pt x="748" y="345"/>
                  <a:pt x="752" y="331"/>
                </a:cubicBezTo>
                <a:cubicBezTo>
                  <a:pt x="756" y="317"/>
                  <a:pt x="754" y="294"/>
                  <a:pt x="759" y="280"/>
                </a:cubicBezTo>
                <a:cubicBezTo>
                  <a:pt x="764" y="266"/>
                  <a:pt x="775" y="254"/>
                  <a:pt x="784" y="248"/>
                </a:cubicBezTo>
                <a:cubicBezTo>
                  <a:pt x="793" y="242"/>
                  <a:pt x="806" y="235"/>
                  <a:pt x="816" y="242"/>
                </a:cubicBezTo>
                <a:cubicBezTo>
                  <a:pt x="826" y="249"/>
                  <a:pt x="835" y="275"/>
                  <a:pt x="842" y="290"/>
                </a:cubicBezTo>
                <a:cubicBezTo>
                  <a:pt x="849" y="305"/>
                  <a:pt x="850" y="326"/>
                  <a:pt x="858" y="331"/>
                </a:cubicBezTo>
                <a:cubicBezTo>
                  <a:pt x="866" y="336"/>
                  <a:pt x="883" y="332"/>
                  <a:pt x="890" y="322"/>
                </a:cubicBezTo>
                <a:cubicBezTo>
                  <a:pt x="897" y="312"/>
                  <a:pt x="896" y="285"/>
                  <a:pt x="903" y="270"/>
                </a:cubicBezTo>
                <a:cubicBezTo>
                  <a:pt x="910" y="255"/>
                  <a:pt x="926" y="240"/>
                  <a:pt x="935" y="232"/>
                </a:cubicBezTo>
                <a:cubicBezTo>
                  <a:pt x="944" y="224"/>
                  <a:pt x="946" y="217"/>
                  <a:pt x="954" y="222"/>
                </a:cubicBezTo>
                <a:cubicBezTo>
                  <a:pt x="962" y="227"/>
                  <a:pt x="977" y="247"/>
                  <a:pt x="986" y="261"/>
                </a:cubicBezTo>
                <a:cubicBezTo>
                  <a:pt x="995" y="275"/>
                  <a:pt x="999" y="299"/>
                  <a:pt x="1008" y="309"/>
                </a:cubicBezTo>
                <a:cubicBezTo>
                  <a:pt x="1017" y="319"/>
                  <a:pt x="1028" y="330"/>
                  <a:pt x="1037" y="322"/>
                </a:cubicBezTo>
                <a:cubicBezTo>
                  <a:pt x="1046" y="314"/>
                  <a:pt x="1048" y="279"/>
                  <a:pt x="1059" y="261"/>
                </a:cubicBezTo>
                <a:cubicBezTo>
                  <a:pt x="1070" y="243"/>
                  <a:pt x="1089" y="221"/>
                  <a:pt x="1101" y="216"/>
                </a:cubicBezTo>
                <a:cubicBezTo>
                  <a:pt x="1113" y="211"/>
                  <a:pt x="1123" y="220"/>
                  <a:pt x="1130" y="232"/>
                </a:cubicBezTo>
                <a:cubicBezTo>
                  <a:pt x="1137" y="244"/>
                  <a:pt x="1140" y="273"/>
                  <a:pt x="1146" y="286"/>
                </a:cubicBezTo>
                <a:cubicBezTo>
                  <a:pt x="1152" y="299"/>
                  <a:pt x="1160" y="315"/>
                  <a:pt x="1168" y="309"/>
                </a:cubicBezTo>
                <a:cubicBezTo>
                  <a:pt x="1176" y="303"/>
                  <a:pt x="1186" y="265"/>
                  <a:pt x="1194" y="248"/>
                </a:cubicBezTo>
                <a:cubicBezTo>
                  <a:pt x="1202" y="231"/>
                  <a:pt x="1209" y="214"/>
                  <a:pt x="1219" y="206"/>
                </a:cubicBezTo>
                <a:cubicBezTo>
                  <a:pt x="1229" y="198"/>
                  <a:pt x="1245" y="190"/>
                  <a:pt x="1255" y="197"/>
                </a:cubicBezTo>
                <a:cubicBezTo>
                  <a:pt x="1265" y="204"/>
                  <a:pt x="1272" y="233"/>
                  <a:pt x="1280" y="248"/>
                </a:cubicBezTo>
                <a:cubicBezTo>
                  <a:pt x="1288" y="263"/>
                  <a:pt x="1296" y="282"/>
                  <a:pt x="1303" y="286"/>
                </a:cubicBezTo>
                <a:cubicBezTo>
                  <a:pt x="1310" y="290"/>
                  <a:pt x="1318" y="288"/>
                  <a:pt x="1325" y="274"/>
                </a:cubicBezTo>
                <a:cubicBezTo>
                  <a:pt x="1332" y="260"/>
                  <a:pt x="1334" y="221"/>
                  <a:pt x="1344" y="203"/>
                </a:cubicBezTo>
                <a:cubicBezTo>
                  <a:pt x="1354" y="185"/>
                  <a:pt x="1370" y="165"/>
                  <a:pt x="1383" y="168"/>
                </a:cubicBezTo>
                <a:cubicBezTo>
                  <a:pt x="1396" y="171"/>
                  <a:pt x="1408" y="201"/>
                  <a:pt x="1421" y="219"/>
                </a:cubicBezTo>
                <a:cubicBezTo>
                  <a:pt x="1434" y="237"/>
                  <a:pt x="1448" y="277"/>
                  <a:pt x="1459" y="277"/>
                </a:cubicBezTo>
                <a:cubicBezTo>
                  <a:pt x="1470" y="277"/>
                  <a:pt x="1476" y="239"/>
                  <a:pt x="1485" y="219"/>
                </a:cubicBezTo>
                <a:cubicBezTo>
                  <a:pt x="1494" y="199"/>
                  <a:pt x="1503" y="164"/>
                  <a:pt x="1514" y="155"/>
                </a:cubicBezTo>
                <a:cubicBezTo>
                  <a:pt x="1525" y="146"/>
                  <a:pt x="1540" y="156"/>
                  <a:pt x="1549" y="162"/>
                </a:cubicBezTo>
                <a:cubicBezTo>
                  <a:pt x="1558" y="168"/>
                  <a:pt x="1564" y="181"/>
                  <a:pt x="1571" y="194"/>
                </a:cubicBezTo>
                <a:cubicBezTo>
                  <a:pt x="1578" y="207"/>
                  <a:pt x="1584" y="230"/>
                  <a:pt x="1591" y="238"/>
                </a:cubicBezTo>
                <a:cubicBezTo>
                  <a:pt x="1598" y="246"/>
                  <a:pt x="1610" y="254"/>
                  <a:pt x="1616" y="245"/>
                </a:cubicBezTo>
                <a:cubicBezTo>
                  <a:pt x="1622" y="236"/>
                  <a:pt x="1620" y="199"/>
                  <a:pt x="1626" y="181"/>
                </a:cubicBezTo>
                <a:cubicBezTo>
                  <a:pt x="1632" y="163"/>
                  <a:pt x="1643" y="147"/>
                  <a:pt x="1651" y="139"/>
                </a:cubicBezTo>
                <a:cubicBezTo>
                  <a:pt x="1659" y="131"/>
                  <a:pt x="1668" y="128"/>
                  <a:pt x="1677" y="130"/>
                </a:cubicBezTo>
                <a:cubicBezTo>
                  <a:pt x="1686" y="132"/>
                  <a:pt x="1697" y="142"/>
                  <a:pt x="1703" y="152"/>
                </a:cubicBezTo>
                <a:cubicBezTo>
                  <a:pt x="1709" y="162"/>
                  <a:pt x="1709" y="178"/>
                  <a:pt x="1715" y="190"/>
                </a:cubicBezTo>
                <a:cubicBezTo>
                  <a:pt x="1721" y="202"/>
                  <a:pt x="1731" y="221"/>
                  <a:pt x="1738" y="222"/>
                </a:cubicBezTo>
                <a:cubicBezTo>
                  <a:pt x="1745" y="223"/>
                  <a:pt x="1755" y="214"/>
                  <a:pt x="1760" y="197"/>
                </a:cubicBezTo>
                <a:cubicBezTo>
                  <a:pt x="1765" y="180"/>
                  <a:pt x="1762" y="138"/>
                  <a:pt x="1770" y="120"/>
                </a:cubicBezTo>
                <a:cubicBezTo>
                  <a:pt x="1778" y="102"/>
                  <a:pt x="1794" y="92"/>
                  <a:pt x="1805" y="91"/>
                </a:cubicBezTo>
                <a:cubicBezTo>
                  <a:pt x="1816" y="90"/>
                  <a:pt x="1826" y="106"/>
                  <a:pt x="1834" y="117"/>
                </a:cubicBezTo>
                <a:cubicBezTo>
                  <a:pt x="1842" y="128"/>
                  <a:pt x="1849" y="144"/>
                  <a:pt x="1856" y="158"/>
                </a:cubicBezTo>
                <a:cubicBezTo>
                  <a:pt x="1863" y="172"/>
                  <a:pt x="1867" y="198"/>
                  <a:pt x="1875" y="203"/>
                </a:cubicBezTo>
                <a:cubicBezTo>
                  <a:pt x="1883" y="208"/>
                  <a:pt x="1901" y="201"/>
                  <a:pt x="1907" y="187"/>
                </a:cubicBezTo>
                <a:cubicBezTo>
                  <a:pt x="1913" y="173"/>
                  <a:pt x="1906" y="136"/>
                  <a:pt x="1911" y="117"/>
                </a:cubicBezTo>
                <a:cubicBezTo>
                  <a:pt x="1916" y="98"/>
                  <a:pt x="1926" y="79"/>
                  <a:pt x="1936" y="72"/>
                </a:cubicBezTo>
                <a:cubicBezTo>
                  <a:pt x="1946" y="65"/>
                  <a:pt x="1959" y="68"/>
                  <a:pt x="1971" y="72"/>
                </a:cubicBezTo>
                <a:cubicBezTo>
                  <a:pt x="1983" y="76"/>
                  <a:pt x="2001" y="81"/>
                  <a:pt x="2007" y="94"/>
                </a:cubicBezTo>
                <a:cubicBezTo>
                  <a:pt x="2013" y="107"/>
                  <a:pt x="2005" y="139"/>
                  <a:pt x="2010" y="152"/>
                </a:cubicBezTo>
                <a:cubicBezTo>
                  <a:pt x="2015" y="165"/>
                  <a:pt x="2028" y="179"/>
                  <a:pt x="2035" y="171"/>
                </a:cubicBezTo>
                <a:cubicBezTo>
                  <a:pt x="2042" y="163"/>
                  <a:pt x="2044" y="129"/>
                  <a:pt x="2051" y="104"/>
                </a:cubicBezTo>
                <a:cubicBezTo>
                  <a:pt x="2058" y="79"/>
                  <a:pt x="2067" y="32"/>
                  <a:pt x="2077" y="21"/>
                </a:cubicBezTo>
                <a:cubicBezTo>
                  <a:pt x="2087" y="10"/>
                  <a:pt x="2103" y="31"/>
                  <a:pt x="2115" y="34"/>
                </a:cubicBezTo>
                <a:cubicBezTo>
                  <a:pt x="2127" y="37"/>
                  <a:pt x="2141" y="35"/>
                  <a:pt x="2147" y="40"/>
                </a:cubicBezTo>
                <a:cubicBezTo>
                  <a:pt x="2153" y="45"/>
                  <a:pt x="2147" y="56"/>
                  <a:pt x="2151" y="66"/>
                </a:cubicBezTo>
                <a:cubicBezTo>
                  <a:pt x="2155" y="76"/>
                  <a:pt x="2167" y="90"/>
                  <a:pt x="2173" y="101"/>
                </a:cubicBezTo>
                <a:cubicBezTo>
                  <a:pt x="2179" y="112"/>
                  <a:pt x="2181" y="135"/>
                  <a:pt x="2186" y="130"/>
                </a:cubicBezTo>
                <a:cubicBezTo>
                  <a:pt x="2191" y="125"/>
                  <a:pt x="2197" y="88"/>
                  <a:pt x="2202" y="69"/>
                </a:cubicBezTo>
                <a:cubicBezTo>
                  <a:pt x="2207" y="50"/>
                  <a:pt x="2213" y="29"/>
                  <a:pt x="2218" y="18"/>
                </a:cubicBezTo>
                <a:cubicBezTo>
                  <a:pt x="2223" y="7"/>
                  <a:pt x="2225" y="2"/>
                  <a:pt x="2231" y="2"/>
                </a:cubicBezTo>
                <a:cubicBezTo>
                  <a:pt x="2237" y="2"/>
                  <a:pt x="2248" y="16"/>
                  <a:pt x="2256" y="18"/>
                </a:cubicBezTo>
                <a:cubicBezTo>
                  <a:pt x="2264" y="20"/>
                  <a:pt x="2275" y="10"/>
                  <a:pt x="2282" y="14"/>
                </a:cubicBezTo>
                <a:cubicBezTo>
                  <a:pt x="2289" y="18"/>
                  <a:pt x="2296" y="31"/>
                  <a:pt x="2301" y="43"/>
                </a:cubicBezTo>
                <a:cubicBezTo>
                  <a:pt x="2306" y="55"/>
                  <a:pt x="2309" y="74"/>
                  <a:pt x="2314" y="85"/>
                </a:cubicBezTo>
                <a:cubicBezTo>
                  <a:pt x="2319" y="96"/>
                  <a:pt x="2324" y="108"/>
                  <a:pt x="2330" y="107"/>
                </a:cubicBezTo>
                <a:cubicBezTo>
                  <a:pt x="2336" y="106"/>
                  <a:pt x="2344" y="91"/>
                  <a:pt x="2349" y="78"/>
                </a:cubicBezTo>
                <a:cubicBezTo>
                  <a:pt x="2354" y="65"/>
                  <a:pt x="2355" y="39"/>
                  <a:pt x="2362" y="27"/>
                </a:cubicBezTo>
                <a:cubicBezTo>
                  <a:pt x="2369" y="15"/>
                  <a:pt x="2386" y="4"/>
                  <a:pt x="2394" y="2"/>
                </a:cubicBezTo>
                <a:cubicBezTo>
                  <a:pt x="2402" y="0"/>
                  <a:pt x="2404" y="18"/>
                  <a:pt x="2410" y="18"/>
                </a:cubicBezTo>
                <a:cubicBezTo>
                  <a:pt x="2416" y="18"/>
                  <a:pt x="2423" y="4"/>
                  <a:pt x="2429" y="5"/>
                </a:cubicBezTo>
                <a:cubicBezTo>
                  <a:pt x="2435" y="6"/>
                  <a:pt x="2441" y="15"/>
                  <a:pt x="2448" y="27"/>
                </a:cubicBezTo>
                <a:cubicBezTo>
                  <a:pt x="2455" y="39"/>
                  <a:pt x="2466" y="64"/>
                  <a:pt x="2471" y="75"/>
                </a:cubicBezTo>
                <a:cubicBezTo>
                  <a:pt x="2476" y="86"/>
                  <a:pt x="2477" y="96"/>
                  <a:pt x="2480" y="91"/>
                </a:cubicBezTo>
                <a:cubicBezTo>
                  <a:pt x="2483" y="86"/>
                  <a:pt x="2484" y="55"/>
                  <a:pt x="2487" y="43"/>
                </a:cubicBezTo>
                <a:cubicBezTo>
                  <a:pt x="2490" y="31"/>
                  <a:pt x="2490" y="25"/>
                  <a:pt x="2496" y="18"/>
                </a:cubicBezTo>
                <a:cubicBezTo>
                  <a:pt x="2502" y="11"/>
                  <a:pt x="2515" y="4"/>
                  <a:pt x="2525" y="2"/>
                </a:cubicBezTo>
                <a:cubicBezTo>
                  <a:pt x="2535" y="0"/>
                  <a:pt x="2546" y="8"/>
                  <a:pt x="2557" y="8"/>
                </a:cubicBezTo>
                <a:cubicBezTo>
                  <a:pt x="2568" y="8"/>
                  <a:pt x="2583" y="3"/>
                  <a:pt x="2592" y="2"/>
                </a:cubicBezTo>
                <a:cubicBezTo>
                  <a:pt x="2601" y="1"/>
                  <a:pt x="2603" y="2"/>
                  <a:pt x="2611" y="2"/>
                </a:cubicBezTo>
                <a:cubicBezTo>
                  <a:pt x="2619" y="2"/>
                  <a:pt x="2629" y="2"/>
                  <a:pt x="2640" y="2"/>
                </a:cubicBezTo>
              </a:path>
            </a:pathLst>
          </a:custGeom>
          <a:noFill/>
          <a:ln w="12700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25"/>
          <p:cNvSpPr>
            <a:spLocks/>
          </p:cNvSpPr>
          <p:nvPr/>
        </p:nvSpPr>
        <p:spPr bwMode="auto">
          <a:xfrm>
            <a:off x="4151313" y="3300482"/>
            <a:ext cx="4121150" cy="742950"/>
          </a:xfrm>
          <a:custGeom>
            <a:avLst/>
            <a:gdLst>
              <a:gd name="T0" fmla="*/ 0 w 2596"/>
              <a:gd name="T1" fmla="*/ 240 h 468"/>
              <a:gd name="T2" fmla="*/ 48 w 2596"/>
              <a:gd name="T3" fmla="*/ 256 h 468"/>
              <a:gd name="T4" fmla="*/ 109 w 2596"/>
              <a:gd name="T5" fmla="*/ 230 h 468"/>
              <a:gd name="T6" fmla="*/ 183 w 2596"/>
              <a:gd name="T7" fmla="*/ 253 h 468"/>
              <a:gd name="T8" fmla="*/ 244 w 2596"/>
              <a:gd name="T9" fmla="*/ 230 h 468"/>
              <a:gd name="T10" fmla="*/ 298 w 2596"/>
              <a:gd name="T11" fmla="*/ 256 h 468"/>
              <a:gd name="T12" fmla="*/ 356 w 2596"/>
              <a:gd name="T13" fmla="*/ 230 h 468"/>
              <a:gd name="T14" fmla="*/ 423 w 2596"/>
              <a:gd name="T15" fmla="*/ 253 h 468"/>
              <a:gd name="T16" fmla="*/ 487 w 2596"/>
              <a:gd name="T17" fmla="*/ 224 h 468"/>
              <a:gd name="T18" fmla="*/ 573 w 2596"/>
              <a:gd name="T19" fmla="*/ 246 h 468"/>
              <a:gd name="T20" fmla="*/ 640 w 2596"/>
              <a:gd name="T21" fmla="*/ 224 h 468"/>
              <a:gd name="T22" fmla="*/ 727 w 2596"/>
              <a:gd name="T23" fmla="*/ 253 h 468"/>
              <a:gd name="T24" fmla="*/ 794 w 2596"/>
              <a:gd name="T25" fmla="*/ 227 h 468"/>
              <a:gd name="T26" fmla="*/ 871 w 2596"/>
              <a:gd name="T27" fmla="*/ 256 h 468"/>
              <a:gd name="T28" fmla="*/ 954 w 2596"/>
              <a:gd name="T29" fmla="*/ 227 h 468"/>
              <a:gd name="T30" fmla="*/ 1024 w 2596"/>
              <a:gd name="T31" fmla="*/ 253 h 468"/>
              <a:gd name="T32" fmla="*/ 1101 w 2596"/>
              <a:gd name="T33" fmla="*/ 221 h 468"/>
              <a:gd name="T34" fmla="*/ 1184 w 2596"/>
              <a:gd name="T35" fmla="*/ 253 h 468"/>
              <a:gd name="T36" fmla="*/ 1255 w 2596"/>
              <a:gd name="T37" fmla="*/ 221 h 468"/>
              <a:gd name="T38" fmla="*/ 1319 w 2596"/>
              <a:gd name="T39" fmla="*/ 253 h 468"/>
              <a:gd name="T40" fmla="*/ 1396 w 2596"/>
              <a:gd name="T41" fmla="*/ 224 h 468"/>
              <a:gd name="T42" fmla="*/ 1447 w 2596"/>
              <a:gd name="T43" fmla="*/ 253 h 468"/>
              <a:gd name="T44" fmla="*/ 1520 w 2596"/>
              <a:gd name="T45" fmla="*/ 221 h 468"/>
              <a:gd name="T46" fmla="*/ 1600 w 2596"/>
              <a:gd name="T47" fmla="*/ 253 h 468"/>
              <a:gd name="T48" fmla="*/ 1677 w 2596"/>
              <a:gd name="T49" fmla="*/ 221 h 468"/>
              <a:gd name="T50" fmla="*/ 1757 w 2596"/>
              <a:gd name="T51" fmla="*/ 253 h 468"/>
              <a:gd name="T52" fmla="*/ 1828 w 2596"/>
              <a:gd name="T53" fmla="*/ 198 h 468"/>
              <a:gd name="T54" fmla="*/ 1892 w 2596"/>
              <a:gd name="T55" fmla="*/ 265 h 468"/>
              <a:gd name="T56" fmla="*/ 1981 w 2596"/>
              <a:gd name="T57" fmla="*/ 198 h 468"/>
              <a:gd name="T58" fmla="*/ 2039 w 2596"/>
              <a:gd name="T59" fmla="*/ 275 h 468"/>
              <a:gd name="T60" fmla="*/ 2116 w 2596"/>
              <a:gd name="T61" fmla="*/ 166 h 468"/>
              <a:gd name="T62" fmla="*/ 2189 w 2596"/>
              <a:gd name="T63" fmla="*/ 307 h 468"/>
              <a:gd name="T64" fmla="*/ 2234 w 2596"/>
              <a:gd name="T65" fmla="*/ 147 h 468"/>
              <a:gd name="T66" fmla="*/ 2282 w 2596"/>
              <a:gd name="T67" fmla="*/ 147 h 468"/>
              <a:gd name="T68" fmla="*/ 2301 w 2596"/>
              <a:gd name="T69" fmla="*/ 336 h 468"/>
              <a:gd name="T70" fmla="*/ 2340 w 2596"/>
              <a:gd name="T71" fmla="*/ 381 h 468"/>
              <a:gd name="T72" fmla="*/ 2365 w 2596"/>
              <a:gd name="T73" fmla="*/ 307 h 468"/>
              <a:gd name="T74" fmla="*/ 2372 w 2596"/>
              <a:gd name="T75" fmla="*/ 208 h 468"/>
              <a:gd name="T76" fmla="*/ 2381 w 2596"/>
              <a:gd name="T77" fmla="*/ 83 h 468"/>
              <a:gd name="T78" fmla="*/ 2407 w 2596"/>
              <a:gd name="T79" fmla="*/ 61 h 468"/>
              <a:gd name="T80" fmla="*/ 2432 w 2596"/>
              <a:gd name="T81" fmla="*/ 118 h 468"/>
              <a:gd name="T82" fmla="*/ 2445 w 2596"/>
              <a:gd name="T83" fmla="*/ 272 h 468"/>
              <a:gd name="T84" fmla="*/ 2455 w 2596"/>
              <a:gd name="T85" fmla="*/ 393 h 468"/>
              <a:gd name="T86" fmla="*/ 2484 w 2596"/>
              <a:gd name="T87" fmla="*/ 467 h 468"/>
              <a:gd name="T88" fmla="*/ 2516 w 2596"/>
              <a:gd name="T89" fmla="*/ 400 h 468"/>
              <a:gd name="T90" fmla="*/ 2519 w 2596"/>
              <a:gd name="T91" fmla="*/ 230 h 468"/>
              <a:gd name="T92" fmla="*/ 2528 w 2596"/>
              <a:gd name="T93" fmla="*/ 64 h 468"/>
              <a:gd name="T94" fmla="*/ 2554 w 2596"/>
              <a:gd name="T95" fmla="*/ 9 h 468"/>
              <a:gd name="T96" fmla="*/ 2586 w 2596"/>
              <a:gd name="T97" fmla="*/ 121 h 468"/>
              <a:gd name="T98" fmla="*/ 2596 w 2596"/>
              <a:gd name="T99" fmla="*/ 275 h 468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596"/>
              <a:gd name="T151" fmla="*/ 0 h 468"/>
              <a:gd name="T152" fmla="*/ 2596 w 2596"/>
              <a:gd name="T153" fmla="*/ 468 h 468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596" h="468">
                <a:moveTo>
                  <a:pt x="0" y="240"/>
                </a:moveTo>
                <a:cubicBezTo>
                  <a:pt x="15" y="249"/>
                  <a:pt x="30" y="258"/>
                  <a:pt x="48" y="256"/>
                </a:cubicBezTo>
                <a:cubicBezTo>
                  <a:pt x="66" y="254"/>
                  <a:pt x="87" y="230"/>
                  <a:pt x="109" y="230"/>
                </a:cubicBezTo>
                <a:cubicBezTo>
                  <a:pt x="131" y="230"/>
                  <a:pt x="161" y="253"/>
                  <a:pt x="183" y="253"/>
                </a:cubicBezTo>
                <a:cubicBezTo>
                  <a:pt x="205" y="253"/>
                  <a:pt x="225" y="230"/>
                  <a:pt x="244" y="230"/>
                </a:cubicBezTo>
                <a:cubicBezTo>
                  <a:pt x="263" y="230"/>
                  <a:pt x="279" y="256"/>
                  <a:pt x="298" y="256"/>
                </a:cubicBezTo>
                <a:cubicBezTo>
                  <a:pt x="317" y="256"/>
                  <a:pt x="335" y="230"/>
                  <a:pt x="356" y="230"/>
                </a:cubicBezTo>
                <a:cubicBezTo>
                  <a:pt x="377" y="230"/>
                  <a:pt x="401" y="254"/>
                  <a:pt x="423" y="253"/>
                </a:cubicBezTo>
                <a:cubicBezTo>
                  <a:pt x="445" y="252"/>
                  <a:pt x="462" y="225"/>
                  <a:pt x="487" y="224"/>
                </a:cubicBezTo>
                <a:cubicBezTo>
                  <a:pt x="512" y="223"/>
                  <a:pt x="548" y="246"/>
                  <a:pt x="573" y="246"/>
                </a:cubicBezTo>
                <a:cubicBezTo>
                  <a:pt x="598" y="246"/>
                  <a:pt x="614" y="223"/>
                  <a:pt x="640" y="224"/>
                </a:cubicBezTo>
                <a:cubicBezTo>
                  <a:pt x="666" y="225"/>
                  <a:pt x="701" y="253"/>
                  <a:pt x="727" y="253"/>
                </a:cubicBezTo>
                <a:cubicBezTo>
                  <a:pt x="753" y="253"/>
                  <a:pt x="770" y="227"/>
                  <a:pt x="794" y="227"/>
                </a:cubicBezTo>
                <a:cubicBezTo>
                  <a:pt x="818" y="227"/>
                  <a:pt x="844" y="256"/>
                  <a:pt x="871" y="256"/>
                </a:cubicBezTo>
                <a:cubicBezTo>
                  <a:pt x="898" y="256"/>
                  <a:pt x="929" y="227"/>
                  <a:pt x="954" y="227"/>
                </a:cubicBezTo>
                <a:cubicBezTo>
                  <a:pt x="979" y="227"/>
                  <a:pt x="1000" y="254"/>
                  <a:pt x="1024" y="253"/>
                </a:cubicBezTo>
                <a:cubicBezTo>
                  <a:pt x="1048" y="252"/>
                  <a:pt x="1074" y="221"/>
                  <a:pt x="1101" y="221"/>
                </a:cubicBezTo>
                <a:cubicBezTo>
                  <a:pt x="1128" y="221"/>
                  <a:pt x="1158" y="253"/>
                  <a:pt x="1184" y="253"/>
                </a:cubicBezTo>
                <a:cubicBezTo>
                  <a:pt x="1210" y="253"/>
                  <a:pt x="1233" y="221"/>
                  <a:pt x="1255" y="221"/>
                </a:cubicBezTo>
                <a:cubicBezTo>
                  <a:pt x="1277" y="221"/>
                  <a:pt x="1296" y="253"/>
                  <a:pt x="1319" y="253"/>
                </a:cubicBezTo>
                <a:cubicBezTo>
                  <a:pt x="1342" y="253"/>
                  <a:pt x="1375" y="224"/>
                  <a:pt x="1396" y="224"/>
                </a:cubicBezTo>
                <a:cubicBezTo>
                  <a:pt x="1417" y="224"/>
                  <a:pt x="1426" y="253"/>
                  <a:pt x="1447" y="253"/>
                </a:cubicBezTo>
                <a:cubicBezTo>
                  <a:pt x="1468" y="253"/>
                  <a:pt x="1495" y="221"/>
                  <a:pt x="1520" y="221"/>
                </a:cubicBezTo>
                <a:cubicBezTo>
                  <a:pt x="1545" y="221"/>
                  <a:pt x="1574" y="253"/>
                  <a:pt x="1600" y="253"/>
                </a:cubicBezTo>
                <a:cubicBezTo>
                  <a:pt x="1626" y="253"/>
                  <a:pt x="1651" y="221"/>
                  <a:pt x="1677" y="221"/>
                </a:cubicBezTo>
                <a:cubicBezTo>
                  <a:pt x="1703" y="221"/>
                  <a:pt x="1732" y="257"/>
                  <a:pt x="1757" y="253"/>
                </a:cubicBezTo>
                <a:cubicBezTo>
                  <a:pt x="1782" y="249"/>
                  <a:pt x="1806" y="196"/>
                  <a:pt x="1828" y="198"/>
                </a:cubicBezTo>
                <a:cubicBezTo>
                  <a:pt x="1850" y="200"/>
                  <a:pt x="1867" y="265"/>
                  <a:pt x="1892" y="265"/>
                </a:cubicBezTo>
                <a:cubicBezTo>
                  <a:pt x="1917" y="265"/>
                  <a:pt x="1957" y="196"/>
                  <a:pt x="1981" y="198"/>
                </a:cubicBezTo>
                <a:cubicBezTo>
                  <a:pt x="2005" y="200"/>
                  <a:pt x="2016" y="280"/>
                  <a:pt x="2039" y="275"/>
                </a:cubicBezTo>
                <a:cubicBezTo>
                  <a:pt x="2062" y="270"/>
                  <a:pt x="2091" y="161"/>
                  <a:pt x="2116" y="166"/>
                </a:cubicBezTo>
                <a:cubicBezTo>
                  <a:pt x="2141" y="171"/>
                  <a:pt x="2169" y="310"/>
                  <a:pt x="2189" y="307"/>
                </a:cubicBezTo>
                <a:cubicBezTo>
                  <a:pt x="2209" y="304"/>
                  <a:pt x="2219" y="174"/>
                  <a:pt x="2234" y="147"/>
                </a:cubicBezTo>
                <a:cubicBezTo>
                  <a:pt x="2249" y="120"/>
                  <a:pt x="2271" y="115"/>
                  <a:pt x="2282" y="147"/>
                </a:cubicBezTo>
                <a:cubicBezTo>
                  <a:pt x="2293" y="179"/>
                  <a:pt x="2291" y="297"/>
                  <a:pt x="2301" y="336"/>
                </a:cubicBezTo>
                <a:cubicBezTo>
                  <a:pt x="2311" y="375"/>
                  <a:pt x="2329" y="386"/>
                  <a:pt x="2340" y="381"/>
                </a:cubicBezTo>
                <a:cubicBezTo>
                  <a:pt x="2351" y="376"/>
                  <a:pt x="2360" y="336"/>
                  <a:pt x="2365" y="307"/>
                </a:cubicBezTo>
                <a:cubicBezTo>
                  <a:pt x="2370" y="278"/>
                  <a:pt x="2369" y="245"/>
                  <a:pt x="2372" y="208"/>
                </a:cubicBezTo>
                <a:cubicBezTo>
                  <a:pt x="2375" y="171"/>
                  <a:pt x="2375" y="107"/>
                  <a:pt x="2381" y="83"/>
                </a:cubicBezTo>
                <a:cubicBezTo>
                  <a:pt x="2387" y="59"/>
                  <a:pt x="2398" y="55"/>
                  <a:pt x="2407" y="61"/>
                </a:cubicBezTo>
                <a:cubicBezTo>
                  <a:pt x="2416" y="67"/>
                  <a:pt x="2426" y="83"/>
                  <a:pt x="2432" y="118"/>
                </a:cubicBezTo>
                <a:cubicBezTo>
                  <a:pt x="2438" y="153"/>
                  <a:pt x="2441" y="226"/>
                  <a:pt x="2445" y="272"/>
                </a:cubicBezTo>
                <a:cubicBezTo>
                  <a:pt x="2449" y="318"/>
                  <a:pt x="2449" y="361"/>
                  <a:pt x="2455" y="393"/>
                </a:cubicBezTo>
                <a:cubicBezTo>
                  <a:pt x="2461" y="425"/>
                  <a:pt x="2474" y="466"/>
                  <a:pt x="2484" y="467"/>
                </a:cubicBezTo>
                <a:cubicBezTo>
                  <a:pt x="2494" y="468"/>
                  <a:pt x="2510" y="439"/>
                  <a:pt x="2516" y="400"/>
                </a:cubicBezTo>
                <a:cubicBezTo>
                  <a:pt x="2522" y="361"/>
                  <a:pt x="2517" y="286"/>
                  <a:pt x="2519" y="230"/>
                </a:cubicBezTo>
                <a:cubicBezTo>
                  <a:pt x="2521" y="174"/>
                  <a:pt x="2522" y="101"/>
                  <a:pt x="2528" y="64"/>
                </a:cubicBezTo>
                <a:cubicBezTo>
                  <a:pt x="2534" y="27"/>
                  <a:pt x="2544" y="0"/>
                  <a:pt x="2554" y="9"/>
                </a:cubicBezTo>
                <a:cubicBezTo>
                  <a:pt x="2564" y="18"/>
                  <a:pt x="2579" y="77"/>
                  <a:pt x="2586" y="121"/>
                </a:cubicBezTo>
                <a:cubicBezTo>
                  <a:pt x="2593" y="165"/>
                  <a:pt x="2594" y="220"/>
                  <a:pt x="2596" y="275"/>
                </a:cubicBezTo>
              </a:path>
            </a:pathLst>
          </a:custGeom>
          <a:noFill/>
          <a:ln w="12700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>
            <a:off x="4151313" y="4231829"/>
            <a:ext cx="4140200" cy="739775"/>
          </a:xfrm>
          <a:custGeom>
            <a:avLst/>
            <a:gdLst>
              <a:gd name="T0" fmla="*/ 0 w 2608"/>
              <a:gd name="T1" fmla="*/ 466 h 466"/>
              <a:gd name="T2" fmla="*/ 32 w 2608"/>
              <a:gd name="T3" fmla="*/ 421 h 466"/>
              <a:gd name="T4" fmla="*/ 77 w 2608"/>
              <a:gd name="T5" fmla="*/ 344 h 466"/>
              <a:gd name="T6" fmla="*/ 132 w 2608"/>
              <a:gd name="T7" fmla="*/ 319 h 466"/>
              <a:gd name="T8" fmla="*/ 173 w 2608"/>
              <a:gd name="T9" fmla="*/ 277 h 466"/>
              <a:gd name="T10" fmla="*/ 256 w 2608"/>
              <a:gd name="T11" fmla="*/ 283 h 466"/>
              <a:gd name="T12" fmla="*/ 304 w 2608"/>
              <a:gd name="T13" fmla="*/ 261 h 466"/>
              <a:gd name="T14" fmla="*/ 381 w 2608"/>
              <a:gd name="T15" fmla="*/ 267 h 466"/>
              <a:gd name="T16" fmla="*/ 468 w 2608"/>
              <a:gd name="T17" fmla="*/ 226 h 466"/>
              <a:gd name="T18" fmla="*/ 535 w 2608"/>
              <a:gd name="T19" fmla="*/ 229 h 466"/>
              <a:gd name="T20" fmla="*/ 618 w 2608"/>
              <a:gd name="T21" fmla="*/ 207 h 466"/>
              <a:gd name="T22" fmla="*/ 698 w 2608"/>
              <a:gd name="T23" fmla="*/ 210 h 466"/>
              <a:gd name="T24" fmla="*/ 756 w 2608"/>
              <a:gd name="T25" fmla="*/ 184 h 466"/>
              <a:gd name="T26" fmla="*/ 816 w 2608"/>
              <a:gd name="T27" fmla="*/ 187 h 466"/>
              <a:gd name="T28" fmla="*/ 877 w 2608"/>
              <a:gd name="T29" fmla="*/ 178 h 466"/>
              <a:gd name="T30" fmla="*/ 925 w 2608"/>
              <a:gd name="T31" fmla="*/ 155 h 466"/>
              <a:gd name="T32" fmla="*/ 1002 w 2608"/>
              <a:gd name="T33" fmla="*/ 168 h 466"/>
              <a:gd name="T34" fmla="*/ 1060 w 2608"/>
              <a:gd name="T35" fmla="*/ 152 h 466"/>
              <a:gd name="T36" fmla="*/ 1120 w 2608"/>
              <a:gd name="T37" fmla="*/ 152 h 466"/>
              <a:gd name="T38" fmla="*/ 1210 w 2608"/>
              <a:gd name="T39" fmla="*/ 130 h 466"/>
              <a:gd name="T40" fmla="*/ 1258 w 2608"/>
              <a:gd name="T41" fmla="*/ 136 h 466"/>
              <a:gd name="T42" fmla="*/ 1354 w 2608"/>
              <a:gd name="T43" fmla="*/ 117 h 466"/>
              <a:gd name="T44" fmla="*/ 1418 w 2608"/>
              <a:gd name="T45" fmla="*/ 123 h 466"/>
              <a:gd name="T46" fmla="*/ 1504 w 2608"/>
              <a:gd name="T47" fmla="*/ 101 h 466"/>
              <a:gd name="T48" fmla="*/ 1581 w 2608"/>
              <a:gd name="T49" fmla="*/ 114 h 466"/>
              <a:gd name="T50" fmla="*/ 1645 w 2608"/>
              <a:gd name="T51" fmla="*/ 88 h 466"/>
              <a:gd name="T52" fmla="*/ 1709 w 2608"/>
              <a:gd name="T53" fmla="*/ 98 h 466"/>
              <a:gd name="T54" fmla="*/ 1786 w 2608"/>
              <a:gd name="T55" fmla="*/ 66 h 466"/>
              <a:gd name="T56" fmla="*/ 1866 w 2608"/>
              <a:gd name="T57" fmla="*/ 85 h 466"/>
              <a:gd name="T58" fmla="*/ 1927 w 2608"/>
              <a:gd name="T59" fmla="*/ 56 h 466"/>
              <a:gd name="T60" fmla="*/ 2004 w 2608"/>
              <a:gd name="T61" fmla="*/ 69 h 466"/>
              <a:gd name="T62" fmla="*/ 2084 w 2608"/>
              <a:gd name="T63" fmla="*/ 47 h 466"/>
              <a:gd name="T64" fmla="*/ 2144 w 2608"/>
              <a:gd name="T65" fmla="*/ 59 h 466"/>
              <a:gd name="T66" fmla="*/ 2215 w 2608"/>
              <a:gd name="T67" fmla="*/ 27 h 466"/>
              <a:gd name="T68" fmla="*/ 2295 w 2608"/>
              <a:gd name="T69" fmla="*/ 43 h 466"/>
              <a:gd name="T70" fmla="*/ 2359 w 2608"/>
              <a:gd name="T71" fmla="*/ 8 h 466"/>
              <a:gd name="T72" fmla="*/ 2439 w 2608"/>
              <a:gd name="T73" fmla="*/ 27 h 466"/>
              <a:gd name="T74" fmla="*/ 2509 w 2608"/>
              <a:gd name="T75" fmla="*/ 2 h 466"/>
              <a:gd name="T76" fmla="*/ 2586 w 2608"/>
              <a:gd name="T77" fmla="*/ 15 h 466"/>
              <a:gd name="T78" fmla="*/ 2608 w 2608"/>
              <a:gd name="T79" fmla="*/ 11 h 46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2608"/>
              <a:gd name="T121" fmla="*/ 0 h 466"/>
              <a:gd name="T122" fmla="*/ 2608 w 2608"/>
              <a:gd name="T123" fmla="*/ 466 h 46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2608" h="466">
                <a:moveTo>
                  <a:pt x="0" y="466"/>
                </a:moveTo>
                <a:cubicBezTo>
                  <a:pt x="9" y="453"/>
                  <a:pt x="19" y="441"/>
                  <a:pt x="32" y="421"/>
                </a:cubicBezTo>
                <a:cubicBezTo>
                  <a:pt x="45" y="401"/>
                  <a:pt x="60" y="361"/>
                  <a:pt x="77" y="344"/>
                </a:cubicBezTo>
                <a:cubicBezTo>
                  <a:pt x="94" y="327"/>
                  <a:pt x="116" y="330"/>
                  <a:pt x="132" y="319"/>
                </a:cubicBezTo>
                <a:cubicBezTo>
                  <a:pt x="148" y="308"/>
                  <a:pt x="152" y="283"/>
                  <a:pt x="173" y="277"/>
                </a:cubicBezTo>
                <a:cubicBezTo>
                  <a:pt x="194" y="271"/>
                  <a:pt x="234" y="286"/>
                  <a:pt x="256" y="283"/>
                </a:cubicBezTo>
                <a:cubicBezTo>
                  <a:pt x="278" y="280"/>
                  <a:pt x="283" y="264"/>
                  <a:pt x="304" y="261"/>
                </a:cubicBezTo>
                <a:cubicBezTo>
                  <a:pt x="325" y="258"/>
                  <a:pt x="354" y="273"/>
                  <a:pt x="381" y="267"/>
                </a:cubicBezTo>
                <a:cubicBezTo>
                  <a:pt x="408" y="261"/>
                  <a:pt x="442" y="232"/>
                  <a:pt x="468" y="226"/>
                </a:cubicBezTo>
                <a:cubicBezTo>
                  <a:pt x="494" y="220"/>
                  <a:pt x="510" y="232"/>
                  <a:pt x="535" y="229"/>
                </a:cubicBezTo>
                <a:cubicBezTo>
                  <a:pt x="560" y="226"/>
                  <a:pt x="591" y="210"/>
                  <a:pt x="618" y="207"/>
                </a:cubicBezTo>
                <a:cubicBezTo>
                  <a:pt x="645" y="204"/>
                  <a:pt x="675" y="214"/>
                  <a:pt x="698" y="210"/>
                </a:cubicBezTo>
                <a:cubicBezTo>
                  <a:pt x="721" y="206"/>
                  <a:pt x="736" y="188"/>
                  <a:pt x="756" y="184"/>
                </a:cubicBezTo>
                <a:cubicBezTo>
                  <a:pt x="776" y="180"/>
                  <a:pt x="796" y="188"/>
                  <a:pt x="816" y="187"/>
                </a:cubicBezTo>
                <a:cubicBezTo>
                  <a:pt x="836" y="186"/>
                  <a:pt x="859" y="183"/>
                  <a:pt x="877" y="178"/>
                </a:cubicBezTo>
                <a:cubicBezTo>
                  <a:pt x="895" y="173"/>
                  <a:pt x="904" y="157"/>
                  <a:pt x="925" y="155"/>
                </a:cubicBezTo>
                <a:cubicBezTo>
                  <a:pt x="946" y="153"/>
                  <a:pt x="980" y="168"/>
                  <a:pt x="1002" y="168"/>
                </a:cubicBezTo>
                <a:cubicBezTo>
                  <a:pt x="1024" y="168"/>
                  <a:pt x="1040" y="155"/>
                  <a:pt x="1060" y="152"/>
                </a:cubicBezTo>
                <a:cubicBezTo>
                  <a:pt x="1080" y="149"/>
                  <a:pt x="1095" y="156"/>
                  <a:pt x="1120" y="152"/>
                </a:cubicBezTo>
                <a:cubicBezTo>
                  <a:pt x="1145" y="148"/>
                  <a:pt x="1187" y="133"/>
                  <a:pt x="1210" y="130"/>
                </a:cubicBezTo>
                <a:cubicBezTo>
                  <a:pt x="1233" y="127"/>
                  <a:pt x="1234" y="138"/>
                  <a:pt x="1258" y="136"/>
                </a:cubicBezTo>
                <a:cubicBezTo>
                  <a:pt x="1282" y="134"/>
                  <a:pt x="1327" y="119"/>
                  <a:pt x="1354" y="117"/>
                </a:cubicBezTo>
                <a:cubicBezTo>
                  <a:pt x="1381" y="115"/>
                  <a:pt x="1393" y="126"/>
                  <a:pt x="1418" y="123"/>
                </a:cubicBezTo>
                <a:cubicBezTo>
                  <a:pt x="1443" y="120"/>
                  <a:pt x="1477" y="102"/>
                  <a:pt x="1504" y="101"/>
                </a:cubicBezTo>
                <a:cubicBezTo>
                  <a:pt x="1531" y="100"/>
                  <a:pt x="1558" y="116"/>
                  <a:pt x="1581" y="114"/>
                </a:cubicBezTo>
                <a:cubicBezTo>
                  <a:pt x="1604" y="112"/>
                  <a:pt x="1624" y="91"/>
                  <a:pt x="1645" y="88"/>
                </a:cubicBezTo>
                <a:cubicBezTo>
                  <a:pt x="1666" y="85"/>
                  <a:pt x="1686" y="102"/>
                  <a:pt x="1709" y="98"/>
                </a:cubicBezTo>
                <a:cubicBezTo>
                  <a:pt x="1732" y="94"/>
                  <a:pt x="1760" y="68"/>
                  <a:pt x="1786" y="66"/>
                </a:cubicBezTo>
                <a:cubicBezTo>
                  <a:pt x="1812" y="64"/>
                  <a:pt x="1843" y="87"/>
                  <a:pt x="1866" y="85"/>
                </a:cubicBezTo>
                <a:cubicBezTo>
                  <a:pt x="1889" y="83"/>
                  <a:pt x="1904" y="59"/>
                  <a:pt x="1927" y="56"/>
                </a:cubicBezTo>
                <a:cubicBezTo>
                  <a:pt x="1950" y="53"/>
                  <a:pt x="1978" y="70"/>
                  <a:pt x="2004" y="69"/>
                </a:cubicBezTo>
                <a:cubicBezTo>
                  <a:pt x="2030" y="68"/>
                  <a:pt x="2061" y="49"/>
                  <a:pt x="2084" y="47"/>
                </a:cubicBezTo>
                <a:cubicBezTo>
                  <a:pt x="2107" y="45"/>
                  <a:pt x="2122" y="62"/>
                  <a:pt x="2144" y="59"/>
                </a:cubicBezTo>
                <a:cubicBezTo>
                  <a:pt x="2166" y="56"/>
                  <a:pt x="2190" y="30"/>
                  <a:pt x="2215" y="27"/>
                </a:cubicBezTo>
                <a:cubicBezTo>
                  <a:pt x="2240" y="24"/>
                  <a:pt x="2271" y="46"/>
                  <a:pt x="2295" y="43"/>
                </a:cubicBezTo>
                <a:cubicBezTo>
                  <a:pt x="2319" y="40"/>
                  <a:pt x="2335" y="11"/>
                  <a:pt x="2359" y="8"/>
                </a:cubicBezTo>
                <a:cubicBezTo>
                  <a:pt x="2383" y="5"/>
                  <a:pt x="2414" y="28"/>
                  <a:pt x="2439" y="27"/>
                </a:cubicBezTo>
                <a:cubicBezTo>
                  <a:pt x="2464" y="26"/>
                  <a:pt x="2485" y="4"/>
                  <a:pt x="2509" y="2"/>
                </a:cubicBezTo>
                <a:cubicBezTo>
                  <a:pt x="2533" y="0"/>
                  <a:pt x="2570" y="14"/>
                  <a:pt x="2586" y="15"/>
                </a:cubicBezTo>
                <a:cubicBezTo>
                  <a:pt x="2602" y="16"/>
                  <a:pt x="2605" y="13"/>
                  <a:pt x="2608" y="11"/>
                </a:cubicBezTo>
              </a:path>
            </a:pathLst>
          </a:custGeom>
          <a:noFill/>
          <a:ln w="12700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Group 27"/>
          <p:cNvGrpSpPr>
            <a:grpSpLocks/>
          </p:cNvGrpSpPr>
          <p:nvPr/>
        </p:nvGrpSpPr>
        <p:grpSpPr bwMode="auto">
          <a:xfrm>
            <a:off x="3695700" y="4101654"/>
            <a:ext cx="5030788" cy="1069975"/>
            <a:chOff x="2576" y="2473"/>
            <a:chExt cx="3169" cy="674"/>
          </a:xfrm>
        </p:grpSpPr>
        <p:sp>
          <p:nvSpPr>
            <p:cNvPr id="32" name="Freeform 28"/>
            <p:cNvSpPr>
              <a:spLocks/>
            </p:cNvSpPr>
            <p:nvPr/>
          </p:nvSpPr>
          <p:spPr bwMode="auto">
            <a:xfrm>
              <a:off x="2863" y="2637"/>
              <a:ext cx="2666" cy="384"/>
            </a:xfrm>
            <a:custGeom>
              <a:avLst/>
              <a:gdLst>
                <a:gd name="T0" fmla="*/ 0 w 2666"/>
                <a:gd name="T1" fmla="*/ 0 h 384"/>
                <a:gd name="T2" fmla="*/ 0 w 2666"/>
                <a:gd name="T3" fmla="*/ 384 h 384"/>
                <a:gd name="T4" fmla="*/ 2666 w 2666"/>
                <a:gd name="T5" fmla="*/ 384 h 384"/>
                <a:gd name="T6" fmla="*/ 0 60000 65536"/>
                <a:gd name="T7" fmla="*/ 0 60000 65536"/>
                <a:gd name="T8" fmla="*/ 0 60000 65536"/>
                <a:gd name="T9" fmla="*/ 0 w 2666"/>
                <a:gd name="T10" fmla="*/ 0 h 384"/>
                <a:gd name="T11" fmla="*/ 2666 w 2666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66" h="384">
                  <a:moveTo>
                    <a:pt x="0" y="0"/>
                  </a:moveTo>
                  <a:lnTo>
                    <a:pt x="0" y="384"/>
                  </a:lnTo>
                  <a:lnTo>
                    <a:pt x="2666" y="384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2576" y="2473"/>
              <a:ext cx="29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</a:t>
              </a:r>
              <a:r>
                <a:rPr lang="en-US" altLang="zh-CN" sz="2000" b="1" baseline="30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r</a:t>
              </a:r>
              <a:r>
                <a:rPr lang="en-US" altLang="zh-CN" sz="2000" b="1" baseline="-25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d</a:t>
              </a:r>
              <a:endParaRPr lang="en-US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5513" y="289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</a:rPr>
                <a:t>N</a:t>
              </a:r>
            </a:p>
          </p:txBody>
        </p:sp>
        <p:sp>
          <p:nvSpPr>
            <p:cNvPr id="35" name="Text Box 31"/>
            <p:cNvSpPr txBox="1">
              <a:spLocks noChangeArrowheads="1"/>
            </p:cNvSpPr>
            <p:nvPr/>
          </p:nvSpPr>
          <p:spPr bwMode="auto">
            <a:xfrm>
              <a:off x="2866" y="2491"/>
              <a:ext cx="5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总应变</a:t>
              </a:r>
              <a:endParaRPr lang="en-US" altLang="zh-CN" sz="18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grpSp>
        <p:nvGrpSpPr>
          <p:cNvPr id="36" name="Group 32"/>
          <p:cNvGrpSpPr>
            <a:grpSpLocks/>
          </p:cNvGrpSpPr>
          <p:nvPr/>
        </p:nvGrpSpPr>
        <p:grpSpPr bwMode="auto">
          <a:xfrm>
            <a:off x="3708400" y="3121095"/>
            <a:ext cx="5030788" cy="865187"/>
            <a:chOff x="2584" y="1819"/>
            <a:chExt cx="3169" cy="545"/>
          </a:xfrm>
        </p:grpSpPr>
        <p:sp>
          <p:nvSpPr>
            <p:cNvPr id="37" name="Line 33"/>
            <p:cNvSpPr>
              <a:spLocks noChangeShapeType="1"/>
            </p:cNvSpPr>
            <p:nvPr/>
          </p:nvSpPr>
          <p:spPr bwMode="auto">
            <a:xfrm flipV="1">
              <a:off x="2863" y="1944"/>
              <a:ext cx="0" cy="4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>
              <a:off x="2860" y="2173"/>
              <a:ext cx="26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2584" y="1819"/>
              <a:ext cx="24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</a:t>
              </a:r>
              <a:r>
                <a:rPr lang="en-US" altLang="zh-CN" sz="20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d</a:t>
              </a:r>
              <a:endParaRPr lang="en-US" altLang="zh-CN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40" name="Text Box 36"/>
            <p:cNvSpPr txBox="1">
              <a:spLocks noChangeArrowheads="1"/>
            </p:cNvSpPr>
            <p:nvPr/>
          </p:nvSpPr>
          <p:spPr bwMode="auto">
            <a:xfrm>
              <a:off x="5521" y="204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</a:rPr>
                <a:t>N</a:t>
              </a:r>
            </a:p>
          </p:txBody>
        </p:sp>
        <p:sp>
          <p:nvSpPr>
            <p:cNvPr id="41" name="Text Box 37"/>
            <p:cNvSpPr txBox="1">
              <a:spLocks noChangeArrowheads="1"/>
            </p:cNvSpPr>
            <p:nvPr/>
          </p:nvSpPr>
          <p:spPr bwMode="auto">
            <a:xfrm>
              <a:off x="2911" y="1840"/>
              <a:ext cx="5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动应变</a:t>
              </a:r>
              <a:endParaRPr lang="en-US" altLang="zh-CN" sz="18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grpSp>
        <p:nvGrpSpPr>
          <p:cNvPr id="42" name="Group 38"/>
          <p:cNvGrpSpPr>
            <a:grpSpLocks/>
          </p:cNvGrpSpPr>
          <p:nvPr/>
        </p:nvGrpSpPr>
        <p:grpSpPr bwMode="auto">
          <a:xfrm>
            <a:off x="3744913" y="2255522"/>
            <a:ext cx="4968875" cy="885825"/>
            <a:chOff x="2607" y="1253"/>
            <a:chExt cx="3130" cy="558"/>
          </a:xfrm>
        </p:grpSpPr>
        <p:sp>
          <p:nvSpPr>
            <p:cNvPr id="43" name="Line 39"/>
            <p:cNvSpPr>
              <a:spLocks noChangeShapeType="1"/>
            </p:cNvSpPr>
            <p:nvPr/>
          </p:nvSpPr>
          <p:spPr bwMode="auto">
            <a:xfrm flipV="1">
              <a:off x="2860" y="1332"/>
              <a:ext cx="0" cy="4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2857" y="1682"/>
              <a:ext cx="26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41"/>
            <p:cNvSpPr txBox="1">
              <a:spLocks noChangeArrowheads="1"/>
            </p:cNvSpPr>
            <p:nvPr/>
          </p:nvSpPr>
          <p:spPr bwMode="auto">
            <a:xfrm>
              <a:off x="2607" y="1253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u</a:t>
              </a:r>
            </a:p>
          </p:txBody>
        </p:sp>
        <p:sp>
          <p:nvSpPr>
            <p:cNvPr id="46" name="Text Box 42"/>
            <p:cNvSpPr txBox="1">
              <a:spLocks noChangeArrowheads="1"/>
            </p:cNvSpPr>
            <p:nvPr/>
          </p:nvSpPr>
          <p:spPr bwMode="auto">
            <a:xfrm>
              <a:off x="5505" y="1561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</a:rPr>
                <a:t>N</a:t>
              </a:r>
            </a:p>
          </p:txBody>
        </p:sp>
        <p:sp>
          <p:nvSpPr>
            <p:cNvPr id="47" name="Text Box 43"/>
            <p:cNvSpPr txBox="1">
              <a:spLocks noChangeArrowheads="1"/>
            </p:cNvSpPr>
            <p:nvPr/>
          </p:nvSpPr>
          <p:spPr bwMode="auto">
            <a:xfrm>
              <a:off x="2896" y="1253"/>
              <a:ext cx="4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孔压</a:t>
              </a:r>
            </a:p>
          </p:txBody>
        </p:sp>
      </p:grpSp>
      <p:grpSp>
        <p:nvGrpSpPr>
          <p:cNvPr id="48" name="Group 44"/>
          <p:cNvGrpSpPr>
            <a:grpSpLocks/>
          </p:cNvGrpSpPr>
          <p:nvPr/>
        </p:nvGrpSpPr>
        <p:grpSpPr bwMode="auto">
          <a:xfrm>
            <a:off x="3687763" y="1097548"/>
            <a:ext cx="5014912" cy="976313"/>
            <a:chOff x="2571" y="508"/>
            <a:chExt cx="3159" cy="615"/>
          </a:xfrm>
        </p:grpSpPr>
        <p:grpSp>
          <p:nvGrpSpPr>
            <p:cNvPr id="49" name="Group 45"/>
            <p:cNvGrpSpPr>
              <a:grpSpLocks/>
            </p:cNvGrpSpPr>
            <p:nvPr/>
          </p:nvGrpSpPr>
          <p:grpSpPr bwMode="auto">
            <a:xfrm>
              <a:off x="2571" y="591"/>
              <a:ext cx="3159" cy="532"/>
              <a:chOff x="2571" y="591"/>
              <a:chExt cx="3159" cy="532"/>
            </a:xfrm>
          </p:grpSpPr>
          <p:sp>
            <p:nvSpPr>
              <p:cNvPr id="51" name="Line 46"/>
              <p:cNvSpPr>
                <a:spLocks noChangeShapeType="1"/>
              </p:cNvSpPr>
              <p:nvPr/>
            </p:nvSpPr>
            <p:spPr bwMode="auto">
              <a:xfrm flipV="1">
                <a:off x="2851" y="681"/>
                <a:ext cx="0" cy="44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47"/>
              <p:cNvSpPr>
                <a:spLocks noChangeShapeType="1"/>
              </p:cNvSpPr>
              <p:nvPr/>
            </p:nvSpPr>
            <p:spPr bwMode="auto">
              <a:xfrm>
                <a:off x="2854" y="967"/>
                <a:ext cx="267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Text Box 48"/>
              <p:cNvSpPr txBox="1">
                <a:spLocks noChangeArrowheads="1"/>
              </p:cNvSpPr>
              <p:nvPr/>
            </p:nvSpPr>
            <p:spPr bwMode="auto">
              <a:xfrm>
                <a:off x="2571" y="591"/>
                <a:ext cx="27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</a:t>
                </a:r>
                <a:r>
                  <a:rPr lang="en-US" altLang="zh-CN" sz="2000" b="1" baseline="-25000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d</a:t>
                </a:r>
                <a:endParaRPr lang="en-US" altLang="zh-CN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54" name="Text Box 49"/>
              <p:cNvSpPr txBox="1">
                <a:spLocks noChangeArrowheads="1"/>
              </p:cNvSpPr>
              <p:nvPr/>
            </p:nvSpPr>
            <p:spPr bwMode="auto">
              <a:xfrm>
                <a:off x="5498" y="831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>
                    <a:solidFill>
                      <a:srgbClr val="000066"/>
                    </a:solidFill>
                    <a:ea typeface="幼圆" pitchFamily="49" charset="-122"/>
                  </a:rPr>
                  <a:t>N</a:t>
                </a:r>
              </a:p>
            </p:txBody>
          </p:sp>
        </p:grpSp>
        <p:sp>
          <p:nvSpPr>
            <p:cNvPr id="50" name="Text Box 50"/>
            <p:cNvSpPr txBox="1">
              <a:spLocks noChangeArrowheads="1"/>
            </p:cNvSpPr>
            <p:nvPr/>
          </p:nvSpPr>
          <p:spPr bwMode="auto">
            <a:xfrm>
              <a:off x="2907" y="508"/>
              <a:ext cx="5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动荷载</a:t>
              </a:r>
              <a:endParaRPr lang="en-US" altLang="zh-CN" sz="18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sp>
        <p:nvSpPr>
          <p:cNvPr id="66" name="Text Box 38"/>
          <p:cNvSpPr txBox="1">
            <a:spLocks noChangeArrowheads="1"/>
          </p:cNvSpPr>
          <p:nvPr/>
        </p:nvSpPr>
        <p:spPr bwMode="auto">
          <a:xfrm>
            <a:off x="419099" y="659993"/>
            <a:ext cx="3810001" cy="38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4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动三轴试验试验结果</a:t>
            </a:r>
            <a:endParaRPr lang="zh-CN" altLang="en-US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3253840" y="5745720"/>
            <a:ext cx="257281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</a:t>
            </a: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动强度</a:t>
            </a:r>
            <a:endParaRPr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599683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4711700" y="1752600"/>
            <a:ext cx="4191000" cy="758825"/>
          </a:xfrm>
          <a:custGeom>
            <a:avLst/>
            <a:gdLst>
              <a:gd name="T0" fmla="*/ 51 w 2640"/>
              <a:gd name="T1" fmla="*/ 456 h 478"/>
              <a:gd name="T2" fmla="*/ 67 w 2640"/>
              <a:gd name="T3" fmla="*/ 373 h 478"/>
              <a:gd name="T4" fmla="*/ 119 w 2640"/>
              <a:gd name="T5" fmla="*/ 430 h 478"/>
              <a:gd name="T6" fmla="*/ 163 w 2640"/>
              <a:gd name="T7" fmla="*/ 405 h 478"/>
              <a:gd name="T8" fmla="*/ 202 w 2640"/>
              <a:gd name="T9" fmla="*/ 338 h 478"/>
              <a:gd name="T10" fmla="*/ 247 w 2640"/>
              <a:gd name="T11" fmla="*/ 382 h 478"/>
              <a:gd name="T12" fmla="*/ 288 w 2640"/>
              <a:gd name="T13" fmla="*/ 411 h 478"/>
              <a:gd name="T14" fmla="*/ 333 w 2640"/>
              <a:gd name="T15" fmla="*/ 331 h 478"/>
              <a:gd name="T16" fmla="*/ 384 w 2640"/>
              <a:gd name="T17" fmla="*/ 334 h 478"/>
              <a:gd name="T18" fmla="*/ 432 w 2640"/>
              <a:gd name="T19" fmla="*/ 395 h 478"/>
              <a:gd name="T20" fmla="*/ 493 w 2640"/>
              <a:gd name="T21" fmla="*/ 296 h 478"/>
              <a:gd name="T22" fmla="*/ 538 w 2640"/>
              <a:gd name="T23" fmla="*/ 331 h 478"/>
              <a:gd name="T24" fmla="*/ 602 w 2640"/>
              <a:gd name="T25" fmla="*/ 334 h 478"/>
              <a:gd name="T26" fmla="*/ 643 w 2640"/>
              <a:gd name="T27" fmla="*/ 261 h 478"/>
              <a:gd name="T28" fmla="*/ 704 w 2640"/>
              <a:gd name="T29" fmla="*/ 338 h 478"/>
              <a:gd name="T30" fmla="*/ 752 w 2640"/>
              <a:gd name="T31" fmla="*/ 331 h 478"/>
              <a:gd name="T32" fmla="*/ 784 w 2640"/>
              <a:gd name="T33" fmla="*/ 248 h 478"/>
              <a:gd name="T34" fmla="*/ 842 w 2640"/>
              <a:gd name="T35" fmla="*/ 290 h 478"/>
              <a:gd name="T36" fmla="*/ 890 w 2640"/>
              <a:gd name="T37" fmla="*/ 322 h 478"/>
              <a:gd name="T38" fmla="*/ 935 w 2640"/>
              <a:gd name="T39" fmla="*/ 232 h 478"/>
              <a:gd name="T40" fmla="*/ 986 w 2640"/>
              <a:gd name="T41" fmla="*/ 261 h 478"/>
              <a:gd name="T42" fmla="*/ 1037 w 2640"/>
              <a:gd name="T43" fmla="*/ 322 h 478"/>
              <a:gd name="T44" fmla="*/ 1101 w 2640"/>
              <a:gd name="T45" fmla="*/ 216 h 478"/>
              <a:gd name="T46" fmla="*/ 1146 w 2640"/>
              <a:gd name="T47" fmla="*/ 286 h 478"/>
              <a:gd name="T48" fmla="*/ 1194 w 2640"/>
              <a:gd name="T49" fmla="*/ 248 h 478"/>
              <a:gd name="T50" fmla="*/ 1255 w 2640"/>
              <a:gd name="T51" fmla="*/ 197 h 478"/>
              <a:gd name="T52" fmla="*/ 1303 w 2640"/>
              <a:gd name="T53" fmla="*/ 286 h 478"/>
              <a:gd name="T54" fmla="*/ 1344 w 2640"/>
              <a:gd name="T55" fmla="*/ 203 h 478"/>
              <a:gd name="T56" fmla="*/ 1421 w 2640"/>
              <a:gd name="T57" fmla="*/ 219 h 478"/>
              <a:gd name="T58" fmla="*/ 1485 w 2640"/>
              <a:gd name="T59" fmla="*/ 219 h 478"/>
              <a:gd name="T60" fmla="*/ 1549 w 2640"/>
              <a:gd name="T61" fmla="*/ 162 h 478"/>
              <a:gd name="T62" fmla="*/ 1591 w 2640"/>
              <a:gd name="T63" fmla="*/ 238 h 478"/>
              <a:gd name="T64" fmla="*/ 1626 w 2640"/>
              <a:gd name="T65" fmla="*/ 181 h 478"/>
              <a:gd name="T66" fmla="*/ 1677 w 2640"/>
              <a:gd name="T67" fmla="*/ 130 h 478"/>
              <a:gd name="T68" fmla="*/ 1715 w 2640"/>
              <a:gd name="T69" fmla="*/ 190 h 478"/>
              <a:gd name="T70" fmla="*/ 1760 w 2640"/>
              <a:gd name="T71" fmla="*/ 197 h 478"/>
              <a:gd name="T72" fmla="*/ 1805 w 2640"/>
              <a:gd name="T73" fmla="*/ 91 h 478"/>
              <a:gd name="T74" fmla="*/ 1856 w 2640"/>
              <a:gd name="T75" fmla="*/ 158 h 478"/>
              <a:gd name="T76" fmla="*/ 1907 w 2640"/>
              <a:gd name="T77" fmla="*/ 187 h 478"/>
              <a:gd name="T78" fmla="*/ 1936 w 2640"/>
              <a:gd name="T79" fmla="*/ 72 h 478"/>
              <a:gd name="T80" fmla="*/ 2007 w 2640"/>
              <a:gd name="T81" fmla="*/ 94 h 478"/>
              <a:gd name="T82" fmla="*/ 2035 w 2640"/>
              <a:gd name="T83" fmla="*/ 171 h 478"/>
              <a:gd name="T84" fmla="*/ 2077 w 2640"/>
              <a:gd name="T85" fmla="*/ 21 h 478"/>
              <a:gd name="T86" fmla="*/ 2147 w 2640"/>
              <a:gd name="T87" fmla="*/ 40 h 478"/>
              <a:gd name="T88" fmla="*/ 2173 w 2640"/>
              <a:gd name="T89" fmla="*/ 101 h 478"/>
              <a:gd name="T90" fmla="*/ 2202 w 2640"/>
              <a:gd name="T91" fmla="*/ 69 h 478"/>
              <a:gd name="T92" fmla="*/ 2231 w 2640"/>
              <a:gd name="T93" fmla="*/ 2 h 478"/>
              <a:gd name="T94" fmla="*/ 2282 w 2640"/>
              <a:gd name="T95" fmla="*/ 14 h 478"/>
              <a:gd name="T96" fmla="*/ 2314 w 2640"/>
              <a:gd name="T97" fmla="*/ 85 h 478"/>
              <a:gd name="T98" fmla="*/ 2349 w 2640"/>
              <a:gd name="T99" fmla="*/ 78 h 478"/>
              <a:gd name="T100" fmla="*/ 2394 w 2640"/>
              <a:gd name="T101" fmla="*/ 2 h 478"/>
              <a:gd name="T102" fmla="*/ 2429 w 2640"/>
              <a:gd name="T103" fmla="*/ 5 h 478"/>
              <a:gd name="T104" fmla="*/ 2471 w 2640"/>
              <a:gd name="T105" fmla="*/ 75 h 478"/>
              <a:gd name="T106" fmla="*/ 2487 w 2640"/>
              <a:gd name="T107" fmla="*/ 43 h 478"/>
              <a:gd name="T108" fmla="*/ 2525 w 2640"/>
              <a:gd name="T109" fmla="*/ 2 h 478"/>
              <a:gd name="T110" fmla="*/ 2592 w 2640"/>
              <a:gd name="T111" fmla="*/ 2 h 478"/>
              <a:gd name="T112" fmla="*/ 2640 w 2640"/>
              <a:gd name="T113" fmla="*/ 2 h 47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640"/>
              <a:gd name="T172" fmla="*/ 0 h 478"/>
              <a:gd name="T173" fmla="*/ 2640 w 2640"/>
              <a:gd name="T174" fmla="*/ 478 h 47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640" h="478">
                <a:moveTo>
                  <a:pt x="0" y="478"/>
                </a:moveTo>
                <a:cubicBezTo>
                  <a:pt x="20" y="473"/>
                  <a:pt x="40" y="469"/>
                  <a:pt x="51" y="456"/>
                </a:cubicBezTo>
                <a:cubicBezTo>
                  <a:pt x="62" y="443"/>
                  <a:pt x="61" y="412"/>
                  <a:pt x="64" y="398"/>
                </a:cubicBezTo>
                <a:cubicBezTo>
                  <a:pt x="67" y="384"/>
                  <a:pt x="60" y="372"/>
                  <a:pt x="67" y="373"/>
                </a:cubicBezTo>
                <a:cubicBezTo>
                  <a:pt x="74" y="374"/>
                  <a:pt x="97" y="393"/>
                  <a:pt x="106" y="402"/>
                </a:cubicBezTo>
                <a:cubicBezTo>
                  <a:pt x="115" y="411"/>
                  <a:pt x="113" y="424"/>
                  <a:pt x="119" y="430"/>
                </a:cubicBezTo>
                <a:cubicBezTo>
                  <a:pt x="125" y="436"/>
                  <a:pt x="134" y="444"/>
                  <a:pt x="141" y="440"/>
                </a:cubicBezTo>
                <a:cubicBezTo>
                  <a:pt x="148" y="436"/>
                  <a:pt x="155" y="418"/>
                  <a:pt x="163" y="405"/>
                </a:cubicBezTo>
                <a:cubicBezTo>
                  <a:pt x="171" y="392"/>
                  <a:pt x="179" y="371"/>
                  <a:pt x="186" y="360"/>
                </a:cubicBezTo>
                <a:cubicBezTo>
                  <a:pt x="193" y="349"/>
                  <a:pt x="196" y="341"/>
                  <a:pt x="202" y="338"/>
                </a:cubicBezTo>
                <a:cubicBezTo>
                  <a:pt x="208" y="335"/>
                  <a:pt x="217" y="334"/>
                  <a:pt x="224" y="341"/>
                </a:cubicBezTo>
                <a:cubicBezTo>
                  <a:pt x="231" y="348"/>
                  <a:pt x="240" y="370"/>
                  <a:pt x="247" y="382"/>
                </a:cubicBezTo>
                <a:cubicBezTo>
                  <a:pt x="254" y="394"/>
                  <a:pt x="259" y="406"/>
                  <a:pt x="266" y="411"/>
                </a:cubicBezTo>
                <a:cubicBezTo>
                  <a:pt x="273" y="416"/>
                  <a:pt x="280" y="418"/>
                  <a:pt x="288" y="411"/>
                </a:cubicBezTo>
                <a:cubicBezTo>
                  <a:pt x="296" y="404"/>
                  <a:pt x="309" y="379"/>
                  <a:pt x="317" y="366"/>
                </a:cubicBezTo>
                <a:cubicBezTo>
                  <a:pt x="325" y="353"/>
                  <a:pt x="327" y="340"/>
                  <a:pt x="333" y="331"/>
                </a:cubicBezTo>
                <a:cubicBezTo>
                  <a:pt x="339" y="322"/>
                  <a:pt x="347" y="309"/>
                  <a:pt x="355" y="309"/>
                </a:cubicBezTo>
                <a:cubicBezTo>
                  <a:pt x="363" y="309"/>
                  <a:pt x="377" y="321"/>
                  <a:pt x="384" y="334"/>
                </a:cubicBezTo>
                <a:cubicBezTo>
                  <a:pt x="391" y="347"/>
                  <a:pt x="392" y="376"/>
                  <a:pt x="400" y="386"/>
                </a:cubicBezTo>
                <a:cubicBezTo>
                  <a:pt x="408" y="396"/>
                  <a:pt x="423" y="401"/>
                  <a:pt x="432" y="395"/>
                </a:cubicBezTo>
                <a:cubicBezTo>
                  <a:pt x="441" y="389"/>
                  <a:pt x="448" y="367"/>
                  <a:pt x="458" y="350"/>
                </a:cubicBezTo>
                <a:cubicBezTo>
                  <a:pt x="468" y="333"/>
                  <a:pt x="484" y="308"/>
                  <a:pt x="493" y="296"/>
                </a:cubicBezTo>
                <a:cubicBezTo>
                  <a:pt x="502" y="284"/>
                  <a:pt x="508" y="274"/>
                  <a:pt x="515" y="280"/>
                </a:cubicBezTo>
                <a:cubicBezTo>
                  <a:pt x="522" y="286"/>
                  <a:pt x="527" y="315"/>
                  <a:pt x="538" y="331"/>
                </a:cubicBezTo>
                <a:cubicBezTo>
                  <a:pt x="549" y="347"/>
                  <a:pt x="572" y="376"/>
                  <a:pt x="583" y="376"/>
                </a:cubicBezTo>
                <a:cubicBezTo>
                  <a:pt x="594" y="376"/>
                  <a:pt x="595" y="351"/>
                  <a:pt x="602" y="334"/>
                </a:cubicBezTo>
                <a:cubicBezTo>
                  <a:pt x="609" y="317"/>
                  <a:pt x="620" y="286"/>
                  <a:pt x="627" y="274"/>
                </a:cubicBezTo>
                <a:cubicBezTo>
                  <a:pt x="634" y="262"/>
                  <a:pt x="634" y="258"/>
                  <a:pt x="643" y="261"/>
                </a:cubicBezTo>
                <a:cubicBezTo>
                  <a:pt x="652" y="264"/>
                  <a:pt x="669" y="277"/>
                  <a:pt x="679" y="290"/>
                </a:cubicBezTo>
                <a:cubicBezTo>
                  <a:pt x="689" y="303"/>
                  <a:pt x="695" y="325"/>
                  <a:pt x="704" y="338"/>
                </a:cubicBezTo>
                <a:cubicBezTo>
                  <a:pt x="713" y="351"/>
                  <a:pt x="728" y="367"/>
                  <a:pt x="736" y="366"/>
                </a:cubicBezTo>
                <a:cubicBezTo>
                  <a:pt x="744" y="365"/>
                  <a:pt x="748" y="345"/>
                  <a:pt x="752" y="331"/>
                </a:cubicBezTo>
                <a:cubicBezTo>
                  <a:pt x="756" y="317"/>
                  <a:pt x="754" y="294"/>
                  <a:pt x="759" y="280"/>
                </a:cubicBezTo>
                <a:cubicBezTo>
                  <a:pt x="764" y="266"/>
                  <a:pt x="775" y="254"/>
                  <a:pt x="784" y="248"/>
                </a:cubicBezTo>
                <a:cubicBezTo>
                  <a:pt x="793" y="242"/>
                  <a:pt x="806" y="235"/>
                  <a:pt x="816" y="242"/>
                </a:cubicBezTo>
                <a:cubicBezTo>
                  <a:pt x="826" y="249"/>
                  <a:pt x="835" y="275"/>
                  <a:pt x="842" y="290"/>
                </a:cubicBezTo>
                <a:cubicBezTo>
                  <a:pt x="849" y="305"/>
                  <a:pt x="850" y="326"/>
                  <a:pt x="858" y="331"/>
                </a:cubicBezTo>
                <a:cubicBezTo>
                  <a:pt x="866" y="336"/>
                  <a:pt x="883" y="332"/>
                  <a:pt x="890" y="322"/>
                </a:cubicBezTo>
                <a:cubicBezTo>
                  <a:pt x="897" y="312"/>
                  <a:pt x="896" y="285"/>
                  <a:pt x="903" y="270"/>
                </a:cubicBezTo>
                <a:cubicBezTo>
                  <a:pt x="910" y="255"/>
                  <a:pt x="926" y="240"/>
                  <a:pt x="935" y="232"/>
                </a:cubicBezTo>
                <a:cubicBezTo>
                  <a:pt x="944" y="224"/>
                  <a:pt x="946" y="217"/>
                  <a:pt x="954" y="222"/>
                </a:cubicBezTo>
                <a:cubicBezTo>
                  <a:pt x="962" y="227"/>
                  <a:pt x="977" y="247"/>
                  <a:pt x="986" y="261"/>
                </a:cubicBezTo>
                <a:cubicBezTo>
                  <a:pt x="995" y="275"/>
                  <a:pt x="999" y="299"/>
                  <a:pt x="1008" y="309"/>
                </a:cubicBezTo>
                <a:cubicBezTo>
                  <a:pt x="1017" y="319"/>
                  <a:pt x="1028" y="330"/>
                  <a:pt x="1037" y="322"/>
                </a:cubicBezTo>
                <a:cubicBezTo>
                  <a:pt x="1046" y="314"/>
                  <a:pt x="1048" y="279"/>
                  <a:pt x="1059" y="261"/>
                </a:cubicBezTo>
                <a:cubicBezTo>
                  <a:pt x="1070" y="243"/>
                  <a:pt x="1089" y="221"/>
                  <a:pt x="1101" y="216"/>
                </a:cubicBezTo>
                <a:cubicBezTo>
                  <a:pt x="1113" y="211"/>
                  <a:pt x="1123" y="220"/>
                  <a:pt x="1130" y="232"/>
                </a:cubicBezTo>
                <a:cubicBezTo>
                  <a:pt x="1137" y="244"/>
                  <a:pt x="1140" y="273"/>
                  <a:pt x="1146" y="286"/>
                </a:cubicBezTo>
                <a:cubicBezTo>
                  <a:pt x="1152" y="299"/>
                  <a:pt x="1160" y="315"/>
                  <a:pt x="1168" y="309"/>
                </a:cubicBezTo>
                <a:cubicBezTo>
                  <a:pt x="1176" y="303"/>
                  <a:pt x="1186" y="265"/>
                  <a:pt x="1194" y="248"/>
                </a:cubicBezTo>
                <a:cubicBezTo>
                  <a:pt x="1202" y="231"/>
                  <a:pt x="1209" y="214"/>
                  <a:pt x="1219" y="206"/>
                </a:cubicBezTo>
                <a:cubicBezTo>
                  <a:pt x="1229" y="198"/>
                  <a:pt x="1245" y="190"/>
                  <a:pt x="1255" y="197"/>
                </a:cubicBezTo>
                <a:cubicBezTo>
                  <a:pt x="1265" y="204"/>
                  <a:pt x="1272" y="233"/>
                  <a:pt x="1280" y="248"/>
                </a:cubicBezTo>
                <a:cubicBezTo>
                  <a:pt x="1288" y="263"/>
                  <a:pt x="1296" y="282"/>
                  <a:pt x="1303" y="286"/>
                </a:cubicBezTo>
                <a:cubicBezTo>
                  <a:pt x="1310" y="290"/>
                  <a:pt x="1318" y="288"/>
                  <a:pt x="1325" y="274"/>
                </a:cubicBezTo>
                <a:cubicBezTo>
                  <a:pt x="1332" y="260"/>
                  <a:pt x="1334" y="221"/>
                  <a:pt x="1344" y="203"/>
                </a:cubicBezTo>
                <a:cubicBezTo>
                  <a:pt x="1354" y="185"/>
                  <a:pt x="1370" y="165"/>
                  <a:pt x="1383" y="168"/>
                </a:cubicBezTo>
                <a:cubicBezTo>
                  <a:pt x="1396" y="171"/>
                  <a:pt x="1408" y="201"/>
                  <a:pt x="1421" y="219"/>
                </a:cubicBezTo>
                <a:cubicBezTo>
                  <a:pt x="1434" y="237"/>
                  <a:pt x="1448" y="277"/>
                  <a:pt x="1459" y="277"/>
                </a:cubicBezTo>
                <a:cubicBezTo>
                  <a:pt x="1470" y="277"/>
                  <a:pt x="1476" y="239"/>
                  <a:pt x="1485" y="219"/>
                </a:cubicBezTo>
                <a:cubicBezTo>
                  <a:pt x="1494" y="199"/>
                  <a:pt x="1503" y="164"/>
                  <a:pt x="1514" y="155"/>
                </a:cubicBezTo>
                <a:cubicBezTo>
                  <a:pt x="1525" y="146"/>
                  <a:pt x="1540" y="156"/>
                  <a:pt x="1549" y="162"/>
                </a:cubicBezTo>
                <a:cubicBezTo>
                  <a:pt x="1558" y="168"/>
                  <a:pt x="1564" y="181"/>
                  <a:pt x="1571" y="194"/>
                </a:cubicBezTo>
                <a:cubicBezTo>
                  <a:pt x="1578" y="207"/>
                  <a:pt x="1584" y="230"/>
                  <a:pt x="1591" y="238"/>
                </a:cubicBezTo>
                <a:cubicBezTo>
                  <a:pt x="1598" y="246"/>
                  <a:pt x="1610" y="254"/>
                  <a:pt x="1616" y="245"/>
                </a:cubicBezTo>
                <a:cubicBezTo>
                  <a:pt x="1622" y="236"/>
                  <a:pt x="1620" y="199"/>
                  <a:pt x="1626" y="181"/>
                </a:cubicBezTo>
                <a:cubicBezTo>
                  <a:pt x="1632" y="163"/>
                  <a:pt x="1643" y="147"/>
                  <a:pt x="1651" y="139"/>
                </a:cubicBezTo>
                <a:cubicBezTo>
                  <a:pt x="1659" y="131"/>
                  <a:pt x="1668" y="128"/>
                  <a:pt x="1677" y="130"/>
                </a:cubicBezTo>
                <a:cubicBezTo>
                  <a:pt x="1686" y="132"/>
                  <a:pt x="1697" y="142"/>
                  <a:pt x="1703" y="152"/>
                </a:cubicBezTo>
                <a:cubicBezTo>
                  <a:pt x="1709" y="162"/>
                  <a:pt x="1709" y="178"/>
                  <a:pt x="1715" y="190"/>
                </a:cubicBezTo>
                <a:cubicBezTo>
                  <a:pt x="1721" y="202"/>
                  <a:pt x="1731" y="221"/>
                  <a:pt x="1738" y="222"/>
                </a:cubicBezTo>
                <a:cubicBezTo>
                  <a:pt x="1745" y="223"/>
                  <a:pt x="1755" y="214"/>
                  <a:pt x="1760" y="197"/>
                </a:cubicBezTo>
                <a:cubicBezTo>
                  <a:pt x="1765" y="180"/>
                  <a:pt x="1762" y="138"/>
                  <a:pt x="1770" y="120"/>
                </a:cubicBezTo>
                <a:cubicBezTo>
                  <a:pt x="1778" y="102"/>
                  <a:pt x="1794" y="92"/>
                  <a:pt x="1805" y="91"/>
                </a:cubicBezTo>
                <a:cubicBezTo>
                  <a:pt x="1816" y="90"/>
                  <a:pt x="1826" y="106"/>
                  <a:pt x="1834" y="117"/>
                </a:cubicBezTo>
                <a:cubicBezTo>
                  <a:pt x="1842" y="128"/>
                  <a:pt x="1849" y="144"/>
                  <a:pt x="1856" y="158"/>
                </a:cubicBezTo>
                <a:cubicBezTo>
                  <a:pt x="1863" y="172"/>
                  <a:pt x="1867" y="198"/>
                  <a:pt x="1875" y="203"/>
                </a:cubicBezTo>
                <a:cubicBezTo>
                  <a:pt x="1883" y="208"/>
                  <a:pt x="1901" y="201"/>
                  <a:pt x="1907" y="187"/>
                </a:cubicBezTo>
                <a:cubicBezTo>
                  <a:pt x="1913" y="173"/>
                  <a:pt x="1906" y="136"/>
                  <a:pt x="1911" y="117"/>
                </a:cubicBezTo>
                <a:cubicBezTo>
                  <a:pt x="1916" y="98"/>
                  <a:pt x="1926" y="79"/>
                  <a:pt x="1936" y="72"/>
                </a:cubicBezTo>
                <a:cubicBezTo>
                  <a:pt x="1946" y="65"/>
                  <a:pt x="1959" y="68"/>
                  <a:pt x="1971" y="72"/>
                </a:cubicBezTo>
                <a:cubicBezTo>
                  <a:pt x="1983" y="76"/>
                  <a:pt x="2001" y="81"/>
                  <a:pt x="2007" y="94"/>
                </a:cubicBezTo>
                <a:cubicBezTo>
                  <a:pt x="2013" y="107"/>
                  <a:pt x="2005" y="139"/>
                  <a:pt x="2010" y="152"/>
                </a:cubicBezTo>
                <a:cubicBezTo>
                  <a:pt x="2015" y="165"/>
                  <a:pt x="2028" y="179"/>
                  <a:pt x="2035" y="171"/>
                </a:cubicBezTo>
                <a:cubicBezTo>
                  <a:pt x="2042" y="163"/>
                  <a:pt x="2044" y="129"/>
                  <a:pt x="2051" y="104"/>
                </a:cubicBezTo>
                <a:cubicBezTo>
                  <a:pt x="2058" y="79"/>
                  <a:pt x="2067" y="32"/>
                  <a:pt x="2077" y="21"/>
                </a:cubicBezTo>
                <a:cubicBezTo>
                  <a:pt x="2087" y="10"/>
                  <a:pt x="2103" y="31"/>
                  <a:pt x="2115" y="34"/>
                </a:cubicBezTo>
                <a:cubicBezTo>
                  <a:pt x="2127" y="37"/>
                  <a:pt x="2141" y="35"/>
                  <a:pt x="2147" y="40"/>
                </a:cubicBezTo>
                <a:cubicBezTo>
                  <a:pt x="2153" y="45"/>
                  <a:pt x="2147" y="56"/>
                  <a:pt x="2151" y="66"/>
                </a:cubicBezTo>
                <a:cubicBezTo>
                  <a:pt x="2155" y="76"/>
                  <a:pt x="2167" y="90"/>
                  <a:pt x="2173" y="101"/>
                </a:cubicBezTo>
                <a:cubicBezTo>
                  <a:pt x="2179" y="112"/>
                  <a:pt x="2181" y="135"/>
                  <a:pt x="2186" y="130"/>
                </a:cubicBezTo>
                <a:cubicBezTo>
                  <a:pt x="2191" y="125"/>
                  <a:pt x="2197" y="88"/>
                  <a:pt x="2202" y="69"/>
                </a:cubicBezTo>
                <a:cubicBezTo>
                  <a:pt x="2207" y="50"/>
                  <a:pt x="2213" y="29"/>
                  <a:pt x="2218" y="18"/>
                </a:cubicBezTo>
                <a:cubicBezTo>
                  <a:pt x="2223" y="7"/>
                  <a:pt x="2225" y="2"/>
                  <a:pt x="2231" y="2"/>
                </a:cubicBezTo>
                <a:cubicBezTo>
                  <a:pt x="2237" y="2"/>
                  <a:pt x="2248" y="16"/>
                  <a:pt x="2256" y="18"/>
                </a:cubicBezTo>
                <a:cubicBezTo>
                  <a:pt x="2264" y="20"/>
                  <a:pt x="2275" y="10"/>
                  <a:pt x="2282" y="14"/>
                </a:cubicBezTo>
                <a:cubicBezTo>
                  <a:pt x="2289" y="18"/>
                  <a:pt x="2296" y="31"/>
                  <a:pt x="2301" y="43"/>
                </a:cubicBezTo>
                <a:cubicBezTo>
                  <a:pt x="2306" y="55"/>
                  <a:pt x="2309" y="74"/>
                  <a:pt x="2314" y="85"/>
                </a:cubicBezTo>
                <a:cubicBezTo>
                  <a:pt x="2319" y="96"/>
                  <a:pt x="2324" y="108"/>
                  <a:pt x="2330" y="107"/>
                </a:cubicBezTo>
                <a:cubicBezTo>
                  <a:pt x="2336" y="106"/>
                  <a:pt x="2344" y="91"/>
                  <a:pt x="2349" y="78"/>
                </a:cubicBezTo>
                <a:cubicBezTo>
                  <a:pt x="2354" y="65"/>
                  <a:pt x="2355" y="39"/>
                  <a:pt x="2362" y="27"/>
                </a:cubicBezTo>
                <a:cubicBezTo>
                  <a:pt x="2369" y="15"/>
                  <a:pt x="2386" y="4"/>
                  <a:pt x="2394" y="2"/>
                </a:cubicBezTo>
                <a:cubicBezTo>
                  <a:pt x="2402" y="0"/>
                  <a:pt x="2404" y="18"/>
                  <a:pt x="2410" y="18"/>
                </a:cubicBezTo>
                <a:cubicBezTo>
                  <a:pt x="2416" y="18"/>
                  <a:pt x="2423" y="4"/>
                  <a:pt x="2429" y="5"/>
                </a:cubicBezTo>
                <a:cubicBezTo>
                  <a:pt x="2435" y="6"/>
                  <a:pt x="2441" y="15"/>
                  <a:pt x="2448" y="27"/>
                </a:cubicBezTo>
                <a:cubicBezTo>
                  <a:pt x="2455" y="39"/>
                  <a:pt x="2466" y="64"/>
                  <a:pt x="2471" y="75"/>
                </a:cubicBezTo>
                <a:cubicBezTo>
                  <a:pt x="2476" y="86"/>
                  <a:pt x="2477" y="96"/>
                  <a:pt x="2480" y="91"/>
                </a:cubicBezTo>
                <a:cubicBezTo>
                  <a:pt x="2483" y="86"/>
                  <a:pt x="2484" y="55"/>
                  <a:pt x="2487" y="43"/>
                </a:cubicBezTo>
                <a:cubicBezTo>
                  <a:pt x="2490" y="31"/>
                  <a:pt x="2490" y="25"/>
                  <a:pt x="2496" y="18"/>
                </a:cubicBezTo>
                <a:cubicBezTo>
                  <a:pt x="2502" y="11"/>
                  <a:pt x="2515" y="4"/>
                  <a:pt x="2525" y="2"/>
                </a:cubicBezTo>
                <a:cubicBezTo>
                  <a:pt x="2535" y="0"/>
                  <a:pt x="2546" y="8"/>
                  <a:pt x="2557" y="8"/>
                </a:cubicBezTo>
                <a:cubicBezTo>
                  <a:pt x="2568" y="8"/>
                  <a:pt x="2583" y="3"/>
                  <a:pt x="2592" y="2"/>
                </a:cubicBezTo>
                <a:cubicBezTo>
                  <a:pt x="2601" y="1"/>
                  <a:pt x="2603" y="2"/>
                  <a:pt x="2611" y="2"/>
                </a:cubicBezTo>
                <a:cubicBezTo>
                  <a:pt x="2619" y="2"/>
                  <a:pt x="2629" y="2"/>
                  <a:pt x="2640" y="2"/>
                </a:cubicBezTo>
              </a:path>
            </a:pathLst>
          </a:custGeom>
          <a:noFill/>
          <a:ln w="19050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" name="Group 17"/>
          <p:cNvGrpSpPr>
            <a:grpSpLocks/>
          </p:cNvGrpSpPr>
          <p:nvPr/>
        </p:nvGrpSpPr>
        <p:grpSpPr bwMode="auto">
          <a:xfrm>
            <a:off x="4706938" y="1450976"/>
            <a:ext cx="4216400" cy="1512888"/>
            <a:chOff x="349" y="870"/>
            <a:chExt cx="2656" cy="953"/>
          </a:xfrm>
        </p:grpSpPr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349" y="1542"/>
              <a:ext cx="26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V="1">
              <a:off x="352" y="972"/>
              <a:ext cx="0" cy="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2773" y="1573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ea typeface="幼圆" pitchFamily="49" charset="-122"/>
                </a:rPr>
                <a:t>N</a:t>
              </a: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377" y="870"/>
              <a:ext cx="53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ea typeface="幼圆" pitchFamily="49" charset="-122"/>
                </a:rPr>
                <a:t>孔</a:t>
              </a:r>
              <a:r>
                <a:rPr lang="zh-CN" altLang="en-US" sz="2000" b="1" dirty="0" smtClean="0">
                  <a:ea typeface="幼圆" pitchFamily="49" charset="-122"/>
                </a:rPr>
                <a:t>压</a:t>
              </a:r>
              <a:r>
                <a:rPr lang="en-US" altLang="zh-CN" sz="2000" b="1" i="1" dirty="0" smtClean="0">
                  <a:ea typeface="幼圆" pitchFamily="49" charset="-122"/>
                  <a:sym typeface="Symbol" pitchFamily="18" charset="2"/>
                </a:rPr>
                <a:t>u</a:t>
              </a:r>
              <a:endParaRPr lang="en-US" altLang="zh-CN" sz="2000" b="1" i="1" dirty="0">
                <a:ea typeface="幼圆" pitchFamily="49" charset="-122"/>
                <a:sym typeface="Symbol" pitchFamily="18" charset="2"/>
              </a:endParaRPr>
            </a:p>
          </p:txBody>
        </p:sp>
      </p:grpSp>
      <p:grpSp>
        <p:nvGrpSpPr>
          <p:cNvPr id="49" name="Group 48"/>
          <p:cNvGrpSpPr>
            <a:grpSpLocks/>
          </p:cNvGrpSpPr>
          <p:nvPr/>
        </p:nvGrpSpPr>
        <p:grpSpPr bwMode="auto">
          <a:xfrm>
            <a:off x="4692650" y="3268662"/>
            <a:ext cx="3752850" cy="2035174"/>
            <a:chOff x="3396" y="1619"/>
            <a:chExt cx="2364" cy="1282"/>
          </a:xfrm>
        </p:grpSpPr>
        <p:sp>
          <p:nvSpPr>
            <p:cNvPr id="53" name="Line 49"/>
            <p:cNvSpPr>
              <a:spLocks noChangeShapeType="1"/>
            </p:cNvSpPr>
            <p:nvPr/>
          </p:nvSpPr>
          <p:spPr bwMode="auto">
            <a:xfrm flipV="1">
              <a:off x="3687" y="1819"/>
              <a:ext cx="0" cy="10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Text Box 50"/>
            <p:cNvSpPr txBox="1">
              <a:spLocks noChangeArrowheads="1"/>
            </p:cNvSpPr>
            <p:nvPr/>
          </p:nvSpPr>
          <p:spPr bwMode="auto">
            <a:xfrm>
              <a:off x="3452" y="2640"/>
              <a:ext cx="220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Times New Roman" panose="02020603050405020304" pitchFamily="18" charset="0"/>
                  <a:sym typeface="Symbol" pitchFamily="18" charset="2"/>
                </a:rPr>
                <a:t>O</a:t>
              </a:r>
            </a:p>
          </p:txBody>
        </p:sp>
        <p:sp>
          <p:nvSpPr>
            <p:cNvPr id="55" name="Line 51"/>
            <p:cNvSpPr>
              <a:spLocks noChangeShapeType="1"/>
            </p:cNvSpPr>
            <p:nvPr/>
          </p:nvSpPr>
          <p:spPr bwMode="auto">
            <a:xfrm>
              <a:off x="3396" y="2691"/>
              <a:ext cx="22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 Box 52"/>
            <p:cNvSpPr txBox="1">
              <a:spLocks noChangeArrowheads="1"/>
            </p:cNvSpPr>
            <p:nvPr/>
          </p:nvSpPr>
          <p:spPr bwMode="auto">
            <a:xfrm>
              <a:off x="5520" y="2640"/>
              <a:ext cx="240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b="1" i="1" dirty="0"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57" name="Text Box 53"/>
            <p:cNvSpPr txBox="1">
              <a:spLocks noChangeArrowheads="1"/>
            </p:cNvSpPr>
            <p:nvPr/>
          </p:nvSpPr>
          <p:spPr bwMode="auto">
            <a:xfrm>
              <a:off x="3691" y="1619"/>
              <a:ext cx="220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5147" tIns="52573" rIns="105147" bIns="52573">
              <a:spAutoFit/>
            </a:bodyPr>
            <a:lstStyle>
              <a:lvl1pPr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1050925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1050925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 i="1" dirty="0"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776788" y="3571874"/>
            <a:ext cx="3306763" cy="1398587"/>
            <a:chOff x="4776788" y="3571874"/>
            <a:chExt cx="3306763" cy="1398587"/>
          </a:xfrm>
        </p:grpSpPr>
        <p:sp>
          <p:nvSpPr>
            <p:cNvPr id="50" name="Line 54"/>
            <p:cNvSpPr>
              <a:spLocks noChangeShapeType="1"/>
            </p:cNvSpPr>
            <p:nvPr/>
          </p:nvSpPr>
          <p:spPr bwMode="auto">
            <a:xfrm flipV="1">
              <a:off x="4776788" y="3633787"/>
              <a:ext cx="3095625" cy="1336674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55"/>
            <p:cNvSpPr>
              <a:spLocks noChangeArrowheads="1"/>
            </p:cNvSpPr>
            <p:nvPr/>
          </p:nvSpPr>
          <p:spPr bwMode="auto">
            <a:xfrm>
              <a:off x="7659688" y="3571874"/>
              <a:ext cx="423863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200" b="1" i="1" dirty="0" smtClean="0">
                  <a:solidFill>
                    <a:srgbClr val="800080"/>
                  </a:solidFill>
                  <a:sym typeface="Symbol"/>
                </a:rPr>
                <a:t></a:t>
              </a:r>
              <a:r>
                <a:rPr kumimoji="1" lang="en-US" altLang="zh-CN" sz="2200" dirty="0" smtClean="0">
                  <a:solidFill>
                    <a:srgbClr val="800080"/>
                  </a:solidFill>
                  <a:sym typeface="Symbol" pitchFamily="18" charset="2"/>
                </a:rPr>
                <a:t></a:t>
              </a:r>
              <a:endParaRPr kumimoji="1" lang="en-US" altLang="zh-CN" sz="2200" baseline="-25000" dirty="0">
                <a:solidFill>
                  <a:srgbClr val="800080"/>
                </a:solidFill>
                <a:sym typeface="Symbol" pitchFamily="18" charset="2"/>
              </a:endParaRPr>
            </a:p>
          </p:txBody>
        </p:sp>
        <p:sp>
          <p:nvSpPr>
            <p:cNvPr id="52" name="Line 56"/>
            <p:cNvSpPr>
              <a:spLocks noChangeShapeType="1"/>
            </p:cNvSpPr>
            <p:nvPr/>
          </p:nvSpPr>
          <p:spPr bwMode="auto">
            <a:xfrm>
              <a:off x="7118350" y="3975099"/>
              <a:ext cx="615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" name="Arc 57"/>
          <p:cNvSpPr>
            <a:spLocks/>
          </p:cNvSpPr>
          <p:nvPr/>
        </p:nvSpPr>
        <p:spPr bwMode="auto">
          <a:xfrm flipH="1" flipV="1">
            <a:off x="6596063" y="4305300"/>
            <a:ext cx="1295400" cy="661988"/>
          </a:xfrm>
          <a:custGeom>
            <a:avLst/>
            <a:gdLst>
              <a:gd name="T0" fmla="*/ 1295280 w 43200"/>
              <a:gd name="T1" fmla="*/ 2426 h 22107"/>
              <a:gd name="T2" fmla="*/ 180 w 43200"/>
              <a:gd name="T3" fmla="*/ 0 h 22107"/>
              <a:gd name="T4" fmla="*/ 647700 w 43200"/>
              <a:gd name="T5" fmla="*/ 15182 h 22107"/>
              <a:gd name="T6" fmla="*/ 0 60000 65536"/>
              <a:gd name="T7" fmla="*/ 0 60000 65536"/>
              <a:gd name="T8" fmla="*/ 0 60000 65536"/>
              <a:gd name="T9" fmla="*/ 0 w 43200"/>
              <a:gd name="T10" fmla="*/ 0 h 22107"/>
              <a:gd name="T11" fmla="*/ 43200 w 43200"/>
              <a:gd name="T12" fmla="*/ 22107 h 221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107" fill="none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</a:path>
              <a:path w="43200" h="22107" stroke="0" extrusionOk="0">
                <a:moveTo>
                  <a:pt x="43195" y="81"/>
                </a:moveTo>
                <a:cubicBezTo>
                  <a:pt x="43198" y="222"/>
                  <a:pt x="43200" y="364"/>
                  <a:pt x="43200" y="507"/>
                </a:cubicBezTo>
                <a:cubicBezTo>
                  <a:pt x="43200" y="12436"/>
                  <a:pt x="33529" y="22107"/>
                  <a:pt x="21600" y="22107"/>
                </a:cubicBezTo>
                <a:cubicBezTo>
                  <a:pt x="9670" y="22107"/>
                  <a:pt x="0" y="12436"/>
                  <a:pt x="0" y="507"/>
                </a:cubicBezTo>
                <a:cubicBezTo>
                  <a:pt x="-1" y="337"/>
                  <a:pt x="1" y="168"/>
                  <a:pt x="5" y="-1"/>
                </a:cubicBezTo>
                <a:lnTo>
                  <a:pt x="21600" y="507"/>
                </a:lnTo>
                <a:close/>
              </a:path>
            </a:pathLst>
          </a:custGeom>
          <a:noFill/>
          <a:ln w="28575">
            <a:solidFill>
              <a:srgbClr val="800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9" name="Group 58"/>
          <p:cNvGrpSpPr>
            <a:grpSpLocks/>
          </p:cNvGrpSpPr>
          <p:nvPr/>
        </p:nvGrpSpPr>
        <p:grpSpPr bwMode="auto">
          <a:xfrm>
            <a:off x="6208713" y="4311650"/>
            <a:ext cx="1679575" cy="676275"/>
            <a:chOff x="4351" y="2276"/>
            <a:chExt cx="1058" cy="426"/>
          </a:xfrm>
        </p:grpSpPr>
        <p:sp>
          <p:nvSpPr>
            <p:cNvPr id="60" name="Arc 59"/>
            <p:cNvSpPr>
              <a:spLocks/>
            </p:cNvSpPr>
            <p:nvPr/>
          </p:nvSpPr>
          <p:spPr bwMode="auto">
            <a:xfrm flipH="1" flipV="1">
              <a:off x="4593" y="2410"/>
              <a:ext cx="553" cy="283"/>
            </a:xfrm>
            <a:custGeom>
              <a:avLst/>
              <a:gdLst>
                <a:gd name="T0" fmla="*/ 553 w 43200"/>
                <a:gd name="T1" fmla="*/ 1 h 22107"/>
                <a:gd name="T2" fmla="*/ 0 w 43200"/>
                <a:gd name="T3" fmla="*/ 0 h 22107"/>
                <a:gd name="T4" fmla="*/ 277 w 43200"/>
                <a:gd name="T5" fmla="*/ 6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Arc 60"/>
            <p:cNvSpPr>
              <a:spLocks/>
            </p:cNvSpPr>
            <p:nvPr/>
          </p:nvSpPr>
          <p:spPr bwMode="auto">
            <a:xfrm flipH="1" flipV="1">
              <a:off x="4593" y="2276"/>
              <a:ext cx="816" cy="417"/>
            </a:xfrm>
            <a:custGeom>
              <a:avLst/>
              <a:gdLst>
                <a:gd name="T0" fmla="*/ 816 w 43200"/>
                <a:gd name="T1" fmla="*/ 2 h 22107"/>
                <a:gd name="T2" fmla="*/ 0 w 43200"/>
                <a:gd name="T3" fmla="*/ 0 h 22107"/>
                <a:gd name="T4" fmla="*/ 408 w 43200"/>
                <a:gd name="T5" fmla="*/ 10 h 2210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107"/>
                <a:gd name="T11" fmla="*/ 43200 w 43200"/>
                <a:gd name="T12" fmla="*/ 22107 h 22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107" fill="none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</a:path>
                <a:path w="43200" h="22107" stroke="0" extrusionOk="0">
                  <a:moveTo>
                    <a:pt x="43195" y="81"/>
                  </a:moveTo>
                  <a:cubicBezTo>
                    <a:pt x="43198" y="222"/>
                    <a:pt x="43200" y="364"/>
                    <a:pt x="43200" y="507"/>
                  </a:cubicBezTo>
                  <a:cubicBezTo>
                    <a:pt x="43200" y="12436"/>
                    <a:pt x="33529" y="22107"/>
                    <a:pt x="21600" y="22107"/>
                  </a:cubicBezTo>
                  <a:cubicBezTo>
                    <a:pt x="9670" y="22107"/>
                    <a:pt x="0" y="12436"/>
                    <a:pt x="0" y="507"/>
                  </a:cubicBezTo>
                  <a:cubicBezTo>
                    <a:pt x="-1" y="337"/>
                    <a:pt x="1" y="168"/>
                    <a:pt x="5" y="-1"/>
                  </a:cubicBezTo>
                  <a:lnTo>
                    <a:pt x="21600" y="507"/>
                  </a:lnTo>
                  <a:close/>
                </a:path>
              </a:pathLst>
            </a:custGeom>
            <a:noFill/>
            <a:ln w="285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Text Box 61"/>
            <p:cNvSpPr txBox="1">
              <a:spLocks noChangeArrowheads="1"/>
            </p:cNvSpPr>
            <p:nvPr/>
          </p:nvSpPr>
          <p:spPr bwMode="auto">
            <a:xfrm>
              <a:off x="4351" y="2450"/>
              <a:ext cx="2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6600"/>
                  </a:solidFill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solidFill>
                    <a:srgbClr val="006600"/>
                  </a:solidFill>
                </a:rPr>
                <a:t>3</a:t>
              </a:r>
              <a:endParaRPr lang="zh-CN" altLang="en-US" sz="2000" b="1" baseline="-25000" dirty="0">
                <a:solidFill>
                  <a:srgbClr val="006600"/>
                </a:solidFill>
              </a:endParaRPr>
            </a:p>
          </p:txBody>
        </p:sp>
        <p:sp>
          <p:nvSpPr>
            <p:cNvPr id="63" name="Text Box 62"/>
            <p:cNvSpPr txBox="1">
              <a:spLocks noChangeArrowheads="1"/>
            </p:cNvSpPr>
            <p:nvPr/>
          </p:nvSpPr>
          <p:spPr bwMode="auto">
            <a:xfrm>
              <a:off x="5107" y="2444"/>
              <a:ext cx="2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6600"/>
                  </a:solidFill>
                  <a:sym typeface="Symbol" pitchFamily="18" charset="2"/>
                </a:rPr>
                <a:t></a:t>
              </a:r>
              <a:r>
                <a:rPr lang="en-US" altLang="zh-CN" sz="2000" b="1" baseline="-25000" dirty="0">
                  <a:solidFill>
                    <a:srgbClr val="006600"/>
                  </a:solidFill>
                </a:rPr>
                <a:t>1</a:t>
              </a:r>
              <a:endParaRPr lang="zh-CN" altLang="en-US" sz="2000" b="1" baseline="-25000" dirty="0">
                <a:solidFill>
                  <a:srgbClr val="006600"/>
                </a:solidFill>
              </a:endParaRPr>
            </a:p>
          </p:txBody>
        </p:sp>
      </p:grpSp>
      <p:grpSp>
        <p:nvGrpSpPr>
          <p:cNvPr id="64" name="Group 63"/>
          <p:cNvGrpSpPr>
            <a:grpSpLocks/>
          </p:cNvGrpSpPr>
          <p:nvPr/>
        </p:nvGrpSpPr>
        <p:grpSpPr bwMode="auto">
          <a:xfrm>
            <a:off x="5846672" y="5043270"/>
            <a:ext cx="744538" cy="417513"/>
            <a:chOff x="4112" y="2812"/>
            <a:chExt cx="469" cy="263"/>
          </a:xfrm>
        </p:grpSpPr>
        <p:sp>
          <p:nvSpPr>
            <p:cNvPr id="65" name="Text Box 64"/>
            <p:cNvSpPr txBox="1">
              <a:spLocks noChangeArrowheads="1"/>
            </p:cNvSpPr>
            <p:nvPr/>
          </p:nvSpPr>
          <p:spPr bwMode="auto">
            <a:xfrm>
              <a:off x="4221" y="2823"/>
              <a:ext cx="30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err="1">
                  <a:solidFill>
                    <a:srgbClr val="800080"/>
                  </a:solidFill>
                  <a:sym typeface="Symbol" pitchFamily="18" charset="2"/>
                </a:rPr>
                <a:t>u</a:t>
              </a:r>
              <a:r>
                <a:rPr lang="en-US" altLang="zh-CN" sz="2000" b="1" baseline="-25000" dirty="0" err="1">
                  <a:solidFill>
                    <a:srgbClr val="800080"/>
                  </a:solidFill>
                </a:rPr>
                <a:t>cr</a:t>
              </a:r>
              <a:endParaRPr lang="zh-CN" altLang="en-US" sz="2000" b="1" baseline="-25000" dirty="0">
                <a:solidFill>
                  <a:srgbClr val="800080"/>
                </a:solidFill>
              </a:endParaRPr>
            </a:p>
          </p:txBody>
        </p:sp>
        <p:sp>
          <p:nvSpPr>
            <p:cNvPr id="66" name="Line 65"/>
            <p:cNvSpPr>
              <a:spLocks noChangeShapeType="1"/>
            </p:cNvSpPr>
            <p:nvPr/>
          </p:nvSpPr>
          <p:spPr bwMode="auto">
            <a:xfrm>
              <a:off x="4112" y="2814"/>
              <a:ext cx="0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>
              <a:off x="4581" y="2812"/>
              <a:ext cx="0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4112" y="2877"/>
              <a:ext cx="4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" name="Group 68"/>
          <p:cNvGrpSpPr>
            <a:grpSpLocks/>
          </p:cNvGrpSpPr>
          <p:nvPr/>
        </p:nvGrpSpPr>
        <p:grpSpPr bwMode="auto">
          <a:xfrm>
            <a:off x="7484972" y="5041683"/>
            <a:ext cx="519113" cy="425450"/>
            <a:chOff x="5144" y="2811"/>
            <a:chExt cx="327" cy="268"/>
          </a:xfrm>
        </p:grpSpPr>
        <p:sp>
          <p:nvSpPr>
            <p:cNvPr id="70" name="Line 69"/>
            <p:cNvSpPr>
              <a:spLocks noChangeShapeType="1"/>
            </p:cNvSpPr>
            <p:nvPr/>
          </p:nvSpPr>
          <p:spPr bwMode="auto">
            <a:xfrm>
              <a:off x="5146" y="2813"/>
              <a:ext cx="0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70"/>
            <p:cNvSpPr>
              <a:spLocks noChangeShapeType="1"/>
            </p:cNvSpPr>
            <p:nvPr/>
          </p:nvSpPr>
          <p:spPr bwMode="auto">
            <a:xfrm>
              <a:off x="5411" y="2811"/>
              <a:ext cx="0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71"/>
            <p:cNvSpPr>
              <a:spLocks noChangeShapeType="1"/>
            </p:cNvSpPr>
            <p:nvPr/>
          </p:nvSpPr>
          <p:spPr bwMode="auto">
            <a:xfrm>
              <a:off x="5144" y="2873"/>
              <a:ext cx="2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72"/>
            <p:cNvSpPr txBox="1">
              <a:spLocks noChangeArrowheads="1"/>
            </p:cNvSpPr>
            <p:nvPr/>
          </p:nvSpPr>
          <p:spPr bwMode="auto">
            <a:xfrm>
              <a:off x="5144" y="2827"/>
              <a:ext cx="32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800080"/>
                  </a:solidFill>
                  <a:sym typeface="Symbol" pitchFamily="18" charset="2"/>
                </a:rPr>
                <a:t></a:t>
              </a:r>
              <a:r>
                <a:rPr lang="en-US" altLang="zh-CN" sz="2000" b="1" baseline="-25000" dirty="0" smtClean="0">
                  <a:solidFill>
                    <a:srgbClr val="800080"/>
                  </a:solidFill>
                </a:rPr>
                <a:t>d0</a:t>
              </a:r>
              <a:endParaRPr lang="zh-CN" altLang="en-US" sz="2000" b="1" baseline="-25000" dirty="0">
                <a:solidFill>
                  <a:srgbClr val="800080"/>
                </a:solidFill>
              </a:endParaRPr>
            </a:p>
          </p:txBody>
        </p:sp>
      </p:grpSp>
      <p:grpSp>
        <p:nvGrpSpPr>
          <p:cNvPr id="75" name="Group 74"/>
          <p:cNvGrpSpPr>
            <a:grpSpLocks/>
          </p:cNvGrpSpPr>
          <p:nvPr/>
        </p:nvGrpSpPr>
        <p:grpSpPr bwMode="auto">
          <a:xfrm>
            <a:off x="5572125" y="1993900"/>
            <a:ext cx="2036763" cy="1057275"/>
            <a:chOff x="894" y="1212"/>
            <a:chExt cx="1283" cy="666"/>
          </a:xfrm>
        </p:grpSpPr>
        <p:sp>
          <p:nvSpPr>
            <p:cNvPr id="76" name="Line 75"/>
            <p:cNvSpPr>
              <a:spLocks noChangeShapeType="1"/>
            </p:cNvSpPr>
            <p:nvPr/>
          </p:nvSpPr>
          <p:spPr bwMode="auto">
            <a:xfrm flipV="1">
              <a:off x="1878" y="1212"/>
              <a:ext cx="0" cy="317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7" name="Group 76"/>
            <p:cNvGrpSpPr>
              <a:grpSpLocks/>
            </p:cNvGrpSpPr>
            <p:nvPr/>
          </p:nvGrpSpPr>
          <p:grpSpPr bwMode="auto">
            <a:xfrm>
              <a:off x="894" y="1240"/>
              <a:ext cx="1283" cy="638"/>
              <a:chOff x="894" y="1240"/>
              <a:chExt cx="1283" cy="638"/>
            </a:xfrm>
          </p:grpSpPr>
          <p:grpSp>
            <p:nvGrpSpPr>
              <p:cNvPr id="78" name="Group 77"/>
              <p:cNvGrpSpPr>
                <a:grpSpLocks/>
              </p:cNvGrpSpPr>
              <p:nvPr/>
            </p:nvGrpSpPr>
            <p:grpSpPr bwMode="auto">
              <a:xfrm>
                <a:off x="894" y="1519"/>
                <a:ext cx="1017" cy="359"/>
                <a:chOff x="894" y="1519"/>
                <a:chExt cx="1017" cy="359"/>
              </a:xfrm>
            </p:grpSpPr>
            <p:sp>
              <p:nvSpPr>
                <p:cNvPr id="80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894" y="1626"/>
                  <a:ext cx="92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 dirty="0">
                      <a:solidFill>
                        <a:srgbClr val="A50021"/>
                      </a:solidFill>
                      <a:ea typeface="幼圆" pitchFamily="49" charset="-122"/>
                    </a:rPr>
                    <a:t>极限平衡</a:t>
                  </a:r>
                  <a:r>
                    <a:rPr lang="en-US" altLang="zh-CN" sz="2000" b="1" i="1" dirty="0" err="1">
                      <a:solidFill>
                        <a:srgbClr val="A50021"/>
                      </a:solidFill>
                      <a:ea typeface="幼圆" pitchFamily="49" charset="-122"/>
                    </a:rPr>
                    <a:t>N</a:t>
                  </a:r>
                  <a:r>
                    <a:rPr lang="en-US" altLang="zh-CN" sz="2000" b="1" baseline="-25000" dirty="0" err="1">
                      <a:solidFill>
                        <a:srgbClr val="A50021"/>
                      </a:solidFill>
                      <a:ea typeface="幼圆" pitchFamily="49" charset="-122"/>
                    </a:rPr>
                    <a:t>f</a:t>
                  </a:r>
                  <a:endParaRPr lang="en-US" altLang="zh-CN" sz="2000" b="1" dirty="0">
                    <a:solidFill>
                      <a:srgbClr val="A50021"/>
                    </a:solidFill>
                    <a:ea typeface="幼圆" pitchFamily="49" charset="-122"/>
                  </a:endParaRPr>
                </a:p>
              </p:txBody>
            </p:sp>
            <p:sp>
              <p:nvSpPr>
                <p:cNvPr id="81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1740" y="1565"/>
                  <a:ext cx="121" cy="1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" name="Oval 80"/>
                <p:cNvSpPr>
                  <a:spLocks noChangeArrowheads="1"/>
                </p:cNvSpPr>
                <p:nvPr/>
              </p:nvSpPr>
              <p:spPr bwMode="auto">
                <a:xfrm>
                  <a:off x="1857" y="1519"/>
                  <a:ext cx="54" cy="54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9" name="Text Box 81"/>
              <p:cNvSpPr txBox="1">
                <a:spLocks noChangeArrowheads="1"/>
              </p:cNvSpPr>
              <p:nvPr/>
            </p:nvSpPr>
            <p:spPr bwMode="auto">
              <a:xfrm>
                <a:off x="1876" y="1240"/>
                <a:ext cx="30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 err="1">
                    <a:solidFill>
                      <a:srgbClr val="A50021"/>
                    </a:solidFill>
                    <a:ea typeface="幼圆" pitchFamily="49" charset="-122"/>
                    <a:sym typeface="Symbol" pitchFamily="18" charset="2"/>
                  </a:rPr>
                  <a:t>u</a:t>
                </a:r>
                <a:r>
                  <a:rPr lang="en-US" altLang="zh-CN" sz="2000" b="1" baseline="-25000" dirty="0" err="1">
                    <a:solidFill>
                      <a:srgbClr val="A50021"/>
                    </a:solidFill>
                    <a:ea typeface="幼圆" pitchFamily="49" charset="-122"/>
                    <a:sym typeface="Symbol" pitchFamily="18" charset="2"/>
                  </a:rPr>
                  <a:t>cr</a:t>
                </a:r>
                <a:endParaRPr lang="en-US" altLang="zh-CN" sz="2000" b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</p:grpSp>
      </p:grpSp>
      <p:sp>
        <p:nvSpPr>
          <p:cNvPr id="83" name="Text Box 38"/>
          <p:cNvSpPr txBox="1">
            <a:spLocks noChangeArrowheads="1"/>
          </p:cNvSpPr>
          <p:nvPr/>
        </p:nvSpPr>
        <p:spPr bwMode="auto">
          <a:xfrm>
            <a:off x="419099" y="610565"/>
            <a:ext cx="505460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动三轴试验的破坏标准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4" name="Rectangle 9"/>
          <p:cNvSpPr>
            <a:spLocks noChangeArrowheads="1"/>
          </p:cNvSpPr>
          <p:nvPr/>
        </p:nvSpPr>
        <p:spPr bwMode="auto">
          <a:xfrm>
            <a:off x="644791" y="1378037"/>
            <a:ext cx="2720709" cy="44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defTabSz="107473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 dirty="0" smtClean="0">
                <a:solidFill>
                  <a:srgbClr val="C00000"/>
                </a:solidFill>
                <a:ea typeface="黑体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200" b="1" dirty="0" smtClean="0">
                <a:solidFill>
                  <a:srgbClr val="C00000"/>
                </a:solidFill>
                <a:ea typeface="黑体" pitchFamily="2" charset="-122"/>
                <a:cs typeface="Times New Roman" panose="02020603050405020304" pitchFamily="18" charset="0"/>
              </a:rPr>
              <a:t>极限</a:t>
            </a:r>
            <a:r>
              <a:rPr kumimoji="1" lang="zh-CN" altLang="en-US" sz="2200" b="1" dirty="0">
                <a:solidFill>
                  <a:srgbClr val="C00000"/>
                </a:solidFill>
                <a:ea typeface="黑体" pitchFamily="2" charset="-122"/>
                <a:cs typeface="Times New Roman" panose="02020603050405020304" pitchFamily="18" charset="0"/>
              </a:rPr>
              <a:t>平衡</a:t>
            </a:r>
            <a:r>
              <a:rPr kumimoji="1" lang="zh-CN" altLang="en-US" sz="2200" b="1" dirty="0" smtClean="0">
                <a:solidFill>
                  <a:srgbClr val="C00000"/>
                </a:solidFill>
                <a:ea typeface="黑体" pitchFamily="2" charset="-122"/>
                <a:cs typeface="Times New Roman" panose="02020603050405020304" pitchFamily="18" charset="0"/>
              </a:rPr>
              <a:t>标准</a:t>
            </a:r>
            <a:endParaRPr kumimoji="1" lang="zh-CN" altLang="en-US" sz="2200" b="1" dirty="0">
              <a:solidFill>
                <a:srgbClr val="C0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85" name="Text Box 5"/>
          <p:cNvSpPr txBox="1">
            <a:spLocks noChangeArrowheads="1"/>
          </p:cNvSpPr>
          <p:nvPr/>
        </p:nvSpPr>
        <p:spPr bwMode="auto">
          <a:xfrm>
            <a:off x="645208" y="1955210"/>
            <a:ext cx="3748992" cy="347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静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力极限平衡条件也适用于动力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试验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44500" indent="-4445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孔压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增大，有效应力莫尔圆向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破坏包线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移动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44500" indent="-4445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当孔压达到临界值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cr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，莫尔圆与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破坏包线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相切，试样破坏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444500" indent="-4445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对应的振次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称极限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平衡</a:t>
            </a:r>
            <a:r>
              <a:rPr lang="zh-CN" altLang="en-US" sz="20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破坏振次</a:t>
            </a:r>
            <a:r>
              <a:rPr lang="en-US" altLang="zh-CN" sz="2000" b="1" i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baseline="-25000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  <a:endParaRPr lang="en-US" altLang="zh-CN" sz="20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48" name="Text Box 25"/>
          <p:cNvSpPr txBox="1">
            <a:spLocks noChangeArrowheads="1"/>
          </p:cNvSpPr>
          <p:nvPr/>
        </p:nvSpPr>
        <p:spPr bwMode="auto">
          <a:xfrm>
            <a:off x="3253840" y="5745720"/>
            <a:ext cx="257281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</a:t>
            </a: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动强度</a:t>
            </a:r>
            <a:endParaRPr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563461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07407E-6 L -0.08212 -4.07407E-6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8" grpId="0" animBg="1"/>
      <p:bldP spid="58" grpId="1" animBg="1"/>
      <p:bldP spid="84" grpId="0"/>
      <p:bldP spid="85" grpId="0" build="p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3" name="Text Box 38"/>
          <p:cNvSpPr txBox="1">
            <a:spLocks noChangeArrowheads="1"/>
          </p:cNvSpPr>
          <p:nvPr/>
        </p:nvSpPr>
        <p:spPr bwMode="auto">
          <a:xfrm>
            <a:off x="419099" y="610565"/>
            <a:ext cx="505460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动三轴试验的破坏标准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4" name="Rectangle 9"/>
          <p:cNvSpPr>
            <a:spLocks noChangeArrowheads="1"/>
          </p:cNvSpPr>
          <p:nvPr/>
        </p:nvSpPr>
        <p:spPr bwMode="auto">
          <a:xfrm>
            <a:off x="644791" y="1378037"/>
            <a:ext cx="2720709" cy="954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marL="457200" indent="-457200" defTabSz="1074738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1" lang="zh-CN" altLang="en-US" sz="2200" b="1" dirty="0" smtClean="0">
                <a:solidFill>
                  <a:srgbClr val="99CCFF"/>
                </a:solidFill>
                <a:ea typeface="黑体" pitchFamily="2" charset="-122"/>
                <a:cs typeface="Times New Roman" panose="02020603050405020304" pitchFamily="18" charset="0"/>
              </a:rPr>
              <a:t>极限平衡标准</a:t>
            </a:r>
            <a:endParaRPr kumimoji="1" lang="en-US" altLang="zh-CN" sz="2200" b="1" dirty="0" smtClean="0">
              <a:solidFill>
                <a:srgbClr val="99CCFF"/>
              </a:solidFill>
              <a:ea typeface="黑体" pitchFamily="2" charset="-122"/>
              <a:cs typeface="Times New Roman" panose="02020603050405020304" pitchFamily="18" charset="0"/>
            </a:endParaRPr>
          </a:p>
          <a:p>
            <a:pPr marL="457200" indent="-457200" defTabSz="1074738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1" lang="zh-CN" altLang="en-US" sz="2200" b="1" dirty="0">
                <a:solidFill>
                  <a:srgbClr val="C00000"/>
                </a:solidFill>
                <a:ea typeface="黑体" pitchFamily="2" charset="-122"/>
                <a:cs typeface="Times New Roman" panose="02020603050405020304" pitchFamily="18" charset="0"/>
              </a:rPr>
              <a:t>液化</a:t>
            </a:r>
            <a:r>
              <a:rPr kumimoji="1" lang="zh-CN" altLang="en-US" sz="2200" b="1" dirty="0" smtClean="0">
                <a:solidFill>
                  <a:srgbClr val="C00000"/>
                </a:solidFill>
                <a:ea typeface="黑体" pitchFamily="2" charset="-122"/>
                <a:cs typeface="Times New Roman" panose="02020603050405020304" pitchFamily="18" charset="0"/>
              </a:rPr>
              <a:t>标准</a:t>
            </a:r>
            <a:endParaRPr kumimoji="1" lang="zh-CN" altLang="en-US" sz="2200" b="1" dirty="0">
              <a:solidFill>
                <a:srgbClr val="C0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85" name="Text Box 5"/>
          <p:cNvSpPr txBox="1">
            <a:spLocks noChangeArrowheads="1"/>
          </p:cNvSpPr>
          <p:nvPr/>
        </p:nvSpPr>
        <p:spPr bwMode="auto">
          <a:xfrm>
            <a:off x="1038908" y="3352210"/>
            <a:ext cx="7190692" cy="1540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当试样内的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累积孔隙水压力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，即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′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＝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土体完全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丧失强度，处于粘滞液体状态，称为</a:t>
            </a:r>
            <a:r>
              <a:rPr lang="zh-CN" altLang="en-US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液化</a:t>
            </a:r>
            <a:r>
              <a:rPr lang="zh-CN" altLang="en-US" sz="22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状态</a:t>
            </a:r>
            <a:endParaRPr lang="en-US" altLang="zh-CN" sz="2200" b="1" dirty="0" smtClean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44500" indent="-4445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以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这种状态作为土的破坏标准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对应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的振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液化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破坏</a:t>
            </a: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振次</a:t>
            </a:r>
            <a:r>
              <a:rPr lang="en-US" altLang="zh-CN" sz="2200" b="1" i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200" b="1" baseline="-25000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  <a:endParaRPr lang="en-US" altLang="zh-CN" sz="22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4" name="Freeform 4"/>
          <p:cNvSpPr>
            <a:spLocks/>
          </p:cNvSpPr>
          <p:nvPr/>
        </p:nvSpPr>
        <p:spPr bwMode="auto">
          <a:xfrm>
            <a:off x="4165600" y="1644650"/>
            <a:ext cx="4191000" cy="758825"/>
          </a:xfrm>
          <a:custGeom>
            <a:avLst/>
            <a:gdLst>
              <a:gd name="T0" fmla="*/ 51 w 2640"/>
              <a:gd name="T1" fmla="*/ 456 h 478"/>
              <a:gd name="T2" fmla="*/ 67 w 2640"/>
              <a:gd name="T3" fmla="*/ 373 h 478"/>
              <a:gd name="T4" fmla="*/ 119 w 2640"/>
              <a:gd name="T5" fmla="*/ 430 h 478"/>
              <a:gd name="T6" fmla="*/ 163 w 2640"/>
              <a:gd name="T7" fmla="*/ 405 h 478"/>
              <a:gd name="T8" fmla="*/ 202 w 2640"/>
              <a:gd name="T9" fmla="*/ 338 h 478"/>
              <a:gd name="T10" fmla="*/ 247 w 2640"/>
              <a:gd name="T11" fmla="*/ 382 h 478"/>
              <a:gd name="T12" fmla="*/ 288 w 2640"/>
              <a:gd name="T13" fmla="*/ 411 h 478"/>
              <a:gd name="T14" fmla="*/ 333 w 2640"/>
              <a:gd name="T15" fmla="*/ 331 h 478"/>
              <a:gd name="T16" fmla="*/ 384 w 2640"/>
              <a:gd name="T17" fmla="*/ 334 h 478"/>
              <a:gd name="T18" fmla="*/ 432 w 2640"/>
              <a:gd name="T19" fmla="*/ 395 h 478"/>
              <a:gd name="T20" fmla="*/ 493 w 2640"/>
              <a:gd name="T21" fmla="*/ 296 h 478"/>
              <a:gd name="T22" fmla="*/ 538 w 2640"/>
              <a:gd name="T23" fmla="*/ 331 h 478"/>
              <a:gd name="T24" fmla="*/ 602 w 2640"/>
              <a:gd name="T25" fmla="*/ 334 h 478"/>
              <a:gd name="T26" fmla="*/ 643 w 2640"/>
              <a:gd name="T27" fmla="*/ 261 h 478"/>
              <a:gd name="T28" fmla="*/ 704 w 2640"/>
              <a:gd name="T29" fmla="*/ 338 h 478"/>
              <a:gd name="T30" fmla="*/ 752 w 2640"/>
              <a:gd name="T31" fmla="*/ 331 h 478"/>
              <a:gd name="T32" fmla="*/ 784 w 2640"/>
              <a:gd name="T33" fmla="*/ 248 h 478"/>
              <a:gd name="T34" fmla="*/ 842 w 2640"/>
              <a:gd name="T35" fmla="*/ 290 h 478"/>
              <a:gd name="T36" fmla="*/ 890 w 2640"/>
              <a:gd name="T37" fmla="*/ 322 h 478"/>
              <a:gd name="T38" fmla="*/ 935 w 2640"/>
              <a:gd name="T39" fmla="*/ 232 h 478"/>
              <a:gd name="T40" fmla="*/ 986 w 2640"/>
              <a:gd name="T41" fmla="*/ 261 h 478"/>
              <a:gd name="T42" fmla="*/ 1037 w 2640"/>
              <a:gd name="T43" fmla="*/ 322 h 478"/>
              <a:gd name="T44" fmla="*/ 1101 w 2640"/>
              <a:gd name="T45" fmla="*/ 216 h 478"/>
              <a:gd name="T46" fmla="*/ 1146 w 2640"/>
              <a:gd name="T47" fmla="*/ 286 h 478"/>
              <a:gd name="T48" fmla="*/ 1194 w 2640"/>
              <a:gd name="T49" fmla="*/ 248 h 478"/>
              <a:gd name="T50" fmla="*/ 1255 w 2640"/>
              <a:gd name="T51" fmla="*/ 197 h 478"/>
              <a:gd name="T52" fmla="*/ 1303 w 2640"/>
              <a:gd name="T53" fmla="*/ 286 h 478"/>
              <a:gd name="T54" fmla="*/ 1344 w 2640"/>
              <a:gd name="T55" fmla="*/ 203 h 478"/>
              <a:gd name="T56" fmla="*/ 1421 w 2640"/>
              <a:gd name="T57" fmla="*/ 219 h 478"/>
              <a:gd name="T58" fmla="*/ 1485 w 2640"/>
              <a:gd name="T59" fmla="*/ 219 h 478"/>
              <a:gd name="T60" fmla="*/ 1549 w 2640"/>
              <a:gd name="T61" fmla="*/ 162 h 478"/>
              <a:gd name="T62" fmla="*/ 1591 w 2640"/>
              <a:gd name="T63" fmla="*/ 238 h 478"/>
              <a:gd name="T64" fmla="*/ 1626 w 2640"/>
              <a:gd name="T65" fmla="*/ 181 h 478"/>
              <a:gd name="T66" fmla="*/ 1677 w 2640"/>
              <a:gd name="T67" fmla="*/ 130 h 478"/>
              <a:gd name="T68" fmla="*/ 1715 w 2640"/>
              <a:gd name="T69" fmla="*/ 190 h 478"/>
              <a:gd name="T70" fmla="*/ 1760 w 2640"/>
              <a:gd name="T71" fmla="*/ 197 h 478"/>
              <a:gd name="T72" fmla="*/ 1805 w 2640"/>
              <a:gd name="T73" fmla="*/ 91 h 478"/>
              <a:gd name="T74" fmla="*/ 1856 w 2640"/>
              <a:gd name="T75" fmla="*/ 158 h 478"/>
              <a:gd name="T76" fmla="*/ 1907 w 2640"/>
              <a:gd name="T77" fmla="*/ 187 h 478"/>
              <a:gd name="T78" fmla="*/ 1936 w 2640"/>
              <a:gd name="T79" fmla="*/ 72 h 478"/>
              <a:gd name="T80" fmla="*/ 2007 w 2640"/>
              <a:gd name="T81" fmla="*/ 94 h 478"/>
              <a:gd name="T82" fmla="*/ 2035 w 2640"/>
              <a:gd name="T83" fmla="*/ 171 h 478"/>
              <a:gd name="T84" fmla="*/ 2077 w 2640"/>
              <a:gd name="T85" fmla="*/ 21 h 478"/>
              <a:gd name="T86" fmla="*/ 2147 w 2640"/>
              <a:gd name="T87" fmla="*/ 40 h 478"/>
              <a:gd name="T88" fmla="*/ 2173 w 2640"/>
              <a:gd name="T89" fmla="*/ 101 h 478"/>
              <a:gd name="T90" fmla="*/ 2202 w 2640"/>
              <a:gd name="T91" fmla="*/ 69 h 478"/>
              <a:gd name="T92" fmla="*/ 2231 w 2640"/>
              <a:gd name="T93" fmla="*/ 2 h 478"/>
              <a:gd name="T94" fmla="*/ 2282 w 2640"/>
              <a:gd name="T95" fmla="*/ 14 h 478"/>
              <a:gd name="T96" fmla="*/ 2314 w 2640"/>
              <a:gd name="T97" fmla="*/ 85 h 478"/>
              <a:gd name="T98" fmla="*/ 2349 w 2640"/>
              <a:gd name="T99" fmla="*/ 78 h 478"/>
              <a:gd name="T100" fmla="*/ 2394 w 2640"/>
              <a:gd name="T101" fmla="*/ 2 h 478"/>
              <a:gd name="T102" fmla="*/ 2429 w 2640"/>
              <a:gd name="T103" fmla="*/ 5 h 478"/>
              <a:gd name="T104" fmla="*/ 2471 w 2640"/>
              <a:gd name="T105" fmla="*/ 75 h 478"/>
              <a:gd name="T106" fmla="*/ 2487 w 2640"/>
              <a:gd name="T107" fmla="*/ 43 h 478"/>
              <a:gd name="T108" fmla="*/ 2525 w 2640"/>
              <a:gd name="T109" fmla="*/ 2 h 478"/>
              <a:gd name="T110" fmla="*/ 2592 w 2640"/>
              <a:gd name="T111" fmla="*/ 2 h 478"/>
              <a:gd name="T112" fmla="*/ 2640 w 2640"/>
              <a:gd name="T113" fmla="*/ 2 h 47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640"/>
              <a:gd name="T172" fmla="*/ 0 h 478"/>
              <a:gd name="T173" fmla="*/ 2640 w 2640"/>
              <a:gd name="T174" fmla="*/ 478 h 478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640" h="478">
                <a:moveTo>
                  <a:pt x="0" y="478"/>
                </a:moveTo>
                <a:cubicBezTo>
                  <a:pt x="20" y="473"/>
                  <a:pt x="40" y="469"/>
                  <a:pt x="51" y="456"/>
                </a:cubicBezTo>
                <a:cubicBezTo>
                  <a:pt x="62" y="443"/>
                  <a:pt x="61" y="412"/>
                  <a:pt x="64" y="398"/>
                </a:cubicBezTo>
                <a:cubicBezTo>
                  <a:pt x="67" y="384"/>
                  <a:pt x="60" y="372"/>
                  <a:pt x="67" y="373"/>
                </a:cubicBezTo>
                <a:cubicBezTo>
                  <a:pt x="74" y="374"/>
                  <a:pt x="97" y="393"/>
                  <a:pt x="106" y="402"/>
                </a:cubicBezTo>
                <a:cubicBezTo>
                  <a:pt x="115" y="411"/>
                  <a:pt x="113" y="424"/>
                  <a:pt x="119" y="430"/>
                </a:cubicBezTo>
                <a:cubicBezTo>
                  <a:pt x="125" y="436"/>
                  <a:pt x="134" y="444"/>
                  <a:pt x="141" y="440"/>
                </a:cubicBezTo>
                <a:cubicBezTo>
                  <a:pt x="148" y="436"/>
                  <a:pt x="155" y="418"/>
                  <a:pt x="163" y="405"/>
                </a:cubicBezTo>
                <a:cubicBezTo>
                  <a:pt x="171" y="392"/>
                  <a:pt x="179" y="371"/>
                  <a:pt x="186" y="360"/>
                </a:cubicBezTo>
                <a:cubicBezTo>
                  <a:pt x="193" y="349"/>
                  <a:pt x="196" y="341"/>
                  <a:pt x="202" y="338"/>
                </a:cubicBezTo>
                <a:cubicBezTo>
                  <a:pt x="208" y="335"/>
                  <a:pt x="217" y="334"/>
                  <a:pt x="224" y="341"/>
                </a:cubicBezTo>
                <a:cubicBezTo>
                  <a:pt x="231" y="348"/>
                  <a:pt x="240" y="370"/>
                  <a:pt x="247" y="382"/>
                </a:cubicBezTo>
                <a:cubicBezTo>
                  <a:pt x="254" y="394"/>
                  <a:pt x="259" y="406"/>
                  <a:pt x="266" y="411"/>
                </a:cubicBezTo>
                <a:cubicBezTo>
                  <a:pt x="273" y="416"/>
                  <a:pt x="280" y="418"/>
                  <a:pt x="288" y="411"/>
                </a:cubicBezTo>
                <a:cubicBezTo>
                  <a:pt x="296" y="404"/>
                  <a:pt x="309" y="379"/>
                  <a:pt x="317" y="366"/>
                </a:cubicBezTo>
                <a:cubicBezTo>
                  <a:pt x="325" y="353"/>
                  <a:pt x="327" y="340"/>
                  <a:pt x="333" y="331"/>
                </a:cubicBezTo>
                <a:cubicBezTo>
                  <a:pt x="339" y="322"/>
                  <a:pt x="347" y="309"/>
                  <a:pt x="355" y="309"/>
                </a:cubicBezTo>
                <a:cubicBezTo>
                  <a:pt x="363" y="309"/>
                  <a:pt x="377" y="321"/>
                  <a:pt x="384" y="334"/>
                </a:cubicBezTo>
                <a:cubicBezTo>
                  <a:pt x="391" y="347"/>
                  <a:pt x="392" y="376"/>
                  <a:pt x="400" y="386"/>
                </a:cubicBezTo>
                <a:cubicBezTo>
                  <a:pt x="408" y="396"/>
                  <a:pt x="423" y="401"/>
                  <a:pt x="432" y="395"/>
                </a:cubicBezTo>
                <a:cubicBezTo>
                  <a:pt x="441" y="389"/>
                  <a:pt x="448" y="367"/>
                  <a:pt x="458" y="350"/>
                </a:cubicBezTo>
                <a:cubicBezTo>
                  <a:pt x="468" y="333"/>
                  <a:pt x="484" y="308"/>
                  <a:pt x="493" y="296"/>
                </a:cubicBezTo>
                <a:cubicBezTo>
                  <a:pt x="502" y="284"/>
                  <a:pt x="508" y="274"/>
                  <a:pt x="515" y="280"/>
                </a:cubicBezTo>
                <a:cubicBezTo>
                  <a:pt x="522" y="286"/>
                  <a:pt x="527" y="315"/>
                  <a:pt x="538" y="331"/>
                </a:cubicBezTo>
                <a:cubicBezTo>
                  <a:pt x="549" y="347"/>
                  <a:pt x="572" y="376"/>
                  <a:pt x="583" y="376"/>
                </a:cubicBezTo>
                <a:cubicBezTo>
                  <a:pt x="594" y="376"/>
                  <a:pt x="595" y="351"/>
                  <a:pt x="602" y="334"/>
                </a:cubicBezTo>
                <a:cubicBezTo>
                  <a:pt x="609" y="317"/>
                  <a:pt x="620" y="286"/>
                  <a:pt x="627" y="274"/>
                </a:cubicBezTo>
                <a:cubicBezTo>
                  <a:pt x="634" y="262"/>
                  <a:pt x="634" y="258"/>
                  <a:pt x="643" y="261"/>
                </a:cubicBezTo>
                <a:cubicBezTo>
                  <a:pt x="652" y="264"/>
                  <a:pt x="669" y="277"/>
                  <a:pt x="679" y="290"/>
                </a:cubicBezTo>
                <a:cubicBezTo>
                  <a:pt x="689" y="303"/>
                  <a:pt x="695" y="325"/>
                  <a:pt x="704" y="338"/>
                </a:cubicBezTo>
                <a:cubicBezTo>
                  <a:pt x="713" y="351"/>
                  <a:pt x="728" y="367"/>
                  <a:pt x="736" y="366"/>
                </a:cubicBezTo>
                <a:cubicBezTo>
                  <a:pt x="744" y="365"/>
                  <a:pt x="748" y="345"/>
                  <a:pt x="752" y="331"/>
                </a:cubicBezTo>
                <a:cubicBezTo>
                  <a:pt x="756" y="317"/>
                  <a:pt x="754" y="294"/>
                  <a:pt x="759" y="280"/>
                </a:cubicBezTo>
                <a:cubicBezTo>
                  <a:pt x="764" y="266"/>
                  <a:pt x="775" y="254"/>
                  <a:pt x="784" y="248"/>
                </a:cubicBezTo>
                <a:cubicBezTo>
                  <a:pt x="793" y="242"/>
                  <a:pt x="806" y="235"/>
                  <a:pt x="816" y="242"/>
                </a:cubicBezTo>
                <a:cubicBezTo>
                  <a:pt x="826" y="249"/>
                  <a:pt x="835" y="275"/>
                  <a:pt x="842" y="290"/>
                </a:cubicBezTo>
                <a:cubicBezTo>
                  <a:pt x="849" y="305"/>
                  <a:pt x="850" y="326"/>
                  <a:pt x="858" y="331"/>
                </a:cubicBezTo>
                <a:cubicBezTo>
                  <a:pt x="866" y="336"/>
                  <a:pt x="883" y="332"/>
                  <a:pt x="890" y="322"/>
                </a:cubicBezTo>
                <a:cubicBezTo>
                  <a:pt x="897" y="312"/>
                  <a:pt x="896" y="285"/>
                  <a:pt x="903" y="270"/>
                </a:cubicBezTo>
                <a:cubicBezTo>
                  <a:pt x="910" y="255"/>
                  <a:pt x="926" y="240"/>
                  <a:pt x="935" y="232"/>
                </a:cubicBezTo>
                <a:cubicBezTo>
                  <a:pt x="944" y="224"/>
                  <a:pt x="946" y="217"/>
                  <a:pt x="954" y="222"/>
                </a:cubicBezTo>
                <a:cubicBezTo>
                  <a:pt x="962" y="227"/>
                  <a:pt x="977" y="247"/>
                  <a:pt x="986" y="261"/>
                </a:cubicBezTo>
                <a:cubicBezTo>
                  <a:pt x="995" y="275"/>
                  <a:pt x="999" y="299"/>
                  <a:pt x="1008" y="309"/>
                </a:cubicBezTo>
                <a:cubicBezTo>
                  <a:pt x="1017" y="319"/>
                  <a:pt x="1028" y="330"/>
                  <a:pt x="1037" y="322"/>
                </a:cubicBezTo>
                <a:cubicBezTo>
                  <a:pt x="1046" y="314"/>
                  <a:pt x="1048" y="279"/>
                  <a:pt x="1059" y="261"/>
                </a:cubicBezTo>
                <a:cubicBezTo>
                  <a:pt x="1070" y="243"/>
                  <a:pt x="1089" y="221"/>
                  <a:pt x="1101" y="216"/>
                </a:cubicBezTo>
                <a:cubicBezTo>
                  <a:pt x="1113" y="211"/>
                  <a:pt x="1123" y="220"/>
                  <a:pt x="1130" y="232"/>
                </a:cubicBezTo>
                <a:cubicBezTo>
                  <a:pt x="1137" y="244"/>
                  <a:pt x="1140" y="273"/>
                  <a:pt x="1146" y="286"/>
                </a:cubicBezTo>
                <a:cubicBezTo>
                  <a:pt x="1152" y="299"/>
                  <a:pt x="1160" y="315"/>
                  <a:pt x="1168" y="309"/>
                </a:cubicBezTo>
                <a:cubicBezTo>
                  <a:pt x="1176" y="303"/>
                  <a:pt x="1186" y="265"/>
                  <a:pt x="1194" y="248"/>
                </a:cubicBezTo>
                <a:cubicBezTo>
                  <a:pt x="1202" y="231"/>
                  <a:pt x="1209" y="214"/>
                  <a:pt x="1219" y="206"/>
                </a:cubicBezTo>
                <a:cubicBezTo>
                  <a:pt x="1229" y="198"/>
                  <a:pt x="1245" y="190"/>
                  <a:pt x="1255" y="197"/>
                </a:cubicBezTo>
                <a:cubicBezTo>
                  <a:pt x="1265" y="204"/>
                  <a:pt x="1272" y="233"/>
                  <a:pt x="1280" y="248"/>
                </a:cubicBezTo>
                <a:cubicBezTo>
                  <a:pt x="1288" y="263"/>
                  <a:pt x="1296" y="282"/>
                  <a:pt x="1303" y="286"/>
                </a:cubicBezTo>
                <a:cubicBezTo>
                  <a:pt x="1310" y="290"/>
                  <a:pt x="1318" y="288"/>
                  <a:pt x="1325" y="274"/>
                </a:cubicBezTo>
                <a:cubicBezTo>
                  <a:pt x="1332" y="260"/>
                  <a:pt x="1334" y="221"/>
                  <a:pt x="1344" y="203"/>
                </a:cubicBezTo>
                <a:cubicBezTo>
                  <a:pt x="1354" y="185"/>
                  <a:pt x="1370" y="165"/>
                  <a:pt x="1383" y="168"/>
                </a:cubicBezTo>
                <a:cubicBezTo>
                  <a:pt x="1396" y="171"/>
                  <a:pt x="1408" y="201"/>
                  <a:pt x="1421" y="219"/>
                </a:cubicBezTo>
                <a:cubicBezTo>
                  <a:pt x="1434" y="237"/>
                  <a:pt x="1448" y="277"/>
                  <a:pt x="1459" y="277"/>
                </a:cubicBezTo>
                <a:cubicBezTo>
                  <a:pt x="1470" y="277"/>
                  <a:pt x="1476" y="239"/>
                  <a:pt x="1485" y="219"/>
                </a:cubicBezTo>
                <a:cubicBezTo>
                  <a:pt x="1494" y="199"/>
                  <a:pt x="1503" y="164"/>
                  <a:pt x="1514" y="155"/>
                </a:cubicBezTo>
                <a:cubicBezTo>
                  <a:pt x="1525" y="146"/>
                  <a:pt x="1540" y="156"/>
                  <a:pt x="1549" y="162"/>
                </a:cubicBezTo>
                <a:cubicBezTo>
                  <a:pt x="1558" y="168"/>
                  <a:pt x="1564" y="181"/>
                  <a:pt x="1571" y="194"/>
                </a:cubicBezTo>
                <a:cubicBezTo>
                  <a:pt x="1578" y="207"/>
                  <a:pt x="1584" y="230"/>
                  <a:pt x="1591" y="238"/>
                </a:cubicBezTo>
                <a:cubicBezTo>
                  <a:pt x="1598" y="246"/>
                  <a:pt x="1610" y="254"/>
                  <a:pt x="1616" y="245"/>
                </a:cubicBezTo>
                <a:cubicBezTo>
                  <a:pt x="1622" y="236"/>
                  <a:pt x="1620" y="199"/>
                  <a:pt x="1626" y="181"/>
                </a:cubicBezTo>
                <a:cubicBezTo>
                  <a:pt x="1632" y="163"/>
                  <a:pt x="1643" y="147"/>
                  <a:pt x="1651" y="139"/>
                </a:cubicBezTo>
                <a:cubicBezTo>
                  <a:pt x="1659" y="131"/>
                  <a:pt x="1668" y="128"/>
                  <a:pt x="1677" y="130"/>
                </a:cubicBezTo>
                <a:cubicBezTo>
                  <a:pt x="1686" y="132"/>
                  <a:pt x="1697" y="142"/>
                  <a:pt x="1703" y="152"/>
                </a:cubicBezTo>
                <a:cubicBezTo>
                  <a:pt x="1709" y="162"/>
                  <a:pt x="1709" y="178"/>
                  <a:pt x="1715" y="190"/>
                </a:cubicBezTo>
                <a:cubicBezTo>
                  <a:pt x="1721" y="202"/>
                  <a:pt x="1731" y="221"/>
                  <a:pt x="1738" y="222"/>
                </a:cubicBezTo>
                <a:cubicBezTo>
                  <a:pt x="1745" y="223"/>
                  <a:pt x="1755" y="214"/>
                  <a:pt x="1760" y="197"/>
                </a:cubicBezTo>
                <a:cubicBezTo>
                  <a:pt x="1765" y="180"/>
                  <a:pt x="1762" y="138"/>
                  <a:pt x="1770" y="120"/>
                </a:cubicBezTo>
                <a:cubicBezTo>
                  <a:pt x="1778" y="102"/>
                  <a:pt x="1794" y="92"/>
                  <a:pt x="1805" y="91"/>
                </a:cubicBezTo>
                <a:cubicBezTo>
                  <a:pt x="1816" y="90"/>
                  <a:pt x="1826" y="106"/>
                  <a:pt x="1834" y="117"/>
                </a:cubicBezTo>
                <a:cubicBezTo>
                  <a:pt x="1842" y="128"/>
                  <a:pt x="1849" y="144"/>
                  <a:pt x="1856" y="158"/>
                </a:cubicBezTo>
                <a:cubicBezTo>
                  <a:pt x="1863" y="172"/>
                  <a:pt x="1867" y="198"/>
                  <a:pt x="1875" y="203"/>
                </a:cubicBezTo>
                <a:cubicBezTo>
                  <a:pt x="1883" y="208"/>
                  <a:pt x="1901" y="201"/>
                  <a:pt x="1907" y="187"/>
                </a:cubicBezTo>
                <a:cubicBezTo>
                  <a:pt x="1913" y="173"/>
                  <a:pt x="1906" y="136"/>
                  <a:pt x="1911" y="117"/>
                </a:cubicBezTo>
                <a:cubicBezTo>
                  <a:pt x="1916" y="98"/>
                  <a:pt x="1926" y="79"/>
                  <a:pt x="1936" y="72"/>
                </a:cubicBezTo>
                <a:cubicBezTo>
                  <a:pt x="1946" y="65"/>
                  <a:pt x="1959" y="68"/>
                  <a:pt x="1971" y="72"/>
                </a:cubicBezTo>
                <a:cubicBezTo>
                  <a:pt x="1983" y="76"/>
                  <a:pt x="2001" y="81"/>
                  <a:pt x="2007" y="94"/>
                </a:cubicBezTo>
                <a:cubicBezTo>
                  <a:pt x="2013" y="107"/>
                  <a:pt x="2005" y="139"/>
                  <a:pt x="2010" y="152"/>
                </a:cubicBezTo>
                <a:cubicBezTo>
                  <a:pt x="2015" y="165"/>
                  <a:pt x="2028" y="179"/>
                  <a:pt x="2035" y="171"/>
                </a:cubicBezTo>
                <a:cubicBezTo>
                  <a:pt x="2042" y="163"/>
                  <a:pt x="2044" y="129"/>
                  <a:pt x="2051" y="104"/>
                </a:cubicBezTo>
                <a:cubicBezTo>
                  <a:pt x="2058" y="79"/>
                  <a:pt x="2067" y="32"/>
                  <a:pt x="2077" y="21"/>
                </a:cubicBezTo>
                <a:cubicBezTo>
                  <a:pt x="2087" y="10"/>
                  <a:pt x="2103" y="31"/>
                  <a:pt x="2115" y="34"/>
                </a:cubicBezTo>
                <a:cubicBezTo>
                  <a:pt x="2127" y="37"/>
                  <a:pt x="2141" y="35"/>
                  <a:pt x="2147" y="40"/>
                </a:cubicBezTo>
                <a:cubicBezTo>
                  <a:pt x="2153" y="45"/>
                  <a:pt x="2147" y="56"/>
                  <a:pt x="2151" y="66"/>
                </a:cubicBezTo>
                <a:cubicBezTo>
                  <a:pt x="2155" y="76"/>
                  <a:pt x="2167" y="90"/>
                  <a:pt x="2173" y="101"/>
                </a:cubicBezTo>
                <a:cubicBezTo>
                  <a:pt x="2179" y="112"/>
                  <a:pt x="2181" y="135"/>
                  <a:pt x="2186" y="130"/>
                </a:cubicBezTo>
                <a:cubicBezTo>
                  <a:pt x="2191" y="125"/>
                  <a:pt x="2197" y="88"/>
                  <a:pt x="2202" y="69"/>
                </a:cubicBezTo>
                <a:cubicBezTo>
                  <a:pt x="2207" y="50"/>
                  <a:pt x="2213" y="29"/>
                  <a:pt x="2218" y="18"/>
                </a:cubicBezTo>
                <a:cubicBezTo>
                  <a:pt x="2223" y="7"/>
                  <a:pt x="2225" y="2"/>
                  <a:pt x="2231" y="2"/>
                </a:cubicBezTo>
                <a:cubicBezTo>
                  <a:pt x="2237" y="2"/>
                  <a:pt x="2248" y="16"/>
                  <a:pt x="2256" y="18"/>
                </a:cubicBezTo>
                <a:cubicBezTo>
                  <a:pt x="2264" y="20"/>
                  <a:pt x="2275" y="10"/>
                  <a:pt x="2282" y="14"/>
                </a:cubicBezTo>
                <a:cubicBezTo>
                  <a:pt x="2289" y="18"/>
                  <a:pt x="2296" y="31"/>
                  <a:pt x="2301" y="43"/>
                </a:cubicBezTo>
                <a:cubicBezTo>
                  <a:pt x="2306" y="55"/>
                  <a:pt x="2309" y="74"/>
                  <a:pt x="2314" y="85"/>
                </a:cubicBezTo>
                <a:cubicBezTo>
                  <a:pt x="2319" y="96"/>
                  <a:pt x="2324" y="108"/>
                  <a:pt x="2330" y="107"/>
                </a:cubicBezTo>
                <a:cubicBezTo>
                  <a:pt x="2336" y="106"/>
                  <a:pt x="2344" y="91"/>
                  <a:pt x="2349" y="78"/>
                </a:cubicBezTo>
                <a:cubicBezTo>
                  <a:pt x="2354" y="65"/>
                  <a:pt x="2355" y="39"/>
                  <a:pt x="2362" y="27"/>
                </a:cubicBezTo>
                <a:cubicBezTo>
                  <a:pt x="2369" y="15"/>
                  <a:pt x="2386" y="4"/>
                  <a:pt x="2394" y="2"/>
                </a:cubicBezTo>
                <a:cubicBezTo>
                  <a:pt x="2402" y="0"/>
                  <a:pt x="2404" y="18"/>
                  <a:pt x="2410" y="18"/>
                </a:cubicBezTo>
                <a:cubicBezTo>
                  <a:pt x="2416" y="18"/>
                  <a:pt x="2423" y="4"/>
                  <a:pt x="2429" y="5"/>
                </a:cubicBezTo>
                <a:cubicBezTo>
                  <a:pt x="2435" y="6"/>
                  <a:pt x="2441" y="15"/>
                  <a:pt x="2448" y="27"/>
                </a:cubicBezTo>
                <a:cubicBezTo>
                  <a:pt x="2455" y="39"/>
                  <a:pt x="2466" y="64"/>
                  <a:pt x="2471" y="75"/>
                </a:cubicBezTo>
                <a:cubicBezTo>
                  <a:pt x="2476" y="86"/>
                  <a:pt x="2477" y="96"/>
                  <a:pt x="2480" y="91"/>
                </a:cubicBezTo>
                <a:cubicBezTo>
                  <a:pt x="2483" y="86"/>
                  <a:pt x="2484" y="55"/>
                  <a:pt x="2487" y="43"/>
                </a:cubicBezTo>
                <a:cubicBezTo>
                  <a:pt x="2490" y="31"/>
                  <a:pt x="2490" y="25"/>
                  <a:pt x="2496" y="18"/>
                </a:cubicBezTo>
                <a:cubicBezTo>
                  <a:pt x="2502" y="11"/>
                  <a:pt x="2515" y="4"/>
                  <a:pt x="2525" y="2"/>
                </a:cubicBezTo>
                <a:cubicBezTo>
                  <a:pt x="2535" y="0"/>
                  <a:pt x="2546" y="8"/>
                  <a:pt x="2557" y="8"/>
                </a:cubicBezTo>
                <a:cubicBezTo>
                  <a:pt x="2568" y="8"/>
                  <a:pt x="2583" y="3"/>
                  <a:pt x="2592" y="2"/>
                </a:cubicBezTo>
                <a:cubicBezTo>
                  <a:pt x="2601" y="1"/>
                  <a:pt x="2603" y="2"/>
                  <a:pt x="2611" y="2"/>
                </a:cubicBezTo>
                <a:cubicBezTo>
                  <a:pt x="2619" y="2"/>
                  <a:pt x="2629" y="2"/>
                  <a:pt x="2640" y="2"/>
                </a:cubicBezTo>
              </a:path>
            </a:pathLst>
          </a:custGeom>
          <a:noFill/>
          <a:ln w="19050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6" name="Group 17"/>
          <p:cNvGrpSpPr>
            <a:grpSpLocks/>
          </p:cNvGrpSpPr>
          <p:nvPr/>
        </p:nvGrpSpPr>
        <p:grpSpPr bwMode="auto">
          <a:xfrm>
            <a:off x="4160838" y="1368426"/>
            <a:ext cx="4572000" cy="1246188"/>
            <a:chOff x="349" y="886"/>
            <a:chExt cx="2880" cy="785"/>
          </a:xfrm>
        </p:grpSpPr>
        <p:sp>
          <p:nvSpPr>
            <p:cNvPr id="87" name="Line 18"/>
            <p:cNvSpPr>
              <a:spLocks noChangeShapeType="1"/>
            </p:cNvSpPr>
            <p:nvPr/>
          </p:nvSpPr>
          <p:spPr bwMode="auto">
            <a:xfrm>
              <a:off x="349" y="1542"/>
              <a:ext cx="26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19"/>
            <p:cNvSpPr>
              <a:spLocks noChangeShapeType="1"/>
            </p:cNvSpPr>
            <p:nvPr/>
          </p:nvSpPr>
          <p:spPr bwMode="auto">
            <a:xfrm flipV="1">
              <a:off x="352" y="960"/>
              <a:ext cx="0" cy="6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 Box 21"/>
            <p:cNvSpPr txBox="1">
              <a:spLocks noChangeArrowheads="1"/>
            </p:cNvSpPr>
            <p:nvPr/>
          </p:nvSpPr>
          <p:spPr bwMode="auto">
            <a:xfrm>
              <a:off x="2997" y="1421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ea typeface="幼圆" pitchFamily="49" charset="-122"/>
                </a:rPr>
                <a:t>N</a:t>
              </a:r>
            </a:p>
          </p:txBody>
        </p:sp>
        <p:sp>
          <p:nvSpPr>
            <p:cNvPr id="91" name="Text Box 22"/>
            <p:cNvSpPr txBox="1">
              <a:spLocks noChangeArrowheads="1"/>
            </p:cNvSpPr>
            <p:nvPr/>
          </p:nvSpPr>
          <p:spPr bwMode="auto">
            <a:xfrm>
              <a:off x="393" y="886"/>
              <a:ext cx="53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ea typeface="幼圆" pitchFamily="49" charset="-122"/>
                </a:rPr>
                <a:t>孔</a:t>
              </a:r>
              <a:r>
                <a:rPr lang="zh-CN" altLang="en-US" sz="2000" b="1" dirty="0" smtClean="0">
                  <a:ea typeface="幼圆" pitchFamily="49" charset="-122"/>
                </a:rPr>
                <a:t>压</a:t>
              </a:r>
              <a:r>
                <a:rPr lang="en-US" altLang="zh-CN" sz="2000" b="1" i="1" dirty="0" smtClean="0">
                  <a:ea typeface="幼圆" pitchFamily="49" charset="-122"/>
                  <a:sym typeface="Symbol" pitchFamily="18" charset="2"/>
                </a:rPr>
                <a:t>u</a:t>
              </a:r>
              <a:endParaRPr lang="en-US" altLang="zh-CN" sz="2000" b="1" i="1" dirty="0">
                <a:ea typeface="幼圆" pitchFamily="49" charset="-122"/>
                <a:sym typeface="Symbol" pitchFamily="18" charset="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710487" y="1652586"/>
            <a:ext cx="741363" cy="741362"/>
            <a:chOff x="7710487" y="1652586"/>
            <a:chExt cx="741363" cy="741362"/>
          </a:xfrm>
        </p:grpSpPr>
        <p:sp>
          <p:nvSpPr>
            <p:cNvPr id="93" name="Text Box 28"/>
            <p:cNvSpPr txBox="1">
              <a:spLocks noChangeArrowheads="1"/>
            </p:cNvSpPr>
            <p:nvPr/>
          </p:nvSpPr>
          <p:spPr bwMode="auto">
            <a:xfrm>
              <a:off x="7737475" y="1833561"/>
              <a:ext cx="7143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000" b="1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=</a:t>
              </a:r>
              <a:r>
                <a:rPr lang="en-US" altLang="zh-CN" sz="2000" b="1" baseline="-25000" dirty="0">
                  <a:solidFill>
                    <a:srgbClr val="0000CC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000" b="1" dirty="0">
                <a:solidFill>
                  <a:srgbClr val="0000CC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>
              <a:off x="7710487" y="1652586"/>
              <a:ext cx="0" cy="741362"/>
            </a:xfrm>
            <a:prstGeom prst="line">
              <a:avLst/>
            </a:prstGeom>
            <a:noFill/>
            <a:ln w="12700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078662" y="2374898"/>
            <a:ext cx="944563" cy="577849"/>
            <a:chOff x="7078662" y="2374898"/>
            <a:chExt cx="944563" cy="577849"/>
          </a:xfrm>
        </p:grpSpPr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H="1">
              <a:off x="7534275" y="2435223"/>
              <a:ext cx="163513" cy="17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 Box 30"/>
            <p:cNvSpPr txBox="1">
              <a:spLocks noChangeArrowheads="1"/>
            </p:cNvSpPr>
            <p:nvPr/>
          </p:nvSpPr>
          <p:spPr bwMode="auto">
            <a:xfrm>
              <a:off x="7078662" y="2552697"/>
              <a:ext cx="9445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00CC"/>
                  </a:solidFill>
                  <a:ea typeface="幼圆" pitchFamily="49" charset="-122"/>
                </a:rPr>
                <a:t>液化</a:t>
              </a:r>
              <a:r>
                <a:rPr lang="en-US" altLang="zh-CN" sz="2000" b="1" i="1" dirty="0" err="1">
                  <a:solidFill>
                    <a:srgbClr val="0000CC"/>
                  </a:solidFill>
                  <a:ea typeface="幼圆" pitchFamily="49" charset="-122"/>
                </a:rPr>
                <a:t>N</a:t>
              </a:r>
              <a:r>
                <a:rPr lang="en-US" altLang="zh-CN" sz="2000" b="1" baseline="-25000" dirty="0" err="1">
                  <a:solidFill>
                    <a:srgbClr val="0000CC"/>
                  </a:solidFill>
                  <a:ea typeface="幼圆" pitchFamily="49" charset="-122"/>
                </a:rPr>
                <a:t>f</a:t>
              </a:r>
              <a:endParaRPr lang="en-US" altLang="zh-CN" sz="2000" b="1" dirty="0">
                <a:solidFill>
                  <a:srgbClr val="0000CC"/>
                </a:solidFill>
                <a:ea typeface="幼圆" pitchFamily="49" charset="-122"/>
              </a:endParaRPr>
            </a:p>
          </p:txBody>
        </p:sp>
        <p:sp>
          <p:nvSpPr>
            <p:cNvPr id="96" name="Oval 31"/>
            <p:cNvSpPr>
              <a:spLocks noChangeArrowheads="1"/>
            </p:cNvSpPr>
            <p:nvPr/>
          </p:nvSpPr>
          <p:spPr bwMode="auto">
            <a:xfrm>
              <a:off x="7673975" y="2374898"/>
              <a:ext cx="85725" cy="85725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8" name="Group 74"/>
          <p:cNvGrpSpPr>
            <a:grpSpLocks/>
          </p:cNvGrpSpPr>
          <p:nvPr/>
        </p:nvGrpSpPr>
        <p:grpSpPr bwMode="auto">
          <a:xfrm>
            <a:off x="5026025" y="1885950"/>
            <a:ext cx="2036763" cy="1057275"/>
            <a:chOff x="894" y="1212"/>
            <a:chExt cx="1283" cy="666"/>
          </a:xfrm>
        </p:grpSpPr>
        <p:sp>
          <p:nvSpPr>
            <p:cNvPr id="99" name="Line 75"/>
            <p:cNvSpPr>
              <a:spLocks noChangeShapeType="1"/>
            </p:cNvSpPr>
            <p:nvPr/>
          </p:nvSpPr>
          <p:spPr bwMode="auto">
            <a:xfrm flipV="1">
              <a:off x="1878" y="1212"/>
              <a:ext cx="0" cy="317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" name="Group 76"/>
            <p:cNvGrpSpPr>
              <a:grpSpLocks/>
            </p:cNvGrpSpPr>
            <p:nvPr/>
          </p:nvGrpSpPr>
          <p:grpSpPr bwMode="auto">
            <a:xfrm>
              <a:off x="894" y="1240"/>
              <a:ext cx="1283" cy="638"/>
              <a:chOff x="894" y="1240"/>
              <a:chExt cx="1283" cy="638"/>
            </a:xfrm>
          </p:grpSpPr>
          <p:grpSp>
            <p:nvGrpSpPr>
              <p:cNvPr id="101" name="Group 77"/>
              <p:cNvGrpSpPr>
                <a:grpSpLocks/>
              </p:cNvGrpSpPr>
              <p:nvPr/>
            </p:nvGrpSpPr>
            <p:grpSpPr bwMode="auto">
              <a:xfrm>
                <a:off x="894" y="1519"/>
                <a:ext cx="1020" cy="359"/>
                <a:chOff x="894" y="1519"/>
                <a:chExt cx="1020" cy="359"/>
              </a:xfrm>
            </p:grpSpPr>
            <p:sp>
              <p:nvSpPr>
                <p:cNvPr id="103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894" y="1626"/>
                  <a:ext cx="920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defRPr sz="1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 dirty="0">
                      <a:solidFill>
                        <a:srgbClr val="A50021"/>
                      </a:solidFill>
                      <a:ea typeface="幼圆" pitchFamily="49" charset="-122"/>
                    </a:rPr>
                    <a:t>极限平衡</a:t>
                  </a:r>
                  <a:r>
                    <a:rPr lang="en-US" altLang="zh-CN" sz="2000" b="1" i="1" dirty="0" err="1">
                      <a:solidFill>
                        <a:srgbClr val="A50021"/>
                      </a:solidFill>
                      <a:ea typeface="幼圆" pitchFamily="49" charset="-122"/>
                    </a:rPr>
                    <a:t>N</a:t>
                  </a:r>
                  <a:r>
                    <a:rPr lang="en-US" altLang="zh-CN" sz="2000" b="1" baseline="-25000" dirty="0" err="1">
                      <a:solidFill>
                        <a:srgbClr val="A50021"/>
                      </a:solidFill>
                      <a:ea typeface="幼圆" pitchFamily="49" charset="-122"/>
                    </a:rPr>
                    <a:t>f</a:t>
                  </a:r>
                  <a:endParaRPr lang="en-US" altLang="zh-CN" sz="2000" b="1" dirty="0">
                    <a:solidFill>
                      <a:srgbClr val="A50021"/>
                    </a:solidFill>
                    <a:ea typeface="幼圆" pitchFamily="49" charset="-122"/>
                  </a:endParaRPr>
                </a:p>
              </p:txBody>
            </p:sp>
            <p:sp>
              <p:nvSpPr>
                <p:cNvPr id="104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1740" y="1565"/>
                  <a:ext cx="121" cy="1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" name="Oval 80"/>
                <p:cNvSpPr>
                  <a:spLocks noChangeArrowheads="1"/>
                </p:cNvSpPr>
                <p:nvPr/>
              </p:nvSpPr>
              <p:spPr bwMode="auto">
                <a:xfrm>
                  <a:off x="1860" y="1519"/>
                  <a:ext cx="54" cy="54"/>
                </a:xfrm>
                <a:prstGeom prst="ellipse">
                  <a:avLst/>
                </a:prstGeom>
                <a:solidFill>
                  <a:srgbClr val="FFFF00"/>
                </a:solidFill>
                <a:ln w="12700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2" name="Text Box 81"/>
              <p:cNvSpPr txBox="1">
                <a:spLocks noChangeArrowheads="1"/>
              </p:cNvSpPr>
              <p:nvPr/>
            </p:nvSpPr>
            <p:spPr bwMode="auto">
              <a:xfrm>
                <a:off x="1876" y="1240"/>
                <a:ext cx="30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 err="1">
                    <a:solidFill>
                      <a:srgbClr val="A50021"/>
                    </a:solidFill>
                    <a:ea typeface="幼圆" pitchFamily="49" charset="-122"/>
                    <a:sym typeface="Symbol" pitchFamily="18" charset="2"/>
                  </a:rPr>
                  <a:t>u</a:t>
                </a:r>
                <a:r>
                  <a:rPr lang="en-US" altLang="zh-CN" sz="2000" b="1" baseline="-25000" dirty="0" err="1">
                    <a:solidFill>
                      <a:srgbClr val="A50021"/>
                    </a:solidFill>
                    <a:ea typeface="幼圆" pitchFamily="49" charset="-122"/>
                    <a:sym typeface="Symbol" pitchFamily="18" charset="2"/>
                  </a:rPr>
                  <a:t>cr</a:t>
                </a:r>
                <a:endParaRPr lang="en-US" altLang="zh-CN" sz="2000" b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</p:grpSp>
      </p:grp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3253840" y="5745720"/>
            <a:ext cx="257281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</a:t>
            </a: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动强度</a:t>
            </a:r>
            <a:endParaRPr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0479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build="p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Freeform 3"/>
          <p:cNvSpPr>
            <a:spLocks/>
          </p:cNvSpPr>
          <p:nvPr/>
        </p:nvSpPr>
        <p:spPr bwMode="auto">
          <a:xfrm>
            <a:off x="4132263" y="1616075"/>
            <a:ext cx="4121150" cy="742950"/>
          </a:xfrm>
          <a:custGeom>
            <a:avLst/>
            <a:gdLst>
              <a:gd name="T0" fmla="*/ 0 w 2596"/>
              <a:gd name="T1" fmla="*/ 240 h 468"/>
              <a:gd name="T2" fmla="*/ 48 w 2596"/>
              <a:gd name="T3" fmla="*/ 256 h 468"/>
              <a:gd name="T4" fmla="*/ 109 w 2596"/>
              <a:gd name="T5" fmla="*/ 230 h 468"/>
              <a:gd name="T6" fmla="*/ 183 w 2596"/>
              <a:gd name="T7" fmla="*/ 253 h 468"/>
              <a:gd name="T8" fmla="*/ 244 w 2596"/>
              <a:gd name="T9" fmla="*/ 230 h 468"/>
              <a:gd name="T10" fmla="*/ 298 w 2596"/>
              <a:gd name="T11" fmla="*/ 256 h 468"/>
              <a:gd name="T12" fmla="*/ 356 w 2596"/>
              <a:gd name="T13" fmla="*/ 230 h 468"/>
              <a:gd name="T14" fmla="*/ 423 w 2596"/>
              <a:gd name="T15" fmla="*/ 253 h 468"/>
              <a:gd name="T16" fmla="*/ 487 w 2596"/>
              <a:gd name="T17" fmla="*/ 224 h 468"/>
              <a:gd name="T18" fmla="*/ 573 w 2596"/>
              <a:gd name="T19" fmla="*/ 246 h 468"/>
              <a:gd name="T20" fmla="*/ 640 w 2596"/>
              <a:gd name="T21" fmla="*/ 224 h 468"/>
              <a:gd name="T22" fmla="*/ 727 w 2596"/>
              <a:gd name="T23" fmla="*/ 253 h 468"/>
              <a:gd name="T24" fmla="*/ 794 w 2596"/>
              <a:gd name="T25" fmla="*/ 227 h 468"/>
              <a:gd name="T26" fmla="*/ 871 w 2596"/>
              <a:gd name="T27" fmla="*/ 256 h 468"/>
              <a:gd name="T28" fmla="*/ 954 w 2596"/>
              <a:gd name="T29" fmla="*/ 227 h 468"/>
              <a:gd name="T30" fmla="*/ 1024 w 2596"/>
              <a:gd name="T31" fmla="*/ 253 h 468"/>
              <a:gd name="T32" fmla="*/ 1101 w 2596"/>
              <a:gd name="T33" fmla="*/ 221 h 468"/>
              <a:gd name="T34" fmla="*/ 1184 w 2596"/>
              <a:gd name="T35" fmla="*/ 253 h 468"/>
              <a:gd name="T36" fmla="*/ 1255 w 2596"/>
              <a:gd name="T37" fmla="*/ 221 h 468"/>
              <a:gd name="T38" fmla="*/ 1319 w 2596"/>
              <a:gd name="T39" fmla="*/ 253 h 468"/>
              <a:gd name="T40" fmla="*/ 1396 w 2596"/>
              <a:gd name="T41" fmla="*/ 224 h 468"/>
              <a:gd name="T42" fmla="*/ 1447 w 2596"/>
              <a:gd name="T43" fmla="*/ 253 h 468"/>
              <a:gd name="T44" fmla="*/ 1520 w 2596"/>
              <a:gd name="T45" fmla="*/ 221 h 468"/>
              <a:gd name="T46" fmla="*/ 1600 w 2596"/>
              <a:gd name="T47" fmla="*/ 253 h 468"/>
              <a:gd name="T48" fmla="*/ 1677 w 2596"/>
              <a:gd name="T49" fmla="*/ 221 h 468"/>
              <a:gd name="T50" fmla="*/ 1757 w 2596"/>
              <a:gd name="T51" fmla="*/ 253 h 468"/>
              <a:gd name="T52" fmla="*/ 1828 w 2596"/>
              <a:gd name="T53" fmla="*/ 198 h 468"/>
              <a:gd name="T54" fmla="*/ 1892 w 2596"/>
              <a:gd name="T55" fmla="*/ 265 h 468"/>
              <a:gd name="T56" fmla="*/ 1981 w 2596"/>
              <a:gd name="T57" fmla="*/ 198 h 468"/>
              <a:gd name="T58" fmla="*/ 2039 w 2596"/>
              <a:gd name="T59" fmla="*/ 275 h 468"/>
              <a:gd name="T60" fmla="*/ 2116 w 2596"/>
              <a:gd name="T61" fmla="*/ 166 h 468"/>
              <a:gd name="T62" fmla="*/ 2189 w 2596"/>
              <a:gd name="T63" fmla="*/ 307 h 468"/>
              <a:gd name="T64" fmla="*/ 2234 w 2596"/>
              <a:gd name="T65" fmla="*/ 147 h 468"/>
              <a:gd name="T66" fmla="*/ 2282 w 2596"/>
              <a:gd name="T67" fmla="*/ 147 h 468"/>
              <a:gd name="T68" fmla="*/ 2301 w 2596"/>
              <a:gd name="T69" fmla="*/ 336 h 468"/>
              <a:gd name="T70" fmla="*/ 2340 w 2596"/>
              <a:gd name="T71" fmla="*/ 381 h 468"/>
              <a:gd name="T72" fmla="*/ 2365 w 2596"/>
              <a:gd name="T73" fmla="*/ 307 h 468"/>
              <a:gd name="T74" fmla="*/ 2372 w 2596"/>
              <a:gd name="T75" fmla="*/ 208 h 468"/>
              <a:gd name="T76" fmla="*/ 2381 w 2596"/>
              <a:gd name="T77" fmla="*/ 83 h 468"/>
              <a:gd name="T78" fmla="*/ 2407 w 2596"/>
              <a:gd name="T79" fmla="*/ 61 h 468"/>
              <a:gd name="T80" fmla="*/ 2432 w 2596"/>
              <a:gd name="T81" fmla="*/ 118 h 468"/>
              <a:gd name="T82" fmla="*/ 2445 w 2596"/>
              <a:gd name="T83" fmla="*/ 272 h 468"/>
              <a:gd name="T84" fmla="*/ 2455 w 2596"/>
              <a:gd name="T85" fmla="*/ 393 h 468"/>
              <a:gd name="T86" fmla="*/ 2484 w 2596"/>
              <a:gd name="T87" fmla="*/ 467 h 468"/>
              <a:gd name="T88" fmla="*/ 2516 w 2596"/>
              <a:gd name="T89" fmla="*/ 400 h 468"/>
              <a:gd name="T90" fmla="*/ 2519 w 2596"/>
              <a:gd name="T91" fmla="*/ 230 h 468"/>
              <a:gd name="T92" fmla="*/ 2528 w 2596"/>
              <a:gd name="T93" fmla="*/ 64 h 468"/>
              <a:gd name="T94" fmla="*/ 2554 w 2596"/>
              <a:gd name="T95" fmla="*/ 9 h 468"/>
              <a:gd name="T96" fmla="*/ 2586 w 2596"/>
              <a:gd name="T97" fmla="*/ 121 h 468"/>
              <a:gd name="T98" fmla="*/ 2596 w 2596"/>
              <a:gd name="T99" fmla="*/ 275 h 468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596"/>
              <a:gd name="T151" fmla="*/ 0 h 468"/>
              <a:gd name="T152" fmla="*/ 2596 w 2596"/>
              <a:gd name="T153" fmla="*/ 468 h 468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596" h="468">
                <a:moveTo>
                  <a:pt x="0" y="240"/>
                </a:moveTo>
                <a:cubicBezTo>
                  <a:pt x="15" y="249"/>
                  <a:pt x="30" y="258"/>
                  <a:pt x="48" y="256"/>
                </a:cubicBezTo>
                <a:cubicBezTo>
                  <a:pt x="66" y="254"/>
                  <a:pt x="87" y="230"/>
                  <a:pt x="109" y="230"/>
                </a:cubicBezTo>
                <a:cubicBezTo>
                  <a:pt x="131" y="230"/>
                  <a:pt x="161" y="253"/>
                  <a:pt x="183" y="253"/>
                </a:cubicBezTo>
                <a:cubicBezTo>
                  <a:pt x="205" y="253"/>
                  <a:pt x="225" y="230"/>
                  <a:pt x="244" y="230"/>
                </a:cubicBezTo>
                <a:cubicBezTo>
                  <a:pt x="263" y="230"/>
                  <a:pt x="279" y="256"/>
                  <a:pt x="298" y="256"/>
                </a:cubicBezTo>
                <a:cubicBezTo>
                  <a:pt x="317" y="256"/>
                  <a:pt x="335" y="230"/>
                  <a:pt x="356" y="230"/>
                </a:cubicBezTo>
                <a:cubicBezTo>
                  <a:pt x="377" y="230"/>
                  <a:pt x="401" y="254"/>
                  <a:pt x="423" y="253"/>
                </a:cubicBezTo>
                <a:cubicBezTo>
                  <a:pt x="445" y="252"/>
                  <a:pt x="462" y="225"/>
                  <a:pt x="487" y="224"/>
                </a:cubicBezTo>
                <a:cubicBezTo>
                  <a:pt x="512" y="223"/>
                  <a:pt x="548" y="246"/>
                  <a:pt x="573" y="246"/>
                </a:cubicBezTo>
                <a:cubicBezTo>
                  <a:pt x="598" y="246"/>
                  <a:pt x="614" y="223"/>
                  <a:pt x="640" y="224"/>
                </a:cubicBezTo>
                <a:cubicBezTo>
                  <a:pt x="666" y="225"/>
                  <a:pt x="701" y="253"/>
                  <a:pt x="727" y="253"/>
                </a:cubicBezTo>
                <a:cubicBezTo>
                  <a:pt x="753" y="253"/>
                  <a:pt x="770" y="227"/>
                  <a:pt x="794" y="227"/>
                </a:cubicBezTo>
                <a:cubicBezTo>
                  <a:pt x="818" y="227"/>
                  <a:pt x="844" y="256"/>
                  <a:pt x="871" y="256"/>
                </a:cubicBezTo>
                <a:cubicBezTo>
                  <a:pt x="898" y="256"/>
                  <a:pt x="929" y="227"/>
                  <a:pt x="954" y="227"/>
                </a:cubicBezTo>
                <a:cubicBezTo>
                  <a:pt x="979" y="227"/>
                  <a:pt x="1000" y="254"/>
                  <a:pt x="1024" y="253"/>
                </a:cubicBezTo>
                <a:cubicBezTo>
                  <a:pt x="1048" y="252"/>
                  <a:pt x="1074" y="221"/>
                  <a:pt x="1101" y="221"/>
                </a:cubicBezTo>
                <a:cubicBezTo>
                  <a:pt x="1128" y="221"/>
                  <a:pt x="1158" y="253"/>
                  <a:pt x="1184" y="253"/>
                </a:cubicBezTo>
                <a:cubicBezTo>
                  <a:pt x="1210" y="253"/>
                  <a:pt x="1233" y="221"/>
                  <a:pt x="1255" y="221"/>
                </a:cubicBezTo>
                <a:cubicBezTo>
                  <a:pt x="1277" y="221"/>
                  <a:pt x="1296" y="253"/>
                  <a:pt x="1319" y="253"/>
                </a:cubicBezTo>
                <a:cubicBezTo>
                  <a:pt x="1342" y="253"/>
                  <a:pt x="1375" y="224"/>
                  <a:pt x="1396" y="224"/>
                </a:cubicBezTo>
                <a:cubicBezTo>
                  <a:pt x="1417" y="224"/>
                  <a:pt x="1426" y="253"/>
                  <a:pt x="1447" y="253"/>
                </a:cubicBezTo>
                <a:cubicBezTo>
                  <a:pt x="1468" y="253"/>
                  <a:pt x="1495" y="221"/>
                  <a:pt x="1520" y="221"/>
                </a:cubicBezTo>
                <a:cubicBezTo>
                  <a:pt x="1545" y="221"/>
                  <a:pt x="1574" y="253"/>
                  <a:pt x="1600" y="253"/>
                </a:cubicBezTo>
                <a:cubicBezTo>
                  <a:pt x="1626" y="253"/>
                  <a:pt x="1651" y="221"/>
                  <a:pt x="1677" y="221"/>
                </a:cubicBezTo>
                <a:cubicBezTo>
                  <a:pt x="1703" y="221"/>
                  <a:pt x="1732" y="257"/>
                  <a:pt x="1757" y="253"/>
                </a:cubicBezTo>
                <a:cubicBezTo>
                  <a:pt x="1782" y="249"/>
                  <a:pt x="1806" y="196"/>
                  <a:pt x="1828" y="198"/>
                </a:cubicBezTo>
                <a:cubicBezTo>
                  <a:pt x="1850" y="200"/>
                  <a:pt x="1867" y="265"/>
                  <a:pt x="1892" y="265"/>
                </a:cubicBezTo>
                <a:cubicBezTo>
                  <a:pt x="1917" y="265"/>
                  <a:pt x="1957" y="196"/>
                  <a:pt x="1981" y="198"/>
                </a:cubicBezTo>
                <a:cubicBezTo>
                  <a:pt x="2005" y="200"/>
                  <a:pt x="2016" y="280"/>
                  <a:pt x="2039" y="275"/>
                </a:cubicBezTo>
                <a:cubicBezTo>
                  <a:pt x="2062" y="270"/>
                  <a:pt x="2091" y="161"/>
                  <a:pt x="2116" y="166"/>
                </a:cubicBezTo>
                <a:cubicBezTo>
                  <a:pt x="2141" y="171"/>
                  <a:pt x="2169" y="310"/>
                  <a:pt x="2189" y="307"/>
                </a:cubicBezTo>
                <a:cubicBezTo>
                  <a:pt x="2209" y="304"/>
                  <a:pt x="2219" y="174"/>
                  <a:pt x="2234" y="147"/>
                </a:cubicBezTo>
                <a:cubicBezTo>
                  <a:pt x="2249" y="120"/>
                  <a:pt x="2271" y="115"/>
                  <a:pt x="2282" y="147"/>
                </a:cubicBezTo>
                <a:cubicBezTo>
                  <a:pt x="2293" y="179"/>
                  <a:pt x="2291" y="297"/>
                  <a:pt x="2301" y="336"/>
                </a:cubicBezTo>
                <a:cubicBezTo>
                  <a:pt x="2311" y="375"/>
                  <a:pt x="2329" y="386"/>
                  <a:pt x="2340" y="381"/>
                </a:cubicBezTo>
                <a:cubicBezTo>
                  <a:pt x="2351" y="376"/>
                  <a:pt x="2360" y="336"/>
                  <a:pt x="2365" y="307"/>
                </a:cubicBezTo>
                <a:cubicBezTo>
                  <a:pt x="2370" y="278"/>
                  <a:pt x="2369" y="245"/>
                  <a:pt x="2372" y="208"/>
                </a:cubicBezTo>
                <a:cubicBezTo>
                  <a:pt x="2375" y="171"/>
                  <a:pt x="2375" y="107"/>
                  <a:pt x="2381" y="83"/>
                </a:cubicBezTo>
                <a:cubicBezTo>
                  <a:pt x="2387" y="59"/>
                  <a:pt x="2398" y="55"/>
                  <a:pt x="2407" y="61"/>
                </a:cubicBezTo>
                <a:cubicBezTo>
                  <a:pt x="2416" y="67"/>
                  <a:pt x="2426" y="83"/>
                  <a:pt x="2432" y="118"/>
                </a:cubicBezTo>
                <a:cubicBezTo>
                  <a:pt x="2438" y="153"/>
                  <a:pt x="2441" y="226"/>
                  <a:pt x="2445" y="272"/>
                </a:cubicBezTo>
                <a:cubicBezTo>
                  <a:pt x="2449" y="318"/>
                  <a:pt x="2449" y="361"/>
                  <a:pt x="2455" y="393"/>
                </a:cubicBezTo>
                <a:cubicBezTo>
                  <a:pt x="2461" y="425"/>
                  <a:pt x="2474" y="466"/>
                  <a:pt x="2484" y="467"/>
                </a:cubicBezTo>
                <a:cubicBezTo>
                  <a:pt x="2494" y="468"/>
                  <a:pt x="2510" y="439"/>
                  <a:pt x="2516" y="400"/>
                </a:cubicBezTo>
                <a:cubicBezTo>
                  <a:pt x="2522" y="361"/>
                  <a:pt x="2517" y="286"/>
                  <a:pt x="2519" y="230"/>
                </a:cubicBezTo>
                <a:cubicBezTo>
                  <a:pt x="2521" y="174"/>
                  <a:pt x="2522" y="101"/>
                  <a:pt x="2528" y="64"/>
                </a:cubicBezTo>
                <a:cubicBezTo>
                  <a:pt x="2534" y="27"/>
                  <a:pt x="2544" y="0"/>
                  <a:pt x="2554" y="9"/>
                </a:cubicBezTo>
                <a:cubicBezTo>
                  <a:pt x="2564" y="18"/>
                  <a:pt x="2579" y="77"/>
                  <a:pt x="2586" y="121"/>
                </a:cubicBezTo>
                <a:cubicBezTo>
                  <a:pt x="2593" y="165"/>
                  <a:pt x="2594" y="220"/>
                  <a:pt x="2596" y="275"/>
                </a:cubicBezTo>
              </a:path>
            </a:pathLst>
          </a:custGeom>
          <a:noFill/>
          <a:ln w="19050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4132263" y="2794000"/>
            <a:ext cx="4140200" cy="739775"/>
          </a:xfrm>
          <a:custGeom>
            <a:avLst/>
            <a:gdLst>
              <a:gd name="T0" fmla="*/ 0 w 2608"/>
              <a:gd name="T1" fmla="*/ 466 h 466"/>
              <a:gd name="T2" fmla="*/ 32 w 2608"/>
              <a:gd name="T3" fmla="*/ 421 h 466"/>
              <a:gd name="T4" fmla="*/ 77 w 2608"/>
              <a:gd name="T5" fmla="*/ 344 h 466"/>
              <a:gd name="T6" fmla="*/ 132 w 2608"/>
              <a:gd name="T7" fmla="*/ 319 h 466"/>
              <a:gd name="T8" fmla="*/ 173 w 2608"/>
              <a:gd name="T9" fmla="*/ 277 h 466"/>
              <a:gd name="T10" fmla="*/ 256 w 2608"/>
              <a:gd name="T11" fmla="*/ 283 h 466"/>
              <a:gd name="T12" fmla="*/ 304 w 2608"/>
              <a:gd name="T13" fmla="*/ 261 h 466"/>
              <a:gd name="T14" fmla="*/ 381 w 2608"/>
              <a:gd name="T15" fmla="*/ 267 h 466"/>
              <a:gd name="T16" fmla="*/ 468 w 2608"/>
              <a:gd name="T17" fmla="*/ 226 h 466"/>
              <a:gd name="T18" fmla="*/ 535 w 2608"/>
              <a:gd name="T19" fmla="*/ 229 h 466"/>
              <a:gd name="T20" fmla="*/ 618 w 2608"/>
              <a:gd name="T21" fmla="*/ 207 h 466"/>
              <a:gd name="T22" fmla="*/ 698 w 2608"/>
              <a:gd name="T23" fmla="*/ 210 h 466"/>
              <a:gd name="T24" fmla="*/ 756 w 2608"/>
              <a:gd name="T25" fmla="*/ 184 h 466"/>
              <a:gd name="T26" fmla="*/ 816 w 2608"/>
              <a:gd name="T27" fmla="*/ 187 h 466"/>
              <a:gd name="T28" fmla="*/ 877 w 2608"/>
              <a:gd name="T29" fmla="*/ 178 h 466"/>
              <a:gd name="T30" fmla="*/ 925 w 2608"/>
              <a:gd name="T31" fmla="*/ 155 h 466"/>
              <a:gd name="T32" fmla="*/ 1002 w 2608"/>
              <a:gd name="T33" fmla="*/ 168 h 466"/>
              <a:gd name="T34" fmla="*/ 1060 w 2608"/>
              <a:gd name="T35" fmla="*/ 152 h 466"/>
              <a:gd name="T36" fmla="*/ 1120 w 2608"/>
              <a:gd name="T37" fmla="*/ 152 h 466"/>
              <a:gd name="T38" fmla="*/ 1210 w 2608"/>
              <a:gd name="T39" fmla="*/ 130 h 466"/>
              <a:gd name="T40" fmla="*/ 1258 w 2608"/>
              <a:gd name="T41" fmla="*/ 136 h 466"/>
              <a:gd name="T42" fmla="*/ 1354 w 2608"/>
              <a:gd name="T43" fmla="*/ 117 h 466"/>
              <a:gd name="T44" fmla="*/ 1418 w 2608"/>
              <a:gd name="T45" fmla="*/ 123 h 466"/>
              <a:gd name="T46" fmla="*/ 1504 w 2608"/>
              <a:gd name="T47" fmla="*/ 101 h 466"/>
              <a:gd name="T48" fmla="*/ 1581 w 2608"/>
              <a:gd name="T49" fmla="*/ 114 h 466"/>
              <a:gd name="T50" fmla="*/ 1645 w 2608"/>
              <a:gd name="T51" fmla="*/ 88 h 466"/>
              <a:gd name="T52" fmla="*/ 1709 w 2608"/>
              <a:gd name="T53" fmla="*/ 98 h 466"/>
              <a:gd name="T54" fmla="*/ 1786 w 2608"/>
              <a:gd name="T55" fmla="*/ 66 h 466"/>
              <a:gd name="T56" fmla="*/ 1866 w 2608"/>
              <a:gd name="T57" fmla="*/ 85 h 466"/>
              <a:gd name="T58" fmla="*/ 1927 w 2608"/>
              <a:gd name="T59" fmla="*/ 56 h 466"/>
              <a:gd name="T60" fmla="*/ 2004 w 2608"/>
              <a:gd name="T61" fmla="*/ 69 h 466"/>
              <a:gd name="T62" fmla="*/ 2084 w 2608"/>
              <a:gd name="T63" fmla="*/ 47 h 466"/>
              <a:gd name="T64" fmla="*/ 2144 w 2608"/>
              <a:gd name="T65" fmla="*/ 59 h 466"/>
              <a:gd name="T66" fmla="*/ 2215 w 2608"/>
              <a:gd name="T67" fmla="*/ 27 h 466"/>
              <a:gd name="T68" fmla="*/ 2295 w 2608"/>
              <a:gd name="T69" fmla="*/ 43 h 466"/>
              <a:gd name="T70" fmla="*/ 2359 w 2608"/>
              <a:gd name="T71" fmla="*/ 8 h 466"/>
              <a:gd name="T72" fmla="*/ 2439 w 2608"/>
              <a:gd name="T73" fmla="*/ 27 h 466"/>
              <a:gd name="T74" fmla="*/ 2509 w 2608"/>
              <a:gd name="T75" fmla="*/ 2 h 466"/>
              <a:gd name="T76" fmla="*/ 2586 w 2608"/>
              <a:gd name="T77" fmla="*/ 15 h 466"/>
              <a:gd name="T78" fmla="*/ 2608 w 2608"/>
              <a:gd name="T79" fmla="*/ 11 h 46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2608"/>
              <a:gd name="T121" fmla="*/ 0 h 466"/>
              <a:gd name="T122" fmla="*/ 2608 w 2608"/>
              <a:gd name="T123" fmla="*/ 466 h 46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2608" h="466">
                <a:moveTo>
                  <a:pt x="0" y="466"/>
                </a:moveTo>
                <a:cubicBezTo>
                  <a:pt x="9" y="453"/>
                  <a:pt x="19" y="441"/>
                  <a:pt x="32" y="421"/>
                </a:cubicBezTo>
                <a:cubicBezTo>
                  <a:pt x="45" y="401"/>
                  <a:pt x="60" y="361"/>
                  <a:pt x="77" y="344"/>
                </a:cubicBezTo>
                <a:cubicBezTo>
                  <a:pt x="94" y="327"/>
                  <a:pt x="116" y="330"/>
                  <a:pt x="132" y="319"/>
                </a:cubicBezTo>
                <a:cubicBezTo>
                  <a:pt x="148" y="308"/>
                  <a:pt x="152" y="283"/>
                  <a:pt x="173" y="277"/>
                </a:cubicBezTo>
                <a:cubicBezTo>
                  <a:pt x="194" y="271"/>
                  <a:pt x="234" y="286"/>
                  <a:pt x="256" y="283"/>
                </a:cubicBezTo>
                <a:cubicBezTo>
                  <a:pt x="278" y="280"/>
                  <a:pt x="283" y="264"/>
                  <a:pt x="304" y="261"/>
                </a:cubicBezTo>
                <a:cubicBezTo>
                  <a:pt x="325" y="258"/>
                  <a:pt x="354" y="273"/>
                  <a:pt x="381" y="267"/>
                </a:cubicBezTo>
                <a:cubicBezTo>
                  <a:pt x="408" y="261"/>
                  <a:pt x="442" y="232"/>
                  <a:pt x="468" y="226"/>
                </a:cubicBezTo>
                <a:cubicBezTo>
                  <a:pt x="494" y="220"/>
                  <a:pt x="510" y="232"/>
                  <a:pt x="535" y="229"/>
                </a:cubicBezTo>
                <a:cubicBezTo>
                  <a:pt x="560" y="226"/>
                  <a:pt x="591" y="210"/>
                  <a:pt x="618" y="207"/>
                </a:cubicBezTo>
                <a:cubicBezTo>
                  <a:pt x="645" y="204"/>
                  <a:pt x="675" y="214"/>
                  <a:pt x="698" y="210"/>
                </a:cubicBezTo>
                <a:cubicBezTo>
                  <a:pt x="721" y="206"/>
                  <a:pt x="736" y="188"/>
                  <a:pt x="756" y="184"/>
                </a:cubicBezTo>
                <a:cubicBezTo>
                  <a:pt x="776" y="180"/>
                  <a:pt x="796" y="188"/>
                  <a:pt x="816" y="187"/>
                </a:cubicBezTo>
                <a:cubicBezTo>
                  <a:pt x="836" y="186"/>
                  <a:pt x="859" y="183"/>
                  <a:pt x="877" y="178"/>
                </a:cubicBezTo>
                <a:cubicBezTo>
                  <a:pt x="895" y="173"/>
                  <a:pt x="904" y="157"/>
                  <a:pt x="925" y="155"/>
                </a:cubicBezTo>
                <a:cubicBezTo>
                  <a:pt x="946" y="153"/>
                  <a:pt x="980" y="168"/>
                  <a:pt x="1002" y="168"/>
                </a:cubicBezTo>
                <a:cubicBezTo>
                  <a:pt x="1024" y="168"/>
                  <a:pt x="1040" y="155"/>
                  <a:pt x="1060" y="152"/>
                </a:cubicBezTo>
                <a:cubicBezTo>
                  <a:pt x="1080" y="149"/>
                  <a:pt x="1095" y="156"/>
                  <a:pt x="1120" y="152"/>
                </a:cubicBezTo>
                <a:cubicBezTo>
                  <a:pt x="1145" y="148"/>
                  <a:pt x="1187" y="133"/>
                  <a:pt x="1210" y="130"/>
                </a:cubicBezTo>
                <a:cubicBezTo>
                  <a:pt x="1233" y="127"/>
                  <a:pt x="1234" y="138"/>
                  <a:pt x="1258" y="136"/>
                </a:cubicBezTo>
                <a:cubicBezTo>
                  <a:pt x="1282" y="134"/>
                  <a:pt x="1327" y="119"/>
                  <a:pt x="1354" y="117"/>
                </a:cubicBezTo>
                <a:cubicBezTo>
                  <a:pt x="1381" y="115"/>
                  <a:pt x="1393" y="126"/>
                  <a:pt x="1418" y="123"/>
                </a:cubicBezTo>
                <a:cubicBezTo>
                  <a:pt x="1443" y="120"/>
                  <a:pt x="1477" y="102"/>
                  <a:pt x="1504" y="101"/>
                </a:cubicBezTo>
                <a:cubicBezTo>
                  <a:pt x="1531" y="100"/>
                  <a:pt x="1558" y="116"/>
                  <a:pt x="1581" y="114"/>
                </a:cubicBezTo>
                <a:cubicBezTo>
                  <a:pt x="1604" y="112"/>
                  <a:pt x="1624" y="91"/>
                  <a:pt x="1645" y="88"/>
                </a:cubicBezTo>
                <a:cubicBezTo>
                  <a:pt x="1666" y="85"/>
                  <a:pt x="1686" y="102"/>
                  <a:pt x="1709" y="98"/>
                </a:cubicBezTo>
                <a:cubicBezTo>
                  <a:pt x="1732" y="94"/>
                  <a:pt x="1760" y="68"/>
                  <a:pt x="1786" y="66"/>
                </a:cubicBezTo>
                <a:cubicBezTo>
                  <a:pt x="1812" y="64"/>
                  <a:pt x="1843" y="87"/>
                  <a:pt x="1866" y="85"/>
                </a:cubicBezTo>
                <a:cubicBezTo>
                  <a:pt x="1889" y="83"/>
                  <a:pt x="1904" y="59"/>
                  <a:pt x="1927" y="56"/>
                </a:cubicBezTo>
                <a:cubicBezTo>
                  <a:pt x="1950" y="53"/>
                  <a:pt x="1978" y="70"/>
                  <a:pt x="2004" y="69"/>
                </a:cubicBezTo>
                <a:cubicBezTo>
                  <a:pt x="2030" y="68"/>
                  <a:pt x="2061" y="49"/>
                  <a:pt x="2084" y="47"/>
                </a:cubicBezTo>
                <a:cubicBezTo>
                  <a:pt x="2107" y="45"/>
                  <a:pt x="2122" y="62"/>
                  <a:pt x="2144" y="59"/>
                </a:cubicBezTo>
                <a:cubicBezTo>
                  <a:pt x="2166" y="56"/>
                  <a:pt x="2190" y="30"/>
                  <a:pt x="2215" y="27"/>
                </a:cubicBezTo>
                <a:cubicBezTo>
                  <a:pt x="2240" y="24"/>
                  <a:pt x="2271" y="46"/>
                  <a:pt x="2295" y="43"/>
                </a:cubicBezTo>
                <a:cubicBezTo>
                  <a:pt x="2319" y="40"/>
                  <a:pt x="2335" y="11"/>
                  <a:pt x="2359" y="8"/>
                </a:cubicBezTo>
                <a:cubicBezTo>
                  <a:pt x="2383" y="5"/>
                  <a:pt x="2414" y="28"/>
                  <a:pt x="2439" y="27"/>
                </a:cubicBezTo>
                <a:cubicBezTo>
                  <a:pt x="2464" y="26"/>
                  <a:pt x="2485" y="4"/>
                  <a:pt x="2509" y="2"/>
                </a:cubicBezTo>
                <a:cubicBezTo>
                  <a:pt x="2533" y="0"/>
                  <a:pt x="2570" y="14"/>
                  <a:pt x="2586" y="15"/>
                </a:cubicBezTo>
                <a:cubicBezTo>
                  <a:pt x="2602" y="16"/>
                  <a:pt x="2605" y="13"/>
                  <a:pt x="2608" y="11"/>
                </a:cubicBezTo>
              </a:path>
            </a:pathLst>
          </a:custGeom>
          <a:noFill/>
          <a:ln w="19050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3676650" y="2671763"/>
            <a:ext cx="5030788" cy="1062037"/>
            <a:chOff x="68" y="2723"/>
            <a:chExt cx="3169" cy="669"/>
          </a:xfrm>
        </p:grpSpPr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55" y="2838"/>
              <a:ext cx="2666" cy="428"/>
            </a:xfrm>
            <a:custGeom>
              <a:avLst/>
              <a:gdLst>
                <a:gd name="T0" fmla="*/ 0 w 2666"/>
                <a:gd name="T1" fmla="*/ 0 h 384"/>
                <a:gd name="T2" fmla="*/ 0 w 2666"/>
                <a:gd name="T3" fmla="*/ 384 h 384"/>
                <a:gd name="T4" fmla="*/ 2666 w 2666"/>
                <a:gd name="T5" fmla="*/ 384 h 384"/>
                <a:gd name="T6" fmla="*/ 0 60000 65536"/>
                <a:gd name="T7" fmla="*/ 0 60000 65536"/>
                <a:gd name="T8" fmla="*/ 0 60000 65536"/>
                <a:gd name="T9" fmla="*/ 0 w 2666"/>
                <a:gd name="T10" fmla="*/ 0 h 384"/>
                <a:gd name="T11" fmla="*/ 2666 w 2666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66" h="384">
                  <a:moveTo>
                    <a:pt x="0" y="0"/>
                  </a:moveTo>
                  <a:lnTo>
                    <a:pt x="0" y="384"/>
                  </a:lnTo>
                  <a:lnTo>
                    <a:pt x="2666" y="384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68" y="2758"/>
              <a:ext cx="29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ea typeface="幼圆" pitchFamily="49" charset="-122"/>
                  <a:sym typeface="Symbol" pitchFamily="18" charset="2"/>
                </a:rPr>
                <a:t></a:t>
              </a:r>
              <a:r>
                <a:rPr lang="en-US" altLang="zh-CN" sz="2000" b="1" baseline="30000" dirty="0" err="1" smtClean="0">
                  <a:ea typeface="幼圆" pitchFamily="49" charset="-122"/>
                  <a:sym typeface="Symbol" pitchFamily="18" charset="2"/>
                </a:rPr>
                <a:t>r</a:t>
              </a:r>
              <a:r>
                <a:rPr lang="en-US" altLang="zh-CN" sz="2000" b="1" baseline="-25000" dirty="0" err="1" smtClean="0">
                  <a:ea typeface="幼圆" pitchFamily="49" charset="-122"/>
                  <a:sym typeface="Symbol" pitchFamily="18" charset="2"/>
                </a:rPr>
                <a:t>d</a:t>
              </a:r>
              <a:endParaRPr lang="en-US" altLang="zh-CN" sz="2000" b="1" dirty="0"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005" y="3142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ea typeface="幼圆" pitchFamily="49" charset="-122"/>
                </a:rPr>
                <a:t>N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89" y="2723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ea typeface="幼圆" pitchFamily="49" charset="-122"/>
                </a:rPr>
                <a:t>总应变</a:t>
              </a:r>
              <a:endParaRPr lang="en-US" altLang="zh-CN" sz="2000" b="1">
                <a:ea typeface="幼圆" pitchFamily="49" charset="-122"/>
              </a:endParaRP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3700463" y="1355725"/>
            <a:ext cx="5019675" cy="946150"/>
            <a:chOff x="83" y="1894"/>
            <a:chExt cx="3162" cy="596"/>
          </a:xfrm>
        </p:grpSpPr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352" y="2299"/>
              <a:ext cx="26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3013" y="2166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ea typeface="幼圆" pitchFamily="49" charset="-122"/>
                </a:rPr>
                <a:t>N</a:t>
              </a: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V="1">
              <a:off x="355" y="2012"/>
              <a:ext cx="0" cy="4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83" y="1898"/>
              <a:ext cx="24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ea typeface="幼圆" pitchFamily="49" charset="-122"/>
                  <a:sym typeface="Symbol" pitchFamily="18" charset="2"/>
                </a:rPr>
                <a:t></a:t>
              </a:r>
              <a:r>
                <a:rPr lang="en-US" altLang="zh-CN" sz="2000" b="1" baseline="-25000" dirty="0">
                  <a:ea typeface="幼圆" pitchFamily="49" charset="-122"/>
                  <a:sym typeface="Symbol" pitchFamily="18" charset="2"/>
                </a:rPr>
                <a:t>d</a:t>
              </a:r>
              <a:endParaRPr lang="en-US" altLang="zh-CN" sz="2000" b="1" dirty="0"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380" y="1894"/>
              <a:ext cx="5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ea typeface="幼圆" pitchFamily="49" charset="-122"/>
                </a:rPr>
                <a:t>动应变</a:t>
              </a:r>
              <a:endParaRPr lang="en-US" altLang="zh-CN" sz="2000" b="1">
                <a:ea typeface="幼圆" pitchFamily="49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640513" y="1452563"/>
            <a:ext cx="1249363" cy="544513"/>
            <a:chOff x="6640513" y="1452563"/>
            <a:chExt cx="1249363" cy="544513"/>
          </a:xfrm>
        </p:grpSpPr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6640513" y="1452563"/>
              <a:ext cx="92233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</a:t>
              </a:r>
              <a:r>
                <a:rPr lang="en-US" altLang="zh-CN" sz="2000" b="1" baseline="-25000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d</a:t>
              </a:r>
              <a:r>
                <a:rPr lang="en-US" altLang="zh-CN" sz="2000" b="1" dirty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=5%</a:t>
              </a:r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7504113" y="1697038"/>
              <a:ext cx="385763" cy="0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 flipV="1">
              <a:off x="7840663" y="1697038"/>
              <a:ext cx="0" cy="300038"/>
            </a:xfrm>
            <a:prstGeom prst="line">
              <a:avLst/>
            </a:prstGeom>
            <a:noFill/>
            <a:ln w="12700">
              <a:solidFill>
                <a:srgbClr val="00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656388" y="1963738"/>
            <a:ext cx="1273175" cy="625475"/>
            <a:chOff x="6656388" y="1963738"/>
            <a:chExt cx="1273175" cy="625475"/>
          </a:xfrm>
        </p:grpSpPr>
        <p:sp>
          <p:nvSpPr>
            <p:cNvPr id="39" name="Text Box 38"/>
            <p:cNvSpPr txBox="1">
              <a:spLocks noChangeArrowheads="1"/>
            </p:cNvSpPr>
            <p:nvPr/>
          </p:nvSpPr>
          <p:spPr bwMode="auto">
            <a:xfrm>
              <a:off x="6656388" y="2189163"/>
              <a:ext cx="1203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006600"/>
                  </a:solidFill>
                  <a:ea typeface="幼圆" pitchFamily="49" charset="-122"/>
                </a:rPr>
                <a:t>动应变</a:t>
              </a:r>
              <a:r>
                <a:rPr lang="en-US" altLang="zh-CN" sz="2000" b="1" i="1" dirty="0" err="1">
                  <a:solidFill>
                    <a:srgbClr val="006600"/>
                  </a:solidFill>
                  <a:ea typeface="幼圆" pitchFamily="49" charset="-122"/>
                </a:rPr>
                <a:t>N</a:t>
              </a:r>
              <a:r>
                <a:rPr lang="en-US" altLang="zh-CN" sz="2000" b="1" baseline="-25000" dirty="0" err="1">
                  <a:solidFill>
                    <a:srgbClr val="006600"/>
                  </a:solidFill>
                  <a:ea typeface="幼圆" pitchFamily="49" charset="-122"/>
                </a:rPr>
                <a:t>f</a:t>
              </a:r>
              <a:endParaRPr lang="en-US" altLang="zh-CN" sz="2000" b="1" dirty="0">
                <a:solidFill>
                  <a:srgbClr val="006600"/>
                </a:solidFill>
                <a:ea typeface="幼圆" pitchFamily="49" charset="-122"/>
              </a:endParaRPr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7866063" y="1963738"/>
              <a:ext cx="63500" cy="635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 flipH="1">
              <a:off x="7661276" y="2032001"/>
              <a:ext cx="212725" cy="25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837488" y="2817813"/>
            <a:ext cx="1125537" cy="715962"/>
            <a:chOff x="7837488" y="2817813"/>
            <a:chExt cx="1125537" cy="715962"/>
          </a:xfrm>
        </p:grpSpPr>
        <p:sp>
          <p:nvSpPr>
            <p:cNvPr id="43" name="Line 42"/>
            <p:cNvSpPr>
              <a:spLocks noChangeShapeType="1"/>
            </p:cNvSpPr>
            <p:nvPr/>
          </p:nvSpPr>
          <p:spPr bwMode="auto">
            <a:xfrm>
              <a:off x="7856538" y="2817813"/>
              <a:ext cx="0" cy="7159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43"/>
            <p:cNvSpPr txBox="1">
              <a:spLocks noChangeArrowheads="1"/>
            </p:cNvSpPr>
            <p:nvPr/>
          </p:nvSpPr>
          <p:spPr bwMode="auto">
            <a:xfrm>
              <a:off x="7837488" y="2936875"/>
              <a:ext cx="112553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</a:t>
              </a:r>
              <a:r>
                <a:rPr lang="en-US" altLang="zh-CN" sz="2000" b="1" baseline="30000" dirty="0" err="1" smtClean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r</a:t>
              </a:r>
              <a:r>
                <a:rPr lang="en-US" altLang="zh-CN" sz="2000" b="1" baseline="-25000" dirty="0" err="1" smtClean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d</a:t>
              </a:r>
              <a:r>
                <a:rPr lang="en-US" altLang="zh-CN" sz="2000" b="1" dirty="0" smtClean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=10</a:t>
              </a:r>
              <a:r>
                <a:rPr lang="en-US" altLang="zh-CN" sz="2000" b="1" dirty="0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%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627813" y="3024188"/>
            <a:ext cx="1262062" cy="544512"/>
            <a:chOff x="6627813" y="3024188"/>
            <a:chExt cx="1262062" cy="544512"/>
          </a:xfrm>
        </p:grpSpPr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6627813" y="3024188"/>
              <a:ext cx="1203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800080"/>
                  </a:solidFill>
                  <a:ea typeface="幼圆" pitchFamily="49" charset="-122"/>
                </a:rPr>
                <a:t>总应变</a:t>
              </a:r>
              <a:r>
                <a:rPr lang="en-US" altLang="zh-CN" sz="2000" b="1" i="1" dirty="0" err="1">
                  <a:solidFill>
                    <a:srgbClr val="800080"/>
                  </a:solidFill>
                  <a:ea typeface="幼圆" pitchFamily="49" charset="-122"/>
                </a:rPr>
                <a:t>N</a:t>
              </a:r>
              <a:r>
                <a:rPr lang="en-US" altLang="zh-CN" sz="2000" b="1" baseline="-25000" dirty="0" err="1">
                  <a:solidFill>
                    <a:srgbClr val="800080"/>
                  </a:solidFill>
                  <a:ea typeface="幼圆" pitchFamily="49" charset="-122"/>
                </a:rPr>
                <a:t>f</a:t>
              </a:r>
              <a:endParaRPr lang="en-US" altLang="zh-CN" sz="2000" b="1" dirty="0">
                <a:solidFill>
                  <a:srgbClr val="800080"/>
                </a:solidFill>
                <a:ea typeface="幼圆" pitchFamily="49" charset="-122"/>
              </a:endParaRPr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7826375" y="3505200"/>
              <a:ext cx="63500" cy="6350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rgbClr val="800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 flipH="1" flipV="1">
              <a:off x="7564438" y="3398838"/>
              <a:ext cx="239712" cy="10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" name="Text Box 38"/>
          <p:cNvSpPr txBox="1">
            <a:spLocks noChangeArrowheads="1"/>
          </p:cNvSpPr>
          <p:nvPr/>
        </p:nvSpPr>
        <p:spPr bwMode="auto">
          <a:xfrm>
            <a:off x="419099" y="610565"/>
            <a:ext cx="505460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动三轴试验的破坏标准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4" name="Rectangle 9"/>
          <p:cNvSpPr>
            <a:spLocks noChangeArrowheads="1"/>
          </p:cNvSpPr>
          <p:nvPr/>
        </p:nvSpPr>
        <p:spPr bwMode="auto">
          <a:xfrm>
            <a:off x="644791" y="1378037"/>
            <a:ext cx="2720709" cy="137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7442" tIns="53721" rIns="107442" bIns="53721">
            <a:spAutoFit/>
          </a:bodyPr>
          <a:lstStyle/>
          <a:p>
            <a:pPr marL="457200" indent="-457200" defTabSz="1074738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1" lang="zh-CN" altLang="en-US" sz="2200" b="1" dirty="0" smtClean="0">
                <a:solidFill>
                  <a:srgbClr val="99CCFF"/>
                </a:solidFill>
                <a:ea typeface="黑体" pitchFamily="2" charset="-122"/>
                <a:cs typeface="Times New Roman" panose="02020603050405020304" pitchFamily="18" charset="0"/>
              </a:rPr>
              <a:t>极限平衡标准</a:t>
            </a:r>
            <a:endParaRPr kumimoji="1" lang="en-US" altLang="zh-CN" sz="2200" b="1" dirty="0" smtClean="0">
              <a:solidFill>
                <a:srgbClr val="99CCFF"/>
              </a:solidFill>
              <a:ea typeface="黑体" pitchFamily="2" charset="-122"/>
              <a:cs typeface="Times New Roman" panose="02020603050405020304" pitchFamily="18" charset="0"/>
            </a:endParaRPr>
          </a:p>
          <a:p>
            <a:pPr marL="457200" indent="-457200" defTabSz="1074738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1" lang="zh-CN" altLang="en-US" sz="2200" b="1" dirty="0">
                <a:solidFill>
                  <a:srgbClr val="99CCFF"/>
                </a:solidFill>
                <a:ea typeface="黑体" pitchFamily="2" charset="-122"/>
                <a:cs typeface="Times New Roman" panose="02020603050405020304" pitchFamily="18" charset="0"/>
              </a:rPr>
              <a:t>液化标准</a:t>
            </a:r>
            <a:endParaRPr kumimoji="1" lang="en-US" altLang="zh-CN" sz="2200" b="1" dirty="0">
              <a:solidFill>
                <a:srgbClr val="99CCFF"/>
              </a:solidFill>
              <a:ea typeface="黑体" pitchFamily="2" charset="-122"/>
              <a:cs typeface="Times New Roman" panose="02020603050405020304" pitchFamily="18" charset="0"/>
            </a:endParaRPr>
          </a:p>
          <a:p>
            <a:pPr marL="457200" indent="-457200" defTabSz="1074738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1" lang="zh-CN" altLang="en-US" sz="2200" b="1" dirty="0">
                <a:solidFill>
                  <a:srgbClr val="C00000"/>
                </a:solidFill>
                <a:ea typeface="黑体" pitchFamily="2" charset="-122"/>
                <a:cs typeface="Times New Roman" panose="02020603050405020304" pitchFamily="18" charset="0"/>
              </a:rPr>
              <a:t>破坏应变标准</a:t>
            </a:r>
          </a:p>
        </p:txBody>
      </p:sp>
      <p:sp>
        <p:nvSpPr>
          <p:cNvPr id="85" name="Text Box 5"/>
          <p:cNvSpPr txBox="1">
            <a:spLocks noChangeArrowheads="1"/>
          </p:cNvSpPr>
          <p:nvPr/>
        </p:nvSpPr>
        <p:spPr bwMode="auto">
          <a:xfrm>
            <a:off x="1305608" y="3872910"/>
            <a:ext cx="7190692" cy="159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=1.0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时，常用双幅轴向动应变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ε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等于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5%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或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10%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作为破坏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应变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44500" indent="-4445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＞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1.0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时，常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以总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应变达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5%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或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10%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作为破坏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应变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44500" indent="-4445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对应的振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应变破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坏</a:t>
            </a: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振次</a:t>
            </a:r>
            <a:r>
              <a:rPr lang="en-US" altLang="zh-CN" sz="2200" b="1" i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200" b="1" baseline="-25000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  <a:endParaRPr lang="en-US" altLang="zh-CN" sz="22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3253840" y="5745720"/>
            <a:ext cx="257281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</a:t>
            </a: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动强度</a:t>
            </a:r>
            <a:endParaRPr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934021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5" grpId="0" build="p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542750" y="2352875"/>
            <a:ext cx="5558265" cy="3122411"/>
            <a:chOff x="977" y="1538"/>
            <a:chExt cx="3479" cy="2071"/>
          </a:xfrm>
        </p:grpSpPr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1879" y="1827"/>
              <a:ext cx="2209" cy="996"/>
            </a:xfrm>
            <a:custGeom>
              <a:avLst/>
              <a:gdLst>
                <a:gd name="T0" fmla="*/ 0 w 2640"/>
                <a:gd name="T1" fmla="*/ 0 h 1056"/>
                <a:gd name="T2" fmla="*/ 384 w 2640"/>
                <a:gd name="T3" fmla="*/ 432 h 1056"/>
                <a:gd name="T4" fmla="*/ 835 w 2640"/>
                <a:gd name="T5" fmla="*/ 701 h 1056"/>
                <a:gd name="T6" fmla="*/ 1584 w 2640"/>
                <a:gd name="T7" fmla="*/ 912 h 1056"/>
                <a:gd name="T8" fmla="*/ 2640 w 2640"/>
                <a:gd name="T9" fmla="*/ 1056 h 10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0"/>
                <a:gd name="T16" fmla="*/ 0 h 1056"/>
                <a:gd name="T17" fmla="*/ 2640 w 2640"/>
                <a:gd name="T18" fmla="*/ 1056 h 10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0" h="1056">
                  <a:moveTo>
                    <a:pt x="0" y="0"/>
                  </a:moveTo>
                  <a:cubicBezTo>
                    <a:pt x="120" y="160"/>
                    <a:pt x="245" y="315"/>
                    <a:pt x="384" y="432"/>
                  </a:cubicBezTo>
                  <a:cubicBezTo>
                    <a:pt x="523" y="549"/>
                    <a:pt x="635" y="621"/>
                    <a:pt x="835" y="701"/>
                  </a:cubicBezTo>
                  <a:cubicBezTo>
                    <a:pt x="1035" y="781"/>
                    <a:pt x="1283" y="853"/>
                    <a:pt x="1584" y="912"/>
                  </a:cubicBezTo>
                  <a:cubicBezTo>
                    <a:pt x="1885" y="971"/>
                    <a:pt x="2260" y="1016"/>
                    <a:pt x="2640" y="1056"/>
                  </a:cubicBezTo>
                </a:path>
              </a:pathLst>
            </a:custGeom>
            <a:noFill/>
            <a:ln w="28575" cmpd="sng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3122" y="3318"/>
              <a:ext cx="13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</a:rPr>
                <a:t>破坏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</a:rPr>
                <a:t>振次  </a:t>
              </a:r>
              <a:r>
                <a:rPr kumimoji="1" lang="en-US" altLang="zh-CN" sz="2400" b="1" dirty="0" err="1">
                  <a:solidFill>
                    <a:srgbClr val="000066"/>
                  </a:solidFill>
                  <a:ea typeface="幼圆" pitchFamily="49" charset="-122"/>
                </a:rPr>
                <a:t>lg</a:t>
              </a:r>
              <a:r>
                <a:rPr kumimoji="1" lang="en-US" altLang="zh-CN" sz="2400" b="1" i="1" dirty="0" err="1">
                  <a:solidFill>
                    <a:srgbClr val="000066"/>
                  </a:solidFill>
                  <a:ea typeface="幼圆" pitchFamily="49" charset="-122"/>
                </a:rPr>
                <a:t>N</a:t>
              </a:r>
              <a:r>
                <a:rPr kumimoji="1"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</a:rPr>
                <a:t>f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1430" y="1538"/>
              <a:ext cx="3018" cy="1724"/>
            </a:xfrm>
            <a:custGeom>
              <a:avLst/>
              <a:gdLst>
                <a:gd name="T0" fmla="*/ 0 w 3753"/>
                <a:gd name="T1" fmla="*/ 0 h 2064"/>
                <a:gd name="T2" fmla="*/ 0 w 3753"/>
                <a:gd name="T3" fmla="*/ 2064 h 2064"/>
                <a:gd name="T4" fmla="*/ 3753 w 3753"/>
                <a:gd name="T5" fmla="*/ 2064 h 2064"/>
                <a:gd name="T6" fmla="*/ 0 60000 65536"/>
                <a:gd name="T7" fmla="*/ 0 60000 65536"/>
                <a:gd name="T8" fmla="*/ 0 60000 65536"/>
                <a:gd name="T9" fmla="*/ 0 w 3753"/>
                <a:gd name="T10" fmla="*/ 0 h 2064"/>
                <a:gd name="T11" fmla="*/ 3753 w 3753"/>
                <a:gd name="T12" fmla="*/ 2064 h 20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53" h="2064">
                  <a:moveTo>
                    <a:pt x="0" y="0"/>
                  </a:moveTo>
                  <a:lnTo>
                    <a:pt x="0" y="2064"/>
                  </a:lnTo>
                  <a:lnTo>
                    <a:pt x="3753" y="206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1687" y="2304"/>
              <a:ext cx="2378" cy="705"/>
            </a:xfrm>
            <a:custGeom>
              <a:avLst/>
              <a:gdLst>
                <a:gd name="T0" fmla="*/ 0 w 2842"/>
                <a:gd name="T1" fmla="*/ 0 h 748"/>
                <a:gd name="T2" fmla="*/ 374 w 2842"/>
                <a:gd name="T3" fmla="*/ 278 h 748"/>
                <a:gd name="T4" fmla="*/ 912 w 2842"/>
                <a:gd name="T5" fmla="*/ 499 h 748"/>
                <a:gd name="T6" fmla="*/ 1488 w 2842"/>
                <a:gd name="T7" fmla="*/ 624 h 748"/>
                <a:gd name="T8" fmla="*/ 2323 w 2842"/>
                <a:gd name="T9" fmla="*/ 720 h 748"/>
                <a:gd name="T10" fmla="*/ 2842 w 2842"/>
                <a:gd name="T11" fmla="*/ 748 h 7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42"/>
                <a:gd name="T19" fmla="*/ 0 h 748"/>
                <a:gd name="T20" fmla="*/ 2842 w 2842"/>
                <a:gd name="T21" fmla="*/ 748 h 7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42" h="748">
                  <a:moveTo>
                    <a:pt x="0" y="0"/>
                  </a:moveTo>
                  <a:cubicBezTo>
                    <a:pt x="111" y="97"/>
                    <a:pt x="222" y="195"/>
                    <a:pt x="374" y="278"/>
                  </a:cubicBezTo>
                  <a:cubicBezTo>
                    <a:pt x="526" y="361"/>
                    <a:pt x="726" y="441"/>
                    <a:pt x="912" y="499"/>
                  </a:cubicBezTo>
                  <a:cubicBezTo>
                    <a:pt x="1098" y="557"/>
                    <a:pt x="1253" y="587"/>
                    <a:pt x="1488" y="624"/>
                  </a:cubicBezTo>
                  <a:cubicBezTo>
                    <a:pt x="1723" y="661"/>
                    <a:pt x="2097" y="699"/>
                    <a:pt x="2323" y="720"/>
                  </a:cubicBezTo>
                  <a:cubicBezTo>
                    <a:pt x="2549" y="741"/>
                    <a:pt x="2734" y="742"/>
                    <a:pt x="2842" y="748"/>
                  </a:cubicBezTo>
                </a:path>
              </a:pathLst>
            </a:custGeom>
            <a:noFill/>
            <a:ln w="28575" cmpd="sng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2128" y="1576"/>
              <a:ext cx="1936" cy="996"/>
            </a:xfrm>
            <a:custGeom>
              <a:avLst/>
              <a:gdLst>
                <a:gd name="T0" fmla="*/ 0 w 2314"/>
                <a:gd name="T1" fmla="*/ 0 h 1056"/>
                <a:gd name="T2" fmla="*/ 442 w 2314"/>
                <a:gd name="T3" fmla="*/ 461 h 1056"/>
                <a:gd name="T4" fmla="*/ 931 w 2314"/>
                <a:gd name="T5" fmla="*/ 740 h 1056"/>
                <a:gd name="T6" fmla="*/ 1605 w 2314"/>
                <a:gd name="T7" fmla="*/ 952 h 1056"/>
                <a:gd name="T8" fmla="*/ 2314 w 2314"/>
                <a:gd name="T9" fmla="*/ 1056 h 10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14"/>
                <a:gd name="T16" fmla="*/ 0 h 1056"/>
                <a:gd name="T17" fmla="*/ 2314 w 2314"/>
                <a:gd name="T18" fmla="*/ 1056 h 10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14" h="1056">
                  <a:moveTo>
                    <a:pt x="0" y="0"/>
                  </a:moveTo>
                  <a:cubicBezTo>
                    <a:pt x="74" y="77"/>
                    <a:pt x="287" y="338"/>
                    <a:pt x="442" y="461"/>
                  </a:cubicBezTo>
                  <a:cubicBezTo>
                    <a:pt x="597" y="584"/>
                    <a:pt x="737" y="658"/>
                    <a:pt x="931" y="740"/>
                  </a:cubicBezTo>
                  <a:cubicBezTo>
                    <a:pt x="1125" y="822"/>
                    <a:pt x="1375" y="899"/>
                    <a:pt x="1605" y="952"/>
                  </a:cubicBezTo>
                  <a:cubicBezTo>
                    <a:pt x="1835" y="1005"/>
                    <a:pt x="2166" y="1034"/>
                    <a:pt x="2314" y="1056"/>
                  </a:cubicBez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 rot="-5400000">
              <a:off x="575" y="1997"/>
              <a:ext cx="10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动剪应力 </a:t>
              </a:r>
              <a:r>
                <a:rPr kumimoji="1"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d</a:t>
              </a:r>
              <a:endParaRPr lang="zh-CN" altLang="en-US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266" y="2067"/>
              <a:ext cx="5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chemeClr val="folHlink"/>
                  </a:solidFill>
                  <a:ea typeface="幼圆" pitchFamily="49" charset="-122"/>
                </a:rPr>
                <a:t>K</a:t>
              </a:r>
              <a:r>
                <a:rPr lang="en-US" altLang="zh-CN" sz="2400" b="1" baseline="-25000" dirty="0" err="1">
                  <a:solidFill>
                    <a:schemeClr val="folHlink"/>
                  </a:solidFill>
                  <a:ea typeface="幼圆" pitchFamily="49" charset="-122"/>
                </a:rPr>
                <a:t>c</a:t>
              </a:r>
              <a:r>
                <a:rPr lang="en-US" altLang="zh-CN" sz="2400" b="1" dirty="0">
                  <a:solidFill>
                    <a:schemeClr val="folHlink"/>
                  </a:solidFill>
                  <a:ea typeface="幼圆" pitchFamily="49" charset="-122"/>
                </a:rPr>
                <a:t>=3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3300" y="2924"/>
              <a:ext cx="52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6600"/>
                  </a:solidFill>
                  <a:ea typeface="幼圆" pitchFamily="49" charset="-122"/>
                </a:rPr>
                <a:t>K</a:t>
              </a:r>
              <a:r>
                <a:rPr lang="en-US" altLang="zh-CN" sz="2400" b="1" baseline="-25000" dirty="0" err="1">
                  <a:solidFill>
                    <a:srgbClr val="006600"/>
                  </a:solidFill>
                  <a:ea typeface="幼圆" pitchFamily="49" charset="-122"/>
                </a:rPr>
                <a:t>c</a:t>
              </a:r>
              <a:r>
                <a:rPr lang="en-US" altLang="zh-CN" sz="2400" b="1" dirty="0">
                  <a:solidFill>
                    <a:srgbClr val="006600"/>
                  </a:solidFill>
                  <a:ea typeface="幼圆" pitchFamily="49" charset="-122"/>
                </a:rPr>
                <a:t>=1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3268" y="2475"/>
              <a:ext cx="5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chemeClr val="tx2"/>
                  </a:solidFill>
                  <a:ea typeface="幼圆" pitchFamily="49" charset="-122"/>
                </a:rPr>
                <a:t>K</a:t>
              </a:r>
              <a:r>
                <a:rPr lang="en-US" altLang="zh-CN" sz="2400" b="1" baseline="-25000" dirty="0" err="1">
                  <a:solidFill>
                    <a:schemeClr val="tx2"/>
                  </a:solidFill>
                  <a:ea typeface="幼圆" pitchFamily="49" charset="-122"/>
                </a:rPr>
                <a:t>c</a:t>
              </a:r>
              <a:r>
                <a:rPr lang="en-US" altLang="zh-CN" sz="2400" b="1" dirty="0">
                  <a:solidFill>
                    <a:schemeClr val="tx2"/>
                  </a:solidFill>
                  <a:ea typeface="幼圆" pitchFamily="49" charset="-122"/>
                </a:rPr>
                <a:t>=2</a:t>
              </a:r>
            </a:p>
          </p:txBody>
        </p:sp>
      </p:grpSp>
      <p:sp>
        <p:nvSpPr>
          <p:cNvPr id="18" name="Text Box 38"/>
          <p:cNvSpPr txBox="1">
            <a:spLocks noChangeArrowheads="1"/>
          </p:cNvSpPr>
          <p:nvPr/>
        </p:nvSpPr>
        <p:spPr bwMode="auto">
          <a:xfrm>
            <a:off x="410860" y="602327"/>
            <a:ext cx="8123539" cy="1511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土的动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强度曲线</a:t>
            </a:r>
            <a:r>
              <a:rPr lang="en-US" altLang="zh-CN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试样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45º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面上的动剪应力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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（即动应力幅值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d0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的一半）或动应力比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d0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/2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与破坏振次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间的关系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曲线</a:t>
            </a:r>
            <a:endParaRPr lang="en-US" altLang="zh-CN" sz="2800" b="1" baseline="-25000" dirty="0">
              <a:solidFill>
                <a:srgbClr val="C00000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3253840" y="5745720"/>
            <a:ext cx="257281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</a:t>
            </a: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动强度</a:t>
            </a:r>
            <a:endParaRPr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750026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177925" y="1548748"/>
            <a:ext cx="2432050" cy="3171825"/>
            <a:chOff x="742" y="1261"/>
            <a:chExt cx="1532" cy="1998"/>
          </a:xfrm>
        </p:grpSpPr>
        <p:sp>
          <p:nvSpPr>
            <p:cNvPr id="5" name="Rectangle 13"/>
            <p:cNvSpPr>
              <a:spLocks noChangeArrowheads="1"/>
            </p:cNvSpPr>
            <p:nvPr/>
          </p:nvSpPr>
          <p:spPr bwMode="auto">
            <a:xfrm>
              <a:off x="950" y="1892"/>
              <a:ext cx="852" cy="256"/>
            </a:xfrm>
            <a:prstGeom prst="rect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Rectangle 14" descr="90%"/>
            <p:cNvSpPr>
              <a:spLocks noChangeArrowheads="1"/>
            </p:cNvSpPr>
            <p:nvPr/>
          </p:nvSpPr>
          <p:spPr bwMode="auto">
            <a:xfrm>
              <a:off x="965" y="2071"/>
              <a:ext cx="840" cy="812"/>
            </a:xfrm>
            <a:prstGeom prst="rect">
              <a:avLst/>
            </a:prstGeom>
            <a:pattFill prst="pct90">
              <a:fgClr>
                <a:schemeClr val="accent2"/>
              </a:fgClr>
              <a:bgClr>
                <a:srgbClr val="996633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15"/>
            <p:cNvSpPr>
              <a:spLocks/>
            </p:cNvSpPr>
            <p:nvPr/>
          </p:nvSpPr>
          <p:spPr bwMode="auto">
            <a:xfrm>
              <a:off x="958" y="1859"/>
              <a:ext cx="847" cy="1014"/>
            </a:xfrm>
            <a:custGeom>
              <a:avLst/>
              <a:gdLst>
                <a:gd name="T0" fmla="*/ 0 w 720"/>
                <a:gd name="T1" fmla="*/ 0 h 989"/>
                <a:gd name="T2" fmla="*/ 0 w 720"/>
                <a:gd name="T3" fmla="*/ 989 h 989"/>
                <a:gd name="T4" fmla="*/ 720 w 720"/>
                <a:gd name="T5" fmla="*/ 989 h 989"/>
                <a:gd name="T6" fmla="*/ 720 w 720"/>
                <a:gd name="T7" fmla="*/ 0 h 9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989"/>
                <a:gd name="T14" fmla="*/ 720 w 720"/>
                <a:gd name="T15" fmla="*/ 989 h 9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989">
                  <a:moveTo>
                    <a:pt x="0" y="0"/>
                  </a:moveTo>
                  <a:lnTo>
                    <a:pt x="0" y="989"/>
                  </a:lnTo>
                  <a:lnTo>
                    <a:pt x="720" y="989"/>
                  </a:lnTo>
                  <a:lnTo>
                    <a:pt x="720" y="0"/>
                  </a:lnTo>
                </a:path>
              </a:pathLst>
            </a:custGeom>
            <a:noFill/>
            <a:ln w="57150" cmpd="sng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6"/>
            <p:cNvSpPr>
              <a:spLocks/>
            </p:cNvSpPr>
            <p:nvPr/>
          </p:nvSpPr>
          <p:spPr bwMode="auto">
            <a:xfrm>
              <a:off x="1786" y="1354"/>
              <a:ext cx="229" cy="1288"/>
            </a:xfrm>
            <a:custGeom>
              <a:avLst/>
              <a:gdLst>
                <a:gd name="T0" fmla="*/ 0 w 229"/>
                <a:gd name="T1" fmla="*/ 1259 h 1288"/>
                <a:gd name="T2" fmla="*/ 195 w 229"/>
                <a:gd name="T3" fmla="*/ 1254 h 1288"/>
                <a:gd name="T4" fmla="*/ 195 w 229"/>
                <a:gd name="T5" fmla="*/ 0 h 1288"/>
                <a:gd name="T6" fmla="*/ 229 w 229"/>
                <a:gd name="T7" fmla="*/ 0 h 1288"/>
                <a:gd name="T8" fmla="*/ 228 w 229"/>
                <a:gd name="T9" fmla="*/ 1288 h 1288"/>
                <a:gd name="T10" fmla="*/ 0 w 229"/>
                <a:gd name="T11" fmla="*/ 1288 h 1288"/>
                <a:gd name="T12" fmla="*/ 0 w 229"/>
                <a:gd name="T13" fmla="*/ 1259 h 12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29"/>
                <a:gd name="T22" fmla="*/ 0 h 1288"/>
                <a:gd name="T23" fmla="*/ 229 w 229"/>
                <a:gd name="T24" fmla="*/ 1288 h 12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29" h="1288">
                  <a:moveTo>
                    <a:pt x="0" y="1259"/>
                  </a:moveTo>
                  <a:lnTo>
                    <a:pt x="195" y="1254"/>
                  </a:lnTo>
                  <a:lnTo>
                    <a:pt x="195" y="0"/>
                  </a:lnTo>
                  <a:lnTo>
                    <a:pt x="229" y="0"/>
                  </a:lnTo>
                  <a:lnTo>
                    <a:pt x="228" y="1288"/>
                  </a:lnTo>
                  <a:lnTo>
                    <a:pt x="0" y="1288"/>
                  </a:lnTo>
                  <a:lnTo>
                    <a:pt x="0" y="1259"/>
                  </a:ln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AutoShape 17"/>
            <p:cNvSpPr>
              <a:spLocks noChangeArrowheads="1"/>
            </p:cNvSpPr>
            <p:nvPr/>
          </p:nvSpPr>
          <p:spPr bwMode="auto">
            <a:xfrm flipV="1">
              <a:off x="1066" y="1836"/>
              <a:ext cx="64" cy="5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>
              <a:off x="1034" y="1912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9"/>
            <p:cNvSpPr>
              <a:spLocks noChangeShapeType="1"/>
            </p:cNvSpPr>
            <p:nvPr/>
          </p:nvSpPr>
          <p:spPr bwMode="auto">
            <a:xfrm>
              <a:off x="1103" y="1913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>
              <a:off x="1064" y="1930"/>
              <a:ext cx="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>
              <a:off x="1084" y="1946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2"/>
            <p:cNvSpPr>
              <a:spLocks/>
            </p:cNvSpPr>
            <p:nvPr/>
          </p:nvSpPr>
          <p:spPr bwMode="auto">
            <a:xfrm>
              <a:off x="1788" y="1265"/>
              <a:ext cx="192" cy="1345"/>
            </a:xfrm>
            <a:custGeom>
              <a:avLst/>
              <a:gdLst>
                <a:gd name="T0" fmla="*/ 0 w 192"/>
                <a:gd name="T1" fmla="*/ 1383 h 1383"/>
                <a:gd name="T2" fmla="*/ 192 w 192"/>
                <a:gd name="T3" fmla="*/ 1383 h 1383"/>
                <a:gd name="T4" fmla="*/ 192 w 192"/>
                <a:gd name="T5" fmla="*/ 0 h 1383"/>
                <a:gd name="T6" fmla="*/ 0 60000 65536"/>
                <a:gd name="T7" fmla="*/ 0 60000 65536"/>
                <a:gd name="T8" fmla="*/ 0 60000 65536"/>
                <a:gd name="T9" fmla="*/ 0 w 192"/>
                <a:gd name="T10" fmla="*/ 0 h 1383"/>
                <a:gd name="T11" fmla="*/ 192 w 192"/>
                <a:gd name="T12" fmla="*/ 1383 h 13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383">
                  <a:moveTo>
                    <a:pt x="0" y="1383"/>
                  </a:moveTo>
                  <a:lnTo>
                    <a:pt x="192" y="1383"/>
                  </a:lnTo>
                  <a:lnTo>
                    <a:pt x="19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23"/>
            <p:cNvSpPr>
              <a:spLocks/>
            </p:cNvSpPr>
            <p:nvPr/>
          </p:nvSpPr>
          <p:spPr bwMode="auto">
            <a:xfrm>
              <a:off x="1788" y="1261"/>
              <a:ext cx="229" cy="1383"/>
            </a:xfrm>
            <a:custGeom>
              <a:avLst/>
              <a:gdLst>
                <a:gd name="T0" fmla="*/ 0 w 192"/>
                <a:gd name="T1" fmla="*/ 1383 h 1383"/>
                <a:gd name="T2" fmla="*/ 192 w 192"/>
                <a:gd name="T3" fmla="*/ 1383 h 1383"/>
                <a:gd name="T4" fmla="*/ 192 w 192"/>
                <a:gd name="T5" fmla="*/ 0 h 1383"/>
                <a:gd name="T6" fmla="*/ 0 60000 65536"/>
                <a:gd name="T7" fmla="*/ 0 60000 65536"/>
                <a:gd name="T8" fmla="*/ 0 60000 65536"/>
                <a:gd name="T9" fmla="*/ 0 w 192"/>
                <a:gd name="T10" fmla="*/ 0 h 1383"/>
                <a:gd name="T11" fmla="*/ 192 w 192"/>
                <a:gd name="T12" fmla="*/ 1383 h 13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383">
                  <a:moveTo>
                    <a:pt x="0" y="1383"/>
                  </a:moveTo>
                  <a:lnTo>
                    <a:pt x="192" y="1383"/>
                  </a:lnTo>
                  <a:lnTo>
                    <a:pt x="19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24"/>
            <p:cNvSpPr>
              <a:spLocks noChangeArrowheads="1"/>
            </p:cNvSpPr>
            <p:nvPr/>
          </p:nvSpPr>
          <p:spPr bwMode="auto">
            <a:xfrm>
              <a:off x="742" y="2873"/>
              <a:ext cx="1532" cy="38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25"/>
            <p:cNvSpPr txBox="1">
              <a:spLocks noChangeArrowheads="1"/>
            </p:cNvSpPr>
            <p:nvPr/>
          </p:nvSpPr>
          <p:spPr bwMode="auto">
            <a:xfrm>
              <a:off x="1086" y="2908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</a:rPr>
                <a:t>振动台</a:t>
              </a:r>
              <a:endParaRPr lang="en-US" altLang="zh-CN" sz="2400" b="1" dirty="0">
                <a:ea typeface="幼圆" pitchFamily="49" charset="-122"/>
              </a:endParaRPr>
            </a:p>
          </p:txBody>
        </p:sp>
        <p:sp>
          <p:nvSpPr>
            <p:cNvPr id="20" name="Line 26"/>
            <p:cNvSpPr>
              <a:spLocks noChangeShapeType="1"/>
            </p:cNvSpPr>
            <p:nvPr/>
          </p:nvSpPr>
          <p:spPr bwMode="auto">
            <a:xfrm flipH="1">
              <a:off x="830" y="3077"/>
              <a:ext cx="2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7"/>
            <p:cNvSpPr>
              <a:spLocks noChangeShapeType="1"/>
            </p:cNvSpPr>
            <p:nvPr/>
          </p:nvSpPr>
          <p:spPr bwMode="auto">
            <a:xfrm flipV="1">
              <a:off x="1870" y="3067"/>
              <a:ext cx="2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1116" y="2332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CC3300"/>
                  </a:solidFill>
                  <a:ea typeface="幼圆" pitchFamily="49" charset="-122"/>
                </a:rPr>
                <a:t>松砂</a:t>
              </a:r>
              <a:endParaRPr lang="en-US" altLang="zh-CN" sz="2400" b="1">
                <a:solidFill>
                  <a:srgbClr val="CC3300"/>
                </a:solidFill>
                <a:ea typeface="幼圆" pitchFamily="49" charset="-122"/>
              </a:endParaRPr>
            </a:p>
          </p:txBody>
        </p:sp>
        <p:sp>
          <p:nvSpPr>
            <p:cNvPr id="23" name="Line 29"/>
            <p:cNvSpPr>
              <a:spLocks noChangeShapeType="1"/>
            </p:cNvSpPr>
            <p:nvPr/>
          </p:nvSpPr>
          <p:spPr bwMode="auto">
            <a:xfrm>
              <a:off x="955" y="2136"/>
              <a:ext cx="8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Rectangle 30"/>
          <p:cNvSpPr>
            <a:spLocks noChangeArrowheads="1"/>
          </p:cNvSpPr>
          <p:nvPr/>
        </p:nvSpPr>
        <p:spPr bwMode="auto">
          <a:xfrm>
            <a:off x="3148013" y="1688448"/>
            <a:ext cx="49212" cy="8572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431800" y="737587"/>
            <a:ext cx="31513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振动液化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现象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745419" y="1160842"/>
            <a:ext cx="3414712" cy="2217738"/>
            <a:chOff x="3349995" y="1498600"/>
            <a:chExt cx="3414712" cy="2217738"/>
          </a:xfrm>
        </p:grpSpPr>
        <p:sp>
          <p:nvSpPr>
            <p:cNvPr id="28" name="Text Box 7"/>
            <p:cNvSpPr txBox="1">
              <a:spLocks noChangeArrowheads="1"/>
            </p:cNvSpPr>
            <p:nvPr/>
          </p:nvSpPr>
          <p:spPr bwMode="auto">
            <a:xfrm>
              <a:off x="5397870" y="3319463"/>
              <a:ext cx="1066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ea typeface="幼圆" pitchFamily="49" charset="-122"/>
                  <a:cs typeface="Times New Roman" panose="02020603050405020304" pitchFamily="18" charset="0"/>
                </a:rPr>
                <a:t>时间 </a:t>
              </a:r>
              <a:r>
                <a:rPr kumimoji="1" lang="en-US" altLang="zh-CN" sz="2000" b="1" i="1" dirty="0">
                  <a:ea typeface="幼圆" pitchFamily="49" charset="-12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9" name="Text Box 8"/>
            <p:cNvSpPr txBox="1">
              <a:spLocks noChangeArrowheads="1"/>
            </p:cNvSpPr>
            <p:nvPr/>
          </p:nvSpPr>
          <p:spPr bwMode="auto">
            <a:xfrm>
              <a:off x="3349995" y="1498600"/>
              <a:ext cx="1117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ea typeface="幼圆" pitchFamily="49" charset="-122"/>
                  <a:cs typeface="Times New Roman" panose="02020603050405020304" pitchFamily="18" charset="0"/>
                </a:rPr>
                <a:t>孔压</a:t>
              </a:r>
              <a:r>
                <a:rPr kumimoji="1" lang="en-US" altLang="zh-CN" sz="2000" b="1" i="1" dirty="0">
                  <a:ea typeface="幼圆" pitchFamily="49" charset="-122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4185020" y="1700213"/>
              <a:ext cx="2579687" cy="1576388"/>
            </a:xfrm>
            <a:custGeom>
              <a:avLst/>
              <a:gdLst>
                <a:gd name="T0" fmla="*/ 0 w 1327"/>
                <a:gd name="T1" fmla="*/ 0 h 839"/>
                <a:gd name="T2" fmla="*/ 0 w 1327"/>
                <a:gd name="T3" fmla="*/ 839 h 839"/>
                <a:gd name="T4" fmla="*/ 1327 w 1327"/>
                <a:gd name="T5" fmla="*/ 839 h 839"/>
                <a:gd name="T6" fmla="*/ 0 60000 65536"/>
                <a:gd name="T7" fmla="*/ 0 60000 65536"/>
                <a:gd name="T8" fmla="*/ 0 60000 65536"/>
                <a:gd name="T9" fmla="*/ 0 w 1327"/>
                <a:gd name="T10" fmla="*/ 0 h 839"/>
                <a:gd name="T11" fmla="*/ 1327 w 1327"/>
                <a:gd name="T12" fmla="*/ 839 h 8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27" h="839">
                  <a:moveTo>
                    <a:pt x="0" y="0"/>
                  </a:moveTo>
                  <a:lnTo>
                    <a:pt x="0" y="839"/>
                  </a:lnTo>
                  <a:lnTo>
                    <a:pt x="1327" y="83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Freeform 10"/>
          <p:cNvSpPr>
            <a:spLocks/>
          </p:cNvSpPr>
          <p:nvPr/>
        </p:nvSpPr>
        <p:spPr bwMode="auto">
          <a:xfrm>
            <a:off x="4580444" y="1597405"/>
            <a:ext cx="2244725" cy="1328737"/>
          </a:xfrm>
          <a:custGeom>
            <a:avLst/>
            <a:gdLst>
              <a:gd name="T0" fmla="*/ 0 w 992"/>
              <a:gd name="T1" fmla="*/ 633 h 633"/>
              <a:gd name="T2" fmla="*/ 175 w 992"/>
              <a:gd name="T3" fmla="*/ 159 h 633"/>
              <a:gd name="T4" fmla="*/ 255 w 992"/>
              <a:gd name="T5" fmla="*/ 21 h 633"/>
              <a:gd name="T6" fmla="*/ 321 w 992"/>
              <a:gd name="T7" fmla="*/ 35 h 633"/>
              <a:gd name="T8" fmla="*/ 387 w 992"/>
              <a:gd name="T9" fmla="*/ 86 h 633"/>
              <a:gd name="T10" fmla="*/ 467 w 992"/>
              <a:gd name="T11" fmla="*/ 196 h 633"/>
              <a:gd name="T12" fmla="*/ 613 w 992"/>
              <a:gd name="T13" fmla="*/ 312 h 633"/>
              <a:gd name="T14" fmla="*/ 773 w 992"/>
              <a:gd name="T15" fmla="*/ 378 h 633"/>
              <a:gd name="T16" fmla="*/ 992 w 992"/>
              <a:gd name="T17" fmla="*/ 444 h 6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92"/>
              <a:gd name="T28" fmla="*/ 0 h 633"/>
              <a:gd name="T29" fmla="*/ 992 w 992"/>
              <a:gd name="T30" fmla="*/ 633 h 6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92" h="633">
                <a:moveTo>
                  <a:pt x="0" y="633"/>
                </a:moveTo>
                <a:cubicBezTo>
                  <a:pt x="66" y="447"/>
                  <a:pt x="133" y="261"/>
                  <a:pt x="175" y="159"/>
                </a:cubicBezTo>
                <a:cubicBezTo>
                  <a:pt x="217" y="57"/>
                  <a:pt x="231" y="42"/>
                  <a:pt x="255" y="21"/>
                </a:cubicBezTo>
                <a:cubicBezTo>
                  <a:pt x="279" y="0"/>
                  <a:pt x="299" y="24"/>
                  <a:pt x="321" y="35"/>
                </a:cubicBezTo>
                <a:cubicBezTo>
                  <a:pt x="343" y="46"/>
                  <a:pt x="363" y="59"/>
                  <a:pt x="387" y="86"/>
                </a:cubicBezTo>
                <a:cubicBezTo>
                  <a:pt x="411" y="113"/>
                  <a:pt x="429" y="158"/>
                  <a:pt x="467" y="196"/>
                </a:cubicBezTo>
                <a:cubicBezTo>
                  <a:pt x="505" y="234"/>
                  <a:pt x="562" y="282"/>
                  <a:pt x="613" y="312"/>
                </a:cubicBezTo>
                <a:cubicBezTo>
                  <a:pt x="664" y="342"/>
                  <a:pt x="710" y="356"/>
                  <a:pt x="773" y="378"/>
                </a:cubicBezTo>
                <a:cubicBezTo>
                  <a:pt x="836" y="400"/>
                  <a:pt x="914" y="422"/>
                  <a:pt x="992" y="444"/>
                </a:cubicBezTo>
              </a:path>
            </a:pathLst>
          </a:custGeom>
          <a:noFill/>
          <a:ln w="28575" cmpd="sng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 11"/>
          <p:cNvSpPr>
            <a:spLocks noChangeArrowheads="1"/>
          </p:cNvSpPr>
          <p:nvPr/>
        </p:nvSpPr>
        <p:spPr bwMode="auto">
          <a:xfrm>
            <a:off x="4099411" y="3600176"/>
            <a:ext cx="4640936" cy="1272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33400" indent="-533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饱和松砂在振动情况下孔压急剧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升高，有时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可使砂土呈现瞬间的液化现象 </a:t>
            </a:r>
          </a:p>
        </p:txBody>
      </p: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2802324" y="5785577"/>
            <a:ext cx="4686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饱和松砂的振动液化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38164681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2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8" dur="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1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32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31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4" grpId="2" animBg="1"/>
      <p:bldP spid="31" grpId="0" animBg="1"/>
      <p:bldP spid="32" grpId="0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855663" y="1579563"/>
            <a:ext cx="340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kumimoji="1"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）初始处于疏松状态</a:t>
            </a: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871538" y="4321856"/>
            <a:ext cx="340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kumimoji="1"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3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）振后处于密实状态</a:t>
            </a: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855663" y="2745128"/>
            <a:ext cx="4562475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）振动过程中处于悬浮状态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</a:t>
            </a:r>
            <a:r>
              <a:rPr kumimoji="1"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- 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孔压升高（液化）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654676" y="1360488"/>
            <a:ext cx="2489200" cy="1158876"/>
            <a:chOff x="5654676" y="1360488"/>
            <a:chExt cx="2489200" cy="1158876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5659438" y="1406526"/>
              <a:ext cx="2484438" cy="1112838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8" descr="沙滩"/>
            <p:cNvSpPr>
              <a:spLocks noChangeArrowheads="1"/>
            </p:cNvSpPr>
            <p:nvPr/>
          </p:nvSpPr>
          <p:spPr bwMode="auto">
            <a:xfrm>
              <a:off x="5708651" y="19812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9" descr="沙滩"/>
            <p:cNvSpPr>
              <a:spLocks noChangeArrowheads="1"/>
            </p:cNvSpPr>
            <p:nvPr/>
          </p:nvSpPr>
          <p:spPr bwMode="auto">
            <a:xfrm>
              <a:off x="6289676" y="19812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0" descr="沙滩"/>
            <p:cNvSpPr>
              <a:spLocks noChangeArrowheads="1"/>
            </p:cNvSpPr>
            <p:nvPr/>
          </p:nvSpPr>
          <p:spPr bwMode="auto">
            <a:xfrm>
              <a:off x="6870701" y="19812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1" descr="沙滩"/>
            <p:cNvSpPr>
              <a:spLocks noChangeArrowheads="1"/>
            </p:cNvSpPr>
            <p:nvPr/>
          </p:nvSpPr>
          <p:spPr bwMode="auto">
            <a:xfrm>
              <a:off x="7480301" y="19812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2" descr="沙滩"/>
            <p:cNvSpPr>
              <a:spLocks noChangeArrowheads="1"/>
            </p:cNvSpPr>
            <p:nvPr/>
          </p:nvSpPr>
          <p:spPr bwMode="auto">
            <a:xfrm>
              <a:off x="5727701" y="142875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3" descr="沙滩"/>
            <p:cNvSpPr>
              <a:spLocks noChangeArrowheads="1"/>
            </p:cNvSpPr>
            <p:nvPr/>
          </p:nvSpPr>
          <p:spPr bwMode="auto">
            <a:xfrm>
              <a:off x="6308726" y="14478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4" descr="沙滩"/>
            <p:cNvSpPr>
              <a:spLocks noChangeArrowheads="1"/>
            </p:cNvSpPr>
            <p:nvPr/>
          </p:nvSpPr>
          <p:spPr bwMode="auto">
            <a:xfrm>
              <a:off x="6889751" y="14478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15" descr="沙滩"/>
            <p:cNvSpPr>
              <a:spLocks noChangeArrowheads="1"/>
            </p:cNvSpPr>
            <p:nvPr/>
          </p:nvSpPr>
          <p:spPr bwMode="auto">
            <a:xfrm>
              <a:off x="7461251" y="14478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5654676" y="1360488"/>
              <a:ext cx="2487613" cy="1154113"/>
            </a:xfrm>
            <a:custGeom>
              <a:avLst/>
              <a:gdLst>
                <a:gd name="T0" fmla="*/ 0 w 1504"/>
                <a:gd name="T1" fmla="*/ 0 h 706"/>
                <a:gd name="T2" fmla="*/ 0 w 1504"/>
                <a:gd name="T3" fmla="*/ 706 h 706"/>
                <a:gd name="T4" fmla="*/ 1504 w 1504"/>
                <a:gd name="T5" fmla="*/ 706 h 706"/>
                <a:gd name="T6" fmla="*/ 1504 w 1504"/>
                <a:gd name="T7" fmla="*/ 5 h 7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4"/>
                <a:gd name="T13" fmla="*/ 0 h 706"/>
                <a:gd name="T14" fmla="*/ 1504 w 1504"/>
                <a:gd name="T15" fmla="*/ 706 h 7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4" h="706">
                  <a:moveTo>
                    <a:pt x="0" y="0"/>
                  </a:moveTo>
                  <a:lnTo>
                    <a:pt x="0" y="706"/>
                  </a:lnTo>
                  <a:lnTo>
                    <a:pt x="1504" y="706"/>
                  </a:lnTo>
                  <a:lnTo>
                    <a:pt x="1504" y="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653088" y="2770528"/>
            <a:ext cx="2482851" cy="1158876"/>
            <a:chOff x="5653088" y="2935288"/>
            <a:chExt cx="2482851" cy="1158876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5657851" y="2981326"/>
              <a:ext cx="2478088" cy="1112838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1" descr="沙滩"/>
            <p:cNvSpPr>
              <a:spLocks noChangeArrowheads="1"/>
            </p:cNvSpPr>
            <p:nvPr/>
          </p:nvSpPr>
          <p:spPr bwMode="auto">
            <a:xfrm>
              <a:off x="5654676" y="35560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22" descr="沙滩"/>
            <p:cNvSpPr>
              <a:spLocks noChangeArrowheads="1"/>
            </p:cNvSpPr>
            <p:nvPr/>
          </p:nvSpPr>
          <p:spPr bwMode="auto">
            <a:xfrm>
              <a:off x="6207126" y="35560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23" descr="沙滩"/>
            <p:cNvSpPr>
              <a:spLocks noChangeArrowheads="1"/>
            </p:cNvSpPr>
            <p:nvPr/>
          </p:nvSpPr>
          <p:spPr bwMode="auto">
            <a:xfrm>
              <a:off x="6783388" y="35560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24" descr="沙滩"/>
            <p:cNvSpPr>
              <a:spLocks noChangeArrowheads="1"/>
            </p:cNvSpPr>
            <p:nvPr/>
          </p:nvSpPr>
          <p:spPr bwMode="auto">
            <a:xfrm>
              <a:off x="7359651" y="35560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25" descr="沙滩"/>
            <p:cNvSpPr>
              <a:spLocks noChangeArrowheads="1"/>
            </p:cNvSpPr>
            <p:nvPr/>
          </p:nvSpPr>
          <p:spPr bwMode="auto">
            <a:xfrm>
              <a:off x="5835651" y="2994026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26" descr="沙滩"/>
            <p:cNvSpPr>
              <a:spLocks noChangeArrowheads="1"/>
            </p:cNvSpPr>
            <p:nvPr/>
          </p:nvSpPr>
          <p:spPr bwMode="auto">
            <a:xfrm>
              <a:off x="6407151" y="3013076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27" descr="沙滩"/>
            <p:cNvSpPr>
              <a:spLocks noChangeArrowheads="1"/>
            </p:cNvSpPr>
            <p:nvPr/>
          </p:nvSpPr>
          <p:spPr bwMode="auto">
            <a:xfrm>
              <a:off x="6978651" y="3013076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28" descr="沙滩"/>
            <p:cNvSpPr>
              <a:spLocks noChangeArrowheads="1"/>
            </p:cNvSpPr>
            <p:nvPr/>
          </p:nvSpPr>
          <p:spPr bwMode="auto">
            <a:xfrm>
              <a:off x="7569201" y="3013076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5653088" y="2935288"/>
              <a:ext cx="2482850" cy="1154113"/>
            </a:xfrm>
            <a:custGeom>
              <a:avLst/>
              <a:gdLst>
                <a:gd name="T0" fmla="*/ 0 w 1504"/>
                <a:gd name="T1" fmla="*/ 0 h 706"/>
                <a:gd name="T2" fmla="*/ 0 w 1504"/>
                <a:gd name="T3" fmla="*/ 706 h 706"/>
                <a:gd name="T4" fmla="*/ 1504 w 1504"/>
                <a:gd name="T5" fmla="*/ 706 h 706"/>
                <a:gd name="T6" fmla="*/ 1504 w 1504"/>
                <a:gd name="T7" fmla="*/ 5 h 7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4"/>
                <a:gd name="T13" fmla="*/ 0 h 706"/>
                <a:gd name="T14" fmla="*/ 1504 w 1504"/>
                <a:gd name="T15" fmla="*/ 706 h 7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4" h="706">
                  <a:moveTo>
                    <a:pt x="0" y="0"/>
                  </a:moveTo>
                  <a:lnTo>
                    <a:pt x="0" y="706"/>
                  </a:lnTo>
                  <a:lnTo>
                    <a:pt x="1504" y="706"/>
                  </a:lnTo>
                  <a:lnTo>
                    <a:pt x="1504" y="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65788" y="4207556"/>
            <a:ext cx="2482851" cy="1158875"/>
            <a:chOff x="5665788" y="4537076"/>
            <a:chExt cx="2482851" cy="1158875"/>
          </a:xfrm>
        </p:grpSpPr>
        <p:sp>
          <p:nvSpPr>
            <p:cNvPr id="33" name="Rectangle 30"/>
            <p:cNvSpPr>
              <a:spLocks noChangeArrowheads="1"/>
            </p:cNvSpPr>
            <p:nvPr/>
          </p:nvSpPr>
          <p:spPr bwMode="auto">
            <a:xfrm>
              <a:off x="5670551" y="4583113"/>
              <a:ext cx="2478088" cy="1112838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1" descr="沙滩"/>
            <p:cNvSpPr>
              <a:spLocks noChangeArrowheads="1"/>
            </p:cNvSpPr>
            <p:nvPr/>
          </p:nvSpPr>
          <p:spPr bwMode="auto">
            <a:xfrm>
              <a:off x="5667376" y="5157788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2" descr="沙滩"/>
            <p:cNvSpPr>
              <a:spLocks noChangeArrowheads="1"/>
            </p:cNvSpPr>
            <p:nvPr/>
          </p:nvSpPr>
          <p:spPr bwMode="auto">
            <a:xfrm>
              <a:off x="6219826" y="5157788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33" descr="沙滩"/>
            <p:cNvSpPr>
              <a:spLocks noChangeArrowheads="1"/>
            </p:cNvSpPr>
            <p:nvPr/>
          </p:nvSpPr>
          <p:spPr bwMode="auto">
            <a:xfrm>
              <a:off x="6796088" y="5157788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34" descr="沙滩"/>
            <p:cNvSpPr>
              <a:spLocks noChangeArrowheads="1"/>
            </p:cNvSpPr>
            <p:nvPr/>
          </p:nvSpPr>
          <p:spPr bwMode="auto">
            <a:xfrm>
              <a:off x="7372351" y="5157788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Oval 35" descr="沙滩"/>
            <p:cNvSpPr>
              <a:spLocks noChangeArrowheads="1"/>
            </p:cNvSpPr>
            <p:nvPr/>
          </p:nvSpPr>
          <p:spPr bwMode="auto">
            <a:xfrm>
              <a:off x="5938838" y="46863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Oval 36" descr="沙滩"/>
            <p:cNvSpPr>
              <a:spLocks noChangeArrowheads="1"/>
            </p:cNvSpPr>
            <p:nvPr/>
          </p:nvSpPr>
          <p:spPr bwMode="auto">
            <a:xfrm>
              <a:off x="6496051" y="4691063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Oval 37" descr="沙滩"/>
            <p:cNvSpPr>
              <a:spLocks noChangeArrowheads="1"/>
            </p:cNvSpPr>
            <p:nvPr/>
          </p:nvSpPr>
          <p:spPr bwMode="auto">
            <a:xfrm>
              <a:off x="7058026" y="4686301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38" descr="沙滩"/>
            <p:cNvSpPr>
              <a:spLocks noChangeArrowheads="1"/>
            </p:cNvSpPr>
            <p:nvPr/>
          </p:nvSpPr>
          <p:spPr bwMode="auto">
            <a:xfrm>
              <a:off x="7610476" y="4681538"/>
              <a:ext cx="533400" cy="53340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Freeform 39"/>
            <p:cNvSpPr>
              <a:spLocks/>
            </p:cNvSpPr>
            <p:nvPr/>
          </p:nvSpPr>
          <p:spPr bwMode="auto">
            <a:xfrm>
              <a:off x="5665788" y="4537076"/>
              <a:ext cx="2482850" cy="1154113"/>
            </a:xfrm>
            <a:custGeom>
              <a:avLst/>
              <a:gdLst>
                <a:gd name="T0" fmla="*/ 0 w 1504"/>
                <a:gd name="T1" fmla="*/ 0 h 706"/>
                <a:gd name="T2" fmla="*/ 0 w 1504"/>
                <a:gd name="T3" fmla="*/ 706 h 706"/>
                <a:gd name="T4" fmla="*/ 1504 w 1504"/>
                <a:gd name="T5" fmla="*/ 706 h 706"/>
                <a:gd name="T6" fmla="*/ 1504 w 1504"/>
                <a:gd name="T7" fmla="*/ 5 h 7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4"/>
                <a:gd name="T13" fmla="*/ 0 h 706"/>
                <a:gd name="T14" fmla="*/ 1504 w 1504"/>
                <a:gd name="T15" fmla="*/ 706 h 7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4" h="706">
                  <a:moveTo>
                    <a:pt x="0" y="0"/>
                  </a:moveTo>
                  <a:lnTo>
                    <a:pt x="0" y="706"/>
                  </a:lnTo>
                  <a:lnTo>
                    <a:pt x="1504" y="706"/>
                  </a:lnTo>
                  <a:lnTo>
                    <a:pt x="1504" y="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431799" y="754063"/>
            <a:ext cx="471435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饱和松砂振动液化机理</a:t>
            </a:r>
          </a:p>
        </p:txBody>
      </p:sp>
      <p:sp>
        <p:nvSpPr>
          <p:cNvPr id="43" name="Text Box 2"/>
          <p:cNvSpPr txBox="1">
            <a:spLocks noChangeArrowheads="1"/>
          </p:cNvSpPr>
          <p:nvPr/>
        </p:nvSpPr>
        <p:spPr bwMode="auto">
          <a:xfrm>
            <a:off x="2802324" y="5785577"/>
            <a:ext cx="4686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饱和松砂的振动液化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153825674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958850" y="4277224"/>
            <a:ext cx="15255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振前松砂的结构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314500" y="4281987"/>
            <a:ext cx="25273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振中颗粒悬浮，</a:t>
            </a:r>
            <a:b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</a:b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有效应力为零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885984" y="4261349"/>
            <a:ext cx="20748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振后砂土</a:t>
            </a:r>
            <a:b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</a:b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变密实</a:t>
            </a:r>
          </a:p>
        </p:txBody>
      </p:sp>
      <p:grpSp>
        <p:nvGrpSpPr>
          <p:cNvPr id="11" name="Group 9"/>
          <p:cNvGrpSpPr>
            <a:grpSpLocks/>
          </p:cNvGrpSpPr>
          <p:nvPr/>
        </p:nvGrpSpPr>
        <p:grpSpPr bwMode="auto">
          <a:xfrm>
            <a:off x="3334275" y="1580505"/>
            <a:ext cx="2017507" cy="2603063"/>
            <a:chOff x="2194" y="880"/>
            <a:chExt cx="1516" cy="1956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202" y="935"/>
              <a:ext cx="1508" cy="1901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2194" y="880"/>
              <a:ext cx="1512" cy="1952"/>
            </a:xfrm>
            <a:custGeom>
              <a:avLst/>
              <a:gdLst>
                <a:gd name="T0" fmla="*/ 5 w 1680"/>
                <a:gd name="T1" fmla="*/ 14 h 2169"/>
                <a:gd name="T2" fmla="*/ 0 w 1680"/>
                <a:gd name="T3" fmla="*/ 2169 h 2169"/>
                <a:gd name="T4" fmla="*/ 1680 w 1680"/>
                <a:gd name="T5" fmla="*/ 2169 h 2169"/>
                <a:gd name="T6" fmla="*/ 1680 w 1680"/>
                <a:gd name="T7" fmla="*/ 0 h 21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2169"/>
                <a:gd name="T14" fmla="*/ 1680 w 1680"/>
                <a:gd name="T15" fmla="*/ 2169 h 21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2169">
                  <a:moveTo>
                    <a:pt x="5" y="14"/>
                  </a:moveTo>
                  <a:lnTo>
                    <a:pt x="0" y="2169"/>
                  </a:lnTo>
                  <a:lnTo>
                    <a:pt x="1680" y="2169"/>
                  </a:lnTo>
                  <a:lnTo>
                    <a:pt x="168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Oval 12" descr="沙滩"/>
            <p:cNvSpPr>
              <a:spLocks noChangeArrowheads="1"/>
            </p:cNvSpPr>
            <p:nvPr/>
          </p:nvSpPr>
          <p:spPr bwMode="auto">
            <a:xfrm>
              <a:off x="2258" y="97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3" descr="沙滩"/>
            <p:cNvSpPr>
              <a:spLocks noChangeArrowheads="1"/>
            </p:cNvSpPr>
            <p:nvPr/>
          </p:nvSpPr>
          <p:spPr bwMode="auto">
            <a:xfrm>
              <a:off x="2406" y="97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4" descr="沙滩"/>
            <p:cNvSpPr>
              <a:spLocks noChangeArrowheads="1"/>
            </p:cNvSpPr>
            <p:nvPr/>
          </p:nvSpPr>
          <p:spPr bwMode="auto">
            <a:xfrm>
              <a:off x="2243" y="108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5" descr="沙滩"/>
            <p:cNvSpPr>
              <a:spLocks noChangeArrowheads="1"/>
            </p:cNvSpPr>
            <p:nvPr/>
          </p:nvSpPr>
          <p:spPr bwMode="auto">
            <a:xfrm>
              <a:off x="2537" y="97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16" descr="沙滩"/>
            <p:cNvSpPr>
              <a:spLocks noChangeArrowheads="1"/>
            </p:cNvSpPr>
            <p:nvPr/>
          </p:nvSpPr>
          <p:spPr bwMode="auto">
            <a:xfrm>
              <a:off x="2352" y="116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17" descr="沙滩"/>
            <p:cNvSpPr>
              <a:spLocks noChangeArrowheads="1"/>
            </p:cNvSpPr>
            <p:nvPr/>
          </p:nvSpPr>
          <p:spPr bwMode="auto">
            <a:xfrm>
              <a:off x="2218" y="121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18" descr="沙滩"/>
            <p:cNvSpPr>
              <a:spLocks noChangeArrowheads="1"/>
            </p:cNvSpPr>
            <p:nvPr/>
          </p:nvSpPr>
          <p:spPr bwMode="auto">
            <a:xfrm>
              <a:off x="2441" y="110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19" descr="沙滩"/>
            <p:cNvSpPr>
              <a:spLocks noChangeArrowheads="1"/>
            </p:cNvSpPr>
            <p:nvPr/>
          </p:nvSpPr>
          <p:spPr bwMode="auto">
            <a:xfrm>
              <a:off x="2315" y="133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0" descr="沙滩"/>
            <p:cNvSpPr>
              <a:spLocks noChangeArrowheads="1"/>
            </p:cNvSpPr>
            <p:nvPr/>
          </p:nvSpPr>
          <p:spPr bwMode="auto">
            <a:xfrm>
              <a:off x="2795" y="98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1" descr="沙滩"/>
            <p:cNvSpPr>
              <a:spLocks noChangeArrowheads="1"/>
            </p:cNvSpPr>
            <p:nvPr/>
          </p:nvSpPr>
          <p:spPr bwMode="auto">
            <a:xfrm>
              <a:off x="2668" y="97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2" descr="沙滩"/>
            <p:cNvSpPr>
              <a:spLocks noChangeArrowheads="1"/>
            </p:cNvSpPr>
            <p:nvPr/>
          </p:nvSpPr>
          <p:spPr bwMode="auto">
            <a:xfrm>
              <a:off x="2844" y="107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23" descr="沙滩"/>
            <p:cNvSpPr>
              <a:spLocks noChangeArrowheads="1"/>
            </p:cNvSpPr>
            <p:nvPr/>
          </p:nvSpPr>
          <p:spPr bwMode="auto">
            <a:xfrm>
              <a:off x="2656" y="122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24" descr="沙滩"/>
            <p:cNvSpPr>
              <a:spLocks noChangeArrowheads="1"/>
            </p:cNvSpPr>
            <p:nvPr/>
          </p:nvSpPr>
          <p:spPr bwMode="auto">
            <a:xfrm>
              <a:off x="2827" y="140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25" descr="沙滩"/>
            <p:cNvSpPr>
              <a:spLocks noChangeArrowheads="1"/>
            </p:cNvSpPr>
            <p:nvPr/>
          </p:nvSpPr>
          <p:spPr bwMode="auto">
            <a:xfrm>
              <a:off x="2216" y="132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26" descr="沙滩"/>
            <p:cNvSpPr>
              <a:spLocks noChangeArrowheads="1"/>
            </p:cNvSpPr>
            <p:nvPr/>
          </p:nvSpPr>
          <p:spPr bwMode="auto">
            <a:xfrm>
              <a:off x="2521" y="132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27" descr="沙滩"/>
            <p:cNvSpPr>
              <a:spLocks noChangeArrowheads="1"/>
            </p:cNvSpPr>
            <p:nvPr/>
          </p:nvSpPr>
          <p:spPr bwMode="auto">
            <a:xfrm>
              <a:off x="2420" y="126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28" descr="沙滩"/>
            <p:cNvSpPr>
              <a:spLocks noChangeArrowheads="1"/>
            </p:cNvSpPr>
            <p:nvPr/>
          </p:nvSpPr>
          <p:spPr bwMode="auto">
            <a:xfrm>
              <a:off x="2609" y="110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29" descr="沙滩"/>
            <p:cNvSpPr>
              <a:spLocks noChangeArrowheads="1"/>
            </p:cNvSpPr>
            <p:nvPr/>
          </p:nvSpPr>
          <p:spPr bwMode="auto">
            <a:xfrm>
              <a:off x="3091" y="98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0" descr="沙滩"/>
            <p:cNvSpPr>
              <a:spLocks noChangeArrowheads="1"/>
            </p:cNvSpPr>
            <p:nvPr/>
          </p:nvSpPr>
          <p:spPr bwMode="auto">
            <a:xfrm>
              <a:off x="2961" y="1023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1" descr="沙滩"/>
            <p:cNvSpPr>
              <a:spLocks noChangeArrowheads="1"/>
            </p:cNvSpPr>
            <p:nvPr/>
          </p:nvSpPr>
          <p:spPr bwMode="auto">
            <a:xfrm>
              <a:off x="2529" y="1192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2" descr="沙滩"/>
            <p:cNvSpPr>
              <a:spLocks noChangeArrowheads="1"/>
            </p:cNvSpPr>
            <p:nvPr/>
          </p:nvSpPr>
          <p:spPr bwMode="auto">
            <a:xfrm>
              <a:off x="2673" y="146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3" descr="沙滩"/>
            <p:cNvSpPr>
              <a:spLocks noChangeArrowheads="1"/>
            </p:cNvSpPr>
            <p:nvPr/>
          </p:nvSpPr>
          <p:spPr bwMode="auto">
            <a:xfrm>
              <a:off x="2381" y="144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34" descr="沙滩"/>
            <p:cNvSpPr>
              <a:spLocks noChangeArrowheads="1"/>
            </p:cNvSpPr>
            <p:nvPr/>
          </p:nvSpPr>
          <p:spPr bwMode="auto">
            <a:xfrm>
              <a:off x="3532" y="94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35" descr="沙滩"/>
            <p:cNvSpPr>
              <a:spLocks noChangeArrowheads="1"/>
            </p:cNvSpPr>
            <p:nvPr/>
          </p:nvSpPr>
          <p:spPr bwMode="auto">
            <a:xfrm>
              <a:off x="2538" y="1450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Oval 36" descr="沙滩"/>
            <p:cNvSpPr>
              <a:spLocks noChangeArrowheads="1"/>
            </p:cNvSpPr>
            <p:nvPr/>
          </p:nvSpPr>
          <p:spPr bwMode="auto">
            <a:xfrm>
              <a:off x="3223" y="98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Oval 37" descr="沙滩"/>
            <p:cNvSpPr>
              <a:spLocks noChangeArrowheads="1"/>
            </p:cNvSpPr>
            <p:nvPr/>
          </p:nvSpPr>
          <p:spPr bwMode="auto">
            <a:xfrm>
              <a:off x="2746" y="114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Oval 38" descr="沙滩"/>
            <p:cNvSpPr>
              <a:spLocks noChangeArrowheads="1"/>
            </p:cNvSpPr>
            <p:nvPr/>
          </p:nvSpPr>
          <p:spPr bwMode="auto">
            <a:xfrm>
              <a:off x="2272" y="1447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39" descr="沙滩"/>
            <p:cNvSpPr>
              <a:spLocks noChangeArrowheads="1"/>
            </p:cNvSpPr>
            <p:nvPr/>
          </p:nvSpPr>
          <p:spPr bwMode="auto">
            <a:xfrm>
              <a:off x="3267" y="120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Oval 40" descr="沙滩"/>
            <p:cNvSpPr>
              <a:spLocks noChangeArrowheads="1"/>
            </p:cNvSpPr>
            <p:nvPr/>
          </p:nvSpPr>
          <p:spPr bwMode="auto">
            <a:xfrm>
              <a:off x="2457" y="154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Oval 41" descr="沙滩"/>
            <p:cNvSpPr>
              <a:spLocks noChangeArrowheads="1"/>
            </p:cNvSpPr>
            <p:nvPr/>
          </p:nvSpPr>
          <p:spPr bwMode="auto">
            <a:xfrm>
              <a:off x="3345" y="100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Oval 42" descr="沙滩"/>
            <p:cNvSpPr>
              <a:spLocks noChangeArrowheads="1"/>
            </p:cNvSpPr>
            <p:nvPr/>
          </p:nvSpPr>
          <p:spPr bwMode="auto">
            <a:xfrm>
              <a:off x="3406" y="114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Oval 43" descr="沙滩"/>
            <p:cNvSpPr>
              <a:spLocks noChangeArrowheads="1"/>
            </p:cNvSpPr>
            <p:nvPr/>
          </p:nvSpPr>
          <p:spPr bwMode="auto">
            <a:xfrm>
              <a:off x="2363" y="162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Oval 44" descr="沙滩"/>
            <p:cNvSpPr>
              <a:spLocks noChangeArrowheads="1"/>
            </p:cNvSpPr>
            <p:nvPr/>
          </p:nvSpPr>
          <p:spPr bwMode="auto">
            <a:xfrm>
              <a:off x="3603" y="104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Oval 45" descr="沙滩"/>
            <p:cNvSpPr>
              <a:spLocks noChangeArrowheads="1"/>
            </p:cNvSpPr>
            <p:nvPr/>
          </p:nvSpPr>
          <p:spPr bwMode="auto">
            <a:xfrm>
              <a:off x="3480" y="104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Oval 46" descr="沙滩"/>
            <p:cNvSpPr>
              <a:spLocks noChangeArrowheads="1"/>
            </p:cNvSpPr>
            <p:nvPr/>
          </p:nvSpPr>
          <p:spPr bwMode="auto">
            <a:xfrm>
              <a:off x="3596" y="142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Oval 47" descr="沙滩"/>
            <p:cNvSpPr>
              <a:spLocks noChangeArrowheads="1"/>
            </p:cNvSpPr>
            <p:nvPr/>
          </p:nvSpPr>
          <p:spPr bwMode="auto">
            <a:xfrm>
              <a:off x="2943" y="1178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Oval 48" descr="沙滩"/>
            <p:cNvSpPr>
              <a:spLocks noChangeArrowheads="1"/>
            </p:cNvSpPr>
            <p:nvPr/>
          </p:nvSpPr>
          <p:spPr bwMode="auto">
            <a:xfrm>
              <a:off x="3425" y="138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Oval 49" descr="沙滩"/>
            <p:cNvSpPr>
              <a:spLocks noChangeArrowheads="1"/>
            </p:cNvSpPr>
            <p:nvPr/>
          </p:nvSpPr>
          <p:spPr bwMode="auto">
            <a:xfrm>
              <a:off x="2219" y="154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Oval 50" descr="沙滩"/>
            <p:cNvSpPr>
              <a:spLocks noChangeArrowheads="1"/>
            </p:cNvSpPr>
            <p:nvPr/>
          </p:nvSpPr>
          <p:spPr bwMode="auto">
            <a:xfrm>
              <a:off x="2831" y="124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Oval 51" descr="沙滩"/>
            <p:cNvSpPr>
              <a:spLocks noChangeArrowheads="1"/>
            </p:cNvSpPr>
            <p:nvPr/>
          </p:nvSpPr>
          <p:spPr bwMode="auto">
            <a:xfrm>
              <a:off x="2693" y="133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52" descr="沙滩"/>
            <p:cNvSpPr>
              <a:spLocks noChangeArrowheads="1"/>
            </p:cNvSpPr>
            <p:nvPr/>
          </p:nvSpPr>
          <p:spPr bwMode="auto">
            <a:xfrm>
              <a:off x="3224" y="111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Oval 53" descr="沙滩"/>
            <p:cNvSpPr>
              <a:spLocks noChangeArrowheads="1"/>
            </p:cNvSpPr>
            <p:nvPr/>
          </p:nvSpPr>
          <p:spPr bwMode="auto">
            <a:xfrm>
              <a:off x="3103" y="110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Oval 54" descr="沙滩"/>
            <p:cNvSpPr>
              <a:spLocks noChangeArrowheads="1"/>
            </p:cNvSpPr>
            <p:nvPr/>
          </p:nvSpPr>
          <p:spPr bwMode="auto">
            <a:xfrm>
              <a:off x="3595" y="125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Oval 55" descr="沙滩"/>
            <p:cNvSpPr>
              <a:spLocks noChangeArrowheads="1"/>
            </p:cNvSpPr>
            <p:nvPr/>
          </p:nvSpPr>
          <p:spPr bwMode="auto">
            <a:xfrm>
              <a:off x="3365" y="1274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Oval 56" descr="沙滩"/>
            <p:cNvSpPr>
              <a:spLocks noChangeArrowheads="1"/>
            </p:cNvSpPr>
            <p:nvPr/>
          </p:nvSpPr>
          <p:spPr bwMode="auto">
            <a:xfrm>
              <a:off x="2969" y="147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Oval 57" descr="沙滩"/>
            <p:cNvSpPr>
              <a:spLocks noChangeArrowheads="1"/>
            </p:cNvSpPr>
            <p:nvPr/>
          </p:nvSpPr>
          <p:spPr bwMode="auto">
            <a:xfrm>
              <a:off x="3077" y="144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Oval 58" descr="沙滩"/>
            <p:cNvSpPr>
              <a:spLocks noChangeArrowheads="1"/>
            </p:cNvSpPr>
            <p:nvPr/>
          </p:nvSpPr>
          <p:spPr bwMode="auto">
            <a:xfrm>
              <a:off x="3487" y="128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Oval 59" descr="沙滩"/>
            <p:cNvSpPr>
              <a:spLocks noChangeArrowheads="1"/>
            </p:cNvSpPr>
            <p:nvPr/>
          </p:nvSpPr>
          <p:spPr bwMode="auto">
            <a:xfrm>
              <a:off x="3258" y="145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Oval 60" descr="沙滩"/>
            <p:cNvSpPr>
              <a:spLocks noChangeArrowheads="1"/>
            </p:cNvSpPr>
            <p:nvPr/>
          </p:nvSpPr>
          <p:spPr bwMode="auto">
            <a:xfrm>
              <a:off x="3004" y="129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Oval 61" descr="沙滩"/>
            <p:cNvSpPr>
              <a:spLocks noChangeArrowheads="1"/>
            </p:cNvSpPr>
            <p:nvPr/>
          </p:nvSpPr>
          <p:spPr bwMode="auto">
            <a:xfrm>
              <a:off x="3528" y="114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Oval 62" descr="沙滩"/>
            <p:cNvSpPr>
              <a:spLocks noChangeArrowheads="1"/>
            </p:cNvSpPr>
            <p:nvPr/>
          </p:nvSpPr>
          <p:spPr bwMode="auto">
            <a:xfrm>
              <a:off x="3111" y="123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Oval 63" descr="沙滩"/>
            <p:cNvSpPr>
              <a:spLocks noChangeArrowheads="1"/>
            </p:cNvSpPr>
            <p:nvPr/>
          </p:nvSpPr>
          <p:spPr bwMode="auto">
            <a:xfrm>
              <a:off x="3401" y="1544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Oval 64" descr="沙滩"/>
            <p:cNvSpPr>
              <a:spLocks noChangeArrowheads="1"/>
            </p:cNvSpPr>
            <p:nvPr/>
          </p:nvSpPr>
          <p:spPr bwMode="auto">
            <a:xfrm>
              <a:off x="3542" y="154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Oval 65" descr="沙滩"/>
            <p:cNvSpPr>
              <a:spLocks noChangeArrowheads="1"/>
            </p:cNvSpPr>
            <p:nvPr/>
          </p:nvSpPr>
          <p:spPr bwMode="auto">
            <a:xfrm>
              <a:off x="3030" y="159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Oval 66" descr="沙滩"/>
            <p:cNvSpPr>
              <a:spLocks noChangeArrowheads="1"/>
            </p:cNvSpPr>
            <p:nvPr/>
          </p:nvSpPr>
          <p:spPr bwMode="auto">
            <a:xfrm>
              <a:off x="3219" y="132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Oval 67" descr="沙滩"/>
            <p:cNvSpPr>
              <a:spLocks noChangeArrowheads="1"/>
            </p:cNvSpPr>
            <p:nvPr/>
          </p:nvSpPr>
          <p:spPr bwMode="auto">
            <a:xfrm>
              <a:off x="2886" y="157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Oval 68" descr="沙滩"/>
            <p:cNvSpPr>
              <a:spLocks noChangeArrowheads="1"/>
            </p:cNvSpPr>
            <p:nvPr/>
          </p:nvSpPr>
          <p:spPr bwMode="auto">
            <a:xfrm>
              <a:off x="2224" y="168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Oval 69" descr="沙滩"/>
            <p:cNvSpPr>
              <a:spLocks noChangeArrowheads="1"/>
            </p:cNvSpPr>
            <p:nvPr/>
          </p:nvSpPr>
          <p:spPr bwMode="auto">
            <a:xfrm>
              <a:off x="2474" y="169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Oval 70" descr="沙滩"/>
            <p:cNvSpPr>
              <a:spLocks noChangeArrowheads="1"/>
            </p:cNvSpPr>
            <p:nvPr/>
          </p:nvSpPr>
          <p:spPr bwMode="auto">
            <a:xfrm>
              <a:off x="2358" y="175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Oval 71" descr="沙滩"/>
            <p:cNvSpPr>
              <a:spLocks noChangeArrowheads="1"/>
            </p:cNvSpPr>
            <p:nvPr/>
          </p:nvSpPr>
          <p:spPr bwMode="auto">
            <a:xfrm>
              <a:off x="2233" y="178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Oval 72" descr="沙滩"/>
            <p:cNvSpPr>
              <a:spLocks noChangeArrowheads="1"/>
            </p:cNvSpPr>
            <p:nvPr/>
          </p:nvSpPr>
          <p:spPr bwMode="auto">
            <a:xfrm>
              <a:off x="2271" y="1879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Oval 73" descr="沙滩"/>
            <p:cNvSpPr>
              <a:spLocks noChangeArrowheads="1"/>
            </p:cNvSpPr>
            <p:nvPr/>
          </p:nvSpPr>
          <p:spPr bwMode="auto">
            <a:xfrm>
              <a:off x="2323" y="203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Oval 74" descr="沙滩"/>
            <p:cNvSpPr>
              <a:spLocks noChangeArrowheads="1"/>
            </p:cNvSpPr>
            <p:nvPr/>
          </p:nvSpPr>
          <p:spPr bwMode="auto">
            <a:xfrm>
              <a:off x="2901" y="171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Oval 75" descr="沙滩"/>
            <p:cNvSpPr>
              <a:spLocks noChangeArrowheads="1"/>
            </p:cNvSpPr>
            <p:nvPr/>
          </p:nvSpPr>
          <p:spPr bwMode="auto">
            <a:xfrm>
              <a:off x="2760" y="153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Oval 76" descr="沙滩"/>
            <p:cNvSpPr>
              <a:spLocks noChangeArrowheads="1"/>
            </p:cNvSpPr>
            <p:nvPr/>
          </p:nvSpPr>
          <p:spPr bwMode="auto">
            <a:xfrm>
              <a:off x="2887" y="203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Oval 77" descr="沙滩"/>
            <p:cNvSpPr>
              <a:spLocks noChangeArrowheads="1"/>
            </p:cNvSpPr>
            <p:nvPr/>
          </p:nvSpPr>
          <p:spPr bwMode="auto">
            <a:xfrm>
              <a:off x="2387" y="1924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Oval 78" descr="沙滩"/>
            <p:cNvSpPr>
              <a:spLocks noChangeArrowheads="1"/>
            </p:cNvSpPr>
            <p:nvPr/>
          </p:nvSpPr>
          <p:spPr bwMode="auto">
            <a:xfrm>
              <a:off x="2574" y="1780"/>
              <a:ext cx="90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Oval 79" descr="沙滩"/>
            <p:cNvSpPr>
              <a:spLocks noChangeArrowheads="1"/>
            </p:cNvSpPr>
            <p:nvPr/>
          </p:nvSpPr>
          <p:spPr bwMode="auto">
            <a:xfrm>
              <a:off x="2462" y="181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Oval 80" descr="沙滩"/>
            <p:cNvSpPr>
              <a:spLocks noChangeArrowheads="1"/>
            </p:cNvSpPr>
            <p:nvPr/>
          </p:nvSpPr>
          <p:spPr bwMode="auto">
            <a:xfrm>
              <a:off x="2604" y="160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Oval 81" descr="沙滩"/>
            <p:cNvSpPr>
              <a:spLocks noChangeArrowheads="1"/>
            </p:cNvSpPr>
            <p:nvPr/>
          </p:nvSpPr>
          <p:spPr bwMode="auto">
            <a:xfrm>
              <a:off x="2889" y="182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Oval 82" descr="沙滩"/>
            <p:cNvSpPr>
              <a:spLocks noChangeArrowheads="1"/>
            </p:cNvSpPr>
            <p:nvPr/>
          </p:nvSpPr>
          <p:spPr bwMode="auto">
            <a:xfrm>
              <a:off x="2675" y="171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Oval 83" descr="沙滩"/>
            <p:cNvSpPr>
              <a:spLocks noChangeArrowheads="1"/>
            </p:cNvSpPr>
            <p:nvPr/>
          </p:nvSpPr>
          <p:spPr bwMode="auto">
            <a:xfrm>
              <a:off x="2694" y="1834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Oval 84" descr="沙滩"/>
            <p:cNvSpPr>
              <a:spLocks noChangeArrowheads="1"/>
            </p:cNvSpPr>
            <p:nvPr/>
          </p:nvSpPr>
          <p:spPr bwMode="auto">
            <a:xfrm>
              <a:off x="2216" y="198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Oval 85" descr="沙滩"/>
            <p:cNvSpPr>
              <a:spLocks noChangeArrowheads="1"/>
            </p:cNvSpPr>
            <p:nvPr/>
          </p:nvSpPr>
          <p:spPr bwMode="auto">
            <a:xfrm>
              <a:off x="2835" y="1910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Oval 86" descr="沙滩"/>
            <p:cNvSpPr>
              <a:spLocks noChangeArrowheads="1"/>
            </p:cNvSpPr>
            <p:nvPr/>
          </p:nvSpPr>
          <p:spPr bwMode="auto">
            <a:xfrm>
              <a:off x="3172" y="151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Oval 87" descr="沙滩"/>
            <p:cNvSpPr>
              <a:spLocks noChangeArrowheads="1"/>
            </p:cNvSpPr>
            <p:nvPr/>
          </p:nvSpPr>
          <p:spPr bwMode="auto">
            <a:xfrm>
              <a:off x="2418" y="2077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Oval 88" descr="沙滩"/>
            <p:cNvSpPr>
              <a:spLocks noChangeArrowheads="1"/>
            </p:cNvSpPr>
            <p:nvPr/>
          </p:nvSpPr>
          <p:spPr bwMode="auto">
            <a:xfrm>
              <a:off x="3378" y="1735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Oval 89" descr="沙滩"/>
            <p:cNvSpPr>
              <a:spLocks noChangeArrowheads="1"/>
            </p:cNvSpPr>
            <p:nvPr/>
          </p:nvSpPr>
          <p:spPr bwMode="auto">
            <a:xfrm>
              <a:off x="2595" y="190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Oval 90" descr="沙滩"/>
            <p:cNvSpPr>
              <a:spLocks noChangeArrowheads="1"/>
            </p:cNvSpPr>
            <p:nvPr/>
          </p:nvSpPr>
          <p:spPr bwMode="auto">
            <a:xfrm>
              <a:off x="3276" y="160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Oval 91" descr="沙滩"/>
            <p:cNvSpPr>
              <a:spLocks noChangeArrowheads="1"/>
            </p:cNvSpPr>
            <p:nvPr/>
          </p:nvSpPr>
          <p:spPr bwMode="auto">
            <a:xfrm>
              <a:off x="3470" y="186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Oval 92" descr="沙滩"/>
            <p:cNvSpPr>
              <a:spLocks noChangeArrowheads="1"/>
            </p:cNvSpPr>
            <p:nvPr/>
          </p:nvSpPr>
          <p:spPr bwMode="auto">
            <a:xfrm>
              <a:off x="2505" y="198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Oval 93" descr="沙滩"/>
            <p:cNvSpPr>
              <a:spLocks noChangeArrowheads="1"/>
            </p:cNvSpPr>
            <p:nvPr/>
          </p:nvSpPr>
          <p:spPr bwMode="auto">
            <a:xfrm>
              <a:off x="3482" y="164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Oval 94" descr="沙滩"/>
            <p:cNvSpPr>
              <a:spLocks noChangeArrowheads="1"/>
            </p:cNvSpPr>
            <p:nvPr/>
          </p:nvSpPr>
          <p:spPr bwMode="auto">
            <a:xfrm>
              <a:off x="3152" y="170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Oval 95" descr="沙滩"/>
            <p:cNvSpPr>
              <a:spLocks noChangeArrowheads="1"/>
            </p:cNvSpPr>
            <p:nvPr/>
          </p:nvSpPr>
          <p:spPr bwMode="auto">
            <a:xfrm>
              <a:off x="3141" y="183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Oval 96" descr="沙滩"/>
            <p:cNvSpPr>
              <a:spLocks noChangeArrowheads="1"/>
            </p:cNvSpPr>
            <p:nvPr/>
          </p:nvSpPr>
          <p:spPr bwMode="auto">
            <a:xfrm>
              <a:off x="3244" y="188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Oval 97" descr="沙滩"/>
            <p:cNvSpPr>
              <a:spLocks noChangeArrowheads="1"/>
            </p:cNvSpPr>
            <p:nvPr/>
          </p:nvSpPr>
          <p:spPr bwMode="auto">
            <a:xfrm>
              <a:off x="2226" y="210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Oval 98" descr="沙滩"/>
            <p:cNvSpPr>
              <a:spLocks noChangeArrowheads="1"/>
            </p:cNvSpPr>
            <p:nvPr/>
          </p:nvSpPr>
          <p:spPr bwMode="auto">
            <a:xfrm>
              <a:off x="2800" y="208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Oval 99" descr="沙滩"/>
            <p:cNvSpPr>
              <a:spLocks noChangeArrowheads="1"/>
            </p:cNvSpPr>
            <p:nvPr/>
          </p:nvSpPr>
          <p:spPr bwMode="auto">
            <a:xfrm>
              <a:off x="2790" y="1809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Oval 100" descr="沙滩"/>
            <p:cNvSpPr>
              <a:spLocks noChangeArrowheads="1"/>
            </p:cNvSpPr>
            <p:nvPr/>
          </p:nvSpPr>
          <p:spPr bwMode="auto">
            <a:xfrm>
              <a:off x="3255" y="176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Oval 101" descr="沙滩"/>
            <p:cNvSpPr>
              <a:spLocks noChangeArrowheads="1"/>
            </p:cNvSpPr>
            <p:nvPr/>
          </p:nvSpPr>
          <p:spPr bwMode="auto">
            <a:xfrm>
              <a:off x="2781" y="168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Oval 102" descr="沙滩"/>
            <p:cNvSpPr>
              <a:spLocks noChangeArrowheads="1"/>
            </p:cNvSpPr>
            <p:nvPr/>
          </p:nvSpPr>
          <p:spPr bwMode="auto">
            <a:xfrm>
              <a:off x="3587" y="165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Oval 103" descr="沙滩"/>
            <p:cNvSpPr>
              <a:spLocks noChangeArrowheads="1"/>
            </p:cNvSpPr>
            <p:nvPr/>
          </p:nvSpPr>
          <p:spPr bwMode="auto">
            <a:xfrm>
              <a:off x="3365" y="1852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Oval 104" descr="沙滩"/>
            <p:cNvSpPr>
              <a:spLocks noChangeArrowheads="1"/>
            </p:cNvSpPr>
            <p:nvPr/>
          </p:nvSpPr>
          <p:spPr bwMode="auto">
            <a:xfrm>
              <a:off x="3016" y="174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Oval 105" descr="沙滩"/>
            <p:cNvSpPr>
              <a:spLocks noChangeArrowheads="1"/>
            </p:cNvSpPr>
            <p:nvPr/>
          </p:nvSpPr>
          <p:spPr bwMode="auto">
            <a:xfrm>
              <a:off x="2980" y="196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Oval 106" descr="沙滩"/>
            <p:cNvSpPr>
              <a:spLocks noChangeArrowheads="1"/>
            </p:cNvSpPr>
            <p:nvPr/>
          </p:nvSpPr>
          <p:spPr bwMode="auto">
            <a:xfrm>
              <a:off x="3456" y="196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Oval 107" descr="沙滩"/>
            <p:cNvSpPr>
              <a:spLocks noChangeArrowheads="1"/>
            </p:cNvSpPr>
            <p:nvPr/>
          </p:nvSpPr>
          <p:spPr bwMode="auto">
            <a:xfrm>
              <a:off x="3314" y="195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Oval 108" descr="沙滩"/>
            <p:cNvSpPr>
              <a:spLocks noChangeArrowheads="1"/>
            </p:cNvSpPr>
            <p:nvPr/>
          </p:nvSpPr>
          <p:spPr bwMode="auto">
            <a:xfrm>
              <a:off x="3601" y="177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Oval 109" descr="沙滩"/>
            <p:cNvSpPr>
              <a:spLocks noChangeArrowheads="1"/>
            </p:cNvSpPr>
            <p:nvPr/>
          </p:nvSpPr>
          <p:spPr bwMode="auto">
            <a:xfrm>
              <a:off x="3500" y="1770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Oval 110" descr="沙滩"/>
            <p:cNvSpPr>
              <a:spLocks noChangeArrowheads="1"/>
            </p:cNvSpPr>
            <p:nvPr/>
          </p:nvSpPr>
          <p:spPr bwMode="auto">
            <a:xfrm>
              <a:off x="3000" y="186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" name="Oval 111" descr="沙滩"/>
            <p:cNvSpPr>
              <a:spLocks noChangeArrowheads="1"/>
            </p:cNvSpPr>
            <p:nvPr/>
          </p:nvSpPr>
          <p:spPr bwMode="auto">
            <a:xfrm>
              <a:off x="3576" y="199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Oval 112" descr="沙滩"/>
            <p:cNvSpPr>
              <a:spLocks noChangeArrowheads="1"/>
            </p:cNvSpPr>
            <p:nvPr/>
          </p:nvSpPr>
          <p:spPr bwMode="auto">
            <a:xfrm>
              <a:off x="3576" y="188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Oval 113" descr="沙滩"/>
            <p:cNvSpPr>
              <a:spLocks noChangeArrowheads="1"/>
            </p:cNvSpPr>
            <p:nvPr/>
          </p:nvSpPr>
          <p:spPr bwMode="auto">
            <a:xfrm>
              <a:off x="3042" y="206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Oval 114" descr="沙滩"/>
            <p:cNvSpPr>
              <a:spLocks noChangeArrowheads="1"/>
            </p:cNvSpPr>
            <p:nvPr/>
          </p:nvSpPr>
          <p:spPr bwMode="auto">
            <a:xfrm>
              <a:off x="3116" y="195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" name="Oval 115" descr="沙滩"/>
            <p:cNvSpPr>
              <a:spLocks noChangeArrowheads="1"/>
            </p:cNvSpPr>
            <p:nvPr/>
          </p:nvSpPr>
          <p:spPr bwMode="auto">
            <a:xfrm>
              <a:off x="2745" y="1960"/>
              <a:ext cx="90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Oval 116" descr="沙滩"/>
            <p:cNvSpPr>
              <a:spLocks noChangeArrowheads="1"/>
            </p:cNvSpPr>
            <p:nvPr/>
          </p:nvSpPr>
          <p:spPr bwMode="auto">
            <a:xfrm>
              <a:off x="2335" y="217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Oval 117" descr="沙滩"/>
            <p:cNvSpPr>
              <a:spLocks noChangeArrowheads="1"/>
            </p:cNvSpPr>
            <p:nvPr/>
          </p:nvSpPr>
          <p:spPr bwMode="auto">
            <a:xfrm>
              <a:off x="2639" y="201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Oval 118" descr="沙滩"/>
            <p:cNvSpPr>
              <a:spLocks noChangeArrowheads="1"/>
            </p:cNvSpPr>
            <p:nvPr/>
          </p:nvSpPr>
          <p:spPr bwMode="auto">
            <a:xfrm>
              <a:off x="2283" y="248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Oval 119" descr="沙滩"/>
            <p:cNvSpPr>
              <a:spLocks noChangeArrowheads="1"/>
            </p:cNvSpPr>
            <p:nvPr/>
          </p:nvSpPr>
          <p:spPr bwMode="auto">
            <a:xfrm>
              <a:off x="2684" y="210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Oval 120" descr="沙滩"/>
            <p:cNvSpPr>
              <a:spLocks noChangeArrowheads="1"/>
            </p:cNvSpPr>
            <p:nvPr/>
          </p:nvSpPr>
          <p:spPr bwMode="auto">
            <a:xfrm>
              <a:off x="2548" y="209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Oval 121" descr="沙滩"/>
            <p:cNvSpPr>
              <a:spLocks noChangeArrowheads="1"/>
            </p:cNvSpPr>
            <p:nvPr/>
          </p:nvSpPr>
          <p:spPr bwMode="auto">
            <a:xfrm>
              <a:off x="2224" y="224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Oval 122" descr="沙滩"/>
            <p:cNvSpPr>
              <a:spLocks noChangeArrowheads="1"/>
            </p:cNvSpPr>
            <p:nvPr/>
          </p:nvSpPr>
          <p:spPr bwMode="auto">
            <a:xfrm>
              <a:off x="3335" y="205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Oval 123" descr="沙滩"/>
            <p:cNvSpPr>
              <a:spLocks noChangeArrowheads="1"/>
            </p:cNvSpPr>
            <p:nvPr/>
          </p:nvSpPr>
          <p:spPr bwMode="auto">
            <a:xfrm>
              <a:off x="3451" y="207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Oval 124" descr="沙滩"/>
            <p:cNvSpPr>
              <a:spLocks noChangeArrowheads="1"/>
            </p:cNvSpPr>
            <p:nvPr/>
          </p:nvSpPr>
          <p:spPr bwMode="auto">
            <a:xfrm>
              <a:off x="3276" y="215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Oval 125" descr="沙滩"/>
            <p:cNvSpPr>
              <a:spLocks noChangeArrowheads="1"/>
            </p:cNvSpPr>
            <p:nvPr/>
          </p:nvSpPr>
          <p:spPr bwMode="auto">
            <a:xfrm>
              <a:off x="2964" y="215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Oval 126" descr="沙滩"/>
            <p:cNvSpPr>
              <a:spLocks noChangeArrowheads="1"/>
            </p:cNvSpPr>
            <p:nvPr/>
          </p:nvSpPr>
          <p:spPr bwMode="auto">
            <a:xfrm>
              <a:off x="3223" y="202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Oval 127" descr="沙滩"/>
            <p:cNvSpPr>
              <a:spLocks noChangeArrowheads="1"/>
            </p:cNvSpPr>
            <p:nvPr/>
          </p:nvSpPr>
          <p:spPr bwMode="auto">
            <a:xfrm>
              <a:off x="3000" y="228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" name="Oval 128" descr="沙滩"/>
            <p:cNvSpPr>
              <a:spLocks noChangeArrowheads="1"/>
            </p:cNvSpPr>
            <p:nvPr/>
          </p:nvSpPr>
          <p:spPr bwMode="auto">
            <a:xfrm>
              <a:off x="2381" y="249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Oval 129" descr="沙滩"/>
            <p:cNvSpPr>
              <a:spLocks noChangeArrowheads="1"/>
            </p:cNvSpPr>
            <p:nvPr/>
          </p:nvSpPr>
          <p:spPr bwMode="auto">
            <a:xfrm>
              <a:off x="2494" y="2185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Oval 130" descr="沙滩"/>
            <p:cNvSpPr>
              <a:spLocks noChangeArrowheads="1"/>
            </p:cNvSpPr>
            <p:nvPr/>
          </p:nvSpPr>
          <p:spPr bwMode="auto">
            <a:xfrm>
              <a:off x="2394" y="2272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Oval 131" descr="沙滩"/>
            <p:cNvSpPr>
              <a:spLocks noChangeArrowheads="1"/>
            </p:cNvSpPr>
            <p:nvPr/>
          </p:nvSpPr>
          <p:spPr bwMode="auto">
            <a:xfrm>
              <a:off x="2384" y="237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Oval 132" descr="沙滩"/>
            <p:cNvSpPr>
              <a:spLocks noChangeArrowheads="1"/>
            </p:cNvSpPr>
            <p:nvPr/>
          </p:nvSpPr>
          <p:spPr bwMode="auto">
            <a:xfrm>
              <a:off x="2289" y="232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" name="Oval 133" descr="沙滩"/>
            <p:cNvSpPr>
              <a:spLocks noChangeArrowheads="1"/>
            </p:cNvSpPr>
            <p:nvPr/>
          </p:nvSpPr>
          <p:spPr bwMode="auto">
            <a:xfrm>
              <a:off x="2211" y="241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Oval 134" descr="沙滩"/>
            <p:cNvSpPr>
              <a:spLocks noChangeArrowheads="1"/>
            </p:cNvSpPr>
            <p:nvPr/>
          </p:nvSpPr>
          <p:spPr bwMode="auto">
            <a:xfrm>
              <a:off x="2623" y="220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Oval 135" descr="沙滩"/>
            <p:cNvSpPr>
              <a:spLocks noChangeArrowheads="1"/>
            </p:cNvSpPr>
            <p:nvPr/>
          </p:nvSpPr>
          <p:spPr bwMode="auto">
            <a:xfrm>
              <a:off x="2893" y="221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" name="Oval 136" descr="沙滩"/>
            <p:cNvSpPr>
              <a:spLocks noChangeArrowheads="1"/>
            </p:cNvSpPr>
            <p:nvPr/>
          </p:nvSpPr>
          <p:spPr bwMode="auto">
            <a:xfrm>
              <a:off x="2341" y="272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" name="Oval 137" descr="沙滩"/>
            <p:cNvSpPr>
              <a:spLocks noChangeArrowheads="1"/>
            </p:cNvSpPr>
            <p:nvPr/>
          </p:nvSpPr>
          <p:spPr bwMode="auto">
            <a:xfrm>
              <a:off x="2486" y="243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Oval 138" descr="沙滩"/>
            <p:cNvSpPr>
              <a:spLocks noChangeArrowheads="1"/>
            </p:cNvSpPr>
            <p:nvPr/>
          </p:nvSpPr>
          <p:spPr bwMode="auto">
            <a:xfrm>
              <a:off x="2605" y="233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Oval 139" descr="沙滩"/>
            <p:cNvSpPr>
              <a:spLocks noChangeArrowheads="1"/>
            </p:cNvSpPr>
            <p:nvPr/>
          </p:nvSpPr>
          <p:spPr bwMode="auto">
            <a:xfrm>
              <a:off x="2513" y="228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" name="Oval 140" descr="沙滩"/>
            <p:cNvSpPr>
              <a:spLocks noChangeArrowheads="1"/>
            </p:cNvSpPr>
            <p:nvPr/>
          </p:nvSpPr>
          <p:spPr bwMode="auto">
            <a:xfrm>
              <a:off x="2778" y="219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Oval 141" descr="沙滩"/>
            <p:cNvSpPr>
              <a:spLocks noChangeArrowheads="1"/>
            </p:cNvSpPr>
            <p:nvPr/>
          </p:nvSpPr>
          <p:spPr bwMode="auto">
            <a:xfrm>
              <a:off x="2916" y="239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Oval 142" descr="沙滩"/>
            <p:cNvSpPr>
              <a:spLocks noChangeArrowheads="1"/>
            </p:cNvSpPr>
            <p:nvPr/>
          </p:nvSpPr>
          <p:spPr bwMode="auto">
            <a:xfrm>
              <a:off x="2691" y="2283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Oval 143" descr="沙滩"/>
            <p:cNvSpPr>
              <a:spLocks noChangeArrowheads="1"/>
            </p:cNvSpPr>
            <p:nvPr/>
          </p:nvSpPr>
          <p:spPr bwMode="auto">
            <a:xfrm>
              <a:off x="2698" y="240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Oval 144" descr="沙滩"/>
            <p:cNvSpPr>
              <a:spLocks noChangeArrowheads="1"/>
            </p:cNvSpPr>
            <p:nvPr/>
          </p:nvSpPr>
          <p:spPr bwMode="auto">
            <a:xfrm>
              <a:off x="2341" y="261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Oval 145" descr="沙滩"/>
            <p:cNvSpPr>
              <a:spLocks noChangeArrowheads="1"/>
            </p:cNvSpPr>
            <p:nvPr/>
          </p:nvSpPr>
          <p:spPr bwMode="auto">
            <a:xfrm>
              <a:off x="2706" y="249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Oval 146" descr="沙滩"/>
            <p:cNvSpPr>
              <a:spLocks noChangeArrowheads="1"/>
            </p:cNvSpPr>
            <p:nvPr/>
          </p:nvSpPr>
          <p:spPr bwMode="auto">
            <a:xfrm>
              <a:off x="3068" y="218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Oval 147" descr="沙滩"/>
            <p:cNvSpPr>
              <a:spLocks noChangeArrowheads="1"/>
            </p:cNvSpPr>
            <p:nvPr/>
          </p:nvSpPr>
          <p:spPr bwMode="auto">
            <a:xfrm>
              <a:off x="2218" y="2607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Oval 148" descr="沙滩"/>
            <p:cNvSpPr>
              <a:spLocks noChangeArrowheads="1"/>
            </p:cNvSpPr>
            <p:nvPr/>
          </p:nvSpPr>
          <p:spPr bwMode="auto">
            <a:xfrm>
              <a:off x="3606" y="235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Oval 149" descr="沙滩"/>
            <p:cNvSpPr>
              <a:spLocks noChangeArrowheads="1"/>
            </p:cNvSpPr>
            <p:nvPr/>
          </p:nvSpPr>
          <p:spPr bwMode="auto">
            <a:xfrm>
              <a:off x="2597" y="249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Oval 150" descr="沙滩"/>
            <p:cNvSpPr>
              <a:spLocks noChangeArrowheads="1"/>
            </p:cNvSpPr>
            <p:nvPr/>
          </p:nvSpPr>
          <p:spPr bwMode="auto">
            <a:xfrm>
              <a:off x="3168" y="2122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Oval 151" descr="沙滩"/>
            <p:cNvSpPr>
              <a:spLocks noChangeArrowheads="1"/>
            </p:cNvSpPr>
            <p:nvPr/>
          </p:nvSpPr>
          <p:spPr bwMode="auto">
            <a:xfrm>
              <a:off x="3580" y="210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Oval 152" descr="沙滩"/>
            <p:cNvSpPr>
              <a:spLocks noChangeArrowheads="1"/>
            </p:cNvSpPr>
            <p:nvPr/>
          </p:nvSpPr>
          <p:spPr bwMode="auto">
            <a:xfrm>
              <a:off x="2547" y="2586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Oval 153" descr="沙滩"/>
            <p:cNvSpPr>
              <a:spLocks noChangeArrowheads="1"/>
            </p:cNvSpPr>
            <p:nvPr/>
          </p:nvSpPr>
          <p:spPr bwMode="auto">
            <a:xfrm>
              <a:off x="3437" y="2320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Oval 154" descr="沙滩"/>
            <p:cNvSpPr>
              <a:spLocks noChangeArrowheads="1"/>
            </p:cNvSpPr>
            <p:nvPr/>
          </p:nvSpPr>
          <p:spPr bwMode="auto">
            <a:xfrm>
              <a:off x="3202" y="223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Oval 155" descr="沙滩"/>
            <p:cNvSpPr>
              <a:spLocks noChangeArrowheads="1"/>
            </p:cNvSpPr>
            <p:nvPr/>
          </p:nvSpPr>
          <p:spPr bwMode="auto">
            <a:xfrm>
              <a:off x="3232" y="236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Oval 156" descr="沙滩"/>
            <p:cNvSpPr>
              <a:spLocks noChangeArrowheads="1"/>
            </p:cNvSpPr>
            <p:nvPr/>
          </p:nvSpPr>
          <p:spPr bwMode="auto">
            <a:xfrm>
              <a:off x="3046" y="271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Oval 157" descr="沙滩"/>
            <p:cNvSpPr>
              <a:spLocks noChangeArrowheads="1"/>
            </p:cNvSpPr>
            <p:nvPr/>
          </p:nvSpPr>
          <p:spPr bwMode="auto">
            <a:xfrm>
              <a:off x="2241" y="2724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Oval 158" descr="沙滩"/>
            <p:cNvSpPr>
              <a:spLocks noChangeArrowheads="1"/>
            </p:cNvSpPr>
            <p:nvPr/>
          </p:nvSpPr>
          <p:spPr bwMode="auto">
            <a:xfrm>
              <a:off x="2843" y="253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Oval 159" descr="沙滩"/>
            <p:cNvSpPr>
              <a:spLocks noChangeArrowheads="1"/>
            </p:cNvSpPr>
            <p:nvPr/>
          </p:nvSpPr>
          <p:spPr bwMode="auto">
            <a:xfrm>
              <a:off x="2801" y="244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Oval 160" descr="沙滩"/>
            <p:cNvSpPr>
              <a:spLocks noChangeArrowheads="1"/>
            </p:cNvSpPr>
            <p:nvPr/>
          </p:nvSpPr>
          <p:spPr bwMode="auto">
            <a:xfrm>
              <a:off x="3234" y="2535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Oval 161" descr="沙滩"/>
            <p:cNvSpPr>
              <a:spLocks noChangeArrowheads="1"/>
            </p:cNvSpPr>
            <p:nvPr/>
          </p:nvSpPr>
          <p:spPr bwMode="auto">
            <a:xfrm>
              <a:off x="3042" y="2422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Oval 162" descr="沙滩"/>
            <p:cNvSpPr>
              <a:spLocks noChangeArrowheads="1"/>
            </p:cNvSpPr>
            <p:nvPr/>
          </p:nvSpPr>
          <p:spPr bwMode="auto">
            <a:xfrm>
              <a:off x="3452" y="218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Oval 163" descr="沙滩"/>
            <p:cNvSpPr>
              <a:spLocks noChangeArrowheads="1"/>
            </p:cNvSpPr>
            <p:nvPr/>
          </p:nvSpPr>
          <p:spPr bwMode="auto">
            <a:xfrm>
              <a:off x="3330" y="247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" name="Oval 164" descr="沙滩"/>
            <p:cNvSpPr>
              <a:spLocks noChangeArrowheads="1"/>
            </p:cNvSpPr>
            <p:nvPr/>
          </p:nvSpPr>
          <p:spPr bwMode="auto">
            <a:xfrm>
              <a:off x="3099" y="231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Oval 165" descr="沙滩"/>
            <p:cNvSpPr>
              <a:spLocks noChangeArrowheads="1"/>
            </p:cNvSpPr>
            <p:nvPr/>
          </p:nvSpPr>
          <p:spPr bwMode="auto">
            <a:xfrm>
              <a:off x="2960" y="248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8" name="Oval 166" descr="沙滩"/>
            <p:cNvSpPr>
              <a:spLocks noChangeArrowheads="1"/>
            </p:cNvSpPr>
            <p:nvPr/>
          </p:nvSpPr>
          <p:spPr bwMode="auto">
            <a:xfrm>
              <a:off x="3603" y="220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" name="Oval 167" descr="沙滩"/>
            <p:cNvSpPr>
              <a:spLocks noChangeArrowheads="1"/>
            </p:cNvSpPr>
            <p:nvPr/>
          </p:nvSpPr>
          <p:spPr bwMode="auto">
            <a:xfrm>
              <a:off x="3250" y="271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" name="Oval 168" descr="沙滩"/>
            <p:cNvSpPr>
              <a:spLocks noChangeArrowheads="1"/>
            </p:cNvSpPr>
            <p:nvPr/>
          </p:nvSpPr>
          <p:spPr bwMode="auto">
            <a:xfrm>
              <a:off x="3333" y="229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" name="Oval 169" descr="沙滩"/>
            <p:cNvSpPr>
              <a:spLocks noChangeArrowheads="1"/>
            </p:cNvSpPr>
            <p:nvPr/>
          </p:nvSpPr>
          <p:spPr bwMode="auto">
            <a:xfrm>
              <a:off x="3428" y="243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" name="Oval 170" descr="沙滩"/>
            <p:cNvSpPr>
              <a:spLocks noChangeArrowheads="1"/>
            </p:cNvSpPr>
            <p:nvPr/>
          </p:nvSpPr>
          <p:spPr bwMode="auto">
            <a:xfrm>
              <a:off x="3166" y="245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Oval 171" descr="沙滩"/>
            <p:cNvSpPr>
              <a:spLocks noChangeArrowheads="1"/>
            </p:cNvSpPr>
            <p:nvPr/>
          </p:nvSpPr>
          <p:spPr bwMode="auto">
            <a:xfrm>
              <a:off x="3542" y="245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Oval 172" descr="沙滩"/>
            <p:cNvSpPr>
              <a:spLocks noChangeArrowheads="1"/>
            </p:cNvSpPr>
            <p:nvPr/>
          </p:nvSpPr>
          <p:spPr bwMode="auto">
            <a:xfrm>
              <a:off x="2913" y="271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Oval 173" descr="沙滩"/>
            <p:cNvSpPr>
              <a:spLocks noChangeArrowheads="1"/>
            </p:cNvSpPr>
            <p:nvPr/>
          </p:nvSpPr>
          <p:spPr bwMode="auto">
            <a:xfrm>
              <a:off x="2709" y="261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" name="Oval 174" descr="沙滩"/>
            <p:cNvSpPr>
              <a:spLocks noChangeArrowheads="1"/>
            </p:cNvSpPr>
            <p:nvPr/>
          </p:nvSpPr>
          <p:spPr bwMode="auto">
            <a:xfrm>
              <a:off x="2845" y="263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" name="Oval 175" descr="沙滩"/>
            <p:cNvSpPr>
              <a:spLocks noChangeArrowheads="1"/>
            </p:cNvSpPr>
            <p:nvPr/>
          </p:nvSpPr>
          <p:spPr bwMode="auto">
            <a:xfrm>
              <a:off x="2453" y="260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" name="Oval 176" descr="沙滩"/>
            <p:cNvSpPr>
              <a:spLocks noChangeArrowheads="1"/>
            </p:cNvSpPr>
            <p:nvPr/>
          </p:nvSpPr>
          <p:spPr bwMode="auto">
            <a:xfrm>
              <a:off x="2484" y="271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" name="Oval 177" descr="沙滩"/>
            <p:cNvSpPr>
              <a:spLocks noChangeArrowheads="1"/>
            </p:cNvSpPr>
            <p:nvPr/>
          </p:nvSpPr>
          <p:spPr bwMode="auto">
            <a:xfrm>
              <a:off x="2968" y="261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" name="Oval 178" descr="沙滩"/>
            <p:cNvSpPr>
              <a:spLocks noChangeArrowheads="1"/>
            </p:cNvSpPr>
            <p:nvPr/>
          </p:nvSpPr>
          <p:spPr bwMode="auto">
            <a:xfrm>
              <a:off x="2817" y="2301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" name="Oval 179" descr="沙滩"/>
            <p:cNvSpPr>
              <a:spLocks noChangeArrowheads="1"/>
            </p:cNvSpPr>
            <p:nvPr/>
          </p:nvSpPr>
          <p:spPr bwMode="auto">
            <a:xfrm>
              <a:off x="2692" y="2733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" name="Oval 180" descr="沙滩"/>
            <p:cNvSpPr>
              <a:spLocks noChangeArrowheads="1"/>
            </p:cNvSpPr>
            <p:nvPr/>
          </p:nvSpPr>
          <p:spPr bwMode="auto">
            <a:xfrm>
              <a:off x="3153" y="267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" name="Oval 181" descr="沙滩"/>
            <p:cNvSpPr>
              <a:spLocks noChangeArrowheads="1"/>
            </p:cNvSpPr>
            <p:nvPr/>
          </p:nvSpPr>
          <p:spPr bwMode="auto">
            <a:xfrm>
              <a:off x="3522" y="227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" name="Oval 182" descr="沙滩"/>
            <p:cNvSpPr>
              <a:spLocks noChangeArrowheads="1"/>
            </p:cNvSpPr>
            <p:nvPr/>
          </p:nvSpPr>
          <p:spPr bwMode="auto">
            <a:xfrm>
              <a:off x="3326" y="260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Oval 183" descr="沙滩"/>
            <p:cNvSpPr>
              <a:spLocks noChangeArrowheads="1"/>
            </p:cNvSpPr>
            <p:nvPr/>
          </p:nvSpPr>
          <p:spPr bwMode="auto">
            <a:xfrm>
              <a:off x="2585" y="269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" name="Oval 184" descr="沙滩"/>
            <p:cNvSpPr>
              <a:spLocks noChangeArrowheads="1"/>
            </p:cNvSpPr>
            <p:nvPr/>
          </p:nvSpPr>
          <p:spPr bwMode="auto">
            <a:xfrm>
              <a:off x="2793" y="272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7" name="Oval 185" descr="沙滩"/>
            <p:cNvSpPr>
              <a:spLocks noChangeArrowheads="1"/>
            </p:cNvSpPr>
            <p:nvPr/>
          </p:nvSpPr>
          <p:spPr bwMode="auto">
            <a:xfrm>
              <a:off x="3500" y="2738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Oval 186" descr="沙滩"/>
            <p:cNvSpPr>
              <a:spLocks noChangeArrowheads="1"/>
            </p:cNvSpPr>
            <p:nvPr/>
          </p:nvSpPr>
          <p:spPr bwMode="auto">
            <a:xfrm>
              <a:off x="3455" y="252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" name="Oval 187" descr="沙滩"/>
            <p:cNvSpPr>
              <a:spLocks noChangeArrowheads="1"/>
            </p:cNvSpPr>
            <p:nvPr/>
          </p:nvSpPr>
          <p:spPr bwMode="auto">
            <a:xfrm>
              <a:off x="3592" y="266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Oval 188" descr="沙滩"/>
            <p:cNvSpPr>
              <a:spLocks noChangeArrowheads="1"/>
            </p:cNvSpPr>
            <p:nvPr/>
          </p:nvSpPr>
          <p:spPr bwMode="auto">
            <a:xfrm>
              <a:off x="3109" y="256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Oval 189" descr="沙滩"/>
            <p:cNvSpPr>
              <a:spLocks noChangeArrowheads="1"/>
            </p:cNvSpPr>
            <p:nvPr/>
          </p:nvSpPr>
          <p:spPr bwMode="auto">
            <a:xfrm>
              <a:off x="3430" y="264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Oval 190" descr="沙滩"/>
            <p:cNvSpPr>
              <a:spLocks noChangeArrowheads="1"/>
            </p:cNvSpPr>
            <p:nvPr/>
          </p:nvSpPr>
          <p:spPr bwMode="auto">
            <a:xfrm>
              <a:off x="3552" y="2562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Oval 191" descr="沙滩"/>
            <p:cNvSpPr>
              <a:spLocks noChangeArrowheads="1"/>
            </p:cNvSpPr>
            <p:nvPr/>
          </p:nvSpPr>
          <p:spPr bwMode="auto">
            <a:xfrm>
              <a:off x="3342" y="269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" name="Group 192"/>
          <p:cNvGrpSpPr>
            <a:grpSpLocks/>
          </p:cNvGrpSpPr>
          <p:nvPr/>
        </p:nvGrpSpPr>
        <p:grpSpPr bwMode="auto">
          <a:xfrm>
            <a:off x="813843" y="1581850"/>
            <a:ext cx="2017507" cy="2609717"/>
            <a:chOff x="372" y="889"/>
            <a:chExt cx="1516" cy="1961"/>
          </a:xfrm>
        </p:grpSpPr>
        <p:sp>
          <p:nvSpPr>
            <p:cNvPr id="195" name="Rectangle 193"/>
            <p:cNvSpPr>
              <a:spLocks noChangeArrowheads="1"/>
            </p:cNvSpPr>
            <p:nvPr/>
          </p:nvSpPr>
          <p:spPr bwMode="auto">
            <a:xfrm>
              <a:off x="380" y="944"/>
              <a:ext cx="1508" cy="1901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Oval 194" descr="沙滩"/>
            <p:cNvSpPr>
              <a:spLocks noChangeArrowheads="1"/>
            </p:cNvSpPr>
            <p:nvPr/>
          </p:nvSpPr>
          <p:spPr bwMode="auto">
            <a:xfrm>
              <a:off x="456" y="95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Oval 195" descr="沙滩"/>
            <p:cNvSpPr>
              <a:spLocks noChangeArrowheads="1"/>
            </p:cNvSpPr>
            <p:nvPr/>
          </p:nvSpPr>
          <p:spPr bwMode="auto">
            <a:xfrm>
              <a:off x="561" y="97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" name="Oval 196" descr="沙滩"/>
            <p:cNvSpPr>
              <a:spLocks noChangeArrowheads="1"/>
            </p:cNvSpPr>
            <p:nvPr/>
          </p:nvSpPr>
          <p:spPr bwMode="auto">
            <a:xfrm>
              <a:off x="411" y="104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" name="Oval 197" descr="沙滩"/>
            <p:cNvSpPr>
              <a:spLocks noChangeArrowheads="1"/>
            </p:cNvSpPr>
            <p:nvPr/>
          </p:nvSpPr>
          <p:spPr bwMode="auto">
            <a:xfrm>
              <a:off x="614" y="105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" name="Oval 198" descr="沙滩"/>
            <p:cNvSpPr>
              <a:spLocks noChangeArrowheads="1"/>
            </p:cNvSpPr>
            <p:nvPr/>
          </p:nvSpPr>
          <p:spPr bwMode="auto">
            <a:xfrm>
              <a:off x="538" y="113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Oval 199" descr="沙滩"/>
            <p:cNvSpPr>
              <a:spLocks noChangeArrowheads="1"/>
            </p:cNvSpPr>
            <p:nvPr/>
          </p:nvSpPr>
          <p:spPr bwMode="auto">
            <a:xfrm>
              <a:off x="404" y="118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" name="Oval 200" descr="沙滩"/>
            <p:cNvSpPr>
              <a:spLocks noChangeArrowheads="1"/>
            </p:cNvSpPr>
            <p:nvPr/>
          </p:nvSpPr>
          <p:spPr bwMode="auto">
            <a:xfrm>
              <a:off x="636" y="1142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" name="Oval 201" descr="沙滩"/>
            <p:cNvSpPr>
              <a:spLocks noChangeArrowheads="1"/>
            </p:cNvSpPr>
            <p:nvPr/>
          </p:nvSpPr>
          <p:spPr bwMode="auto">
            <a:xfrm>
              <a:off x="519" y="1330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" name="Oval 202" descr="沙滩"/>
            <p:cNvSpPr>
              <a:spLocks noChangeArrowheads="1"/>
            </p:cNvSpPr>
            <p:nvPr/>
          </p:nvSpPr>
          <p:spPr bwMode="auto">
            <a:xfrm>
              <a:off x="837" y="98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" name="Oval 203" descr="沙滩"/>
            <p:cNvSpPr>
              <a:spLocks noChangeArrowheads="1"/>
            </p:cNvSpPr>
            <p:nvPr/>
          </p:nvSpPr>
          <p:spPr bwMode="auto">
            <a:xfrm>
              <a:off x="927" y="98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Oval 204" descr="沙滩"/>
            <p:cNvSpPr>
              <a:spLocks noChangeArrowheads="1"/>
            </p:cNvSpPr>
            <p:nvPr/>
          </p:nvSpPr>
          <p:spPr bwMode="auto">
            <a:xfrm>
              <a:off x="1019" y="102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" name="Oval 205" descr="沙滩"/>
            <p:cNvSpPr>
              <a:spLocks noChangeArrowheads="1"/>
            </p:cNvSpPr>
            <p:nvPr/>
          </p:nvSpPr>
          <p:spPr bwMode="auto">
            <a:xfrm>
              <a:off x="724" y="1178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" name="Oval 206" descr="沙滩"/>
            <p:cNvSpPr>
              <a:spLocks noChangeArrowheads="1"/>
            </p:cNvSpPr>
            <p:nvPr/>
          </p:nvSpPr>
          <p:spPr bwMode="auto">
            <a:xfrm>
              <a:off x="972" y="130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" name="Oval 207" descr="沙滩"/>
            <p:cNvSpPr>
              <a:spLocks noChangeArrowheads="1"/>
            </p:cNvSpPr>
            <p:nvPr/>
          </p:nvSpPr>
          <p:spPr bwMode="auto">
            <a:xfrm>
              <a:off x="459" y="125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" name="Oval 208" descr="沙滩"/>
            <p:cNvSpPr>
              <a:spLocks noChangeArrowheads="1"/>
            </p:cNvSpPr>
            <p:nvPr/>
          </p:nvSpPr>
          <p:spPr bwMode="auto">
            <a:xfrm>
              <a:off x="788" y="125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" name="Oval 209" descr="沙滩"/>
            <p:cNvSpPr>
              <a:spLocks noChangeArrowheads="1"/>
            </p:cNvSpPr>
            <p:nvPr/>
          </p:nvSpPr>
          <p:spPr bwMode="auto">
            <a:xfrm>
              <a:off x="566" y="125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" name="Oval 210" descr="沙滩"/>
            <p:cNvSpPr>
              <a:spLocks noChangeArrowheads="1"/>
            </p:cNvSpPr>
            <p:nvPr/>
          </p:nvSpPr>
          <p:spPr bwMode="auto">
            <a:xfrm>
              <a:off x="767" y="104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" name="Oval 211" descr="沙滩"/>
            <p:cNvSpPr>
              <a:spLocks noChangeArrowheads="1"/>
            </p:cNvSpPr>
            <p:nvPr/>
          </p:nvSpPr>
          <p:spPr bwMode="auto">
            <a:xfrm>
              <a:off x="1188" y="95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" name="Oval 212" descr="沙滩"/>
            <p:cNvSpPr>
              <a:spLocks noChangeArrowheads="1"/>
            </p:cNvSpPr>
            <p:nvPr/>
          </p:nvSpPr>
          <p:spPr bwMode="auto">
            <a:xfrm>
              <a:off x="1146" y="103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" name="Oval 213" descr="沙滩"/>
            <p:cNvSpPr>
              <a:spLocks noChangeArrowheads="1"/>
            </p:cNvSpPr>
            <p:nvPr/>
          </p:nvSpPr>
          <p:spPr bwMode="auto">
            <a:xfrm>
              <a:off x="798" y="1126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6" name="Oval 214" descr="沙滩"/>
            <p:cNvSpPr>
              <a:spLocks noChangeArrowheads="1"/>
            </p:cNvSpPr>
            <p:nvPr/>
          </p:nvSpPr>
          <p:spPr bwMode="auto">
            <a:xfrm>
              <a:off x="831" y="133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" name="Oval 215" descr="沙滩"/>
            <p:cNvSpPr>
              <a:spLocks noChangeArrowheads="1"/>
            </p:cNvSpPr>
            <p:nvPr/>
          </p:nvSpPr>
          <p:spPr bwMode="auto">
            <a:xfrm>
              <a:off x="567" y="141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" name="Oval 216" descr="沙滩"/>
            <p:cNvSpPr>
              <a:spLocks noChangeArrowheads="1"/>
            </p:cNvSpPr>
            <p:nvPr/>
          </p:nvSpPr>
          <p:spPr bwMode="auto">
            <a:xfrm>
              <a:off x="1573" y="97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" name="Oval 217" descr="沙滩"/>
            <p:cNvSpPr>
              <a:spLocks noChangeArrowheads="1"/>
            </p:cNvSpPr>
            <p:nvPr/>
          </p:nvSpPr>
          <p:spPr bwMode="auto">
            <a:xfrm>
              <a:off x="774" y="141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" name="Oval 218" descr="沙滩"/>
            <p:cNvSpPr>
              <a:spLocks noChangeArrowheads="1"/>
            </p:cNvSpPr>
            <p:nvPr/>
          </p:nvSpPr>
          <p:spPr bwMode="auto">
            <a:xfrm>
              <a:off x="1293" y="97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" name="Oval 219" descr="沙滩"/>
            <p:cNvSpPr>
              <a:spLocks noChangeArrowheads="1"/>
            </p:cNvSpPr>
            <p:nvPr/>
          </p:nvSpPr>
          <p:spPr bwMode="auto">
            <a:xfrm>
              <a:off x="1013" y="1133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2" name="Oval 220" descr="沙滩"/>
            <p:cNvSpPr>
              <a:spLocks noChangeArrowheads="1"/>
            </p:cNvSpPr>
            <p:nvPr/>
          </p:nvSpPr>
          <p:spPr bwMode="auto">
            <a:xfrm>
              <a:off x="458" y="141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" name="Oval 221" descr="沙滩"/>
            <p:cNvSpPr>
              <a:spLocks noChangeArrowheads="1"/>
            </p:cNvSpPr>
            <p:nvPr/>
          </p:nvSpPr>
          <p:spPr bwMode="auto">
            <a:xfrm>
              <a:off x="1454" y="117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4" name="Oval 222" descr="沙滩"/>
            <p:cNvSpPr>
              <a:spLocks noChangeArrowheads="1"/>
            </p:cNvSpPr>
            <p:nvPr/>
          </p:nvSpPr>
          <p:spPr bwMode="auto">
            <a:xfrm>
              <a:off x="726" y="1483"/>
              <a:ext cx="90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" name="Oval 223" descr="沙滩"/>
            <p:cNvSpPr>
              <a:spLocks noChangeArrowheads="1"/>
            </p:cNvSpPr>
            <p:nvPr/>
          </p:nvSpPr>
          <p:spPr bwMode="auto">
            <a:xfrm>
              <a:off x="1506" y="103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" name="Oval 224" descr="沙滩"/>
            <p:cNvSpPr>
              <a:spLocks noChangeArrowheads="1"/>
            </p:cNvSpPr>
            <p:nvPr/>
          </p:nvSpPr>
          <p:spPr bwMode="auto">
            <a:xfrm>
              <a:off x="1532" y="112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" name="Oval 225" descr="沙滩"/>
            <p:cNvSpPr>
              <a:spLocks noChangeArrowheads="1"/>
            </p:cNvSpPr>
            <p:nvPr/>
          </p:nvSpPr>
          <p:spPr bwMode="auto">
            <a:xfrm>
              <a:off x="625" y="148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8" name="Oval 226" descr="沙滩"/>
            <p:cNvSpPr>
              <a:spLocks noChangeArrowheads="1"/>
            </p:cNvSpPr>
            <p:nvPr/>
          </p:nvSpPr>
          <p:spPr bwMode="auto">
            <a:xfrm>
              <a:off x="1664" y="96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" name="Oval 227" descr="沙滩"/>
            <p:cNvSpPr>
              <a:spLocks noChangeArrowheads="1"/>
            </p:cNvSpPr>
            <p:nvPr/>
          </p:nvSpPr>
          <p:spPr bwMode="auto">
            <a:xfrm>
              <a:off x="1752" y="101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0" name="Oval 228" descr="沙滩"/>
            <p:cNvSpPr>
              <a:spLocks noChangeArrowheads="1"/>
            </p:cNvSpPr>
            <p:nvPr/>
          </p:nvSpPr>
          <p:spPr bwMode="auto">
            <a:xfrm>
              <a:off x="1347" y="104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" name="Oval 229" descr="沙滩"/>
            <p:cNvSpPr>
              <a:spLocks noChangeArrowheads="1"/>
            </p:cNvSpPr>
            <p:nvPr/>
          </p:nvSpPr>
          <p:spPr bwMode="auto">
            <a:xfrm>
              <a:off x="1139" y="118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2" name="Oval 230" descr="沙滩"/>
            <p:cNvSpPr>
              <a:spLocks noChangeArrowheads="1"/>
            </p:cNvSpPr>
            <p:nvPr/>
          </p:nvSpPr>
          <p:spPr bwMode="auto">
            <a:xfrm>
              <a:off x="1571" y="132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" name="Oval 231" descr="沙滩"/>
            <p:cNvSpPr>
              <a:spLocks noChangeArrowheads="1"/>
            </p:cNvSpPr>
            <p:nvPr/>
          </p:nvSpPr>
          <p:spPr bwMode="auto">
            <a:xfrm>
              <a:off x="405" y="151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4" name="Oval 232" descr="沙滩"/>
            <p:cNvSpPr>
              <a:spLocks noChangeArrowheads="1"/>
            </p:cNvSpPr>
            <p:nvPr/>
          </p:nvSpPr>
          <p:spPr bwMode="auto">
            <a:xfrm>
              <a:off x="1017" y="121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" name="Oval 233" descr="沙滩"/>
            <p:cNvSpPr>
              <a:spLocks noChangeArrowheads="1"/>
            </p:cNvSpPr>
            <p:nvPr/>
          </p:nvSpPr>
          <p:spPr bwMode="auto">
            <a:xfrm>
              <a:off x="879" y="125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" name="Oval 234" descr="沙滩"/>
            <p:cNvSpPr>
              <a:spLocks noChangeArrowheads="1"/>
            </p:cNvSpPr>
            <p:nvPr/>
          </p:nvSpPr>
          <p:spPr bwMode="auto">
            <a:xfrm>
              <a:off x="1372" y="113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" name="Oval 235" descr="沙滩"/>
            <p:cNvSpPr>
              <a:spLocks noChangeArrowheads="1"/>
            </p:cNvSpPr>
            <p:nvPr/>
          </p:nvSpPr>
          <p:spPr bwMode="auto">
            <a:xfrm>
              <a:off x="1272" y="113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" name="Oval 236" descr="沙滩"/>
            <p:cNvSpPr>
              <a:spLocks noChangeArrowheads="1"/>
            </p:cNvSpPr>
            <p:nvPr/>
          </p:nvSpPr>
          <p:spPr bwMode="auto">
            <a:xfrm>
              <a:off x="1751" y="112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9" name="Oval 237" descr="沙滩"/>
            <p:cNvSpPr>
              <a:spLocks noChangeArrowheads="1"/>
            </p:cNvSpPr>
            <p:nvPr/>
          </p:nvSpPr>
          <p:spPr bwMode="auto">
            <a:xfrm>
              <a:off x="1517" y="1242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0" name="Oval 238" descr="沙滩"/>
            <p:cNvSpPr>
              <a:spLocks noChangeArrowheads="1"/>
            </p:cNvSpPr>
            <p:nvPr/>
          </p:nvSpPr>
          <p:spPr bwMode="auto">
            <a:xfrm>
              <a:off x="1201" y="125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1" name="Oval 239" descr="沙滩"/>
            <p:cNvSpPr>
              <a:spLocks noChangeArrowheads="1"/>
            </p:cNvSpPr>
            <p:nvPr/>
          </p:nvSpPr>
          <p:spPr bwMode="auto">
            <a:xfrm>
              <a:off x="1252" y="132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" name="Oval 240" descr="沙滩"/>
            <p:cNvSpPr>
              <a:spLocks noChangeArrowheads="1"/>
            </p:cNvSpPr>
            <p:nvPr/>
          </p:nvSpPr>
          <p:spPr bwMode="auto">
            <a:xfrm>
              <a:off x="1708" y="129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3" name="Oval 241" descr="沙滩"/>
            <p:cNvSpPr>
              <a:spLocks noChangeArrowheads="1"/>
            </p:cNvSpPr>
            <p:nvPr/>
          </p:nvSpPr>
          <p:spPr bwMode="auto">
            <a:xfrm>
              <a:off x="1520" y="140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4" name="Oval 242" descr="沙滩"/>
            <p:cNvSpPr>
              <a:spLocks noChangeArrowheads="1"/>
            </p:cNvSpPr>
            <p:nvPr/>
          </p:nvSpPr>
          <p:spPr bwMode="auto">
            <a:xfrm>
              <a:off x="1758" y="121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" name="Oval 243" descr="沙滩"/>
            <p:cNvSpPr>
              <a:spLocks noChangeArrowheads="1"/>
            </p:cNvSpPr>
            <p:nvPr/>
          </p:nvSpPr>
          <p:spPr bwMode="auto">
            <a:xfrm>
              <a:off x="1619" y="124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" name="Oval 244" descr="沙滩"/>
            <p:cNvSpPr>
              <a:spLocks noChangeArrowheads="1"/>
            </p:cNvSpPr>
            <p:nvPr/>
          </p:nvSpPr>
          <p:spPr bwMode="auto">
            <a:xfrm>
              <a:off x="1297" y="124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" name="Oval 245" descr="沙滩"/>
            <p:cNvSpPr>
              <a:spLocks noChangeArrowheads="1"/>
            </p:cNvSpPr>
            <p:nvPr/>
          </p:nvSpPr>
          <p:spPr bwMode="auto">
            <a:xfrm>
              <a:off x="1603" y="146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8" name="Oval 246" descr="沙滩"/>
            <p:cNvSpPr>
              <a:spLocks noChangeArrowheads="1"/>
            </p:cNvSpPr>
            <p:nvPr/>
          </p:nvSpPr>
          <p:spPr bwMode="auto">
            <a:xfrm>
              <a:off x="1771" y="147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" name="Oval 247" descr="沙滩"/>
            <p:cNvSpPr>
              <a:spLocks noChangeArrowheads="1"/>
            </p:cNvSpPr>
            <p:nvPr/>
          </p:nvSpPr>
          <p:spPr bwMode="auto">
            <a:xfrm>
              <a:off x="1194" y="141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" name="Oval 248" descr="沙滩"/>
            <p:cNvSpPr>
              <a:spLocks noChangeArrowheads="1"/>
            </p:cNvSpPr>
            <p:nvPr/>
          </p:nvSpPr>
          <p:spPr bwMode="auto">
            <a:xfrm>
              <a:off x="1299" y="140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" name="Oval 249" descr="沙滩"/>
            <p:cNvSpPr>
              <a:spLocks noChangeArrowheads="1"/>
            </p:cNvSpPr>
            <p:nvPr/>
          </p:nvSpPr>
          <p:spPr bwMode="auto">
            <a:xfrm>
              <a:off x="1137" y="150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" name="Oval 250" descr="沙滩"/>
            <p:cNvSpPr>
              <a:spLocks noChangeArrowheads="1"/>
            </p:cNvSpPr>
            <p:nvPr/>
          </p:nvSpPr>
          <p:spPr bwMode="auto">
            <a:xfrm>
              <a:off x="411" y="164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" name="Oval 251" descr="沙滩"/>
            <p:cNvSpPr>
              <a:spLocks noChangeArrowheads="1"/>
            </p:cNvSpPr>
            <p:nvPr/>
          </p:nvSpPr>
          <p:spPr bwMode="auto">
            <a:xfrm>
              <a:off x="679" y="156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" name="Oval 252" descr="沙滩"/>
            <p:cNvSpPr>
              <a:spLocks noChangeArrowheads="1"/>
            </p:cNvSpPr>
            <p:nvPr/>
          </p:nvSpPr>
          <p:spPr bwMode="auto">
            <a:xfrm>
              <a:off x="628" y="165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5" name="Oval 253" descr="沙滩"/>
            <p:cNvSpPr>
              <a:spLocks noChangeArrowheads="1"/>
            </p:cNvSpPr>
            <p:nvPr/>
          </p:nvSpPr>
          <p:spPr bwMode="auto">
            <a:xfrm>
              <a:off x="570" y="1717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" name="Oval 254" descr="沙滩"/>
            <p:cNvSpPr>
              <a:spLocks noChangeArrowheads="1"/>
            </p:cNvSpPr>
            <p:nvPr/>
          </p:nvSpPr>
          <p:spPr bwMode="auto">
            <a:xfrm>
              <a:off x="471" y="171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" name="Oval 255" descr="沙滩"/>
            <p:cNvSpPr>
              <a:spLocks noChangeArrowheads="1"/>
            </p:cNvSpPr>
            <p:nvPr/>
          </p:nvSpPr>
          <p:spPr bwMode="auto">
            <a:xfrm>
              <a:off x="523" y="192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" name="Oval 256" descr="沙滩"/>
            <p:cNvSpPr>
              <a:spLocks noChangeArrowheads="1"/>
            </p:cNvSpPr>
            <p:nvPr/>
          </p:nvSpPr>
          <p:spPr bwMode="auto">
            <a:xfrm>
              <a:off x="990" y="156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9" name="Oval 257" descr="沙滩"/>
            <p:cNvSpPr>
              <a:spLocks noChangeArrowheads="1"/>
            </p:cNvSpPr>
            <p:nvPr/>
          </p:nvSpPr>
          <p:spPr bwMode="auto">
            <a:xfrm>
              <a:off x="1037" y="148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" name="Oval 258" descr="沙滩"/>
            <p:cNvSpPr>
              <a:spLocks noChangeArrowheads="1"/>
            </p:cNvSpPr>
            <p:nvPr/>
          </p:nvSpPr>
          <p:spPr bwMode="auto">
            <a:xfrm>
              <a:off x="982" y="201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1" name="Oval 259" descr="沙滩"/>
            <p:cNvSpPr>
              <a:spLocks noChangeArrowheads="1"/>
            </p:cNvSpPr>
            <p:nvPr/>
          </p:nvSpPr>
          <p:spPr bwMode="auto">
            <a:xfrm>
              <a:off x="519" y="1798"/>
              <a:ext cx="90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2" name="Oval 260" descr="沙滩"/>
            <p:cNvSpPr>
              <a:spLocks noChangeArrowheads="1"/>
            </p:cNvSpPr>
            <p:nvPr/>
          </p:nvSpPr>
          <p:spPr bwMode="auto">
            <a:xfrm>
              <a:off x="785" y="171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" name="Oval 261" descr="沙滩"/>
            <p:cNvSpPr>
              <a:spLocks noChangeArrowheads="1"/>
            </p:cNvSpPr>
            <p:nvPr/>
          </p:nvSpPr>
          <p:spPr bwMode="auto">
            <a:xfrm>
              <a:off x="728" y="165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" name="Oval 262" descr="沙滩"/>
            <p:cNvSpPr>
              <a:spLocks noChangeArrowheads="1"/>
            </p:cNvSpPr>
            <p:nvPr/>
          </p:nvSpPr>
          <p:spPr bwMode="auto">
            <a:xfrm>
              <a:off x="868" y="146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5" name="Oval 263" descr="沙滩"/>
            <p:cNvSpPr>
              <a:spLocks noChangeArrowheads="1"/>
            </p:cNvSpPr>
            <p:nvPr/>
          </p:nvSpPr>
          <p:spPr bwMode="auto">
            <a:xfrm>
              <a:off x="1044" y="164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" name="Oval 264" descr="沙滩"/>
            <p:cNvSpPr>
              <a:spLocks noChangeArrowheads="1"/>
            </p:cNvSpPr>
            <p:nvPr/>
          </p:nvSpPr>
          <p:spPr bwMode="auto">
            <a:xfrm>
              <a:off x="891" y="155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" name="Oval 265" descr="沙滩"/>
            <p:cNvSpPr>
              <a:spLocks noChangeArrowheads="1"/>
            </p:cNvSpPr>
            <p:nvPr/>
          </p:nvSpPr>
          <p:spPr bwMode="auto">
            <a:xfrm>
              <a:off x="885" y="172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8" name="Oval 266" descr="沙滩"/>
            <p:cNvSpPr>
              <a:spLocks noChangeArrowheads="1"/>
            </p:cNvSpPr>
            <p:nvPr/>
          </p:nvSpPr>
          <p:spPr bwMode="auto">
            <a:xfrm>
              <a:off x="472" y="199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" name="Oval 267" descr="沙滩"/>
            <p:cNvSpPr>
              <a:spLocks noChangeArrowheads="1"/>
            </p:cNvSpPr>
            <p:nvPr/>
          </p:nvSpPr>
          <p:spPr bwMode="auto">
            <a:xfrm>
              <a:off x="906" y="181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0" name="Oval 268" descr="沙滩"/>
            <p:cNvSpPr>
              <a:spLocks noChangeArrowheads="1"/>
            </p:cNvSpPr>
            <p:nvPr/>
          </p:nvSpPr>
          <p:spPr bwMode="auto">
            <a:xfrm>
              <a:off x="1358" y="147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1" name="Oval 269" descr="沙滩"/>
            <p:cNvSpPr>
              <a:spLocks noChangeArrowheads="1"/>
            </p:cNvSpPr>
            <p:nvPr/>
          </p:nvSpPr>
          <p:spPr bwMode="auto">
            <a:xfrm>
              <a:off x="573" y="1998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2" name="Oval 270" descr="沙滩"/>
            <p:cNvSpPr>
              <a:spLocks noChangeArrowheads="1"/>
            </p:cNvSpPr>
            <p:nvPr/>
          </p:nvSpPr>
          <p:spPr bwMode="auto">
            <a:xfrm>
              <a:off x="1464" y="165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" name="Oval 271" descr="沙滩"/>
            <p:cNvSpPr>
              <a:spLocks noChangeArrowheads="1"/>
            </p:cNvSpPr>
            <p:nvPr/>
          </p:nvSpPr>
          <p:spPr bwMode="auto">
            <a:xfrm>
              <a:off x="801" y="181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4" name="Oval 272" descr="沙滩"/>
            <p:cNvSpPr>
              <a:spLocks noChangeArrowheads="1"/>
            </p:cNvSpPr>
            <p:nvPr/>
          </p:nvSpPr>
          <p:spPr bwMode="auto">
            <a:xfrm>
              <a:off x="1464" y="147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5" name="Oval 273" descr="沙滩"/>
            <p:cNvSpPr>
              <a:spLocks noChangeArrowheads="1"/>
            </p:cNvSpPr>
            <p:nvPr/>
          </p:nvSpPr>
          <p:spPr bwMode="auto">
            <a:xfrm>
              <a:off x="1710" y="169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" name="Oval 274" descr="沙滩"/>
            <p:cNvSpPr>
              <a:spLocks noChangeArrowheads="1"/>
            </p:cNvSpPr>
            <p:nvPr/>
          </p:nvSpPr>
          <p:spPr bwMode="auto">
            <a:xfrm>
              <a:off x="804" y="190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" name="Oval 275" descr="沙滩"/>
            <p:cNvSpPr>
              <a:spLocks noChangeArrowheads="1"/>
            </p:cNvSpPr>
            <p:nvPr/>
          </p:nvSpPr>
          <p:spPr bwMode="auto">
            <a:xfrm>
              <a:off x="1633" y="155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" name="Oval 276" descr="沙滩"/>
            <p:cNvSpPr>
              <a:spLocks noChangeArrowheads="1"/>
            </p:cNvSpPr>
            <p:nvPr/>
          </p:nvSpPr>
          <p:spPr bwMode="auto">
            <a:xfrm>
              <a:off x="1408" y="155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9" name="Oval 277" descr="沙滩"/>
            <p:cNvSpPr>
              <a:spLocks noChangeArrowheads="1"/>
            </p:cNvSpPr>
            <p:nvPr/>
          </p:nvSpPr>
          <p:spPr bwMode="auto">
            <a:xfrm>
              <a:off x="1307" y="171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0" name="Oval 278" descr="沙滩"/>
            <p:cNvSpPr>
              <a:spLocks noChangeArrowheads="1"/>
            </p:cNvSpPr>
            <p:nvPr/>
          </p:nvSpPr>
          <p:spPr bwMode="auto">
            <a:xfrm>
              <a:off x="1540" y="181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1" name="Oval 279" descr="沙滩"/>
            <p:cNvSpPr>
              <a:spLocks noChangeArrowheads="1"/>
            </p:cNvSpPr>
            <p:nvPr/>
          </p:nvSpPr>
          <p:spPr bwMode="auto">
            <a:xfrm>
              <a:off x="412" y="207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2" name="Oval 280" descr="沙滩"/>
            <p:cNvSpPr>
              <a:spLocks noChangeArrowheads="1"/>
            </p:cNvSpPr>
            <p:nvPr/>
          </p:nvSpPr>
          <p:spPr bwMode="auto">
            <a:xfrm>
              <a:off x="1064" y="189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3" name="Oval 281" descr="沙滩"/>
            <p:cNvSpPr>
              <a:spLocks noChangeArrowheads="1"/>
            </p:cNvSpPr>
            <p:nvPr/>
          </p:nvSpPr>
          <p:spPr bwMode="auto">
            <a:xfrm>
              <a:off x="979" y="169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" name="Oval 282" descr="沙滩"/>
            <p:cNvSpPr>
              <a:spLocks noChangeArrowheads="1"/>
            </p:cNvSpPr>
            <p:nvPr/>
          </p:nvSpPr>
          <p:spPr bwMode="auto">
            <a:xfrm>
              <a:off x="1363" y="164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5" name="Oval 283" descr="沙滩"/>
            <p:cNvSpPr>
              <a:spLocks noChangeArrowheads="1"/>
            </p:cNvSpPr>
            <p:nvPr/>
          </p:nvSpPr>
          <p:spPr bwMode="auto">
            <a:xfrm>
              <a:off x="1148" y="164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" name="Oval 284" descr="沙滩"/>
            <p:cNvSpPr>
              <a:spLocks noChangeArrowheads="1"/>
            </p:cNvSpPr>
            <p:nvPr/>
          </p:nvSpPr>
          <p:spPr bwMode="auto">
            <a:xfrm>
              <a:off x="1730" y="156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" name="Oval 285" descr="沙滩"/>
            <p:cNvSpPr>
              <a:spLocks noChangeArrowheads="1"/>
            </p:cNvSpPr>
            <p:nvPr/>
          </p:nvSpPr>
          <p:spPr bwMode="auto">
            <a:xfrm>
              <a:off x="1525" y="171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8" name="Oval 286" descr="沙滩"/>
            <p:cNvSpPr>
              <a:spLocks noChangeArrowheads="1"/>
            </p:cNvSpPr>
            <p:nvPr/>
          </p:nvSpPr>
          <p:spPr bwMode="auto">
            <a:xfrm>
              <a:off x="1202" y="1717"/>
              <a:ext cx="90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" name="Oval 287" descr="沙滩"/>
            <p:cNvSpPr>
              <a:spLocks noChangeArrowheads="1"/>
            </p:cNvSpPr>
            <p:nvPr/>
          </p:nvSpPr>
          <p:spPr bwMode="auto">
            <a:xfrm>
              <a:off x="1203" y="189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0" name="Oval 288" descr="沙滩"/>
            <p:cNvSpPr>
              <a:spLocks noChangeArrowheads="1"/>
            </p:cNvSpPr>
            <p:nvPr/>
          </p:nvSpPr>
          <p:spPr bwMode="auto">
            <a:xfrm>
              <a:off x="1641" y="1807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1" name="Oval 289" descr="沙滩"/>
            <p:cNvSpPr>
              <a:spLocks noChangeArrowheads="1"/>
            </p:cNvSpPr>
            <p:nvPr/>
          </p:nvSpPr>
          <p:spPr bwMode="auto">
            <a:xfrm>
              <a:off x="1584" y="192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2" name="Oval 290" descr="沙滩"/>
            <p:cNvSpPr>
              <a:spLocks noChangeArrowheads="1"/>
            </p:cNvSpPr>
            <p:nvPr/>
          </p:nvSpPr>
          <p:spPr bwMode="auto">
            <a:xfrm>
              <a:off x="1777" y="163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3" name="Oval 291" descr="沙滩"/>
            <p:cNvSpPr>
              <a:spLocks noChangeArrowheads="1"/>
            </p:cNvSpPr>
            <p:nvPr/>
          </p:nvSpPr>
          <p:spPr bwMode="auto">
            <a:xfrm>
              <a:off x="1615" y="171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" name="Oval 292" descr="沙滩"/>
            <p:cNvSpPr>
              <a:spLocks noChangeArrowheads="1"/>
            </p:cNvSpPr>
            <p:nvPr/>
          </p:nvSpPr>
          <p:spPr bwMode="auto">
            <a:xfrm>
              <a:off x="1256" y="179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" name="Oval 293" descr="沙滩"/>
            <p:cNvSpPr>
              <a:spLocks noChangeArrowheads="1"/>
            </p:cNvSpPr>
            <p:nvPr/>
          </p:nvSpPr>
          <p:spPr bwMode="auto">
            <a:xfrm>
              <a:off x="1762" y="196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6" name="Oval 294" descr="沙滩"/>
            <p:cNvSpPr>
              <a:spLocks noChangeArrowheads="1"/>
            </p:cNvSpPr>
            <p:nvPr/>
          </p:nvSpPr>
          <p:spPr bwMode="auto">
            <a:xfrm>
              <a:off x="1676" y="191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" name="Oval 295" descr="沙滩"/>
            <p:cNvSpPr>
              <a:spLocks noChangeArrowheads="1"/>
            </p:cNvSpPr>
            <p:nvPr/>
          </p:nvSpPr>
          <p:spPr bwMode="auto">
            <a:xfrm>
              <a:off x="1159" y="199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" name="Oval 296" descr="沙滩"/>
            <p:cNvSpPr>
              <a:spLocks noChangeArrowheads="1"/>
            </p:cNvSpPr>
            <p:nvPr/>
          </p:nvSpPr>
          <p:spPr bwMode="auto">
            <a:xfrm>
              <a:off x="1302" y="192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" name="Oval 297" descr="沙滩"/>
            <p:cNvSpPr>
              <a:spLocks noChangeArrowheads="1"/>
            </p:cNvSpPr>
            <p:nvPr/>
          </p:nvSpPr>
          <p:spPr bwMode="auto">
            <a:xfrm>
              <a:off x="905" y="190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0" name="Oval 298" descr="沙滩"/>
            <p:cNvSpPr>
              <a:spLocks noChangeArrowheads="1"/>
            </p:cNvSpPr>
            <p:nvPr/>
          </p:nvSpPr>
          <p:spPr bwMode="auto">
            <a:xfrm>
              <a:off x="627" y="2068"/>
              <a:ext cx="90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" name="Oval 299" descr="沙滩"/>
            <p:cNvSpPr>
              <a:spLocks noChangeArrowheads="1"/>
            </p:cNvSpPr>
            <p:nvPr/>
          </p:nvSpPr>
          <p:spPr bwMode="auto">
            <a:xfrm>
              <a:off x="789" y="1996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2" name="Oval 300" descr="沙滩"/>
            <p:cNvSpPr>
              <a:spLocks noChangeArrowheads="1"/>
            </p:cNvSpPr>
            <p:nvPr/>
          </p:nvSpPr>
          <p:spPr bwMode="auto">
            <a:xfrm>
              <a:off x="469" y="245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3" name="Oval 301" descr="沙滩"/>
            <p:cNvSpPr>
              <a:spLocks noChangeArrowheads="1"/>
            </p:cNvSpPr>
            <p:nvPr/>
          </p:nvSpPr>
          <p:spPr bwMode="auto">
            <a:xfrm>
              <a:off x="892" y="199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4" name="Oval 302" descr="沙滩"/>
            <p:cNvSpPr>
              <a:spLocks noChangeArrowheads="1"/>
            </p:cNvSpPr>
            <p:nvPr/>
          </p:nvSpPr>
          <p:spPr bwMode="auto">
            <a:xfrm>
              <a:off x="735" y="206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5" name="Oval 303" descr="沙滩"/>
            <p:cNvSpPr>
              <a:spLocks noChangeArrowheads="1"/>
            </p:cNvSpPr>
            <p:nvPr/>
          </p:nvSpPr>
          <p:spPr bwMode="auto">
            <a:xfrm>
              <a:off x="411" y="220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6" name="Oval 304" descr="沙滩"/>
            <p:cNvSpPr>
              <a:spLocks noChangeArrowheads="1"/>
            </p:cNvSpPr>
            <p:nvPr/>
          </p:nvSpPr>
          <p:spPr bwMode="auto">
            <a:xfrm>
              <a:off x="1510" y="198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" name="Oval 305" descr="沙滩"/>
            <p:cNvSpPr>
              <a:spLocks noChangeArrowheads="1"/>
            </p:cNvSpPr>
            <p:nvPr/>
          </p:nvSpPr>
          <p:spPr bwMode="auto">
            <a:xfrm>
              <a:off x="1540" y="206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" name="Oval 306" descr="沙滩"/>
            <p:cNvSpPr>
              <a:spLocks noChangeArrowheads="1"/>
            </p:cNvSpPr>
            <p:nvPr/>
          </p:nvSpPr>
          <p:spPr bwMode="auto">
            <a:xfrm>
              <a:off x="1462" y="212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" name="Oval 307" descr="沙滩"/>
            <p:cNvSpPr>
              <a:spLocks noChangeArrowheads="1"/>
            </p:cNvSpPr>
            <p:nvPr/>
          </p:nvSpPr>
          <p:spPr bwMode="auto">
            <a:xfrm>
              <a:off x="1150" y="212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" name="Oval 308" descr="沙滩"/>
            <p:cNvSpPr>
              <a:spLocks noChangeArrowheads="1"/>
            </p:cNvSpPr>
            <p:nvPr/>
          </p:nvSpPr>
          <p:spPr bwMode="auto">
            <a:xfrm>
              <a:off x="1358" y="199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" name="Oval 309" descr="沙滩"/>
            <p:cNvSpPr>
              <a:spLocks noChangeArrowheads="1"/>
            </p:cNvSpPr>
            <p:nvPr/>
          </p:nvSpPr>
          <p:spPr bwMode="auto">
            <a:xfrm>
              <a:off x="1202" y="220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2" name="Oval 310" descr="沙滩"/>
            <p:cNvSpPr>
              <a:spLocks noChangeArrowheads="1"/>
            </p:cNvSpPr>
            <p:nvPr/>
          </p:nvSpPr>
          <p:spPr bwMode="auto">
            <a:xfrm>
              <a:off x="567" y="246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3" name="Oval 311" descr="沙滩"/>
            <p:cNvSpPr>
              <a:spLocks noChangeArrowheads="1"/>
            </p:cNvSpPr>
            <p:nvPr/>
          </p:nvSpPr>
          <p:spPr bwMode="auto">
            <a:xfrm>
              <a:off x="681" y="215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" name="Oval 312" descr="沙滩"/>
            <p:cNvSpPr>
              <a:spLocks noChangeArrowheads="1"/>
            </p:cNvSpPr>
            <p:nvPr/>
          </p:nvSpPr>
          <p:spPr bwMode="auto">
            <a:xfrm>
              <a:off x="630" y="223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" name="Oval 313" descr="沙滩"/>
            <p:cNvSpPr>
              <a:spLocks noChangeArrowheads="1"/>
            </p:cNvSpPr>
            <p:nvPr/>
          </p:nvSpPr>
          <p:spPr bwMode="auto">
            <a:xfrm>
              <a:off x="572" y="230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" name="Oval 314" descr="沙滩"/>
            <p:cNvSpPr>
              <a:spLocks noChangeArrowheads="1"/>
            </p:cNvSpPr>
            <p:nvPr/>
          </p:nvSpPr>
          <p:spPr bwMode="auto">
            <a:xfrm>
              <a:off x="473" y="230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" name="Oval 315" descr="沙滩"/>
            <p:cNvSpPr>
              <a:spLocks noChangeArrowheads="1"/>
            </p:cNvSpPr>
            <p:nvPr/>
          </p:nvSpPr>
          <p:spPr bwMode="auto">
            <a:xfrm>
              <a:off x="414" y="253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" name="Oval 316" descr="沙滩"/>
            <p:cNvSpPr>
              <a:spLocks noChangeArrowheads="1"/>
            </p:cNvSpPr>
            <p:nvPr/>
          </p:nvSpPr>
          <p:spPr bwMode="auto">
            <a:xfrm>
              <a:off x="898" y="216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" name="Oval 317" descr="沙滩"/>
            <p:cNvSpPr>
              <a:spLocks noChangeArrowheads="1"/>
            </p:cNvSpPr>
            <p:nvPr/>
          </p:nvSpPr>
          <p:spPr bwMode="auto">
            <a:xfrm>
              <a:off x="999" y="214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0" name="Oval 318" descr="沙滩"/>
            <p:cNvSpPr>
              <a:spLocks noChangeArrowheads="1"/>
            </p:cNvSpPr>
            <p:nvPr/>
          </p:nvSpPr>
          <p:spPr bwMode="auto">
            <a:xfrm>
              <a:off x="580" y="2742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" name="Oval 319" descr="沙滩"/>
            <p:cNvSpPr>
              <a:spLocks noChangeArrowheads="1"/>
            </p:cNvSpPr>
            <p:nvPr/>
          </p:nvSpPr>
          <p:spPr bwMode="auto">
            <a:xfrm>
              <a:off x="521" y="238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2" name="Oval 320" descr="沙滩"/>
            <p:cNvSpPr>
              <a:spLocks noChangeArrowheads="1"/>
            </p:cNvSpPr>
            <p:nvPr/>
          </p:nvSpPr>
          <p:spPr bwMode="auto">
            <a:xfrm>
              <a:off x="787" y="230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3" name="Oval 321" descr="沙滩"/>
            <p:cNvSpPr>
              <a:spLocks noChangeArrowheads="1"/>
            </p:cNvSpPr>
            <p:nvPr/>
          </p:nvSpPr>
          <p:spPr bwMode="auto">
            <a:xfrm>
              <a:off x="730" y="223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4" name="Oval 322" descr="沙滩"/>
            <p:cNvSpPr>
              <a:spLocks noChangeArrowheads="1"/>
            </p:cNvSpPr>
            <p:nvPr/>
          </p:nvSpPr>
          <p:spPr bwMode="auto">
            <a:xfrm>
              <a:off x="1052" y="206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5" name="Oval 323" descr="沙滩"/>
            <p:cNvSpPr>
              <a:spLocks noChangeArrowheads="1"/>
            </p:cNvSpPr>
            <p:nvPr/>
          </p:nvSpPr>
          <p:spPr bwMode="auto">
            <a:xfrm>
              <a:off x="1102" y="236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6" name="Oval 324" descr="沙滩"/>
            <p:cNvSpPr>
              <a:spLocks noChangeArrowheads="1"/>
            </p:cNvSpPr>
            <p:nvPr/>
          </p:nvSpPr>
          <p:spPr bwMode="auto">
            <a:xfrm>
              <a:off x="878" y="225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" name="Oval 325" descr="沙滩"/>
            <p:cNvSpPr>
              <a:spLocks noChangeArrowheads="1"/>
            </p:cNvSpPr>
            <p:nvPr/>
          </p:nvSpPr>
          <p:spPr bwMode="auto">
            <a:xfrm>
              <a:off x="843" y="238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" name="Oval 326" descr="沙滩"/>
            <p:cNvSpPr>
              <a:spLocks noChangeArrowheads="1"/>
            </p:cNvSpPr>
            <p:nvPr/>
          </p:nvSpPr>
          <p:spPr bwMode="auto">
            <a:xfrm>
              <a:off x="555" y="2583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" name="Oval 327" descr="沙滩"/>
            <p:cNvSpPr>
              <a:spLocks noChangeArrowheads="1"/>
            </p:cNvSpPr>
            <p:nvPr/>
          </p:nvSpPr>
          <p:spPr bwMode="auto">
            <a:xfrm>
              <a:off x="892" y="246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" name="Oval 328" descr="沙滩"/>
            <p:cNvSpPr>
              <a:spLocks noChangeArrowheads="1"/>
            </p:cNvSpPr>
            <p:nvPr/>
          </p:nvSpPr>
          <p:spPr bwMode="auto">
            <a:xfrm>
              <a:off x="1295" y="208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" name="Oval 329" descr="沙滩"/>
            <p:cNvSpPr>
              <a:spLocks noChangeArrowheads="1"/>
            </p:cNvSpPr>
            <p:nvPr/>
          </p:nvSpPr>
          <p:spPr bwMode="auto">
            <a:xfrm>
              <a:off x="426" y="266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2" name="Oval 330" descr="沙滩"/>
            <p:cNvSpPr>
              <a:spLocks noChangeArrowheads="1"/>
            </p:cNvSpPr>
            <p:nvPr/>
          </p:nvSpPr>
          <p:spPr bwMode="auto">
            <a:xfrm>
              <a:off x="1525" y="2355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3" name="Oval 331" descr="沙滩"/>
            <p:cNvSpPr>
              <a:spLocks noChangeArrowheads="1"/>
            </p:cNvSpPr>
            <p:nvPr/>
          </p:nvSpPr>
          <p:spPr bwMode="auto">
            <a:xfrm>
              <a:off x="791" y="246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4" name="Oval 332" descr="沙滩"/>
            <p:cNvSpPr>
              <a:spLocks noChangeArrowheads="1"/>
            </p:cNvSpPr>
            <p:nvPr/>
          </p:nvSpPr>
          <p:spPr bwMode="auto">
            <a:xfrm>
              <a:off x="1389" y="208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" name="Oval 333" descr="沙滩"/>
            <p:cNvSpPr>
              <a:spLocks noChangeArrowheads="1"/>
            </p:cNvSpPr>
            <p:nvPr/>
          </p:nvSpPr>
          <p:spPr bwMode="auto">
            <a:xfrm>
              <a:off x="1766" y="207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6" name="Oval 334" descr="沙滩"/>
            <p:cNvSpPr>
              <a:spLocks noChangeArrowheads="1"/>
            </p:cNvSpPr>
            <p:nvPr/>
          </p:nvSpPr>
          <p:spPr bwMode="auto">
            <a:xfrm>
              <a:off x="732" y="253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" name="Oval 335" descr="沙滩"/>
            <p:cNvSpPr>
              <a:spLocks noChangeArrowheads="1"/>
            </p:cNvSpPr>
            <p:nvPr/>
          </p:nvSpPr>
          <p:spPr bwMode="auto">
            <a:xfrm>
              <a:off x="1573" y="226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" name="Oval 336" descr="沙滩"/>
            <p:cNvSpPr>
              <a:spLocks noChangeArrowheads="1"/>
            </p:cNvSpPr>
            <p:nvPr/>
          </p:nvSpPr>
          <p:spPr bwMode="auto">
            <a:xfrm>
              <a:off x="1308" y="2194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" name="Oval 337" descr="沙滩"/>
            <p:cNvSpPr>
              <a:spLocks noChangeArrowheads="1"/>
            </p:cNvSpPr>
            <p:nvPr/>
          </p:nvSpPr>
          <p:spPr bwMode="auto">
            <a:xfrm>
              <a:off x="1364" y="2436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" name="Oval 338" descr="沙滩"/>
            <p:cNvSpPr>
              <a:spLocks noChangeArrowheads="1"/>
            </p:cNvSpPr>
            <p:nvPr/>
          </p:nvSpPr>
          <p:spPr bwMode="auto">
            <a:xfrm>
              <a:off x="1215" y="266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1" name="Oval 339" descr="沙滩"/>
            <p:cNvSpPr>
              <a:spLocks noChangeArrowheads="1"/>
            </p:cNvSpPr>
            <p:nvPr/>
          </p:nvSpPr>
          <p:spPr bwMode="auto">
            <a:xfrm>
              <a:off x="470" y="2760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2" name="Oval 340" descr="沙滩"/>
            <p:cNvSpPr>
              <a:spLocks noChangeArrowheads="1"/>
            </p:cNvSpPr>
            <p:nvPr/>
          </p:nvSpPr>
          <p:spPr bwMode="auto">
            <a:xfrm>
              <a:off x="1029" y="249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" name="Oval 341" descr="沙滩"/>
            <p:cNvSpPr>
              <a:spLocks noChangeArrowheads="1"/>
            </p:cNvSpPr>
            <p:nvPr/>
          </p:nvSpPr>
          <p:spPr bwMode="auto">
            <a:xfrm>
              <a:off x="987" y="2410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4" name="Oval 342" descr="沙滩"/>
            <p:cNvSpPr>
              <a:spLocks noChangeArrowheads="1"/>
            </p:cNvSpPr>
            <p:nvPr/>
          </p:nvSpPr>
          <p:spPr bwMode="auto">
            <a:xfrm>
              <a:off x="1420" y="250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5" name="Oval 343" descr="沙滩"/>
            <p:cNvSpPr>
              <a:spLocks noChangeArrowheads="1"/>
            </p:cNvSpPr>
            <p:nvPr/>
          </p:nvSpPr>
          <p:spPr bwMode="auto">
            <a:xfrm>
              <a:off x="1205" y="235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6" name="Oval 344" descr="沙滩"/>
            <p:cNvSpPr>
              <a:spLocks noChangeArrowheads="1"/>
            </p:cNvSpPr>
            <p:nvPr/>
          </p:nvSpPr>
          <p:spPr bwMode="auto">
            <a:xfrm>
              <a:off x="1630" y="219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7" name="Oval 345" descr="沙滩"/>
            <p:cNvSpPr>
              <a:spLocks noChangeArrowheads="1"/>
            </p:cNvSpPr>
            <p:nvPr/>
          </p:nvSpPr>
          <p:spPr bwMode="auto">
            <a:xfrm>
              <a:off x="1470" y="242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" name="Oval 346" descr="沙滩"/>
            <p:cNvSpPr>
              <a:spLocks noChangeArrowheads="1"/>
            </p:cNvSpPr>
            <p:nvPr/>
          </p:nvSpPr>
          <p:spPr bwMode="auto">
            <a:xfrm>
              <a:off x="1257" y="228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" name="Oval 347" descr="沙滩"/>
            <p:cNvSpPr>
              <a:spLocks noChangeArrowheads="1"/>
            </p:cNvSpPr>
            <p:nvPr/>
          </p:nvSpPr>
          <p:spPr bwMode="auto">
            <a:xfrm>
              <a:off x="1146" y="245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0" name="Oval 348" descr="沙滩"/>
            <p:cNvSpPr>
              <a:spLocks noChangeArrowheads="1"/>
            </p:cNvSpPr>
            <p:nvPr/>
          </p:nvSpPr>
          <p:spPr bwMode="auto">
            <a:xfrm>
              <a:off x="1768" y="216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1" name="Oval 349" descr="沙滩"/>
            <p:cNvSpPr>
              <a:spLocks noChangeArrowheads="1"/>
            </p:cNvSpPr>
            <p:nvPr/>
          </p:nvSpPr>
          <p:spPr bwMode="auto">
            <a:xfrm>
              <a:off x="1369" y="258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2" name="Oval 350" descr="沙滩"/>
            <p:cNvSpPr>
              <a:spLocks noChangeArrowheads="1"/>
            </p:cNvSpPr>
            <p:nvPr/>
          </p:nvSpPr>
          <p:spPr bwMode="auto">
            <a:xfrm>
              <a:off x="1521" y="2194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3" name="Oval 351" descr="沙滩"/>
            <p:cNvSpPr>
              <a:spLocks noChangeArrowheads="1"/>
            </p:cNvSpPr>
            <p:nvPr/>
          </p:nvSpPr>
          <p:spPr bwMode="auto">
            <a:xfrm>
              <a:off x="1614" y="239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4" name="Oval 352" descr="沙滩"/>
            <p:cNvSpPr>
              <a:spLocks noChangeArrowheads="1"/>
            </p:cNvSpPr>
            <p:nvPr/>
          </p:nvSpPr>
          <p:spPr bwMode="auto">
            <a:xfrm>
              <a:off x="1313" y="2364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5" name="Oval 353" descr="沙滩"/>
            <p:cNvSpPr>
              <a:spLocks noChangeArrowheads="1"/>
            </p:cNvSpPr>
            <p:nvPr/>
          </p:nvSpPr>
          <p:spPr bwMode="auto">
            <a:xfrm>
              <a:off x="1785" y="242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6" name="Oval 354" descr="沙滩"/>
            <p:cNvSpPr>
              <a:spLocks noChangeArrowheads="1"/>
            </p:cNvSpPr>
            <p:nvPr/>
          </p:nvSpPr>
          <p:spPr bwMode="auto">
            <a:xfrm>
              <a:off x="1025" y="269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7" name="Oval 355" descr="沙滩"/>
            <p:cNvSpPr>
              <a:spLocks noChangeArrowheads="1"/>
            </p:cNvSpPr>
            <p:nvPr/>
          </p:nvSpPr>
          <p:spPr bwMode="auto">
            <a:xfrm>
              <a:off x="807" y="258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" name="Oval 356" descr="沙滩"/>
            <p:cNvSpPr>
              <a:spLocks noChangeArrowheads="1"/>
            </p:cNvSpPr>
            <p:nvPr/>
          </p:nvSpPr>
          <p:spPr bwMode="auto">
            <a:xfrm>
              <a:off x="1027" y="257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" name="Oval 357" descr="沙滩"/>
            <p:cNvSpPr>
              <a:spLocks noChangeArrowheads="1"/>
            </p:cNvSpPr>
            <p:nvPr/>
          </p:nvSpPr>
          <p:spPr bwMode="auto">
            <a:xfrm>
              <a:off x="651" y="257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0" name="Oval 358" descr="沙滩"/>
            <p:cNvSpPr>
              <a:spLocks noChangeArrowheads="1"/>
            </p:cNvSpPr>
            <p:nvPr/>
          </p:nvSpPr>
          <p:spPr bwMode="auto">
            <a:xfrm>
              <a:off x="627" y="2670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1" name="Oval 359" descr="沙滩"/>
            <p:cNvSpPr>
              <a:spLocks noChangeArrowheads="1"/>
            </p:cNvSpPr>
            <p:nvPr/>
          </p:nvSpPr>
          <p:spPr bwMode="auto">
            <a:xfrm>
              <a:off x="1154" y="258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2" name="Oval 360" descr="沙滩"/>
            <p:cNvSpPr>
              <a:spLocks noChangeArrowheads="1"/>
            </p:cNvSpPr>
            <p:nvPr/>
          </p:nvSpPr>
          <p:spPr bwMode="auto">
            <a:xfrm>
              <a:off x="1041" y="222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" name="Oval 361" descr="沙滩"/>
            <p:cNvSpPr>
              <a:spLocks noChangeArrowheads="1"/>
            </p:cNvSpPr>
            <p:nvPr/>
          </p:nvSpPr>
          <p:spPr bwMode="auto">
            <a:xfrm>
              <a:off x="852" y="2733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4" name="Oval 362" descr="沙滩"/>
            <p:cNvSpPr>
              <a:spLocks noChangeArrowheads="1"/>
            </p:cNvSpPr>
            <p:nvPr/>
          </p:nvSpPr>
          <p:spPr bwMode="auto">
            <a:xfrm>
              <a:off x="1262" y="274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5" name="Oval 363" descr="沙滩"/>
            <p:cNvSpPr>
              <a:spLocks noChangeArrowheads="1"/>
            </p:cNvSpPr>
            <p:nvPr/>
          </p:nvSpPr>
          <p:spPr bwMode="auto">
            <a:xfrm>
              <a:off x="1310" y="2661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" name="Oval 364" descr="沙滩"/>
            <p:cNvSpPr>
              <a:spLocks noChangeArrowheads="1"/>
            </p:cNvSpPr>
            <p:nvPr/>
          </p:nvSpPr>
          <p:spPr bwMode="auto">
            <a:xfrm>
              <a:off x="1708" y="223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" name="Oval 365" descr="沙滩"/>
            <p:cNvSpPr>
              <a:spLocks noChangeArrowheads="1"/>
            </p:cNvSpPr>
            <p:nvPr/>
          </p:nvSpPr>
          <p:spPr bwMode="auto">
            <a:xfrm>
              <a:off x="1543" y="275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" name="Oval 366" descr="沙滩"/>
            <p:cNvSpPr>
              <a:spLocks noChangeArrowheads="1"/>
            </p:cNvSpPr>
            <p:nvPr/>
          </p:nvSpPr>
          <p:spPr bwMode="auto">
            <a:xfrm>
              <a:off x="1473" y="258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" name="Oval 367" descr="沙滩"/>
            <p:cNvSpPr>
              <a:spLocks noChangeArrowheads="1"/>
            </p:cNvSpPr>
            <p:nvPr/>
          </p:nvSpPr>
          <p:spPr bwMode="auto">
            <a:xfrm>
              <a:off x="782" y="2670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0" name="Oval 368" descr="沙滩"/>
            <p:cNvSpPr>
              <a:spLocks noChangeArrowheads="1"/>
            </p:cNvSpPr>
            <p:nvPr/>
          </p:nvSpPr>
          <p:spPr bwMode="auto">
            <a:xfrm>
              <a:off x="951" y="2743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1" name="Oval 369" descr="沙滩"/>
            <p:cNvSpPr>
              <a:spLocks noChangeArrowheads="1"/>
            </p:cNvSpPr>
            <p:nvPr/>
          </p:nvSpPr>
          <p:spPr bwMode="auto">
            <a:xfrm>
              <a:off x="1642" y="275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2" name="Oval 370" descr="沙滩"/>
            <p:cNvSpPr>
              <a:spLocks noChangeArrowheads="1"/>
            </p:cNvSpPr>
            <p:nvPr/>
          </p:nvSpPr>
          <p:spPr bwMode="auto">
            <a:xfrm>
              <a:off x="1641" y="249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3" name="Oval 371" descr="沙滩"/>
            <p:cNvSpPr>
              <a:spLocks noChangeArrowheads="1"/>
            </p:cNvSpPr>
            <p:nvPr/>
          </p:nvSpPr>
          <p:spPr bwMode="auto">
            <a:xfrm>
              <a:off x="1735" y="250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4" name="Oval 372" descr="沙滩"/>
            <p:cNvSpPr>
              <a:spLocks noChangeArrowheads="1"/>
            </p:cNvSpPr>
            <p:nvPr/>
          </p:nvSpPr>
          <p:spPr bwMode="auto">
            <a:xfrm>
              <a:off x="1788" y="258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" name="Oval 373" descr="沙滩"/>
            <p:cNvSpPr>
              <a:spLocks noChangeArrowheads="1"/>
            </p:cNvSpPr>
            <p:nvPr/>
          </p:nvSpPr>
          <p:spPr bwMode="auto">
            <a:xfrm>
              <a:off x="1631" y="266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6" name="Oval 374" descr="沙滩"/>
            <p:cNvSpPr>
              <a:spLocks noChangeArrowheads="1"/>
            </p:cNvSpPr>
            <p:nvPr/>
          </p:nvSpPr>
          <p:spPr bwMode="auto">
            <a:xfrm>
              <a:off x="1721" y="264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7" name="Oval 375" descr="沙滩"/>
            <p:cNvSpPr>
              <a:spLocks noChangeArrowheads="1"/>
            </p:cNvSpPr>
            <p:nvPr/>
          </p:nvSpPr>
          <p:spPr bwMode="auto">
            <a:xfrm>
              <a:off x="1528" y="2661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" name="Freeform 376"/>
            <p:cNvSpPr>
              <a:spLocks/>
            </p:cNvSpPr>
            <p:nvPr/>
          </p:nvSpPr>
          <p:spPr bwMode="auto">
            <a:xfrm>
              <a:off x="372" y="889"/>
              <a:ext cx="1512" cy="1952"/>
            </a:xfrm>
            <a:custGeom>
              <a:avLst/>
              <a:gdLst>
                <a:gd name="T0" fmla="*/ 5 w 1680"/>
                <a:gd name="T1" fmla="*/ 14 h 2169"/>
                <a:gd name="T2" fmla="*/ 0 w 1680"/>
                <a:gd name="T3" fmla="*/ 2169 h 2169"/>
                <a:gd name="T4" fmla="*/ 1680 w 1680"/>
                <a:gd name="T5" fmla="*/ 2169 h 2169"/>
                <a:gd name="T6" fmla="*/ 1680 w 1680"/>
                <a:gd name="T7" fmla="*/ 0 h 21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2169"/>
                <a:gd name="T14" fmla="*/ 1680 w 1680"/>
                <a:gd name="T15" fmla="*/ 2169 h 21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2169">
                  <a:moveTo>
                    <a:pt x="5" y="14"/>
                  </a:moveTo>
                  <a:lnTo>
                    <a:pt x="0" y="2169"/>
                  </a:lnTo>
                  <a:lnTo>
                    <a:pt x="1680" y="2169"/>
                  </a:lnTo>
                  <a:lnTo>
                    <a:pt x="168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9" name="Group 377"/>
          <p:cNvGrpSpPr>
            <a:grpSpLocks/>
          </p:cNvGrpSpPr>
          <p:nvPr/>
        </p:nvGrpSpPr>
        <p:grpSpPr bwMode="auto">
          <a:xfrm>
            <a:off x="5871873" y="1572561"/>
            <a:ext cx="2017507" cy="2603063"/>
            <a:chOff x="3949" y="898"/>
            <a:chExt cx="1516" cy="1956"/>
          </a:xfrm>
        </p:grpSpPr>
        <p:sp>
          <p:nvSpPr>
            <p:cNvPr id="380" name="Rectangle 378"/>
            <p:cNvSpPr>
              <a:spLocks noChangeArrowheads="1"/>
            </p:cNvSpPr>
            <p:nvPr/>
          </p:nvSpPr>
          <p:spPr bwMode="auto">
            <a:xfrm>
              <a:off x="3957" y="953"/>
              <a:ext cx="1508" cy="1901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1" name="Freeform 379"/>
            <p:cNvSpPr>
              <a:spLocks/>
            </p:cNvSpPr>
            <p:nvPr/>
          </p:nvSpPr>
          <p:spPr bwMode="auto">
            <a:xfrm>
              <a:off x="3949" y="898"/>
              <a:ext cx="1511" cy="1952"/>
            </a:xfrm>
            <a:custGeom>
              <a:avLst/>
              <a:gdLst>
                <a:gd name="T0" fmla="*/ 5 w 1680"/>
                <a:gd name="T1" fmla="*/ 14 h 2169"/>
                <a:gd name="T2" fmla="*/ 0 w 1680"/>
                <a:gd name="T3" fmla="*/ 2169 h 2169"/>
                <a:gd name="T4" fmla="*/ 1680 w 1680"/>
                <a:gd name="T5" fmla="*/ 2169 h 2169"/>
                <a:gd name="T6" fmla="*/ 1680 w 1680"/>
                <a:gd name="T7" fmla="*/ 0 h 21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2169"/>
                <a:gd name="T14" fmla="*/ 1680 w 1680"/>
                <a:gd name="T15" fmla="*/ 2169 h 21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2169">
                  <a:moveTo>
                    <a:pt x="5" y="14"/>
                  </a:moveTo>
                  <a:lnTo>
                    <a:pt x="0" y="2169"/>
                  </a:lnTo>
                  <a:lnTo>
                    <a:pt x="1680" y="2169"/>
                  </a:lnTo>
                  <a:lnTo>
                    <a:pt x="168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Oval 380" descr="沙滩"/>
            <p:cNvSpPr>
              <a:spLocks noChangeArrowheads="1"/>
            </p:cNvSpPr>
            <p:nvPr/>
          </p:nvSpPr>
          <p:spPr bwMode="auto">
            <a:xfrm>
              <a:off x="4049" y="1861"/>
              <a:ext cx="90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3" name="Oval 381" descr="沙滩"/>
            <p:cNvSpPr>
              <a:spLocks noChangeArrowheads="1"/>
            </p:cNvSpPr>
            <p:nvPr/>
          </p:nvSpPr>
          <p:spPr bwMode="auto">
            <a:xfrm>
              <a:off x="4176" y="184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4" name="Oval 382" descr="沙滩"/>
            <p:cNvSpPr>
              <a:spLocks noChangeArrowheads="1"/>
            </p:cNvSpPr>
            <p:nvPr/>
          </p:nvSpPr>
          <p:spPr bwMode="auto">
            <a:xfrm>
              <a:off x="4292" y="1857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" name="Oval 383" descr="沙滩"/>
            <p:cNvSpPr>
              <a:spLocks noChangeArrowheads="1"/>
            </p:cNvSpPr>
            <p:nvPr/>
          </p:nvSpPr>
          <p:spPr bwMode="auto">
            <a:xfrm>
              <a:off x="4506" y="184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" name="Oval 384" descr="沙滩"/>
            <p:cNvSpPr>
              <a:spLocks noChangeArrowheads="1"/>
            </p:cNvSpPr>
            <p:nvPr/>
          </p:nvSpPr>
          <p:spPr bwMode="auto">
            <a:xfrm>
              <a:off x="4597" y="1877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7" name="Oval 385" descr="沙滩"/>
            <p:cNvSpPr>
              <a:spLocks noChangeArrowheads="1"/>
            </p:cNvSpPr>
            <p:nvPr/>
          </p:nvSpPr>
          <p:spPr bwMode="auto">
            <a:xfrm>
              <a:off x="3962" y="189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8" name="Oval 386" descr="沙滩"/>
            <p:cNvSpPr>
              <a:spLocks noChangeArrowheads="1"/>
            </p:cNvSpPr>
            <p:nvPr/>
          </p:nvSpPr>
          <p:spPr bwMode="auto">
            <a:xfrm>
              <a:off x="4417" y="187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" name="Oval 387" descr="沙滩"/>
            <p:cNvSpPr>
              <a:spLocks noChangeArrowheads="1"/>
            </p:cNvSpPr>
            <p:nvPr/>
          </p:nvSpPr>
          <p:spPr bwMode="auto">
            <a:xfrm>
              <a:off x="4175" y="198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" name="Oval 388" descr="沙滩"/>
            <p:cNvSpPr>
              <a:spLocks noChangeArrowheads="1"/>
            </p:cNvSpPr>
            <p:nvPr/>
          </p:nvSpPr>
          <p:spPr bwMode="auto">
            <a:xfrm>
              <a:off x="4804" y="1852"/>
              <a:ext cx="90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1" name="Oval 389" descr="沙滩"/>
            <p:cNvSpPr>
              <a:spLocks noChangeArrowheads="1"/>
            </p:cNvSpPr>
            <p:nvPr/>
          </p:nvSpPr>
          <p:spPr bwMode="auto">
            <a:xfrm>
              <a:off x="4894" y="186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" name="Oval 390" descr="沙滩"/>
            <p:cNvSpPr>
              <a:spLocks noChangeArrowheads="1"/>
            </p:cNvSpPr>
            <p:nvPr/>
          </p:nvSpPr>
          <p:spPr bwMode="auto">
            <a:xfrm>
              <a:off x="4660" y="1933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3" name="Oval 391" descr="沙滩"/>
            <p:cNvSpPr>
              <a:spLocks noChangeArrowheads="1"/>
            </p:cNvSpPr>
            <p:nvPr/>
          </p:nvSpPr>
          <p:spPr bwMode="auto">
            <a:xfrm>
              <a:off x="4441" y="195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4" name="Oval 392" descr="沙滩"/>
            <p:cNvSpPr>
              <a:spLocks noChangeArrowheads="1"/>
            </p:cNvSpPr>
            <p:nvPr/>
          </p:nvSpPr>
          <p:spPr bwMode="auto">
            <a:xfrm>
              <a:off x="4639" y="2077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" name="Oval 393" descr="沙滩"/>
            <p:cNvSpPr>
              <a:spLocks noChangeArrowheads="1"/>
            </p:cNvSpPr>
            <p:nvPr/>
          </p:nvSpPr>
          <p:spPr bwMode="auto">
            <a:xfrm>
              <a:off x="4052" y="197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6" name="Oval 394" descr="沙滩"/>
            <p:cNvSpPr>
              <a:spLocks noChangeArrowheads="1"/>
            </p:cNvSpPr>
            <p:nvPr/>
          </p:nvSpPr>
          <p:spPr bwMode="auto">
            <a:xfrm>
              <a:off x="4274" y="1987"/>
              <a:ext cx="90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7" name="Oval 395" descr="沙滩"/>
            <p:cNvSpPr>
              <a:spLocks noChangeArrowheads="1"/>
            </p:cNvSpPr>
            <p:nvPr/>
          </p:nvSpPr>
          <p:spPr bwMode="auto">
            <a:xfrm>
              <a:off x="4121" y="191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8" name="Oval 396" descr="沙滩"/>
            <p:cNvSpPr>
              <a:spLocks noChangeArrowheads="1"/>
            </p:cNvSpPr>
            <p:nvPr/>
          </p:nvSpPr>
          <p:spPr bwMode="auto">
            <a:xfrm>
              <a:off x="4340" y="192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" name="Oval 397" descr="沙滩"/>
            <p:cNvSpPr>
              <a:spLocks noChangeArrowheads="1"/>
            </p:cNvSpPr>
            <p:nvPr/>
          </p:nvSpPr>
          <p:spPr bwMode="auto">
            <a:xfrm>
              <a:off x="4752" y="192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" name="Oval 398" descr="沙滩"/>
            <p:cNvSpPr>
              <a:spLocks noChangeArrowheads="1"/>
            </p:cNvSpPr>
            <p:nvPr/>
          </p:nvSpPr>
          <p:spPr bwMode="auto">
            <a:xfrm>
              <a:off x="4849" y="193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1" name="Oval 399" descr="沙滩"/>
            <p:cNvSpPr>
              <a:spLocks noChangeArrowheads="1"/>
            </p:cNvSpPr>
            <p:nvPr/>
          </p:nvSpPr>
          <p:spPr bwMode="auto">
            <a:xfrm>
              <a:off x="4221" y="1915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2" name="Oval 400" descr="沙滩"/>
            <p:cNvSpPr>
              <a:spLocks noChangeArrowheads="1"/>
            </p:cNvSpPr>
            <p:nvPr/>
          </p:nvSpPr>
          <p:spPr bwMode="auto">
            <a:xfrm>
              <a:off x="4367" y="200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3" name="Oval 401" descr="沙滩"/>
            <p:cNvSpPr>
              <a:spLocks noChangeArrowheads="1"/>
            </p:cNvSpPr>
            <p:nvPr/>
          </p:nvSpPr>
          <p:spPr bwMode="auto">
            <a:xfrm>
              <a:off x="4108" y="205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4" name="Oval 402" descr="沙滩"/>
            <p:cNvSpPr>
              <a:spLocks noChangeArrowheads="1"/>
            </p:cNvSpPr>
            <p:nvPr/>
          </p:nvSpPr>
          <p:spPr bwMode="auto">
            <a:xfrm>
              <a:off x="5350" y="1852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5" name="Oval 403" descr="沙滩"/>
            <p:cNvSpPr>
              <a:spLocks noChangeArrowheads="1"/>
            </p:cNvSpPr>
            <p:nvPr/>
          </p:nvSpPr>
          <p:spPr bwMode="auto">
            <a:xfrm>
              <a:off x="4213" y="206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6" name="Oval 404" descr="沙滩"/>
            <p:cNvSpPr>
              <a:spLocks noChangeArrowheads="1"/>
            </p:cNvSpPr>
            <p:nvPr/>
          </p:nvSpPr>
          <p:spPr bwMode="auto">
            <a:xfrm>
              <a:off x="4971" y="190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7" name="Oval 405" descr="沙滩"/>
            <p:cNvSpPr>
              <a:spLocks noChangeArrowheads="1"/>
            </p:cNvSpPr>
            <p:nvPr/>
          </p:nvSpPr>
          <p:spPr bwMode="auto">
            <a:xfrm>
              <a:off x="4529" y="193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8" name="Oval 406" descr="沙滩"/>
            <p:cNvSpPr>
              <a:spLocks noChangeArrowheads="1"/>
            </p:cNvSpPr>
            <p:nvPr/>
          </p:nvSpPr>
          <p:spPr bwMode="auto">
            <a:xfrm>
              <a:off x="3964" y="198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" name="Oval 407" descr="沙滩"/>
            <p:cNvSpPr>
              <a:spLocks noChangeArrowheads="1"/>
            </p:cNvSpPr>
            <p:nvPr/>
          </p:nvSpPr>
          <p:spPr bwMode="auto">
            <a:xfrm>
              <a:off x="5218" y="1987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" name="Oval 408" descr="沙滩"/>
            <p:cNvSpPr>
              <a:spLocks noChangeArrowheads="1"/>
            </p:cNvSpPr>
            <p:nvPr/>
          </p:nvSpPr>
          <p:spPr bwMode="auto">
            <a:xfrm>
              <a:off x="4304" y="207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" name="Oval 409" descr="沙滩"/>
            <p:cNvSpPr>
              <a:spLocks noChangeArrowheads="1"/>
            </p:cNvSpPr>
            <p:nvPr/>
          </p:nvSpPr>
          <p:spPr bwMode="auto">
            <a:xfrm>
              <a:off x="5126" y="197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" name="Oval 410" descr="沙滩"/>
            <p:cNvSpPr>
              <a:spLocks noChangeArrowheads="1"/>
            </p:cNvSpPr>
            <p:nvPr/>
          </p:nvSpPr>
          <p:spPr bwMode="auto">
            <a:xfrm>
              <a:off x="5020" y="1984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" name="Oval 411" descr="沙滩"/>
            <p:cNvSpPr>
              <a:spLocks noChangeArrowheads="1"/>
            </p:cNvSpPr>
            <p:nvPr/>
          </p:nvSpPr>
          <p:spPr bwMode="auto">
            <a:xfrm>
              <a:off x="4148" y="212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" name="Oval 412" descr="沙滩"/>
            <p:cNvSpPr>
              <a:spLocks noChangeArrowheads="1"/>
            </p:cNvSpPr>
            <p:nvPr/>
          </p:nvSpPr>
          <p:spPr bwMode="auto">
            <a:xfrm>
              <a:off x="5182" y="1906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" name="Oval 413" descr="沙滩"/>
            <p:cNvSpPr>
              <a:spLocks noChangeArrowheads="1"/>
            </p:cNvSpPr>
            <p:nvPr/>
          </p:nvSpPr>
          <p:spPr bwMode="auto">
            <a:xfrm>
              <a:off x="5066" y="1906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" name="Oval 414" descr="沙滩"/>
            <p:cNvSpPr>
              <a:spLocks noChangeArrowheads="1"/>
            </p:cNvSpPr>
            <p:nvPr/>
          </p:nvSpPr>
          <p:spPr bwMode="auto">
            <a:xfrm>
              <a:off x="5372" y="206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7" name="Oval 415" descr="沙滩"/>
            <p:cNvSpPr>
              <a:spLocks noChangeArrowheads="1"/>
            </p:cNvSpPr>
            <p:nvPr/>
          </p:nvSpPr>
          <p:spPr bwMode="auto">
            <a:xfrm>
              <a:off x="4700" y="201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8" name="Oval 416" descr="沙滩"/>
            <p:cNvSpPr>
              <a:spLocks noChangeArrowheads="1"/>
            </p:cNvSpPr>
            <p:nvPr/>
          </p:nvSpPr>
          <p:spPr bwMode="auto">
            <a:xfrm>
              <a:off x="5255" y="208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" name="Oval 417" descr="沙滩"/>
            <p:cNvSpPr>
              <a:spLocks noChangeArrowheads="1"/>
            </p:cNvSpPr>
            <p:nvPr/>
          </p:nvSpPr>
          <p:spPr bwMode="auto">
            <a:xfrm>
              <a:off x="4015" y="205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" name="Oval 418" descr="沙滩"/>
            <p:cNvSpPr>
              <a:spLocks noChangeArrowheads="1"/>
            </p:cNvSpPr>
            <p:nvPr/>
          </p:nvSpPr>
          <p:spPr bwMode="auto">
            <a:xfrm>
              <a:off x="4594" y="200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1" name="Oval 419" descr="沙滩"/>
            <p:cNvSpPr>
              <a:spLocks noChangeArrowheads="1"/>
            </p:cNvSpPr>
            <p:nvPr/>
          </p:nvSpPr>
          <p:spPr bwMode="auto">
            <a:xfrm>
              <a:off x="4507" y="201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" name="Oval 420" descr="沙滩"/>
            <p:cNvSpPr>
              <a:spLocks noChangeArrowheads="1"/>
            </p:cNvSpPr>
            <p:nvPr/>
          </p:nvSpPr>
          <p:spPr bwMode="auto">
            <a:xfrm>
              <a:off x="4923" y="198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3" name="Oval 421" descr="沙滩"/>
            <p:cNvSpPr>
              <a:spLocks noChangeArrowheads="1"/>
            </p:cNvSpPr>
            <p:nvPr/>
          </p:nvSpPr>
          <p:spPr bwMode="auto">
            <a:xfrm>
              <a:off x="4788" y="2005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4" name="Oval 422" descr="沙滩"/>
            <p:cNvSpPr>
              <a:spLocks noChangeArrowheads="1"/>
            </p:cNvSpPr>
            <p:nvPr/>
          </p:nvSpPr>
          <p:spPr bwMode="auto">
            <a:xfrm>
              <a:off x="5367" y="1942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5" name="Oval 423" descr="沙滩"/>
            <p:cNvSpPr>
              <a:spLocks noChangeArrowheads="1"/>
            </p:cNvSpPr>
            <p:nvPr/>
          </p:nvSpPr>
          <p:spPr bwMode="auto">
            <a:xfrm>
              <a:off x="5077" y="205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6" name="Oval 424" descr="沙滩"/>
            <p:cNvSpPr>
              <a:spLocks noChangeArrowheads="1"/>
            </p:cNvSpPr>
            <p:nvPr/>
          </p:nvSpPr>
          <p:spPr bwMode="auto">
            <a:xfrm>
              <a:off x="4743" y="208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" name="Oval 425" descr="沙滩"/>
            <p:cNvSpPr>
              <a:spLocks noChangeArrowheads="1"/>
            </p:cNvSpPr>
            <p:nvPr/>
          </p:nvSpPr>
          <p:spPr bwMode="auto">
            <a:xfrm>
              <a:off x="4922" y="212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" name="Oval 426" descr="沙滩"/>
            <p:cNvSpPr>
              <a:spLocks noChangeArrowheads="1"/>
            </p:cNvSpPr>
            <p:nvPr/>
          </p:nvSpPr>
          <p:spPr bwMode="auto">
            <a:xfrm>
              <a:off x="5307" y="2005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9" name="Oval 427" descr="沙滩"/>
            <p:cNvSpPr>
              <a:spLocks noChangeArrowheads="1"/>
            </p:cNvSpPr>
            <p:nvPr/>
          </p:nvSpPr>
          <p:spPr bwMode="auto">
            <a:xfrm>
              <a:off x="5118" y="213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" name="Oval 428" descr="沙滩"/>
            <p:cNvSpPr>
              <a:spLocks noChangeArrowheads="1"/>
            </p:cNvSpPr>
            <p:nvPr/>
          </p:nvSpPr>
          <p:spPr bwMode="auto">
            <a:xfrm>
              <a:off x="4864" y="205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" name="Oval 429" descr="沙滩"/>
            <p:cNvSpPr>
              <a:spLocks noChangeArrowheads="1"/>
            </p:cNvSpPr>
            <p:nvPr/>
          </p:nvSpPr>
          <p:spPr bwMode="auto">
            <a:xfrm>
              <a:off x="5283" y="192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2" name="Oval 430" descr="沙滩"/>
            <p:cNvSpPr>
              <a:spLocks noChangeArrowheads="1"/>
            </p:cNvSpPr>
            <p:nvPr/>
          </p:nvSpPr>
          <p:spPr bwMode="auto">
            <a:xfrm>
              <a:off x="4974" y="205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" name="Oval 431" descr="沙滩"/>
            <p:cNvSpPr>
              <a:spLocks noChangeArrowheads="1"/>
            </p:cNvSpPr>
            <p:nvPr/>
          </p:nvSpPr>
          <p:spPr bwMode="auto">
            <a:xfrm>
              <a:off x="5321" y="2140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4" name="Oval 432" descr="沙滩"/>
            <p:cNvSpPr>
              <a:spLocks noChangeArrowheads="1"/>
            </p:cNvSpPr>
            <p:nvPr/>
          </p:nvSpPr>
          <p:spPr bwMode="auto">
            <a:xfrm>
              <a:off x="5204" y="215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5" name="Oval 433" descr="沙滩"/>
            <p:cNvSpPr>
              <a:spLocks noChangeArrowheads="1"/>
            </p:cNvSpPr>
            <p:nvPr/>
          </p:nvSpPr>
          <p:spPr bwMode="auto">
            <a:xfrm>
              <a:off x="4687" y="2152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6" name="Oval 434" descr="沙滩"/>
            <p:cNvSpPr>
              <a:spLocks noChangeArrowheads="1"/>
            </p:cNvSpPr>
            <p:nvPr/>
          </p:nvSpPr>
          <p:spPr bwMode="auto">
            <a:xfrm>
              <a:off x="5165" y="205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7" name="Oval 435" descr="沙滩"/>
            <p:cNvSpPr>
              <a:spLocks noChangeArrowheads="1"/>
            </p:cNvSpPr>
            <p:nvPr/>
          </p:nvSpPr>
          <p:spPr bwMode="auto">
            <a:xfrm>
              <a:off x="4820" y="213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8" name="Oval 436" descr="沙滩"/>
            <p:cNvSpPr>
              <a:spLocks noChangeArrowheads="1"/>
            </p:cNvSpPr>
            <p:nvPr/>
          </p:nvSpPr>
          <p:spPr bwMode="auto">
            <a:xfrm>
              <a:off x="3958" y="212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" name="Oval 437" descr="沙滩"/>
            <p:cNvSpPr>
              <a:spLocks noChangeArrowheads="1"/>
            </p:cNvSpPr>
            <p:nvPr/>
          </p:nvSpPr>
          <p:spPr bwMode="auto">
            <a:xfrm>
              <a:off x="4276" y="216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" name="Oval 438" descr="沙滩"/>
            <p:cNvSpPr>
              <a:spLocks noChangeArrowheads="1"/>
            </p:cNvSpPr>
            <p:nvPr/>
          </p:nvSpPr>
          <p:spPr bwMode="auto">
            <a:xfrm>
              <a:off x="4056" y="213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" name="Oval 439" descr="沙滩"/>
            <p:cNvSpPr>
              <a:spLocks noChangeArrowheads="1"/>
            </p:cNvSpPr>
            <p:nvPr/>
          </p:nvSpPr>
          <p:spPr bwMode="auto">
            <a:xfrm>
              <a:off x="4003" y="221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2" name="Oval 440" descr="沙滩"/>
            <p:cNvSpPr>
              <a:spLocks noChangeArrowheads="1"/>
            </p:cNvSpPr>
            <p:nvPr/>
          </p:nvSpPr>
          <p:spPr bwMode="auto">
            <a:xfrm>
              <a:off x="4109" y="220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3" name="Oval 441" descr="沙滩"/>
            <p:cNvSpPr>
              <a:spLocks noChangeArrowheads="1"/>
            </p:cNvSpPr>
            <p:nvPr/>
          </p:nvSpPr>
          <p:spPr bwMode="auto">
            <a:xfrm>
              <a:off x="4099" y="235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" name="Oval 442" descr="沙滩"/>
            <p:cNvSpPr>
              <a:spLocks noChangeArrowheads="1"/>
            </p:cNvSpPr>
            <p:nvPr/>
          </p:nvSpPr>
          <p:spPr bwMode="auto">
            <a:xfrm>
              <a:off x="4591" y="216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" name="Oval 443" descr="沙滩"/>
            <p:cNvSpPr>
              <a:spLocks noChangeArrowheads="1"/>
            </p:cNvSpPr>
            <p:nvPr/>
          </p:nvSpPr>
          <p:spPr bwMode="auto">
            <a:xfrm>
              <a:off x="4547" y="209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6" name="Oval 444" descr="沙滩"/>
            <p:cNvSpPr>
              <a:spLocks noChangeArrowheads="1"/>
            </p:cNvSpPr>
            <p:nvPr/>
          </p:nvSpPr>
          <p:spPr bwMode="auto">
            <a:xfrm>
              <a:off x="4518" y="237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" name="Oval 445" descr="沙滩"/>
            <p:cNvSpPr>
              <a:spLocks noChangeArrowheads="1"/>
            </p:cNvSpPr>
            <p:nvPr/>
          </p:nvSpPr>
          <p:spPr bwMode="auto">
            <a:xfrm>
              <a:off x="4052" y="228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" name="Oval 446" descr="沙滩"/>
            <p:cNvSpPr>
              <a:spLocks noChangeArrowheads="1"/>
            </p:cNvSpPr>
            <p:nvPr/>
          </p:nvSpPr>
          <p:spPr bwMode="auto">
            <a:xfrm>
              <a:off x="4421" y="221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" name="Oval 447" descr="沙滩"/>
            <p:cNvSpPr>
              <a:spLocks noChangeArrowheads="1"/>
            </p:cNvSpPr>
            <p:nvPr/>
          </p:nvSpPr>
          <p:spPr bwMode="auto">
            <a:xfrm>
              <a:off x="4199" y="220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" name="Oval 448" descr="沙滩"/>
            <p:cNvSpPr>
              <a:spLocks noChangeArrowheads="1"/>
            </p:cNvSpPr>
            <p:nvPr/>
          </p:nvSpPr>
          <p:spPr bwMode="auto">
            <a:xfrm>
              <a:off x="4433" y="207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" name="Oval 449" descr="沙滩"/>
            <p:cNvSpPr>
              <a:spLocks noChangeArrowheads="1"/>
            </p:cNvSpPr>
            <p:nvPr/>
          </p:nvSpPr>
          <p:spPr bwMode="auto">
            <a:xfrm>
              <a:off x="4728" y="228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" name="Oval 450" descr="沙滩"/>
            <p:cNvSpPr>
              <a:spLocks noChangeArrowheads="1"/>
            </p:cNvSpPr>
            <p:nvPr/>
          </p:nvSpPr>
          <p:spPr bwMode="auto">
            <a:xfrm>
              <a:off x="4368" y="214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3" name="Oval 451" descr="沙滩"/>
            <p:cNvSpPr>
              <a:spLocks noChangeArrowheads="1"/>
            </p:cNvSpPr>
            <p:nvPr/>
          </p:nvSpPr>
          <p:spPr bwMode="auto">
            <a:xfrm>
              <a:off x="4330" y="223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4" name="Oval 452" descr="沙滩"/>
            <p:cNvSpPr>
              <a:spLocks noChangeArrowheads="1"/>
            </p:cNvSpPr>
            <p:nvPr/>
          </p:nvSpPr>
          <p:spPr bwMode="auto">
            <a:xfrm>
              <a:off x="3958" y="228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5" name="Oval 453" descr="沙滩"/>
            <p:cNvSpPr>
              <a:spLocks noChangeArrowheads="1"/>
            </p:cNvSpPr>
            <p:nvPr/>
          </p:nvSpPr>
          <p:spPr bwMode="auto">
            <a:xfrm>
              <a:off x="4379" y="231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6" name="Oval 454" descr="沙滩"/>
            <p:cNvSpPr>
              <a:spLocks noChangeArrowheads="1"/>
            </p:cNvSpPr>
            <p:nvPr/>
          </p:nvSpPr>
          <p:spPr bwMode="auto">
            <a:xfrm>
              <a:off x="5026" y="212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7" name="Oval 455" descr="沙滩"/>
            <p:cNvSpPr>
              <a:spLocks noChangeArrowheads="1"/>
            </p:cNvSpPr>
            <p:nvPr/>
          </p:nvSpPr>
          <p:spPr bwMode="auto">
            <a:xfrm>
              <a:off x="4300" y="235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" name="Oval 456" descr="沙滩"/>
            <p:cNvSpPr>
              <a:spLocks noChangeArrowheads="1"/>
            </p:cNvSpPr>
            <p:nvPr/>
          </p:nvSpPr>
          <p:spPr bwMode="auto">
            <a:xfrm>
              <a:off x="5269" y="221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9" name="Oval 457" descr="沙滩"/>
            <p:cNvSpPr>
              <a:spLocks noChangeArrowheads="1"/>
            </p:cNvSpPr>
            <p:nvPr/>
          </p:nvSpPr>
          <p:spPr bwMode="auto">
            <a:xfrm>
              <a:off x="4523" y="222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" name="Oval 458" descr="沙滩"/>
            <p:cNvSpPr>
              <a:spLocks noChangeArrowheads="1"/>
            </p:cNvSpPr>
            <p:nvPr/>
          </p:nvSpPr>
          <p:spPr bwMode="auto">
            <a:xfrm>
              <a:off x="4876" y="2203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" name="Oval 459" descr="沙滩"/>
            <p:cNvSpPr>
              <a:spLocks noChangeArrowheads="1"/>
            </p:cNvSpPr>
            <p:nvPr/>
          </p:nvSpPr>
          <p:spPr bwMode="auto">
            <a:xfrm>
              <a:off x="5097" y="230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2" name="Oval 460" descr="沙滩"/>
            <p:cNvSpPr>
              <a:spLocks noChangeArrowheads="1"/>
            </p:cNvSpPr>
            <p:nvPr/>
          </p:nvSpPr>
          <p:spPr bwMode="auto">
            <a:xfrm>
              <a:off x="4214" y="2364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3" name="Oval 461" descr="沙滩"/>
            <p:cNvSpPr>
              <a:spLocks noChangeArrowheads="1"/>
            </p:cNvSpPr>
            <p:nvPr/>
          </p:nvSpPr>
          <p:spPr bwMode="auto">
            <a:xfrm>
              <a:off x="4971" y="220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4" name="Oval 462" descr="沙滩"/>
            <p:cNvSpPr>
              <a:spLocks noChangeArrowheads="1"/>
            </p:cNvSpPr>
            <p:nvPr/>
          </p:nvSpPr>
          <p:spPr bwMode="auto">
            <a:xfrm>
              <a:off x="4765" y="220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" name="Oval 463" descr="沙滩"/>
            <p:cNvSpPr>
              <a:spLocks noChangeArrowheads="1"/>
            </p:cNvSpPr>
            <p:nvPr/>
          </p:nvSpPr>
          <p:spPr bwMode="auto">
            <a:xfrm>
              <a:off x="4921" y="2276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6" name="Oval 464" descr="沙滩"/>
            <p:cNvSpPr>
              <a:spLocks noChangeArrowheads="1"/>
            </p:cNvSpPr>
            <p:nvPr/>
          </p:nvSpPr>
          <p:spPr bwMode="auto">
            <a:xfrm>
              <a:off x="5011" y="2281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7" name="Oval 465" descr="沙滩"/>
            <p:cNvSpPr>
              <a:spLocks noChangeArrowheads="1"/>
            </p:cNvSpPr>
            <p:nvPr/>
          </p:nvSpPr>
          <p:spPr bwMode="auto">
            <a:xfrm>
              <a:off x="4010" y="2364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8" name="Oval 466" descr="沙滩"/>
            <p:cNvSpPr>
              <a:spLocks noChangeArrowheads="1"/>
            </p:cNvSpPr>
            <p:nvPr/>
          </p:nvSpPr>
          <p:spPr bwMode="auto">
            <a:xfrm>
              <a:off x="4426" y="238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9" name="Oval 467" descr="沙滩"/>
            <p:cNvSpPr>
              <a:spLocks noChangeArrowheads="1"/>
            </p:cNvSpPr>
            <p:nvPr/>
          </p:nvSpPr>
          <p:spPr bwMode="auto">
            <a:xfrm>
              <a:off x="4467" y="229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0" name="Oval 468" descr="沙滩"/>
            <p:cNvSpPr>
              <a:spLocks noChangeArrowheads="1"/>
            </p:cNvSpPr>
            <p:nvPr/>
          </p:nvSpPr>
          <p:spPr bwMode="auto">
            <a:xfrm>
              <a:off x="4649" y="223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" name="Oval 469" descr="沙滩"/>
            <p:cNvSpPr>
              <a:spLocks noChangeArrowheads="1"/>
            </p:cNvSpPr>
            <p:nvPr/>
          </p:nvSpPr>
          <p:spPr bwMode="auto">
            <a:xfrm>
              <a:off x="4473" y="215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2" name="Oval 470" descr="沙滩"/>
            <p:cNvSpPr>
              <a:spLocks noChangeArrowheads="1"/>
            </p:cNvSpPr>
            <p:nvPr/>
          </p:nvSpPr>
          <p:spPr bwMode="auto">
            <a:xfrm>
              <a:off x="5076" y="221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3" name="Oval 471" descr="沙滩"/>
            <p:cNvSpPr>
              <a:spLocks noChangeArrowheads="1"/>
            </p:cNvSpPr>
            <p:nvPr/>
          </p:nvSpPr>
          <p:spPr bwMode="auto">
            <a:xfrm>
              <a:off x="5318" y="229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" name="Oval 472" descr="沙滩"/>
            <p:cNvSpPr>
              <a:spLocks noChangeArrowheads="1"/>
            </p:cNvSpPr>
            <p:nvPr/>
          </p:nvSpPr>
          <p:spPr bwMode="auto">
            <a:xfrm>
              <a:off x="4821" y="227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5" name="Oval 473" descr="沙滩"/>
            <p:cNvSpPr>
              <a:spLocks noChangeArrowheads="1"/>
            </p:cNvSpPr>
            <p:nvPr/>
          </p:nvSpPr>
          <p:spPr bwMode="auto">
            <a:xfrm>
              <a:off x="4576" y="229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6" name="Oval 474" descr="沙滩"/>
            <p:cNvSpPr>
              <a:spLocks noChangeArrowheads="1"/>
            </p:cNvSpPr>
            <p:nvPr/>
          </p:nvSpPr>
          <p:spPr bwMode="auto">
            <a:xfrm>
              <a:off x="5166" y="236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7" name="Oval 475" descr="沙滩"/>
            <p:cNvSpPr>
              <a:spLocks noChangeArrowheads="1"/>
            </p:cNvSpPr>
            <p:nvPr/>
          </p:nvSpPr>
          <p:spPr bwMode="auto">
            <a:xfrm>
              <a:off x="4967" y="236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8" name="Oval 476" descr="沙滩"/>
            <p:cNvSpPr>
              <a:spLocks noChangeArrowheads="1"/>
            </p:cNvSpPr>
            <p:nvPr/>
          </p:nvSpPr>
          <p:spPr bwMode="auto">
            <a:xfrm>
              <a:off x="5367" y="221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9" name="Oval 477" descr="沙滩"/>
            <p:cNvSpPr>
              <a:spLocks noChangeArrowheads="1"/>
            </p:cNvSpPr>
            <p:nvPr/>
          </p:nvSpPr>
          <p:spPr bwMode="auto">
            <a:xfrm>
              <a:off x="5164" y="2239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0" name="Oval 478" descr="沙滩"/>
            <p:cNvSpPr>
              <a:spLocks noChangeArrowheads="1"/>
            </p:cNvSpPr>
            <p:nvPr/>
          </p:nvSpPr>
          <p:spPr bwMode="auto">
            <a:xfrm>
              <a:off x="4777" y="235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" name="Oval 479" descr="沙滩"/>
            <p:cNvSpPr>
              <a:spLocks noChangeArrowheads="1"/>
            </p:cNvSpPr>
            <p:nvPr/>
          </p:nvSpPr>
          <p:spPr bwMode="auto">
            <a:xfrm>
              <a:off x="5369" y="236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2" name="Oval 480" descr="沙滩"/>
            <p:cNvSpPr>
              <a:spLocks noChangeArrowheads="1"/>
            </p:cNvSpPr>
            <p:nvPr/>
          </p:nvSpPr>
          <p:spPr bwMode="auto">
            <a:xfrm>
              <a:off x="5234" y="229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3" name="Oval 481" descr="沙滩"/>
            <p:cNvSpPr>
              <a:spLocks noChangeArrowheads="1"/>
            </p:cNvSpPr>
            <p:nvPr/>
          </p:nvSpPr>
          <p:spPr bwMode="auto">
            <a:xfrm>
              <a:off x="4658" y="2346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" name="Oval 482" descr="沙滩"/>
            <p:cNvSpPr>
              <a:spLocks noChangeArrowheads="1"/>
            </p:cNvSpPr>
            <p:nvPr/>
          </p:nvSpPr>
          <p:spPr bwMode="auto">
            <a:xfrm>
              <a:off x="4867" y="2351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" name="Oval 483" descr="沙滩"/>
            <p:cNvSpPr>
              <a:spLocks noChangeArrowheads="1"/>
            </p:cNvSpPr>
            <p:nvPr/>
          </p:nvSpPr>
          <p:spPr bwMode="auto">
            <a:xfrm>
              <a:off x="4256" y="227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6" name="Oval 484" descr="沙滩"/>
            <p:cNvSpPr>
              <a:spLocks noChangeArrowheads="1"/>
            </p:cNvSpPr>
            <p:nvPr/>
          </p:nvSpPr>
          <p:spPr bwMode="auto">
            <a:xfrm>
              <a:off x="3963" y="244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7" name="Oval 485" descr="沙滩"/>
            <p:cNvSpPr>
              <a:spLocks noChangeArrowheads="1"/>
            </p:cNvSpPr>
            <p:nvPr/>
          </p:nvSpPr>
          <p:spPr bwMode="auto">
            <a:xfrm>
              <a:off x="4160" y="228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8" name="Oval 486" descr="沙滩"/>
            <p:cNvSpPr>
              <a:spLocks noChangeArrowheads="1"/>
            </p:cNvSpPr>
            <p:nvPr/>
          </p:nvSpPr>
          <p:spPr bwMode="auto">
            <a:xfrm>
              <a:off x="4064" y="259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9" name="Oval 487" descr="沙滩"/>
            <p:cNvSpPr>
              <a:spLocks noChangeArrowheads="1"/>
            </p:cNvSpPr>
            <p:nvPr/>
          </p:nvSpPr>
          <p:spPr bwMode="auto">
            <a:xfrm>
              <a:off x="4349" y="243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" name="Oval 488" descr="沙滩"/>
            <p:cNvSpPr>
              <a:spLocks noChangeArrowheads="1"/>
            </p:cNvSpPr>
            <p:nvPr/>
          </p:nvSpPr>
          <p:spPr bwMode="auto">
            <a:xfrm>
              <a:off x="4257" y="244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" name="Oval 489" descr="沙滩"/>
            <p:cNvSpPr>
              <a:spLocks noChangeArrowheads="1"/>
            </p:cNvSpPr>
            <p:nvPr/>
          </p:nvSpPr>
          <p:spPr bwMode="auto">
            <a:xfrm>
              <a:off x="4060" y="243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" name="Oval 490" descr="沙滩"/>
            <p:cNvSpPr>
              <a:spLocks noChangeArrowheads="1"/>
            </p:cNvSpPr>
            <p:nvPr/>
          </p:nvSpPr>
          <p:spPr bwMode="auto">
            <a:xfrm>
              <a:off x="5116" y="244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3" name="Oval 491" descr="沙滩"/>
            <p:cNvSpPr>
              <a:spLocks noChangeArrowheads="1"/>
            </p:cNvSpPr>
            <p:nvPr/>
          </p:nvSpPr>
          <p:spPr bwMode="auto">
            <a:xfrm>
              <a:off x="5275" y="237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4" name="Oval 492" descr="沙滩"/>
            <p:cNvSpPr>
              <a:spLocks noChangeArrowheads="1"/>
            </p:cNvSpPr>
            <p:nvPr/>
          </p:nvSpPr>
          <p:spPr bwMode="auto">
            <a:xfrm>
              <a:off x="4991" y="245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5" name="Oval 493" descr="沙滩"/>
            <p:cNvSpPr>
              <a:spLocks noChangeArrowheads="1"/>
            </p:cNvSpPr>
            <p:nvPr/>
          </p:nvSpPr>
          <p:spPr bwMode="auto">
            <a:xfrm>
              <a:off x="4598" y="241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" name="Oval 494" descr="沙滩"/>
            <p:cNvSpPr>
              <a:spLocks noChangeArrowheads="1"/>
            </p:cNvSpPr>
            <p:nvPr/>
          </p:nvSpPr>
          <p:spPr bwMode="auto">
            <a:xfrm>
              <a:off x="5050" y="238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7" name="Oval 495" descr="沙滩"/>
            <p:cNvSpPr>
              <a:spLocks noChangeArrowheads="1"/>
            </p:cNvSpPr>
            <p:nvPr/>
          </p:nvSpPr>
          <p:spPr bwMode="auto">
            <a:xfrm>
              <a:off x="4861" y="251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8" name="Oval 496" descr="沙滩"/>
            <p:cNvSpPr>
              <a:spLocks noChangeArrowheads="1"/>
            </p:cNvSpPr>
            <p:nvPr/>
          </p:nvSpPr>
          <p:spPr bwMode="auto">
            <a:xfrm>
              <a:off x="4161" y="259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9" name="Oval 497" descr="沙滩"/>
            <p:cNvSpPr>
              <a:spLocks noChangeArrowheads="1"/>
            </p:cNvSpPr>
            <p:nvPr/>
          </p:nvSpPr>
          <p:spPr bwMode="auto">
            <a:xfrm>
              <a:off x="4148" y="2431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0" name="Oval 498" descr="沙滩"/>
            <p:cNvSpPr>
              <a:spLocks noChangeArrowheads="1"/>
            </p:cNvSpPr>
            <p:nvPr/>
          </p:nvSpPr>
          <p:spPr bwMode="auto">
            <a:xfrm>
              <a:off x="4305" y="251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" name="Oval 499" descr="沙滩"/>
            <p:cNvSpPr>
              <a:spLocks noChangeArrowheads="1"/>
            </p:cNvSpPr>
            <p:nvPr/>
          </p:nvSpPr>
          <p:spPr bwMode="auto">
            <a:xfrm>
              <a:off x="4113" y="2517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" name="Oval 500" descr="沙滩"/>
            <p:cNvSpPr>
              <a:spLocks noChangeArrowheads="1"/>
            </p:cNvSpPr>
            <p:nvPr/>
          </p:nvSpPr>
          <p:spPr bwMode="auto">
            <a:xfrm>
              <a:off x="4401" y="250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" name="Oval 501" descr="沙滩"/>
            <p:cNvSpPr>
              <a:spLocks noChangeArrowheads="1"/>
            </p:cNvSpPr>
            <p:nvPr/>
          </p:nvSpPr>
          <p:spPr bwMode="auto">
            <a:xfrm>
              <a:off x="4017" y="252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4" name="Oval 502" descr="沙滩"/>
            <p:cNvSpPr>
              <a:spLocks noChangeArrowheads="1"/>
            </p:cNvSpPr>
            <p:nvPr/>
          </p:nvSpPr>
          <p:spPr bwMode="auto">
            <a:xfrm>
              <a:off x="4479" y="245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5" name="Oval 503" descr="沙滩"/>
            <p:cNvSpPr>
              <a:spLocks noChangeArrowheads="1"/>
            </p:cNvSpPr>
            <p:nvPr/>
          </p:nvSpPr>
          <p:spPr bwMode="auto">
            <a:xfrm>
              <a:off x="4651" y="249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6" name="Oval 504" descr="沙滩"/>
            <p:cNvSpPr>
              <a:spLocks noChangeArrowheads="1"/>
            </p:cNvSpPr>
            <p:nvPr/>
          </p:nvSpPr>
          <p:spPr bwMode="auto">
            <a:xfrm>
              <a:off x="4157" y="274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7" name="Oval 505" descr="沙滩"/>
            <p:cNvSpPr>
              <a:spLocks noChangeArrowheads="1"/>
            </p:cNvSpPr>
            <p:nvPr/>
          </p:nvSpPr>
          <p:spPr bwMode="auto">
            <a:xfrm>
              <a:off x="4253" y="258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8" name="Oval 506" descr="沙滩"/>
            <p:cNvSpPr>
              <a:spLocks noChangeArrowheads="1"/>
            </p:cNvSpPr>
            <p:nvPr/>
          </p:nvSpPr>
          <p:spPr bwMode="auto">
            <a:xfrm>
              <a:off x="4357" y="258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9" name="Oval 507" descr="沙滩"/>
            <p:cNvSpPr>
              <a:spLocks noChangeArrowheads="1"/>
            </p:cNvSpPr>
            <p:nvPr/>
          </p:nvSpPr>
          <p:spPr bwMode="auto">
            <a:xfrm>
              <a:off x="4200" y="2508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0" name="Oval 508" descr="沙滩"/>
            <p:cNvSpPr>
              <a:spLocks noChangeArrowheads="1"/>
            </p:cNvSpPr>
            <p:nvPr/>
          </p:nvSpPr>
          <p:spPr bwMode="auto">
            <a:xfrm>
              <a:off x="4555" y="249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1" name="Oval 509" descr="沙滩"/>
            <p:cNvSpPr>
              <a:spLocks noChangeArrowheads="1"/>
            </p:cNvSpPr>
            <p:nvPr/>
          </p:nvSpPr>
          <p:spPr bwMode="auto">
            <a:xfrm>
              <a:off x="4529" y="258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" name="Oval 510" descr="沙滩"/>
            <p:cNvSpPr>
              <a:spLocks noChangeArrowheads="1"/>
            </p:cNvSpPr>
            <p:nvPr/>
          </p:nvSpPr>
          <p:spPr bwMode="auto">
            <a:xfrm>
              <a:off x="4446" y="257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" name="Oval 511" descr="沙滩"/>
            <p:cNvSpPr>
              <a:spLocks noChangeArrowheads="1"/>
            </p:cNvSpPr>
            <p:nvPr/>
          </p:nvSpPr>
          <p:spPr bwMode="auto">
            <a:xfrm>
              <a:off x="3958" y="258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" name="Oval 512" descr="沙滩"/>
            <p:cNvSpPr>
              <a:spLocks noChangeArrowheads="1"/>
            </p:cNvSpPr>
            <p:nvPr/>
          </p:nvSpPr>
          <p:spPr bwMode="auto">
            <a:xfrm>
              <a:off x="4049" y="2745"/>
              <a:ext cx="90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" name="Oval 513" descr="沙滩"/>
            <p:cNvSpPr>
              <a:spLocks noChangeArrowheads="1"/>
            </p:cNvSpPr>
            <p:nvPr/>
          </p:nvSpPr>
          <p:spPr bwMode="auto">
            <a:xfrm>
              <a:off x="4495" y="266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" name="Oval 514" descr="沙滩"/>
            <p:cNvSpPr>
              <a:spLocks noChangeArrowheads="1"/>
            </p:cNvSpPr>
            <p:nvPr/>
          </p:nvSpPr>
          <p:spPr bwMode="auto">
            <a:xfrm>
              <a:off x="4710" y="241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" name="Oval 515" descr="沙滩"/>
            <p:cNvSpPr>
              <a:spLocks noChangeArrowheads="1"/>
            </p:cNvSpPr>
            <p:nvPr/>
          </p:nvSpPr>
          <p:spPr bwMode="auto">
            <a:xfrm>
              <a:off x="3996" y="266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" name="Oval 516" descr="沙滩"/>
            <p:cNvSpPr>
              <a:spLocks noChangeArrowheads="1"/>
            </p:cNvSpPr>
            <p:nvPr/>
          </p:nvSpPr>
          <p:spPr bwMode="auto">
            <a:xfrm>
              <a:off x="5303" y="259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" name="Oval 517" descr="沙滩"/>
            <p:cNvSpPr>
              <a:spLocks noChangeArrowheads="1"/>
            </p:cNvSpPr>
            <p:nvPr/>
          </p:nvSpPr>
          <p:spPr bwMode="auto">
            <a:xfrm>
              <a:off x="4404" y="266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0" name="Oval 518" descr="沙滩"/>
            <p:cNvSpPr>
              <a:spLocks noChangeArrowheads="1"/>
            </p:cNvSpPr>
            <p:nvPr/>
          </p:nvSpPr>
          <p:spPr bwMode="auto">
            <a:xfrm>
              <a:off x="4905" y="243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" name="Oval 519" descr="沙滩"/>
            <p:cNvSpPr>
              <a:spLocks noChangeArrowheads="1"/>
            </p:cNvSpPr>
            <p:nvPr/>
          </p:nvSpPr>
          <p:spPr bwMode="auto">
            <a:xfrm>
              <a:off x="5320" y="244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" name="Oval 520" descr="沙滩"/>
            <p:cNvSpPr>
              <a:spLocks noChangeArrowheads="1"/>
            </p:cNvSpPr>
            <p:nvPr/>
          </p:nvSpPr>
          <p:spPr bwMode="auto">
            <a:xfrm>
              <a:off x="4211" y="266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" name="Oval 521" descr="沙滩"/>
            <p:cNvSpPr>
              <a:spLocks noChangeArrowheads="1"/>
            </p:cNvSpPr>
            <p:nvPr/>
          </p:nvSpPr>
          <p:spPr bwMode="auto">
            <a:xfrm>
              <a:off x="5371" y="2526"/>
              <a:ext cx="82" cy="82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4" name="Oval 522" descr="沙滩"/>
            <p:cNvSpPr>
              <a:spLocks noChangeArrowheads="1"/>
            </p:cNvSpPr>
            <p:nvPr/>
          </p:nvSpPr>
          <p:spPr bwMode="auto">
            <a:xfrm>
              <a:off x="4815" y="243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5" name="Oval 523" descr="沙滩"/>
            <p:cNvSpPr>
              <a:spLocks noChangeArrowheads="1"/>
            </p:cNvSpPr>
            <p:nvPr/>
          </p:nvSpPr>
          <p:spPr bwMode="auto">
            <a:xfrm>
              <a:off x="4877" y="261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" name="Oval 524" descr="沙滩"/>
            <p:cNvSpPr>
              <a:spLocks noChangeArrowheads="1"/>
            </p:cNvSpPr>
            <p:nvPr/>
          </p:nvSpPr>
          <p:spPr bwMode="auto">
            <a:xfrm>
              <a:off x="4819" y="2751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7" name="Oval 525" descr="沙滩"/>
            <p:cNvSpPr>
              <a:spLocks noChangeArrowheads="1"/>
            </p:cNvSpPr>
            <p:nvPr/>
          </p:nvSpPr>
          <p:spPr bwMode="auto">
            <a:xfrm>
              <a:off x="3950" y="274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8" name="Oval 526" descr="沙滩"/>
            <p:cNvSpPr>
              <a:spLocks noChangeArrowheads="1"/>
            </p:cNvSpPr>
            <p:nvPr/>
          </p:nvSpPr>
          <p:spPr bwMode="auto">
            <a:xfrm>
              <a:off x="4689" y="266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9" name="Oval 527" descr="沙滩"/>
            <p:cNvSpPr>
              <a:spLocks noChangeArrowheads="1"/>
            </p:cNvSpPr>
            <p:nvPr/>
          </p:nvSpPr>
          <p:spPr bwMode="auto">
            <a:xfrm>
              <a:off x="4614" y="257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0" name="Oval 528" descr="沙滩"/>
            <p:cNvSpPr>
              <a:spLocks noChangeArrowheads="1"/>
            </p:cNvSpPr>
            <p:nvPr/>
          </p:nvSpPr>
          <p:spPr bwMode="auto">
            <a:xfrm>
              <a:off x="4951" y="266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1" name="Oval 529" descr="沙滩"/>
            <p:cNvSpPr>
              <a:spLocks noChangeArrowheads="1"/>
            </p:cNvSpPr>
            <p:nvPr/>
          </p:nvSpPr>
          <p:spPr bwMode="auto">
            <a:xfrm>
              <a:off x="4702" y="257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" name="Oval 530" descr="沙滩"/>
            <p:cNvSpPr>
              <a:spLocks noChangeArrowheads="1"/>
            </p:cNvSpPr>
            <p:nvPr/>
          </p:nvSpPr>
          <p:spPr bwMode="auto">
            <a:xfrm>
              <a:off x="5057" y="251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" name="Oval 531" descr="沙滩"/>
            <p:cNvSpPr>
              <a:spLocks noChangeArrowheads="1"/>
            </p:cNvSpPr>
            <p:nvPr/>
          </p:nvSpPr>
          <p:spPr bwMode="auto">
            <a:xfrm>
              <a:off x="5105" y="2589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4" name="Oval 532" descr="沙滩"/>
            <p:cNvSpPr>
              <a:spLocks noChangeArrowheads="1"/>
            </p:cNvSpPr>
            <p:nvPr/>
          </p:nvSpPr>
          <p:spPr bwMode="auto">
            <a:xfrm>
              <a:off x="4949" y="253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5" name="Oval 533" descr="沙滩"/>
            <p:cNvSpPr>
              <a:spLocks noChangeArrowheads="1"/>
            </p:cNvSpPr>
            <p:nvPr/>
          </p:nvSpPr>
          <p:spPr bwMode="auto">
            <a:xfrm>
              <a:off x="4789" y="257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6" name="Oval 534" descr="沙滩"/>
            <p:cNvSpPr>
              <a:spLocks noChangeArrowheads="1"/>
            </p:cNvSpPr>
            <p:nvPr/>
          </p:nvSpPr>
          <p:spPr bwMode="auto">
            <a:xfrm>
              <a:off x="5209" y="244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7" name="Oval 535" descr="沙滩"/>
            <p:cNvSpPr>
              <a:spLocks noChangeArrowheads="1"/>
            </p:cNvSpPr>
            <p:nvPr/>
          </p:nvSpPr>
          <p:spPr bwMode="auto">
            <a:xfrm>
              <a:off x="4997" y="275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8" name="Oval 536" descr="沙滩"/>
            <p:cNvSpPr>
              <a:spLocks noChangeArrowheads="1"/>
            </p:cNvSpPr>
            <p:nvPr/>
          </p:nvSpPr>
          <p:spPr bwMode="auto">
            <a:xfrm>
              <a:off x="5163" y="251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9" name="Oval 537" descr="沙滩"/>
            <p:cNvSpPr>
              <a:spLocks noChangeArrowheads="1"/>
            </p:cNvSpPr>
            <p:nvPr/>
          </p:nvSpPr>
          <p:spPr bwMode="auto">
            <a:xfrm>
              <a:off x="5206" y="259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0" name="Oval 538" descr="沙滩"/>
            <p:cNvSpPr>
              <a:spLocks noChangeArrowheads="1"/>
            </p:cNvSpPr>
            <p:nvPr/>
          </p:nvSpPr>
          <p:spPr bwMode="auto">
            <a:xfrm>
              <a:off x="5010" y="258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1" name="Oval 539" descr="沙滩"/>
            <p:cNvSpPr>
              <a:spLocks noChangeArrowheads="1"/>
            </p:cNvSpPr>
            <p:nvPr/>
          </p:nvSpPr>
          <p:spPr bwMode="auto">
            <a:xfrm>
              <a:off x="5360" y="266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" name="Oval 540" descr="沙滩"/>
            <p:cNvSpPr>
              <a:spLocks noChangeArrowheads="1"/>
            </p:cNvSpPr>
            <p:nvPr/>
          </p:nvSpPr>
          <p:spPr bwMode="auto">
            <a:xfrm>
              <a:off x="4725" y="275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3" name="Oval 541" descr="沙滩"/>
            <p:cNvSpPr>
              <a:spLocks noChangeArrowheads="1"/>
            </p:cNvSpPr>
            <p:nvPr/>
          </p:nvSpPr>
          <p:spPr bwMode="auto">
            <a:xfrm>
              <a:off x="4305" y="266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4" name="Oval 542" descr="沙滩"/>
            <p:cNvSpPr>
              <a:spLocks noChangeArrowheads="1"/>
            </p:cNvSpPr>
            <p:nvPr/>
          </p:nvSpPr>
          <p:spPr bwMode="auto">
            <a:xfrm>
              <a:off x="4549" y="274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5" name="Oval 543" descr="沙滩"/>
            <p:cNvSpPr>
              <a:spLocks noChangeArrowheads="1"/>
            </p:cNvSpPr>
            <p:nvPr/>
          </p:nvSpPr>
          <p:spPr bwMode="auto">
            <a:xfrm>
              <a:off x="4110" y="267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6" name="Oval 544" descr="沙滩"/>
            <p:cNvSpPr>
              <a:spLocks noChangeArrowheads="1"/>
            </p:cNvSpPr>
            <p:nvPr/>
          </p:nvSpPr>
          <p:spPr bwMode="auto">
            <a:xfrm>
              <a:off x="4256" y="2747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7" name="Oval 545" descr="沙滩"/>
            <p:cNvSpPr>
              <a:spLocks noChangeArrowheads="1"/>
            </p:cNvSpPr>
            <p:nvPr/>
          </p:nvSpPr>
          <p:spPr bwMode="auto">
            <a:xfrm>
              <a:off x="4602" y="266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8" name="Oval 546" descr="沙滩"/>
            <p:cNvSpPr>
              <a:spLocks noChangeArrowheads="1"/>
            </p:cNvSpPr>
            <p:nvPr/>
          </p:nvSpPr>
          <p:spPr bwMode="auto">
            <a:xfrm>
              <a:off x="4751" y="249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9" name="Oval 547" descr="沙滩"/>
            <p:cNvSpPr>
              <a:spLocks noChangeArrowheads="1"/>
            </p:cNvSpPr>
            <p:nvPr/>
          </p:nvSpPr>
          <p:spPr bwMode="auto">
            <a:xfrm>
              <a:off x="4447" y="2749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0" name="Oval 548" descr="沙滩"/>
            <p:cNvSpPr>
              <a:spLocks noChangeArrowheads="1"/>
            </p:cNvSpPr>
            <p:nvPr/>
          </p:nvSpPr>
          <p:spPr bwMode="auto">
            <a:xfrm>
              <a:off x="4908" y="2751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1" name="Oval 549" descr="沙滩"/>
            <p:cNvSpPr>
              <a:spLocks noChangeArrowheads="1"/>
            </p:cNvSpPr>
            <p:nvPr/>
          </p:nvSpPr>
          <p:spPr bwMode="auto">
            <a:xfrm>
              <a:off x="5263" y="251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2" name="Oval 550" descr="沙滩"/>
            <p:cNvSpPr>
              <a:spLocks noChangeArrowheads="1"/>
            </p:cNvSpPr>
            <p:nvPr/>
          </p:nvSpPr>
          <p:spPr bwMode="auto">
            <a:xfrm>
              <a:off x="5052" y="267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" name="Oval 551" descr="沙滩"/>
            <p:cNvSpPr>
              <a:spLocks noChangeArrowheads="1"/>
            </p:cNvSpPr>
            <p:nvPr/>
          </p:nvSpPr>
          <p:spPr bwMode="auto">
            <a:xfrm>
              <a:off x="4352" y="2748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" name="Oval 552" descr="沙滩"/>
            <p:cNvSpPr>
              <a:spLocks noChangeArrowheads="1"/>
            </p:cNvSpPr>
            <p:nvPr/>
          </p:nvSpPr>
          <p:spPr bwMode="auto">
            <a:xfrm>
              <a:off x="4640" y="2751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5" name="Oval 553" descr="沙滩"/>
            <p:cNvSpPr>
              <a:spLocks noChangeArrowheads="1"/>
            </p:cNvSpPr>
            <p:nvPr/>
          </p:nvSpPr>
          <p:spPr bwMode="auto">
            <a:xfrm>
              <a:off x="5270" y="2756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6" name="Oval 554" descr="沙滩"/>
            <p:cNvSpPr>
              <a:spLocks noChangeArrowheads="1"/>
            </p:cNvSpPr>
            <p:nvPr/>
          </p:nvSpPr>
          <p:spPr bwMode="auto">
            <a:xfrm>
              <a:off x="5149" y="2672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7" name="Oval 555" descr="沙滩"/>
            <p:cNvSpPr>
              <a:spLocks noChangeArrowheads="1"/>
            </p:cNvSpPr>
            <p:nvPr/>
          </p:nvSpPr>
          <p:spPr bwMode="auto">
            <a:xfrm>
              <a:off x="5359" y="2753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8" name="Oval 556" descr="沙滩"/>
            <p:cNvSpPr>
              <a:spLocks noChangeArrowheads="1"/>
            </p:cNvSpPr>
            <p:nvPr/>
          </p:nvSpPr>
          <p:spPr bwMode="auto">
            <a:xfrm>
              <a:off x="4797" y="2661"/>
              <a:ext cx="89" cy="90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9" name="Oval 557" descr="沙滩"/>
            <p:cNvSpPr>
              <a:spLocks noChangeArrowheads="1"/>
            </p:cNvSpPr>
            <p:nvPr/>
          </p:nvSpPr>
          <p:spPr bwMode="auto">
            <a:xfrm>
              <a:off x="5179" y="2755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0" name="Oval 558" descr="沙滩"/>
            <p:cNvSpPr>
              <a:spLocks noChangeArrowheads="1"/>
            </p:cNvSpPr>
            <p:nvPr/>
          </p:nvSpPr>
          <p:spPr bwMode="auto">
            <a:xfrm>
              <a:off x="5252" y="2670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1" name="Oval 559" descr="沙滩"/>
            <p:cNvSpPr>
              <a:spLocks noChangeArrowheads="1"/>
            </p:cNvSpPr>
            <p:nvPr/>
          </p:nvSpPr>
          <p:spPr bwMode="auto">
            <a:xfrm>
              <a:off x="5089" y="2754"/>
              <a:ext cx="89" cy="89"/>
            </a:xfrm>
            <a:prstGeom prst="ellipse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2" name="Text Box 560"/>
            <p:cNvSpPr txBox="1">
              <a:spLocks noChangeArrowheads="1"/>
            </p:cNvSpPr>
            <p:nvPr/>
          </p:nvSpPr>
          <p:spPr bwMode="auto">
            <a:xfrm>
              <a:off x="4193" y="1135"/>
              <a:ext cx="1144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chemeClr val="bg1"/>
                  </a:solidFill>
                  <a:ea typeface="幼圆" pitchFamily="49" charset="-122"/>
                </a:rPr>
                <a:t>排出的剩</a:t>
              </a:r>
              <a:br>
                <a:rPr lang="zh-CN" altLang="en-US" sz="2400" b="1" dirty="0">
                  <a:solidFill>
                    <a:schemeClr val="bg1"/>
                  </a:solidFill>
                  <a:ea typeface="幼圆" pitchFamily="49" charset="-122"/>
                </a:rPr>
              </a:br>
              <a:r>
                <a:rPr lang="zh-CN" altLang="en-US" sz="2400" b="1" dirty="0">
                  <a:solidFill>
                    <a:schemeClr val="bg1"/>
                  </a:solidFill>
                  <a:ea typeface="幼圆" pitchFamily="49" charset="-122"/>
                </a:rPr>
                <a:t>余孔隙水</a:t>
              </a:r>
            </a:p>
          </p:txBody>
        </p:sp>
      </p:grpSp>
      <p:sp>
        <p:nvSpPr>
          <p:cNvPr id="563" name="Text Box 4"/>
          <p:cNvSpPr txBox="1">
            <a:spLocks noChangeArrowheads="1"/>
          </p:cNvSpPr>
          <p:nvPr/>
        </p:nvSpPr>
        <p:spPr bwMode="auto">
          <a:xfrm>
            <a:off x="431799" y="754063"/>
            <a:ext cx="471435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饱和松砂振动液化机理</a:t>
            </a:r>
          </a:p>
        </p:txBody>
      </p:sp>
      <p:sp>
        <p:nvSpPr>
          <p:cNvPr id="564" name="Text Box 2"/>
          <p:cNvSpPr txBox="1">
            <a:spLocks noChangeArrowheads="1"/>
          </p:cNvSpPr>
          <p:nvPr/>
        </p:nvSpPr>
        <p:spPr bwMode="auto">
          <a:xfrm>
            <a:off x="2802324" y="5785577"/>
            <a:ext cx="4686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饱和松砂的振动液化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12779962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pic>
        <p:nvPicPr>
          <p:cNvPr id="6" name="Picture 4" descr="图片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1681992"/>
            <a:ext cx="8764588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19075" y="3863217"/>
            <a:ext cx="2498725" cy="893763"/>
          </a:xfrm>
          <a:prstGeom prst="rect">
            <a:avLst/>
          </a:prstGeom>
          <a:solidFill>
            <a:srgbClr val="FFCC00">
              <a:alpha val="8117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917575" y="4137854"/>
            <a:ext cx="950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ea typeface="幼圆" pitchFamily="49" charset="-122"/>
              </a:rPr>
              <a:t>松砂层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197225" y="3866392"/>
            <a:ext cx="2498725" cy="893763"/>
          </a:xfrm>
          <a:prstGeom prst="rect">
            <a:avLst/>
          </a:prstGeom>
          <a:solidFill>
            <a:srgbClr val="FFCC00">
              <a:alpha val="8117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6510338" y="3996567"/>
            <a:ext cx="2362200" cy="771525"/>
          </a:xfrm>
          <a:prstGeom prst="rect">
            <a:avLst/>
          </a:prstGeom>
          <a:solidFill>
            <a:srgbClr val="FFCC00">
              <a:alpha val="8117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212725" y="3279017"/>
            <a:ext cx="2514600" cy="584200"/>
          </a:xfrm>
          <a:custGeom>
            <a:avLst/>
            <a:gdLst>
              <a:gd name="T0" fmla="*/ 4 w 1584"/>
              <a:gd name="T1" fmla="*/ 0 h 368"/>
              <a:gd name="T2" fmla="*/ 413 w 1584"/>
              <a:gd name="T3" fmla="*/ 0 h 368"/>
              <a:gd name="T4" fmla="*/ 413 w 1584"/>
              <a:gd name="T5" fmla="*/ 115 h 368"/>
              <a:gd name="T6" fmla="*/ 996 w 1584"/>
              <a:gd name="T7" fmla="*/ 115 h 368"/>
              <a:gd name="T8" fmla="*/ 996 w 1584"/>
              <a:gd name="T9" fmla="*/ 0 h 368"/>
              <a:gd name="T10" fmla="*/ 1584 w 1584"/>
              <a:gd name="T11" fmla="*/ 0 h 368"/>
              <a:gd name="T12" fmla="*/ 1584 w 1584"/>
              <a:gd name="T13" fmla="*/ 368 h 368"/>
              <a:gd name="T14" fmla="*/ 0 w 1584"/>
              <a:gd name="T15" fmla="*/ 368 h 368"/>
              <a:gd name="T16" fmla="*/ 4 w 1584"/>
              <a:gd name="T17" fmla="*/ 0 h 36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4"/>
              <a:gd name="T28" fmla="*/ 0 h 368"/>
              <a:gd name="T29" fmla="*/ 1584 w 1584"/>
              <a:gd name="T30" fmla="*/ 368 h 36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4" h="368">
                <a:moveTo>
                  <a:pt x="4" y="0"/>
                </a:moveTo>
                <a:lnTo>
                  <a:pt x="413" y="0"/>
                </a:lnTo>
                <a:lnTo>
                  <a:pt x="413" y="115"/>
                </a:lnTo>
                <a:lnTo>
                  <a:pt x="996" y="115"/>
                </a:lnTo>
                <a:lnTo>
                  <a:pt x="996" y="0"/>
                </a:lnTo>
                <a:lnTo>
                  <a:pt x="1584" y="0"/>
                </a:lnTo>
                <a:lnTo>
                  <a:pt x="1584" y="368"/>
                </a:lnTo>
                <a:lnTo>
                  <a:pt x="0" y="368"/>
                </a:lnTo>
                <a:lnTo>
                  <a:pt x="4" y="0"/>
                </a:lnTo>
                <a:close/>
              </a:path>
            </a:pathLst>
          </a:custGeom>
          <a:solidFill>
            <a:srgbClr val="FFCC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Oval 10"/>
          <p:cNvSpPr>
            <a:spLocks noChangeArrowheads="1"/>
          </p:cNvSpPr>
          <p:nvPr/>
        </p:nvSpPr>
        <p:spPr bwMode="auto">
          <a:xfrm>
            <a:off x="392113" y="3802892"/>
            <a:ext cx="93663" cy="93663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1930400" y="3332992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tx2"/>
                </a:solidFill>
                <a:ea typeface="幼圆" pitchFamily="49" charset="-122"/>
              </a:rPr>
              <a:t>地下水位</a:t>
            </a:r>
            <a:endParaRPr lang="en-US" altLang="zh-CN" sz="1800" b="1">
              <a:solidFill>
                <a:schemeClr val="tx2"/>
              </a:solidFill>
              <a:ea typeface="幼圆" pitchFamily="49" charset="-122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>
            <a:off x="3192463" y="3274254"/>
            <a:ext cx="1776413" cy="588963"/>
          </a:xfrm>
          <a:custGeom>
            <a:avLst/>
            <a:gdLst>
              <a:gd name="T0" fmla="*/ 4 w 1119"/>
              <a:gd name="T1" fmla="*/ 2 h 371"/>
              <a:gd name="T2" fmla="*/ 322 w 1119"/>
              <a:gd name="T3" fmla="*/ 0 h 371"/>
              <a:gd name="T4" fmla="*/ 322 w 1119"/>
              <a:gd name="T5" fmla="*/ 115 h 371"/>
              <a:gd name="T6" fmla="*/ 914 w 1119"/>
              <a:gd name="T7" fmla="*/ 112 h 371"/>
              <a:gd name="T8" fmla="*/ 904 w 1119"/>
              <a:gd name="T9" fmla="*/ 0 h 371"/>
              <a:gd name="T10" fmla="*/ 1119 w 1119"/>
              <a:gd name="T11" fmla="*/ 0 h 371"/>
              <a:gd name="T12" fmla="*/ 1093 w 1119"/>
              <a:gd name="T13" fmla="*/ 51 h 371"/>
              <a:gd name="T14" fmla="*/ 1051 w 1119"/>
              <a:gd name="T15" fmla="*/ 115 h 371"/>
              <a:gd name="T16" fmla="*/ 1025 w 1119"/>
              <a:gd name="T17" fmla="*/ 182 h 371"/>
              <a:gd name="T18" fmla="*/ 1023 w 1119"/>
              <a:gd name="T19" fmla="*/ 225 h 371"/>
              <a:gd name="T20" fmla="*/ 1056 w 1119"/>
              <a:gd name="T21" fmla="*/ 263 h 371"/>
              <a:gd name="T22" fmla="*/ 1090 w 1119"/>
              <a:gd name="T23" fmla="*/ 306 h 371"/>
              <a:gd name="T24" fmla="*/ 1074 w 1119"/>
              <a:gd name="T25" fmla="*/ 371 h 371"/>
              <a:gd name="T26" fmla="*/ 0 w 1119"/>
              <a:gd name="T27" fmla="*/ 370 h 371"/>
              <a:gd name="T28" fmla="*/ 4 w 1119"/>
              <a:gd name="T29" fmla="*/ 2 h 37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19"/>
              <a:gd name="T46" fmla="*/ 0 h 371"/>
              <a:gd name="T47" fmla="*/ 1119 w 1119"/>
              <a:gd name="T48" fmla="*/ 371 h 37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19" h="371">
                <a:moveTo>
                  <a:pt x="4" y="2"/>
                </a:moveTo>
                <a:lnTo>
                  <a:pt x="322" y="0"/>
                </a:lnTo>
                <a:lnTo>
                  <a:pt x="322" y="115"/>
                </a:lnTo>
                <a:lnTo>
                  <a:pt x="914" y="112"/>
                </a:lnTo>
                <a:lnTo>
                  <a:pt x="904" y="0"/>
                </a:lnTo>
                <a:lnTo>
                  <a:pt x="1119" y="0"/>
                </a:lnTo>
                <a:lnTo>
                  <a:pt x="1093" y="51"/>
                </a:lnTo>
                <a:lnTo>
                  <a:pt x="1051" y="115"/>
                </a:lnTo>
                <a:lnTo>
                  <a:pt x="1025" y="182"/>
                </a:lnTo>
                <a:lnTo>
                  <a:pt x="1023" y="225"/>
                </a:lnTo>
                <a:lnTo>
                  <a:pt x="1056" y="263"/>
                </a:lnTo>
                <a:lnTo>
                  <a:pt x="1090" y="306"/>
                </a:lnTo>
                <a:lnTo>
                  <a:pt x="1074" y="371"/>
                </a:lnTo>
                <a:lnTo>
                  <a:pt x="0" y="370"/>
                </a:lnTo>
                <a:lnTo>
                  <a:pt x="4" y="2"/>
                </a:lnTo>
                <a:close/>
              </a:path>
            </a:pathLst>
          </a:custGeom>
          <a:solidFill>
            <a:srgbClr val="FFCC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Oval 13"/>
          <p:cNvSpPr>
            <a:spLocks noChangeArrowheads="1"/>
          </p:cNvSpPr>
          <p:nvPr/>
        </p:nvSpPr>
        <p:spPr bwMode="auto">
          <a:xfrm>
            <a:off x="3487738" y="3575879"/>
            <a:ext cx="93663" cy="93663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Oval 14"/>
          <p:cNvSpPr>
            <a:spLocks noChangeArrowheads="1"/>
          </p:cNvSpPr>
          <p:nvPr/>
        </p:nvSpPr>
        <p:spPr bwMode="auto">
          <a:xfrm>
            <a:off x="3495675" y="3817179"/>
            <a:ext cx="93663" cy="93663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Freeform 15"/>
          <p:cNvSpPr>
            <a:spLocks/>
          </p:cNvSpPr>
          <p:nvPr/>
        </p:nvSpPr>
        <p:spPr bwMode="auto">
          <a:xfrm>
            <a:off x="3775075" y="3553654"/>
            <a:ext cx="838200" cy="690563"/>
          </a:xfrm>
          <a:custGeom>
            <a:avLst/>
            <a:gdLst>
              <a:gd name="T0" fmla="*/ 528 w 528"/>
              <a:gd name="T1" fmla="*/ 435 h 435"/>
              <a:gd name="T2" fmla="*/ 0 w 528"/>
              <a:gd name="T3" fmla="*/ 435 h 435"/>
              <a:gd name="T4" fmla="*/ 428 w 528"/>
              <a:gd name="T5" fmla="*/ 320 h 435"/>
              <a:gd name="T6" fmla="*/ 137 w 528"/>
              <a:gd name="T7" fmla="*/ 275 h 435"/>
              <a:gd name="T8" fmla="*/ 358 w 528"/>
              <a:gd name="T9" fmla="*/ 202 h 435"/>
              <a:gd name="T10" fmla="*/ 243 w 528"/>
              <a:gd name="T11" fmla="*/ 131 h 435"/>
              <a:gd name="T12" fmla="*/ 294 w 528"/>
              <a:gd name="T13" fmla="*/ 93 h 435"/>
              <a:gd name="T14" fmla="*/ 227 w 528"/>
              <a:gd name="T15" fmla="*/ 0 h 43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435"/>
              <a:gd name="T26" fmla="*/ 528 w 528"/>
              <a:gd name="T27" fmla="*/ 435 h 43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435">
                <a:moveTo>
                  <a:pt x="528" y="435"/>
                </a:moveTo>
                <a:lnTo>
                  <a:pt x="0" y="435"/>
                </a:lnTo>
                <a:lnTo>
                  <a:pt x="428" y="320"/>
                </a:lnTo>
                <a:lnTo>
                  <a:pt x="137" y="275"/>
                </a:lnTo>
                <a:lnTo>
                  <a:pt x="358" y="202"/>
                </a:lnTo>
                <a:lnTo>
                  <a:pt x="243" y="131"/>
                </a:lnTo>
                <a:lnTo>
                  <a:pt x="294" y="93"/>
                </a:lnTo>
                <a:lnTo>
                  <a:pt x="227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3722688" y="4309304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A50021"/>
                </a:solidFill>
                <a:ea typeface="幼圆" pitchFamily="49" charset="-122"/>
              </a:rPr>
              <a:t>地震荷载</a:t>
            </a:r>
            <a:endParaRPr lang="en-US" altLang="zh-CN" sz="18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21" name="Freeform 17"/>
          <p:cNvSpPr>
            <a:spLocks/>
          </p:cNvSpPr>
          <p:nvPr/>
        </p:nvSpPr>
        <p:spPr bwMode="auto">
          <a:xfrm>
            <a:off x="5410200" y="3269492"/>
            <a:ext cx="304800" cy="590550"/>
          </a:xfrm>
          <a:custGeom>
            <a:avLst/>
            <a:gdLst>
              <a:gd name="T0" fmla="*/ 24 w 192"/>
              <a:gd name="T1" fmla="*/ 333 h 372"/>
              <a:gd name="T2" fmla="*/ 55 w 192"/>
              <a:gd name="T3" fmla="*/ 372 h 372"/>
              <a:gd name="T4" fmla="*/ 127 w 192"/>
              <a:gd name="T5" fmla="*/ 372 h 372"/>
              <a:gd name="T6" fmla="*/ 192 w 192"/>
              <a:gd name="T7" fmla="*/ 369 h 372"/>
              <a:gd name="T8" fmla="*/ 188 w 192"/>
              <a:gd name="T9" fmla="*/ 1 h 372"/>
              <a:gd name="T10" fmla="*/ 0 w 192"/>
              <a:gd name="T11" fmla="*/ 0 h 372"/>
              <a:gd name="T12" fmla="*/ 0 w 192"/>
              <a:gd name="T13" fmla="*/ 53 h 372"/>
              <a:gd name="T14" fmla="*/ 12 w 192"/>
              <a:gd name="T15" fmla="*/ 158 h 372"/>
              <a:gd name="T16" fmla="*/ 17 w 192"/>
              <a:gd name="T17" fmla="*/ 278 h 37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92"/>
              <a:gd name="T28" fmla="*/ 0 h 372"/>
              <a:gd name="T29" fmla="*/ 192 w 192"/>
              <a:gd name="T30" fmla="*/ 372 h 37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92" h="372">
                <a:moveTo>
                  <a:pt x="24" y="333"/>
                </a:moveTo>
                <a:lnTo>
                  <a:pt x="55" y="372"/>
                </a:lnTo>
                <a:lnTo>
                  <a:pt x="127" y="372"/>
                </a:lnTo>
                <a:lnTo>
                  <a:pt x="192" y="369"/>
                </a:lnTo>
                <a:lnTo>
                  <a:pt x="188" y="1"/>
                </a:lnTo>
                <a:lnTo>
                  <a:pt x="0" y="0"/>
                </a:lnTo>
                <a:lnTo>
                  <a:pt x="0" y="53"/>
                </a:lnTo>
                <a:lnTo>
                  <a:pt x="12" y="158"/>
                </a:lnTo>
                <a:lnTo>
                  <a:pt x="17" y="278"/>
                </a:lnTo>
              </a:path>
            </a:pathLst>
          </a:custGeom>
          <a:solidFill>
            <a:srgbClr val="FFCC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>
            <a:off x="4854575" y="3271079"/>
            <a:ext cx="514350" cy="590550"/>
          </a:xfrm>
          <a:custGeom>
            <a:avLst/>
            <a:gdLst>
              <a:gd name="T0" fmla="*/ 93 w 324"/>
              <a:gd name="T1" fmla="*/ 347 h 372"/>
              <a:gd name="T2" fmla="*/ 162 w 324"/>
              <a:gd name="T3" fmla="*/ 372 h 372"/>
              <a:gd name="T4" fmla="*/ 234 w 324"/>
              <a:gd name="T5" fmla="*/ 372 h 372"/>
              <a:gd name="T6" fmla="*/ 299 w 324"/>
              <a:gd name="T7" fmla="*/ 369 h 372"/>
              <a:gd name="T8" fmla="*/ 324 w 324"/>
              <a:gd name="T9" fmla="*/ 239 h 372"/>
              <a:gd name="T10" fmla="*/ 321 w 324"/>
              <a:gd name="T11" fmla="*/ 145 h 372"/>
              <a:gd name="T12" fmla="*/ 314 w 324"/>
              <a:gd name="T13" fmla="*/ 61 h 372"/>
              <a:gd name="T14" fmla="*/ 295 w 324"/>
              <a:gd name="T15" fmla="*/ 1 h 372"/>
              <a:gd name="T16" fmla="*/ 107 w 324"/>
              <a:gd name="T17" fmla="*/ 0 h 372"/>
              <a:gd name="T18" fmla="*/ 79 w 324"/>
              <a:gd name="T19" fmla="*/ 64 h 372"/>
              <a:gd name="T20" fmla="*/ 14 w 324"/>
              <a:gd name="T21" fmla="*/ 155 h 372"/>
              <a:gd name="T22" fmla="*/ 0 w 324"/>
              <a:gd name="T23" fmla="*/ 217 h 372"/>
              <a:gd name="T24" fmla="*/ 50 w 324"/>
              <a:gd name="T25" fmla="*/ 256 h 372"/>
              <a:gd name="T26" fmla="*/ 72 w 324"/>
              <a:gd name="T27" fmla="*/ 296 h 37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24"/>
              <a:gd name="T43" fmla="*/ 0 h 372"/>
              <a:gd name="T44" fmla="*/ 324 w 324"/>
              <a:gd name="T45" fmla="*/ 372 h 372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24" h="372">
                <a:moveTo>
                  <a:pt x="93" y="347"/>
                </a:moveTo>
                <a:lnTo>
                  <a:pt x="162" y="372"/>
                </a:lnTo>
                <a:lnTo>
                  <a:pt x="234" y="372"/>
                </a:lnTo>
                <a:lnTo>
                  <a:pt x="299" y="369"/>
                </a:lnTo>
                <a:lnTo>
                  <a:pt x="324" y="239"/>
                </a:lnTo>
                <a:lnTo>
                  <a:pt x="321" y="145"/>
                </a:lnTo>
                <a:lnTo>
                  <a:pt x="314" y="61"/>
                </a:lnTo>
                <a:lnTo>
                  <a:pt x="295" y="1"/>
                </a:lnTo>
                <a:lnTo>
                  <a:pt x="107" y="0"/>
                </a:lnTo>
                <a:lnTo>
                  <a:pt x="79" y="64"/>
                </a:lnTo>
                <a:lnTo>
                  <a:pt x="14" y="155"/>
                </a:lnTo>
                <a:lnTo>
                  <a:pt x="0" y="217"/>
                </a:lnTo>
                <a:lnTo>
                  <a:pt x="50" y="256"/>
                </a:lnTo>
                <a:lnTo>
                  <a:pt x="72" y="296"/>
                </a:lnTo>
              </a:path>
            </a:pathLst>
          </a:custGeom>
          <a:solidFill>
            <a:srgbClr val="FFCC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9"/>
          <p:cNvSpPr>
            <a:spLocks/>
          </p:cNvSpPr>
          <p:nvPr/>
        </p:nvSpPr>
        <p:spPr bwMode="auto">
          <a:xfrm>
            <a:off x="6516688" y="3459992"/>
            <a:ext cx="1785938" cy="539750"/>
          </a:xfrm>
          <a:custGeom>
            <a:avLst/>
            <a:gdLst>
              <a:gd name="T0" fmla="*/ 1 w 1125"/>
              <a:gd name="T1" fmla="*/ 2 h 340"/>
              <a:gd name="T2" fmla="*/ 352 w 1125"/>
              <a:gd name="T3" fmla="*/ 7 h 340"/>
              <a:gd name="T4" fmla="*/ 911 w 1125"/>
              <a:gd name="T5" fmla="*/ 221 h 340"/>
              <a:gd name="T6" fmla="*/ 1005 w 1125"/>
              <a:gd name="T7" fmla="*/ 7 h 340"/>
              <a:gd name="T8" fmla="*/ 1048 w 1125"/>
              <a:gd name="T9" fmla="*/ 0 h 340"/>
              <a:gd name="T10" fmla="*/ 1125 w 1125"/>
              <a:gd name="T11" fmla="*/ 0 h 340"/>
              <a:gd name="T12" fmla="*/ 1108 w 1125"/>
              <a:gd name="T13" fmla="*/ 50 h 340"/>
              <a:gd name="T14" fmla="*/ 1067 w 1125"/>
              <a:gd name="T15" fmla="*/ 93 h 340"/>
              <a:gd name="T16" fmla="*/ 1036 w 1125"/>
              <a:gd name="T17" fmla="*/ 153 h 340"/>
              <a:gd name="T18" fmla="*/ 1036 w 1125"/>
              <a:gd name="T19" fmla="*/ 204 h 340"/>
              <a:gd name="T20" fmla="*/ 1081 w 1125"/>
              <a:gd name="T21" fmla="*/ 242 h 340"/>
              <a:gd name="T22" fmla="*/ 1101 w 1125"/>
              <a:gd name="T23" fmla="*/ 285 h 340"/>
              <a:gd name="T24" fmla="*/ 1089 w 1125"/>
              <a:gd name="T25" fmla="*/ 336 h 340"/>
              <a:gd name="T26" fmla="*/ 0 w 1125"/>
              <a:gd name="T27" fmla="*/ 340 h 340"/>
              <a:gd name="T28" fmla="*/ 1 w 1125"/>
              <a:gd name="T29" fmla="*/ 2 h 34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25"/>
              <a:gd name="T46" fmla="*/ 0 h 340"/>
              <a:gd name="T47" fmla="*/ 1125 w 1125"/>
              <a:gd name="T48" fmla="*/ 340 h 34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25" h="340">
                <a:moveTo>
                  <a:pt x="1" y="2"/>
                </a:moveTo>
                <a:lnTo>
                  <a:pt x="352" y="7"/>
                </a:lnTo>
                <a:lnTo>
                  <a:pt x="911" y="221"/>
                </a:lnTo>
                <a:lnTo>
                  <a:pt x="1005" y="7"/>
                </a:lnTo>
                <a:lnTo>
                  <a:pt x="1048" y="0"/>
                </a:lnTo>
                <a:lnTo>
                  <a:pt x="1125" y="0"/>
                </a:lnTo>
                <a:lnTo>
                  <a:pt x="1108" y="50"/>
                </a:lnTo>
                <a:lnTo>
                  <a:pt x="1067" y="93"/>
                </a:lnTo>
                <a:lnTo>
                  <a:pt x="1036" y="153"/>
                </a:lnTo>
                <a:lnTo>
                  <a:pt x="1036" y="204"/>
                </a:lnTo>
                <a:lnTo>
                  <a:pt x="1081" y="242"/>
                </a:lnTo>
                <a:lnTo>
                  <a:pt x="1101" y="285"/>
                </a:lnTo>
                <a:lnTo>
                  <a:pt x="1089" y="336"/>
                </a:lnTo>
                <a:lnTo>
                  <a:pt x="0" y="340"/>
                </a:lnTo>
                <a:lnTo>
                  <a:pt x="1" y="2"/>
                </a:lnTo>
                <a:close/>
              </a:path>
            </a:pathLst>
          </a:custGeom>
          <a:solidFill>
            <a:srgbClr val="FFCC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>
            <a:off x="8207375" y="3459992"/>
            <a:ext cx="512763" cy="525463"/>
          </a:xfrm>
          <a:custGeom>
            <a:avLst/>
            <a:gdLst>
              <a:gd name="T0" fmla="*/ 91 w 323"/>
              <a:gd name="T1" fmla="*/ 314 h 331"/>
              <a:gd name="T2" fmla="*/ 129 w 323"/>
              <a:gd name="T3" fmla="*/ 326 h 331"/>
              <a:gd name="T4" fmla="*/ 184 w 323"/>
              <a:gd name="T5" fmla="*/ 331 h 331"/>
              <a:gd name="T6" fmla="*/ 290 w 323"/>
              <a:gd name="T7" fmla="*/ 326 h 331"/>
              <a:gd name="T8" fmla="*/ 323 w 323"/>
              <a:gd name="T9" fmla="*/ 242 h 331"/>
              <a:gd name="T10" fmla="*/ 320 w 323"/>
              <a:gd name="T11" fmla="*/ 148 h 331"/>
              <a:gd name="T12" fmla="*/ 313 w 323"/>
              <a:gd name="T13" fmla="*/ 64 h 331"/>
              <a:gd name="T14" fmla="*/ 297 w 323"/>
              <a:gd name="T15" fmla="*/ 0 h 331"/>
              <a:gd name="T16" fmla="*/ 106 w 323"/>
              <a:gd name="T17" fmla="*/ 3 h 331"/>
              <a:gd name="T18" fmla="*/ 74 w 323"/>
              <a:gd name="T19" fmla="*/ 60 h 331"/>
              <a:gd name="T20" fmla="*/ 40 w 323"/>
              <a:gd name="T21" fmla="*/ 98 h 331"/>
              <a:gd name="T22" fmla="*/ 7 w 323"/>
              <a:gd name="T23" fmla="*/ 141 h 331"/>
              <a:gd name="T24" fmla="*/ 0 w 323"/>
              <a:gd name="T25" fmla="*/ 201 h 331"/>
              <a:gd name="T26" fmla="*/ 43 w 323"/>
              <a:gd name="T27" fmla="*/ 230 h 331"/>
              <a:gd name="T28" fmla="*/ 69 w 323"/>
              <a:gd name="T29" fmla="*/ 271 h 33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23"/>
              <a:gd name="T46" fmla="*/ 0 h 331"/>
              <a:gd name="T47" fmla="*/ 323 w 323"/>
              <a:gd name="T48" fmla="*/ 331 h 33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23" h="331">
                <a:moveTo>
                  <a:pt x="91" y="314"/>
                </a:moveTo>
                <a:lnTo>
                  <a:pt x="129" y="326"/>
                </a:lnTo>
                <a:lnTo>
                  <a:pt x="184" y="331"/>
                </a:lnTo>
                <a:lnTo>
                  <a:pt x="290" y="326"/>
                </a:lnTo>
                <a:lnTo>
                  <a:pt x="323" y="242"/>
                </a:lnTo>
                <a:lnTo>
                  <a:pt x="320" y="148"/>
                </a:lnTo>
                <a:lnTo>
                  <a:pt x="313" y="64"/>
                </a:lnTo>
                <a:lnTo>
                  <a:pt x="297" y="0"/>
                </a:lnTo>
                <a:lnTo>
                  <a:pt x="106" y="3"/>
                </a:lnTo>
                <a:lnTo>
                  <a:pt x="74" y="60"/>
                </a:lnTo>
                <a:lnTo>
                  <a:pt x="40" y="98"/>
                </a:lnTo>
                <a:lnTo>
                  <a:pt x="7" y="141"/>
                </a:lnTo>
                <a:lnTo>
                  <a:pt x="0" y="201"/>
                </a:lnTo>
                <a:lnTo>
                  <a:pt x="43" y="230"/>
                </a:lnTo>
                <a:lnTo>
                  <a:pt x="69" y="271"/>
                </a:lnTo>
              </a:path>
            </a:pathLst>
          </a:custGeom>
          <a:solidFill>
            <a:srgbClr val="FFCC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21"/>
          <p:cNvSpPr>
            <a:spLocks/>
          </p:cNvSpPr>
          <p:nvPr/>
        </p:nvSpPr>
        <p:spPr bwMode="auto">
          <a:xfrm>
            <a:off x="8770938" y="3459992"/>
            <a:ext cx="103188" cy="531813"/>
          </a:xfrm>
          <a:custGeom>
            <a:avLst/>
            <a:gdLst>
              <a:gd name="T0" fmla="*/ 14 w 65"/>
              <a:gd name="T1" fmla="*/ 247 h 335"/>
              <a:gd name="T2" fmla="*/ 26 w 65"/>
              <a:gd name="T3" fmla="*/ 309 h 335"/>
              <a:gd name="T4" fmla="*/ 58 w 65"/>
              <a:gd name="T5" fmla="*/ 335 h 335"/>
              <a:gd name="T6" fmla="*/ 65 w 65"/>
              <a:gd name="T7" fmla="*/ 9 h 335"/>
              <a:gd name="T8" fmla="*/ 2 w 65"/>
              <a:gd name="T9" fmla="*/ 0 h 335"/>
              <a:gd name="T10" fmla="*/ 0 w 65"/>
              <a:gd name="T11" fmla="*/ 29 h 335"/>
              <a:gd name="T12" fmla="*/ 0 w 65"/>
              <a:gd name="T13" fmla="*/ 86 h 335"/>
              <a:gd name="T14" fmla="*/ 17 w 65"/>
              <a:gd name="T15" fmla="*/ 204 h 33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"/>
              <a:gd name="T25" fmla="*/ 0 h 335"/>
              <a:gd name="T26" fmla="*/ 65 w 65"/>
              <a:gd name="T27" fmla="*/ 335 h 33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" h="335">
                <a:moveTo>
                  <a:pt x="14" y="247"/>
                </a:moveTo>
                <a:lnTo>
                  <a:pt x="26" y="309"/>
                </a:lnTo>
                <a:lnTo>
                  <a:pt x="58" y="335"/>
                </a:lnTo>
                <a:lnTo>
                  <a:pt x="65" y="9"/>
                </a:lnTo>
                <a:lnTo>
                  <a:pt x="2" y="0"/>
                </a:lnTo>
                <a:lnTo>
                  <a:pt x="0" y="29"/>
                </a:lnTo>
                <a:lnTo>
                  <a:pt x="0" y="86"/>
                </a:lnTo>
                <a:lnTo>
                  <a:pt x="17" y="204"/>
                </a:lnTo>
              </a:path>
            </a:pathLst>
          </a:custGeom>
          <a:solidFill>
            <a:srgbClr val="FFCC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>
            <a:off x="863600" y="1796292"/>
            <a:ext cx="930275" cy="1665288"/>
          </a:xfrm>
          <a:custGeom>
            <a:avLst/>
            <a:gdLst>
              <a:gd name="T0" fmla="*/ 0 w 582"/>
              <a:gd name="T1" fmla="*/ 1049 h 1049"/>
              <a:gd name="T2" fmla="*/ 582 w 582"/>
              <a:gd name="T3" fmla="*/ 1046 h 1049"/>
              <a:gd name="T4" fmla="*/ 579 w 582"/>
              <a:gd name="T5" fmla="*/ 0 h 1049"/>
              <a:gd name="T6" fmla="*/ 0 w 582"/>
              <a:gd name="T7" fmla="*/ 0 h 1049"/>
              <a:gd name="T8" fmla="*/ 0 w 582"/>
              <a:gd name="T9" fmla="*/ 1049 h 10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2"/>
              <a:gd name="T16" fmla="*/ 0 h 1049"/>
              <a:gd name="T17" fmla="*/ 582 w 582"/>
              <a:gd name="T18" fmla="*/ 1049 h 10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2" h="1049">
                <a:moveTo>
                  <a:pt x="0" y="1049"/>
                </a:moveTo>
                <a:lnTo>
                  <a:pt x="582" y="1046"/>
                </a:lnTo>
                <a:lnTo>
                  <a:pt x="579" y="0"/>
                </a:lnTo>
                <a:lnTo>
                  <a:pt x="0" y="0"/>
                </a:lnTo>
                <a:lnTo>
                  <a:pt x="0" y="1049"/>
                </a:lnTo>
                <a:close/>
              </a:path>
            </a:pathLst>
          </a:cu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1082675" y="1997904"/>
            <a:ext cx="549275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3399"/>
                </a:solidFill>
                <a:ea typeface="幼圆" pitchFamily="49" charset="-122"/>
              </a:rPr>
              <a:t>建筑物</a:t>
            </a: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>
            <a:off x="3716338" y="1802642"/>
            <a:ext cx="930275" cy="1665288"/>
          </a:xfrm>
          <a:custGeom>
            <a:avLst/>
            <a:gdLst>
              <a:gd name="T0" fmla="*/ 0 w 582"/>
              <a:gd name="T1" fmla="*/ 1049 h 1049"/>
              <a:gd name="T2" fmla="*/ 582 w 582"/>
              <a:gd name="T3" fmla="*/ 1046 h 1049"/>
              <a:gd name="T4" fmla="*/ 579 w 582"/>
              <a:gd name="T5" fmla="*/ 0 h 1049"/>
              <a:gd name="T6" fmla="*/ 0 w 582"/>
              <a:gd name="T7" fmla="*/ 0 h 1049"/>
              <a:gd name="T8" fmla="*/ 0 w 582"/>
              <a:gd name="T9" fmla="*/ 1049 h 10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2"/>
              <a:gd name="T16" fmla="*/ 0 h 1049"/>
              <a:gd name="T17" fmla="*/ 582 w 582"/>
              <a:gd name="T18" fmla="*/ 1049 h 10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2" h="1049">
                <a:moveTo>
                  <a:pt x="0" y="1049"/>
                </a:moveTo>
                <a:lnTo>
                  <a:pt x="582" y="1046"/>
                </a:lnTo>
                <a:lnTo>
                  <a:pt x="579" y="0"/>
                </a:lnTo>
                <a:lnTo>
                  <a:pt x="0" y="0"/>
                </a:lnTo>
                <a:lnTo>
                  <a:pt x="0" y="1049"/>
                </a:lnTo>
                <a:close/>
              </a:path>
            </a:pathLst>
          </a:cu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25"/>
          <p:cNvSpPr>
            <a:spLocks/>
          </p:cNvSpPr>
          <p:nvPr/>
        </p:nvSpPr>
        <p:spPr bwMode="auto">
          <a:xfrm rot="20674150">
            <a:off x="3632200" y="1804229"/>
            <a:ext cx="930275" cy="1665288"/>
          </a:xfrm>
          <a:custGeom>
            <a:avLst/>
            <a:gdLst>
              <a:gd name="T0" fmla="*/ 0 w 582"/>
              <a:gd name="T1" fmla="*/ 1049 h 1049"/>
              <a:gd name="T2" fmla="*/ 582 w 582"/>
              <a:gd name="T3" fmla="*/ 1046 h 1049"/>
              <a:gd name="T4" fmla="*/ 579 w 582"/>
              <a:gd name="T5" fmla="*/ 0 h 1049"/>
              <a:gd name="T6" fmla="*/ 0 w 582"/>
              <a:gd name="T7" fmla="*/ 0 h 1049"/>
              <a:gd name="T8" fmla="*/ 0 w 582"/>
              <a:gd name="T9" fmla="*/ 1049 h 10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2"/>
              <a:gd name="T16" fmla="*/ 0 h 1049"/>
              <a:gd name="T17" fmla="*/ 582 w 582"/>
              <a:gd name="T18" fmla="*/ 1049 h 10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2" h="1049">
                <a:moveTo>
                  <a:pt x="0" y="1049"/>
                </a:moveTo>
                <a:lnTo>
                  <a:pt x="582" y="1046"/>
                </a:lnTo>
                <a:lnTo>
                  <a:pt x="579" y="0"/>
                </a:lnTo>
                <a:lnTo>
                  <a:pt x="0" y="0"/>
                </a:lnTo>
                <a:lnTo>
                  <a:pt x="0" y="1049"/>
                </a:ln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 rot="786907">
            <a:off x="3887788" y="1812167"/>
            <a:ext cx="930275" cy="1665288"/>
          </a:xfrm>
          <a:custGeom>
            <a:avLst/>
            <a:gdLst>
              <a:gd name="T0" fmla="*/ 0 w 582"/>
              <a:gd name="T1" fmla="*/ 1049 h 1049"/>
              <a:gd name="T2" fmla="*/ 582 w 582"/>
              <a:gd name="T3" fmla="*/ 1046 h 1049"/>
              <a:gd name="T4" fmla="*/ 579 w 582"/>
              <a:gd name="T5" fmla="*/ 0 h 1049"/>
              <a:gd name="T6" fmla="*/ 0 w 582"/>
              <a:gd name="T7" fmla="*/ 0 h 1049"/>
              <a:gd name="T8" fmla="*/ 0 w 582"/>
              <a:gd name="T9" fmla="*/ 1049 h 10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2"/>
              <a:gd name="T16" fmla="*/ 0 h 1049"/>
              <a:gd name="T17" fmla="*/ 582 w 582"/>
              <a:gd name="T18" fmla="*/ 1049 h 10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2" h="1049">
                <a:moveTo>
                  <a:pt x="0" y="1049"/>
                </a:moveTo>
                <a:lnTo>
                  <a:pt x="582" y="1046"/>
                </a:lnTo>
                <a:lnTo>
                  <a:pt x="579" y="0"/>
                </a:lnTo>
                <a:lnTo>
                  <a:pt x="0" y="0"/>
                </a:lnTo>
                <a:lnTo>
                  <a:pt x="0" y="1049"/>
                </a:ln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4894263" y="2601154"/>
            <a:ext cx="701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tx2"/>
                </a:solidFill>
                <a:ea typeface="幼圆" pitchFamily="49" charset="-122"/>
              </a:rPr>
              <a:t>喷 砂</a:t>
            </a:r>
            <a:endParaRPr lang="en-US" altLang="zh-CN" sz="1800" b="1">
              <a:solidFill>
                <a:schemeClr val="tx2"/>
              </a:solidFill>
              <a:ea typeface="幼圆" pitchFamily="49" charset="-122"/>
            </a:endParaRPr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>
            <a:off x="6523038" y="3283779"/>
            <a:ext cx="2346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6134100" y="2674179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A50021"/>
                </a:solidFill>
                <a:ea typeface="幼圆" pitchFamily="49" charset="-122"/>
              </a:rPr>
              <a:t>地面下沉</a:t>
            </a:r>
            <a:endParaRPr lang="en-US" altLang="zh-CN" sz="18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34" name="Oval 30"/>
          <p:cNvSpPr>
            <a:spLocks noChangeArrowheads="1"/>
          </p:cNvSpPr>
          <p:nvPr/>
        </p:nvSpPr>
        <p:spPr bwMode="auto">
          <a:xfrm>
            <a:off x="6807200" y="3567942"/>
            <a:ext cx="93663" cy="93663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Freeform 31"/>
          <p:cNvSpPr>
            <a:spLocks/>
          </p:cNvSpPr>
          <p:nvPr/>
        </p:nvSpPr>
        <p:spPr bwMode="auto">
          <a:xfrm>
            <a:off x="7083425" y="1926467"/>
            <a:ext cx="1497013" cy="1881188"/>
          </a:xfrm>
          <a:custGeom>
            <a:avLst/>
            <a:gdLst>
              <a:gd name="T0" fmla="*/ 0 w 943"/>
              <a:gd name="T1" fmla="*/ 968 h 1185"/>
              <a:gd name="T2" fmla="*/ 562 w 943"/>
              <a:gd name="T3" fmla="*/ 1185 h 1185"/>
              <a:gd name="T4" fmla="*/ 943 w 943"/>
              <a:gd name="T5" fmla="*/ 207 h 1185"/>
              <a:gd name="T6" fmla="*/ 382 w 943"/>
              <a:gd name="T7" fmla="*/ 0 h 1185"/>
              <a:gd name="T8" fmla="*/ 0 w 943"/>
              <a:gd name="T9" fmla="*/ 968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43"/>
              <a:gd name="T16" fmla="*/ 0 h 1185"/>
              <a:gd name="T17" fmla="*/ 943 w 943"/>
              <a:gd name="T18" fmla="*/ 1185 h 11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43" h="1185">
                <a:moveTo>
                  <a:pt x="0" y="968"/>
                </a:moveTo>
                <a:lnTo>
                  <a:pt x="562" y="1185"/>
                </a:lnTo>
                <a:lnTo>
                  <a:pt x="943" y="207"/>
                </a:lnTo>
                <a:lnTo>
                  <a:pt x="382" y="0"/>
                </a:lnTo>
                <a:lnTo>
                  <a:pt x="0" y="968"/>
                </a:lnTo>
                <a:close/>
              </a:path>
            </a:pathLst>
          </a:custGeom>
          <a:solidFill>
            <a:srgbClr val="99CCFF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32"/>
          <p:cNvSpPr txBox="1">
            <a:spLocks noChangeArrowheads="1"/>
          </p:cNvSpPr>
          <p:nvPr/>
        </p:nvSpPr>
        <p:spPr bwMode="auto">
          <a:xfrm>
            <a:off x="8393113" y="2601154"/>
            <a:ext cx="6445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tx2"/>
                </a:solidFill>
                <a:ea typeface="幼圆" pitchFamily="49" charset="-122"/>
              </a:rPr>
              <a:t>喷砂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tx2"/>
                </a:solidFill>
                <a:ea typeface="幼圆" pitchFamily="49" charset="-122"/>
              </a:rPr>
              <a:t>遗井</a:t>
            </a:r>
          </a:p>
        </p:txBody>
      </p:sp>
      <p:sp>
        <p:nvSpPr>
          <p:cNvPr id="324" name="Text Box 4"/>
          <p:cNvSpPr txBox="1">
            <a:spLocks noChangeArrowheads="1"/>
          </p:cNvSpPr>
          <p:nvPr/>
        </p:nvSpPr>
        <p:spPr bwMode="auto">
          <a:xfrm>
            <a:off x="431799" y="754063"/>
            <a:ext cx="471435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建筑物</a:t>
            </a: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地基的液化</a:t>
            </a:r>
          </a:p>
        </p:txBody>
      </p: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2802324" y="5785577"/>
            <a:ext cx="4686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饱和松砂的振动液化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21810843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489" y="1604593"/>
            <a:ext cx="3727940" cy="2700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630703" y="4486145"/>
            <a:ext cx="17228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喷砂遗井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74117" y="1605520"/>
            <a:ext cx="4106486" cy="2690038"/>
            <a:chOff x="-1611312" y="1636713"/>
            <a:chExt cx="6981825" cy="4573587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611312" y="1636713"/>
              <a:ext cx="6981825" cy="2314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611312" y="3905250"/>
              <a:ext cx="6981825" cy="2305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矩形 10"/>
          <p:cNvSpPr/>
          <p:nvPr/>
        </p:nvSpPr>
        <p:spPr>
          <a:xfrm>
            <a:off x="868249" y="4492334"/>
            <a:ext cx="3278462" cy="517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地震中的喷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水冒砂现象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31799" y="754063"/>
            <a:ext cx="471435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建筑物</a:t>
            </a: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地基的液化</a:t>
            </a: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802324" y="5785577"/>
            <a:ext cx="4686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饱和松砂的振动液化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184577576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16" y="2334132"/>
            <a:ext cx="3647453" cy="2531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678" y="2334008"/>
            <a:ext cx="4079469" cy="2531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31799" y="881659"/>
            <a:ext cx="765957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日本</a:t>
            </a:r>
            <a:r>
              <a:rPr lang="zh-CN" altLang="en-US" sz="32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阪神地震引起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的地面下沉</a:t>
            </a:r>
            <a:endParaRPr lang="zh-CN" altLang="en-US" sz="32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15679" y="1611555"/>
            <a:ext cx="2659702" cy="1646074"/>
            <a:chOff x="1615679" y="1611555"/>
            <a:chExt cx="2659702" cy="1646074"/>
          </a:xfrm>
        </p:grpSpPr>
        <p:sp>
          <p:nvSpPr>
            <p:cNvPr id="11" name="任意多边形 10"/>
            <p:cNvSpPr/>
            <p:nvPr/>
          </p:nvSpPr>
          <p:spPr bwMode="auto">
            <a:xfrm>
              <a:off x="1940118" y="2080841"/>
              <a:ext cx="842839" cy="1176788"/>
            </a:xfrm>
            <a:custGeom>
              <a:avLst/>
              <a:gdLst>
                <a:gd name="connsiteX0" fmla="*/ 0 w 898498"/>
                <a:gd name="connsiteY0" fmla="*/ 1192696 h 1256306"/>
                <a:gd name="connsiteX1" fmla="*/ 683812 w 898498"/>
                <a:gd name="connsiteY1" fmla="*/ 0 h 1256306"/>
                <a:gd name="connsiteX2" fmla="*/ 898498 w 898498"/>
                <a:gd name="connsiteY2" fmla="*/ 1256306 h 1256306"/>
                <a:gd name="connsiteX0" fmla="*/ 0 w 898498"/>
                <a:gd name="connsiteY0" fmla="*/ 1184265 h 1247875"/>
                <a:gd name="connsiteX1" fmla="*/ 132846 w 898498"/>
                <a:gd name="connsiteY1" fmla="*/ 0 h 1247875"/>
                <a:gd name="connsiteX2" fmla="*/ 898498 w 898498"/>
                <a:gd name="connsiteY2" fmla="*/ 1247875 h 1247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8498" h="1247875">
                  <a:moveTo>
                    <a:pt x="0" y="1184265"/>
                  </a:moveTo>
                  <a:lnTo>
                    <a:pt x="132846" y="0"/>
                  </a:lnTo>
                  <a:lnTo>
                    <a:pt x="898498" y="1247875"/>
                  </a:lnTo>
                </a:path>
              </a:pathLst>
            </a:custGeom>
            <a:noFill/>
            <a:ln w="28575" cap="flat" cmpd="sng" algn="ctr">
              <a:solidFill>
                <a:srgbClr val="A5002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615679" y="1611555"/>
              <a:ext cx="2659702" cy="5170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C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原地面处留下的草</a:t>
              </a:r>
              <a:endParaRPr lang="zh-CN" altLang="en-US" sz="24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959875" y="1667080"/>
            <a:ext cx="2350323" cy="2168181"/>
            <a:chOff x="5959875" y="1667080"/>
            <a:chExt cx="2350323" cy="2168181"/>
          </a:xfrm>
        </p:grpSpPr>
        <p:sp>
          <p:nvSpPr>
            <p:cNvPr id="13" name="矩形 12"/>
            <p:cNvSpPr/>
            <p:nvPr/>
          </p:nvSpPr>
          <p:spPr>
            <a:xfrm>
              <a:off x="5959875" y="1667080"/>
              <a:ext cx="2350323" cy="5170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C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原地面处的台阶</a:t>
              </a:r>
              <a:endParaRPr lang="zh-CN" altLang="en-US" sz="2400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 bwMode="auto">
            <a:xfrm>
              <a:off x="6695954" y="2156932"/>
              <a:ext cx="555585" cy="1678329"/>
            </a:xfrm>
            <a:prstGeom prst="straightConnector1">
              <a:avLst/>
            </a:prstGeom>
            <a:noFill/>
            <a:ln w="28575" cap="flat" cmpd="sng" algn="ctr">
              <a:solidFill>
                <a:srgbClr val="A5002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802324" y="5785577"/>
            <a:ext cx="4686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饱和松砂的振动液化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654811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52488" y="1724394"/>
            <a:ext cx="6784975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715963" indent="-715963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在饱和砂土中，由于振动引起颗粒的悬浮，超静孔隙水压力急剧升高，直到其孔隙水压力等于总应力时，有效应力为零，砂土的强度丧失，砂土呈液体流动状态，称为</a:t>
            </a:r>
            <a:r>
              <a:rPr lang="zh-CN" altLang="en-US" sz="2800" b="1" dirty="0">
                <a:solidFill>
                  <a:srgbClr val="C00000"/>
                </a:solidFill>
                <a:ea typeface="幼圆" pitchFamily="49" charset="-122"/>
              </a:rPr>
              <a:t>液化现象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31799" y="881659"/>
            <a:ext cx="389565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32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液化的定义</a:t>
            </a:r>
            <a:endParaRPr lang="zh-CN" altLang="en-US" sz="32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802324" y="5785577"/>
            <a:ext cx="4686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饱和松砂的振动液化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97634567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431798" y="642757"/>
            <a:ext cx="47037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土体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液化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影响因素</a:t>
            </a:r>
            <a:endParaRPr lang="zh-CN" altLang="en-US" sz="28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39628" y="1263338"/>
            <a:ext cx="6250282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SzPct val="110000"/>
            </a:pP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饱和度：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一般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只能发生于饱和土</a:t>
            </a:r>
          </a:p>
        </p:txBody>
      </p:sp>
      <p:sp>
        <p:nvSpPr>
          <p:cNvPr id="19" name="矩形 18"/>
          <p:cNvSpPr/>
          <p:nvPr/>
        </p:nvSpPr>
        <p:spPr>
          <a:xfrm>
            <a:off x="643172" y="1809144"/>
            <a:ext cx="2535971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SzPct val="110000"/>
            </a:pP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土的种类：</a:t>
            </a:r>
            <a:endParaRPr lang="zh-CN" altLang="en-US" sz="2400" b="1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1467301" y="2326704"/>
            <a:ext cx="681547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5113" lvl="1" indent="-265113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砂土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：中、细、粉砂是最容易发生振动液化的土，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50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=0.07mm- 1.0mm 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范围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的土，抗液化性能最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差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265113" lvl="1" indent="-265113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砾类土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  粒径大于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5mm&lt;60%</a:t>
            </a:r>
          </a:p>
          <a:p>
            <a:pPr marL="265113" lvl="1" indent="-265113" eaLnBrk="1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粉土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=3-10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≥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0.75-1.0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99876" y="4119949"/>
            <a:ext cx="8252746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SzPct val="110000"/>
            </a:pP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密实度：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砂土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相对密度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</a:rPr>
              <a:t>D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</a:rPr>
              <a:t>r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&lt;50%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时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常会普遍出现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液化</a:t>
            </a:r>
            <a:endParaRPr lang="zh-CN" altLang="en-US" sz="24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92784" y="4687021"/>
            <a:ext cx="8252746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SzPct val="110000"/>
            </a:pP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其它：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排水条件、 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应力状态及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历史、 </a:t>
            </a:r>
            <a:r>
              <a:rPr lang="zh-CN" altLang="en-US" sz="24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地震特性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24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785848" y="5711435"/>
            <a:ext cx="4686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饱和松砂的振动液化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147014238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57089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§5.6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的动强度与砂土的振动液化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8930" y="1482211"/>
            <a:ext cx="6688138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20000"/>
              <a:buFont typeface="Wingdings" pitchFamily="2" charset="2"/>
              <a:buChar char="F"/>
            </a:pPr>
            <a:r>
              <a:rPr lang="zh-CN" altLang="en-US" sz="2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 加固地基土：换土、加密、排水</a:t>
            </a:r>
          </a:p>
          <a:p>
            <a:pPr marL="342900" indent="-34290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20000"/>
              <a:buFont typeface="Wingdings" pitchFamily="2" charset="2"/>
              <a:buChar char="F"/>
            </a:pPr>
            <a:r>
              <a:rPr lang="zh-CN" altLang="en-US" sz="2900" b="1" dirty="0" smtClean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 固</a:t>
            </a:r>
            <a:r>
              <a:rPr lang="zh-CN" altLang="en-US" sz="2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土围封</a:t>
            </a:r>
          </a:p>
          <a:p>
            <a:pPr marL="342900" indent="-34290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20000"/>
              <a:buFont typeface="Wingdings" pitchFamily="2" charset="2"/>
              <a:buChar char="F"/>
            </a:pPr>
            <a:r>
              <a:rPr lang="zh-CN" altLang="en-US" sz="2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 加固建筑物</a:t>
            </a:r>
          </a:p>
          <a:p>
            <a:pPr marL="342900" indent="-34290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20000"/>
              <a:buFont typeface="Wingdings" pitchFamily="2" charset="2"/>
              <a:buChar char="F"/>
            </a:pPr>
            <a:r>
              <a:rPr lang="zh-CN" altLang="en-US" sz="2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 深基础与桩基础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31798" y="815755"/>
            <a:ext cx="47037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土体</a:t>
            </a:r>
            <a:r>
              <a:rPr lang="zh-CN" altLang="en-US" sz="2800" b="1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液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化的工程防治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802324" y="5785577"/>
            <a:ext cx="4686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饱和松砂的振动液化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7560729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1924050" y="1922463"/>
            <a:ext cx="6364288" cy="379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§5.1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工程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中土的强度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§5.2	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的抗剪强度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理论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§5.3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土的抗剪强度的测定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试验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§5.4 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路径与破坏主应力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线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§5.5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土的抗剪强度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指标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§5.6 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土的动强度与砂土的振动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液化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897063" y="927100"/>
            <a:ext cx="5356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第五章： </a:t>
            </a: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土的抗剪强度</a:t>
            </a:r>
            <a:endParaRPr lang="en-US" altLang="zh-CN" sz="36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760600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49275" y="679450"/>
            <a:ext cx="1423988" cy="1516063"/>
            <a:chOff x="6502400" y="546100"/>
            <a:chExt cx="1423988" cy="1516063"/>
          </a:xfrm>
        </p:grpSpPr>
        <p:sp>
          <p:nvSpPr>
            <p:cNvPr id="1447938" name="AutoShape 2"/>
            <p:cNvSpPr>
              <a:spLocks noChangeArrowheads="1"/>
            </p:cNvSpPr>
            <p:nvPr/>
          </p:nvSpPr>
          <p:spPr bwMode="auto">
            <a:xfrm>
              <a:off x="7008813" y="1212850"/>
              <a:ext cx="371475" cy="849313"/>
            </a:xfrm>
            <a:prstGeom prst="cube">
              <a:avLst>
                <a:gd name="adj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7939" name="Freeform 3"/>
            <p:cNvSpPr>
              <a:spLocks/>
            </p:cNvSpPr>
            <p:nvPr/>
          </p:nvSpPr>
          <p:spPr bwMode="auto">
            <a:xfrm flipH="1">
              <a:off x="6502400" y="546100"/>
              <a:ext cx="1423988" cy="950913"/>
            </a:xfrm>
            <a:custGeom>
              <a:avLst/>
              <a:gdLst>
                <a:gd name="T0" fmla="*/ 130 w 783"/>
                <a:gd name="T1" fmla="*/ 133 h 551"/>
                <a:gd name="T2" fmla="*/ 293 w 783"/>
                <a:gd name="T3" fmla="*/ 108 h 551"/>
                <a:gd name="T4" fmla="*/ 520 w 783"/>
                <a:gd name="T5" fmla="*/ 56 h 551"/>
                <a:gd name="T6" fmla="*/ 686 w 783"/>
                <a:gd name="T7" fmla="*/ 12 h 551"/>
                <a:gd name="T8" fmla="*/ 763 w 783"/>
                <a:gd name="T9" fmla="*/ 130 h 551"/>
                <a:gd name="T10" fmla="*/ 779 w 783"/>
                <a:gd name="T11" fmla="*/ 338 h 551"/>
                <a:gd name="T12" fmla="*/ 738 w 783"/>
                <a:gd name="T13" fmla="*/ 504 h 551"/>
                <a:gd name="T14" fmla="*/ 507 w 783"/>
                <a:gd name="T15" fmla="*/ 546 h 551"/>
                <a:gd name="T16" fmla="*/ 238 w 783"/>
                <a:gd name="T17" fmla="*/ 533 h 551"/>
                <a:gd name="T18" fmla="*/ 37 w 783"/>
                <a:gd name="T19" fmla="*/ 469 h 551"/>
                <a:gd name="T20" fmla="*/ 14 w 783"/>
                <a:gd name="T21" fmla="*/ 296 h 551"/>
                <a:gd name="T22" fmla="*/ 46 w 783"/>
                <a:gd name="T23" fmla="*/ 178 h 551"/>
                <a:gd name="T24" fmla="*/ 130 w 783"/>
                <a:gd name="T25" fmla="*/ 133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551">
                  <a:moveTo>
                    <a:pt x="130" y="133"/>
                  </a:moveTo>
                  <a:cubicBezTo>
                    <a:pt x="171" y="121"/>
                    <a:pt x="228" y="121"/>
                    <a:pt x="293" y="108"/>
                  </a:cubicBezTo>
                  <a:cubicBezTo>
                    <a:pt x="358" y="95"/>
                    <a:pt x="455" y="72"/>
                    <a:pt x="520" y="56"/>
                  </a:cubicBezTo>
                  <a:cubicBezTo>
                    <a:pt x="585" y="40"/>
                    <a:pt x="646" y="0"/>
                    <a:pt x="686" y="12"/>
                  </a:cubicBezTo>
                  <a:cubicBezTo>
                    <a:pt x="726" y="24"/>
                    <a:pt x="748" y="76"/>
                    <a:pt x="763" y="130"/>
                  </a:cubicBezTo>
                  <a:cubicBezTo>
                    <a:pt x="778" y="184"/>
                    <a:pt x="783" y="276"/>
                    <a:pt x="779" y="338"/>
                  </a:cubicBezTo>
                  <a:cubicBezTo>
                    <a:pt x="775" y="400"/>
                    <a:pt x="783" y="469"/>
                    <a:pt x="738" y="504"/>
                  </a:cubicBezTo>
                  <a:cubicBezTo>
                    <a:pt x="693" y="539"/>
                    <a:pt x="590" y="541"/>
                    <a:pt x="507" y="546"/>
                  </a:cubicBezTo>
                  <a:cubicBezTo>
                    <a:pt x="424" y="551"/>
                    <a:pt x="316" y="546"/>
                    <a:pt x="238" y="533"/>
                  </a:cubicBezTo>
                  <a:cubicBezTo>
                    <a:pt x="160" y="520"/>
                    <a:pt x="74" y="508"/>
                    <a:pt x="37" y="469"/>
                  </a:cubicBezTo>
                  <a:cubicBezTo>
                    <a:pt x="0" y="430"/>
                    <a:pt x="13" y="344"/>
                    <a:pt x="14" y="296"/>
                  </a:cubicBezTo>
                  <a:cubicBezTo>
                    <a:pt x="15" y="248"/>
                    <a:pt x="27" y="205"/>
                    <a:pt x="46" y="178"/>
                  </a:cubicBezTo>
                  <a:cubicBezTo>
                    <a:pt x="65" y="151"/>
                    <a:pt x="89" y="145"/>
                    <a:pt x="130" y="133"/>
                  </a:cubicBezTo>
                  <a:close/>
                </a:path>
              </a:pathLst>
            </a:custGeom>
            <a:solidFill>
              <a:srgbClr val="DBC9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7940" name="WordArt 4"/>
            <p:cNvSpPr>
              <a:spLocks noChangeArrowheads="1" noChangeShapeType="1" noTextEdit="1"/>
            </p:cNvSpPr>
            <p:nvPr/>
          </p:nvSpPr>
          <p:spPr bwMode="auto">
            <a:xfrm>
              <a:off x="6646863" y="566738"/>
              <a:ext cx="1065212" cy="822325"/>
            </a:xfrm>
            <a:prstGeom prst="rect">
              <a:avLst/>
            </a:prstGeom>
          </p:spPr>
          <p:txBody>
            <a:bodyPr wrap="none" fromWordArt="1">
              <a:prstTxWarp prst="textCurveDown">
                <a:avLst>
                  <a:gd name="adj" fmla="val 43477"/>
                </a:avLst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10" cap="none" spc="0" normalizeH="0" baseline="0" noProof="0"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45791" dir="2021404" algn="ctr" rotWithShape="0">
                      <a:srgbClr val="808080">
                        <a:alpha val="80000"/>
                      </a:srgbClr>
                    </a:outerShdw>
                  </a:effectLst>
                  <a:uLnTx/>
                  <a:uFillTx/>
                  <a:latin typeface="华文新魏"/>
                  <a:ea typeface="华文新魏"/>
                  <a:cs typeface="+mn-cs"/>
                </a:rPr>
                <a:t>作业</a:t>
              </a:r>
            </a:p>
          </p:txBody>
        </p:sp>
      </p:grp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159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559175" y="5663553"/>
            <a:ext cx="2406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本章作业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 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262182" y="1598718"/>
            <a:ext cx="1642327" cy="2757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990600" indent="-990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990600" marR="0" lvl="0" indent="-990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5-1</a:t>
            </a:r>
          </a:p>
          <a:p>
            <a:pPr marL="990600" marR="0" lvl="0" indent="-990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5-5</a:t>
            </a:r>
          </a:p>
          <a:p>
            <a:pPr marL="990600" marR="0" lvl="0" indent="-990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5-6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幼圆" pitchFamily="49" charset="-122"/>
              <a:ea typeface="幼圆" pitchFamily="49" charset="-122"/>
              <a:cs typeface="+mn-cs"/>
            </a:endParaRPr>
          </a:p>
          <a:p>
            <a:pPr marL="990600" marR="0" lvl="0" indent="-990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5-12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幼圆" pitchFamily="49" charset="-122"/>
              <a:ea typeface="幼圆" pitchFamily="49" charset="-122"/>
              <a:cs typeface="+mn-cs"/>
            </a:endParaRPr>
          </a:p>
          <a:p>
            <a:pPr marL="990600" marR="0" lvl="0" indent="-990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5-13</a:t>
            </a:r>
          </a:p>
          <a:p>
            <a:pPr marL="990600" marR="0" lvl="0" indent="-990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5-16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幼圆" pitchFamily="49" charset="-122"/>
              <a:ea typeface="幼圆" pitchFamily="49" charset="-122"/>
              <a:cs typeface="+mn-cs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900" cap="none" spc="-14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第五章：本章概要</a:t>
            </a:r>
            <a:r>
              <a:rPr kumimoji="0" lang="zh-CN" altLang="en-US" sz="2000" b="0" i="0" u="none" strike="noStrike" kern="900" cap="none" spc="-14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endParaRPr kumimoji="0" lang="zh-CN" altLang="en-US" sz="2000" b="0" i="0" u="none" strike="noStrike" kern="900" cap="none" spc="-14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77263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9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0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clipse">
  <a:themeElements>
    <a:clrScheme name="Eclipse 14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FFFF99"/>
      </a:accent1>
      <a:accent2>
        <a:srgbClr val="FF9933"/>
      </a:accent2>
      <a:accent3>
        <a:srgbClr val="FFFFFF"/>
      </a:accent3>
      <a:accent4>
        <a:srgbClr val="000000"/>
      </a:accent4>
      <a:accent5>
        <a:srgbClr val="FFFFCA"/>
      </a:accent5>
      <a:accent6>
        <a:srgbClr val="E78A2D"/>
      </a:accent6>
      <a:hlink>
        <a:srgbClr val="0000FF"/>
      </a:hlink>
      <a:folHlink>
        <a:srgbClr val="FF0000"/>
      </a:folHlink>
    </a:clrScheme>
    <a:fontScheme name="Eclipse">
      <a:majorFont>
        <a:latin typeface="Arial"/>
        <a:ea typeface="华文新魏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3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4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37842</TotalTime>
  <Words>11783</Words>
  <Application>Microsoft Office PowerPoint</Application>
  <PresentationFormat>全屏显示(4:3)</PresentationFormat>
  <Paragraphs>2210</Paragraphs>
  <Slides>159</Slides>
  <Notes>159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159</vt:i4>
      </vt:variant>
    </vt:vector>
  </HeadingPairs>
  <TitlesOfParts>
    <vt:vector size="180" baseType="lpstr">
      <vt:lpstr>Microsoft Yahei</vt:lpstr>
      <vt:lpstr>Monotype Sorts</vt:lpstr>
      <vt:lpstr>方正宋黑简体</vt:lpstr>
      <vt:lpstr>仿宋_GB2312</vt:lpstr>
      <vt:lpstr>黑体</vt:lpstr>
      <vt:lpstr>华文隶书</vt:lpstr>
      <vt:lpstr>华文新魏</vt:lpstr>
      <vt:lpstr>隶书</vt:lpstr>
      <vt:lpstr>宋体</vt:lpstr>
      <vt:lpstr>幼圆</vt:lpstr>
      <vt:lpstr>Arial</vt:lpstr>
      <vt:lpstr>Garamond</vt:lpstr>
      <vt:lpstr>Symbol</vt:lpstr>
      <vt:lpstr>Times New Roman</vt:lpstr>
      <vt:lpstr>Verdana</vt:lpstr>
      <vt:lpstr>Wingdings</vt:lpstr>
      <vt:lpstr>Wingdings 2</vt:lpstr>
      <vt:lpstr>吉祥如意</vt:lpstr>
      <vt:lpstr>Eclipse</vt:lpstr>
      <vt:lpstr>公式</vt:lpstr>
      <vt:lpstr>图像文档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zhang0</dc:creator>
  <cp:lastModifiedBy>Administrator</cp:lastModifiedBy>
  <cp:revision>2862</cp:revision>
  <cp:lastPrinted>2017-12-14T12:33:21Z</cp:lastPrinted>
  <dcterms:created xsi:type="dcterms:W3CDTF">1601-01-01T00:00:00Z</dcterms:created>
  <dcterms:modified xsi:type="dcterms:W3CDTF">2020-11-05T09:14:20Z</dcterms:modified>
</cp:coreProperties>
</file>