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7" r:id="rId2"/>
    <p:sldId id="258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310" r:id="rId26"/>
    <p:sldId id="311" r:id="rId27"/>
    <p:sldId id="312" r:id="rId28"/>
    <p:sldId id="313" r:id="rId29"/>
    <p:sldId id="314" r:id="rId30"/>
    <p:sldId id="315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9" r:id="rId40"/>
    <p:sldId id="300" r:id="rId41"/>
    <p:sldId id="301" r:id="rId42"/>
    <p:sldId id="302" r:id="rId43"/>
    <p:sldId id="303" r:id="rId44"/>
    <p:sldId id="324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05" r:id="rId54"/>
    <p:sldId id="306" r:id="rId55"/>
    <p:sldId id="307" r:id="rId56"/>
    <p:sldId id="308" r:id="rId57"/>
    <p:sldId id="309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8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DA8F6-8E25-4382-9557-E4D3ACEDCEBD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328B2B-4480-4E1D-9CD1-7EA79A7F3F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fld id="{449438E3-CEE6-41C7-80DB-23F6FBDEB346}" type="slidenum">
              <a:rPr lang="zh-CN" altLang="en-US" smtClean="0"/>
              <a:t>11</a:t>
            </a:fld>
            <a:endParaRPr lang="zh-CN" altLang="en-US" smtClean="0"/>
          </a:p>
        </p:txBody>
      </p:sp>
      <p:sp>
        <p:nvSpPr>
          <p:cNvPr id="50178" name="幻灯片图像占位符 159745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0179" name="文本占位符 159746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890FB-F836-4408-86CE-9BD6911C8E2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13926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zh-CN" altLang="en-US"/>
              <a:t>2020/10/1</a:t>
            </a:fld>
            <a:endParaRPr lang="zh-CN" altLang="en-US"/>
          </a:p>
        </p:txBody>
      </p:sp>
      <p:sp>
        <p:nvSpPr>
          <p:cNvPr id="4" name="页脚占位符 13926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13926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47194-51F0-47CA-934D-D8DA59815EE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2020/10/1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wmf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wmf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11" Type="http://schemas.openxmlformats.org/officeDocument/2006/relationships/image" Target="../media/image27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8.png"/><Relationship Id="rId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35.wmf"/><Relationship Id="rId19" Type="http://schemas.openxmlformats.org/officeDocument/2006/relationships/image" Target="../media/image40.png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3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6.jpeg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wmf"/><Relationship Id="rId11" Type="http://schemas.openxmlformats.org/officeDocument/2006/relationships/image" Target="../media/image45.e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8.png"/><Relationship Id="rId4" Type="http://schemas.openxmlformats.org/officeDocument/2006/relationships/image" Target="../media/image4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11" Type="http://schemas.openxmlformats.org/officeDocument/2006/relationships/image" Target="../media/image54.png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34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7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9.wmf"/><Relationship Id="rId9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5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5121"/>
          <p:cNvSpPr>
            <a:spLocks noGrp="1" noChangeArrowheads="1"/>
          </p:cNvSpPr>
          <p:nvPr>
            <p:ph type="ctrTitle"/>
          </p:nvPr>
        </p:nvSpPr>
        <p:spPr>
          <a:xfrm>
            <a:off x="659296" y="2070653"/>
            <a:ext cx="7772400" cy="1470025"/>
          </a:xfrm>
        </p:spPr>
        <p:txBody>
          <a:bodyPr anchor="ctr"/>
          <a:lstStyle/>
          <a:p>
            <a:r>
              <a:rPr lang="en-US" altLang="zh-CN" sz="4400" b="1" dirty="0" smtClean="0">
                <a:latin typeface="Times New Roman" panose="02020603050405020304" pitchFamily="18" charset="0"/>
              </a:rPr>
              <a:t>14</a:t>
            </a:r>
            <a:r>
              <a:rPr lang="zh-CN" altLang="en-US" sz="4400" b="1" dirty="0" smtClean="0">
                <a:latin typeface="Times New Roman" panose="02020603050405020304" pitchFamily="18" charset="0"/>
              </a:rPr>
              <a:t>   </a:t>
            </a:r>
            <a:r>
              <a:rPr lang="zh-CN" altLang="en-US" sz="4400" b="1" dirty="0" smtClean="0"/>
              <a:t>制冷循环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38915"/>
          <p:cNvSpPr txBox="1">
            <a:spLocks noChangeArrowheads="1"/>
          </p:cNvSpPr>
          <p:nvPr/>
        </p:nvSpPr>
        <p:spPr bwMode="auto">
          <a:xfrm>
            <a:off x="2923347" y="2020542"/>
            <a:ext cx="3689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400" b="1" dirty="0" smtClean="0">
                <a:solidFill>
                  <a:srgbClr val="000000"/>
                </a:solidFill>
                <a:latin typeface="+mn-ea"/>
              </a:rPr>
              <a:t>14-1  </a:t>
            </a:r>
            <a:r>
              <a:rPr lang="zh-CN" altLang="en-US" sz="4400" b="1" dirty="0">
                <a:solidFill>
                  <a:srgbClr val="000000"/>
                </a:solidFill>
                <a:latin typeface="+mn-ea"/>
              </a:rPr>
              <a:t>概述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内容占位符 2"/>
          <p:cNvSpPr>
            <a:spLocks noGrp="1" noChangeArrowheads="1"/>
          </p:cNvSpPr>
          <p:nvPr>
            <p:ph idx="1"/>
          </p:nvPr>
        </p:nvSpPr>
        <p:spPr>
          <a:xfrm>
            <a:off x="424070" y="649357"/>
            <a:ext cx="8229600" cy="3419061"/>
          </a:xfrm>
        </p:spPr>
        <p:txBody>
          <a:bodyPr/>
          <a:lstStyle/>
          <a:p>
            <a:r>
              <a:rPr lang="zh-CN" altLang="en-US" b="1" smtClean="0"/>
              <a:t>制冷机和热泵是工程热力学中的另一类能量转换装置，但它们的任务与热机装置不同</a:t>
            </a:r>
          </a:p>
          <a:p>
            <a:r>
              <a:rPr lang="zh-CN" altLang="en-US" b="1" smtClean="0"/>
              <a:t>热机</a:t>
            </a:r>
            <a:r>
              <a:rPr lang="en-US" altLang="zh-CN" b="1" smtClean="0"/>
              <a:t>——</a:t>
            </a:r>
            <a:r>
              <a:rPr lang="zh-CN" altLang="en-US" b="1" smtClean="0"/>
              <a:t>将热能转换为机械能；制冷机和热泵</a:t>
            </a:r>
            <a:r>
              <a:rPr lang="en-US" altLang="zh-CN" b="1" smtClean="0"/>
              <a:t>——</a:t>
            </a:r>
            <a:r>
              <a:rPr lang="zh-CN" altLang="en-US" b="1" smtClean="0"/>
              <a:t>消耗外部机械能（或其他形式的能量），以实现热量由低温物体向高温物体的转移</a:t>
            </a:r>
          </a:p>
          <a:p>
            <a:r>
              <a:rPr lang="zh-CN" altLang="en-US" b="1" smtClean="0"/>
              <a:t>在工程热力学中，通常将热机中所实施的动力循环称为正向循环，制冷机（或热泵）中所实施的制冷循环（或热泵循环）称为逆向循环</a:t>
            </a:r>
            <a:endParaRPr lang="zh-CN" altLang="en-US" b="1" dirty="0" smtClean="0"/>
          </a:p>
        </p:txBody>
      </p:sp>
      <p:sp>
        <p:nvSpPr>
          <p:cNvPr id="10" name="矩形 9"/>
          <p:cNvSpPr/>
          <p:nvPr/>
        </p:nvSpPr>
        <p:spPr>
          <a:xfrm>
            <a:off x="755264" y="4479872"/>
            <a:ext cx="769299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5-2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节曾简要介绍了制冷和热泵循环的工作原理和经济性指标，在学习本章之前可先行回顾</a:t>
            </a:r>
            <a:endParaRPr lang="zh-CN" altLang="en-US" sz="2400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zh-CN" altLang="en-US" b="1" dirty="0" smtClean="0"/>
              <a:t>制冷循环和热泵循环在热力学原理上并无区别，只是</a:t>
            </a:r>
            <a:r>
              <a:rPr lang="zh-CN" altLang="en-US" b="1" dirty="0" smtClean="0">
                <a:solidFill>
                  <a:srgbClr val="FF0000"/>
                </a:solidFill>
              </a:rPr>
              <a:t>使用的目的不同</a:t>
            </a:r>
            <a:r>
              <a:rPr lang="zh-CN" altLang="en-US" b="1" dirty="0" smtClean="0"/>
              <a:t>：制冷循环是从冷库吸热以保持冷库的低温；热泵循环是向暖室放热以保持暖室的高温</a:t>
            </a:r>
          </a:p>
          <a:p>
            <a:r>
              <a:rPr lang="zh-CN" altLang="en-US" b="1" dirty="0" smtClean="0"/>
              <a:t>由于目的不同，在制冷循环和热泵循环中环境大气所充当的“角色”也不相同：制冷循环中，环境大气为热源；热泵循环中，环境大气为冷源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文本框 7"/>
          <p:cNvSpPr txBox="1">
            <a:spLocks noChangeArrowheads="1"/>
          </p:cNvSpPr>
          <p:nvPr/>
        </p:nvSpPr>
        <p:spPr bwMode="auto">
          <a:xfrm>
            <a:off x="2201863" y="6132513"/>
            <a:ext cx="5370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目的不同的制冷循环和热泵循环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27" y="-66389"/>
            <a:ext cx="2286198" cy="6023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117" y="187944"/>
            <a:ext cx="2310584" cy="6047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对象 103426"/>
          <p:cNvGraphicFramePr>
            <a:graphicFrameLocks noChangeAspect="1"/>
          </p:cNvGraphicFramePr>
          <p:nvPr/>
        </p:nvGraphicFramePr>
        <p:xfrm>
          <a:off x="6261100" y="247650"/>
          <a:ext cx="2406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" r:id="rId3" imgW="1358900" imgH="469900" progId="Equation.DSMT4">
                  <p:embed/>
                </p:oleObj>
              </mc:Choice>
              <mc:Fallback>
                <p:oleObj r:id="rId3" imgW="1358900" imgH="469900" progId="Equation.DSMT4">
                  <p:embed/>
                  <p:pic>
                    <p:nvPicPr>
                      <p:cNvPr id="0" name="对象 1034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247650"/>
                        <a:ext cx="24066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文本框 103427"/>
          <p:cNvSpPr txBox="1">
            <a:spLocks noChangeArrowheads="1"/>
          </p:cNvSpPr>
          <p:nvPr/>
        </p:nvSpPr>
        <p:spPr bwMode="auto">
          <a:xfrm>
            <a:off x="3032125" y="14414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4036" name="文本框 103430"/>
          <p:cNvSpPr txBox="1">
            <a:spLocks noChangeArrowheads="1"/>
          </p:cNvSpPr>
          <p:nvPr/>
        </p:nvSpPr>
        <p:spPr bwMode="auto">
          <a:xfrm>
            <a:off x="5927725" y="14414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44039" name="对象 2"/>
          <p:cNvGraphicFramePr>
            <a:graphicFrameLocks noChangeAspect="1"/>
          </p:cNvGraphicFramePr>
          <p:nvPr/>
        </p:nvGraphicFramePr>
        <p:xfrm>
          <a:off x="6219825" y="1441450"/>
          <a:ext cx="24479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r:id="rId5" imgW="1384300" imgH="469900" progId="Equation.DSMT4">
                  <p:embed/>
                </p:oleObj>
              </mc:Choice>
              <mc:Fallback>
                <p:oleObj r:id="rId5" imgW="1384300" imgH="4699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825" y="1441450"/>
                        <a:ext cx="24479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2888" y="354667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制冷循环的经济性指标——制冷系数</a:t>
            </a:r>
          </a:p>
        </p:txBody>
      </p:sp>
      <p:sp>
        <p:nvSpPr>
          <p:cNvPr id="13" name="矩形 12"/>
          <p:cNvSpPr/>
          <p:nvPr/>
        </p:nvSpPr>
        <p:spPr>
          <a:xfrm>
            <a:off x="251361" y="1513215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热泵循环</a:t>
            </a:r>
            <a:r>
              <a:rPr lang="zh-CN" altLang="en-US" sz="2800" b="1" dirty="0"/>
              <a:t>的经济性指标</a:t>
            </a:r>
            <a:r>
              <a:rPr lang="zh-CN" altLang="en-US" sz="2800" b="1" dirty="0" smtClean="0"/>
              <a:t>——供暖系数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530605" y="2842230"/>
            <a:ext cx="763987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这两个指标在工程上也称为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（coefficient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performance）</a:t>
            </a:r>
          </a:p>
        </p:txBody>
      </p:sp>
      <p:sp>
        <p:nvSpPr>
          <p:cNvPr id="6" name="矩形 5"/>
          <p:cNvSpPr/>
          <p:nvPr/>
        </p:nvSpPr>
        <p:spPr>
          <a:xfrm>
            <a:off x="662609" y="4108319"/>
            <a:ext cx="76663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制冷量——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制冷剂在单位时间内从冷库中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吸取的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热量，在工程上常用冷吨（tons of refrigeration）来表示，1冷吨是指1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吨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℃的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饱和水在24小时内冷冻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冰所需要的制冷量，美国1冷吨等于211 kJ/min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5"/>
          <p:cNvSpPr txBox="1">
            <a:spLocks noChangeArrowheads="1"/>
          </p:cNvSpPr>
          <p:nvPr/>
        </p:nvSpPr>
        <p:spPr bwMode="auto">
          <a:xfrm>
            <a:off x="3852863" y="735013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压缩制冷</a:t>
            </a:r>
          </a:p>
        </p:txBody>
      </p:sp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852863" y="1465263"/>
            <a:ext cx="230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吸收式制冷</a:t>
            </a:r>
          </a:p>
        </p:txBody>
      </p:sp>
      <p:sp>
        <p:nvSpPr>
          <p:cNvPr id="45060" name="Text Box 7"/>
          <p:cNvSpPr txBox="1">
            <a:spLocks noChangeArrowheads="1"/>
          </p:cNvSpPr>
          <p:nvPr/>
        </p:nvSpPr>
        <p:spPr bwMode="auto">
          <a:xfrm>
            <a:off x="3854450" y="2016125"/>
            <a:ext cx="2303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吸附式制冷</a:t>
            </a:r>
          </a:p>
        </p:txBody>
      </p:sp>
      <p:sp>
        <p:nvSpPr>
          <p:cNvPr id="45061" name="Text Box 8"/>
          <p:cNvSpPr txBox="1">
            <a:spLocks noChangeArrowheads="1"/>
          </p:cNvSpPr>
          <p:nvPr/>
        </p:nvSpPr>
        <p:spPr bwMode="auto">
          <a:xfrm>
            <a:off x="3852863" y="3111500"/>
            <a:ext cx="2160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半导体制冷</a:t>
            </a:r>
          </a:p>
        </p:txBody>
      </p:sp>
      <p:sp>
        <p:nvSpPr>
          <p:cNvPr id="45062" name="Text Box 9"/>
          <p:cNvSpPr txBox="1">
            <a:spLocks noChangeArrowheads="1"/>
          </p:cNvSpPr>
          <p:nvPr/>
        </p:nvSpPr>
        <p:spPr bwMode="auto">
          <a:xfrm>
            <a:off x="3852863" y="2600900"/>
            <a:ext cx="2982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蒸气喷射式制冷</a:t>
            </a:r>
          </a:p>
        </p:txBody>
      </p:sp>
      <p:sp>
        <p:nvSpPr>
          <p:cNvPr id="45063" name="AutoShape 10"/>
          <p:cNvSpPr/>
          <p:nvPr/>
        </p:nvSpPr>
        <p:spPr bwMode="auto">
          <a:xfrm>
            <a:off x="5724525" y="750888"/>
            <a:ext cx="71438" cy="576262"/>
          </a:xfrm>
          <a:prstGeom prst="leftBrace">
            <a:avLst>
              <a:gd name="adj1" fmla="val 67035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5064" name="Text Box 11"/>
          <p:cNvSpPr txBox="1">
            <a:spLocks noChangeArrowheads="1"/>
          </p:cNvSpPr>
          <p:nvPr/>
        </p:nvSpPr>
        <p:spPr bwMode="auto">
          <a:xfrm>
            <a:off x="5868988" y="476250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空气压缩制冷</a:t>
            </a:r>
          </a:p>
        </p:txBody>
      </p:sp>
      <p:sp>
        <p:nvSpPr>
          <p:cNvPr id="45065" name="Text Box 12"/>
          <p:cNvSpPr txBox="1">
            <a:spLocks noChangeArrowheads="1"/>
          </p:cNvSpPr>
          <p:nvPr/>
        </p:nvSpPr>
        <p:spPr bwMode="auto">
          <a:xfrm>
            <a:off x="5868988" y="1038225"/>
            <a:ext cx="2447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蒸气压缩制冷</a:t>
            </a:r>
          </a:p>
        </p:txBody>
      </p:sp>
      <p:sp>
        <p:nvSpPr>
          <p:cNvPr id="45066" name="AutoShape 13"/>
          <p:cNvSpPr/>
          <p:nvPr/>
        </p:nvSpPr>
        <p:spPr bwMode="auto">
          <a:xfrm flipH="1">
            <a:off x="3636963" y="1038225"/>
            <a:ext cx="217487" cy="2663825"/>
          </a:xfrm>
          <a:prstGeom prst="rightBrace">
            <a:avLst>
              <a:gd name="adj1" fmla="val 101785"/>
              <a:gd name="adj2" fmla="val 50000"/>
            </a:avLst>
          </a:prstGeom>
          <a:noFill/>
          <a:ln w="254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45067" name="Text Box 14"/>
          <p:cNvSpPr txBox="1">
            <a:spLocks noChangeArrowheads="1"/>
          </p:cNvSpPr>
          <p:nvPr/>
        </p:nvSpPr>
        <p:spPr bwMode="auto">
          <a:xfrm>
            <a:off x="3924300" y="3486150"/>
            <a:ext cx="201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宋体" panose="02010600030101010101" pitchFamily="2" charset="-122"/>
              </a:rPr>
              <a:t>……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1402" y="2016125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制冷循环种类</a:t>
            </a:r>
          </a:p>
        </p:txBody>
      </p:sp>
      <p:sp>
        <p:nvSpPr>
          <p:cNvPr id="16" name="矩形 15"/>
          <p:cNvSpPr/>
          <p:nvPr/>
        </p:nvSpPr>
        <p:spPr>
          <a:xfrm>
            <a:off x="490842" y="4307372"/>
            <a:ext cx="81134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日常使用的大部分制冷循环是蒸气压缩式，其中制冷剂时而处于液态，时而处于气态，最终实现热量不断地从冷库传输到环境介质，以维持冷库内的低温。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矩形 91155"/>
          <p:cNvSpPr>
            <a:spLocks noChangeArrowheads="1"/>
          </p:cNvSpPr>
          <p:nvPr/>
        </p:nvSpPr>
        <p:spPr bwMode="auto">
          <a:xfrm>
            <a:off x="2362200" y="1981200"/>
            <a:ext cx="533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000" b="1" dirty="0"/>
              <a:t>14-2  </a:t>
            </a:r>
            <a:r>
              <a:rPr lang="zh-CN" altLang="en-US" sz="4000" b="1" dirty="0"/>
              <a:t>逆卡诺循环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矩形 142340"/>
          <p:cNvSpPr>
            <a:spLocks noChangeArrowheads="1"/>
          </p:cNvSpPr>
          <p:nvPr/>
        </p:nvSpPr>
        <p:spPr bwMode="auto">
          <a:xfrm>
            <a:off x="0" y="1704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6" name="Text Box 16"/>
          <p:cNvSpPr txBox="1">
            <a:spLocks noChangeArrowheads="1"/>
          </p:cNvSpPr>
          <p:nvPr/>
        </p:nvSpPr>
        <p:spPr bwMode="auto">
          <a:xfrm>
            <a:off x="2406650" y="6029325"/>
            <a:ext cx="5334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逆卡诺循环装置示意图和</a:t>
            </a:r>
            <a:r>
              <a:rPr lang="en-US" altLang="zh-CN" sz="2400" b="1" i="1">
                <a:latin typeface="Times New Roman" panose="02020603050405020304" pitchFamily="18" charset="0"/>
              </a:rPr>
              <a:t>T-s</a:t>
            </a:r>
            <a:r>
              <a:rPr lang="zh-CN" altLang="en-US" sz="2400" b="1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47107" name="矩形 142343"/>
          <p:cNvSpPr>
            <a:spLocks noChangeArrowheads="1"/>
          </p:cNvSpPr>
          <p:nvPr/>
        </p:nvSpPr>
        <p:spPr bwMode="auto">
          <a:xfrm>
            <a:off x="0" y="1704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Text Box 16"/>
          <p:cNvSpPr txBox="1">
            <a:spLocks noChangeArrowheads="1"/>
          </p:cNvSpPr>
          <p:nvPr/>
        </p:nvSpPr>
        <p:spPr bwMode="auto">
          <a:xfrm>
            <a:off x="438150" y="431800"/>
            <a:ext cx="533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一、工作原理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62" y="996485"/>
            <a:ext cx="7242676" cy="4865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矩形 143364"/>
          <p:cNvSpPr>
            <a:spLocks noChangeArrowheads="1"/>
          </p:cNvSpPr>
          <p:nvPr/>
        </p:nvSpPr>
        <p:spPr bwMode="auto">
          <a:xfrm>
            <a:off x="0" y="1647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1" name="矩形 143365"/>
          <p:cNvSpPr>
            <a:spLocks noChangeArrowheads="1"/>
          </p:cNvSpPr>
          <p:nvPr/>
        </p:nvSpPr>
        <p:spPr bwMode="auto">
          <a:xfrm>
            <a:off x="381000" y="5715000"/>
            <a:ext cx="854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/>
              <a:t>逆卡诺循环中，在蒸发和冷凝过程中实现无温差的可逆热交换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553" y="380775"/>
            <a:ext cx="4224894" cy="5182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6"/>
          <p:cNvSpPr txBox="1">
            <a:spLocks noChangeArrowheads="1"/>
          </p:cNvSpPr>
          <p:nvPr/>
        </p:nvSpPr>
        <p:spPr bwMode="auto">
          <a:xfrm>
            <a:off x="609600" y="457200"/>
            <a:ext cx="533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二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、制冷系数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9155" name="矩形 15872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56" name="对象 158725"/>
          <p:cNvGraphicFramePr>
            <a:graphicFrameLocks noChangeAspect="1"/>
          </p:cNvGraphicFramePr>
          <p:nvPr/>
        </p:nvGraphicFramePr>
        <p:xfrm>
          <a:off x="736600" y="1531011"/>
          <a:ext cx="1980340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" r:id="rId4" imgW="989965" imgH="254000" progId="Equation.DSMT4">
                  <p:embed/>
                </p:oleObj>
              </mc:Choice>
              <mc:Fallback>
                <p:oleObj r:id="rId4" imgW="989965" imgH="254000" progId="Equation.DSMT4">
                  <p:embed/>
                  <p:pic>
                    <p:nvPicPr>
                      <p:cNvPr id="0" name="对象 15872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1531011"/>
                        <a:ext cx="1980340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矩形 158728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58" name="对象 158727"/>
          <p:cNvGraphicFramePr/>
          <p:nvPr/>
        </p:nvGraphicFramePr>
        <p:xfrm>
          <a:off x="736600" y="2345068"/>
          <a:ext cx="2031118" cy="5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" r:id="rId6" imgW="1015365" imgH="254000" progId="Equation.DSMT4">
                  <p:embed/>
                </p:oleObj>
              </mc:Choice>
              <mc:Fallback>
                <p:oleObj r:id="rId6" imgW="1015365" imgH="254000" progId="Equation.DSMT4">
                  <p:embed/>
                  <p:pic>
                    <p:nvPicPr>
                      <p:cNvPr id="0" name="对象 15872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2345068"/>
                        <a:ext cx="2031118" cy="50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矩形 158730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60" name="对象 158729"/>
          <p:cNvGraphicFramePr>
            <a:graphicFrameLocks noChangeAspect="1"/>
          </p:cNvGraphicFramePr>
          <p:nvPr/>
        </p:nvGraphicFramePr>
        <p:xfrm>
          <a:off x="381000" y="3352800"/>
          <a:ext cx="558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3" r:id="rId8" imgW="2794000" imgH="254000" progId="Equation.DSMT4">
                  <p:embed/>
                </p:oleObj>
              </mc:Choice>
              <mc:Fallback>
                <p:oleObj r:id="rId8" imgW="2794000" imgH="254000" progId="Equation.DSMT4">
                  <p:embed/>
                  <p:pic>
                    <p:nvPicPr>
                      <p:cNvPr id="0" name="对象 15872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52800"/>
                        <a:ext cx="5588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矩形 158732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62" name="对象 158731"/>
          <p:cNvGraphicFramePr/>
          <p:nvPr/>
        </p:nvGraphicFramePr>
        <p:xfrm>
          <a:off x="381000" y="4038600"/>
          <a:ext cx="7086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4" r:id="rId10" imgW="3149600" imgH="469900" progId="Equation.DSMT4">
                  <p:embed/>
                </p:oleObj>
              </mc:Choice>
              <mc:Fallback>
                <p:oleObj r:id="rId10" imgW="3149600" imgH="469900" progId="Equation.DSMT4">
                  <p:embed/>
                  <p:pic>
                    <p:nvPicPr>
                      <p:cNvPr id="0" name="对象 15873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38600"/>
                        <a:ext cx="7086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矩形 158733"/>
          <p:cNvSpPr>
            <a:spLocks noChangeArrowheads="1"/>
          </p:cNvSpPr>
          <p:nvPr/>
        </p:nvSpPr>
        <p:spPr bwMode="auto">
          <a:xfrm>
            <a:off x="288236" y="5242036"/>
            <a:ext cx="384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可以大于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、等于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或小于</a:t>
            </a:r>
            <a:r>
              <a:rPr lang="en-US" altLang="zh-CN" sz="2400" b="1" dirty="0">
                <a:solidFill>
                  <a:srgbClr val="FF0000"/>
                </a:solidFill>
              </a:rPr>
              <a:t>1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530087" y="4790661"/>
            <a:ext cx="206513" cy="416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551" y="192991"/>
            <a:ext cx="2853175" cy="3133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1" name="对象 157699"/>
          <p:cNvGraphicFramePr/>
          <p:nvPr/>
        </p:nvGraphicFramePr>
        <p:xfrm>
          <a:off x="3200400" y="381000"/>
          <a:ext cx="20859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r:id="rId3" imgW="926465" imgH="431800" progId="Equation.DSMT4">
                  <p:embed/>
                </p:oleObj>
              </mc:Choice>
              <mc:Fallback>
                <p:oleObj r:id="rId3" imgW="926465" imgH="431800" progId="Equation.DSMT4">
                  <p:embed/>
                  <p:pic>
                    <p:nvPicPr>
                      <p:cNvPr id="0" name="对象 15769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81000"/>
                        <a:ext cx="208597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2" name="矩形 157700"/>
          <p:cNvSpPr>
            <a:spLocks noChangeArrowheads="1"/>
          </p:cNvSpPr>
          <p:nvPr/>
        </p:nvSpPr>
        <p:spPr bwMode="auto">
          <a:xfrm>
            <a:off x="533400" y="1733550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</a:rPr>
              <a:t>为得到更高的制冷系数，应尽量减小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H</a:t>
            </a:r>
            <a:r>
              <a:rPr lang="zh-CN" altLang="en-US" sz="2800" b="1">
                <a:latin typeface="Times New Roman" panose="02020603050405020304" pitchFamily="18" charset="0"/>
              </a:rPr>
              <a:t>和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之间的差别，即尽可能地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降低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2800" b="1">
                <a:latin typeface="Times New Roman" panose="02020603050405020304" pitchFamily="18" charset="0"/>
              </a:rPr>
              <a:t>，并尽可能地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提高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。</a:t>
            </a:r>
          </a:p>
          <a:p>
            <a:endParaRPr lang="zh-CN" altLang="en-US" sz="2800" b="1">
              <a:latin typeface="Times New Roman" panose="02020603050405020304" pitchFamily="18" charset="0"/>
            </a:endParaRPr>
          </a:p>
          <a:p>
            <a:r>
              <a:rPr lang="zh-CN" altLang="en-US" sz="2800" b="1">
                <a:latin typeface="Times New Roman" panose="02020603050405020304" pitchFamily="18" charset="0"/>
              </a:rPr>
              <a:t>通俗地讲，就是尽量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离得近一些</a:t>
            </a:r>
            <a:r>
              <a:rPr lang="zh-CN" altLang="en-US" sz="2800" b="1">
                <a:latin typeface="Times New Roman" panose="02020603050405020304" pitchFamily="18" charset="0"/>
              </a:rPr>
              <a:t>。</a:t>
            </a:r>
          </a:p>
          <a:p>
            <a:endParaRPr lang="zh-CN" altLang="en-US" sz="2800" b="1">
              <a:latin typeface="Times New Roman" panose="02020603050405020304" pitchFamily="18" charset="0"/>
            </a:endParaRPr>
          </a:p>
          <a:p>
            <a:r>
              <a:rPr lang="zh-CN" altLang="en-US" sz="2800" b="1">
                <a:latin typeface="Times New Roman" panose="02020603050405020304" pitchFamily="18" charset="0"/>
              </a:rPr>
              <a:t>一般来说，</a:t>
            </a:r>
            <a:r>
              <a:rPr lang="en-US" altLang="zh-CN" sz="2800" b="1" i="1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H</a:t>
            </a:r>
            <a:r>
              <a:rPr lang="zh-CN" altLang="en-US" sz="2800" b="1">
                <a:latin typeface="Times New Roman" panose="02020603050405020304" pitchFamily="18" charset="0"/>
              </a:rPr>
              <a:t>（即环境大气的温度）是给定的，那么为了得到更高的制冷系数（即取得更好的经济效益），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没有必要把冷库的温度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定得超乎需要的低</a:t>
            </a:r>
            <a:r>
              <a:rPr lang="zh-CN" altLang="en-US" sz="2800" b="1">
                <a:latin typeface="Times New Roman" panose="02020603050405020304" pitchFamily="18" charset="0"/>
              </a:rPr>
              <a:t>，只要满足制冷装置服务对象所需要的温度就可以了。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矩形 144388"/>
          <p:cNvSpPr>
            <a:spLocks noChangeArrowheads="1"/>
          </p:cNvSpPr>
          <p:nvPr/>
        </p:nvSpPr>
        <p:spPr bwMode="auto">
          <a:xfrm>
            <a:off x="0" y="1662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7" name="矩形 144390"/>
          <p:cNvSpPr>
            <a:spLocks noChangeArrowheads="1"/>
          </p:cNvSpPr>
          <p:nvPr/>
        </p:nvSpPr>
        <p:spPr bwMode="auto">
          <a:xfrm>
            <a:off x="0" y="2024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矩形 144391"/>
          <p:cNvSpPr>
            <a:spLocks noChangeArrowheads="1"/>
          </p:cNvSpPr>
          <p:nvPr/>
        </p:nvSpPr>
        <p:spPr bwMode="auto">
          <a:xfrm>
            <a:off x="387350" y="330200"/>
            <a:ext cx="62611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/>
              <a:t>三、逆卡诺循环与其他制冷循环的比较 </a:t>
            </a:r>
          </a:p>
        </p:txBody>
      </p:sp>
      <p:sp>
        <p:nvSpPr>
          <p:cNvPr id="52229" name="文本框 1"/>
          <p:cNvSpPr txBox="1">
            <a:spLocks noChangeArrowheads="1"/>
          </p:cNvSpPr>
          <p:nvPr/>
        </p:nvSpPr>
        <p:spPr bwMode="auto">
          <a:xfrm>
            <a:off x="611188" y="1044575"/>
            <a:ext cx="77565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/>
              <a:t>当</a:t>
            </a:r>
            <a:r>
              <a:rPr lang="zh-CN" altLang="en-US" sz="2400" b="1" dirty="0"/>
              <a:t>高温热源（温度为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/>
              <a:t>）和低温热源（温度为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/>
              <a:t> ）给定时，</a:t>
            </a:r>
            <a:r>
              <a:rPr lang="zh-CN" altLang="en-US" sz="2400" b="1" dirty="0">
                <a:solidFill>
                  <a:srgbClr val="FF0000"/>
                </a:solidFill>
              </a:rPr>
              <a:t>逆卡诺循环是工作在这两个热源间的最有效的制冷循环</a:t>
            </a:r>
            <a:r>
              <a:rPr lang="zh-CN" altLang="en-US" sz="2400" b="1" dirty="0"/>
              <a:t>。这里的“最有效”是指与工作在这两个热源间的其他实际制冷循环相比，逆卡诺循环的制冷系数最大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431" y="2806322"/>
            <a:ext cx="4676037" cy="3816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矩形 144392"/>
          <p:cNvSpPr>
            <a:spLocks noChangeArrowheads="1"/>
          </p:cNvSpPr>
          <p:nvPr/>
        </p:nvSpPr>
        <p:spPr bwMode="auto">
          <a:xfrm>
            <a:off x="4648200" y="251460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环境温度</a:t>
            </a:r>
          </a:p>
        </p:txBody>
      </p:sp>
      <p:sp>
        <p:nvSpPr>
          <p:cNvPr id="53251" name="矩形 144393"/>
          <p:cNvSpPr>
            <a:spLocks noChangeArrowheads="1"/>
          </p:cNvSpPr>
          <p:nvPr/>
        </p:nvSpPr>
        <p:spPr bwMode="auto">
          <a:xfrm>
            <a:off x="4664075" y="348615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冷库温度</a:t>
            </a:r>
          </a:p>
        </p:txBody>
      </p:sp>
      <p:sp>
        <p:nvSpPr>
          <p:cNvPr id="53252" name="矩形 144391"/>
          <p:cNvSpPr>
            <a:spLocks noChangeArrowheads="1"/>
          </p:cNvSpPr>
          <p:nvPr/>
        </p:nvSpPr>
        <p:spPr bwMode="auto">
          <a:xfrm>
            <a:off x="419100" y="1209675"/>
            <a:ext cx="4467225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、比较的</a:t>
            </a:r>
            <a:r>
              <a:rPr lang="zh-CN" altLang="en-US" sz="2400" b="1" dirty="0" smtClean="0"/>
              <a:t>前提</a:t>
            </a:r>
            <a:r>
              <a:rPr lang="zh-CN" altLang="en-US" sz="2400" b="1" dirty="0"/>
              <a:t>：</a:t>
            </a:r>
            <a:r>
              <a:rPr lang="zh-CN" altLang="en-US" sz="2400" b="1" dirty="0" smtClean="0"/>
              <a:t>仅</a:t>
            </a:r>
            <a:r>
              <a:rPr lang="zh-CN" altLang="en-US" sz="2400" b="1" dirty="0"/>
              <a:t>有两个热源，即“一个”高温热源和“一个”低温</a:t>
            </a:r>
            <a:r>
              <a:rPr lang="zh-CN" altLang="en-US" sz="2400" b="1" dirty="0" smtClean="0"/>
              <a:t>热源</a:t>
            </a:r>
            <a:endParaRPr lang="zh-CN" altLang="en-US" sz="2400" b="1" dirty="0"/>
          </a:p>
        </p:txBody>
      </p:sp>
      <p:sp>
        <p:nvSpPr>
          <p:cNvPr id="53253" name="矩形 1"/>
          <p:cNvSpPr>
            <a:spLocks noChangeArrowheads="1"/>
          </p:cNvSpPr>
          <p:nvPr/>
        </p:nvSpPr>
        <p:spPr bwMode="auto">
          <a:xfrm>
            <a:off x="514350" y="457200"/>
            <a:ext cx="19700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/>
              <a:t>强调两点： </a:t>
            </a:r>
          </a:p>
        </p:txBody>
      </p:sp>
      <p:sp>
        <p:nvSpPr>
          <p:cNvPr id="53254" name="文本框 2"/>
          <p:cNvSpPr txBox="1">
            <a:spLocks noChangeArrowheads="1"/>
          </p:cNvSpPr>
          <p:nvPr/>
        </p:nvSpPr>
        <p:spPr bwMode="auto">
          <a:xfrm>
            <a:off x="419100" y="2657475"/>
            <a:ext cx="421005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2、“工作在两个热源间”并不是指循环中制冷剂的温度介于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两个温度值之间，而是指制冷剂从温度为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的冷源吸热，向温度为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的热源放热，从而完成制冷循环。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而为了实现这样的吸、放热过程，制冷剂吸热时的温度要始终低于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，放热时的温度要始终高于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0070C0"/>
                </a:solidFill>
                <a:latin typeface="Times New Roman" panose="02020603050405020304" pitchFamily="18" charset="0"/>
              </a:rPr>
              <a:t>H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550" y="1139507"/>
            <a:ext cx="3023878" cy="4115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45409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-107950"/>
            <a:ext cx="8229600" cy="1143000"/>
          </a:xfrm>
        </p:spPr>
        <p:txBody>
          <a:bodyPr/>
          <a:lstStyle/>
          <a:p>
            <a:pPr algn="l"/>
            <a:r>
              <a:rPr lang="zh-CN" altLang="en-US" sz="2800" b="1" dirty="0" smtClean="0"/>
              <a:t>四、逆卡诺循环在应用中存在的问题</a:t>
            </a:r>
          </a:p>
        </p:txBody>
      </p:sp>
      <p:sp>
        <p:nvSpPr>
          <p:cNvPr id="54275" name="Text Box 34"/>
          <p:cNvSpPr txBox="1">
            <a:spLocks noChangeArrowheads="1"/>
          </p:cNvSpPr>
          <p:nvPr/>
        </p:nvSpPr>
        <p:spPr bwMode="auto">
          <a:xfrm>
            <a:off x="996950" y="928688"/>
            <a:ext cx="5486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两个定温过程不难实现（相变）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4276" name="Text Box 34"/>
          <p:cNvSpPr txBox="1">
            <a:spLocks noChangeArrowheads="1"/>
          </p:cNvSpPr>
          <p:nvPr/>
        </p:nvSpPr>
        <p:spPr bwMode="auto">
          <a:xfrm>
            <a:off x="996950" y="158432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</a:rPr>
              <a:t>难以实现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的是两个定熵过程！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4277" name="矩形 146436"/>
          <p:cNvSpPr>
            <a:spLocks noChangeArrowheads="1"/>
          </p:cNvSpPr>
          <p:nvPr/>
        </p:nvSpPr>
        <p:spPr bwMode="auto">
          <a:xfrm>
            <a:off x="3236913" y="2376488"/>
            <a:ext cx="529748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dirty="0"/>
              <a:t>1-2</a:t>
            </a:r>
            <a:r>
              <a:rPr lang="zh-CN" altLang="en-US" sz="2400" b="1" dirty="0"/>
              <a:t>过程涉及到气、液混合物的压缩，也称湿压缩，由于液体的不可压缩性造成液滴对压缩机缸头或压缩叶片的撞击，不利于</a:t>
            </a:r>
            <a:r>
              <a:rPr lang="zh-CN" altLang="en-US" sz="2400" b="1" dirty="0" smtClean="0"/>
              <a:t>压气机</a:t>
            </a:r>
            <a:r>
              <a:rPr lang="zh-CN" altLang="en-US" sz="2400" b="1" dirty="0"/>
              <a:t>的安全工作； </a:t>
            </a:r>
          </a:p>
        </p:txBody>
      </p:sp>
      <p:sp>
        <p:nvSpPr>
          <p:cNvPr id="54278" name="矩形 146437"/>
          <p:cNvSpPr>
            <a:spLocks noChangeArrowheads="1"/>
          </p:cNvSpPr>
          <p:nvPr/>
        </p:nvSpPr>
        <p:spPr bwMode="auto">
          <a:xfrm>
            <a:off x="3236913" y="4217988"/>
            <a:ext cx="51768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/>
              <a:t>在膨胀过程</a:t>
            </a:r>
            <a:r>
              <a:rPr lang="en-US" altLang="zh-CN" sz="2400" b="1" dirty="0"/>
              <a:t>3-4</a:t>
            </a:r>
            <a:r>
              <a:rPr lang="zh-CN" altLang="en-US" sz="2400" b="1" dirty="0"/>
              <a:t>中，制冷剂蒸气的干度很小，对于膨胀机也不利。 </a:t>
            </a:r>
          </a:p>
        </p:txBody>
      </p:sp>
      <p:sp>
        <p:nvSpPr>
          <p:cNvPr id="54279" name="矩形 146438"/>
          <p:cNvSpPr>
            <a:spLocks noChangeArrowheads="1"/>
          </p:cNvSpPr>
          <p:nvPr/>
        </p:nvSpPr>
        <p:spPr bwMode="auto">
          <a:xfrm>
            <a:off x="1485900" y="5946775"/>
            <a:ext cx="634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需要对两个定熵过程进行改进，具体见下一节</a:t>
            </a:r>
            <a:r>
              <a:rPr lang="zh-CN" altLang="en-US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09" y="2000250"/>
            <a:ext cx="3194581" cy="3627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38915"/>
          <p:cNvSpPr txBox="1">
            <a:spLocks noChangeArrowheads="1"/>
          </p:cNvSpPr>
          <p:nvPr/>
        </p:nvSpPr>
        <p:spPr bwMode="auto">
          <a:xfrm>
            <a:off x="1498738" y="1987412"/>
            <a:ext cx="64061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400" b="1" dirty="0" smtClean="0">
                <a:solidFill>
                  <a:srgbClr val="000000"/>
                </a:solidFill>
                <a:latin typeface="+mn-ea"/>
              </a:rPr>
              <a:t>14-3  </a:t>
            </a:r>
            <a:r>
              <a:rPr lang="zh-CN" altLang="en-US" sz="4400" b="1" dirty="0" smtClean="0">
                <a:solidFill>
                  <a:srgbClr val="000000"/>
                </a:solidFill>
                <a:latin typeface="+mn-ea"/>
              </a:rPr>
              <a:t>蒸气压缩制冷循环</a:t>
            </a:r>
            <a:endParaRPr lang="zh-CN" altLang="en-US" sz="44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3" y="747652"/>
            <a:ext cx="7315834" cy="5505165"/>
          </a:xfrm>
          <a:prstGeom prst="rect">
            <a:avLst/>
          </a:prstGeom>
        </p:spPr>
      </p:pic>
      <p:sp>
        <p:nvSpPr>
          <p:cNvPr id="56321" name="矩形 148486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8493" name="组合 148492"/>
          <p:cNvGrpSpPr/>
          <p:nvPr/>
        </p:nvGrpSpPr>
        <p:grpSpPr bwMode="auto">
          <a:xfrm>
            <a:off x="6032500" y="4398411"/>
            <a:ext cx="2895600" cy="1524000"/>
            <a:chOff x="3792" y="2208"/>
            <a:chExt cx="1824" cy="96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6324" name="矩形标注 148489"/>
            <p:cNvSpPr>
              <a:spLocks noChangeArrowheads="1"/>
            </p:cNvSpPr>
            <p:nvPr/>
          </p:nvSpPr>
          <p:spPr bwMode="auto">
            <a:xfrm>
              <a:off x="3792" y="2208"/>
              <a:ext cx="1824" cy="960"/>
            </a:xfrm>
            <a:prstGeom prst="wedgeRectCallout">
              <a:avLst>
                <a:gd name="adj1" fmla="val -57509"/>
                <a:gd name="adj2" fmla="val -46250"/>
              </a:avLst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56325" name="矩形 148488"/>
            <p:cNvSpPr>
              <a:spLocks noChangeArrowheads="1"/>
            </p:cNvSpPr>
            <p:nvPr/>
          </p:nvSpPr>
          <p:spPr bwMode="auto">
            <a:xfrm>
              <a:off x="3840" y="2256"/>
              <a:ext cx="1776" cy="82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000" b="1" dirty="0"/>
                <a:t>为避免压缩两相物质，也为了增加制冷量，使工质完全气化后再进行压缩（干压缩） </a:t>
              </a:r>
            </a:p>
          </p:txBody>
        </p:sp>
      </p:grpSp>
      <p:sp>
        <p:nvSpPr>
          <p:cNvPr id="56330" name="标题 145409"/>
          <p:cNvSpPr>
            <a:spLocks noGrp="1" noChangeArrowheads="1"/>
          </p:cNvSpPr>
          <p:nvPr/>
        </p:nvSpPr>
        <p:spPr bwMode="auto">
          <a:xfrm>
            <a:off x="263525" y="-1460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800" b="1" dirty="0"/>
              <a:t>一、工作原理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404732" y="4790109"/>
            <a:ext cx="2458278" cy="1497495"/>
            <a:chOff x="1338471" y="5015948"/>
            <a:chExt cx="2458278" cy="1497495"/>
          </a:xfrm>
        </p:grpSpPr>
        <p:sp>
          <p:nvSpPr>
            <p:cNvPr id="17" name="线形标注 2 148490"/>
            <p:cNvSpPr/>
            <p:nvPr/>
          </p:nvSpPr>
          <p:spPr bwMode="auto">
            <a:xfrm>
              <a:off x="1338471" y="5015948"/>
              <a:ext cx="2458278" cy="1497495"/>
            </a:xfrm>
            <a:prstGeom prst="borderCallout2">
              <a:avLst>
                <a:gd name="adj1" fmla="val 10000"/>
                <a:gd name="adj2" fmla="val 103227"/>
                <a:gd name="adj3" fmla="val 10000"/>
                <a:gd name="adj4" fmla="val 113843"/>
                <a:gd name="adj5" fmla="val -58646"/>
                <a:gd name="adj6" fmla="val 11939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8" name="矩形 148491"/>
            <p:cNvSpPr>
              <a:spLocks noChangeArrowheads="1"/>
            </p:cNvSpPr>
            <p:nvPr/>
          </p:nvSpPr>
          <p:spPr bwMode="auto">
            <a:xfrm>
              <a:off x="1384854" y="5102209"/>
              <a:ext cx="2385391" cy="13234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000" b="1" dirty="0"/>
                <a:t>节流阀代替膨胀</a:t>
              </a:r>
              <a:r>
                <a:rPr lang="zh-CN" altLang="en-US" sz="2000" b="1" dirty="0" smtClean="0"/>
                <a:t>机：</a:t>
              </a:r>
              <a:r>
                <a:rPr lang="en-US" altLang="zh-CN" sz="2000" b="1" dirty="0" smtClean="0"/>
                <a:t>1</a:t>
              </a:r>
              <a:r>
                <a:rPr lang="zh-CN" altLang="en-US" sz="2000" b="1" dirty="0" smtClean="0"/>
                <a:t>、简化</a:t>
              </a:r>
              <a:r>
                <a:rPr lang="zh-CN" altLang="en-US" sz="2000" b="1" dirty="0"/>
                <a:t>设备，提高</a:t>
              </a:r>
              <a:r>
                <a:rPr lang="zh-CN" altLang="en-US" sz="2000" b="1" dirty="0" smtClean="0"/>
                <a:t>可靠性；</a:t>
              </a:r>
              <a:r>
                <a:rPr lang="en-US" altLang="zh-CN" sz="2000" b="1" dirty="0" smtClean="0"/>
                <a:t>2</a:t>
              </a:r>
              <a:r>
                <a:rPr lang="zh-CN" altLang="en-US" sz="2000" b="1" dirty="0" smtClean="0"/>
                <a:t>、实现冷库温度的连续调节</a:t>
              </a:r>
              <a:endParaRPr lang="zh-CN" altLang="en-US" sz="2000" b="1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535" y="179333"/>
            <a:ext cx="1993565" cy="22618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6752" y="4686346"/>
            <a:ext cx="72489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1-2</a:t>
            </a:r>
            <a:r>
              <a:rPr lang="zh-CN" altLang="en-US" sz="2400" b="1" dirty="0"/>
              <a:t>：制冷剂在进入压气机时处于干饱和蒸气状态1，在压气机（活塞式或叶轮式）中被</a:t>
            </a:r>
            <a:r>
              <a:rPr lang="zh-CN" altLang="en-US" sz="2400" b="1" dirty="0">
                <a:solidFill>
                  <a:srgbClr val="FF0000"/>
                </a:solidFill>
              </a:rPr>
              <a:t>定熵压缩</a:t>
            </a:r>
            <a:r>
              <a:rPr lang="zh-CN" altLang="en-US" sz="2400" b="1" dirty="0"/>
              <a:t>至冷凝压力，同时</a:t>
            </a:r>
            <a:r>
              <a:rPr lang="zh-CN" altLang="en-US" sz="2400" b="1" dirty="0">
                <a:solidFill>
                  <a:srgbClr val="0070C0"/>
                </a:solidFill>
              </a:rPr>
              <a:t>制冷剂的温度提高至环境温度以上</a:t>
            </a:r>
            <a:r>
              <a:rPr lang="zh-CN" altLang="en-US" sz="2400" b="1" dirty="0"/>
              <a:t>，其目的是为了在冷凝阶段可以向环境介质</a:t>
            </a:r>
            <a:r>
              <a:rPr lang="zh-CN" altLang="en-US" sz="2400" b="1" dirty="0" smtClean="0"/>
              <a:t>放热。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21" y="70096"/>
            <a:ext cx="6352583" cy="477967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21" y="-102180"/>
            <a:ext cx="6352583" cy="4779678"/>
          </a:xfrm>
          <a:prstGeom prst="rect">
            <a:avLst/>
          </a:prstGeom>
        </p:spPr>
      </p:pic>
      <p:sp>
        <p:nvSpPr>
          <p:cNvPr id="56321" name="矩形 148486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93013" y="4588853"/>
            <a:ext cx="72489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2-3</a:t>
            </a:r>
            <a:r>
              <a:rPr lang="zh-CN" altLang="en-US" sz="2400" b="1" dirty="0"/>
              <a:t>：制冷剂在冷凝器中</a:t>
            </a:r>
            <a:r>
              <a:rPr lang="zh-CN" altLang="en-US" sz="2400" b="1" dirty="0">
                <a:solidFill>
                  <a:srgbClr val="FF0000"/>
                </a:solidFill>
              </a:rPr>
              <a:t>定压放热</a:t>
            </a:r>
            <a:r>
              <a:rPr lang="zh-CN" altLang="en-US" sz="2400" b="1" dirty="0"/>
              <a:t>，过热的制冷剂蒸气（状态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）先定压降温至对应的饱和温度，然后继续定压（同时也是定温）冷凝成饱和液状态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。考虑到冷凝器中的换热过程需具有一定的温差，因此</a:t>
            </a:r>
            <a:r>
              <a:rPr lang="zh-CN" altLang="en-US" sz="2400" b="1" dirty="0">
                <a:solidFill>
                  <a:srgbClr val="0070C0"/>
                </a:solidFill>
              </a:rPr>
              <a:t>在状态点</a:t>
            </a:r>
            <a:r>
              <a:rPr lang="en-US" altLang="zh-CN" sz="2400" b="1" dirty="0">
                <a:solidFill>
                  <a:srgbClr val="0070C0"/>
                </a:solidFill>
              </a:rPr>
              <a:t>3</a:t>
            </a:r>
            <a:r>
              <a:rPr lang="zh-CN" altLang="en-US" sz="2400" b="1" dirty="0">
                <a:solidFill>
                  <a:srgbClr val="0070C0"/>
                </a:solidFill>
              </a:rPr>
              <a:t>，制冷剂的温度仍然高于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环境温度</a:t>
            </a:r>
            <a:r>
              <a:rPr lang="zh-CN" altLang="en-US" sz="2400" b="1" dirty="0"/>
              <a:t>。</a:t>
            </a:r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876800" y="236220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8061325" y="2076450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Equation" r:id="rId5" imgW="4267200" imgH="5486400" progId="Equation.DSMT4">
                  <p:embed/>
                </p:oleObj>
              </mc:Choice>
              <mc:Fallback>
                <p:oleObj name="Equation" r:id="rId5" imgW="4267200" imgH="5486400" progId="Equation.DSMT4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2076450"/>
                        <a:ext cx="44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矩形 148486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93013" y="4588853"/>
            <a:ext cx="72489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3-4</a:t>
            </a:r>
            <a:r>
              <a:rPr lang="zh-CN" altLang="en-US" sz="2400" b="1" dirty="0" smtClean="0"/>
              <a:t>：制冷剂</a:t>
            </a:r>
            <a:r>
              <a:rPr lang="zh-CN" altLang="en-US" sz="2400" b="1" dirty="0"/>
              <a:t>在节流阀中绝热节流，节流后制冷剂</a:t>
            </a:r>
            <a:r>
              <a:rPr lang="zh-CN" altLang="en-US" sz="2400" b="1" dirty="0">
                <a:solidFill>
                  <a:srgbClr val="0070C0"/>
                </a:solidFill>
              </a:rPr>
              <a:t>压力降低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，</a:t>
            </a:r>
            <a:r>
              <a:rPr lang="zh-CN" altLang="en-US" sz="2400" b="1" dirty="0">
                <a:solidFill>
                  <a:srgbClr val="0070C0"/>
                </a:solidFill>
              </a:rPr>
              <a:t>温度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降低，焓</a:t>
            </a:r>
            <a:r>
              <a:rPr lang="zh-CN" altLang="en-US" sz="2400" b="1" dirty="0">
                <a:solidFill>
                  <a:srgbClr val="0070C0"/>
                </a:solidFill>
              </a:rPr>
              <a:t>不变，熵增加</a:t>
            </a:r>
            <a:r>
              <a:rPr lang="zh-CN" altLang="en-US" sz="2400" b="1" dirty="0" smtClean="0"/>
              <a:t>。该</a:t>
            </a:r>
            <a:r>
              <a:rPr lang="zh-CN" altLang="en-US" sz="2400" b="1" dirty="0"/>
              <a:t>过程结束后，制冷剂达到湿饱和蒸气状态</a:t>
            </a:r>
            <a:r>
              <a:rPr lang="en-US" altLang="zh-CN" sz="2400" b="1" dirty="0"/>
              <a:t>4</a:t>
            </a:r>
            <a:r>
              <a:rPr lang="zh-CN" altLang="en-US" sz="2400" b="1" dirty="0" smtClean="0"/>
              <a:t>。在</a:t>
            </a:r>
            <a:r>
              <a:rPr lang="zh-CN" altLang="en-US" sz="2400" b="1" dirty="0"/>
              <a:t>选择节流后的压力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/>
              <a:t>时，应</a:t>
            </a:r>
            <a:r>
              <a:rPr lang="zh-CN" altLang="en-US" sz="2400" b="1" dirty="0" smtClean="0"/>
              <a:t>使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/>
              <a:t>对应</a:t>
            </a:r>
            <a:r>
              <a:rPr lang="zh-CN" altLang="en-US" sz="2400" b="1" dirty="0"/>
              <a:t>的饱和</a:t>
            </a:r>
            <a:r>
              <a:rPr lang="zh-CN" altLang="en-US" sz="2400" b="1" dirty="0" smtClean="0"/>
              <a:t>温度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低于</a:t>
            </a:r>
            <a:r>
              <a:rPr lang="zh-CN" altLang="en-US" sz="2400" b="1" dirty="0">
                <a:solidFill>
                  <a:srgbClr val="0070C0"/>
                </a:solidFill>
              </a:rPr>
              <a:t>冷库温度</a:t>
            </a:r>
            <a:r>
              <a:rPr lang="zh-CN" altLang="en-US" sz="2400" b="1" dirty="0"/>
              <a:t>，这样制冷剂才能从冷库中吸收热量。</a:t>
            </a:r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957427" y="2932044"/>
            <a:ext cx="3124200" cy="0"/>
          </a:xfrm>
          <a:prstGeom prst="line">
            <a:avLst/>
          </a:prstGeom>
          <a:noFill/>
          <a:ln w="25400">
            <a:solidFill>
              <a:srgbClr val="021DBE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8141952" y="2646294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Equation" r:id="rId4" imgW="4267200" imgH="5486400" progId="Equation.DSMT4">
                  <p:embed/>
                </p:oleObj>
              </mc:Choice>
              <mc:Fallback>
                <p:oleObj name="Equation" r:id="rId4" imgW="4267200" imgH="5486400" progId="Equation.DSMT4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1952" y="2646294"/>
                        <a:ext cx="44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21" y="-141936"/>
            <a:ext cx="6352583" cy="4779678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矩形 148486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38787" y="4568975"/>
            <a:ext cx="72489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4-1</a:t>
            </a:r>
            <a:r>
              <a:rPr lang="zh-CN" altLang="en-US" sz="2400" b="1" dirty="0"/>
              <a:t>：制冷剂在蒸发器（冷库）中定压吸热，从湿饱和蒸气状态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气化至干饱和蒸气状态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，完成循环。考虑到蒸发器中的换热过程需具有一定的温差，因此在</a:t>
            </a:r>
            <a:r>
              <a:rPr lang="zh-CN" altLang="en-US" sz="2400" b="1" dirty="0">
                <a:solidFill>
                  <a:srgbClr val="0070C0"/>
                </a:solidFill>
              </a:rPr>
              <a:t>过程</a:t>
            </a:r>
            <a:r>
              <a:rPr lang="en-US" altLang="zh-CN" sz="2400" b="1" dirty="0">
                <a:solidFill>
                  <a:srgbClr val="0070C0"/>
                </a:solidFill>
              </a:rPr>
              <a:t>4-1</a:t>
            </a:r>
            <a:r>
              <a:rPr lang="zh-CN" altLang="en-US" sz="2400" b="1" dirty="0">
                <a:solidFill>
                  <a:srgbClr val="0070C0"/>
                </a:solidFill>
              </a:rPr>
              <a:t>中，制冷剂的温度始终低于冷库的温度。</a:t>
            </a:r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876800" y="236220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8061325" y="2076450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quation" r:id="rId4" imgW="4267200" imgH="5486400" progId="Equation.DSMT4">
                  <p:embed/>
                </p:oleObj>
              </mc:Choice>
              <mc:Fallback>
                <p:oleObj name="Equation" r:id="rId4" imgW="4267200" imgH="5486400" progId="Equation.DSMT4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2076450"/>
                        <a:ext cx="44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4957427" y="2932044"/>
            <a:ext cx="3124200" cy="0"/>
          </a:xfrm>
          <a:prstGeom prst="line">
            <a:avLst/>
          </a:prstGeom>
          <a:noFill/>
          <a:ln w="25400">
            <a:solidFill>
              <a:srgbClr val="021DBE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" name="对象 9"/>
          <p:cNvGraphicFramePr/>
          <p:nvPr/>
        </p:nvGraphicFramePr>
        <p:xfrm>
          <a:off x="8141952" y="2646294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6" imgW="4267200" imgH="5486400" progId="Equation.DSMT4">
                  <p:embed/>
                </p:oleObj>
              </mc:Choice>
              <mc:Fallback>
                <p:oleObj name="Equation" r:id="rId6" imgW="4267200" imgH="5486400" progId="Equation.DSMT4">
                  <p:embed/>
                  <p:pic>
                    <p:nvPicPr>
                      <p:cNvPr id="0" name="对象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1952" y="2646294"/>
                        <a:ext cx="44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21" y="-148562"/>
            <a:ext cx="6352583" cy="4779678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矩形 153604"/>
          <p:cNvSpPr>
            <a:spLocks noChangeArrowheads="1"/>
          </p:cNvSpPr>
          <p:nvPr/>
        </p:nvSpPr>
        <p:spPr bwMode="auto">
          <a:xfrm>
            <a:off x="0" y="1857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矩形 153607"/>
          <p:cNvSpPr>
            <a:spLocks noChangeArrowheads="1"/>
          </p:cNvSpPr>
          <p:nvPr/>
        </p:nvSpPr>
        <p:spPr bwMode="auto">
          <a:xfrm>
            <a:off x="3429000" y="5715000"/>
            <a:ext cx="508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为什么手放在冰箱后面感到有些热？</a:t>
            </a:r>
          </a:p>
        </p:txBody>
      </p:sp>
      <p:sp>
        <p:nvSpPr>
          <p:cNvPr id="57349" name="矩形 153608"/>
          <p:cNvSpPr>
            <a:spLocks noChangeArrowheads="1"/>
          </p:cNvSpPr>
          <p:nvPr/>
        </p:nvSpPr>
        <p:spPr bwMode="auto">
          <a:xfrm>
            <a:off x="1066800" y="57150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家用冰箱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13" y="436974"/>
            <a:ext cx="4785775" cy="49503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225" y="489983"/>
            <a:ext cx="3292125" cy="4950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矩形 15053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371" name="对象 150537"/>
          <p:cNvGraphicFramePr>
            <a:graphicFrameLocks noChangeAspect="1"/>
          </p:cNvGraphicFramePr>
          <p:nvPr/>
        </p:nvGraphicFramePr>
        <p:xfrm>
          <a:off x="5342257" y="1666954"/>
          <a:ext cx="2955278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r:id="rId3" imgW="1231265" imgH="228600" progId="Equation.DSMT4">
                  <p:embed/>
                </p:oleObj>
              </mc:Choice>
              <mc:Fallback>
                <p:oleObj r:id="rId3" imgW="1231265" imgH="228600" progId="Equation.DSMT4">
                  <p:embed/>
                  <p:pic>
                    <p:nvPicPr>
                      <p:cNvPr id="0" name="对象 15053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2257" y="1666954"/>
                        <a:ext cx="2955278" cy="548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矩形 15054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373" name="对象 150539"/>
          <p:cNvGraphicFramePr>
            <a:graphicFrameLocks noChangeAspect="1"/>
          </p:cNvGraphicFramePr>
          <p:nvPr/>
        </p:nvGraphicFramePr>
        <p:xfrm>
          <a:off x="5342257" y="2446027"/>
          <a:ext cx="17678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r:id="rId5" imgW="736600" imgH="228600" progId="Equation.DSMT4">
                  <p:embed/>
                </p:oleObj>
              </mc:Choice>
              <mc:Fallback>
                <p:oleObj r:id="rId5" imgW="736600" imgH="228600" progId="Equation.DSMT4">
                  <p:embed/>
                  <p:pic>
                    <p:nvPicPr>
                      <p:cNvPr id="0" name="对象 1505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2257" y="2446027"/>
                        <a:ext cx="176784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矩形 15054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375" name="对象 150541"/>
          <p:cNvGraphicFramePr>
            <a:graphicFrameLocks noChangeAspect="1"/>
          </p:cNvGraphicFramePr>
          <p:nvPr/>
        </p:nvGraphicFramePr>
        <p:xfrm>
          <a:off x="5295874" y="3225338"/>
          <a:ext cx="33223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r:id="rId7" imgW="1384300" imgH="228600" progId="Equation.DSMT4">
                  <p:embed/>
                </p:oleObj>
              </mc:Choice>
              <mc:Fallback>
                <p:oleObj r:id="rId7" imgW="1384300" imgH="228600" progId="Equation.DSMT4">
                  <p:embed/>
                  <p:pic>
                    <p:nvPicPr>
                      <p:cNvPr id="0" name="对象 15054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874" y="3225338"/>
                        <a:ext cx="332232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对象 150543"/>
          <p:cNvGraphicFramePr>
            <a:graphicFrameLocks noChangeAspect="1"/>
          </p:cNvGraphicFramePr>
          <p:nvPr/>
        </p:nvGraphicFramePr>
        <p:xfrm>
          <a:off x="5295874" y="3863340"/>
          <a:ext cx="2589677" cy="103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7" r:id="rId9" imgW="1078865" imgH="431800" progId="Equation.DSMT4">
                  <p:embed/>
                </p:oleObj>
              </mc:Choice>
              <mc:Fallback>
                <p:oleObj r:id="rId9" imgW="1078865" imgH="431800" progId="Equation.DSMT4">
                  <p:embed/>
                  <p:pic>
                    <p:nvPicPr>
                      <p:cNvPr id="0" name="对象 15054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874" y="3863340"/>
                        <a:ext cx="2589677" cy="1035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标题 145409"/>
          <p:cNvSpPr>
            <a:spLocks noGrp="1" noChangeArrowheads="1"/>
          </p:cNvSpPr>
          <p:nvPr/>
        </p:nvSpPr>
        <p:spPr bwMode="auto">
          <a:xfrm>
            <a:off x="388594" y="8547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800" b="1" dirty="0"/>
              <a:t>二、制冷系数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763" y="1417006"/>
            <a:ext cx="4249331" cy="3795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矩形 151567"/>
          <p:cNvSpPr>
            <a:spLocks noChangeArrowheads="1"/>
          </p:cNvSpPr>
          <p:nvPr/>
        </p:nvSpPr>
        <p:spPr bwMode="auto">
          <a:xfrm>
            <a:off x="0" y="1724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394" name="内容占位符 151568"/>
          <p:cNvGraphicFramePr>
            <a:graphicFrameLocks noGrp="1" noChangeAspect="1"/>
          </p:cNvGraphicFramePr>
          <p:nvPr>
            <p:ph idx="4294967295"/>
          </p:nvPr>
        </p:nvGraphicFramePr>
        <p:xfrm>
          <a:off x="3196707" y="5271052"/>
          <a:ext cx="2589677" cy="103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r:id="rId3" imgW="1078865" imgH="431800" progId="Equation.DSMT4">
                  <p:embed/>
                </p:oleObj>
              </mc:Choice>
              <mc:Fallback>
                <p:oleObj r:id="rId3" imgW="1078865" imgH="431800" progId="Equation.DSMT4">
                  <p:embed/>
                  <p:pic>
                    <p:nvPicPr>
                      <p:cNvPr id="0" name="内容占位符 15156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707" y="5271052"/>
                        <a:ext cx="2589677" cy="1035871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矩形 151571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400" y="372316"/>
            <a:ext cx="5029636" cy="468213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00525" y="2409447"/>
            <a:ext cx="49984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000000"/>
                </a:solidFill>
                <a:latin typeface="+mn-ea"/>
              </a:rPr>
              <a:t>14-4 制冷剂的选择</a:t>
            </a:r>
          </a:p>
        </p:txBody>
      </p:sp>
    </p:spTree>
    <p:extLst>
      <p:ext uri="{BB962C8B-B14F-4D97-AF65-F5344CB8AC3E}">
        <p14:creationId xmlns:p14="http://schemas.microsoft.com/office/powerpoint/2010/main" val="378212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0265" y="303000"/>
            <a:ext cx="4572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理想</a:t>
            </a:r>
            <a:r>
              <a:rPr lang="zh-CN" altLang="en-US" sz="3200" b="1" dirty="0"/>
              <a:t>制冷剂具备的性质</a:t>
            </a:r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10265" y="1113045"/>
            <a:ext cx="815726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（1）对应于蒸发温度和冷凝温度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适中的压力。蒸发压力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一般高于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1atm，以免采用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高真空设备来防止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空气从环境渗入蒸发器；冷凝压力也不宜过高，否则会引起制冷剂外漏、压缩耗功增加，也对焊接等工艺提出更高要求。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（2）工作温度下汽化潜热要大，使单位质量工质具备较大的制冷能力。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（3）临界温度较高于制冷循环的上限温度，这样可使制冷剂被压缩后的状态离开两相共存区不远，使得放热过程大部分在两相区以定温过程进行。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（4）液体比热容小，使节流过程中液体气化量较少，而使单位质量工质的制冷量较大。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（5）蒸气的比体积要小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，可减小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压气机的尺寸。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（6）价廉、稳定、不腐蚀金属、无毒、无臭、不易燃易爆。</a:t>
            </a:r>
          </a:p>
        </p:txBody>
      </p:sp>
    </p:spTree>
    <p:extLst>
      <p:ext uri="{BB962C8B-B14F-4D97-AF65-F5344CB8AC3E}">
        <p14:creationId xmlns:p14="http://schemas.microsoft.com/office/powerpoint/2010/main" val="59180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2069" y="540890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常用的制冷剂——</a:t>
            </a:r>
            <a:r>
              <a:rPr lang="zh-CN" altLang="en-US" sz="3200" b="1" dirty="0">
                <a:solidFill>
                  <a:srgbClr val="FF0000"/>
                </a:solidFill>
              </a:rPr>
              <a:t>氨</a:t>
            </a:r>
          </a:p>
        </p:txBody>
      </p:sp>
      <p:sp>
        <p:nvSpPr>
          <p:cNvPr id="3" name="矩形 2"/>
          <p:cNvSpPr/>
          <p:nvPr/>
        </p:nvSpPr>
        <p:spPr>
          <a:xfrm>
            <a:off x="695737" y="2269508"/>
            <a:ext cx="75802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冷凝温度为20℃时，氨的饱和压力不是很高，约为0.8571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对应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于1个大气压的饱和温度为-33.7℃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，说明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在蒸发温度大于-33.7℃时，氨蒸气制冷装置不需要采用真空系统，使设备大为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简化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与其他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制冷剂相比，在相同温度下，氨的汽化潜热要大得多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，保证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了每千克制冷剂有较大的制冷量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80049" y="5784936"/>
            <a:ext cx="6811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有毒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有气味、对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铜具有</a:t>
            </a:r>
            <a:r>
              <a:rPr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腐蚀性。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1730" y="1405199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</a:rPr>
              <a:t>优点：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8113" y="5049546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</a:rPr>
              <a:t>缺点：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65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2069" y="540890"/>
            <a:ext cx="4716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常用的制冷剂</a:t>
            </a:r>
            <a:r>
              <a:rPr lang="zh-CN" altLang="en-US" sz="3200" b="1" dirty="0" smtClean="0"/>
              <a:t>——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氟利昂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8138" y="2202600"/>
            <a:ext cx="74278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化学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性能稳定、无毒，且在低于200℃时不与结构材料（如铜等）起化学反应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1729" y="1405199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</a:rPr>
              <a:t>优点：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1729" y="3246223"/>
            <a:ext cx="75538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在大气压力下，不同类型的氟利昂的沸点温度在很大范围内变化。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例如，在大气压力下，R14（CF4）的沸点温度为-128℃，R13（CClF3）为-82℃，R22（CHClF2）为-40.8℃，R12（CCl2F2）为-29.8℃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9550" y="5241135"/>
            <a:ext cx="68182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氟利昂类制冷剂曾广泛用于家用冰箱、汽车空调和热泵型空调等。</a:t>
            </a:r>
          </a:p>
        </p:txBody>
      </p:sp>
    </p:spTree>
    <p:extLst>
      <p:ext uri="{BB962C8B-B14F-4D97-AF65-F5344CB8AC3E}">
        <p14:creationId xmlns:p14="http://schemas.microsoft.com/office/powerpoint/2010/main" val="203280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616" y="549815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</a:rPr>
              <a:t>缺点：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7651" y="1482950"/>
            <a:ext cx="77127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20世纪70年代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，人们认识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到：被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广泛采用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的制冷剂CFC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和HCFC物质相当稳定，进入大气后能逐渐穿越大气对流层而进入同温层，在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紫外线照射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下，CFC和HCFC类物质中的氯游离成氯离子，与臭氧发生连锁反应，使臭氧浓度急剧减小。这会使得更多的紫外线辐射到大气环境中，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导致皮肤癌、眼疾等疾病的增加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，同时也阻碍了地球向外的红外辐射，形成温室效应使地球变暖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99862" y="4684140"/>
            <a:ext cx="64990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，虽然CFC和HCFC类物质具有优异的热力性能，但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必须限制、减少甚至禁止使用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38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1"/>
          <p:cNvSpPr txBox="1"/>
          <p:nvPr/>
        </p:nvSpPr>
        <p:spPr>
          <a:xfrm>
            <a:off x="660400" y="606425"/>
            <a:ext cx="765492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       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62174" y="1418776"/>
            <a:ext cx="69838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必须满足环境保护方面的要求</a:t>
            </a:r>
            <a:endParaRPr lang="en-US" altLang="zh-CN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应</a:t>
            </a:r>
            <a:r>
              <a:rPr lang="zh-CN" altLang="en-US" sz="2400" b="1" dirty="0"/>
              <a:t>尽量满足前述对制冷剂热力性质的六条</a:t>
            </a:r>
            <a:r>
              <a:rPr lang="zh-CN" altLang="en-US" sz="2400" b="1" dirty="0" smtClean="0"/>
              <a:t>要求</a:t>
            </a:r>
            <a:endParaRPr lang="en-US" altLang="zh-CN" sz="24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854616" y="549815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FF0000"/>
                </a:solidFill>
              </a:rPr>
              <a:t>替代物：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1810" y="2988726"/>
            <a:ext cx="67321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134a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（CF3CH2F）由于其中不含氯原子，其ODP为零，不会破坏臭氧层，被认为是CFC类物质的最好替代物。</a:t>
            </a:r>
          </a:p>
        </p:txBody>
      </p:sp>
    </p:spTree>
    <p:extLst>
      <p:ext uri="{BB962C8B-B14F-4D97-AF65-F5344CB8AC3E}">
        <p14:creationId xmlns:p14="http://schemas.microsoft.com/office/powerpoint/2010/main" val="265945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38915"/>
          <p:cNvSpPr txBox="1">
            <a:spLocks noChangeArrowheads="1"/>
          </p:cNvSpPr>
          <p:nvPr/>
        </p:nvSpPr>
        <p:spPr bwMode="auto">
          <a:xfrm>
            <a:off x="1498738" y="1987412"/>
            <a:ext cx="64061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400" b="1" dirty="0" smtClean="0">
                <a:solidFill>
                  <a:srgbClr val="000000"/>
                </a:solidFill>
                <a:latin typeface="+mn-ea"/>
              </a:rPr>
              <a:t>14-5  </a:t>
            </a:r>
            <a:r>
              <a:rPr lang="zh-CN" altLang="en-US" sz="4400" b="1" dirty="0" smtClean="0">
                <a:solidFill>
                  <a:srgbClr val="000000"/>
                </a:solidFill>
                <a:latin typeface="+mn-ea"/>
              </a:rPr>
              <a:t>气体制冷循环</a:t>
            </a:r>
            <a:endParaRPr lang="zh-CN" altLang="en-US" sz="44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文本框 92163"/>
          <p:cNvSpPr txBox="1">
            <a:spLocks noChangeArrowheads="1"/>
          </p:cNvSpPr>
          <p:nvPr/>
        </p:nvSpPr>
        <p:spPr bwMode="auto">
          <a:xfrm>
            <a:off x="304800" y="1143000"/>
            <a:ext cx="8458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ahoma" panose="020B0604030504040204" pitchFamily="34" charset="0"/>
              </a:rPr>
              <a:t>　</a:t>
            </a:r>
            <a:r>
              <a:rPr lang="en-US" altLang="zh-CN" sz="2800" b="1">
                <a:latin typeface="Times New Roman" panose="02020603050405020304" pitchFamily="18" charset="0"/>
              </a:rPr>
              <a:t>Brayton</a:t>
            </a:r>
            <a:r>
              <a:rPr lang="zh-CN" altLang="en-US" sz="2800" b="1">
                <a:latin typeface="Times New Roman" panose="02020603050405020304" pitchFamily="18" charset="0"/>
              </a:rPr>
              <a:t>逆循环，由两个定压与两个定熵过程组成</a:t>
            </a:r>
          </a:p>
        </p:txBody>
      </p:sp>
      <p:sp>
        <p:nvSpPr>
          <p:cNvPr id="73730" name="文本框 92175"/>
          <p:cNvSpPr txBox="1">
            <a:spLocks noChangeArrowheads="1"/>
          </p:cNvSpPr>
          <p:nvPr/>
        </p:nvSpPr>
        <p:spPr bwMode="auto">
          <a:xfrm>
            <a:off x="304800" y="381000"/>
            <a:ext cx="731520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>
                <a:latin typeface="Tahoma" panose="020B0604030504040204" pitchFamily="34" charset="0"/>
              </a:rPr>
              <a:t>一、</a:t>
            </a:r>
            <a:r>
              <a:rPr lang="zh-CN" altLang="en-US" sz="3600" b="1">
                <a:latin typeface="Tahoma" panose="020B0604030504040204" pitchFamily="34" charset="0"/>
              </a:rPr>
              <a:t>简单气体制冷循环</a:t>
            </a:r>
          </a:p>
        </p:txBody>
      </p:sp>
      <p:sp>
        <p:nvSpPr>
          <p:cNvPr id="73731" name="矩形 92179"/>
          <p:cNvSpPr>
            <a:spLocks noChangeArrowheads="1"/>
          </p:cNvSpPr>
          <p:nvPr/>
        </p:nvSpPr>
        <p:spPr bwMode="auto">
          <a:xfrm>
            <a:off x="0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矩形 92181"/>
          <p:cNvSpPr>
            <a:spLocks noChangeArrowheads="1"/>
          </p:cNvSpPr>
          <p:nvPr/>
        </p:nvSpPr>
        <p:spPr bwMode="auto">
          <a:xfrm>
            <a:off x="0" y="1323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71" y="1556383"/>
            <a:ext cx="6572058" cy="501744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图片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5" y="234950"/>
            <a:ext cx="31972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文本框 8"/>
          <p:cNvSpPr txBox="1">
            <a:spLocks noChangeArrowheads="1"/>
          </p:cNvSpPr>
          <p:nvPr/>
        </p:nvSpPr>
        <p:spPr bwMode="auto">
          <a:xfrm>
            <a:off x="571500" y="4303713"/>
            <a:ext cx="78882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/>
              <a:t>实际的气体制冷循环：</a:t>
            </a:r>
          </a:p>
          <a:p>
            <a:r>
              <a:rPr lang="en-US" altLang="zh-CN" sz="2400" b="1" dirty="0"/>
              <a:t>1. </a:t>
            </a:r>
            <a:r>
              <a:rPr lang="zh-CN" altLang="en-US" sz="2400" b="1" dirty="0"/>
              <a:t>压缩和膨胀过程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偏离定熵过程</a:t>
            </a:r>
          </a:p>
          <a:p>
            <a:r>
              <a:rPr lang="en-US" altLang="zh-CN" sz="2400" b="1" dirty="0"/>
              <a:t>2. </a:t>
            </a:r>
            <a:r>
              <a:rPr lang="zh-CN" altLang="en-US" sz="2400" b="1" dirty="0"/>
              <a:t>换热有温差（换热器的面积为有限值）</a:t>
            </a:r>
          </a:p>
          <a:p>
            <a:r>
              <a:rPr lang="zh-CN" altLang="en-US" sz="2400" b="1" dirty="0"/>
              <a:t>      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气体在冷却器出口温度总是略高于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H</a:t>
            </a:r>
          </a:p>
          <a:p>
            <a:r>
              <a:rPr lang="zh-CN" altLang="en-US" sz="2400" b="1" baseline="-25000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baseline="-25000" dirty="0" smtClean="0"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 smtClean="0"/>
              <a:t>——</a:t>
            </a:r>
            <a:r>
              <a:rPr lang="zh-CN" altLang="en-US" sz="2400" b="1" dirty="0"/>
              <a:t>在冷库出口的温度总是略低于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L</a:t>
            </a:r>
            <a:endParaRPr lang="zh-CN" altLang="en-US" sz="2400" b="1" dirty="0"/>
          </a:p>
        </p:txBody>
      </p:sp>
      <p:sp>
        <p:nvSpPr>
          <p:cNvPr id="74755" name="文本框 10"/>
          <p:cNvSpPr txBox="1">
            <a:spLocks noChangeArrowheads="1"/>
          </p:cNvSpPr>
          <p:nvPr/>
        </p:nvSpPr>
        <p:spPr bwMode="auto">
          <a:xfrm>
            <a:off x="2608263" y="2670175"/>
            <a:ext cx="12557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可逆的</a:t>
            </a:r>
          </a:p>
        </p:txBody>
      </p:sp>
      <p:sp>
        <p:nvSpPr>
          <p:cNvPr id="74756" name="文本框 11"/>
          <p:cNvSpPr txBox="1">
            <a:spLocks noChangeArrowheads="1"/>
          </p:cNvSpPr>
          <p:nvPr/>
        </p:nvSpPr>
        <p:spPr bwMode="auto">
          <a:xfrm>
            <a:off x="7331075" y="2670175"/>
            <a:ext cx="1255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sym typeface="宋体" panose="02010600030101010101" pitchFamily="2" charset="-122"/>
              </a:rPr>
              <a:t>实际的</a:t>
            </a:r>
          </a:p>
        </p:txBody>
      </p:sp>
      <p:pic>
        <p:nvPicPr>
          <p:cNvPr id="74757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333375"/>
            <a:ext cx="3343275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矩形 108564"/>
          <p:cNvSpPr>
            <a:spLocks noChangeArrowheads="1"/>
          </p:cNvSpPr>
          <p:nvPr/>
        </p:nvSpPr>
        <p:spPr bwMode="auto">
          <a:xfrm>
            <a:off x="1524000" y="166689"/>
            <a:ext cx="365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buClr>
                <a:schemeClr val="folHlink"/>
              </a:buClr>
            </a:pPr>
            <a:r>
              <a:rPr lang="zh-CN" altLang="en-US" sz="3600" b="1" dirty="0"/>
              <a:t>制冷系数</a:t>
            </a:r>
          </a:p>
        </p:txBody>
      </p:sp>
      <p:sp>
        <p:nvSpPr>
          <p:cNvPr id="75778" name="矩形 108569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779" name="对象 108568"/>
          <p:cNvGraphicFramePr>
            <a:graphicFrameLocks noChangeAspect="1"/>
          </p:cNvGraphicFramePr>
          <p:nvPr/>
        </p:nvGraphicFramePr>
        <p:xfrm>
          <a:off x="1222374" y="1157288"/>
          <a:ext cx="2680416" cy="979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" name="Equation" r:id="rId3" imgW="28346400" imgH="10363200" progId="Equation.DSMT4">
                  <p:embed/>
                </p:oleObj>
              </mc:Choice>
              <mc:Fallback>
                <p:oleObj name="Equation" r:id="rId3" imgW="28346400" imgH="10363200" progId="Equation.DSMT4">
                  <p:embed/>
                  <p:pic>
                    <p:nvPicPr>
                      <p:cNvPr id="0" name="对象 108568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4" y="1157288"/>
                        <a:ext cx="2680416" cy="979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对象 108573"/>
          <p:cNvGraphicFramePr>
            <a:graphicFrameLocks noChangeAspect="1"/>
          </p:cNvGraphicFramePr>
          <p:nvPr/>
        </p:nvGraphicFramePr>
        <p:xfrm>
          <a:off x="1905000" y="2514600"/>
          <a:ext cx="1614424" cy="51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0" r:id="rId5" imgW="711200" imgH="228600" progId="Equation.DSMT4">
                  <p:embed/>
                </p:oleObj>
              </mc:Choice>
              <mc:Fallback>
                <p:oleObj r:id="rId5" imgW="711200" imgH="228600" progId="Equation.DSMT4">
                  <p:embed/>
                  <p:pic>
                    <p:nvPicPr>
                      <p:cNvPr id="0" name="对象 10857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14600"/>
                        <a:ext cx="1614424" cy="51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对象 108572"/>
          <p:cNvGraphicFramePr>
            <a:graphicFrameLocks noChangeAspect="1"/>
          </p:cNvGraphicFramePr>
          <p:nvPr/>
        </p:nvGraphicFramePr>
        <p:xfrm>
          <a:off x="1833209" y="3764344"/>
          <a:ext cx="1671991" cy="51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1" r:id="rId7" imgW="736600" imgH="228600" progId="Equation.DSMT4">
                  <p:embed/>
                </p:oleObj>
              </mc:Choice>
              <mc:Fallback>
                <p:oleObj r:id="rId7" imgW="736600" imgH="228600" progId="Equation.DSMT4">
                  <p:embed/>
                  <p:pic>
                    <p:nvPicPr>
                      <p:cNvPr id="0" name="对象 10857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209" y="3764344"/>
                        <a:ext cx="1671991" cy="51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对象 108571"/>
          <p:cNvGraphicFramePr>
            <a:graphicFrameLocks noChangeAspect="1"/>
          </p:cNvGraphicFramePr>
          <p:nvPr/>
        </p:nvGraphicFramePr>
        <p:xfrm>
          <a:off x="1860551" y="3160713"/>
          <a:ext cx="1671991" cy="51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2" r:id="rId9" imgW="736600" imgH="228600" progId="Equation.DSMT4">
                  <p:embed/>
                </p:oleObj>
              </mc:Choice>
              <mc:Fallback>
                <p:oleObj r:id="rId9" imgW="736600" imgH="228600" progId="Equation.DSMT4">
                  <p:embed/>
                  <p:pic>
                    <p:nvPicPr>
                      <p:cNvPr id="0" name="对象 10857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1" y="3160713"/>
                        <a:ext cx="1671991" cy="51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矩形 108575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5" name="矩形 108577"/>
          <p:cNvSpPr>
            <a:spLocks noChangeArrowheads="1"/>
          </p:cNvSpPr>
          <p:nvPr/>
        </p:nvSpPr>
        <p:spPr bwMode="auto">
          <a:xfrm>
            <a:off x="533400" y="4648200"/>
            <a:ext cx="2719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/>
              <a:t>假设比热容为定值 </a:t>
            </a:r>
          </a:p>
        </p:txBody>
      </p:sp>
      <p:graphicFrame>
        <p:nvGraphicFramePr>
          <p:cNvPr id="75786" name="对象 108578"/>
          <p:cNvGraphicFramePr>
            <a:graphicFrameLocks noChangeAspect="1"/>
          </p:cNvGraphicFramePr>
          <p:nvPr/>
        </p:nvGraphicFramePr>
        <p:xfrm>
          <a:off x="533400" y="5334000"/>
          <a:ext cx="2968098" cy="1008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r:id="rId11" imgW="1307465" imgH="444500" progId="Equation.DSMT4">
                  <p:embed/>
                </p:oleObj>
              </mc:Choice>
              <mc:Fallback>
                <p:oleObj r:id="rId11" imgW="1307465" imgH="444500" progId="Equation.DSMT4">
                  <p:embed/>
                  <p:pic>
                    <p:nvPicPr>
                      <p:cNvPr id="0" name="对象 10857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0"/>
                        <a:ext cx="2968098" cy="1008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7" name="矩形 108580"/>
          <p:cNvSpPr>
            <a:spLocks noChangeArrowheads="1"/>
          </p:cNvSpPr>
          <p:nvPr/>
        </p:nvSpPr>
        <p:spPr bwMode="auto">
          <a:xfrm>
            <a:off x="1720850" y="2519363"/>
            <a:ext cx="2089150" cy="18288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789" name="对象 108581"/>
          <p:cNvGraphicFramePr/>
          <p:nvPr/>
        </p:nvGraphicFramePr>
        <p:xfrm>
          <a:off x="3810000" y="5029200"/>
          <a:ext cx="18288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" r:id="rId13" imgW="1155700" imgH="571500" progId="Equation.DSMT4">
                  <p:embed/>
                </p:oleObj>
              </mc:Choice>
              <mc:Fallback>
                <p:oleObj r:id="rId13" imgW="1155700" imgH="571500" progId="Equation.DSMT4">
                  <p:embed/>
                  <p:pic>
                    <p:nvPicPr>
                      <p:cNvPr id="0" name="对象 10858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029200"/>
                        <a:ext cx="18288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0" name="右箭头 108583"/>
          <p:cNvSpPr>
            <a:spLocks noChangeArrowheads="1"/>
          </p:cNvSpPr>
          <p:nvPr/>
        </p:nvSpPr>
        <p:spPr bwMode="auto">
          <a:xfrm>
            <a:off x="3657600" y="6096000"/>
            <a:ext cx="2514600" cy="152400"/>
          </a:xfrm>
          <a:prstGeom prst="rightArrow">
            <a:avLst>
              <a:gd name="adj1" fmla="val 50000"/>
              <a:gd name="adj2" fmla="val 4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91" name="矩形 108585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792" name="对象 108584"/>
          <p:cNvGraphicFramePr/>
          <p:nvPr/>
        </p:nvGraphicFramePr>
        <p:xfrm>
          <a:off x="6235700" y="5105400"/>
          <a:ext cx="193040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5" r:id="rId15" imgW="990600" imgH="749300" progId="Equation.DSMT4">
                  <p:embed/>
                </p:oleObj>
              </mc:Choice>
              <mc:Fallback>
                <p:oleObj r:id="rId15" imgW="990600" imgH="749300" progId="Equation.DSMT4">
                  <p:embed/>
                  <p:pic>
                    <p:nvPicPr>
                      <p:cNvPr id="0" name="对象 10858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5105400"/>
                        <a:ext cx="1930400" cy="14668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3" name="矩形 10858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794" name="对象 108586"/>
          <p:cNvGraphicFramePr/>
          <p:nvPr/>
        </p:nvGraphicFramePr>
        <p:xfrm>
          <a:off x="6248400" y="3995738"/>
          <a:ext cx="2209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" r:id="rId17" imgW="1193800" imgH="228600" progId="Equation.DSMT4">
                  <p:embed/>
                </p:oleObj>
              </mc:Choice>
              <mc:Fallback>
                <p:oleObj r:id="rId17" imgW="1193800" imgH="228600" progId="Equation.DSMT4">
                  <p:embed/>
                  <p:pic>
                    <p:nvPicPr>
                      <p:cNvPr id="0" name="对象 10858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995738"/>
                        <a:ext cx="2209800" cy="42386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5" name="直接连接符 108588"/>
          <p:cNvSpPr>
            <a:spLocks noChangeShapeType="1"/>
          </p:cNvSpPr>
          <p:nvPr/>
        </p:nvSpPr>
        <p:spPr bwMode="auto">
          <a:xfrm flipH="1">
            <a:off x="7086600" y="4572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96" name="矩形 108590"/>
          <p:cNvSpPr>
            <a:spLocks noChangeArrowheads="1"/>
          </p:cNvSpPr>
          <p:nvPr/>
        </p:nvSpPr>
        <p:spPr bwMode="auto">
          <a:xfrm>
            <a:off x="6477000" y="35814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</a:rPr>
              <a:t>循环增压比</a:t>
            </a:r>
            <a:r>
              <a:rPr lang="zh-CN" altLang="en-US" sz="2000" b="1"/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110" y="166689"/>
            <a:ext cx="3353091" cy="3584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1" name="对象 109574"/>
          <p:cNvGraphicFramePr>
            <a:graphicFrameLocks noChangeAspect="1"/>
          </p:cNvGraphicFramePr>
          <p:nvPr/>
        </p:nvGraphicFramePr>
        <p:xfrm>
          <a:off x="3347624" y="656888"/>
          <a:ext cx="745788" cy="56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2" r:id="rId3" imgW="266065" imgH="203200" progId="Equation.DSMT4">
                  <p:embed/>
                </p:oleObj>
              </mc:Choice>
              <mc:Fallback>
                <p:oleObj r:id="rId3" imgW="266065" imgH="203200" progId="Equation.DSMT4">
                  <p:embed/>
                  <p:pic>
                    <p:nvPicPr>
                      <p:cNvPr id="0" name="对象 10957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624" y="656888"/>
                        <a:ext cx="745788" cy="568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2" name="对象 109577"/>
          <p:cNvGraphicFramePr>
            <a:graphicFrameLocks noChangeAspect="1"/>
          </p:cNvGraphicFramePr>
          <p:nvPr/>
        </p:nvGraphicFramePr>
        <p:xfrm>
          <a:off x="4243146" y="687178"/>
          <a:ext cx="7127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3"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0" name="对象 109577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146" y="687178"/>
                        <a:ext cx="7127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对象 109578"/>
          <p:cNvGraphicFramePr>
            <a:graphicFrameLocks noChangeAspect="1"/>
          </p:cNvGraphicFramePr>
          <p:nvPr/>
        </p:nvGraphicFramePr>
        <p:xfrm>
          <a:off x="4392717" y="2537471"/>
          <a:ext cx="888230" cy="675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4" name="Equation" r:id="rId7" imgW="7620000" imgH="5791200" progId="Equation.DSMT4">
                  <p:embed/>
                </p:oleObj>
              </mc:Choice>
              <mc:Fallback>
                <p:oleObj name="Equation" r:id="rId7" imgW="7620000" imgH="5791200" progId="Equation.DSMT4">
                  <p:embed/>
                  <p:pic>
                    <p:nvPicPr>
                      <p:cNvPr id="0" name="对象 109578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717" y="2537471"/>
                        <a:ext cx="888230" cy="675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对象 109592"/>
          <p:cNvGraphicFramePr>
            <a:graphicFrameLocks noChangeAspect="1"/>
          </p:cNvGraphicFramePr>
          <p:nvPr/>
        </p:nvGraphicFramePr>
        <p:xfrm>
          <a:off x="312254" y="289891"/>
          <a:ext cx="2132928" cy="13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5" r:id="rId9" imgW="762000" imgH="495300" progId="Equation.DSMT4">
                  <p:embed/>
                </p:oleObj>
              </mc:Choice>
              <mc:Fallback>
                <p:oleObj r:id="rId9" imgW="762000" imgH="495300" progId="Equation.DSMT4">
                  <p:embed/>
                  <p:pic>
                    <p:nvPicPr>
                      <p:cNvPr id="0" name="对象 10959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54" y="289891"/>
                        <a:ext cx="2132928" cy="1386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807" name="图片 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806" y="2105740"/>
            <a:ext cx="3778324" cy="3652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箭头 1"/>
          <p:cNvSpPr/>
          <p:nvPr/>
        </p:nvSpPr>
        <p:spPr>
          <a:xfrm>
            <a:off x="2594916" y="827890"/>
            <a:ext cx="602974" cy="2553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12643"/>
          <p:cNvSpPr txBox="1">
            <a:spLocks noChangeArrowheads="1"/>
          </p:cNvSpPr>
          <p:nvPr/>
        </p:nvSpPr>
        <p:spPr bwMode="auto">
          <a:xfrm>
            <a:off x="4995854" y="289891"/>
            <a:ext cx="3914691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Tahoma" panose="020B0604030504040204" pitchFamily="34" charset="0"/>
              </a:rPr>
              <a:t>其</a:t>
            </a:r>
            <a:r>
              <a:rPr lang="zh-CN" altLang="en-US" sz="2600" b="1" dirty="0" smtClean="0">
                <a:latin typeface="Tahoma" panose="020B0604030504040204" pitchFamily="34" charset="0"/>
              </a:rPr>
              <a:t>本质原因在于，</a:t>
            </a:r>
            <a:r>
              <a:rPr lang="el-GR" altLang="zh-CN" sz="2600" b="1" i="1" dirty="0" smtClean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π</a:t>
            </a:r>
            <a:r>
              <a:rPr lang="zh-CN" altLang="en-US" sz="2600" b="1" dirty="0" smtClean="0">
                <a:latin typeface="Tahoma" panose="020B0604030504040204" pitchFamily="34" charset="0"/>
              </a:rPr>
              <a:t>降低之后，循环的温度范围会随之减小，使得循环更接近逆卡诺循环</a:t>
            </a:r>
            <a:endParaRPr lang="zh-CN" altLang="en-US" sz="2600" b="1" dirty="0">
              <a:latin typeface="Tahoma" panose="020B0604030504040204" pitchFamily="34" charset="0"/>
            </a:endParaRPr>
          </a:p>
        </p:txBody>
      </p:sp>
      <p:graphicFrame>
        <p:nvGraphicFramePr>
          <p:cNvPr id="11" name="对象 109574"/>
          <p:cNvGraphicFramePr>
            <a:graphicFrameLocks noChangeAspect="1"/>
          </p:cNvGraphicFramePr>
          <p:nvPr/>
        </p:nvGraphicFramePr>
        <p:xfrm>
          <a:off x="3426306" y="2537471"/>
          <a:ext cx="745788" cy="56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r:id="rId12" imgW="266065" imgH="203200" progId="Equation.DSMT4">
                  <p:embed/>
                </p:oleObj>
              </mc:Choice>
              <mc:Fallback>
                <p:oleObj r:id="rId12" imgW="266065" imgH="203200" progId="Equation.DSMT4">
                  <p:embed/>
                  <p:pic>
                    <p:nvPicPr>
                      <p:cNvPr id="0" name="对象 10957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6306" y="2537471"/>
                        <a:ext cx="745788" cy="568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2643"/>
          <p:cNvSpPr txBox="1">
            <a:spLocks noChangeArrowheads="1"/>
          </p:cNvSpPr>
          <p:nvPr/>
        </p:nvSpPr>
        <p:spPr bwMode="auto">
          <a:xfrm>
            <a:off x="3426306" y="3439593"/>
            <a:ext cx="53078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为吸热过程线在</a:t>
            </a:r>
            <a:r>
              <a:rPr lang="en-US" altLang="zh-CN" sz="2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轴上的投影面积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45215" y="2617071"/>
            <a:ext cx="185980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b="1" dirty="0" smtClean="0">
                <a:solidFill>
                  <a:prstClr val="black"/>
                </a:solidFill>
                <a:latin typeface="Tahoma" panose="020B0604030504040204" pitchFamily="34" charset="0"/>
              </a:rPr>
              <a:t>制冷量减小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6665" y="5626676"/>
            <a:ext cx="31341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1-2-3-4-1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：原循环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2ʹ-3ʹ-4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ʹ-1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l-GR" altLang="zh-CN" sz="20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π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较小的循环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12643"/>
              <p:cNvSpPr txBox="1">
                <a:spLocks noChangeArrowheads="1"/>
              </p:cNvSpPr>
              <p:nvPr/>
            </p:nvSpPr>
            <p:spPr bwMode="auto">
              <a:xfrm>
                <a:off x="3426306" y="4177014"/>
                <a:ext cx="5307876" cy="1106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制冷量为单位时间内的</a:t>
                </a:r>
                <a:r>
                  <a:rPr lang="en-US" altLang="zh-CN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</a:p>
              <a:p>
                <a:pPr>
                  <a:spcBef>
                    <a:spcPct val="50000"/>
                  </a:spcBef>
                </a:pPr>
                <a:r>
                  <a:rPr lang="zh-CN" altLang="en-US" sz="2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制冷量</a:t>
                </a:r>
                <a:r>
                  <a:rPr lang="en-US" altLang="zh-CN" sz="2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质量流量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600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126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6306" y="4177014"/>
                <a:ext cx="5307876" cy="1106200"/>
              </a:xfrm>
              <a:prstGeom prst="rect">
                <a:avLst/>
              </a:prstGeom>
              <a:blipFill rotWithShape="1">
                <a:blip r:embed="rId13"/>
                <a:stretch>
                  <a:fillRect t="-6044" b="-120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文本框 112643"/>
          <p:cNvSpPr txBox="1">
            <a:spLocks noChangeArrowheads="1"/>
          </p:cNvSpPr>
          <p:nvPr/>
        </p:nvSpPr>
        <p:spPr bwMode="auto">
          <a:xfrm>
            <a:off x="1524000" y="3810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ahoma" panose="020B0604030504040204" pitchFamily="34" charset="0"/>
              </a:rPr>
              <a:t>气体制冷循环与逆卡诺循环的比较</a:t>
            </a:r>
          </a:p>
        </p:txBody>
      </p:sp>
      <p:sp>
        <p:nvSpPr>
          <p:cNvPr id="77826" name="矩形 112669"/>
          <p:cNvSpPr>
            <a:spLocks noChangeArrowheads="1"/>
          </p:cNvSpPr>
          <p:nvPr/>
        </p:nvSpPr>
        <p:spPr bwMode="auto">
          <a:xfrm>
            <a:off x="0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矩形 112670"/>
          <p:cNvSpPr>
            <a:spLocks noChangeArrowheads="1"/>
          </p:cNvSpPr>
          <p:nvPr/>
        </p:nvSpPr>
        <p:spPr bwMode="auto">
          <a:xfrm>
            <a:off x="3585144" y="1689672"/>
            <a:ext cx="4953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与气体制冷循环相比，具有相同热源和冷源的逆卡诺循环需要输入的净功少，</a:t>
            </a:r>
            <a:r>
              <a:rPr lang="zh-CN" altLang="en-US" sz="2400" b="1" dirty="0" smtClean="0"/>
              <a:t>但从冷库吸收的热量更多，</a:t>
            </a:r>
            <a:r>
              <a:rPr lang="zh-CN" altLang="en-US" sz="2400" b="1" dirty="0"/>
              <a:t>故制冷系数更大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也可从平均吸热温度和平均放热温度来分析 </a:t>
            </a:r>
          </a:p>
        </p:txBody>
      </p:sp>
      <p:sp>
        <p:nvSpPr>
          <p:cNvPr id="77829" name="文本框 1"/>
          <p:cNvSpPr txBox="1">
            <a:spLocks noChangeArrowheads="1"/>
          </p:cNvSpPr>
          <p:nvPr/>
        </p:nvSpPr>
        <p:spPr bwMode="auto">
          <a:xfrm>
            <a:off x="638175" y="5207000"/>
            <a:ext cx="8048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/>
              <a:t>与前面指出的“当高温热源（温度</a:t>
            </a:r>
            <a:r>
              <a:rPr lang="zh-CN" altLang="en-US" sz="2400" b="1" dirty="0" smtClean="0"/>
              <a:t>为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和低温热源（温度</a:t>
            </a:r>
            <a:r>
              <a:rPr lang="zh-CN" altLang="en-US" sz="2400" b="1" dirty="0" smtClean="0"/>
              <a:t>为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给定时，逆卡诺循环是工作在这两个热源间的最有效的制冷循环”相一致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96" y="1027596"/>
            <a:ext cx="3200677" cy="3944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95233"/>
          <p:cNvSpPr>
            <a:spLocks noGrp="1" noChangeArrowheads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 anchor="b"/>
          <a:lstStyle/>
          <a:p>
            <a:pPr>
              <a:buClr>
                <a:schemeClr val="folHlink"/>
              </a:buClr>
            </a:pPr>
            <a:r>
              <a:rPr lang="zh-CN" altLang="en-US" sz="3200" b="1" dirty="0" smtClean="0"/>
              <a:t>气体制冷循环的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缺点</a:t>
            </a:r>
          </a:p>
        </p:txBody>
      </p:sp>
      <p:sp>
        <p:nvSpPr>
          <p:cNvPr id="78850" name="文本占位符 95234"/>
          <p:cNvSpPr>
            <a:spLocks noGrp="1" noChangeArrowheads="1"/>
          </p:cNvSpPr>
          <p:nvPr>
            <p:ph idx="1"/>
          </p:nvPr>
        </p:nvSpPr>
        <p:spPr>
          <a:xfrm>
            <a:off x="1689100" y="4310063"/>
            <a:ext cx="3289300" cy="517525"/>
          </a:xfrm>
        </p:spPr>
        <p:txBody>
          <a:bodyPr>
            <a:normAutofit fontScale="92500"/>
          </a:bodyPr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800" b="1" dirty="0" smtClean="0"/>
              <a:t>气体的定压比热容小</a:t>
            </a:r>
          </a:p>
        </p:txBody>
      </p:sp>
      <p:sp>
        <p:nvSpPr>
          <p:cNvPr id="78851" name="矩形 95235"/>
          <p:cNvSpPr>
            <a:spLocks noChangeArrowheads="1"/>
          </p:cNvSpPr>
          <p:nvPr/>
        </p:nvSpPr>
        <p:spPr bwMode="auto">
          <a:xfrm>
            <a:off x="685800" y="2163763"/>
            <a:ext cx="5295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二、单位质量工质的制冷量小</a:t>
            </a:r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95246" name="矩形 95245"/>
          <p:cNvSpPr>
            <a:spLocks noChangeArrowheads="1"/>
          </p:cNvSpPr>
          <p:nvPr/>
        </p:nvSpPr>
        <p:spPr bwMode="auto">
          <a:xfrm>
            <a:off x="533400" y="5105400"/>
            <a:ext cx="8077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/>
              <a:t>制冷量小的缺点本质上源于气体制冷利用的是气体的</a:t>
            </a:r>
            <a:r>
              <a:rPr lang="zh-CN" altLang="en-US" sz="2800" b="1" dirty="0">
                <a:solidFill>
                  <a:srgbClr val="FF0000"/>
                </a:solidFill>
              </a:rPr>
              <a:t>显热</a:t>
            </a:r>
            <a:r>
              <a:rPr lang="zh-CN" altLang="en-US" sz="2800" b="1" dirty="0"/>
              <a:t>，而前面的蒸气压缩制冷利用的是低沸点工质的</a:t>
            </a:r>
            <a:r>
              <a:rPr lang="zh-CN" altLang="en-US" sz="2800" b="1" dirty="0">
                <a:solidFill>
                  <a:srgbClr val="FF0000"/>
                </a:solidFill>
              </a:rPr>
              <a:t>汽化潜热</a:t>
            </a:r>
            <a:r>
              <a:rPr lang="zh-CN" altLang="en-US" sz="2800" b="1" dirty="0"/>
              <a:t>，使制冷量大幅提高。 </a:t>
            </a:r>
          </a:p>
        </p:txBody>
      </p:sp>
      <p:sp>
        <p:nvSpPr>
          <p:cNvPr id="78854" name="矩形 95246"/>
          <p:cNvSpPr>
            <a:spLocks noChangeArrowheads="1"/>
          </p:cNvSpPr>
          <p:nvPr/>
        </p:nvSpPr>
        <p:spPr bwMode="auto">
          <a:xfrm>
            <a:off x="685800" y="12192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一、制冷系数小，原因：偏离逆卡诺循环</a:t>
            </a:r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2" name="右箭头 1"/>
          <p:cNvSpPr/>
          <p:nvPr/>
        </p:nvSpPr>
        <p:spPr>
          <a:xfrm rot="16200000">
            <a:off x="2844800" y="3833813"/>
            <a:ext cx="561975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graphicFrame>
        <p:nvGraphicFramePr>
          <p:cNvPr id="16" name="对象 109574"/>
          <p:cNvGraphicFramePr>
            <a:graphicFrameLocks noChangeAspect="1"/>
          </p:cNvGraphicFramePr>
          <p:nvPr/>
        </p:nvGraphicFramePr>
        <p:xfrm>
          <a:off x="2032898" y="2952681"/>
          <a:ext cx="27003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3" imgW="23164800" imgH="5791200" progId="Equation.DSMT4">
                  <p:embed/>
                </p:oleObj>
              </mc:Choice>
              <mc:Fallback>
                <p:oleObj name="Equation" r:id="rId3" imgW="23164800" imgH="5791200" progId="Equation.DSMT4">
                  <p:embed/>
                  <p:pic>
                    <p:nvPicPr>
                      <p:cNvPr id="0" name="对象 109574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898" y="2952681"/>
                        <a:ext cx="27003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213" y="2052638"/>
            <a:ext cx="2487384" cy="2664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矩形 160772"/>
          <p:cNvSpPr>
            <a:spLocks noChangeArrowheads="1"/>
          </p:cNvSpPr>
          <p:nvPr/>
        </p:nvSpPr>
        <p:spPr bwMode="auto">
          <a:xfrm>
            <a:off x="457200" y="1066800"/>
            <a:ext cx="8153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/>
              <a:t>设备简单、轻便，适用于飞机空调等场合（重量和体积是飞机设备的重要考虑因素） </a:t>
            </a:r>
          </a:p>
        </p:txBody>
      </p:sp>
      <p:sp>
        <p:nvSpPr>
          <p:cNvPr id="79874" name="矩形 160773"/>
          <p:cNvSpPr>
            <a:spLocks noChangeArrowheads="1"/>
          </p:cNvSpPr>
          <p:nvPr/>
        </p:nvSpPr>
        <p:spPr bwMode="auto">
          <a:xfrm>
            <a:off x="6019800" y="2891264"/>
            <a:ext cx="2895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飞机机舱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制冷是开式</a:t>
            </a:r>
            <a:r>
              <a:rPr lang="zh-CN" altLang="en-US" sz="2400" b="1" dirty="0">
                <a:solidFill>
                  <a:srgbClr val="0000FF"/>
                </a:solidFill>
              </a:rPr>
              <a:t>压缩空气制冷 </a:t>
            </a:r>
          </a:p>
        </p:txBody>
      </p:sp>
      <p:sp>
        <p:nvSpPr>
          <p:cNvPr id="79875" name="矩形 160775"/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7" name="矩形 160776"/>
          <p:cNvSpPr>
            <a:spLocks noChangeArrowheads="1"/>
          </p:cNvSpPr>
          <p:nvPr/>
        </p:nvSpPr>
        <p:spPr bwMode="auto">
          <a:xfrm>
            <a:off x="762000" y="5334000"/>
            <a:ext cx="7772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/>
              <a:t>近年来，随着人类对环境保护的日益重视，包括气体制冷循环在内的各种环境友好的制冷方式，重新开始受到重视。在实际使用中，气体制冷循环中多采用回热。</a:t>
            </a:r>
          </a:p>
        </p:txBody>
      </p:sp>
      <p:sp>
        <p:nvSpPr>
          <p:cNvPr id="8" name="标题 95233"/>
          <p:cNvSpPr txBox="1">
            <a:spLocks noChangeArrowheads="1"/>
          </p:cNvSpPr>
          <p:nvPr/>
        </p:nvSpPr>
        <p:spPr>
          <a:xfrm>
            <a:off x="304800" y="-228600"/>
            <a:ext cx="8229600" cy="11430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folHlink"/>
              </a:buClr>
            </a:pPr>
            <a:r>
              <a:rPr lang="zh-CN" altLang="en-US" sz="3200" b="1" dirty="0" smtClean="0"/>
              <a:t>气体制冷循环的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优点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41" y="2010263"/>
            <a:ext cx="4572396" cy="2981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矩形 161796"/>
          <p:cNvSpPr>
            <a:spLocks noChangeArrowheads="1"/>
          </p:cNvSpPr>
          <p:nvPr/>
        </p:nvSpPr>
        <p:spPr bwMode="auto">
          <a:xfrm>
            <a:off x="419100" y="347663"/>
            <a:ext cx="6151563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600" b="1">
                <a:latin typeface="宋体" panose="02010600030101010101" pitchFamily="2" charset="-122"/>
              </a:rPr>
              <a:t>二、具有回热的气体制冷循环 </a:t>
            </a:r>
          </a:p>
        </p:txBody>
      </p:sp>
      <p:sp>
        <p:nvSpPr>
          <p:cNvPr id="80898" name="矩形 161798"/>
          <p:cNvSpPr>
            <a:spLocks noChangeArrowheads="1"/>
          </p:cNvSpPr>
          <p:nvPr/>
        </p:nvSpPr>
        <p:spPr bwMode="auto">
          <a:xfrm>
            <a:off x="0" y="1833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矩形 161800"/>
          <p:cNvSpPr>
            <a:spLocks noChangeArrowheads="1"/>
          </p:cNvSpPr>
          <p:nvPr/>
        </p:nvSpPr>
        <p:spPr bwMode="auto">
          <a:xfrm>
            <a:off x="0" y="2038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0902" name="对象 161802"/>
          <p:cNvGraphicFramePr/>
          <p:nvPr/>
        </p:nvGraphicFramePr>
        <p:xfrm>
          <a:off x="5943600" y="5943600"/>
          <a:ext cx="838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r:id="rId3" imgW="431800" imgH="228600" progId="Equation.DSMT4">
                  <p:embed/>
                </p:oleObj>
              </mc:Choice>
              <mc:Fallback>
                <p:oleObj r:id="rId3" imgW="431800" imgH="228600" progId="Equation.DSMT4">
                  <p:embed/>
                  <p:pic>
                    <p:nvPicPr>
                      <p:cNvPr id="0" name="对象 16180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943600"/>
                        <a:ext cx="8382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对象 161801"/>
          <p:cNvGraphicFramePr/>
          <p:nvPr/>
        </p:nvGraphicFramePr>
        <p:xfrm>
          <a:off x="7239000" y="5943600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r:id="rId5" imgW="419100" imgH="228600" progId="Equation.DSMT4">
                  <p:embed/>
                </p:oleObj>
              </mc:Choice>
              <mc:Fallback>
                <p:oleObj r:id="rId5" imgW="419100" imgH="228600" progId="Equation.DSMT4">
                  <p:embed/>
                  <p:pic>
                    <p:nvPicPr>
                      <p:cNvPr id="0" name="对象 16180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943600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矩形 161803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5" name="矩形 161805"/>
          <p:cNvSpPr>
            <a:spLocks noChangeArrowheads="1"/>
          </p:cNvSpPr>
          <p:nvPr/>
        </p:nvSpPr>
        <p:spPr bwMode="auto">
          <a:xfrm>
            <a:off x="0" y="3703638"/>
            <a:ext cx="2047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600"/>
              <a:t> </a:t>
            </a:r>
            <a:endParaRPr lang="zh-CN" altLang="en-US"/>
          </a:p>
        </p:txBody>
      </p:sp>
      <p:sp>
        <p:nvSpPr>
          <p:cNvPr id="80906" name="矩形 161806"/>
          <p:cNvSpPr>
            <a:spLocks noChangeArrowheads="1"/>
          </p:cNvSpPr>
          <p:nvPr/>
        </p:nvSpPr>
        <p:spPr bwMode="auto">
          <a:xfrm>
            <a:off x="4419600" y="58658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3300"/>
                </a:solidFill>
              </a:rPr>
              <a:t>实际回热</a:t>
            </a:r>
          </a:p>
        </p:txBody>
      </p:sp>
      <p:sp>
        <p:nvSpPr>
          <p:cNvPr id="80907" name="矩形 161807"/>
          <p:cNvSpPr>
            <a:spLocks noChangeArrowheads="1"/>
          </p:cNvSpPr>
          <p:nvPr/>
        </p:nvSpPr>
        <p:spPr bwMode="auto">
          <a:xfrm>
            <a:off x="4419600" y="52562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3300"/>
                </a:solidFill>
              </a:rPr>
              <a:t>极限回热</a:t>
            </a:r>
          </a:p>
        </p:txBody>
      </p:sp>
      <p:graphicFrame>
        <p:nvGraphicFramePr>
          <p:cNvPr id="80908" name="对象 161808"/>
          <p:cNvGraphicFramePr/>
          <p:nvPr/>
        </p:nvGraphicFramePr>
        <p:xfrm>
          <a:off x="6008688" y="5334000"/>
          <a:ext cx="8620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r:id="rId7" imgW="444500" imgH="228600" progId="Equation.DSMT4">
                  <p:embed/>
                </p:oleObj>
              </mc:Choice>
              <mc:Fallback>
                <p:oleObj r:id="rId7" imgW="444500" imgH="228600" progId="Equation.DSMT4">
                  <p:embed/>
                  <p:pic>
                    <p:nvPicPr>
                      <p:cNvPr id="0" name="对象 16180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5334000"/>
                        <a:ext cx="86201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对象 161809"/>
          <p:cNvGraphicFramePr/>
          <p:nvPr/>
        </p:nvGraphicFramePr>
        <p:xfrm>
          <a:off x="7315200" y="5334000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r:id="rId9" imgW="419100" imgH="228600" progId="Equation.DSMT4">
                  <p:embed/>
                </p:oleObj>
              </mc:Choice>
              <mc:Fallback>
                <p:oleObj r:id="rId9" imgW="419100" imgH="228600" progId="Equation.DSMT4">
                  <p:embed/>
                  <p:pic>
                    <p:nvPicPr>
                      <p:cNvPr id="0" name="对象 16180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334000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0" name="椭圆 161810"/>
          <p:cNvSpPr>
            <a:spLocks noChangeArrowheads="1"/>
          </p:cNvSpPr>
          <p:nvPr/>
        </p:nvSpPr>
        <p:spPr bwMode="auto">
          <a:xfrm>
            <a:off x="5562600" y="4495800"/>
            <a:ext cx="533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1" name="椭圆 161811"/>
          <p:cNvSpPr>
            <a:spLocks noChangeArrowheads="1"/>
          </p:cNvSpPr>
          <p:nvPr/>
        </p:nvSpPr>
        <p:spPr bwMode="auto">
          <a:xfrm>
            <a:off x="7086600" y="1905000"/>
            <a:ext cx="533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2" name="矩形 161812"/>
          <p:cNvSpPr>
            <a:spLocks noChangeArrowheads="1"/>
          </p:cNvSpPr>
          <p:nvPr/>
        </p:nvSpPr>
        <p:spPr bwMode="auto">
          <a:xfrm>
            <a:off x="914400" y="1143000"/>
            <a:ext cx="54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80913" name="矩形 161813"/>
          <p:cNvSpPr>
            <a:spLocks noChangeArrowheads="1"/>
          </p:cNvSpPr>
          <p:nvPr/>
        </p:nvSpPr>
        <p:spPr bwMode="auto">
          <a:xfrm>
            <a:off x="2667000" y="3886200"/>
            <a:ext cx="56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473396"/>
            <a:ext cx="3810330" cy="3511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558" y="1453433"/>
            <a:ext cx="4011516" cy="3859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62819"/>
          <p:cNvSpPr>
            <a:spLocks noChangeArrowheads="1"/>
          </p:cNvSpPr>
          <p:nvPr/>
        </p:nvSpPr>
        <p:spPr bwMode="auto">
          <a:xfrm>
            <a:off x="329233" y="738652"/>
            <a:ext cx="8325678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latin typeface="黑体" panose="02010609060101010101" charset="-122"/>
                <a:ea typeface="黑体" panose="02010609060101010101" charset="-122"/>
              </a:rPr>
              <a:t>与简单无回热气体制冷循环相比，具有回热的气体制冷循环具有哪些优点？</a:t>
            </a:r>
            <a:endParaRPr lang="en-US" altLang="zh-CN" sz="3200" b="1" dirty="0" smtClean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是否能够提高循环的制冷系数</a:t>
            </a:r>
            <a:r>
              <a:rPr lang="zh-CN" altLang="en-US" sz="3200" b="1" dirty="0" smtClean="0">
                <a:latin typeface="黑体" panose="02010609060101010101" charset="-122"/>
                <a:ea typeface="黑体" panose="02010609060101010101" charset="-122"/>
              </a:rPr>
              <a:t>？若不能，采用回热的目的又是什么？</a:t>
            </a:r>
            <a:endParaRPr lang="en-US" altLang="zh-CN" sz="3200" b="1" dirty="0" smtClean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矩形 162821"/>
          <p:cNvSpPr>
            <a:spLocks noChangeArrowheads="1"/>
          </p:cNvSpPr>
          <p:nvPr/>
        </p:nvSpPr>
        <p:spPr bwMode="auto">
          <a:xfrm>
            <a:off x="0" y="1885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矩形 1628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矩形 16282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962399" y="525284"/>
            <a:ext cx="4352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1-2-3-4-5-6-1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：具有回热的循环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49700" y="1063507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工质在冷库出口处的温度</a:t>
            </a:r>
            <a:r>
              <a:rPr lang="zh-CN" altLang="en-US" sz="2400" b="1" dirty="0" smtClean="0"/>
              <a:t>为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 smtClean="0"/>
              <a:t>，</a:t>
            </a:r>
            <a:r>
              <a:rPr lang="zh-CN" altLang="en-US" sz="2400" b="1" dirty="0"/>
              <a:t>极限（传热温差无限小）情况</a:t>
            </a:r>
            <a:r>
              <a:rPr lang="zh-CN" altLang="en-US" sz="2400" b="1" dirty="0" smtClean="0"/>
              <a:t>下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dirty="0" smtClean="0"/>
              <a:t>，</a:t>
            </a:r>
            <a:r>
              <a:rPr lang="zh-CN" altLang="en-US" sz="2400" b="1" dirty="0"/>
              <a:t>实际情况</a:t>
            </a:r>
            <a:r>
              <a:rPr lang="zh-CN" altLang="en-US" sz="2400" b="1" dirty="0" smtClean="0"/>
              <a:t>下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随后</a:t>
            </a:r>
            <a:r>
              <a:rPr lang="zh-CN" altLang="en-US" sz="2400" b="1" dirty="0"/>
              <a:t>进入回热器被继续加热至状态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/>
              <a:t>后再进入</a:t>
            </a:r>
            <a:r>
              <a:rPr lang="zh-CN" altLang="en-US" sz="2400" b="1" dirty="0" smtClean="0"/>
              <a:t>压气机</a:t>
            </a:r>
            <a:endParaRPr lang="en-US" altLang="zh-CN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假设回热器面积</a:t>
            </a:r>
            <a:r>
              <a:rPr lang="zh-CN" altLang="en-US" sz="2400" b="1" dirty="0" smtClean="0"/>
              <a:t>无限大，则有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/>
              <a:t>，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en-US" sz="2400" b="1" dirty="0"/>
          </a:p>
        </p:txBody>
      </p:sp>
      <p:sp>
        <p:nvSpPr>
          <p:cNvPr id="21" name="矩形 20"/>
          <p:cNvSpPr/>
          <p:nvPr/>
        </p:nvSpPr>
        <p:spPr>
          <a:xfrm>
            <a:off x="4115353" y="4147403"/>
            <a:ext cx="4876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ʹ-3ʹ-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5-6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温限间的简单无回热气体制冷循环</a:t>
            </a:r>
            <a:endParaRPr lang="en-US" altLang="zh-CN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62399" y="508149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工质</a:t>
            </a:r>
            <a:r>
              <a:rPr lang="zh-CN" altLang="en-US" sz="2400" b="1" dirty="0">
                <a:solidFill>
                  <a:srgbClr val="0070C0"/>
                </a:solidFill>
              </a:rPr>
              <a:t>在冷库出口到达状态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0070C0"/>
                </a:solidFill>
              </a:rPr>
              <a:t>之后直接进入压气机，被压缩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至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 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(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)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24" y="1195993"/>
            <a:ext cx="3731075" cy="3432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矩形 162821"/>
          <p:cNvSpPr>
            <a:spLocks noChangeArrowheads="1"/>
          </p:cNvSpPr>
          <p:nvPr/>
        </p:nvSpPr>
        <p:spPr bwMode="auto">
          <a:xfrm>
            <a:off x="0" y="1885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矩形 1628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078079" y="45525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两个循环中单位质量工质从冷库吸收的</a:t>
            </a:r>
            <a:r>
              <a:rPr lang="zh-CN" altLang="en-US" sz="2400" b="1" dirty="0" smtClean="0"/>
              <a:t>热量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b="1" dirty="0" smtClean="0"/>
              <a:t>相同</a:t>
            </a:r>
            <a:r>
              <a:rPr lang="zh-CN" altLang="en-US" sz="2400" b="1" dirty="0"/>
              <a:t>，都等于面积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56ba5</a:t>
            </a:r>
            <a:r>
              <a:rPr lang="zh-CN" altLang="en-US" sz="2400" b="1" dirty="0"/>
              <a:t>，表达式</a:t>
            </a:r>
            <a:r>
              <a:rPr lang="zh-CN" altLang="en-US" sz="2400" b="1" dirty="0" smtClean="0"/>
              <a:t>为：</a:t>
            </a:r>
            <a:endParaRPr lang="zh-CN" altLang="en-US" sz="24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200511" y="1823919"/>
          <a:ext cx="1591889" cy="50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3" imgW="723900" imgH="228600" progId="Equation.DSMT4">
                  <p:embed/>
                </p:oleObj>
              </mc:Choice>
              <mc:Fallback>
                <p:oleObj name="Equation" r:id="rId3" imgW="72390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511" y="1823919"/>
                        <a:ext cx="1591889" cy="502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4078079" y="2618275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可以证明，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400" b="1" baseline="-25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3’</a:t>
            </a:r>
            <a:r>
              <a:rPr lang="zh-CN" altLang="en-US" sz="2400" b="1" dirty="0" smtClean="0"/>
              <a:t>，若气体的比热容近似为定值，则两个循环中单位质量工质的放热量</a:t>
            </a:r>
            <a:r>
              <a:rPr lang="en-US" altLang="zh-CN" sz="2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/>
              <a:t>也相同，表达式为：</a:t>
            </a:r>
            <a:endParaRPr lang="zh-CN" altLang="en-US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 dirty="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718201" y="4436339"/>
          <a:ext cx="41068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Equation" r:id="rId5" imgW="44805600" imgH="6096000" progId="Equation.DSMT4">
                  <p:embed/>
                </p:oleObj>
              </mc:Choice>
              <mc:Fallback>
                <p:oleObj name="Equation" r:id="rId5" imgW="44805600" imgH="60960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8201" y="4436339"/>
                        <a:ext cx="4106863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162823"/>
          <p:cNvSpPr>
            <a:spLocks noChangeArrowheads="1"/>
          </p:cNvSpPr>
          <p:nvPr/>
        </p:nvSpPr>
        <p:spPr bwMode="auto">
          <a:xfrm>
            <a:off x="699052" y="5141832"/>
            <a:ext cx="77458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 smtClean="0"/>
              <a:t>综上所述：两</a:t>
            </a:r>
            <a:r>
              <a:rPr lang="zh-CN" altLang="en-US" sz="2400" b="1" dirty="0"/>
              <a:t>个循环的吸热量和放热量相同，</a:t>
            </a:r>
            <a:r>
              <a:rPr lang="zh-CN" altLang="en-US" sz="2400" b="1" dirty="0">
                <a:solidFill>
                  <a:srgbClr val="FF0000"/>
                </a:solidFill>
              </a:rPr>
              <a:t>故制冷系数相同</a:t>
            </a:r>
            <a:r>
              <a:rPr lang="zh-CN" altLang="en-US" sz="2400" b="1" dirty="0" smtClean="0"/>
              <a:t>。</a:t>
            </a:r>
            <a:r>
              <a:rPr lang="zh-CN" altLang="zh-CN" sz="2400" b="1" dirty="0"/>
              <a:t>这说明，采用回热措施并不能提高循环的制冷系数。那么，回热的目的是什么？</a:t>
            </a:r>
            <a:r>
              <a:rPr lang="zh-CN" altLang="en-US" sz="2400" b="1" dirty="0"/>
              <a:t>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04" y="711711"/>
            <a:ext cx="3731075" cy="3432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矩形 162819"/>
          <p:cNvSpPr>
            <a:spLocks noChangeArrowheads="1"/>
          </p:cNvSpPr>
          <p:nvPr/>
        </p:nvSpPr>
        <p:spPr bwMode="auto">
          <a:xfrm>
            <a:off x="914400" y="225495"/>
            <a:ext cx="73885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4000" b="1" dirty="0">
                <a:latin typeface="黑体" panose="02010609060101010101" charset="-122"/>
                <a:ea typeface="黑体" panose="02010609060101010101" charset="-122"/>
              </a:rPr>
              <a:t>回热</a:t>
            </a:r>
            <a:r>
              <a:rPr lang="zh-CN" altLang="en-US" sz="4000" b="1" dirty="0" smtClean="0">
                <a:latin typeface="黑体" panose="02010609060101010101" charset="-122"/>
                <a:ea typeface="黑体" panose="02010609060101010101" charset="-122"/>
              </a:rPr>
              <a:t>的目的</a:t>
            </a:r>
            <a:r>
              <a:rPr lang="en-US" altLang="zh-CN" sz="4000" b="1" dirty="0" smtClean="0">
                <a:ea typeface="黑体" panose="02010609060101010101" charset="-122"/>
              </a:rPr>
              <a:t>——</a:t>
            </a:r>
            <a:r>
              <a:rPr lang="zh-CN" altLang="en-US" sz="4000" b="1" dirty="0" smtClean="0">
                <a:latin typeface="黑体" panose="02010609060101010101" charset="-122"/>
                <a:ea typeface="黑体" panose="02010609060101010101" charset="-122"/>
              </a:rPr>
              <a:t>降低循环增压比</a:t>
            </a:r>
            <a:endParaRPr lang="zh-CN" altLang="en-US" sz="40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922" name="矩形 162821"/>
          <p:cNvSpPr>
            <a:spLocks noChangeArrowheads="1"/>
          </p:cNvSpPr>
          <p:nvPr/>
        </p:nvSpPr>
        <p:spPr bwMode="auto">
          <a:xfrm>
            <a:off x="0" y="1885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6" name="矩形 162824"/>
          <p:cNvSpPr>
            <a:spLocks noChangeArrowheads="1"/>
          </p:cNvSpPr>
          <p:nvPr/>
        </p:nvSpPr>
        <p:spPr bwMode="auto">
          <a:xfrm>
            <a:off x="4206875" y="1866820"/>
            <a:ext cx="2719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/>
              <a:t>回热循环的增压比 </a:t>
            </a:r>
          </a:p>
        </p:txBody>
      </p:sp>
      <p:sp>
        <p:nvSpPr>
          <p:cNvPr id="81927" name="矩形 1628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28" name="对象 162825"/>
          <p:cNvGraphicFramePr/>
          <p:nvPr/>
        </p:nvGraphicFramePr>
        <p:xfrm>
          <a:off x="7102475" y="1485820"/>
          <a:ext cx="15240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1" r:id="rId3" imgW="838200" imgH="571500" progId="Equation.DSMT4">
                  <p:embed/>
                </p:oleObj>
              </mc:Choice>
              <mc:Fallback>
                <p:oleObj r:id="rId3" imgW="838200" imgH="571500" progId="Equation.DSMT4">
                  <p:embed/>
                  <p:pic>
                    <p:nvPicPr>
                      <p:cNvPr id="0" name="对象 16282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2475" y="1485820"/>
                        <a:ext cx="1524000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矩形 162827"/>
          <p:cNvSpPr>
            <a:spLocks noChangeArrowheads="1"/>
          </p:cNvSpPr>
          <p:nvPr/>
        </p:nvSpPr>
        <p:spPr bwMode="auto">
          <a:xfrm>
            <a:off x="4283075" y="2781220"/>
            <a:ext cx="302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/>
              <a:t>无回热循环的增压比 </a:t>
            </a:r>
          </a:p>
        </p:txBody>
      </p:sp>
      <p:sp>
        <p:nvSpPr>
          <p:cNvPr id="81930" name="矩形 16282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1931" name="对象 162828"/>
          <p:cNvGraphicFramePr/>
          <p:nvPr/>
        </p:nvGraphicFramePr>
        <p:xfrm>
          <a:off x="4956175" y="3238420"/>
          <a:ext cx="28448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r:id="rId5" imgW="1511300" imgH="571500" progId="Equation.DSMT4">
                  <p:embed/>
                </p:oleObj>
              </mc:Choice>
              <mc:Fallback>
                <p:oleObj r:id="rId5" imgW="1511300" imgH="571500" progId="Equation.DSMT4">
                  <p:embed/>
                  <p:pic>
                    <p:nvPicPr>
                      <p:cNvPr id="0" name="对象 1628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238420"/>
                        <a:ext cx="284480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对象 162830"/>
          <p:cNvGraphicFramePr/>
          <p:nvPr/>
        </p:nvGraphicFramePr>
        <p:xfrm>
          <a:off x="5557837" y="4828223"/>
          <a:ext cx="154463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3" name="Equation" r:id="rId7" imgW="18897600" imgH="15849600" progId="Equation.DSMT4">
                  <p:embed/>
                </p:oleObj>
              </mc:Choice>
              <mc:Fallback>
                <p:oleObj name="Equation" r:id="rId7" imgW="18897600" imgH="15849600" progId="Equation.DSMT4">
                  <p:embed/>
                  <p:pic>
                    <p:nvPicPr>
                      <p:cNvPr id="0" name="对象 162830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7" y="4828223"/>
                        <a:ext cx="154463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3" name="矩形 162832"/>
          <p:cNvSpPr>
            <a:spLocks noChangeArrowheads="1"/>
          </p:cNvSpPr>
          <p:nvPr/>
        </p:nvSpPr>
        <p:spPr bwMode="auto">
          <a:xfrm>
            <a:off x="4206875" y="1485820"/>
            <a:ext cx="4572000" cy="1143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4" name="矩形 162833"/>
          <p:cNvSpPr>
            <a:spLocks noChangeArrowheads="1"/>
          </p:cNvSpPr>
          <p:nvPr/>
        </p:nvSpPr>
        <p:spPr bwMode="auto">
          <a:xfrm>
            <a:off x="4206875" y="2781220"/>
            <a:ext cx="4572000" cy="1600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62833"/>
          <p:cNvSpPr>
            <a:spLocks noChangeArrowheads="1"/>
          </p:cNvSpPr>
          <p:nvPr/>
        </p:nvSpPr>
        <p:spPr bwMode="auto">
          <a:xfrm>
            <a:off x="5320559" y="4743450"/>
            <a:ext cx="2075921" cy="1600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24" y="1195993"/>
            <a:ext cx="3731075" cy="3432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矩形 163847"/>
          <p:cNvSpPr>
            <a:spLocks noChangeArrowheads="1"/>
          </p:cNvSpPr>
          <p:nvPr/>
        </p:nvSpPr>
        <p:spPr bwMode="auto">
          <a:xfrm>
            <a:off x="935224" y="6130155"/>
            <a:ext cx="3539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叶轮式（低增压比，大排量）</a:t>
            </a:r>
          </a:p>
        </p:txBody>
      </p:sp>
      <p:sp>
        <p:nvSpPr>
          <p:cNvPr id="82951" name="矩形 163850"/>
          <p:cNvSpPr>
            <a:spLocks noChangeArrowheads="1"/>
          </p:cNvSpPr>
          <p:nvPr/>
        </p:nvSpPr>
        <p:spPr bwMode="auto">
          <a:xfrm>
            <a:off x="5070848" y="5519879"/>
            <a:ext cx="3539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</a:rPr>
              <a:t>活塞式（高增压比，小排量）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87" y="4424017"/>
            <a:ext cx="2622274" cy="94684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66" y="3443909"/>
            <a:ext cx="3432345" cy="247519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53219" y="396921"/>
            <a:ext cx="784351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在制冷量及制冷系数相同的情况下，具有回热的气体制冷循环可以</a:t>
            </a:r>
            <a:r>
              <a:rPr lang="zh-CN" altLang="en-US" sz="2400" b="1" dirty="0">
                <a:solidFill>
                  <a:srgbClr val="FF0000"/>
                </a:solidFill>
              </a:rPr>
              <a:t>采用小得多的增压比</a:t>
            </a:r>
            <a:r>
              <a:rPr lang="zh-CN" altLang="en-US" sz="2400" b="1" dirty="0"/>
              <a:t>，为采用叶轮式压气机代替活塞式压气机提供了可能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由于叶轮式压气机和膨胀机的流量大，从而可提高气体制冷装置的制冷量（=制冷剂的质量流量× 吸热线在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1" dirty="0"/>
              <a:t>轴上的投影面积），这是回热的主要优点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此外，采用低增压比后，可减小压缩和膨胀过程中的不可逆性，从而可提高实际制冷循环的制冷系数</a:t>
            </a:r>
          </a:p>
        </p:txBody>
      </p:sp>
    </p:spTree>
    <p:extLst>
      <p:ext uri="{BB962C8B-B14F-4D97-AF65-F5344CB8AC3E}">
        <p14:creationId xmlns:p14="http://schemas.microsoft.com/office/powerpoint/2010/main" val="321796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0752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anchor="ctr"/>
          <a:lstStyle/>
          <a:p>
            <a:pPr defTabSz="914400">
              <a:buClrTx/>
              <a:buSzTx/>
              <a:buFontTx/>
            </a:pPr>
            <a:r>
              <a:rPr lang="en-US" altLang="zh-CN" sz="4000" b="1" kern="1200" baseline="0" dirty="0">
                <a:latin typeface="+mj-lt"/>
                <a:ea typeface="+mj-ea"/>
                <a:cs typeface="+mj-cs"/>
              </a:rPr>
              <a:t>14-6 </a:t>
            </a:r>
            <a:r>
              <a:rPr lang="en-US" altLang="zh-CN" sz="4000" b="1" kern="1200" baseline="0" dirty="0" smtClean="0">
                <a:latin typeface="+mj-lt"/>
                <a:ea typeface="+mj-ea"/>
                <a:cs typeface="+mj-cs"/>
              </a:rPr>
              <a:t> </a:t>
            </a:r>
            <a:r>
              <a:rPr lang="zh-CN" altLang="en-US" sz="4000" b="1" kern="1200" baseline="0" dirty="0" smtClean="0">
                <a:latin typeface="+mj-lt"/>
                <a:ea typeface="+mj-ea"/>
                <a:cs typeface="+mj-cs"/>
              </a:rPr>
              <a:t>其他</a:t>
            </a:r>
            <a:r>
              <a:rPr lang="zh-CN" altLang="en-US" sz="4000" b="1" kern="1200" baseline="0" dirty="0">
                <a:latin typeface="+mj-lt"/>
                <a:ea typeface="+mj-ea"/>
                <a:cs typeface="+mj-cs"/>
              </a:rPr>
              <a:t>制冷循环简介</a:t>
            </a:r>
          </a:p>
        </p:txBody>
      </p:sp>
    </p:spTree>
    <p:extLst>
      <p:ext uri="{BB962C8B-B14F-4D97-AF65-F5344CB8AC3E}">
        <p14:creationId xmlns:p14="http://schemas.microsoft.com/office/powerpoint/2010/main" val="16083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336550" y="166688"/>
            <a:ext cx="8229600" cy="1143000"/>
          </a:xfrm>
          <a:ln/>
        </p:spPr>
        <p:txBody>
          <a:bodyPr anchor="ctr"/>
          <a:lstStyle/>
          <a:p>
            <a:pPr algn="l"/>
            <a:r>
              <a:rPr lang="zh-CN" altLang="en-US" sz="3200" b="1" dirty="0"/>
              <a:t>一、吸收式制冷循环</a:t>
            </a:r>
          </a:p>
        </p:txBody>
      </p:sp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515938" y="1309688"/>
            <a:ext cx="8229600" cy="1438275"/>
          </a:xfrm>
          <a:ln/>
        </p:spPr>
        <p:txBody>
          <a:bodyPr anchor="t"/>
          <a:lstStyle/>
          <a:p>
            <a:r>
              <a:rPr lang="zh-CN" altLang="en-US" sz="2800" b="1" dirty="0"/>
              <a:t>蒸气或空气压缩制冷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消耗</a:t>
            </a:r>
            <a:r>
              <a:rPr lang="zh-CN" altLang="en-US" sz="2800" b="1" dirty="0">
                <a:solidFill>
                  <a:srgbClr val="FF0000"/>
                </a:solidFill>
              </a:rPr>
              <a:t>机械能</a:t>
            </a:r>
            <a:endParaRPr lang="zh-CN" altLang="en-US" sz="2800" b="1" dirty="0"/>
          </a:p>
          <a:p>
            <a:r>
              <a:rPr lang="zh-CN" altLang="en-US" sz="2800" b="1" dirty="0"/>
              <a:t>吸收式制冷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消耗100～200℃的</a:t>
            </a:r>
            <a:r>
              <a:rPr lang="zh-CN" altLang="en-US" sz="2800" b="1" dirty="0">
                <a:solidFill>
                  <a:srgbClr val="FF0000"/>
                </a:solidFill>
              </a:rPr>
              <a:t>热能</a:t>
            </a:r>
            <a:r>
              <a:rPr lang="zh-CN" altLang="en-US" sz="2800" b="1" dirty="0"/>
              <a:t>，可</a:t>
            </a:r>
            <a:r>
              <a:rPr lang="zh-CN" altLang="en-US" sz="2800" b="1" dirty="0" smtClean="0"/>
              <a:t>利用余热</a:t>
            </a:r>
            <a:r>
              <a:rPr lang="zh-CN" altLang="en-US" sz="2800" b="1" dirty="0"/>
              <a:t>资源，但造价高，系统复杂占空间</a:t>
            </a:r>
          </a:p>
        </p:txBody>
      </p:sp>
      <p:sp>
        <p:nvSpPr>
          <p:cNvPr id="86019" name="标题 1"/>
          <p:cNvSpPr>
            <a:spLocks noGrp="1"/>
          </p:cNvSpPr>
          <p:nvPr/>
        </p:nvSpPr>
        <p:spPr>
          <a:xfrm>
            <a:off x="515938" y="2638425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lang="zh-CN" altLang="en-US" sz="2800" b="1" dirty="0">
              <a:solidFill>
                <a:schemeClr val="tx2"/>
              </a:solidFill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86020" name="文本框 4"/>
          <p:cNvSpPr txBox="1"/>
          <p:nvPr/>
        </p:nvSpPr>
        <p:spPr>
          <a:xfrm>
            <a:off x="596900" y="3673475"/>
            <a:ext cx="8407400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 smtClean="0">
                <a:latin typeface="Arial" panose="020B0604020202020204" pitchFamily="34" charset="0"/>
              </a:rPr>
              <a:t>低沸点物质做制冷剂，高沸点物质做吸收剂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6113" y="2948315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工质：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646113" y="4608741"/>
            <a:ext cx="70997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工业上常见的</a:t>
            </a:r>
            <a:r>
              <a:rPr lang="zh-CN" altLang="en-US" sz="2800" b="1" dirty="0" smtClean="0"/>
              <a:t>组合：</a:t>
            </a:r>
            <a:endParaRPr lang="zh-CN" altLang="en-US" sz="2800" b="1" dirty="0"/>
          </a:p>
          <a:p>
            <a:r>
              <a:rPr lang="zh-CN" altLang="en-US" sz="2800" b="1" dirty="0"/>
              <a:t>氨（制冷剂）+水（吸收剂）</a:t>
            </a:r>
          </a:p>
          <a:p>
            <a:r>
              <a:rPr lang="zh-CN" altLang="en-US" sz="2800" b="1" dirty="0"/>
              <a:t>或者溴化锂（吸收剂）+水（制冷剂）</a:t>
            </a:r>
          </a:p>
        </p:txBody>
      </p:sp>
    </p:spTree>
    <p:extLst>
      <p:ext uri="{BB962C8B-B14F-4D97-AF65-F5344CB8AC3E}">
        <p14:creationId xmlns:p14="http://schemas.microsoft.com/office/powerpoint/2010/main" val="45652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76200"/>
            <a:ext cx="5946775" cy="586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2" name="文本框 5"/>
          <p:cNvSpPr txBox="1"/>
          <p:nvPr/>
        </p:nvSpPr>
        <p:spPr>
          <a:xfrm>
            <a:off x="166688" y="2092325"/>
            <a:ext cx="1155700" cy="193899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虚线框外与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蒸气压缩制冷循环相同</a:t>
            </a:r>
          </a:p>
        </p:txBody>
      </p:sp>
      <p:sp>
        <p:nvSpPr>
          <p:cNvPr id="87043" name="文本框 6"/>
          <p:cNvSpPr txBox="1"/>
          <p:nvPr/>
        </p:nvSpPr>
        <p:spPr>
          <a:xfrm>
            <a:off x="7561263" y="1739900"/>
            <a:ext cx="414337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氨蒸气压缩升压</a:t>
            </a:r>
          </a:p>
        </p:txBody>
      </p:sp>
      <p:sp>
        <p:nvSpPr>
          <p:cNvPr id="9" name="上箭头 8"/>
          <p:cNvSpPr/>
          <p:nvPr/>
        </p:nvSpPr>
        <p:spPr>
          <a:xfrm>
            <a:off x="5800725" y="5354638"/>
            <a:ext cx="1524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0" name="右箭头 9"/>
          <p:cNvSpPr/>
          <p:nvPr/>
        </p:nvSpPr>
        <p:spPr>
          <a:xfrm>
            <a:off x="1219200" y="27432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7046" name="文本框 10"/>
          <p:cNvSpPr txBox="1"/>
          <p:nvPr/>
        </p:nvSpPr>
        <p:spPr>
          <a:xfrm>
            <a:off x="4113213" y="5786438"/>
            <a:ext cx="4825360" cy="83099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虚线框内与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蒸气压缩制冷循环不同</a:t>
            </a:r>
          </a:p>
          <a:p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优点：压缩液体，耗功小</a:t>
            </a:r>
          </a:p>
        </p:txBody>
      </p:sp>
    </p:spTree>
    <p:extLst>
      <p:ext uri="{BB962C8B-B14F-4D97-AF65-F5344CB8AC3E}">
        <p14:creationId xmlns:p14="http://schemas.microsoft.com/office/powerpoint/2010/main" val="37433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标题 1"/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1143000"/>
          </a:xfrm>
          <a:ln/>
        </p:spPr>
        <p:txBody>
          <a:bodyPr anchor="ctr"/>
          <a:lstStyle/>
          <a:p>
            <a:r>
              <a:rPr lang="zh-CN" altLang="en-US" sz="2800" b="1" dirty="0"/>
              <a:t>吸收式制冷循环的制冷系数</a:t>
            </a:r>
          </a:p>
        </p:txBody>
      </p:sp>
      <p:graphicFrame>
        <p:nvGraphicFramePr>
          <p:cNvPr id="88066" name="对象 3"/>
          <p:cNvGraphicFramePr>
            <a:graphicFrameLocks noChangeAspect="1"/>
          </p:cNvGraphicFramePr>
          <p:nvPr/>
        </p:nvGraphicFramePr>
        <p:xfrm>
          <a:off x="1790700" y="1414463"/>
          <a:ext cx="378142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r:id="rId3" imgW="3061970" imgH="986155" progId="Equation.DSMT4">
                  <p:embed/>
                </p:oleObj>
              </mc:Choice>
              <mc:Fallback>
                <p:oleObj r:id="rId3" imgW="3061970" imgH="986155" progId="Equation.DSMT4">
                  <p:embed/>
                  <p:pic>
                    <p:nvPicPr>
                      <p:cNvPr id="88066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0700" y="1414463"/>
                        <a:ext cx="3781425" cy="1154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左箭头 5"/>
          <p:cNvSpPr/>
          <p:nvPr/>
        </p:nvSpPr>
        <p:spPr>
          <a:xfrm>
            <a:off x="5105400" y="1527175"/>
            <a:ext cx="685800" cy="152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8" name="上箭头 7"/>
          <p:cNvSpPr/>
          <p:nvPr/>
        </p:nvSpPr>
        <p:spPr>
          <a:xfrm rot="2820000">
            <a:off x="3458369" y="2393156"/>
            <a:ext cx="357188" cy="8191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0" name="上箭头 9"/>
          <p:cNvSpPr/>
          <p:nvPr/>
        </p:nvSpPr>
        <p:spPr>
          <a:xfrm rot="19320000">
            <a:off x="5314950" y="2411413"/>
            <a:ext cx="358775" cy="81756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8807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364130"/>
              </p:ext>
            </p:extLst>
          </p:nvPr>
        </p:nvGraphicFramePr>
        <p:xfrm>
          <a:off x="2991403" y="4849991"/>
          <a:ext cx="2668587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r:id="rId5" imgW="1028700" imgH="457200" progId="Equation.DSMT4">
                  <p:embed/>
                </p:oleObj>
              </mc:Choice>
              <mc:Fallback>
                <p:oleObj r:id="rId5" imgW="1028700" imgH="457200" progId="Equation.DSMT4">
                  <p:embed/>
                  <p:pic>
                    <p:nvPicPr>
                      <p:cNvPr id="8807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1403" y="4849991"/>
                        <a:ext cx="2668587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011980" y="1187876"/>
            <a:ext cx="27843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蒸发器中制冷剂气化时吸收的热量</a:t>
            </a:r>
          </a:p>
        </p:txBody>
      </p:sp>
      <p:sp>
        <p:nvSpPr>
          <p:cNvPr id="3" name="矩形 2"/>
          <p:cNvSpPr/>
          <p:nvPr/>
        </p:nvSpPr>
        <p:spPr>
          <a:xfrm>
            <a:off x="1242222" y="3211334"/>
            <a:ext cx="28160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蒸气发生器中外部热源对溶液提供的热量</a:t>
            </a:r>
          </a:p>
        </p:txBody>
      </p:sp>
      <p:sp>
        <p:nvSpPr>
          <p:cNvPr id="4" name="矩形 3"/>
          <p:cNvSpPr/>
          <p:nvPr/>
        </p:nvSpPr>
        <p:spPr>
          <a:xfrm>
            <a:off x="4664765" y="3211333"/>
            <a:ext cx="37702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溶液泵消耗的功，与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相比，一般很小（约为1%量级），可忽略</a:t>
            </a:r>
          </a:p>
        </p:txBody>
      </p:sp>
      <p:sp>
        <p:nvSpPr>
          <p:cNvPr id="7" name="矩形 6"/>
          <p:cNvSpPr/>
          <p:nvPr/>
        </p:nvSpPr>
        <p:spPr>
          <a:xfrm>
            <a:off x="1110748" y="5054422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prstClr val="black"/>
                </a:solidFill>
                <a:cs typeface="+mj-cs"/>
              </a:rPr>
              <a:t>从而有：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16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文本框 5"/>
          <p:cNvSpPr txBox="1"/>
          <p:nvPr/>
        </p:nvSpPr>
        <p:spPr>
          <a:xfrm>
            <a:off x="692150" y="1978025"/>
            <a:ext cx="7681913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塞贝克</a:t>
            </a:r>
            <a:r>
              <a:rPr lang="zh-CN" altLang="en-US" sz="2400" b="1" dirty="0" smtClean="0">
                <a:latin typeface="Arial" panose="020B0604020202020204" pitchFamily="34" charset="0"/>
              </a:rPr>
              <a:t>（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Seebeck</a:t>
            </a:r>
            <a:r>
              <a:rPr lang="zh-CN" altLang="en-US" sz="2400" b="1" dirty="0" smtClean="0">
                <a:latin typeface="Arial" panose="020B0604020202020204" pitchFamily="34" charset="0"/>
              </a:rPr>
              <a:t>）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效应</a:t>
            </a:r>
            <a:r>
              <a:rPr lang="en-US" altLang="zh-CN" sz="2400" b="1" dirty="0" smtClean="0">
                <a:latin typeface="Arial" panose="020B0604020202020204" pitchFamily="34" charset="0"/>
              </a:rPr>
              <a:t>——</a:t>
            </a:r>
            <a:r>
              <a:rPr lang="zh-CN" altLang="en-US" sz="2400" b="1" dirty="0" smtClean="0">
                <a:latin typeface="Arial" panose="020B0604020202020204" pitchFamily="34" charset="0"/>
              </a:rPr>
              <a:t>用</a:t>
            </a:r>
            <a:r>
              <a:rPr lang="en-US" altLang="zh-CN" sz="2400" b="1" dirty="0" smtClean="0">
                <a:latin typeface="Arial" panose="020B0604020202020204" pitchFamily="34" charset="0"/>
              </a:rPr>
              <a:t>两种不同的金属丝相互连接在一起</a:t>
            </a:r>
            <a:r>
              <a:rPr lang="en-US" altLang="zh-CN" sz="2400" b="1" dirty="0">
                <a:latin typeface="Arial" panose="020B0604020202020204" pitchFamily="34" charset="0"/>
              </a:rPr>
              <a:t>，形成一个闭合电路。把两个连接点分别放在温度不同的两处，此时会在两连接点间产生一个电势差，若电路闭合，则会有电流通过</a:t>
            </a:r>
          </a:p>
        </p:txBody>
      </p:sp>
      <p:pic>
        <p:nvPicPr>
          <p:cNvPr id="8909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670300"/>
            <a:ext cx="4684713" cy="237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36550" y="166688"/>
            <a:ext cx="8229600" cy="1143000"/>
          </a:xfrm>
          <a:ln/>
        </p:spPr>
        <p:txBody>
          <a:bodyPr anchor="ctr"/>
          <a:lstStyle/>
          <a:p>
            <a:pPr algn="l"/>
            <a:r>
              <a:rPr lang="zh-CN" altLang="en-US" sz="3200" b="1" dirty="0" smtClean="0"/>
              <a:t>二、热电制冷循环</a:t>
            </a:r>
            <a:endParaRPr lang="zh-CN" altLang="en-US" sz="3200" b="1" dirty="0"/>
          </a:p>
        </p:txBody>
      </p:sp>
      <p:sp>
        <p:nvSpPr>
          <p:cNvPr id="2" name="矩形 1"/>
          <p:cNvSpPr/>
          <p:nvPr/>
        </p:nvSpPr>
        <p:spPr>
          <a:xfrm>
            <a:off x="603822" y="1294159"/>
            <a:ext cx="43332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1．热电效应及其主要应用</a:t>
            </a:r>
          </a:p>
        </p:txBody>
      </p:sp>
    </p:spTree>
    <p:extLst>
      <p:ext uri="{BB962C8B-B14F-4D97-AF65-F5344CB8AC3E}">
        <p14:creationId xmlns:p14="http://schemas.microsoft.com/office/powerpoint/2010/main" val="280723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文本框 3"/>
          <p:cNvSpPr txBox="1"/>
          <p:nvPr/>
        </p:nvSpPr>
        <p:spPr>
          <a:xfrm>
            <a:off x="558800" y="506413"/>
            <a:ext cx="7939088" cy="1200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珀尔帖</a:t>
            </a:r>
            <a:r>
              <a:rPr lang="zh-CN" altLang="en-US" sz="2400" b="1" dirty="0" smtClean="0">
                <a:latin typeface="Arial" panose="020B0604020202020204" pitchFamily="34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Peltier</a:t>
            </a:r>
            <a:r>
              <a:rPr lang="zh-CN" altLang="en-US" sz="2400" b="1" dirty="0" smtClean="0">
                <a:latin typeface="Arial" panose="020B0604020202020204" pitchFamily="34" charset="0"/>
              </a:rPr>
              <a:t>）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效应</a:t>
            </a:r>
            <a:r>
              <a:rPr lang="en-US" altLang="zh-CN" sz="2400" b="1" dirty="0" smtClean="0">
                <a:latin typeface="Arial" panose="020B0604020202020204" pitchFamily="34" charset="0"/>
              </a:rPr>
              <a:t>——</a:t>
            </a:r>
            <a:r>
              <a:rPr lang="en-US" altLang="zh-CN" sz="2400" b="1" dirty="0" err="1" smtClean="0">
                <a:latin typeface="Arial" panose="020B0604020202020204" pitchFamily="34" charset="0"/>
              </a:rPr>
              <a:t>两种不同的金属丝构成闭合回路</a:t>
            </a:r>
            <a:r>
              <a:rPr lang="en-US" altLang="zh-CN" sz="2400" b="1" dirty="0" err="1">
                <a:latin typeface="Arial" panose="020B0604020202020204" pitchFamily="34" charset="0"/>
              </a:rPr>
              <a:t>，当回路中存在直流电流时，</a:t>
            </a:r>
            <a:r>
              <a:rPr lang="en-US" altLang="zh-CN" sz="2400" b="1" dirty="0" err="1" smtClean="0">
                <a:latin typeface="Arial" panose="020B0604020202020204" pitchFamily="34" charset="0"/>
              </a:rPr>
              <a:t>两个连接点间会产生温差</a:t>
            </a:r>
            <a:r>
              <a:rPr lang="zh-CN" altLang="en-US" sz="2400" b="1" dirty="0" smtClean="0">
                <a:latin typeface="Arial" panose="020B0604020202020204" pitchFamily="34" charset="0"/>
              </a:rPr>
              <a:t>。珀</a:t>
            </a:r>
            <a:r>
              <a:rPr lang="zh-CN" altLang="en-US" sz="2400" b="1" dirty="0">
                <a:latin typeface="Arial" panose="020B0604020202020204" pitchFamily="34" charset="0"/>
              </a:rPr>
              <a:t>尔</a:t>
            </a:r>
            <a:r>
              <a:rPr lang="zh-CN" altLang="en-US" sz="2400" b="1" dirty="0" smtClean="0">
                <a:latin typeface="Arial" panose="020B0604020202020204" pitchFamily="34" charset="0"/>
              </a:rPr>
              <a:t>帖效应是塞贝克效应的逆效应。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011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88" y="1862138"/>
            <a:ext cx="5894387" cy="2252662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7279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43000"/>
          </a:xfrm>
          <a:ln/>
        </p:spPr>
        <p:txBody>
          <a:bodyPr anchor="ctr">
            <a:normAutofit/>
          </a:bodyPr>
          <a:lstStyle/>
          <a:p>
            <a:r>
              <a:rPr lang="en-US" altLang="zh-CN" sz="3200" b="1" dirty="0" smtClean="0"/>
              <a:t>2</a:t>
            </a:r>
            <a:r>
              <a:rPr lang="zh-CN" altLang="en-US" sz="3200" b="1" dirty="0"/>
              <a:t>、半导体热电制冷装置</a:t>
            </a:r>
          </a:p>
        </p:txBody>
      </p:sp>
      <p:pic>
        <p:nvPicPr>
          <p:cNvPr id="91138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75" y="896938"/>
            <a:ext cx="5727700" cy="4332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5"/>
          <p:cNvSpPr txBox="1"/>
          <p:nvPr/>
        </p:nvSpPr>
        <p:spPr>
          <a:xfrm>
            <a:off x="731043" y="5539649"/>
            <a:ext cx="7681913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</a:rPr>
              <a:t>装置从冷库吸收热量 ，同时向高温热源放出热量 ，两者之差即为外界需要提供的电功</a:t>
            </a:r>
            <a:r>
              <a:rPr lang="zh-CN" altLang="en-US" sz="2400" b="1" dirty="0" smtClean="0">
                <a:latin typeface="Arial" panose="020B0604020202020204" pitchFamily="34" charset="0"/>
              </a:rPr>
              <a:t>量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74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>
            <a:normAutofit/>
          </a:bodyPr>
          <a:lstStyle/>
          <a:p>
            <a:r>
              <a:rPr lang="en-US" altLang="zh-CN" sz="3200" b="1" dirty="0" smtClean="0"/>
              <a:t>3</a:t>
            </a:r>
            <a:r>
              <a:rPr lang="zh-CN" altLang="en-US" sz="3200" b="1" dirty="0" smtClean="0"/>
              <a:t>、热电</a:t>
            </a:r>
            <a:r>
              <a:rPr lang="zh-CN" altLang="en-US" sz="3200" b="1" dirty="0"/>
              <a:t>制冷的优缺点</a:t>
            </a:r>
          </a:p>
        </p:txBody>
      </p:sp>
      <p:sp>
        <p:nvSpPr>
          <p:cNvPr id="2" name="矩形 1"/>
          <p:cNvSpPr/>
          <p:nvPr/>
        </p:nvSpPr>
        <p:spPr>
          <a:xfrm>
            <a:off x="867602" y="1604550"/>
            <a:ext cx="74087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优点</a:t>
            </a:r>
            <a:r>
              <a:rPr lang="zh-CN" altLang="en-US" sz="2400" b="1" dirty="0"/>
              <a:t>：不使用制冷剂，没有运动部件，无噪声，无污染，无磨损，尺寸小，可使用直流电工作，可靠性高，维护方便；</a:t>
            </a:r>
          </a:p>
          <a:p>
            <a:r>
              <a:rPr lang="zh-CN" altLang="en-US" sz="2400" b="1" dirty="0">
                <a:solidFill>
                  <a:srgbClr val="0070C0"/>
                </a:solidFill>
              </a:rPr>
              <a:t>缺点</a:t>
            </a:r>
            <a:r>
              <a:rPr lang="zh-CN" altLang="en-US" sz="2400" b="1" dirty="0"/>
              <a:t>：制冷系数较低，半导体材料成本较高，对工作电压的脉动范围要求</a:t>
            </a:r>
            <a:r>
              <a:rPr lang="zh-CN" altLang="en-US" sz="2400" b="1" dirty="0" smtClean="0"/>
              <a:t>较高。</a:t>
            </a:r>
            <a:endParaRPr lang="zh-CN" altLang="en-US" sz="2400" b="1" dirty="0"/>
          </a:p>
        </p:txBody>
      </p:sp>
      <p:sp>
        <p:nvSpPr>
          <p:cNvPr id="3" name="矩形 2"/>
          <p:cNvSpPr/>
          <p:nvPr/>
        </p:nvSpPr>
        <p:spPr>
          <a:xfrm>
            <a:off x="867602" y="4096662"/>
            <a:ext cx="740879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目前，热电制冷技术的应用规模远小于传统的制冷技术，但热电制冷能够满足人们在一些特种场合（如航天航空、医疗、军事等）的需要，因而有着十分广阔的发展前景。</a:t>
            </a:r>
          </a:p>
        </p:txBody>
      </p:sp>
    </p:spTree>
    <p:extLst>
      <p:ext uri="{BB962C8B-B14F-4D97-AF65-F5344CB8AC3E}">
        <p14:creationId xmlns:p14="http://schemas.microsoft.com/office/powerpoint/2010/main" val="408334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标题 107521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>
            <a:normAutofit/>
          </a:bodyPr>
          <a:lstStyle/>
          <a:p>
            <a:r>
              <a:rPr lang="en-US" altLang="zh-CN" sz="4400" b="1" dirty="0" smtClean="0"/>
              <a:t>14-7 </a:t>
            </a:r>
            <a:r>
              <a:rPr lang="zh-CN" altLang="en-US" sz="4400" b="1" dirty="0" smtClean="0"/>
              <a:t>热泵供热循环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3583" y="703808"/>
            <a:ext cx="79645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在所有制冷装置的工作过程中，热从冷库中取出并传给较高温度的</a:t>
            </a:r>
            <a:r>
              <a:rPr lang="zh-CN" altLang="en-US" sz="2800" b="1" dirty="0" smtClean="0"/>
              <a:t>环境</a:t>
            </a:r>
            <a:endParaRPr lang="en-US" altLang="zh-CN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 smtClean="0"/>
              <a:t>可见</a:t>
            </a:r>
            <a:r>
              <a:rPr lang="zh-CN" altLang="en-US" sz="2800" b="1" dirty="0"/>
              <a:t>，实现制冷循环的结果不仅使放出热量的物体被冷却，而且使吸收热量的物体被</a:t>
            </a:r>
            <a:r>
              <a:rPr lang="zh-CN" altLang="en-US" sz="2800" b="1" dirty="0" smtClean="0"/>
              <a:t>加热</a:t>
            </a:r>
            <a:endParaRPr lang="en-US" altLang="zh-CN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 smtClean="0"/>
              <a:t>根据</a:t>
            </a:r>
            <a:r>
              <a:rPr lang="zh-CN" altLang="en-US" sz="2800" b="1" dirty="0"/>
              <a:t>这个原理，可利用逆向循环实现将热量从低温冷源向高温热源的</a:t>
            </a:r>
            <a:r>
              <a:rPr lang="zh-CN" altLang="en-US" sz="2800" b="1" dirty="0" smtClean="0"/>
              <a:t>输送</a:t>
            </a:r>
            <a:endParaRPr lang="en-US" altLang="zh-CN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 smtClean="0"/>
              <a:t>这种</a:t>
            </a:r>
            <a:r>
              <a:rPr lang="zh-CN" altLang="en-US" sz="2800" b="1" dirty="0">
                <a:solidFill>
                  <a:srgbClr val="FF0000"/>
                </a:solidFill>
              </a:rPr>
              <a:t>目的在于输送热量给被加热对象（如暖房）的装置称为热泵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文本框 5"/>
          <p:cNvSpPr txBox="1">
            <a:spLocks noChangeArrowheads="1"/>
          </p:cNvSpPr>
          <p:nvPr/>
        </p:nvSpPr>
        <p:spPr bwMode="auto">
          <a:xfrm>
            <a:off x="597521" y="569913"/>
            <a:ext cx="35967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热泵的供暖系数：</a:t>
            </a:r>
            <a:endParaRPr lang="zh-CN" altLang="en-US" sz="2400" b="1" dirty="0"/>
          </a:p>
        </p:txBody>
      </p:sp>
      <p:pic>
        <p:nvPicPr>
          <p:cNvPr id="95235" name="图片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1176896"/>
            <a:ext cx="130175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文本框 7"/>
          <p:cNvSpPr txBox="1">
            <a:spLocks noChangeArrowheads="1"/>
          </p:cNvSpPr>
          <p:nvPr/>
        </p:nvSpPr>
        <p:spPr bwMode="auto">
          <a:xfrm>
            <a:off x="657225" y="2579688"/>
            <a:ext cx="7829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同一逆向循环的供暖系数与制冷系数的关系为：</a:t>
            </a:r>
          </a:p>
        </p:txBody>
      </p:sp>
      <p:pic>
        <p:nvPicPr>
          <p:cNvPr id="95237" name="图片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708" y="3416509"/>
            <a:ext cx="2956766" cy="9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8" name="文本框 9"/>
          <p:cNvSpPr txBox="1">
            <a:spLocks noChangeArrowheads="1"/>
          </p:cNvSpPr>
          <p:nvPr/>
        </p:nvSpPr>
        <p:spPr bwMode="auto">
          <a:xfrm>
            <a:off x="657225" y="4865056"/>
            <a:ext cx="82748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/>
              <a:t>恒大于1，且循环的制冷系数越高，供暖系数也越高</a:t>
            </a:r>
          </a:p>
        </p:txBody>
      </p:sp>
      <p:sp>
        <p:nvSpPr>
          <p:cNvPr id="11" name="上箭头 10"/>
          <p:cNvSpPr/>
          <p:nvPr/>
        </p:nvSpPr>
        <p:spPr>
          <a:xfrm>
            <a:off x="2774708" y="4094838"/>
            <a:ext cx="276236" cy="61510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热泵与其他取暖装置（如电加热器）相比的优点</a:t>
            </a:r>
          </a:p>
        </p:txBody>
      </p:sp>
      <p:sp>
        <p:nvSpPr>
          <p:cNvPr id="9625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 smtClean="0">
                <a:latin typeface="Times New Roman" panose="02020603050405020304" pitchFamily="18" charset="0"/>
              </a:rPr>
              <a:t>热泵是一种比较合理的供暖装置</a:t>
            </a:r>
          </a:p>
          <a:p>
            <a:r>
              <a:rPr lang="zh-CN" altLang="en-US" sz="2800" b="1" dirty="0" smtClean="0">
                <a:latin typeface="Times New Roman" panose="02020603050405020304" pitchFamily="18" charset="0"/>
              </a:rPr>
              <a:t>电加热器仅将消耗的电功量转化为热量供给暖房（暖房得到的热量等于</a:t>
            </a:r>
            <a:r>
              <a:rPr lang="zh-CN" altLang="en-US" sz="2800" b="1" i="1" dirty="0" smtClean="0">
                <a:latin typeface="Times New Roman" panose="02020603050405020304" pitchFamily="18" charset="0"/>
              </a:rPr>
              <a:t>W</a:t>
            </a:r>
            <a:r>
              <a:rPr lang="zh-CN" altLang="en-US" sz="2800" b="1" baseline="-25000" dirty="0" smtClean="0">
                <a:latin typeface="Times New Roman" panose="02020603050405020304" pitchFamily="18" charset="0"/>
              </a:rPr>
              <a:t>net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），而热泵不仅把消耗的能量转换为热量供给暖房，而且将取自低温热源（大气环境）的热量</a:t>
            </a:r>
            <a:r>
              <a:rPr lang="zh-CN" altLang="en-US" sz="2800" b="1" i="1" dirty="0" smtClean="0">
                <a:latin typeface="Times New Roman" panose="02020603050405020304" pitchFamily="18" charset="0"/>
              </a:rPr>
              <a:t>Q</a:t>
            </a:r>
            <a:r>
              <a:rPr lang="zh-CN" altLang="en-US" sz="2800" b="1" baseline="-25000" dirty="0" smtClean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也“泵”送到暖房（暖房得到的热量等于</a:t>
            </a:r>
            <a:r>
              <a:rPr lang="zh-CN" altLang="en-US" sz="2800" b="1" i="1" dirty="0" smtClean="0">
                <a:latin typeface="Times New Roman" panose="02020603050405020304" pitchFamily="18" charset="0"/>
              </a:rPr>
              <a:t>W</a:t>
            </a:r>
            <a:r>
              <a:rPr lang="zh-CN" altLang="en-US" sz="2800" b="1" baseline="-25000" dirty="0" smtClean="0">
                <a:latin typeface="Times New Roman" panose="02020603050405020304" pitchFamily="18" charset="0"/>
              </a:rPr>
              <a:t>net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+</a:t>
            </a:r>
            <a:r>
              <a:rPr lang="zh-CN" altLang="en-US" sz="2800" b="1" i="1" dirty="0" smtClean="0">
                <a:latin typeface="Times New Roman" panose="02020603050405020304" pitchFamily="18" charset="0"/>
              </a:rPr>
              <a:t>Q</a:t>
            </a:r>
            <a:r>
              <a:rPr lang="zh-CN" altLang="en-US" sz="2800" b="1" baseline="-25000" dirty="0" smtClean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），从而有效利用了低品位的能源</a:t>
            </a:r>
          </a:p>
          <a:p>
            <a:r>
              <a:rPr lang="zh-CN" altLang="en-US" sz="2800" b="1" dirty="0" smtClean="0">
                <a:latin typeface="Times New Roman" panose="02020603050405020304" pitchFamily="18" charset="0"/>
              </a:rPr>
              <a:t>消耗同样多的高品位能量（如功量）对室内供热，可比其他取暖装置得到更多的热量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内容占位符 2"/>
          <p:cNvSpPr>
            <a:spLocks noGrp="1" noChangeArrowheads="1"/>
          </p:cNvSpPr>
          <p:nvPr>
            <p:ph idx="1"/>
          </p:nvPr>
        </p:nvSpPr>
        <p:spPr>
          <a:xfrm>
            <a:off x="655154" y="844964"/>
            <a:ext cx="7886700" cy="4351338"/>
          </a:xfrm>
        </p:spPr>
        <p:txBody>
          <a:bodyPr/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在热泵中同样可使用蒸气或空气作为循环工质</a:t>
            </a:r>
          </a:p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热泵循环的供暖系数一般在1.5～4的范围内，与具体的系统及冷、热源温度有关</a:t>
            </a:r>
          </a:p>
          <a:p>
            <a:r>
              <a:rPr lang="zh-CN" altLang="en-US" sz="2800" b="1" dirty="0" smtClean="0"/>
              <a:t>由于热泵循环和制冷循环的相似性，经过合理设计，同一装置可以轮流用来制冷和供暖，即在夏季用来制冷而在冬季用来供暖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|77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2|9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2|9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2|93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2|93.9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3078</Words>
  <Application>Microsoft Office PowerPoint</Application>
  <PresentationFormat>全屏显示(4:3)</PresentationFormat>
  <Paragraphs>188</Paragraphs>
  <Slides>57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等线</vt:lpstr>
      <vt:lpstr>黑体</vt:lpstr>
      <vt:lpstr>宋体</vt:lpstr>
      <vt:lpstr>微软雅黑</vt:lpstr>
      <vt:lpstr>Arial</vt:lpstr>
      <vt:lpstr>Cambria Math</vt:lpstr>
      <vt:lpstr>Tahoma</vt:lpstr>
      <vt:lpstr>Times New Roman</vt:lpstr>
      <vt:lpstr>Wingdings</vt:lpstr>
      <vt:lpstr>Office 主题</vt:lpstr>
      <vt:lpstr>MathType 5.0 Equation</vt:lpstr>
      <vt:lpstr>Equation</vt:lpstr>
      <vt:lpstr>14   制冷循环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四、逆卡诺循环在应用中存在的问题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气体制冷循环的缺点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14-6  其他制冷循环简介</vt:lpstr>
      <vt:lpstr>一、吸收式制冷循环</vt:lpstr>
      <vt:lpstr>PowerPoint 演示文稿</vt:lpstr>
      <vt:lpstr>吸收式制冷循环的制冷系数</vt:lpstr>
      <vt:lpstr>二、热电制冷循环</vt:lpstr>
      <vt:lpstr>PowerPoint 演示文稿</vt:lpstr>
      <vt:lpstr>2、半导体热电制冷装置</vt:lpstr>
      <vt:lpstr>3、热电制冷的优缺点</vt:lpstr>
      <vt:lpstr>14-7 热泵供热循环</vt:lpstr>
      <vt:lpstr>PowerPoint 演示文稿</vt:lpstr>
      <vt:lpstr>PowerPoint 演示文稿</vt:lpstr>
      <vt:lpstr>热泵与其他取暖装置（如电加热器）相比的优点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第13讲 蒸汽动力循环</dc:title>
  <dc:creator>jing wu</dc:creator>
  <cp:lastModifiedBy>jingwu</cp:lastModifiedBy>
  <cp:revision>42</cp:revision>
  <dcterms:created xsi:type="dcterms:W3CDTF">2020-05-17T01:43:00Z</dcterms:created>
  <dcterms:modified xsi:type="dcterms:W3CDTF">2020-10-01T09:36:59Z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